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200"/>
  </p:notesMasterIdLst>
  <p:handoutMasterIdLst>
    <p:handoutMasterId r:id="rId201"/>
  </p:handoutMasterIdLst>
  <p:sldIdLst>
    <p:sldId id="304" r:id="rId3"/>
    <p:sldId id="256" r:id="rId4"/>
    <p:sldId id="257" r:id="rId5"/>
    <p:sldId id="260" r:id="rId6"/>
    <p:sldId id="311" r:id="rId7"/>
    <p:sldId id="312" r:id="rId8"/>
    <p:sldId id="313" r:id="rId9"/>
    <p:sldId id="314" r:id="rId10"/>
    <p:sldId id="316" r:id="rId11"/>
    <p:sldId id="317" r:id="rId12"/>
    <p:sldId id="321" r:id="rId13"/>
    <p:sldId id="315" r:id="rId14"/>
    <p:sldId id="263" r:id="rId15"/>
    <p:sldId id="264" r:id="rId16"/>
    <p:sldId id="266" r:id="rId17"/>
    <p:sldId id="267" r:id="rId18"/>
    <p:sldId id="268" r:id="rId19"/>
    <p:sldId id="269" r:id="rId20"/>
    <p:sldId id="270" r:id="rId21"/>
    <p:sldId id="271" r:id="rId22"/>
    <p:sldId id="272" r:id="rId23"/>
    <p:sldId id="290" r:id="rId24"/>
    <p:sldId id="291" r:id="rId25"/>
    <p:sldId id="293" r:id="rId26"/>
    <p:sldId id="294" r:id="rId27"/>
    <p:sldId id="295" r:id="rId28"/>
    <p:sldId id="296" r:id="rId29"/>
    <p:sldId id="297" r:id="rId30"/>
    <p:sldId id="298" r:id="rId31"/>
    <p:sldId id="299" r:id="rId32"/>
    <p:sldId id="300" r:id="rId33"/>
    <p:sldId id="301" r:id="rId34"/>
    <p:sldId id="302" r:id="rId35"/>
    <p:sldId id="303" r:id="rId36"/>
    <p:sldId id="305" r:id="rId37"/>
    <p:sldId id="306" r:id="rId38"/>
    <p:sldId id="307" r:id="rId39"/>
    <p:sldId id="308" r:id="rId40"/>
    <p:sldId id="318" r:id="rId41"/>
    <p:sldId id="320" r:id="rId42"/>
    <p:sldId id="322" r:id="rId43"/>
    <p:sldId id="323" r:id="rId44"/>
    <p:sldId id="324" r:id="rId45"/>
    <p:sldId id="325" r:id="rId46"/>
    <p:sldId id="326" r:id="rId47"/>
    <p:sldId id="327" r:id="rId48"/>
    <p:sldId id="328" r:id="rId49"/>
    <p:sldId id="329" r:id="rId50"/>
    <p:sldId id="330" r:id="rId51"/>
    <p:sldId id="331" r:id="rId52"/>
    <p:sldId id="332" r:id="rId53"/>
    <p:sldId id="333" r:id="rId54"/>
    <p:sldId id="334" r:id="rId55"/>
    <p:sldId id="335" r:id="rId56"/>
    <p:sldId id="336" r:id="rId57"/>
    <p:sldId id="337" r:id="rId58"/>
    <p:sldId id="338" r:id="rId59"/>
    <p:sldId id="339" r:id="rId60"/>
    <p:sldId id="340" r:id="rId61"/>
    <p:sldId id="341" r:id="rId62"/>
    <p:sldId id="342" r:id="rId63"/>
    <p:sldId id="343" r:id="rId64"/>
    <p:sldId id="344" r:id="rId65"/>
    <p:sldId id="345" r:id="rId66"/>
    <p:sldId id="346" r:id="rId67"/>
    <p:sldId id="347" r:id="rId68"/>
    <p:sldId id="348" r:id="rId69"/>
    <p:sldId id="349" r:id="rId70"/>
    <p:sldId id="350" r:id="rId71"/>
    <p:sldId id="351" r:id="rId72"/>
    <p:sldId id="352" r:id="rId73"/>
    <p:sldId id="353" r:id="rId74"/>
    <p:sldId id="354" r:id="rId75"/>
    <p:sldId id="355" r:id="rId76"/>
    <p:sldId id="356" r:id="rId77"/>
    <p:sldId id="357" r:id="rId78"/>
    <p:sldId id="358" r:id="rId79"/>
    <p:sldId id="359" r:id="rId80"/>
    <p:sldId id="360" r:id="rId81"/>
    <p:sldId id="361" r:id="rId82"/>
    <p:sldId id="362" r:id="rId83"/>
    <p:sldId id="363" r:id="rId84"/>
    <p:sldId id="364" r:id="rId85"/>
    <p:sldId id="365" r:id="rId86"/>
    <p:sldId id="366" r:id="rId87"/>
    <p:sldId id="367" r:id="rId88"/>
    <p:sldId id="368" r:id="rId89"/>
    <p:sldId id="369" r:id="rId90"/>
    <p:sldId id="370" r:id="rId91"/>
    <p:sldId id="371" r:id="rId92"/>
    <p:sldId id="372" r:id="rId93"/>
    <p:sldId id="373" r:id="rId94"/>
    <p:sldId id="374" r:id="rId95"/>
    <p:sldId id="375" r:id="rId96"/>
    <p:sldId id="376" r:id="rId97"/>
    <p:sldId id="377" r:id="rId98"/>
    <p:sldId id="378" r:id="rId99"/>
    <p:sldId id="478" r:id="rId100"/>
    <p:sldId id="479" r:id="rId101"/>
    <p:sldId id="480" r:id="rId102"/>
    <p:sldId id="481" r:id="rId103"/>
    <p:sldId id="482" r:id="rId104"/>
    <p:sldId id="483" r:id="rId105"/>
    <p:sldId id="484" r:id="rId106"/>
    <p:sldId id="485" r:id="rId107"/>
    <p:sldId id="486" r:id="rId108"/>
    <p:sldId id="487" r:id="rId109"/>
    <p:sldId id="488" r:id="rId110"/>
    <p:sldId id="489" r:id="rId111"/>
    <p:sldId id="490" r:id="rId112"/>
    <p:sldId id="491" r:id="rId113"/>
    <p:sldId id="492" r:id="rId114"/>
    <p:sldId id="493" r:id="rId115"/>
    <p:sldId id="494" r:id="rId116"/>
    <p:sldId id="495" r:id="rId117"/>
    <p:sldId id="496" r:id="rId118"/>
    <p:sldId id="497" r:id="rId119"/>
    <p:sldId id="498" r:id="rId120"/>
    <p:sldId id="499" r:id="rId121"/>
    <p:sldId id="500" r:id="rId122"/>
    <p:sldId id="501" r:id="rId123"/>
    <p:sldId id="502" r:id="rId124"/>
    <p:sldId id="503" r:id="rId125"/>
    <p:sldId id="504" r:id="rId126"/>
    <p:sldId id="505" r:id="rId127"/>
    <p:sldId id="506" r:id="rId128"/>
    <p:sldId id="507" r:id="rId129"/>
    <p:sldId id="508" r:id="rId130"/>
    <p:sldId id="509" r:id="rId131"/>
    <p:sldId id="510" r:id="rId132"/>
    <p:sldId id="511" r:id="rId133"/>
    <p:sldId id="512" r:id="rId134"/>
    <p:sldId id="513" r:id="rId135"/>
    <p:sldId id="514" r:id="rId136"/>
    <p:sldId id="515" r:id="rId137"/>
    <p:sldId id="516" r:id="rId138"/>
    <p:sldId id="517" r:id="rId139"/>
    <p:sldId id="518" r:id="rId140"/>
    <p:sldId id="519" r:id="rId141"/>
    <p:sldId id="520" r:id="rId142"/>
    <p:sldId id="521" r:id="rId143"/>
    <p:sldId id="522" r:id="rId144"/>
    <p:sldId id="523" r:id="rId145"/>
    <p:sldId id="524" r:id="rId146"/>
    <p:sldId id="525" r:id="rId147"/>
    <p:sldId id="526" r:id="rId148"/>
    <p:sldId id="527" r:id="rId149"/>
    <p:sldId id="528" r:id="rId150"/>
    <p:sldId id="529" r:id="rId151"/>
    <p:sldId id="530" r:id="rId152"/>
    <p:sldId id="531" r:id="rId153"/>
    <p:sldId id="532" r:id="rId154"/>
    <p:sldId id="533" r:id="rId155"/>
    <p:sldId id="534" r:id="rId156"/>
    <p:sldId id="535" r:id="rId157"/>
    <p:sldId id="536" r:id="rId158"/>
    <p:sldId id="537" r:id="rId159"/>
    <p:sldId id="538" r:id="rId160"/>
    <p:sldId id="539" r:id="rId161"/>
    <p:sldId id="540" r:id="rId162"/>
    <p:sldId id="541" r:id="rId163"/>
    <p:sldId id="542" r:id="rId164"/>
    <p:sldId id="543" r:id="rId165"/>
    <p:sldId id="544" r:id="rId166"/>
    <p:sldId id="545" r:id="rId167"/>
    <p:sldId id="546" r:id="rId168"/>
    <p:sldId id="547" r:id="rId169"/>
    <p:sldId id="548" r:id="rId170"/>
    <p:sldId id="549" r:id="rId171"/>
    <p:sldId id="550" r:id="rId172"/>
    <p:sldId id="551" r:id="rId173"/>
    <p:sldId id="552" r:id="rId174"/>
    <p:sldId id="553" r:id="rId175"/>
    <p:sldId id="554" r:id="rId176"/>
    <p:sldId id="555" r:id="rId177"/>
    <p:sldId id="556" r:id="rId178"/>
    <p:sldId id="557" r:id="rId179"/>
    <p:sldId id="558" r:id="rId180"/>
    <p:sldId id="559" r:id="rId181"/>
    <p:sldId id="560" r:id="rId182"/>
    <p:sldId id="561" r:id="rId183"/>
    <p:sldId id="562" r:id="rId184"/>
    <p:sldId id="563" r:id="rId185"/>
    <p:sldId id="564" r:id="rId186"/>
    <p:sldId id="565" r:id="rId187"/>
    <p:sldId id="566" r:id="rId188"/>
    <p:sldId id="567" r:id="rId189"/>
    <p:sldId id="568" r:id="rId190"/>
    <p:sldId id="569" r:id="rId191"/>
    <p:sldId id="570" r:id="rId192"/>
    <p:sldId id="571" r:id="rId193"/>
    <p:sldId id="572" r:id="rId194"/>
    <p:sldId id="573" r:id="rId195"/>
    <p:sldId id="574" r:id="rId196"/>
    <p:sldId id="575" r:id="rId197"/>
    <p:sldId id="576" r:id="rId198"/>
    <p:sldId id="577" r:id="rId199"/>
  </p:sldIdLst>
  <p:sldSz cx="9144000" cy="6858000" type="screen4x3"/>
  <p:notesSz cx="6662738" cy="9872663"/>
  <p:defaultTextStyle>
    <a:defPPr>
      <a:defRPr lang="zh-CN"/>
    </a:defPPr>
    <a:lvl1pPr marL="0" lvl="0"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77" userDrawn="1">
          <p15:clr>
            <a:srgbClr val="A4A3A4"/>
          </p15:clr>
        </p15:guide>
        <p15:guide id="2" pos="460" userDrawn="1">
          <p15:clr>
            <a:srgbClr val="A4A3A4"/>
          </p15:clr>
        </p15:guide>
        <p15:guide id="3" pos="21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FFFFEF"/>
    <a:srgbClr val="339933"/>
    <a:srgbClr val="FF3300"/>
    <a:srgbClr val="3333FF"/>
    <a:srgbClr val="E1FDFF"/>
    <a:srgbClr val="FFFF00"/>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7"/>
    <p:restoredTop sz="94660"/>
  </p:normalViewPr>
  <p:slideViewPr>
    <p:cSldViewPr snapToGrid="0" showGuides="1">
      <p:cViewPr varScale="1">
        <p:scale>
          <a:sx n="104" d="100"/>
          <a:sy n="104" d="100"/>
        </p:scale>
        <p:origin x="1004" y="76"/>
      </p:cViewPr>
      <p:guideLst>
        <p:guide orient="horz" pos="377"/>
        <p:guide pos="460"/>
        <p:guide pos="2152"/>
      </p:guideLst>
    </p:cSldViewPr>
  </p:slideViewPr>
  <p:notesTextViewPr>
    <p:cViewPr>
      <p:scale>
        <a:sx n="100" d="100"/>
        <a:sy n="100" d="100"/>
      </p:scale>
      <p:origin x="0" y="0"/>
    </p:cViewPr>
  </p:notesTextViewPr>
  <p:sorterViewPr showFormatting="0">
    <p:cViewPr>
      <p:scale>
        <a:sx n="66" d="100"/>
        <a:sy n="66" d="100"/>
      </p:scale>
      <p:origin x="0" y="8736"/>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tableStyles" Target="tableStyles.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199" Type="http://schemas.openxmlformats.org/officeDocument/2006/relationships/slide" Target="slides/slide197.xml"/><Relationship Id="rId203"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190" Type="http://schemas.openxmlformats.org/officeDocument/2006/relationships/slide" Target="slides/slide188.xml"/><Relationship Id="rId204" Type="http://schemas.openxmlformats.org/officeDocument/2006/relationships/theme" Target="theme/theme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notesMaster" Target="notesMasters/notesMaster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handoutMaster" Target="handoutMasters/handoutMaster1.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202" Type="http://schemas.openxmlformats.org/officeDocument/2006/relationships/presProps" Target="presProps.xml"/><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895600" cy="457200"/>
          </a:xfrm>
          <a:prstGeom prst="rect">
            <a:avLst/>
          </a:prstGeom>
          <a:noFill/>
          <a:ln w="12700">
            <a:noFill/>
            <a:miter lim="800000"/>
          </a:ln>
          <a:effectLst/>
        </p:spPr>
        <p:txBody>
          <a:bodyPr vert="horz" wrap="square" lIns="91440" tIns="45720" rIns="91440" bIns="45720" numCol="1" anchor="t" anchorCtr="0" compatLnSpc="1"/>
          <a:lstStyle>
            <a:lvl1pPr>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939" name="Rectangle 3"/>
          <p:cNvSpPr>
            <a:spLocks noGrp="1" noChangeArrowheads="1"/>
          </p:cNvSpPr>
          <p:nvPr>
            <p:ph type="dt" sz="quarter" idx="1"/>
          </p:nvPr>
        </p:nvSpPr>
        <p:spPr bwMode="auto">
          <a:xfrm>
            <a:off x="3810000" y="0"/>
            <a:ext cx="2819400" cy="457200"/>
          </a:xfrm>
          <a:prstGeom prst="rect">
            <a:avLst/>
          </a:prstGeom>
          <a:noFill/>
          <a:ln w="12700">
            <a:noFill/>
            <a:miter lim="800000"/>
          </a:ln>
          <a:effectLst/>
        </p:spPr>
        <p:txBody>
          <a:bodyPr vert="horz" wrap="square" lIns="91440" tIns="45720" rIns="91440" bIns="45720" numCol="1" anchor="t" anchorCtr="0" compatLnSpc="1"/>
          <a:lstStyle>
            <a:lvl1pPr algn="r">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940" name="Rectangle 4"/>
          <p:cNvSpPr>
            <a:spLocks noGrp="1" noChangeArrowheads="1"/>
          </p:cNvSpPr>
          <p:nvPr>
            <p:ph type="ftr" sz="quarter" idx="2"/>
          </p:nvPr>
        </p:nvSpPr>
        <p:spPr bwMode="auto">
          <a:xfrm>
            <a:off x="0" y="9372600"/>
            <a:ext cx="2895600" cy="533400"/>
          </a:xfrm>
          <a:prstGeom prst="rect">
            <a:avLst/>
          </a:prstGeom>
          <a:noFill/>
          <a:ln w="12700">
            <a:noFill/>
            <a:miter lim="800000"/>
          </a:ln>
          <a:effectLst/>
        </p:spPr>
        <p:txBody>
          <a:bodyPr vert="horz" wrap="square" lIns="91440" tIns="45720" rIns="91440" bIns="45720" numCol="1" anchor="b" anchorCtr="0" compatLnSpc="1"/>
          <a:lstStyle>
            <a:lvl1pPr>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941" name="Rectangle 5"/>
          <p:cNvSpPr>
            <a:spLocks noGrp="1" noChangeArrowheads="1"/>
          </p:cNvSpPr>
          <p:nvPr>
            <p:ph type="sldNum" sz="quarter" idx="3"/>
          </p:nvPr>
        </p:nvSpPr>
        <p:spPr bwMode="auto">
          <a:xfrm>
            <a:off x="3810000" y="9372600"/>
            <a:ext cx="2819400" cy="533400"/>
          </a:xfrm>
          <a:prstGeom prst="rect">
            <a:avLst/>
          </a:prstGeom>
          <a:noFill/>
          <a:ln w="12700">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zh-CN" sz="1200" dirty="0"/>
              <a:t>‹#›</a:t>
            </a:fld>
            <a:endParaRPr lang="en-US" altLang="zh-CN" sz="1200"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7663" cy="493713"/>
          </a:xfrm>
          <a:prstGeom prst="rect">
            <a:avLst/>
          </a:prstGeom>
        </p:spPr>
        <p:txBody>
          <a:bodyPr vert="horz" lIns="91440" tIns="45720" rIns="91440" bIns="45720" rtlCol="0"/>
          <a:lstStyle>
            <a:lvl1pPr algn="l">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773488" y="0"/>
            <a:ext cx="2887663" cy="493713"/>
          </a:xfrm>
          <a:prstGeom prst="rect">
            <a:avLst/>
          </a:prstGeom>
        </p:spPr>
        <p:txBody>
          <a:bodyPr vert="horz" lIns="91440" tIns="45720" rIns="91440" bIns="45720" rtlCol="0"/>
          <a:lstStyle>
            <a:lvl1pPr algn="r">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C24BD87-BBC4-4FB6-859B-D19B12D71F96}" type="datetimeFigureOut">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2026/5/25</a:t>
            </a:fld>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863600" y="739775"/>
            <a:ext cx="4937125" cy="3703638"/>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66750" y="4689475"/>
            <a:ext cx="5329238" cy="4443413"/>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9377363"/>
            <a:ext cx="2887663" cy="493713"/>
          </a:xfrm>
          <a:prstGeom prst="rect">
            <a:avLst/>
          </a:prstGeom>
        </p:spPr>
        <p:txBody>
          <a:bodyPr vert="horz" lIns="91440" tIns="45720" rIns="91440" bIns="45720" rtlCol="0" anchor="b"/>
          <a:lstStyle>
            <a:lvl1pPr algn="l">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773488" y="9377363"/>
            <a:ext cx="2887663" cy="493713"/>
          </a:xfrm>
          <a:prstGeom prst="rect">
            <a:avLst/>
          </a:prstGeom>
        </p:spPr>
        <p:txBody>
          <a:bodyPr vert="horz" lIns="91440" tIns="45720" rIns="91440" bIns="45720" rtlCol="0" anchor="b"/>
          <a:lstStyle/>
          <a:p>
            <a:pPr lvl="0" algn="r" eaLnBrk="1" hangingPunct="1">
              <a:buNone/>
            </a:pPr>
            <a:fld id="{9A0DB2DC-4C9A-4742-B13C-FB6460FD3503}" type="slidenum">
              <a:rPr lang="zh-CN" altLang="en-US" sz="1200" dirty="0"/>
              <a:t>‹#›</a:t>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txBox="1">
            <a:spLocks noGrp="1"/>
          </p:cNvSpPr>
          <p:nvPr>
            <p:ph type="sldNum" sz="quarter"/>
          </p:nvPr>
        </p:nvSpPr>
        <p:spPr>
          <a:xfrm>
            <a:off x="3773488" y="9377363"/>
            <a:ext cx="2887662" cy="493712"/>
          </a:xfrm>
          <a:prstGeom prst="rect">
            <a:avLst/>
          </a:prstGeom>
          <a:noFill/>
          <a:ln w="9525">
            <a:noFill/>
          </a:ln>
        </p:spPr>
        <p:txBody>
          <a:bodyPr anchor="b" anchorCtr="0"/>
          <a:lstStyle/>
          <a:p>
            <a:pPr lvl="0" algn="r" eaLnBrk="1" hangingPunct="1"/>
            <a:fld id="{9A0DB2DC-4C9A-4742-B13C-FB6460FD3503}" type="slidenum">
              <a:rPr lang="zh-CN" altLang="en-US" sz="1200" dirty="0"/>
              <a:t>39</a:t>
            </a:fld>
            <a:endParaRPr lang="zh-CN" altLang="en-US" sz="1200" dirty="0"/>
          </a:p>
        </p:txBody>
      </p:sp>
      <p:sp>
        <p:nvSpPr>
          <p:cNvPr id="45059" name="Rectangle 2"/>
          <p:cNvSpPr>
            <a:spLocks noGrp="1" noRot="1" noChangeAspect="1" noTextEdit="1"/>
          </p:cNvSpPr>
          <p:nvPr>
            <p:ph type="sldImg"/>
          </p:nvPr>
        </p:nvSpPr>
        <p:spPr>
          <a:ln>
            <a:solidFill>
              <a:srgbClr val="000000">
                <a:alpha val="100000"/>
              </a:srgbClr>
            </a:solidFill>
            <a:miter lim="800000"/>
          </a:ln>
        </p:spPr>
      </p:sp>
      <p:sp>
        <p:nvSpPr>
          <p:cNvPr id="45060" name="Rectangle 3"/>
          <p:cNvSpPr>
            <a:spLocks noGrp="1"/>
          </p:cNvSpPr>
          <p:nvPr>
            <p:ph type="body" idx="1"/>
          </p:nvPr>
        </p:nvSpPr>
        <p:spPr>
          <a:noFill/>
          <a:ln>
            <a:noFill/>
          </a:ln>
        </p:spPr>
        <p:txBody>
          <a:bodyPr wrap="square" lIns="91440" tIns="45720" rIns="91440" bIns="45720" anchor="t" anchorCtr="0"/>
          <a:lstStyle/>
          <a:p>
            <a:pPr lvl="0" eaLnBrk="1" hangingPunct="1">
              <a:spcBef>
                <a:spcPct val="0"/>
              </a:spcBef>
            </a:pPr>
            <a:r>
              <a:rPr lang="zh-CN" altLang="en-US" dirty="0"/>
              <a:t>至此第16次2学时课程内容，第17次课讲评组合逻辑电路的习题。</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blip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4000" cy="6858000"/>
            <a:chOff x="0" y="0"/>
            <a:chExt cx="5760" cy="4320"/>
          </a:xfrm>
        </p:grpSpPr>
        <p:sp>
          <p:nvSpPr>
            <p:cNvPr id="2056" name="Rectangle 3"/>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eaLnBrk="1" hangingPunct="1">
                <a:buNone/>
              </a:pPr>
              <a:endParaRPr lang="zh-CN" altLang="zh-CN" sz="2400" dirty="0">
                <a:latin typeface="Times New Roman" panose="02020603050405020304" pitchFamily="18" charset="0"/>
              </a:endParaRPr>
            </a:p>
          </p:txBody>
        </p:sp>
        <p:sp>
          <p:nvSpPr>
            <p:cNvPr id="2057" name="Rectangle 4"/>
            <p:cNvSpPr/>
            <p:nvPr/>
          </p:nvSpPr>
          <p:spPr>
            <a:xfrm>
              <a:off x="1081" y="1065"/>
              <a:ext cx="4679" cy="1596"/>
            </a:xfrm>
            <a:prstGeom prst="rect">
              <a:avLst/>
            </a:prstGeom>
            <a:solidFill>
              <a:schemeClr val="bg2"/>
            </a:solidFill>
            <a:ln w="9525">
              <a:noFill/>
            </a:ln>
          </p:spPr>
          <p:txBody>
            <a:bodyPr/>
            <a:lstStyle/>
            <a:p>
              <a:pPr lvl="0" eaLnBrk="1" hangingPunct="1">
                <a:buNone/>
              </a:pPr>
              <a:endParaRPr lang="zh-CN" altLang="zh-CN" sz="2400" dirty="0">
                <a:latin typeface="Times New Roman" panose="02020603050405020304" pitchFamily="18" charset="0"/>
              </a:endParaRPr>
            </a:p>
          </p:txBody>
        </p:sp>
        <p:grpSp>
          <p:nvGrpSpPr>
            <p:cNvPr id="2058" name="Group 5"/>
            <p:cNvGrpSpPr/>
            <p:nvPr/>
          </p:nvGrpSpPr>
          <p:grpSpPr>
            <a:xfrm>
              <a:off x="0" y="672"/>
              <a:ext cx="1806" cy="1989"/>
              <a:chOff x="0" y="672"/>
              <a:chExt cx="1806" cy="1989"/>
            </a:xfrm>
          </p:grpSpPr>
          <p:sp>
            <p:nvSpPr>
              <p:cNvPr id="2059" name="Rectangle 6"/>
              <p:cNvSpPr/>
              <p:nvPr userDrawn="1"/>
            </p:nvSpPr>
            <p:spPr>
              <a:xfrm>
                <a:off x="361" y="2257"/>
                <a:ext cx="363" cy="404"/>
              </a:xfrm>
              <a:prstGeom prst="rect">
                <a:avLst/>
              </a:prstGeom>
              <a:solidFill>
                <a:schemeClr val="accent2"/>
              </a:solidFill>
              <a:ln w="9525">
                <a:noFill/>
              </a:ln>
            </p:spPr>
            <p:txBody>
              <a:bodyPr/>
              <a:lstStyle/>
              <a:p>
                <a:pPr lvl="0" eaLnBrk="1" hangingPunct="1">
                  <a:buNone/>
                </a:pPr>
                <a:endParaRPr lang="zh-CN" altLang="zh-CN" sz="2400" dirty="0">
                  <a:latin typeface="Times New Roman" panose="02020603050405020304" pitchFamily="18" charset="0"/>
                </a:endParaRPr>
              </a:p>
            </p:txBody>
          </p:sp>
          <p:sp>
            <p:nvSpPr>
              <p:cNvPr id="2060" name="Rectangle 7"/>
              <p:cNvSpPr/>
              <p:nvPr userDrawn="1"/>
            </p:nvSpPr>
            <p:spPr>
              <a:xfrm>
                <a:off x="1081" y="1065"/>
                <a:ext cx="362" cy="405"/>
              </a:xfrm>
              <a:prstGeom prst="rect">
                <a:avLst/>
              </a:prstGeom>
              <a:solidFill>
                <a:schemeClr val="folHlink"/>
              </a:solidFill>
              <a:ln w="9525">
                <a:noFill/>
              </a:ln>
            </p:spPr>
            <p:txBody>
              <a:bodyPr/>
              <a:lstStyle/>
              <a:p>
                <a:pPr lvl="0" eaLnBrk="1" hangingPunct="1">
                  <a:buNone/>
                </a:pPr>
                <a:endParaRPr lang="zh-CN" altLang="zh-CN" sz="2400" dirty="0">
                  <a:latin typeface="Times New Roman" panose="02020603050405020304" pitchFamily="18" charset="0"/>
                </a:endParaRPr>
              </a:p>
            </p:txBody>
          </p:sp>
          <p:sp>
            <p:nvSpPr>
              <p:cNvPr id="2061" name="Rectangle 8"/>
              <p:cNvSpPr/>
              <p:nvPr userDrawn="1"/>
            </p:nvSpPr>
            <p:spPr>
              <a:xfrm>
                <a:off x="1437" y="672"/>
                <a:ext cx="369" cy="400"/>
              </a:xfrm>
              <a:prstGeom prst="rect">
                <a:avLst/>
              </a:prstGeom>
              <a:solidFill>
                <a:schemeClr val="folHlink"/>
              </a:solidFill>
              <a:ln w="9525">
                <a:noFill/>
              </a:ln>
            </p:spPr>
            <p:txBody>
              <a:bodyPr/>
              <a:lstStyle/>
              <a:p>
                <a:pPr lvl="0" eaLnBrk="1" hangingPunct="1">
                  <a:buNone/>
                </a:pPr>
                <a:endParaRPr lang="zh-CN" altLang="zh-CN" sz="2400" dirty="0">
                  <a:latin typeface="Times New Roman" panose="02020603050405020304" pitchFamily="18" charset="0"/>
                </a:endParaRPr>
              </a:p>
            </p:txBody>
          </p:sp>
          <p:sp>
            <p:nvSpPr>
              <p:cNvPr id="2062" name="Rectangle 9"/>
              <p:cNvSpPr/>
              <p:nvPr userDrawn="1"/>
            </p:nvSpPr>
            <p:spPr>
              <a:xfrm>
                <a:off x="719" y="2257"/>
                <a:ext cx="368" cy="404"/>
              </a:xfrm>
              <a:prstGeom prst="rect">
                <a:avLst/>
              </a:prstGeom>
              <a:solidFill>
                <a:schemeClr val="bg2"/>
              </a:solidFill>
              <a:ln w="9525">
                <a:noFill/>
              </a:ln>
            </p:spPr>
            <p:txBody>
              <a:bodyPr/>
              <a:lstStyle/>
              <a:p>
                <a:pPr lvl="0" eaLnBrk="1" hangingPunct="1">
                  <a:buNone/>
                </a:pPr>
                <a:endParaRPr lang="zh-CN" altLang="zh-CN" sz="2400" dirty="0">
                  <a:latin typeface="Times New Roman" panose="02020603050405020304" pitchFamily="18" charset="0"/>
                </a:endParaRPr>
              </a:p>
            </p:txBody>
          </p:sp>
          <p:sp>
            <p:nvSpPr>
              <p:cNvPr id="2063" name="Rectangle 10"/>
              <p:cNvSpPr/>
              <p:nvPr userDrawn="1"/>
            </p:nvSpPr>
            <p:spPr>
              <a:xfrm>
                <a:off x="1437" y="1065"/>
                <a:ext cx="369" cy="405"/>
              </a:xfrm>
              <a:prstGeom prst="rect">
                <a:avLst/>
              </a:prstGeom>
              <a:solidFill>
                <a:schemeClr val="accent2"/>
              </a:solidFill>
              <a:ln w="9525">
                <a:noFill/>
              </a:ln>
            </p:spPr>
            <p:txBody>
              <a:bodyPr/>
              <a:lstStyle/>
              <a:p>
                <a:pPr lvl="0" eaLnBrk="1" hangingPunct="1">
                  <a:buNone/>
                </a:pPr>
                <a:endParaRPr lang="zh-CN" altLang="zh-CN" sz="2400" dirty="0">
                  <a:latin typeface="Times New Roman" panose="02020603050405020304" pitchFamily="18" charset="0"/>
                </a:endParaRPr>
              </a:p>
            </p:txBody>
          </p:sp>
          <p:sp>
            <p:nvSpPr>
              <p:cNvPr id="2064" name="Rectangle 11"/>
              <p:cNvSpPr/>
              <p:nvPr userDrawn="1"/>
            </p:nvSpPr>
            <p:spPr>
              <a:xfrm>
                <a:off x="719" y="1464"/>
                <a:ext cx="368" cy="399"/>
              </a:xfrm>
              <a:prstGeom prst="rect">
                <a:avLst/>
              </a:prstGeom>
              <a:solidFill>
                <a:schemeClr val="folHlink"/>
              </a:solidFill>
              <a:ln w="9525">
                <a:noFill/>
              </a:ln>
            </p:spPr>
            <p:txBody>
              <a:bodyPr/>
              <a:lstStyle/>
              <a:p>
                <a:pPr lvl="0" eaLnBrk="1" hangingPunct="1">
                  <a:buNone/>
                </a:pPr>
                <a:endParaRPr lang="zh-CN" altLang="zh-CN" sz="2400" dirty="0">
                  <a:latin typeface="Times New Roman" panose="02020603050405020304" pitchFamily="18" charset="0"/>
                </a:endParaRPr>
              </a:p>
            </p:txBody>
          </p:sp>
          <p:sp>
            <p:nvSpPr>
              <p:cNvPr id="2065" name="Rectangle 12"/>
              <p:cNvSpPr/>
              <p:nvPr userDrawn="1"/>
            </p:nvSpPr>
            <p:spPr>
              <a:xfrm>
                <a:off x="0" y="1464"/>
                <a:ext cx="367" cy="399"/>
              </a:xfrm>
              <a:prstGeom prst="rect">
                <a:avLst/>
              </a:prstGeom>
              <a:solidFill>
                <a:schemeClr val="bg2"/>
              </a:solidFill>
              <a:ln w="9525">
                <a:noFill/>
              </a:ln>
            </p:spPr>
            <p:txBody>
              <a:bodyPr/>
              <a:lstStyle/>
              <a:p>
                <a:pPr lvl="0" eaLnBrk="1" hangingPunct="1">
                  <a:buNone/>
                </a:pPr>
                <a:endParaRPr lang="zh-CN" altLang="zh-CN" sz="2400" dirty="0">
                  <a:latin typeface="Times New Roman" panose="02020603050405020304" pitchFamily="18" charset="0"/>
                </a:endParaRPr>
              </a:p>
            </p:txBody>
          </p:sp>
          <p:sp>
            <p:nvSpPr>
              <p:cNvPr id="2066" name="Rectangle 13"/>
              <p:cNvSpPr/>
              <p:nvPr userDrawn="1"/>
            </p:nvSpPr>
            <p:spPr>
              <a:xfrm>
                <a:off x="1081" y="1464"/>
                <a:ext cx="362" cy="399"/>
              </a:xfrm>
              <a:prstGeom prst="rect">
                <a:avLst/>
              </a:prstGeom>
              <a:solidFill>
                <a:schemeClr val="accent2"/>
              </a:solidFill>
              <a:ln w="9525">
                <a:noFill/>
              </a:ln>
            </p:spPr>
            <p:txBody>
              <a:bodyPr/>
              <a:lstStyle/>
              <a:p>
                <a:pPr lvl="0" eaLnBrk="1" hangingPunct="1">
                  <a:buNone/>
                </a:pPr>
                <a:endParaRPr lang="zh-CN" altLang="zh-CN" sz="2400" dirty="0">
                  <a:latin typeface="Times New Roman" panose="02020603050405020304" pitchFamily="18" charset="0"/>
                </a:endParaRPr>
              </a:p>
            </p:txBody>
          </p:sp>
          <p:sp>
            <p:nvSpPr>
              <p:cNvPr id="2067" name="Rectangle 14"/>
              <p:cNvSpPr/>
              <p:nvPr userDrawn="1"/>
            </p:nvSpPr>
            <p:spPr>
              <a:xfrm>
                <a:off x="361" y="1857"/>
                <a:ext cx="363" cy="406"/>
              </a:xfrm>
              <a:prstGeom prst="rect">
                <a:avLst/>
              </a:prstGeom>
              <a:solidFill>
                <a:schemeClr val="folHlink"/>
              </a:solidFill>
              <a:ln w="9525">
                <a:noFill/>
              </a:ln>
            </p:spPr>
            <p:txBody>
              <a:bodyPr/>
              <a:lstStyle/>
              <a:p>
                <a:pPr lvl="0" eaLnBrk="1" hangingPunct="1">
                  <a:buNone/>
                </a:pPr>
                <a:endParaRPr lang="zh-CN" altLang="zh-CN" sz="2400" dirty="0">
                  <a:latin typeface="Times New Roman" panose="02020603050405020304" pitchFamily="18" charset="0"/>
                </a:endParaRPr>
              </a:p>
            </p:txBody>
          </p:sp>
          <p:sp>
            <p:nvSpPr>
              <p:cNvPr id="2068" name="Rectangle 15"/>
              <p:cNvSpPr/>
              <p:nvPr userDrawn="1"/>
            </p:nvSpPr>
            <p:spPr>
              <a:xfrm>
                <a:off x="719" y="1857"/>
                <a:ext cx="368" cy="406"/>
              </a:xfrm>
              <a:prstGeom prst="rect">
                <a:avLst/>
              </a:prstGeom>
              <a:solidFill>
                <a:schemeClr val="accent2"/>
              </a:solidFill>
              <a:ln w="9525">
                <a:noFill/>
              </a:ln>
            </p:spPr>
            <p:txBody>
              <a:bodyPr/>
              <a:lstStyle/>
              <a:p>
                <a:pPr lvl="0" eaLnBrk="1" hangingPunct="1">
                  <a:buNone/>
                </a:pPr>
                <a:endParaRPr lang="zh-CN" altLang="zh-CN" sz="2400" dirty="0">
                  <a:latin typeface="Times New Roman" panose="02020603050405020304" pitchFamily="18" charset="0"/>
                </a:endParaRPr>
              </a:p>
            </p:txBody>
          </p:sp>
        </p:grpSp>
      </p:grpSp>
      <p:sp>
        <p:nvSpPr>
          <p:cNvPr id="5531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p>
        </p:txBody>
      </p:sp>
      <p:sp>
        <p:nvSpPr>
          <p:cNvPr id="55316"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a:t>单击此处编辑母版副标题样式</a:t>
            </a:r>
          </a:p>
        </p:txBody>
      </p:sp>
      <p:sp>
        <p:nvSpPr>
          <p:cNvPr id="31" name="Rectangle 16"/>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lstStyle/>
          <a:p>
            <a:pPr algn="r">
              <a:buNone/>
            </a:pPr>
            <a:fld id="{9A0DB2DC-4C9A-4742-B13C-FB6460FD3503}" type="slidenum">
              <a:rPr lang="en-US" altLang="zh-CN" dirty="0">
                <a:latin typeface="Arial Black" panose="020B0A04020102020204" pitchFamily="34" charset="0"/>
              </a:rPr>
              <a:t>‹#›</a:t>
            </a:fld>
            <a:endParaRPr lang="en-US" altLang="zh-CN" dirty="0">
              <a:latin typeface="Arial Black" panose="020B0A04020102020204" pitchFamily="34" charset="0"/>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9" name="日期占位符 8"/>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4" name="日期占位符 3"/>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457200"/>
            <a:ext cx="8229600" cy="1371600"/>
          </a:xfrm>
        </p:spPr>
        <p:txBody>
          <a:bodyPr/>
          <a:lstStyle/>
          <a:p>
            <a:r>
              <a:rPr lang="zh-CN" altLang="en-US"/>
              <a:t>单击此处编辑母版标题样式</a:t>
            </a:r>
          </a:p>
        </p:txBody>
      </p:sp>
      <p:sp>
        <p:nvSpPr>
          <p:cNvPr id="3" name="内容占位符 2"/>
          <p:cNvSpPr>
            <a:spLocks noGrp="1"/>
          </p:cNvSpPr>
          <p:nvPr>
            <p:ph sz="quarter" idx="1"/>
          </p:nvPr>
        </p:nvSpPr>
        <p:spPr>
          <a:xfrm>
            <a:off x="457200" y="1981200"/>
            <a:ext cx="40386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981200"/>
            <a:ext cx="40386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57200" y="4000500"/>
            <a:ext cx="40386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4000500"/>
            <a:ext cx="40386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9" name="日期占位符 8"/>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blipFill>
        <a:effectLst/>
      </p:bgPr>
    </p:bg>
    <p:spTree>
      <p:nvGrpSpPr>
        <p:cNvPr id="1" name=""/>
        <p:cNvGrpSpPr/>
        <p:nvPr/>
      </p:nvGrpSpPr>
      <p:grpSpPr>
        <a:xfrm>
          <a:off x="0" y="0"/>
          <a:ext cx="0" cy="0"/>
          <a:chOff x="0" y="0"/>
          <a:chExt cx="0" cy="0"/>
        </a:xfrm>
      </p:grpSpPr>
      <p:grpSp>
        <p:nvGrpSpPr>
          <p:cNvPr id="17410" name="Group 2"/>
          <p:cNvGrpSpPr/>
          <p:nvPr/>
        </p:nvGrpSpPr>
        <p:grpSpPr>
          <a:xfrm>
            <a:off x="0" y="0"/>
            <a:ext cx="9144000" cy="6858000"/>
            <a:chOff x="0" y="0"/>
            <a:chExt cx="5760" cy="4320"/>
          </a:xfrm>
        </p:grpSpPr>
        <p:sp>
          <p:nvSpPr>
            <p:cNvPr id="18"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4"/>
            <p:cNvSpPr>
              <a:spLocks noChangeArrowheads="1"/>
            </p:cNvSpPr>
            <p:nvPr/>
          </p:nvSpPr>
          <p:spPr bwMode="hidden">
            <a:xfrm>
              <a:off x="1081" y="1065"/>
              <a:ext cx="4679" cy="1596"/>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7418" name="Group 5"/>
            <p:cNvGrpSpPr/>
            <p:nvPr/>
          </p:nvGrpSpPr>
          <p:grpSpPr>
            <a:xfrm>
              <a:off x="0" y="672"/>
              <a:ext cx="1806" cy="1989"/>
              <a:chOff x="0" y="672"/>
              <a:chExt cx="1806" cy="1989"/>
            </a:xfrm>
          </p:grpSpPr>
          <p:sp>
            <p:nvSpPr>
              <p:cNvPr id="21" name="Rectangle 6"/>
              <p:cNvSpPr>
                <a:spLocks noChangeArrowheads="1"/>
              </p:cNvSpPr>
              <p:nvPr/>
            </p:nvSpPr>
            <p:spPr bwMode="auto">
              <a:xfrm>
                <a:off x="361" y="2257"/>
                <a:ext cx="363" cy="404"/>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7"/>
              <p:cNvSpPr>
                <a:spLocks noChangeArrowheads="1"/>
              </p:cNvSpPr>
              <p:nvPr/>
            </p:nvSpPr>
            <p:spPr bwMode="auto">
              <a:xfrm>
                <a:off x="1081" y="1065"/>
                <a:ext cx="362" cy="405"/>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8"/>
              <p:cNvSpPr>
                <a:spLocks noChangeArrowheads="1"/>
              </p:cNvSpPr>
              <p:nvPr/>
            </p:nvSpPr>
            <p:spPr bwMode="auto">
              <a:xfrm>
                <a:off x="1437" y="672"/>
                <a:ext cx="369" cy="400"/>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9"/>
              <p:cNvSpPr>
                <a:spLocks noChangeArrowheads="1"/>
              </p:cNvSpPr>
              <p:nvPr/>
            </p:nvSpPr>
            <p:spPr bwMode="auto">
              <a:xfrm>
                <a:off x="719" y="2257"/>
                <a:ext cx="368" cy="404"/>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10"/>
              <p:cNvSpPr>
                <a:spLocks noChangeArrowheads="1"/>
              </p:cNvSpPr>
              <p:nvPr/>
            </p:nvSpPr>
            <p:spPr bwMode="auto">
              <a:xfrm>
                <a:off x="1437" y="1065"/>
                <a:ext cx="369" cy="405"/>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11"/>
              <p:cNvSpPr>
                <a:spLocks noChangeArrowheads="1"/>
              </p:cNvSpPr>
              <p:nvPr/>
            </p:nvSpPr>
            <p:spPr bwMode="auto">
              <a:xfrm>
                <a:off x="719" y="1464"/>
                <a:ext cx="368" cy="399"/>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12"/>
              <p:cNvSpPr>
                <a:spLocks noChangeArrowheads="1"/>
              </p:cNvSpPr>
              <p:nvPr/>
            </p:nvSpPr>
            <p:spPr bwMode="auto">
              <a:xfrm>
                <a:off x="0" y="1464"/>
                <a:ext cx="367" cy="399"/>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13"/>
              <p:cNvSpPr>
                <a:spLocks noChangeArrowheads="1"/>
              </p:cNvSpPr>
              <p:nvPr/>
            </p:nvSpPr>
            <p:spPr bwMode="auto">
              <a:xfrm>
                <a:off x="1081" y="1464"/>
                <a:ext cx="362" cy="399"/>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Rectangle 14"/>
              <p:cNvSpPr>
                <a:spLocks noChangeArrowheads="1"/>
              </p:cNvSpPr>
              <p:nvPr/>
            </p:nvSpPr>
            <p:spPr bwMode="auto">
              <a:xfrm>
                <a:off x="361" y="1857"/>
                <a:ext cx="363" cy="406"/>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Rectangle 15"/>
              <p:cNvSpPr>
                <a:spLocks noChangeArrowheads="1"/>
              </p:cNvSpPr>
              <p:nvPr/>
            </p:nvSpPr>
            <p:spPr bwMode="auto">
              <a:xfrm>
                <a:off x="719" y="1857"/>
                <a:ext cx="368" cy="406"/>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5531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p>
        </p:txBody>
      </p:sp>
      <p:sp>
        <p:nvSpPr>
          <p:cNvPr id="55316"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a:t>单击此处编辑母版副标题样式</a:t>
            </a:r>
          </a:p>
        </p:txBody>
      </p:sp>
      <p:sp>
        <p:nvSpPr>
          <p:cNvPr id="31" name="Rectangle 16"/>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lstStyle/>
          <a:p>
            <a:pPr algn="r">
              <a:buNone/>
            </a:pPr>
            <a:fld id="{9A0DB2DC-4C9A-4742-B13C-FB6460FD3503}" type="slidenum">
              <a:rPr lang="en-US" altLang="zh-CN" dirty="0">
                <a:latin typeface="Arial Black" panose="020B0A04020102020204" pitchFamily="34" charset="0"/>
              </a:rPr>
              <a:t>‹#›</a:t>
            </a:fld>
            <a:endParaRPr lang="en-US" altLang="zh-CN" dirty="0">
              <a:latin typeface="Arial Black" panose="020B0A04020102020204" pitchFamily="34" charset="0"/>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9" name="日期占位符 8"/>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4" name="日期占位符 3"/>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7" name="日期占位符 6"/>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6" name="日期占位符 5"/>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5" name="日期占位符 4"/>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457200"/>
            <a:ext cx="8229600" cy="1371600"/>
          </a:xfrm>
        </p:spPr>
        <p:txBody>
          <a:bodyPr/>
          <a:lstStyle/>
          <a:p>
            <a:r>
              <a:rPr lang="zh-CN" altLang="en-US"/>
              <a:t>单击此处编辑母版标题样式</a:t>
            </a:r>
          </a:p>
        </p:txBody>
      </p:sp>
      <p:sp>
        <p:nvSpPr>
          <p:cNvPr id="3" name="内容占位符 2"/>
          <p:cNvSpPr>
            <a:spLocks noGrp="1"/>
          </p:cNvSpPr>
          <p:nvPr>
            <p:ph sz="quarter" idx="1"/>
          </p:nvPr>
        </p:nvSpPr>
        <p:spPr>
          <a:xfrm>
            <a:off x="457200" y="1981200"/>
            <a:ext cx="40386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981200"/>
            <a:ext cx="40386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57200" y="4000500"/>
            <a:ext cx="40386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4000500"/>
            <a:ext cx="40386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sp>
        <p:nvSpPr>
          <p:cNvPr id="9" name="日期占位符 8"/>
          <p:cNvSpPr>
            <a:spLocks noGrp="1"/>
          </p:cNvSpPr>
          <p:nvPr>
            <p:ph type="dt" sz="half"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blip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kumimoji="0" sz="1200">
                <a:latin typeface="+mn-lt"/>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4275"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Black" panose="020B0A04020102020204" pitchFamily="34" charset="0"/>
              </a:defRPr>
            </a:lvl1p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grpSp>
        <p:nvGrpSpPr>
          <p:cNvPr id="1028" name="Group 4"/>
          <p:cNvGrpSpPr/>
          <p:nvPr/>
        </p:nvGrpSpPr>
        <p:grpSpPr>
          <a:xfrm>
            <a:off x="0" y="0"/>
            <a:ext cx="9144000" cy="546100"/>
            <a:chOff x="0" y="0"/>
            <a:chExt cx="5760" cy="344"/>
          </a:xfrm>
        </p:grpSpPr>
        <p:sp>
          <p:nvSpPr>
            <p:cNvPr id="1032" name="Rectangle 5"/>
            <p:cNvSpPr/>
            <p:nvPr/>
          </p:nvSpPr>
          <p:spPr>
            <a:xfrm>
              <a:off x="0" y="0"/>
              <a:ext cx="180" cy="336"/>
            </a:xfrm>
            <a:prstGeom prst="rect">
              <a:avLst/>
            </a:prstGeom>
            <a:gradFill rotWithShape="0">
              <a:gsLst>
                <a:gs pos="0">
                  <a:schemeClr val="folHlink"/>
                </a:gs>
                <a:gs pos="100000">
                  <a:schemeClr val="bg1"/>
                </a:gs>
              </a:gsLst>
              <a:lin ang="0" scaled="1"/>
              <a:tileRect/>
            </a:gradFill>
            <a:ln w="9525">
              <a:noFill/>
            </a:ln>
          </p:spPr>
          <p:txBody>
            <a:bodyPr wrap="none" anchor="ctr" anchorCtr="0"/>
            <a:lstStyle/>
            <a:p>
              <a:pPr lvl="0" algn="ctr" eaLnBrk="1" hangingPunct="1">
                <a:buNone/>
              </a:pPr>
              <a:endParaRPr lang="zh-CN" altLang="zh-CN" sz="2400" dirty="0">
                <a:latin typeface="Times New Roman" panose="02020603050405020304" pitchFamily="18" charset="0"/>
              </a:endParaRPr>
            </a:p>
          </p:txBody>
        </p:sp>
        <p:sp>
          <p:nvSpPr>
            <p:cNvPr id="1033" name="Rectangle 6"/>
            <p:cNvSpPr/>
            <p:nvPr/>
          </p:nvSpPr>
          <p:spPr>
            <a:xfrm>
              <a:off x="260" y="85"/>
              <a:ext cx="5500" cy="173"/>
            </a:xfrm>
            <a:prstGeom prst="rect">
              <a:avLst/>
            </a:prstGeom>
            <a:gradFill rotWithShape="0">
              <a:gsLst>
                <a:gs pos="0">
                  <a:schemeClr val="bg2"/>
                </a:gs>
                <a:gs pos="100000">
                  <a:schemeClr val="bg1"/>
                </a:gs>
              </a:gsLst>
              <a:lin ang="0" scaled="1"/>
              <a:tileRect/>
            </a:gradFill>
            <a:ln w="9525">
              <a:noFill/>
            </a:ln>
          </p:spPr>
          <p:txBody>
            <a:bodyPr/>
            <a:lstStyle/>
            <a:p>
              <a:pPr lvl="0" eaLnBrk="1" hangingPunct="1">
                <a:buNone/>
              </a:pPr>
              <a:endParaRPr lang="zh-CN" altLang="zh-CN" sz="2400" dirty="0">
                <a:latin typeface="Times New Roman" panose="02020603050405020304" pitchFamily="18" charset="0"/>
              </a:endParaRPr>
            </a:p>
          </p:txBody>
        </p:sp>
        <p:sp>
          <p:nvSpPr>
            <p:cNvPr id="1034" name="Rectangle 7"/>
            <p:cNvSpPr/>
            <p:nvPr/>
          </p:nvSpPr>
          <p:spPr>
            <a:xfrm>
              <a:off x="258" y="85"/>
              <a:ext cx="87" cy="89"/>
            </a:xfrm>
            <a:prstGeom prst="rect">
              <a:avLst/>
            </a:prstGeom>
            <a:solidFill>
              <a:schemeClr val="folHlink"/>
            </a:solidFill>
            <a:ln w="9525">
              <a:noFill/>
            </a:ln>
          </p:spPr>
          <p:txBody>
            <a:bodyPr/>
            <a:lstStyle/>
            <a:p>
              <a:pPr lvl="0" eaLnBrk="1" hangingPunct="1">
                <a:buNone/>
              </a:pPr>
              <a:endParaRPr lang="zh-CN" altLang="zh-CN" sz="1800" dirty="0">
                <a:solidFill>
                  <a:schemeClr val="hlink"/>
                </a:solidFill>
                <a:latin typeface="Arial" panose="020B0604020202020204" pitchFamily="34" charset="0"/>
              </a:endParaRPr>
            </a:p>
          </p:txBody>
        </p:sp>
        <p:sp>
          <p:nvSpPr>
            <p:cNvPr id="1035" name="Rectangle 8"/>
            <p:cNvSpPr/>
            <p:nvPr/>
          </p:nvSpPr>
          <p:spPr>
            <a:xfrm>
              <a:off x="345" y="0"/>
              <a:ext cx="88" cy="87"/>
            </a:xfrm>
            <a:prstGeom prst="rect">
              <a:avLst/>
            </a:prstGeom>
            <a:solidFill>
              <a:schemeClr val="folHlink"/>
            </a:solidFill>
            <a:ln w="9525">
              <a:noFill/>
            </a:ln>
          </p:spPr>
          <p:txBody>
            <a:bodyPr/>
            <a:lstStyle/>
            <a:p>
              <a:pPr lvl="0" eaLnBrk="1" hangingPunct="1">
                <a:buNone/>
              </a:pPr>
              <a:endParaRPr lang="zh-CN" altLang="zh-CN" sz="1800" dirty="0">
                <a:solidFill>
                  <a:schemeClr val="hlink"/>
                </a:solidFill>
                <a:latin typeface="Arial" panose="020B0604020202020204" pitchFamily="34" charset="0"/>
              </a:endParaRPr>
            </a:p>
          </p:txBody>
        </p:sp>
        <p:sp>
          <p:nvSpPr>
            <p:cNvPr id="1036" name="Rectangle 9"/>
            <p:cNvSpPr/>
            <p:nvPr/>
          </p:nvSpPr>
          <p:spPr>
            <a:xfrm>
              <a:off x="345" y="85"/>
              <a:ext cx="88" cy="89"/>
            </a:xfrm>
            <a:prstGeom prst="rect">
              <a:avLst/>
            </a:prstGeom>
            <a:solidFill>
              <a:schemeClr val="accent2"/>
            </a:solidFill>
            <a:ln w="9525">
              <a:noFill/>
            </a:ln>
          </p:spPr>
          <p:txBody>
            <a:bodyPr/>
            <a:lstStyle/>
            <a:p>
              <a:pPr lvl="0" eaLnBrk="1" hangingPunct="1">
                <a:buNone/>
              </a:pPr>
              <a:endParaRPr lang="zh-CN" altLang="zh-CN" sz="1800" dirty="0">
                <a:solidFill>
                  <a:schemeClr val="accent2"/>
                </a:solidFill>
                <a:latin typeface="Arial" panose="020B0604020202020204" pitchFamily="34" charset="0"/>
              </a:endParaRPr>
            </a:p>
          </p:txBody>
        </p:sp>
        <p:sp>
          <p:nvSpPr>
            <p:cNvPr id="1037" name="Rectangle 10"/>
            <p:cNvSpPr/>
            <p:nvPr/>
          </p:nvSpPr>
          <p:spPr>
            <a:xfrm>
              <a:off x="173" y="173"/>
              <a:ext cx="86" cy="87"/>
            </a:xfrm>
            <a:prstGeom prst="rect">
              <a:avLst/>
            </a:prstGeom>
            <a:solidFill>
              <a:schemeClr val="folHlink"/>
            </a:solidFill>
            <a:ln w="9525">
              <a:noFill/>
            </a:ln>
          </p:spPr>
          <p:txBody>
            <a:bodyPr/>
            <a:lstStyle/>
            <a:p>
              <a:pPr lvl="0" eaLnBrk="1" hangingPunct="1">
                <a:buNone/>
              </a:pPr>
              <a:endParaRPr lang="zh-CN" altLang="zh-CN" sz="1800" dirty="0">
                <a:solidFill>
                  <a:schemeClr val="hlink"/>
                </a:solidFill>
                <a:latin typeface="Arial" panose="020B0604020202020204" pitchFamily="34" charset="0"/>
              </a:endParaRPr>
            </a:p>
          </p:txBody>
        </p:sp>
        <p:sp>
          <p:nvSpPr>
            <p:cNvPr id="1038" name="Rectangle 11"/>
            <p:cNvSpPr/>
            <p:nvPr/>
          </p:nvSpPr>
          <p:spPr>
            <a:xfrm>
              <a:off x="83" y="86"/>
              <a:ext cx="89" cy="87"/>
            </a:xfrm>
            <a:prstGeom prst="rect">
              <a:avLst/>
            </a:prstGeom>
            <a:solidFill>
              <a:schemeClr val="bg2"/>
            </a:solidFill>
            <a:ln w="9525">
              <a:noFill/>
            </a:ln>
          </p:spPr>
          <p:txBody>
            <a:bodyPr/>
            <a:lstStyle/>
            <a:p>
              <a:pPr lvl="0" eaLnBrk="1" hangingPunct="1">
                <a:buNone/>
              </a:pPr>
              <a:endParaRPr lang="zh-CN" altLang="zh-CN" sz="2400" dirty="0">
                <a:latin typeface="Times New Roman" panose="02020603050405020304" pitchFamily="18" charset="0"/>
              </a:endParaRPr>
            </a:p>
          </p:txBody>
        </p:sp>
        <p:sp>
          <p:nvSpPr>
            <p:cNvPr id="1039" name="Rectangle 12"/>
            <p:cNvSpPr/>
            <p:nvPr/>
          </p:nvSpPr>
          <p:spPr>
            <a:xfrm>
              <a:off x="258" y="171"/>
              <a:ext cx="87" cy="87"/>
            </a:xfrm>
            <a:prstGeom prst="rect">
              <a:avLst/>
            </a:prstGeom>
            <a:solidFill>
              <a:schemeClr val="accent2"/>
            </a:solidFill>
            <a:ln w="9525">
              <a:noFill/>
            </a:ln>
          </p:spPr>
          <p:txBody>
            <a:bodyPr/>
            <a:lstStyle/>
            <a:p>
              <a:pPr lvl="0" eaLnBrk="1" hangingPunct="1">
                <a:buNone/>
              </a:pPr>
              <a:endParaRPr lang="zh-CN" altLang="zh-CN" sz="1800" dirty="0">
                <a:solidFill>
                  <a:schemeClr val="accent2"/>
                </a:solidFill>
                <a:latin typeface="Arial" panose="020B0604020202020204" pitchFamily="34" charset="0"/>
              </a:endParaRPr>
            </a:p>
          </p:txBody>
        </p:sp>
        <p:sp>
          <p:nvSpPr>
            <p:cNvPr id="1040" name="Rectangle 13"/>
            <p:cNvSpPr/>
            <p:nvPr/>
          </p:nvSpPr>
          <p:spPr>
            <a:xfrm>
              <a:off x="173" y="258"/>
              <a:ext cx="86" cy="86"/>
            </a:xfrm>
            <a:prstGeom prst="rect">
              <a:avLst/>
            </a:prstGeom>
            <a:solidFill>
              <a:schemeClr val="accent2"/>
            </a:solidFill>
            <a:ln w="9525">
              <a:noFill/>
            </a:ln>
          </p:spPr>
          <p:txBody>
            <a:bodyPr/>
            <a:lstStyle/>
            <a:p>
              <a:pPr lvl="0" eaLnBrk="1" hangingPunct="1">
                <a:buNone/>
              </a:pPr>
              <a:endParaRPr lang="zh-CN" altLang="zh-CN" sz="1800" dirty="0">
                <a:solidFill>
                  <a:schemeClr val="accent2"/>
                </a:solidFill>
                <a:latin typeface="Arial" panose="020B0604020202020204" pitchFamily="34" charset="0"/>
              </a:endParaRPr>
            </a:p>
          </p:txBody>
        </p:sp>
      </p:grpSp>
      <p:sp>
        <p:nvSpPr>
          <p:cNvPr id="1029" name="Rectangle 14"/>
          <p:cNvSpPr>
            <a:spLocks noGrp="1"/>
          </p:cNvSpPr>
          <p:nvPr>
            <p:ph type="title"/>
          </p:nvPr>
        </p:nvSpPr>
        <p:spPr>
          <a:xfrm>
            <a:off x="457200" y="457200"/>
            <a:ext cx="8229600" cy="1371600"/>
          </a:xfrm>
          <a:prstGeom prst="rect">
            <a:avLst/>
          </a:prstGeom>
          <a:noFill/>
          <a:ln w="9525">
            <a:noFill/>
          </a:ln>
        </p:spPr>
        <p:txBody>
          <a:bodyPr anchor="ctr" anchorCtr="0"/>
          <a:lstStyle/>
          <a:p>
            <a:pPr lvl="0"/>
            <a:r>
              <a:rPr lang="zh-CN" altLang="en-US" dirty="0"/>
              <a:t>单击此处编辑母版标题样式</a:t>
            </a:r>
          </a:p>
        </p:txBody>
      </p:sp>
      <p:sp>
        <p:nvSpPr>
          <p:cNvPr id="1030" name="Rectangle 15"/>
          <p:cNvSpPr>
            <a:spLocks noGrp="1"/>
          </p:cNvSpPr>
          <p:nvPr>
            <p:ph type="body" idx="1"/>
          </p:nvPr>
        </p:nvSpPr>
        <p:spPr>
          <a:xfrm>
            <a:off x="457200" y="1981200"/>
            <a:ext cx="8229600" cy="38862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4288"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defRPr kumimoji="0" sz="1200">
                <a:latin typeface="+mn-lt"/>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5"/>
        </a:blip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kumimoji="0" sz="12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4275" name="Rectangle 3"/>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Black" panose="020B0A04020102020204" pitchFamily="34" charset="0"/>
              </a:defRPr>
            </a:lvl1pPr>
          </a:lstStyle>
          <a:p>
            <a:pPr lvl="0" eaLnBrk="1" hangingPunct="1">
              <a:buNone/>
            </a:pPr>
            <a:fld id="{9A0DB2DC-4C9A-4742-B13C-FB6460FD3503}" type="slidenum">
              <a:rPr lang="en-US" altLang="zh-CN" dirty="0"/>
              <a:t>‹#›</a:t>
            </a:fld>
            <a:endParaRPr lang="en-US" altLang="zh-CN" dirty="0">
              <a:latin typeface="Times New Roman" panose="02020603050405020304" pitchFamily="18" charset="0"/>
            </a:endParaRPr>
          </a:p>
        </p:txBody>
      </p:sp>
      <p:grpSp>
        <p:nvGrpSpPr>
          <p:cNvPr id="16388" name="Group 4"/>
          <p:cNvGrpSpPr/>
          <p:nvPr/>
        </p:nvGrpSpPr>
        <p:grpSpPr>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4" name="Rectangle 7"/>
            <p:cNvSpPr>
              <a:spLocks noChangeArrowheads="1"/>
            </p:cNvSpPr>
            <p:nvPr/>
          </p:nvSpPr>
          <p:spPr bwMode="auto">
            <a:xfrm>
              <a:off x="258" y="85"/>
              <a:ext cx="87" cy="89"/>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5" name="Rectangle 8"/>
            <p:cNvSpPr>
              <a:spLocks noChangeArrowheads="1"/>
            </p:cNvSpPr>
            <p:nvPr/>
          </p:nvSpPr>
          <p:spPr bwMode="auto">
            <a:xfrm>
              <a:off x="345" y="0"/>
              <a:ext cx="88" cy="87"/>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6" name="Rectangle 9"/>
            <p:cNvSpPr>
              <a:spLocks noChangeArrowheads="1"/>
            </p:cNvSpPr>
            <p:nvPr/>
          </p:nvSpPr>
          <p:spPr bwMode="auto">
            <a:xfrm>
              <a:off x="345" y="85"/>
              <a:ext cx="88" cy="89"/>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37" name="Rectangle 10"/>
            <p:cNvSpPr>
              <a:spLocks noChangeArrowheads="1"/>
            </p:cNvSpPr>
            <p:nvPr/>
          </p:nvSpPr>
          <p:spPr bwMode="auto">
            <a:xfrm>
              <a:off x="173" y="173"/>
              <a:ext cx="86" cy="87"/>
            </a:xfrm>
            <a:prstGeom prst="rect">
              <a:avLst/>
            </a:prstGeom>
            <a:solidFill>
              <a:schemeClr val="folHlink"/>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8" name="Rectangle 11"/>
            <p:cNvSpPr>
              <a:spLocks noChangeArrowheads="1"/>
            </p:cNvSpPr>
            <p:nvPr/>
          </p:nvSpPr>
          <p:spPr bwMode="auto">
            <a:xfrm>
              <a:off x="83" y="86"/>
              <a:ext cx="89" cy="87"/>
            </a:xfrm>
            <a:prstGeom prst="rect">
              <a:avLst/>
            </a:prstGeom>
            <a:solidFill>
              <a:schemeClr val="bg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9" name="Rectangle 12"/>
            <p:cNvSpPr>
              <a:spLocks noChangeArrowheads="1"/>
            </p:cNvSpPr>
            <p:nvPr/>
          </p:nvSpPr>
          <p:spPr bwMode="auto">
            <a:xfrm>
              <a:off x="258" y="171"/>
              <a:ext cx="87" cy="87"/>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0" name="Rectangle 13"/>
            <p:cNvSpPr>
              <a:spLocks noChangeArrowheads="1"/>
            </p:cNvSpPr>
            <p:nvPr/>
          </p:nvSpPr>
          <p:spPr bwMode="auto">
            <a:xfrm>
              <a:off x="173" y="258"/>
              <a:ext cx="86" cy="86"/>
            </a:xfrm>
            <a:prstGeom prst="rect">
              <a:avLst/>
            </a:prstGeom>
            <a:solidFill>
              <a:schemeClr val="accent2"/>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16389" name="Rectangle 14"/>
          <p:cNvSpPr>
            <a:spLocks noGrp="1"/>
          </p:cNvSpPr>
          <p:nvPr>
            <p:ph type="title"/>
          </p:nvPr>
        </p:nvSpPr>
        <p:spPr>
          <a:xfrm>
            <a:off x="457200" y="457200"/>
            <a:ext cx="8229600" cy="1371600"/>
          </a:xfrm>
          <a:prstGeom prst="rect">
            <a:avLst/>
          </a:prstGeom>
          <a:noFill/>
          <a:ln w="9525">
            <a:noFill/>
          </a:ln>
        </p:spPr>
        <p:txBody>
          <a:bodyPr anchor="ctr" anchorCtr="0"/>
          <a:lstStyle/>
          <a:p>
            <a:pPr lvl="0"/>
            <a:r>
              <a:rPr lang="zh-CN" altLang="en-US" dirty="0"/>
              <a:t>单击此处编辑母版标题样式</a:t>
            </a:r>
          </a:p>
        </p:txBody>
      </p:sp>
      <p:sp>
        <p:nvSpPr>
          <p:cNvPr id="16390" name="Rectangle 15"/>
          <p:cNvSpPr>
            <a:spLocks noGrp="1"/>
          </p:cNvSpPr>
          <p:nvPr>
            <p:ph type="body" idx="1"/>
          </p:nvPr>
        </p:nvSpPr>
        <p:spPr>
          <a:xfrm>
            <a:off x="457200" y="1981200"/>
            <a:ext cx="8229600" cy="38862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4288"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defRPr kumimoji="0" sz="12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ransition/>
  <p:hf sldNum="0"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6.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4.xml"/><Relationship Id="rId5" Type="http://schemas.openxmlformats.org/officeDocument/2006/relationships/image" Target="../media/image3.w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9.wmf"/><Relationship Id="rId18" Type="http://schemas.openxmlformats.org/officeDocument/2006/relationships/oleObject" Target="../embeddings/oleObject11.bin"/><Relationship Id="rId3" Type="http://schemas.openxmlformats.org/officeDocument/2006/relationships/image" Target="../media/image4.wmf"/><Relationship Id="rId21" Type="http://schemas.openxmlformats.org/officeDocument/2006/relationships/image" Target="../media/image13.wmf"/><Relationship Id="rId7" Type="http://schemas.openxmlformats.org/officeDocument/2006/relationships/image" Target="../media/image6.wmf"/><Relationship Id="rId12" Type="http://schemas.openxmlformats.org/officeDocument/2006/relationships/oleObject" Target="../embeddings/oleObject8.bin"/><Relationship Id="rId17" Type="http://schemas.openxmlformats.org/officeDocument/2006/relationships/image" Target="../media/image11.wmf"/><Relationship Id="rId2" Type="http://schemas.openxmlformats.org/officeDocument/2006/relationships/oleObject" Target="../embeddings/oleObject3.bin"/><Relationship Id="rId16" Type="http://schemas.openxmlformats.org/officeDocument/2006/relationships/oleObject" Target="../embeddings/oleObject10.bin"/><Relationship Id="rId20" Type="http://schemas.openxmlformats.org/officeDocument/2006/relationships/oleObject" Target="../embeddings/oleObject12.bin"/><Relationship Id="rId1" Type="http://schemas.openxmlformats.org/officeDocument/2006/relationships/slideLayout" Target="../slideLayouts/slideLayout2.xml"/><Relationship Id="rId6" Type="http://schemas.openxmlformats.org/officeDocument/2006/relationships/oleObject" Target="../embeddings/oleObject5.bin"/><Relationship Id="rId11" Type="http://schemas.openxmlformats.org/officeDocument/2006/relationships/image" Target="../media/image8.wmf"/><Relationship Id="rId5" Type="http://schemas.openxmlformats.org/officeDocument/2006/relationships/image" Target="../media/image5.wmf"/><Relationship Id="rId15" Type="http://schemas.openxmlformats.org/officeDocument/2006/relationships/image" Target="../media/image10.wmf"/><Relationship Id="rId10" Type="http://schemas.openxmlformats.org/officeDocument/2006/relationships/oleObject" Target="../embeddings/oleObject7.bin"/><Relationship Id="rId19" Type="http://schemas.openxmlformats.org/officeDocument/2006/relationships/image" Target="../media/image12.wmf"/><Relationship Id="rId4" Type="http://schemas.openxmlformats.org/officeDocument/2006/relationships/oleObject" Target="../embeddings/oleObject4.bin"/><Relationship Id="rId9" Type="http://schemas.openxmlformats.org/officeDocument/2006/relationships/image" Target="../media/image7.wmf"/><Relationship Id="rId14" Type="http://schemas.openxmlformats.org/officeDocument/2006/relationships/oleObject" Target="../embeddings/oleObject9.bin"/></Relationships>
</file>

<file path=ppt/slides/_rels/slide37.xml.rels><?xml version="1.0" encoding="UTF-8" standalone="yes"?>
<Relationships xmlns="http://schemas.openxmlformats.org/package/2006/relationships"><Relationship Id="rId3" Type="http://schemas.openxmlformats.org/officeDocument/2006/relationships/image" Target="../media/image14.wmf"/><Relationship Id="rId7" Type="http://schemas.openxmlformats.org/officeDocument/2006/relationships/image" Target="../media/image16.wmf"/><Relationship Id="rId2"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oleObject" Target="../embeddings/oleObject15.bin"/><Relationship Id="rId5" Type="http://schemas.openxmlformats.org/officeDocument/2006/relationships/image" Target="../media/image15.wmf"/><Relationship Id="rId4" Type="http://schemas.openxmlformats.org/officeDocument/2006/relationships/oleObject" Target="../embeddings/oleObject14.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6.bin"/><Relationship Id="rId1" Type="http://schemas.openxmlformats.org/officeDocument/2006/relationships/slideLayout" Target="../slideLayouts/slideLayout7.xml"/><Relationship Id="rId4" Type="http://schemas.openxmlformats.org/officeDocument/2006/relationships/oleObject" Target="../embeddings/oleObject17.bin"/></Relationships>
</file>

<file path=ppt/slides/_rels/slide44.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8.bin"/><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8.bin"/><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22.bin"/><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3.bin"/><Relationship Id="rId1" Type="http://schemas.openxmlformats.org/officeDocument/2006/relationships/slideLayout" Target="../slideLayouts/slideLayout7.xml"/><Relationship Id="rId4" Type="http://schemas.openxmlformats.org/officeDocument/2006/relationships/oleObject" Target="../embeddings/oleObject24.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25.bin"/><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26.bin"/><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27.bin"/><Relationship Id="rId1" Type="http://schemas.openxmlformats.org/officeDocument/2006/relationships/slideLayout" Target="../slideLayouts/slideLayout7.xml"/><Relationship Id="rId5" Type="http://schemas.openxmlformats.org/officeDocument/2006/relationships/image" Target="../media/image29.emf"/><Relationship Id="rId4" Type="http://schemas.openxmlformats.org/officeDocument/2006/relationships/oleObject" Target="../embeddings/oleObject28.bin"/></Relationships>
</file>

<file path=ppt/slides/_rels/slide57.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oleObject" Target="../embeddings/oleObject29.bin"/><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oleObject" Target="../embeddings/oleObject30.bin"/><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31.bin"/><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oleObject" Target="../embeddings/oleObject32.bin"/><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embeddings/oleObject33.bin"/><Relationship Id="rId1" Type="http://schemas.openxmlformats.org/officeDocument/2006/relationships/slideLayout" Target="../slideLayouts/slideLayout7.xml"/><Relationship Id="rId5" Type="http://schemas.openxmlformats.org/officeDocument/2006/relationships/image" Target="../media/image35.emf"/><Relationship Id="rId4" Type="http://schemas.openxmlformats.org/officeDocument/2006/relationships/oleObject" Target="../embeddings/oleObject34.bin"/></Relationships>
</file>

<file path=ppt/slides/_rels/slide64.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35.bin"/><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39.e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oleObject" Target="../embeddings/oleObject37.bin"/><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38.bin"/><Relationship Id="rId1" Type="http://schemas.openxmlformats.org/officeDocument/2006/relationships/slideLayout" Target="../slideLayouts/slideLayout2.xml"/><Relationship Id="rId5" Type="http://schemas.openxmlformats.org/officeDocument/2006/relationships/image" Target="../media/image44.wmf"/><Relationship Id="rId4" Type="http://schemas.openxmlformats.org/officeDocument/2006/relationships/oleObject" Target="../embeddings/oleObject39.bin"/></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45.wmf"/><Relationship Id="rId7" Type="http://schemas.openxmlformats.org/officeDocument/2006/relationships/image" Target="../media/image47.wmf"/><Relationship Id="rId2" Type="http://schemas.openxmlformats.org/officeDocument/2006/relationships/oleObject" Target="../embeddings/oleObject40.bin"/><Relationship Id="rId1" Type="http://schemas.openxmlformats.org/officeDocument/2006/relationships/slideLayout" Target="../slideLayouts/slideLayout2.xml"/><Relationship Id="rId6" Type="http://schemas.openxmlformats.org/officeDocument/2006/relationships/oleObject" Target="../embeddings/oleObject42.bin"/><Relationship Id="rId5" Type="http://schemas.openxmlformats.org/officeDocument/2006/relationships/image" Target="../media/image46.wmf"/><Relationship Id="rId4" Type="http://schemas.openxmlformats.org/officeDocument/2006/relationships/oleObject" Target="../embeddings/oleObject41.bin"/></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image" Target="../media/image1.jpeg"/><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9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8.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oleObject" Target="../embeddings/oleObject43.bin"/><Relationship Id="rId1" Type="http://schemas.openxmlformats.org/officeDocument/2006/relationships/slideLayout" Target="../slideLayouts/slideLayout20.xml"/></Relationships>
</file>

<file path=ppt/slides/_rels/slide1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30.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oleObject" Target="../embeddings/oleObject44.bin"/><Relationship Id="rId1" Type="http://schemas.openxmlformats.org/officeDocument/2006/relationships/slideLayout" Target="../slideLayouts/slideLayout2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3.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oleObject" Target="../embeddings/oleObject45.bin"/><Relationship Id="rId1" Type="http://schemas.openxmlformats.org/officeDocument/2006/relationships/slideLayout" Target="../slideLayouts/slideLayout20.xml"/><Relationship Id="rId5" Type="http://schemas.openxmlformats.org/officeDocument/2006/relationships/image" Target="../media/image51.wmf"/><Relationship Id="rId4" Type="http://schemas.openxmlformats.org/officeDocument/2006/relationships/oleObject" Target="../embeddings/oleObject46.bin"/></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6.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47.bin"/><Relationship Id="rId7" Type="http://schemas.openxmlformats.org/officeDocument/2006/relationships/oleObject" Target="../embeddings/oleObject49.bin"/><Relationship Id="rId2" Type="http://schemas.openxmlformats.org/officeDocument/2006/relationships/image" Target="../media/image1.jpeg"/><Relationship Id="rId1" Type="http://schemas.openxmlformats.org/officeDocument/2006/relationships/slideLayout" Target="../slideLayouts/slideLayout20.xml"/><Relationship Id="rId6" Type="http://schemas.openxmlformats.org/officeDocument/2006/relationships/image" Target="../media/image53.wmf"/><Relationship Id="rId5" Type="http://schemas.openxmlformats.org/officeDocument/2006/relationships/oleObject" Target="../embeddings/oleObject48.bin"/><Relationship Id="rId4" Type="http://schemas.openxmlformats.org/officeDocument/2006/relationships/image" Target="../media/image52.wmf"/></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1.xml.rels><?xml version="1.0" encoding="UTF-8" standalone="yes"?>
<Relationships xmlns="http://schemas.openxmlformats.org/package/2006/relationships"><Relationship Id="rId8" Type="http://schemas.openxmlformats.org/officeDocument/2006/relationships/oleObject" Target="../embeddings/oleObject53.bin"/><Relationship Id="rId13" Type="http://schemas.openxmlformats.org/officeDocument/2006/relationships/image" Target="../media/image60.wmf"/><Relationship Id="rId3" Type="http://schemas.openxmlformats.org/officeDocument/2006/relationships/image" Target="../media/image55.wmf"/><Relationship Id="rId7" Type="http://schemas.openxmlformats.org/officeDocument/2006/relationships/image" Target="../media/image57.wmf"/><Relationship Id="rId12" Type="http://schemas.openxmlformats.org/officeDocument/2006/relationships/oleObject" Target="../embeddings/oleObject55.bin"/><Relationship Id="rId17" Type="http://schemas.openxmlformats.org/officeDocument/2006/relationships/image" Target="../media/image62.wmf"/><Relationship Id="rId2" Type="http://schemas.openxmlformats.org/officeDocument/2006/relationships/oleObject" Target="../embeddings/oleObject50.bin"/><Relationship Id="rId16" Type="http://schemas.openxmlformats.org/officeDocument/2006/relationships/oleObject" Target="../embeddings/oleObject57.bin"/><Relationship Id="rId1" Type="http://schemas.openxmlformats.org/officeDocument/2006/relationships/slideLayout" Target="../slideLayouts/slideLayout15.xml"/><Relationship Id="rId6" Type="http://schemas.openxmlformats.org/officeDocument/2006/relationships/oleObject" Target="../embeddings/oleObject52.bin"/><Relationship Id="rId11" Type="http://schemas.openxmlformats.org/officeDocument/2006/relationships/image" Target="../media/image59.wmf"/><Relationship Id="rId5" Type="http://schemas.openxmlformats.org/officeDocument/2006/relationships/image" Target="../media/image56.wmf"/><Relationship Id="rId15" Type="http://schemas.openxmlformats.org/officeDocument/2006/relationships/image" Target="../media/image61.wmf"/><Relationship Id="rId10" Type="http://schemas.openxmlformats.org/officeDocument/2006/relationships/oleObject" Target="../embeddings/oleObject54.bin"/><Relationship Id="rId4" Type="http://schemas.openxmlformats.org/officeDocument/2006/relationships/oleObject" Target="../embeddings/oleObject51.bin"/><Relationship Id="rId9" Type="http://schemas.openxmlformats.org/officeDocument/2006/relationships/image" Target="../media/image58.wmf"/><Relationship Id="rId14" Type="http://schemas.openxmlformats.org/officeDocument/2006/relationships/oleObject" Target="../embeddings/oleObject56.bin"/></Relationships>
</file>

<file path=ppt/slides/_rels/slide17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5.xml"/></Relationships>
</file>

<file path=ppt/slides/_rels/slide173.xml.rels><?xml version="1.0" encoding="UTF-8" standalone="yes"?>
<Relationships xmlns="http://schemas.openxmlformats.org/package/2006/relationships"><Relationship Id="rId8" Type="http://schemas.openxmlformats.org/officeDocument/2006/relationships/oleObject" Target="../embeddings/oleObject61.bin"/><Relationship Id="rId13" Type="http://schemas.openxmlformats.org/officeDocument/2006/relationships/image" Target="../media/image68.wmf"/><Relationship Id="rId3" Type="http://schemas.openxmlformats.org/officeDocument/2006/relationships/image" Target="../media/image63.wmf"/><Relationship Id="rId7" Type="http://schemas.openxmlformats.org/officeDocument/2006/relationships/image" Target="../media/image65.wmf"/><Relationship Id="rId12" Type="http://schemas.openxmlformats.org/officeDocument/2006/relationships/oleObject" Target="../embeddings/oleObject63.bin"/><Relationship Id="rId17" Type="http://schemas.openxmlformats.org/officeDocument/2006/relationships/image" Target="../media/image70.wmf"/><Relationship Id="rId2" Type="http://schemas.openxmlformats.org/officeDocument/2006/relationships/oleObject" Target="../embeddings/oleObject58.bin"/><Relationship Id="rId16" Type="http://schemas.openxmlformats.org/officeDocument/2006/relationships/oleObject" Target="../embeddings/oleObject65.bin"/><Relationship Id="rId1" Type="http://schemas.openxmlformats.org/officeDocument/2006/relationships/slideLayout" Target="../slideLayouts/slideLayout26.xml"/><Relationship Id="rId6" Type="http://schemas.openxmlformats.org/officeDocument/2006/relationships/oleObject" Target="../embeddings/oleObject60.bin"/><Relationship Id="rId11" Type="http://schemas.openxmlformats.org/officeDocument/2006/relationships/image" Target="../media/image67.wmf"/><Relationship Id="rId5" Type="http://schemas.openxmlformats.org/officeDocument/2006/relationships/image" Target="../media/image64.wmf"/><Relationship Id="rId15" Type="http://schemas.openxmlformats.org/officeDocument/2006/relationships/image" Target="../media/image69.wmf"/><Relationship Id="rId10" Type="http://schemas.openxmlformats.org/officeDocument/2006/relationships/oleObject" Target="../embeddings/oleObject62.bin"/><Relationship Id="rId4" Type="http://schemas.openxmlformats.org/officeDocument/2006/relationships/oleObject" Target="../embeddings/oleObject59.bin"/><Relationship Id="rId9" Type="http://schemas.openxmlformats.org/officeDocument/2006/relationships/image" Target="../media/image66.wmf"/><Relationship Id="rId14" Type="http://schemas.openxmlformats.org/officeDocument/2006/relationships/oleObject" Target="../embeddings/oleObject64.bin"/></Relationships>
</file>

<file path=ppt/slides/_rels/slide1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5.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6.xml.rels><?xml version="1.0" encoding="UTF-8" standalone="yes"?>
<Relationships xmlns="http://schemas.openxmlformats.org/package/2006/relationships"><Relationship Id="rId8" Type="http://schemas.openxmlformats.org/officeDocument/2006/relationships/oleObject" Target="../embeddings/oleObject65.bin"/><Relationship Id="rId3" Type="http://schemas.openxmlformats.org/officeDocument/2006/relationships/image" Target="../media/image67.wmf"/><Relationship Id="rId7" Type="http://schemas.openxmlformats.org/officeDocument/2006/relationships/image" Target="../media/image69.wmf"/><Relationship Id="rId2" Type="http://schemas.openxmlformats.org/officeDocument/2006/relationships/oleObject" Target="../embeddings/oleObject62.bin"/><Relationship Id="rId1" Type="http://schemas.openxmlformats.org/officeDocument/2006/relationships/slideLayout" Target="../slideLayouts/slideLayout15.xml"/><Relationship Id="rId6" Type="http://schemas.openxmlformats.org/officeDocument/2006/relationships/oleObject" Target="../embeddings/oleObject64.bin"/><Relationship Id="rId5" Type="http://schemas.openxmlformats.org/officeDocument/2006/relationships/image" Target="../media/image68.wmf"/><Relationship Id="rId4" Type="http://schemas.openxmlformats.org/officeDocument/2006/relationships/oleObject" Target="../embeddings/oleObject63.bin"/><Relationship Id="rId9" Type="http://schemas.openxmlformats.org/officeDocument/2006/relationships/image" Target="../media/image70.wmf"/></Relationships>
</file>

<file path=ppt/slides/_rels/slide177.xml.rels><?xml version="1.0" encoding="UTF-8" standalone="yes"?>
<Relationships xmlns="http://schemas.openxmlformats.org/package/2006/relationships"><Relationship Id="rId3" Type="http://schemas.openxmlformats.org/officeDocument/2006/relationships/image" Target="../media/image71.wmf"/><Relationship Id="rId7" Type="http://schemas.openxmlformats.org/officeDocument/2006/relationships/image" Target="../media/image72.wmf"/><Relationship Id="rId2" Type="http://schemas.openxmlformats.org/officeDocument/2006/relationships/oleObject" Target="../embeddings/oleObject66.bin"/><Relationship Id="rId1" Type="http://schemas.openxmlformats.org/officeDocument/2006/relationships/slideLayout" Target="../slideLayouts/slideLayout15.xml"/><Relationship Id="rId6" Type="http://schemas.openxmlformats.org/officeDocument/2006/relationships/oleObject" Target="../embeddings/oleObject68.bin"/><Relationship Id="rId5" Type="http://schemas.openxmlformats.org/officeDocument/2006/relationships/image" Target="../media/image15.wmf"/><Relationship Id="rId4" Type="http://schemas.openxmlformats.org/officeDocument/2006/relationships/oleObject" Target="../embeddings/oleObject67.bin"/></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9.xml.rels><?xml version="1.0" encoding="UTF-8" standalone="yes"?>
<Relationships xmlns="http://schemas.openxmlformats.org/package/2006/relationships"><Relationship Id="rId8" Type="http://schemas.openxmlformats.org/officeDocument/2006/relationships/oleObject" Target="../embeddings/oleObject72.bin"/><Relationship Id="rId13" Type="http://schemas.openxmlformats.org/officeDocument/2006/relationships/image" Target="../media/image78.wmf"/><Relationship Id="rId3" Type="http://schemas.openxmlformats.org/officeDocument/2006/relationships/image" Target="../media/image73.wmf"/><Relationship Id="rId7" Type="http://schemas.openxmlformats.org/officeDocument/2006/relationships/image" Target="../media/image75.wmf"/><Relationship Id="rId12" Type="http://schemas.openxmlformats.org/officeDocument/2006/relationships/oleObject" Target="../embeddings/oleObject74.bin"/><Relationship Id="rId2" Type="http://schemas.openxmlformats.org/officeDocument/2006/relationships/oleObject" Target="../embeddings/oleObject69.bin"/><Relationship Id="rId1" Type="http://schemas.openxmlformats.org/officeDocument/2006/relationships/slideLayout" Target="../slideLayouts/slideLayout26.xml"/><Relationship Id="rId6" Type="http://schemas.openxmlformats.org/officeDocument/2006/relationships/oleObject" Target="../embeddings/oleObject71.bin"/><Relationship Id="rId11" Type="http://schemas.openxmlformats.org/officeDocument/2006/relationships/image" Target="../media/image77.wmf"/><Relationship Id="rId5" Type="http://schemas.openxmlformats.org/officeDocument/2006/relationships/image" Target="../media/image74.wmf"/><Relationship Id="rId10" Type="http://schemas.openxmlformats.org/officeDocument/2006/relationships/oleObject" Target="../embeddings/oleObject73.bin"/><Relationship Id="rId4" Type="http://schemas.openxmlformats.org/officeDocument/2006/relationships/oleObject" Target="../embeddings/oleObject70.bin"/><Relationship Id="rId9" Type="http://schemas.openxmlformats.org/officeDocument/2006/relationships/image" Target="../media/image76.wmf"/></Relationships>
</file>

<file path=ppt/slides/_rels/slide180.xml.rels><?xml version="1.0" encoding="UTF-8" standalone="yes"?>
<Relationships xmlns="http://schemas.openxmlformats.org/package/2006/relationships"><Relationship Id="rId3" Type="http://schemas.openxmlformats.org/officeDocument/2006/relationships/image" Target="../media/image76.wmf"/><Relationship Id="rId7" Type="http://schemas.openxmlformats.org/officeDocument/2006/relationships/image" Target="../media/image78.wmf"/><Relationship Id="rId2" Type="http://schemas.openxmlformats.org/officeDocument/2006/relationships/oleObject" Target="../embeddings/oleObject72.bin"/><Relationship Id="rId1" Type="http://schemas.openxmlformats.org/officeDocument/2006/relationships/slideLayout" Target="../slideLayouts/slideLayout15.xml"/><Relationship Id="rId6" Type="http://schemas.openxmlformats.org/officeDocument/2006/relationships/oleObject" Target="../embeddings/oleObject74.bin"/><Relationship Id="rId5" Type="http://schemas.openxmlformats.org/officeDocument/2006/relationships/image" Target="../media/image77.wmf"/><Relationship Id="rId4" Type="http://schemas.openxmlformats.org/officeDocument/2006/relationships/oleObject" Target="../embeddings/oleObject73.bin"/></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3.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oleObject" Target="../embeddings/oleObject75.bin"/><Relationship Id="rId1" Type="http://schemas.openxmlformats.org/officeDocument/2006/relationships/slideLayout" Target="../slideLayouts/slideLayout20.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5.xml.rels><?xml version="1.0" encoding="UTF-8" standalone="yes"?>
<Relationships xmlns="http://schemas.openxmlformats.org/package/2006/relationships"><Relationship Id="rId8" Type="http://schemas.openxmlformats.org/officeDocument/2006/relationships/oleObject" Target="../embeddings/oleObject79.bin"/><Relationship Id="rId3" Type="http://schemas.openxmlformats.org/officeDocument/2006/relationships/image" Target="../media/image55.wmf"/><Relationship Id="rId7" Type="http://schemas.openxmlformats.org/officeDocument/2006/relationships/image" Target="../media/image81.wmf"/><Relationship Id="rId2" Type="http://schemas.openxmlformats.org/officeDocument/2006/relationships/oleObject" Target="../embeddings/oleObject76.bin"/><Relationship Id="rId1" Type="http://schemas.openxmlformats.org/officeDocument/2006/relationships/slideLayout" Target="../slideLayouts/slideLayout15.xml"/><Relationship Id="rId6" Type="http://schemas.openxmlformats.org/officeDocument/2006/relationships/oleObject" Target="../embeddings/oleObject78.bin"/><Relationship Id="rId11" Type="http://schemas.openxmlformats.org/officeDocument/2006/relationships/image" Target="../media/image83.wmf"/><Relationship Id="rId5" Type="http://schemas.openxmlformats.org/officeDocument/2006/relationships/image" Target="../media/image80.wmf"/><Relationship Id="rId10" Type="http://schemas.openxmlformats.org/officeDocument/2006/relationships/oleObject" Target="../embeddings/oleObject80.bin"/><Relationship Id="rId4" Type="http://schemas.openxmlformats.org/officeDocument/2006/relationships/oleObject" Target="../embeddings/oleObject77.bin"/><Relationship Id="rId9" Type="http://schemas.openxmlformats.org/officeDocument/2006/relationships/image" Target="../media/image82.wmf"/></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7.x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oleObject" Target="../embeddings/oleObject81.bin"/><Relationship Id="rId1" Type="http://schemas.openxmlformats.org/officeDocument/2006/relationships/slideLayout" Target="../slideLayouts/slideLayout25.xml"/><Relationship Id="rId5" Type="http://schemas.openxmlformats.org/officeDocument/2006/relationships/image" Target="../media/image83.wmf"/><Relationship Id="rId4" Type="http://schemas.openxmlformats.org/officeDocument/2006/relationships/oleObject" Target="../embeddings/oleObject82.bin"/></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5.xml.rels><?xml version="1.0" encoding="UTF-8" standalone="yes"?>
<Relationships xmlns="http://schemas.openxmlformats.org/package/2006/relationships"><Relationship Id="rId8" Type="http://schemas.openxmlformats.org/officeDocument/2006/relationships/oleObject" Target="../embeddings/oleObject86.bin"/><Relationship Id="rId3" Type="http://schemas.openxmlformats.org/officeDocument/2006/relationships/image" Target="../media/image85.wmf"/><Relationship Id="rId7" Type="http://schemas.openxmlformats.org/officeDocument/2006/relationships/image" Target="../media/image87.wmf"/><Relationship Id="rId2" Type="http://schemas.openxmlformats.org/officeDocument/2006/relationships/oleObject" Target="../embeddings/oleObject83.bin"/><Relationship Id="rId1" Type="http://schemas.openxmlformats.org/officeDocument/2006/relationships/slideLayout" Target="../slideLayouts/slideLayout17.xml"/><Relationship Id="rId6" Type="http://schemas.openxmlformats.org/officeDocument/2006/relationships/oleObject" Target="../embeddings/oleObject85.bin"/><Relationship Id="rId11" Type="http://schemas.openxmlformats.org/officeDocument/2006/relationships/image" Target="../media/image89.wmf"/><Relationship Id="rId5" Type="http://schemas.openxmlformats.org/officeDocument/2006/relationships/image" Target="../media/image86.wmf"/><Relationship Id="rId10" Type="http://schemas.openxmlformats.org/officeDocument/2006/relationships/oleObject" Target="../embeddings/oleObject87.bin"/><Relationship Id="rId4" Type="http://schemas.openxmlformats.org/officeDocument/2006/relationships/oleObject" Target="../embeddings/oleObject84.bin"/><Relationship Id="rId9" Type="http://schemas.openxmlformats.org/officeDocument/2006/relationships/image" Target="../media/image88.wmf"/></Relationships>
</file>

<file path=ppt/slides/_rels/slide196.xml.rels><?xml version="1.0" encoding="UTF-8" standalone="yes"?>
<Relationships xmlns="http://schemas.openxmlformats.org/package/2006/relationships"><Relationship Id="rId3" Type="http://schemas.openxmlformats.org/officeDocument/2006/relationships/image" Target="../media/image87.wmf"/><Relationship Id="rId7" Type="http://schemas.openxmlformats.org/officeDocument/2006/relationships/image" Target="../media/image89.wmf"/><Relationship Id="rId2" Type="http://schemas.openxmlformats.org/officeDocument/2006/relationships/oleObject" Target="../embeddings/oleObject88.bin"/><Relationship Id="rId1" Type="http://schemas.openxmlformats.org/officeDocument/2006/relationships/slideLayout" Target="../slideLayouts/slideLayout15.xml"/><Relationship Id="rId6" Type="http://schemas.openxmlformats.org/officeDocument/2006/relationships/oleObject" Target="../embeddings/oleObject87.bin"/><Relationship Id="rId5" Type="http://schemas.openxmlformats.org/officeDocument/2006/relationships/image" Target="../media/image88.wmf"/><Relationship Id="rId4" Type="http://schemas.openxmlformats.org/officeDocument/2006/relationships/oleObject" Target="../embeddings/oleObject86.bin"/></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538480" y="2506980"/>
            <a:ext cx="8067040" cy="1753235"/>
          </a:xfrm>
          <a:prstGeom prst="rect">
            <a:avLst/>
          </a:prstGeom>
          <a:noFill/>
          <a:ln w="12700">
            <a:noFill/>
            <a:miter lim="800000"/>
            <a:tailEnd type="none" w="sm" len="lg"/>
          </a:ln>
          <a:effectLst/>
        </p:spPr>
        <p:txBody>
          <a:bodyPr wrap="square">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54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第七章 </a:t>
            </a:r>
          </a:p>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54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同步时序逻辑电路 </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3"/>
          <p:cNvSpPr txBox="1">
            <a:spLocks noChangeArrowheads="1"/>
          </p:cNvSpPr>
          <p:nvPr/>
        </p:nvSpPr>
        <p:spPr bwMode="auto">
          <a:xfrm>
            <a:off x="1019175" y="1297305"/>
            <a:ext cx="7320280" cy="3753485"/>
          </a:xfrm>
          <a:prstGeom prst="rect">
            <a:avLst/>
          </a:prstGeom>
          <a:noFill/>
          <a:ln w="9525">
            <a:noFill/>
            <a:miter lim="800000"/>
          </a:ln>
          <a:effectLst/>
        </p:spPr>
        <p:txBody>
          <a:bodyPr wrap="square">
            <a:spAutoFit/>
          </a:bodyPr>
          <a:lstStyle/>
          <a:p>
            <a:pPr marR="0" defTabSz="914400">
              <a:spcBef>
                <a:spcPct val="50000"/>
              </a:spcBef>
              <a:buClrTx/>
              <a:buSzTx/>
              <a:buFontTx/>
              <a:buNone/>
              <a:defRPr/>
            </a:pPr>
            <a:r>
              <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学习要求：</a:t>
            </a:r>
            <a:endParaRPr kumimoji="1" lang="zh-CN" altLang="en-US" sz="2800" kern="1200" cap="none" spc="0" normalizeH="0" baseline="0" noProof="0">
              <a:latin typeface="Times New Roman" panose="02020603050405020304" pitchFamily="18" charset="0"/>
              <a:ea typeface="宋体" panose="02010600030101010101" pitchFamily="2" charset="-122"/>
              <a:cs typeface="+mn-cs"/>
            </a:endParaRPr>
          </a:p>
          <a:p>
            <a:pPr marR="0" defTabSz="914400">
              <a:spcBef>
                <a:spcPct val="50000"/>
              </a:spcBef>
              <a:buClrTx/>
              <a:buSzTx/>
              <a:buFontTx/>
              <a:buChar char="•"/>
              <a:defRPr/>
            </a:pPr>
            <a:r>
              <a:rPr kumimoji="1" lang="zh-CN" altLang="en-US" sz="2800" kern="1200" cap="none" spc="0" normalizeH="0" baseline="0" noProof="0">
                <a:latin typeface="Times New Roman" panose="02020603050405020304" pitchFamily="18" charset="0"/>
                <a:ea typeface="宋体" panose="02010600030101010101" pitchFamily="2" charset="-122"/>
                <a:cs typeface="+mn-cs"/>
              </a:rPr>
              <a:t> 了解时序电路的基本结构、分类和常用的描述方法；</a:t>
            </a:r>
          </a:p>
          <a:p>
            <a:pPr marR="0" defTabSz="914400">
              <a:spcBef>
                <a:spcPct val="50000"/>
              </a:spcBef>
              <a:buClrTx/>
              <a:buSzTx/>
              <a:buFontTx/>
              <a:buChar char="•"/>
              <a:defRPr/>
            </a:pPr>
            <a:r>
              <a:rPr kumimoji="1" lang="zh-CN" altLang="en-US" sz="2800" kern="1200" cap="none" spc="0" normalizeH="0" baseline="0" noProof="0">
                <a:latin typeface="Times New Roman" panose="02020603050405020304" pitchFamily="18" charset="0"/>
                <a:ea typeface="宋体" panose="02010600030101010101" pitchFamily="2" charset="-122"/>
                <a:cs typeface="+mn-cs"/>
              </a:rPr>
              <a:t>   熟练掌握同步时序电路分析和设计的基本方法；</a:t>
            </a:r>
          </a:p>
          <a:p>
            <a:pPr marR="0" defTabSz="914400">
              <a:spcBef>
                <a:spcPct val="50000"/>
              </a:spcBef>
              <a:buClrTx/>
              <a:buSzTx/>
              <a:buFontTx/>
              <a:buChar char="•"/>
              <a:defRPr/>
            </a:pPr>
            <a:r>
              <a:rPr kumimoji="1" lang="zh-CN" altLang="en-US" sz="2800" kern="1200" cap="none" spc="0" normalizeH="0" baseline="0" noProof="0">
                <a:latin typeface="Times New Roman" panose="02020603050405020304" pitchFamily="18" charset="0"/>
                <a:ea typeface="宋体" panose="02010600030101010101" pitchFamily="2" charset="-122"/>
                <a:cs typeface="+mn-cs"/>
              </a:rPr>
              <a:t>  熟悉状态图的建立，状态简化和状态分配的各个重要环节。</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1228725" y="431800"/>
            <a:ext cx="6610350" cy="583565"/>
          </a:xfrm>
          <a:prstGeom prst="rect">
            <a:avLst/>
          </a:prstGeom>
          <a:noFill/>
          <a:ln w="9525">
            <a:noFill/>
            <a:miter lim="800000"/>
          </a:ln>
          <a:effectLst/>
        </p:spPr>
        <p:txBody>
          <a:bodyPr wrap="none">
            <a:spAutoFit/>
          </a:bodyPr>
          <a:lstStyle/>
          <a:p>
            <a:pPr marR="0" defTabSz="914400">
              <a:buClrTx/>
              <a:buSzTx/>
              <a:buFontTx/>
              <a:buNone/>
              <a:defRPr/>
            </a:pPr>
            <a:r>
              <a:rPr kumimoji="1" lang="en-US" altLang="zh-CN"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7.1  </a:t>
            </a:r>
            <a:r>
              <a:rPr kumimoji="1" lang="zh-CN" altLang="en-US"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时序逻辑电路的特点和描述方法</a:t>
            </a:r>
          </a:p>
        </p:txBody>
      </p:sp>
      <p:sp>
        <p:nvSpPr>
          <p:cNvPr id="3075" name="Text Box 3"/>
          <p:cNvSpPr txBox="1">
            <a:spLocks noChangeArrowheads="1"/>
          </p:cNvSpPr>
          <p:nvPr/>
        </p:nvSpPr>
        <p:spPr bwMode="auto">
          <a:xfrm>
            <a:off x="211138" y="1203325"/>
            <a:ext cx="8810625" cy="1563688"/>
          </a:xfrm>
          <a:prstGeom prst="rect">
            <a:avLst/>
          </a:prstGeom>
          <a:noFill/>
          <a:ln w="9525">
            <a:noFill/>
            <a:miter lim="800000"/>
          </a:ln>
          <a:effectLst/>
        </p:spPr>
        <p:txBody>
          <a:bodyPr>
            <a:spAutoFit/>
          </a:bodyPr>
          <a:lstStyle/>
          <a:p>
            <a:pPr marR="0" defTabSz="914400">
              <a:lnSpc>
                <a:spcPct val="115000"/>
              </a:lnSpc>
              <a:spcBef>
                <a:spcPct val="50000"/>
              </a:spcBef>
              <a:buClrTx/>
              <a:buSzTx/>
              <a:buFontTx/>
              <a:buNone/>
              <a:defRPr/>
            </a:pPr>
            <a:r>
              <a:rPr kumimoji="1"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1. </a:t>
            </a:r>
            <a:r>
              <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时序电路：</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一个电路在任何时刻的稳定输出不仅与该时刻电路的输入信号有关，而且与该电路过去的输入有关，这样的电路称为</a:t>
            </a: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时序电路</a:t>
            </a: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a:t>
            </a:r>
          </a:p>
        </p:txBody>
      </p:sp>
      <p:sp>
        <p:nvSpPr>
          <p:cNvPr id="3077" name="Text Box 5"/>
          <p:cNvSpPr txBox="1"/>
          <p:nvPr/>
        </p:nvSpPr>
        <p:spPr>
          <a:xfrm>
            <a:off x="296863" y="2695575"/>
            <a:ext cx="8342312" cy="1073150"/>
          </a:xfrm>
          <a:prstGeom prst="rect">
            <a:avLst/>
          </a:prstGeom>
          <a:noFill/>
          <a:ln w="9525">
            <a:noFill/>
          </a:ln>
        </p:spPr>
        <p:txBody>
          <a:bodyPr>
            <a:spAutoFit/>
          </a:bodyPr>
          <a:lstStyle/>
          <a:p>
            <a:pPr indent="673100">
              <a:lnSpc>
                <a:spcPct val="115000"/>
              </a:lnSpc>
              <a:spcBef>
                <a:spcPct val="50000"/>
              </a:spcBef>
            </a:pPr>
            <a:r>
              <a:rPr lang="zh-CN" altLang="en-US" sz="2800" dirty="0">
                <a:latin typeface="Times New Roman" panose="02020603050405020304" pitchFamily="18" charset="0"/>
              </a:rPr>
              <a:t>时序电路由组合电路和存储</a:t>
            </a:r>
            <a:r>
              <a:rPr lang="en-US" altLang="zh-CN" sz="2800" dirty="0">
                <a:latin typeface="Times New Roman" panose="02020603050405020304" pitchFamily="18" charset="0"/>
              </a:rPr>
              <a:t>(</a:t>
            </a:r>
            <a:r>
              <a:rPr lang="zh-CN" altLang="en-US" sz="2800" dirty="0">
                <a:latin typeface="Times New Roman" panose="02020603050405020304" pitchFamily="18" charset="0"/>
              </a:rPr>
              <a:t>记忆</a:t>
            </a:r>
            <a:r>
              <a:rPr lang="en-US" altLang="zh-CN" sz="2800" dirty="0">
                <a:latin typeface="Times New Roman" panose="02020603050405020304" pitchFamily="18" charset="0"/>
              </a:rPr>
              <a:t>)</a:t>
            </a:r>
            <a:r>
              <a:rPr lang="zh-CN" altLang="en-US" sz="2800" dirty="0">
                <a:latin typeface="Times New Roman" panose="02020603050405020304" pitchFamily="18" charset="0"/>
              </a:rPr>
              <a:t>器件及反馈回路三部分组成，见下图</a:t>
            </a:r>
            <a:r>
              <a:rPr lang="en-US" altLang="zh-CN" sz="2800" dirty="0">
                <a:latin typeface="Times New Roman" panose="02020603050405020304" pitchFamily="18" charset="0"/>
              </a:rPr>
              <a:t>.</a:t>
            </a:r>
          </a:p>
        </p:txBody>
      </p:sp>
      <p:grpSp>
        <p:nvGrpSpPr>
          <p:cNvPr id="2" name="Group 47"/>
          <p:cNvGrpSpPr/>
          <p:nvPr/>
        </p:nvGrpSpPr>
        <p:grpSpPr>
          <a:xfrm>
            <a:off x="311150" y="3911600"/>
            <a:ext cx="4260850" cy="2652713"/>
            <a:chOff x="2843" y="2121"/>
            <a:chExt cx="2684" cy="1671"/>
          </a:xfrm>
        </p:grpSpPr>
        <p:sp>
          <p:nvSpPr>
            <p:cNvPr id="5130" name="Text Box 21"/>
            <p:cNvSpPr txBox="1"/>
            <p:nvPr/>
          </p:nvSpPr>
          <p:spPr>
            <a:xfrm>
              <a:off x="2848" y="2134"/>
              <a:ext cx="291" cy="327"/>
            </a:xfrm>
            <a:prstGeom prst="rect">
              <a:avLst/>
            </a:prstGeom>
            <a:noFill/>
            <a:ln w="9525">
              <a:noFill/>
            </a:ln>
          </p:spPr>
          <p:txBody>
            <a:bodyPr wrap="none">
              <a:spAutoFit/>
            </a:bodyPr>
            <a:lstStyle/>
            <a:p>
              <a:r>
                <a:rPr lang="en-US" altLang="zh-CN" sz="2800" i="1" dirty="0">
                  <a:latin typeface="Times New Roman" panose="02020603050405020304" pitchFamily="18" charset="0"/>
                </a:rPr>
                <a:t>x</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5131" name="Text Box 22"/>
            <p:cNvSpPr txBox="1"/>
            <p:nvPr/>
          </p:nvSpPr>
          <p:spPr>
            <a:xfrm>
              <a:off x="5171" y="2121"/>
              <a:ext cx="279" cy="327"/>
            </a:xfrm>
            <a:prstGeom prst="rect">
              <a:avLst/>
            </a:prstGeom>
            <a:noFill/>
            <a:ln w="9525">
              <a:noFill/>
            </a:ln>
          </p:spPr>
          <p:txBody>
            <a:bodyPr wrap="none">
              <a:spAutoFit/>
            </a:bodyPr>
            <a:lstStyle/>
            <a:p>
              <a:r>
                <a:rPr lang="en-US" altLang="zh-CN" sz="2800" i="1" dirty="0">
                  <a:latin typeface="Times New Roman" panose="02020603050405020304" pitchFamily="18" charset="0"/>
                </a:rPr>
                <a:t>z</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5132" name="Rectangle 23"/>
            <p:cNvSpPr/>
            <p:nvPr/>
          </p:nvSpPr>
          <p:spPr>
            <a:xfrm>
              <a:off x="3742" y="2256"/>
              <a:ext cx="981" cy="528"/>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5133" name="Rectangle 24"/>
            <p:cNvSpPr/>
            <p:nvPr/>
          </p:nvSpPr>
          <p:spPr>
            <a:xfrm>
              <a:off x="3742" y="3264"/>
              <a:ext cx="981" cy="528"/>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5134" name="Text Box 25"/>
            <p:cNvSpPr txBox="1"/>
            <p:nvPr/>
          </p:nvSpPr>
          <p:spPr>
            <a:xfrm>
              <a:off x="3723" y="2364"/>
              <a:ext cx="1028" cy="300"/>
            </a:xfrm>
            <a:prstGeom prst="rect">
              <a:avLst/>
            </a:prstGeom>
            <a:noFill/>
            <a:ln w="9525">
              <a:noFill/>
            </a:ln>
          </p:spPr>
          <p:txBody>
            <a:bodyPr>
              <a:spAutoFit/>
            </a:bodyPr>
            <a:lstStyle/>
            <a:p>
              <a:pPr>
                <a:lnSpc>
                  <a:spcPct val="90000"/>
                </a:lnSpc>
              </a:pPr>
              <a:r>
                <a:rPr lang="zh-CN" altLang="en-US" sz="2800" dirty="0">
                  <a:latin typeface="Times New Roman" panose="02020603050405020304" pitchFamily="18" charset="0"/>
                </a:rPr>
                <a:t>组合电路</a:t>
              </a:r>
            </a:p>
          </p:txBody>
        </p:sp>
        <p:sp>
          <p:nvSpPr>
            <p:cNvPr id="5135" name="Text Box 26"/>
            <p:cNvSpPr txBox="1"/>
            <p:nvPr/>
          </p:nvSpPr>
          <p:spPr>
            <a:xfrm>
              <a:off x="3732" y="3380"/>
              <a:ext cx="1090" cy="300"/>
            </a:xfrm>
            <a:prstGeom prst="rect">
              <a:avLst/>
            </a:prstGeom>
            <a:noFill/>
            <a:ln w="9525">
              <a:noFill/>
            </a:ln>
          </p:spPr>
          <p:txBody>
            <a:bodyPr>
              <a:spAutoFit/>
            </a:bodyPr>
            <a:lstStyle/>
            <a:p>
              <a:pPr>
                <a:lnSpc>
                  <a:spcPct val="90000"/>
                </a:lnSpc>
              </a:pPr>
              <a:r>
                <a:rPr lang="zh-CN" altLang="en-US" sz="2800" dirty="0">
                  <a:latin typeface="Times New Roman" panose="02020603050405020304" pitchFamily="18" charset="0"/>
                </a:rPr>
                <a:t>存储器件</a:t>
              </a:r>
            </a:p>
          </p:txBody>
        </p:sp>
        <p:sp>
          <p:nvSpPr>
            <p:cNvPr id="5136" name="Line 27"/>
            <p:cNvSpPr/>
            <p:nvPr/>
          </p:nvSpPr>
          <p:spPr>
            <a:xfrm>
              <a:off x="3169" y="2315"/>
              <a:ext cx="547" cy="0"/>
            </a:xfrm>
            <a:prstGeom prst="line">
              <a:avLst/>
            </a:prstGeom>
            <a:ln w="19050" cap="flat" cmpd="sng">
              <a:solidFill>
                <a:schemeClr val="tx1"/>
              </a:solidFill>
              <a:prstDash val="solid"/>
              <a:headEnd type="none" w="med" len="med"/>
              <a:tailEnd type="triangle" w="sm" len="lg"/>
            </a:ln>
          </p:spPr>
        </p:sp>
        <p:sp>
          <p:nvSpPr>
            <p:cNvPr id="5137" name="Line 28"/>
            <p:cNvSpPr/>
            <p:nvPr/>
          </p:nvSpPr>
          <p:spPr>
            <a:xfrm>
              <a:off x="3169" y="2539"/>
              <a:ext cx="547" cy="0"/>
            </a:xfrm>
            <a:prstGeom prst="line">
              <a:avLst/>
            </a:prstGeom>
            <a:ln w="19050" cap="flat" cmpd="sng">
              <a:solidFill>
                <a:schemeClr val="tx1"/>
              </a:solidFill>
              <a:prstDash val="solid"/>
              <a:headEnd type="none" w="med" len="med"/>
              <a:tailEnd type="triangle" w="sm" len="lg"/>
            </a:ln>
          </p:spPr>
        </p:sp>
        <p:sp>
          <p:nvSpPr>
            <p:cNvPr id="5138" name="Rectangle 29"/>
            <p:cNvSpPr/>
            <p:nvPr/>
          </p:nvSpPr>
          <p:spPr>
            <a:xfrm>
              <a:off x="2843" y="2348"/>
              <a:ext cx="291" cy="327"/>
            </a:xfrm>
            <a:prstGeom prst="rect">
              <a:avLst/>
            </a:prstGeom>
            <a:noFill/>
            <a:ln w="9525">
              <a:noFill/>
            </a:ln>
          </p:spPr>
          <p:txBody>
            <a:bodyPr wrap="none">
              <a:spAutoFit/>
            </a:bodyPr>
            <a:lstStyle/>
            <a:p>
              <a:r>
                <a:rPr lang="en-US" altLang="zh-CN" sz="2800" i="1" dirty="0">
                  <a:latin typeface="Times New Roman" panose="02020603050405020304" pitchFamily="18" charset="0"/>
                </a:rPr>
                <a:t>x</a:t>
              </a:r>
              <a:r>
                <a:rPr lang="en-US" altLang="zh-CN" sz="2800" i="1" baseline="-25000" dirty="0">
                  <a:latin typeface="Times New Roman" panose="02020603050405020304" pitchFamily="18" charset="0"/>
                </a:rPr>
                <a:t>n</a:t>
              </a:r>
            </a:p>
          </p:txBody>
        </p:sp>
        <p:sp>
          <p:nvSpPr>
            <p:cNvPr id="3102" name="Text Box 30"/>
            <p:cNvSpPr txBox="1">
              <a:spLocks noChangeArrowheads="1"/>
            </p:cNvSpPr>
            <p:nvPr/>
          </p:nvSpPr>
          <p:spPr bwMode="auto">
            <a:xfrm>
              <a:off x="3219" y="2292"/>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p>
          </p:txBody>
        </p:sp>
        <p:sp>
          <p:nvSpPr>
            <p:cNvPr id="5140" name="Line 31"/>
            <p:cNvSpPr/>
            <p:nvPr/>
          </p:nvSpPr>
          <p:spPr>
            <a:xfrm>
              <a:off x="4716" y="2326"/>
              <a:ext cx="485" cy="0"/>
            </a:xfrm>
            <a:prstGeom prst="line">
              <a:avLst/>
            </a:prstGeom>
            <a:ln w="19050" cap="flat" cmpd="sng">
              <a:solidFill>
                <a:schemeClr val="tx1"/>
              </a:solidFill>
              <a:prstDash val="solid"/>
              <a:headEnd type="none" w="med" len="med"/>
              <a:tailEnd type="triangle" w="sm" len="lg"/>
            </a:ln>
          </p:spPr>
        </p:sp>
        <p:sp>
          <p:nvSpPr>
            <p:cNvPr id="5141" name="Line 32"/>
            <p:cNvSpPr/>
            <p:nvPr/>
          </p:nvSpPr>
          <p:spPr>
            <a:xfrm>
              <a:off x="4716" y="2540"/>
              <a:ext cx="475" cy="0"/>
            </a:xfrm>
            <a:prstGeom prst="line">
              <a:avLst/>
            </a:prstGeom>
            <a:ln w="19050" cap="flat" cmpd="sng">
              <a:solidFill>
                <a:schemeClr val="tx1"/>
              </a:solidFill>
              <a:prstDash val="solid"/>
              <a:headEnd type="none" w="med" len="med"/>
              <a:tailEnd type="triangle" w="sm" len="lg"/>
            </a:ln>
          </p:spPr>
        </p:sp>
        <p:sp>
          <p:nvSpPr>
            <p:cNvPr id="5142" name="Rectangle 33"/>
            <p:cNvSpPr/>
            <p:nvPr/>
          </p:nvSpPr>
          <p:spPr>
            <a:xfrm>
              <a:off x="5214" y="2345"/>
              <a:ext cx="313" cy="327"/>
            </a:xfrm>
            <a:prstGeom prst="rect">
              <a:avLst/>
            </a:prstGeom>
            <a:noFill/>
            <a:ln w="9525">
              <a:noFill/>
            </a:ln>
          </p:spPr>
          <p:txBody>
            <a:bodyPr wrap="none">
              <a:spAutoFit/>
            </a:bodyPr>
            <a:lstStyle/>
            <a:p>
              <a:r>
                <a:rPr lang="en-US" altLang="zh-CN" sz="2800" i="1" dirty="0">
                  <a:latin typeface="Times New Roman" panose="02020603050405020304" pitchFamily="18" charset="0"/>
                </a:rPr>
                <a:t>z</a:t>
              </a:r>
              <a:r>
                <a:rPr lang="en-US" altLang="zh-CN" sz="2800" i="1" baseline="-25000" dirty="0">
                  <a:latin typeface="Times New Roman" panose="02020603050405020304" pitchFamily="18" charset="0"/>
                </a:rPr>
                <a:t>m</a:t>
              </a:r>
            </a:p>
          </p:txBody>
        </p:sp>
        <p:sp>
          <p:nvSpPr>
            <p:cNvPr id="3106" name="Text Box 34"/>
            <p:cNvSpPr txBox="1">
              <a:spLocks noChangeArrowheads="1"/>
            </p:cNvSpPr>
            <p:nvPr/>
          </p:nvSpPr>
          <p:spPr bwMode="auto">
            <a:xfrm>
              <a:off x="4744" y="2303"/>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p>
          </p:txBody>
        </p:sp>
        <p:sp>
          <p:nvSpPr>
            <p:cNvPr id="5144" name="Freeform 35"/>
            <p:cNvSpPr/>
            <p:nvPr/>
          </p:nvSpPr>
          <p:spPr>
            <a:xfrm>
              <a:off x="3451" y="2731"/>
              <a:ext cx="289" cy="652"/>
            </a:xfrm>
            <a:custGeom>
              <a:avLst/>
              <a:gdLst>
                <a:gd name="txL" fmla="*/ 0 w 228"/>
                <a:gd name="txT" fmla="*/ 0 h 652"/>
                <a:gd name="txR" fmla="*/ 228 w 228"/>
                <a:gd name="txB" fmla="*/ 652 h 652"/>
              </a:gdLst>
              <a:ahLst/>
              <a:cxnLst>
                <a:cxn ang="0">
                  <a:pos x="366" y="652"/>
                </a:cxn>
                <a:cxn ang="0">
                  <a:pos x="0" y="652"/>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lstStyle/>
            <a:p>
              <a:endParaRPr lang="zh-CN" altLang="en-US"/>
            </a:p>
          </p:txBody>
        </p:sp>
        <p:sp>
          <p:nvSpPr>
            <p:cNvPr id="5145" name="Freeform 36"/>
            <p:cNvSpPr/>
            <p:nvPr/>
          </p:nvSpPr>
          <p:spPr>
            <a:xfrm>
              <a:off x="3270" y="2648"/>
              <a:ext cx="470" cy="1025"/>
            </a:xfrm>
            <a:custGeom>
              <a:avLst/>
              <a:gdLst>
                <a:gd name="txL" fmla="*/ 0 w 371"/>
                <a:gd name="txT" fmla="*/ 0 h 1025"/>
                <a:gd name="txR" fmla="*/ 371 w 371"/>
                <a:gd name="txB" fmla="*/ 1025 h 1025"/>
              </a:gdLst>
              <a:ahLst/>
              <a:cxnLst>
                <a:cxn ang="0">
                  <a:pos x="595" y="1024"/>
                </a:cxn>
                <a:cxn ang="0">
                  <a:pos x="0" y="1025"/>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lstStyle/>
            <a:p>
              <a:endParaRPr lang="zh-CN" altLang="en-US"/>
            </a:p>
          </p:txBody>
        </p:sp>
        <p:sp>
          <p:nvSpPr>
            <p:cNvPr id="5146" name="Freeform 37"/>
            <p:cNvSpPr/>
            <p:nvPr/>
          </p:nvSpPr>
          <p:spPr>
            <a:xfrm flipH="1" flipV="1">
              <a:off x="4737" y="2721"/>
              <a:ext cx="289" cy="652"/>
            </a:xfrm>
            <a:custGeom>
              <a:avLst/>
              <a:gdLst>
                <a:gd name="txL" fmla="*/ 0 w 228"/>
                <a:gd name="txT" fmla="*/ 0 h 652"/>
                <a:gd name="txR" fmla="*/ 228 w 228"/>
                <a:gd name="txB" fmla="*/ 652 h 652"/>
              </a:gdLst>
              <a:ahLst/>
              <a:cxnLst>
                <a:cxn ang="0">
                  <a:pos x="366" y="652"/>
                </a:cxn>
                <a:cxn ang="0">
                  <a:pos x="0" y="652"/>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lstStyle/>
            <a:p>
              <a:endParaRPr lang="zh-CN" altLang="en-US"/>
            </a:p>
          </p:txBody>
        </p:sp>
        <p:sp>
          <p:nvSpPr>
            <p:cNvPr id="5147" name="Freeform 38"/>
            <p:cNvSpPr/>
            <p:nvPr/>
          </p:nvSpPr>
          <p:spPr>
            <a:xfrm flipH="1" flipV="1">
              <a:off x="4740" y="2648"/>
              <a:ext cx="470" cy="1025"/>
            </a:xfrm>
            <a:custGeom>
              <a:avLst/>
              <a:gdLst>
                <a:gd name="txL" fmla="*/ 0 w 371"/>
                <a:gd name="txT" fmla="*/ 0 h 1025"/>
                <a:gd name="txR" fmla="*/ 371 w 371"/>
                <a:gd name="txB" fmla="*/ 1025 h 1025"/>
              </a:gdLst>
              <a:ahLst/>
              <a:cxnLst>
                <a:cxn ang="0">
                  <a:pos x="595" y="1024"/>
                </a:cxn>
                <a:cxn ang="0">
                  <a:pos x="0" y="1025"/>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lstStyle/>
            <a:p>
              <a:endParaRPr lang="zh-CN" altLang="en-US"/>
            </a:p>
          </p:txBody>
        </p:sp>
        <p:sp>
          <p:nvSpPr>
            <p:cNvPr id="3111" name="Text Box 39"/>
            <p:cNvSpPr txBox="1">
              <a:spLocks noChangeArrowheads="1"/>
            </p:cNvSpPr>
            <p:nvPr/>
          </p:nvSpPr>
          <p:spPr bwMode="auto">
            <a:xfrm>
              <a:off x="3380" y="3398"/>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p>
          </p:txBody>
        </p:sp>
        <p:sp>
          <p:nvSpPr>
            <p:cNvPr id="3112" name="Text Box 40"/>
            <p:cNvSpPr txBox="1">
              <a:spLocks noChangeArrowheads="1"/>
            </p:cNvSpPr>
            <p:nvPr/>
          </p:nvSpPr>
          <p:spPr bwMode="auto">
            <a:xfrm>
              <a:off x="4782" y="3398"/>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p>
          </p:txBody>
        </p:sp>
        <p:sp>
          <p:nvSpPr>
            <p:cNvPr id="5150" name="Text Box 41"/>
            <p:cNvSpPr txBox="1"/>
            <p:nvPr/>
          </p:nvSpPr>
          <p:spPr>
            <a:xfrm>
              <a:off x="3446" y="3035"/>
              <a:ext cx="274"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r</a:t>
              </a:r>
              <a:endParaRPr lang="en-US" altLang="zh-CN" sz="2800" dirty="0">
                <a:latin typeface="Times New Roman" panose="02020603050405020304" pitchFamily="18" charset="0"/>
              </a:endParaRPr>
            </a:p>
          </p:txBody>
        </p:sp>
        <p:sp>
          <p:nvSpPr>
            <p:cNvPr id="5151" name="Rectangle 42"/>
            <p:cNvSpPr/>
            <p:nvPr/>
          </p:nvSpPr>
          <p:spPr>
            <a:xfrm>
              <a:off x="3013" y="3029"/>
              <a:ext cx="291"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p>
          </p:txBody>
        </p:sp>
        <p:sp>
          <p:nvSpPr>
            <p:cNvPr id="5152" name="Rectangle 43"/>
            <p:cNvSpPr/>
            <p:nvPr/>
          </p:nvSpPr>
          <p:spPr>
            <a:xfrm>
              <a:off x="4771" y="2950"/>
              <a:ext cx="317"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p>
          </p:txBody>
        </p:sp>
        <p:sp>
          <p:nvSpPr>
            <p:cNvPr id="5153" name="Text Box 44"/>
            <p:cNvSpPr txBox="1"/>
            <p:nvPr/>
          </p:nvSpPr>
          <p:spPr>
            <a:xfrm>
              <a:off x="5185" y="2964"/>
              <a:ext cx="283"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l</a:t>
              </a:r>
              <a:endParaRPr lang="en-US" altLang="zh-CN" sz="2800" dirty="0">
                <a:latin typeface="Times New Roman" panose="02020603050405020304" pitchFamily="18" charset="0"/>
              </a:endParaRPr>
            </a:p>
          </p:txBody>
        </p:sp>
      </p:grpSp>
      <p:sp>
        <p:nvSpPr>
          <p:cNvPr id="3120" name="Rectangle 48"/>
          <p:cNvSpPr/>
          <p:nvPr/>
        </p:nvSpPr>
        <p:spPr>
          <a:xfrm>
            <a:off x="4729163" y="4054475"/>
            <a:ext cx="4314825" cy="396875"/>
          </a:xfrm>
          <a:prstGeom prst="rect">
            <a:avLst/>
          </a:prstGeom>
          <a:noFill/>
          <a:ln w="9525">
            <a:noFill/>
          </a:ln>
        </p:spPr>
        <p:txBody>
          <a:bodyPr wrap="none">
            <a:spAutoFit/>
          </a:bodyPr>
          <a:lstStyle/>
          <a:p>
            <a:r>
              <a:rPr lang="en-US" altLang="zh-CN" sz="2000" b="1" i="1" dirty="0">
                <a:solidFill>
                  <a:srgbClr val="FF3300"/>
                </a:solidFill>
                <a:latin typeface="Times New Roman" panose="02020603050405020304" pitchFamily="18" charset="0"/>
              </a:rPr>
              <a:t>x</a:t>
            </a:r>
            <a:r>
              <a:rPr lang="en-US" altLang="zh-CN" sz="2000" b="1" i="1" baseline="-25000" dirty="0">
                <a:solidFill>
                  <a:srgbClr val="FF3300"/>
                </a:solidFill>
                <a:latin typeface="Times New Roman" panose="02020603050405020304" pitchFamily="18" charset="0"/>
              </a:rPr>
              <a:t>1 .</a:t>
            </a:r>
            <a:r>
              <a:rPr lang="en-US" altLang="zh-CN" sz="2000" b="1" i="1" dirty="0">
                <a:solidFill>
                  <a:srgbClr val="FF3300"/>
                </a:solidFill>
                <a:latin typeface="Times New Roman" panose="02020603050405020304" pitchFamily="18" charset="0"/>
              </a:rPr>
              <a:t> x</a:t>
            </a:r>
            <a:r>
              <a:rPr lang="en-US" altLang="zh-CN" sz="2000" b="1" i="1" baseline="-25000" dirty="0">
                <a:solidFill>
                  <a:srgbClr val="FF3300"/>
                </a:solidFill>
                <a:latin typeface="Times New Roman" panose="02020603050405020304" pitchFamily="18" charset="0"/>
              </a:rPr>
              <a:t>n</a:t>
            </a:r>
            <a:r>
              <a:rPr lang="zh-CN" altLang="en-US" sz="2000" b="1" i="1" dirty="0">
                <a:solidFill>
                  <a:srgbClr val="FF3300"/>
                </a:solidFill>
                <a:latin typeface="Times New Roman" panose="02020603050405020304" pitchFamily="18" charset="0"/>
              </a:rPr>
              <a:t>：</a:t>
            </a:r>
            <a:r>
              <a:rPr lang="zh-CN" altLang="zh-CN" sz="2000" b="1" i="1" dirty="0">
                <a:solidFill>
                  <a:srgbClr val="FF3300"/>
                </a:solidFill>
                <a:latin typeface="Times New Roman" panose="02020603050405020304" pitchFamily="18" charset="0"/>
              </a:rPr>
              <a:t>时序电路的输入或外部输入；</a:t>
            </a:r>
            <a:endParaRPr lang="zh-CN" altLang="en-US" sz="2000" b="1" i="1" baseline="-25000" dirty="0">
              <a:solidFill>
                <a:srgbClr val="FF3300"/>
              </a:solidFill>
              <a:latin typeface="Times New Roman" panose="02020603050405020304" pitchFamily="18" charset="0"/>
            </a:endParaRPr>
          </a:p>
        </p:txBody>
      </p:sp>
      <p:sp>
        <p:nvSpPr>
          <p:cNvPr id="3121" name="Rectangle 49"/>
          <p:cNvSpPr/>
          <p:nvPr/>
        </p:nvSpPr>
        <p:spPr>
          <a:xfrm>
            <a:off x="4730750" y="4497388"/>
            <a:ext cx="4294188" cy="396875"/>
          </a:xfrm>
          <a:prstGeom prst="rect">
            <a:avLst/>
          </a:prstGeom>
          <a:noFill/>
          <a:ln w="9525">
            <a:noFill/>
          </a:ln>
        </p:spPr>
        <p:txBody>
          <a:bodyPr wrap="none">
            <a:spAutoFit/>
          </a:bodyPr>
          <a:lstStyle/>
          <a:p>
            <a:r>
              <a:rPr lang="en-US" altLang="zh-CN" sz="2000" b="1" i="1" dirty="0">
                <a:solidFill>
                  <a:srgbClr val="FF3300"/>
                </a:solidFill>
                <a:latin typeface="Times New Roman" panose="02020603050405020304" pitchFamily="18" charset="0"/>
              </a:rPr>
              <a:t>z</a:t>
            </a:r>
            <a:r>
              <a:rPr lang="en-US" altLang="zh-CN" sz="2000" b="1" i="1" baseline="-25000" dirty="0">
                <a:solidFill>
                  <a:srgbClr val="FF3300"/>
                </a:solidFill>
                <a:latin typeface="Times New Roman" panose="02020603050405020304" pitchFamily="18" charset="0"/>
              </a:rPr>
              <a:t>1 .</a:t>
            </a:r>
            <a:r>
              <a:rPr lang="en-US" altLang="zh-CN" sz="2000" b="1" i="1" dirty="0">
                <a:solidFill>
                  <a:srgbClr val="FF3300"/>
                </a:solidFill>
                <a:latin typeface="Times New Roman" panose="02020603050405020304" pitchFamily="18" charset="0"/>
              </a:rPr>
              <a:t> z</a:t>
            </a:r>
            <a:r>
              <a:rPr lang="en-US" altLang="zh-CN" sz="2000" b="1" i="1" baseline="-25000" dirty="0">
                <a:solidFill>
                  <a:srgbClr val="FF3300"/>
                </a:solidFill>
                <a:latin typeface="Times New Roman" panose="02020603050405020304" pitchFamily="18" charset="0"/>
              </a:rPr>
              <a:t>m</a:t>
            </a:r>
            <a:r>
              <a:rPr lang="zh-CN" altLang="en-US" sz="2000" b="1" i="1" dirty="0">
                <a:solidFill>
                  <a:srgbClr val="FF3300"/>
                </a:solidFill>
                <a:latin typeface="Times New Roman" panose="02020603050405020304" pitchFamily="18" charset="0"/>
              </a:rPr>
              <a:t>：</a:t>
            </a:r>
            <a:r>
              <a:rPr lang="zh-CN" altLang="zh-CN" sz="2000" b="1" i="1" dirty="0">
                <a:solidFill>
                  <a:srgbClr val="FF3300"/>
                </a:solidFill>
                <a:latin typeface="Times New Roman" panose="02020603050405020304" pitchFamily="18" charset="0"/>
              </a:rPr>
              <a:t>时序电路的输出或外部输出；</a:t>
            </a:r>
            <a:endParaRPr lang="zh-CN" altLang="en-US" sz="2000" b="1" i="1" baseline="-25000" dirty="0">
              <a:solidFill>
                <a:srgbClr val="FF3300"/>
              </a:solidFill>
              <a:latin typeface="Times New Roman" panose="02020603050405020304" pitchFamily="18" charset="0"/>
            </a:endParaRPr>
          </a:p>
        </p:txBody>
      </p:sp>
      <p:sp>
        <p:nvSpPr>
          <p:cNvPr id="3122" name="Rectangle 50"/>
          <p:cNvSpPr/>
          <p:nvPr/>
        </p:nvSpPr>
        <p:spPr>
          <a:xfrm>
            <a:off x="4781550" y="4962525"/>
            <a:ext cx="4257675" cy="396875"/>
          </a:xfrm>
          <a:prstGeom prst="rect">
            <a:avLst/>
          </a:prstGeom>
          <a:noFill/>
          <a:ln w="9525">
            <a:noFill/>
          </a:ln>
        </p:spPr>
        <p:txBody>
          <a:bodyPr wrap="none">
            <a:spAutoFit/>
          </a:bodyPr>
          <a:lstStyle/>
          <a:p>
            <a:r>
              <a:rPr lang="en-US" altLang="zh-CN" sz="2000" b="1" i="1" dirty="0">
                <a:solidFill>
                  <a:srgbClr val="FF3300"/>
                </a:solidFill>
                <a:latin typeface="Times New Roman" panose="02020603050405020304" pitchFamily="18" charset="0"/>
              </a:rPr>
              <a:t>y</a:t>
            </a:r>
            <a:r>
              <a:rPr lang="en-US" altLang="zh-CN" sz="2000" b="1" i="1" baseline="-25000" dirty="0">
                <a:solidFill>
                  <a:srgbClr val="FF3300"/>
                </a:solidFill>
                <a:latin typeface="Times New Roman" panose="02020603050405020304" pitchFamily="18" charset="0"/>
              </a:rPr>
              <a:t>1..</a:t>
            </a:r>
            <a:r>
              <a:rPr lang="en-US" altLang="zh-CN" sz="2000" b="1" i="1" dirty="0">
                <a:solidFill>
                  <a:srgbClr val="FF3300"/>
                </a:solidFill>
                <a:latin typeface="Times New Roman" panose="02020603050405020304" pitchFamily="18" charset="0"/>
              </a:rPr>
              <a:t> y</a:t>
            </a:r>
            <a:r>
              <a:rPr lang="en-US" altLang="zh-CN" sz="2000" b="1" i="1" baseline="-25000" dirty="0">
                <a:solidFill>
                  <a:srgbClr val="FF3300"/>
                </a:solidFill>
                <a:latin typeface="Times New Roman" panose="02020603050405020304" pitchFamily="18" charset="0"/>
              </a:rPr>
              <a:t>r</a:t>
            </a:r>
            <a:r>
              <a:rPr lang="zh-CN" altLang="en-US" sz="2000" b="1" i="1" dirty="0">
                <a:solidFill>
                  <a:srgbClr val="FF3300"/>
                </a:solidFill>
                <a:latin typeface="Times New Roman" panose="02020603050405020304" pitchFamily="18" charset="0"/>
              </a:rPr>
              <a:t>：</a:t>
            </a:r>
            <a:r>
              <a:rPr lang="zh-CN" altLang="zh-CN" sz="2000" b="1" i="1" dirty="0">
                <a:solidFill>
                  <a:srgbClr val="FF3300"/>
                </a:solidFill>
                <a:latin typeface="Times New Roman" panose="02020603050405020304" pitchFamily="18" charset="0"/>
              </a:rPr>
              <a:t>时序电路的状态或内部输入；</a:t>
            </a:r>
            <a:endParaRPr lang="zh-CN" altLang="en-US" sz="2000" b="1" i="1" baseline="-25000" dirty="0">
              <a:solidFill>
                <a:srgbClr val="FF3300"/>
              </a:solidFill>
              <a:latin typeface="Times New Roman" panose="02020603050405020304" pitchFamily="18" charset="0"/>
            </a:endParaRPr>
          </a:p>
        </p:txBody>
      </p:sp>
      <p:sp>
        <p:nvSpPr>
          <p:cNvPr id="3123" name="Rectangle 51"/>
          <p:cNvSpPr/>
          <p:nvPr/>
        </p:nvSpPr>
        <p:spPr>
          <a:xfrm>
            <a:off x="4781550" y="5470525"/>
            <a:ext cx="4325938" cy="396875"/>
          </a:xfrm>
          <a:prstGeom prst="rect">
            <a:avLst/>
          </a:prstGeom>
          <a:noFill/>
          <a:ln w="9525">
            <a:noFill/>
          </a:ln>
        </p:spPr>
        <p:txBody>
          <a:bodyPr wrap="none">
            <a:spAutoFit/>
          </a:bodyPr>
          <a:lstStyle/>
          <a:p>
            <a:r>
              <a:rPr lang="en-US" altLang="zh-CN" sz="2000" b="1" i="1" dirty="0">
                <a:solidFill>
                  <a:srgbClr val="FF3300"/>
                </a:solidFill>
                <a:latin typeface="Times New Roman" panose="02020603050405020304" pitchFamily="18" charset="0"/>
              </a:rPr>
              <a:t>Y</a:t>
            </a:r>
            <a:r>
              <a:rPr lang="en-US" altLang="zh-CN" sz="2000" b="1" i="1" baseline="-25000" dirty="0">
                <a:solidFill>
                  <a:srgbClr val="FF3300"/>
                </a:solidFill>
                <a:latin typeface="Times New Roman" panose="02020603050405020304" pitchFamily="18" charset="0"/>
              </a:rPr>
              <a:t>1 .</a:t>
            </a:r>
            <a:r>
              <a:rPr lang="en-US" altLang="zh-CN" sz="2000" b="1" i="1" dirty="0">
                <a:solidFill>
                  <a:srgbClr val="FF3300"/>
                </a:solidFill>
                <a:latin typeface="Times New Roman" panose="02020603050405020304" pitchFamily="18" charset="0"/>
              </a:rPr>
              <a:t> Y</a:t>
            </a:r>
            <a:r>
              <a:rPr lang="en-US" altLang="zh-CN" sz="2000" b="1" i="1" baseline="-25000" dirty="0">
                <a:solidFill>
                  <a:srgbClr val="FF3300"/>
                </a:solidFill>
                <a:latin typeface="Times New Roman" panose="02020603050405020304" pitchFamily="18" charset="0"/>
              </a:rPr>
              <a:t>l</a:t>
            </a:r>
            <a:r>
              <a:rPr lang="zh-CN" altLang="en-US" sz="2000" b="1" i="1" dirty="0">
                <a:solidFill>
                  <a:srgbClr val="FF3300"/>
                </a:solidFill>
                <a:latin typeface="Times New Roman" panose="02020603050405020304" pitchFamily="18" charset="0"/>
              </a:rPr>
              <a:t>：</a:t>
            </a:r>
            <a:r>
              <a:rPr lang="zh-CN" altLang="zh-CN" sz="2000" b="1" i="1" dirty="0">
                <a:solidFill>
                  <a:srgbClr val="FF3300"/>
                </a:solidFill>
                <a:latin typeface="Times New Roman" panose="02020603050405020304" pitchFamily="18" charset="0"/>
              </a:rPr>
              <a:t>时序电路的激励或内部输出；</a:t>
            </a:r>
            <a:endParaRPr lang="zh-CN" altLang="en-US" sz="2000" b="1" i="1" baseline="-25000" dirty="0">
              <a:solidFill>
                <a:srgbClr val="FF33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5"/>
                                        </p:tgtEl>
                                        <p:attrNameLst>
                                          <p:attrName>style.visibility</p:attrName>
                                        </p:attrNameLst>
                                      </p:cBhvr>
                                      <p:to>
                                        <p:strVal val="visible"/>
                                      </p:to>
                                    </p:set>
                                    <p:animEffect transition="in" filter="wipe(left)">
                                      <p:cBhvr>
                                        <p:cTn id="7" dur="500"/>
                                        <p:tgtEl>
                                          <p:spTgt spid="30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7"/>
                                        </p:tgtEl>
                                        <p:attrNameLst>
                                          <p:attrName>style.visibility</p:attrName>
                                        </p:attrNameLst>
                                      </p:cBhvr>
                                      <p:to>
                                        <p:strVal val="visible"/>
                                      </p:to>
                                    </p:set>
                                    <p:animEffect transition="in" filter="wipe(left)">
                                      <p:cBhvr>
                                        <p:cTn id="12" dur="500"/>
                                        <p:tgtEl>
                                          <p:spTgt spid="3077"/>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to="" calcmode="lin" valueType="num">
                                      <p:cBhvr>
                                        <p:cTn id="17" dur="1" fill="hold"/>
                                        <p:tgtEl>
                                          <p:spTgt spid="2"/>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3120"/>
                                        </p:tgtEl>
                                        <p:attrNameLst>
                                          <p:attrName>style.visibility</p:attrName>
                                        </p:attrNameLst>
                                      </p:cBhvr>
                                      <p:to>
                                        <p:strVal val="visible"/>
                                      </p:to>
                                    </p:set>
                                    <p:anim calcmode="lin" valueType="num">
                                      <p:cBhvr additive="base">
                                        <p:cTn id="22" dur="500" fill="hold"/>
                                        <p:tgtEl>
                                          <p:spTgt spid="3120"/>
                                        </p:tgtEl>
                                        <p:attrNameLst>
                                          <p:attrName>ppt_x</p:attrName>
                                        </p:attrNameLst>
                                      </p:cBhvr>
                                      <p:tavLst>
                                        <p:tav tm="0">
                                          <p:val>
                                            <p:strVal val="#ppt_x"/>
                                          </p:val>
                                        </p:tav>
                                        <p:tav tm="100000">
                                          <p:val>
                                            <p:strVal val="#ppt_x"/>
                                          </p:val>
                                        </p:tav>
                                      </p:tavLst>
                                    </p:anim>
                                    <p:anim calcmode="lin" valueType="num">
                                      <p:cBhvr additive="base">
                                        <p:cTn id="23" dur="500" fill="hold"/>
                                        <p:tgtEl>
                                          <p:spTgt spid="3120"/>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3121"/>
                                        </p:tgtEl>
                                        <p:attrNameLst>
                                          <p:attrName>style.visibility</p:attrName>
                                        </p:attrNameLst>
                                      </p:cBhvr>
                                      <p:to>
                                        <p:strVal val="visible"/>
                                      </p:to>
                                    </p:set>
                                    <p:anim calcmode="lin" valueType="num">
                                      <p:cBhvr additive="base">
                                        <p:cTn id="28" dur="500" fill="hold"/>
                                        <p:tgtEl>
                                          <p:spTgt spid="3121"/>
                                        </p:tgtEl>
                                        <p:attrNameLst>
                                          <p:attrName>ppt_x</p:attrName>
                                        </p:attrNameLst>
                                      </p:cBhvr>
                                      <p:tavLst>
                                        <p:tav tm="0">
                                          <p:val>
                                            <p:strVal val="#ppt_x"/>
                                          </p:val>
                                        </p:tav>
                                        <p:tav tm="100000">
                                          <p:val>
                                            <p:strVal val="#ppt_x"/>
                                          </p:val>
                                        </p:tav>
                                      </p:tavLst>
                                    </p:anim>
                                    <p:anim calcmode="lin" valueType="num">
                                      <p:cBhvr additive="base">
                                        <p:cTn id="29" dur="500" fill="hold"/>
                                        <p:tgtEl>
                                          <p:spTgt spid="3121"/>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3122"/>
                                        </p:tgtEl>
                                        <p:attrNameLst>
                                          <p:attrName>style.visibility</p:attrName>
                                        </p:attrNameLst>
                                      </p:cBhvr>
                                      <p:to>
                                        <p:strVal val="visible"/>
                                      </p:to>
                                    </p:set>
                                    <p:anim calcmode="lin" valueType="num">
                                      <p:cBhvr additive="base">
                                        <p:cTn id="34" dur="500" fill="hold"/>
                                        <p:tgtEl>
                                          <p:spTgt spid="3122"/>
                                        </p:tgtEl>
                                        <p:attrNameLst>
                                          <p:attrName>ppt_x</p:attrName>
                                        </p:attrNameLst>
                                      </p:cBhvr>
                                      <p:tavLst>
                                        <p:tav tm="0">
                                          <p:val>
                                            <p:strVal val="#ppt_x"/>
                                          </p:val>
                                        </p:tav>
                                        <p:tav tm="100000">
                                          <p:val>
                                            <p:strVal val="#ppt_x"/>
                                          </p:val>
                                        </p:tav>
                                      </p:tavLst>
                                    </p:anim>
                                    <p:anim calcmode="lin" valueType="num">
                                      <p:cBhvr additive="base">
                                        <p:cTn id="35" dur="500" fill="hold"/>
                                        <p:tgtEl>
                                          <p:spTgt spid="3122"/>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3123"/>
                                        </p:tgtEl>
                                        <p:attrNameLst>
                                          <p:attrName>style.visibility</p:attrName>
                                        </p:attrNameLst>
                                      </p:cBhvr>
                                      <p:to>
                                        <p:strVal val="visible"/>
                                      </p:to>
                                    </p:set>
                                    <p:anim calcmode="lin" valueType="num">
                                      <p:cBhvr additive="base">
                                        <p:cTn id="40" dur="500" fill="hold"/>
                                        <p:tgtEl>
                                          <p:spTgt spid="3123"/>
                                        </p:tgtEl>
                                        <p:attrNameLst>
                                          <p:attrName>ppt_x</p:attrName>
                                        </p:attrNameLst>
                                      </p:cBhvr>
                                      <p:tavLst>
                                        <p:tav tm="0">
                                          <p:val>
                                            <p:strVal val="#ppt_x"/>
                                          </p:val>
                                        </p:tav>
                                        <p:tav tm="100000">
                                          <p:val>
                                            <p:strVal val="#ppt_x"/>
                                          </p:val>
                                        </p:tav>
                                      </p:tavLst>
                                    </p:anim>
                                    <p:anim calcmode="lin" valueType="num">
                                      <p:cBhvr additive="base">
                                        <p:cTn id="41" dur="500" fill="hold"/>
                                        <p:tgtEl>
                                          <p:spTgt spid="31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p:bldP spid="3077" grpId="0"/>
      <p:bldP spid="3120" grpId="0"/>
      <p:bldP spid="3121" grpId="0"/>
      <p:bldP spid="3122" grpId="0"/>
      <p:bldP spid="31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p:nvPr/>
        </p:nvSpPr>
        <p:spPr>
          <a:xfrm>
            <a:off x="711200" y="827088"/>
            <a:ext cx="7720013" cy="3525837"/>
          </a:xfrm>
          <a:prstGeom prst="rect">
            <a:avLst/>
          </a:prstGeom>
          <a:noFill/>
          <a:ln w="9525">
            <a:noFill/>
          </a:ln>
        </p:spPr>
        <p:txBody>
          <a:bodyPr>
            <a:spAutoFit/>
          </a:bodyPr>
          <a:lstStyle/>
          <a:p>
            <a:pPr indent="673100">
              <a:lnSpc>
                <a:spcPct val="115000"/>
              </a:lnSpc>
              <a:spcBef>
                <a:spcPct val="50000"/>
              </a:spcBef>
            </a:pPr>
            <a:r>
              <a:rPr lang="zh-CN" altLang="en-US" sz="2800" b="1" dirty="0">
                <a:latin typeface="Times New Roman" panose="02020603050405020304" pitchFamily="18" charset="0"/>
              </a:rPr>
              <a:t>状态</a:t>
            </a:r>
            <a:r>
              <a:rPr lang="zh-CN" altLang="en-US" sz="2800" dirty="0">
                <a:latin typeface="Times New Roman" panose="02020603050405020304" pitchFamily="18" charset="0"/>
              </a:rPr>
              <a:t>：过去的输入已不存在，但可以通过存储器件把它们记录下来，称之为状态。记录下来的信息可能和过去的输入完全一样，也可能是经过了组合电路加工处理后的结果。我们把某一时刻之前的状态称为</a:t>
            </a:r>
            <a:r>
              <a:rPr lang="en-US" altLang="zh-CN" sz="2800" dirty="0">
                <a:latin typeface="Times New Roman" panose="02020603050405020304" pitchFamily="18" charset="0"/>
              </a:rPr>
              <a:t>"</a:t>
            </a:r>
            <a:r>
              <a:rPr lang="zh-CN" altLang="en-US" sz="2800" dirty="0">
                <a:latin typeface="Times New Roman" panose="02020603050405020304" pitchFamily="18" charset="0"/>
              </a:rPr>
              <a:t>现态</a:t>
            </a:r>
            <a:r>
              <a:rPr lang="en-US" altLang="zh-CN" sz="2800" dirty="0">
                <a:latin typeface="Times New Roman" panose="02020603050405020304" pitchFamily="18" charset="0"/>
              </a:rPr>
              <a:t>"</a:t>
            </a:r>
            <a:r>
              <a:rPr lang="zh-CN" altLang="en-US" sz="2800" dirty="0">
                <a:latin typeface="Times New Roman" panose="02020603050405020304" pitchFamily="18" charset="0"/>
              </a:rPr>
              <a:t>，把这一时刻之后的状态称为</a:t>
            </a:r>
            <a:r>
              <a:rPr lang="en-US" altLang="zh-CN" sz="2800" dirty="0">
                <a:latin typeface="Times New Roman" panose="02020603050405020304" pitchFamily="18" charset="0"/>
              </a:rPr>
              <a:t>"</a:t>
            </a:r>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a:t>
            </a:r>
            <a:r>
              <a:rPr lang="en-US" altLang="zh-CN" sz="2800" dirty="0">
                <a:latin typeface="Times New Roman" panose="02020603050405020304" pitchFamily="18" charset="0"/>
              </a:rPr>
              <a:t>"</a:t>
            </a:r>
            <a:r>
              <a:rPr lang="zh-CN" altLang="en-US" sz="2800" dirty="0">
                <a:latin typeface="Times New Roman" panose="02020603050405020304" pitchFamily="18" charset="0"/>
              </a:rPr>
              <a:t>现态</a:t>
            </a:r>
            <a:r>
              <a:rPr lang="en-US" altLang="zh-CN" sz="2800" dirty="0">
                <a:latin typeface="Times New Roman" panose="02020603050405020304" pitchFamily="18" charset="0"/>
              </a:rPr>
              <a:t>"</a:t>
            </a:r>
            <a:r>
              <a:rPr lang="zh-CN" altLang="en-US" sz="2800" dirty="0">
                <a:latin typeface="Times New Roman" panose="02020603050405020304" pitchFamily="18" charset="0"/>
              </a:rPr>
              <a:t>和</a:t>
            </a:r>
            <a:r>
              <a:rPr lang="en-US" altLang="zh-CN" sz="2800" dirty="0">
                <a:latin typeface="Times New Roman" panose="02020603050405020304" pitchFamily="18" charset="0"/>
              </a:rPr>
              <a:t>"</a:t>
            </a:r>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是一个相对的概念，分别用</a:t>
            </a:r>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a:t>
            </a:r>
            <a:r>
              <a:rPr lang="en-US" altLang="zh-CN" sz="2800" dirty="0">
                <a:latin typeface="Times New Roman" panose="02020603050405020304" pitchFamily="18" charset="0"/>
              </a:rPr>
              <a:t>(</a:t>
            </a:r>
            <a:r>
              <a:rPr lang="zh-CN" altLang="zh-CN" sz="2800" dirty="0">
                <a:latin typeface="Times New Roman" panose="02020603050405020304" pitchFamily="18" charset="0"/>
              </a:rPr>
              <a:t>或</a:t>
            </a:r>
            <a:r>
              <a:rPr lang="en-US" altLang="zh-CN" sz="2800" i="1" dirty="0">
                <a:latin typeface="Times New Roman" panose="02020603050405020304" pitchFamily="18" charset="0"/>
              </a:rPr>
              <a:t>y</a:t>
            </a:r>
            <a:r>
              <a:rPr lang="en-US" altLang="zh-CN" sz="2800" dirty="0">
                <a:latin typeface="Times New Roman" panose="02020603050405020304" pitchFamily="18" charset="0"/>
              </a:rPr>
              <a:t>)</a:t>
            </a:r>
            <a:r>
              <a:rPr lang="zh-CN" altLang="zh-CN" sz="2800" dirty="0">
                <a:latin typeface="Times New Roman" panose="02020603050405020304" pitchFamily="18" charset="0"/>
              </a:rPr>
              <a:t>和</a:t>
            </a:r>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zh-CN" altLang="zh-CN" sz="2800" dirty="0">
                <a:latin typeface="Times New Roman" panose="02020603050405020304" pitchFamily="18" charset="0"/>
              </a:rPr>
              <a:t>表示。</a:t>
            </a:r>
            <a:endParaRPr lang="zh-CN" altLang="en-US" sz="2800" dirty="0">
              <a:latin typeface="Times New Roman" panose="02020603050405020304" pitchFamily="18" charset="0"/>
            </a:endParaRPr>
          </a:p>
        </p:txBody>
      </p:sp>
      <p:sp>
        <p:nvSpPr>
          <p:cNvPr id="6149" name="Text Box 5"/>
          <p:cNvSpPr txBox="1"/>
          <p:nvPr/>
        </p:nvSpPr>
        <p:spPr>
          <a:xfrm>
            <a:off x="1228725" y="4381500"/>
            <a:ext cx="6496050" cy="523875"/>
          </a:xfrm>
          <a:prstGeom prst="rect">
            <a:avLst/>
          </a:prstGeom>
          <a:noFill/>
          <a:ln w="9525">
            <a:noFill/>
          </a:ln>
        </p:spPr>
        <p:txBody>
          <a:bodyPr wrap="none">
            <a:spAutoFit/>
          </a:bodyPr>
          <a:lstStyle/>
          <a:p>
            <a:r>
              <a:rPr lang="zh-CN" altLang="en-US" sz="2800" b="1" i="1" dirty="0">
                <a:latin typeface="Times New Roman" panose="02020603050405020304" pitchFamily="18" charset="0"/>
              </a:rPr>
              <a:t>  时序电路的逻辑函数由下列方程组成：</a:t>
            </a:r>
          </a:p>
        </p:txBody>
      </p:sp>
      <p:sp>
        <p:nvSpPr>
          <p:cNvPr id="6150" name="Rectangle 6"/>
          <p:cNvSpPr/>
          <p:nvPr/>
        </p:nvSpPr>
        <p:spPr>
          <a:xfrm>
            <a:off x="1403350" y="4865688"/>
            <a:ext cx="6224588" cy="519112"/>
          </a:xfrm>
          <a:prstGeom prst="rect">
            <a:avLst/>
          </a:prstGeom>
          <a:noFill/>
          <a:ln w="9525">
            <a:noFill/>
          </a:ln>
        </p:spPr>
        <p:txBody>
          <a:bodyPr wrap="none">
            <a:spAutoFit/>
          </a:bodyPr>
          <a:lstStyle/>
          <a:p>
            <a:r>
              <a:rPr lang="en-US" altLang="zh-CN" sz="2800" b="1" i="1" dirty="0">
                <a:solidFill>
                  <a:srgbClr val="3333FF"/>
                </a:solidFill>
                <a:latin typeface="Times New Roman" panose="02020603050405020304" pitchFamily="18" charset="0"/>
              </a:rPr>
              <a:t>Z</a:t>
            </a:r>
            <a:r>
              <a:rPr lang="en-US" altLang="zh-CN" sz="2800" b="1" i="1" baseline="-25000" dirty="0">
                <a:solidFill>
                  <a:srgbClr val="3333FF"/>
                </a:solidFill>
                <a:latin typeface="Times New Roman" panose="02020603050405020304" pitchFamily="18" charset="0"/>
              </a:rPr>
              <a:t>i</a:t>
            </a:r>
            <a:r>
              <a:rPr lang="en-US" altLang="zh-CN" sz="2800" b="1" i="1" dirty="0">
                <a:solidFill>
                  <a:srgbClr val="3333FF"/>
                </a:solidFill>
                <a:latin typeface="Times New Roman" panose="02020603050405020304" pitchFamily="18" charset="0"/>
              </a:rPr>
              <a:t>= f</a:t>
            </a:r>
            <a:r>
              <a:rPr lang="en-US" altLang="zh-CN" sz="2800" b="1" i="1" baseline="-25000" dirty="0">
                <a:solidFill>
                  <a:srgbClr val="3333FF"/>
                </a:solidFill>
                <a:latin typeface="Times New Roman" panose="02020603050405020304" pitchFamily="18" charset="0"/>
              </a:rPr>
              <a:t>i</a:t>
            </a:r>
            <a:r>
              <a:rPr lang="en-US" altLang="zh-CN" sz="2800" b="1" i="1" dirty="0">
                <a:solidFill>
                  <a:srgbClr val="3333FF"/>
                </a:solidFill>
                <a:latin typeface="Times New Roman" panose="02020603050405020304" pitchFamily="18" charset="0"/>
              </a:rPr>
              <a:t> (x</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x</a:t>
            </a:r>
            <a:r>
              <a:rPr lang="en-US" altLang="zh-CN" sz="2800" b="1" i="1" baseline="-25000" dirty="0">
                <a:solidFill>
                  <a:srgbClr val="3333FF"/>
                </a:solidFill>
                <a:latin typeface="Times New Roman" panose="02020603050405020304" pitchFamily="18" charset="0"/>
              </a:rPr>
              <a:t>n </a:t>
            </a:r>
            <a:r>
              <a:rPr lang="en-US" altLang="zh-CN" sz="2800" b="1" i="1" dirty="0">
                <a:solidFill>
                  <a:srgbClr val="3333FF"/>
                </a:solidFill>
                <a:latin typeface="Times New Roman" panose="02020603050405020304" pitchFamily="18" charset="0"/>
              </a:rPr>
              <a:t>; y</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y</a:t>
            </a:r>
            <a:r>
              <a:rPr lang="en-US" altLang="zh-CN" sz="2800" b="1" i="1" baseline="-25000" dirty="0">
                <a:solidFill>
                  <a:srgbClr val="3333FF"/>
                </a:solidFill>
                <a:latin typeface="Times New Roman" panose="02020603050405020304" pitchFamily="18" charset="0"/>
              </a:rPr>
              <a:t>r </a:t>
            </a:r>
            <a:r>
              <a:rPr lang="en-US" altLang="zh-CN" sz="2800" b="1" i="1" dirty="0">
                <a:solidFill>
                  <a:srgbClr val="3333FF"/>
                </a:solidFill>
                <a:latin typeface="Times New Roman" panose="02020603050405020304" pitchFamily="18" charset="0"/>
              </a:rPr>
              <a:t>)</a:t>
            </a:r>
            <a:r>
              <a:rPr lang="en-US" altLang="zh-CN" sz="2800" b="1" i="1" baseline="-25000"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 i=1, …, m</a:t>
            </a:r>
          </a:p>
        </p:txBody>
      </p:sp>
      <p:sp>
        <p:nvSpPr>
          <p:cNvPr id="6151" name="Rectangle 7"/>
          <p:cNvSpPr/>
          <p:nvPr/>
        </p:nvSpPr>
        <p:spPr>
          <a:xfrm>
            <a:off x="1387475" y="5380038"/>
            <a:ext cx="6105525" cy="519112"/>
          </a:xfrm>
          <a:prstGeom prst="rect">
            <a:avLst/>
          </a:prstGeom>
          <a:noFill/>
          <a:ln w="9525">
            <a:noFill/>
          </a:ln>
        </p:spPr>
        <p:txBody>
          <a:bodyPr wrap="none">
            <a:spAutoFit/>
          </a:bodyPr>
          <a:lstStyle/>
          <a:p>
            <a:r>
              <a:rPr lang="en-US" altLang="zh-CN" sz="2800" b="1" i="1" dirty="0">
                <a:solidFill>
                  <a:srgbClr val="3333FF"/>
                </a:solidFill>
                <a:latin typeface="Times New Roman" panose="02020603050405020304" pitchFamily="18" charset="0"/>
              </a:rPr>
              <a:t>Y</a:t>
            </a:r>
            <a:r>
              <a:rPr lang="en-US" altLang="zh-CN" sz="2800" b="1" i="1" baseline="-25000" dirty="0">
                <a:solidFill>
                  <a:srgbClr val="3333FF"/>
                </a:solidFill>
                <a:latin typeface="Times New Roman" panose="02020603050405020304" pitchFamily="18" charset="0"/>
              </a:rPr>
              <a:t>j</a:t>
            </a:r>
            <a:r>
              <a:rPr lang="en-US" altLang="zh-CN" sz="2800" b="1" i="1" dirty="0">
                <a:solidFill>
                  <a:srgbClr val="3333FF"/>
                </a:solidFill>
                <a:latin typeface="Times New Roman" panose="02020603050405020304" pitchFamily="18" charset="0"/>
              </a:rPr>
              <a:t>= g</a:t>
            </a:r>
            <a:r>
              <a:rPr lang="en-US" altLang="zh-CN" sz="2800" b="1" i="1" baseline="-25000" dirty="0">
                <a:solidFill>
                  <a:srgbClr val="3333FF"/>
                </a:solidFill>
                <a:latin typeface="Times New Roman" panose="02020603050405020304" pitchFamily="18" charset="0"/>
              </a:rPr>
              <a:t>j</a:t>
            </a:r>
            <a:r>
              <a:rPr lang="en-US" altLang="zh-CN" sz="2800" b="1" i="1" dirty="0">
                <a:solidFill>
                  <a:srgbClr val="3333FF"/>
                </a:solidFill>
                <a:latin typeface="Times New Roman" panose="02020603050405020304" pitchFamily="18" charset="0"/>
              </a:rPr>
              <a:t> (x</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x</a:t>
            </a:r>
            <a:r>
              <a:rPr lang="en-US" altLang="zh-CN" sz="2800" b="1" i="1" baseline="-25000" dirty="0">
                <a:solidFill>
                  <a:srgbClr val="3333FF"/>
                </a:solidFill>
                <a:latin typeface="Times New Roman" panose="02020603050405020304" pitchFamily="18" charset="0"/>
              </a:rPr>
              <a:t>n </a:t>
            </a:r>
            <a:r>
              <a:rPr lang="en-US" altLang="zh-CN" sz="2800" b="1" i="1" dirty="0">
                <a:solidFill>
                  <a:srgbClr val="3333FF"/>
                </a:solidFill>
                <a:latin typeface="Times New Roman" panose="02020603050405020304" pitchFamily="18" charset="0"/>
              </a:rPr>
              <a:t>; y</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y</a:t>
            </a:r>
            <a:r>
              <a:rPr lang="en-US" altLang="zh-CN" sz="2800" b="1" i="1" baseline="-25000" dirty="0">
                <a:solidFill>
                  <a:srgbClr val="3333FF"/>
                </a:solidFill>
                <a:latin typeface="Times New Roman" panose="02020603050405020304" pitchFamily="18" charset="0"/>
              </a:rPr>
              <a:t>r </a:t>
            </a:r>
            <a:r>
              <a:rPr lang="en-US" altLang="zh-CN" sz="2800" b="1" i="1" dirty="0">
                <a:solidFill>
                  <a:srgbClr val="3333FF"/>
                </a:solidFill>
                <a:latin typeface="Times New Roman" panose="02020603050405020304" pitchFamily="18" charset="0"/>
              </a:rPr>
              <a:t>)</a:t>
            </a:r>
            <a:r>
              <a:rPr lang="en-US" altLang="zh-CN" sz="2800" b="1" i="1" baseline="-25000"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 j=1, …, l</a:t>
            </a:r>
          </a:p>
        </p:txBody>
      </p:sp>
      <p:grpSp>
        <p:nvGrpSpPr>
          <p:cNvPr id="2" name="Group 6"/>
          <p:cNvGrpSpPr/>
          <p:nvPr/>
        </p:nvGrpSpPr>
        <p:grpSpPr>
          <a:xfrm>
            <a:off x="0" y="4244975"/>
            <a:ext cx="2122488" cy="823913"/>
            <a:chOff x="3286" y="1584"/>
            <a:chExt cx="884" cy="519"/>
          </a:xfrm>
        </p:grpSpPr>
        <p:sp>
          <p:nvSpPr>
            <p:cNvPr id="9" name="Text Box 7"/>
            <p:cNvSpPr txBox="1">
              <a:spLocks noChangeArrowheads="1"/>
            </p:cNvSpPr>
            <p:nvPr/>
          </p:nvSpPr>
          <p:spPr bwMode="auto">
            <a:xfrm>
              <a:off x="3286" y="1584"/>
              <a:ext cx="592" cy="291"/>
            </a:xfrm>
            <a:prstGeom prst="rect">
              <a:avLst/>
            </a:prstGeom>
            <a:noFill/>
            <a:ln w="9525">
              <a:solidFill>
                <a:srgbClr val="FF00FF"/>
              </a:solidFill>
              <a:miter lim="800000"/>
            </a:ln>
            <a:effectLst/>
          </p:spPr>
          <p:txBody>
            <a:bodyPr>
              <a:spAutoFit/>
            </a:bodyPr>
            <a:lstStyle/>
            <a:p>
              <a:pPr marR="0" defTabSz="914400">
                <a:spcBef>
                  <a:spcPct val="50000"/>
                </a:spcBef>
                <a:buClrTx/>
                <a:buSzTx/>
                <a:buFontTx/>
                <a:buNone/>
                <a:defRPr/>
              </a:pPr>
              <a:r>
                <a:rPr kumimoji="1" lang="zh-CN" altLang="en-US" sz="2400" kern="1200" cap="none" spc="0" normalizeH="0" baseline="0" noProof="0" dirty="0">
                  <a:solidFill>
                    <a:schemeClr val="tx1">
                      <a:lumMod val="95000"/>
                      <a:lumOff val="5000"/>
                    </a:schemeClr>
                  </a:solidFill>
                  <a:latin typeface="Times New Roman" panose="02020603050405020304" pitchFamily="18" charset="0"/>
                  <a:ea typeface="宋体" panose="02010600030101010101" pitchFamily="2" charset="-122"/>
                  <a:cs typeface="+mn-cs"/>
                </a:rPr>
                <a:t>输出方程</a:t>
              </a:r>
            </a:p>
          </p:txBody>
        </p:sp>
        <p:sp>
          <p:nvSpPr>
            <p:cNvPr id="10" name="Line 8"/>
            <p:cNvSpPr>
              <a:spLocks noChangeShapeType="1"/>
            </p:cNvSpPr>
            <p:nvPr/>
          </p:nvSpPr>
          <p:spPr bwMode="auto">
            <a:xfrm flipH="1" flipV="1">
              <a:off x="3893" y="1883"/>
              <a:ext cx="277" cy="220"/>
            </a:xfrm>
            <a:prstGeom prst="line">
              <a:avLst/>
            </a:prstGeom>
            <a:noFill/>
            <a:ln w="9525">
              <a:solidFill>
                <a:srgbClr val="FF00FF"/>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3200" b="0" i="0" u="none" strike="noStrike" kern="1200" cap="none" spc="0" normalizeH="0" baseline="0" noProof="0">
                <a:ln>
                  <a:solidFill>
                    <a:srgbClr val="FF00FF"/>
                  </a:solid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3" name="Group 12"/>
          <p:cNvGrpSpPr/>
          <p:nvPr/>
        </p:nvGrpSpPr>
        <p:grpSpPr>
          <a:xfrm>
            <a:off x="2211388" y="5919788"/>
            <a:ext cx="2830512" cy="746125"/>
            <a:chOff x="2240" y="2796"/>
            <a:chExt cx="1783" cy="470"/>
          </a:xfrm>
        </p:grpSpPr>
        <p:sp>
          <p:nvSpPr>
            <p:cNvPr id="6152" name="Text Box 13"/>
            <p:cNvSpPr txBox="1"/>
            <p:nvPr/>
          </p:nvSpPr>
          <p:spPr>
            <a:xfrm>
              <a:off x="3111" y="2972"/>
              <a:ext cx="912" cy="294"/>
            </a:xfrm>
            <a:prstGeom prst="rect">
              <a:avLst/>
            </a:prstGeom>
            <a:noFill/>
            <a:ln w="9525" cap="flat" cmpd="sng">
              <a:solidFill>
                <a:schemeClr val="accent2"/>
              </a:solidFill>
              <a:prstDash val="solid"/>
              <a:miter/>
              <a:headEnd type="none" w="med" len="med"/>
              <a:tailEnd type="none" w="med" len="med"/>
            </a:ln>
          </p:spPr>
          <p:txBody>
            <a:bodyPr>
              <a:spAutoFit/>
            </a:bodyPr>
            <a:lstStyle/>
            <a:p>
              <a:pPr>
                <a:spcBef>
                  <a:spcPct val="50000"/>
                </a:spcBef>
              </a:pPr>
              <a:r>
                <a:rPr lang="zh-CN" altLang="en-US" sz="2400" dirty="0">
                  <a:latin typeface="Times New Roman" panose="02020603050405020304" pitchFamily="18" charset="0"/>
                </a:rPr>
                <a:t>激励方程</a:t>
              </a:r>
            </a:p>
          </p:txBody>
        </p:sp>
        <p:sp>
          <p:nvSpPr>
            <p:cNvPr id="6153" name="Line 14"/>
            <p:cNvSpPr/>
            <p:nvPr/>
          </p:nvSpPr>
          <p:spPr>
            <a:xfrm>
              <a:off x="2240" y="2796"/>
              <a:ext cx="876" cy="331"/>
            </a:xfrm>
            <a:prstGeom prst="line">
              <a:avLst/>
            </a:prstGeom>
            <a:ln w="9525" cap="flat" cmpd="sng">
              <a:solidFill>
                <a:srgbClr val="000000"/>
              </a:solidFill>
              <a:prstDash val="soli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6">
                                            <p:txEl>
                                              <p:pRg st="0" end="0"/>
                                            </p:txEl>
                                          </p:spTgt>
                                        </p:tgtEl>
                                        <p:attrNameLst>
                                          <p:attrName>style.visibility</p:attrName>
                                        </p:attrNameLst>
                                      </p:cBhvr>
                                      <p:to>
                                        <p:strVal val="visible"/>
                                      </p:to>
                                    </p:set>
                                    <p:animEffect transition="in" filter="wipe(left)">
                                      <p:cBhvr>
                                        <p:cTn id="7" dur="500"/>
                                        <p:tgtEl>
                                          <p:spTgt spid="61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14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6150"/>
                                        </p:tgtEl>
                                        <p:attrNameLst>
                                          <p:attrName>style.visibility</p:attrName>
                                        </p:attrNameLst>
                                      </p:cBhvr>
                                      <p:to>
                                        <p:strVal val="visible"/>
                                      </p:to>
                                    </p:set>
                                    <p:anim calcmode="lin" valueType="num">
                                      <p:cBhvr additive="base">
                                        <p:cTn id="16" dur="500" fill="hold"/>
                                        <p:tgtEl>
                                          <p:spTgt spid="6150"/>
                                        </p:tgtEl>
                                        <p:attrNameLst>
                                          <p:attrName>ppt_x</p:attrName>
                                        </p:attrNameLst>
                                      </p:cBhvr>
                                      <p:tavLst>
                                        <p:tav tm="0">
                                          <p:val>
                                            <p:strVal val="#ppt_x"/>
                                          </p:val>
                                        </p:tav>
                                        <p:tav tm="100000">
                                          <p:val>
                                            <p:strVal val="#ppt_x"/>
                                          </p:val>
                                        </p:tav>
                                      </p:tavLst>
                                    </p:anim>
                                    <p:anim calcmode="lin" valueType="num">
                                      <p:cBhvr additive="base">
                                        <p:cTn id="17" dur="500" fill="hold"/>
                                        <p:tgtEl>
                                          <p:spTgt spid="6150"/>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6151"/>
                                        </p:tgtEl>
                                        <p:attrNameLst>
                                          <p:attrName>style.visibility</p:attrName>
                                        </p:attrNameLst>
                                      </p:cBhvr>
                                      <p:to>
                                        <p:strVal val="visible"/>
                                      </p:to>
                                    </p:set>
                                    <p:anim calcmode="lin" valueType="num">
                                      <p:cBhvr additive="base">
                                        <p:cTn id="22" dur="500" fill="hold"/>
                                        <p:tgtEl>
                                          <p:spTgt spid="6151"/>
                                        </p:tgtEl>
                                        <p:attrNameLst>
                                          <p:attrName>ppt_x</p:attrName>
                                        </p:attrNameLst>
                                      </p:cBhvr>
                                      <p:tavLst>
                                        <p:tav tm="0">
                                          <p:val>
                                            <p:strVal val="#ppt_x"/>
                                          </p:val>
                                        </p:tav>
                                        <p:tav tm="100000">
                                          <p:val>
                                            <p:strVal val="#ppt_x"/>
                                          </p:val>
                                        </p:tav>
                                      </p:tavLst>
                                    </p:anim>
                                    <p:anim calcmode="lin" valueType="num">
                                      <p:cBhvr additive="base">
                                        <p:cTn id="23" dur="500" fill="hold"/>
                                        <p:tgtEl>
                                          <p:spTgt spid="6151"/>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8" presetClass="entr" presetSubtype="12"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strips(downLeft)">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9"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strips(upLeft)">
                                      <p:cBhvr>
                                        <p:cTn id="3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build="p"/>
      <p:bldP spid="6149" grpId="0"/>
      <p:bldP spid="6150" grpId="0"/>
      <p:bldP spid="615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a:xfrm>
            <a:off x="593725" y="452438"/>
            <a:ext cx="7772400" cy="6858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mn-cs"/>
              </a:rPr>
              <a:t>2.</a:t>
            </a: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mn-cs"/>
              </a:rPr>
              <a:t>时序逻辑电路的分类</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mn-cs"/>
              </a:rPr>
              <a:t>:</a:t>
            </a:r>
            <a:endPar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mn-cs"/>
            </a:endParaRPr>
          </a:p>
        </p:txBody>
      </p:sp>
      <p:sp>
        <p:nvSpPr>
          <p:cNvPr id="425987" name="Rectangle 3"/>
          <p:cNvSpPr>
            <a:spLocks noGrp="1"/>
          </p:cNvSpPr>
          <p:nvPr>
            <p:ph idx="1"/>
          </p:nvPr>
        </p:nvSpPr>
        <p:spPr>
          <a:xfrm>
            <a:off x="685800" y="1412875"/>
            <a:ext cx="8062913" cy="2808288"/>
          </a:xfrm>
        </p:spPr>
        <p:txBody>
          <a:bodyPr vert="horz" wrap="square" lIns="91440" tIns="45720" rIns="91440" bIns="45720" anchor="t" anchorCtr="0"/>
          <a:lstStyle/>
          <a:p>
            <a:pPr eaLnBrk="1" hangingPunct="1">
              <a:buNone/>
            </a:pPr>
            <a:r>
              <a:rPr lang="zh-CN" altLang="en-US" sz="2800" b="1" dirty="0">
                <a:solidFill>
                  <a:schemeClr val="tx2"/>
                </a:solidFill>
                <a:latin typeface="楷体_GB2312" panose="02010609030101010101" pitchFamily="49" charset="-122"/>
                <a:ea typeface="楷体_GB2312" panose="02010609030101010101" pitchFamily="49" charset="-122"/>
              </a:rPr>
              <a:t>1）按照电路的工作方式</a:t>
            </a:r>
          </a:p>
          <a:p>
            <a:pPr eaLnBrk="1" hangingPunct="1">
              <a:buNone/>
            </a:pPr>
            <a:r>
              <a:rPr lang="zh-CN" altLang="en-US" sz="2800" b="1" dirty="0">
                <a:latin typeface="楷体_GB2312" panose="02010609030101010101" pitchFamily="49" charset="-122"/>
                <a:ea typeface="楷体_GB2312" panose="02010609030101010101" pitchFamily="49" charset="-122"/>
              </a:rPr>
              <a:t>   </a:t>
            </a:r>
            <a:r>
              <a:rPr lang="zh-CN" altLang="en-US" sz="2800" b="1" u="sng" dirty="0">
                <a:latin typeface="楷体_GB2312" panose="02010609030101010101" pitchFamily="49" charset="-122"/>
                <a:ea typeface="楷体_GB2312" panose="02010609030101010101" pitchFamily="49" charset="-122"/>
                <a:hlinkClick r:id="rId2" action="ppaction://hlinksldjump"/>
              </a:rPr>
              <a:t>同步时序逻辑电路</a:t>
            </a:r>
            <a:r>
              <a:rPr lang="zh-CN" altLang="en-US" sz="2800" b="1" dirty="0">
                <a:latin typeface="楷体_GB2312" panose="02010609030101010101" pitchFamily="49" charset="-122"/>
                <a:ea typeface="楷体_GB2312" panose="02010609030101010101" pitchFamily="49" charset="-122"/>
              </a:rPr>
              <a:t>和</a:t>
            </a:r>
            <a:r>
              <a:rPr lang="zh-CN" altLang="en-US" sz="2800" b="1" dirty="0">
                <a:latin typeface="楷体_GB2312" panose="02010609030101010101" pitchFamily="49" charset="-122"/>
                <a:ea typeface="楷体_GB2312" panose="02010609030101010101" pitchFamily="49" charset="-122"/>
                <a:hlinkClick r:id="rId3" action="ppaction://hlinksldjump"/>
              </a:rPr>
              <a:t>异步时序逻辑电路</a:t>
            </a:r>
            <a:endParaRPr lang="zh-CN" altLang="en-US" sz="2800" b="1" dirty="0">
              <a:latin typeface="楷体_GB2312" panose="02010609030101010101" pitchFamily="49" charset="-122"/>
              <a:ea typeface="楷体_GB2312" panose="02010609030101010101" pitchFamily="49" charset="-122"/>
            </a:endParaRPr>
          </a:p>
          <a:p>
            <a:pPr eaLnBrk="1" hangingPunct="1">
              <a:buNone/>
            </a:pPr>
            <a:r>
              <a:rPr lang="zh-CN" altLang="en-US" sz="2800" b="1" dirty="0">
                <a:latin typeface="楷体_GB2312" panose="02010609030101010101" pitchFamily="49" charset="-122"/>
                <a:ea typeface="楷体_GB2312" panose="02010609030101010101" pitchFamily="49" charset="-122"/>
              </a:rPr>
              <a:t>  （根据是否有统一时钟脉冲</a:t>
            </a:r>
            <a:r>
              <a:rPr lang="en-US" altLang="zh-CN" sz="2800" b="1" dirty="0">
                <a:latin typeface="楷体_GB2312" panose="02010609030101010101" pitchFamily="49" charset="-122"/>
                <a:ea typeface="楷体_GB2312" panose="02010609030101010101" pitchFamily="49" charset="-122"/>
              </a:rPr>
              <a:t>CP）</a:t>
            </a:r>
          </a:p>
          <a:p>
            <a:pPr eaLnBrk="1" hangingPunct="1"/>
            <a:endParaRPr lang="en-US" altLang="zh-CN" sz="2000" b="1" dirty="0">
              <a:latin typeface="楷体_GB2312" panose="02010609030101010101" pitchFamily="49" charset="-122"/>
              <a:ea typeface="楷体_GB2312" panose="02010609030101010101" pitchFamily="49" charset="-122"/>
            </a:endParaRPr>
          </a:p>
          <a:p>
            <a:pPr eaLnBrk="1" hangingPunct="1"/>
            <a:endParaRPr lang="en-US" altLang="zh-CN" sz="2000" b="1" dirty="0">
              <a:latin typeface="楷体_GB2312" panose="02010609030101010101" pitchFamily="49" charset="-122"/>
              <a:ea typeface="楷体_GB2312" panose="0201060903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25987">
                                            <p:txEl>
                                              <p:pRg st="0" end="0"/>
                                            </p:txEl>
                                          </p:spTgt>
                                        </p:tgtEl>
                                        <p:attrNameLst>
                                          <p:attrName>style.visibility</p:attrName>
                                        </p:attrNameLst>
                                      </p:cBhvr>
                                      <p:to>
                                        <p:strVal val="visible"/>
                                      </p:to>
                                    </p:set>
                                    <p:animEffect transition="in" filter="dissolve">
                                      <p:cBhvr>
                                        <p:cTn id="7" dur="500"/>
                                        <p:tgtEl>
                                          <p:spTgt spid="4259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25987">
                                            <p:txEl>
                                              <p:pRg st="1" end="1"/>
                                            </p:txEl>
                                          </p:spTgt>
                                        </p:tgtEl>
                                        <p:attrNameLst>
                                          <p:attrName>style.visibility</p:attrName>
                                        </p:attrNameLst>
                                      </p:cBhvr>
                                      <p:to>
                                        <p:strVal val="visible"/>
                                      </p:to>
                                    </p:set>
                                    <p:animEffect transition="in" filter="dissolve">
                                      <p:cBhvr>
                                        <p:cTn id="12" dur="500"/>
                                        <p:tgtEl>
                                          <p:spTgt spid="4259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25987">
                                            <p:txEl>
                                              <p:pRg st="2" end="2"/>
                                            </p:txEl>
                                          </p:spTgt>
                                        </p:tgtEl>
                                        <p:attrNameLst>
                                          <p:attrName>style.visibility</p:attrName>
                                        </p:attrNameLst>
                                      </p:cBhvr>
                                      <p:to>
                                        <p:strVal val="visible"/>
                                      </p:to>
                                    </p:set>
                                    <p:animEffect transition="in" filter="dissolve">
                                      <p:cBhvr>
                                        <p:cTn id="17" dur="500"/>
                                        <p:tgtEl>
                                          <p:spTgt spid="4259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8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3" name="Rectangle 3"/>
          <p:cNvSpPr>
            <a:spLocks noGrp="1"/>
          </p:cNvSpPr>
          <p:nvPr>
            <p:ph idx="1"/>
          </p:nvPr>
        </p:nvSpPr>
        <p:spPr>
          <a:xfrm>
            <a:off x="685800" y="692150"/>
            <a:ext cx="7772400" cy="5403850"/>
          </a:xfrm>
        </p:spPr>
        <p:txBody>
          <a:bodyPr vert="horz" wrap="square" lIns="91440" tIns="45720" rIns="91440" bIns="45720" anchor="t" anchorCtr="0"/>
          <a:lstStyle/>
          <a:p>
            <a:pPr eaLnBrk="1" hangingPunct="1">
              <a:lnSpc>
                <a:spcPct val="90000"/>
              </a:lnSpc>
            </a:pPr>
            <a:r>
              <a:rPr lang="zh-CN" altLang="en-US" sz="2800" b="1" dirty="0">
                <a:solidFill>
                  <a:schemeClr val="tx2"/>
                </a:solidFill>
                <a:latin typeface="楷体_GB2312" panose="02010609030101010101" pitchFamily="49" charset="-122"/>
                <a:ea typeface="楷体_GB2312" panose="02010609030101010101" pitchFamily="49" charset="-122"/>
              </a:rPr>
              <a:t>同步时序电路</a:t>
            </a:r>
          </a:p>
          <a:p>
            <a:pPr eaLnBrk="1" hangingPunct="1">
              <a:lnSpc>
                <a:spcPct val="90000"/>
              </a:lnSpc>
            </a:pPr>
            <a:endParaRPr lang="en-US" altLang="zh-CN" sz="2400" b="1" dirty="0">
              <a:latin typeface="楷体_GB2312" panose="02010609030101010101" pitchFamily="49" charset="-122"/>
              <a:ea typeface="楷体_GB2312" panose="02010609030101010101" pitchFamily="49" charset="-122"/>
            </a:endParaRPr>
          </a:p>
          <a:p>
            <a:pPr eaLnBrk="1" hangingPunct="1">
              <a:lnSpc>
                <a:spcPct val="90000"/>
              </a:lnSpc>
              <a:buNone/>
            </a:pPr>
            <a:r>
              <a:rPr lang="zh-CN" altLang="en-US" sz="2400" dirty="0">
                <a:latin typeface="楷体_GB2312" panose="02010609030101010101" pitchFamily="49" charset="-122"/>
                <a:ea typeface="楷体_GB2312" panose="02010609030101010101" pitchFamily="49" charset="-122"/>
              </a:rPr>
              <a:t>  </a:t>
            </a:r>
            <a:r>
              <a:rPr lang="zh-CN" altLang="en-US" sz="2400" b="1" dirty="0">
                <a:latin typeface="楷体_GB2312" panose="02010609030101010101" pitchFamily="49" charset="-122"/>
                <a:ea typeface="楷体_GB2312" panose="02010609030101010101" pitchFamily="49" charset="-122"/>
              </a:rPr>
              <a:t>特点：</a:t>
            </a:r>
            <a:r>
              <a:rPr lang="zh-CN" altLang="en-US" sz="2400" dirty="0">
                <a:latin typeface="楷体_GB2312" panose="02010609030101010101" pitchFamily="49" charset="-122"/>
                <a:ea typeface="楷体_GB2312" panose="02010609030101010101" pitchFamily="49" charset="-122"/>
              </a:rPr>
              <a:t>电路中有统一的定时信号，存储器件采用时钟控制触发器，电路状态在时钟脉冲控制下同时发生转换，即电路状态的改变依赖于输入信号和时钟脉冲信号。</a:t>
            </a:r>
          </a:p>
          <a:p>
            <a:pPr eaLnBrk="1" hangingPunct="1">
              <a:lnSpc>
                <a:spcPct val="90000"/>
              </a:lnSpc>
            </a:pPr>
            <a:endParaRPr lang="zh-CN" altLang="en-US" sz="2400" dirty="0">
              <a:latin typeface="楷体_GB2312" panose="02010609030101010101" pitchFamily="49" charset="-122"/>
              <a:ea typeface="楷体_GB2312" panose="02010609030101010101" pitchFamily="49" charset="-122"/>
            </a:endParaRPr>
          </a:p>
          <a:p>
            <a:pPr eaLnBrk="1" hangingPunct="1">
              <a:lnSpc>
                <a:spcPct val="90000"/>
              </a:lnSpc>
              <a:buNone/>
            </a:pPr>
            <a:r>
              <a:rPr lang="zh-CN" altLang="en-US" sz="2400" dirty="0">
                <a:latin typeface="楷体_GB2312" panose="02010609030101010101" pitchFamily="49" charset="-122"/>
                <a:ea typeface="楷体_GB2312" panose="02010609030101010101" pitchFamily="49" charset="-122"/>
              </a:rPr>
              <a:t>  具体说： </a:t>
            </a:r>
            <a:r>
              <a:rPr lang="zh-CN" altLang="en-US" sz="2400" u="sng" dirty="0">
                <a:latin typeface="楷体_GB2312" panose="02010609030101010101" pitchFamily="49" charset="-122"/>
                <a:ea typeface="楷体_GB2312" panose="02010609030101010101" pitchFamily="49" charset="-122"/>
              </a:rPr>
              <a:t>状态如何变？ 取决与输入信号；</a:t>
            </a:r>
            <a:r>
              <a:rPr lang="zh-CN" altLang="en-US" sz="2400" dirty="0">
                <a:latin typeface="楷体_GB2312" panose="02010609030101010101" pitchFamily="49" charset="-122"/>
                <a:ea typeface="楷体_GB2312" panose="02010609030101010101" pitchFamily="49" charset="-122"/>
              </a:rPr>
              <a:t> </a:t>
            </a:r>
          </a:p>
          <a:p>
            <a:pPr eaLnBrk="1" hangingPunct="1">
              <a:lnSpc>
                <a:spcPct val="90000"/>
              </a:lnSpc>
              <a:buNone/>
            </a:pPr>
            <a:r>
              <a:rPr lang="zh-CN" altLang="en-US" sz="2400" dirty="0">
                <a:latin typeface="楷体_GB2312" panose="02010609030101010101" pitchFamily="49" charset="-122"/>
                <a:ea typeface="楷体_GB2312" panose="02010609030101010101" pitchFamily="49" charset="-122"/>
              </a:rPr>
              <a:t>           </a:t>
            </a:r>
            <a:r>
              <a:rPr lang="zh-CN" altLang="en-US" sz="2400" u="sng" dirty="0">
                <a:latin typeface="楷体_GB2312" panose="02010609030101010101" pitchFamily="49" charset="-122"/>
                <a:ea typeface="楷体_GB2312" panose="02010609030101010101" pitchFamily="49" charset="-122"/>
              </a:rPr>
              <a:t>状态何时变</a:t>
            </a:r>
            <a:r>
              <a:rPr lang="en-US" altLang="zh-CN" sz="2400" u="sng" dirty="0">
                <a:latin typeface="楷体_GB2312" panose="02010609030101010101" pitchFamily="49" charset="-122"/>
                <a:ea typeface="楷体_GB2312" panose="02010609030101010101" pitchFamily="49" charset="-122"/>
              </a:rPr>
              <a:t>?   </a:t>
            </a:r>
            <a:r>
              <a:rPr lang="zh-CN" altLang="en-US" sz="2400" u="sng" dirty="0">
                <a:latin typeface="楷体_GB2312" panose="02010609030101010101" pitchFamily="49" charset="-122"/>
                <a:ea typeface="楷体_GB2312" panose="02010609030101010101" pitchFamily="49" charset="-122"/>
              </a:rPr>
              <a:t>取决于时钟信号；</a:t>
            </a:r>
            <a:r>
              <a:rPr lang="zh-CN" altLang="en-US" sz="2400" dirty="0">
                <a:latin typeface="楷体_GB2312" panose="02010609030101010101" pitchFamily="49" charset="-122"/>
                <a:ea typeface="楷体_GB2312" panose="02010609030101010101" pitchFamily="49" charset="-122"/>
              </a:rPr>
              <a:t> </a:t>
            </a:r>
          </a:p>
          <a:p>
            <a:pPr eaLnBrk="1" hangingPunct="1">
              <a:lnSpc>
                <a:spcPct val="90000"/>
              </a:lnSpc>
              <a:buNone/>
            </a:pPr>
            <a:r>
              <a:rPr lang="zh-CN" altLang="en-US" sz="2400" dirty="0">
                <a:latin typeface="楷体_GB2312" panose="02010609030101010101" pitchFamily="49" charset="-122"/>
                <a:ea typeface="楷体_GB2312" panose="02010609030101010101" pitchFamily="49" charset="-122"/>
              </a:rPr>
              <a:t>           </a:t>
            </a:r>
            <a:r>
              <a:rPr lang="zh-CN" altLang="en-US" sz="2400" u="sng" dirty="0">
                <a:latin typeface="楷体_GB2312" panose="02010609030101010101" pitchFamily="49" charset="-122"/>
                <a:ea typeface="楷体_GB2312" panose="02010609030101010101" pitchFamily="49" charset="-122"/>
              </a:rPr>
              <a:t>每个状态维持多久？ 取决于时钟脉冲。</a:t>
            </a:r>
          </a:p>
          <a:p>
            <a:pPr eaLnBrk="1" hangingPunct="1">
              <a:lnSpc>
                <a:spcPct val="90000"/>
              </a:lnSpc>
            </a:pPr>
            <a:endParaRPr lang="zh-CN" altLang="en-US" sz="2400" dirty="0">
              <a:latin typeface="楷体_GB2312" panose="02010609030101010101" pitchFamily="49" charset="-122"/>
              <a:ea typeface="楷体_GB2312" panose="02010609030101010101" pitchFamily="49" charset="-122"/>
            </a:endParaRPr>
          </a:p>
          <a:p>
            <a:pPr eaLnBrk="1" hangingPunct="1">
              <a:lnSpc>
                <a:spcPct val="90000"/>
              </a:lnSpc>
              <a:buNone/>
            </a:pPr>
            <a:r>
              <a:rPr lang="zh-CN" altLang="en-US" sz="2400" dirty="0">
                <a:latin typeface="楷体_GB2312" panose="02010609030101010101" pitchFamily="49" charset="-122"/>
                <a:ea typeface="楷体_GB2312" panose="02010609030101010101" pitchFamily="49" charset="-122"/>
              </a:rPr>
              <a:t>      在研究同步时序逻辑电路时，通常不把同步时钟信号作为输入信号处理，而是将它当成一种默认的时间基准。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6163">
                                            <p:txEl>
                                              <p:pRg st="0" end="0"/>
                                            </p:txEl>
                                          </p:spTgt>
                                        </p:tgtEl>
                                        <p:attrNameLst>
                                          <p:attrName>style.visibility</p:attrName>
                                        </p:attrNameLst>
                                      </p:cBhvr>
                                      <p:to>
                                        <p:strVal val="visible"/>
                                      </p:to>
                                    </p:set>
                                    <p:animEffect transition="in" filter="dissolve">
                                      <p:cBhvr>
                                        <p:cTn id="7" dur="500"/>
                                        <p:tgtEl>
                                          <p:spTgt spid="4761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6163">
                                            <p:txEl>
                                              <p:pRg st="2" end="2"/>
                                            </p:txEl>
                                          </p:spTgt>
                                        </p:tgtEl>
                                        <p:attrNameLst>
                                          <p:attrName>style.visibility</p:attrName>
                                        </p:attrNameLst>
                                      </p:cBhvr>
                                      <p:to>
                                        <p:strVal val="visible"/>
                                      </p:to>
                                    </p:set>
                                    <p:animEffect transition="in" filter="dissolve">
                                      <p:cBhvr>
                                        <p:cTn id="12" dur="500"/>
                                        <p:tgtEl>
                                          <p:spTgt spid="47616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76163">
                                            <p:txEl>
                                              <p:pRg st="4" end="4"/>
                                            </p:txEl>
                                          </p:spTgt>
                                        </p:tgtEl>
                                        <p:attrNameLst>
                                          <p:attrName>style.visibility</p:attrName>
                                        </p:attrNameLst>
                                      </p:cBhvr>
                                      <p:to>
                                        <p:strVal val="visible"/>
                                      </p:to>
                                    </p:set>
                                    <p:animEffect transition="in" filter="dissolve">
                                      <p:cBhvr>
                                        <p:cTn id="17" dur="500"/>
                                        <p:tgtEl>
                                          <p:spTgt spid="476163">
                                            <p:txEl>
                                              <p:pRg st="4" end="4"/>
                                            </p:txEl>
                                          </p:spTgt>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476163">
                                            <p:txEl>
                                              <p:pRg st="5" end="5"/>
                                            </p:txEl>
                                          </p:spTgt>
                                        </p:tgtEl>
                                        <p:attrNameLst>
                                          <p:attrName>style.visibility</p:attrName>
                                        </p:attrNameLst>
                                      </p:cBhvr>
                                      <p:to>
                                        <p:strVal val="visible"/>
                                      </p:to>
                                    </p:set>
                                    <p:animEffect transition="in" filter="dissolve">
                                      <p:cBhvr>
                                        <p:cTn id="21" dur="500"/>
                                        <p:tgtEl>
                                          <p:spTgt spid="476163">
                                            <p:txEl>
                                              <p:pRg st="5" end="5"/>
                                            </p:txEl>
                                          </p:spTgt>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476163">
                                            <p:txEl>
                                              <p:pRg st="6" end="6"/>
                                            </p:txEl>
                                          </p:spTgt>
                                        </p:tgtEl>
                                        <p:attrNameLst>
                                          <p:attrName>style.visibility</p:attrName>
                                        </p:attrNameLst>
                                      </p:cBhvr>
                                      <p:to>
                                        <p:strVal val="visible"/>
                                      </p:to>
                                    </p:set>
                                    <p:animEffect transition="in" filter="dissolve">
                                      <p:cBhvr>
                                        <p:cTn id="25" dur="500"/>
                                        <p:tgtEl>
                                          <p:spTgt spid="476163">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476163">
                                            <p:txEl>
                                              <p:pRg st="8" end="8"/>
                                            </p:txEl>
                                          </p:spTgt>
                                        </p:tgtEl>
                                        <p:attrNameLst>
                                          <p:attrName>style.visibility</p:attrName>
                                        </p:attrNameLst>
                                      </p:cBhvr>
                                      <p:to>
                                        <p:strVal val="visible"/>
                                      </p:to>
                                    </p:set>
                                    <p:animEffect transition="in" filter="dissolve">
                                      <p:cBhvr>
                                        <p:cTn id="30" dur="500"/>
                                        <p:tgtEl>
                                          <p:spTgt spid="47616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7" name="Rectangle 3"/>
          <p:cNvSpPr>
            <a:spLocks noGrp="1"/>
          </p:cNvSpPr>
          <p:nvPr>
            <p:ph idx="1"/>
          </p:nvPr>
        </p:nvSpPr>
        <p:spPr>
          <a:xfrm>
            <a:off x="684530" y="1376045"/>
            <a:ext cx="7816850" cy="4789805"/>
          </a:xfrm>
        </p:spPr>
        <p:txBody>
          <a:bodyPr vert="horz" wrap="square" lIns="91440" tIns="45720" rIns="91440" bIns="45720" anchor="t" anchorCtr="0"/>
          <a:lstStyle/>
          <a:p>
            <a:pPr eaLnBrk="1" hangingPunct="1">
              <a:buNone/>
            </a:pPr>
            <a:r>
              <a:rPr lang="zh-CN" altLang="en-US" sz="2400" b="1" dirty="0">
                <a:latin typeface="楷体_GB2312" panose="02010609030101010101" pitchFamily="49" charset="-122"/>
                <a:ea typeface="楷体_GB2312" panose="02010609030101010101" pitchFamily="49" charset="-122"/>
              </a:rPr>
              <a:t>  </a:t>
            </a:r>
            <a:r>
              <a:rPr lang="zh-CN" altLang="en-US" b="1" dirty="0">
                <a:latin typeface="楷体_GB2312" panose="02010609030101010101" pitchFamily="49" charset="-122"/>
                <a:ea typeface="楷体_GB2312" panose="02010609030101010101" pitchFamily="49" charset="-122"/>
              </a:rPr>
              <a:t>对时钟的要求：</a:t>
            </a:r>
            <a:endParaRPr lang="zh-CN" altLang="en-US" sz="2400" b="1" dirty="0">
              <a:latin typeface="楷体_GB2312" panose="02010609030101010101" pitchFamily="49" charset="-122"/>
              <a:ea typeface="楷体_GB2312" panose="02010609030101010101" pitchFamily="49" charset="-122"/>
            </a:endParaRPr>
          </a:p>
          <a:p>
            <a:pPr eaLnBrk="1" hangingPunct="1">
              <a:buNone/>
            </a:pPr>
            <a:r>
              <a:rPr lang="zh-CN" altLang="en-US" sz="2400" b="1" dirty="0">
                <a:latin typeface="楷体_GB2312" panose="02010609030101010101" pitchFamily="49" charset="-122"/>
                <a:ea typeface="楷体_GB2312" panose="02010609030101010101" pitchFamily="49" charset="-122"/>
              </a:rPr>
              <a:t>  </a:t>
            </a:r>
            <a:r>
              <a:rPr lang="zh-CN" altLang="en-US" sz="2800" dirty="0">
                <a:latin typeface="楷体_GB2312" panose="02010609030101010101" pitchFamily="49" charset="-122"/>
                <a:ea typeface="楷体_GB2312" panose="02010609030101010101" pitchFamily="49" charset="-122"/>
              </a:rPr>
              <a:t>脉冲的宽度：必须保证触发器可靠翻转；</a:t>
            </a:r>
          </a:p>
          <a:p>
            <a:pPr eaLnBrk="1" hangingPunct="1">
              <a:buNone/>
            </a:pPr>
            <a:r>
              <a:rPr lang="zh-CN" altLang="en-US" sz="2800" dirty="0">
                <a:latin typeface="楷体_GB2312" panose="02010609030101010101" pitchFamily="49" charset="-122"/>
                <a:ea typeface="楷体_GB2312" panose="02010609030101010101" pitchFamily="49" charset="-122"/>
              </a:rPr>
              <a:t>  脉冲的频率：必须保证前一个脉冲引起的电路响应完全结束后，后一个脉冲才能到来。</a:t>
            </a:r>
          </a:p>
        </p:txBody>
      </p:sp>
      <p:sp>
        <p:nvSpPr>
          <p:cNvPr id="9219" name="AutoShape 6">
            <a:hlinkClick r:id="rId2" action="ppaction://hlinksldjump"/>
          </p:cNvPr>
          <p:cNvSpPr/>
          <p:nvPr/>
        </p:nvSpPr>
        <p:spPr>
          <a:xfrm>
            <a:off x="8388350" y="6237288"/>
            <a:ext cx="215900" cy="215900"/>
          </a:xfrm>
          <a:prstGeom prst="left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7187">
                                            <p:txEl>
                                              <p:pRg st="0" end="0"/>
                                            </p:txEl>
                                          </p:spTgt>
                                        </p:tgtEl>
                                        <p:attrNameLst>
                                          <p:attrName>style.visibility</p:attrName>
                                        </p:attrNameLst>
                                      </p:cBhvr>
                                      <p:to>
                                        <p:strVal val="visible"/>
                                      </p:to>
                                    </p:set>
                                    <p:animEffect transition="in" filter="dissolve">
                                      <p:cBhvr>
                                        <p:cTn id="7" dur="500"/>
                                        <p:tgtEl>
                                          <p:spTgt spid="477187">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77187">
                                            <p:txEl>
                                              <p:pRg st="1" end="1"/>
                                            </p:txEl>
                                          </p:spTgt>
                                        </p:tgtEl>
                                        <p:attrNameLst>
                                          <p:attrName>style.visibility</p:attrName>
                                        </p:attrNameLst>
                                      </p:cBhvr>
                                      <p:to>
                                        <p:strVal val="visible"/>
                                      </p:to>
                                    </p:set>
                                    <p:animEffect transition="in" filter="dissolve">
                                      <p:cBhvr>
                                        <p:cTn id="11" dur="500"/>
                                        <p:tgtEl>
                                          <p:spTgt spid="477187">
                                            <p:txEl>
                                              <p:pRg st="1" end="1"/>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477187">
                                            <p:txEl>
                                              <p:pRg st="2" end="2"/>
                                            </p:txEl>
                                          </p:spTgt>
                                        </p:tgtEl>
                                        <p:attrNameLst>
                                          <p:attrName>style.visibility</p:attrName>
                                        </p:attrNameLst>
                                      </p:cBhvr>
                                      <p:to>
                                        <p:strVal val="visible"/>
                                      </p:to>
                                    </p:set>
                                    <p:animEffect transition="in" filter="dissolve">
                                      <p:cBhvr>
                                        <p:cTn id="15" dur="500"/>
                                        <p:tgtEl>
                                          <p:spTgt spid="4771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18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1" name="Rectangle 3"/>
          <p:cNvSpPr>
            <a:spLocks noGrp="1"/>
          </p:cNvSpPr>
          <p:nvPr>
            <p:ph idx="1"/>
          </p:nvPr>
        </p:nvSpPr>
        <p:spPr>
          <a:xfrm>
            <a:off x="684213" y="692150"/>
            <a:ext cx="7772400" cy="5689600"/>
          </a:xfrm>
        </p:spPr>
        <p:txBody>
          <a:bodyPr vert="horz" wrap="square" lIns="91440" tIns="45720" rIns="91440" bIns="45720" anchor="t" anchorCtr="0"/>
          <a:lstStyle/>
          <a:p>
            <a:pPr eaLnBrk="1" hangingPunct="1"/>
            <a:r>
              <a:rPr lang="zh-CN" altLang="en-US" sz="2800" b="1" dirty="0">
                <a:solidFill>
                  <a:schemeClr val="tx2"/>
                </a:solidFill>
                <a:latin typeface="楷体_GB2312" panose="02010609030101010101" pitchFamily="49" charset="-122"/>
                <a:ea typeface="楷体_GB2312" panose="02010609030101010101" pitchFamily="49" charset="-122"/>
              </a:rPr>
              <a:t>异步时序逻辑电路</a:t>
            </a:r>
          </a:p>
          <a:p>
            <a:pPr eaLnBrk="1" hangingPunct="1"/>
            <a:endParaRPr lang="zh-CN" altLang="en-US" sz="2400" b="1" dirty="0">
              <a:latin typeface="楷体_GB2312" panose="02010609030101010101" pitchFamily="49" charset="-122"/>
              <a:ea typeface="楷体_GB2312" panose="02010609030101010101" pitchFamily="49" charset="-122"/>
            </a:endParaRPr>
          </a:p>
          <a:p>
            <a:pPr eaLnBrk="1" hangingPunct="1">
              <a:buNone/>
            </a:pPr>
            <a:r>
              <a:rPr lang="zh-CN" altLang="en-US" sz="2400" b="1" dirty="0">
                <a:latin typeface="楷体_GB2312" panose="02010609030101010101" pitchFamily="49" charset="-122"/>
                <a:ea typeface="楷体_GB2312" panose="02010609030101010101" pitchFamily="49" charset="-122"/>
              </a:rPr>
              <a:t>       </a:t>
            </a:r>
            <a:r>
              <a:rPr lang="zh-CN" altLang="en-US" sz="2400" dirty="0">
                <a:latin typeface="楷体_GB2312" panose="02010609030101010101" pitchFamily="49" charset="-122"/>
                <a:ea typeface="楷体_GB2312" panose="02010609030101010101" pitchFamily="49" charset="-122"/>
              </a:rPr>
              <a:t>异步时序逻辑电路的存储电路可由触发器或延时元件组成，电路中没有统一的时钟脉冲信号同步，电路外部输入信号的变化将直接导致电路状态的变化。</a:t>
            </a:r>
          </a:p>
          <a:p>
            <a:pPr eaLnBrk="1" hangingPunct="1"/>
            <a:endParaRPr lang="zh-CN" altLang="en-US" sz="2400" dirty="0">
              <a:latin typeface="楷体_GB2312" panose="02010609030101010101" pitchFamily="49" charset="-122"/>
              <a:ea typeface="楷体_GB2312" panose="02010609030101010101" pitchFamily="49" charset="-122"/>
            </a:endParaRPr>
          </a:p>
          <a:p>
            <a:pPr eaLnBrk="1" hangingPunct="1">
              <a:buNone/>
            </a:pPr>
            <a:r>
              <a:rPr lang="zh-CN" altLang="en-US" sz="2400" dirty="0">
                <a:latin typeface="楷体_GB2312" panose="02010609030101010101" pitchFamily="49" charset="-122"/>
                <a:ea typeface="楷体_GB2312" panose="02010609030101010101" pitchFamily="49" charset="-122"/>
              </a:rPr>
              <a:t>      在状态转移过程中，各存储元件的状态变化不一定发生在同一时刻，不同状态的维持时间不一定相同。</a:t>
            </a:r>
          </a:p>
          <a:p>
            <a:pPr eaLnBrk="1" hangingPunct="1"/>
            <a:endParaRPr lang="zh-CN" altLang="en-US" sz="2400" dirty="0">
              <a:latin typeface="楷体_GB2312" panose="02010609030101010101" pitchFamily="49" charset="-122"/>
              <a:ea typeface="楷体_GB2312" panose="02010609030101010101" pitchFamily="49" charset="-122"/>
            </a:endParaRPr>
          </a:p>
          <a:p>
            <a:pPr eaLnBrk="1" hangingPunct="1">
              <a:buNone/>
            </a:pPr>
            <a:r>
              <a:rPr lang="zh-CN" altLang="en-US" sz="2400" dirty="0">
                <a:latin typeface="楷体_GB2312" panose="02010609030101010101" pitchFamily="49" charset="-122"/>
                <a:ea typeface="楷体_GB2312" panose="02010609030101010101" pitchFamily="49" charset="-122"/>
              </a:rPr>
              <a:t>       在研究异步时序逻辑电路时，对输入信号的形式有所区分。（脉冲还是电平）</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8211">
                                            <p:txEl>
                                              <p:pRg st="0" end="0"/>
                                            </p:txEl>
                                          </p:spTgt>
                                        </p:tgtEl>
                                        <p:attrNameLst>
                                          <p:attrName>style.visibility</p:attrName>
                                        </p:attrNameLst>
                                      </p:cBhvr>
                                      <p:to>
                                        <p:strVal val="visible"/>
                                      </p:to>
                                    </p:set>
                                    <p:animEffect transition="in" filter="dissolve">
                                      <p:cBhvr>
                                        <p:cTn id="7" dur="500"/>
                                        <p:tgtEl>
                                          <p:spTgt spid="4782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8211">
                                            <p:txEl>
                                              <p:pRg st="2" end="2"/>
                                            </p:txEl>
                                          </p:spTgt>
                                        </p:tgtEl>
                                        <p:attrNameLst>
                                          <p:attrName>style.visibility</p:attrName>
                                        </p:attrNameLst>
                                      </p:cBhvr>
                                      <p:to>
                                        <p:strVal val="visible"/>
                                      </p:to>
                                    </p:set>
                                    <p:animEffect transition="in" filter="dissolve">
                                      <p:cBhvr>
                                        <p:cTn id="12" dur="500"/>
                                        <p:tgtEl>
                                          <p:spTgt spid="4782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78211">
                                            <p:txEl>
                                              <p:pRg st="4" end="4"/>
                                            </p:txEl>
                                          </p:spTgt>
                                        </p:tgtEl>
                                        <p:attrNameLst>
                                          <p:attrName>style.visibility</p:attrName>
                                        </p:attrNameLst>
                                      </p:cBhvr>
                                      <p:to>
                                        <p:strVal val="visible"/>
                                      </p:to>
                                    </p:set>
                                    <p:animEffect transition="in" filter="dissolve">
                                      <p:cBhvr>
                                        <p:cTn id="17" dur="500"/>
                                        <p:tgtEl>
                                          <p:spTgt spid="47821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78211">
                                            <p:txEl>
                                              <p:pRg st="6" end="6"/>
                                            </p:txEl>
                                          </p:spTgt>
                                        </p:tgtEl>
                                        <p:attrNameLst>
                                          <p:attrName>style.visibility</p:attrName>
                                        </p:attrNameLst>
                                      </p:cBhvr>
                                      <p:to>
                                        <p:strVal val="visible"/>
                                      </p:to>
                                    </p:set>
                                    <p:animEffect transition="in" filter="dissolve">
                                      <p:cBhvr>
                                        <p:cTn id="22" dur="500"/>
                                        <p:tgtEl>
                                          <p:spTgt spid="4782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p:nvPr/>
        </p:nvSpPr>
        <p:spPr>
          <a:xfrm>
            <a:off x="1944688" y="869950"/>
            <a:ext cx="4451350" cy="519113"/>
          </a:xfrm>
          <a:prstGeom prst="rect">
            <a:avLst/>
          </a:prstGeom>
          <a:noFill/>
          <a:ln w="9525">
            <a:noFill/>
          </a:ln>
        </p:spPr>
        <p:txBody>
          <a:bodyPr wrap="none">
            <a:spAutoFit/>
          </a:bodyPr>
          <a:lstStyle/>
          <a:p>
            <a:r>
              <a:rPr lang="zh-CN" altLang="en-US" sz="2800" dirty="0">
                <a:latin typeface="Times New Roman" panose="02020603050405020304" pitchFamily="18" charset="0"/>
              </a:rPr>
              <a:t>两种时序电路类型见下图：</a:t>
            </a:r>
          </a:p>
        </p:txBody>
      </p:sp>
      <p:sp>
        <p:nvSpPr>
          <p:cNvPr id="8228" name="Rectangle 36"/>
          <p:cNvSpPr/>
          <p:nvPr/>
        </p:nvSpPr>
        <p:spPr>
          <a:xfrm>
            <a:off x="1285875" y="5343525"/>
            <a:ext cx="2801938" cy="519113"/>
          </a:xfrm>
          <a:prstGeom prst="rect">
            <a:avLst/>
          </a:prstGeom>
          <a:noFill/>
          <a:ln w="9525">
            <a:noFill/>
          </a:ln>
        </p:spPr>
        <p:txBody>
          <a:bodyPr wrap="none">
            <a:spAutoFit/>
          </a:bodyPr>
          <a:lstStyle/>
          <a:p>
            <a:r>
              <a:rPr lang="en-US" altLang="zh-CN" sz="2800" dirty="0">
                <a:latin typeface="Times New Roman" panose="02020603050405020304" pitchFamily="18" charset="0"/>
              </a:rPr>
              <a:t>(a) </a:t>
            </a:r>
            <a:r>
              <a:rPr lang="zh-CN" altLang="zh-CN" sz="2800" dirty="0">
                <a:latin typeface="Times New Roman" panose="02020603050405020304" pitchFamily="18" charset="0"/>
              </a:rPr>
              <a:t>同步时序电路</a:t>
            </a:r>
            <a:endParaRPr lang="zh-CN" altLang="en-US" sz="2800" dirty="0">
              <a:latin typeface="Times New Roman" panose="02020603050405020304" pitchFamily="18" charset="0"/>
            </a:endParaRPr>
          </a:p>
        </p:txBody>
      </p:sp>
      <p:grpSp>
        <p:nvGrpSpPr>
          <p:cNvPr id="2" name="Group 66"/>
          <p:cNvGrpSpPr/>
          <p:nvPr/>
        </p:nvGrpSpPr>
        <p:grpSpPr>
          <a:xfrm>
            <a:off x="4611688" y="1855788"/>
            <a:ext cx="4260850" cy="2652712"/>
            <a:chOff x="2905" y="1137"/>
            <a:chExt cx="2684" cy="1671"/>
          </a:xfrm>
        </p:grpSpPr>
        <p:sp>
          <p:nvSpPr>
            <p:cNvPr id="11297" name="Text Box 38"/>
            <p:cNvSpPr txBox="1"/>
            <p:nvPr/>
          </p:nvSpPr>
          <p:spPr>
            <a:xfrm>
              <a:off x="2910" y="1150"/>
              <a:ext cx="291" cy="327"/>
            </a:xfrm>
            <a:prstGeom prst="rect">
              <a:avLst/>
            </a:prstGeom>
            <a:noFill/>
            <a:ln w="9525">
              <a:noFill/>
            </a:ln>
          </p:spPr>
          <p:txBody>
            <a:bodyPr wrap="none">
              <a:spAutoFit/>
            </a:bodyPr>
            <a:lstStyle/>
            <a:p>
              <a:r>
                <a:rPr lang="en-US" altLang="zh-CN" sz="2800" i="1" dirty="0">
                  <a:latin typeface="Times New Roman" panose="02020603050405020304" pitchFamily="18" charset="0"/>
                </a:rPr>
                <a:t>x</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1298" name="Text Box 39"/>
            <p:cNvSpPr txBox="1"/>
            <p:nvPr/>
          </p:nvSpPr>
          <p:spPr>
            <a:xfrm>
              <a:off x="5233" y="1137"/>
              <a:ext cx="279" cy="327"/>
            </a:xfrm>
            <a:prstGeom prst="rect">
              <a:avLst/>
            </a:prstGeom>
            <a:noFill/>
            <a:ln w="9525">
              <a:noFill/>
            </a:ln>
          </p:spPr>
          <p:txBody>
            <a:bodyPr wrap="none">
              <a:spAutoFit/>
            </a:bodyPr>
            <a:lstStyle/>
            <a:p>
              <a:r>
                <a:rPr lang="en-US" altLang="zh-CN" sz="2800" i="1" dirty="0">
                  <a:latin typeface="Times New Roman" panose="02020603050405020304" pitchFamily="18" charset="0"/>
                </a:rPr>
                <a:t>z</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1299" name="Rectangle 40"/>
            <p:cNvSpPr/>
            <p:nvPr/>
          </p:nvSpPr>
          <p:spPr>
            <a:xfrm>
              <a:off x="3804" y="1272"/>
              <a:ext cx="981" cy="528"/>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11300" name="Rectangle 41"/>
            <p:cNvSpPr/>
            <p:nvPr/>
          </p:nvSpPr>
          <p:spPr>
            <a:xfrm>
              <a:off x="3804" y="2280"/>
              <a:ext cx="981" cy="528"/>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11301" name="Text Box 42"/>
            <p:cNvSpPr txBox="1"/>
            <p:nvPr/>
          </p:nvSpPr>
          <p:spPr>
            <a:xfrm>
              <a:off x="3785" y="1380"/>
              <a:ext cx="1028" cy="300"/>
            </a:xfrm>
            <a:prstGeom prst="rect">
              <a:avLst/>
            </a:prstGeom>
            <a:noFill/>
            <a:ln w="9525">
              <a:noFill/>
            </a:ln>
          </p:spPr>
          <p:txBody>
            <a:bodyPr>
              <a:spAutoFit/>
            </a:bodyPr>
            <a:lstStyle/>
            <a:p>
              <a:pPr>
                <a:lnSpc>
                  <a:spcPct val="90000"/>
                </a:lnSpc>
              </a:pPr>
              <a:r>
                <a:rPr lang="zh-CN" altLang="en-US" sz="2800" dirty="0">
                  <a:latin typeface="Times New Roman" panose="02020603050405020304" pitchFamily="18" charset="0"/>
                </a:rPr>
                <a:t>组合电路</a:t>
              </a:r>
            </a:p>
          </p:txBody>
        </p:sp>
        <p:sp>
          <p:nvSpPr>
            <p:cNvPr id="11302" name="Text Box 43"/>
            <p:cNvSpPr txBox="1"/>
            <p:nvPr/>
          </p:nvSpPr>
          <p:spPr>
            <a:xfrm>
              <a:off x="3763" y="2313"/>
              <a:ext cx="1256" cy="472"/>
            </a:xfrm>
            <a:prstGeom prst="rect">
              <a:avLst/>
            </a:prstGeom>
            <a:noFill/>
            <a:ln w="9525">
              <a:noFill/>
            </a:ln>
          </p:spPr>
          <p:txBody>
            <a:bodyPr>
              <a:spAutoFit/>
            </a:bodyPr>
            <a:lstStyle/>
            <a:p>
              <a:pPr>
                <a:lnSpc>
                  <a:spcPct val="90000"/>
                </a:lnSpc>
              </a:pPr>
              <a:r>
                <a:rPr lang="zh-CN" altLang="en-US" sz="2400" dirty="0">
                  <a:latin typeface="Times New Roman" panose="02020603050405020304" pitchFamily="18" charset="0"/>
                </a:rPr>
                <a:t>存储器件或延时器件</a:t>
              </a:r>
            </a:p>
          </p:txBody>
        </p:sp>
        <p:sp>
          <p:nvSpPr>
            <p:cNvPr id="11303" name="Line 44"/>
            <p:cNvSpPr/>
            <p:nvPr/>
          </p:nvSpPr>
          <p:spPr>
            <a:xfrm>
              <a:off x="3231" y="1331"/>
              <a:ext cx="547" cy="0"/>
            </a:xfrm>
            <a:prstGeom prst="line">
              <a:avLst/>
            </a:prstGeom>
            <a:ln w="19050" cap="flat" cmpd="sng">
              <a:solidFill>
                <a:schemeClr val="tx1"/>
              </a:solidFill>
              <a:prstDash val="solid"/>
              <a:headEnd type="none" w="med" len="med"/>
              <a:tailEnd type="triangle" w="sm" len="lg"/>
            </a:ln>
          </p:spPr>
        </p:sp>
        <p:sp>
          <p:nvSpPr>
            <p:cNvPr id="11304" name="Line 45"/>
            <p:cNvSpPr/>
            <p:nvPr/>
          </p:nvSpPr>
          <p:spPr>
            <a:xfrm>
              <a:off x="3231" y="1555"/>
              <a:ext cx="547" cy="0"/>
            </a:xfrm>
            <a:prstGeom prst="line">
              <a:avLst/>
            </a:prstGeom>
            <a:ln w="19050" cap="flat" cmpd="sng">
              <a:solidFill>
                <a:schemeClr val="tx1"/>
              </a:solidFill>
              <a:prstDash val="solid"/>
              <a:headEnd type="none" w="med" len="med"/>
              <a:tailEnd type="triangle" w="sm" len="lg"/>
            </a:ln>
          </p:spPr>
        </p:sp>
        <p:sp>
          <p:nvSpPr>
            <p:cNvPr id="11305" name="Rectangle 46"/>
            <p:cNvSpPr/>
            <p:nvPr/>
          </p:nvSpPr>
          <p:spPr>
            <a:xfrm>
              <a:off x="2905" y="1364"/>
              <a:ext cx="291" cy="327"/>
            </a:xfrm>
            <a:prstGeom prst="rect">
              <a:avLst/>
            </a:prstGeom>
            <a:noFill/>
            <a:ln w="9525">
              <a:noFill/>
            </a:ln>
          </p:spPr>
          <p:txBody>
            <a:bodyPr wrap="none">
              <a:spAutoFit/>
            </a:bodyPr>
            <a:lstStyle/>
            <a:p>
              <a:r>
                <a:rPr lang="en-US" altLang="zh-CN" sz="2800" i="1" dirty="0">
                  <a:latin typeface="Times New Roman" panose="02020603050405020304" pitchFamily="18" charset="0"/>
                </a:rPr>
                <a:t>x</a:t>
              </a:r>
              <a:r>
                <a:rPr lang="en-US" altLang="zh-CN" sz="2800" i="1" baseline="-25000" dirty="0">
                  <a:latin typeface="Times New Roman" panose="02020603050405020304" pitchFamily="18" charset="0"/>
                </a:rPr>
                <a:t>n</a:t>
              </a:r>
            </a:p>
          </p:txBody>
        </p:sp>
        <p:sp>
          <p:nvSpPr>
            <p:cNvPr id="8239" name="Text Box 47"/>
            <p:cNvSpPr txBox="1">
              <a:spLocks noChangeArrowheads="1"/>
            </p:cNvSpPr>
            <p:nvPr/>
          </p:nvSpPr>
          <p:spPr bwMode="auto">
            <a:xfrm>
              <a:off x="3281" y="1308"/>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p>
          </p:txBody>
        </p:sp>
        <p:sp>
          <p:nvSpPr>
            <p:cNvPr id="11307" name="Line 48"/>
            <p:cNvSpPr/>
            <p:nvPr/>
          </p:nvSpPr>
          <p:spPr>
            <a:xfrm>
              <a:off x="4778" y="1342"/>
              <a:ext cx="485" cy="0"/>
            </a:xfrm>
            <a:prstGeom prst="line">
              <a:avLst/>
            </a:prstGeom>
            <a:ln w="19050" cap="flat" cmpd="sng">
              <a:solidFill>
                <a:schemeClr val="tx1"/>
              </a:solidFill>
              <a:prstDash val="solid"/>
              <a:headEnd type="none" w="med" len="med"/>
              <a:tailEnd type="triangle" w="sm" len="lg"/>
            </a:ln>
          </p:spPr>
        </p:sp>
        <p:sp>
          <p:nvSpPr>
            <p:cNvPr id="11308" name="Line 49"/>
            <p:cNvSpPr/>
            <p:nvPr/>
          </p:nvSpPr>
          <p:spPr>
            <a:xfrm>
              <a:off x="4778" y="1556"/>
              <a:ext cx="475" cy="0"/>
            </a:xfrm>
            <a:prstGeom prst="line">
              <a:avLst/>
            </a:prstGeom>
            <a:ln w="19050" cap="flat" cmpd="sng">
              <a:solidFill>
                <a:schemeClr val="tx1"/>
              </a:solidFill>
              <a:prstDash val="solid"/>
              <a:headEnd type="none" w="med" len="med"/>
              <a:tailEnd type="triangle" w="sm" len="lg"/>
            </a:ln>
          </p:spPr>
        </p:sp>
        <p:sp>
          <p:nvSpPr>
            <p:cNvPr id="11309" name="Rectangle 50"/>
            <p:cNvSpPr/>
            <p:nvPr/>
          </p:nvSpPr>
          <p:spPr>
            <a:xfrm>
              <a:off x="5276" y="1361"/>
              <a:ext cx="313" cy="327"/>
            </a:xfrm>
            <a:prstGeom prst="rect">
              <a:avLst/>
            </a:prstGeom>
            <a:noFill/>
            <a:ln w="9525">
              <a:noFill/>
            </a:ln>
          </p:spPr>
          <p:txBody>
            <a:bodyPr wrap="none">
              <a:spAutoFit/>
            </a:bodyPr>
            <a:lstStyle/>
            <a:p>
              <a:r>
                <a:rPr lang="en-US" altLang="zh-CN" sz="2800" i="1" dirty="0">
                  <a:latin typeface="Times New Roman" panose="02020603050405020304" pitchFamily="18" charset="0"/>
                </a:rPr>
                <a:t>z</a:t>
              </a:r>
              <a:r>
                <a:rPr lang="en-US" altLang="zh-CN" sz="2800" i="1" baseline="-25000" dirty="0">
                  <a:latin typeface="Times New Roman" panose="02020603050405020304" pitchFamily="18" charset="0"/>
                </a:rPr>
                <a:t>m</a:t>
              </a:r>
            </a:p>
          </p:txBody>
        </p:sp>
        <p:sp>
          <p:nvSpPr>
            <p:cNvPr id="8243" name="Text Box 51"/>
            <p:cNvSpPr txBox="1">
              <a:spLocks noChangeArrowheads="1"/>
            </p:cNvSpPr>
            <p:nvPr/>
          </p:nvSpPr>
          <p:spPr bwMode="auto">
            <a:xfrm>
              <a:off x="4806" y="1319"/>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p>
          </p:txBody>
        </p:sp>
        <p:sp>
          <p:nvSpPr>
            <p:cNvPr id="11311" name="Freeform 52"/>
            <p:cNvSpPr/>
            <p:nvPr/>
          </p:nvSpPr>
          <p:spPr>
            <a:xfrm>
              <a:off x="3513" y="1747"/>
              <a:ext cx="289" cy="652"/>
            </a:xfrm>
            <a:custGeom>
              <a:avLst/>
              <a:gdLst>
                <a:gd name="txL" fmla="*/ 0 w 228"/>
                <a:gd name="txT" fmla="*/ 0 h 652"/>
                <a:gd name="txR" fmla="*/ 228 w 228"/>
                <a:gd name="txB" fmla="*/ 652 h 652"/>
              </a:gdLst>
              <a:ahLst/>
              <a:cxnLst>
                <a:cxn ang="0">
                  <a:pos x="366" y="652"/>
                </a:cxn>
                <a:cxn ang="0">
                  <a:pos x="0" y="652"/>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lstStyle/>
            <a:p>
              <a:endParaRPr lang="zh-CN" altLang="en-US"/>
            </a:p>
          </p:txBody>
        </p:sp>
        <p:sp>
          <p:nvSpPr>
            <p:cNvPr id="11312" name="Freeform 53"/>
            <p:cNvSpPr/>
            <p:nvPr/>
          </p:nvSpPr>
          <p:spPr>
            <a:xfrm>
              <a:off x="3332" y="1664"/>
              <a:ext cx="470" cy="1025"/>
            </a:xfrm>
            <a:custGeom>
              <a:avLst/>
              <a:gdLst>
                <a:gd name="txL" fmla="*/ 0 w 371"/>
                <a:gd name="txT" fmla="*/ 0 h 1025"/>
                <a:gd name="txR" fmla="*/ 371 w 371"/>
                <a:gd name="txB" fmla="*/ 1025 h 1025"/>
              </a:gdLst>
              <a:ahLst/>
              <a:cxnLst>
                <a:cxn ang="0">
                  <a:pos x="595" y="1024"/>
                </a:cxn>
                <a:cxn ang="0">
                  <a:pos x="0" y="1025"/>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lstStyle/>
            <a:p>
              <a:endParaRPr lang="zh-CN" altLang="en-US"/>
            </a:p>
          </p:txBody>
        </p:sp>
        <p:sp>
          <p:nvSpPr>
            <p:cNvPr id="11313" name="Freeform 54"/>
            <p:cNvSpPr/>
            <p:nvPr/>
          </p:nvSpPr>
          <p:spPr>
            <a:xfrm flipH="1" flipV="1">
              <a:off x="4799" y="1737"/>
              <a:ext cx="289" cy="652"/>
            </a:xfrm>
            <a:custGeom>
              <a:avLst/>
              <a:gdLst>
                <a:gd name="txL" fmla="*/ 0 w 228"/>
                <a:gd name="txT" fmla="*/ 0 h 652"/>
                <a:gd name="txR" fmla="*/ 228 w 228"/>
                <a:gd name="txB" fmla="*/ 652 h 652"/>
              </a:gdLst>
              <a:ahLst/>
              <a:cxnLst>
                <a:cxn ang="0">
                  <a:pos x="366" y="652"/>
                </a:cxn>
                <a:cxn ang="0">
                  <a:pos x="0" y="652"/>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lstStyle/>
            <a:p>
              <a:endParaRPr lang="zh-CN" altLang="en-US"/>
            </a:p>
          </p:txBody>
        </p:sp>
        <p:sp>
          <p:nvSpPr>
            <p:cNvPr id="11314" name="Freeform 55"/>
            <p:cNvSpPr/>
            <p:nvPr/>
          </p:nvSpPr>
          <p:spPr>
            <a:xfrm flipH="1" flipV="1">
              <a:off x="4802" y="1664"/>
              <a:ext cx="470" cy="1025"/>
            </a:xfrm>
            <a:custGeom>
              <a:avLst/>
              <a:gdLst>
                <a:gd name="txL" fmla="*/ 0 w 371"/>
                <a:gd name="txT" fmla="*/ 0 h 1025"/>
                <a:gd name="txR" fmla="*/ 371 w 371"/>
                <a:gd name="txB" fmla="*/ 1025 h 1025"/>
              </a:gdLst>
              <a:ahLst/>
              <a:cxnLst>
                <a:cxn ang="0">
                  <a:pos x="595" y="1024"/>
                </a:cxn>
                <a:cxn ang="0">
                  <a:pos x="0" y="1025"/>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lstStyle/>
            <a:p>
              <a:endParaRPr lang="zh-CN" altLang="en-US"/>
            </a:p>
          </p:txBody>
        </p:sp>
        <p:sp>
          <p:nvSpPr>
            <p:cNvPr id="8248" name="Text Box 56"/>
            <p:cNvSpPr txBox="1">
              <a:spLocks noChangeArrowheads="1"/>
            </p:cNvSpPr>
            <p:nvPr/>
          </p:nvSpPr>
          <p:spPr bwMode="auto">
            <a:xfrm>
              <a:off x="3442" y="2414"/>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p>
          </p:txBody>
        </p:sp>
        <p:sp>
          <p:nvSpPr>
            <p:cNvPr id="8249" name="Text Box 57"/>
            <p:cNvSpPr txBox="1">
              <a:spLocks noChangeArrowheads="1"/>
            </p:cNvSpPr>
            <p:nvPr/>
          </p:nvSpPr>
          <p:spPr bwMode="auto">
            <a:xfrm>
              <a:off x="4844" y="2414"/>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p>
          </p:txBody>
        </p:sp>
        <p:sp>
          <p:nvSpPr>
            <p:cNvPr id="11317" name="Text Box 58"/>
            <p:cNvSpPr txBox="1"/>
            <p:nvPr/>
          </p:nvSpPr>
          <p:spPr>
            <a:xfrm>
              <a:off x="3508" y="2051"/>
              <a:ext cx="274"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r</a:t>
              </a:r>
              <a:endParaRPr lang="en-US" altLang="zh-CN" sz="2800" dirty="0">
                <a:latin typeface="Times New Roman" panose="02020603050405020304" pitchFamily="18" charset="0"/>
              </a:endParaRPr>
            </a:p>
          </p:txBody>
        </p:sp>
        <p:sp>
          <p:nvSpPr>
            <p:cNvPr id="11318" name="Rectangle 59"/>
            <p:cNvSpPr/>
            <p:nvPr/>
          </p:nvSpPr>
          <p:spPr>
            <a:xfrm>
              <a:off x="3075" y="2045"/>
              <a:ext cx="291"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p>
          </p:txBody>
        </p:sp>
        <p:sp>
          <p:nvSpPr>
            <p:cNvPr id="11319" name="Rectangle 60"/>
            <p:cNvSpPr/>
            <p:nvPr/>
          </p:nvSpPr>
          <p:spPr>
            <a:xfrm>
              <a:off x="4833" y="1966"/>
              <a:ext cx="317"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p>
          </p:txBody>
        </p:sp>
        <p:sp>
          <p:nvSpPr>
            <p:cNvPr id="11320" name="Text Box 61"/>
            <p:cNvSpPr txBox="1"/>
            <p:nvPr/>
          </p:nvSpPr>
          <p:spPr>
            <a:xfrm>
              <a:off x="5247" y="1980"/>
              <a:ext cx="283"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l</a:t>
              </a:r>
              <a:endParaRPr lang="en-US" altLang="zh-CN" sz="2800" dirty="0">
                <a:latin typeface="Times New Roman" panose="02020603050405020304" pitchFamily="18" charset="0"/>
              </a:endParaRPr>
            </a:p>
          </p:txBody>
        </p:sp>
      </p:grpSp>
      <p:sp>
        <p:nvSpPr>
          <p:cNvPr id="8254" name="Rectangle 62"/>
          <p:cNvSpPr/>
          <p:nvPr/>
        </p:nvSpPr>
        <p:spPr>
          <a:xfrm>
            <a:off x="5743575" y="5343525"/>
            <a:ext cx="2822575" cy="519113"/>
          </a:xfrm>
          <a:prstGeom prst="rect">
            <a:avLst/>
          </a:prstGeom>
          <a:noFill/>
          <a:ln w="9525">
            <a:noFill/>
          </a:ln>
        </p:spPr>
        <p:txBody>
          <a:bodyPr wrap="none">
            <a:spAutoFit/>
          </a:bodyPr>
          <a:lstStyle/>
          <a:p>
            <a:r>
              <a:rPr lang="en-US" altLang="zh-CN" sz="2800" dirty="0">
                <a:latin typeface="Times New Roman" panose="02020603050405020304" pitchFamily="18" charset="0"/>
              </a:rPr>
              <a:t>(b) </a:t>
            </a:r>
            <a:r>
              <a:rPr lang="zh-CN" altLang="zh-CN" sz="2800" dirty="0">
                <a:latin typeface="Times New Roman" panose="02020603050405020304" pitchFamily="18" charset="0"/>
              </a:rPr>
              <a:t>异步时序电路</a:t>
            </a:r>
            <a:endParaRPr lang="zh-CN" altLang="en-US" sz="2800" dirty="0">
              <a:latin typeface="Times New Roman" panose="02020603050405020304" pitchFamily="18" charset="0"/>
            </a:endParaRPr>
          </a:p>
        </p:txBody>
      </p:sp>
      <p:grpSp>
        <p:nvGrpSpPr>
          <p:cNvPr id="3" name="Group 65"/>
          <p:cNvGrpSpPr/>
          <p:nvPr/>
        </p:nvGrpSpPr>
        <p:grpSpPr>
          <a:xfrm>
            <a:off x="279400" y="1839913"/>
            <a:ext cx="4260850" cy="3290887"/>
            <a:chOff x="176" y="1137"/>
            <a:chExt cx="2684" cy="2073"/>
          </a:xfrm>
        </p:grpSpPr>
        <p:sp>
          <p:nvSpPr>
            <p:cNvPr id="11271" name="Text Box 12"/>
            <p:cNvSpPr txBox="1"/>
            <p:nvPr/>
          </p:nvSpPr>
          <p:spPr>
            <a:xfrm>
              <a:off x="181" y="1150"/>
              <a:ext cx="291" cy="327"/>
            </a:xfrm>
            <a:prstGeom prst="rect">
              <a:avLst/>
            </a:prstGeom>
            <a:noFill/>
            <a:ln w="9525">
              <a:noFill/>
            </a:ln>
          </p:spPr>
          <p:txBody>
            <a:bodyPr wrap="none">
              <a:spAutoFit/>
            </a:bodyPr>
            <a:lstStyle/>
            <a:p>
              <a:r>
                <a:rPr lang="en-US" altLang="zh-CN" sz="2800" i="1" dirty="0">
                  <a:latin typeface="Times New Roman" panose="02020603050405020304" pitchFamily="18" charset="0"/>
                </a:rPr>
                <a:t>x</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1272" name="Text Box 13"/>
            <p:cNvSpPr txBox="1"/>
            <p:nvPr/>
          </p:nvSpPr>
          <p:spPr>
            <a:xfrm>
              <a:off x="2504" y="1137"/>
              <a:ext cx="279" cy="327"/>
            </a:xfrm>
            <a:prstGeom prst="rect">
              <a:avLst/>
            </a:prstGeom>
            <a:noFill/>
            <a:ln w="9525">
              <a:noFill/>
            </a:ln>
          </p:spPr>
          <p:txBody>
            <a:bodyPr wrap="none">
              <a:spAutoFit/>
            </a:bodyPr>
            <a:lstStyle/>
            <a:p>
              <a:r>
                <a:rPr lang="en-US" altLang="zh-CN" sz="2800" i="1" dirty="0">
                  <a:latin typeface="Times New Roman" panose="02020603050405020304" pitchFamily="18" charset="0"/>
                </a:rPr>
                <a:t>z</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11273" name="Rectangle 14"/>
            <p:cNvSpPr/>
            <p:nvPr/>
          </p:nvSpPr>
          <p:spPr>
            <a:xfrm>
              <a:off x="1075" y="1272"/>
              <a:ext cx="981" cy="528"/>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11274" name="Rectangle 15"/>
            <p:cNvSpPr/>
            <p:nvPr/>
          </p:nvSpPr>
          <p:spPr>
            <a:xfrm>
              <a:off x="1075" y="2280"/>
              <a:ext cx="981" cy="528"/>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11275" name="Text Box 16"/>
            <p:cNvSpPr txBox="1"/>
            <p:nvPr/>
          </p:nvSpPr>
          <p:spPr>
            <a:xfrm>
              <a:off x="1056" y="1380"/>
              <a:ext cx="1028" cy="300"/>
            </a:xfrm>
            <a:prstGeom prst="rect">
              <a:avLst/>
            </a:prstGeom>
            <a:noFill/>
            <a:ln w="9525">
              <a:noFill/>
            </a:ln>
          </p:spPr>
          <p:txBody>
            <a:bodyPr>
              <a:spAutoFit/>
            </a:bodyPr>
            <a:lstStyle/>
            <a:p>
              <a:pPr>
                <a:lnSpc>
                  <a:spcPct val="90000"/>
                </a:lnSpc>
              </a:pPr>
              <a:r>
                <a:rPr lang="zh-CN" altLang="en-US" sz="2800" dirty="0">
                  <a:latin typeface="Times New Roman" panose="02020603050405020304" pitchFamily="18" charset="0"/>
                </a:rPr>
                <a:t>组合电路</a:t>
              </a:r>
            </a:p>
          </p:txBody>
        </p:sp>
        <p:sp>
          <p:nvSpPr>
            <p:cNvPr id="11276" name="Text Box 17"/>
            <p:cNvSpPr txBox="1"/>
            <p:nvPr/>
          </p:nvSpPr>
          <p:spPr>
            <a:xfrm>
              <a:off x="1065" y="2396"/>
              <a:ext cx="1090" cy="300"/>
            </a:xfrm>
            <a:prstGeom prst="rect">
              <a:avLst/>
            </a:prstGeom>
            <a:noFill/>
            <a:ln w="9525">
              <a:noFill/>
            </a:ln>
          </p:spPr>
          <p:txBody>
            <a:bodyPr>
              <a:spAutoFit/>
            </a:bodyPr>
            <a:lstStyle/>
            <a:p>
              <a:pPr>
                <a:lnSpc>
                  <a:spcPct val="90000"/>
                </a:lnSpc>
              </a:pPr>
              <a:r>
                <a:rPr lang="zh-CN" altLang="en-US" sz="2800" dirty="0">
                  <a:latin typeface="Times New Roman" panose="02020603050405020304" pitchFamily="18" charset="0"/>
                </a:rPr>
                <a:t>存储器件</a:t>
              </a:r>
            </a:p>
          </p:txBody>
        </p:sp>
        <p:sp>
          <p:nvSpPr>
            <p:cNvPr id="11277" name="Line 18"/>
            <p:cNvSpPr/>
            <p:nvPr/>
          </p:nvSpPr>
          <p:spPr>
            <a:xfrm>
              <a:off x="502" y="1331"/>
              <a:ext cx="547" cy="0"/>
            </a:xfrm>
            <a:prstGeom prst="line">
              <a:avLst/>
            </a:prstGeom>
            <a:ln w="19050" cap="flat" cmpd="sng">
              <a:solidFill>
                <a:schemeClr val="tx1"/>
              </a:solidFill>
              <a:prstDash val="solid"/>
              <a:headEnd type="none" w="med" len="med"/>
              <a:tailEnd type="triangle" w="sm" len="lg"/>
            </a:ln>
          </p:spPr>
        </p:sp>
        <p:sp>
          <p:nvSpPr>
            <p:cNvPr id="11278" name="Line 19"/>
            <p:cNvSpPr/>
            <p:nvPr/>
          </p:nvSpPr>
          <p:spPr>
            <a:xfrm>
              <a:off x="502" y="1555"/>
              <a:ext cx="547" cy="0"/>
            </a:xfrm>
            <a:prstGeom prst="line">
              <a:avLst/>
            </a:prstGeom>
            <a:ln w="19050" cap="flat" cmpd="sng">
              <a:solidFill>
                <a:schemeClr val="tx1"/>
              </a:solidFill>
              <a:prstDash val="solid"/>
              <a:headEnd type="none" w="med" len="med"/>
              <a:tailEnd type="triangle" w="sm" len="lg"/>
            </a:ln>
          </p:spPr>
        </p:sp>
        <p:sp>
          <p:nvSpPr>
            <p:cNvPr id="11279" name="Rectangle 20"/>
            <p:cNvSpPr/>
            <p:nvPr/>
          </p:nvSpPr>
          <p:spPr>
            <a:xfrm>
              <a:off x="176" y="1364"/>
              <a:ext cx="291" cy="327"/>
            </a:xfrm>
            <a:prstGeom prst="rect">
              <a:avLst/>
            </a:prstGeom>
            <a:noFill/>
            <a:ln w="9525">
              <a:noFill/>
            </a:ln>
          </p:spPr>
          <p:txBody>
            <a:bodyPr wrap="none">
              <a:spAutoFit/>
            </a:bodyPr>
            <a:lstStyle/>
            <a:p>
              <a:r>
                <a:rPr lang="en-US" altLang="zh-CN" sz="2800" i="1" dirty="0">
                  <a:latin typeface="Times New Roman" panose="02020603050405020304" pitchFamily="18" charset="0"/>
                </a:rPr>
                <a:t>x</a:t>
              </a:r>
              <a:r>
                <a:rPr lang="en-US" altLang="zh-CN" sz="2800" i="1" baseline="-25000" dirty="0">
                  <a:latin typeface="Times New Roman" panose="02020603050405020304" pitchFamily="18" charset="0"/>
                </a:rPr>
                <a:t>n</a:t>
              </a:r>
            </a:p>
          </p:txBody>
        </p:sp>
        <p:sp>
          <p:nvSpPr>
            <p:cNvPr id="8213" name="Text Box 21"/>
            <p:cNvSpPr txBox="1">
              <a:spLocks noChangeArrowheads="1"/>
            </p:cNvSpPr>
            <p:nvPr/>
          </p:nvSpPr>
          <p:spPr bwMode="auto">
            <a:xfrm>
              <a:off x="552" y="1308"/>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p>
          </p:txBody>
        </p:sp>
        <p:sp>
          <p:nvSpPr>
            <p:cNvPr id="11281" name="Line 22"/>
            <p:cNvSpPr/>
            <p:nvPr/>
          </p:nvSpPr>
          <p:spPr>
            <a:xfrm>
              <a:off x="2049" y="1342"/>
              <a:ext cx="485" cy="0"/>
            </a:xfrm>
            <a:prstGeom prst="line">
              <a:avLst/>
            </a:prstGeom>
            <a:ln w="19050" cap="flat" cmpd="sng">
              <a:solidFill>
                <a:schemeClr val="tx1"/>
              </a:solidFill>
              <a:prstDash val="solid"/>
              <a:headEnd type="none" w="med" len="med"/>
              <a:tailEnd type="triangle" w="sm" len="lg"/>
            </a:ln>
          </p:spPr>
        </p:sp>
        <p:sp>
          <p:nvSpPr>
            <p:cNvPr id="11282" name="Line 23"/>
            <p:cNvSpPr/>
            <p:nvPr/>
          </p:nvSpPr>
          <p:spPr>
            <a:xfrm>
              <a:off x="2049" y="1556"/>
              <a:ext cx="475" cy="0"/>
            </a:xfrm>
            <a:prstGeom prst="line">
              <a:avLst/>
            </a:prstGeom>
            <a:ln w="19050" cap="flat" cmpd="sng">
              <a:solidFill>
                <a:schemeClr val="tx1"/>
              </a:solidFill>
              <a:prstDash val="solid"/>
              <a:headEnd type="none" w="med" len="med"/>
              <a:tailEnd type="triangle" w="sm" len="lg"/>
            </a:ln>
          </p:spPr>
        </p:sp>
        <p:sp>
          <p:nvSpPr>
            <p:cNvPr id="11283" name="Rectangle 24"/>
            <p:cNvSpPr/>
            <p:nvPr/>
          </p:nvSpPr>
          <p:spPr>
            <a:xfrm>
              <a:off x="2547" y="1361"/>
              <a:ext cx="313" cy="327"/>
            </a:xfrm>
            <a:prstGeom prst="rect">
              <a:avLst/>
            </a:prstGeom>
            <a:noFill/>
            <a:ln w="9525">
              <a:noFill/>
            </a:ln>
          </p:spPr>
          <p:txBody>
            <a:bodyPr wrap="none">
              <a:spAutoFit/>
            </a:bodyPr>
            <a:lstStyle/>
            <a:p>
              <a:r>
                <a:rPr lang="en-US" altLang="zh-CN" sz="2800" i="1" dirty="0">
                  <a:latin typeface="Times New Roman" panose="02020603050405020304" pitchFamily="18" charset="0"/>
                </a:rPr>
                <a:t>z</a:t>
              </a:r>
              <a:r>
                <a:rPr lang="en-US" altLang="zh-CN" sz="2800" i="1" baseline="-25000" dirty="0">
                  <a:latin typeface="Times New Roman" panose="02020603050405020304" pitchFamily="18" charset="0"/>
                </a:rPr>
                <a:t>m</a:t>
              </a:r>
            </a:p>
          </p:txBody>
        </p:sp>
        <p:sp>
          <p:nvSpPr>
            <p:cNvPr id="8217" name="Text Box 25"/>
            <p:cNvSpPr txBox="1">
              <a:spLocks noChangeArrowheads="1"/>
            </p:cNvSpPr>
            <p:nvPr/>
          </p:nvSpPr>
          <p:spPr bwMode="auto">
            <a:xfrm>
              <a:off x="2077" y="1319"/>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p>
          </p:txBody>
        </p:sp>
        <p:sp>
          <p:nvSpPr>
            <p:cNvPr id="11285" name="Freeform 26"/>
            <p:cNvSpPr/>
            <p:nvPr/>
          </p:nvSpPr>
          <p:spPr>
            <a:xfrm>
              <a:off x="784" y="1747"/>
              <a:ext cx="289" cy="652"/>
            </a:xfrm>
            <a:custGeom>
              <a:avLst/>
              <a:gdLst>
                <a:gd name="txL" fmla="*/ 0 w 228"/>
                <a:gd name="txT" fmla="*/ 0 h 652"/>
                <a:gd name="txR" fmla="*/ 228 w 228"/>
                <a:gd name="txB" fmla="*/ 652 h 652"/>
              </a:gdLst>
              <a:ahLst/>
              <a:cxnLst>
                <a:cxn ang="0">
                  <a:pos x="366" y="652"/>
                </a:cxn>
                <a:cxn ang="0">
                  <a:pos x="0" y="652"/>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lstStyle/>
            <a:p>
              <a:endParaRPr lang="zh-CN" altLang="en-US"/>
            </a:p>
          </p:txBody>
        </p:sp>
        <p:sp>
          <p:nvSpPr>
            <p:cNvPr id="11286" name="Freeform 27"/>
            <p:cNvSpPr/>
            <p:nvPr/>
          </p:nvSpPr>
          <p:spPr>
            <a:xfrm>
              <a:off x="603" y="1664"/>
              <a:ext cx="470" cy="1025"/>
            </a:xfrm>
            <a:custGeom>
              <a:avLst/>
              <a:gdLst>
                <a:gd name="txL" fmla="*/ 0 w 371"/>
                <a:gd name="txT" fmla="*/ 0 h 1025"/>
                <a:gd name="txR" fmla="*/ 371 w 371"/>
                <a:gd name="txB" fmla="*/ 1025 h 1025"/>
              </a:gdLst>
              <a:ahLst/>
              <a:cxnLst>
                <a:cxn ang="0">
                  <a:pos x="595" y="1024"/>
                </a:cxn>
                <a:cxn ang="0">
                  <a:pos x="0" y="1025"/>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lstStyle/>
            <a:p>
              <a:endParaRPr lang="zh-CN" altLang="en-US"/>
            </a:p>
          </p:txBody>
        </p:sp>
        <p:sp>
          <p:nvSpPr>
            <p:cNvPr id="11287" name="Freeform 28"/>
            <p:cNvSpPr/>
            <p:nvPr/>
          </p:nvSpPr>
          <p:spPr>
            <a:xfrm flipH="1" flipV="1">
              <a:off x="2070" y="1737"/>
              <a:ext cx="289" cy="652"/>
            </a:xfrm>
            <a:custGeom>
              <a:avLst/>
              <a:gdLst>
                <a:gd name="txL" fmla="*/ 0 w 228"/>
                <a:gd name="txT" fmla="*/ 0 h 652"/>
                <a:gd name="txR" fmla="*/ 228 w 228"/>
                <a:gd name="txB" fmla="*/ 652 h 652"/>
              </a:gdLst>
              <a:ahLst/>
              <a:cxnLst>
                <a:cxn ang="0">
                  <a:pos x="366" y="652"/>
                </a:cxn>
                <a:cxn ang="0">
                  <a:pos x="0" y="652"/>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lstStyle/>
            <a:p>
              <a:endParaRPr lang="zh-CN" altLang="en-US"/>
            </a:p>
          </p:txBody>
        </p:sp>
        <p:sp>
          <p:nvSpPr>
            <p:cNvPr id="11288" name="Freeform 29"/>
            <p:cNvSpPr/>
            <p:nvPr/>
          </p:nvSpPr>
          <p:spPr>
            <a:xfrm flipH="1" flipV="1">
              <a:off x="2073" y="1664"/>
              <a:ext cx="470" cy="1025"/>
            </a:xfrm>
            <a:custGeom>
              <a:avLst/>
              <a:gdLst>
                <a:gd name="txL" fmla="*/ 0 w 371"/>
                <a:gd name="txT" fmla="*/ 0 h 1025"/>
                <a:gd name="txR" fmla="*/ 371 w 371"/>
                <a:gd name="txB" fmla="*/ 1025 h 1025"/>
              </a:gdLst>
              <a:ahLst/>
              <a:cxnLst>
                <a:cxn ang="0">
                  <a:pos x="595" y="1024"/>
                </a:cxn>
                <a:cxn ang="0">
                  <a:pos x="0" y="1025"/>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lstStyle/>
            <a:p>
              <a:endParaRPr lang="zh-CN" altLang="en-US"/>
            </a:p>
          </p:txBody>
        </p:sp>
        <p:sp>
          <p:nvSpPr>
            <p:cNvPr id="8222" name="Text Box 30"/>
            <p:cNvSpPr txBox="1">
              <a:spLocks noChangeArrowheads="1"/>
            </p:cNvSpPr>
            <p:nvPr/>
          </p:nvSpPr>
          <p:spPr bwMode="auto">
            <a:xfrm>
              <a:off x="713" y="2414"/>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p>
          </p:txBody>
        </p:sp>
        <p:sp>
          <p:nvSpPr>
            <p:cNvPr id="8223" name="Text Box 31"/>
            <p:cNvSpPr txBox="1">
              <a:spLocks noChangeArrowheads="1"/>
            </p:cNvSpPr>
            <p:nvPr/>
          </p:nvSpPr>
          <p:spPr bwMode="auto">
            <a:xfrm>
              <a:off x="2115" y="2414"/>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p>
          </p:txBody>
        </p:sp>
        <p:sp>
          <p:nvSpPr>
            <p:cNvPr id="11291" name="Text Box 32"/>
            <p:cNvSpPr txBox="1"/>
            <p:nvPr/>
          </p:nvSpPr>
          <p:spPr>
            <a:xfrm>
              <a:off x="779" y="2051"/>
              <a:ext cx="274"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r</a:t>
              </a:r>
              <a:endParaRPr lang="en-US" altLang="zh-CN" sz="2800" dirty="0">
                <a:latin typeface="Times New Roman" panose="02020603050405020304" pitchFamily="18" charset="0"/>
              </a:endParaRPr>
            </a:p>
          </p:txBody>
        </p:sp>
        <p:sp>
          <p:nvSpPr>
            <p:cNvPr id="11292" name="Rectangle 33"/>
            <p:cNvSpPr/>
            <p:nvPr/>
          </p:nvSpPr>
          <p:spPr>
            <a:xfrm>
              <a:off x="346" y="2045"/>
              <a:ext cx="291"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p>
          </p:txBody>
        </p:sp>
        <p:sp>
          <p:nvSpPr>
            <p:cNvPr id="11293" name="Rectangle 34"/>
            <p:cNvSpPr/>
            <p:nvPr/>
          </p:nvSpPr>
          <p:spPr>
            <a:xfrm>
              <a:off x="2104" y="1966"/>
              <a:ext cx="317"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p>
          </p:txBody>
        </p:sp>
        <p:sp>
          <p:nvSpPr>
            <p:cNvPr id="11294" name="Text Box 35"/>
            <p:cNvSpPr txBox="1"/>
            <p:nvPr/>
          </p:nvSpPr>
          <p:spPr>
            <a:xfrm>
              <a:off x="2518" y="1980"/>
              <a:ext cx="283"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l</a:t>
              </a:r>
              <a:endParaRPr lang="en-US" altLang="zh-CN" sz="2800" dirty="0">
                <a:latin typeface="Times New Roman" panose="02020603050405020304" pitchFamily="18" charset="0"/>
              </a:endParaRPr>
            </a:p>
          </p:txBody>
        </p:sp>
        <p:sp>
          <p:nvSpPr>
            <p:cNvPr id="11295" name="Line 63"/>
            <p:cNvSpPr/>
            <p:nvPr/>
          </p:nvSpPr>
          <p:spPr>
            <a:xfrm flipV="1">
              <a:off x="1521" y="2782"/>
              <a:ext cx="0" cy="342"/>
            </a:xfrm>
            <a:prstGeom prst="line">
              <a:avLst/>
            </a:prstGeom>
            <a:ln w="19050" cap="flat" cmpd="sng">
              <a:solidFill>
                <a:schemeClr val="tx1"/>
              </a:solidFill>
              <a:prstDash val="solid"/>
              <a:headEnd type="none" w="med" len="med"/>
              <a:tailEnd type="triangle" w="sm" len="lg"/>
            </a:ln>
          </p:spPr>
        </p:sp>
        <p:sp>
          <p:nvSpPr>
            <p:cNvPr id="11296" name="Text Box 64"/>
            <p:cNvSpPr txBox="1"/>
            <p:nvPr/>
          </p:nvSpPr>
          <p:spPr>
            <a:xfrm>
              <a:off x="1507" y="2883"/>
              <a:ext cx="564" cy="327"/>
            </a:xfrm>
            <a:prstGeom prst="rect">
              <a:avLst/>
            </a:prstGeom>
            <a:noFill/>
            <a:ln w="19050">
              <a:noFill/>
            </a:ln>
          </p:spPr>
          <p:txBody>
            <a:bodyPr wrap="none">
              <a:spAutoFit/>
            </a:bodyPr>
            <a:lstStyle/>
            <a:p>
              <a:r>
                <a:rPr lang="zh-CN" altLang="en-US" sz="2800" dirty="0">
                  <a:latin typeface="Times New Roman" panose="02020603050405020304" pitchFamily="18" charset="0"/>
                </a:rPr>
                <a:t>时钟</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228">
                                            <p:txEl>
                                              <p:pRg st="0" end="0"/>
                                            </p:txEl>
                                          </p:spTgt>
                                        </p:tgtEl>
                                        <p:attrNameLst>
                                          <p:attrName>style.visibility</p:attrName>
                                        </p:attrNameLst>
                                      </p:cBhvr>
                                      <p:to>
                                        <p:strVal val="visible"/>
                                      </p:to>
                                    </p:set>
                                    <p:animEffect transition="in" filter="wipe(left)">
                                      <p:cBhvr>
                                        <p:cTn id="11" dur="500"/>
                                        <p:tgtEl>
                                          <p:spTgt spid="8228">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8254">
                                            <p:txEl>
                                              <p:pRg st="0" end="0"/>
                                            </p:txEl>
                                          </p:spTgt>
                                        </p:tgtEl>
                                        <p:attrNameLst>
                                          <p:attrName>style.visibility</p:attrName>
                                        </p:attrNameLst>
                                      </p:cBhvr>
                                      <p:to>
                                        <p:strVal val="visible"/>
                                      </p:to>
                                    </p:set>
                                    <p:animEffect transition="in" filter="wipe(left)">
                                      <p:cBhvr>
                                        <p:cTn id="20" dur="500"/>
                                        <p:tgtEl>
                                          <p:spTgt spid="82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8" grpId="0" build="p" advAuto="1000"/>
      <p:bldP spid="8254" grpId="0" build="p" advAuto="100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2"/>
          <p:cNvGraphicFramePr>
            <a:graphicFrameLocks noGrp="1" noChangeAspect="1"/>
          </p:cNvGraphicFramePr>
          <p:nvPr>
            <p:ph sz="half" idx="1"/>
          </p:nvPr>
        </p:nvGraphicFramePr>
        <p:xfrm>
          <a:off x="1493838" y="560388"/>
          <a:ext cx="6048375" cy="2000250"/>
        </p:xfrm>
        <a:graphic>
          <a:graphicData uri="http://schemas.openxmlformats.org/presentationml/2006/ole">
            <mc:AlternateContent xmlns:mc="http://schemas.openxmlformats.org/markup-compatibility/2006">
              <mc:Choice xmlns:v="urn:schemas-microsoft-com:vml" Requires="v">
                <p:oleObj r:id="rId2" imgW="3268980" imgH="1082040" progId="Visio.Drawing.4">
                  <p:embed/>
                </p:oleObj>
              </mc:Choice>
              <mc:Fallback>
                <p:oleObj r:id="rId2" imgW="3268980" imgH="1082040" progId="Visio.Drawing.4">
                  <p:embed/>
                  <p:pic>
                    <p:nvPicPr>
                      <p:cNvPr id="0" name="图片 3075"/>
                      <p:cNvPicPr/>
                      <p:nvPr/>
                    </p:nvPicPr>
                    <p:blipFill>
                      <a:blip r:embed="rId3"/>
                      <a:srcRect/>
                      <a:stretch>
                        <a:fillRect/>
                      </a:stretch>
                    </p:blipFill>
                    <p:spPr>
                      <a:xfrm>
                        <a:off x="1493838" y="560388"/>
                        <a:ext cx="6048375" cy="2000250"/>
                      </a:xfrm>
                      <a:prstGeom prst="rect">
                        <a:avLst/>
                      </a:prstGeom>
                      <a:noFill/>
                      <a:ln w="38100">
                        <a:miter/>
                      </a:ln>
                    </p:spPr>
                  </p:pic>
                </p:oleObj>
              </mc:Fallback>
            </mc:AlternateContent>
          </a:graphicData>
        </a:graphic>
      </p:graphicFrame>
      <p:sp>
        <p:nvSpPr>
          <p:cNvPr id="12291" name="Rectangle 7"/>
          <p:cNvSpPr/>
          <p:nvPr/>
        </p:nvSpPr>
        <p:spPr>
          <a:xfrm>
            <a:off x="3078163" y="2935288"/>
            <a:ext cx="3232150" cy="457200"/>
          </a:xfrm>
          <a:prstGeom prst="rect">
            <a:avLst/>
          </a:prstGeom>
          <a:noFill/>
          <a:ln w="9525">
            <a:noFill/>
          </a:ln>
        </p:spPr>
        <p:txBody>
          <a:bodyPr wrap="none">
            <a:spAutoFit/>
          </a:bodyPr>
          <a:lstStyle/>
          <a:p>
            <a:pPr algn="ctr"/>
            <a:r>
              <a:rPr lang="zh-CN" altLang="en-US" sz="2400" dirty="0">
                <a:latin typeface="Times New Roman" panose="02020603050405020304" pitchFamily="18" charset="0"/>
              </a:rPr>
              <a:t>同步二进制加法计数器</a:t>
            </a:r>
          </a:p>
        </p:txBody>
      </p:sp>
      <p:graphicFrame>
        <p:nvGraphicFramePr>
          <p:cNvPr id="12292" name="Object 3"/>
          <p:cNvGraphicFramePr>
            <a:graphicFrameLocks noGrp="1" noChangeAspect="1"/>
          </p:cNvGraphicFramePr>
          <p:nvPr>
            <p:ph sz="half" idx="2"/>
          </p:nvPr>
        </p:nvGraphicFramePr>
        <p:xfrm>
          <a:off x="1668463" y="3568700"/>
          <a:ext cx="5940425" cy="2173288"/>
        </p:xfrm>
        <a:graphic>
          <a:graphicData uri="http://schemas.openxmlformats.org/presentationml/2006/ole">
            <mc:AlternateContent xmlns:mc="http://schemas.openxmlformats.org/markup-compatibility/2006">
              <mc:Choice xmlns:v="urn:schemas-microsoft-com:vml" Requires="v">
                <p:oleObj r:id="rId4" imgW="2781300" imgH="1021080" progId="Visio.Drawing.4">
                  <p:embed/>
                </p:oleObj>
              </mc:Choice>
              <mc:Fallback>
                <p:oleObj r:id="rId4" imgW="2781300" imgH="1021080" progId="Visio.Drawing.4">
                  <p:embed/>
                  <p:pic>
                    <p:nvPicPr>
                      <p:cNvPr id="0" name="图片 3076"/>
                      <p:cNvPicPr/>
                      <p:nvPr/>
                    </p:nvPicPr>
                    <p:blipFill>
                      <a:blip r:embed="rId5"/>
                      <a:srcRect/>
                      <a:stretch>
                        <a:fillRect/>
                      </a:stretch>
                    </p:blipFill>
                    <p:spPr>
                      <a:xfrm>
                        <a:off x="1668463" y="3568700"/>
                        <a:ext cx="5940425" cy="2173288"/>
                      </a:xfrm>
                      <a:prstGeom prst="rect">
                        <a:avLst/>
                      </a:prstGeom>
                      <a:noFill/>
                      <a:ln w="38100">
                        <a:miter/>
                      </a:ln>
                    </p:spPr>
                  </p:pic>
                </p:oleObj>
              </mc:Fallback>
            </mc:AlternateContent>
          </a:graphicData>
        </a:graphic>
      </p:graphicFrame>
      <p:sp>
        <p:nvSpPr>
          <p:cNvPr id="12293" name="Rectangle 11"/>
          <p:cNvSpPr/>
          <p:nvPr/>
        </p:nvSpPr>
        <p:spPr>
          <a:xfrm>
            <a:off x="2605088" y="5945188"/>
            <a:ext cx="3232150" cy="457200"/>
          </a:xfrm>
          <a:prstGeom prst="rect">
            <a:avLst/>
          </a:prstGeom>
          <a:noFill/>
          <a:ln w="9525">
            <a:noFill/>
          </a:ln>
        </p:spPr>
        <p:txBody>
          <a:bodyPr wrap="none">
            <a:spAutoFit/>
          </a:bodyPr>
          <a:lstStyle/>
          <a:p>
            <a:pPr algn="ctr"/>
            <a:r>
              <a:rPr lang="zh-CN" altLang="en-US" sz="2400" dirty="0">
                <a:latin typeface="Times New Roman" panose="02020603050405020304" pitchFamily="18" charset="0"/>
              </a:rPr>
              <a:t>异步二进制加法计数器</a:t>
            </a:r>
          </a:p>
        </p:txBody>
      </p:sp>
    </p:spTree>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9" name="Rectangle 3"/>
          <p:cNvSpPr>
            <a:spLocks noGrp="1"/>
          </p:cNvSpPr>
          <p:nvPr>
            <p:ph type="body"/>
          </p:nvPr>
        </p:nvSpPr>
        <p:spPr>
          <a:xfrm>
            <a:off x="539750" y="765175"/>
            <a:ext cx="8042275" cy="1573213"/>
          </a:xfrm>
        </p:spPr>
        <p:txBody>
          <a:bodyPr vert="horz" wrap="square" lIns="91440" tIns="45720" rIns="91440" bIns="45720" anchor="t" anchorCtr="0"/>
          <a:lstStyle/>
          <a:p>
            <a:pPr eaLnBrk="1" hangingPunct="1">
              <a:buNone/>
            </a:pPr>
            <a:r>
              <a:rPr lang="zh-CN" altLang="en-US" sz="2800" b="1" dirty="0">
                <a:solidFill>
                  <a:schemeClr val="tx2"/>
                </a:solidFill>
                <a:latin typeface="楷体_GB2312" panose="02010609030101010101" pitchFamily="49" charset="-122"/>
                <a:ea typeface="楷体_GB2312" panose="02010609030101010101" pitchFamily="49" charset="-122"/>
              </a:rPr>
              <a:t>2）按照电路输出与输入是否直接相关</a:t>
            </a:r>
          </a:p>
          <a:p>
            <a:pPr eaLnBrk="1" hangingPunct="1">
              <a:buNone/>
            </a:pPr>
            <a:r>
              <a:rPr lang="zh-CN" altLang="en-US" sz="2800" b="1" dirty="0">
                <a:latin typeface="楷体_GB2312" panose="02010609030101010101" pitchFamily="49" charset="-122"/>
                <a:ea typeface="楷体_GB2312" panose="02010609030101010101" pitchFamily="49" charset="-122"/>
              </a:rPr>
              <a:t>   </a:t>
            </a:r>
            <a:r>
              <a:rPr lang="en-US" altLang="zh-CN" sz="2800" dirty="0">
                <a:latin typeface="楷体_GB2312" panose="02010609030101010101" pitchFamily="49" charset="-122"/>
                <a:ea typeface="楷体_GB2312" panose="02010609030101010101" pitchFamily="49" charset="-122"/>
              </a:rPr>
              <a:t>Mealy</a:t>
            </a:r>
            <a:r>
              <a:rPr lang="zh-CN" altLang="en-US" sz="2800" dirty="0">
                <a:latin typeface="楷体_GB2312" panose="02010609030101010101" pitchFamily="49" charset="-122"/>
                <a:ea typeface="楷体_GB2312" panose="02010609030101010101" pitchFamily="49" charset="-122"/>
              </a:rPr>
              <a:t>型和</a:t>
            </a:r>
            <a:r>
              <a:rPr lang="en-US" altLang="zh-CN" sz="2800" dirty="0">
                <a:latin typeface="楷体_GB2312" panose="02010609030101010101" pitchFamily="49" charset="-122"/>
                <a:ea typeface="楷体_GB2312" panose="02010609030101010101" pitchFamily="49" charset="-122"/>
              </a:rPr>
              <a:t>Moore</a:t>
            </a:r>
            <a:r>
              <a:rPr lang="zh-CN" altLang="en-US" sz="2800" dirty="0">
                <a:latin typeface="楷体_GB2312" panose="02010609030101010101" pitchFamily="49" charset="-122"/>
                <a:ea typeface="楷体_GB2312" panose="02010609030101010101" pitchFamily="49" charset="-122"/>
              </a:rPr>
              <a:t>型</a:t>
            </a:r>
          </a:p>
          <a:p>
            <a:pPr eaLnBrk="1" hangingPunct="1">
              <a:buNone/>
            </a:pPr>
            <a:r>
              <a:rPr lang="zh-CN" altLang="en-US" sz="2800" dirty="0">
                <a:latin typeface="楷体_GB2312" panose="02010609030101010101" pitchFamily="49" charset="-122"/>
                <a:ea typeface="楷体_GB2312" panose="02010609030101010101" pitchFamily="49" charset="-122"/>
              </a:rPr>
              <a:t>   </a:t>
            </a:r>
            <a:endParaRPr lang="zh-CN" altLang="en-US" sz="2800" dirty="0"/>
          </a:p>
        </p:txBody>
      </p:sp>
      <p:sp>
        <p:nvSpPr>
          <p:cNvPr id="57347" name="Rectangle 3"/>
          <p:cNvSpPr/>
          <p:nvPr/>
        </p:nvSpPr>
        <p:spPr>
          <a:xfrm>
            <a:off x="1217613" y="4654550"/>
            <a:ext cx="7278687" cy="822325"/>
          </a:xfrm>
          <a:prstGeom prst="rect">
            <a:avLst/>
          </a:prstGeom>
          <a:noFill/>
          <a:ln w="9525">
            <a:noFill/>
          </a:ln>
        </p:spPr>
        <p:txBody>
          <a:bodyPr>
            <a:spAutoFit/>
          </a:bodyPr>
          <a:lstStyle/>
          <a:p>
            <a:r>
              <a:rPr lang="zh-CN" altLang="en-US" sz="2400" b="1" dirty="0">
                <a:solidFill>
                  <a:srgbClr val="000000"/>
                </a:solidFill>
                <a:latin typeface="Arial" panose="020B0604020202020204" pitchFamily="34" charset="0"/>
              </a:rPr>
              <a:t>        输出状态仅与存储电路的</a:t>
            </a:r>
            <a:r>
              <a:rPr lang="zh-CN" altLang="en-US" sz="2400" b="1" dirty="0">
                <a:solidFill>
                  <a:srgbClr val="FF0000"/>
                </a:solidFill>
                <a:latin typeface="Arial" panose="020B0604020202020204" pitchFamily="34" charset="0"/>
              </a:rPr>
              <a:t>状态</a:t>
            </a:r>
            <a:r>
              <a:rPr lang="en-US" altLang="zh-CN" sz="2400" b="1" dirty="0">
                <a:solidFill>
                  <a:srgbClr val="FF0000"/>
                </a:solidFill>
                <a:latin typeface="Arial" panose="020B0604020202020204" pitchFamily="34" charset="0"/>
              </a:rPr>
              <a:t>Q</a:t>
            </a:r>
            <a:r>
              <a:rPr lang="zh-CN" altLang="en-US" sz="2400" b="1" dirty="0">
                <a:solidFill>
                  <a:srgbClr val="000000"/>
                </a:solidFill>
                <a:latin typeface="Arial" panose="020B0604020202020204" pitchFamily="34" charset="0"/>
              </a:rPr>
              <a:t>有关，而与输入</a:t>
            </a:r>
            <a:r>
              <a:rPr lang="en-US" altLang="zh-CN" sz="2400" b="1" dirty="0">
                <a:solidFill>
                  <a:srgbClr val="000000"/>
                </a:solidFill>
                <a:latin typeface="Arial" panose="020B0604020202020204" pitchFamily="34" charset="0"/>
              </a:rPr>
              <a:t>X</a:t>
            </a:r>
            <a:r>
              <a:rPr lang="zh-CN" altLang="en-US" sz="2400" b="1" dirty="0">
                <a:solidFill>
                  <a:srgbClr val="000000"/>
                </a:solidFill>
                <a:latin typeface="Arial" panose="020B0604020202020204" pitchFamily="34" charset="0"/>
              </a:rPr>
              <a:t>无直接关系</a:t>
            </a:r>
            <a:r>
              <a:rPr lang="zh-CN" altLang="en-US" sz="2400" b="1" dirty="0">
                <a:solidFill>
                  <a:srgbClr val="000000"/>
                </a:solidFill>
                <a:latin typeface="宋体" panose="02010600030101010101" pitchFamily="2" charset="-122"/>
              </a:rPr>
              <a:t>。</a:t>
            </a:r>
          </a:p>
        </p:txBody>
      </p:sp>
      <p:sp>
        <p:nvSpPr>
          <p:cNvPr id="57350" name="Text Box 6"/>
          <p:cNvSpPr txBox="1"/>
          <p:nvPr/>
        </p:nvSpPr>
        <p:spPr>
          <a:xfrm>
            <a:off x="1108075" y="2170113"/>
            <a:ext cx="2736850" cy="457200"/>
          </a:xfrm>
          <a:prstGeom prst="rect">
            <a:avLst/>
          </a:prstGeom>
          <a:noFill/>
          <a:ln w="9525">
            <a:noFill/>
          </a:ln>
        </p:spPr>
        <p:txBody>
          <a:bodyPr>
            <a:spAutoFit/>
          </a:bodyPr>
          <a:lstStyle/>
          <a:p>
            <a:pPr>
              <a:spcBef>
                <a:spcPct val="50000"/>
              </a:spcBef>
            </a:pPr>
            <a:r>
              <a:rPr lang="zh-CN" altLang="en-US" sz="2400" b="1" dirty="0">
                <a:latin typeface="Arial" panose="020B0604020202020204" pitchFamily="34" charset="0"/>
              </a:rPr>
              <a:t>米里（</a:t>
            </a:r>
            <a:r>
              <a:rPr lang="en-US" altLang="zh-CN" sz="2400" b="1" dirty="0">
                <a:latin typeface="Arial" panose="020B0604020202020204" pitchFamily="34" charset="0"/>
              </a:rPr>
              <a:t>Mealy</a:t>
            </a:r>
            <a:r>
              <a:rPr lang="zh-CN" altLang="en-US" sz="2400" b="1" dirty="0">
                <a:latin typeface="Arial" panose="020B0604020202020204" pitchFamily="34" charset="0"/>
              </a:rPr>
              <a:t>）型</a:t>
            </a:r>
          </a:p>
        </p:txBody>
      </p:sp>
      <p:sp>
        <p:nvSpPr>
          <p:cNvPr id="57351" name="Text Box 7"/>
          <p:cNvSpPr txBox="1"/>
          <p:nvPr/>
        </p:nvSpPr>
        <p:spPr>
          <a:xfrm>
            <a:off x="1216025" y="4075113"/>
            <a:ext cx="2736850" cy="457200"/>
          </a:xfrm>
          <a:prstGeom prst="rect">
            <a:avLst/>
          </a:prstGeom>
          <a:noFill/>
          <a:ln w="9525">
            <a:noFill/>
          </a:ln>
        </p:spPr>
        <p:txBody>
          <a:bodyPr>
            <a:spAutoFit/>
          </a:bodyPr>
          <a:lstStyle/>
          <a:p>
            <a:pPr>
              <a:spcBef>
                <a:spcPct val="50000"/>
              </a:spcBef>
            </a:pPr>
            <a:r>
              <a:rPr lang="zh-CN" altLang="en-US" sz="2400" b="1" dirty="0">
                <a:latin typeface="Arial" panose="020B0604020202020204" pitchFamily="34" charset="0"/>
              </a:rPr>
              <a:t>摩尔（</a:t>
            </a:r>
            <a:r>
              <a:rPr lang="en-US" altLang="zh-CN" sz="2400" b="1" dirty="0">
                <a:latin typeface="Arial" panose="020B0604020202020204" pitchFamily="34" charset="0"/>
              </a:rPr>
              <a:t>Moore</a:t>
            </a:r>
            <a:r>
              <a:rPr lang="zh-CN" altLang="en-US" sz="2400" b="1" dirty="0">
                <a:latin typeface="Arial" panose="020B0604020202020204" pitchFamily="34" charset="0"/>
              </a:rPr>
              <a:t>）型</a:t>
            </a:r>
          </a:p>
        </p:txBody>
      </p:sp>
      <p:sp>
        <p:nvSpPr>
          <p:cNvPr id="57352" name="Rectangle 8"/>
          <p:cNvSpPr/>
          <p:nvPr/>
        </p:nvSpPr>
        <p:spPr>
          <a:xfrm>
            <a:off x="1244600" y="2673350"/>
            <a:ext cx="7480300" cy="822325"/>
          </a:xfrm>
          <a:prstGeom prst="rect">
            <a:avLst/>
          </a:prstGeom>
          <a:noFill/>
          <a:ln w="9525">
            <a:noFill/>
          </a:ln>
        </p:spPr>
        <p:txBody>
          <a:bodyPr>
            <a:spAutoFit/>
          </a:bodyPr>
          <a:lstStyle/>
          <a:p>
            <a:r>
              <a:rPr lang="zh-CN" altLang="en-US" sz="2400" b="1" dirty="0">
                <a:solidFill>
                  <a:srgbClr val="000000"/>
                </a:solidFill>
                <a:latin typeface="宋体" panose="02010600030101010101" pitchFamily="2" charset="-122"/>
              </a:rPr>
              <a:t>    输出状态不仅与存储电路的</a:t>
            </a:r>
            <a:r>
              <a:rPr lang="zh-CN" altLang="en-US" sz="2400" b="1" dirty="0">
                <a:solidFill>
                  <a:srgbClr val="FF0000"/>
                </a:solidFill>
                <a:latin typeface="宋体" panose="02010600030101010101" pitchFamily="2" charset="-122"/>
              </a:rPr>
              <a:t>状态</a:t>
            </a:r>
            <a:r>
              <a:rPr lang="en-US" altLang="zh-CN" sz="2400" b="1" dirty="0">
                <a:solidFill>
                  <a:srgbClr val="FF0000"/>
                </a:solidFill>
                <a:latin typeface="宋体" panose="02010600030101010101" pitchFamily="2" charset="-122"/>
              </a:rPr>
              <a:t>Q</a:t>
            </a:r>
            <a:r>
              <a:rPr lang="zh-CN" altLang="en-US" sz="2400" b="1" dirty="0">
                <a:solidFill>
                  <a:srgbClr val="000000"/>
                </a:solidFill>
                <a:latin typeface="宋体" panose="02010600030101010101" pitchFamily="2" charset="-122"/>
              </a:rPr>
              <a:t>有关，而且与外部</a:t>
            </a:r>
            <a:r>
              <a:rPr lang="zh-CN" altLang="en-US" sz="2400" b="1" dirty="0">
                <a:solidFill>
                  <a:srgbClr val="FF0000"/>
                </a:solidFill>
                <a:latin typeface="宋体" panose="02010600030101010101" pitchFamily="2" charset="-122"/>
              </a:rPr>
              <a:t>输入</a:t>
            </a:r>
            <a:r>
              <a:rPr lang="en-US" altLang="zh-CN" sz="2400" b="1" dirty="0">
                <a:solidFill>
                  <a:srgbClr val="FF0000"/>
                </a:solidFill>
                <a:latin typeface="宋体" panose="02010600030101010101" pitchFamily="2" charset="-122"/>
              </a:rPr>
              <a:t>X</a:t>
            </a:r>
            <a:r>
              <a:rPr lang="zh-CN" altLang="en-US" sz="2400" b="1" dirty="0">
                <a:solidFill>
                  <a:srgbClr val="000000"/>
                </a:solidFill>
                <a:latin typeface="宋体" panose="02010600030101010101" pitchFamily="2" charset="-122"/>
              </a:rPr>
              <a:t>也有关。</a:t>
            </a:r>
          </a:p>
        </p:txBody>
      </p:sp>
      <p:sp>
        <p:nvSpPr>
          <p:cNvPr id="6150" name="Rectangle 6"/>
          <p:cNvSpPr/>
          <p:nvPr/>
        </p:nvSpPr>
        <p:spPr>
          <a:xfrm>
            <a:off x="1592263" y="3521075"/>
            <a:ext cx="6227762" cy="519113"/>
          </a:xfrm>
          <a:prstGeom prst="rect">
            <a:avLst/>
          </a:prstGeom>
          <a:noFill/>
          <a:ln w="9525">
            <a:noFill/>
          </a:ln>
        </p:spPr>
        <p:txBody>
          <a:bodyPr wrap="none">
            <a:spAutoFit/>
          </a:bodyPr>
          <a:lstStyle/>
          <a:p>
            <a:r>
              <a:rPr lang="en-US" altLang="zh-CN" sz="2800" b="1" i="1" dirty="0">
                <a:solidFill>
                  <a:srgbClr val="3333FF"/>
                </a:solidFill>
                <a:latin typeface="Times New Roman" panose="02020603050405020304" pitchFamily="18" charset="0"/>
              </a:rPr>
              <a:t>Z</a:t>
            </a:r>
            <a:r>
              <a:rPr lang="en-US" altLang="zh-CN" sz="2800" b="1" i="1" baseline="-25000" dirty="0">
                <a:solidFill>
                  <a:srgbClr val="3333FF"/>
                </a:solidFill>
                <a:latin typeface="Times New Roman" panose="02020603050405020304" pitchFamily="18" charset="0"/>
              </a:rPr>
              <a:t>i</a:t>
            </a:r>
            <a:r>
              <a:rPr lang="en-US" altLang="zh-CN" sz="2800" b="1" i="1" dirty="0">
                <a:solidFill>
                  <a:srgbClr val="3333FF"/>
                </a:solidFill>
                <a:latin typeface="Times New Roman" panose="02020603050405020304" pitchFamily="18" charset="0"/>
              </a:rPr>
              <a:t>= f</a:t>
            </a:r>
            <a:r>
              <a:rPr lang="en-US" altLang="zh-CN" sz="2800" b="1" i="1" baseline="-25000" dirty="0">
                <a:solidFill>
                  <a:srgbClr val="3333FF"/>
                </a:solidFill>
                <a:latin typeface="Times New Roman" panose="02020603050405020304" pitchFamily="18" charset="0"/>
              </a:rPr>
              <a:t>i</a:t>
            </a:r>
            <a:r>
              <a:rPr lang="en-US" altLang="zh-CN" sz="2800" b="1" i="1" dirty="0">
                <a:solidFill>
                  <a:srgbClr val="3333FF"/>
                </a:solidFill>
                <a:latin typeface="Times New Roman" panose="02020603050405020304" pitchFamily="18" charset="0"/>
              </a:rPr>
              <a:t> (x</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x</a:t>
            </a:r>
            <a:r>
              <a:rPr lang="en-US" altLang="zh-CN" sz="2800" b="1" i="1" baseline="-25000" dirty="0">
                <a:solidFill>
                  <a:srgbClr val="3333FF"/>
                </a:solidFill>
                <a:latin typeface="Times New Roman" panose="02020603050405020304" pitchFamily="18" charset="0"/>
              </a:rPr>
              <a:t>n </a:t>
            </a:r>
            <a:r>
              <a:rPr lang="en-US" altLang="zh-CN" sz="2800" b="1" i="1" dirty="0">
                <a:solidFill>
                  <a:srgbClr val="3333FF"/>
                </a:solidFill>
                <a:latin typeface="Times New Roman" panose="02020603050405020304" pitchFamily="18" charset="0"/>
              </a:rPr>
              <a:t>; y</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y</a:t>
            </a:r>
            <a:r>
              <a:rPr lang="en-US" altLang="zh-CN" sz="2800" b="1" i="1" baseline="-25000" dirty="0">
                <a:solidFill>
                  <a:srgbClr val="3333FF"/>
                </a:solidFill>
                <a:latin typeface="Times New Roman" panose="02020603050405020304" pitchFamily="18" charset="0"/>
              </a:rPr>
              <a:t>r </a:t>
            </a:r>
            <a:r>
              <a:rPr lang="en-US" altLang="zh-CN" sz="2800" b="1" i="1" dirty="0">
                <a:solidFill>
                  <a:srgbClr val="3333FF"/>
                </a:solidFill>
                <a:latin typeface="Times New Roman" panose="02020603050405020304" pitchFamily="18" charset="0"/>
              </a:rPr>
              <a:t>)</a:t>
            </a:r>
            <a:r>
              <a:rPr lang="en-US" altLang="zh-CN" sz="2800" b="1" i="1" baseline="-25000"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 i=1, …, m</a:t>
            </a:r>
          </a:p>
        </p:txBody>
      </p:sp>
      <p:sp>
        <p:nvSpPr>
          <p:cNvPr id="2" name="Rectangle 6"/>
          <p:cNvSpPr/>
          <p:nvPr/>
        </p:nvSpPr>
        <p:spPr>
          <a:xfrm>
            <a:off x="1725613" y="5713413"/>
            <a:ext cx="4457700" cy="519112"/>
          </a:xfrm>
          <a:prstGeom prst="rect">
            <a:avLst/>
          </a:prstGeom>
          <a:noFill/>
          <a:ln w="9525">
            <a:noFill/>
          </a:ln>
        </p:spPr>
        <p:txBody>
          <a:bodyPr wrap="none">
            <a:spAutoFit/>
          </a:bodyPr>
          <a:lstStyle/>
          <a:p>
            <a:r>
              <a:rPr lang="en-US" altLang="zh-CN" sz="2800" b="1" i="1" dirty="0">
                <a:solidFill>
                  <a:srgbClr val="3333FF"/>
                </a:solidFill>
                <a:latin typeface="Times New Roman" panose="02020603050405020304" pitchFamily="18" charset="0"/>
              </a:rPr>
              <a:t>Z</a:t>
            </a:r>
            <a:r>
              <a:rPr lang="en-US" altLang="zh-CN" sz="2800" b="1" i="1" baseline="-25000" dirty="0">
                <a:solidFill>
                  <a:srgbClr val="3333FF"/>
                </a:solidFill>
                <a:latin typeface="Times New Roman" panose="02020603050405020304" pitchFamily="18" charset="0"/>
              </a:rPr>
              <a:t>i</a:t>
            </a:r>
            <a:r>
              <a:rPr lang="en-US" altLang="zh-CN" sz="2800" b="1" i="1" dirty="0">
                <a:solidFill>
                  <a:srgbClr val="3333FF"/>
                </a:solidFill>
                <a:latin typeface="Times New Roman" panose="02020603050405020304" pitchFamily="18" charset="0"/>
              </a:rPr>
              <a:t>= f</a:t>
            </a:r>
            <a:r>
              <a:rPr lang="en-US" altLang="zh-CN" sz="2800" b="1" i="1" baseline="-25000" dirty="0">
                <a:solidFill>
                  <a:srgbClr val="3333FF"/>
                </a:solidFill>
                <a:latin typeface="Times New Roman" panose="02020603050405020304" pitchFamily="18" charset="0"/>
              </a:rPr>
              <a:t>i</a:t>
            </a:r>
            <a:r>
              <a:rPr lang="en-US" altLang="zh-CN" sz="2800" b="1" i="1" dirty="0">
                <a:solidFill>
                  <a:srgbClr val="3333FF"/>
                </a:solidFill>
                <a:latin typeface="Times New Roman" panose="02020603050405020304" pitchFamily="18" charset="0"/>
              </a:rPr>
              <a:t> (y</a:t>
            </a:r>
            <a:r>
              <a:rPr lang="en-US" altLang="zh-CN" sz="2800" b="1" i="1" baseline="-25000" dirty="0">
                <a:solidFill>
                  <a:srgbClr val="3333FF"/>
                </a:solidFill>
                <a:latin typeface="Times New Roman" panose="02020603050405020304" pitchFamily="18" charset="0"/>
              </a:rPr>
              <a:t>1</a:t>
            </a:r>
            <a:r>
              <a:rPr lang="en-US" altLang="zh-CN" sz="2800" b="1" i="1" dirty="0">
                <a:solidFill>
                  <a:srgbClr val="3333FF"/>
                </a:solidFill>
                <a:latin typeface="Times New Roman" panose="02020603050405020304" pitchFamily="18" charset="0"/>
              </a:rPr>
              <a:t>,…</a:t>
            </a:r>
            <a:r>
              <a:rPr lang="zh-CN" altLang="en-US" sz="2800" b="1" i="1"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y</a:t>
            </a:r>
            <a:r>
              <a:rPr lang="en-US" altLang="zh-CN" sz="2800" b="1" i="1" baseline="-25000" dirty="0">
                <a:solidFill>
                  <a:srgbClr val="3333FF"/>
                </a:solidFill>
                <a:latin typeface="Times New Roman" panose="02020603050405020304" pitchFamily="18" charset="0"/>
              </a:rPr>
              <a:t>r </a:t>
            </a:r>
            <a:r>
              <a:rPr lang="en-US" altLang="zh-CN" sz="2800" b="1" i="1" dirty="0">
                <a:solidFill>
                  <a:srgbClr val="3333FF"/>
                </a:solidFill>
                <a:latin typeface="Times New Roman" panose="02020603050405020304" pitchFamily="18" charset="0"/>
              </a:rPr>
              <a:t>)</a:t>
            </a:r>
            <a:r>
              <a:rPr lang="en-US" altLang="zh-CN" sz="2800" b="1" i="1" baseline="-25000" dirty="0">
                <a:solidFill>
                  <a:srgbClr val="3333FF"/>
                </a:solidFill>
                <a:latin typeface="Times New Roman" panose="02020603050405020304" pitchFamily="18" charset="0"/>
              </a:rPr>
              <a:t> </a:t>
            </a:r>
            <a:r>
              <a:rPr lang="en-US" altLang="zh-CN" sz="2800" b="1" i="1" dirty="0">
                <a:solidFill>
                  <a:srgbClr val="3333FF"/>
                </a:solidFill>
                <a:latin typeface="Times New Roman" panose="02020603050405020304" pitchFamily="18" charset="0"/>
              </a:rPr>
              <a:t>, i=1, …, m</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5139">
                                            <p:txEl>
                                              <p:pRg st="0" end="0"/>
                                            </p:txEl>
                                          </p:spTgt>
                                        </p:tgtEl>
                                        <p:attrNameLst>
                                          <p:attrName>style.visibility</p:attrName>
                                        </p:attrNameLst>
                                      </p:cBhvr>
                                      <p:to>
                                        <p:strVal val="visible"/>
                                      </p:to>
                                    </p:set>
                                    <p:animEffect transition="in" filter="dissolve">
                                      <p:cBhvr>
                                        <p:cTn id="7" dur="500"/>
                                        <p:tgtEl>
                                          <p:spTgt spid="475139">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75139">
                                            <p:txEl>
                                              <p:pRg st="1" end="1"/>
                                            </p:txEl>
                                          </p:spTgt>
                                        </p:tgtEl>
                                        <p:attrNameLst>
                                          <p:attrName>style.visibility</p:attrName>
                                        </p:attrNameLst>
                                      </p:cBhvr>
                                      <p:to>
                                        <p:strVal val="visible"/>
                                      </p:to>
                                    </p:set>
                                    <p:animEffect transition="in" filter="dissolve">
                                      <p:cBhvr>
                                        <p:cTn id="11" dur="500"/>
                                        <p:tgtEl>
                                          <p:spTgt spid="47513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475139">
                                            <p:txEl>
                                              <p:pRg st="2" end="2"/>
                                            </p:txEl>
                                          </p:spTgt>
                                        </p:tgtEl>
                                        <p:attrNameLst>
                                          <p:attrName>style.visibility</p:attrName>
                                        </p:attrNameLst>
                                      </p:cBhvr>
                                      <p:to>
                                        <p:strVal val="visible"/>
                                      </p:to>
                                    </p:set>
                                    <p:animEffect transition="in" filter="dissolve">
                                      <p:cBhvr>
                                        <p:cTn id="16" dur="500"/>
                                        <p:tgtEl>
                                          <p:spTgt spid="475139">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7350"/>
                                        </p:tgtEl>
                                        <p:attrNameLst>
                                          <p:attrName>style.visibility</p:attrName>
                                        </p:attrNameLst>
                                      </p:cBhvr>
                                      <p:to>
                                        <p:strVal val="visible"/>
                                      </p:to>
                                    </p:set>
                                    <p:animEffect transition="in" filter="wipe(left)">
                                      <p:cBhvr>
                                        <p:cTn id="21" dur="500"/>
                                        <p:tgtEl>
                                          <p:spTgt spid="57350"/>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57352"/>
                                        </p:tgtEl>
                                        <p:attrNameLst>
                                          <p:attrName>style.visibility</p:attrName>
                                        </p:attrNameLst>
                                      </p:cBhvr>
                                      <p:to>
                                        <p:strVal val="visible"/>
                                      </p:to>
                                    </p:set>
                                    <p:animEffect transition="in" filter="wipe(left)">
                                      <p:cBhvr>
                                        <p:cTn id="25" dur="500"/>
                                        <p:tgtEl>
                                          <p:spTgt spid="57352"/>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6150"/>
                                        </p:tgtEl>
                                        <p:attrNameLst>
                                          <p:attrName>style.visibility</p:attrName>
                                        </p:attrNameLst>
                                      </p:cBhvr>
                                      <p:to>
                                        <p:strVal val="visible"/>
                                      </p:to>
                                    </p:set>
                                    <p:anim calcmode="lin" valueType="num">
                                      <p:cBhvr additive="base">
                                        <p:cTn id="30" dur="500" fill="hold"/>
                                        <p:tgtEl>
                                          <p:spTgt spid="6150"/>
                                        </p:tgtEl>
                                        <p:attrNameLst>
                                          <p:attrName>ppt_x</p:attrName>
                                        </p:attrNameLst>
                                      </p:cBhvr>
                                      <p:tavLst>
                                        <p:tav tm="0">
                                          <p:val>
                                            <p:strVal val="#ppt_x"/>
                                          </p:val>
                                        </p:tav>
                                        <p:tav tm="100000">
                                          <p:val>
                                            <p:strVal val="#ppt_x"/>
                                          </p:val>
                                        </p:tav>
                                      </p:tavLst>
                                    </p:anim>
                                    <p:anim calcmode="lin" valueType="num">
                                      <p:cBhvr additive="base">
                                        <p:cTn id="31" dur="500" fill="hold"/>
                                        <p:tgtEl>
                                          <p:spTgt spid="6150"/>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7351"/>
                                        </p:tgtEl>
                                        <p:attrNameLst>
                                          <p:attrName>style.visibility</p:attrName>
                                        </p:attrNameLst>
                                      </p:cBhvr>
                                      <p:to>
                                        <p:strVal val="visible"/>
                                      </p:to>
                                    </p:set>
                                    <p:animEffect transition="in" filter="wipe(left)">
                                      <p:cBhvr>
                                        <p:cTn id="36" dur="500"/>
                                        <p:tgtEl>
                                          <p:spTgt spid="57351"/>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57347"/>
                                        </p:tgtEl>
                                        <p:attrNameLst>
                                          <p:attrName>style.visibility</p:attrName>
                                        </p:attrNameLst>
                                      </p:cBhvr>
                                      <p:to>
                                        <p:strVal val="visible"/>
                                      </p:to>
                                    </p:set>
                                    <p:animEffect transition="in" filter="wipe(left)">
                                      <p:cBhvr>
                                        <p:cTn id="40" dur="500"/>
                                        <p:tgtEl>
                                          <p:spTgt spid="57347"/>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
                                        </p:tgtEl>
                                        <p:attrNameLst>
                                          <p:attrName>style.visibility</p:attrName>
                                        </p:attrNameLst>
                                      </p:cBhvr>
                                      <p:to>
                                        <p:strVal val="visible"/>
                                      </p:to>
                                    </p:set>
                                    <p:anim calcmode="lin" valueType="num">
                                      <p:cBhvr additive="base">
                                        <p:cTn id="45" dur="500" fill="hold"/>
                                        <p:tgtEl>
                                          <p:spTgt spid="2"/>
                                        </p:tgtEl>
                                        <p:attrNameLst>
                                          <p:attrName>ppt_x</p:attrName>
                                        </p:attrNameLst>
                                      </p:cBhvr>
                                      <p:tavLst>
                                        <p:tav tm="0">
                                          <p:val>
                                            <p:strVal val="#ppt_x"/>
                                          </p:val>
                                        </p:tav>
                                        <p:tav tm="100000">
                                          <p:val>
                                            <p:strVal val="#ppt_x"/>
                                          </p:val>
                                        </p:tav>
                                      </p:tavLst>
                                    </p:anim>
                                    <p:anim calcmode="lin" valueType="num">
                                      <p:cBhvr additive="base">
                                        <p:cTn id="4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39" grpId="0" build="p"/>
      <p:bldP spid="57347" grpId="0"/>
      <p:bldP spid="57350" grpId="0"/>
      <p:bldP spid="57351" grpId="0"/>
      <p:bldP spid="57352" grpId="0"/>
      <p:bldP spid="6150"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9" name="Rectangle 3"/>
          <p:cNvSpPr>
            <a:spLocks noGrp="1"/>
          </p:cNvSpPr>
          <p:nvPr>
            <p:ph idx="1"/>
          </p:nvPr>
        </p:nvSpPr>
        <p:spPr>
          <a:xfrm>
            <a:off x="539750" y="765175"/>
            <a:ext cx="7772400" cy="5688013"/>
          </a:xfrm>
        </p:spPr>
        <p:txBody>
          <a:bodyPr vert="horz" wrap="square" lIns="91440" tIns="45720" rIns="91440" bIns="45720" anchor="t" anchorCtr="0"/>
          <a:lstStyle/>
          <a:p>
            <a:pPr eaLnBrk="1" hangingPunct="1">
              <a:buNone/>
            </a:pPr>
            <a:r>
              <a:rPr lang="zh-CN" altLang="en-US" sz="2800" dirty="0">
                <a:latin typeface="楷体_GB2312" panose="02010609030101010101" pitchFamily="49" charset="-122"/>
                <a:ea typeface="楷体_GB2312" panose="02010609030101010101" pitchFamily="49" charset="-122"/>
              </a:rPr>
              <a:t>      也可观察输出函数中是否有电路输入，如果没有输入信号或者电路无专门的外部输出信号，都视为</a:t>
            </a:r>
            <a:r>
              <a:rPr lang="en-US" altLang="zh-CN" sz="2800" dirty="0">
                <a:latin typeface="楷体_GB2312" panose="02010609030101010101" pitchFamily="49" charset="-122"/>
                <a:ea typeface="楷体_GB2312" panose="02010609030101010101" pitchFamily="49" charset="-122"/>
              </a:rPr>
              <a:t>Moore</a:t>
            </a:r>
            <a:r>
              <a:rPr lang="zh-CN" altLang="en-US" sz="2800" dirty="0">
                <a:latin typeface="楷体_GB2312" panose="02010609030101010101" pitchFamily="49" charset="-122"/>
                <a:ea typeface="楷体_GB2312" panose="02010609030101010101" pitchFamily="49" charset="-122"/>
              </a:rPr>
              <a:t>型电路的特例）</a:t>
            </a:r>
          </a:p>
          <a:p>
            <a:pPr eaLnBrk="1" hangingPunct="1">
              <a:buNone/>
            </a:pPr>
            <a:r>
              <a:rPr lang="en-US" altLang="zh-CN" sz="2800" dirty="0">
                <a:latin typeface="楷体_GB2312" panose="02010609030101010101" pitchFamily="49" charset="-122"/>
                <a:ea typeface="楷体_GB2312" panose="02010609030101010101" pitchFamily="49" charset="-122"/>
              </a:rPr>
              <a:t>      </a:t>
            </a:r>
            <a:r>
              <a:rPr lang="zh-CN" altLang="en-US" sz="2800" dirty="0">
                <a:latin typeface="楷体_GB2312" panose="02010609030101010101" pitchFamily="49" charset="-122"/>
                <a:ea typeface="楷体_GB2312" panose="02010609030101010101" pitchFamily="49" charset="-122"/>
              </a:rPr>
              <a:t>无论是同步时序逻辑电路或是异步时序逻辑电路，均有</a:t>
            </a:r>
            <a:r>
              <a:rPr lang="en-US" altLang="zh-CN" sz="2800" dirty="0">
                <a:latin typeface="楷体_GB2312" panose="02010609030101010101" pitchFamily="49" charset="-122"/>
                <a:ea typeface="楷体_GB2312" panose="02010609030101010101" pitchFamily="49" charset="-122"/>
              </a:rPr>
              <a:t>Mealy</a:t>
            </a:r>
            <a:r>
              <a:rPr lang="zh-CN" altLang="en-US" sz="2800" dirty="0">
                <a:latin typeface="楷体_GB2312" panose="02010609030101010101" pitchFamily="49" charset="-122"/>
                <a:ea typeface="楷体_GB2312" panose="02010609030101010101" pitchFamily="49" charset="-122"/>
              </a:rPr>
              <a:t>型和</a:t>
            </a:r>
            <a:r>
              <a:rPr lang="en-US" altLang="zh-CN" sz="2800" dirty="0">
                <a:latin typeface="楷体_GB2312" panose="02010609030101010101" pitchFamily="49" charset="-122"/>
                <a:ea typeface="楷体_GB2312" panose="02010609030101010101" pitchFamily="49" charset="-122"/>
              </a:rPr>
              <a:t>Moore</a:t>
            </a:r>
            <a:r>
              <a:rPr lang="zh-CN" altLang="en-US" sz="2800" dirty="0">
                <a:latin typeface="楷体_GB2312" panose="02010609030101010101" pitchFamily="49" charset="-122"/>
                <a:ea typeface="楷体_GB2312" panose="02010609030101010101" pitchFamily="49" charset="-122"/>
              </a:rPr>
              <a:t>型两种模型。</a:t>
            </a:r>
          </a:p>
          <a:p>
            <a:pPr eaLnBrk="1" hangingPunct="1"/>
            <a:endParaRPr lang="zh-CN" altLang="en-US" sz="2800" b="1" dirty="0">
              <a:latin typeface="楷体_GB2312" panose="02010609030101010101" pitchFamily="49" charset="-122"/>
              <a:ea typeface="楷体_GB2312" panose="02010609030101010101" pitchFamily="49" charset="-122"/>
            </a:endParaRPr>
          </a:p>
          <a:p>
            <a:pPr eaLnBrk="1" hangingPunct="1">
              <a:buNone/>
            </a:pPr>
            <a:r>
              <a:rPr lang="zh-CN" altLang="en-US" sz="2800" b="1" dirty="0">
                <a:solidFill>
                  <a:schemeClr val="tx2"/>
                </a:solidFill>
                <a:latin typeface="楷体_GB2312" panose="02010609030101010101" pitchFamily="49" charset="-122"/>
                <a:ea typeface="楷体_GB2312" panose="02010609030101010101" pitchFamily="49" charset="-122"/>
              </a:rPr>
              <a:t>3）按照输入信号的形式</a:t>
            </a:r>
          </a:p>
          <a:p>
            <a:pPr eaLnBrk="1" hangingPunct="1">
              <a:buNone/>
            </a:pPr>
            <a:r>
              <a:rPr lang="zh-CN" altLang="en-US" sz="2800" b="1" dirty="0">
                <a:latin typeface="楷体_GB2312" panose="02010609030101010101" pitchFamily="49" charset="-122"/>
                <a:ea typeface="楷体_GB2312" panose="02010609030101010101" pitchFamily="49" charset="-122"/>
              </a:rPr>
              <a:t>   </a:t>
            </a:r>
            <a:r>
              <a:rPr lang="zh-CN" altLang="en-US" sz="2800" dirty="0">
                <a:latin typeface="楷体_GB2312" panose="02010609030101010101" pitchFamily="49" charset="-122"/>
                <a:ea typeface="楷体_GB2312" panose="02010609030101010101" pitchFamily="49" charset="-122"/>
              </a:rPr>
              <a:t>脉冲信号和电平信号</a:t>
            </a:r>
          </a:p>
          <a:p>
            <a:pPr eaLnBrk="1" hangingPunct="1">
              <a:buNone/>
            </a:pPr>
            <a:r>
              <a:rPr lang="zh-CN" altLang="en-US" sz="2800" dirty="0">
                <a:latin typeface="楷体_GB2312" panose="02010609030101010101" pitchFamily="49" charset="-122"/>
                <a:ea typeface="楷体_GB2312" panose="02010609030101010101" pitchFamily="49" charset="-122"/>
              </a:rPr>
              <a:t>      具体的有同步输入脉冲、同步输入电平、异步输入脉冲、异步输入电平</a:t>
            </a:r>
          </a:p>
          <a:p>
            <a:pPr eaLnBrk="1" hangingPunct="1"/>
            <a:endParaRPr lang="zh-CN" altLang="en-US" sz="2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5139">
                                            <p:txEl>
                                              <p:pRg st="0" end="0"/>
                                            </p:txEl>
                                          </p:spTgt>
                                        </p:tgtEl>
                                        <p:attrNameLst>
                                          <p:attrName>style.visibility</p:attrName>
                                        </p:attrNameLst>
                                      </p:cBhvr>
                                      <p:to>
                                        <p:strVal val="visible"/>
                                      </p:to>
                                    </p:set>
                                    <p:animEffect transition="in" filter="dissolve">
                                      <p:cBhvr>
                                        <p:cTn id="7" dur="500"/>
                                        <p:tgtEl>
                                          <p:spTgt spid="4751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5139">
                                            <p:txEl>
                                              <p:pRg st="1" end="1"/>
                                            </p:txEl>
                                          </p:spTgt>
                                        </p:tgtEl>
                                        <p:attrNameLst>
                                          <p:attrName>style.visibility</p:attrName>
                                        </p:attrNameLst>
                                      </p:cBhvr>
                                      <p:to>
                                        <p:strVal val="visible"/>
                                      </p:to>
                                    </p:set>
                                    <p:animEffect transition="in" filter="dissolve">
                                      <p:cBhvr>
                                        <p:cTn id="12" dur="500"/>
                                        <p:tgtEl>
                                          <p:spTgt spid="4751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75139">
                                            <p:txEl>
                                              <p:pRg st="3" end="3"/>
                                            </p:txEl>
                                          </p:spTgt>
                                        </p:tgtEl>
                                        <p:attrNameLst>
                                          <p:attrName>style.visibility</p:attrName>
                                        </p:attrNameLst>
                                      </p:cBhvr>
                                      <p:to>
                                        <p:strVal val="visible"/>
                                      </p:to>
                                    </p:set>
                                    <p:animEffect transition="in" filter="dissolve">
                                      <p:cBhvr>
                                        <p:cTn id="17" dur="500"/>
                                        <p:tgtEl>
                                          <p:spTgt spid="475139">
                                            <p:txEl>
                                              <p:pRg st="3" end="3"/>
                                            </p:txEl>
                                          </p:spTgt>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475139">
                                            <p:txEl>
                                              <p:pRg st="4" end="4"/>
                                            </p:txEl>
                                          </p:spTgt>
                                        </p:tgtEl>
                                        <p:attrNameLst>
                                          <p:attrName>style.visibility</p:attrName>
                                        </p:attrNameLst>
                                      </p:cBhvr>
                                      <p:to>
                                        <p:strVal val="visible"/>
                                      </p:to>
                                    </p:set>
                                    <p:animEffect transition="in" filter="dissolve">
                                      <p:cBhvr>
                                        <p:cTn id="21" dur="500"/>
                                        <p:tgtEl>
                                          <p:spTgt spid="475139">
                                            <p:txEl>
                                              <p:pRg st="4" end="4"/>
                                            </p:txEl>
                                          </p:spTgt>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475139">
                                            <p:txEl>
                                              <p:pRg st="5" end="5"/>
                                            </p:txEl>
                                          </p:spTgt>
                                        </p:tgtEl>
                                        <p:attrNameLst>
                                          <p:attrName>style.visibility</p:attrName>
                                        </p:attrNameLst>
                                      </p:cBhvr>
                                      <p:to>
                                        <p:strVal val="visible"/>
                                      </p:to>
                                    </p:set>
                                    <p:animEffect transition="in" filter="dissolve">
                                      <p:cBhvr>
                                        <p:cTn id="25" dur="500"/>
                                        <p:tgtEl>
                                          <p:spTgt spid="4751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3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p:nvPr/>
        </p:nvSpPr>
        <p:spPr>
          <a:xfrm>
            <a:off x="1370013" y="985838"/>
            <a:ext cx="4806950" cy="519112"/>
          </a:xfrm>
          <a:prstGeom prst="rect">
            <a:avLst/>
          </a:prstGeom>
          <a:noFill/>
          <a:ln w="19050">
            <a:noFill/>
          </a:ln>
        </p:spPr>
        <p:txBody>
          <a:bodyPr wrap="none">
            <a:spAutoFit/>
          </a:bodyPr>
          <a:lstStyle/>
          <a:p>
            <a:r>
              <a:rPr lang="zh-CN" altLang="en-US" sz="2800" dirty="0">
                <a:latin typeface="Times New Roman" panose="02020603050405020304" pitchFamily="18" charset="0"/>
              </a:rPr>
              <a:t>时序电路输入信号的波形图：</a:t>
            </a:r>
          </a:p>
        </p:txBody>
      </p:sp>
      <p:grpSp>
        <p:nvGrpSpPr>
          <p:cNvPr id="2" name="Group 85"/>
          <p:cNvGrpSpPr/>
          <p:nvPr/>
        </p:nvGrpSpPr>
        <p:grpSpPr>
          <a:xfrm>
            <a:off x="806450" y="1833563"/>
            <a:ext cx="7315200" cy="749300"/>
            <a:chOff x="508" y="1006"/>
            <a:chExt cx="4608" cy="472"/>
          </a:xfrm>
        </p:grpSpPr>
        <p:sp>
          <p:nvSpPr>
            <p:cNvPr id="15408" name="Freeform 37"/>
            <p:cNvSpPr/>
            <p:nvPr/>
          </p:nvSpPr>
          <p:spPr>
            <a:xfrm>
              <a:off x="1338" y="1049"/>
              <a:ext cx="3778" cy="288"/>
            </a:xfrm>
            <a:custGeom>
              <a:avLst/>
              <a:gdLst>
                <a:gd name="txL" fmla="*/ 0 w 4148"/>
                <a:gd name="txT" fmla="*/ 0 h 289"/>
                <a:gd name="txR" fmla="*/ 4148 w 4148"/>
                <a:gd name="txB" fmla="*/ 289 h 289"/>
              </a:gdLst>
              <a:ahLst/>
              <a:cxnLst>
                <a:cxn ang="0">
                  <a:pos x="0" y="287"/>
                </a:cxn>
                <a:cxn ang="0">
                  <a:pos x="249" y="287"/>
                </a:cxn>
                <a:cxn ang="0">
                  <a:pos x="249" y="0"/>
                </a:cxn>
                <a:cxn ang="0">
                  <a:pos x="386" y="0"/>
                </a:cxn>
                <a:cxn ang="0">
                  <a:pos x="386" y="287"/>
                </a:cxn>
                <a:cxn ang="0">
                  <a:pos x="660" y="287"/>
                </a:cxn>
                <a:cxn ang="0">
                  <a:pos x="660" y="0"/>
                </a:cxn>
                <a:cxn ang="0">
                  <a:pos x="798" y="0"/>
                </a:cxn>
                <a:cxn ang="0">
                  <a:pos x="798" y="287"/>
                </a:cxn>
                <a:cxn ang="0">
                  <a:pos x="1073" y="287"/>
                </a:cxn>
                <a:cxn ang="0">
                  <a:pos x="1073" y="0"/>
                </a:cxn>
                <a:cxn ang="0">
                  <a:pos x="1210" y="0"/>
                </a:cxn>
                <a:cxn ang="0">
                  <a:pos x="1210" y="287"/>
                </a:cxn>
                <a:cxn ang="0">
                  <a:pos x="1484" y="287"/>
                </a:cxn>
                <a:cxn ang="0">
                  <a:pos x="1484" y="0"/>
                </a:cxn>
                <a:cxn ang="0">
                  <a:pos x="1622" y="0"/>
                </a:cxn>
                <a:cxn ang="0">
                  <a:pos x="1622" y="287"/>
                </a:cxn>
                <a:cxn ang="0">
                  <a:pos x="1887" y="287"/>
                </a:cxn>
                <a:cxn ang="0">
                  <a:pos x="1887" y="0"/>
                </a:cxn>
                <a:cxn ang="0">
                  <a:pos x="2025" y="0"/>
                </a:cxn>
                <a:cxn ang="0">
                  <a:pos x="2025" y="287"/>
                </a:cxn>
                <a:cxn ang="0">
                  <a:pos x="2300" y="287"/>
                </a:cxn>
                <a:cxn ang="0">
                  <a:pos x="2300" y="0"/>
                </a:cxn>
                <a:cxn ang="0">
                  <a:pos x="2436" y="0"/>
                </a:cxn>
                <a:cxn ang="0">
                  <a:pos x="2436" y="287"/>
                </a:cxn>
                <a:cxn ang="0">
                  <a:pos x="2711" y="287"/>
                </a:cxn>
                <a:cxn ang="0">
                  <a:pos x="2711" y="0"/>
                </a:cxn>
                <a:cxn ang="0">
                  <a:pos x="2849" y="0"/>
                </a:cxn>
                <a:cxn ang="0">
                  <a:pos x="2849" y="287"/>
                </a:cxn>
                <a:cxn ang="0">
                  <a:pos x="3123" y="287"/>
                </a:cxn>
                <a:cxn ang="0">
                  <a:pos x="3123" y="0"/>
                </a:cxn>
                <a:cxn ang="0">
                  <a:pos x="3260" y="0"/>
                </a:cxn>
                <a:cxn ang="0">
                  <a:pos x="3260" y="287"/>
                </a:cxn>
                <a:cxn ang="0">
                  <a:pos x="3441" y="287"/>
                </a:cxn>
              </a:cxnLst>
              <a:rect l="txL" t="txT" r="txR" b="txB"/>
              <a:pathLst>
                <a:path w="4148" h="289">
                  <a:moveTo>
                    <a:pt x="0" y="289"/>
                  </a:moveTo>
                  <a:lnTo>
                    <a:pt x="300" y="289"/>
                  </a:lnTo>
                  <a:lnTo>
                    <a:pt x="300" y="0"/>
                  </a:lnTo>
                  <a:lnTo>
                    <a:pt x="465" y="0"/>
                  </a:lnTo>
                  <a:lnTo>
                    <a:pt x="465" y="289"/>
                  </a:lnTo>
                  <a:lnTo>
                    <a:pt x="796" y="289"/>
                  </a:lnTo>
                  <a:lnTo>
                    <a:pt x="796" y="0"/>
                  </a:lnTo>
                  <a:lnTo>
                    <a:pt x="962" y="0"/>
                  </a:lnTo>
                  <a:lnTo>
                    <a:pt x="962" y="289"/>
                  </a:lnTo>
                  <a:lnTo>
                    <a:pt x="1293" y="289"/>
                  </a:lnTo>
                  <a:lnTo>
                    <a:pt x="1293" y="0"/>
                  </a:lnTo>
                  <a:lnTo>
                    <a:pt x="1458" y="0"/>
                  </a:lnTo>
                  <a:lnTo>
                    <a:pt x="1458" y="289"/>
                  </a:lnTo>
                  <a:lnTo>
                    <a:pt x="1789" y="289"/>
                  </a:lnTo>
                  <a:lnTo>
                    <a:pt x="1789" y="0"/>
                  </a:lnTo>
                  <a:lnTo>
                    <a:pt x="1955" y="0"/>
                  </a:lnTo>
                  <a:lnTo>
                    <a:pt x="1955" y="289"/>
                  </a:lnTo>
                  <a:lnTo>
                    <a:pt x="2275" y="289"/>
                  </a:lnTo>
                  <a:lnTo>
                    <a:pt x="2275" y="0"/>
                  </a:lnTo>
                  <a:lnTo>
                    <a:pt x="2441" y="0"/>
                  </a:lnTo>
                  <a:lnTo>
                    <a:pt x="2441" y="289"/>
                  </a:lnTo>
                  <a:lnTo>
                    <a:pt x="2772" y="289"/>
                  </a:lnTo>
                  <a:lnTo>
                    <a:pt x="2772" y="0"/>
                  </a:lnTo>
                  <a:lnTo>
                    <a:pt x="2937" y="0"/>
                  </a:lnTo>
                  <a:lnTo>
                    <a:pt x="2937" y="289"/>
                  </a:lnTo>
                  <a:lnTo>
                    <a:pt x="3268" y="289"/>
                  </a:lnTo>
                  <a:lnTo>
                    <a:pt x="3268" y="0"/>
                  </a:lnTo>
                  <a:lnTo>
                    <a:pt x="3434" y="0"/>
                  </a:lnTo>
                  <a:lnTo>
                    <a:pt x="3434" y="289"/>
                  </a:lnTo>
                  <a:lnTo>
                    <a:pt x="3765" y="289"/>
                  </a:lnTo>
                  <a:lnTo>
                    <a:pt x="3765" y="0"/>
                  </a:lnTo>
                  <a:lnTo>
                    <a:pt x="3930" y="0"/>
                  </a:lnTo>
                  <a:lnTo>
                    <a:pt x="3930" y="289"/>
                  </a:lnTo>
                  <a:lnTo>
                    <a:pt x="4148" y="289"/>
                  </a:lnTo>
                </a:path>
              </a:pathLst>
            </a:custGeom>
            <a:noFill/>
            <a:ln w="38100" cap="flat" cmpd="sng">
              <a:solidFill>
                <a:srgbClr val="3333FF">
                  <a:alpha val="100000"/>
                </a:srgbClr>
              </a:solidFill>
              <a:prstDash val="solid"/>
              <a:round/>
              <a:headEnd type="none" w="med" len="med"/>
              <a:tailEnd type="none" w="med" len="med"/>
            </a:ln>
          </p:spPr>
          <p:txBody>
            <a:bodyPr/>
            <a:lstStyle/>
            <a:p>
              <a:endParaRPr lang="zh-CN" altLang="en-US"/>
            </a:p>
          </p:txBody>
        </p:sp>
        <p:sp>
          <p:nvSpPr>
            <p:cNvPr id="15409" name="Text Box 42"/>
            <p:cNvSpPr txBox="1"/>
            <p:nvPr/>
          </p:nvSpPr>
          <p:spPr>
            <a:xfrm>
              <a:off x="508" y="1006"/>
              <a:ext cx="884" cy="472"/>
            </a:xfrm>
            <a:prstGeom prst="rect">
              <a:avLst/>
            </a:prstGeom>
            <a:noFill/>
            <a:ln w="38100">
              <a:noFill/>
            </a:ln>
          </p:spPr>
          <p:txBody>
            <a:bodyPr wrap="none">
              <a:spAutoFit/>
            </a:bodyPr>
            <a:lstStyle/>
            <a:p>
              <a:pPr>
                <a:lnSpc>
                  <a:spcPct val="90000"/>
                </a:lnSpc>
              </a:pPr>
              <a:r>
                <a:rPr lang="zh-CN" altLang="en-US" sz="2400" dirty="0">
                  <a:latin typeface="Times New Roman" panose="02020603050405020304" pitchFamily="18" charset="0"/>
                </a:rPr>
                <a:t>时钟脉冲</a:t>
              </a:r>
              <a:br>
                <a:rPr lang="zh-CN" altLang="en-US" sz="2400" dirty="0">
                  <a:latin typeface="Times New Roman" panose="02020603050405020304" pitchFamily="18" charset="0"/>
                </a:rPr>
              </a:br>
              <a:r>
                <a:rPr lang="en-US" altLang="zh-CN" sz="2400" dirty="0">
                  <a:latin typeface="Times New Roman" panose="02020603050405020304" pitchFamily="18" charset="0"/>
                </a:rPr>
                <a:t>(CP)</a:t>
              </a:r>
            </a:p>
          </p:txBody>
        </p:sp>
      </p:grpSp>
      <p:grpSp>
        <p:nvGrpSpPr>
          <p:cNvPr id="3" name="Group 84"/>
          <p:cNvGrpSpPr/>
          <p:nvPr/>
        </p:nvGrpSpPr>
        <p:grpSpPr>
          <a:xfrm>
            <a:off x="806450" y="2720975"/>
            <a:ext cx="7296150" cy="654050"/>
            <a:chOff x="508" y="1615"/>
            <a:chExt cx="4596" cy="412"/>
          </a:xfrm>
        </p:grpSpPr>
        <p:sp>
          <p:nvSpPr>
            <p:cNvPr id="15398" name="Freeform 38"/>
            <p:cNvSpPr/>
            <p:nvPr/>
          </p:nvSpPr>
          <p:spPr>
            <a:xfrm>
              <a:off x="1327" y="1619"/>
              <a:ext cx="3777" cy="310"/>
            </a:xfrm>
            <a:custGeom>
              <a:avLst/>
              <a:gdLst>
                <a:gd name="txL" fmla="*/ 0 w 3777"/>
                <a:gd name="txT" fmla="*/ 0 h 310"/>
                <a:gd name="txR" fmla="*/ 3777 w 3777"/>
                <a:gd name="txB" fmla="*/ 310 h 310"/>
              </a:gdLst>
              <a:ahLst/>
              <a:cxnLst>
                <a:cxn ang="0">
                  <a:pos x="0" y="300"/>
                </a:cxn>
                <a:cxn ang="0">
                  <a:pos x="735" y="300"/>
                </a:cxn>
                <a:cxn ang="0">
                  <a:pos x="735" y="10"/>
                </a:cxn>
                <a:cxn ang="0">
                  <a:pos x="895" y="10"/>
                </a:cxn>
                <a:cxn ang="0">
                  <a:pos x="895" y="310"/>
                </a:cxn>
                <a:cxn ang="0">
                  <a:pos x="1187" y="310"/>
                </a:cxn>
                <a:cxn ang="0">
                  <a:pos x="1187" y="10"/>
                </a:cxn>
                <a:cxn ang="0">
                  <a:pos x="1338" y="10"/>
                </a:cxn>
                <a:cxn ang="0">
                  <a:pos x="1338" y="300"/>
                </a:cxn>
                <a:cxn ang="0">
                  <a:pos x="2082" y="300"/>
                </a:cxn>
                <a:cxn ang="0">
                  <a:pos x="2082" y="10"/>
                </a:cxn>
                <a:cxn ang="0">
                  <a:pos x="2233" y="10"/>
                </a:cxn>
                <a:cxn ang="0">
                  <a:pos x="2233" y="300"/>
                </a:cxn>
                <a:cxn ang="0">
                  <a:pos x="2986" y="300"/>
                </a:cxn>
                <a:cxn ang="0">
                  <a:pos x="2986" y="10"/>
                </a:cxn>
                <a:cxn ang="0">
                  <a:pos x="3146" y="0"/>
                </a:cxn>
                <a:cxn ang="0">
                  <a:pos x="3142" y="305"/>
                </a:cxn>
                <a:cxn ang="0">
                  <a:pos x="3438" y="300"/>
                </a:cxn>
                <a:cxn ang="0">
                  <a:pos x="3438" y="10"/>
                </a:cxn>
                <a:cxn ang="0">
                  <a:pos x="3589" y="0"/>
                </a:cxn>
                <a:cxn ang="0">
                  <a:pos x="3589" y="300"/>
                </a:cxn>
                <a:cxn ang="0">
                  <a:pos x="3777" y="300"/>
                </a:cxn>
              </a:cxnLst>
              <a:rect l="txL" t="txT" r="txR" b="txB"/>
              <a:pathLst>
                <a:path w="3777" h="310">
                  <a:moveTo>
                    <a:pt x="0" y="300"/>
                  </a:moveTo>
                  <a:lnTo>
                    <a:pt x="735" y="300"/>
                  </a:lnTo>
                  <a:lnTo>
                    <a:pt x="735" y="10"/>
                  </a:lnTo>
                  <a:lnTo>
                    <a:pt x="895" y="10"/>
                  </a:lnTo>
                  <a:lnTo>
                    <a:pt x="895" y="310"/>
                  </a:lnTo>
                  <a:lnTo>
                    <a:pt x="1187" y="310"/>
                  </a:lnTo>
                  <a:lnTo>
                    <a:pt x="1187" y="10"/>
                  </a:lnTo>
                  <a:lnTo>
                    <a:pt x="1338" y="10"/>
                  </a:lnTo>
                  <a:lnTo>
                    <a:pt x="1338" y="300"/>
                  </a:lnTo>
                  <a:lnTo>
                    <a:pt x="2082" y="300"/>
                  </a:lnTo>
                  <a:lnTo>
                    <a:pt x="2082" y="10"/>
                  </a:lnTo>
                  <a:lnTo>
                    <a:pt x="2233" y="10"/>
                  </a:lnTo>
                  <a:lnTo>
                    <a:pt x="2233" y="300"/>
                  </a:lnTo>
                  <a:lnTo>
                    <a:pt x="2986" y="300"/>
                  </a:lnTo>
                  <a:lnTo>
                    <a:pt x="2986" y="10"/>
                  </a:lnTo>
                  <a:lnTo>
                    <a:pt x="3146" y="0"/>
                  </a:lnTo>
                  <a:lnTo>
                    <a:pt x="3142" y="305"/>
                  </a:lnTo>
                  <a:lnTo>
                    <a:pt x="3438" y="300"/>
                  </a:lnTo>
                  <a:lnTo>
                    <a:pt x="3438" y="10"/>
                  </a:lnTo>
                  <a:lnTo>
                    <a:pt x="3589" y="0"/>
                  </a:lnTo>
                  <a:lnTo>
                    <a:pt x="3589" y="300"/>
                  </a:lnTo>
                  <a:lnTo>
                    <a:pt x="3777" y="300"/>
                  </a:lnTo>
                </a:path>
              </a:pathLst>
            </a:custGeom>
            <a:noFill/>
            <a:ln w="38100" cap="flat" cmpd="sng">
              <a:solidFill>
                <a:srgbClr val="3333FF">
                  <a:alpha val="100000"/>
                </a:srgbClr>
              </a:solidFill>
              <a:prstDash val="solid"/>
              <a:round/>
              <a:headEnd type="none" w="med" len="med"/>
              <a:tailEnd type="none" w="med" len="med"/>
            </a:ln>
          </p:spPr>
          <p:txBody>
            <a:bodyPr/>
            <a:lstStyle/>
            <a:p>
              <a:endParaRPr lang="zh-CN" altLang="en-US"/>
            </a:p>
          </p:txBody>
        </p:sp>
        <p:sp>
          <p:nvSpPr>
            <p:cNvPr id="15399" name="Text Box 44"/>
            <p:cNvSpPr txBox="1"/>
            <p:nvPr/>
          </p:nvSpPr>
          <p:spPr>
            <a:xfrm>
              <a:off x="508" y="1762"/>
              <a:ext cx="884" cy="265"/>
            </a:xfrm>
            <a:prstGeom prst="rect">
              <a:avLst/>
            </a:prstGeom>
            <a:noFill/>
            <a:ln w="38100">
              <a:noFill/>
            </a:ln>
          </p:spPr>
          <p:txBody>
            <a:bodyPr wrap="none">
              <a:spAutoFit/>
            </a:bodyPr>
            <a:lstStyle/>
            <a:p>
              <a:pPr>
                <a:lnSpc>
                  <a:spcPct val="90000"/>
                </a:lnSpc>
              </a:pPr>
              <a:r>
                <a:rPr lang="zh-CN" altLang="en-US" sz="2400" dirty="0">
                  <a:latin typeface="Times New Roman" panose="02020603050405020304" pitchFamily="18" charset="0"/>
                </a:rPr>
                <a:t>同步脉冲</a:t>
              </a:r>
            </a:p>
          </p:txBody>
        </p:sp>
        <p:sp>
          <p:nvSpPr>
            <p:cNvPr id="15400" name="Text Box 49"/>
            <p:cNvSpPr txBox="1"/>
            <p:nvPr/>
          </p:nvSpPr>
          <p:spPr>
            <a:xfrm>
              <a:off x="1597" y="1615"/>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0</a:t>
              </a:r>
            </a:p>
          </p:txBody>
        </p:sp>
        <p:sp>
          <p:nvSpPr>
            <p:cNvPr id="15401" name="Rectangle 50"/>
            <p:cNvSpPr/>
            <p:nvPr/>
          </p:nvSpPr>
          <p:spPr>
            <a:xfrm>
              <a:off x="2032" y="1615"/>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15402" name="Rectangle 51"/>
            <p:cNvSpPr/>
            <p:nvPr/>
          </p:nvSpPr>
          <p:spPr>
            <a:xfrm>
              <a:off x="2487" y="1615"/>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15403" name="Rectangle 52"/>
            <p:cNvSpPr/>
            <p:nvPr/>
          </p:nvSpPr>
          <p:spPr>
            <a:xfrm>
              <a:off x="3376" y="1615"/>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15404" name="Rectangle 53"/>
            <p:cNvSpPr/>
            <p:nvPr/>
          </p:nvSpPr>
          <p:spPr>
            <a:xfrm>
              <a:off x="4276" y="1615"/>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15405" name="Rectangle 54"/>
            <p:cNvSpPr/>
            <p:nvPr/>
          </p:nvSpPr>
          <p:spPr>
            <a:xfrm>
              <a:off x="4732" y="1615"/>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15406" name="Text Box 55"/>
            <p:cNvSpPr txBox="1"/>
            <p:nvPr/>
          </p:nvSpPr>
          <p:spPr>
            <a:xfrm>
              <a:off x="2911" y="1615"/>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0</a:t>
              </a:r>
            </a:p>
          </p:txBody>
        </p:sp>
        <p:sp>
          <p:nvSpPr>
            <p:cNvPr id="15407" name="Text Box 56"/>
            <p:cNvSpPr txBox="1"/>
            <p:nvPr/>
          </p:nvSpPr>
          <p:spPr>
            <a:xfrm>
              <a:off x="3852" y="1615"/>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0</a:t>
              </a:r>
            </a:p>
          </p:txBody>
        </p:sp>
      </p:grpSp>
      <p:grpSp>
        <p:nvGrpSpPr>
          <p:cNvPr id="4" name="Group 83"/>
          <p:cNvGrpSpPr/>
          <p:nvPr/>
        </p:nvGrpSpPr>
        <p:grpSpPr>
          <a:xfrm>
            <a:off x="806450" y="3624263"/>
            <a:ext cx="7310438" cy="539750"/>
            <a:chOff x="508" y="2184"/>
            <a:chExt cx="4605" cy="340"/>
          </a:xfrm>
        </p:grpSpPr>
        <p:sp>
          <p:nvSpPr>
            <p:cNvPr id="15388" name="Freeform 39"/>
            <p:cNvSpPr/>
            <p:nvPr/>
          </p:nvSpPr>
          <p:spPr>
            <a:xfrm>
              <a:off x="1317" y="2208"/>
              <a:ext cx="3796" cy="290"/>
            </a:xfrm>
            <a:custGeom>
              <a:avLst/>
              <a:gdLst>
                <a:gd name="txL" fmla="*/ 0 w 4169"/>
                <a:gd name="txT" fmla="*/ 0 h 290"/>
                <a:gd name="txR" fmla="*/ 4169 w 4169"/>
                <a:gd name="txB" fmla="*/ 290 h 290"/>
              </a:gdLst>
              <a:ahLst/>
              <a:cxnLst>
                <a:cxn ang="0">
                  <a:pos x="0" y="290"/>
                </a:cxn>
                <a:cxn ang="0">
                  <a:pos x="266" y="290"/>
                </a:cxn>
                <a:cxn ang="0">
                  <a:pos x="266" y="0"/>
                </a:cxn>
                <a:cxn ang="0">
                  <a:pos x="403" y="0"/>
                </a:cxn>
                <a:cxn ang="0">
                  <a:pos x="403" y="290"/>
                </a:cxn>
                <a:cxn ang="0">
                  <a:pos x="875" y="290"/>
                </a:cxn>
                <a:cxn ang="0">
                  <a:pos x="875" y="0"/>
                </a:cxn>
                <a:cxn ang="0">
                  <a:pos x="1013" y="0"/>
                </a:cxn>
                <a:cxn ang="0">
                  <a:pos x="1013" y="290"/>
                </a:cxn>
                <a:cxn ang="0">
                  <a:pos x="1501" y="290"/>
                </a:cxn>
                <a:cxn ang="0">
                  <a:pos x="1501" y="0"/>
                </a:cxn>
                <a:cxn ang="0">
                  <a:pos x="1638" y="0"/>
                </a:cxn>
                <a:cxn ang="0">
                  <a:pos x="1638" y="280"/>
                </a:cxn>
                <a:cxn ang="0">
                  <a:pos x="2933" y="280"/>
                </a:cxn>
                <a:cxn ang="0">
                  <a:pos x="2933" y="0"/>
                </a:cxn>
                <a:cxn ang="0">
                  <a:pos x="3070" y="0"/>
                </a:cxn>
                <a:cxn ang="0">
                  <a:pos x="3070" y="290"/>
                </a:cxn>
                <a:cxn ang="0">
                  <a:pos x="3208" y="290"/>
                </a:cxn>
                <a:cxn ang="0">
                  <a:pos x="3208" y="0"/>
                </a:cxn>
                <a:cxn ang="0">
                  <a:pos x="3336" y="0"/>
                </a:cxn>
                <a:cxn ang="0">
                  <a:pos x="3336" y="290"/>
                </a:cxn>
                <a:cxn ang="0">
                  <a:pos x="3456" y="290"/>
                </a:cxn>
              </a:cxnLst>
              <a:rect l="txL" t="txT" r="txR" b="txB"/>
              <a:pathLst>
                <a:path w="4169" h="290">
                  <a:moveTo>
                    <a:pt x="0" y="290"/>
                  </a:moveTo>
                  <a:lnTo>
                    <a:pt x="321" y="290"/>
                  </a:lnTo>
                  <a:lnTo>
                    <a:pt x="321" y="0"/>
                  </a:lnTo>
                  <a:lnTo>
                    <a:pt x="486" y="0"/>
                  </a:lnTo>
                  <a:lnTo>
                    <a:pt x="486" y="290"/>
                  </a:lnTo>
                  <a:lnTo>
                    <a:pt x="1055" y="290"/>
                  </a:lnTo>
                  <a:lnTo>
                    <a:pt x="1055" y="0"/>
                  </a:lnTo>
                  <a:lnTo>
                    <a:pt x="1221" y="0"/>
                  </a:lnTo>
                  <a:lnTo>
                    <a:pt x="1221" y="290"/>
                  </a:lnTo>
                  <a:lnTo>
                    <a:pt x="1810" y="290"/>
                  </a:lnTo>
                  <a:lnTo>
                    <a:pt x="1810" y="0"/>
                  </a:lnTo>
                  <a:lnTo>
                    <a:pt x="1976" y="0"/>
                  </a:lnTo>
                  <a:lnTo>
                    <a:pt x="1976" y="280"/>
                  </a:lnTo>
                  <a:lnTo>
                    <a:pt x="3538" y="280"/>
                  </a:lnTo>
                  <a:lnTo>
                    <a:pt x="3538" y="0"/>
                  </a:lnTo>
                  <a:lnTo>
                    <a:pt x="3703" y="0"/>
                  </a:lnTo>
                  <a:lnTo>
                    <a:pt x="3703" y="290"/>
                  </a:lnTo>
                  <a:lnTo>
                    <a:pt x="3869" y="290"/>
                  </a:lnTo>
                  <a:lnTo>
                    <a:pt x="3869" y="0"/>
                  </a:lnTo>
                  <a:lnTo>
                    <a:pt x="4024" y="0"/>
                  </a:lnTo>
                  <a:lnTo>
                    <a:pt x="4024" y="290"/>
                  </a:lnTo>
                  <a:lnTo>
                    <a:pt x="4169" y="290"/>
                  </a:lnTo>
                </a:path>
              </a:pathLst>
            </a:custGeom>
            <a:noFill/>
            <a:ln w="38100" cap="flat" cmpd="sng">
              <a:solidFill>
                <a:srgbClr val="3333FF">
                  <a:alpha val="100000"/>
                </a:srgbClr>
              </a:solidFill>
              <a:prstDash val="solid"/>
              <a:round/>
              <a:headEnd type="none" w="med" len="med"/>
              <a:tailEnd type="none" w="med" len="med"/>
            </a:ln>
          </p:spPr>
          <p:txBody>
            <a:bodyPr/>
            <a:lstStyle/>
            <a:p>
              <a:endParaRPr lang="zh-CN" altLang="en-US"/>
            </a:p>
          </p:txBody>
        </p:sp>
        <p:sp>
          <p:nvSpPr>
            <p:cNvPr id="15389" name="Text Box 47"/>
            <p:cNvSpPr txBox="1"/>
            <p:nvPr/>
          </p:nvSpPr>
          <p:spPr>
            <a:xfrm>
              <a:off x="508" y="2259"/>
              <a:ext cx="884" cy="265"/>
            </a:xfrm>
            <a:prstGeom prst="rect">
              <a:avLst/>
            </a:prstGeom>
            <a:noFill/>
            <a:ln w="38100">
              <a:noFill/>
            </a:ln>
          </p:spPr>
          <p:txBody>
            <a:bodyPr wrap="none">
              <a:spAutoFit/>
            </a:bodyPr>
            <a:lstStyle/>
            <a:p>
              <a:pPr>
                <a:lnSpc>
                  <a:spcPct val="90000"/>
                </a:lnSpc>
              </a:pPr>
              <a:r>
                <a:rPr lang="zh-CN" altLang="en-US" sz="2400" dirty="0">
                  <a:latin typeface="Times New Roman" panose="02020603050405020304" pitchFamily="18" charset="0"/>
                </a:rPr>
                <a:t>异步脉冲</a:t>
              </a:r>
            </a:p>
          </p:txBody>
        </p:sp>
        <p:sp>
          <p:nvSpPr>
            <p:cNvPr id="15390" name="Rectangle 57"/>
            <p:cNvSpPr/>
            <p:nvPr/>
          </p:nvSpPr>
          <p:spPr>
            <a:xfrm>
              <a:off x="1577" y="218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15391" name="Rectangle 58"/>
            <p:cNvSpPr/>
            <p:nvPr/>
          </p:nvSpPr>
          <p:spPr>
            <a:xfrm>
              <a:off x="2239" y="218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15392" name="Rectangle 59"/>
            <p:cNvSpPr/>
            <p:nvPr/>
          </p:nvSpPr>
          <p:spPr>
            <a:xfrm>
              <a:off x="2932" y="218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15393" name="Rectangle 60"/>
            <p:cNvSpPr/>
            <p:nvPr/>
          </p:nvSpPr>
          <p:spPr>
            <a:xfrm>
              <a:off x="4494" y="218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15394" name="Rectangle 61"/>
            <p:cNvSpPr/>
            <p:nvPr/>
          </p:nvSpPr>
          <p:spPr>
            <a:xfrm>
              <a:off x="4805" y="218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15395" name="Text Box 62"/>
            <p:cNvSpPr txBox="1"/>
            <p:nvPr/>
          </p:nvSpPr>
          <p:spPr>
            <a:xfrm>
              <a:off x="1949" y="218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0</a:t>
              </a:r>
            </a:p>
          </p:txBody>
        </p:sp>
        <p:sp>
          <p:nvSpPr>
            <p:cNvPr id="15396" name="Text Box 63"/>
            <p:cNvSpPr txBox="1"/>
            <p:nvPr/>
          </p:nvSpPr>
          <p:spPr>
            <a:xfrm>
              <a:off x="2601" y="218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0</a:t>
              </a:r>
            </a:p>
          </p:txBody>
        </p:sp>
        <p:sp>
          <p:nvSpPr>
            <p:cNvPr id="15397" name="Text Box 64"/>
            <p:cNvSpPr txBox="1"/>
            <p:nvPr/>
          </p:nvSpPr>
          <p:spPr>
            <a:xfrm>
              <a:off x="3697" y="218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0</a:t>
              </a:r>
            </a:p>
          </p:txBody>
        </p:sp>
      </p:grpSp>
      <p:grpSp>
        <p:nvGrpSpPr>
          <p:cNvPr id="5" name="Group 82"/>
          <p:cNvGrpSpPr/>
          <p:nvPr/>
        </p:nvGrpSpPr>
        <p:grpSpPr>
          <a:xfrm>
            <a:off x="806450" y="4522788"/>
            <a:ext cx="7326313" cy="557212"/>
            <a:chOff x="508" y="2750"/>
            <a:chExt cx="4615" cy="351"/>
          </a:xfrm>
        </p:grpSpPr>
        <p:sp>
          <p:nvSpPr>
            <p:cNvPr id="15378" name="Freeform 40"/>
            <p:cNvSpPr/>
            <p:nvPr/>
          </p:nvSpPr>
          <p:spPr>
            <a:xfrm>
              <a:off x="1317" y="2787"/>
              <a:ext cx="3806" cy="290"/>
            </a:xfrm>
            <a:custGeom>
              <a:avLst/>
              <a:gdLst>
                <a:gd name="txL" fmla="*/ 0 w 4179"/>
                <a:gd name="txT" fmla="*/ 0 h 290"/>
                <a:gd name="txR" fmla="*/ 4179 w 4179"/>
                <a:gd name="txB" fmla="*/ 290 h 290"/>
              </a:gdLst>
              <a:ahLst/>
              <a:cxnLst>
                <a:cxn ang="0">
                  <a:pos x="0" y="290"/>
                </a:cxn>
                <a:cxn ang="0">
                  <a:pos x="403" y="290"/>
                </a:cxn>
                <a:cxn ang="0">
                  <a:pos x="403" y="0"/>
                </a:cxn>
                <a:cxn ang="0">
                  <a:pos x="1227" y="0"/>
                </a:cxn>
                <a:cxn ang="0">
                  <a:pos x="1227" y="290"/>
                </a:cxn>
                <a:cxn ang="0">
                  <a:pos x="1639" y="290"/>
                </a:cxn>
                <a:cxn ang="0">
                  <a:pos x="1639" y="0"/>
                </a:cxn>
                <a:cxn ang="0">
                  <a:pos x="2042" y="0"/>
                </a:cxn>
                <a:cxn ang="0">
                  <a:pos x="2042" y="290"/>
                </a:cxn>
                <a:cxn ang="0">
                  <a:pos x="2454" y="290"/>
                </a:cxn>
                <a:cxn ang="0">
                  <a:pos x="2454" y="11"/>
                </a:cxn>
                <a:cxn ang="0">
                  <a:pos x="3277" y="11"/>
                </a:cxn>
                <a:cxn ang="0">
                  <a:pos x="3277" y="290"/>
                </a:cxn>
                <a:cxn ang="0">
                  <a:pos x="3466" y="290"/>
                </a:cxn>
              </a:cxnLst>
              <a:rect l="txL" t="txT" r="txR" b="txB"/>
              <a:pathLst>
                <a:path w="4179" h="290">
                  <a:moveTo>
                    <a:pt x="0" y="290"/>
                  </a:moveTo>
                  <a:lnTo>
                    <a:pt x="486" y="290"/>
                  </a:lnTo>
                  <a:lnTo>
                    <a:pt x="486" y="0"/>
                  </a:lnTo>
                  <a:lnTo>
                    <a:pt x="1479" y="0"/>
                  </a:lnTo>
                  <a:lnTo>
                    <a:pt x="1479" y="290"/>
                  </a:lnTo>
                  <a:lnTo>
                    <a:pt x="1976" y="290"/>
                  </a:lnTo>
                  <a:lnTo>
                    <a:pt x="1976" y="0"/>
                  </a:lnTo>
                  <a:lnTo>
                    <a:pt x="2462" y="0"/>
                  </a:lnTo>
                  <a:lnTo>
                    <a:pt x="2462" y="290"/>
                  </a:lnTo>
                  <a:lnTo>
                    <a:pt x="2958" y="290"/>
                  </a:lnTo>
                  <a:lnTo>
                    <a:pt x="2958" y="11"/>
                  </a:lnTo>
                  <a:lnTo>
                    <a:pt x="3951" y="11"/>
                  </a:lnTo>
                  <a:lnTo>
                    <a:pt x="3951" y="290"/>
                  </a:lnTo>
                  <a:lnTo>
                    <a:pt x="4179" y="290"/>
                  </a:lnTo>
                </a:path>
              </a:pathLst>
            </a:custGeom>
            <a:noFill/>
            <a:ln w="38100" cap="flat" cmpd="sng">
              <a:solidFill>
                <a:srgbClr val="3333FF">
                  <a:alpha val="100000"/>
                </a:srgbClr>
              </a:solidFill>
              <a:prstDash val="solid"/>
              <a:round/>
              <a:headEnd type="none" w="med" len="med"/>
              <a:tailEnd type="none" w="med" len="med"/>
            </a:ln>
          </p:spPr>
          <p:txBody>
            <a:bodyPr/>
            <a:lstStyle/>
            <a:p>
              <a:endParaRPr lang="zh-CN" altLang="en-US"/>
            </a:p>
          </p:txBody>
        </p:sp>
        <p:sp>
          <p:nvSpPr>
            <p:cNvPr id="15379" name="Text Box 45"/>
            <p:cNvSpPr txBox="1"/>
            <p:nvPr/>
          </p:nvSpPr>
          <p:spPr>
            <a:xfrm>
              <a:off x="508" y="2750"/>
              <a:ext cx="884" cy="265"/>
            </a:xfrm>
            <a:prstGeom prst="rect">
              <a:avLst/>
            </a:prstGeom>
            <a:noFill/>
            <a:ln w="38100">
              <a:noFill/>
            </a:ln>
          </p:spPr>
          <p:txBody>
            <a:bodyPr wrap="none">
              <a:spAutoFit/>
            </a:bodyPr>
            <a:lstStyle/>
            <a:p>
              <a:pPr>
                <a:lnSpc>
                  <a:spcPct val="90000"/>
                </a:lnSpc>
              </a:pPr>
              <a:r>
                <a:rPr lang="zh-CN" altLang="en-US" sz="2400" dirty="0">
                  <a:latin typeface="Times New Roman" panose="02020603050405020304" pitchFamily="18" charset="0"/>
                </a:rPr>
                <a:t>同步电平</a:t>
              </a:r>
            </a:p>
          </p:txBody>
        </p:sp>
        <p:sp>
          <p:nvSpPr>
            <p:cNvPr id="15380" name="Text Box 65"/>
            <p:cNvSpPr txBox="1"/>
            <p:nvPr/>
          </p:nvSpPr>
          <p:spPr>
            <a:xfrm>
              <a:off x="1517" y="277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0</a:t>
              </a:r>
            </a:p>
          </p:txBody>
        </p:sp>
        <p:sp>
          <p:nvSpPr>
            <p:cNvPr id="15381" name="Rectangle 66"/>
            <p:cNvSpPr/>
            <p:nvPr/>
          </p:nvSpPr>
          <p:spPr>
            <a:xfrm>
              <a:off x="2002" y="277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15382" name="Rectangle 67"/>
            <p:cNvSpPr/>
            <p:nvPr/>
          </p:nvSpPr>
          <p:spPr>
            <a:xfrm>
              <a:off x="2457" y="277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15383" name="Rectangle 68"/>
            <p:cNvSpPr/>
            <p:nvPr/>
          </p:nvSpPr>
          <p:spPr>
            <a:xfrm>
              <a:off x="3346" y="277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15384" name="Rectangle 69"/>
            <p:cNvSpPr/>
            <p:nvPr/>
          </p:nvSpPr>
          <p:spPr>
            <a:xfrm>
              <a:off x="4246" y="277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15385" name="Rectangle 70"/>
            <p:cNvSpPr/>
            <p:nvPr/>
          </p:nvSpPr>
          <p:spPr>
            <a:xfrm>
              <a:off x="4702" y="277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15386" name="Text Box 71"/>
            <p:cNvSpPr txBox="1"/>
            <p:nvPr/>
          </p:nvSpPr>
          <p:spPr>
            <a:xfrm>
              <a:off x="2881" y="277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0</a:t>
              </a:r>
            </a:p>
          </p:txBody>
        </p:sp>
        <p:sp>
          <p:nvSpPr>
            <p:cNvPr id="15387" name="Text Box 72"/>
            <p:cNvSpPr txBox="1"/>
            <p:nvPr/>
          </p:nvSpPr>
          <p:spPr>
            <a:xfrm>
              <a:off x="3822" y="277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0</a:t>
              </a:r>
            </a:p>
          </p:txBody>
        </p:sp>
      </p:grpSp>
      <p:grpSp>
        <p:nvGrpSpPr>
          <p:cNvPr id="6" name="Group 81"/>
          <p:cNvGrpSpPr/>
          <p:nvPr/>
        </p:nvGrpSpPr>
        <p:grpSpPr>
          <a:xfrm>
            <a:off x="806450" y="5308600"/>
            <a:ext cx="7342188" cy="692150"/>
            <a:chOff x="508" y="3245"/>
            <a:chExt cx="4625" cy="436"/>
          </a:xfrm>
        </p:grpSpPr>
        <p:sp>
          <p:nvSpPr>
            <p:cNvPr id="15368" name="Freeform 41"/>
            <p:cNvSpPr/>
            <p:nvPr/>
          </p:nvSpPr>
          <p:spPr>
            <a:xfrm>
              <a:off x="1348" y="3367"/>
              <a:ext cx="3785" cy="289"/>
            </a:xfrm>
            <a:custGeom>
              <a:avLst/>
              <a:gdLst>
                <a:gd name="txL" fmla="*/ 0 w 4158"/>
                <a:gd name="txT" fmla="*/ 0 h 289"/>
                <a:gd name="txR" fmla="*/ 4158 w 4158"/>
                <a:gd name="txB" fmla="*/ 289 h 289"/>
              </a:gdLst>
              <a:ahLst/>
              <a:cxnLst>
                <a:cxn ang="0">
                  <a:pos x="0" y="0"/>
                </a:cxn>
                <a:cxn ang="0">
                  <a:pos x="651" y="0"/>
                </a:cxn>
                <a:cxn ang="0">
                  <a:pos x="651" y="289"/>
                </a:cxn>
                <a:cxn ang="0">
                  <a:pos x="1337" y="289"/>
                </a:cxn>
                <a:cxn ang="0">
                  <a:pos x="1337" y="0"/>
                </a:cxn>
                <a:cxn ang="0">
                  <a:pos x="1612" y="0"/>
                </a:cxn>
                <a:cxn ang="0">
                  <a:pos x="1612" y="289"/>
                </a:cxn>
                <a:cxn ang="0">
                  <a:pos x="2563" y="289"/>
                </a:cxn>
                <a:cxn ang="0">
                  <a:pos x="2563" y="0"/>
                </a:cxn>
                <a:cxn ang="0">
                  <a:pos x="2700" y="0"/>
                </a:cxn>
                <a:cxn ang="0">
                  <a:pos x="2700" y="289"/>
                </a:cxn>
                <a:cxn ang="0">
                  <a:pos x="2906" y="289"/>
                </a:cxn>
                <a:cxn ang="0">
                  <a:pos x="2906" y="0"/>
                </a:cxn>
                <a:cxn ang="0">
                  <a:pos x="3043" y="0"/>
                </a:cxn>
                <a:cxn ang="0">
                  <a:pos x="3043" y="289"/>
                </a:cxn>
                <a:cxn ang="0">
                  <a:pos x="3445" y="289"/>
                </a:cxn>
              </a:cxnLst>
              <a:rect l="txL" t="txT" r="txR" b="txB"/>
              <a:pathLst>
                <a:path w="4158" h="289">
                  <a:moveTo>
                    <a:pt x="0" y="0"/>
                  </a:moveTo>
                  <a:lnTo>
                    <a:pt x="786" y="0"/>
                  </a:lnTo>
                  <a:lnTo>
                    <a:pt x="786" y="289"/>
                  </a:lnTo>
                  <a:lnTo>
                    <a:pt x="1614" y="289"/>
                  </a:lnTo>
                  <a:lnTo>
                    <a:pt x="1614" y="0"/>
                  </a:lnTo>
                  <a:lnTo>
                    <a:pt x="1945" y="0"/>
                  </a:lnTo>
                  <a:lnTo>
                    <a:pt x="1945" y="289"/>
                  </a:lnTo>
                  <a:lnTo>
                    <a:pt x="3093" y="289"/>
                  </a:lnTo>
                  <a:lnTo>
                    <a:pt x="3093" y="0"/>
                  </a:lnTo>
                  <a:lnTo>
                    <a:pt x="3258" y="0"/>
                  </a:lnTo>
                  <a:lnTo>
                    <a:pt x="3258" y="289"/>
                  </a:lnTo>
                  <a:lnTo>
                    <a:pt x="3507" y="289"/>
                  </a:lnTo>
                  <a:lnTo>
                    <a:pt x="3507" y="0"/>
                  </a:lnTo>
                  <a:lnTo>
                    <a:pt x="3672" y="0"/>
                  </a:lnTo>
                  <a:lnTo>
                    <a:pt x="3672" y="289"/>
                  </a:lnTo>
                  <a:lnTo>
                    <a:pt x="4158" y="289"/>
                  </a:lnTo>
                </a:path>
              </a:pathLst>
            </a:custGeom>
            <a:noFill/>
            <a:ln w="38100" cap="flat" cmpd="sng">
              <a:solidFill>
                <a:srgbClr val="3333FF">
                  <a:alpha val="100000"/>
                </a:srgbClr>
              </a:solidFill>
              <a:prstDash val="solid"/>
              <a:round/>
              <a:headEnd type="none" w="med" len="med"/>
              <a:tailEnd type="none" w="med" len="med"/>
            </a:ln>
          </p:spPr>
          <p:txBody>
            <a:bodyPr/>
            <a:lstStyle/>
            <a:p>
              <a:endParaRPr lang="zh-CN" altLang="en-US"/>
            </a:p>
          </p:txBody>
        </p:sp>
        <p:sp>
          <p:nvSpPr>
            <p:cNvPr id="15369" name="Text Box 43"/>
            <p:cNvSpPr txBox="1"/>
            <p:nvPr/>
          </p:nvSpPr>
          <p:spPr>
            <a:xfrm>
              <a:off x="508" y="3245"/>
              <a:ext cx="884" cy="265"/>
            </a:xfrm>
            <a:prstGeom prst="rect">
              <a:avLst/>
            </a:prstGeom>
            <a:noFill/>
            <a:ln w="38100">
              <a:noFill/>
            </a:ln>
          </p:spPr>
          <p:txBody>
            <a:bodyPr wrap="none">
              <a:spAutoFit/>
            </a:bodyPr>
            <a:lstStyle/>
            <a:p>
              <a:pPr>
                <a:lnSpc>
                  <a:spcPct val="90000"/>
                </a:lnSpc>
              </a:pPr>
              <a:r>
                <a:rPr lang="zh-CN" altLang="en-US" sz="2400" dirty="0">
                  <a:latin typeface="Times New Roman" panose="02020603050405020304" pitchFamily="18" charset="0"/>
                </a:rPr>
                <a:t>异步电平</a:t>
              </a:r>
            </a:p>
          </p:txBody>
        </p:sp>
        <p:sp>
          <p:nvSpPr>
            <p:cNvPr id="15370" name="Rectangle 73"/>
            <p:cNvSpPr/>
            <p:nvPr/>
          </p:nvSpPr>
          <p:spPr>
            <a:xfrm>
              <a:off x="1537" y="335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15371" name="Text Box 74"/>
            <p:cNvSpPr txBox="1"/>
            <p:nvPr/>
          </p:nvSpPr>
          <p:spPr>
            <a:xfrm>
              <a:off x="2344" y="335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0</a:t>
              </a:r>
            </a:p>
          </p:txBody>
        </p:sp>
        <p:sp>
          <p:nvSpPr>
            <p:cNvPr id="15372" name="Text Box 75"/>
            <p:cNvSpPr txBox="1"/>
            <p:nvPr/>
          </p:nvSpPr>
          <p:spPr>
            <a:xfrm>
              <a:off x="3544" y="335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0</a:t>
              </a:r>
            </a:p>
          </p:txBody>
        </p:sp>
        <p:sp>
          <p:nvSpPr>
            <p:cNvPr id="15373" name="Text Box 76"/>
            <p:cNvSpPr txBox="1"/>
            <p:nvPr/>
          </p:nvSpPr>
          <p:spPr>
            <a:xfrm>
              <a:off x="4299" y="335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0</a:t>
              </a:r>
            </a:p>
          </p:txBody>
        </p:sp>
        <p:sp>
          <p:nvSpPr>
            <p:cNvPr id="15374" name="Text Box 77"/>
            <p:cNvSpPr txBox="1"/>
            <p:nvPr/>
          </p:nvSpPr>
          <p:spPr>
            <a:xfrm>
              <a:off x="4806" y="335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0</a:t>
              </a:r>
            </a:p>
          </p:txBody>
        </p:sp>
        <p:sp>
          <p:nvSpPr>
            <p:cNvPr id="15375" name="Rectangle 78"/>
            <p:cNvSpPr/>
            <p:nvPr/>
          </p:nvSpPr>
          <p:spPr>
            <a:xfrm>
              <a:off x="2840" y="335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15376" name="Rectangle 79"/>
            <p:cNvSpPr/>
            <p:nvPr/>
          </p:nvSpPr>
          <p:spPr>
            <a:xfrm>
              <a:off x="4123" y="335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15377" name="Rectangle 80"/>
            <p:cNvSpPr/>
            <p:nvPr/>
          </p:nvSpPr>
          <p:spPr>
            <a:xfrm>
              <a:off x="4504" y="335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395288" y="392113"/>
            <a:ext cx="5678488" cy="954088"/>
          </a:xfrm>
          <a:prstGeom prst="rect">
            <a:avLst/>
          </a:prstGeom>
          <a:noFill/>
          <a:ln w="38100">
            <a:noFill/>
            <a:miter lim="800000"/>
          </a:ln>
          <a:effectLst/>
        </p:spPr>
        <p:txBody>
          <a:bodyPr>
            <a:spAutoFit/>
          </a:bodyPr>
          <a:lstStyle/>
          <a:p>
            <a:pPr marR="0" defTabSz="914400">
              <a:buClrTx/>
              <a:buSzTx/>
              <a:buFontTx/>
              <a:buNone/>
              <a:defRPr/>
            </a:pPr>
            <a:r>
              <a:rPr kumimoji="1"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3.</a:t>
            </a:r>
            <a:r>
              <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时序逻辑电路的表示方法：</a:t>
            </a:r>
            <a:endParaRPr kumimoji="1"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a:p>
            <a:pPr marR="0" defTabSz="914400">
              <a:buClrTx/>
              <a:buSzTx/>
              <a:buFontTx/>
              <a:buNone/>
              <a:defRPr/>
            </a:pPr>
            <a:r>
              <a:rPr kumimoji="1"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  </a:t>
            </a:r>
            <a:r>
              <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状态表和状态图</a:t>
            </a:r>
          </a:p>
        </p:txBody>
      </p:sp>
      <p:sp>
        <p:nvSpPr>
          <p:cNvPr id="10243" name="Text Box 3"/>
          <p:cNvSpPr txBox="1"/>
          <p:nvPr/>
        </p:nvSpPr>
        <p:spPr>
          <a:xfrm>
            <a:off x="852488" y="1193800"/>
            <a:ext cx="7439025" cy="2016125"/>
          </a:xfrm>
          <a:prstGeom prst="rect">
            <a:avLst/>
          </a:prstGeom>
          <a:noFill/>
          <a:ln w="38100">
            <a:noFill/>
          </a:ln>
        </p:spPr>
        <p:txBody>
          <a:bodyPr>
            <a:spAutoFit/>
          </a:bodyPr>
          <a:lstStyle/>
          <a:p>
            <a:pPr indent="673100">
              <a:lnSpc>
                <a:spcPct val="150000"/>
              </a:lnSpc>
              <a:spcBef>
                <a:spcPct val="50000"/>
              </a:spcBef>
            </a:pPr>
            <a:r>
              <a:rPr lang="zh-CN" altLang="en-US" sz="2800" dirty="0">
                <a:latin typeface="Times New Roman" panose="02020603050405020304" pitchFamily="18" charset="0"/>
              </a:rPr>
              <a:t>状态表与状态图是用来表示同步时序电路的输入、输出、现态、次态之间转移关系的两种常用工具。</a:t>
            </a:r>
          </a:p>
        </p:txBody>
      </p:sp>
      <p:sp>
        <p:nvSpPr>
          <p:cNvPr id="10245" name="Text Box 5"/>
          <p:cNvSpPr txBox="1">
            <a:spLocks noChangeArrowheads="1"/>
          </p:cNvSpPr>
          <p:nvPr/>
        </p:nvSpPr>
        <p:spPr bwMode="auto">
          <a:xfrm>
            <a:off x="1676400" y="3190875"/>
            <a:ext cx="4621213" cy="579438"/>
          </a:xfrm>
          <a:prstGeom prst="rect">
            <a:avLst/>
          </a:prstGeom>
          <a:noFill/>
          <a:ln w="38100">
            <a:noFill/>
            <a:miter lim="800000"/>
          </a:ln>
          <a:effectLst/>
        </p:spPr>
        <p:txBody>
          <a:bodyPr wrap="none">
            <a:spAutoFit/>
          </a:bodyPr>
          <a:lstStyle/>
          <a:p>
            <a:pPr marR="0" defTabSz="914400">
              <a:buClrTx/>
              <a:buSzTx/>
              <a:buFontTx/>
              <a:buNone/>
              <a:defRPr/>
            </a:pPr>
            <a:r>
              <a:rPr kumimoji="1" lang="en-US" altLang="zh-CN"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Mealy </a:t>
            </a:r>
            <a:r>
              <a:rPr kumimoji="1" lang="zh-CN" altLang="zh-CN"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型状态表和状态图</a:t>
            </a:r>
            <a:endParaRPr kumimoji="1" lang="zh-CN" altLang="en-US"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0246" name="Text Box 6"/>
          <p:cNvSpPr txBox="1"/>
          <p:nvPr/>
        </p:nvSpPr>
        <p:spPr>
          <a:xfrm>
            <a:off x="1130300" y="3762375"/>
            <a:ext cx="6883400" cy="2016125"/>
          </a:xfrm>
          <a:prstGeom prst="rect">
            <a:avLst/>
          </a:prstGeom>
          <a:noFill/>
          <a:ln w="38100">
            <a:noFill/>
          </a:ln>
        </p:spPr>
        <p:txBody>
          <a:bodyPr>
            <a:spAutoFit/>
          </a:bodyPr>
          <a:lstStyle/>
          <a:p>
            <a:pPr indent="673100">
              <a:lnSpc>
                <a:spcPct val="150000"/>
              </a:lnSpc>
              <a:spcBef>
                <a:spcPct val="50000"/>
              </a:spcBef>
            </a:pPr>
            <a:r>
              <a:rPr lang="zh-CN" altLang="en-US" sz="2800" dirty="0">
                <a:latin typeface="Times New Roman" panose="02020603050405020304" pitchFamily="18" charset="0"/>
              </a:rPr>
              <a:t>如果同步时序电路的输出是输入和现态的函数，即</a:t>
            </a:r>
            <a:r>
              <a:rPr lang="en-US" altLang="zh-CN" sz="2800" i="1" dirty="0">
                <a:latin typeface="Times New Roman" panose="02020603050405020304" pitchFamily="18" charset="0"/>
              </a:rPr>
              <a:t>Z</a:t>
            </a:r>
            <a:r>
              <a:rPr lang="en-US" altLang="zh-CN" sz="2800" i="1" baseline="-25000" dirty="0">
                <a:latin typeface="Times New Roman" panose="02020603050405020304" pitchFamily="18" charset="0"/>
              </a:rPr>
              <a:t>i</a:t>
            </a:r>
            <a:r>
              <a:rPr lang="en-US" altLang="zh-CN" sz="2800" i="1" dirty="0">
                <a:latin typeface="Times New Roman" panose="02020603050405020304" pitchFamily="18" charset="0"/>
              </a:rPr>
              <a:t>= f</a:t>
            </a:r>
            <a:r>
              <a:rPr lang="en-US" altLang="zh-CN" sz="2800" i="1" baseline="-25000" dirty="0">
                <a:latin typeface="Times New Roman" panose="02020603050405020304" pitchFamily="18" charset="0"/>
              </a:rPr>
              <a:t>i</a:t>
            </a:r>
            <a:r>
              <a:rPr lang="en-US" altLang="zh-CN" sz="2800" i="1" dirty="0">
                <a:latin typeface="Times New Roman" panose="02020603050405020304" pitchFamily="18" charset="0"/>
              </a:rPr>
              <a:t> </a:t>
            </a:r>
            <a:r>
              <a:rPr lang="en-US" altLang="zh-CN" sz="2800" dirty="0">
                <a:latin typeface="Times New Roman" panose="02020603050405020304" pitchFamily="18" charset="0"/>
              </a:rPr>
              <a:t>(</a:t>
            </a:r>
            <a:r>
              <a:rPr lang="en-US" altLang="zh-CN" sz="2800" i="1" dirty="0">
                <a:latin typeface="Times New Roman" panose="02020603050405020304" pitchFamily="18" charset="0"/>
              </a:rPr>
              <a:t>x</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 </a:t>
            </a:r>
            <a:r>
              <a:rPr lang="en-US" altLang="zh-CN" sz="2800" i="1" dirty="0">
                <a:latin typeface="Times New Roman" panose="02020603050405020304" pitchFamily="18" charset="0"/>
              </a:rPr>
              <a:t>x</a:t>
            </a:r>
            <a:r>
              <a:rPr lang="en-US" altLang="zh-CN" sz="2800" i="1" baseline="-25000" dirty="0">
                <a:latin typeface="Times New Roman" panose="02020603050405020304" pitchFamily="18" charset="0"/>
              </a:rPr>
              <a:t>n </a:t>
            </a:r>
            <a:r>
              <a:rPr lang="en-US" altLang="zh-CN" sz="2800" dirty="0">
                <a:latin typeface="Times New Roman" panose="02020603050405020304" pitchFamily="18" charset="0"/>
              </a:rPr>
              <a:t>; </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 </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r </a:t>
            </a:r>
            <a:r>
              <a:rPr lang="en-US" altLang="zh-CN" sz="2800" dirty="0">
                <a:latin typeface="Times New Roman" panose="02020603050405020304" pitchFamily="18" charset="0"/>
              </a:rPr>
              <a:t>)</a:t>
            </a:r>
            <a:r>
              <a:rPr lang="en-US" altLang="zh-CN" sz="2800" i="1" baseline="-25000" dirty="0">
                <a:latin typeface="Times New Roman" panose="02020603050405020304" pitchFamily="18" charset="0"/>
              </a:rPr>
              <a:t> </a:t>
            </a:r>
            <a:r>
              <a:rPr lang="en-US" altLang="zh-CN" sz="2800" i="1" dirty="0">
                <a:latin typeface="Times New Roman" panose="02020603050405020304" pitchFamily="18" charset="0"/>
              </a:rPr>
              <a:t>, i=</a:t>
            </a:r>
            <a:r>
              <a:rPr lang="en-US" altLang="zh-CN" sz="2800" dirty="0">
                <a:latin typeface="Times New Roman" panose="02020603050405020304" pitchFamily="18" charset="0"/>
              </a:rPr>
              <a:t>1</a:t>
            </a:r>
            <a:r>
              <a:rPr lang="en-US" altLang="zh-CN" sz="2800" i="1" dirty="0">
                <a:latin typeface="Times New Roman" panose="02020603050405020304" pitchFamily="18" charset="0"/>
              </a:rPr>
              <a:t>, …, m</a:t>
            </a:r>
            <a:r>
              <a:rPr lang="en-US" altLang="zh-CN" sz="2800" dirty="0">
                <a:latin typeface="Times New Roman" panose="02020603050405020304" pitchFamily="18" charset="0"/>
              </a:rPr>
              <a:t> </a:t>
            </a:r>
            <a:r>
              <a:rPr lang="zh-CN" altLang="en-US" sz="2800" dirty="0">
                <a:latin typeface="Times New Roman" panose="02020603050405020304" pitchFamily="18" charset="0"/>
              </a:rPr>
              <a:t>，则称该电路为</a:t>
            </a:r>
            <a:r>
              <a:rPr lang="en-US" altLang="zh-CN" sz="2800" dirty="0">
                <a:latin typeface="Times New Roman" panose="02020603050405020304" pitchFamily="18" charset="0"/>
              </a:rPr>
              <a:t>Mealy</a:t>
            </a:r>
            <a:r>
              <a:rPr lang="zh-CN" altLang="zh-CN" sz="2800" dirty="0">
                <a:latin typeface="Times New Roman" panose="02020603050405020304" pitchFamily="18" charset="0"/>
              </a:rPr>
              <a:t>型电路。</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wipe(left)">
                                      <p:cBhvr>
                                        <p:cTn id="7" dur="500"/>
                                        <p:tgtEl>
                                          <p:spTgt spid="10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24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246">
                                            <p:txEl>
                                              <p:pRg st="0" end="0"/>
                                            </p:txEl>
                                          </p:spTgt>
                                        </p:tgtEl>
                                        <p:attrNameLst>
                                          <p:attrName>style.visibility</p:attrName>
                                        </p:attrNameLst>
                                      </p:cBhvr>
                                      <p:to>
                                        <p:strVal val="visible"/>
                                      </p:to>
                                    </p:set>
                                    <p:animEffect transition="in" filter="wipe(left)">
                                      <p:cBhvr>
                                        <p:cTn id="16" dur="500"/>
                                        <p:tgtEl>
                                          <p:spTgt spid="1024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P spid="10245" grpId="0"/>
      <p:bldP spid="1024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1576388" y="684213"/>
            <a:ext cx="1970088" cy="519113"/>
          </a:xfrm>
          <a:prstGeom prst="rect">
            <a:avLst/>
          </a:prstGeom>
          <a:noFill/>
          <a:ln w="38100">
            <a:noFill/>
            <a:miter lim="800000"/>
          </a:ln>
          <a:effectLst/>
        </p:spPr>
        <p:txBody>
          <a:bodyPr wrap="none">
            <a:spAutoFit/>
          </a:bodyPr>
          <a:lstStyle/>
          <a:p>
            <a:pPr marR="0" defTabSz="914400">
              <a:buClrTx/>
              <a:buSzTx/>
              <a:buFontTx/>
              <a:buNone/>
              <a:defRPr/>
            </a:pPr>
            <a:r>
              <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一、状态表</a:t>
            </a:r>
          </a:p>
        </p:txBody>
      </p:sp>
      <p:sp>
        <p:nvSpPr>
          <p:cNvPr id="12291" name="Text Box 3"/>
          <p:cNvSpPr txBox="1"/>
          <p:nvPr/>
        </p:nvSpPr>
        <p:spPr>
          <a:xfrm>
            <a:off x="1411288" y="1254125"/>
            <a:ext cx="3313112" cy="519113"/>
          </a:xfrm>
          <a:prstGeom prst="rect">
            <a:avLst/>
          </a:prstGeom>
          <a:noFill/>
          <a:ln w="38100">
            <a:noFill/>
          </a:ln>
        </p:spPr>
        <p:txBody>
          <a:bodyPr wrap="none">
            <a:spAutoFit/>
          </a:bodyPr>
          <a:lstStyle/>
          <a:p>
            <a:r>
              <a:rPr lang="en-US" altLang="zh-CN" sz="2800" dirty="0">
                <a:latin typeface="Times New Roman" panose="02020603050405020304" pitchFamily="18" charset="0"/>
              </a:rPr>
              <a:t>Mealy </a:t>
            </a:r>
            <a:r>
              <a:rPr lang="zh-CN" altLang="zh-CN" sz="2800" dirty="0">
                <a:latin typeface="Times New Roman" panose="02020603050405020304" pitchFamily="18" charset="0"/>
              </a:rPr>
              <a:t>型电路状态表</a:t>
            </a:r>
            <a:endParaRPr lang="zh-CN" altLang="en-US" sz="2800" dirty="0">
              <a:latin typeface="Times New Roman" panose="02020603050405020304" pitchFamily="18" charset="0"/>
            </a:endParaRPr>
          </a:p>
        </p:txBody>
      </p:sp>
      <p:grpSp>
        <p:nvGrpSpPr>
          <p:cNvPr id="2" name="Group 21"/>
          <p:cNvGrpSpPr/>
          <p:nvPr/>
        </p:nvGrpSpPr>
        <p:grpSpPr>
          <a:xfrm>
            <a:off x="1273175" y="1889125"/>
            <a:ext cx="5630863" cy="2593975"/>
            <a:chOff x="1190" y="1541"/>
            <a:chExt cx="3547" cy="1967"/>
          </a:xfrm>
        </p:grpSpPr>
        <p:sp>
          <p:nvSpPr>
            <p:cNvPr id="17414" name="Line 5"/>
            <p:cNvSpPr/>
            <p:nvPr/>
          </p:nvSpPr>
          <p:spPr>
            <a:xfrm>
              <a:off x="1190" y="1541"/>
              <a:ext cx="3538" cy="0"/>
            </a:xfrm>
            <a:prstGeom prst="line">
              <a:avLst/>
            </a:prstGeom>
            <a:ln w="38100" cap="flat" cmpd="sng">
              <a:solidFill>
                <a:srgbClr val="3333FF"/>
              </a:solidFill>
              <a:prstDash val="solid"/>
              <a:headEnd type="none" w="med" len="med"/>
              <a:tailEnd type="none" w="med" len="med"/>
            </a:ln>
          </p:spPr>
        </p:sp>
        <p:sp>
          <p:nvSpPr>
            <p:cNvPr id="17415" name="Line 6"/>
            <p:cNvSpPr/>
            <p:nvPr/>
          </p:nvSpPr>
          <p:spPr>
            <a:xfrm>
              <a:off x="1190" y="2325"/>
              <a:ext cx="3538" cy="0"/>
            </a:xfrm>
            <a:prstGeom prst="line">
              <a:avLst/>
            </a:prstGeom>
            <a:ln w="38100" cap="flat" cmpd="sng">
              <a:solidFill>
                <a:srgbClr val="3333FF"/>
              </a:solidFill>
              <a:prstDash val="solid"/>
              <a:headEnd type="none" w="med" len="med"/>
              <a:tailEnd type="none" w="med" len="med"/>
            </a:ln>
          </p:spPr>
        </p:sp>
        <p:sp>
          <p:nvSpPr>
            <p:cNvPr id="17416" name="Line 7"/>
            <p:cNvSpPr/>
            <p:nvPr/>
          </p:nvSpPr>
          <p:spPr>
            <a:xfrm>
              <a:off x="1190" y="2718"/>
              <a:ext cx="3538" cy="0"/>
            </a:xfrm>
            <a:prstGeom prst="line">
              <a:avLst/>
            </a:prstGeom>
            <a:ln w="38100" cap="flat" cmpd="sng">
              <a:solidFill>
                <a:srgbClr val="3333FF"/>
              </a:solidFill>
              <a:prstDash val="solid"/>
              <a:headEnd type="none" w="med" len="med"/>
              <a:tailEnd type="none" w="med" len="med"/>
            </a:ln>
          </p:spPr>
        </p:sp>
        <p:sp>
          <p:nvSpPr>
            <p:cNvPr id="17417" name="Line 8"/>
            <p:cNvSpPr/>
            <p:nvPr/>
          </p:nvSpPr>
          <p:spPr>
            <a:xfrm>
              <a:off x="1190" y="3110"/>
              <a:ext cx="3538" cy="0"/>
            </a:xfrm>
            <a:prstGeom prst="line">
              <a:avLst/>
            </a:prstGeom>
            <a:ln w="38100" cap="flat" cmpd="sng">
              <a:solidFill>
                <a:srgbClr val="3333FF"/>
              </a:solidFill>
              <a:prstDash val="solid"/>
              <a:headEnd type="none" w="med" len="med"/>
              <a:tailEnd type="none" w="med" len="med"/>
            </a:ln>
          </p:spPr>
        </p:sp>
        <p:sp>
          <p:nvSpPr>
            <p:cNvPr id="17418" name="Line 9"/>
            <p:cNvSpPr/>
            <p:nvPr/>
          </p:nvSpPr>
          <p:spPr>
            <a:xfrm>
              <a:off x="1190" y="3503"/>
              <a:ext cx="3538" cy="0"/>
            </a:xfrm>
            <a:prstGeom prst="line">
              <a:avLst/>
            </a:prstGeom>
            <a:ln w="38100" cap="flat" cmpd="sng">
              <a:solidFill>
                <a:srgbClr val="3333FF"/>
              </a:solidFill>
              <a:prstDash val="solid"/>
              <a:headEnd type="none" w="med" len="med"/>
              <a:tailEnd type="none" w="med" len="med"/>
            </a:ln>
          </p:spPr>
        </p:sp>
        <p:sp>
          <p:nvSpPr>
            <p:cNvPr id="17419" name="Line 10"/>
            <p:cNvSpPr/>
            <p:nvPr/>
          </p:nvSpPr>
          <p:spPr>
            <a:xfrm>
              <a:off x="2064" y="1551"/>
              <a:ext cx="0" cy="1945"/>
            </a:xfrm>
            <a:prstGeom prst="line">
              <a:avLst/>
            </a:prstGeom>
            <a:ln w="38100" cap="flat" cmpd="sng">
              <a:solidFill>
                <a:srgbClr val="3333FF"/>
              </a:solidFill>
              <a:prstDash val="solid"/>
              <a:headEnd type="none" w="med" len="med"/>
              <a:tailEnd type="none" w="med" len="med"/>
            </a:ln>
          </p:spPr>
        </p:sp>
        <p:sp>
          <p:nvSpPr>
            <p:cNvPr id="17420" name="Line 11"/>
            <p:cNvSpPr/>
            <p:nvPr/>
          </p:nvSpPr>
          <p:spPr>
            <a:xfrm>
              <a:off x="2947" y="1933"/>
              <a:ext cx="0" cy="1563"/>
            </a:xfrm>
            <a:prstGeom prst="line">
              <a:avLst/>
            </a:prstGeom>
            <a:ln w="38100" cap="flat" cmpd="sng">
              <a:solidFill>
                <a:srgbClr val="3333FF"/>
              </a:solidFill>
              <a:prstDash val="solid"/>
              <a:headEnd type="none" w="med" len="med"/>
              <a:tailEnd type="none" w="med" len="med"/>
            </a:ln>
          </p:spPr>
        </p:sp>
        <p:sp>
          <p:nvSpPr>
            <p:cNvPr id="17421" name="Line 12"/>
            <p:cNvSpPr/>
            <p:nvPr/>
          </p:nvSpPr>
          <p:spPr>
            <a:xfrm>
              <a:off x="3831" y="1924"/>
              <a:ext cx="0" cy="1584"/>
            </a:xfrm>
            <a:prstGeom prst="line">
              <a:avLst/>
            </a:prstGeom>
            <a:ln w="38100" cap="flat" cmpd="sng">
              <a:solidFill>
                <a:srgbClr val="3333FF"/>
              </a:solidFill>
              <a:prstDash val="solid"/>
              <a:headEnd type="none" w="med" len="med"/>
              <a:tailEnd type="none" w="med" len="med"/>
            </a:ln>
          </p:spPr>
        </p:sp>
        <p:sp>
          <p:nvSpPr>
            <p:cNvPr id="17422" name="Line 14"/>
            <p:cNvSpPr/>
            <p:nvPr/>
          </p:nvSpPr>
          <p:spPr>
            <a:xfrm>
              <a:off x="2058" y="1933"/>
              <a:ext cx="2679" cy="0"/>
            </a:xfrm>
            <a:prstGeom prst="line">
              <a:avLst/>
            </a:prstGeom>
            <a:ln w="38100" cap="flat" cmpd="sng">
              <a:solidFill>
                <a:srgbClr val="3333FF"/>
              </a:solidFill>
              <a:prstDash val="solid"/>
              <a:headEnd type="none" w="med" len="med"/>
              <a:tailEnd type="none" w="med" len="med"/>
            </a:ln>
          </p:spPr>
        </p:sp>
        <p:sp>
          <p:nvSpPr>
            <p:cNvPr id="17423" name="Text Box 15"/>
            <p:cNvSpPr txBox="1"/>
            <p:nvPr/>
          </p:nvSpPr>
          <p:spPr>
            <a:xfrm>
              <a:off x="1287" y="1726"/>
              <a:ext cx="564" cy="394"/>
            </a:xfrm>
            <a:prstGeom prst="rect">
              <a:avLst/>
            </a:prstGeom>
            <a:noFill/>
            <a:ln w="38100">
              <a:noFill/>
            </a:ln>
          </p:spPr>
          <p:txBody>
            <a:bodyPr wrap="none">
              <a:spAutoFit/>
            </a:bodyPr>
            <a:lstStyle/>
            <a:p>
              <a:r>
                <a:rPr lang="zh-CN" altLang="en-US" sz="2800" dirty="0">
                  <a:latin typeface="Times New Roman" panose="02020603050405020304" pitchFamily="18" charset="0"/>
                </a:rPr>
                <a:t>现态</a:t>
              </a:r>
            </a:p>
          </p:txBody>
        </p:sp>
        <p:sp>
          <p:nvSpPr>
            <p:cNvPr id="17424" name="Text Box 16"/>
            <p:cNvSpPr txBox="1"/>
            <p:nvPr/>
          </p:nvSpPr>
          <p:spPr>
            <a:xfrm>
              <a:off x="2600" y="1583"/>
              <a:ext cx="1186" cy="394"/>
            </a:xfrm>
            <a:prstGeom prst="rect">
              <a:avLst/>
            </a:prstGeom>
            <a:noFill/>
            <a:ln w="38100">
              <a:noFill/>
            </a:ln>
          </p:spPr>
          <p:txBody>
            <a:bodyPr wrap="none">
              <a:spAutoFit/>
            </a:bodyPr>
            <a:lstStyle/>
            <a:p>
              <a:r>
                <a:rPr lang="zh-CN" altLang="en-US" sz="2800" dirty="0">
                  <a:latin typeface="Times New Roman" panose="02020603050405020304" pitchFamily="18" charset="0"/>
                </a:rPr>
                <a:t>次态 </a:t>
              </a:r>
              <a:r>
                <a:rPr lang="en-US" altLang="zh-CN" sz="2800" dirty="0">
                  <a:latin typeface="Times New Roman" panose="02020603050405020304" pitchFamily="18" charset="0"/>
                </a:rPr>
                <a:t>/ </a:t>
              </a:r>
              <a:r>
                <a:rPr lang="zh-CN" altLang="en-US" sz="2800" dirty="0">
                  <a:latin typeface="Times New Roman" panose="02020603050405020304" pitchFamily="18" charset="0"/>
                </a:rPr>
                <a:t>输出</a:t>
              </a:r>
            </a:p>
          </p:txBody>
        </p:sp>
        <p:sp>
          <p:nvSpPr>
            <p:cNvPr id="17425" name="Text Box 17"/>
            <p:cNvSpPr txBox="1"/>
            <p:nvPr/>
          </p:nvSpPr>
          <p:spPr>
            <a:xfrm>
              <a:off x="3014" y="1986"/>
              <a:ext cx="663" cy="394"/>
            </a:xfrm>
            <a:prstGeom prst="rect">
              <a:avLst/>
            </a:prstGeom>
            <a:noFill/>
            <a:ln w="38100">
              <a:noFill/>
            </a:ln>
          </p:spPr>
          <p:txBody>
            <a:bodyPr wrap="none">
              <a:spAutoFit/>
            </a:bodyPr>
            <a:lstStyle/>
            <a:p>
              <a:r>
                <a:rPr lang="zh-CN" altLang="en-US" sz="2800" dirty="0">
                  <a:latin typeface="Times New Roman" panose="02020603050405020304" pitchFamily="18" charset="0"/>
                </a:rPr>
                <a:t>输入</a:t>
              </a:r>
              <a:r>
                <a:rPr lang="en-US" altLang="zh-CN" sz="2800" i="1" dirty="0">
                  <a:latin typeface="Times New Roman" panose="02020603050405020304" pitchFamily="18" charset="0"/>
                </a:rPr>
                <a:t>x</a:t>
              </a:r>
              <a:endParaRPr lang="en-US" altLang="zh-CN" sz="2800" dirty="0">
                <a:latin typeface="Times New Roman" panose="02020603050405020304" pitchFamily="18" charset="0"/>
              </a:endParaRPr>
            </a:p>
          </p:txBody>
        </p:sp>
        <p:sp>
          <p:nvSpPr>
            <p:cNvPr id="17426" name="Text Box 18"/>
            <p:cNvSpPr txBox="1"/>
            <p:nvPr/>
          </p:nvSpPr>
          <p:spPr>
            <a:xfrm>
              <a:off x="1462" y="2742"/>
              <a:ext cx="215" cy="394"/>
            </a:xfrm>
            <a:prstGeom prst="rect">
              <a:avLst/>
            </a:prstGeom>
            <a:noFill/>
            <a:ln w="38100">
              <a:noFill/>
            </a:ln>
          </p:spPr>
          <p:txBody>
            <a:bodyPr wrap="none">
              <a:spAutoFit/>
            </a:bodyPr>
            <a:lstStyle/>
            <a:p>
              <a:r>
                <a:rPr lang="en-US" altLang="zh-CN" sz="2800" i="1" dirty="0">
                  <a:latin typeface="Times New Roman" panose="02020603050405020304" pitchFamily="18" charset="0"/>
                </a:rPr>
                <a:t>y</a:t>
              </a:r>
            </a:p>
          </p:txBody>
        </p:sp>
        <p:sp>
          <p:nvSpPr>
            <p:cNvPr id="17427" name="Text Box 19"/>
            <p:cNvSpPr txBox="1"/>
            <p:nvPr/>
          </p:nvSpPr>
          <p:spPr>
            <a:xfrm>
              <a:off x="3005" y="2752"/>
              <a:ext cx="759" cy="394"/>
            </a:xfrm>
            <a:prstGeom prst="rect">
              <a:avLst/>
            </a:prstGeom>
            <a:noFill/>
            <a:ln w="38100">
              <a:noFill/>
            </a:ln>
          </p:spPr>
          <p:txBody>
            <a:bodyPr wrap="none">
              <a:spAutoFit/>
            </a:bodyPr>
            <a:lstStyle/>
            <a:p>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en-US" altLang="zh-CN" sz="2800" i="1" dirty="0">
                  <a:latin typeface="Times New Roman" panose="02020603050405020304" pitchFamily="18" charset="0"/>
                </a:rPr>
                <a:t>Z</a:t>
              </a:r>
            </a:p>
          </p:txBody>
        </p:sp>
      </p:grpSp>
      <p:sp>
        <p:nvSpPr>
          <p:cNvPr id="12310" name="Text Box 22"/>
          <p:cNvSpPr txBox="1"/>
          <p:nvPr/>
        </p:nvSpPr>
        <p:spPr>
          <a:xfrm>
            <a:off x="1036638" y="4733925"/>
            <a:ext cx="7146925" cy="1501775"/>
          </a:xfrm>
          <a:prstGeom prst="rect">
            <a:avLst/>
          </a:prstGeom>
          <a:noFill/>
          <a:ln w="38100">
            <a:noFill/>
          </a:ln>
        </p:spPr>
        <p:txBody>
          <a:bodyPr>
            <a:spAutoFit/>
          </a:bodyPr>
          <a:lstStyle/>
          <a:p>
            <a:pPr>
              <a:lnSpc>
                <a:spcPct val="110000"/>
              </a:lnSpc>
              <a:spcBef>
                <a:spcPct val="50000"/>
              </a:spcBef>
            </a:pPr>
            <a:r>
              <a:rPr lang="zh-CN" altLang="en-US" sz="2800" dirty="0">
                <a:latin typeface="Times New Roman" panose="02020603050405020304" pitchFamily="18" charset="0"/>
              </a:rPr>
              <a:t>该表表明：处在状态</a:t>
            </a:r>
            <a:r>
              <a:rPr lang="en-US" altLang="zh-CN" sz="2800" i="1" dirty="0">
                <a:latin typeface="Times New Roman" panose="02020603050405020304" pitchFamily="18" charset="0"/>
              </a:rPr>
              <a:t>y</a:t>
            </a:r>
            <a:r>
              <a:rPr lang="zh-CN" altLang="zh-CN" sz="2800" dirty="0">
                <a:latin typeface="Times New Roman" panose="02020603050405020304" pitchFamily="18" charset="0"/>
              </a:rPr>
              <a:t>的同步时序电路，当输入为</a:t>
            </a:r>
            <a:r>
              <a:rPr lang="en-US" altLang="zh-CN" sz="2800" i="1" dirty="0">
                <a:latin typeface="Times New Roman" panose="02020603050405020304" pitchFamily="18" charset="0"/>
              </a:rPr>
              <a:t>x</a:t>
            </a:r>
            <a:r>
              <a:rPr lang="zh-CN" altLang="zh-CN" sz="2800" dirty="0">
                <a:latin typeface="Times New Roman" panose="02020603050405020304" pitchFamily="18" charset="0"/>
              </a:rPr>
              <a:t>时，输出为</a:t>
            </a:r>
            <a:r>
              <a:rPr lang="en-US" altLang="zh-CN" sz="2800" i="1" dirty="0">
                <a:latin typeface="Times New Roman" panose="02020603050405020304" pitchFamily="18" charset="0"/>
              </a:rPr>
              <a:t>z</a:t>
            </a:r>
            <a:r>
              <a:rPr lang="zh-CN" altLang="en-US" sz="2800" dirty="0">
                <a:latin typeface="Times New Roman" panose="02020603050405020304" pitchFamily="18" charset="0"/>
              </a:rPr>
              <a:t>，</a:t>
            </a:r>
            <a:r>
              <a:rPr lang="zh-CN" altLang="zh-CN" sz="2800" dirty="0">
                <a:latin typeface="Times New Roman" panose="02020603050405020304" pitchFamily="18" charset="0"/>
              </a:rPr>
              <a:t>且在时钟脉冲作用下，电路进入次态</a:t>
            </a:r>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a:t>
            </a:r>
            <a:endParaRPr lang="zh-CN" altLang="en-US" sz="2800" baseline="300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wipe(left)">
                                      <p:cBhvr>
                                        <p:cTn id="7" dur="500"/>
                                        <p:tgtEl>
                                          <p:spTgt spid="12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310">
                                            <p:txEl>
                                              <p:pRg st="0" end="0"/>
                                            </p:txEl>
                                          </p:spTgt>
                                        </p:tgtEl>
                                        <p:attrNameLst>
                                          <p:attrName>style.visibility</p:attrName>
                                        </p:attrNameLst>
                                      </p:cBhvr>
                                      <p:to>
                                        <p:strVal val="visible"/>
                                      </p:to>
                                    </p:set>
                                    <p:animEffect transition="in" filter="wipe(left)">
                                      <p:cBhvr>
                                        <p:cTn id="17" dur="500"/>
                                        <p:tgtEl>
                                          <p:spTgt spid="123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P spid="1231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p:nvPr/>
        </p:nvSpPr>
        <p:spPr>
          <a:xfrm>
            <a:off x="2324100" y="954088"/>
            <a:ext cx="3668713" cy="519112"/>
          </a:xfrm>
          <a:prstGeom prst="rect">
            <a:avLst/>
          </a:prstGeom>
          <a:noFill/>
          <a:ln w="38100">
            <a:noFill/>
          </a:ln>
        </p:spPr>
        <p:txBody>
          <a:bodyPr wrap="none">
            <a:spAutoFit/>
          </a:bodyPr>
          <a:lstStyle/>
          <a:p>
            <a:r>
              <a:rPr lang="zh-CN" altLang="zh-CN" sz="2800" dirty="0">
                <a:latin typeface="Times New Roman" panose="02020603050405020304" pitchFamily="18" charset="0"/>
              </a:rPr>
              <a:t>某</a:t>
            </a:r>
            <a:r>
              <a:rPr lang="en-US" altLang="zh-CN" sz="2800" dirty="0">
                <a:latin typeface="Times New Roman" panose="02020603050405020304" pitchFamily="18" charset="0"/>
              </a:rPr>
              <a:t>Mealy </a:t>
            </a:r>
            <a:r>
              <a:rPr lang="zh-CN" altLang="zh-CN" sz="2800" dirty="0">
                <a:latin typeface="Times New Roman" panose="02020603050405020304" pitchFamily="18" charset="0"/>
              </a:rPr>
              <a:t>型电路状态表</a:t>
            </a:r>
            <a:endParaRPr lang="zh-CN" altLang="en-US" sz="2800" dirty="0">
              <a:latin typeface="Times New Roman" panose="02020603050405020304" pitchFamily="18" charset="0"/>
            </a:endParaRPr>
          </a:p>
        </p:txBody>
      </p:sp>
      <p:grpSp>
        <p:nvGrpSpPr>
          <p:cNvPr id="2" name="Group 29"/>
          <p:cNvGrpSpPr/>
          <p:nvPr/>
        </p:nvGrpSpPr>
        <p:grpSpPr>
          <a:xfrm>
            <a:off x="1560513" y="2473325"/>
            <a:ext cx="5876925" cy="2638425"/>
            <a:chOff x="1035" y="1541"/>
            <a:chExt cx="3702" cy="1962"/>
          </a:xfrm>
        </p:grpSpPr>
        <p:grpSp>
          <p:nvGrpSpPr>
            <p:cNvPr id="18436" name="Group 28"/>
            <p:cNvGrpSpPr/>
            <p:nvPr/>
          </p:nvGrpSpPr>
          <p:grpSpPr>
            <a:xfrm>
              <a:off x="1035" y="1541"/>
              <a:ext cx="3693" cy="1962"/>
              <a:chOff x="1190" y="1541"/>
              <a:chExt cx="3538" cy="1962"/>
            </a:xfrm>
          </p:grpSpPr>
          <p:sp>
            <p:nvSpPr>
              <p:cNvPr id="18454" name="Line 4"/>
              <p:cNvSpPr/>
              <p:nvPr/>
            </p:nvSpPr>
            <p:spPr>
              <a:xfrm>
                <a:off x="1190" y="1541"/>
                <a:ext cx="3538" cy="0"/>
              </a:xfrm>
              <a:prstGeom prst="line">
                <a:avLst/>
              </a:prstGeom>
              <a:ln w="38100" cap="flat" cmpd="sng">
                <a:solidFill>
                  <a:srgbClr val="3333FF"/>
                </a:solidFill>
                <a:prstDash val="solid"/>
                <a:headEnd type="none" w="med" len="med"/>
                <a:tailEnd type="none" w="med" len="med"/>
              </a:ln>
            </p:spPr>
          </p:sp>
          <p:sp>
            <p:nvSpPr>
              <p:cNvPr id="18455" name="Line 5"/>
              <p:cNvSpPr/>
              <p:nvPr/>
            </p:nvSpPr>
            <p:spPr>
              <a:xfrm>
                <a:off x="1190" y="2325"/>
                <a:ext cx="3538" cy="0"/>
              </a:xfrm>
              <a:prstGeom prst="line">
                <a:avLst/>
              </a:prstGeom>
              <a:ln w="38100" cap="flat" cmpd="sng">
                <a:solidFill>
                  <a:srgbClr val="3333FF"/>
                </a:solidFill>
                <a:prstDash val="solid"/>
                <a:headEnd type="none" w="med" len="med"/>
                <a:tailEnd type="none" w="med" len="med"/>
              </a:ln>
            </p:spPr>
          </p:sp>
          <p:sp>
            <p:nvSpPr>
              <p:cNvPr id="18456" name="Line 8"/>
              <p:cNvSpPr/>
              <p:nvPr/>
            </p:nvSpPr>
            <p:spPr>
              <a:xfrm>
                <a:off x="1190" y="3503"/>
                <a:ext cx="3538" cy="0"/>
              </a:xfrm>
              <a:prstGeom prst="line">
                <a:avLst/>
              </a:prstGeom>
              <a:ln w="38100" cap="flat" cmpd="sng">
                <a:solidFill>
                  <a:srgbClr val="3333FF"/>
                </a:solidFill>
                <a:prstDash val="solid"/>
                <a:headEnd type="none" w="med" len="med"/>
                <a:tailEnd type="none" w="med" len="med"/>
              </a:ln>
            </p:spPr>
          </p:sp>
        </p:grpSp>
        <p:sp>
          <p:nvSpPr>
            <p:cNvPr id="18437" name="Line 9"/>
            <p:cNvSpPr/>
            <p:nvPr/>
          </p:nvSpPr>
          <p:spPr>
            <a:xfrm>
              <a:off x="2064" y="1551"/>
              <a:ext cx="0" cy="1945"/>
            </a:xfrm>
            <a:prstGeom prst="line">
              <a:avLst/>
            </a:prstGeom>
            <a:ln w="38100" cap="flat" cmpd="sng">
              <a:solidFill>
                <a:srgbClr val="3333FF"/>
              </a:solidFill>
              <a:prstDash val="solid"/>
              <a:headEnd type="none" w="med" len="med"/>
              <a:tailEnd type="none" w="med" len="med"/>
            </a:ln>
          </p:spPr>
        </p:sp>
        <p:sp>
          <p:nvSpPr>
            <p:cNvPr id="18438" name="Line 10"/>
            <p:cNvSpPr/>
            <p:nvPr/>
          </p:nvSpPr>
          <p:spPr>
            <a:xfrm>
              <a:off x="3340" y="1933"/>
              <a:ext cx="0" cy="1563"/>
            </a:xfrm>
            <a:prstGeom prst="line">
              <a:avLst/>
            </a:prstGeom>
            <a:ln w="38100" cap="flat" cmpd="sng">
              <a:solidFill>
                <a:srgbClr val="3333FF"/>
              </a:solidFill>
              <a:prstDash val="solid"/>
              <a:headEnd type="none" w="med" len="med"/>
              <a:tailEnd type="none" w="med" len="med"/>
            </a:ln>
          </p:spPr>
        </p:sp>
        <p:sp>
          <p:nvSpPr>
            <p:cNvPr id="18439" name="Line 12"/>
            <p:cNvSpPr/>
            <p:nvPr/>
          </p:nvSpPr>
          <p:spPr>
            <a:xfrm>
              <a:off x="2058" y="1933"/>
              <a:ext cx="2679" cy="0"/>
            </a:xfrm>
            <a:prstGeom prst="line">
              <a:avLst/>
            </a:prstGeom>
            <a:ln w="38100" cap="flat" cmpd="sng">
              <a:solidFill>
                <a:srgbClr val="3333FF"/>
              </a:solidFill>
              <a:prstDash val="solid"/>
              <a:headEnd type="none" w="med" len="med"/>
              <a:tailEnd type="none" w="med" len="med"/>
            </a:ln>
          </p:spPr>
        </p:sp>
        <p:sp>
          <p:nvSpPr>
            <p:cNvPr id="18440" name="Text Box 13"/>
            <p:cNvSpPr txBox="1"/>
            <p:nvPr/>
          </p:nvSpPr>
          <p:spPr>
            <a:xfrm>
              <a:off x="1227" y="1670"/>
              <a:ext cx="676" cy="386"/>
            </a:xfrm>
            <a:prstGeom prst="rect">
              <a:avLst/>
            </a:prstGeom>
            <a:noFill/>
            <a:ln w="38100">
              <a:noFill/>
            </a:ln>
          </p:spPr>
          <p:txBody>
            <a:bodyPr wrap="none">
              <a:spAutoFit/>
            </a:bodyPr>
            <a:lstStyle/>
            <a:p>
              <a:r>
                <a:rPr lang="zh-CN" altLang="en-US" sz="2800" dirty="0">
                  <a:latin typeface="Times New Roman" panose="02020603050405020304" pitchFamily="18" charset="0"/>
                </a:rPr>
                <a:t>现  态</a:t>
              </a:r>
            </a:p>
          </p:txBody>
        </p:sp>
        <p:sp>
          <p:nvSpPr>
            <p:cNvPr id="18441" name="Text Box 14"/>
            <p:cNvSpPr txBox="1"/>
            <p:nvPr/>
          </p:nvSpPr>
          <p:spPr>
            <a:xfrm>
              <a:off x="2390" y="1583"/>
              <a:ext cx="1979" cy="387"/>
            </a:xfrm>
            <a:prstGeom prst="rect">
              <a:avLst/>
            </a:prstGeom>
            <a:noFill/>
            <a:ln w="38100">
              <a:noFill/>
            </a:ln>
          </p:spPr>
          <p:txBody>
            <a:bodyPr wrap="none">
              <a:spAutoFit/>
            </a:bodyPr>
            <a:lstStyle/>
            <a:p>
              <a:r>
                <a:rPr lang="zh-CN" altLang="en-US" sz="2800" dirty="0">
                  <a:latin typeface="Times New Roman" panose="02020603050405020304" pitchFamily="18" charset="0"/>
                </a:rPr>
                <a:t>次态 </a:t>
              </a:r>
              <a:r>
                <a:rPr lang="en-US" altLang="zh-CN" sz="2800" dirty="0">
                  <a:latin typeface="Times New Roman" panose="02020603050405020304" pitchFamily="18" charset="0"/>
                </a:rPr>
                <a:t>/ </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a:t>
              </a:r>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en-US" altLang="zh-CN" sz="2800" i="1" dirty="0">
                  <a:latin typeface="Times New Roman" panose="02020603050405020304" pitchFamily="18" charset="0"/>
                </a:rPr>
                <a:t>Z</a:t>
              </a:r>
              <a:r>
                <a:rPr lang="en-US" altLang="zh-CN" sz="2800" dirty="0">
                  <a:latin typeface="Times New Roman" panose="02020603050405020304" pitchFamily="18" charset="0"/>
                </a:rPr>
                <a:t>)</a:t>
              </a:r>
              <a:endParaRPr lang="en-US" altLang="zh-CN" sz="2800" i="1" dirty="0">
                <a:latin typeface="Times New Roman" panose="02020603050405020304" pitchFamily="18" charset="0"/>
              </a:endParaRPr>
            </a:p>
          </p:txBody>
        </p:sp>
        <p:sp>
          <p:nvSpPr>
            <p:cNvPr id="18442" name="Text Box 15"/>
            <p:cNvSpPr txBox="1"/>
            <p:nvPr/>
          </p:nvSpPr>
          <p:spPr>
            <a:xfrm>
              <a:off x="2331" y="1975"/>
              <a:ext cx="590" cy="386"/>
            </a:xfrm>
            <a:prstGeom prst="rect">
              <a:avLst/>
            </a:prstGeom>
            <a:noFill/>
            <a:ln w="38100">
              <a:noFill/>
            </a:ln>
          </p:spPr>
          <p:txBody>
            <a:bodyPr wrap="none">
              <a:spAutoFit/>
            </a:bodyPr>
            <a:lstStyle/>
            <a:p>
              <a:r>
                <a:rPr lang="en-US" altLang="zh-CN" sz="2800" i="1" dirty="0">
                  <a:latin typeface="Times New Roman" panose="02020603050405020304" pitchFamily="18" charset="0"/>
                </a:rPr>
                <a:t>x = </a:t>
              </a:r>
              <a:r>
                <a:rPr lang="en-US" altLang="zh-CN" sz="2800" dirty="0">
                  <a:latin typeface="Times New Roman" panose="02020603050405020304" pitchFamily="18" charset="0"/>
                </a:rPr>
                <a:t>0</a:t>
              </a:r>
            </a:p>
          </p:txBody>
        </p:sp>
        <p:sp>
          <p:nvSpPr>
            <p:cNvPr id="18443" name="Text Box 16"/>
            <p:cNvSpPr txBox="1"/>
            <p:nvPr/>
          </p:nvSpPr>
          <p:spPr>
            <a:xfrm>
              <a:off x="1462" y="1936"/>
              <a:ext cx="215" cy="386"/>
            </a:xfrm>
            <a:prstGeom prst="rect">
              <a:avLst/>
            </a:prstGeom>
            <a:noFill/>
            <a:ln w="38100">
              <a:noFill/>
            </a:ln>
          </p:spPr>
          <p:txBody>
            <a:bodyPr wrap="none">
              <a:spAutoFit/>
            </a:bodyPr>
            <a:lstStyle/>
            <a:p>
              <a:r>
                <a:rPr lang="en-US" altLang="zh-CN" sz="2800" i="1" dirty="0">
                  <a:latin typeface="Times New Roman" panose="02020603050405020304" pitchFamily="18" charset="0"/>
                </a:rPr>
                <a:t>y</a:t>
              </a:r>
            </a:p>
          </p:txBody>
        </p:sp>
        <p:sp>
          <p:nvSpPr>
            <p:cNvPr id="18444" name="Text Box 17"/>
            <p:cNvSpPr txBox="1"/>
            <p:nvPr/>
          </p:nvSpPr>
          <p:spPr>
            <a:xfrm>
              <a:off x="2382" y="2409"/>
              <a:ext cx="539" cy="386"/>
            </a:xfrm>
            <a:prstGeom prst="rect">
              <a:avLst/>
            </a:prstGeom>
            <a:noFill/>
            <a:ln w="38100">
              <a:noFill/>
            </a:ln>
          </p:spPr>
          <p:txBody>
            <a:bodyPr wrap="none">
              <a:spAutoFit/>
            </a:bodyPr>
            <a:lstStyle/>
            <a:p>
              <a:r>
                <a:rPr lang="en-US" altLang="zh-CN" sz="2800" i="1" dirty="0">
                  <a:latin typeface="Times New Roman" panose="02020603050405020304" pitchFamily="18" charset="0"/>
                </a:rPr>
                <a:t>A / </a:t>
              </a:r>
              <a:r>
                <a:rPr lang="en-US" altLang="zh-CN" sz="2800" dirty="0">
                  <a:latin typeface="Times New Roman" panose="02020603050405020304" pitchFamily="18" charset="0"/>
                </a:rPr>
                <a:t>0</a:t>
              </a:r>
              <a:endParaRPr lang="en-US" altLang="zh-CN" sz="2800" i="1" dirty="0">
                <a:latin typeface="Times New Roman" panose="02020603050405020304" pitchFamily="18" charset="0"/>
              </a:endParaRPr>
            </a:p>
          </p:txBody>
        </p:sp>
        <p:sp>
          <p:nvSpPr>
            <p:cNvPr id="18445" name="Text Box 18"/>
            <p:cNvSpPr txBox="1"/>
            <p:nvPr/>
          </p:nvSpPr>
          <p:spPr>
            <a:xfrm>
              <a:off x="2382" y="2750"/>
              <a:ext cx="539" cy="386"/>
            </a:xfrm>
            <a:prstGeom prst="rect">
              <a:avLst/>
            </a:prstGeom>
            <a:noFill/>
            <a:ln w="38100">
              <a:noFill/>
            </a:ln>
          </p:spPr>
          <p:txBody>
            <a:bodyPr wrap="none">
              <a:spAutoFit/>
            </a:bodyPr>
            <a:lstStyle/>
            <a:p>
              <a:r>
                <a:rPr lang="en-US" altLang="zh-CN" sz="2800" i="1" dirty="0">
                  <a:latin typeface="Times New Roman" panose="02020603050405020304" pitchFamily="18" charset="0"/>
                </a:rPr>
                <a:t>A / </a:t>
              </a:r>
              <a:r>
                <a:rPr lang="en-US" altLang="zh-CN" sz="2800" dirty="0">
                  <a:latin typeface="Times New Roman" panose="02020603050405020304" pitchFamily="18" charset="0"/>
                </a:rPr>
                <a:t>0</a:t>
              </a:r>
              <a:endParaRPr lang="en-US" altLang="zh-CN" sz="2800" i="1" dirty="0">
                <a:latin typeface="Times New Roman" panose="02020603050405020304" pitchFamily="18" charset="0"/>
              </a:endParaRPr>
            </a:p>
          </p:txBody>
        </p:sp>
        <p:sp>
          <p:nvSpPr>
            <p:cNvPr id="18446" name="Text Box 19"/>
            <p:cNvSpPr txBox="1"/>
            <p:nvPr/>
          </p:nvSpPr>
          <p:spPr>
            <a:xfrm>
              <a:off x="2382" y="3090"/>
              <a:ext cx="539" cy="386"/>
            </a:xfrm>
            <a:prstGeom prst="rect">
              <a:avLst/>
            </a:prstGeom>
            <a:noFill/>
            <a:ln w="38100">
              <a:noFill/>
            </a:ln>
          </p:spPr>
          <p:txBody>
            <a:bodyPr wrap="none">
              <a:spAutoFit/>
            </a:bodyPr>
            <a:lstStyle/>
            <a:p>
              <a:r>
                <a:rPr lang="en-US" altLang="zh-CN" sz="2800" i="1" dirty="0">
                  <a:latin typeface="Times New Roman" panose="02020603050405020304" pitchFamily="18" charset="0"/>
                </a:rPr>
                <a:t>B / </a:t>
              </a:r>
              <a:r>
                <a:rPr lang="en-US" altLang="zh-CN" sz="2800" dirty="0">
                  <a:latin typeface="Times New Roman" panose="02020603050405020304" pitchFamily="18" charset="0"/>
                </a:rPr>
                <a:t>0</a:t>
              </a:r>
              <a:endParaRPr lang="en-US" altLang="zh-CN" sz="2800" i="1" dirty="0">
                <a:latin typeface="Times New Roman" panose="02020603050405020304" pitchFamily="18" charset="0"/>
              </a:endParaRPr>
            </a:p>
          </p:txBody>
        </p:sp>
        <p:sp>
          <p:nvSpPr>
            <p:cNvPr id="18447" name="Text Box 20"/>
            <p:cNvSpPr txBox="1"/>
            <p:nvPr/>
          </p:nvSpPr>
          <p:spPr>
            <a:xfrm>
              <a:off x="3736" y="1975"/>
              <a:ext cx="590" cy="386"/>
            </a:xfrm>
            <a:prstGeom prst="rect">
              <a:avLst/>
            </a:prstGeom>
            <a:noFill/>
            <a:ln w="38100">
              <a:noFill/>
            </a:ln>
          </p:spPr>
          <p:txBody>
            <a:bodyPr wrap="none">
              <a:spAutoFit/>
            </a:bodyPr>
            <a:lstStyle/>
            <a:p>
              <a:r>
                <a:rPr lang="en-US" altLang="zh-CN" sz="2800" i="1" dirty="0">
                  <a:latin typeface="Times New Roman" panose="02020603050405020304" pitchFamily="18" charset="0"/>
                </a:rPr>
                <a:t>x = </a:t>
              </a:r>
              <a:r>
                <a:rPr lang="en-US" altLang="zh-CN" sz="2800" dirty="0">
                  <a:latin typeface="Times New Roman" panose="02020603050405020304" pitchFamily="18" charset="0"/>
                </a:rPr>
                <a:t>1</a:t>
              </a:r>
            </a:p>
          </p:txBody>
        </p:sp>
        <p:sp>
          <p:nvSpPr>
            <p:cNvPr id="18448" name="Text Box 21"/>
            <p:cNvSpPr txBox="1"/>
            <p:nvPr/>
          </p:nvSpPr>
          <p:spPr>
            <a:xfrm>
              <a:off x="3768" y="2409"/>
              <a:ext cx="539" cy="386"/>
            </a:xfrm>
            <a:prstGeom prst="rect">
              <a:avLst/>
            </a:prstGeom>
            <a:noFill/>
            <a:ln w="38100">
              <a:noFill/>
            </a:ln>
          </p:spPr>
          <p:txBody>
            <a:bodyPr wrap="none">
              <a:spAutoFit/>
            </a:bodyPr>
            <a:lstStyle/>
            <a:p>
              <a:r>
                <a:rPr lang="en-US" altLang="zh-CN" sz="2800" i="1" dirty="0">
                  <a:latin typeface="Times New Roman" panose="02020603050405020304" pitchFamily="18" charset="0"/>
                </a:rPr>
                <a:t>B / </a:t>
              </a:r>
              <a:r>
                <a:rPr lang="en-US" altLang="zh-CN" sz="2800" dirty="0">
                  <a:latin typeface="Times New Roman" panose="02020603050405020304" pitchFamily="18" charset="0"/>
                </a:rPr>
                <a:t>0</a:t>
              </a:r>
              <a:endParaRPr lang="en-US" altLang="zh-CN" sz="2800" i="1" dirty="0">
                <a:latin typeface="Times New Roman" panose="02020603050405020304" pitchFamily="18" charset="0"/>
              </a:endParaRPr>
            </a:p>
          </p:txBody>
        </p:sp>
        <p:sp>
          <p:nvSpPr>
            <p:cNvPr id="18449" name="Text Box 22"/>
            <p:cNvSpPr txBox="1"/>
            <p:nvPr/>
          </p:nvSpPr>
          <p:spPr>
            <a:xfrm>
              <a:off x="3768" y="2750"/>
              <a:ext cx="551" cy="386"/>
            </a:xfrm>
            <a:prstGeom prst="rect">
              <a:avLst/>
            </a:prstGeom>
            <a:noFill/>
            <a:ln w="38100">
              <a:noFill/>
            </a:ln>
          </p:spPr>
          <p:txBody>
            <a:bodyPr wrap="none">
              <a:spAutoFit/>
            </a:bodyPr>
            <a:lstStyle/>
            <a:p>
              <a:r>
                <a:rPr lang="en-US" altLang="zh-CN" sz="2800" i="1" dirty="0">
                  <a:latin typeface="Times New Roman" panose="02020603050405020304" pitchFamily="18" charset="0"/>
                </a:rPr>
                <a:t>C / </a:t>
              </a:r>
              <a:r>
                <a:rPr lang="en-US" altLang="zh-CN" sz="2800" dirty="0">
                  <a:latin typeface="Times New Roman" panose="02020603050405020304" pitchFamily="18" charset="0"/>
                </a:rPr>
                <a:t>0</a:t>
              </a:r>
              <a:endParaRPr lang="en-US" altLang="zh-CN" sz="2800" i="1" dirty="0">
                <a:latin typeface="Times New Roman" panose="02020603050405020304" pitchFamily="18" charset="0"/>
              </a:endParaRPr>
            </a:p>
          </p:txBody>
        </p:sp>
        <p:sp>
          <p:nvSpPr>
            <p:cNvPr id="18450" name="Text Box 23"/>
            <p:cNvSpPr txBox="1"/>
            <p:nvPr/>
          </p:nvSpPr>
          <p:spPr>
            <a:xfrm>
              <a:off x="3768" y="3090"/>
              <a:ext cx="539" cy="386"/>
            </a:xfrm>
            <a:prstGeom prst="rect">
              <a:avLst/>
            </a:prstGeom>
            <a:noFill/>
            <a:ln w="38100">
              <a:noFill/>
            </a:ln>
          </p:spPr>
          <p:txBody>
            <a:bodyPr wrap="none">
              <a:spAutoFit/>
            </a:bodyPr>
            <a:lstStyle/>
            <a:p>
              <a:r>
                <a:rPr lang="en-US" altLang="zh-CN" sz="2800" i="1" dirty="0">
                  <a:latin typeface="Times New Roman" panose="02020603050405020304" pitchFamily="18" charset="0"/>
                </a:rPr>
                <a:t>A / </a:t>
              </a:r>
              <a:r>
                <a:rPr lang="en-US" altLang="zh-CN" sz="2800" dirty="0">
                  <a:latin typeface="Times New Roman" panose="02020603050405020304" pitchFamily="18" charset="0"/>
                </a:rPr>
                <a:t>1</a:t>
              </a:r>
              <a:endParaRPr lang="en-US" altLang="zh-CN" sz="2800" i="1" dirty="0">
                <a:latin typeface="Times New Roman" panose="02020603050405020304" pitchFamily="18" charset="0"/>
              </a:endParaRPr>
            </a:p>
          </p:txBody>
        </p:sp>
        <p:sp>
          <p:nvSpPr>
            <p:cNvPr id="18451" name="Text Box 25"/>
            <p:cNvSpPr txBox="1"/>
            <p:nvPr/>
          </p:nvSpPr>
          <p:spPr>
            <a:xfrm>
              <a:off x="1462" y="2409"/>
              <a:ext cx="253" cy="386"/>
            </a:xfrm>
            <a:prstGeom prst="rect">
              <a:avLst/>
            </a:prstGeom>
            <a:noFill/>
            <a:ln w="38100">
              <a:noFill/>
            </a:ln>
          </p:spPr>
          <p:txBody>
            <a:bodyPr wrap="none">
              <a:spAutoFit/>
            </a:bodyPr>
            <a:lstStyle/>
            <a:p>
              <a:r>
                <a:rPr lang="en-US" altLang="zh-CN" sz="2800" i="1" dirty="0">
                  <a:latin typeface="Times New Roman" panose="02020603050405020304" pitchFamily="18" charset="0"/>
                </a:rPr>
                <a:t>A</a:t>
              </a:r>
            </a:p>
          </p:txBody>
        </p:sp>
        <p:sp>
          <p:nvSpPr>
            <p:cNvPr id="18452" name="Text Box 26"/>
            <p:cNvSpPr txBox="1"/>
            <p:nvPr/>
          </p:nvSpPr>
          <p:spPr>
            <a:xfrm>
              <a:off x="1462" y="2750"/>
              <a:ext cx="253" cy="386"/>
            </a:xfrm>
            <a:prstGeom prst="rect">
              <a:avLst/>
            </a:prstGeom>
            <a:noFill/>
            <a:ln w="38100">
              <a:noFill/>
            </a:ln>
          </p:spPr>
          <p:txBody>
            <a:bodyPr wrap="none">
              <a:spAutoFit/>
            </a:bodyPr>
            <a:lstStyle/>
            <a:p>
              <a:r>
                <a:rPr lang="en-US" altLang="zh-CN" sz="2800" i="1" dirty="0">
                  <a:latin typeface="Times New Roman" panose="02020603050405020304" pitchFamily="18" charset="0"/>
                </a:rPr>
                <a:t>B</a:t>
              </a:r>
            </a:p>
          </p:txBody>
        </p:sp>
        <p:sp>
          <p:nvSpPr>
            <p:cNvPr id="18453" name="Text Box 27"/>
            <p:cNvSpPr txBox="1"/>
            <p:nvPr/>
          </p:nvSpPr>
          <p:spPr>
            <a:xfrm>
              <a:off x="1462" y="3090"/>
              <a:ext cx="265" cy="386"/>
            </a:xfrm>
            <a:prstGeom prst="rect">
              <a:avLst/>
            </a:prstGeom>
            <a:noFill/>
            <a:ln w="38100">
              <a:noFill/>
            </a:ln>
          </p:spPr>
          <p:txBody>
            <a:bodyPr wrap="none">
              <a:spAutoFit/>
            </a:bodyPr>
            <a:lstStyle/>
            <a:p>
              <a:r>
                <a:rPr lang="en-US" altLang="zh-CN" sz="2800" i="1" dirty="0">
                  <a:latin typeface="Times New Roman" panose="02020603050405020304" pitchFamily="18" charset="0"/>
                </a:rPr>
                <a:t>C</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879475" y="781050"/>
            <a:ext cx="1962150" cy="519113"/>
          </a:xfrm>
          <a:prstGeom prst="rect">
            <a:avLst/>
          </a:prstGeom>
          <a:noFill/>
          <a:ln w="38100">
            <a:noFill/>
            <a:miter lim="800000"/>
          </a:ln>
          <a:effectLst/>
        </p:spPr>
        <p:txBody>
          <a:bodyPr wrap="none">
            <a:spAutoFit/>
          </a:bodyPr>
          <a:lstStyle/>
          <a:p>
            <a:pPr marR="0" defTabSz="914400">
              <a:buClrTx/>
              <a:buSzTx/>
              <a:buFontTx/>
              <a:buNone/>
              <a:defRPr/>
            </a:pPr>
            <a:r>
              <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二、状态图</a:t>
            </a:r>
          </a:p>
        </p:txBody>
      </p:sp>
      <p:sp>
        <p:nvSpPr>
          <p:cNvPr id="14339" name="Text Box 3"/>
          <p:cNvSpPr txBox="1"/>
          <p:nvPr/>
        </p:nvSpPr>
        <p:spPr>
          <a:xfrm>
            <a:off x="741363" y="1538288"/>
            <a:ext cx="7177087" cy="946150"/>
          </a:xfrm>
          <a:prstGeom prst="rect">
            <a:avLst/>
          </a:prstGeom>
          <a:noFill/>
          <a:ln w="38100">
            <a:noFill/>
          </a:ln>
        </p:spPr>
        <p:txBody>
          <a:bodyPr>
            <a:spAutoFit/>
          </a:bodyPr>
          <a:lstStyle/>
          <a:p>
            <a:pPr indent="673100">
              <a:spcBef>
                <a:spcPct val="50000"/>
              </a:spcBef>
            </a:pPr>
            <a:r>
              <a:rPr lang="zh-CN" altLang="en-US" sz="2800" dirty="0">
                <a:latin typeface="Times New Roman" panose="02020603050405020304" pitchFamily="18" charset="0"/>
              </a:rPr>
              <a:t>状态图是一种反映同步时序电路状态转移规律和输入、输出取值关系的有向图。</a:t>
            </a:r>
          </a:p>
        </p:txBody>
      </p:sp>
      <p:grpSp>
        <p:nvGrpSpPr>
          <p:cNvPr id="2" name="Group 35"/>
          <p:cNvGrpSpPr/>
          <p:nvPr/>
        </p:nvGrpSpPr>
        <p:grpSpPr>
          <a:xfrm>
            <a:off x="873125" y="3249613"/>
            <a:ext cx="2901950" cy="866775"/>
            <a:chOff x="755" y="2226"/>
            <a:chExt cx="1828" cy="546"/>
          </a:xfrm>
        </p:grpSpPr>
        <p:sp>
          <p:nvSpPr>
            <p:cNvPr id="19479" name="Oval 4"/>
            <p:cNvSpPr/>
            <p:nvPr/>
          </p:nvSpPr>
          <p:spPr>
            <a:xfrm>
              <a:off x="755" y="223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y</a:t>
              </a:r>
              <a:endParaRPr lang="en-US" altLang="zh-CN" sz="2800" dirty="0">
                <a:latin typeface="Times New Roman" panose="02020603050405020304" pitchFamily="18" charset="0"/>
              </a:endParaRPr>
            </a:p>
          </p:txBody>
        </p:sp>
        <p:sp>
          <p:nvSpPr>
            <p:cNvPr id="19480" name="Oval 5"/>
            <p:cNvSpPr/>
            <p:nvPr/>
          </p:nvSpPr>
          <p:spPr>
            <a:xfrm>
              <a:off x="2004" y="223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19481" name="Line 10"/>
            <p:cNvSpPr/>
            <p:nvPr/>
          </p:nvSpPr>
          <p:spPr>
            <a:xfrm>
              <a:off x="1281" y="2514"/>
              <a:ext cx="712" cy="0"/>
            </a:xfrm>
            <a:prstGeom prst="line">
              <a:avLst/>
            </a:prstGeom>
            <a:ln w="19050" cap="flat" cmpd="sng">
              <a:solidFill>
                <a:srgbClr val="3333FF"/>
              </a:solidFill>
              <a:prstDash val="solid"/>
              <a:headEnd type="none" w="med" len="med"/>
              <a:tailEnd type="triangle" w="sm" len="lg"/>
            </a:ln>
          </p:spPr>
        </p:sp>
        <p:sp>
          <p:nvSpPr>
            <p:cNvPr id="19482" name="Text Box 12"/>
            <p:cNvSpPr txBox="1"/>
            <p:nvPr/>
          </p:nvSpPr>
          <p:spPr>
            <a:xfrm>
              <a:off x="1410" y="2226"/>
              <a:ext cx="364" cy="327"/>
            </a:xfrm>
            <a:prstGeom prst="rect">
              <a:avLst/>
            </a:prstGeom>
            <a:noFill/>
            <a:ln w="38100">
              <a:noFill/>
            </a:ln>
          </p:spPr>
          <p:txBody>
            <a:bodyPr wrap="none">
              <a:spAutoFit/>
            </a:bodyPr>
            <a:lstStyle/>
            <a:p>
              <a:r>
                <a:rPr lang="en-US" altLang="zh-CN" sz="2800" i="1" dirty="0">
                  <a:latin typeface="Times New Roman" panose="02020603050405020304" pitchFamily="18" charset="0"/>
                </a:rPr>
                <a:t>x/z</a:t>
              </a:r>
            </a:p>
          </p:txBody>
        </p:sp>
        <p:sp>
          <p:nvSpPr>
            <p:cNvPr id="19483" name="Rectangle 14"/>
            <p:cNvSpPr/>
            <p:nvPr/>
          </p:nvSpPr>
          <p:spPr>
            <a:xfrm>
              <a:off x="2011" y="2341"/>
              <a:ext cx="572" cy="327"/>
            </a:xfrm>
            <a:prstGeom prst="rect">
              <a:avLst/>
            </a:prstGeom>
            <a:noFill/>
            <a:ln w="38100">
              <a:noFill/>
            </a:ln>
          </p:spPr>
          <p:txBody>
            <a:bodyPr wrap="none">
              <a:spAutoFit/>
            </a:bodyPr>
            <a:lstStyle/>
            <a:p>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p>
          </p:txBody>
        </p:sp>
      </p:grpSp>
      <p:sp>
        <p:nvSpPr>
          <p:cNvPr id="14351" name="Text Box 15"/>
          <p:cNvSpPr txBox="1"/>
          <p:nvPr/>
        </p:nvSpPr>
        <p:spPr>
          <a:xfrm>
            <a:off x="879475" y="5334000"/>
            <a:ext cx="3217863" cy="519113"/>
          </a:xfrm>
          <a:prstGeom prst="rect">
            <a:avLst/>
          </a:prstGeom>
          <a:noFill/>
          <a:ln w="38100">
            <a:noFill/>
          </a:ln>
        </p:spPr>
        <p:txBody>
          <a:bodyPr wrap="none">
            <a:spAutoFit/>
          </a:bodyPr>
          <a:lstStyle/>
          <a:p>
            <a:r>
              <a:rPr lang="en-US" altLang="zh-CN" sz="2800" dirty="0">
                <a:latin typeface="Times New Roman" panose="02020603050405020304" pitchFamily="18" charset="0"/>
              </a:rPr>
              <a:t>Mealy</a:t>
            </a:r>
            <a:r>
              <a:rPr lang="zh-CN" altLang="zh-CN" sz="2800" dirty="0">
                <a:latin typeface="Times New Roman" panose="02020603050405020304" pitchFamily="18" charset="0"/>
              </a:rPr>
              <a:t>型电路状态图</a:t>
            </a:r>
            <a:endParaRPr lang="zh-CN" altLang="en-US" sz="2800" dirty="0">
              <a:latin typeface="Times New Roman" panose="02020603050405020304" pitchFamily="18" charset="0"/>
            </a:endParaRPr>
          </a:p>
        </p:txBody>
      </p:sp>
      <p:sp>
        <p:nvSpPr>
          <p:cNvPr id="14352" name="Text Box 16"/>
          <p:cNvSpPr txBox="1"/>
          <p:nvPr/>
        </p:nvSpPr>
        <p:spPr>
          <a:xfrm>
            <a:off x="4919663" y="5334000"/>
            <a:ext cx="3573462" cy="519113"/>
          </a:xfrm>
          <a:prstGeom prst="rect">
            <a:avLst/>
          </a:prstGeom>
          <a:noFill/>
          <a:ln w="38100">
            <a:noFill/>
          </a:ln>
        </p:spPr>
        <p:txBody>
          <a:bodyPr wrap="none">
            <a:spAutoFit/>
          </a:bodyPr>
          <a:lstStyle/>
          <a:p>
            <a:r>
              <a:rPr lang="zh-CN" altLang="zh-CN" sz="2800" dirty="0">
                <a:latin typeface="Times New Roman" panose="02020603050405020304" pitchFamily="18" charset="0"/>
              </a:rPr>
              <a:t>某</a:t>
            </a:r>
            <a:r>
              <a:rPr lang="en-US" altLang="zh-CN" sz="2800" dirty="0">
                <a:latin typeface="Times New Roman" panose="02020603050405020304" pitchFamily="18" charset="0"/>
              </a:rPr>
              <a:t>Mealy</a:t>
            </a:r>
            <a:r>
              <a:rPr lang="zh-CN" altLang="zh-CN" sz="2800" dirty="0">
                <a:latin typeface="Times New Roman" panose="02020603050405020304" pitchFamily="18" charset="0"/>
              </a:rPr>
              <a:t>型电路状态图</a:t>
            </a:r>
            <a:endParaRPr lang="zh-CN" altLang="en-US" sz="2800" dirty="0">
              <a:latin typeface="Times New Roman" panose="02020603050405020304" pitchFamily="18" charset="0"/>
            </a:endParaRPr>
          </a:p>
        </p:txBody>
      </p:sp>
      <p:grpSp>
        <p:nvGrpSpPr>
          <p:cNvPr id="3" name="Group 34"/>
          <p:cNvGrpSpPr/>
          <p:nvPr/>
        </p:nvGrpSpPr>
        <p:grpSpPr>
          <a:xfrm>
            <a:off x="4364038" y="2725738"/>
            <a:ext cx="3589337" cy="2478087"/>
            <a:chOff x="2954" y="1896"/>
            <a:chExt cx="2261" cy="1561"/>
          </a:xfrm>
        </p:grpSpPr>
        <p:sp>
          <p:nvSpPr>
            <p:cNvPr id="19464" name="Oval 6"/>
            <p:cNvSpPr/>
            <p:nvPr/>
          </p:nvSpPr>
          <p:spPr>
            <a:xfrm>
              <a:off x="3519" y="2237"/>
              <a:ext cx="414" cy="41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A</a:t>
              </a:r>
              <a:endParaRPr lang="en-US" altLang="zh-CN" sz="2800" dirty="0">
                <a:latin typeface="Times New Roman" panose="02020603050405020304" pitchFamily="18" charset="0"/>
              </a:endParaRPr>
            </a:p>
          </p:txBody>
        </p:sp>
        <p:sp>
          <p:nvSpPr>
            <p:cNvPr id="19465" name="Oval 8"/>
            <p:cNvSpPr/>
            <p:nvPr/>
          </p:nvSpPr>
          <p:spPr>
            <a:xfrm>
              <a:off x="4096" y="3043"/>
              <a:ext cx="414" cy="41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C</a:t>
              </a:r>
              <a:endParaRPr lang="en-US" altLang="zh-CN" sz="2800" dirty="0">
                <a:latin typeface="Times New Roman" panose="02020603050405020304" pitchFamily="18" charset="0"/>
              </a:endParaRPr>
            </a:p>
          </p:txBody>
        </p:sp>
        <p:sp>
          <p:nvSpPr>
            <p:cNvPr id="19466" name="Oval 9"/>
            <p:cNvSpPr/>
            <p:nvPr/>
          </p:nvSpPr>
          <p:spPr>
            <a:xfrm>
              <a:off x="4789" y="2237"/>
              <a:ext cx="414" cy="41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B</a:t>
              </a:r>
              <a:endParaRPr lang="en-US" altLang="zh-CN" sz="2800" dirty="0">
                <a:latin typeface="Times New Roman" panose="02020603050405020304" pitchFamily="18" charset="0"/>
              </a:endParaRPr>
            </a:p>
          </p:txBody>
        </p:sp>
        <p:sp>
          <p:nvSpPr>
            <p:cNvPr id="19467" name="Freeform 17"/>
            <p:cNvSpPr/>
            <p:nvPr/>
          </p:nvSpPr>
          <p:spPr>
            <a:xfrm>
              <a:off x="3899" y="2213"/>
              <a:ext cx="931" cy="124"/>
            </a:xfrm>
            <a:custGeom>
              <a:avLst/>
              <a:gdLst>
                <a:gd name="txL" fmla="*/ 0 w 931"/>
                <a:gd name="txT" fmla="*/ 0 h 124"/>
                <a:gd name="txR" fmla="*/ 931 w 931"/>
                <a:gd name="txB" fmla="*/ 124 h 124"/>
              </a:gdLst>
              <a:ahLst/>
              <a:cxnLst>
                <a:cxn ang="0">
                  <a:pos x="0" y="124"/>
                </a:cxn>
                <a:cxn ang="0">
                  <a:pos x="487" y="0"/>
                </a:cxn>
                <a:cxn ang="0">
                  <a:pos x="931" y="124"/>
                </a:cxn>
              </a:cxnLst>
              <a:rect l="txL" t="txT" r="txR" b="txB"/>
              <a:pathLst>
                <a:path w="931" h="124">
                  <a:moveTo>
                    <a:pt x="0" y="124"/>
                  </a:moveTo>
                  <a:cubicBezTo>
                    <a:pt x="81" y="103"/>
                    <a:pt x="332" y="0"/>
                    <a:pt x="487" y="0"/>
                  </a:cubicBezTo>
                  <a:cubicBezTo>
                    <a:pt x="642" y="0"/>
                    <a:pt x="838" y="98"/>
                    <a:pt x="931" y="124"/>
                  </a:cubicBezTo>
                </a:path>
              </a:pathLst>
            </a:custGeom>
            <a:noFill/>
            <a:ln w="19050" cap="flat" cmpd="sng">
              <a:solidFill>
                <a:srgbClr val="3333FF">
                  <a:alpha val="100000"/>
                </a:srgbClr>
              </a:solidFill>
              <a:prstDash val="solid"/>
              <a:round/>
              <a:headEnd type="none" w="med" len="med"/>
              <a:tailEnd type="triangle" w="sm" len="lg"/>
            </a:ln>
          </p:spPr>
          <p:txBody>
            <a:bodyPr/>
            <a:lstStyle/>
            <a:p>
              <a:endParaRPr lang="zh-CN" altLang="en-US"/>
            </a:p>
          </p:txBody>
        </p:sp>
        <p:sp>
          <p:nvSpPr>
            <p:cNvPr id="19468" name="Freeform 19"/>
            <p:cNvSpPr/>
            <p:nvPr/>
          </p:nvSpPr>
          <p:spPr>
            <a:xfrm flipH="1" flipV="1">
              <a:off x="3912" y="2474"/>
              <a:ext cx="880" cy="114"/>
            </a:xfrm>
            <a:custGeom>
              <a:avLst/>
              <a:gdLst>
                <a:gd name="txL" fmla="*/ 0 w 931"/>
                <a:gd name="txT" fmla="*/ 0 h 124"/>
                <a:gd name="txR" fmla="*/ 931 w 931"/>
                <a:gd name="txB" fmla="*/ 124 h 124"/>
              </a:gdLst>
              <a:ahLst/>
              <a:cxnLst>
                <a:cxn ang="0">
                  <a:pos x="0" y="105"/>
                </a:cxn>
                <a:cxn ang="0">
                  <a:pos x="435" y="0"/>
                </a:cxn>
                <a:cxn ang="0">
                  <a:pos x="832" y="105"/>
                </a:cxn>
              </a:cxnLst>
              <a:rect l="txL" t="txT" r="txR" b="txB"/>
              <a:pathLst>
                <a:path w="931" h="124">
                  <a:moveTo>
                    <a:pt x="0" y="124"/>
                  </a:moveTo>
                  <a:cubicBezTo>
                    <a:pt x="81" y="103"/>
                    <a:pt x="332" y="0"/>
                    <a:pt x="487" y="0"/>
                  </a:cubicBezTo>
                  <a:cubicBezTo>
                    <a:pt x="642" y="0"/>
                    <a:pt x="838" y="98"/>
                    <a:pt x="931" y="124"/>
                  </a:cubicBezTo>
                </a:path>
              </a:pathLst>
            </a:custGeom>
            <a:noFill/>
            <a:ln w="19050" cap="flat" cmpd="sng">
              <a:solidFill>
                <a:srgbClr val="3333FF">
                  <a:alpha val="100000"/>
                </a:srgbClr>
              </a:solidFill>
              <a:prstDash val="solid"/>
              <a:round/>
              <a:headEnd type="none" w="med" len="med"/>
              <a:tailEnd type="triangle" w="sm" len="lg"/>
            </a:ln>
          </p:spPr>
          <p:txBody>
            <a:bodyPr/>
            <a:lstStyle/>
            <a:p>
              <a:endParaRPr lang="zh-CN" altLang="en-US"/>
            </a:p>
          </p:txBody>
        </p:sp>
        <p:sp>
          <p:nvSpPr>
            <p:cNvPr id="19469" name="Arc 23"/>
            <p:cNvSpPr/>
            <p:nvPr/>
          </p:nvSpPr>
          <p:spPr>
            <a:xfrm>
              <a:off x="3160" y="2102"/>
              <a:ext cx="534" cy="451"/>
            </a:xfrm>
            <a:custGeom>
              <a:avLst/>
              <a:gdLst>
                <a:gd name="txL" fmla="*/ 0 w 40779"/>
                <a:gd name="txT" fmla="*/ 0 h 43200"/>
                <a:gd name="txR" fmla="*/ 40779 w 40779"/>
                <a:gd name="txB" fmla="*/ 43200 h 43200"/>
              </a:gdLst>
              <a:ahLst/>
              <a:cxnLst>
                <a:cxn ang="0">
                  <a:pos x="0" y="0"/>
                </a:cxn>
                <a:cxn ang="0">
                  <a:pos x="0" y="0"/>
                </a:cxn>
                <a:cxn ang="0">
                  <a:pos x="0" y="0"/>
                </a:cxn>
              </a:cxnLst>
              <a:rect l="txL" t="txT" r="txR" b="txB"/>
              <a:pathLst>
                <a:path w="40779" h="43200" fill="none">
                  <a:moveTo>
                    <a:pt x="30665" y="41205"/>
                  </a:moveTo>
                  <a:cubicBezTo>
                    <a:pt x="27824" y="42519"/>
                    <a:pt x="24730" y="43199"/>
                    <a:pt x="21600" y="43200"/>
                  </a:cubicBezTo>
                  <a:cubicBezTo>
                    <a:pt x="9670" y="43200"/>
                    <a:pt x="0" y="33529"/>
                    <a:pt x="0" y="21600"/>
                  </a:cubicBezTo>
                  <a:cubicBezTo>
                    <a:pt x="0" y="9670"/>
                    <a:pt x="9670" y="0"/>
                    <a:pt x="21600" y="0"/>
                  </a:cubicBezTo>
                  <a:cubicBezTo>
                    <a:pt x="29669" y="-1"/>
                    <a:pt x="37066" y="4498"/>
                    <a:pt x="40779" y="11663"/>
                  </a:cubicBezTo>
                </a:path>
                <a:path w="40779" h="43200" stroke="0">
                  <a:moveTo>
                    <a:pt x="30665" y="41205"/>
                  </a:moveTo>
                  <a:cubicBezTo>
                    <a:pt x="27824" y="42519"/>
                    <a:pt x="24730" y="43199"/>
                    <a:pt x="21600" y="43200"/>
                  </a:cubicBezTo>
                  <a:cubicBezTo>
                    <a:pt x="9670" y="43200"/>
                    <a:pt x="0" y="33529"/>
                    <a:pt x="0" y="21600"/>
                  </a:cubicBezTo>
                  <a:cubicBezTo>
                    <a:pt x="0" y="9670"/>
                    <a:pt x="9670" y="0"/>
                    <a:pt x="21600" y="0"/>
                  </a:cubicBezTo>
                  <a:cubicBezTo>
                    <a:pt x="29669" y="-1"/>
                    <a:pt x="37066" y="4498"/>
                    <a:pt x="40779" y="11663"/>
                  </a:cubicBezTo>
                  <a:lnTo>
                    <a:pt x="21600" y="21600"/>
                  </a:lnTo>
                  <a:lnTo>
                    <a:pt x="30665" y="41205"/>
                  </a:lnTo>
                  <a:close/>
                </a:path>
              </a:pathLst>
            </a:custGeom>
            <a:noFill/>
            <a:ln w="19050" cap="flat" cmpd="sng">
              <a:solidFill>
                <a:srgbClr val="3333FF">
                  <a:alpha val="100000"/>
                </a:srgbClr>
              </a:solidFill>
              <a:prstDash val="solid"/>
              <a:round/>
              <a:headEnd type="none" w="med" len="med"/>
              <a:tailEnd type="triangle" w="sm" len="lg"/>
            </a:ln>
          </p:spPr>
          <p:txBody>
            <a:bodyPr/>
            <a:lstStyle/>
            <a:p>
              <a:endParaRPr lang="zh-CN" altLang="en-US"/>
            </a:p>
          </p:txBody>
        </p:sp>
        <p:sp>
          <p:nvSpPr>
            <p:cNvPr id="19470" name="Freeform 24"/>
            <p:cNvSpPr/>
            <p:nvPr/>
          </p:nvSpPr>
          <p:spPr>
            <a:xfrm>
              <a:off x="4509" y="2659"/>
              <a:ext cx="518" cy="598"/>
            </a:xfrm>
            <a:custGeom>
              <a:avLst/>
              <a:gdLst>
                <a:gd name="txL" fmla="*/ 0 w 455"/>
                <a:gd name="txT" fmla="*/ 0 h 558"/>
                <a:gd name="txR" fmla="*/ 455 w 455"/>
                <a:gd name="txB" fmla="*/ 558 h 558"/>
              </a:gdLst>
              <a:ahLst/>
              <a:cxnLst>
                <a:cxn ang="0">
                  <a:pos x="590" y="0"/>
                </a:cxn>
                <a:cxn ang="0">
                  <a:pos x="402" y="369"/>
                </a:cxn>
                <a:cxn ang="0">
                  <a:pos x="0" y="641"/>
                </a:cxn>
              </a:cxnLst>
              <a:rect l="txL" t="txT" r="txR" b="txB"/>
              <a:pathLst>
                <a:path w="455" h="558">
                  <a:moveTo>
                    <a:pt x="455" y="0"/>
                  </a:moveTo>
                  <a:cubicBezTo>
                    <a:pt x="431" y="54"/>
                    <a:pt x="386" y="228"/>
                    <a:pt x="310" y="321"/>
                  </a:cubicBezTo>
                  <a:cubicBezTo>
                    <a:pt x="234" y="414"/>
                    <a:pt x="65" y="509"/>
                    <a:pt x="0" y="558"/>
                  </a:cubicBezTo>
                </a:path>
              </a:pathLst>
            </a:custGeom>
            <a:noFill/>
            <a:ln w="19050" cap="flat" cmpd="sng">
              <a:solidFill>
                <a:srgbClr val="3333FF">
                  <a:alpha val="100000"/>
                </a:srgbClr>
              </a:solidFill>
              <a:prstDash val="solid"/>
              <a:round/>
              <a:headEnd type="none" w="med" len="med"/>
              <a:tailEnd type="triangle" w="sm" len="lg"/>
            </a:ln>
          </p:spPr>
          <p:txBody>
            <a:bodyPr/>
            <a:lstStyle/>
            <a:p>
              <a:endParaRPr lang="zh-CN" altLang="en-US"/>
            </a:p>
          </p:txBody>
        </p:sp>
        <p:sp>
          <p:nvSpPr>
            <p:cNvPr id="19471" name="Freeform 25"/>
            <p:cNvSpPr/>
            <p:nvPr/>
          </p:nvSpPr>
          <p:spPr>
            <a:xfrm>
              <a:off x="4438" y="2604"/>
              <a:ext cx="452" cy="520"/>
            </a:xfrm>
            <a:custGeom>
              <a:avLst/>
              <a:gdLst>
                <a:gd name="txL" fmla="*/ 0 w 452"/>
                <a:gd name="txT" fmla="*/ 0 h 520"/>
                <a:gd name="txR" fmla="*/ 452 w 452"/>
                <a:gd name="txB" fmla="*/ 520 h 520"/>
              </a:gdLst>
              <a:ahLst/>
              <a:cxnLst>
                <a:cxn ang="0">
                  <a:pos x="0" y="520"/>
                </a:cxn>
                <a:cxn ang="0">
                  <a:pos x="144" y="209"/>
                </a:cxn>
                <a:cxn ang="0">
                  <a:pos x="452" y="0"/>
                </a:cxn>
              </a:cxnLst>
              <a:rect l="txL" t="txT" r="txR" b="txB"/>
              <a:pathLst>
                <a:path w="452" h="520">
                  <a:moveTo>
                    <a:pt x="0" y="520"/>
                  </a:moveTo>
                  <a:cubicBezTo>
                    <a:pt x="24" y="468"/>
                    <a:pt x="69" y="296"/>
                    <a:pt x="144" y="209"/>
                  </a:cubicBezTo>
                  <a:cubicBezTo>
                    <a:pt x="219" y="122"/>
                    <a:pt x="388" y="44"/>
                    <a:pt x="452" y="0"/>
                  </a:cubicBezTo>
                </a:path>
              </a:pathLst>
            </a:custGeom>
            <a:noFill/>
            <a:ln w="19050" cap="flat" cmpd="sng">
              <a:solidFill>
                <a:srgbClr val="3333FF">
                  <a:alpha val="100000"/>
                </a:srgbClr>
              </a:solidFill>
              <a:prstDash val="solid"/>
              <a:round/>
              <a:headEnd type="none" w="med" len="med"/>
              <a:tailEnd type="triangle" w="sm" len="lg"/>
            </a:ln>
          </p:spPr>
          <p:txBody>
            <a:bodyPr/>
            <a:lstStyle/>
            <a:p>
              <a:endParaRPr lang="zh-CN" altLang="en-US"/>
            </a:p>
          </p:txBody>
        </p:sp>
        <p:sp>
          <p:nvSpPr>
            <p:cNvPr id="19472" name="Freeform 26"/>
            <p:cNvSpPr/>
            <p:nvPr/>
          </p:nvSpPr>
          <p:spPr>
            <a:xfrm rot="-5074349">
              <a:off x="3682" y="2635"/>
              <a:ext cx="452" cy="520"/>
            </a:xfrm>
            <a:custGeom>
              <a:avLst/>
              <a:gdLst>
                <a:gd name="txL" fmla="*/ 0 w 452"/>
                <a:gd name="txT" fmla="*/ 0 h 520"/>
                <a:gd name="txR" fmla="*/ 452 w 452"/>
                <a:gd name="txB" fmla="*/ 520 h 520"/>
              </a:gdLst>
              <a:ahLst/>
              <a:cxnLst>
                <a:cxn ang="0">
                  <a:pos x="0" y="520"/>
                </a:cxn>
                <a:cxn ang="0">
                  <a:pos x="144" y="209"/>
                </a:cxn>
                <a:cxn ang="0">
                  <a:pos x="452" y="0"/>
                </a:cxn>
              </a:cxnLst>
              <a:rect l="txL" t="txT" r="txR" b="txB"/>
              <a:pathLst>
                <a:path w="452" h="520">
                  <a:moveTo>
                    <a:pt x="0" y="520"/>
                  </a:moveTo>
                  <a:cubicBezTo>
                    <a:pt x="24" y="468"/>
                    <a:pt x="69" y="296"/>
                    <a:pt x="144" y="209"/>
                  </a:cubicBezTo>
                  <a:cubicBezTo>
                    <a:pt x="219" y="122"/>
                    <a:pt x="388" y="44"/>
                    <a:pt x="452" y="0"/>
                  </a:cubicBezTo>
                </a:path>
              </a:pathLst>
            </a:custGeom>
            <a:noFill/>
            <a:ln w="19050" cap="flat" cmpd="sng">
              <a:solidFill>
                <a:srgbClr val="3333FF">
                  <a:alpha val="100000"/>
                </a:srgbClr>
              </a:solidFill>
              <a:prstDash val="solid"/>
              <a:round/>
              <a:headEnd type="none" w="med" len="med"/>
              <a:tailEnd type="triangle" w="sm" len="lg"/>
            </a:ln>
          </p:spPr>
          <p:txBody>
            <a:bodyPr/>
            <a:lstStyle/>
            <a:p>
              <a:endParaRPr lang="zh-CN" altLang="en-US"/>
            </a:p>
          </p:txBody>
        </p:sp>
        <p:sp>
          <p:nvSpPr>
            <p:cNvPr id="19473" name="Text Box 28"/>
            <p:cNvSpPr txBox="1"/>
            <p:nvPr/>
          </p:nvSpPr>
          <p:spPr>
            <a:xfrm>
              <a:off x="2954" y="1896"/>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0/0</a:t>
              </a:r>
            </a:p>
          </p:txBody>
        </p:sp>
        <p:sp>
          <p:nvSpPr>
            <p:cNvPr id="19474" name="Text Box 29"/>
            <p:cNvSpPr txBox="1"/>
            <p:nvPr/>
          </p:nvSpPr>
          <p:spPr>
            <a:xfrm>
              <a:off x="4185" y="1958"/>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1/0</a:t>
              </a:r>
            </a:p>
          </p:txBody>
        </p:sp>
        <p:sp>
          <p:nvSpPr>
            <p:cNvPr id="19475" name="Text Box 30"/>
            <p:cNvSpPr txBox="1"/>
            <p:nvPr/>
          </p:nvSpPr>
          <p:spPr>
            <a:xfrm>
              <a:off x="4123" y="2506"/>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0/0</a:t>
              </a:r>
            </a:p>
          </p:txBody>
        </p:sp>
        <p:sp>
          <p:nvSpPr>
            <p:cNvPr id="19476" name="Text Box 31"/>
            <p:cNvSpPr txBox="1"/>
            <p:nvPr/>
          </p:nvSpPr>
          <p:spPr>
            <a:xfrm>
              <a:off x="4474" y="2782"/>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0/0</a:t>
              </a:r>
            </a:p>
          </p:txBody>
        </p:sp>
        <p:sp>
          <p:nvSpPr>
            <p:cNvPr id="19477" name="Text Box 32"/>
            <p:cNvSpPr txBox="1"/>
            <p:nvPr/>
          </p:nvSpPr>
          <p:spPr>
            <a:xfrm>
              <a:off x="4813" y="2923"/>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1/0</a:t>
              </a:r>
            </a:p>
          </p:txBody>
        </p:sp>
        <p:sp>
          <p:nvSpPr>
            <p:cNvPr id="19478" name="Text Box 33"/>
            <p:cNvSpPr txBox="1"/>
            <p:nvPr/>
          </p:nvSpPr>
          <p:spPr>
            <a:xfrm>
              <a:off x="3479" y="2850"/>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1/1</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wipe(left)">
                                      <p:cBhvr>
                                        <p:cTn id="7" dur="500"/>
                                        <p:tgtEl>
                                          <p:spTgt spid="14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4351">
                                            <p:txEl>
                                              <p:pRg st="0" end="0"/>
                                            </p:txEl>
                                          </p:spTgt>
                                        </p:tgtEl>
                                        <p:attrNameLst>
                                          <p:attrName>style.visibility</p:attrName>
                                        </p:attrNameLst>
                                      </p:cBhvr>
                                      <p:to>
                                        <p:strVal val="visible"/>
                                      </p:to>
                                    </p:set>
                                    <p:animEffect transition="in" filter="wipe(left)">
                                      <p:cBhvr>
                                        <p:cTn id="16" dur="500"/>
                                        <p:tgtEl>
                                          <p:spTgt spid="14351">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4352">
                                            <p:txEl>
                                              <p:pRg st="0" end="0"/>
                                            </p:txEl>
                                          </p:spTgt>
                                        </p:tgtEl>
                                        <p:attrNameLst>
                                          <p:attrName>style.visibility</p:attrName>
                                        </p:attrNameLst>
                                      </p:cBhvr>
                                      <p:to>
                                        <p:strVal val="visible"/>
                                      </p:to>
                                    </p:set>
                                    <p:animEffect transition="in" filter="wipe(left)">
                                      <p:cBhvr>
                                        <p:cTn id="25" dur="500"/>
                                        <p:tgtEl>
                                          <p:spTgt spid="1435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P spid="14351" grpId="0" build="p" advAuto="1000"/>
      <p:bldP spid="14352" grpId="0" build="p" advAuto="100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1763713" y="652463"/>
            <a:ext cx="4689475" cy="579438"/>
          </a:xfrm>
          <a:prstGeom prst="rect">
            <a:avLst/>
          </a:prstGeom>
          <a:noFill/>
          <a:ln w="38100">
            <a:noFill/>
            <a:miter lim="800000"/>
          </a:ln>
          <a:effectLst/>
        </p:spPr>
        <p:txBody>
          <a:bodyPr wrap="none">
            <a:spAutoFit/>
          </a:bodyPr>
          <a:lstStyle/>
          <a:p>
            <a:pPr marR="0" defTabSz="914400">
              <a:buClrTx/>
              <a:buSzTx/>
              <a:buFontTx/>
              <a:buNone/>
              <a:defRPr/>
            </a:pPr>
            <a:r>
              <a:rPr kumimoji="1" lang="en-US" altLang="zh-CN"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Moore </a:t>
            </a:r>
            <a:r>
              <a:rPr kumimoji="1" lang="zh-CN" altLang="zh-CN"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型状态表和状态图</a:t>
            </a:r>
            <a:endParaRPr kumimoji="1" lang="zh-CN" altLang="en-US"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5363" name="Text Box 3"/>
          <p:cNvSpPr txBox="1"/>
          <p:nvPr/>
        </p:nvSpPr>
        <p:spPr>
          <a:xfrm>
            <a:off x="719138" y="1579563"/>
            <a:ext cx="7500937" cy="1758950"/>
          </a:xfrm>
          <a:prstGeom prst="rect">
            <a:avLst/>
          </a:prstGeom>
          <a:noFill/>
          <a:ln w="38100">
            <a:noFill/>
          </a:ln>
        </p:spPr>
        <p:txBody>
          <a:bodyPr>
            <a:spAutoFit/>
          </a:bodyPr>
          <a:lstStyle/>
          <a:p>
            <a:pPr indent="574675">
              <a:lnSpc>
                <a:spcPct val="130000"/>
              </a:lnSpc>
              <a:spcBef>
                <a:spcPct val="50000"/>
              </a:spcBef>
            </a:pPr>
            <a:r>
              <a:rPr lang="zh-CN" altLang="en-US" sz="2800" dirty="0">
                <a:latin typeface="Times New Roman" panose="02020603050405020304" pitchFamily="18" charset="0"/>
              </a:rPr>
              <a:t>如果同步时序电路的输出仅是现态的函数</a:t>
            </a:r>
            <a:r>
              <a:rPr lang="en-US" altLang="zh-CN" sz="2800" dirty="0">
                <a:latin typeface="Times New Roman" panose="02020603050405020304" pitchFamily="18" charset="0"/>
              </a:rPr>
              <a:t>, </a:t>
            </a:r>
            <a:r>
              <a:rPr lang="zh-CN" altLang="en-US" sz="2800" dirty="0">
                <a:latin typeface="Times New Roman" panose="02020603050405020304" pitchFamily="18" charset="0"/>
              </a:rPr>
              <a:t>即</a:t>
            </a:r>
            <a:r>
              <a:rPr lang="en-US" altLang="zh-CN" sz="2800" i="1" dirty="0">
                <a:latin typeface="Times New Roman" panose="02020603050405020304" pitchFamily="18" charset="0"/>
              </a:rPr>
              <a:t>Z</a:t>
            </a:r>
            <a:r>
              <a:rPr lang="en-US" altLang="zh-CN" sz="2800" i="1" baseline="-25000" dirty="0">
                <a:latin typeface="Times New Roman" panose="02020603050405020304" pitchFamily="18" charset="0"/>
              </a:rPr>
              <a:t>i</a:t>
            </a:r>
            <a:r>
              <a:rPr lang="en-US" altLang="zh-CN" sz="2800" i="1" dirty="0">
                <a:latin typeface="Times New Roman" panose="02020603050405020304" pitchFamily="18" charset="0"/>
              </a:rPr>
              <a:t>= f</a:t>
            </a:r>
            <a:r>
              <a:rPr lang="en-US" altLang="zh-CN" sz="2800" i="1" baseline="-25000" dirty="0">
                <a:latin typeface="Times New Roman" panose="02020603050405020304" pitchFamily="18" charset="0"/>
              </a:rPr>
              <a:t>i</a:t>
            </a:r>
            <a:r>
              <a:rPr lang="en-US" altLang="zh-CN" sz="2800" i="1" dirty="0">
                <a:latin typeface="Times New Roman" panose="02020603050405020304" pitchFamily="18" charset="0"/>
              </a:rPr>
              <a:t> </a:t>
            </a:r>
            <a:r>
              <a:rPr lang="en-US" altLang="zh-CN" sz="2800" dirty="0">
                <a:latin typeface="Times New Roman" panose="02020603050405020304" pitchFamily="18" charset="0"/>
              </a:rPr>
              <a:t>(</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r </a:t>
            </a:r>
            <a:r>
              <a:rPr lang="en-US" altLang="zh-CN" sz="2800" dirty="0">
                <a:latin typeface="Times New Roman" panose="02020603050405020304" pitchFamily="18" charset="0"/>
              </a:rPr>
              <a:t>)</a:t>
            </a:r>
            <a:r>
              <a:rPr lang="en-US" altLang="zh-CN" sz="2800" i="1" baseline="-25000" dirty="0">
                <a:latin typeface="Times New Roman" panose="02020603050405020304" pitchFamily="18" charset="0"/>
              </a:rPr>
              <a:t> </a:t>
            </a:r>
            <a:r>
              <a:rPr lang="en-US" altLang="zh-CN" sz="2800" i="1" dirty="0">
                <a:latin typeface="Times New Roman" panose="02020603050405020304" pitchFamily="18" charset="0"/>
              </a:rPr>
              <a:t>, i=</a:t>
            </a:r>
            <a:r>
              <a:rPr lang="en-US" altLang="zh-CN" sz="2800" dirty="0">
                <a:latin typeface="Times New Roman" panose="02020603050405020304" pitchFamily="18" charset="0"/>
              </a:rPr>
              <a:t>1</a:t>
            </a:r>
            <a:r>
              <a:rPr lang="en-US" altLang="zh-CN" sz="2800" i="1" dirty="0">
                <a:latin typeface="Times New Roman" panose="02020603050405020304" pitchFamily="18" charset="0"/>
              </a:rPr>
              <a:t>, …, m</a:t>
            </a:r>
            <a:r>
              <a:rPr lang="en-US" altLang="zh-CN" sz="2800" dirty="0">
                <a:latin typeface="Times New Roman" panose="02020603050405020304" pitchFamily="18" charset="0"/>
              </a:rPr>
              <a:t> , </a:t>
            </a:r>
            <a:r>
              <a:rPr lang="zh-CN" altLang="en-US" sz="2800" dirty="0">
                <a:latin typeface="Times New Roman" panose="02020603050405020304" pitchFamily="18" charset="0"/>
              </a:rPr>
              <a:t>则称电路为</a:t>
            </a:r>
            <a:r>
              <a:rPr lang="en-US" altLang="zh-CN" sz="2800" dirty="0">
                <a:latin typeface="Times New Roman" panose="02020603050405020304" pitchFamily="18" charset="0"/>
              </a:rPr>
              <a:t>Moore</a:t>
            </a:r>
            <a:r>
              <a:rPr lang="zh-CN" altLang="zh-CN" sz="2800" dirty="0">
                <a:latin typeface="Times New Roman" panose="02020603050405020304" pitchFamily="18" charset="0"/>
              </a:rPr>
              <a:t>型电路。它的电路结构图可表示为:</a:t>
            </a:r>
            <a:endParaRPr lang="en-US" altLang="zh-CN" sz="2800" dirty="0">
              <a:latin typeface="Times New Roman" panose="02020603050405020304" pitchFamily="18" charset="0"/>
            </a:endParaRPr>
          </a:p>
        </p:txBody>
      </p:sp>
      <p:grpSp>
        <p:nvGrpSpPr>
          <p:cNvPr id="2" name="Group 42"/>
          <p:cNvGrpSpPr/>
          <p:nvPr/>
        </p:nvGrpSpPr>
        <p:grpSpPr>
          <a:xfrm>
            <a:off x="2778125" y="3267075"/>
            <a:ext cx="4298950" cy="3041650"/>
            <a:chOff x="2207" y="2194"/>
            <a:chExt cx="2708" cy="1916"/>
          </a:xfrm>
        </p:grpSpPr>
        <p:sp>
          <p:nvSpPr>
            <p:cNvPr id="20485" name="Text Box 5"/>
            <p:cNvSpPr txBox="1"/>
            <p:nvPr/>
          </p:nvSpPr>
          <p:spPr>
            <a:xfrm>
              <a:off x="2212" y="2194"/>
              <a:ext cx="291" cy="327"/>
            </a:xfrm>
            <a:prstGeom prst="rect">
              <a:avLst/>
            </a:prstGeom>
            <a:noFill/>
            <a:ln w="9525">
              <a:noFill/>
            </a:ln>
          </p:spPr>
          <p:txBody>
            <a:bodyPr wrap="none">
              <a:spAutoFit/>
            </a:bodyPr>
            <a:lstStyle/>
            <a:p>
              <a:r>
                <a:rPr lang="en-US" altLang="zh-CN" sz="2800" i="1" dirty="0">
                  <a:latin typeface="Times New Roman" panose="02020603050405020304" pitchFamily="18" charset="0"/>
                </a:rPr>
                <a:t>x</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0486" name="Rectangle 7"/>
            <p:cNvSpPr/>
            <p:nvPr/>
          </p:nvSpPr>
          <p:spPr>
            <a:xfrm>
              <a:off x="3106" y="2368"/>
              <a:ext cx="981" cy="424"/>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0487" name="Rectangle 8"/>
            <p:cNvSpPr/>
            <p:nvPr/>
          </p:nvSpPr>
          <p:spPr>
            <a:xfrm>
              <a:off x="3106" y="3657"/>
              <a:ext cx="981" cy="383"/>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0488" name="Text Box 9"/>
            <p:cNvSpPr txBox="1"/>
            <p:nvPr/>
          </p:nvSpPr>
          <p:spPr>
            <a:xfrm>
              <a:off x="3087" y="2424"/>
              <a:ext cx="1028" cy="300"/>
            </a:xfrm>
            <a:prstGeom prst="rect">
              <a:avLst/>
            </a:prstGeom>
            <a:noFill/>
            <a:ln w="9525">
              <a:noFill/>
            </a:ln>
          </p:spPr>
          <p:txBody>
            <a:bodyPr>
              <a:spAutoFit/>
            </a:bodyPr>
            <a:lstStyle/>
            <a:p>
              <a:pPr>
                <a:lnSpc>
                  <a:spcPct val="90000"/>
                </a:lnSpc>
              </a:pPr>
              <a:r>
                <a:rPr lang="zh-CN" altLang="en-US" sz="2800" dirty="0">
                  <a:latin typeface="Times New Roman" panose="02020603050405020304" pitchFamily="18" charset="0"/>
                </a:rPr>
                <a:t>组合电路</a:t>
              </a:r>
            </a:p>
          </p:txBody>
        </p:sp>
        <p:sp>
          <p:nvSpPr>
            <p:cNvPr id="20489" name="Line 11"/>
            <p:cNvSpPr/>
            <p:nvPr/>
          </p:nvSpPr>
          <p:spPr>
            <a:xfrm>
              <a:off x="2533" y="2375"/>
              <a:ext cx="547" cy="0"/>
            </a:xfrm>
            <a:prstGeom prst="line">
              <a:avLst/>
            </a:prstGeom>
            <a:ln w="19050" cap="flat" cmpd="sng">
              <a:solidFill>
                <a:schemeClr val="tx1"/>
              </a:solidFill>
              <a:prstDash val="solid"/>
              <a:headEnd type="none" w="med" len="med"/>
              <a:tailEnd type="triangle" w="sm" len="lg"/>
            </a:ln>
          </p:spPr>
        </p:sp>
        <p:sp>
          <p:nvSpPr>
            <p:cNvPr id="20490" name="Line 12"/>
            <p:cNvSpPr/>
            <p:nvPr/>
          </p:nvSpPr>
          <p:spPr>
            <a:xfrm>
              <a:off x="2533" y="2599"/>
              <a:ext cx="547" cy="0"/>
            </a:xfrm>
            <a:prstGeom prst="line">
              <a:avLst/>
            </a:prstGeom>
            <a:ln w="19050" cap="flat" cmpd="sng">
              <a:solidFill>
                <a:schemeClr val="tx1"/>
              </a:solidFill>
              <a:prstDash val="solid"/>
              <a:headEnd type="none" w="med" len="med"/>
              <a:tailEnd type="triangle" w="sm" len="lg"/>
            </a:ln>
          </p:spPr>
        </p:sp>
        <p:sp>
          <p:nvSpPr>
            <p:cNvPr id="20491" name="Rectangle 13"/>
            <p:cNvSpPr/>
            <p:nvPr/>
          </p:nvSpPr>
          <p:spPr>
            <a:xfrm>
              <a:off x="2207" y="2408"/>
              <a:ext cx="291" cy="327"/>
            </a:xfrm>
            <a:prstGeom prst="rect">
              <a:avLst/>
            </a:prstGeom>
            <a:noFill/>
            <a:ln w="9525">
              <a:noFill/>
            </a:ln>
          </p:spPr>
          <p:txBody>
            <a:bodyPr wrap="none">
              <a:spAutoFit/>
            </a:bodyPr>
            <a:lstStyle/>
            <a:p>
              <a:r>
                <a:rPr lang="en-US" altLang="zh-CN" sz="2800" i="1" dirty="0">
                  <a:latin typeface="Times New Roman" panose="02020603050405020304" pitchFamily="18" charset="0"/>
                </a:rPr>
                <a:t>x</a:t>
              </a:r>
              <a:r>
                <a:rPr lang="en-US" altLang="zh-CN" sz="2800" i="1" baseline="-25000" dirty="0">
                  <a:latin typeface="Times New Roman" panose="02020603050405020304" pitchFamily="18" charset="0"/>
                </a:rPr>
                <a:t>n</a:t>
              </a:r>
            </a:p>
          </p:txBody>
        </p:sp>
        <p:sp>
          <p:nvSpPr>
            <p:cNvPr id="15374" name="Text Box 14"/>
            <p:cNvSpPr txBox="1">
              <a:spLocks noChangeArrowheads="1"/>
            </p:cNvSpPr>
            <p:nvPr/>
          </p:nvSpPr>
          <p:spPr bwMode="auto">
            <a:xfrm>
              <a:off x="2583" y="2352"/>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p>
          </p:txBody>
        </p:sp>
        <p:sp>
          <p:nvSpPr>
            <p:cNvPr id="20493" name="Freeform 19"/>
            <p:cNvSpPr/>
            <p:nvPr/>
          </p:nvSpPr>
          <p:spPr>
            <a:xfrm>
              <a:off x="2815" y="2750"/>
              <a:ext cx="289" cy="961"/>
            </a:xfrm>
            <a:custGeom>
              <a:avLst/>
              <a:gdLst>
                <a:gd name="txL" fmla="*/ 0 w 228"/>
                <a:gd name="txT" fmla="*/ 0 h 652"/>
                <a:gd name="txR" fmla="*/ 228 w 228"/>
                <a:gd name="txB" fmla="*/ 652 h 652"/>
              </a:gdLst>
              <a:ahLst/>
              <a:cxnLst>
                <a:cxn ang="0">
                  <a:pos x="366" y="1416"/>
                </a:cxn>
                <a:cxn ang="0">
                  <a:pos x="0" y="1416"/>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triangle" w="sm" len="lg"/>
              <a:tailEnd type="triangle" w="sm" len="lg"/>
            </a:ln>
          </p:spPr>
          <p:txBody>
            <a:bodyPr/>
            <a:lstStyle/>
            <a:p>
              <a:endParaRPr lang="zh-CN" altLang="en-US"/>
            </a:p>
          </p:txBody>
        </p:sp>
        <p:sp>
          <p:nvSpPr>
            <p:cNvPr id="20494" name="Freeform 20"/>
            <p:cNvSpPr/>
            <p:nvPr/>
          </p:nvSpPr>
          <p:spPr>
            <a:xfrm>
              <a:off x="2634" y="2687"/>
              <a:ext cx="470" cy="1294"/>
            </a:xfrm>
            <a:custGeom>
              <a:avLst/>
              <a:gdLst>
                <a:gd name="txL" fmla="*/ 0 w 371"/>
                <a:gd name="txT" fmla="*/ 0 h 1025"/>
                <a:gd name="txR" fmla="*/ 371 w 371"/>
                <a:gd name="txB" fmla="*/ 1025 h 1025"/>
              </a:gdLst>
              <a:ahLst/>
              <a:cxnLst>
                <a:cxn ang="0">
                  <a:pos x="595" y="1632"/>
                </a:cxn>
                <a:cxn ang="0">
                  <a:pos x="0" y="1634"/>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triangle" w="sm" len="lg"/>
              <a:tailEnd type="triangle" w="sm" len="lg"/>
            </a:ln>
          </p:spPr>
          <p:txBody>
            <a:bodyPr/>
            <a:lstStyle/>
            <a:p>
              <a:endParaRPr lang="zh-CN" altLang="en-US"/>
            </a:p>
          </p:txBody>
        </p:sp>
        <p:sp>
          <p:nvSpPr>
            <p:cNvPr id="20495" name="Freeform 21"/>
            <p:cNvSpPr/>
            <p:nvPr/>
          </p:nvSpPr>
          <p:spPr>
            <a:xfrm flipH="1" flipV="1">
              <a:off x="4101" y="2698"/>
              <a:ext cx="289" cy="431"/>
            </a:xfrm>
            <a:custGeom>
              <a:avLst/>
              <a:gdLst>
                <a:gd name="txL" fmla="*/ 0 w 228"/>
                <a:gd name="txT" fmla="*/ 0 h 652"/>
                <a:gd name="txR" fmla="*/ 228 w 228"/>
                <a:gd name="txB" fmla="*/ 652 h 652"/>
              </a:gdLst>
              <a:ahLst/>
              <a:cxnLst>
                <a:cxn ang="0">
                  <a:pos x="366" y="285"/>
                </a:cxn>
                <a:cxn ang="0">
                  <a:pos x="0" y="285"/>
                </a:cxn>
                <a:cxn ang="0">
                  <a:pos x="0" y="0"/>
                </a:cxn>
                <a:cxn ang="0">
                  <a:pos x="349" y="0"/>
                </a:cxn>
              </a:cxnLst>
              <a:rect l="txL" t="txT" r="txR" b="txB"/>
              <a:pathLst>
                <a:path w="228" h="652">
                  <a:moveTo>
                    <a:pt x="228" y="652"/>
                  </a:moveTo>
                  <a:lnTo>
                    <a:pt x="0" y="652"/>
                  </a:lnTo>
                  <a:lnTo>
                    <a:pt x="0" y="0"/>
                  </a:lnTo>
                  <a:lnTo>
                    <a:pt x="217" y="0"/>
                  </a:lnTo>
                </a:path>
              </a:pathLst>
            </a:custGeom>
            <a:noFill/>
            <a:ln w="19050" cap="flat" cmpd="sng">
              <a:solidFill>
                <a:schemeClr val="tx1">
                  <a:alpha val="100000"/>
                </a:schemeClr>
              </a:solidFill>
              <a:prstDash val="solid"/>
              <a:round/>
              <a:headEnd type="none" w="med" len="med"/>
              <a:tailEnd type="triangle" w="sm" len="lg"/>
            </a:ln>
          </p:spPr>
          <p:txBody>
            <a:bodyPr/>
            <a:lstStyle/>
            <a:p>
              <a:endParaRPr lang="zh-CN" altLang="en-US"/>
            </a:p>
          </p:txBody>
        </p:sp>
        <p:sp>
          <p:nvSpPr>
            <p:cNvPr id="20496" name="Freeform 22"/>
            <p:cNvSpPr/>
            <p:nvPr/>
          </p:nvSpPr>
          <p:spPr>
            <a:xfrm flipH="1" flipV="1">
              <a:off x="4094" y="2470"/>
              <a:ext cx="470" cy="902"/>
            </a:xfrm>
            <a:custGeom>
              <a:avLst/>
              <a:gdLst>
                <a:gd name="txL" fmla="*/ 0 w 371"/>
                <a:gd name="txT" fmla="*/ 0 h 1025"/>
                <a:gd name="txR" fmla="*/ 371 w 371"/>
                <a:gd name="txB" fmla="*/ 1025 h 1025"/>
              </a:gdLst>
              <a:ahLst/>
              <a:cxnLst>
                <a:cxn ang="0">
                  <a:pos x="595" y="793"/>
                </a:cxn>
                <a:cxn ang="0">
                  <a:pos x="0" y="794"/>
                </a:cxn>
                <a:cxn ang="0">
                  <a:pos x="0" y="0"/>
                </a:cxn>
                <a:cxn ang="0">
                  <a:pos x="579" y="0"/>
                </a:cxn>
              </a:cxnLst>
              <a:rect l="txL" t="txT" r="txR" b="txB"/>
              <a:pathLst>
                <a:path w="371" h="1025">
                  <a:moveTo>
                    <a:pt x="371" y="1024"/>
                  </a:moveTo>
                  <a:lnTo>
                    <a:pt x="0" y="1025"/>
                  </a:lnTo>
                  <a:lnTo>
                    <a:pt x="0" y="0"/>
                  </a:lnTo>
                  <a:lnTo>
                    <a:pt x="361" y="0"/>
                  </a:lnTo>
                </a:path>
              </a:pathLst>
            </a:custGeom>
            <a:noFill/>
            <a:ln w="19050" cap="flat" cmpd="sng">
              <a:solidFill>
                <a:schemeClr val="tx1">
                  <a:alpha val="100000"/>
                </a:schemeClr>
              </a:solidFill>
              <a:prstDash val="solid"/>
              <a:round/>
              <a:headEnd type="none" w="med" len="med"/>
              <a:tailEnd type="triangle" w="sm" len="lg"/>
            </a:ln>
          </p:spPr>
          <p:txBody>
            <a:bodyPr/>
            <a:lstStyle/>
            <a:p>
              <a:endParaRPr lang="zh-CN" altLang="en-US"/>
            </a:p>
          </p:txBody>
        </p:sp>
        <p:sp>
          <p:nvSpPr>
            <p:cNvPr id="15383" name="Text Box 23"/>
            <p:cNvSpPr txBox="1">
              <a:spLocks noChangeArrowheads="1"/>
            </p:cNvSpPr>
            <p:nvPr/>
          </p:nvSpPr>
          <p:spPr bwMode="auto">
            <a:xfrm>
              <a:off x="2744" y="3718"/>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p>
          </p:txBody>
        </p:sp>
        <p:sp>
          <p:nvSpPr>
            <p:cNvPr id="15384" name="Text Box 24"/>
            <p:cNvSpPr txBox="1">
              <a:spLocks noChangeArrowheads="1"/>
            </p:cNvSpPr>
            <p:nvPr/>
          </p:nvSpPr>
          <p:spPr bwMode="auto">
            <a:xfrm>
              <a:off x="4106" y="3119"/>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p>
          </p:txBody>
        </p:sp>
        <p:sp>
          <p:nvSpPr>
            <p:cNvPr id="20499" name="Text Box 25"/>
            <p:cNvSpPr txBox="1"/>
            <p:nvPr/>
          </p:nvSpPr>
          <p:spPr>
            <a:xfrm>
              <a:off x="2810" y="2787"/>
              <a:ext cx="274"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r</a:t>
              </a:r>
              <a:endParaRPr lang="en-US" altLang="zh-CN" sz="2800" dirty="0">
                <a:latin typeface="Times New Roman" panose="02020603050405020304" pitchFamily="18" charset="0"/>
              </a:endParaRPr>
            </a:p>
          </p:txBody>
        </p:sp>
        <p:sp>
          <p:nvSpPr>
            <p:cNvPr id="20500" name="Rectangle 26"/>
            <p:cNvSpPr/>
            <p:nvPr/>
          </p:nvSpPr>
          <p:spPr>
            <a:xfrm>
              <a:off x="2377" y="2791"/>
              <a:ext cx="291"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p>
          </p:txBody>
        </p:sp>
        <p:sp>
          <p:nvSpPr>
            <p:cNvPr id="20501" name="Rectangle 27"/>
            <p:cNvSpPr/>
            <p:nvPr/>
          </p:nvSpPr>
          <p:spPr>
            <a:xfrm>
              <a:off x="4135" y="2741"/>
              <a:ext cx="317"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p>
          </p:txBody>
        </p:sp>
        <p:sp>
          <p:nvSpPr>
            <p:cNvPr id="20502" name="Text Box 28"/>
            <p:cNvSpPr txBox="1"/>
            <p:nvPr/>
          </p:nvSpPr>
          <p:spPr>
            <a:xfrm>
              <a:off x="4549" y="2755"/>
              <a:ext cx="283"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l</a:t>
              </a:r>
              <a:endParaRPr lang="en-US" altLang="zh-CN" sz="2800" dirty="0">
                <a:latin typeface="Times New Roman" panose="02020603050405020304" pitchFamily="18" charset="0"/>
              </a:endParaRPr>
            </a:p>
          </p:txBody>
        </p:sp>
        <p:sp>
          <p:nvSpPr>
            <p:cNvPr id="20503" name="Rectangle 31"/>
            <p:cNvSpPr/>
            <p:nvPr/>
          </p:nvSpPr>
          <p:spPr>
            <a:xfrm>
              <a:off x="3106" y="3033"/>
              <a:ext cx="981" cy="383"/>
            </a:xfrm>
            <a:prstGeom prst="rect">
              <a:avLst/>
            </a:prstGeom>
            <a:solidFill>
              <a:srgbClr val="CCFFFF"/>
            </a:solidFill>
            <a:ln w="28575" cap="flat" cmpd="sng">
              <a:solidFill>
                <a:srgbClr val="FF00FF"/>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0504" name="Text Box 10"/>
            <p:cNvSpPr txBox="1"/>
            <p:nvPr/>
          </p:nvSpPr>
          <p:spPr>
            <a:xfrm>
              <a:off x="3076" y="3072"/>
              <a:ext cx="1090" cy="300"/>
            </a:xfrm>
            <a:prstGeom prst="rect">
              <a:avLst/>
            </a:prstGeom>
            <a:noFill/>
            <a:ln w="9525">
              <a:noFill/>
            </a:ln>
          </p:spPr>
          <p:txBody>
            <a:bodyPr>
              <a:spAutoFit/>
            </a:bodyPr>
            <a:lstStyle/>
            <a:p>
              <a:pPr>
                <a:lnSpc>
                  <a:spcPct val="90000"/>
                </a:lnSpc>
              </a:pPr>
              <a:r>
                <a:rPr lang="zh-CN" altLang="en-US" sz="2800" dirty="0">
                  <a:latin typeface="Times New Roman" panose="02020603050405020304" pitchFamily="18" charset="0"/>
                </a:rPr>
                <a:t>存储器件</a:t>
              </a:r>
            </a:p>
          </p:txBody>
        </p:sp>
        <p:sp>
          <p:nvSpPr>
            <p:cNvPr id="20505" name="Line 32"/>
            <p:cNvSpPr/>
            <p:nvPr/>
          </p:nvSpPr>
          <p:spPr>
            <a:xfrm flipH="1">
              <a:off x="2828" y="3123"/>
              <a:ext cx="269" cy="0"/>
            </a:xfrm>
            <a:prstGeom prst="line">
              <a:avLst/>
            </a:prstGeom>
            <a:ln w="12700" cap="flat" cmpd="sng">
              <a:solidFill>
                <a:schemeClr val="tx1"/>
              </a:solidFill>
              <a:prstDash val="solid"/>
              <a:headEnd type="none" w="med" len="med"/>
              <a:tailEnd type="triangle" w="sm" len="lg"/>
            </a:ln>
          </p:spPr>
        </p:sp>
        <p:sp>
          <p:nvSpPr>
            <p:cNvPr id="20506" name="Line 33"/>
            <p:cNvSpPr/>
            <p:nvPr/>
          </p:nvSpPr>
          <p:spPr>
            <a:xfrm flipH="1">
              <a:off x="2631" y="3340"/>
              <a:ext cx="466" cy="0"/>
            </a:xfrm>
            <a:prstGeom prst="line">
              <a:avLst/>
            </a:prstGeom>
            <a:ln w="12700" cap="flat" cmpd="sng">
              <a:solidFill>
                <a:schemeClr val="tx1"/>
              </a:solidFill>
              <a:prstDash val="solid"/>
              <a:headEnd type="none" w="med" len="med"/>
              <a:tailEnd type="triangle" w="sm" len="lg"/>
            </a:ln>
          </p:spPr>
        </p:sp>
        <p:sp>
          <p:nvSpPr>
            <p:cNvPr id="20507" name="Text Box 34"/>
            <p:cNvSpPr txBox="1"/>
            <p:nvPr/>
          </p:nvSpPr>
          <p:spPr>
            <a:xfrm>
              <a:off x="3087" y="3717"/>
              <a:ext cx="1028" cy="300"/>
            </a:xfrm>
            <a:prstGeom prst="rect">
              <a:avLst/>
            </a:prstGeom>
            <a:noFill/>
            <a:ln w="9525">
              <a:noFill/>
            </a:ln>
          </p:spPr>
          <p:txBody>
            <a:bodyPr>
              <a:spAutoFit/>
            </a:bodyPr>
            <a:lstStyle/>
            <a:p>
              <a:pPr>
                <a:lnSpc>
                  <a:spcPct val="90000"/>
                </a:lnSpc>
              </a:pPr>
              <a:r>
                <a:rPr lang="zh-CN" altLang="en-US" sz="2800" dirty="0">
                  <a:latin typeface="Times New Roman" panose="02020603050405020304" pitchFamily="18" charset="0"/>
                </a:rPr>
                <a:t>组合电路</a:t>
              </a:r>
            </a:p>
          </p:txBody>
        </p:sp>
        <p:sp>
          <p:nvSpPr>
            <p:cNvPr id="20508" name="Text Box 37"/>
            <p:cNvSpPr txBox="1"/>
            <p:nvPr/>
          </p:nvSpPr>
          <p:spPr>
            <a:xfrm>
              <a:off x="4595" y="3569"/>
              <a:ext cx="279" cy="327"/>
            </a:xfrm>
            <a:prstGeom prst="rect">
              <a:avLst/>
            </a:prstGeom>
            <a:noFill/>
            <a:ln w="9525">
              <a:noFill/>
            </a:ln>
          </p:spPr>
          <p:txBody>
            <a:bodyPr>
              <a:spAutoFit/>
            </a:bodyPr>
            <a:lstStyle/>
            <a:p>
              <a:r>
                <a:rPr lang="en-US" altLang="zh-CN" sz="2800" i="1" dirty="0">
                  <a:latin typeface="Times New Roman" panose="02020603050405020304" pitchFamily="18" charset="0"/>
                </a:rPr>
                <a:t>z</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0509" name="Line 38"/>
            <p:cNvSpPr/>
            <p:nvPr/>
          </p:nvSpPr>
          <p:spPr>
            <a:xfrm>
              <a:off x="4078" y="3750"/>
              <a:ext cx="547" cy="0"/>
            </a:xfrm>
            <a:prstGeom prst="line">
              <a:avLst/>
            </a:prstGeom>
            <a:ln w="19050" cap="flat" cmpd="sng">
              <a:solidFill>
                <a:schemeClr val="tx1"/>
              </a:solidFill>
              <a:prstDash val="solid"/>
              <a:headEnd type="none" w="med" len="med"/>
              <a:tailEnd type="triangle" w="sm" len="lg"/>
            </a:ln>
          </p:spPr>
        </p:sp>
        <p:sp>
          <p:nvSpPr>
            <p:cNvPr id="20510" name="Line 39"/>
            <p:cNvSpPr/>
            <p:nvPr/>
          </p:nvSpPr>
          <p:spPr>
            <a:xfrm>
              <a:off x="4078" y="3974"/>
              <a:ext cx="547" cy="0"/>
            </a:xfrm>
            <a:prstGeom prst="line">
              <a:avLst/>
            </a:prstGeom>
            <a:ln w="19050" cap="flat" cmpd="sng">
              <a:solidFill>
                <a:schemeClr val="tx1"/>
              </a:solidFill>
              <a:prstDash val="solid"/>
              <a:headEnd type="none" w="med" len="med"/>
              <a:tailEnd type="triangle" w="sm" len="lg"/>
            </a:ln>
          </p:spPr>
        </p:sp>
        <p:sp>
          <p:nvSpPr>
            <p:cNvPr id="20511" name="Rectangle 40"/>
            <p:cNvSpPr/>
            <p:nvPr/>
          </p:nvSpPr>
          <p:spPr>
            <a:xfrm>
              <a:off x="4602" y="3783"/>
              <a:ext cx="313" cy="327"/>
            </a:xfrm>
            <a:prstGeom prst="rect">
              <a:avLst/>
            </a:prstGeom>
            <a:noFill/>
            <a:ln w="9525">
              <a:noFill/>
            </a:ln>
          </p:spPr>
          <p:txBody>
            <a:bodyPr wrap="none">
              <a:spAutoFit/>
            </a:bodyPr>
            <a:lstStyle/>
            <a:p>
              <a:r>
                <a:rPr lang="en-US" altLang="zh-CN" sz="2800" i="1" dirty="0">
                  <a:latin typeface="Times New Roman" panose="02020603050405020304" pitchFamily="18" charset="0"/>
                </a:rPr>
                <a:t>z</a:t>
              </a:r>
              <a:r>
                <a:rPr lang="en-US" altLang="zh-CN" sz="2800" i="1" baseline="-25000" dirty="0">
                  <a:latin typeface="Times New Roman" panose="02020603050405020304" pitchFamily="18" charset="0"/>
                </a:rPr>
                <a:t>m</a:t>
              </a:r>
            </a:p>
          </p:txBody>
        </p:sp>
        <p:sp>
          <p:nvSpPr>
            <p:cNvPr id="15401" name="Text Box 41"/>
            <p:cNvSpPr txBox="1">
              <a:spLocks noChangeArrowheads="1"/>
            </p:cNvSpPr>
            <p:nvPr/>
          </p:nvSpPr>
          <p:spPr bwMode="auto">
            <a:xfrm>
              <a:off x="4128" y="3727"/>
              <a:ext cx="385" cy="282"/>
            </a:xfrm>
            <a:prstGeom prst="rect">
              <a:avLst/>
            </a:prstGeom>
            <a:noFill/>
            <a:ln w="9525">
              <a:noFill/>
              <a:miter lim="800000"/>
            </a:ln>
            <a:effectLst/>
          </p:spPr>
          <p:txBody>
            <a:bodyPr vert="eaVert" wrap="none">
              <a:spAutoFit/>
            </a:bodyPr>
            <a:lstStyle/>
            <a:p>
              <a:pPr marR="0" defTabSz="914400">
                <a:buClrTx/>
                <a:buSzTx/>
                <a:buFontTx/>
                <a:buNone/>
                <a:defRPr/>
              </a:pPr>
              <a:r>
                <a:rPr kumimoji="1"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wipe(left)">
                                      <p:cBhvr>
                                        <p:cTn id="7" dur="500"/>
                                        <p:tgtEl>
                                          <p:spTgt spid="15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04" name="Text Box 20"/>
          <p:cNvSpPr txBox="1">
            <a:spLocks noChangeArrowheads="1"/>
          </p:cNvSpPr>
          <p:nvPr/>
        </p:nvSpPr>
        <p:spPr bwMode="auto">
          <a:xfrm>
            <a:off x="906463" y="525463"/>
            <a:ext cx="1970088" cy="519113"/>
          </a:xfrm>
          <a:prstGeom prst="rect">
            <a:avLst/>
          </a:prstGeom>
          <a:noFill/>
          <a:ln w="38100">
            <a:noFill/>
            <a:miter lim="800000"/>
          </a:ln>
          <a:effectLst/>
        </p:spPr>
        <p:txBody>
          <a:bodyPr wrap="none">
            <a:spAutoFit/>
          </a:bodyPr>
          <a:lstStyle/>
          <a:p>
            <a:pPr marR="0" defTabSz="914400">
              <a:buClrTx/>
              <a:buSzTx/>
              <a:buFontTx/>
              <a:buNone/>
              <a:defRPr/>
            </a:pPr>
            <a:r>
              <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一、状态表</a:t>
            </a:r>
          </a:p>
        </p:txBody>
      </p:sp>
      <p:sp>
        <p:nvSpPr>
          <p:cNvPr id="16405" name="Text Box 21"/>
          <p:cNvSpPr txBox="1"/>
          <p:nvPr/>
        </p:nvSpPr>
        <p:spPr>
          <a:xfrm>
            <a:off x="1660525" y="1130300"/>
            <a:ext cx="3354388" cy="519113"/>
          </a:xfrm>
          <a:prstGeom prst="rect">
            <a:avLst/>
          </a:prstGeom>
          <a:noFill/>
          <a:ln w="38100">
            <a:noFill/>
          </a:ln>
        </p:spPr>
        <p:txBody>
          <a:bodyPr wrap="none">
            <a:spAutoFit/>
          </a:bodyPr>
          <a:lstStyle/>
          <a:p>
            <a:r>
              <a:rPr lang="en-US" altLang="zh-CN" sz="2800" dirty="0">
                <a:latin typeface="Times New Roman" panose="02020603050405020304" pitchFamily="18" charset="0"/>
              </a:rPr>
              <a:t>Moore </a:t>
            </a:r>
            <a:r>
              <a:rPr lang="zh-CN" altLang="zh-CN" sz="2800" dirty="0">
                <a:latin typeface="Times New Roman" panose="02020603050405020304" pitchFamily="18" charset="0"/>
              </a:rPr>
              <a:t>型电路状态表</a:t>
            </a:r>
            <a:endParaRPr lang="zh-CN" altLang="en-US" sz="2800" dirty="0">
              <a:latin typeface="Times New Roman" panose="02020603050405020304" pitchFamily="18" charset="0"/>
            </a:endParaRPr>
          </a:p>
        </p:txBody>
      </p:sp>
      <p:grpSp>
        <p:nvGrpSpPr>
          <p:cNvPr id="2" name="Group 41"/>
          <p:cNvGrpSpPr/>
          <p:nvPr/>
        </p:nvGrpSpPr>
        <p:grpSpPr>
          <a:xfrm>
            <a:off x="1522413" y="1790700"/>
            <a:ext cx="5648325" cy="2530475"/>
            <a:chOff x="1190" y="1536"/>
            <a:chExt cx="3558" cy="1973"/>
          </a:xfrm>
        </p:grpSpPr>
        <p:sp>
          <p:nvSpPr>
            <p:cNvPr id="21510" name="Line 23"/>
            <p:cNvSpPr/>
            <p:nvPr/>
          </p:nvSpPr>
          <p:spPr>
            <a:xfrm>
              <a:off x="1190" y="1541"/>
              <a:ext cx="3538" cy="0"/>
            </a:xfrm>
            <a:prstGeom prst="line">
              <a:avLst/>
            </a:prstGeom>
            <a:ln w="38100" cap="flat" cmpd="sng">
              <a:solidFill>
                <a:srgbClr val="3333FF"/>
              </a:solidFill>
              <a:prstDash val="solid"/>
              <a:headEnd type="none" w="med" len="med"/>
              <a:tailEnd type="none" w="med" len="med"/>
            </a:ln>
          </p:spPr>
        </p:sp>
        <p:sp>
          <p:nvSpPr>
            <p:cNvPr id="21511" name="Line 24"/>
            <p:cNvSpPr/>
            <p:nvPr/>
          </p:nvSpPr>
          <p:spPr>
            <a:xfrm>
              <a:off x="1190" y="2325"/>
              <a:ext cx="3538" cy="0"/>
            </a:xfrm>
            <a:prstGeom prst="line">
              <a:avLst/>
            </a:prstGeom>
            <a:ln w="38100" cap="flat" cmpd="sng">
              <a:solidFill>
                <a:srgbClr val="3333FF"/>
              </a:solidFill>
              <a:prstDash val="solid"/>
              <a:headEnd type="none" w="med" len="med"/>
              <a:tailEnd type="none" w="med" len="med"/>
            </a:ln>
          </p:spPr>
        </p:sp>
        <p:sp>
          <p:nvSpPr>
            <p:cNvPr id="21512" name="Line 25"/>
            <p:cNvSpPr/>
            <p:nvPr/>
          </p:nvSpPr>
          <p:spPr>
            <a:xfrm>
              <a:off x="1190" y="2718"/>
              <a:ext cx="3538" cy="0"/>
            </a:xfrm>
            <a:prstGeom prst="line">
              <a:avLst/>
            </a:prstGeom>
            <a:ln w="38100" cap="flat" cmpd="sng">
              <a:solidFill>
                <a:srgbClr val="3333FF"/>
              </a:solidFill>
              <a:prstDash val="solid"/>
              <a:headEnd type="none" w="med" len="med"/>
              <a:tailEnd type="none" w="med" len="med"/>
            </a:ln>
          </p:spPr>
        </p:sp>
        <p:sp>
          <p:nvSpPr>
            <p:cNvPr id="21513" name="Line 26"/>
            <p:cNvSpPr/>
            <p:nvPr/>
          </p:nvSpPr>
          <p:spPr>
            <a:xfrm>
              <a:off x="1190" y="3110"/>
              <a:ext cx="3538" cy="0"/>
            </a:xfrm>
            <a:prstGeom prst="line">
              <a:avLst/>
            </a:prstGeom>
            <a:ln w="38100" cap="flat" cmpd="sng">
              <a:solidFill>
                <a:srgbClr val="3333FF"/>
              </a:solidFill>
              <a:prstDash val="solid"/>
              <a:headEnd type="none" w="med" len="med"/>
              <a:tailEnd type="none" w="med" len="med"/>
            </a:ln>
          </p:spPr>
        </p:sp>
        <p:sp>
          <p:nvSpPr>
            <p:cNvPr id="21514" name="Line 27"/>
            <p:cNvSpPr/>
            <p:nvPr/>
          </p:nvSpPr>
          <p:spPr>
            <a:xfrm>
              <a:off x="1190" y="3503"/>
              <a:ext cx="3538" cy="0"/>
            </a:xfrm>
            <a:prstGeom prst="line">
              <a:avLst/>
            </a:prstGeom>
            <a:ln w="38100" cap="flat" cmpd="sng">
              <a:solidFill>
                <a:srgbClr val="3333FF"/>
              </a:solidFill>
              <a:prstDash val="solid"/>
              <a:headEnd type="none" w="med" len="med"/>
              <a:tailEnd type="none" w="med" len="med"/>
            </a:ln>
          </p:spPr>
        </p:sp>
        <p:sp>
          <p:nvSpPr>
            <p:cNvPr id="21515" name="Line 28"/>
            <p:cNvSpPr/>
            <p:nvPr/>
          </p:nvSpPr>
          <p:spPr>
            <a:xfrm>
              <a:off x="1954" y="1551"/>
              <a:ext cx="0" cy="1945"/>
            </a:xfrm>
            <a:prstGeom prst="line">
              <a:avLst/>
            </a:prstGeom>
            <a:ln w="38100" cap="flat" cmpd="sng">
              <a:solidFill>
                <a:srgbClr val="3333FF"/>
              </a:solidFill>
              <a:prstDash val="solid"/>
              <a:headEnd type="none" w="med" len="med"/>
              <a:tailEnd type="none" w="med" len="med"/>
            </a:ln>
          </p:spPr>
        </p:sp>
        <p:sp>
          <p:nvSpPr>
            <p:cNvPr id="21516" name="Line 29"/>
            <p:cNvSpPr/>
            <p:nvPr/>
          </p:nvSpPr>
          <p:spPr>
            <a:xfrm>
              <a:off x="2628" y="1933"/>
              <a:ext cx="0" cy="1563"/>
            </a:xfrm>
            <a:prstGeom prst="line">
              <a:avLst/>
            </a:prstGeom>
            <a:ln w="38100" cap="flat" cmpd="sng">
              <a:solidFill>
                <a:srgbClr val="3333FF"/>
              </a:solidFill>
              <a:prstDash val="solid"/>
              <a:headEnd type="none" w="med" len="med"/>
              <a:tailEnd type="none" w="med" len="med"/>
            </a:ln>
          </p:spPr>
        </p:sp>
        <p:sp>
          <p:nvSpPr>
            <p:cNvPr id="21517" name="Line 30"/>
            <p:cNvSpPr/>
            <p:nvPr/>
          </p:nvSpPr>
          <p:spPr>
            <a:xfrm>
              <a:off x="4024" y="1536"/>
              <a:ext cx="0" cy="1973"/>
            </a:xfrm>
            <a:prstGeom prst="line">
              <a:avLst/>
            </a:prstGeom>
            <a:ln w="38100" cap="flat" cmpd="sng">
              <a:solidFill>
                <a:srgbClr val="3333FF"/>
              </a:solidFill>
              <a:prstDash val="solid"/>
              <a:headEnd type="none" w="med" len="med"/>
              <a:tailEnd type="none" w="med" len="med"/>
            </a:ln>
          </p:spPr>
        </p:sp>
        <p:sp>
          <p:nvSpPr>
            <p:cNvPr id="21518" name="Line 31"/>
            <p:cNvSpPr/>
            <p:nvPr/>
          </p:nvSpPr>
          <p:spPr>
            <a:xfrm>
              <a:off x="1947" y="1933"/>
              <a:ext cx="2801" cy="0"/>
            </a:xfrm>
            <a:prstGeom prst="line">
              <a:avLst/>
            </a:prstGeom>
            <a:ln w="38100" cap="flat" cmpd="sng">
              <a:solidFill>
                <a:srgbClr val="3333FF"/>
              </a:solidFill>
              <a:prstDash val="solid"/>
              <a:headEnd type="none" w="med" len="med"/>
              <a:tailEnd type="none" w="med" len="med"/>
            </a:ln>
          </p:spPr>
        </p:sp>
        <p:sp>
          <p:nvSpPr>
            <p:cNvPr id="21519" name="Text Box 32"/>
            <p:cNvSpPr txBox="1"/>
            <p:nvPr/>
          </p:nvSpPr>
          <p:spPr>
            <a:xfrm>
              <a:off x="1243" y="1740"/>
              <a:ext cx="676" cy="405"/>
            </a:xfrm>
            <a:prstGeom prst="rect">
              <a:avLst/>
            </a:prstGeom>
            <a:noFill/>
            <a:ln w="38100">
              <a:noFill/>
            </a:ln>
          </p:spPr>
          <p:txBody>
            <a:bodyPr wrap="none">
              <a:spAutoFit/>
            </a:bodyPr>
            <a:lstStyle/>
            <a:p>
              <a:r>
                <a:rPr lang="zh-CN" altLang="en-US" sz="2800" dirty="0">
                  <a:latin typeface="Times New Roman" panose="02020603050405020304" pitchFamily="18" charset="0"/>
                </a:rPr>
                <a:t>现  态</a:t>
              </a:r>
            </a:p>
          </p:txBody>
        </p:sp>
        <p:sp>
          <p:nvSpPr>
            <p:cNvPr id="21520" name="Text Box 33"/>
            <p:cNvSpPr txBox="1"/>
            <p:nvPr/>
          </p:nvSpPr>
          <p:spPr>
            <a:xfrm>
              <a:off x="2548" y="1587"/>
              <a:ext cx="676" cy="404"/>
            </a:xfrm>
            <a:prstGeom prst="rect">
              <a:avLst/>
            </a:prstGeom>
            <a:noFill/>
            <a:ln w="38100">
              <a:noFill/>
            </a:ln>
          </p:spPr>
          <p:txBody>
            <a:bodyPr wrap="none">
              <a:spAutoFit/>
            </a:bodyPr>
            <a:lstStyle/>
            <a:p>
              <a:r>
                <a:rPr lang="zh-CN" altLang="en-US" sz="2800" dirty="0">
                  <a:latin typeface="Times New Roman" panose="02020603050405020304" pitchFamily="18" charset="0"/>
                </a:rPr>
                <a:t>次  态</a:t>
              </a:r>
            </a:p>
          </p:txBody>
        </p:sp>
        <p:sp>
          <p:nvSpPr>
            <p:cNvPr id="21521" name="Text Box 34"/>
            <p:cNvSpPr txBox="1"/>
            <p:nvPr/>
          </p:nvSpPr>
          <p:spPr>
            <a:xfrm>
              <a:off x="2640" y="1987"/>
              <a:ext cx="663" cy="404"/>
            </a:xfrm>
            <a:prstGeom prst="rect">
              <a:avLst/>
            </a:prstGeom>
            <a:noFill/>
            <a:ln w="38100">
              <a:noFill/>
            </a:ln>
          </p:spPr>
          <p:txBody>
            <a:bodyPr wrap="none">
              <a:spAutoFit/>
            </a:bodyPr>
            <a:lstStyle/>
            <a:p>
              <a:r>
                <a:rPr lang="zh-CN" altLang="en-US" sz="2800" dirty="0">
                  <a:latin typeface="Times New Roman" panose="02020603050405020304" pitchFamily="18" charset="0"/>
                </a:rPr>
                <a:t>输入</a:t>
              </a:r>
              <a:r>
                <a:rPr lang="en-US" altLang="zh-CN" sz="2800" i="1" dirty="0">
                  <a:latin typeface="Times New Roman" panose="02020603050405020304" pitchFamily="18" charset="0"/>
                </a:rPr>
                <a:t>x</a:t>
              </a:r>
              <a:endParaRPr lang="en-US" altLang="zh-CN" sz="2800" dirty="0">
                <a:latin typeface="Times New Roman" panose="02020603050405020304" pitchFamily="18" charset="0"/>
              </a:endParaRPr>
            </a:p>
          </p:txBody>
        </p:sp>
        <p:sp>
          <p:nvSpPr>
            <p:cNvPr id="21522" name="Text Box 35"/>
            <p:cNvSpPr txBox="1"/>
            <p:nvPr/>
          </p:nvSpPr>
          <p:spPr>
            <a:xfrm>
              <a:off x="1462" y="2742"/>
              <a:ext cx="215" cy="404"/>
            </a:xfrm>
            <a:prstGeom prst="rect">
              <a:avLst/>
            </a:prstGeom>
            <a:noFill/>
            <a:ln w="38100">
              <a:noFill/>
            </a:ln>
          </p:spPr>
          <p:txBody>
            <a:bodyPr wrap="none">
              <a:spAutoFit/>
            </a:bodyPr>
            <a:lstStyle/>
            <a:p>
              <a:r>
                <a:rPr lang="en-US" altLang="zh-CN" sz="2800" i="1" dirty="0">
                  <a:latin typeface="Times New Roman" panose="02020603050405020304" pitchFamily="18" charset="0"/>
                </a:rPr>
                <a:t>y</a:t>
              </a:r>
            </a:p>
          </p:txBody>
        </p:sp>
        <p:sp>
          <p:nvSpPr>
            <p:cNvPr id="21523" name="Text Box 36"/>
            <p:cNvSpPr txBox="1"/>
            <p:nvPr/>
          </p:nvSpPr>
          <p:spPr>
            <a:xfrm>
              <a:off x="2631" y="2751"/>
              <a:ext cx="572" cy="405"/>
            </a:xfrm>
            <a:prstGeom prst="rect">
              <a:avLst/>
            </a:prstGeom>
            <a:noFill/>
            <a:ln w="38100">
              <a:noFill/>
            </a:ln>
          </p:spPr>
          <p:txBody>
            <a:bodyPr wrap="none">
              <a:spAutoFit/>
            </a:bodyPr>
            <a:lstStyle/>
            <a:p>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endParaRPr lang="en-US" altLang="zh-CN" sz="2800" i="1" dirty="0">
                <a:latin typeface="Times New Roman" panose="02020603050405020304" pitchFamily="18" charset="0"/>
              </a:endParaRPr>
            </a:p>
          </p:txBody>
        </p:sp>
        <p:sp>
          <p:nvSpPr>
            <p:cNvPr id="21524" name="Rectangle 38"/>
            <p:cNvSpPr/>
            <p:nvPr/>
          </p:nvSpPr>
          <p:spPr>
            <a:xfrm>
              <a:off x="4231" y="2775"/>
              <a:ext cx="241" cy="405"/>
            </a:xfrm>
            <a:prstGeom prst="rect">
              <a:avLst/>
            </a:prstGeom>
            <a:noFill/>
            <a:ln w="38100">
              <a:noFill/>
            </a:ln>
          </p:spPr>
          <p:txBody>
            <a:bodyPr wrap="none">
              <a:spAutoFit/>
            </a:bodyPr>
            <a:lstStyle/>
            <a:p>
              <a:r>
                <a:rPr lang="en-US" altLang="zh-CN" sz="2800" i="1" dirty="0">
                  <a:latin typeface="Times New Roman" panose="02020603050405020304" pitchFamily="18" charset="0"/>
                </a:rPr>
                <a:t>Z</a:t>
              </a:r>
            </a:p>
          </p:txBody>
        </p:sp>
        <p:sp>
          <p:nvSpPr>
            <p:cNvPr id="21525" name="Rectangle 39"/>
            <p:cNvSpPr/>
            <p:nvPr/>
          </p:nvSpPr>
          <p:spPr>
            <a:xfrm>
              <a:off x="4054" y="1598"/>
              <a:ext cx="676" cy="405"/>
            </a:xfrm>
            <a:prstGeom prst="rect">
              <a:avLst/>
            </a:prstGeom>
            <a:noFill/>
            <a:ln w="38100">
              <a:noFill/>
            </a:ln>
          </p:spPr>
          <p:txBody>
            <a:bodyPr wrap="none">
              <a:spAutoFit/>
            </a:bodyPr>
            <a:lstStyle/>
            <a:p>
              <a:r>
                <a:rPr lang="zh-CN" altLang="en-US" sz="2800" dirty="0">
                  <a:latin typeface="Times New Roman" panose="02020603050405020304" pitchFamily="18" charset="0"/>
                </a:rPr>
                <a:t>输  出</a:t>
              </a:r>
            </a:p>
          </p:txBody>
        </p:sp>
        <p:sp>
          <p:nvSpPr>
            <p:cNvPr id="21526" name="Line 40"/>
            <p:cNvSpPr/>
            <p:nvPr/>
          </p:nvSpPr>
          <p:spPr>
            <a:xfrm>
              <a:off x="3340" y="1933"/>
              <a:ext cx="0" cy="1563"/>
            </a:xfrm>
            <a:prstGeom prst="line">
              <a:avLst/>
            </a:prstGeom>
            <a:ln w="38100" cap="flat" cmpd="sng">
              <a:solidFill>
                <a:srgbClr val="3333FF"/>
              </a:solidFill>
              <a:prstDash val="solid"/>
              <a:headEnd type="none" w="med" len="med"/>
              <a:tailEnd type="none" w="med" len="med"/>
            </a:ln>
          </p:spPr>
        </p:sp>
      </p:grpSp>
      <p:sp>
        <p:nvSpPr>
          <p:cNvPr id="16426" name="Text Box 42"/>
          <p:cNvSpPr txBox="1"/>
          <p:nvPr/>
        </p:nvSpPr>
        <p:spPr>
          <a:xfrm>
            <a:off x="1409700" y="4540250"/>
            <a:ext cx="6211888" cy="1630363"/>
          </a:xfrm>
          <a:prstGeom prst="rect">
            <a:avLst/>
          </a:prstGeom>
          <a:noFill/>
          <a:ln w="38100">
            <a:noFill/>
          </a:ln>
        </p:spPr>
        <p:txBody>
          <a:bodyPr>
            <a:spAutoFit/>
          </a:bodyPr>
          <a:lstStyle/>
          <a:p>
            <a:pPr>
              <a:lnSpc>
                <a:spcPct val="120000"/>
              </a:lnSpc>
              <a:spcBef>
                <a:spcPct val="50000"/>
              </a:spcBef>
            </a:pPr>
            <a:r>
              <a:rPr lang="zh-CN" altLang="en-US" sz="2800" dirty="0">
                <a:latin typeface="Times New Roman" panose="02020603050405020304" pitchFamily="18" charset="0"/>
              </a:rPr>
              <a:t>该表表明：当电路处于状态</a:t>
            </a:r>
            <a:r>
              <a:rPr lang="en-US" altLang="zh-CN" sz="2800" i="1" dirty="0">
                <a:latin typeface="Times New Roman" panose="02020603050405020304" pitchFamily="18" charset="0"/>
              </a:rPr>
              <a:t>y</a:t>
            </a:r>
            <a:r>
              <a:rPr lang="zh-CN" altLang="zh-CN" sz="2800" dirty="0">
                <a:latin typeface="Times New Roman" panose="02020603050405020304" pitchFamily="18" charset="0"/>
              </a:rPr>
              <a:t>时，输出为</a:t>
            </a:r>
            <a:r>
              <a:rPr lang="en-US" altLang="zh-CN" sz="2800" i="1" dirty="0">
                <a:latin typeface="Times New Roman" panose="02020603050405020304" pitchFamily="18" charset="0"/>
              </a:rPr>
              <a:t>z</a:t>
            </a:r>
            <a:r>
              <a:rPr lang="zh-CN" altLang="en-US" sz="2800" dirty="0">
                <a:latin typeface="Times New Roman" panose="02020603050405020304" pitchFamily="18" charset="0"/>
              </a:rPr>
              <a:t>，</a:t>
            </a:r>
            <a:r>
              <a:rPr lang="zh-CN" altLang="zh-CN" sz="2800" dirty="0">
                <a:latin typeface="Times New Roman" panose="02020603050405020304" pitchFamily="18" charset="0"/>
              </a:rPr>
              <a:t>若输入为</a:t>
            </a:r>
            <a:r>
              <a:rPr lang="en-US" altLang="zh-CN" sz="2800" i="1" dirty="0">
                <a:latin typeface="Times New Roman" panose="02020603050405020304" pitchFamily="18" charset="0"/>
              </a:rPr>
              <a:t>x</a:t>
            </a:r>
            <a:r>
              <a:rPr lang="zh-CN" altLang="en-US" sz="2800" dirty="0">
                <a:latin typeface="Times New Roman" panose="02020603050405020304" pitchFamily="18" charset="0"/>
              </a:rPr>
              <a:t>，</a:t>
            </a:r>
            <a:r>
              <a:rPr lang="zh-CN" altLang="zh-CN" sz="2800" dirty="0">
                <a:latin typeface="Times New Roman" panose="02020603050405020304" pitchFamily="18" charset="0"/>
              </a:rPr>
              <a:t>则在时钟脉冲作用下，电路进入次态</a:t>
            </a:r>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a:t>
            </a:r>
            <a:endParaRPr lang="zh-CN" altLang="en-US" sz="2800" baseline="300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05">
                                            <p:txEl>
                                              <p:pRg st="0" end="0"/>
                                            </p:txEl>
                                          </p:spTgt>
                                        </p:tgtEl>
                                        <p:attrNameLst>
                                          <p:attrName>style.visibility</p:attrName>
                                        </p:attrNameLst>
                                      </p:cBhvr>
                                      <p:to>
                                        <p:strVal val="visible"/>
                                      </p:to>
                                    </p:set>
                                    <p:animEffect transition="in" filter="wipe(left)">
                                      <p:cBhvr>
                                        <p:cTn id="7" dur="500"/>
                                        <p:tgtEl>
                                          <p:spTgt spid="1640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426">
                                            <p:txEl>
                                              <p:pRg st="0" end="0"/>
                                            </p:txEl>
                                          </p:spTgt>
                                        </p:tgtEl>
                                        <p:attrNameLst>
                                          <p:attrName>style.visibility</p:attrName>
                                        </p:attrNameLst>
                                      </p:cBhvr>
                                      <p:to>
                                        <p:strVal val="visible"/>
                                      </p:to>
                                    </p:set>
                                    <p:animEffect transition="in" filter="wipe(left)">
                                      <p:cBhvr>
                                        <p:cTn id="17" dur="500"/>
                                        <p:tgtEl>
                                          <p:spTgt spid="164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05" grpId="0" build="p"/>
      <p:bldP spid="1642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p:nvPr/>
        </p:nvSpPr>
        <p:spPr>
          <a:xfrm>
            <a:off x="2500313" y="969963"/>
            <a:ext cx="3709987" cy="519112"/>
          </a:xfrm>
          <a:prstGeom prst="rect">
            <a:avLst/>
          </a:prstGeom>
          <a:noFill/>
          <a:ln w="38100">
            <a:noFill/>
          </a:ln>
        </p:spPr>
        <p:txBody>
          <a:bodyPr wrap="none">
            <a:spAutoFit/>
          </a:bodyPr>
          <a:lstStyle/>
          <a:p>
            <a:r>
              <a:rPr lang="zh-CN" altLang="zh-CN" sz="2800" dirty="0">
                <a:latin typeface="Times New Roman" panose="02020603050405020304" pitchFamily="18" charset="0"/>
              </a:rPr>
              <a:t>某</a:t>
            </a:r>
            <a:r>
              <a:rPr lang="en-US" altLang="zh-CN" sz="2800" dirty="0">
                <a:latin typeface="Times New Roman" panose="02020603050405020304" pitchFamily="18" charset="0"/>
              </a:rPr>
              <a:t>Moore </a:t>
            </a:r>
            <a:r>
              <a:rPr lang="zh-CN" altLang="zh-CN" sz="2800" dirty="0">
                <a:latin typeface="Times New Roman" panose="02020603050405020304" pitchFamily="18" charset="0"/>
              </a:rPr>
              <a:t>型电路状态表</a:t>
            </a:r>
            <a:endParaRPr lang="zh-CN" altLang="en-US" sz="2800" dirty="0">
              <a:latin typeface="Times New Roman" panose="02020603050405020304" pitchFamily="18" charset="0"/>
            </a:endParaRPr>
          </a:p>
        </p:txBody>
      </p:sp>
      <p:grpSp>
        <p:nvGrpSpPr>
          <p:cNvPr id="2" name="Group 35"/>
          <p:cNvGrpSpPr/>
          <p:nvPr/>
        </p:nvGrpSpPr>
        <p:grpSpPr>
          <a:xfrm>
            <a:off x="1560513" y="2541588"/>
            <a:ext cx="5862637" cy="2638425"/>
            <a:chOff x="983" y="947"/>
            <a:chExt cx="3693" cy="1662"/>
          </a:xfrm>
        </p:grpSpPr>
        <p:grpSp>
          <p:nvGrpSpPr>
            <p:cNvPr id="22532" name="Group 4"/>
            <p:cNvGrpSpPr/>
            <p:nvPr/>
          </p:nvGrpSpPr>
          <p:grpSpPr>
            <a:xfrm>
              <a:off x="983" y="947"/>
              <a:ext cx="3693" cy="1662"/>
              <a:chOff x="1190" y="1541"/>
              <a:chExt cx="3538" cy="1962"/>
            </a:xfrm>
          </p:grpSpPr>
          <p:sp>
            <p:nvSpPr>
              <p:cNvPr id="22556" name="Line 5"/>
              <p:cNvSpPr/>
              <p:nvPr/>
            </p:nvSpPr>
            <p:spPr>
              <a:xfrm>
                <a:off x="1190" y="1541"/>
                <a:ext cx="3538" cy="0"/>
              </a:xfrm>
              <a:prstGeom prst="line">
                <a:avLst/>
              </a:prstGeom>
              <a:ln w="38100" cap="flat" cmpd="sng">
                <a:solidFill>
                  <a:srgbClr val="3333FF"/>
                </a:solidFill>
                <a:prstDash val="solid"/>
                <a:headEnd type="none" w="med" len="med"/>
                <a:tailEnd type="none" w="med" len="med"/>
              </a:ln>
            </p:spPr>
          </p:sp>
          <p:sp>
            <p:nvSpPr>
              <p:cNvPr id="22557" name="Line 6"/>
              <p:cNvSpPr/>
              <p:nvPr/>
            </p:nvSpPr>
            <p:spPr>
              <a:xfrm>
                <a:off x="1190" y="2325"/>
                <a:ext cx="3538" cy="0"/>
              </a:xfrm>
              <a:prstGeom prst="line">
                <a:avLst/>
              </a:prstGeom>
              <a:ln w="38100" cap="flat" cmpd="sng">
                <a:solidFill>
                  <a:srgbClr val="3333FF"/>
                </a:solidFill>
                <a:prstDash val="solid"/>
                <a:headEnd type="none" w="med" len="med"/>
                <a:tailEnd type="none" w="med" len="med"/>
              </a:ln>
            </p:spPr>
          </p:sp>
          <p:sp>
            <p:nvSpPr>
              <p:cNvPr id="22558" name="Line 7"/>
              <p:cNvSpPr/>
              <p:nvPr/>
            </p:nvSpPr>
            <p:spPr>
              <a:xfrm>
                <a:off x="1190" y="3503"/>
                <a:ext cx="3538" cy="0"/>
              </a:xfrm>
              <a:prstGeom prst="line">
                <a:avLst/>
              </a:prstGeom>
              <a:ln w="38100" cap="flat" cmpd="sng">
                <a:solidFill>
                  <a:srgbClr val="3333FF"/>
                </a:solidFill>
                <a:prstDash val="solid"/>
                <a:headEnd type="none" w="med" len="med"/>
                <a:tailEnd type="none" w="med" len="med"/>
              </a:ln>
            </p:spPr>
          </p:sp>
        </p:grpSp>
        <p:sp>
          <p:nvSpPr>
            <p:cNvPr id="22533" name="Line 8"/>
            <p:cNvSpPr/>
            <p:nvPr/>
          </p:nvSpPr>
          <p:spPr>
            <a:xfrm>
              <a:off x="1836" y="955"/>
              <a:ext cx="0" cy="1648"/>
            </a:xfrm>
            <a:prstGeom prst="line">
              <a:avLst/>
            </a:prstGeom>
            <a:ln w="38100" cap="flat" cmpd="sng">
              <a:solidFill>
                <a:srgbClr val="3333FF"/>
              </a:solidFill>
              <a:prstDash val="solid"/>
              <a:headEnd type="none" w="med" len="med"/>
              <a:tailEnd type="none" w="med" len="med"/>
            </a:ln>
          </p:spPr>
        </p:sp>
        <p:sp>
          <p:nvSpPr>
            <p:cNvPr id="22534" name="Line 9"/>
            <p:cNvSpPr/>
            <p:nvPr/>
          </p:nvSpPr>
          <p:spPr>
            <a:xfrm>
              <a:off x="2771" y="1279"/>
              <a:ext cx="0" cy="1324"/>
            </a:xfrm>
            <a:prstGeom prst="line">
              <a:avLst/>
            </a:prstGeom>
            <a:ln w="38100" cap="flat" cmpd="sng">
              <a:solidFill>
                <a:srgbClr val="3333FF"/>
              </a:solidFill>
              <a:prstDash val="solid"/>
              <a:headEnd type="none" w="med" len="med"/>
              <a:tailEnd type="none" w="med" len="med"/>
            </a:ln>
          </p:spPr>
        </p:sp>
        <p:sp>
          <p:nvSpPr>
            <p:cNvPr id="22535" name="Line 10"/>
            <p:cNvSpPr/>
            <p:nvPr/>
          </p:nvSpPr>
          <p:spPr>
            <a:xfrm>
              <a:off x="1838" y="1279"/>
              <a:ext cx="1868" cy="0"/>
            </a:xfrm>
            <a:prstGeom prst="line">
              <a:avLst/>
            </a:prstGeom>
            <a:ln w="38100" cap="flat" cmpd="sng">
              <a:solidFill>
                <a:srgbClr val="3333FF"/>
              </a:solidFill>
              <a:prstDash val="solid"/>
              <a:headEnd type="none" w="med" len="med"/>
              <a:tailEnd type="none" w="med" len="med"/>
            </a:ln>
          </p:spPr>
        </p:sp>
        <p:sp>
          <p:nvSpPr>
            <p:cNvPr id="22536" name="Text Box 11"/>
            <p:cNvSpPr txBox="1"/>
            <p:nvPr/>
          </p:nvSpPr>
          <p:spPr>
            <a:xfrm>
              <a:off x="1032" y="1056"/>
              <a:ext cx="676" cy="327"/>
            </a:xfrm>
            <a:prstGeom prst="rect">
              <a:avLst/>
            </a:prstGeom>
            <a:noFill/>
            <a:ln w="38100">
              <a:noFill/>
            </a:ln>
          </p:spPr>
          <p:txBody>
            <a:bodyPr wrap="none">
              <a:spAutoFit/>
            </a:bodyPr>
            <a:lstStyle/>
            <a:p>
              <a:r>
                <a:rPr lang="zh-CN" altLang="en-US" sz="2800" dirty="0">
                  <a:latin typeface="Times New Roman" panose="02020603050405020304" pitchFamily="18" charset="0"/>
                </a:rPr>
                <a:t>现  态</a:t>
              </a:r>
            </a:p>
          </p:txBody>
        </p:sp>
        <p:sp>
          <p:nvSpPr>
            <p:cNvPr id="22537" name="Text Box 12"/>
            <p:cNvSpPr txBox="1"/>
            <p:nvPr/>
          </p:nvSpPr>
          <p:spPr>
            <a:xfrm>
              <a:off x="2140" y="950"/>
              <a:ext cx="1188" cy="327"/>
            </a:xfrm>
            <a:prstGeom prst="rect">
              <a:avLst/>
            </a:prstGeom>
            <a:noFill/>
            <a:ln w="38100">
              <a:noFill/>
            </a:ln>
          </p:spPr>
          <p:txBody>
            <a:bodyPr wrap="none">
              <a:spAutoFit/>
            </a:bodyPr>
            <a:lstStyle/>
            <a:p>
              <a:r>
                <a:rPr lang="zh-CN" altLang="en-US" sz="2800" dirty="0">
                  <a:latin typeface="Times New Roman" panose="02020603050405020304" pitchFamily="18" charset="0"/>
                </a:rPr>
                <a:t>次 态  </a:t>
              </a:r>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endParaRPr lang="en-US" altLang="zh-CN" sz="2800" i="1" dirty="0">
                <a:latin typeface="Times New Roman" panose="02020603050405020304" pitchFamily="18" charset="0"/>
              </a:endParaRPr>
            </a:p>
          </p:txBody>
        </p:sp>
        <p:sp>
          <p:nvSpPr>
            <p:cNvPr id="22538" name="Text Box 13"/>
            <p:cNvSpPr txBox="1"/>
            <p:nvPr/>
          </p:nvSpPr>
          <p:spPr>
            <a:xfrm>
              <a:off x="1982" y="1315"/>
              <a:ext cx="590" cy="327"/>
            </a:xfrm>
            <a:prstGeom prst="rect">
              <a:avLst/>
            </a:prstGeom>
            <a:noFill/>
            <a:ln w="38100">
              <a:noFill/>
            </a:ln>
          </p:spPr>
          <p:txBody>
            <a:bodyPr wrap="none">
              <a:spAutoFit/>
            </a:bodyPr>
            <a:lstStyle/>
            <a:p>
              <a:r>
                <a:rPr lang="en-US" altLang="zh-CN" sz="2800" i="1" dirty="0">
                  <a:latin typeface="Times New Roman" panose="02020603050405020304" pitchFamily="18" charset="0"/>
                </a:rPr>
                <a:t>x = </a:t>
              </a:r>
              <a:r>
                <a:rPr lang="en-US" altLang="zh-CN" sz="2800" dirty="0">
                  <a:latin typeface="Times New Roman" panose="02020603050405020304" pitchFamily="18" charset="0"/>
                </a:rPr>
                <a:t>0</a:t>
              </a:r>
            </a:p>
          </p:txBody>
        </p:sp>
        <p:sp>
          <p:nvSpPr>
            <p:cNvPr id="22539" name="Text Box 14"/>
            <p:cNvSpPr txBox="1"/>
            <p:nvPr/>
          </p:nvSpPr>
          <p:spPr>
            <a:xfrm>
              <a:off x="1267" y="1282"/>
              <a:ext cx="215" cy="327"/>
            </a:xfrm>
            <a:prstGeom prst="rect">
              <a:avLst/>
            </a:prstGeom>
            <a:noFill/>
            <a:ln w="38100">
              <a:noFill/>
            </a:ln>
          </p:spPr>
          <p:txBody>
            <a:bodyPr wrap="none">
              <a:spAutoFit/>
            </a:bodyPr>
            <a:lstStyle/>
            <a:p>
              <a:r>
                <a:rPr lang="en-US" altLang="zh-CN" sz="2800" i="1" dirty="0">
                  <a:latin typeface="Times New Roman" panose="02020603050405020304" pitchFamily="18" charset="0"/>
                </a:rPr>
                <a:t>y</a:t>
              </a:r>
            </a:p>
          </p:txBody>
        </p:sp>
        <p:sp>
          <p:nvSpPr>
            <p:cNvPr id="22540" name="Text Box 15"/>
            <p:cNvSpPr txBox="1"/>
            <p:nvPr/>
          </p:nvSpPr>
          <p:spPr>
            <a:xfrm>
              <a:off x="2132" y="1682"/>
              <a:ext cx="265" cy="327"/>
            </a:xfrm>
            <a:prstGeom prst="rect">
              <a:avLst/>
            </a:prstGeom>
            <a:noFill/>
            <a:ln w="38100">
              <a:noFill/>
            </a:ln>
          </p:spPr>
          <p:txBody>
            <a:bodyPr wrap="none">
              <a:spAutoFit/>
            </a:bodyPr>
            <a:lstStyle/>
            <a:p>
              <a:r>
                <a:rPr lang="en-US" altLang="zh-CN" sz="2800" i="1" dirty="0">
                  <a:latin typeface="Times New Roman" panose="02020603050405020304" pitchFamily="18" charset="0"/>
                </a:rPr>
                <a:t>C</a:t>
              </a:r>
            </a:p>
          </p:txBody>
        </p:sp>
        <p:sp>
          <p:nvSpPr>
            <p:cNvPr id="22541" name="Text Box 16"/>
            <p:cNvSpPr txBox="1"/>
            <p:nvPr/>
          </p:nvSpPr>
          <p:spPr>
            <a:xfrm>
              <a:off x="2132" y="1971"/>
              <a:ext cx="253" cy="327"/>
            </a:xfrm>
            <a:prstGeom prst="rect">
              <a:avLst/>
            </a:prstGeom>
            <a:noFill/>
            <a:ln w="38100">
              <a:noFill/>
            </a:ln>
          </p:spPr>
          <p:txBody>
            <a:bodyPr wrap="none">
              <a:spAutoFit/>
            </a:bodyPr>
            <a:lstStyle/>
            <a:p>
              <a:r>
                <a:rPr lang="en-US" altLang="zh-CN" sz="2800" i="1" dirty="0">
                  <a:latin typeface="Times New Roman" panose="02020603050405020304" pitchFamily="18" charset="0"/>
                </a:rPr>
                <a:t>B</a:t>
              </a:r>
            </a:p>
          </p:txBody>
        </p:sp>
        <p:sp>
          <p:nvSpPr>
            <p:cNvPr id="22542" name="Text Box 17"/>
            <p:cNvSpPr txBox="1"/>
            <p:nvPr/>
          </p:nvSpPr>
          <p:spPr>
            <a:xfrm>
              <a:off x="2132" y="2259"/>
              <a:ext cx="253" cy="327"/>
            </a:xfrm>
            <a:prstGeom prst="rect">
              <a:avLst/>
            </a:prstGeom>
            <a:noFill/>
            <a:ln w="38100">
              <a:noFill/>
            </a:ln>
          </p:spPr>
          <p:txBody>
            <a:bodyPr wrap="none">
              <a:spAutoFit/>
            </a:bodyPr>
            <a:lstStyle/>
            <a:p>
              <a:r>
                <a:rPr lang="en-US" altLang="zh-CN" sz="2800" i="1" dirty="0">
                  <a:latin typeface="Times New Roman" panose="02020603050405020304" pitchFamily="18" charset="0"/>
                </a:rPr>
                <a:t>B</a:t>
              </a:r>
            </a:p>
          </p:txBody>
        </p:sp>
        <p:sp>
          <p:nvSpPr>
            <p:cNvPr id="22543" name="Text Box 18"/>
            <p:cNvSpPr txBox="1"/>
            <p:nvPr/>
          </p:nvSpPr>
          <p:spPr>
            <a:xfrm>
              <a:off x="2965" y="1315"/>
              <a:ext cx="590" cy="327"/>
            </a:xfrm>
            <a:prstGeom prst="rect">
              <a:avLst/>
            </a:prstGeom>
            <a:noFill/>
            <a:ln w="38100">
              <a:noFill/>
            </a:ln>
          </p:spPr>
          <p:txBody>
            <a:bodyPr wrap="none">
              <a:spAutoFit/>
            </a:bodyPr>
            <a:lstStyle/>
            <a:p>
              <a:r>
                <a:rPr lang="en-US" altLang="zh-CN" sz="2800" i="1" dirty="0">
                  <a:latin typeface="Times New Roman" panose="02020603050405020304" pitchFamily="18" charset="0"/>
                </a:rPr>
                <a:t>x = </a:t>
              </a:r>
              <a:r>
                <a:rPr lang="en-US" altLang="zh-CN" sz="2800" dirty="0">
                  <a:latin typeface="Times New Roman" panose="02020603050405020304" pitchFamily="18" charset="0"/>
                </a:rPr>
                <a:t>1</a:t>
              </a:r>
            </a:p>
          </p:txBody>
        </p:sp>
        <p:sp>
          <p:nvSpPr>
            <p:cNvPr id="22544" name="Text Box 22"/>
            <p:cNvSpPr txBox="1"/>
            <p:nvPr/>
          </p:nvSpPr>
          <p:spPr>
            <a:xfrm>
              <a:off x="1267" y="1682"/>
              <a:ext cx="253" cy="327"/>
            </a:xfrm>
            <a:prstGeom prst="rect">
              <a:avLst/>
            </a:prstGeom>
            <a:noFill/>
            <a:ln w="38100">
              <a:noFill/>
            </a:ln>
          </p:spPr>
          <p:txBody>
            <a:bodyPr wrap="none">
              <a:spAutoFit/>
            </a:bodyPr>
            <a:lstStyle/>
            <a:p>
              <a:r>
                <a:rPr lang="en-US" altLang="zh-CN" sz="2800" i="1" dirty="0">
                  <a:latin typeface="Times New Roman" panose="02020603050405020304" pitchFamily="18" charset="0"/>
                </a:rPr>
                <a:t>A</a:t>
              </a:r>
            </a:p>
          </p:txBody>
        </p:sp>
        <p:sp>
          <p:nvSpPr>
            <p:cNvPr id="22545" name="Text Box 23"/>
            <p:cNvSpPr txBox="1"/>
            <p:nvPr/>
          </p:nvSpPr>
          <p:spPr>
            <a:xfrm>
              <a:off x="1267" y="1971"/>
              <a:ext cx="253" cy="327"/>
            </a:xfrm>
            <a:prstGeom prst="rect">
              <a:avLst/>
            </a:prstGeom>
            <a:noFill/>
            <a:ln w="38100">
              <a:noFill/>
            </a:ln>
          </p:spPr>
          <p:txBody>
            <a:bodyPr wrap="none">
              <a:spAutoFit/>
            </a:bodyPr>
            <a:lstStyle/>
            <a:p>
              <a:r>
                <a:rPr lang="en-US" altLang="zh-CN" sz="2800" i="1" dirty="0">
                  <a:latin typeface="Times New Roman" panose="02020603050405020304" pitchFamily="18" charset="0"/>
                </a:rPr>
                <a:t>B</a:t>
              </a:r>
            </a:p>
          </p:txBody>
        </p:sp>
        <p:sp>
          <p:nvSpPr>
            <p:cNvPr id="22546" name="Text Box 24"/>
            <p:cNvSpPr txBox="1"/>
            <p:nvPr/>
          </p:nvSpPr>
          <p:spPr>
            <a:xfrm>
              <a:off x="1267" y="2259"/>
              <a:ext cx="265" cy="327"/>
            </a:xfrm>
            <a:prstGeom prst="rect">
              <a:avLst/>
            </a:prstGeom>
            <a:noFill/>
            <a:ln w="38100">
              <a:noFill/>
            </a:ln>
          </p:spPr>
          <p:txBody>
            <a:bodyPr wrap="none">
              <a:spAutoFit/>
            </a:bodyPr>
            <a:lstStyle/>
            <a:p>
              <a:r>
                <a:rPr lang="en-US" altLang="zh-CN" sz="2800" i="1" dirty="0">
                  <a:latin typeface="Times New Roman" panose="02020603050405020304" pitchFamily="18" charset="0"/>
                </a:rPr>
                <a:t>C</a:t>
              </a:r>
            </a:p>
          </p:txBody>
        </p:sp>
        <p:sp>
          <p:nvSpPr>
            <p:cNvPr id="22547" name="Line 26"/>
            <p:cNvSpPr/>
            <p:nvPr/>
          </p:nvSpPr>
          <p:spPr>
            <a:xfrm>
              <a:off x="3714" y="955"/>
              <a:ext cx="0" cy="1648"/>
            </a:xfrm>
            <a:prstGeom prst="line">
              <a:avLst/>
            </a:prstGeom>
            <a:ln w="38100" cap="flat" cmpd="sng">
              <a:solidFill>
                <a:srgbClr val="3333FF"/>
              </a:solidFill>
              <a:prstDash val="solid"/>
              <a:headEnd type="none" w="med" len="med"/>
              <a:tailEnd type="none" w="med" len="med"/>
            </a:ln>
          </p:spPr>
        </p:sp>
        <p:sp>
          <p:nvSpPr>
            <p:cNvPr id="22548" name="Rectangle 27"/>
            <p:cNvSpPr/>
            <p:nvPr/>
          </p:nvSpPr>
          <p:spPr>
            <a:xfrm>
              <a:off x="3876" y="1056"/>
              <a:ext cx="676" cy="327"/>
            </a:xfrm>
            <a:prstGeom prst="rect">
              <a:avLst/>
            </a:prstGeom>
            <a:noFill/>
            <a:ln w="38100">
              <a:noFill/>
            </a:ln>
          </p:spPr>
          <p:txBody>
            <a:bodyPr wrap="none">
              <a:spAutoFit/>
            </a:bodyPr>
            <a:lstStyle/>
            <a:p>
              <a:r>
                <a:rPr lang="zh-CN" altLang="en-US" sz="2800" dirty="0">
                  <a:latin typeface="Times New Roman" panose="02020603050405020304" pitchFamily="18" charset="0"/>
                </a:rPr>
                <a:t>输  出</a:t>
              </a:r>
            </a:p>
          </p:txBody>
        </p:sp>
        <p:sp>
          <p:nvSpPr>
            <p:cNvPr id="22549" name="Rectangle 28"/>
            <p:cNvSpPr/>
            <p:nvPr/>
          </p:nvSpPr>
          <p:spPr>
            <a:xfrm>
              <a:off x="4053" y="1282"/>
              <a:ext cx="241" cy="327"/>
            </a:xfrm>
            <a:prstGeom prst="rect">
              <a:avLst/>
            </a:prstGeom>
            <a:noFill/>
            <a:ln w="38100">
              <a:noFill/>
            </a:ln>
          </p:spPr>
          <p:txBody>
            <a:bodyPr wrap="none">
              <a:spAutoFit/>
            </a:bodyPr>
            <a:lstStyle/>
            <a:p>
              <a:r>
                <a:rPr lang="en-US" altLang="zh-CN" sz="2800" i="1" dirty="0">
                  <a:latin typeface="Times New Roman" panose="02020603050405020304" pitchFamily="18" charset="0"/>
                </a:rPr>
                <a:t>Z</a:t>
              </a:r>
            </a:p>
          </p:txBody>
        </p:sp>
        <p:sp>
          <p:nvSpPr>
            <p:cNvPr id="22550" name="Text Box 29"/>
            <p:cNvSpPr txBox="1"/>
            <p:nvPr/>
          </p:nvSpPr>
          <p:spPr>
            <a:xfrm>
              <a:off x="3100" y="1682"/>
              <a:ext cx="253" cy="327"/>
            </a:xfrm>
            <a:prstGeom prst="rect">
              <a:avLst/>
            </a:prstGeom>
            <a:noFill/>
            <a:ln w="38100">
              <a:noFill/>
            </a:ln>
          </p:spPr>
          <p:txBody>
            <a:bodyPr wrap="none">
              <a:spAutoFit/>
            </a:bodyPr>
            <a:lstStyle/>
            <a:p>
              <a:r>
                <a:rPr lang="en-US" altLang="zh-CN" sz="2800" i="1" dirty="0">
                  <a:latin typeface="Times New Roman" panose="02020603050405020304" pitchFamily="18" charset="0"/>
                </a:rPr>
                <a:t>B</a:t>
              </a:r>
            </a:p>
          </p:txBody>
        </p:sp>
        <p:sp>
          <p:nvSpPr>
            <p:cNvPr id="22551" name="Text Box 30"/>
            <p:cNvSpPr txBox="1"/>
            <p:nvPr/>
          </p:nvSpPr>
          <p:spPr>
            <a:xfrm>
              <a:off x="3100" y="1971"/>
              <a:ext cx="265" cy="327"/>
            </a:xfrm>
            <a:prstGeom prst="rect">
              <a:avLst/>
            </a:prstGeom>
            <a:noFill/>
            <a:ln w="38100">
              <a:noFill/>
            </a:ln>
          </p:spPr>
          <p:txBody>
            <a:bodyPr wrap="none">
              <a:spAutoFit/>
            </a:bodyPr>
            <a:lstStyle/>
            <a:p>
              <a:r>
                <a:rPr lang="en-US" altLang="zh-CN" sz="2800" i="1" dirty="0">
                  <a:latin typeface="Times New Roman" panose="02020603050405020304" pitchFamily="18" charset="0"/>
                </a:rPr>
                <a:t>C</a:t>
              </a:r>
            </a:p>
          </p:txBody>
        </p:sp>
        <p:sp>
          <p:nvSpPr>
            <p:cNvPr id="22552" name="Text Box 31"/>
            <p:cNvSpPr txBox="1"/>
            <p:nvPr/>
          </p:nvSpPr>
          <p:spPr>
            <a:xfrm>
              <a:off x="3100" y="2259"/>
              <a:ext cx="253" cy="327"/>
            </a:xfrm>
            <a:prstGeom prst="rect">
              <a:avLst/>
            </a:prstGeom>
            <a:noFill/>
            <a:ln w="38100">
              <a:noFill/>
            </a:ln>
          </p:spPr>
          <p:txBody>
            <a:bodyPr wrap="none">
              <a:spAutoFit/>
            </a:bodyPr>
            <a:lstStyle/>
            <a:p>
              <a:r>
                <a:rPr lang="en-US" altLang="zh-CN" sz="2800" i="1" dirty="0">
                  <a:latin typeface="Times New Roman" panose="02020603050405020304" pitchFamily="18" charset="0"/>
                </a:rPr>
                <a:t>A</a:t>
              </a:r>
            </a:p>
          </p:txBody>
        </p:sp>
        <p:sp>
          <p:nvSpPr>
            <p:cNvPr id="22553" name="Text Box 32"/>
            <p:cNvSpPr txBox="1"/>
            <p:nvPr/>
          </p:nvSpPr>
          <p:spPr>
            <a:xfrm>
              <a:off x="4078" y="1682"/>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0</a:t>
              </a:r>
            </a:p>
          </p:txBody>
        </p:sp>
        <p:sp>
          <p:nvSpPr>
            <p:cNvPr id="22554" name="Text Box 33"/>
            <p:cNvSpPr txBox="1"/>
            <p:nvPr/>
          </p:nvSpPr>
          <p:spPr>
            <a:xfrm>
              <a:off x="4078" y="1971"/>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22555" name="Text Box 34"/>
            <p:cNvSpPr txBox="1"/>
            <p:nvPr/>
          </p:nvSpPr>
          <p:spPr>
            <a:xfrm>
              <a:off x="4078" y="2259"/>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0</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879475" y="781050"/>
            <a:ext cx="1962150" cy="519113"/>
          </a:xfrm>
          <a:prstGeom prst="rect">
            <a:avLst/>
          </a:prstGeom>
          <a:noFill/>
          <a:ln w="38100">
            <a:noFill/>
            <a:miter lim="800000"/>
          </a:ln>
          <a:effectLst/>
        </p:spPr>
        <p:txBody>
          <a:bodyPr wrap="none">
            <a:spAutoFit/>
          </a:bodyPr>
          <a:lstStyle/>
          <a:p>
            <a:pPr marR="0" defTabSz="914400">
              <a:buClrTx/>
              <a:buSzTx/>
              <a:buFontTx/>
              <a:buNone/>
              <a:defRPr/>
            </a:pPr>
            <a:r>
              <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二、状态图</a:t>
            </a:r>
          </a:p>
        </p:txBody>
      </p:sp>
      <p:sp>
        <p:nvSpPr>
          <p:cNvPr id="18441" name="Text Box 9"/>
          <p:cNvSpPr txBox="1"/>
          <p:nvPr/>
        </p:nvSpPr>
        <p:spPr>
          <a:xfrm>
            <a:off x="879475" y="5334000"/>
            <a:ext cx="3259138" cy="519113"/>
          </a:xfrm>
          <a:prstGeom prst="rect">
            <a:avLst/>
          </a:prstGeom>
          <a:noFill/>
          <a:ln w="38100">
            <a:noFill/>
          </a:ln>
        </p:spPr>
        <p:txBody>
          <a:bodyPr wrap="none">
            <a:spAutoFit/>
          </a:bodyPr>
          <a:lstStyle/>
          <a:p>
            <a:r>
              <a:rPr lang="en-US" altLang="zh-CN" sz="2800" dirty="0">
                <a:latin typeface="Times New Roman" panose="02020603050405020304" pitchFamily="18" charset="0"/>
              </a:rPr>
              <a:t>Moore</a:t>
            </a:r>
            <a:r>
              <a:rPr lang="zh-CN" altLang="zh-CN" sz="2800" dirty="0">
                <a:latin typeface="Times New Roman" panose="02020603050405020304" pitchFamily="18" charset="0"/>
              </a:rPr>
              <a:t>型电路状态图</a:t>
            </a:r>
            <a:endParaRPr lang="zh-CN" altLang="en-US" sz="2800" dirty="0">
              <a:latin typeface="Times New Roman" panose="02020603050405020304" pitchFamily="18" charset="0"/>
            </a:endParaRPr>
          </a:p>
        </p:txBody>
      </p:sp>
      <p:sp>
        <p:nvSpPr>
          <p:cNvPr id="18442" name="Text Box 10"/>
          <p:cNvSpPr txBox="1"/>
          <p:nvPr/>
        </p:nvSpPr>
        <p:spPr>
          <a:xfrm>
            <a:off x="4919663" y="5334000"/>
            <a:ext cx="3614737" cy="519113"/>
          </a:xfrm>
          <a:prstGeom prst="rect">
            <a:avLst/>
          </a:prstGeom>
          <a:noFill/>
          <a:ln w="38100">
            <a:noFill/>
          </a:ln>
        </p:spPr>
        <p:txBody>
          <a:bodyPr wrap="none">
            <a:spAutoFit/>
          </a:bodyPr>
          <a:lstStyle/>
          <a:p>
            <a:r>
              <a:rPr lang="zh-CN" altLang="zh-CN" sz="2800" dirty="0">
                <a:latin typeface="Times New Roman" panose="02020603050405020304" pitchFamily="18" charset="0"/>
              </a:rPr>
              <a:t>某</a:t>
            </a:r>
            <a:r>
              <a:rPr lang="en-US" altLang="zh-CN" sz="2800" dirty="0">
                <a:latin typeface="Times New Roman" panose="02020603050405020304" pitchFamily="18" charset="0"/>
              </a:rPr>
              <a:t>Moore</a:t>
            </a:r>
            <a:r>
              <a:rPr lang="zh-CN" altLang="zh-CN" sz="2800" dirty="0">
                <a:latin typeface="Times New Roman" panose="02020603050405020304" pitchFamily="18" charset="0"/>
              </a:rPr>
              <a:t>型电路状态图</a:t>
            </a:r>
            <a:endParaRPr lang="zh-CN" altLang="en-US" sz="2800" dirty="0">
              <a:latin typeface="Times New Roman" panose="02020603050405020304" pitchFamily="18" charset="0"/>
            </a:endParaRPr>
          </a:p>
        </p:txBody>
      </p:sp>
      <p:grpSp>
        <p:nvGrpSpPr>
          <p:cNvPr id="2" name="Group 29"/>
          <p:cNvGrpSpPr/>
          <p:nvPr/>
        </p:nvGrpSpPr>
        <p:grpSpPr>
          <a:xfrm>
            <a:off x="749300" y="2257425"/>
            <a:ext cx="3119438" cy="1136650"/>
            <a:chOff x="461" y="1966"/>
            <a:chExt cx="1965" cy="716"/>
          </a:xfrm>
        </p:grpSpPr>
        <p:sp>
          <p:nvSpPr>
            <p:cNvPr id="23574" name="Oval 4"/>
            <p:cNvSpPr/>
            <p:nvPr/>
          </p:nvSpPr>
          <p:spPr>
            <a:xfrm>
              <a:off x="461" y="1966"/>
              <a:ext cx="716" cy="716"/>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y/z</a:t>
              </a:r>
              <a:endParaRPr lang="en-US" altLang="zh-CN" sz="2800" dirty="0">
                <a:latin typeface="Times New Roman" panose="02020603050405020304" pitchFamily="18" charset="0"/>
              </a:endParaRPr>
            </a:p>
          </p:txBody>
        </p:sp>
        <p:sp>
          <p:nvSpPr>
            <p:cNvPr id="23575" name="Oval 5"/>
            <p:cNvSpPr/>
            <p:nvPr/>
          </p:nvSpPr>
          <p:spPr>
            <a:xfrm>
              <a:off x="1710" y="1966"/>
              <a:ext cx="716" cy="716"/>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3576" name="Line 6"/>
            <p:cNvSpPr/>
            <p:nvPr/>
          </p:nvSpPr>
          <p:spPr>
            <a:xfrm>
              <a:off x="1176" y="2335"/>
              <a:ext cx="512" cy="0"/>
            </a:xfrm>
            <a:prstGeom prst="line">
              <a:avLst/>
            </a:prstGeom>
            <a:ln w="19050" cap="flat" cmpd="sng">
              <a:solidFill>
                <a:srgbClr val="3333FF"/>
              </a:solidFill>
              <a:prstDash val="solid"/>
              <a:headEnd type="none" w="med" len="med"/>
              <a:tailEnd type="triangle" w="sm" len="lg"/>
            </a:ln>
          </p:spPr>
        </p:sp>
        <p:sp>
          <p:nvSpPr>
            <p:cNvPr id="23577" name="Text Box 7"/>
            <p:cNvSpPr txBox="1"/>
            <p:nvPr/>
          </p:nvSpPr>
          <p:spPr>
            <a:xfrm>
              <a:off x="1249" y="2047"/>
              <a:ext cx="215" cy="327"/>
            </a:xfrm>
            <a:prstGeom prst="rect">
              <a:avLst/>
            </a:prstGeom>
            <a:noFill/>
            <a:ln w="38100">
              <a:noFill/>
            </a:ln>
          </p:spPr>
          <p:txBody>
            <a:bodyPr wrap="none">
              <a:spAutoFit/>
            </a:bodyPr>
            <a:lstStyle/>
            <a:p>
              <a:r>
                <a:rPr lang="en-US" altLang="zh-CN" sz="2800" i="1" dirty="0">
                  <a:latin typeface="Times New Roman" panose="02020603050405020304" pitchFamily="18" charset="0"/>
                </a:rPr>
                <a:t>x</a:t>
              </a:r>
            </a:p>
          </p:txBody>
        </p:sp>
        <p:sp>
          <p:nvSpPr>
            <p:cNvPr id="23578" name="Rectangle 8"/>
            <p:cNvSpPr/>
            <p:nvPr/>
          </p:nvSpPr>
          <p:spPr>
            <a:xfrm>
              <a:off x="1720" y="2106"/>
              <a:ext cx="572" cy="327"/>
            </a:xfrm>
            <a:prstGeom prst="rect">
              <a:avLst/>
            </a:prstGeom>
            <a:noFill/>
            <a:ln w="38100">
              <a:noFill/>
            </a:ln>
          </p:spPr>
          <p:txBody>
            <a:bodyPr wrap="none">
              <a:spAutoFit/>
            </a:bodyPr>
            <a:lstStyle/>
            <a:p>
              <a:r>
                <a:rPr lang="en-US" altLang="zh-CN" sz="2800" i="1" dirty="0">
                  <a:latin typeface="Times New Roman" panose="02020603050405020304" pitchFamily="18" charset="0"/>
                </a:rPr>
                <a:t>y</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p>
          </p:txBody>
        </p:sp>
        <p:sp>
          <p:nvSpPr>
            <p:cNvPr id="23579" name="Rectangle 27"/>
            <p:cNvSpPr/>
            <p:nvPr/>
          </p:nvSpPr>
          <p:spPr>
            <a:xfrm>
              <a:off x="2130" y="2265"/>
              <a:ext cx="293" cy="327"/>
            </a:xfrm>
            <a:prstGeom prst="rect">
              <a:avLst/>
            </a:prstGeom>
            <a:noFill/>
            <a:ln w="38100">
              <a:noFill/>
            </a:ln>
          </p:spPr>
          <p:txBody>
            <a:bodyPr wrap="none">
              <a:spAutoFit/>
            </a:bodyPr>
            <a:lstStyle/>
            <a:p>
              <a:r>
                <a:rPr lang="en-US" altLang="zh-CN" sz="2800" dirty="0">
                  <a:latin typeface="Times New Roman" panose="02020603050405020304" pitchFamily="18" charset="0"/>
                </a:rPr>
                <a:t>Z'</a:t>
              </a:r>
            </a:p>
          </p:txBody>
        </p:sp>
        <p:sp>
          <p:nvSpPr>
            <p:cNvPr id="23580" name="Line 28"/>
            <p:cNvSpPr/>
            <p:nvPr/>
          </p:nvSpPr>
          <p:spPr>
            <a:xfrm flipH="1">
              <a:off x="2012" y="2199"/>
              <a:ext cx="289" cy="390"/>
            </a:xfrm>
            <a:prstGeom prst="line">
              <a:avLst/>
            </a:prstGeom>
            <a:ln w="19050" cap="flat" cmpd="sng">
              <a:solidFill>
                <a:schemeClr val="tx1"/>
              </a:solidFill>
              <a:prstDash val="solid"/>
              <a:headEnd type="none" w="med" len="med"/>
              <a:tailEnd type="none" w="med" len="med"/>
            </a:ln>
          </p:spPr>
        </p:sp>
      </p:grpSp>
      <p:grpSp>
        <p:nvGrpSpPr>
          <p:cNvPr id="3" name="Group 59"/>
          <p:cNvGrpSpPr/>
          <p:nvPr/>
        </p:nvGrpSpPr>
        <p:grpSpPr>
          <a:xfrm>
            <a:off x="4213225" y="1508125"/>
            <a:ext cx="4259263" cy="3494088"/>
            <a:chOff x="2654" y="950"/>
            <a:chExt cx="2683" cy="2201"/>
          </a:xfrm>
        </p:grpSpPr>
        <p:sp>
          <p:nvSpPr>
            <p:cNvPr id="23559" name="Oval 12"/>
            <p:cNvSpPr/>
            <p:nvPr/>
          </p:nvSpPr>
          <p:spPr>
            <a:xfrm>
              <a:off x="2654" y="2120"/>
              <a:ext cx="601" cy="601"/>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C/</a:t>
              </a:r>
              <a:r>
                <a:rPr lang="en-US" altLang="zh-CN" sz="2800" dirty="0">
                  <a:latin typeface="Times New Roman" panose="02020603050405020304" pitchFamily="18" charset="0"/>
                </a:rPr>
                <a:t>0</a:t>
              </a:r>
            </a:p>
          </p:txBody>
        </p:sp>
        <p:sp>
          <p:nvSpPr>
            <p:cNvPr id="23560" name="Oval 13"/>
            <p:cNvSpPr/>
            <p:nvPr/>
          </p:nvSpPr>
          <p:spPr>
            <a:xfrm>
              <a:off x="3491" y="950"/>
              <a:ext cx="601" cy="601"/>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A/</a:t>
              </a:r>
              <a:r>
                <a:rPr lang="en-US" altLang="zh-CN" sz="2800" dirty="0">
                  <a:latin typeface="Times New Roman" panose="02020603050405020304" pitchFamily="18" charset="0"/>
                </a:rPr>
                <a:t>0</a:t>
              </a:r>
            </a:p>
          </p:txBody>
        </p:sp>
        <p:sp>
          <p:nvSpPr>
            <p:cNvPr id="23561" name="Oval 14"/>
            <p:cNvSpPr/>
            <p:nvPr/>
          </p:nvSpPr>
          <p:spPr>
            <a:xfrm>
              <a:off x="4496" y="2120"/>
              <a:ext cx="601" cy="601"/>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B/</a:t>
              </a:r>
              <a:r>
                <a:rPr lang="en-US" altLang="zh-CN" sz="2800" dirty="0">
                  <a:latin typeface="Times New Roman" panose="02020603050405020304" pitchFamily="18" charset="0"/>
                </a:rPr>
                <a:t>1</a:t>
              </a:r>
            </a:p>
          </p:txBody>
        </p:sp>
        <p:sp>
          <p:nvSpPr>
            <p:cNvPr id="23562" name="Freeform 15"/>
            <p:cNvSpPr/>
            <p:nvPr/>
          </p:nvSpPr>
          <p:spPr>
            <a:xfrm flipV="1">
              <a:off x="3205" y="2576"/>
              <a:ext cx="1351" cy="84"/>
            </a:xfrm>
            <a:custGeom>
              <a:avLst/>
              <a:gdLst>
                <a:gd name="txL" fmla="*/ 0 w 931"/>
                <a:gd name="txT" fmla="*/ 0 h 124"/>
                <a:gd name="txR" fmla="*/ 931 w 931"/>
                <a:gd name="txB" fmla="*/ 124 h 124"/>
              </a:gdLst>
              <a:ahLst/>
              <a:cxnLst>
                <a:cxn ang="0">
                  <a:pos x="0" y="57"/>
                </a:cxn>
                <a:cxn ang="0">
                  <a:pos x="1026" y="0"/>
                </a:cxn>
                <a:cxn ang="0">
                  <a:pos x="1960" y="57"/>
                </a:cxn>
              </a:cxnLst>
              <a:rect l="txL" t="txT" r="txR" b="txB"/>
              <a:pathLst>
                <a:path w="931" h="124">
                  <a:moveTo>
                    <a:pt x="0" y="124"/>
                  </a:moveTo>
                  <a:cubicBezTo>
                    <a:pt x="81" y="103"/>
                    <a:pt x="332" y="0"/>
                    <a:pt x="487" y="0"/>
                  </a:cubicBezTo>
                  <a:cubicBezTo>
                    <a:pt x="642" y="0"/>
                    <a:pt x="838" y="98"/>
                    <a:pt x="931" y="124"/>
                  </a:cubicBezTo>
                </a:path>
              </a:pathLst>
            </a:custGeom>
            <a:noFill/>
            <a:ln w="19050" cap="flat" cmpd="sng">
              <a:solidFill>
                <a:srgbClr val="3333FF">
                  <a:alpha val="100000"/>
                </a:srgbClr>
              </a:solidFill>
              <a:prstDash val="solid"/>
              <a:round/>
              <a:headEnd type="triangle" w="sm" len="lg"/>
              <a:tailEnd type="none" w="sm" len="lg"/>
            </a:ln>
          </p:spPr>
          <p:txBody>
            <a:bodyPr/>
            <a:lstStyle/>
            <a:p>
              <a:endParaRPr lang="zh-CN" altLang="en-US"/>
            </a:p>
          </p:txBody>
        </p:sp>
        <p:sp>
          <p:nvSpPr>
            <p:cNvPr id="23563" name="Freeform 16"/>
            <p:cNvSpPr/>
            <p:nvPr/>
          </p:nvSpPr>
          <p:spPr>
            <a:xfrm flipH="1">
              <a:off x="3224" y="2307"/>
              <a:ext cx="1277" cy="118"/>
            </a:xfrm>
            <a:custGeom>
              <a:avLst/>
              <a:gdLst>
                <a:gd name="txL" fmla="*/ 0 w 931"/>
                <a:gd name="txT" fmla="*/ 0 h 124"/>
                <a:gd name="txR" fmla="*/ 931 w 931"/>
                <a:gd name="txB" fmla="*/ 124 h 124"/>
              </a:gdLst>
              <a:ahLst/>
              <a:cxnLst>
                <a:cxn ang="0">
                  <a:pos x="0" y="112"/>
                </a:cxn>
                <a:cxn ang="0">
                  <a:pos x="916" y="0"/>
                </a:cxn>
                <a:cxn ang="0">
                  <a:pos x="1752" y="112"/>
                </a:cxn>
              </a:cxnLst>
              <a:rect l="txL" t="txT" r="txR" b="txB"/>
              <a:pathLst>
                <a:path w="931" h="124">
                  <a:moveTo>
                    <a:pt x="0" y="124"/>
                  </a:moveTo>
                  <a:cubicBezTo>
                    <a:pt x="81" y="103"/>
                    <a:pt x="332" y="0"/>
                    <a:pt x="487" y="0"/>
                  </a:cubicBezTo>
                  <a:cubicBezTo>
                    <a:pt x="642" y="0"/>
                    <a:pt x="838" y="98"/>
                    <a:pt x="931" y="124"/>
                  </a:cubicBezTo>
                </a:path>
              </a:pathLst>
            </a:custGeom>
            <a:noFill/>
            <a:ln w="19050" cap="flat" cmpd="sng">
              <a:solidFill>
                <a:srgbClr val="3333FF">
                  <a:alpha val="100000"/>
                </a:srgbClr>
              </a:solidFill>
              <a:prstDash val="solid"/>
              <a:round/>
              <a:headEnd type="triangle" w="sm" len="lg"/>
              <a:tailEnd type="none" w="sm" len="lg"/>
            </a:ln>
          </p:spPr>
          <p:txBody>
            <a:bodyPr/>
            <a:lstStyle/>
            <a:p>
              <a:endParaRPr lang="zh-CN" altLang="en-US"/>
            </a:p>
          </p:txBody>
        </p:sp>
        <p:sp>
          <p:nvSpPr>
            <p:cNvPr id="23564" name="Arc 17"/>
            <p:cNvSpPr/>
            <p:nvPr/>
          </p:nvSpPr>
          <p:spPr>
            <a:xfrm flipH="1" flipV="1">
              <a:off x="4886" y="2568"/>
              <a:ext cx="372" cy="366"/>
            </a:xfrm>
            <a:custGeom>
              <a:avLst/>
              <a:gdLst>
                <a:gd name="txL" fmla="*/ 0 w 43200"/>
                <a:gd name="txT" fmla="*/ 0 h 43200"/>
                <a:gd name="txR" fmla="*/ 43200 w 43200"/>
                <a:gd name="txB" fmla="*/ 43200 h 43200"/>
              </a:gdLst>
              <a:ahLst/>
              <a:cxnLst>
                <a:cxn ang="0">
                  <a:pos x="0" y="0"/>
                </a:cxn>
                <a:cxn ang="0">
                  <a:pos x="0" y="0"/>
                </a:cxn>
                <a:cxn ang="0">
                  <a:pos x="0" y="0"/>
                </a:cxn>
              </a:cxnLst>
              <a:rect l="txL" t="txT" r="txR" b="txB"/>
              <a:pathLst>
                <a:path w="43200" h="43200" fill="none">
                  <a:moveTo>
                    <a:pt x="23727" y="43094"/>
                  </a:moveTo>
                  <a:cubicBezTo>
                    <a:pt x="23020" y="43164"/>
                    <a:pt x="22310" y="43199"/>
                    <a:pt x="21600" y="43200"/>
                  </a:cubicBezTo>
                  <a:cubicBezTo>
                    <a:pt x="9670" y="43200"/>
                    <a:pt x="0" y="33529"/>
                    <a:pt x="0" y="21600"/>
                  </a:cubicBezTo>
                  <a:cubicBezTo>
                    <a:pt x="0" y="9670"/>
                    <a:pt x="9670" y="0"/>
                    <a:pt x="21600" y="0"/>
                  </a:cubicBezTo>
                  <a:cubicBezTo>
                    <a:pt x="33529" y="0"/>
                    <a:pt x="43200" y="9670"/>
                    <a:pt x="43200" y="21600"/>
                  </a:cubicBezTo>
                  <a:cubicBezTo>
                    <a:pt x="43200" y="23361"/>
                    <a:pt x="42984" y="25116"/>
                    <a:pt x="42558" y="26826"/>
                  </a:cubicBezTo>
                </a:path>
                <a:path w="43200" h="43200" stroke="0">
                  <a:moveTo>
                    <a:pt x="23727" y="43094"/>
                  </a:moveTo>
                  <a:cubicBezTo>
                    <a:pt x="23020" y="43164"/>
                    <a:pt x="22310" y="43199"/>
                    <a:pt x="21600" y="43200"/>
                  </a:cubicBezTo>
                  <a:cubicBezTo>
                    <a:pt x="9670" y="43200"/>
                    <a:pt x="0" y="33529"/>
                    <a:pt x="0" y="21600"/>
                  </a:cubicBezTo>
                  <a:cubicBezTo>
                    <a:pt x="0" y="9670"/>
                    <a:pt x="9670" y="0"/>
                    <a:pt x="21600" y="0"/>
                  </a:cubicBezTo>
                  <a:cubicBezTo>
                    <a:pt x="33529" y="0"/>
                    <a:pt x="43200" y="9670"/>
                    <a:pt x="43200" y="21600"/>
                  </a:cubicBezTo>
                  <a:cubicBezTo>
                    <a:pt x="43200" y="23361"/>
                    <a:pt x="42984" y="25116"/>
                    <a:pt x="42558" y="26826"/>
                  </a:cubicBezTo>
                  <a:lnTo>
                    <a:pt x="21600" y="21600"/>
                  </a:lnTo>
                  <a:lnTo>
                    <a:pt x="23727" y="43094"/>
                  </a:lnTo>
                  <a:close/>
                </a:path>
              </a:pathLst>
            </a:custGeom>
            <a:noFill/>
            <a:ln w="19050" cap="flat" cmpd="sng">
              <a:solidFill>
                <a:srgbClr val="3333FF">
                  <a:alpha val="100000"/>
                </a:srgbClr>
              </a:solidFill>
              <a:prstDash val="solid"/>
              <a:round/>
              <a:headEnd type="none" w="med" len="med"/>
              <a:tailEnd type="triangle" w="sm" len="lg"/>
            </a:ln>
          </p:spPr>
          <p:txBody>
            <a:bodyPr/>
            <a:lstStyle/>
            <a:p>
              <a:endParaRPr lang="zh-CN" altLang="en-US"/>
            </a:p>
          </p:txBody>
        </p:sp>
        <p:sp>
          <p:nvSpPr>
            <p:cNvPr id="23565" name="Freeform 18"/>
            <p:cNvSpPr/>
            <p:nvPr/>
          </p:nvSpPr>
          <p:spPr>
            <a:xfrm flipV="1">
              <a:off x="4090" y="1284"/>
              <a:ext cx="752" cy="868"/>
            </a:xfrm>
            <a:custGeom>
              <a:avLst/>
              <a:gdLst>
                <a:gd name="txL" fmla="*/ 0 w 455"/>
                <a:gd name="txT" fmla="*/ 0 h 558"/>
                <a:gd name="txR" fmla="*/ 455 w 455"/>
                <a:gd name="txB" fmla="*/ 558 h 558"/>
              </a:gdLst>
              <a:ahLst/>
              <a:cxnLst>
                <a:cxn ang="0">
                  <a:pos x="1243" y="0"/>
                </a:cxn>
                <a:cxn ang="0">
                  <a:pos x="846" y="776"/>
                </a:cxn>
                <a:cxn ang="0">
                  <a:pos x="0" y="1350"/>
                </a:cxn>
              </a:cxnLst>
              <a:rect l="txL" t="txT" r="txR" b="txB"/>
              <a:pathLst>
                <a:path w="455" h="558">
                  <a:moveTo>
                    <a:pt x="455" y="0"/>
                  </a:moveTo>
                  <a:cubicBezTo>
                    <a:pt x="431" y="54"/>
                    <a:pt x="386" y="228"/>
                    <a:pt x="310" y="321"/>
                  </a:cubicBezTo>
                  <a:cubicBezTo>
                    <a:pt x="234" y="414"/>
                    <a:pt x="65" y="509"/>
                    <a:pt x="0" y="558"/>
                  </a:cubicBezTo>
                </a:path>
              </a:pathLst>
            </a:custGeom>
            <a:noFill/>
            <a:ln w="19050" cap="flat" cmpd="sng">
              <a:solidFill>
                <a:srgbClr val="3333FF">
                  <a:alpha val="100000"/>
                </a:srgbClr>
              </a:solidFill>
              <a:prstDash val="solid"/>
              <a:round/>
              <a:headEnd type="triangle" w="sm" len="lg"/>
              <a:tailEnd type="none" w="sm" len="lg"/>
            </a:ln>
          </p:spPr>
          <p:txBody>
            <a:bodyPr/>
            <a:lstStyle/>
            <a:p>
              <a:endParaRPr lang="zh-CN" altLang="en-US"/>
            </a:p>
          </p:txBody>
        </p:sp>
        <p:sp>
          <p:nvSpPr>
            <p:cNvPr id="23566" name="Freeform 20"/>
            <p:cNvSpPr/>
            <p:nvPr/>
          </p:nvSpPr>
          <p:spPr>
            <a:xfrm rot="5074349" flipV="1">
              <a:off x="2928" y="1453"/>
              <a:ext cx="636" cy="631"/>
            </a:xfrm>
            <a:custGeom>
              <a:avLst/>
              <a:gdLst>
                <a:gd name="txL" fmla="*/ 0 w 452"/>
                <a:gd name="txT" fmla="*/ 0 h 520"/>
                <a:gd name="txR" fmla="*/ 452 w 452"/>
                <a:gd name="txB" fmla="*/ 520 h 520"/>
              </a:gdLst>
              <a:ahLst/>
              <a:cxnLst>
                <a:cxn ang="0">
                  <a:pos x="0" y="766"/>
                </a:cxn>
                <a:cxn ang="0">
                  <a:pos x="286" y="308"/>
                </a:cxn>
                <a:cxn ang="0">
                  <a:pos x="895" y="0"/>
                </a:cxn>
              </a:cxnLst>
              <a:rect l="txL" t="txT" r="txR" b="txB"/>
              <a:pathLst>
                <a:path w="452" h="520">
                  <a:moveTo>
                    <a:pt x="0" y="520"/>
                  </a:moveTo>
                  <a:cubicBezTo>
                    <a:pt x="24" y="468"/>
                    <a:pt x="69" y="296"/>
                    <a:pt x="144" y="209"/>
                  </a:cubicBezTo>
                  <a:cubicBezTo>
                    <a:pt x="219" y="122"/>
                    <a:pt x="388" y="44"/>
                    <a:pt x="452" y="0"/>
                  </a:cubicBezTo>
                </a:path>
              </a:pathLst>
            </a:custGeom>
            <a:noFill/>
            <a:ln w="19050" cap="flat" cmpd="sng">
              <a:solidFill>
                <a:srgbClr val="3333FF">
                  <a:alpha val="100000"/>
                </a:srgbClr>
              </a:solidFill>
              <a:prstDash val="solid"/>
              <a:round/>
              <a:headEnd type="triangle" w="sm" len="lg"/>
              <a:tailEnd type="none" w="sm" len="lg"/>
            </a:ln>
          </p:spPr>
          <p:txBody>
            <a:bodyPr/>
            <a:lstStyle/>
            <a:p>
              <a:endParaRPr lang="zh-CN" altLang="en-US"/>
            </a:p>
          </p:txBody>
        </p:sp>
        <p:sp>
          <p:nvSpPr>
            <p:cNvPr id="23567" name="Text Box 21"/>
            <p:cNvSpPr txBox="1"/>
            <p:nvPr/>
          </p:nvSpPr>
          <p:spPr>
            <a:xfrm>
              <a:off x="5109" y="2824"/>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0</a:t>
              </a:r>
            </a:p>
          </p:txBody>
        </p:sp>
        <p:sp>
          <p:nvSpPr>
            <p:cNvPr id="23568" name="Text Box 22"/>
            <p:cNvSpPr txBox="1"/>
            <p:nvPr/>
          </p:nvSpPr>
          <p:spPr>
            <a:xfrm>
              <a:off x="3761" y="2619"/>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23569" name="Text Box 23"/>
            <p:cNvSpPr txBox="1"/>
            <p:nvPr/>
          </p:nvSpPr>
          <p:spPr>
            <a:xfrm>
              <a:off x="3761" y="2037"/>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0</a:t>
              </a:r>
            </a:p>
          </p:txBody>
        </p:sp>
        <p:sp>
          <p:nvSpPr>
            <p:cNvPr id="23570" name="Text Box 25"/>
            <p:cNvSpPr txBox="1"/>
            <p:nvPr/>
          </p:nvSpPr>
          <p:spPr>
            <a:xfrm>
              <a:off x="4531" y="1383"/>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23571" name="Text Box 26"/>
            <p:cNvSpPr txBox="1"/>
            <p:nvPr/>
          </p:nvSpPr>
          <p:spPr>
            <a:xfrm>
              <a:off x="2956" y="1461"/>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p>
          </p:txBody>
        </p:sp>
        <p:sp>
          <p:nvSpPr>
            <p:cNvPr id="23572" name="Freeform 30"/>
            <p:cNvSpPr/>
            <p:nvPr/>
          </p:nvSpPr>
          <p:spPr>
            <a:xfrm rot="4935126" flipV="1">
              <a:off x="3042" y="1531"/>
              <a:ext cx="588" cy="590"/>
            </a:xfrm>
            <a:custGeom>
              <a:avLst/>
              <a:gdLst>
                <a:gd name="txL" fmla="*/ 0 w 455"/>
                <a:gd name="txT" fmla="*/ 0 h 558"/>
                <a:gd name="txR" fmla="*/ 455 w 455"/>
                <a:gd name="txB" fmla="*/ 558 h 558"/>
              </a:gdLst>
              <a:ahLst/>
              <a:cxnLst>
                <a:cxn ang="0">
                  <a:pos x="760" y="0"/>
                </a:cxn>
                <a:cxn ang="0">
                  <a:pos x="518" y="358"/>
                </a:cxn>
                <a:cxn ang="0">
                  <a:pos x="0" y="624"/>
                </a:cxn>
              </a:cxnLst>
              <a:rect l="txL" t="txT" r="txR" b="txB"/>
              <a:pathLst>
                <a:path w="455" h="558">
                  <a:moveTo>
                    <a:pt x="455" y="0"/>
                  </a:moveTo>
                  <a:cubicBezTo>
                    <a:pt x="431" y="54"/>
                    <a:pt x="386" y="228"/>
                    <a:pt x="310" y="321"/>
                  </a:cubicBezTo>
                  <a:cubicBezTo>
                    <a:pt x="234" y="414"/>
                    <a:pt x="65" y="509"/>
                    <a:pt x="0" y="558"/>
                  </a:cubicBezTo>
                </a:path>
              </a:pathLst>
            </a:custGeom>
            <a:noFill/>
            <a:ln w="19050" cap="flat" cmpd="sng">
              <a:solidFill>
                <a:srgbClr val="3333FF">
                  <a:alpha val="100000"/>
                </a:srgbClr>
              </a:solidFill>
              <a:prstDash val="solid"/>
              <a:round/>
              <a:headEnd type="triangle" w="sm" len="lg"/>
              <a:tailEnd type="none" w="sm" len="lg"/>
            </a:ln>
          </p:spPr>
          <p:txBody>
            <a:bodyPr/>
            <a:lstStyle/>
            <a:p>
              <a:endParaRPr lang="zh-CN" altLang="en-US"/>
            </a:p>
          </p:txBody>
        </p:sp>
        <p:sp>
          <p:nvSpPr>
            <p:cNvPr id="23573" name="Text Box 56"/>
            <p:cNvSpPr txBox="1"/>
            <p:nvPr/>
          </p:nvSpPr>
          <p:spPr>
            <a:xfrm>
              <a:off x="3447" y="1663"/>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0</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441">
                                            <p:txEl>
                                              <p:pRg st="0" end="0"/>
                                            </p:txEl>
                                          </p:spTgt>
                                        </p:tgtEl>
                                        <p:attrNameLst>
                                          <p:attrName>style.visibility</p:attrName>
                                        </p:attrNameLst>
                                      </p:cBhvr>
                                      <p:to>
                                        <p:strVal val="visible"/>
                                      </p:to>
                                    </p:set>
                                    <p:animEffect transition="in" filter="wipe(left)">
                                      <p:cBhvr>
                                        <p:cTn id="11" dur="500"/>
                                        <p:tgtEl>
                                          <p:spTgt spid="18441">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8442">
                                            <p:txEl>
                                              <p:pRg st="0" end="0"/>
                                            </p:txEl>
                                          </p:spTgt>
                                        </p:tgtEl>
                                        <p:attrNameLst>
                                          <p:attrName>style.visibility</p:attrName>
                                        </p:attrNameLst>
                                      </p:cBhvr>
                                      <p:to>
                                        <p:strVal val="visible"/>
                                      </p:to>
                                    </p:set>
                                    <p:animEffect transition="in" filter="wipe(left)">
                                      <p:cBhvr>
                                        <p:cTn id="20" dur="500"/>
                                        <p:tgtEl>
                                          <p:spTgt spid="1844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1" grpId="0" build="p" advAuto="1000"/>
      <p:bldP spid="18442" grpId="0" build="p" advAuto="100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2028825" y="795338"/>
            <a:ext cx="5385435" cy="583565"/>
          </a:xfrm>
          <a:prstGeom prst="rect">
            <a:avLst/>
          </a:prstGeom>
          <a:noFill/>
          <a:ln w="38100">
            <a:noFill/>
            <a:miter lim="800000"/>
          </a:ln>
          <a:effectLst/>
        </p:spPr>
        <p:txBody>
          <a:bodyPr wrap="none">
            <a:spAutoFit/>
          </a:bodyPr>
          <a:lstStyle/>
          <a:p>
            <a:pPr marR="0" defTabSz="914400">
              <a:buClrTx/>
              <a:buSzTx/>
              <a:buFontTx/>
              <a:buNone/>
              <a:defRPr/>
            </a:pPr>
            <a:r>
              <a:rPr kumimoji="1" lang="en-US" altLang="zh-CN"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7.2  </a:t>
            </a:r>
            <a:r>
              <a:rPr kumimoji="1" lang="zh-CN" altLang="en-US"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同步时序逻辑电路的分析</a:t>
            </a:r>
          </a:p>
        </p:txBody>
      </p:sp>
      <p:sp>
        <p:nvSpPr>
          <p:cNvPr id="36867" name="Text Box 3"/>
          <p:cNvSpPr txBox="1">
            <a:spLocks noChangeArrowheads="1"/>
          </p:cNvSpPr>
          <p:nvPr/>
        </p:nvSpPr>
        <p:spPr bwMode="auto">
          <a:xfrm>
            <a:off x="935038" y="2397125"/>
            <a:ext cx="7337425" cy="3084513"/>
          </a:xfrm>
          <a:prstGeom prst="rect">
            <a:avLst/>
          </a:prstGeom>
          <a:noFill/>
          <a:ln w="38100">
            <a:noFill/>
            <a:miter lim="800000"/>
          </a:ln>
          <a:effectLst/>
        </p:spPr>
        <p:txBody>
          <a:bodyPr>
            <a:spAutoFit/>
          </a:bodyPr>
          <a:lstStyle/>
          <a:p>
            <a:pPr marR="0" algn="just" defTabSz="914400">
              <a:lnSpc>
                <a:spcPct val="140000"/>
              </a:lnSpc>
              <a:spcBef>
                <a:spcPct val="50000"/>
              </a:spcBef>
              <a:buClrTx/>
              <a:buSzTx/>
              <a:buFontTx/>
              <a:buNone/>
              <a:defRPr/>
            </a:pPr>
            <a:r>
              <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分析的任务：</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对一个给定的时序逻辑电路，研究在一系列输入信号作用下，电路将会产生怎样的输出，进而说明该电路的逻辑功能。实际上是要求出电路的状态表、状态图或时间图，并作出功能评述。</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6"/>
          <p:cNvGrpSpPr/>
          <p:nvPr/>
        </p:nvGrpSpPr>
        <p:grpSpPr>
          <a:xfrm>
            <a:off x="804863" y="1074738"/>
            <a:ext cx="7985125" cy="4700587"/>
            <a:chOff x="386" y="1106"/>
            <a:chExt cx="5030" cy="2961"/>
          </a:xfrm>
        </p:grpSpPr>
        <p:sp>
          <p:nvSpPr>
            <p:cNvPr id="25605" name="Text Box 4" descr="羊皮纸"/>
            <p:cNvSpPr txBox="1"/>
            <p:nvPr/>
          </p:nvSpPr>
          <p:spPr>
            <a:xfrm>
              <a:off x="1867" y="1106"/>
              <a:ext cx="1248" cy="339"/>
            </a:xfrm>
            <a:prstGeom prst="rect">
              <a:avLst/>
            </a:prstGeom>
            <a:blipFill rotWithShape="1">
              <a:blip r:embed="rId2"/>
            </a:blipFill>
            <a:ln w="19050" cap="flat" cmpd="sng">
              <a:solidFill>
                <a:srgbClr val="FF00FF"/>
              </a:solidFill>
              <a:prstDash val="solid"/>
              <a:miter/>
              <a:headEnd type="none" w="med" len="med"/>
              <a:tailEnd type="none" w="med" len="med"/>
            </a:ln>
          </p:spPr>
          <p:txBody>
            <a:bodyPr wrap="none">
              <a:spAutoFit/>
            </a:bodyPr>
            <a:lstStyle/>
            <a:p>
              <a:r>
                <a:rPr lang="zh-CN" altLang="en-US" sz="2800" dirty="0">
                  <a:latin typeface="Times New Roman" panose="02020603050405020304" pitchFamily="18" charset="0"/>
                </a:rPr>
                <a:t>逻辑电路图</a:t>
              </a:r>
            </a:p>
          </p:txBody>
        </p:sp>
        <p:sp>
          <p:nvSpPr>
            <p:cNvPr id="25606" name="Text Box 5" descr="羊皮纸"/>
            <p:cNvSpPr txBox="1"/>
            <p:nvPr/>
          </p:nvSpPr>
          <p:spPr>
            <a:xfrm>
              <a:off x="1083" y="1639"/>
              <a:ext cx="2816" cy="339"/>
            </a:xfrm>
            <a:prstGeom prst="rect">
              <a:avLst/>
            </a:prstGeom>
            <a:blipFill rotWithShape="1">
              <a:blip r:embed="rId2"/>
            </a:blipFill>
            <a:ln w="19050" cap="flat" cmpd="sng">
              <a:solidFill>
                <a:srgbClr val="FF00FF"/>
              </a:solidFill>
              <a:prstDash val="solid"/>
              <a:miter/>
              <a:headEnd type="none" w="med" len="med"/>
              <a:tailEnd type="none" w="med" len="med"/>
            </a:ln>
          </p:spPr>
          <p:txBody>
            <a:bodyPr wrap="none">
              <a:spAutoFit/>
            </a:bodyPr>
            <a:lstStyle/>
            <a:p>
              <a:r>
                <a:rPr lang="zh-CN" altLang="en-US" sz="2800" dirty="0">
                  <a:latin typeface="Times New Roman" panose="02020603050405020304" pitchFamily="18" charset="0"/>
                </a:rPr>
                <a:t>输出函数和激励函数表达式</a:t>
              </a:r>
            </a:p>
          </p:txBody>
        </p:sp>
        <p:sp>
          <p:nvSpPr>
            <p:cNvPr id="25607" name="Text Box 8" descr="羊皮纸"/>
            <p:cNvSpPr txBox="1"/>
            <p:nvPr/>
          </p:nvSpPr>
          <p:spPr>
            <a:xfrm>
              <a:off x="4343" y="2304"/>
              <a:ext cx="1073" cy="554"/>
            </a:xfrm>
            <a:prstGeom prst="rect">
              <a:avLst/>
            </a:prstGeom>
            <a:blipFill rotWithShape="1">
              <a:blip r:embed="rId2"/>
            </a:blipFill>
            <a:ln w="19050" cap="flat" cmpd="sng">
              <a:solidFill>
                <a:srgbClr val="FF00FF"/>
              </a:solidFill>
              <a:prstDash val="solid"/>
              <a:miter/>
              <a:headEnd type="none" w="med" len="med"/>
              <a:tailEnd type="none" w="med" len="med"/>
            </a:ln>
          </p:spPr>
          <p:txBody>
            <a:bodyPr>
              <a:spAutoFit/>
            </a:bodyPr>
            <a:lstStyle/>
            <a:p>
              <a:pPr algn="ctr">
                <a:lnSpc>
                  <a:spcPct val="90000"/>
                </a:lnSpc>
              </a:pPr>
              <a:r>
                <a:rPr lang="en-US" altLang="zh-CN" sz="2800" dirty="0">
                  <a:latin typeface="Times New Roman" panose="02020603050405020304" pitchFamily="18" charset="0"/>
                </a:rPr>
                <a:t> </a:t>
              </a:r>
              <a:r>
                <a:rPr lang="zh-CN" altLang="en-US" sz="2800" dirty="0">
                  <a:latin typeface="Times New Roman" panose="02020603050405020304" pitchFamily="18" charset="0"/>
                </a:rPr>
                <a:t>触发器次态方程</a:t>
              </a:r>
            </a:p>
          </p:txBody>
        </p:sp>
        <p:sp>
          <p:nvSpPr>
            <p:cNvPr id="25608" name="Text Box 9" descr="羊皮纸"/>
            <p:cNvSpPr txBox="1"/>
            <p:nvPr/>
          </p:nvSpPr>
          <p:spPr>
            <a:xfrm>
              <a:off x="386" y="2972"/>
              <a:ext cx="837" cy="554"/>
            </a:xfrm>
            <a:prstGeom prst="rect">
              <a:avLst/>
            </a:prstGeom>
            <a:blipFill rotWithShape="1">
              <a:blip r:embed="rId2"/>
            </a:blipFill>
            <a:ln w="19050" cap="flat" cmpd="sng">
              <a:solidFill>
                <a:srgbClr val="FF00FF"/>
              </a:solidFill>
              <a:prstDash val="solid"/>
              <a:miter/>
              <a:headEnd type="none" w="med" len="med"/>
              <a:tailEnd type="none" w="med" len="med"/>
            </a:ln>
          </p:spPr>
          <p:txBody>
            <a:bodyPr>
              <a:spAutoFit/>
            </a:bodyPr>
            <a:lstStyle/>
            <a:p>
              <a:pPr algn="ctr">
                <a:lnSpc>
                  <a:spcPct val="90000"/>
                </a:lnSpc>
              </a:pPr>
              <a:r>
                <a:rPr lang="zh-CN" altLang="en-US" sz="2800" dirty="0">
                  <a:latin typeface="Times New Roman" panose="02020603050405020304" pitchFamily="18" charset="0"/>
                </a:rPr>
                <a:t>触发器功能表</a:t>
              </a:r>
            </a:p>
          </p:txBody>
        </p:sp>
        <p:sp>
          <p:nvSpPr>
            <p:cNvPr id="25609" name="Text Box 10" descr="羊皮纸"/>
            <p:cNvSpPr txBox="1"/>
            <p:nvPr/>
          </p:nvSpPr>
          <p:spPr>
            <a:xfrm>
              <a:off x="1749" y="3250"/>
              <a:ext cx="1696" cy="339"/>
            </a:xfrm>
            <a:prstGeom prst="rect">
              <a:avLst/>
            </a:prstGeom>
            <a:blipFill rotWithShape="1">
              <a:blip r:embed="rId2"/>
            </a:blipFill>
            <a:ln w="19050" cap="flat" cmpd="sng">
              <a:solidFill>
                <a:srgbClr val="FF00FF"/>
              </a:solidFill>
              <a:prstDash val="solid"/>
              <a:miter/>
              <a:headEnd type="none" w="med" len="med"/>
              <a:tailEnd type="none" w="med" len="med"/>
            </a:ln>
          </p:spPr>
          <p:txBody>
            <a:bodyPr wrap="none">
              <a:spAutoFit/>
            </a:bodyPr>
            <a:lstStyle/>
            <a:p>
              <a:r>
                <a:rPr lang="zh-CN" altLang="en-US" sz="2800" dirty="0">
                  <a:latin typeface="Times New Roman" panose="02020603050405020304" pitchFamily="18" charset="0"/>
                </a:rPr>
                <a:t>状态表和状态图</a:t>
              </a:r>
            </a:p>
          </p:txBody>
        </p:sp>
        <p:sp>
          <p:nvSpPr>
            <p:cNvPr id="25610" name="Text Box 11" descr="羊皮纸"/>
            <p:cNvSpPr txBox="1"/>
            <p:nvPr/>
          </p:nvSpPr>
          <p:spPr>
            <a:xfrm>
              <a:off x="1292" y="3728"/>
              <a:ext cx="3488" cy="339"/>
            </a:xfrm>
            <a:prstGeom prst="rect">
              <a:avLst/>
            </a:prstGeom>
            <a:blipFill rotWithShape="1">
              <a:blip r:embed="rId2"/>
            </a:blipFill>
            <a:ln w="19050" cap="flat" cmpd="sng">
              <a:solidFill>
                <a:srgbClr val="FF00FF"/>
              </a:solidFill>
              <a:prstDash val="solid"/>
              <a:miter/>
              <a:headEnd type="none" w="med" len="med"/>
              <a:tailEnd type="none" w="med" len="med"/>
            </a:ln>
          </p:spPr>
          <p:txBody>
            <a:bodyPr wrap="none">
              <a:spAutoFit/>
            </a:bodyPr>
            <a:lstStyle/>
            <a:p>
              <a:r>
                <a:rPr lang="zh-CN" altLang="en-US" sz="2800" dirty="0">
                  <a:latin typeface="Times New Roman" panose="02020603050405020304" pitchFamily="18" charset="0"/>
                </a:rPr>
                <a:t>用时间图和文字描述电路逻辑功能</a:t>
              </a:r>
            </a:p>
          </p:txBody>
        </p:sp>
        <p:sp>
          <p:nvSpPr>
            <p:cNvPr id="25611" name="Line 12" descr="羊皮纸"/>
            <p:cNvSpPr/>
            <p:nvPr/>
          </p:nvSpPr>
          <p:spPr>
            <a:xfrm>
              <a:off x="2503" y="1444"/>
              <a:ext cx="0" cy="200"/>
            </a:xfrm>
            <a:prstGeom prst="line">
              <a:avLst/>
            </a:prstGeom>
            <a:ln w="19050" cap="flat" cmpd="sng">
              <a:solidFill>
                <a:srgbClr val="3333FF"/>
              </a:solidFill>
              <a:prstDash val="solid"/>
              <a:headEnd type="none" w="med" len="med"/>
              <a:tailEnd type="triangle" w="sm" len="lg"/>
            </a:ln>
          </p:spPr>
        </p:sp>
        <p:sp>
          <p:nvSpPr>
            <p:cNvPr id="25612" name="Freeform 14" descr="羊皮纸"/>
            <p:cNvSpPr/>
            <p:nvPr/>
          </p:nvSpPr>
          <p:spPr>
            <a:xfrm>
              <a:off x="1586" y="2132"/>
              <a:ext cx="1878" cy="167"/>
            </a:xfrm>
            <a:custGeom>
              <a:avLst/>
              <a:gdLst>
                <a:gd name="txL" fmla="*/ 0 w 1878"/>
                <a:gd name="txT" fmla="*/ 0 h 167"/>
                <a:gd name="txR" fmla="*/ 1878 w 1878"/>
                <a:gd name="txB" fmla="*/ 167 h 167"/>
              </a:gdLst>
              <a:ahLst/>
              <a:cxnLst>
                <a:cxn ang="0">
                  <a:pos x="0" y="156"/>
                </a:cxn>
                <a:cxn ang="0">
                  <a:pos x="0" y="0"/>
                </a:cxn>
                <a:cxn ang="0">
                  <a:pos x="1878" y="0"/>
                </a:cxn>
                <a:cxn ang="0">
                  <a:pos x="1878" y="167"/>
                </a:cxn>
              </a:cxnLst>
              <a:rect l="txL" t="txT" r="txR" b="txB"/>
              <a:pathLst>
                <a:path w="1878" h="167">
                  <a:moveTo>
                    <a:pt x="0" y="156"/>
                  </a:moveTo>
                  <a:lnTo>
                    <a:pt x="0" y="0"/>
                  </a:lnTo>
                  <a:lnTo>
                    <a:pt x="1878" y="0"/>
                  </a:lnTo>
                  <a:lnTo>
                    <a:pt x="1878" y="167"/>
                  </a:lnTo>
                </a:path>
              </a:pathLst>
            </a:custGeom>
            <a:blipFill rotWithShape="1">
              <a:blip r:embed="rId2"/>
            </a:blipFill>
            <a:ln w="19050" cap="flat" cmpd="sng">
              <a:solidFill>
                <a:srgbClr val="3333FF">
                  <a:alpha val="100000"/>
                </a:srgbClr>
              </a:solidFill>
              <a:prstDash val="solid"/>
              <a:round/>
              <a:headEnd type="triangle" w="sm" len="lg"/>
              <a:tailEnd type="triangle" w="sm" len="lg"/>
            </a:ln>
          </p:spPr>
          <p:txBody>
            <a:bodyPr/>
            <a:lstStyle/>
            <a:p>
              <a:endParaRPr lang="zh-CN" altLang="en-US"/>
            </a:p>
          </p:txBody>
        </p:sp>
        <p:sp>
          <p:nvSpPr>
            <p:cNvPr id="25613" name="Line 15" descr="羊皮纸"/>
            <p:cNvSpPr/>
            <p:nvPr/>
          </p:nvSpPr>
          <p:spPr>
            <a:xfrm>
              <a:off x="2503" y="1977"/>
              <a:ext cx="0" cy="178"/>
            </a:xfrm>
            <a:prstGeom prst="line">
              <a:avLst/>
            </a:prstGeom>
            <a:ln w="19050" cap="flat" cmpd="sng">
              <a:solidFill>
                <a:srgbClr val="3333FF"/>
              </a:solidFill>
              <a:prstDash val="solid"/>
              <a:headEnd type="none" w="med" len="med"/>
              <a:tailEnd type="none" w="sm" len="lg"/>
            </a:ln>
          </p:spPr>
        </p:sp>
        <p:sp>
          <p:nvSpPr>
            <p:cNvPr id="25614" name="Oval 16" descr="羊皮纸"/>
            <p:cNvSpPr/>
            <p:nvPr/>
          </p:nvSpPr>
          <p:spPr>
            <a:xfrm>
              <a:off x="2478" y="2111"/>
              <a:ext cx="47" cy="47"/>
            </a:xfrm>
            <a:prstGeom prst="ellipse">
              <a:avLst/>
            </a:prstGeom>
            <a:blipFill rotWithShape="1">
              <a:blip r:embed="rId2"/>
            </a:blipFill>
            <a:ln w="12700" cap="flat" cmpd="sng">
              <a:solidFill>
                <a:schemeClr val="accent2"/>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5615" name="Freeform 17" descr="羊皮纸"/>
            <p:cNvSpPr/>
            <p:nvPr/>
          </p:nvSpPr>
          <p:spPr>
            <a:xfrm>
              <a:off x="800" y="2588"/>
              <a:ext cx="177" cy="389"/>
            </a:xfrm>
            <a:custGeom>
              <a:avLst/>
              <a:gdLst>
                <a:gd name="txL" fmla="*/ 0 w 133"/>
                <a:gd name="txT" fmla="*/ 0 h 389"/>
                <a:gd name="txR" fmla="*/ 133 w 133"/>
                <a:gd name="txB" fmla="*/ 389 h 389"/>
              </a:gdLst>
              <a:ahLst/>
              <a:cxnLst>
                <a:cxn ang="0">
                  <a:pos x="0" y="389"/>
                </a:cxn>
                <a:cxn ang="0">
                  <a:pos x="0" y="0"/>
                </a:cxn>
                <a:cxn ang="0">
                  <a:pos x="236" y="0"/>
                </a:cxn>
              </a:cxnLst>
              <a:rect l="txL" t="txT" r="txR" b="txB"/>
              <a:pathLst>
                <a:path w="133" h="389">
                  <a:moveTo>
                    <a:pt x="0" y="389"/>
                  </a:moveTo>
                  <a:lnTo>
                    <a:pt x="0" y="0"/>
                  </a:lnTo>
                  <a:lnTo>
                    <a:pt x="133" y="0"/>
                  </a:lnTo>
                </a:path>
              </a:pathLst>
            </a:custGeom>
            <a:blipFill rotWithShape="1">
              <a:blip r:embed="rId2"/>
            </a:blipFill>
            <a:ln w="19050" cap="flat" cmpd="sng">
              <a:solidFill>
                <a:srgbClr val="3333FF">
                  <a:alpha val="100000"/>
                </a:srgbClr>
              </a:solidFill>
              <a:prstDash val="solid"/>
              <a:round/>
              <a:headEnd type="none" w="med" len="med"/>
              <a:tailEnd type="triangle" w="sm" len="lg"/>
            </a:ln>
          </p:spPr>
          <p:txBody>
            <a:bodyPr/>
            <a:lstStyle/>
            <a:p>
              <a:endParaRPr lang="zh-CN" altLang="en-US"/>
            </a:p>
          </p:txBody>
        </p:sp>
        <p:sp>
          <p:nvSpPr>
            <p:cNvPr id="25616" name="Line 18" descr="羊皮纸"/>
            <p:cNvSpPr/>
            <p:nvPr/>
          </p:nvSpPr>
          <p:spPr>
            <a:xfrm flipH="1">
              <a:off x="4010" y="2577"/>
              <a:ext cx="333" cy="0"/>
            </a:xfrm>
            <a:prstGeom prst="line">
              <a:avLst/>
            </a:prstGeom>
            <a:ln w="19050" cap="flat" cmpd="sng">
              <a:solidFill>
                <a:srgbClr val="3333FF"/>
              </a:solidFill>
              <a:prstDash val="solid"/>
              <a:headEnd type="none" w="med" len="med"/>
              <a:tailEnd type="triangle" w="sm" len="lg"/>
            </a:ln>
          </p:spPr>
        </p:sp>
        <p:sp>
          <p:nvSpPr>
            <p:cNvPr id="25617" name="Freeform 19" descr="羊皮纸"/>
            <p:cNvSpPr/>
            <p:nvPr/>
          </p:nvSpPr>
          <p:spPr>
            <a:xfrm>
              <a:off x="1589" y="2855"/>
              <a:ext cx="1966" cy="222"/>
            </a:xfrm>
            <a:custGeom>
              <a:avLst/>
              <a:gdLst>
                <a:gd name="txL" fmla="*/ 0 w 1966"/>
                <a:gd name="txT" fmla="*/ 0 h 211"/>
                <a:gd name="txR" fmla="*/ 1966 w 1966"/>
                <a:gd name="txB" fmla="*/ 211 h 211"/>
              </a:gdLst>
              <a:ahLst/>
              <a:cxnLst>
                <a:cxn ang="0">
                  <a:pos x="0" y="0"/>
                </a:cxn>
                <a:cxn ang="0">
                  <a:pos x="0" y="234"/>
                </a:cxn>
                <a:cxn ang="0">
                  <a:pos x="1966" y="234"/>
                </a:cxn>
                <a:cxn ang="0">
                  <a:pos x="1966" y="13"/>
                </a:cxn>
              </a:cxnLst>
              <a:rect l="txL" t="txT" r="txR" b="txB"/>
              <a:pathLst>
                <a:path w="1966" h="211">
                  <a:moveTo>
                    <a:pt x="0" y="0"/>
                  </a:moveTo>
                  <a:lnTo>
                    <a:pt x="0" y="211"/>
                  </a:lnTo>
                  <a:lnTo>
                    <a:pt x="1966" y="211"/>
                  </a:lnTo>
                  <a:lnTo>
                    <a:pt x="1966" y="11"/>
                  </a:lnTo>
                </a:path>
              </a:pathLst>
            </a:custGeom>
            <a:blipFill rotWithShape="1">
              <a:blip r:embed="rId2"/>
            </a:blipFill>
            <a:ln w="19050" cap="flat" cmpd="sng">
              <a:solidFill>
                <a:srgbClr val="3333FF">
                  <a:alpha val="100000"/>
                </a:srgbClr>
              </a:solidFill>
              <a:prstDash val="solid"/>
              <a:round/>
              <a:headEnd type="none" w="med" len="med"/>
              <a:tailEnd type="none" w="sm" len="lg"/>
            </a:ln>
          </p:spPr>
          <p:txBody>
            <a:bodyPr/>
            <a:lstStyle/>
            <a:p>
              <a:endParaRPr lang="zh-CN" altLang="en-US"/>
            </a:p>
          </p:txBody>
        </p:sp>
        <p:sp>
          <p:nvSpPr>
            <p:cNvPr id="25618" name="Line 20" descr="羊皮纸"/>
            <p:cNvSpPr/>
            <p:nvPr/>
          </p:nvSpPr>
          <p:spPr>
            <a:xfrm>
              <a:off x="2569" y="3078"/>
              <a:ext cx="0" cy="200"/>
            </a:xfrm>
            <a:prstGeom prst="line">
              <a:avLst/>
            </a:prstGeom>
            <a:ln w="19050" cap="flat" cmpd="sng">
              <a:solidFill>
                <a:srgbClr val="3333FF"/>
              </a:solidFill>
              <a:prstDash val="solid"/>
              <a:headEnd type="none" w="med" len="med"/>
              <a:tailEnd type="triangle" w="sm" len="lg"/>
            </a:ln>
          </p:spPr>
        </p:sp>
        <p:sp>
          <p:nvSpPr>
            <p:cNvPr id="25619" name="Oval 21" descr="羊皮纸"/>
            <p:cNvSpPr/>
            <p:nvPr/>
          </p:nvSpPr>
          <p:spPr>
            <a:xfrm>
              <a:off x="2545" y="3056"/>
              <a:ext cx="47" cy="47"/>
            </a:xfrm>
            <a:prstGeom prst="ellipse">
              <a:avLst/>
            </a:prstGeom>
            <a:blipFill rotWithShape="1">
              <a:blip r:embed="rId2"/>
            </a:blipFill>
            <a:ln w="12700" cap="flat" cmpd="sng">
              <a:solidFill>
                <a:schemeClr val="accent2"/>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5620" name="Line 22" descr="羊皮纸"/>
            <p:cNvSpPr/>
            <p:nvPr/>
          </p:nvSpPr>
          <p:spPr>
            <a:xfrm>
              <a:off x="2569" y="3589"/>
              <a:ext cx="0" cy="145"/>
            </a:xfrm>
            <a:prstGeom prst="line">
              <a:avLst/>
            </a:prstGeom>
            <a:ln w="19050" cap="flat" cmpd="sng">
              <a:solidFill>
                <a:srgbClr val="3333FF"/>
              </a:solidFill>
              <a:prstDash val="solid"/>
              <a:headEnd type="none" w="med" len="med"/>
              <a:tailEnd type="triangle" w="sm" len="lg"/>
            </a:ln>
          </p:spPr>
        </p:sp>
        <p:sp>
          <p:nvSpPr>
            <p:cNvPr id="25621" name="Text Box 6" descr="羊皮纸"/>
            <p:cNvSpPr txBox="1"/>
            <p:nvPr/>
          </p:nvSpPr>
          <p:spPr>
            <a:xfrm>
              <a:off x="970" y="2304"/>
              <a:ext cx="1248" cy="554"/>
            </a:xfrm>
            <a:prstGeom prst="rect">
              <a:avLst/>
            </a:prstGeom>
            <a:blipFill rotWithShape="1">
              <a:blip r:embed="rId2"/>
            </a:blipFill>
            <a:ln w="19050" cap="flat" cmpd="sng">
              <a:solidFill>
                <a:srgbClr val="FF00FF"/>
              </a:solidFill>
              <a:prstDash val="solid"/>
              <a:miter/>
              <a:headEnd type="none" w="med" len="med"/>
              <a:tailEnd type="none" w="med" len="med"/>
            </a:ln>
          </p:spPr>
          <p:txBody>
            <a:bodyPr wrap="none">
              <a:spAutoFit/>
            </a:bodyPr>
            <a:lstStyle/>
            <a:p>
              <a:pPr algn="ctr">
                <a:lnSpc>
                  <a:spcPct val="90000"/>
                </a:lnSpc>
              </a:pPr>
              <a:r>
                <a:rPr lang="zh-CN" altLang="en-US" sz="2800" dirty="0">
                  <a:latin typeface="Times New Roman" panose="02020603050405020304" pitchFamily="18" charset="0"/>
                </a:rPr>
                <a:t>列出状态</a:t>
              </a:r>
              <a:br>
                <a:rPr lang="zh-CN" altLang="en-US" sz="2800" dirty="0">
                  <a:latin typeface="Times New Roman" panose="02020603050405020304" pitchFamily="18" charset="0"/>
                </a:rPr>
              </a:br>
              <a:r>
                <a:rPr lang="zh-CN" altLang="en-US" sz="2800" dirty="0">
                  <a:latin typeface="Times New Roman" panose="02020603050405020304" pitchFamily="18" charset="0"/>
                </a:rPr>
                <a:t>转移真值表</a:t>
              </a:r>
            </a:p>
          </p:txBody>
        </p:sp>
        <p:sp>
          <p:nvSpPr>
            <p:cNvPr id="25622" name="Text Box 7" descr="羊皮纸"/>
            <p:cNvSpPr txBox="1"/>
            <p:nvPr/>
          </p:nvSpPr>
          <p:spPr>
            <a:xfrm>
              <a:off x="2964" y="2304"/>
              <a:ext cx="1051" cy="554"/>
            </a:xfrm>
            <a:prstGeom prst="rect">
              <a:avLst/>
            </a:prstGeom>
            <a:blipFill rotWithShape="1">
              <a:blip r:embed="rId2"/>
            </a:blipFill>
            <a:ln w="19050" cap="flat" cmpd="sng">
              <a:solidFill>
                <a:srgbClr val="FF00FF"/>
              </a:solidFill>
              <a:prstDash val="solid"/>
              <a:miter/>
              <a:headEnd type="none" w="med" len="med"/>
              <a:tailEnd type="none" w="med" len="med"/>
            </a:ln>
          </p:spPr>
          <p:txBody>
            <a:bodyPr>
              <a:spAutoFit/>
            </a:bodyPr>
            <a:lstStyle/>
            <a:p>
              <a:pPr algn="ctr">
                <a:lnSpc>
                  <a:spcPct val="90000"/>
                </a:lnSpc>
              </a:pPr>
              <a:r>
                <a:rPr lang="en-US" altLang="zh-CN" sz="2800" dirty="0">
                  <a:latin typeface="Times New Roman" panose="02020603050405020304" pitchFamily="18" charset="0"/>
                </a:rPr>
                <a:t> </a:t>
              </a:r>
              <a:r>
                <a:rPr lang="zh-CN" altLang="en-US" sz="2800" dirty="0">
                  <a:latin typeface="Times New Roman" panose="02020603050405020304" pitchFamily="18" charset="0"/>
                </a:rPr>
                <a:t>电路次态方程组</a:t>
              </a:r>
            </a:p>
          </p:txBody>
        </p:sp>
      </p:grpSp>
      <p:sp>
        <p:nvSpPr>
          <p:cNvPr id="23" name="Rectangle 14"/>
          <p:cNvSpPr/>
          <p:nvPr/>
        </p:nvSpPr>
        <p:spPr>
          <a:xfrm>
            <a:off x="747713" y="2633663"/>
            <a:ext cx="1219200" cy="533400"/>
          </a:xfrm>
          <a:prstGeom prst="rect">
            <a:avLst/>
          </a:prstGeom>
          <a:noFill/>
          <a:ln w="9525">
            <a:noFill/>
          </a:ln>
        </p:spPr>
        <p:txBody>
          <a:bodyPr wrap="none" anchor="ctr" anchorCtr="0"/>
          <a:lstStyle/>
          <a:p>
            <a:r>
              <a:rPr lang="zh-CN" altLang="en-US" sz="2400" dirty="0">
                <a:latin typeface="Times New Roman" panose="02020603050405020304" pitchFamily="18" charset="0"/>
              </a:rPr>
              <a:t>表格法</a:t>
            </a:r>
          </a:p>
        </p:txBody>
      </p:sp>
      <p:sp>
        <p:nvSpPr>
          <p:cNvPr id="24" name="Rectangle 15"/>
          <p:cNvSpPr/>
          <p:nvPr/>
        </p:nvSpPr>
        <p:spPr>
          <a:xfrm>
            <a:off x="6392863" y="2486025"/>
            <a:ext cx="1219200" cy="533400"/>
          </a:xfrm>
          <a:prstGeom prst="rect">
            <a:avLst/>
          </a:prstGeom>
          <a:noFill/>
          <a:ln w="9525">
            <a:noFill/>
          </a:ln>
        </p:spPr>
        <p:txBody>
          <a:bodyPr wrap="none" anchor="ctr" anchorCtr="0"/>
          <a:lstStyle/>
          <a:p>
            <a:r>
              <a:rPr lang="zh-CN" altLang="en-US" sz="2400" dirty="0">
                <a:latin typeface="Times New Roman" panose="02020603050405020304" pitchFamily="18" charset="0"/>
              </a:rPr>
              <a:t>代数法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dissolve">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90" name="Text Box 6"/>
          <p:cNvSpPr txBox="1">
            <a:spLocks noChangeArrowheads="1"/>
          </p:cNvSpPr>
          <p:nvPr/>
        </p:nvSpPr>
        <p:spPr bwMode="auto">
          <a:xfrm>
            <a:off x="808038" y="893763"/>
            <a:ext cx="7727950" cy="523875"/>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例：</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用表格法分析下图所示的同步时序逻辑电路</a:t>
            </a:r>
          </a:p>
        </p:txBody>
      </p:sp>
      <p:grpSp>
        <p:nvGrpSpPr>
          <p:cNvPr id="2" name="Group 41"/>
          <p:cNvGrpSpPr/>
          <p:nvPr/>
        </p:nvGrpSpPr>
        <p:grpSpPr>
          <a:xfrm>
            <a:off x="2311400" y="2024063"/>
            <a:ext cx="4443413" cy="4029075"/>
            <a:chOff x="1300" y="1142"/>
            <a:chExt cx="2799" cy="2538"/>
          </a:xfrm>
        </p:grpSpPr>
        <p:grpSp>
          <p:nvGrpSpPr>
            <p:cNvPr id="26635" name="Group 32"/>
            <p:cNvGrpSpPr/>
            <p:nvPr/>
          </p:nvGrpSpPr>
          <p:grpSpPr>
            <a:xfrm>
              <a:off x="1300" y="1244"/>
              <a:ext cx="2477" cy="2378"/>
              <a:chOff x="1300" y="1244"/>
              <a:chExt cx="2477" cy="2378"/>
            </a:xfrm>
          </p:grpSpPr>
          <p:sp>
            <p:nvSpPr>
              <p:cNvPr id="26647" name="Line 23"/>
              <p:cNvSpPr/>
              <p:nvPr/>
            </p:nvSpPr>
            <p:spPr>
              <a:xfrm flipV="1">
                <a:off x="3245" y="2344"/>
                <a:ext cx="0" cy="333"/>
              </a:xfrm>
              <a:prstGeom prst="line">
                <a:avLst/>
              </a:prstGeom>
              <a:ln w="28575" cap="flat" cmpd="sng">
                <a:solidFill>
                  <a:srgbClr val="3333FF"/>
                </a:solidFill>
                <a:prstDash val="solid"/>
                <a:headEnd type="none" w="med" len="med"/>
                <a:tailEnd type="none" w="sm" len="lg"/>
              </a:ln>
            </p:spPr>
          </p:sp>
          <p:sp>
            <p:nvSpPr>
              <p:cNvPr id="26648" name="Rectangle 7"/>
              <p:cNvSpPr/>
              <p:nvPr/>
            </p:nvSpPr>
            <p:spPr>
              <a:xfrm>
                <a:off x="1300" y="1777"/>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lstStyle/>
              <a:p>
                <a:endParaRPr lang="zh-CN" altLang="en-US" dirty="0">
                  <a:latin typeface="Times New Roman" panose="02020603050405020304" pitchFamily="18" charset="0"/>
                </a:endParaRPr>
              </a:p>
            </p:txBody>
          </p:sp>
          <p:sp>
            <p:nvSpPr>
              <p:cNvPr id="26649" name="Rectangle 8"/>
              <p:cNvSpPr/>
              <p:nvPr/>
            </p:nvSpPr>
            <p:spPr>
              <a:xfrm>
                <a:off x="2767" y="1777"/>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lstStyle/>
              <a:p>
                <a:endParaRPr lang="zh-CN" altLang="en-US" dirty="0">
                  <a:latin typeface="Times New Roman" panose="02020603050405020304" pitchFamily="18" charset="0"/>
                </a:endParaRPr>
              </a:p>
            </p:txBody>
          </p:sp>
          <p:sp>
            <p:nvSpPr>
              <p:cNvPr id="26650" name="Freeform 10"/>
              <p:cNvSpPr/>
              <p:nvPr/>
            </p:nvSpPr>
            <p:spPr>
              <a:xfrm>
                <a:off x="1732" y="2233"/>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lstStyle/>
              <a:p>
                <a:endParaRPr lang="zh-CN" altLang="en-US"/>
              </a:p>
            </p:txBody>
          </p:sp>
          <p:sp>
            <p:nvSpPr>
              <p:cNvPr id="26651" name="Oval 11"/>
              <p:cNvSpPr/>
              <p:nvPr/>
            </p:nvSpPr>
            <p:spPr>
              <a:xfrm>
                <a:off x="1756" y="2334"/>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lstStyle/>
              <a:p>
                <a:endParaRPr lang="zh-CN" altLang="en-US" dirty="0">
                  <a:latin typeface="Times New Roman" panose="02020603050405020304" pitchFamily="18" charset="0"/>
                </a:endParaRPr>
              </a:p>
            </p:txBody>
          </p:sp>
          <p:sp>
            <p:nvSpPr>
              <p:cNvPr id="26652" name="Line 13"/>
              <p:cNvSpPr/>
              <p:nvPr/>
            </p:nvSpPr>
            <p:spPr>
              <a:xfrm flipV="1">
                <a:off x="2089" y="1244"/>
                <a:ext cx="0" cy="534"/>
              </a:xfrm>
              <a:prstGeom prst="line">
                <a:avLst/>
              </a:prstGeom>
              <a:ln w="28575" cap="flat" cmpd="sng">
                <a:solidFill>
                  <a:srgbClr val="3333FF"/>
                </a:solidFill>
                <a:prstDash val="solid"/>
                <a:headEnd type="none" w="med" len="med"/>
                <a:tailEnd type="none" w="sm" len="lg"/>
              </a:ln>
            </p:spPr>
          </p:sp>
          <p:sp>
            <p:nvSpPr>
              <p:cNvPr id="26653" name="Line 14"/>
              <p:cNvSpPr/>
              <p:nvPr/>
            </p:nvSpPr>
            <p:spPr>
              <a:xfrm flipV="1">
                <a:off x="2089" y="2344"/>
                <a:ext cx="0" cy="589"/>
              </a:xfrm>
              <a:prstGeom prst="line">
                <a:avLst/>
              </a:prstGeom>
              <a:ln w="28575" cap="flat" cmpd="sng">
                <a:solidFill>
                  <a:srgbClr val="3333FF"/>
                </a:solidFill>
                <a:prstDash val="solid"/>
                <a:headEnd type="none" w="med" len="med"/>
                <a:tailEnd type="none" w="sm" len="lg"/>
              </a:ln>
            </p:spPr>
          </p:sp>
          <p:sp>
            <p:nvSpPr>
              <p:cNvPr id="26654" name="Line 15"/>
              <p:cNvSpPr/>
              <p:nvPr/>
            </p:nvSpPr>
            <p:spPr>
              <a:xfrm flipV="1">
                <a:off x="3512" y="1244"/>
                <a:ext cx="0" cy="534"/>
              </a:xfrm>
              <a:prstGeom prst="line">
                <a:avLst/>
              </a:prstGeom>
              <a:ln w="28575" cap="flat" cmpd="sng">
                <a:solidFill>
                  <a:srgbClr val="3333FF"/>
                </a:solidFill>
                <a:prstDash val="solid"/>
                <a:headEnd type="none" w="med" len="med"/>
                <a:tailEnd type="none" w="sm" len="lg"/>
              </a:ln>
            </p:spPr>
          </p:sp>
          <p:sp>
            <p:nvSpPr>
              <p:cNvPr id="26655" name="Line 16"/>
              <p:cNvSpPr/>
              <p:nvPr/>
            </p:nvSpPr>
            <p:spPr>
              <a:xfrm flipV="1">
                <a:off x="3512" y="2344"/>
                <a:ext cx="0" cy="200"/>
              </a:xfrm>
              <a:prstGeom prst="line">
                <a:avLst/>
              </a:prstGeom>
              <a:ln w="28575" cap="flat" cmpd="sng">
                <a:solidFill>
                  <a:srgbClr val="3333FF"/>
                </a:solidFill>
                <a:prstDash val="solid"/>
                <a:headEnd type="none" w="med" len="med"/>
                <a:tailEnd type="none" w="sm" len="lg"/>
              </a:ln>
            </p:spPr>
          </p:sp>
          <p:sp>
            <p:nvSpPr>
              <p:cNvPr id="26656" name="Freeform 17"/>
              <p:cNvSpPr/>
              <p:nvPr/>
            </p:nvSpPr>
            <p:spPr>
              <a:xfrm>
                <a:off x="1789" y="2400"/>
                <a:ext cx="1956" cy="277"/>
              </a:xfrm>
              <a:custGeom>
                <a:avLst/>
                <a:gdLst>
                  <a:gd name="txL" fmla="*/ 0 w 1956"/>
                  <a:gd name="txT" fmla="*/ 0 h 155"/>
                  <a:gd name="txR" fmla="*/ 1956 w 1956"/>
                  <a:gd name="txB" fmla="*/ 155 h 155"/>
                </a:gdLst>
                <a:ahLst/>
                <a:cxnLst>
                  <a:cxn ang="0">
                    <a:pos x="0" y="0"/>
                  </a:cxn>
                  <a:cxn ang="0">
                    <a:pos x="0" y="495"/>
                  </a:cxn>
                  <a:cxn ang="0">
                    <a:pos x="1456" y="495"/>
                  </a:cxn>
                  <a:cxn ang="0">
                    <a:pos x="1956" y="495"/>
                  </a:cxn>
                </a:cxnLst>
                <a:rect l="txL" t="txT" r="txR" b="txB"/>
                <a:pathLst>
                  <a:path w="1956" h="155">
                    <a:moveTo>
                      <a:pt x="0" y="0"/>
                    </a:moveTo>
                    <a:lnTo>
                      <a:pt x="0" y="155"/>
                    </a:lnTo>
                    <a:lnTo>
                      <a:pt x="1456" y="155"/>
                    </a:lnTo>
                    <a:lnTo>
                      <a:pt x="1956" y="155"/>
                    </a:lnTo>
                  </a:path>
                </a:pathLst>
              </a:custGeom>
              <a:noFill/>
              <a:ln w="28575" cap="flat" cmpd="sng">
                <a:solidFill>
                  <a:srgbClr val="3333FF">
                    <a:alpha val="100000"/>
                  </a:srgbClr>
                </a:solidFill>
                <a:prstDash val="solid"/>
                <a:round/>
                <a:headEnd type="none" w="med" len="med"/>
                <a:tailEnd type="none" w="sm" len="lg"/>
              </a:ln>
            </p:spPr>
            <p:txBody>
              <a:bodyPr/>
              <a:lstStyle/>
              <a:p>
                <a:endParaRPr lang="zh-CN" altLang="en-US"/>
              </a:p>
            </p:txBody>
          </p:sp>
          <p:sp>
            <p:nvSpPr>
              <p:cNvPr id="26657" name="Freeform 18"/>
              <p:cNvSpPr/>
              <p:nvPr/>
            </p:nvSpPr>
            <p:spPr>
              <a:xfrm>
                <a:off x="3188" y="2233"/>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lstStyle/>
              <a:p>
                <a:endParaRPr lang="zh-CN" altLang="en-US"/>
              </a:p>
            </p:txBody>
          </p:sp>
          <p:sp>
            <p:nvSpPr>
              <p:cNvPr id="26658" name="Oval 19"/>
              <p:cNvSpPr/>
              <p:nvPr/>
            </p:nvSpPr>
            <p:spPr>
              <a:xfrm>
                <a:off x="3212" y="2334"/>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lstStyle/>
              <a:p>
                <a:endParaRPr lang="zh-CN" altLang="en-US" dirty="0">
                  <a:latin typeface="Times New Roman" panose="02020603050405020304" pitchFamily="18" charset="0"/>
                </a:endParaRPr>
              </a:p>
            </p:txBody>
          </p:sp>
          <p:sp>
            <p:nvSpPr>
              <p:cNvPr id="26659" name="Freeform 20"/>
              <p:cNvSpPr/>
              <p:nvPr/>
            </p:nvSpPr>
            <p:spPr>
              <a:xfrm>
                <a:off x="1489" y="2322"/>
                <a:ext cx="589" cy="456"/>
              </a:xfrm>
              <a:custGeom>
                <a:avLst/>
                <a:gdLst>
                  <a:gd name="txL" fmla="*/ 0 w 589"/>
                  <a:gd name="txT" fmla="*/ 0 h 367"/>
                  <a:gd name="txR" fmla="*/ 589 w 589"/>
                  <a:gd name="txB" fmla="*/ 367 h 367"/>
                </a:gdLst>
                <a:ahLst/>
                <a:cxnLst>
                  <a:cxn ang="0">
                    <a:pos x="0" y="0"/>
                  </a:cxn>
                  <a:cxn ang="0">
                    <a:pos x="0" y="567"/>
                  </a:cxn>
                  <a:cxn ang="0">
                    <a:pos x="589" y="567"/>
                  </a:cxn>
                </a:cxnLst>
                <a:rect l="txL" t="txT" r="txR" b="txB"/>
                <a:pathLst>
                  <a:path w="589" h="367">
                    <a:moveTo>
                      <a:pt x="0" y="0"/>
                    </a:moveTo>
                    <a:lnTo>
                      <a:pt x="0" y="367"/>
                    </a:lnTo>
                    <a:lnTo>
                      <a:pt x="589" y="367"/>
                    </a:lnTo>
                  </a:path>
                </a:pathLst>
              </a:custGeom>
              <a:noFill/>
              <a:ln w="28575" cap="flat" cmpd="sng">
                <a:solidFill>
                  <a:srgbClr val="3333FF">
                    <a:alpha val="100000"/>
                  </a:srgbClr>
                </a:solidFill>
                <a:prstDash val="solid"/>
                <a:round/>
                <a:headEnd type="none" w="med" len="med"/>
                <a:tailEnd type="none" w="sm" len="lg"/>
              </a:ln>
            </p:spPr>
            <p:txBody>
              <a:bodyPr/>
              <a:lstStyle/>
              <a:p>
                <a:endParaRPr lang="zh-CN" altLang="en-US"/>
              </a:p>
            </p:txBody>
          </p:sp>
          <p:sp>
            <p:nvSpPr>
              <p:cNvPr id="26660" name="Freeform 21"/>
              <p:cNvSpPr/>
              <p:nvPr/>
            </p:nvSpPr>
            <p:spPr>
              <a:xfrm>
                <a:off x="2178" y="1533"/>
                <a:ext cx="1322" cy="1900"/>
              </a:xfrm>
              <a:custGeom>
                <a:avLst/>
                <a:gdLst>
                  <a:gd name="txL" fmla="*/ 0 w 1322"/>
                  <a:gd name="txT" fmla="*/ 0 h 1900"/>
                  <a:gd name="txR" fmla="*/ 1322 w 1322"/>
                  <a:gd name="txB" fmla="*/ 1900 h 1900"/>
                </a:gdLst>
                <a:ahLst/>
                <a:cxnLst>
                  <a:cxn ang="0">
                    <a:pos x="0" y="1678"/>
                  </a:cxn>
                  <a:cxn ang="0">
                    <a:pos x="0" y="1900"/>
                  </a:cxn>
                  <a:cxn ang="0">
                    <a:pos x="345" y="1900"/>
                  </a:cxn>
                  <a:cxn ang="0">
                    <a:pos x="345" y="0"/>
                  </a:cxn>
                  <a:cxn ang="0">
                    <a:pos x="1322" y="0"/>
                  </a:cxn>
                </a:cxnLst>
                <a:rect l="txL" t="txT" r="txR" b="txB"/>
                <a:pathLst>
                  <a:path w="1322" h="1900">
                    <a:moveTo>
                      <a:pt x="0" y="1678"/>
                    </a:moveTo>
                    <a:lnTo>
                      <a:pt x="0" y="1900"/>
                    </a:lnTo>
                    <a:lnTo>
                      <a:pt x="345" y="1900"/>
                    </a:lnTo>
                    <a:lnTo>
                      <a:pt x="345" y="0"/>
                    </a:lnTo>
                    <a:lnTo>
                      <a:pt x="1322" y="0"/>
                    </a:lnTo>
                  </a:path>
                </a:pathLst>
              </a:custGeom>
              <a:noFill/>
              <a:ln w="28575" cap="flat" cmpd="sng">
                <a:solidFill>
                  <a:srgbClr val="3333FF">
                    <a:alpha val="100000"/>
                  </a:srgbClr>
                </a:solidFill>
                <a:prstDash val="solid"/>
                <a:round/>
                <a:headEnd type="none" w="med" len="med"/>
                <a:tailEnd type="none" w="sm" len="lg"/>
              </a:ln>
            </p:spPr>
            <p:txBody>
              <a:bodyPr/>
              <a:lstStyle/>
              <a:p>
                <a:endParaRPr lang="zh-CN" altLang="en-US"/>
              </a:p>
            </p:txBody>
          </p:sp>
          <p:sp>
            <p:nvSpPr>
              <p:cNvPr id="26661" name="Freeform 22"/>
              <p:cNvSpPr/>
              <p:nvPr/>
            </p:nvSpPr>
            <p:spPr>
              <a:xfrm>
                <a:off x="2966" y="2334"/>
                <a:ext cx="811" cy="199"/>
              </a:xfrm>
              <a:custGeom>
                <a:avLst/>
                <a:gdLst>
                  <a:gd name="txL" fmla="*/ 0 w 1956"/>
                  <a:gd name="txT" fmla="*/ 0 h 155"/>
                  <a:gd name="txR" fmla="*/ 1956 w 1956"/>
                  <a:gd name="txB" fmla="*/ 155 h 155"/>
                </a:gdLst>
                <a:ahLst/>
                <a:cxnLst>
                  <a:cxn ang="0">
                    <a:pos x="0" y="0"/>
                  </a:cxn>
                  <a:cxn ang="0">
                    <a:pos x="0" y="255"/>
                  </a:cxn>
                  <a:cxn ang="0">
                    <a:pos x="250" y="255"/>
                  </a:cxn>
                  <a:cxn ang="0">
                    <a:pos x="336" y="255"/>
                  </a:cxn>
                </a:cxnLst>
                <a:rect l="txL" t="txT" r="txR" b="txB"/>
                <a:pathLst>
                  <a:path w="1956" h="155">
                    <a:moveTo>
                      <a:pt x="0" y="0"/>
                    </a:moveTo>
                    <a:lnTo>
                      <a:pt x="0" y="155"/>
                    </a:lnTo>
                    <a:lnTo>
                      <a:pt x="1456" y="155"/>
                    </a:lnTo>
                    <a:lnTo>
                      <a:pt x="1956" y="155"/>
                    </a:lnTo>
                  </a:path>
                </a:pathLst>
              </a:custGeom>
              <a:noFill/>
              <a:ln w="28575" cap="flat" cmpd="sng">
                <a:solidFill>
                  <a:srgbClr val="3333FF">
                    <a:alpha val="100000"/>
                  </a:srgbClr>
                </a:solidFill>
                <a:prstDash val="solid"/>
                <a:round/>
                <a:headEnd type="none" w="med" len="med"/>
                <a:tailEnd type="none" w="sm" len="lg"/>
              </a:ln>
            </p:spPr>
            <p:txBody>
              <a:bodyPr/>
              <a:lstStyle/>
              <a:p>
                <a:endParaRPr lang="zh-CN" altLang="en-US"/>
              </a:p>
            </p:txBody>
          </p:sp>
          <p:sp>
            <p:nvSpPr>
              <p:cNvPr id="26662" name="Oval 24"/>
              <p:cNvSpPr/>
              <p:nvPr/>
            </p:nvSpPr>
            <p:spPr>
              <a:xfrm>
                <a:off x="3201" y="2644"/>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dirty="0">
                  <a:latin typeface="Times New Roman" panose="02020603050405020304" pitchFamily="18" charset="0"/>
                </a:endParaRPr>
              </a:p>
            </p:txBody>
          </p:sp>
          <p:sp>
            <p:nvSpPr>
              <p:cNvPr id="26663" name="Oval 25"/>
              <p:cNvSpPr/>
              <p:nvPr/>
            </p:nvSpPr>
            <p:spPr>
              <a:xfrm>
                <a:off x="3468" y="2499"/>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dirty="0">
                  <a:latin typeface="Times New Roman" panose="02020603050405020304" pitchFamily="18" charset="0"/>
                </a:endParaRPr>
              </a:p>
            </p:txBody>
          </p:sp>
          <p:sp>
            <p:nvSpPr>
              <p:cNvPr id="26664" name="Oval 26"/>
              <p:cNvSpPr/>
              <p:nvPr/>
            </p:nvSpPr>
            <p:spPr>
              <a:xfrm>
                <a:off x="3468" y="1499"/>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dirty="0">
                  <a:latin typeface="Times New Roman" panose="02020603050405020304" pitchFamily="18" charset="0"/>
                </a:endParaRPr>
              </a:p>
            </p:txBody>
          </p:sp>
          <p:sp>
            <p:nvSpPr>
              <p:cNvPr id="26665" name="Oval 27"/>
              <p:cNvSpPr/>
              <p:nvPr/>
            </p:nvSpPr>
            <p:spPr>
              <a:xfrm>
                <a:off x="2046" y="2743"/>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dirty="0">
                  <a:latin typeface="Times New Roman" panose="02020603050405020304" pitchFamily="18" charset="0"/>
                </a:endParaRPr>
              </a:p>
            </p:txBody>
          </p:sp>
          <p:sp>
            <p:nvSpPr>
              <p:cNvPr id="26666" name="Text Box 12"/>
              <p:cNvSpPr txBox="1"/>
              <p:nvPr/>
            </p:nvSpPr>
            <p:spPr>
              <a:xfrm>
                <a:off x="1809" y="2942"/>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lstStyle/>
              <a:p>
                <a:pPr algn="ctr"/>
                <a:r>
                  <a:rPr lang="zh-CN" altLang="en-US" sz="2800" dirty="0">
                    <a:latin typeface="Times New Roman" panose="02020603050405020304" pitchFamily="18" charset="0"/>
                  </a:rPr>
                  <a:t>＝</a:t>
                </a:r>
                <a:r>
                  <a:rPr lang="en-US" altLang="zh-CN" sz="2800" dirty="0">
                    <a:latin typeface="Times New Roman" panose="02020603050405020304" pitchFamily="18" charset="0"/>
                  </a:rPr>
                  <a:t>1</a:t>
                </a:r>
              </a:p>
            </p:txBody>
          </p:sp>
          <p:sp>
            <p:nvSpPr>
              <p:cNvPr id="26667" name="Line 28"/>
              <p:cNvSpPr/>
              <p:nvPr/>
            </p:nvSpPr>
            <p:spPr>
              <a:xfrm flipV="1">
                <a:off x="1944" y="3266"/>
                <a:ext cx="0" cy="356"/>
              </a:xfrm>
              <a:prstGeom prst="line">
                <a:avLst/>
              </a:prstGeom>
              <a:ln w="28575" cap="flat" cmpd="sng">
                <a:solidFill>
                  <a:srgbClr val="3333FF"/>
                </a:solidFill>
                <a:prstDash val="solid"/>
                <a:headEnd type="none" w="med" len="med"/>
                <a:tailEnd type="none" w="sm" len="lg"/>
              </a:ln>
            </p:spPr>
          </p:sp>
        </p:grpSp>
        <p:sp>
          <p:nvSpPr>
            <p:cNvPr id="26636" name="Text Box 29"/>
            <p:cNvSpPr txBox="1"/>
            <p:nvPr/>
          </p:nvSpPr>
          <p:spPr>
            <a:xfrm>
              <a:off x="2787" y="2009"/>
              <a:ext cx="354" cy="327"/>
            </a:xfrm>
            <a:prstGeom prst="rect">
              <a:avLst/>
            </a:prstGeom>
            <a:noFill/>
            <a:ln w="19050">
              <a:noFill/>
            </a:ln>
          </p:spPr>
          <p:txBody>
            <a:bodyPr wrap="none">
              <a:spAutoFit/>
            </a:bodyPr>
            <a:lstStyle/>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6637" name="Rectangle 30"/>
            <p:cNvSpPr/>
            <p:nvPr/>
          </p:nvSpPr>
          <p:spPr>
            <a:xfrm>
              <a:off x="3475" y="2009"/>
              <a:ext cx="279" cy="327"/>
            </a:xfrm>
            <a:prstGeom prst="rect">
              <a:avLst/>
            </a:prstGeom>
            <a:noFill/>
            <a:ln w="19050">
              <a:noFill/>
            </a:ln>
          </p:spPr>
          <p:txBody>
            <a:bodyPr wrap="none">
              <a:spAutoFit/>
            </a:bodyPr>
            <a:lstStyle/>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p>
          </p:txBody>
        </p:sp>
        <p:sp>
          <p:nvSpPr>
            <p:cNvPr id="26638" name="Text Box 31"/>
            <p:cNvSpPr txBox="1"/>
            <p:nvPr/>
          </p:nvSpPr>
          <p:spPr>
            <a:xfrm>
              <a:off x="3120" y="1942"/>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26639" name="Text Box 33"/>
            <p:cNvSpPr txBox="1"/>
            <p:nvPr/>
          </p:nvSpPr>
          <p:spPr>
            <a:xfrm>
              <a:off x="1332" y="2009"/>
              <a:ext cx="354" cy="327"/>
            </a:xfrm>
            <a:prstGeom prst="rect">
              <a:avLst/>
            </a:prstGeom>
            <a:noFill/>
            <a:ln w="19050">
              <a:noFill/>
            </a:ln>
          </p:spPr>
          <p:txBody>
            <a:bodyPr wrap="none">
              <a:spAutoFit/>
            </a:bodyPr>
            <a:lstStyle/>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26640" name="Rectangle 34"/>
            <p:cNvSpPr/>
            <p:nvPr/>
          </p:nvSpPr>
          <p:spPr>
            <a:xfrm>
              <a:off x="2020" y="2009"/>
              <a:ext cx="279" cy="327"/>
            </a:xfrm>
            <a:prstGeom prst="rect">
              <a:avLst/>
            </a:prstGeom>
            <a:noFill/>
            <a:ln w="19050">
              <a:noFill/>
            </a:ln>
          </p:spPr>
          <p:txBody>
            <a:bodyPr wrap="none">
              <a:spAutoFit/>
            </a:bodyPr>
            <a:lstStyle/>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p>
          </p:txBody>
        </p:sp>
        <p:sp>
          <p:nvSpPr>
            <p:cNvPr id="26641" name="Text Box 35"/>
            <p:cNvSpPr txBox="1"/>
            <p:nvPr/>
          </p:nvSpPr>
          <p:spPr>
            <a:xfrm>
              <a:off x="1665" y="1942"/>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26642" name="Text Box 36"/>
            <p:cNvSpPr txBox="1"/>
            <p:nvPr/>
          </p:nvSpPr>
          <p:spPr>
            <a:xfrm>
              <a:off x="1743" y="1142"/>
              <a:ext cx="35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26643" name="Text Box 37"/>
            <p:cNvSpPr txBox="1"/>
            <p:nvPr/>
          </p:nvSpPr>
          <p:spPr>
            <a:xfrm>
              <a:off x="3499" y="1142"/>
              <a:ext cx="35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6644" name="Text Box 38"/>
            <p:cNvSpPr txBox="1"/>
            <p:nvPr/>
          </p:nvSpPr>
          <p:spPr>
            <a:xfrm>
              <a:off x="3709" y="2554"/>
              <a:ext cx="390" cy="327"/>
            </a:xfrm>
            <a:prstGeom prst="rect">
              <a:avLst/>
            </a:prstGeom>
            <a:noFill/>
            <a:ln w="19050">
              <a:noFill/>
            </a:ln>
          </p:spPr>
          <p:txBody>
            <a:bodyPr wrap="none">
              <a:spAutoFit/>
            </a:bodyPr>
            <a:lstStyle/>
            <a:p>
              <a:r>
                <a:rPr lang="en-US" altLang="zh-CN" sz="2800" dirty="0">
                  <a:latin typeface="Times New Roman" panose="02020603050405020304" pitchFamily="18" charset="0"/>
                </a:rPr>
                <a:t>CP</a:t>
              </a:r>
            </a:p>
          </p:txBody>
        </p:sp>
        <p:sp>
          <p:nvSpPr>
            <p:cNvPr id="26645" name="Text Box 39"/>
            <p:cNvSpPr txBox="1"/>
            <p:nvPr/>
          </p:nvSpPr>
          <p:spPr>
            <a:xfrm>
              <a:off x="3753" y="232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26646" name="Text Box 40"/>
            <p:cNvSpPr txBox="1"/>
            <p:nvPr/>
          </p:nvSpPr>
          <p:spPr>
            <a:xfrm>
              <a:off x="1643" y="3353"/>
              <a:ext cx="278" cy="327"/>
            </a:xfrm>
            <a:prstGeom prst="rect">
              <a:avLst/>
            </a:prstGeom>
            <a:noFill/>
            <a:ln w="19050">
              <a:noFill/>
            </a:ln>
          </p:spPr>
          <p:txBody>
            <a:bodyPr>
              <a:spAutoFit/>
            </a:bodyPr>
            <a:lstStyle/>
            <a:p>
              <a:r>
                <a:rPr lang="en-US" altLang="zh-CN" sz="2800" dirty="0">
                  <a:latin typeface="Times New Roman" panose="02020603050405020304" pitchFamily="18" charset="0"/>
                </a:rPr>
                <a:t>X</a:t>
              </a:r>
            </a:p>
          </p:txBody>
        </p:sp>
      </p:grpSp>
      <p:sp>
        <p:nvSpPr>
          <p:cNvPr id="39" name="AutoShape 92"/>
          <p:cNvSpPr/>
          <p:nvPr/>
        </p:nvSpPr>
        <p:spPr>
          <a:xfrm>
            <a:off x="1557338" y="5935663"/>
            <a:ext cx="1752600" cy="609600"/>
          </a:xfrm>
          <a:prstGeom prst="wedgeEllipseCallout">
            <a:avLst>
              <a:gd name="adj1" fmla="val 27537"/>
              <a:gd name="adj2" fmla="val -68231"/>
            </a:avLst>
          </a:prstGeom>
          <a:solidFill>
            <a:schemeClr val="accent1"/>
          </a:solidFill>
          <a:ln w="9525" cap="flat" cmpd="sng">
            <a:solidFill>
              <a:schemeClr val="tx1"/>
            </a:solidFill>
            <a:prstDash val="solid"/>
            <a:miter/>
            <a:headEnd type="none" w="med" len="med"/>
            <a:tailEnd type="none" w="med" len="med"/>
          </a:ln>
        </p:spPr>
        <p:txBody>
          <a:bodyPr/>
          <a:lstStyle/>
          <a:p>
            <a:r>
              <a:rPr lang="zh-CN" altLang="en-US" sz="2000" dirty="0">
                <a:latin typeface="Times New Roman" panose="02020603050405020304" pitchFamily="18" charset="0"/>
              </a:rPr>
              <a:t>输入信号</a:t>
            </a:r>
          </a:p>
        </p:txBody>
      </p:sp>
      <p:sp>
        <p:nvSpPr>
          <p:cNvPr id="40" name="AutoShape 93"/>
          <p:cNvSpPr/>
          <p:nvPr/>
        </p:nvSpPr>
        <p:spPr>
          <a:xfrm>
            <a:off x="3679825" y="1916113"/>
            <a:ext cx="1752600" cy="609600"/>
          </a:xfrm>
          <a:prstGeom prst="wedgeEllipseCallout">
            <a:avLst>
              <a:gd name="adj1" fmla="val -33333"/>
              <a:gd name="adj2" fmla="val 35157"/>
            </a:avLst>
          </a:prstGeom>
          <a:solidFill>
            <a:schemeClr val="accent1"/>
          </a:solidFill>
          <a:ln w="9525" cap="flat" cmpd="sng">
            <a:solidFill>
              <a:schemeClr val="tx1"/>
            </a:solidFill>
            <a:prstDash val="solid"/>
            <a:miter/>
            <a:headEnd type="none" w="med" len="med"/>
            <a:tailEnd type="none" w="med" len="med"/>
          </a:ln>
        </p:spPr>
        <p:txBody>
          <a:bodyPr/>
          <a:lstStyle/>
          <a:p>
            <a:r>
              <a:rPr lang="zh-CN" altLang="en-US" sz="2000" dirty="0">
                <a:latin typeface="Times New Roman" panose="02020603050405020304" pitchFamily="18" charset="0"/>
              </a:rPr>
              <a:t>电路状态</a:t>
            </a:r>
          </a:p>
        </p:txBody>
      </p:sp>
      <p:sp>
        <p:nvSpPr>
          <p:cNvPr id="41" name="AutoShape 95"/>
          <p:cNvSpPr/>
          <p:nvPr/>
        </p:nvSpPr>
        <p:spPr>
          <a:xfrm>
            <a:off x="700088" y="4100513"/>
            <a:ext cx="1752600" cy="609600"/>
          </a:xfrm>
          <a:prstGeom prst="wedgeEllipseCallout">
            <a:avLst>
              <a:gd name="adj1" fmla="val 52991"/>
              <a:gd name="adj2" fmla="val -56509"/>
            </a:avLst>
          </a:prstGeom>
          <a:solidFill>
            <a:schemeClr val="accent1"/>
          </a:solidFill>
          <a:ln w="9525" cap="flat" cmpd="sng">
            <a:solidFill>
              <a:schemeClr val="tx1"/>
            </a:solidFill>
            <a:prstDash val="solid"/>
            <a:miter/>
            <a:headEnd type="none" w="med" len="med"/>
            <a:tailEnd type="none" w="med" len="med"/>
          </a:ln>
        </p:spPr>
        <p:txBody>
          <a:bodyPr/>
          <a:lstStyle/>
          <a:p>
            <a:r>
              <a:rPr lang="zh-CN" altLang="en-US" sz="2000" dirty="0">
                <a:latin typeface="Times New Roman" panose="02020603050405020304" pitchFamily="18" charset="0"/>
              </a:rPr>
              <a:t>激励信号</a:t>
            </a:r>
          </a:p>
        </p:txBody>
      </p:sp>
      <p:sp>
        <p:nvSpPr>
          <p:cNvPr id="42" name="AutoShape 96"/>
          <p:cNvSpPr/>
          <p:nvPr/>
        </p:nvSpPr>
        <p:spPr>
          <a:xfrm>
            <a:off x="6353175" y="3752850"/>
            <a:ext cx="1752600" cy="609600"/>
          </a:xfrm>
          <a:prstGeom prst="wedgeEllipseCallout">
            <a:avLst>
              <a:gd name="adj1" fmla="val -69384"/>
              <a:gd name="adj2" fmla="val 6773"/>
            </a:avLst>
          </a:prstGeom>
          <a:solidFill>
            <a:schemeClr val="accent1"/>
          </a:solidFill>
          <a:ln w="9525" cap="flat" cmpd="sng">
            <a:solidFill>
              <a:schemeClr val="tx1"/>
            </a:solidFill>
            <a:prstDash val="solid"/>
            <a:miter/>
            <a:headEnd type="none" w="med" len="med"/>
            <a:tailEnd type="none" w="med" len="med"/>
          </a:ln>
        </p:spPr>
        <p:txBody>
          <a:bodyPr/>
          <a:lstStyle/>
          <a:p>
            <a:r>
              <a:rPr lang="zh-CN" altLang="en-US" sz="2000" dirty="0">
                <a:latin typeface="Times New Roman" panose="02020603050405020304" pitchFamily="18" charset="0"/>
              </a:rPr>
              <a:t>激励信号</a:t>
            </a:r>
          </a:p>
        </p:txBody>
      </p:sp>
      <p:sp>
        <p:nvSpPr>
          <p:cNvPr id="43" name="AutoShape 97"/>
          <p:cNvSpPr/>
          <p:nvPr/>
        </p:nvSpPr>
        <p:spPr>
          <a:xfrm>
            <a:off x="5715000" y="5029200"/>
            <a:ext cx="1981200" cy="990600"/>
          </a:xfrm>
          <a:prstGeom prst="cloudCallout">
            <a:avLst>
              <a:gd name="adj1" fmla="val -11940"/>
              <a:gd name="adj2" fmla="val -78685"/>
            </a:avLst>
          </a:prstGeom>
          <a:solidFill>
            <a:schemeClr val="accent1"/>
          </a:solidFill>
          <a:ln w="9525" cap="flat" cmpd="sng">
            <a:solidFill>
              <a:schemeClr val="tx1"/>
            </a:solidFill>
            <a:prstDash val="solid"/>
            <a:headEnd type="none" w="med" len="med"/>
            <a:tailEnd type="none" w="med" len="med"/>
          </a:ln>
        </p:spPr>
        <p:txBody>
          <a:bodyPr/>
          <a:lstStyle/>
          <a:p>
            <a:r>
              <a:rPr lang="zh-CN" altLang="en-US" sz="2400" dirty="0">
                <a:latin typeface="Times New Roman" panose="02020603050405020304" pitchFamily="18" charset="0"/>
              </a:rPr>
              <a:t>同步</a:t>
            </a:r>
          </a:p>
        </p:txBody>
      </p:sp>
      <p:sp>
        <p:nvSpPr>
          <p:cNvPr id="44" name="AutoShape 49"/>
          <p:cNvSpPr/>
          <p:nvPr/>
        </p:nvSpPr>
        <p:spPr>
          <a:xfrm>
            <a:off x="6288088" y="1908175"/>
            <a:ext cx="2551112" cy="857250"/>
          </a:xfrm>
          <a:prstGeom prst="cloudCallout">
            <a:avLst>
              <a:gd name="adj1" fmla="val -50481"/>
              <a:gd name="adj2" fmla="val 81889"/>
            </a:avLst>
          </a:prstGeom>
          <a:solidFill>
            <a:schemeClr val="accent1"/>
          </a:solidFill>
          <a:ln w="9525" cap="flat" cmpd="sng">
            <a:solidFill>
              <a:schemeClr val="tx1"/>
            </a:solidFill>
            <a:prstDash val="solid"/>
            <a:headEnd type="none" w="med" len="med"/>
            <a:tailEnd type="none" w="med" len="med"/>
          </a:ln>
        </p:spPr>
        <p:txBody>
          <a:bodyPr/>
          <a:lstStyle/>
          <a:p>
            <a:r>
              <a:rPr lang="zh-CN" altLang="en-US" sz="2000" dirty="0">
                <a:latin typeface="Times New Roman" panose="02020603050405020304" pitchFamily="18" charset="0"/>
              </a:rPr>
              <a:t>同步</a:t>
            </a:r>
            <a:r>
              <a:rPr lang="en-US" altLang="zh-CN" sz="2000" dirty="0">
                <a:latin typeface="Times New Roman" panose="02020603050405020304" pitchFamily="18" charset="0"/>
              </a:rPr>
              <a:t>Moore</a:t>
            </a:r>
            <a:r>
              <a:rPr lang="zh-CN" altLang="en-US" sz="2000" dirty="0">
                <a:latin typeface="Times New Roman" panose="02020603050405020304" pitchFamily="18" charset="0"/>
              </a:rPr>
              <a:t>型</a:t>
            </a:r>
          </a:p>
        </p:txBody>
      </p:sp>
      <p:sp>
        <p:nvSpPr>
          <p:cNvPr id="26634" name="AutoShape 6">
            <a:hlinkClick r:id="rId2" action="ppaction://hlinksldjump"/>
          </p:cNvPr>
          <p:cNvSpPr/>
          <p:nvPr/>
        </p:nvSpPr>
        <p:spPr>
          <a:xfrm flipH="1">
            <a:off x="8621713" y="6611938"/>
            <a:ext cx="325437" cy="246062"/>
          </a:xfrm>
          <a:prstGeom prst="leftArrow">
            <a:avLst>
              <a:gd name="adj1" fmla="val 50000"/>
              <a:gd name="adj2" fmla="val 33064"/>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dissolve">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dissolve">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dissolve">
                                      <p:cBhvr>
                                        <p:cTn id="22" dur="500"/>
                                        <p:tgtEl>
                                          <p:spTgt spid="4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dissolve">
                                      <p:cBhvr>
                                        <p:cTn id="27" dur="500"/>
                                        <p:tgtEl>
                                          <p:spTgt spid="4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dissolve">
                                      <p:cBhvr>
                                        <p:cTn id="32" dur="500"/>
                                        <p:tgtEl>
                                          <p:spTgt spid="4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dissolve">
                                      <p:cBhvr>
                                        <p:cTn id="3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1" grpId="0" animBg="1"/>
      <p:bldP spid="42" grpId="0" animBg="1"/>
      <p:bldP spid="43" grpId="0" animBg="1"/>
      <p:bldP spid="4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1071563" y="644525"/>
            <a:ext cx="901700"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解：</a:t>
            </a:r>
          </a:p>
        </p:txBody>
      </p:sp>
      <p:sp>
        <p:nvSpPr>
          <p:cNvPr id="43011" name="Text Box 3"/>
          <p:cNvSpPr txBox="1">
            <a:spLocks noChangeArrowheads="1"/>
          </p:cNvSpPr>
          <p:nvPr/>
        </p:nvSpPr>
        <p:spPr bwMode="auto">
          <a:xfrm>
            <a:off x="1512888" y="1143000"/>
            <a:ext cx="6942138"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第一步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：写出输出函数和激励函数表达式。</a:t>
            </a:r>
          </a:p>
        </p:txBody>
      </p:sp>
      <p:sp>
        <p:nvSpPr>
          <p:cNvPr id="43013" name="Text Box 5"/>
          <p:cNvSpPr txBox="1"/>
          <p:nvPr/>
        </p:nvSpPr>
        <p:spPr>
          <a:xfrm>
            <a:off x="3117850" y="1619250"/>
            <a:ext cx="4024313" cy="519113"/>
          </a:xfrm>
          <a:prstGeom prst="rect">
            <a:avLst/>
          </a:prstGeom>
          <a:noFill/>
          <a:ln w="19050">
            <a:noFill/>
          </a:ln>
        </p:spPr>
        <p:txBody>
          <a:bodyPr wrap="none">
            <a:spAutoFit/>
          </a:bodyPr>
          <a:lstStyle/>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=1	 J</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t>
            </a:r>
            <a:r>
              <a:rPr lang="en-US" altLang="zh-CN" sz="2800" i="1" dirty="0">
                <a:latin typeface="Times New Roman" panose="02020603050405020304" pitchFamily="18" charset="0"/>
              </a:rPr>
              <a:t>x </a:t>
            </a:r>
            <a:r>
              <a:rPr lang="en-US" altLang="zh-CN" sz="2800" dirty="0">
                <a:latin typeface="Times New Roman" panose="02020603050405020304" pitchFamily="18" charset="0"/>
                <a:sym typeface="Symbol" panose="05050102010706020507" pitchFamily="18" charset="2"/>
              </a:rPr>
              <a:t> </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1</a:t>
            </a:r>
            <a:endParaRPr lang="en-US" altLang="zh-CN" sz="2800" dirty="0">
              <a:latin typeface="Times New Roman" panose="02020603050405020304" pitchFamily="18" charset="0"/>
            </a:endParaRPr>
          </a:p>
        </p:txBody>
      </p:sp>
      <p:sp>
        <p:nvSpPr>
          <p:cNvPr id="43014" name="Text Box 6"/>
          <p:cNvSpPr txBox="1">
            <a:spLocks noChangeArrowheads="1"/>
          </p:cNvSpPr>
          <p:nvPr/>
        </p:nvSpPr>
        <p:spPr bwMode="auto">
          <a:xfrm>
            <a:off x="1601788" y="2201863"/>
            <a:ext cx="5167313" cy="519113"/>
          </a:xfrm>
          <a:prstGeom prst="rect">
            <a:avLst/>
          </a:prstGeom>
          <a:noFill/>
          <a:ln w="19050">
            <a:noFill/>
            <a:miter lim="800000"/>
            <a:tailEnd type="none" w="sm" len="lg"/>
          </a:ln>
          <a:effectLst/>
        </p:spPr>
        <p:txBody>
          <a:bodyPr wrap="none">
            <a:spAutoFit/>
          </a:bodyP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339933"/>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第二步</a:t>
            </a:r>
            <a:r>
              <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：列出状态转移真值表。</a:t>
            </a:r>
          </a:p>
        </p:txBody>
      </p:sp>
      <p:grpSp>
        <p:nvGrpSpPr>
          <p:cNvPr id="2" name="Group 38"/>
          <p:cNvGrpSpPr/>
          <p:nvPr/>
        </p:nvGrpSpPr>
        <p:grpSpPr>
          <a:xfrm>
            <a:off x="600075" y="2838450"/>
            <a:ext cx="8135938" cy="3635375"/>
            <a:chOff x="378" y="1788"/>
            <a:chExt cx="5125" cy="2290"/>
          </a:xfrm>
        </p:grpSpPr>
        <p:sp>
          <p:nvSpPr>
            <p:cNvPr id="27656" name="Rectangle 35" descr="羊皮纸"/>
            <p:cNvSpPr/>
            <p:nvPr/>
          </p:nvSpPr>
          <p:spPr>
            <a:xfrm>
              <a:off x="378" y="1800"/>
              <a:ext cx="5112" cy="2266"/>
            </a:xfrm>
            <a:prstGeom prst="rect">
              <a:avLst/>
            </a:prstGeom>
            <a:blipFill rotWithShape="1">
              <a:blip r:embed="rId2"/>
            </a:blipFill>
            <a:ln w="19050">
              <a:noFill/>
            </a:ln>
          </p:spPr>
          <p:txBody>
            <a:bodyPr wrap="none" anchor="ctr" anchorCtr="0"/>
            <a:lstStyle/>
            <a:p>
              <a:endParaRPr lang="zh-CN" altLang="en-US" dirty="0">
                <a:latin typeface="Times New Roman" panose="02020603050405020304" pitchFamily="18" charset="0"/>
              </a:endParaRPr>
            </a:p>
          </p:txBody>
        </p:sp>
        <p:grpSp>
          <p:nvGrpSpPr>
            <p:cNvPr id="27657" name="Group 37"/>
            <p:cNvGrpSpPr/>
            <p:nvPr/>
          </p:nvGrpSpPr>
          <p:grpSpPr>
            <a:xfrm>
              <a:off x="380" y="1788"/>
              <a:ext cx="5123" cy="2290"/>
              <a:chOff x="380" y="1788"/>
              <a:chExt cx="5123" cy="2290"/>
            </a:xfrm>
          </p:grpSpPr>
          <p:sp>
            <p:nvSpPr>
              <p:cNvPr id="27658" name="Line 9" descr="羊皮纸"/>
              <p:cNvSpPr/>
              <p:nvPr/>
            </p:nvSpPr>
            <p:spPr>
              <a:xfrm>
                <a:off x="380" y="4068"/>
                <a:ext cx="5112" cy="0"/>
              </a:xfrm>
              <a:prstGeom prst="line">
                <a:avLst/>
              </a:prstGeom>
              <a:ln w="19050" cap="flat" cmpd="sng">
                <a:solidFill>
                  <a:srgbClr val="3333FF"/>
                </a:solidFill>
                <a:prstDash val="solid"/>
                <a:headEnd type="none" w="med" len="med"/>
                <a:tailEnd type="none" w="sm" len="lg"/>
              </a:ln>
            </p:spPr>
          </p:sp>
          <p:sp>
            <p:nvSpPr>
              <p:cNvPr id="27659" name="Line 12" descr="羊皮纸"/>
              <p:cNvSpPr/>
              <p:nvPr/>
            </p:nvSpPr>
            <p:spPr>
              <a:xfrm>
                <a:off x="4024" y="1789"/>
                <a:ext cx="0" cy="2267"/>
              </a:xfrm>
              <a:prstGeom prst="line">
                <a:avLst/>
              </a:prstGeom>
              <a:ln w="19050" cap="flat" cmpd="sng">
                <a:solidFill>
                  <a:srgbClr val="3333FF"/>
                </a:solidFill>
                <a:prstDash val="solid"/>
                <a:headEnd type="none" w="med" len="med"/>
                <a:tailEnd type="none" w="sm" len="lg"/>
              </a:ln>
            </p:spPr>
          </p:sp>
          <p:sp>
            <p:nvSpPr>
              <p:cNvPr id="27660" name="Line 13" descr="羊皮纸"/>
              <p:cNvSpPr/>
              <p:nvPr/>
            </p:nvSpPr>
            <p:spPr>
              <a:xfrm>
                <a:off x="2863" y="2400"/>
                <a:ext cx="0" cy="1678"/>
              </a:xfrm>
              <a:prstGeom prst="line">
                <a:avLst/>
              </a:prstGeom>
              <a:ln w="19050" cap="flat" cmpd="sng">
                <a:solidFill>
                  <a:srgbClr val="3333FF"/>
                </a:solidFill>
                <a:prstDash val="solid"/>
                <a:headEnd type="none" w="med" len="med"/>
                <a:tailEnd type="none" w="sm" len="lg"/>
              </a:ln>
            </p:spPr>
          </p:sp>
          <p:sp>
            <p:nvSpPr>
              <p:cNvPr id="27661" name="Line 14" descr="羊皮纸"/>
              <p:cNvSpPr/>
              <p:nvPr/>
            </p:nvSpPr>
            <p:spPr>
              <a:xfrm>
                <a:off x="3443" y="2400"/>
                <a:ext cx="0" cy="1678"/>
              </a:xfrm>
              <a:prstGeom prst="line">
                <a:avLst/>
              </a:prstGeom>
              <a:ln w="19050" cap="flat" cmpd="sng">
                <a:solidFill>
                  <a:srgbClr val="3333FF"/>
                </a:solidFill>
                <a:prstDash val="solid"/>
                <a:headEnd type="none" w="med" len="med"/>
                <a:tailEnd type="none" w="sm" len="lg"/>
              </a:ln>
            </p:spPr>
          </p:sp>
          <p:sp>
            <p:nvSpPr>
              <p:cNvPr id="27662" name="Line 15" descr="羊皮纸"/>
              <p:cNvSpPr/>
              <p:nvPr/>
            </p:nvSpPr>
            <p:spPr>
              <a:xfrm>
                <a:off x="2283" y="2400"/>
                <a:ext cx="0" cy="1678"/>
              </a:xfrm>
              <a:prstGeom prst="line">
                <a:avLst/>
              </a:prstGeom>
              <a:ln w="19050" cap="flat" cmpd="sng">
                <a:solidFill>
                  <a:srgbClr val="3333FF"/>
                </a:solidFill>
                <a:prstDash val="solid"/>
                <a:headEnd type="none" w="med" len="med"/>
                <a:tailEnd type="none" w="sm" len="lg"/>
              </a:ln>
            </p:spPr>
          </p:sp>
          <p:sp>
            <p:nvSpPr>
              <p:cNvPr id="27663" name="Text Box 19" descr="羊皮纸"/>
              <p:cNvSpPr txBox="1"/>
              <p:nvPr/>
            </p:nvSpPr>
            <p:spPr>
              <a:xfrm>
                <a:off x="1056" y="1897"/>
                <a:ext cx="677" cy="434"/>
              </a:xfrm>
              <a:prstGeom prst="rect">
                <a:avLst/>
              </a:prstGeom>
              <a:blipFill rotWithShape="1">
                <a:blip r:embed="rId2"/>
              </a:blipFill>
              <a:ln w="19050">
                <a:noFill/>
              </a:ln>
            </p:spPr>
            <p:txBody>
              <a:bodyPr>
                <a:spAutoFit/>
              </a:bodyPr>
              <a:lstStyle/>
              <a:p>
                <a:pPr algn="ctr">
                  <a:lnSpc>
                    <a:spcPct val="70000"/>
                  </a:lnSpc>
                </a:pPr>
                <a:r>
                  <a:rPr lang="zh-CN" altLang="en-US" sz="2800" dirty="0">
                    <a:latin typeface="Times New Roman" panose="02020603050405020304" pitchFamily="18" charset="0"/>
                  </a:rPr>
                  <a:t>现 态</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2    </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1</a:t>
                </a:r>
                <a:r>
                  <a:rPr lang="en-US" altLang="zh-CN" sz="2800" dirty="0">
                    <a:latin typeface="Times New Roman" panose="02020603050405020304" pitchFamily="18" charset="0"/>
                  </a:rPr>
                  <a:t> </a:t>
                </a:r>
              </a:p>
            </p:txBody>
          </p:sp>
          <p:sp>
            <p:nvSpPr>
              <p:cNvPr id="27664" name="Text Box 20" descr="羊皮纸"/>
              <p:cNvSpPr txBox="1"/>
              <p:nvPr/>
            </p:nvSpPr>
            <p:spPr>
              <a:xfrm>
                <a:off x="2166" y="1788"/>
                <a:ext cx="1180" cy="327"/>
              </a:xfrm>
              <a:prstGeom prst="rect">
                <a:avLst/>
              </a:prstGeom>
              <a:blipFill rotWithShape="1">
                <a:blip r:embed="rId2"/>
              </a:blipFill>
              <a:ln w="19050">
                <a:noFill/>
              </a:ln>
            </p:spPr>
            <p:txBody>
              <a:bodyPr wrap="none">
                <a:spAutoFit/>
              </a:bodyPr>
              <a:lstStyle/>
              <a:p>
                <a:r>
                  <a:rPr lang="zh-CN" altLang="en-US" sz="2800" dirty="0">
                    <a:latin typeface="Times New Roman" panose="02020603050405020304" pitchFamily="18" charset="0"/>
                  </a:rPr>
                  <a:t>激 励 函 数</a:t>
                </a:r>
              </a:p>
            </p:txBody>
          </p:sp>
          <p:sp>
            <p:nvSpPr>
              <p:cNvPr id="27665" name="Rectangle 21" descr="羊皮纸"/>
              <p:cNvSpPr/>
              <p:nvPr/>
            </p:nvSpPr>
            <p:spPr>
              <a:xfrm>
                <a:off x="1822" y="2054"/>
                <a:ext cx="279" cy="327"/>
              </a:xfrm>
              <a:prstGeom prst="rect">
                <a:avLst/>
              </a:prstGeom>
              <a:blipFill rotWithShape="1">
                <a:blip r:embed="rId2"/>
              </a:blipFill>
              <a:ln w="19050">
                <a:noFill/>
              </a:ln>
            </p:spPr>
            <p:txBody>
              <a:bodyPr wrap="none">
                <a:spAutoFit/>
              </a:bodyPr>
              <a:lstStyle/>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p>
            </p:txBody>
          </p:sp>
          <p:sp>
            <p:nvSpPr>
              <p:cNvPr id="27666" name="Rectangle 22" descr="羊皮纸"/>
              <p:cNvSpPr/>
              <p:nvPr/>
            </p:nvSpPr>
            <p:spPr>
              <a:xfrm>
                <a:off x="2389" y="2066"/>
                <a:ext cx="354" cy="327"/>
              </a:xfrm>
              <a:prstGeom prst="rect">
                <a:avLst/>
              </a:prstGeom>
              <a:blipFill rotWithShape="1">
                <a:blip r:embed="rId2"/>
              </a:blipFill>
              <a:ln w="19050">
                <a:noFill/>
              </a:ln>
            </p:spPr>
            <p:txBody>
              <a:bodyPr wrap="none">
                <a:spAutoFit/>
              </a:bodyPr>
              <a:lstStyle/>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p>
            </p:txBody>
          </p:sp>
          <p:sp>
            <p:nvSpPr>
              <p:cNvPr id="27667" name="Rectangle 23" descr="羊皮纸"/>
              <p:cNvSpPr/>
              <p:nvPr/>
            </p:nvSpPr>
            <p:spPr>
              <a:xfrm>
                <a:off x="2989" y="2077"/>
                <a:ext cx="279" cy="327"/>
              </a:xfrm>
              <a:prstGeom prst="rect">
                <a:avLst/>
              </a:prstGeom>
              <a:blipFill rotWithShape="1">
                <a:blip r:embed="rId2"/>
              </a:blipFill>
              <a:ln w="19050">
                <a:noFill/>
              </a:ln>
            </p:spPr>
            <p:txBody>
              <a:bodyPr wrap="none">
                <a:spAutoFit/>
              </a:bodyPr>
              <a:lstStyle/>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p>
            </p:txBody>
          </p:sp>
          <p:sp>
            <p:nvSpPr>
              <p:cNvPr id="27668" name="Rectangle 24" descr="羊皮纸"/>
              <p:cNvSpPr/>
              <p:nvPr/>
            </p:nvSpPr>
            <p:spPr>
              <a:xfrm>
                <a:off x="3523" y="2066"/>
                <a:ext cx="354" cy="327"/>
              </a:xfrm>
              <a:prstGeom prst="rect">
                <a:avLst/>
              </a:prstGeom>
              <a:blipFill rotWithShape="1">
                <a:blip r:embed="rId2"/>
              </a:blipFill>
              <a:ln w="19050">
                <a:noFill/>
              </a:ln>
            </p:spPr>
            <p:txBody>
              <a:bodyPr wrap="none">
                <a:spAutoFit/>
              </a:bodyPr>
              <a:lstStyle/>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p>
            </p:txBody>
          </p:sp>
          <p:sp>
            <p:nvSpPr>
              <p:cNvPr id="27669" name="Text Box 25" descr="羊皮纸"/>
              <p:cNvSpPr txBox="1"/>
              <p:nvPr/>
            </p:nvSpPr>
            <p:spPr>
              <a:xfrm>
                <a:off x="4343" y="1789"/>
                <a:ext cx="732" cy="327"/>
              </a:xfrm>
              <a:prstGeom prst="rect">
                <a:avLst/>
              </a:prstGeom>
              <a:blipFill rotWithShape="1">
                <a:blip r:embed="rId2"/>
              </a:blipFill>
              <a:ln w="19050">
                <a:noFill/>
              </a:ln>
            </p:spPr>
            <p:txBody>
              <a:bodyPr wrap="none">
                <a:spAutoFit/>
              </a:bodyPr>
              <a:lstStyle/>
              <a:p>
                <a:r>
                  <a:rPr lang="zh-CN" altLang="en-US" sz="2800" dirty="0">
                    <a:latin typeface="Times New Roman" panose="02020603050405020304" pitchFamily="18" charset="0"/>
                  </a:rPr>
                  <a:t>次   态</a:t>
                </a:r>
              </a:p>
            </p:txBody>
          </p:sp>
          <p:sp>
            <p:nvSpPr>
              <p:cNvPr id="27670" name="Rectangle 26" descr="羊皮纸"/>
              <p:cNvSpPr/>
              <p:nvPr/>
            </p:nvSpPr>
            <p:spPr>
              <a:xfrm>
                <a:off x="4075" y="2068"/>
                <a:ext cx="1298" cy="327"/>
              </a:xfrm>
              <a:prstGeom prst="rect">
                <a:avLst/>
              </a:prstGeom>
              <a:blipFill rotWithShape="1">
                <a:blip r:embed="rId2"/>
              </a:blipFill>
              <a:ln w="19050">
                <a:noFill/>
              </a:ln>
            </p:spPr>
            <p:txBody>
              <a:bodyPr wrap="none">
                <a:spAutoFit/>
              </a:bodyPr>
              <a:lstStyle/>
              <a:p>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2 </a:t>
                </a:r>
                <a:r>
                  <a:rPr lang="en-US" altLang="zh-CN" sz="2800" baseline="30000" dirty="0">
                    <a:latin typeface="Times New Roman" panose="02020603050405020304" pitchFamily="18" charset="0"/>
                    <a:sym typeface="Symbol" panose="05050102010706020507" pitchFamily="18" charset="2"/>
                  </a:rPr>
                  <a:t>(</a:t>
                </a:r>
                <a:r>
                  <a:rPr lang="en-US" altLang="zh-CN" sz="2800" i="1" baseline="30000" dirty="0">
                    <a:latin typeface="Times New Roman" panose="02020603050405020304" pitchFamily="18" charset="0"/>
                    <a:sym typeface="Symbol" panose="05050102010706020507" pitchFamily="18" charset="2"/>
                  </a:rPr>
                  <a:t>n</a:t>
                </a:r>
                <a:r>
                  <a:rPr lang="en-US" altLang="zh-CN" sz="2800" baseline="30000" dirty="0">
                    <a:latin typeface="Times New Roman" panose="02020603050405020304" pitchFamily="18" charset="0"/>
                    <a:sym typeface="Symbol" panose="05050102010706020507" pitchFamily="18" charset="2"/>
                  </a:rPr>
                  <a:t>+1)  </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1 </a:t>
                </a:r>
                <a:r>
                  <a:rPr lang="en-US" altLang="zh-CN" sz="2800" baseline="30000" dirty="0">
                    <a:latin typeface="Times New Roman" panose="02020603050405020304" pitchFamily="18" charset="0"/>
                    <a:sym typeface="Symbol" panose="05050102010706020507" pitchFamily="18" charset="2"/>
                  </a:rPr>
                  <a:t>(</a:t>
                </a:r>
                <a:r>
                  <a:rPr lang="en-US" altLang="zh-CN" sz="2800" i="1" baseline="30000" dirty="0">
                    <a:latin typeface="Times New Roman" panose="02020603050405020304" pitchFamily="18" charset="0"/>
                    <a:sym typeface="Symbol" panose="05050102010706020507" pitchFamily="18" charset="2"/>
                  </a:rPr>
                  <a:t>n</a:t>
                </a:r>
                <a:r>
                  <a:rPr lang="en-US" altLang="zh-CN" sz="2800" baseline="30000" dirty="0">
                    <a:latin typeface="Times New Roman" panose="02020603050405020304" pitchFamily="18" charset="0"/>
                    <a:sym typeface="Symbol" panose="05050102010706020507" pitchFamily="18" charset="2"/>
                  </a:rPr>
                  <a:t>+1)</a:t>
                </a:r>
              </a:p>
            </p:txBody>
          </p:sp>
          <p:sp>
            <p:nvSpPr>
              <p:cNvPr id="27671" name="Text Box 27" descr="羊皮纸"/>
              <p:cNvSpPr txBox="1"/>
              <p:nvPr/>
            </p:nvSpPr>
            <p:spPr>
              <a:xfrm>
                <a:off x="597" y="2410"/>
                <a:ext cx="220" cy="1658"/>
              </a:xfrm>
              <a:prstGeom prst="rect">
                <a:avLst/>
              </a:prstGeom>
              <a:blipFill rotWithShape="1">
                <a:blip r:embed="rId2"/>
              </a:blipFill>
              <a:ln w="19050">
                <a:noFill/>
              </a:ln>
            </p:spPr>
            <p:txBody>
              <a:bodyPr wrap="none">
                <a:spAutoFit/>
              </a:bodyPr>
              <a:lstStyle/>
              <a:p>
                <a:pPr>
                  <a:lnSpc>
                    <a:spcPct val="80000"/>
                  </a:lnSpc>
                </a:pPr>
                <a:r>
                  <a:rPr lang="en-US" altLang="zh-CN" sz="2600" dirty="0">
                    <a:latin typeface="Times New Roman" panose="02020603050405020304" pitchFamily="18" charset="0"/>
                  </a:rPr>
                  <a:t>0</a:t>
                </a:r>
              </a:p>
              <a:p>
                <a:pPr>
                  <a:lnSpc>
                    <a:spcPct val="80000"/>
                  </a:lnSpc>
                </a:pPr>
                <a:r>
                  <a:rPr lang="en-US" altLang="zh-CN" sz="2600" dirty="0">
                    <a:latin typeface="Times New Roman" panose="02020603050405020304" pitchFamily="18" charset="0"/>
                  </a:rPr>
                  <a:t>0</a:t>
                </a:r>
              </a:p>
              <a:p>
                <a:pPr>
                  <a:lnSpc>
                    <a:spcPct val="80000"/>
                  </a:lnSpc>
                </a:pPr>
                <a:r>
                  <a:rPr lang="en-US" altLang="zh-CN" sz="2600" dirty="0">
                    <a:latin typeface="Times New Roman" panose="02020603050405020304" pitchFamily="18" charset="0"/>
                  </a:rPr>
                  <a:t>0</a:t>
                </a:r>
              </a:p>
              <a:p>
                <a:pPr>
                  <a:lnSpc>
                    <a:spcPct val="80000"/>
                  </a:lnSpc>
                </a:pPr>
                <a:r>
                  <a:rPr lang="en-US" altLang="zh-CN" sz="2600" dirty="0">
                    <a:latin typeface="Times New Roman" panose="02020603050405020304" pitchFamily="18" charset="0"/>
                  </a:rPr>
                  <a:t>0</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1</a:t>
                </a:r>
              </a:p>
            </p:txBody>
          </p:sp>
          <p:sp>
            <p:nvSpPr>
              <p:cNvPr id="27672" name="Text Box 28" descr="羊皮纸"/>
              <p:cNvSpPr txBox="1"/>
              <p:nvPr/>
            </p:nvSpPr>
            <p:spPr>
              <a:xfrm>
                <a:off x="1174" y="2410"/>
                <a:ext cx="428" cy="1658"/>
              </a:xfrm>
              <a:prstGeom prst="rect">
                <a:avLst/>
              </a:prstGeom>
              <a:blipFill rotWithShape="1">
                <a:blip r:embed="rId2"/>
              </a:blipFill>
              <a:ln w="19050">
                <a:noFill/>
              </a:ln>
            </p:spPr>
            <p:txBody>
              <a:bodyPr wrap="none">
                <a:spAutoFit/>
              </a:bodyPr>
              <a:lstStyle/>
              <a:p>
                <a:pPr>
                  <a:lnSpc>
                    <a:spcPct val="80000"/>
                  </a:lnSpc>
                </a:pPr>
                <a:r>
                  <a:rPr lang="en-US" altLang="zh-CN" sz="2600" dirty="0">
                    <a:latin typeface="Times New Roman" panose="02020603050405020304" pitchFamily="18" charset="0"/>
                  </a:rPr>
                  <a:t>0  0</a:t>
                </a:r>
              </a:p>
              <a:p>
                <a:pPr>
                  <a:lnSpc>
                    <a:spcPct val="80000"/>
                  </a:lnSpc>
                </a:pPr>
                <a:r>
                  <a:rPr lang="en-US" altLang="zh-CN" sz="2600" dirty="0">
                    <a:latin typeface="Times New Roman" panose="02020603050405020304" pitchFamily="18" charset="0"/>
                  </a:rPr>
                  <a:t>0  1</a:t>
                </a:r>
              </a:p>
              <a:p>
                <a:pPr>
                  <a:lnSpc>
                    <a:spcPct val="80000"/>
                  </a:lnSpc>
                </a:pPr>
                <a:r>
                  <a:rPr lang="en-US" altLang="zh-CN" sz="2600" dirty="0">
                    <a:latin typeface="Times New Roman" panose="02020603050405020304" pitchFamily="18" charset="0"/>
                  </a:rPr>
                  <a:t>1  0</a:t>
                </a:r>
              </a:p>
              <a:p>
                <a:pPr>
                  <a:lnSpc>
                    <a:spcPct val="80000"/>
                  </a:lnSpc>
                </a:pPr>
                <a:r>
                  <a:rPr lang="en-US" altLang="zh-CN" sz="2600" dirty="0">
                    <a:latin typeface="Times New Roman" panose="02020603050405020304" pitchFamily="18" charset="0"/>
                  </a:rPr>
                  <a:t>1  1</a:t>
                </a:r>
              </a:p>
              <a:p>
                <a:pPr>
                  <a:lnSpc>
                    <a:spcPct val="80000"/>
                  </a:lnSpc>
                </a:pPr>
                <a:r>
                  <a:rPr lang="en-US" altLang="zh-CN" sz="2600" dirty="0">
                    <a:latin typeface="Times New Roman" panose="02020603050405020304" pitchFamily="18" charset="0"/>
                  </a:rPr>
                  <a:t>0  0</a:t>
                </a:r>
              </a:p>
              <a:p>
                <a:pPr>
                  <a:lnSpc>
                    <a:spcPct val="80000"/>
                  </a:lnSpc>
                </a:pPr>
                <a:r>
                  <a:rPr lang="en-US" altLang="zh-CN" sz="2600" dirty="0">
                    <a:latin typeface="Times New Roman" panose="02020603050405020304" pitchFamily="18" charset="0"/>
                  </a:rPr>
                  <a:t>0  1</a:t>
                </a:r>
              </a:p>
              <a:p>
                <a:pPr>
                  <a:lnSpc>
                    <a:spcPct val="80000"/>
                  </a:lnSpc>
                </a:pPr>
                <a:r>
                  <a:rPr lang="en-US" altLang="zh-CN" sz="2600" dirty="0">
                    <a:latin typeface="Times New Roman" panose="02020603050405020304" pitchFamily="18" charset="0"/>
                  </a:rPr>
                  <a:t>1  0</a:t>
                </a:r>
              </a:p>
              <a:p>
                <a:pPr>
                  <a:lnSpc>
                    <a:spcPct val="80000"/>
                  </a:lnSpc>
                </a:pPr>
                <a:r>
                  <a:rPr lang="en-US" altLang="zh-CN" sz="2600" dirty="0">
                    <a:latin typeface="Times New Roman" panose="02020603050405020304" pitchFamily="18" charset="0"/>
                  </a:rPr>
                  <a:t>1  1</a:t>
                </a:r>
              </a:p>
            </p:txBody>
          </p:sp>
          <p:sp>
            <p:nvSpPr>
              <p:cNvPr id="27673" name="Text Box 29" descr="羊皮纸"/>
              <p:cNvSpPr txBox="1"/>
              <p:nvPr/>
            </p:nvSpPr>
            <p:spPr>
              <a:xfrm>
                <a:off x="1875" y="2410"/>
                <a:ext cx="220" cy="1658"/>
              </a:xfrm>
              <a:prstGeom prst="rect">
                <a:avLst/>
              </a:prstGeom>
              <a:blipFill rotWithShape="1">
                <a:blip r:embed="rId2"/>
              </a:blipFill>
              <a:ln w="19050">
                <a:noFill/>
              </a:ln>
            </p:spPr>
            <p:txBody>
              <a:bodyPr wrap="none">
                <a:spAutoFit/>
              </a:bodyPr>
              <a:lstStyle/>
              <a:p>
                <a:pPr>
                  <a:lnSpc>
                    <a:spcPct val="80000"/>
                  </a:lnSpc>
                </a:pPr>
                <a:r>
                  <a:rPr lang="en-US" altLang="zh-CN" sz="2600" dirty="0">
                    <a:latin typeface="Times New Roman" panose="02020603050405020304" pitchFamily="18" charset="0"/>
                  </a:rPr>
                  <a:t>0</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0</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0</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0</a:t>
                </a:r>
              </a:p>
            </p:txBody>
          </p:sp>
          <p:sp>
            <p:nvSpPr>
              <p:cNvPr id="27674" name="Text Box 30" descr="羊皮纸"/>
              <p:cNvSpPr txBox="1"/>
              <p:nvPr/>
            </p:nvSpPr>
            <p:spPr>
              <a:xfrm>
                <a:off x="2431" y="2410"/>
                <a:ext cx="220" cy="1658"/>
              </a:xfrm>
              <a:prstGeom prst="rect">
                <a:avLst/>
              </a:prstGeom>
              <a:blipFill rotWithShape="1">
                <a:blip r:embed="rId2"/>
              </a:blipFill>
              <a:ln w="19050">
                <a:noFill/>
              </a:ln>
            </p:spPr>
            <p:txBody>
              <a:bodyPr wrap="none">
                <a:spAutoFit/>
              </a:bodyPr>
              <a:lstStyle/>
              <a:p>
                <a:pPr>
                  <a:lnSpc>
                    <a:spcPct val="80000"/>
                  </a:lnSpc>
                </a:pPr>
                <a:r>
                  <a:rPr lang="en-US" altLang="zh-CN" sz="2600" dirty="0">
                    <a:latin typeface="Times New Roman" panose="02020603050405020304" pitchFamily="18" charset="0"/>
                  </a:rPr>
                  <a:t>0</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0</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0</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0</a:t>
                </a:r>
              </a:p>
            </p:txBody>
          </p:sp>
          <p:sp>
            <p:nvSpPr>
              <p:cNvPr id="27675" name="Text Box 31" descr="羊皮纸"/>
              <p:cNvSpPr txBox="1"/>
              <p:nvPr/>
            </p:nvSpPr>
            <p:spPr>
              <a:xfrm>
                <a:off x="3031" y="2410"/>
                <a:ext cx="220" cy="1658"/>
              </a:xfrm>
              <a:prstGeom prst="rect">
                <a:avLst/>
              </a:prstGeom>
              <a:blipFill rotWithShape="1">
                <a:blip r:embed="rId2"/>
              </a:blipFill>
              <a:ln w="19050">
                <a:noFill/>
              </a:ln>
            </p:spPr>
            <p:txBody>
              <a:bodyPr wrap="none">
                <a:spAutoFit/>
              </a:bodyPr>
              <a:lstStyle/>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1</a:t>
                </a:r>
              </a:p>
            </p:txBody>
          </p:sp>
          <p:sp>
            <p:nvSpPr>
              <p:cNvPr id="27676" name="Text Box 32" descr="羊皮纸"/>
              <p:cNvSpPr txBox="1"/>
              <p:nvPr/>
            </p:nvSpPr>
            <p:spPr>
              <a:xfrm>
                <a:off x="3620" y="2410"/>
                <a:ext cx="220" cy="1658"/>
              </a:xfrm>
              <a:prstGeom prst="rect">
                <a:avLst/>
              </a:prstGeom>
              <a:blipFill rotWithShape="1">
                <a:blip r:embed="rId2"/>
              </a:blipFill>
              <a:ln w="19050">
                <a:noFill/>
              </a:ln>
            </p:spPr>
            <p:txBody>
              <a:bodyPr wrap="none">
                <a:spAutoFit/>
              </a:bodyPr>
              <a:lstStyle/>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1</a:t>
                </a:r>
              </a:p>
              <a:p>
                <a:pPr>
                  <a:lnSpc>
                    <a:spcPct val="80000"/>
                  </a:lnSpc>
                </a:pPr>
                <a:r>
                  <a:rPr lang="en-US" altLang="zh-CN" sz="2600" dirty="0">
                    <a:latin typeface="Times New Roman" panose="02020603050405020304" pitchFamily="18" charset="0"/>
                  </a:rPr>
                  <a:t>1</a:t>
                </a:r>
              </a:p>
            </p:txBody>
          </p:sp>
          <p:sp>
            <p:nvSpPr>
              <p:cNvPr id="27677" name="Text Box 33" descr="羊皮纸"/>
              <p:cNvSpPr txBox="1"/>
              <p:nvPr/>
            </p:nvSpPr>
            <p:spPr>
              <a:xfrm>
                <a:off x="4441" y="2410"/>
                <a:ext cx="636" cy="1658"/>
              </a:xfrm>
              <a:prstGeom prst="rect">
                <a:avLst/>
              </a:prstGeom>
              <a:blipFill rotWithShape="1">
                <a:blip r:embed="rId2"/>
              </a:blipFill>
              <a:ln w="19050">
                <a:noFill/>
              </a:ln>
            </p:spPr>
            <p:txBody>
              <a:bodyPr wrap="none">
                <a:spAutoFit/>
              </a:bodyPr>
              <a:lstStyle/>
              <a:p>
                <a:pPr>
                  <a:lnSpc>
                    <a:spcPct val="80000"/>
                  </a:lnSpc>
                </a:pPr>
                <a:r>
                  <a:rPr lang="en-US" altLang="zh-CN" sz="2600" dirty="0">
                    <a:latin typeface="Times New Roman" panose="02020603050405020304" pitchFamily="18" charset="0"/>
                  </a:rPr>
                  <a:t>0      1</a:t>
                </a:r>
              </a:p>
              <a:p>
                <a:pPr>
                  <a:lnSpc>
                    <a:spcPct val="80000"/>
                  </a:lnSpc>
                </a:pPr>
                <a:r>
                  <a:rPr lang="en-US" altLang="zh-CN" sz="2600" dirty="0">
                    <a:latin typeface="Times New Roman" panose="02020603050405020304" pitchFamily="18" charset="0"/>
                  </a:rPr>
                  <a:t>1      0</a:t>
                </a:r>
              </a:p>
              <a:p>
                <a:pPr>
                  <a:lnSpc>
                    <a:spcPct val="80000"/>
                  </a:lnSpc>
                </a:pPr>
                <a:r>
                  <a:rPr lang="en-US" altLang="zh-CN" sz="2600" dirty="0">
                    <a:latin typeface="Times New Roman" panose="02020603050405020304" pitchFamily="18" charset="0"/>
                  </a:rPr>
                  <a:t>1      1</a:t>
                </a:r>
              </a:p>
              <a:p>
                <a:pPr>
                  <a:lnSpc>
                    <a:spcPct val="80000"/>
                  </a:lnSpc>
                </a:pPr>
                <a:r>
                  <a:rPr lang="en-US" altLang="zh-CN" sz="2600" dirty="0">
                    <a:latin typeface="Times New Roman" panose="02020603050405020304" pitchFamily="18" charset="0"/>
                  </a:rPr>
                  <a:t>0      0</a:t>
                </a:r>
              </a:p>
              <a:p>
                <a:pPr>
                  <a:lnSpc>
                    <a:spcPct val="80000"/>
                  </a:lnSpc>
                </a:pPr>
                <a:r>
                  <a:rPr lang="en-US" altLang="zh-CN" sz="2600" dirty="0">
                    <a:latin typeface="Times New Roman" panose="02020603050405020304" pitchFamily="18" charset="0"/>
                  </a:rPr>
                  <a:t>1      1</a:t>
                </a:r>
              </a:p>
              <a:p>
                <a:pPr>
                  <a:lnSpc>
                    <a:spcPct val="80000"/>
                  </a:lnSpc>
                </a:pPr>
                <a:r>
                  <a:rPr lang="en-US" altLang="zh-CN" sz="2600" dirty="0">
                    <a:latin typeface="Times New Roman" panose="02020603050405020304" pitchFamily="18" charset="0"/>
                  </a:rPr>
                  <a:t>0      0</a:t>
                </a:r>
              </a:p>
              <a:p>
                <a:pPr>
                  <a:lnSpc>
                    <a:spcPct val="80000"/>
                  </a:lnSpc>
                </a:pPr>
                <a:r>
                  <a:rPr lang="en-US" altLang="zh-CN" sz="2600" dirty="0">
                    <a:latin typeface="Times New Roman" panose="02020603050405020304" pitchFamily="18" charset="0"/>
                  </a:rPr>
                  <a:t>0      1</a:t>
                </a:r>
              </a:p>
              <a:p>
                <a:pPr>
                  <a:lnSpc>
                    <a:spcPct val="80000"/>
                  </a:lnSpc>
                </a:pPr>
                <a:r>
                  <a:rPr lang="en-US" altLang="zh-CN" sz="2600" dirty="0">
                    <a:latin typeface="Times New Roman" panose="02020603050405020304" pitchFamily="18" charset="0"/>
                  </a:rPr>
                  <a:t>1      0</a:t>
                </a:r>
              </a:p>
            </p:txBody>
          </p:sp>
          <p:sp>
            <p:nvSpPr>
              <p:cNvPr id="27678" name="Text Box 18" descr="羊皮纸"/>
              <p:cNvSpPr txBox="1"/>
              <p:nvPr/>
            </p:nvSpPr>
            <p:spPr>
              <a:xfrm>
                <a:off x="389" y="1875"/>
                <a:ext cx="677" cy="488"/>
              </a:xfrm>
              <a:prstGeom prst="rect">
                <a:avLst/>
              </a:prstGeom>
              <a:blipFill rotWithShape="1">
                <a:blip r:embed="rId2"/>
              </a:blipFill>
              <a:ln w="19050">
                <a:noFill/>
              </a:ln>
            </p:spPr>
            <p:txBody>
              <a:bodyPr>
                <a:spAutoFit/>
              </a:bodyPr>
              <a:lstStyle/>
              <a:p>
                <a:pPr algn="ctr">
                  <a:lnSpc>
                    <a:spcPct val="80000"/>
                  </a:lnSpc>
                </a:pPr>
                <a:r>
                  <a:rPr lang="zh-CN" altLang="en-US" sz="2800" dirty="0">
                    <a:latin typeface="Times New Roman" panose="02020603050405020304" pitchFamily="18" charset="0"/>
                  </a:rPr>
                  <a:t>输  入</a:t>
                </a:r>
                <a:r>
                  <a:rPr lang="en-US" altLang="zh-CN" sz="2800" dirty="0">
                    <a:latin typeface="Times New Roman" panose="02020603050405020304" pitchFamily="18" charset="0"/>
                  </a:rPr>
                  <a:t>x</a:t>
                </a:r>
              </a:p>
            </p:txBody>
          </p:sp>
          <p:sp>
            <p:nvSpPr>
              <p:cNvPr id="27679" name="Line 10" descr="羊皮纸"/>
              <p:cNvSpPr/>
              <p:nvPr/>
            </p:nvSpPr>
            <p:spPr>
              <a:xfrm>
                <a:off x="1068" y="1789"/>
                <a:ext cx="0" cy="2267"/>
              </a:xfrm>
              <a:prstGeom prst="line">
                <a:avLst/>
              </a:prstGeom>
              <a:ln w="19050" cap="flat" cmpd="sng">
                <a:solidFill>
                  <a:srgbClr val="3333FF"/>
                </a:solidFill>
                <a:prstDash val="solid"/>
                <a:headEnd type="none" w="med" len="med"/>
                <a:tailEnd type="none" w="sm" len="lg"/>
              </a:ln>
            </p:spPr>
          </p:sp>
          <p:sp>
            <p:nvSpPr>
              <p:cNvPr id="27680" name="Line 11" descr="羊皮纸"/>
              <p:cNvSpPr/>
              <p:nvPr/>
            </p:nvSpPr>
            <p:spPr>
              <a:xfrm>
                <a:off x="1703" y="1789"/>
                <a:ext cx="0" cy="2267"/>
              </a:xfrm>
              <a:prstGeom prst="line">
                <a:avLst/>
              </a:prstGeom>
              <a:ln w="19050" cap="flat" cmpd="sng">
                <a:solidFill>
                  <a:srgbClr val="3333FF"/>
                </a:solidFill>
                <a:prstDash val="solid"/>
                <a:headEnd type="none" w="med" len="med"/>
                <a:tailEnd type="none" w="sm" len="lg"/>
              </a:ln>
            </p:spPr>
          </p:sp>
          <p:sp>
            <p:nvSpPr>
              <p:cNvPr id="27681" name="Line 8" descr="羊皮纸"/>
              <p:cNvSpPr/>
              <p:nvPr/>
            </p:nvSpPr>
            <p:spPr>
              <a:xfrm>
                <a:off x="380" y="2390"/>
                <a:ext cx="5090" cy="0"/>
              </a:xfrm>
              <a:prstGeom prst="line">
                <a:avLst/>
              </a:prstGeom>
              <a:ln w="19050" cap="flat" cmpd="sng">
                <a:solidFill>
                  <a:srgbClr val="3333FF"/>
                </a:solidFill>
                <a:prstDash val="solid"/>
                <a:headEnd type="none" w="med" len="med"/>
                <a:tailEnd type="none" w="sm" len="lg"/>
              </a:ln>
            </p:spPr>
          </p:sp>
          <p:sp>
            <p:nvSpPr>
              <p:cNvPr id="27682" name="Line 16" descr="羊皮纸"/>
              <p:cNvSpPr/>
              <p:nvPr/>
            </p:nvSpPr>
            <p:spPr>
              <a:xfrm>
                <a:off x="1702" y="2089"/>
                <a:ext cx="2334" cy="0"/>
              </a:xfrm>
              <a:prstGeom prst="line">
                <a:avLst/>
              </a:prstGeom>
              <a:ln w="19050" cap="flat" cmpd="sng">
                <a:solidFill>
                  <a:srgbClr val="3333FF"/>
                </a:solidFill>
                <a:prstDash val="solid"/>
                <a:headEnd type="none" w="med" len="med"/>
                <a:tailEnd type="none" w="sm" len="lg"/>
              </a:ln>
            </p:spPr>
          </p:sp>
          <p:sp>
            <p:nvSpPr>
              <p:cNvPr id="27683" name="Line 7" descr="羊皮纸"/>
              <p:cNvSpPr/>
              <p:nvPr/>
            </p:nvSpPr>
            <p:spPr>
              <a:xfrm>
                <a:off x="380" y="1791"/>
                <a:ext cx="5123" cy="0"/>
              </a:xfrm>
              <a:prstGeom prst="line">
                <a:avLst/>
              </a:prstGeom>
              <a:ln w="19050" cap="flat" cmpd="sng">
                <a:solidFill>
                  <a:srgbClr val="3333FF"/>
                </a:solidFill>
                <a:prstDash val="solid"/>
                <a:headEnd type="none" w="med" len="med"/>
                <a:tailEnd type="none" w="sm" len="lg"/>
              </a:ln>
            </p:spPr>
          </p:sp>
        </p:grpSp>
      </p:grpSp>
      <p:sp>
        <p:nvSpPr>
          <p:cNvPr id="27655" name="AutoShape 6">
            <a:hlinkClick r:id="rId3" action="ppaction://hlinksldjump"/>
          </p:cNvPr>
          <p:cNvSpPr/>
          <p:nvPr/>
        </p:nvSpPr>
        <p:spPr>
          <a:xfrm>
            <a:off x="8602663" y="6578600"/>
            <a:ext cx="215900" cy="215900"/>
          </a:xfrm>
          <a:prstGeom prst="leftArrow">
            <a:avLst>
              <a:gd name="adj1" fmla="val 50000"/>
              <a:gd name="adj2" fmla="val 25000"/>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wipe(left)">
                                      <p:cBhvr>
                                        <p:cTn id="7" dur="500"/>
                                        <p:tgtEl>
                                          <p:spTgt spid="43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13">
                                            <p:txEl>
                                              <p:pRg st="0" end="0"/>
                                            </p:txEl>
                                          </p:spTgt>
                                        </p:tgtEl>
                                        <p:attrNameLst>
                                          <p:attrName>style.visibility</p:attrName>
                                        </p:attrNameLst>
                                      </p:cBhvr>
                                      <p:to>
                                        <p:strVal val="visible"/>
                                      </p:to>
                                    </p:set>
                                    <p:animEffect transition="in" filter="wipe(left)">
                                      <p:cBhvr>
                                        <p:cTn id="12" dur="500"/>
                                        <p:tgtEl>
                                          <p:spTgt spid="4301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14">
                                            <p:txEl>
                                              <p:pRg st="0" end="0"/>
                                            </p:txEl>
                                          </p:spTgt>
                                        </p:tgtEl>
                                        <p:attrNameLst>
                                          <p:attrName>style.visibility</p:attrName>
                                        </p:attrNameLst>
                                      </p:cBhvr>
                                      <p:to>
                                        <p:strVal val="visible"/>
                                      </p:to>
                                    </p:set>
                                    <p:animEffect transition="in" filter="wipe(left)">
                                      <p:cBhvr>
                                        <p:cTn id="17" dur="500"/>
                                        <p:tgtEl>
                                          <p:spTgt spid="4301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P spid="43013" grpId="0" build="p"/>
      <p:bldP spid="4301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1846263" y="892175"/>
            <a:ext cx="5175250"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第三步：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作出状态表和状态图。</a:t>
            </a:r>
          </a:p>
        </p:txBody>
      </p:sp>
      <p:grpSp>
        <p:nvGrpSpPr>
          <p:cNvPr id="2" name="Group 16"/>
          <p:cNvGrpSpPr/>
          <p:nvPr/>
        </p:nvGrpSpPr>
        <p:grpSpPr>
          <a:xfrm>
            <a:off x="514350" y="2165350"/>
            <a:ext cx="4779963" cy="3211513"/>
            <a:chOff x="1067" y="1488"/>
            <a:chExt cx="3400" cy="2023"/>
          </a:xfrm>
        </p:grpSpPr>
        <p:sp>
          <p:nvSpPr>
            <p:cNvPr id="28701" name="Rectangle 3"/>
            <p:cNvSpPr/>
            <p:nvPr/>
          </p:nvSpPr>
          <p:spPr>
            <a:xfrm>
              <a:off x="2149" y="1534"/>
              <a:ext cx="2120" cy="327"/>
            </a:xfrm>
            <a:prstGeom prst="rect">
              <a:avLst/>
            </a:prstGeom>
            <a:noFill/>
            <a:ln w="19050">
              <a:noFill/>
            </a:ln>
          </p:spPr>
          <p:txBody>
            <a:bodyPr>
              <a:spAutoFit/>
            </a:bodyPr>
            <a:lstStyle/>
            <a:p>
              <a:r>
                <a:rPr lang="zh-CN" altLang="en-US" sz="2800" dirty="0">
                  <a:latin typeface="Times New Roman" panose="02020603050405020304" pitchFamily="18" charset="0"/>
                </a:rPr>
                <a:t>次 态 </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2 </a:t>
              </a:r>
              <a:r>
                <a:rPr lang="en-US" altLang="zh-CN" sz="2800" baseline="30000" dirty="0">
                  <a:latin typeface="Times New Roman" panose="02020603050405020304" pitchFamily="18" charset="0"/>
                  <a:sym typeface="Symbol" panose="05050102010706020507" pitchFamily="18" charset="2"/>
                </a:rPr>
                <a:t>(</a:t>
              </a:r>
              <a:r>
                <a:rPr lang="en-US" altLang="zh-CN" sz="2800" i="1" baseline="30000" dirty="0">
                  <a:latin typeface="Times New Roman" panose="02020603050405020304" pitchFamily="18" charset="0"/>
                  <a:sym typeface="Symbol" panose="05050102010706020507" pitchFamily="18" charset="2"/>
                </a:rPr>
                <a:t>n</a:t>
              </a:r>
              <a:r>
                <a:rPr lang="en-US" altLang="zh-CN" sz="2800" baseline="30000" dirty="0">
                  <a:latin typeface="Times New Roman" panose="02020603050405020304" pitchFamily="18" charset="0"/>
                  <a:sym typeface="Symbol" panose="05050102010706020507" pitchFamily="18" charset="2"/>
                </a:rPr>
                <a:t>+1)</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1 </a:t>
              </a:r>
              <a:r>
                <a:rPr lang="en-US" altLang="zh-CN" sz="2800" baseline="30000" dirty="0">
                  <a:latin typeface="Times New Roman" panose="02020603050405020304" pitchFamily="18" charset="0"/>
                  <a:sym typeface="Symbol" panose="05050102010706020507" pitchFamily="18" charset="2"/>
                </a:rPr>
                <a:t>(</a:t>
              </a:r>
              <a:r>
                <a:rPr lang="en-US" altLang="zh-CN" sz="2800" i="1" baseline="30000" dirty="0">
                  <a:latin typeface="Times New Roman" panose="02020603050405020304" pitchFamily="18" charset="0"/>
                  <a:sym typeface="Symbol" panose="05050102010706020507" pitchFamily="18" charset="2"/>
                </a:rPr>
                <a:t>n</a:t>
              </a:r>
              <a:r>
                <a:rPr lang="en-US" altLang="zh-CN" sz="2800" baseline="30000" dirty="0">
                  <a:latin typeface="Times New Roman" panose="02020603050405020304" pitchFamily="18" charset="0"/>
                  <a:sym typeface="Symbol" panose="05050102010706020507" pitchFamily="18" charset="2"/>
                </a:rPr>
                <a:t>+1)</a:t>
              </a:r>
            </a:p>
          </p:txBody>
        </p:sp>
        <p:sp>
          <p:nvSpPr>
            <p:cNvPr id="28702" name="Line 4"/>
            <p:cNvSpPr/>
            <p:nvPr/>
          </p:nvSpPr>
          <p:spPr>
            <a:xfrm>
              <a:off x="1067" y="1488"/>
              <a:ext cx="3378" cy="0"/>
            </a:xfrm>
            <a:prstGeom prst="line">
              <a:avLst/>
            </a:prstGeom>
            <a:ln w="19050" cap="flat" cmpd="sng">
              <a:solidFill>
                <a:srgbClr val="3333FF"/>
              </a:solidFill>
              <a:prstDash val="solid"/>
              <a:headEnd type="none" w="med" len="med"/>
              <a:tailEnd type="none" w="sm" len="lg"/>
            </a:ln>
          </p:spPr>
        </p:sp>
        <p:sp>
          <p:nvSpPr>
            <p:cNvPr id="28703" name="Line 5"/>
            <p:cNvSpPr/>
            <p:nvPr/>
          </p:nvSpPr>
          <p:spPr>
            <a:xfrm>
              <a:off x="1067" y="2166"/>
              <a:ext cx="3378" cy="0"/>
            </a:xfrm>
            <a:prstGeom prst="line">
              <a:avLst/>
            </a:prstGeom>
            <a:ln w="19050" cap="flat" cmpd="sng">
              <a:solidFill>
                <a:srgbClr val="3333FF"/>
              </a:solidFill>
              <a:prstDash val="solid"/>
              <a:headEnd type="none" w="med" len="med"/>
              <a:tailEnd type="none" w="sm" len="lg"/>
            </a:ln>
          </p:spPr>
        </p:sp>
        <p:sp>
          <p:nvSpPr>
            <p:cNvPr id="28704" name="Line 6"/>
            <p:cNvSpPr/>
            <p:nvPr/>
          </p:nvSpPr>
          <p:spPr>
            <a:xfrm>
              <a:off x="1067" y="3511"/>
              <a:ext cx="3378" cy="0"/>
            </a:xfrm>
            <a:prstGeom prst="line">
              <a:avLst/>
            </a:prstGeom>
            <a:ln w="19050" cap="flat" cmpd="sng">
              <a:solidFill>
                <a:srgbClr val="3333FF"/>
              </a:solidFill>
              <a:prstDash val="solid"/>
              <a:headEnd type="none" w="med" len="med"/>
              <a:tailEnd type="none" w="sm" len="lg"/>
            </a:ln>
          </p:spPr>
        </p:sp>
        <p:sp>
          <p:nvSpPr>
            <p:cNvPr id="28705" name="Line 7"/>
            <p:cNvSpPr/>
            <p:nvPr/>
          </p:nvSpPr>
          <p:spPr>
            <a:xfrm>
              <a:off x="2045" y="1500"/>
              <a:ext cx="0" cy="2011"/>
            </a:xfrm>
            <a:prstGeom prst="line">
              <a:avLst/>
            </a:prstGeom>
            <a:ln w="19050" cap="flat" cmpd="sng">
              <a:solidFill>
                <a:srgbClr val="3333FF"/>
              </a:solidFill>
              <a:prstDash val="solid"/>
              <a:headEnd type="none" w="med" len="med"/>
              <a:tailEnd type="none" w="sm" len="lg"/>
            </a:ln>
          </p:spPr>
        </p:sp>
        <p:sp>
          <p:nvSpPr>
            <p:cNvPr id="28706" name="Line 8"/>
            <p:cNvSpPr/>
            <p:nvPr/>
          </p:nvSpPr>
          <p:spPr>
            <a:xfrm>
              <a:off x="3223" y="1843"/>
              <a:ext cx="0" cy="1668"/>
            </a:xfrm>
            <a:prstGeom prst="line">
              <a:avLst/>
            </a:prstGeom>
            <a:ln w="19050" cap="flat" cmpd="sng">
              <a:solidFill>
                <a:srgbClr val="3333FF"/>
              </a:solidFill>
              <a:prstDash val="solid"/>
              <a:headEnd type="none" w="med" len="med"/>
              <a:tailEnd type="none" w="sm" len="lg"/>
            </a:ln>
          </p:spPr>
        </p:sp>
        <p:sp>
          <p:nvSpPr>
            <p:cNvPr id="28707" name="Line 9"/>
            <p:cNvSpPr/>
            <p:nvPr/>
          </p:nvSpPr>
          <p:spPr>
            <a:xfrm>
              <a:off x="2045" y="1844"/>
              <a:ext cx="2422" cy="0"/>
            </a:xfrm>
            <a:prstGeom prst="line">
              <a:avLst/>
            </a:prstGeom>
            <a:ln w="19050" cap="flat" cmpd="sng">
              <a:solidFill>
                <a:srgbClr val="3333FF"/>
              </a:solidFill>
              <a:prstDash val="solid"/>
              <a:headEnd type="none" w="med" len="med"/>
              <a:tailEnd type="none" w="sm" len="lg"/>
            </a:ln>
          </p:spPr>
        </p:sp>
        <p:sp>
          <p:nvSpPr>
            <p:cNvPr id="28708" name="Text Box 10"/>
            <p:cNvSpPr txBox="1"/>
            <p:nvPr/>
          </p:nvSpPr>
          <p:spPr>
            <a:xfrm>
              <a:off x="1286" y="2144"/>
              <a:ext cx="574" cy="1350"/>
            </a:xfrm>
            <a:prstGeom prst="rect">
              <a:avLst/>
            </a:prstGeom>
            <a:noFill/>
            <a:ln w="19050">
              <a:noFill/>
            </a:ln>
          </p:spPr>
          <p:txBody>
            <a:bodyPr wrap="none">
              <a:spAutoFit/>
            </a:bodyPr>
            <a:lstStyle/>
            <a:p>
              <a:pPr>
                <a:lnSpc>
                  <a:spcPct val="120000"/>
                </a:lnSpc>
              </a:pPr>
              <a:r>
                <a:rPr lang="en-US" altLang="zh-CN" sz="2800" dirty="0">
                  <a:latin typeface="Times New Roman" panose="02020603050405020304" pitchFamily="18" charset="0"/>
                </a:rPr>
                <a:t>0   0</a:t>
              </a:r>
            </a:p>
            <a:p>
              <a:pPr>
                <a:lnSpc>
                  <a:spcPct val="120000"/>
                </a:lnSpc>
              </a:pPr>
              <a:r>
                <a:rPr lang="en-US" altLang="zh-CN" sz="2800" dirty="0">
                  <a:latin typeface="Times New Roman" panose="02020603050405020304" pitchFamily="18" charset="0"/>
                </a:rPr>
                <a:t>0   1</a:t>
              </a:r>
            </a:p>
            <a:p>
              <a:pPr>
                <a:lnSpc>
                  <a:spcPct val="120000"/>
                </a:lnSpc>
              </a:pPr>
              <a:r>
                <a:rPr lang="en-US" altLang="zh-CN" sz="2800" dirty="0">
                  <a:latin typeface="Times New Roman" panose="02020603050405020304" pitchFamily="18" charset="0"/>
                </a:rPr>
                <a:t>1   0</a:t>
              </a:r>
            </a:p>
            <a:p>
              <a:pPr>
                <a:lnSpc>
                  <a:spcPct val="120000"/>
                </a:lnSpc>
              </a:pPr>
              <a:r>
                <a:rPr lang="en-US" altLang="zh-CN" sz="2800" dirty="0">
                  <a:latin typeface="Times New Roman" panose="02020603050405020304" pitchFamily="18" charset="0"/>
                </a:rPr>
                <a:t>1   1</a:t>
              </a:r>
            </a:p>
          </p:txBody>
        </p:sp>
        <p:sp>
          <p:nvSpPr>
            <p:cNvPr id="28709" name="Text Box 11"/>
            <p:cNvSpPr txBox="1"/>
            <p:nvPr/>
          </p:nvSpPr>
          <p:spPr>
            <a:xfrm>
              <a:off x="1175" y="1565"/>
              <a:ext cx="825" cy="542"/>
            </a:xfrm>
            <a:prstGeom prst="rect">
              <a:avLst/>
            </a:prstGeom>
            <a:noFill/>
            <a:ln w="19050">
              <a:noFill/>
            </a:ln>
          </p:spPr>
          <p:txBody>
            <a:bodyPr wrap="none">
              <a:spAutoFit/>
            </a:bodyPr>
            <a:lstStyle/>
            <a:p>
              <a:pPr>
                <a:lnSpc>
                  <a:spcPct val="90000"/>
                </a:lnSpc>
              </a:pPr>
              <a:r>
                <a:rPr lang="zh-CN" altLang="en-US" sz="2800" dirty="0">
                  <a:latin typeface="Times New Roman" panose="02020603050405020304" pitchFamily="18" charset="0"/>
                </a:rPr>
                <a:t>现  态</a:t>
              </a:r>
              <a:br>
                <a:rPr lang="zh-CN" altLang="en-US" sz="2800" dirty="0">
                  <a:latin typeface="Times New Roman" panose="02020603050405020304" pitchFamily="18" charset="0"/>
                </a:rPr>
              </a:br>
              <a:r>
                <a:rPr lang="zh-CN" altLang="en-US" sz="2800" dirty="0">
                  <a:latin typeface="Times New Roman" panose="02020603050405020304" pitchFamily="18" charset="0"/>
                </a:rPr>
                <a:t> </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2    </a:t>
              </a:r>
              <a:r>
                <a:rPr lang="en-US" altLang="zh-CN" sz="2800" i="1" dirty="0">
                  <a:latin typeface="Times New Roman" panose="02020603050405020304" pitchFamily="18" charset="0"/>
                  <a:sym typeface="Symbol" panose="05050102010706020507" pitchFamily="18" charset="2"/>
                </a:rPr>
                <a:t>y</a:t>
              </a:r>
              <a:r>
                <a:rPr lang="en-US" altLang="zh-CN" sz="2800" baseline="-25000" dirty="0">
                  <a:latin typeface="Times New Roman" panose="02020603050405020304" pitchFamily="18" charset="0"/>
                  <a:sym typeface="Symbol" panose="05050102010706020507" pitchFamily="18" charset="2"/>
                </a:rPr>
                <a:t>1</a:t>
              </a:r>
              <a:r>
                <a:rPr lang="en-US" altLang="zh-CN" sz="2800" dirty="0">
                  <a:latin typeface="Times New Roman" panose="02020603050405020304" pitchFamily="18" charset="0"/>
                </a:rPr>
                <a:t> </a:t>
              </a:r>
            </a:p>
          </p:txBody>
        </p:sp>
        <p:sp>
          <p:nvSpPr>
            <p:cNvPr id="28710" name="Text Box 12"/>
            <p:cNvSpPr txBox="1"/>
            <p:nvPr/>
          </p:nvSpPr>
          <p:spPr>
            <a:xfrm>
              <a:off x="2363" y="1843"/>
              <a:ext cx="653" cy="327"/>
            </a:xfrm>
            <a:prstGeom prst="rect">
              <a:avLst/>
            </a:prstGeom>
            <a:noFill/>
            <a:ln w="19050">
              <a:noFill/>
            </a:ln>
          </p:spPr>
          <p:txBody>
            <a:bodyPr wrap="none">
              <a:spAutoFit/>
            </a:bodyPr>
            <a:lstStyle/>
            <a:p>
              <a:r>
                <a:rPr lang="en-US" altLang="zh-CN" sz="2800" dirty="0">
                  <a:latin typeface="Times New Roman" panose="02020603050405020304" pitchFamily="18" charset="0"/>
                </a:rPr>
                <a:t>x = 0</a:t>
              </a:r>
            </a:p>
          </p:txBody>
        </p:sp>
        <p:sp>
          <p:nvSpPr>
            <p:cNvPr id="28711" name="Text Box 13"/>
            <p:cNvSpPr txBox="1"/>
            <p:nvPr/>
          </p:nvSpPr>
          <p:spPr>
            <a:xfrm>
              <a:off x="3420" y="1843"/>
              <a:ext cx="653" cy="327"/>
            </a:xfrm>
            <a:prstGeom prst="rect">
              <a:avLst/>
            </a:prstGeom>
            <a:noFill/>
            <a:ln w="19050">
              <a:noFill/>
            </a:ln>
          </p:spPr>
          <p:txBody>
            <a:bodyPr wrap="none">
              <a:spAutoFit/>
            </a:bodyPr>
            <a:lstStyle/>
            <a:p>
              <a:r>
                <a:rPr lang="en-US" altLang="zh-CN" sz="2800" dirty="0">
                  <a:latin typeface="Times New Roman" panose="02020603050405020304" pitchFamily="18" charset="0"/>
                </a:rPr>
                <a:t>x = 1</a:t>
              </a:r>
            </a:p>
          </p:txBody>
        </p:sp>
        <p:sp>
          <p:nvSpPr>
            <p:cNvPr id="28712" name="Text Box 14"/>
            <p:cNvSpPr txBox="1"/>
            <p:nvPr/>
          </p:nvSpPr>
          <p:spPr>
            <a:xfrm>
              <a:off x="2397" y="2144"/>
              <a:ext cx="574" cy="1350"/>
            </a:xfrm>
            <a:prstGeom prst="rect">
              <a:avLst/>
            </a:prstGeom>
            <a:noFill/>
            <a:ln w="19050">
              <a:noFill/>
            </a:ln>
          </p:spPr>
          <p:txBody>
            <a:bodyPr wrap="none">
              <a:spAutoFit/>
            </a:bodyPr>
            <a:lstStyle/>
            <a:p>
              <a:pPr>
                <a:lnSpc>
                  <a:spcPct val="120000"/>
                </a:lnSpc>
              </a:pPr>
              <a:r>
                <a:rPr lang="en-US" altLang="zh-CN" sz="2800" dirty="0">
                  <a:latin typeface="Times New Roman" panose="02020603050405020304" pitchFamily="18" charset="0"/>
                </a:rPr>
                <a:t>0   1</a:t>
              </a:r>
            </a:p>
            <a:p>
              <a:pPr>
                <a:lnSpc>
                  <a:spcPct val="120000"/>
                </a:lnSpc>
              </a:pPr>
              <a:r>
                <a:rPr lang="en-US" altLang="zh-CN" sz="2800" dirty="0">
                  <a:latin typeface="Times New Roman" panose="02020603050405020304" pitchFamily="18" charset="0"/>
                </a:rPr>
                <a:t>1   0</a:t>
              </a:r>
            </a:p>
            <a:p>
              <a:pPr>
                <a:lnSpc>
                  <a:spcPct val="120000"/>
                </a:lnSpc>
              </a:pPr>
              <a:r>
                <a:rPr lang="en-US" altLang="zh-CN" sz="2800" dirty="0">
                  <a:latin typeface="Times New Roman" panose="02020603050405020304" pitchFamily="18" charset="0"/>
                </a:rPr>
                <a:t>1   1</a:t>
              </a:r>
            </a:p>
            <a:p>
              <a:pPr>
                <a:lnSpc>
                  <a:spcPct val="120000"/>
                </a:lnSpc>
              </a:pPr>
              <a:r>
                <a:rPr lang="en-US" altLang="zh-CN" sz="2800" dirty="0">
                  <a:latin typeface="Times New Roman" panose="02020603050405020304" pitchFamily="18" charset="0"/>
                </a:rPr>
                <a:t>0   0</a:t>
              </a:r>
            </a:p>
          </p:txBody>
        </p:sp>
        <p:sp>
          <p:nvSpPr>
            <p:cNvPr id="28713" name="Text Box 15"/>
            <p:cNvSpPr txBox="1"/>
            <p:nvPr/>
          </p:nvSpPr>
          <p:spPr>
            <a:xfrm>
              <a:off x="3465" y="2144"/>
              <a:ext cx="574" cy="1350"/>
            </a:xfrm>
            <a:prstGeom prst="rect">
              <a:avLst/>
            </a:prstGeom>
            <a:noFill/>
            <a:ln w="19050">
              <a:noFill/>
            </a:ln>
          </p:spPr>
          <p:txBody>
            <a:bodyPr wrap="none">
              <a:spAutoFit/>
            </a:bodyPr>
            <a:lstStyle/>
            <a:p>
              <a:pPr>
                <a:lnSpc>
                  <a:spcPct val="120000"/>
                </a:lnSpc>
              </a:pPr>
              <a:r>
                <a:rPr lang="en-US" altLang="zh-CN" sz="2800" dirty="0">
                  <a:latin typeface="Times New Roman" panose="02020603050405020304" pitchFamily="18" charset="0"/>
                </a:rPr>
                <a:t>1   1</a:t>
              </a:r>
            </a:p>
            <a:p>
              <a:pPr>
                <a:lnSpc>
                  <a:spcPct val="120000"/>
                </a:lnSpc>
              </a:pPr>
              <a:r>
                <a:rPr lang="en-US" altLang="zh-CN" sz="2800" dirty="0">
                  <a:latin typeface="Times New Roman" panose="02020603050405020304" pitchFamily="18" charset="0"/>
                </a:rPr>
                <a:t>0   0</a:t>
              </a:r>
            </a:p>
            <a:p>
              <a:pPr>
                <a:lnSpc>
                  <a:spcPct val="120000"/>
                </a:lnSpc>
              </a:pPr>
              <a:r>
                <a:rPr lang="en-US" altLang="zh-CN" sz="2800" dirty="0">
                  <a:latin typeface="Times New Roman" panose="02020603050405020304" pitchFamily="18" charset="0"/>
                </a:rPr>
                <a:t>0   1</a:t>
              </a:r>
            </a:p>
            <a:p>
              <a:pPr>
                <a:lnSpc>
                  <a:spcPct val="120000"/>
                </a:lnSpc>
              </a:pPr>
              <a:r>
                <a:rPr lang="en-US" altLang="zh-CN" sz="2800" dirty="0">
                  <a:latin typeface="Times New Roman" panose="02020603050405020304" pitchFamily="18" charset="0"/>
                </a:rPr>
                <a:t>1   0</a:t>
              </a:r>
            </a:p>
          </p:txBody>
        </p:sp>
      </p:grpSp>
      <p:grpSp>
        <p:nvGrpSpPr>
          <p:cNvPr id="3" name="Group 41"/>
          <p:cNvGrpSpPr/>
          <p:nvPr/>
        </p:nvGrpSpPr>
        <p:grpSpPr>
          <a:xfrm>
            <a:off x="5675313" y="1990725"/>
            <a:ext cx="2990850" cy="3692525"/>
            <a:chOff x="3641" y="1254"/>
            <a:chExt cx="1884" cy="2326"/>
          </a:xfrm>
        </p:grpSpPr>
        <p:sp>
          <p:nvSpPr>
            <p:cNvPr id="28677" name="Oval 17"/>
            <p:cNvSpPr/>
            <p:nvPr/>
          </p:nvSpPr>
          <p:spPr>
            <a:xfrm>
              <a:off x="3780" y="1778"/>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lstStyle/>
            <a:p>
              <a:pPr algn="ctr"/>
              <a:r>
                <a:rPr lang="en-US" altLang="zh-CN" sz="2800" dirty="0">
                  <a:latin typeface="Times New Roman" panose="02020603050405020304" pitchFamily="18" charset="0"/>
                </a:rPr>
                <a:t>00</a:t>
              </a:r>
            </a:p>
          </p:txBody>
        </p:sp>
        <p:sp>
          <p:nvSpPr>
            <p:cNvPr id="28678" name="Oval 18"/>
            <p:cNvSpPr/>
            <p:nvPr/>
          </p:nvSpPr>
          <p:spPr>
            <a:xfrm>
              <a:off x="4977" y="1778"/>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lstStyle/>
            <a:p>
              <a:pPr algn="ctr"/>
              <a:r>
                <a:rPr lang="en-US" altLang="zh-CN" sz="2800" dirty="0">
                  <a:latin typeface="Times New Roman" panose="02020603050405020304" pitchFamily="18" charset="0"/>
                </a:rPr>
                <a:t>01</a:t>
              </a:r>
            </a:p>
          </p:txBody>
        </p:sp>
        <p:sp>
          <p:nvSpPr>
            <p:cNvPr id="28679" name="Oval 19"/>
            <p:cNvSpPr/>
            <p:nvPr/>
          </p:nvSpPr>
          <p:spPr>
            <a:xfrm>
              <a:off x="4977" y="2953"/>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lstStyle/>
            <a:p>
              <a:pPr algn="ctr"/>
              <a:r>
                <a:rPr lang="en-US" altLang="zh-CN" sz="2800" dirty="0">
                  <a:latin typeface="Times New Roman" panose="02020603050405020304" pitchFamily="18" charset="0"/>
                </a:rPr>
                <a:t>10</a:t>
              </a:r>
            </a:p>
          </p:txBody>
        </p:sp>
        <p:sp>
          <p:nvSpPr>
            <p:cNvPr id="28680" name="Oval 20"/>
            <p:cNvSpPr/>
            <p:nvPr/>
          </p:nvSpPr>
          <p:spPr>
            <a:xfrm>
              <a:off x="3780" y="2953"/>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lstStyle/>
            <a:p>
              <a:pPr algn="ctr"/>
              <a:r>
                <a:rPr lang="en-US" altLang="zh-CN" sz="2800" dirty="0">
                  <a:latin typeface="Times New Roman" panose="02020603050405020304" pitchFamily="18" charset="0"/>
                </a:rPr>
                <a:t>11</a:t>
              </a:r>
            </a:p>
          </p:txBody>
        </p:sp>
        <p:sp>
          <p:nvSpPr>
            <p:cNvPr id="28681" name="Freeform 21"/>
            <p:cNvSpPr/>
            <p:nvPr/>
          </p:nvSpPr>
          <p:spPr>
            <a:xfrm>
              <a:off x="4211" y="1852"/>
              <a:ext cx="778" cy="80"/>
            </a:xfrm>
            <a:custGeom>
              <a:avLst/>
              <a:gdLst>
                <a:gd name="txL" fmla="*/ 0 w 644"/>
                <a:gd name="txT" fmla="*/ 0 h 157"/>
                <a:gd name="txR" fmla="*/ 644 w 644"/>
                <a:gd name="txB" fmla="*/ 157 h 157"/>
              </a:gdLst>
              <a:ahLst/>
              <a:cxnLst>
                <a:cxn ang="0">
                  <a:pos x="0" y="41"/>
                </a:cxn>
                <a:cxn ang="0">
                  <a:pos x="454" y="1"/>
                </a:cxn>
                <a:cxn ang="0">
                  <a:pos x="940" y="38"/>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lstStyle/>
            <a:p>
              <a:endParaRPr lang="zh-CN" altLang="en-US"/>
            </a:p>
          </p:txBody>
        </p:sp>
        <p:sp>
          <p:nvSpPr>
            <p:cNvPr id="28682" name="Freeform 22"/>
            <p:cNvSpPr/>
            <p:nvPr/>
          </p:nvSpPr>
          <p:spPr>
            <a:xfrm flipH="1" flipV="1">
              <a:off x="4184" y="2059"/>
              <a:ext cx="791" cy="70"/>
            </a:xfrm>
            <a:custGeom>
              <a:avLst/>
              <a:gdLst>
                <a:gd name="txL" fmla="*/ 0 w 644"/>
                <a:gd name="txT" fmla="*/ 0 h 157"/>
                <a:gd name="txR" fmla="*/ 644 w 644"/>
                <a:gd name="txB" fmla="*/ 157 h 157"/>
              </a:gdLst>
              <a:ahLst/>
              <a:cxnLst>
                <a:cxn ang="0">
                  <a:pos x="0" y="31"/>
                </a:cxn>
                <a:cxn ang="0">
                  <a:pos x="469" y="0"/>
                </a:cxn>
                <a:cxn ang="0">
                  <a:pos x="972" y="29"/>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lstStyle/>
            <a:p>
              <a:endParaRPr lang="zh-CN" altLang="en-US"/>
            </a:p>
          </p:txBody>
        </p:sp>
        <p:grpSp>
          <p:nvGrpSpPr>
            <p:cNvPr id="28683" name="Group 25"/>
            <p:cNvGrpSpPr/>
            <p:nvPr/>
          </p:nvGrpSpPr>
          <p:grpSpPr>
            <a:xfrm>
              <a:off x="4184" y="3039"/>
              <a:ext cx="805" cy="277"/>
              <a:chOff x="4184" y="2797"/>
              <a:chExt cx="805" cy="277"/>
            </a:xfrm>
          </p:grpSpPr>
          <p:sp>
            <p:nvSpPr>
              <p:cNvPr id="28699" name="Freeform 23"/>
              <p:cNvSpPr/>
              <p:nvPr/>
            </p:nvSpPr>
            <p:spPr>
              <a:xfrm>
                <a:off x="4211" y="2797"/>
                <a:ext cx="778" cy="80"/>
              </a:xfrm>
              <a:custGeom>
                <a:avLst/>
                <a:gdLst>
                  <a:gd name="txL" fmla="*/ 0 w 644"/>
                  <a:gd name="txT" fmla="*/ 0 h 157"/>
                  <a:gd name="txR" fmla="*/ 644 w 644"/>
                  <a:gd name="txB" fmla="*/ 157 h 157"/>
                </a:gdLst>
                <a:ahLst/>
                <a:cxnLst>
                  <a:cxn ang="0">
                    <a:pos x="0" y="41"/>
                  </a:cxn>
                  <a:cxn ang="0">
                    <a:pos x="454" y="1"/>
                  </a:cxn>
                  <a:cxn ang="0">
                    <a:pos x="940" y="38"/>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lstStyle/>
              <a:p>
                <a:endParaRPr lang="zh-CN" altLang="en-US"/>
              </a:p>
            </p:txBody>
          </p:sp>
          <p:sp>
            <p:nvSpPr>
              <p:cNvPr id="28700" name="Freeform 24"/>
              <p:cNvSpPr/>
              <p:nvPr/>
            </p:nvSpPr>
            <p:spPr>
              <a:xfrm flipH="1" flipV="1">
                <a:off x="4184" y="3004"/>
                <a:ext cx="791" cy="70"/>
              </a:xfrm>
              <a:custGeom>
                <a:avLst/>
                <a:gdLst>
                  <a:gd name="txL" fmla="*/ 0 w 644"/>
                  <a:gd name="txT" fmla="*/ 0 h 157"/>
                  <a:gd name="txR" fmla="*/ 644 w 644"/>
                  <a:gd name="txB" fmla="*/ 157 h 157"/>
                </a:gdLst>
                <a:ahLst/>
                <a:cxnLst>
                  <a:cxn ang="0">
                    <a:pos x="0" y="31"/>
                  </a:cxn>
                  <a:cxn ang="0">
                    <a:pos x="469" y="0"/>
                  </a:cxn>
                  <a:cxn ang="0">
                    <a:pos x="972" y="29"/>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lstStyle/>
              <a:p>
                <a:endParaRPr lang="zh-CN" altLang="en-US"/>
              </a:p>
            </p:txBody>
          </p:sp>
        </p:grpSp>
        <p:grpSp>
          <p:nvGrpSpPr>
            <p:cNvPr id="28684" name="Group 26"/>
            <p:cNvGrpSpPr/>
            <p:nvPr/>
          </p:nvGrpSpPr>
          <p:grpSpPr>
            <a:xfrm rot="5400000">
              <a:off x="3580" y="2438"/>
              <a:ext cx="805" cy="277"/>
              <a:chOff x="4184" y="2797"/>
              <a:chExt cx="805" cy="277"/>
            </a:xfrm>
          </p:grpSpPr>
          <p:sp>
            <p:nvSpPr>
              <p:cNvPr id="28697" name="Freeform 27"/>
              <p:cNvSpPr/>
              <p:nvPr/>
            </p:nvSpPr>
            <p:spPr>
              <a:xfrm>
                <a:off x="4211" y="2797"/>
                <a:ext cx="778" cy="80"/>
              </a:xfrm>
              <a:custGeom>
                <a:avLst/>
                <a:gdLst>
                  <a:gd name="txL" fmla="*/ 0 w 644"/>
                  <a:gd name="txT" fmla="*/ 0 h 157"/>
                  <a:gd name="txR" fmla="*/ 644 w 644"/>
                  <a:gd name="txB" fmla="*/ 157 h 157"/>
                </a:gdLst>
                <a:ahLst/>
                <a:cxnLst>
                  <a:cxn ang="0">
                    <a:pos x="0" y="41"/>
                  </a:cxn>
                  <a:cxn ang="0">
                    <a:pos x="454" y="1"/>
                  </a:cxn>
                  <a:cxn ang="0">
                    <a:pos x="940" y="38"/>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lstStyle/>
              <a:p>
                <a:endParaRPr lang="zh-CN" altLang="en-US"/>
              </a:p>
            </p:txBody>
          </p:sp>
          <p:sp>
            <p:nvSpPr>
              <p:cNvPr id="28698" name="Freeform 28"/>
              <p:cNvSpPr/>
              <p:nvPr/>
            </p:nvSpPr>
            <p:spPr>
              <a:xfrm flipH="1" flipV="1">
                <a:off x="4184" y="3004"/>
                <a:ext cx="791" cy="70"/>
              </a:xfrm>
              <a:custGeom>
                <a:avLst/>
                <a:gdLst>
                  <a:gd name="txL" fmla="*/ 0 w 644"/>
                  <a:gd name="txT" fmla="*/ 0 h 157"/>
                  <a:gd name="txR" fmla="*/ 644 w 644"/>
                  <a:gd name="txB" fmla="*/ 157 h 157"/>
                </a:gdLst>
                <a:ahLst/>
                <a:cxnLst>
                  <a:cxn ang="0">
                    <a:pos x="0" y="31"/>
                  </a:cxn>
                  <a:cxn ang="0">
                    <a:pos x="469" y="0"/>
                  </a:cxn>
                  <a:cxn ang="0">
                    <a:pos x="972" y="29"/>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lstStyle/>
              <a:p>
                <a:endParaRPr lang="zh-CN" altLang="en-US"/>
              </a:p>
            </p:txBody>
          </p:sp>
        </p:grpSp>
        <p:grpSp>
          <p:nvGrpSpPr>
            <p:cNvPr id="28685" name="Group 29"/>
            <p:cNvGrpSpPr/>
            <p:nvPr/>
          </p:nvGrpSpPr>
          <p:grpSpPr>
            <a:xfrm rot="5400000">
              <a:off x="4780" y="2438"/>
              <a:ext cx="805" cy="277"/>
              <a:chOff x="4184" y="2797"/>
              <a:chExt cx="805" cy="277"/>
            </a:xfrm>
          </p:grpSpPr>
          <p:sp>
            <p:nvSpPr>
              <p:cNvPr id="28695" name="Freeform 30"/>
              <p:cNvSpPr/>
              <p:nvPr/>
            </p:nvSpPr>
            <p:spPr>
              <a:xfrm>
                <a:off x="4211" y="2797"/>
                <a:ext cx="778" cy="80"/>
              </a:xfrm>
              <a:custGeom>
                <a:avLst/>
                <a:gdLst>
                  <a:gd name="txL" fmla="*/ 0 w 644"/>
                  <a:gd name="txT" fmla="*/ 0 h 157"/>
                  <a:gd name="txR" fmla="*/ 644 w 644"/>
                  <a:gd name="txB" fmla="*/ 157 h 157"/>
                </a:gdLst>
                <a:ahLst/>
                <a:cxnLst>
                  <a:cxn ang="0">
                    <a:pos x="0" y="41"/>
                  </a:cxn>
                  <a:cxn ang="0">
                    <a:pos x="454" y="1"/>
                  </a:cxn>
                  <a:cxn ang="0">
                    <a:pos x="940" y="38"/>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lstStyle/>
              <a:p>
                <a:endParaRPr lang="zh-CN" altLang="en-US"/>
              </a:p>
            </p:txBody>
          </p:sp>
          <p:sp>
            <p:nvSpPr>
              <p:cNvPr id="28696" name="Freeform 31"/>
              <p:cNvSpPr/>
              <p:nvPr/>
            </p:nvSpPr>
            <p:spPr>
              <a:xfrm flipH="1" flipV="1">
                <a:off x="4184" y="3004"/>
                <a:ext cx="791" cy="70"/>
              </a:xfrm>
              <a:custGeom>
                <a:avLst/>
                <a:gdLst>
                  <a:gd name="txL" fmla="*/ 0 w 644"/>
                  <a:gd name="txT" fmla="*/ 0 h 157"/>
                  <a:gd name="txR" fmla="*/ 644 w 644"/>
                  <a:gd name="txB" fmla="*/ 157 h 157"/>
                </a:gdLst>
                <a:ahLst/>
                <a:cxnLst>
                  <a:cxn ang="0">
                    <a:pos x="0" y="31"/>
                  </a:cxn>
                  <a:cxn ang="0">
                    <a:pos x="469" y="0"/>
                  </a:cxn>
                  <a:cxn ang="0">
                    <a:pos x="972" y="29"/>
                  </a:cxn>
                </a:cxnLst>
                <a:rect l="txL" t="txT" r="txR" b="txB"/>
                <a:pathLst>
                  <a:path w="644" h="157">
                    <a:moveTo>
                      <a:pt x="0" y="157"/>
                    </a:moveTo>
                    <a:cubicBezTo>
                      <a:pt x="102" y="80"/>
                      <a:pt x="204" y="4"/>
                      <a:pt x="311" y="2"/>
                    </a:cubicBezTo>
                    <a:cubicBezTo>
                      <a:pt x="418" y="0"/>
                      <a:pt x="531" y="73"/>
                      <a:pt x="644" y="146"/>
                    </a:cubicBezTo>
                  </a:path>
                </a:pathLst>
              </a:custGeom>
              <a:noFill/>
              <a:ln w="19050" cap="flat" cmpd="sng">
                <a:solidFill>
                  <a:srgbClr val="3333FF">
                    <a:alpha val="100000"/>
                  </a:srgbClr>
                </a:solidFill>
                <a:prstDash val="solid"/>
                <a:round/>
                <a:headEnd type="none" w="med" len="med"/>
                <a:tailEnd type="triangle" w="sm" len="lg"/>
              </a:ln>
            </p:spPr>
            <p:txBody>
              <a:bodyPr/>
              <a:lstStyle/>
              <a:p>
                <a:endParaRPr lang="zh-CN" altLang="en-US"/>
              </a:p>
            </p:txBody>
          </p:sp>
        </p:grpSp>
        <p:sp>
          <p:nvSpPr>
            <p:cNvPr id="28686" name="Text Box 32"/>
            <p:cNvSpPr txBox="1"/>
            <p:nvPr/>
          </p:nvSpPr>
          <p:spPr>
            <a:xfrm>
              <a:off x="4475" y="1575"/>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28687" name="Text Box 33"/>
            <p:cNvSpPr txBox="1"/>
            <p:nvPr/>
          </p:nvSpPr>
          <p:spPr>
            <a:xfrm>
              <a:off x="4475" y="208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28688" name="Text Box 34"/>
            <p:cNvSpPr txBox="1"/>
            <p:nvPr/>
          </p:nvSpPr>
          <p:spPr>
            <a:xfrm>
              <a:off x="4086" y="242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28689" name="Text Box 35"/>
            <p:cNvSpPr txBox="1"/>
            <p:nvPr/>
          </p:nvSpPr>
          <p:spPr>
            <a:xfrm>
              <a:off x="3641" y="242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28690" name="Text Box 36"/>
            <p:cNvSpPr txBox="1"/>
            <p:nvPr/>
          </p:nvSpPr>
          <p:spPr>
            <a:xfrm>
              <a:off x="4475" y="3253"/>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28691" name="Text Box 37"/>
            <p:cNvSpPr txBox="1"/>
            <p:nvPr/>
          </p:nvSpPr>
          <p:spPr>
            <a:xfrm>
              <a:off x="4475" y="2787"/>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28692" name="Text Box 38"/>
            <p:cNvSpPr txBox="1"/>
            <p:nvPr/>
          </p:nvSpPr>
          <p:spPr>
            <a:xfrm>
              <a:off x="4864" y="242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28693" name="Text Box 39"/>
            <p:cNvSpPr txBox="1"/>
            <p:nvPr/>
          </p:nvSpPr>
          <p:spPr>
            <a:xfrm>
              <a:off x="5297" y="242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28694" name="Text Box 40"/>
            <p:cNvSpPr txBox="1"/>
            <p:nvPr/>
          </p:nvSpPr>
          <p:spPr>
            <a:xfrm>
              <a:off x="4454" y="1254"/>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x</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739775" y="1387475"/>
            <a:ext cx="7664450"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第四步：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用时间图和文字描述电路和逻辑功能。</a:t>
            </a:r>
          </a:p>
        </p:txBody>
      </p:sp>
      <p:sp>
        <p:nvSpPr>
          <p:cNvPr id="45059" name="Text Box 3"/>
          <p:cNvSpPr txBox="1"/>
          <p:nvPr/>
        </p:nvSpPr>
        <p:spPr>
          <a:xfrm>
            <a:off x="809625" y="2112963"/>
            <a:ext cx="7847013" cy="523875"/>
          </a:xfrm>
          <a:prstGeom prst="rect">
            <a:avLst/>
          </a:prstGeom>
          <a:noFill/>
          <a:ln w="19050">
            <a:noFill/>
          </a:ln>
        </p:spPr>
        <p:txBody>
          <a:bodyPr wrap="none">
            <a:spAutoFit/>
          </a:bodyPr>
          <a:lstStyle/>
          <a:p>
            <a:r>
              <a:rPr lang="zh-CN" altLang="en-US" sz="2800" dirty="0">
                <a:latin typeface="Times New Roman" panose="02020603050405020304" pitchFamily="18" charset="0"/>
              </a:rPr>
              <a:t>当</a:t>
            </a:r>
            <a:r>
              <a:rPr lang="en-US" altLang="zh-CN" sz="2800" dirty="0">
                <a:latin typeface="Times New Roman" panose="02020603050405020304" pitchFamily="18" charset="0"/>
              </a:rPr>
              <a:t>x=0</a:t>
            </a:r>
            <a:r>
              <a:rPr lang="zh-CN" altLang="zh-CN" sz="2800" dirty="0">
                <a:latin typeface="Times New Roman" panose="02020603050405020304" pitchFamily="18" charset="0"/>
              </a:rPr>
              <a:t>时,该电路进行</a:t>
            </a:r>
            <a:r>
              <a:rPr lang="zh-CN" altLang="en-US" sz="2800" dirty="0">
                <a:latin typeface="Times New Roman" panose="02020603050405020304" pitchFamily="18" charset="0"/>
              </a:rPr>
              <a:t>同步模</a:t>
            </a:r>
            <a:r>
              <a:rPr lang="en-US" altLang="zh-CN" sz="2800" dirty="0">
                <a:latin typeface="Times New Roman" panose="02020603050405020304" pitchFamily="18" charset="0"/>
              </a:rPr>
              <a:t>4</a:t>
            </a:r>
            <a:r>
              <a:rPr lang="zh-CN" altLang="zh-CN" sz="2800" dirty="0">
                <a:latin typeface="Times New Roman" panose="02020603050405020304" pitchFamily="18" charset="0"/>
              </a:rPr>
              <a:t>加1计数,计数序列为:</a:t>
            </a:r>
            <a:endParaRPr lang="en-US" altLang="zh-CN" sz="2800" dirty="0">
              <a:latin typeface="Times New Roman" panose="02020603050405020304" pitchFamily="18" charset="0"/>
            </a:endParaRPr>
          </a:p>
        </p:txBody>
      </p:sp>
      <p:grpSp>
        <p:nvGrpSpPr>
          <p:cNvPr id="2" name="Group 13"/>
          <p:cNvGrpSpPr/>
          <p:nvPr/>
        </p:nvGrpSpPr>
        <p:grpSpPr>
          <a:xfrm>
            <a:off x="1957388" y="2801938"/>
            <a:ext cx="4375150" cy="1042987"/>
            <a:chOff x="1311" y="1965"/>
            <a:chExt cx="2756" cy="657"/>
          </a:xfrm>
        </p:grpSpPr>
        <p:sp>
          <p:nvSpPr>
            <p:cNvPr id="29711" name="Text Box 4"/>
            <p:cNvSpPr txBox="1"/>
            <p:nvPr/>
          </p:nvSpPr>
          <p:spPr>
            <a:xfrm>
              <a:off x="1453" y="1965"/>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29712" name="Text Box 5"/>
            <p:cNvSpPr txBox="1"/>
            <p:nvPr/>
          </p:nvSpPr>
          <p:spPr>
            <a:xfrm>
              <a:off x="2156" y="1965"/>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29713" name="Text Box 6"/>
            <p:cNvSpPr txBox="1"/>
            <p:nvPr/>
          </p:nvSpPr>
          <p:spPr>
            <a:xfrm>
              <a:off x="2860" y="1965"/>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29714" name="Text Box 7"/>
            <p:cNvSpPr txBox="1"/>
            <p:nvPr/>
          </p:nvSpPr>
          <p:spPr>
            <a:xfrm>
              <a:off x="3564" y="1965"/>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29715" name="Line 8"/>
            <p:cNvSpPr/>
            <p:nvPr/>
          </p:nvSpPr>
          <p:spPr>
            <a:xfrm>
              <a:off x="1767" y="2144"/>
              <a:ext cx="444" cy="0"/>
            </a:xfrm>
            <a:prstGeom prst="line">
              <a:avLst/>
            </a:prstGeom>
            <a:ln w="19050" cap="flat" cmpd="sng">
              <a:solidFill>
                <a:srgbClr val="3333FF"/>
              </a:solidFill>
              <a:prstDash val="solid"/>
              <a:headEnd type="none" w="med" len="med"/>
              <a:tailEnd type="triangle" w="sm" len="lg"/>
            </a:ln>
          </p:spPr>
        </p:sp>
        <p:sp>
          <p:nvSpPr>
            <p:cNvPr id="29716" name="Line 9"/>
            <p:cNvSpPr/>
            <p:nvPr/>
          </p:nvSpPr>
          <p:spPr>
            <a:xfrm>
              <a:off x="2456" y="2144"/>
              <a:ext cx="444" cy="0"/>
            </a:xfrm>
            <a:prstGeom prst="line">
              <a:avLst/>
            </a:prstGeom>
            <a:ln w="19050" cap="flat" cmpd="sng">
              <a:solidFill>
                <a:srgbClr val="3333FF"/>
              </a:solidFill>
              <a:prstDash val="solid"/>
              <a:headEnd type="none" w="med" len="med"/>
              <a:tailEnd type="triangle" w="sm" len="lg"/>
            </a:ln>
          </p:spPr>
        </p:sp>
        <p:sp>
          <p:nvSpPr>
            <p:cNvPr id="29717" name="Line 10"/>
            <p:cNvSpPr/>
            <p:nvPr/>
          </p:nvSpPr>
          <p:spPr>
            <a:xfrm>
              <a:off x="3167" y="2144"/>
              <a:ext cx="444" cy="0"/>
            </a:xfrm>
            <a:prstGeom prst="line">
              <a:avLst/>
            </a:prstGeom>
            <a:ln w="19050" cap="flat" cmpd="sng">
              <a:solidFill>
                <a:srgbClr val="3333FF"/>
              </a:solidFill>
              <a:prstDash val="solid"/>
              <a:headEnd type="none" w="med" len="med"/>
              <a:tailEnd type="triangle" w="sm" len="lg"/>
            </a:ln>
          </p:spPr>
        </p:sp>
        <p:sp>
          <p:nvSpPr>
            <p:cNvPr id="29718" name="Freeform 11"/>
            <p:cNvSpPr/>
            <p:nvPr/>
          </p:nvSpPr>
          <p:spPr>
            <a:xfrm>
              <a:off x="1311" y="2144"/>
              <a:ext cx="2756" cy="478"/>
            </a:xfrm>
            <a:custGeom>
              <a:avLst/>
              <a:gdLst>
                <a:gd name="txL" fmla="*/ 0 w 2756"/>
                <a:gd name="txT" fmla="*/ 0 h 478"/>
                <a:gd name="txR" fmla="*/ 2756 w 2756"/>
                <a:gd name="txB" fmla="*/ 478 h 478"/>
              </a:gdLst>
              <a:ahLst/>
              <a:cxnLst>
                <a:cxn ang="0">
                  <a:pos x="2545" y="0"/>
                </a:cxn>
                <a:cxn ang="0">
                  <a:pos x="2756" y="0"/>
                </a:cxn>
                <a:cxn ang="0">
                  <a:pos x="2756" y="478"/>
                </a:cxn>
                <a:cxn ang="0">
                  <a:pos x="0" y="478"/>
                </a:cxn>
                <a:cxn ang="0">
                  <a:pos x="0" y="0"/>
                </a:cxn>
                <a:cxn ang="0">
                  <a:pos x="178" y="0"/>
                </a:cxn>
              </a:cxnLst>
              <a:rect l="txL" t="txT" r="txR" b="txB"/>
              <a:pathLst>
                <a:path w="2756" h="478">
                  <a:moveTo>
                    <a:pt x="2545" y="0"/>
                  </a:moveTo>
                  <a:lnTo>
                    <a:pt x="2756" y="0"/>
                  </a:lnTo>
                  <a:lnTo>
                    <a:pt x="2756" y="478"/>
                  </a:lnTo>
                  <a:lnTo>
                    <a:pt x="0" y="478"/>
                  </a:lnTo>
                  <a:lnTo>
                    <a:pt x="0" y="0"/>
                  </a:lnTo>
                  <a:lnTo>
                    <a:pt x="178" y="0"/>
                  </a:lnTo>
                </a:path>
              </a:pathLst>
            </a:custGeom>
            <a:noFill/>
            <a:ln w="19050" cap="flat" cmpd="sng">
              <a:solidFill>
                <a:srgbClr val="3333FF">
                  <a:alpha val="100000"/>
                </a:srgbClr>
              </a:solidFill>
              <a:prstDash val="solid"/>
              <a:round/>
              <a:headEnd type="none" w="med" len="med"/>
              <a:tailEnd type="triangle" w="sm" len="lg"/>
            </a:ln>
          </p:spPr>
          <p:txBody>
            <a:bodyPr/>
            <a:lstStyle/>
            <a:p>
              <a:endParaRPr lang="zh-CN" altLang="en-US"/>
            </a:p>
          </p:txBody>
        </p:sp>
      </p:grpSp>
      <p:sp>
        <p:nvSpPr>
          <p:cNvPr id="45068" name="Text Box 12"/>
          <p:cNvSpPr txBox="1"/>
          <p:nvPr/>
        </p:nvSpPr>
        <p:spPr>
          <a:xfrm>
            <a:off x="809625" y="4035425"/>
            <a:ext cx="7847013" cy="523875"/>
          </a:xfrm>
          <a:prstGeom prst="rect">
            <a:avLst/>
          </a:prstGeom>
          <a:noFill/>
          <a:ln w="19050">
            <a:noFill/>
          </a:ln>
        </p:spPr>
        <p:txBody>
          <a:bodyPr wrap="none">
            <a:spAutoFit/>
          </a:bodyPr>
          <a:lstStyle/>
          <a:p>
            <a:r>
              <a:rPr lang="zh-CN" altLang="en-US" sz="2800" dirty="0">
                <a:latin typeface="Times New Roman" panose="02020603050405020304" pitchFamily="18" charset="0"/>
              </a:rPr>
              <a:t>当</a:t>
            </a:r>
            <a:r>
              <a:rPr lang="en-US" altLang="zh-CN" sz="2800" dirty="0">
                <a:latin typeface="Times New Roman" panose="02020603050405020304" pitchFamily="18" charset="0"/>
              </a:rPr>
              <a:t>x=1</a:t>
            </a:r>
            <a:r>
              <a:rPr lang="zh-CN" altLang="zh-CN" sz="2800" dirty="0">
                <a:latin typeface="Times New Roman" panose="02020603050405020304" pitchFamily="18" charset="0"/>
              </a:rPr>
              <a:t>时,该电路进行</a:t>
            </a:r>
            <a:r>
              <a:rPr lang="zh-CN" altLang="en-US" sz="2800" dirty="0">
                <a:latin typeface="Times New Roman" panose="02020603050405020304" pitchFamily="18" charset="0"/>
              </a:rPr>
              <a:t>同步模</a:t>
            </a:r>
            <a:r>
              <a:rPr lang="en-US" altLang="zh-CN" sz="2800" dirty="0">
                <a:latin typeface="Times New Roman" panose="02020603050405020304" pitchFamily="18" charset="0"/>
              </a:rPr>
              <a:t>4</a:t>
            </a:r>
            <a:r>
              <a:rPr lang="zh-CN" altLang="zh-CN" sz="2800" dirty="0">
                <a:latin typeface="Times New Roman" panose="02020603050405020304" pitchFamily="18" charset="0"/>
              </a:rPr>
              <a:t>减1计数,计数序列为:</a:t>
            </a:r>
            <a:endParaRPr lang="en-US" altLang="zh-CN" sz="2800" dirty="0">
              <a:latin typeface="Times New Roman" panose="02020603050405020304" pitchFamily="18" charset="0"/>
            </a:endParaRPr>
          </a:p>
        </p:txBody>
      </p:sp>
      <p:grpSp>
        <p:nvGrpSpPr>
          <p:cNvPr id="3" name="Group 14"/>
          <p:cNvGrpSpPr/>
          <p:nvPr/>
        </p:nvGrpSpPr>
        <p:grpSpPr>
          <a:xfrm>
            <a:off x="1957388" y="4583113"/>
            <a:ext cx="4375150" cy="1042987"/>
            <a:chOff x="1311" y="1965"/>
            <a:chExt cx="2756" cy="657"/>
          </a:xfrm>
        </p:grpSpPr>
        <p:sp>
          <p:nvSpPr>
            <p:cNvPr id="29703" name="Text Box 15"/>
            <p:cNvSpPr txBox="1"/>
            <p:nvPr/>
          </p:nvSpPr>
          <p:spPr>
            <a:xfrm>
              <a:off x="1453" y="1965"/>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29704" name="Text Box 16"/>
            <p:cNvSpPr txBox="1"/>
            <p:nvPr/>
          </p:nvSpPr>
          <p:spPr>
            <a:xfrm>
              <a:off x="2156" y="1965"/>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29705" name="Text Box 17"/>
            <p:cNvSpPr txBox="1"/>
            <p:nvPr/>
          </p:nvSpPr>
          <p:spPr>
            <a:xfrm>
              <a:off x="2860" y="1965"/>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29706" name="Text Box 18"/>
            <p:cNvSpPr txBox="1"/>
            <p:nvPr/>
          </p:nvSpPr>
          <p:spPr>
            <a:xfrm>
              <a:off x="3564" y="1965"/>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29707" name="Line 19"/>
            <p:cNvSpPr/>
            <p:nvPr/>
          </p:nvSpPr>
          <p:spPr>
            <a:xfrm>
              <a:off x="1767" y="2144"/>
              <a:ext cx="444" cy="0"/>
            </a:xfrm>
            <a:prstGeom prst="line">
              <a:avLst/>
            </a:prstGeom>
            <a:ln w="19050" cap="flat" cmpd="sng">
              <a:solidFill>
                <a:srgbClr val="3333FF"/>
              </a:solidFill>
              <a:prstDash val="solid"/>
              <a:headEnd type="none" w="med" len="med"/>
              <a:tailEnd type="triangle" w="sm" len="lg"/>
            </a:ln>
          </p:spPr>
        </p:sp>
        <p:sp>
          <p:nvSpPr>
            <p:cNvPr id="29708" name="Line 20"/>
            <p:cNvSpPr/>
            <p:nvPr/>
          </p:nvSpPr>
          <p:spPr>
            <a:xfrm>
              <a:off x="2456" y="2144"/>
              <a:ext cx="444" cy="0"/>
            </a:xfrm>
            <a:prstGeom prst="line">
              <a:avLst/>
            </a:prstGeom>
            <a:ln w="19050" cap="flat" cmpd="sng">
              <a:solidFill>
                <a:srgbClr val="3333FF"/>
              </a:solidFill>
              <a:prstDash val="solid"/>
              <a:headEnd type="none" w="med" len="med"/>
              <a:tailEnd type="triangle" w="sm" len="lg"/>
            </a:ln>
          </p:spPr>
        </p:sp>
        <p:sp>
          <p:nvSpPr>
            <p:cNvPr id="29709" name="Line 21"/>
            <p:cNvSpPr/>
            <p:nvPr/>
          </p:nvSpPr>
          <p:spPr>
            <a:xfrm>
              <a:off x="3167" y="2144"/>
              <a:ext cx="444" cy="0"/>
            </a:xfrm>
            <a:prstGeom prst="line">
              <a:avLst/>
            </a:prstGeom>
            <a:ln w="19050" cap="flat" cmpd="sng">
              <a:solidFill>
                <a:srgbClr val="3333FF"/>
              </a:solidFill>
              <a:prstDash val="solid"/>
              <a:headEnd type="none" w="med" len="med"/>
              <a:tailEnd type="triangle" w="sm" len="lg"/>
            </a:ln>
          </p:spPr>
        </p:sp>
        <p:sp>
          <p:nvSpPr>
            <p:cNvPr id="29710" name="Freeform 22"/>
            <p:cNvSpPr/>
            <p:nvPr/>
          </p:nvSpPr>
          <p:spPr>
            <a:xfrm>
              <a:off x="1311" y="2144"/>
              <a:ext cx="2756" cy="478"/>
            </a:xfrm>
            <a:custGeom>
              <a:avLst/>
              <a:gdLst>
                <a:gd name="txL" fmla="*/ 0 w 2756"/>
                <a:gd name="txT" fmla="*/ 0 h 478"/>
                <a:gd name="txR" fmla="*/ 2756 w 2756"/>
                <a:gd name="txB" fmla="*/ 478 h 478"/>
              </a:gdLst>
              <a:ahLst/>
              <a:cxnLst>
                <a:cxn ang="0">
                  <a:pos x="2545" y="0"/>
                </a:cxn>
                <a:cxn ang="0">
                  <a:pos x="2756" y="0"/>
                </a:cxn>
                <a:cxn ang="0">
                  <a:pos x="2756" y="478"/>
                </a:cxn>
                <a:cxn ang="0">
                  <a:pos x="0" y="478"/>
                </a:cxn>
                <a:cxn ang="0">
                  <a:pos x="0" y="0"/>
                </a:cxn>
                <a:cxn ang="0">
                  <a:pos x="178" y="0"/>
                </a:cxn>
              </a:cxnLst>
              <a:rect l="txL" t="txT" r="txR" b="txB"/>
              <a:pathLst>
                <a:path w="2756" h="478">
                  <a:moveTo>
                    <a:pt x="2545" y="0"/>
                  </a:moveTo>
                  <a:lnTo>
                    <a:pt x="2756" y="0"/>
                  </a:lnTo>
                  <a:lnTo>
                    <a:pt x="2756" y="478"/>
                  </a:lnTo>
                  <a:lnTo>
                    <a:pt x="0" y="478"/>
                  </a:lnTo>
                  <a:lnTo>
                    <a:pt x="0" y="0"/>
                  </a:lnTo>
                  <a:lnTo>
                    <a:pt x="178" y="0"/>
                  </a:lnTo>
                </a:path>
              </a:pathLst>
            </a:custGeom>
            <a:noFill/>
            <a:ln w="19050" cap="flat" cmpd="sng">
              <a:solidFill>
                <a:srgbClr val="3333FF">
                  <a:alpha val="100000"/>
                </a:srgbClr>
              </a:solidFill>
              <a:prstDash val="solid"/>
              <a:round/>
              <a:headEnd type="none" w="med" len="med"/>
              <a:tailEnd type="triangle" w="sm" len="lg"/>
            </a:ln>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058">
                                            <p:txEl>
                                              <p:pRg st="0" end="0"/>
                                            </p:txEl>
                                          </p:spTgt>
                                        </p:tgtEl>
                                        <p:attrNameLst>
                                          <p:attrName>style.visibility</p:attrName>
                                        </p:attrNameLst>
                                      </p:cBhvr>
                                      <p:to>
                                        <p:strVal val="visible"/>
                                      </p:to>
                                    </p:set>
                                    <p:animEffect transition="in" filter="wipe(left)">
                                      <p:cBhvr>
                                        <p:cTn id="7" dur="500"/>
                                        <p:tgtEl>
                                          <p:spTgt spid="450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059">
                                            <p:txEl>
                                              <p:pRg st="0" end="0"/>
                                            </p:txEl>
                                          </p:spTgt>
                                        </p:tgtEl>
                                        <p:attrNameLst>
                                          <p:attrName>style.visibility</p:attrName>
                                        </p:attrNameLst>
                                      </p:cBhvr>
                                      <p:to>
                                        <p:strVal val="visible"/>
                                      </p:to>
                                    </p:set>
                                    <p:animEffect transition="in" filter="wipe(left)">
                                      <p:cBhvr>
                                        <p:cTn id="12" dur="500"/>
                                        <p:tgtEl>
                                          <p:spTgt spid="4505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5068">
                                            <p:txEl>
                                              <p:pRg st="0" end="0"/>
                                            </p:txEl>
                                          </p:spTgt>
                                        </p:tgtEl>
                                        <p:attrNameLst>
                                          <p:attrName>style.visibility</p:attrName>
                                        </p:attrNameLst>
                                      </p:cBhvr>
                                      <p:to>
                                        <p:strVal val="visible"/>
                                      </p:to>
                                    </p:set>
                                    <p:animEffect transition="in" filter="wipe(left)">
                                      <p:cBhvr>
                                        <p:cTn id="22" dur="500"/>
                                        <p:tgtEl>
                                          <p:spTgt spid="4506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build="p"/>
      <p:bldP spid="45059" grpId="0" build="p"/>
      <p:bldP spid="45068"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p:nvPr/>
        </p:nvSpPr>
        <p:spPr>
          <a:xfrm>
            <a:off x="1655763" y="681038"/>
            <a:ext cx="2679700" cy="519112"/>
          </a:xfrm>
          <a:prstGeom prst="rect">
            <a:avLst/>
          </a:prstGeom>
          <a:noFill/>
          <a:ln w="19050">
            <a:noFill/>
          </a:ln>
        </p:spPr>
        <p:txBody>
          <a:bodyPr wrap="none">
            <a:spAutoFit/>
          </a:bodyPr>
          <a:lstStyle/>
          <a:p>
            <a:r>
              <a:rPr lang="zh-CN" altLang="en-US" sz="2800" b="1" dirty="0">
                <a:latin typeface="Times New Roman" panose="02020603050405020304" pitchFamily="18" charset="0"/>
              </a:rPr>
              <a:t>时间图的作法：</a:t>
            </a:r>
          </a:p>
        </p:txBody>
      </p:sp>
      <p:sp>
        <p:nvSpPr>
          <p:cNvPr id="46083" name="Text Box 3"/>
          <p:cNvSpPr txBox="1"/>
          <p:nvPr/>
        </p:nvSpPr>
        <p:spPr>
          <a:xfrm>
            <a:off x="1179513" y="1265238"/>
            <a:ext cx="5019675" cy="519112"/>
          </a:xfrm>
          <a:prstGeom prst="rect">
            <a:avLst/>
          </a:prstGeom>
          <a:noFill/>
          <a:ln w="19050">
            <a:noFill/>
          </a:ln>
        </p:spPr>
        <p:txBody>
          <a:bodyPr wrap="none">
            <a:spAutoFit/>
          </a:bodyPr>
          <a:lstStyle/>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选定一个典型的输入序列；</a:t>
            </a:r>
            <a:endParaRPr lang="zh-CN" altLang="en-US" sz="2800" dirty="0">
              <a:latin typeface="Times New Roman" panose="02020603050405020304" pitchFamily="18" charset="0"/>
            </a:endParaRPr>
          </a:p>
        </p:txBody>
      </p:sp>
      <p:sp>
        <p:nvSpPr>
          <p:cNvPr id="46084" name="Rectangle 4"/>
          <p:cNvSpPr/>
          <p:nvPr/>
        </p:nvSpPr>
        <p:spPr>
          <a:xfrm>
            <a:off x="1179513" y="2344738"/>
            <a:ext cx="7394575" cy="1117600"/>
          </a:xfrm>
          <a:prstGeom prst="rect">
            <a:avLst/>
          </a:prstGeom>
          <a:noFill/>
          <a:ln w="19050">
            <a:noFill/>
          </a:ln>
        </p:spPr>
        <p:txBody>
          <a:bodyPr>
            <a:spAutoFit/>
          </a:bodyPr>
          <a:lstStyle/>
          <a:p>
            <a:pPr marL="476250" indent="-476250">
              <a:lnSpc>
                <a:spcPct val="120000"/>
              </a:lnSpc>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根据选定的典型输入序列，求出状态响应序列</a:t>
            </a:r>
            <a:r>
              <a:rPr lang="en-US" altLang="zh-CN" sz="2800" dirty="0">
                <a:latin typeface="Times New Roman" panose="02020603050405020304" pitchFamily="18" charset="0"/>
                <a:sym typeface="Monotype Sorts" pitchFamily="2" charset="2"/>
              </a:rPr>
              <a:t>(</a:t>
            </a:r>
            <a:r>
              <a:rPr lang="zh-CN" altLang="en-US" sz="2800" dirty="0">
                <a:latin typeface="Times New Roman" panose="02020603050405020304" pitchFamily="18" charset="0"/>
                <a:sym typeface="Monotype Sorts" pitchFamily="2" charset="2"/>
              </a:rPr>
              <a:t>和输出响应序列</a:t>
            </a:r>
            <a:r>
              <a:rPr lang="en-US" altLang="zh-CN" sz="2800" dirty="0">
                <a:latin typeface="Times New Roman" panose="02020603050405020304" pitchFamily="18" charset="0"/>
                <a:sym typeface="Monotype Sorts" pitchFamily="2" charset="2"/>
              </a:rPr>
              <a:t>)</a:t>
            </a:r>
          </a:p>
        </p:txBody>
      </p:sp>
      <p:sp>
        <p:nvSpPr>
          <p:cNvPr id="46086" name="Text Box 6"/>
          <p:cNvSpPr txBox="1"/>
          <p:nvPr/>
        </p:nvSpPr>
        <p:spPr>
          <a:xfrm>
            <a:off x="1619250" y="1830388"/>
            <a:ext cx="6515100" cy="519112"/>
          </a:xfrm>
          <a:prstGeom prst="rect">
            <a:avLst/>
          </a:prstGeom>
          <a:noFill/>
          <a:ln w="19050">
            <a:noFill/>
          </a:ln>
        </p:spPr>
        <p:txBody>
          <a:bodyPr wrap="none">
            <a:spAutoFit/>
          </a:bodyPr>
          <a:lstStyle/>
          <a:p>
            <a:r>
              <a:rPr lang="zh-CN" altLang="en-US" sz="2800" dirty="0">
                <a:latin typeface="Times New Roman" panose="02020603050405020304" pitchFamily="18" charset="0"/>
              </a:rPr>
              <a:t>输入序列为：</a:t>
            </a:r>
            <a:r>
              <a:rPr lang="en-US" altLang="zh-CN" sz="2800" dirty="0">
                <a:latin typeface="Times New Roman" panose="02020603050405020304" pitchFamily="18" charset="0"/>
              </a:rPr>
              <a:t>x=11110000,</a:t>
            </a:r>
            <a:r>
              <a:rPr lang="zh-CN" altLang="zh-CN" sz="2800" dirty="0">
                <a:latin typeface="Times New Roman" panose="02020603050405020304" pitchFamily="18" charset="0"/>
              </a:rPr>
              <a:t>初态：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=00</a:t>
            </a:r>
          </a:p>
        </p:txBody>
      </p:sp>
      <p:sp>
        <p:nvSpPr>
          <p:cNvPr id="46087" name="Text Box 7"/>
          <p:cNvSpPr txBox="1"/>
          <p:nvPr/>
        </p:nvSpPr>
        <p:spPr>
          <a:xfrm>
            <a:off x="1495425" y="3595688"/>
            <a:ext cx="6396038" cy="2911475"/>
          </a:xfrm>
          <a:prstGeom prst="rect">
            <a:avLst/>
          </a:prstGeom>
          <a:noFill/>
          <a:ln w="19050">
            <a:noFill/>
          </a:ln>
        </p:spPr>
        <p:txBody>
          <a:bodyPr>
            <a:spAutoFit/>
          </a:bodyPr>
          <a:lstStyle/>
          <a:p>
            <a:pPr defTabSz="914400">
              <a:lnSpc>
                <a:spcPct val="110000"/>
              </a:lnSpc>
              <a:tabLst>
                <a:tab pos="669925" algn="l"/>
                <a:tab pos="1235075" algn="l"/>
                <a:tab pos="1816100" algn="l"/>
                <a:tab pos="2470150" algn="l"/>
                <a:tab pos="3140075" algn="l"/>
                <a:tab pos="3810000" algn="l"/>
                <a:tab pos="4375150" algn="l"/>
                <a:tab pos="4956175" algn="l"/>
              </a:tabLst>
            </a:pPr>
            <a:r>
              <a:rPr lang="en-US" altLang="zh-CN" sz="2800" dirty="0">
                <a:latin typeface="Times New Roman" panose="02020603050405020304" pitchFamily="18" charset="0"/>
              </a:rPr>
              <a:t>    CP:  1	2	3	4	5	6	7	8</a:t>
            </a:r>
          </a:p>
          <a:p>
            <a:pPr defTabSz="914400">
              <a:lnSpc>
                <a:spcPct val="110000"/>
              </a:lnSpc>
              <a:tabLst>
                <a:tab pos="669925" algn="l"/>
                <a:tab pos="1235075" algn="l"/>
                <a:tab pos="1816100" algn="l"/>
                <a:tab pos="2470150" algn="l"/>
                <a:tab pos="3140075" algn="l"/>
                <a:tab pos="3810000" algn="l"/>
                <a:tab pos="4375150" algn="l"/>
                <a:tab pos="4956175" algn="l"/>
              </a:tabLst>
            </a:pPr>
            <a:r>
              <a:rPr lang="en-US" altLang="zh-CN" sz="2800" dirty="0">
                <a:latin typeface="Times New Roman" panose="02020603050405020304" pitchFamily="18" charset="0"/>
              </a:rPr>
              <a:t>       x:  1	1	1	1	0	0	0	0</a:t>
            </a:r>
          </a:p>
          <a:p>
            <a:pPr defTabSz="914400">
              <a:lnSpc>
                <a:spcPct val="110000"/>
              </a:lnSpc>
              <a:tabLst>
                <a:tab pos="669925" algn="l"/>
                <a:tab pos="1235075" algn="l"/>
                <a:tab pos="1816100" algn="l"/>
                <a:tab pos="2470150" algn="l"/>
                <a:tab pos="3140075" algn="l"/>
                <a:tab pos="3810000" algn="l"/>
                <a:tab pos="4375150" algn="l"/>
                <a:tab pos="4956175" algn="l"/>
              </a:tabLst>
            </a:pP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0	1	1	0	0	0	1	1</a:t>
            </a:r>
          </a:p>
          <a:p>
            <a:pPr defTabSz="914400">
              <a:lnSpc>
                <a:spcPct val="110000"/>
              </a:lnSpc>
              <a:tabLst>
                <a:tab pos="669925" algn="l"/>
                <a:tab pos="1235075" algn="l"/>
                <a:tab pos="1816100" algn="l"/>
                <a:tab pos="2470150" algn="l"/>
                <a:tab pos="3140075" algn="l"/>
                <a:tab pos="3810000" algn="l"/>
                <a:tab pos="4375150" algn="l"/>
                <a:tab pos="4956175" algn="l"/>
              </a:tabLst>
            </a:pP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0	1	0	1	0	1	0	1</a:t>
            </a:r>
          </a:p>
          <a:p>
            <a:pPr defTabSz="914400">
              <a:lnSpc>
                <a:spcPct val="110000"/>
              </a:lnSpc>
              <a:tabLst>
                <a:tab pos="669925" algn="l"/>
                <a:tab pos="1235075" algn="l"/>
                <a:tab pos="1816100" algn="l"/>
                <a:tab pos="2470150" algn="l"/>
                <a:tab pos="3140075" algn="l"/>
                <a:tab pos="3810000" algn="l"/>
                <a:tab pos="4375150" algn="l"/>
                <a:tab pos="4956175" algn="l"/>
              </a:tabLst>
            </a:pP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(n+1)</a:t>
            </a:r>
            <a:r>
              <a:rPr lang="en-US" altLang="zh-CN" sz="2800" dirty="0">
                <a:latin typeface="Times New Roman" panose="02020603050405020304" pitchFamily="18" charset="0"/>
              </a:rPr>
              <a:t>:  1	1	0	0	0	1	1	0 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(n+1)</a:t>
            </a:r>
            <a:r>
              <a:rPr lang="en-US" altLang="zh-CN" sz="2800" dirty="0">
                <a:latin typeface="Times New Roman" panose="02020603050405020304" pitchFamily="18" charset="0"/>
              </a:rPr>
              <a:t>:  1	0	1	0	1	0	1	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wipe(left)">
                                      <p:cBhvr>
                                        <p:cTn id="7" dur="500"/>
                                        <p:tgtEl>
                                          <p:spTgt spid="460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6086">
                                            <p:txEl>
                                              <p:pRg st="0" end="0"/>
                                            </p:txEl>
                                          </p:spTgt>
                                        </p:tgtEl>
                                        <p:attrNameLst>
                                          <p:attrName>style.visibility</p:attrName>
                                        </p:attrNameLst>
                                      </p:cBhvr>
                                      <p:to>
                                        <p:strVal val="visible"/>
                                      </p:to>
                                    </p:set>
                                    <p:animEffect transition="in" filter="wipe(left)">
                                      <p:cBhvr>
                                        <p:cTn id="12" dur="500"/>
                                        <p:tgtEl>
                                          <p:spTgt spid="4608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6084">
                                            <p:txEl>
                                              <p:pRg st="0" end="0"/>
                                            </p:txEl>
                                          </p:spTgt>
                                        </p:tgtEl>
                                        <p:attrNameLst>
                                          <p:attrName>style.visibility</p:attrName>
                                        </p:attrNameLst>
                                      </p:cBhvr>
                                      <p:to>
                                        <p:strVal val="visible"/>
                                      </p:to>
                                    </p:set>
                                    <p:animEffect transition="in" filter="wipe(left)">
                                      <p:cBhvr>
                                        <p:cTn id="17" dur="500"/>
                                        <p:tgtEl>
                                          <p:spTgt spid="4608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6087"/>
                                        </p:tgtEl>
                                        <p:attrNameLst>
                                          <p:attrName>style.visibility</p:attrName>
                                        </p:attrNameLst>
                                      </p:cBhvr>
                                      <p:to>
                                        <p:strVal val="visible"/>
                                      </p:to>
                                    </p:set>
                                    <p:animEffect transition="in" filter="wipe(left)">
                                      <p:cBhvr>
                                        <p:cTn id="22" dur="500"/>
                                        <p:tgtEl>
                                          <p:spTgt spid="460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P spid="46084" grpId="0" build="p"/>
      <p:bldP spid="46086" grpId="0" build="p"/>
      <p:bldP spid="4608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p:nvPr/>
        </p:nvSpPr>
        <p:spPr>
          <a:xfrm>
            <a:off x="1128713" y="950913"/>
            <a:ext cx="2006600" cy="519112"/>
          </a:xfrm>
          <a:prstGeom prst="rect">
            <a:avLst/>
          </a:prstGeom>
          <a:noFill/>
          <a:ln w="19050">
            <a:noFill/>
          </a:ln>
        </p:spPr>
        <p:txBody>
          <a:bodyPr wrap="none">
            <a:spAutoFit/>
          </a:bodyPr>
          <a:lstStyle/>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画时间图</a:t>
            </a:r>
            <a:r>
              <a:rPr lang="en-US" altLang="zh-CN" sz="2800" dirty="0">
                <a:latin typeface="Times New Roman" panose="02020603050405020304" pitchFamily="18" charset="0"/>
                <a:sym typeface="Monotype Sorts" pitchFamily="2" charset="2"/>
              </a:rPr>
              <a:t>:</a:t>
            </a:r>
          </a:p>
        </p:txBody>
      </p:sp>
      <p:grpSp>
        <p:nvGrpSpPr>
          <p:cNvPr id="2" name="Group 75"/>
          <p:cNvGrpSpPr/>
          <p:nvPr/>
        </p:nvGrpSpPr>
        <p:grpSpPr>
          <a:xfrm>
            <a:off x="1301750" y="1814513"/>
            <a:ext cx="6142038" cy="4010025"/>
            <a:chOff x="820" y="1143"/>
            <a:chExt cx="3869" cy="2526"/>
          </a:xfrm>
        </p:grpSpPr>
        <p:sp>
          <p:nvSpPr>
            <p:cNvPr id="31748" name="Line 11"/>
            <p:cNvSpPr/>
            <p:nvPr/>
          </p:nvSpPr>
          <p:spPr>
            <a:xfrm>
              <a:off x="1572" y="1589"/>
              <a:ext cx="0" cy="1800"/>
            </a:xfrm>
            <a:prstGeom prst="line">
              <a:avLst/>
            </a:prstGeom>
            <a:ln w="19050" cap="flat" cmpd="sng">
              <a:solidFill>
                <a:srgbClr val="3333FF"/>
              </a:solidFill>
              <a:prstDash val="lgDash"/>
              <a:headEnd type="none" w="med" len="med"/>
              <a:tailEnd type="none" w="sm" len="lg"/>
            </a:ln>
          </p:spPr>
        </p:sp>
        <p:grpSp>
          <p:nvGrpSpPr>
            <p:cNvPr id="31749" name="Group 38"/>
            <p:cNvGrpSpPr/>
            <p:nvPr/>
          </p:nvGrpSpPr>
          <p:grpSpPr>
            <a:xfrm>
              <a:off x="1956" y="1590"/>
              <a:ext cx="2303" cy="2000"/>
              <a:chOff x="1945" y="1267"/>
              <a:chExt cx="2303" cy="2366"/>
            </a:xfrm>
          </p:grpSpPr>
          <p:sp>
            <p:nvSpPr>
              <p:cNvPr id="31775" name="Line 14"/>
              <p:cNvSpPr/>
              <p:nvPr/>
            </p:nvSpPr>
            <p:spPr>
              <a:xfrm>
                <a:off x="1945" y="1267"/>
                <a:ext cx="0" cy="2366"/>
              </a:xfrm>
              <a:prstGeom prst="line">
                <a:avLst/>
              </a:prstGeom>
              <a:ln w="19050" cap="flat" cmpd="sng">
                <a:solidFill>
                  <a:srgbClr val="3333FF"/>
                </a:solidFill>
                <a:prstDash val="lgDash"/>
                <a:headEnd type="none" w="med" len="med"/>
                <a:tailEnd type="none" w="sm" len="lg"/>
              </a:ln>
            </p:spPr>
          </p:sp>
          <p:sp>
            <p:nvSpPr>
              <p:cNvPr id="31776" name="Line 17"/>
              <p:cNvSpPr/>
              <p:nvPr/>
            </p:nvSpPr>
            <p:spPr>
              <a:xfrm>
                <a:off x="2329" y="1267"/>
                <a:ext cx="0" cy="2366"/>
              </a:xfrm>
              <a:prstGeom prst="line">
                <a:avLst/>
              </a:prstGeom>
              <a:ln w="19050" cap="flat" cmpd="sng">
                <a:solidFill>
                  <a:srgbClr val="3333FF"/>
                </a:solidFill>
                <a:prstDash val="lgDash"/>
                <a:headEnd type="none" w="med" len="med"/>
                <a:tailEnd type="none" w="sm" len="lg"/>
              </a:ln>
            </p:spPr>
          </p:sp>
          <p:sp>
            <p:nvSpPr>
              <p:cNvPr id="31777" name="Line 20"/>
              <p:cNvSpPr/>
              <p:nvPr/>
            </p:nvSpPr>
            <p:spPr>
              <a:xfrm>
                <a:off x="2713" y="1267"/>
                <a:ext cx="0" cy="2366"/>
              </a:xfrm>
              <a:prstGeom prst="line">
                <a:avLst/>
              </a:prstGeom>
              <a:ln w="19050" cap="flat" cmpd="sng">
                <a:solidFill>
                  <a:srgbClr val="3333FF"/>
                </a:solidFill>
                <a:prstDash val="lgDash"/>
                <a:headEnd type="none" w="med" len="med"/>
                <a:tailEnd type="none" w="sm" len="lg"/>
              </a:ln>
            </p:spPr>
          </p:sp>
          <p:sp>
            <p:nvSpPr>
              <p:cNvPr id="31778" name="Line 23"/>
              <p:cNvSpPr/>
              <p:nvPr/>
            </p:nvSpPr>
            <p:spPr>
              <a:xfrm>
                <a:off x="3096" y="1267"/>
                <a:ext cx="0" cy="2366"/>
              </a:xfrm>
              <a:prstGeom prst="line">
                <a:avLst/>
              </a:prstGeom>
              <a:ln w="19050" cap="flat" cmpd="sng">
                <a:solidFill>
                  <a:srgbClr val="3333FF"/>
                </a:solidFill>
                <a:prstDash val="lgDash"/>
                <a:headEnd type="none" w="med" len="med"/>
                <a:tailEnd type="none" w="sm" len="lg"/>
              </a:ln>
            </p:spPr>
          </p:sp>
          <p:sp>
            <p:nvSpPr>
              <p:cNvPr id="31779" name="Line 26"/>
              <p:cNvSpPr/>
              <p:nvPr/>
            </p:nvSpPr>
            <p:spPr>
              <a:xfrm>
                <a:off x="3480" y="1267"/>
                <a:ext cx="0" cy="2366"/>
              </a:xfrm>
              <a:prstGeom prst="line">
                <a:avLst/>
              </a:prstGeom>
              <a:ln w="19050" cap="flat" cmpd="sng">
                <a:solidFill>
                  <a:srgbClr val="3333FF"/>
                </a:solidFill>
                <a:prstDash val="lgDash"/>
                <a:headEnd type="none" w="med" len="med"/>
                <a:tailEnd type="none" w="sm" len="lg"/>
              </a:ln>
            </p:spPr>
          </p:sp>
          <p:sp>
            <p:nvSpPr>
              <p:cNvPr id="31780" name="Line 29"/>
              <p:cNvSpPr/>
              <p:nvPr/>
            </p:nvSpPr>
            <p:spPr>
              <a:xfrm>
                <a:off x="3864" y="1267"/>
                <a:ext cx="0" cy="2366"/>
              </a:xfrm>
              <a:prstGeom prst="line">
                <a:avLst/>
              </a:prstGeom>
              <a:ln w="19050" cap="flat" cmpd="sng">
                <a:solidFill>
                  <a:srgbClr val="3333FF"/>
                </a:solidFill>
                <a:prstDash val="lgDash"/>
                <a:headEnd type="none" w="med" len="med"/>
                <a:tailEnd type="none" w="sm" len="lg"/>
              </a:ln>
            </p:spPr>
          </p:sp>
          <p:sp>
            <p:nvSpPr>
              <p:cNvPr id="31781" name="Line 32"/>
              <p:cNvSpPr/>
              <p:nvPr/>
            </p:nvSpPr>
            <p:spPr>
              <a:xfrm>
                <a:off x="4248" y="1267"/>
                <a:ext cx="0" cy="2366"/>
              </a:xfrm>
              <a:prstGeom prst="line">
                <a:avLst/>
              </a:prstGeom>
              <a:ln w="19050" cap="flat" cmpd="sng">
                <a:solidFill>
                  <a:srgbClr val="3333FF"/>
                </a:solidFill>
                <a:prstDash val="lgDash"/>
                <a:headEnd type="none" w="med" len="med"/>
                <a:tailEnd type="none" w="sm" len="lg"/>
              </a:ln>
            </p:spPr>
          </p:sp>
        </p:grpSp>
        <p:sp>
          <p:nvSpPr>
            <p:cNvPr id="31750" name="Freeform 35"/>
            <p:cNvSpPr/>
            <p:nvPr/>
          </p:nvSpPr>
          <p:spPr>
            <a:xfrm>
              <a:off x="1144" y="2158"/>
              <a:ext cx="3523" cy="322"/>
            </a:xfrm>
            <a:custGeom>
              <a:avLst/>
              <a:gdLst>
                <a:gd name="txL" fmla="*/ 0 w 3523"/>
                <a:gd name="txT" fmla="*/ 0 h 322"/>
                <a:gd name="txR" fmla="*/ 3523 w 3523"/>
                <a:gd name="txB" fmla="*/ 322 h 322"/>
              </a:gdLst>
              <a:ahLst/>
              <a:cxnLst>
                <a:cxn ang="0">
                  <a:pos x="0" y="0"/>
                </a:cxn>
                <a:cxn ang="0">
                  <a:pos x="1578" y="0"/>
                </a:cxn>
                <a:cxn ang="0">
                  <a:pos x="1578" y="322"/>
                </a:cxn>
                <a:cxn ang="0">
                  <a:pos x="3112" y="322"/>
                </a:cxn>
                <a:cxn ang="0">
                  <a:pos x="3112" y="0"/>
                </a:cxn>
                <a:cxn ang="0">
                  <a:pos x="3523" y="0"/>
                </a:cxn>
              </a:cxnLst>
              <a:rect l="txL" t="txT" r="txR" b="txB"/>
              <a:pathLst>
                <a:path w="3523" h="322">
                  <a:moveTo>
                    <a:pt x="0" y="0"/>
                  </a:moveTo>
                  <a:lnTo>
                    <a:pt x="1578" y="0"/>
                  </a:lnTo>
                  <a:lnTo>
                    <a:pt x="1578" y="322"/>
                  </a:lnTo>
                  <a:lnTo>
                    <a:pt x="3112" y="322"/>
                  </a:lnTo>
                  <a:lnTo>
                    <a:pt x="3112" y="0"/>
                  </a:lnTo>
                  <a:lnTo>
                    <a:pt x="3523" y="0"/>
                  </a:lnTo>
                </a:path>
              </a:pathLst>
            </a:custGeom>
            <a:noFill/>
            <a:ln w="38100" cap="flat" cmpd="sng">
              <a:solidFill>
                <a:srgbClr val="3333FF">
                  <a:alpha val="100000"/>
                </a:srgbClr>
              </a:solidFill>
              <a:prstDash val="solid"/>
              <a:round/>
              <a:headEnd type="none" w="med" len="med"/>
              <a:tailEnd type="none" w="sm" len="lg"/>
            </a:ln>
          </p:spPr>
          <p:txBody>
            <a:bodyPr/>
            <a:lstStyle/>
            <a:p>
              <a:endParaRPr lang="zh-CN" altLang="en-US"/>
            </a:p>
          </p:txBody>
        </p:sp>
        <p:sp>
          <p:nvSpPr>
            <p:cNvPr id="31751" name="Freeform 36"/>
            <p:cNvSpPr/>
            <p:nvPr/>
          </p:nvSpPr>
          <p:spPr>
            <a:xfrm>
              <a:off x="1144" y="2704"/>
              <a:ext cx="3545" cy="341"/>
            </a:xfrm>
            <a:custGeom>
              <a:avLst/>
              <a:gdLst>
                <a:gd name="txL" fmla="*/ 0 w 3545"/>
                <a:gd name="txT" fmla="*/ 0 h 341"/>
                <a:gd name="txR" fmla="*/ 3545 w 3545"/>
                <a:gd name="txB" fmla="*/ 341 h 341"/>
              </a:gdLst>
              <a:ahLst/>
              <a:cxnLst>
                <a:cxn ang="0">
                  <a:pos x="0" y="324"/>
                </a:cxn>
                <a:cxn ang="0">
                  <a:pos x="423" y="324"/>
                </a:cxn>
                <a:cxn ang="0">
                  <a:pos x="423" y="2"/>
                </a:cxn>
                <a:cxn ang="0">
                  <a:pos x="1189" y="0"/>
                </a:cxn>
                <a:cxn ang="0">
                  <a:pos x="1189" y="324"/>
                </a:cxn>
                <a:cxn ang="0">
                  <a:pos x="2353" y="324"/>
                </a:cxn>
                <a:cxn ang="0">
                  <a:pos x="2353" y="0"/>
                </a:cxn>
                <a:cxn ang="0">
                  <a:pos x="3115" y="6"/>
                </a:cxn>
                <a:cxn ang="0">
                  <a:pos x="3115" y="336"/>
                </a:cxn>
                <a:cxn ang="0">
                  <a:pos x="3545" y="341"/>
                </a:cxn>
              </a:cxnLst>
              <a:rect l="txL" t="txT" r="txR" b="txB"/>
              <a:pathLst>
                <a:path w="3545" h="341">
                  <a:moveTo>
                    <a:pt x="0" y="324"/>
                  </a:moveTo>
                  <a:lnTo>
                    <a:pt x="423" y="324"/>
                  </a:lnTo>
                  <a:lnTo>
                    <a:pt x="423" y="2"/>
                  </a:lnTo>
                  <a:lnTo>
                    <a:pt x="1189" y="0"/>
                  </a:lnTo>
                  <a:lnTo>
                    <a:pt x="1189" y="324"/>
                  </a:lnTo>
                  <a:lnTo>
                    <a:pt x="2353" y="324"/>
                  </a:lnTo>
                  <a:lnTo>
                    <a:pt x="2353" y="0"/>
                  </a:lnTo>
                  <a:lnTo>
                    <a:pt x="3115" y="6"/>
                  </a:lnTo>
                  <a:lnTo>
                    <a:pt x="3115" y="336"/>
                  </a:lnTo>
                  <a:lnTo>
                    <a:pt x="3545" y="341"/>
                  </a:lnTo>
                </a:path>
              </a:pathLst>
            </a:custGeom>
            <a:noFill/>
            <a:ln w="38100" cap="flat" cmpd="sng">
              <a:solidFill>
                <a:srgbClr val="3333FF">
                  <a:alpha val="100000"/>
                </a:srgbClr>
              </a:solidFill>
              <a:prstDash val="solid"/>
              <a:round/>
              <a:headEnd type="none" w="med" len="med"/>
              <a:tailEnd type="none" w="sm" len="lg"/>
            </a:ln>
          </p:spPr>
          <p:txBody>
            <a:bodyPr/>
            <a:lstStyle/>
            <a:p>
              <a:endParaRPr lang="zh-CN" altLang="en-US"/>
            </a:p>
          </p:txBody>
        </p:sp>
        <p:sp>
          <p:nvSpPr>
            <p:cNvPr id="31752" name="Freeform 37"/>
            <p:cNvSpPr/>
            <p:nvPr/>
          </p:nvSpPr>
          <p:spPr>
            <a:xfrm>
              <a:off x="1156" y="3265"/>
              <a:ext cx="3511" cy="333"/>
            </a:xfrm>
            <a:custGeom>
              <a:avLst/>
              <a:gdLst>
                <a:gd name="txL" fmla="*/ 0 w 3511"/>
                <a:gd name="txT" fmla="*/ 0 h 333"/>
                <a:gd name="txR" fmla="*/ 3511 w 3511"/>
                <a:gd name="txB" fmla="*/ 333 h 333"/>
              </a:gdLst>
              <a:ahLst/>
              <a:cxnLst>
                <a:cxn ang="0">
                  <a:pos x="0" y="333"/>
                </a:cxn>
                <a:cxn ang="0">
                  <a:pos x="411" y="333"/>
                </a:cxn>
                <a:cxn ang="0">
                  <a:pos x="411" y="0"/>
                </a:cxn>
                <a:cxn ang="0">
                  <a:pos x="800" y="0"/>
                </a:cxn>
                <a:cxn ang="0">
                  <a:pos x="800" y="333"/>
                </a:cxn>
                <a:cxn ang="0">
                  <a:pos x="1189" y="333"/>
                </a:cxn>
                <a:cxn ang="0">
                  <a:pos x="1189" y="11"/>
                </a:cxn>
                <a:cxn ang="0">
                  <a:pos x="1566" y="11"/>
                </a:cxn>
                <a:cxn ang="0">
                  <a:pos x="1566" y="333"/>
                </a:cxn>
                <a:cxn ang="0">
                  <a:pos x="1955" y="333"/>
                </a:cxn>
                <a:cxn ang="0">
                  <a:pos x="1955" y="11"/>
                </a:cxn>
                <a:cxn ang="0">
                  <a:pos x="2333" y="11"/>
                </a:cxn>
                <a:cxn ang="0">
                  <a:pos x="2333" y="333"/>
                </a:cxn>
                <a:cxn ang="0">
                  <a:pos x="2722" y="333"/>
                </a:cxn>
                <a:cxn ang="0">
                  <a:pos x="2722" y="11"/>
                </a:cxn>
                <a:cxn ang="0">
                  <a:pos x="3100" y="11"/>
                </a:cxn>
                <a:cxn ang="0">
                  <a:pos x="3100" y="333"/>
                </a:cxn>
                <a:cxn ang="0">
                  <a:pos x="3511" y="333"/>
                </a:cxn>
              </a:cxnLst>
              <a:rect l="txL" t="txT" r="txR" b="txB"/>
              <a:pathLst>
                <a:path w="3511" h="333">
                  <a:moveTo>
                    <a:pt x="0" y="333"/>
                  </a:moveTo>
                  <a:lnTo>
                    <a:pt x="411" y="333"/>
                  </a:lnTo>
                  <a:lnTo>
                    <a:pt x="411" y="0"/>
                  </a:lnTo>
                  <a:lnTo>
                    <a:pt x="800" y="0"/>
                  </a:lnTo>
                  <a:lnTo>
                    <a:pt x="800" y="333"/>
                  </a:lnTo>
                  <a:lnTo>
                    <a:pt x="1189" y="333"/>
                  </a:lnTo>
                  <a:lnTo>
                    <a:pt x="1189" y="11"/>
                  </a:lnTo>
                  <a:lnTo>
                    <a:pt x="1566" y="11"/>
                  </a:lnTo>
                  <a:lnTo>
                    <a:pt x="1566" y="333"/>
                  </a:lnTo>
                  <a:lnTo>
                    <a:pt x="1955" y="333"/>
                  </a:lnTo>
                  <a:lnTo>
                    <a:pt x="1955" y="11"/>
                  </a:lnTo>
                  <a:lnTo>
                    <a:pt x="2333" y="11"/>
                  </a:lnTo>
                  <a:lnTo>
                    <a:pt x="2333" y="333"/>
                  </a:lnTo>
                  <a:lnTo>
                    <a:pt x="2722" y="333"/>
                  </a:lnTo>
                  <a:lnTo>
                    <a:pt x="2722" y="11"/>
                  </a:lnTo>
                  <a:lnTo>
                    <a:pt x="3100" y="11"/>
                  </a:lnTo>
                  <a:lnTo>
                    <a:pt x="3100" y="333"/>
                  </a:lnTo>
                  <a:lnTo>
                    <a:pt x="3511" y="333"/>
                  </a:lnTo>
                </a:path>
              </a:pathLst>
            </a:custGeom>
            <a:noFill/>
            <a:ln w="38100" cap="flat" cmpd="sng">
              <a:solidFill>
                <a:srgbClr val="3333FF">
                  <a:alpha val="100000"/>
                </a:srgbClr>
              </a:solidFill>
              <a:prstDash val="solid"/>
              <a:round/>
              <a:headEnd type="none" w="med" len="med"/>
              <a:tailEnd type="none" w="sm" len="lg"/>
            </a:ln>
          </p:spPr>
          <p:txBody>
            <a:bodyPr/>
            <a:lstStyle/>
            <a:p>
              <a:endParaRPr lang="zh-CN" altLang="en-US"/>
            </a:p>
          </p:txBody>
        </p:sp>
        <p:sp>
          <p:nvSpPr>
            <p:cNvPr id="31753" name="Text Box 47"/>
            <p:cNvSpPr txBox="1"/>
            <p:nvPr/>
          </p:nvSpPr>
          <p:spPr>
            <a:xfrm>
              <a:off x="1398" y="1874"/>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1754" name="Text Box 48"/>
            <p:cNvSpPr txBox="1"/>
            <p:nvPr/>
          </p:nvSpPr>
          <p:spPr>
            <a:xfrm>
              <a:off x="1787" y="1874"/>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1755" name="Text Box 49"/>
            <p:cNvSpPr txBox="1"/>
            <p:nvPr/>
          </p:nvSpPr>
          <p:spPr>
            <a:xfrm>
              <a:off x="2176" y="1874"/>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1756" name="Text Box 50"/>
            <p:cNvSpPr txBox="1"/>
            <p:nvPr/>
          </p:nvSpPr>
          <p:spPr>
            <a:xfrm>
              <a:off x="2542" y="1874"/>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1757" name="Text Box 51"/>
            <p:cNvSpPr txBox="1"/>
            <p:nvPr/>
          </p:nvSpPr>
          <p:spPr>
            <a:xfrm>
              <a:off x="2943" y="220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31758" name="Text Box 52"/>
            <p:cNvSpPr txBox="1"/>
            <p:nvPr/>
          </p:nvSpPr>
          <p:spPr>
            <a:xfrm>
              <a:off x="3309" y="220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31759" name="Text Box 53"/>
            <p:cNvSpPr txBox="1"/>
            <p:nvPr/>
          </p:nvSpPr>
          <p:spPr>
            <a:xfrm>
              <a:off x="3687" y="220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31760" name="Text Box 54"/>
            <p:cNvSpPr txBox="1"/>
            <p:nvPr/>
          </p:nvSpPr>
          <p:spPr>
            <a:xfrm>
              <a:off x="4077" y="220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31761" name="Text Box 67"/>
            <p:cNvSpPr txBox="1"/>
            <p:nvPr/>
          </p:nvSpPr>
          <p:spPr>
            <a:xfrm>
              <a:off x="820" y="3342"/>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1762" name="Text Box 68"/>
            <p:cNvSpPr txBox="1"/>
            <p:nvPr/>
          </p:nvSpPr>
          <p:spPr>
            <a:xfrm>
              <a:off x="820" y="2797"/>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31763" name="Text Box 69"/>
            <p:cNvSpPr txBox="1"/>
            <p:nvPr/>
          </p:nvSpPr>
          <p:spPr>
            <a:xfrm>
              <a:off x="820" y="1975"/>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x</a:t>
              </a:r>
            </a:p>
          </p:txBody>
        </p:sp>
        <p:grpSp>
          <p:nvGrpSpPr>
            <p:cNvPr id="31764" name="Group 71"/>
            <p:cNvGrpSpPr/>
            <p:nvPr/>
          </p:nvGrpSpPr>
          <p:grpSpPr>
            <a:xfrm>
              <a:off x="820" y="1143"/>
              <a:ext cx="3836" cy="683"/>
              <a:chOff x="787" y="966"/>
              <a:chExt cx="3836" cy="683"/>
            </a:xfrm>
          </p:grpSpPr>
          <p:sp>
            <p:nvSpPr>
              <p:cNvPr id="31765" name="Freeform 34"/>
              <p:cNvSpPr/>
              <p:nvPr/>
            </p:nvSpPr>
            <p:spPr>
              <a:xfrm>
                <a:off x="1134" y="1245"/>
                <a:ext cx="3489" cy="336"/>
              </a:xfrm>
              <a:custGeom>
                <a:avLst/>
                <a:gdLst>
                  <a:gd name="txL" fmla="*/ 0 w 3489"/>
                  <a:gd name="txT" fmla="*/ 0 h 336"/>
                  <a:gd name="txR" fmla="*/ 3489 w 3489"/>
                  <a:gd name="txB" fmla="*/ 336 h 336"/>
                </a:gdLst>
                <a:ahLst/>
                <a:cxnLst>
                  <a:cxn ang="0">
                    <a:pos x="0" y="325"/>
                  </a:cxn>
                  <a:cxn ang="0">
                    <a:pos x="278" y="325"/>
                  </a:cxn>
                  <a:cxn ang="0">
                    <a:pos x="278" y="3"/>
                  </a:cxn>
                  <a:cxn ang="0">
                    <a:pos x="400" y="3"/>
                  </a:cxn>
                  <a:cxn ang="0">
                    <a:pos x="400" y="325"/>
                  </a:cxn>
                  <a:cxn ang="0">
                    <a:pos x="666" y="325"/>
                  </a:cxn>
                  <a:cxn ang="0">
                    <a:pos x="666" y="3"/>
                  </a:cxn>
                  <a:cxn ang="0">
                    <a:pos x="789" y="3"/>
                  </a:cxn>
                  <a:cxn ang="0">
                    <a:pos x="789" y="325"/>
                  </a:cxn>
                  <a:cxn ang="0">
                    <a:pos x="1046" y="324"/>
                  </a:cxn>
                  <a:cxn ang="0">
                    <a:pos x="1046" y="0"/>
                  </a:cxn>
                  <a:cxn ang="0">
                    <a:pos x="1178" y="3"/>
                  </a:cxn>
                  <a:cxn ang="0">
                    <a:pos x="1178" y="325"/>
                  </a:cxn>
                  <a:cxn ang="0">
                    <a:pos x="1433" y="325"/>
                  </a:cxn>
                  <a:cxn ang="0">
                    <a:pos x="1433" y="3"/>
                  </a:cxn>
                  <a:cxn ang="0">
                    <a:pos x="1555" y="3"/>
                  </a:cxn>
                  <a:cxn ang="0">
                    <a:pos x="1555" y="325"/>
                  </a:cxn>
                  <a:cxn ang="0">
                    <a:pos x="1811" y="325"/>
                  </a:cxn>
                  <a:cxn ang="0">
                    <a:pos x="1811" y="3"/>
                  </a:cxn>
                  <a:cxn ang="0">
                    <a:pos x="1944" y="3"/>
                  </a:cxn>
                  <a:cxn ang="0">
                    <a:pos x="1944" y="336"/>
                  </a:cxn>
                  <a:cxn ang="0">
                    <a:pos x="2200" y="336"/>
                  </a:cxn>
                  <a:cxn ang="0">
                    <a:pos x="2200" y="3"/>
                  </a:cxn>
                  <a:cxn ang="0">
                    <a:pos x="2322" y="3"/>
                  </a:cxn>
                  <a:cxn ang="0">
                    <a:pos x="2322" y="325"/>
                  </a:cxn>
                  <a:cxn ang="0">
                    <a:pos x="2578" y="325"/>
                  </a:cxn>
                  <a:cxn ang="0">
                    <a:pos x="2578" y="3"/>
                  </a:cxn>
                  <a:cxn ang="0">
                    <a:pos x="2711" y="3"/>
                  </a:cxn>
                  <a:cxn ang="0">
                    <a:pos x="2711" y="325"/>
                  </a:cxn>
                  <a:cxn ang="0">
                    <a:pos x="2967" y="325"/>
                  </a:cxn>
                  <a:cxn ang="0">
                    <a:pos x="2967" y="3"/>
                  </a:cxn>
                  <a:cxn ang="0">
                    <a:pos x="3089" y="3"/>
                  </a:cxn>
                  <a:cxn ang="0">
                    <a:pos x="3089" y="325"/>
                  </a:cxn>
                  <a:cxn ang="0">
                    <a:pos x="3489" y="325"/>
                  </a:cxn>
                </a:cxnLst>
                <a:rect l="txL" t="txT" r="txR" b="txB"/>
                <a:pathLst>
                  <a:path w="3489" h="336">
                    <a:moveTo>
                      <a:pt x="0" y="325"/>
                    </a:moveTo>
                    <a:lnTo>
                      <a:pt x="278" y="325"/>
                    </a:lnTo>
                    <a:lnTo>
                      <a:pt x="278" y="3"/>
                    </a:lnTo>
                    <a:lnTo>
                      <a:pt x="400" y="3"/>
                    </a:lnTo>
                    <a:lnTo>
                      <a:pt x="400" y="325"/>
                    </a:lnTo>
                    <a:lnTo>
                      <a:pt x="666" y="325"/>
                    </a:lnTo>
                    <a:lnTo>
                      <a:pt x="666" y="3"/>
                    </a:lnTo>
                    <a:lnTo>
                      <a:pt x="789" y="3"/>
                    </a:lnTo>
                    <a:lnTo>
                      <a:pt x="789" y="325"/>
                    </a:lnTo>
                    <a:lnTo>
                      <a:pt x="1046" y="324"/>
                    </a:lnTo>
                    <a:lnTo>
                      <a:pt x="1046" y="0"/>
                    </a:lnTo>
                    <a:lnTo>
                      <a:pt x="1178" y="3"/>
                    </a:lnTo>
                    <a:lnTo>
                      <a:pt x="1178" y="325"/>
                    </a:lnTo>
                    <a:lnTo>
                      <a:pt x="1433" y="325"/>
                    </a:lnTo>
                    <a:lnTo>
                      <a:pt x="1433" y="3"/>
                    </a:lnTo>
                    <a:lnTo>
                      <a:pt x="1555" y="3"/>
                    </a:lnTo>
                    <a:lnTo>
                      <a:pt x="1555" y="325"/>
                    </a:lnTo>
                    <a:lnTo>
                      <a:pt x="1811" y="325"/>
                    </a:lnTo>
                    <a:lnTo>
                      <a:pt x="1811" y="3"/>
                    </a:lnTo>
                    <a:lnTo>
                      <a:pt x="1944" y="3"/>
                    </a:lnTo>
                    <a:lnTo>
                      <a:pt x="1944" y="336"/>
                    </a:lnTo>
                    <a:lnTo>
                      <a:pt x="2200" y="336"/>
                    </a:lnTo>
                    <a:lnTo>
                      <a:pt x="2200" y="3"/>
                    </a:lnTo>
                    <a:lnTo>
                      <a:pt x="2322" y="3"/>
                    </a:lnTo>
                    <a:lnTo>
                      <a:pt x="2322" y="325"/>
                    </a:lnTo>
                    <a:lnTo>
                      <a:pt x="2578" y="325"/>
                    </a:lnTo>
                    <a:lnTo>
                      <a:pt x="2578" y="3"/>
                    </a:lnTo>
                    <a:lnTo>
                      <a:pt x="2711" y="3"/>
                    </a:lnTo>
                    <a:lnTo>
                      <a:pt x="2711" y="325"/>
                    </a:lnTo>
                    <a:lnTo>
                      <a:pt x="2967" y="325"/>
                    </a:lnTo>
                    <a:lnTo>
                      <a:pt x="2967" y="3"/>
                    </a:lnTo>
                    <a:lnTo>
                      <a:pt x="3089" y="3"/>
                    </a:lnTo>
                    <a:lnTo>
                      <a:pt x="3089" y="325"/>
                    </a:lnTo>
                    <a:lnTo>
                      <a:pt x="3489" y="325"/>
                    </a:lnTo>
                  </a:path>
                </a:pathLst>
              </a:custGeom>
              <a:noFill/>
              <a:ln w="38100" cap="flat" cmpd="sng">
                <a:solidFill>
                  <a:srgbClr val="3333FF">
                    <a:alpha val="100000"/>
                  </a:srgbClr>
                </a:solidFill>
                <a:prstDash val="solid"/>
                <a:round/>
                <a:headEnd type="none" w="med" len="med"/>
                <a:tailEnd type="none" w="sm" len="lg"/>
              </a:ln>
            </p:spPr>
            <p:txBody>
              <a:bodyPr/>
              <a:lstStyle/>
              <a:p>
                <a:endParaRPr lang="zh-CN" altLang="en-US"/>
              </a:p>
            </p:txBody>
          </p:sp>
          <p:sp>
            <p:nvSpPr>
              <p:cNvPr id="31766" name="Text Box 39"/>
              <p:cNvSpPr txBox="1"/>
              <p:nvPr/>
            </p:nvSpPr>
            <p:spPr>
              <a:xfrm>
                <a:off x="1365" y="96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1767" name="Text Box 40"/>
              <p:cNvSpPr txBox="1"/>
              <p:nvPr/>
            </p:nvSpPr>
            <p:spPr>
              <a:xfrm>
                <a:off x="1754" y="96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2</a:t>
                </a:r>
              </a:p>
            </p:txBody>
          </p:sp>
          <p:sp>
            <p:nvSpPr>
              <p:cNvPr id="31768" name="Text Box 41"/>
              <p:cNvSpPr txBox="1"/>
              <p:nvPr/>
            </p:nvSpPr>
            <p:spPr>
              <a:xfrm>
                <a:off x="2143" y="96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3</a:t>
                </a:r>
              </a:p>
            </p:txBody>
          </p:sp>
          <p:sp>
            <p:nvSpPr>
              <p:cNvPr id="31769" name="Text Box 42"/>
              <p:cNvSpPr txBox="1"/>
              <p:nvPr/>
            </p:nvSpPr>
            <p:spPr>
              <a:xfrm>
                <a:off x="2509" y="96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4</a:t>
                </a:r>
              </a:p>
            </p:txBody>
          </p:sp>
          <p:sp>
            <p:nvSpPr>
              <p:cNvPr id="31770" name="Text Box 43"/>
              <p:cNvSpPr txBox="1"/>
              <p:nvPr/>
            </p:nvSpPr>
            <p:spPr>
              <a:xfrm>
                <a:off x="2910" y="96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5</a:t>
                </a:r>
              </a:p>
            </p:txBody>
          </p:sp>
          <p:sp>
            <p:nvSpPr>
              <p:cNvPr id="31771" name="Text Box 44"/>
              <p:cNvSpPr txBox="1"/>
              <p:nvPr/>
            </p:nvSpPr>
            <p:spPr>
              <a:xfrm>
                <a:off x="3276" y="96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6</a:t>
                </a:r>
              </a:p>
            </p:txBody>
          </p:sp>
          <p:sp>
            <p:nvSpPr>
              <p:cNvPr id="31772" name="Text Box 45"/>
              <p:cNvSpPr txBox="1"/>
              <p:nvPr/>
            </p:nvSpPr>
            <p:spPr>
              <a:xfrm>
                <a:off x="3654" y="96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7</a:t>
                </a:r>
              </a:p>
            </p:txBody>
          </p:sp>
          <p:sp>
            <p:nvSpPr>
              <p:cNvPr id="31773" name="Text Box 46"/>
              <p:cNvSpPr txBox="1"/>
              <p:nvPr/>
            </p:nvSpPr>
            <p:spPr>
              <a:xfrm>
                <a:off x="4044" y="96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8</a:t>
                </a:r>
              </a:p>
            </p:txBody>
          </p:sp>
          <p:sp>
            <p:nvSpPr>
              <p:cNvPr id="31774" name="Text Box 70"/>
              <p:cNvSpPr txBox="1"/>
              <p:nvPr/>
            </p:nvSpPr>
            <p:spPr>
              <a:xfrm>
                <a:off x="787" y="1322"/>
                <a:ext cx="390" cy="327"/>
              </a:xfrm>
              <a:prstGeom prst="rect">
                <a:avLst/>
              </a:prstGeom>
              <a:noFill/>
              <a:ln w="19050">
                <a:noFill/>
              </a:ln>
            </p:spPr>
            <p:txBody>
              <a:bodyPr wrap="none">
                <a:spAutoFit/>
              </a:bodyPr>
              <a:lstStyle/>
              <a:p>
                <a:r>
                  <a:rPr lang="en-US" altLang="zh-CN" sz="2800" dirty="0">
                    <a:latin typeface="Times New Roman" panose="02020603050405020304" pitchFamily="18" charset="0"/>
                  </a:rPr>
                  <a:t>CP</a:t>
                </a: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490538" y="963613"/>
            <a:ext cx="8369300"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例：</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试有代数法分析下图所示的同步时序逻辑电路。</a:t>
            </a:r>
          </a:p>
        </p:txBody>
      </p:sp>
      <p:grpSp>
        <p:nvGrpSpPr>
          <p:cNvPr id="2" name="Group 57"/>
          <p:cNvGrpSpPr/>
          <p:nvPr/>
        </p:nvGrpSpPr>
        <p:grpSpPr>
          <a:xfrm>
            <a:off x="1020763" y="1795463"/>
            <a:ext cx="6902450" cy="4398962"/>
            <a:chOff x="643" y="1131"/>
            <a:chExt cx="4348" cy="2771"/>
          </a:xfrm>
        </p:grpSpPr>
        <p:sp>
          <p:nvSpPr>
            <p:cNvPr id="32778" name="Freeform 42"/>
            <p:cNvSpPr/>
            <p:nvPr/>
          </p:nvSpPr>
          <p:spPr>
            <a:xfrm>
              <a:off x="934" y="2367"/>
              <a:ext cx="2502" cy="177"/>
            </a:xfrm>
            <a:custGeom>
              <a:avLst/>
              <a:gdLst>
                <a:gd name="txL" fmla="*/ 0 w 2223"/>
                <a:gd name="txT" fmla="*/ 0 h 166"/>
                <a:gd name="txR" fmla="*/ 2223 w 2223"/>
                <a:gd name="txB" fmla="*/ 166 h 166"/>
              </a:gdLst>
              <a:ahLst/>
              <a:cxnLst>
                <a:cxn ang="0">
                  <a:pos x="2816" y="0"/>
                </a:cxn>
                <a:cxn ang="0">
                  <a:pos x="2816" y="189"/>
                </a:cxn>
                <a:cxn ang="0">
                  <a:pos x="0" y="189"/>
                </a:cxn>
              </a:cxnLst>
              <a:rect l="txL" t="txT" r="txR" b="txB"/>
              <a:pathLst>
                <a:path w="2223" h="166">
                  <a:moveTo>
                    <a:pt x="2223" y="0"/>
                  </a:moveTo>
                  <a:lnTo>
                    <a:pt x="2223" y="166"/>
                  </a:lnTo>
                  <a:lnTo>
                    <a:pt x="0" y="166"/>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a:p>
          </p:txBody>
        </p:sp>
        <p:sp>
          <p:nvSpPr>
            <p:cNvPr id="32779" name="Line 41"/>
            <p:cNvSpPr/>
            <p:nvPr/>
          </p:nvSpPr>
          <p:spPr>
            <a:xfrm flipV="1">
              <a:off x="1479" y="2322"/>
              <a:ext cx="0" cy="589"/>
            </a:xfrm>
            <a:prstGeom prst="line">
              <a:avLst/>
            </a:prstGeom>
            <a:ln w="19050" cap="flat" cmpd="sng">
              <a:solidFill>
                <a:srgbClr val="3333FF"/>
              </a:solidFill>
              <a:prstDash val="solid"/>
              <a:headEnd type="none" w="med" len="med"/>
              <a:tailEnd type="none" w="sm" len="lg"/>
            </a:ln>
          </p:spPr>
        </p:sp>
        <p:sp>
          <p:nvSpPr>
            <p:cNvPr id="32780" name="Rectangle 6"/>
            <p:cNvSpPr/>
            <p:nvPr/>
          </p:nvSpPr>
          <p:spPr>
            <a:xfrm>
              <a:off x="1223" y="1766"/>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lstStyle/>
            <a:p>
              <a:endParaRPr lang="zh-CN" altLang="en-US" dirty="0">
                <a:latin typeface="Times New Roman" panose="02020603050405020304" pitchFamily="18" charset="0"/>
              </a:endParaRPr>
            </a:p>
          </p:txBody>
        </p:sp>
        <p:sp>
          <p:nvSpPr>
            <p:cNvPr id="32781" name="Rectangle 7"/>
            <p:cNvSpPr/>
            <p:nvPr/>
          </p:nvSpPr>
          <p:spPr>
            <a:xfrm>
              <a:off x="2690" y="1766"/>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lstStyle/>
            <a:p>
              <a:endParaRPr lang="zh-CN" altLang="en-US" dirty="0">
                <a:latin typeface="Times New Roman" panose="02020603050405020304" pitchFamily="18" charset="0"/>
              </a:endParaRPr>
            </a:p>
          </p:txBody>
        </p:sp>
        <p:sp>
          <p:nvSpPr>
            <p:cNvPr id="32782" name="Line 11"/>
            <p:cNvSpPr/>
            <p:nvPr/>
          </p:nvSpPr>
          <p:spPr>
            <a:xfrm flipV="1">
              <a:off x="1968" y="2333"/>
              <a:ext cx="0" cy="212"/>
            </a:xfrm>
            <a:prstGeom prst="line">
              <a:avLst/>
            </a:prstGeom>
            <a:ln w="19050" cap="flat" cmpd="sng">
              <a:solidFill>
                <a:srgbClr val="3333FF"/>
              </a:solidFill>
              <a:prstDash val="solid"/>
              <a:headEnd type="none" w="med" len="med"/>
              <a:tailEnd type="none" w="sm" len="lg"/>
            </a:ln>
          </p:spPr>
        </p:sp>
        <p:sp>
          <p:nvSpPr>
            <p:cNvPr id="32783" name="Freeform 15"/>
            <p:cNvSpPr/>
            <p:nvPr/>
          </p:nvSpPr>
          <p:spPr>
            <a:xfrm>
              <a:off x="3375" y="2222"/>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lstStyle/>
            <a:p>
              <a:endParaRPr lang="zh-CN" altLang="en-US"/>
            </a:p>
          </p:txBody>
        </p:sp>
        <p:sp>
          <p:nvSpPr>
            <p:cNvPr id="32784" name="Oval 16"/>
            <p:cNvSpPr/>
            <p:nvPr/>
          </p:nvSpPr>
          <p:spPr>
            <a:xfrm>
              <a:off x="3399" y="2323"/>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lstStyle/>
            <a:p>
              <a:endParaRPr lang="zh-CN" altLang="en-US" dirty="0">
                <a:latin typeface="Times New Roman" panose="02020603050405020304" pitchFamily="18" charset="0"/>
              </a:endParaRPr>
            </a:p>
          </p:txBody>
        </p:sp>
        <p:sp>
          <p:nvSpPr>
            <p:cNvPr id="32785" name="Text Box 24"/>
            <p:cNvSpPr txBox="1"/>
            <p:nvPr/>
          </p:nvSpPr>
          <p:spPr>
            <a:xfrm>
              <a:off x="1198" y="2931"/>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lstStyle/>
            <a:p>
              <a:pPr algn="ct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1</a:t>
              </a:r>
            </a:p>
          </p:txBody>
        </p:sp>
        <p:sp>
          <p:nvSpPr>
            <p:cNvPr id="32786" name="Line 25"/>
            <p:cNvSpPr/>
            <p:nvPr/>
          </p:nvSpPr>
          <p:spPr>
            <a:xfrm flipV="1">
              <a:off x="1311" y="3277"/>
              <a:ext cx="0" cy="523"/>
            </a:xfrm>
            <a:prstGeom prst="line">
              <a:avLst/>
            </a:prstGeom>
            <a:ln w="19050" cap="flat" cmpd="sng">
              <a:solidFill>
                <a:srgbClr val="3333FF"/>
              </a:solidFill>
              <a:prstDash val="solid"/>
              <a:headEnd type="none" w="med" len="med"/>
              <a:tailEnd type="none" w="sm" len="lg"/>
            </a:ln>
          </p:spPr>
        </p:sp>
        <p:sp>
          <p:nvSpPr>
            <p:cNvPr id="32787" name="Text Box 26"/>
            <p:cNvSpPr txBox="1"/>
            <p:nvPr/>
          </p:nvSpPr>
          <p:spPr>
            <a:xfrm>
              <a:off x="2710" y="1998"/>
              <a:ext cx="354"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2788" name="Text Box 28"/>
            <p:cNvSpPr txBox="1"/>
            <p:nvPr/>
          </p:nvSpPr>
          <p:spPr>
            <a:xfrm>
              <a:off x="3307" y="1931"/>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32789" name="Text Box 29"/>
            <p:cNvSpPr txBox="1"/>
            <p:nvPr/>
          </p:nvSpPr>
          <p:spPr>
            <a:xfrm>
              <a:off x="1255" y="1998"/>
              <a:ext cx="354"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32790" name="Text Box 31"/>
            <p:cNvSpPr txBox="1"/>
            <p:nvPr/>
          </p:nvSpPr>
          <p:spPr>
            <a:xfrm>
              <a:off x="1852" y="1931"/>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32791" name="Text Box 32"/>
            <p:cNvSpPr txBox="1"/>
            <p:nvPr/>
          </p:nvSpPr>
          <p:spPr>
            <a:xfrm>
              <a:off x="1288" y="1131"/>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32792" name="Text Box 34"/>
            <p:cNvSpPr txBox="1"/>
            <p:nvPr/>
          </p:nvSpPr>
          <p:spPr>
            <a:xfrm>
              <a:off x="643" y="2331"/>
              <a:ext cx="390" cy="327"/>
            </a:xfrm>
            <a:prstGeom prst="rect">
              <a:avLst/>
            </a:prstGeom>
            <a:noFill/>
            <a:ln w="19050">
              <a:noFill/>
            </a:ln>
          </p:spPr>
          <p:txBody>
            <a:bodyPr wrap="none">
              <a:spAutoFit/>
            </a:bodyPr>
            <a:lstStyle/>
            <a:p>
              <a:r>
                <a:rPr lang="en-US" altLang="zh-CN" sz="2800" dirty="0">
                  <a:latin typeface="Times New Roman" panose="02020603050405020304" pitchFamily="18" charset="0"/>
                </a:rPr>
                <a:t>CP</a:t>
              </a:r>
            </a:p>
          </p:txBody>
        </p:sp>
        <p:sp>
          <p:nvSpPr>
            <p:cNvPr id="32793" name="Text Box 36"/>
            <p:cNvSpPr txBox="1"/>
            <p:nvPr/>
          </p:nvSpPr>
          <p:spPr>
            <a:xfrm>
              <a:off x="754" y="3575"/>
              <a:ext cx="278" cy="327"/>
            </a:xfrm>
            <a:prstGeom prst="rect">
              <a:avLst/>
            </a:prstGeom>
            <a:noFill/>
            <a:ln w="19050">
              <a:noFill/>
            </a:ln>
          </p:spPr>
          <p:txBody>
            <a:bodyPr>
              <a:spAutoFit/>
            </a:bodyPr>
            <a:lstStyle/>
            <a:p>
              <a:r>
                <a:rPr lang="en-US" altLang="zh-CN" sz="2800" dirty="0">
                  <a:latin typeface="Times New Roman" panose="02020603050405020304" pitchFamily="18" charset="0"/>
                </a:rPr>
                <a:t>x</a:t>
              </a:r>
            </a:p>
          </p:txBody>
        </p:sp>
        <p:sp>
          <p:nvSpPr>
            <p:cNvPr id="32794" name="Freeform 8"/>
            <p:cNvSpPr/>
            <p:nvPr/>
          </p:nvSpPr>
          <p:spPr>
            <a:xfrm>
              <a:off x="1919" y="2222"/>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lstStyle/>
            <a:p>
              <a:endParaRPr lang="zh-CN" altLang="en-US"/>
            </a:p>
          </p:txBody>
        </p:sp>
        <p:sp>
          <p:nvSpPr>
            <p:cNvPr id="32795" name="Oval 9"/>
            <p:cNvSpPr/>
            <p:nvPr/>
          </p:nvSpPr>
          <p:spPr>
            <a:xfrm>
              <a:off x="1943" y="2323"/>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lstStyle/>
            <a:p>
              <a:endParaRPr lang="zh-CN" altLang="en-US" dirty="0">
                <a:latin typeface="Times New Roman" panose="02020603050405020304" pitchFamily="18" charset="0"/>
              </a:endParaRPr>
            </a:p>
          </p:txBody>
        </p:sp>
        <p:sp>
          <p:nvSpPr>
            <p:cNvPr id="32796" name="Oval 37"/>
            <p:cNvSpPr/>
            <p:nvPr/>
          </p:nvSpPr>
          <p:spPr>
            <a:xfrm>
              <a:off x="1445" y="2878"/>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lstStyle/>
            <a:p>
              <a:endParaRPr lang="zh-CN" altLang="en-US" dirty="0">
                <a:latin typeface="Times New Roman" panose="02020603050405020304" pitchFamily="18" charset="0"/>
              </a:endParaRPr>
            </a:p>
          </p:txBody>
        </p:sp>
        <p:sp>
          <p:nvSpPr>
            <p:cNvPr id="32797" name="Text Box 38"/>
            <p:cNvSpPr txBox="1"/>
            <p:nvPr/>
          </p:nvSpPr>
          <p:spPr>
            <a:xfrm>
              <a:off x="4454" y="1864"/>
              <a:ext cx="537" cy="345"/>
            </a:xfrm>
            <a:prstGeom prst="rect">
              <a:avLst/>
            </a:prstGeom>
            <a:solidFill>
              <a:srgbClr val="E1FDFF"/>
            </a:solidFill>
            <a:ln w="28575" cap="flat" cmpd="sng">
              <a:solidFill>
                <a:srgbClr val="3333FF"/>
              </a:solidFill>
              <a:prstDash val="solid"/>
              <a:miter/>
              <a:headEnd type="none" w="med" len="med"/>
              <a:tailEnd type="none" w="sm" len="lg"/>
            </a:ln>
          </p:spPr>
          <p:txBody>
            <a:bodyPr>
              <a:spAutoFit/>
            </a:bodyPr>
            <a:lstStyle/>
            <a:p>
              <a:pPr algn="ctr"/>
              <a:r>
                <a:rPr lang="en-US" altLang="zh-CN" sz="2800" dirty="0">
                  <a:latin typeface="Times New Roman" panose="02020603050405020304" pitchFamily="18" charset="0"/>
                </a:rPr>
                <a:t>&amp;</a:t>
              </a:r>
            </a:p>
          </p:txBody>
        </p:sp>
        <p:sp>
          <p:nvSpPr>
            <p:cNvPr id="32798" name="Oval 20"/>
            <p:cNvSpPr/>
            <p:nvPr/>
          </p:nvSpPr>
          <p:spPr>
            <a:xfrm>
              <a:off x="1935" y="2499"/>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dirty="0">
                <a:latin typeface="Times New Roman" panose="02020603050405020304" pitchFamily="18" charset="0"/>
              </a:endParaRPr>
            </a:p>
          </p:txBody>
        </p:sp>
        <p:sp>
          <p:nvSpPr>
            <p:cNvPr id="32799" name="Freeform 43"/>
            <p:cNvSpPr/>
            <p:nvPr/>
          </p:nvSpPr>
          <p:spPr>
            <a:xfrm>
              <a:off x="1634" y="2211"/>
              <a:ext cx="3000" cy="1255"/>
            </a:xfrm>
            <a:custGeom>
              <a:avLst/>
              <a:gdLst>
                <a:gd name="txL" fmla="*/ 0 w 2967"/>
                <a:gd name="txT" fmla="*/ 0 h 1255"/>
                <a:gd name="txR" fmla="*/ 2967 w 2967"/>
                <a:gd name="txB" fmla="*/ 1255 h 1255"/>
              </a:gdLst>
              <a:ahLst/>
              <a:cxnLst>
                <a:cxn ang="0">
                  <a:pos x="0" y="1067"/>
                </a:cxn>
                <a:cxn ang="0">
                  <a:pos x="0" y="1255"/>
                </a:cxn>
                <a:cxn ang="0">
                  <a:pos x="2966" y="1255"/>
                </a:cxn>
                <a:cxn ang="0">
                  <a:pos x="2966" y="0"/>
                </a:cxn>
                <a:cxn ang="0">
                  <a:pos x="3033" y="0"/>
                </a:cxn>
              </a:cxnLst>
              <a:rect l="txL" t="txT" r="txR" b="txB"/>
              <a:pathLst>
                <a:path w="2967" h="1255">
                  <a:moveTo>
                    <a:pt x="0" y="1067"/>
                  </a:moveTo>
                  <a:lnTo>
                    <a:pt x="0" y="1255"/>
                  </a:lnTo>
                  <a:lnTo>
                    <a:pt x="2901" y="1255"/>
                  </a:lnTo>
                  <a:lnTo>
                    <a:pt x="2901" y="0"/>
                  </a:lnTo>
                  <a:lnTo>
                    <a:pt x="2967" y="0"/>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a:p>
          </p:txBody>
        </p:sp>
        <p:sp>
          <p:nvSpPr>
            <p:cNvPr id="32800" name="Freeform 44"/>
            <p:cNvSpPr/>
            <p:nvPr/>
          </p:nvSpPr>
          <p:spPr>
            <a:xfrm>
              <a:off x="1479" y="2211"/>
              <a:ext cx="3256" cy="1422"/>
            </a:xfrm>
            <a:custGeom>
              <a:avLst/>
              <a:gdLst>
                <a:gd name="txL" fmla="*/ 0 w 3311"/>
                <a:gd name="txT" fmla="*/ 0 h 1422"/>
                <a:gd name="txR" fmla="*/ 3311 w 3311"/>
                <a:gd name="txB" fmla="*/ 1422 h 1422"/>
              </a:gdLst>
              <a:ahLst/>
              <a:cxnLst>
                <a:cxn ang="0">
                  <a:pos x="0" y="1067"/>
                </a:cxn>
                <a:cxn ang="0">
                  <a:pos x="0" y="1422"/>
                </a:cxn>
                <a:cxn ang="0">
                  <a:pos x="3202" y="1422"/>
                </a:cxn>
                <a:cxn ang="0">
                  <a:pos x="3202" y="0"/>
                </a:cxn>
              </a:cxnLst>
              <a:rect l="txL" t="txT" r="txR" b="txB"/>
              <a:pathLst>
                <a:path w="3311" h="1422">
                  <a:moveTo>
                    <a:pt x="0" y="1067"/>
                  </a:moveTo>
                  <a:lnTo>
                    <a:pt x="0" y="1422"/>
                  </a:lnTo>
                  <a:lnTo>
                    <a:pt x="3311" y="1422"/>
                  </a:lnTo>
                  <a:lnTo>
                    <a:pt x="3311" y="0"/>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a:p>
          </p:txBody>
        </p:sp>
        <p:sp>
          <p:nvSpPr>
            <p:cNvPr id="32801" name="Freeform 45"/>
            <p:cNvSpPr/>
            <p:nvPr/>
          </p:nvSpPr>
          <p:spPr>
            <a:xfrm>
              <a:off x="1001" y="2211"/>
              <a:ext cx="3889" cy="1589"/>
            </a:xfrm>
            <a:custGeom>
              <a:avLst/>
              <a:gdLst>
                <a:gd name="txL" fmla="*/ 0 w 3889"/>
                <a:gd name="txT" fmla="*/ 0 h 1567"/>
                <a:gd name="txR" fmla="*/ 3889 w 3889"/>
                <a:gd name="txB" fmla="*/ 1567 h 1567"/>
              </a:gdLst>
              <a:ahLst/>
              <a:cxnLst>
                <a:cxn ang="0">
                  <a:pos x="0" y="1611"/>
                </a:cxn>
                <a:cxn ang="0">
                  <a:pos x="3889" y="1611"/>
                </a:cxn>
                <a:cxn ang="0">
                  <a:pos x="3889" y="0"/>
                </a:cxn>
              </a:cxnLst>
              <a:rect l="txL" t="txT" r="txR" b="txB"/>
              <a:pathLst>
                <a:path w="3889" h="1567">
                  <a:moveTo>
                    <a:pt x="0" y="1567"/>
                  </a:moveTo>
                  <a:lnTo>
                    <a:pt x="3889" y="1567"/>
                  </a:lnTo>
                  <a:lnTo>
                    <a:pt x="3889" y="0"/>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a:p>
          </p:txBody>
        </p:sp>
        <p:sp>
          <p:nvSpPr>
            <p:cNvPr id="32802" name="Oval 23"/>
            <p:cNvSpPr/>
            <p:nvPr/>
          </p:nvSpPr>
          <p:spPr>
            <a:xfrm>
              <a:off x="1268" y="3765"/>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dirty="0">
                <a:latin typeface="Times New Roman" panose="02020603050405020304" pitchFamily="18" charset="0"/>
              </a:endParaRPr>
            </a:p>
          </p:txBody>
        </p:sp>
        <p:sp>
          <p:nvSpPr>
            <p:cNvPr id="32803" name="Freeform 46"/>
            <p:cNvSpPr/>
            <p:nvPr/>
          </p:nvSpPr>
          <p:spPr>
            <a:xfrm>
              <a:off x="1457" y="1500"/>
              <a:ext cx="911" cy="1966"/>
            </a:xfrm>
            <a:custGeom>
              <a:avLst/>
              <a:gdLst>
                <a:gd name="txL" fmla="*/ 0 w 911"/>
                <a:gd name="txT" fmla="*/ 0 h 1966"/>
                <a:gd name="txR" fmla="*/ 911 w 911"/>
                <a:gd name="txB" fmla="*/ 1966 h 1966"/>
              </a:gdLst>
              <a:ahLst/>
              <a:cxnLst>
                <a:cxn ang="0">
                  <a:pos x="0" y="256"/>
                </a:cxn>
                <a:cxn ang="0">
                  <a:pos x="0" y="0"/>
                </a:cxn>
                <a:cxn ang="0">
                  <a:pos x="911" y="0"/>
                </a:cxn>
                <a:cxn ang="0">
                  <a:pos x="911" y="1966"/>
                </a:cxn>
              </a:cxnLst>
              <a:rect l="txL" t="txT" r="txR" b="txB"/>
              <a:pathLst>
                <a:path w="911" h="1966">
                  <a:moveTo>
                    <a:pt x="0" y="256"/>
                  </a:moveTo>
                  <a:lnTo>
                    <a:pt x="0" y="0"/>
                  </a:lnTo>
                  <a:lnTo>
                    <a:pt x="911" y="0"/>
                  </a:lnTo>
                  <a:lnTo>
                    <a:pt x="911" y="1966"/>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a:p>
          </p:txBody>
        </p:sp>
        <p:sp>
          <p:nvSpPr>
            <p:cNvPr id="32804" name="Freeform 47"/>
            <p:cNvSpPr/>
            <p:nvPr/>
          </p:nvSpPr>
          <p:spPr>
            <a:xfrm>
              <a:off x="2523" y="1500"/>
              <a:ext cx="912" cy="2144"/>
            </a:xfrm>
            <a:custGeom>
              <a:avLst/>
              <a:gdLst>
                <a:gd name="txL" fmla="*/ 0 w 912"/>
                <a:gd name="txT" fmla="*/ 0 h 2144"/>
                <a:gd name="txR" fmla="*/ 912 w 912"/>
                <a:gd name="txB" fmla="*/ 2144 h 2144"/>
              </a:gdLst>
              <a:ahLst/>
              <a:cxnLst>
                <a:cxn ang="0">
                  <a:pos x="912" y="244"/>
                </a:cxn>
                <a:cxn ang="0">
                  <a:pos x="912" y="0"/>
                </a:cxn>
                <a:cxn ang="0">
                  <a:pos x="0" y="0"/>
                </a:cxn>
                <a:cxn ang="0">
                  <a:pos x="0" y="2144"/>
                </a:cxn>
              </a:cxnLst>
              <a:rect l="txL" t="txT" r="txR" b="txB"/>
              <a:pathLst>
                <a:path w="912" h="2144">
                  <a:moveTo>
                    <a:pt x="912" y="244"/>
                  </a:moveTo>
                  <a:lnTo>
                    <a:pt x="912" y="0"/>
                  </a:lnTo>
                  <a:lnTo>
                    <a:pt x="0" y="0"/>
                  </a:lnTo>
                  <a:lnTo>
                    <a:pt x="0" y="2144"/>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a:p>
          </p:txBody>
        </p:sp>
        <p:sp>
          <p:nvSpPr>
            <p:cNvPr id="32805" name="Line 48"/>
            <p:cNvSpPr/>
            <p:nvPr/>
          </p:nvSpPr>
          <p:spPr>
            <a:xfrm>
              <a:off x="2935" y="2311"/>
              <a:ext cx="0" cy="1489"/>
            </a:xfrm>
            <a:prstGeom prst="line">
              <a:avLst/>
            </a:prstGeom>
            <a:ln w="19050" cap="flat" cmpd="sng">
              <a:solidFill>
                <a:srgbClr val="3333FF"/>
              </a:solidFill>
              <a:prstDash val="solid"/>
              <a:headEnd type="none" w="med" len="med"/>
              <a:tailEnd type="none" w="sm" len="lg"/>
            </a:ln>
          </p:spPr>
        </p:sp>
        <p:sp>
          <p:nvSpPr>
            <p:cNvPr id="32806" name="Oval 49"/>
            <p:cNvSpPr/>
            <p:nvPr/>
          </p:nvSpPr>
          <p:spPr>
            <a:xfrm>
              <a:off x="2902" y="3766"/>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dirty="0">
                <a:latin typeface="Times New Roman" panose="02020603050405020304" pitchFamily="18" charset="0"/>
              </a:endParaRPr>
            </a:p>
          </p:txBody>
        </p:sp>
        <p:sp>
          <p:nvSpPr>
            <p:cNvPr id="32807" name="Oval 50"/>
            <p:cNvSpPr/>
            <p:nvPr/>
          </p:nvSpPr>
          <p:spPr>
            <a:xfrm>
              <a:off x="2491" y="3599"/>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dirty="0">
                <a:latin typeface="Times New Roman" panose="02020603050405020304" pitchFamily="18" charset="0"/>
              </a:endParaRPr>
            </a:p>
          </p:txBody>
        </p:sp>
        <p:sp>
          <p:nvSpPr>
            <p:cNvPr id="32808" name="Oval 51"/>
            <p:cNvSpPr/>
            <p:nvPr/>
          </p:nvSpPr>
          <p:spPr>
            <a:xfrm>
              <a:off x="2335" y="3432"/>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dirty="0">
                <a:latin typeface="Times New Roman" panose="02020603050405020304" pitchFamily="18" charset="0"/>
              </a:endParaRPr>
            </a:p>
          </p:txBody>
        </p:sp>
        <p:grpSp>
          <p:nvGrpSpPr>
            <p:cNvPr id="32809" name="Group 53"/>
            <p:cNvGrpSpPr/>
            <p:nvPr/>
          </p:nvGrpSpPr>
          <p:grpSpPr>
            <a:xfrm>
              <a:off x="3478" y="1165"/>
              <a:ext cx="304" cy="327"/>
              <a:chOff x="3166" y="1176"/>
              <a:chExt cx="304" cy="327"/>
            </a:xfrm>
          </p:grpSpPr>
          <p:sp>
            <p:nvSpPr>
              <p:cNvPr id="32813" name="Text Box 33"/>
              <p:cNvSpPr txBox="1"/>
              <p:nvPr/>
            </p:nvSpPr>
            <p:spPr>
              <a:xfrm>
                <a:off x="3166" y="1176"/>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2814" name="Line 52"/>
              <p:cNvSpPr/>
              <p:nvPr/>
            </p:nvSpPr>
            <p:spPr>
              <a:xfrm>
                <a:off x="3189" y="1255"/>
                <a:ext cx="156" cy="0"/>
              </a:xfrm>
              <a:prstGeom prst="line">
                <a:avLst/>
              </a:prstGeom>
              <a:ln w="19050" cap="flat" cmpd="sng">
                <a:solidFill>
                  <a:srgbClr val="3333FF"/>
                </a:solidFill>
                <a:prstDash val="solid"/>
                <a:headEnd type="none" w="med" len="med"/>
                <a:tailEnd type="none" w="sm" len="lg"/>
              </a:ln>
            </p:spPr>
          </p:sp>
        </p:grpSp>
        <p:sp>
          <p:nvSpPr>
            <p:cNvPr id="32810" name="Line 54"/>
            <p:cNvSpPr/>
            <p:nvPr/>
          </p:nvSpPr>
          <p:spPr>
            <a:xfrm flipV="1">
              <a:off x="4724" y="1378"/>
              <a:ext cx="0" cy="489"/>
            </a:xfrm>
            <a:prstGeom prst="line">
              <a:avLst/>
            </a:prstGeom>
            <a:ln w="19050" cap="flat" cmpd="sng">
              <a:solidFill>
                <a:srgbClr val="3333FF"/>
              </a:solidFill>
              <a:prstDash val="solid"/>
              <a:headEnd type="none" w="med" len="med"/>
              <a:tailEnd type="none" w="sm" len="lg"/>
            </a:ln>
          </p:spPr>
        </p:sp>
        <p:sp>
          <p:nvSpPr>
            <p:cNvPr id="32811" name="Text Box 55"/>
            <p:cNvSpPr txBox="1"/>
            <p:nvPr/>
          </p:nvSpPr>
          <p:spPr>
            <a:xfrm>
              <a:off x="4543" y="1176"/>
              <a:ext cx="215" cy="327"/>
            </a:xfrm>
            <a:prstGeom prst="rect">
              <a:avLst/>
            </a:prstGeom>
            <a:noFill/>
            <a:ln w="19050">
              <a:noFill/>
            </a:ln>
          </p:spPr>
          <p:txBody>
            <a:bodyPr wrap="none">
              <a:spAutoFit/>
            </a:bodyPr>
            <a:lstStyle/>
            <a:p>
              <a:r>
                <a:rPr lang="en-US" altLang="zh-CN" sz="2800" dirty="0">
                  <a:latin typeface="Times New Roman" panose="02020603050405020304" pitchFamily="18" charset="0"/>
                </a:rPr>
                <a:t>z</a:t>
              </a:r>
            </a:p>
          </p:txBody>
        </p:sp>
        <p:sp>
          <p:nvSpPr>
            <p:cNvPr id="32812" name="Oval 39"/>
            <p:cNvSpPr/>
            <p:nvPr/>
          </p:nvSpPr>
          <p:spPr>
            <a:xfrm>
              <a:off x="3401" y="1701"/>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lstStyle/>
            <a:p>
              <a:endParaRPr lang="zh-CN" altLang="en-US" dirty="0">
                <a:latin typeface="Times New Roman" panose="02020603050405020304" pitchFamily="18" charset="0"/>
              </a:endParaRPr>
            </a:p>
          </p:txBody>
        </p:sp>
      </p:grpSp>
      <p:sp>
        <p:nvSpPr>
          <p:cNvPr id="43" name="AutoShape 54"/>
          <p:cNvSpPr/>
          <p:nvPr/>
        </p:nvSpPr>
        <p:spPr>
          <a:xfrm>
            <a:off x="0" y="4332288"/>
            <a:ext cx="1676400" cy="609600"/>
          </a:xfrm>
          <a:prstGeom prst="cloudCallout">
            <a:avLst>
              <a:gd name="adj1" fmla="val 29431"/>
              <a:gd name="adj2" fmla="val -87676"/>
            </a:avLst>
          </a:prstGeom>
          <a:solidFill>
            <a:schemeClr val="accent1"/>
          </a:solidFill>
          <a:ln w="9525" cap="flat" cmpd="sng">
            <a:solidFill>
              <a:schemeClr val="tx1"/>
            </a:solidFill>
            <a:prstDash val="solid"/>
            <a:headEnd type="none" w="med" len="med"/>
            <a:tailEnd type="none" w="med" len="med"/>
          </a:ln>
        </p:spPr>
        <p:txBody>
          <a:bodyPr/>
          <a:lstStyle/>
          <a:p>
            <a:r>
              <a:rPr lang="zh-CN" altLang="en-US" sz="2400" dirty="0">
                <a:latin typeface="Times New Roman" panose="02020603050405020304" pitchFamily="18" charset="0"/>
              </a:rPr>
              <a:t>同步</a:t>
            </a:r>
          </a:p>
        </p:txBody>
      </p:sp>
      <p:sp>
        <p:nvSpPr>
          <p:cNvPr id="44" name="AutoShape 55"/>
          <p:cNvSpPr/>
          <p:nvPr/>
        </p:nvSpPr>
        <p:spPr>
          <a:xfrm>
            <a:off x="141288" y="5102225"/>
            <a:ext cx="1752600" cy="609600"/>
          </a:xfrm>
          <a:prstGeom prst="wedgeEllipseCallout">
            <a:avLst>
              <a:gd name="adj1" fmla="val 24315"/>
              <a:gd name="adj2" fmla="val 72509"/>
            </a:avLst>
          </a:prstGeom>
          <a:solidFill>
            <a:schemeClr val="accent1"/>
          </a:solidFill>
          <a:ln w="9525" cap="flat" cmpd="sng">
            <a:solidFill>
              <a:schemeClr val="tx1"/>
            </a:solidFill>
            <a:prstDash val="solid"/>
            <a:miter/>
            <a:headEnd type="none" w="med" len="med"/>
            <a:tailEnd type="none" w="med" len="med"/>
          </a:ln>
        </p:spPr>
        <p:txBody>
          <a:bodyPr/>
          <a:lstStyle/>
          <a:p>
            <a:r>
              <a:rPr lang="zh-CN" altLang="en-US" sz="2000" dirty="0">
                <a:latin typeface="Times New Roman" panose="02020603050405020304" pitchFamily="18" charset="0"/>
              </a:rPr>
              <a:t>输入信号</a:t>
            </a:r>
          </a:p>
        </p:txBody>
      </p:sp>
      <p:sp>
        <p:nvSpPr>
          <p:cNvPr id="45" name="AutoShape 56"/>
          <p:cNvSpPr/>
          <p:nvPr/>
        </p:nvSpPr>
        <p:spPr>
          <a:xfrm>
            <a:off x="3171825" y="1657350"/>
            <a:ext cx="1752600" cy="609600"/>
          </a:xfrm>
          <a:prstGeom prst="wedgeEllipseCallout">
            <a:avLst>
              <a:gd name="adj1" fmla="val -90662"/>
              <a:gd name="adj2" fmla="val 51824"/>
            </a:avLst>
          </a:prstGeom>
          <a:solidFill>
            <a:schemeClr val="accent1"/>
          </a:solidFill>
          <a:ln w="9525" cap="flat" cmpd="sng">
            <a:solidFill>
              <a:schemeClr val="tx1"/>
            </a:solidFill>
            <a:prstDash val="solid"/>
            <a:miter/>
            <a:headEnd type="none" w="med" len="med"/>
            <a:tailEnd type="none" w="med" len="med"/>
          </a:ln>
        </p:spPr>
        <p:txBody>
          <a:bodyPr/>
          <a:lstStyle/>
          <a:p>
            <a:r>
              <a:rPr lang="zh-CN" altLang="en-US" sz="2000" dirty="0">
                <a:latin typeface="Times New Roman" panose="02020603050405020304" pitchFamily="18" charset="0"/>
              </a:rPr>
              <a:t>电路状态</a:t>
            </a:r>
          </a:p>
        </p:txBody>
      </p:sp>
      <p:sp>
        <p:nvSpPr>
          <p:cNvPr id="46" name="AutoShape 57"/>
          <p:cNvSpPr/>
          <p:nvPr/>
        </p:nvSpPr>
        <p:spPr>
          <a:xfrm>
            <a:off x="4930775" y="4060825"/>
            <a:ext cx="1143000" cy="762000"/>
          </a:xfrm>
          <a:prstGeom prst="wedgeEllipseCallout">
            <a:avLst>
              <a:gd name="adj1" fmla="val -65111"/>
              <a:gd name="adj2" fmla="val -87569"/>
            </a:avLst>
          </a:prstGeom>
          <a:solidFill>
            <a:schemeClr val="accent1"/>
          </a:solidFill>
          <a:ln w="9525" cap="flat" cmpd="sng">
            <a:solidFill>
              <a:schemeClr val="tx1"/>
            </a:solidFill>
            <a:prstDash val="solid"/>
            <a:miter/>
            <a:headEnd type="none" w="med" len="med"/>
            <a:tailEnd type="none" w="med" len="med"/>
          </a:ln>
        </p:spPr>
        <p:txBody>
          <a:bodyPr/>
          <a:lstStyle/>
          <a:p>
            <a:r>
              <a:rPr lang="zh-CN" altLang="en-US" sz="2000" dirty="0">
                <a:latin typeface="Times New Roman" panose="02020603050405020304" pitchFamily="18" charset="0"/>
              </a:rPr>
              <a:t>激励信号</a:t>
            </a:r>
          </a:p>
        </p:txBody>
      </p:sp>
      <p:sp>
        <p:nvSpPr>
          <p:cNvPr id="47" name="AutoShape 58"/>
          <p:cNvSpPr/>
          <p:nvPr/>
        </p:nvSpPr>
        <p:spPr>
          <a:xfrm>
            <a:off x="7239000" y="1219200"/>
            <a:ext cx="1752600" cy="609600"/>
          </a:xfrm>
          <a:prstGeom prst="wedgeEllipseCallout">
            <a:avLst>
              <a:gd name="adj1" fmla="val -39995"/>
              <a:gd name="adj2" fmla="val 80847"/>
            </a:avLst>
          </a:prstGeom>
          <a:solidFill>
            <a:schemeClr val="accent1"/>
          </a:solidFill>
          <a:ln w="9525" cap="flat" cmpd="sng">
            <a:solidFill>
              <a:schemeClr val="tx1"/>
            </a:solidFill>
            <a:prstDash val="solid"/>
            <a:miter/>
            <a:headEnd type="none" w="med" len="med"/>
            <a:tailEnd type="none" w="med" len="med"/>
          </a:ln>
        </p:spPr>
        <p:txBody>
          <a:bodyPr/>
          <a:lstStyle/>
          <a:p>
            <a:r>
              <a:rPr lang="zh-CN" altLang="en-US" sz="2000" dirty="0">
                <a:latin typeface="Times New Roman" panose="02020603050405020304" pitchFamily="18" charset="0"/>
              </a:rPr>
              <a:t>输出信号</a:t>
            </a:r>
          </a:p>
        </p:txBody>
      </p:sp>
      <p:sp>
        <p:nvSpPr>
          <p:cNvPr id="48" name="AutoShape 61"/>
          <p:cNvSpPr/>
          <p:nvPr/>
        </p:nvSpPr>
        <p:spPr>
          <a:xfrm>
            <a:off x="7608888" y="6019800"/>
            <a:ext cx="1371600" cy="838200"/>
          </a:xfrm>
          <a:prstGeom prst="cloudCallout">
            <a:avLst>
              <a:gd name="adj1" fmla="val -82162"/>
              <a:gd name="adj2" fmla="val -40111"/>
            </a:avLst>
          </a:prstGeom>
          <a:solidFill>
            <a:schemeClr val="accent1"/>
          </a:solidFill>
          <a:ln w="9525" cap="flat" cmpd="sng">
            <a:solidFill>
              <a:schemeClr val="tx1"/>
            </a:solidFill>
            <a:prstDash val="solid"/>
            <a:headEnd type="none" w="med" len="med"/>
            <a:tailEnd type="none" w="med" len="med"/>
          </a:ln>
        </p:spPr>
        <p:txBody>
          <a:bodyPr/>
          <a:lstStyle/>
          <a:p>
            <a:r>
              <a:rPr lang="en-US" altLang="zh-CN" sz="2000" dirty="0">
                <a:latin typeface="Times New Roman" panose="02020603050405020304" pitchFamily="18" charset="0"/>
              </a:rPr>
              <a:t>Mealy</a:t>
            </a:r>
            <a:r>
              <a:rPr lang="zh-CN" altLang="en-US" sz="2000" dirty="0">
                <a:latin typeface="Times New Roman" panose="02020603050405020304" pitchFamily="18" charset="0"/>
              </a:rPr>
              <a:t>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dissolve">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dissolve">
                                      <p:cBhvr>
                                        <p:cTn id="17" dur="500"/>
                                        <p:tgtEl>
                                          <p:spTgt spid="4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dissolve">
                                      <p:cBhvr>
                                        <p:cTn id="22" dur="500"/>
                                        <p:tgtEl>
                                          <p:spTgt spid="4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dissolve">
                                      <p:cBhvr>
                                        <p:cTn id="27" dur="500"/>
                                        <p:tgtEl>
                                          <p:spTgt spid="4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dissolve">
                                      <p:cBhvr>
                                        <p:cTn id="32" dur="500"/>
                                        <p:tgtEl>
                                          <p:spTgt spid="4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dissolve">
                                      <p:cBhvr>
                                        <p:cTn id="3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5" grpId="0" animBg="1"/>
      <p:bldP spid="46" grpId="0" animBg="1"/>
      <p:bldP spid="47" grpId="0" animBg="1"/>
      <p:bldP spid="4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808038" y="785813"/>
            <a:ext cx="901700"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解：</a:t>
            </a:r>
          </a:p>
        </p:txBody>
      </p:sp>
      <p:sp>
        <p:nvSpPr>
          <p:cNvPr id="49155" name="Text Box 3"/>
          <p:cNvSpPr txBox="1">
            <a:spLocks noChangeArrowheads="1"/>
          </p:cNvSpPr>
          <p:nvPr/>
        </p:nvSpPr>
        <p:spPr bwMode="auto">
          <a:xfrm>
            <a:off x="1195388" y="1509713"/>
            <a:ext cx="6945313"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第一步：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写出输出函数和激励函数表达式。</a:t>
            </a:r>
          </a:p>
        </p:txBody>
      </p:sp>
      <p:grpSp>
        <p:nvGrpSpPr>
          <p:cNvPr id="2" name="Group 23"/>
          <p:cNvGrpSpPr/>
          <p:nvPr/>
        </p:nvGrpSpPr>
        <p:grpSpPr>
          <a:xfrm>
            <a:off x="2984500" y="2119313"/>
            <a:ext cx="1444625" cy="519112"/>
            <a:chOff x="1880" y="1335"/>
            <a:chExt cx="910" cy="327"/>
          </a:xfrm>
        </p:grpSpPr>
        <p:sp>
          <p:nvSpPr>
            <p:cNvPr id="33810" name="Text Box 4"/>
            <p:cNvSpPr txBox="1"/>
            <p:nvPr/>
          </p:nvSpPr>
          <p:spPr>
            <a:xfrm>
              <a:off x="1880" y="1335"/>
              <a:ext cx="910" cy="327"/>
            </a:xfrm>
            <a:prstGeom prst="rect">
              <a:avLst/>
            </a:prstGeom>
            <a:noFill/>
            <a:ln w="19050">
              <a:noFill/>
            </a:ln>
          </p:spPr>
          <p:txBody>
            <a:bodyPr wrap="none">
              <a:spAutoFit/>
            </a:bodyPr>
            <a:lstStyle/>
            <a:p>
              <a:r>
                <a:rPr lang="en-US" altLang="zh-CN" sz="2800" i="1" dirty="0">
                  <a:latin typeface="Times New Roman" panose="02020603050405020304" pitchFamily="18" charset="0"/>
                </a:rPr>
                <a:t>Z</a:t>
              </a:r>
              <a:r>
                <a:rPr lang="en-US" altLang="zh-CN" sz="2800" dirty="0">
                  <a:latin typeface="Times New Roman" panose="02020603050405020304" pitchFamily="18" charset="0"/>
                </a:rPr>
                <a:t>=</a:t>
              </a:r>
              <a:r>
                <a:rPr lang="en-US" altLang="zh-CN" sz="2800" i="1" dirty="0">
                  <a:latin typeface="Times New Roman" panose="02020603050405020304" pitchFamily="18" charset="0"/>
                </a:rPr>
                <a:t>x y</a:t>
              </a:r>
              <a:r>
                <a:rPr lang="en-US" altLang="zh-CN" sz="2800" baseline="-25000" dirty="0">
                  <a:latin typeface="Times New Roman" panose="02020603050405020304" pitchFamily="18" charset="0"/>
                </a:rPr>
                <a:t>2 </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3811" name="Line 5"/>
            <p:cNvSpPr/>
            <p:nvPr/>
          </p:nvSpPr>
          <p:spPr>
            <a:xfrm>
              <a:off x="2560" y="1426"/>
              <a:ext cx="100" cy="0"/>
            </a:xfrm>
            <a:prstGeom prst="line">
              <a:avLst/>
            </a:prstGeom>
            <a:ln w="19050" cap="flat" cmpd="sng">
              <a:solidFill>
                <a:schemeClr val="tx1"/>
              </a:solidFill>
              <a:prstDash val="solid"/>
              <a:headEnd type="none" w="med" len="med"/>
              <a:tailEnd type="none" w="sm" len="lg"/>
            </a:ln>
          </p:spPr>
        </p:sp>
      </p:grpSp>
      <p:grpSp>
        <p:nvGrpSpPr>
          <p:cNvPr id="3" name="Group 12"/>
          <p:cNvGrpSpPr/>
          <p:nvPr/>
        </p:nvGrpSpPr>
        <p:grpSpPr>
          <a:xfrm>
            <a:off x="2984500" y="2728913"/>
            <a:ext cx="3562350" cy="519112"/>
            <a:chOff x="1953" y="1887"/>
            <a:chExt cx="2244" cy="327"/>
          </a:xfrm>
        </p:grpSpPr>
        <p:sp>
          <p:nvSpPr>
            <p:cNvPr id="33805" name="Text Box 7"/>
            <p:cNvSpPr txBox="1"/>
            <p:nvPr/>
          </p:nvSpPr>
          <p:spPr>
            <a:xfrm>
              <a:off x="1953" y="1887"/>
              <a:ext cx="2244" cy="327"/>
            </a:xfrm>
            <a:prstGeom prst="rect">
              <a:avLst/>
            </a:prstGeom>
            <a:noFill/>
            <a:ln w="19050">
              <a:noFill/>
            </a:ln>
          </p:spPr>
          <p:txBody>
            <a:bodyPr wrap="none">
              <a:spAutoFit/>
            </a:bodyPr>
            <a:lstStyle/>
            <a:p>
              <a:r>
                <a:rPr lang="en-US" altLang="zh-CN" sz="2800" i="1" dirty="0">
                  <a:latin typeface="Times New Roman" panose="02020603050405020304" pitchFamily="18" charset="0"/>
                </a:rPr>
                <a:t>D</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a:t>
              </a:r>
              <a:r>
                <a:rPr lang="en-US" altLang="zh-CN" sz="2800" i="1" dirty="0">
                  <a:latin typeface="Times New Roman" panose="02020603050405020304" pitchFamily="18" charset="0"/>
                </a:rPr>
                <a:t>x </a:t>
              </a:r>
              <a:r>
                <a:rPr lang="en-US" altLang="zh-CN" sz="2800" dirty="0">
                  <a:latin typeface="Times New Roman" panose="02020603050405020304" pitchFamily="18" charset="0"/>
                </a:rPr>
                <a:t>+ </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 </a:t>
              </a:r>
              <a:r>
                <a:rPr lang="en-US" altLang="zh-CN" sz="2800" dirty="0">
                  <a:latin typeface="Times New Roman" panose="02020603050405020304" pitchFamily="18" charset="0"/>
                </a:rPr>
                <a:t>= </a:t>
              </a:r>
              <a:r>
                <a:rPr lang="en-US" altLang="zh-CN" sz="2800" i="1" dirty="0">
                  <a:latin typeface="Times New Roman" panose="02020603050405020304" pitchFamily="18" charset="0"/>
                </a:rPr>
                <a:t>x y</a:t>
              </a:r>
              <a:r>
                <a:rPr lang="en-US" altLang="zh-CN" sz="2800" baseline="-25000" dirty="0">
                  <a:latin typeface="Times New Roman" panose="02020603050405020304" pitchFamily="18" charset="0"/>
                </a:rPr>
                <a:t>2 </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3806" name="Line 8"/>
            <p:cNvSpPr/>
            <p:nvPr/>
          </p:nvSpPr>
          <p:spPr>
            <a:xfrm>
              <a:off x="3190" y="1978"/>
              <a:ext cx="122" cy="0"/>
            </a:xfrm>
            <a:prstGeom prst="line">
              <a:avLst/>
            </a:prstGeom>
            <a:ln w="19050" cap="flat" cmpd="sng">
              <a:solidFill>
                <a:schemeClr val="tx1"/>
              </a:solidFill>
              <a:prstDash val="solid"/>
              <a:headEnd type="none" w="med" len="med"/>
              <a:tailEnd type="none" w="sm" len="lg"/>
            </a:ln>
          </p:spPr>
        </p:sp>
        <p:sp>
          <p:nvSpPr>
            <p:cNvPr id="33807" name="Line 9"/>
            <p:cNvSpPr/>
            <p:nvPr/>
          </p:nvSpPr>
          <p:spPr>
            <a:xfrm>
              <a:off x="2478" y="1933"/>
              <a:ext cx="878" cy="0"/>
            </a:xfrm>
            <a:prstGeom prst="line">
              <a:avLst/>
            </a:prstGeom>
            <a:ln w="19050" cap="flat" cmpd="sng">
              <a:solidFill>
                <a:schemeClr val="tx1"/>
              </a:solidFill>
              <a:prstDash val="solid"/>
              <a:headEnd type="none" w="med" len="med"/>
              <a:tailEnd type="none" w="sm" len="lg"/>
            </a:ln>
          </p:spPr>
        </p:sp>
        <p:sp>
          <p:nvSpPr>
            <p:cNvPr id="33808" name="Line 10"/>
            <p:cNvSpPr/>
            <p:nvPr/>
          </p:nvSpPr>
          <p:spPr>
            <a:xfrm>
              <a:off x="3568" y="1978"/>
              <a:ext cx="122" cy="0"/>
            </a:xfrm>
            <a:prstGeom prst="line">
              <a:avLst/>
            </a:prstGeom>
            <a:ln w="19050" cap="flat" cmpd="sng">
              <a:solidFill>
                <a:schemeClr val="tx1"/>
              </a:solidFill>
              <a:prstDash val="solid"/>
              <a:headEnd type="none" w="med" len="med"/>
              <a:tailEnd type="none" w="sm" len="lg"/>
            </a:ln>
          </p:spPr>
        </p:sp>
        <p:sp>
          <p:nvSpPr>
            <p:cNvPr id="33809" name="Line 11"/>
            <p:cNvSpPr/>
            <p:nvPr/>
          </p:nvSpPr>
          <p:spPr>
            <a:xfrm>
              <a:off x="3757" y="1978"/>
              <a:ext cx="122" cy="0"/>
            </a:xfrm>
            <a:prstGeom prst="line">
              <a:avLst/>
            </a:prstGeom>
            <a:ln w="19050" cap="flat" cmpd="sng">
              <a:solidFill>
                <a:schemeClr val="tx1"/>
              </a:solidFill>
              <a:prstDash val="solid"/>
              <a:headEnd type="none" w="med" len="med"/>
              <a:tailEnd type="none" w="sm" len="lg"/>
            </a:ln>
          </p:spPr>
        </p:sp>
      </p:grpSp>
      <p:sp>
        <p:nvSpPr>
          <p:cNvPr id="49165" name="Text Box 13"/>
          <p:cNvSpPr txBox="1"/>
          <p:nvPr/>
        </p:nvSpPr>
        <p:spPr>
          <a:xfrm>
            <a:off x="2984500" y="3338513"/>
            <a:ext cx="1068388" cy="519112"/>
          </a:xfrm>
          <a:prstGeom prst="rect">
            <a:avLst/>
          </a:prstGeom>
          <a:noFill/>
          <a:ln w="19050">
            <a:noFill/>
          </a:ln>
        </p:spPr>
        <p:txBody>
          <a:bodyPr wrap="none">
            <a:spAutoFit/>
          </a:bodyPr>
          <a:lstStyle/>
          <a:p>
            <a:r>
              <a:rPr lang="en-US" altLang="zh-CN" sz="2800" i="1" dirty="0">
                <a:latin typeface="Times New Roman" panose="02020603050405020304" pitchFamily="18" charset="0"/>
              </a:rPr>
              <a:t>D</a:t>
            </a:r>
            <a:r>
              <a:rPr lang="en-US" altLang="zh-CN" sz="2800" baseline="-25000" dirty="0">
                <a:latin typeface="Times New Roman" panose="02020603050405020304" pitchFamily="18" charset="0"/>
              </a:rPr>
              <a:t>1 </a:t>
            </a:r>
            <a:r>
              <a:rPr lang="en-US" altLang="zh-CN" sz="2800" dirty="0">
                <a:latin typeface="Times New Roman" panose="02020603050405020304" pitchFamily="18" charset="0"/>
              </a:rPr>
              <a:t>= </a:t>
            </a:r>
            <a:r>
              <a:rPr lang="en-US" altLang="zh-CN" sz="2800" i="1" dirty="0">
                <a:latin typeface="Times New Roman" panose="02020603050405020304" pitchFamily="18" charset="0"/>
              </a:rPr>
              <a:t>x</a:t>
            </a:r>
            <a:endParaRPr lang="en-US" altLang="zh-CN" sz="2800" dirty="0">
              <a:latin typeface="Times New Roman" panose="02020603050405020304" pitchFamily="18" charset="0"/>
            </a:endParaRPr>
          </a:p>
        </p:txBody>
      </p:sp>
      <p:sp>
        <p:nvSpPr>
          <p:cNvPr id="49166" name="Text Box 14"/>
          <p:cNvSpPr txBox="1">
            <a:spLocks noChangeArrowheads="1"/>
          </p:cNvSpPr>
          <p:nvPr/>
        </p:nvSpPr>
        <p:spPr bwMode="auto">
          <a:xfrm>
            <a:off x="1195388" y="3808413"/>
            <a:ext cx="7267575" cy="1031875"/>
          </a:xfrm>
          <a:prstGeom prst="rect">
            <a:avLst/>
          </a:prstGeom>
          <a:noFill/>
          <a:ln w="19050">
            <a:noFill/>
            <a:miter lim="800000"/>
            <a:tailEnd type="none" w="sm" len="lg"/>
          </a:ln>
          <a:effectLst/>
        </p:spPr>
        <p:txBody>
          <a:bodyPr>
            <a:spAutoFit/>
          </a:bodyPr>
          <a:lstStyle/>
          <a:p>
            <a:pPr marL="1428750" marR="0" indent="-1428750" defTabSz="914400">
              <a:lnSpc>
                <a:spcPct val="110000"/>
              </a:lnSpc>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第二步：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把激励函数表达式代入触发器的次态方程，得到电路的次态方程组。</a:t>
            </a:r>
          </a:p>
        </p:txBody>
      </p:sp>
      <p:sp>
        <p:nvSpPr>
          <p:cNvPr id="49168" name="Rectangle 16"/>
          <p:cNvSpPr/>
          <p:nvPr/>
        </p:nvSpPr>
        <p:spPr>
          <a:xfrm>
            <a:off x="2984500" y="5578475"/>
            <a:ext cx="2436813" cy="519113"/>
          </a:xfrm>
          <a:prstGeom prst="rect">
            <a:avLst/>
          </a:prstGeom>
          <a:noFill/>
          <a:ln w="19050">
            <a:noFill/>
          </a:ln>
        </p:spPr>
        <p:txBody>
          <a:bodyPr wrap="none">
            <a:spAutoFit/>
          </a:bodyPr>
          <a:lstStyle/>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(n+1)</a:t>
            </a:r>
            <a:r>
              <a:rPr lang="zh-CN" altLang="en-US" sz="2800" dirty="0">
                <a:latin typeface="Times New Roman" panose="02020603050405020304" pitchFamily="18" charset="0"/>
              </a:rPr>
              <a:t>＝</a:t>
            </a:r>
            <a:r>
              <a:rPr lang="en-US" altLang="zh-CN" sz="2800" i="1" dirty="0">
                <a:latin typeface="Times New Roman" panose="02020603050405020304" pitchFamily="18" charset="0"/>
              </a:rPr>
              <a:t>D</a:t>
            </a:r>
            <a:r>
              <a:rPr lang="en-US" altLang="zh-CN" sz="2800" baseline="-25000" dirty="0">
                <a:latin typeface="Times New Roman" panose="02020603050405020304" pitchFamily="18" charset="0"/>
              </a:rPr>
              <a:t>1</a:t>
            </a:r>
            <a:r>
              <a:rPr lang="zh-CN" altLang="en-US" sz="2800" dirty="0">
                <a:latin typeface="Times New Roman" panose="02020603050405020304" pitchFamily="18" charset="0"/>
              </a:rPr>
              <a:t>＝ </a:t>
            </a:r>
            <a:r>
              <a:rPr lang="en-US" altLang="zh-CN" sz="2800" i="1" dirty="0">
                <a:latin typeface="Times New Roman" panose="02020603050405020304" pitchFamily="18" charset="0"/>
              </a:rPr>
              <a:t>x</a:t>
            </a:r>
            <a:endParaRPr lang="en-US" altLang="zh-CN" sz="2800" dirty="0">
              <a:latin typeface="Times New Roman" panose="02020603050405020304" pitchFamily="18" charset="0"/>
            </a:endParaRPr>
          </a:p>
        </p:txBody>
      </p:sp>
      <p:grpSp>
        <p:nvGrpSpPr>
          <p:cNvPr id="4" name="Group 22"/>
          <p:cNvGrpSpPr/>
          <p:nvPr/>
        </p:nvGrpSpPr>
        <p:grpSpPr>
          <a:xfrm>
            <a:off x="2984500" y="4967288"/>
            <a:ext cx="3141663" cy="519112"/>
            <a:chOff x="1880" y="3129"/>
            <a:chExt cx="1979" cy="327"/>
          </a:xfrm>
        </p:grpSpPr>
        <p:sp>
          <p:nvSpPr>
            <p:cNvPr id="33802" name="Rectangle 15"/>
            <p:cNvSpPr/>
            <p:nvPr/>
          </p:nvSpPr>
          <p:spPr>
            <a:xfrm>
              <a:off x="1880" y="3129"/>
              <a:ext cx="1979" cy="327"/>
            </a:xfrm>
            <a:prstGeom prst="rect">
              <a:avLst/>
            </a:prstGeom>
            <a:noFill/>
            <a:ln w="19050">
              <a:noFill/>
            </a:ln>
          </p:spPr>
          <p:txBody>
            <a:bodyPr wrap="none">
              <a:spAutoFit/>
            </a:bodyPr>
            <a:lstStyle/>
            <a:p>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(n+1)</a:t>
              </a:r>
              <a:r>
                <a:rPr lang="zh-CN" altLang="en-US" sz="2800" dirty="0">
                  <a:latin typeface="Times New Roman" panose="02020603050405020304" pitchFamily="18" charset="0"/>
                </a:rPr>
                <a:t>＝ </a:t>
              </a:r>
              <a:r>
                <a:rPr lang="en-US" altLang="zh-CN" sz="2800" i="1" dirty="0">
                  <a:latin typeface="Times New Roman" panose="02020603050405020304" pitchFamily="18" charset="0"/>
                </a:rPr>
                <a:t>D</a:t>
              </a:r>
              <a:r>
                <a:rPr lang="en-US" altLang="zh-CN" sz="2800" baseline="-25000" dirty="0">
                  <a:latin typeface="Times New Roman" panose="02020603050405020304" pitchFamily="18" charset="0"/>
                </a:rPr>
                <a:t>2</a:t>
              </a:r>
              <a:r>
                <a:rPr lang="zh-CN" altLang="en-US" sz="2800" dirty="0">
                  <a:latin typeface="Times New Roman" panose="02020603050405020304" pitchFamily="18" charset="0"/>
                </a:rPr>
                <a:t>＝ </a:t>
              </a:r>
              <a:r>
                <a:rPr lang="en-US" altLang="zh-CN" sz="2800" i="1" dirty="0">
                  <a:latin typeface="Times New Roman" panose="02020603050405020304" pitchFamily="18" charset="0"/>
                </a:rPr>
                <a:t>x y</a:t>
              </a:r>
              <a:r>
                <a:rPr lang="en-US" altLang="zh-CN" sz="2800" baseline="-25000" dirty="0">
                  <a:latin typeface="Times New Roman" panose="02020603050405020304" pitchFamily="18" charset="0"/>
                </a:rPr>
                <a:t>2 </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3803" name="Line 17"/>
            <p:cNvSpPr/>
            <p:nvPr/>
          </p:nvSpPr>
          <p:spPr>
            <a:xfrm>
              <a:off x="3254" y="3228"/>
              <a:ext cx="111" cy="0"/>
            </a:xfrm>
            <a:prstGeom prst="line">
              <a:avLst/>
            </a:prstGeom>
            <a:ln w="19050" cap="flat" cmpd="sng">
              <a:solidFill>
                <a:schemeClr val="tx1"/>
              </a:solidFill>
              <a:prstDash val="solid"/>
              <a:headEnd type="none" w="med" len="med"/>
              <a:tailEnd type="none" w="sm" len="lg"/>
            </a:ln>
          </p:spPr>
        </p:sp>
        <p:sp>
          <p:nvSpPr>
            <p:cNvPr id="33804" name="Line 18"/>
            <p:cNvSpPr/>
            <p:nvPr/>
          </p:nvSpPr>
          <p:spPr>
            <a:xfrm>
              <a:off x="3410" y="3228"/>
              <a:ext cx="111" cy="0"/>
            </a:xfrm>
            <a:prstGeom prst="line">
              <a:avLst/>
            </a:prstGeom>
            <a:ln w="19050" cap="flat" cmpd="sng">
              <a:solidFill>
                <a:schemeClr val="tx1"/>
              </a:solidFill>
              <a:prstDash val="soli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wipe(left)">
                                      <p:cBhvr>
                                        <p:cTn id="7" dur="500"/>
                                        <p:tgtEl>
                                          <p:spTgt spid="491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9165">
                                            <p:txEl>
                                              <p:pRg st="0" end="0"/>
                                            </p:txEl>
                                          </p:spTgt>
                                        </p:tgtEl>
                                        <p:attrNameLst>
                                          <p:attrName>style.visibility</p:attrName>
                                        </p:attrNameLst>
                                      </p:cBhvr>
                                      <p:to>
                                        <p:strVal val="visible"/>
                                      </p:to>
                                    </p:set>
                                    <p:animEffect transition="in" filter="wipe(left)">
                                      <p:cBhvr>
                                        <p:cTn id="22" dur="500"/>
                                        <p:tgtEl>
                                          <p:spTgt spid="4916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9166">
                                            <p:txEl>
                                              <p:pRg st="0" end="0"/>
                                            </p:txEl>
                                          </p:spTgt>
                                        </p:tgtEl>
                                        <p:attrNameLst>
                                          <p:attrName>style.visibility</p:attrName>
                                        </p:attrNameLst>
                                      </p:cBhvr>
                                      <p:to>
                                        <p:strVal val="visible"/>
                                      </p:to>
                                    </p:set>
                                    <p:animEffect transition="in" filter="wipe(left)">
                                      <p:cBhvr>
                                        <p:cTn id="27" dur="500"/>
                                        <p:tgtEl>
                                          <p:spTgt spid="4916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9168">
                                            <p:txEl>
                                              <p:pRg st="0" end="0"/>
                                            </p:txEl>
                                          </p:spTgt>
                                        </p:tgtEl>
                                        <p:attrNameLst>
                                          <p:attrName>style.visibility</p:attrName>
                                        </p:attrNameLst>
                                      </p:cBhvr>
                                      <p:to>
                                        <p:strVal val="visible"/>
                                      </p:to>
                                    </p:set>
                                    <p:animEffect transition="in" filter="wipe(left)">
                                      <p:cBhvr>
                                        <p:cTn id="37" dur="500"/>
                                        <p:tgtEl>
                                          <p:spTgt spid="4916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P spid="49165" grpId="0" build="p"/>
      <p:bldP spid="49166" grpId="0" build="p"/>
      <p:bldP spid="49168"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1038225" y="858838"/>
            <a:ext cx="7119938" cy="1203325"/>
          </a:xfrm>
          <a:prstGeom prst="rect">
            <a:avLst/>
          </a:prstGeom>
          <a:noFill/>
          <a:ln w="19050">
            <a:noFill/>
            <a:miter lim="800000"/>
            <a:tailEnd type="none" w="sm" len="lg"/>
          </a:ln>
          <a:effectLst/>
        </p:spPr>
        <p:txBody>
          <a:bodyPr>
            <a:spAutoFit/>
          </a:bodyPr>
          <a:lstStyle/>
          <a:p>
            <a:pPr marL="1428750" marR="0" indent="-1428750" defTabSz="914400">
              <a:lnSpc>
                <a:spcPct val="130000"/>
              </a:lnSpc>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第三步：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根据次态方程组和输出函数表达式作出状态表和状态图。</a:t>
            </a:r>
          </a:p>
        </p:txBody>
      </p:sp>
      <p:grpSp>
        <p:nvGrpSpPr>
          <p:cNvPr id="2" name="Group 61"/>
          <p:cNvGrpSpPr/>
          <p:nvPr/>
        </p:nvGrpSpPr>
        <p:grpSpPr>
          <a:xfrm>
            <a:off x="512763" y="2909888"/>
            <a:ext cx="4559300" cy="3001962"/>
            <a:chOff x="323" y="1711"/>
            <a:chExt cx="2872" cy="1891"/>
          </a:xfrm>
        </p:grpSpPr>
        <p:sp>
          <p:nvSpPr>
            <p:cNvPr id="34842" name="Rectangle 4"/>
            <p:cNvSpPr/>
            <p:nvPr/>
          </p:nvSpPr>
          <p:spPr>
            <a:xfrm>
              <a:off x="904" y="1757"/>
              <a:ext cx="2291" cy="288"/>
            </a:xfrm>
            <a:prstGeom prst="rect">
              <a:avLst/>
            </a:prstGeom>
            <a:noFill/>
            <a:ln w="19050">
              <a:noFill/>
            </a:ln>
          </p:spPr>
          <p:txBody>
            <a:bodyPr>
              <a:spAutoFit/>
            </a:bodyPr>
            <a:lstStyle/>
            <a:p>
              <a:r>
                <a:rPr lang="zh-CN" altLang="en-US" sz="2400" dirty="0">
                  <a:latin typeface="Times New Roman" panose="02020603050405020304" pitchFamily="18" charset="0"/>
                </a:rPr>
                <a:t>次态</a:t>
              </a:r>
              <a:r>
                <a:rPr lang="en-US" altLang="zh-CN" sz="2400" dirty="0">
                  <a:latin typeface="Times New Roman" panose="02020603050405020304" pitchFamily="18" charset="0"/>
                </a:rPr>
                <a:t>/</a:t>
              </a:r>
              <a:r>
                <a:rPr lang="zh-CN" altLang="en-US" sz="2400" dirty="0">
                  <a:latin typeface="Times New Roman" panose="02020603050405020304" pitchFamily="18" charset="0"/>
                </a:rPr>
                <a:t>输出</a:t>
              </a:r>
              <a:r>
                <a:rPr lang="en-US" altLang="zh-CN" sz="2400" dirty="0">
                  <a:latin typeface="Times New Roman" panose="02020603050405020304" pitchFamily="18" charset="0"/>
                </a:rPr>
                <a:t>( </a:t>
              </a:r>
              <a:r>
                <a:rPr lang="en-US" altLang="zh-CN" sz="2400" i="1" dirty="0">
                  <a:latin typeface="Times New Roman" panose="02020603050405020304" pitchFamily="18" charset="0"/>
                  <a:sym typeface="Symbol" panose="05050102010706020507" pitchFamily="18" charset="2"/>
                </a:rPr>
                <a:t>y</a:t>
              </a:r>
              <a:r>
                <a:rPr lang="en-US" altLang="zh-CN" sz="2400" baseline="-25000" dirty="0">
                  <a:latin typeface="Times New Roman" panose="02020603050405020304" pitchFamily="18" charset="0"/>
                  <a:sym typeface="Symbol" panose="05050102010706020507" pitchFamily="18" charset="2"/>
                </a:rPr>
                <a:t>2 </a:t>
              </a:r>
              <a:r>
                <a:rPr lang="en-US" altLang="zh-CN" sz="2400" baseline="30000" dirty="0">
                  <a:latin typeface="Times New Roman" panose="02020603050405020304" pitchFamily="18" charset="0"/>
                  <a:sym typeface="Symbol" panose="05050102010706020507" pitchFamily="18" charset="2"/>
                </a:rPr>
                <a:t>(</a:t>
              </a:r>
              <a:r>
                <a:rPr lang="en-US" altLang="zh-CN" sz="2400" i="1" baseline="30000" dirty="0">
                  <a:latin typeface="Times New Roman" panose="02020603050405020304" pitchFamily="18" charset="0"/>
                  <a:sym typeface="Symbol" panose="05050102010706020507" pitchFamily="18" charset="2"/>
                </a:rPr>
                <a:t>n</a:t>
              </a:r>
              <a:r>
                <a:rPr lang="en-US" altLang="zh-CN" sz="2400" baseline="30000" dirty="0">
                  <a:latin typeface="Times New Roman" panose="02020603050405020304" pitchFamily="18" charset="0"/>
                  <a:sym typeface="Symbol" panose="05050102010706020507" pitchFamily="18" charset="2"/>
                </a:rPr>
                <a:t>+1) </a:t>
              </a:r>
              <a:r>
                <a:rPr lang="en-US" altLang="zh-CN" sz="2400" i="1" dirty="0">
                  <a:latin typeface="Times New Roman" panose="02020603050405020304" pitchFamily="18" charset="0"/>
                  <a:sym typeface="Symbol" panose="05050102010706020507" pitchFamily="18" charset="2"/>
                </a:rPr>
                <a:t>y</a:t>
              </a:r>
              <a:r>
                <a:rPr lang="en-US" altLang="zh-CN" sz="2400" baseline="-25000" dirty="0">
                  <a:latin typeface="Times New Roman" panose="02020603050405020304" pitchFamily="18" charset="0"/>
                  <a:sym typeface="Symbol" panose="05050102010706020507" pitchFamily="18" charset="2"/>
                </a:rPr>
                <a:t>1 </a:t>
              </a:r>
              <a:r>
                <a:rPr lang="en-US" altLang="zh-CN" sz="2400" baseline="30000" dirty="0">
                  <a:latin typeface="Times New Roman" panose="02020603050405020304" pitchFamily="18" charset="0"/>
                  <a:sym typeface="Symbol" panose="05050102010706020507" pitchFamily="18" charset="2"/>
                </a:rPr>
                <a:t>(</a:t>
              </a:r>
              <a:r>
                <a:rPr lang="en-US" altLang="zh-CN" sz="2400" i="1" baseline="30000" dirty="0">
                  <a:latin typeface="Times New Roman" panose="02020603050405020304" pitchFamily="18" charset="0"/>
                  <a:sym typeface="Symbol" panose="05050102010706020507" pitchFamily="18" charset="2"/>
                </a:rPr>
                <a:t>n</a:t>
              </a:r>
              <a:r>
                <a:rPr lang="en-US" altLang="zh-CN" sz="2400" baseline="30000" dirty="0">
                  <a:latin typeface="Times New Roman" panose="02020603050405020304" pitchFamily="18" charset="0"/>
                  <a:sym typeface="Symbol" panose="05050102010706020507" pitchFamily="18" charset="2"/>
                </a:rPr>
                <a:t>+1)</a:t>
              </a:r>
              <a:r>
                <a:rPr lang="en-US" altLang="zh-CN" sz="2400" dirty="0">
                  <a:latin typeface="Times New Roman" panose="02020603050405020304" pitchFamily="18" charset="0"/>
                  <a:sym typeface="Symbol" panose="05050102010706020507" pitchFamily="18" charset="2"/>
                </a:rPr>
                <a:t>/Z)</a:t>
              </a:r>
              <a:endParaRPr lang="en-US" altLang="zh-CN" sz="2400" baseline="30000" dirty="0">
                <a:latin typeface="Times New Roman" panose="02020603050405020304" pitchFamily="18" charset="0"/>
                <a:sym typeface="Symbol" panose="05050102010706020507" pitchFamily="18" charset="2"/>
              </a:endParaRPr>
            </a:p>
          </p:txBody>
        </p:sp>
        <p:sp>
          <p:nvSpPr>
            <p:cNvPr id="34843" name="Line 5"/>
            <p:cNvSpPr/>
            <p:nvPr/>
          </p:nvSpPr>
          <p:spPr>
            <a:xfrm>
              <a:off x="335" y="1711"/>
              <a:ext cx="2827" cy="0"/>
            </a:xfrm>
            <a:prstGeom prst="line">
              <a:avLst/>
            </a:prstGeom>
            <a:ln w="19050" cap="flat" cmpd="sng">
              <a:solidFill>
                <a:srgbClr val="3333FF"/>
              </a:solidFill>
              <a:prstDash val="solid"/>
              <a:headEnd type="none" w="med" len="med"/>
              <a:tailEnd type="none" w="sm" len="lg"/>
            </a:ln>
          </p:spPr>
        </p:sp>
        <p:sp>
          <p:nvSpPr>
            <p:cNvPr id="34844" name="Line 6"/>
            <p:cNvSpPr/>
            <p:nvPr/>
          </p:nvSpPr>
          <p:spPr>
            <a:xfrm>
              <a:off x="335" y="2389"/>
              <a:ext cx="2794" cy="0"/>
            </a:xfrm>
            <a:prstGeom prst="line">
              <a:avLst/>
            </a:prstGeom>
            <a:ln w="19050" cap="flat" cmpd="sng">
              <a:solidFill>
                <a:srgbClr val="3333FF"/>
              </a:solidFill>
              <a:prstDash val="solid"/>
              <a:headEnd type="none" w="med" len="med"/>
              <a:tailEnd type="none" w="sm" len="lg"/>
            </a:ln>
          </p:spPr>
        </p:sp>
        <p:sp>
          <p:nvSpPr>
            <p:cNvPr id="34845" name="Line 7"/>
            <p:cNvSpPr/>
            <p:nvPr/>
          </p:nvSpPr>
          <p:spPr>
            <a:xfrm>
              <a:off x="335" y="3589"/>
              <a:ext cx="2828" cy="0"/>
            </a:xfrm>
            <a:prstGeom prst="line">
              <a:avLst/>
            </a:prstGeom>
            <a:ln w="19050" cap="flat" cmpd="sng">
              <a:solidFill>
                <a:srgbClr val="3333FF"/>
              </a:solidFill>
              <a:prstDash val="solid"/>
              <a:headEnd type="none" w="med" len="med"/>
              <a:tailEnd type="none" w="sm" len="lg"/>
            </a:ln>
          </p:spPr>
        </p:sp>
        <p:sp>
          <p:nvSpPr>
            <p:cNvPr id="34846" name="Line 8"/>
            <p:cNvSpPr/>
            <p:nvPr/>
          </p:nvSpPr>
          <p:spPr>
            <a:xfrm>
              <a:off x="936" y="1723"/>
              <a:ext cx="0" cy="1867"/>
            </a:xfrm>
            <a:prstGeom prst="line">
              <a:avLst/>
            </a:prstGeom>
            <a:ln w="19050" cap="flat" cmpd="sng">
              <a:solidFill>
                <a:srgbClr val="3333FF"/>
              </a:solidFill>
              <a:prstDash val="solid"/>
              <a:headEnd type="none" w="med" len="med"/>
              <a:tailEnd type="none" w="sm" len="lg"/>
            </a:ln>
          </p:spPr>
        </p:sp>
        <p:sp>
          <p:nvSpPr>
            <p:cNvPr id="34847" name="Line 9"/>
            <p:cNvSpPr/>
            <p:nvPr/>
          </p:nvSpPr>
          <p:spPr>
            <a:xfrm>
              <a:off x="2030" y="2066"/>
              <a:ext cx="0" cy="1536"/>
            </a:xfrm>
            <a:prstGeom prst="line">
              <a:avLst/>
            </a:prstGeom>
            <a:ln w="19050" cap="flat" cmpd="sng">
              <a:solidFill>
                <a:srgbClr val="3333FF"/>
              </a:solidFill>
              <a:prstDash val="solid"/>
              <a:headEnd type="none" w="med" len="med"/>
              <a:tailEnd type="none" w="sm" len="lg"/>
            </a:ln>
          </p:spPr>
        </p:sp>
        <p:sp>
          <p:nvSpPr>
            <p:cNvPr id="34848" name="Line 10"/>
            <p:cNvSpPr/>
            <p:nvPr/>
          </p:nvSpPr>
          <p:spPr>
            <a:xfrm>
              <a:off x="959" y="2067"/>
              <a:ext cx="2202" cy="0"/>
            </a:xfrm>
            <a:prstGeom prst="line">
              <a:avLst/>
            </a:prstGeom>
            <a:ln w="19050" cap="flat" cmpd="sng">
              <a:solidFill>
                <a:srgbClr val="3333FF"/>
              </a:solidFill>
              <a:prstDash val="solid"/>
              <a:headEnd type="none" w="med" len="med"/>
              <a:tailEnd type="none" w="sm" len="lg"/>
            </a:ln>
          </p:spPr>
        </p:sp>
        <p:sp>
          <p:nvSpPr>
            <p:cNvPr id="34849" name="Text Box 11"/>
            <p:cNvSpPr txBox="1"/>
            <p:nvPr/>
          </p:nvSpPr>
          <p:spPr>
            <a:xfrm>
              <a:off x="370" y="2405"/>
              <a:ext cx="452" cy="1162"/>
            </a:xfrm>
            <a:prstGeom prst="rect">
              <a:avLst/>
            </a:prstGeom>
            <a:noFill/>
            <a:ln w="19050">
              <a:noFill/>
            </a:ln>
          </p:spPr>
          <p:txBody>
            <a:bodyPr wrap="none">
              <a:spAutoFit/>
            </a:bodyPr>
            <a:lstStyle/>
            <a:p>
              <a:pPr>
                <a:lnSpc>
                  <a:spcPct val="120000"/>
                </a:lnSpc>
              </a:pPr>
              <a:r>
                <a:rPr lang="en-US" altLang="zh-CN" sz="2400" dirty="0">
                  <a:latin typeface="Times New Roman" panose="02020603050405020304" pitchFamily="18" charset="0"/>
                </a:rPr>
                <a:t>0   0</a:t>
              </a:r>
            </a:p>
            <a:p>
              <a:pPr>
                <a:lnSpc>
                  <a:spcPct val="120000"/>
                </a:lnSpc>
              </a:pPr>
              <a:r>
                <a:rPr lang="en-US" altLang="zh-CN" sz="2400" dirty="0">
                  <a:latin typeface="Times New Roman" panose="02020603050405020304" pitchFamily="18" charset="0"/>
                </a:rPr>
                <a:t>0   1</a:t>
              </a:r>
            </a:p>
            <a:p>
              <a:pPr>
                <a:lnSpc>
                  <a:spcPct val="120000"/>
                </a:lnSpc>
              </a:pPr>
              <a:r>
                <a:rPr lang="en-US" altLang="zh-CN" sz="2400" dirty="0">
                  <a:latin typeface="Times New Roman" panose="02020603050405020304" pitchFamily="18" charset="0"/>
                </a:rPr>
                <a:t>1   1</a:t>
              </a:r>
            </a:p>
            <a:p>
              <a:pPr>
                <a:lnSpc>
                  <a:spcPct val="120000"/>
                </a:lnSpc>
              </a:pPr>
              <a:r>
                <a:rPr lang="en-US" altLang="zh-CN" sz="2400" dirty="0">
                  <a:latin typeface="Times New Roman" panose="02020603050405020304" pitchFamily="18" charset="0"/>
                </a:rPr>
                <a:t>1   0</a:t>
              </a:r>
            </a:p>
          </p:txBody>
        </p:sp>
        <p:sp>
          <p:nvSpPr>
            <p:cNvPr id="34850" name="Text Box 12"/>
            <p:cNvSpPr txBox="1"/>
            <p:nvPr/>
          </p:nvSpPr>
          <p:spPr>
            <a:xfrm>
              <a:off x="323" y="1817"/>
              <a:ext cx="606" cy="472"/>
            </a:xfrm>
            <a:prstGeom prst="rect">
              <a:avLst/>
            </a:prstGeom>
            <a:noFill/>
            <a:ln w="19050">
              <a:noFill/>
            </a:ln>
          </p:spPr>
          <p:txBody>
            <a:bodyPr wrap="none">
              <a:spAutoFit/>
            </a:bodyPr>
            <a:lstStyle/>
            <a:p>
              <a:pPr>
                <a:lnSpc>
                  <a:spcPct val="90000"/>
                </a:lnSpc>
              </a:pPr>
              <a:r>
                <a:rPr lang="zh-CN" altLang="en-US" sz="2400" dirty="0">
                  <a:latin typeface="Times New Roman" panose="02020603050405020304" pitchFamily="18" charset="0"/>
                </a:rPr>
                <a:t>现 态</a:t>
              </a:r>
              <a:br>
                <a:rPr lang="zh-CN" altLang="en-US" sz="2400" dirty="0">
                  <a:latin typeface="Times New Roman" panose="02020603050405020304" pitchFamily="18" charset="0"/>
                </a:rPr>
              </a:br>
              <a:r>
                <a:rPr lang="zh-CN" altLang="en-US" sz="2400" dirty="0">
                  <a:latin typeface="Times New Roman" panose="02020603050405020304" pitchFamily="18" charset="0"/>
                </a:rPr>
                <a:t> </a:t>
              </a:r>
              <a:r>
                <a:rPr lang="en-US" altLang="zh-CN" sz="2400" i="1" dirty="0">
                  <a:latin typeface="Times New Roman" panose="02020603050405020304" pitchFamily="18" charset="0"/>
                  <a:sym typeface="Symbol" panose="05050102010706020507" pitchFamily="18" charset="2"/>
                </a:rPr>
                <a:t>y</a:t>
              </a:r>
              <a:r>
                <a:rPr lang="en-US" altLang="zh-CN" sz="2400" baseline="-25000" dirty="0">
                  <a:latin typeface="Times New Roman" panose="02020603050405020304" pitchFamily="18" charset="0"/>
                  <a:sym typeface="Symbol" panose="05050102010706020507" pitchFamily="18" charset="2"/>
                </a:rPr>
                <a:t>2   </a:t>
              </a:r>
              <a:r>
                <a:rPr lang="en-US" altLang="zh-CN" sz="2400" i="1" dirty="0">
                  <a:latin typeface="Times New Roman" panose="02020603050405020304" pitchFamily="18" charset="0"/>
                  <a:sym typeface="Symbol" panose="05050102010706020507" pitchFamily="18" charset="2"/>
                </a:rPr>
                <a:t>y</a:t>
              </a:r>
              <a:r>
                <a:rPr lang="en-US" altLang="zh-CN" sz="2400" baseline="-25000" dirty="0">
                  <a:latin typeface="Times New Roman" panose="02020603050405020304" pitchFamily="18" charset="0"/>
                  <a:sym typeface="Symbol" panose="05050102010706020507" pitchFamily="18" charset="2"/>
                </a:rPr>
                <a:t>1</a:t>
              </a:r>
              <a:r>
                <a:rPr lang="en-US" altLang="zh-CN" sz="2400" dirty="0">
                  <a:latin typeface="Times New Roman" panose="02020603050405020304" pitchFamily="18" charset="0"/>
                </a:rPr>
                <a:t> </a:t>
              </a:r>
            </a:p>
          </p:txBody>
        </p:sp>
        <p:sp>
          <p:nvSpPr>
            <p:cNvPr id="34851" name="Text Box 13"/>
            <p:cNvSpPr txBox="1"/>
            <p:nvPr/>
          </p:nvSpPr>
          <p:spPr>
            <a:xfrm>
              <a:off x="1248" y="2098"/>
              <a:ext cx="512" cy="288"/>
            </a:xfrm>
            <a:prstGeom prst="rect">
              <a:avLst/>
            </a:prstGeom>
            <a:noFill/>
            <a:ln w="19050">
              <a:noFill/>
            </a:ln>
          </p:spPr>
          <p:txBody>
            <a:bodyPr wrap="none">
              <a:spAutoFit/>
            </a:bodyPr>
            <a:lstStyle/>
            <a:p>
              <a:r>
                <a:rPr lang="en-US" altLang="zh-CN" sz="2400" dirty="0">
                  <a:latin typeface="Times New Roman" panose="02020603050405020304" pitchFamily="18" charset="0"/>
                </a:rPr>
                <a:t>x = 0</a:t>
              </a:r>
            </a:p>
          </p:txBody>
        </p:sp>
        <p:sp>
          <p:nvSpPr>
            <p:cNvPr id="34852" name="Text Box 14"/>
            <p:cNvSpPr txBox="1"/>
            <p:nvPr/>
          </p:nvSpPr>
          <p:spPr>
            <a:xfrm>
              <a:off x="2209" y="2098"/>
              <a:ext cx="512" cy="288"/>
            </a:xfrm>
            <a:prstGeom prst="rect">
              <a:avLst/>
            </a:prstGeom>
            <a:noFill/>
            <a:ln w="19050">
              <a:noFill/>
            </a:ln>
          </p:spPr>
          <p:txBody>
            <a:bodyPr wrap="none">
              <a:spAutoFit/>
            </a:bodyPr>
            <a:lstStyle/>
            <a:p>
              <a:r>
                <a:rPr lang="en-US" altLang="zh-CN" sz="2400" dirty="0">
                  <a:latin typeface="Times New Roman" panose="02020603050405020304" pitchFamily="18" charset="0"/>
                </a:rPr>
                <a:t>x = 1</a:t>
              </a:r>
            </a:p>
          </p:txBody>
        </p:sp>
        <p:sp>
          <p:nvSpPr>
            <p:cNvPr id="34853" name="Text Box 15"/>
            <p:cNvSpPr txBox="1"/>
            <p:nvPr/>
          </p:nvSpPr>
          <p:spPr>
            <a:xfrm>
              <a:off x="1278" y="2405"/>
              <a:ext cx="457" cy="1162"/>
            </a:xfrm>
            <a:prstGeom prst="rect">
              <a:avLst/>
            </a:prstGeom>
            <a:noFill/>
            <a:ln w="19050">
              <a:noFill/>
            </a:ln>
          </p:spPr>
          <p:txBody>
            <a:bodyPr wrap="none">
              <a:spAutoFit/>
            </a:bodyPr>
            <a:lstStyle/>
            <a:p>
              <a:pPr>
                <a:lnSpc>
                  <a:spcPct val="120000"/>
                </a:lnSpc>
              </a:pPr>
              <a:r>
                <a:rPr lang="en-US" altLang="zh-CN" sz="2400" dirty="0">
                  <a:latin typeface="Times New Roman" panose="02020603050405020304" pitchFamily="18" charset="0"/>
                </a:rPr>
                <a:t>00/0</a:t>
              </a:r>
            </a:p>
            <a:p>
              <a:pPr>
                <a:lnSpc>
                  <a:spcPct val="120000"/>
                </a:lnSpc>
              </a:pPr>
              <a:r>
                <a:rPr lang="en-US" altLang="zh-CN" sz="2400" dirty="0">
                  <a:latin typeface="Times New Roman" panose="02020603050405020304" pitchFamily="18" charset="0"/>
                </a:rPr>
                <a:t>10/0</a:t>
              </a:r>
            </a:p>
            <a:p>
              <a:pPr>
                <a:lnSpc>
                  <a:spcPct val="120000"/>
                </a:lnSpc>
              </a:pPr>
              <a:r>
                <a:rPr lang="en-US" altLang="zh-CN" sz="2400" dirty="0">
                  <a:latin typeface="Times New Roman" panose="02020603050405020304" pitchFamily="18" charset="0"/>
                </a:rPr>
                <a:t>00/0</a:t>
              </a:r>
            </a:p>
            <a:p>
              <a:pPr>
                <a:lnSpc>
                  <a:spcPct val="120000"/>
                </a:lnSpc>
              </a:pPr>
              <a:r>
                <a:rPr lang="en-US" altLang="zh-CN" sz="2400" dirty="0">
                  <a:latin typeface="Times New Roman" panose="02020603050405020304" pitchFamily="18" charset="0"/>
                </a:rPr>
                <a:t>00/0</a:t>
              </a:r>
            </a:p>
          </p:txBody>
        </p:sp>
        <p:sp>
          <p:nvSpPr>
            <p:cNvPr id="34854" name="Text Box 42"/>
            <p:cNvSpPr txBox="1"/>
            <p:nvPr/>
          </p:nvSpPr>
          <p:spPr>
            <a:xfrm>
              <a:off x="2270" y="2405"/>
              <a:ext cx="457" cy="1162"/>
            </a:xfrm>
            <a:prstGeom prst="rect">
              <a:avLst/>
            </a:prstGeom>
            <a:noFill/>
            <a:ln w="19050">
              <a:noFill/>
            </a:ln>
          </p:spPr>
          <p:txBody>
            <a:bodyPr wrap="none">
              <a:spAutoFit/>
            </a:bodyPr>
            <a:lstStyle/>
            <a:p>
              <a:pPr>
                <a:lnSpc>
                  <a:spcPct val="120000"/>
                </a:lnSpc>
              </a:pPr>
              <a:r>
                <a:rPr lang="en-US" altLang="zh-CN" sz="2400" dirty="0">
                  <a:latin typeface="Times New Roman" panose="02020603050405020304" pitchFamily="18" charset="0"/>
                </a:rPr>
                <a:t>01/0</a:t>
              </a:r>
            </a:p>
            <a:p>
              <a:pPr>
                <a:lnSpc>
                  <a:spcPct val="120000"/>
                </a:lnSpc>
              </a:pPr>
              <a:r>
                <a:rPr lang="en-US" altLang="zh-CN" sz="2400" dirty="0">
                  <a:latin typeface="Times New Roman" panose="02020603050405020304" pitchFamily="18" charset="0"/>
                </a:rPr>
                <a:t>01/0</a:t>
              </a:r>
            </a:p>
            <a:p>
              <a:pPr>
                <a:lnSpc>
                  <a:spcPct val="120000"/>
                </a:lnSpc>
              </a:pPr>
              <a:r>
                <a:rPr lang="en-US" altLang="zh-CN" sz="2400" dirty="0">
                  <a:latin typeface="Times New Roman" panose="02020603050405020304" pitchFamily="18" charset="0"/>
                </a:rPr>
                <a:t>01/0</a:t>
              </a:r>
            </a:p>
            <a:p>
              <a:pPr>
                <a:lnSpc>
                  <a:spcPct val="120000"/>
                </a:lnSpc>
              </a:pPr>
              <a:r>
                <a:rPr lang="en-US" altLang="zh-CN" sz="2400" dirty="0">
                  <a:latin typeface="Times New Roman" panose="02020603050405020304" pitchFamily="18" charset="0"/>
                </a:rPr>
                <a:t>01/1</a:t>
              </a:r>
            </a:p>
          </p:txBody>
        </p:sp>
      </p:grpSp>
      <p:grpSp>
        <p:nvGrpSpPr>
          <p:cNvPr id="3" name="Group 59"/>
          <p:cNvGrpSpPr/>
          <p:nvPr/>
        </p:nvGrpSpPr>
        <p:grpSpPr>
          <a:xfrm>
            <a:off x="5500688" y="2519363"/>
            <a:ext cx="3143250" cy="3454400"/>
            <a:chOff x="3499" y="1565"/>
            <a:chExt cx="1980" cy="2176"/>
          </a:xfrm>
        </p:grpSpPr>
        <p:sp>
          <p:nvSpPr>
            <p:cNvPr id="34821" name="Arc 51"/>
            <p:cNvSpPr/>
            <p:nvPr/>
          </p:nvSpPr>
          <p:spPr>
            <a:xfrm flipV="1">
              <a:off x="5048" y="1914"/>
              <a:ext cx="306" cy="304"/>
            </a:xfrm>
            <a:custGeom>
              <a:avLst/>
              <a:gdLst>
                <a:gd name="txL" fmla="*/ 0 w 43200"/>
                <a:gd name="txT" fmla="*/ 0 h 42963"/>
                <a:gd name="txR" fmla="*/ 43200 w 43200"/>
                <a:gd name="txB" fmla="*/ 42963 h 42963"/>
              </a:gdLst>
              <a:ahLst/>
              <a:cxnLst>
                <a:cxn ang="0">
                  <a:pos x="0" y="0"/>
                </a:cxn>
                <a:cxn ang="0">
                  <a:pos x="0" y="0"/>
                </a:cxn>
                <a:cxn ang="0">
                  <a:pos x="0" y="0"/>
                </a:cxn>
              </a:cxnLst>
              <a:rect l="txL" t="txT" r="txR" b="txB"/>
              <a:pathLst>
                <a:path w="43200" h="42963" fill="none">
                  <a:moveTo>
                    <a:pt x="24790" y="0"/>
                  </a:moveTo>
                  <a:cubicBezTo>
                    <a:pt x="35370" y="1580"/>
                    <a:pt x="43200" y="10666"/>
                    <a:pt x="43200" y="21363"/>
                  </a:cubicBezTo>
                  <a:cubicBezTo>
                    <a:pt x="43200" y="33292"/>
                    <a:pt x="33529" y="42963"/>
                    <a:pt x="21600" y="42963"/>
                  </a:cubicBezTo>
                  <a:cubicBezTo>
                    <a:pt x="9670" y="42963"/>
                    <a:pt x="0" y="33292"/>
                    <a:pt x="0" y="21363"/>
                  </a:cubicBezTo>
                  <a:cubicBezTo>
                    <a:pt x="-1" y="17114"/>
                    <a:pt x="1252" y="12960"/>
                    <a:pt x="3602" y="9420"/>
                  </a:cubicBezTo>
                </a:path>
                <a:path w="43200" h="42963" stroke="0">
                  <a:moveTo>
                    <a:pt x="24790" y="0"/>
                  </a:moveTo>
                  <a:cubicBezTo>
                    <a:pt x="35370" y="1580"/>
                    <a:pt x="43200" y="10666"/>
                    <a:pt x="43200" y="21363"/>
                  </a:cubicBezTo>
                  <a:cubicBezTo>
                    <a:pt x="43200" y="33292"/>
                    <a:pt x="33529" y="42963"/>
                    <a:pt x="21600" y="42963"/>
                  </a:cubicBezTo>
                  <a:cubicBezTo>
                    <a:pt x="9670" y="42963"/>
                    <a:pt x="0" y="33292"/>
                    <a:pt x="0" y="21363"/>
                  </a:cubicBezTo>
                  <a:cubicBezTo>
                    <a:pt x="-1" y="17114"/>
                    <a:pt x="1252" y="12960"/>
                    <a:pt x="3602" y="9420"/>
                  </a:cubicBezTo>
                  <a:lnTo>
                    <a:pt x="21600" y="21363"/>
                  </a:lnTo>
                  <a:lnTo>
                    <a:pt x="24790" y="0"/>
                  </a:lnTo>
                  <a:close/>
                </a:path>
              </a:pathLst>
            </a:custGeom>
            <a:noFill/>
            <a:ln w="19050" cap="flat" cmpd="sng">
              <a:solidFill>
                <a:srgbClr val="3333FF">
                  <a:alpha val="100000"/>
                </a:srgbClr>
              </a:solidFill>
              <a:prstDash val="solid"/>
              <a:round/>
              <a:headEnd type="triangle" w="sm" len="lg"/>
              <a:tailEnd type="none" w="sm" len="lg"/>
            </a:ln>
          </p:spPr>
          <p:txBody>
            <a:bodyPr/>
            <a:lstStyle/>
            <a:p>
              <a:endParaRPr lang="zh-CN" altLang="en-US"/>
            </a:p>
          </p:txBody>
        </p:sp>
        <p:sp>
          <p:nvSpPr>
            <p:cNvPr id="34822" name="Oval 18"/>
            <p:cNvSpPr/>
            <p:nvPr/>
          </p:nvSpPr>
          <p:spPr>
            <a:xfrm>
              <a:off x="3648" y="2144"/>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lstStyle/>
            <a:p>
              <a:pPr algn="ctr"/>
              <a:r>
                <a:rPr lang="en-US" altLang="zh-CN" sz="2800" dirty="0">
                  <a:latin typeface="Times New Roman" panose="02020603050405020304" pitchFamily="18" charset="0"/>
                </a:rPr>
                <a:t>00</a:t>
              </a:r>
            </a:p>
          </p:txBody>
        </p:sp>
        <p:sp>
          <p:nvSpPr>
            <p:cNvPr id="34823" name="Oval 19"/>
            <p:cNvSpPr/>
            <p:nvPr/>
          </p:nvSpPr>
          <p:spPr>
            <a:xfrm>
              <a:off x="4845" y="2144"/>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lstStyle/>
            <a:p>
              <a:pPr algn="ctr"/>
              <a:r>
                <a:rPr lang="en-US" altLang="zh-CN" sz="2800" dirty="0">
                  <a:latin typeface="Times New Roman" panose="02020603050405020304" pitchFamily="18" charset="0"/>
                </a:rPr>
                <a:t>01</a:t>
              </a:r>
            </a:p>
          </p:txBody>
        </p:sp>
        <p:sp>
          <p:nvSpPr>
            <p:cNvPr id="34824" name="Oval 20"/>
            <p:cNvSpPr/>
            <p:nvPr/>
          </p:nvSpPr>
          <p:spPr>
            <a:xfrm>
              <a:off x="4845" y="3319"/>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lstStyle/>
            <a:p>
              <a:pPr algn="ctr"/>
              <a:r>
                <a:rPr lang="en-US" altLang="zh-CN" sz="2800" dirty="0">
                  <a:latin typeface="Times New Roman" panose="02020603050405020304" pitchFamily="18" charset="0"/>
                </a:rPr>
                <a:t>10</a:t>
              </a:r>
            </a:p>
          </p:txBody>
        </p:sp>
        <p:sp>
          <p:nvSpPr>
            <p:cNvPr id="34825" name="Oval 21"/>
            <p:cNvSpPr/>
            <p:nvPr/>
          </p:nvSpPr>
          <p:spPr>
            <a:xfrm>
              <a:off x="3648" y="3319"/>
              <a:ext cx="422" cy="422"/>
            </a:xfrm>
            <a:prstGeom prst="ellipse">
              <a:avLst/>
            </a:prstGeom>
            <a:solidFill>
              <a:srgbClr val="E1FDFF"/>
            </a:solidFill>
            <a:ln w="19050" cap="flat" cmpd="sng">
              <a:solidFill>
                <a:srgbClr val="3333FF"/>
              </a:solidFill>
              <a:prstDash val="solid"/>
              <a:headEnd type="none" w="med" len="med"/>
              <a:tailEnd type="none" w="sm" len="lg"/>
            </a:ln>
          </p:spPr>
          <p:txBody>
            <a:bodyPr wrap="none" anchor="ctr" anchorCtr="0"/>
            <a:lstStyle/>
            <a:p>
              <a:pPr algn="ctr"/>
              <a:r>
                <a:rPr lang="en-US" altLang="zh-CN" sz="2800" dirty="0">
                  <a:latin typeface="Times New Roman" panose="02020603050405020304" pitchFamily="18" charset="0"/>
                </a:rPr>
                <a:t>11</a:t>
              </a:r>
            </a:p>
          </p:txBody>
        </p:sp>
        <p:sp>
          <p:nvSpPr>
            <p:cNvPr id="34826" name="Text Box 33"/>
            <p:cNvSpPr txBox="1"/>
            <p:nvPr/>
          </p:nvSpPr>
          <p:spPr>
            <a:xfrm>
              <a:off x="4265" y="2096"/>
              <a:ext cx="402"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34827" name="Text Box 41"/>
            <p:cNvSpPr txBox="1"/>
            <p:nvPr/>
          </p:nvSpPr>
          <p:spPr>
            <a:xfrm>
              <a:off x="4300" y="1565"/>
              <a:ext cx="389" cy="327"/>
            </a:xfrm>
            <a:prstGeom prst="rect">
              <a:avLst/>
            </a:prstGeom>
            <a:noFill/>
            <a:ln w="19050">
              <a:noFill/>
            </a:ln>
          </p:spPr>
          <p:txBody>
            <a:bodyPr wrap="none">
              <a:spAutoFit/>
            </a:bodyPr>
            <a:lstStyle/>
            <a:p>
              <a:r>
                <a:rPr lang="en-US" altLang="zh-CN" sz="2800" dirty="0">
                  <a:latin typeface="Times New Roman" panose="02020603050405020304" pitchFamily="18" charset="0"/>
                </a:rPr>
                <a:t>x/z</a:t>
              </a:r>
            </a:p>
          </p:txBody>
        </p:sp>
        <p:sp>
          <p:nvSpPr>
            <p:cNvPr id="34828" name="Line 44"/>
            <p:cNvSpPr/>
            <p:nvPr/>
          </p:nvSpPr>
          <p:spPr>
            <a:xfrm>
              <a:off x="4080" y="2366"/>
              <a:ext cx="766" cy="0"/>
            </a:xfrm>
            <a:prstGeom prst="line">
              <a:avLst/>
            </a:prstGeom>
            <a:ln w="19050" cap="flat" cmpd="sng">
              <a:solidFill>
                <a:srgbClr val="3333FF"/>
              </a:solidFill>
              <a:prstDash val="solid"/>
              <a:headEnd type="none" w="med" len="med"/>
              <a:tailEnd type="triangle" w="sm" len="lg"/>
            </a:ln>
          </p:spPr>
        </p:sp>
        <p:sp>
          <p:nvSpPr>
            <p:cNvPr id="34829" name="Line 45"/>
            <p:cNvSpPr/>
            <p:nvPr/>
          </p:nvSpPr>
          <p:spPr>
            <a:xfrm flipV="1">
              <a:off x="3857" y="2566"/>
              <a:ext cx="0" cy="744"/>
            </a:xfrm>
            <a:prstGeom prst="line">
              <a:avLst/>
            </a:prstGeom>
            <a:ln w="19050" cap="flat" cmpd="sng">
              <a:solidFill>
                <a:srgbClr val="3333FF"/>
              </a:solidFill>
              <a:prstDash val="solid"/>
              <a:headEnd type="none" w="med" len="med"/>
              <a:tailEnd type="triangle" w="sm" len="lg"/>
            </a:ln>
          </p:spPr>
        </p:sp>
        <p:sp>
          <p:nvSpPr>
            <p:cNvPr id="34830" name="Line 46"/>
            <p:cNvSpPr/>
            <p:nvPr/>
          </p:nvSpPr>
          <p:spPr>
            <a:xfrm flipV="1">
              <a:off x="4057" y="2555"/>
              <a:ext cx="878" cy="878"/>
            </a:xfrm>
            <a:prstGeom prst="line">
              <a:avLst/>
            </a:prstGeom>
            <a:ln w="19050" cap="flat" cmpd="sng">
              <a:solidFill>
                <a:srgbClr val="3333FF"/>
              </a:solidFill>
              <a:prstDash val="solid"/>
              <a:headEnd type="none" w="med" len="med"/>
              <a:tailEnd type="triangle" w="sm" len="lg"/>
            </a:ln>
          </p:spPr>
        </p:sp>
        <p:sp>
          <p:nvSpPr>
            <p:cNvPr id="34831" name="Line 47"/>
            <p:cNvSpPr/>
            <p:nvPr/>
          </p:nvSpPr>
          <p:spPr>
            <a:xfrm flipH="1" flipV="1">
              <a:off x="4002" y="2488"/>
              <a:ext cx="900" cy="900"/>
            </a:xfrm>
            <a:prstGeom prst="line">
              <a:avLst/>
            </a:prstGeom>
            <a:ln w="19050" cap="flat" cmpd="sng">
              <a:solidFill>
                <a:srgbClr val="3333FF"/>
              </a:solidFill>
              <a:prstDash val="solid"/>
              <a:headEnd type="none" w="med" len="med"/>
              <a:tailEnd type="triangle" w="sm" len="lg"/>
            </a:ln>
          </p:spPr>
        </p:sp>
        <p:sp>
          <p:nvSpPr>
            <p:cNvPr id="34832" name="Line 48"/>
            <p:cNvSpPr/>
            <p:nvPr/>
          </p:nvSpPr>
          <p:spPr>
            <a:xfrm flipV="1">
              <a:off x="5013" y="2566"/>
              <a:ext cx="0" cy="756"/>
            </a:xfrm>
            <a:prstGeom prst="line">
              <a:avLst/>
            </a:prstGeom>
            <a:ln w="19050" cap="flat" cmpd="sng">
              <a:solidFill>
                <a:srgbClr val="3333FF"/>
              </a:solidFill>
              <a:prstDash val="solid"/>
              <a:headEnd type="none" w="med" len="med"/>
              <a:tailEnd type="triangle" w="sm" len="lg"/>
            </a:ln>
          </p:spPr>
        </p:sp>
        <p:sp>
          <p:nvSpPr>
            <p:cNvPr id="34833" name="Line 49"/>
            <p:cNvSpPr/>
            <p:nvPr/>
          </p:nvSpPr>
          <p:spPr>
            <a:xfrm>
              <a:off x="5113" y="2555"/>
              <a:ext cx="0" cy="767"/>
            </a:xfrm>
            <a:prstGeom prst="line">
              <a:avLst/>
            </a:prstGeom>
            <a:ln w="19050" cap="flat" cmpd="sng">
              <a:solidFill>
                <a:srgbClr val="3333FF"/>
              </a:solidFill>
              <a:prstDash val="solid"/>
              <a:headEnd type="none" w="med" len="med"/>
              <a:tailEnd type="triangle" w="sm" len="lg"/>
            </a:ln>
          </p:spPr>
        </p:sp>
        <p:sp>
          <p:nvSpPr>
            <p:cNvPr id="34834" name="Arc 50"/>
            <p:cNvSpPr/>
            <p:nvPr/>
          </p:nvSpPr>
          <p:spPr>
            <a:xfrm flipV="1">
              <a:off x="3628" y="1892"/>
              <a:ext cx="306" cy="296"/>
            </a:xfrm>
            <a:custGeom>
              <a:avLst/>
              <a:gdLst>
                <a:gd name="txL" fmla="*/ 0 w 43200"/>
                <a:gd name="txT" fmla="*/ 0 h 41803"/>
                <a:gd name="txR" fmla="*/ 43200 w 43200"/>
                <a:gd name="txB" fmla="*/ 41803 h 41803"/>
              </a:gdLst>
              <a:ahLst/>
              <a:cxnLst>
                <a:cxn ang="0">
                  <a:pos x="0" y="0"/>
                </a:cxn>
                <a:cxn ang="0">
                  <a:pos x="0" y="0"/>
                </a:cxn>
                <a:cxn ang="0">
                  <a:pos x="0" y="0"/>
                </a:cxn>
              </a:cxnLst>
              <a:rect l="txL" t="txT" r="txR" b="txB"/>
              <a:pathLst>
                <a:path w="43200" h="41803" fill="none">
                  <a:moveTo>
                    <a:pt x="36740" y="4797"/>
                  </a:moveTo>
                  <a:cubicBezTo>
                    <a:pt x="40872" y="8858"/>
                    <a:pt x="43200" y="14409"/>
                    <a:pt x="43200" y="20203"/>
                  </a:cubicBezTo>
                  <a:cubicBezTo>
                    <a:pt x="43200" y="32132"/>
                    <a:pt x="33529" y="41803"/>
                    <a:pt x="21600" y="41803"/>
                  </a:cubicBezTo>
                  <a:cubicBezTo>
                    <a:pt x="9670" y="41803"/>
                    <a:pt x="0" y="32132"/>
                    <a:pt x="0" y="20203"/>
                  </a:cubicBezTo>
                  <a:cubicBezTo>
                    <a:pt x="-1" y="11221"/>
                    <a:pt x="5558" y="3176"/>
                    <a:pt x="13958" y="-1"/>
                  </a:cubicBezTo>
                </a:path>
                <a:path w="43200" h="41803" stroke="0">
                  <a:moveTo>
                    <a:pt x="36740" y="4797"/>
                  </a:moveTo>
                  <a:cubicBezTo>
                    <a:pt x="40872" y="8858"/>
                    <a:pt x="43200" y="14409"/>
                    <a:pt x="43200" y="20203"/>
                  </a:cubicBezTo>
                  <a:cubicBezTo>
                    <a:pt x="43200" y="32132"/>
                    <a:pt x="33529" y="41803"/>
                    <a:pt x="21600" y="41803"/>
                  </a:cubicBezTo>
                  <a:cubicBezTo>
                    <a:pt x="9670" y="41803"/>
                    <a:pt x="0" y="32132"/>
                    <a:pt x="0" y="20203"/>
                  </a:cubicBezTo>
                  <a:cubicBezTo>
                    <a:pt x="-1" y="11221"/>
                    <a:pt x="5558" y="3176"/>
                    <a:pt x="13958" y="-1"/>
                  </a:cubicBezTo>
                  <a:lnTo>
                    <a:pt x="21600" y="20203"/>
                  </a:lnTo>
                  <a:lnTo>
                    <a:pt x="36740" y="4797"/>
                  </a:lnTo>
                  <a:close/>
                </a:path>
              </a:pathLst>
            </a:custGeom>
            <a:noFill/>
            <a:ln w="19050" cap="flat" cmpd="sng">
              <a:solidFill>
                <a:srgbClr val="3333FF">
                  <a:alpha val="100000"/>
                </a:srgbClr>
              </a:solidFill>
              <a:prstDash val="solid"/>
              <a:round/>
              <a:headEnd type="triangle" w="sm" len="lg"/>
              <a:tailEnd type="none" w="sm" len="lg"/>
            </a:ln>
          </p:spPr>
          <p:txBody>
            <a:bodyPr/>
            <a:lstStyle/>
            <a:p>
              <a:endParaRPr lang="zh-CN" altLang="en-US"/>
            </a:p>
          </p:txBody>
        </p:sp>
        <p:sp>
          <p:nvSpPr>
            <p:cNvPr id="34835" name="Text Box 52"/>
            <p:cNvSpPr txBox="1"/>
            <p:nvPr/>
          </p:nvSpPr>
          <p:spPr>
            <a:xfrm>
              <a:off x="4200" y="2487"/>
              <a:ext cx="402"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34836" name="Text Box 53"/>
            <p:cNvSpPr txBox="1"/>
            <p:nvPr/>
          </p:nvSpPr>
          <p:spPr>
            <a:xfrm>
              <a:off x="5077" y="2765"/>
              <a:ext cx="402"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34837" name="Text Box 54"/>
            <p:cNvSpPr txBox="1"/>
            <p:nvPr/>
          </p:nvSpPr>
          <p:spPr>
            <a:xfrm>
              <a:off x="3499" y="2765"/>
              <a:ext cx="402"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34838" name="Text Box 55"/>
            <p:cNvSpPr txBox="1"/>
            <p:nvPr/>
          </p:nvSpPr>
          <p:spPr>
            <a:xfrm>
              <a:off x="4154" y="3163"/>
              <a:ext cx="402"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34839" name="Text Box 56"/>
            <p:cNvSpPr txBox="1"/>
            <p:nvPr/>
          </p:nvSpPr>
          <p:spPr>
            <a:xfrm>
              <a:off x="4665" y="2763"/>
              <a:ext cx="402" cy="327"/>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34840" name="Text Box 57"/>
            <p:cNvSpPr txBox="1"/>
            <p:nvPr/>
          </p:nvSpPr>
          <p:spPr>
            <a:xfrm>
              <a:off x="3765" y="1654"/>
              <a:ext cx="402"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34841" name="Text Box 58"/>
            <p:cNvSpPr txBox="1"/>
            <p:nvPr/>
          </p:nvSpPr>
          <p:spPr>
            <a:xfrm>
              <a:off x="4801" y="1674"/>
              <a:ext cx="402"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1054100" y="855663"/>
            <a:ext cx="7661275"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第四步</a:t>
            </a:r>
            <a:r>
              <a:rPr kumimoji="1" lang="zh-CN" altLang="en-US" sz="2800" kern="1200" cap="none" spc="0" normalizeH="0" baseline="0" noProof="0">
                <a:latin typeface="Times New Roman" panose="02020603050405020304" pitchFamily="18" charset="0"/>
                <a:ea typeface="宋体" panose="02010600030101010101" pitchFamily="2" charset="-122"/>
                <a:cs typeface="+mn-cs"/>
              </a:rPr>
              <a:t>：作出时间图，并说明电路的逻辑功能。</a:t>
            </a:r>
          </a:p>
        </p:txBody>
      </p:sp>
      <p:sp>
        <p:nvSpPr>
          <p:cNvPr id="51203" name="Text Box 3"/>
          <p:cNvSpPr txBox="1"/>
          <p:nvPr/>
        </p:nvSpPr>
        <p:spPr>
          <a:xfrm>
            <a:off x="2519363" y="1384300"/>
            <a:ext cx="4651375" cy="519113"/>
          </a:xfrm>
          <a:prstGeom prst="rect">
            <a:avLst/>
          </a:prstGeom>
          <a:noFill/>
          <a:ln w="19050">
            <a:noFill/>
          </a:ln>
        </p:spPr>
        <p:txBody>
          <a:bodyPr wrap="none">
            <a:spAutoFit/>
          </a:bodyPr>
          <a:lstStyle/>
          <a:p>
            <a:r>
              <a:rPr lang="zh-CN" altLang="en-US" sz="2800" dirty="0">
                <a:latin typeface="Times New Roman" panose="02020603050405020304" pitchFamily="18" charset="0"/>
              </a:rPr>
              <a:t>典型输入序列：</a:t>
            </a:r>
            <a:r>
              <a:rPr lang="en-US" altLang="zh-CN" sz="2800" dirty="0">
                <a:latin typeface="Times New Roman" panose="02020603050405020304" pitchFamily="18" charset="0"/>
              </a:rPr>
              <a:t>x = 01011101</a:t>
            </a:r>
          </a:p>
        </p:txBody>
      </p:sp>
      <p:sp>
        <p:nvSpPr>
          <p:cNvPr id="51204" name="Text Box 4"/>
          <p:cNvSpPr txBox="1"/>
          <p:nvPr/>
        </p:nvSpPr>
        <p:spPr>
          <a:xfrm>
            <a:off x="3962400" y="1912938"/>
            <a:ext cx="2641600" cy="519112"/>
          </a:xfrm>
          <a:prstGeom prst="rect">
            <a:avLst/>
          </a:prstGeom>
          <a:noFill/>
          <a:ln w="19050">
            <a:noFill/>
          </a:ln>
        </p:spPr>
        <p:txBody>
          <a:bodyPr wrap="none">
            <a:spAutoFit/>
          </a:bodyPr>
          <a:lstStyle/>
          <a:p>
            <a:r>
              <a:rPr lang="zh-CN" altLang="en-US" sz="2800" dirty="0">
                <a:latin typeface="Times New Roman" panose="02020603050405020304" pitchFamily="18" charset="0"/>
              </a:rPr>
              <a:t>初态：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00</a:t>
            </a:r>
          </a:p>
        </p:txBody>
      </p:sp>
      <p:sp>
        <p:nvSpPr>
          <p:cNvPr id="51205" name="Text Box 5"/>
          <p:cNvSpPr txBox="1"/>
          <p:nvPr/>
        </p:nvSpPr>
        <p:spPr>
          <a:xfrm>
            <a:off x="1108075" y="2443163"/>
            <a:ext cx="5518150" cy="519112"/>
          </a:xfrm>
          <a:prstGeom prst="rect">
            <a:avLst/>
          </a:prstGeom>
          <a:noFill/>
          <a:ln w="19050">
            <a:noFill/>
          </a:ln>
        </p:spPr>
        <p:txBody>
          <a:bodyPr wrap="none">
            <a:spAutoFit/>
          </a:bodyPr>
          <a:lstStyle/>
          <a:p>
            <a:r>
              <a:rPr lang="zh-CN" altLang="en-US" sz="2800" dirty="0">
                <a:latin typeface="Times New Roman" panose="02020603050405020304" pitchFamily="18" charset="0"/>
              </a:rPr>
              <a:t>状态响应序列和输出响应序列为：</a:t>
            </a:r>
          </a:p>
        </p:txBody>
      </p:sp>
      <p:sp>
        <p:nvSpPr>
          <p:cNvPr id="51207" name="Text Box 7"/>
          <p:cNvSpPr txBox="1"/>
          <p:nvPr/>
        </p:nvSpPr>
        <p:spPr>
          <a:xfrm>
            <a:off x="1250950" y="3173413"/>
            <a:ext cx="6873875" cy="3381375"/>
          </a:xfrm>
          <a:prstGeom prst="rect">
            <a:avLst/>
          </a:prstGeom>
          <a:noFill/>
          <a:ln w="19050">
            <a:noFill/>
          </a:ln>
        </p:spPr>
        <p:txBody>
          <a:bodyPr>
            <a:spAutoFit/>
          </a:bodyPr>
          <a:lstStyle/>
          <a:p>
            <a:pPr defTabSz="914400">
              <a:lnSpc>
                <a:spcPct val="110000"/>
              </a:lnSpc>
              <a:tabLst>
                <a:tab pos="669925" algn="l"/>
                <a:tab pos="1235075" algn="l"/>
                <a:tab pos="1905000" algn="l"/>
                <a:tab pos="2663825" algn="l"/>
                <a:tab pos="3333750" algn="l"/>
                <a:tab pos="3422650" algn="l"/>
                <a:tab pos="4092575" algn="l"/>
                <a:tab pos="4762500" algn="l"/>
                <a:tab pos="5521325" algn="l"/>
                <a:tab pos="6280150" algn="l"/>
              </a:tabLst>
            </a:pPr>
            <a:r>
              <a:rPr lang="en-US" altLang="zh-CN" sz="2800" dirty="0">
                <a:latin typeface="Times New Roman" panose="02020603050405020304" pitchFamily="18" charset="0"/>
              </a:rPr>
              <a:t>    CP:  1	2	3	4	5	6	7	8</a:t>
            </a:r>
          </a:p>
          <a:p>
            <a:pPr defTabSz="914400">
              <a:lnSpc>
                <a:spcPct val="110000"/>
              </a:lnSpc>
              <a:tabLst>
                <a:tab pos="669925" algn="l"/>
                <a:tab pos="1235075" algn="l"/>
                <a:tab pos="1905000" algn="l"/>
                <a:tab pos="2663825" algn="l"/>
                <a:tab pos="3333750" algn="l"/>
                <a:tab pos="3422650" algn="l"/>
                <a:tab pos="4092575" algn="l"/>
                <a:tab pos="4762500" algn="l"/>
                <a:tab pos="5521325" algn="l"/>
                <a:tab pos="6280150" algn="l"/>
              </a:tabLst>
            </a:pPr>
            <a:r>
              <a:rPr lang="en-US" altLang="zh-CN" sz="2800" dirty="0">
                <a:latin typeface="Times New Roman" panose="02020603050405020304" pitchFamily="18" charset="0"/>
              </a:rPr>
              <a:t>       x:  0	1	0	1	1	1	0	1</a:t>
            </a:r>
          </a:p>
          <a:p>
            <a:pPr defTabSz="914400">
              <a:lnSpc>
                <a:spcPct val="110000"/>
              </a:lnSpc>
              <a:tabLst>
                <a:tab pos="669925" algn="l"/>
                <a:tab pos="1235075" algn="l"/>
                <a:tab pos="1905000" algn="l"/>
                <a:tab pos="2663825" algn="l"/>
                <a:tab pos="3333750" algn="l"/>
                <a:tab pos="3422650" algn="l"/>
                <a:tab pos="4092575" algn="l"/>
                <a:tab pos="4762500" algn="l"/>
                <a:tab pos="5521325" algn="l"/>
                <a:tab pos="6280150" algn="l"/>
              </a:tabLst>
            </a:pP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0	0	0	1	0	0	0	1</a:t>
            </a:r>
          </a:p>
          <a:p>
            <a:pPr defTabSz="914400">
              <a:lnSpc>
                <a:spcPct val="110000"/>
              </a:lnSpc>
              <a:tabLst>
                <a:tab pos="669925" algn="l"/>
                <a:tab pos="1235075" algn="l"/>
                <a:tab pos="1905000" algn="l"/>
                <a:tab pos="2663825" algn="l"/>
                <a:tab pos="3333750" algn="l"/>
                <a:tab pos="3422650" algn="l"/>
                <a:tab pos="4092575" algn="l"/>
                <a:tab pos="4762500" algn="l"/>
                <a:tab pos="5521325" algn="l"/>
                <a:tab pos="6280150" algn="l"/>
              </a:tabLst>
            </a:pP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0	0	1	0	1	1	1	0</a:t>
            </a:r>
          </a:p>
          <a:p>
            <a:pPr defTabSz="914400">
              <a:lnSpc>
                <a:spcPct val="110000"/>
              </a:lnSpc>
              <a:tabLst>
                <a:tab pos="669925" algn="l"/>
                <a:tab pos="1235075" algn="l"/>
                <a:tab pos="1905000" algn="l"/>
                <a:tab pos="2663825" algn="l"/>
                <a:tab pos="3333750" algn="l"/>
                <a:tab pos="3422650" algn="l"/>
                <a:tab pos="4092575" algn="l"/>
                <a:tab pos="4762500" algn="l"/>
                <a:tab pos="5521325" algn="l"/>
                <a:tab pos="6280150" algn="l"/>
              </a:tabLst>
            </a:pP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(n+1)</a:t>
            </a:r>
            <a:r>
              <a:rPr lang="en-US" altLang="zh-CN" sz="2800" dirty="0">
                <a:latin typeface="Times New Roman" panose="02020603050405020304" pitchFamily="18" charset="0"/>
              </a:rPr>
              <a:t>:  0	0	1	0	0	0	1	0 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(n+1)</a:t>
            </a:r>
            <a:r>
              <a:rPr lang="en-US" altLang="zh-CN" sz="2800" dirty="0">
                <a:latin typeface="Times New Roman" panose="02020603050405020304" pitchFamily="18" charset="0"/>
              </a:rPr>
              <a:t>:  0	1	0	1	1	1	0	1</a:t>
            </a:r>
          </a:p>
          <a:p>
            <a:pPr defTabSz="914400">
              <a:lnSpc>
                <a:spcPct val="110000"/>
              </a:lnSpc>
              <a:tabLst>
                <a:tab pos="669925" algn="l"/>
                <a:tab pos="1235075" algn="l"/>
                <a:tab pos="1905000" algn="l"/>
                <a:tab pos="2663825" algn="l"/>
                <a:tab pos="3333750" algn="l"/>
                <a:tab pos="3422650" algn="l"/>
                <a:tab pos="4092575" algn="l"/>
                <a:tab pos="4762500" algn="l"/>
                <a:tab pos="5521325" algn="l"/>
                <a:tab pos="6280150" algn="l"/>
              </a:tabLst>
            </a:pPr>
            <a:r>
              <a:rPr lang="en-US" altLang="zh-CN" sz="2800" dirty="0">
                <a:latin typeface="Times New Roman" panose="02020603050405020304" pitchFamily="18" charset="0"/>
              </a:rPr>
              <a:t>       Z:  0	0	0	1	0	0	0	1</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Effect transition="in" filter="wipe(left)">
                                      <p:cBhvr>
                                        <p:cTn id="7" dur="500"/>
                                        <p:tgtEl>
                                          <p:spTgt spid="512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204">
                                            <p:txEl>
                                              <p:pRg st="0" end="0"/>
                                            </p:txEl>
                                          </p:spTgt>
                                        </p:tgtEl>
                                        <p:attrNameLst>
                                          <p:attrName>style.visibility</p:attrName>
                                        </p:attrNameLst>
                                      </p:cBhvr>
                                      <p:to>
                                        <p:strVal val="visible"/>
                                      </p:to>
                                    </p:set>
                                    <p:animEffect transition="in" filter="wipe(left)">
                                      <p:cBhvr>
                                        <p:cTn id="12" dur="500"/>
                                        <p:tgtEl>
                                          <p:spTgt spid="5120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205">
                                            <p:txEl>
                                              <p:pRg st="0" end="0"/>
                                            </p:txEl>
                                          </p:spTgt>
                                        </p:tgtEl>
                                        <p:attrNameLst>
                                          <p:attrName>style.visibility</p:attrName>
                                        </p:attrNameLst>
                                      </p:cBhvr>
                                      <p:to>
                                        <p:strVal val="visible"/>
                                      </p:to>
                                    </p:set>
                                    <p:animEffect transition="in" filter="wipe(left)">
                                      <p:cBhvr>
                                        <p:cTn id="17" dur="500"/>
                                        <p:tgtEl>
                                          <p:spTgt spid="5120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51207"/>
                                        </p:tgtEl>
                                        <p:attrNameLst>
                                          <p:attrName>style.visibility</p:attrName>
                                        </p:attrNameLst>
                                      </p:cBhvr>
                                      <p:to>
                                        <p:strVal val="visible"/>
                                      </p:to>
                                    </p:set>
                                    <p:animEffect transition="in" filter="blinds(vertical)">
                                      <p:cBhvr>
                                        <p:cTn id="22" dur="500"/>
                                        <p:tgtEl>
                                          <p:spTgt spid="51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p:bldP spid="51204" grpId="0" build="p"/>
      <p:bldP spid="51205" grpId="0" build="p"/>
      <p:bldP spid="5120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7"/>
          <p:cNvGrpSpPr/>
          <p:nvPr/>
        </p:nvGrpSpPr>
        <p:grpSpPr>
          <a:xfrm>
            <a:off x="1006475" y="1462088"/>
            <a:ext cx="6932613" cy="4314825"/>
            <a:chOff x="634" y="921"/>
            <a:chExt cx="4367" cy="2718"/>
          </a:xfrm>
        </p:grpSpPr>
        <p:sp>
          <p:nvSpPr>
            <p:cNvPr id="36869" name="Freeform 67"/>
            <p:cNvSpPr/>
            <p:nvPr/>
          </p:nvSpPr>
          <p:spPr>
            <a:xfrm>
              <a:off x="1078" y="1189"/>
              <a:ext cx="3889" cy="289"/>
            </a:xfrm>
            <a:custGeom>
              <a:avLst/>
              <a:gdLst>
                <a:gd name="txL" fmla="*/ 0 w 3889"/>
                <a:gd name="txT" fmla="*/ 0 h 289"/>
                <a:gd name="txR" fmla="*/ 3889 w 3889"/>
                <a:gd name="txB" fmla="*/ 289 h 289"/>
              </a:gdLst>
              <a:ahLst/>
              <a:cxnLst>
                <a:cxn ang="0">
                  <a:pos x="0" y="289"/>
                </a:cxn>
                <a:cxn ang="0">
                  <a:pos x="311" y="289"/>
                </a:cxn>
                <a:cxn ang="0">
                  <a:pos x="311" y="0"/>
                </a:cxn>
                <a:cxn ang="0">
                  <a:pos x="522" y="0"/>
                </a:cxn>
                <a:cxn ang="0">
                  <a:pos x="522" y="289"/>
                </a:cxn>
                <a:cxn ang="0">
                  <a:pos x="744" y="289"/>
                </a:cxn>
                <a:cxn ang="0">
                  <a:pos x="744" y="0"/>
                </a:cxn>
                <a:cxn ang="0">
                  <a:pos x="956" y="0"/>
                </a:cxn>
                <a:cxn ang="0">
                  <a:pos x="956" y="289"/>
                </a:cxn>
                <a:cxn ang="0">
                  <a:pos x="1178" y="289"/>
                </a:cxn>
                <a:cxn ang="0">
                  <a:pos x="1178" y="0"/>
                </a:cxn>
                <a:cxn ang="0">
                  <a:pos x="1389" y="0"/>
                </a:cxn>
                <a:cxn ang="0">
                  <a:pos x="1389" y="289"/>
                </a:cxn>
                <a:cxn ang="0">
                  <a:pos x="1600" y="289"/>
                </a:cxn>
                <a:cxn ang="0">
                  <a:pos x="1600" y="0"/>
                </a:cxn>
                <a:cxn ang="0">
                  <a:pos x="1822" y="0"/>
                </a:cxn>
                <a:cxn ang="0">
                  <a:pos x="1822" y="289"/>
                </a:cxn>
                <a:cxn ang="0">
                  <a:pos x="2034" y="289"/>
                </a:cxn>
                <a:cxn ang="0">
                  <a:pos x="2034" y="0"/>
                </a:cxn>
                <a:cxn ang="0">
                  <a:pos x="2245" y="0"/>
                </a:cxn>
                <a:cxn ang="0">
                  <a:pos x="2245" y="289"/>
                </a:cxn>
                <a:cxn ang="0">
                  <a:pos x="2467" y="289"/>
                </a:cxn>
                <a:cxn ang="0">
                  <a:pos x="2467" y="0"/>
                </a:cxn>
                <a:cxn ang="0">
                  <a:pos x="2678" y="0"/>
                </a:cxn>
                <a:cxn ang="0">
                  <a:pos x="2678" y="289"/>
                </a:cxn>
                <a:cxn ang="0">
                  <a:pos x="2900" y="289"/>
                </a:cxn>
                <a:cxn ang="0">
                  <a:pos x="2900" y="11"/>
                </a:cxn>
                <a:cxn ang="0">
                  <a:pos x="3111" y="11"/>
                </a:cxn>
                <a:cxn ang="0">
                  <a:pos x="3111" y="289"/>
                </a:cxn>
                <a:cxn ang="0">
                  <a:pos x="3323" y="289"/>
                </a:cxn>
                <a:cxn ang="0">
                  <a:pos x="3323" y="0"/>
                </a:cxn>
                <a:cxn ang="0">
                  <a:pos x="3545" y="0"/>
                </a:cxn>
                <a:cxn ang="0">
                  <a:pos x="3545" y="289"/>
                </a:cxn>
                <a:cxn ang="0">
                  <a:pos x="3889" y="289"/>
                </a:cxn>
              </a:cxnLst>
              <a:rect l="txL" t="txT" r="txR" b="txB"/>
              <a:pathLst>
                <a:path w="3889" h="289">
                  <a:moveTo>
                    <a:pt x="0" y="289"/>
                  </a:moveTo>
                  <a:lnTo>
                    <a:pt x="311" y="289"/>
                  </a:lnTo>
                  <a:lnTo>
                    <a:pt x="311" y="0"/>
                  </a:lnTo>
                  <a:lnTo>
                    <a:pt x="522" y="0"/>
                  </a:lnTo>
                  <a:lnTo>
                    <a:pt x="522" y="289"/>
                  </a:lnTo>
                  <a:lnTo>
                    <a:pt x="744" y="289"/>
                  </a:lnTo>
                  <a:lnTo>
                    <a:pt x="744" y="0"/>
                  </a:lnTo>
                  <a:lnTo>
                    <a:pt x="956" y="0"/>
                  </a:lnTo>
                  <a:lnTo>
                    <a:pt x="956" y="289"/>
                  </a:lnTo>
                  <a:lnTo>
                    <a:pt x="1178" y="289"/>
                  </a:lnTo>
                  <a:lnTo>
                    <a:pt x="1178" y="0"/>
                  </a:lnTo>
                  <a:lnTo>
                    <a:pt x="1389" y="0"/>
                  </a:lnTo>
                  <a:lnTo>
                    <a:pt x="1389" y="289"/>
                  </a:lnTo>
                  <a:lnTo>
                    <a:pt x="1600" y="289"/>
                  </a:lnTo>
                  <a:lnTo>
                    <a:pt x="1600" y="0"/>
                  </a:lnTo>
                  <a:lnTo>
                    <a:pt x="1822" y="0"/>
                  </a:lnTo>
                  <a:lnTo>
                    <a:pt x="1822" y="289"/>
                  </a:lnTo>
                  <a:lnTo>
                    <a:pt x="2034" y="289"/>
                  </a:lnTo>
                  <a:lnTo>
                    <a:pt x="2034" y="0"/>
                  </a:lnTo>
                  <a:lnTo>
                    <a:pt x="2245" y="0"/>
                  </a:lnTo>
                  <a:lnTo>
                    <a:pt x="2245" y="289"/>
                  </a:lnTo>
                  <a:lnTo>
                    <a:pt x="2467" y="289"/>
                  </a:lnTo>
                  <a:lnTo>
                    <a:pt x="2467" y="0"/>
                  </a:lnTo>
                  <a:lnTo>
                    <a:pt x="2678" y="0"/>
                  </a:lnTo>
                  <a:lnTo>
                    <a:pt x="2678" y="289"/>
                  </a:lnTo>
                  <a:lnTo>
                    <a:pt x="2900" y="289"/>
                  </a:lnTo>
                  <a:lnTo>
                    <a:pt x="2900" y="11"/>
                  </a:lnTo>
                  <a:lnTo>
                    <a:pt x="3111" y="11"/>
                  </a:lnTo>
                  <a:lnTo>
                    <a:pt x="3111" y="289"/>
                  </a:lnTo>
                  <a:lnTo>
                    <a:pt x="3323" y="289"/>
                  </a:lnTo>
                  <a:lnTo>
                    <a:pt x="3323" y="0"/>
                  </a:lnTo>
                  <a:lnTo>
                    <a:pt x="3545" y="0"/>
                  </a:lnTo>
                  <a:lnTo>
                    <a:pt x="3545" y="289"/>
                  </a:lnTo>
                  <a:lnTo>
                    <a:pt x="3889" y="289"/>
                  </a:lnTo>
                </a:path>
              </a:pathLst>
            </a:custGeom>
            <a:noFill/>
            <a:ln w="38100" cap="flat" cmpd="sng">
              <a:solidFill>
                <a:srgbClr val="3333FF">
                  <a:alpha val="100000"/>
                </a:srgbClr>
              </a:solidFill>
              <a:prstDash val="solid"/>
              <a:round/>
              <a:headEnd type="none" w="med" len="med"/>
              <a:tailEnd type="none" w="sm" len="lg"/>
            </a:ln>
          </p:spPr>
          <p:txBody>
            <a:bodyPr/>
            <a:lstStyle/>
            <a:p>
              <a:endParaRPr lang="zh-CN" altLang="en-US"/>
            </a:p>
          </p:txBody>
        </p:sp>
        <p:sp>
          <p:nvSpPr>
            <p:cNvPr id="36870" name="Freeform 68"/>
            <p:cNvSpPr/>
            <p:nvPr/>
          </p:nvSpPr>
          <p:spPr>
            <a:xfrm>
              <a:off x="1089" y="1681"/>
              <a:ext cx="3889" cy="289"/>
            </a:xfrm>
            <a:custGeom>
              <a:avLst/>
              <a:gdLst>
                <a:gd name="txL" fmla="*/ 0 w 3889"/>
                <a:gd name="txT" fmla="*/ 0 h 289"/>
                <a:gd name="txR" fmla="*/ 3889 w 3889"/>
                <a:gd name="txB" fmla="*/ 289 h 289"/>
              </a:gdLst>
              <a:ahLst/>
              <a:cxnLst>
                <a:cxn ang="0">
                  <a:pos x="0" y="289"/>
                </a:cxn>
                <a:cxn ang="0">
                  <a:pos x="733" y="289"/>
                </a:cxn>
                <a:cxn ang="0">
                  <a:pos x="733" y="0"/>
                </a:cxn>
                <a:cxn ang="0">
                  <a:pos x="945" y="0"/>
                </a:cxn>
                <a:cxn ang="0">
                  <a:pos x="945" y="289"/>
                </a:cxn>
                <a:cxn ang="0">
                  <a:pos x="1589" y="289"/>
                </a:cxn>
                <a:cxn ang="0">
                  <a:pos x="1589" y="0"/>
                </a:cxn>
                <a:cxn ang="0">
                  <a:pos x="1811" y="0"/>
                </a:cxn>
                <a:cxn ang="0">
                  <a:pos x="1811" y="289"/>
                </a:cxn>
                <a:cxn ang="0">
                  <a:pos x="2023" y="289"/>
                </a:cxn>
                <a:cxn ang="0">
                  <a:pos x="2023" y="0"/>
                </a:cxn>
                <a:cxn ang="0">
                  <a:pos x="2234" y="0"/>
                </a:cxn>
                <a:cxn ang="0">
                  <a:pos x="2234" y="289"/>
                </a:cxn>
                <a:cxn ang="0">
                  <a:pos x="2456" y="289"/>
                </a:cxn>
                <a:cxn ang="0">
                  <a:pos x="2456" y="0"/>
                </a:cxn>
                <a:cxn ang="0">
                  <a:pos x="2667" y="0"/>
                </a:cxn>
                <a:cxn ang="0">
                  <a:pos x="2667" y="289"/>
                </a:cxn>
                <a:cxn ang="0">
                  <a:pos x="3312" y="289"/>
                </a:cxn>
                <a:cxn ang="0">
                  <a:pos x="3312" y="0"/>
                </a:cxn>
                <a:cxn ang="0">
                  <a:pos x="3534" y="0"/>
                </a:cxn>
                <a:cxn ang="0">
                  <a:pos x="3534" y="289"/>
                </a:cxn>
                <a:cxn ang="0">
                  <a:pos x="3889" y="289"/>
                </a:cxn>
              </a:cxnLst>
              <a:rect l="txL" t="txT" r="txR" b="txB"/>
              <a:pathLst>
                <a:path w="3889" h="289">
                  <a:moveTo>
                    <a:pt x="0" y="289"/>
                  </a:moveTo>
                  <a:lnTo>
                    <a:pt x="733" y="289"/>
                  </a:lnTo>
                  <a:lnTo>
                    <a:pt x="733" y="0"/>
                  </a:lnTo>
                  <a:lnTo>
                    <a:pt x="945" y="0"/>
                  </a:lnTo>
                  <a:lnTo>
                    <a:pt x="945" y="289"/>
                  </a:lnTo>
                  <a:lnTo>
                    <a:pt x="1589" y="289"/>
                  </a:lnTo>
                  <a:lnTo>
                    <a:pt x="1589" y="0"/>
                  </a:lnTo>
                  <a:lnTo>
                    <a:pt x="1811" y="0"/>
                  </a:lnTo>
                  <a:lnTo>
                    <a:pt x="1811" y="289"/>
                  </a:lnTo>
                  <a:lnTo>
                    <a:pt x="2023" y="289"/>
                  </a:lnTo>
                  <a:lnTo>
                    <a:pt x="2023" y="0"/>
                  </a:lnTo>
                  <a:lnTo>
                    <a:pt x="2234" y="0"/>
                  </a:lnTo>
                  <a:lnTo>
                    <a:pt x="2234" y="289"/>
                  </a:lnTo>
                  <a:lnTo>
                    <a:pt x="2456" y="289"/>
                  </a:lnTo>
                  <a:lnTo>
                    <a:pt x="2456" y="0"/>
                  </a:lnTo>
                  <a:lnTo>
                    <a:pt x="2667" y="0"/>
                  </a:lnTo>
                  <a:lnTo>
                    <a:pt x="2667" y="289"/>
                  </a:lnTo>
                  <a:lnTo>
                    <a:pt x="3312" y="289"/>
                  </a:lnTo>
                  <a:lnTo>
                    <a:pt x="3312" y="0"/>
                  </a:lnTo>
                  <a:lnTo>
                    <a:pt x="3534" y="0"/>
                  </a:lnTo>
                  <a:lnTo>
                    <a:pt x="3534" y="289"/>
                  </a:lnTo>
                  <a:lnTo>
                    <a:pt x="3889" y="289"/>
                  </a:lnTo>
                </a:path>
              </a:pathLst>
            </a:custGeom>
            <a:noFill/>
            <a:ln w="38100" cap="flat" cmpd="sng">
              <a:solidFill>
                <a:srgbClr val="3333FF">
                  <a:alpha val="100000"/>
                </a:srgbClr>
              </a:solidFill>
              <a:prstDash val="solid"/>
              <a:round/>
              <a:headEnd type="none" w="med" len="med"/>
              <a:tailEnd type="none" w="sm" len="lg"/>
            </a:ln>
          </p:spPr>
          <p:txBody>
            <a:bodyPr/>
            <a:lstStyle/>
            <a:p>
              <a:endParaRPr lang="zh-CN" altLang="en-US"/>
            </a:p>
          </p:txBody>
        </p:sp>
        <p:sp>
          <p:nvSpPr>
            <p:cNvPr id="36871" name="Freeform 69"/>
            <p:cNvSpPr/>
            <p:nvPr/>
          </p:nvSpPr>
          <p:spPr>
            <a:xfrm>
              <a:off x="1089" y="2174"/>
              <a:ext cx="3912" cy="288"/>
            </a:xfrm>
            <a:custGeom>
              <a:avLst/>
              <a:gdLst>
                <a:gd name="txL" fmla="*/ 0 w 3912"/>
                <a:gd name="txT" fmla="*/ 0 h 288"/>
                <a:gd name="txR" fmla="*/ 3912 w 3912"/>
                <a:gd name="txB" fmla="*/ 288 h 288"/>
              </a:gdLst>
              <a:ahLst/>
              <a:cxnLst>
                <a:cxn ang="0">
                  <a:pos x="0" y="288"/>
                </a:cxn>
                <a:cxn ang="0">
                  <a:pos x="1378" y="288"/>
                </a:cxn>
                <a:cxn ang="0">
                  <a:pos x="1378" y="0"/>
                </a:cxn>
                <a:cxn ang="0">
                  <a:pos x="1822" y="0"/>
                </a:cxn>
                <a:cxn ang="0">
                  <a:pos x="1822" y="288"/>
                </a:cxn>
                <a:cxn ang="0">
                  <a:pos x="3100" y="288"/>
                </a:cxn>
                <a:cxn ang="0">
                  <a:pos x="3100" y="0"/>
                </a:cxn>
                <a:cxn ang="0">
                  <a:pos x="3534" y="0"/>
                </a:cxn>
                <a:cxn ang="0">
                  <a:pos x="3534" y="288"/>
                </a:cxn>
                <a:cxn ang="0">
                  <a:pos x="3912" y="288"/>
                </a:cxn>
              </a:cxnLst>
              <a:rect l="txL" t="txT" r="txR" b="txB"/>
              <a:pathLst>
                <a:path w="3912" h="288">
                  <a:moveTo>
                    <a:pt x="0" y="288"/>
                  </a:moveTo>
                  <a:lnTo>
                    <a:pt x="1378" y="288"/>
                  </a:lnTo>
                  <a:lnTo>
                    <a:pt x="1378" y="0"/>
                  </a:lnTo>
                  <a:lnTo>
                    <a:pt x="1822" y="0"/>
                  </a:lnTo>
                  <a:lnTo>
                    <a:pt x="1822" y="288"/>
                  </a:lnTo>
                  <a:lnTo>
                    <a:pt x="3100" y="288"/>
                  </a:lnTo>
                  <a:lnTo>
                    <a:pt x="3100" y="0"/>
                  </a:lnTo>
                  <a:lnTo>
                    <a:pt x="3534" y="0"/>
                  </a:lnTo>
                  <a:lnTo>
                    <a:pt x="3534" y="288"/>
                  </a:lnTo>
                  <a:lnTo>
                    <a:pt x="3912" y="288"/>
                  </a:lnTo>
                </a:path>
              </a:pathLst>
            </a:custGeom>
            <a:noFill/>
            <a:ln w="38100" cap="flat" cmpd="sng">
              <a:solidFill>
                <a:srgbClr val="3333FF">
                  <a:alpha val="100000"/>
                </a:srgbClr>
              </a:solidFill>
              <a:prstDash val="solid"/>
              <a:round/>
              <a:headEnd type="none" w="med" len="med"/>
              <a:tailEnd type="none" w="sm" len="lg"/>
            </a:ln>
          </p:spPr>
          <p:txBody>
            <a:bodyPr/>
            <a:lstStyle/>
            <a:p>
              <a:endParaRPr lang="zh-CN" altLang="en-US"/>
            </a:p>
          </p:txBody>
        </p:sp>
        <p:sp>
          <p:nvSpPr>
            <p:cNvPr id="36872" name="Freeform 70"/>
            <p:cNvSpPr/>
            <p:nvPr/>
          </p:nvSpPr>
          <p:spPr>
            <a:xfrm>
              <a:off x="1078" y="2666"/>
              <a:ext cx="3923" cy="289"/>
            </a:xfrm>
            <a:custGeom>
              <a:avLst/>
              <a:gdLst>
                <a:gd name="txL" fmla="*/ 0 w 3923"/>
                <a:gd name="txT" fmla="*/ 0 h 289"/>
                <a:gd name="txR" fmla="*/ 3923 w 3923"/>
                <a:gd name="txB" fmla="*/ 289 h 289"/>
              </a:gdLst>
              <a:ahLst/>
              <a:cxnLst>
                <a:cxn ang="0">
                  <a:pos x="0" y="289"/>
                </a:cxn>
                <a:cxn ang="0">
                  <a:pos x="956" y="289"/>
                </a:cxn>
                <a:cxn ang="0">
                  <a:pos x="956" y="0"/>
                </a:cxn>
                <a:cxn ang="0">
                  <a:pos x="1389" y="0"/>
                </a:cxn>
                <a:cxn ang="0">
                  <a:pos x="1389" y="289"/>
                </a:cxn>
                <a:cxn ang="0">
                  <a:pos x="1822" y="289"/>
                </a:cxn>
                <a:cxn ang="0">
                  <a:pos x="1822" y="0"/>
                </a:cxn>
                <a:cxn ang="0">
                  <a:pos x="3123" y="0"/>
                </a:cxn>
                <a:cxn ang="0">
                  <a:pos x="3123" y="289"/>
                </a:cxn>
                <a:cxn ang="0">
                  <a:pos x="3545" y="289"/>
                </a:cxn>
                <a:cxn ang="0">
                  <a:pos x="3545" y="0"/>
                </a:cxn>
                <a:cxn ang="0">
                  <a:pos x="3923" y="0"/>
                </a:cxn>
              </a:cxnLst>
              <a:rect l="txL" t="txT" r="txR" b="txB"/>
              <a:pathLst>
                <a:path w="3923" h="289">
                  <a:moveTo>
                    <a:pt x="0" y="289"/>
                  </a:moveTo>
                  <a:lnTo>
                    <a:pt x="956" y="289"/>
                  </a:lnTo>
                  <a:lnTo>
                    <a:pt x="956" y="0"/>
                  </a:lnTo>
                  <a:lnTo>
                    <a:pt x="1389" y="0"/>
                  </a:lnTo>
                  <a:lnTo>
                    <a:pt x="1389" y="289"/>
                  </a:lnTo>
                  <a:lnTo>
                    <a:pt x="1822" y="289"/>
                  </a:lnTo>
                  <a:lnTo>
                    <a:pt x="1822" y="0"/>
                  </a:lnTo>
                  <a:lnTo>
                    <a:pt x="3123" y="0"/>
                  </a:lnTo>
                  <a:lnTo>
                    <a:pt x="3123" y="289"/>
                  </a:lnTo>
                  <a:lnTo>
                    <a:pt x="3545" y="289"/>
                  </a:lnTo>
                  <a:lnTo>
                    <a:pt x="3545" y="0"/>
                  </a:lnTo>
                  <a:lnTo>
                    <a:pt x="3923" y="0"/>
                  </a:lnTo>
                </a:path>
              </a:pathLst>
            </a:custGeom>
            <a:noFill/>
            <a:ln w="38100" cap="flat" cmpd="sng">
              <a:solidFill>
                <a:srgbClr val="3333FF">
                  <a:alpha val="100000"/>
                </a:srgbClr>
              </a:solidFill>
              <a:prstDash val="solid"/>
              <a:round/>
              <a:headEnd type="none" w="med" len="med"/>
              <a:tailEnd type="none" w="sm" len="lg"/>
            </a:ln>
          </p:spPr>
          <p:txBody>
            <a:bodyPr/>
            <a:lstStyle/>
            <a:p>
              <a:endParaRPr lang="zh-CN" altLang="en-US"/>
            </a:p>
          </p:txBody>
        </p:sp>
        <p:sp>
          <p:nvSpPr>
            <p:cNvPr id="36873" name="Freeform 71"/>
            <p:cNvSpPr/>
            <p:nvPr/>
          </p:nvSpPr>
          <p:spPr>
            <a:xfrm>
              <a:off x="1111" y="3159"/>
              <a:ext cx="3834" cy="289"/>
            </a:xfrm>
            <a:custGeom>
              <a:avLst/>
              <a:gdLst>
                <a:gd name="txL" fmla="*/ 0 w 3834"/>
                <a:gd name="txT" fmla="*/ 0 h 289"/>
                <a:gd name="txR" fmla="*/ 3834 w 3834"/>
                <a:gd name="txB" fmla="*/ 289 h 289"/>
              </a:gdLst>
              <a:ahLst/>
              <a:cxnLst>
                <a:cxn ang="0">
                  <a:pos x="0" y="289"/>
                </a:cxn>
                <a:cxn ang="0">
                  <a:pos x="1578" y="289"/>
                </a:cxn>
                <a:cxn ang="0">
                  <a:pos x="1578" y="0"/>
                </a:cxn>
                <a:cxn ang="0">
                  <a:pos x="1789" y="0"/>
                </a:cxn>
                <a:cxn ang="0">
                  <a:pos x="1789" y="289"/>
                </a:cxn>
                <a:cxn ang="0">
                  <a:pos x="3290" y="289"/>
                </a:cxn>
                <a:cxn ang="0">
                  <a:pos x="3290" y="0"/>
                </a:cxn>
                <a:cxn ang="0">
                  <a:pos x="3512" y="0"/>
                </a:cxn>
                <a:cxn ang="0">
                  <a:pos x="3512" y="289"/>
                </a:cxn>
                <a:cxn ang="0">
                  <a:pos x="3834" y="289"/>
                </a:cxn>
              </a:cxnLst>
              <a:rect l="txL" t="txT" r="txR" b="txB"/>
              <a:pathLst>
                <a:path w="3834" h="289">
                  <a:moveTo>
                    <a:pt x="0" y="289"/>
                  </a:moveTo>
                  <a:lnTo>
                    <a:pt x="1578" y="289"/>
                  </a:lnTo>
                  <a:lnTo>
                    <a:pt x="1578" y="0"/>
                  </a:lnTo>
                  <a:lnTo>
                    <a:pt x="1789" y="0"/>
                  </a:lnTo>
                  <a:lnTo>
                    <a:pt x="1789" y="289"/>
                  </a:lnTo>
                  <a:lnTo>
                    <a:pt x="3290" y="289"/>
                  </a:lnTo>
                  <a:lnTo>
                    <a:pt x="3290" y="0"/>
                  </a:lnTo>
                  <a:lnTo>
                    <a:pt x="3512" y="0"/>
                  </a:lnTo>
                  <a:lnTo>
                    <a:pt x="3512" y="289"/>
                  </a:lnTo>
                  <a:lnTo>
                    <a:pt x="3834" y="289"/>
                  </a:lnTo>
                </a:path>
              </a:pathLst>
            </a:custGeom>
            <a:noFill/>
            <a:ln w="38100" cap="flat" cmpd="sng">
              <a:solidFill>
                <a:srgbClr val="3333FF">
                  <a:alpha val="100000"/>
                </a:srgbClr>
              </a:solidFill>
              <a:prstDash val="solid"/>
              <a:round/>
              <a:headEnd type="none" w="med" len="med"/>
              <a:tailEnd type="none" w="sm" len="lg"/>
            </a:ln>
          </p:spPr>
          <p:txBody>
            <a:bodyPr/>
            <a:lstStyle/>
            <a:p>
              <a:endParaRPr lang="zh-CN" altLang="en-US"/>
            </a:p>
          </p:txBody>
        </p:sp>
        <p:sp>
          <p:nvSpPr>
            <p:cNvPr id="36874" name="Text Box 72"/>
            <p:cNvSpPr txBox="1"/>
            <p:nvPr/>
          </p:nvSpPr>
          <p:spPr>
            <a:xfrm>
              <a:off x="634" y="1254"/>
              <a:ext cx="390" cy="327"/>
            </a:xfrm>
            <a:prstGeom prst="rect">
              <a:avLst/>
            </a:prstGeom>
            <a:noFill/>
            <a:ln w="19050">
              <a:noFill/>
            </a:ln>
          </p:spPr>
          <p:txBody>
            <a:bodyPr wrap="none">
              <a:spAutoFit/>
            </a:bodyPr>
            <a:lstStyle/>
            <a:p>
              <a:r>
                <a:rPr lang="en-US" altLang="zh-CN" sz="2800" dirty="0">
                  <a:latin typeface="Times New Roman" panose="02020603050405020304" pitchFamily="18" charset="0"/>
                </a:rPr>
                <a:t>CP</a:t>
              </a:r>
            </a:p>
          </p:txBody>
        </p:sp>
        <p:sp>
          <p:nvSpPr>
            <p:cNvPr id="36875" name="Text Box 73"/>
            <p:cNvSpPr txBox="1"/>
            <p:nvPr/>
          </p:nvSpPr>
          <p:spPr>
            <a:xfrm>
              <a:off x="796" y="176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x</a:t>
              </a:r>
            </a:p>
          </p:txBody>
        </p:sp>
        <p:sp>
          <p:nvSpPr>
            <p:cNvPr id="36876" name="Text Box 74"/>
            <p:cNvSpPr txBox="1"/>
            <p:nvPr/>
          </p:nvSpPr>
          <p:spPr>
            <a:xfrm>
              <a:off x="720" y="2283"/>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sp>
          <p:nvSpPr>
            <p:cNvPr id="36877" name="Text Box 75"/>
            <p:cNvSpPr txBox="1"/>
            <p:nvPr/>
          </p:nvSpPr>
          <p:spPr>
            <a:xfrm>
              <a:off x="720" y="2797"/>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6878" name="Text Box 76"/>
            <p:cNvSpPr txBox="1"/>
            <p:nvPr/>
          </p:nvSpPr>
          <p:spPr>
            <a:xfrm>
              <a:off x="771" y="3312"/>
              <a:ext cx="253" cy="327"/>
            </a:xfrm>
            <a:prstGeom prst="rect">
              <a:avLst/>
            </a:prstGeom>
            <a:noFill/>
            <a:ln w="19050">
              <a:noFill/>
            </a:ln>
          </p:spPr>
          <p:txBody>
            <a:bodyPr wrap="none">
              <a:spAutoFit/>
            </a:bodyPr>
            <a:lstStyle/>
            <a:p>
              <a:r>
                <a:rPr lang="en-US" altLang="zh-CN" sz="2800" dirty="0">
                  <a:latin typeface="Times New Roman" panose="02020603050405020304" pitchFamily="18" charset="0"/>
                </a:rPr>
                <a:t>Z</a:t>
              </a:r>
            </a:p>
          </p:txBody>
        </p:sp>
        <p:sp>
          <p:nvSpPr>
            <p:cNvPr id="36879" name="Text Box 77"/>
            <p:cNvSpPr txBox="1"/>
            <p:nvPr/>
          </p:nvSpPr>
          <p:spPr>
            <a:xfrm>
              <a:off x="1398" y="92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6880" name="Text Box 78"/>
            <p:cNvSpPr txBox="1"/>
            <p:nvPr/>
          </p:nvSpPr>
          <p:spPr>
            <a:xfrm>
              <a:off x="1826" y="92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2</a:t>
              </a:r>
            </a:p>
          </p:txBody>
        </p:sp>
        <p:sp>
          <p:nvSpPr>
            <p:cNvPr id="36881" name="Text Box 79"/>
            <p:cNvSpPr txBox="1"/>
            <p:nvPr/>
          </p:nvSpPr>
          <p:spPr>
            <a:xfrm>
              <a:off x="2255" y="92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3</a:t>
              </a:r>
            </a:p>
          </p:txBody>
        </p:sp>
        <p:sp>
          <p:nvSpPr>
            <p:cNvPr id="36882" name="Text Box 80"/>
            <p:cNvSpPr txBox="1"/>
            <p:nvPr/>
          </p:nvSpPr>
          <p:spPr>
            <a:xfrm>
              <a:off x="2683" y="92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4</a:t>
              </a:r>
            </a:p>
          </p:txBody>
        </p:sp>
        <p:sp>
          <p:nvSpPr>
            <p:cNvPr id="36883" name="Text Box 81"/>
            <p:cNvSpPr txBox="1"/>
            <p:nvPr/>
          </p:nvSpPr>
          <p:spPr>
            <a:xfrm>
              <a:off x="3540" y="92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6</a:t>
              </a:r>
            </a:p>
          </p:txBody>
        </p:sp>
        <p:sp>
          <p:nvSpPr>
            <p:cNvPr id="36884" name="Text Box 82"/>
            <p:cNvSpPr txBox="1"/>
            <p:nvPr/>
          </p:nvSpPr>
          <p:spPr>
            <a:xfrm>
              <a:off x="3969" y="92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7</a:t>
              </a:r>
            </a:p>
          </p:txBody>
        </p:sp>
        <p:sp>
          <p:nvSpPr>
            <p:cNvPr id="36885" name="Text Box 83"/>
            <p:cNvSpPr txBox="1"/>
            <p:nvPr/>
          </p:nvSpPr>
          <p:spPr>
            <a:xfrm>
              <a:off x="4398" y="92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8</a:t>
              </a:r>
            </a:p>
          </p:txBody>
        </p:sp>
        <p:sp>
          <p:nvSpPr>
            <p:cNvPr id="36886" name="Text Box 84"/>
            <p:cNvSpPr txBox="1"/>
            <p:nvPr/>
          </p:nvSpPr>
          <p:spPr>
            <a:xfrm>
              <a:off x="3112" y="92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5</a:t>
              </a:r>
            </a:p>
          </p:txBody>
        </p:sp>
      </p:grpSp>
      <p:sp>
        <p:nvSpPr>
          <p:cNvPr id="52310" name="Text Box 86"/>
          <p:cNvSpPr txBox="1">
            <a:spLocks noChangeArrowheads="1"/>
          </p:cNvSpPr>
          <p:nvPr/>
        </p:nvSpPr>
        <p:spPr bwMode="auto">
          <a:xfrm>
            <a:off x="1249363" y="803275"/>
            <a:ext cx="1611313" cy="519113"/>
          </a:xfrm>
          <a:prstGeom prst="rect">
            <a:avLst/>
          </a:prstGeom>
          <a:noFill/>
          <a:ln w="19050">
            <a:noFill/>
            <a:miter lim="800000"/>
            <a:tailEnd type="none" w="sm" len="lg"/>
          </a:ln>
          <a:effectLst/>
        </p:spPr>
        <p:txBody>
          <a:bodyPr wrap="none">
            <a:spAutoFit/>
          </a:bodyPr>
          <a:lstStyle/>
          <a:p>
            <a:pPr marR="0" defTabSz="914400">
              <a:buClrTx/>
              <a:buSzTx/>
              <a:buFontTx/>
              <a:buNone/>
              <a:defRPr/>
            </a:pPr>
            <a:r>
              <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时间图：</a:t>
            </a:r>
          </a:p>
        </p:txBody>
      </p:sp>
      <p:sp>
        <p:nvSpPr>
          <p:cNvPr id="52312" name="Text Box 88"/>
          <p:cNvSpPr txBox="1"/>
          <p:nvPr/>
        </p:nvSpPr>
        <p:spPr>
          <a:xfrm>
            <a:off x="1036638" y="5764213"/>
            <a:ext cx="7059612" cy="519112"/>
          </a:xfrm>
          <a:prstGeom prst="rect">
            <a:avLst/>
          </a:prstGeom>
          <a:noFill/>
          <a:ln w="19050">
            <a:noFill/>
          </a:ln>
        </p:spPr>
        <p:txBody>
          <a:bodyPr wrap="none">
            <a:spAutoFit/>
          </a:bodyPr>
          <a:lstStyle/>
          <a:p>
            <a:r>
              <a:rPr lang="zh-CN" altLang="en-US" sz="2800" b="1" dirty="0">
                <a:latin typeface="Times New Roman" panose="02020603050405020304" pitchFamily="18" charset="0"/>
              </a:rPr>
              <a:t>功能说明：</a:t>
            </a:r>
            <a:r>
              <a:rPr lang="zh-CN" altLang="en-US" sz="2800" dirty="0">
                <a:latin typeface="Times New Roman" panose="02020603050405020304" pitchFamily="18" charset="0"/>
              </a:rPr>
              <a:t>该电路是一个</a:t>
            </a:r>
            <a:r>
              <a:rPr lang="en-US" altLang="zh-CN" sz="2800" dirty="0">
                <a:latin typeface="Times New Roman" panose="02020603050405020304" pitchFamily="18" charset="0"/>
              </a:rPr>
              <a:t>"101"</a:t>
            </a:r>
            <a:r>
              <a:rPr lang="zh-CN" altLang="en-US" sz="2800" dirty="0">
                <a:latin typeface="Times New Roman" panose="02020603050405020304" pitchFamily="18" charset="0"/>
              </a:rPr>
              <a:t>序列检测器。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312">
                                            <p:txEl>
                                              <p:pRg st="0" end="0"/>
                                            </p:txEl>
                                          </p:spTgt>
                                        </p:tgtEl>
                                        <p:attrNameLst>
                                          <p:attrName>style.visibility</p:attrName>
                                        </p:attrNameLst>
                                      </p:cBhvr>
                                      <p:to>
                                        <p:strVal val="visible"/>
                                      </p:to>
                                    </p:set>
                                    <p:animEffect transition="in" filter="wipe(left)">
                                      <p:cBhvr>
                                        <p:cTn id="12" dur="500"/>
                                        <p:tgtEl>
                                          <p:spTgt spid="523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12"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Group 4"/>
          <p:cNvGrpSpPr/>
          <p:nvPr/>
        </p:nvGrpSpPr>
        <p:grpSpPr>
          <a:xfrm>
            <a:off x="720725" y="2338388"/>
            <a:ext cx="7634288" cy="3448050"/>
            <a:chOff x="2660" y="12604"/>
            <a:chExt cx="7200" cy="2414"/>
          </a:xfrm>
        </p:grpSpPr>
        <p:grpSp>
          <p:nvGrpSpPr>
            <p:cNvPr id="37892" name="Group 5"/>
            <p:cNvGrpSpPr/>
            <p:nvPr/>
          </p:nvGrpSpPr>
          <p:grpSpPr>
            <a:xfrm>
              <a:off x="2660" y="12604"/>
              <a:ext cx="7200" cy="2023"/>
              <a:chOff x="2660" y="12900"/>
              <a:chExt cx="7200" cy="2023"/>
            </a:xfrm>
          </p:grpSpPr>
          <p:sp>
            <p:nvSpPr>
              <p:cNvPr id="37894" name="Text Box 6"/>
              <p:cNvSpPr txBox="1"/>
              <p:nvPr/>
            </p:nvSpPr>
            <p:spPr>
              <a:xfrm>
                <a:off x="6920" y="13413"/>
                <a:ext cx="360" cy="312"/>
              </a:xfrm>
              <a:prstGeom prst="rect">
                <a:avLst/>
              </a:prstGeom>
              <a:noFill/>
              <a:ln w="9525">
                <a:noFill/>
              </a:ln>
            </p:spPr>
            <p:txBody>
              <a:bodyPr lIns="0" tIns="0" rIns="0" bIns="0"/>
              <a:lstStyle/>
              <a:p>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37895" name="Text Box 7"/>
              <p:cNvSpPr txBox="1"/>
              <p:nvPr/>
            </p:nvSpPr>
            <p:spPr>
              <a:xfrm>
                <a:off x="5180" y="13413"/>
                <a:ext cx="360" cy="312"/>
              </a:xfrm>
              <a:prstGeom prst="rect">
                <a:avLst/>
              </a:prstGeom>
              <a:noFill/>
              <a:ln w="9525">
                <a:noFill/>
              </a:ln>
            </p:spPr>
            <p:txBody>
              <a:bodyPr lIns="0" tIns="0" rIns="0" bIns="0"/>
              <a:lstStyle/>
              <a:p>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0</a:t>
                </a:r>
                <a:endParaRPr lang="en-US" altLang="zh-CN" sz="6000" dirty="0">
                  <a:latin typeface="Times New Roman" panose="02020603050405020304" pitchFamily="18" charset="0"/>
                </a:endParaRPr>
              </a:p>
            </p:txBody>
          </p:sp>
          <p:sp>
            <p:nvSpPr>
              <p:cNvPr id="37896" name="Text Box 8"/>
              <p:cNvSpPr txBox="1"/>
              <p:nvPr/>
            </p:nvSpPr>
            <p:spPr>
              <a:xfrm>
                <a:off x="8600" y="13257"/>
                <a:ext cx="360" cy="312"/>
              </a:xfrm>
              <a:prstGeom prst="rect">
                <a:avLst/>
              </a:prstGeom>
              <a:noFill/>
              <a:ln w="9525" cap="flat" cmpd="sng">
                <a:solidFill>
                  <a:srgbClr val="0000FF"/>
                </a:solidFill>
                <a:prstDash val="solid"/>
                <a:miter/>
                <a:headEnd type="none" w="med" len="med"/>
                <a:tailEnd type="none" w="med" len="med"/>
              </a:ln>
            </p:spPr>
            <p:txBody>
              <a:bodyPr lIns="0" tIns="0" rIns="0" bIns="0"/>
              <a:lstStyle/>
              <a:p>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2</a:t>
                </a:r>
                <a:endParaRPr lang="en-US" altLang="zh-CN" sz="6000" dirty="0">
                  <a:latin typeface="Times New Roman" panose="02020603050405020304" pitchFamily="18" charset="0"/>
                </a:endParaRPr>
              </a:p>
            </p:txBody>
          </p:sp>
          <p:sp>
            <p:nvSpPr>
              <p:cNvPr id="37897" name="Rectangle 9"/>
              <p:cNvSpPr/>
              <p:nvPr/>
            </p:nvSpPr>
            <p:spPr>
              <a:xfrm>
                <a:off x="4625" y="13413"/>
                <a:ext cx="540" cy="1248"/>
              </a:xfrm>
              <a:prstGeom prst="rect">
                <a:avLst/>
              </a:prstGeom>
              <a:solidFill>
                <a:srgbClr val="CCFFFF"/>
              </a:solidFill>
              <a:ln w="9525" cap="flat" cmpd="sng">
                <a:solidFill>
                  <a:srgbClr val="0000FF"/>
                </a:solidFill>
                <a:prstDash val="solid"/>
                <a:miter/>
                <a:headEnd type="none" w="med" len="med"/>
                <a:tailEnd type="none" w="med" len="med"/>
              </a:ln>
            </p:spPr>
            <p:txBody>
              <a:bodyPr/>
              <a:lstStyle/>
              <a:p>
                <a:pPr algn="just"/>
                <a:r>
                  <a:rPr lang="en-US" altLang="zh-CN" sz="2400" i="1" dirty="0">
                    <a:latin typeface="Times New Roman" panose="02020603050405020304" pitchFamily="18" charset="0"/>
                  </a:rPr>
                  <a:t>T</a:t>
                </a:r>
                <a:r>
                  <a:rPr lang="en-US" altLang="zh-CN" sz="2400" baseline="-25000" dirty="0">
                    <a:latin typeface="Times New Roman" panose="02020603050405020304" pitchFamily="18" charset="0"/>
                  </a:rPr>
                  <a:t>0</a:t>
                </a:r>
              </a:p>
              <a:p>
                <a:endParaRPr lang="en-US" altLang="zh-CN" sz="6000" dirty="0">
                  <a:latin typeface="Times New Roman" panose="02020603050405020304" pitchFamily="18" charset="0"/>
                </a:endParaRPr>
              </a:p>
            </p:txBody>
          </p:sp>
          <p:sp>
            <p:nvSpPr>
              <p:cNvPr id="37898" name="Freeform 10"/>
              <p:cNvSpPr/>
              <p:nvPr/>
            </p:nvSpPr>
            <p:spPr>
              <a:xfrm>
                <a:off x="4624" y="13971"/>
                <a:ext cx="91" cy="142"/>
              </a:xfrm>
              <a:custGeom>
                <a:avLst/>
                <a:gdLst>
                  <a:gd name="txL" fmla="*/ 0 w 150"/>
                  <a:gd name="txT" fmla="*/ 0 h 312"/>
                  <a:gd name="txR" fmla="*/ 150 w 150"/>
                  <a:gd name="txB" fmla="*/ 312 h 312"/>
                </a:gdLst>
                <a:ahLst/>
                <a:cxnLst>
                  <a:cxn ang="0">
                    <a:pos x="0" y="0"/>
                  </a:cxn>
                  <a:cxn ang="0">
                    <a:pos x="55" y="37"/>
                  </a:cxn>
                  <a:cxn ang="0">
                    <a:pos x="1" y="65"/>
                  </a:cxn>
                </a:cxnLst>
                <a:rect l="txL" t="txT" r="txR" b="txB"/>
                <a:pathLst>
                  <a:path w="150" h="312">
                    <a:moveTo>
                      <a:pt x="0" y="0"/>
                    </a:moveTo>
                    <a:lnTo>
                      <a:pt x="150" y="177"/>
                    </a:lnTo>
                    <a:lnTo>
                      <a:pt x="1" y="312"/>
                    </a:lnTo>
                  </a:path>
                </a:pathLst>
              </a:custGeom>
              <a:noFill/>
              <a:ln w="9525" cap="flat" cmpd="sng">
                <a:solidFill>
                  <a:srgbClr val="0000FF">
                    <a:alpha val="100000"/>
                  </a:srgbClr>
                </a:solidFill>
                <a:prstDash val="solid"/>
                <a:round/>
                <a:headEnd type="none" w="med" len="med"/>
                <a:tailEnd type="none" w="med" len="med"/>
              </a:ln>
            </p:spPr>
            <p:txBody>
              <a:bodyPr/>
              <a:lstStyle/>
              <a:p>
                <a:endParaRPr lang="zh-CN" altLang="en-US"/>
              </a:p>
            </p:txBody>
          </p:sp>
          <p:sp>
            <p:nvSpPr>
              <p:cNvPr id="37899" name="Rectangle 11"/>
              <p:cNvSpPr/>
              <p:nvPr/>
            </p:nvSpPr>
            <p:spPr>
              <a:xfrm>
                <a:off x="6320" y="13416"/>
                <a:ext cx="539" cy="1248"/>
              </a:xfrm>
              <a:prstGeom prst="rect">
                <a:avLst/>
              </a:prstGeom>
              <a:solidFill>
                <a:srgbClr val="CCFFFF"/>
              </a:solidFill>
              <a:ln w="9525" cap="flat" cmpd="sng">
                <a:solidFill>
                  <a:srgbClr val="0000FF"/>
                </a:solidFill>
                <a:prstDash val="solid"/>
                <a:miter/>
                <a:headEnd type="none" w="med" len="med"/>
                <a:tailEnd type="none" w="med" len="med"/>
              </a:ln>
            </p:spPr>
            <p:txBody>
              <a:bodyPr/>
              <a:lstStyle/>
              <a:p>
                <a:pPr algn="just"/>
                <a:r>
                  <a:rPr lang="en-US" altLang="zh-CN" sz="2400" i="1" dirty="0">
                    <a:latin typeface="Times New Roman" panose="02020603050405020304" pitchFamily="18" charset="0"/>
                  </a:rPr>
                  <a:t>D</a:t>
                </a:r>
                <a:r>
                  <a:rPr lang="en-US" altLang="zh-CN" sz="2400" baseline="-25000" dirty="0">
                    <a:latin typeface="Times New Roman" panose="02020603050405020304" pitchFamily="18" charset="0"/>
                  </a:rPr>
                  <a:t>1	</a:t>
                </a:r>
              </a:p>
              <a:p>
                <a:endParaRPr lang="en-US" altLang="zh-CN" sz="6000" dirty="0">
                  <a:latin typeface="Times New Roman" panose="02020603050405020304" pitchFamily="18" charset="0"/>
                </a:endParaRPr>
              </a:p>
            </p:txBody>
          </p:sp>
          <p:sp>
            <p:nvSpPr>
              <p:cNvPr id="37900" name="Freeform 12"/>
              <p:cNvSpPr/>
              <p:nvPr/>
            </p:nvSpPr>
            <p:spPr>
              <a:xfrm>
                <a:off x="6319" y="13971"/>
                <a:ext cx="91" cy="142"/>
              </a:xfrm>
              <a:custGeom>
                <a:avLst/>
                <a:gdLst>
                  <a:gd name="txL" fmla="*/ 0 w 150"/>
                  <a:gd name="txT" fmla="*/ 0 h 312"/>
                  <a:gd name="txR" fmla="*/ 150 w 150"/>
                  <a:gd name="txB" fmla="*/ 312 h 312"/>
                </a:gdLst>
                <a:ahLst/>
                <a:cxnLst>
                  <a:cxn ang="0">
                    <a:pos x="0" y="0"/>
                  </a:cxn>
                  <a:cxn ang="0">
                    <a:pos x="55" y="37"/>
                  </a:cxn>
                  <a:cxn ang="0">
                    <a:pos x="1" y="65"/>
                  </a:cxn>
                </a:cxnLst>
                <a:rect l="txL" t="txT" r="txR" b="txB"/>
                <a:pathLst>
                  <a:path w="150" h="312">
                    <a:moveTo>
                      <a:pt x="0" y="0"/>
                    </a:moveTo>
                    <a:lnTo>
                      <a:pt x="150" y="177"/>
                    </a:lnTo>
                    <a:lnTo>
                      <a:pt x="1" y="312"/>
                    </a:lnTo>
                  </a:path>
                </a:pathLst>
              </a:custGeom>
              <a:noFill/>
              <a:ln w="9525" cap="flat" cmpd="sng">
                <a:solidFill>
                  <a:srgbClr val="0000FF">
                    <a:alpha val="100000"/>
                  </a:srgbClr>
                </a:solidFill>
                <a:prstDash val="solid"/>
                <a:round/>
                <a:headEnd type="none" w="med" len="med"/>
                <a:tailEnd type="none" w="med" len="med"/>
              </a:ln>
            </p:spPr>
            <p:txBody>
              <a:bodyPr/>
              <a:lstStyle/>
              <a:p>
                <a:endParaRPr lang="zh-CN" altLang="en-US"/>
              </a:p>
            </p:txBody>
          </p:sp>
          <p:sp>
            <p:nvSpPr>
              <p:cNvPr id="37901" name="Rectangle 13"/>
              <p:cNvSpPr/>
              <p:nvPr/>
            </p:nvSpPr>
            <p:spPr>
              <a:xfrm>
                <a:off x="7955" y="13398"/>
                <a:ext cx="539" cy="1248"/>
              </a:xfrm>
              <a:prstGeom prst="rect">
                <a:avLst/>
              </a:prstGeom>
              <a:solidFill>
                <a:srgbClr val="CCFFFF"/>
              </a:solidFill>
              <a:ln w="9525" cap="flat" cmpd="sng">
                <a:solidFill>
                  <a:srgbClr val="0000FF"/>
                </a:solidFill>
                <a:prstDash val="solid"/>
                <a:miter/>
                <a:headEnd type="none" w="med" len="med"/>
                <a:tailEnd type="none" w="med" len="med"/>
              </a:ln>
            </p:spPr>
            <p:txBody>
              <a:bodyPr/>
              <a:lstStyle/>
              <a:p>
                <a:pPr algn="just"/>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2</a:t>
                </a:r>
              </a:p>
              <a:p>
                <a:pPr algn="just"/>
                <a:endParaRPr lang="en-US" altLang="zh-CN" sz="2400" dirty="0">
                  <a:latin typeface="Times New Roman" panose="02020603050405020304" pitchFamily="18" charset="0"/>
                </a:endParaRPr>
              </a:p>
              <a:p>
                <a:pPr algn="just"/>
                <a:endParaRPr lang="en-US" altLang="zh-CN" sz="2400" i="1" dirty="0">
                  <a:latin typeface="Times New Roman" panose="02020603050405020304" pitchFamily="18" charset="0"/>
                </a:endParaRPr>
              </a:p>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2</a:t>
                </a:r>
                <a:endParaRPr lang="en-US" altLang="zh-CN" sz="6000" dirty="0">
                  <a:latin typeface="Times New Roman" panose="02020603050405020304" pitchFamily="18" charset="0"/>
                </a:endParaRPr>
              </a:p>
            </p:txBody>
          </p:sp>
          <p:sp>
            <p:nvSpPr>
              <p:cNvPr id="37902" name="Freeform 14"/>
              <p:cNvSpPr/>
              <p:nvPr/>
            </p:nvSpPr>
            <p:spPr>
              <a:xfrm>
                <a:off x="7954" y="13956"/>
                <a:ext cx="91" cy="142"/>
              </a:xfrm>
              <a:custGeom>
                <a:avLst/>
                <a:gdLst>
                  <a:gd name="txL" fmla="*/ 0 w 150"/>
                  <a:gd name="txT" fmla="*/ 0 h 312"/>
                  <a:gd name="txR" fmla="*/ 150 w 150"/>
                  <a:gd name="txB" fmla="*/ 312 h 312"/>
                </a:gdLst>
                <a:ahLst/>
                <a:cxnLst>
                  <a:cxn ang="0">
                    <a:pos x="0" y="0"/>
                  </a:cxn>
                  <a:cxn ang="0">
                    <a:pos x="55" y="37"/>
                  </a:cxn>
                  <a:cxn ang="0">
                    <a:pos x="1" y="65"/>
                  </a:cxn>
                </a:cxnLst>
                <a:rect l="txL" t="txT" r="txR" b="txB"/>
                <a:pathLst>
                  <a:path w="150" h="312">
                    <a:moveTo>
                      <a:pt x="0" y="0"/>
                    </a:moveTo>
                    <a:lnTo>
                      <a:pt x="150" y="177"/>
                    </a:lnTo>
                    <a:lnTo>
                      <a:pt x="1" y="312"/>
                    </a:lnTo>
                  </a:path>
                </a:pathLst>
              </a:custGeom>
              <a:noFill/>
              <a:ln w="9525" cap="flat" cmpd="sng">
                <a:solidFill>
                  <a:srgbClr val="0000FF">
                    <a:alpha val="100000"/>
                  </a:srgbClr>
                </a:solidFill>
                <a:prstDash val="solid"/>
                <a:round/>
                <a:headEnd type="none" w="med" len="med"/>
                <a:tailEnd type="none" w="med" len="med"/>
              </a:ln>
            </p:spPr>
            <p:txBody>
              <a:bodyPr/>
              <a:lstStyle/>
              <a:p>
                <a:endParaRPr lang="zh-CN" altLang="en-US"/>
              </a:p>
            </p:txBody>
          </p:sp>
          <p:sp>
            <p:nvSpPr>
              <p:cNvPr id="37903" name="Rectangle 15"/>
              <p:cNvSpPr/>
              <p:nvPr/>
            </p:nvSpPr>
            <p:spPr>
              <a:xfrm>
                <a:off x="3200" y="13413"/>
                <a:ext cx="360" cy="468"/>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24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37904" name="Line 16"/>
              <p:cNvSpPr/>
              <p:nvPr/>
            </p:nvSpPr>
            <p:spPr>
              <a:xfrm>
                <a:off x="5180" y="13728"/>
                <a:ext cx="1140" cy="0"/>
              </a:xfrm>
              <a:prstGeom prst="line">
                <a:avLst/>
              </a:prstGeom>
              <a:ln w="9525" cap="flat" cmpd="sng">
                <a:solidFill>
                  <a:srgbClr val="0000FF"/>
                </a:solidFill>
                <a:prstDash val="solid"/>
                <a:headEnd type="none" w="med" len="med"/>
                <a:tailEnd type="none" w="med" len="med"/>
              </a:ln>
            </p:spPr>
          </p:sp>
          <p:sp>
            <p:nvSpPr>
              <p:cNvPr id="37905" name="Line 17"/>
              <p:cNvSpPr/>
              <p:nvPr/>
            </p:nvSpPr>
            <p:spPr>
              <a:xfrm>
                <a:off x="6860" y="13719"/>
                <a:ext cx="1080" cy="0"/>
              </a:xfrm>
              <a:prstGeom prst="line">
                <a:avLst/>
              </a:prstGeom>
              <a:ln w="9525" cap="flat" cmpd="sng">
                <a:solidFill>
                  <a:srgbClr val="0000FF"/>
                </a:solidFill>
                <a:prstDash val="solid"/>
                <a:headEnd type="none" w="med" len="med"/>
                <a:tailEnd type="none" w="med" len="med"/>
              </a:ln>
            </p:spPr>
          </p:sp>
          <p:sp>
            <p:nvSpPr>
              <p:cNvPr id="37906" name="Line 18"/>
              <p:cNvSpPr/>
              <p:nvPr/>
            </p:nvSpPr>
            <p:spPr>
              <a:xfrm flipV="1">
                <a:off x="7157" y="13236"/>
                <a:ext cx="1797" cy="0"/>
              </a:xfrm>
              <a:prstGeom prst="line">
                <a:avLst/>
              </a:prstGeom>
              <a:ln w="9525" cap="flat" cmpd="sng">
                <a:solidFill>
                  <a:srgbClr val="0000FF"/>
                </a:solidFill>
                <a:prstDash val="solid"/>
                <a:headEnd type="none" w="med" len="med"/>
                <a:tailEnd type="none" w="med" len="med"/>
              </a:ln>
            </p:spPr>
          </p:sp>
          <p:sp>
            <p:nvSpPr>
              <p:cNvPr id="37907" name="Line 19"/>
              <p:cNvSpPr/>
              <p:nvPr/>
            </p:nvSpPr>
            <p:spPr>
              <a:xfrm flipH="1">
                <a:off x="7152" y="13233"/>
                <a:ext cx="1" cy="1257"/>
              </a:xfrm>
              <a:prstGeom prst="line">
                <a:avLst/>
              </a:prstGeom>
              <a:ln w="9525" cap="flat" cmpd="sng">
                <a:solidFill>
                  <a:srgbClr val="0000FF"/>
                </a:solidFill>
                <a:prstDash val="solid"/>
                <a:headEnd type="none" w="med" len="med"/>
                <a:tailEnd type="none" w="med" len="med"/>
              </a:ln>
            </p:spPr>
          </p:sp>
          <p:sp>
            <p:nvSpPr>
              <p:cNvPr id="37908" name="Line 20"/>
              <p:cNvSpPr/>
              <p:nvPr/>
            </p:nvSpPr>
            <p:spPr>
              <a:xfrm>
                <a:off x="7160" y="14497"/>
                <a:ext cx="221" cy="0"/>
              </a:xfrm>
              <a:prstGeom prst="line">
                <a:avLst/>
              </a:prstGeom>
              <a:ln w="9525" cap="flat" cmpd="sng">
                <a:solidFill>
                  <a:srgbClr val="0000FF"/>
                </a:solidFill>
                <a:prstDash val="solid"/>
                <a:headEnd type="none" w="med" len="med"/>
                <a:tailEnd type="none" w="med" len="med"/>
              </a:ln>
            </p:spPr>
          </p:sp>
          <p:sp>
            <p:nvSpPr>
              <p:cNvPr id="37909" name="Rectangle 21"/>
              <p:cNvSpPr/>
              <p:nvPr/>
            </p:nvSpPr>
            <p:spPr>
              <a:xfrm>
                <a:off x="7370" y="14307"/>
                <a:ext cx="306" cy="36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24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37910" name="Line 22"/>
              <p:cNvSpPr/>
              <p:nvPr/>
            </p:nvSpPr>
            <p:spPr>
              <a:xfrm>
                <a:off x="3560" y="13728"/>
                <a:ext cx="1066" cy="0"/>
              </a:xfrm>
              <a:prstGeom prst="line">
                <a:avLst/>
              </a:prstGeom>
              <a:ln w="9525" cap="flat" cmpd="sng">
                <a:solidFill>
                  <a:srgbClr val="0000FF"/>
                </a:solidFill>
                <a:prstDash val="solid"/>
                <a:headEnd type="none" w="med" len="med"/>
                <a:tailEnd type="none" w="med" len="med"/>
              </a:ln>
            </p:spPr>
          </p:sp>
          <p:sp>
            <p:nvSpPr>
              <p:cNvPr id="37911" name="Line 23"/>
              <p:cNvSpPr/>
              <p:nvPr/>
            </p:nvSpPr>
            <p:spPr>
              <a:xfrm>
                <a:off x="8495" y="13569"/>
                <a:ext cx="442" cy="0"/>
              </a:xfrm>
              <a:prstGeom prst="line">
                <a:avLst/>
              </a:prstGeom>
              <a:ln w="9525" cap="flat" cmpd="sng">
                <a:solidFill>
                  <a:srgbClr val="0000FF"/>
                </a:solidFill>
                <a:prstDash val="solid"/>
                <a:headEnd type="none" w="med" len="med"/>
                <a:tailEnd type="none" w="med" len="med"/>
              </a:ln>
            </p:spPr>
          </p:sp>
          <p:sp>
            <p:nvSpPr>
              <p:cNvPr id="37912" name="Line 24"/>
              <p:cNvSpPr/>
              <p:nvPr/>
            </p:nvSpPr>
            <p:spPr>
              <a:xfrm>
                <a:off x="2660" y="13734"/>
                <a:ext cx="533" cy="0"/>
              </a:xfrm>
              <a:prstGeom prst="line">
                <a:avLst/>
              </a:prstGeom>
              <a:ln w="9525" cap="flat" cmpd="sng">
                <a:solidFill>
                  <a:srgbClr val="0000FF"/>
                </a:solidFill>
                <a:prstDash val="solid"/>
                <a:headEnd type="none" w="med" len="med"/>
                <a:tailEnd type="none" w="med" len="med"/>
              </a:ln>
            </p:spPr>
          </p:sp>
          <p:sp>
            <p:nvSpPr>
              <p:cNvPr id="37913" name="Line 25"/>
              <p:cNvSpPr/>
              <p:nvPr/>
            </p:nvSpPr>
            <p:spPr>
              <a:xfrm>
                <a:off x="2960" y="13569"/>
                <a:ext cx="249" cy="0"/>
              </a:xfrm>
              <a:prstGeom prst="line">
                <a:avLst/>
              </a:prstGeom>
              <a:ln w="9525" cap="flat" cmpd="sng">
                <a:solidFill>
                  <a:srgbClr val="0000FF"/>
                </a:solidFill>
                <a:prstDash val="solid"/>
                <a:headEnd type="none" w="med" len="med"/>
                <a:tailEnd type="none" w="med" len="med"/>
              </a:ln>
            </p:spPr>
          </p:sp>
          <p:sp>
            <p:nvSpPr>
              <p:cNvPr id="37914" name="Line 26"/>
              <p:cNvSpPr/>
              <p:nvPr/>
            </p:nvSpPr>
            <p:spPr>
              <a:xfrm>
                <a:off x="2960" y="13101"/>
                <a:ext cx="0" cy="468"/>
              </a:xfrm>
              <a:prstGeom prst="line">
                <a:avLst/>
              </a:prstGeom>
              <a:ln w="9525" cap="flat" cmpd="sng">
                <a:solidFill>
                  <a:srgbClr val="0000FF"/>
                </a:solidFill>
                <a:prstDash val="solid"/>
                <a:headEnd type="none" w="med" len="med"/>
                <a:tailEnd type="none" w="med" len="med"/>
              </a:ln>
            </p:spPr>
          </p:sp>
          <p:sp>
            <p:nvSpPr>
              <p:cNvPr id="37915" name="Text Box 27"/>
              <p:cNvSpPr txBox="1"/>
              <p:nvPr/>
            </p:nvSpPr>
            <p:spPr>
              <a:xfrm>
                <a:off x="2660" y="13408"/>
                <a:ext cx="180" cy="309"/>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x</a:t>
                </a:r>
                <a:endParaRPr lang="en-US" altLang="zh-CN" sz="6000" dirty="0">
                  <a:latin typeface="Times New Roman" panose="02020603050405020304" pitchFamily="18" charset="0"/>
                </a:endParaRPr>
              </a:p>
            </p:txBody>
          </p:sp>
          <p:sp>
            <p:nvSpPr>
              <p:cNvPr id="37916" name="Line 28"/>
              <p:cNvSpPr/>
              <p:nvPr/>
            </p:nvSpPr>
            <p:spPr>
              <a:xfrm>
                <a:off x="4070" y="14037"/>
                <a:ext cx="540" cy="0"/>
              </a:xfrm>
              <a:prstGeom prst="line">
                <a:avLst/>
              </a:prstGeom>
              <a:ln w="9525" cap="flat" cmpd="sng">
                <a:solidFill>
                  <a:srgbClr val="0000FF"/>
                </a:solidFill>
                <a:prstDash val="solid"/>
                <a:headEnd type="none" w="med" len="med"/>
                <a:tailEnd type="none" w="med" len="med"/>
              </a:ln>
            </p:spPr>
          </p:sp>
          <p:sp>
            <p:nvSpPr>
              <p:cNvPr id="37917" name="Line 29"/>
              <p:cNvSpPr/>
              <p:nvPr/>
            </p:nvSpPr>
            <p:spPr>
              <a:xfrm flipH="1">
                <a:off x="4068" y="14037"/>
                <a:ext cx="2" cy="849"/>
              </a:xfrm>
              <a:prstGeom prst="line">
                <a:avLst/>
              </a:prstGeom>
              <a:ln w="9525" cap="flat" cmpd="sng">
                <a:solidFill>
                  <a:srgbClr val="0000FF"/>
                </a:solidFill>
                <a:prstDash val="solid"/>
                <a:headEnd type="none" w="med" len="med"/>
                <a:tailEnd type="none" w="med" len="med"/>
              </a:ln>
            </p:spPr>
          </p:sp>
          <p:sp>
            <p:nvSpPr>
              <p:cNvPr id="37918" name="Line 30"/>
              <p:cNvSpPr/>
              <p:nvPr/>
            </p:nvSpPr>
            <p:spPr>
              <a:xfrm>
                <a:off x="5765" y="14037"/>
                <a:ext cx="540" cy="0"/>
              </a:xfrm>
              <a:prstGeom prst="line">
                <a:avLst/>
              </a:prstGeom>
              <a:ln w="9525" cap="flat" cmpd="sng">
                <a:solidFill>
                  <a:srgbClr val="0000FF"/>
                </a:solidFill>
                <a:prstDash val="solid"/>
                <a:headEnd type="none" w="med" len="med"/>
                <a:tailEnd type="none" w="med" len="med"/>
              </a:ln>
            </p:spPr>
          </p:sp>
          <p:sp>
            <p:nvSpPr>
              <p:cNvPr id="37919" name="Line 31"/>
              <p:cNvSpPr/>
              <p:nvPr/>
            </p:nvSpPr>
            <p:spPr>
              <a:xfrm>
                <a:off x="5750" y="14037"/>
                <a:ext cx="6" cy="855"/>
              </a:xfrm>
              <a:prstGeom prst="line">
                <a:avLst/>
              </a:prstGeom>
              <a:ln w="9525" cap="flat" cmpd="sng">
                <a:solidFill>
                  <a:srgbClr val="0000FF"/>
                </a:solidFill>
                <a:prstDash val="solid"/>
                <a:headEnd type="none" w="med" len="med"/>
                <a:tailEnd type="none" w="med" len="med"/>
              </a:ln>
            </p:spPr>
          </p:sp>
          <p:sp>
            <p:nvSpPr>
              <p:cNvPr id="37920" name="Line 32"/>
              <p:cNvSpPr/>
              <p:nvPr/>
            </p:nvSpPr>
            <p:spPr>
              <a:xfrm>
                <a:off x="7775" y="14040"/>
                <a:ext cx="181" cy="0"/>
              </a:xfrm>
              <a:prstGeom prst="line">
                <a:avLst/>
              </a:prstGeom>
              <a:ln w="9525" cap="flat" cmpd="sng">
                <a:solidFill>
                  <a:srgbClr val="0000FF"/>
                </a:solidFill>
                <a:prstDash val="solid"/>
                <a:headEnd type="none" w="med" len="med"/>
                <a:tailEnd type="none" w="med" len="med"/>
              </a:ln>
            </p:spPr>
          </p:sp>
          <p:sp>
            <p:nvSpPr>
              <p:cNvPr id="37921" name="Line 33"/>
              <p:cNvSpPr/>
              <p:nvPr/>
            </p:nvSpPr>
            <p:spPr>
              <a:xfrm>
                <a:off x="7775" y="14036"/>
                <a:ext cx="1" cy="852"/>
              </a:xfrm>
              <a:prstGeom prst="line">
                <a:avLst/>
              </a:prstGeom>
              <a:ln w="9525" cap="flat" cmpd="sng">
                <a:solidFill>
                  <a:srgbClr val="0000FF"/>
                </a:solidFill>
                <a:prstDash val="solid"/>
                <a:headEnd type="none" w="med" len="med"/>
                <a:tailEnd type="none" w="med" len="med"/>
              </a:ln>
            </p:spPr>
          </p:sp>
          <p:sp>
            <p:nvSpPr>
              <p:cNvPr id="37922" name="Line 34"/>
              <p:cNvSpPr/>
              <p:nvPr/>
            </p:nvSpPr>
            <p:spPr>
              <a:xfrm>
                <a:off x="7670" y="14505"/>
                <a:ext cx="278" cy="0"/>
              </a:xfrm>
              <a:prstGeom prst="line">
                <a:avLst/>
              </a:prstGeom>
              <a:ln w="9525" cap="flat" cmpd="sng">
                <a:solidFill>
                  <a:srgbClr val="0000FF"/>
                </a:solidFill>
                <a:prstDash val="solid"/>
                <a:headEnd type="none" w="med" len="med"/>
                <a:tailEnd type="none" w="med" len="med"/>
              </a:ln>
            </p:spPr>
          </p:sp>
          <p:sp>
            <p:nvSpPr>
              <p:cNvPr id="37923" name="Line 35"/>
              <p:cNvSpPr/>
              <p:nvPr/>
            </p:nvSpPr>
            <p:spPr>
              <a:xfrm>
                <a:off x="2690" y="14888"/>
                <a:ext cx="5085" cy="0"/>
              </a:xfrm>
              <a:prstGeom prst="line">
                <a:avLst/>
              </a:prstGeom>
              <a:ln w="9525" cap="flat" cmpd="sng">
                <a:solidFill>
                  <a:srgbClr val="0000FF"/>
                </a:solidFill>
                <a:prstDash val="solid"/>
                <a:headEnd type="none" w="med" len="med"/>
                <a:tailEnd type="none" w="med" len="med"/>
              </a:ln>
            </p:spPr>
          </p:sp>
          <p:sp>
            <p:nvSpPr>
              <p:cNvPr id="37924" name="Line 36"/>
              <p:cNvSpPr/>
              <p:nvPr/>
            </p:nvSpPr>
            <p:spPr>
              <a:xfrm>
                <a:off x="9320" y="13257"/>
                <a:ext cx="533" cy="0"/>
              </a:xfrm>
              <a:prstGeom prst="line">
                <a:avLst/>
              </a:prstGeom>
              <a:ln w="9525" cap="flat" cmpd="sng">
                <a:solidFill>
                  <a:srgbClr val="0000FF"/>
                </a:solidFill>
                <a:prstDash val="solid"/>
                <a:headEnd type="none" w="med" len="med"/>
                <a:tailEnd type="none" w="med" len="med"/>
              </a:ln>
            </p:spPr>
          </p:sp>
          <p:sp>
            <p:nvSpPr>
              <p:cNvPr id="37925" name="Text Box 37"/>
              <p:cNvSpPr txBox="1"/>
              <p:nvPr/>
            </p:nvSpPr>
            <p:spPr>
              <a:xfrm>
                <a:off x="9500" y="12900"/>
                <a:ext cx="360" cy="312"/>
              </a:xfrm>
              <a:prstGeom prst="rect">
                <a:avLst/>
              </a:prstGeom>
              <a:noFill/>
              <a:ln w="9525">
                <a:noFill/>
              </a:ln>
            </p:spPr>
            <p:txBody>
              <a:bodyPr lIns="0" tIns="0" rIns="0" bIns="0"/>
              <a:lstStyle/>
              <a:p>
                <a:r>
                  <a:rPr lang="en-US" altLang="zh-CN" sz="2400" i="1" dirty="0">
                    <a:latin typeface="Times New Roman" panose="02020603050405020304" pitchFamily="18" charset="0"/>
                  </a:rPr>
                  <a:t>Z</a:t>
                </a:r>
                <a:endParaRPr lang="en-US" altLang="zh-CN" sz="6000" dirty="0">
                  <a:latin typeface="Times New Roman" panose="02020603050405020304" pitchFamily="18" charset="0"/>
                </a:endParaRPr>
              </a:p>
            </p:txBody>
          </p:sp>
          <p:sp>
            <p:nvSpPr>
              <p:cNvPr id="37926" name="Oval 38"/>
              <p:cNvSpPr/>
              <p:nvPr/>
            </p:nvSpPr>
            <p:spPr>
              <a:xfrm>
                <a:off x="5171" y="14388"/>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Times New Roman" panose="02020603050405020304" pitchFamily="18" charset="0"/>
                </a:endParaRPr>
              </a:p>
            </p:txBody>
          </p:sp>
          <p:sp>
            <p:nvSpPr>
              <p:cNvPr id="37927" name="Line 39"/>
              <p:cNvSpPr/>
              <p:nvPr/>
            </p:nvSpPr>
            <p:spPr>
              <a:xfrm>
                <a:off x="2960" y="13104"/>
                <a:ext cx="6055" cy="0"/>
              </a:xfrm>
              <a:prstGeom prst="line">
                <a:avLst/>
              </a:prstGeom>
              <a:ln w="9525" cap="flat" cmpd="sng">
                <a:solidFill>
                  <a:srgbClr val="0000FF"/>
                </a:solidFill>
                <a:prstDash val="solid"/>
                <a:headEnd type="none" w="med" len="med"/>
                <a:tailEnd type="none" w="med" len="med"/>
              </a:ln>
            </p:spPr>
          </p:sp>
          <p:sp>
            <p:nvSpPr>
              <p:cNvPr id="37928" name="Line 40"/>
              <p:cNvSpPr/>
              <p:nvPr/>
            </p:nvSpPr>
            <p:spPr>
              <a:xfrm>
                <a:off x="5540" y="13113"/>
                <a:ext cx="0" cy="624"/>
              </a:xfrm>
              <a:prstGeom prst="line">
                <a:avLst/>
              </a:prstGeom>
              <a:ln w="9525" cap="flat" cmpd="sng">
                <a:solidFill>
                  <a:srgbClr val="0000FF"/>
                </a:solidFill>
                <a:prstDash val="solid"/>
                <a:headEnd type="none" w="med" len="med"/>
                <a:tailEnd type="none" w="med" len="med"/>
              </a:ln>
            </p:spPr>
          </p:sp>
          <p:sp>
            <p:nvSpPr>
              <p:cNvPr id="37929" name="Oval 41"/>
              <p:cNvSpPr/>
              <p:nvPr/>
            </p:nvSpPr>
            <p:spPr>
              <a:xfrm>
                <a:off x="6260" y="14007"/>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Times New Roman" panose="02020603050405020304" pitchFamily="18" charset="0"/>
                </a:endParaRPr>
              </a:p>
            </p:txBody>
          </p:sp>
          <p:sp>
            <p:nvSpPr>
              <p:cNvPr id="37930" name="Oval 42"/>
              <p:cNvSpPr/>
              <p:nvPr/>
            </p:nvSpPr>
            <p:spPr>
              <a:xfrm>
                <a:off x="5510" y="13702"/>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Times New Roman" panose="02020603050405020304" pitchFamily="18" charset="0"/>
                </a:endParaRPr>
              </a:p>
            </p:txBody>
          </p:sp>
          <p:sp>
            <p:nvSpPr>
              <p:cNvPr id="37931" name="Oval 43"/>
              <p:cNvSpPr/>
              <p:nvPr/>
            </p:nvSpPr>
            <p:spPr>
              <a:xfrm>
                <a:off x="5509" y="13086"/>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Times New Roman" panose="02020603050405020304" pitchFamily="18" charset="0"/>
                </a:endParaRPr>
              </a:p>
            </p:txBody>
          </p:sp>
          <p:sp>
            <p:nvSpPr>
              <p:cNvPr id="37932" name="Text Box 44"/>
              <p:cNvSpPr txBox="1"/>
              <p:nvPr/>
            </p:nvSpPr>
            <p:spPr>
              <a:xfrm>
                <a:off x="2800" y="14508"/>
                <a:ext cx="576" cy="312"/>
              </a:xfrm>
              <a:prstGeom prst="rect">
                <a:avLst/>
              </a:prstGeom>
              <a:noFill/>
              <a:ln w="9525">
                <a:noFill/>
              </a:ln>
            </p:spPr>
            <p:txBody>
              <a:bodyPr lIns="0" tIns="0" rIns="0" bIns="0"/>
              <a:lstStyle/>
              <a:p>
                <a:r>
                  <a:rPr lang="en-US" altLang="zh-CN" sz="2400" i="1" dirty="0">
                    <a:latin typeface="Times New Roman" panose="02020603050405020304" pitchFamily="18" charset="0"/>
                  </a:rPr>
                  <a:t>CP</a:t>
                </a:r>
                <a:endParaRPr lang="en-US" altLang="zh-CN" sz="6000" dirty="0">
                  <a:latin typeface="Times New Roman" panose="02020603050405020304" pitchFamily="18" charset="0"/>
                </a:endParaRPr>
              </a:p>
            </p:txBody>
          </p:sp>
          <p:sp>
            <p:nvSpPr>
              <p:cNvPr id="37933" name="Oval 45"/>
              <p:cNvSpPr/>
              <p:nvPr/>
            </p:nvSpPr>
            <p:spPr>
              <a:xfrm>
                <a:off x="4040" y="14858"/>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Times New Roman" panose="02020603050405020304" pitchFamily="18" charset="0"/>
                </a:endParaRPr>
              </a:p>
            </p:txBody>
          </p:sp>
          <p:sp>
            <p:nvSpPr>
              <p:cNvPr id="37934" name="Oval 46"/>
              <p:cNvSpPr/>
              <p:nvPr/>
            </p:nvSpPr>
            <p:spPr>
              <a:xfrm>
                <a:off x="5720" y="14866"/>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Times New Roman" panose="02020603050405020304" pitchFamily="18" charset="0"/>
                </a:endParaRPr>
              </a:p>
            </p:txBody>
          </p:sp>
          <p:sp>
            <p:nvSpPr>
              <p:cNvPr id="37935" name="Oval 47"/>
              <p:cNvSpPr/>
              <p:nvPr/>
            </p:nvSpPr>
            <p:spPr>
              <a:xfrm>
                <a:off x="7122" y="13695"/>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Times New Roman" panose="02020603050405020304" pitchFamily="18" charset="0"/>
                </a:endParaRPr>
              </a:p>
            </p:txBody>
          </p:sp>
          <p:sp>
            <p:nvSpPr>
              <p:cNvPr id="37936" name="Oval 48"/>
              <p:cNvSpPr/>
              <p:nvPr/>
            </p:nvSpPr>
            <p:spPr>
              <a:xfrm>
                <a:off x="6860" y="14382"/>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Times New Roman" panose="02020603050405020304" pitchFamily="18" charset="0"/>
                </a:endParaRPr>
              </a:p>
            </p:txBody>
          </p:sp>
          <p:sp>
            <p:nvSpPr>
              <p:cNvPr id="37937" name="Oval 49"/>
              <p:cNvSpPr/>
              <p:nvPr/>
            </p:nvSpPr>
            <p:spPr>
              <a:xfrm>
                <a:off x="4565" y="14022"/>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Times New Roman" panose="02020603050405020304" pitchFamily="18" charset="0"/>
                </a:endParaRPr>
              </a:p>
            </p:txBody>
          </p:sp>
          <p:sp>
            <p:nvSpPr>
              <p:cNvPr id="37938" name="Oval 50"/>
              <p:cNvSpPr/>
              <p:nvPr/>
            </p:nvSpPr>
            <p:spPr>
              <a:xfrm>
                <a:off x="8502" y="14349"/>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Times New Roman" panose="02020603050405020304" pitchFamily="18" charset="0"/>
                </a:endParaRPr>
              </a:p>
            </p:txBody>
          </p:sp>
          <p:sp>
            <p:nvSpPr>
              <p:cNvPr id="37939" name="Oval 51"/>
              <p:cNvSpPr/>
              <p:nvPr/>
            </p:nvSpPr>
            <p:spPr>
              <a:xfrm>
                <a:off x="7685" y="14474"/>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Times New Roman" panose="02020603050405020304" pitchFamily="18" charset="0"/>
                </a:endParaRPr>
              </a:p>
            </p:txBody>
          </p:sp>
          <p:sp>
            <p:nvSpPr>
              <p:cNvPr id="37940" name="Oval 52"/>
              <p:cNvSpPr/>
              <p:nvPr/>
            </p:nvSpPr>
            <p:spPr>
              <a:xfrm>
                <a:off x="7895" y="14014"/>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Times New Roman" panose="02020603050405020304" pitchFamily="18" charset="0"/>
                </a:endParaRPr>
              </a:p>
            </p:txBody>
          </p:sp>
          <p:sp>
            <p:nvSpPr>
              <p:cNvPr id="37941" name="Rectangle 53"/>
              <p:cNvSpPr/>
              <p:nvPr/>
            </p:nvSpPr>
            <p:spPr>
              <a:xfrm>
                <a:off x="8945" y="12927"/>
                <a:ext cx="360" cy="78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2400" dirty="0">
                    <a:latin typeface="Times New Roman" panose="02020603050405020304" pitchFamily="18" charset="0"/>
                  </a:rPr>
                  <a:t>=1</a:t>
                </a:r>
                <a:endParaRPr lang="en-US" altLang="zh-CN" sz="6000" dirty="0">
                  <a:latin typeface="Times New Roman" panose="02020603050405020304" pitchFamily="18" charset="0"/>
                </a:endParaRPr>
              </a:p>
            </p:txBody>
          </p:sp>
        </p:grpSp>
        <p:sp>
          <p:nvSpPr>
            <p:cNvPr id="37893" name="Text Box 54"/>
            <p:cNvSpPr txBox="1"/>
            <p:nvPr/>
          </p:nvSpPr>
          <p:spPr>
            <a:xfrm>
              <a:off x="4416" y="14610"/>
              <a:ext cx="2328" cy="408"/>
            </a:xfrm>
            <a:prstGeom prst="rect">
              <a:avLst/>
            </a:prstGeom>
            <a:noFill/>
            <a:ln w="9525">
              <a:noFill/>
            </a:ln>
          </p:spPr>
          <p:txBody>
            <a:bodyPr wrap="none"/>
            <a:lstStyle/>
            <a:p>
              <a:pPr algn="ctr"/>
              <a:endParaRPr lang="zh-CN" altLang="zh-CN" sz="6000" dirty="0">
                <a:latin typeface="Times New Roman" panose="02020603050405020304" pitchFamily="18" charset="0"/>
              </a:endParaRPr>
            </a:p>
          </p:txBody>
        </p:sp>
      </p:grpSp>
      <p:sp>
        <p:nvSpPr>
          <p:cNvPr id="37891" name="Rectangle 55" descr="羊皮纸"/>
          <p:cNvSpPr/>
          <p:nvPr/>
        </p:nvSpPr>
        <p:spPr>
          <a:xfrm>
            <a:off x="1158875" y="1085850"/>
            <a:ext cx="5962650" cy="519113"/>
          </a:xfrm>
          <a:prstGeom prst="rect">
            <a:avLst/>
          </a:prstGeom>
          <a:noFill/>
          <a:ln w="38100">
            <a:noFill/>
          </a:ln>
        </p:spPr>
        <p:txBody>
          <a:bodyPr wrap="none" lIns="90000" tIns="46800" rIns="90000" bIns="46800" anchor="ctr" anchorCtr="0">
            <a:spAutoFit/>
          </a:bodyPr>
          <a:lstStyle/>
          <a:p>
            <a:r>
              <a:rPr lang="zh-CN" altLang="en-US" sz="2800" b="1" dirty="0">
                <a:latin typeface="Times New Roman" panose="02020603050405020304" pitchFamily="18" charset="0"/>
              </a:rPr>
              <a:t>例：</a:t>
            </a:r>
            <a:r>
              <a:rPr lang="zh-CN" altLang="en-US" sz="2800" dirty="0">
                <a:latin typeface="Times New Roman" panose="02020603050405020304" pitchFamily="18" charset="0"/>
              </a:rPr>
              <a:t>分析下面的同步时序逻辑电路。 </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914" name="Object 13"/>
          <p:cNvGraphicFramePr>
            <a:graphicFrameLocks noChangeAspect="1"/>
          </p:cNvGraphicFramePr>
          <p:nvPr/>
        </p:nvGraphicFramePr>
        <p:xfrm>
          <a:off x="334963" y="1022350"/>
          <a:ext cx="2589212" cy="850900"/>
        </p:xfrm>
        <a:graphic>
          <a:graphicData uri="http://schemas.openxmlformats.org/presentationml/2006/ole">
            <mc:AlternateContent xmlns:mc="http://schemas.openxmlformats.org/markup-compatibility/2006">
              <mc:Choice xmlns:v="urn:schemas-microsoft-com:vml" Requires="v">
                <p:oleObj r:id="rId2" imgW="698500" imgH="228600" progId="Equation.3">
                  <p:embed/>
                </p:oleObj>
              </mc:Choice>
              <mc:Fallback>
                <p:oleObj r:id="rId2" imgW="698500" imgH="228600" progId="Equation.3">
                  <p:embed/>
                  <p:pic>
                    <p:nvPicPr>
                      <p:cNvPr id="0" name="图片 3080"/>
                      <p:cNvPicPr/>
                      <p:nvPr/>
                    </p:nvPicPr>
                    <p:blipFill>
                      <a:blip r:embed="rId3"/>
                      <a:stretch>
                        <a:fillRect/>
                      </a:stretch>
                    </p:blipFill>
                    <p:spPr>
                      <a:xfrm>
                        <a:off x="334963" y="1022350"/>
                        <a:ext cx="2589212" cy="850900"/>
                      </a:xfrm>
                      <a:prstGeom prst="rect">
                        <a:avLst/>
                      </a:prstGeom>
                      <a:noFill/>
                      <a:ln w="38100">
                        <a:noFill/>
                        <a:miter/>
                      </a:ln>
                    </p:spPr>
                  </p:pic>
                </p:oleObj>
              </mc:Fallback>
            </mc:AlternateContent>
          </a:graphicData>
        </a:graphic>
      </p:graphicFrame>
      <p:graphicFrame>
        <p:nvGraphicFramePr>
          <p:cNvPr id="38915" name="Object 12"/>
          <p:cNvGraphicFramePr>
            <a:graphicFrameLocks noChangeAspect="1"/>
          </p:cNvGraphicFramePr>
          <p:nvPr/>
        </p:nvGraphicFramePr>
        <p:xfrm>
          <a:off x="2849563" y="1092200"/>
          <a:ext cx="1666875" cy="709613"/>
        </p:xfrm>
        <a:graphic>
          <a:graphicData uri="http://schemas.openxmlformats.org/presentationml/2006/ole">
            <mc:AlternateContent xmlns:mc="http://schemas.openxmlformats.org/markup-compatibility/2006">
              <mc:Choice xmlns:v="urn:schemas-microsoft-com:vml" Requires="v">
                <p:oleObj r:id="rId4" imgW="444500" imgH="190500" progId="Equation.3">
                  <p:embed/>
                </p:oleObj>
              </mc:Choice>
              <mc:Fallback>
                <p:oleObj r:id="rId4" imgW="444500" imgH="190500" progId="Equation.3">
                  <p:embed/>
                  <p:pic>
                    <p:nvPicPr>
                      <p:cNvPr id="0" name="图片 3083"/>
                      <p:cNvPicPr/>
                      <p:nvPr/>
                    </p:nvPicPr>
                    <p:blipFill>
                      <a:blip r:embed="rId5"/>
                      <a:stretch>
                        <a:fillRect/>
                      </a:stretch>
                    </p:blipFill>
                    <p:spPr>
                      <a:xfrm>
                        <a:off x="2849563" y="1092200"/>
                        <a:ext cx="1666875" cy="709613"/>
                      </a:xfrm>
                      <a:prstGeom prst="rect">
                        <a:avLst/>
                      </a:prstGeom>
                      <a:noFill/>
                      <a:ln w="38100">
                        <a:noFill/>
                        <a:miter/>
                      </a:ln>
                    </p:spPr>
                  </p:pic>
                </p:oleObj>
              </mc:Fallback>
            </mc:AlternateContent>
          </a:graphicData>
        </a:graphic>
      </p:graphicFrame>
      <p:graphicFrame>
        <p:nvGraphicFramePr>
          <p:cNvPr id="38916" name="Object 11"/>
          <p:cNvGraphicFramePr>
            <a:graphicFrameLocks noChangeAspect="1"/>
          </p:cNvGraphicFramePr>
          <p:nvPr/>
        </p:nvGraphicFramePr>
        <p:xfrm>
          <a:off x="6613525" y="1089025"/>
          <a:ext cx="1560513" cy="709613"/>
        </p:xfrm>
        <a:graphic>
          <a:graphicData uri="http://schemas.openxmlformats.org/presentationml/2006/ole">
            <mc:AlternateContent xmlns:mc="http://schemas.openxmlformats.org/markup-compatibility/2006">
              <mc:Choice xmlns:v="urn:schemas-microsoft-com:vml" Requires="v">
                <p:oleObj r:id="rId6" imgW="419100" imgH="190500" progId="Equation.3">
                  <p:embed/>
                </p:oleObj>
              </mc:Choice>
              <mc:Fallback>
                <p:oleObj r:id="rId6" imgW="419100" imgH="190500" progId="Equation.3">
                  <p:embed/>
                  <p:pic>
                    <p:nvPicPr>
                      <p:cNvPr id="0" name="图片 3084"/>
                      <p:cNvPicPr/>
                      <p:nvPr/>
                    </p:nvPicPr>
                    <p:blipFill>
                      <a:blip r:embed="rId7"/>
                      <a:stretch>
                        <a:fillRect/>
                      </a:stretch>
                    </p:blipFill>
                    <p:spPr>
                      <a:xfrm>
                        <a:off x="6613525" y="1089025"/>
                        <a:ext cx="1560513" cy="709613"/>
                      </a:xfrm>
                      <a:prstGeom prst="rect">
                        <a:avLst/>
                      </a:prstGeom>
                      <a:noFill/>
                      <a:ln w="38100">
                        <a:noFill/>
                        <a:miter/>
                      </a:ln>
                    </p:spPr>
                  </p:pic>
                </p:oleObj>
              </mc:Fallback>
            </mc:AlternateContent>
          </a:graphicData>
        </a:graphic>
      </p:graphicFrame>
      <p:graphicFrame>
        <p:nvGraphicFramePr>
          <p:cNvPr id="38917" name="Object 10"/>
          <p:cNvGraphicFramePr>
            <a:graphicFrameLocks noChangeAspect="1"/>
          </p:cNvGraphicFramePr>
          <p:nvPr/>
        </p:nvGraphicFramePr>
        <p:xfrm>
          <a:off x="4697413" y="1108075"/>
          <a:ext cx="1666875" cy="709613"/>
        </p:xfrm>
        <a:graphic>
          <a:graphicData uri="http://schemas.openxmlformats.org/presentationml/2006/ole">
            <mc:AlternateContent xmlns:mc="http://schemas.openxmlformats.org/markup-compatibility/2006">
              <mc:Choice xmlns:v="urn:schemas-microsoft-com:vml" Requires="v">
                <p:oleObj r:id="rId8" imgW="444500" imgH="190500" progId="Equation.3">
                  <p:embed/>
                </p:oleObj>
              </mc:Choice>
              <mc:Fallback>
                <p:oleObj r:id="rId8" imgW="444500" imgH="190500" progId="Equation.3">
                  <p:embed/>
                  <p:pic>
                    <p:nvPicPr>
                      <p:cNvPr id="0" name="图片 3087"/>
                      <p:cNvPicPr/>
                      <p:nvPr/>
                    </p:nvPicPr>
                    <p:blipFill>
                      <a:blip r:embed="rId9"/>
                      <a:stretch>
                        <a:fillRect/>
                      </a:stretch>
                    </p:blipFill>
                    <p:spPr>
                      <a:xfrm>
                        <a:off x="4697413" y="1108075"/>
                        <a:ext cx="1666875" cy="709613"/>
                      </a:xfrm>
                      <a:prstGeom prst="rect">
                        <a:avLst/>
                      </a:prstGeom>
                      <a:noFill/>
                      <a:ln w="38100">
                        <a:noFill/>
                        <a:miter/>
                      </a:ln>
                    </p:spPr>
                  </p:pic>
                </p:oleObj>
              </mc:Fallback>
            </mc:AlternateContent>
          </a:graphicData>
        </a:graphic>
      </p:graphicFrame>
      <p:graphicFrame>
        <p:nvGraphicFramePr>
          <p:cNvPr id="38918" name="Object 9"/>
          <p:cNvGraphicFramePr>
            <a:graphicFrameLocks noChangeAspect="1"/>
          </p:cNvGraphicFramePr>
          <p:nvPr/>
        </p:nvGraphicFramePr>
        <p:xfrm>
          <a:off x="336550" y="1789113"/>
          <a:ext cx="3560763" cy="757237"/>
        </p:xfrm>
        <a:graphic>
          <a:graphicData uri="http://schemas.openxmlformats.org/presentationml/2006/ole">
            <mc:AlternateContent xmlns:mc="http://schemas.openxmlformats.org/markup-compatibility/2006">
              <mc:Choice xmlns:v="urn:schemas-microsoft-com:vml" Requires="v">
                <p:oleObj r:id="rId10" imgW="951865" imgH="203200" progId="Equation.3">
                  <p:embed/>
                </p:oleObj>
              </mc:Choice>
              <mc:Fallback>
                <p:oleObj r:id="rId10" imgW="951865" imgH="203200" progId="Equation.3">
                  <p:embed/>
                  <p:pic>
                    <p:nvPicPr>
                      <p:cNvPr id="0" name="图片 3085"/>
                      <p:cNvPicPr/>
                      <p:nvPr/>
                    </p:nvPicPr>
                    <p:blipFill>
                      <a:blip r:embed="rId11"/>
                      <a:stretch>
                        <a:fillRect/>
                      </a:stretch>
                    </p:blipFill>
                    <p:spPr>
                      <a:xfrm>
                        <a:off x="336550" y="1789113"/>
                        <a:ext cx="3560763" cy="757237"/>
                      </a:xfrm>
                      <a:prstGeom prst="rect">
                        <a:avLst/>
                      </a:prstGeom>
                      <a:noFill/>
                      <a:ln w="38100">
                        <a:noFill/>
                        <a:miter/>
                      </a:ln>
                    </p:spPr>
                  </p:pic>
                </p:oleObj>
              </mc:Fallback>
            </mc:AlternateContent>
          </a:graphicData>
        </a:graphic>
      </p:graphicFrame>
      <p:graphicFrame>
        <p:nvGraphicFramePr>
          <p:cNvPr id="38919" name="Object 8"/>
          <p:cNvGraphicFramePr>
            <a:graphicFrameLocks noChangeAspect="1"/>
          </p:cNvGraphicFramePr>
          <p:nvPr/>
        </p:nvGraphicFramePr>
        <p:xfrm>
          <a:off x="525463" y="3738563"/>
          <a:ext cx="6523037" cy="850900"/>
        </p:xfrm>
        <a:graphic>
          <a:graphicData uri="http://schemas.openxmlformats.org/presentationml/2006/ole">
            <mc:AlternateContent xmlns:mc="http://schemas.openxmlformats.org/markup-compatibility/2006">
              <mc:Choice xmlns:v="urn:schemas-microsoft-com:vml" Requires="v">
                <p:oleObj r:id="rId12" imgW="1752600" imgH="228600" progId="Equation.3">
                  <p:embed/>
                </p:oleObj>
              </mc:Choice>
              <mc:Fallback>
                <p:oleObj r:id="rId12" imgW="1752600" imgH="228600" progId="Equation.3">
                  <p:embed/>
                  <p:pic>
                    <p:nvPicPr>
                      <p:cNvPr id="0" name="图片 3077"/>
                      <p:cNvPicPr/>
                      <p:nvPr/>
                    </p:nvPicPr>
                    <p:blipFill>
                      <a:blip r:embed="rId13"/>
                      <a:stretch>
                        <a:fillRect/>
                      </a:stretch>
                    </p:blipFill>
                    <p:spPr>
                      <a:xfrm>
                        <a:off x="525463" y="3738563"/>
                        <a:ext cx="6523037" cy="850900"/>
                      </a:xfrm>
                      <a:prstGeom prst="rect">
                        <a:avLst/>
                      </a:prstGeom>
                      <a:noFill/>
                      <a:ln w="38100">
                        <a:noFill/>
                        <a:miter/>
                      </a:ln>
                    </p:spPr>
                  </p:pic>
                </p:oleObj>
              </mc:Fallback>
            </mc:AlternateContent>
          </a:graphicData>
        </a:graphic>
      </p:graphicFrame>
      <p:graphicFrame>
        <p:nvGraphicFramePr>
          <p:cNvPr id="38920" name="Object 7"/>
          <p:cNvGraphicFramePr>
            <a:graphicFrameLocks noChangeAspect="1"/>
          </p:cNvGraphicFramePr>
          <p:nvPr/>
        </p:nvGraphicFramePr>
        <p:xfrm>
          <a:off x="1782763" y="4470400"/>
          <a:ext cx="5535612" cy="709613"/>
        </p:xfrm>
        <a:graphic>
          <a:graphicData uri="http://schemas.openxmlformats.org/presentationml/2006/ole">
            <mc:AlternateContent xmlns:mc="http://schemas.openxmlformats.org/markup-compatibility/2006">
              <mc:Choice xmlns:v="urn:schemas-microsoft-com:vml" Requires="v">
                <p:oleObj r:id="rId14" imgW="1485900" imgH="190500" progId="Equation.3">
                  <p:embed/>
                </p:oleObj>
              </mc:Choice>
              <mc:Fallback>
                <p:oleObj r:id="rId14" imgW="1485900" imgH="190500" progId="Equation.3">
                  <p:embed/>
                  <p:pic>
                    <p:nvPicPr>
                      <p:cNvPr id="0" name="图片 3081"/>
                      <p:cNvPicPr/>
                      <p:nvPr/>
                    </p:nvPicPr>
                    <p:blipFill>
                      <a:blip r:embed="rId15"/>
                      <a:stretch>
                        <a:fillRect/>
                      </a:stretch>
                    </p:blipFill>
                    <p:spPr>
                      <a:xfrm>
                        <a:off x="1782763" y="4470400"/>
                        <a:ext cx="5535612" cy="709613"/>
                      </a:xfrm>
                      <a:prstGeom prst="rect">
                        <a:avLst/>
                      </a:prstGeom>
                      <a:noFill/>
                      <a:ln w="38100">
                        <a:noFill/>
                        <a:miter/>
                      </a:ln>
                    </p:spPr>
                  </p:pic>
                </p:oleObj>
              </mc:Fallback>
            </mc:AlternateContent>
          </a:graphicData>
        </a:graphic>
      </p:graphicFrame>
      <p:graphicFrame>
        <p:nvGraphicFramePr>
          <p:cNvPr id="38921" name="Object 6"/>
          <p:cNvGraphicFramePr>
            <a:graphicFrameLocks noChangeAspect="1"/>
          </p:cNvGraphicFramePr>
          <p:nvPr/>
        </p:nvGraphicFramePr>
        <p:xfrm>
          <a:off x="595313" y="4868863"/>
          <a:ext cx="3262312" cy="850900"/>
        </p:xfrm>
        <a:graphic>
          <a:graphicData uri="http://schemas.openxmlformats.org/presentationml/2006/ole">
            <mc:AlternateContent xmlns:mc="http://schemas.openxmlformats.org/markup-compatibility/2006">
              <mc:Choice xmlns:v="urn:schemas-microsoft-com:vml" Requires="v">
                <p:oleObj r:id="rId16" imgW="876300" imgH="228600" progId="Equation.3">
                  <p:embed/>
                </p:oleObj>
              </mc:Choice>
              <mc:Fallback>
                <p:oleObj r:id="rId16" imgW="876300" imgH="228600" progId="Equation.3">
                  <p:embed/>
                  <p:pic>
                    <p:nvPicPr>
                      <p:cNvPr id="0" name="图片 3079"/>
                      <p:cNvPicPr/>
                      <p:nvPr/>
                    </p:nvPicPr>
                    <p:blipFill>
                      <a:blip r:embed="rId17"/>
                      <a:stretch>
                        <a:fillRect/>
                      </a:stretch>
                    </p:blipFill>
                    <p:spPr>
                      <a:xfrm>
                        <a:off x="595313" y="4868863"/>
                        <a:ext cx="3262312" cy="850900"/>
                      </a:xfrm>
                      <a:prstGeom prst="rect">
                        <a:avLst/>
                      </a:prstGeom>
                      <a:noFill/>
                      <a:ln w="38100">
                        <a:noFill/>
                        <a:miter/>
                      </a:ln>
                    </p:spPr>
                  </p:pic>
                </p:oleObj>
              </mc:Fallback>
            </mc:AlternateContent>
          </a:graphicData>
        </a:graphic>
      </p:graphicFrame>
      <p:graphicFrame>
        <p:nvGraphicFramePr>
          <p:cNvPr id="38922" name="Object 5"/>
          <p:cNvGraphicFramePr>
            <a:graphicFrameLocks noChangeAspect="1"/>
          </p:cNvGraphicFramePr>
          <p:nvPr/>
        </p:nvGraphicFramePr>
        <p:xfrm>
          <a:off x="571500" y="5414963"/>
          <a:ext cx="4786313" cy="850900"/>
        </p:xfrm>
        <a:graphic>
          <a:graphicData uri="http://schemas.openxmlformats.org/presentationml/2006/ole">
            <mc:AlternateContent xmlns:mc="http://schemas.openxmlformats.org/markup-compatibility/2006">
              <mc:Choice xmlns:v="urn:schemas-microsoft-com:vml" Requires="v">
                <p:oleObj r:id="rId18" imgW="1282700" imgH="228600" progId="Equation.3">
                  <p:embed/>
                </p:oleObj>
              </mc:Choice>
              <mc:Fallback>
                <p:oleObj r:id="rId18" imgW="1282700" imgH="228600" progId="Equation.3">
                  <p:embed/>
                  <p:pic>
                    <p:nvPicPr>
                      <p:cNvPr id="0" name="图片 3078"/>
                      <p:cNvPicPr/>
                      <p:nvPr/>
                    </p:nvPicPr>
                    <p:blipFill>
                      <a:blip r:embed="rId19"/>
                      <a:stretch>
                        <a:fillRect/>
                      </a:stretch>
                    </p:blipFill>
                    <p:spPr>
                      <a:xfrm>
                        <a:off x="571500" y="5414963"/>
                        <a:ext cx="4786313" cy="850900"/>
                      </a:xfrm>
                      <a:prstGeom prst="rect">
                        <a:avLst/>
                      </a:prstGeom>
                      <a:noFill/>
                      <a:ln w="38100">
                        <a:noFill/>
                        <a:miter/>
                      </a:ln>
                    </p:spPr>
                  </p:pic>
                </p:oleObj>
              </mc:Fallback>
            </mc:AlternateContent>
          </a:graphicData>
        </a:graphic>
      </p:graphicFrame>
      <p:graphicFrame>
        <p:nvGraphicFramePr>
          <p:cNvPr id="38923" name="Object 4"/>
          <p:cNvGraphicFramePr>
            <a:graphicFrameLocks noChangeAspect="1"/>
          </p:cNvGraphicFramePr>
          <p:nvPr/>
        </p:nvGraphicFramePr>
        <p:xfrm>
          <a:off x="1873250" y="6042025"/>
          <a:ext cx="4292600" cy="815975"/>
        </p:xfrm>
        <a:graphic>
          <a:graphicData uri="http://schemas.openxmlformats.org/presentationml/2006/ole">
            <mc:AlternateContent xmlns:mc="http://schemas.openxmlformats.org/markup-compatibility/2006">
              <mc:Choice xmlns:v="urn:schemas-microsoft-com:vml" Requires="v">
                <p:oleObj r:id="rId20" imgW="1155065" imgH="215900" progId="Equation.3">
                  <p:embed/>
                </p:oleObj>
              </mc:Choice>
              <mc:Fallback>
                <p:oleObj r:id="rId20" imgW="1155065" imgH="215900" progId="Equation.3">
                  <p:embed/>
                  <p:pic>
                    <p:nvPicPr>
                      <p:cNvPr id="0" name="图片 3075"/>
                      <p:cNvPicPr/>
                      <p:nvPr/>
                    </p:nvPicPr>
                    <p:blipFill>
                      <a:blip r:embed="rId21"/>
                      <a:stretch>
                        <a:fillRect/>
                      </a:stretch>
                    </p:blipFill>
                    <p:spPr>
                      <a:xfrm>
                        <a:off x="1873250" y="6042025"/>
                        <a:ext cx="4292600" cy="815975"/>
                      </a:xfrm>
                      <a:prstGeom prst="rect">
                        <a:avLst/>
                      </a:prstGeom>
                      <a:noFill/>
                      <a:ln w="38100">
                        <a:noFill/>
                        <a:miter/>
                      </a:ln>
                    </p:spPr>
                  </p:pic>
                </p:oleObj>
              </mc:Fallback>
            </mc:AlternateContent>
          </a:graphicData>
        </a:graphic>
      </p:graphicFrame>
      <p:sp>
        <p:nvSpPr>
          <p:cNvPr id="38924" name="Rectangle 14" descr="羊皮纸"/>
          <p:cNvSpPr/>
          <p:nvPr/>
        </p:nvSpPr>
        <p:spPr>
          <a:xfrm>
            <a:off x="466725" y="442913"/>
            <a:ext cx="5972175" cy="671512"/>
          </a:xfrm>
          <a:prstGeom prst="rect">
            <a:avLst/>
          </a:prstGeom>
          <a:noFill/>
          <a:ln w="38100">
            <a:noFill/>
          </a:ln>
        </p:spPr>
        <p:txBody>
          <a:bodyPr wrap="none" lIns="90000" tIns="46800" rIns="90000" bIns="46800" anchor="ctr" anchorCtr="0">
            <a:spAutoFit/>
          </a:bodyPr>
          <a:lstStyle/>
          <a:p>
            <a:pPr indent="278130"/>
            <a:r>
              <a:rPr lang="zh-CN" altLang="en-US" sz="2800" b="1" dirty="0">
                <a:solidFill>
                  <a:srgbClr val="000000"/>
                </a:solidFill>
                <a:latin typeface="Times New Roman" panose="02020603050405020304" pitchFamily="18" charset="0"/>
              </a:rPr>
              <a:t>解：</a:t>
            </a:r>
            <a:r>
              <a:rPr lang="zh-CN" altLang="en-US" sz="2800" dirty="0">
                <a:solidFill>
                  <a:srgbClr val="000000"/>
                </a:solidFill>
                <a:latin typeface="Times New Roman" panose="02020603050405020304" pitchFamily="18" charset="0"/>
              </a:rPr>
              <a:t>（</a:t>
            </a:r>
            <a:r>
              <a:rPr lang="en-US" altLang="zh-CN" sz="2800" dirty="0">
                <a:solidFill>
                  <a:srgbClr val="000000"/>
                </a:solidFill>
                <a:latin typeface="Times New Roman" panose="02020603050405020304" pitchFamily="18" charset="0"/>
              </a:rPr>
              <a:t>1</a:t>
            </a:r>
            <a:r>
              <a:rPr lang="zh-CN" altLang="en-US" sz="2800" dirty="0">
                <a:solidFill>
                  <a:srgbClr val="000000"/>
                </a:solidFill>
                <a:latin typeface="Times New Roman" panose="02020603050405020304" pitchFamily="18" charset="0"/>
              </a:rPr>
              <a:t>）列出激励函数与输出函数</a:t>
            </a:r>
            <a:endParaRPr lang="zh-CN" altLang="en-US" sz="3600" dirty="0">
              <a:latin typeface="Times New Roman" panose="02020603050405020304" pitchFamily="18" charset="0"/>
            </a:endParaRPr>
          </a:p>
          <a:p>
            <a:pPr indent="278130" eaLnBrk="0" hangingPunct="0"/>
            <a:r>
              <a:rPr lang="zh-CN" altLang="en-US" sz="1000" dirty="0">
                <a:latin typeface="Times New Roman" panose="02020603050405020304" pitchFamily="18" charset="0"/>
              </a:rPr>
              <a:t>       </a:t>
            </a:r>
            <a:endParaRPr lang="zh-CN" altLang="en-US" sz="2400" dirty="0">
              <a:latin typeface="Times New Roman" panose="02020603050405020304" pitchFamily="18" charset="0"/>
            </a:endParaRPr>
          </a:p>
        </p:txBody>
      </p:sp>
      <p:sp>
        <p:nvSpPr>
          <p:cNvPr id="38925" name="Rectangle 18" descr="羊皮纸"/>
          <p:cNvSpPr/>
          <p:nvPr/>
        </p:nvSpPr>
        <p:spPr>
          <a:xfrm>
            <a:off x="0" y="2938463"/>
            <a:ext cx="9144000" cy="0"/>
          </a:xfrm>
          <a:prstGeom prst="rect">
            <a:avLst/>
          </a:prstGeom>
          <a:noFill/>
          <a:ln w="38100">
            <a:noFill/>
          </a:ln>
        </p:spPr>
        <p:txBody>
          <a:bodyPr wrap="none" lIns="90000" tIns="46800" rIns="90000" bIns="46800" anchor="ctr" anchorCtr="0">
            <a:spAutoFit/>
          </a:bodyPr>
          <a:lstStyle/>
          <a:p>
            <a:endParaRPr lang="zh-CN" altLang="en-US" dirty="0">
              <a:latin typeface="Times New Roman" panose="02020603050405020304" pitchFamily="18" charset="0"/>
            </a:endParaRPr>
          </a:p>
        </p:txBody>
      </p:sp>
      <p:sp>
        <p:nvSpPr>
          <p:cNvPr id="38926" name="Rectangle 19" descr="羊皮纸"/>
          <p:cNvSpPr/>
          <p:nvPr/>
        </p:nvSpPr>
        <p:spPr>
          <a:xfrm>
            <a:off x="0" y="2644775"/>
            <a:ext cx="8716963" cy="1066800"/>
          </a:xfrm>
          <a:prstGeom prst="rect">
            <a:avLst/>
          </a:prstGeom>
          <a:noFill/>
          <a:ln w="38100">
            <a:noFill/>
          </a:ln>
        </p:spPr>
        <p:txBody>
          <a:bodyPr lIns="90000" tIns="46800" rIns="90000" bIns="46800" anchor="ctr" anchorCtr="0">
            <a:spAutoFit/>
          </a:bodyPr>
          <a:lstStyle/>
          <a:p>
            <a:pPr indent="1076325"/>
            <a:r>
              <a:rPr lang="zh-CN" altLang="en-US" dirty="0">
                <a:latin typeface="Times New Roman" panose="02020603050405020304" pitchFamily="18" charset="0"/>
              </a:rPr>
              <a:t>（</a:t>
            </a:r>
            <a:r>
              <a:rPr lang="en-US" altLang="zh-CN" dirty="0">
                <a:latin typeface="Times New Roman" panose="02020603050405020304" pitchFamily="18" charset="0"/>
              </a:rPr>
              <a:t>2</a:t>
            </a:r>
            <a:r>
              <a:rPr lang="zh-CN" altLang="en-US" dirty="0">
                <a:latin typeface="Times New Roman" panose="02020603050405020304" pitchFamily="18" charset="0"/>
              </a:rPr>
              <a:t>）写出电路的次态方程组。将激励函数表达式代入相应触发器的次态方程得：</a:t>
            </a:r>
            <a:endParaRPr lang="zh-CN" altLang="en-US" sz="6000" dirty="0">
              <a:latin typeface="Times New Roman" panose="02020603050405020304" pitchFamily="18" charset="0"/>
            </a:endParaRPr>
          </a:p>
        </p:txBody>
      </p:sp>
      <p:sp>
        <p:nvSpPr>
          <p:cNvPr id="38927" name="Rectangle 23" descr="羊皮纸"/>
          <p:cNvSpPr/>
          <p:nvPr/>
        </p:nvSpPr>
        <p:spPr>
          <a:xfrm>
            <a:off x="0" y="4946650"/>
            <a:ext cx="1416050" cy="244475"/>
          </a:xfrm>
          <a:prstGeom prst="rect">
            <a:avLst/>
          </a:prstGeom>
          <a:noFill/>
          <a:ln w="38100">
            <a:noFill/>
          </a:ln>
        </p:spPr>
        <p:txBody>
          <a:bodyPr wrap="none" lIns="90000" tIns="46800" rIns="90000" bIns="46800" anchor="ctr" anchorCtr="0">
            <a:spAutoFit/>
          </a:bodyPr>
          <a:lstStyle/>
          <a:p>
            <a:r>
              <a:rPr lang="en-US" altLang="zh-CN" sz="1000" dirty="0">
                <a:latin typeface="Times New Roman" panose="02020603050405020304" pitchFamily="18" charset="0"/>
              </a:rPr>
              <a:t>     </a:t>
            </a:r>
            <a:endParaRPr lang="en-US" altLang="zh-CN" sz="2400" dirty="0">
              <a:latin typeface="Times New Roman" panose="02020603050405020304" pitchFamily="18"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5846" name="Group 150"/>
          <p:cNvGraphicFramePr>
            <a:graphicFrameLocks noGrp="1"/>
          </p:cNvGraphicFramePr>
          <p:nvPr/>
        </p:nvGraphicFramePr>
        <p:xfrm>
          <a:off x="588963" y="1336675"/>
          <a:ext cx="8135938" cy="5373688"/>
        </p:xfrm>
        <a:graphic>
          <a:graphicData uri="http://schemas.openxmlformats.org/drawingml/2006/table">
            <a:tbl>
              <a:tblPr/>
              <a:tblGrid>
                <a:gridCol w="814387">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gridCol w="814388">
                  <a:extLst>
                    <a:ext uri="{9D8B030D-6E8A-4147-A177-3AD203B41FA5}">
                      <a16:colId xmlns:a16="http://schemas.microsoft.com/office/drawing/2014/main" val="20002"/>
                    </a:ext>
                  </a:extLst>
                </a:gridCol>
                <a:gridCol w="812800">
                  <a:extLst>
                    <a:ext uri="{9D8B030D-6E8A-4147-A177-3AD203B41FA5}">
                      <a16:colId xmlns:a16="http://schemas.microsoft.com/office/drawing/2014/main" val="20003"/>
                    </a:ext>
                  </a:extLst>
                </a:gridCol>
                <a:gridCol w="814387">
                  <a:extLst>
                    <a:ext uri="{9D8B030D-6E8A-4147-A177-3AD203B41FA5}">
                      <a16:colId xmlns:a16="http://schemas.microsoft.com/office/drawing/2014/main" val="20004"/>
                    </a:ext>
                  </a:extLst>
                </a:gridCol>
                <a:gridCol w="812800">
                  <a:extLst>
                    <a:ext uri="{9D8B030D-6E8A-4147-A177-3AD203B41FA5}">
                      <a16:colId xmlns:a16="http://schemas.microsoft.com/office/drawing/2014/main" val="20005"/>
                    </a:ext>
                  </a:extLst>
                </a:gridCol>
                <a:gridCol w="814388">
                  <a:extLst>
                    <a:ext uri="{9D8B030D-6E8A-4147-A177-3AD203B41FA5}">
                      <a16:colId xmlns:a16="http://schemas.microsoft.com/office/drawing/2014/main" val="20006"/>
                    </a:ext>
                  </a:extLst>
                </a:gridCol>
                <a:gridCol w="812800">
                  <a:extLst>
                    <a:ext uri="{9D8B030D-6E8A-4147-A177-3AD203B41FA5}">
                      <a16:colId xmlns:a16="http://schemas.microsoft.com/office/drawing/2014/main" val="20007"/>
                    </a:ext>
                  </a:extLst>
                </a:gridCol>
                <a:gridCol w="814387">
                  <a:extLst>
                    <a:ext uri="{9D8B030D-6E8A-4147-A177-3AD203B41FA5}">
                      <a16:colId xmlns:a16="http://schemas.microsoft.com/office/drawing/2014/main" val="20008"/>
                    </a:ext>
                  </a:extLst>
                </a:gridCol>
                <a:gridCol w="812800">
                  <a:extLst>
                    <a:ext uri="{9D8B030D-6E8A-4147-A177-3AD203B41FA5}">
                      <a16:colId xmlns:a16="http://schemas.microsoft.com/office/drawing/2014/main" val="20009"/>
                    </a:ext>
                  </a:extLst>
                </a:gridCol>
              </a:tblGrid>
              <a:tr h="1296850">
                <a:tc rowSpan="2">
                  <a:txBody>
                    <a:body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381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381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gridSpan="6">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6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Z</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extLst>
                  <a:ext uri="{0D108BD9-81ED-4DB2-BD59-A6C34878D82A}">
                    <a16:rowId xmlns:a16="http://schemas.microsoft.com/office/drawing/2014/main" val="10000"/>
                  </a:ext>
                </a:extLst>
              </a:tr>
              <a:tr h="569852">
                <a:tc vMerge="1">
                  <a:txBody>
                    <a:bodyPr/>
                    <a:lstStyle/>
                    <a:p>
                      <a:endParaRPr lang="zh-CN"/>
                    </a:p>
                  </a:txBody>
                  <a:tcPr/>
                </a:tc>
                <a:tc vMerge="1">
                  <a:txBody>
                    <a:bodyPr/>
                    <a:lstStyle/>
                    <a:p>
                      <a:endParaRPr lang="zh-CN"/>
                    </a:p>
                  </a:txBody>
                  <a:tcPr/>
                </a:tc>
                <a:tc vMerge="1">
                  <a:txBody>
                    <a:bodyPr/>
                    <a:lstStyle/>
                    <a:p>
                      <a:endParaRPr lang="zh-CN"/>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hMerge="1">
                  <a:txBody>
                    <a:bodyPr/>
                    <a:lstStyle/>
                    <a:p>
                      <a:endParaRPr lang="zh-CN"/>
                    </a:p>
                  </a:txBody>
                  <a:tcPr/>
                </a:tc>
                <a:tc hMerge="1">
                  <a:txBody>
                    <a:bodyPr/>
                    <a:lstStyle/>
                    <a:p>
                      <a:endParaRPr lang="zh-CN"/>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hMerge="1">
                  <a:txBody>
                    <a:bodyPr/>
                    <a:lstStyle/>
                    <a:p>
                      <a:endParaRPr lang="zh-CN"/>
                    </a:p>
                  </a:txBody>
                  <a:tcPr/>
                </a:tc>
                <a:tc hMerge="1">
                  <a:txBody>
                    <a:bodyPr/>
                    <a:lstStyle/>
                    <a:p>
                      <a:endParaRPr lang="zh-CN"/>
                    </a:p>
                  </a:txBody>
                  <a:tcPr/>
                </a:tc>
                <a:tc vMerge="1">
                  <a:txBody>
                    <a:bodyPr/>
                    <a:lstStyle/>
                    <a:p>
                      <a:endParaRPr lang="zh-CN"/>
                    </a:p>
                  </a:txBody>
                  <a:tcPr/>
                </a:tc>
                <a:extLst>
                  <a:ext uri="{0D108BD9-81ED-4DB2-BD59-A6C34878D82A}">
                    <a16:rowId xmlns:a16="http://schemas.microsoft.com/office/drawing/2014/main" val="10001"/>
                  </a:ext>
                </a:extLst>
              </a:tr>
              <a:tr h="3506986">
                <a:tc>
                  <a:txBody>
                    <a:body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127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127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381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127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9973" name="Rectangle 4" descr="羊皮纸"/>
          <p:cNvSpPr/>
          <p:nvPr/>
        </p:nvSpPr>
        <p:spPr>
          <a:xfrm>
            <a:off x="938213" y="587375"/>
            <a:ext cx="6581775" cy="579438"/>
          </a:xfrm>
          <a:prstGeom prst="rect">
            <a:avLst/>
          </a:prstGeom>
          <a:noFill/>
          <a:ln w="38100">
            <a:noFill/>
          </a:ln>
        </p:spPr>
        <p:txBody>
          <a:bodyPr wrap="none" lIns="90000" tIns="46800" rIns="90000" bIns="46800" anchor="ctr" anchorCtr="0">
            <a:spAutoFit/>
          </a:bodyPr>
          <a:lstStyle/>
          <a:p>
            <a:r>
              <a:rPr lang="zh-CN" altLang="en-US" dirty="0">
                <a:latin typeface="Times New Roman" panose="02020603050405020304" pitchFamily="18" charset="0"/>
              </a:rPr>
              <a:t>（</a:t>
            </a:r>
            <a:r>
              <a:rPr lang="en-US" altLang="zh-CN" dirty="0">
                <a:latin typeface="Times New Roman" panose="02020603050405020304" pitchFamily="18" charset="0"/>
              </a:rPr>
              <a:t>3</a:t>
            </a:r>
            <a:r>
              <a:rPr lang="zh-CN" altLang="en-US" dirty="0">
                <a:latin typeface="Times New Roman" panose="02020603050405020304" pitchFamily="18" charset="0"/>
              </a:rPr>
              <a:t>）作出电路的状态表和状态图。 </a:t>
            </a:r>
          </a:p>
        </p:txBody>
      </p:sp>
      <p:graphicFrame>
        <p:nvGraphicFramePr>
          <p:cNvPr id="39974" name="Object 7"/>
          <p:cNvGraphicFramePr>
            <a:graphicFrameLocks noChangeAspect="1"/>
          </p:cNvGraphicFramePr>
          <p:nvPr/>
        </p:nvGraphicFramePr>
        <p:xfrm>
          <a:off x="5905500" y="1633538"/>
          <a:ext cx="1001713" cy="674687"/>
        </p:xfrm>
        <a:graphic>
          <a:graphicData uri="http://schemas.openxmlformats.org/presentationml/2006/ole">
            <mc:AlternateContent xmlns:mc="http://schemas.openxmlformats.org/markup-compatibility/2006">
              <mc:Choice xmlns:v="urn:schemas-microsoft-com:vml" Requires="v">
                <p:oleObj r:id="rId2" imgW="342900" imgH="228600" progId="Equation.3">
                  <p:embed/>
                </p:oleObj>
              </mc:Choice>
              <mc:Fallback>
                <p:oleObj r:id="rId2" imgW="342900" imgH="228600" progId="Equation.3">
                  <p:embed/>
                  <p:pic>
                    <p:nvPicPr>
                      <p:cNvPr id="0" name="图片 3082"/>
                      <p:cNvPicPr/>
                      <p:nvPr/>
                    </p:nvPicPr>
                    <p:blipFill>
                      <a:blip r:embed="rId3"/>
                      <a:stretch>
                        <a:fillRect/>
                      </a:stretch>
                    </p:blipFill>
                    <p:spPr>
                      <a:xfrm>
                        <a:off x="5905500" y="1633538"/>
                        <a:ext cx="1001713" cy="674687"/>
                      </a:xfrm>
                      <a:prstGeom prst="rect">
                        <a:avLst/>
                      </a:prstGeom>
                      <a:noFill/>
                      <a:ln w="38100">
                        <a:noFill/>
                        <a:miter/>
                      </a:ln>
                    </p:spPr>
                  </p:pic>
                </p:oleObj>
              </mc:Fallback>
            </mc:AlternateContent>
          </a:graphicData>
        </a:graphic>
      </p:graphicFrame>
      <p:graphicFrame>
        <p:nvGraphicFramePr>
          <p:cNvPr id="39975" name="Object 6"/>
          <p:cNvGraphicFramePr>
            <a:graphicFrameLocks noChangeAspect="1"/>
          </p:cNvGraphicFramePr>
          <p:nvPr/>
        </p:nvGraphicFramePr>
        <p:xfrm>
          <a:off x="4673600" y="1616075"/>
          <a:ext cx="1117600" cy="679450"/>
        </p:xfrm>
        <a:graphic>
          <a:graphicData uri="http://schemas.openxmlformats.org/presentationml/2006/ole">
            <mc:AlternateContent xmlns:mc="http://schemas.openxmlformats.org/markup-compatibility/2006">
              <mc:Choice xmlns:v="urn:schemas-microsoft-com:vml" Requires="v">
                <p:oleObj r:id="rId4" imgW="342900" imgH="228600" progId="Equation.3">
                  <p:embed/>
                </p:oleObj>
              </mc:Choice>
              <mc:Fallback>
                <p:oleObj r:id="rId4" imgW="342900" imgH="228600" progId="Equation.3">
                  <p:embed/>
                  <p:pic>
                    <p:nvPicPr>
                      <p:cNvPr id="0" name="图片 3086"/>
                      <p:cNvPicPr/>
                      <p:nvPr/>
                    </p:nvPicPr>
                    <p:blipFill>
                      <a:blip r:embed="rId5"/>
                      <a:stretch>
                        <a:fillRect/>
                      </a:stretch>
                    </p:blipFill>
                    <p:spPr>
                      <a:xfrm>
                        <a:off x="4673600" y="1616075"/>
                        <a:ext cx="1117600" cy="679450"/>
                      </a:xfrm>
                      <a:prstGeom prst="rect">
                        <a:avLst/>
                      </a:prstGeom>
                      <a:noFill/>
                      <a:ln w="38100">
                        <a:noFill/>
                        <a:miter/>
                      </a:ln>
                    </p:spPr>
                  </p:pic>
                </p:oleObj>
              </mc:Fallback>
            </mc:AlternateContent>
          </a:graphicData>
        </a:graphic>
      </p:graphicFrame>
      <p:graphicFrame>
        <p:nvGraphicFramePr>
          <p:cNvPr id="39976" name="Object 5"/>
          <p:cNvGraphicFramePr>
            <a:graphicFrameLocks noChangeAspect="1"/>
          </p:cNvGraphicFramePr>
          <p:nvPr/>
        </p:nvGraphicFramePr>
        <p:xfrm>
          <a:off x="3587750" y="1655763"/>
          <a:ext cx="920750" cy="612775"/>
        </p:xfrm>
        <a:graphic>
          <a:graphicData uri="http://schemas.openxmlformats.org/presentationml/2006/ole">
            <mc:AlternateContent xmlns:mc="http://schemas.openxmlformats.org/markup-compatibility/2006">
              <mc:Choice xmlns:v="urn:schemas-microsoft-com:vml" Requires="v">
                <p:oleObj r:id="rId6" imgW="342900" imgH="228600" progId="Equation.3">
                  <p:embed/>
                </p:oleObj>
              </mc:Choice>
              <mc:Fallback>
                <p:oleObj r:id="rId6" imgW="342900" imgH="228600" progId="Equation.3">
                  <p:embed/>
                  <p:pic>
                    <p:nvPicPr>
                      <p:cNvPr id="0" name="图片 3076"/>
                      <p:cNvPicPr/>
                      <p:nvPr/>
                    </p:nvPicPr>
                    <p:blipFill>
                      <a:blip r:embed="rId7"/>
                      <a:stretch>
                        <a:fillRect/>
                      </a:stretch>
                    </p:blipFill>
                    <p:spPr>
                      <a:xfrm>
                        <a:off x="3587750" y="1655763"/>
                        <a:ext cx="920750" cy="612775"/>
                      </a:xfrm>
                      <a:prstGeom prst="rect">
                        <a:avLst/>
                      </a:prstGeom>
                      <a:noFill/>
                      <a:ln w="38100">
                        <a:noFill/>
                        <a:miter/>
                      </a:ln>
                    </p:spPr>
                  </p:pic>
                </p:oleObj>
              </mc:Fallback>
            </mc:AlternateContent>
          </a:graphicData>
        </a:graphic>
      </p:graphicFrame>
      <p:sp>
        <p:nvSpPr>
          <p:cNvPr id="39977" name="Rectangle 11" descr="羊皮纸"/>
          <p:cNvSpPr/>
          <p:nvPr/>
        </p:nvSpPr>
        <p:spPr>
          <a:xfrm>
            <a:off x="1865313" y="2463800"/>
            <a:ext cx="3246437" cy="0"/>
          </a:xfrm>
          <a:prstGeom prst="rect">
            <a:avLst/>
          </a:prstGeom>
          <a:noFill/>
          <a:ln w="38100">
            <a:noFill/>
          </a:ln>
        </p:spPr>
        <p:txBody>
          <a:bodyPr wrap="none" lIns="90000" tIns="46800" rIns="90000" bIns="46800" anchor="ctr" anchorCtr="0">
            <a:spAutoFit/>
          </a:bodyPr>
          <a:lstStyle/>
          <a:p>
            <a:endParaRPr lang="zh-CN" altLang="en-US" dirty="0">
              <a:latin typeface="Times New Roman" panose="02020603050405020304" pitchFamily="18" charset="0"/>
            </a:endParaRPr>
          </a:p>
        </p:txBody>
      </p:sp>
      <p:sp>
        <p:nvSpPr>
          <p:cNvPr id="39978" name="Line 75"/>
          <p:cNvSpPr/>
          <p:nvPr/>
        </p:nvSpPr>
        <p:spPr>
          <a:xfrm>
            <a:off x="4030663" y="2479675"/>
            <a:ext cx="0" cy="0"/>
          </a:xfrm>
          <a:prstGeom prst="line">
            <a:avLst/>
          </a:prstGeom>
          <a:ln w="12700" cap="rnd" cmpd="sng">
            <a:solidFill>
              <a:srgbClr val="000000"/>
            </a:solidFill>
            <a:prstDash val="solid"/>
            <a:headEnd type="none" w="med" len="med"/>
            <a:tailEnd type="none" w="sm" len="lg"/>
          </a:ln>
        </p:spPr>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2" name="Group 4"/>
          <p:cNvGrpSpPr/>
          <p:nvPr/>
        </p:nvGrpSpPr>
        <p:grpSpPr>
          <a:xfrm>
            <a:off x="665163" y="0"/>
            <a:ext cx="7624762" cy="4267200"/>
            <a:chOff x="2684" y="11142"/>
            <a:chExt cx="6751" cy="3942"/>
          </a:xfrm>
        </p:grpSpPr>
        <p:sp>
          <p:nvSpPr>
            <p:cNvPr id="40965" name="Arc 5"/>
            <p:cNvSpPr/>
            <p:nvPr/>
          </p:nvSpPr>
          <p:spPr>
            <a:xfrm rot="-2879233">
              <a:off x="6077" y="11073"/>
              <a:ext cx="1800" cy="1938"/>
            </a:xfrm>
            <a:custGeom>
              <a:avLst/>
              <a:gdLst>
                <a:gd name="txL" fmla="*/ 0 w 21600"/>
                <a:gd name="txT" fmla="*/ 0 h 21600"/>
                <a:gd name="txR" fmla="*/ 21600 w 21600"/>
                <a:gd name="txB" fmla="*/ 21600 h 21600"/>
              </a:gdLst>
              <a:ahLst/>
              <a:cxnLst>
                <a:cxn ang="0">
                  <a:pos x="0" y="0"/>
                </a:cxn>
                <a:cxn ang="0">
                  <a:pos x="13" y="16"/>
                </a:cxn>
                <a:cxn ang="0">
                  <a:pos x="0" y="16"/>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FF">
                  <a:alpha val="100000"/>
                </a:srgbClr>
              </a:solidFill>
              <a:prstDash val="solid"/>
              <a:round/>
              <a:headEnd type="none" w="med" len="med"/>
              <a:tailEnd type="stealth" w="sm" len="lg"/>
            </a:ln>
          </p:spPr>
          <p:txBody>
            <a:bodyPr/>
            <a:lstStyle/>
            <a:p>
              <a:endParaRPr lang="zh-CN" altLang="en-US"/>
            </a:p>
          </p:txBody>
        </p:sp>
        <p:grpSp>
          <p:nvGrpSpPr>
            <p:cNvPr id="40966" name="Group 6"/>
            <p:cNvGrpSpPr/>
            <p:nvPr/>
          </p:nvGrpSpPr>
          <p:grpSpPr>
            <a:xfrm>
              <a:off x="2684" y="11592"/>
              <a:ext cx="6751" cy="3492"/>
              <a:chOff x="2984" y="9828"/>
              <a:chExt cx="6751" cy="3492"/>
            </a:xfrm>
          </p:grpSpPr>
          <p:sp>
            <p:nvSpPr>
              <p:cNvPr id="40968" name="Rectangle 7"/>
              <p:cNvSpPr/>
              <p:nvPr/>
            </p:nvSpPr>
            <p:spPr>
              <a:xfrm>
                <a:off x="6332" y="10158"/>
                <a:ext cx="125" cy="255"/>
              </a:xfrm>
              <a:prstGeom prst="rect">
                <a:avLst/>
              </a:prstGeom>
              <a:noFill/>
              <a:ln w="9525">
                <a:noFill/>
              </a:ln>
            </p:spPr>
            <p:txBody>
              <a:bodyPr lIns="0" tIns="0" rIns="0" bIns="0"/>
              <a:lstStyle/>
              <a:p>
                <a:pPr algn="just">
                  <a:lnSpc>
                    <a:spcPct val="96000"/>
                  </a:lnSpc>
                </a:pPr>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0969" name="Rectangle 8"/>
              <p:cNvSpPr/>
              <p:nvPr/>
            </p:nvSpPr>
            <p:spPr>
              <a:xfrm>
                <a:off x="4700" y="10236"/>
                <a:ext cx="125" cy="255"/>
              </a:xfrm>
              <a:prstGeom prst="rect">
                <a:avLst/>
              </a:prstGeom>
              <a:noFill/>
              <a:ln w="9525">
                <a:noFill/>
              </a:ln>
            </p:spPr>
            <p:txBody>
              <a:bodyPr lIns="0" tIns="0" rIns="0" bIns="0"/>
              <a:lstStyle/>
              <a:p>
                <a:pPr algn="just">
                  <a:lnSpc>
                    <a:spcPct val="96000"/>
                  </a:lnSpc>
                </a:pPr>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0970" name="Rectangle 9"/>
              <p:cNvSpPr/>
              <p:nvPr/>
            </p:nvSpPr>
            <p:spPr>
              <a:xfrm>
                <a:off x="8892" y="10788"/>
                <a:ext cx="125" cy="255"/>
              </a:xfrm>
              <a:prstGeom prst="rect">
                <a:avLst/>
              </a:prstGeom>
              <a:noFill/>
              <a:ln w="9525">
                <a:noFill/>
              </a:ln>
            </p:spPr>
            <p:txBody>
              <a:bodyPr lIns="0" tIns="0" rIns="0" bIns="0"/>
              <a:lstStyle/>
              <a:p>
                <a:pPr algn="just">
                  <a:lnSpc>
                    <a:spcPct val="96000"/>
                  </a:lnSpc>
                </a:pPr>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0971" name="Rectangle 10"/>
              <p:cNvSpPr/>
              <p:nvPr/>
            </p:nvSpPr>
            <p:spPr>
              <a:xfrm>
                <a:off x="6376" y="12048"/>
                <a:ext cx="125" cy="255"/>
              </a:xfrm>
              <a:prstGeom prst="rect">
                <a:avLst/>
              </a:prstGeom>
              <a:noFill/>
              <a:ln w="9525">
                <a:noFill/>
              </a:ln>
            </p:spPr>
            <p:txBody>
              <a:bodyPr lIns="0" tIns="0" rIns="0" bIns="0"/>
              <a:lstStyle/>
              <a:p>
                <a:pPr algn="just">
                  <a:lnSpc>
                    <a:spcPct val="96000"/>
                  </a:lnSpc>
                </a:pPr>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0972" name="Rectangle 11"/>
              <p:cNvSpPr/>
              <p:nvPr/>
            </p:nvSpPr>
            <p:spPr>
              <a:xfrm>
                <a:off x="5955" y="10832"/>
                <a:ext cx="125" cy="255"/>
              </a:xfrm>
              <a:prstGeom prst="rect">
                <a:avLst/>
              </a:prstGeom>
              <a:noFill/>
              <a:ln w="9525">
                <a:noFill/>
              </a:ln>
            </p:spPr>
            <p:txBody>
              <a:bodyPr lIns="0" tIns="0" rIns="0" bIns="0"/>
              <a:lstStyle/>
              <a:p>
                <a:pPr algn="just">
                  <a:lnSpc>
                    <a:spcPct val="96000"/>
                  </a:lnSpc>
                </a:pPr>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0973" name="Rectangle 12"/>
              <p:cNvSpPr/>
              <p:nvPr/>
            </p:nvSpPr>
            <p:spPr>
              <a:xfrm>
                <a:off x="9132" y="11508"/>
                <a:ext cx="125" cy="255"/>
              </a:xfrm>
              <a:prstGeom prst="rect">
                <a:avLst/>
              </a:prstGeom>
              <a:noFill/>
              <a:ln w="9525">
                <a:noFill/>
              </a:ln>
            </p:spPr>
            <p:txBody>
              <a:bodyPr lIns="0" tIns="0" rIns="0" bIns="0"/>
              <a:lstStyle/>
              <a:p>
                <a:pPr algn="just">
                  <a:lnSpc>
                    <a:spcPct val="96000"/>
                  </a:lnSpc>
                </a:pPr>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0974" name="Rectangle 13"/>
              <p:cNvSpPr/>
              <p:nvPr/>
            </p:nvSpPr>
            <p:spPr>
              <a:xfrm>
                <a:off x="5848" y="11700"/>
                <a:ext cx="125" cy="255"/>
              </a:xfrm>
              <a:prstGeom prst="rect">
                <a:avLst/>
              </a:prstGeom>
              <a:noFill/>
              <a:ln w="9525">
                <a:noFill/>
              </a:ln>
            </p:spPr>
            <p:txBody>
              <a:bodyPr lIns="0" tIns="0" rIns="0" bIns="0"/>
              <a:lstStyle/>
              <a:p>
                <a:pPr algn="just">
                  <a:lnSpc>
                    <a:spcPct val="96000"/>
                  </a:lnSpc>
                </a:pPr>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0975" name="Rectangle 14"/>
              <p:cNvSpPr/>
              <p:nvPr/>
            </p:nvSpPr>
            <p:spPr>
              <a:xfrm>
                <a:off x="4732" y="12078"/>
                <a:ext cx="125" cy="255"/>
              </a:xfrm>
              <a:prstGeom prst="rect">
                <a:avLst/>
              </a:prstGeom>
              <a:noFill/>
              <a:ln w="9525">
                <a:noFill/>
              </a:ln>
            </p:spPr>
            <p:txBody>
              <a:bodyPr lIns="0" tIns="0" rIns="0" bIns="0"/>
              <a:lstStyle/>
              <a:p>
                <a:pPr algn="just">
                  <a:lnSpc>
                    <a:spcPct val="96000"/>
                  </a:lnSpc>
                </a:pPr>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0976" name="Oval 15"/>
              <p:cNvSpPr/>
              <p:nvPr/>
            </p:nvSpPr>
            <p:spPr>
              <a:xfrm>
                <a:off x="3315" y="10172"/>
                <a:ext cx="1080" cy="624"/>
              </a:xfrm>
              <a:prstGeom prst="ellipse">
                <a:avLst/>
              </a:prstGeom>
              <a:solidFill>
                <a:srgbClr val="CCFFFF"/>
              </a:solidFill>
              <a:ln w="9525" cap="flat" cmpd="sng">
                <a:solidFill>
                  <a:srgbClr val="0000FF"/>
                </a:solidFill>
                <a:prstDash val="solid"/>
                <a:headEnd type="none" w="med" len="med"/>
                <a:tailEnd type="none" w="med" len="med"/>
              </a:ln>
            </p:spPr>
            <p:txBody>
              <a:bodyPr/>
              <a:lstStyle/>
              <a:p>
                <a:pPr algn="ctr"/>
                <a:r>
                  <a:rPr lang="en-US" altLang="zh-CN" sz="2000" dirty="0">
                    <a:latin typeface="Times New Roman" panose="02020603050405020304" pitchFamily="18" charset="0"/>
                  </a:rPr>
                  <a:t>000/0</a:t>
                </a:r>
                <a:endParaRPr lang="en-US" altLang="zh-CN" sz="5400" dirty="0">
                  <a:latin typeface="Times New Roman" panose="02020603050405020304" pitchFamily="18" charset="0"/>
                </a:endParaRPr>
              </a:p>
            </p:txBody>
          </p:sp>
          <p:sp>
            <p:nvSpPr>
              <p:cNvPr id="40977" name="Oval 16"/>
              <p:cNvSpPr/>
              <p:nvPr/>
            </p:nvSpPr>
            <p:spPr>
              <a:xfrm>
                <a:off x="4950" y="10157"/>
                <a:ext cx="1080" cy="624"/>
              </a:xfrm>
              <a:prstGeom prst="ellipse">
                <a:avLst/>
              </a:prstGeom>
              <a:solidFill>
                <a:srgbClr val="CCFFFF"/>
              </a:solidFill>
              <a:ln w="9525" cap="flat" cmpd="sng">
                <a:solidFill>
                  <a:srgbClr val="0000FF"/>
                </a:solidFill>
                <a:prstDash val="solid"/>
                <a:headEnd type="none" w="med" len="med"/>
                <a:tailEnd type="none" w="med" len="med"/>
              </a:ln>
            </p:spPr>
            <p:txBody>
              <a:bodyPr/>
              <a:lstStyle/>
              <a:p>
                <a:pPr algn="ctr"/>
                <a:r>
                  <a:rPr lang="en-US" altLang="zh-CN" sz="2000" dirty="0">
                    <a:latin typeface="Times New Roman" panose="02020603050405020304" pitchFamily="18" charset="0"/>
                  </a:rPr>
                  <a:t>001/1</a:t>
                </a:r>
                <a:endParaRPr lang="en-US" altLang="zh-CN" sz="5400" dirty="0">
                  <a:latin typeface="Times New Roman" panose="02020603050405020304" pitchFamily="18" charset="0"/>
                </a:endParaRPr>
              </a:p>
            </p:txBody>
          </p:sp>
          <p:sp>
            <p:nvSpPr>
              <p:cNvPr id="40978" name="Oval 17"/>
              <p:cNvSpPr/>
              <p:nvPr/>
            </p:nvSpPr>
            <p:spPr>
              <a:xfrm>
                <a:off x="6570" y="10106"/>
                <a:ext cx="1080" cy="624"/>
              </a:xfrm>
              <a:prstGeom prst="ellipse">
                <a:avLst/>
              </a:prstGeom>
              <a:solidFill>
                <a:srgbClr val="CCFFFF"/>
              </a:solidFill>
              <a:ln w="9525" cap="flat" cmpd="sng">
                <a:solidFill>
                  <a:srgbClr val="0000FF"/>
                </a:solidFill>
                <a:prstDash val="solid"/>
                <a:headEnd type="none" w="med" len="med"/>
                <a:tailEnd type="none" w="med" len="med"/>
              </a:ln>
            </p:spPr>
            <p:txBody>
              <a:bodyPr/>
              <a:lstStyle/>
              <a:p>
                <a:pPr algn="ctr"/>
                <a:r>
                  <a:rPr lang="en-US" altLang="zh-CN" sz="2000" dirty="0">
                    <a:latin typeface="Times New Roman" panose="02020603050405020304" pitchFamily="18" charset="0"/>
                  </a:rPr>
                  <a:t>010/0</a:t>
                </a:r>
                <a:endParaRPr lang="en-US" altLang="zh-CN" sz="5400" dirty="0">
                  <a:latin typeface="Times New Roman" panose="02020603050405020304" pitchFamily="18" charset="0"/>
                </a:endParaRPr>
              </a:p>
            </p:txBody>
          </p:sp>
          <p:sp>
            <p:nvSpPr>
              <p:cNvPr id="40979" name="Oval 18"/>
              <p:cNvSpPr/>
              <p:nvPr/>
            </p:nvSpPr>
            <p:spPr>
              <a:xfrm>
                <a:off x="8580" y="10046"/>
                <a:ext cx="1080" cy="624"/>
              </a:xfrm>
              <a:prstGeom prst="ellipse">
                <a:avLst/>
              </a:prstGeom>
              <a:solidFill>
                <a:srgbClr val="CCFFFF"/>
              </a:solidFill>
              <a:ln w="9525" cap="flat" cmpd="sng">
                <a:solidFill>
                  <a:srgbClr val="0000FF"/>
                </a:solidFill>
                <a:prstDash val="solid"/>
                <a:headEnd type="none" w="med" len="med"/>
                <a:tailEnd type="none" w="med" len="med"/>
              </a:ln>
            </p:spPr>
            <p:txBody>
              <a:bodyPr/>
              <a:lstStyle/>
              <a:p>
                <a:pPr algn="ctr"/>
                <a:r>
                  <a:rPr lang="en-US" altLang="zh-CN" sz="2000" dirty="0">
                    <a:latin typeface="Times New Roman" panose="02020603050405020304" pitchFamily="18" charset="0"/>
                  </a:rPr>
                  <a:t>011/0</a:t>
                </a:r>
                <a:endParaRPr lang="en-US" altLang="zh-CN" sz="5400" dirty="0">
                  <a:latin typeface="Times New Roman" panose="02020603050405020304" pitchFamily="18" charset="0"/>
                </a:endParaRPr>
              </a:p>
            </p:txBody>
          </p:sp>
          <p:sp>
            <p:nvSpPr>
              <p:cNvPr id="40980" name="Line 19"/>
              <p:cNvSpPr/>
              <p:nvPr/>
            </p:nvSpPr>
            <p:spPr>
              <a:xfrm>
                <a:off x="4396" y="10454"/>
                <a:ext cx="540" cy="0"/>
              </a:xfrm>
              <a:prstGeom prst="line">
                <a:avLst/>
              </a:prstGeom>
              <a:ln w="9525" cap="flat" cmpd="sng">
                <a:solidFill>
                  <a:srgbClr val="0000FF"/>
                </a:solidFill>
                <a:prstDash val="solid"/>
                <a:headEnd type="none" w="med" len="med"/>
                <a:tailEnd type="stealth" w="sm" len="lg"/>
              </a:ln>
            </p:spPr>
          </p:sp>
          <p:sp>
            <p:nvSpPr>
              <p:cNvPr id="40981" name="Line 20"/>
              <p:cNvSpPr/>
              <p:nvPr/>
            </p:nvSpPr>
            <p:spPr>
              <a:xfrm>
                <a:off x="6016" y="10440"/>
                <a:ext cx="540" cy="0"/>
              </a:xfrm>
              <a:prstGeom prst="line">
                <a:avLst/>
              </a:prstGeom>
              <a:ln w="9525" cap="flat" cmpd="sng">
                <a:solidFill>
                  <a:srgbClr val="0000FF"/>
                </a:solidFill>
                <a:prstDash val="solid"/>
                <a:headEnd type="none" w="med" len="med"/>
                <a:tailEnd type="stealth" w="sm" len="lg"/>
              </a:ln>
            </p:spPr>
          </p:sp>
          <p:sp>
            <p:nvSpPr>
              <p:cNvPr id="40982" name="Oval 21"/>
              <p:cNvSpPr/>
              <p:nvPr/>
            </p:nvSpPr>
            <p:spPr>
              <a:xfrm>
                <a:off x="3390" y="12044"/>
                <a:ext cx="1080" cy="624"/>
              </a:xfrm>
              <a:prstGeom prst="ellipse">
                <a:avLst/>
              </a:prstGeom>
              <a:solidFill>
                <a:srgbClr val="CCFFFF"/>
              </a:solidFill>
              <a:ln w="9525" cap="flat" cmpd="sng">
                <a:solidFill>
                  <a:srgbClr val="0000FF"/>
                </a:solidFill>
                <a:prstDash val="solid"/>
                <a:headEnd type="none" w="med" len="med"/>
                <a:tailEnd type="none" w="med" len="med"/>
              </a:ln>
            </p:spPr>
            <p:txBody>
              <a:bodyPr/>
              <a:lstStyle/>
              <a:p>
                <a:pPr algn="ctr"/>
                <a:r>
                  <a:rPr lang="en-US" altLang="zh-CN" sz="2000" dirty="0">
                    <a:latin typeface="Times New Roman" panose="02020603050405020304" pitchFamily="18" charset="0"/>
                  </a:rPr>
                  <a:t>111/1</a:t>
                </a:r>
                <a:endParaRPr lang="en-US" altLang="zh-CN" sz="5400" dirty="0">
                  <a:latin typeface="Times New Roman" panose="02020603050405020304" pitchFamily="18" charset="0"/>
                </a:endParaRPr>
              </a:p>
            </p:txBody>
          </p:sp>
          <p:sp>
            <p:nvSpPr>
              <p:cNvPr id="40983" name="Oval 22"/>
              <p:cNvSpPr/>
              <p:nvPr/>
            </p:nvSpPr>
            <p:spPr>
              <a:xfrm>
                <a:off x="5025" y="12029"/>
                <a:ext cx="1080" cy="624"/>
              </a:xfrm>
              <a:prstGeom prst="ellipse">
                <a:avLst/>
              </a:prstGeom>
              <a:solidFill>
                <a:srgbClr val="CCFFFF"/>
              </a:solidFill>
              <a:ln w="9525" cap="flat" cmpd="sng">
                <a:solidFill>
                  <a:srgbClr val="0000FF"/>
                </a:solidFill>
                <a:prstDash val="solid"/>
                <a:headEnd type="none" w="med" len="med"/>
                <a:tailEnd type="none" w="med" len="med"/>
              </a:ln>
            </p:spPr>
            <p:txBody>
              <a:bodyPr/>
              <a:lstStyle/>
              <a:p>
                <a:pPr algn="ctr"/>
                <a:r>
                  <a:rPr lang="en-US" altLang="zh-CN" sz="2000" dirty="0">
                    <a:latin typeface="Times New Roman" panose="02020603050405020304" pitchFamily="18" charset="0"/>
                  </a:rPr>
                  <a:t>110/0</a:t>
                </a:r>
                <a:endParaRPr lang="en-US" altLang="zh-CN" sz="5400" dirty="0">
                  <a:latin typeface="Times New Roman" panose="02020603050405020304" pitchFamily="18" charset="0"/>
                </a:endParaRPr>
              </a:p>
            </p:txBody>
          </p:sp>
          <p:sp>
            <p:nvSpPr>
              <p:cNvPr id="40984" name="Oval 23"/>
              <p:cNvSpPr/>
              <p:nvPr/>
            </p:nvSpPr>
            <p:spPr>
              <a:xfrm>
                <a:off x="6645" y="11978"/>
                <a:ext cx="1080" cy="624"/>
              </a:xfrm>
              <a:prstGeom prst="ellipse">
                <a:avLst/>
              </a:prstGeom>
              <a:solidFill>
                <a:srgbClr val="CCFFFF"/>
              </a:solidFill>
              <a:ln w="9525" cap="flat" cmpd="sng">
                <a:solidFill>
                  <a:srgbClr val="0000FF"/>
                </a:solidFill>
                <a:prstDash val="solid"/>
                <a:headEnd type="none" w="med" len="med"/>
                <a:tailEnd type="none" w="med" len="med"/>
              </a:ln>
            </p:spPr>
            <p:txBody>
              <a:bodyPr/>
              <a:lstStyle/>
              <a:p>
                <a:pPr algn="ctr"/>
                <a:r>
                  <a:rPr lang="en-US" altLang="zh-CN" sz="2000" dirty="0">
                    <a:latin typeface="Times New Roman" panose="02020603050405020304" pitchFamily="18" charset="0"/>
                  </a:rPr>
                  <a:t>101/0</a:t>
                </a:r>
                <a:endParaRPr lang="en-US" altLang="zh-CN" sz="5400" dirty="0">
                  <a:latin typeface="Times New Roman" panose="02020603050405020304" pitchFamily="18" charset="0"/>
                </a:endParaRPr>
              </a:p>
            </p:txBody>
          </p:sp>
          <p:sp>
            <p:nvSpPr>
              <p:cNvPr id="40985" name="Oval 24"/>
              <p:cNvSpPr/>
              <p:nvPr/>
            </p:nvSpPr>
            <p:spPr>
              <a:xfrm>
                <a:off x="8655" y="11933"/>
                <a:ext cx="1080" cy="624"/>
              </a:xfrm>
              <a:prstGeom prst="ellipse">
                <a:avLst/>
              </a:prstGeom>
              <a:solidFill>
                <a:srgbClr val="CCFFFF"/>
              </a:solidFill>
              <a:ln w="9525" cap="flat" cmpd="sng">
                <a:solidFill>
                  <a:srgbClr val="0000FF"/>
                </a:solidFill>
                <a:prstDash val="solid"/>
                <a:headEnd type="none" w="med" len="med"/>
                <a:tailEnd type="none" w="med" len="med"/>
              </a:ln>
            </p:spPr>
            <p:txBody>
              <a:bodyPr/>
              <a:lstStyle/>
              <a:p>
                <a:pPr algn="ctr"/>
                <a:r>
                  <a:rPr lang="en-US" altLang="zh-CN" sz="2000" dirty="0">
                    <a:latin typeface="Times New Roman" panose="02020603050405020304" pitchFamily="18" charset="0"/>
                  </a:rPr>
                  <a:t>100/1</a:t>
                </a:r>
                <a:endParaRPr lang="en-US" altLang="zh-CN" sz="5400" dirty="0">
                  <a:latin typeface="Times New Roman" panose="02020603050405020304" pitchFamily="18" charset="0"/>
                </a:endParaRPr>
              </a:p>
            </p:txBody>
          </p:sp>
          <p:sp>
            <p:nvSpPr>
              <p:cNvPr id="40986" name="Line 25"/>
              <p:cNvSpPr/>
              <p:nvPr/>
            </p:nvSpPr>
            <p:spPr>
              <a:xfrm>
                <a:off x="4455" y="12341"/>
                <a:ext cx="540" cy="0"/>
              </a:xfrm>
              <a:prstGeom prst="line">
                <a:avLst/>
              </a:prstGeom>
              <a:ln w="9525" cap="flat" cmpd="sng">
                <a:solidFill>
                  <a:srgbClr val="0000FF"/>
                </a:solidFill>
                <a:prstDash val="solid"/>
                <a:headEnd type="none" w="med" len="med"/>
                <a:tailEnd type="stealth" w="sm" len="lg"/>
              </a:ln>
            </p:spPr>
          </p:sp>
          <p:sp>
            <p:nvSpPr>
              <p:cNvPr id="40987" name="Line 26"/>
              <p:cNvSpPr/>
              <p:nvPr/>
            </p:nvSpPr>
            <p:spPr>
              <a:xfrm>
                <a:off x="6090" y="12311"/>
                <a:ext cx="540" cy="0"/>
              </a:xfrm>
              <a:prstGeom prst="line">
                <a:avLst/>
              </a:prstGeom>
              <a:ln w="9525" cap="flat" cmpd="sng">
                <a:solidFill>
                  <a:srgbClr val="0000FF"/>
                </a:solidFill>
                <a:prstDash val="solid"/>
                <a:headEnd type="none" w="med" len="med"/>
                <a:tailEnd type="stealth" w="sm" len="lg"/>
              </a:ln>
            </p:spPr>
          </p:sp>
          <p:sp>
            <p:nvSpPr>
              <p:cNvPr id="40988" name="Line 27"/>
              <p:cNvSpPr/>
              <p:nvPr/>
            </p:nvSpPr>
            <p:spPr>
              <a:xfrm flipH="1">
                <a:off x="4125" y="10484"/>
                <a:ext cx="4500" cy="1560"/>
              </a:xfrm>
              <a:prstGeom prst="line">
                <a:avLst/>
              </a:prstGeom>
              <a:ln w="9525" cap="flat" cmpd="sng">
                <a:solidFill>
                  <a:srgbClr val="0000FF"/>
                </a:solidFill>
                <a:prstDash val="solid"/>
                <a:headEnd type="none" w="med" len="med"/>
                <a:tailEnd type="stealth" w="sm" len="lg"/>
              </a:ln>
            </p:spPr>
          </p:sp>
          <p:sp>
            <p:nvSpPr>
              <p:cNvPr id="40989" name="Line 28"/>
              <p:cNvSpPr/>
              <p:nvPr/>
            </p:nvSpPr>
            <p:spPr>
              <a:xfrm flipH="1">
                <a:off x="5745" y="10626"/>
                <a:ext cx="3067" cy="1418"/>
              </a:xfrm>
              <a:prstGeom prst="line">
                <a:avLst/>
              </a:prstGeom>
              <a:ln w="9525" cap="flat" cmpd="sng">
                <a:solidFill>
                  <a:srgbClr val="0000FF"/>
                </a:solidFill>
                <a:prstDash val="solid"/>
                <a:headEnd type="none" w="med" len="med"/>
                <a:tailEnd type="stealth" w="sm" len="lg"/>
              </a:ln>
            </p:spPr>
          </p:sp>
          <p:sp>
            <p:nvSpPr>
              <p:cNvPr id="40990" name="Line 29"/>
              <p:cNvSpPr/>
              <p:nvPr/>
            </p:nvSpPr>
            <p:spPr>
              <a:xfrm flipV="1">
                <a:off x="7545" y="10640"/>
                <a:ext cx="1440" cy="1404"/>
              </a:xfrm>
              <a:prstGeom prst="line">
                <a:avLst/>
              </a:prstGeom>
              <a:ln w="9525" cap="flat" cmpd="sng">
                <a:solidFill>
                  <a:srgbClr val="0000FF"/>
                </a:solidFill>
                <a:prstDash val="solid"/>
                <a:headEnd type="none" w="med" len="med"/>
                <a:tailEnd type="stealth" w="sm" len="lg"/>
              </a:ln>
            </p:spPr>
          </p:sp>
          <p:sp>
            <p:nvSpPr>
              <p:cNvPr id="40991" name="Line 30"/>
              <p:cNvSpPr/>
              <p:nvPr/>
            </p:nvSpPr>
            <p:spPr>
              <a:xfrm flipH="1" flipV="1">
                <a:off x="3765" y="10796"/>
                <a:ext cx="5040" cy="1248"/>
              </a:xfrm>
              <a:prstGeom prst="line">
                <a:avLst/>
              </a:prstGeom>
              <a:ln w="9525" cap="flat" cmpd="sng">
                <a:solidFill>
                  <a:srgbClr val="0000FF"/>
                </a:solidFill>
                <a:prstDash val="solid"/>
                <a:headEnd type="none" w="med" len="med"/>
                <a:tailEnd type="stealth" w="sm" len="lg"/>
              </a:ln>
            </p:spPr>
          </p:sp>
          <p:sp>
            <p:nvSpPr>
              <p:cNvPr id="40992" name="Line 31"/>
              <p:cNvSpPr/>
              <p:nvPr/>
            </p:nvSpPr>
            <p:spPr>
              <a:xfrm flipH="1" flipV="1">
                <a:off x="5835" y="10700"/>
                <a:ext cx="3240" cy="1248"/>
              </a:xfrm>
              <a:prstGeom prst="line">
                <a:avLst/>
              </a:prstGeom>
              <a:ln w="9525" cap="flat" cmpd="sng">
                <a:solidFill>
                  <a:srgbClr val="0000FF"/>
                </a:solidFill>
                <a:prstDash val="solid"/>
                <a:headEnd type="none" w="med" len="med"/>
                <a:tailEnd type="stealth" w="sm" len="lg"/>
              </a:ln>
            </p:spPr>
          </p:sp>
          <p:sp>
            <p:nvSpPr>
              <p:cNvPr id="40993" name="Line 32"/>
              <p:cNvSpPr/>
              <p:nvPr/>
            </p:nvSpPr>
            <p:spPr>
              <a:xfrm>
                <a:off x="7514" y="10631"/>
                <a:ext cx="1774" cy="1279"/>
              </a:xfrm>
              <a:prstGeom prst="line">
                <a:avLst/>
              </a:prstGeom>
              <a:ln w="9525" cap="flat" cmpd="sng">
                <a:solidFill>
                  <a:srgbClr val="0000FF"/>
                </a:solidFill>
                <a:prstDash val="solid"/>
                <a:headEnd type="none" w="med" len="med"/>
                <a:tailEnd type="stealth" w="sm" len="lg"/>
              </a:ln>
            </p:spPr>
          </p:sp>
          <p:sp>
            <p:nvSpPr>
              <p:cNvPr id="40994" name="Rectangle 33"/>
              <p:cNvSpPr/>
              <p:nvPr/>
            </p:nvSpPr>
            <p:spPr>
              <a:xfrm>
                <a:off x="3900" y="10902"/>
                <a:ext cx="125" cy="255"/>
              </a:xfrm>
              <a:prstGeom prst="rect">
                <a:avLst/>
              </a:prstGeom>
              <a:noFill/>
              <a:ln w="9525">
                <a:noFill/>
              </a:ln>
            </p:spPr>
            <p:txBody>
              <a:bodyPr lIns="0" tIns="0" rIns="0" bIns="0"/>
              <a:lstStyle/>
              <a:p>
                <a:pPr algn="just">
                  <a:lnSpc>
                    <a:spcPct val="96000"/>
                  </a:lnSpc>
                </a:pPr>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0995" name="Arc 34"/>
              <p:cNvSpPr/>
              <p:nvPr/>
            </p:nvSpPr>
            <p:spPr>
              <a:xfrm rot="10321313">
                <a:off x="3013" y="11854"/>
                <a:ext cx="520" cy="534"/>
              </a:xfrm>
              <a:custGeom>
                <a:avLst/>
                <a:gdLst>
                  <a:gd name="txL" fmla="*/ 0 w 43200"/>
                  <a:gd name="txT" fmla="*/ 0 h 43200"/>
                  <a:gd name="txR" fmla="*/ 43200 w 43200"/>
                  <a:gd name="txB" fmla="*/ 43200 h 43200"/>
                </a:gdLst>
                <a:ahLst/>
                <a:cxnLst>
                  <a:cxn ang="0">
                    <a:pos x="0" y="0"/>
                  </a:cxn>
                  <a:cxn ang="0">
                    <a:pos x="0" y="0"/>
                  </a:cxn>
                  <a:cxn ang="0">
                    <a:pos x="0" y="0"/>
                  </a:cxn>
                </a:cxnLst>
                <a:rect l="txL" t="txT" r="txR" b="txB"/>
                <a:pathLst>
                  <a:path w="43200" h="43200" fill="none">
                    <a:moveTo>
                      <a:pt x="15690" y="823"/>
                    </a:moveTo>
                    <a:cubicBezTo>
                      <a:pt x="17613" y="277"/>
                      <a:pt x="19601" y="-1"/>
                      <a:pt x="21600" y="0"/>
                    </a:cubicBezTo>
                    <a:cubicBezTo>
                      <a:pt x="33529" y="0"/>
                      <a:pt x="43200" y="9670"/>
                      <a:pt x="43200" y="21600"/>
                    </a:cubicBezTo>
                    <a:cubicBezTo>
                      <a:pt x="43200" y="33529"/>
                      <a:pt x="33529" y="43200"/>
                      <a:pt x="21600" y="43200"/>
                    </a:cubicBezTo>
                    <a:cubicBezTo>
                      <a:pt x="9670" y="43200"/>
                      <a:pt x="0" y="33529"/>
                      <a:pt x="0" y="21600"/>
                    </a:cubicBezTo>
                    <a:cubicBezTo>
                      <a:pt x="-1" y="20006"/>
                      <a:pt x="176" y="18417"/>
                      <a:pt x="525" y="16862"/>
                    </a:cubicBezTo>
                  </a:path>
                  <a:path w="43200" h="43200" stroke="0">
                    <a:moveTo>
                      <a:pt x="15690" y="823"/>
                    </a:moveTo>
                    <a:cubicBezTo>
                      <a:pt x="17613" y="277"/>
                      <a:pt x="19601" y="-1"/>
                      <a:pt x="21600" y="0"/>
                    </a:cubicBezTo>
                    <a:cubicBezTo>
                      <a:pt x="33529" y="0"/>
                      <a:pt x="43200" y="9670"/>
                      <a:pt x="43200" y="21600"/>
                    </a:cubicBezTo>
                    <a:cubicBezTo>
                      <a:pt x="43200" y="33529"/>
                      <a:pt x="33529" y="43200"/>
                      <a:pt x="21600" y="43200"/>
                    </a:cubicBezTo>
                    <a:cubicBezTo>
                      <a:pt x="9670" y="43200"/>
                      <a:pt x="0" y="33529"/>
                      <a:pt x="0" y="21600"/>
                    </a:cubicBezTo>
                    <a:cubicBezTo>
                      <a:pt x="-1" y="20006"/>
                      <a:pt x="176" y="18417"/>
                      <a:pt x="525" y="16862"/>
                    </a:cubicBezTo>
                    <a:lnTo>
                      <a:pt x="21600" y="21600"/>
                    </a:lnTo>
                    <a:lnTo>
                      <a:pt x="15690" y="823"/>
                    </a:lnTo>
                    <a:close/>
                  </a:path>
                </a:pathLst>
              </a:custGeom>
              <a:noFill/>
              <a:ln w="9525" cap="flat" cmpd="sng">
                <a:solidFill>
                  <a:srgbClr val="0000FF">
                    <a:alpha val="100000"/>
                  </a:srgbClr>
                </a:solidFill>
                <a:prstDash val="solid"/>
                <a:round/>
                <a:headEnd type="none" w="med" len="med"/>
                <a:tailEnd type="stealth" w="sm" len="lg"/>
              </a:ln>
            </p:spPr>
            <p:txBody>
              <a:bodyPr/>
              <a:lstStyle/>
              <a:p>
                <a:endParaRPr lang="zh-CN" altLang="en-US"/>
              </a:p>
            </p:txBody>
          </p:sp>
          <p:sp>
            <p:nvSpPr>
              <p:cNvPr id="40996" name="Arc 35"/>
              <p:cNvSpPr/>
              <p:nvPr/>
            </p:nvSpPr>
            <p:spPr>
              <a:xfrm rot="4311108">
                <a:off x="2991" y="10530"/>
                <a:ext cx="520" cy="534"/>
              </a:xfrm>
              <a:custGeom>
                <a:avLst/>
                <a:gdLst>
                  <a:gd name="txL" fmla="*/ 0 w 43200"/>
                  <a:gd name="txT" fmla="*/ 0 h 43189"/>
                  <a:gd name="txR" fmla="*/ 43200 w 43200"/>
                  <a:gd name="txB" fmla="*/ 43189 h 43189"/>
                </a:gdLst>
                <a:ahLst/>
                <a:cxnLst>
                  <a:cxn ang="0">
                    <a:pos x="0" y="0"/>
                  </a:cxn>
                  <a:cxn ang="0">
                    <a:pos x="0" y="0"/>
                  </a:cxn>
                  <a:cxn ang="0">
                    <a:pos x="0" y="0"/>
                  </a:cxn>
                </a:cxnLst>
                <a:rect l="txL" t="txT" r="txR" b="txB"/>
                <a:pathLst>
                  <a:path w="43200" h="43189" fill="none">
                    <a:moveTo>
                      <a:pt x="22293" y="0"/>
                    </a:moveTo>
                    <a:cubicBezTo>
                      <a:pt x="33947" y="374"/>
                      <a:pt x="43200" y="9929"/>
                      <a:pt x="43200" y="21589"/>
                    </a:cubicBezTo>
                    <a:cubicBezTo>
                      <a:pt x="43200" y="33518"/>
                      <a:pt x="33529" y="43189"/>
                      <a:pt x="21600" y="43189"/>
                    </a:cubicBezTo>
                    <a:cubicBezTo>
                      <a:pt x="9670" y="43189"/>
                      <a:pt x="0" y="33518"/>
                      <a:pt x="0" y="21589"/>
                    </a:cubicBezTo>
                    <a:cubicBezTo>
                      <a:pt x="-1" y="17248"/>
                      <a:pt x="1307" y="13009"/>
                      <a:pt x="3752" y="9423"/>
                    </a:cubicBezTo>
                  </a:path>
                  <a:path w="43200" h="43189" stroke="0">
                    <a:moveTo>
                      <a:pt x="22293" y="0"/>
                    </a:moveTo>
                    <a:cubicBezTo>
                      <a:pt x="33947" y="374"/>
                      <a:pt x="43200" y="9929"/>
                      <a:pt x="43200" y="21589"/>
                    </a:cubicBezTo>
                    <a:cubicBezTo>
                      <a:pt x="43200" y="33518"/>
                      <a:pt x="33529" y="43189"/>
                      <a:pt x="21600" y="43189"/>
                    </a:cubicBezTo>
                    <a:cubicBezTo>
                      <a:pt x="9670" y="43189"/>
                      <a:pt x="0" y="33518"/>
                      <a:pt x="0" y="21589"/>
                    </a:cubicBezTo>
                    <a:cubicBezTo>
                      <a:pt x="-1" y="17248"/>
                      <a:pt x="1307" y="13009"/>
                      <a:pt x="3752" y="9423"/>
                    </a:cubicBezTo>
                    <a:lnTo>
                      <a:pt x="21600" y="21589"/>
                    </a:lnTo>
                    <a:lnTo>
                      <a:pt x="22293" y="0"/>
                    </a:lnTo>
                    <a:close/>
                  </a:path>
                </a:pathLst>
              </a:custGeom>
              <a:noFill/>
              <a:ln w="9525" cap="flat" cmpd="sng">
                <a:solidFill>
                  <a:srgbClr val="0000FF">
                    <a:alpha val="100000"/>
                  </a:srgbClr>
                </a:solidFill>
                <a:prstDash val="solid"/>
                <a:round/>
                <a:headEnd type="none" w="med" len="med"/>
                <a:tailEnd type="stealth" w="sm" len="lg"/>
              </a:ln>
            </p:spPr>
            <p:txBody>
              <a:bodyPr/>
              <a:lstStyle/>
              <a:p>
                <a:endParaRPr lang="zh-CN" altLang="en-US"/>
              </a:p>
            </p:txBody>
          </p:sp>
          <p:sp>
            <p:nvSpPr>
              <p:cNvPr id="40997" name="Text Box 36"/>
              <p:cNvSpPr txBox="1"/>
              <p:nvPr/>
            </p:nvSpPr>
            <p:spPr>
              <a:xfrm>
                <a:off x="3112" y="10518"/>
                <a:ext cx="168" cy="297"/>
              </a:xfrm>
              <a:prstGeom prst="rect">
                <a:avLst/>
              </a:prstGeom>
              <a:noFill/>
              <a:ln w="9525">
                <a:noFill/>
              </a:ln>
            </p:spPr>
            <p:txBody>
              <a:bodyPr lIns="0" tIns="0" rIns="0" bIns="0"/>
              <a:lstStyle/>
              <a:p>
                <a:pPr algn="just"/>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0998" name="Text Box 37"/>
              <p:cNvSpPr txBox="1"/>
              <p:nvPr/>
            </p:nvSpPr>
            <p:spPr>
              <a:xfrm>
                <a:off x="3296" y="11910"/>
                <a:ext cx="168" cy="297"/>
              </a:xfrm>
              <a:prstGeom prst="rect">
                <a:avLst/>
              </a:prstGeom>
              <a:noFill/>
              <a:ln w="9525">
                <a:noFill/>
              </a:ln>
            </p:spPr>
            <p:txBody>
              <a:bodyPr lIns="0" tIns="0" rIns="0" bIns="0"/>
              <a:lstStyle/>
              <a:p>
                <a:pPr algn="just"/>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0999" name="Arc 38"/>
              <p:cNvSpPr/>
              <p:nvPr/>
            </p:nvSpPr>
            <p:spPr>
              <a:xfrm rot="2838358" flipH="1" flipV="1">
                <a:off x="6546" y="10717"/>
                <a:ext cx="1320" cy="1230"/>
              </a:xfrm>
              <a:custGeom>
                <a:avLst/>
                <a:gdLst>
                  <a:gd name="txL" fmla="*/ 0 w 20422"/>
                  <a:gd name="txT" fmla="*/ 0 h 20991"/>
                  <a:gd name="txR" fmla="*/ 20422 w 20422"/>
                  <a:gd name="txB" fmla="*/ 20991 h 20991"/>
                </a:gdLst>
                <a:ahLst/>
                <a:cxnLst>
                  <a:cxn ang="0">
                    <a:pos x="1" y="0"/>
                  </a:cxn>
                  <a:cxn ang="0">
                    <a:pos x="5" y="3"/>
                  </a:cxn>
                  <a:cxn ang="0">
                    <a:pos x="0" y="4"/>
                  </a:cxn>
                </a:cxnLst>
                <a:rect l="txL" t="txT" r="txR" b="txB"/>
                <a:pathLst>
                  <a:path w="20422" h="20991" fill="none">
                    <a:moveTo>
                      <a:pt x="5093" y="0"/>
                    </a:moveTo>
                    <a:cubicBezTo>
                      <a:pt x="12247" y="1736"/>
                      <a:pt x="18024" y="6995"/>
                      <a:pt x="20422" y="13955"/>
                    </a:cubicBezTo>
                  </a:path>
                  <a:path w="20422" h="20991" stroke="0">
                    <a:moveTo>
                      <a:pt x="5093" y="0"/>
                    </a:moveTo>
                    <a:cubicBezTo>
                      <a:pt x="12247" y="1736"/>
                      <a:pt x="18024" y="6995"/>
                      <a:pt x="20422" y="13955"/>
                    </a:cubicBezTo>
                    <a:lnTo>
                      <a:pt x="0" y="20991"/>
                    </a:lnTo>
                    <a:lnTo>
                      <a:pt x="5093" y="0"/>
                    </a:lnTo>
                    <a:close/>
                  </a:path>
                </a:pathLst>
              </a:custGeom>
              <a:noFill/>
              <a:ln w="9525" cap="flat" cmpd="sng">
                <a:solidFill>
                  <a:srgbClr val="0000FF">
                    <a:alpha val="100000"/>
                  </a:srgbClr>
                </a:solidFill>
                <a:prstDash val="solid"/>
                <a:round/>
                <a:headEnd type="none" w="med" len="med"/>
                <a:tailEnd type="stealth" w="sm" len="lg"/>
              </a:ln>
            </p:spPr>
            <p:txBody>
              <a:bodyPr/>
              <a:lstStyle/>
              <a:p>
                <a:endParaRPr lang="zh-CN" altLang="en-US"/>
              </a:p>
            </p:txBody>
          </p:sp>
          <p:sp>
            <p:nvSpPr>
              <p:cNvPr id="41000" name="Arc 39"/>
              <p:cNvSpPr/>
              <p:nvPr/>
            </p:nvSpPr>
            <p:spPr>
              <a:xfrm rot="-7900060" flipH="1" flipV="1">
                <a:off x="6432" y="10745"/>
                <a:ext cx="1320" cy="1230"/>
              </a:xfrm>
              <a:custGeom>
                <a:avLst/>
                <a:gdLst>
                  <a:gd name="txL" fmla="*/ 0 w 20422"/>
                  <a:gd name="txT" fmla="*/ 0 h 20991"/>
                  <a:gd name="txR" fmla="*/ 20422 w 20422"/>
                  <a:gd name="txB" fmla="*/ 20991 h 20991"/>
                </a:gdLst>
                <a:ahLst/>
                <a:cxnLst>
                  <a:cxn ang="0">
                    <a:pos x="1" y="0"/>
                  </a:cxn>
                  <a:cxn ang="0">
                    <a:pos x="5" y="3"/>
                  </a:cxn>
                  <a:cxn ang="0">
                    <a:pos x="0" y="4"/>
                  </a:cxn>
                </a:cxnLst>
                <a:rect l="txL" t="txT" r="txR" b="txB"/>
                <a:pathLst>
                  <a:path w="20422" h="20991" fill="none">
                    <a:moveTo>
                      <a:pt x="5093" y="0"/>
                    </a:moveTo>
                    <a:cubicBezTo>
                      <a:pt x="12247" y="1736"/>
                      <a:pt x="18024" y="6995"/>
                      <a:pt x="20422" y="13955"/>
                    </a:cubicBezTo>
                  </a:path>
                  <a:path w="20422" h="20991" stroke="0">
                    <a:moveTo>
                      <a:pt x="5093" y="0"/>
                    </a:moveTo>
                    <a:cubicBezTo>
                      <a:pt x="12247" y="1736"/>
                      <a:pt x="18024" y="6995"/>
                      <a:pt x="20422" y="13955"/>
                    </a:cubicBezTo>
                    <a:lnTo>
                      <a:pt x="0" y="20991"/>
                    </a:lnTo>
                    <a:lnTo>
                      <a:pt x="5093" y="0"/>
                    </a:lnTo>
                    <a:close/>
                  </a:path>
                </a:pathLst>
              </a:custGeom>
              <a:noFill/>
              <a:ln w="9525" cap="flat" cmpd="sng">
                <a:solidFill>
                  <a:srgbClr val="0000FF">
                    <a:alpha val="100000"/>
                  </a:srgbClr>
                </a:solidFill>
                <a:prstDash val="solid"/>
                <a:round/>
                <a:headEnd type="none" w="med" len="med"/>
                <a:tailEnd type="stealth" w="sm" len="lg"/>
              </a:ln>
            </p:spPr>
            <p:txBody>
              <a:bodyPr/>
              <a:lstStyle/>
              <a:p>
                <a:endParaRPr lang="zh-CN" altLang="en-US"/>
              </a:p>
            </p:txBody>
          </p:sp>
          <p:sp>
            <p:nvSpPr>
              <p:cNvPr id="41001" name="Arc 40"/>
              <p:cNvSpPr/>
              <p:nvPr/>
            </p:nvSpPr>
            <p:spPr>
              <a:xfrm rot="7910113">
                <a:off x="6497" y="11451"/>
                <a:ext cx="1800" cy="1938"/>
              </a:xfrm>
              <a:custGeom>
                <a:avLst/>
                <a:gdLst>
                  <a:gd name="txL" fmla="*/ 0 w 21600"/>
                  <a:gd name="txT" fmla="*/ 0 h 21600"/>
                  <a:gd name="txR" fmla="*/ 21600 w 21600"/>
                  <a:gd name="txB" fmla="*/ 21600 h 21600"/>
                </a:gdLst>
                <a:ahLst/>
                <a:cxnLst>
                  <a:cxn ang="0">
                    <a:pos x="0" y="0"/>
                  </a:cxn>
                  <a:cxn ang="0">
                    <a:pos x="13" y="16"/>
                  </a:cxn>
                  <a:cxn ang="0">
                    <a:pos x="0" y="16"/>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FF">
                    <a:alpha val="100000"/>
                  </a:srgbClr>
                </a:solidFill>
                <a:prstDash val="solid"/>
                <a:round/>
                <a:headEnd type="stealth" w="sm" len="lg"/>
                <a:tailEnd type="none" w="med" len="med"/>
              </a:ln>
            </p:spPr>
            <p:txBody>
              <a:bodyPr/>
              <a:lstStyle/>
              <a:p>
                <a:endParaRPr lang="zh-CN" altLang="en-US"/>
              </a:p>
            </p:txBody>
          </p:sp>
          <p:sp>
            <p:nvSpPr>
              <p:cNvPr id="41002" name="Text Box 41"/>
              <p:cNvSpPr txBox="1"/>
              <p:nvPr/>
            </p:nvSpPr>
            <p:spPr>
              <a:xfrm>
                <a:off x="8440" y="12252"/>
                <a:ext cx="168" cy="297"/>
              </a:xfrm>
              <a:prstGeom prst="rect">
                <a:avLst/>
              </a:prstGeom>
              <a:noFill/>
              <a:ln w="9525">
                <a:noFill/>
              </a:ln>
            </p:spPr>
            <p:txBody>
              <a:bodyPr lIns="0" tIns="0" rIns="0" bIns="0"/>
              <a:lstStyle/>
              <a:p>
                <a:pPr algn="just"/>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41003" name="Text Box 42"/>
              <p:cNvSpPr txBox="1"/>
              <p:nvPr/>
            </p:nvSpPr>
            <p:spPr>
              <a:xfrm>
                <a:off x="6688" y="10656"/>
                <a:ext cx="168" cy="297"/>
              </a:xfrm>
              <a:prstGeom prst="rect">
                <a:avLst/>
              </a:prstGeom>
              <a:noFill/>
              <a:ln w="9525">
                <a:noFill/>
              </a:ln>
            </p:spPr>
            <p:txBody>
              <a:bodyPr lIns="0" tIns="0" rIns="0" bIns="0"/>
              <a:lstStyle/>
              <a:p>
                <a:pPr algn="just"/>
                <a:r>
                  <a:rPr lang="en-US" altLang="zh-CN" sz="2400" dirty="0">
                    <a:latin typeface="Times New Roman" panose="02020603050405020304" pitchFamily="18" charset="0"/>
                  </a:rPr>
                  <a:t>0</a:t>
                </a:r>
                <a:endParaRPr lang="en-US" altLang="zh-CN" sz="6000" dirty="0">
                  <a:latin typeface="Times New Roman" panose="02020603050405020304" pitchFamily="18" charset="0"/>
                </a:endParaRPr>
              </a:p>
            </p:txBody>
          </p:sp>
          <p:sp>
            <p:nvSpPr>
              <p:cNvPr id="41004" name="Text Box 43"/>
              <p:cNvSpPr txBox="1"/>
              <p:nvPr/>
            </p:nvSpPr>
            <p:spPr>
              <a:xfrm>
                <a:off x="7200" y="11712"/>
                <a:ext cx="168" cy="297"/>
              </a:xfrm>
              <a:prstGeom prst="rect">
                <a:avLst/>
              </a:prstGeom>
              <a:noFill/>
              <a:ln w="9525">
                <a:noFill/>
              </a:ln>
            </p:spPr>
            <p:txBody>
              <a:bodyPr lIns="0" tIns="0" rIns="0" bIns="0"/>
              <a:lstStyle/>
              <a:p>
                <a:pPr algn="just"/>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1005" name="Text Box 44"/>
              <p:cNvSpPr txBox="1"/>
              <p:nvPr/>
            </p:nvSpPr>
            <p:spPr>
              <a:xfrm>
                <a:off x="8376" y="9828"/>
                <a:ext cx="168" cy="297"/>
              </a:xfrm>
              <a:prstGeom prst="rect">
                <a:avLst/>
              </a:prstGeom>
              <a:noFill/>
              <a:ln w="9525">
                <a:noFill/>
              </a:ln>
            </p:spPr>
            <p:txBody>
              <a:bodyPr lIns="0" tIns="0" rIns="0" bIns="0"/>
              <a:lstStyle/>
              <a:p>
                <a:pPr algn="just"/>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41006" name="Text Box 45"/>
              <p:cNvSpPr txBox="1"/>
              <p:nvPr/>
            </p:nvSpPr>
            <p:spPr>
              <a:xfrm>
                <a:off x="4224" y="11676"/>
                <a:ext cx="168" cy="297"/>
              </a:xfrm>
              <a:prstGeom prst="rect">
                <a:avLst/>
              </a:prstGeom>
              <a:noFill/>
              <a:ln w="9525">
                <a:noFill/>
              </a:ln>
            </p:spPr>
            <p:txBody>
              <a:bodyPr lIns="0" tIns="0" rIns="0" bIns="0"/>
              <a:lstStyle/>
              <a:p>
                <a:pPr algn="just"/>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grpSp>
        <p:sp>
          <p:nvSpPr>
            <p:cNvPr id="40967" name="Text Box 46"/>
            <p:cNvSpPr txBox="1"/>
            <p:nvPr/>
          </p:nvSpPr>
          <p:spPr>
            <a:xfrm>
              <a:off x="4092" y="14601"/>
              <a:ext cx="2058" cy="433"/>
            </a:xfrm>
            <a:prstGeom prst="rect">
              <a:avLst/>
            </a:prstGeom>
            <a:noFill/>
            <a:ln w="9525">
              <a:noFill/>
            </a:ln>
          </p:spPr>
          <p:txBody>
            <a:bodyPr wrap="none"/>
            <a:lstStyle/>
            <a:p>
              <a:pPr algn="just"/>
              <a:endParaRPr lang="zh-CN" altLang="zh-CN" sz="5400" dirty="0">
                <a:latin typeface="Times New Roman" panose="02020603050405020304" pitchFamily="18" charset="0"/>
              </a:endParaRPr>
            </a:p>
          </p:txBody>
        </p:sp>
      </p:grpSp>
      <p:sp>
        <p:nvSpPr>
          <p:cNvPr id="40963" name="Rectangle 132" descr="羊皮纸"/>
          <p:cNvSpPr/>
          <p:nvPr/>
        </p:nvSpPr>
        <p:spPr>
          <a:xfrm>
            <a:off x="-4240212" y="3754438"/>
            <a:ext cx="339725" cy="244475"/>
          </a:xfrm>
          <a:prstGeom prst="rect">
            <a:avLst/>
          </a:prstGeom>
          <a:noFill/>
          <a:ln w="38100">
            <a:noFill/>
          </a:ln>
        </p:spPr>
        <p:txBody>
          <a:bodyPr wrap="none" lIns="90000" tIns="46800" rIns="90000" bIns="46800" anchor="ctr" anchorCtr="0">
            <a:spAutoFit/>
          </a:bodyPr>
          <a:lstStyle/>
          <a:p>
            <a:r>
              <a:rPr lang="zh-CN" altLang="en-US" sz="1000" dirty="0">
                <a:latin typeface="Times New Roman" panose="02020603050405020304" pitchFamily="18" charset="0"/>
                <a:cs typeface="Times New Roman" panose="02020603050405020304" pitchFamily="18" charset="0"/>
              </a:rPr>
              <a:t>，</a:t>
            </a:r>
            <a:r>
              <a:rPr lang="zh-CN" altLang="en-US" sz="1000" dirty="0">
                <a:latin typeface="Times New Roman" panose="02020603050405020304" pitchFamily="18" charset="0"/>
              </a:rPr>
              <a:t> </a:t>
            </a:r>
            <a:endParaRPr lang="zh-CN" altLang="en-US" sz="2400" dirty="0">
              <a:latin typeface="Times New Roman" panose="02020603050405020304" pitchFamily="18" charset="0"/>
            </a:endParaRPr>
          </a:p>
        </p:txBody>
      </p:sp>
      <p:sp>
        <p:nvSpPr>
          <p:cNvPr id="40964" name="Rectangle 134" descr="羊皮纸"/>
          <p:cNvSpPr/>
          <p:nvPr/>
        </p:nvSpPr>
        <p:spPr>
          <a:xfrm>
            <a:off x="0" y="3908425"/>
            <a:ext cx="9144000" cy="2654300"/>
          </a:xfrm>
          <a:prstGeom prst="rect">
            <a:avLst/>
          </a:prstGeom>
          <a:noFill/>
          <a:ln w="38100">
            <a:noFill/>
          </a:ln>
        </p:spPr>
        <p:txBody>
          <a:bodyPr lIns="90000" tIns="46800" rIns="90000" bIns="46800" anchor="ctr" anchorCtr="0">
            <a:spAutoFit/>
          </a:bodyPr>
          <a:lstStyle/>
          <a:p>
            <a:r>
              <a:rPr lang="en-US" altLang="zh-CN" sz="2800" dirty="0">
                <a:latin typeface="Times New Roman" panose="02020603050405020304" pitchFamily="18" charset="0"/>
              </a:rPr>
              <a:t>        </a:t>
            </a:r>
            <a:r>
              <a:rPr lang="zh-CN" altLang="en-US" sz="2800" dirty="0">
                <a:latin typeface="Times New Roman" panose="02020603050405020304" pitchFamily="18" charset="0"/>
              </a:rPr>
              <a:t>该电路是一个</a:t>
            </a:r>
            <a:r>
              <a:rPr lang="en-US" altLang="zh-CN" sz="2800" dirty="0">
                <a:latin typeface="Times New Roman" panose="02020603050405020304" pitchFamily="18" charset="0"/>
              </a:rPr>
              <a:t>3</a:t>
            </a:r>
            <a:r>
              <a:rPr lang="zh-CN" altLang="en-US" sz="2800" dirty="0">
                <a:latin typeface="Times New Roman" panose="02020603050405020304" pitchFamily="18" charset="0"/>
              </a:rPr>
              <a:t>位串行输入的移位寄存器。在时钟的作用下，</a:t>
            </a:r>
            <a:r>
              <a:rPr lang="en-US" altLang="zh-CN" sz="2800" i="1" dirty="0">
                <a:latin typeface="Times New Roman" panose="02020603050405020304" pitchFamily="18" charset="0"/>
              </a:rPr>
              <a:t>x</a:t>
            </a:r>
            <a:r>
              <a:rPr lang="zh-CN" altLang="en-US" sz="2800" dirty="0">
                <a:latin typeface="Times New Roman" panose="02020603050405020304" pitchFamily="18" charset="0"/>
              </a:rPr>
              <a:t>寄存到该寄存器的低位，寄存器的内容从低位向高位左移一位，原来的最高位丢弃。输出</a:t>
            </a:r>
            <a:r>
              <a:rPr lang="en-US" altLang="zh-CN" sz="2800" i="1" dirty="0">
                <a:latin typeface="Times New Roman" panose="02020603050405020304" pitchFamily="18" charset="0"/>
              </a:rPr>
              <a:t>Z</a:t>
            </a:r>
            <a:r>
              <a:rPr lang="zh-CN" altLang="en-US" sz="2800" dirty="0">
                <a:latin typeface="Times New Roman" panose="02020603050405020304" pitchFamily="18" charset="0"/>
              </a:rPr>
              <a:t>完成了现态</a:t>
            </a:r>
            <a:r>
              <a:rPr lang="en-US" altLang="zh-CN" sz="2800" i="1" dirty="0">
                <a:latin typeface="Times New Roman" panose="02020603050405020304" pitchFamily="18" charset="0"/>
              </a:rPr>
              <a:t>y</a:t>
            </a:r>
            <a:r>
              <a:rPr lang="en-US" altLang="zh-CN" sz="2800" dirty="0">
                <a:latin typeface="Times New Roman" panose="02020603050405020304" pitchFamily="18" charset="0"/>
              </a:rPr>
              <a:t>2</a:t>
            </a:r>
            <a:r>
              <a:rPr lang="zh-CN" altLang="en-US" sz="2800" dirty="0">
                <a:latin typeface="Times New Roman" panose="02020603050405020304" pitchFamily="18" charset="0"/>
              </a:rPr>
              <a:t>，</a:t>
            </a:r>
            <a:r>
              <a:rPr lang="en-US" altLang="zh-CN" sz="2800" i="1" dirty="0">
                <a:latin typeface="Times New Roman" panose="02020603050405020304" pitchFamily="18" charset="0"/>
              </a:rPr>
              <a:t>y</a:t>
            </a:r>
            <a:r>
              <a:rPr lang="en-US" altLang="zh-CN" sz="2800" dirty="0">
                <a:latin typeface="Times New Roman" panose="02020603050405020304" pitchFamily="18" charset="0"/>
              </a:rPr>
              <a:t>1</a:t>
            </a:r>
            <a:r>
              <a:rPr lang="zh-CN" altLang="en-US" sz="2800" dirty="0">
                <a:latin typeface="Times New Roman" panose="02020603050405020304" pitchFamily="18" charset="0"/>
              </a:rPr>
              <a:t>，</a:t>
            </a:r>
            <a:r>
              <a:rPr lang="en-US" altLang="zh-CN" sz="2800" i="1" dirty="0">
                <a:latin typeface="Times New Roman" panose="02020603050405020304" pitchFamily="18" charset="0"/>
              </a:rPr>
              <a:t>y</a:t>
            </a:r>
            <a:r>
              <a:rPr lang="en-US" altLang="zh-CN" sz="2800" dirty="0">
                <a:latin typeface="Times New Roman" panose="02020603050405020304" pitchFamily="18" charset="0"/>
              </a:rPr>
              <a:t>0</a:t>
            </a:r>
            <a:r>
              <a:rPr lang="zh-CN" altLang="en-US" sz="2800" dirty="0">
                <a:latin typeface="Times New Roman" panose="02020603050405020304" pitchFamily="18" charset="0"/>
              </a:rPr>
              <a:t>的连续异或运算，则当</a:t>
            </a:r>
            <a:r>
              <a:rPr lang="en-US" altLang="zh-CN" sz="2800" dirty="0">
                <a:latin typeface="Times New Roman" panose="02020603050405020304" pitchFamily="18" charset="0"/>
              </a:rPr>
              <a:t>1</a:t>
            </a:r>
            <a:r>
              <a:rPr lang="zh-CN" altLang="en-US" sz="2800" dirty="0">
                <a:latin typeface="Times New Roman" panose="02020603050405020304" pitchFamily="18" charset="0"/>
              </a:rPr>
              <a:t>的个数为奇数时</a:t>
            </a:r>
            <a:r>
              <a:rPr lang="en-US" altLang="zh-CN" sz="2800" i="1" dirty="0">
                <a:latin typeface="Times New Roman" panose="02020603050405020304" pitchFamily="18" charset="0"/>
              </a:rPr>
              <a:t>Z</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的个数为偶数时</a:t>
            </a:r>
            <a:r>
              <a:rPr lang="en-US" altLang="zh-CN" sz="2800" i="1" dirty="0">
                <a:latin typeface="Times New Roman" panose="02020603050405020304" pitchFamily="18" charset="0"/>
              </a:rPr>
              <a:t>Z</a:t>
            </a:r>
            <a:r>
              <a:rPr lang="zh-CN" altLang="en-US" sz="2800" dirty="0">
                <a:latin typeface="Times New Roman" panose="02020603050405020304" pitchFamily="18" charset="0"/>
              </a:rPr>
              <a:t>＝</a:t>
            </a:r>
            <a:r>
              <a:rPr lang="en-US" altLang="zh-CN" sz="2800" dirty="0">
                <a:latin typeface="Times New Roman" panose="02020603050405020304" pitchFamily="18" charset="0"/>
              </a:rPr>
              <a:t>0</a:t>
            </a:r>
            <a:r>
              <a:rPr lang="zh-CN" altLang="en-US" sz="2800" dirty="0">
                <a:latin typeface="Times New Roman" panose="02020603050405020304" pitchFamily="18" charset="0"/>
              </a:rPr>
              <a:t>，完成了对当前的移位寄存器内容进行奇偶校验的工作。 </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Rectangle 3"/>
          <p:cNvSpPr>
            <a:spLocks noGrp="1"/>
          </p:cNvSpPr>
          <p:nvPr>
            <p:ph idx="1"/>
          </p:nvPr>
        </p:nvSpPr>
        <p:spPr>
          <a:xfrm>
            <a:off x="533400" y="685800"/>
            <a:ext cx="7772400" cy="762000"/>
          </a:xfrm>
        </p:spPr>
        <p:txBody>
          <a:bodyPr vert="horz" wrap="square" lIns="91440" tIns="45720" rIns="91440" bIns="45720" anchor="t" anchorCtr="0"/>
          <a:lstStyle/>
          <a:p>
            <a:pPr eaLnBrk="1" hangingPunct="1"/>
            <a:r>
              <a:rPr lang="zh-CN" altLang="en-US" sz="2800" b="1" dirty="0">
                <a:latin typeface="楷体_GB2312" panose="02010609030101010101" pitchFamily="49" charset="-122"/>
                <a:ea typeface="楷体_GB2312" panose="02010609030101010101" pitchFamily="49" charset="-122"/>
              </a:rPr>
              <a:t>例.分析下图所示同步时序逻辑电路。</a:t>
            </a:r>
          </a:p>
        </p:txBody>
      </p:sp>
      <p:grpSp>
        <p:nvGrpSpPr>
          <p:cNvPr id="41987" name="Group 71"/>
          <p:cNvGrpSpPr/>
          <p:nvPr/>
        </p:nvGrpSpPr>
        <p:grpSpPr>
          <a:xfrm>
            <a:off x="441325" y="2241550"/>
            <a:ext cx="8077200" cy="2971800"/>
            <a:chOff x="278" y="1412"/>
            <a:chExt cx="5088" cy="1872"/>
          </a:xfrm>
        </p:grpSpPr>
        <p:sp>
          <p:nvSpPr>
            <p:cNvPr id="41988" name="Rectangle 66"/>
            <p:cNvSpPr/>
            <p:nvPr/>
          </p:nvSpPr>
          <p:spPr>
            <a:xfrm>
              <a:off x="278" y="1412"/>
              <a:ext cx="5088" cy="1872"/>
            </a:xfrm>
            <a:prstGeom prst="rect">
              <a:avLst/>
            </a:prstGeom>
            <a:noFill/>
            <a:ln w="2857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41989" name="Rectangle 53"/>
            <p:cNvSpPr/>
            <p:nvPr/>
          </p:nvSpPr>
          <p:spPr>
            <a:xfrm>
              <a:off x="566" y="1988"/>
              <a:ext cx="288" cy="368"/>
            </a:xfrm>
            <a:prstGeom prst="rect">
              <a:avLst/>
            </a:prstGeom>
            <a:noFill/>
            <a:ln w="28575">
              <a:noFill/>
            </a:ln>
          </p:spPr>
          <p:txBody>
            <a:bodyPr wrap="none"/>
            <a:lstStyle/>
            <a:p>
              <a:r>
                <a:rPr lang="zh-CN" altLang="en-US" sz="2000" dirty="0">
                  <a:latin typeface="Times New Roman" panose="02020603050405020304" pitchFamily="18" charset="0"/>
                </a:rPr>
                <a:t>“1”</a:t>
              </a:r>
            </a:p>
          </p:txBody>
        </p:sp>
        <p:sp>
          <p:nvSpPr>
            <p:cNvPr id="41990" name="Rectangle 4"/>
            <p:cNvSpPr/>
            <p:nvPr/>
          </p:nvSpPr>
          <p:spPr>
            <a:xfrm>
              <a:off x="1430" y="2036"/>
              <a:ext cx="624" cy="864"/>
            </a:xfrm>
            <a:prstGeom prst="rect">
              <a:avLst/>
            </a:prstGeom>
            <a:noFill/>
            <a:ln w="28575" cap="flat" cmpd="sng">
              <a:solidFill>
                <a:schemeClr val="bg2"/>
              </a:solidFill>
              <a:prstDash val="solid"/>
              <a:miter/>
              <a:headEnd type="none" w="med" len="med"/>
              <a:tailEnd type="none" w="med" len="med"/>
            </a:ln>
          </p:spPr>
          <p:txBody>
            <a:bodyPr wrap="none"/>
            <a:lstStyle/>
            <a:p>
              <a:r>
                <a:rPr lang="en-US" altLang="zh-CN" sz="2400" dirty="0">
                  <a:latin typeface="Times New Roman" panose="02020603050405020304" pitchFamily="18" charset="0"/>
                </a:rPr>
                <a:t>J</a:t>
              </a:r>
              <a:r>
                <a:rPr lang="en-US" altLang="zh-CN" sz="1200" dirty="0">
                  <a:latin typeface="Times New Roman" panose="02020603050405020304" pitchFamily="18" charset="0"/>
                </a:rPr>
                <a:t>0</a:t>
              </a:r>
              <a:r>
                <a:rPr lang="en-US" altLang="zh-CN" sz="2400" dirty="0">
                  <a:latin typeface="Times New Roman" panose="02020603050405020304" pitchFamily="18" charset="0"/>
                </a:rPr>
                <a:t>    Q</a:t>
              </a:r>
              <a:r>
                <a:rPr lang="en-US" altLang="zh-CN" sz="1200" dirty="0">
                  <a:latin typeface="Times New Roman" panose="02020603050405020304" pitchFamily="18" charset="0"/>
                </a:rPr>
                <a:t>0</a:t>
              </a:r>
            </a:p>
            <a:p>
              <a:r>
                <a:rPr lang="en-US" altLang="zh-CN" sz="2400" dirty="0">
                  <a:latin typeface="Times New Roman" panose="02020603050405020304" pitchFamily="18" charset="0"/>
                </a:rPr>
                <a:t>  CP</a:t>
              </a:r>
              <a:r>
                <a:rPr lang="en-US" altLang="zh-CN" sz="1200" dirty="0">
                  <a:latin typeface="Times New Roman" panose="02020603050405020304" pitchFamily="18" charset="0"/>
                </a:rPr>
                <a:t>0</a:t>
              </a:r>
            </a:p>
            <a:p>
              <a:r>
                <a:rPr lang="en-US" altLang="zh-CN" sz="2400" dirty="0">
                  <a:latin typeface="Times New Roman" panose="02020603050405020304" pitchFamily="18" charset="0"/>
                </a:rPr>
                <a:t>K</a:t>
              </a:r>
              <a:r>
                <a:rPr lang="en-US" altLang="zh-CN" sz="1200" dirty="0">
                  <a:latin typeface="Times New Roman" panose="02020603050405020304" pitchFamily="18" charset="0"/>
                </a:rPr>
                <a:t>0</a:t>
              </a:r>
              <a:r>
                <a:rPr lang="en-US" altLang="zh-CN" sz="2400" dirty="0">
                  <a:latin typeface="Times New Roman" panose="02020603050405020304" pitchFamily="18" charset="0"/>
                </a:rPr>
                <a:t>   Q</a:t>
              </a:r>
              <a:r>
                <a:rPr lang="en-US" altLang="zh-CN" sz="1200" dirty="0">
                  <a:latin typeface="Times New Roman" panose="02020603050405020304" pitchFamily="18" charset="0"/>
                </a:rPr>
                <a:t>0</a:t>
              </a:r>
            </a:p>
          </p:txBody>
        </p:sp>
        <p:sp>
          <p:nvSpPr>
            <p:cNvPr id="41991" name="Oval 5"/>
            <p:cNvSpPr/>
            <p:nvPr/>
          </p:nvSpPr>
          <p:spPr>
            <a:xfrm>
              <a:off x="1357" y="2420"/>
              <a:ext cx="68" cy="68"/>
            </a:xfrm>
            <a:prstGeom prst="ellipse">
              <a:avLst/>
            </a:prstGeom>
            <a:noFill/>
            <a:ln w="28575" cap="flat" cmpd="sng">
              <a:solidFill>
                <a:schemeClr val="bg2"/>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41992" name="AutoShape 6"/>
            <p:cNvSpPr/>
            <p:nvPr/>
          </p:nvSpPr>
          <p:spPr>
            <a:xfrm rot="5400000">
              <a:off x="1430" y="2412"/>
              <a:ext cx="96" cy="96"/>
            </a:xfrm>
            <a:prstGeom prst="triangle">
              <a:avLst>
                <a:gd name="adj" fmla="val 50000"/>
              </a:avLst>
            </a:prstGeom>
            <a:noFill/>
            <a:ln w="28575" cap="flat" cmpd="sng">
              <a:solidFill>
                <a:schemeClr val="bg2"/>
              </a:solidFill>
              <a:prstDash val="solid"/>
              <a:miter/>
              <a:headEnd type="none" w="med" len="med"/>
              <a:tailEnd type="none" w="med" len="med"/>
            </a:ln>
          </p:spPr>
          <p:txBody>
            <a:bodyPr rot="10800000" vert="eaVert" wrap="none" anchor="ctr" anchorCtr="0"/>
            <a:lstStyle/>
            <a:p>
              <a:endParaRPr lang="zh-CN" altLang="en-US" dirty="0">
                <a:latin typeface="Times New Roman" panose="02020603050405020304" pitchFamily="18" charset="0"/>
              </a:endParaRPr>
            </a:p>
          </p:txBody>
        </p:sp>
        <p:sp>
          <p:nvSpPr>
            <p:cNvPr id="41993" name="Line 7"/>
            <p:cNvSpPr/>
            <p:nvPr/>
          </p:nvSpPr>
          <p:spPr>
            <a:xfrm>
              <a:off x="1190" y="2180"/>
              <a:ext cx="240" cy="0"/>
            </a:xfrm>
            <a:prstGeom prst="line">
              <a:avLst/>
            </a:prstGeom>
            <a:ln w="28575" cap="flat" cmpd="sng">
              <a:solidFill>
                <a:schemeClr val="bg2"/>
              </a:solidFill>
              <a:prstDash val="solid"/>
              <a:headEnd type="none" w="med" len="med"/>
              <a:tailEnd type="none" w="med" len="med"/>
            </a:ln>
          </p:spPr>
        </p:sp>
        <p:sp>
          <p:nvSpPr>
            <p:cNvPr id="41994" name="Line 8"/>
            <p:cNvSpPr/>
            <p:nvPr/>
          </p:nvSpPr>
          <p:spPr>
            <a:xfrm>
              <a:off x="1190" y="2756"/>
              <a:ext cx="240" cy="0"/>
            </a:xfrm>
            <a:prstGeom prst="line">
              <a:avLst/>
            </a:prstGeom>
            <a:ln w="28575" cap="flat" cmpd="sng">
              <a:solidFill>
                <a:schemeClr val="bg2"/>
              </a:solidFill>
              <a:prstDash val="solid"/>
              <a:headEnd type="none" w="med" len="med"/>
              <a:tailEnd type="none" w="med" len="med"/>
            </a:ln>
          </p:spPr>
        </p:sp>
        <p:sp>
          <p:nvSpPr>
            <p:cNvPr id="41995" name="Line 9"/>
            <p:cNvSpPr/>
            <p:nvPr/>
          </p:nvSpPr>
          <p:spPr>
            <a:xfrm>
              <a:off x="1022" y="2452"/>
              <a:ext cx="336" cy="0"/>
            </a:xfrm>
            <a:prstGeom prst="line">
              <a:avLst/>
            </a:prstGeom>
            <a:ln w="28575" cap="flat" cmpd="sng">
              <a:solidFill>
                <a:schemeClr val="bg2"/>
              </a:solidFill>
              <a:prstDash val="solid"/>
              <a:headEnd type="none" w="med" len="med"/>
              <a:tailEnd type="none" w="med" len="med"/>
            </a:ln>
          </p:spPr>
        </p:sp>
        <p:sp>
          <p:nvSpPr>
            <p:cNvPr id="41996" name="Line 10"/>
            <p:cNvSpPr/>
            <p:nvPr/>
          </p:nvSpPr>
          <p:spPr>
            <a:xfrm>
              <a:off x="1030" y="2452"/>
              <a:ext cx="0" cy="624"/>
            </a:xfrm>
            <a:prstGeom prst="line">
              <a:avLst/>
            </a:prstGeom>
            <a:ln w="28575" cap="flat" cmpd="sng">
              <a:solidFill>
                <a:schemeClr val="bg2"/>
              </a:solidFill>
              <a:prstDash val="solid"/>
              <a:headEnd type="none" w="med" len="med"/>
              <a:tailEnd type="none" w="med" len="med"/>
            </a:ln>
          </p:spPr>
        </p:sp>
        <p:sp>
          <p:nvSpPr>
            <p:cNvPr id="41997" name="Oval 11"/>
            <p:cNvSpPr/>
            <p:nvPr/>
          </p:nvSpPr>
          <p:spPr>
            <a:xfrm>
              <a:off x="2050" y="2728"/>
              <a:ext cx="68" cy="68"/>
            </a:xfrm>
            <a:prstGeom prst="ellipse">
              <a:avLst/>
            </a:prstGeom>
            <a:noFill/>
            <a:ln w="28575" cap="flat" cmpd="sng">
              <a:solidFill>
                <a:schemeClr val="bg2"/>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41998" name="Line 12"/>
            <p:cNvSpPr/>
            <p:nvPr/>
          </p:nvSpPr>
          <p:spPr>
            <a:xfrm>
              <a:off x="1854" y="2560"/>
              <a:ext cx="144" cy="0"/>
            </a:xfrm>
            <a:prstGeom prst="line">
              <a:avLst/>
            </a:prstGeom>
            <a:ln w="28575" cap="flat" cmpd="sng">
              <a:solidFill>
                <a:schemeClr val="bg2"/>
              </a:solidFill>
              <a:prstDash val="solid"/>
              <a:headEnd type="none" w="med" len="med"/>
              <a:tailEnd type="none" w="med" len="med"/>
            </a:ln>
          </p:spPr>
        </p:sp>
        <p:sp>
          <p:nvSpPr>
            <p:cNvPr id="41999" name="Line 14"/>
            <p:cNvSpPr/>
            <p:nvPr/>
          </p:nvSpPr>
          <p:spPr>
            <a:xfrm>
              <a:off x="2054" y="2180"/>
              <a:ext cx="240" cy="0"/>
            </a:xfrm>
            <a:prstGeom prst="line">
              <a:avLst/>
            </a:prstGeom>
            <a:ln w="28575" cap="flat" cmpd="sng">
              <a:solidFill>
                <a:schemeClr val="bg2"/>
              </a:solidFill>
              <a:prstDash val="solid"/>
              <a:headEnd type="none" w="med" len="med"/>
              <a:tailEnd type="none" w="med" len="med"/>
            </a:ln>
          </p:spPr>
        </p:sp>
        <p:sp>
          <p:nvSpPr>
            <p:cNvPr id="42000" name="Rectangle 17"/>
            <p:cNvSpPr/>
            <p:nvPr/>
          </p:nvSpPr>
          <p:spPr>
            <a:xfrm>
              <a:off x="2726" y="2036"/>
              <a:ext cx="624" cy="864"/>
            </a:xfrm>
            <a:prstGeom prst="rect">
              <a:avLst/>
            </a:prstGeom>
            <a:noFill/>
            <a:ln w="28575" cap="flat" cmpd="sng">
              <a:solidFill>
                <a:schemeClr val="bg2"/>
              </a:solidFill>
              <a:prstDash val="solid"/>
              <a:miter/>
              <a:headEnd type="none" w="med" len="med"/>
              <a:tailEnd type="none" w="med" len="med"/>
            </a:ln>
          </p:spPr>
          <p:txBody>
            <a:bodyPr wrap="none"/>
            <a:lstStyle/>
            <a:p>
              <a:r>
                <a:rPr lang="en-US" altLang="zh-CN" sz="2400" dirty="0">
                  <a:latin typeface="Times New Roman" panose="02020603050405020304" pitchFamily="18" charset="0"/>
                </a:rPr>
                <a:t>J</a:t>
              </a:r>
              <a:r>
                <a:rPr lang="en-US" altLang="zh-CN" sz="1200" dirty="0">
                  <a:latin typeface="Times New Roman" panose="02020603050405020304" pitchFamily="18" charset="0"/>
                </a:rPr>
                <a:t>1</a:t>
              </a:r>
              <a:r>
                <a:rPr lang="en-US" altLang="zh-CN" sz="2400" dirty="0">
                  <a:latin typeface="Times New Roman" panose="02020603050405020304" pitchFamily="18" charset="0"/>
                </a:rPr>
                <a:t>    Q</a:t>
              </a:r>
              <a:r>
                <a:rPr lang="en-US" altLang="zh-CN" sz="1200" dirty="0">
                  <a:latin typeface="Times New Roman" panose="02020603050405020304" pitchFamily="18" charset="0"/>
                </a:rPr>
                <a:t>1</a:t>
              </a:r>
            </a:p>
            <a:p>
              <a:r>
                <a:rPr lang="en-US" altLang="zh-CN" sz="2400" dirty="0">
                  <a:latin typeface="Times New Roman" panose="02020603050405020304" pitchFamily="18" charset="0"/>
                </a:rPr>
                <a:t>  CP</a:t>
              </a:r>
              <a:r>
                <a:rPr lang="en-US" altLang="zh-CN" sz="1200" dirty="0">
                  <a:latin typeface="Times New Roman" panose="02020603050405020304" pitchFamily="18" charset="0"/>
                </a:rPr>
                <a:t>1</a:t>
              </a:r>
            </a:p>
            <a:p>
              <a:r>
                <a:rPr lang="en-US" altLang="zh-CN" sz="2400" dirty="0">
                  <a:latin typeface="Times New Roman" panose="02020603050405020304" pitchFamily="18" charset="0"/>
                </a:rPr>
                <a:t>K</a:t>
              </a:r>
              <a:r>
                <a:rPr lang="en-US" altLang="zh-CN" sz="1200" dirty="0">
                  <a:latin typeface="Times New Roman" panose="02020603050405020304" pitchFamily="18" charset="0"/>
                </a:rPr>
                <a:t>1</a:t>
              </a:r>
              <a:r>
                <a:rPr lang="en-US" altLang="zh-CN" sz="2400" dirty="0">
                  <a:latin typeface="Times New Roman" panose="02020603050405020304" pitchFamily="18" charset="0"/>
                </a:rPr>
                <a:t>   Q</a:t>
              </a:r>
              <a:r>
                <a:rPr lang="en-US" altLang="zh-CN" sz="1200" dirty="0">
                  <a:latin typeface="Times New Roman" panose="02020603050405020304" pitchFamily="18" charset="0"/>
                </a:rPr>
                <a:t>1</a:t>
              </a:r>
            </a:p>
          </p:txBody>
        </p:sp>
        <p:sp>
          <p:nvSpPr>
            <p:cNvPr id="42001" name="Oval 18"/>
            <p:cNvSpPr/>
            <p:nvPr/>
          </p:nvSpPr>
          <p:spPr>
            <a:xfrm>
              <a:off x="2653" y="2420"/>
              <a:ext cx="68" cy="68"/>
            </a:xfrm>
            <a:prstGeom prst="ellipse">
              <a:avLst/>
            </a:prstGeom>
            <a:noFill/>
            <a:ln w="28575" cap="flat" cmpd="sng">
              <a:solidFill>
                <a:schemeClr val="bg2"/>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42002" name="AutoShape 19"/>
            <p:cNvSpPr/>
            <p:nvPr/>
          </p:nvSpPr>
          <p:spPr>
            <a:xfrm rot="5400000">
              <a:off x="2726" y="2412"/>
              <a:ext cx="96" cy="96"/>
            </a:xfrm>
            <a:prstGeom prst="triangle">
              <a:avLst>
                <a:gd name="adj" fmla="val 50000"/>
              </a:avLst>
            </a:prstGeom>
            <a:noFill/>
            <a:ln w="28575" cap="flat" cmpd="sng">
              <a:solidFill>
                <a:schemeClr val="bg2"/>
              </a:solidFill>
              <a:prstDash val="solid"/>
              <a:miter/>
              <a:headEnd type="none" w="med" len="med"/>
              <a:tailEnd type="none" w="med" len="med"/>
            </a:ln>
          </p:spPr>
          <p:txBody>
            <a:bodyPr rot="10800000" vert="eaVert" wrap="none" anchor="ctr" anchorCtr="0"/>
            <a:lstStyle/>
            <a:p>
              <a:endParaRPr lang="zh-CN" altLang="en-US" dirty="0">
                <a:latin typeface="Times New Roman" panose="02020603050405020304" pitchFamily="18" charset="0"/>
              </a:endParaRPr>
            </a:p>
          </p:txBody>
        </p:sp>
        <p:sp>
          <p:nvSpPr>
            <p:cNvPr id="42003" name="Line 20"/>
            <p:cNvSpPr/>
            <p:nvPr/>
          </p:nvSpPr>
          <p:spPr>
            <a:xfrm>
              <a:off x="2486" y="2180"/>
              <a:ext cx="240" cy="0"/>
            </a:xfrm>
            <a:prstGeom prst="line">
              <a:avLst/>
            </a:prstGeom>
            <a:ln w="28575" cap="flat" cmpd="sng">
              <a:solidFill>
                <a:schemeClr val="bg2"/>
              </a:solidFill>
              <a:prstDash val="solid"/>
              <a:headEnd type="none" w="med" len="med"/>
              <a:tailEnd type="none" w="med" len="med"/>
            </a:ln>
          </p:spPr>
        </p:sp>
        <p:sp>
          <p:nvSpPr>
            <p:cNvPr id="42004" name="Line 21"/>
            <p:cNvSpPr/>
            <p:nvPr/>
          </p:nvSpPr>
          <p:spPr>
            <a:xfrm>
              <a:off x="2486" y="2756"/>
              <a:ext cx="240" cy="0"/>
            </a:xfrm>
            <a:prstGeom prst="line">
              <a:avLst/>
            </a:prstGeom>
            <a:ln w="28575" cap="flat" cmpd="sng">
              <a:solidFill>
                <a:schemeClr val="bg2"/>
              </a:solidFill>
              <a:prstDash val="solid"/>
              <a:headEnd type="none" w="med" len="med"/>
              <a:tailEnd type="none" w="med" len="med"/>
            </a:ln>
          </p:spPr>
        </p:sp>
        <p:sp>
          <p:nvSpPr>
            <p:cNvPr id="42005" name="Line 22"/>
            <p:cNvSpPr/>
            <p:nvPr/>
          </p:nvSpPr>
          <p:spPr>
            <a:xfrm>
              <a:off x="2318" y="2452"/>
              <a:ext cx="336" cy="0"/>
            </a:xfrm>
            <a:prstGeom prst="line">
              <a:avLst/>
            </a:prstGeom>
            <a:ln w="28575" cap="flat" cmpd="sng">
              <a:solidFill>
                <a:schemeClr val="bg2"/>
              </a:solidFill>
              <a:prstDash val="solid"/>
              <a:headEnd type="none" w="med" len="med"/>
              <a:tailEnd type="none" w="med" len="med"/>
            </a:ln>
          </p:spPr>
        </p:sp>
        <p:sp>
          <p:nvSpPr>
            <p:cNvPr id="42006" name="Line 23"/>
            <p:cNvSpPr/>
            <p:nvPr/>
          </p:nvSpPr>
          <p:spPr>
            <a:xfrm>
              <a:off x="2326" y="2452"/>
              <a:ext cx="0" cy="624"/>
            </a:xfrm>
            <a:prstGeom prst="line">
              <a:avLst/>
            </a:prstGeom>
            <a:ln w="28575" cap="flat" cmpd="sng">
              <a:solidFill>
                <a:schemeClr val="bg2"/>
              </a:solidFill>
              <a:prstDash val="solid"/>
              <a:headEnd type="none" w="med" len="med"/>
              <a:tailEnd type="none" w="med" len="med"/>
            </a:ln>
          </p:spPr>
        </p:sp>
        <p:sp>
          <p:nvSpPr>
            <p:cNvPr id="42007" name="Oval 24"/>
            <p:cNvSpPr/>
            <p:nvPr/>
          </p:nvSpPr>
          <p:spPr>
            <a:xfrm>
              <a:off x="3346" y="2728"/>
              <a:ext cx="68" cy="68"/>
            </a:xfrm>
            <a:prstGeom prst="ellipse">
              <a:avLst/>
            </a:prstGeom>
            <a:noFill/>
            <a:ln w="28575" cap="flat" cmpd="sng">
              <a:solidFill>
                <a:schemeClr val="bg2"/>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42008" name="Line 25"/>
            <p:cNvSpPr/>
            <p:nvPr/>
          </p:nvSpPr>
          <p:spPr>
            <a:xfrm>
              <a:off x="3150" y="2570"/>
              <a:ext cx="144" cy="0"/>
            </a:xfrm>
            <a:prstGeom prst="line">
              <a:avLst/>
            </a:prstGeom>
            <a:ln w="28575" cap="flat" cmpd="sng">
              <a:solidFill>
                <a:schemeClr val="bg2"/>
              </a:solidFill>
              <a:prstDash val="solid"/>
              <a:headEnd type="none" w="med" len="med"/>
              <a:tailEnd type="none" w="med" len="med"/>
            </a:ln>
          </p:spPr>
        </p:sp>
        <p:sp>
          <p:nvSpPr>
            <p:cNvPr id="42009" name="Line 26"/>
            <p:cNvSpPr/>
            <p:nvPr/>
          </p:nvSpPr>
          <p:spPr>
            <a:xfrm>
              <a:off x="3350" y="2180"/>
              <a:ext cx="240" cy="0"/>
            </a:xfrm>
            <a:prstGeom prst="line">
              <a:avLst/>
            </a:prstGeom>
            <a:ln w="28575" cap="flat" cmpd="sng">
              <a:solidFill>
                <a:schemeClr val="bg2"/>
              </a:solidFill>
              <a:prstDash val="solid"/>
              <a:headEnd type="none" w="med" len="med"/>
              <a:tailEnd type="none" w="med" len="med"/>
            </a:ln>
          </p:spPr>
        </p:sp>
        <p:sp>
          <p:nvSpPr>
            <p:cNvPr id="42010" name="Rectangle 28"/>
            <p:cNvSpPr/>
            <p:nvPr/>
          </p:nvSpPr>
          <p:spPr>
            <a:xfrm>
              <a:off x="4094" y="2036"/>
              <a:ext cx="624" cy="864"/>
            </a:xfrm>
            <a:prstGeom prst="rect">
              <a:avLst/>
            </a:prstGeom>
            <a:noFill/>
            <a:ln w="28575" cap="flat" cmpd="sng">
              <a:solidFill>
                <a:schemeClr val="bg2"/>
              </a:solidFill>
              <a:prstDash val="solid"/>
              <a:miter/>
              <a:headEnd type="none" w="med" len="med"/>
              <a:tailEnd type="none" w="med" len="med"/>
            </a:ln>
          </p:spPr>
          <p:txBody>
            <a:bodyPr wrap="none"/>
            <a:lstStyle/>
            <a:p>
              <a:r>
                <a:rPr lang="en-US" altLang="zh-CN" sz="2400" dirty="0">
                  <a:latin typeface="Times New Roman" panose="02020603050405020304" pitchFamily="18" charset="0"/>
                </a:rPr>
                <a:t>J</a:t>
              </a:r>
              <a:r>
                <a:rPr lang="en-US" altLang="zh-CN" sz="1200" dirty="0">
                  <a:latin typeface="Times New Roman" panose="02020603050405020304" pitchFamily="18" charset="0"/>
                </a:rPr>
                <a:t>2</a:t>
              </a:r>
              <a:r>
                <a:rPr lang="en-US" altLang="zh-CN" sz="2400" dirty="0">
                  <a:latin typeface="Times New Roman" panose="02020603050405020304" pitchFamily="18" charset="0"/>
                </a:rPr>
                <a:t>    Q</a:t>
              </a:r>
              <a:r>
                <a:rPr lang="en-US" altLang="zh-CN" sz="1200" dirty="0">
                  <a:latin typeface="Times New Roman" panose="02020603050405020304" pitchFamily="18" charset="0"/>
                </a:rPr>
                <a:t>2</a:t>
              </a:r>
            </a:p>
            <a:p>
              <a:r>
                <a:rPr lang="en-US" altLang="zh-CN" sz="2400" dirty="0">
                  <a:latin typeface="Times New Roman" panose="02020603050405020304" pitchFamily="18" charset="0"/>
                </a:rPr>
                <a:t>  CP</a:t>
              </a:r>
              <a:r>
                <a:rPr lang="en-US" altLang="zh-CN" sz="1200" dirty="0">
                  <a:latin typeface="Times New Roman" panose="02020603050405020304" pitchFamily="18" charset="0"/>
                </a:rPr>
                <a:t>2</a:t>
              </a:r>
            </a:p>
            <a:p>
              <a:r>
                <a:rPr lang="en-US" altLang="zh-CN" sz="2400" dirty="0">
                  <a:latin typeface="Times New Roman" panose="02020603050405020304" pitchFamily="18" charset="0"/>
                </a:rPr>
                <a:t>K</a:t>
              </a:r>
              <a:r>
                <a:rPr lang="en-US" altLang="zh-CN" sz="1200" dirty="0">
                  <a:latin typeface="Times New Roman" panose="02020603050405020304" pitchFamily="18" charset="0"/>
                </a:rPr>
                <a:t>2</a:t>
              </a:r>
              <a:r>
                <a:rPr lang="en-US" altLang="zh-CN" sz="2400" dirty="0">
                  <a:latin typeface="Times New Roman" panose="02020603050405020304" pitchFamily="18" charset="0"/>
                </a:rPr>
                <a:t>   Q</a:t>
              </a:r>
              <a:r>
                <a:rPr lang="en-US" altLang="zh-CN" sz="1200" dirty="0">
                  <a:latin typeface="Times New Roman" panose="02020603050405020304" pitchFamily="18" charset="0"/>
                </a:rPr>
                <a:t>2</a:t>
              </a:r>
            </a:p>
          </p:txBody>
        </p:sp>
        <p:sp>
          <p:nvSpPr>
            <p:cNvPr id="42011" name="Oval 29"/>
            <p:cNvSpPr/>
            <p:nvPr/>
          </p:nvSpPr>
          <p:spPr>
            <a:xfrm>
              <a:off x="4021" y="2420"/>
              <a:ext cx="68" cy="68"/>
            </a:xfrm>
            <a:prstGeom prst="ellipse">
              <a:avLst/>
            </a:prstGeom>
            <a:noFill/>
            <a:ln w="28575" cap="flat" cmpd="sng">
              <a:solidFill>
                <a:schemeClr val="bg2"/>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42012" name="AutoShape 30"/>
            <p:cNvSpPr/>
            <p:nvPr/>
          </p:nvSpPr>
          <p:spPr>
            <a:xfrm rot="5400000">
              <a:off x="4094" y="2412"/>
              <a:ext cx="96" cy="96"/>
            </a:xfrm>
            <a:prstGeom prst="triangle">
              <a:avLst>
                <a:gd name="adj" fmla="val 50000"/>
              </a:avLst>
            </a:prstGeom>
            <a:noFill/>
            <a:ln w="28575" cap="flat" cmpd="sng">
              <a:solidFill>
                <a:schemeClr val="bg2"/>
              </a:solidFill>
              <a:prstDash val="solid"/>
              <a:miter/>
              <a:headEnd type="none" w="med" len="med"/>
              <a:tailEnd type="none" w="med" len="med"/>
            </a:ln>
          </p:spPr>
          <p:txBody>
            <a:bodyPr rot="10800000" vert="eaVert" wrap="none" anchor="ctr" anchorCtr="0"/>
            <a:lstStyle/>
            <a:p>
              <a:endParaRPr lang="zh-CN" altLang="en-US" dirty="0">
                <a:latin typeface="Times New Roman" panose="02020603050405020304" pitchFamily="18" charset="0"/>
              </a:endParaRPr>
            </a:p>
          </p:txBody>
        </p:sp>
        <p:sp>
          <p:nvSpPr>
            <p:cNvPr id="42013" name="Line 31"/>
            <p:cNvSpPr/>
            <p:nvPr/>
          </p:nvSpPr>
          <p:spPr>
            <a:xfrm>
              <a:off x="3854" y="2180"/>
              <a:ext cx="240" cy="0"/>
            </a:xfrm>
            <a:prstGeom prst="line">
              <a:avLst/>
            </a:prstGeom>
            <a:ln w="28575" cap="flat" cmpd="sng">
              <a:solidFill>
                <a:schemeClr val="bg2"/>
              </a:solidFill>
              <a:prstDash val="solid"/>
              <a:headEnd type="none" w="med" len="med"/>
              <a:tailEnd type="none" w="med" len="med"/>
            </a:ln>
          </p:spPr>
        </p:sp>
        <p:sp>
          <p:nvSpPr>
            <p:cNvPr id="42014" name="Line 32"/>
            <p:cNvSpPr/>
            <p:nvPr/>
          </p:nvSpPr>
          <p:spPr>
            <a:xfrm>
              <a:off x="3854" y="2756"/>
              <a:ext cx="240" cy="0"/>
            </a:xfrm>
            <a:prstGeom prst="line">
              <a:avLst/>
            </a:prstGeom>
            <a:ln w="28575" cap="flat" cmpd="sng">
              <a:solidFill>
                <a:schemeClr val="bg2"/>
              </a:solidFill>
              <a:prstDash val="solid"/>
              <a:headEnd type="none" w="med" len="med"/>
              <a:tailEnd type="none" w="med" len="med"/>
            </a:ln>
          </p:spPr>
        </p:sp>
        <p:sp>
          <p:nvSpPr>
            <p:cNvPr id="42015" name="Line 33"/>
            <p:cNvSpPr/>
            <p:nvPr/>
          </p:nvSpPr>
          <p:spPr>
            <a:xfrm>
              <a:off x="3686" y="2452"/>
              <a:ext cx="336" cy="0"/>
            </a:xfrm>
            <a:prstGeom prst="line">
              <a:avLst/>
            </a:prstGeom>
            <a:ln w="28575" cap="flat" cmpd="sng">
              <a:solidFill>
                <a:schemeClr val="bg2"/>
              </a:solidFill>
              <a:prstDash val="solid"/>
              <a:headEnd type="none" w="med" len="med"/>
              <a:tailEnd type="none" w="med" len="med"/>
            </a:ln>
          </p:spPr>
        </p:sp>
        <p:sp>
          <p:nvSpPr>
            <p:cNvPr id="42016" name="Line 34"/>
            <p:cNvSpPr/>
            <p:nvPr/>
          </p:nvSpPr>
          <p:spPr>
            <a:xfrm>
              <a:off x="3694" y="2452"/>
              <a:ext cx="0" cy="624"/>
            </a:xfrm>
            <a:prstGeom prst="line">
              <a:avLst/>
            </a:prstGeom>
            <a:ln w="28575" cap="flat" cmpd="sng">
              <a:solidFill>
                <a:schemeClr val="bg2"/>
              </a:solidFill>
              <a:prstDash val="solid"/>
              <a:headEnd type="none" w="med" len="med"/>
              <a:tailEnd type="none" w="med" len="med"/>
            </a:ln>
          </p:spPr>
        </p:sp>
        <p:sp>
          <p:nvSpPr>
            <p:cNvPr id="42017" name="Oval 35"/>
            <p:cNvSpPr/>
            <p:nvPr/>
          </p:nvSpPr>
          <p:spPr>
            <a:xfrm>
              <a:off x="4714" y="2728"/>
              <a:ext cx="68" cy="68"/>
            </a:xfrm>
            <a:prstGeom prst="ellipse">
              <a:avLst/>
            </a:prstGeom>
            <a:noFill/>
            <a:ln w="28575" cap="flat" cmpd="sng">
              <a:solidFill>
                <a:schemeClr val="bg2"/>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42018" name="Line 36"/>
            <p:cNvSpPr/>
            <p:nvPr/>
          </p:nvSpPr>
          <p:spPr>
            <a:xfrm>
              <a:off x="4510" y="2560"/>
              <a:ext cx="144" cy="0"/>
            </a:xfrm>
            <a:prstGeom prst="line">
              <a:avLst/>
            </a:prstGeom>
            <a:ln w="28575" cap="flat" cmpd="sng">
              <a:solidFill>
                <a:schemeClr val="bg2"/>
              </a:solidFill>
              <a:prstDash val="solid"/>
              <a:headEnd type="none" w="med" len="med"/>
              <a:tailEnd type="none" w="med" len="med"/>
            </a:ln>
          </p:spPr>
        </p:sp>
        <p:sp>
          <p:nvSpPr>
            <p:cNvPr id="42019" name="Line 37"/>
            <p:cNvSpPr/>
            <p:nvPr/>
          </p:nvSpPr>
          <p:spPr>
            <a:xfrm>
              <a:off x="4718" y="2180"/>
              <a:ext cx="240" cy="0"/>
            </a:xfrm>
            <a:prstGeom prst="line">
              <a:avLst/>
            </a:prstGeom>
            <a:ln w="28575" cap="flat" cmpd="sng">
              <a:solidFill>
                <a:schemeClr val="bg2"/>
              </a:solidFill>
              <a:prstDash val="solid"/>
              <a:headEnd type="none" w="med" len="med"/>
              <a:tailEnd type="none" w="med" len="med"/>
            </a:ln>
          </p:spPr>
        </p:sp>
        <p:sp>
          <p:nvSpPr>
            <p:cNvPr id="42020" name="Line 38"/>
            <p:cNvSpPr/>
            <p:nvPr/>
          </p:nvSpPr>
          <p:spPr>
            <a:xfrm>
              <a:off x="630" y="3084"/>
              <a:ext cx="3072" cy="0"/>
            </a:xfrm>
            <a:prstGeom prst="line">
              <a:avLst/>
            </a:prstGeom>
            <a:ln w="28575" cap="flat" cmpd="sng">
              <a:solidFill>
                <a:schemeClr val="bg2"/>
              </a:solidFill>
              <a:prstDash val="solid"/>
              <a:headEnd type="none" w="med" len="med"/>
              <a:tailEnd type="none" w="med" len="med"/>
            </a:ln>
          </p:spPr>
        </p:sp>
        <p:sp>
          <p:nvSpPr>
            <p:cNvPr id="42021" name="Oval 39"/>
            <p:cNvSpPr/>
            <p:nvPr/>
          </p:nvSpPr>
          <p:spPr>
            <a:xfrm>
              <a:off x="1013" y="3067"/>
              <a:ext cx="41" cy="41"/>
            </a:xfrm>
            <a:prstGeom prst="ellipse">
              <a:avLst/>
            </a:prstGeom>
            <a:solidFill>
              <a:schemeClr val="bg2"/>
            </a:solidFill>
            <a:ln w="28575" cap="flat" cmpd="sng">
              <a:solidFill>
                <a:schemeClr val="bg2"/>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42022" name="Oval 40"/>
            <p:cNvSpPr/>
            <p:nvPr/>
          </p:nvSpPr>
          <p:spPr>
            <a:xfrm>
              <a:off x="2309" y="3067"/>
              <a:ext cx="41" cy="41"/>
            </a:xfrm>
            <a:prstGeom prst="ellipse">
              <a:avLst/>
            </a:prstGeom>
            <a:solidFill>
              <a:schemeClr val="bg2"/>
            </a:solidFill>
            <a:ln w="28575" cap="flat" cmpd="sng">
              <a:solidFill>
                <a:schemeClr val="bg2"/>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42023" name="Line 41"/>
            <p:cNvSpPr/>
            <p:nvPr/>
          </p:nvSpPr>
          <p:spPr>
            <a:xfrm>
              <a:off x="2198" y="2180"/>
              <a:ext cx="384" cy="0"/>
            </a:xfrm>
            <a:prstGeom prst="line">
              <a:avLst/>
            </a:prstGeom>
            <a:ln w="28575" cap="flat" cmpd="sng">
              <a:solidFill>
                <a:schemeClr val="bg2"/>
              </a:solidFill>
              <a:prstDash val="solid"/>
              <a:headEnd type="none" w="med" len="med"/>
              <a:tailEnd type="none" w="med" len="med"/>
            </a:ln>
          </p:spPr>
        </p:sp>
        <p:sp>
          <p:nvSpPr>
            <p:cNvPr id="42024" name="Line 42"/>
            <p:cNvSpPr/>
            <p:nvPr/>
          </p:nvSpPr>
          <p:spPr>
            <a:xfrm>
              <a:off x="806" y="2180"/>
              <a:ext cx="384" cy="0"/>
            </a:xfrm>
            <a:prstGeom prst="line">
              <a:avLst/>
            </a:prstGeom>
            <a:ln w="28575" cap="flat" cmpd="sng">
              <a:solidFill>
                <a:schemeClr val="bg2"/>
              </a:solidFill>
              <a:prstDash val="solid"/>
              <a:headEnd type="none" w="med" len="med"/>
              <a:tailEnd type="none" w="med" len="med"/>
            </a:ln>
          </p:spPr>
        </p:sp>
        <p:sp>
          <p:nvSpPr>
            <p:cNvPr id="42025" name="Line 43"/>
            <p:cNvSpPr/>
            <p:nvPr/>
          </p:nvSpPr>
          <p:spPr>
            <a:xfrm flipV="1">
              <a:off x="2486" y="1604"/>
              <a:ext cx="0" cy="1152"/>
            </a:xfrm>
            <a:prstGeom prst="line">
              <a:avLst/>
            </a:prstGeom>
            <a:ln w="28575" cap="flat" cmpd="sng">
              <a:solidFill>
                <a:schemeClr val="bg2"/>
              </a:solidFill>
              <a:prstDash val="solid"/>
              <a:headEnd type="none" w="med" len="med"/>
              <a:tailEnd type="none" w="med" len="med"/>
            </a:ln>
          </p:spPr>
        </p:sp>
        <p:sp>
          <p:nvSpPr>
            <p:cNvPr id="42026" name="Oval 44"/>
            <p:cNvSpPr/>
            <p:nvPr/>
          </p:nvSpPr>
          <p:spPr>
            <a:xfrm>
              <a:off x="2462" y="2156"/>
              <a:ext cx="41" cy="41"/>
            </a:xfrm>
            <a:prstGeom prst="ellipse">
              <a:avLst/>
            </a:prstGeom>
            <a:solidFill>
              <a:schemeClr val="bg2"/>
            </a:solidFill>
            <a:ln w="28575" cap="flat" cmpd="sng">
              <a:solidFill>
                <a:schemeClr val="bg2"/>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42027" name="Line 45"/>
            <p:cNvSpPr/>
            <p:nvPr/>
          </p:nvSpPr>
          <p:spPr>
            <a:xfrm flipV="1">
              <a:off x="3838" y="1668"/>
              <a:ext cx="0" cy="1084"/>
            </a:xfrm>
            <a:prstGeom prst="line">
              <a:avLst/>
            </a:prstGeom>
            <a:ln w="28575" cap="flat" cmpd="sng">
              <a:solidFill>
                <a:schemeClr val="bg2"/>
              </a:solidFill>
              <a:prstDash val="solid"/>
              <a:headEnd type="none" w="med" len="med"/>
              <a:tailEnd type="none" w="med" len="med"/>
            </a:ln>
          </p:spPr>
        </p:sp>
        <p:sp>
          <p:nvSpPr>
            <p:cNvPr id="42028" name="Oval 46"/>
            <p:cNvSpPr/>
            <p:nvPr/>
          </p:nvSpPr>
          <p:spPr>
            <a:xfrm>
              <a:off x="3821" y="1636"/>
              <a:ext cx="41" cy="41"/>
            </a:xfrm>
            <a:prstGeom prst="ellipse">
              <a:avLst/>
            </a:prstGeom>
            <a:solidFill>
              <a:schemeClr val="bg2"/>
            </a:solidFill>
            <a:ln w="28575" cap="flat" cmpd="sng">
              <a:solidFill>
                <a:schemeClr val="bg2"/>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42029" name="Rectangle 47"/>
            <p:cNvSpPr/>
            <p:nvPr/>
          </p:nvSpPr>
          <p:spPr>
            <a:xfrm>
              <a:off x="2822" y="1476"/>
              <a:ext cx="288" cy="368"/>
            </a:xfrm>
            <a:prstGeom prst="rect">
              <a:avLst/>
            </a:prstGeom>
            <a:noFill/>
            <a:ln w="28575" cap="flat" cmpd="sng">
              <a:solidFill>
                <a:schemeClr val="bg2"/>
              </a:solidFill>
              <a:prstDash val="solid"/>
              <a:miter/>
              <a:headEnd type="none" w="med" len="med"/>
              <a:tailEnd type="none" w="med" len="med"/>
            </a:ln>
          </p:spPr>
          <p:txBody>
            <a:bodyPr wrap="none"/>
            <a:lstStyle/>
            <a:p>
              <a:r>
                <a:rPr lang="zh-CN" altLang="en-US" sz="2000" dirty="0">
                  <a:latin typeface="Times New Roman" panose="02020603050405020304" pitchFamily="18" charset="0"/>
                </a:rPr>
                <a:t>&amp;</a:t>
              </a:r>
            </a:p>
          </p:txBody>
        </p:sp>
        <p:sp>
          <p:nvSpPr>
            <p:cNvPr id="42030" name="Line 48"/>
            <p:cNvSpPr/>
            <p:nvPr/>
          </p:nvSpPr>
          <p:spPr>
            <a:xfrm flipV="1">
              <a:off x="3590" y="1940"/>
              <a:ext cx="0" cy="240"/>
            </a:xfrm>
            <a:prstGeom prst="line">
              <a:avLst/>
            </a:prstGeom>
            <a:ln w="28575" cap="flat" cmpd="sng">
              <a:solidFill>
                <a:schemeClr val="bg2"/>
              </a:solidFill>
              <a:prstDash val="solid"/>
              <a:headEnd type="none" w="med" len="med"/>
              <a:tailEnd type="none" w="med" len="med"/>
            </a:ln>
          </p:spPr>
        </p:sp>
        <p:sp>
          <p:nvSpPr>
            <p:cNvPr id="42031" name="Line 49"/>
            <p:cNvSpPr/>
            <p:nvPr/>
          </p:nvSpPr>
          <p:spPr>
            <a:xfrm flipH="1">
              <a:off x="2678" y="1940"/>
              <a:ext cx="912" cy="0"/>
            </a:xfrm>
            <a:prstGeom prst="line">
              <a:avLst/>
            </a:prstGeom>
            <a:ln w="28575" cap="flat" cmpd="sng">
              <a:solidFill>
                <a:schemeClr val="bg2"/>
              </a:solidFill>
              <a:prstDash val="solid"/>
              <a:headEnd type="none" w="med" len="med"/>
              <a:tailEnd type="none" w="med" len="med"/>
            </a:ln>
          </p:spPr>
        </p:sp>
        <p:sp>
          <p:nvSpPr>
            <p:cNvPr id="42032" name="Line 50"/>
            <p:cNvSpPr/>
            <p:nvPr/>
          </p:nvSpPr>
          <p:spPr>
            <a:xfrm flipV="1">
              <a:off x="2678" y="1740"/>
              <a:ext cx="0" cy="192"/>
            </a:xfrm>
            <a:prstGeom prst="line">
              <a:avLst/>
            </a:prstGeom>
            <a:ln w="28575" cap="flat" cmpd="sng">
              <a:solidFill>
                <a:schemeClr val="bg2"/>
              </a:solidFill>
              <a:prstDash val="solid"/>
              <a:headEnd type="none" w="med" len="med"/>
              <a:tailEnd type="none" w="med" len="med"/>
            </a:ln>
          </p:spPr>
        </p:sp>
        <p:sp>
          <p:nvSpPr>
            <p:cNvPr id="42033" name="Line 51"/>
            <p:cNvSpPr/>
            <p:nvPr/>
          </p:nvSpPr>
          <p:spPr>
            <a:xfrm>
              <a:off x="2670" y="1740"/>
              <a:ext cx="147" cy="0"/>
            </a:xfrm>
            <a:prstGeom prst="line">
              <a:avLst/>
            </a:prstGeom>
            <a:ln w="28575" cap="flat" cmpd="sng">
              <a:solidFill>
                <a:schemeClr val="bg2"/>
              </a:solidFill>
              <a:prstDash val="solid"/>
              <a:headEnd type="none" w="med" len="med"/>
              <a:tailEnd type="none" w="med" len="med"/>
            </a:ln>
          </p:spPr>
        </p:sp>
        <p:sp>
          <p:nvSpPr>
            <p:cNvPr id="42034" name="Line 52"/>
            <p:cNvSpPr/>
            <p:nvPr/>
          </p:nvSpPr>
          <p:spPr>
            <a:xfrm>
              <a:off x="2486" y="1604"/>
              <a:ext cx="336" cy="0"/>
            </a:xfrm>
            <a:prstGeom prst="line">
              <a:avLst/>
            </a:prstGeom>
            <a:ln w="28575" cap="flat" cmpd="sng">
              <a:solidFill>
                <a:schemeClr val="bg2"/>
              </a:solidFill>
              <a:prstDash val="solid"/>
              <a:headEnd type="none" w="med" len="med"/>
              <a:tailEnd type="none" w="med" len="med"/>
            </a:ln>
          </p:spPr>
        </p:sp>
        <p:sp>
          <p:nvSpPr>
            <p:cNvPr id="42035" name="Line 54"/>
            <p:cNvSpPr/>
            <p:nvPr/>
          </p:nvSpPr>
          <p:spPr>
            <a:xfrm>
              <a:off x="3110" y="1652"/>
              <a:ext cx="1248" cy="0"/>
            </a:xfrm>
            <a:prstGeom prst="line">
              <a:avLst/>
            </a:prstGeom>
            <a:ln w="28575" cap="flat" cmpd="sng">
              <a:solidFill>
                <a:schemeClr val="bg2"/>
              </a:solidFill>
              <a:prstDash val="solid"/>
              <a:headEnd type="none" w="med" len="med"/>
              <a:tailEnd type="none" w="med" len="med"/>
            </a:ln>
          </p:spPr>
        </p:sp>
        <p:sp>
          <p:nvSpPr>
            <p:cNvPr id="42036" name="Rectangle 55"/>
            <p:cNvSpPr/>
            <p:nvPr/>
          </p:nvSpPr>
          <p:spPr>
            <a:xfrm>
              <a:off x="4358" y="1524"/>
              <a:ext cx="288" cy="368"/>
            </a:xfrm>
            <a:prstGeom prst="rect">
              <a:avLst/>
            </a:prstGeom>
            <a:noFill/>
            <a:ln w="28575" cap="flat" cmpd="sng">
              <a:solidFill>
                <a:schemeClr val="bg2"/>
              </a:solidFill>
              <a:prstDash val="solid"/>
              <a:miter/>
              <a:headEnd type="none" w="med" len="med"/>
              <a:tailEnd type="none" w="med" len="med"/>
            </a:ln>
          </p:spPr>
          <p:txBody>
            <a:bodyPr wrap="none"/>
            <a:lstStyle/>
            <a:p>
              <a:r>
                <a:rPr lang="zh-CN" altLang="en-US" sz="2000" dirty="0">
                  <a:latin typeface="Times New Roman" panose="02020603050405020304" pitchFamily="18" charset="0"/>
                </a:rPr>
                <a:t>&amp;</a:t>
              </a:r>
            </a:p>
          </p:txBody>
        </p:sp>
        <p:sp>
          <p:nvSpPr>
            <p:cNvPr id="42037" name="Line 57"/>
            <p:cNvSpPr/>
            <p:nvPr/>
          </p:nvSpPr>
          <p:spPr>
            <a:xfrm>
              <a:off x="4646" y="1700"/>
              <a:ext cx="384" cy="0"/>
            </a:xfrm>
            <a:prstGeom prst="line">
              <a:avLst/>
            </a:prstGeom>
            <a:ln w="28575" cap="flat" cmpd="sng">
              <a:solidFill>
                <a:schemeClr val="bg2"/>
              </a:solidFill>
              <a:prstDash val="solid"/>
              <a:headEnd type="none" w="med" len="med"/>
              <a:tailEnd type="none" w="med" len="med"/>
            </a:ln>
          </p:spPr>
        </p:sp>
        <p:sp>
          <p:nvSpPr>
            <p:cNvPr id="42038" name="Rectangle 58"/>
            <p:cNvSpPr/>
            <p:nvPr/>
          </p:nvSpPr>
          <p:spPr>
            <a:xfrm>
              <a:off x="5078" y="1556"/>
              <a:ext cx="288" cy="368"/>
            </a:xfrm>
            <a:prstGeom prst="rect">
              <a:avLst/>
            </a:prstGeom>
            <a:noFill/>
            <a:ln w="28575">
              <a:noFill/>
            </a:ln>
          </p:spPr>
          <p:txBody>
            <a:bodyPr wrap="none"/>
            <a:lstStyle/>
            <a:p>
              <a:r>
                <a:rPr lang="en-US" altLang="zh-CN" sz="2000" dirty="0">
                  <a:latin typeface="Times New Roman" panose="02020603050405020304" pitchFamily="18" charset="0"/>
                </a:rPr>
                <a:t>C</a:t>
              </a:r>
            </a:p>
          </p:txBody>
        </p:sp>
        <p:sp>
          <p:nvSpPr>
            <p:cNvPr id="42039" name="Rectangle 59"/>
            <p:cNvSpPr/>
            <p:nvPr/>
          </p:nvSpPr>
          <p:spPr>
            <a:xfrm>
              <a:off x="326" y="2916"/>
              <a:ext cx="288" cy="368"/>
            </a:xfrm>
            <a:prstGeom prst="rect">
              <a:avLst/>
            </a:prstGeom>
            <a:noFill/>
            <a:ln w="28575">
              <a:noFill/>
            </a:ln>
          </p:spPr>
          <p:txBody>
            <a:bodyPr wrap="none"/>
            <a:lstStyle/>
            <a:p>
              <a:r>
                <a:rPr lang="en-US" altLang="zh-CN" sz="2000" dirty="0">
                  <a:latin typeface="Times New Roman" panose="02020603050405020304" pitchFamily="18" charset="0"/>
                </a:rPr>
                <a:t>CP</a:t>
              </a:r>
            </a:p>
          </p:txBody>
        </p:sp>
        <p:sp>
          <p:nvSpPr>
            <p:cNvPr id="42040" name="Line 60"/>
            <p:cNvSpPr/>
            <p:nvPr/>
          </p:nvSpPr>
          <p:spPr>
            <a:xfrm flipV="1">
              <a:off x="4950" y="1980"/>
              <a:ext cx="0" cy="192"/>
            </a:xfrm>
            <a:prstGeom prst="line">
              <a:avLst/>
            </a:prstGeom>
            <a:ln w="28575" cap="flat" cmpd="sng">
              <a:solidFill>
                <a:schemeClr val="bg2"/>
              </a:solidFill>
              <a:prstDash val="solid"/>
              <a:headEnd type="none" w="med" len="med"/>
              <a:tailEnd type="none" w="med" len="med"/>
            </a:ln>
          </p:spPr>
        </p:sp>
        <p:sp>
          <p:nvSpPr>
            <p:cNvPr id="42041" name="Line 61"/>
            <p:cNvSpPr/>
            <p:nvPr/>
          </p:nvSpPr>
          <p:spPr>
            <a:xfrm>
              <a:off x="4182" y="1956"/>
              <a:ext cx="768" cy="0"/>
            </a:xfrm>
            <a:prstGeom prst="line">
              <a:avLst/>
            </a:prstGeom>
            <a:ln w="28575" cap="flat" cmpd="sng">
              <a:solidFill>
                <a:schemeClr val="bg2"/>
              </a:solidFill>
              <a:prstDash val="solid"/>
              <a:headEnd type="none" w="med" len="med"/>
              <a:tailEnd type="none" w="med" len="med"/>
            </a:ln>
          </p:spPr>
        </p:sp>
        <p:sp>
          <p:nvSpPr>
            <p:cNvPr id="42042" name="Line 62"/>
            <p:cNvSpPr/>
            <p:nvPr/>
          </p:nvSpPr>
          <p:spPr>
            <a:xfrm flipV="1">
              <a:off x="4174" y="1756"/>
              <a:ext cx="0" cy="192"/>
            </a:xfrm>
            <a:prstGeom prst="line">
              <a:avLst/>
            </a:prstGeom>
            <a:ln w="28575" cap="flat" cmpd="sng">
              <a:solidFill>
                <a:schemeClr val="bg2"/>
              </a:solidFill>
              <a:prstDash val="solid"/>
              <a:headEnd type="none" w="med" len="med"/>
              <a:tailEnd type="none" w="med" len="med"/>
            </a:ln>
          </p:spPr>
        </p:sp>
        <p:sp>
          <p:nvSpPr>
            <p:cNvPr id="42043" name="Line 63"/>
            <p:cNvSpPr/>
            <p:nvPr/>
          </p:nvSpPr>
          <p:spPr>
            <a:xfrm>
              <a:off x="4166" y="1748"/>
              <a:ext cx="192" cy="0"/>
            </a:xfrm>
            <a:prstGeom prst="line">
              <a:avLst/>
            </a:prstGeom>
            <a:ln w="28575" cap="flat" cmpd="sng">
              <a:solidFill>
                <a:schemeClr val="bg2"/>
              </a:solidFill>
              <a:prstDash val="solid"/>
              <a:headEnd type="none" w="med" len="med"/>
              <a:tailEnd type="none" w="med" len="med"/>
            </a:ln>
          </p:spPr>
        </p:sp>
        <p:sp>
          <p:nvSpPr>
            <p:cNvPr id="42044" name="Oval 64"/>
            <p:cNvSpPr/>
            <p:nvPr/>
          </p:nvSpPr>
          <p:spPr>
            <a:xfrm>
              <a:off x="3822" y="2156"/>
              <a:ext cx="41" cy="41"/>
            </a:xfrm>
            <a:prstGeom prst="ellipse">
              <a:avLst/>
            </a:prstGeom>
            <a:solidFill>
              <a:schemeClr val="bg2"/>
            </a:solidFill>
            <a:ln w="28575" cap="flat" cmpd="sng">
              <a:solidFill>
                <a:schemeClr val="bg2"/>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nvGrpSpPr>
            <p:cNvPr id="42045" name="Group 79"/>
            <p:cNvGrpSpPr/>
            <p:nvPr/>
          </p:nvGrpSpPr>
          <p:grpSpPr>
            <a:xfrm>
              <a:off x="672" y="2432"/>
              <a:ext cx="3408" cy="632"/>
              <a:chOff x="672" y="2288"/>
              <a:chExt cx="3408" cy="632"/>
            </a:xfrm>
          </p:grpSpPr>
          <p:sp>
            <p:nvSpPr>
              <p:cNvPr id="42046" name="Line 69"/>
              <p:cNvSpPr/>
              <p:nvPr/>
            </p:nvSpPr>
            <p:spPr>
              <a:xfrm>
                <a:off x="1016" y="2288"/>
                <a:ext cx="384" cy="0"/>
              </a:xfrm>
              <a:prstGeom prst="line">
                <a:avLst/>
              </a:prstGeom>
              <a:ln w="28575" cap="flat" cmpd="sng">
                <a:solidFill>
                  <a:srgbClr val="FF0000"/>
                </a:solidFill>
                <a:prstDash val="solid"/>
                <a:headEnd type="none" w="med" len="med"/>
                <a:tailEnd type="triangle" w="med" len="med"/>
              </a:ln>
            </p:spPr>
          </p:sp>
          <p:sp>
            <p:nvSpPr>
              <p:cNvPr id="42047" name="Line 71"/>
              <p:cNvSpPr/>
              <p:nvPr/>
            </p:nvSpPr>
            <p:spPr>
              <a:xfrm>
                <a:off x="2312" y="2288"/>
                <a:ext cx="384" cy="0"/>
              </a:xfrm>
              <a:prstGeom prst="line">
                <a:avLst/>
              </a:prstGeom>
              <a:ln w="28575" cap="flat" cmpd="sng">
                <a:solidFill>
                  <a:srgbClr val="FF0000"/>
                </a:solidFill>
                <a:prstDash val="solid"/>
                <a:headEnd type="none" w="med" len="med"/>
                <a:tailEnd type="triangle" w="med" len="med"/>
              </a:ln>
            </p:spPr>
          </p:sp>
          <p:sp>
            <p:nvSpPr>
              <p:cNvPr id="42048" name="Line 72"/>
              <p:cNvSpPr/>
              <p:nvPr/>
            </p:nvSpPr>
            <p:spPr>
              <a:xfrm flipH="1" flipV="1">
                <a:off x="2328" y="2296"/>
                <a:ext cx="0" cy="576"/>
              </a:xfrm>
              <a:prstGeom prst="line">
                <a:avLst/>
              </a:prstGeom>
              <a:ln w="28575" cap="flat" cmpd="sng">
                <a:solidFill>
                  <a:srgbClr val="FF0000"/>
                </a:solidFill>
                <a:prstDash val="solid"/>
                <a:headEnd type="none" w="med" len="med"/>
                <a:tailEnd type="none" w="med" len="med"/>
              </a:ln>
            </p:spPr>
          </p:sp>
          <p:sp>
            <p:nvSpPr>
              <p:cNvPr id="42049" name="Line 75"/>
              <p:cNvSpPr/>
              <p:nvPr/>
            </p:nvSpPr>
            <p:spPr>
              <a:xfrm>
                <a:off x="3696" y="2288"/>
                <a:ext cx="384" cy="0"/>
              </a:xfrm>
              <a:prstGeom prst="line">
                <a:avLst/>
              </a:prstGeom>
              <a:ln w="28575" cap="flat" cmpd="sng">
                <a:solidFill>
                  <a:srgbClr val="FF0000"/>
                </a:solidFill>
                <a:prstDash val="solid"/>
                <a:headEnd type="none" w="med" len="med"/>
                <a:tailEnd type="triangle" w="med" len="med"/>
              </a:ln>
            </p:spPr>
          </p:sp>
          <p:sp>
            <p:nvSpPr>
              <p:cNvPr id="42050" name="Line 76"/>
              <p:cNvSpPr/>
              <p:nvPr/>
            </p:nvSpPr>
            <p:spPr>
              <a:xfrm flipV="1">
                <a:off x="3696" y="2288"/>
                <a:ext cx="8" cy="592"/>
              </a:xfrm>
              <a:prstGeom prst="line">
                <a:avLst/>
              </a:prstGeom>
              <a:ln w="28575" cap="flat" cmpd="sng">
                <a:solidFill>
                  <a:srgbClr val="FF0000"/>
                </a:solidFill>
                <a:prstDash val="solid"/>
                <a:headEnd type="none" w="med" len="med"/>
                <a:tailEnd type="none" w="med" len="med"/>
              </a:ln>
            </p:spPr>
          </p:sp>
          <p:sp>
            <p:nvSpPr>
              <p:cNvPr id="42051" name="Line 77"/>
              <p:cNvSpPr/>
              <p:nvPr/>
            </p:nvSpPr>
            <p:spPr>
              <a:xfrm>
                <a:off x="672" y="2920"/>
                <a:ext cx="3024" cy="0"/>
              </a:xfrm>
              <a:prstGeom prst="line">
                <a:avLst/>
              </a:prstGeom>
              <a:ln w="28575" cap="flat" cmpd="sng">
                <a:solidFill>
                  <a:srgbClr val="FF0000"/>
                </a:solidFill>
                <a:prstDash val="solid"/>
                <a:headEnd type="none" w="med" len="med"/>
                <a:tailEnd type="none" w="med" len="med"/>
              </a:ln>
            </p:spPr>
          </p:sp>
          <p:sp>
            <p:nvSpPr>
              <p:cNvPr id="42052" name="Line 78"/>
              <p:cNvSpPr/>
              <p:nvPr/>
            </p:nvSpPr>
            <p:spPr>
              <a:xfrm flipH="1" flipV="1">
                <a:off x="1040" y="2304"/>
                <a:ext cx="0" cy="576"/>
              </a:xfrm>
              <a:prstGeom prst="line">
                <a:avLst/>
              </a:prstGeom>
              <a:ln w="28575" cap="flat" cmpd="sng">
                <a:solidFill>
                  <a:srgbClr val="FF0000"/>
                </a:solidFill>
                <a:prstDash val="solid"/>
                <a:headEnd type="none" w="med" len="med"/>
                <a:tailEnd type="none" w="med" len="med"/>
              </a:ln>
            </p:spPr>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9987">
                                            <p:txEl>
                                              <p:pRg st="0" end="0"/>
                                            </p:txEl>
                                          </p:spTgt>
                                        </p:tgtEl>
                                        <p:attrNameLst>
                                          <p:attrName>style.visibility</p:attrName>
                                        </p:attrNameLst>
                                      </p:cBhvr>
                                      <p:to>
                                        <p:strVal val="visible"/>
                                      </p:to>
                                    </p:set>
                                    <p:animEffect transition="in" filter="dissolve">
                                      <p:cBhvr>
                                        <p:cTn id="7" dur="500"/>
                                        <p:tgtEl>
                                          <p:spTgt spid="1699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609600" y="533400"/>
            <a:ext cx="533400" cy="1143000"/>
          </a:xfrm>
          <a:prstGeom prst="rect">
            <a:avLst/>
          </a:prstGeom>
          <a:noFill/>
          <a:ln w="9525">
            <a:noFill/>
            <a:miter lim="800000"/>
          </a:ln>
          <a:effectLst/>
        </p:spPr>
        <p:txBody>
          <a:bodyPr anchor="ctr"/>
          <a:lstStyle/>
          <a:p>
            <a:pPr marR="0" defTabSz="914400">
              <a:buClrTx/>
              <a:buSzTx/>
              <a:buFontTx/>
              <a:buNone/>
              <a:defRPr/>
            </a:pPr>
            <a:r>
              <a:rPr kumimoji="0" lang="zh-CN" altLang="en-US" b="1" kern="0" cap="none" spc="0" normalizeH="0" baseline="0" noProof="0">
                <a:latin typeface="+mj-lt"/>
                <a:ea typeface="+mj-ea"/>
                <a:cs typeface="+mj-cs"/>
              </a:rPr>
              <a:t>状态图</a:t>
            </a:r>
          </a:p>
        </p:txBody>
      </p:sp>
      <p:sp>
        <p:nvSpPr>
          <p:cNvPr id="5" name="Rectangle 3"/>
          <p:cNvSpPr/>
          <p:nvPr/>
        </p:nvSpPr>
        <p:spPr>
          <a:xfrm>
            <a:off x="1524000" y="533400"/>
            <a:ext cx="7239000" cy="571500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sz="2000" dirty="0">
              <a:latin typeface="Times New Roman" panose="02020603050405020304" pitchFamily="18" charset="0"/>
            </a:endParaRPr>
          </a:p>
        </p:txBody>
      </p:sp>
      <p:sp>
        <p:nvSpPr>
          <p:cNvPr id="6" name="Rectangle 4"/>
          <p:cNvSpPr/>
          <p:nvPr/>
        </p:nvSpPr>
        <p:spPr>
          <a:xfrm>
            <a:off x="2274888" y="5326063"/>
            <a:ext cx="5715000" cy="762000"/>
          </a:xfrm>
          <a:prstGeom prst="rect">
            <a:avLst/>
          </a:prstGeom>
          <a:noFill/>
          <a:ln w="9525">
            <a:noFill/>
          </a:ln>
        </p:spPr>
        <p:txBody>
          <a:bodyPr wrap="none" anchor="ctr" anchorCtr="0"/>
          <a:lstStyle/>
          <a:p>
            <a:r>
              <a:rPr lang="zh-CN" altLang="en-US" sz="2000" dirty="0">
                <a:latin typeface="Times New Roman" panose="02020603050405020304" pitchFamily="18" charset="0"/>
              </a:rPr>
              <a:t>同步三位二进制加1计数器</a:t>
            </a:r>
          </a:p>
        </p:txBody>
      </p:sp>
      <p:grpSp>
        <p:nvGrpSpPr>
          <p:cNvPr id="2" name="Group 23"/>
          <p:cNvGrpSpPr/>
          <p:nvPr/>
        </p:nvGrpSpPr>
        <p:grpSpPr>
          <a:xfrm>
            <a:off x="2286000" y="762000"/>
            <a:ext cx="1905000" cy="1219200"/>
            <a:chOff x="1440" y="480"/>
            <a:chExt cx="1200" cy="768"/>
          </a:xfrm>
        </p:grpSpPr>
        <p:sp>
          <p:nvSpPr>
            <p:cNvPr id="43039" name="Rectangle 6"/>
            <p:cNvSpPr/>
            <p:nvPr/>
          </p:nvSpPr>
          <p:spPr>
            <a:xfrm>
              <a:off x="2112" y="480"/>
              <a:ext cx="473" cy="480"/>
            </a:xfrm>
            <a:prstGeom prst="rect">
              <a:avLst/>
            </a:prstGeom>
            <a:noFill/>
            <a:ln w="9525">
              <a:noFill/>
            </a:ln>
          </p:spPr>
          <p:txBody>
            <a:bodyPr wrap="none" anchor="ctr" anchorCtr="0"/>
            <a:lstStyle/>
            <a:p>
              <a:r>
                <a:rPr lang="en-US" altLang="zh-CN" sz="2000" dirty="0">
                  <a:latin typeface="Times New Roman" panose="02020603050405020304" pitchFamily="18" charset="0"/>
                </a:rPr>
                <a:t>/Z</a:t>
              </a:r>
            </a:p>
          </p:txBody>
        </p:sp>
        <p:sp>
          <p:nvSpPr>
            <p:cNvPr id="43040" name="Oval 7"/>
            <p:cNvSpPr/>
            <p:nvPr/>
          </p:nvSpPr>
          <p:spPr>
            <a:xfrm>
              <a:off x="1440" y="602"/>
              <a:ext cx="665" cy="646"/>
            </a:xfrm>
            <a:prstGeom prst="ellipse">
              <a:avLst/>
            </a:prstGeom>
            <a:solidFill>
              <a:schemeClr val="accent1"/>
            </a:solidFill>
            <a:ln w="9525" cap="flat" cmpd="sng">
              <a:solidFill>
                <a:schemeClr val="bg2"/>
              </a:solidFill>
              <a:prstDash val="solid"/>
              <a:headEnd type="none" w="med" len="med"/>
              <a:tailEnd type="none" w="med" len="med"/>
            </a:ln>
          </p:spPr>
          <p:txBody>
            <a:bodyPr wrap="none" lIns="0" rIns="0" anchor="ctr" anchorCtr="0"/>
            <a:lstStyle/>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p>
          </p:txBody>
        </p:sp>
        <p:sp>
          <p:nvSpPr>
            <p:cNvPr id="43041" name="Line 8"/>
            <p:cNvSpPr/>
            <p:nvPr/>
          </p:nvSpPr>
          <p:spPr>
            <a:xfrm>
              <a:off x="2095" y="908"/>
              <a:ext cx="545" cy="0"/>
            </a:xfrm>
            <a:prstGeom prst="line">
              <a:avLst/>
            </a:prstGeom>
            <a:ln w="28575" cap="flat" cmpd="sng">
              <a:solidFill>
                <a:schemeClr val="bg2"/>
              </a:solidFill>
              <a:prstDash val="solid"/>
              <a:headEnd type="none" w="med" len="med"/>
              <a:tailEnd type="triangle" w="med" len="med"/>
            </a:ln>
          </p:spPr>
        </p:sp>
      </p:grpSp>
      <p:grpSp>
        <p:nvGrpSpPr>
          <p:cNvPr id="3" name="Group 44"/>
          <p:cNvGrpSpPr/>
          <p:nvPr/>
        </p:nvGrpSpPr>
        <p:grpSpPr>
          <a:xfrm>
            <a:off x="1905000" y="2286000"/>
            <a:ext cx="6629400" cy="2514600"/>
            <a:chOff x="1200" y="1440"/>
            <a:chExt cx="4176" cy="1584"/>
          </a:xfrm>
        </p:grpSpPr>
        <p:sp>
          <p:nvSpPr>
            <p:cNvPr id="43015" name="Rectangle 11"/>
            <p:cNvSpPr/>
            <p:nvPr/>
          </p:nvSpPr>
          <p:spPr>
            <a:xfrm>
              <a:off x="2016" y="1440"/>
              <a:ext cx="384" cy="332"/>
            </a:xfrm>
            <a:prstGeom prst="rect">
              <a:avLst/>
            </a:prstGeom>
            <a:noFill/>
            <a:ln w="9525">
              <a:noFill/>
            </a:ln>
          </p:spPr>
          <p:txBody>
            <a:bodyPr wrap="none" anchor="ctr" anchorCtr="0"/>
            <a:lstStyle/>
            <a:p>
              <a:r>
                <a:rPr lang="zh-CN" altLang="en-US" sz="2000" dirty="0">
                  <a:latin typeface="Times New Roman" panose="02020603050405020304" pitchFamily="18" charset="0"/>
                </a:rPr>
                <a:t>/0</a:t>
              </a:r>
            </a:p>
          </p:txBody>
        </p:sp>
        <p:sp>
          <p:nvSpPr>
            <p:cNvPr id="43016" name="Line 13"/>
            <p:cNvSpPr/>
            <p:nvPr/>
          </p:nvSpPr>
          <p:spPr>
            <a:xfrm flipV="1">
              <a:off x="2016" y="1824"/>
              <a:ext cx="384" cy="0"/>
            </a:xfrm>
            <a:prstGeom prst="line">
              <a:avLst/>
            </a:prstGeom>
            <a:ln w="28575" cap="flat" cmpd="sng">
              <a:solidFill>
                <a:schemeClr val="bg2"/>
              </a:solidFill>
              <a:prstDash val="solid"/>
              <a:headEnd type="none" w="med" len="med"/>
              <a:tailEnd type="triangle" w="med" len="med"/>
            </a:ln>
          </p:spPr>
        </p:sp>
        <p:sp>
          <p:nvSpPr>
            <p:cNvPr id="43017" name="Oval 15"/>
            <p:cNvSpPr/>
            <p:nvPr/>
          </p:nvSpPr>
          <p:spPr>
            <a:xfrm>
              <a:off x="2496" y="1584"/>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lstStyle/>
            <a:p>
              <a:r>
                <a:rPr lang="zh-CN" altLang="en-US" sz="2000" dirty="0">
                  <a:latin typeface="Times New Roman" panose="02020603050405020304" pitchFamily="18" charset="0"/>
                </a:rPr>
                <a:t>001</a:t>
              </a:r>
            </a:p>
          </p:txBody>
        </p:sp>
        <p:sp>
          <p:nvSpPr>
            <p:cNvPr id="43018" name="Oval 18"/>
            <p:cNvSpPr/>
            <p:nvPr/>
          </p:nvSpPr>
          <p:spPr>
            <a:xfrm>
              <a:off x="1440" y="1582"/>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lstStyle/>
            <a:p>
              <a:r>
                <a:rPr lang="zh-CN" altLang="en-US" sz="2000" dirty="0">
                  <a:latin typeface="Times New Roman" panose="02020603050405020304" pitchFamily="18" charset="0"/>
                </a:rPr>
                <a:t>000</a:t>
              </a:r>
            </a:p>
          </p:txBody>
        </p:sp>
        <p:sp>
          <p:nvSpPr>
            <p:cNvPr id="43019" name="Rectangle 24"/>
            <p:cNvSpPr/>
            <p:nvPr/>
          </p:nvSpPr>
          <p:spPr>
            <a:xfrm>
              <a:off x="3072" y="1440"/>
              <a:ext cx="384" cy="332"/>
            </a:xfrm>
            <a:prstGeom prst="rect">
              <a:avLst/>
            </a:prstGeom>
            <a:noFill/>
            <a:ln w="9525">
              <a:noFill/>
            </a:ln>
          </p:spPr>
          <p:txBody>
            <a:bodyPr wrap="none" anchor="ctr" anchorCtr="0"/>
            <a:lstStyle/>
            <a:p>
              <a:r>
                <a:rPr lang="zh-CN" altLang="en-US" sz="2000" dirty="0">
                  <a:latin typeface="Times New Roman" panose="02020603050405020304" pitchFamily="18" charset="0"/>
                </a:rPr>
                <a:t>/0</a:t>
              </a:r>
            </a:p>
          </p:txBody>
        </p:sp>
        <p:sp>
          <p:nvSpPr>
            <p:cNvPr id="43020" name="Line 25"/>
            <p:cNvSpPr/>
            <p:nvPr/>
          </p:nvSpPr>
          <p:spPr>
            <a:xfrm flipV="1">
              <a:off x="3072" y="1824"/>
              <a:ext cx="384" cy="0"/>
            </a:xfrm>
            <a:prstGeom prst="line">
              <a:avLst/>
            </a:prstGeom>
            <a:ln w="28575" cap="flat" cmpd="sng">
              <a:solidFill>
                <a:schemeClr val="bg2"/>
              </a:solidFill>
              <a:prstDash val="solid"/>
              <a:headEnd type="none" w="med" len="med"/>
              <a:tailEnd type="triangle" w="med" len="med"/>
            </a:ln>
          </p:spPr>
        </p:sp>
        <p:sp>
          <p:nvSpPr>
            <p:cNvPr id="43021" name="Oval 26"/>
            <p:cNvSpPr/>
            <p:nvPr/>
          </p:nvSpPr>
          <p:spPr>
            <a:xfrm>
              <a:off x="3552" y="1584"/>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lstStyle/>
            <a:p>
              <a:r>
                <a:rPr lang="zh-CN" altLang="en-US" sz="2000" dirty="0">
                  <a:latin typeface="Times New Roman" panose="02020603050405020304" pitchFamily="18" charset="0"/>
                </a:rPr>
                <a:t>010</a:t>
              </a:r>
            </a:p>
          </p:txBody>
        </p:sp>
        <p:sp>
          <p:nvSpPr>
            <p:cNvPr id="43022" name="Rectangle 27"/>
            <p:cNvSpPr/>
            <p:nvPr/>
          </p:nvSpPr>
          <p:spPr>
            <a:xfrm>
              <a:off x="4128" y="1448"/>
              <a:ext cx="384" cy="332"/>
            </a:xfrm>
            <a:prstGeom prst="rect">
              <a:avLst/>
            </a:prstGeom>
            <a:noFill/>
            <a:ln w="9525">
              <a:noFill/>
            </a:ln>
          </p:spPr>
          <p:txBody>
            <a:bodyPr wrap="none" anchor="ctr" anchorCtr="0"/>
            <a:lstStyle/>
            <a:p>
              <a:r>
                <a:rPr lang="zh-CN" altLang="en-US" sz="2000" dirty="0">
                  <a:latin typeface="Times New Roman" panose="02020603050405020304" pitchFamily="18" charset="0"/>
                </a:rPr>
                <a:t>/0</a:t>
              </a:r>
            </a:p>
          </p:txBody>
        </p:sp>
        <p:sp>
          <p:nvSpPr>
            <p:cNvPr id="43023" name="Line 28"/>
            <p:cNvSpPr/>
            <p:nvPr/>
          </p:nvSpPr>
          <p:spPr>
            <a:xfrm flipV="1">
              <a:off x="4128" y="1832"/>
              <a:ext cx="384" cy="0"/>
            </a:xfrm>
            <a:prstGeom prst="line">
              <a:avLst/>
            </a:prstGeom>
            <a:ln w="28575" cap="flat" cmpd="sng">
              <a:solidFill>
                <a:schemeClr val="bg2"/>
              </a:solidFill>
              <a:prstDash val="solid"/>
              <a:headEnd type="none" w="med" len="med"/>
              <a:tailEnd type="triangle" w="med" len="med"/>
            </a:ln>
          </p:spPr>
        </p:sp>
        <p:sp>
          <p:nvSpPr>
            <p:cNvPr id="43024" name="Oval 29"/>
            <p:cNvSpPr/>
            <p:nvPr/>
          </p:nvSpPr>
          <p:spPr>
            <a:xfrm>
              <a:off x="4608" y="1592"/>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lstStyle/>
            <a:p>
              <a:r>
                <a:rPr lang="zh-CN" altLang="en-US" sz="2000" dirty="0">
                  <a:latin typeface="Times New Roman" panose="02020603050405020304" pitchFamily="18" charset="0"/>
                </a:rPr>
                <a:t>011</a:t>
              </a:r>
            </a:p>
          </p:txBody>
        </p:sp>
        <p:sp>
          <p:nvSpPr>
            <p:cNvPr id="43025" name="Line 30"/>
            <p:cNvSpPr/>
            <p:nvPr/>
          </p:nvSpPr>
          <p:spPr>
            <a:xfrm>
              <a:off x="4896" y="2160"/>
              <a:ext cx="0" cy="288"/>
            </a:xfrm>
            <a:prstGeom prst="line">
              <a:avLst/>
            </a:prstGeom>
            <a:ln w="38100" cap="flat" cmpd="sng">
              <a:solidFill>
                <a:schemeClr val="bg2"/>
              </a:solidFill>
              <a:prstDash val="solid"/>
              <a:headEnd type="none" w="med" len="med"/>
              <a:tailEnd type="triangle" w="med" len="med"/>
            </a:ln>
          </p:spPr>
        </p:sp>
        <p:sp>
          <p:nvSpPr>
            <p:cNvPr id="43026" name="Rectangle 31"/>
            <p:cNvSpPr/>
            <p:nvPr/>
          </p:nvSpPr>
          <p:spPr>
            <a:xfrm>
              <a:off x="4128" y="2360"/>
              <a:ext cx="384" cy="332"/>
            </a:xfrm>
            <a:prstGeom prst="rect">
              <a:avLst/>
            </a:prstGeom>
            <a:noFill/>
            <a:ln w="9525">
              <a:noFill/>
            </a:ln>
          </p:spPr>
          <p:txBody>
            <a:bodyPr wrap="none" anchor="ctr" anchorCtr="0"/>
            <a:lstStyle/>
            <a:p>
              <a:r>
                <a:rPr lang="zh-CN" altLang="en-US" sz="2000" dirty="0">
                  <a:latin typeface="Times New Roman" panose="02020603050405020304" pitchFamily="18" charset="0"/>
                </a:rPr>
                <a:t>/0</a:t>
              </a:r>
            </a:p>
          </p:txBody>
        </p:sp>
        <p:sp>
          <p:nvSpPr>
            <p:cNvPr id="43027" name="Line 32"/>
            <p:cNvSpPr/>
            <p:nvPr/>
          </p:nvSpPr>
          <p:spPr>
            <a:xfrm rot="-10800000" flipV="1">
              <a:off x="4128" y="2744"/>
              <a:ext cx="384" cy="0"/>
            </a:xfrm>
            <a:prstGeom prst="line">
              <a:avLst/>
            </a:prstGeom>
            <a:ln w="28575" cap="flat" cmpd="sng">
              <a:solidFill>
                <a:schemeClr val="bg2"/>
              </a:solidFill>
              <a:prstDash val="solid"/>
              <a:headEnd type="none" w="med" len="med"/>
              <a:tailEnd type="triangle" w="med" len="med"/>
            </a:ln>
          </p:spPr>
        </p:sp>
        <p:sp>
          <p:nvSpPr>
            <p:cNvPr id="43028" name="Oval 33"/>
            <p:cNvSpPr/>
            <p:nvPr/>
          </p:nvSpPr>
          <p:spPr>
            <a:xfrm>
              <a:off x="4608" y="2504"/>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lstStyle/>
            <a:p>
              <a:r>
                <a:rPr lang="zh-CN" altLang="en-US" sz="2000" dirty="0">
                  <a:latin typeface="Times New Roman" panose="02020603050405020304" pitchFamily="18" charset="0"/>
                </a:rPr>
                <a:t>100</a:t>
              </a:r>
            </a:p>
          </p:txBody>
        </p:sp>
        <p:sp>
          <p:nvSpPr>
            <p:cNvPr id="43029" name="Rectangle 34"/>
            <p:cNvSpPr/>
            <p:nvPr/>
          </p:nvSpPr>
          <p:spPr>
            <a:xfrm>
              <a:off x="3072" y="2360"/>
              <a:ext cx="384" cy="332"/>
            </a:xfrm>
            <a:prstGeom prst="rect">
              <a:avLst/>
            </a:prstGeom>
            <a:noFill/>
            <a:ln w="9525">
              <a:noFill/>
            </a:ln>
          </p:spPr>
          <p:txBody>
            <a:bodyPr wrap="none" anchor="ctr" anchorCtr="0"/>
            <a:lstStyle/>
            <a:p>
              <a:r>
                <a:rPr lang="zh-CN" altLang="en-US" sz="2000" dirty="0">
                  <a:latin typeface="Times New Roman" panose="02020603050405020304" pitchFamily="18" charset="0"/>
                </a:rPr>
                <a:t>/0</a:t>
              </a:r>
            </a:p>
          </p:txBody>
        </p:sp>
        <p:sp>
          <p:nvSpPr>
            <p:cNvPr id="43030" name="Line 35"/>
            <p:cNvSpPr/>
            <p:nvPr/>
          </p:nvSpPr>
          <p:spPr>
            <a:xfrm rot="-10800000" flipV="1">
              <a:off x="3072" y="2744"/>
              <a:ext cx="384" cy="0"/>
            </a:xfrm>
            <a:prstGeom prst="line">
              <a:avLst/>
            </a:prstGeom>
            <a:ln w="28575" cap="flat" cmpd="sng">
              <a:solidFill>
                <a:schemeClr val="bg2"/>
              </a:solidFill>
              <a:prstDash val="solid"/>
              <a:headEnd type="none" w="med" len="med"/>
              <a:tailEnd type="triangle" w="med" len="med"/>
            </a:ln>
          </p:spPr>
        </p:sp>
        <p:sp>
          <p:nvSpPr>
            <p:cNvPr id="43031" name="Oval 36"/>
            <p:cNvSpPr/>
            <p:nvPr/>
          </p:nvSpPr>
          <p:spPr>
            <a:xfrm>
              <a:off x="3552" y="2504"/>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lstStyle/>
            <a:p>
              <a:r>
                <a:rPr lang="zh-CN" altLang="en-US" sz="2000" dirty="0">
                  <a:latin typeface="Times New Roman" panose="02020603050405020304" pitchFamily="18" charset="0"/>
                </a:rPr>
                <a:t>101</a:t>
              </a:r>
            </a:p>
          </p:txBody>
        </p:sp>
        <p:sp>
          <p:nvSpPr>
            <p:cNvPr id="43032" name="Rectangle 37"/>
            <p:cNvSpPr/>
            <p:nvPr/>
          </p:nvSpPr>
          <p:spPr>
            <a:xfrm>
              <a:off x="2016" y="2360"/>
              <a:ext cx="384" cy="332"/>
            </a:xfrm>
            <a:prstGeom prst="rect">
              <a:avLst/>
            </a:prstGeom>
            <a:noFill/>
            <a:ln w="9525">
              <a:noFill/>
            </a:ln>
          </p:spPr>
          <p:txBody>
            <a:bodyPr wrap="none" anchor="ctr" anchorCtr="0"/>
            <a:lstStyle/>
            <a:p>
              <a:r>
                <a:rPr lang="zh-CN" altLang="en-US" sz="2000" dirty="0">
                  <a:latin typeface="Times New Roman" panose="02020603050405020304" pitchFamily="18" charset="0"/>
                </a:rPr>
                <a:t>/0</a:t>
              </a:r>
            </a:p>
          </p:txBody>
        </p:sp>
        <p:sp>
          <p:nvSpPr>
            <p:cNvPr id="43033" name="Line 38"/>
            <p:cNvSpPr/>
            <p:nvPr/>
          </p:nvSpPr>
          <p:spPr>
            <a:xfrm rot="-10800000" flipV="1">
              <a:off x="2016" y="2744"/>
              <a:ext cx="384" cy="0"/>
            </a:xfrm>
            <a:prstGeom prst="line">
              <a:avLst/>
            </a:prstGeom>
            <a:ln w="28575" cap="flat" cmpd="sng">
              <a:solidFill>
                <a:schemeClr val="bg2"/>
              </a:solidFill>
              <a:prstDash val="solid"/>
              <a:headEnd type="none" w="med" len="med"/>
              <a:tailEnd type="triangle" w="med" len="med"/>
            </a:ln>
          </p:spPr>
        </p:sp>
        <p:sp>
          <p:nvSpPr>
            <p:cNvPr id="43034" name="Oval 39"/>
            <p:cNvSpPr/>
            <p:nvPr/>
          </p:nvSpPr>
          <p:spPr>
            <a:xfrm>
              <a:off x="2496" y="2504"/>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lstStyle/>
            <a:p>
              <a:r>
                <a:rPr lang="zh-CN" altLang="en-US" sz="2000" dirty="0">
                  <a:latin typeface="Times New Roman" panose="02020603050405020304" pitchFamily="18" charset="0"/>
                </a:rPr>
                <a:t>110</a:t>
              </a:r>
            </a:p>
          </p:txBody>
        </p:sp>
        <p:sp>
          <p:nvSpPr>
            <p:cNvPr id="43035" name="Rectangle 40"/>
            <p:cNvSpPr/>
            <p:nvPr/>
          </p:nvSpPr>
          <p:spPr>
            <a:xfrm>
              <a:off x="1200" y="2160"/>
              <a:ext cx="384" cy="332"/>
            </a:xfrm>
            <a:prstGeom prst="rect">
              <a:avLst/>
            </a:prstGeom>
            <a:noFill/>
            <a:ln w="9525">
              <a:noFill/>
            </a:ln>
          </p:spPr>
          <p:txBody>
            <a:bodyPr wrap="none" anchor="ctr" anchorCtr="0"/>
            <a:lstStyle/>
            <a:p>
              <a:r>
                <a:rPr lang="zh-CN" altLang="en-US" sz="2000" dirty="0">
                  <a:latin typeface="Times New Roman" panose="02020603050405020304" pitchFamily="18" charset="0"/>
                </a:rPr>
                <a:t>/1</a:t>
              </a:r>
            </a:p>
          </p:txBody>
        </p:sp>
        <p:sp>
          <p:nvSpPr>
            <p:cNvPr id="43036" name="Line 41"/>
            <p:cNvSpPr/>
            <p:nvPr/>
          </p:nvSpPr>
          <p:spPr>
            <a:xfrm rot="-5400000" flipV="1">
              <a:off x="1488" y="2304"/>
              <a:ext cx="384" cy="0"/>
            </a:xfrm>
            <a:prstGeom prst="line">
              <a:avLst/>
            </a:prstGeom>
            <a:ln w="28575" cap="flat" cmpd="sng">
              <a:solidFill>
                <a:schemeClr val="bg2"/>
              </a:solidFill>
              <a:prstDash val="solid"/>
              <a:headEnd type="none" w="med" len="med"/>
              <a:tailEnd type="triangle" w="med" len="med"/>
            </a:ln>
          </p:spPr>
        </p:sp>
        <p:sp>
          <p:nvSpPr>
            <p:cNvPr id="43037" name="Oval 42"/>
            <p:cNvSpPr/>
            <p:nvPr/>
          </p:nvSpPr>
          <p:spPr>
            <a:xfrm>
              <a:off x="1440" y="2504"/>
              <a:ext cx="528" cy="520"/>
            </a:xfrm>
            <a:prstGeom prst="ellipse">
              <a:avLst/>
            </a:prstGeom>
            <a:solidFill>
              <a:schemeClr val="accent1"/>
            </a:solidFill>
            <a:ln w="9525" cap="flat" cmpd="sng">
              <a:solidFill>
                <a:schemeClr val="bg2"/>
              </a:solidFill>
              <a:prstDash val="solid"/>
              <a:headEnd type="none" w="med" len="med"/>
              <a:tailEnd type="none" w="med" len="med"/>
            </a:ln>
          </p:spPr>
          <p:txBody>
            <a:bodyPr wrap="none" anchor="ctr" anchorCtr="0"/>
            <a:lstStyle/>
            <a:p>
              <a:r>
                <a:rPr lang="zh-CN" altLang="en-US" sz="2000" dirty="0">
                  <a:latin typeface="Times New Roman" panose="02020603050405020304" pitchFamily="18" charset="0"/>
                </a:rPr>
                <a:t>111</a:t>
              </a:r>
            </a:p>
          </p:txBody>
        </p:sp>
        <p:sp>
          <p:nvSpPr>
            <p:cNvPr id="43038" name="Rectangle 43"/>
            <p:cNvSpPr/>
            <p:nvPr/>
          </p:nvSpPr>
          <p:spPr>
            <a:xfrm>
              <a:off x="4992" y="2116"/>
              <a:ext cx="384" cy="332"/>
            </a:xfrm>
            <a:prstGeom prst="rect">
              <a:avLst/>
            </a:prstGeom>
            <a:noFill/>
            <a:ln w="9525">
              <a:noFill/>
            </a:ln>
          </p:spPr>
          <p:txBody>
            <a:bodyPr wrap="none" anchor="ctr" anchorCtr="0"/>
            <a:lstStyle/>
            <a:p>
              <a:r>
                <a:rPr lang="zh-CN" altLang="en-US" sz="2000" dirty="0">
                  <a:latin typeface="Times New Roman" panose="02020603050405020304" pitchFamily="18" charset="0"/>
                </a:rPr>
                <a:t>/0</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dissolv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dissolve">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Text Box 4"/>
          <p:cNvSpPr txBox="1">
            <a:spLocks noChangeArrowheads="1"/>
          </p:cNvSpPr>
          <p:nvPr/>
        </p:nvSpPr>
        <p:spPr bwMode="auto">
          <a:xfrm>
            <a:off x="1979613" y="620713"/>
            <a:ext cx="4319588" cy="583565"/>
          </a:xfrm>
          <a:prstGeom prst="rect">
            <a:avLst/>
          </a:prstGeom>
          <a:noFill/>
          <a:ln w="9525">
            <a:noFill/>
            <a:miter lim="800000"/>
          </a:ln>
          <a:effectLst/>
        </p:spPr>
        <p:txBody>
          <a:bodyPr>
            <a:spAutoFit/>
          </a:bodyPr>
          <a:lstStyle/>
          <a:p>
            <a:pPr marR="0" defTabSz="914400">
              <a:buClrTx/>
              <a:buSzTx/>
              <a:buFontTx/>
              <a:buNone/>
              <a:defRPr/>
            </a:pPr>
            <a:r>
              <a:rPr kumimoji="1" lang="en-US" altLang="zh-CN" sz="3200" b="1"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7.3     </a:t>
            </a:r>
            <a:r>
              <a:rPr kumimoji="1" lang="zh-CN" altLang="en-US" sz="3200" b="1"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集成寄存器</a:t>
            </a:r>
            <a:endParaRPr kumimoji="1" lang="zh-CN" altLang="en-US" sz="3200" b="1" kern="1200" cap="none" spc="0" normalizeH="0" baseline="0" noProof="0" dirty="0">
              <a:latin typeface="Times New Roman" panose="02020603050405020304" pitchFamily="18" charset="0"/>
              <a:ea typeface="宋体" panose="02010600030101010101" pitchFamily="2" charset="-122"/>
              <a:cs typeface="+mn-cs"/>
            </a:endParaRPr>
          </a:p>
        </p:txBody>
      </p:sp>
      <p:sp>
        <p:nvSpPr>
          <p:cNvPr id="4099" name="Text Box 6"/>
          <p:cNvSpPr txBox="1"/>
          <p:nvPr/>
        </p:nvSpPr>
        <p:spPr>
          <a:xfrm>
            <a:off x="539750" y="1989138"/>
            <a:ext cx="7924800" cy="3836987"/>
          </a:xfrm>
          <a:prstGeom prst="rect">
            <a:avLst/>
          </a:prstGeom>
          <a:noFill/>
          <a:ln w="9525">
            <a:noFill/>
          </a:ln>
        </p:spPr>
        <p:txBody>
          <a:bodyPr>
            <a:spAutoFit/>
          </a:bodyPr>
          <a:lstStyle/>
          <a:p>
            <a:r>
              <a:rPr lang="en-US" altLang="zh-CN" sz="2400" dirty="0">
                <a:latin typeface="Arial" panose="020B0604020202020204" pitchFamily="34" charset="0"/>
              </a:rPr>
              <a:t>        </a:t>
            </a:r>
            <a:r>
              <a:rPr lang="zh-CN" altLang="en-US" sz="2400" dirty="0">
                <a:latin typeface="Arial" panose="020B0604020202020204" pitchFamily="34" charset="0"/>
              </a:rPr>
              <a:t>寄存器是能暂时存放二进制代码的时序电路。在数字系统中常用寄存器暂存数据中间运行结果和指令。由于一个触发器只能存放一位二进制代码，因此，用</a:t>
            </a:r>
            <a:r>
              <a:rPr lang="en-US" altLang="zh-CN" sz="2400" dirty="0">
                <a:latin typeface="Arial" panose="020B0604020202020204" pitchFamily="34" charset="0"/>
              </a:rPr>
              <a:t>n</a:t>
            </a:r>
            <a:r>
              <a:rPr lang="zh-CN" altLang="en-US" sz="2400" dirty="0">
                <a:latin typeface="Arial" panose="020B0604020202020204" pitchFamily="34" charset="0"/>
              </a:rPr>
              <a:t>个触发器和一些起控制作用的门电路，可以组成</a:t>
            </a:r>
            <a:r>
              <a:rPr lang="en-US" altLang="zh-CN" sz="2400" dirty="0">
                <a:latin typeface="Arial" panose="020B0604020202020204" pitchFamily="34" charset="0"/>
              </a:rPr>
              <a:t>n</a:t>
            </a:r>
            <a:r>
              <a:rPr lang="zh-CN" altLang="en-US" sz="2400" dirty="0">
                <a:latin typeface="Arial" panose="020B0604020202020204" pitchFamily="34" charset="0"/>
              </a:rPr>
              <a:t>位寄存器。</a:t>
            </a:r>
          </a:p>
          <a:p>
            <a:pPr>
              <a:spcBef>
                <a:spcPct val="50000"/>
              </a:spcBef>
            </a:pPr>
            <a:endParaRPr lang="zh-CN" altLang="en-US" sz="2400" dirty="0">
              <a:latin typeface="Arial" panose="020B0604020202020204" pitchFamily="34" charset="0"/>
            </a:endParaRPr>
          </a:p>
          <a:p>
            <a:pPr algn="just">
              <a:lnSpc>
                <a:spcPct val="125000"/>
              </a:lnSpc>
              <a:spcBef>
                <a:spcPct val="50000"/>
              </a:spcBef>
            </a:pPr>
            <a:r>
              <a:rPr lang="zh-CN" altLang="en-US" sz="2400" dirty="0">
                <a:latin typeface="Arial" panose="020B0604020202020204" pitchFamily="34" charset="0"/>
              </a:rPr>
              <a:t>        按寄存器的功能特点，可将其分为两大类，数码寄存器和移位寄存器。</a:t>
            </a:r>
          </a:p>
          <a:p>
            <a:pPr algn="just">
              <a:lnSpc>
                <a:spcPct val="125000"/>
              </a:lnSpc>
              <a:spcBef>
                <a:spcPct val="50000"/>
              </a:spcBef>
            </a:pPr>
            <a:r>
              <a:rPr lang="zh-CN" altLang="en-US" sz="2400" dirty="0">
                <a:latin typeface="Arial" panose="020B0604020202020204" pitchFamily="34" charset="0"/>
              </a:rPr>
              <a:t>        </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4"/>
          <p:cNvSpPr txBox="1"/>
          <p:nvPr/>
        </p:nvSpPr>
        <p:spPr>
          <a:xfrm>
            <a:off x="838200" y="914400"/>
            <a:ext cx="7620000" cy="731838"/>
          </a:xfrm>
          <a:prstGeom prst="rect">
            <a:avLst/>
          </a:prstGeom>
          <a:noFill/>
          <a:ln w="9525">
            <a:noFill/>
          </a:ln>
        </p:spPr>
        <p:txBody>
          <a:bodyPr>
            <a:spAutoFit/>
          </a:bodyPr>
          <a:lstStyle/>
          <a:p>
            <a:pPr algn="just">
              <a:lnSpc>
                <a:spcPct val="175000"/>
              </a:lnSpc>
              <a:spcBef>
                <a:spcPct val="50000"/>
              </a:spcBef>
            </a:pPr>
            <a:r>
              <a:rPr lang="en-US" altLang="zh-CN" sz="2400" dirty="0">
                <a:latin typeface="Times New Roman" panose="02020603050405020304" pitchFamily="18" charset="0"/>
              </a:rPr>
              <a:t>         </a:t>
            </a:r>
          </a:p>
        </p:txBody>
      </p:sp>
      <p:sp>
        <p:nvSpPr>
          <p:cNvPr id="5123" name="Rectangle 6"/>
          <p:cNvSpPr/>
          <p:nvPr/>
        </p:nvSpPr>
        <p:spPr>
          <a:xfrm>
            <a:off x="684213" y="1125538"/>
            <a:ext cx="7921625" cy="4389437"/>
          </a:xfrm>
          <a:prstGeom prst="rect">
            <a:avLst/>
          </a:prstGeom>
          <a:noFill/>
          <a:ln w="9525">
            <a:noFill/>
          </a:ln>
        </p:spPr>
        <p:txBody>
          <a:bodyPr>
            <a:spAutoFit/>
          </a:bodyPr>
          <a:lstStyle/>
          <a:p>
            <a:pPr algn="just">
              <a:lnSpc>
                <a:spcPct val="125000"/>
              </a:lnSpc>
              <a:spcBef>
                <a:spcPct val="50000"/>
              </a:spcBef>
            </a:pPr>
            <a:r>
              <a:rPr lang="en-US" altLang="zh-CN" sz="2400" dirty="0">
                <a:latin typeface="Arial" panose="020B0604020202020204" pitchFamily="34" charset="0"/>
              </a:rPr>
              <a:t>        </a:t>
            </a:r>
            <a:r>
              <a:rPr lang="zh-CN" altLang="en-US" sz="2400" dirty="0">
                <a:latin typeface="Arial" panose="020B0604020202020204" pitchFamily="34" charset="0"/>
              </a:rPr>
              <a:t>数码寄存器可以暂存一组二进制代码，在时钟脉冲的作用下，可以实现并行的数据接收，存储和传送。如果在寄存器的输出端增加一组缓冲器（如一组三态门）就可使其成为锁存器。常用的集成数码寄存器有</a:t>
            </a:r>
            <a:r>
              <a:rPr lang="en-US" altLang="zh-CN" sz="2400" dirty="0">
                <a:latin typeface="Arial" panose="020B0604020202020204" pitchFamily="34" charset="0"/>
              </a:rPr>
              <a:t>74LS175</a:t>
            </a:r>
            <a:r>
              <a:rPr lang="zh-CN" altLang="en-US" sz="2400" dirty="0">
                <a:latin typeface="Arial" panose="020B0604020202020204" pitchFamily="34" charset="0"/>
              </a:rPr>
              <a:t>， </a:t>
            </a:r>
            <a:r>
              <a:rPr lang="en-US" altLang="zh-CN" sz="2400" dirty="0">
                <a:latin typeface="Arial" panose="020B0604020202020204" pitchFamily="34" charset="0"/>
              </a:rPr>
              <a:t>74LS373</a:t>
            </a:r>
            <a:r>
              <a:rPr lang="zh-CN" altLang="en-US" sz="2400" dirty="0">
                <a:latin typeface="Arial" panose="020B0604020202020204" pitchFamily="34" charset="0"/>
              </a:rPr>
              <a:t>等。</a:t>
            </a:r>
          </a:p>
          <a:p>
            <a:pPr algn="just">
              <a:lnSpc>
                <a:spcPct val="125000"/>
              </a:lnSpc>
              <a:spcBef>
                <a:spcPct val="50000"/>
              </a:spcBef>
            </a:pPr>
            <a:r>
              <a:rPr lang="zh-CN" altLang="en-US" sz="2400" dirty="0">
                <a:latin typeface="Arial" panose="020B0604020202020204" pitchFamily="34" charset="0"/>
              </a:rPr>
              <a:t>        移位寄存器除了具有存储功能之外，还可以在时钟脉冲的作用下，对数据实现左移或右移功能，在数字系统中有着广泛的应用。常用的集成移位寄存器有</a:t>
            </a:r>
            <a:r>
              <a:rPr lang="en-US" altLang="zh-CN" sz="2400" dirty="0">
                <a:latin typeface="Arial" panose="020B0604020202020204" pitchFamily="34" charset="0"/>
              </a:rPr>
              <a:t>74LS164</a:t>
            </a:r>
            <a:r>
              <a:rPr lang="zh-CN" altLang="en-US" sz="2400" dirty="0">
                <a:latin typeface="Arial" panose="020B0604020202020204" pitchFamily="34" charset="0"/>
              </a:rPr>
              <a:t>， </a:t>
            </a:r>
            <a:r>
              <a:rPr lang="en-US" altLang="zh-CN" sz="2400" dirty="0">
                <a:latin typeface="Arial" panose="020B0604020202020204" pitchFamily="34" charset="0"/>
              </a:rPr>
              <a:t>74LS194</a:t>
            </a:r>
            <a:r>
              <a:rPr lang="zh-CN" altLang="en-US" sz="2400" dirty="0">
                <a:latin typeface="Arial" panose="020B0604020202020204" pitchFamily="34" charset="0"/>
              </a:rPr>
              <a:t>等。 </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7"/>
          <p:cNvGrpSpPr/>
          <p:nvPr/>
        </p:nvGrpSpPr>
        <p:grpSpPr>
          <a:xfrm>
            <a:off x="250825" y="1268413"/>
            <a:ext cx="2952750" cy="5256212"/>
            <a:chOff x="4044" y="10081"/>
            <a:chExt cx="3036" cy="4637"/>
          </a:xfrm>
        </p:grpSpPr>
        <p:grpSp>
          <p:nvGrpSpPr>
            <p:cNvPr id="6191" name="Group 8"/>
            <p:cNvGrpSpPr/>
            <p:nvPr/>
          </p:nvGrpSpPr>
          <p:grpSpPr>
            <a:xfrm>
              <a:off x="4495" y="10081"/>
              <a:ext cx="2585" cy="4263"/>
              <a:chOff x="4495" y="9481"/>
              <a:chExt cx="2585" cy="4263"/>
            </a:xfrm>
          </p:grpSpPr>
          <p:sp>
            <p:nvSpPr>
              <p:cNvPr id="6193" name="Rectangle 9"/>
              <p:cNvSpPr/>
              <p:nvPr/>
            </p:nvSpPr>
            <p:spPr>
              <a:xfrm>
                <a:off x="4495" y="13193"/>
                <a:ext cx="1" cy="538"/>
              </a:xfrm>
              <a:prstGeom prst="rect">
                <a:avLst/>
              </a:prstGeom>
              <a:noFill/>
              <a:ln w="19050">
                <a:noFill/>
              </a:ln>
            </p:spPr>
            <p:txBody>
              <a:bodyPr wrap="none" lIns="0" tIns="0" rIns="0" bIns="0">
                <a:spAutoFit/>
              </a:bodyPr>
              <a:lstStyle/>
              <a:p>
                <a:pPr algn="just"/>
                <a:endParaRPr lang="zh-CN" altLang="zh-CN" sz="4000" dirty="0">
                  <a:latin typeface="Arial" panose="020B0604020202020204" pitchFamily="34" charset="0"/>
                </a:endParaRPr>
              </a:p>
            </p:txBody>
          </p:sp>
          <p:sp>
            <p:nvSpPr>
              <p:cNvPr id="6194" name="Rectangle 10"/>
              <p:cNvSpPr/>
              <p:nvPr/>
            </p:nvSpPr>
            <p:spPr>
              <a:xfrm>
                <a:off x="6714" y="12646"/>
                <a:ext cx="1" cy="538"/>
              </a:xfrm>
              <a:prstGeom prst="rect">
                <a:avLst/>
              </a:prstGeom>
              <a:noFill/>
              <a:ln w="19050">
                <a:noFill/>
              </a:ln>
            </p:spPr>
            <p:txBody>
              <a:bodyPr wrap="none" lIns="0" tIns="0" rIns="0" bIns="0">
                <a:spAutoFit/>
              </a:bodyPr>
              <a:lstStyle/>
              <a:p>
                <a:pPr algn="just"/>
                <a:endParaRPr lang="zh-CN" altLang="zh-CN" sz="4000" dirty="0">
                  <a:latin typeface="Arial" panose="020B0604020202020204" pitchFamily="34" charset="0"/>
                </a:endParaRPr>
              </a:p>
            </p:txBody>
          </p:sp>
          <p:sp>
            <p:nvSpPr>
              <p:cNvPr id="6195" name="Rectangle 11"/>
              <p:cNvSpPr/>
              <p:nvPr/>
            </p:nvSpPr>
            <p:spPr>
              <a:xfrm>
                <a:off x="6714" y="10789"/>
                <a:ext cx="1" cy="538"/>
              </a:xfrm>
              <a:prstGeom prst="rect">
                <a:avLst/>
              </a:prstGeom>
              <a:noFill/>
              <a:ln w="19050">
                <a:noFill/>
              </a:ln>
            </p:spPr>
            <p:txBody>
              <a:bodyPr wrap="none" lIns="0" tIns="0" rIns="0" bIns="0">
                <a:spAutoFit/>
              </a:bodyPr>
              <a:lstStyle/>
              <a:p>
                <a:pPr algn="just"/>
                <a:endParaRPr lang="zh-CN" altLang="zh-CN" sz="4000" dirty="0">
                  <a:latin typeface="Arial" panose="020B0604020202020204" pitchFamily="34" charset="0"/>
                </a:endParaRPr>
              </a:p>
            </p:txBody>
          </p:sp>
          <p:sp>
            <p:nvSpPr>
              <p:cNvPr id="6196" name="Rectangle 12"/>
              <p:cNvSpPr/>
              <p:nvPr/>
            </p:nvSpPr>
            <p:spPr>
              <a:xfrm>
                <a:off x="6714" y="9859"/>
                <a:ext cx="1" cy="538"/>
              </a:xfrm>
              <a:prstGeom prst="rect">
                <a:avLst/>
              </a:prstGeom>
              <a:noFill/>
              <a:ln w="19050">
                <a:noFill/>
              </a:ln>
            </p:spPr>
            <p:txBody>
              <a:bodyPr wrap="none" lIns="0" tIns="0" rIns="0" bIns="0">
                <a:spAutoFit/>
              </a:bodyPr>
              <a:lstStyle/>
              <a:p>
                <a:pPr algn="just"/>
                <a:endParaRPr lang="zh-CN" altLang="zh-CN" sz="4000" dirty="0">
                  <a:latin typeface="Arial" panose="020B0604020202020204" pitchFamily="34" charset="0"/>
                </a:endParaRPr>
              </a:p>
            </p:txBody>
          </p:sp>
          <p:sp>
            <p:nvSpPr>
              <p:cNvPr id="6197" name="Rectangle 13"/>
              <p:cNvSpPr/>
              <p:nvPr/>
            </p:nvSpPr>
            <p:spPr>
              <a:xfrm>
                <a:off x="4530" y="12853"/>
                <a:ext cx="360" cy="312"/>
              </a:xfrm>
              <a:prstGeom prst="rect">
                <a:avLst/>
              </a:prstGeom>
              <a:noFill/>
              <a:ln w="19050">
                <a:noFill/>
              </a:ln>
            </p:spPr>
            <p:txBody>
              <a:bodyPr lIns="0" tIns="0" rIns="0" bIns="0"/>
              <a:lstStyle/>
              <a:p>
                <a:pPr algn="just"/>
                <a:r>
                  <a:rPr lang="en-US" altLang="zh-CN" sz="2000" i="1" dirty="0">
                    <a:latin typeface="Times New Roman" panose="02020603050405020304" pitchFamily="18" charset="0"/>
                  </a:rPr>
                  <a:t>CP</a:t>
                </a:r>
                <a:endParaRPr lang="en-US" altLang="zh-CN" sz="4000" dirty="0">
                  <a:latin typeface="Arial" panose="020B0604020202020204" pitchFamily="34" charset="0"/>
                </a:endParaRPr>
              </a:p>
            </p:txBody>
          </p:sp>
          <p:sp>
            <p:nvSpPr>
              <p:cNvPr id="6198" name="Rectangle 14"/>
              <p:cNvSpPr/>
              <p:nvPr/>
            </p:nvSpPr>
            <p:spPr>
              <a:xfrm>
                <a:off x="4560" y="12259"/>
                <a:ext cx="360" cy="312"/>
              </a:xfrm>
              <a:prstGeom prst="rect">
                <a:avLst/>
              </a:prstGeom>
              <a:noFill/>
              <a:ln w="19050">
                <a:noFill/>
              </a:ln>
            </p:spPr>
            <p:txBody>
              <a:bodyPr lIns="0" tIns="0" rIns="0" bIns="0"/>
              <a:lstStyle/>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3</a:t>
                </a:r>
                <a:endParaRPr lang="en-US" altLang="zh-CN" sz="4000" dirty="0">
                  <a:latin typeface="Arial" panose="020B0604020202020204" pitchFamily="34" charset="0"/>
                </a:endParaRPr>
              </a:p>
            </p:txBody>
          </p:sp>
          <p:sp>
            <p:nvSpPr>
              <p:cNvPr id="6199" name="Rectangle 15"/>
              <p:cNvSpPr/>
              <p:nvPr/>
            </p:nvSpPr>
            <p:spPr>
              <a:xfrm>
                <a:off x="4515" y="9481"/>
                <a:ext cx="360" cy="312"/>
              </a:xfrm>
              <a:prstGeom prst="rect">
                <a:avLst/>
              </a:prstGeom>
              <a:noFill/>
              <a:ln w="19050">
                <a:noFill/>
              </a:ln>
            </p:spPr>
            <p:txBody>
              <a:bodyPr lIns="0" tIns="0" rIns="0" bIns="0"/>
              <a:lstStyle/>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0</a:t>
                </a:r>
                <a:endParaRPr lang="en-US" altLang="zh-CN" sz="4000" dirty="0">
                  <a:latin typeface="Arial" panose="020B0604020202020204" pitchFamily="34" charset="0"/>
                </a:endParaRPr>
              </a:p>
            </p:txBody>
          </p:sp>
          <p:sp>
            <p:nvSpPr>
              <p:cNvPr id="6200" name="Rectangle 16"/>
              <p:cNvSpPr/>
              <p:nvPr/>
            </p:nvSpPr>
            <p:spPr>
              <a:xfrm>
                <a:off x="4545" y="10447"/>
                <a:ext cx="360" cy="312"/>
              </a:xfrm>
              <a:prstGeom prst="rect">
                <a:avLst/>
              </a:prstGeom>
              <a:noFill/>
              <a:ln w="19050">
                <a:noFill/>
              </a:ln>
            </p:spPr>
            <p:txBody>
              <a:bodyPr lIns="0" tIns="0" rIns="0" bIns="0"/>
              <a:lstStyle/>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1</a:t>
                </a:r>
                <a:endParaRPr lang="en-US" altLang="zh-CN" sz="4000" dirty="0">
                  <a:latin typeface="Arial" panose="020B0604020202020204" pitchFamily="34" charset="0"/>
                </a:endParaRPr>
              </a:p>
            </p:txBody>
          </p:sp>
          <p:sp>
            <p:nvSpPr>
              <p:cNvPr id="6201" name="Rectangle 17"/>
              <p:cNvSpPr/>
              <p:nvPr/>
            </p:nvSpPr>
            <p:spPr>
              <a:xfrm>
                <a:off x="4530" y="11347"/>
                <a:ext cx="360" cy="312"/>
              </a:xfrm>
              <a:prstGeom prst="rect">
                <a:avLst/>
              </a:prstGeom>
              <a:noFill/>
              <a:ln w="19050">
                <a:noFill/>
              </a:ln>
            </p:spPr>
            <p:txBody>
              <a:bodyPr lIns="0" tIns="0" rIns="0" bIns="0"/>
              <a:lstStyle/>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2</a:t>
                </a:r>
                <a:endParaRPr lang="en-US" altLang="zh-CN" sz="4000" dirty="0">
                  <a:latin typeface="Arial" panose="020B0604020202020204" pitchFamily="34" charset="0"/>
                </a:endParaRPr>
              </a:p>
            </p:txBody>
          </p:sp>
          <p:sp>
            <p:nvSpPr>
              <p:cNvPr id="6202" name="Rectangle 18"/>
              <p:cNvSpPr/>
              <p:nvPr/>
            </p:nvSpPr>
            <p:spPr>
              <a:xfrm>
                <a:off x="5901" y="9544"/>
                <a:ext cx="540" cy="780"/>
              </a:xfrm>
              <a:prstGeom prst="rect">
                <a:avLst/>
              </a:prstGeom>
              <a:solidFill>
                <a:srgbClr val="99CCFF"/>
              </a:solidFill>
              <a:ln w="19050" cap="flat" cmpd="sng">
                <a:solidFill>
                  <a:srgbClr val="000000"/>
                </a:solidFill>
                <a:prstDash val="solid"/>
                <a:miter/>
                <a:headEnd type="none" w="med" len="med"/>
                <a:tailEnd type="none" w="med" len="med"/>
              </a:ln>
            </p:spPr>
            <p:txBody>
              <a:bodyPr lIns="0" tIns="0" rIns="0" bIns="0"/>
              <a:lstStyle/>
              <a:p>
                <a:pPr algn="just">
                  <a:lnSpc>
                    <a:spcPct val="96000"/>
                  </a:lnSpc>
                </a:pPr>
                <a:r>
                  <a:rPr lang="en-US" altLang="zh-CN" sz="2000" i="1" dirty="0">
                    <a:latin typeface="Times New Roman" panose="02020603050405020304" pitchFamily="18" charset="0"/>
                  </a:rPr>
                  <a:t>D</a:t>
                </a:r>
              </a:p>
              <a:p>
                <a:pPr algn="just">
                  <a:lnSpc>
                    <a:spcPct val="96000"/>
                  </a:lnSpc>
                </a:pPr>
                <a:r>
                  <a:rPr lang="en-US" altLang="zh-CN" sz="2000" i="1" dirty="0">
                    <a:latin typeface="Times New Roman" panose="02020603050405020304" pitchFamily="18" charset="0"/>
                  </a:rPr>
                  <a:t>  C</a:t>
                </a:r>
              </a:p>
              <a:p>
                <a:pPr algn="just">
                  <a:lnSpc>
                    <a:spcPct val="96000"/>
                  </a:lnSpc>
                </a:pPr>
                <a:r>
                  <a:rPr lang="en-US" altLang="zh-CN" sz="2000" i="1" dirty="0">
                    <a:latin typeface="Times New Roman" panose="02020603050405020304" pitchFamily="18" charset="0"/>
                  </a:rPr>
                  <a:t>R</a:t>
                </a:r>
                <a:endParaRPr lang="en-US" altLang="zh-CN" sz="4000" dirty="0">
                  <a:latin typeface="Arial" panose="020B0604020202020204" pitchFamily="34" charset="0"/>
                </a:endParaRPr>
              </a:p>
            </p:txBody>
          </p:sp>
          <p:sp>
            <p:nvSpPr>
              <p:cNvPr id="6203" name="Freeform 19"/>
              <p:cNvSpPr/>
              <p:nvPr/>
            </p:nvSpPr>
            <p:spPr>
              <a:xfrm>
                <a:off x="5916" y="9868"/>
                <a:ext cx="119" cy="102"/>
              </a:xfrm>
              <a:custGeom>
                <a:avLst/>
                <a:gdLst>
                  <a:gd name="txL" fmla="*/ 0 w 60"/>
                  <a:gd name="txT" fmla="*/ 0 h 156"/>
                  <a:gd name="txR" fmla="*/ 60 w 60"/>
                  <a:gd name="txB" fmla="*/ 156 h 156"/>
                </a:gdLst>
                <a:ahLst/>
                <a:cxnLst>
                  <a:cxn ang="0">
                    <a:pos x="0" y="0"/>
                  </a:cxn>
                  <a:cxn ang="0">
                    <a:pos x="236" y="35"/>
                  </a:cxn>
                  <a:cxn ang="0">
                    <a:pos x="4" y="67"/>
                  </a:cxn>
                </a:cxnLst>
                <a:rect l="txL" t="txT" r="txR" b="txB"/>
                <a:pathLst>
                  <a:path w="60" h="156">
                    <a:moveTo>
                      <a:pt x="0" y="0"/>
                    </a:moveTo>
                    <a:lnTo>
                      <a:pt x="60" y="81"/>
                    </a:lnTo>
                    <a:lnTo>
                      <a:pt x="1" y="156"/>
                    </a:lnTo>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6204" name="Oval 20"/>
              <p:cNvSpPr/>
              <p:nvPr/>
            </p:nvSpPr>
            <p:spPr>
              <a:xfrm>
                <a:off x="5841" y="9878"/>
                <a:ext cx="57" cy="57"/>
              </a:xfrm>
              <a:prstGeom prst="ellipse">
                <a:avLst/>
              </a:prstGeom>
              <a:solidFill>
                <a:srgbClr val="FFFFFF"/>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05" name="Oval 21"/>
              <p:cNvSpPr/>
              <p:nvPr/>
            </p:nvSpPr>
            <p:spPr>
              <a:xfrm>
                <a:off x="5841" y="10135"/>
                <a:ext cx="57" cy="57"/>
              </a:xfrm>
              <a:prstGeom prst="ellipse">
                <a:avLst/>
              </a:prstGeom>
              <a:solidFill>
                <a:srgbClr val="FFFFFF"/>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06" name="Line 22"/>
              <p:cNvSpPr/>
              <p:nvPr/>
            </p:nvSpPr>
            <p:spPr>
              <a:xfrm>
                <a:off x="5481" y="9898"/>
                <a:ext cx="360" cy="0"/>
              </a:xfrm>
              <a:prstGeom prst="line">
                <a:avLst/>
              </a:prstGeom>
              <a:ln w="19050" cap="flat" cmpd="sng">
                <a:solidFill>
                  <a:srgbClr val="000000"/>
                </a:solidFill>
                <a:prstDash val="solid"/>
                <a:headEnd type="none" w="med" len="med"/>
                <a:tailEnd type="none" w="med" len="med"/>
              </a:ln>
            </p:spPr>
          </p:sp>
          <p:sp>
            <p:nvSpPr>
              <p:cNvPr id="6207" name="Line 23"/>
              <p:cNvSpPr/>
              <p:nvPr/>
            </p:nvSpPr>
            <p:spPr>
              <a:xfrm>
                <a:off x="5661" y="10165"/>
                <a:ext cx="180" cy="0"/>
              </a:xfrm>
              <a:prstGeom prst="line">
                <a:avLst/>
              </a:prstGeom>
              <a:ln w="19050" cap="flat" cmpd="sng">
                <a:solidFill>
                  <a:srgbClr val="000000"/>
                </a:solidFill>
                <a:prstDash val="solid"/>
                <a:headEnd type="none" w="med" len="med"/>
                <a:tailEnd type="none" w="med" len="med"/>
              </a:ln>
            </p:spPr>
          </p:sp>
          <p:sp>
            <p:nvSpPr>
              <p:cNvPr id="6208" name="Line 24"/>
              <p:cNvSpPr/>
              <p:nvPr/>
            </p:nvSpPr>
            <p:spPr>
              <a:xfrm>
                <a:off x="4873" y="9667"/>
                <a:ext cx="1026" cy="0"/>
              </a:xfrm>
              <a:prstGeom prst="line">
                <a:avLst/>
              </a:prstGeom>
              <a:ln w="19050" cap="flat" cmpd="sng">
                <a:solidFill>
                  <a:srgbClr val="000000"/>
                </a:solidFill>
                <a:prstDash val="solid"/>
                <a:headEnd type="none" w="med" len="med"/>
                <a:tailEnd type="none" w="med" len="med"/>
              </a:ln>
            </p:spPr>
          </p:sp>
          <p:sp>
            <p:nvSpPr>
              <p:cNvPr id="6209" name="Line 25"/>
              <p:cNvSpPr/>
              <p:nvPr/>
            </p:nvSpPr>
            <p:spPr>
              <a:xfrm>
                <a:off x="6441" y="9712"/>
                <a:ext cx="249" cy="0"/>
              </a:xfrm>
              <a:prstGeom prst="line">
                <a:avLst/>
              </a:prstGeom>
              <a:ln w="19050" cap="flat" cmpd="sng">
                <a:solidFill>
                  <a:srgbClr val="000000"/>
                </a:solidFill>
                <a:prstDash val="solid"/>
                <a:headEnd type="none" w="med" len="med"/>
                <a:tailEnd type="none" w="med" len="med"/>
              </a:ln>
            </p:spPr>
          </p:sp>
          <p:sp>
            <p:nvSpPr>
              <p:cNvPr id="6210" name="Line 26"/>
              <p:cNvSpPr/>
              <p:nvPr/>
            </p:nvSpPr>
            <p:spPr>
              <a:xfrm>
                <a:off x="6471" y="10153"/>
                <a:ext cx="249" cy="0"/>
              </a:xfrm>
              <a:prstGeom prst="line">
                <a:avLst/>
              </a:prstGeom>
              <a:ln w="19050" cap="flat" cmpd="sng">
                <a:solidFill>
                  <a:srgbClr val="000000"/>
                </a:solidFill>
                <a:prstDash val="solid"/>
                <a:headEnd type="none" w="med" len="med"/>
                <a:tailEnd type="none" w="med" len="med"/>
              </a:ln>
            </p:spPr>
          </p:sp>
          <p:sp>
            <p:nvSpPr>
              <p:cNvPr id="6211" name="Oval 27"/>
              <p:cNvSpPr/>
              <p:nvPr/>
            </p:nvSpPr>
            <p:spPr>
              <a:xfrm>
                <a:off x="6443" y="10117"/>
                <a:ext cx="57" cy="57"/>
              </a:xfrm>
              <a:prstGeom prst="ellipse">
                <a:avLst/>
              </a:prstGeom>
              <a:solidFill>
                <a:srgbClr val="FFFFFF"/>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12" name="Rectangle 28"/>
              <p:cNvSpPr/>
              <p:nvPr/>
            </p:nvSpPr>
            <p:spPr>
              <a:xfrm>
                <a:off x="5901" y="10477"/>
                <a:ext cx="540" cy="780"/>
              </a:xfrm>
              <a:prstGeom prst="rect">
                <a:avLst/>
              </a:prstGeom>
              <a:solidFill>
                <a:srgbClr val="99CCFF"/>
              </a:solidFill>
              <a:ln w="19050" cap="flat" cmpd="sng">
                <a:solidFill>
                  <a:srgbClr val="000000"/>
                </a:solidFill>
                <a:prstDash val="solid"/>
                <a:miter/>
                <a:headEnd type="none" w="med" len="med"/>
                <a:tailEnd type="none" w="med" len="med"/>
              </a:ln>
            </p:spPr>
            <p:txBody>
              <a:bodyPr lIns="0" tIns="0" rIns="0" bIns="0"/>
              <a:lstStyle/>
              <a:p>
                <a:pPr algn="just">
                  <a:lnSpc>
                    <a:spcPct val="96000"/>
                  </a:lnSpc>
                </a:pPr>
                <a:r>
                  <a:rPr lang="en-US" altLang="zh-CN" sz="2000" i="1" dirty="0">
                    <a:latin typeface="Times New Roman" panose="02020603050405020304" pitchFamily="18" charset="0"/>
                  </a:rPr>
                  <a:t>D</a:t>
                </a:r>
              </a:p>
              <a:p>
                <a:pPr algn="just">
                  <a:lnSpc>
                    <a:spcPct val="96000"/>
                  </a:lnSpc>
                </a:pPr>
                <a:r>
                  <a:rPr lang="en-US" altLang="zh-CN" sz="2000" i="1" dirty="0">
                    <a:latin typeface="Times New Roman" panose="02020603050405020304" pitchFamily="18" charset="0"/>
                  </a:rPr>
                  <a:t>  C</a:t>
                </a:r>
              </a:p>
              <a:p>
                <a:pPr algn="just">
                  <a:lnSpc>
                    <a:spcPct val="96000"/>
                  </a:lnSpc>
                </a:pPr>
                <a:r>
                  <a:rPr lang="en-US" altLang="zh-CN" sz="2000" i="1" dirty="0">
                    <a:latin typeface="Times New Roman" panose="02020603050405020304" pitchFamily="18" charset="0"/>
                  </a:rPr>
                  <a:t>R</a:t>
                </a:r>
                <a:endParaRPr lang="en-US" altLang="zh-CN" sz="4000" dirty="0">
                  <a:latin typeface="Arial" panose="020B0604020202020204" pitchFamily="34" charset="0"/>
                </a:endParaRPr>
              </a:p>
            </p:txBody>
          </p:sp>
          <p:sp>
            <p:nvSpPr>
              <p:cNvPr id="6213" name="Freeform 29"/>
              <p:cNvSpPr/>
              <p:nvPr/>
            </p:nvSpPr>
            <p:spPr>
              <a:xfrm>
                <a:off x="5916" y="10801"/>
                <a:ext cx="119" cy="102"/>
              </a:xfrm>
              <a:custGeom>
                <a:avLst/>
                <a:gdLst>
                  <a:gd name="txL" fmla="*/ 0 w 60"/>
                  <a:gd name="txT" fmla="*/ 0 h 156"/>
                  <a:gd name="txR" fmla="*/ 60 w 60"/>
                  <a:gd name="txB" fmla="*/ 156 h 156"/>
                </a:gdLst>
                <a:ahLst/>
                <a:cxnLst>
                  <a:cxn ang="0">
                    <a:pos x="0" y="0"/>
                  </a:cxn>
                  <a:cxn ang="0">
                    <a:pos x="236" y="35"/>
                  </a:cxn>
                  <a:cxn ang="0">
                    <a:pos x="4" y="67"/>
                  </a:cxn>
                </a:cxnLst>
                <a:rect l="txL" t="txT" r="txR" b="txB"/>
                <a:pathLst>
                  <a:path w="60" h="156">
                    <a:moveTo>
                      <a:pt x="0" y="0"/>
                    </a:moveTo>
                    <a:lnTo>
                      <a:pt x="60" y="81"/>
                    </a:lnTo>
                    <a:lnTo>
                      <a:pt x="1" y="156"/>
                    </a:lnTo>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6214" name="Oval 30"/>
              <p:cNvSpPr/>
              <p:nvPr/>
            </p:nvSpPr>
            <p:spPr>
              <a:xfrm>
                <a:off x="5841" y="10803"/>
                <a:ext cx="57" cy="57"/>
              </a:xfrm>
              <a:prstGeom prst="ellipse">
                <a:avLst/>
              </a:prstGeom>
              <a:solidFill>
                <a:srgbClr val="FFFFFF"/>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15" name="Oval 31"/>
              <p:cNvSpPr/>
              <p:nvPr/>
            </p:nvSpPr>
            <p:spPr>
              <a:xfrm>
                <a:off x="5841" y="11068"/>
                <a:ext cx="57" cy="57"/>
              </a:xfrm>
              <a:prstGeom prst="ellipse">
                <a:avLst/>
              </a:prstGeom>
              <a:solidFill>
                <a:srgbClr val="FFFFFF"/>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16" name="Line 32"/>
              <p:cNvSpPr/>
              <p:nvPr/>
            </p:nvSpPr>
            <p:spPr>
              <a:xfrm>
                <a:off x="5481" y="10831"/>
                <a:ext cx="360" cy="0"/>
              </a:xfrm>
              <a:prstGeom prst="line">
                <a:avLst/>
              </a:prstGeom>
              <a:ln w="19050" cap="flat" cmpd="sng">
                <a:solidFill>
                  <a:srgbClr val="000000"/>
                </a:solidFill>
                <a:prstDash val="solid"/>
                <a:headEnd type="none" w="med" len="med"/>
                <a:tailEnd type="none" w="med" len="med"/>
              </a:ln>
            </p:spPr>
          </p:sp>
          <p:sp>
            <p:nvSpPr>
              <p:cNvPr id="6217" name="Line 33"/>
              <p:cNvSpPr/>
              <p:nvPr/>
            </p:nvSpPr>
            <p:spPr>
              <a:xfrm>
                <a:off x="5661" y="11098"/>
                <a:ext cx="180" cy="0"/>
              </a:xfrm>
              <a:prstGeom prst="line">
                <a:avLst/>
              </a:prstGeom>
              <a:ln w="19050" cap="flat" cmpd="sng">
                <a:solidFill>
                  <a:srgbClr val="000000"/>
                </a:solidFill>
                <a:prstDash val="solid"/>
                <a:headEnd type="none" w="med" len="med"/>
                <a:tailEnd type="none" w="med" len="med"/>
              </a:ln>
            </p:spPr>
          </p:sp>
          <p:sp>
            <p:nvSpPr>
              <p:cNvPr id="6218" name="Line 34"/>
              <p:cNvSpPr/>
              <p:nvPr/>
            </p:nvSpPr>
            <p:spPr>
              <a:xfrm>
                <a:off x="4880" y="10600"/>
                <a:ext cx="1026" cy="0"/>
              </a:xfrm>
              <a:prstGeom prst="line">
                <a:avLst/>
              </a:prstGeom>
              <a:ln w="19050" cap="flat" cmpd="sng">
                <a:solidFill>
                  <a:srgbClr val="000000"/>
                </a:solidFill>
                <a:prstDash val="solid"/>
                <a:headEnd type="none" w="med" len="med"/>
                <a:tailEnd type="none" w="med" len="med"/>
              </a:ln>
            </p:spPr>
          </p:sp>
          <p:sp>
            <p:nvSpPr>
              <p:cNvPr id="6219" name="Line 35"/>
              <p:cNvSpPr/>
              <p:nvPr/>
            </p:nvSpPr>
            <p:spPr>
              <a:xfrm>
                <a:off x="6441" y="10645"/>
                <a:ext cx="249" cy="0"/>
              </a:xfrm>
              <a:prstGeom prst="line">
                <a:avLst/>
              </a:prstGeom>
              <a:ln w="19050" cap="flat" cmpd="sng">
                <a:solidFill>
                  <a:srgbClr val="000000"/>
                </a:solidFill>
                <a:prstDash val="solid"/>
                <a:headEnd type="none" w="med" len="med"/>
                <a:tailEnd type="none" w="med" len="med"/>
              </a:ln>
            </p:spPr>
          </p:sp>
          <p:sp>
            <p:nvSpPr>
              <p:cNvPr id="6220" name="Line 36"/>
              <p:cNvSpPr/>
              <p:nvPr/>
            </p:nvSpPr>
            <p:spPr>
              <a:xfrm>
                <a:off x="6471" y="11086"/>
                <a:ext cx="249" cy="0"/>
              </a:xfrm>
              <a:prstGeom prst="line">
                <a:avLst/>
              </a:prstGeom>
              <a:ln w="19050" cap="flat" cmpd="sng">
                <a:solidFill>
                  <a:srgbClr val="000000"/>
                </a:solidFill>
                <a:prstDash val="solid"/>
                <a:headEnd type="none" w="med" len="med"/>
                <a:tailEnd type="none" w="med" len="med"/>
              </a:ln>
            </p:spPr>
          </p:sp>
          <p:sp>
            <p:nvSpPr>
              <p:cNvPr id="6221" name="Oval 37"/>
              <p:cNvSpPr/>
              <p:nvPr/>
            </p:nvSpPr>
            <p:spPr>
              <a:xfrm>
                <a:off x="6435" y="11058"/>
                <a:ext cx="57" cy="57"/>
              </a:xfrm>
              <a:prstGeom prst="ellipse">
                <a:avLst/>
              </a:prstGeom>
              <a:solidFill>
                <a:srgbClr val="FFFFFF"/>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22" name="Rectangle 38"/>
              <p:cNvSpPr/>
              <p:nvPr/>
            </p:nvSpPr>
            <p:spPr>
              <a:xfrm>
                <a:off x="5901" y="11398"/>
                <a:ext cx="540" cy="780"/>
              </a:xfrm>
              <a:prstGeom prst="rect">
                <a:avLst/>
              </a:prstGeom>
              <a:solidFill>
                <a:srgbClr val="99CCFF"/>
              </a:solidFill>
              <a:ln w="19050" cap="flat" cmpd="sng">
                <a:solidFill>
                  <a:srgbClr val="000000"/>
                </a:solidFill>
                <a:prstDash val="solid"/>
                <a:miter/>
                <a:headEnd type="none" w="med" len="med"/>
                <a:tailEnd type="none" w="med" len="med"/>
              </a:ln>
            </p:spPr>
            <p:txBody>
              <a:bodyPr lIns="0" tIns="0" rIns="0" bIns="0"/>
              <a:lstStyle/>
              <a:p>
                <a:pPr algn="just">
                  <a:lnSpc>
                    <a:spcPct val="96000"/>
                  </a:lnSpc>
                </a:pPr>
                <a:r>
                  <a:rPr lang="en-US" altLang="zh-CN" sz="2000" i="1" dirty="0">
                    <a:latin typeface="Times New Roman" panose="02020603050405020304" pitchFamily="18" charset="0"/>
                  </a:rPr>
                  <a:t>D</a:t>
                </a:r>
              </a:p>
              <a:p>
                <a:pPr algn="just">
                  <a:lnSpc>
                    <a:spcPct val="96000"/>
                  </a:lnSpc>
                </a:pPr>
                <a:r>
                  <a:rPr lang="en-US" altLang="zh-CN" sz="2000" i="1" dirty="0">
                    <a:latin typeface="Times New Roman" panose="02020603050405020304" pitchFamily="18" charset="0"/>
                  </a:rPr>
                  <a:t>  C</a:t>
                </a:r>
              </a:p>
              <a:p>
                <a:pPr algn="just">
                  <a:lnSpc>
                    <a:spcPct val="96000"/>
                  </a:lnSpc>
                </a:pPr>
                <a:r>
                  <a:rPr lang="en-US" altLang="zh-CN" sz="2000" i="1" dirty="0">
                    <a:latin typeface="Times New Roman" panose="02020603050405020304" pitchFamily="18" charset="0"/>
                  </a:rPr>
                  <a:t>R</a:t>
                </a:r>
                <a:endParaRPr lang="en-US" altLang="zh-CN" sz="4000" dirty="0">
                  <a:latin typeface="Arial" panose="020B0604020202020204" pitchFamily="34" charset="0"/>
                </a:endParaRPr>
              </a:p>
            </p:txBody>
          </p:sp>
          <p:sp>
            <p:nvSpPr>
              <p:cNvPr id="6223" name="Freeform 39"/>
              <p:cNvSpPr/>
              <p:nvPr/>
            </p:nvSpPr>
            <p:spPr>
              <a:xfrm>
                <a:off x="5916" y="11722"/>
                <a:ext cx="119" cy="102"/>
              </a:xfrm>
              <a:custGeom>
                <a:avLst/>
                <a:gdLst>
                  <a:gd name="txL" fmla="*/ 0 w 60"/>
                  <a:gd name="txT" fmla="*/ 0 h 156"/>
                  <a:gd name="txR" fmla="*/ 60 w 60"/>
                  <a:gd name="txB" fmla="*/ 156 h 156"/>
                </a:gdLst>
                <a:ahLst/>
                <a:cxnLst>
                  <a:cxn ang="0">
                    <a:pos x="0" y="0"/>
                  </a:cxn>
                  <a:cxn ang="0">
                    <a:pos x="236" y="35"/>
                  </a:cxn>
                  <a:cxn ang="0">
                    <a:pos x="4" y="67"/>
                  </a:cxn>
                </a:cxnLst>
                <a:rect l="txL" t="txT" r="txR" b="txB"/>
                <a:pathLst>
                  <a:path w="60" h="156">
                    <a:moveTo>
                      <a:pt x="0" y="0"/>
                    </a:moveTo>
                    <a:lnTo>
                      <a:pt x="60" y="81"/>
                    </a:lnTo>
                    <a:lnTo>
                      <a:pt x="1" y="156"/>
                    </a:lnTo>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6224" name="Oval 40"/>
              <p:cNvSpPr/>
              <p:nvPr/>
            </p:nvSpPr>
            <p:spPr>
              <a:xfrm>
                <a:off x="5841" y="11740"/>
                <a:ext cx="57" cy="57"/>
              </a:xfrm>
              <a:prstGeom prst="ellipse">
                <a:avLst/>
              </a:prstGeom>
              <a:solidFill>
                <a:srgbClr val="FFFFFF"/>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25" name="Oval 41"/>
              <p:cNvSpPr/>
              <p:nvPr/>
            </p:nvSpPr>
            <p:spPr>
              <a:xfrm>
                <a:off x="5841" y="11989"/>
                <a:ext cx="57" cy="57"/>
              </a:xfrm>
              <a:prstGeom prst="ellipse">
                <a:avLst/>
              </a:prstGeom>
              <a:solidFill>
                <a:srgbClr val="FFFFFF"/>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26" name="Line 42"/>
              <p:cNvSpPr/>
              <p:nvPr/>
            </p:nvSpPr>
            <p:spPr>
              <a:xfrm>
                <a:off x="5481" y="11768"/>
                <a:ext cx="360" cy="0"/>
              </a:xfrm>
              <a:prstGeom prst="line">
                <a:avLst/>
              </a:prstGeom>
              <a:ln w="19050" cap="flat" cmpd="sng">
                <a:solidFill>
                  <a:srgbClr val="000000"/>
                </a:solidFill>
                <a:prstDash val="solid"/>
                <a:headEnd type="none" w="med" len="med"/>
                <a:tailEnd type="none" w="med" len="med"/>
              </a:ln>
            </p:spPr>
          </p:sp>
          <p:sp>
            <p:nvSpPr>
              <p:cNvPr id="6227" name="Line 43"/>
              <p:cNvSpPr/>
              <p:nvPr/>
            </p:nvSpPr>
            <p:spPr>
              <a:xfrm>
                <a:off x="5661" y="12019"/>
                <a:ext cx="180" cy="0"/>
              </a:xfrm>
              <a:prstGeom prst="line">
                <a:avLst/>
              </a:prstGeom>
              <a:ln w="19050" cap="flat" cmpd="sng">
                <a:solidFill>
                  <a:srgbClr val="000000"/>
                </a:solidFill>
                <a:prstDash val="solid"/>
                <a:headEnd type="none" w="med" len="med"/>
                <a:tailEnd type="none" w="med" len="med"/>
              </a:ln>
            </p:spPr>
          </p:sp>
          <p:sp>
            <p:nvSpPr>
              <p:cNvPr id="6228" name="Line 44"/>
              <p:cNvSpPr/>
              <p:nvPr/>
            </p:nvSpPr>
            <p:spPr>
              <a:xfrm>
                <a:off x="4881" y="11521"/>
                <a:ext cx="1026" cy="0"/>
              </a:xfrm>
              <a:prstGeom prst="line">
                <a:avLst/>
              </a:prstGeom>
              <a:ln w="19050" cap="flat" cmpd="sng">
                <a:solidFill>
                  <a:srgbClr val="000000"/>
                </a:solidFill>
                <a:prstDash val="solid"/>
                <a:headEnd type="none" w="med" len="med"/>
                <a:tailEnd type="none" w="med" len="med"/>
              </a:ln>
            </p:spPr>
          </p:sp>
          <p:sp>
            <p:nvSpPr>
              <p:cNvPr id="6229" name="Line 45"/>
              <p:cNvSpPr/>
              <p:nvPr/>
            </p:nvSpPr>
            <p:spPr>
              <a:xfrm>
                <a:off x="6441" y="11566"/>
                <a:ext cx="249" cy="0"/>
              </a:xfrm>
              <a:prstGeom prst="line">
                <a:avLst/>
              </a:prstGeom>
              <a:ln w="19050" cap="flat" cmpd="sng">
                <a:solidFill>
                  <a:srgbClr val="000000"/>
                </a:solidFill>
                <a:prstDash val="solid"/>
                <a:headEnd type="none" w="med" len="med"/>
                <a:tailEnd type="none" w="med" len="med"/>
              </a:ln>
            </p:spPr>
          </p:sp>
          <p:sp>
            <p:nvSpPr>
              <p:cNvPr id="6230" name="Line 46"/>
              <p:cNvSpPr/>
              <p:nvPr/>
            </p:nvSpPr>
            <p:spPr>
              <a:xfrm>
                <a:off x="6471" y="12007"/>
                <a:ext cx="249" cy="0"/>
              </a:xfrm>
              <a:prstGeom prst="line">
                <a:avLst/>
              </a:prstGeom>
              <a:ln w="19050" cap="flat" cmpd="sng">
                <a:solidFill>
                  <a:srgbClr val="000000"/>
                </a:solidFill>
                <a:prstDash val="solid"/>
                <a:headEnd type="none" w="med" len="med"/>
                <a:tailEnd type="none" w="med" len="med"/>
              </a:ln>
            </p:spPr>
          </p:sp>
          <p:sp>
            <p:nvSpPr>
              <p:cNvPr id="6231" name="Oval 47"/>
              <p:cNvSpPr/>
              <p:nvPr/>
            </p:nvSpPr>
            <p:spPr>
              <a:xfrm>
                <a:off x="6443" y="11979"/>
                <a:ext cx="57" cy="57"/>
              </a:xfrm>
              <a:prstGeom prst="ellipse">
                <a:avLst/>
              </a:prstGeom>
              <a:solidFill>
                <a:srgbClr val="FFFFFF"/>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32" name="Rectangle 48"/>
              <p:cNvSpPr/>
              <p:nvPr/>
            </p:nvSpPr>
            <p:spPr>
              <a:xfrm>
                <a:off x="5901" y="12334"/>
                <a:ext cx="540" cy="780"/>
              </a:xfrm>
              <a:prstGeom prst="rect">
                <a:avLst/>
              </a:prstGeom>
              <a:solidFill>
                <a:srgbClr val="99CCFF"/>
              </a:solidFill>
              <a:ln w="19050" cap="flat" cmpd="sng">
                <a:solidFill>
                  <a:srgbClr val="000000"/>
                </a:solidFill>
                <a:prstDash val="solid"/>
                <a:miter/>
                <a:headEnd type="none" w="med" len="med"/>
                <a:tailEnd type="none" w="med" len="med"/>
              </a:ln>
            </p:spPr>
            <p:txBody>
              <a:bodyPr lIns="0" tIns="0" rIns="0" bIns="0"/>
              <a:lstStyle/>
              <a:p>
                <a:pPr algn="just">
                  <a:lnSpc>
                    <a:spcPct val="96000"/>
                  </a:lnSpc>
                </a:pPr>
                <a:r>
                  <a:rPr lang="en-US" altLang="zh-CN" sz="2000" i="1" dirty="0">
                    <a:latin typeface="Times New Roman" panose="02020603050405020304" pitchFamily="18" charset="0"/>
                  </a:rPr>
                  <a:t>D</a:t>
                </a:r>
              </a:p>
              <a:p>
                <a:pPr algn="just">
                  <a:lnSpc>
                    <a:spcPct val="96000"/>
                  </a:lnSpc>
                </a:pPr>
                <a:r>
                  <a:rPr lang="en-US" altLang="zh-CN" sz="2000" i="1" dirty="0">
                    <a:latin typeface="Times New Roman" panose="02020603050405020304" pitchFamily="18" charset="0"/>
                  </a:rPr>
                  <a:t>  C</a:t>
                </a:r>
              </a:p>
              <a:p>
                <a:pPr algn="just">
                  <a:lnSpc>
                    <a:spcPct val="96000"/>
                  </a:lnSpc>
                </a:pPr>
                <a:r>
                  <a:rPr lang="en-US" altLang="zh-CN" sz="2000" i="1" dirty="0">
                    <a:latin typeface="Times New Roman" panose="02020603050405020304" pitchFamily="18" charset="0"/>
                  </a:rPr>
                  <a:t>R</a:t>
                </a:r>
                <a:endParaRPr lang="en-US" altLang="zh-CN" sz="4000" dirty="0">
                  <a:latin typeface="Arial" panose="020B0604020202020204" pitchFamily="34" charset="0"/>
                </a:endParaRPr>
              </a:p>
            </p:txBody>
          </p:sp>
          <p:sp>
            <p:nvSpPr>
              <p:cNvPr id="6233" name="Freeform 49"/>
              <p:cNvSpPr/>
              <p:nvPr/>
            </p:nvSpPr>
            <p:spPr>
              <a:xfrm>
                <a:off x="5916" y="12658"/>
                <a:ext cx="119" cy="102"/>
              </a:xfrm>
              <a:custGeom>
                <a:avLst/>
                <a:gdLst>
                  <a:gd name="txL" fmla="*/ 0 w 60"/>
                  <a:gd name="txT" fmla="*/ 0 h 156"/>
                  <a:gd name="txR" fmla="*/ 60 w 60"/>
                  <a:gd name="txB" fmla="*/ 156 h 156"/>
                </a:gdLst>
                <a:ahLst/>
                <a:cxnLst>
                  <a:cxn ang="0">
                    <a:pos x="0" y="0"/>
                  </a:cxn>
                  <a:cxn ang="0">
                    <a:pos x="236" y="35"/>
                  </a:cxn>
                  <a:cxn ang="0">
                    <a:pos x="4" y="67"/>
                  </a:cxn>
                </a:cxnLst>
                <a:rect l="txL" t="txT" r="txR" b="txB"/>
                <a:pathLst>
                  <a:path w="60" h="156">
                    <a:moveTo>
                      <a:pt x="0" y="0"/>
                    </a:moveTo>
                    <a:lnTo>
                      <a:pt x="60" y="81"/>
                    </a:lnTo>
                    <a:lnTo>
                      <a:pt x="1" y="156"/>
                    </a:lnTo>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6234" name="Oval 50"/>
              <p:cNvSpPr/>
              <p:nvPr/>
            </p:nvSpPr>
            <p:spPr>
              <a:xfrm>
                <a:off x="5841" y="12676"/>
                <a:ext cx="57" cy="57"/>
              </a:xfrm>
              <a:prstGeom prst="ellipse">
                <a:avLst/>
              </a:prstGeom>
              <a:solidFill>
                <a:srgbClr val="FFFFFF"/>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35" name="Oval 51"/>
              <p:cNvSpPr/>
              <p:nvPr/>
            </p:nvSpPr>
            <p:spPr>
              <a:xfrm>
                <a:off x="5841" y="12925"/>
                <a:ext cx="57" cy="57"/>
              </a:xfrm>
              <a:prstGeom prst="ellipse">
                <a:avLst/>
              </a:prstGeom>
              <a:solidFill>
                <a:srgbClr val="FFFFFF"/>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36" name="Line 52"/>
              <p:cNvSpPr/>
              <p:nvPr/>
            </p:nvSpPr>
            <p:spPr>
              <a:xfrm>
                <a:off x="5481" y="12704"/>
                <a:ext cx="360" cy="0"/>
              </a:xfrm>
              <a:prstGeom prst="line">
                <a:avLst/>
              </a:prstGeom>
              <a:ln w="19050" cap="flat" cmpd="sng">
                <a:solidFill>
                  <a:srgbClr val="000000"/>
                </a:solidFill>
                <a:prstDash val="solid"/>
                <a:headEnd type="none" w="med" len="med"/>
                <a:tailEnd type="none" w="med" len="med"/>
              </a:ln>
            </p:spPr>
          </p:sp>
          <p:sp>
            <p:nvSpPr>
              <p:cNvPr id="6237" name="Line 53"/>
              <p:cNvSpPr/>
              <p:nvPr/>
            </p:nvSpPr>
            <p:spPr>
              <a:xfrm>
                <a:off x="5661" y="12955"/>
                <a:ext cx="180" cy="0"/>
              </a:xfrm>
              <a:prstGeom prst="line">
                <a:avLst/>
              </a:prstGeom>
              <a:ln w="19050" cap="flat" cmpd="sng">
                <a:solidFill>
                  <a:srgbClr val="000000"/>
                </a:solidFill>
                <a:prstDash val="solid"/>
                <a:headEnd type="none" w="med" len="med"/>
                <a:tailEnd type="none" w="med" len="med"/>
              </a:ln>
            </p:spPr>
          </p:sp>
          <p:sp>
            <p:nvSpPr>
              <p:cNvPr id="6238" name="Line 54"/>
              <p:cNvSpPr/>
              <p:nvPr/>
            </p:nvSpPr>
            <p:spPr>
              <a:xfrm flipV="1">
                <a:off x="4881" y="12457"/>
                <a:ext cx="1026" cy="0"/>
              </a:xfrm>
              <a:prstGeom prst="line">
                <a:avLst/>
              </a:prstGeom>
              <a:ln w="19050" cap="flat" cmpd="sng">
                <a:solidFill>
                  <a:srgbClr val="000000"/>
                </a:solidFill>
                <a:prstDash val="solid"/>
                <a:headEnd type="none" w="med" len="med"/>
                <a:tailEnd type="none" w="med" len="med"/>
              </a:ln>
            </p:spPr>
          </p:sp>
          <p:sp>
            <p:nvSpPr>
              <p:cNvPr id="6239" name="Line 55"/>
              <p:cNvSpPr/>
              <p:nvPr/>
            </p:nvSpPr>
            <p:spPr>
              <a:xfrm>
                <a:off x="6441" y="12502"/>
                <a:ext cx="249" cy="0"/>
              </a:xfrm>
              <a:prstGeom prst="line">
                <a:avLst/>
              </a:prstGeom>
              <a:ln w="19050" cap="flat" cmpd="sng">
                <a:solidFill>
                  <a:srgbClr val="000000"/>
                </a:solidFill>
                <a:prstDash val="solid"/>
                <a:headEnd type="none" w="med" len="med"/>
                <a:tailEnd type="none" w="med" len="med"/>
              </a:ln>
            </p:spPr>
          </p:sp>
          <p:sp>
            <p:nvSpPr>
              <p:cNvPr id="6240" name="Line 56"/>
              <p:cNvSpPr/>
              <p:nvPr/>
            </p:nvSpPr>
            <p:spPr>
              <a:xfrm>
                <a:off x="6471" y="12943"/>
                <a:ext cx="249" cy="0"/>
              </a:xfrm>
              <a:prstGeom prst="line">
                <a:avLst/>
              </a:prstGeom>
              <a:ln w="19050" cap="flat" cmpd="sng">
                <a:solidFill>
                  <a:srgbClr val="000000"/>
                </a:solidFill>
                <a:prstDash val="solid"/>
                <a:headEnd type="none" w="med" len="med"/>
                <a:tailEnd type="none" w="med" len="med"/>
              </a:ln>
            </p:spPr>
          </p:sp>
          <p:sp>
            <p:nvSpPr>
              <p:cNvPr id="6241" name="Oval 57"/>
              <p:cNvSpPr/>
              <p:nvPr/>
            </p:nvSpPr>
            <p:spPr>
              <a:xfrm>
                <a:off x="6443" y="12915"/>
                <a:ext cx="57" cy="57"/>
              </a:xfrm>
              <a:prstGeom prst="ellipse">
                <a:avLst/>
              </a:prstGeom>
              <a:solidFill>
                <a:srgbClr val="FFFFFF"/>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42" name="Line 58"/>
              <p:cNvSpPr/>
              <p:nvPr/>
            </p:nvSpPr>
            <p:spPr>
              <a:xfrm>
                <a:off x="5661" y="10168"/>
                <a:ext cx="0" cy="3334"/>
              </a:xfrm>
              <a:prstGeom prst="line">
                <a:avLst/>
              </a:prstGeom>
              <a:ln w="19050" cap="flat" cmpd="sng">
                <a:solidFill>
                  <a:srgbClr val="000000"/>
                </a:solidFill>
                <a:prstDash val="solid"/>
                <a:headEnd type="none" w="med" len="med"/>
                <a:tailEnd type="none" w="med" len="med"/>
              </a:ln>
            </p:spPr>
          </p:sp>
          <p:sp>
            <p:nvSpPr>
              <p:cNvPr id="6243" name="Line 59"/>
              <p:cNvSpPr/>
              <p:nvPr/>
            </p:nvSpPr>
            <p:spPr>
              <a:xfrm>
                <a:off x="5466" y="9898"/>
                <a:ext cx="0" cy="3120"/>
              </a:xfrm>
              <a:prstGeom prst="line">
                <a:avLst/>
              </a:prstGeom>
              <a:ln w="19050" cap="flat" cmpd="sng">
                <a:solidFill>
                  <a:srgbClr val="000000"/>
                </a:solidFill>
                <a:prstDash val="solid"/>
                <a:headEnd type="none" w="med" len="med"/>
                <a:tailEnd type="none" w="med" len="med"/>
              </a:ln>
            </p:spPr>
          </p:sp>
          <p:sp>
            <p:nvSpPr>
              <p:cNvPr id="6244" name="Line 60"/>
              <p:cNvSpPr/>
              <p:nvPr/>
            </p:nvSpPr>
            <p:spPr>
              <a:xfrm>
                <a:off x="5286" y="13018"/>
                <a:ext cx="180" cy="0"/>
              </a:xfrm>
              <a:prstGeom prst="line">
                <a:avLst/>
              </a:prstGeom>
              <a:ln w="19050" cap="flat" cmpd="sng">
                <a:solidFill>
                  <a:srgbClr val="000000"/>
                </a:solidFill>
                <a:prstDash val="solid"/>
                <a:headEnd type="none" w="med" len="med"/>
                <a:tailEnd type="none" w="med" len="med"/>
              </a:ln>
            </p:spPr>
          </p:sp>
          <p:sp>
            <p:nvSpPr>
              <p:cNvPr id="6245" name="Rectangle 61"/>
              <p:cNvSpPr/>
              <p:nvPr/>
            </p:nvSpPr>
            <p:spPr>
              <a:xfrm>
                <a:off x="5046" y="12817"/>
                <a:ext cx="238" cy="414"/>
              </a:xfrm>
              <a:prstGeom prst="rect">
                <a:avLst/>
              </a:prstGeom>
              <a:solidFill>
                <a:srgbClr val="99CCFF"/>
              </a:solidFill>
              <a:ln w="19050" cap="flat" cmpd="sng">
                <a:solidFill>
                  <a:srgbClr val="000000"/>
                </a:solidFill>
                <a:prstDash val="solid"/>
                <a:miter/>
                <a:headEnd type="none" w="med" len="med"/>
                <a:tailEnd type="none" w="med" len="med"/>
              </a:ln>
            </p:spPr>
            <p:txBody>
              <a:bodyPr lIns="0" tIns="0" rIns="0" bIns="0"/>
              <a:lstStyle/>
              <a:p>
                <a:pPr algn="ctr"/>
                <a:r>
                  <a:rPr lang="en-US" altLang="zh-CN" sz="2000" dirty="0">
                    <a:latin typeface="Times New Roman" panose="02020603050405020304" pitchFamily="18" charset="0"/>
                  </a:rPr>
                  <a:t>1</a:t>
                </a:r>
                <a:endParaRPr lang="en-US" altLang="zh-CN" sz="4000" dirty="0">
                  <a:latin typeface="Arial" panose="020B0604020202020204" pitchFamily="34" charset="0"/>
                </a:endParaRPr>
              </a:p>
            </p:txBody>
          </p:sp>
          <p:sp>
            <p:nvSpPr>
              <p:cNvPr id="6246" name="Oval 62"/>
              <p:cNvSpPr/>
              <p:nvPr/>
            </p:nvSpPr>
            <p:spPr>
              <a:xfrm>
                <a:off x="5289" y="12987"/>
                <a:ext cx="57" cy="57"/>
              </a:xfrm>
              <a:prstGeom prst="ellipse">
                <a:avLst/>
              </a:prstGeom>
              <a:solidFill>
                <a:srgbClr val="FFFFFF"/>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47" name="Oval 63"/>
              <p:cNvSpPr/>
              <p:nvPr/>
            </p:nvSpPr>
            <p:spPr>
              <a:xfrm>
                <a:off x="5286" y="13479"/>
                <a:ext cx="57" cy="57"/>
              </a:xfrm>
              <a:prstGeom prst="ellipse">
                <a:avLst/>
              </a:prstGeom>
              <a:solidFill>
                <a:srgbClr val="FFFFFF"/>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48" name="Rectangle 64"/>
              <p:cNvSpPr/>
              <p:nvPr/>
            </p:nvSpPr>
            <p:spPr>
              <a:xfrm>
                <a:off x="5046" y="13330"/>
                <a:ext cx="238" cy="414"/>
              </a:xfrm>
              <a:prstGeom prst="rect">
                <a:avLst/>
              </a:prstGeom>
              <a:solidFill>
                <a:srgbClr val="99CCFF"/>
              </a:solidFill>
              <a:ln w="19050" cap="flat" cmpd="sng">
                <a:solidFill>
                  <a:srgbClr val="000000"/>
                </a:solidFill>
                <a:prstDash val="solid"/>
                <a:miter/>
                <a:headEnd type="none" w="med" len="med"/>
                <a:tailEnd type="none" w="med" len="med"/>
              </a:ln>
            </p:spPr>
            <p:txBody>
              <a:bodyPr lIns="0" tIns="0" rIns="0" bIns="0"/>
              <a:lstStyle/>
              <a:p>
                <a:pPr algn="ctr"/>
                <a:r>
                  <a:rPr lang="en-US" altLang="zh-CN" sz="2000" dirty="0">
                    <a:latin typeface="Times New Roman" panose="02020603050405020304" pitchFamily="18" charset="0"/>
                  </a:rPr>
                  <a:t>1</a:t>
                </a:r>
                <a:endParaRPr lang="en-US" altLang="zh-CN" sz="4000" dirty="0">
                  <a:latin typeface="Arial" panose="020B0604020202020204" pitchFamily="34" charset="0"/>
                </a:endParaRPr>
              </a:p>
            </p:txBody>
          </p:sp>
          <p:sp>
            <p:nvSpPr>
              <p:cNvPr id="6249" name="Line 65"/>
              <p:cNvSpPr/>
              <p:nvPr/>
            </p:nvSpPr>
            <p:spPr>
              <a:xfrm>
                <a:off x="5346" y="13507"/>
                <a:ext cx="306" cy="0"/>
              </a:xfrm>
              <a:prstGeom prst="line">
                <a:avLst/>
              </a:prstGeom>
              <a:ln w="19050" cap="flat" cmpd="sng">
                <a:solidFill>
                  <a:srgbClr val="000000"/>
                </a:solidFill>
                <a:prstDash val="solid"/>
                <a:headEnd type="none" w="med" len="med"/>
                <a:tailEnd type="none" w="med" len="med"/>
              </a:ln>
            </p:spPr>
          </p:sp>
          <p:sp>
            <p:nvSpPr>
              <p:cNvPr id="6250" name="Line 66"/>
              <p:cNvSpPr/>
              <p:nvPr/>
            </p:nvSpPr>
            <p:spPr>
              <a:xfrm>
                <a:off x="4830" y="13018"/>
                <a:ext cx="204" cy="0"/>
              </a:xfrm>
              <a:prstGeom prst="line">
                <a:avLst/>
              </a:prstGeom>
              <a:ln w="19050" cap="flat" cmpd="sng">
                <a:solidFill>
                  <a:srgbClr val="000000"/>
                </a:solidFill>
                <a:prstDash val="solid"/>
                <a:headEnd type="none" w="med" len="med"/>
                <a:tailEnd type="none" w="med" len="med"/>
              </a:ln>
            </p:spPr>
          </p:sp>
          <p:sp>
            <p:nvSpPr>
              <p:cNvPr id="6251" name="Line 67"/>
              <p:cNvSpPr/>
              <p:nvPr/>
            </p:nvSpPr>
            <p:spPr>
              <a:xfrm>
                <a:off x="4851" y="13537"/>
                <a:ext cx="180" cy="0"/>
              </a:xfrm>
              <a:prstGeom prst="line">
                <a:avLst/>
              </a:prstGeom>
              <a:ln w="19050" cap="flat" cmpd="sng">
                <a:solidFill>
                  <a:srgbClr val="000000"/>
                </a:solidFill>
                <a:prstDash val="solid"/>
                <a:headEnd type="none" w="med" len="med"/>
                <a:tailEnd type="none" w="med" len="med"/>
              </a:ln>
            </p:spPr>
          </p:sp>
          <p:sp>
            <p:nvSpPr>
              <p:cNvPr id="6252" name="Oval 68"/>
              <p:cNvSpPr/>
              <p:nvPr/>
            </p:nvSpPr>
            <p:spPr>
              <a:xfrm>
                <a:off x="5439" y="10804"/>
                <a:ext cx="57" cy="57"/>
              </a:xfrm>
              <a:prstGeom prst="ellipse">
                <a:avLst/>
              </a:prstGeom>
              <a:solidFill>
                <a:srgbClr val="000000"/>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53" name="Oval 69"/>
              <p:cNvSpPr/>
              <p:nvPr/>
            </p:nvSpPr>
            <p:spPr>
              <a:xfrm>
                <a:off x="5641" y="11067"/>
                <a:ext cx="57" cy="57"/>
              </a:xfrm>
              <a:prstGeom prst="ellipse">
                <a:avLst/>
              </a:prstGeom>
              <a:solidFill>
                <a:srgbClr val="000000"/>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54" name="Oval 70"/>
              <p:cNvSpPr/>
              <p:nvPr/>
            </p:nvSpPr>
            <p:spPr>
              <a:xfrm>
                <a:off x="5436" y="11741"/>
                <a:ext cx="57" cy="57"/>
              </a:xfrm>
              <a:prstGeom prst="ellipse">
                <a:avLst/>
              </a:prstGeom>
              <a:solidFill>
                <a:srgbClr val="000000"/>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55" name="Oval 71"/>
              <p:cNvSpPr/>
              <p:nvPr/>
            </p:nvSpPr>
            <p:spPr>
              <a:xfrm>
                <a:off x="5638" y="11991"/>
                <a:ext cx="57" cy="57"/>
              </a:xfrm>
              <a:prstGeom prst="ellipse">
                <a:avLst/>
              </a:prstGeom>
              <a:solidFill>
                <a:srgbClr val="000000"/>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56" name="Oval 72"/>
              <p:cNvSpPr/>
              <p:nvPr/>
            </p:nvSpPr>
            <p:spPr>
              <a:xfrm>
                <a:off x="5443" y="12677"/>
                <a:ext cx="57" cy="57"/>
              </a:xfrm>
              <a:prstGeom prst="ellipse">
                <a:avLst/>
              </a:prstGeom>
              <a:solidFill>
                <a:srgbClr val="000000"/>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57" name="Oval 73"/>
              <p:cNvSpPr/>
              <p:nvPr/>
            </p:nvSpPr>
            <p:spPr>
              <a:xfrm>
                <a:off x="5630" y="12928"/>
                <a:ext cx="57" cy="57"/>
              </a:xfrm>
              <a:prstGeom prst="ellipse">
                <a:avLst/>
              </a:prstGeom>
              <a:solidFill>
                <a:srgbClr val="000000"/>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58" name="Oval 74"/>
              <p:cNvSpPr/>
              <p:nvPr/>
            </p:nvSpPr>
            <p:spPr>
              <a:xfrm>
                <a:off x="4986" y="13507"/>
                <a:ext cx="57" cy="57"/>
              </a:xfrm>
              <a:prstGeom prst="ellipse">
                <a:avLst/>
              </a:prstGeom>
              <a:solidFill>
                <a:srgbClr val="FFFFFF"/>
              </a:solidFill>
              <a:ln w="19050"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6259" name="Rectangle 75"/>
              <p:cNvSpPr/>
              <p:nvPr/>
            </p:nvSpPr>
            <p:spPr>
              <a:xfrm>
                <a:off x="6720" y="9541"/>
                <a:ext cx="360" cy="312"/>
              </a:xfrm>
              <a:prstGeom prst="rect">
                <a:avLst/>
              </a:prstGeom>
              <a:noFill/>
              <a:ln w="19050">
                <a:noFill/>
              </a:ln>
            </p:spPr>
            <p:txBody>
              <a:bodyPr lIns="0" tIns="0" rIns="0" bIns="0"/>
              <a:lstStyle/>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4000" dirty="0">
                  <a:latin typeface="Arial" panose="020B0604020202020204" pitchFamily="34" charset="0"/>
                </a:endParaRPr>
              </a:p>
            </p:txBody>
          </p:sp>
          <p:sp>
            <p:nvSpPr>
              <p:cNvPr id="6260" name="Rectangle 76"/>
              <p:cNvSpPr/>
              <p:nvPr/>
            </p:nvSpPr>
            <p:spPr>
              <a:xfrm>
                <a:off x="6720" y="10492"/>
                <a:ext cx="360" cy="312"/>
              </a:xfrm>
              <a:prstGeom prst="rect">
                <a:avLst/>
              </a:prstGeom>
              <a:noFill/>
              <a:ln w="19050">
                <a:noFill/>
              </a:ln>
            </p:spPr>
            <p:txBody>
              <a:bodyPr lIns="0" tIns="0" rIns="0" bIns="0"/>
              <a:lstStyle/>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endParaRPr lang="en-US" altLang="zh-CN" sz="4000" dirty="0">
                  <a:latin typeface="Arial" panose="020B0604020202020204" pitchFamily="34" charset="0"/>
                </a:endParaRPr>
              </a:p>
            </p:txBody>
          </p:sp>
          <p:sp>
            <p:nvSpPr>
              <p:cNvPr id="6261" name="Rectangle 77"/>
              <p:cNvSpPr/>
              <p:nvPr/>
            </p:nvSpPr>
            <p:spPr>
              <a:xfrm>
                <a:off x="6720" y="11413"/>
                <a:ext cx="360" cy="312"/>
              </a:xfrm>
              <a:prstGeom prst="rect">
                <a:avLst/>
              </a:prstGeom>
              <a:noFill/>
              <a:ln w="19050">
                <a:noFill/>
              </a:ln>
            </p:spPr>
            <p:txBody>
              <a:bodyPr lIns="0" tIns="0" rIns="0" bIns="0"/>
              <a:lstStyle/>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4000" dirty="0">
                  <a:latin typeface="Arial" panose="020B0604020202020204" pitchFamily="34" charset="0"/>
                </a:endParaRPr>
              </a:p>
            </p:txBody>
          </p:sp>
          <p:sp>
            <p:nvSpPr>
              <p:cNvPr id="6262" name="Rectangle 78"/>
              <p:cNvSpPr/>
              <p:nvPr/>
            </p:nvSpPr>
            <p:spPr>
              <a:xfrm>
                <a:off x="6720" y="12334"/>
                <a:ext cx="360" cy="312"/>
              </a:xfrm>
              <a:prstGeom prst="rect">
                <a:avLst/>
              </a:prstGeom>
              <a:noFill/>
              <a:ln w="19050">
                <a:noFill/>
              </a:ln>
            </p:spPr>
            <p:txBody>
              <a:bodyPr lIns="0" tIns="0" rIns="0" bIns="0"/>
              <a:lstStyle/>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endParaRPr lang="en-US" altLang="zh-CN" sz="4000" dirty="0">
                  <a:latin typeface="Arial" panose="020B0604020202020204" pitchFamily="34" charset="0"/>
                </a:endParaRPr>
              </a:p>
            </p:txBody>
          </p:sp>
          <p:sp>
            <p:nvSpPr>
              <p:cNvPr id="6263" name="Rectangle 79"/>
              <p:cNvSpPr/>
              <p:nvPr/>
            </p:nvSpPr>
            <p:spPr>
              <a:xfrm>
                <a:off x="6714" y="11703"/>
                <a:ext cx="1" cy="538"/>
              </a:xfrm>
              <a:prstGeom prst="rect">
                <a:avLst/>
              </a:prstGeom>
              <a:noFill/>
              <a:ln w="19050">
                <a:noFill/>
              </a:ln>
            </p:spPr>
            <p:txBody>
              <a:bodyPr wrap="none" lIns="0" tIns="0" rIns="0" bIns="0">
                <a:spAutoFit/>
              </a:bodyPr>
              <a:lstStyle/>
              <a:p>
                <a:pPr algn="just"/>
                <a:endParaRPr lang="zh-CN" altLang="zh-CN" sz="4000" dirty="0">
                  <a:latin typeface="Arial" panose="020B0604020202020204" pitchFamily="34" charset="0"/>
                </a:endParaRPr>
              </a:p>
            </p:txBody>
          </p:sp>
        </p:grpSp>
        <p:sp>
          <p:nvSpPr>
            <p:cNvPr id="6192" name="Text Box 80"/>
            <p:cNvSpPr txBox="1"/>
            <p:nvPr/>
          </p:nvSpPr>
          <p:spPr>
            <a:xfrm>
              <a:off x="4044" y="14274"/>
              <a:ext cx="2442" cy="444"/>
            </a:xfrm>
            <a:prstGeom prst="rect">
              <a:avLst/>
            </a:prstGeom>
            <a:noFill/>
            <a:ln w="19050">
              <a:noFill/>
            </a:ln>
          </p:spPr>
          <p:txBody>
            <a:bodyPr wrap="none"/>
            <a:lstStyle/>
            <a:p>
              <a:pPr algn="ctr"/>
              <a:r>
                <a:rPr lang="en-US" altLang="zh-CN" sz="2000" dirty="0">
                  <a:latin typeface="Times New Roman" panose="02020603050405020304" pitchFamily="18" charset="0"/>
                </a:rPr>
                <a:t>74LS175</a:t>
              </a:r>
              <a:r>
                <a:rPr lang="zh-CN" altLang="en-US" sz="2000" dirty="0">
                  <a:latin typeface="Times New Roman" panose="02020603050405020304" pitchFamily="18" charset="0"/>
                </a:rPr>
                <a:t>的逻辑图</a:t>
              </a:r>
              <a:endParaRPr lang="zh-CN" altLang="en-US" sz="4000" dirty="0">
                <a:latin typeface="Arial" panose="020B0604020202020204" pitchFamily="34" charset="0"/>
              </a:endParaRPr>
            </a:p>
          </p:txBody>
        </p:sp>
      </p:grpSp>
      <p:sp>
        <p:nvSpPr>
          <p:cNvPr id="6147" name="Rectangle 82"/>
          <p:cNvSpPr/>
          <p:nvPr/>
        </p:nvSpPr>
        <p:spPr>
          <a:xfrm>
            <a:off x="1865313" y="2870200"/>
            <a:ext cx="541337" cy="0"/>
          </a:xfrm>
          <a:prstGeom prst="rect">
            <a:avLst/>
          </a:prstGeom>
          <a:noFill/>
          <a:ln w="9525">
            <a:noFill/>
          </a:ln>
        </p:spPr>
        <p:txBody>
          <a:bodyPr wrap="none">
            <a:spAutoFit/>
          </a:bodyPr>
          <a:lstStyle/>
          <a:p>
            <a:endParaRPr lang="zh-CN" altLang="en-US" dirty="0">
              <a:latin typeface="Arial" panose="020B0604020202020204" pitchFamily="34" charset="0"/>
            </a:endParaRPr>
          </a:p>
        </p:txBody>
      </p:sp>
      <p:graphicFrame>
        <p:nvGraphicFramePr>
          <p:cNvPr id="6148" name="Object 81"/>
          <p:cNvGraphicFramePr>
            <a:graphicFrameLocks noChangeAspect="1"/>
          </p:cNvGraphicFramePr>
          <p:nvPr/>
        </p:nvGraphicFramePr>
        <p:xfrm>
          <a:off x="611188" y="5589588"/>
          <a:ext cx="504825" cy="431800"/>
        </p:xfrm>
        <a:graphic>
          <a:graphicData uri="http://schemas.openxmlformats.org/presentationml/2006/ole">
            <mc:AlternateContent xmlns:mc="http://schemas.openxmlformats.org/markup-compatibility/2006">
              <mc:Choice xmlns:v="urn:schemas-microsoft-com:vml" Requires="v">
                <p:oleObj r:id="rId2" imgW="190500" imgH="190500" progId="Equation.3">
                  <p:embed/>
                </p:oleObj>
              </mc:Choice>
              <mc:Fallback>
                <p:oleObj r:id="rId2" imgW="190500" imgH="190500" progId="Equation.3">
                  <p:embed/>
                  <p:pic>
                    <p:nvPicPr>
                      <p:cNvPr id="0" name="图片 3079"/>
                      <p:cNvPicPr/>
                      <p:nvPr/>
                    </p:nvPicPr>
                    <p:blipFill>
                      <a:blip r:embed="rId3"/>
                      <a:stretch>
                        <a:fillRect/>
                      </a:stretch>
                    </p:blipFill>
                    <p:spPr>
                      <a:xfrm>
                        <a:off x="611188" y="5589588"/>
                        <a:ext cx="504825" cy="431800"/>
                      </a:xfrm>
                      <a:prstGeom prst="rect">
                        <a:avLst/>
                      </a:prstGeom>
                      <a:noFill/>
                      <a:ln w="38100">
                        <a:noFill/>
                        <a:miter/>
                      </a:ln>
                    </p:spPr>
                  </p:pic>
                </p:oleObj>
              </mc:Fallback>
            </mc:AlternateContent>
          </a:graphicData>
        </a:graphic>
      </p:graphicFrame>
      <p:sp>
        <p:nvSpPr>
          <p:cNvPr id="6149" name="Line 205"/>
          <p:cNvSpPr/>
          <p:nvPr/>
        </p:nvSpPr>
        <p:spPr>
          <a:xfrm>
            <a:off x="5654675" y="3470275"/>
            <a:ext cx="0" cy="0"/>
          </a:xfrm>
          <a:prstGeom prst="line">
            <a:avLst/>
          </a:prstGeom>
          <a:ln w="12700" cap="rnd" cmpd="sng">
            <a:solidFill>
              <a:srgbClr val="000000"/>
            </a:solidFill>
            <a:prstDash val="solid"/>
            <a:headEnd type="none" w="med" len="med"/>
            <a:tailEnd type="none" w="med" len="med"/>
          </a:ln>
        </p:spPr>
      </p:sp>
      <p:graphicFrame>
        <p:nvGraphicFramePr>
          <p:cNvPr id="65835" name="Group 299"/>
          <p:cNvGraphicFramePr>
            <a:graphicFrameLocks noGrp="1"/>
          </p:cNvGraphicFramePr>
          <p:nvPr/>
        </p:nvGraphicFramePr>
        <p:xfrm>
          <a:off x="3203575" y="2708275"/>
          <a:ext cx="5413375" cy="2286000"/>
        </p:xfrm>
        <a:graphic>
          <a:graphicData uri="http://schemas.openxmlformats.org/drawingml/2006/table">
            <a:tbl>
              <a:tblPr/>
              <a:tblGrid>
                <a:gridCol w="541338">
                  <a:extLst>
                    <a:ext uri="{9D8B030D-6E8A-4147-A177-3AD203B41FA5}">
                      <a16:colId xmlns:a16="http://schemas.microsoft.com/office/drawing/2014/main" val="20000"/>
                    </a:ext>
                  </a:extLst>
                </a:gridCol>
                <a:gridCol w="541337">
                  <a:extLst>
                    <a:ext uri="{9D8B030D-6E8A-4147-A177-3AD203B41FA5}">
                      <a16:colId xmlns:a16="http://schemas.microsoft.com/office/drawing/2014/main" val="20001"/>
                    </a:ext>
                  </a:extLst>
                </a:gridCol>
                <a:gridCol w="541338">
                  <a:extLst>
                    <a:ext uri="{9D8B030D-6E8A-4147-A177-3AD203B41FA5}">
                      <a16:colId xmlns:a16="http://schemas.microsoft.com/office/drawing/2014/main" val="20002"/>
                    </a:ext>
                  </a:extLst>
                </a:gridCol>
                <a:gridCol w="541337">
                  <a:extLst>
                    <a:ext uri="{9D8B030D-6E8A-4147-A177-3AD203B41FA5}">
                      <a16:colId xmlns:a16="http://schemas.microsoft.com/office/drawing/2014/main" val="20003"/>
                    </a:ext>
                  </a:extLst>
                </a:gridCol>
                <a:gridCol w="541338">
                  <a:extLst>
                    <a:ext uri="{9D8B030D-6E8A-4147-A177-3AD203B41FA5}">
                      <a16:colId xmlns:a16="http://schemas.microsoft.com/office/drawing/2014/main" val="20004"/>
                    </a:ext>
                  </a:extLst>
                </a:gridCol>
                <a:gridCol w="541337">
                  <a:extLst>
                    <a:ext uri="{9D8B030D-6E8A-4147-A177-3AD203B41FA5}">
                      <a16:colId xmlns:a16="http://schemas.microsoft.com/office/drawing/2014/main" val="20005"/>
                    </a:ext>
                  </a:extLst>
                </a:gridCol>
                <a:gridCol w="541338">
                  <a:extLst>
                    <a:ext uri="{9D8B030D-6E8A-4147-A177-3AD203B41FA5}">
                      <a16:colId xmlns:a16="http://schemas.microsoft.com/office/drawing/2014/main" val="20006"/>
                    </a:ext>
                  </a:extLst>
                </a:gridCol>
                <a:gridCol w="541337">
                  <a:extLst>
                    <a:ext uri="{9D8B030D-6E8A-4147-A177-3AD203B41FA5}">
                      <a16:colId xmlns:a16="http://schemas.microsoft.com/office/drawing/2014/main" val="20007"/>
                    </a:ext>
                  </a:extLst>
                </a:gridCol>
                <a:gridCol w="541338">
                  <a:extLst>
                    <a:ext uri="{9D8B030D-6E8A-4147-A177-3AD203B41FA5}">
                      <a16:colId xmlns:a16="http://schemas.microsoft.com/office/drawing/2014/main" val="20008"/>
                    </a:ext>
                  </a:extLst>
                </a:gridCol>
                <a:gridCol w="541337">
                  <a:extLst>
                    <a:ext uri="{9D8B030D-6E8A-4147-A177-3AD203B41FA5}">
                      <a16:colId xmlns:a16="http://schemas.microsoft.com/office/drawing/2014/main" val="20009"/>
                    </a:ext>
                  </a:extLst>
                </a:gridCol>
              </a:tblGrid>
              <a:tr h="2286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6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1" lang="en-US" altLang="zh-CN" sz="4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5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5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5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5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5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5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5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5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5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cap="flat">
                      <a:noFill/>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5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5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5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5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5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5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5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5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5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9525"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保    持</a:t>
                      </a:r>
                      <a:endParaRPr kumimoji="1" lang="zh-CN" altLang="en-US" sz="5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bl>
          </a:graphicData>
        </a:graphic>
      </p:graphicFrame>
      <p:sp>
        <p:nvSpPr>
          <p:cNvPr id="6186" name="Rectangle 246"/>
          <p:cNvSpPr/>
          <p:nvPr/>
        </p:nvSpPr>
        <p:spPr>
          <a:xfrm>
            <a:off x="0" y="3333750"/>
            <a:ext cx="9144000" cy="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6187" name="Object 245"/>
          <p:cNvGraphicFramePr>
            <a:graphicFrameLocks noChangeAspect="1"/>
          </p:cNvGraphicFramePr>
          <p:nvPr/>
        </p:nvGraphicFramePr>
        <p:xfrm>
          <a:off x="3203575" y="2997200"/>
          <a:ext cx="504825" cy="504825"/>
        </p:xfrm>
        <a:graphic>
          <a:graphicData uri="http://schemas.openxmlformats.org/presentationml/2006/ole">
            <mc:AlternateContent xmlns:mc="http://schemas.openxmlformats.org/markup-compatibility/2006">
              <mc:Choice xmlns:v="urn:schemas-microsoft-com:vml" Requires="v">
                <p:oleObj r:id="rId4" imgW="190500" imgH="190500" progId="Equation.3">
                  <p:embed/>
                </p:oleObj>
              </mc:Choice>
              <mc:Fallback>
                <p:oleObj r:id="rId4" imgW="190500" imgH="190500" progId="Equation.3">
                  <p:embed/>
                  <p:pic>
                    <p:nvPicPr>
                      <p:cNvPr id="0" name="图片 3080"/>
                      <p:cNvPicPr/>
                      <p:nvPr/>
                    </p:nvPicPr>
                    <p:blipFill>
                      <a:blip r:embed="rId3"/>
                      <a:stretch>
                        <a:fillRect/>
                      </a:stretch>
                    </p:blipFill>
                    <p:spPr>
                      <a:xfrm>
                        <a:off x="3203575" y="2997200"/>
                        <a:ext cx="504825" cy="504825"/>
                      </a:xfrm>
                      <a:prstGeom prst="rect">
                        <a:avLst/>
                      </a:prstGeom>
                      <a:noFill/>
                      <a:ln w="38100">
                        <a:noFill/>
                        <a:miter/>
                      </a:ln>
                    </p:spPr>
                  </p:pic>
                </p:oleObj>
              </mc:Fallback>
            </mc:AlternateContent>
          </a:graphicData>
        </a:graphic>
      </p:graphicFrame>
      <p:sp>
        <p:nvSpPr>
          <p:cNvPr id="6188" name="Rectangle 247"/>
          <p:cNvSpPr/>
          <p:nvPr/>
        </p:nvSpPr>
        <p:spPr>
          <a:xfrm>
            <a:off x="4859338" y="2133600"/>
            <a:ext cx="1928812" cy="366713"/>
          </a:xfrm>
          <a:prstGeom prst="rect">
            <a:avLst/>
          </a:prstGeom>
          <a:noFill/>
          <a:ln w="9525">
            <a:noFill/>
          </a:ln>
        </p:spPr>
        <p:txBody>
          <a:bodyPr wrap="none" anchor="ctr" anchorCtr="0">
            <a:spAutoFit/>
          </a:bodyPr>
          <a:lstStyle/>
          <a:p>
            <a:r>
              <a:rPr lang="en-US" altLang="zh-CN" dirty="0">
                <a:latin typeface="Arial" panose="020B0604020202020204" pitchFamily="34" charset="0"/>
              </a:rPr>
              <a:t> </a:t>
            </a:r>
            <a:r>
              <a:rPr lang="en-US" altLang="zh-CN" b="1" dirty="0">
                <a:latin typeface="Arial" panose="020B0604020202020204" pitchFamily="34" charset="0"/>
              </a:rPr>
              <a:t>74LS175</a:t>
            </a:r>
            <a:r>
              <a:rPr lang="zh-CN" altLang="en-US" b="1" dirty="0">
                <a:latin typeface="Arial" panose="020B0604020202020204" pitchFamily="34" charset="0"/>
              </a:rPr>
              <a:t>功能表</a:t>
            </a:r>
            <a:r>
              <a:rPr lang="zh-CN" altLang="en-US" dirty="0">
                <a:latin typeface="Arial" panose="020B0604020202020204" pitchFamily="34" charset="0"/>
              </a:rPr>
              <a:t> </a:t>
            </a:r>
          </a:p>
        </p:txBody>
      </p:sp>
      <p:sp>
        <p:nvSpPr>
          <p:cNvPr id="6189" name="Rectangle 300"/>
          <p:cNvSpPr/>
          <p:nvPr/>
        </p:nvSpPr>
        <p:spPr>
          <a:xfrm>
            <a:off x="3132138" y="259239"/>
            <a:ext cx="3313112" cy="759460"/>
          </a:xfrm>
          <a:prstGeom prst="rect">
            <a:avLst/>
          </a:prstGeom>
          <a:noFill/>
          <a:ln w="9525">
            <a:noFill/>
          </a:ln>
        </p:spPr>
        <p:txBody>
          <a:bodyPr tIns="165048" bIns="165048" anchor="ctr" anchorCtr="0">
            <a:spAutoFit/>
          </a:bodyPr>
          <a:lstStyle/>
          <a:p>
            <a:r>
              <a:rPr lang="en-US" altLang="zh-CN" sz="2800" b="1" dirty="0">
                <a:latin typeface="Arial" panose="020B0604020202020204" pitchFamily="34" charset="0"/>
              </a:rPr>
              <a:t>7.3.1    </a:t>
            </a:r>
            <a:r>
              <a:rPr lang="zh-CN" altLang="en-US" sz="2800" b="1" dirty="0">
                <a:latin typeface="Arial" panose="020B0604020202020204" pitchFamily="34" charset="0"/>
              </a:rPr>
              <a:t>数码寄存器</a:t>
            </a:r>
            <a:endParaRPr lang="zh-CN" altLang="en-US" sz="3600" dirty="0">
              <a:latin typeface="Times New Roman" panose="02020603050405020304" pitchFamily="18" charset="0"/>
            </a:endParaRPr>
          </a:p>
        </p:txBody>
      </p:sp>
      <p:sp>
        <p:nvSpPr>
          <p:cNvPr id="6190" name="Rectangle 301"/>
          <p:cNvSpPr/>
          <p:nvPr/>
        </p:nvSpPr>
        <p:spPr>
          <a:xfrm>
            <a:off x="395288" y="765175"/>
            <a:ext cx="2698750" cy="366713"/>
          </a:xfrm>
          <a:prstGeom prst="rect">
            <a:avLst/>
          </a:prstGeom>
          <a:noFill/>
          <a:ln w="9525">
            <a:noFill/>
          </a:ln>
        </p:spPr>
        <p:txBody>
          <a:bodyPr wrap="none" anchor="ctr" anchorCtr="0">
            <a:spAutoFit/>
          </a:bodyPr>
          <a:lstStyle/>
          <a:p>
            <a:r>
              <a:rPr lang="zh-CN" altLang="en-US" dirty="0">
                <a:latin typeface="Arial" panose="020B0604020202020204" pitchFamily="34" charset="0"/>
              </a:rPr>
              <a:t>一．数码寄存器</a:t>
            </a:r>
            <a:r>
              <a:rPr lang="en-US" altLang="zh-CN" dirty="0">
                <a:latin typeface="Arial" panose="020B0604020202020204" pitchFamily="34" charset="0"/>
              </a:rPr>
              <a:t>74LS175</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p:nvPr/>
        </p:nvSpPr>
        <p:spPr>
          <a:xfrm>
            <a:off x="684213" y="620713"/>
            <a:ext cx="2974975" cy="366712"/>
          </a:xfrm>
          <a:prstGeom prst="rect">
            <a:avLst/>
          </a:prstGeom>
          <a:noFill/>
          <a:ln w="9525">
            <a:noFill/>
          </a:ln>
        </p:spPr>
        <p:txBody>
          <a:bodyPr wrap="none" anchor="ctr" anchorCtr="0">
            <a:spAutoFit/>
          </a:bodyPr>
          <a:lstStyle/>
          <a:p>
            <a:r>
              <a:rPr lang="zh-CN" altLang="en-US" dirty="0">
                <a:latin typeface="Arial" panose="020B0604020202020204" pitchFamily="34" charset="0"/>
              </a:rPr>
              <a:t>二．数码锁存器</a:t>
            </a:r>
            <a:r>
              <a:rPr lang="en-US" altLang="zh-CN" dirty="0">
                <a:latin typeface="Arial" panose="020B0604020202020204" pitchFamily="34" charset="0"/>
              </a:rPr>
              <a:t>74LS373</a:t>
            </a:r>
          </a:p>
        </p:txBody>
      </p:sp>
      <p:grpSp>
        <p:nvGrpSpPr>
          <p:cNvPr id="7171" name="Group 720"/>
          <p:cNvGrpSpPr/>
          <p:nvPr/>
        </p:nvGrpSpPr>
        <p:grpSpPr>
          <a:xfrm>
            <a:off x="34925" y="1628775"/>
            <a:ext cx="8705850" cy="4772025"/>
            <a:chOff x="22" y="1026"/>
            <a:chExt cx="5484" cy="3006"/>
          </a:xfrm>
        </p:grpSpPr>
        <p:sp>
          <p:nvSpPr>
            <p:cNvPr id="7173" name="Oval 526"/>
            <p:cNvSpPr/>
            <p:nvPr/>
          </p:nvSpPr>
          <p:spPr>
            <a:xfrm>
              <a:off x="5182" y="2512"/>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174" name="Line 527"/>
            <p:cNvSpPr/>
            <p:nvPr/>
          </p:nvSpPr>
          <p:spPr>
            <a:xfrm>
              <a:off x="4584" y="2500"/>
              <a:ext cx="0" cy="308"/>
            </a:xfrm>
            <a:prstGeom prst="line">
              <a:avLst/>
            </a:prstGeom>
            <a:ln w="9525" cap="flat" cmpd="sng">
              <a:solidFill>
                <a:srgbClr val="000000"/>
              </a:solidFill>
              <a:prstDash val="solid"/>
              <a:headEnd type="none" w="med" len="med"/>
              <a:tailEnd type="none" w="med" len="med"/>
            </a:ln>
          </p:spPr>
        </p:sp>
        <p:sp>
          <p:nvSpPr>
            <p:cNvPr id="7175" name="Text Box 528"/>
            <p:cNvSpPr txBox="1"/>
            <p:nvPr/>
          </p:nvSpPr>
          <p:spPr>
            <a:xfrm>
              <a:off x="5210" y="1026"/>
              <a:ext cx="245" cy="189"/>
            </a:xfrm>
            <a:prstGeom prst="rect">
              <a:avLst/>
            </a:prstGeom>
            <a:noFill/>
            <a:ln w="9525">
              <a:noFill/>
            </a:ln>
          </p:spPr>
          <p:txBody>
            <a:bodyPr lIns="0" tIns="0" rIns="0" bIns="0"/>
            <a:lstStyle/>
            <a:p>
              <a:pPr algn="just"/>
              <a:r>
                <a:rPr lang="en-US" altLang="zh-CN" sz="2000" dirty="0">
                  <a:latin typeface="Times New Roman" panose="02020603050405020304" pitchFamily="18" charset="0"/>
                </a:rPr>
                <a:t>8</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76" name="Text Box 529"/>
            <p:cNvSpPr txBox="1"/>
            <p:nvPr/>
          </p:nvSpPr>
          <p:spPr>
            <a:xfrm>
              <a:off x="679" y="1026"/>
              <a:ext cx="245" cy="189"/>
            </a:xfrm>
            <a:prstGeom prst="rect">
              <a:avLst/>
            </a:prstGeom>
            <a:noFill/>
            <a:ln w="9525">
              <a:noFill/>
            </a:ln>
          </p:spPr>
          <p:txBody>
            <a:bodyPr lIns="0" tIns="0" rIns="0" bIns="0"/>
            <a:lstStyle/>
            <a:p>
              <a:pPr algn="just"/>
              <a:r>
                <a:rPr lang="en-US" altLang="zh-CN" sz="2000" dirty="0">
                  <a:latin typeface="Times New Roman" panose="02020603050405020304" pitchFamily="18" charset="0"/>
                </a:rPr>
                <a:t>1</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77" name="Text Box 530"/>
            <p:cNvSpPr txBox="1"/>
            <p:nvPr/>
          </p:nvSpPr>
          <p:spPr>
            <a:xfrm>
              <a:off x="1343" y="1026"/>
              <a:ext cx="246" cy="189"/>
            </a:xfrm>
            <a:prstGeom prst="rect">
              <a:avLst/>
            </a:prstGeom>
            <a:noFill/>
            <a:ln w="9525">
              <a:noFill/>
            </a:ln>
          </p:spPr>
          <p:txBody>
            <a:bodyPr lIns="0" tIns="0" rIns="0" bIns="0"/>
            <a:lstStyle/>
            <a:p>
              <a:pPr algn="just"/>
              <a:r>
                <a:rPr lang="en-US" altLang="zh-CN" sz="2000" dirty="0">
                  <a:latin typeface="Times New Roman" panose="02020603050405020304" pitchFamily="18" charset="0"/>
                </a:rPr>
                <a:t>2</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78" name="Text Box 531"/>
            <p:cNvSpPr txBox="1"/>
            <p:nvPr/>
          </p:nvSpPr>
          <p:spPr>
            <a:xfrm>
              <a:off x="2008" y="1026"/>
              <a:ext cx="246" cy="189"/>
            </a:xfrm>
            <a:prstGeom prst="rect">
              <a:avLst/>
            </a:prstGeom>
            <a:noFill/>
            <a:ln w="9525">
              <a:noFill/>
            </a:ln>
          </p:spPr>
          <p:txBody>
            <a:bodyPr lIns="0" tIns="0" rIns="0" bIns="0"/>
            <a:lstStyle/>
            <a:p>
              <a:pPr algn="just"/>
              <a:r>
                <a:rPr lang="en-US" altLang="zh-CN" sz="2000" dirty="0">
                  <a:latin typeface="Times New Roman" panose="02020603050405020304" pitchFamily="18" charset="0"/>
                </a:rPr>
                <a:t>3</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79" name="Text Box 532"/>
            <p:cNvSpPr txBox="1"/>
            <p:nvPr/>
          </p:nvSpPr>
          <p:spPr>
            <a:xfrm>
              <a:off x="2694" y="1026"/>
              <a:ext cx="245" cy="189"/>
            </a:xfrm>
            <a:prstGeom prst="rect">
              <a:avLst/>
            </a:prstGeom>
            <a:noFill/>
            <a:ln w="9525">
              <a:noFill/>
            </a:ln>
          </p:spPr>
          <p:txBody>
            <a:bodyPr lIns="0" tIns="0" rIns="0" bIns="0"/>
            <a:lstStyle/>
            <a:p>
              <a:pPr algn="just"/>
              <a:r>
                <a:rPr lang="en-US" altLang="zh-CN" sz="2000" dirty="0">
                  <a:latin typeface="Times New Roman" panose="02020603050405020304" pitchFamily="18" charset="0"/>
                </a:rPr>
                <a:t>4</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80" name="Text Box 533"/>
            <p:cNvSpPr txBox="1"/>
            <p:nvPr/>
          </p:nvSpPr>
          <p:spPr>
            <a:xfrm>
              <a:off x="3338" y="1026"/>
              <a:ext cx="245" cy="189"/>
            </a:xfrm>
            <a:prstGeom prst="rect">
              <a:avLst/>
            </a:prstGeom>
            <a:noFill/>
            <a:ln w="9525">
              <a:noFill/>
            </a:ln>
          </p:spPr>
          <p:txBody>
            <a:bodyPr lIns="0" tIns="0" rIns="0" bIns="0"/>
            <a:lstStyle/>
            <a:p>
              <a:pPr algn="just"/>
              <a:r>
                <a:rPr lang="en-US" altLang="zh-CN" sz="2000" dirty="0">
                  <a:latin typeface="Times New Roman" panose="02020603050405020304" pitchFamily="18" charset="0"/>
                </a:rPr>
                <a:t>5</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81" name="Text Box 534"/>
            <p:cNvSpPr txBox="1"/>
            <p:nvPr/>
          </p:nvSpPr>
          <p:spPr>
            <a:xfrm>
              <a:off x="3992" y="1026"/>
              <a:ext cx="246" cy="189"/>
            </a:xfrm>
            <a:prstGeom prst="rect">
              <a:avLst/>
            </a:prstGeom>
            <a:noFill/>
            <a:ln w="9525">
              <a:noFill/>
            </a:ln>
          </p:spPr>
          <p:txBody>
            <a:bodyPr lIns="0" tIns="0" rIns="0" bIns="0"/>
            <a:lstStyle/>
            <a:p>
              <a:pPr algn="just"/>
              <a:r>
                <a:rPr lang="en-US" altLang="zh-CN" sz="2000" dirty="0">
                  <a:latin typeface="Times New Roman" panose="02020603050405020304" pitchFamily="18" charset="0"/>
                </a:rPr>
                <a:t>6</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82" name="Text Box 535"/>
            <p:cNvSpPr txBox="1"/>
            <p:nvPr/>
          </p:nvSpPr>
          <p:spPr>
            <a:xfrm>
              <a:off x="4637" y="1026"/>
              <a:ext cx="245" cy="189"/>
            </a:xfrm>
            <a:prstGeom prst="rect">
              <a:avLst/>
            </a:prstGeom>
            <a:noFill/>
            <a:ln w="9525">
              <a:noFill/>
            </a:ln>
          </p:spPr>
          <p:txBody>
            <a:bodyPr lIns="0" tIns="0" rIns="0" bIns="0"/>
            <a:lstStyle/>
            <a:p>
              <a:pPr algn="just"/>
              <a:r>
                <a:rPr lang="en-US" altLang="zh-CN" sz="2000" dirty="0">
                  <a:latin typeface="Times New Roman" panose="02020603050405020304" pitchFamily="18" charset="0"/>
                </a:rPr>
                <a:t>7</a:t>
              </a:r>
              <a:r>
                <a:rPr lang="en-US" altLang="zh-CN" sz="2000" i="1" dirty="0">
                  <a:latin typeface="Times New Roman" panose="02020603050405020304" pitchFamily="18" charset="0"/>
                </a:rPr>
                <a:t>Q</a:t>
              </a:r>
              <a:endParaRPr lang="en-US" altLang="zh-CN" sz="4000" dirty="0">
                <a:latin typeface="Arial" panose="020B0604020202020204" pitchFamily="34" charset="0"/>
              </a:endParaRPr>
            </a:p>
          </p:txBody>
        </p:sp>
        <p:sp>
          <p:nvSpPr>
            <p:cNvPr id="7183" name="Line 536"/>
            <p:cNvSpPr/>
            <p:nvPr/>
          </p:nvSpPr>
          <p:spPr>
            <a:xfrm>
              <a:off x="503" y="2816"/>
              <a:ext cx="0" cy="188"/>
            </a:xfrm>
            <a:prstGeom prst="line">
              <a:avLst/>
            </a:prstGeom>
            <a:ln w="9525" cap="flat" cmpd="sng">
              <a:solidFill>
                <a:srgbClr val="000000"/>
              </a:solidFill>
              <a:prstDash val="solid"/>
              <a:headEnd type="none" w="med" len="med"/>
              <a:tailEnd type="none" w="med" len="med"/>
            </a:ln>
          </p:spPr>
        </p:sp>
        <p:sp>
          <p:nvSpPr>
            <p:cNvPr id="7184" name="Line 537"/>
            <p:cNvSpPr/>
            <p:nvPr/>
          </p:nvSpPr>
          <p:spPr>
            <a:xfrm>
              <a:off x="648" y="2532"/>
              <a:ext cx="0" cy="308"/>
            </a:xfrm>
            <a:prstGeom prst="line">
              <a:avLst/>
            </a:prstGeom>
            <a:ln w="9525" cap="flat" cmpd="sng">
              <a:solidFill>
                <a:srgbClr val="000000"/>
              </a:solidFill>
              <a:prstDash val="solid"/>
              <a:headEnd type="none" w="med" len="med"/>
              <a:tailEnd type="none" w="med" len="med"/>
            </a:ln>
          </p:spPr>
        </p:sp>
        <p:sp>
          <p:nvSpPr>
            <p:cNvPr id="7185" name="Line 538"/>
            <p:cNvSpPr/>
            <p:nvPr/>
          </p:nvSpPr>
          <p:spPr>
            <a:xfrm>
              <a:off x="1282" y="2528"/>
              <a:ext cx="0" cy="308"/>
            </a:xfrm>
            <a:prstGeom prst="line">
              <a:avLst/>
            </a:prstGeom>
            <a:ln w="9525" cap="flat" cmpd="sng">
              <a:solidFill>
                <a:srgbClr val="000000"/>
              </a:solidFill>
              <a:prstDash val="solid"/>
              <a:headEnd type="none" w="med" len="med"/>
              <a:tailEnd type="none" w="med" len="med"/>
            </a:ln>
          </p:spPr>
        </p:sp>
        <p:sp>
          <p:nvSpPr>
            <p:cNvPr id="7186" name="Line 539"/>
            <p:cNvSpPr/>
            <p:nvPr/>
          </p:nvSpPr>
          <p:spPr>
            <a:xfrm>
              <a:off x="1957" y="2528"/>
              <a:ext cx="0" cy="308"/>
            </a:xfrm>
            <a:prstGeom prst="line">
              <a:avLst/>
            </a:prstGeom>
            <a:ln w="9525" cap="flat" cmpd="sng">
              <a:solidFill>
                <a:srgbClr val="000000"/>
              </a:solidFill>
              <a:prstDash val="solid"/>
              <a:headEnd type="none" w="med" len="med"/>
              <a:tailEnd type="none" w="med" len="med"/>
            </a:ln>
          </p:spPr>
        </p:sp>
        <p:sp>
          <p:nvSpPr>
            <p:cNvPr id="7187" name="Line 540"/>
            <p:cNvSpPr/>
            <p:nvPr/>
          </p:nvSpPr>
          <p:spPr>
            <a:xfrm>
              <a:off x="2612" y="2528"/>
              <a:ext cx="0" cy="308"/>
            </a:xfrm>
            <a:prstGeom prst="line">
              <a:avLst/>
            </a:prstGeom>
            <a:ln w="9525" cap="flat" cmpd="sng">
              <a:solidFill>
                <a:srgbClr val="000000"/>
              </a:solidFill>
              <a:prstDash val="solid"/>
              <a:headEnd type="none" w="med" len="med"/>
              <a:tailEnd type="none" w="med" len="med"/>
            </a:ln>
          </p:spPr>
        </p:sp>
        <p:sp>
          <p:nvSpPr>
            <p:cNvPr id="7188" name="Line 541"/>
            <p:cNvSpPr/>
            <p:nvPr/>
          </p:nvSpPr>
          <p:spPr>
            <a:xfrm>
              <a:off x="3266" y="2528"/>
              <a:ext cx="0" cy="308"/>
            </a:xfrm>
            <a:prstGeom prst="line">
              <a:avLst/>
            </a:prstGeom>
            <a:ln w="9525" cap="flat" cmpd="sng">
              <a:solidFill>
                <a:srgbClr val="000000"/>
              </a:solidFill>
              <a:prstDash val="solid"/>
              <a:headEnd type="none" w="med" len="med"/>
              <a:tailEnd type="none" w="med" len="med"/>
            </a:ln>
          </p:spPr>
        </p:sp>
        <p:sp>
          <p:nvSpPr>
            <p:cNvPr id="7189" name="Line 542"/>
            <p:cNvSpPr/>
            <p:nvPr/>
          </p:nvSpPr>
          <p:spPr>
            <a:xfrm>
              <a:off x="3941" y="2553"/>
              <a:ext cx="0" cy="258"/>
            </a:xfrm>
            <a:prstGeom prst="line">
              <a:avLst/>
            </a:prstGeom>
            <a:ln w="9525" cap="flat" cmpd="sng">
              <a:solidFill>
                <a:srgbClr val="000000"/>
              </a:solidFill>
              <a:prstDash val="solid"/>
              <a:headEnd type="none" w="med" len="med"/>
              <a:tailEnd type="none" w="med" len="med"/>
            </a:ln>
          </p:spPr>
        </p:sp>
        <p:sp>
          <p:nvSpPr>
            <p:cNvPr id="7190" name="Line 544"/>
            <p:cNvSpPr/>
            <p:nvPr/>
          </p:nvSpPr>
          <p:spPr>
            <a:xfrm>
              <a:off x="750" y="1188"/>
              <a:ext cx="0" cy="283"/>
            </a:xfrm>
            <a:prstGeom prst="line">
              <a:avLst/>
            </a:prstGeom>
            <a:ln w="9525" cap="flat" cmpd="sng">
              <a:solidFill>
                <a:srgbClr val="000000"/>
              </a:solidFill>
              <a:prstDash val="solid"/>
              <a:headEnd type="none" w="med" len="med"/>
              <a:tailEnd type="none" w="med" len="med"/>
            </a:ln>
          </p:spPr>
        </p:sp>
        <p:sp>
          <p:nvSpPr>
            <p:cNvPr id="7191" name="Line 552"/>
            <p:cNvSpPr/>
            <p:nvPr/>
          </p:nvSpPr>
          <p:spPr>
            <a:xfrm>
              <a:off x="2059" y="1188"/>
              <a:ext cx="0" cy="283"/>
            </a:xfrm>
            <a:prstGeom prst="line">
              <a:avLst/>
            </a:prstGeom>
            <a:ln w="9525" cap="flat" cmpd="sng">
              <a:solidFill>
                <a:srgbClr val="000000"/>
              </a:solidFill>
              <a:prstDash val="solid"/>
              <a:headEnd type="none" w="med" len="med"/>
              <a:tailEnd type="none" w="med" len="med"/>
            </a:ln>
          </p:spPr>
        </p:sp>
        <p:sp>
          <p:nvSpPr>
            <p:cNvPr id="7192" name="Line 553"/>
            <p:cNvSpPr/>
            <p:nvPr/>
          </p:nvSpPr>
          <p:spPr>
            <a:xfrm>
              <a:off x="2734" y="1188"/>
              <a:ext cx="0" cy="283"/>
            </a:xfrm>
            <a:prstGeom prst="line">
              <a:avLst/>
            </a:prstGeom>
            <a:ln w="9525" cap="flat" cmpd="sng">
              <a:solidFill>
                <a:srgbClr val="000000"/>
              </a:solidFill>
              <a:prstDash val="solid"/>
              <a:headEnd type="none" w="med" len="med"/>
              <a:tailEnd type="none" w="med" len="med"/>
            </a:ln>
          </p:spPr>
        </p:sp>
        <p:sp>
          <p:nvSpPr>
            <p:cNvPr id="7193" name="Line 554"/>
            <p:cNvSpPr/>
            <p:nvPr/>
          </p:nvSpPr>
          <p:spPr>
            <a:xfrm>
              <a:off x="3379" y="1188"/>
              <a:ext cx="0" cy="283"/>
            </a:xfrm>
            <a:prstGeom prst="line">
              <a:avLst/>
            </a:prstGeom>
            <a:ln w="9525" cap="flat" cmpd="sng">
              <a:solidFill>
                <a:srgbClr val="000000"/>
              </a:solidFill>
              <a:prstDash val="solid"/>
              <a:headEnd type="none" w="med" len="med"/>
              <a:tailEnd type="none" w="med" len="med"/>
            </a:ln>
          </p:spPr>
        </p:sp>
        <p:sp>
          <p:nvSpPr>
            <p:cNvPr id="7194" name="Line 555"/>
            <p:cNvSpPr/>
            <p:nvPr/>
          </p:nvSpPr>
          <p:spPr>
            <a:xfrm>
              <a:off x="4033" y="1188"/>
              <a:ext cx="0" cy="283"/>
            </a:xfrm>
            <a:prstGeom prst="line">
              <a:avLst/>
            </a:prstGeom>
            <a:ln w="9525" cap="flat" cmpd="sng">
              <a:solidFill>
                <a:srgbClr val="000000"/>
              </a:solidFill>
              <a:prstDash val="solid"/>
              <a:headEnd type="none" w="med" len="med"/>
              <a:tailEnd type="none" w="med" len="med"/>
            </a:ln>
          </p:spPr>
        </p:sp>
        <p:sp>
          <p:nvSpPr>
            <p:cNvPr id="7195" name="Line 556"/>
            <p:cNvSpPr/>
            <p:nvPr/>
          </p:nvSpPr>
          <p:spPr>
            <a:xfrm>
              <a:off x="4678" y="1188"/>
              <a:ext cx="0" cy="283"/>
            </a:xfrm>
            <a:prstGeom prst="line">
              <a:avLst/>
            </a:prstGeom>
            <a:ln w="9525" cap="flat" cmpd="sng">
              <a:solidFill>
                <a:srgbClr val="000000"/>
              </a:solidFill>
              <a:prstDash val="solid"/>
              <a:headEnd type="none" w="med" len="med"/>
              <a:tailEnd type="none" w="med" len="med"/>
            </a:ln>
          </p:spPr>
        </p:sp>
        <p:sp>
          <p:nvSpPr>
            <p:cNvPr id="7196" name="Line 557"/>
            <p:cNvSpPr/>
            <p:nvPr/>
          </p:nvSpPr>
          <p:spPr>
            <a:xfrm>
              <a:off x="5291" y="1188"/>
              <a:ext cx="0" cy="283"/>
            </a:xfrm>
            <a:prstGeom prst="line">
              <a:avLst/>
            </a:prstGeom>
            <a:ln w="9525" cap="flat" cmpd="sng">
              <a:solidFill>
                <a:srgbClr val="000000"/>
              </a:solidFill>
              <a:prstDash val="solid"/>
              <a:headEnd type="none" w="med" len="med"/>
              <a:tailEnd type="none" w="med" len="med"/>
            </a:ln>
          </p:spPr>
        </p:sp>
        <p:sp>
          <p:nvSpPr>
            <p:cNvPr id="7197" name="Line 558"/>
            <p:cNvSpPr/>
            <p:nvPr/>
          </p:nvSpPr>
          <p:spPr>
            <a:xfrm>
              <a:off x="443" y="1650"/>
              <a:ext cx="123" cy="0"/>
            </a:xfrm>
            <a:prstGeom prst="line">
              <a:avLst/>
            </a:prstGeom>
            <a:ln w="9525" cap="flat" cmpd="sng">
              <a:solidFill>
                <a:srgbClr val="000000"/>
              </a:solidFill>
              <a:prstDash val="solid"/>
              <a:headEnd type="none" w="med" len="med"/>
              <a:tailEnd type="none" w="med" len="med"/>
            </a:ln>
          </p:spPr>
        </p:sp>
        <p:sp>
          <p:nvSpPr>
            <p:cNvPr id="7198" name="Line 559"/>
            <p:cNvSpPr/>
            <p:nvPr/>
          </p:nvSpPr>
          <p:spPr>
            <a:xfrm>
              <a:off x="443" y="1649"/>
              <a:ext cx="0" cy="240"/>
            </a:xfrm>
            <a:prstGeom prst="line">
              <a:avLst/>
            </a:prstGeom>
            <a:ln w="9525" cap="flat" cmpd="sng">
              <a:solidFill>
                <a:srgbClr val="000000"/>
              </a:solidFill>
              <a:prstDash val="solid"/>
              <a:headEnd type="none" w="med" len="med"/>
              <a:tailEnd type="none" w="med" len="med"/>
            </a:ln>
          </p:spPr>
        </p:sp>
        <p:sp>
          <p:nvSpPr>
            <p:cNvPr id="7199" name="Line 560"/>
            <p:cNvSpPr/>
            <p:nvPr/>
          </p:nvSpPr>
          <p:spPr>
            <a:xfrm>
              <a:off x="1088" y="1656"/>
              <a:ext cx="122" cy="0"/>
            </a:xfrm>
            <a:prstGeom prst="line">
              <a:avLst/>
            </a:prstGeom>
            <a:ln w="9525" cap="flat" cmpd="sng">
              <a:solidFill>
                <a:srgbClr val="000000"/>
              </a:solidFill>
              <a:prstDash val="solid"/>
              <a:headEnd type="none" w="med" len="med"/>
              <a:tailEnd type="none" w="med" len="med"/>
            </a:ln>
          </p:spPr>
        </p:sp>
        <p:sp>
          <p:nvSpPr>
            <p:cNvPr id="7200" name="Line 561"/>
            <p:cNvSpPr/>
            <p:nvPr/>
          </p:nvSpPr>
          <p:spPr>
            <a:xfrm>
              <a:off x="1088" y="1659"/>
              <a:ext cx="0" cy="241"/>
            </a:xfrm>
            <a:prstGeom prst="line">
              <a:avLst/>
            </a:prstGeom>
            <a:ln w="9525" cap="flat" cmpd="sng">
              <a:solidFill>
                <a:srgbClr val="000000"/>
              </a:solidFill>
              <a:prstDash val="solid"/>
              <a:headEnd type="none" w="med" len="med"/>
              <a:tailEnd type="none" w="med" len="med"/>
            </a:ln>
          </p:spPr>
        </p:sp>
        <p:sp>
          <p:nvSpPr>
            <p:cNvPr id="7201" name="Line 562"/>
            <p:cNvSpPr/>
            <p:nvPr/>
          </p:nvSpPr>
          <p:spPr>
            <a:xfrm>
              <a:off x="2428" y="1659"/>
              <a:ext cx="0" cy="241"/>
            </a:xfrm>
            <a:prstGeom prst="line">
              <a:avLst/>
            </a:prstGeom>
            <a:ln w="9525" cap="flat" cmpd="sng">
              <a:solidFill>
                <a:srgbClr val="000000"/>
              </a:solidFill>
              <a:prstDash val="solid"/>
              <a:headEnd type="none" w="med" len="med"/>
              <a:tailEnd type="none" w="med" len="med"/>
            </a:ln>
          </p:spPr>
        </p:sp>
        <p:sp>
          <p:nvSpPr>
            <p:cNvPr id="7202" name="Line 563"/>
            <p:cNvSpPr/>
            <p:nvPr/>
          </p:nvSpPr>
          <p:spPr>
            <a:xfrm>
              <a:off x="3727" y="1659"/>
              <a:ext cx="0" cy="241"/>
            </a:xfrm>
            <a:prstGeom prst="line">
              <a:avLst/>
            </a:prstGeom>
            <a:ln w="9525" cap="flat" cmpd="sng">
              <a:solidFill>
                <a:srgbClr val="000000"/>
              </a:solidFill>
              <a:prstDash val="solid"/>
              <a:headEnd type="none" w="med" len="med"/>
              <a:tailEnd type="none" w="med" len="med"/>
            </a:ln>
          </p:spPr>
        </p:sp>
        <p:sp>
          <p:nvSpPr>
            <p:cNvPr id="7203" name="Line 564"/>
            <p:cNvSpPr/>
            <p:nvPr/>
          </p:nvSpPr>
          <p:spPr>
            <a:xfrm>
              <a:off x="2428" y="1659"/>
              <a:ext cx="122" cy="0"/>
            </a:xfrm>
            <a:prstGeom prst="line">
              <a:avLst/>
            </a:prstGeom>
            <a:ln w="9525" cap="flat" cmpd="sng">
              <a:solidFill>
                <a:srgbClr val="000000"/>
              </a:solidFill>
              <a:prstDash val="solid"/>
              <a:headEnd type="none" w="med" len="med"/>
              <a:tailEnd type="none" w="med" len="med"/>
            </a:ln>
          </p:spPr>
        </p:sp>
        <p:sp>
          <p:nvSpPr>
            <p:cNvPr id="7204" name="Line 565"/>
            <p:cNvSpPr/>
            <p:nvPr/>
          </p:nvSpPr>
          <p:spPr>
            <a:xfrm>
              <a:off x="3727" y="1659"/>
              <a:ext cx="122" cy="0"/>
            </a:xfrm>
            <a:prstGeom prst="line">
              <a:avLst/>
            </a:prstGeom>
            <a:ln w="9525" cap="flat" cmpd="sng">
              <a:solidFill>
                <a:srgbClr val="000000"/>
              </a:solidFill>
              <a:prstDash val="solid"/>
              <a:headEnd type="none" w="med" len="med"/>
              <a:tailEnd type="none" w="med" len="med"/>
            </a:ln>
          </p:spPr>
        </p:sp>
        <p:sp>
          <p:nvSpPr>
            <p:cNvPr id="7205" name="Line 566"/>
            <p:cNvSpPr/>
            <p:nvPr/>
          </p:nvSpPr>
          <p:spPr>
            <a:xfrm>
              <a:off x="4371" y="1659"/>
              <a:ext cx="123" cy="0"/>
            </a:xfrm>
            <a:prstGeom prst="line">
              <a:avLst/>
            </a:prstGeom>
            <a:ln w="9525" cap="flat" cmpd="sng">
              <a:solidFill>
                <a:srgbClr val="000000"/>
              </a:solidFill>
              <a:prstDash val="solid"/>
              <a:headEnd type="none" w="med" len="med"/>
              <a:tailEnd type="none" w="med" len="med"/>
            </a:ln>
          </p:spPr>
        </p:sp>
        <p:sp>
          <p:nvSpPr>
            <p:cNvPr id="7206" name="Line 567"/>
            <p:cNvSpPr/>
            <p:nvPr/>
          </p:nvSpPr>
          <p:spPr>
            <a:xfrm>
              <a:off x="4371" y="1659"/>
              <a:ext cx="0" cy="241"/>
            </a:xfrm>
            <a:prstGeom prst="line">
              <a:avLst/>
            </a:prstGeom>
            <a:ln w="9525" cap="flat" cmpd="sng">
              <a:solidFill>
                <a:srgbClr val="000000"/>
              </a:solidFill>
              <a:prstDash val="solid"/>
              <a:headEnd type="none" w="med" len="med"/>
              <a:tailEnd type="none" w="med" len="med"/>
            </a:ln>
          </p:spPr>
        </p:sp>
        <p:sp>
          <p:nvSpPr>
            <p:cNvPr id="7207" name="Line 568"/>
            <p:cNvSpPr/>
            <p:nvPr/>
          </p:nvSpPr>
          <p:spPr>
            <a:xfrm>
              <a:off x="4985" y="1659"/>
              <a:ext cx="122" cy="0"/>
            </a:xfrm>
            <a:prstGeom prst="line">
              <a:avLst/>
            </a:prstGeom>
            <a:ln w="9525" cap="flat" cmpd="sng">
              <a:solidFill>
                <a:srgbClr val="000000"/>
              </a:solidFill>
              <a:prstDash val="solid"/>
              <a:headEnd type="none" w="med" len="med"/>
              <a:tailEnd type="none" w="med" len="med"/>
            </a:ln>
          </p:spPr>
        </p:sp>
        <p:sp>
          <p:nvSpPr>
            <p:cNvPr id="7208" name="Line 569"/>
            <p:cNvSpPr/>
            <p:nvPr/>
          </p:nvSpPr>
          <p:spPr>
            <a:xfrm>
              <a:off x="4985" y="1659"/>
              <a:ext cx="0" cy="241"/>
            </a:xfrm>
            <a:prstGeom prst="line">
              <a:avLst/>
            </a:prstGeom>
            <a:ln w="9525" cap="flat" cmpd="sng">
              <a:solidFill>
                <a:srgbClr val="000000"/>
              </a:solidFill>
              <a:prstDash val="solid"/>
              <a:headEnd type="none" w="med" len="med"/>
              <a:tailEnd type="none" w="med" len="med"/>
            </a:ln>
          </p:spPr>
        </p:sp>
        <p:sp>
          <p:nvSpPr>
            <p:cNvPr id="7209" name="Line 570"/>
            <p:cNvSpPr/>
            <p:nvPr/>
          </p:nvSpPr>
          <p:spPr>
            <a:xfrm>
              <a:off x="3072" y="1659"/>
              <a:ext cx="123" cy="0"/>
            </a:xfrm>
            <a:prstGeom prst="line">
              <a:avLst/>
            </a:prstGeom>
            <a:ln w="9525" cap="flat" cmpd="sng">
              <a:solidFill>
                <a:srgbClr val="000000"/>
              </a:solidFill>
              <a:prstDash val="solid"/>
              <a:headEnd type="none" w="med" len="med"/>
              <a:tailEnd type="none" w="med" len="med"/>
            </a:ln>
          </p:spPr>
        </p:sp>
        <p:sp>
          <p:nvSpPr>
            <p:cNvPr id="7210" name="Line 571"/>
            <p:cNvSpPr/>
            <p:nvPr/>
          </p:nvSpPr>
          <p:spPr>
            <a:xfrm flipH="1">
              <a:off x="3071" y="1659"/>
              <a:ext cx="1" cy="245"/>
            </a:xfrm>
            <a:prstGeom prst="line">
              <a:avLst/>
            </a:prstGeom>
            <a:ln w="9525" cap="flat" cmpd="sng">
              <a:solidFill>
                <a:srgbClr val="000000"/>
              </a:solidFill>
              <a:prstDash val="solid"/>
              <a:headEnd type="none" w="med" len="med"/>
              <a:tailEnd type="none" w="med" len="med"/>
            </a:ln>
          </p:spPr>
        </p:sp>
        <p:sp>
          <p:nvSpPr>
            <p:cNvPr id="7211" name="Line 572"/>
            <p:cNvSpPr/>
            <p:nvPr/>
          </p:nvSpPr>
          <p:spPr>
            <a:xfrm>
              <a:off x="1732" y="1659"/>
              <a:ext cx="0" cy="241"/>
            </a:xfrm>
            <a:prstGeom prst="line">
              <a:avLst/>
            </a:prstGeom>
            <a:ln w="9525" cap="flat" cmpd="sng">
              <a:solidFill>
                <a:srgbClr val="000000"/>
              </a:solidFill>
              <a:prstDash val="solid"/>
              <a:headEnd type="none" w="med" len="med"/>
              <a:tailEnd type="none" w="med" len="med"/>
            </a:ln>
          </p:spPr>
        </p:sp>
        <p:sp>
          <p:nvSpPr>
            <p:cNvPr id="7212" name="Line 573"/>
            <p:cNvSpPr/>
            <p:nvPr/>
          </p:nvSpPr>
          <p:spPr>
            <a:xfrm>
              <a:off x="1732" y="1659"/>
              <a:ext cx="123" cy="0"/>
            </a:xfrm>
            <a:prstGeom prst="line">
              <a:avLst/>
            </a:prstGeom>
            <a:ln w="9525" cap="flat" cmpd="sng">
              <a:solidFill>
                <a:srgbClr val="000000"/>
              </a:solidFill>
              <a:prstDash val="solid"/>
              <a:headEnd type="none" w="med" len="med"/>
              <a:tailEnd type="none" w="med" len="med"/>
            </a:ln>
          </p:spPr>
        </p:sp>
        <p:sp>
          <p:nvSpPr>
            <p:cNvPr id="7213" name="Line 574"/>
            <p:cNvSpPr/>
            <p:nvPr/>
          </p:nvSpPr>
          <p:spPr>
            <a:xfrm>
              <a:off x="745" y="1764"/>
              <a:ext cx="0" cy="309"/>
            </a:xfrm>
            <a:prstGeom prst="line">
              <a:avLst/>
            </a:prstGeom>
            <a:ln w="9525" cap="flat" cmpd="sng">
              <a:solidFill>
                <a:srgbClr val="000000"/>
              </a:solidFill>
              <a:prstDash val="solid"/>
              <a:headEnd type="none" w="med" len="med"/>
              <a:tailEnd type="none" w="med" len="med"/>
            </a:ln>
          </p:spPr>
        </p:sp>
        <p:sp>
          <p:nvSpPr>
            <p:cNvPr id="7214" name="Line 575"/>
            <p:cNvSpPr/>
            <p:nvPr/>
          </p:nvSpPr>
          <p:spPr>
            <a:xfrm>
              <a:off x="205" y="1894"/>
              <a:ext cx="4780" cy="0"/>
            </a:xfrm>
            <a:prstGeom prst="line">
              <a:avLst/>
            </a:prstGeom>
            <a:ln w="9525" cap="flat" cmpd="sng">
              <a:solidFill>
                <a:srgbClr val="000000"/>
              </a:solidFill>
              <a:prstDash val="solid"/>
              <a:headEnd type="none" w="med" len="med"/>
              <a:tailEnd type="none" w="med" len="med"/>
            </a:ln>
          </p:spPr>
        </p:sp>
        <p:sp>
          <p:nvSpPr>
            <p:cNvPr id="7215" name="Line 576"/>
            <p:cNvSpPr/>
            <p:nvPr/>
          </p:nvSpPr>
          <p:spPr>
            <a:xfrm>
              <a:off x="1374" y="1754"/>
              <a:ext cx="0" cy="308"/>
            </a:xfrm>
            <a:prstGeom prst="line">
              <a:avLst/>
            </a:prstGeom>
            <a:ln w="9525" cap="flat" cmpd="sng">
              <a:solidFill>
                <a:srgbClr val="000000"/>
              </a:solidFill>
              <a:prstDash val="solid"/>
              <a:headEnd type="none" w="med" len="med"/>
              <a:tailEnd type="none" w="med" len="med"/>
            </a:ln>
          </p:spPr>
        </p:sp>
        <p:sp>
          <p:nvSpPr>
            <p:cNvPr id="7216" name="Line 577"/>
            <p:cNvSpPr/>
            <p:nvPr/>
          </p:nvSpPr>
          <p:spPr>
            <a:xfrm>
              <a:off x="2724" y="1754"/>
              <a:ext cx="0" cy="308"/>
            </a:xfrm>
            <a:prstGeom prst="line">
              <a:avLst/>
            </a:prstGeom>
            <a:ln w="9525" cap="flat" cmpd="sng">
              <a:solidFill>
                <a:srgbClr val="000000"/>
              </a:solidFill>
              <a:prstDash val="solid"/>
              <a:headEnd type="none" w="med" len="med"/>
              <a:tailEnd type="none" w="med" len="med"/>
            </a:ln>
          </p:spPr>
        </p:sp>
        <p:sp>
          <p:nvSpPr>
            <p:cNvPr id="7217" name="Line 578"/>
            <p:cNvSpPr/>
            <p:nvPr/>
          </p:nvSpPr>
          <p:spPr>
            <a:xfrm>
              <a:off x="2059" y="1754"/>
              <a:ext cx="0" cy="308"/>
            </a:xfrm>
            <a:prstGeom prst="line">
              <a:avLst/>
            </a:prstGeom>
            <a:ln w="9525" cap="flat" cmpd="sng">
              <a:solidFill>
                <a:srgbClr val="000000"/>
              </a:solidFill>
              <a:prstDash val="solid"/>
              <a:headEnd type="none" w="med" len="med"/>
              <a:tailEnd type="none" w="med" len="med"/>
            </a:ln>
          </p:spPr>
        </p:sp>
        <p:sp>
          <p:nvSpPr>
            <p:cNvPr id="7218" name="Line 579"/>
            <p:cNvSpPr/>
            <p:nvPr/>
          </p:nvSpPr>
          <p:spPr>
            <a:xfrm>
              <a:off x="3369" y="1754"/>
              <a:ext cx="0" cy="308"/>
            </a:xfrm>
            <a:prstGeom prst="line">
              <a:avLst/>
            </a:prstGeom>
            <a:ln w="9525" cap="flat" cmpd="sng">
              <a:solidFill>
                <a:srgbClr val="000000"/>
              </a:solidFill>
              <a:prstDash val="solid"/>
              <a:headEnd type="none" w="med" len="med"/>
              <a:tailEnd type="none" w="med" len="med"/>
            </a:ln>
          </p:spPr>
        </p:sp>
        <p:sp>
          <p:nvSpPr>
            <p:cNvPr id="7219" name="Line 580"/>
            <p:cNvSpPr/>
            <p:nvPr/>
          </p:nvSpPr>
          <p:spPr>
            <a:xfrm>
              <a:off x="4033" y="1754"/>
              <a:ext cx="0" cy="308"/>
            </a:xfrm>
            <a:prstGeom prst="line">
              <a:avLst/>
            </a:prstGeom>
            <a:ln w="9525" cap="flat" cmpd="sng">
              <a:solidFill>
                <a:srgbClr val="000000"/>
              </a:solidFill>
              <a:prstDash val="solid"/>
              <a:headEnd type="none" w="med" len="med"/>
              <a:tailEnd type="none" w="med" len="med"/>
            </a:ln>
          </p:spPr>
        </p:sp>
        <p:sp>
          <p:nvSpPr>
            <p:cNvPr id="7220" name="Line 581"/>
            <p:cNvSpPr/>
            <p:nvPr/>
          </p:nvSpPr>
          <p:spPr>
            <a:xfrm>
              <a:off x="4678" y="1754"/>
              <a:ext cx="0" cy="308"/>
            </a:xfrm>
            <a:prstGeom prst="line">
              <a:avLst/>
            </a:prstGeom>
            <a:ln w="9525" cap="flat" cmpd="sng">
              <a:solidFill>
                <a:srgbClr val="000000"/>
              </a:solidFill>
              <a:prstDash val="solid"/>
              <a:headEnd type="none" w="med" len="med"/>
              <a:tailEnd type="none" w="med" len="med"/>
            </a:ln>
          </p:spPr>
        </p:sp>
        <p:sp>
          <p:nvSpPr>
            <p:cNvPr id="7221" name="Line 582"/>
            <p:cNvSpPr/>
            <p:nvPr/>
          </p:nvSpPr>
          <p:spPr>
            <a:xfrm>
              <a:off x="5281" y="1754"/>
              <a:ext cx="0" cy="308"/>
            </a:xfrm>
            <a:prstGeom prst="line">
              <a:avLst/>
            </a:prstGeom>
            <a:ln w="9525" cap="flat" cmpd="sng">
              <a:solidFill>
                <a:srgbClr val="000000"/>
              </a:solidFill>
              <a:prstDash val="solid"/>
              <a:headEnd type="none" w="med" len="med"/>
              <a:tailEnd type="none" w="med" len="med"/>
            </a:ln>
          </p:spPr>
        </p:sp>
        <p:sp>
          <p:nvSpPr>
            <p:cNvPr id="7222" name="Oval 583"/>
            <p:cNvSpPr/>
            <p:nvPr/>
          </p:nvSpPr>
          <p:spPr>
            <a:xfrm>
              <a:off x="422"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23" name="Oval 584"/>
            <p:cNvSpPr/>
            <p:nvPr/>
          </p:nvSpPr>
          <p:spPr>
            <a:xfrm>
              <a:off x="1067"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24" name="Oval 585"/>
            <p:cNvSpPr/>
            <p:nvPr/>
          </p:nvSpPr>
          <p:spPr>
            <a:xfrm>
              <a:off x="1712"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25" name="Oval 586"/>
            <p:cNvSpPr/>
            <p:nvPr/>
          </p:nvSpPr>
          <p:spPr>
            <a:xfrm>
              <a:off x="2407"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26" name="Oval 587"/>
            <p:cNvSpPr/>
            <p:nvPr/>
          </p:nvSpPr>
          <p:spPr>
            <a:xfrm>
              <a:off x="3052" y="1875"/>
              <a:ext cx="38" cy="35"/>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27" name="Oval 588"/>
            <p:cNvSpPr/>
            <p:nvPr/>
          </p:nvSpPr>
          <p:spPr>
            <a:xfrm>
              <a:off x="3706"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28" name="Oval 589"/>
            <p:cNvSpPr/>
            <p:nvPr/>
          </p:nvSpPr>
          <p:spPr>
            <a:xfrm>
              <a:off x="4350" y="1875"/>
              <a:ext cx="39" cy="35"/>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29" name="Oval 590"/>
            <p:cNvSpPr/>
            <p:nvPr/>
          </p:nvSpPr>
          <p:spPr>
            <a:xfrm>
              <a:off x="724"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30" name="Oval 591"/>
            <p:cNvSpPr/>
            <p:nvPr/>
          </p:nvSpPr>
          <p:spPr>
            <a:xfrm>
              <a:off x="1356"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31" name="Oval 592"/>
            <p:cNvSpPr/>
            <p:nvPr/>
          </p:nvSpPr>
          <p:spPr>
            <a:xfrm>
              <a:off x="2039"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32" name="Oval 593"/>
            <p:cNvSpPr/>
            <p:nvPr/>
          </p:nvSpPr>
          <p:spPr>
            <a:xfrm>
              <a:off x="3353"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33" name="Oval 594"/>
            <p:cNvSpPr/>
            <p:nvPr/>
          </p:nvSpPr>
          <p:spPr>
            <a:xfrm>
              <a:off x="2704"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34" name="Oval 595"/>
            <p:cNvSpPr/>
            <p:nvPr/>
          </p:nvSpPr>
          <p:spPr>
            <a:xfrm>
              <a:off x="4013"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35" name="Oval 596"/>
            <p:cNvSpPr/>
            <p:nvPr/>
          </p:nvSpPr>
          <p:spPr>
            <a:xfrm>
              <a:off x="4662" y="1754"/>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36" name="Oval 597"/>
            <p:cNvSpPr/>
            <p:nvPr/>
          </p:nvSpPr>
          <p:spPr>
            <a:xfrm>
              <a:off x="5266" y="1754"/>
              <a:ext cx="38"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37" name="Rectangle 598"/>
            <p:cNvSpPr/>
            <p:nvPr/>
          </p:nvSpPr>
          <p:spPr>
            <a:xfrm>
              <a:off x="566" y="2037"/>
              <a:ext cx="366"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lstStyle/>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38" name="Rectangle 599"/>
            <p:cNvSpPr/>
            <p:nvPr/>
          </p:nvSpPr>
          <p:spPr>
            <a:xfrm>
              <a:off x="1865" y="2037"/>
              <a:ext cx="366"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lstStyle/>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39" name="Rectangle 600"/>
            <p:cNvSpPr/>
            <p:nvPr/>
          </p:nvSpPr>
          <p:spPr>
            <a:xfrm>
              <a:off x="2520" y="2037"/>
              <a:ext cx="365"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lstStyle/>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40" name="Rectangle 601"/>
            <p:cNvSpPr/>
            <p:nvPr/>
          </p:nvSpPr>
          <p:spPr>
            <a:xfrm>
              <a:off x="3174" y="2037"/>
              <a:ext cx="366"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lstStyle/>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41" name="Rectangle 602"/>
            <p:cNvSpPr/>
            <p:nvPr/>
          </p:nvSpPr>
          <p:spPr>
            <a:xfrm>
              <a:off x="3839" y="2037"/>
              <a:ext cx="366"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lstStyle/>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42" name="Rectangle 603"/>
            <p:cNvSpPr/>
            <p:nvPr/>
          </p:nvSpPr>
          <p:spPr>
            <a:xfrm>
              <a:off x="4483" y="2037"/>
              <a:ext cx="366"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lstStyle/>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43" name="Rectangle 604"/>
            <p:cNvSpPr/>
            <p:nvPr/>
          </p:nvSpPr>
          <p:spPr>
            <a:xfrm>
              <a:off x="5087" y="2037"/>
              <a:ext cx="365"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lstStyle/>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44" name="Oval 605"/>
            <p:cNvSpPr/>
            <p:nvPr/>
          </p:nvSpPr>
          <p:spPr>
            <a:xfrm>
              <a:off x="725" y="2001"/>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45" name="Rectangle 606"/>
            <p:cNvSpPr/>
            <p:nvPr/>
          </p:nvSpPr>
          <p:spPr>
            <a:xfrm>
              <a:off x="1180" y="2037"/>
              <a:ext cx="365" cy="472"/>
            </a:xfrm>
            <a:prstGeom prst="rect">
              <a:avLst/>
            </a:prstGeom>
            <a:solidFill>
              <a:srgbClr val="CCFFFF"/>
            </a:solidFill>
            <a:ln w="9525" cap="flat" cmpd="sng">
              <a:solidFill>
                <a:srgbClr val="000000"/>
              </a:solidFill>
              <a:prstDash val="solid"/>
              <a:miter/>
              <a:headEnd type="none" w="med" len="med"/>
              <a:tailEnd type="none" w="med" len="med"/>
            </a:ln>
          </p:spPr>
          <p:txBody>
            <a:bodyPr wrap="none" lIns="0" tIns="0" rIns="0" bIns="0"/>
            <a:lstStyle/>
            <a:p>
              <a:pPr algn="ctr">
                <a:lnSpc>
                  <a:spcPct val="96000"/>
                </a:lnSpc>
                <a:spcBef>
                  <a:spcPts val="465"/>
                </a:spcBef>
                <a:spcAft>
                  <a:spcPts val="775"/>
                </a:spcAft>
              </a:pP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C   D</a:t>
              </a:r>
              <a:endParaRPr lang="en-US" altLang="zh-CN" sz="4000" dirty="0">
                <a:latin typeface="Arial" panose="020B0604020202020204" pitchFamily="34" charset="0"/>
              </a:endParaRPr>
            </a:p>
          </p:txBody>
        </p:sp>
        <p:sp>
          <p:nvSpPr>
            <p:cNvPr id="7246" name="Oval 607"/>
            <p:cNvSpPr/>
            <p:nvPr/>
          </p:nvSpPr>
          <p:spPr>
            <a:xfrm>
              <a:off x="1359" y="2001"/>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47" name="Oval 608"/>
            <p:cNvSpPr/>
            <p:nvPr/>
          </p:nvSpPr>
          <p:spPr>
            <a:xfrm>
              <a:off x="2044" y="1997"/>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48" name="Oval 609"/>
            <p:cNvSpPr/>
            <p:nvPr/>
          </p:nvSpPr>
          <p:spPr>
            <a:xfrm>
              <a:off x="2709" y="1998"/>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49" name="Oval 610"/>
            <p:cNvSpPr/>
            <p:nvPr/>
          </p:nvSpPr>
          <p:spPr>
            <a:xfrm>
              <a:off x="3354" y="2000"/>
              <a:ext cx="38"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50" name="Oval 611"/>
            <p:cNvSpPr/>
            <p:nvPr/>
          </p:nvSpPr>
          <p:spPr>
            <a:xfrm>
              <a:off x="4018" y="2001"/>
              <a:ext cx="39" cy="3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51" name="Oval 612"/>
            <p:cNvSpPr/>
            <p:nvPr/>
          </p:nvSpPr>
          <p:spPr>
            <a:xfrm>
              <a:off x="4663" y="2001"/>
              <a:ext cx="39" cy="3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52" name="Oval 613"/>
            <p:cNvSpPr/>
            <p:nvPr/>
          </p:nvSpPr>
          <p:spPr>
            <a:xfrm>
              <a:off x="5266" y="2004"/>
              <a:ext cx="38" cy="3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53" name="Oval 614"/>
            <p:cNvSpPr/>
            <p:nvPr/>
          </p:nvSpPr>
          <p:spPr>
            <a:xfrm>
              <a:off x="632"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54" name="Oval 615"/>
            <p:cNvSpPr/>
            <p:nvPr/>
          </p:nvSpPr>
          <p:spPr>
            <a:xfrm>
              <a:off x="627" y="2803"/>
              <a:ext cx="39" cy="35"/>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55" name="Oval 616"/>
            <p:cNvSpPr/>
            <p:nvPr/>
          </p:nvSpPr>
          <p:spPr>
            <a:xfrm>
              <a:off x="1266"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56" name="Oval 617"/>
            <p:cNvSpPr/>
            <p:nvPr/>
          </p:nvSpPr>
          <p:spPr>
            <a:xfrm>
              <a:off x="1262" y="2799"/>
              <a:ext cx="38" cy="35"/>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57" name="Oval 618"/>
            <p:cNvSpPr/>
            <p:nvPr/>
          </p:nvSpPr>
          <p:spPr>
            <a:xfrm>
              <a:off x="1941"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58" name="Oval 619"/>
            <p:cNvSpPr/>
            <p:nvPr/>
          </p:nvSpPr>
          <p:spPr>
            <a:xfrm>
              <a:off x="1937" y="2803"/>
              <a:ext cx="39" cy="35"/>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59" name="Oval 620"/>
            <p:cNvSpPr/>
            <p:nvPr/>
          </p:nvSpPr>
          <p:spPr>
            <a:xfrm>
              <a:off x="4565"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60" name="Oval 621"/>
            <p:cNvSpPr/>
            <p:nvPr/>
          </p:nvSpPr>
          <p:spPr>
            <a:xfrm>
              <a:off x="4566" y="2799"/>
              <a:ext cx="39" cy="35"/>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61" name="Line 622"/>
            <p:cNvSpPr/>
            <p:nvPr/>
          </p:nvSpPr>
          <p:spPr>
            <a:xfrm flipH="1">
              <a:off x="5204" y="2551"/>
              <a:ext cx="1" cy="262"/>
            </a:xfrm>
            <a:prstGeom prst="line">
              <a:avLst/>
            </a:prstGeom>
            <a:ln w="9525" cap="flat" cmpd="sng">
              <a:solidFill>
                <a:srgbClr val="000000"/>
              </a:solidFill>
              <a:prstDash val="solid"/>
              <a:headEnd type="none" w="med" len="med"/>
              <a:tailEnd type="none" w="med" len="med"/>
            </a:ln>
          </p:spPr>
        </p:sp>
        <p:sp>
          <p:nvSpPr>
            <p:cNvPr id="7262" name="Oval 623"/>
            <p:cNvSpPr/>
            <p:nvPr/>
          </p:nvSpPr>
          <p:spPr>
            <a:xfrm>
              <a:off x="2596"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63" name="Oval 624"/>
            <p:cNvSpPr/>
            <p:nvPr/>
          </p:nvSpPr>
          <p:spPr>
            <a:xfrm>
              <a:off x="2591" y="2801"/>
              <a:ext cx="39" cy="34"/>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64" name="Oval 625"/>
            <p:cNvSpPr/>
            <p:nvPr/>
          </p:nvSpPr>
          <p:spPr>
            <a:xfrm>
              <a:off x="3251" y="2509"/>
              <a:ext cx="38"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65" name="Oval 626"/>
            <p:cNvSpPr/>
            <p:nvPr/>
          </p:nvSpPr>
          <p:spPr>
            <a:xfrm>
              <a:off x="3246" y="2799"/>
              <a:ext cx="39" cy="35"/>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66" name="Oval 627"/>
            <p:cNvSpPr/>
            <p:nvPr/>
          </p:nvSpPr>
          <p:spPr>
            <a:xfrm>
              <a:off x="3920" y="2509"/>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67" name="Oval 628"/>
            <p:cNvSpPr/>
            <p:nvPr/>
          </p:nvSpPr>
          <p:spPr>
            <a:xfrm>
              <a:off x="3921" y="2800"/>
              <a:ext cx="39" cy="34"/>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268" name="Line 629"/>
            <p:cNvSpPr/>
            <p:nvPr/>
          </p:nvSpPr>
          <p:spPr>
            <a:xfrm>
              <a:off x="5353" y="2511"/>
              <a:ext cx="0" cy="847"/>
            </a:xfrm>
            <a:prstGeom prst="line">
              <a:avLst/>
            </a:prstGeom>
            <a:ln w="9525" cap="flat" cmpd="sng">
              <a:solidFill>
                <a:srgbClr val="000000"/>
              </a:solidFill>
              <a:prstDash val="solid"/>
              <a:headEnd type="none" w="med" len="med"/>
              <a:tailEnd type="none" w="med" len="med"/>
            </a:ln>
          </p:spPr>
        </p:sp>
        <p:sp>
          <p:nvSpPr>
            <p:cNvPr id="7269" name="Line 630"/>
            <p:cNvSpPr/>
            <p:nvPr/>
          </p:nvSpPr>
          <p:spPr>
            <a:xfrm>
              <a:off x="502" y="2819"/>
              <a:ext cx="4703" cy="0"/>
            </a:xfrm>
            <a:prstGeom prst="line">
              <a:avLst/>
            </a:prstGeom>
            <a:ln w="9525" cap="flat" cmpd="sng">
              <a:solidFill>
                <a:srgbClr val="000000"/>
              </a:solidFill>
              <a:prstDash val="solid"/>
              <a:headEnd type="none" w="med" len="med"/>
              <a:tailEnd type="none" w="med" len="med"/>
            </a:ln>
          </p:spPr>
        </p:sp>
        <p:sp>
          <p:nvSpPr>
            <p:cNvPr id="7270" name="Line 631"/>
            <p:cNvSpPr/>
            <p:nvPr/>
          </p:nvSpPr>
          <p:spPr>
            <a:xfrm flipH="1">
              <a:off x="853" y="2512"/>
              <a:ext cx="0" cy="846"/>
            </a:xfrm>
            <a:prstGeom prst="line">
              <a:avLst/>
            </a:prstGeom>
            <a:ln w="9525" cap="flat" cmpd="sng">
              <a:solidFill>
                <a:srgbClr val="000000"/>
              </a:solidFill>
              <a:prstDash val="solid"/>
              <a:headEnd type="none" w="med" len="med"/>
              <a:tailEnd type="none" w="med" len="med"/>
            </a:ln>
          </p:spPr>
        </p:sp>
        <p:sp>
          <p:nvSpPr>
            <p:cNvPr id="7271" name="Line 632"/>
            <p:cNvSpPr/>
            <p:nvPr/>
          </p:nvSpPr>
          <p:spPr>
            <a:xfrm>
              <a:off x="1468" y="2511"/>
              <a:ext cx="0" cy="847"/>
            </a:xfrm>
            <a:prstGeom prst="line">
              <a:avLst/>
            </a:prstGeom>
            <a:ln w="9525" cap="flat" cmpd="sng">
              <a:solidFill>
                <a:srgbClr val="000000"/>
              </a:solidFill>
              <a:prstDash val="solid"/>
              <a:headEnd type="none" w="med" len="med"/>
              <a:tailEnd type="none" w="med" len="med"/>
            </a:ln>
          </p:spPr>
        </p:sp>
        <p:sp>
          <p:nvSpPr>
            <p:cNvPr id="7272" name="Line 633"/>
            <p:cNvSpPr/>
            <p:nvPr/>
          </p:nvSpPr>
          <p:spPr>
            <a:xfrm>
              <a:off x="2162" y="2512"/>
              <a:ext cx="0" cy="846"/>
            </a:xfrm>
            <a:prstGeom prst="line">
              <a:avLst/>
            </a:prstGeom>
            <a:ln w="9525" cap="flat" cmpd="sng">
              <a:solidFill>
                <a:srgbClr val="000000"/>
              </a:solidFill>
              <a:prstDash val="solid"/>
              <a:headEnd type="none" w="med" len="med"/>
              <a:tailEnd type="none" w="med" len="med"/>
            </a:ln>
          </p:spPr>
        </p:sp>
        <p:sp>
          <p:nvSpPr>
            <p:cNvPr id="7273" name="Line 634"/>
            <p:cNvSpPr/>
            <p:nvPr/>
          </p:nvSpPr>
          <p:spPr>
            <a:xfrm flipH="1">
              <a:off x="2796" y="2512"/>
              <a:ext cx="0" cy="846"/>
            </a:xfrm>
            <a:prstGeom prst="line">
              <a:avLst/>
            </a:prstGeom>
            <a:ln w="9525" cap="flat" cmpd="sng">
              <a:solidFill>
                <a:srgbClr val="000000"/>
              </a:solidFill>
              <a:prstDash val="solid"/>
              <a:headEnd type="none" w="med" len="med"/>
              <a:tailEnd type="none" w="med" len="med"/>
            </a:ln>
          </p:spPr>
        </p:sp>
        <p:sp>
          <p:nvSpPr>
            <p:cNvPr id="7274" name="Line 635"/>
            <p:cNvSpPr/>
            <p:nvPr/>
          </p:nvSpPr>
          <p:spPr>
            <a:xfrm>
              <a:off x="3450" y="2511"/>
              <a:ext cx="0" cy="847"/>
            </a:xfrm>
            <a:prstGeom prst="line">
              <a:avLst/>
            </a:prstGeom>
            <a:ln w="9525" cap="flat" cmpd="sng">
              <a:solidFill>
                <a:srgbClr val="000000"/>
              </a:solidFill>
              <a:prstDash val="solid"/>
              <a:headEnd type="none" w="med" len="med"/>
              <a:tailEnd type="none" w="med" len="med"/>
            </a:ln>
          </p:spPr>
        </p:sp>
        <p:sp>
          <p:nvSpPr>
            <p:cNvPr id="7275" name="Line 636"/>
            <p:cNvSpPr/>
            <p:nvPr/>
          </p:nvSpPr>
          <p:spPr>
            <a:xfrm>
              <a:off x="4125" y="2511"/>
              <a:ext cx="0" cy="847"/>
            </a:xfrm>
            <a:prstGeom prst="line">
              <a:avLst/>
            </a:prstGeom>
            <a:ln w="9525" cap="flat" cmpd="sng">
              <a:solidFill>
                <a:srgbClr val="000000"/>
              </a:solidFill>
              <a:prstDash val="solid"/>
              <a:headEnd type="none" w="med" len="med"/>
              <a:tailEnd type="none" w="med" len="med"/>
            </a:ln>
          </p:spPr>
        </p:sp>
        <p:sp>
          <p:nvSpPr>
            <p:cNvPr id="7276" name="Line 637"/>
            <p:cNvSpPr/>
            <p:nvPr/>
          </p:nvSpPr>
          <p:spPr>
            <a:xfrm flipH="1">
              <a:off x="4739" y="2511"/>
              <a:ext cx="0" cy="847"/>
            </a:xfrm>
            <a:prstGeom prst="line">
              <a:avLst/>
            </a:prstGeom>
            <a:ln w="9525" cap="flat" cmpd="sng">
              <a:solidFill>
                <a:srgbClr val="000000"/>
              </a:solidFill>
              <a:prstDash val="solid"/>
              <a:headEnd type="none" w="med" len="med"/>
              <a:tailEnd type="none" w="med" len="med"/>
            </a:ln>
          </p:spPr>
        </p:sp>
        <p:sp>
          <p:nvSpPr>
            <p:cNvPr id="7277" name="Rectangle 638"/>
            <p:cNvSpPr/>
            <p:nvPr/>
          </p:nvSpPr>
          <p:spPr>
            <a:xfrm>
              <a:off x="330" y="3031"/>
              <a:ext cx="368" cy="189"/>
            </a:xfrm>
            <a:prstGeom prst="rect">
              <a:avLst/>
            </a:prstGeom>
            <a:solidFill>
              <a:srgbClr val="CC99FF"/>
            </a:solidFill>
            <a:ln w="9525" cap="flat" cmpd="sng">
              <a:solidFill>
                <a:srgbClr val="000000"/>
              </a:solidFill>
              <a:prstDash val="solid"/>
              <a:miter/>
              <a:headEnd type="none" w="med" len="med"/>
              <a:tailEnd type="none" w="med" len="med"/>
            </a:ln>
          </p:spPr>
          <p:txBody>
            <a:bodyPr lIns="0" tIns="0" rIns="0" bIns="0"/>
            <a:lstStyle/>
            <a:p>
              <a:pPr algn="ctr"/>
              <a:r>
                <a:rPr lang="en-US" altLang="zh-CN" sz="2000" dirty="0">
                  <a:latin typeface="Times New Roman" panose="02020603050405020304" pitchFamily="18" charset="0"/>
                </a:rPr>
                <a:t>1</a:t>
              </a:r>
              <a:endParaRPr lang="en-US" altLang="zh-CN" sz="4000" dirty="0">
                <a:latin typeface="Arial" panose="020B0604020202020204" pitchFamily="34" charset="0"/>
              </a:endParaRPr>
            </a:p>
          </p:txBody>
        </p:sp>
        <p:sp>
          <p:nvSpPr>
            <p:cNvPr id="7278" name="Line 639"/>
            <p:cNvSpPr/>
            <p:nvPr/>
          </p:nvSpPr>
          <p:spPr>
            <a:xfrm>
              <a:off x="514" y="3223"/>
              <a:ext cx="0" cy="120"/>
            </a:xfrm>
            <a:prstGeom prst="line">
              <a:avLst/>
            </a:prstGeom>
            <a:ln w="9525" cap="flat" cmpd="sng">
              <a:solidFill>
                <a:srgbClr val="000000"/>
              </a:solidFill>
              <a:prstDash val="solid"/>
              <a:headEnd type="none" w="med" len="med"/>
              <a:tailEnd type="none" w="med" len="med"/>
            </a:ln>
          </p:spPr>
        </p:sp>
        <p:sp>
          <p:nvSpPr>
            <p:cNvPr id="7279" name="Line 640"/>
            <p:cNvSpPr/>
            <p:nvPr/>
          </p:nvSpPr>
          <p:spPr>
            <a:xfrm>
              <a:off x="205" y="1890"/>
              <a:ext cx="1" cy="677"/>
            </a:xfrm>
            <a:prstGeom prst="line">
              <a:avLst/>
            </a:prstGeom>
            <a:ln w="9525" cap="flat" cmpd="sng">
              <a:solidFill>
                <a:srgbClr val="000000"/>
              </a:solidFill>
              <a:prstDash val="solid"/>
              <a:headEnd type="none" w="med" len="med"/>
              <a:tailEnd type="none" w="med" len="med"/>
            </a:ln>
          </p:spPr>
        </p:sp>
        <p:sp>
          <p:nvSpPr>
            <p:cNvPr id="7280" name="Rectangle 641"/>
            <p:cNvSpPr/>
            <p:nvPr/>
          </p:nvSpPr>
          <p:spPr>
            <a:xfrm>
              <a:off x="22" y="2570"/>
              <a:ext cx="368" cy="189"/>
            </a:xfrm>
            <a:prstGeom prst="rect">
              <a:avLst/>
            </a:prstGeom>
            <a:solidFill>
              <a:srgbClr val="CC99FF"/>
            </a:solidFill>
            <a:ln w="9525" cap="flat" cmpd="sng">
              <a:solidFill>
                <a:srgbClr val="000000"/>
              </a:solidFill>
              <a:prstDash val="solid"/>
              <a:miter/>
              <a:headEnd type="none" w="med" len="med"/>
              <a:tailEnd type="none" w="med" len="med"/>
            </a:ln>
          </p:spPr>
          <p:txBody>
            <a:bodyPr lIns="0" tIns="0" rIns="0" bIns="0"/>
            <a:lstStyle/>
            <a:p>
              <a:pPr algn="ctr"/>
              <a:r>
                <a:rPr lang="en-US" altLang="zh-CN" sz="2000" dirty="0">
                  <a:latin typeface="Times New Roman" panose="02020603050405020304" pitchFamily="18" charset="0"/>
                </a:rPr>
                <a:t>1</a:t>
              </a:r>
              <a:endParaRPr lang="en-US" altLang="zh-CN" sz="4000" dirty="0">
                <a:latin typeface="Arial" panose="020B0604020202020204" pitchFamily="34" charset="0"/>
              </a:endParaRPr>
            </a:p>
          </p:txBody>
        </p:sp>
        <p:sp>
          <p:nvSpPr>
            <p:cNvPr id="7281" name="Line 642"/>
            <p:cNvSpPr/>
            <p:nvPr/>
          </p:nvSpPr>
          <p:spPr>
            <a:xfrm>
              <a:off x="205" y="2772"/>
              <a:ext cx="1" cy="597"/>
            </a:xfrm>
            <a:prstGeom prst="line">
              <a:avLst/>
            </a:prstGeom>
            <a:ln w="9525" cap="flat" cmpd="sng">
              <a:solidFill>
                <a:srgbClr val="000000"/>
              </a:solidFill>
              <a:prstDash val="solid"/>
              <a:headEnd type="none" w="med" len="med"/>
              <a:tailEnd type="none" w="med" len="med"/>
            </a:ln>
          </p:spPr>
        </p:sp>
        <p:sp>
          <p:nvSpPr>
            <p:cNvPr id="7282" name="Text Box 643"/>
            <p:cNvSpPr txBox="1"/>
            <p:nvPr/>
          </p:nvSpPr>
          <p:spPr>
            <a:xfrm>
              <a:off x="760" y="3407"/>
              <a:ext cx="246" cy="189"/>
            </a:xfrm>
            <a:prstGeom prst="rect">
              <a:avLst/>
            </a:prstGeom>
            <a:noFill/>
            <a:ln w="9525">
              <a:noFill/>
            </a:ln>
          </p:spPr>
          <p:txBody>
            <a:bodyPr lIns="0" tIns="0" rIns="0" bIns="0"/>
            <a:lstStyle/>
            <a:p>
              <a:pPr algn="just"/>
              <a:r>
                <a:rPr lang="en-US" altLang="zh-CN" sz="2000" dirty="0">
                  <a:latin typeface="Times New Roman" panose="02020603050405020304" pitchFamily="18" charset="0"/>
                </a:rPr>
                <a:t>1</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3" name="Text Box 644"/>
            <p:cNvSpPr txBox="1"/>
            <p:nvPr/>
          </p:nvSpPr>
          <p:spPr>
            <a:xfrm>
              <a:off x="1364" y="3416"/>
              <a:ext cx="245" cy="189"/>
            </a:xfrm>
            <a:prstGeom prst="rect">
              <a:avLst/>
            </a:prstGeom>
            <a:noFill/>
            <a:ln w="9525">
              <a:noFill/>
            </a:ln>
          </p:spPr>
          <p:txBody>
            <a:bodyPr lIns="0" tIns="0" rIns="0" bIns="0"/>
            <a:lstStyle/>
            <a:p>
              <a:pPr algn="just"/>
              <a:r>
                <a:rPr lang="en-US" altLang="zh-CN" sz="2000" dirty="0">
                  <a:latin typeface="Times New Roman" panose="02020603050405020304" pitchFamily="18" charset="0"/>
                </a:rPr>
                <a:t>2</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4" name="Text Box 645"/>
            <p:cNvSpPr txBox="1"/>
            <p:nvPr/>
          </p:nvSpPr>
          <p:spPr>
            <a:xfrm>
              <a:off x="2080" y="3416"/>
              <a:ext cx="245" cy="189"/>
            </a:xfrm>
            <a:prstGeom prst="rect">
              <a:avLst/>
            </a:prstGeom>
            <a:noFill/>
            <a:ln w="9525">
              <a:noFill/>
            </a:ln>
          </p:spPr>
          <p:txBody>
            <a:bodyPr lIns="0" tIns="0" rIns="0" bIns="0"/>
            <a:lstStyle/>
            <a:p>
              <a:pPr algn="just"/>
              <a:r>
                <a:rPr lang="en-US" altLang="zh-CN" sz="2000" dirty="0">
                  <a:latin typeface="Times New Roman" panose="02020603050405020304" pitchFamily="18" charset="0"/>
                </a:rPr>
                <a:t>3</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5" name="Text Box 646"/>
            <p:cNvSpPr txBox="1"/>
            <p:nvPr/>
          </p:nvSpPr>
          <p:spPr>
            <a:xfrm>
              <a:off x="2704" y="3416"/>
              <a:ext cx="245" cy="189"/>
            </a:xfrm>
            <a:prstGeom prst="rect">
              <a:avLst/>
            </a:prstGeom>
            <a:noFill/>
            <a:ln w="9525">
              <a:noFill/>
            </a:ln>
          </p:spPr>
          <p:txBody>
            <a:bodyPr lIns="0" tIns="0" rIns="0" bIns="0"/>
            <a:lstStyle/>
            <a:p>
              <a:pPr algn="just"/>
              <a:r>
                <a:rPr lang="en-US" altLang="zh-CN" sz="2000" dirty="0">
                  <a:latin typeface="Times New Roman" panose="02020603050405020304" pitchFamily="18" charset="0"/>
                </a:rPr>
                <a:t>4</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6" name="Text Box 647"/>
            <p:cNvSpPr txBox="1"/>
            <p:nvPr/>
          </p:nvSpPr>
          <p:spPr>
            <a:xfrm>
              <a:off x="3338" y="3416"/>
              <a:ext cx="245" cy="189"/>
            </a:xfrm>
            <a:prstGeom prst="rect">
              <a:avLst/>
            </a:prstGeom>
            <a:noFill/>
            <a:ln w="9525">
              <a:noFill/>
            </a:ln>
          </p:spPr>
          <p:txBody>
            <a:bodyPr lIns="0" tIns="0" rIns="0" bIns="0"/>
            <a:lstStyle/>
            <a:p>
              <a:pPr algn="just"/>
              <a:r>
                <a:rPr lang="en-US" altLang="zh-CN" sz="2000" dirty="0">
                  <a:latin typeface="Times New Roman" panose="02020603050405020304" pitchFamily="18" charset="0"/>
                </a:rPr>
                <a:t>5</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7" name="Text Box 648"/>
            <p:cNvSpPr txBox="1"/>
            <p:nvPr/>
          </p:nvSpPr>
          <p:spPr>
            <a:xfrm>
              <a:off x="4044" y="3407"/>
              <a:ext cx="245" cy="189"/>
            </a:xfrm>
            <a:prstGeom prst="rect">
              <a:avLst/>
            </a:prstGeom>
            <a:noFill/>
            <a:ln w="9525">
              <a:noFill/>
            </a:ln>
          </p:spPr>
          <p:txBody>
            <a:bodyPr lIns="0" tIns="0" rIns="0" bIns="0"/>
            <a:lstStyle/>
            <a:p>
              <a:pPr algn="just"/>
              <a:r>
                <a:rPr lang="en-US" altLang="zh-CN" sz="2000" dirty="0">
                  <a:latin typeface="Times New Roman" panose="02020603050405020304" pitchFamily="18" charset="0"/>
                </a:rPr>
                <a:t>6</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8" name="Text Box 649"/>
            <p:cNvSpPr txBox="1"/>
            <p:nvPr/>
          </p:nvSpPr>
          <p:spPr>
            <a:xfrm>
              <a:off x="4647" y="3404"/>
              <a:ext cx="246" cy="188"/>
            </a:xfrm>
            <a:prstGeom prst="rect">
              <a:avLst/>
            </a:prstGeom>
            <a:noFill/>
            <a:ln w="9525">
              <a:noFill/>
            </a:ln>
          </p:spPr>
          <p:txBody>
            <a:bodyPr lIns="0" tIns="0" rIns="0" bIns="0"/>
            <a:lstStyle/>
            <a:p>
              <a:pPr algn="just"/>
              <a:r>
                <a:rPr lang="en-US" altLang="zh-CN" sz="2000" dirty="0">
                  <a:latin typeface="Times New Roman" panose="02020603050405020304" pitchFamily="18" charset="0"/>
                </a:rPr>
                <a:t>7</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89" name="Text Box 650"/>
            <p:cNvSpPr txBox="1"/>
            <p:nvPr/>
          </p:nvSpPr>
          <p:spPr>
            <a:xfrm>
              <a:off x="5261" y="3385"/>
              <a:ext cx="245" cy="189"/>
            </a:xfrm>
            <a:prstGeom prst="rect">
              <a:avLst/>
            </a:prstGeom>
            <a:noFill/>
            <a:ln w="9525">
              <a:noFill/>
            </a:ln>
          </p:spPr>
          <p:txBody>
            <a:bodyPr lIns="0" tIns="0" rIns="0" bIns="0"/>
            <a:lstStyle/>
            <a:p>
              <a:pPr algn="just"/>
              <a:r>
                <a:rPr lang="en-US" altLang="zh-CN" sz="2000" dirty="0">
                  <a:latin typeface="Times New Roman" panose="02020603050405020304" pitchFamily="18" charset="0"/>
                </a:rPr>
                <a:t>8</a:t>
              </a:r>
              <a:r>
                <a:rPr lang="en-US" altLang="zh-CN" sz="2000" i="1" dirty="0">
                  <a:latin typeface="Times New Roman" panose="02020603050405020304" pitchFamily="18" charset="0"/>
                </a:rPr>
                <a:t>D</a:t>
              </a:r>
              <a:endParaRPr lang="en-US" altLang="zh-CN" sz="4000" dirty="0">
                <a:latin typeface="Arial" panose="020B0604020202020204" pitchFamily="34" charset="0"/>
              </a:endParaRPr>
            </a:p>
          </p:txBody>
        </p:sp>
        <p:sp>
          <p:nvSpPr>
            <p:cNvPr id="7290" name="Text Box 651"/>
            <p:cNvSpPr txBox="1"/>
            <p:nvPr/>
          </p:nvSpPr>
          <p:spPr>
            <a:xfrm>
              <a:off x="422" y="3407"/>
              <a:ext cx="245" cy="189"/>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CP</a:t>
              </a:r>
              <a:endParaRPr lang="en-US" altLang="zh-CN" sz="4000" dirty="0">
                <a:latin typeface="Arial" panose="020B0604020202020204" pitchFamily="34" charset="0"/>
              </a:endParaRPr>
            </a:p>
          </p:txBody>
        </p:sp>
        <p:sp>
          <p:nvSpPr>
            <p:cNvPr id="7291" name="Text Box 652"/>
            <p:cNvSpPr txBox="1"/>
            <p:nvPr/>
          </p:nvSpPr>
          <p:spPr>
            <a:xfrm>
              <a:off x="127" y="3402"/>
              <a:ext cx="245" cy="188"/>
            </a:xfrm>
            <a:prstGeom prst="rect">
              <a:avLst/>
            </a:prstGeom>
            <a:solidFill>
              <a:srgbClr val="FFFFFF"/>
            </a:solidFill>
            <a:ln w="9525" cap="flat" cmpd="sng">
              <a:solidFill>
                <a:srgbClr val="FFFFFF"/>
              </a:solidFill>
              <a:prstDash val="solid"/>
              <a:miter/>
              <a:headEnd type="none" w="med" len="med"/>
              <a:tailEnd type="none" w="med" len="med"/>
            </a:ln>
          </p:spPr>
          <p:txBody>
            <a:bodyPr lIns="0" tIns="0" rIns="0" bIns="0"/>
            <a:lstStyle/>
            <a:p>
              <a:endParaRPr lang="zh-CN" altLang="zh-CN" sz="4000" dirty="0">
                <a:latin typeface="Arial" panose="020B0604020202020204" pitchFamily="34" charset="0"/>
              </a:endParaRPr>
            </a:p>
          </p:txBody>
        </p:sp>
        <p:sp>
          <p:nvSpPr>
            <p:cNvPr id="7292" name="Line 653"/>
            <p:cNvSpPr/>
            <p:nvPr/>
          </p:nvSpPr>
          <p:spPr>
            <a:xfrm>
              <a:off x="1395" y="1177"/>
              <a:ext cx="0" cy="283"/>
            </a:xfrm>
            <a:prstGeom prst="line">
              <a:avLst/>
            </a:prstGeom>
            <a:ln w="9525" cap="flat" cmpd="sng">
              <a:solidFill>
                <a:srgbClr val="000000"/>
              </a:solidFill>
              <a:prstDash val="solid"/>
              <a:headEnd type="none" w="med" len="med"/>
              <a:tailEnd type="none" w="med" len="med"/>
            </a:ln>
          </p:spPr>
        </p:sp>
        <p:grpSp>
          <p:nvGrpSpPr>
            <p:cNvPr id="7293" name="Group 654"/>
            <p:cNvGrpSpPr/>
            <p:nvPr/>
          </p:nvGrpSpPr>
          <p:grpSpPr>
            <a:xfrm>
              <a:off x="1241" y="2451"/>
              <a:ext cx="89" cy="51"/>
              <a:chOff x="1709" y="8982"/>
              <a:chExt cx="131" cy="84"/>
            </a:xfrm>
          </p:grpSpPr>
          <p:sp>
            <p:nvSpPr>
              <p:cNvPr id="7342" name="Line 655"/>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43" name="Line 656"/>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294" name="Group 657"/>
            <p:cNvGrpSpPr/>
            <p:nvPr/>
          </p:nvGrpSpPr>
          <p:grpSpPr>
            <a:xfrm>
              <a:off x="1912" y="2454"/>
              <a:ext cx="89" cy="51"/>
              <a:chOff x="1709" y="8982"/>
              <a:chExt cx="131" cy="84"/>
            </a:xfrm>
          </p:grpSpPr>
          <p:sp>
            <p:nvSpPr>
              <p:cNvPr id="7340" name="Line 658"/>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41" name="Line 659"/>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295" name="Group 660"/>
            <p:cNvGrpSpPr/>
            <p:nvPr/>
          </p:nvGrpSpPr>
          <p:grpSpPr>
            <a:xfrm>
              <a:off x="2572" y="2455"/>
              <a:ext cx="89" cy="51"/>
              <a:chOff x="1709" y="8982"/>
              <a:chExt cx="131" cy="84"/>
            </a:xfrm>
          </p:grpSpPr>
          <p:sp>
            <p:nvSpPr>
              <p:cNvPr id="7338" name="Line 661"/>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39" name="Line 662"/>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296" name="Group 663"/>
            <p:cNvGrpSpPr/>
            <p:nvPr/>
          </p:nvGrpSpPr>
          <p:grpSpPr>
            <a:xfrm>
              <a:off x="3221" y="2454"/>
              <a:ext cx="90" cy="51"/>
              <a:chOff x="1709" y="8982"/>
              <a:chExt cx="131" cy="84"/>
            </a:xfrm>
          </p:grpSpPr>
          <p:sp>
            <p:nvSpPr>
              <p:cNvPr id="7336" name="Line 664"/>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37" name="Line 665"/>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297" name="Group 666"/>
            <p:cNvGrpSpPr/>
            <p:nvPr/>
          </p:nvGrpSpPr>
          <p:grpSpPr>
            <a:xfrm>
              <a:off x="603" y="2450"/>
              <a:ext cx="89" cy="51"/>
              <a:chOff x="1709" y="8982"/>
              <a:chExt cx="131" cy="84"/>
            </a:xfrm>
          </p:grpSpPr>
          <p:sp>
            <p:nvSpPr>
              <p:cNvPr id="7334" name="Line 667"/>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35" name="Line 668"/>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298" name="Group 669"/>
            <p:cNvGrpSpPr/>
            <p:nvPr/>
          </p:nvGrpSpPr>
          <p:grpSpPr>
            <a:xfrm>
              <a:off x="5152" y="2456"/>
              <a:ext cx="90" cy="51"/>
              <a:chOff x="1709" y="8982"/>
              <a:chExt cx="131" cy="84"/>
            </a:xfrm>
          </p:grpSpPr>
          <p:sp>
            <p:nvSpPr>
              <p:cNvPr id="7332" name="Line 670"/>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33" name="Line 671"/>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299" name="Group 672"/>
            <p:cNvGrpSpPr/>
            <p:nvPr/>
          </p:nvGrpSpPr>
          <p:grpSpPr>
            <a:xfrm>
              <a:off x="4536" y="2456"/>
              <a:ext cx="89" cy="51"/>
              <a:chOff x="1709" y="8982"/>
              <a:chExt cx="131" cy="84"/>
            </a:xfrm>
          </p:grpSpPr>
          <p:sp>
            <p:nvSpPr>
              <p:cNvPr id="7330" name="Line 673"/>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31" name="Line 674"/>
              <p:cNvSpPr/>
              <p:nvPr/>
            </p:nvSpPr>
            <p:spPr>
              <a:xfrm>
                <a:off x="1768" y="8982"/>
                <a:ext cx="72" cy="84"/>
              </a:xfrm>
              <a:prstGeom prst="line">
                <a:avLst/>
              </a:prstGeom>
              <a:ln w="9525" cap="flat" cmpd="sng">
                <a:solidFill>
                  <a:srgbClr val="000000"/>
                </a:solidFill>
                <a:prstDash val="solid"/>
                <a:headEnd type="none" w="med" len="med"/>
                <a:tailEnd type="none" w="med" len="med"/>
              </a:ln>
            </p:spPr>
          </p:sp>
        </p:grpSp>
        <p:grpSp>
          <p:nvGrpSpPr>
            <p:cNvPr id="7300" name="Group 675"/>
            <p:cNvGrpSpPr/>
            <p:nvPr/>
          </p:nvGrpSpPr>
          <p:grpSpPr>
            <a:xfrm>
              <a:off x="3892" y="2456"/>
              <a:ext cx="90" cy="51"/>
              <a:chOff x="1709" y="8982"/>
              <a:chExt cx="131" cy="84"/>
            </a:xfrm>
          </p:grpSpPr>
          <p:sp>
            <p:nvSpPr>
              <p:cNvPr id="7328" name="Line 676"/>
              <p:cNvSpPr/>
              <p:nvPr/>
            </p:nvSpPr>
            <p:spPr>
              <a:xfrm flipH="1">
                <a:off x="1709" y="8988"/>
                <a:ext cx="56" cy="78"/>
              </a:xfrm>
              <a:prstGeom prst="line">
                <a:avLst/>
              </a:prstGeom>
              <a:ln w="9525" cap="flat" cmpd="sng">
                <a:solidFill>
                  <a:srgbClr val="000000"/>
                </a:solidFill>
                <a:prstDash val="solid"/>
                <a:headEnd type="none" w="med" len="med"/>
                <a:tailEnd type="none" w="med" len="med"/>
              </a:ln>
            </p:spPr>
          </p:sp>
          <p:sp>
            <p:nvSpPr>
              <p:cNvPr id="7329" name="Line 677"/>
              <p:cNvSpPr/>
              <p:nvPr/>
            </p:nvSpPr>
            <p:spPr>
              <a:xfrm>
                <a:off x="1768" y="8982"/>
                <a:ext cx="72" cy="84"/>
              </a:xfrm>
              <a:prstGeom prst="line">
                <a:avLst/>
              </a:prstGeom>
              <a:ln w="9525" cap="flat" cmpd="sng">
                <a:solidFill>
                  <a:srgbClr val="000000"/>
                </a:solidFill>
                <a:prstDash val="solid"/>
                <a:headEnd type="none" w="med" len="med"/>
                <a:tailEnd type="none" w="med" len="med"/>
              </a:ln>
            </p:spPr>
          </p:sp>
        </p:grpSp>
        <p:sp>
          <p:nvSpPr>
            <p:cNvPr id="7301" name="Oval 678"/>
            <p:cNvSpPr/>
            <p:nvPr/>
          </p:nvSpPr>
          <p:spPr>
            <a:xfrm>
              <a:off x="485" y="2994"/>
              <a:ext cx="39" cy="3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302" name="Oval 679"/>
            <p:cNvSpPr/>
            <p:nvPr/>
          </p:nvSpPr>
          <p:spPr>
            <a:xfrm>
              <a:off x="186" y="2760"/>
              <a:ext cx="39" cy="3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7303" name="Text Box 696"/>
            <p:cNvSpPr txBox="1"/>
            <p:nvPr/>
          </p:nvSpPr>
          <p:spPr>
            <a:xfrm>
              <a:off x="1882" y="3748"/>
              <a:ext cx="1670" cy="284"/>
            </a:xfrm>
            <a:prstGeom prst="rect">
              <a:avLst/>
            </a:prstGeom>
            <a:noFill/>
            <a:ln w="9525">
              <a:noFill/>
            </a:ln>
          </p:spPr>
          <p:txBody>
            <a:bodyPr wrap="none"/>
            <a:lstStyle/>
            <a:p>
              <a:pPr algn="ctr"/>
              <a:r>
                <a:rPr lang="en-US" altLang="zh-CN" sz="2000" dirty="0">
                  <a:latin typeface="Times New Roman" panose="02020603050405020304" pitchFamily="18" charset="0"/>
                </a:rPr>
                <a:t>74LS373</a:t>
              </a:r>
              <a:r>
                <a:rPr lang="zh-CN" altLang="en-US" sz="2000" dirty="0">
                  <a:latin typeface="Times New Roman" panose="02020603050405020304" pitchFamily="18" charset="0"/>
                </a:rPr>
                <a:t>的逻辑图</a:t>
              </a:r>
              <a:endParaRPr lang="zh-CN" altLang="en-US" sz="4000" dirty="0">
                <a:latin typeface="Arial" panose="020B0604020202020204" pitchFamily="34" charset="0"/>
              </a:endParaRPr>
            </a:p>
          </p:txBody>
        </p:sp>
        <p:grpSp>
          <p:nvGrpSpPr>
            <p:cNvPr id="7304" name="Group 698"/>
            <p:cNvGrpSpPr/>
            <p:nvPr/>
          </p:nvGrpSpPr>
          <p:grpSpPr>
            <a:xfrm>
              <a:off x="225" y="1471"/>
              <a:ext cx="709" cy="335"/>
              <a:chOff x="225" y="1471"/>
              <a:chExt cx="709" cy="335"/>
            </a:xfrm>
          </p:grpSpPr>
          <p:sp>
            <p:nvSpPr>
              <p:cNvPr id="7326" name="Rectangle 543"/>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lstStyle/>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27" name="Text Box 697"/>
              <p:cNvSpPr txBox="1"/>
              <p:nvPr/>
            </p:nvSpPr>
            <p:spPr>
              <a:xfrm>
                <a:off x="225" y="1488"/>
                <a:ext cx="413" cy="318"/>
              </a:xfrm>
              <a:prstGeom prst="rect">
                <a:avLst/>
              </a:prstGeom>
              <a:noFill/>
              <a:ln w="9525">
                <a:noFill/>
              </a:ln>
            </p:spPr>
            <p:txBody>
              <a:bodyPr wrap="none">
                <a:noAutofit/>
              </a:bodyPr>
              <a:lstStyle/>
              <a:p>
                <a:r>
                  <a:rPr lang="en-US" altLang="zh-CN" sz="1800" i="1" dirty="0">
                    <a:latin typeface="Times New Roman" panose="02020603050405020304" pitchFamily="18" charset="0"/>
                  </a:rPr>
                  <a:t>EN</a:t>
                </a:r>
              </a:p>
            </p:txBody>
          </p:sp>
        </p:grpSp>
        <p:sp>
          <p:nvSpPr>
            <p:cNvPr id="7324" name="Rectangle 700"/>
            <p:cNvSpPr/>
            <p:nvPr/>
          </p:nvSpPr>
          <p:spPr>
            <a:xfrm>
              <a:off x="1201"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lstStyle/>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22" name="Rectangle 703"/>
            <p:cNvSpPr/>
            <p:nvPr/>
          </p:nvSpPr>
          <p:spPr>
            <a:xfrm>
              <a:off x="1881" y="1480"/>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lstStyle/>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grpSp>
          <p:nvGrpSpPr>
            <p:cNvPr id="7307" name="Group 705"/>
            <p:cNvGrpSpPr/>
            <p:nvPr/>
          </p:nvGrpSpPr>
          <p:grpSpPr>
            <a:xfrm>
              <a:off x="2280" y="1471"/>
              <a:ext cx="650" cy="283"/>
              <a:chOff x="284" y="1471"/>
              <a:chExt cx="650" cy="283"/>
            </a:xfrm>
          </p:grpSpPr>
          <p:sp>
            <p:nvSpPr>
              <p:cNvPr id="7320" name="Rectangle 706"/>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lstStyle/>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21" name="Text Box 707"/>
              <p:cNvSpPr txBox="1"/>
              <p:nvPr/>
            </p:nvSpPr>
            <p:spPr>
              <a:xfrm>
                <a:off x="284" y="1471"/>
                <a:ext cx="443" cy="232"/>
              </a:xfrm>
              <a:prstGeom prst="rect">
                <a:avLst/>
              </a:prstGeom>
              <a:noFill/>
              <a:ln w="9525">
                <a:noFill/>
              </a:ln>
            </p:spPr>
            <p:txBody>
              <a:bodyPr wrap="none">
                <a:spAutoFit/>
              </a:bodyPr>
              <a:lstStyle/>
              <a:p>
                <a:r>
                  <a:rPr lang="en-US" altLang="zh-CN" sz="1800" i="1" dirty="0">
                    <a:latin typeface="Times New Roman" panose="02020603050405020304" pitchFamily="18" charset="0"/>
                  </a:rPr>
                  <a:t>EN  </a:t>
                </a:r>
                <a:r>
                  <a:rPr lang="en-US" altLang="zh-CN" sz="1800" dirty="0">
                    <a:latin typeface="Times New Roman" panose="02020603050405020304" pitchFamily="18" charset="0"/>
                  </a:rPr>
                  <a:t>1</a:t>
                </a:r>
              </a:p>
            </p:txBody>
          </p:sp>
        </p:grpSp>
        <p:grpSp>
          <p:nvGrpSpPr>
            <p:cNvPr id="7308" name="Group 708"/>
            <p:cNvGrpSpPr/>
            <p:nvPr/>
          </p:nvGrpSpPr>
          <p:grpSpPr>
            <a:xfrm>
              <a:off x="2950" y="1471"/>
              <a:ext cx="615" cy="283"/>
              <a:chOff x="319" y="1471"/>
              <a:chExt cx="615" cy="283"/>
            </a:xfrm>
          </p:grpSpPr>
          <p:sp>
            <p:nvSpPr>
              <p:cNvPr id="7318" name="Rectangle 709"/>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lstStyle/>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19" name="Text Box 710"/>
              <p:cNvSpPr txBox="1"/>
              <p:nvPr/>
            </p:nvSpPr>
            <p:spPr>
              <a:xfrm>
                <a:off x="319" y="1488"/>
                <a:ext cx="442" cy="233"/>
              </a:xfrm>
              <a:prstGeom prst="rect">
                <a:avLst/>
              </a:prstGeom>
              <a:noFill/>
              <a:ln w="9525">
                <a:noFill/>
              </a:ln>
            </p:spPr>
            <p:txBody>
              <a:bodyPr wrap="none">
                <a:spAutoFit/>
              </a:bodyPr>
              <a:lstStyle/>
              <a:p>
                <a:r>
                  <a:rPr lang="en-US" altLang="zh-CN" sz="1800" i="1" dirty="0">
                    <a:latin typeface="Times New Roman" panose="02020603050405020304" pitchFamily="18" charset="0"/>
                  </a:rPr>
                  <a:t>EN  </a:t>
                </a:r>
                <a:r>
                  <a:rPr lang="en-US" altLang="zh-CN" sz="1800" dirty="0">
                    <a:latin typeface="Times New Roman" panose="02020603050405020304" pitchFamily="18" charset="0"/>
                  </a:rPr>
                  <a:t>1</a:t>
                </a:r>
              </a:p>
            </p:txBody>
          </p:sp>
        </p:grpSp>
        <p:grpSp>
          <p:nvGrpSpPr>
            <p:cNvPr id="7309" name="Group 711"/>
            <p:cNvGrpSpPr/>
            <p:nvPr/>
          </p:nvGrpSpPr>
          <p:grpSpPr>
            <a:xfrm>
              <a:off x="3602" y="1471"/>
              <a:ext cx="608" cy="283"/>
              <a:chOff x="326" y="1471"/>
              <a:chExt cx="608" cy="283"/>
            </a:xfrm>
          </p:grpSpPr>
          <p:sp>
            <p:nvSpPr>
              <p:cNvPr id="7316" name="Rectangle 712"/>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lstStyle/>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17" name="Text Box 713"/>
              <p:cNvSpPr txBox="1"/>
              <p:nvPr/>
            </p:nvSpPr>
            <p:spPr>
              <a:xfrm>
                <a:off x="326" y="1488"/>
                <a:ext cx="442" cy="233"/>
              </a:xfrm>
              <a:prstGeom prst="rect">
                <a:avLst/>
              </a:prstGeom>
              <a:noFill/>
              <a:ln w="9525">
                <a:noFill/>
              </a:ln>
            </p:spPr>
            <p:txBody>
              <a:bodyPr wrap="none">
                <a:spAutoFit/>
              </a:bodyPr>
              <a:lstStyle/>
              <a:p>
                <a:r>
                  <a:rPr lang="en-US" altLang="zh-CN" sz="1800" i="1" dirty="0">
                    <a:latin typeface="Times New Roman" panose="02020603050405020304" pitchFamily="18" charset="0"/>
                  </a:rPr>
                  <a:t>EN  </a:t>
                </a:r>
                <a:r>
                  <a:rPr lang="en-US" altLang="zh-CN" sz="1800" dirty="0">
                    <a:latin typeface="Times New Roman" panose="02020603050405020304" pitchFamily="18" charset="0"/>
                  </a:rPr>
                  <a:t>1</a:t>
                </a:r>
              </a:p>
            </p:txBody>
          </p:sp>
        </p:grpSp>
        <p:grpSp>
          <p:nvGrpSpPr>
            <p:cNvPr id="7310" name="Group 714"/>
            <p:cNvGrpSpPr/>
            <p:nvPr/>
          </p:nvGrpSpPr>
          <p:grpSpPr>
            <a:xfrm>
              <a:off x="4259" y="1480"/>
              <a:ext cx="586" cy="283"/>
              <a:chOff x="348" y="1471"/>
              <a:chExt cx="586" cy="283"/>
            </a:xfrm>
          </p:grpSpPr>
          <p:sp>
            <p:nvSpPr>
              <p:cNvPr id="7314" name="Rectangle 715"/>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lstStyle/>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15" name="Text Box 716"/>
              <p:cNvSpPr txBox="1"/>
              <p:nvPr/>
            </p:nvSpPr>
            <p:spPr>
              <a:xfrm>
                <a:off x="348" y="1479"/>
                <a:ext cx="442" cy="233"/>
              </a:xfrm>
              <a:prstGeom prst="rect">
                <a:avLst/>
              </a:prstGeom>
              <a:noFill/>
              <a:ln w="9525">
                <a:noFill/>
              </a:ln>
            </p:spPr>
            <p:txBody>
              <a:bodyPr wrap="none">
                <a:spAutoFit/>
              </a:bodyPr>
              <a:lstStyle/>
              <a:p>
                <a:r>
                  <a:rPr lang="en-US" altLang="zh-CN" sz="1800" i="1" dirty="0">
                    <a:latin typeface="Times New Roman" panose="02020603050405020304" pitchFamily="18" charset="0"/>
                  </a:rPr>
                  <a:t>EN  </a:t>
                </a:r>
                <a:r>
                  <a:rPr lang="en-US" altLang="zh-CN" sz="1800" dirty="0">
                    <a:latin typeface="Times New Roman" panose="02020603050405020304" pitchFamily="18" charset="0"/>
                  </a:rPr>
                  <a:t>1</a:t>
                </a:r>
              </a:p>
            </p:txBody>
          </p:sp>
        </p:grpSp>
        <p:grpSp>
          <p:nvGrpSpPr>
            <p:cNvPr id="7311" name="Group 717"/>
            <p:cNvGrpSpPr/>
            <p:nvPr/>
          </p:nvGrpSpPr>
          <p:grpSpPr>
            <a:xfrm>
              <a:off x="4837" y="1471"/>
              <a:ext cx="633" cy="283"/>
              <a:chOff x="301" y="1471"/>
              <a:chExt cx="633" cy="283"/>
            </a:xfrm>
          </p:grpSpPr>
          <p:sp>
            <p:nvSpPr>
              <p:cNvPr id="7312" name="Rectangle 718"/>
              <p:cNvSpPr/>
              <p:nvPr/>
            </p:nvSpPr>
            <p:spPr>
              <a:xfrm>
                <a:off x="566" y="1471"/>
                <a:ext cx="368" cy="283"/>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lstStyle/>
              <a:p>
                <a:pPr algn="ctr">
                  <a:lnSpc>
                    <a:spcPct val="96000"/>
                  </a:lnSpc>
                </a:pPr>
                <a:r>
                  <a:rPr lang="en-US" altLang="zh-CN" sz="2000" dirty="0">
                    <a:latin typeface="宋体" panose="02010600030101010101" pitchFamily="2" charset="-122"/>
                  </a:rPr>
                  <a:t>△</a:t>
                </a:r>
                <a:endParaRPr lang="en-US" altLang="zh-CN" sz="2000" dirty="0">
                  <a:latin typeface="Times New Roman" panose="02020603050405020304" pitchFamily="18" charset="0"/>
                </a:endParaRPr>
              </a:p>
              <a:p>
                <a:endParaRPr lang="en-US" altLang="zh-CN" sz="4000" dirty="0">
                  <a:latin typeface="Arial" panose="020B0604020202020204" pitchFamily="34" charset="0"/>
                </a:endParaRPr>
              </a:p>
            </p:txBody>
          </p:sp>
          <p:sp>
            <p:nvSpPr>
              <p:cNvPr id="7313" name="Text Box 719"/>
              <p:cNvSpPr txBox="1"/>
              <p:nvPr/>
            </p:nvSpPr>
            <p:spPr>
              <a:xfrm>
                <a:off x="301" y="1480"/>
                <a:ext cx="443" cy="232"/>
              </a:xfrm>
              <a:prstGeom prst="rect">
                <a:avLst/>
              </a:prstGeom>
              <a:noFill/>
              <a:ln w="9525">
                <a:noFill/>
              </a:ln>
            </p:spPr>
            <p:txBody>
              <a:bodyPr wrap="none">
                <a:spAutoFit/>
              </a:bodyPr>
              <a:lstStyle/>
              <a:p>
                <a:r>
                  <a:rPr lang="en-US" altLang="zh-CN" sz="1800" i="1" dirty="0">
                    <a:latin typeface="Times New Roman" panose="02020603050405020304" pitchFamily="18" charset="0"/>
                  </a:rPr>
                  <a:t>EN  </a:t>
                </a:r>
                <a:r>
                  <a:rPr lang="en-US" altLang="zh-CN" sz="1800" dirty="0">
                    <a:latin typeface="Times New Roman" panose="02020603050405020304" pitchFamily="18" charset="0"/>
                  </a:rPr>
                  <a:t>1</a:t>
                </a:r>
              </a:p>
            </p:txBody>
          </p:sp>
        </p:grpSp>
      </p:grpSp>
      <p:graphicFrame>
        <p:nvGraphicFramePr>
          <p:cNvPr id="7172" name="Object 721"/>
          <p:cNvGraphicFramePr>
            <a:graphicFrameLocks noChangeAspect="1"/>
          </p:cNvGraphicFramePr>
          <p:nvPr/>
        </p:nvGraphicFramePr>
        <p:xfrm>
          <a:off x="179388" y="5373688"/>
          <a:ext cx="311150" cy="358775"/>
        </p:xfrm>
        <a:graphic>
          <a:graphicData uri="http://schemas.openxmlformats.org/presentationml/2006/ole">
            <mc:AlternateContent xmlns:mc="http://schemas.openxmlformats.org/markup-compatibility/2006">
              <mc:Choice xmlns:v="urn:schemas-microsoft-com:vml" Requires="v">
                <p:oleObj r:id="rId2" imgW="139700" imgH="152400" progId="Equation.3">
                  <p:embed/>
                </p:oleObj>
              </mc:Choice>
              <mc:Fallback>
                <p:oleObj r:id="rId2" imgW="139700" imgH="152400" progId="Equation.3">
                  <p:embed/>
                  <p:pic>
                    <p:nvPicPr>
                      <p:cNvPr id="0" name="图片 3078"/>
                      <p:cNvPicPr/>
                      <p:nvPr/>
                    </p:nvPicPr>
                    <p:blipFill>
                      <a:blip r:embed="rId3"/>
                      <a:stretch>
                        <a:fillRect/>
                      </a:stretch>
                    </p:blipFill>
                    <p:spPr>
                      <a:xfrm>
                        <a:off x="179388" y="5373688"/>
                        <a:ext cx="311150" cy="358775"/>
                      </a:xfrm>
                      <a:prstGeom prst="rect">
                        <a:avLst/>
                      </a:prstGeom>
                      <a:noFill/>
                      <a:ln w="38100">
                        <a:noFill/>
                        <a:miter/>
                      </a:ln>
                    </p:spPr>
                  </p:pic>
                </p:oleObj>
              </mc:Fallback>
            </mc:AlternateContent>
          </a:graphicData>
        </a:graphic>
      </p:graphicFrame>
      <p:sp>
        <p:nvSpPr>
          <p:cNvPr id="2" name="Text Box 697"/>
          <p:cNvSpPr txBox="1"/>
          <p:nvPr/>
        </p:nvSpPr>
        <p:spPr>
          <a:xfrm>
            <a:off x="1466850" y="2362200"/>
            <a:ext cx="655955" cy="513715"/>
          </a:xfrm>
          <a:prstGeom prst="rect">
            <a:avLst/>
          </a:prstGeom>
          <a:noFill/>
          <a:ln w="9525">
            <a:noFill/>
          </a:ln>
        </p:spPr>
        <p:txBody>
          <a:bodyPr wrap="none">
            <a:noAutofit/>
          </a:bodyPr>
          <a:lstStyle/>
          <a:p>
            <a:r>
              <a:rPr lang="en-US" altLang="zh-CN" sz="1800" i="1" dirty="0">
                <a:latin typeface="Times New Roman" panose="02020603050405020304" pitchFamily="18" charset="0"/>
              </a:rPr>
              <a:t>EN</a:t>
            </a:r>
          </a:p>
        </p:txBody>
      </p:sp>
      <p:sp>
        <p:nvSpPr>
          <p:cNvPr id="3" name="Text Box 697"/>
          <p:cNvSpPr txBox="1"/>
          <p:nvPr/>
        </p:nvSpPr>
        <p:spPr>
          <a:xfrm>
            <a:off x="2531428" y="2349500"/>
            <a:ext cx="655638" cy="504825"/>
          </a:xfrm>
          <a:prstGeom prst="rect">
            <a:avLst/>
          </a:prstGeom>
          <a:noFill/>
          <a:ln w="9525">
            <a:noFill/>
          </a:ln>
        </p:spPr>
        <p:txBody>
          <a:bodyPr wrap="none">
            <a:noAutofit/>
          </a:bodyPr>
          <a:lstStyle/>
          <a:p>
            <a:r>
              <a:rPr lang="en-US" altLang="zh-CN" sz="1800" i="1" dirty="0">
                <a:latin typeface="Times New Roman" panose="02020603050405020304" pitchFamily="18" charset="0"/>
              </a:rPr>
              <a:t>EN</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668" name="Group 156"/>
          <p:cNvGraphicFramePr>
            <a:graphicFrameLocks noGrp="1"/>
          </p:cNvGraphicFramePr>
          <p:nvPr/>
        </p:nvGraphicFramePr>
        <p:xfrm>
          <a:off x="1403350" y="2708275"/>
          <a:ext cx="6227763" cy="2286000"/>
        </p:xfrm>
        <a:graphic>
          <a:graphicData uri="http://schemas.openxmlformats.org/drawingml/2006/table">
            <a:tbl>
              <a:tblPr/>
              <a:tblGrid>
                <a:gridCol w="1598613">
                  <a:extLst>
                    <a:ext uri="{9D8B030D-6E8A-4147-A177-3AD203B41FA5}">
                      <a16:colId xmlns:a16="http://schemas.microsoft.com/office/drawing/2014/main" val="20000"/>
                    </a:ext>
                  </a:extLst>
                </a:gridCol>
                <a:gridCol w="1473200">
                  <a:extLst>
                    <a:ext uri="{9D8B030D-6E8A-4147-A177-3AD203B41FA5}">
                      <a16:colId xmlns:a16="http://schemas.microsoft.com/office/drawing/2014/main" val="20001"/>
                    </a:ext>
                  </a:extLst>
                </a:gridCol>
                <a:gridCol w="1473200">
                  <a:extLst>
                    <a:ext uri="{9D8B030D-6E8A-4147-A177-3AD203B41FA5}">
                      <a16:colId xmlns:a16="http://schemas.microsoft.com/office/drawing/2014/main" val="20002"/>
                    </a:ext>
                  </a:extLst>
                </a:gridCol>
                <a:gridCol w="1682750">
                  <a:extLst>
                    <a:ext uri="{9D8B030D-6E8A-4147-A177-3AD203B41FA5}">
                      <a16:colId xmlns:a16="http://schemas.microsoft.com/office/drawing/2014/main" val="20003"/>
                    </a:ext>
                  </a:extLst>
                </a:gridCol>
              </a:tblGrid>
              <a:tr h="647700">
                <a:tc>
                  <a:txBody>
                    <a:bodyPr/>
                    <a:lstStyle/>
                    <a:p>
                      <a:pPr marL="0" marR="0" lvl="0" indent="0" algn="l" defTabSz="914400" rtl="0" eaLnBrk="1" fontAlgn="ctr" latinLnBrk="0" hangingPunct="1">
                        <a:lnSpc>
                          <a:spcPct val="100000"/>
                        </a:lnSpc>
                        <a:spcBef>
                          <a:spcPct val="0"/>
                        </a:spcBef>
                        <a:spcAft>
                          <a:spcPct val="0"/>
                        </a:spcAft>
                        <a:buClr>
                          <a:schemeClr val="bg2"/>
                        </a:buClr>
                        <a:buSzPct val="75000"/>
                        <a:buFont typeface="Wingdings" panose="05000000000000000000" pitchFamily="2" charset="2"/>
                        <a:buNone/>
                      </a:pPr>
                      <a:endParaRPr kumimoji="0" lang="zh-CN" altLang="zh-CN" sz="6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anchorCtr="1" horzOverflow="overflow">
                    <a:lnL cap="flat">
                      <a:noFill/>
                    </a:lnL>
                    <a:lnR>
                      <a:noFill/>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a:noFill/>
                    </a:lnL>
                    <a:lnR>
                      <a:noFill/>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a:noFill/>
                    </a:lnL>
                    <a:lnR w="127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anchor="ctr" anchorCtr="1" horzOverflow="overflow">
                    <a:lnL w="12700" cap="flat" cmpd="sng" algn="ctr">
                      <a:solidFill>
                        <a:schemeClr val="bg2"/>
                      </a:solidFill>
                      <a:prstDash val="solid"/>
                      <a:round/>
                      <a:headEnd type="none" w="med" len="med"/>
                      <a:tailEnd type="none" w="med" len="med"/>
                    </a:lnL>
                    <a:lnR cap="flat">
                      <a:noFill/>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16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cap="flat">
                      <a:noFill/>
                    </a:lnL>
                    <a:lnR>
                      <a:noFill/>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a:noFill/>
                    </a:lnL>
                    <a:lnR>
                      <a:noFill/>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a:noFill/>
                    </a:lnL>
                    <a:lnR w="127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高阻</a:t>
                      </a:r>
                      <a:endPar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保持</a:t>
                      </a:r>
                      <a:endParaRPr kumimoji="1" lang="zh-CN" altLang="en-US"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0" marR="0" marT="0" marB="0" horzOverflow="overflow">
                    <a:lnL w="12700" cap="flat" cmpd="sng" algn="ctr">
                      <a:solidFill>
                        <a:schemeClr val="bg2"/>
                      </a:solidFill>
                      <a:prstDash val="solid"/>
                      <a:round/>
                      <a:headEnd type="none" w="med" len="med"/>
                      <a:tailEnd type="none" w="med" len="med"/>
                    </a:lnL>
                    <a:lnR cap="flat">
                      <a:noFill/>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207" name="Rectangle 136"/>
          <p:cNvSpPr/>
          <p:nvPr/>
        </p:nvSpPr>
        <p:spPr>
          <a:xfrm>
            <a:off x="3419475" y="1698625"/>
            <a:ext cx="2765425" cy="519113"/>
          </a:xfrm>
          <a:prstGeom prst="rect">
            <a:avLst/>
          </a:prstGeom>
          <a:noFill/>
          <a:ln w="9525">
            <a:noFill/>
          </a:ln>
        </p:spPr>
        <p:txBody>
          <a:bodyPr wrap="none" anchor="ctr" anchorCtr="0">
            <a:spAutoFit/>
          </a:bodyPr>
          <a:lstStyle/>
          <a:p>
            <a:r>
              <a:rPr lang="en-US" altLang="zh-CN" sz="2800" b="1" dirty="0">
                <a:latin typeface="Arial" panose="020B0604020202020204" pitchFamily="34" charset="0"/>
              </a:rPr>
              <a:t>74LS373</a:t>
            </a:r>
            <a:r>
              <a:rPr lang="zh-CN" altLang="en-US" sz="2800" b="1" dirty="0">
                <a:latin typeface="Arial" panose="020B0604020202020204" pitchFamily="34" charset="0"/>
              </a:rPr>
              <a:t>功能表</a:t>
            </a:r>
            <a:r>
              <a:rPr lang="zh-CN" altLang="en-US" dirty="0">
                <a:latin typeface="Arial" panose="020B0604020202020204" pitchFamily="34" charset="0"/>
              </a:rPr>
              <a:t> </a:t>
            </a:r>
          </a:p>
        </p:txBody>
      </p:sp>
      <p:graphicFrame>
        <p:nvGraphicFramePr>
          <p:cNvPr id="8208" name="Object 6"/>
          <p:cNvGraphicFramePr>
            <a:graphicFrameLocks noChangeAspect="1"/>
          </p:cNvGraphicFramePr>
          <p:nvPr/>
        </p:nvGraphicFramePr>
        <p:xfrm>
          <a:off x="2051050" y="2924175"/>
          <a:ext cx="436563" cy="503238"/>
        </p:xfrm>
        <a:graphic>
          <a:graphicData uri="http://schemas.openxmlformats.org/presentationml/2006/ole">
            <mc:AlternateContent xmlns:mc="http://schemas.openxmlformats.org/markup-compatibility/2006">
              <mc:Choice xmlns:v="urn:schemas-microsoft-com:vml" Requires="v">
                <p:oleObj r:id="rId2" imgW="139700" imgH="152400" progId="Equation.3">
                  <p:embed/>
                </p:oleObj>
              </mc:Choice>
              <mc:Fallback>
                <p:oleObj r:id="rId2" imgW="139700" imgH="152400" progId="Equation.3">
                  <p:embed/>
                  <p:pic>
                    <p:nvPicPr>
                      <p:cNvPr id="0" name="图片 3077"/>
                      <p:cNvPicPr/>
                      <p:nvPr/>
                    </p:nvPicPr>
                    <p:blipFill>
                      <a:blip r:embed="rId3"/>
                      <a:stretch>
                        <a:fillRect/>
                      </a:stretch>
                    </p:blipFill>
                    <p:spPr>
                      <a:xfrm>
                        <a:off x="2051050" y="2924175"/>
                        <a:ext cx="436563" cy="503238"/>
                      </a:xfrm>
                      <a:prstGeom prst="rect">
                        <a:avLst/>
                      </a:prstGeom>
                      <a:noFill/>
                      <a:ln w="38100">
                        <a:noFill/>
                        <a:miter/>
                      </a:ln>
                    </p:spPr>
                  </p:pic>
                </p:oleObj>
              </mc:Fallback>
            </mc:AlternateContent>
          </a:graphicData>
        </a:graphic>
      </p:graphicFrame>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p:nvPr/>
        </p:nvSpPr>
        <p:spPr>
          <a:xfrm>
            <a:off x="2411413" y="619601"/>
            <a:ext cx="3600450" cy="759460"/>
          </a:xfrm>
          <a:prstGeom prst="rect">
            <a:avLst/>
          </a:prstGeom>
          <a:noFill/>
          <a:ln w="9525">
            <a:noFill/>
          </a:ln>
        </p:spPr>
        <p:txBody>
          <a:bodyPr tIns="165048" bIns="165048" anchor="ctr" anchorCtr="0">
            <a:spAutoFit/>
          </a:bodyPr>
          <a:lstStyle/>
          <a:p>
            <a:r>
              <a:rPr lang="en-US" altLang="zh-CN" sz="2800" b="1" dirty="0">
                <a:latin typeface="Arial" panose="020B0604020202020204" pitchFamily="34" charset="0"/>
              </a:rPr>
              <a:t>7.3.2  </a:t>
            </a:r>
            <a:r>
              <a:rPr lang="zh-CN" altLang="en-US" sz="2800" b="1" dirty="0">
                <a:latin typeface="Arial" panose="020B0604020202020204" pitchFamily="34" charset="0"/>
              </a:rPr>
              <a:t>移位寄存器</a:t>
            </a:r>
            <a:endParaRPr lang="zh-CN" altLang="en-US" sz="3600" dirty="0">
              <a:latin typeface="Times New Roman" panose="02020603050405020304" pitchFamily="18" charset="0"/>
            </a:endParaRPr>
          </a:p>
        </p:txBody>
      </p:sp>
      <p:sp>
        <p:nvSpPr>
          <p:cNvPr id="9219" name="Rectangle 5"/>
          <p:cNvSpPr/>
          <p:nvPr/>
        </p:nvSpPr>
        <p:spPr>
          <a:xfrm>
            <a:off x="179388" y="1484313"/>
            <a:ext cx="3433762" cy="366712"/>
          </a:xfrm>
          <a:prstGeom prst="rect">
            <a:avLst/>
          </a:prstGeom>
          <a:noFill/>
          <a:ln w="9525">
            <a:noFill/>
          </a:ln>
        </p:spPr>
        <p:txBody>
          <a:bodyPr wrap="none" anchor="ctr" anchorCtr="0">
            <a:spAutoFit/>
          </a:bodyPr>
          <a:lstStyle/>
          <a:p>
            <a:r>
              <a:rPr lang="zh-CN" altLang="en-US" dirty="0">
                <a:latin typeface="Arial" panose="020B0604020202020204" pitchFamily="34" charset="0"/>
              </a:rPr>
              <a:t>一．单向移位寄存器</a:t>
            </a:r>
            <a:r>
              <a:rPr lang="en-US" altLang="zh-CN" dirty="0">
                <a:latin typeface="Arial" panose="020B0604020202020204" pitchFamily="34" charset="0"/>
              </a:rPr>
              <a:t>74LS164</a:t>
            </a:r>
          </a:p>
        </p:txBody>
      </p:sp>
      <p:grpSp>
        <p:nvGrpSpPr>
          <p:cNvPr id="9220" name="Group 6"/>
          <p:cNvGrpSpPr/>
          <p:nvPr/>
        </p:nvGrpSpPr>
        <p:grpSpPr>
          <a:xfrm>
            <a:off x="323850" y="1773238"/>
            <a:ext cx="8496300" cy="5084762"/>
            <a:chOff x="3092" y="5148"/>
            <a:chExt cx="6345" cy="3288"/>
          </a:xfrm>
        </p:grpSpPr>
        <p:sp>
          <p:nvSpPr>
            <p:cNvPr id="9222" name="Rectangle 7"/>
            <p:cNvSpPr/>
            <p:nvPr/>
          </p:nvSpPr>
          <p:spPr>
            <a:xfrm>
              <a:off x="4697" y="5154"/>
              <a:ext cx="360" cy="312"/>
            </a:xfrm>
            <a:prstGeom prst="rect">
              <a:avLst/>
            </a:prstGeom>
            <a:noFill/>
            <a:ln w="9525">
              <a:noFill/>
            </a:ln>
          </p:spPr>
          <p:txBody>
            <a:bodyPr lIns="0" tIns="0" rIns="0" bIns="0"/>
            <a:lstStyle/>
            <a:p>
              <a:pPr algn="just"/>
              <a:r>
                <a:rPr lang="en-US" altLang="zh-CN" sz="3200" i="1" dirty="0">
                  <a:latin typeface="Times New Roman" panose="02020603050405020304" pitchFamily="18" charset="0"/>
                </a:rPr>
                <a:t>Q</a:t>
              </a:r>
              <a:r>
                <a:rPr lang="en-US" altLang="zh-CN" sz="3200" baseline="-25000" dirty="0">
                  <a:latin typeface="Times New Roman" panose="02020603050405020304" pitchFamily="18" charset="0"/>
                </a:rPr>
                <a:t>1</a:t>
              </a:r>
              <a:endParaRPr lang="en-US" altLang="zh-CN" sz="5400" dirty="0">
                <a:latin typeface="Arial" panose="020B0604020202020204" pitchFamily="34" charset="0"/>
              </a:endParaRPr>
            </a:p>
          </p:txBody>
        </p:sp>
        <p:sp>
          <p:nvSpPr>
            <p:cNvPr id="9223" name="Rectangle 8"/>
            <p:cNvSpPr/>
            <p:nvPr/>
          </p:nvSpPr>
          <p:spPr>
            <a:xfrm>
              <a:off x="6152" y="5148"/>
              <a:ext cx="360" cy="312"/>
            </a:xfrm>
            <a:prstGeom prst="rect">
              <a:avLst/>
            </a:prstGeom>
            <a:noFill/>
            <a:ln w="9525">
              <a:noFill/>
            </a:ln>
          </p:spPr>
          <p:txBody>
            <a:bodyPr lIns="0" tIns="0" rIns="0" bIns="0"/>
            <a:lstStyle/>
            <a:p>
              <a:pPr algn="just"/>
              <a:r>
                <a:rPr lang="en-US" altLang="zh-CN" sz="3200" i="1" dirty="0">
                  <a:latin typeface="Times New Roman" panose="02020603050405020304" pitchFamily="18" charset="0"/>
                </a:rPr>
                <a:t>Q</a:t>
              </a:r>
              <a:r>
                <a:rPr lang="en-US" altLang="zh-CN" sz="3200" baseline="-25000" dirty="0">
                  <a:latin typeface="Times New Roman" panose="02020603050405020304" pitchFamily="18" charset="0"/>
                </a:rPr>
                <a:t>2</a:t>
              </a:r>
              <a:endParaRPr lang="en-US" altLang="zh-CN" sz="5400" dirty="0">
                <a:latin typeface="Arial" panose="020B0604020202020204" pitchFamily="34" charset="0"/>
              </a:endParaRPr>
            </a:p>
          </p:txBody>
        </p:sp>
        <p:grpSp>
          <p:nvGrpSpPr>
            <p:cNvPr id="9224" name="Group 9"/>
            <p:cNvGrpSpPr/>
            <p:nvPr/>
          </p:nvGrpSpPr>
          <p:grpSpPr>
            <a:xfrm>
              <a:off x="3092" y="5184"/>
              <a:ext cx="6345" cy="2908"/>
              <a:chOff x="3092" y="4472"/>
              <a:chExt cx="6345" cy="2908"/>
            </a:xfrm>
          </p:grpSpPr>
          <p:sp>
            <p:nvSpPr>
              <p:cNvPr id="9226" name="Rectangle 10"/>
              <p:cNvSpPr/>
              <p:nvPr/>
            </p:nvSpPr>
            <p:spPr>
              <a:xfrm>
                <a:off x="8342" y="4502"/>
                <a:ext cx="360" cy="312"/>
              </a:xfrm>
              <a:prstGeom prst="rect">
                <a:avLst/>
              </a:prstGeom>
              <a:noFill/>
              <a:ln w="9525">
                <a:noFill/>
              </a:ln>
            </p:spPr>
            <p:txBody>
              <a:bodyPr lIns="0" tIns="0" rIns="0" bIns="0"/>
              <a:lstStyle/>
              <a:p>
                <a:pPr algn="just"/>
                <a:r>
                  <a:rPr lang="en-US" altLang="zh-CN" sz="3200" i="1" dirty="0">
                    <a:latin typeface="Times New Roman" panose="02020603050405020304" pitchFamily="18" charset="0"/>
                  </a:rPr>
                  <a:t>Q</a:t>
                </a:r>
                <a:r>
                  <a:rPr lang="en-US" altLang="zh-CN" sz="3200" baseline="-25000" dirty="0">
                    <a:latin typeface="Times New Roman" panose="02020603050405020304" pitchFamily="18" charset="0"/>
                  </a:rPr>
                  <a:t>7</a:t>
                </a:r>
                <a:endParaRPr lang="en-US" altLang="zh-CN" sz="5400" dirty="0">
                  <a:latin typeface="Arial" panose="020B0604020202020204" pitchFamily="34" charset="0"/>
                </a:endParaRPr>
              </a:p>
            </p:txBody>
          </p:sp>
          <p:sp>
            <p:nvSpPr>
              <p:cNvPr id="9227" name="Rectangle 11"/>
              <p:cNvSpPr/>
              <p:nvPr/>
            </p:nvSpPr>
            <p:spPr>
              <a:xfrm>
                <a:off x="6946" y="6848"/>
                <a:ext cx="1" cy="532"/>
              </a:xfrm>
              <a:prstGeom prst="rect">
                <a:avLst/>
              </a:prstGeom>
              <a:noFill/>
              <a:ln w="9525">
                <a:noFill/>
              </a:ln>
            </p:spPr>
            <p:txBody>
              <a:bodyPr wrap="none" lIns="0" tIns="0" rIns="0" bIns="0">
                <a:spAutoFit/>
              </a:bodyPr>
              <a:lstStyle/>
              <a:p>
                <a:pPr algn="just"/>
                <a:endParaRPr lang="zh-CN" altLang="zh-CN" sz="5400" dirty="0">
                  <a:latin typeface="Arial" panose="020B0604020202020204" pitchFamily="34" charset="0"/>
                </a:endParaRPr>
              </a:p>
            </p:txBody>
          </p:sp>
          <p:sp>
            <p:nvSpPr>
              <p:cNvPr id="9228" name="Rectangle 12"/>
              <p:cNvSpPr/>
              <p:nvPr/>
            </p:nvSpPr>
            <p:spPr>
              <a:xfrm>
                <a:off x="3092" y="6999"/>
                <a:ext cx="900" cy="312"/>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D</a:t>
                </a:r>
                <a:r>
                  <a:rPr lang="en-US" altLang="zh-CN" sz="2400" i="1" baseline="-25000" dirty="0">
                    <a:latin typeface="Times New Roman" panose="02020603050405020304" pitchFamily="18" charset="0"/>
                  </a:rPr>
                  <a:t>S</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 </a:t>
                </a:r>
                <a:r>
                  <a:rPr lang="en-US" altLang="zh-CN" sz="2400" i="1" dirty="0">
                    <a:latin typeface="Times New Roman" panose="02020603050405020304" pitchFamily="18" charset="0"/>
                  </a:rPr>
                  <a:t>D</a:t>
                </a:r>
                <a:r>
                  <a:rPr lang="en-US" altLang="zh-CN" sz="2400" i="1" baseline="-25000" dirty="0">
                    <a:latin typeface="Times New Roman" panose="02020603050405020304" pitchFamily="18" charset="0"/>
                  </a:rPr>
                  <a:t>S</a:t>
                </a:r>
                <a:r>
                  <a:rPr lang="en-US" altLang="zh-CN" sz="2400" baseline="-25000" dirty="0">
                    <a:latin typeface="Times New Roman" panose="02020603050405020304" pitchFamily="18" charset="0"/>
                  </a:rPr>
                  <a:t>2</a:t>
                </a:r>
                <a:endParaRPr lang="en-US" altLang="zh-CN" sz="4400" dirty="0">
                  <a:latin typeface="Arial" panose="020B0604020202020204" pitchFamily="34" charset="0"/>
                </a:endParaRPr>
              </a:p>
            </p:txBody>
          </p:sp>
          <p:sp>
            <p:nvSpPr>
              <p:cNvPr id="9229" name="Rectangle 13"/>
              <p:cNvSpPr/>
              <p:nvPr/>
            </p:nvSpPr>
            <p:spPr>
              <a:xfrm>
                <a:off x="3242" y="5111"/>
                <a:ext cx="1080" cy="624"/>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lstStyle/>
              <a:p>
                <a:pPr algn="just"/>
                <a:endParaRPr lang="en-US" altLang="zh-CN" sz="3200" dirty="0">
                  <a:latin typeface="Times New Roman" panose="02020603050405020304" pitchFamily="18" charset="0"/>
                </a:endParaRPr>
              </a:p>
              <a:p>
                <a:pPr algn="just"/>
                <a:r>
                  <a:rPr lang="en-US" altLang="zh-CN" sz="3200" i="1" dirty="0">
                    <a:latin typeface="Times New Roman" panose="02020603050405020304" pitchFamily="18" charset="0"/>
                  </a:rPr>
                  <a:t>D        R</a:t>
                </a:r>
                <a:endParaRPr lang="en-US" altLang="zh-CN" sz="5400" dirty="0">
                  <a:latin typeface="Arial" panose="020B0604020202020204" pitchFamily="34" charset="0"/>
                </a:endParaRPr>
              </a:p>
            </p:txBody>
          </p:sp>
          <p:sp>
            <p:nvSpPr>
              <p:cNvPr id="9230" name="Freeform 14"/>
              <p:cNvSpPr/>
              <p:nvPr/>
            </p:nvSpPr>
            <p:spPr>
              <a:xfrm>
                <a:off x="3677" y="5618"/>
                <a:ext cx="180" cy="103"/>
              </a:xfrm>
              <a:custGeom>
                <a:avLst/>
                <a:gdLst>
                  <a:gd name="txL" fmla="*/ 0 w 180"/>
                  <a:gd name="txT" fmla="*/ 0 h 103"/>
                  <a:gd name="txR" fmla="*/ 180 w 180"/>
                  <a:gd name="txB" fmla="*/ 103 h 103"/>
                </a:gdLst>
                <a:ahLst/>
                <a:cxnLst>
                  <a:cxn ang="0">
                    <a:pos x="0" y="102"/>
                  </a:cxn>
                  <a:cxn ang="0">
                    <a:pos x="90" y="0"/>
                  </a:cxn>
                  <a:cxn ang="0">
                    <a:pos x="180" y="103"/>
                  </a:cxn>
                </a:cxnLst>
                <a:rect l="txL" t="txT" r="txR" b="txB"/>
                <a:pathLst>
                  <a:path w="180" h="103">
                    <a:moveTo>
                      <a:pt x="0" y="102"/>
                    </a:moveTo>
                    <a:lnTo>
                      <a:pt x="90" y="0"/>
                    </a:lnTo>
                    <a:lnTo>
                      <a:pt x="180" y="103"/>
                    </a:lnTo>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a:p>
            </p:txBody>
          </p:sp>
          <p:sp>
            <p:nvSpPr>
              <p:cNvPr id="9231" name="Rectangle 15"/>
              <p:cNvSpPr/>
              <p:nvPr/>
            </p:nvSpPr>
            <p:spPr>
              <a:xfrm>
                <a:off x="3632" y="5327"/>
                <a:ext cx="306" cy="255"/>
              </a:xfrm>
              <a:prstGeom prst="rect">
                <a:avLst/>
              </a:prstGeom>
              <a:noFill/>
              <a:ln w="9525">
                <a:noFill/>
              </a:ln>
            </p:spPr>
            <p:txBody>
              <a:bodyPr lIns="0" tIns="0" rIns="0" bIns="0"/>
              <a:lstStyle/>
              <a:p>
                <a:pPr algn="just"/>
                <a:r>
                  <a:rPr lang="en-US" altLang="zh-CN" sz="3200" i="1" dirty="0">
                    <a:latin typeface="Times New Roman" panose="02020603050405020304" pitchFamily="18" charset="0"/>
                  </a:rPr>
                  <a:t>C</a:t>
                </a:r>
                <a:endParaRPr lang="en-US" altLang="zh-CN" sz="5400" dirty="0">
                  <a:latin typeface="Arial" panose="020B0604020202020204" pitchFamily="34" charset="0"/>
                </a:endParaRPr>
              </a:p>
            </p:txBody>
          </p:sp>
          <p:sp>
            <p:nvSpPr>
              <p:cNvPr id="9232" name="Line 16"/>
              <p:cNvSpPr/>
              <p:nvPr/>
            </p:nvSpPr>
            <p:spPr>
              <a:xfrm>
                <a:off x="3377" y="4799"/>
                <a:ext cx="0" cy="312"/>
              </a:xfrm>
              <a:prstGeom prst="line">
                <a:avLst/>
              </a:prstGeom>
              <a:ln w="9525" cap="flat" cmpd="sng">
                <a:solidFill>
                  <a:srgbClr val="000000"/>
                </a:solidFill>
                <a:prstDash val="solid"/>
                <a:headEnd type="none" w="med" len="med"/>
                <a:tailEnd type="none" w="med" len="med"/>
              </a:ln>
            </p:spPr>
          </p:sp>
          <p:sp>
            <p:nvSpPr>
              <p:cNvPr id="9233" name="Oval 17"/>
              <p:cNvSpPr/>
              <p:nvPr/>
            </p:nvSpPr>
            <p:spPr>
              <a:xfrm>
                <a:off x="4172" y="5051"/>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234" name="Line 18"/>
              <p:cNvSpPr/>
              <p:nvPr/>
            </p:nvSpPr>
            <p:spPr>
              <a:xfrm>
                <a:off x="3395" y="4925"/>
                <a:ext cx="1106" cy="0"/>
              </a:xfrm>
              <a:prstGeom prst="line">
                <a:avLst/>
              </a:prstGeom>
              <a:ln w="9525" cap="flat" cmpd="sng">
                <a:solidFill>
                  <a:srgbClr val="000000"/>
                </a:solidFill>
                <a:prstDash val="solid"/>
                <a:headEnd type="none" w="med" len="med"/>
                <a:tailEnd type="none" w="med" len="med"/>
              </a:ln>
            </p:spPr>
          </p:sp>
          <p:sp>
            <p:nvSpPr>
              <p:cNvPr id="9235" name="Oval 19"/>
              <p:cNvSpPr/>
              <p:nvPr/>
            </p:nvSpPr>
            <p:spPr>
              <a:xfrm>
                <a:off x="3737" y="5741"/>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236" name="Oval 20"/>
              <p:cNvSpPr/>
              <p:nvPr/>
            </p:nvSpPr>
            <p:spPr>
              <a:xfrm>
                <a:off x="4164" y="5741"/>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237" name="Oval 21"/>
              <p:cNvSpPr/>
              <p:nvPr/>
            </p:nvSpPr>
            <p:spPr>
              <a:xfrm>
                <a:off x="3346" y="4888"/>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238" name="Rectangle 22"/>
              <p:cNvSpPr/>
              <p:nvPr/>
            </p:nvSpPr>
            <p:spPr>
              <a:xfrm>
                <a:off x="4682" y="5111"/>
                <a:ext cx="1080" cy="624"/>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lstStyle/>
              <a:p>
                <a:pPr algn="just"/>
                <a:endParaRPr lang="en-US" altLang="zh-CN" sz="3200" dirty="0">
                  <a:latin typeface="Times New Roman" panose="02020603050405020304" pitchFamily="18" charset="0"/>
                </a:endParaRPr>
              </a:p>
              <a:p>
                <a:pPr algn="just"/>
                <a:r>
                  <a:rPr lang="en-US" altLang="zh-CN" sz="3200" i="1" dirty="0">
                    <a:latin typeface="Times New Roman" panose="02020603050405020304" pitchFamily="18" charset="0"/>
                  </a:rPr>
                  <a:t>D        R</a:t>
                </a:r>
                <a:endParaRPr lang="en-US" altLang="zh-CN" sz="5400" dirty="0">
                  <a:latin typeface="Arial" panose="020B0604020202020204" pitchFamily="34" charset="0"/>
                </a:endParaRPr>
              </a:p>
            </p:txBody>
          </p:sp>
          <p:sp>
            <p:nvSpPr>
              <p:cNvPr id="9239" name="Freeform 23"/>
              <p:cNvSpPr/>
              <p:nvPr/>
            </p:nvSpPr>
            <p:spPr>
              <a:xfrm>
                <a:off x="5117" y="5618"/>
                <a:ext cx="180" cy="103"/>
              </a:xfrm>
              <a:custGeom>
                <a:avLst/>
                <a:gdLst>
                  <a:gd name="txL" fmla="*/ 0 w 180"/>
                  <a:gd name="txT" fmla="*/ 0 h 103"/>
                  <a:gd name="txR" fmla="*/ 180 w 180"/>
                  <a:gd name="txB" fmla="*/ 103 h 103"/>
                </a:gdLst>
                <a:ahLst/>
                <a:cxnLst>
                  <a:cxn ang="0">
                    <a:pos x="0" y="102"/>
                  </a:cxn>
                  <a:cxn ang="0">
                    <a:pos x="90" y="0"/>
                  </a:cxn>
                  <a:cxn ang="0">
                    <a:pos x="180" y="103"/>
                  </a:cxn>
                </a:cxnLst>
                <a:rect l="txL" t="txT" r="txR" b="txB"/>
                <a:pathLst>
                  <a:path w="180" h="103">
                    <a:moveTo>
                      <a:pt x="0" y="102"/>
                    </a:moveTo>
                    <a:lnTo>
                      <a:pt x="90" y="0"/>
                    </a:lnTo>
                    <a:lnTo>
                      <a:pt x="180" y="103"/>
                    </a:lnTo>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a:p>
            </p:txBody>
          </p:sp>
          <p:sp>
            <p:nvSpPr>
              <p:cNvPr id="9240" name="Rectangle 24"/>
              <p:cNvSpPr/>
              <p:nvPr/>
            </p:nvSpPr>
            <p:spPr>
              <a:xfrm>
                <a:off x="5072" y="5327"/>
                <a:ext cx="306" cy="255"/>
              </a:xfrm>
              <a:prstGeom prst="rect">
                <a:avLst/>
              </a:prstGeom>
              <a:noFill/>
              <a:ln w="9525">
                <a:noFill/>
              </a:ln>
            </p:spPr>
            <p:txBody>
              <a:bodyPr lIns="0" tIns="0" rIns="0" bIns="0"/>
              <a:lstStyle/>
              <a:p>
                <a:pPr algn="just"/>
                <a:r>
                  <a:rPr lang="en-US" altLang="zh-CN" sz="3200" i="1" dirty="0">
                    <a:latin typeface="Times New Roman" panose="02020603050405020304" pitchFamily="18" charset="0"/>
                  </a:rPr>
                  <a:t>C</a:t>
                </a:r>
                <a:endParaRPr lang="en-US" altLang="zh-CN" sz="5400" dirty="0">
                  <a:latin typeface="Arial" panose="020B0604020202020204" pitchFamily="34" charset="0"/>
                </a:endParaRPr>
              </a:p>
            </p:txBody>
          </p:sp>
          <p:sp>
            <p:nvSpPr>
              <p:cNvPr id="9241" name="Line 25"/>
              <p:cNvSpPr/>
              <p:nvPr/>
            </p:nvSpPr>
            <p:spPr>
              <a:xfrm>
                <a:off x="4817" y="4784"/>
                <a:ext cx="0" cy="312"/>
              </a:xfrm>
              <a:prstGeom prst="line">
                <a:avLst/>
              </a:prstGeom>
              <a:ln w="9525" cap="flat" cmpd="sng">
                <a:solidFill>
                  <a:srgbClr val="000000"/>
                </a:solidFill>
                <a:prstDash val="solid"/>
                <a:headEnd type="none" w="med" len="med"/>
                <a:tailEnd type="none" w="med" len="med"/>
              </a:ln>
            </p:spPr>
          </p:sp>
          <p:sp>
            <p:nvSpPr>
              <p:cNvPr id="9242" name="Oval 26"/>
              <p:cNvSpPr/>
              <p:nvPr/>
            </p:nvSpPr>
            <p:spPr>
              <a:xfrm>
                <a:off x="5612" y="5051"/>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243" name="Oval 27"/>
              <p:cNvSpPr/>
              <p:nvPr/>
            </p:nvSpPr>
            <p:spPr>
              <a:xfrm>
                <a:off x="5177" y="5741"/>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244" name="Oval 28"/>
              <p:cNvSpPr/>
              <p:nvPr/>
            </p:nvSpPr>
            <p:spPr>
              <a:xfrm>
                <a:off x="5604" y="5741"/>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245" name="Oval 29"/>
              <p:cNvSpPr/>
              <p:nvPr/>
            </p:nvSpPr>
            <p:spPr>
              <a:xfrm>
                <a:off x="4786" y="4888"/>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246" name="Rectangle 30"/>
              <p:cNvSpPr/>
              <p:nvPr/>
            </p:nvSpPr>
            <p:spPr>
              <a:xfrm>
                <a:off x="6122" y="5126"/>
                <a:ext cx="1080" cy="624"/>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lstStyle/>
              <a:p>
                <a:pPr algn="just"/>
                <a:endParaRPr lang="en-US" altLang="zh-CN" sz="3200" dirty="0">
                  <a:latin typeface="Times New Roman" panose="02020603050405020304" pitchFamily="18" charset="0"/>
                </a:endParaRPr>
              </a:p>
              <a:p>
                <a:pPr algn="just"/>
                <a:r>
                  <a:rPr lang="en-US" altLang="zh-CN" sz="3200" i="1" dirty="0">
                    <a:latin typeface="Times New Roman" panose="02020603050405020304" pitchFamily="18" charset="0"/>
                  </a:rPr>
                  <a:t>D        R</a:t>
                </a:r>
                <a:endParaRPr lang="en-US" altLang="zh-CN" sz="5400" dirty="0">
                  <a:latin typeface="Arial" panose="020B0604020202020204" pitchFamily="34" charset="0"/>
                </a:endParaRPr>
              </a:p>
            </p:txBody>
          </p:sp>
          <p:sp>
            <p:nvSpPr>
              <p:cNvPr id="9247" name="Freeform 31"/>
              <p:cNvSpPr/>
              <p:nvPr/>
            </p:nvSpPr>
            <p:spPr>
              <a:xfrm>
                <a:off x="6557" y="5633"/>
                <a:ext cx="180" cy="103"/>
              </a:xfrm>
              <a:custGeom>
                <a:avLst/>
                <a:gdLst>
                  <a:gd name="txL" fmla="*/ 0 w 180"/>
                  <a:gd name="txT" fmla="*/ 0 h 103"/>
                  <a:gd name="txR" fmla="*/ 180 w 180"/>
                  <a:gd name="txB" fmla="*/ 103 h 103"/>
                </a:gdLst>
                <a:ahLst/>
                <a:cxnLst>
                  <a:cxn ang="0">
                    <a:pos x="0" y="102"/>
                  </a:cxn>
                  <a:cxn ang="0">
                    <a:pos x="90" y="0"/>
                  </a:cxn>
                  <a:cxn ang="0">
                    <a:pos x="180" y="103"/>
                  </a:cxn>
                </a:cxnLst>
                <a:rect l="txL" t="txT" r="txR" b="txB"/>
                <a:pathLst>
                  <a:path w="180" h="103">
                    <a:moveTo>
                      <a:pt x="0" y="102"/>
                    </a:moveTo>
                    <a:lnTo>
                      <a:pt x="90" y="0"/>
                    </a:lnTo>
                    <a:lnTo>
                      <a:pt x="180" y="103"/>
                    </a:lnTo>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a:p>
            </p:txBody>
          </p:sp>
          <p:sp>
            <p:nvSpPr>
              <p:cNvPr id="9248" name="Rectangle 32"/>
              <p:cNvSpPr/>
              <p:nvPr/>
            </p:nvSpPr>
            <p:spPr>
              <a:xfrm>
                <a:off x="6512" y="5342"/>
                <a:ext cx="306" cy="255"/>
              </a:xfrm>
              <a:prstGeom prst="rect">
                <a:avLst/>
              </a:prstGeom>
              <a:noFill/>
              <a:ln w="9525">
                <a:noFill/>
              </a:ln>
            </p:spPr>
            <p:txBody>
              <a:bodyPr lIns="0" tIns="0" rIns="0" bIns="0"/>
              <a:lstStyle/>
              <a:p>
                <a:pPr algn="just"/>
                <a:r>
                  <a:rPr lang="en-US" altLang="zh-CN" sz="3200" i="1" dirty="0">
                    <a:latin typeface="Times New Roman" panose="02020603050405020304" pitchFamily="18" charset="0"/>
                  </a:rPr>
                  <a:t>C</a:t>
                </a:r>
                <a:endParaRPr lang="en-US" altLang="zh-CN" sz="5400" dirty="0">
                  <a:latin typeface="Arial" panose="020B0604020202020204" pitchFamily="34" charset="0"/>
                </a:endParaRPr>
              </a:p>
            </p:txBody>
          </p:sp>
          <p:sp>
            <p:nvSpPr>
              <p:cNvPr id="9249" name="Line 33"/>
              <p:cNvSpPr/>
              <p:nvPr/>
            </p:nvSpPr>
            <p:spPr>
              <a:xfrm>
                <a:off x="6257" y="4814"/>
                <a:ext cx="0" cy="312"/>
              </a:xfrm>
              <a:prstGeom prst="line">
                <a:avLst/>
              </a:prstGeom>
              <a:ln w="9525" cap="flat" cmpd="sng">
                <a:solidFill>
                  <a:srgbClr val="000000"/>
                </a:solidFill>
                <a:prstDash val="solid"/>
                <a:headEnd type="none" w="med" len="med"/>
                <a:tailEnd type="none" w="med" len="med"/>
              </a:ln>
            </p:spPr>
          </p:sp>
          <p:sp>
            <p:nvSpPr>
              <p:cNvPr id="9250" name="Oval 34"/>
              <p:cNvSpPr/>
              <p:nvPr/>
            </p:nvSpPr>
            <p:spPr>
              <a:xfrm>
                <a:off x="7052" y="5066"/>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251" name="Line 35"/>
              <p:cNvSpPr/>
              <p:nvPr/>
            </p:nvSpPr>
            <p:spPr>
              <a:xfrm>
                <a:off x="6257" y="4940"/>
                <a:ext cx="1080" cy="0"/>
              </a:xfrm>
              <a:prstGeom prst="line">
                <a:avLst/>
              </a:prstGeom>
              <a:ln w="9525" cap="flat" cmpd="sng">
                <a:solidFill>
                  <a:srgbClr val="000000"/>
                </a:solidFill>
                <a:prstDash val="solid"/>
                <a:headEnd type="none" w="med" len="med"/>
                <a:tailEnd type="none" w="med" len="med"/>
              </a:ln>
            </p:spPr>
          </p:sp>
          <p:sp>
            <p:nvSpPr>
              <p:cNvPr id="9252" name="Oval 36"/>
              <p:cNvSpPr/>
              <p:nvPr/>
            </p:nvSpPr>
            <p:spPr>
              <a:xfrm>
                <a:off x="6609" y="5756"/>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253" name="Oval 37"/>
              <p:cNvSpPr/>
              <p:nvPr/>
            </p:nvSpPr>
            <p:spPr>
              <a:xfrm>
                <a:off x="7044" y="5756"/>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254" name="Oval 38"/>
              <p:cNvSpPr/>
              <p:nvPr/>
            </p:nvSpPr>
            <p:spPr>
              <a:xfrm>
                <a:off x="6226" y="4903"/>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255" name="Rectangle 39"/>
              <p:cNvSpPr/>
              <p:nvPr/>
            </p:nvSpPr>
            <p:spPr>
              <a:xfrm>
                <a:off x="8357" y="5111"/>
                <a:ext cx="1080" cy="624"/>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lstStyle/>
              <a:p>
                <a:pPr algn="just"/>
                <a:endParaRPr lang="en-US" altLang="zh-CN" sz="3200" dirty="0">
                  <a:latin typeface="Times New Roman" panose="02020603050405020304" pitchFamily="18" charset="0"/>
                </a:endParaRPr>
              </a:p>
              <a:p>
                <a:pPr algn="just"/>
                <a:r>
                  <a:rPr lang="en-US" altLang="zh-CN" sz="3200" i="1" dirty="0">
                    <a:latin typeface="Times New Roman" panose="02020603050405020304" pitchFamily="18" charset="0"/>
                  </a:rPr>
                  <a:t>D        R</a:t>
                </a:r>
                <a:endParaRPr lang="en-US" altLang="zh-CN" sz="5400" dirty="0">
                  <a:latin typeface="Arial" panose="020B0604020202020204" pitchFamily="34" charset="0"/>
                </a:endParaRPr>
              </a:p>
            </p:txBody>
          </p:sp>
          <p:sp>
            <p:nvSpPr>
              <p:cNvPr id="9256" name="Freeform 40"/>
              <p:cNvSpPr/>
              <p:nvPr/>
            </p:nvSpPr>
            <p:spPr>
              <a:xfrm>
                <a:off x="8792" y="5618"/>
                <a:ext cx="180" cy="103"/>
              </a:xfrm>
              <a:custGeom>
                <a:avLst/>
                <a:gdLst>
                  <a:gd name="txL" fmla="*/ 0 w 180"/>
                  <a:gd name="txT" fmla="*/ 0 h 103"/>
                  <a:gd name="txR" fmla="*/ 180 w 180"/>
                  <a:gd name="txB" fmla="*/ 103 h 103"/>
                </a:gdLst>
                <a:ahLst/>
                <a:cxnLst>
                  <a:cxn ang="0">
                    <a:pos x="0" y="102"/>
                  </a:cxn>
                  <a:cxn ang="0">
                    <a:pos x="90" y="0"/>
                  </a:cxn>
                  <a:cxn ang="0">
                    <a:pos x="180" y="103"/>
                  </a:cxn>
                </a:cxnLst>
                <a:rect l="txL" t="txT" r="txR" b="txB"/>
                <a:pathLst>
                  <a:path w="180" h="103">
                    <a:moveTo>
                      <a:pt x="0" y="102"/>
                    </a:moveTo>
                    <a:lnTo>
                      <a:pt x="90" y="0"/>
                    </a:lnTo>
                    <a:lnTo>
                      <a:pt x="180" y="103"/>
                    </a:lnTo>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a:p>
            </p:txBody>
          </p:sp>
          <p:sp>
            <p:nvSpPr>
              <p:cNvPr id="9257" name="Rectangle 41"/>
              <p:cNvSpPr/>
              <p:nvPr/>
            </p:nvSpPr>
            <p:spPr>
              <a:xfrm>
                <a:off x="8747" y="5327"/>
                <a:ext cx="306" cy="255"/>
              </a:xfrm>
              <a:prstGeom prst="rect">
                <a:avLst/>
              </a:prstGeom>
              <a:noFill/>
              <a:ln w="9525">
                <a:noFill/>
              </a:ln>
            </p:spPr>
            <p:txBody>
              <a:bodyPr lIns="0" tIns="0" rIns="0" bIns="0"/>
              <a:lstStyle/>
              <a:p>
                <a:pPr algn="just"/>
                <a:r>
                  <a:rPr lang="en-US" altLang="zh-CN" sz="3200" i="1" dirty="0">
                    <a:latin typeface="Times New Roman" panose="02020603050405020304" pitchFamily="18" charset="0"/>
                  </a:rPr>
                  <a:t>C</a:t>
                </a:r>
                <a:endParaRPr lang="en-US" altLang="zh-CN" sz="5400" dirty="0">
                  <a:latin typeface="Arial" panose="020B0604020202020204" pitchFamily="34" charset="0"/>
                </a:endParaRPr>
              </a:p>
            </p:txBody>
          </p:sp>
          <p:sp>
            <p:nvSpPr>
              <p:cNvPr id="9258" name="Line 42"/>
              <p:cNvSpPr/>
              <p:nvPr/>
            </p:nvSpPr>
            <p:spPr>
              <a:xfrm>
                <a:off x="8492" y="4799"/>
                <a:ext cx="0" cy="312"/>
              </a:xfrm>
              <a:prstGeom prst="line">
                <a:avLst/>
              </a:prstGeom>
              <a:ln w="9525" cap="flat" cmpd="sng">
                <a:solidFill>
                  <a:srgbClr val="000000"/>
                </a:solidFill>
                <a:prstDash val="solid"/>
                <a:headEnd type="none" w="med" len="med"/>
                <a:tailEnd type="none" w="med" len="med"/>
              </a:ln>
            </p:spPr>
          </p:sp>
          <p:sp>
            <p:nvSpPr>
              <p:cNvPr id="9259" name="Oval 43"/>
              <p:cNvSpPr/>
              <p:nvPr/>
            </p:nvSpPr>
            <p:spPr>
              <a:xfrm>
                <a:off x="9287" y="5051"/>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260" name="Line 44"/>
              <p:cNvSpPr/>
              <p:nvPr/>
            </p:nvSpPr>
            <p:spPr>
              <a:xfrm>
                <a:off x="4817" y="5735"/>
                <a:ext cx="0" cy="198"/>
              </a:xfrm>
              <a:prstGeom prst="line">
                <a:avLst/>
              </a:prstGeom>
              <a:ln w="9525" cap="flat" cmpd="sng">
                <a:solidFill>
                  <a:srgbClr val="000000"/>
                </a:solidFill>
                <a:prstDash val="solid"/>
                <a:headEnd type="none" w="med" len="med"/>
                <a:tailEnd type="none" w="med" len="med"/>
              </a:ln>
            </p:spPr>
          </p:sp>
          <p:sp>
            <p:nvSpPr>
              <p:cNvPr id="9261" name="Line 45"/>
              <p:cNvSpPr/>
              <p:nvPr/>
            </p:nvSpPr>
            <p:spPr>
              <a:xfrm>
                <a:off x="4502" y="4925"/>
                <a:ext cx="0" cy="1015"/>
              </a:xfrm>
              <a:prstGeom prst="line">
                <a:avLst/>
              </a:prstGeom>
              <a:ln w="9525" cap="flat" cmpd="sng">
                <a:solidFill>
                  <a:srgbClr val="000000"/>
                </a:solidFill>
                <a:prstDash val="solid"/>
                <a:headEnd type="none" w="med" len="med"/>
                <a:tailEnd type="none" w="med" len="med"/>
              </a:ln>
            </p:spPr>
          </p:sp>
          <p:sp>
            <p:nvSpPr>
              <p:cNvPr id="9262" name="Line 46"/>
              <p:cNvSpPr/>
              <p:nvPr/>
            </p:nvSpPr>
            <p:spPr>
              <a:xfrm>
                <a:off x="4502" y="5939"/>
                <a:ext cx="312" cy="0"/>
              </a:xfrm>
              <a:prstGeom prst="line">
                <a:avLst/>
              </a:prstGeom>
              <a:ln w="9525" cap="flat" cmpd="sng">
                <a:solidFill>
                  <a:srgbClr val="000000"/>
                </a:solidFill>
                <a:prstDash val="solid"/>
                <a:headEnd type="none" w="med" len="med"/>
                <a:tailEnd type="none" w="med" len="med"/>
              </a:ln>
            </p:spPr>
          </p:sp>
          <p:sp>
            <p:nvSpPr>
              <p:cNvPr id="9263" name="Line 47"/>
              <p:cNvSpPr/>
              <p:nvPr/>
            </p:nvSpPr>
            <p:spPr>
              <a:xfrm>
                <a:off x="4187" y="5795"/>
                <a:ext cx="0" cy="300"/>
              </a:xfrm>
              <a:prstGeom prst="line">
                <a:avLst/>
              </a:prstGeom>
              <a:ln w="9525" cap="flat" cmpd="sng">
                <a:solidFill>
                  <a:srgbClr val="000000"/>
                </a:solidFill>
                <a:prstDash val="solid"/>
                <a:headEnd type="none" w="med" len="med"/>
                <a:tailEnd type="none" w="med" len="med"/>
              </a:ln>
            </p:spPr>
          </p:sp>
          <p:sp>
            <p:nvSpPr>
              <p:cNvPr id="9264" name="Line 48"/>
              <p:cNvSpPr/>
              <p:nvPr/>
            </p:nvSpPr>
            <p:spPr>
              <a:xfrm>
                <a:off x="4187" y="6092"/>
                <a:ext cx="3305" cy="0"/>
              </a:xfrm>
              <a:prstGeom prst="line">
                <a:avLst/>
              </a:prstGeom>
              <a:ln w="9525" cap="flat" cmpd="sng">
                <a:solidFill>
                  <a:srgbClr val="000000"/>
                </a:solidFill>
                <a:prstDash val="solid"/>
                <a:headEnd type="none" w="med" len="med"/>
                <a:tailEnd type="none" w="med" len="med"/>
              </a:ln>
            </p:spPr>
          </p:sp>
          <p:sp>
            <p:nvSpPr>
              <p:cNvPr id="9265" name="Line 49"/>
              <p:cNvSpPr/>
              <p:nvPr/>
            </p:nvSpPr>
            <p:spPr>
              <a:xfrm>
                <a:off x="3419" y="5735"/>
                <a:ext cx="0" cy="624"/>
              </a:xfrm>
              <a:prstGeom prst="line">
                <a:avLst/>
              </a:prstGeom>
              <a:ln w="9525" cap="flat" cmpd="sng">
                <a:solidFill>
                  <a:srgbClr val="000000"/>
                </a:solidFill>
                <a:prstDash val="solid"/>
                <a:headEnd type="none" w="med" len="med"/>
                <a:tailEnd type="none" w="med" len="med"/>
              </a:ln>
            </p:spPr>
          </p:sp>
          <p:sp>
            <p:nvSpPr>
              <p:cNvPr id="9266" name="Line 50"/>
              <p:cNvSpPr/>
              <p:nvPr/>
            </p:nvSpPr>
            <p:spPr>
              <a:xfrm>
                <a:off x="3767" y="6188"/>
                <a:ext cx="3742" cy="0"/>
              </a:xfrm>
              <a:prstGeom prst="line">
                <a:avLst/>
              </a:prstGeom>
              <a:ln w="9525" cap="flat" cmpd="sng">
                <a:solidFill>
                  <a:srgbClr val="000000"/>
                </a:solidFill>
                <a:prstDash val="solid"/>
                <a:headEnd type="none" w="med" len="med"/>
                <a:tailEnd type="none" w="med" len="med"/>
              </a:ln>
            </p:spPr>
          </p:sp>
          <p:sp>
            <p:nvSpPr>
              <p:cNvPr id="9267" name="Line 51"/>
              <p:cNvSpPr/>
              <p:nvPr/>
            </p:nvSpPr>
            <p:spPr>
              <a:xfrm>
                <a:off x="7562" y="6092"/>
                <a:ext cx="540" cy="0"/>
              </a:xfrm>
              <a:prstGeom prst="line">
                <a:avLst/>
              </a:prstGeom>
              <a:ln w="9525" cap="flat" cmpd="sng">
                <a:solidFill>
                  <a:srgbClr val="000000"/>
                </a:solidFill>
                <a:prstDash val="dash"/>
                <a:headEnd type="none" w="med" len="med"/>
                <a:tailEnd type="none" w="med" len="med"/>
              </a:ln>
            </p:spPr>
          </p:sp>
          <p:sp>
            <p:nvSpPr>
              <p:cNvPr id="9268" name="Line 52"/>
              <p:cNvSpPr/>
              <p:nvPr/>
            </p:nvSpPr>
            <p:spPr>
              <a:xfrm>
                <a:off x="7577" y="6194"/>
                <a:ext cx="540" cy="0"/>
              </a:xfrm>
              <a:prstGeom prst="line">
                <a:avLst/>
              </a:prstGeom>
              <a:ln w="9525" cap="flat" cmpd="sng">
                <a:solidFill>
                  <a:srgbClr val="000000"/>
                </a:solidFill>
                <a:prstDash val="dash"/>
                <a:headEnd type="none" w="med" len="med"/>
                <a:tailEnd type="none" w="med" len="med"/>
              </a:ln>
            </p:spPr>
          </p:sp>
          <p:sp>
            <p:nvSpPr>
              <p:cNvPr id="9269" name="Line 53"/>
              <p:cNvSpPr/>
              <p:nvPr/>
            </p:nvSpPr>
            <p:spPr>
              <a:xfrm>
                <a:off x="7562" y="5996"/>
                <a:ext cx="540" cy="0"/>
              </a:xfrm>
              <a:prstGeom prst="line">
                <a:avLst/>
              </a:prstGeom>
              <a:ln w="9525" cap="flat" cmpd="sng">
                <a:solidFill>
                  <a:srgbClr val="000000"/>
                </a:solidFill>
                <a:prstDash val="dash"/>
                <a:headEnd type="none" w="med" len="med"/>
                <a:tailEnd type="none" w="med" len="med"/>
              </a:ln>
            </p:spPr>
          </p:sp>
          <p:sp>
            <p:nvSpPr>
              <p:cNvPr id="9270" name="Line 54"/>
              <p:cNvSpPr/>
              <p:nvPr/>
            </p:nvSpPr>
            <p:spPr>
              <a:xfrm>
                <a:off x="3767" y="5810"/>
                <a:ext cx="0" cy="380"/>
              </a:xfrm>
              <a:prstGeom prst="line">
                <a:avLst/>
              </a:prstGeom>
              <a:ln w="9525" cap="flat" cmpd="sng">
                <a:solidFill>
                  <a:srgbClr val="000000"/>
                </a:solidFill>
                <a:prstDash val="solid"/>
                <a:headEnd type="none" w="med" len="med"/>
                <a:tailEnd type="none" w="med" len="med"/>
              </a:ln>
            </p:spPr>
          </p:sp>
          <p:sp>
            <p:nvSpPr>
              <p:cNvPr id="9271" name="Line 55"/>
              <p:cNvSpPr/>
              <p:nvPr/>
            </p:nvSpPr>
            <p:spPr>
              <a:xfrm>
                <a:off x="7337" y="4940"/>
                <a:ext cx="0" cy="1049"/>
              </a:xfrm>
              <a:prstGeom prst="line">
                <a:avLst/>
              </a:prstGeom>
              <a:ln w="9525" cap="flat" cmpd="sng">
                <a:solidFill>
                  <a:srgbClr val="000000"/>
                </a:solidFill>
                <a:prstDash val="solid"/>
                <a:headEnd type="none" w="med" len="med"/>
                <a:tailEnd type="none" w="med" len="med"/>
              </a:ln>
            </p:spPr>
          </p:sp>
          <p:sp>
            <p:nvSpPr>
              <p:cNvPr id="9272" name="Line 56"/>
              <p:cNvSpPr/>
              <p:nvPr/>
            </p:nvSpPr>
            <p:spPr>
              <a:xfrm>
                <a:off x="7337" y="6002"/>
                <a:ext cx="180" cy="0"/>
              </a:xfrm>
              <a:prstGeom prst="line">
                <a:avLst/>
              </a:prstGeom>
              <a:ln w="9525" cap="flat" cmpd="sng">
                <a:solidFill>
                  <a:srgbClr val="000000"/>
                </a:solidFill>
                <a:prstDash val="solid"/>
                <a:headEnd type="none" w="med" len="med"/>
                <a:tailEnd type="none" w="med" len="med"/>
              </a:ln>
            </p:spPr>
          </p:sp>
          <p:sp>
            <p:nvSpPr>
              <p:cNvPr id="9273" name="Rectangle 57"/>
              <p:cNvSpPr/>
              <p:nvPr/>
            </p:nvSpPr>
            <p:spPr>
              <a:xfrm>
                <a:off x="3137" y="6353"/>
                <a:ext cx="540" cy="312"/>
              </a:xfrm>
              <a:prstGeom prst="rect">
                <a:avLst/>
              </a:prstGeom>
              <a:solidFill>
                <a:srgbClr val="FFFF99"/>
              </a:solidFill>
              <a:ln w="9525" cap="flat" cmpd="sng">
                <a:solidFill>
                  <a:srgbClr val="000000"/>
                </a:solidFill>
                <a:prstDash val="solid"/>
                <a:miter/>
                <a:headEnd type="none" w="med" len="med"/>
                <a:tailEnd type="none" w="med" len="med"/>
              </a:ln>
            </p:spPr>
            <p:txBody>
              <a:bodyPr tIns="0" bIns="0"/>
              <a:lstStyle/>
              <a:p>
                <a:pPr algn="just"/>
                <a:r>
                  <a:rPr lang="en-US" altLang="zh-CN" sz="3200" dirty="0">
                    <a:latin typeface="Times New Roman" panose="02020603050405020304" pitchFamily="18" charset="0"/>
                  </a:rPr>
                  <a:t>&amp;</a:t>
                </a:r>
                <a:endParaRPr lang="en-US" altLang="zh-CN" sz="5400" dirty="0">
                  <a:latin typeface="Arial" panose="020B0604020202020204" pitchFamily="34" charset="0"/>
                </a:endParaRPr>
              </a:p>
            </p:txBody>
          </p:sp>
          <p:sp>
            <p:nvSpPr>
              <p:cNvPr id="9274" name="Line 58"/>
              <p:cNvSpPr/>
              <p:nvPr/>
            </p:nvSpPr>
            <p:spPr>
              <a:xfrm>
                <a:off x="6227" y="5765"/>
                <a:ext cx="0" cy="198"/>
              </a:xfrm>
              <a:prstGeom prst="line">
                <a:avLst/>
              </a:prstGeom>
              <a:ln w="9525" cap="flat" cmpd="sng">
                <a:solidFill>
                  <a:srgbClr val="000000"/>
                </a:solidFill>
                <a:prstDash val="solid"/>
                <a:headEnd type="none" w="med" len="med"/>
                <a:tailEnd type="none" w="med" len="med"/>
              </a:ln>
            </p:spPr>
          </p:sp>
          <p:sp>
            <p:nvSpPr>
              <p:cNvPr id="9275" name="Line 59"/>
              <p:cNvSpPr/>
              <p:nvPr/>
            </p:nvSpPr>
            <p:spPr>
              <a:xfrm>
                <a:off x="5912" y="4932"/>
                <a:ext cx="0" cy="1028"/>
              </a:xfrm>
              <a:prstGeom prst="line">
                <a:avLst/>
              </a:prstGeom>
              <a:ln w="9525" cap="flat" cmpd="sng">
                <a:solidFill>
                  <a:srgbClr val="000000"/>
                </a:solidFill>
                <a:prstDash val="solid"/>
                <a:headEnd type="none" w="med" len="med"/>
                <a:tailEnd type="none" w="med" len="med"/>
              </a:ln>
            </p:spPr>
          </p:sp>
          <p:sp>
            <p:nvSpPr>
              <p:cNvPr id="9276" name="Line 60"/>
              <p:cNvSpPr/>
              <p:nvPr/>
            </p:nvSpPr>
            <p:spPr>
              <a:xfrm>
                <a:off x="5912" y="5969"/>
                <a:ext cx="312" cy="0"/>
              </a:xfrm>
              <a:prstGeom prst="line">
                <a:avLst/>
              </a:prstGeom>
              <a:ln w="9525" cap="flat" cmpd="sng">
                <a:solidFill>
                  <a:srgbClr val="000000"/>
                </a:solidFill>
                <a:prstDash val="solid"/>
                <a:headEnd type="none" w="med" len="med"/>
                <a:tailEnd type="none" w="med" len="med"/>
              </a:ln>
            </p:spPr>
          </p:sp>
          <p:sp>
            <p:nvSpPr>
              <p:cNvPr id="9277" name="Line 61"/>
              <p:cNvSpPr/>
              <p:nvPr/>
            </p:nvSpPr>
            <p:spPr>
              <a:xfrm>
                <a:off x="6632" y="5810"/>
                <a:ext cx="0" cy="397"/>
              </a:xfrm>
              <a:prstGeom prst="line">
                <a:avLst/>
              </a:prstGeom>
              <a:ln w="9525" cap="flat" cmpd="sng">
                <a:solidFill>
                  <a:srgbClr val="000000"/>
                </a:solidFill>
                <a:prstDash val="solid"/>
                <a:headEnd type="none" w="med" len="med"/>
                <a:tailEnd type="none" w="med" len="med"/>
              </a:ln>
            </p:spPr>
          </p:sp>
          <p:sp>
            <p:nvSpPr>
              <p:cNvPr id="9278" name="Line 62"/>
              <p:cNvSpPr/>
              <p:nvPr/>
            </p:nvSpPr>
            <p:spPr>
              <a:xfrm>
                <a:off x="7067" y="5816"/>
                <a:ext cx="0" cy="527"/>
              </a:xfrm>
              <a:prstGeom prst="line">
                <a:avLst/>
              </a:prstGeom>
              <a:ln w="9525" cap="flat" cmpd="sng">
                <a:solidFill>
                  <a:srgbClr val="000000"/>
                </a:solidFill>
                <a:prstDash val="solid"/>
                <a:headEnd type="none" w="med" len="med"/>
                <a:tailEnd type="none" w="med" len="med"/>
              </a:ln>
            </p:spPr>
          </p:sp>
          <p:sp>
            <p:nvSpPr>
              <p:cNvPr id="9279" name="Rectangle 63"/>
              <p:cNvSpPr/>
              <p:nvPr/>
            </p:nvSpPr>
            <p:spPr>
              <a:xfrm>
                <a:off x="6887" y="6359"/>
                <a:ext cx="360" cy="312"/>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lstStyle/>
              <a:p>
                <a:pPr algn="ctr"/>
                <a:r>
                  <a:rPr lang="en-US" altLang="zh-CN" sz="3200" dirty="0">
                    <a:latin typeface="Times New Roman" panose="02020603050405020304" pitchFamily="18" charset="0"/>
                  </a:rPr>
                  <a:t>1</a:t>
                </a:r>
                <a:endParaRPr lang="en-US" altLang="zh-CN" sz="5400" dirty="0">
                  <a:latin typeface="Arial" panose="020B0604020202020204" pitchFamily="34" charset="0"/>
                </a:endParaRPr>
              </a:p>
            </p:txBody>
          </p:sp>
          <p:sp>
            <p:nvSpPr>
              <p:cNvPr id="9280" name="Line 64"/>
              <p:cNvSpPr/>
              <p:nvPr/>
            </p:nvSpPr>
            <p:spPr>
              <a:xfrm>
                <a:off x="5207" y="5795"/>
                <a:ext cx="0" cy="527"/>
              </a:xfrm>
              <a:prstGeom prst="line">
                <a:avLst/>
              </a:prstGeom>
              <a:ln w="9525" cap="flat" cmpd="sng">
                <a:solidFill>
                  <a:srgbClr val="000000"/>
                </a:solidFill>
                <a:prstDash val="solid"/>
                <a:headEnd type="none" w="med" len="med"/>
                <a:tailEnd type="none" w="med" len="med"/>
              </a:ln>
            </p:spPr>
          </p:sp>
          <p:sp>
            <p:nvSpPr>
              <p:cNvPr id="9281" name="Rectangle 65"/>
              <p:cNvSpPr/>
              <p:nvPr/>
            </p:nvSpPr>
            <p:spPr>
              <a:xfrm>
                <a:off x="5027" y="6359"/>
                <a:ext cx="360" cy="312"/>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lstStyle/>
              <a:p>
                <a:pPr algn="ctr"/>
                <a:r>
                  <a:rPr lang="en-US" altLang="zh-CN" sz="3200" dirty="0">
                    <a:latin typeface="Times New Roman" panose="02020603050405020304" pitchFamily="18" charset="0"/>
                  </a:rPr>
                  <a:t>1</a:t>
                </a:r>
                <a:endParaRPr lang="en-US" altLang="zh-CN" sz="5400" dirty="0">
                  <a:latin typeface="Arial" panose="020B0604020202020204" pitchFamily="34" charset="0"/>
                </a:endParaRPr>
              </a:p>
            </p:txBody>
          </p:sp>
          <p:sp>
            <p:nvSpPr>
              <p:cNvPr id="9282" name="Line 66"/>
              <p:cNvSpPr/>
              <p:nvPr/>
            </p:nvSpPr>
            <p:spPr>
              <a:xfrm>
                <a:off x="8462" y="5735"/>
                <a:ext cx="0" cy="255"/>
              </a:xfrm>
              <a:prstGeom prst="line">
                <a:avLst/>
              </a:prstGeom>
              <a:ln w="9525" cap="flat" cmpd="sng">
                <a:solidFill>
                  <a:srgbClr val="000000"/>
                </a:solidFill>
                <a:prstDash val="solid"/>
                <a:headEnd type="none" w="med" len="med"/>
                <a:tailEnd type="none" w="med" len="med"/>
              </a:ln>
            </p:spPr>
          </p:sp>
          <p:sp>
            <p:nvSpPr>
              <p:cNvPr id="9283" name="Line 67"/>
              <p:cNvSpPr/>
              <p:nvPr/>
            </p:nvSpPr>
            <p:spPr>
              <a:xfrm>
                <a:off x="8177" y="6002"/>
                <a:ext cx="278" cy="0"/>
              </a:xfrm>
              <a:prstGeom prst="line">
                <a:avLst/>
              </a:prstGeom>
              <a:ln w="9525" cap="flat" cmpd="sng">
                <a:solidFill>
                  <a:srgbClr val="000000"/>
                </a:solidFill>
                <a:prstDash val="solid"/>
                <a:headEnd type="none" w="med" len="med"/>
                <a:tailEnd type="none" w="med" len="med"/>
              </a:ln>
            </p:spPr>
          </p:sp>
          <p:sp>
            <p:nvSpPr>
              <p:cNvPr id="9284" name="Line 68"/>
              <p:cNvSpPr/>
              <p:nvPr/>
            </p:nvSpPr>
            <p:spPr>
              <a:xfrm>
                <a:off x="8177" y="6077"/>
                <a:ext cx="1140" cy="0"/>
              </a:xfrm>
              <a:prstGeom prst="line">
                <a:avLst/>
              </a:prstGeom>
              <a:ln w="9525" cap="flat" cmpd="sng">
                <a:solidFill>
                  <a:srgbClr val="000000"/>
                </a:solidFill>
                <a:prstDash val="solid"/>
                <a:headEnd type="none" w="med" len="med"/>
                <a:tailEnd type="none" w="med" len="med"/>
              </a:ln>
            </p:spPr>
          </p:sp>
          <p:sp>
            <p:nvSpPr>
              <p:cNvPr id="9285" name="Line 69"/>
              <p:cNvSpPr/>
              <p:nvPr/>
            </p:nvSpPr>
            <p:spPr>
              <a:xfrm>
                <a:off x="8882" y="5779"/>
                <a:ext cx="0" cy="391"/>
              </a:xfrm>
              <a:prstGeom prst="line">
                <a:avLst/>
              </a:prstGeom>
              <a:ln w="9525" cap="flat" cmpd="sng">
                <a:solidFill>
                  <a:srgbClr val="000000"/>
                </a:solidFill>
                <a:prstDash val="solid"/>
                <a:headEnd type="none" w="med" len="med"/>
                <a:tailEnd type="none" w="med" len="med"/>
              </a:ln>
            </p:spPr>
          </p:sp>
          <p:sp>
            <p:nvSpPr>
              <p:cNvPr id="9286" name="Line 70"/>
              <p:cNvSpPr/>
              <p:nvPr/>
            </p:nvSpPr>
            <p:spPr>
              <a:xfrm>
                <a:off x="8177" y="6173"/>
                <a:ext cx="703" cy="0"/>
              </a:xfrm>
              <a:prstGeom prst="line">
                <a:avLst/>
              </a:prstGeom>
              <a:ln w="9525" cap="flat" cmpd="sng">
                <a:solidFill>
                  <a:srgbClr val="000000"/>
                </a:solidFill>
                <a:prstDash val="solid"/>
                <a:headEnd type="none" w="med" len="med"/>
                <a:tailEnd type="none" w="med" len="med"/>
              </a:ln>
            </p:spPr>
          </p:sp>
          <p:sp>
            <p:nvSpPr>
              <p:cNvPr id="9287" name="Line 71"/>
              <p:cNvSpPr/>
              <p:nvPr/>
            </p:nvSpPr>
            <p:spPr>
              <a:xfrm>
                <a:off x="3227" y="6664"/>
                <a:ext cx="0" cy="312"/>
              </a:xfrm>
              <a:prstGeom prst="line">
                <a:avLst/>
              </a:prstGeom>
              <a:ln w="9525" cap="flat" cmpd="sng">
                <a:solidFill>
                  <a:srgbClr val="000000"/>
                </a:solidFill>
                <a:prstDash val="solid"/>
                <a:headEnd type="none" w="med" len="med"/>
                <a:tailEnd type="none" w="med" len="med"/>
              </a:ln>
            </p:spPr>
          </p:sp>
          <p:sp>
            <p:nvSpPr>
              <p:cNvPr id="9288" name="Line 72"/>
              <p:cNvSpPr/>
              <p:nvPr/>
            </p:nvSpPr>
            <p:spPr>
              <a:xfrm>
                <a:off x="3557" y="6664"/>
                <a:ext cx="0" cy="312"/>
              </a:xfrm>
              <a:prstGeom prst="line">
                <a:avLst/>
              </a:prstGeom>
              <a:ln w="9525" cap="flat" cmpd="sng">
                <a:solidFill>
                  <a:srgbClr val="000000"/>
                </a:solidFill>
                <a:prstDash val="solid"/>
                <a:headEnd type="none" w="med" len="med"/>
                <a:tailEnd type="none" w="med" len="med"/>
              </a:ln>
            </p:spPr>
          </p:sp>
          <p:sp>
            <p:nvSpPr>
              <p:cNvPr id="9289" name="Line 73"/>
              <p:cNvSpPr/>
              <p:nvPr/>
            </p:nvSpPr>
            <p:spPr>
              <a:xfrm>
                <a:off x="5207" y="6671"/>
                <a:ext cx="0" cy="312"/>
              </a:xfrm>
              <a:prstGeom prst="line">
                <a:avLst/>
              </a:prstGeom>
              <a:ln w="9525" cap="flat" cmpd="sng">
                <a:solidFill>
                  <a:srgbClr val="000000"/>
                </a:solidFill>
                <a:prstDash val="solid"/>
                <a:headEnd type="none" w="med" len="med"/>
                <a:tailEnd type="none" w="med" len="med"/>
              </a:ln>
            </p:spPr>
          </p:sp>
          <p:sp>
            <p:nvSpPr>
              <p:cNvPr id="9290" name="Line 74"/>
              <p:cNvSpPr/>
              <p:nvPr/>
            </p:nvSpPr>
            <p:spPr>
              <a:xfrm>
                <a:off x="7067" y="6671"/>
                <a:ext cx="0" cy="312"/>
              </a:xfrm>
              <a:prstGeom prst="line">
                <a:avLst/>
              </a:prstGeom>
              <a:ln w="9525" cap="flat" cmpd="sng">
                <a:solidFill>
                  <a:srgbClr val="000000"/>
                </a:solidFill>
                <a:prstDash val="solid"/>
                <a:headEnd type="none" w="med" len="med"/>
                <a:tailEnd type="none" w="med" len="med"/>
              </a:ln>
            </p:spPr>
          </p:sp>
          <p:sp>
            <p:nvSpPr>
              <p:cNvPr id="9291" name="Oval 75"/>
              <p:cNvSpPr/>
              <p:nvPr/>
            </p:nvSpPr>
            <p:spPr>
              <a:xfrm>
                <a:off x="7036" y="6062"/>
                <a:ext cx="57" cy="57"/>
              </a:xfrm>
              <a:prstGeom prst="ellipse">
                <a:avLst/>
              </a:prstGeom>
              <a:solidFill>
                <a:srgbClr val="000000">
                  <a:alpha val="96861"/>
                </a:srgbClr>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292" name="Oval 76"/>
              <p:cNvSpPr/>
              <p:nvPr/>
            </p:nvSpPr>
            <p:spPr>
              <a:xfrm>
                <a:off x="6602" y="6165"/>
                <a:ext cx="57" cy="57"/>
              </a:xfrm>
              <a:prstGeom prst="ellipse">
                <a:avLst/>
              </a:prstGeom>
              <a:solidFill>
                <a:srgbClr val="000000">
                  <a:alpha val="96861"/>
                </a:srgbClr>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293" name="Oval 77"/>
              <p:cNvSpPr/>
              <p:nvPr/>
            </p:nvSpPr>
            <p:spPr>
              <a:xfrm>
                <a:off x="5184" y="6165"/>
                <a:ext cx="57" cy="57"/>
              </a:xfrm>
              <a:prstGeom prst="ellipse">
                <a:avLst/>
              </a:prstGeom>
              <a:solidFill>
                <a:srgbClr val="000000">
                  <a:alpha val="96861"/>
                </a:srgbClr>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294" name="Line 78"/>
              <p:cNvSpPr/>
              <p:nvPr/>
            </p:nvSpPr>
            <p:spPr>
              <a:xfrm>
                <a:off x="5627" y="5810"/>
                <a:ext cx="0" cy="255"/>
              </a:xfrm>
              <a:prstGeom prst="line">
                <a:avLst/>
              </a:prstGeom>
              <a:ln w="9525" cap="flat" cmpd="sng">
                <a:solidFill>
                  <a:srgbClr val="000000"/>
                </a:solidFill>
                <a:prstDash val="solid"/>
                <a:headEnd type="none" w="med" len="med"/>
                <a:tailEnd type="none" w="med" len="med"/>
              </a:ln>
            </p:spPr>
          </p:sp>
          <p:sp>
            <p:nvSpPr>
              <p:cNvPr id="9295" name="Oval 79"/>
              <p:cNvSpPr/>
              <p:nvPr/>
            </p:nvSpPr>
            <p:spPr>
              <a:xfrm>
                <a:off x="5604" y="6055"/>
                <a:ext cx="57" cy="57"/>
              </a:xfrm>
              <a:prstGeom prst="ellipse">
                <a:avLst/>
              </a:prstGeom>
              <a:solidFill>
                <a:srgbClr val="000000">
                  <a:alpha val="96861"/>
                </a:srgbClr>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296" name="Oval 80"/>
              <p:cNvSpPr/>
              <p:nvPr/>
            </p:nvSpPr>
            <p:spPr>
              <a:xfrm>
                <a:off x="5176" y="6308"/>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297" name="Oval 81"/>
              <p:cNvSpPr/>
              <p:nvPr/>
            </p:nvSpPr>
            <p:spPr>
              <a:xfrm>
                <a:off x="7039" y="6293"/>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298" name="Oval 82"/>
              <p:cNvSpPr/>
              <p:nvPr/>
            </p:nvSpPr>
            <p:spPr>
              <a:xfrm>
                <a:off x="7037" y="6670"/>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299" name="Rectangle 83"/>
              <p:cNvSpPr/>
              <p:nvPr/>
            </p:nvSpPr>
            <p:spPr>
              <a:xfrm>
                <a:off x="5042" y="6999"/>
                <a:ext cx="360" cy="312"/>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CP</a:t>
                </a:r>
                <a:endParaRPr lang="en-US" altLang="zh-CN" sz="4400" dirty="0">
                  <a:latin typeface="Arial" panose="020B0604020202020204" pitchFamily="34" charset="0"/>
                </a:endParaRPr>
              </a:p>
            </p:txBody>
          </p:sp>
          <p:sp>
            <p:nvSpPr>
              <p:cNvPr id="9300" name="Rectangle 84"/>
              <p:cNvSpPr/>
              <p:nvPr/>
            </p:nvSpPr>
            <p:spPr>
              <a:xfrm>
                <a:off x="3272" y="4472"/>
                <a:ext cx="360" cy="312"/>
              </a:xfrm>
              <a:prstGeom prst="rect">
                <a:avLst/>
              </a:prstGeom>
              <a:noFill/>
              <a:ln w="9525">
                <a:noFill/>
              </a:ln>
            </p:spPr>
            <p:txBody>
              <a:bodyPr lIns="0" tIns="0" rIns="0" bIns="0"/>
              <a:lstStyle/>
              <a:p>
                <a:pPr algn="just"/>
                <a:r>
                  <a:rPr lang="en-US" altLang="zh-CN" sz="3200" i="1" dirty="0">
                    <a:latin typeface="Times New Roman" panose="02020603050405020304" pitchFamily="18" charset="0"/>
                  </a:rPr>
                  <a:t>Q</a:t>
                </a:r>
                <a:r>
                  <a:rPr lang="en-US" altLang="zh-CN" sz="3200" baseline="-25000" dirty="0">
                    <a:latin typeface="Times New Roman" panose="02020603050405020304" pitchFamily="18" charset="0"/>
                  </a:rPr>
                  <a:t>0</a:t>
                </a:r>
                <a:endParaRPr lang="en-US" altLang="zh-CN" sz="5400" dirty="0">
                  <a:latin typeface="Arial" panose="020B0604020202020204" pitchFamily="34" charset="0"/>
                </a:endParaRPr>
              </a:p>
            </p:txBody>
          </p:sp>
          <p:sp>
            <p:nvSpPr>
              <p:cNvPr id="9301" name="Line 85"/>
              <p:cNvSpPr/>
              <p:nvPr/>
            </p:nvSpPr>
            <p:spPr>
              <a:xfrm>
                <a:off x="9320" y="5790"/>
                <a:ext cx="0" cy="282"/>
              </a:xfrm>
              <a:prstGeom prst="line">
                <a:avLst/>
              </a:prstGeom>
              <a:ln w="9525" cap="flat" cmpd="sng">
                <a:solidFill>
                  <a:srgbClr val="000000"/>
                </a:solidFill>
                <a:prstDash val="solid"/>
                <a:headEnd type="none" w="med" len="med"/>
                <a:tailEnd type="none" w="med" len="med"/>
              </a:ln>
            </p:spPr>
          </p:sp>
          <p:sp>
            <p:nvSpPr>
              <p:cNvPr id="9302" name="Oval 86"/>
              <p:cNvSpPr/>
              <p:nvPr/>
            </p:nvSpPr>
            <p:spPr>
              <a:xfrm>
                <a:off x="9287" y="5741"/>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303" name="Oval 87"/>
              <p:cNvSpPr/>
              <p:nvPr/>
            </p:nvSpPr>
            <p:spPr>
              <a:xfrm>
                <a:off x="8852" y="5741"/>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9304" name="Text Box 88"/>
              <p:cNvSpPr txBox="1"/>
              <p:nvPr/>
            </p:nvSpPr>
            <p:spPr>
              <a:xfrm>
                <a:off x="8416" y="5090"/>
                <a:ext cx="192" cy="324"/>
              </a:xfrm>
              <a:prstGeom prst="rect">
                <a:avLst/>
              </a:prstGeom>
              <a:noFill/>
              <a:ln w="9525">
                <a:noFill/>
              </a:ln>
            </p:spPr>
            <p:txBody>
              <a:bodyPr lIns="0" tIns="0" rIns="0" bIns="0"/>
              <a:lstStyle/>
              <a:p>
                <a:pPr algn="just"/>
                <a:r>
                  <a:rPr lang="en-US" altLang="zh-CN" sz="3200" i="1" dirty="0">
                    <a:latin typeface="Times New Roman" panose="02020603050405020304" pitchFamily="18" charset="0"/>
                  </a:rPr>
                  <a:t>Q</a:t>
                </a:r>
                <a:endParaRPr lang="en-US" altLang="zh-CN" sz="5400" dirty="0">
                  <a:latin typeface="Arial" panose="020B0604020202020204" pitchFamily="34" charset="0"/>
                </a:endParaRPr>
              </a:p>
            </p:txBody>
          </p:sp>
          <p:sp>
            <p:nvSpPr>
              <p:cNvPr id="9305" name="Text Box 89"/>
              <p:cNvSpPr txBox="1"/>
              <p:nvPr/>
            </p:nvSpPr>
            <p:spPr>
              <a:xfrm>
                <a:off x="6192" y="5100"/>
                <a:ext cx="192" cy="324"/>
              </a:xfrm>
              <a:prstGeom prst="rect">
                <a:avLst/>
              </a:prstGeom>
              <a:noFill/>
              <a:ln w="9525">
                <a:noFill/>
              </a:ln>
            </p:spPr>
            <p:txBody>
              <a:bodyPr lIns="0" tIns="0" rIns="0" bIns="0"/>
              <a:lstStyle/>
              <a:p>
                <a:pPr algn="just"/>
                <a:r>
                  <a:rPr lang="en-US" altLang="zh-CN" sz="3200" i="1" dirty="0">
                    <a:latin typeface="Times New Roman" panose="02020603050405020304" pitchFamily="18" charset="0"/>
                  </a:rPr>
                  <a:t>Q</a:t>
                </a:r>
                <a:endParaRPr lang="en-US" altLang="zh-CN" sz="5400" dirty="0">
                  <a:latin typeface="Arial" panose="020B0604020202020204" pitchFamily="34" charset="0"/>
                </a:endParaRPr>
              </a:p>
            </p:txBody>
          </p:sp>
          <p:sp>
            <p:nvSpPr>
              <p:cNvPr id="9306" name="Text Box 90"/>
              <p:cNvSpPr txBox="1"/>
              <p:nvPr/>
            </p:nvSpPr>
            <p:spPr>
              <a:xfrm>
                <a:off x="4752" y="5094"/>
                <a:ext cx="192" cy="324"/>
              </a:xfrm>
              <a:prstGeom prst="rect">
                <a:avLst/>
              </a:prstGeom>
              <a:noFill/>
              <a:ln w="9525">
                <a:noFill/>
              </a:ln>
            </p:spPr>
            <p:txBody>
              <a:bodyPr lIns="0" tIns="0" rIns="0" bIns="0"/>
              <a:lstStyle/>
              <a:p>
                <a:pPr algn="just"/>
                <a:r>
                  <a:rPr lang="en-US" altLang="zh-CN" sz="3200" i="1" dirty="0">
                    <a:latin typeface="Times New Roman" panose="02020603050405020304" pitchFamily="18" charset="0"/>
                  </a:rPr>
                  <a:t>Q</a:t>
                </a:r>
                <a:endParaRPr lang="en-US" altLang="zh-CN" sz="5400" dirty="0">
                  <a:latin typeface="Arial" panose="020B0604020202020204" pitchFamily="34" charset="0"/>
                </a:endParaRPr>
              </a:p>
            </p:txBody>
          </p:sp>
          <p:sp>
            <p:nvSpPr>
              <p:cNvPr id="9307" name="Text Box 91"/>
              <p:cNvSpPr txBox="1"/>
              <p:nvPr/>
            </p:nvSpPr>
            <p:spPr>
              <a:xfrm>
                <a:off x="3320" y="5096"/>
                <a:ext cx="192" cy="324"/>
              </a:xfrm>
              <a:prstGeom prst="rect">
                <a:avLst/>
              </a:prstGeom>
              <a:noFill/>
              <a:ln w="9525">
                <a:noFill/>
              </a:ln>
            </p:spPr>
            <p:txBody>
              <a:bodyPr lIns="0" tIns="0" rIns="0" bIns="0"/>
              <a:lstStyle/>
              <a:p>
                <a:pPr algn="just"/>
                <a:r>
                  <a:rPr lang="en-US" altLang="zh-CN" sz="3200" i="1" dirty="0">
                    <a:latin typeface="Times New Roman" panose="02020603050405020304" pitchFamily="18" charset="0"/>
                  </a:rPr>
                  <a:t>Q</a:t>
                </a:r>
                <a:endParaRPr lang="en-US" altLang="zh-CN" sz="5400" dirty="0">
                  <a:latin typeface="Arial" panose="020B0604020202020204" pitchFamily="34" charset="0"/>
                </a:endParaRPr>
              </a:p>
            </p:txBody>
          </p:sp>
          <p:sp>
            <p:nvSpPr>
              <p:cNvPr id="9308" name="Line 92"/>
              <p:cNvSpPr/>
              <p:nvPr/>
            </p:nvSpPr>
            <p:spPr>
              <a:xfrm>
                <a:off x="4804" y="4920"/>
                <a:ext cx="1106" cy="0"/>
              </a:xfrm>
              <a:prstGeom prst="line">
                <a:avLst/>
              </a:prstGeom>
              <a:ln w="9525" cap="flat" cmpd="sng">
                <a:solidFill>
                  <a:srgbClr val="000000"/>
                </a:solidFill>
                <a:prstDash val="solid"/>
                <a:headEnd type="none" w="med" len="med"/>
                <a:tailEnd type="none" w="med" len="med"/>
              </a:ln>
            </p:spPr>
          </p:sp>
        </p:grpSp>
        <p:sp>
          <p:nvSpPr>
            <p:cNvPr id="9225" name="Text Box 93"/>
            <p:cNvSpPr txBox="1"/>
            <p:nvPr/>
          </p:nvSpPr>
          <p:spPr>
            <a:xfrm>
              <a:off x="4524" y="7968"/>
              <a:ext cx="2449" cy="468"/>
            </a:xfrm>
            <a:prstGeom prst="rect">
              <a:avLst/>
            </a:prstGeom>
            <a:noFill/>
            <a:ln w="9525">
              <a:noFill/>
            </a:ln>
          </p:spPr>
          <p:txBody>
            <a:bodyPr wrap="none"/>
            <a:lstStyle/>
            <a:p>
              <a:pPr algn="ctr"/>
              <a:r>
                <a:rPr lang="en-US" altLang="zh-CN" sz="3200" dirty="0">
                  <a:latin typeface="Times New Roman" panose="02020603050405020304" pitchFamily="18" charset="0"/>
                </a:rPr>
                <a:t>74LS164</a:t>
              </a:r>
              <a:r>
                <a:rPr lang="zh-CN" altLang="en-US" sz="3200" dirty="0">
                  <a:latin typeface="Times New Roman" panose="02020603050405020304" pitchFamily="18" charset="0"/>
                </a:rPr>
                <a:t>的逻辑图</a:t>
              </a:r>
              <a:endParaRPr lang="zh-CN" altLang="en-US" sz="5400" dirty="0">
                <a:latin typeface="Arial" panose="020B0604020202020204" pitchFamily="34" charset="0"/>
              </a:endParaRPr>
            </a:p>
          </p:txBody>
        </p:sp>
      </p:grpSp>
      <p:graphicFrame>
        <p:nvGraphicFramePr>
          <p:cNvPr id="9221" name="Object 94"/>
          <p:cNvGraphicFramePr>
            <a:graphicFrameLocks noChangeAspect="1"/>
          </p:cNvGraphicFramePr>
          <p:nvPr/>
        </p:nvGraphicFramePr>
        <p:xfrm>
          <a:off x="5508625" y="5661025"/>
          <a:ext cx="503238" cy="503238"/>
        </p:xfrm>
        <a:graphic>
          <a:graphicData uri="http://schemas.openxmlformats.org/presentationml/2006/ole">
            <mc:AlternateContent xmlns:mc="http://schemas.openxmlformats.org/markup-compatibility/2006">
              <mc:Choice xmlns:v="urn:schemas-microsoft-com:vml" Requires="v">
                <p:oleObj r:id="rId2" imgW="203200" imgH="203200" progId="Equation.3">
                  <p:embed/>
                </p:oleObj>
              </mc:Choice>
              <mc:Fallback>
                <p:oleObj r:id="rId2" imgW="203200" imgH="203200" progId="Equation.3">
                  <p:embed/>
                  <p:pic>
                    <p:nvPicPr>
                      <p:cNvPr id="0" name="图片 3075"/>
                      <p:cNvPicPr/>
                      <p:nvPr/>
                    </p:nvPicPr>
                    <p:blipFill>
                      <a:blip r:embed="rId3"/>
                      <a:stretch>
                        <a:fillRect/>
                      </a:stretch>
                    </p:blipFill>
                    <p:spPr>
                      <a:xfrm>
                        <a:off x="5508625" y="5661025"/>
                        <a:ext cx="503238" cy="503238"/>
                      </a:xfrm>
                      <a:prstGeom prst="rect">
                        <a:avLst/>
                      </a:prstGeom>
                      <a:noFill/>
                      <a:ln w="38100">
                        <a:noFill/>
                        <a:miter/>
                      </a:ln>
                    </p:spPr>
                  </p:pic>
                </p:oleObj>
              </mc:Fallback>
            </mc:AlternateContent>
          </a:graphicData>
        </a:graphic>
      </p:graphicFrame>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5"/>
          <p:cNvSpPr/>
          <p:nvPr/>
        </p:nvSpPr>
        <p:spPr>
          <a:xfrm>
            <a:off x="1865313" y="2668588"/>
            <a:ext cx="541337" cy="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10243" name="Object 4"/>
          <p:cNvGraphicFramePr>
            <a:graphicFrameLocks noChangeAspect="1"/>
          </p:cNvGraphicFramePr>
          <p:nvPr/>
        </p:nvGraphicFramePr>
        <p:xfrm>
          <a:off x="468313" y="2349500"/>
          <a:ext cx="576262" cy="576263"/>
        </p:xfrm>
        <a:graphic>
          <a:graphicData uri="http://schemas.openxmlformats.org/presentationml/2006/ole">
            <mc:AlternateContent xmlns:mc="http://schemas.openxmlformats.org/markup-compatibility/2006">
              <mc:Choice xmlns:v="urn:schemas-microsoft-com:vml" Requires="v">
                <p:oleObj r:id="rId2" imgW="190500" imgH="190500" progId="Equation.3">
                  <p:embed/>
                </p:oleObj>
              </mc:Choice>
              <mc:Fallback>
                <p:oleObj r:id="rId2" imgW="190500" imgH="190500" progId="Equation.3">
                  <p:embed/>
                  <p:pic>
                    <p:nvPicPr>
                      <p:cNvPr id="0" name="图片 3076"/>
                      <p:cNvPicPr/>
                      <p:nvPr/>
                    </p:nvPicPr>
                    <p:blipFill>
                      <a:blip r:embed="rId3"/>
                      <a:stretch>
                        <a:fillRect/>
                      </a:stretch>
                    </p:blipFill>
                    <p:spPr>
                      <a:xfrm>
                        <a:off x="468313" y="2349500"/>
                        <a:ext cx="576262" cy="576263"/>
                      </a:xfrm>
                      <a:prstGeom prst="rect">
                        <a:avLst/>
                      </a:prstGeom>
                      <a:noFill/>
                      <a:ln w="38100">
                        <a:noFill/>
                        <a:miter/>
                      </a:ln>
                    </p:spPr>
                  </p:pic>
                </p:oleObj>
              </mc:Fallback>
            </mc:AlternateContent>
          </a:graphicData>
        </a:graphic>
      </p:graphicFrame>
      <p:graphicFrame>
        <p:nvGraphicFramePr>
          <p:cNvPr id="292195" name="Group 355"/>
          <p:cNvGraphicFramePr>
            <a:graphicFrameLocks noGrp="1"/>
          </p:cNvGraphicFramePr>
          <p:nvPr/>
        </p:nvGraphicFramePr>
        <p:xfrm>
          <a:off x="250825" y="2060575"/>
          <a:ext cx="8569325" cy="4297363"/>
        </p:xfrm>
        <a:graphic>
          <a:graphicData uri="http://schemas.openxmlformats.org/drawingml/2006/table">
            <a:tbl>
              <a:tblPr/>
              <a:tblGrid>
                <a:gridCol w="857250">
                  <a:extLst>
                    <a:ext uri="{9D8B030D-6E8A-4147-A177-3AD203B41FA5}">
                      <a16:colId xmlns:a16="http://schemas.microsoft.com/office/drawing/2014/main" val="20000"/>
                    </a:ext>
                  </a:extLst>
                </a:gridCol>
                <a:gridCol w="857250">
                  <a:extLst>
                    <a:ext uri="{9D8B030D-6E8A-4147-A177-3AD203B41FA5}">
                      <a16:colId xmlns:a16="http://schemas.microsoft.com/office/drawing/2014/main" val="20001"/>
                    </a:ext>
                  </a:extLst>
                </a:gridCol>
                <a:gridCol w="855663">
                  <a:extLst>
                    <a:ext uri="{9D8B030D-6E8A-4147-A177-3AD203B41FA5}">
                      <a16:colId xmlns:a16="http://schemas.microsoft.com/office/drawing/2014/main" val="20002"/>
                    </a:ext>
                  </a:extLst>
                </a:gridCol>
                <a:gridCol w="857250">
                  <a:extLst>
                    <a:ext uri="{9D8B030D-6E8A-4147-A177-3AD203B41FA5}">
                      <a16:colId xmlns:a16="http://schemas.microsoft.com/office/drawing/2014/main" val="20003"/>
                    </a:ext>
                  </a:extLst>
                </a:gridCol>
                <a:gridCol w="857250">
                  <a:extLst>
                    <a:ext uri="{9D8B030D-6E8A-4147-A177-3AD203B41FA5}">
                      <a16:colId xmlns:a16="http://schemas.microsoft.com/office/drawing/2014/main" val="20004"/>
                    </a:ext>
                  </a:extLst>
                </a:gridCol>
                <a:gridCol w="857250">
                  <a:extLst>
                    <a:ext uri="{9D8B030D-6E8A-4147-A177-3AD203B41FA5}">
                      <a16:colId xmlns:a16="http://schemas.microsoft.com/office/drawing/2014/main" val="20005"/>
                    </a:ext>
                  </a:extLst>
                </a:gridCol>
                <a:gridCol w="857250">
                  <a:extLst>
                    <a:ext uri="{9D8B030D-6E8A-4147-A177-3AD203B41FA5}">
                      <a16:colId xmlns:a16="http://schemas.microsoft.com/office/drawing/2014/main" val="20006"/>
                    </a:ext>
                  </a:extLst>
                </a:gridCol>
                <a:gridCol w="855662">
                  <a:extLst>
                    <a:ext uri="{9D8B030D-6E8A-4147-A177-3AD203B41FA5}">
                      <a16:colId xmlns:a16="http://schemas.microsoft.com/office/drawing/2014/main" val="20007"/>
                    </a:ext>
                  </a:extLst>
                </a:gridCol>
                <a:gridCol w="857250">
                  <a:extLst>
                    <a:ext uri="{9D8B030D-6E8A-4147-A177-3AD203B41FA5}">
                      <a16:colId xmlns:a16="http://schemas.microsoft.com/office/drawing/2014/main" val="20008"/>
                    </a:ext>
                  </a:extLst>
                </a:gridCol>
                <a:gridCol w="857250">
                  <a:extLst>
                    <a:ext uri="{9D8B030D-6E8A-4147-A177-3AD203B41FA5}">
                      <a16:colId xmlns:a16="http://schemas.microsoft.com/office/drawing/2014/main" val="20009"/>
                    </a:ext>
                  </a:extLst>
                </a:gridCol>
              </a:tblGrid>
              <a:tr h="1188631">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7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anchor="ctr" horzOverflow="overflow">
                    <a:lnL cap="flat">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1"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1"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cap="flat">
                      <a:noFill/>
                    </a:lnR>
                    <a:lnT w="381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4201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4" marB="45714"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6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w="381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1"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1"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w="381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6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6672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4" marB="45714" horzOverflow="overflow">
                    <a:lnL cap="flat">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w="381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w="381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4" marB="45714" anchor="ctr" horzOverflow="overflow">
                    <a:lnL>
                      <a:noFill/>
                    </a:lnL>
                    <a:lnR cap="flat">
                      <a:noFill/>
                    </a:lnR>
                    <a:lnT w="12700" cap="flat" cmpd="sng"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280" name="Rectangle 356"/>
          <p:cNvSpPr/>
          <p:nvPr/>
        </p:nvSpPr>
        <p:spPr>
          <a:xfrm>
            <a:off x="2771775" y="1125538"/>
            <a:ext cx="3313113" cy="519112"/>
          </a:xfrm>
          <a:prstGeom prst="rect">
            <a:avLst/>
          </a:prstGeom>
          <a:noFill/>
          <a:ln w="9525">
            <a:noFill/>
          </a:ln>
        </p:spPr>
        <p:txBody>
          <a:bodyPr anchor="ctr" anchorCtr="0">
            <a:spAutoFit/>
          </a:bodyPr>
          <a:lstStyle/>
          <a:p>
            <a:r>
              <a:rPr lang="en-US" altLang="zh-CN" sz="2800" b="1" dirty="0">
                <a:latin typeface="Arial" panose="020B0604020202020204" pitchFamily="34" charset="0"/>
              </a:rPr>
              <a:t>75LS164</a:t>
            </a:r>
            <a:r>
              <a:rPr lang="zh-CN" altLang="en-US" sz="2800" b="1" dirty="0">
                <a:latin typeface="Arial" panose="020B0604020202020204" pitchFamily="34" charset="0"/>
              </a:rPr>
              <a:t>功能表</a:t>
            </a:r>
            <a:r>
              <a:rPr lang="zh-CN" altLang="en-US" sz="2800" dirty="0">
                <a:latin typeface="Arial" panose="020B0604020202020204" pitchFamily="34" charset="0"/>
              </a:rPr>
              <a:t> </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5"/>
          <p:cNvSpPr/>
          <p:nvPr/>
        </p:nvSpPr>
        <p:spPr>
          <a:xfrm>
            <a:off x="827088" y="762000"/>
            <a:ext cx="4689475" cy="519113"/>
          </a:xfrm>
          <a:prstGeom prst="rect">
            <a:avLst/>
          </a:prstGeom>
          <a:noFill/>
          <a:ln w="9525">
            <a:noFill/>
          </a:ln>
        </p:spPr>
        <p:txBody>
          <a:bodyPr wrap="none" anchor="ctr" anchorCtr="0">
            <a:spAutoFit/>
          </a:bodyPr>
          <a:lstStyle/>
          <a:p>
            <a:r>
              <a:rPr lang="zh-CN" altLang="en-US" sz="2800" dirty="0">
                <a:latin typeface="Times New Roman" panose="02020603050405020304" pitchFamily="18" charset="0"/>
                <a:cs typeface="Times New Roman" panose="02020603050405020304" pitchFamily="18" charset="0"/>
              </a:rPr>
              <a:t>二．双向移位寄存器</a:t>
            </a:r>
            <a:r>
              <a:rPr lang="en-US" altLang="zh-CN" sz="2800" dirty="0">
                <a:latin typeface="Times New Roman" panose="02020603050405020304" pitchFamily="18" charset="0"/>
                <a:cs typeface="Times New Roman" panose="02020603050405020304" pitchFamily="18" charset="0"/>
              </a:rPr>
              <a:t>74LS194</a:t>
            </a:r>
            <a:endParaRPr lang="en-US" altLang="zh-CN" sz="2800" dirty="0">
              <a:latin typeface="Times New Roman" panose="02020603050405020304" pitchFamily="18" charset="0"/>
              <a:ea typeface="Times New Roman" panose="02020603050405020304" pitchFamily="18" charset="0"/>
            </a:endParaRPr>
          </a:p>
        </p:txBody>
      </p:sp>
      <p:grpSp>
        <p:nvGrpSpPr>
          <p:cNvPr id="11267" name="Group 7"/>
          <p:cNvGrpSpPr/>
          <p:nvPr/>
        </p:nvGrpSpPr>
        <p:grpSpPr>
          <a:xfrm>
            <a:off x="539750" y="1341438"/>
            <a:ext cx="7920038" cy="5337175"/>
            <a:chOff x="1932" y="1448"/>
            <a:chExt cx="8313" cy="5352"/>
          </a:xfrm>
        </p:grpSpPr>
        <p:sp>
          <p:nvSpPr>
            <p:cNvPr id="11272" name="Oval 8"/>
            <p:cNvSpPr/>
            <p:nvPr/>
          </p:nvSpPr>
          <p:spPr>
            <a:xfrm>
              <a:off x="4116" y="3500"/>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273" name="Oval 9"/>
            <p:cNvSpPr/>
            <p:nvPr/>
          </p:nvSpPr>
          <p:spPr>
            <a:xfrm>
              <a:off x="4380" y="3179"/>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274" name="Line 10"/>
            <p:cNvSpPr/>
            <p:nvPr/>
          </p:nvSpPr>
          <p:spPr>
            <a:xfrm>
              <a:off x="5760" y="2897"/>
              <a:ext cx="0" cy="579"/>
            </a:xfrm>
            <a:prstGeom prst="line">
              <a:avLst/>
            </a:prstGeom>
            <a:ln w="9525" cap="flat" cmpd="sng">
              <a:solidFill>
                <a:srgbClr val="000000"/>
              </a:solidFill>
              <a:prstDash val="solid"/>
              <a:headEnd type="none" w="med" len="med"/>
              <a:tailEnd type="none" w="med" len="med"/>
            </a:ln>
          </p:spPr>
        </p:sp>
        <p:sp>
          <p:nvSpPr>
            <p:cNvPr id="11275" name="Line 11"/>
            <p:cNvSpPr/>
            <p:nvPr/>
          </p:nvSpPr>
          <p:spPr>
            <a:xfrm>
              <a:off x="6270" y="2897"/>
              <a:ext cx="0" cy="499"/>
            </a:xfrm>
            <a:prstGeom prst="line">
              <a:avLst/>
            </a:prstGeom>
            <a:ln w="9525" cap="flat" cmpd="sng">
              <a:solidFill>
                <a:srgbClr val="000000"/>
              </a:solidFill>
              <a:prstDash val="solid"/>
              <a:headEnd type="none" w="med" len="med"/>
              <a:tailEnd type="none" w="med" len="med"/>
            </a:ln>
          </p:spPr>
        </p:sp>
        <p:sp>
          <p:nvSpPr>
            <p:cNvPr id="11276" name="Oval 12"/>
            <p:cNvSpPr/>
            <p:nvPr/>
          </p:nvSpPr>
          <p:spPr>
            <a:xfrm>
              <a:off x="6000" y="3179"/>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277" name="Line 13"/>
            <p:cNvSpPr/>
            <p:nvPr/>
          </p:nvSpPr>
          <p:spPr>
            <a:xfrm>
              <a:off x="8085" y="2873"/>
              <a:ext cx="0" cy="527"/>
            </a:xfrm>
            <a:prstGeom prst="line">
              <a:avLst/>
            </a:prstGeom>
            <a:ln w="9525" cap="flat" cmpd="sng">
              <a:solidFill>
                <a:srgbClr val="000000"/>
              </a:solidFill>
              <a:prstDash val="solid"/>
              <a:headEnd type="none" w="med" len="med"/>
              <a:tailEnd type="none" w="med" len="med"/>
            </a:ln>
          </p:spPr>
        </p:sp>
        <p:sp>
          <p:nvSpPr>
            <p:cNvPr id="11278" name="Oval 14"/>
            <p:cNvSpPr/>
            <p:nvPr/>
          </p:nvSpPr>
          <p:spPr>
            <a:xfrm>
              <a:off x="7800" y="3179"/>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279" name="Line 15"/>
            <p:cNvSpPr/>
            <p:nvPr/>
          </p:nvSpPr>
          <p:spPr>
            <a:xfrm>
              <a:off x="9180" y="2913"/>
              <a:ext cx="0" cy="579"/>
            </a:xfrm>
            <a:prstGeom prst="line">
              <a:avLst/>
            </a:prstGeom>
            <a:ln w="9525" cap="flat" cmpd="sng">
              <a:solidFill>
                <a:srgbClr val="000000"/>
              </a:solidFill>
              <a:prstDash val="solid"/>
              <a:headEnd type="none" w="med" len="med"/>
              <a:tailEnd type="none" w="med" len="med"/>
            </a:ln>
          </p:spPr>
        </p:sp>
        <p:sp>
          <p:nvSpPr>
            <p:cNvPr id="11280" name="Line 16"/>
            <p:cNvSpPr/>
            <p:nvPr/>
          </p:nvSpPr>
          <p:spPr>
            <a:xfrm>
              <a:off x="9685" y="2897"/>
              <a:ext cx="0" cy="499"/>
            </a:xfrm>
            <a:prstGeom prst="line">
              <a:avLst/>
            </a:prstGeom>
            <a:ln w="9525" cap="flat" cmpd="sng">
              <a:solidFill>
                <a:srgbClr val="000000"/>
              </a:solidFill>
              <a:prstDash val="solid"/>
              <a:headEnd type="none" w="med" len="med"/>
              <a:tailEnd type="none" w="med" len="med"/>
            </a:ln>
          </p:spPr>
        </p:sp>
        <p:sp>
          <p:nvSpPr>
            <p:cNvPr id="11281" name="Oval 17"/>
            <p:cNvSpPr/>
            <p:nvPr/>
          </p:nvSpPr>
          <p:spPr>
            <a:xfrm>
              <a:off x="9150" y="3499"/>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282" name="Line 18"/>
            <p:cNvSpPr/>
            <p:nvPr/>
          </p:nvSpPr>
          <p:spPr>
            <a:xfrm>
              <a:off x="6030" y="2882"/>
              <a:ext cx="0" cy="312"/>
            </a:xfrm>
            <a:prstGeom prst="line">
              <a:avLst/>
            </a:prstGeom>
            <a:ln w="9525" cap="flat" cmpd="sng">
              <a:solidFill>
                <a:srgbClr val="000000"/>
              </a:solidFill>
              <a:prstDash val="solid"/>
              <a:headEnd type="none" w="med" len="med"/>
              <a:tailEnd type="none" w="med" len="med"/>
            </a:ln>
          </p:spPr>
        </p:sp>
        <p:sp>
          <p:nvSpPr>
            <p:cNvPr id="11283" name="Line 19"/>
            <p:cNvSpPr/>
            <p:nvPr/>
          </p:nvSpPr>
          <p:spPr>
            <a:xfrm>
              <a:off x="7830" y="2897"/>
              <a:ext cx="0" cy="312"/>
            </a:xfrm>
            <a:prstGeom prst="line">
              <a:avLst/>
            </a:prstGeom>
            <a:ln w="9525" cap="flat" cmpd="sng">
              <a:solidFill>
                <a:srgbClr val="000000"/>
              </a:solidFill>
              <a:prstDash val="solid"/>
              <a:headEnd type="none" w="med" len="med"/>
              <a:tailEnd type="none" w="med" len="med"/>
            </a:ln>
          </p:spPr>
        </p:sp>
        <p:sp>
          <p:nvSpPr>
            <p:cNvPr id="11284" name="Line 20"/>
            <p:cNvSpPr/>
            <p:nvPr/>
          </p:nvSpPr>
          <p:spPr>
            <a:xfrm>
              <a:off x="9450" y="2897"/>
              <a:ext cx="0" cy="312"/>
            </a:xfrm>
            <a:prstGeom prst="line">
              <a:avLst/>
            </a:prstGeom>
            <a:ln w="9525" cap="flat" cmpd="sng">
              <a:solidFill>
                <a:srgbClr val="000000"/>
              </a:solidFill>
              <a:prstDash val="solid"/>
              <a:headEnd type="none" w="med" len="med"/>
              <a:tailEnd type="none" w="med" len="med"/>
            </a:ln>
          </p:spPr>
        </p:sp>
        <p:sp>
          <p:nvSpPr>
            <p:cNvPr id="11285" name="Line 21"/>
            <p:cNvSpPr/>
            <p:nvPr/>
          </p:nvSpPr>
          <p:spPr>
            <a:xfrm>
              <a:off x="2382" y="3209"/>
              <a:ext cx="0" cy="255"/>
            </a:xfrm>
            <a:prstGeom prst="line">
              <a:avLst/>
            </a:prstGeom>
            <a:ln w="9525" cap="flat" cmpd="sng">
              <a:solidFill>
                <a:srgbClr val="000000"/>
              </a:solidFill>
              <a:prstDash val="solid"/>
              <a:headEnd type="none" w="med" len="med"/>
              <a:tailEnd type="none" w="med" len="med"/>
            </a:ln>
          </p:spPr>
        </p:sp>
        <p:sp>
          <p:nvSpPr>
            <p:cNvPr id="11286" name="Line 22"/>
            <p:cNvSpPr/>
            <p:nvPr/>
          </p:nvSpPr>
          <p:spPr>
            <a:xfrm>
              <a:off x="2925" y="5228"/>
              <a:ext cx="6361" cy="0"/>
            </a:xfrm>
            <a:prstGeom prst="line">
              <a:avLst/>
            </a:prstGeom>
            <a:ln w="9525" cap="flat" cmpd="sng">
              <a:solidFill>
                <a:srgbClr val="000000"/>
              </a:solidFill>
              <a:prstDash val="solid"/>
              <a:headEnd type="none" w="med" len="med"/>
              <a:tailEnd type="none" w="med" len="med"/>
            </a:ln>
          </p:spPr>
        </p:sp>
        <p:sp>
          <p:nvSpPr>
            <p:cNvPr id="11287" name="Line 23"/>
            <p:cNvSpPr/>
            <p:nvPr/>
          </p:nvSpPr>
          <p:spPr>
            <a:xfrm>
              <a:off x="2820" y="5690"/>
              <a:ext cx="0" cy="113"/>
            </a:xfrm>
            <a:prstGeom prst="line">
              <a:avLst/>
            </a:prstGeom>
            <a:ln w="9525" cap="flat" cmpd="sng">
              <a:solidFill>
                <a:srgbClr val="000000"/>
              </a:solidFill>
              <a:prstDash val="solid"/>
              <a:headEnd type="none" w="med" len="med"/>
              <a:tailEnd type="none" w="med" len="med"/>
            </a:ln>
          </p:spPr>
        </p:sp>
        <p:sp>
          <p:nvSpPr>
            <p:cNvPr id="11288" name="Line 24"/>
            <p:cNvSpPr/>
            <p:nvPr/>
          </p:nvSpPr>
          <p:spPr>
            <a:xfrm>
              <a:off x="2985" y="5690"/>
              <a:ext cx="0" cy="113"/>
            </a:xfrm>
            <a:prstGeom prst="line">
              <a:avLst/>
            </a:prstGeom>
            <a:ln w="9525" cap="flat" cmpd="sng">
              <a:solidFill>
                <a:srgbClr val="000000"/>
              </a:solidFill>
              <a:prstDash val="solid"/>
              <a:headEnd type="none" w="med" len="med"/>
              <a:tailEnd type="none" w="med" len="med"/>
            </a:ln>
          </p:spPr>
        </p:sp>
        <p:sp>
          <p:nvSpPr>
            <p:cNvPr id="11289" name="Line 25"/>
            <p:cNvSpPr/>
            <p:nvPr/>
          </p:nvSpPr>
          <p:spPr>
            <a:xfrm>
              <a:off x="2508" y="5816"/>
              <a:ext cx="312" cy="0"/>
            </a:xfrm>
            <a:prstGeom prst="line">
              <a:avLst/>
            </a:prstGeom>
            <a:ln w="9525" cap="flat" cmpd="sng">
              <a:solidFill>
                <a:srgbClr val="000000"/>
              </a:solidFill>
              <a:prstDash val="solid"/>
              <a:headEnd type="none" w="med" len="med"/>
              <a:tailEnd type="none" w="med" len="med"/>
            </a:ln>
          </p:spPr>
        </p:sp>
        <p:sp>
          <p:nvSpPr>
            <p:cNvPr id="11290" name="Line 26"/>
            <p:cNvSpPr/>
            <p:nvPr/>
          </p:nvSpPr>
          <p:spPr>
            <a:xfrm>
              <a:off x="2490" y="5816"/>
              <a:ext cx="0" cy="156"/>
            </a:xfrm>
            <a:prstGeom prst="line">
              <a:avLst/>
            </a:prstGeom>
            <a:ln w="9525" cap="flat" cmpd="sng">
              <a:solidFill>
                <a:srgbClr val="000000"/>
              </a:solidFill>
              <a:prstDash val="solid"/>
              <a:headEnd type="none" w="med" len="med"/>
              <a:tailEnd type="none" w="med" len="med"/>
            </a:ln>
          </p:spPr>
        </p:sp>
        <p:sp>
          <p:nvSpPr>
            <p:cNvPr id="11291" name="Line 27"/>
            <p:cNvSpPr/>
            <p:nvPr/>
          </p:nvSpPr>
          <p:spPr>
            <a:xfrm>
              <a:off x="3300" y="5816"/>
              <a:ext cx="0" cy="156"/>
            </a:xfrm>
            <a:prstGeom prst="line">
              <a:avLst/>
            </a:prstGeom>
            <a:ln w="9525" cap="flat" cmpd="sng">
              <a:solidFill>
                <a:srgbClr val="000000"/>
              </a:solidFill>
              <a:prstDash val="solid"/>
              <a:headEnd type="none" w="med" len="med"/>
              <a:tailEnd type="none" w="med" len="med"/>
            </a:ln>
          </p:spPr>
        </p:sp>
        <p:sp>
          <p:nvSpPr>
            <p:cNvPr id="11292" name="Line 28"/>
            <p:cNvSpPr/>
            <p:nvPr/>
          </p:nvSpPr>
          <p:spPr>
            <a:xfrm>
              <a:off x="2985" y="5816"/>
              <a:ext cx="312" cy="0"/>
            </a:xfrm>
            <a:prstGeom prst="line">
              <a:avLst/>
            </a:prstGeom>
            <a:ln w="9525" cap="flat" cmpd="sng">
              <a:solidFill>
                <a:srgbClr val="000000"/>
              </a:solidFill>
              <a:prstDash val="solid"/>
              <a:headEnd type="none" w="med" len="med"/>
              <a:tailEnd type="none" w="med" len="med"/>
            </a:ln>
          </p:spPr>
        </p:sp>
        <p:sp>
          <p:nvSpPr>
            <p:cNvPr id="11293" name="Rectangle 29"/>
            <p:cNvSpPr/>
            <p:nvPr/>
          </p:nvSpPr>
          <p:spPr>
            <a:xfrm>
              <a:off x="3600" y="6365"/>
              <a:ext cx="540" cy="312"/>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D</a:t>
              </a:r>
              <a:r>
                <a:rPr lang="en-US" altLang="zh-CN" sz="2000" i="1" baseline="-25000" dirty="0">
                  <a:latin typeface="Times New Roman" panose="02020603050405020304" pitchFamily="18" charset="0"/>
                </a:rPr>
                <a:t>R </a:t>
              </a:r>
              <a:endParaRPr lang="en-US" altLang="zh-CN" sz="4000" dirty="0">
                <a:latin typeface="Arial" panose="020B0604020202020204" pitchFamily="34" charset="0"/>
              </a:endParaRPr>
            </a:p>
          </p:txBody>
        </p:sp>
        <p:sp>
          <p:nvSpPr>
            <p:cNvPr id="11294" name="Line 30"/>
            <p:cNvSpPr/>
            <p:nvPr/>
          </p:nvSpPr>
          <p:spPr>
            <a:xfrm>
              <a:off x="3315" y="5399"/>
              <a:ext cx="6120" cy="0"/>
            </a:xfrm>
            <a:prstGeom prst="line">
              <a:avLst/>
            </a:prstGeom>
            <a:ln w="9525" cap="flat" cmpd="sng">
              <a:solidFill>
                <a:srgbClr val="000000"/>
              </a:solidFill>
              <a:prstDash val="solid"/>
              <a:headEnd type="none" w="med" len="med"/>
              <a:tailEnd type="none" w="med" len="med"/>
            </a:ln>
          </p:spPr>
        </p:sp>
        <p:sp>
          <p:nvSpPr>
            <p:cNvPr id="11295" name="Line 31"/>
            <p:cNvSpPr/>
            <p:nvPr/>
          </p:nvSpPr>
          <p:spPr>
            <a:xfrm>
              <a:off x="6135" y="4955"/>
              <a:ext cx="2700" cy="0"/>
            </a:xfrm>
            <a:prstGeom prst="line">
              <a:avLst/>
            </a:prstGeom>
            <a:ln w="38100" cap="flat" cmpd="sng">
              <a:solidFill>
                <a:schemeClr val="bg2"/>
              </a:solidFill>
              <a:prstDash val="solid"/>
              <a:headEnd type="none" w="med" len="med"/>
              <a:tailEnd type="none" w="med" len="med"/>
            </a:ln>
          </p:spPr>
        </p:sp>
        <p:sp>
          <p:nvSpPr>
            <p:cNvPr id="11296" name="Rectangle 32"/>
            <p:cNvSpPr/>
            <p:nvPr/>
          </p:nvSpPr>
          <p:spPr>
            <a:xfrm>
              <a:off x="10123" y="6179"/>
              <a:ext cx="10" cy="621"/>
            </a:xfrm>
            <a:prstGeom prst="rect">
              <a:avLst/>
            </a:prstGeom>
            <a:solidFill>
              <a:srgbClr val="FFFFFF"/>
            </a:solidFill>
            <a:ln w="9525" cap="flat" cmpd="sng">
              <a:solidFill>
                <a:srgbClr val="FFFFFF"/>
              </a:solidFill>
              <a:prstDash val="solid"/>
              <a:miter/>
              <a:headEnd type="none" w="med" len="med"/>
              <a:tailEnd type="none" w="med" len="med"/>
            </a:ln>
          </p:spPr>
          <p:txBody>
            <a:bodyPr wrap="none" lIns="0" tIns="0" rIns="0" bIns="0">
              <a:spAutoFit/>
            </a:bodyPr>
            <a:lstStyle/>
            <a:p>
              <a:pPr algn="just"/>
              <a:endParaRPr lang="zh-CN" altLang="zh-CN" sz="4000" dirty="0">
                <a:latin typeface="Arial" panose="020B0604020202020204" pitchFamily="34" charset="0"/>
              </a:endParaRPr>
            </a:p>
          </p:txBody>
        </p:sp>
        <p:sp>
          <p:nvSpPr>
            <p:cNvPr id="11297" name="Rectangle 33"/>
            <p:cNvSpPr/>
            <p:nvPr/>
          </p:nvSpPr>
          <p:spPr>
            <a:xfrm>
              <a:off x="3180" y="6347"/>
              <a:ext cx="540" cy="312"/>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A </a:t>
              </a:r>
              <a:endParaRPr lang="en-US" altLang="zh-CN" sz="4000" dirty="0">
                <a:latin typeface="Arial" panose="020B0604020202020204" pitchFamily="34" charset="0"/>
              </a:endParaRPr>
            </a:p>
          </p:txBody>
        </p:sp>
        <p:sp>
          <p:nvSpPr>
            <p:cNvPr id="11298" name="Rectangle 34"/>
            <p:cNvSpPr/>
            <p:nvPr/>
          </p:nvSpPr>
          <p:spPr>
            <a:xfrm>
              <a:off x="2340" y="6329"/>
              <a:ext cx="540" cy="312"/>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B</a:t>
              </a:r>
              <a:endParaRPr lang="en-US" altLang="zh-CN" sz="4000" dirty="0">
                <a:latin typeface="Arial" panose="020B0604020202020204" pitchFamily="34" charset="0"/>
              </a:endParaRPr>
            </a:p>
          </p:txBody>
        </p:sp>
        <p:sp>
          <p:nvSpPr>
            <p:cNvPr id="11299" name="Rectangle 35"/>
            <p:cNvSpPr/>
            <p:nvPr/>
          </p:nvSpPr>
          <p:spPr>
            <a:xfrm>
              <a:off x="3960" y="2228"/>
              <a:ext cx="900" cy="624"/>
            </a:xfrm>
            <a:prstGeom prst="rect">
              <a:avLst/>
            </a:prstGeom>
            <a:solidFill>
              <a:srgbClr val="CCFFFF"/>
            </a:solidFill>
            <a:ln w="9525" cap="flat" cmpd="sng">
              <a:solidFill>
                <a:srgbClr val="000000"/>
              </a:solidFill>
              <a:prstDash val="solid"/>
              <a:miter/>
              <a:headEnd type="none" w="med" len="med"/>
              <a:tailEnd type="none" w="med" len="med"/>
            </a:ln>
          </p:spPr>
          <p:txBody>
            <a:bodyPr lIns="0" tIns="0" rIns="0" bIns="0"/>
            <a:lstStyle/>
            <a:p>
              <a:pPr algn="just">
                <a:lnSpc>
                  <a:spcPct val="96000"/>
                </a:lnSpc>
              </a:pP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D  C  R</a:t>
              </a:r>
              <a:endParaRPr lang="en-US" altLang="zh-CN" sz="4000" dirty="0">
                <a:latin typeface="Arial" panose="020B0604020202020204" pitchFamily="34" charset="0"/>
              </a:endParaRPr>
            </a:p>
          </p:txBody>
        </p:sp>
        <p:sp>
          <p:nvSpPr>
            <p:cNvPr id="11300" name="Freeform 36"/>
            <p:cNvSpPr/>
            <p:nvPr/>
          </p:nvSpPr>
          <p:spPr>
            <a:xfrm>
              <a:off x="4321" y="2767"/>
              <a:ext cx="170" cy="85"/>
            </a:xfrm>
            <a:custGeom>
              <a:avLst/>
              <a:gdLst>
                <a:gd name="txL" fmla="*/ 0 w 360"/>
                <a:gd name="txT" fmla="*/ 0 h 202"/>
                <a:gd name="txR" fmla="*/ 360 w 360"/>
                <a:gd name="txB" fmla="*/ 202 h 202"/>
              </a:gdLst>
              <a:ahLst/>
              <a:cxnLst>
                <a:cxn ang="0">
                  <a:pos x="0" y="36"/>
                </a:cxn>
                <a:cxn ang="0">
                  <a:pos x="37" y="0"/>
                </a:cxn>
                <a:cxn ang="0">
                  <a:pos x="80" y="36"/>
                </a:cxn>
              </a:cxnLst>
              <a:rect l="txL" t="txT" r="txR" b="txB"/>
              <a:pathLst>
                <a:path w="360" h="202">
                  <a:moveTo>
                    <a:pt x="0" y="201"/>
                  </a:moveTo>
                  <a:lnTo>
                    <a:pt x="165" y="0"/>
                  </a:lnTo>
                  <a:lnTo>
                    <a:pt x="360" y="202"/>
                  </a:lnTo>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a:p>
          </p:txBody>
        </p:sp>
        <p:sp>
          <p:nvSpPr>
            <p:cNvPr id="11301" name="Line 37"/>
            <p:cNvSpPr/>
            <p:nvPr/>
          </p:nvSpPr>
          <p:spPr>
            <a:xfrm>
              <a:off x="4410" y="1760"/>
              <a:ext cx="0" cy="468"/>
            </a:xfrm>
            <a:prstGeom prst="line">
              <a:avLst/>
            </a:prstGeom>
            <a:ln w="9525" cap="flat" cmpd="sng">
              <a:solidFill>
                <a:srgbClr val="000000"/>
              </a:solidFill>
              <a:prstDash val="solid"/>
              <a:headEnd type="none" w="med" len="med"/>
              <a:tailEnd type="none" w="med" len="med"/>
            </a:ln>
          </p:spPr>
        </p:sp>
        <p:sp>
          <p:nvSpPr>
            <p:cNvPr id="11302" name="Oval 38"/>
            <p:cNvSpPr/>
            <p:nvPr/>
          </p:nvSpPr>
          <p:spPr>
            <a:xfrm>
              <a:off x="4379" y="1961"/>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03" name="Line 39"/>
            <p:cNvSpPr/>
            <p:nvPr/>
          </p:nvSpPr>
          <p:spPr>
            <a:xfrm>
              <a:off x="4410" y="1991"/>
              <a:ext cx="607" cy="0"/>
            </a:xfrm>
            <a:prstGeom prst="line">
              <a:avLst/>
            </a:prstGeom>
            <a:ln w="25400" cap="flat" cmpd="sng">
              <a:solidFill>
                <a:srgbClr val="FF0000"/>
              </a:solidFill>
              <a:prstDash val="solid"/>
              <a:headEnd type="none" w="med" len="med"/>
              <a:tailEnd type="none" w="med" len="med"/>
            </a:ln>
          </p:spPr>
        </p:sp>
        <p:sp>
          <p:nvSpPr>
            <p:cNvPr id="11304" name="Rectangle 40"/>
            <p:cNvSpPr/>
            <p:nvPr/>
          </p:nvSpPr>
          <p:spPr>
            <a:xfrm>
              <a:off x="4302" y="1448"/>
              <a:ext cx="540" cy="312"/>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4000" dirty="0">
                <a:latin typeface="Arial" panose="020B0604020202020204" pitchFamily="34" charset="0"/>
              </a:endParaRPr>
            </a:p>
          </p:txBody>
        </p:sp>
        <p:sp>
          <p:nvSpPr>
            <p:cNvPr id="11305" name="Oval 41"/>
            <p:cNvSpPr/>
            <p:nvPr/>
          </p:nvSpPr>
          <p:spPr>
            <a:xfrm>
              <a:off x="3269" y="6128"/>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06" name="Oval 42"/>
            <p:cNvSpPr/>
            <p:nvPr/>
          </p:nvSpPr>
          <p:spPr>
            <a:xfrm>
              <a:off x="410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07" name="Oval 43"/>
            <p:cNvSpPr/>
            <p:nvPr/>
          </p:nvSpPr>
          <p:spPr>
            <a:xfrm>
              <a:off x="4380"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08" name="Oval 44"/>
            <p:cNvSpPr/>
            <p:nvPr/>
          </p:nvSpPr>
          <p:spPr>
            <a:xfrm>
              <a:off x="461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09" name="Line 45"/>
            <p:cNvSpPr/>
            <p:nvPr/>
          </p:nvSpPr>
          <p:spPr>
            <a:xfrm>
              <a:off x="4140" y="2913"/>
              <a:ext cx="0" cy="579"/>
            </a:xfrm>
            <a:prstGeom prst="line">
              <a:avLst/>
            </a:prstGeom>
            <a:ln w="9525" cap="flat" cmpd="sng">
              <a:solidFill>
                <a:srgbClr val="000000"/>
              </a:solidFill>
              <a:prstDash val="solid"/>
              <a:headEnd type="none" w="med" len="med"/>
              <a:tailEnd type="none" w="med" len="med"/>
            </a:ln>
          </p:spPr>
        </p:sp>
        <p:sp>
          <p:nvSpPr>
            <p:cNvPr id="11310" name="Line 46"/>
            <p:cNvSpPr/>
            <p:nvPr/>
          </p:nvSpPr>
          <p:spPr>
            <a:xfrm>
              <a:off x="4410" y="2905"/>
              <a:ext cx="0" cy="312"/>
            </a:xfrm>
            <a:prstGeom prst="line">
              <a:avLst/>
            </a:prstGeom>
            <a:ln w="9525" cap="flat" cmpd="sng">
              <a:solidFill>
                <a:srgbClr val="000000"/>
              </a:solidFill>
              <a:prstDash val="solid"/>
              <a:headEnd type="none" w="med" len="med"/>
              <a:tailEnd type="none" w="med" len="med"/>
            </a:ln>
          </p:spPr>
        </p:sp>
        <p:sp>
          <p:nvSpPr>
            <p:cNvPr id="11311" name="Line 47"/>
            <p:cNvSpPr/>
            <p:nvPr/>
          </p:nvSpPr>
          <p:spPr>
            <a:xfrm>
              <a:off x="4650" y="2905"/>
              <a:ext cx="0" cy="499"/>
            </a:xfrm>
            <a:prstGeom prst="line">
              <a:avLst/>
            </a:prstGeom>
            <a:ln w="9525" cap="flat" cmpd="sng">
              <a:solidFill>
                <a:srgbClr val="000000"/>
              </a:solidFill>
              <a:prstDash val="solid"/>
              <a:headEnd type="none" w="med" len="med"/>
              <a:tailEnd type="none" w="med" len="med"/>
            </a:ln>
          </p:spPr>
        </p:sp>
        <p:sp>
          <p:nvSpPr>
            <p:cNvPr id="11312" name="Rectangle 48"/>
            <p:cNvSpPr/>
            <p:nvPr/>
          </p:nvSpPr>
          <p:spPr>
            <a:xfrm>
              <a:off x="5580" y="2228"/>
              <a:ext cx="900" cy="624"/>
            </a:xfrm>
            <a:prstGeom prst="rect">
              <a:avLst/>
            </a:prstGeom>
            <a:solidFill>
              <a:srgbClr val="CCFFFF"/>
            </a:solidFill>
            <a:ln w="9525" cap="flat" cmpd="sng">
              <a:solidFill>
                <a:srgbClr val="000000"/>
              </a:solidFill>
              <a:prstDash val="solid"/>
              <a:miter/>
              <a:headEnd type="none" w="med" len="med"/>
              <a:tailEnd type="none" w="med" len="med"/>
            </a:ln>
          </p:spPr>
          <p:txBody>
            <a:bodyPr lIns="0" tIns="0" rIns="0" bIns="0"/>
            <a:lstStyle/>
            <a:p>
              <a:pPr algn="just">
                <a:lnSpc>
                  <a:spcPct val="96000"/>
                </a:lnSpc>
              </a:pP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D  C  R</a:t>
              </a:r>
              <a:endParaRPr lang="en-US" altLang="zh-CN" sz="4000" dirty="0">
                <a:latin typeface="Arial" panose="020B0604020202020204" pitchFamily="34" charset="0"/>
              </a:endParaRPr>
            </a:p>
          </p:txBody>
        </p:sp>
        <p:sp>
          <p:nvSpPr>
            <p:cNvPr id="11313" name="Freeform 49"/>
            <p:cNvSpPr/>
            <p:nvPr/>
          </p:nvSpPr>
          <p:spPr>
            <a:xfrm>
              <a:off x="5941" y="2767"/>
              <a:ext cx="170" cy="85"/>
            </a:xfrm>
            <a:custGeom>
              <a:avLst/>
              <a:gdLst>
                <a:gd name="txL" fmla="*/ 0 w 360"/>
                <a:gd name="txT" fmla="*/ 0 h 202"/>
                <a:gd name="txR" fmla="*/ 360 w 360"/>
                <a:gd name="txB" fmla="*/ 202 h 202"/>
              </a:gdLst>
              <a:ahLst/>
              <a:cxnLst>
                <a:cxn ang="0">
                  <a:pos x="0" y="36"/>
                </a:cxn>
                <a:cxn ang="0">
                  <a:pos x="37" y="0"/>
                </a:cxn>
                <a:cxn ang="0">
                  <a:pos x="80" y="36"/>
                </a:cxn>
              </a:cxnLst>
              <a:rect l="txL" t="txT" r="txR" b="txB"/>
              <a:pathLst>
                <a:path w="360" h="202">
                  <a:moveTo>
                    <a:pt x="0" y="201"/>
                  </a:moveTo>
                  <a:lnTo>
                    <a:pt x="165" y="0"/>
                  </a:lnTo>
                  <a:lnTo>
                    <a:pt x="360" y="202"/>
                  </a:lnTo>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a:p>
          </p:txBody>
        </p:sp>
        <p:sp>
          <p:nvSpPr>
            <p:cNvPr id="11314" name="Line 50"/>
            <p:cNvSpPr/>
            <p:nvPr/>
          </p:nvSpPr>
          <p:spPr>
            <a:xfrm>
              <a:off x="6030" y="1760"/>
              <a:ext cx="0" cy="468"/>
            </a:xfrm>
            <a:prstGeom prst="line">
              <a:avLst/>
            </a:prstGeom>
            <a:ln w="9525" cap="flat" cmpd="sng">
              <a:solidFill>
                <a:srgbClr val="000000"/>
              </a:solidFill>
              <a:prstDash val="solid"/>
              <a:headEnd type="none" w="med" len="med"/>
              <a:tailEnd type="none" w="med" len="med"/>
            </a:ln>
          </p:spPr>
        </p:sp>
        <p:sp>
          <p:nvSpPr>
            <p:cNvPr id="11315" name="Oval 51"/>
            <p:cNvSpPr/>
            <p:nvPr/>
          </p:nvSpPr>
          <p:spPr>
            <a:xfrm>
              <a:off x="5999" y="1961"/>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16" name="Line 52"/>
            <p:cNvSpPr/>
            <p:nvPr/>
          </p:nvSpPr>
          <p:spPr>
            <a:xfrm>
              <a:off x="6030" y="1991"/>
              <a:ext cx="720" cy="0"/>
            </a:xfrm>
            <a:prstGeom prst="line">
              <a:avLst/>
            </a:prstGeom>
            <a:ln w="25400" cap="flat" cmpd="sng">
              <a:solidFill>
                <a:srgbClr val="FF0000"/>
              </a:solidFill>
              <a:prstDash val="solid"/>
              <a:headEnd type="none" w="med" len="med"/>
              <a:tailEnd type="none" w="med" len="med"/>
            </a:ln>
          </p:spPr>
        </p:sp>
        <p:sp>
          <p:nvSpPr>
            <p:cNvPr id="11317" name="Rectangle 53"/>
            <p:cNvSpPr/>
            <p:nvPr/>
          </p:nvSpPr>
          <p:spPr>
            <a:xfrm>
              <a:off x="5922" y="1448"/>
              <a:ext cx="540" cy="312"/>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endParaRPr lang="en-US" altLang="zh-CN" sz="4000" dirty="0">
                <a:latin typeface="Arial" panose="020B0604020202020204" pitchFamily="34" charset="0"/>
              </a:endParaRPr>
            </a:p>
          </p:txBody>
        </p:sp>
        <p:sp>
          <p:nvSpPr>
            <p:cNvPr id="11318" name="Oval 54"/>
            <p:cNvSpPr/>
            <p:nvPr/>
          </p:nvSpPr>
          <p:spPr>
            <a:xfrm>
              <a:off x="572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19" name="Oval 55"/>
            <p:cNvSpPr/>
            <p:nvPr/>
          </p:nvSpPr>
          <p:spPr>
            <a:xfrm>
              <a:off x="6000"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20" name="Oval 56"/>
            <p:cNvSpPr/>
            <p:nvPr/>
          </p:nvSpPr>
          <p:spPr>
            <a:xfrm>
              <a:off x="623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21" name="Oval 57"/>
            <p:cNvSpPr/>
            <p:nvPr/>
          </p:nvSpPr>
          <p:spPr>
            <a:xfrm>
              <a:off x="5730" y="3491"/>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22" name="Rectangle 58"/>
            <p:cNvSpPr/>
            <p:nvPr/>
          </p:nvSpPr>
          <p:spPr>
            <a:xfrm>
              <a:off x="7380" y="2228"/>
              <a:ext cx="900" cy="624"/>
            </a:xfrm>
            <a:prstGeom prst="rect">
              <a:avLst/>
            </a:prstGeom>
            <a:solidFill>
              <a:srgbClr val="CCFFFF"/>
            </a:solidFill>
            <a:ln w="9525" cap="flat" cmpd="sng">
              <a:solidFill>
                <a:srgbClr val="000000"/>
              </a:solidFill>
              <a:prstDash val="solid"/>
              <a:miter/>
              <a:headEnd type="none" w="med" len="med"/>
              <a:tailEnd type="none" w="med" len="med"/>
            </a:ln>
          </p:spPr>
          <p:txBody>
            <a:bodyPr lIns="0" tIns="0" rIns="0" bIns="0"/>
            <a:lstStyle/>
            <a:p>
              <a:pPr algn="just">
                <a:lnSpc>
                  <a:spcPct val="96000"/>
                </a:lnSpc>
              </a:pP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D  C  R</a:t>
              </a:r>
              <a:endParaRPr lang="en-US" altLang="zh-CN" sz="4000" dirty="0">
                <a:latin typeface="Arial" panose="020B0604020202020204" pitchFamily="34" charset="0"/>
              </a:endParaRPr>
            </a:p>
          </p:txBody>
        </p:sp>
        <p:sp>
          <p:nvSpPr>
            <p:cNvPr id="11323" name="Freeform 59"/>
            <p:cNvSpPr/>
            <p:nvPr/>
          </p:nvSpPr>
          <p:spPr>
            <a:xfrm>
              <a:off x="7741" y="2767"/>
              <a:ext cx="170" cy="85"/>
            </a:xfrm>
            <a:custGeom>
              <a:avLst/>
              <a:gdLst>
                <a:gd name="txL" fmla="*/ 0 w 360"/>
                <a:gd name="txT" fmla="*/ 0 h 202"/>
                <a:gd name="txR" fmla="*/ 360 w 360"/>
                <a:gd name="txB" fmla="*/ 202 h 202"/>
              </a:gdLst>
              <a:ahLst/>
              <a:cxnLst>
                <a:cxn ang="0">
                  <a:pos x="0" y="36"/>
                </a:cxn>
                <a:cxn ang="0">
                  <a:pos x="37" y="0"/>
                </a:cxn>
                <a:cxn ang="0">
                  <a:pos x="80" y="36"/>
                </a:cxn>
              </a:cxnLst>
              <a:rect l="txL" t="txT" r="txR" b="txB"/>
              <a:pathLst>
                <a:path w="360" h="202">
                  <a:moveTo>
                    <a:pt x="0" y="201"/>
                  </a:moveTo>
                  <a:lnTo>
                    <a:pt x="165" y="0"/>
                  </a:lnTo>
                  <a:lnTo>
                    <a:pt x="360" y="202"/>
                  </a:lnTo>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a:p>
          </p:txBody>
        </p:sp>
        <p:sp>
          <p:nvSpPr>
            <p:cNvPr id="11324" name="Line 60"/>
            <p:cNvSpPr/>
            <p:nvPr/>
          </p:nvSpPr>
          <p:spPr>
            <a:xfrm>
              <a:off x="7830" y="1760"/>
              <a:ext cx="0" cy="468"/>
            </a:xfrm>
            <a:prstGeom prst="line">
              <a:avLst/>
            </a:prstGeom>
            <a:ln w="9525" cap="flat" cmpd="sng">
              <a:solidFill>
                <a:srgbClr val="000000"/>
              </a:solidFill>
              <a:prstDash val="solid"/>
              <a:headEnd type="none" w="med" len="med"/>
              <a:tailEnd type="none" w="med" len="med"/>
            </a:ln>
          </p:spPr>
        </p:sp>
        <p:sp>
          <p:nvSpPr>
            <p:cNvPr id="11325" name="Oval 61"/>
            <p:cNvSpPr/>
            <p:nvPr/>
          </p:nvSpPr>
          <p:spPr>
            <a:xfrm>
              <a:off x="7799" y="1961"/>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26" name="Line 62"/>
            <p:cNvSpPr/>
            <p:nvPr/>
          </p:nvSpPr>
          <p:spPr>
            <a:xfrm>
              <a:off x="7842" y="1991"/>
              <a:ext cx="607" cy="0"/>
            </a:xfrm>
            <a:prstGeom prst="line">
              <a:avLst/>
            </a:prstGeom>
            <a:ln w="25400" cap="flat" cmpd="sng">
              <a:solidFill>
                <a:srgbClr val="FF0000"/>
              </a:solidFill>
              <a:prstDash val="solid"/>
              <a:headEnd type="none" w="med" len="med"/>
              <a:tailEnd type="none" w="med" len="med"/>
            </a:ln>
          </p:spPr>
        </p:sp>
        <p:sp>
          <p:nvSpPr>
            <p:cNvPr id="11327" name="Rectangle 63"/>
            <p:cNvSpPr/>
            <p:nvPr/>
          </p:nvSpPr>
          <p:spPr>
            <a:xfrm>
              <a:off x="7722" y="1448"/>
              <a:ext cx="540" cy="312"/>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4000" dirty="0">
                <a:latin typeface="Arial" panose="020B0604020202020204" pitchFamily="34" charset="0"/>
              </a:endParaRPr>
            </a:p>
          </p:txBody>
        </p:sp>
        <p:sp>
          <p:nvSpPr>
            <p:cNvPr id="11328" name="Oval 64"/>
            <p:cNvSpPr/>
            <p:nvPr/>
          </p:nvSpPr>
          <p:spPr>
            <a:xfrm>
              <a:off x="752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29" name="Oval 65"/>
            <p:cNvSpPr/>
            <p:nvPr/>
          </p:nvSpPr>
          <p:spPr>
            <a:xfrm>
              <a:off x="7800"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30" name="Oval 66"/>
            <p:cNvSpPr/>
            <p:nvPr/>
          </p:nvSpPr>
          <p:spPr>
            <a:xfrm>
              <a:off x="8055"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31" name="Line 67"/>
            <p:cNvSpPr/>
            <p:nvPr/>
          </p:nvSpPr>
          <p:spPr>
            <a:xfrm>
              <a:off x="7560" y="2897"/>
              <a:ext cx="0" cy="579"/>
            </a:xfrm>
            <a:prstGeom prst="line">
              <a:avLst/>
            </a:prstGeom>
            <a:ln w="9525" cap="flat" cmpd="sng">
              <a:solidFill>
                <a:srgbClr val="000000"/>
              </a:solidFill>
              <a:prstDash val="solid"/>
              <a:headEnd type="none" w="med" len="med"/>
              <a:tailEnd type="none" w="med" len="med"/>
            </a:ln>
          </p:spPr>
        </p:sp>
        <p:sp>
          <p:nvSpPr>
            <p:cNvPr id="11332" name="Oval 68"/>
            <p:cNvSpPr/>
            <p:nvPr/>
          </p:nvSpPr>
          <p:spPr>
            <a:xfrm>
              <a:off x="7530" y="3491"/>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33" name="Rectangle 69"/>
            <p:cNvSpPr/>
            <p:nvPr/>
          </p:nvSpPr>
          <p:spPr>
            <a:xfrm>
              <a:off x="9000" y="2228"/>
              <a:ext cx="900" cy="624"/>
            </a:xfrm>
            <a:prstGeom prst="rect">
              <a:avLst/>
            </a:prstGeom>
            <a:solidFill>
              <a:srgbClr val="CCFFFF"/>
            </a:solidFill>
            <a:ln w="9525" cap="flat" cmpd="sng">
              <a:solidFill>
                <a:srgbClr val="000000"/>
              </a:solidFill>
              <a:prstDash val="solid"/>
              <a:miter/>
              <a:headEnd type="none" w="med" len="med"/>
              <a:tailEnd type="none" w="med" len="med"/>
            </a:ln>
          </p:spPr>
          <p:txBody>
            <a:bodyPr lIns="0" tIns="0" rIns="0" bIns="0"/>
            <a:lstStyle/>
            <a:p>
              <a:pPr algn="just">
                <a:lnSpc>
                  <a:spcPct val="96000"/>
                </a:lnSpc>
              </a:pP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D  C  R</a:t>
              </a:r>
              <a:endParaRPr lang="en-US" altLang="zh-CN" sz="4000" dirty="0">
                <a:latin typeface="Arial" panose="020B0604020202020204" pitchFamily="34" charset="0"/>
              </a:endParaRPr>
            </a:p>
          </p:txBody>
        </p:sp>
        <p:sp>
          <p:nvSpPr>
            <p:cNvPr id="11334" name="Freeform 70"/>
            <p:cNvSpPr/>
            <p:nvPr/>
          </p:nvSpPr>
          <p:spPr>
            <a:xfrm>
              <a:off x="9361" y="2767"/>
              <a:ext cx="170" cy="85"/>
            </a:xfrm>
            <a:custGeom>
              <a:avLst/>
              <a:gdLst>
                <a:gd name="txL" fmla="*/ 0 w 360"/>
                <a:gd name="txT" fmla="*/ 0 h 202"/>
                <a:gd name="txR" fmla="*/ 360 w 360"/>
                <a:gd name="txB" fmla="*/ 202 h 202"/>
              </a:gdLst>
              <a:ahLst/>
              <a:cxnLst>
                <a:cxn ang="0">
                  <a:pos x="0" y="36"/>
                </a:cxn>
                <a:cxn ang="0">
                  <a:pos x="37" y="0"/>
                </a:cxn>
                <a:cxn ang="0">
                  <a:pos x="80" y="36"/>
                </a:cxn>
              </a:cxnLst>
              <a:rect l="txL" t="txT" r="txR" b="txB"/>
              <a:pathLst>
                <a:path w="360" h="202">
                  <a:moveTo>
                    <a:pt x="0" y="201"/>
                  </a:moveTo>
                  <a:lnTo>
                    <a:pt x="165" y="0"/>
                  </a:lnTo>
                  <a:lnTo>
                    <a:pt x="360" y="202"/>
                  </a:lnTo>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a:p>
          </p:txBody>
        </p:sp>
        <p:sp>
          <p:nvSpPr>
            <p:cNvPr id="11335" name="Line 71"/>
            <p:cNvSpPr/>
            <p:nvPr/>
          </p:nvSpPr>
          <p:spPr>
            <a:xfrm>
              <a:off x="9450" y="1760"/>
              <a:ext cx="0" cy="468"/>
            </a:xfrm>
            <a:prstGeom prst="line">
              <a:avLst/>
            </a:prstGeom>
            <a:ln w="9525" cap="flat" cmpd="sng">
              <a:solidFill>
                <a:srgbClr val="000000"/>
              </a:solidFill>
              <a:prstDash val="solid"/>
              <a:headEnd type="none" w="med" len="med"/>
              <a:tailEnd type="none" w="med" len="med"/>
            </a:ln>
          </p:spPr>
        </p:sp>
        <p:sp>
          <p:nvSpPr>
            <p:cNvPr id="11336" name="Oval 72"/>
            <p:cNvSpPr/>
            <p:nvPr/>
          </p:nvSpPr>
          <p:spPr>
            <a:xfrm>
              <a:off x="9419" y="1961"/>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37" name="Line 73"/>
            <p:cNvSpPr/>
            <p:nvPr/>
          </p:nvSpPr>
          <p:spPr>
            <a:xfrm>
              <a:off x="9450" y="1991"/>
              <a:ext cx="629" cy="0"/>
            </a:xfrm>
            <a:prstGeom prst="line">
              <a:avLst/>
            </a:prstGeom>
            <a:ln w="38100" cap="flat" cmpd="sng">
              <a:solidFill>
                <a:schemeClr val="bg2"/>
              </a:solidFill>
              <a:prstDash val="solid"/>
              <a:headEnd type="none" w="med" len="med"/>
              <a:tailEnd type="none" w="med" len="med"/>
            </a:ln>
          </p:spPr>
        </p:sp>
        <p:sp>
          <p:nvSpPr>
            <p:cNvPr id="11338" name="Rectangle 74"/>
            <p:cNvSpPr/>
            <p:nvPr/>
          </p:nvSpPr>
          <p:spPr>
            <a:xfrm>
              <a:off x="9342" y="1448"/>
              <a:ext cx="540" cy="312"/>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endParaRPr lang="en-US" altLang="zh-CN" sz="4000" dirty="0">
                <a:latin typeface="Arial" panose="020B0604020202020204" pitchFamily="34" charset="0"/>
              </a:endParaRPr>
            </a:p>
          </p:txBody>
        </p:sp>
        <p:sp>
          <p:nvSpPr>
            <p:cNvPr id="11339" name="Oval 75"/>
            <p:cNvSpPr/>
            <p:nvPr/>
          </p:nvSpPr>
          <p:spPr>
            <a:xfrm>
              <a:off x="914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40" name="Oval 76"/>
            <p:cNvSpPr/>
            <p:nvPr/>
          </p:nvSpPr>
          <p:spPr>
            <a:xfrm>
              <a:off x="9420"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41" name="Oval 77"/>
            <p:cNvSpPr/>
            <p:nvPr/>
          </p:nvSpPr>
          <p:spPr>
            <a:xfrm>
              <a:off x="9659" y="2852"/>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42" name="Rectangle 78"/>
            <p:cNvSpPr/>
            <p:nvPr/>
          </p:nvSpPr>
          <p:spPr>
            <a:xfrm>
              <a:off x="3675" y="3557"/>
              <a:ext cx="900" cy="780"/>
            </a:xfrm>
            <a:prstGeom prst="rect">
              <a:avLst/>
            </a:prstGeom>
            <a:solidFill>
              <a:srgbClr val="FFCC99"/>
            </a:solidFill>
            <a:ln w="9525" cap="flat" cmpd="sng">
              <a:solidFill>
                <a:srgbClr val="000000"/>
              </a:solidFill>
              <a:prstDash val="solid"/>
              <a:miter/>
              <a:headEnd type="none" w="med" len="med"/>
              <a:tailEnd type="none" w="med" len="med"/>
            </a:ln>
          </p:spPr>
          <p:txBody>
            <a:bodyPr/>
            <a:lstStyle/>
            <a:p>
              <a:pPr algn="just"/>
              <a:r>
                <a:rPr lang="en-US" altLang="zh-CN" sz="2000" dirty="0">
                  <a:latin typeface="宋体" panose="02010600030101010101" pitchFamily="2" charset="-122"/>
                </a:rPr>
                <a:t>≥1</a:t>
              </a:r>
            </a:p>
            <a:p>
              <a:pPr algn="just"/>
              <a:r>
                <a:rPr lang="en-US" altLang="zh-CN" sz="2000" dirty="0">
                  <a:latin typeface="宋体" panose="02010600030101010101" pitchFamily="2" charset="-122"/>
                </a:rPr>
                <a:t>&amp;</a:t>
              </a:r>
              <a:endParaRPr lang="en-US" altLang="zh-CN" sz="4000" dirty="0">
                <a:latin typeface="Arial" panose="020B0604020202020204" pitchFamily="34" charset="0"/>
              </a:endParaRPr>
            </a:p>
          </p:txBody>
        </p:sp>
        <p:sp>
          <p:nvSpPr>
            <p:cNvPr id="11343" name="Line 79"/>
            <p:cNvSpPr/>
            <p:nvPr/>
          </p:nvSpPr>
          <p:spPr>
            <a:xfrm>
              <a:off x="3675" y="3944"/>
              <a:ext cx="900" cy="0"/>
            </a:xfrm>
            <a:prstGeom prst="line">
              <a:avLst/>
            </a:prstGeom>
            <a:ln w="9525" cap="flat" cmpd="sng">
              <a:solidFill>
                <a:srgbClr val="000000"/>
              </a:solidFill>
              <a:prstDash val="solid"/>
              <a:headEnd type="none" w="med" len="med"/>
              <a:tailEnd type="none" w="med" len="med"/>
            </a:ln>
          </p:spPr>
        </p:sp>
        <p:sp>
          <p:nvSpPr>
            <p:cNvPr id="11344" name="Line 80"/>
            <p:cNvSpPr/>
            <p:nvPr/>
          </p:nvSpPr>
          <p:spPr>
            <a:xfrm>
              <a:off x="3990" y="3959"/>
              <a:ext cx="0" cy="369"/>
            </a:xfrm>
            <a:prstGeom prst="line">
              <a:avLst/>
            </a:prstGeom>
            <a:ln w="9525" cap="flat" cmpd="sng">
              <a:solidFill>
                <a:srgbClr val="000000"/>
              </a:solidFill>
              <a:prstDash val="solid"/>
              <a:headEnd type="none" w="med" len="med"/>
              <a:tailEnd type="none" w="med" len="med"/>
            </a:ln>
          </p:spPr>
        </p:sp>
        <p:sp>
          <p:nvSpPr>
            <p:cNvPr id="11345" name="Line 81"/>
            <p:cNvSpPr/>
            <p:nvPr/>
          </p:nvSpPr>
          <p:spPr>
            <a:xfrm>
              <a:off x="4290" y="3944"/>
              <a:ext cx="0" cy="380"/>
            </a:xfrm>
            <a:prstGeom prst="line">
              <a:avLst/>
            </a:prstGeom>
            <a:ln w="9525" cap="flat" cmpd="sng">
              <a:solidFill>
                <a:srgbClr val="000000"/>
              </a:solidFill>
              <a:prstDash val="solid"/>
              <a:headEnd type="none" w="med" len="med"/>
              <a:tailEnd type="none" w="med" len="med"/>
            </a:ln>
          </p:spPr>
        </p:sp>
        <p:sp>
          <p:nvSpPr>
            <p:cNvPr id="11346" name="Rectangle 82"/>
            <p:cNvSpPr/>
            <p:nvPr/>
          </p:nvSpPr>
          <p:spPr>
            <a:xfrm>
              <a:off x="5310" y="3557"/>
              <a:ext cx="900" cy="780"/>
            </a:xfrm>
            <a:prstGeom prst="rect">
              <a:avLst/>
            </a:prstGeom>
            <a:solidFill>
              <a:srgbClr val="FFCC99"/>
            </a:solidFill>
            <a:ln w="9525" cap="flat" cmpd="sng">
              <a:solidFill>
                <a:srgbClr val="000000"/>
              </a:solidFill>
              <a:prstDash val="solid"/>
              <a:miter/>
              <a:headEnd type="none" w="med" len="med"/>
              <a:tailEnd type="none" w="med" len="med"/>
            </a:ln>
          </p:spPr>
          <p:txBody>
            <a:bodyPr/>
            <a:lstStyle/>
            <a:p>
              <a:pPr algn="just"/>
              <a:r>
                <a:rPr lang="en-US" altLang="zh-CN" sz="2000" dirty="0">
                  <a:latin typeface="宋体" panose="02010600030101010101" pitchFamily="2" charset="-122"/>
                </a:rPr>
                <a:t>≥1</a:t>
              </a:r>
            </a:p>
            <a:p>
              <a:pPr algn="just"/>
              <a:r>
                <a:rPr lang="en-US" altLang="zh-CN" sz="2000" dirty="0">
                  <a:latin typeface="宋体" panose="02010600030101010101" pitchFamily="2" charset="-122"/>
                </a:rPr>
                <a:t>&amp;</a:t>
              </a:r>
              <a:endParaRPr lang="en-US" altLang="zh-CN" sz="4000" dirty="0">
                <a:latin typeface="Arial" panose="020B0604020202020204" pitchFamily="34" charset="0"/>
              </a:endParaRPr>
            </a:p>
          </p:txBody>
        </p:sp>
        <p:sp>
          <p:nvSpPr>
            <p:cNvPr id="11347" name="Line 83"/>
            <p:cNvSpPr/>
            <p:nvPr/>
          </p:nvSpPr>
          <p:spPr>
            <a:xfrm>
              <a:off x="5310" y="3959"/>
              <a:ext cx="900" cy="0"/>
            </a:xfrm>
            <a:prstGeom prst="line">
              <a:avLst/>
            </a:prstGeom>
            <a:ln w="9525" cap="flat" cmpd="sng">
              <a:solidFill>
                <a:srgbClr val="000000"/>
              </a:solidFill>
              <a:prstDash val="solid"/>
              <a:headEnd type="none" w="med" len="med"/>
              <a:tailEnd type="none" w="med" len="med"/>
            </a:ln>
          </p:spPr>
        </p:sp>
        <p:sp>
          <p:nvSpPr>
            <p:cNvPr id="11348" name="Line 84"/>
            <p:cNvSpPr/>
            <p:nvPr/>
          </p:nvSpPr>
          <p:spPr>
            <a:xfrm>
              <a:off x="5610" y="3959"/>
              <a:ext cx="0" cy="369"/>
            </a:xfrm>
            <a:prstGeom prst="line">
              <a:avLst/>
            </a:prstGeom>
            <a:ln w="9525" cap="flat" cmpd="sng">
              <a:solidFill>
                <a:srgbClr val="000000"/>
              </a:solidFill>
              <a:prstDash val="solid"/>
              <a:headEnd type="none" w="med" len="med"/>
              <a:tailEnd type="none" w="med" len="med"/>
            </a:ln>
          </p:spPr>
        </p:sp>
        <p:sp>
          <p:nvSpPr>
            <p:cNvPr id="11349" name="Line 85"/>
            <p:cNvSpPr/>
            <p:nvPr/>
          </p:nvSpPr>
          <p:spPr>
            <a:xfrm>
              <a:off x="5925" y="3959"/>
              <a:ext cx="0" cy="380"/>
            </a:xfrm>
            <a:prstGeom prst="line">
              <a:avLst/>
            </a:prstGeom>
            <a:ln w="9525" cap="flat" cmpd="sng">
              <a:solidFill>
                <a:srgbClr val="000000"/>
              </a:solidFill>
              <a:prstDash val="solid"/>
              <a:headEnd type="none" w="med" len="med"/>
              <a:tailEnd type="none" w="med" len="med"/>
            </a:ln>
          </p:spPr>
        </p:sp>
        <p:sp>
          <p:nvSpPr>
            <p:cNvPr id="11350" name="Rectangle 86"/>
            <p:cNvSpPr/>
            <p:nvPr/>
          </p:nvSpPr>
          <p:spPr>
            <a:xfrm>
              <a:off x="7110" y="3557"/>
              <a:ext cx="900" cy="780"/>
            </a:xfrm>
            <a:prstGeom prst="rect">
              <a:avLst/>
            </a:prstGeom>
            <a:solidFill>
              <a:srgbClr val="FFCC99"/>
            </a:solidFill>
            <a:ln w="9525" cap="flat" cmpd="sng">
              <a:solidFill>
                <a:srgbClr val="000000"/>
              </a:solidFill>
              <a:prstDash val="solid"/>
              <a:miter/>
              <a:headEnd type="none" w="med" len="med"/>
              <a:tailEnd type="none" w="med" len="med"/>
            </a:ln>
          </p:spPr>
          <p:txBody>
            <a:bodyPr/>
            <a:lstStyle/>
            <a:p>
              <a:pPr algn="just"/>
              <a:r>
                <a:rPr lang="en-US" altLang="zh-CN" sz="2000" dirty="0">
                  <a:latin typeface="宋体" panose="02010600030101010101" pitchFamily="2" charset="-122"/>
                </a:rPr>
                <a:t>≥1</a:t>
              </a:r>
            </a:p>
            <a:p>
              <a:pPr algn="just"/>
              <a:r>
                <a:rPr lang="en-US" altLang="zh-CN" sz="2000" dirty="0">
                  <a:latin typeface="宋体" panose="02010600030101010101" pitchFamily="2" charset="-122"/>
                </a:rPr>
                <a:t>&amp;</a:t>
              </a:r>
              <a:endParaRPr lang="en-US" altLang="zh-CN" sz="4000" dirty="0">
                <a:latin typeface="Arial" panose="020B0604020202020204" pitchFamily="34" charset="0"/>
              </a:endParaRPr>
            </a:p>
          </p:txBody>
        </p:sp>
        <p:sp>
          <p:nvSpPr>
            <p:cNvPr id="11351" name="Line 87"/>
            <p:cNvSpPr/>
            <p:nvPr/>
          </p:nvSpPr>
          <p:spPr>
            <a:xfrm>
              <a:off x="7110" y="3959"/>
              <a:ext cx="900" cy="0"/>
            </a:xfrm>
            <a:prstGeom prst="line">
              <a:avLst/>
            </a:prstGeom>
            <a:ln w="9525" cap="flat" cmpd="sng">
              <a:solidFill>
                <a:srgbClr val="000000"/>
              </a:solidFill>
              <a:prstDash val="solid"/>
              <a:headEnd type="none" w="med" len="med"/>
              <a:tailEnd type="none" w="med" len="med"/>
            </a:ln>
          </p:spPr>
        </p:sp>
        <p:sp>
          <p:nvSpPr>
            <p:cNvPr id="11352" name="Line 88"/>
            <p:cNvSpPr/>
            <p:nvPr/>
          </p:nvSpPr>
          <p:spPr>
            <a:xfrm>
              <a:off x="7425" y="3959"/>
              <a:ext cx="0" cy="369"/>
            </a:xfrm>
            <a:prstGeom prst="line">
              <a:avLst/>
            </a:prstGeom>
            <a:ln w="9525" cap="flat" cmpd="sng">
              <a:solidFill>
                <a:srgbClr val="000000"/>
              </a:solidFill>
              <a:prstDash val="solid"/>
              <a:headEnd type="none" w="med" len="med"/>
              <a:tailEnd type="none" w="med" len="med"/>
            </a:ln>
          </p:spPr>
        </p:sp>
        <p:sp>
          <p:nvSpPr>
            <p:cNvPr id="11353" name="Line 89"/>
            <p:cNvSpPr/>
            <p:nvPr/>
          </p:nvSpPr>
          <p:spPr>
            <a:xfrm>
              <a:off x="7725" y="3959"/>
              <a:ext cx="0" cy="380"/>
            </a:xfrm>
            <a:prstGeom prst="line">
              <a:avLst/>
            </a:prstGeom>
            <a:ln w="9525" cap="flat" cmpd="sng">
              <a:solidFill>
                <a:srgbClr val="000000"/>
              </a:solidFill>
              <a:prstDash val="solid"/>
              <a:headEnd type="none" w="med" len="med"/>
              <a:tailEnd type="none" w="med" len="med"/>
            </a:ln>
          </p:spPr>
        </p:sp>
        <p:sp>
          <p:nvSpPr>
            <p:cNvPr id="11354" name="Rectangle 90"/>
            <p:cNvSpPr/>
            <p:nvPr/>
          </p:nvSpPr>
          <p:spPr>
            <a:xfrm>
              <a:off x="8730" y="3566"/>
              <a:ext cx="900" cy="780"/>
            </a:xfrm>
            <a:prstGeom prst="rect">
              <a:avLst/>
            </a:prstGeom>
            <a:solidFill>
              <a:srgbClr val="FFCC99"/>
            </a:solidFill>
            <a:ln w="9525" cap="flat" cmpd="sng">
              <a:solidFill>
                <a:srgbClr val="000000"/>
              </a:solidFill>
              <a:prstDash val="solid"/>
              <a:miter/>
              <a:headEnd type="none" w="med" len="med"/>
              <a:tailEnd type="none" w="med" len="med"/>
            </a:ln>
          </p:spPr>
          <p:txBody>
            <a:bodyPr/>
            <a:lstStyle/>
            <a:p>
              <a:pPr algn="just"/>
              <a:r>
                <a:rPr lang="en-US" altLang="zh-CN" sz="2000" dirty="0">
                  <a:latin typeface="宋体" panose="02010600030101010101" pitchFamily="2" charset="-122"/>
                </a:rPr>
                <a:t>≥1</a:t>
              </a:r>
            </a:p>
            <a:p>
              <a:pPr algn="just"/>
              <a:r>
                <a:rPr lang="en-US" altLang="zh-CN" sz="2000" dirty="0">
                  <a:latin typeface="宋体" panose="02010600030101010101" pitchFamily="2" charset="-122"/>
                </a:rPr>
                <a:t>&amp;</a:t>
              </a:r>
              <a:endParaRPr lang="en-US" altLang="zh-CN" sz="4000" dirty="0">
                <a:latin typeface="Arial" panose="020B0604020202020204" pitchFamily="34" charset="0"/>
              </a:endParaRPr>
            </a:p>
          </p:txBody>
        </p:sp>
        <p:sp>
          <p:nvSpPr>
            <p:cNvPr id="11355" name="Line 91"/>
            <p:cNvSpPr/>
            <p:nvPr/>
          </p:nvSpPr>
          <p:spPr>
            <a:xfrm>
              <a:off x="8730" y="3968"/>
              <a:ext cx="900" cy="0"/>
            </a:xfrm>
            <a:prstGeom prst="line">
              <a:avLst/>
            </a:prstGeom>
            <a:ln w="9525" cap="flat" cmpd="sng">
              <a:solidFill>
                <a:srgbClr val="000000"/>
              </a:solidFill>
              <a:prstDash val="solid"/>
              <a:headEnd type="none" w="med" len="med"/>
              <a:tailEnd type="none" w="med" len="med"/>
            </a:ln>
          </p:spPr>
        </p:sp>
        <p:sp>
          <p:nvSpPr>
            <p:cNvPr id="11356" name="Line 92"/>
            <p:cNvSpPr/>
            <p:nvPr/>
          </p:nvSpPr>
          <p:spPr>
            <a:xfrm>
              <a:off x="9060" y="3967"/>
              <a:ext cx="0" cy="369"/>
            </a:xfrm>
            <a:prstGeom prst="line">
              <a:avLst/>
            </a:prstGeom>
            <a:ln w="9525" cap="flat" cmpd="sng">
              <a:solidFill>
                <a:srgbClr val="000000"/>
              </a:solidFill>
              <a:prstDash val="solid"/>
              <a:headEnd type="none" w="med" len="med"/>
              <a:tailEnd type="none" w="med" len="med"/>
            </a:ln>
          </p:spPr>
        </p:sp>
        <p:sp>
          <p:nvSpPr>
            <p:cNvPr id="11357" name="Line 93"/>
            <p:cNvSpPr/>
            <p:nvPr/>
          </p:nvSpPr>
          <p:spPr>
            <a:xfrm>
              <a:off x="9345" y="3968"/>
              <a:ext cx="0" cy="380"/>
            </a:xfrm>
            <a:prstGeom prst="line">
              <a:avLst/>
            </a:prstGeom>
            <a:ln w="9525" cap="flat" cmpd="sng">
              <a:solidFill>
                <a:srgbClr val="000000"/>
              </a:solidFill>
              <a:prstDash val="solid"/>
              <a:headEnd type="none" w="med" len="med"/>
              <a:tailEnd type="none" w="med" len="med"/>
            </a:ln>
          </p:spPr>
        </p:sp>
        <p:sp>
          <p:nvSpPr>
            <p:cNvPr id="11358" name="Rectangle 94"/>
            <p:cNvSpPr/>
            <p:nvPr/>
          </p:nvSpPr>
          <p:spPr>
            <a:xfrm>
              <a:off x="1932" y="3542"/>
              <a:ext cx="900" cy="780"/>
            </a:xfrm>
            <a:prstGeom prst="rect">
              <a:avLst/>
            </a:prstGeom>
            <a:solidFill>
              <a:srgbClr val="FFCC99"/>
            </a:solidFill>
            <a:ln w="9525" cap="flat" cmpd="sng">
              <a:solidFill>
                <a:srgbClr val="000000"/>
              </a:solidFill>
              <a:prstDash val="solid"/>
              <a:miter/>
              <a:headEnd type="none" w="med" len="med"/>
              <a:tailEnd type="none" w="med" len="med"/>
            </a:ln>
          </p:spPr>
          <p:txBody>
            <a:bodyPr/>
            <a:lstStyle/>
            <a:p>
              <a:pPr algn="just"/>
              <a:r>
                <a:rPr lang="en-US" altLang="zh-CN" sz="2000" dirty="0">
                  <a:latin typeface="宋体" panose="02010600030101010101" pitchFamily="2" charset="-122"/>
                </a:rPr>
                <a:t>≥1</a:t>
              </a:r>
            </a:p>
            <a:p>
              <a:pPr algn="just"/>
              <a:r>
                <a:rPr lang="en-US" altLang="zh-CN" sz="2000" dirty="0">
                  <a:latin typeface="宋体" panose="02010600030101010101" pitchFamily="2" charset="-122"/>
                </a:rPr>
                <a:t>&amp;</a:t>
              </a:r>
              <a:endParaRPr lang="en-US" altLang="zh-CN" sz="4000" dirty="0">
                <a:latin typeface="Arial" panose="020B0604020202020204" pitchFamily="34" charset="0"/>
              </a:endParaRPr>
            </a:p>
          </p:txBody>
        </p:sp>
        <p:sp>
          <p:nvSpPr>
            <p:cNvPr id="11359" name="Line 95"/>
            <p:cNvSpPr/>
            <p:nvPr/>
          </p:nvSpPr>
          <p:spPr>
            <a:xfrm>
              <a:off x="1932" y="3944"/>
              <a:ext cx="900" cy="0"/>
            </a:xfrm>
            <a:prstGeom prst="line">
              <a:avLst/>
            </a:prstGeom>
            <a:ln w="9525" cap="flat" cmpd="sng">
              <a:solidFill>
                <a:srgbClr val="000000"/>
              </a:solidFill>
              <a:prstDash val="solid"/>
              <a:headEnd type="none" w="med" len="med"/>
              <a:tailEnd type="none" w="med" len="med"/>
            </a:ln>
          </p:spPr>
        </p:sp>
        <p:sp>
          <p:nvSpPr>
            <p:cNvPr id="11360" name="Line 96"/>
            <p:cNvSpPr/>
            <p:nvPr/>
          </p:nvSpPr>
          <p:spPr>
            <a:xfrm>
              <a:off x="2412" y="3944"/>
              <a:ext cx="0" cy="369"/>
            </a:xfrm>
            <a:prstGeom prst="line">
              <a:avLst/>
            </a:prstGeom>
            <a:ln w="9525" cap="flat" cmpd="sng">
              <a:solidFill>
                <a:srgbClr val="000000"/>
              </a:solidFill>
              <a:prstDash val="solid"/>
              <a:headEnd type="none" w="med" len="med"/>
              <a:tailEnd type="none" w="med" len="med"/>
            </a:ln>
          </p:spPr>
        </p:sp>
        <p:sp>
          <p:nvSpPr>
            <p:cNvPr id="11361" name="Oval 97"/>
            <p:cNvSpPr/>
            <p:nvPr/>
          </p:nvSpPr>
          <p:spPr>
            <a:xfrm>
              <a:off x="2352" y="3476"/>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62" name="Line 98"/>
            <p:cNvSpPr/>
            <p:nvPr/>
          </p:nvSpPr>
          <p:spPr>
            <a:xfrm>
              <a:off x="2376" y="3204"/>
              <a:ext cx="7074" cy="5"/>
            </a:xfrm>
            <a:prstGeom prst="line">
              <a:avLst/>
            </a:prstGeom>
            <a:ln w="9525" cap="flat" cmpd="sng">
              <a:solidFill>
                <a:srgbClr val="000000"/>
              </a:solidFill>
              <a:prstDash val="solid"/>
              <a:headEnd type="none" w="med" len="med"/>
              <a:tailEnd type="none" w="med" len="med"/>
            </a:ln>
          </p:spPr>
        </p:sp>
        <p:sp>
          <p:nvSpPr>
            <p:cNvPr id="11363" name="Line 99"/>
            <p:cNvSpPr/>
            <p:nvPr/>
          </p:nvSpPr>
          <p:spPr>
            <a:xfrm>
              <a:off x="4650" y="3401"/>
              <a:ext cx="5580" cy="0"/>
            </a:xfrm>
            <a:prstGeom prst="line">
              <a:avLst/>
            </a:prstGeom>
            <a:ln w="9525" cap="flat" cmpd="sng">
              <a:solidFill>
                <a:srgbClr val="000000"/>
              </a:solidFill>
              <a:prstDash val="solid"/>
              <a:headEnd type="none" w="med" len="med"/>
              <a:tailEnd type="none" w="med" len="med"/>
            </a:ln>
          </p:spPr>
        </p:sp>
        <p:sp>
          <p:nvSpPr>
            <p:cNvPr id="11364" name="Oval 100"/>
            <p:cNvSpPr/>
            <p:nvPr/>
          </p:nvSpPr>
          <p:spPr>
            <a:xfrm>
              <a:off x="6239" y="3373"/>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65" name="Oval 101"/>
            <p:cNvSpPr/>
            <p:nvPr/>
          </p:nvSpPr>
          <p:spPr>
            <a:xfrm>
              <a:off x="8054" y="3366"/>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66" name="Oval 102"/>
            <p:cNvSpPr/>
            <p:nvPr/>
          </p:nvSpPr>
          <p:spPr>
            <a:xfrm>
              <a:off x="9659" y="3373"/>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67" name="Line 103"/>
            <p:cNvSpPr/>
            <p:nvPr/>
          </p:nvSpPr>
          <p:spPr>
            <a:xfrm>
              <a:off x="2125" y="4322"/>
              <a:ext cx="0" cy="2028"/>
            </a:xfrm>
            <a:prstGeom prst="line">
              <a:avLst/>
            </a:prstGeom>
            <a:ln w="9525" cap="flat" cmpd="sng">
              <a:solidFill>
                <a:srgbClr val="000000"/>
              </a:solidFill>
              <a:prstDash val="solid"/>
              <a:headEnd type="none" w="med" len="med"/>
              <a:tailEnd type="none" w="med" len="med"/>
            </a:ln>
          </p:spPr>
        </p:sp>
        <p:sp>
          <p:nvSpPr>
            <p:cNvPr id="11368" name="Line 104"/>
            <p:cNvSpPr/>
            <p:nvPr/>
          </p:nvSpPr>
          <p:spPr>
            <a:xfrm>
              <a:off x="3765" y="4337"/>
              <a:ext cx="0" cy="2028"/>
            </a:xfrm>
            <a:prstGeom prst="line">
              <a:avLst/>
            </a:prstGeom>
            <a:ln w="25400" cap="flat" cmpd="sng">
              <a:solidFill>
                <a:srgbClr val="FF0000"/>
              </a:solidFill>
              <a:prstDash val="solid"/>
              <a:headEnd type="stealth" w="med" len="med"/>
              <a:tailEnd type="none" w="med" len="med"/>
            </a:ln>
          </p:spPr>
        </p:sp>
        <p:sp>
          <p:nvSpPr>
            <p:cNvPr id="11369" name="Line 105"/>
            <p:cNvSpPr/>
            <p:nvPr/>
          </p:nvSpPr>
          <p:spPr>
            <a:xfrm>
              <a:off x="4080" y="4337"/>
              <a:ext cx="0" cy="2028"/>
            </a:xfrm>
            <a:prstGeom prst="line">
              <a:avLst/>
            </a:prstGeom>
            <a:ln w="9525" cap="flat" cmpd="sng">
              <a:solidFill>
                <a:srgbClr val="000000"/>
              </a:solidFill>
              <a:prstDash val="solid"/>
              <a:headEnd type="none" w="med" len="med"/>
              <a:tailEnd type="none" w="med" len="med"/>
            </a:ln>
          </p:spPr>
        </p:sp>
        <p:sp>
          <p:nvSpPr>
            <p:cNvPr id="11370" name="Line 106"/>
            <p:cNvSpPr/>
            <p:nvPr/>
          </p:nvSpPr>
          <p:spPr>
            <a:xfrm>
              <a:off x="5025" y="1991"/>
              <a:ext cx="0" cy="2653"/>
            </a:xfrm>
            <a:prstGeom prst="line">
              <a:avLst/>
            </a:prstGeom>
            <a:ln w="25400" cap="flat" cmpd="sng">
              <a:solidFill>
                <a:srgbClr val="FF0000"/>
              </a:solidFill>
              <a:prstDash val="solid"/>
              <a:headEnd type="none" w="med" len="med"/>
              <a:tailEnd type="stealth" w="med" len="med"/>
            </a:ln>
          </p:spPr>
        </p:sp>
        <p:sp>
          <p:nvSpPr>
            <p:cNvPr id="11371" name="Line 107"/>
            <p:cNvSpPr/>
            <p:nvPr/>
          </p:nvSpPr>
          <p:spPr>
            <a:xfrm>
              <a:off x="5025" y="4649"/>
              <a:ext cx="360" cy="0"/>
            </a:xfrm>
            <a:prstGeom prst="line">
              <a:avLst/>
            </a:prstGeom>
            <a:ln w="25400" cap="flat" cmpd="sng">
              <a:solidFill>
                <a:srgbClr val="FF0000"/>
              </a:solidFill>
              <a:prstDash val="solid"/>
              <a:headEnd type="none" w="med" len="med"/>
              <a:tailEnd type="none" w="med" len="med"/>
            </a:ln>
          </p:spPr>
        </p:sp>
        <p:sp>
          <p:nvSpPr>
            <p:cNvPr id="11372" name="Line 108"/>
            <p:cNvSpPr/>
            <p:nvPr/>
          </p:nvSpPr>
          <p:spPr>
            <a:xfrm>
              <a:off x="5385" y="4346"/>
              <a:ext cx="0" cy="289"/>
            </a:xfrm>
            <a:prstGeom prst="line">
              <a:avLst/>
            </a:prstGeom>
            <a:ln w="25400" cap="flat" cmpd="sng">
              <a:solidFill>
                <a:srgbClr val="FF0000"/>
              </a:solidFill>
              <a:prstDash val="solid"/>
              <a:headEnd type="none" w="med" len="med"/>
              <a:tailEnd type="none" w="med" len="med"/>
            </a:ln>
          </p:spPr>
        </p:sp>
        <p:sp>
          <p:nvSpPr>
            <p:cNvPr id="11373" name="Line 109"/>
            <p:cNvSpPr/>
            <p:nvPr/>
          </p:nvSpPr>
          <p:spPr>
            <a:xfrm>
              <a:off x="3915" y="4337"/>
              <a:ext cx="0" cy="726"/>
            </a:xfrm>
            <a:prstGeom prst="line">
              <a:avLst/>
            </a:prstGeom>
            <a:ln w="9525" cap="flat" cmpd="sng">
              <a:solidFill>
                <a:srgbClr val="000000"/>
              </a:solidFill>
              <a:prstDash val="solid"/>
              <a:headEnd type="none" w="med" len="med"/>
              <a:tailEnd type="none" w="med" len="med"/>
            </a:ln>
          </p:spPr>
        </p:sp>
        <p:sp>
          <p:nvSpPr>
            <p:cNvPr id="11374" name="Line 110"/>
            <p:cNvSpPr/>
            <p:nvPr/>
          </p:nvSpPr>
          <p:spPr>
            <a:xfrm>
              <a:off x="4257" y="4343"/>
              <a:ext cx="0" cy="879"/>
            </a:xfrm>
            <a:prstGeom prst="line">
              <a:avLst/>
            </a:prstGeom>
            <a:ln w="9525" cap="flat" cmpd="sng">
              <a:solidFill>
                <a:srgbClr val="000000"/>
              </a:solidFill>
              <a:prstDash val="solid"/>
              <a:headEnd type="none" w="med" len="med"/>
              <a:tailEnd type="none" w="med" len="med"/>
            </a:ln>
          </p:spPr>
        </p:sp>
        <p:sp>
          <p:nvSpPr>
            <p:cNvPr id="11375" name="Line 111"/>
            <p:cNvSpPr/>
            <p:nvPr/>
          </p:nvSpPr>
          <p:spPr>
            <a:xfrm>
              <a:off x="4395" y="4346"/>
              <a:ext cx="0" cy="1049"/>
            </a:xfrm>
            <a:prstGeom prst="line">
              <a:avLst/>
            </a:prstGeom>
            <a:ln w="9525" cap="flat" cmpd="sng">
              <a:solidFill>
                <a:srgbClr val="000000"/>
              </a:solidFill>
              <a:prstDash val="solid"/>
              <a:headEnd type="none" w="med" len="med"/>
              <a:tailEnd type="none" w="med" len="med"/>
            </a:ln>
          </p:spPr>
        </p:sp>
        <p:sp>
          <p:nvSpPr>
            <p:cNvPr id="11376" name="Line 112"/>
            <p:cNvSpPr/>
            <p:nvPr/>
          </p:nvSpPr>
          <p:spPr>
            <a:xfrm>
              <a:off x="4530" y="4346"/>
              <a:ext cx="0" cy="459"/>
            </a:xfrm>
            <a:prstGeom prst="line">
              <a:avLst/>
            </a:prstGeom>
            <a:ln w="38100" cap="flat" cmpd="sng">
              <a:solidFill>
                <a:schemeClr val="bg2"/>
              </a:solidFill>
              <a:prstDash val="solid"/>
              <a:headEnd type="stealth" w="med" len="med"/>
              <a:tailEnd type="none" w="med" len="med"/>
            </a:ln>
          </p:spPr>
        </p:sp>
        <p:sp>
          <p:nvSpPr>
            <p:cNvPr id="11377" name="Oval 113"/>
            <p:cNvSpPr/>
            <p:nvPr/>
          </p:nvSpPr>
          <p:spPr>
            <a:xfrm>
              <a:off x="3880" y="5036"/>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78" name="Oval 114"/>
            <p:cNvSpPr/>
            <p:nvPr/>
          </p:nvSpPr>
          <p:spPr>
            <a:xfrm>
              <a:off x="4223" y="5192"/>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79" name="Oval 115"/>
            <p:cNvSpPr/>
            <p:nvPr/>
          </p:nvSpPr>
          <p:spPr>
            <a:xfrm>
              <a:off x="4365" y="5378"/>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80" name="Line 116"/>
            <p:cNvSpPr/>
            <p:nvPr/>
          </p:nvSpPr>
          <p:spPr>
            <a:xfrm>
              <a:off x="5505" y="4337"/>
              <a:ext cx="0" cy="726"/>
            </a:xfrm>
            <a:prstGeom prst="line">
              <a:avLst/>
            </a:prstGeom>
            <a:ln w="9525" cap="flat" cmpd="sng">
              <a:solidFill>
                <a:srgbClr val="000000"/>
              </a:solidFill>
              <a:prstDash val="solid"/>
              <a:headEnd type="none" w="med" len="med"/>
              <a:tailEnd type="none" w="med" len="med"/>
            </a:ln>
          </p:spPr>
        </p:sp>
        <p:sp>
          <p:nvSpPr>
            <p:cNvPr id="11381" name="Oval 117"/>
            <p:cNvSpPr/>
            <p:nvPr/>
          </p:nvSpPr>
          <p:spPr>
            <a:xfrm>
              <a:off x="5478" y="5036"/>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82" name="Line 118"/>
            <p:cNvSpPr/>
            <p:nvPr/>
          </p:nvSpPr>
          <p:spPr>
            <a:xfrm>
              <a:off x="5655" y="4346"/>
              <a:ext cx="0" cy="2028"/>
            </a:xfrm>
            <a:prstGeom prst="line">
              <a:avLst/>
            </a:prstGeom>
            <a:ln w="9525" cap="flat" cmpd="sng">
              <a:solidFill>
                <a:srgbClr val="000000"/>
              </a:solidFill>
              <a:prstDash val="solid"/>
              <a:headEnd type="none" w="med" len="med"/>
              <a:tailEnd type="none" w="med" len="med"/>
            </a:ln>
          </p:spPr>
        </p:sp>
        <p:sp>
          <p:nvSpPr>
            <p:cNvPr id="11383" name="Line 119"/>
            <p:cNvSpPr/>
            <p:nvPr/>
          </p:nvSpPr>
          <p:spPr>
            <a:xfrm>
              <a:off x="5820" y="4346"/>
              <a:ext cx="0" cy="879"/>
            </a:xfrm>
            <a:prstGeom prst="line">
              <a:avLst/>
            </a:prstGeom>
            <a:ln w="9525" cap="flat" cmpd="sng">
              <a:solidFill>
                <a:srgbClr val="000000"/>
              </a:solidFill>
              <a:prstDash val="solid"/>
              <a:headEnd type="none" w="med" len="med"/>
              <a:tailEnd type="none" w="med" len="med"/>
            </a:ln>
          </p:spPr>
        </p:sp>
        <p:sp>
          <p:nvSpPr>
            <p:cNvPr id="11384" name="Oval 120"/>
            <p:cNvSpPr/>
            <p:nvPr/>
          </p:nvSpPr>
          <p:spPr>
            <a:xfrm>
              <a:off x="5793" y="5195"/>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85" name="Line 121"/>
            <p:cNvSpPr/>
            <p:nvPr/>
          </p:nvSpPr>
          <p:spPr>
            <a:xfrm>
              <a:off x="5985" y="4334"/>
              <a:ext cx="0" cy="1049"/>
            </a:xfrm>
            <a:prstGeom prst="line">
              <a:avLst/>
            </a:prstGeom>
            <a:ln w="9525" cap="flat" cmpd="sng">
              <a:solidFill>
                <a:srgbClr val="000000"/>
              </a:solidFill>
              <a:prstDash val="solid"/>
              <a:headEnd type="none" w="med" len="med"/>
              <a:tailEnd type="none" w="med" len="med"/>
            </a:ln>
          </p:spPr>
        </p:sp>
        <p:sp>
          <p:nvSpPr>
            <p:cNvPr id="11386" name="Oval 122"/>
            <p:cNvSpPr/>
            <p:nvPr/>
          </p:nvSpPr>
          <p:spPr>
            <a:xfrm>
              <a:off x="5955" y="5374"/>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87" name="Line 123"/>
            <p:cNvSpPr/>
            <p:nvPr/>
          </p:nvSpPr>
          <p:spPr>
            <a:xfrm>
              <a:off x="6138" y="4337"/>
              <a:ext cx="0" cy="624"/>
            </a:xfrm>
            <a:prstGeom prst="line">
              <a:avLst/>
            </a:prstGeom>
            <a:ln w="38100" cap="flat" cmpd="sng">
              <a:solidFill>
                <a:schemeClr val="bg2"/>
              </a:solidFill>
              <a:prstDash val="solid"/>
              <a:headEnd type="stealth" w="med" len="med"/>
              <a:tailEnd type="none" w="med" len="med"/>
            </a:ln>
          </p:spPr>
        </p:sp>
        <p:sp>
          <p:nvSpPr>
            <p:cNvPr id="11388" name="Line 124"/>
            <p:cNvSpPr/>
            <p:nvPr/>
          </p:nvSpPr>
          <p:spPr>
            <a:xfrm>
              <a:off x="7200" y="4337"/>
              <a:ext cx="0" cy="471"/>
            </a:xfrm>
            <a:prstGeom prst="line">
              <a:avLst/>
            </a:prstGeom>
            <a:ln w="25400" cap="flat" cmpd="sng">
              <a:solidFill>
                <a:srgbClr val="FF0000"/>
              </a:solidFill>
              <a:prstDash val="solid"/>
              <a:headEnd type="none" w="med" len="med"/>
              <a:tailEnd type="none" w="med" len="med"/>
            </a:ln>
          </p:spPr>
        </p:sp>
        <p:sp>
          <p:nvSpPr>
            <p:cNvPr id="11389" name="Line 125"/>
            <p:cNvSpPr/>
            <p:nvPr/>
          </p:nvSpPr>
          <p:spPr>
            <a:xfrm>
              <a:off x="7320" y="4343"/>
              <a:ext cx="0" cy="726"/>
            </a:xfrm>
            <a:prstGeom prst="line">
              <a:avLst/>
            </a:prstGeom>
            <a:ln w="9525" cap="flat" cmpd="sng">
              <a:solidFill>
                <a:srgbClr val="000000"/>
              </a:solidFill>
              <a:prstDash val="solid"/>
              <a:headEnd type="none" w="med" len="med"/>
              <a:tailEnd type="none" w="med" len="med"/>
            </a:ln>
          </p:spPr>
        </p:sp>
        <p:sp>
          <p:nvSpPr>
            <p:cNvPr id="11390" name="Oval 126"/>
            <p:cNvSpPr/>
            <p:nvPr/>
          </p:nvSpPr>
          <p:spPr>
            <a:xfrm>
              <a:off x="7293" y="5027"/>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91" name="Line 127"/>
            <p:cNvSpPr/>
            <p:nvPr/>
          </p:nvSpPr>
          <p:spPr>
            <a:xfrm>
              <a:off x="7470" y="4337"/>
              <a:ext cx="0" cy="2028"/>
            </a:xfrm>
            <a:prstGeom prst="line">
              <a:avLst/>
            </a:prstGeom>
            <a:ln w="9525" cap="flat" cmpd="sng">
              <a:solidFill>
                <a:srgbClr val="000000"/>
              </a:solidFill>
              <a:prstDash val="solid"/>
              <a:headEnd type="none" w="med" len="med"/>
              <a:tailEnd type="none" w="med" len="med"/>
            </a:ln>
          </p:spPr>
        </p:sp>
        <p:sp>
          <p:nvSpPr>
            <p:cNvPr id="11392" name="Line 128"/>
            <p:cNvSpPr/>
            <p:nvPr/>
          </p:nvSpPr>
          <p:spPr>
            <a:xfrm>
              <a:off x="7635" y="4337"/>
              <a:ext cx="0" cy="879"/>
            </a:xfrm>
            <a:prstGeom prst="line">
              <a:avLst/>
            </a:prstGeom>
            <a:ln w="9525" cap="flat" cmpd="sng">
              <a:solidFill>
                <a:srgbClr val="000000"/>
              </a:solidFill>
              <a:prstDash val="solid"/>
              <a:headEnd type="none" w="med" len="med"/>
              <a:tailEnd type="none" w="med" len="med"/>
            </a:ln>
          </p:spPr>
        </p:sp>
        <p:sp>
          <p:nvSpPr>
            <p:cNvPr id="11393" name="Oval 129"/>
            <p:cNvSpPr/>
            <p:nvPr/>
          </p:nvSpPr>
          <p:spPr>
            <a:xfrm>
              <a:off x="7608" y="5194"/>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94" name="Line 130"/>
            <p:cNvSpPr/>
            <p:nvPr/>
          </p:nvSpPr>
          <p:spPr>
            <a:xfrm>
              <a:off x="7800" y="4340"/>
              <a:ext cx="0" cy="1049"/>
            </a:xfrm>
            <a:prstGeom prst="line">
              <a:avLst/>
            </a:prstGeom>
            <a:ln w="9525" cap="flat" cmpd="sng">
              <a:solidFill>
                <a:srgbClr val="000000"/>
              </a:solidFill>
              <a:prstDash val="solid"/>
              <a:headEnd type="none" w="med" len="med"/>
              <a:tailEnd type="none" w="med" len="med"/>
            </a:ln>
          </p:spPr>
        </p:sp>
        <p:sp>
          <p:nvSpPr>
            <p:cNvPr id="11395" name="Oval 131"/>
            <p:cNvSpPr/>
            <p:nvPr/>
          </p:nvSpPr>
          <p:spPr>
            <a:xfrm>
              <a:off x="7770" y="5365"/>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96" name="Line 132"/>
            <p:cNvSpPr/>
            <p:nvPr/>
          </p:nvSpPr>
          <p:spPr>
            <a:xfrm>
              <a:off x="7950" y="4343"/>
              <a:ext cx="0" cy="459"/>
            </a:xfrm>
            <a:prstGeom prst="line">
              <a:avLst/>
            </a:prstGeom>
            <a:ln w="38100" cap="flat" cmpd="sng">
              <a:solidFill>
                <a:schemeClr val="bg2"/>
              </a:solidFill>
              <a:prstDash val="solid"/>
              <a:headEnd type="stealth" w="med" len="med"/>
              <a:tailEnd type="none" w="med" len="med"/>
            </a:ln>
          </p:spPr>
        </p:sp>
        <p:sp>
          <p:nvSpPr>
            <p:cNvPr id="11397" name="Line 133"/>
            <p:cNvSpPr/>
            <p:nvPr/>
          </p:nvSpPr>
          <p:spPr>
            <a:xfrm>
              <a:off x="6765" y="1991"/>
              <a:ext cx="0" cy="2808"/>
            </a:xfrm>
            <a:prstGeom prst="line">
              <a:avLst/>
            </a:prstGeom>
            <a:ln w="25400" cap="flat" cmpd="sng">
              <a:solidFill>
                <a:srgbClr val="FF0000"/>
              </a:solidFill>
              <a:prstDash val="solid"/>
              <a:headEnd type="none" w="med" len="med"/>
              <a:tailEnd type="stealth" w="med" len="med"/>
            </a:ln>
          </p:spPr>
        </p:sp>
        <p:sp>
          <p:nvSpPr>
            <p:cNvPr id="11398" name="Oval 134"/>
            <p:cNvSpPr/>
            <p:nvPr/>
          </p:nvSpPr>
          <p:spPr>
            <a:xfrm>
              <a:off x="6735" y="4791"/>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399" name="Line 135"/>
            <p:cNvSpPr/>
            <p:nvPr/>
          </p:nvSpPr>
          <p:spPr>
            <a:xfrm>
              <a:off x="4530" y="4820"/>
              <a:ext cx="2674" cy="4"/>
            </a:xfrm>
            <a:prstGeom prst="line">
              <a:avLst/>
            </a:prstGeom>
            <a:ln w="38100" cap="flat" cmpd="sng">
              <a:solidFill>
                <a:schemeClr val="bg2"/>
              </a:solidFill>
              <a:prstDash val="solid"/>
              <a:headEnd type="none" w="med" len="med"/>
              <a:tailEnd type="none" w="med" len="med"/>
            </a:ln>
          </p:spPr>
        </p:sp>
        <p:sp>
          <p:nvSpPr>
            <p:cNvPr id="11400" name="Line 136"/>
            <p:cNvSpPr/>
            <p:nvPr/>
          </p:nvSpPr>
          <p:spPr>
            <a:xfrm>
              <a:off x="2487" y="4331"/>
              <a:ext cx="0" cy="737"/>
            </a:xfrm>
            <a:prstGeom prst="line">
              <a:avLst/>
            </a:prstGeom>
            <a:ln w="9525" cap="flat" cmpd="sng">
              <a:solidFill>
                <a:srgbClr val="000000"/>
              </a:solidFill>
              <a:prstDash val="solid"/>
              <a:headEnd type="none" w="med" len="med"/>
              <a:tailEnd type="none" w="med" len="med"/>
            </a:ln>
          </p:spPr>
        </p:sp>
        <p:sp>
          <p:nvSpPr>
            <p:cNvPr id="11401" name="Line 137"/>
            <p:cNvSpPr/>
            <p:nvPr/>
          </p:nvSpPr>
          <p:spPr>
            <a:xfrm>
              <a:off x="2685" y="4331"/>
              <a:ext cx="0" cy="567"/>
            </a:xfrm>
            <a:prstGeom prst="line">
              <a:avLst/>
            </a:prstGeom>
            <a:ln w="9525" cap="flat" cmpd="sng">
              <a:solidFill>
                <a:srgbClr val="000000"/>
              </a:solidFill>
              <a:prstDash val="solid"/>
              <a:headEnd type="none" w="med" len="med"/>
              <a:tailEnd type="none" w="med" len="med"/>
            </a:ln>
          </p:spPr>
        </p:sp>
        <p:sp>
          <p:nvSpPr>
            <p:cNvPr id="11402" name="Line 138"/>
            <p:cNvSpPr/>
            <p:nvPr/>
          </p:nvSpPr>
          <p:spPr>
            <a:xfrm>
              <a:off x="8832" y="4346"/>
              <a:ext cx="0" cy="610"/>
            </a:xfrm>
            <a:prstGeom prst="line">
              <a:avLst/>
            </a:prstGeom>
            <a:ln w="25400" cap="flat" cmpd="sng">
              <a:solidFill>
                <a:srgbClr val="FF0000"/>
              </a:solidFill>
              <a:prstDash val="solid"/>
              <a:headEnd type="none" w="med" len="med"/>
              <a:tailEnd type="none" w="med" len="med"/>
            </a:ln>
          </p:spPr>
        </p:sp>
        <p:sp>
          <p:nvSpPr>
            <p:cNvPr id="11403" name="Line 139"/>
            <p:cNvSpPr/>
            <p:nvPr/>
          </p:nvSpPr>
          <p:spPr>
            <a:xfrm>
              <a:off x="8970" y="4345"/>
              <a:ext cx="0" cy="726"/>
            </a:xfrm>
            <a:prstGeom prst="line">
              <a:avLst/>
            </a:prstGeom>
            <a:ln w="9525" cap="flat" cmpd="sng">
              <a:solidFill>
                <a:srgbClr val="000000"/>
              </a:solidFill>
              <a:prstDash val="solid"/>
              <a:headEnd type="none" w="med" len="med"/>
              <a:tailEnd type="none" w="med" len="med"/>
            </a:ln>
          </p:spPr>
        </p:sp>
        <p:sp>
          <p:nvSpPr>
            <p:cNvPr id="11404" name="Line 140"/>
            <p:cNvSpPr/>
            <p:nvPr/>
          </p:nvSpPr>
          <p:spPr>
            <a:xfrm>
              <a:off x="9285" y="4345"/>
              <a:ext cx="0" cy="879"/>
            </a:xfrm>
            <a:prstGeom prst="line">
              <a:avLst/>
            </a:prstGeom>
            <a:ln w="9525" cap="flat" cmpd="sng">
              <a:solidFill>
                <a:srgbClr val="000000"/>
              </a:solidFill>
              <a:prstDash val="solid"/>
              <a:headEnd type="none" w="med" len="med"/>
              <a:tailEnd type="none" w="med" len="med"/>
            </a:ln>
          </p:spPr>
        </p:sp>
        <p:sp>
          <p:nvSpPr>
            <p:cNvPr id="11405" name="Line 141"/>
            <p:cNvSpPr/>
            <p:nvPr/>
          </p:nvSpPr>
          <p:spPr>
            <a:xfrm>
              <a:off x="9435" y="4345"/>
              <a:ext cx="0" cy="1049"/>
            </a:xfrm>
            <a:prstGeom prst="line">
              <a:avLst/>
            </a:prstGeom>
            <a:ln w="9525" cap="flat" cmpd="sng">
              <a:solidFill>
                <a:srgbClr val="000000"/>
              </a:solidFill>
              <a:prstDash val="solid"/>
              <a:headEnd type="none" w="med" len="med"/>
              <a:tailEnd type="none" w="med" len="med"/>
            </a:ln>
          </p:spPr>
        </p:sp>
        <p:sp>
          <p:nvSpPr>
            <p:cNvPr id="11406" name="Line 142"/>
            <p:cNvSpPr/>
            <p:nvPr/>
          </p:nvSpPr>
          <p:spPr>
            <a:xfrm>
              <a:off x="9135" y="4345"/>
              <a:ext cx="0" cy="2028"/>
            </a:xfrm>
            <a:prstGeom prst="line">
              <a:avLst/>
            </a:prstGeom>
            <a:ln w="9525" cap="flat" cmpd="sng">
              <a:solidFill>
                <a:srgbClr val="000000"/>
              </a:solidFill>
              <a:prstDash val="solid"/>
              <a:headEnd type="none" w="med" len="med"/>
              <a:tailEnd type="none" w="med" len="med"/>
            </a:ln>
          </p:spPr>
        </p:sp>
        <p:sp>
          <p:nvSpPr>
            <p:cNvPr id="11407" name="Line 143"/>
            <p:cNvSpPr/>
            <p:nvPr/>
          </p:nvSpPr>
          <p:spPr>
            <a:xfrm>
              <a:off x="9570" y="4345"/>
              <a:ext cx="0" cy="2028"/>
            </a:xfrm>
            <a:prstGeom prst="line">
              <a:avLst/>
            </a:prstGeom>
            <a:ln w="38100" cap="flat" cmpd="sng">
              <a:solidFill>
                <a:schemeClr val="bg2"/>
              </a:solidFill>
              <a:prstDash val="solid"/>
              <a:headEnd type="stealth" w="med" len="med"/>
              <a:tailEnd type="none" w="med" len="med"/>
            </a:ln>
          </p:spPr>
        </p:sp>
        <p:sp>
          <p:nvSpPr>
            <p:cNvPr id="11408" name="Line 144"/>
            <p:cNvSpPr/>
            <p:nvPr/>
          </p:nvSpPr>
          <p:spPr>
            <a:xfrm>
              <a:off x="2488" y="5064"/>
              <a:ext cx="6482" cy="2"/>
            </a:xfrm>
            <a:prstGeom prst="line">
              <a:avLst/>
            </a:prstGeom>
            <a:ln w="9525" cap="flat" cmpd="sng">
              <a:solidFill>
                <a:srgbClr val="000000"/>
              </a:solidFill>
              <a:prstDash val="solid"/>
              <a:headEnd type="none" w="med" len="med"/>
              <a:tailEnd type="none" w="med" len="med"/>
            </a:ln>
          </p:spPr>
        </p:sp>
        <p:sp>
          <p:nvSpPr>
            <p:cNvPr id="11409" name="Line 145"/>
            <p:cNvSpPr/>
            <p:nvPr/>
          </p:nvSpPr>
          <p:spPr>
            <a:xfrm>
              <a:off x="2910" y="5222"/>
              <a:ext cx="0" cy="156"/>
            </a:xfrm>
            <a:prstGeom prst="line">
              <a:avLst/>
            </a:prstGeom>
            <a:ln w="9525" cap="flat" cmpd="sng">
              <a:solidFill>
                <a:srgbClr val="000000"/>
              </a:solidFill>
              <a:prstDash val="solid"/>
              <a:headEnd type="none" w="med" len="med"/>
              <a:tailEnd type="none" w="med" len="med"/>
            </a:ln>
          </p:spPr>
        </p:sp>
        <p:sp>
          <p:nvSpPr>
            <p:cNvPr id="11410" name="Rectangle 146"/>
            <p:cNvSpPr/>
            <p:nvPr/>
          </p:nvSpPr>
          <p:spPr>
            <a:xfrm>
              <a:off x="2640" y="5423"/>
              <a:ext cx="540" cy="255"/>
            </a:xfrm>
            <a:prstGeom prst="rect">
              <a:avLst/>
            </a:prstGeom>
            <a:solidFill>
              <a:srgbClr val="FFFF99"/>
            </a:solidFill>
            <a:ln w="9525" cap="flat" cmpd="sng">
              <a:solidFill>
                <a:srgbClr val="000000"/>
              </a:solidFill>
              <a:prstDash val="solid"/>
              <a:miter/>
              <a:headEnd type="none" w="med" len="med"/>
              <a:tailEnd type="none" w="med" len="med"/>
            </a:ln>
          </p:spPr>
          <p:txBody>
            <a:bodyPr lIns="0" tIns="0" rIns="0" bIns="0"/>
            <a:lstStyle/>
            <a:p>
              <a:pPr algn="ctr"/>
              <a:r>
                <a:rPr lang="en-US" altLang="zh-CN" sz="2000" dirty="0">
                  <a:latin typeface="宋体" panose="02010600030101010101" pitchFamily="2" charset="-122"/>
                </a:rPr>
                <a:t>≥1</a:t>
              </a:r>
              <a:endParaRPr lang="en-US" altLang="zh-CN" sz="4000" dirty="0">
                <a:latin typeface="Arial" panose="020B0604020202020204" pitchFamily="34" charset="0"/>
              </a:endParaRPr>
            </a:p>
          </p:txBody>
        </p:sp>
        <p:sp>
          <p:nvSpPr>
            <p:cNvPr id="11411" name="Oval 147"/>
            <p:cNvSpPr/>
            <p:nvPr/>
          </p:nvSpPr>
          <p:spPr>
            <a:xfrm>
              <a:off x="2880" y="5363"/>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412" name="Rectangle 148"/>
            <p:cNvSpPr/>
            <p:nvPr/>
          </p:nvSpPr>
          <p:spPr>
            <a:xfrm>
              <a:off x="2322" y="5972"/>
              <a:ext cx="306" cy="156"/>
            </a:xfrm>
            <a:prstGeom prst="rect">
              <a:avLst/>
            </a:prstGeom>
            <a:solidFill>
              <a:srgbClr val="FFFF99"/>
            </a:solidFill>
            <a:ln w="9525" cap="flat" cmpd="sng">
              <a:solidFill>
                <a:srgbClr val="000000"/>
              </a:solidFill>
              <a:prstDash val="solid"/>
              <a:miter/>
              <a:headEnd type="none" w="med" len="med"/>
              <a:tailEnd type="none" w="med" len="med"/>
            </a:ln>
          </p:spPr>
          <p:txBody>
            <a:bodyPr/>
            <a:lstStyle/>
            <a:p>
              <a:endParaRPr lang="zh-CN" altLang="en-US" dirty="0">
                <a:latin typeface="Arial" panose="020B0604020202020204" pitchFamily="34" charset="0"/>
              </a:endParaRPr>
            </a:p>
          </p:txBody>
        </p:sp>
        <p:sp>
          <p:nvSpPr>
            <p:cNvPr id="11413" name="Rectangle 149"/>
            <p:cNvSpPr/>
            <p:nvPr/>
          </p:nvSpPr>
          <p:spPr>
            <a:xfrm>
              <a:off x="3150" y="5972"/>
              <a:ext cx="306" cy="156"/>
            </a:xfrm>
            <a:prstGeom prst="rect">
              <a:avLst/>
            </a:prstGeom>
            <a:solidFill>
              <a:srgbClr val="FFFF99"/>
            </a:solidFill>
            <a:ln w="9525" cap="flat" cmpd="sng">
              <a:solidFill>
                <a:srgbClr val="000000"/>
              </a:solidFill>
              <a:prstDash val="solid"/>
              <a:miter/>
              <a:headEnd type="none" w="med" len="med"/>
              <a:tailEnd type="none" w="med" len="med"/>
            </a:ln>
          </p:spPr>
          <p:txBody>
            <a:bodyPr/>
            <a:lstStyle/>
            <a:p>
              <a:endParaRPr lang="zh-CN" altLang="en-US" dirty="0">
                <a:latin typeface="Arial" panose="020B0604020202020204" pitchFamily="34" charset="0"/>
              </a:endParaRPr>
            </a:p>
          </p:txBody>
        </p:sp>
        <p:sp>
          <p:nvSpPr>
            <p:cNvPr id="11414" name="Oval 150"/>
            <p:cNvSpPr/>
            <p:nvPr/>
          </p:nvSpPr>
          <p:spPr>
            <a:xfrm>
              <a:off x="2453" y="6128"/>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415" name="Oval 151"/>
            <p:cNvSpPr/>
            <p:nvPr/>
          </p:nvSpPr>
          <p:spPr>
            <a:xfrm>
              <a:off x="2459" y="5780"/>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416" name="Line 152"/>
            <p:cNvSpPr/>
            <p:nvPr/>
          </p:nvSpPr>
          <p:spPr>
            <a:xfrm>
              <a:off x="2484" y="6181"/>
              <a:ext cx="0" cy="156"/>
            </a:xfrm>
            <a:prstGeom prst="line">
              <a:avLst/>
            </a:prstGeom>
            <a:ln w="9525" cap="flat" cmpd="sng">
              <a:solidFill>
                <a:srgbClr val="000000"/>
              </a:solidFill>
              <a:prstDash val="solid"/>
              <a:headEnd type="none" w="med" len="med"/>
              <a:tailEnd type="none" w="med" len="med"/>
            </a:ln>
          </p:spPr>
        </p:sp>
        <p:sp>
          <p:nvSpPr>
            <p:cNvPr id="11417" name="Line 153"/>
            <p:cNvSpPr/>
            <p:nvPr/>
          </p:nvSpPr>
          <p:spPr>
            <a:xfrm>
              <a:off x="3300" y="6188"/>
              <a:ext cx="0" cy="156"/>
            </a:xfrm>
            <a:prstGeom prst="line">
              <a:avLst/>
            </a:prstGeom>
            <a:ln w="9525" cap="flat" cmpd="sng">
              <a:solidFill>
                <a:srgbClr val="000000"/>
              </a:solidFill>
              <a:prstDash val="solid"/>
              <a:headEnd type="none" w="med" len="med"/>
              <a:tailEnd type="none" w="med" len="med"/>
            </a:ln>
          </p:spPr>
        </p:sp>
        <p:sp>
          <p:nvSpPr>
            <p:cNvPr id="11418" name="Rectangle 154"/>
            <p:cNvSpPr/>
            <p:nvPr/>
          </p:nvSpPr>
          <p:spPr>
            <a:xfrm>
              <a:off x="5535" y="6344"/>
              <a:ext cx="540" cy="312"/>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1 </a:t>
              </a:r>
              <a:endParaRPr lang="en-US" altLang="zh-CN" sz="4000" dirty="0">
                <a:latin typeface="Arial" panose="020B0604020202020204" pitchFamily="34" charset="0"/>
              </a:endParaRPr>
            </a:p>
          </p:txBody>
        </p:sp>
        <p:sp>
          <p:nvSpPr>
            <p:cNvPr id="11419" name="Rectangle 155"/>
            <p:cNvSpPr/>
            <p:nvPr/>
          </p:nvSpPr>
          <p:spPr>
            <a:xfrm>
              <a:off x="3975" y="6365"/>
              <a:ext cx="540" cy="312"/>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0  </a:t>
              </a:r>
              <a:endParaRPr lang="en-US" altLang="zh-CN" sz="4000" dirty="0">
                <a:latin typeface="Arial" panose="020B0604020202020204" pitchFamily="34" charset="0"/>
              </a:endParaRPr>
            </a:p>
          </p:txBody>
        </p:sp>
        <p:sp>
          <p:nvSpPr>
            <p:cNvPr id="11420" name="Rectangle 156"/>
            <p:cNvSpPr/>
            <p:nvPr/>
          </p:nvSpPr>
          <p:spPr>
            <a:xfrm>
              <a:off x="7365" y="6314"/>
              <a:ext cx="540" cy="312"/>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2 </a:t>
              </a:r>
              <a:endParaRPr lang="en-US" altLang="zh-CN" sz="4000" dirty="0">
                <a:latin typeface="Arial" panose="020B0604020202020204" pitchFamily="34" charset="0"/>
              </a:endParaRPr>
            </a:p>
          </p:txBody>
        </p:sp>
        <p:sp>
          <p:nvSpPr>
            <p:cNvPr id="11421" name="Rectangle 157"/>
            <p:cNvSpPr/>
            <p:nvPr/>
          </p:nvSpPr>
          <p:spPr>
            <a:xfrm>
              <a:off x="9000" y="6320"/>
              <a:ext cx="360" cy="432"/>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3</a:t>
              </a:r>
              <a:endParaRPr lang="en-US" altLang="zh-CN" sz="4000" dirty="0">
                <a:latin typeface="Arial" panose="020B0604020202020204" pitchFamily="34" charset="0"/>
              </a:endParaRPr>
            </a:p>
          </p:txBody>
        </p:sp>
        <p:sp>
          <p:nvSpPr>
            <p:cNvPr id="11422" name="Rectangle 158"/>
            <p:cNvSpPr/>
            <p:nvPr/>
          </p:nvSpPr>
          <p:spPr>
            <a:xfrm>
              <a:off x="9480" y="6329"/>
              <a:ext cx="360" cy="432"/>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D</a:t>
              </a:r>
              <a:r>
                <a:rPr lang="en-US" altLang="zh-CN" sz="2000" i="1" baseline="-25000" dirty="0">
                  <a:latin typeface="Times New Roman" panose="02020603050405020304" pitchFamily="18" charset="0"/>
                </a:rPr>
                <a:t>L</a:t>
              </a:r>
              <a:endParaRPr lang="en-US" altLang="zh-CN" sz="4000" dirty="0">
                <a:latin typeface="Arial" panose="020B0604020202020204" pitchFamily="34" charset="0"/>
              </a:endParaRPr>
            </a:p>
          </p:txBody>
        </p:sp>
        <p:sp>
          <p:nvSpPr>
            <p:cNvPr id="11423" name="Line 159"/>
            <p:cNvSpPr/>
            <p:nvPr/>
          </p:nvSpPr>
          <p:spPr>
            <a:xfrm>
              <a:off x="10245" y="3395"/>
              <a:ext cx="0" cy="2897"/>
            </a:xfrm>
            <a:prstGeom prst="line">
              <a:avLst/>
            </a:prstGeom>
            <a:ln w="9525" cap="flat" cmpd="sng">
              <a:solidFill>
                <a:srgbClr val="000000"/>
              </a:solidFill>
              <a:prstDash val="solid"/>
              <a:headEnd type="none" w="med" len="med"/>
              <a:tailEnd type="none" w="med" len="med"/>
            </a:ln>
          </p:spPr>
        </p:sp>
        <p:sp>
          <p:nvSpPr>
            <p:cNvPr id="11424" name="Line 160"/>
            <p:cNvSpPr/>
            <p:nvPr/>
          </p:nvSpPr>
          <p:spPr>
            <a:xfrm>
              <a:off x="7965" y="4799"/>
              <a:ext cx="2103" cy="0"/>
            </a:xfrm>
            <a:prstGeom prst="line">
              <a:avLst/>
            </a:prstGeom>
            <a:ln w="38100" cap="flat" cmpd="sng">
              <a:solidFill>
                <a:schemeClr val="bg2"/>
              </a:solidFill>
              <a:prstDash val="solid"/>
              <a:headEnd type="none" w="med" len="med"/>
              <a:tailEnd type="none" w="med" len="med"/>
            </a:ln>
          </p:spPr>
        </p:sp>
        <p:sp>
          <p:nvSpPr>
            <p:cNvPr id="11425" name="Line 161"/>
            <p:cNvSpPr/>
            <p:nvPr/>
          </p:nvSpPr>
          <p:spPr>
            <a:xfrm>
              <a:off x="10080" y="1991"/>
              <a:ext cx="0" cy="2808"/>
            </a:xfrm>
            <a:prstGeom prst="line">
              <a:avLst/>
            </a:prstGeom>
            <a:ln w="38100" cap="flat" cmpd="sng">
              <a:solidFill>
                <a:schemeClr val="bg2"/>
              </a:solidFill>
              <a:prstDash val="solid"/>
              <a:headEnd type="none" w="med" len="med"/>
              <a:tailEnd type="none" w="med" len="med"/>
            </a:ln>
          </p:spPr>
        </p:sp>
        <p:sp>
          <p:nvSpPr>
            <p:cNvPr id="11426" name="Line 162"/>
            <p:cNvSpPr/>
            <p:nvPr/>
          </p:nvSpPr>
          <p:spPr>
            <a:xfrm>
              <a:off x="3300" y="4910"/>
              <a:ext cx="0" cy="935"/>
            </a:xfrm>
            <a:prstGeom prst="line">
              <a:avLst/>
            </a:prstGeom>
            <a:ln w="9525" cap="flat" cmpd="sng">
              <a:solidFill>
                <a:srgbClr val="000000"/>
              </a:solidFill>
              <a:prstDash val="solid"/>
              <a:headEnd type="none" w="med" len="med"/>
              <a:tailEnd type="none" w="med" len="med"/>
            </a:ln>
          </p:spPr>
        </p:sp>
        <p:sp>
          <p:nvSpPr>
            <p:cNvPr id="11427" name="Line 163"/>
            <p:cNvSpPr/>
            <p:nvPr/>
          </p:nvSpPr>
          <p:spPr>
            <a:xfrm flipV="1">
              <a:off x="2684" y="4910"/>
              <a:ext cx="615" cy="4"/>
            </a:xfrm>
            <a:prstGeom prst="line">
              <a:avLst/>
            </a:prstGeom>
            <a:ln w="9525" cap="flat" cmpd="sng">
              <a:solidFill>
                <a:srgbClr val="000000"/>
              </a:solidFill>
              <a:prstDash val="solid"/>
              <a:headEnd type="none" w="med" len="med"/>
              <a:tailEnd type="none" w="med" len="med"/>
            </a:ln>
          </p:spPr>
        </p:sp>
        <p:sp>
          <p:nvSpPr>
            <p:cNvPr id="11428" name="Oval 164"/>
            <p:cNvSpPr/>
            <p:nvPr/>
          </p:nvSpPr>
          <p:spPr>
            <a:xfrm>
              <a:off x="3269" y="5788"/>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429" name="Line 165"/>
            <p:cNvSpPr/>
            <p:nvPr/>
          </p:nvSpPr>
          <p:spPr>
            <a:xfrm>
              <a:off x="2490" y="5075"/>
              <a:ext cx="0" cy="760"/>
            </a:xfrm>
            <a:prstGeom prst="line">
              <a:avLst/>
            </a:prstGeom>
            <a:ln w="9525" cap="flat" cmpd="sng">
              <a:solidFill>
                <a:srgbClr val="000000"/>
              </a:solidFill>
              <a:prstDash val="solid"/>
              <a:headEnd type="none" w="med" len="med"/>
              <a:tailEnd type="none" w="med" len="med"/>
            </a:ln>
          </p:spPr>
        </p:sp>
        <p:sp>
          <p:nvSpPr>
            <p:cNvPr id="11430" name="Oval 166"/>
            <p:cNvSpPr/>
            <p:nvPr/>
          </p:nvSpPr>
          <p:spPr>
            <a:xfrm>
              <a:off x="2460" y="5032"/>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431" name="Oval 167"/>
            <p:cNvSpPr/>
            <p:nvPr/>
          </p:nvSpPr>
          <p:spPr>
            <a:xfrm>
              <a:off x="3270" y="5378"/>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432" name="Line 168"/>
            <p:cNvSpPr/>
            <p:nvPr/>
          </p:nvSpPr>
          <p:spPr>
            <a:xfrm>
              <a:off x="8460" y="1991"/>
              <a:ext cx="0" cy="2964"/>
            </a:xfrm>
            <a:prstGeom prst="line">
              <a:avLst/>
            </a:prstGeom>
            <a:ln w="25400" cap="flat" cmpd="sng">
              <a:solidFill>
                <a:srgbClr val="FF0000"/>
              </a:solidFill>
              <a:prstDash val="solid"/>
              <a:headEnd type="none" w="med" len="med"/>
              <a:tailEnd type="stealth" w="med" len="med"/>
            </a:ln>
          </p:spPr>
        </p:sp>
        <p:sp>
          <p:nvSpPr>
            <p:cNvPr id="11433" name="Oval 169"/>
            <p:cNvSpPr/>
            <p:nvPr/>
          </p:nvSpPr>
          <p:spPr>
            <a:xfrm>
              <a:off x="8430" y="4925"/>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1434" name="Rectangle 170"/>
            <p:cNvSpPr/>
            <p:nvPr/>
          </p:nvSpPr>
          <p:spPr>
            <a:xfrm>
              <a:off x="1964" y="6360"/>
              <a:ext cx="360" cy="432"/>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CP</a:t>
              </a:r>
              <a:endParaRPr lang="en-US" altLang="zh-CN" sz="4000" dirty="0">
                <a:latin typeface="Arial" panose="020B0604020202020204" pitchFamily="34" charset="0"/>
              </a:endParaRPr>
            </a:p>
          </p:txBody>
        </p:sp>
      </p:grpSp>
      <p:sp>
        <p:nvSpPr>
          <p:cNvPr id="11268" name="Rectangle 173"/>
          <p:cNvSpPr/>
          <p:nvPr/>
        </p:nvSpPr>
        <p:spPr>
          <a:xfrm>
            <a:off x="0" y="3328988"/>
            <a:ext cx="9144000" cy="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11269" name="Object 172"/>
          <p:cNvGraphicFramePr>
            <a:graphicFrameLocks noChangeAspect="1"/>
          </p:cNvGraphicFramePr>
          <p:nvPr/>
        </p:nvGraphicFramePr>
        <p:xfrm>
          <a:off x="8285163" y="6165850"/>
          <a:ext cx="390525" cy="431800"/>
        </p:xfrm>
        <a:graphic>
          <a:graphicData uri="http://schemas.openxmlformats.org/presentationml/2006/ole">
            <mc:AlternateContent xmlns:mc="http://schemas.openxmlformats.org/markup-compatibility/2006">
              <mc:Choice xmlns:v="urn:schemas-microsoft-com:vml" Requires="v">
                <p:oleObj r:id="rId2" imgW="177800" imgH="203200" progId="Equation.3">
                  <p:embed/>
                </p:oleObj>
              </mc:Choice>
              <mc:Fallback>
                <p:oleObj r:id="rId2" imgW="177800" imgH="203200" progId="Equation.3">
                  <p:embed/>
                  <p:pic>
                    <p:nvPicPr>
                      <p:cNvPr id="0" name="图片 3081"/>
                      <p:cNvPicPr/>
                      <p:nvPr/>
                    </p:nvPicPr>
                    <p:blipFill>
                      <a:blip r:embed="rId3"/>
                      <a:stretch>
                        <a:fillRect/>
                      </a:stretch>
                    </p:blipFill>
                    <p:spPr>
                      <a:xfrm>
                        <a:off x="8285163" y="6165850"/>
                        <a:ext cx="390525" cy="431800"/>
                      </a:xfrm>
                      <a:prstGeom prst="rect">
                        <a:avLst/>
                      </a:prstGeom>
                      <a:noFill/>
                      <a:ln w="38100">
                        <a:noFill/>
                        <a:miter/>
                      </a:ln>
                    </p:spPr>
                  </p:pic>
                </p:oleObj>
              </mc:Fallback>
            </mc:AlternateContent>
          </a:graphicData>
        </a:graphic>
      </p:graphicFrame>
      <p:sp>
        <p:nvSpPr>
          <p:cNvPr id="11270" name="Line 174"/>
          <p:cNvSpPr/>
          <p:nvPr/>
        </p:nvSpPr>
        <p:spPr>
          <a:xfrm>
            <a:off x="5148263" y="4689475"/>
            <a:ext cx="431800" cy="0"/>
          </a:xfrm>
          <a:prstGeom prst="line">
            <a:avLst/>
          </a:prstGeom>
          <a:ln w="25400" cap="flat" cmpd="sng">
            <a:solidFill>
              <a:srgbClr val="FF0000"/>
            </a:solidFill>
            <a:prstDash val="solid"/>
            <a:headEnd type="none" w="med" len="med"/>
            <a:tailEnd type="none" w="med" len="med"/>
          </a:ln>
        </p:spPr>
      </p:sp>
      <p:sp>
        <p:nvSpPr>
          <p:cNvPr id="11271" name="Line 175"/>
          <p:cNvSpPr/>
          <p:nvPr/>
        </p:nvSpPr>
        <p:spPr>
          <a:xfrm>
            <a:off x="6696075" y="4833938"/>
            <a:ext cx="431800" cy="0"/>
          </a:xfrm>
          <a:prstGeom prst="line">
            <a:avLst/>
          </a:prstGeom>
          <a:ln w="25400" cap="flat" cmpd="sng">
            <a:solidFill>
              <a:srgbClr val="FF0000"/>
            </a:solidFill>
            <a:prstDash val="solid"/>
            <a:headEnd type="none" w="med" len="med"/>
            <a:tailEnd type="none" w="med" len="med"/>
          </a:ln>
        </p:spPr>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p:nvPr/>
        </p:nvSpPr>
        <p:spPr>
          <a:xfrm>
            <a:off x="1863725" y="2533650"/>
            <a:ext cx="385763" cy="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12291" name="Object 6"/>
          <p:cNvGraphicFramePr>
            <a:graphicFrameLocks noChangeAspect="1"/>
          </p:cNvGraphicFramePr>
          <p:nvPr/>
        </p:nvGraphicFramePr>
        <p:xfrm>
          <a:off x="107950" y="2563813"/>
          <a:ext cx="457200" cy="504825"/>
        </p:xfrm>
        <a:graphic>
          <a:graphicData uri="http://schemas.openxmlformats.org/presentationml/2006/ole">
            <mc:AlternateContent xmlns:mc="http://schemas.openxmlformats.org/markup-compatibility/2006">
              <mc:Choice xmlns:v="urn:schemas-microsoft-com:vml" Requires="v">
                <p:oleObj r:id="rId2" imgW="177800" imgH="203200" progId="Equation.3">
                  <p:embed/>
                </p:oleObj>
              </mc:Choice>
              <mc:Fallback>
                <p:oleObj r:id="rId2" imgW="177800" imgH="203200" progId="Equation.3">
                  <p:embed/>
                  <p:pic>
                    <p:nvPicPr>
                      <p:cNvPr id="0" name="图片 3082"/>
                      <p:cNvPicPr/>
                      <p:nvPr/>
                    </p:nvPicPr>
                    <p:blipFill>
                      <a:blip r:embed="rId3"/>
                      <a:stretch>
                        <a:fillRect/>
                      </a:stretch>
                    </p:blipFill>
                    <p:spPr>
                      <a:xfrm>
                        <a:off x="107950" y="2563813"/>
                        <a:ext cx="457200" cy="504825"/>
                      </a:xfrm>
                      <a:prstGeom prst="rect">
                        <a:avLst/>
                      </a:prstGeom>
                      <a:noFill/>
                      <a:ln w="38100">
                        <a:noFill/>
                        <a:miter/>
                      </a:ln>
                    </p:spPr>
                  </p:pic>
                </p:oleObj>
              </mc:Fallback>
            </mc:AlternateContent>
          </a:graphicData>
        </a:graphic>
      </p:graphicFrame>
      <p:graphicFrame>
        <p:nvGraphicFramePr>
          <p:cNvPr id="68294" name="Group 710"/>
          <p:cNvGraphicFramePr>
            <a:graphicFrameLocks noGrp="1"/>
          </p:cNvGraphicFramePr>
          <p:nvPr/>
        </p:nvGraphicFramePr>
        <p:xfrm>
          <a:off x="0" y="2276475"/>
          <a:ext cx="9144000" cy="4022725"/>
        </p:xfrm>
        <a:graphic>
          <a:graphicData uri="http://schemas.openxmlformats.org/drawingml/2006/table">
            <a:tbl>
              <a:tblPr/>
              <a:tblGrid>
                <a:gridCol w="650875">
                  <a:extLst>
                    <a:ext uri="{9D8B030D-6E8A-4147-A177-3AD203B41FA5}">
                      <a16:colId xmlns:a16="http://schemas.microsoft.com/office/drawing/2014/main" val="20000"/>
                    </a:ext>
                  </a:extLst>
                </a:gridCol>
                <a:gridCol w="650875">
                  <a:extLst>
                    <a:ext uri="{9D8B030D-6E8A-4147-A177-3AD203B41FA5}">
                      <a16:colId xmlns:a16="http://schemas.microsoft.com/office/drawing/2014/main" val="20001"/>
                    </a:ext>
                  </a:extLst>
                </a:gridCol>
                <a:gridCol w="652463">
                  <a:extLst>
                    <a:ext uri="{9D8B030D-6E8A-4147-A177-3AD203B41FA5}">
                      <a16:colId xmlns:a16="http://schemas.microsoft.com/office/drawing/2014/main" val="20002"/>
                    </a:ext>
                  </a:extLst>
                </a:gridCol>
                <a:gridCol w="650875">
                  <a:extLst>
                    <a:ext uri="{9D8B030D-6E8A-4147-A177-3AD203B41FA5}">
                      <a16:colId xmlns:a16="http://schemas.microsoft.com/office/drawing/2014/main" val="20003"/>
                    </a:ext>
                  </a:extLst>
                </a:gridCol>
                <a:gridCol w="654050">
                  <a:extLst>
                    <a:ext uri="{9D8B030D-6E8A-4147-A177-3AD203B41FA5}">
                      <a16:colId xmlns:a16="http://schemas.microsoft.com/office/drawing/2014/main" val="20004"/>
                    </a:ext>
                  </a:extLst>
                </a:gridCol>
                <a:gridCol w="654050">
                  <a:extLst>
                    <a:ext uri="{9D8B030D-6E8A-4147-A177-3AD203B41FA5}">
                      <a16:colId xmlns:a16="http://schemas.microsoft.com/office/drawing/2014/main" val="20005"/>
                    </a:ext>
                  </a:extLst>
                </a:gridCol>
                <a:gridCol w="654050">
                  <a:extLst>
                    <a:ext uri="{9D8B030D-6E8A-4147-A177-3AD203B41FA5}">
                      <a16:colId xmlns:a16="http://schemas.microsoft.com/office/drawing/2014/main" val="20006"/>
                    </a:ext>
                  </a:extLst>
                </a:gridCol>
                <a:gridCol w="654050">
                  <a:extLst>
                    <a:ext uri="{9D8B030D-6E8A-4147-A177-3AD203B41FA5}">
                      <a16:colId xmlns:a16="http://schemas.microsoft.com/office/drawing/2014/main" val="20007"/>
                    </a:ext>
                  </a:extLst>
                </a:gridCol>
                <a:gridCol w="652462">
                  <a:extLst>
                    <a:ext uri="{9D8B030D-6E8A-4147-A177-3AD203B41FA5}">
                      <a16:colId xmlns:a16="http://schemas.microsoft.com/office/drawing/2014/main" val="20008"/>
                    </a:ext>
                  </a:extLst>
                </a:gridCol>
                <a:gridCol w="654050">
                  <a:extLst>
                    <a:ext uri="{9D8B030D-6E8A-4147-A177-3AD203B41FA5}">
                      <a16:colId xmlns:a16="http://schemas.microsoft.com/office/drawing/2014/main" val="20009"/>
                    </a:ext>
                  </a:extLst>
                </a:gridCol>
                <a:gridCol w="654050">
                  <a:extLst>
                    <a:ext uri="{9D8B030D-6E8A-4147-A177-3AD203B41FA5}">
                      <a16:colId xmlns:a16="http://schemas.microsoft.com/office/drawing/2014/main" val="20010"/>
                    </a:ext>
                  </a:extLst>
                </a:gridCol>
                <a:gridCol w="654050">
                  <a:extLst>
                    <a:ext uri="{9D8B030D-6E8A-4147-A177-3AD203B41FA5}">
                      <a16:colId xmlns:a16="http://schemas.microsoft.com/office/drawing/2014/main" val="20011"/>
                    </a:ext>
                  </a:extLst>
                </a:gridCol>
                <a:gridCol w="654050">
                  <a:extLst>
                    <a:ext uri="{9D8B030D-6E8A-4147-A177-3AD203B41FA5}">
                      <a16:colId xmlns:a16="http://schemas.microsoft.com/office/drawing/2014/main" val="20012"/>
                    </a:ext>
                  </a:extLst>
                </a:gridCol>
                <a:gridCol w="654050">
                  <a:extLst>
                    <a:ext uri="{9D8B030D-6E8A-4147-A177-3AD203B41FA5}">
                      <a16:colId xmlns:a16="http://schemas.microsoft.com/office/drawing/2014/main" val="20013"/>
                    </a:ext>
                  </a:extLst>
                </a:gridCol>
              </a:tblGrid>
              <a:tr h="1097112">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6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7" marB="45707" anchor="ctr" horzOverflow="overflow">
                    <a:lnL w="9525" cap="flat" cmpd="sng" algn="ctr">
                      <a:solidFill>
                        <a:srgbClr val="000000"/>
                      </a:solidFill>
                      <a:prstDash val="solid"/>
                      <a:round/>
                      <a:headEnd type="none" w="med" len="med"/>
                      <a:tailEnd type="none" w="med" len="med"/>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1" lang="en-US" altLang="zh-CN" sz="2800" b="0" i="1" u="none" strike="noStrike" cap="none" normalizeH="0" baseline="-3000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1" lang="en-US" altLang="zh-CN" sz="6000" b="0"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1" lang="en-US" altLang="zh-CN" sz="2800" b="0" i="1" u="none" strike="noStrike" cap="none" normalizeH="0" baseline="-3000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1" lang="en-US" altLang="zh-CN" sz="6000" b="0"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1"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1"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w="12700" cap="flat" cmpd="sng" algn="ctr">
                      <a:solidFill>
                        <a:srgbClr val="000000"/>
                      </a:solidFill>
                      <a:prstDash val="solid"/>
                      <a:round/>
                      <a:headEnd type="none" w="med" len="med"/>
                      <a:tailEnd type="none" w="med" len="med"/>
                    </a:lnR>
                    <a:lnT w="38100" cap="flat" cmpd="sng" algn="ctr">
                      <a:solidFill>
                        <a:schemeClr val="bg2"/>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w="12700" cap="flat" cmpd="sng" algn="ctr">
                      <a:solidFill>
                        <a:srgbClr val="000000"/>
                      </a:solidFill>
                      <a:prstDash val="solid"/>
                      <a:round/>
                      <a:headEnd type="none" w="med" len="med"/>
                      <a:tailEnd type="none" w="med" len="med"/>
                    </a:lnL>
                    <a:lnR>
                      <a:noFill/>
                    </a:lnR>
                    <a:lnT w="38100" cap="flat" cmpd="sng" algn="ctr">
                      <a:solidFill>
                        <a:schemeClr val="bg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38100" cap="flat" cmpd="sng" algn="ctr">
                      <a:solidFill>
                        <a:schemeClr val="bg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cap="flat">
                      <a:noFill/>
                    </a:lnR>
                    <a:lnT w="38100" cap="flat" cmpd="sng" algn="ctr">
                      <a:solidFill>
                        <a:schemeClr val="bg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07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cap="flat">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anchor="ctr"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51807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保  持</a:t>
                      </a:r>
                      <a:endParaRPr kumimoji="1" lang="zh-CN" altLang="en-US"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r h="137139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1" u="none" strike="noStrike" cap="none" normalizeH="0" baseline="-3000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endPar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1"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1"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800" b="0" i="1"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07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cap="flat">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a:noFill/>
                    </a:lnR>
                    <a:lnT>
                      <a:noFill/>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a:noFill/>
                    </a:lnL>
                    <a:lnR w="12700" cap="flat" cmpd="sng" algn="ctr">
                      <a:solidFill>
                        <a:srgbClr val="000000"/>
                      </a:solidFill>
                      <a:prstDash val="solid"/>
                      <a:round/>
                      <a:headEnd type="none" w="med" len="med"/>
                      <a:tailEnd type="none" w="med" len="med"/>
                    </a:lnR>
                    <a:lnT>
                      <a:noFill/>
                    </a:lnT>
                    <a:lnB w="38100" cap="flat" cmpd="sng" algn="ctr">
                      <a:solidFill>
                        <a:schemeClr val="bg2"/>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保  持</a:t>
                      </a:r>
                      <a:endParaRPr kumimoji="1" lang="zh-CN" altLang="en-US"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07" marB="45707" horzOverflow="overflow">
                    <a:lnL w="12700" cap="flat" cmpd="sng" algn="ctr">
                      <a:solidFill>
                        <a:srgbClr val="000000"/>
                      </a:solidFill>
                      <a:prstDash val="solid"/>
                      <a:round/>
                      <a:headEnd type="none" w="med" len="med"/>
                      <a:tailEnd type="none" w="med" len="med"/>
                    </a:lnL>
                    <a:lnR cap="flat">
                      <a:noFill/>
                    </a:lnR>
                    <a:lnT>
                      <a:noFill/>
                    </a:lnT>
                    <a:lnB w="38100" cap="flat" cmpd="sng" algn="ctr">
                      <a:solidFill>
                        <a:schemeClr val="bg2"/>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4"/>
                  </a:ext>
                </a:extLst>
              </a:tr>
            </a:tbl>
          </a:graphicData>
        </a:graphic>
      </p:graphicFrame>
      <p:sp>
        <p:nvSpPr>
          <p:cNvPr id="12363" name="Rectangle 711"/>
          <p:cNvSpPr/>
          <p:nvPr/>
        </p:nvSpPr>
        <p:spPr>
          <a:xfrm>
            <a:off x="2700338" y="1341438"/>
            <a:ext cx="3529012" cy="519112"/>
          </a:xfrm>
          <a:prstGeom prst="rect">
            <a:avLst/>
          </a:prstGeom>
          <a:noFill/>
          <a:ln w="9525">
            <a:noFill/>
          </a:ln>
        </p:spPr>
        <p:txBody>
          <a:bodyPr anchor="ctr" anchorCtr="0">
            <a:spAutoFit/>
          </a:bodyPr>
          <a:lstStyle/>
          <a:p>
            <a:r>
              <a:rPr lang="en-US" altLang="zh-CN" sz="2800" b="1" dirty="0">
                <a:latin typeface="Arial" panose="020B0604020202020204" pitchFamily="34" charset="0"/>
              </a:rPr>
              <a:t>74LS194</a:t>
            </a:r>
            <a:r>
              <a:rPr lang="zh-CN" altLang="en-US" sz="2800" b="1" dirty="0">
                <a:latin typeface="Arial" panose="020B0604020202020204" pitchFamily="34" charset="0"/>
              </a:rPr>
              <a:t>功能表</a:t>
            </a:r>
            <a:r>
              <a:rPr lang="zh-CN" altLang="en-US" sz="2800" dirty="0">
                <a:latin typeface="Arial" panose="020B0604020202020204" pitchFamily="34" charset="0"/>
              </a:rPr>
              <a:t> </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4" name="Group 7"/>
          <p:cNvGrpSpPr/>
          <p:nvPr/>
        </p:nvGrpSpPr>
        <p:grpSpPr>
          <a:xfrm>
            <a:off x="0" y="1700213"/>
            <a:ext cx="8604250" cy="4518025"/>
            <a:chOff x="1812" y="11200"/>
            <a:chExt cx="8385" cy="3861"/>
          </a:xfrm>
        </p:grpSpPr>
        <p:sp>
          <p:nvSpPr>
            <p:cNvPr id="13320" name="Line 8"/>
            <p:cNvSpPr/>
            <p:nvPr/>
          </p:nvSpPr>
          <p:spPr>
            <a:xfrm>
              <a:off x="6852" y="12035"/>
              <a:ext cx="0" cy="590"/>
            </a:xfrm>
            <a:prstGeom prst="line">
              <a:avLst/>
            </a:prstGeom>
            <a:ln w="25400" cap="flat" cmpd="sng">
              <a:solidFill>
                <a:schemeClr val="bg2"/>
              </a:solidFill>
              <a:prstDash val="solid"/>
              <a:headEnd type="none" w="med" len="med"/>
              <a:tailEnd type="stealth" w="med" len="med"/>
            </a:ln>
          </p:spPr>
        </p:sp>
        <p:sp>
          <p:nvSpPr>
            <p:cNvPr id="13321" name="Line 9"/>
            <p:cNvSpPr/>
            <p:nvPr/>
          </p:nvSpPr>
          <p:spPr>
            <a:xfrm>
              <a:off x="5607" y="12309"/>
              <a:ext cx="3458" cy="0"/>
            </a:xfrm>
            <a:prstGeom prst="line">
              <a:avLst/>
            </a:prstGeom>
            <a:ln w="9525" cap="flat" cmpd="sng">
              <a:solidFill>
                <a:srgbClr val="000000"/>
              </a:solidFill>
              <a:prstDash val="solid"/>
              <a:headEnd type="none" w="med" len="med"/>
              <a:tailEnd type="none" w="med" len="med"/>
            </a:ln>
          </p:spPr>
        </p:sp>
        <p:sp>
          <p:nvSpPr>
            <p:cNvPr id="13322" name="Line 10"/>
            <p:cNvSpPr/>
            <p:nvPr/>
          </p:nvSpPr>
          <p:spPr>
            <a:xfrm>
              <a:off x="4677" y="14217"/>
              <a:ext cx="1260" cy="0"/>
            </a:xfrm>
            <a:prstGeom prst="line">
              <a:avLst/>
            </a:prstGeom>
            <a:ln w="25400" cap="flat" cmpd="sng">
              <a:solidFill>
                <a:schemeClr val="bg2"/>
              </a:solidFill>
              <a:prstDash val="solid"/>
              <a:headEnd type="none" w="med" len="med"/>
              <a:tailEnd type="none" w="med" len="med"/>
            </a:ln>
          </p:spPr>
        </p:sp>
        <p:sp>
          <p:nvSpPr>
            <p:cNvPr id="13323" name="Rectangle 11"/>
            <p:cNvSpPr/>
            <p:nvPr/>
          </p:nvSpPr>
          <p:spPr>
            <a:xfrm>
              <a:off x="4842" y="11200"/>
              <a:ext cx="2160" cy="468"/>
            </a:xfrm>
            <a:prstGeom prst="rect">
              <a:avLst/>
            </a:prstGeom>
            <a:noFill/>
            <a:ln w="9525">
              <a:noFill/>
            </a:ln>
          </p:spPr>
          <p:txBody>
            <a:bodyPr/>
            <a:lstStyle/>
            <a:p>
              <a:pPr algn="ctr"/>
              <a:r>
                <a:rPr lang="zh-CN" altLang="en-US" dirty="0">
                  <a:latin typeface="Times New Roman" panose="02020603050405020304" pitchFamily="18" charset="0"/>
                </a:rPr>
                <a:t>并行数据输入</a:t>
              </a:r>
              <a:endParaRPr lang="zh-CN" altLang="en-US" sz="3600" dirty="0">
                <a:latin typeface="Arial" panose="020B0604020202020204" pitchFamily="34" charset="0"/>
              </a:endParaRPr>
            </a:p>
          </p:txBody>
        </p:sp>
        <p:sp>
          <p:nvSpPr>
            <p:cNvPr id="13324" name="Rectangle 12"/>
            <p:cNvSpPr/>
            <p:nvPr/>
          </p:nvSpPr>
          <p:spPr>
            <a:xfrm>
              <a:off x="9295" y="13012"/>
              <a:ext cx="9" cy="530"/>
            </a:xfrm>
            <a:prstGeom prst="rect">
              <a:avLst/>
            </a:prstGeom>
            <a:solidFill>
              <a:srgbClr val="FFFFFF"/>
            </a:solidFill>
            <a:ln w="9525" cap="flat" cmpd="sng">
              <a:solidFill>
                <a:srgbClr val="FFFFFF"/>
              </a:solidFill>
              <a:prstDash val="solid"/>
              <a:miter/>
              <a:headEnd type="none" w="med" len="med"/>
              <a:tailEnd type="none" w="med" len="med"/>
            </a:ln>
          </p:spPr>
          <p:txBody>
            <a:bodyPr wrap="none" lIns="0" tIns="0" rIns="0" bIns="0">
              <a:spAutoFit/>
            </a:bodyPr>
            <a:lstStyle/>
            <a:p>
              <a:pPr algn="just"/>
              <a:endParaRPr lang="zh-CN" altLang="zh-CN" sz="4000" dirty="0">
                <a:latin typeface="Arial" panose="020B0604020202020204" pitchFamily="34" charset="0"/>
              </a:endParaRPr>
            </a:p>
          </p:txBody>
        </p:sp>
        <p:grpSp>
          <p:nvGrpSpPr>
            <p:cNvPr id="13325" name="Group 13"/>
            <p:cNvGrpSpPr/>
            <p:nvPr/>
          </p:nvGrpSpPr>
          <p:grpSpPr>
            <a:xfrm>
              <a:off x="3177" y="12637"/>
              <a:ext cx="2160" cy="1092"/>
              <a:chOff x="2340" y="4560"/>
              <a:chExt cx="2160" cy="1092"/>
            </a:xfrm>
          </p:grpSpPr>
          <p:sp>
            <p:nvSpPr>
              <p:cNvPr id="13390" name="Rectangle 14"/>
              <p:cNvSpPr/>
              <p:nvPr/>
            </p:nvSpPr>
            <p:spPr>
              <a:xfrm>
                <a:off x="2340" y="4560"/>
                <a:ext cx="2160" cy="1092"/>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lstStyle/>
              <a:p>
                <a:pPr algn="just">
                  <a:lnSpc>
                    <a:spcPct val="96000"/>
                  </a:lnSpc>
                </a:pPr>
                <a:r>
                  <a:rPr lang="en-US" altLang="zh-CN" sz="2000" i="1" dirty="0">
                    <a:latin typeface="Times New Roman" panose="02020603050405020304" pitchFamily="18" charset="0"/>
                  </a:rPr>
                  <a:t>D</a:t>
                </a:r>
                <a:r>
                  <a:rPr lang="en-US" altLang="zh-CN" sz="2000" i="1" baseline="-25000" dirty="0">
                    <a:latin typeface="Times New Roman" panose="02020603050405020304" pitchFamily="18" charset="0"/>
                  </a:rPr>
                  <a:t>R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0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1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2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3  </a:t>
                </a:r>
                <a:r>
                  <a:rPr lang="en-US" altLang="zh-CN" sz="2000" i="1" dirty="0">
                    <a:latin typeface="Times New Roman" panose="02020603050405020304" pitchFamily="18" charset="0"/>
                  </a:rPr>
                  <a:t>D</a:t>
                </a:r>
                <a:r>
                  <a:rPr lang="en-US" altLang="zh-CN" sz="2000" i="1" baseline="-25000" dirty="0">
                    <a:latin typeface="Times New Roman" panose="02020603050405020304" pitchFamily="18" charset="0"/>
                  </a:rPr>
                  <a:t>L</a:t>
                </a: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A</a:t>
                </a:r>
                <a:r>
                  <a:rPr lang="en-US" altLang="zh-CN" sz="2000" baseline="-25000" dirty="0">
                    <a:latin typeface="Times New Roman" panose="02020603050405020304" pitchFamily="18" charset="0"/>
                  </a:rPr>
                  <a:t>  </a:t>
                </a:r>
                <a:r>
                  <a:rPr lang="en-US" altLang="zh-CN" sz="2000" dirty="0">
                    <a:latin typeface="Times New Roman" panose="02020603050405020304" pitchFamily="18" charset="0"/>
                  </a:rPr>
                  <a:t>                    </a:t>
                </a:r>
                <a:r>
                  <a:rPr lang="en-US" altLang="zh-CN" sz="2000" i="1" dirty="0">
                    <a:latin typeface="Times New Roman" panose="02020603050405020304" pitchFamily="18" charset="0"/>
                  </a:rPr>
                  <a:t>CP</a:t>
                </a:r>
              </a:p>
              <a:p>
                <a:pPr algn="just">
                  <a:lnSpc>
                    <a:spcPct val="96000"/>
                  </a:lnSpc>
                </a:pPr>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B</a:t>
                </a:r>
                <a:r>
                  <a:rPr lang="en-US" altLang="zh-CN" sz="2000" baseline="-25000" dirty="0">
                    <a:latin typeface="Times New Roman" panose="02020603050405020304" pitchFamily="18" charset="0"/>
                  </a:rPr>
                  <a:t>                      </a:t>
                </a:r>
                <a:endParaRPr lang="en-US" altLang="zh-CN" sz="2000" dirty="0">
                  <a:latin typeface="Times New Roman" panose="02020603050405020304" pitchFamily="18" charset="0"/>
                </a:endParaRPr>
              </a:p>
              <a:p>
                <a:pPr algn="ctr">
                  <a:lnSpc>
                    <a:spcPct val="96000"/>
                  </a:lnSpc>
                </a:pP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0  </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  </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  </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endParaRPr lang="en-US" altLang="zh-CN" sz="4000" dirty="0">
                  <a:latin typeface="Arial" panose="020B0604020202020204" pitchFamily="34" charset="0"/>
                </a:endParaRPr>
              </a:p>
            </p:txBody>
          </p:sp>
          <p:sp>
            <p:nvSpPr>
              <p:cNvPr id="13391" name="Rectangle 15"/>
              <p:cNvSpPr/>
              <p:nvPr/>
            </p:nvSpPr>
            <p:spPr>
              <a:xfrm>
                <a:off x="2955" y="4917"/>
                <a:ext cx="840" cy="312"/>
              </a:xfrm>
              <a:prstGeom prst="rect">
                <a:avLst/>
              </a:prstGeom>
              <a:noFill/>
              <a:ln w="9525">
                <a:noFill/>
              </a:ln>
            </p:spPr>
            <p:txBody>
              <a:bodyPr lIns="0" tIns="0" rIns="0" bIns="0"/>
              <a:lstStyle/>
              <a:p>
                <a:pPr algn="just"/>
                <a:r>
                  <a:rPr lang="en-US" altLang="zh-CN" dirty="0">
                    <a:latin typeface="Times New Roman" panose="02020603050405020304" pitchFamily="18" charset="0"/>
                  </a:rPr>
                  <a:t>74LS194</a:t>
                </a:r>
                <a:endParaRPr lang="en-US" altLang="zh-CN" sz="3600" dirty="0">
                  <a:latin typeface="Arial" panose="020B0604020202020204" pitchFamily="34" charset="0"/>
                </a:endParaRPr>
              </a:p>
            </p:txBody>
          </p:sp>
        </p:grpSp>
        <p:grpSp>
          <p:nvGrpSpPr>
            <p:cNvPr id="13326" name="Group 16"/>
            <p:cNvGrpSpPr/>
            <p:nvPr/>
          </p:nvGrpSpPr>
          <p:grpSpPr>
            <a:xfrm>
              <a:off x="6537" y="12631"/>
              <a:ext cx="2160" cy="1092"/>
              <a:chOff x="2340" y="4560"/>
              <a:chExt cx="2160" cy="1092"/>
            </a:xfrm>
          </p:grpSpPr>
          <p:sp>
            <p:nvSpPr>
              <p:cNvPr id="13388" name="Rectangle 17"/>
              <p:cNvSpPr/>
              <p:nvPr/>
            </p:nvSpPr>
            <p:spPr>
              <a:xfrm>
                <a:off x="2340" y="4560"/>
                <a:ext cx="2160" cy="1092"/>
              </a:xfrm>
              <a:prstGeom prst="rect">
                <a:avLst/>
              </a:prstGeom>
              <a:solidFill>
                <a:srgbClr val="CCFFCC"/>
              </a:solidFill>
              <a:ln w="9525" cap="flat" cmpd="sng">
                <a:solidFill>
                  <a:srgbClr val="000000"/>
                </a:solidFill>
                <a:prstDash val="solid"/>
                <a:miter/>
                <a:headEnd type="none" w="med" len="med"/>
                <a:tailEnd type="none" w="med" len="med"/>
              </a:ln>
            </p:spPr>
            <p:txBody>
              <a:bodyPr lIns="0" tIns="0" rIns="0" bIns="0"/>
              <a:lstStyle/>
              <a:p>
                <a:pPr algn="just">
                  <a:lnSpc>
                    <a:spcPct val="96000"/>
                  </a:lnSpc>
                </a:pPr>
                <a:r>
                  <a:rPr lang="en-US" altLang="zh-CN" sz="2000" i="1" dirty="0">
                    <a:latin typeface="Times New Roman" panose="02020603050405020304" pitchFamily="18" charset="0"/>
                  </a:rPr>
                  <a:t>D</a:t>
                </a:r>
                <a:r>
                  <a:rPr lang="en-US" altLang="zh-CN" sz="2000" i="1" baseline="-25000" dirty="0">
                    <a:latin typeface="Times New Roman" panose="02020603050405020304" pitchFamily="18" charset="0"/>
                  </a:rPr>
                  <a:t>R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0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1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2  </a:t>
                </a:r>
                <a:r>
                  <a:rPr lang="en-US" altLang="zh-CN" sz="2000" i="1" dirty="0">
                    <a:latin typeface="Times New Roman" panose="02020603050405020304" pitchFamily="18" charset="0"/>
                  </a:rPr>
                  <a:t>D</a:t>
                </a:r>
                <a:r>
                  <a:rPr lang="en-US" altLang="zh-CN" sz="2000" baseline="-25000" dirty="0">
                    <a:latin typeface="Times New Roman" panose="02020603050405020304" pitchFamily="18" charset="0"/>
                  </a:rPr>
                  <a:t>3  </a:t>
                </a:r>
                <a:r>
                  <a:rPr lang="en-US" altLang="zh-CN" sz="2000" i="1" dirty="0">
                    <a:latin typeface="Times New Roman" panose="02020603050405020304" pitchFamily="18" charset="0"/>
                  </a:rPr>
                  <a:t>D</a:t>
                </a:r>
                <a:r>
                  <a:rPr lang="en-US" altLang="zh-CN" sz="2000" i="1" baseline="-25000" dirty="0">
                    <a:latin typeface="Times New Roman" panose="02020603050405020304" pitchFamily="18" charset="0"/>
                  </a:rPr>
                  <a:t>L</a:t>
                </a: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A</a:t>
                </a:r>
                <a:r>
                  <a:rPr lang="en-US" altLang="zh-CN" sz="2000" baseline="-25000" dirty="0">
                    <a:latin typeface="Times New Roman" panose="02020603050405020304" pitchFamily="18" charset="0"/>
                  </a:rPr>
                  <a:t>  </a:t>
                </a:r>
                <a:r>
                  <a:rPr lang="en-US" altLang="zh-CN" sz="2000" dirty="0">
                    <a:latin typeface="Times New Roman" panose="02020603050405020304" pitchFamily="18" charset="0"/>
                  </a:rPr>
                  <a:t>                      </a:t>
                </a:r>
                <a:r>
                  <a:rPr lang="en-US" altLang="zh-CN" sz="2000" i="1" dirty="0">
                    <a:latin typeface="Times New Roman" panose="02020603050405020304" pitchFamily="18" charset="0"/>
                  </a:rPr>
                  <a:t>CP</a:t>
                </a:r>
                <a:endParaRPr lang="en-US" altLang="zh-CN" sz="2000" dirty="0">
                  <a:latin typeface="Times New Roman" panose="02020603050405020304" pitchFamily="18" charset="0"/>
                </a:endParaRPr>
              </a:p>
              <a:p>
                <a:pPr algn="just">
                  <a:lnSpc>
                    <a:spcPct val="120000"/>
                  </a:lnSpc>
                </a:pPr>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B </a:t>
                </a:r>
                <a:r>
                  <a:rPr lang="en-US" altLang="zh-CN" sz="2000" baseline="-25000" dirty="0">
                    <a:latin typeface="Times New Roman" panose="02020603050405020304" pitchFamily="18" charset="0"/>
                  </a:rPr>
                  <a:t>                         </a:t>
                </a:r>
                <a:endParaRPr lang="en-US" altLang="zh-CN" sz="2000" dirty="0">
                  <a:latin typeface="Times New Roman" panose="02020603050405020304" pitchFamily="18" charset="0"/>
                </a:endParaRPr>
              </a:p>
              <a:p>
                <a:pPr algn="just">
                  <a:lnSpc>
                    <a:spcPct val="96000"/>
                  </a:lnSpc>
                </a:pPr>
                <a:r>
                  <a:rPr lang="en-US" altLang="zh-CN" sz="2000" i="1" dirty="0">
                    <a:latin typeface="Times New Roman" panose="02020603050405020304" pitchFamily="18" charset="0"/>
                  </a:rPr>
                  <a:t>     Q</a:t>
                </a:r>
                <a:r>
                  <a:rPr lang="en-US" altLang="zh-CN" sz="2000" baseline="-25000" dirty="0">
                    <a:latin typeface="Times New Roman" panose="02020603050405020304" pitchFamily="18" charset="0"/>
                  </a:rPr>
                  <a:t>0  </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  </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  </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endParaRPr lang="en-US" altLang="zh-CN" sz="4000" dirty="0">
                  <a:latin typeface="Arial" panose="020B0604020202020204" pitchFamily="34" charset="0"/>
                </a:endParaRPr>
              </a:p>
            </p:txBody>
          </p:sp>
          <p:sp>
            <p:nvSpPr>
              <p:cNvPr id="13389" name="Rectangle 18"/>
              <p:cNvSpPr/>
              <p:nvPr/>
            </p:nvSpPr>
            <p:spPr>
              <a:xfrm>
                <a:off x="2955" y="4917"/>
                <a:ext cx="840" cy="312"/>
              </a:xfrm>
              <a:prstGeom prst="rect">
                <a:avLst/>
              </a:prstGeom>
              <a:noFill/>
              <a:ln w="9525">
                <a:noFill/>
              </a:ln>
            </p:spPr>
            <p:txBody>
              <a:bodyPr lIns="0" tIns="0" rIns="0" bIns="0"/>
              <a:lstStyle/>
              <a:p>
                <a:pPr algn="just"/>
                <a:r>
                  <a:rPr lang="en-US" altLang="zh-CN" dirty="0">
                    <a:latin typeface="Times New Roman" panose="02020603050405020304" pitchFamily="18" charset="0"/>
                  </a:rPr>
                  <a:t>74LS194</a:t>
                </a:r>
                <a:endParaRPr lang="en-US" altLang="zh-CN" sz="3600" dirty="0">
                  <a:latin typeface="Arial" panose="020B0604020202020204" pitchFamily="34" charset="0"/>
                </a:endParaRPr>
              </a:p>
            </p:txBody>
          </p:sp>
        </p:grpSp>
        <p:sp>
          <p:nvSpPr>
            <p:cNvPr id="13327" name="Line 19"/>
            <p:cNvSpPr/>
            <p:nvPr/>
          </p:nvSpPr>
          <p:spPr>
            <a:xfrm>
              <a:off x="3372" y="12168"/>
              <a:ext cx="0" cy="468"/>
            </a:xfrm>
            <a:prstGeom prst="line">
              <a:avLst/>
            </a:prstGeom>
            <a:ln w="25400" cap="flat" cmpd="sng">
              <a:solidFill>
                <a:schemeClr val="bg2"/>
              </a:solidFill>
              <a:prstDash val="solid"/>
              <a:headEnd type="none" w="med" len="med"/>
              <a:tailEnd type="triangle" w="med" len="lg"/>
            </a:ln>
          </p:spPr>
        </p:sp>
        <p:sp>
          <p:nvSpPr>
            <p:cNvPr id="13328" name="Line 20"/>
            <p:cNvSpPr/>
            <p:nvPr/>
          </p:nvSpPr>
          <p:spPr>
            <a:xfrm>
              <a:off x="5036" y="12144"/>
              <a:ext cx="1" cy="477"/>
            </a:xfrm>
            <a:prstGeom prst="line">
              <a:avLst/>
            </a:prstGeom>
            <a:ln w="25400" cap="flat" cmpd="sng">
              <a:solidFill>
                <a:srgbClr val="FF0000"/>
              </a:solidFill>
              <a:prstDash val="solid"/>
              <a:headEnd type="none" w="med" len="med"/>
              <a:tailEnd type="stealth" w="med" len="med"/>
            </a:ln>
          </p:spPr>
        </p:sp>
        <p:sp>
          <p:nvSpPr>
            <p:cNvPr id="13329" name="Line 21"/>
            <p:cNvSpPr/>
            <p:nvPr/>
          </p:nvSpPr>
          <p:spPr>
            <a:xfrm>
              <a:off x="2640" y="12153"/>
              <a:ext cx="737" cy="0"/>
            </a:xfrm>
            <a:prstGeom prst="line">
              <a:avLst/>
            </a:prstGeom>
            <a:ln w="25400" cap="flat" cmpd="sng">
              <a:solidFill>
                <a:schemeClr val="bg2"/>
              </a:solidFill>
              <a:prstDash val="solid"/>
              <a:headEnd type="none" w="med" len="med"/>
              <a:tailEnd type="none" w="med" len="med"/>
            </a:ln>
          </p:spPr>
        </p:sp>
        <p:sp>
          <p:nvSpPr>
            <p:cNvPr id="13330" name="Rectangle 22"/>
            <p:cNvSpPr/>
            <p:nvPr/>
          </p:nvSpPr>
          <p:spPr>
            <a:xfrm>
              <a:off x="1812" y="11901"/>
              <a:ext cx="900" cy="468"/>
            </a:xfrm>
            <a:prstGeom prst="rect">
              <a:avLst/>
            </a:prstGeom>
            <a:noFill/>
            <a:ln w="9525">
              <a:noFill/>
            </a:ln>
          </p:spPr>
          <p:txBody>
            <a:bodyPr lIns="0" tIns="0" rIns="0" bIns="0"/>
            <a:lstStyle/>
            <a:p>
              <a:pPr algn="just">
                <a:lnSpc>
                  <a:spcPct val="96000"/>
                </a:lnSpc>
              </a:pPr>
              <a:r>
                <a:rPr lang="zh-CN" altLang="en-US" sz="2000" dirty="0">
                  <a:latin typeface="Times New Roman" panose="02020603050405020304" pitchFamily="18" charset="0"/>
                </a:rPr>
                <a:t>右   移</a:t>
              </a:r>
            </a:p>
            <a:p>
              <a:pPr algn="just">
                <a:lnSpc>
                  <a:spcPct val="96000"/>
                </a:lnSpc>
              </a:pPr>
              <a:r>
                <a:rPr lang="zh-CN" altLang="en-US" sz="2000" dirty="0">
                  <a:latin typeface="Times New Roman" panose="02020603050405020304" pitchFamily="18" charset="0"/>
                </a:rPr>
                <a:t>串行输入</a:t>
              </a:r>
              <a:endParaRPr lang="zh-CN" altLang="en-US" sz="4000" dirty="0">
                <a:latin typeface="Arial" panose="020B0604020202020204" pitchFamily="34" charset="0"/>
              </a:endParaRPr>
            </a:p>
          </p:txBody>
        </p:sp>
        <p:sp>
          <p:nvSpPr>
            <p:cNvPr id="13331" name="Line 23"/>
            <p:cNvSpPr/>
            <p:nvPr/>
          </p:nvSpPr>
          <p:spPr>
            <a:xfrm>
              <a:off x="2637" y="13023"/>
              <a:ext cx="540" cy="0"/>
            </a:xfrm>
            <a:prstGeom prst="line">
              <a:avLst/>
            </a:prstGeom>
            <a:ln w="9525" cap="flat" cmpd="sng">
              <a:solidFill>
                <a:srgbClr val="000000"/>
              </a:solidFill>
              <a:prstDash val="solid"/>
              <a:headEnd type="none" w="med" len="med"/>
              <a:tailEnd type="none" w="med" len="med"/>
            </a:ln>
          </p:spPr>
        </p:sp>
        <p:sp>
          <p:nvSpPr>
            <p:cNvPr id="13332" name="Line 24"/>
            <p:cNvSpPr/>
            <p:nvPr/>
          </p:nvSpPr>
          <p:spPr>
            <a:xfrm>
              <a:off x="2637" y="13341"/>
              <a:ext cx="540" cy="0"/>
            </a:xfrm>
            <a:prstGeom prst="line">
              <a:avLst/>
            </a:prstGeom>
            <a:ln w="9525" cap="flat" cmpd="sng">
              <a:solidFill>
                <a:srgbClr val="000000"/>
              </a:solidFill>
              <a:prstDash val="solid"/>
              <a:headEnd type="none" w="med" len="med"/>
              <a:tailEnd type="none" w="med" len="med"/>
            </a:ln>
          </p:spPr>
        </p:sp>
        <p:sp>
          <p:nvSpPr>
            <p:cNvPr id="13333" name="Rectangle 25"/>
            <p:cNvSpPr/>
            <p:nvPr/>
          </p:nvSpPr>
          <p:spPr>
            <a:xfrm>
              <a:off x="2319" y="12852"/>
              <a:ext cx="360" cy="312"/>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A</a:t>
              </a:r>
              <a:endParaRPr lang="en-US" altLang="zh-CN" sz="4000" dirty="0">
                <a:latin typeface="Arial" panose="020B0604020202020204" pitchFamily="34" charset="0"/>
              </a:endParaRPr>
            </a:p>
          </p:txBody>
        </p:sp>
        <p:sp>
          <p:nvSpPr>
            <p:cNvPr id="13334" name="Rectangle 26"/>
            <p:cNvSpPr/>
            <p:nvPr/>
          </p:nvSpPr>
          <p:spPr>
            <a:xfrm>
              <a:off x="2322" y="13155"/>
              <a:ext cx="360" cy="312"/>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M</a:t>
              </a:r>
              <a:r>
                <a:rPr lang="en-US" altLang="zh-CN" sz="2000" i="1" baseline="-25000" dirty="0">
                  <a:latin typeface="Times New Roman" panose="02020603050405020304" pitchFamily="18" charset="0"/>
                </a:rPr>
                <a:t>B</a:t>
              </a:r>
              <a:endParaRPr lang="en-US" altLang="zh-CN" sz="4000" dirty="0">
                <a:latin typeface="Arial" panose="020B0604020202020204" pitchFamily="34" charset="0"/>
              </a:endParaRPr>
            </a:p>
          </p:txBody>
        </p:sp>
        <p:sp>
          <p:nvSpPr>
            <p:cNvPr id="13335" name="Line 27"/>
            <p:cNvSpPr/>
            <p:nvPr/>
          </p:nvSpPr>
          <p:spPr>
            <a:xfrm flipV="1">
              <a:off x="7137" y="11811"/>
              <a:ext cx="0" cy="810"/>
            </a:xfrm>
            <a:prstGeom prst="line">
              <a:avLst/>
            </a:prstGeom>
            <a:ln w="9525" cap="flat" cmpd="sng">
              <a:solidFill>
                <a:srgbClr val="000000"/>
              </a:solidFill>
              <a:prstDash val="solid"/>
              <a:headEnd type="none" w="med" len="med"/>
              <a:tailEnd type="none" w="med" len="med"/>
            </a:ln>
          </p:spPr>
        </p:sp>
        <p:sp>
          <p:nvSpPr>
            <p:cNvPr id="13336" name="Line 28"/>
            <p:cNvSpPr/>
            <p:nvPr/>
          </p:nvSpPr>
          <p:spPr>
            <a:xfrm>
              <a:off x="8457" y="12152"/>
              <a:ext cx="0" cy="468"/>
            </a:xfrm>
            <a:prstGeom prst="line">
              <a:avLst/>
            </a:prstGeom>
            <a:ln w="25400" cap="flat" cmpd="sng">
              <a:solidFill>
                <a:srgbClr val="FF0000"/>
              </a:solidFill>
              <a:prstDash val="solid"/>
              <a:headEnd type="none" w="sm" len="lg"/>
              <a:tailEnd type="triangle" w="med" len="lg"/>
            </a:ln>
          </p:spPr>
        </p:sp>
        <p:sp>
          <p:nvSpPr>
            <p:cNvPr id="13337" name="Line 29"/>
            <p:cNvSpPr/>
            <p:nvPr/>
          </p:nvSpPr>
          <p:spPr>
            <a:xfrm>
              <a:off x="8457" y="12138"/>
              <a:ext cx="737" cy="0"/>
            </a:xfrm>
            <a:prstGeom prst="line">
              <a:avLst/>
            </a:prstGeom>
            <a:ln w="25400" cap="flat" cmpd="sng">
              <a:solidFill>
                <a:srgbClr val="FF0000"/>
              </a:solidFill>
              <a:prstDash val="solid"/>
              <a:headEnd type="none" w="med" len="med"/>
              <a:tailEnd type="none" w="med" len="med"/>
            </a:ln>
          </p:spPr>
        </p:sp>
        <p:sp>
          <p:nvSpPr>
            <p:cNvPr id="13338" name="Rectangle 30"/>
            <p:cNvSpPr/>
            <p:nvPr/>
          </p:nvSpPr>
          <p:spPr>
            <a:xfrm>
              <a:off x="9297" y="11892"/>
              <a:ext cx="900" cy="468"/>
            </a:xfrm>
            <a:prstGeom prst="rect">
              <a:avLst/>
            </a:prstGeom>
            <a:noFill/>
            <a:ln w="9525">
              <a:noFill/>
            </a:ln>
          </p:spPr>
          <p:txBody>
            <a:bodyPr lIns="0" tIns="0" rIns="0" bIns="0"/>
            <a:lstStyle/>
            <a:p>
              <a:pPr algn="just">
                <a:lnSpc>
                  <a:spcPct val="96000"/>
                </a:lnSpc>
              </a:pPr>
              <a:r>
                <a:rPr lang="zh-CN" altLang="en-US" sz="2000" dirty="0">
                  <a:latin typeface="Times New Roman" panose="02020603050405020304" pitchFamily="18" charset="0"/>
                </a:rPr>
                <a:t>左   移</a:t>
              </a:r>
            </a:p>
            <a:p>
              <a:pPr algn="just">
                <a:lnSpc>
                  <a:spcPct val="96000"/>
                </a:lnSpc>
              </a:pPr>
              <a:r>
                <a:rPr lang="zh-CN" altLang="en-US" sz="2000" dirty="0">
                  <a:latin typeface="Times New Roman" panose="02020603050405020304" pitchFamily="18" charset="0"/>
                </a:rPr>
                <a:t>串行输入</a:t>
              </a:r>
              <a:endParaRPr lang="zh-CN" altLang="en-US" sz="4000" dirty="0">
                <a:latin typeface="Arial" panose="020B0604020202020204" pitchFamily="34" charset="0"/>
              </a:endParaRPr>
            </a:p>
          </p:txBody>
        </p:sp>
        <p:sp>
          <p:nvSpPr>
            <p:cNvPr id="13339" name="Line 31"/>
            <p:cNvSpPr/>
            <p:nvPr/>
          </p:nvSpPr>
          <p:spPr>
            <a:xfrm>
              <a:off x="8697" y="13029"/>
              <a:ext cx="540" cy="0"/>
            </a:xfrm>
            <a:prstGeom prst="line">
              <a:avLst/>
            </a:prstGeom>
            <a:ln w="9525" cap="flat" cmpd="sng">
              <a:solidFill>
                <a:srgbClr val="000000"/>
              </a:solidFill>
              <a:prstDash val="solid"/>
              <a:headEnd type="none" w="med" len="med"/>
              <a:tailEnd type="none" w="med" len="med"/>
            </a:ln>
          </p:spPr>
        </p:sp>
        <p:sp>
          <p:nvSpPr>
            <p:cNvPr id="13340" name="Line 32"/>
            <p:cNvSpPr/>
            <p:nvPr/>
          </p:nvSpPr>
          <p:spPr>
            <a:xfrm>
              <a:off x="8682" y="13326"/>
              <a:ext cx="540" cy="0"/>
            </a:xfrm>
            <a:prstGeom prst="line">
              <a:avLst/>
            </a:prstGeom>
            <a:ln w="9525" cap="flat" cmpd="sng">
              <a:solidFill>
                <a:srgbClr val="000000"/>
              </a:solidFill>
              <a:prstDash val="solid"/>
              <a:headEnd type="none" w="med" len="med"/>
              <a:tailEnd type="none" w="med" len="med"/>
            </a:ln>
          </p:spPr>
        </p:sp>
        <p:sp>
          <p:nvSpPr>
            <p:cNvPr id="13341" name="Rectangle 33"/>
            <p:cNvSpPr/>
            <p:nvPr/>
          </p:nvSpPr>
          <p:spPr>
            <a:xfrm>
              <a:off x="9297" y="12858"/>
              <a:ext cx="360" cy="312"/>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CP</a:t>
              </a:r>
              <a:endParaRPr lang="en-US" altLang="zh-CN" sz="4000" dirty="0">
                <a:latin typeface="Arial" panose="020B0604020202020204" pitchFamily="34" charset="0"/>
              </a:endParaRPr>
            </a:p>
          </p:txBody>
        </p:sp>
        <p:sp>
          <p:nvSpPr>
            <p:cNvPr id="13342" name="Line 34"/>
            <p:cNvSpPr/>
            <p:nvPr/>
          </p:nvSpPr>
          <p:spPr>
            <a:xfrm>
              <a:off x="5937" y="12027"/>
              <a:ext cx="0" cy="2184"/>
            </a:xfrm>
            <a:prstGeom prst="line">
              <a:avLst/>
            </a:prstGeom>
            <a:ln w="25400" cap="flat" cmpd="sng">
              <a:solidFill>
                <a:schemeClr val="bg2"/>
              </a:solidFill>
              <a:prstDash val="solid"/>
              <a:headEnd type="none" w="med" len="med"/>
              <a:tailEnd type="none" w="med" len="med"/>
            </a:ln>
          </p:spPr>
        </p:sp>
        <p:sp>
          <p:nvSpPr>
            <p:cNvPr id="13343" name="Line 35"/>
            <p:cNvSpPr/>
            <p:nvPr/>
          </p:nvSpPr>
          <p:spPr>
            <a:xfrm>
              <a:off x="6057" y="12132"/>
              <a:ext cx="0" cy="2103"/>
            </a:xfrm>
            <a:prstGeom prst="line">
              <a:avLst/>
            </a:prstGeom>
            <a:ln w="25400" cap="flat" cmpd="sng">
              <a:solidFill>
                <a:srgbClr val="FF0000"/>
              </a:solidFill>
              <a:prstDash val="solid"/>
              <a:headEnd type="none" w="med" len="med"/>
              <a:tailEnd type="none" w="med" len="med"/>
            </a:ln>
          </p:spPr>
        </p:sp>
        <p:sp>
          <p:nvSpPr>
            <p:cNvPr id="13344" name="Line 36"/>
            <p:cNvSpPr/>
            <p:nvPr/>
          </p:nvSpPr>
          <p:spPr>
            <a:xfrm>
              <a:off x="5772" y="12420"/>
              <a:ext cx="0" cy="907"/>
            </a:xfrm>
            <a:prstGeom prst="line">
              <a:avLst/>
            </a:prstGeom>
            <a:ln w="9525" cap="flat" cmpd="sng">
              <a:solidFill>
                <a:srgbClr val="000000"/>
              </a:solidFill>
              <a:prstDash val="solid"/>
              <a:headEnd type="none" w="med" len="med"/>
              <a:tailEnd type="none" w="med" len="med"/>
            </a:ln>
          </p:spPr>
        </p:sp>
        <p:sp>
          <p:nvSpPr>
            <p:cNvPr id="13345" name="Line 37"/>
            <p:cNvSpPr/>
            <p:nvPr/>
          </p:nvSpPr>
          <p:spPr>
            <a:xfrm>
              <a:off x="6294" y="13365"/>
              <a:ext cx="0" cy="709"/>
            </a:xfrm>
            <a:prstGeom prst="line">
              <a:avLst/>
            </a:prstGeom>
            <a:ln w="9525" cap="flat" cmpd="sng">
              <a:solidFill>
                <a:srgbClr val="000000"/>
              </a:solidFill>
              <a:prstDash val="solid"/>
              <a:headEnd type="none" w="med" len="med"/>
              <a:tailEnd type="none" w="med" len="med"/>
            </a:ln>
          </p:spPr>
        </p:sp>
        <p:sp>
          <p:nvSpPr>
            <p:cNvPr id="13346" name="Line 38"/>
            <p:cNvSpPr/>
            <p:nvPr/>
          </p:nvSpPr>
          <p:spPr>
            <a:xfrm>
              <a:off x="6192" y="13059"/>
              <a:ext cx="0" cy="879"/>
            </a:xfrm>
            <a:prstGeom prst="line">
              <a:avLst/>
            </a:prstGeom>
            <a:ln w="9525" cap="flat" cmpd="sng">
              <a:solidFill>
                <a:srgbClr val="000000"/>
              </a:solidFill>
              <a:prstDash val="solid"/>
              <a:headEnd type="none" w="med" len="med"/>
              <a:tailEnd type="none" w="med" len="med"/>
            </a:ln>
          </p:spPr>
        </p:sp>
        <p:sp>
          <p:nvSpPr>
            <p:cNvPr id="13347" name="Line 39"/>
            <p:cNvSpPr/>
            <p:nvPr/>
          </p:nvSpPr>
          <p:spPr>
            <a:xfrm>
              <a:off x="5037" y="12138"/>
              <a:ext cx="1020" cy="0"/>
            </a:xfrm>
            <a:prstGeom prst="line">
              <a:avLst/>
            </a:prstGeom>
            <a:ln w="25400" cap="flat" cmpd="sng">
              <a:solidFill>
                <a:srgbClr val="FF0000"/>
              </a:solidFill>
              <a:prstDash val="solid"/>
              <a:headEnd type="none" w="med" len="med"/>
              <a:tailEnd type="none" w="med" len="med"/>
            </a:ln>
          </p:spPr>
        </p:sp>
        <p:sp>
          <p:nvSpPr>
            <p:cNvPr id="13348" name="Line 40"/>
            <p:cNvSpPr/>
            <p:nvPr/>
          </p:nvSpPr>
          <p:spPr>
            <a:xfrm>
              <a:off x="5345" y="13320"/>
              <a:ext cx="420" cy="0"/>
            </a:xfrm>
            <a:prstGeom prst="line">
              <a:avLst/>
            </a:prstGeom>
            <a:ln w="9525" cap="flat" cmpd="sng">
              <a:solidFill>
                <a:srgbClr val="000000"/>
              </a:solidFill>
              <a:prstDash val="solid"/>
              <a:headEnd type="none" w="med" len="med"/>
              <a:tailEnd type="none" w="med" len="med"/>
            </a:ln>
          </p:spPr>
        </p:sp>
        <p:sp>
          <p:nvSpPr>
            <p:cNvPr id="13349" name="Line 41"/>
            <p:cNvSpPr/>
            <p:nvPr/>
          </p:nvSpPr>
          <p:spPr>
            <a:xfrm>
              <a:off x="5329" y="13029"/>
              <a:ext cx="283" cy="0"/>
            </a:xfrm>
            <a:prstGeom prst="line">
              <a:avLst/>
            </a:prstGeom>
            <a:ln w="9525" cap="flat" cmpd="sng">
              <a:solidFill>
                <a:srgbClr val="000000"/>
              </a:solidFill>
              <a:prstDash val="solid"/>
              <a:headEnd type="none" w="med" len="med"/>
              <a:tailEnd type="none" w="med" len="med"/>
            </a:ln>
          </p:spPr>
        </p:sp>
        <p:sp>
          <p:nvSpPr>
            <p:cNvPr id="13350" name="Line 42"/>
            <p:cNvSpPr/>
            <p:nvPr/>
          </p:nvSpPr>
          <p:spPr>
            <a:xfrm>
              <a:off x="5772" y="12420"/>
              <a:ext cx="3175" cy="0"/>
            </a:xfrm>
            <a:prstGeom prst="line">
              <a:avLst/>
            </a:prstGeom>
            <a:ln w="9525" cap="flat" cmpd="sng">
              <a:solidFill>
                <a:srgbClr val="000000"/>
              </a:solidFill>
              <a:prstDash val="solid"/>
              <a:headEnd type="none" w="med" len="med"/>
              <a:tailEnd type="none" w="med" len="med"/>
            </a:ln>
          </p:spPr>
        </p:sp>
        <p:sp>
          <p:nvSpPr>
            <p:cNvPr id="13351" name="Line 43"/>
            <p:cNvSpPr/>
            <p:nvPr/>
          </p:nvSpPr>
          <p:spPr>
            <a:xfrm>
              <a:off x="8945" y="12420"/>
              <a:ext cx="0" cy="907"/>
            </a:xfrm>
            <a:prstGeom prst="line">
              <a:avLst/>
            </a:prstGeom>
            <a:ln w="9525" cap="flat" cmpd="sng">
              <a:solidFill>
                <a:srgbClr val="000000"/>
              </a:solidFill>
              <a:prstDash val="solid"/>
              <a:headEnd type="none" w="med" len="med"/>
              <a:tailEnd type="none" w="med" len="med"/>
            </a:ln>
          </p:spPr>
        </p:sp>
        <p:sp>
          <p:nvSpPr>
            <p:cNvPr id="13352" name="Oval 44"/>
            <p:cNvSpPr/>
            <p:nvPr/>
          </p:nvSpPr>
          <p:spPr>
            <a:xfrm>
              <a:off x="8914" y="13290"/>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3353" name="Line 45"/>
            <p:cNvSpPr/>
            <p:nvPr/>
          </p:nvSpPr>
          <p:spPr>
            <a:xfrm>
              <a:off x="9064" y="12308"/>
              <a:ext cx="0" cy="706"/>
            </a:xfrm>
            <a:prstGeom prst="line">
              <a:avLst/>
            </a:prstGeom>
            <a:ln w="9525" cap="flat" cmpd="sng">
              <a:solidFill>
                <a:srgbClr val="000000"/>
              </a:solidFill>
              <a:prstDash val="solid"/>
              <a:headEnd type="none" w="med" len="med"/>
              <a:tailEnd type="none" w="med" len="med"/>
            </a:ln>
          </p:spPr>
        </p:sp>
        <p:sp>
          <p:nvSpPr>
            <p:cNvPr id="13354" name="Line 46"/>
            <p:cNvSpPr/>
            <p:nvPr/>
          </p:nvSpPr>
          <p:spPr>
            <a:xfrm>
              <a:off x="5607" y="12309"/>
              <a:ext cx="0" cy="709"/>
            </a:xfrm>
            <a:prstGeom prst="line">
              <a:avLst/>
            </a:prstGeom>
            <a:ln w="9525" cap="flat" cmpd="sng">
              <a:solidFill>
                <a:srgbClr val="000000"/>
              </a:solidFill>
              <a:prstDash val="solid"/>
              <a:headEnd type="none" w="med" len="med"/>
              <a:tailEnd type="none" w="med" len="med"/>
            </a:ln>
          </p:spPr>
        </p:sp>
        <p:sp>
          <p:nvSpPr>
            <p:cNvPr id="13355" name="Oval 47"/>
            <p:cNvSpPr/>
            <p:nvPr/>
          </p:nvSpPr>
          <p:spPr>
            <a:xfrm>
              <a:off x="9041" y="12999"/>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3356" name="Line 48"/>
            <p:cNvSpPr/>
            <p:nvPr/>
          </p:nvSpPr>
          <p:spPr>
            <a:xfrm flipV="1">
              <a:off x="5928" y="12030"/>
              <a:ext cx="924" cy="0"/>
            </a:xfrm>
            <a:prstGeom prst="line">
              <a:avLst/>
            </a:prstGeom>
            <a:ln w="25400" cap="flat" cmpd="sng">
              <a:solidFill>
                <a:schemeClr val="bg2"/>
              </a:solidFill>
              <a:prstDash val="solid"/>
              <a:headEnd type="none" w="med" len="med"/>
              <a:tailEnd type="none" w="med" len="med"/>
            </a:ln>
          </p:spPr>
        </p:sp>
        <p:sp>
          <p:nvSpPr>
            <p:cNvPr id="13357" name="Line 49"/>
            <p:cNvSpPr/>
            <p:nvPr/>
          </p:nvSpPr>
          <p:spPr>
            <a:xfrm flipV="1">
              <a:off x="7497" y="11811"/>
              <a:ext cx="0" cy="810"/>
            </a:xfrm>
            <a:prstGeom prst="line">
              <a:avLst/>
            </a:prstGeom>
            <a:ln w="9525" cap="flat" cmpd="sng">
              <a:solidFill>
                <a:srgbClr val="000000"/>
              </a:solidFill>
              <a:prstDash val="solid"/>
              <a:headEnd type="none" w="med" len="med"/>
              <a:tailEnd type="none" w="med" len="med"/>
            </a:ln>
          </p:spPr>
        </p:sp>
        <p:sp>
          <p:nvSpPr>
            <p:cNvPr id="13358" name="Line 50"/>
            <p:cNvSpPr/>
            <p:nvPr/>
          </p:nvSpPr>
          <p:spPr>
            <a:xfrm flipV="1">
              <a:off x="7827" y="11811"/>
              <a:ext cx="0" cy="810"/>
            </a:xfrm>
            <a:prstGeom prst="line">
              <a:avLst/>
            </a:prstGeom>
            <a:ln w="9525" cap="flat" cmpd="sng">
              <a:solidFill>
                <a:srgbClr val="000000"/>
              </a:solidFill>
              <a:prstDash val="solid"/>
              <a:headEnd type="none" w="med" len="med"/>
              <a:tailEnd type="none" w="med" len="med"/>
            </a:ln>
          </p:spPr>
        </p:sp>
        <p:sp>
          <p:nvSpPr>
            <p:cNvPr id="13359" name="Line 51"/>
            <p:cNvSpPr/>
            <p:nvPr/>
          </p:nvSpPr>
          <p:spPr>
            <a:xfrm flipV="1">
              <a:off x="8157" y="11811"/>
              <a:ext cx="0" cy="810"/>
            </a:xfrm>
            <a:prstGeom prst="line">
              <a:avLst/>
            </a:prstGeom>
            <a:ln w="9525" cap="flat" cmpd="sng">
              <a:solidFill>
                <a:srgbClr val="000000"/>
              </a:solidFill>
              <a:prstDash val="solid"/>
              <a:headEnd type="none" w="med" len="med"/>
              <a:tailEnd type="none" w="med" len="med"/>
            </a:ln>
          </p:spPr>
        </p:sp>
        <p:sp>
          <p:nvSpPr>
            <p:cNvPr id="13360" name="Oval 52"/>
            <p:cNvSpPr/>
            <p:nvPr/>
          </p:nvSpPr>
          <p:spPr>
            <a:xfrm>
              <a:off x="5337" y="13290"/>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3361" name="Oval 53"/>
            <p:cNvSpPr/>
            <p:nvPr/>
          </p:nvSpPr>
          <p:spPr>
            <a:xfrm>
              <a:off x="8697" y="13298"/>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3362" name="Line 54"/>
            <p:cNvSpPr/>
            <p:nvPr/>
          </p:nvSpPr>
          <p:spPr>
            <a:xfrm>
              <a:off x="6192" y="13059"/>
              <a:ext cx="340" cy="0"/>
            </a:xfrm>
            <a:prstGeom prst="line">
              <a:avLst/>
            </a:prstGeom>
            <a:ln w="9525" cap="flat" cmpd="sng">
              <a:solidFill>
                <a:srgbClr val="000000"/>
              </a:solidFill>
              <a:prstDash val="solid"/>
              <a:headEnd type="none" w="med" len="med"/>
              <a:tailEnd type="none" w="med" len="med"/>
            </a:ln>
          </p:spPr>
        </p:sp>
        <p:sp>
          <p:nvSpPr>
            <p:cNvPr id="13363" name="Line 55"/>
            <p:cNvSpPr/>
            <p:nvPr/>
          </p:nvSpPr>
          <p:spPr>
            <a:xfrm>
              <a:off x="6282" y="13356"/>
              <a:ext cx="255" cy="0"/>
            </a:xfrm>
            <a:prstGeom prst="line">
              <a:avLst/>
            </a:prstGeom>
            <a:ln w="9525" cap="flat" cmpd="sng">
              <a:solidFill>
                <a:srgbClr val="000000"/>
              </a:solidFill>
              <a:prstDash val="solid"/>
              <a:headEnd type="none" w="med" len="med"/>
              <a:tailEnd type="none" w="med" len="med"/>
            </a:ln>
          </p:spPr>
        </p:sp>
        <p:sp>
          <p:nvSpPr>
            <p:cNvPr id="13364" name="Line 56"/>
            <p:cNvSpPr/>
            <p:nvPr/>
          </p:nvSpPr>
          <p:spPr>
            <a:xfrm flipV="1">
              <a:off x="4047" y="11811"/>
              <a:ext cx="0" cy="810"/>
            </a:xfrm>
            <a:prstGeom prst="line">
              <a:avLst/>
            </a:prstGeom>
            <a:ln w="9525" cap="flat" cmpd="sng">
              <a:solidFill>
                <a:srgbClr val="000000"/>
              </a:solidFill>
              <a:prstDash val="solid"/>
              <a:headEnd type="none" w="med" len="med"/>
              <a:tailEnd type="none" w="med" len="med"/>
            </a:ln>
          </p:spPr>
        </p:sp>
        <p:sp>
          <p:nvSpPr>
            <p:cNvPr id="13365" name="Line 57"/>
            <p:cNvSpPr/>
            <p:nvPr/>
          </p:nvSpPr>
          <p:spPr>
            <a:xfrm flipV="1">
              <a:off x="4707" y="11811"/>
              <a:ext cx="0" cy="810"/>
            </a:xfrm>
            <a:prstGeom prst="line">
              <a:avLst/>
            </a:prstGeom>
            <a:ln w="9525" cap="flat" cmpd="sng">
              <a:solidFill>
                <a:srgbClr val="000000"/>
              </a:solidFill>
              <a:prstDash val="solid"/>
              <a:headEnd type="none" w="med" len="med"/>
              <a:tailEnd type="none" w="med" len="med"/>
            </a:ln>
          </p:spPr>
        </p:sp>
        <p:sp>
          <p:nvSpPr>
            <p:cNvPr id="13366" name="Line 58"/>
            <p:cNvSpPr/>
            <p:nvPr/>
          </p:nvSpPr>
          <p:spPr>
            <a:xfrm flipV="1">
              <a:off x="4392" y="11811"/>
              <a:ext cx="0" cy="810"/>
            </a:xfrm>
            <a:prstGeom prst="line">
              <a:avLst/>
            </a:prstGeom>
            <a:ln w="9525" cap="flat" cmpd="sng">
              <a:solidFill>
                <a:srgbClr val="000000"/>
              </a:solidFill>
              <a:prstDash val="solid"/>
              <a:headEnd type="none" w="med" len="med"/>
              <a:tailEnd type="none" w="med" len="med"/>
            </a:ln>
          </p:spPr>
        </p:sp>
        <p:sp>
          <p:nvSpPr>
            <p:cNvPr id="13367" name="Line 59"/>
            <p:cNvSpPr/>
            <p:nvPr/>
          </p:nvSpPr>
          <p:spPr>
            <a:xfrm flipV="1">
              <a:off x="3687" y="11811"/>
              <a:ext cx="0" cy="810"/>
            </a:xfrm>
            <a:prstGeom prst="line">
              <a:avLst/>
            </a:prstGeom>
            <a:ln w="9525" cap="flat" cmpd="sng">
              <a:solidFill>
                <a:srgbClr val="000000"/>
              </a:solidFill>
              <a:prstDash val="solid"/>
              <a:headEnd type="none" w="med" len="med"/>
              <a:tailEnd type="none" w="med" len="med"/>
            </a:ln>
          </p:spPr>
        </p:sp>
        <p:sp>
          <p:nvSpPr>
            <p:cNvPr id="13368" name="AutoShape 60"/>
            <p:cNvSpPr/>
            <p:nvPr/>
          </p:nvSpPr>
          <p:spPr>
            <a:xfrm rot="5400000">
              <a:off x="5796" y="9552"/>
              <a:ext cx="237" cy="4275"/>
            </a:xfrm>
            <a:prstGeom prst="leftBrace">
              <a:avLst>
                <a:gd name="adj1" fmla="val 150316"/>
                <a:gd name="adj2" fmla="val 50000"/>
              </a:avLst>
            </a:prstGeom>
            <a:no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3369" name="Line 61"/>
            <p:cNvSpPr/>
            <p:nvPr/>
          </p:nvSpPr>
          <p:spPr>
            <a:xfrm flipV="1">
              <a:off x="3672" y="13728"/>
              <a:ext cx="0" cy="810"/>
            </a:xfrm>
            <a:prstGeom prst="line">
              <a:avLst/>
            </a:prstGeom>
            <a:ln w="9525" cap="flat" cmpd="sng">
              <a:solidFill>
                <a:srgbClr val="000000"/>
              </a:solidFill>
              <a:prstDash val="solid"/>
              <a:headEnd type="none" w="med" len="med"/>
              <a:tailEnd type="none" w="med" len="med"/>
            </a:ln>
          </p:spPr>
        </p:sp>
        <p:sp>
          <p:nvSpPr>
            <p:cNvPr id="13370" name="Line 62"/>
            <p:cNvSpPr/>
            <p:nvPr/>
          </p:nvSpPr>
          <p:spPr>
            <a:xfrm flipV="1">
              <a:off x="4002" y="13719"/>
              <a:ext cx="0" cy="810"/>
            </a:xfrm>
            <a:prstGeom prst="line">
              <a:avLst/>
            </a:prstGeom>
            <a:ln w="9525" cap="flat" cmpd="sng">
              <a:solidFill>
                <a:srgbClr val="000000"/>
              </a:solidFill>
              <a:prstDash val="solid"/>
              <a:headEnd type="none" w="med" len="med"/>
              <a:tailEnd type="none" w="med" len="med"/>
            </a:ln>
          </p:spPr>
        </p:sp>
        <p:sp>
          <p:nvSpPr>
            <p:cNvPr id="13371" name="Line 63"/>
            <p:cNvSpPr/>
            <p:nvPr/>
          </p:nvSpPr>
          <p:spPr>
            <a:xfrm flipV="1">
              <a:off x="4347" y="13719"/>
              <a:ext cx="0" cy="810"/>
            </a:xfrm>
            <a:prstGeom prst="line">
              <a:avLst/>
            </a:prstGeom>
            <a:ln w="9525" cap="flat" cmpd="sng">
              <a:solidFill>
                <a:srgbClr val="000000"/>
              </a:solidFill>
              <a:prstDash val="solid"/>
              <a:headEnd type="none" w="med" len="med"/>
              <a:tailEnd type="none" w="med" len="med"/>
            </a:ln>
          </p:spPr>
        </p:sp>
        <p:sp>
          <p:nvSpPr>
            <p:cNvPr id="13372" name="Line 64"/>
            <p:cNvSpPr/>
            <p:nvPr/>
          </p:nvSpPr>
          <p:spPr>
            <a:xfrm flipV="1">
              <a:off x="4677" y="13728"/>
              <a:ext cx="0" cy="810"/>
            </a:xfrm>
            <a:prstGeom prst="line">
              <a:avLst/>
            </a:prstGeom>
            <a:ln w="25400" cap="flat" cmpd="sng">
              <a:solidFill>
                <a:schemeClr val="bg2"/>
              </a:solidFill>
              <a:prstDash val="solid"/>
              <a:headEnd type="none" w="med" len="med"/>
              <a:tailEnd type="none" w="med" len="med"/>
            </a:ln>
          </p:spPr>
        </p:sp>
        <p:sp>
          <p:nvSpPr>
            <p:cNvPr id="13373" name="Line 65"/>
            <p:cNvSpPr/>
            <p:nvPr/>
          </p:nvSpPr>
          <p:spPr>
            <a:xfrm flipV="1">
              <a:off x="7032" y="13728"/>
              <a:ext cx="0" cy="810"/>
            </a:xfrm>
            <a:prstGeom prst="line">
              <a:avLst/>
            </a:prstGeom>
            <a:ln w="25400" cap="flat" cmpd="sng">
              <a:solidFill>
                <a:srgbClr val="FF0000"/>
              </a:solidFill>
              <a:prstDash val="solid"/>
              <a:headEnd type="none" w="med" len="med"/>
              <a:tailEnd type="none" w="med" len="med"/>
            </a:ln>
          </p:spPr>
        </p:sp>
        <p:sp>
          <p:nvSpPr>
            <p:cNvPr id="13374" name="Line 66"/>
            <p:cNvSpPr/>
            <p:nvPr/>
          </p:nvSpPr>
          <p:spPr>
            <a:xfrm flipV="1">
              <a:off x="7362" y="13719"/>
              <a:ext cx="0" cy="810"/>
            </a:xfrm>
            <a:prstGeom prst="line">
              <a:avLst/>
            </a:prstGeom>
            <a:ln w="9525" cap="flat" cmpd="sng">
              <a:solidFill>
                <a:srgbClr val="000000"/>
              </a:solidFill>
              <a:prstDash val="solid"/>
              <a:headEnd type="none" w="med" len="med"/>
              <a:tailEnd type="none" w="med" len="med"/>
            </a:ln>
          </p:spPr>
        </p:sp>
        <p:sp>
          <p:nvSpPr>
            <p:cNvPr id="13375" name="Line 67"/>
            <p:cNvSpPr/>
            <p:nvPr/>
          </p:nvSpPr>
          <p:spPr>
            <a:xfrm flipV="1">
              <a:off x="7707" y="13719"/>
              <a:ext cx="0" cy="810"/>
            </a:xfrm>
            <a:prstGeom prst="line">
              <a:avLst/>
            </a:prstGeom>
            <a:ln w="9525" cap="flat" cmpd="sng">
              <a:solidFill>
                <a:srgbClr val="000000"/>
              </a:solidFill>
              <a:prstDash val="solid"/>
              <a:headEnd type="none" w="med" len="med"/>
              <a:tailEnd type="none" w="med" len="med"/>
            </a:ln>
          </p:spPr>
        </p:sp>
        <p:sp>
          <p:nvSpPr>
            <p:cNvPr id="13376" name="Line 68"/>
            <p:cNvSpPr/>
            <p:nvPr/>
          </p:nvSpPr>
          <p:spPr>
            <a:xfrm flipV="1">
              <a:off x="8037" y="13728"/>
              <a:ext cx="0" cy="810"/>
            </a:xfrm>
            <a:prstGeom prst="line">
              <a:avLst/>
            </a:prstGeom>
            <a:ln w="9525" cap="flat" cmpd="sng">
              <a:solidFill>
                <a:srgbClr val="000000"/>
              </a:solidFill>
              <a:prstDash val="solid"/>
              <a:headEnd type="none" w="med" len="med"/>
              <a:tailEnd type="none" w="med" len="med"/>
            </a:ln>
          </p:spPr>
        </p:sp>
        <p:sp>
          <p:nvSpPr>
            <p:cNvPr id="13377" name="Line 69"/>
            <p:cNvSpPr/>
            <p:nvPr/>
          </p:nvSpPr>
          <p:spPr>
            <a:xfrm>
              <a:off x="2937" y="13947"/>
              <a:ext cx="3260" cy="0"/>
            </a:xfrm>
            <a:prstGeom prst="line">
              <a:avLst/>
            </a:prstGeom>
            <a:ln w="9525" cap="flat" cmpd="sng">
              <a:solidFill>
                <a:srgbClr val="000000"/>
              </a:solidFill>
              <a:prstDash val="solid"/>
              <a:headEnd type="none" w="med" len="med"/>
              <a:tailEnd type="none" w="med" len="med"/>
            </a:ln>
          </p:spPr>
        </p:sp>
        <p:sp>
          <p:nvSpPr>
            <p:cNvPr id="13378" name="Line 70"/>
            <p:cNvSpPr/>
            <p:nvPr/>
          </p:nvSpPr>
          <p:spPr>
            <a:xfrm>
              <a:off x="2937" y="13014"/>
              <a:ext cx="0" cy="936"/>
            </a:xfrm>
            <a:prstGeom prst="line">
              <a:avLst/>
            </a:prstGeom>
            <a:ln w="9525" cap="flat" cmpd="sng">
              <a:solidFill>
                <a:srgbClr val="000000"/>
              </a:solidFill>
              <a:prstDash val="solid"/>
              <a:headEnd type="none" w="med" len="med"/>
              <a:tailEnd type="none" w="med" len="med"/>
            </a:ln>
          </p:spPr>
        </p:sp>
        <p:sp>
          <p:nvSpPr>
            <p:cNvPr id="13379" name="Line 71"/>
            <p:cNvSpPr/>
            <p:nvPr/>
          </p:nvSpPr>
          <p:spPr>
            <a:xfrm>
              <a:off x="2817" y="13341"/>
              <a:ext cx="0" cy="726"/>
            </a:xfrm>
            <a:prstGeom prst="line">
              <a:avLst/>
            </a:prstGeom>
            <a:ln w="9525" cap="flat" cmpd="sng">
              <a:solidFill>
                <a:srgbClr val="000000"/>
              </a:solidFill>
              <a:prstDash val="solid"/>
              <a:headEnd type="none" w="med" len="med"/>
              <a:tailEnd type="none" w="med" len="med"/>
            </a:ln>
          </p:spPr>
        </p:sp>
        <p:sp>
          <p:nvSpPr>
            <p:cNvPr id="13380" name="Line 72"/>
            <p:cNvSpPr/>
            <p:nvPr/>
          </p:nvSpPr>
          <p:spPr>
            <a:xfrm>
              <a:off x="2817" y="14061"/>
              <a:ext cx="3475" cy="0"/>
            </a:xfrm>
            <a:prstGeom prst="line">
              <a:avLst/>
            </a:prstGeom>
            <a:ln w="9525" cap="flat" cmpd="sng">
              <a:solidFill>
                <a:srgbClr val="000000"/>
              </a:solidFill>
              <a:prstDash val="solid"/>
              <a:headEnd type="none" w="med" len="med"/>
              <a:tailEnd type="none" w="med" len="med"/>
            </a:ln>
          </p:spPr>
        </p:sp>
        <p:sp>
          <p:nvSpPr>
            <p:cNvPr id="13381" name="Oval 73"/>
            <p:cNvSpPr/>
            <p:nvPr/>
          </p:nvSpPr>
          <p:spPr>
            <a:xfrm>
              <a:off x="2914" y="12992"/>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3382" name="Oval 74"/>
            <p:cNvSpPr/>
            <p:nvPr/>
          </p:nvSpPr>
          <p:spPr>
            <a:xfrm>
              <a:off x="2786" y="13319"/>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3383" name="Line 75"/>
            <p:cNvSpPr/>
            <p:nvPr/>
          </p:nvSpPr>
          <p:spPr>
            <a:xfrm>
              <a:off x="6057" y="14232"/>
              <a:ext cx="975" cy="0"/>
            </a:xfrm>
            <a:prstGeom prst="line">
              <a:avLst/>
            </a:prstGeom>
            <a:ln w="25400" cap="flat" cmpd="sng">
              <a:solidFill>
                <a:srgbClr val="FF0000"/>
              </a:solidFill>
              <a:prstDash val="solid"/>
              <a:headEnd type="none" w="med" len="med"/>
              <a:tailEnd type="none" w="med" len="med"/>
            </a:ln>
          </p:spPr>
        </p:sp>
        <p:sp>
          <p:nvSpPr>
            <p:cNvPr id="13384" name="Oval 76"/>
            <p:cNvSpPr/>
            <p:nvPr/>
          </p:nvSpPr>
          <p:spPr>
            <a:xfrm>
              <a:off x="4646" y="14187"/>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3385" name="Oval 77"/>
            <p:cNvSpPr/>
            <p:nvPr/>
          </p:nvSpPr>
          <p:spPr>
            <a:xfrm>
              <a:off x="7002" y="14195"/>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3386" name="AutoShape 78"/>
            <p:cNvSpPr/>
            <p:nvPr/>
          </p:nvSpPr>
          <p:spPr>
            <a:xfrm rot="-5400000">
              <a:off x="5737" y="12478"/>
              <a:ext cx="237" cy="4275"/>
            </a:xfrm>
            <a:prstGeom prst="leftBrace">
              <a:avLst>
                <a:gd name="adj1" fmla="val 150316"/>
                <a:gd name="adj2" fmla="val 50000"/>
              </a:avLst>
            </a:prstGeom>
            <a:noFill/>
            <a:ln w="9525" cap="flat" cmpd="sng">
              <a:solidFill>
                <a:srgbClr val="000000"/>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3387" name="Rectangle 79"/>
            <p:cNvSpPr/>
            <p:nvPr/>
          </p:nvSpPr>
          <p:spPr>
            <a:xfrm>
              <a:off x="5044" y="14692"/>
              <a:ext cx="1620" cy="369"/>
            </a:xfrm>
            <a:prstGeom prst="rect">
              <a:avLst/>
            </a:prstGeom>
            <a:noFill/>
            <a:ln w="9525">
              <a:noFill/>
            </a:ln>
          </p:spPr>
          <p:txBody>
            <a:bodyPr tIns="0" bIns="0"/>
            <a:lstStyle/>
            <a:p>
              <a:pPr algn="just"/>
              <a:r>
                <a:rPr lang="zh-CN" altLang="en-US" dirty="0">
                  <a:latin typeface="Times New Roman" panose="02020603050405020304" pitchFamily="18" charset="0"/>
                </a:rPr>
                <a:t>并行数据输出</a:t>
              </a:r>
              <a:endParaRPr lang="zh-CN" altLang="en-US" sz="3600" dirty="0">
                <a:latin typeface="Arial" panose="020B0604020202020204" pitchFamily="34" charset="0"/>
              </a:endParaRPr>
            </a:p>
          </p:txBody>
        </p:sp>
      </p:grpSp>
      <p:sp>
        <p:nvSpPr>
          <p:cNvPr id="13315" name="Text Box 80"/>
          <p:cNvSpPr txBox="1"/>
          <p:nvPr/>
        </p:nvSpPr>
        <p:spPr>
          <a:xfrm>
            <a:off x="395288" y="765175"/>
            <a:ext cx="5976937" cy="561975"/>
          </a:xfrm>
          <a:prstGeom prst="rect">
            <a:avLst/>
          </a:prstGeom>
          <a:noFill/>
          <a:ln w="9525">
            <a:noFill/>
          </a:ln>
        </p:spPr>
        <p:txBody>
          <a:bodyPr/>
          <a:lstStyle/>
          <a:p>
            <a:pPr algn="ctr"/>
            <a:r>
              <a:rPr lang="zh-CN" altLang="en-US" sz="2400" dirty="0">
                <a:latin typeface="Times New Roman" panose="02020603050405020304" pitchFamily="18" charset="0"/>
              </a:rPr>
              <a:t>由两片</a:t>
            </a:r>
            <a:r>
              <a:rPr lang="en-US" altLang="zh-CN" sz="2400" dirty="0">
                <a:latin typeface="Times New Roman" panose="02020603050405020304" pitchFamily="18" charset="0"/>
              </a:rPr>
              <a:t>74LS194</a:t>
            </a:r>
            <a:r>
              <a:rPr lang="zh-CN" altLang="en-US" sz="2400" dirty="0">
                <a:latin typeface="Times New Roman" panose="02020603050405020304" pitchFamily="18" charset="0"/>
              </a:rPr>
              <a:t>连成的</a:t>
            </a:r>
            <a:r>
              <a:rPr lang="en-US" altLang="zh-CN" sz="2400" dirty="0">
                <a:latin typeface="Times New Roman" panose="02020603050405020304" pitchFamily="18" charset="0"/>
              </a:rPr>
              <a:t>8</a:t>
            </a:r>
            <a:r>
              <a:rPr lang="zh-CN" altLang="en-US" sz="2400" dirty="0">
                <a:latin typeface="Times New Roman" panose="02020603050405020304" pitchFamily="18" charset="0"/>
              </a:rPr>
              <a:t>位双向移位寄存器</a:t>
            </a:r>
            <a:endParaRPr lang="zh-CN" altLang="en-US" sz="4400" dirty="0">
              <a:latin typeface="Arial" panose="020B0604020202020204" pitchFamily="34" charset="0"/>
            </a:endParaRPr>
          </a:p>
        </p:txBody>
      </p:sp>
      <p:sp>
        <p:nvSpPr>
          <p:cNvPr id="13316" name="Rectangle 82"/>
          <p:cNvSpPr/>
          <p:nvPr/>
        </p:nvSpPr>
        <p:spPr>
          <a:xfrm>
            <a:off x="0" y="3328988"/>
            <a:ext cx="9144000" cy="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13317" name="Object 81"/>
          <p:cNvGraphicFramePr>
            <a:graphicFrameLocks noChangeAspect="1"/>
          </p:cNvGraphicFramePr>
          <p:nvPr/>
        </p:nvGraphicFramePr>
        <p:xfrm>
          <a:off x="3203575" y="4005263"/>
          <a:ext cx="373063" cy="460375"/>
        </p:xfrm>
        <a:graphic>
          <a:graphicData uri="http://schemas.openxmlformats.org/presentationml/2006/ole">
            <mc:AlternateContent xmlns:mc="http://schemas.openxmlformats.org/markup-compatibility/2006">
              <mc:Choice xmlns:v="urn:schemas-microsoft-com:vml" Requires="v">
                <p:oleObj r:id="rId2" imgW="165100" imgH="203200" progId="Equation.3">
                  <p:embed/>
                </p:oleObj>
              </mc:Choice>
              <mc:Fallback>
                <p:oleObj r:id="rId2" imgW="165100" imgH="203200" progId="Equation.3">
                  <p:embed/>
                  <p:pic>
                    <p:nvPicPr>
                      <p:cNvPr id="0" name="图片 3083"/>
                      <p:cNvPicPr/>
                      <p:nvPr/>
                    </p:nvPicPr>
                    <p:blipFill>
                      <a:blip r:embed="rId3"/>
                      <a:stretch>
                        <a:fillRect/>
                      </a:stretch>
                    </p:blipFill>
                    <p:spPr>
                      <a:xfrm>
                        <a:off x="3203575" y="4005263"/>
                        <a:ext cx="373063" cy="460375"/>
                      </a:xfrm>
                      <a:prstGeom prst="rect">
                        <a:avLst/>
                      </a:prstGeom>
                      <a:noFill/>
                      <a:ln w="38100">
                        <a:noFill/>
                        <a:miter/>
                      </a:ln>
                    </p:spPr>
                  </p:pic>
                </p:oleObj>
              </mc:Fallback>
            </mc:AlternateContent>
          </a:graphicData>
        </a:graphic>
      </p:graphicFrame>
      <p:graphicFrame>
        <p:nvGraphicFramePr>
          <p:cNvPr id="13318" name="Object 83"/>
          <p:cNvGraphicFramePr>
            <a:graphicFrameLocks noChangeAspect="1"/>
          </p:cNvGraphicFramePr>
          <p:nvPr/>
        </p:nvGraphicFramePr>
        <p:xfrm>
          <a:off x="6732588" y="4005263"/>
          <a:ext cx="373062" cy="460375"/>
        </p:xfrm>
        <a:graphic>
          <a:graphicData uri="http://schemas.openxmlformats.org/presentationml/2006/ole">
            <mc:AlternateContent xmlns:mc="http://schemas.openxmlformats.org/markup-compatibility/2006">
              <mc:Choice xmlns:v="urn:schemas-microsoft-com:vml" Requires="v">
                <p:oleObj r:id="rId4" imgW="165100" imgH="203200" progId="Equation.3">
                  <p:embed/>
                </p:oleObj>
              </mc:Choice>
              <mc:Fallback>
                <p:oleObj r:id="rId4" imgW="165100" imgH="203200" progId="Equation.3">
                  <p:embed/>
                  <p:pic>
                    <p:nvPicPr>
                      <p:cNvPr id="0" name="图片 3085"/>
                      <p:cNvPicPr/>
                      <p:nvPr/>
                    </p:nvPicPr>
                    <p:blipFill>
                      <a:blip r:embed="rId3"/>
                      <a:stretch>
                        <a:fillRect/>
                      </a:stretch>
                    </p:blipFill>
                    <p:spPr>
                      <a:xfrm>
                        <a:off x="6732588" y="4005263"/>
                        <a:ext cx="373062" cy="460375"/>
                      </a:xfrm>
                      <a:prstGeom prst="rect">
                        <a:avLst/>
                      </a:prstGeom>
                      <a:noFill/>
                      <a:ln w="38100">
                        <a:noFill/>
                        <a:miter/>
                      </a:ln>
                    </p:spPr>
                  </p:pic>
                </p:oleObj>
              </mc:Fallback>
            </mc:AlternateContent>
          </a:graphicData>
        </a:graphic>
      </p:graphicFrame>
      <p:graphicFrame>
        <p:nvGraphicFramePr>
          <p:cNvPr id="13319" name="Object 84"/>
          <p:cNvGraphicFramePr>
            <a:graphicFrameLocks noChangeAspect="1"/>
          </p:cNvGraphicFramePr>
          <p:nvPr/>
        </p:nvGraphicFramePr>
        <p:xfrm>
          <a:off x="7812088" y="4005263"/>
          <a:ext cx="373062" cy="460375"/>
        </p:xfrm>
        <a:graphic>
          <a:graphicData uri="http://schemas.openxmlformats.org/presentationml/2006/ole">
            <mc:AlternateContent xmlns:mc="http://schemas.openxmlformats.org/markup-compatibility/2006">
              <mc:Choice xmlns:v="urn:schemas-microsoft-com:vml" Requires="v">
                <p:oleObj r:id="rId4" imgW="165100" imgH="203200" progId="Equation.3">
                  <p:embed/>
                </p:oleObj>
              </mc:Choice>
              <mc:Fallback>
                <p:oleObj r:id="rId4" imgW="165100" imgH="203200" progId="Equation.3">
                  <p:embed/>
                  <p:pic>
                    <p:nvPicPr>
                      <p:cNvPr id="0" name="图片 3084"/>
                      <p:cNvPicPr/>
                      <p:nvPr/>
                    </p:nvPicPr>
                    <p:blipFill>
                      <a:blip r:embed="rId3"/>
                      <a:stretch>
                        <a:fillRect/>
                      </a:stretch>
                    </p:blipFill>
                    <p:spPr>
                      <a:xfrm>
                        <a:off x="7812088" y="4005263"/>
                        <a:ext cx="373062" cy="460375"/>
                      </a:xfrm>
                      <a:prstGeom prst="rect">
                        <a:avLst/>
                      </a:prstGeom>
                      <a:noFill/>
                      <a:ln w="38100">
                        <a:noFill/>
                        <a:miter/>
                      </a:ln>
                    </p:spPr>
                  </p:pic>
                </p:oleObj>
              </mc:Fallback>
            </mc:AlternateContent>
          </a:graphicData>
        </a:graphic>
      </p:graphicFrame>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Text Box 4"/>
          <p:cNvSpPr txBox="1">
            <a:spLocks noChangeArrowheads="1"/>
          </p:cNvSpPr>
          <p:nvPr/>
        </p:nvSpPr>
        <p:spPr bwMode="auto">
          <a:xfrm>
            <a:off x="468313" y="549275"/>
            <a:ext cx="3832225" cy="519113"/>
          </a:xfrm>
          <a:prstGeom prst="rect">
            <a:avLst/>
          </a:prstGeom>
          <a:noFill/>
          <a:ln w="9525">
            <a:noFill/>
            <a:miter lim="800000"/>
          </a:ln>
          <a:effectLst/>
        </p:spPr>
        <p:txBody>
          <a:bodyPr wrap="none">
            <a:spAutoFit/>
          </a:bodyPr>
          <a:lstStyle/>
          <a:p>
            <a:pPr marR="0" defTabSz="914400">
              <a:buClrTx/>
              <a:buSzTx/>
              <a:buFontTx/>
              <a:buNone/>
              <a:defRPr/>
            </a:pPr>
            <a:r>
              <a:rPr kumimoji="1" lang="zh-CN" altLang="en-US" sz="2800" b="1"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集成移位寄存器的应用</a:t>
            </a:r>
            <a:r>
              <a:rPr kumimoji="1" lang="zh-CN" altLang="en-US" sz="2400" b="1" kern="1200" cap="none" spc="0" normalizeH="0" baseline="0" noProof="0">
                <a:latin typeface="Times New Roman" panose="02020603050405020304" pitchFamily="18" charset="0"/>
                <a:ea typeface="宋体" panose="02010600030101010101" pitchFamily="2" charset="-122"/>
                <a:cs typeface="+mn-cs"/>
              </a:rPr>
              <a:t> </a:t>
            </a:r>
          </a:p>
        </p:txBody>
      </p:sp>
      <p:sp>
        <p:nvSpPr>
          <p:cNvPr id="69637" name="Text Box 5"/>
          <p:cNvSpPr txBox="1">
            <a:spLocks noChangeArrowheads="1"/>
          </p:cNvSpPr>
          <p:nvPr/>
        </p:nvSpPr>
        <p:spPr bwMode="auto">
          <a:xfrm>
            <a:off x="457200" y="1143000"/>
            <a:ext cx="8305800" cy="2249488"/>
          </a:xfrm>
          <a:prstGeom prst="rect">
            <a:avLst/>
          </a:prstGeom>
          <a:noFill/>
          <a:ln w="9525">
            <a:noFill/>
            <a:miter lim="800000"/>
          </a:ln>
          <a:effectLst/>
        </p:spPr>
        <p:txBody>
          <a:bodyPr>
            <a:spAutoFit/>
          </a:bodyPr>
          <a:lstStyle/>
          <a:p>
            <a:pPr marR="0" algn="just" defTabSz="914400">
              <a:lnSpc>
                <a:spcPct val="135000"/>
              </a:lnSpc>
              <a:spcBef>
                <a:spcPct val="50000"/>
              </a:spcBef>
              <a:buClrTx/>
              <a:buSzTx/>
              <a:buFontTx/>
              <a:buNone/>
              <a:defRPr/>
            </a:pPr>
            <a:r>
              <a:rPr kumimoji="1" lang="en-US" altLang="zh-CN" sz="2400" kern="1200" cap="none" spc="0" normalizeH="0" baseline="0" noProof="0">
                <a:latin typeface="Times New Roman" panose="02020603050405020304" pitchFamily="18" charset="0"/>
                <a:ea typeface="宋体" panose="02010600030101010101" pitchFamily="2" charset="-122"/>
                <a:cs typeface="+mn-cs"/>
              </a:rPr>
              <a:t>        </a:t>
            </a:r>
            <a:r>
              <a:rPr kumimoji="1" lang="en-US" altLang="zh-CN" sz="2400" kern="1200" cap="none" spc="0" normalizeH="0" baseline="0" noProof="0">
                <a:solidFill>
                  <a:srgbClr val="00CC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zh-CN" altLang="en-US" sz="2400" kern="1200" cap="none" spc="0" normalizeH="0" baseline="0" noProof="0">
                <a:solidFill>
                  <a:srgbClr val="00CC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实现数据的串</a:t>
            </a:r>
            <a:r>
              <a:rPr kumimoji="1" lang="en-US" altLang="zh-CN" sz="2400" kern="1200" cap="none" spc="0" normalizeH="0" baseline="0" noProof="0">
                <a:solidFill>
                  <a:srgbClr val="00CC00"/>
                </a:solidFill>
                <a:effectLst>
                  <a:outerShdw blurRad="38100" dist="38100" dir="2700000" algn="tl">
                    <a:srgbClr val="000000"/>
                  </a:outerShdw>
                </a:effectLst>
                <a:latin typeface="Courier New" panose="02070309020205020404"/>
                <a:ea typeface="宋体" panose="02010600030101010101" pitchFamily="2" charset="-122"/>
                <a:cs typeface="+mn-cs"/>
              </a:rPr>
              <a:t>—</a:t>
            </a:r>
            <a:r>
              <a:rPr kumimoji="1" lang="zh-CN" altLang="en-US" sz="2400" kern="1200" cap="none" spc="0" normalizeH="0" baseline="0" noProof="0">
                <a:solidFill>
                  <a:srgbClr val="00CC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并转换</a:t>
            </a:r>
          </a:p>
          <a:p>
            <a:pPr marR="0" algn="just" defTabSz="914400">
              <a:lnSpc>
                <a:spcPct val="135000"/>
              </a:lnSpc>
              <a:spcBef>
                <a:spcPct val="50000"/>
              </a:spcBef>
              <a:buClrTx/>
              <a:buSzTx/>
              <a:buFontTx/>
              <a:buNone/>
              <a:defRPr/>
            </a:pPr>
            <a:r>
              <a:rPr kumimoji="1" lang="zh-CN" altLang="en-US" sz="2400" kern="1200" cap="none" spc="0" normalizeH="0" baseline="0" noProof="0">
                <a:latin typeface="Times New Roman" panose="02020603050405020304" pitchFamily="18" charset="0"/>
                <a:ea typeface="宋体" panose="02010600030101010101" pitchFamily="2" charset="-122"/>
                <a:cs typeface="+mn-cs"/>
              </a:rPr>
              <a:t>        在数字系统中，信息的传播通常是串行的，而处理和加工往往是并行的，因此经常要进行输入、输出的串、并转换。 </a:t>
            </a:r>
          </a:p>
        </p:txBody>
      </p:sp>
      <p:sp>
        <p:nvSpPr>
          <p:cNvPr id="69641" name="Rectangle 9"/>
          <p:cNvSpPr/>
          <p:nvPr/>
        </p:nvSpPr>
        <p:spPr>
          <a:xfrm>
            <a:off x="1187450" y="3105150"/>
            <a:ext cx="7442200" cy="420688"/>
          </a:xfrm>
          <a:prstGeom prst="rect">
            <a:avLst/>
          </a:prstGeom>
          <a:noFill/>
          <a:ln w="9525">
            <a:noFill/>
          </a:ln>
        </p:spPr>
        <p:txBody>
          <a:bodyPr>
            <a:spAutoFit/>
          </a:bodyPr>
          <a:lstStyle/>
          <a:p>
            <a:pPr marL="457200" indent="-457200">
              <a:lnSpc>
                <a:spcPct val="90000"/>
              </a:lnSpc>
              <a:spcBef>
                <a:spcPct val="50000"/>
              </a:spcBef>
            </a:pPr>
            <a:r>
              <a:rPr lang="zh-CN" altLang="en-US" sz="2400" dirty="0">
                <a:latin typeface="Times New Roman" panose="02020603050405020304" pitchFamily="18" charset="0"/>
              </a:rPr>
              <a:t>并入并出－数据寄存</a:t>
            </a:r>
          </a:p>
        </p:txBody>
      </p:sp>
      <p:sp>
        <p:nvSpPr>
          <p:cNvPr id="69642" name="Rectangle 10"/>
          <p:cNvSpPr/>
          <p:nvPr/>
        </p:nvSpPr>
        <p:spPr>
          <a:xfrm>
            <a:off x="1223963" y="3681413"/>
            <a:ext cx="7442200" cy="420687"/>
          </a:xfrm>
          <a:prstGeom prst="rect">
            <a:avLst/>
          </a:prstGeom>
          <a:noFill/>
          <a:ln w="9525">
            <a:noFill/>
          </a:ln>
        </p:spPr>
        <p:txBody>
          <a:bodyPr>
            <a:spAutoFit/>
          </a:bodyPr>
          <a:lstStyle/>
          <a:p>
            <a:pPr marL="457200" indent="-457200">
              <a:lnSpc>
                <a:spcPct val="90000"/>
              </a:lnSpc>
              <a:spcBef>
                <a:spcPct val="50000"/>
              </a:spcBef>
            </a:pPr>
            <a:r>
              <a:rPr lang="zh-CN" altLang="en-US" sz="2400" dirty="0">
                <a:latin typeface="Times New Roman" panose="02020603050405020304" pitchFamily="18" charset="0"/>
              </a:rPr>
              <a:t>并入串出－多位数据共信道传输</a:t>
            </a:r>
          </a:p>
        </p:txBody>
      </p:sp>
      <p:sp>
        <p:nvSpPr>
          <p:cNvPr id="69643" name="Rectangle 11"/>
          <p:cNvSpPr/>
          <p:nvPr/>
        </p:nvSpPr>
        <p:spPr>
          <a:xfrm>
            <a:off x="1223963" y="4292600"/>
            <a:ext cx="7442200" cy="420688"/>
          </a:xfrm>
          <a:prstGeom prst="rect">
            <a:avLst/>
          </a:prstGeom>
          <a:noFill/>
          <a:ln w="9525">
            <a:noFill/>
          </a:ln>
        </p:spPr>
        <p:txBody>
          <a:bodyPr>
            <a:spAutoFit/>
          </a:bodyPr>
          <a:lstStyle/>
          <a:p>
            <a:pPr marL="457200" indent="-457200">
              <a:lnSpc>
                <a:spcPct val="90000"/>
              </a:lnSpc>
              <a:spcBef>
                <a:spcPct val="50000"/>
              </a:spcBef>
            </a:pPr>
            <a:r>
              <a:rPr lang="zh-CN" altLang="en-US" sz="2400" dirty="0">
                <a:latin typeface="Times New Roman" panose="02020603050405020304" pitchFamily="18" charset="0"/>
              </a:rPr>
              <a:t>串入并出－共信道传输数据接收</a:t>
            </a:r>
          </a:p>
        </p:txBody>
      </p:sp>
      <p:sp>
        <p:nvSpPr>
          <p:cNvPr id="69644" name="Rectangle 12"/>
          <p:cNvSpPr/>
          <p:nvPr/>
        </p:nvSpPr>
        <p:spPr>
          <a:xfrm>
            <a:off x="1258888" y="4905375"/>
            <a:ext cx="7442200" cy="420688"/>
          </a:xfrm>
          <a:prstGeom prst="rect">
            <a:avLst/>
          </a:prstGeom>
          <a:noFill/>
          <a:ln w="9525">
            <a:noFill/>
          </a:ln>
        </p:spPr>
        <p:txBody>
          <a:bodyPr>
            <a:spAutoFit/>
          </a:bodyPr>
          <a:lstStyle/>
          <a:p>
            <a:pPr marL="457200" indent="-457200">
              <a:lnSpc>
                <a:spcPct val="90000"/>
              </a:lnSpc>
              <a:spcBef>
                <a:spcPct val="50000"/>
              </a:spcBef>
            </a:pPr>
            <a:r>
              <a:rPr lang="zh-CN" altLang="en-US" sz="2400" dirty="0">
                <a:latin typeface="Times New Roman" panose="02020603050405020304" pitchFamily="18" charset="0"/>
              </a:rPr>
              <a:t>串入串出－数字延迟</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9641"/>
                                        </p:tgtEl>
                                        <p:attrNameLst>
                                          <p:attrName>style.visibility</p:attrName>
                                        </p:attrNameLst>
                                      </p:cBhvr>
                                      <p:to>
                                        <p:strVal val="visible"/>
                                      </p:to>
                                    </p:set>
                                    <p:animEffect transition="in" filter="blinds(horizontal)">
                                      <p:cBhvr>
                                        <p:cTn id="7" dur="500"/>
                                        <p:tgtEl>
                                          <p:spTgt spid="6964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9642"/>
                                        </p:tgtEl>
                                        <p:attrNameLst>
                                          <p:attrName>style.visibility</p:attrName>
                                        </p:attrNameLst>
                                      </p:cBhvr>
                                      <p:to>
                                        <p:strVal val="visible"/>
                                      </p:to>
                                    </p:set>
                                    <p:animEffect transition="in" filter="blinds(horizontal)">
                                      <p:cBhvr>
                                        <p:cTn id="12" dur="500"/>
                                        <p:tgtEl>
                                          <p:spTgt spid="6964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9643"/>
                                        </p:tgtEl>
                                        <p:attrNameLst>
                                          <p:attrName>style.visibility</p:attrName>
                                        </p:attrNameLst>
                                      </p:cBhvr>
                                      <p:to>
                                        <p:strVal val="visible"/>
                                      </p:to>
                                    </p:set>
                                    <p:animEffect transition="in" filter="blinds(horizontal)">
                                      <p:cBhvr>
                                        <p:cTn id="17" dur="500"/>
                                        <p:tgtEl>
                                          <p:spTgt spid="6964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9644"/>
                                        </p:tgtEl>
                                        <p:attrNameLst>
                                          <p:attrName>style.visibility</p:attrName>
                                        </p:attrNameLst>
                                      </p:cBhvr>
                                      <p:to>
                                        <p:strVal val="visible"/>
                                      </p:to>
                                    </p:set>
                                    <p:animEffect transition="in" filter="blinds(horizontal)">
                                      <p:cBhvr>
                                        <p:cTn id="22" dur="500"/>
                                        <p:tgtEl>
                                          <p:spTgt spid="69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1" grpId="0"/>
      <p:bldP spid="69642" grpId="0"/>
      <p:bldP spid="69643" grpId="0"/>
      <p:bldP spid="6964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4"/>
          <p:cNvSpPr txBox="1"/>
          <p:nvPr/>
        </p:nvSpPr>
        <p:spPr>
          <a:xfrm>
            <a:off x="2711450" y="4191000"/>
            <a:ext cx="3168650" cy="396875"/>
          </a:xfrm>
          <a:prstGeom prst="rect">
            <a:avLst/>
          </a:prstGeom>
          <a:noFill/>
          <a:ln w="9525">
            <a:noFill/>
          </a:ln>
        </p:spPr>
        <p:txBody>
          <a:bodyPr wrap="none">
            <a:spAutoFit/>
          </a:bodyPr>
          <a:lstStyle/>
          <a:p>
            <a:r>
              <a:rPr lang="en-US" altLang="zh-CN" sz="2000" b="1" dirty="0">
                <a:latin typeface="Times New Roman" panose="02020603050405020304" pitchFamily="18" charset="0"/>
              </a:rPr>
              <a:t>  </a:t>
            </a:r>
            <a:r>
              <a:rPr lang="zh-CN" altLang="en-US" sz="2000" b="1" dirty="0">
                <a:latin typeface="Times New Roman" panose="02020603050405020304" pitchFamily="18" charset="0"/>
              </a:rPr>
              <a:t>七位串入</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并出转换电路 </a:t>
            </a:r>
          </a:p>
        </p:txBody>
      </p:sp>
      <p:graphicFrame>
        <p:nvGraphicFramePr>
          <p:cNvPr id="15363" name="Object 5"/>
          <p:cNvGraphicFramePr>
            <a:graphicFrameLocks noChangeAspect="1"/>
          </p:cNvGraphicFramePr>
          <p:nvPr/>
        </p:nvGraphicFramePr>
        <p:xfrm>
          <a:off x="215900" y="152400"/>
          <a:ext cx="10525125" cy="4068763"/>
        </p:xfrm>
        <a:graphic>
          <a:graphicData uri="http://schemas.openxmlformats.org/presentationml/2006/ole">
            <mc:AlternateContent xmlns:mc="http://schemas.openxmlformats.org/markup-compatibility/2006">
              <mc:Choice xmlns:v="urn:schemas-microsoft-com:vml" Requires="v">
                <p:oleObj r:id="rId2" imgW="7943850" imgH="3086100" progId="Visio.Drawing.11">
                  <p:embed/>
                </p:oleObj>
              </mc:Choice>
              <mc:Fallback>
                <p:oleObj r:id="rId2" imgW="7943850" imgH="3086100" progId="Visio.Drawing.11">
                  <p:embed/>
                  <p:pic>
                    <p:nvPicPr>
                      <p:cNvPr id="0" name="图片 3076"/>
                      <p:cNvPicPr/>
                      <p:nvPr/>
                    </p:nvPicPr>
                    <p:blipFill>
                      <a:blip r:embed="rId3"/>
                      <a:stretch>
                        <a:fillRect/>
                      </a:stretch>
                    </p:blipFill>
                    <p:spPr>
                      <a:xfrm>
                        <a:off x="215900" y="152400"/>
                        <a:ext cx="10525125" cy="4068763"/>
                      </a:xfrm>
                      <a:prstGeom prst="rect">
                        <a:avLst/>
                      </a:prstGeom>
                      <a:noFill/>
                      <a:ln w="38100">
                        <a:noFill/>
                        <a:miter/>
                      </a:ln>
                    </p:spPr>
                  </p:pic>
                </p:oleObj>
              </mc:Fallback>
            </mc:AlternateContent>
          </a:graphicData>
        </a:graphic>
      </p:graphicFrame>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4"/>
          <p:cNvSpPr txBox="1"/>
          <p:nvPr/>
        </p:nvSpPr>
        <p:spPr>
          <a:xfrm>
            <a:off x="2743200" y="914400"/>
            <a:ext cx="3322638" cy="457200"/>
          </a:xfrm>
          <a:prstGeom prst="rect">
            <a:avLst/>
          </a:prstGeom>
          <a:noFill/>
          <a:ln w="9525">
            <a:noFill/>
          </a:ln>
        </p:spPr>
        <p:txBody>
          <a:bodyPr wrap="none">
            <a:spAutoFit/>
          </a:bodyPr>
          <a:lstStyle/>
          <a:p>
            <a:r>
              <a:rPr lang="zh-CN" altLang="en-US" sz="2400" b="1" dirty="0">
                <a:latin typeface="Times New Roman" panose="02020603050405020304" pitchFamily="18" charset="0"/>
              </a:rPr>
              <a:t>七位串入</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并出状态表 </a:t>
            </a:r>
          </a:p>
        </p:txBody>
      </p:sp>
      <p:pic>
        <p:nvPicPr>
          <p:cNvPr id="16387" name="Picture 5" descr="未标题-1 拷贝"/>
          <p:cNvPicPr>
            <a:picLocks noChangeAspect="1"/>
          </p:cNvPicPr>
          <p:nvPr/>
        </p:nvPicPr>
        <p:blipFill>
          <a:blip r:embed="rId2"/>
          <a:stretch>
            <a:fillRect/>
          </a:stretch>
        </p:blipFill>
        <p:spPr>
          <a:xfrm>
            <a:off x="1042988" y="1557338"/>
            <a:ext cx="7200900" cy="4767262"/>
          </a:xfrm>
          <a:prstGeom prst="rect">
            <a:avLst/>
          </a:prstGeom>
          <a:noFill/>
          <a:ln w="9525">
            <a:noFill/>
          </a:ln>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4"/>
          <p:cNvSpPr txBox="1"/>
          <p:nvPr/>
        </p:nvSpPr>
        <p:spPr>
          <a:xfrm>
            <a:off x="2771775" y="5805488"/>
            <a:ext cx="3629025" cy="457200"/>
          </a:xfrm>
          <a:prstGeom prst="rect">
            <a:avLst/>
          </a:prstGeom>
          <a:noFill/>
          <a:ln w="9525">
            <a:noFill/>
          </a:ln>
        </p:spPr>
        <p:txBody>
          <a:bodyPr wrap="none">
            <a:spAutoFit/>
          </a:bodyPr>
          <a:lstStyle/>
          <a:p>
            <a:r>
              <a:rPr lang="zh-CN" altLang="en-US" sz="2400" b="1" dirty="0">
                <a:latin typeface="Times New Roman" panose="02020603050405020304" pitchFamily="18" charset="0"/>
              </a:rPr>
              <a:t>七位并入</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串出转换电路 </a:t>
            </a:r>
          </a:p>
        </p:txBody>
      </p:sp>
      <p:graphicFrame>
        <p:nvGraphicFramePr>
          <p:cNvPr id="17411" name="Object 5"/>
          <p:cNvGraphicFramePr>
            <a:graphicFrameLocks noChangeAspect="1"/>
          </p:cNvGraphicFramePr>
          <p:nvPr/>
        </p:nvGraphicFramePr>
        <p:xfrm>
          <a:off x="304800" y="1219200"/>
          <a:ext cx="8839200" cy="3960813"/>
        </p:xfrm>
        <a:graphic>
          <a:graphicData uri="http://schemas.openxmlformats.org/presentationml/2006/ole">
            <mc:AlternateContent xmlns:mc="http://schemas.openxmlformats.org/markup-compatibility/2006">
              <mc:Choice xmlns:v="urn:schemas-microsoft-com:vml" Requires="v">
                <p:oleObj r:id="rId2" imgW="6243955" imgH="2800350" progId="Visio.Drawing.11">
                  <p:embed/>
                </p:oleObj>
              </mc:Choice>
              <mc:Fallback>
                <p:oleObj r:id="rId2" imgW="6243955" imgH="2800350" progId="Visio.Drawing.11">
                  <p:embed/>
                  <p:pic>
                    <p:nvPicPr>
                      <p:cNvPr id="0" name="图片 3077"/>
                      <p:cNvPicPr/>
                      <p:nvPr/>
                    </p:nvPicPr>
                    <p:blipFill>
                      <a:blip r:embed="rId3"/>
                      <a:stretch>
                        <a:fillRect/>
                      </a:stretch>
                    </p:blipFill>
                    <p:spPr>
                      <a:xfrm>
                        <a:off x="304800" y="1219200"/>
                        <a:ext cx="8839200" cy="3960813"/>
                      </a:xfrm>
                      <a:prstGeom prst="rect">
                        <a:avLst/>
                      </a:prstGeom>
                      <a:noFill/>
                      <a:ln w="38100">
                        <a:noFill/>
                        <a:miter/>
                      </a:ln>
                    </p:spPr>
                  </p:pic>
                </p:oleObj>
              </mc:Fallback>
            </mc:AlternateContent>
          </a:graphicData>
        </a:graphic>
      </p:graphicFrame>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4"/>
          <p:cNvSpPr txBox="1"/>
          <p:nvPr/>
        </p:nvSpPr>
        <p:spPr>
          <a:xfrm>
            <a:off x="2895600" y="914400"/>
            <a:ext cx="3322638" cy="457200"/>
          </a:xfrm>
          <a:prstGeom prst="rect">
            <a:avLst/>
          </a:prstGeom>
          <a:noFill/>
          <a:ln w="9525">
            <a:noFill/>
          </a:ln>
        </p:spPr>
        <p:txBody>
          <a:bodyPr wrap="none">
            <a:spAutoFit/>
          </a:bodyPr>
          <a:lstStyle/>
          <a:p>
            <a:r>
              <a:rPr lang="zh-CN" altLang="en-US" sz="2400" b="1" dirty="0">
                <a:latin typeface="Times New Roman" panose="02020603050405020304" pitchFamily="18" charset="0"/>
              </a:rPr>
              <a:t>七位并入</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串出状态表 </a:t>
            </a:r>
          </a:p>
        </p:txBody>
      </p:sp>
      <p:pic>
        <p:nvPicPr>
          <p:cNvPr id="18435" name="Picture 5" descr="未标题-1 拷贝"/>
          <p:cNvPicPr>
            <a:picLocks noChangeAspect="1"/>
          </p:cNvPicPr>
          <p:nvPr/>
        </p:nvPicPr>
        <p:blipFill>
          <a:blip r:embed="rId2"/>
          <a:stretch>
            <a:fillRect/>
          </a:stretch>
        </p:blipFill>
        <p:spPr>
          <a:xfrm>
            <a:off x="1295400" y="1676400"/>
            <a:ext cx="7267575" cy="4451350"/>
          </a:xfrm>
          <a:prstGeom prst="rect">
            <a:avLst/>
          </a:prstGeom>
          <a:noFill/>
          <a:ln w="9525">
            <a:noFill/>
          </a:ln>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Text Box 4"/>
          <p:cNvSpPr txBox="1">
            <a:spLocks noChangeArrowheads="1"/>
          </p:cNvSpPr>
          <p:nvPr/>
        </p:nvSpPr>
        <p:spPr bwMode="auto">
          <a:xfrm>
            <a:off x="990600" y="533400"/>
            <a:ext cx="3028950" cy="457200"/>
          </a:xfrm>
          <a:prstGeom prst="rect">
            <a:avLst/>
          </a:prstGeom>
          <a:noFill/>
          <a:ln w="9525">
            <a:noFill/>
            <a:miter lim="800000"/>
          </a:ln>
          <a:effectLst/>
        </p:spPr>
        <p:txBody>
          <a:bodyPr wrap="none">
            <a:spAutoFit/>
          </a:bodyPr>
          <a:lstStyle/>
          <a:p>
            <a:pPr marR="0" defTabSz="914400">
              <a:buClrTx/>
              <a:buSzTx/>
              <a:buFontTx/>
              <a:buNone/>
              <a:defRPr/>
            </a:pPr>
            <a:r>
              <a:rPr kumimoji="1" lang="en-US" altLang="zh-CN" sz="2400" kern="1200" cap="none" spc="0" normalizeH="0" baseline="0" noProof="0">
                <a:solidFill>
                  <a:srgbClr val="00CC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r>
              <a:rPr kumimoji="1" lang="zh-CN" altLang="en-US" sz="2400" kern="1200" cap="none" spc="0" normalizeH="0" baseline="0" noProof="0">
                <a:solidFill>
                  <a:srgbClr val="00CC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构成移位型计数器</a:t>
            </a:r>
            <a:r>
              <a:rPr kumimoji="1" lang="zh-CN" altLang="en-US" sz="2400" kern="1200" cap="none" spc="0" normalizeH="0" baseline="0" noProof="0">
                <a:latin typeface="Times New Roman" panose="02020603050405020304" pitchFamily="18" charset="0"/>
                <a:ea typeface="宋体" panose="02010600030101010101" pitchFamily="2" charset="-122"/>
                <a:cs typeface="+mn-cs"/>
              </a:rPr>
              <a:t> </a:t>
            </a:r>
          </a:p>
        </p:txBody>
      </p:sp>
      <p:sp>
        <p:nvSpPr>
          <p:cNvPr id="19459" name="Text Box 5"/>
          <p:cNvSpPr txBox="1"/>
          <p:nvPr/>
        </p:nvSpPr>
        <p:spPr>
          <a:xfrm>
            <a:off x="3059113" y="6092825"/>
            <a:ext cx="3324225" cy="457200"/>
          </a:xfrm>
          <a:prstGeom prst="rect">
            <a:avLst/>
          </a:prstGeom>
          <a:noFill/>
          <a:ln w="9525">
            <a:noFill/>
          </a:ln>
        </p:spPr>
        <p:txBody>
          <a:bodyPr wrap="none">
            <a:spAutoFit/>
          </a:bodyPr>
          <a:lstStyle/>
          <a:p>
            <a:r>
              <a:rPr lang="zh-CN" altLang="en-US" sz="2400" b="1" dirty="0">
                <a:latin typeface="Times New Roman" panose="02020603050405020304" pitchFamily="18" charset="0"/>
              </a:rPr>
              <a:t>移位型计数器一般框图 </a:t>
            </a:r>
          </a:p>
        </p:txBody>
      </p:sp>
      <p:sp>
        <p:nvSpPr>
          <p:cNvPr id="19460" name="Text Box 6"/>
          <p:cNvSpPr txBox="1"/>
          <p:nvPr/>
        </p:nvSpPr>
        <p:spPr>
          <a:xfrm>
            <a:off x="914400" y="1066800"/>
            <a:ext cx="7639050" cy="457200"/>
          </a:xfrm>
          <a:prstGeom prst="rect">
            <a:avLst/>
          </a:prstGeom>
          <a:noFill/>
          <a:ln w="9525">
            <a:noFill/>
          </a:ln>
        </p:spPr>
        <p:txBody>
          <a:bodyPr wrap="none">
            <a:spAutoFit/>
          </a:bodyPr>
          <a:lstStyle/>
          <a:p>
            <a:r>
              <a:rPr lang="en-US" altLang="zh-CN" sz="2400" dirty="0">
                <a:latin typeface="Times New Roman" panose="02020603050405020304" pitchFamily="18" charset="0"/>
              </a:rPr>
              <a:t> </a:t>
            </a:r>
            <a:r>
              <a:rPr lang="zh-CN" altLang="en-US" sz="2400" dirty="0">
                <a:latin typeface="Times New Roman" panose="02020603050405020304" pitchFamily="18" charset="0"/>
              </a:rPr>
              <a:t>移位型计数器的状态变化顺序必须符合移位的规律，即 </a:t>
            </a:r>
          </a:p>
        </p:txBody>
      </p:sp>
      <p:graphicFrame>
        <p:nvGraphicFramePr>
          <p:cNvPr id="19461" name="Object 7"/>
          <p:cNvGraphicFramePr>
            <a:graphicFrameLocks noChangeAspect="1"/>
          </p:cNvGraphicFramePr>
          <p:nvPr/>
        </p:nvGraphicFramePr>
        <p:xfrm>
          <a:off x="2667000" y="1676400"/>
          <a:ext cx="4572000" cy="552450"/>
        </p:xfrm>
        <a:graphic>
          <a:graphicData uri="http://schemas.openxmlformats.org/presentationml/2006/ole">
            <mc:AlternateContent xmlns:mc="http://schemas.openxmlformats.org/markup-compatibility/2006">
              <mc:Choice xmlns:v="urn:schemas-microsoft-com:vml" Requires="v">
                <p:oleObj r:id="rId2" imgW="1993900" imgH="241300" progId="Equation.3">
                  <p:embed/>
                </p:oleObj>
              </mc:Choice>
              <mc:Fallback>
                <p:oleObj r:id="rId2" imgW="1993900" imgH="241300" progId="Equation.3">
                  <p:embed/>
                  <p:pic>
                    <p:nvPicPr>
                      <p:cNvPr id="0" name="图片 3080"/>
                      <p:cNvPicPr/>
                      <p:nvPr/>
                    </p:nvPicPr>
                    <p:blipFill>
                      <a:blip r:embed="rId3"/>
                      <a:stretch>
                        <a:fillRect/>
                      </a:stretch>
                    </p:blipFill>
                    <p:spPr>
                      <a:xfrm>
                        <a:off x="2667000" y="1676400"/>
                        <a:ext cx="4572000" cy="552450"/>
                      </a:xfrm>
                      <a:prstGeom prst="rect">
                        <a:avLst/>
                      </a:prstGeom>
                      <a:noFill/>
                      <a:ln w="38100">
                        <a:noFill/>
                        <a:miter/>
                      </a:ln>
                    </p:spPr>
                  </p:pic>
                </p:oleObj>
              </mc:Fallback>
            </mc:AlternateContent>
          </a:graphicData>
        </a:graphic>
      </p:graphicFrame>
      <p:graphicFrame>
        <p:nvGraphicFramePr>
          <p:cNvPr id="19462" name="Object 8"/>
          <p:cNvGraphicFramePr>
            <a:graphicFrameLocks noChangeAspect="1"/>
          </p:cNvGraphicFramePr>
          <p:nvPr/>
        </p:nvGraphicFramePr>
        <p:xfrm>
          <a:off x="2362200" y="2667000"/>
          <a:ext cx="5105400" cy="3324225"/>
        </p:xfrm>
        <a:graphic>
          <a:graphicData uri="http://schemas.openxmlformats.org/presentationml/2006/ole">
            <mc:AlternateContent xmlns:mc="http://schemas.openxmlformats.org/markup-compatibility/2006">
              <mc:Choice xmlns:v="urn:schemas-microsoft-com:vml" Requires="v">
                <p:oleObj r:id="rId4" imgW="2343150" imgH="1529080" progId="Visio.Drawing.11">
                  <p:embed/>
                </p:oleObj>
              </mc:Choice>
              <mc:Fallback>
                <p:oleObj r:id="rId4" imgW="2343150" imgH="1529080" progId="Visio.Drawing.11">
                  <p:embed/>
                  <p:pic>
                    <p:nvPicPr>
                      <p:cNvPr id="0" name="图片 3081"/>
                      <p:cNvPicPr/>
                      <p:nvPr/>
                    </p:nvPicPr>
                    <p:blipFill>
                      <a:blip r:embed="rId5"/>
                      <a:stretch>
                        <a:fillRect/>
                      </a:stretch>
                    </p:blipFill>
                    <p:spPr>
                      <a:xfrm>
                        <a:off x="2362200" y="2667000"/>
                        <a:ext cx="5105400" cy="3324225"/>
                      </a:xfrm>
                      <a:prstGeom prst="rect">
                        <a:avLst/>
                      </a:prstGeom>
                      <a:noFill/>
                      <a:ln w="38100">
                        <a:noFill/>
                        <a:miter/>
                      </a:ln>
                    </p:spPr>
                  </p:pic>
                </p:oleObj>
              </mc:Fallback>
            </mc:AlternateContent>
          </a:graphicData>
        </a:graphic>
      </p:graphicFrame>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4"/>
          <p:cNvSpPr txBox="1"/>
          <p:nvPr/>
        </p:nvSpPr>
        <p:spPr>
          <a:xfrm>
            <a:off x="1219200" y="990600"/>
            <a:ext cx="2470150" cy="457200"/>
          </a:xfrm>
          <a:prstGeom prst="rect">
            <a:avLst/>
          </a:prstGeom>
          <a:noFill/>
          <a:ln w="9525">
            <a:noFill/>
          </a:ln>
        </p:spPr>
        <p:txBody>
          <a:bodyPr wrap="none">
            <a:spAutoFit/>
          </a:bodyPr>
          <a:lstStyle/>
          <a:p>
            <a:r>
              <a:rPr lang="en-US" altLang="zh-CN" sz="2400" dirty="0">
                <a:latin typeface="Times New Roman" panose="02020603050405020304" pitchFamily="18" charset="0"/>
              </a:rPr>
              <a:t>① </a:t>
            </a:r>
            <a:r>
              <a:rPr lang="zh-CN" altLang="en-US" sz="2400" dirty="0">
                <a:latin typeface="Times New Roman" panose="02020603050405020304" pitchFamily="18" charset="0"/>
              </a:rPr>
              <a:t>环型计数器。 </a:t>
            </a:r>
          </a:p>
        </p:txBody>
      </p:sp>
      <p:sp>
        <p:nvSpPr>
          <p:cNvPr id="20483" name="Text Box 5"/>
          <p:cNvSpPr txBox="1"/>
          <p:nvPr/>
        </p:nvSpPr>
        <p:spPr>
          <a:xfrm>
            <a:off x="2582863" y="5465763"/>
            <a:ext cx="4264025" cy="822325"/>
          </a:xfrm>
          <a:prstGeom prst="rect">
            <a:avLst/>
          </a:prstGeom>
          <a:noFill/>
          <a:ln w="9525">
            <a:noFill/>
          </a:ln>
        </p:spPr>
        <p:txBody>
          <a:bodyPr wrap="none">
            <a:spAutoFit/>
          </a:bodyPr>
          <a:lstStyle/>
          <a:p>
            <a:pPr algn="ctr"/>
            <a:r>
              <a:rPr lang="zh-CN" altLang="en-US" sz="2400" b="1" dirty="0">
                <a:latin typeface="Times New Roman" panose="02020603050405020304" pitchFamily="18" charset="0"/>
              </a:rPr>
              <a:t>四位环型计数器</a:t>
            </a:r>
          </a:p>
          <a:p>
            <a:pPr algn="ctr"/>
            <a:r>
              <a:rPr lang="en-US" altLang="zh-CN" sz="2400" b="1" dirty="0">
                <a:latin typeface="Times New Roman" panose="02020603050405020304" pitchFamily="18" charset="0"/>
              </a:rPr>
              <a:t>(</a:t>
            </a:r>
            <a:r>
              <a:rPr lang="en-US" altLang="zh-CN" sz="2400" b="1" i="1" dirty="0">
                <a:latin typeface="Times New Roman" panose="02020603050405020304" pitchFamily="18" charset="0"/>
              </a:rPr>
              <a:t>a</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逻辑电路； </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b</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完全状态图 </a:t>
            </a:r>
          </a:p>
        </p:txBody>
      </p:sp>
      <p:graphicFrame>
        <p:nvGraphicFramePr>
          <p:cNvPr id="20484" name="Object 6"/>
          <p:cNvGraphicFramePr>
            <a:graphicFrameLocks noChangeAspect="1"/>
          </p:cNvGraphicFramePr>
          <p:nvPr/>
        </p:nvGraphicFramePr>
        <p:xfrm>
          <a:off x="0" y="2590800"/>
          <a:ext cx="9144000" cy="2371725"/>
        </p:xfrm>
        <a:graphic>
          <a:graphicData uri="http://schemas.openxmlformats.org/presentationml/2006/ole">
            <mc:AlternateContent xmlns:mc="http://schemas.openxmlformats.org/markup-compatibility/2006">
              <mc:Choice xmlns:v="urn:schemas-microsoft-com:vml" Requires="v">
                <p:oleObj r:id="rId2" imgW="7886700" imgH="2057400" progId="Visio.Drawing.11">
                  <p:embed/>
                </p:oleObj>
              </mc:Choice>
              <mc:Fallback>
                <p:oleObj r:id="rId2" imgW="7886700" imgH="2057400" progId="Visio.Drawing.11">
                  <p:embed/>
                  <p:pic>
                    <p:nvPicPr>
                      <p:cNvPr id="0" name="图片 3078"/>
                      <p:cNvPicPr/>
                      <p:nvPr/>
                    </p:nvPicPr>
                    <p:blipFill>
                      <a:blip r:embed="rId3"/>
                      <a:stretch>
                        <a:fillRect/>
                      </a:stretch>
                    </p:blipFill>
                    <p:spPr>
                      <a:xfrm>
                        <a:off x="0" y="2590800"/>
                        <a:ext cx="9144000" cy="2371725"/>
                      </a:xfrm>
                      <a:prstGeom prst="rect">
                        <a:avLst/>
                      </a:prstGeom>
                      <a:noFill/>
                      <a:ln w="38100">
                        <a:noFill/>
                        <a:miter/>
                      </a:ln>
                    </p:spPr>
                  </p:pic>
                </p:oleObj>
              </mc:Fallback>
            </mc:AlternateContent>
          </a:graphicData>
        </a:graphic>
      </p:graphicFrame>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4"/>
          <p:cNvSpPr txBox="1"/>
          <p:nvPr/>
        </p:nvSpPr>
        <p:spPr>
          <a:xfrm>
            <a:off x="685800" y="609600"/>
            <a:ext cx="7924800" cy="5788025"/>
          </a:xfrm>
          <a:prstGeom prst="rect">
            <a:avLst/>
          </a:prstGeom>
          <a:noFill/>
          <a:ln w="9525">
            <a:noFill/>
          </a:ln>
        </p:spPr>
        <p:txBody>
          <a:bodyPr>
            <a:spAutoFit/>
          </a:bodyPr>
          <a:lstStyle/>
          <a:p>
            <a:pPr algn="just">
              <a:lnSpc>
                <a:spcPct val="130000"/>
              </a:lnSpc>
              <a:spcBef>
                <a:spcPct val="50000"/>
              </a:spcBef>
            </a:pPr>
            <a:r>
              <a:rPr lang="en-US" altLang="zh-CN" sz="2400" i="1" dirty="0">
                <a:latin typeface="Times New Roman" panose="02020603050405020304" pitchFamily="18" charset="0"/>
              </a:rPr>
              <a:t>        n</a:t>
            </a:r>
            <a:r>
              <a:rPr lang="zh-CN" altLang="en-US" sz="2400" dirty="0">
                <a:latin typeface="Times New Roman" panose="02020603050405020304" pitchFamily="18" charset="0"/>
              </a:rPr>
              <a:t>位环型计数器由</a:t>
            </a:r>
            <a:r>
              <a:rPr lang="en-US" altLang="zh-CN" sz="2400" i="1" dirty="0">
                <a:latin typeface="Times New Roman" panose="02020603050405020304" pitchFamily="18" charset="0"/>
              </a:rPr>
              <a:t>n</a:t>
            </a:r>
            <a:r>
              <a:rPr lang="zh-CN" altLang="en-US" sz="2400" dirty="0">
                <a:latin typeface="Times New Roman" panose="02020603050405020304" pitchFamily="18" charset="0"/>
              </a:rPr>
              <a:t>位移存器组成，其反馈逻辑方程为</a:t>
            </a:r>
            <a:r>
              <a:rPr lang="en-US" altLang="zh-CN" sz="2400" i="1" dirty="0">
                <a:latin typeface="Times New Roman" panose="02020603050405020304" pitchFamily="18" charset="0"/>
              </a:rPr>
              <a:t>D</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n</a:t>
            </a:r>
            <a:r>
              <a:rPr lang="zh-CN" altLang="en-US" sz="2400" dirty="0">
                <a:latin typeface="Times New Roman" panose="02020603050405020304" pitchFamily="18" charset="0"/>
              </a:rPr>
              <a:t>。图 </a:t>
            </a:r>
            <a:r>
              <a:rPr lang="en-US" altLang="zh-CN" sz="2400" dirty="0">
                <a:latin typeface="Times New Roman" panose="02020603050405020304" pitchFamily="18" charset="0"/>
              </a:rPr>
              <a:t>(</a:t>
            </a:r>
            <a:r>
              <a:rPr lang="en-US" altLang="zh-CN" sz="2400" i="1" dirty="0">
                <a:latin typeface="Times New Roman" panose="02020603050405020304" pitchFamily="18" charset="0"/>
              </a:rPr>
              <a:t>a</a:t>
            </a:r>
            <a:r>
              <a:rPr lang="en-US" altLang="zh-CN" sz="2400" dirty="0">
                <a:latin typeface="Times New Roman" panose="02020603050405020304" pitchFamily="18" charset="0"/>
              </a:rPr>
              <a:t>)</a:t>
            </a:r>
            <a:r>
              <a:rPr lang="zh-CN" altLang="en-US" sz="2400" dirty="0">
                <a:latin typeface="Times New Roman" panose="02020603050405020304" pitchFamily="18" charset="0"/>
              </a:rPr>
              <a:t>是由</a:t>
            </a:r>
            <a:r>
              <a:rPr lang="en-US" altLang="zh-CN" sz="2400" dirty="0">
                <a:latin typeface="Times New Roman" panose="02020603050405020304" pitchFamily="18" charset="0"/>
              </a:rPr>
              <a:t>74LS194</a:t>
            </a:r>
            <a:r>
              <a:rPr lang="zh-CN" altLang="en-US" sz="2400" dirty="0">
                <a:latin typeface="Times New Roman" panose="02020603050405020304" pitchFamily="18" charset="0"/>
              </a:rPr>
              <a:t>构成的四位环型计数器， 其输入方程为</a:t>
            </a:r>
            <a:r>
              <a:rPr lang="en-US" altLang="zh-CN" sz="2400" i="1" dirty="0">
                <a:latin typeface="Times New Roman" panose="02020603050405020304" pitchFamily="18" charset="0"/>
              </a:rPr>
              <a:t>S</a:t>
            </a:r>
            <a:r>
              <a:rPr lang="en-US" altLang="zh-CN" sz="2400" baseline="-25000" dirty="0">
                <a:latin typeface="Times New Roman" panose="02020603050405020304" pitchFamily="18" charset="0"/>
              </a:rPr>
              <a:t>R</a:t>
            </a:r>
            <a:r>
              <a:rPr lang="en-US" altLang="zh-CN" sz="2400" dirty="0">
                <a:latin typeface="Times New Roman" panose="02020603050405020304" pitchFamily="18" charset="0"/>
              </a:rPr>
              <a:t>=</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3</a:t>
            </a:r>
            <a:r>
              <a:rPr lang="zh-CN" altLang="en-US" sz="2400" dirty="0">
                <a:latin typeface="Times New Roman" panose="02020603050405020304" pitchFamily="18" charset="0"/>
              </a:rPr>
              <a:t>，根据移位规律作出完全状态图如图 </a:t>
            </a:r>
            <a:r>
              <a:rPr lang="en-US" altLang="zh-CN" sz="2400" dirty="0">
                <a:latin typeface="Times New Roman" panose="02020603050405020304" pitchFamily="18" charset="0"/>
              </a:rPr>
              <a:t>(</a:t>
            </a:r>
            <a:r>
              <a:rPr lang="en-US" altLang="zh-CN" sz="2400" i="1" dirty="0">
                <a:latin typeface="Times New Roman" panose="02020603050405020304" pitchFamily="18" charset="0"/>
              </a:rPr>
              <a:t>b)</a:t>
            </a:r>
            <a:r>
              <a:rPr lang="zh-CN" altLang="en-US" sz="2400" dirty="0">
                <a:latin typeface="Times New Roman" panose="02020603050405020304" pitchFamily="18" charset="0"/>
              </a:rPr>
              <a:t>所示。若电路的起始状态为</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0</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1</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2</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=1000</a:t>
            </a:r>
            <a:r>
              <a:rPr lang="zh-CN" altLang="en-US" sz="2400" dirty="0">
                <a:latin typeface="Times New Roman" panose="02020603050405020304" pitchFamily="18" charset="0"/>
              </a:rPr>
              <a:t>，则电路中循环移位一个 </a:t>
            </a:r>
            <a:r>
              <a:rPr lang="en-US" altLang="zh-CN" sz="2400" dirty="0">
                <a:latin typeface="Times New Roman" panose="02020603050405020304" pitchFamily="18" charset="0"/>
              </a:rPr>
              <a:t>1</a:t>
            </a:r>
            <a:r>
              <a:rPr lang="zh-CN" altLang="en-US" sz="2400" dirty="0">
                <a:latin typeface="Times New Roman" panose="02020603050405020304" pitchFamily="18" charset="0"/>
              </a:rPr>
              <a:t>，环①为有效循环。若起始状态为</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0</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1</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2</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=1110</a:t>
            </a:r>
            <a:r>
              <a:rPr lang="zh-CN" altLang="en-US" sz="2400" dirty="0">
                <a:latin typeface="Times New Roman" panose="02020603050405020304" pitchFamily="18" charset="0"/>
              </a:rPr>
              <a:t>，则电路中循环移位一个</a:t>
            </a:r>
            <a:r>
              <a:rPr lang="en-US" altLang="zh-CN" sz="2400" dirty="0">
                <a:latin typeface="Times New Roman" panose="02020603050405020304" pitchFamily="18" charset="0"/>
              </a:rPr>
              <a:t>0</a:t>
            </a:r>
            <a:r>
              <a:rPr lang="zh-CN" altLang="en-US" sz="2400" dirty="0">
                <a:latin typeface="Times New Roman" panose="02020603050405020304" pitchFamily="18" charset="0"/>
              </a:rPr>
              <a:t>，环②为有效循环。可见，四位环型计数器实际上是一个模 </a:t>
            </a:r>
            <a:r>
              <a:rPr lang="en-US" altLang="zh-CN" sz="2400" dirty="0">
                <a:latin typeface="Times New Roman" panose="02020603050405020304" pitchFamily="18" charset="0"/>
              </a:rPr>
              <a:t>4 </a:t>
            </a:r>
            <a:r>
              <a:rPr lang="zh-CN" altLang="en-US" sz="2400" dirty="0">
                <a:latin typeface="Times New Roman" panose="02020603050405020304" pitchFamily="18" charset="0"/>
              </a:rPr>
              <a:t>计数器。环型计数器结构很简单，其特点是每个时钟周期只有一个输出端为 </a:t>
            </a:r>
            <a:r>
              <a:rPr lang="en-US" altLang="zh-CN" sz="2400" dirty="0">
                <a:latin typeface="Times New Roman" panose="02020603050405020304" pitchFamily="18" charset="0"/>
              </a:rPr>
              <a:t>1(</a:t>
            </a:r>
            <a:r>
              <a:rPr lang="zh-CN" altLang="en-US" sz="2400" dirty="0">
                <a:latin typeface="Times New Roman" panose="02020603050405020304" pitchFamily="18" charset="0"/>
              </a:rPr>
              <a:t>或 </a:t>
            </a:r>
            <a:r>
              <a:rPr lang="en-US" altLang="zh-CN" sz="2400" dirty="0">
                <a:latin typeface="Times New Roman" panose="02020603050405020304" pitchFamily="18" charset="0"/>
              </a:rPr>
              <a:t>0)</a:t>
            </a:r>
            <a:r>
              <a:rPr lang="zh-CN" altLang="en-US" sz="2400" dirty="0">
                <a:latin typeface="Times New Roman" panose="02020603050405020304" pitchFamily="18" charset="0"/>
              </a:rPr>
              <a:t>，因此可以直接用环型计数器的输出作为状态输出信号或节拍信号，不需要再加译码电路。但它的状态利用率低，</a:t>
            </a:r>
            <a:r>
              <a:rPr lang="en-US" altLang="zh-CN" sz="2400" i="1" dirty="0">
                <a:latin typeface="Times New Roman" panose="02020603050405020304" pitchFamily="18" charset="0"/>
              </a:rPr>
              <a:t>n</a:t>
            </a:r>
            <a:r>
              <a:rPr lang="zh-CN" altLang="en-US" sz="2400" dirty="0">
                <a:latin typeface="Times New Roman" panose="02020603050405020304" pitchFamily="18" charset="0"/>
              </a:rPr>
              <a:t>个触发器或</a:t>
            </a:r>
            <a:r>
              <a:rPr lang="en-US" altLang="zh-CN" sz="2400" i="1" dirty="0">
                <a:latin typeface="Times New Roman" panose="02020603050405020304" pitchFamily="18" charset="0"/>
              </a:rPr>
              <a:t>n</a:t>
            </a:r>
            <a:r>
              <a:rPr lang="zh-CN" altLang="en-US" sz="2400" dirty="0">
                <a:latin typeface="Times New Roman" panose="02020603050405020304" pitchFamily="18" charset="0"/>
              </a:rPr>
              <a:t>位移存器只能构成</a:t>
            </a:r>
            <a:r>
              <a:rPr lang="en-US" altLang="zh-CN" sz="2400" i="1" dirty="0">
                <a:latin typeface="Times New Roman" panose="02020603050405020304" pitchFamily="18" charset="0"/>
              </a:rPr>
              <a:t>M</a:t>
            </a:r>
            <a:r>
              <a:rPr lang="en-US" altLang="zh-CN" sz="2400" dirty="0">
                <a:latin typeface="Times New Roman" panose="02020603050405020304" pitchFamily="18" charset="0"/>
              </a:rPr>
              <a:t>=</a:t>
            </a:r>
            <a:r>
              <a:rPr lang="en-US" altLang="zh-CN" sz="2400" i="1" dirty="0">
                <a:latin typeface="Times New Roman" panose="02020603050405020304" pitchFamily="18" charset="0"/>
              </a:rPr>
              <a:t>n</a:t>
            </a:r>
            <a:r>
              <a:rPr lang="zh-CN" altLang="en-US" sz="2400" dirty="0">
                <a:latin typeface="Times New Roman" panose="02020603050405020304" pitchFamily="18" charset="0"/>
              </a:rPr>
              <a:t>的计数器，有</a:t>
            </a:r>
            <a:r>
              <a:rPr lang="en-US" altLang="zh-CN" sz="2400" dirty="0">
                <a:latin typeface="Times New Roman" panose="02020603050405020304" pitchFamily="18" charset="0"/>
              </a:rPr>
              <a:t>(2</a:t>
            </a:r>
            <a:r>
              <a:rPr lang="en-US" altLang="zh-CN" sz="2400" i="1" baseline="30000" dirty="0">
                <a:latin typeface="Times New Roman" panose="02020603050405020304" pitchFamily="18" charset="0"/>
              </a:rPr>
              <a:t>n</a:t>
            </a:r>
            <a:r>
              <a:rPr lang="en-US" altLang="zh-CN" sz="2400" dirty="0">
                <a:latin typeface="Times New Roman" panose="02020603050405020304" pitchFamily="18" charset="0"/>
              </a:rPr>
              <a:t>-</a:t>
            </a:r>
            <a:r>
              <a:rPr lang="en-US" altLang="zh-CN" sz="2400" i="1" dirty="0">
                <a:latin typeface="Times New Roman" panose="02020603050405020304" pitchFamily="18" charset="0"/>
              </a:rPr>
              <a:t>n</a:t>
            </a:r>
            <a:r>
              <a:rPr lang="en-US" altLang="zh-CN" sz="2400" dirty="0">
                <a:latin typeface="Times New Roman" panose="02020603050405020304" pitchFamily="18" charset="0"/>
              </a:rPr>
              <a:t>)</a:t>
            </a:r>
            <a:r>
              <a:rPr lang="zh-CN" altLang="en-US" sz="2400" dirty="0">
                <a:latin typeface="Times New Roman" panose="02020603050405020304" pitchFamily="18" charset="0"/>
              </a:rPr>
              <a:t>个无效状态。 </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4">
            <a:hlinkClick r:id="rId2" action="ppaction://hlinksldjump"/>
          </p:cNvPr>
          <p:cNvSpPr txBox="1"/>
          <p:nvPr/>
        </p:nvSpPr>
        <p:spPr>
          <a:xfrm>
            <a:off x="1042988" y="1125538"/>
            <a:ext cx="5422900" cy="519112"/>
          </a:xfrm>
          <a:prstGeom prst="rect">
            <a:avLst/>
          </a:prstGeom>
          <a:noFill/>
          <a:ln w="9525">
            <a:noFill/>
          </a:ln>
        </p:spPr>
        <p:txBody>
          <a:bodyPr>
            <a:spAutoFit/>
          </a:bodyPr>
          <a:lstStyle/>
          <a:p>
            <a:pPr>
              <a:spcBef>
                <a:spcPct val="50000"/>
              </a:spcBef>
            </a:pPr>
            <a:r>
              <a:rPr lang="zh-CN" altLang="en-US" sz="2800" b="1" dirty="0">
                <a:latin typeface="Times New Roman" panose="02020603050405020304" pitchFamily="18" charset="0"/>
              </a:rPr>
              <a:t>注意：</a:t>
            </a:r>
          </a:p>
        </p:txBody>
      </p:sp>
      <p:sp>
        <p:nvSpPr>
          <p:cNvPr id="307205" name="Text Box 5"/>
          <p:cNvSpPr txBox="1"/>
          <p:nvPr/>
        </p:nvSpPr>
        <p:spPr>
          <a:xfrm>
            <a:off x="1223963" y="2097088"/>
            <a:ext cx="7272337" cy="1004887"/>
          </a:xfrm>
          <a:prstGeom prst="rect">
            <a:avLst/>
          </a:prstGeom>
          <a:noFill/>
          <a:ln w="57150">
            <a:noFill/>
          </a:ln>
        </p:spPr>
        <p:txBody>
          <a:bodyPr>
            <a:spAutoFit/>
          </a:bodyPr>
          <a:lstStyle/>
          <a:p>
            <a:pPr algn="just">
              <a:spcBef>
                <a:spcPct val="50000"/>
              </a:spcBef>
            </a:pPr>
            <a:r>
              <a:rPr lang="en-US" altLang="zh-CN" sz="2400" dirty="0">
                <a:latin typeface="宋体" panose="02010600030101010101" pitchFamily="2" charset="-122"/>
              </a:rPr>
              <a:t>1.</a:t>
            </a:r>
            <a:r>
              <a:rPr lang="zh-CN" altLang="en-US" sz="2400" dirty="0">
                <a:latin typeface="宋体" panose="02010600030101010101" pitchFamily="2" charset="-122"/>
              </a:rPr>
              <a:t>电路除了有效计数循环外，还有五个无效循环；</a:t>
            </a:r>
            <a:endParaRPr lang="zh-CN" altLang="en-US" sz="2400" dirty="0">
              <a:latin typeface="Times New Roman" panose="02020603050405020304" pitchFamily="18" charset="0"/>
            </a:endParaRPr>
          </a:p>
          <a:p>
            <a:pPr algn="just">
              <a:spcBef>
                <a:spcPct val="50000"/>
              </a:spcBef>
            </a:pPr>
            <a:r>
              <a:rPr lang="en-US" altLang="zh-CN" sz="2400" dirty="0">
                <a:latin typeface="宋体" panose="02010600030101010101" pitchFamily="2" charset="-122"/>
              </a:rPr>
              <a:t>2.</a:t>
            </a:r>
            <a:r>
              <a:rPr lang="zh-CN" altLang="en-US" sz="2400" dirty="0">
                <a:latin typeface="宋体" panose="02010600030101010101" pitchFamily="2" charset="-122"/>
              </a:rPr>
              <a:t>不能自启动</a:t>
            </a:r>
            <a:r>
              <a:rPr lang="en-US" altLang="zh-CN" sz="2400" dirty="0">
                <a:latin typeface="宋体" panose="02010600030101010101" pitchFamily="2" charset="-122"/>
              </a:rPr>
              <a:t>;</a:t>
            </a:r>
            <a:endParaRPr lang="en-US" altLang="zh-CN" sz="2400" dirty="0">
              <a:latin typeface="Times New Roman" panose="02020603050405020304" pitchFamily="18" charset="0"/>
            </a:endParaRPr>
          </a:p>
        </p:txBody>
      </p:sp>
      <p:sp>
        <p:nvSpPr>
          <p:cNvPr id="307207" name="AutoShape 7"/>
          <p:cNvSpPr/>
          <p:nvPr/>
        </p:nvSpPr>
        <p:spPr>
          <a:xfrm>
            <a:off x="3563938" y="4437063"/>
            <a:ext cx="3960812" cy="1404937"/>
          </a:xfrm>
          <a:prstGeom prst="wedgeRoundRectCallout">
            <a:avLst>
              <a:gd name="adj1" fmla="val -77056"/>
              <a:gd name="adj2" fmla="val -148759"/>
              <a:gd name="adj3" fmla="val 16667"/>
            </a:avLst>
          </a:prstGeom>
          <a:noFill/>
          <a:ln w="25400" cap="flat" cmpd="sng">
            <a:solidFill>
              <a:schemeClr val="accent1"/>
            </a:solidFill>
            <a:prstDash val="solid"/>
            <a:miter/>
            <a:headEnd type="none" w="med" len="med"/>
            <a:tailEnd type="none" w="med" len="med"/>
          </a:ln>
        </p:spPr>
        <p:txBody>
          <a:bodyPr/>
          <a:lstStyle/>
          <a:p>
            <a:pPr algn="ctr"/>
            <a:r>
              <a:rPr lang="zh-CN" altLang="en-US" sz="2000" dirty="0">
                <a:latin typeface="Arial" panose="020B0604020202020204" pitchFamily="34" charset="0"/>
              </a:rPr>
              <a:t>能自启动就是说如果电路进入了无效状态，能够在几个时钟脉冲之后回到有效状态，而不会在无效状态形成循环。</a:t>
            </a:r>
            <a:r>
              <a:rPr lang="zh-CN" altLang="en-US" dirty="0">
                <a:latin typeface="Arial" panose="020B0604020202020204" pitchFamily="34"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05">
                                            <p:txEl>
                                              <p:pRg st="0" end="0"/>
                                            </p:txEl>
                                          </p:spTgt>
                                        </p:tgtEl>
                                        <p:attrNameLst>
                                          <p:attrName>style.visibility</p:attrName>
                                        </p:attrNameLst>
                                      </p:cBhvr>
                                      <p:to>
                                        <p:strVal val="visible"/>
                                      </p:to>
                                    </p:set>
                                    <p:animEffect transition="in" filter="wipe(left)">
                                      <p:cBhvr>
                                        <p:cTn id="7" dur="500"/>
                                        <p:tgtEl>
                                          <p:spTgt spid="30720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205">
                                            <p:txEl>
                                              <p:pRg st="1" end="1"/>
                                            </p:txEl>
                                          </p:spTgt>
                                        </p:tgtEl>
                                        <p:attrNameLst>
                                          <p:attrName>style.visibility</p:attrName>
                                        </p:attrNameLst>
                                      </p:cBhvr>
                                      <p:to>
                                        <p:strVal val="visible"/>
                                      </p:to>
                                    </p:set>
                                    <p:animEffect transition="in" filter="wipe(left)">
                                      <p:cBhvr>
                                        <p:cTn id="12" dur="500"/>
                                        <p:tgtEl>
                                          <p:spTgt spid="30720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7207"/>
                                        </p:tgtEl>
                                        <p:attrNameLst>
                                          <p:attrName>style.visibility</p:attrName>
                                        </p:attrNameLst>
                                      </p:cBhvr>
                                      <p:to>
                                        <p:strVal val="visible"/>
                                      </p:to>
                                    </p:set>
                                    <p:animEffect transition="in" filter="blinds(horizontal)">
                                      <p:cBhvr>
                                        <p:cTn id="17" dur="500"/>
                                        <p:tgtEl>
                                          <p:spTgt spid="307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5" grpId="0" build="p"/>
      <p:bldP spid="307207"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4" name="Object 2"/>
          <p:cNvGraphicFramePr>
            <a:graphicFrameLocks noChangeAspect="1"/>
          </p:cNvGraphicFramePr>
          <p:nvPr/>
        </p:nvGraphicFramePr>
        <p:xfrm>
          <a:off x="228600" y="1233488"/>
          <a:ext cx="8915400" cy="5214937"/>
        </p:xfrm>
        <a:graphic>
          <a:graphicData uri="http://schemas.openxmlformats.org/presentationml/2006/ole">
            <mc:AlternateContent xmlns:mc="http://schemas.openxmlformats.org/markup-compatibility/2006">
              <mc:Choice xmlns:v="urn:schemas-microsoft-com:vml" Requires="v">
                <p:oleObj r:id="rId2" imgW="4741545" imgH="2776855" progId="Visio.Drawing.11">
                  <p:embed/>
                </p:oleObj>
              </mc:Choice>
              <mc:Fallback>
                <p:oleObj r:id="rId2" imgW="4741545" imgH="2776855" progId="Visio.Drawing.11">
                  <p:embed/>
                  <p:pic>
                    <p:nvPicPr>
                      <p:cNvPr id="0" name="图片 3079"/>
                      <p:cNvPicPr/>
                      <p:nvPr/>
                    </p:nvPicPr>
                    <p:blipFill>
                      <a:blip r:embed="rId3"/>
                      <a:stretch>
                        <a:fillRect/>
                      </a:stretch>
                    </p:blipFill>
                    <p:spPr>
                      <a:xfrm>
                        <a:off x="228600" y="1233488"/>
                        <a:ext cx="8915400" cy="5214937"/>
                      </a:xfrm>
                      <a:prstGeom prst="rect">
                        <a:avLst/>
                      </a:prstGeom>
                      <a:noFill/>
                      <a:ln w="38100">
                        <a:noFill/>
                        <a:miter/>
                      </a:ln>
                    </p:spPr>
                  </p:pic>
                </p:oleObj>
              </mc:Fallback>
            </mc:AlternateContent>
          </a:graphicData>
        </a:graphic>
      </p:graphicFrame>
      <p:sp>
        <p:nvSpPr>
          <p:cNvPr id="23555" name="Text Box 3"/>
          <p:cNvSpPr txBox="1"/>
          <p:nvPr/>
        </p:nvSpPr>
        <p:spPr>
          <a:xfrm>
            <a:off x="2863850" y="6035675"/>
            <a:ext cx="3568700" cy="822325"/>
          </a:xfrm>
          <a:prstGeom prst="rect">
            <a:avLst/>
          </a:prstGeom>
          <a:noFill/>
          <a:ln w="9525">
            <a:noFill/>
          </a:ln>
        </p:spPr>
        <p:txBody>
          <a:bodyPr wrap="none">
            <a:spAutoFit/>
          </a:bodyPr>
          <a:lstStyle/>
          <a:p>
            <a:pPr algn="ctr">
              <a:lnSpc>
                <a:spcPct val="120000"/>
              </a:lnSpc>
            </a:pPr>
            <a:r>
              <a:rPr lang="zh-CN" altLang="en-US" sz="2000" b="1" dirty="0">
                <a:latin typeface="Times New Roman" panose="02020603050405020304" pitchFamily="18" charset="0"/>
              </a:rPr>
              <a:t>有自启动特性的环型计数器</a:t>
            </a:r>
          </a:p>
          <a:p>
            <a:pPr algn="ctr">
              <a:lnSpc>
                <a:spcPct val="120000"/>
              </a:lnSpc>
            </a:pPr>
            <a:r>
              <a:rPr lang="en-US" altLang="zh-CN" sz="2000" b="1" dirty="0">
                <a:latin typeface="Times New Roman" panose="02020603050405020304" pitchFamily="18" charset="0"/>
              </a:rPr>
              <a:t>(</a:t>
            </a:r>
            <a:r>
              <a:rPr lang="en-US" altLang="zh-CN" sz="2000" b="1" i="1" dirty="0">
                <a:latin typeface="Times New Roman" panose="02020603050405020304" pitchFamily="18" charset="0"/>
              </a:rPr>
              <a:t>a</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逻辑电路； </a:t>
            </a:r>
            <a:r>
              <a:rPr lang="en-US" altLang="zh-CN" sz="2000" b="1" dirty="0">
                <a:latin typeface="Times New Roman" panose="02020603050405020304" pitchFamily="18" charset="0"/>
              </a:rPr>
              <a:t>(</a:t>
            </a:r>
            <a:r>
              <a:rPr lang="en-US" altLang="zh-CN" sz="2000" b="1" i="1" dirty="0">
                <a:latin typeface="Times New Roman" panose="02020603050405020304" pitchFamily="18" charset="0"/>
              </a:rPr>
              <a:t>b</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完全状态图</a:t>
            </a:r>
            <a:r>
              <a:rPr lang="zh-CN" altLang="en-US" sz="2000" dirty="0">
                <a:latin typeface="Times New Roman" panose="02020603050405020304" pitchFamily="18" charset="0"/>
              </a:rPr>
              <a:t> </a:t>
            </a:r>
          </a:p>
        </p:txBody>
      </p:sp>
      <p:sp>
        <p:nvSpPr>
          <p:cNvPr id="23556" name="Text Box 4"/>
          <p:cNvSpPr txBox="1"/>
          <p:nvPr/>
        </p:nvSpPr>
        <p:spPr>
          <a:xfrm>
            <a:off x="274638" y="555625"/>
            <a:ext cx="7848600" cy="1187450"/>
          </a:xfrm>
          <a:prstGeom prst="rect">
            <a:avLst/>
          </a:prstGeom>
          <a:noFill/>
          <a:ln w="9525">
            <a:noFill/>
          </a:ln>
        </p:spPr>
        <p:txBody>
          <a:bodyPr>
            <a:spAutoFit/>
          </a:bodyPr>
          <a:lstStyle/>
          <a:p>
            <a:pPr algn="just">
              <a:spcBef>
                <a:spcPct val="50000"/>
              </a:spcBef>
            </a:pPr>
            <a:r>
              <a:rPr lang="en-US" altLang="zh-CN" sz="2400" dirty="0">
                <a:latin typeface="Times New Roman" panose="02020603050405020304" pitchFamily="18" charset="0"/>
              </a:rPr>
              <a:t>       </a:t>
            </a:r>
            <a:r>
              <a:rPr lang="zh-CN" altLang="en-US" sz="2400" dirty="0">
                <a:latin typeface="Times New Roman" panose="02020603050405020304" pitchFamily="18" charset="0"/>
              </a:rPr>
              <a:t>为了使环型计数器具有自启动特性，设计时要进行修正。 它利用</a:t>
            </a:r>
            <a:r>
              <a:rPr lang="en-US" altLang="zh-CN" sz="2400" dirty="0">
                <a:latin typeface="Times New Roman" panose="02020603050405020304" pitchFamily="18" charset="0"/>
              </a:rPr>
              <a:t>74LS194 </a:t>
            </a:r>
            <a:r>
              <a:rPr lang="zh-CN" altLang="en-US" sz="2400" dirty="0">
                <a:latin typeface="Times New Roman" panose="02020603050405020304" pitchFamily="18" charset="0"/>
              </a:rPr>
              <a:t>的预置功能，并进行全</a:t>
            </a:r>
            <a:r>
              <a:rPr lang="en-US" altLang="zh-CN" sz="2400" dirty="0">
                <a:latin typeface="Times New Roman" panose="02020603050405020304" pitchFamily="18" charset="0"/>
              </a:rPr>
              <a:t>0</a:t>
            </a:r>
            <a:r>
              <a:rPr lang="zh-CN" altLang="en-US" sz="2400" dirty="0">
                <a:latin typeface="Times New Roman" panose="02020603050405020304" pitchFamily="18" charset="0"/>
              </a:rPr>
              <a:t>序列检测</a:t>
            </a:r>
            <a:r>
              <a:rPr lang="en-US" altLang="zh-CN" sz="2400" dirty="0">
                <a:latin typeface="Times New Roman" panose="02020603050405020304" pitchFamily="18" charset="0"/>
              </a:rPr>
              <a:t>, </a:t>
            </a:r>
            <a:r>
              <a:rPr lang="zh-CN" altLang="en-US" sz="2400" dirty="0">
                <a:latin typeface="Times New Roman" panose="02020603050405020304" pitchFamily="18" charset="0"/>
              </a:rPr>
              <a:t>有效地消除了无效循环。 </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4"/>
          <p:cNvSpPr txBox="1"/>
          <p:nvPr/>
        </p:nvSpPr>
        <p:spPr>
          <a:xfrm>
            <a:off x="685800" y="963613"/>
            <a:ext cx="8001000" cy="1004887"/>
          </a:xfrm>
          <a:prstGeom prst="rect">
            <a:avLst/>
          </a:prstGeom>
          <a:noFill/>
          <a:ln w="9525">
            <a:noFill/>
          </a:ln>
        </p:spPr>
        <p:txBody>
          <a:bodyPr>
            <a:spAutoFit/>
          </a:bodyPr>
          <a:lstStyle/>
          <a:p>
            <a:pPr algn="just">
              <a:spcBef>
                <a:spcPct val="50000"/>
              </a:spcBef>
            </a:pPr>
            <a:r>
              <a:rPr lang="en-US" altLang="zh-CN" sz="2400" dirty="0">
                <a:latin typeface="Times New Roman" panose="02020603050405020304" pitchFamily="18" charset="0"/>
              </a:rPr>
              <a:t>       ② </a:t>
            </a:r>
            <a:r>
              <a:rPr lang="zh-CN" altLang="en-US" sz="2400" dirty="0">
                <a:latin typeface="Times New Roman" panose="02020603050405020304" pitchFamily="18" charset="0"/>
              </a:rPr>
              <a:t>扭环计数器</a:t>
            </a:r>
            <a:r>
              <a:rPr lang="en-US" altLang="zh-CN" sz="2400" dirty="0">
                <a:latin typeface="Times New Roman" panose="02020603050405020304" pitchFamily="18" charset="0"/>
              </a:rPr>
              <a:t>(</a:t>
            </a:r>
            <a:r>
              <a:rPr lang="zh-CN" altLang="en-US" sz="2400" dirty="0">
                <a:latin typeface="Times New Roman" panose="02020603050405020304" pitchFamily="18" charset="0"/>
              </a:rPr>
              <a:t>也称循环码或约翰逊计数器</a:t>
            </a:r>
            <a:r>
              <a:rPr lang="en-US" altLang="zh-CN" sz="2400" dirty="0">
                <a:latin typeface="Times New Roman" panose="02020603050405020304" pitchFamily="18" charset="0"/>
              </a:rPr>
              <a:t>)</a:t>
            </a:r>
            <a:r>
              <a:rPr lang="zh-CN" altLang="en-US" sz="2400" dirty="0">
                <a:latin typeface="Times New Roman" panose="02020603050405020304" pitchFamily="18" charset="0"/>
              </a:rPr>
              <a:t>。</a:t>
            </a:r>
          </a:p>
          <a:p>
            <a:pPr>
              <a:spcBef>
                <a:spcPct val="50000"/>
              </a:spcBef>
            </a:pPr>
            <a:r>
              <a:rPr lang="zh-CN" altLang="en-US" sz="2400" i="1" dirty="0">
                <a:latin typeface="Times New Roman" panose="02020603050405020304" pitchFamily="18" charset="0"/>
              </a:rPr>
              <a:t>       </a:t>
            </a:r>
            <a:r>
              <a:rPr lang="en-US" altLang="zh-CN" sz="2400" i="1" dirty="0">
                <a:latin typeface="Times New Roman" panose="02020603050405020304" pitchFamily="18" charset="0"/>
              </a:rPr>
              <a:t>n</a:t>
            </a:r>
            <a:r>
              <a:rPr lang="zh-CN" altLang="en-US" sz="2400" dirty="0">
                <a:latin typeface="Times New Roman" panose="02020603050405020304" pitchFamily="18" charset="0"/>
              </a:rPr>
              <a:t>位扭环计数器由</a:t>
            </a:r>
            <a:r>
              <a:rPr lang="en-US" altLang="zh-CN" sz="2400" i="1" dirty="0">
                <a:latin typeface="Times New Roman" panose="02020603050405020304" pitchFamily="18" charset="0"/>
              </a:rPr>
              <a:t>n</a:t>
            </a:r>
            <a:r>
              <a:rPr lang="zh-CN" altLang="en-US" sz="2400" dirty="0">
                <a:latin typeface="Times New Roman" panose="02020603050405020304" pitchFamily="18" charset="0"/>
              </a:rPr>
              <a:t>位移存器组成，其反馈逻辑方程为 </a:t>
            </a:r>
          </a:p>
        </p:txBody>
      </p:sp>
      <p:graphicFrame>
        <p:nvGraphicFramePr>
          <p:cNvPr id="24579" name="Object 5"/>
          <p:cNvGraphicFramePr>
            <a:graphicFrameLocks noChangeAspect="1"/>
          </p:cNvGraphicFramePr>
          <p:nvPr/>
        </p:nvGraphicFramePr>
        <p:xfrm>
          <a:off x="4211638" y="1916113"/>
          <a:ext cx="1022350" cy="498475"/>
        </p:xfrm>
        <a:graphic>
          <a:graphicData uri="http://schemas.openxmlformats.org/presentationml/2006/ole">
            <mc:AlternateContent xmlns:mc="http://schemas.openxmlformats.org/markup-compatibility/2006">
              <mc:Choice xmlns:v="urn:schemas-microsoft-com:vml" Requires="v">
                <p:oleObj r:id="rId2" imgW="520700" imgH="254000" progId="Equation.3">
                  <p:embed/>
                </p:oleObj>
              </mc:Choice>
              <mc:Fallback>
                <p:oleObj r:id="rId2" imgW="520700" imgH="254000" progId="Equation.3">
                  <p:embed/>
                  <p:pic>
                    <p:nvPicPr>
                      <p:cNvPr id="0" name="图片 3085"/>
                      <p:cNvPicPr/>
                      <p:nvPr/>
                    </p:nvPicPr>
                    <p:blipFill>
                      <a:blip r:embed="rId3"/>
                      <a:stretch>
                        <a:fillRect/>
                      </a:stretch>
                    </p:blipFill>
                    <p:spPr>
                      <a:xfrm>
                        <a:off x="4211638" y="1916113"/>
                        <a:ext cx="1022350" cy="498475"/>
                      </a:xfrm>
                      <a:prstGeom prst="rect">
                        <a:avLst/>
                      </a:prstGeom>
                      <a:noFill/>
                      <a:ln w="38100">
                        <a:noFill/>
                        <a:miter/>
                      </a:ln>
                    </p:spPr>
                  </p:pic>
                </p:oleObj>
              </mc:Fallback>
            </mc:AlternateContent>
          </a:graphicData>
        </a:graphic>
      </p:graphicFrame>
      <p:sp>
        <p:nvSpPr>
          <p:cNvPr id="24580" name="Text Box 6"/>
          <p:cNvSpPr txBox="1"/>
          <p:nvPr/>
        </p:nvSpPr>
        <p:spPr>
          <a:xfrm>
            <a:off x="611188" y="2492375"/>
            <a:ext cx="8077200" cy="3455988"/>
          </a:xfrm>
          <a:prstGeom prst="rect">
            <a:avLst/>
          </a:prstGeom>
          <a:noFill/>
          <a:ln w="9525">
            <a:noFill/>
          </a:ln>
        </p:spPr>
        <p:txBody>
          <a:bodyPr>
            <a:spAutoFit/>
          </a:bodyPr>
          <a:lstStyle/>
          <a:p>
            <a:pPr algn="just">
              <a:lnSpc>
                <a:spcPct val="145000"/>
              </a:lnSpc>
              <a:spcBef>
                <a:spcPct val="50000"/>
              </a:spcBef>
            </a:pPr>
            <a:r>
              <a:rPr lang="en-US" altLang="zh-CN" sz="2400" i="1" dirty="0">
                <a:latin typeface="Times New Roman" panose="02020603050405020304" pitchFamily="18" charset="0"/>
              </a:rPr>
              <a:t>        n</a:t>
            </a:r>
            <a:r>
              <a:rPr lang="zh-CN" altLang="en-US" sz="2400" dirty="0">
                <a:latin typeface="Times New Roman" panose="02020603050405020304" pitchFamily="18" charset="0"/>
              </a:rPr>
              <a:t>位移存器可以构成</a:t>
            </a:r>
            <a:r>
              <a:rPr lang="en-US" altLang="zh-CN" sz="2400" i="1" dirty="0">
                <a:latin typeface="Times New Roman" panose="02020603050405020304" pitchFamily="18" charset="0"/>
              </a:rPr>
              <a:t>M</a:t>
            </a:r>
            <a:r>
              <a:rPr lang="en-US" altLang="zh-CN" sz="2400" dirty="0">
                <a:latin typeface="Times New Roman" panose="02020603050405020304" pitchFamily="18" charset="0"/>
              </a:rPr>
              <a:t>=2</a:t>
            </a:r>
            <a:r>
              <a:rPr lang="en-US" altLang="zh-CN" sz="2400" i="1" dirty="0">
                <a:latin typeface="Times New Roman" panose="02020603050405020304" pitchFamily="18" charset="0"/>
              </a:rPr>
              <a:t>n</a:t>
            </a:r>
            <a:r>
              <a:rPr lang="zh-CN" altLang="en-US" sz="2400" dirty="0">
                <a:latin typeface="Times New Roman" panose="02020603050405020304" pitchFamily="18" charset="0"/>
              </a:rPr>
              <a:t>计数器，无效状态为</a:t>
            </a:r>
            <a:r>
              <a:rPr lang="en-US" altLang="zh-CN" sz="2400" dirty="0">
                <a:latin typeface="Times New Roman" panose="02020603050405020304" pitchFamily="18" charset="0"/>
              </a:rPr>
              <a:t>(2</a:t>
            </a:r>
            <a:r>
              <a:rPr lang="en-US" altLang="zh-CN" sz="2400" i="1" baseline="30000" dirty="0">
                <a:latin typeface="Times New Roman" panose="02020603050405020304" pitchFamily="18" charset="0"/>
              </a:rPr>
              <a:t>n</a:t>
            </a:r>
            <a:r>
              <a:rPr lang="en-US" altLang="zh-CN" sz="2400" dirty="0">
                <a:latin typeface="Times New Roman" panose="02020603050405020304" pitchFamily="18" charset="0"/>
              </a:rPr>
              <a:t>-2</a:t>
            </a:r>
            <a:r>
              <a:rPr lang="en-US" altLang="zh-CN" sz="2400" i="1" dirty="0">
                <a:latin typeface="Times New Roman" panose="02020603050405020304" pitchFamily="18" charset="0"/>
              </a:rPr>
              <a:t>n</a:t>
            </a:r>
            <a:r>
              <a:rPr lang="en-US" altLang="zh-CN" sz="2400" dirty="0">
                <a:latin typeface="Times New Roman" panose="02020603050405020304" pitchFamily="18" charset="0"/>
              </a:rPr>
              <a:t>)</a:t>
            </a:r>
            <a:r>
              <a:rPr lang="zh-CN" altLang="en-US" sz="2400" dirty="0">
                <a:latin typeface="Times New Roman" panose="02020603050405020304" pitchFamily="18" charset="0"/>
              </a:rPr>
              <a:t>个。扭环计数器的状态按循环码的规律变化，即相邻状态之间仅有一位代码不同，因而不会产生竞争、冒险现象，且译码电路也比较简单。</a:t>
            </a:r>
          </a:p>
          <a:p>
            <a:pPr algn="just">
              <a:lnSpc>
                <a:spcPct val="145000"/>
              </a:lnSpc>
              <a:spcBef>
                <a:spcPct val="50000"/>
              </a:spcBef>
            </a:pPr>
            <a:r>
              <a:rPr lang="zh-CN" altLang="en-US" sz="2400" dirty="0">
                <a:latin typeface="Times New Roman" panose="02020603050405020304" pitchFamily="18" charset="0"/>
              </a:rPr>
              <a:t>        下图是由</a:t>
            </a:r>
            <a:r>
              <a:rPr lang="en-US" altLang="zh-CN" sz="2400" dirty="0">
                <a:latin typeface="Times New Roman" panose="02020603050405020304" pitchFamily="18" charset="0"/>
              </a:rPr>
              <a:t>74LS194</a:t>
            </a:r>
            <a:r>
              <a:rPr lang="zh-CN" altLang="en-US" sz="2400" dirty="0">
                <a:latin typeface="Times New Roman" panose="02020603050405020304" pitchFamily="18" charset="0"/>
              </a:rPr>
              <a:t>构成的四位扭环计数器和它的状态图。它有一个无效循环，不能自启动。 </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4"/>
          <p:cNvSpPr txBox="1"/>
          <p:nvPr/>
        </p:nvSpPr>
        <p:spPr>
          <a:xfrm>
            <a:off x="2735263" y="4724400"/>
            <a:ext cx="4264025" cy="968375"/>
          </a:xfrm>
          <a:prstGeom prst="rect">
            <a:avLst/>
          </a:prstGeom>
          <a:noFill/>
          <a:ln w="9525">
            <a:noFill/>
          </a:ln>
        </p:spPr>
        <p:txBody>
          <a:bodyPr wrap="none">
            <a:spAutoFit/>
          </a:bodyPr>
          <a:lstStyle/>
          <a:p>
            <a:pPr algn="ctr">
              <a:lnSpc>
                <a:spcPct val="120000"/>
              </a:lnSpc>
            </a:pPr>
            <a:r>
              <a:rPr lang="zh-CN" altLang="en-US" sz="2400" b="1" dirty="0">
                <a:latin typeface="Times New Roman" panose="02020603050405020304" pitchFamily="18" charset="0"/>
              </a:rPr>
              <a:t>扭环计数器 </a:t>
            </a:r>
          </a:p>
          <a:p>
            <a:pPr algn="ctr">
              <a:lnSpc>
                <a:spcPct val="120000"/>
              </a:lnSpc>
            </a:pPr>
            <a:r>
              <a:rPr lang="en-US" altLang="zh-CN" sz="2400" b="1" dirty="0">
                <a:latin typeface="Times New Roman" panose="02020603050405020304" pitchFamily="18" charset="0"/>
              </a:rPr>
              <a:t>(</a:t>
            </a:r>
            <a:r>
              <a:rPr lang="en-US" altLang="zh-CN" sz="2400" b="1" i="1" dirty="0">
                <a:latin typeface="Times New Roman" panose="02020603050405020304" pitchFamily="18" charset="0"/>
              </a:rPr>
              <a:t>a</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逻辑电路； </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b</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完全状态图 </a:t>
            </a:r>
          </a:p>
        </p:txBody>
      </p:sp>
      <p:graphicFrame>
        <p:nvGraphicFramePr>
          <p:cNvPr id="25603" name="Object 5"/>
          <p:cNvGraphicFramePr>
            <a:graphicFrameLocks noChangeAspect="1"/>
          </p:cNvGraphicFramePr>
          <p:nvPr/>
        </p:nvGraphicFramePr>
        <p:xfrm>
          <a:off x="-152400" y="1500188"/>
          <a:ext cx="9448800" cy="2538412"/>
        </p:xfrm>
        <a:graphic>
          <a:graphicData uri="http://schemas.openxmlformats.org/presentationml/2006/ole">
            <mc:AlternateContent xmlns:mc="http://schemas.openxmlformats.org/markup-compatibility/2006">
              <mc:Choice xmlns:v="urn:schemas-microsoft-com:vml" Requires="v">
                <p:oleObj r:id="rId2" imgW="8029575" imgH="2171700" progId="Visio.Drawing.11">
                  <p:embed/>
                </p:oleObj>
              </mc:Choice>
              <mc:Fallback>
                <p:oleObj r:id="rId2" imgW="8029575" imgH="2171700" progId="Visio.Drawing.11">
                  <p:embed/>
                  <p:pic>
                    <p:nvPicPr>
                      <p:cNvPr id="0" name="图片 3083"/>
                      <p:cNvPicPr/>
                      <p:nvPr/>
                    </p:nvPicPr>
                    <p:blipFill>
                      <a:blip r:embed="rId3"/>
                      <a:stretch>
                        <a:fillRect/>
                      </a:stretch>
                    </p:blipFill>
                    <p:spPr>
                      <a:xfrm>
                        <a:off x="-152400" y="1500188"/>
                        <a:ext cx="9448800" cy="2538412"/>
                      </a:xfrm>
                      <a:prstGeom prst="rect">
                        <a:avLst/>
                      </a:prstGeom>
                      <a:noFill/>
                      <a:ln w="38100">
                        <a:noFill/>
                        <a:miter/>
                      </a:ln>
                    </p:spPr>
                  </p:pic>
                </p:oleObj>
              </mc:Fallback>
            </mc:AlternateContent>
          </a:graphicData>
        </a:graphic>
      </p:graphicFrame>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Object 2"/>
          <p:cNvGraphicFramePr>
            <a:graphicFrameLocks noChangeAspect="1"/>
          </p:cNvGraphicFramePr>
          <p:nvPr/>
        </p:nvGraphicFramePr>
        <p:xfrm>
          <a:off x="-157162" y="388938"/>
          <a:ext cx="9448800" cy="2538412"/>
        </p:xfrm>
        <a:graphic>
          <a:graphicData uri="http://schemas.openxmlformats.org/presentationml/2006/ole">
            <mc:AlternateContent xmlns:mc="http://schemas.openxmlformats.org/markup-compatibility/2006">
              <mc:Choice xmlns:v="urn:schemas-microsoft-com:vml" Requires="v">
                <p:oleObj r:id="rId2" imgW="6344285" imgH="1715770" progId="Visio.Drawing.11">
                  <p:embed/>
                </p:oleObj>
              </mc:Choice>
              <mc:Fallback>
                <p:oleObj r:id="rId2" imgW="6344285" imgH="1715770" progId="Visio.Drawing.11">
                  <p:embed/>
                  <p:pic>
                    <p:nvPicPr>
                      <p:cNvPr id="0" name="图片 3082"/>
                      <p:cNvPicPr/>
                      <p:nvPr/>
                    </p:nvPicPr>
                    <p:blipFill>
                      <a:blip r:embed="rId3"/>
                      <a:stretch>
                        <a:fillRect/>
                      </a:stretch>
                    </p:blipFill>
                    <p:spPr>
                      <a:xfrm>
                        <a:off x="-157162" y="388938"/>
                        <a:ext cx="9448800" cy="2538412"/>
                      </a:xfrm>
                      <a:prstGeom prst="rect">
                        <a:avLst/>
                      </a:prstGeom>
                      <a:noFill/>
                      <a:ln w="38100">
                        <a:noFill/>
                        <a:miter/>
                      </a:ln>
                    </p:spPr>
                  </p:pic>
                </p:oleObj>
              </mc:Fallback>
            </mc:AlternateContent>
          </a:graphicData>
        </a:graphic>
      </p:graphicFrame>
      <p:sp>
        <p:nvSpPr>
          <p:cNvPr id="26627" name="Text Box 3"/>
          <p:cNvSpPr txBox="1"/>
          <p:nvPr/>
        </p:nvSpPr>
        <p:spPr>
          <a:xfrm>
            <a:off x="2646363" y="6400800"/>
            <a:ext cx="3630612" cy="457200"/>
          </a:xfrm>
          <a:prstGeom prst="rect">
            <a:avLst/>
          </a:prstGeom>
          <a:noFill/>
          <a:ln w="9525">
            <a:noFill/>
          </a:ln>
        </p:spPr>
        <p:txBody>
          <a:bodyPr wrap="none">
            <a:spAutoFit/>
          </a:bodyPr>
          <a:lstStyle/>
          <a:p>
            <a:r>
              <a:rPr lang="zh-CN" altLang="en-US" sz="2400" b="1" dirty="0">
                <a:latin typeface="Times New Roman" panose="02020603050405020304" pitchFamily="18" charset="0"/>
              </a:rPr>
              <a:t>有自启特性的扭环计数器 </a:t>
            </a:r>
          </a:p>
        </p:txBody>
      </p:sp>
      <p:graphicFrame>
        <p:nvGraphicFramePr>
          <p:cNvPr id="26628" name="Object 4"/>
          <p:cNvGraphicFramePr>
            <a:graphicFrameLocks noChangeAspect="1"/>
          </p:cNvGraphicFramePr>
          <p:nvPr/>
        </p:nvGraphicFramePr>
        <p:xfrm>
          <a:off x="1323975" y="2533650"/>
          <a:ext cx="6553200" cy="4195763"/>
        </p:xfrm>
        <a:graphic>
          <a:graphicData uri="http://schemas.openxmlformats.org/presentationml/2006/ole">
            <mc:AlternateContent xmlns:mc="http://schemas.openxmlformats.org/markup-compatibility/2006">
              <mc:Choice xmlns:v="urn:schemas-microsoft-com:vml" Requires="v">
                <p:oleObj r:id="rId4" imgW="2828925" imgH="1814830" progId="Visio.Drawing.11">
                  <p:embed/>
                </p:oleObj>
              </mc:Choice>
              <mc:Fallback>
                <p:oleObj r:id="rId4" imgW="2828925" imgH="1814830" progId="Visio.Drawing.11">
                  <p:embed/>
                  <p:pic>
                    <p:nvPicPr>
                      <p:cNvPr id="0" name="图片 3084"/>
                      <p:cNvPicPr/>
                      <p:nvPr/>
                    </p:nvPicPr>
                    <p:blipFill>
                      <a:blip r:embed="rId5"/>
                      <a:stretch>
                        <a:fillRect/>
                      </a:stretch>
                    </p:blipFill>
                    <p:spPr>
                      <a:xfrm>
                        <a:off x="1323975" y="2533650"/>
                        <a:ext cx="6553200" cy="4195763"/>
                      </a:xfrm>
                      <a:prstGeom prst="rect">
                        <a:avLst/>
                      </a:prstGeom>
                      <a:noFill/>
                      <a:ln w="38100">
                        <a:noFill/>
                        <a:miter/>
                      </a:ln>
                    </p:spPr>
                  </p:pic>
                </p:oleObj>
              </mc:Fallback>
            </mc:AlternateContent>
          </a:graphicData>
        </a:graphic>
      </p:graphicFrame>
      <p:sp>
        <p:nvSpPr>
          <p:cNvPr id="26629" name="Text Box 5"/>
          <p:cNvSpPr txBox="1"/>
          <p:nvPr/>
        </p:nvSpPr>
        <p:spPr>
          <a:xfrm>
            <a:off x="7288213" y="3543300"/>
            <a:ext cx="1149350" cy="457200"/>
          </a:xfrm>
          <a:prstGeom prst="rect">
            <a:avLst/>
          </a:prstGeom>
          <a:noFill/>
          <a:ln w="38100">
            <a:noFill/>
          </a:ln>
        </p:spPr>
        <p:txBody>
          <a:bodyPr wrap="none" lIns="90000" tIns="46800" rIns="90000" bIns="46800">
            <a:spAutoFit/>
          </a:bodyPr>
          <a:lstStyle/>
          <a:p>
            <a:pPr algn="ct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0</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=1</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4"/>
          <p:cNvSpPr txBox="1"/>
          <p:nvPr/>
        </p:nvSpPr>
        <p:spPr>
          <a:xfrm>
            <a:off x="503238" y="914400"/>
            <a:ext cx="8245475" cy="3013075"/>
          </a:xfrm>
          <a:prstGeom prst="rect">
            <a:avLst/>
          </a:prstGeom>
          <a:noFill/>
          <a:ln w="9525">
            <a:noFill/>
          </a:ln>
        </p:spPr>
        <p:txBody>
          <a:bodyPr>
            <a:spAutoFit/>
          </a:bodyPr>
          <a:lstStyle/>
          <a:p>
            <a:pPr algn="just">
              <a:lnSpc>
                <a:spcPct val="160000"/>
              </a:lnSpc>
              <a:spcBef>
                <a:spcPct val="50000"/>
              </a:spcBef>
            </a:pPr>
            <a:r>
              <a:rPr lang="en-US" altLang="zh-CN" sz="2400" dirty="0">
                <a:latin typeface="Times New Roman" panose="02020603050405020304" pitchFamily="18" charset="0"/>
              </a:rPr>
              <a:t>       </a:t>
            </a:r>
            <a:r>
              <a:rPr lang="zh-CN" altLang="en-US" sz="2400" dirty="0">
                <a:latin typeface="Times New Roman" panose="02020603050405020304" pitchFamily="18" charset="0"/>
              </a:rPr>
              <a:t>扭环计数器输出波形的频率比时钟频率降低了</a:t>
            </a:r>
            <a:r>
              <a:rPr lang="en-US" altLang="zh-CN" sz="2400" dirty="0">
                <a:latin typeface="Times New Roman" panose="02020603050405020304" pitchFamily="18" charset="0"/>
              </a:rPr>
              <a:t>2</a:t>
            </a:r>
            <a:r>
              <a:rPr lang="en-US" altLang="zh-CN" sz="2400" i="1" dirty="0">
                <a:latin typeface="Times New Roman" panose="02020603050405020304" pitchFamily="18" charset="0"/>
              </a:rPr>
              <a:t>n</a:t>
            </a:r>
            <a:r>
              <a:rPr lang="zh-CN" altLang="en-US" sz="2400" dirty="0">
                <a:latin typeface="Times New Roman" panose="02020603050405020304" pitchFamily="18" charset="0"/>
              </a:rPr>
              <a:t>倍，所以它可以用作偶数分频器。如果将反馈输入方程改为            ， 则可以构成奇数分频器，其模值为 </a:t>
            </a:r>
            <a:r>
              <a:rPr lang="en-US" altLang="zh-CN" sz="2400" i="1" dirty="0">
                <a:latin typeface="Times New Roman" panose="02020603050405020304" pitchFamily="18" charset="0"/>
              </a:rPr>
              <a:t>M</a:t>
            </a:r>
            <a:r>
              <a:rPr lang="en-US" altLang="zh-CN" sz="2400" dirty="0">
                <a:latin typeface="Times New Roman" panose="02020603050405020304" pitchFamily="18" charset="0"/>
              </a:rPr>
              <a:t>=2</a:t>
            </a:r>
            <a:r>
              <a:rPr lang="en-US" altLang="zh-CN" sz="2400" i="1" dirty="0">
                <a:latin typeface="Times New Roman" panose="02020603050405020304" pitchFamily="18" charset="0"/>
              </a:rPr>
              <a:t>n</a:t>
            </a:r>
            <a:r>
              <a:rPr lang="en-US" altLang="zh-CN" sz="2400" dirty="0">
                <a:latin typeface="Times New Roman" panose="02020603050405020304" pitchFamily="18" charset="0"/>
              </a:rPr>
              <a:t>-1</a:t>
            </a:r>
            <a:r>
              <a:rPr lang="zh-CN" altLang="en-US" sz="2400" dirty="0">
                <a:latin typeface="Times New Roman" panose="02020603050405020304" pitchFamily="18" charset="0"/>
              </a:rPr>
              <a:t>。下图是用 </a:t>
            </a:r>
            <a:r>
              <a:rPr lang="en-US" altLang="zh-CN" sz="2400" dirty="0">
                <a:latin typeface="Times New Roman" panose="02020603050405020304" pitchFamily="18" charset="0"/>
              </a:rPr>
              <a:t>74LS194 </a:t>
            </a:r>
            <a:r>
              <a:rPr lang="zh-CN" altLang="en-US" sz="2400" dirty="0">
                <a:latin typeface="Times New Roman" panose="02020603050405020304" pitchFamily="18" charset="0"/>
              </a:rPr>
              <a:t>构成的 </a:t>
            </a:r>
            <a:r>
              <a:rPr lang="en-US" altLang="zh-CN" sz="2400" dirty="0">
                <a:latin typeface="Times New Roman" panose="02020603050405020304" pitchFamily="18" charset="0"/>
              </a:rPr>
              <a:t>7 </a:t>
            </a:r>
            <a:r>
              <a:rPr lang="zh-CN" altLang="en-US" sz="2400" dirty="0">
                <a:latin typeface="Times New Roman" panose="02020603050405020304" pitchFamily="18" charset="0"/>
              </a:rPr>
              <a:t>分频电路，其态序表如下表所示，其状态变化与扭环计数器相似，但跳过了全 </a:t>
            </a:r>
            <a:r>
              <a:rPr lang="en-US" altLang="zh-CN" sz="2400" dirty="0">
                <a:latin typeface="Times New Roman" panose="02020603050405020304" pitchFamily="18" charset="0"/>
              </a:rPr>
              <a:t>0 </a:t>
            </a:r>
            <a:r>
              <a:rPr lang="zh-CN" altLang="en-US" sz="2400" dirty="0">
                <a:latin typeface="Times New Roman" panose="02020603050405020304" pitchFamily="18" charset="0"/>
              </a:rPr>
              <a:t>状态。 </a:t>
            </a:r>
          </a:p>
        </p:txBody>
      </p:sp>
      <p:graphicFrame>
        <p:nvGraphicFramePr>
          <p:cNvPr id="27651" name="Object 5"/>
          <p:cNvGraphicFramePr>
            <a:graphicFrameLocks noChangeAspect="1"/>
          </p:cNvGraphicFramePr>
          <p:nvPr/>
        </p:nvGraphicFramePr>
        <p:xfrm>
          <a:off x="7620000" y="1628775"/>
          <a:ext cx="1524000" cy="508000"/>
        </p:xfrm>
        <a:graphic>
          <a:graphicData uri="http://schemas.openxmlformats.org/presentationml/2006/ole">
            <mc:AlternateContent xmlns:mc="http://schemas.openxmlformats.org/markup-compatibility/2006">
              <mc:Choice xmlns:v="urn:schemas-microsoft-com:vml" Requires="v">
                <p:oleObj r:id="rId2" imgW="761365" imgH="254000" progId="Equation.3">
                  <p:embed/>
                </p:oleObj>
              </mc:Choice>
              <mc:Fallback>
                <p:oleObj r:id="rId2" imgW="761365" imgH="254000" progId="Equation.3">
                  <p:embed/>
                  <p:pic>
                    <p:nvPicPr>
                      <p:cNvPr id="0" name="图片 3086"/>
                      <p:cNvPicPr/>
                      <p:nvPr/>
                    </p:nvPicPr>
                    <p:blipFill>
                      <a:blip r:embed="rId3"/>
                      <a:stretch>
                        <a:fillRect/>
                      </a:stretch>
                    </p:blipFill>
                    <p:spPr>
                      <a:xfrm>
                        <a:off x="7620000" y="1628775"/>
                        <a:ext cx="1524000" cy="508000"/>
                      </a:xfrm>
                      <a:prstGeom prst="rect">
                        <a:avLst/>
                      </a:prstGeom>
                      <a:noFill/>
                      <a:ln w="38100">
                        <a:noFill/>
                        <a:miter/>
                      </a:ln>
                    </p:spPr>
                  </p:pic>
                </p:oleObj>
              </mc:Fallback>
            </mc:AlternateContent>
          </a:graphicData>
        </a:graphic>
      </p:graphicFrame>
      <p:pic>
        <p:nvPicPr>
          <p:cNvPr id="27652" name="Picture 6"/>
          <p:cNvPicPr>
            <a:picLocks noChangeAspect="1"/>
          </p:cNvPicPr>
          <p:nvPr/>
        </p:nvPicPr>
        <p:blipFill>
          <a:blip r:embed="rId4"/>
          <a:stretch>
            <a:fillRect/>
          </a:stretch>
        </p:blipFill>
        <p:spPr>
          <a:xfrm>
            <a:off x="1835150" y="4113213"/>
            <a:ext cx="5149850" cy="2503487"/>
          </a:xfrm>
          <a:prstGeom prst="rect">
            <a:avLst/>
          </a:prstGeom>
          <a:noFill/>
          <a:ln w="9525">
            <a:noFill/>
          </a:ln>
        </p:spPr>
      </p:pic>
      <p:grpSp>
        <p:nvGrpSpPr>
          <p:cNvPr id="2" name="Group 16"/>
          <p:cNvGrpSpPr/>
          <p:nvPr/>
        </p:nvGrpSpPr>
        <p:grpSpPr>
          <a:xfrm>
            <a:off x="2447925" y="4616450"/>
            <a:ext cx="3841750" cy="1919288"/>
            <a:chOff x="1542" y="2908"/>
            <a:chExt cx="2420" cy="1209"/>
          </a:xfrm>
        </p:grpSpPr>
        <p:sp>
          <p:nvSpPr>
            <p:cNvPr id="27654" name="Line 7"/>
            <p:cNvSpPr/>
            <p:nvPr/>
          </p:nvSpPr>
          <p:spPr>
            <a:xfrm>
              <a:off x="1542" y="2931"/>
              <a:ext cx="0" cy="1179"/>
            </a:xfrm>
            <a:prstGeom prst="line">
              <a:avLst/>
            </a:prstGeom>
            <a:ln w="38100" cap="rnd" cmpd="sng">
              <a:solidFill>
                <a:srgbClr val="FF0000"/>
              </a:solidFill>
              <a:prstDash val="sysDot"/>
              <a:headEnd type="none" w="med" len="med"/>
              <a:tailEnd type="none" w="med" len="med"/>
            </a:ln>
          </p:spPr>
        </p:sp>
        <p:sp>
          <p:nvSpPr>
            <p:cNvPr id="27655" name="Line 8"/>
            <p:cNvSpPr/>
            <p:nvPr/>
          </p:nvSpPr>
          <p:spPr>
            <a:xfrm>
              <a:off x="1847" y="2932"/>
              <a:ext cx="0" cy="1179"/>
            </a:xfrm>
            <a:prstGeom prst="line">
              <a:avLst/>
            </a:prstGeom>
            <a:ln w="38100" cap="rnd" cmpd="sng">
              <a:solidFill>
                <a:srgbClr val="FF0000"/>
              </a:solidFill>
              <a:prstDash val="sysDot"/>
              <a:headEnd type="none" w="med" len="med"/>
              <a:tailEnd type="none" w="med" len="med"/>
            </a:ln>
          </p:spPr>
        </p:sp>
        <p:sp>
          <p:nvSpPr>
            <p:cNvPr id="27656" name="Line 9"/>
            <p:cNvSpPr/>
            <p:nvPr/>
          </p:nvSpPr>
          <p:spPr>
            <a:xfrm>
              <a:off x="2154" y="2931"/>
              <a:ext cx="0" cy="1179"/>
            </a:xfrm>
            <a:prstGeom prst="line">
              <a:avLst/>
            </a:prstGeom>
            <a:ln w="38100" cap="rnd" cmpd="sng">
              <a:solidFill>
                <a:srgbClr val="FF0000"/>
              </a:solidFill>
              <a:prstDash val="sysDot"/>
              <a:headEnd type="none" w="med" len="med"/>
              <a:tailEnd type="none" w="med" len="med"/>
            </a:ln>
          </p:spPr>
        </p:sp>
        <p:sp>
          <p:nvSpPr>
            <p:cNvPr id="27657" name="Line 10"/>
            <p:cNvSpPr/>
            <p:nvPr/>
          </p:nvSpPr>
          <p:spPr>
            <a:xfrm>
              <a:off x="2449" y="2931"/>
              <a:ext cx="0" cy="1179"/>
            </a:xfrm>
            <a:prstGeom prst="line">
              <a:avLst/>
            </a:prstGeom>
            <a:ln w="38100" cap="rnd" cmpd="sng">
              <a:solidFill>
                <a:srgbClr val="FF0000"/>
              </a:solidFill>
              <a:prstDash val="sysDot"/>
              <a:headEnd type="none" w="med" len="med"/>
              <a:tailEnd type="none" w="med" len="med"/>
            </a:ln>
          </p:spPr>
        </p:sp>
        <p:sp>
          <p:nvSpPr>
            <p:cNvPr id="27658" name="Line 11"/>
            <p:cNvSpPr/>
            <p:nvPr/>
          </p:nvSpPr>
          <p:spPr>
            <a:xfrm>
              <a:off x="2744" y="2908"/>
              <a:ext cx="0" cy="1179"/>
            </a:xfrm>
            <a:prstGeom prst="line">
              <a:avLst/>
            </a:prstGeom>
            <a:ln w="38100" cap="rnd" cmpd="sng">
              <a:solidFill>
                <a:srgbClr val="FF0000"/>
              </a:solidFill>
              <a:prstDash val="sysDot"/>
              <a:headEnd type="none" w="med" len="med"/>
              <a:tailEnd type="none" w="med" len="med"/>
            </a:ln>
          </p:spPr>
        </p:sp>
        <p:sp>
          <p:nvSpPr>
            <p:cNvPr id="27659" name="Line 12"/>
            <p:cNvSpPr/>
            <p:nvPr/>
          </p:nvSpPr>
          <p:spPr>
            <a:xfrm>
              <a:off x="3061" y="2931"/>
              <a:ext cx="0" cy="1179"/>
            </a:xfrm>
            <a:prstGeom prst="line">
              <a:avLst/>
            </a:prstGeom>
            <a:ln w="38100" cap="rnd" cmpd="sng">
              <a:solidFill>
                <a:srgbClr val="FF0000"/>
              </a:solidFill>
              <a:prstDash val="sysDot"/>
              <a:headEnd type="none" w="med" len="med"/>
              <a:tailEnd type="none" w="med" len="med"/>
            </a:ln>
          </p:spPr>
        </p:sp>
        <p:sp>
          <p:nvSpPr>
            <p:cNvPr id="27660" name="Line 13"/>
            <p:cNvSpPr/>
            <p:nvPr/>
          </p:nvSpPr>
          <p:spPr>
            <a:xfrm>
              <a:off x="3356" y="2931"/>
              <a:ext cx="0" cy="1179"/>
            </a:xfrm>
            <a:prstGeom prst="line">
              <a:avLst/>
            </a:prstGeom>
            <a:ln w="38100" cap="rnd" cmpd="sng">
              <a:solidFill>
                <a:srgbClr val="FF0000"/>
              </a:solidFill>
              <a:prstDash val="sysDot"/>
              <a:headEnd type="none" w="med" len="med"/>
              <a:tailEnd type="none" w="med" len="med"/>
            </a:ln>
          </p:spPr>
        </p:sp>
        <p:sp>
          <p:nvSpPr>
            <p:cNvPr id="27661" name="Line 14"/>
            <p:cNvSpPr/>
            <p:nvPr/>
          </p:nvSpPr>
          <p:spPr>
            <a:xfrm>
              <a:off x="3667" y="2938"/>
              <a:ext cx="0" cy="1179"/>
            </a:xfrm>
            <a:prstGeom prst="line">
              <a:avLst/>
            </a:prstGeom>
            <a:ln w="38100" cap="rnd" cmpd="sng">
              <a:solidFill>
                <a:srgbClr val="FF0000"/>
              </a:solidFill>
              <a:prstDash val="sysDot"/>
              <a:headEnd type="none" w="med" len="med"/>
              <a:tailEnd type="none" w="med" len="med"/>
            </a:ln>
          </p:spPr>
        </p:sp>
        <p:sp>
          <p:nvSpPr>
            <p:cNvPr id="27662" name="Line 15"/>
            <p:cNvSpPr/>
            <p:nvPr/>
          </p:nvSpPr>
          <p:spPr>
            <a:xfrm>
              <a:off x="3962" y="2923"/>
              <a:ext cx="0" cy="1179"/>
            </a:xfrm>
            <a:prstGeom prst="line">
              <a:avLst/>
            </a:prstGeom>
            <a:ln w="38100" cap="rnd" cmpd="sng">
              <a:solidFill>
                <a:srgbClr val="FF0000"/>
              </a:solidFill>
              <a:prstDash val="sysDot"/>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2"/>
                                        </p:tgtEl>
                                      </p:cBhvr>
                                    </p:animEffect>
                                    <p:set>
                                      <p:cBhvr>
                                        <p:cTn id="12"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4"/>
          <p:cNvSpPr txBox="1"/>
          <p:nvPr/>
        </p:nvSpPr>
        <p:spPr>
          <a:xfrm>
            <a:off x="5289550" y="830263"/>
            <a:ext cx="3143250" cy="457200"/>
          </a:xfrm>
          <a:prstGeom prst="rect">
            <a:avLst/>
          </a:prstGeom>
          <a:noFill/>
          <a:ln w="9525">
            <a:noFill/>
          </a:ln>
        </p:spPr>
        <p:txBody>
          <a:bodyPr wrap="none">
            <a:spAutoFit/>
          </a:bodyPr>
          <a:lstStyle/>
          <a:p>
            <a:r>
              <a:rPr lang="en-US" altLang="zh-CN" sz="2400" b="1" i="1" dirty="0">
                <a:latin typeface="Times New Roman" panose="02020603050405020304" pitchFamily="18" charset="0"/>
              </a:rPr>
              <a:t>     M</a:t>
            </a:r>
            <a:r>
              <a:rPr lang="en-US" altLang="zh-CN" sz="2400" b="1" dirty="0">
                <a:latin typeface="Times New Roman" panose="02020603050405020304" pitchFamily="18" charset="0"/>
              </a:rPr>
              <a:t>=7 </a:t>
            </a:r>
            <a:r>
              <a:rPr lang="zh-CN" altLang="en-US" sz="2400" b="1" dirty="0">
                <a:latin typeface="Times New Roman" panose="02020603050405020304" pitchFamily="18" charset="0"/>
              </a:rPr>
              <a:t>分频器状态表 </a:t>
            </a:r>
          </a:p>
        </p:txBody>
      </p:sp>
      <p:pic>
        <p:nvPicPr>
          <p:cNvPr id="28675" name="Picture 5" descr="未标题-1 拷贝"/>
          <p:cNvPicPr>
            <a:picLocks noChangeAspect="1"/>
          </p:cNvPicPr>
          <p:nvPr/>
        </p:nvPicPr>
        <p:blipFill>
          <a:blip r:embed="rId2"/>
          <a:stretch>
            <a:fillRect/>
          </a:stretch>
        </p:blipFill>
        <p:spPr>
          <a:xfrm>
            <a:off x="4679950" y="1592263"/>
            <a:ext cx="4540250" cy="4546600"/>
          </a:xfrm>
          <a:prstGeom prst="rect">
            <a:avLst/>
          </a:prstGeom>
          <a:noFill/>
          <a:ln w="9525">
            <a:noFill/>
          </a:ln>
        </p:spPr>
      </p:pic>
      <p:sp>
        <p:nvSpPr>
          <p:cNvPr id="28676" name="Text Box 6"/>
          <p:cNvSpPr txBox="1"/>
          <p:nvPr/>
        </p:nvSpPr>
        <p:spPr>
          <a:xfrm>
            <a:off x="182563" y="5527675"/>
            <a:ext cx="4214812" cy="457200"/>
          </a:xfrm>
          <a:prstGeom prst="rect">
            <a:avLst/>
          </a:prstGeom>
          <a:noFill/>
          <a:ln w="9525">
            <a:noFill/>
          </a:ln>
        </p:spPr>
        <p:txBody>
          <a:bodyPr wrap="none">
            <a:spAutoFit/>
          </a:bodyPr>
          <a:lstStyle/>
          <a:p>
            <a:r>
              <a:rPr lang="zh-CN" altLang="en-US" sz="2400" b="1" dirty="0">
                <a:latin typeface="Times New Roman" panose="02020603050405020304" pitchFamily="18" charset="0"/>
              </a:rPr>
              <a:t>用</a:t>
            </a:r>
            <a:r>
              <a:rPr lang="en-US" altLang="zh-CN" sz="2400" b="1" dirty="0">
                <a:latin typeface="Times New Roman" panose="02020603050405020304" pitchFamily="18" charset="0"/>
              </a:rPr>
              <a:t>74LS194 </a:t>
            </a:r>
            <a:r>
              <a:rPr lang="zh-CN" altLang="en-US" sz="2400" b="1" dirty="0">
                <a:latin typeface="Times New Roman" panose="02020603050405020304" pitchFamily="18" charset="0"/>
              </a:rPr>
              <a:t>构成的 </a:t>
            </a:r>
            <a:r>
              <a:rPr lang="en-US" altLang="zh-CN" sz="2400" b="1" dirty="0">
                <a:latin typeface="Times New Roman" panose="02020603050405020304" pitchFamily="18" charset="0"/>
              </a:rPr>
              <a:t>7 </a:t>
            </a:r>
            <a:r>
              <a:rPr lang="zh-CN" altLang="en-US" sz="2400" b="1" dirty="0">
                <a:latin typeface="Times New Roman" panose="02020603050405020304" pitchFamily="18" charset="0"/>
              </a:rPr>
              <a:t>分频电路 </a:t>
            </a:r>
          </a:p>
        </p:txBody>
      </p:sp>
      <p:graphicFrame>
        <p:nvGraphicFramePr>
          <p:cNvPr id="28677" name="Object 7"/>
          <p:cNvGraphicFramePr>
            <a:graphicFrameLocks noChangeAspect="1"/>
          </p:cNvGraphicFramePr>
          <p:nvPr/>
        </p:nvGraphicFramePr>
        <p:xfrm>
          <a:off x="-865187" y="717550"/>
          <a:ext cx="6096000" cy="4079875"/>
        </p:xfrm>
        <a:graphic>
          <a:graphicData uri="http://schemas.openxmlformats.org/presentationml/2006/ole">
            <mc:AlternateContent xmlns:mc="http://schemas.openxmlformats.org/markup-compatibility/2006">
              <mc:Choice xmlns:v="urn:schemas-microsoft-com:vml" Requires="v">
                <p:oleObj r:id="rId3" imgW="2857500" imgH="1914525" progId="Visio.Drawing.11">
                  <p:embed/>
                </p:oleObj>
              </mc:Choice>
              <mc:Fallback>
                <p:oleObj r:id="rId3" imgW="2857500" imgH="1914525" progId="Visio.Drawing.11">
                  <p:embed/>
                  <p:pic>
                    <p:nvPicPr>
                      <p:cNvPr id="0" name="图片 3075"/>
                      <p:cNvPicPr/>
                      <p:nvPr/>
                    </p:nvPicPr>
                    <p:blipFill>
                      <a:blip r:embed="rId4"/>
                      <a:stretch>
                        <a:fillRect/>
                      </a:stretch>
                    </p:blipFill>
                    <p:spPr>
                      <a:xfrm>
                        <a:off x="-865187" y="717550"/>
                        <a:ext cx="6096000" cy="4079875"/>
                      </a:xfrm>
                      <a:prstGeom prst="rect">
                        <a:avLst/>
                      </a:prstGeom>
                      <a:noFill/>
                      <a:ln w="38100">
                        <a:noFill/>
                        <a:miter/>
                      </a:ln>
                    </p:spPr>
                  </p:pic>
                </p:oleObj>
              </mc:Fallback>
            </mc:AlternateContent>
          </a:graphicData>
        </a:graphic>
      </p:graphicFrame>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Text Box 4"/>
          <p:cNvSpPr txBox="1">
            <a:spLocks noChangeArrowheads="1"/>
          </p:cNvSpPr>
          <p:nvPr/>
        </p:nvSpPr>
        <p:spPr bwMode="auto">
          <a:xfrm>
            <a:off x="2843213" y="1196975"/>
            <a:ext cx="344360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1" lang="en-US" altLang="zh-CN" sz="3200" b="1"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  </a:t>
            </a:r>
            <a:r>
              <a:rPr kumimoji="1" lang="zh-CN" altLang="en-US" sz="3200" b="1" kern="1200" cap="none" spc="0" normalizeH="0" baseline="0" noProof="0" dirty="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集 成 计 数 器 </a:t>
            </a:r>
          </a:p>
        </p:txBody>
      </p:sp>
      <p:sp>
        <p:nvSpPr>
          <p:cNvPr id="4099" name="Text Box 5"/>
          <p:cNvSpPr txBox="1"/>
          <p:nvPr/>
        </p:nvSpPr>
        <p:spPr>
          <a:xfrm>
            <a:off x="684213" y="2060575"/>
            <a:ext cx="7696200" cy="3298825"/>
          </a:xfrm>
          <a:prstGeom prst="rect">
            <a:avLst/>
          </a:prstGeom>
          <a:noFill/>
          <a:ln w="9525">
            <a:noFill/>
          </a:ln>
        </p:spPr>
        <p:txBody>
          <a:bodyPr>
            <a:spAutoFit/>
          </a:bodyPr>
          <a:lstStyle/>
          <a:p>
            <a:pPr algn="just">
              <a:lnSpc>
                <a:spcPct val="150000"/>
              </a:lnSpc>
              <a:spcBef>
                <a:spcPct val="50000"/>
              </a:spcBef>
            </a:pPr>
            <a:r>
              <a:rPr lang="en-US" altLang="zh-CN" sz="2400" dirty="0">
                <a:latin typeface="Times New Roman" panose="02020603050405020304" pitchFamily="18" charset="0"/>
              </a:rPr>
              <a:t>       </a:t>
            </a:r>
            <a:r>
              <a:rPr lang="zh-CN" altLang="en-US" sz="2800" dirty="0">
                <a:latin typeface="Times New Roman" panose="02020603050405020304" pitchFamily="18" charset="0"/>
              </a:rPr>
              <a:t>集成计数器具有功能较完善、通用性强、功耗低、工作速率高且可以自扩展等许多优点，因而得到广泛应用。 目前由</a:t>
            </a:r>
            <a:r>
              <a:rPr lang="en-US" altLang="zh-CN" sz="2800" dirty="0">
                <a:latin typeface="Times New Roman" panose="02020603050405020304" pitchFamily="18" charset="0"/>
              </a:rPr>
              <a:t>TTL</a:t>
            </a:r>
            <a:r>
              <a:rPr lang="zh-CN" altLang="en-US" sz="2800" dirty="0">
                <a:latin typeface="Times New Roman" panose="02020603050405020304" pitchFamily="18" charset="0"/>
              </a:rPr>
              <a:t>和</a:t>
            </a:r>
            <a:r>
              <a:rPr lang="en-US" altLang="zh-CN" sz="2800" dirty="0">
                <a:latin typeface="Times New Roman" panose="02020603050405020304" pitchFamily="18" charset="0"/>
              </a:rPr>
              <a:t>CMOS</a:t>
            </a:r>
            <a:r>
              <a:rPr lang="zh-CN" altLang="en-US" sz="2800" dirty="0">
                <a:latin typeface="Times New Roman" panose="02020603050405020304" pitchFamily="18" charset="0"/>
              </a:rPr>
              <a:t>电路构成的</a:t>
            </a:r>
            <a:r>
              <a:rPr lang="en-US" altLang="zh-CN" sz="2800" dirty="0">
                <a:latin typeface="Times New Roman" panose="02020603050405020304" pitchFamily="18" charset="0"/>
              </a:rPr>
              <a:t>MSI</a:t>
            </a:r>
            <a:r>
              <a:rPr lang="zh-CN" altLang="en-US" sz="2800" dirty="0">
                <a:latin typeface="Times New Roman" panose="02020603050405020304" pitchFamily="18" charset="0"/>
              </a:rPr>
              <a:t>计数器都有许多品种， 表中列出了几种常用</a:t>
            </a:r>
            <a:r>
              <a:rPr lang="en-US" altLang="zh-CN" sz="2800" dirty="0">
                <a:latin typeface="Times New Roman" panose="02020603050405020304" pitchFamily="18" charset="0"/>
              </a:rPr>
              <a:t>TTL</a:t>
            </a:r>
            <a:r>
              <a:rPr lang="zh-CN" altLang="en-US" sz="2800" dirty="0">
                <a:latin typeface="Times New Roman" panose="02020603050405020304" pitchFamily="18" charset="0"/>
              </a:rPr>
              <a:t>型</a:t>
            </a:r>
            <a:r>
              <a:rPr lang="en-US" altLang="zh-CN" sz="2800" dirty="0">
                <a:latin typeface="Times New Roman" panose="02020603050405020304" pitchFamily="18" charset="0"/>
              </a:rPr>
              <a:t>MSI</a:t>
            </a:r>
            <a:r>
              <a:rPr lang="zh-CN" altLang="en-US" sz="2800" dirty="0">
                <a:latin typeface="Times New Roman" panose="02020603050405020304" pitchFamily="18" charset="0"/>
              </a:rPr>
              <a:t>计数器的型号及工作特点。 </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4"/>
          <p:cNvSpPr txBox="1"/>
          <p:nvPr/>
        </p:nvSpPr>
        <p:spPr>
          <a:xfrm>
            <a:off x="2667000" y="609600"/>
            <a:ext cx="3275013" cy="457200"/>
          </a:xfrm>
          <a:prstGeom prst="rect">
            <a:avLst/>
          </a:prstGeom>
          <a:noFill/>
          <a:ln w="9525">
            <a:noFill/>
          </a:ln>
        </p:spPr>
        <p:txBody>
          <a:bodyPr wrap="none">
            <a:spAutoFit/>
          </a:bodyPr>
          <a:lstStyle/>
          <a:p>
            <a:r>
              <a:rPr lang="zh-CN" altLang="en-US" sz="2400" b="1" dirty="0">
                <a:latin typeface="Times New Roman" panose="02020603050405020304" pitchFamily="18" charset="0"/>
              </a:rPr>
              <a:t>常用</a:t>
            </a:r>
            <a:r>
              <a:rPr lang="en-US" altLang="zh-CN" sz="2400" b="1" dirty="0">
                <a:latin typeface="Times New Roman" panose="02020603050405020304" pitchFamily="18" charset="0"/>
              </a:rPr>
              <a:t>TTL</a:t>
            </a:r>
            <a:r>
              <a:rPr lang="zh-CN" altLang="en-US" sz="2400" b="1" dirty="0">
                <a:latin typeface="Times New Roman" panose="02020603050405020304" pitchFamily="18" charset="0"/>
              </a:rPr>
              <a:t>型</a:t>
            </a:r>
            <a:r>
              <a:rPr lang="en-US" altLang="zh-CN" sz="2400" b="1" dirty="0">
                <a:latin typeface="Times New Roman" panose="02020603050405020304" pitchFamily="18" charset="0"/>
              </a:rPr>
              <a:t>MSI</a:t>
            </a:r>
            <a:r>
              <a:rPr lang="zh-CN" altLang="en-US" sz="2400" b="1" dirty="0">
                <a:latin typeface="Times New Roman" panose="02020603050405020304" pitchFamily="18" charset="0"/>
              </a:rPr>
              <a:t>计数器 </a:t>
            </a:r>
          </a:p>
        </p:txBody>
      </p:sp>
      <p:pic>
        <p:nvPicPr>
          <p:cNvPr id="5123" name="Picture 5" descr="未标题-1 拷贝"/>
          <p:cNvPicPr>
            <a:picLocks noChangeAspect="1"/>
          </p:cNvPicPr>
          <p:nvPr/>
        </p:nvPicPr>
        <p:blipFill>
          <a:blip r:embed="rId2"/>
          <a:stretch>
            <a:fillRect/>
          </a:stretch>
        </p:blipFill>
        <p:spPr>
          <a:xfrm>
            <a:off x="827088" y="1052513"/>
            <a:ext cx="7772400" cy="5384800"/>
          </a:xfrm>
          <a:prstGeom prst="rect">
            <a:avLst/>
          </a:prstGeom>
          <a:noFill/>
          <a:ln w="9525">
            <a:noFill/>
          </a:ln>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Text Box 4"/>
          <p:cNvSpPr txBox="1">
            <a:spLocks noChangeArrowheads="1"/>
          </p:cNvSpPr>
          <p:nvPr/>
        </p:nvSpPr>
        <p:spPr bwMode="auto">
          <a:xfrm>
            <a:off x="611188" y="1341438"/>
            <a:ext cx="8001000" cy="425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just" defTabSz="914400">
              <a:lnSpc>
                <a:spcPct val="145000"/>
              </a:lnSpc>
              <a:spcBef>
                <a:spcPct val="50000"/>
              </a:spcBef>
              <a:buClrTx/>
              <a:buSzTx/>
              <a:buFontTx/>
              <a:buNone/>
              <a:defRPr/>
            </a:pPr>
            <a:r>
              <a:rPr kumimoji="1" lang="en-US" altLang="zh-CN" sz="2400" kern="1200" cap="none" spc="0" normalizeH="0" baseline="0" noProof="0">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zh-CN" altLang="en-US" sz="2800" b="1"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同步集成计数器</a:t>
            </a:r>
            <a:r>
              <a:rPr kumimoji="1" lang="en-US" altLang="zh-CN" sz="2800" b="1"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74LS161</a:t>
            </a:r>
          </a:p>
          <a:p>
            <a:pPr marR="0" algn="just" defTabSz="914400">
              <a:lnSpc>
                <a:spcPct val="145000"/>
              </a:lnSpc>
              <a:spcBef>
                <a:spcPct val="50000"/>
              </a:spcBef>
              <a:buClrTx/>
              <a:buSzTx/>
              <a:buFontTx/>
              <a:buNone/>
              <a:defRPr/>
            </a:pPr>
            <a:r>
              <a:rPr kumimoji="1" lang="en-US" altLang="zh-CN" sz="2400" kern="1200" cap="none" spc="0" normalizeH="0" baseline="0" noProof="0">
                <a:latin typeface="Times New Roman" panose="02020603050405020304" pitchFamily="18" charset="0"/>
                <a:ea typeface="宋体" panose="02010600030101010101" pitchFamily="2" charset="-122"/>
                <a:cs typeface="+mn-cs"/>
              </a:rPr>
              <a:t>       74LS161</a:t>
            </a:r>
            <a:r>
              <a:rPr kumimoji="1" lang="zh-CN" altLang="en-US" sz="2400" kern="1200" cap="none" spc="0" normalizeH="0" baseline="0" noProof="0">
                <a:latin typeface="Times New Roman" panose="02020603050405020304" pitchFamily="18" charset="0"/>
                <a:ea typeface="宋体" panose="02010600030101010101" pitchFamily="2" charset="-122"/>
                <a:cs typeface="+mn-cs"/>
              </a:rPr>
              <a:t>是模</a:t>
            </a:r>
            <a:r>
              <a:rPr kumimoji="1" lang="en-US" altLang="zh-CN" sz="2400" kern="1200" cap="none" spc="0" normalizeH="0" baseline="0" noProof="0">
                <a:latin typeface="Times New Roman" panose="02020603050405020304" pitchFamily="18" charset="0"/>
                <a:ea typeface="宋体" panose="02010600030101010101" pitchFamily="2" charset="-122"/>
                <a:cs typeface="+mn-cs"/>
              </a:rPr>
              <a:t>2</a:t>
            </a:r>
            <a:r>
              <a:rPr kumimoji="1" lang="en-US" altLang="zh-CN" sz="2400" kern="1200" cap="none" spc="0" normalizeH="0" baseline="30000" noProof="0">
                <a:latin typeface="Times New Roman" panose="02020603050405020304" pitchFamily="18" charset="0"/>
                <a:ea typeface="宋体" panose="02010600030101010101" pitchFamily="2" charset="-122"/>
                <a:cs typeface="+mn-cs"/>
              </a:rPr>
              <a:t>4</a:t>
            </a:r>
            <a:r>
              <a:rPr kumimoji="1" lang="en-US" altLang="zh-CN" sz="2400" kern="1200" cap="none" spc="0" normalizeH="0" baseline="0" noProof="0">
                <a:latin typeface="Times New Roman" panose="02020603050405020304" pitchFamily="18" charset="0"/>
                <a:ea typeface="宋体" panose="02010600030101010101" pitchFamily="2" charset="-122"/>
                <a:cs typeface="+mn-cs"/>
              </a:rPr>
              <a:t>(</a:t>
            </a:r>
            <a:r>
              <a:rPr kumimoji="1" lang="zh-CN" altLang="en-US" sz="2400" kern="1200" cap="none" spc="0" normalizeH="0" baseline="0" noProof="0">
                <a:latin typeface="Times New Roman" panose="02020603050405020304" pitchFamily="18" charset="0"/>
                <a:ea typeface="宋体" panose="02010600030101010101" pitchFamily="2" charset="-122"/>
                <a:cs typeface="+mn-cs"/>
              </a:rPr>
              <a:t>四位二进制</a:t>
            </a:r>
            <a:r>
              <a:rPr kumimoji="1" lang="en-US" altLang="zh-CN" sz="2400" kern="1200" cap="none" spc="0" normalizeH="0" baseline="0" noProof="0">
                <a:latin typeface="Times New Roman" panose="02020603050405020304" pitchFamily="18" charset="0"/>
                <a:ea typeface="宋体" panose="02010600030101010101" pitchFamily="2" charset="-122"/>
                <a:cs typeface="+mn-cs"/>
              </a:rPr>
              <a:t>)</a:t>
            </a:r>
            <a:r>
              <a:rPr kumimoji="1" lang="zh-CN" altLang="en-US" sz="2400" kern="1200" cap="none" spc="0" normalizeH="0" baseline="0" noProof="0">
                <a:latin typeface="Times New Roman" panose="02020603050405020304" pitchFamily="18" charset="0"/>
                <a:ea typeface="宋体" panose="02010600030101010101" pitchFamily="2" charset="-122"/>
                <a:cs typeface="+mn-cs"/>
              </a:rPr>
              <a:t>同步计数器，具有计数、保持、 预置、清</a:t>
            </a:r>
            <a:r>
              <a:rPr kumimoji="1" lang="en-US" altLang="zh-CN" sz="2400" kern="1200" cap="none" spc="0" normalizeH="0" baseline="0" noProof="0">
                <a:latin typeface="Times New Roman" panose="02020603050405020304" pitchFamily="18" charset="0"/>
                <a:ea typeface="宋体" panose="02010600030101010101" pitchFamily="2" charset="-122"/>
                <a:cs typeface="+mn-cs"/>
              </a:rPr>
              <a:t>0</a:t>
            </a:r>
            <a:r>
              <a:rPr kumimoji="1" lang="zh-CN" altLang="en-US" sz="2400" kern="1200" cap="none" spc="0" normalizeH="0" baseline="0" noProof="0">
                <a:latin typeface="Times New Roman" panose="02020603050405020304" pitchFamily="18" charset="0"/>
                <a:ea typeface="宋体" panose="02010600030101010101" pitchFamily="2" charset="-122"/>
                <a:cs typeface="+mn-cs"/>
              </a:rPr>
              <a:t>功能，其逻辑电路及传统逻辑符号分别如下图 </a:t>
            </a:r>
            <a:r>
              <a:rPr kumimoji="1" lang="en-US" altLang="zh-CN" sz="2400" kern="1200" cap="none" spc="0" normalizeH="0" baseline="0" noProof="0">
                <a:latin typeface="Times New Roman" panose="02020603050405020304" pitchFamily="18" charset="0"/>
                <a:ea typeface="宋体" panose="02010600030101010101" pitchFamily="2" charset="-122"/>
                <a:cs typeface="+mn-cs"/>
              </a:rPr>
              <a:t>(</a:t>
            </a:r>
            <a:r>
              <a:rPr kumimoji="1" lang="en-US" altLang="zh-CN" sz="2400" i="1" kern="1200" cap="none" spc="0" normalizeH="0" baseline="0" noProof="0">
                <a:latin typeface="Times New Roman" panose="02020603050405020304" pitchFamily="18" charset="0"/>
                <a:ea typeface="宋体" panose="02010600030101010101" pitchFamily="2" charset="-122"/>
                <a:cs typeface="+mn-cs"/>
              </a:rPr>
              <a:t>a</a:t>
            </a:r>
            <a:r>
              <a:rPr kumimoji="1" lang="en-US" altLang="zh-CN" sz="2400" kern="1200" cap="none" spc="0" normalizeH="0" baseline="0" noProof="0">
                <a:latin typeface="Times New Roman" panose="02020603050405020304" pitchFamily="18" charset="0"/>
                <a:ea typeface="宋体" panose="02010600030101010101" pitchFamily="2" charset="-122"/>
                <a:cs typeface="+mn-cs"/>
              </a:rPr>
              <a:t>)</a:t>
            </a:r>
            <a:r>
              <a:rPr kumimoji="1" lang="zh-CN" altLang="en-US" sz="2400" kern="1200" cap="none" spc="0" normalizeH="0" baseline="0" noProof="0">
                <a:latin typeface="Times New Roman" panose="02020603050405020304" pitchFamily="18" charset="0"/>
                <a:ea typeface="宋体" panose="02010600030101010101" pitchFamily="2" charset="-122"/>
                <a:cs typeface="+mn-cs"/>
              </a:rPr>
              <a:t>、 </a:t>
            </a:r>
            <a:r>
              <a:rPr kumimoji="1" lang="en-US" altLang="zh-CN" sz="2400" kern="1200" cap="none" spc="0" normalizeH="0" baseline="0" noProof="0">
                <a:latin typeface="Times New Roman" panose="02020603050405020304" pitchFamily="18" charset="0"/>
                <a:ea typeface="宋体" panose="02010600030101010101" pitchFamily="2" charset="-122"/>
                <a:cs typeface="+mn-cs"/>
              </a:rPr>
              <a:t>(</a:t>
            </a:r>
            <a:r>
              <a:rPr kumimoji="1" lang="en-US" altLang="zh-CN" sz="2400" i="1" kern="1200" cap="none" spc="0" normalizeH="0" baseline="0" noProof="0">
                <a:latin typeface="Times New Roman" panose="02020603050405020304" pitchFamily="18" charset="0"/>
                <a:ea typeface="宋体" panose="02010600030101010101" pitchFamily="2" charset="-122"/>
                <a:cs typeface="+mn-cs"/>
              </a:rPr>
              <a:t>b</a:t>
            </a:r>
            <a:r>
              <a:rPr kumimoji="1" lang="en-US" altLang="zh-CN" sz="2400" kern="1200" cap="none" spc="0" normalizeH="0" baseline="0" noProof="0">
                <a:latin typeface="Times New Roman" panose="02020603050405020304" pitchFamily="18" charset="0"/>
                <a:ea typeface="宋体" panose="02010600030101010101" pitchFamily="2" charset="-122"/>
                <a:cs typeface="+mn-cs"/>
              </a:rPr>
              <a:t>)</a:t>
            </a:r>
            <a:r>
              <a:rPr kumimoji="1" lang="zh-CN" altLang="en-US" sz="2400" kern="1200" cap="none" spc="0" normalizeH="0" baseline="0" noProof="0">
                <a:latin typeface="Times New Roman" panose="02020603050405020304" pitchFamily="18" charset="0"/>
                <a:ea typeface="宋体" panose="02010600030101010101" pitchFamily="2" charset="-122"/>
                <a:cs typeface="+mn-cs"/>
              </a:rPr>
              <a:t>所示。它由四个</a:t>
            </a:r>
            <a:r>
              <a:rPr kumimoji="1" lang="en-US" altLang="zh-CN" sz="2400" kern="1200" cap="none" spc="0" normalizeH="0" baseline="0" noProof="0">
                <a:latin typeface="Times New Roman" panose="02020603050405020304" pitchFamily="18" charset="0"/>
                <a:ea typeface="宋体" panose="02010600030101010101" pitchFamily="2" charset="-122"/>
                <a:cs typeface="+mn-cs"/>
              </a:rPr>
              <a:t>JK</a:t>
            </a:r>
            <a:r>
              <a:rPr kumimoji="1" lang="zh-CN" altLang="en-US" sz="2400" kern="1200" cap="none" spc="0" normalizeH="0" baseline="0" noProof="0">
                <a:latin typeface="Times New Roman" panose="02020603050405020304" pitchFamily="18" charset="0"/>
                <a:ea typeface="宋体" panose="02010600030101010101" pitchFamily="2" charset="-122"/>
                <a:cs typeface="+mn-cs"/>
              </a:rPr>
              <a:t>触发器和一些控制门组成，</a:t>
            </a:r>
            <a:r>
              <a:rPr kumimoji="1" lang="en-US" altLang="zh-CN" sz="2400" i="1" kern="1200" cap="none" spc="0" normalizeH="0" baseline="0" noProof="0">
                <a:latin typeface="Times New Roman" panose="02020603050405020304" pitchFamily="18" charset="0"/>
                <a:ea typeface="宋体" panose="02010600030101010101" pitchFamily="2" charset="-122"/>
                <a:cs typeface="+mn-cs"/>
              </a:rPr>
              <a:t>Q</a:t>
            </a:r>
            <a:r>
              <a:rPr kumimoji="1" lang="en-US" altLang="zh-CN" sz="2400" kern="1200" cap="none" spc="0" normalizeH="0" baseline="-25000" noProof="0">
                <a:latin typeface="Times New Roman" panose="02020603050405020304" pitchFamily="18" charset="0"/>
                <a:ea typeface="宋体" panose="02010600030101010101" pitchFamily="2" charset="-122"/>
                <a:cs typeface="+mn-cs"/>
              </a:rPr>
              <a:t>D</a:t>
            </a:r>
            <a:r>
              <a:rPr kumimoji="1" lang="zh-CN" altLang="en-US" sz="2400" kern="1200" cap="none" spc="0" normalizeH="0" baseline="0" noProof="0">
                <a:latin typeface="Times New Roman" panose="02020603050405020304" pitchFamily="18" charset="0"/>
                <a:ea typeface="宋体" panose="02010600030101010101" pitchFamily="2" charset="-122"/>
                <a:cs typeface="+mn-cs"/>
              </a:rPr>
              <a:t>、</a:t>
            </a:r>
            <a:r>
              <a:rPr kumimoji="1" lang="en-US" altLang="zh-CN" sz="2400" i="1" kern="1200" cap="none" spc="0" normalizeH="0" baseline="0" noProof="0">
                <a:latin typeface="Times New Roman" panose="02020603050405020304" pitchFamily="18" charset="0"/>
                <a:ea typeface="宋体" panose="02010600030101010101" pitchFamily="2" charset="-122"/>
                <a:cs typeface="+mn-cs"/>
              </a:rPr>
              <a:t>Q</a:t>
            </a:r>
            <a:r>
              <a:rPr kumimoji="1" lang="en-US" altLang="zh-CN" sz="2400" kern="1200" cap="none" spc="0" normalizeH="0" baseline="-25000" noProof="0">
                <a:latin typeface="Times New Roman" panose="02020603050405020304" pitchFamily="18" charset="0"/>
                <a:ea typeface="宋体" panose="02010600030101010101" pitchFamily="2" charset="-122"/>
                <a:cs typeface="+mn-cs"/>
              </a:rPr>
              <a:t>C</a:t>
            </a:r>
            <a:r>
              <a:rPr kumimoji="1" lang="zh-CN" altLang="en-US" sz="2400" kern="1200" cap="none" spc="0" normalizeH="0" baseline="0" noProof="0">
                <a:latin typeface="Times New Roman" panose="02020603050405020304" pitchFamily="18" charset="0"/>
                <a:ea typeface="宋体" panose="02010600030101010101" pitchFamily="2" charset="-122"/>
                <a:cs typeface="+mn-cs"/>
              </a:rPr>
              <a:t>、</a:t>
            </a:r>
            <a:r>
              <a:rPr kumimoji="1" lang="en-US" altLang="zh-CN" sz="2400" i="1" kern="1200" cap="none" spc="0" normalizeH="0" baseline="0" noProof="0">
                <a:latin typeface="Times New Roman" panose="02020603050405020304" pitchFamily="18" charset="0"/>
                <a:ea typeface="宋体" panose="02010600030101010101" pitchFamily="2" charset="-122"/>
                <a:cs typeface="+mn-cs"/>
              </a:rPr>
              <a:t>Q</a:t>
            </a:r>
            <a:r>
              <a:rPr kumimoji="1" lang="en-US" altLang="zh-CN" sz="2400" kern="1200" cap="none" spc="0" normalizeH="0" baseline="-25000" noProof="0">
                <a:latin typeface="Times New Roman" panose="02020603050405020304" pitchFamily="18" charset="0"/>
                <a:ea typeface="宋体" panose="02010600030101010101" pitchFamily="2" charset="-122"/>
                <a:cs typeface="+mn-cs"/>
              </a:rPr>
              <a:t>B</a:t>
            </a:r>
            <a:r>
              <a:rPr kumimoji="1" lang="zh-CN" altLang="en-US" sz="2400" kern="1200" cap="none" spc="0" normalizeH="0" baseline="0" noProof="0">
                <a:latin typeface="Times New Roman" panose="02020603050405020304" pitchFamily="18" charset="0"/>
                <a:ea typeface="宋体" panose="02010600030101010101" pitchFamily="2" charset="-122"/>
                <a:cs typeface="+mn-cs"/>
              </a:rPr>
              <a:t>、</a:t>
            </a:r>
            <a:r>
              <a:rPr kumimoji="1" lang="en-US" altLang="zh-CN" sz="2400" i="1" kern="1200" cap="none" spc="0" normalizeH="0" baseline="0" noProof="0">
                <a:latin typeface="Times New Roman" panose="02020603050405020304" pitchFamily="18" charset="0"/>
                <a:ea typeface="宋体" panose="02010600030101010101" pitchFamily="2" charset="-122"/>
                <a:cs typeface="+mn-cs"/>
              </a:rPr>
              <a:t>Q</a:t>
            </a:r>
            <a:r>
              <a:rPr kumimoji="1" lang="en-US" altLang="zh-CN" sz="2400" kern="1200" cap="none" spc="0" normalizeH="0" baseline="-25000" noProof="0">
                <a:latin typeface="Times New Roman" panose="02020603050405020304" pitchFamily="18" charset="0"/>
                <a:ea typeface="宋体" panose="02010600030101010101" pitchFamily="2" charset="-122"/>
                <a:cs typeface="+mn-cs"/>
              </a:rPr>
              <a:t>A</a:t>
            </a:r>
            <a:r>
              <a:rPr kumimoji="1" lang="en-US" altLang="zh-CN" sz="2400" kern="1200" cap="none" spc="0" normalizeH="0" baseline="0" noProof="0">
                <a:latin typeface="Times New Roman" panose="02020603050405020304" pitchFamily="18" charset="0"/>
                <a:ea typeface="宋体" panose="02010600030101010101" pitchFamily="2" charset="-122"/>
                <a:cs typeface="+mn-cs"/>
              </a:rPr>
              <a:t> </a:t>
            </a:r>
            <a:r>
              <a:rPr kumimoji="1" lang="zh-CN" altLang="en-US" sz="2400" kern="1200" cap="none" spc="0" normalizeH="0" baseline="0" noProof="0">
                <a:latin typeface="Times New Roman" panose="02020603050405020304" pitchFamily="18" charset="0"/>
                <a:ea typeface="宋体" panose="02010600030101010101" pitchFamily="2" charset="-122"/>
                <a:cs typeface="+mn-cs"/>
              </a:rPr>
              <a:t>是计数输出，</a:t>
            </a:r>
            <a:r>
              <a:rPr kumimoji="1" lang="en-US" altLang="zh-CN" sz="2400" i="1" kern="1200" cap="none" spc="0" normalizeH="0" baseline="0" noProof="0">
                <a:latin typeface="Times New Roman" panose="02020603050405020304" pitchFamily="18" charset="0"/>
                <a:ea typeface="宋体" panose="02010600030101010101" pitchFamily="2" charset="-122"/>
                <a:cs typeface="+mn-cs"/>
              </a:rPr>
              <a:t>Q</a:t>
            </a:r>
            <a:r>
              <a:rPr kumimoji="1" lang="en-US" altLang="zh-CN" sz="2400" kern="1200" cap="none" spc="0" normalizeH="0" baseline="-25000" noProof="0">
                <a:latin typeface="Times New Roman" panose="02020603050405020304" pitchFamily="18" charset="0"/>
                <a:ea typeface="宋体" panose="02010600030101010101" pitchFamily="2" charset="-122"/>
                <a:cs typeface="+mn-cs"/>
              </a:rPr>
              <a:t>D</a:t>
            </a:r>
            <a:r>
              <a:rPr kumimoji="1" lang="en-US" altLang="zh-CN" sz="2400" kern="1200" cap="none" spc="0" normalizeH="0" baseline="0" noProof="0">
                <a:latin typeface="Times New Roman" panose="02020603050405020304" pitchFamily="18" charset="0"/>
                <a:ea typeface="宋体" panose="02010600030101010101" pitchFamily="2" charset="-122"/>
                <a:cs typeface="+mn-cs"/>
              </a:rPr>
              <a:t> </a:t>
            </a:r>
            <a:r>
              <a:rPr kumimoji="1" lang="zh-CN" altLang="en-US" sz="2400" kern="1200" cap="none" spc="0" normalizeH="0" baseline="0" noProof="0">
                <a:latin typeface="Times New Roman" panose="02020603050405020304" pitchFamily="18" charset="0"/>
                <a:ea typeface="宋体" panose="02010600030101010101" pitchFamily="2" charset="-122"/>
                <a:cs typeface="+mn-cs"/>
              </a:rPr>
              <a:t>为最高位。</a:t>
            </a:r>
          </a:p>
          <a:p>
            <a:pPr marR="0" algn="just" defTabSz="914400">
              <a:lnSpc>
                <a:spcPct val="145000"/>
              </a:lnSpc>
              <a:spcBef>
                <a:spcPct val="50000"/>
              </a:spcBef>
              <a:buClrTx/>
              <a:buSzTx/>
              <a:buFontTx/>
              <a:buNone/>
              <a:defRPr/>
            </a:pPr>
            <a:r>
              <a:rPr kumimoji="1" lang="zh-CN" altLang="en-US" sz="2400" i="1" kern="1200" cap="none" spc="0" normalizeH="0" baseline="0" noProof="0">
                <a:latin typeface="Times New Roman" panose="02020603050405020304" pitchFamily="18" charset="0"/>
                <a:ea typeface="宋体" panose="02010600030101010101" pitchFamily="2" charset="-122"/>
                <a:cs typeface="+mn-cs"/>
              </a:rPr>
              <a:t>        </a:t>
            </a:r>
            <a:r>
              <a:rPr kumimoji="1" lang="en-US" altLang="zh-CN" sz="2400" i="1" kern="1200" cap="none" spc="0" normalizeH="0" baseline="0" noProof="0">
                <a:latin typeface="Times New Roman" panose="02020603050405020304" pitchFamily="18" charset="0"/>
                <a:ea typeface="宋体" panose="02010600030101010101" pitchFamily="2" charset="-122"/>
                <a:cs typeface="+mn-cs"/>
              </a:rPr>
              <a:t>O</a:t>
            </a:r>
            <a:r>
              <a:rPr kumimoji="1" lang="en-US" altLang="zh-CN" sz="2400" kern="1200" cap="none" spc="0" normalizeH="0" baseline="-25000" noProof="0">
                <a:latin typeface="Times New Roman" panose="02020603050405020304" pitchFamily="18" charset="0"/>
                <a:ea typeface="宋体" panose="02010600030101010101" pitchFamily="2" charset="-122"/>
                <a:cs typeface="+mn-cs"/>
              </a:rPr>
              <a:t>C</a:t>
            </a:r>
            <a:r>
              <a:rPr kumimoji="1" lang="zh-CN" altLang="en-US" sz="2400" kern="1200" cap="none" spc="0" normalizeH="0" baseline="0" noProof="0">
                <a:latin typeface="Times New Roman" panose="02020603050405020304" pitchFamily="18" charset="0"/>
                <a:ea typeface="宋体" panose="02010600030101010101" pitchFamily="2" charset="-122"/>
                <a:cs typeface="+mn-cs"/>
              </a:rPr>
              <a:t>为进位输出端，</a:t>
            </a:r>
            <a:r>
              <a:rPr kumimoji="1" lang="en-US" altLang="zh-CN" sz="2400" i="1" kern="1200" cap="none" spc="0" normalizeH="0" baseline="0" noProof="0">
                <a:latin typeface="Times New Roman" panose="02020603050405020304" pitchFamily="18" charset="0"/>
                <a:ea typeface="宋体" panose="02010600030101010101" pitchFamily="2" charset="-122"/>
                <a:cs typeface="+mn-cs"/>
              </a:rPr>
              <a:t>O</a:t>
            </a:r>
            <a:r>
              <a:rPr kumimoji="1" lang="en-US" altLang="zh-CN" sz="2400" i="1" kern="1200" cap="none" spc="0" normalizeH="0" baseline="-25000" noProof="0">
                <a:latin typeface="Times New Roman" panose="02020603050405020304" pitchFamily="18" charset="0"/>
                <a:ea typeface="宋体" panose="02010600030101010101" pitchFamily="2" charset="-122"/>
                <a:cs typeface="+mn-cs"/>
              </a:rPr>
              <a:t>C</a:t>
            </a:r>
            <a:r>
              <a:rPr kumimoji="1" lang="en-US" altLang="zh-CN" sz="2400" kern="1200" cap="none" spc="0" normalizeH="0" baseline="0" noProof="0">
                <a:latin typeface="Times New Roman" panose="02020603050405020304" pitchFamily="18" charset="0"/>
                <a:ea typeface="宋体" panose="02010600030101010101" pitchFamily="2" charset="-122"/>
                <a:cs typeface="+mn-cs"/>
              </a:rPr>
              <a:t>=</a:t>
            </a:r>
            <a:r>
              <a:rPr kumimoji="1" lang="en-US" altLang="zh-CN" sz="2400" i="1" kern="1200" cap="none" spc="0" normalizeH="0" baseline="0" noProof="0">
                <a:latin typeface="Times New Roman" panose="02020603050405020304" pitchFamily="18" charset="0"/>
                <a:ea typeface="宋体" panose="02010600030101010101" pitchFamily="2" charset="-122"/>
                <a:cs typeface="+mn-cs"/>
              </a:rPr>
              <a:t>Q</a:t>
            </a:r>
            <a:r>
              <a:rPr kumimoji="1" lang="en-US" altLang="zh-CN" sz="2400" i="1" kern="1200" cap="none" spc="0" normalizeH="0" baseline="-25000" noProof="0">
                <a:latin typeface="Times New Roman" panose="02020603050405020304" pitchFamily="18" charset="0"/>
                <a:ea typeface="宋体" panose="02010600030101010101" pitchFamily="2" charset="-122"/>
                <a:cs typeface="+mn-cs"/>
              </a:rPr>
              <a:t>D</a:t>
            </a:r>
            <a:r>
              <a:rPr kumimoji="1" lang="en-US" altLang="zh-CN" sz="2400" i="1" kern="1200" cap="none" spc="0" normalizeH="0" baseline="0" noProof="0">
                <a:latin typeface="Times New Roman" panose="02020603050405020304" pitchFamily="18" charset="0"/>
                <a:ea typeface="宋体" panose="02010600030101010101" pitchFamily="2" charset="-122"/>
                <a:cs typeface="+mn-cs"/>
              </a:rPr>
              <a:t>Q</a:t>
            </a:r>
            <a:r>
              <a:rPr kumimoji="1" lang="en-US" altLang="zh-CN" sz="2400" i="1" kern="1200" cap="none" spc="0" normalizeH="0" baseline="-25000" noProof="0">
                <a:latin typeface="Times New Roman" panose="02020603050405020304" pitchFamily="18" charset="0"/>
                <a:ea typeface="宋体" panose="02010600030101010101" pitchFamily="2" charset="-122"/>
                <a:cs typeface="+mn-cs"/>
              </a:rPr>
              <a:t>C</a:t>
            </a:r>
            <a:r>
              <a:rPr kumimoji="1" lang="en-US" altLang="zh-CN" sz="2400" i="1" kern="1200" cap="none" spc="0" normalizeH="0" baseline="0" noProof="0">
                <a:latin typeface="Times New Roman" panose="02020603050405020304" pitchFamily="18" charset="0"/>
                <a:ea typeface="宋体" panose="02010600030101010101" pitchFamily="2" charset="-122"/>
                <a:cs typeface="+mn-cs"/>
              </a:rPr>
              <a:t>Q</a:t>
            </a:r>
            <a:r>
              <a:rPr kumimoji="1" lang="en-US" altLang="zh-CN" sz="2400" i="1" kern="1200" cap="none" spc="0" normalizeH="0" baseline="-25000" noProof="0">
                <a:latin typeface="Times New Roman" panose="02020603050405020304" pitchFamily="18" charset="0"/>
                <a:ea typeface="宋体" panose="02010600030101010101" pitchFamily="2" charset="-122"/>
                <a:cs typeface="+mn-cs"/>
              </a:rPr>
              <a:t>B</a:t>
            </a:r>
            <a:r>
              <a:rPr kumimoji="1" lang="en-US" altLang="zh-CN" sz="2400" i="1" kern="1200" cap="none" spc="0" normalizeH="0" baseline="0" noProof="0">
                <a:latin typeface="Times New Roman" panose="02020603050405020304" pitchFamily="18" charset="0"/>
                <a:ea typeface="宋体" panose="02010600030101010101" pitchFamily="2" charset="-122"/>
                <a:cs typeface="+mn-cs"/>
              </a:rPr>
              <a:t>Q</a:t>
            </a:r>
            <a:r>
              <a:rPr kumimoji="1" lang="en-US" altLang="zh-CN" sz="2400" i="1" kern="1200" cap="none" spc="0" normalizeH="0" baseline="-25000" noProof="0">
                <a:latin typeface="Times New Roman" panose="02020603050405020304" pitchFamily="18" charset="0"/>
                <a:ea typeface="宋体" panose="02010600030101010101" pitchFamily="2" charset="-122"/>
                <a:cs typeface="+mn-cs"/>
              </a:rPr>
              <a:t>A</a:t>
            </a:r>
            <a:r>
              <a:rPr kumimoji="1" lang="en-US" altLang="zh-CN" sz="2400" i="1" kern="1200" cap="none" spc="0" normalizeH="0" baseline="0" noProof="0">
                <a:latin typeface="Times New Roman" panose="02020603050405020304" pitchFamily="18" charset="0"/>
                <a:ea typeface="宋体" panose="02010600030101010101" pitchFamily="2" charset="-122"/>
                <a:cs typeface="+mn-cs"/>
              </a:rPr>
              <a:t>T</a:t>
            </a:r>
            <a:r>
              <a:rPr kumimoji="1" lang="zh-CN" altLang="en-US" sz="2400" kern="1200" cap="none" spc="0" normalizeH="0" baseline="0" noProof="0">
                <a:latin typeface="Times New Roman" panose="02020603050405020304" pitchFamily="18" charset="0"/>
                <a:ea typeface="宋体" panose="02010600030101010101" pitchFamily="2" charset="-122"/>
                <a:cs typeface="+mn-cs"/>
              </a:rPr>
              <a:t>，仅当</a:t>
            </a:r>
            <a:r>
              <a:rPr kumimoji="1" lang="en-US" altLang="zh-CN" sz="2400" kern="1200" cap="none" spc="0" normalizeH="0" baseline="0" noProof="0">
                <a:latin typeface="Times New Roman" panose="02020603050405020304" pitchFamily="18" charset="0"/>
                <a:ea typeface="宋体" panose="02010600030101010101" pitchFamily="2" charset="-122"/>
                <a:cs typeface="+mn-cs"/>
              </a:rPr>
              <a:t>T=1</a:t>
            </a:r>
            <a:r>
              <a:rPr kumimoji="1" lang="zh-CN" altLang="en-US" sz="2400" kern="1200" cap="none" spc="0" normalizeH="0" baseline="0" noProof="0">
                <a:latin typeface="Times New Roman" panose="02020603050405020304" pitchFamily="18" charset="0"/>
                <a:ea typeface="宋体" panose="02010600030101010101" pitchFamily="2" charset="-122"/>
                <a:cs typeface="+mn-cs"/>
              </a:rPr>
              <a:t>且计数状态为</a:t>
            </a:r>
            <a:r>
              <a:rPr kumimoji="1" lang="en-US" altLang="zh-CN" sz="2400" kern="1200" cap="none" spc="0" normalizeH="0" baseline="0" noProof="0">
                <a:latin typeface="Times New Roman" panose="02020603050405020304" pitchFamily="18" charset="0"/>
                <a:ea typeface="宋体" panose="02010600030101010101" pitchFamily="2" charset="-122"/>
                <a:cs typeface="+mn-cs"/>
              </a:rPr>
              <a:t>1111</a:t>
            </a:r>
            <a:r>
              <a:rPr kumimoji="1" lang="zh-CN" altLang="en-US" sz="2400" kern="1200" cap="none" spc="0" normalizeH="0" baseline="0" noProof="0">
                <a:latin typeface="Times New Roman" panose="02020603050405020304" pitchFamily="18" charset="0"/>
                <a:ea typeface="宋体" panose="02010600030101010101" pitchFamily="2" charset="-122"/>
                <a:cs typeface="+mn-cs"/>
              </a:rPr>
              <a:t>时，</a:t>
            </a:r>
            <a:r>
              <a:rPr kumimoji="1" lang="en-US" altLang="zh-CN" sz="2400" i="1" kern="1200" cap="none" spc="0" normalizeH="0" baseline="0" noProof="0">
                <a:latin typeface="Times New Roman" panose="02020603050405020304" pitchFamily="18" charset="0"/>
                <a:ea typeface="宋体" panose="02010600030101010101" pitchFamily="2" charset="-122"/>
                <a:cs typeface="+mn-cs"/>
              </a:rPr>
              <a:t>O</a:t>
            </a:r>
            <a:r>
              <a:rPr kumimoji="1" lang="en-US" altLang="zh-CN" sz="2400" kern="1200" cap="none" spc="0" normalizeH="0" baseline="-25000" noProof="0">
                <a:latin typeface="Times New Roman" panose="02020603050405020304" pitchFamily="18" charset="0"/>
                <a:ea typeface="宋体" panose="02010600030101010101" pitchFamily="2" charset="-122"/>
                <a:cs typeface="+mn-cs"/>
              </a:rPr>
              <a:t>C</a:t>
            </a:r>
            <a:r>
              <a:rPr kumimoji="1" lang="zh-CN" altLang="en-US" sz="2400" kern="1200" cap="none" spc="0" normalizeH="0" baseline="0" noProof="0">
                <a:latin typeface="Times New Roman" panose="02020603050405020304" pitchFamily="18" charset="0"/>
                <a:ea typeface="宋体" panose="02010600030101010101" pitchFamily="2" charset="-122"/>
                <a:cs typeface="+mn-cs"/>
              </a:rPr>
              <a:t>才变高，并产生进位信号。 </a:t>
            </a:r>
          </a:p>
        </p:txBody>
      </p:sp>
      <p:sp>
        <p:nvSpPr>
          <p:cNvPr id="12293" name="Rectangle 5"/>
          <p:cNvSpPr>
            <a:spLocks noChangeArrowheads="1"/>
          </p:cNvSpPr>
          <p:nvPr/>
        </p:nvSpPr>
        <p:spPr bwMode="auto">
          <a:xfrm>
            <a:off x="900113" y="406400"/>
            <a:ext cx="5688013" cy="80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45000"/>
              </a:lnSpc>
              <a:spcBef>
                <a:spcPct val="50000"/>
              </a:spcBef>
              <a:spcAft>
                <a:spcPct val="0"/>
              </a:spcAft>
              <a:buClrTx/>
              <a:buSzTx/>
              <a:buFontTx/>
              <a:buNone/>
              <a:defRPr/>
            </a:pPr>
            <a:r>
              <a:rPr kumimoji="1" lang="en-US" altLang="zh-CN" sz="32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1" lang="en-US" altLang="zh-CN" sz="3200" b="1" i="0" u="none" strike="noStrike" kern="1200" cap="none" spc="0" normalizeH="0" baseline="0" noProof="0" dirty="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7.4.1 </a:t>
            </a:r>
            <a:r>
              <a:rPr kumimoji="1" lang="zh-CN" altLang="en-US" sz="3200" b="1" i="0" u="none" strike="noStrike" kern="1200" cap="none" spc="0" normalizeH="0" baseline="0" noProof="0" dirty="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二进制计数器</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0" name="Object 7"/>
          <p:cNvGraphicFramePr>
            <a:graphicFrameLocks noChangeAspect="1"/>
          </p:cNvGraphicFramePr>
          <p:nvPr/>
        </p:nvGraphicFramePr>
        <p:xfrm>
          <a:off x="323850" y="259398"/>
          <a:ext cx="8153400" cy="6408737"/>
        </p:xfrm>
        <a:graphic>
          <a:graphicData uri="http://schemas.openxmlformats.org/presentationml/2006/ole">
            <mc:AlternateContent xmlns:mc="http://schemas.openxmlformats.org/markup-compatibility/2006">
              <mc:Choice xmlns:v="urn:schemas-microsoft-com:vml" Requires="v">
                <p:oleObj r:id="rId2" imgW="6084570" imgH="4786630" progId="Visio.Drawing.11">
                  <p:embed/>
                </p:oleObj>
              </mc:Choice>
              <mc:Fallback>
                <p:oleObj r:id="rId2" imgW="6084570" imgH="4786630" progId="Visio.Drawing.11">
                  <p:embed/>
                  <p:pic>
                    <p:nvPicPr>
                      <p:cNvPr id="0" name="图片 3075"/>
                      <p:cNvPicPr/>
                      <p:nvPr/>
                    </p:nvPicPr>
                    <p:blipFill>
                      <a:blip r:embed="rId3"/>
                      <a:stretch>
                        <a:fillRect/>
                      </a:stretch>
                    </p:blipFill>
                    <p:spPr>
                      <a:xfrm>
                        <a:off x="323850" y="259398"/>
                        <a:ext cx="8153400" cy="6408737"/>
                      </a:xfrm>
                      <a:prstGeom prst="rect">
                        <a:avLst/>
                      </a:prstGeom>
                      <a:noFill/>
                      <a:ln w="38100">
                        <a:noFill/>
                        <a:miter/>
                      </a:ln>
                    </p:spPr>
                  </p:pic>
                </p:oleObj>
              </mc:Fallback>
            </mc:AlternateContent>
          </a:graphicData>
        </a:graphic>
      </p:graphicFrame>
      <p:sp>
        <p:nvSpPr>
          <p:cNvPr id="7171" name="Text Box 6"/>
          <p:cNvSpPr txBox="1"/>
          <p:nvPr/>
        </p:nvSpPr>
        <p:spPr>
          <a:xfrm>
            <a:off x="5508625" y="243840"/>
            <a:ext cx="3200400" cy="1625600"/>
          </a:xfrm>
          <a:prstGeom prst="rect">
            <a:avLst/>
          </a:prstGeom>
          <a:noFill/>
          <a:ln w="9525">
            <a:noFill/>
          </a:ln>
        </p:spPr>
        <p:txBody>
          <a:bodyPr>
            <a:spAutoFit/>
          </a:bodyPr>
          <a:lstStyle/>
          <a:p>
            <a:pPr marL="457200" indent="-457200" algn="ctr">
              <a:lnSpc>
                <a:spcPct val="140000"/>
              </a:lnSpc>
              <a:buNone/>
            </a:pPr>
            <a:r>
              <a:rPr lang="en-US" altLang="zh-CN" sz="2400" b="1" dirty="0">
                <a:latin typeface="Times New Roman" panose="02020603050405020304" pitchFamily="18" charset="0"/>
              </a:rPr>
              <a:t>74LS161</a:t>
            </a:r>
            <a:r>
              <a:rPr lang="zh-CN" altLang="en-US" sz="2400" b="1" dirty="0">
                <a:latin typeface="Times New Roman" panose="02020603050405020304" pitchFamily="18" charset="0"/>
              </a:rPr>
              <a:t>计数器</a:t>
            </a:r>
          </a:p>
          <a:p>
            <a:pPr marL="457200" indent="-457200">
              <a:lnSpc>
                <a:spcPct val="140000"/>
              </a:lnSpc>
              <a:buAutoNum type="alphaLcParenBoth"/>
            </a:pPr>
            <a:r>
              <a:rPr lang="zh-CN" altLang="en-US" sz="2400" b="1" dirty="0">
                <a:latin typeface="Times New Roman" panose="02020603050405020304" pitchFamily="18" charset="0"/>
              </a:rPr>
              <a:t>逻辑图； </a:t>
            </a:r>
          </a:p>
          <a:p>
            <a:pPr marL="457200" indent="-457200">
              <a:lnSpc>
                <a:spcPct val="140000"/>
              </a:lnSpc>
              <a:buNone/>
            </a:pPr>
            <a:r>
              <a:rPr lang="en-US" altLang="zh-CN" sz="2400" b="1" dirty="0">
                <a:latin typeface="Times New Roman" panose="02020603050405020304" pitchFamily="18" charset="0"/>
              </a:rPr>
              <a:t>(</a:t>
            </a:r>
            <a:r>
              <a:rPr lang="en-US" altLang="zh-CN" sz="2400" b="1" i="1" dirty="0">
                <a:latin typeface="Times New Roman" panose="02020603050405020304" pitchFamily="18" charset="0"/>
              </a:rPr>
              <a:t>b</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传统逻辑符号</a:t>
            </a:r>
            <a:r>
              <a:rPr lang="zh-CN" altLang="en-US" sz="2400" dirty="0">
                <a:latin typeface="Times New Roman" panose="02020603050405020304" pitchFamily="18" charset="0"/>
              </a:rPr>
              <a:t> </a:t>
            </a:r>
          </a:p>
        </p:txBody>
      </p:sp>
      <p:sp>
        <p:nvSpPr>
          <p:cNvPr id="7172" name="Text Box 9"/>
          <p:cNvSpPr txBox="1"/>
          <p:nvPr/>
        </p:nvSpPr>
        <p:spPr>
          <a:xfrm>
            <a:off x="5273675" y="3955415"/>
            <a:ext cx="3808095" cy="2491740"/>
          </a:xfrm>
          <a:prstGeom prst="rect">
            <a:avLst/>
          </a:prstGeom>
          <a:noFill/>
          <a:ln w="9525">
            <a:noFill/>
          </a:ln>
        </p:spPr>
        <p:txBody>
          <a:bodyPr wrap="square">
            <a:spAutoFit/>
          </a:bodyPr>
          <a:lstStyle/>
          <a:p>
            <a:pPr>
              <a:lnSpc>
                <a:spcPct val="130000"/>
              </a:lnSpc>
              <a:spcBef>
                <a:spcPct val="50000"/>
              </a:spcBef>
            </a:pPr>
            <a:r>
              <a:rPr lang="zh-CN" altLang="en-US" sz="2000" dirty="0">
                <a:latin typeface="Arial" panose="020B0604020202020204" pitchFamily="34" charset="0"/>
              </a:rPr>
              <a:t>计数器计数时：</a:t>
            </a:r>
            <a:r>
              <a:rPr lang="en-US" altLang="zh-CN" sz="2000" i="1" dirty="0">
                <a:latin typeface="Arial" panose="020B0604020202020204" pitchFamily="34" charset="0"/>
              </a:rPr>
              <a:t>Cr</a:t>
            </a:r>
            <a:r>
              <a:rPr lang="en-US" altLang="zh-CN" sz="2000" dirty="0">
                <a:latin typeface="Arial" panose="020B0604020202020204" pitchFamily="34" charset="0"/>
              </a:rPr>
              <a:t>=</a:t>
            </a:r>
            <a:r>
              <a:rPr lang="en-US" altLang="zh-CN" sz="2000" i="1" dirty="0">
                <a:latin typeface="Arial" panose="020B0604020202020204" pitchFamily="34" charset="0"/>
              </a:rPr>
              <a:t>LD</a:t>
            </a:r>
            <a:r>
              <a:rPr lang="en-US" altLang="zh-CN" sz="2000" dirty="0">
                <a:latin typeface="Arial" panose="020B0604020202020204" pitchFamily="34" charset="0"/>
              </a:rPr>
              <a:t>=1</a:t>
            </a:r>
            <a:r>
              <a:rPr lang="zh-CN" altLang="en-US" sz="2000" dirty="0">
                <a:latin typeface="Arial" panose="020B0604020202020204" pitchFamily="34" charset="0"/>
              </a:rPr>
              <a:t>， </a:t>
            </a:r>
            <a:r>
              <a:rPr lang="en-US" altLang="zh-CN" sz="2000" i="1" dirty="0">
                <a:latin typeface="Arial" panose="020B0604020202020204" pitchFamily="34" charset="0"/>
              </a:rPr>
              <a:t>PT</a:t>
            </a:r>
            <a:r>
              <a:rPr lang="en-US" altLang="zh-CN" sz="2000" dirty="0">
                <a:latin typeface="Arial" panose="020B0604020202020204" pitchFamily="34" charset="0"/>
              </a:rPr>
              <a:t>=1</a:t>
            </a:r>
            <a:r>
              <a:rPr lang="zh-CN" altLang="en-US" sz="2000" dirty="0">
                <a:latin typeface="Arial" panose="020B0604020202020204" pitchFamily="34" charset="0"/>
              </a:rPr>
              <a:t>，在</a:t>
            </a:r>
            <a:r>
              <a:rPr lang="en-US" altLang="zh-CN" sz="2000" i="1" dirty="0">
                <a:latin typeface="Arial" panose="020B0604020202020204" pitchFamily="34" charset="0"/>
              </a:rPr>
              <a:t>CP</a:t>
            </a:r>
            <a:r>
              <a:rPr lang="zh-CN" altLang="en-US" sz="2000" dirty="0">
                <a:latin typeface="Arial" panose="020B0604020202020204" pitchFamily="34" charset="0"/>
              </a:rPr>
              <a:t>作用下计数器正常计数，低位为全</a:t>
            </a:r>
            <a:r>
              <a:rPr lang="en-US" altLang="zh-CN" sz="2000" dirty="0">
                <a:latin typeface="Arial" panose="020B0604020202020204" pitchFamily="34" charset="0"/>
              </a:rPr>
              <a:t>1</a:t>
            </a:r>
            <a:r>
              <a:rPr lang="zh-CN" altLang="en-US" sz="2000" dirty="0">
                <a:latin typeface="Arial" panose="020B0604020202020204" pitchFamily="34" charset="0"/>
              </a:rPr>
              <a:t>时翻转，否则保持。当</a:t>
            </a:r>
            <a:r>
              <a:rPr lang="en-US" altLang="zh-CN" sz="2000" i="1" dirty="0">
                <a:latin typeface="Arial" panose="020B0604020202020204" pitchFamily="34" charset="0"/>
              </a:rPr>
              <a:t>P</a:t>
            </a:r>
            <a:r>
              <a:rPr lang="zh-CN" altLang="en-US" sz="2000" i="1" dirty="0">
                <a:latin typeface="Arial" panose="020B0604020202020204" pitchFamily="34" charset="0"/>
              </a:rPr>
              <a:t>、</a:t>
            </a:r>
            <a:r>
              <a:rPr lang="en-US" altLang="zh-CN" sz="2000" i="1" dirty="0">
                <a:latin typeface="Arial" panose="020B0604020202020204" pitchFamily="34" charset="0"/>
              </a:rPr>
              <a:t>T</a:t>
            </a:r>
            <a:r>
              <a:rPr lang="zh-CN" altLang="en-US" sz="2000" dirty="0">
                <a:latin typeface="Arial" panose="020B0604020202020204" pitchFamily="34" charset="0"/>
              </a:rPr>
              <a:t>中有一个为低时，各触发器</a:t>
            </a:r>
            <a:r>
              <a:rPr lang="en-US" altLang="zh-CN" sz="2000" i="1" dirty="0">
                <a:latin typeface="Arial" panose="020B0604020202020204" pitchFamily="34" charset="0"/>
              </a:rPr>
              <a:t>J</a:t>
            </a:r>
            <a:r>
              <a:rPr lang="zh-CN" altLang="en-US" sz="2000" i="1" dirty="0">
                <a:latin typeface="Arial" panose="020B0604020202020204" pitchFamily="34" charset="0"/>
              </a:rPr>
              <a:t>、</a:t>
            </a:r>
            <a:r>
              <a:rPr lang="en-US" altLang="zh-CN" sz="2000" i="1" dirty="0">
                <a:latin typeface="Arial" panose="020B0604020202020204" pitchFamily="34" charset="0"/>
              </a:rPr>
              <a:t>K</a:t>
            </a:r>
            <a:r>
              <a:rPr lang="zh-CN" altLang="en-US" sz="2000" dirty="0">
                <a:latin typeface="Arial" panose="020B0604020202020204" pitchFamily="34" charset="0"/>
              </a:rPr>
              <a:t>为</a:t>
            </a:r>
            <a:r>
              <a:rPr lang="en-US" altLang="zh-CN" sz="2000" dirty="0">
                <a:latin typeface="Arial" panose="020B0604020202020204" pitchFamily="34" charset="0"/>
              </a:rPr>
              <a:t>0</a:t>
            </a:r>
            <a:r>
              <a:rPr lang="zh-CN" altLang="en-US" sz="2000" dirty="0">
                <a:latin typeface="Arial" panose="020B0604020202020204" pitchFamily="34" charset="0"/>
              </a:rPr>
              <a:t>，计数器处于保持状态。</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4"/>
          <p:cNvSpPr txBox="1"/>
          <p:nvPr/>
        </p:nvSpPr>
        <p:spPr>
          <a:xfrm>
            <a:off x="609600" y="533400"/>
            <a:ext cx="8153400" cy="5861050"/>
          </a:xfrm>
          <a:prstGeom prst="rect">
            <a:avLst/>
          </a:prstGeom>
          <a:noFill/>
          <a:ln w="9525">
            <a:noFill/>
          </a:ln>
        </p:spPr>
        <p:txBody>
          <a:bodyPr>
            <a:spAutoFit/>
          </a:bodyPr>
          <a:lstStyle/>
          <a:p>
            <a:pPr algn="just">
              <a:lnSpc>
                <a:spcPct val="130000"/>
              </a:lnSpc>
              <a:spcBef>
                <a:spcPct val="50000"/>
              </a:spcBef>
            </a:pPr>
            <a:r>
              <a:rPr lang="en-US" altLang="zh-CN" sz="2400" i="1" dirty="0">
                <a:latin typeface="Times New Roman" panose="02020603050405020304" pitchFamily="18" charset="0"/>
              </a:rPr>
              <a:t>       CP</a:t>
            </a:r>
            <a:r>
              <a:rPr lang="zh-CN" altLang="en-US" sz="2400" dirty="0">
                <a:latin typeface="Times New Roman" panose="02020603050405020304" pitchFamily="18" charset="0"/>
              </a:rPr>
              <a:t>为计数脉冲输入端，上升沿有效。</a:t>
            </a:r>
          </a:p>
          <a:p>
            <a:pPr algn="just">
              <a:lnSpc>
                <a:spcPct val="130000"/>
              </a:lnSpc>
              <a:spcBef>
                <a:spcPct val="50000"/>
              </a:spcBef>
            </a:pPr>
            <a:r>
              <a:rPr lang="zh-CN" altLang="en-US" sz="2400" i="1" dirty="0">
                <a:latin typeface="Times New Roman" panose="02020603050405020304" pitchFamily="18" charset="0"/>
              </a:rPr>
              <a:t>       </a:t>
            </a:r>
            <a:r>
              <a:rPr lang="en-US" altLang="zh-CN" sz="2400" i="1" dirty="0">
                <a:latin typeface="Times New Roman" panose="02020603050405020304" pitchFamily="18" charset="0"/>
              </a:rPr>
              <a:t>C</a:t>
            </a:r>
            <a:r>
              <a:rPr lang="en-US" altLang="zh-CN" sz="2400" i="1" baseline="-25000" dirty="0">
                <a:latin typeface="Times New Roman" panose="02020603050405020304" pitchFamily="18" charset="0"/>
              </a:rPr>
              <a:t>r</a:t>
            </a:r>
            <a:r>
              <a:rPr lang="zh-CN" altLang="en-US" sz="2400" dirty="0">
                <a:latin typeface="Times New Roman" panose="02020603050405020304" pitchFamily="18" charset="0"/>
              </a:rPr>
              <a:t>为异步清</a:t>
            </a:r>
            <a:r>
              <a:rPr lang="en-US" altLang="zh-CN" sz="2400" dirty="0">
                <a:latin typeface="Times New Roman" panose="02020603050405020304" pitchFamily="18" charset="0"/>
              </a:rPr>
              <a:t>0</a:t>
            </a:r>
            <a:r>
              <a:rPr lang="zh-CN" altLang="en-US" sz="2400" dirty="0">
                <a:latin typeface="Times New Roman" panose="02020603050405020304" pitchFamily="18" charset="0"/>
              </a:rPr>
              <a:t>端，低电平有效，只要</a:t>
            </a:r>
            <a:r>
              <a:rPr lang="en-US" altLang="zh-CN" sz="2400" i="1" dirty="0">
                <a:latin typeface="Times New Roman" panose="02020603050405020304" pitchFamily="18" charset="0"/>
              </a:rPr>
              <a:t>C</a:t>
            </a:r>
            <a:r>
              <a:rPr lang="en-US" altLang="zh-CN" sz="2400" i="1" baseline="-25000" dirty="0">
                <a:latin typeface="Times New Roman" panose="02020603050405020304" pitchFamily="18" charset="0"/>
              </a:rPr>
              <a:t>r</a:t>
            </a:r>
            <a:r>
              <a:rPr lang="en-US" altLang="zh-CN" sz="2400" dirty="0">
                <a:latin typeface="Times New Roman" panose="02020603050405020304" pitchFamily="18" charset="0"/>
              </a:rPr>
              <a:t>=0</a:t>
            </a:r>
            <a:r>
              <a:rPr lang="zh-CN" altLang="en-US" sz="2400" dirty="0">
                <a:latin typeface="Times New Roman" panose="02020603050405020304" pitchFamily="18" charset="0"/>
              </a:rPr>
              <a:t>，立即有</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D</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C</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B</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A</a:t>
            </a:r>
            <a:r>
              <a:rPr lang="en-US" altLang="zh-CN" sz="2400" dirty="0">
                <a:latin typeface="Times New Roman" panose="02020603050405020304" pitchFamily="18" charset="0"/>
              </a:rPr>
              <a:t>=0000</a:t>
            </a:r>
            <a:r>
              <a:rPr lang="zh-CN" altLang="en-US" sz="2400" dirty="0">
                <a:latin typeface="Times New Roman" panose="02020603050405020304" pitchFamily="18" charset="0"/>
              </a:rPr>
              <a:t>，与</a:t>
            </a:r>
            <a:r>
              <a:rPr lang="en-US" altLang="zh-CN" sz="2400" dirty="0">
                <a:latin typeface="Times New Roman" panose="02020603050405020304" pitchFamily="18" charset="0"/>
              </a:rPr>
              <a:t>CP</a:t>
            </a:r>
            <a:r>
              <a:rPr lang="zh-CN" altLang="en-US" sz="2400" dirty="0">
                <a:latin typeface="Times New Roman" panose="02020603050405020304" pitchFamily="18" charset="0"/>
              </a:rPr>
              <a:t>无关。</a:t>
            </a:r>
          </a:p>
          <a:p>
            <a:pPr algn="just">
              <a:lnSpc>
                <a:spcPct val="130000"/>
              </a:lnSpc>
              <a:spcBef>
                <a:spcPct val="50000"/>
              </a:spcBef>
            </a:pPr>
            <a:r>
              <a:rPr lang="zh-CN" altLang="en-US" sz="2400" i="1" dirty="0">
                <a:latin typeface="Times New Roman" panose="02020603050405020304" pitchFamily="18" charset="0"/>
              </a:rPr>
              <a:t>        </a:t>
            </a:r>
            <a:r>
              <a:rPr lang="en-US" altLang="zh-CN" sz="2400" i="1" dirty="0">
                <a:latin typeface="Times New Roman" panose="02020603050405020304" pitchFamily="18" charset="0"/>
              </a:rPr>
              <a:t>LD</a:t>
            </a:r>
            <a:r>
              <a:rPr lang="zh-CN" altLang="en-US" sz="2400" dirty="0">
                <a:latin typeface="Times New Roman" panose="02020603050405020304" pitchFamily="18" charset="0"/>
              </a:rPr>
              <a:t>为同步预置端，低电平有效，当</a:t>
            </a:r>
            <a:r>
              <a:rPr lang="en-US" altLang="zh-CN" sz="2400" i="1" dirty="0">
                <a:latin typeface="Times New Roman" panose="02020603050405020304" pitchFamily="18" charset="0"/>
              </a:rPr>
              <a:t>C</a:t>
            </a:r>
            <a:r>
              <a:rPr lang="en-US" altLang="zh-CN" sz="2400" i="1" baseline="-25000" dirty="0">
                <a:latin typeface="Times New Roman" panose="02020603050405020304" pitchFamily="18" charset="0"/>
              </a:rPr>
              <a:t>r</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r>
              <a:rPr lang="en-US" altLang="zh-CN" sz="2400" i="1" dirty="0">
                <a:latin typeface="Times New Roman" panose="02020603050405020304" pitchFamily="18" charset="0"/>
              </a:rPr>
              <a:t>LD</a:t>
            </a:r>
            <a:r>
              <a:rPr lang="en-US" altLang="zh-CN" sz="2400" dirty="0">
                <a:latin typeface="Times New Roman" panose="02020603050405020304" pitchFamily="18" charset="0"/>
              </a:rPr>
              <a:t>=0</a:t>
            </a:r>
            <a:r>
              <a:rPr lang="zh-CN" altLang="en-US" sz="2400" dirty="0">
                <a:latin typeface="Times New Roman" panose="02020603050405020304" pitchFamily="18" charset="0"/>
              </a:rPr>
              <a:t>，在</a:t>
            </a:r>
            <a:r>
              <a:rPr lang="en-US" altLang="zh-CN" sz="2400" dirty="0">
                <a:latin typeface="Times New Roman" panose="02020603050405020304" pitchFamily="18" charset="0"/>
              </a:rPr>
              <a:t>CP</a:t>
            </a:r>
            <a:r>
              <a:rPr lang="zh-CN" altLang="en-US" sz="2400" dirty="0">
                <a:latin typeface="Times New Roman" panose="02020603050405020304" pitchFamily="18" charset="0"/>
              </a:rPr>
              <a:t>上升沿来到时，才能将预置输入端</a:t>
            </a:r>
            <a:r>
              <a:rPr lang="en-US" altLang="zh-CN" sz="2400" i="1" dirty="0">
                <a:latin typeface="Times New Roman" panose="02020603050405020304" pitchFamily="18" charset="0"/>
              </a:rPr>
              <a:t>D</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C</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B</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A</a:t>
            </a:r>
            <a:r>
              <a:rPr lang="zh-CN" altLang="en-US" sz="2400" dirty="0">
                <a:latin typeface="Times New Roman" panose="02020603050405020304" pitchFamily="18" charset="0"/>
              </a:rPr>
              <a:t>的数据送至输出端，即</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D</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C</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B</a:t>
            </a: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A</a:t>
            </a:r>
            <a:r>
              <a:rPr lang="en-US" altLang="zh-CN" sz="2400" dirty="0">
                <a:latin typeface="Times New Roman" panose="02020603050405020304" pitchFamily="18" charset="0"/>
              </a:rPr>
              <a:t>=</a:t>
            </a:r>
            <a:r>
              <a:rPr lang="en-US" altLang="zh-CN" sz="2400" i="1" dirty="0">
                <a:latin typeface="Times New Roman" panose="02020603050405020304" pitchFamily="18" charset="0"/>
              </a:rPr>
              <a:t>DCBA</a:t>
            </a:r>
            <a:r>
              <a:rPr lang="zh-CN" altLang="en-US" sz="2400" dirty="0">
                <a:latin typeface="Times New Roman" panose="02020603050405020304" pitchFamily="18" charset="0"/>
              </a:rPr>
              <a:t>。</a:t>
            </a:r>
          </a:p>
          <a:p>
            <a:pPr algn="just">
              <a:lnSpc>
                <a:spcPct val="130000"/>
              </a:lnSpc>
              <a:spcBef>
                <a:spcPct val="50000"/>
              </a:spcBef>
            </a:pPr>
            <a:r>
              <a:rPr lang="zh-CN" altLang="en-US" sz="2400" i="1" dirty="0">
                <a:latin typeface="Times New Roman" panose="02020603050405020304" pitchFamily="18" charset="0"/>
              </a:rPr>
              <a:t>        </a:t>
            </a:r>
            <a:r>
              <a:rPr lang="en-US" altLang="zh-CN" sz="2400" i="1" dirty="0">
                <a:latin typeface="Times New Roman" panose="02020603050405020304" pitchFamily="18" charset="0"/>
              </a:rPr>
              <a:t>P</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T</a:t>
            </a:r>
            <a:r>
              <a:rPr lang="zh-CN" altLang="en-US" sz="2400" dirty="0">
                <a:latin typeface="Times New Roman" panose="02020603050405020304" pitchFamily="18" charset="0"/>
              </a:rPr>
              <a:t>为计数器允许控制端，高电平有效，只有当</a:t>
            </a:r>
            <a:r>
              <a:rPr lang="en-US" altLang="zh-CN" sz="2400" i="1" dirty="0">
                <a:latin typeface="Times New Roman" panose="02020603050405020304" pitchFamily="18" charset="0"/>
              </a:rPr>
              <a:t>C</a:t>
            </a:r>
            <a:r>
              <a:rPr lang="en-US" altLang="zh-CN" sz="2400" i="1" baseline="-25000" dirty="0">
                <a:latin typeface="Times New Roman" panose="02020603050405020304" pitchFamily="18" charset="0"/>
              </a:rPr>
              <a:t>r</a:t>
            </a:r>
            <a:r>
              <a:rPr lang="en-US" altLang="zh-CN" sz="2400" dirty="0">
                <a:latin typeface="Times New Roman" panose="02020603050405020304" pitchFamily="18" charset="0"/>
              </a:rPr>
              <a:t>=</a:t>
            </a:r>
            <a:r>
              <a:rPr lang="en-US" altLang="zh-CN" sz="2400" i="1" dirty="0">
                <a:latin typeface="Times New Roman" panose="02020603050405020304" pitchFamily="18" charset="0"/>
              </a:rPr>
              <a:t>LD</a:t>
            </a:r>
            <a:r>
              <a:rPr lang="en-US" altLang="zh-CN" sz="2400" dirty="0">
                <a:latin typeface="Times New Roman" panose="02020603050405020304" pitchFamily="18" charset="0"/>
              </a:rPr>
              <a:t>=1</a:t>
            </a:r>
            <a:r>
              <a:rPr lang="zh-CN" altLang="en-US" sz="2400" dirty="0">
                <a:latin typeface="Times New Roman" panose="02020603050405020304" pitchFamily="18" charset="0"/>
              </a:rPr>
              <a:t>， </a:t>
            </a:r>
            <a:r>
              <a:rPr lang="en-US" altLang="zh-CN" sz="2400" i="1" dirty="0">
                <a:latin typeface="Times New Roman" panose="02020603050405020304" pitchFamily="18" charset="0"/>
              </a:rPr>
              <a:t>PT</a:t>
            </a:r>
            <a:r>
              <a:rPr lang="en-US" altLang="zh-CN" sz="2400" dirty="0">
                <a:latin typeface="Times New Roman" panose="02020603050405020304" pitchFamily="18" charset="0"/>
              </a:rPr>
              <a:t>=1</a:t>
            </a:r>
            <a:r>
              <a:rPr lang="zh-CN" altLang="en-US" sz="2400" dirty="0">
                <a:latin typeface="Times New Roman" panose="02020603050405020304" pitchFamily="18" charset="0"/>
              </a:rPr>
              <a:t>，在</a:t>
            </a:r>
            <a:r>
              <a:rPr lang="en-US" altLang="zh-CN" sz="2400" i="1" dirty="0">
                <a:latin typeface="Times New Roman" panose="02020603050405020304" pitchFamily="18" charset="0"/>
              </a:rPr>
              <a:t>CP</a:t>
            </a:r>
            <a:r>
              <a:rPr lang="zh-CN" altLang="en-US" sz="2400" dirty="0">
                <a:latin typeface="Times New Roman" panose="02020603050405020304" pitchFamily="18" charset="0"/>
              </a:rPr>
              <a:t>作用下计数器才能正常计数。当</a:t>
            </a:r>
            <a:r>
              <a:rPr lang="en-US" altLang="zh-CN" sz="2400" i="1" dirty="0">
                <a:latin typeface="Times New Roman" panose="02020603050405020304" pitchFamily="18" charset="0"/>
              </a:rPr>
              <a:t>P</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T</a:t>
            </a:r>
            <a:r>
              <a:rPr lang="zh-CN" altLang="en-US" sz="2400" dirty="0">
                <a:latin typeface="Times New Roman" panose="02020603050405020304" pitchFamily="18" charset="0"/>
              </a:rPr>
              <a:t>中有一个为低时，各触发器的</a:t>
            </a:r>
            <a:r>
              <a:rPr lang="en-US" altLang="zh-CN" sz="2400" i="1" dirty="0">
                <a:latin typeface="Times New Roman" panose="02020603050405020304" pitchFamily="18" charset="0"/>
              </a:rPr>
              <a:t>J</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K</a:t>
            </a:r>
            <a:r>
              <a:rPr lang="zh-CN" altLang="en-US" sz="2400" dirty="0">
                <a:latin typeface="Times New Roman" panose="02020603050405020304" pitchFamily="18" charset="0"/>
              </a:rPr>
              <a:t>端均为</a:t>
            </a:r>
            <a:r>
              <a:rPr lang="en-US" altLang="zh-CN" sz="2400" dirty="0">
                <a:latin typeface="Times New Roman" panose="02020603050405020304" pitchFamily="18" charset="0"/>
              </a:rPr>
              <a:t>0</a:t>
            </a:r>
            <a:r>
              <a:rPr lang="zh-CN" altLang="en-US" sz="2400" dirty="0">
                <a:latin typeface="Times New Roman" panose="02020603050405020304" pitchFamily="18" charset="0"/>
              </a:rPr>
              <a:t>，从而使计数器处于保持状态。</a:t>
            </a:r>
            <a:r>
              <a:rPr lang="en-US" altLang="zh-CN" sz="2400" i="1" dirty="0">
                <a:latin typeface="Times New Roman" panose="02020603050405020304" pitchFamily="18" charset="0"/>
              </a:rPr>
              <a:t>P</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T</a:t>
            </a:r>
            <a:r>
              <a:rPr lang="zh-CN" altLang="en-US" sz="2400" dirty="0">
                <a:latin typeface="Times New Roman" panose="02020603050405020304" pitchFamily="18" charset="0"/>
              </a:rPr>
              <a:t>的区别是</a:t>
            </a:r>
            <a:r>
              <a:rPr lang="en-US" altLang="zh-CN" sz="2400" i="1" dirty="0">
                <a:latin typeface="Times New Roman" panose="02020603050405020304" pitchFamily="18" charset="0"/>
              </a:rPr>
              <a:t>T</a:t>
            </a:r>
            <a:r>
              <a:rPr lang="zh-CN" altLang="en-US" sz="2400" dirty="0">
                <a:latin typeface="Times New Roman" panose="02020603050405020304" pitchFamily="18" charset="0"/>
              </a:rPr>
              <a:t>影响进位输出</a:t>
            </a:r>
            <a:r>
              <a:rPr lang="en-US" altLang="zh-CN" sz="2400" i="1" dirty="0">
                <a:latin typeface="Times New Roman" panose="02020603050405020304" pitchFamily="18" charset="0"/>
              </a:rPr>
              <a:t>O</a:t>
            </a:r>
            <a:r>
              <a:rPr lang="en-US" altLang="zh-CN" sz="2400" baseline="-25000" dirty="0">
                <a:latin typeface="Times New Roman" panose="02020603050405020304" pitchFamily="18" charset="0"/>
              </a:rPr>
              <a:t>C</a:t>
            </a:r>
            <a:r>
              <a:rPr lang="zh-CN" altLang="en-US" sz="2400" dirty="0">
                <a:latin typeface="Times New Roman" panose="02020603050405020304" pitchFamily="18" charset="0"/>
              </a:rPr>
              <a:t>，而</a:t>
            </a:r>
            <a:r>
              <a:rPr lang="en-US" altLang="zh-CN" sz="2400" i="1" dirty="0">
                <a:latin typeface="Times New Roman" panose="02020603050405020304" pitchFamily="18" charset="0"/>
              </a:rPr>
              <a:t>P</a:t>
            </a:r>
            <a:r>
              <a:rPr lang="zh-CN" altLang="en-US" sz="2400" dirty="0">
                <a:latin typeface="Times New Roman" panose="02020603050405020304" pitchFamily="18" charset="0"/>
              </a:rPr>
              <a:t>则不影响</a:t>
            </a:r>
            <a:r>
              <a:rPr lang="en-US" altLang="zh-CN" sz="2400" i="1" dirty="0">
                <a:latin typeface="Times New Roman" panose="02020603050405020304" pitchFamily="18" charset="0"/>
              </a:rPr>
              <a:t>O</a:t>
            </a:r>
            <a:r>
              <a:rPr lang="en-US" altLang="zh-CN" sz="2400" baseline="-25000" dirty="0">
                <a:latin typeface="Times New Roman" panose="02020603050405020304" pitchFamily="18" charset="0"/>
              </a:rPr>
              <a:t>C</a:t>
            </a:r>
            <a:r>
              <a:rPr lang="zh-CN" altLang="en-US" sz="2400" dirty="0">
                <a:latin typeface="Times New Roman" panose="02020603050405020304" pitchFamily="18" charset="0"/>
              </a:rPr>
              <a:t>。 </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4"/>
          <p:cNvSpPr txBox="1"/>
          <p:nvPr/>
        </p:nvSpPr>
        <p:spPr>
          <a:xfrm>
            <a:off x="3059113" y="1341438"/>
            <a:ext cx="2312035" cy="460375"/>
          </a:xfrm>
          <a:prstGeom prst="rect">
            <a:avLst/>
          </a:prstGeom>
          <a:noFill/>
          <a:ln w="9525">
            <a:noFill/>
          </a:ln>
        </p:spPr>
        <p:txBody>
          <a:bodyPr wrap="none">
            <a:spAutoFit/>
          </a:bodyPr>
          <a:lstStyle/>
          <a:p>
            <a:r>
              <a:rPr lang="en-US" altLang="zh-CN" sz="2400" b="1" dirty="0">
                <a:latin typeface="Times New Roman" panose="02020603050405020304" pitchFamily="18" charset="0"/>
              </a:rPr>
              <a:t>74</a:t>
            </a:r>
            <a:r>
              <a:rPr lang="en-US" altLang="zh-CN" sz="2400" b="1" dirty="0"/>
              <a:t>LS</a:t>
            </a:r>
            <a:r>
              <a:rPr lang="en-US" altLang="zh-CN" sz="2400" b="1" dirty="0">
                <a:latin typeface="Times New Roman" panose="02020603050405020304" pitchFamily="18" charset="0"/>
              </a:rPr>
              <a:t>161</a:t>
            </a:r>
            <a:r>
              <a:rPr lang="zh-CN" altLang="en-US" sz="2400" b="1" dirty="0">
                <a:latin typeface="Times New Roman" panose="02020603050405020304" pitchFamily="18" charset="0"/>
              </a:rPr>
              <a:t>功能表 </a:t>
            </a:r>
          </a:p>
        </p:txBody>
      </p:sp>
      <p:pic>
        <p:nvPicPr>
          <p:cNvPr id="9219" name="Picture 5" descr="未标题-1 拷贝"/>
          <p:cNvPicPr>
            <a:picLocks noChangeAspect="1"/>
          </p:cNvPicPr>
          <p:nvPr/>
        </p:nvPicPr>
        <p:blipFill>
          <a:blip r:embed="rId2"/>
          <a:stretch>
            <a:fillRect/>
          </a:stretch>
        </p:blipFill>
        <p:spPr>
          <a:xfrm>
            <a:off x="381000" y="2133600"/>
            <a:ext cx="8382000" cy="3087688"/>
          </a:xfrm>
          <a:prstGeom prst="rect">
            <a:avLst/>
          </a:prstGeom>
          <a:noFill/>
          <a:ln w="9525">
            <a:noFill/>
          </a:ln>
        </p:spPr>
      </p:pic>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2323" name="Group 3"/>
          <p:cNvGrpSpPr/>
          <p:nvPr/>
        </p:nvGrpSpPr>
        <p:grpSpPr>
          <a:xfrm>
            <a:off x="1371600" y="1817688"/>
            <a:ext cx="6553200" cy="4100512"/>
            <a:chOff x="864" y="1145"/>
            <a:chExt cx="4128" cy="2583"/>
          </a:xfrm>
        </p:grpSpPr>
        <p:sp>
          <p:nvSpPr>
            <p:cNvPr id="10244" name="Rectangle 4"/>
            <p:cNvSpPr/>
            <p:nvPr/>
          </p:nvSpPr>
          <p:spPr>
            <a:xfrm>
              <a:off x="1008" y="1776"/>
              <a:ext cx="3888" cy="1344"/>
            </a:xfrm>
            <a:prstGeom prst="rect">
              <a:avLst/>
            </a:prstGeom>
            <a:solidFill>
              <a:srgbClr val="E1FDFF"/>
            </a:solidFill>
            <a:ln w="349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0245" name="Line 5"/>
            <p:cNvSpPr/>
            <p:nvPr/>
          </p:nvSpPr>
          <p:spPr>
            <a:xfrm>
              <a:off x="1200" y="3120"/>
              <a:ext cx="0" cy="288"/>
            </a:xfrm>
            <a:prstGeom prst="line">
              <a:avLst/>
            </a:prstGeom>
            <a:ln w="9525" cap="flat" cmpd="sng">
              <a:solidFill>
                <a:srgbClr val="3333FF"/>
              </a:solidFill>
              <a:prstDash val="solid"/>
              <a:headEnd type="none" w="med" len="med"/>
              <a:tailEnd type="none" w="med" len="med"/>
            </a:ln>
          </p:spPr>
        </p:sp>
        <p:sp>
          <p:nvSpPr>
            <p:cNvPr id="10246" name="Line 6"/>
            <p:cNvSpPr/>
            <p:nvPr/>
          </p:nvSpPr>
          <p:spPr>
            <a:xfrm>
              <a:off x="1680" y="3120"/>
              <a:ext cx="0" cy="288"/>
            </a:xfrm>
            <a:prstGeom prst="line">
              <a:avLst/>
            </a:prstGeom>
            <a:ln w="9525" cap="flat" cmpd="sng">
              <a:solidFill>
                <a:srgbClr val="3333FF"/>
              </a:solidFill>
              <a:prstDash val="solid"/>
              <a:headEnd type="none" w="med" len="med"/>
              <a:tailEnd type="none" w="med" len="med"/>
            </a:ln>
          </p:spPr>
        </p:sp>
        <p:sp>
          <p:nvSpPr>
            <p:cNvPr id="10247" name="Line 7"/>
            <p:cNvSpPr/>
            <p:nvPr/>
          </p:nvSpPr>
          <p:spPr>
            <a:xfrm>
              <a:off x="2208" y="3120"/>
              <a:ext cx="0" cy="288"/>
            </a:xfrm>
            <a:prstGeom prst="line">
              <a:avLst/>
            </a:prstGeom>
            <a:ln w="9525" cap="flat" cmpd="sng">
              <a:solidFill>
                <a:srgbClr val="3333FF"/>
              </a:solidFill>
              <a:prstDash val="solid"/>
              <a:headEnd type="none" w="med" len="med"/>
              <a:tailEnd type="none" w="med" len="med"/>
            </a:ln>
          </p:spPr>
        </p:sp>
        <p:sp>
          <p:nvSpPr>
            <p:cNvPr id="10248" name="Line 8"/>
            <p:cNvSpPr/>
            <p:nvPr/>
          </p:nvSpPr>
          <p:spPr>
            <a:xfrm>
              <a:off x="2736" y="3120"/>
              <a:ext cx="0" cy="288"/>
            </a:xfrm>
            <a:prstGeom prst="line">
              <a:avLst/>
            </a:prstGeom>
            <a:ln w="9525" cap="flat" cmpd="sng">
              <a:solidFill>
                <a:srgbClr val="3333FF"/>
              </a:solidFill>
              <a:prstDash val="solid"/>
              <a:headEnd type="none" w="med" len="med"/>
              <a:tailEnd type="none" w="med" len="med"/>
            </a:ln>
          </p:spPr>
        </p:sp>
        <p:sp>
          <p:nvSpPr>
            <p:cNvPr id="10249" name="Line 9"/>
            <p:cNvSpPr/>
            <p:nvPr/>
          </p:nvSpPr>
          <p:spPr>
            <a:xfrm>
              <a:off x="3264" y="3120"/>
              <a:ext cx="0" cy="288"/>
            </a:xfrm>
            <a:prstGeom prst="line">
              <a:avLst/>
            </a:prstGeom>
            <a:ln w="9525" cap="flat" cmpd="sng">
              <a:solidFill>
                <a:srgbClr val="3333FF"/>
              </a:solidFill>
              <a:prstDash val="solid"/>
              <a:headEnd type="none" w="med" len="med"/>
              <a:tailEnd type="none" w="med" len="med"/>
            </a:ln>
          </p:spPr>
        </p:sp>
        <p:sp>
          <p:nvSpPr>
            <p:cNvPr id="10250" name="Line 10"/>
            <p:cNvSpPr/>
            <p:nvPr/>
          </p:nvSpPr>
          <p:spPr>
            <a:xfrm>
              <a:off x="3744" y="3120"/>
              <a:ext cx="0" cy="288"/>
            </a:xfrm>
            <a:prstGeom prst="line">
              <a:avLst/>
            </a:prstGeom>
            <a:ln w="9525" cap="flat" cmpd="sng">
              <a:solidFill>
                <a:srgbClr val="3333FF"/>
              </a:solidFill>
              <a:prstDash val="solid"/>
              <a:headEnd type="none" w="med" len="med"/>
              <a:tailEnd type="none" w="med" len="med"/>
            </a:ln>
          </p:spPr>
        </p:sp>
        <p:sp>
          <p:nvSpPr>
            <p:cNvPr id="10251" name="Line 11"/>
            <p:cNvSpPr/>
            <p:nvPr/>
          </p:nvSpPr>
          <p:spPr>
            <a:xfrm>
              <a:off x="4272" y="3120"/>
              <a:ext cx="0" cy="288"/>
            </a:xfrm>
            <a:prstGeom prst="line">
              <a:avLst/>
            </a:prstGeom>
            <a:ln w="9525" cap="flat" cmpd="sng">
              <a:solidFill>
                <a:srgbClr val="3333FF"/>
              </a:solidFill>
              <a:prstDash val="solid"/>
              <a:headEnd type="none" w="med" len="med"/>
              <a:tailEnd type="none" w="med" len="med"/>
            </a:ln>
          </p:spPr>
        </p:sp>
        <p:sp>
          <p:nvSpPr>
            <p:cNvPr id="10252" name="Line 12"/>
            <p:cNvSpPr/>
            <p:nvPr/>
          </p:nvSpPr>
          <p:spPr>
            <a:xfrm>
              <a:off x="4752" y="3120"/>
              <a:ext cx="0" cy="288"/>
            </a:xfrm>
            <a:prstGeom prst="line">
              <a:avLst/>
            </a:prstGeom>
            <a:ln w="9525" cap="flat" cmpd="sng">
              <a:solidFill>
                <a:srgbClr val="3333FF"/>
              </a:solidFill>
              <a:prstDash val="solid"/>
              <a:headEnd type="none" w="med" len="med"/>
              <a:tailEnd type="none" w="med" len="med"/>
            </a:ln>
          </p:spPr>
        </p:sp>
        <p:sp>
          <p:nvSpPr>
            <p:cNvPr id="10253" name="Line 13"/>
            <p:cNvSpPr/>
            <p:nvPr/>
          </p:nvSpPr>
          <p:spPr>
            <a:xfrm flipV="1">
              <a:off x="1152" y="1536"/>
              <a:ext cx="0" cy="240"/>
            </a:xfrm>
            <a:prstGeom prst="line">
              <a:avLst/>
            </a:prstGeom>
            <a:ln w="9525" cap="flat" cmpd="sng">
              <a:solidFill>
                <a:srgbClr val="3333FF"/>
              </a:solidFill>
              <a:prstDash val="solid"/>
              <a:headEnd type="none" w="med" len="med"/>
              <a:tailEnd type="none" w="med" len="med"/>
            </a:ln>
          </p:spPr>
        </p:sp>
        <p:sp>
          <p:nvSpPr>
            <p:cNvPr id="10254" name="Line 14"/>
            <p:cNvSpPr/>
            <p:nvPr/>
          </p:nvSpPr>
          <p:spPr>
            <a:xfrm flipV="1">
              <a:off x="1584" y="1488"/>
              <a:ext cx="0" cy="288"/>
            </a:xfrm>
            <a:prstGeom prst="line">
              <a:avLst/>
            </a:prstGeom>
            <a:ln w="9525" cap="flat" cmpd="sng">
              <a:solidFill>
                <a:srgbClr val="3333FF"/>
              </a:solidFill>
              <a:prstDash val="solid"/>
              <a:headEnd type="none" w="med" len="med"/>
              <a:tailEnd type="none" w="med" len="med"/>
            </a:ln>
          </p:spPr>
        </p:sp>
        <p:sp>
          <p:nvSpPr>
            <p:cNvPr id="10255" name="Line 15"/>
            <p:cNvSpPr/>
            <p:nvPr/>
          </p:nvSpPr>
          <p:spPr>
            <a:xfrm flipV="1">
              <a:off x="2112" y="1440"/>
              <a:ext cx="0" cy="336"/>
            </a:xfrm>
            <a:prstGeom prst="line">
              <a:avLst/>
            </a:prstGeom>
            <a:ln w="9525" cap="flat" cmpd="sng">
              <a:solidFill>
                <a:srgbClr val="3333FF"/>
              </a:solidFill>
              <a:prstDash val="solid"/>
              <a:headEnd type="none" w="med" len="med"/>
              <a:tailEnd type="none" w="med" len="med"/>
            </a:ln>
          </p:spPr>
        </p:sp>
        <p:sp>
          <p:nvSpPr>
            <p:cNvPr id="10256" name="Line 16"/>
            <p:cNvSpPr/>
            <p:nvPr/>
          </p:nvSpPr>
          <p:spPr>
            <a:xfrm flipV="1">
              <a:off x="2640" y="1488"/>
              <a:ext cx="0" cy="288"/>
            </a:xfrm>
            <a:prstGeom prst="line">
              <a:avLst/>
            </a:prstGeom>
            <a:ln w="9525" cap="flat" cmpd="sng">
              <a:solidFill>
                <a:srgbClr val="3333FF"/>
              </a:solidFill>
              <a:prstDash val="solid"/>
              <a:headEnd type="none" w="med" len="med"/>
              <a:tailEnd type="none" w="med" len="med"/>
            </a:ln>
          </p:spPr>
        </p:sp>
        <p:sp>
          <p:nvSpPr>
            <p:cNvPr id="10257" name="Line 17"/>
            <p:cNvSpPr/>
            <p:nvPr/>
          </p:nvSpPr>
          <p:spPr>
            <a:xfrm flipV="1">
              <a:off x="3216" y="1488"/>
              <a:ext cx="0" cy="288"/>
            </a:xfrm>
            <a:prstGeom prst="line">
              <a:avLst/>
            </a:prstGeom>
            <a:ln w="9525" cap="flat" cmpd="sng">
              <a:solidFill>
                <a:srgbClr val="3333FF"/>
              </a:solidFill>
              <a:prstDash val="solid"/>
              <a:headEnd type="none" w="med" len="med"/>
              <a:tailEnd type="none" w="med" len="med"/>
            </a:ln>
          </p:spPr>
        </p:sp>
        <p:sp>
          <p:nvSpPr>
            <p:cNvPr id="10258" name="Line 18"/>
            <p:cNvSpPr/>
            <p:nvPr/>
          </p:nvSpPr>
          <p:spPr>
            <a:xfrm flipV="1">
              <a:off x="3696" y="1488"/>
              <a:ext cx="0" cy="288"/>
            </a:xfrm>
            <a:prstGeom prst="line">
              <a:avLst/>
            </a:prstGeom>
            <a:ln w="9525" cap="flat" cmpd="sng">
              <a:solidFill>
                <a:srgbClr val="3333FF"/>
              </a:solidFill>
              <a:prstDash val="solid"/>
              <a:headEnd type="none" w="med" len="med"/>
              <a:tailEnd type="none" w="med" len="med"/>
            </a:ln>
          </p:spPr>
        </p:sp>
        <p:sp>
          <p:nvSpPr>
            <p:cNvPr id="10259" name="Line 19"/>
            <p:cNvSpPr/>
            <p:nvPr/>
          </p:nvSpPr>
          <p:spPr>
            <a:xfrm flipV="1">
              <a:off x="4176" y="1488"/>
              <a:ext cx="0" cy="288"/>
            </a:xfrm>
            <a:prstGeom prst="line">
              <a:avLst/>
            </a:prstGeom>
            <a:ln w="9525" cap="flat" cmpd="sng">
              <a:solidFill>
                <a:srgbClr val="3333FF"/>
              </a:solidFill>
              <a:prstDash val="solid"/>
              <a:headEnd type="none" w="med" len="med"/>
              <a:tailEnd type="none" w="med" len="med"/>
            </a:ln>
          </p:spPr>
        </p:sp>
        <p:sp>
          <p:nvSpPr>
            <p:cNvPr id="10260" name="Line 20"/>
            <p:cNvSpPr/>
            <p:nvPr/>
          </p:nvSpPr>
          <p:spPr>
            <a:xfrm flipV="1">
              <a:off x="4704" y="1488"/>
              <a:ext cx="0" cy="288"/>
            </a:xfrm>
            <a:prstGeom prst="line">
              <a:avLst/>
            </a:prstGeom>
            <a:ln w="9525" cap="flat" cmpd="sng">
              <a:solidFill>
                <a:srgbClr val="3333FF"/>
              </a:solidFill>
              <a:prstDash val="solid"/>
              <a:headEnd type="none" w="med" len="med"/>
              <a:tailEnd type="none" w="med" len="med"/>
            </a:ln>
          </p:spPr>
        </p:sp>
        <p:sp>
          <p:nvSpPr>
            <p:cNvPr id="312341" name="Rectangle 21"/>
            <p:cNvSpPr>
              <a:spLocks noChangeArrowheads="1"/>
            </p:cNvSpPr>
            <p:nvPr/>
          </p:nvSpPr>
          <p:spPr bwMode="auto">
            <a:xfrm>
              <a:off x="1056" y="2777"/>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p>
          </p:txBody>
        </p:sp>
        <p:sp>
          <p:nvSpPr>
            <p:cNvPr id="312342" name="Rectangle 22"/>
            <p:cNvSpPr>
              <a:spLocks noChangeArrowheads="1"/>
            </p:cNvSpPr>
            <p:nvPr/>
          </p:nvSpPr>
          <p:spPr bwMode="auto">
            <a:xfrm>
              <a:off x="4608" y="2777"/>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8</a:t>
              </a:r>
            </a:p>
          </p:txBody>
        </p:sp>
        <p:sp>
          <p:nvSpPr>
            <p:cNvPr id="312343" name="Rectangle 23"/>
            <p:cNvSpPr>
              <a:spLocks noChangeArrowheads="1"/>
            </p:cNvSpPr>
            <p:nvPr/>
          </p:nvSpPr>
          <p:spPr bwMode="auto">
            <a:xfrm>
              <a:off x="4608" y="1769"/>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9</a:t>
              </a:r>
            </a:p>
          </p:txBody>
        </p:sp>
        <p:sp>
          <p:nvSpPr>
            <p:cNvPr id="312344" name="Rectangle 24"/>
            <p:cNvSpPr>
              <a:spLocks noChangeArrowheads="1"/>
            </p:cNvSpPr>
            <p:nvPr/>
          </p:nvSpPr>
          <p:spPr bwMode="auto">
            <a:xfrm>
              <a:off x="1008" y="1769"/>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16</a:t>
              </a:r>
            </a:p>
          </p:txBody>
        </p:sp>
        <p:sp>
          <p:nvSpPr>
            <p:cNvPr id="312345" name="Rectangle 25"/>
            <p:cNvSpPr>
              <a:spLocks noChangeArrowheads="1"/>
            </p:cNvSpPr>
            <p:nvPr/>
          </p:nvSpPr>
          <p:spPr bwMode="auto">
            <a:xfrm>
              <a:off x="2304" y="2249"/>
              <a:ext cx="93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74LS193</a:t>
              </a:r>
            </a:p>
          </p:txBody>
        </p:sp>
        <p:sp>
          <p:nvSpPr>
            <p:cNvPr id="312346" name="Rectangle 26"/>
            <p:cNvSpPr>
              <a:spLocks noChangeArrowheads="1"/>
            </p:cNvSpPr>
            <p:nvPr/>
          </p:nvSpPr>
          <p:spPr bwMode="auto">
            <a:xfrm>
              <a:off x="1440" y="1193"/>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p>
          </p:txBody>
        </p:sp>
        <p:sp>
          <p:nvSpPr>
            <p:cNvPr id="312347" name="Rectangle 27"/>
            <p:cNvSpPr>
              <a:spLocks noChangeArrowheads="1"/>
            </p:cNvSpPr>
            <p:nvPr/>
          </p:nvSpPr>
          <p:spPr bwMode="auto">
            <a:xfrm>
              <a:off x="1056" y="3353"/>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B</a:t>
              </a:r>
            </a:p>
          </p:txBody>
        </p:sp>
        <p:sp>
          <p:nvSpPr>
            <p:cNvPr id="312348" name="Rectangle 28"/>
            <p:cNvSpPr>
              <a:spLocks noChangeArrowheads="1"/>
            </p:cNvSpPr>
            <p:nvPr/>
          </p:nvSpPr>
          <p:spPr bwMode="auto">
            <a:xfrm>
              <a:off x="864" y="1200"/>
              <a:ext cx="5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V</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CC</a:t>
              </a:r>
              <a:endPar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49" name="Rectangle 29"/>
            <p:cNvSpPr>
              <a:spLocks noChangeArrowheads="1"/>
            </p:cNvSpPr>
            <p:nvPr/>
          </p:nvSpPr>
          <p:spPr bwMode="auto">
            <a:xfrm>
              <a:off x="1488" y="3353"/>
              <a:ext cx="37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B</a:t>
              </a:r>
            </a:p>
          </p:txBody>
        </p:sp>
        <p:sp>
          <p:nvSpPr>
            <p:cNvPr id="312350" name="Rectangle 30"/>
            <p:cNvSpPr>
              <a:spLocks noChangeArrowheads="1"/>
            </p:cNvSpPr>
            <p:nvPr/>
          </p:nvSpPr>
          <p:spPr bwMode="auto">
            <a:xfrm>
              <a:off x="2064" y="3353"/>
              <a:ext cx="3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p>
          </p:txBody>
        </p:sp>
        <p:sp>
          <p:nvSpPr>
            <p:cNvPr id="312351" name="Rectangle 31"/>
            <p:cNvSpPr>
              <a:spLocks noChangeArrowheads="1"/>
            </p:cNvSpPr>
            <p:nvPr/>
          </p:nvSpPr>
          <p:spPr bwMode="auto">
            <a:xfrm>
              <a:off x="3552" y="3353"/>
              <a:ext cx="37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a:t>
              </a:r>
            </a:p>
          </p:txBody>
        </p:sp>
        <p:sp>
          <p:nvSpPr>
            <p:cNvPr id="312352" name="Rectangle 32"/>
            <p:cNvSpPr>
              <a:spLocks noChangeArrowheads="1"/>
            </p:cNvSpPr>
            <p:nvPr/>
          </p:nvSpPr>
          <p:spPr bwMode="auto">
            <a:xfrm>
              <a:off x="4080" y="3353"/>
              <a:ext cx="3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p>
          </p:txBody>
        </p:sp>
        <p:sp>
          <p:nvSpPr>
            <p:cNvPr id="10273" name="Line 33"/>
            <p:cNvSpPr/>
            <p:nvPr/>
          </p:nvSpPr>
          <p:spPr>
            <a:xfrm>
              <a:off x="4560" y="3408"/>
              <a:ext cx="432" cy="0"/>
            </a:xfrm>
            <a:prstGeom prst="line">
              <a:avLst/>
            </a:prstGeom>
            <a:ln w="9525" cap="flat" cmpd="sng">
              <a:solidFill>
                <a:srgbClr val="3333FF"/>
              </a:solidFill>
              <a:prstDash val="solid"/>
              <a:headEnd type="none" w="med" len="med"/>
              <a:tailEnd type="none" w="med" len="med"/>
            </a:ln>
          </p:spPr>
        </p:sp>
        <p:sp>
          <p:nvSpPr>
            <p:cNvPr id="312354" name="Rectangle 34"/>
            <p:cNvSpPr>
              <a:spLocks noChangeArrowheads="1"/>
            </p:cNvSpPr>
            <p:nvPr/>
          </p:nvSpPr>
          <p:spPr bwMode="auto">
            <a:xfrm>
              <a:off x="2400" y="3401"/>
              <a:ext cx="5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p>
          </p:txBody>
        </p:sp>
        <p:sp>
          <p:nvSpPr>
            <p:cNvPr id="312355" name="Rectangle 35"/>
            <p:cNvSpPr>
              <a:spLocks noChangeArrowheads="1"/>
            </p:cNvSpPr>
            <p:nvPr/>
          </p:nvSpPr>
          <p:spPr bwMode="auto">
            <a:xfrm>
              <a:off x="2976" y="3353"/>
              <a:ext cx="5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U</a:t>
              </a:r>
            </a:p>
          </p:txBody>
        </p:sp>
        <p:sp>
          <p:nvSpPr>
            <p:cNvPr id="312356" name="Rectangle 36"/>
            <p:cNvSpPr>
              <a:spLocks noChangeArrowheads="1"/>
            </p:cNvSpPr>
            <p:nvPr/>
          </p:nvSpPr>
          <p:spPr bwMode="auto">
            <a:xfrm>
              <a:off x="2400" y="1193"/>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CB</a:t>
              </a:r>
            </a:p>
          </p:txBody>
        </p:sp>
        <p:sp>
          <p:nvSpPr>
            <p:cNvPr id="312357" name="Rectangle 37"/>
            <p:cNvSpPr>
              <a:spLocks noChangeArrowheads="1"/>
            </p:cNvSpPr>
            <p:nvPr/>
          </p:nvSpPr>
          <p:spPr bwMode="auto">
            <a:xfrm>
              <a:off x="2928" y="1193"/>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CC</a:t>
              </a:r>
            </a:p>
          </p:txBody>
        </p:sp>
        <p:sp>
          <p:nvSpPr>
            <p:cNvPr id="312358" name="Rectangle 38"/>
            <p:cNvSpPr>
              <a:spLocks noChangeArrowheads="1"/>
            </p:cNvSpPr>
            <p:nvPr/>
          </p:nvSpPr>
          <p:spPr bwMode="auto">
            <a:xfrm>
              <a:off x="1920" y="1145"/>
              <a:ext cx="3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r</a:t>
              </a:r>
            </a:p>
          </p:txBody>
        </p:sp>
        <p:sp>
          <p:nvSpPr>
            <p:cNvPr id="312359" name="Rectangle 39"/>
            <p:cNvSpPr>
              <a:spLocks noChangeArrowheads="1"/>
            </p:cNvSpPr>
            <p:nvPr/>
          </p:nvSpPr>
          <p:spPr bwMode="auto">
            <a:xfrm>
              <a:off x="3456" y="1193"/>
              <a:ext cx="4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LD</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60" name="Rectangle 40"/>
            <p:cNvSpPr>
              <a:spLocks noChangeArrowheads="1"/>
            </p:cNvSpPr>
            <p:nvPr/>
          </p:nvSpPr>
          <p:spPr bwMode="auto">
            <a:xfrm>
              <a:off x="4032" y="1193"/>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312361" name="Rectangle 41"/>
            <p:cNvSpPr>
              <a:spLocks noChangeArrowheads="1"/>
            </p:cNvSpPr>
            <p:nvPr/>
          </p:nvSpPr>
          <p:spPr bwMode="auto">
            <a:xfrm>
              <a:off x="4560" y="1193"/>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endPar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endParaRPr>
            </a:p>
          </p:txBody>
        </p:sp>
        <p:sp>
          <p:nvSpPr>
            <p:cNvPr id="10282" name="Line 42"/>
            <p:cNvSpPr/>
            <p:nvPr/>
          </p:nvSpPr>
          <p:spPr>
            <a:xfrm>
              <a:off x="1008" y="2208"/>
              <a:ext cx="192" cy="0"/>
            </a:xfrm>
            <a:prstGeom prst="line">
              <a:avLst/>
            </a:prstGeom>
            <a:ln w="9525" cap="flat" cmpd="sng">
              <a:solidFill>
                <a:srgbClr val="3333FF"/>
              </a:solidFill>
              <a:prstDash val="solid"/>
              <a:headEnd type="none" w="med" len="med"/>
              <a:tailEnd type="none" w="med" len="med"/>
            </a:ln>
          </p:spPr>
        </p:sp>
        <p:sp>
          <p:nvSpPr>
            <p:cNvPr id="10283" name="Line 43"/>
            <p:cNvSpPr/>
            <p:nvPr/>
          </p:nvSpPr>
          <p:spPr>
            <a:xfrm>
              <a:off x="1200" y="2208"/>
              <a:ext cx="0" cy="192"/>
            </a:xfrm>
            <a:prstGeom prst="line">
              <a:avLst/>
            </a:prstGeom>
            <a:ln w="9525" cap="flat" cmpd="sng">
              <a:solidFill>
                <a:srgbClr val="3333FF"/>
              </a:solidFill>
              <a:prstDash val="solid"/>
              <a:headEnd type="none" w="med" len="med"/>
              <a:tailEnd type="none" w="med" len="med"/>
            </a:ln>
          </p:spPr>
        </p:sp>
        <p:sp>
          <p:nvSpPr>
            <p:cNvPr id="10284" name="Line 44"/>
            <p:cNvSpPr/>
            <p:nvPr/>
          </p:nvSpPr>
          <p:spPr>
            <a:xfrm flipH="1">
              <a:off x="1008" y="2400"/>
              <a:ext cx="192" cy="0"/>
            </a:xfrm>
            <a:prstGeom prst="line">
              <a:avLst/>
            </a:prstGeom>
            <a:ln w="9525" cap="flat" cmpd="sng">
              <a:solidFill>
                <a:srgbClr val="3333FF"/>
              </a:solidFill>
              <a:prstDash val="solid"/>
              <a:headEnd type="none" w="med" len="med"/>
              <a:tailEnd type="none" w="med" len="med"/>
            </a:ln>
          </p:spPr>
        </p:sp>
        <p:sp>
          <p:nvSpPr>
            <p:cNvPr id="10285" name="Line 45"/>
            <p:cNvSpPr/>
            <p:nvPr/>
          </p:nvSpPr>
          <p:spPr>
            <a:xfrm>
              <a:off x="2448" y="1200"/>
              <a:ext cx="288" cy="0"/>
            </a:xfrm>
            <a:prstGeom prst="line">
              <a:avLst/>
            </a:prstGeom>
            <a:ln w="9525" cap="flat" cmpd="sng">
              <a:solidFill>
                <a:schemeClr val="tx1"/>
              </a:solidFill>
              <a:prstDash val="solid"/>
              <a:headEnd type="none" w="med" len="med"/>
              <a:tailEnd type="none" w="med" len="med"/>
            </a:ln>
          </p:spPr>
        </p:sp>
        <p:sp>
          <p:nvSpPr>
            <p:cNvPr id="10286" name="Line 46"/>
            <p:cNvSpPr/>
            <p:nvPr/>
          </p:nvSpPr>
          <p:spPr>
            <a:xfrm>
              <a:off x="2976" y="1200"/>
              <a:ext cx="240" cy="0"/>
            </a:xfrm>
            <a:prstGeom prst="line">
              <a:avLst/>
            </a:prstGeom>
            <a:ln w="9525" cap="flat" cmpd="sng">
              <a:solidFill>
                <a:schemeClr val="tx1"/>
              </a:solidFill>
              <a:prstDash val="solid"/>
              <a:headEnd type="none" w="med" len="med"/>
              <a:tailEnd type="none" w="med" len="med"/>
            </a:ln>
          </p:spPr>
        </p:sp>
        <p:sp>
          <p:nvSpPr>
            <p:cNvPr id="10287" name="Line 47"/>
            <p:cNvSpPr/>
            <p:nvPr/>
          </p:nvSpPr>
          <p:spPr>
            <a:xfrm>
              <a:off x="3504" y="1200"/>
              <a:ext cx="288" cy="0"/>
            </a:xfrm>
            <a:prstGeom prst="line">
              <a:avLst/>
            </a:prstGeom>
            <a:ln w="9525" cap="flat" cmpd="sng">
              <a:solidFill>
                <a:schemeClr val="tx1"/>
              </a:solidFill>
              <a:prstDash val="solid"/>
              <a:headEnd type="none" w="med" len="med"/>
              <a:tailEnd type="none" w="med" len="med"/>
            </a:ln>
          </p:spPr>
        </p:sp>
      </p:grpSp>
      <p:sp>
        <p:nvSpPr>
          <p:cNvPr id="312368" name="Rectangle 48"/>
          <p:cNvSpPr>
            <a:spLocks noChangeArrowheads="1"/>
          </p:cNvSpPr>
          <p:nvPr/>
        </p:nvSpPr>
        <p:spPr bwMode="auto">
          <a:xfrm>
            <a:off x="827088" y="908050"/>
            <a:ext cx="62928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2. </a:t>
            </a:r>
            <a:r>
              <a:rPr kumimoji="1" lang="zh-CN" altLang="en-US" sz="2800" b="1" i="0" u="none" strike="noStrike" kern="1200" cap="none" spc="0" normalizeH="0" baseline="0" noProof="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四位二进制同步可逆计数器</a:t>
            </a:r>
            <a:r>
              <a:rPr kumimoji="1" lang="en-US" altLang="zh-CN" sz="2800" b="1" i="0" u="none" strike="noStrike" kern="1200" cap="none" spc="0" normalizeH="0" baseline="0" noProof="0">
                <a:ln>
                  <a:noFill/>
                </a:ln>
                <a:solidFill>
                  <a:srgbClr val="3333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74LS193</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312323"/>
                                        </p:tgtEl>
                                        <p:attrNameLst>
                                          <p:attrName>style.visibility</p:attrName>
                                        </p:attrNameLst>
                                      </p:cBhvr>
                                      <p:to>
                                        <p:strVal val="visible"/>
                                      </p:to>
                                    </p:set>
                                    <p:animEffect transition="in" filter="slide(fromLeft)">
                                      <p:cBhvr>
                                        <p:cTn id="7" dur="2000"/>
                                        <p:tgtEl>
                                          <p:spTgt spid="312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xfrm>
            <a:off x="304800" y="1371600"/>
            <a:ext cx="7772400" cy="214313"/>
          </a:xfrm>
        </p:spPr>
        <p:txBody>
          <a:bodyPr vert="horz" wrap="square" lIns="91440" tIns="45720" rIns="91440" bIns="45720" anchor="ctr" anchorCtr="0"/>
          <a:lstStyle/>
          <a:p>
            <a:pPr eaLnBrk="1" hangingPunct="1"/>
            <a:r>
              <a:rPr lang="en-US" altLang="zh-CN" sz="800" dirty="0"/>
              <a:t>.</a:t>
            </a:r>
          </a:p>
        </p:txBody>
      </p:sp>
      <p:sp>
        <p:nvSpPr>
          <p:cNvPr id="313347" name="Rectangle 3"/>
          <p:cNvSpPr/>
          <p:nvPr/>
        </p:nvSpPr>
        <p:spPr>
          <a:xfrm>
            <a:off x="1143000" y="903288"/>
            <a:ext cx="1311275" cy="519112"/>
          </a:xfrm>
          <a:prstGeom prst="rect">
            <a:avLst/>
          </a:prstGeom>
          <a:noFill/>
          <a:ln w="9525">
            <a:noFill/>
          </a:ln>
        </p:spPr>
        <p:txBody>
          <a:bodyPr wrap="none">
            <a:spAutoFit/>
          </a:bodyPr>
          <a:lstStyle/>
          <a:p>
            <a:pPr algn="dist"/>
            <a:r>
              <a:rPr lang="en-US" altLang="zh-CN" sz="2800" dirty="0">
                <a:latin typeface="Times New Roman" panose="02020603050405020304" pitchFamily="18" charset="0"/>
              </a:rPr>
              <a:t>C</a:t>
            </a:r>
            <a:r>
              <a:rPr lang="en-US" altLang="zh-CN" sz="2800" baseline="-25000" dirty="0">
                <a:latin typeface="Times New Roman" panose="02020603050405020304" pitchFamily="18" charset="0"/>
              </a:rPr>
              <a:t>r</a:t>
            </a:r>
            <a:r>
              <a:rPr lang="en-US" altLang="zh-CN" sz="2800" dirty="0">
                <a:latin typeface="Times New Roman" panose="02020603050405020304" pitchFamily="18" charset="0"/>
              </a:rPr>
              <a:t> : </a:t>
            </a:r>
            <a:r>
              <a:rPr lang="zh-CN" altLang="en-US" sz="2800" dirty="0">
                <a:latin typeface="Times New Roman" panose="02020603050405020304" pitchFamily="18" charset="0"/>
              </a:rPr>
              <a:t>清</a:t>
            </a:r>
            <a:r>
              <a:rPr lang="en-US" altLang="zh-CN" sz="2800" dirty="0">
                <a:latin typeface="Times New Roman" panose="02020603050405020304" pitchFamily="18" charset="0"/>
              </a:rPr>
              <a:t>0</a:t>
            </a:r>
          </a:p>
        </p:txBody>
      </p:sp>
      <p:grpSp>
        <p:nvGrpSpPr>
          <p:cNvPr id="313348" name="Group 4"/>
          <p:cNvGrpSpPr/>
          <p:nvPr/>
        </p:nvGrpSpPr>
        <p:grpSpPr>
          <a:xfrm>
            <a:off x="1104900" y="1504950"/>
            <a:ext cx="2713038" cy="584200"/>
            <a:chOff x="912" y="720"/>
            <a:chExt cx="1709" cy="368"/>
          </a:xfrm>
        </p:grpSpPr>
        <p:sp>
          <p:nvSpPr>
            <p:cNvPr id="11278" name="Line 5"/>
            <p:cNvSpPr/>
            <p:nvPr/>
          </p:nvSpPr>
          <p:spPr>
            <a:xfrm>
              <a:off x="960" y="720"/>
              <a:ext cx="336" cy="0"/>
            </a:xfrm>
            <a:prstGeom prst="line">
              <a:avLst/>
            </a:prstGeom>
            <a:ln w="9525" cap="flat" cmpd="sng">
              <a:solidFill>
                <a:schemeClr val="tx1"/>
              </a:solidFill>
              <a:prstDash val="solid"/>
              <a:headEnd type="none" w="med" len="med"/>
              <a:tailEnd type="none" w="med" len="med"/>
            </a:ln>
          </p:spPr>
        </p:sp>
        <p:sp>
          <p:nvSpPr>
            <p:cNvPr id="11279" name="Rectangle 6"/>
            <p:cNvSpPr/>
            <p:nvPr/>
          </p:nvSpPr>
          <p:spPr>
            <a:xfrm>
              <a:off x="912" y="761"/>
              <a:ext cx="1709" cy="327"/>
            </a:xfrm>
            <a:prstGeom prst="rect">
              <a:avLst/>
            </a:prstGeom>
            <a:noFill/>
            <a:ln w="9525">
              <a:noFill/>
            </a:ln>
          </p:spPr>
          <p:txBody>
            <a:bodyPr wrap="none">
              <a:spAutoFit/>
            </a:bodyPr>
            <a:lstStyle/>
            <a:p>
              <a:pPr algn="dist"/>
              <a:r>
                <a:rPr lang="en-US" altLang="zh-CN" sz="2800" dirty="0">
                  <a:latin typeface="Times New Roman" panose="02020603050405020304" pitchFamily="18" charset="0"/>
                </a:rPr>
                <a:t>LD : </a:t>
              </a:r>
              <a:r>
                <a:rPr lang="zh-CN" altLang="en-US" sz="2800" dirty="0">
                  <a:latin typeface="Times New Roman" panose="02020603050405020304" pitchFamily="18" charset="0"/>
                </a:rPr>
                <a:t>预置数控制</a:t>
              </a:r>
            </a:p>
          </p:txBody>
        </p:sp>
      </p:grpSp>
      <p:grpSp>
        <p:nvGrpSpPr>
          <p:cNvPr id="313351" name="Group 7"/>
          <p:cNvGrpSpPr/>
          <p:nvPr/>
        </p:nvGrpSpPr>
        <p:grpSpPr>
          <a:xfrm>
            <a:off x="1219200" y="4198938"/>
            <a:ext cx="2371725" cy="519112"/>
            <a:chOff x="864" y="3113"/>
            <a:chExt cx="1494" cy="327"/>
          </a:xfrm>
        </p:grpSpPr>
        <p:sp>
          <p:nvSpPr>
            <p:cNvPr id="11276" name="Line 8"/>
            <p:cNvSpPr/>
            <p:nvPr/>
          </p:nvSpPr>
          <p:spPr>
            <a:xfrm>
              <a:off x="912" y="3120"/>
              <a:ext cx="288" cy="0"/>
            </a:xfrm>
            <a:prstGeom prst="line">
              <a:avLst/>
            </a:prstGeom>
            <a:ln w="9525" cap="flat" cmpd="sng">
              <a:solidFill>
                <a:schemeClr val="tx1"/>
              </a:solidFill>
              <a:prstDash val="solid"/>
              <a:headEnd type="none" w="med" len="med"/>
              <a:tailEnd type="none" w="med" len="med"/>
            </a:ln>
          </p:spPr>
        </p:sp>
        <p:sp>
          <p:nvSpPr>
            <p:cNvPr id="11277" name="Rectangle 9"/>
            <p:cNvSpPr/>
            <p:nvPr/>
          </p:nvSpPr>
          <p:spPr>
            <a:xfrm>
              <a:off x="864" y="3113"/>
              <a:ext cx="1494" cy="327"/>
            </a:xfrm>
            <a:prstGeom prst="rect">
              <a:avLst/>
            </a:prstGeom>
            <a:noFill/>
            <a:ln w="9525">
              <a:noFill/>
            </a:ln>
          </p:spPr>
          <p:txBody>
            <a:bodyPr wrap="none">
              <a:spAutoFit/>
            </a:bodyPr>
            <a:lstStyle/>
            <a:p>
              <a:pPr algn="dist"/>
              <a:r>
                <a:rPr lang="en-US" altLang="zh-CN" sz="2800" dirty="0">
                  <a:latin typeface="Times New Roman" panose="02020603050405020304" pitchFamily="18" charset="0"/>
                </a:rPr>
                <a:t>Q</a:t>
              </a:r>
              <a:r>
                <a:rPr lang="en-US" altLang="zh-CN" sz="2800" baseline="-25000" dirty="0">
                  <a:latin typeface="Times New Roman" panose="02020603050405020304" pitchFamily="18" charset="0"/>
                </a:rPr>
                <a:t>CC</a:t>
              </a:r>
              <a:r>
                <a:rPr lang="en-US" altLang="zh-CN" sz="2800" dirty="0">
                  <a:latin typeface="Times New Roman" panose="02020603050405020304" pitchFamily="18" charset="0"/>
                </a:rPr>
                <a:t> :</a:t>
              </a:r>
              <a:r>
                <a:rPr lang="zh-CN" altLang="en-US" sz="2800" dirty="0">
                  <a:latin typeface="Times New Roman" panose="02020603050405020304" pitchFamily="18" charset="0"/>
                </a:rPr>
                <a:t>进位输出</a:t>
              </a:r>
            </a:p>
          </p:txBody>
        </p:sp>
      </p:grpSp>
      <p:grpSp>
        <p:nvGrpSpPr>
          <p:cNvPr id="313354" name="Group 10"/>
          <p:cNvGrpSpPr/>
          <p:nvPr/>
        </p:nvGrpSpPr>
        <p:grpSpPr>
          <a:xfrm>
            <a:off x="1257300" y="4922838"/>
            <a:ext cx="2371725" cy="519112"/>
            <a:chOff x="864" y="3737"/>
            <a:chExt cx="1494" cy="327"/>
          </a:xfrm>
        </p:grpSpPr>
        <p:sp>
          <p:nvSpPr>
            <p:cNvPr id="11274" name="Line 11"/>
            <p:cNvSpPr/>
            <p:nvPr/>
          </p:nvSpPr>
          <p:spPr>
            <a:xfrm>
              <a:off x="912" y="3744"/>
              <a:ext cx="288" cy="0"/>
            </a:xfrm>
            <a:prstGeom prst="line">
              <a:avLst/>
            </a:prstGeom>
            <a:ln w="9525" cap="flat" cmpd="sng">
              <a:solidFill>
                <a:schemeClr val="tx1"/>
              </a:solidFill>
              <a:prstDash val="solid"/>
              <a:headEnd type="none" w="med" len="med"/>
              <a:tailEnd type="none" w="med" len="med"/>
            </a:ln>
          </p:spPr>
        </p:sp>
        <p:sp>
          <p:nvSpPr>
            <p:cNvPr id="11275" name="Rectangle 12"/>
            <p:cNvSpPr/>
            <p:nvPr/>
          </p:nvSpPr>
          <p:spPr>
            <a:xfrm>
              <a:off x="864" y="3737"/>
              <a:ext cx="1494" cy="327"/>
            </a:xfrm>
            <a:prstGeom prst="rect">
              <a:avLst/>
            </a:prstGeom>
            <a:noFill/>
            <a:ln w="9525">
              <a:noFill/>
            </a:ln>
          </p:spPr>
          <p:txBody>
            <a:bodyPr wrap="none">
              <a:spAutoFit/>
            </a:bodyPr>
            <a:lstStyle/>
            <a:p>
              <a:pPr algn="dist"/>
              <a:r>
                <a:rPr lang="en-US" altLang="zh-CN" sz="2800" dirty="0">
                  <a:latin typeface="Times New Roman" panose="02020603050405020304" pitchFamily="18" charset="0"/>
                </a:rPr>
                <a:t>Q</a:t>
              </a:r>
              <a:r>
                <a:rPr lang="en-US" altLang="zh-CN" sz="2800" baseline="-25000" dirty="0">
                  <a:latin typeface="Times New Roman" panose="02020603050405020304" pitchFamily="18" charset="0"/>
                </a:rPr>
                <a:t>CB</a:t>
              </a:r>
              <a:r>
                <a:rPr lang="en-US" altLang="zh-CN" sz="2800" dirty="0">
                  <a:latin typeface="Times New Roman" panose="02020603050405020304" pitchFamily="18" charset="0"/>
                </a:rPr>
                <a:t> :</a:t>
              </a:r>
              <a:r>
                <a:rPr lang="zh-CN" altLang="en-US" sz="2800" dirty="0">
                  <a:latin typeface="Times New Roman" panose="02020603050405020304" pitchFamily="18" charset="0"/>
                </a:rPr>
                <a:t>借位输出</a:t>
              </a:r>
            </a:p>
          </p:txBody>
        </p:sp>
      </p:grpSp>
      <p:sp>
        <p:nvSpPr>
          <p:cNvPr id="313357" name="Rectangle 13"/>
          <p:cNvSpPr/>
          <p:nvPr/>
        </p:nvSpPr>
        <p:spPr>
          <a:xfrm>
            <a:off x="1127125" y="2152650"/>
            <a:ext cx="4203700" cy="519113"/>
          </a:xfrm>
          <a:prstGeom prst="rect">
            <a:avLst/>
          </a:prstGeom>
          <a:noFill/>
          <a:ln w="19050">
            <a:noFill/>
          </a:ln>
        </p:spPr>
        <p:txBody>
          <a:bodyPr wrap="none">
            <a:spAutoFit/>
          </a:bodyPr>
          <a:lstStyle/>
          <a:p>
            <a:pPr algn="dist"/>
            <a:r>
              <a:rPr lang="en-US" altLang="zh-CN" sz="2800" dirty="0">
                <a:latin typeface="Times New Roman" panose="02020603050405020304" pitchFamily="18" charset="0"/>
              </a:rPr>
              <a:t>D</a:t>
            </a:r>
            <a:r>
              <a:rPr lang="zh-CN" altLang="en-US" sz="2800" dirty="0">
                <a:latin typeface="Times New Roman" panose="02020603050405020304" pitchFamily="18" charset="0"/>
              </a:rPr>
              <a:t>、</a:t>
            </a:r>
            <a:r>
              <a:rPr lang="en-US" altLang="zh-CN" sz="2800" dirty="0">
                <a:latin typeface="Times New Roman" panose="02020603050405020304" pitchFamily="18" charset="0"/>
              </a:rPr>
              <a:t>C</a:t>
            </a:r>
            <a:r>
              <a:rPr lang="zh-CN" altLang="en-US" sz="2800" dirty="0">
                <a:latin typeface="Times New Roman" panose="02020603050405020304" pitchFamily="18" charset="0"/>
              </a:rPr>
              <a:t>、</a:t>
            </a:r>
            <a:r>
              <a:rPr lang="en-US" altLang="zh-CN" sz="2800" dirty="0">
                <a:latin typeface="Times New Roman" panose="02020603050405020304" pitchFamily="18" charset="0"/>
              </a:rPr>
              <a:t>B</a:t>
            </a:r>
            <a:r>
              <a:rPr lang="zh-CN" altLang="en-US" sz="2800" dirty="0">
                <a:latin typeface="Times New Roman" panose="02020603050405020304" pitchFamily="18" charset="0"/>
              </a:rPr>
              <a:t>、</a:t>
            </a:r>
            <a:r>
              <a:rPr lang="en-US" altLang="zh-CN" sz="2800" dirty="0">
                <a:latin typeface="Times New Roman" panose="02020603050405020304" pitchFamily="18" charset="0"/>
              </a:rPr>
              <a:t>A :</a:t>
            </a:r>
            <a:r>
              <a:rPr lang="zh-CN" altLang="en-US" sz="2800" dirty="0">
                <a:latin typeface="Times New Roman" panose="02020603050405020304" pitchFamily="18" charset="0"/>
              </a:rPr>
              <a:t>预置数输入</a:t>
            </a:r>
          </a:p>
        </p:txBody>
      </p:sp>
      <p:sp>
        <p:nvSpPr>
          <p:cNvPr id="313358" name="Rectangle 14"/>
          <p:cNvSpPr/>
          <p:nvPr/>
        </p:nvSpPr>
        <p:spPr>
          <a:xfrm>
            <a:off x="1028700" y="2773363"/>
            <a:ext cx="4572000" cy="519112"/>
          </a:xfrm>
          <a:prstGeom prst="rect">
            <a:avLst/>
          </a:prstGeom>
          <a:noFill/>
          <a:ln w="19050">
            <a:noFill/>
          </a:ln>
        </p:spPr>
        <p:txBody>
          <a:bodyPr>
            <a:spAutoFit/>
          </a:bodyPr>
          <a:lstStyle/>
          <a:p>
            <a:pPr algn="dist">
              <a:spcBef>
                <a:spcPct val="50000"/>
              </a:spcBef>
              <a:buClr>
                <a:schemeClr val="bg2"/>
              </a:buClr>
              <a:buSzPct val="75000"/>
              <a:buFont typeface="Wingdings" panose="05000000000000000000" pitchFamily="2" charset="2"/>
            </a:pPr>
            <a:r>
              <a:rPr lang="en-US" altLang="zh-CN" sz="2800" dirty="0">
                <a:latin typeface="Times New Roman" panose="02020603050405020304" pitchFamily="18" charset="0"/>
              </a:rPr>
              <a:t>CP</a:t>
            </a:r>
            <a:r>
              <a:rPr lang="en-US" altLang="zh-CN" sz="2800" baseline="-25000" dirty="0">
                <a:latin typeface="Times New Roman" panose="02020603050405020304" pitchFamily="18" charset="0"/>
              </a:rPr>
              <a:t>U</a:t>
            </a:r>
            <a:r>
              <a:rPr lang="en-US" altLang="zh-CN" sz="2800" dirty="0">
                <a:latin typeface="Times New Roman" panose="02020603050405020304" pitchFamily="18" charset="0"/>
              </a:rPr>
              <a:t> : </a:t>
            </a:r>
            <a:r>
              <a:rPr lang="zh-CN" altLang="en-US" sz="2800" dirty="0">
                <a:latin typeface="Times New Roman" panose="02020603050405020304" pitchFamily="18" charset="0"/>
              </a:rPr>
              <a:t>加计数脉冲输入</a:t>
            </a:r>
          </a:p>
        </p:txBody>
      </p:sp>
      <p:sp>
        <p:nvSpPr>
          <p:cNvPr id="313359" name="Rectangle 15"/>
          <p:cNvSpPr/>
          <p:nvPr/>
        </p:nvSpPr>
        <p:spPr>
          <a:xfrm>
            <a:off x="1095375" y="3467100"/>
            <a:ext cx="3559175" cy="519113"/>
          </a:xfrm>
          <a:prstGeom prst="rect">
            <a:avLst/>
          </a:prstGeom>
          <a:noFill/>
          <a:ln w="19050">
            <a:noFill/>
          </a:ln>
        </p:spPr>
        <p:txBody>
          <a:bodyPr wrap="none">
            <a:spAutoFit/>
          </a:bodyPr>
          <a:lstStyle/>
          <a:p>
            <a:pPr algn="dist"/>
            <a:r>
              <a:rPr lang="en-US" altLang="zh-CN" sz="2800" dirty="0">
                <a:latin typeface="Times New Roman" panose="02020603050405020304" pitchFamily="18" charset="0"/>
              </a:rPr>
              <a:t>CP</a:t>
            </a:r>
            <a:r>
              <a:rPr lang="en-US" altLang="zh-CN" sz="2800" baseline="-25000" dirty="0">
                <a:latin typeface="Times New Roman" panose="02020603050405020304" pitchFamily="18" charset="0"/>
              </a:rPr>
              <a:t>D</a:t>
            </a:r>
            <a:r>
              <a:rPr lang="en-US" altLang="zh-CN" sz="2800" dirty="0">
                <a:latin typeface="Times New Roman" panose="02020603050405020304" pitchFamily="18" charset="0"/>
              </a:rPr>
              <a:t> : </a:t>
            </a:r>
            <a:r>
              <a:rPr lang="zh-CN" altLang="en-US" sz="2800" dirty="0">
                <a:latin typeface="Times New Roman" panose="02020603050405020304" pitchFamily="18" charset="0"/>
              </a:rPr>
              <a:t>减计数脉冲输入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13347"/>
                                        </p:tgtEl>
                                        <p:attrNameLst>
                                          <p:attrName>style.visibility</p:attrName>
                                        </p:attrNameLst>
                                      </p:cBhvr>
                                      <p:to>
                                        <p:strVal val="visible"/>
                                      </p:to>
                                    </p:set>
                                    <p:animEffect transition="in" filter="wipe(up)">
                                      <p:cBhvr>
                                        <p:cTn id="7" dur="500"/>
                                        <p:tgtEl>
                                          <p:spTgt spid="313347"/>
                                        </p:tgtEl>
                                      </p:cBhvr>
                                    </p:animEffect>
                                  </p:childTnLst>
                                </p:cTn>
                              </p:par>
                              <p:par>
                                <p:cTn id="8" presetID="22" presetClass="entr" presetSubtype="1" fill="hold" nodeType="withEffect">
                                  <p:stCondLst>
                                    <p:cond delay="0"/>
                                  </p:stCondLst>
                                  <p:childTnLst>
                                    <p:set>
                                      <p:cBhvr>
                                        <p:cTn id="9" dur="1" fill="hold">
                                          <p:stCondLst>
                                            <p:cond delay="0"/>
                                          </p:stCondLst>
                                        </p:cTn>
                                        <p:tgtEl>
                                          <p:spTgt spid="313348"/>
                                        </p:tgtEl>
                                        <p:attrNameLst>
                                          <p:attrName>style.visibility</p:attrName>
                                        </p:attrNameLst>
                                      </p:cBhvr>
                                      <p:to>
                                        <p:strVal val="visible"/>
                                      </p:to>
                                    </p:set>
                                    <p:animEffect transition="in" filter="wipe(up)">
                                      <p:cBhvr>
                                        <p:cTn id="10" dur="500"/>
                                        <p:tgtEl>
                                          <p:spTgt spid="313348"/>
                                        </p:tgtEl>
                                      </p:cBhvr>
                                    </p:animEffect>
                                  </p:childTnLst>
                                </p:cTn>
                              </p:par>
                              <p:par>
                                <p:cTn id="11" presetID="22" presetClass="entr" presetSubtype="1" fill="hold" nodeType="withEffect">
                                  <p:stCondLst>
                                    <p:cond delay="0"/>
                                  </p:stCondLst>
                                  <p:childTnLst>
                                    <p:set>
                                      <p:cBhvr>
                                        <p:cTn id="12" dur="1" fill="hold">
                                          <p:stCondLst>
                                            <p:cond delay="0"/>
                                          </p:stCondLst>
                                        </p:cTn>
                                        <p:tgtEl>
                                          <p:spTgt spid="313351"/>
                                        </p:tgtEl>
                                        <p:attrNameLst>
                                          <p:attrName>style.visibility</p:attrName>
                                        </p:attrNameLst>
                                      </p:cBhvr>
                                      <p:to>
                                        <p:strVal val="visible"/>
                                      </p:to>
                                    </p:set>
                                    <p:animEffect transition="in" filter="wipe(up)">
                                      <p:cBhvr>
                                        <p:cTn id="13" dur="500"/>
                                        <p:tgtEl>
                                          <p:spTgt spid="313351"/>
                                        </p:tgtEl>
                                      </p:cBhvr>
                                    </p:animEffect>
                                  </p:childTnLst>
                                </p:cTn>
                              </p:par>
                              <p:par>
                                <p:cTn id="14" presetID="22" presetClass="entr" presetSubtype="1" fill="hold" nodeType="withEffect">
                                  <p:stCondLst>
                                    <p:cond delay="0"/>
                                  </p:stCondLst>
                                  <p:childTnLst>
                                    <p:set>
                                      <p:cBhvr>
                                        <p:cTn id="15" dur="1" fill="hold">
                                          <p:stCondLst>
                                            <p:cond delay="0"/>
                                          </p:stCondLst>
                                        </p:cTn>
                                        <p:tgtEl>
                                          <p:spTgt spid="313354"/>
                                        </p:tgtEl>
                                        <p:attrNameLst>
                                          <p:attrName>style.visibility</p:attrName>
                                        </p:attrNameLst>
                                      </p:cBhvr>
                                      <p:to>
                                        <p:strVal val="visible"/>
                                      </p:to>
                                    </p:set>
                                    <p:animEffect transition="in" filter="wipe(up)">
                                      <p:cBhvr>
                                        <p:cTn id="16" dur="500"/>
                                        <p:tgtEl>
                                          <p:spTgt spid="313354"/>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313357"/>
                                        </p:tgtEl>
                                        <p:attrNameLst>
                                          <p:attrName>style.visibility</p:attrName>
                                        </p:attrNameLst>
                                      </p:cBhvr>
                                      <p:to>
                                        <p:strVal val="visible"/>
                                      </p:to>
                                    </p:set>
                                    <p:animEffect transition="in" filter="wipe(up)">
                                      <p:cBhvr>
                                        <p:cTn id="19" dur="500"/>
                                        <p:tgtEl>
                                          <p:spTgt spid="313357"/>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313358"/>
                                        </p:tgtEl>
                                        <p:attrNameLst>
                                          <p:attrName>style.visibility</p:attrName>
                                        </p:attrNameLst>
                                      </p:cBhvr>
                                      <p:to>
                                        <p:strVal val="visible"/>
                                      </p:to>
                                    </p:set>
                                    <p:animEffect transition="in" filter="wipe(up)">
                                      <p:cBhvr>
                                        <p:cTn id="22" dur="500"/>
                                        <p:tgtEl>
                                          <p:spTgt spid="313358"/>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313359"/>
                                        </p:tgtEl>
                                        <p:attrNameLst>
                                          <p:attrName>style.visibility</p:attrName>
                                        </p:attrNameLst>
                                      </p:cBhvr>
                                      <p:to>
                                        <p:strVal val="visible"/>
                                      </p:to>
                                    </p:set>
                                    <p:animEffect transition="in" filter="wipe(up)">
                                      <p:cBhvr>
                                        <p:cTn id="25" dur="500"/>
                                        <p:tgtEl>
                                          <p:spTgt spid="313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7" grpId="0"/>
      <p:bldP spid="313357" grpId="0"/>
      <p:bldP spid="313358" grpId="0"/>
      <p:bldP spid="313359"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p:nvPr/>
        </p:nvSpPr>
        <p:spPr>
          <a:xfrm>
            <a:off x="819150" y="1695450"/>
            <a:ext cx="7772400" cy="4076700"/>
          </a:xfrm>
          <a:prstGeom prst="rect">
            <a:avLst/>
          </a:prstGeom>
          <a:solidFill>
            <a:srgbClr val="CCFFFF"/>
          </a:solidFill>
          <a:ln w="19050" cap="flat" cmpd="sng">
            <a:solidFill>
              <a:schemeClr val="tx1"/>
            </a:solidFill>
            <a:prstDash val="solid"/>
            <a:miter/>
            <a:headEnd type="none" w="med" len="med"/>
            <a:tailEnd type="none" w="sm" len="lg"/>
          </a:ln>
        </p:spPr>
        <p:txBody>
          <a:bodyPr wrap="none" anchor="ctr" anchorCtr="0"/>
          <a:lstStyle/>
          <a:p>
            <a:endParaRPr lang="zh-CN" altLang="en-US" dirty="0">
              <a:latin typeface="Arial" panose="020B0604020202020204" pitchFamily="34" charset="0"/>
            </a:endParaRPr>
          </a:p>
        </p:txBody>
      </p:sp>
      <p:sp>
        <p:nvSpPr>
          <p:cNvPr id="314371" name="Rectangle 3"/>
          <p:cNvSpPr>
            <a:spLocks noGrp="1" noChangeArrowheads="1"/>
          </p:cNvSpPr>
          <p:nvPr>
            <p:ph idx="1"/>
          </p:nvPr>
        </p:nvSpPr>
        <p:spPr>
          <a:xfrm>
            <a:off x="1123950" y="1295400"/>
            <a:ext cx="7848600" cy="47815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altLang="zh-CN" sz="2800" b="1" i="0" u="none" strike="noStrike" kern="0" cap="none" spc="0" normalizeH="0" baseline="0" noProof="0">
              <a:ln>
                <a:noFill/>
              </a:ln>
              <a:solidFill>
                <a:srgbClr val="339933"/>
              </a:solidFill>
              <a:effectLst>
                <a:outerShdw blurRad="38100" dist="38100" dir="2700000" algn="tl">
                  <a:srgbClr val="000000"/>
                </a:outerShdw>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altLang="zh-CN" sz="2800" b="0" i="0" u="none" strike="noStrike" kern="0" cap="none" spc="0" normalizeH="0" baseline="0" noProof="0">
                <a:ln>
                  <a:noFill/>
                </a:ln>
                <a:solidFill>
                  <a:schemeClr val="tx1"/>
                </a:solidFill>
                <a:effectLst/>
                <a:uLnTx/>
                <a:uFillTx/>
                <a:latin typeface="+mn-lt"/>
                <a:ea typeface="+mn-ea"/>
                <a:cs typeface="+mn-cs"/>
              </a:rPr>
              <a:t> </a:t>
            </a: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C</a:t>
            </a:r>
            <a:r>
              <a:rPr kumimoji="0" lang="en-US" altLang="zh-CN" sz="2800" b="0" i="0" u="none" strike="noStrike" kern="0" cap="none" spc="0" normalizeH="0" baseline="-25000" noProof="0">
                <a:ln>
                  <a:noFill/>
                </a:ln>
                <a:solidFill>
                  <a:schemeClr val="tx1"/>
                </a:solidFill>
                <a:effectLst/>
                <a:uLnTx/>
                <a:uFillTx/>
                <a:latin typeface="Times New Roman" panose="02020603050405020304" pitchFamily="18" charset="0"/>
                <a:ea typeface="+mn-ea"/>
                <a:cs typeface="+mn-cs"/>
              </a:rPr>
              <a:t>r</a:t>
            </a: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  LD    D  C  B  A      CP</a:t>
            </a:r>
            <a:r>
              <a:rPr kumimoji="0" lang="en-US" altLang="zh-CN" sz="2800" b="0" i="0" u="none" strike="noStrike" kern="0" cap="none" spc="0" normalizeH="0" baseline="-25000" noProof="0">
                <a:ln>
                  <a:noFill/>
                </a:ln>
                <a:solidFill>
                  <a:schemeClr val="tx1"/>
                </a:solidFill>
                <a:effectLst/>
                <a:uLnTx/>
                <a:uFillTx/>
                <a:latin typeface="Times New Roman" panose="02020603050405020304" pitchFamily="18" charset="0"/>
                <a:ea typeface="+mn-ea"/>
                <a:cs typeface="+mn-cs"/>
              </a:rPr>
              <a:t>U</a:t>
            </a: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 CP</a:t>
            </a:r>
            <a:r>
              <a:rPr kumimoji="0" lang="en-US" altLang="zh-CN" sz="2800" b="0" i="0" u="none" strike="noStrike" kern="0" cap="none" spc="0" normalizeH="0" baseline="-25000" noProof="0">
                <a:ln>
                  <a:noFill/>
                </a:ln>
                <a:solidFill>
                  <a:schemeClr val="tx1"/>
                </a:solidFill>
                <a:effectLst/>
                <a:uLnTx/>
                <a:uFillTx/>
                <a:latin typeface="Times New Roman" panose="02020603050405020304" pitchFamily="18" charset="0"/>
                <a:ea typeface="+mn-ea"/>
                <a:cs typeface="+mn-cs"/>
              </a:rPr>
              <a:t>D</a:t>
            </a: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    Q</a:t>
            </a:r>
            <a:r>
              <a:rPr kumimoji="0" lang="en-US" altLang="zh-CN" sz="2800" b="0" i="0" u="none" strike="noStrike" kern="0" cap="none" spc="0" normalizeH="0" baseline="-25000" noProof="0">
                <a:ln>
                  <a:noFill/>
                </a:ln>
                <a:solidFill>
                  <a:schemeClr val="tx1"/>
                </a:solidFill>
                <a:effectLst/>
                <a:uLnTx/>
                <a:uFillTx/>
                <a:latin typeface="Times New Roman" panose="02020603050405020304" pitchFamily="18" charset="0"/>
                <a:ea typeface="+mn-ea"/>
                <a:cs typeface="+mn-cs"/>
              </a:rPr>
              <a:t>D </a:t>
            </a: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Q</a:t>
            </a:r>
            <a:r>
              <a:rPr kumimoji="0" lang="en-US" altLang="zh-CN" sz="2800" b="0" i="0" u="none" strike="noStrike" kern="0" cap="none" spc="0" normalizeH="0" baseline="-25000" noProof="0">
                <a:ln>
                  <a:noFill/>
                </a:ln>
                <a:solidFill>
                  <a:schemeClr val="tx1"/>
                </a:solidFill>
                <a:effectLst/>
                <a:uLnTx/>
                <a:uFillTx/>
                <a:latin typeface="Times New Roman" panose="02020603050405020304" pitchFamily="18" charset="0"/>
                <a:ea typeface="+mn-ea"/>
                <a:cs typeface="+mn-cs"/>
              </a:rPr>
              <a:t>C </a:t>
            </a: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Q</a:t>
            </a:r>
            <a:r>
              <a:rPr kumimoji="0" lang="en-US" altLang="zh-CN" sz="2800" b="0" i="0" u="none" strike="noStrike" kern="0" cap="none" spc="0" normalizeH="0" baseline="-25000" noProof="0">
                <a:ln>
                  <a:noFill/>
                </a:ln>
                <a:solidFill>
                  <a:schemeClr val="tx1"/>
                </a:solidFill>
                <a:effectLst/>
                <a:uLnTx/>
                <a:uFillTx/>
                <a:latin typeface="Times New Roman" panose="02020603050405020304" pitchFamily="18" charset="0"/>
                <a:ea typeface="+mn-ea"/>
                <a:cs typeface="+mn-cs"/>
              </a:rPr>
              <a:t>B </a:t>
            </a: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Q</a:t>
            </a:r>
            <a:r>
              <a:rPr kumimoji="0" lang="en-US" altLang="zh-CN" sz="2800" b="0" i="0" u="none" strike="noStrike" kern="0" cap="none" spc="0" normalizeH="0" baseline="-25000" noProof="0">
                <a:ln>
                  <a:noFill/>
                </a:ln>
                <a:solidFill>
                  <a:schemeClr val="tx1"/>
                </a:solidFill>
                <a:effectLst/>
                <a:uLnTx/>
                <a:uFillTx/>
                <a:latin typeface="Times New Roman" panose="02020603050405020304" pitchFamily="18" charset="0"/>
                <a:ea typeface="+mn-ea"/>
                <a:cs typeface="+mn-cs"/>
              </a:rPr>
              <a:t>A</a:t>
            </a: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altLang="zh-CN" sz="2800" b="0" i="0" u="none" strike="noStrike" kern="0" cap="none" spc="0" normalizeH="0" baseline="-25000" noProof="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altLang="zh-CN" sz="2800" b="0" i="0" u="none" strike="noStrike" kern="0" cap="none" spc="0" normalizeH="0" baseline="0" noProof="0">
                <a:ln>
                  <a:noFill/>
                </a:ln>
                <a:solidFill>
                  <a:schemeClr val="tx1"/>
                </a:solidFill>
                <a:effectLst/>
                <a:uLnTx/>
                <a:uFillTx/>
                <a:latin typeface="+mn-lt"/>
                <a:ea typeface="+mn-ea"/>
                <a:cs typeface="+mn-cs"/>
              </a:rPr>
              <a:t>  </a:t>
            </a: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1    d      d   d   d   d        d      d         0   0   0   0</a:t>
            </a: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  0    0      D  C  B  A        d      d          D  C  B  A</a:t>
            </a: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endPar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  0    1      d   d   d   d                 1          </a:t>
            </a:r>
            <a:r>
              <a:rPr kumimoji="0" lang="zh-CN" altLang="en-US"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加计数</a:t>
            </a: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zh-CN" altLang="en-US"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  </a:t>
            </a: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0    1      d   d   d   d        1                   </a:t>
            </a:r>
            <a:r>
              <a:rPr kumimoji="0" lang="zh-CN" altLang="en-US" sz="2800" b="0" i="0" u="none" strike="noStrike" kern="0" cap="none" spc="0" normalizeH="0" baseline="0" noProof="0">
                <a:ln>
                  <a:noFill/>
                </a:ln>
                <a:solidFill>
                  <a:schemeClr val="tx1"/>
                </a:solidFill>
                <a:effectLst/>
                <a:uLnTx/>
                <a:uFillTx/>
                <a:latin typeface="Times New Roman" panose="02020603050405020304" pitchFamily="18" charset="0"/>
                <a:ea typeface="+mn-ea"/>
                <a:cs typeface="+mn-cs"/>
              </a:rPr>
              <a:t>减计数 </a:t>
            </a:r>
          </a:p>
        </p:txBody>
      </p:sp>
      <p:sp>
        <p:nvSpPr>
          <p:cNvPr id="12292" name="Line 4"/>
          <p:cNvSpPr/>
          <p:nvPr/>
        </p:nvSpPr>
        <p:spPr>
          <a:xfrm>
            <a:off x="1143000" y="2381250"/>
            <a:ext cx="7467600" cy="0"/>
          </a:xfrm>
          <a:prstGeom prst="line">
            <a:avLst/>
          </a:prstGeom>
          <a:ln w="9525" cap="flat" cmpd="sng">
            <a:solidFill>
              <a:schemeClr val="tx1"/>
            </a:solidFill>
            <a:prstDash val="solid"/>
            <a:headEnd type="none" w="med" len="med"/>
            <a:tailEnd type="none" w="med" len="med"/>
          </a:ln>
        </p:spPr>
      </p:sp>
      <p:sp>
        <p:nvSpPr>
          <p:cNvPr id="12293" name="Line 5"/>
          <p:cNvSpPr/>
          <p:nvPr/>
        </p:nvSpPr>
        <p:spPr>
          <a:xfrm>
            <a:off x="2514600" y="1847850"/>
            <a:ext cx="0" cy="3810000"/>
          </a:xfrm>
          <a:prstGeom prst="line">
            <a:avLst/>
          </a:prstGeom>
          <a:ln w="9525" cap="flat" cmpd="sng">
            <a:solidFill>
              <a:schemeClr val="tx1"/>
            </a:solidFill>
            <a:prstDash val="solid"/>
            <a:headEnd type="none" w="med" len="med"/>
            <a:tailEnd type="none" w="med" len="med"/>
          </a:ln>
        </p:spPr>
      </p:sp>
      <p:sp>
        <p:nvSpPr>
          <p:cNvPr id="12294" name="Line 6"/>
          <p:cNvSpPr/>
          <p:nvPr/>
        </p:nvSpPr>
        <p:spPr>
          <a:xfrm>
            <a:off x="4572000" y="1771650"/>
            <a:ext cx="0" cy="3962400"/>
          </a:xfrm>
          <a:prstGeom prst="line">
            <a:avLst/>
          </a:prstGeom>
          <a:ln w="9525" cap="flat" cmpd="sng">
            <a:solidFill>
              <a:schemeClr val="tx1"/>
            </a:solidFill>
            <a:prstDash val="solid"/>
            <a:headEnd type="none" w="med" len="med"/>
            <a:tailEnd type="none" w="med" len="med"/>
          </a:ln>
        </p:spPr>
      </p:sp>
      <p:sp>
        <p:nvSpPr>
          <p:cNvPr id="12295" name="Line 7"/>
          <p:cNvSpPr/>
          <p:nvPr/>
        </p:nvSpPr>
        <p:spPr>
          <a:xfrm>
            <a:off x="6248400" y="1771650"/>
            <a:ext cx="0" cy="3962400"/>
          </a:xfrm>
          <a:prstGeom prst="line">
            <a:avLst/>
          </a:prstGeom>
          <a:ln w="9525" cap="flat" cmpd="sng">
            <a:solidFill>
              <a:schemeClr val="tx1"/>
            </a:solidFill>
            <a:prstDash val="solid"/>
            <a:headEnd type="none" w="med" len="med"/>
            <a:tailEnd type="none" w="med" len="med"/>
          </a:ln>
        </p:spPr>
      </p:sp>
      <p:sp>
        <p:nvSpPr>
          <p:cNvPr id="12296" name="Line 8"/>
          <p:cNvSpPr/>
          <p:nvPr/>
        </p:nvSpPr>
        <p:spPr>
          <a:xfrm>
            <a:off x="4648200" y="5124450"/>
            <a:ext cx="228600" cy="0"/>
          </a:xfrm>
          <a:prstGeom prst="line">
            <a:avLst/>
          </a:prstGeom>
          <a:ln w="9525" cap="flat" cmpd="sng">
            <a:solidFill>
              <a:srgbClr val="3333FF"/>
            </a:solidFill>
            <a:prstDash val="solid"/>
            <a:headEnd type="none" w="med" len="med"/>
            <a:tailEnd type="none" w="med" len="med"/>
          </a:ln>
        </p:spPr>
      </p:sp>
      <p:sp>
        <p:nvSpPr>
          <p:cNvPr id="12297" name="Line 9"/>
          <p:cNvSpPr/>
          <p:nvPr/>
        </p:nvSpPr>
        <p:spPr>
          <a:xfrm flipV="1">
            <a:off x="4876800" y="4800600"/>
            <a:ext cx="0" cy="304800"/>
          </a:xfrm>
          <a:prstGeom prst="line">
            <a:avLst/>
          </a:prstGeom>
          <a:ln w="9525" cap="flat" cmpd="sng">
            <a:solidFill>
              <a:srgbClr val="3333FF"/>
            </a:solidFill>
            <a:prstDash val="solid"/>
            <a:headEnd type="none" w="med" len="med"/>
            <a:tailEnd type="triangle" w="med" len="med"/>
          </a:ln>
        </p:spPr>
      </p:sp>
      <p:sp>
        <p:nvSpPr>
          <p:cNvPr id="12298" name="Line 10"/>
          <p:cNvSpPr/>
          <p:nvPr/>
        </p:nvSpPr>
        <p:spPr>
          <a:xfrm>
            <a:off x="4876800" y="4800600"/>
            <a:ext cx="228600" cy="0"/>
          </a:xfrm>
          <a:prstGeom prst="line">
            <a:avLst/>
          </a:prstGeom>
          <a:ln w="9525" cap="flat" cmpd="sng">
            <a:solidFill>
              <a:srgbClr val="3333FF"/>
            </a:solidFill>
            <a:prstDash val="solid"/>
            <a:headEnd type="none" w="med" len="med"/>
            <a:tailEnd type="none" w="med" len="med"/>
          </a:ln>
        </p:spPr>
      </p:sp>
      <p:sp>
        <p:nvSpPr>
          <p:cNvPr id="12299" name="Line 11"/>
          <p:cNvSpPr/>
          <p:nvPr/>
        </p:nvSpPr>
        <p:spPr>
          <a:xfrm>
            <a:off x="5448300" y="5619750"/>
            <a:ext cx="228600" cy="0"/>
          </a:xfrm>
          <a:prstGeom prst="line">
            <a:avLst/>
          </a:prstGeom>
          <a:ln w="9525" cap="flat" cmpd="sng">
            <a:solidFill>
              <a:srgbClr val="3333FF"/>
            </a:solidFill>
            <a:prstDash val="solid"/>
            <a:headEnd type="none" w="med" len="med"/>
            <a:tailEnd type="none" w="med" len="med"/>
          </a:ln>
        </p:spPr>
      </p:sp>
      <p:sp>
        <p:nvSpPr>
          <p:cNvPr id="12300" name="Line 12"/>
          <p:cNvSpPr/>
          <p:nvPr/>
        </p:nvSpPr>
        <p:spPr>
          <a:xfrm flipV="1">
            <a:off x="5676900" y="5314950"/>
            <a:ext cx="0" cy="304800"/>
          </a:xfrm>
          <a:prstGeom prst="line">
            <a:avLst/>
          </a:prstGeom>
          <a:ln w="9525" cap="flat" cmpd="sng">
            <a:solidFill>
              <a:srgbClr val="3333FF"/>
            </a:solidFill>
            <a:prstDash val="solid"/>
            <a:headEnd type="none" w="med" len="med"/>
            <a:tailEnd type="triangle" w="med" len="med"/>
          </a:ln>
        </p:spPr>
      </p:sp>
      <p:sp>
        <p:nvSpPr>
          <p:cNvPr id="12301" name="Line 13"/>
          <p:cNvSpPr/>
          <p:nvPr/>
        </p:nvSpPr>
        <p:spPr>
          <a:xfrm>
            <a:off x="5676900" y="5314950"/>
            <a:ext cx="228600" cy="0"/>
          </a:xfrm>
          <a:prstGeom prst="line">
            <a:avLst/>
          </a:prstGeom>
          <a:ln w="9525" cap="flat" cmpd="sng">
            <a:solidFill>
              <a:srgbClr val="3333FF"/>
            </a:solidFill>
            <a:prstDash val="solid"/>
            <a:headEnd type="none" w="med" len="med"/>
            <a:tailEnd type="none" w="med" len="med"/>
          </a:ln>
        </p:spPr>
      </p:sp>
      <p:sp>
        <p:nvSpPr>
          <p:cNvPr id="12302" name="Line 14"/>
          <p:cNvSpPr/>
          <p:nvPr/>
        </p:nvSpPr>
        <p:spPr>
          <a:xfrm>
            <a:off x="1790700" y="1866900"/>
            <a:ext cx="457200" cy="0"/>
          </a:xfrm>
          <a:prstGeom prst="line">
            <a:avLst/>
          </a:prstGeom>
          <a:ln w="9525" cap="flat" cmpd="sng">
            <a:solidFill>
              <a:schemeClr val="tx1"/>
            </a:solidFill>
            <a:prstDash val="solid"/>
            <a:headEnd type="none" w="med" len="med"/>
            <a:tailEnd type="none" w="med" len="med"/>
          </a:ln>
        </p:spPr>
      </p:sp>
      <p:sp>
        <p:nvSpPr>
          <p:cNvPr id="314383" name="Rectangle 15"/>
          <p:cNvSpPr>
            <a:spLocks noChangeArrowheads="1"/>
          </p:cNvSpPr>
          <p:nvPr/>
        </p:nvSpPr>
        <p:spPr bwMode="auto">
          <a:xfrm>
            <a:off x="914400" y="723900"/>
            <a:ext cx="145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zh-CN" altLang="en-US" sz="2800" b="1" i="0" u="none" strike="noStrike" kern="1200" cap="none" spc="0" normalizeH="0" baseline="0" noProof="0">
                <a:ln>
                  <a:noFill/>
                </a:ln>
                <a:solidFill>
                  <a:srgbClr val="339933"/>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功能表 </a:t>
            </a:r>
            <a:r>
              <a:rPr kumimoji="0" lang="en-US" altLang="zh-CN" sz="2800" b="1" i="0" u="none" strike="noStrike" kern="1200" cap="none" spc="0" normalizeH="0" baseline="0" noProof="0">
                <a:ln>
                  <a:noFill/>
                </a:ln>
                <a:solidFill>
                  <a:srgbClr val="339933"/>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4" name="Group 330"/>
          <p:cNvGrpSpPr/>
          <p:nvPr/>
        </p:nvGrpSpPr>
        <p:grpSpPr>
          <a:xfrm>
            <a:off x="57150" y="404813"/>
            <a:ext cx="8972550" cy="6491287"/>
            <a:chOff x="36" y="255"/>
            <a:chExt cx="5652" cy="4089"/>
          </a:xfrm>
        </p:grpSpPr>
        <p:sp>
          <p:nvSpPr>
            <p:cNvPr id="315394" name="Text Box 2"/>
            <p:cNvSpPr txBox="1">
              <a:spLocks noChangeArrowheads="1"/>
            </p:cNvSpPr>
            <p:nvPr/>
          </p:nvSpPr>
          <p:spPr bwMode="auto">
            <a:xfrm>
              <a:off x="924" y="4056"/>
              <a:ext cx="41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a:spcBef>
                  <a:spcPct val="50000"/>
                </a:spcBef>
                <a:buClrTx/>
                <a:buSzTx/>
                <a:buFontTx/>
                <a:buNone/>
                <a:defRPr/>
              </a:pPr>
              <a:r>
                <a:rPr kumimoji="1" lang="en-US" altLang="zh-CN" sz="24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74LS193</a:t>
              </a:r>
              <a:r>
                <a:rPr kumimoji="1" lang="zh-CN" altLang="en-US" sz="2400" b="1" kern="1200" cap="none" spc="0" normalizeH="0" baseline="0" noProof="0">
                  <a:solidFill>
                    <a:srgbClr val="3399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型四位二进制可逆计数器逻辑图</a:t>
              </a:r>
            </a:p>
          </p:txBody>
        </p:sp>
        <p:sp>
          <p:nvSpPr>
            <p:cNvPr id="13316" name="Text Box 4"/>
            <p:cNvSpPr txBox="1"/>
            <p:nvPr/>
          </p:nvSpPr>
          <p:spPr>
            <a:xfrm>
              <a:off x="1416" y="264"/>
              <a:ext cx="480" cy="288"/>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A</a:t>
              </a:r>
              <a:endParaRPr lang="en-US" altLang="zh-CN" sz="2400" dirty="0">
                <a:latin typeface="Times New Roman" panose="02020603050405020304" pitchFamily="18" charset="0"/>
              </a:endParaRPr>
            </a:p>
          </p:txBody>
        </p:sp>
        <p:sp>
          <p:nvSpPr>
            <p:cNvPr id="13317" name="Oval 5"/>
            <p:cNvSpPr/>
            <p:nvPr/>
          </p:nvSpPr>
          <p:spPr>
            <a:xfrm>
              <a:off x="1378" y="519"/>
              <a:ext cx="63" cy="64"/>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18" name="Line 6"/>
            <p:cNvSpPr/>
            <p:nvPr/>
          </p:nvSpPr>
          <p:spPr>
            <a:xfrm flipV="1">
              <a:off x="1416" y="408"/>
              <a:ext cx="0" cy="399"/>
            </a:xfrm>
            <a:prstGeom prst="line">
              <a:avLst/>
            </a:prstGeom>
            <a:ln w="9525" cap="flat" cmpd="sng">
              <a:solidFill>
                <a:schemeClr val="tx1"/>
              </a:solidFill>
              <a:prstDash val="solid"/>
              <a:headEnd type="none" w="med" len="med"/>
              <a:tailEnd type="none" w="med" len="med"/>
            </a:ln>
          </p:spPr>
        </p:sp>
        <p:sp>
          <p:nvSpPr>
            <p:cNvPr id="13319" name="Rectangle 7"/>
            <p:cNvSpPr/>
            <p:nvPr/>
          </p:nvSpPr>
          <p:spPr>
            <a:xfrm rot="5400000">
              <a:off x="1385" y="550"/>
              <a:ext cx="362" cy="876"/>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20" name="Oval 8"/>
            <p:cNvSpPr/>
            <p:nvPr/>
          </p:nvSpPr>
          <p:spPr>
            <a:xfrm>
              <a:off x="1490" y="1169"/>
              <a:ext cx="70"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21" name="Text Box 9"/>
            <p:cNvSpPr txBox="1"/>
            <p:nvPr/>
          </p:nvSpPr>
          <p:spPr>
            <a:xfrm>
              <a:off x="1402" y="883"/>
              <a:ext cx="302" cy="212"/>
            </a:xfrm>
            <a:prstGeom prst="rect">
              <a:avLst/>
            </a:prstGeom>
            <a:noFill/>
            <a:ln w="9525">
              <a:noFill/>
            </a:ln>
          </p:spPr>
          <p:txBody>
            <a:bodyPr>
              <a:spAutoFit/>
            </a:bodyPr>
            <a:lstStyle/>
            <a:p>
              <a:pPr>
                <a:spcBef>
                  <a:spcPct val="50000"/>
                </a:spcBef>
              </a:pPr>
              <a:r>
                <a:rPr lang="en-US" altLang="zh-CN" sz="1600" dirty="0">
                  <a:latin typeface="Times New Roman" panose="02020603050405020304" pitchFamily="18" charset="0"/>
                </a:rPr>
                <a:t>T</a:t>
              </a:r>
            </a:p>
          </p:txBody>
        </p:sp>
        <p:sp>
          <p:nvSpPr>
            <p:cNvPr id="13322" name="AutoShape 10"/>
            <p:cNvSpPr/>
            <p:nvPr/>
          </p:nvSpPr>
          <p:spPr>
            <a:xfrm>
              <a:off x="1463" y="1047"/>
              <a:ext cx="145" cy="122"/>
            </a:xfrm>
            <a:prstGeom prst="triangle">
              <a:avLst>
                <a:gd name="adj" fmla="val 50000"/>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23" name="Text Box 11"/>
            <p:cNvSpPr txBox="1"/>
            <p:nvPr/>
          </p:nvSpPr>
          <p:spPr>
            <a:xfrm>
              <a:off x="1700" y="787"/>
              <a:ext cx="259" cy="212"/>
            </a:xfrm>
            <a:prstGeom prst="rect">
              <a:avLst/>
            </a:prstGeom>
            <a:noFill/>
            <a:ln w="9525">
              <a:noFill/>
            </a:ln>
          </p:spPr>
          <p:txBody>
            <a:bodyPr>
              <a:spAutoFit/>
            </a:bodyPr>
            <a:lstStyle/>
            <a:p>
              <a:pPr>
                <a:spcBef>
                  <a:spcPct val="50000"/>
                </a:spcBef>
              </a:pPr>
              <a:r>
                <a:rPr lang="en-US" altLang="zh-CN" sz="1600" dirty="0">
                  <a:latin typeface="Times New Roman" panose="02020603050405020304" pitchFamily="18" charset="0"/>
                </a:rPr>
                <a:t>R</a:t>
              </a:r>
            </a:p>
          </p:txBody>
        </p:sp>
        <p:sp>
          <p:nvSpPr>
            <p:cNvPr id="13324" name="Oval 12"/>
            <p:cNvSpPr/>
            <p:nvPr/>
          </p:nvSpPr>
          <p:spPr>
            <a:xfrm>
              <a:off x="1892" y="1169"/>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25" name="Text Box 13"/>
            <p:cNvSpPr txBox="1"/>
            <p:nvPr/>
          </p:nvSpPr>
          <p:spPr>
            <a:xfrm>
              <a:off x="1164" y="931"/>
              <a:ext cx="259" cy="212"/>
            </a:xfrm>
            <a:prstGeom prst="rect">
              <a:avLst/>
            </a:prstGeom>
            <a:noFill/>
            <a:ln w="9525">
              <a:noFill/>
            </a:ln>
          </p:spPr>
          <p:txBody>
            <a:bodyPr>
              <a:spAutoFit/>
            </a:bodyPr>
            <a:lstStyle/>
            <a:p>
              <a:pPr>
                <a:spcBef>
                  <a:spcPct val="50000"/>
                </a:spcBef>
              </a:pPr>
              <a:r>
                <a:rPr lang="en-US" altLang="zh-CN" sz="1600" dirty="0">
                  <a:latin typeface="Times New Roman" panose="02020603050405020304" pitchFamily="18" charset="0"/>
                </a:rPr>
                <a:t>S</a:t>
              </a:r>
            </a:p>
          </p:txBody>
        </p:sp>
        <p:sp>
          <p:nvSpPr>
            <p:cNvPr id="13326" name="Oval 14"/>
            <p:cNvSpPr/>
            <p:nvPr/>
          </p:nvSpPr>
          <p:spPr>
            <a:xfrm>
              <a:off x="1176" y="1168"/>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27" name="Oval 15"/>
            <p:cNvSpPr/>
            <p:nvPr/>
          </p:nvSpPr>
          <p:spPr>
            <a:xfrm>
              <a:off x="1656" y="736"/>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28" name="Line 16"/>
            <p:cNvSpPr/>
            <p:nvPr/>
          </p:nvSpPr>
          <p:spPr>
            <a:xfrm flipV="1">
              <a:off x="1691" y="615"/>
              <a:ext cx="0" cy="118"/>
            </a:xfrm>
            <a:prstGeom prst="line">
              <a:avLst/>
            </a:prstGeom>
            <a:ln w="9525" cap="flat" cmpd="sng">
              <a:solidFill>
                <a:schemeClr val="tx1"/>
              </a:solidFill>
              <a:prstDash val="solid"/>
              <a:headEnd type="none" w="med" len="med"/>
              <a:tailEnd type="none" w="med" len="med"/>
            </a:ln>
          </p:spPr>
        </p:sp>
        <p:sp>
          <p:nvSpPr>
            <p:cNvPr id="13329" name="Oval 17"/>
            <p:cNvSpPr/>
            <p:nvPr/>
          </p:nvSpPr>
          <p:spPr>
            <a:xfrm>
              <a:off x="2546" y="519"/>
              <a:ext cx="63" cy="64"/>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30" name="Line 18"/>
            <p:cNvSpPr/>
            <p:nvPr/>
          </p:nvSpPr>
          <p:spPr>
            <a:xfrm flipV="1">
              <a:off x="2584" y="408"/>
              <a:ext cx="0" cy="399"/>
            </a:xfrm>
            <a:prstGeom prst="line">
              <a:avLst/>
            </a:prstGeom>
            <a:ln w="9525" cap="flat" cmpd="sng">
              <a:solidFill>
                <a:schemeClr val="tx1"/>
              </a:solidFill>
              <a:prstDash val="solid"/>
              <a:headEnd type="none" w="med" len="med"/>
              <a:tailEnd type="none" w="med" len="med"/>
            </a:ln>
          </p:spPr>
        </p:sp>
        <p:sp>
          <p:nvSpPr>
            <p:cNvPr id="13331" name="Rectangle 19"/>
            <p:cNvSpPr/>
            <p:nvPr/>
          </p:nvSpPr>
          <p:spPr>
            <a:xfrm rot="5400000">
              <a:off x="2553" y="550"/>
              <a:ext cx="362" cy="876"/>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32" name="Oval 20"/>
            <p:cNvSpPr/>
            <p:nvPr/>
          </p:nvSpPr>
          <p:spPr>
            <a:xfrm>
              <a:off x="2658" y="1169"/>
              <a:ext cx="70"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33" name="Text Box 21"/>
            <p:cNvSpPr txBox="1"/>
            <p:nvPr/>
          </p:nvSpPr>
          <p:spPr>
            <a:xfrm>
              <a:off x="2776" y="979"/>
              <a:ext cx="302" cy="231"/>
            </a:xfrm>
            <a:prstGeom prst="rect">
              <a:avLst/>
            </a:prstGeom>
            <a:noFill/>
            <a:ln w="9525">
              <a:noFill/>
            </a:ln>
          </p:spPr>
          <p:txBody>
            <a:bodyPr>
              <a:spAutoFit/>
            </a:bodyPr>
            <a:lstStyle/>
            <a:p>
              <a:pPr>
                <a:spcBef>
                  <a:spcPct val="50000"/>
                </a:spcBef>
              </a:pPr>
              <a:r>
                <a:rPr lang="en-US" altLang="zh-CN" sz="1800" dirty="0">
                  <a:latin typeface="Arial" panose="020B0604020202020204" pitchFamily="34" charset="0"/>
                  <a:sym typeface="Symbol" panose="05050102010706020507" pitchFamily="18" charset="2"/>
                </a:rPr>
                <a:t>1</a:t>
              </a:r>
              <a:endParaRPr lang="en-US" altLang="zh-CN" sz="1600" dirty="0">
                <a:latin typeface="Times New Roman" panose="02020603050405020304" pitchFamily="18" charset="0"/>
              </a:endParaRPr>
            </a:p>
          </p:txBody>
        </p:sp>
        <p:sp>
          <p:nvSpPr>
            <p:cNvPr id="13334" name="Text Box 22"/>
            <p:cNvSpPr txBox="1"/>
            <p:nvPr/>
          </p:nvSpPr>
          <p:spPr>
            <a:xfrm>
              <a:off x="2570" y="883"/>
              <a:ext cx="302" cy="212"/>
            </a:xfrm>
            <a:prstGeom prst="rect">
              <a:avLst/>
            </a:prstGeom>
            <a:noFill/>
            <a:ln w="9525">
              <a:noFill/>
            </a:ln>
          </p:spPr>
          <p:txBody>
            <a:bodyPr>
              <a:spAutoFit/>
            </a:bodyPr>
            <a:lstStyle/>
            <a:p>
              <a:pPr>
                <a:spcBef>
                  <a:spcPct val="50000"/>
                </a:spcBef>
              </a:pPr>
              <a:r>
                <a:rPr lang="en-US" altLang="zh-CN" sz="1600" dirty="0">
                  <a:latin typeface="Times New Roman" panose="02020603050405020304" pitchFamily="18" charset="0"/>
                </a:rPr>
                <a:t>T</a:t>
              </a:r>
            </a:p>
          </p:txBody>
        </p:sp>
        <p:sp>
          <p:nvSpPr>
            <p:cNvPr id="13335" name="AutoShape 23"/>
            <p:cNvSpPr/>
            <p:nvPr/>
          </p:nvSpPr>
          <p:spPr>
            <a:xfrm>
              <a:off x="2631" y="1047"/>
              <a:ext cx="145" cy="122"/>
            </a:xfrm>
            <a:prstGeom prst="triangle">
              <a:avLst>
                <a:gd name="adj" fmla="val 50000"/>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36" name="Text Box 24"/>
            <p:cNvSpPr txBox="1"/>
            <p:nvPr/>
          </p:nvSpPr>
          <p:spPr>
            <a:xfrm>
              <a:off x="2892" y="787"/>
              <a:ext cx="259" cy="212"/>
            </a:xfrm>
            <a:prstGeom prst="rect">
              <a:avLst/>
            </a:prstGeom>
            <a:noFill/>
            <a:ln w="9525">
              <a:noFill/>
            </a:ln>
          </p:spPr>
          <p:txBody>
            <a:bodyPr>
              <a:spAutoFit/>
            </a:bodyPr>
            <a:lstStyle/>
            <a:p>
              <a:pPr>
                <a:spcBef>
                  <a:spcPct val="50000"/>
                </a:spcBef>
              </a:pPr>
              <a:r>
                <a:rPr lang="en-US" altLang="zh-CN" sz="1600" dirty="0">
                  <a:latin typeface="Times New Roman" panose="02020603050405020304" pitchFamily="18" charset="0"/>
                </a:rPr>
                <a:t>R</a:t>
              </a:r>
            </a:p>
          </p:txBody>
        </p:sp>
        <p:sp>
          <p:nvSpPr>
            <p:cNvPr id="13337" name="Oval 25"/>
            <p:cNvSpPr/>
            <p:nvPr/>
          </p:nvSpPr>
          <p:spPr>
            <a:xfrm>
              <a:off x="3060" y="1169"/>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38" name="Text Box 26"/>
            <p:cNvSpPr txBox="1"/>
            <p:nvPr/>
          </p:nvSpPr>
          <p:spPr>
            <a:xfrm>
              <a:off x="2296" y="979"/>
              <a:ext cx="259" cy="212"/>
            </a:xfrm>
            <a:prstGeom prst="rect">
              <a:avLst/>
            </a:prstGeom>
            <a:noFill/>
            <a:ln w="9525">
              <a:noFill/>
            </a:ln>
          </p:spPr>
          <p:txBody>
            <a:bodyPr>
              <a:spAutoFit/>
            </a:bodyPr>
            <a:lstStyle/>
            <a:p>
              <a:pPr>
                <a:spcBef>
                  <a:spcPct val="50000"/>
                </a:spcBef>
              </a:pPr>
              <a:r>
                <a:rPr lang="en-US" altLang="zh-CN" sz="1600" dirty="0">
                  <a:latin typeface="Times New Roman" panose="02020603050405020304" pitchFamily="18" charset="0"/>
                </a:rPr>
                <a:t>S</a:t>
              </a:r>
            </a:p>
          </p:txBody>
        </p:sp>
        <p:sp>
          <p:nvSpPr>
            <p:cNvPr id="13339" name="Oval 27"/>
            <p:cNvSpPr/>
            <p:nvPr/>
          </p:nvSpPr>
          <p:spPr>
            <a:xfrm>
              <a:off x="2344" y="1168"/>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40" name="Oval 28"/>
            <p:cNvSpPr/>
            <p:nvPr/>
          </p:nvSpPr>
          <p:spPr>
            <a:xfrm>
              <a:off x="2824" y="736"/>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41" name="Line 29"/>
            <p:cNvSpPr/>
            <p:nvPr/>
          </p:nvSpPr>
          <p:spPr>
            <a:xfrm flipV="1">
              <a:off x="2859" y="615"/>
              <a:ext cx="0" cy="118"/>
            </a:xfrm>
            <a:prstGeom prst="line">
              <a:avLst/>
            </a:prstGeom>
            <a:ln w="9525" cap="flat" cmpd="sng">
              <a:solidFill>
                <a:schemeClr val="tx1"/>
              </a:solidFill>
              <a:prstDash val="solid"/>
              <a:headEnd type="none" w="med" len="med"/>
              <a:tailEnd type="none" w="med" len="med"/>
            </a:ln>
          </p:spPr>
        </p:sp>
        <p:sp>
          <p:nvSpPr>
            <p:cNvPr id="13342" name="Oval 30"/>
            <p:cNvSpPr/>
            <p:nvPr/>
          </p:nvSpPr>
          <p:spPr>
            <a:xfrm>
              <a:off x="3682" y="519"/>
              <a:ext cx="63" cy="64"/>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43" name="Line 31"/>
            <p:cNvSpPr/>
            <p:nvPr/>
          </p:nvSpPr>
          <p:spPr>
            <a:xfrm flipV="1">
              <a:off x="3720" y="408"/>
              <a:ext cx="0" cy="399"/>
            </a:xfrm>
            <a:prstGeom prst="line">
              <a:avLst/>
            </a:prstGeom>
            <a:ln w="9525" cap="flat" cmpd="sng">
              <a:solidFill>
                <a:schemeClr val="tx1"/>
              </a:solidFill>
              <a:prstDash val="solid"/>
              <a:headEnd type="none" w="med" len="med"/>
              <a:tailEnd type="none" w="med" len="med"/>
            </a:ln>
          </p:spPr>
        </p:sp>
        <p:sp>
          <p:nvSpPr>
            <p:cNvPr id="13344" name="Rectangle 32"/>
            <p:cNvSpPr/>
            <p:nvPr/>
          </p:nvSpPr>
          <p:spPr>
            <a:xfrm rot="5400000">
              <a:off x="3689" y="550"/>
              <a:ext cx="362" cy="876"/>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45" name="Oval 33"/>
            <p:cNvSpPr/>
            <p:nvPr/>
          </p:nvSpPr>
          <p:spPr>
            <a:xfrm>
              <a:off x="3794" y="1169"/>
              <a:ext cx="70"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46" name="Text Box 34"/>
            <p:cNvSpPr txBox="1"/>
            <p:nvPr/>
          </p:nvSpPr>
          <p:spPr>
            <a:xfrm>
              <a:off x="3912" y="979"/>
              <a:ext cx="302" cy="231"/>
            </a:xfrm>
            <a:prstGeom prst="rect">
              <a:avLst/>
            </a:prstGeom>
            <a:noFill/>
            <a:ln w="9525">
              <a:noFill/>
            </a:ln>
          </p:spPr>
          <p:txBody>
            <a:bodyPr>
              <a:spAutoFit/>
            </a:bodyPr>
            <a:lstStyle/>
            <a:p>
              <a:pPr>
                <a:spcBef>
                  <a:spcPct val="50000"/>
                </a:spcBef>
              </a:pPr>
              <a:r>
                <a:rPr lang="en-US" altLang="zh-CN" sz="1800" dirty="0">
                  <a:latin typeface="Arial" panose="020B0604020202020204" pitchFamily="34" charset="0"/>
                  <a:sym typeface="Symbol" panose="05050102010706020507" pitchFamily="18" charset="2"/>
                </a:rPr>
                <a:t>1</a:t>
              </a:r>
              <a:endParaRPr lang="en-US" altLang="zh-CN" sz="1600" dirty="0">
                <a:latin typeface="Times New Roman" panose="02020603050405020304" pitchFamily="18" charset="0"/>
              </a:endParaRPr>
            </a:p>
          </p:txBody>
        </p:sp>
        <p:sp>
          <p:nvSpPr>
            <p:cNvPr id="13347" name="Text Box 35"/>
            <p:cNvSpPr txBox="1"/>
            <p:nvPr/>
          </p:nvSpPr>
          <p:spPr>
            <a:xfrm>
              <a:off x="3706" y="883"/>
              <a:ext cx="302" cy="212"/>
            </a:xfrm>
            <a:prstGeom prst="rect">
              <a:avLst/>
            </a:prstGeom>
            <a:noFill/>
            <a:ln w="9525">
              <a:noFill/>
            </a:ln>
          </p:spPr>
          <p:txBody>
            <a:bodyPr>
              <a:spAutoFit/>
            </a:bodyPr>
            <a:lstStyle/>
            <a:p>
              <a:pPr>
                <a:spcBef>
                  <a:spcPct val="50000"/>
                </a:spcBef>
              </a:pPr>
              <a:r>
                <a:rPr lang="en-US" altLang="zh-CN" sz="1600" dirty="0">
                  <a:latin typeface="Times New Roman" panose="02020603050405020304" pitchFamily="18" charset="0"/>
                </a:rPr>
                <a:t>T</a:t>
              </a:r>
            </a:p>
          </p:txBody>
        </p:sp>
        <p:sp>
          <p:nvSpPr>
            <p:cNvPr id="13348" name="AutoShape 36"/>
            <p:cNvSpPr/>
            <p:nvPr/>
          </p:nvSpPr>
          <p:spPr>
            <a:xfrm>
              <a:off x="3767" y="1047"/>
              <a:ext cx="145" cy="122"/>
            </a:xfrm>
            <a:prstGeom prst="triangle">
              <a:avLst>
                <a:gd name="adj" fmla="val 50000"/>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49" name="Text Box 37"/>
            <p:cNvSpPr txBox="1"/>
            <p:nvPr/>
          </p:nvSpPr>
          <p:spPr>
            <a:xfrm>
              <a:off x="3980" y="799"/>
              <a:ext cx="259" cy="212"/>
            </a:xfrm>
            <a:prstGeom prst="rect">
              <a:avLst/>
            </a:prstGeom>
            <a:noFill/>
            <a:ln w="9525">
              <a:noFill/>
            </a:ln>
          </p:spPr>
          <p:txBody>
            <a:bodyPr>
              <a:spAutoFit/>
            </a:bodyPr>
            <a:lstStyle/>
            <a:p>
              <a:pPr>
                <a:spcBef>
                  <a:spcPct val="50000"/>
                </a:spcBef>
              </a:pPr>
              <a:r>
                <a:rPr lang="en-US" altLang="zh-CN" sz="1600" dirty="0">
                  <a:latin typeface="Times New Roman" panose="02020603050405020304" pitchFamily="18" charset="0"/>
                </a:rPr>
                <a:t>R</a:t>
              </a:r>
            </a:p>
          </p:txBody>
        </p:sp>
        <p:sp>
          <p:nvSpPr>
            <p:cNvPr id="13350" name="Oval 38"/>
            <p:cNvSpPr/>
            <p:nvPr/>
          </p:nvSpPr>
          <p:spPr>
            <a:xfrm>
              <a:off x="4196" y="1169"/>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51" name="Text Box 39"/>
            <p:cNvSpPr txBox="1"/>
            <p:nvPr/>
          </p:nvSpPr>
          <p:spPr>
            <a:xfrm>
              <a:off x="3432" y="979"/>
              <a:ext cx="259" cy="212"/>
            </a:xfrm>
            <a:prstGeom prst="rect">
              <a:avLst/>
            </a:prstGeom>
            <a:noFill/>
            <a:ln w="9525">
              <a:noFill/>
            </a:ln>
          </p:spPr>
          <p:txBody>
            <a:bodyPr>
              <a:spAutoFit/>
            </a:bodyPr>
            <a:lstStyle/>
            <a:p>
              <a:pPr>
                <a:spcBef>
                  <a:spcPct val="50000"/>
                </a:spcBef>
              </a:pPr>
              <a:r>
                <a:rPr lang="en-US" altLang="zh-CN" sz="1600" dirty="0">
                  <a:latin typeface="Times New Roman" panose="02020603050405020304" pitchFamily="18" charset="0"/>
                </a:rPr>
                <a:t>S</a:t>
              </a:r>
            </a:p>
          </p:txBody>
        </p:sp>
        <p:sp>
          <p:nvSpPr>
            <p:cNvPr id="13352" name="Oval 40"/>
            <p:cNvSpPr/>
            <p:nvPr/>
          </p:nvSpPr>
          <p:spPr>
            <a:xfrm>
              <a:off x="3480" y="1168"/>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53" name="Oval 41"/>
            <p:cNvSpPr/>
            <p:nvPr/>
          </p:nvSpPr>
          <p:spPr>
            <a:xfrm>
              <a:off x="3960" y="736"/>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54" name="Line 42"/>
            <p:cNvSpPr/>
            <p:nvPr/>
          </p:nvSpPr>
          <p:spPr>
            <a:xfrm flipV="1">
              <a:off x="3995" y="615"/>
              <a:ext cx="0" cy="118"/>
            </a:xfrm>
            <a:prstGeom prst="line">
              <a:avLst/>
            </a:prstGeom>
            <a:ln w="9525" cap="flat" cmpd="sng">
              <a:solidFill>
                <a:schemeClr val="tx1"/>
              </a:solidFill>
              <a:prstDash val="solid"/>
              <a:headEnd type="none" w="med" len="med"/>
              <a:tailEnd type="none" w="med" len="med"/>
            </a:ln>
          </p:spPr>
        </p:sp>
        <p:sp>
          <p:nvSpPr>
            <p:cNvPr id="13355" name="Oval 43"/>
            <p:cNvSpPr/>
            <p:nvPr/>
          </p:nvSpPr>
          <p:spPr>
            <a:xfrm>
              <a:off x="4834" y="519"/>
              <a:ext cx="63" cy="64"/>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56" name="Line 44"/>
            <p:cNvSpPr/>
            <p:nvPr/>
          </p:nvSpPr>
          <p:spPr>
            <a:xfrm flipV="1">
              <a:off x="4872" y="408"/>
              <a:ext cx="0" cy="399"/>
            </a:xfrm>
            <a:prstGeom prst="line">
              <a:avLst/>
            </a:prstGeom>
            <a:ln w="9525" cap="flat" cmpd="sng">
              <a:solidFill>
                <a:schemeClr val="tx1"/>
              </a:solidFill>
              <a:prstDash val="solid"/>
              <a:headEnd type="none" w="med" len="med"/>
              <a:tailEnd type="none" w="med" len="med"/>
            </a:ln>
          </p:spPr>
        </p:sp>
        <p:sp>
          <p:nvSpPr>
            <p:cNvPr id="13357" name="Rectangle 45"/>
            <p:cNvSpPr/>
            <p:nvPr/>
          </p:nvSpPr>
          <p:spPr>
            <a:xfrm rot="5400000">
              <a:off x="4841" y="550"/>
              <a:ext cx="362" cy="876"/>
            </a:xfrm>
            <a:prstGeom prst="rect">
              <a:avLst/>
            </a:prstGeom>
            <a:solidFill>
              <a:srgbClr val="E1FDFF"/>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58" name="Oval 46"/>
            <p:cNvSpPr/>
            <p:nvPr/>
          </p:nvSpPr>
          <p:spPr>
            <a:xfrm>
              <a:off x="4946" y="1169"/>
              <a:ext cx="70"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59" name="Text Box 47"/>
            <p:cNvSpPr txBox="1"/>
            <p:nvPr/>
          </p:nvSpPr>
          <p:spPr>
            <a:xfrm>
              <a:off x="5064" y="979"/>
              <a:ext cx="302" cy="231"/>
            </a:xfrm>
            <a:prstGeom prst="rect">
              <a:avLst/>
            </a:prstGeom>
            <a:noFill/>
            <a:ln w="9525">
              <a:noFill/>
            </a:ln>
          </p:spPr>
          <p:txBody>
            <a:bodyPr>
              <a:spAutoFit/>
            </a:bodyPr>
            <a:lstStyle/>
            <a:p>
              <a:pPr>
                <a:spcBef>
                  <a:spcPct val="50000"/>
                </a:spcBef>
              </a:pPr>
              <a:r>
                <a:rPr lang="en-US" altLang="zh-CN" sz="1800" dirty="0">
                  <a:latin typeface="Arial" panose="020B0604020202020204" pitchFamily="34" charset="0"/>
                  <a:sym typeface="Symbol" panose="05050102010706020507" pitchFamily="18" charset="2"/>
                </a:rPr>
                <a:t>1</a:t>
              </a:r>
              <a:endParaRPr lang="en-US" altLang="zh-CN" sz="1600" dirty="0">
                <a:latin typeface="Times New Roman" panose="02020603050405020304" pitchFamily="18" charset="0"/>
              </a:endParaRPr>
            </a:p>
          </p:txBody>
        </p:sp>
        <p:sp>
          <p:nvSpPr>
            <p:cNvPr id="13360" name="Text Box 48"/>
            <p:cNvSpPr txBox="1"/>
            <p:nvPr/>
          </p:nvSpPr>
          <p:spPr>
            <a:xfrm>
              <a:off x="4858" y="883"/>
              <a:ext cx="302" cy="212"/>
            </a:xfrm>
            <a:prstGeom prst="rect">
              <a:avLst/>
            </a:prstGeom>
            <a:noFill/>
            <a:ln w="9525">
              <a:noFill/>
            </a:ln>
          </p:spPr>
          <p:txBody>
            <a:bodyPr>
              <a:spAutoFit/>
            </a:bodyPr>
            <a:lstStyle/>
            <a:p>
              <a:pPr>
                <a:spcBef>
                  <a:spcPct val="50000"/>
                </a:spcBef>
              </a:pPr>
              <a:r>
                <a:rPr lang="en-US" altLang="zh-CN" sz="1600" dirty="0">
                  <a:latin typeface="Times New Roman" panose="02020603050405020304" pitchFamily="18" charset="0"/>
                </a:rPr>
                <a:t>T</a:t>
              </a:r>
            </a:p>
          </p:txBody>
        </p:sp>
        <p:sp>
          <p:nvSpPr>
            <p:cNvPr id="13361" name="AutoShape 49"/>
            <p:cNvSpPr/>
            <p:nvPr/>
          </p:nvSpPr>
          <p:spPr>
            <a:xfrm>
              <a:off x="4919" y="1047"/>
              <a:ext cx="145" cy="122"/>
            </a:xfrm>
            <a:prstGeom prst="triangle">
              <a:avLst>
                <a:gd name="adj" fmla="val 50000"/>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62" name="Text Box 50"/>
            <p:cNvSpPr txBox="1"/>
            <p:nvPr/>
          </p:nvSpPr>
          <p:spPr>
            <a:xfrm>
              <a:off x="5156" y="787"/>
              <a:ext cx="259" cy="212"/>
            </a:xfrm>
            <a:prstGeom prst="rect">
              <a:avLst/>
            </a:prstGeom>
            <a:noFill/>
            <a:ln w="9525">
              <a:noFill/>
            </a:ln>
          </p:spPr>
          <p:txBody>
            <a:bodyPr>
              <a:spAutoFit/>
            </a:bodyPr>
            <a:lstStyle/>
            <a:p>
              <a:pPr>
                <a:spcBef>
                  <a:spcPct val="50000"/>
                </a:spcBef>
              </a:pPr>
              <a:r>
                <a:rPr lang="en-US" altLang="zh-CN" sz="1600" dirty="0">
                  <a:latin typeface="Times New Roman" panose="02020603050405020304" pitchFamily="18" charset="0"/>
                </a:rPr>
                <a:t>R</a:t>
              </a:r>
            </a:p>
          </p:txBody>
        </p:sp>
        <p:sp>
          <p:nvSpPr>
            <p:cNvPr id="13363" name="Oval 51"/>
            <p:cNvSpPr/>
            <p:nvPr/>
          </p:nvSpPr>
          <p:spPr>
            <a:xfrm>
              <a:off x="5348" y="1169"/>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64" name="Text Box 52"/>
            <p:cNvSpPr txBox="1"/>
            <p:nvPr/>
          </p:nvSpPr>
          <p:spPr>
            <a:xfrm>
              <a:off x="4584" y="979"/>
              <a:ext cx="259" cy="212"/>
            </a:xfrm>
            <a:prstGeom prst="rect">
              <a:avLst/>
            </a:prstGeom>
            <a:noFill/>
            <a:ln w="9525">
              <a:noFill/>
            </a:ln>
          </p:spPr>
          <p:txBody>
            <a:bodyPr>
              <a:spAutoFit/>
            </a:bodyPr>
            <a:lstStyle/>
            <a:p>
              <a:pPr>
                <a:spcBef>
                  <a:spcPct val="50000"/>
                </a:spcBef>
              </a:pPr>
              <a:r>
                <a:rPr lang="en-US" altLang="zh-CN" sz="1600" dirty="0">
                  <a:latin typeface="Times New Roman" panose="02020603050405020304" pitchFamily="18" charset="0"/>
                </a:rPr>
                <a:t>S</a:t>
              </a:r>
            </a:p>
          </p:txBody>
        </p:sp>
        <p:sp>
          <p:nvSpPr>
            <p:cNvPr id="13365" name="Oval 53"/>
            <p:cNvSpPr/>
            <p:nvPr/>
          </p:nvSpPr>
          <p:spPr>
            <a:xfrm>
              <a:off x="4632" y="1168"/>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66" name="Oval 54"/>
            <p:cNvSpPr/>
            <p:nvPr/>
          </p:nvSpPr>
          <p:spPr>
            <a:xfrm>
              <a:off x="5112" y="736"/>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67" name="Line 55"/>
            <p:cNvSpPr/>
            <p:nvPr/>
          </p:nvSpPr>
          <p:spPr>
            <a:xfrm flipV="1">
              <a:off x="5147" y="615"/>
              <a:ext cx="0" cy="118"/>
            </a:xfrm>
            <a:prstGeom prst="line">
              <a:avLst/>
            </a:prstGeom>
            <a:ln w="9525" cap="flat" cmpd="sng">
              <a:solidFill>
                <a:schemeClr val="tx1"/>
              </a:solidFill>
              <a:prstDash val="solid"/>
              <a:headEnd type="none" w="med" len="med"/>
              <a:tailEnd type="none" w="med" len="med"/>
            </a:ln>
          </p:spPr>
        </p:sp>
        <p:sp>
          <p:nvSpPr>
            <p:cNvPr id="13368" name="Text Box 56"/>
            <p:cNvSpPr txBox="1"/>
            <p:nvPr/>
          </p:nvSpPr>
          <p:spPr>
            <a:xfrm>
              <a:off x="2568" y="264"/>
              <a:ext cx="480" cy="288"/>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B</a:t>
              </a:r>
              <a:endParaRPr lang="en-US" altLang="zh-CN" sz="2400" dirty="0">
                <a:latin typeface="Times New Roman" panose="02020603050405020304" pitchFamily="18" charset="0"/>
              </a:endParaRPr>
            </a:p>
          </p:txBody>
        </p:sp>
        <p:sp>
          <p:nvSpPr>
            <p:cNvPr id="13369" name="Text Box 57"/>
            <p:cNvSpPr txBox="1"/>
            <p:nvPr/>
          </p:nvSpPr>
          <p:spPr>
            <a:xfrm>
              <a:off x="3720" y="264"/>
              <a:ext cx="480" cy="288"/>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C</a:t>
              </a:r>
              <a:endParaRPr lang="en-US" altLang="zh-CN" sz="2400" dirty="0">
                <a:latin typeface="Times New Roman" panose="02020603050405020304" pitchFamily="18" charset="0"/>
              </a:endParaRPr>
            </a:p>
          </p:txBody>
        </p:sp>
        <p:sp>
          <p:nvSpPr>
            <p:cNvPr id="13370" name="Text Box 58"/>
            <p:cNvSpPr txBox="1"/>
            <p:nvPr/>
          </p:nvSpPr>
          <p:spPr>
            <a:xfrm>
              <a:off x="4872" y="264"/>
              <a:ext cx="480" cy="288"/>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D</a:t>
              </a:r>
              <a:endParaRPr lang="en-US" altLang="zh-CN" sz="2400" dirty="0">
                <a:latin typeface="Times New Roman" panose="02020603050405020304" pitchFamily="18" charset="0"/>
              </a:endParaRPr>
            </a:p>
          </p:txBody>
        </p:sp>
        <p:grpSp>
          <p:nvGrpSpPr>
            <p:cNvPr id="13371" name="Group 59"/>
            <p:cNvGrpSpPr/>
            <p:nvPr/>
          </p:nvGrpSpPr>
          <p:grpSpPr>
            <a:xfrm>
              <a:off x="1752" y="1464"/>
              <a:ext cx="302" cy="359"/>
              <a:chOff x="672" y="3961"/>
              <a:chExt cx="302" cy="359"/>
            </a:xfrm>
          </p:grpSpPr>
          <p:grpSp>
            <p:nvGrpSpPr>
              <p:cNvPr id="13638" name="Group 60"/>
              <p:cNvGrpSpPr/>
              <p:nvPr/>
            </p:nvGrpSpPr>
            <p:grpSpPr>
              <a:xfrm>
                <a:off x="672" y="4032"/>
                <a:ext cx="302" cy="288"/>
                <a:chOff x="1728" y="1872"/>
                <a:chExt cx="336" cy="312"/>
              </a:xfrm>
            </p:grpSpPr>
            <p:sp>
              <p:nvSpPr>
                <p:cNvPr id="13640" name="Rectangle 61"/>
                <p:cNvSpPr/>
                <p:nvPr/>
              </p:nvSpPr>
              <p:spPr>
                <a:xfrm>
                  <a:off x="1728" y="1872"/>
                  <a:ext cx="336" cy="240"/>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641" name="Text Box 62"/>
                <p:cNvSpPr txBox="1"/>
                <p:nvPr/>
              </p:nvSpPr>
              <p:spPr>
                <a:xfrm>
                  <a:off x="1776" y="1872"/>
                  <a:ext cx="240" cy="312"/>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&amp;</a:t>
                  </a:r>
                </a:p>
              </p:txBody>
            </p:sp>
          </p:grpSp>
          <p:sp>
            <p:nvSpPr>
              <p:cNvPr id="13639" name="Oval 63"/>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pSp>
        <p:grpSp>
          <p:nvGrpSpPr>
            <p:cNvPr id="13372" name="Group 64"/>
            <p:cNvGrpSpPr/>
            <p:nvPr/>
          </p:nvGrpSpPr>
          <p:grpSpPr>
            <a:xfrm>
              <a:off x="2931" y="1464"/>
              <a:ext cx="302" cy="359"/>
              <a:chOff x="672" y="3961"/>
              <a:chExt cx="302" cy="359"/>
            </a:xfrm>
          </p:grpSpPr>
          <p:grpSp>
            <p:nvGrpSpPr>
              <p:cNvPr id="13634" name="Group 65"/>
              <p:cNvGrpSpPr/>
              <p:nvPr/>
            </p:nvGrpSpPr>
            <p:grpSpPr>
              <a:xfrm>
                <a:off x="672" y="4032"/>
                <a:ext cx="302" cy="288"/>
                <a:chOff x="1728" y="1872"/>
                <a:chExt cx="336" cy="312"/>
              </a:xfrm>
            </p:grpSpPr>
            <p:sp>
              <p:nvSpPr>
                <p:cNvPr id="13636" name="Rectangle 66"/>
                <p:cNvSpPr/>
                <p:nvPr/>
              </p:nvSpPr>
              <p:spPr>
                <a:xfrm>
                  <a:off x="1728" y="1872"/>
                  <a:ext cx="336" cy="240"/>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637" name="Text Box 67"/>
                <p:cNvSpPr txBox="1"/>
                <p:nvPr/>
              </p:nvSpPr>
              <p:spPr>
                <a:xfrm>
                  <a:off x="1776" y="1872"/>
                  <a:ext cx="240" cy="312"/>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&amp;</a:t>
                  </a:r>
                </a:p>
              </p:txBody>
            </p:sp>
          </p:grpSp>
          <p:sp>
            <p:nvSpPr>
              <p:cNvPr id="13635" name="Oval 68"/>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pSp>
        <p:grpSp>
          <p:nvGrpSpPr>
            <p:cNvPr id="13373" name="Group 69"/>
            <p:cNvGrpSpPr/>
            <p:nvPr/>
          </p:nvGrpSpPr>
          <p:grpSpPr>
            <a:xfrm>
              <a:off x="4090" y="1464"/>
              <a:ext cx="302" cy="359"/>
              <a:chOff x="672" y="3961"/>
              <a:chExt cx="302" cy="359"/>
            </a:xfrm>
          </p:grpSpPr>
          <p:grpSp>
            <p:nvGrpSpPr>
              <p:cNvPr id="13630" name="Group 70"/>
              <p:cNvGrpSpPr/>
              <p:nvPr/>
            </p:nvGrpSpPr>
            <p:grpSpPr>
              <a:xfrm>
                <a:off x="672" y="4032"/>
                <a:ext cx="302" cy="288"/>
                <a:chOff x="1728" y="1872"/>
                <a:chExt cx="336" cy="312"/>
              </a:xfrm>
            </p:grpSpPr>
            <p:sp>
              <p:nvSpPr>
                <p:cNvPr id="13632" name="Rectangle 71"/>
                <p:cNvSpPr/>
                <p:nvPr/>
              </p:nvSpPr>
              <p:spPr>
                <a:xfrm>
                  <a:off x="1728" y="1872"/>
                  <a:ext cx="336" cy="240"/>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633" name="Text Box 72"/>
                <p:cNvSpPr txBox="1"/>
                <p:nvPr/>
              </p:nvSpPr>
              <p:spPr>
                <a:xfrm>
                  <a:off x="1776" y="1872"/>
                  <a:ext cx="240" cy="312"/>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&amp;</a:t>
                  </a:r>
                </a:p>
              </p:txBody>
            </p:sp>
          </p:grpSp>
          <p:sp>
            <p:nvSpPr>
              <p:cNvPr id="13631" name="Oval 73"/>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pSp>
        <p:grpSp>
          <p:nvGrpSpPr>
            <p:cNvPr id="13374" name="Group 74"/>
            <p:cNvGrpSpPr/>
            <p:nvPr/>
          </p:nvGrpSpPr>
          <p:grpSpPr>
            <a:xfrm>
              <a:off x="5242" y="1464"/>
              <a:ext cx="302" cy="359"/>
              <a:chOff x="672" y="3961"/>
              <a:chExt cx="302" cy="359"/>
            </a:xfrm>
          </p:grpSpPr>
          <p:grpSp>
            <p:nvGrpSpPr>
              <p:cNvPr id="13626" name="Group 75"/>
              <p:cNvGrpSpPr/>
              <p:nvPr/>
            </p:nvGrpSpPr>
            <p:grpSpPr>
              <a:xfrm>
                <a:off x="672" y="4032"/>
                <a:ext cx="302" cy="288"/>
                <a:chOff x="1728" y="1872"/>
                <a:chExt cx="336" cy="312"/>
              </a:xfrm>
            </p:grpSpPr>
            <p:sp>
              <p:nvSpPr>
                <p:cNvPr id="13628" name="Rectangle 76"/>
                <p:cNvSpPr/>
                <p:nvPr/>
              </p:nvSpPr>
              <p:spPr>
                <a:xfrm>
                  <a:off x="1728" y="1872"/>
                  <a:ext cx="336" cy="240"/>
                </a:xfrm>
                <a:prstGeom prst="rect">
                  <a:avLst/>
                </a:prstGeom>
                <a:solidFill>
                  <a:srgbClr val="CCFFCC"/>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629" name="Text Box 77"/>
                <p:cNvSpPr txBox="1"/>
                <p:nvPr/>
              </p:nvSpPr>
              <p:spPr>
                <a:xfrm>
                  <a:off x="1776" y="1872"/>
                  <a:ext cx="240" cy="312"/>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&amp;</a:t>
                  </a:r>
                </a:p>
              </p:txBody>
            </p:sp>
          </p:grpSp>
          <p:sp>
            <p:nvSpPr>
              <p:cNvPr id="13627" name="Oval 78"/>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pSp>
        <p:sp>
          <p:nvSpPr>
            <p:cNvPr id="13375" name="Line 79"/>
            <p:cNvSpPr/>
            <p:nvPr/>
          </p:nvSpPr>
          <p:spPr>
            <a:xfrm>
              <a:off x="1921" y="1237"/>
              <a:ext cx="0" cy="227"/>
            </a:xfrm>
            <a:prstGeom prst="line">
              <a:avLst/>
            </a:prstGeom>
            <a:ln w="9525" cap="flat" cmpd="sng">
              <a:solidFill>
                <a:schemeClr val="tx1"/>
              </a:solidFill>
              <a:prstDash val="solid"/>
              <a:headEnd type="none" w="med" len="med"/>
              <a:tailEnd type="none" w="med" len="med"/>
            </a:ln>
          </p:spPr>
        </p:sp>
        <p:sp>
          <p:nvSpPr>
            <p:cNvPr id="13376" name="Line 80"/>
            <p:cNvSpPr/>
            <p:nvPr/>
          </p:nvSpPr>
          <p:spPr>
            <a:xfrm>
              <a:off x="3096" y="1237"/>
              <a:ext cx="0" cy="227"/>
            </a:xfrm>
            <a:prstGeom prst="line">
              <a:avLst/>
            </a:prstGeom>
            <a:ln w="9525" cap="flat" cmpd="sng">
              <a:solidFill>
                <a:schemeClr val="tx1"/>
              </a:solidFill>
              <a:prstDash val="solid"/>
              <a:headEnd type="none" w="med" len="med"/>
              <a:tailEnd type="none" w="med" len="med"/>
            </a:ln>
          </p:spPr>
        </p:sp>
        <p:sp>
          <p:nvSpPr>
            <p:cNvPr id="13377" name="Line 81"/>
            <p:cNvSpPr/>
            <p:nvPr/>
          </p:nvSpPr>
          <p:spPr>
            <a:xfrm>
              <a:off x="4236" y="1237"/>
              <a:ext cx="0" cy="227"/>
            </a:xfrm>
            <a:prstGeom prst="line">
              <a:avLst/>
            </a:prstGeom>
            <a:ln w="9525" cap="flat" cmpd="sng">
              <a:solidFill>
                <a:schemeClr val="tx1"/>
              </a:solidFill>
              <a:prstDash val="solid"/>
              <a:headEnd type="none" w="med" len="med"/>
              <a:tailEnd type="none" w="med" len="med"/>
            </a:ln>
          </p:spPr>
        </p:sp>
        <p:sp>
          <p:nvSpPr>
            <p:cNvPr id="13378" name="Line 82"/>
            <p:cNvSpPr/>
            <p:nvPr/>
          </p:nvSpPr>
          <p:spPr>
            <a:xfrm>
              <a:off x="5400" y="1237"/>
              <a:ext cx="0" cy="227"/>
            </a:xfrm>
            <a:prstGeom prst="line">
              <a:avLst/>
            </a:prstGeom>
            <a:ln w="9525" cap="flat" cmpd="sng">
              <a:solidFill>
                <a:schemeClr val="tx1"/>
              </a:solidFill>
              <a:prstDash val="solid"/>
              <a:headEnd type="none" w="med" len="med"/>
              <a:tailEnd type="none" w="med" len="med"/>
            </a:ln>
          </p:spPr>
        </p:sp>
        <p:grpSp>
          <p:nvGrpSpPr>
            <p:cNvPr id="13379" name="Group 83"/>
            <p:cNvGrpSpPr/>
            <p:nvPr/>
          </p:nvGrpSpPr>
          <p:grpSpPr>
            <a:xfrm>
              <a:off x="1128" y="1921"/>
              <a:ext cx="192" cy="255"/>
              <a:chOff x="1056" y="1849"/>
              <a:chExt cx="240" cy="246"/>
            </a:xfrm>
          </p:grpSpPr>
          <p:sp>
            <p:nvSpPr>
              <p:cNvPr id="13623" name="Rectangle 84"/>
              <p:cNvSpPr/>
              <p:nvPr/>
            </p:nvSpPr>
            <p:spPr>
              <a:xfrm>
                <a:off x="1056" y="1895"/>
                <a:ext cx="240" cy="143"/>
              </a:xfrm>
              <a:prstGeom prst="rect">
                <a:avLst/>
              </a:prstGeom>
              <a:solidFill>
                <a:srgbClr val="00FFFF"/>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624" name="Text Box 85"/>
              <p:cNvSpPr txBox="1"/>
              <p:nvPr/>
            </p:nvSpPr>
            <p:spPr>
              <a:xfrm>
                <a:off x="1056" y="1872"/>
                <a:ext cx="173" cy="223"/>
              </a:xfrm>
              <a:prstGeom prst="rect">
                <a:avLst/>
              </a:prstGeom>
              <a:noFill/>
              <a:ln w="9525">
                <a:noFill/>
              </a:ln>
            </p:spPr>
            <p:txBody>
              <a:bodyPr>
                <a:spAutoFit/>
              </a:bodyPr>
              <a:lstStyle/>
              <a:p>
                <a:pPr>
                  <a:spcBef>
                    <a:spcPct val="50000"/>
                  </a:spcBef>
                </a:pPr>
                <a:r>
                  <a:rPr lang="en-US" altLang="zh-CN" sz="1800" dirty="0">
                    <a:latin typeface="Times New Roman" panose="02020603050405020304" pitchFamily="18" charset="0"/>
                  </a:rPr>
                  <a:t>&amp;</a:t>
                </a:r>
                <a:endParaRPr lang="en-US" altLang="zh-CN" sz="2400" dirty="0">
                  <a:latin typeface="Times New Roman" panose="02020603050405020304" pitchFamily="18" charset="0"/>
                </a:endParaRPr>
              </a:p>
            </p:txBody>
          </p:sp>
          <p:sp>
            <p:nvSpPr>
              <p:cNvPr id="13625" name="Oval 86"/>
              <p:cNvSpPr/>
              <p:nvPr/>
            </p:nvSpPr>
            <p:spPr>
              <a:xfrm>
                <a:off x="1148" y="1849"/>
                <a:ext cx="56" cy="46"/>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pSp>
        <p:sp>
          <p:nvSpPr>
            <p:cNvPr id="13380" name="Line 87"/>
            <p:cNvSpPr/>
            <p:nvPr/>
          </p:nvSpPr>
          <p:spPr>
            <a:xfrm>
              <a:off x="1223" y="1241"/>
              <a:ext cx="0" cy="703"/>
            </a:xfrm>
            <a:prstGeom prst="line">
              <a:avLst/>
            </a:prstGeom>
            <a:ln w="9525" cap="flat" cmpd="sng">
              <a:solidFill>
                <a:schemeClr val="tx1"/>
              </a:solidFill>
              <a:prstDash val="solid"/>
              <a:headEnd type="none" w="med" len="med"/>
              <a:tailEnd type="none" w="med" len="med"/>
            </a:ln>
          </p:spPr>
        </p:sp>
        <p:grpSp>
          <p:nvGrpSpPr>
            <p:cNvPr id="13381" name="Group 88"/>
            <p:cNvGrpSpPr/>
            <p:nvPr/>
          </p:nvGrpSpPr>
          <p:grpSpPr>
            <a:xfrm>
              <a:off x="2568" y="1896"/>
              <a:ext cx="528" cy="288"/>
              <a:chOff x="4032" y="2880"/>
              <a:chExt cx="672" cy="288"/>
            </a:xfrm>
          </p:grpSpPr>
          <p:sp>
            <p:nvSpPr>
              <p:cNvPr id="13617" name="Rectangle 89"/>
              <p:cNvSpPr/>
              <p:nvPr/>
            </p:nvSpPr>
            <p:spPr>
              <a:xfrm>
                <a:off x="4032" y="2906"/>
                <a:ext cx="672" cy="214"/>
              </a:xfrm>
              <a:prstGeom prst="rect">
                <a:avLst/>
              </a:prstGeom>
              <a:solidFill>
                <a:srgbClr val="99CCFF"/>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618" name="Text Box 90"/>
              <p:cNvSpPr txBox="1"/>
              <p:nvPr/>
            </p:nvSpPr>
            <p:spPr>
              <a:xfrm>
                <a:off x="4128" y="2976"/>
                <a:ext cx="192" cy="192"/>
              </a:xfrm>
              <a:prstGeom prst="rect">
                <a:avLst/>
              </a:prstGeom>
              <a:noFill/>
              <a:ln w="9525">
                <a:noFill/>
              </a:ln>
            </p:spPr>
            <p:txBody>
              <a:bodyPr>
                <a:spAutoFit/>
              </a:bodyPr>
              <a:lstStyle/>
              <a:p>
                <a:pPr>
                  <a:spcBef>
                    <a:spcPct val="50000"/>
                  </a:spcBef>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13619" name="Text Box 91"/>
              <p:cNvSpPr txBox="1"/>
              <p:nvPr/>
            </p:nvSpPr>
            <p:spPr>
              <a:xfrm>
                <a:off x="4512" y="2976"/>
                <a:ext cx="192" cy="192"/>
              </a:xfrm>
              <a:prstGeom prst="rect">
                <a:avLst/>
              </a:prstGeom>
              <a:noFill/>
              <a:ln w="9525">
                <a:noFill/>
              </a:ln>
            </p:spPr>
            <p:txBody>
              <a:bodyPr>
                <a:spAutoFit/>
              </a:bodyPr>
              <a:lstStyle/>
              <a:p>
                <a:pPr>
                  <a:spcBef>
                    <a:spcPct val="50000"/>
                  </a:spcBef>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13620" name="Line 92"/>
              <p:cNvSpPr/>
              <p:nvPr/>
            </p:nvSpPr>
            <p:spPr>
              <a:xfrm>
                <a:off x="4032" y="3024"/>
                <a:ext cx="672" cy="0"/>
              </a:xfrm>
              <a:prstGeom prst="line">
                <a:avLst/>
              </a:prstGeom>
              <a:ln w="9525" cap="flat" cmpd="sng">
                <a:solidFill>
                  <a:schemeClr val="tx1"/>
                </a:solidFill>
                <a:prstDash val="solid"/>
                <a:headEnd type="none" w="med" len="med"/>
                <a:tailEnd type="none" w="med" len="med"/>
              </a:ln>
            </p:spPr>
          </p:sp>
          <p:sp>
            <p:nvSpPr>
              <p:cNvPr id="13621" name="Line 93"/>
              <p:cNvSpPr/>
              <p:nvPr/>
            </p:nvSpPr>
            <p:spPr>
              <a:xfrm>
                <a:off x="4416" y="3024"/>
                <a:ext cx="0" cy="96"/>
              </a:xfrm>
              <a:prstGeom prst="line">
                <a:avLst/>
              </a:prstGeom>
              <a:ln w="9525" cap="flat" cmpd="sng">
                <a:solidFill>
                  <a:schemeClr val="tx1"/>
                </a:solidFill>
                <a:prstDash val="solid"/>
                <a:headEnd type="none" w="med" len="med"/>
                <a:tailEnd type="none" w="med" len="med"/>
              </a:ln>
            </p:spPr>
          </p:sp>
          <p:sp>
            <p:nvSpPr>
              <p:cNvPr id="13622" name="Text Box 94"/>
              <p:cNvSpPr txBox="1"/>
              <p:nvPr/>
            </p:nvSpPr>
            <p:spPr>
              <a:xfrm>
                <a:off x="4176" y="2880"/>
                <a:ext cx="287" cy="173"/>
              </a:xfrm>
              <a:prstGeom prst="rect">
                <a:avLst/>
              </a:prstGeom>
              <a:noFill/>
              <a:ln w="9525">
                <a:noFill/>
              </a:ln>
            </p:spPr>
            <p:txBody>
              <a:bodyPr>
                <a:spAutoFit/>
              </a:bodyPr>
              <a:lstStyle/>
              <a:p>
                <a:pPr>
                  <a:spcBef>
                    <a:spcPct val="50000"/>
                  </a:spcBef>
                </a:pPr>
                <a:r>
                  <a:rPr lang="en-US" altLang="zh-CN" sz="1200" dirty="0">
                    <a:latin typeface="Times New Roman" panose="02020603050405020304" pitchFamily="18" charset="0"/>
                    <a:sym typeface="Symbol" panose="05050102010706020507" pitchFamily="18" charset="2"/>
                  </a:rPr>
                  <a:t>1</a:t>
                </a:r>
                <a:endParaRPr lang="en-US" altLang="zh-CN" sz="1400" dirty="0">
                  <a:latin typeface="Times New Roman" panose="02020603050405020304" pitchFamily="18" charset="0"/>
                  <a:sym typeface="Symbol" panose="05050102010706020507" pitchFamily="18" charset="2"/>
                </a:endParaRPr>
              </a:p>
            </p:txBody>
          </p:sp>
        </p:grpSp>
        <p:grpSp>
          <p:nvGrpSpPr>
            <p:cNvPr id="13382" name="Group 95"/>
            <p:cNvGrpSpPr/>
            <p:nvPr/>
          </p:nvGrpSpPr>
          <p:grpSpPr>
            <a:xfrm>
              <a:off x="2254" y="1944"/>
              <a:ext cx="240" cy="254"/>
              <a:chOff x="1056" y="1849"/>
              <a:chExt cx="240" cy="254"/>
            </a:xfrm>
          </p:grpSpPr>
          <p:sp>
            <p:nvSpPr>
              <p:cNvPr id="13614" name="Rectangle 96"/>
              <p:cNvSpPr/>
              <p:nvPr/>
            </p:nvSpPr>
            <p:spPr>
              <a:xfrm>
                <a:off x="1056" y="1895"/>
                <a:ext cx="240" cy="143"/>
              </a:xfrm>
              <a:prstGeom prst="rect">
                <a:avLst/>
              </a:prstGeom>
              <a:solidFill>
                <a:srgbClr val="00FFFF"/>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615" name="Text Box 97"/>
              <p:cNvSpPr txBox="1"/>
              <p:nvPr/>
            </p:nvSpPr>
            <p:spPr>
              <a:xfrm>
                <a:off x="1056" y="1872"/>
                <a:ext cx="172" cy="231"/>
              </a:xfrm>
              <a:prstGeom prst="rect">
                <a:avLst/>
              </a:prstGeom>
              <a:noFill/>
              <a:ln w="9525">
                <a:noFill/>
              </a:ln>
            </p:spPr>
            <p:txBody>
              <a:bodyPr>
                <a:spAutoFit/>
              </a:bodyPr>
              <a:lstStyle/>
              <a:p>
                <a:pPr>
                  <a:spcBef>
                    <a:spcPct val="50000"/>
                  </a:spcBef>
                </a:pPr>
                <a:r>
                  <a:rPr lang="en-US" altLang="zh-CN" sz="1800" dirty="0">
                    <a:latin typeface="Times New Roman" panose="02020603050405020304" pitchFamily="18" charset="0"/>
                  </a:rPr>
                  <a:t>&amp;</a:t>
                </a:r>
                <a:endParaRPr lang="en-US" altLang="zh-CN" sz="2400" dirty="0">
                  <a:latin typeface="Times New Roman" panose="02020603050405020304" pitchFamily="18" charset="0"/>
                </a:endParaRPr>
              </a:p>
            </p:txBody>
          </p:sp>
          <p:sp>
            <p:nvSpPr>
              <p:cNvPr id="13616" name="Oval 98"/>
              <p:cNvSpPr/>
              <p:nvPr/>
            </p:nvSpPr>
            <p:spPr>
              <a:xfrm>
                <a:off x="1148" y="1849"/>
                <a:ext cx="56" cy="46"/>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pSp>
        <p:sp>
          <p:nvSpPr>
            <p:cNvPr id="13383" name="Line 99"/>
            <p:cNvSpPr/>
            <p:nvPr/>
          </p:nvSpPr>
          <p:spPr>
            <a:xfrm>
              <a:off x="2376" y="1241"/>
              <a:ext cx="0" cy="703"/>
            </a:xfrm>
            <a:prstGeom prst="line">
              <a:avLst/>
            </a:prstGeom>
            <a:ln w="9525" cap="flat" cmpd="sng">
              <a:solidFill>
                <a:schemeClr val="tx1"/>
              </a:solidFill>
              <a:prstDash val="solid"/>
              <a:headEnd type="none" w="med" len="med"/>
              <a:tailEnd type="none" w="med" len="med"/>
            </a:ln>
          </p:spPr>
        </p:sp>
        <p:grpSp>
          <p:nvGrpSpPr>
            <p:cNvPr id="13384" name="Group 100"/>
            <p:cNvGrpSpPr/>
            <p:nvPr/>
          </p:nvGrpSpPr>
          <p:grpSpPr>
            <a:xfrm>
              <a:off x="3406" y="1944"/>
              <a:ext cx="240" cy="254"/>
              <a:chOff x="1056" y="1849"/>
              <a:chExt cx="240" cy="254"/>
            </a:xfrm>
          </p:grpSpPr>
          <p:sp>
            <p:nvSpPr>
              <p:cNvPr id="13611" name="Rectangle 101"/>
              <p:cNvSpPr/>
              <p:nvPr/>
            </p:nvSpPr>
            <p:spPr>
              <a:xfrm>
                <a:off x="1056" y="1895"/>
                <a:ext cx="240" cy="143"/>
              </a:xfrm>
              <a:prstGeom prst="rect">
                <a:avLst/>
              </a:prstGeom>
              <a:solidFill>
                <a:srgbClr val="00FFFF"/>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612" name="Text Box 102"/>
              <p:cNvSpPr txBox="1"/>
              <p:nvPr/>
            </p:nvSpPr>
            <p:spPr>
              <a:xfrm>
                <a:off x="1056" y="1872"/>
                <a:ext cx="172" cy="231"/>
              </a:xfrm>
              <a:prstGeom prst="rect">
                <a:avLst/>
              </a:prstGeom>
              <a:noFill/>
              <a:ln w="9525">
                <a:noFill/>
              </a:ln>
            </p:spPr>
            <p:txBody>
              <a:bodyPr>
                <a:spAutoFit/>
              </a:bodyPr>
              <a:lstStyle/>
              <a:p>
                <a:pPr>
                  <a:spcBef>
                    <a:spcPct val="50000"/>
                  </a:spcBef>
                </a:pPr>
                <a:r>
                  <a:rPr lang="en-US" altLang="zh-CN" sz="1800" dirty="0">
                    <a:latin typeface="Times New Roman" panose="02020603050405020304" pitchFamily="18" charset="0"/>
                  </a:rPr>
                  <a:t>&amp;</a:t>
                </a:r>
                <a:endParaRPr lang="en-US" altLang="zh-CN" sz="2400" dirty="0">
                  <a:latin typeface="Times New Roman" panose="02020603050405020304" pitchFamily="18" charset="0"/>
                </a:endParaRPr>
              </a:p>
            </p:txBody>
          </p:sp>
          <p:sp>
            <p:nvSpPr>
              <p:cNvPr id="13613" name="Oval 103"/>
              <p:cNvSpPr/>
              <p:nvPr/>
            </p:nvSpPr>
            <p:spPr>
              <a:xfrm>
                <a:off x="1148" y="1849"/>
                <a:ext cx="56" cy="46"/>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pSp>
        <p:sp>
          <p:nvSpPr>
            <p:cNvPr id="13385" name="Line 104"/>
            <p:cNvSpPr/>
            <p:nvPr/>
          </p:nvSpPr>
          <p:spPr>
            <a:xfrm>
              <a:off x="3516" y="1241"/>
              <a:ext cx="0" cy="703"/>
            </a:xfrm>
            <a:prstGeom prst="line">
              <a:avLst/>
            </a:prstGeom>
            <a:ln w="9525" cap="flat" cmpd="sng">
              <a:solidFill>
                <a:schemeClr val="tx1"/>
              </a:solidFill>
              <a:prstDash val="solid"/>
              <a:headEnd type="none" w="med" len="med"/>
              <a:tailEnd type="none" w="med" len="med"/>
            </a:ln>
          </p:spPr>
        </p:sp>
        <p:grpSp>
          <p:nvGrpSpPr>
            <p:cNvPr id="13386" name="Group 105"/>
            <p:cNvGrpSpPr/>
            <p:nvPr/>
          </p:nvGrpSpPr>
          <p:grpSpPr>
            <a:xfrm>
              <a:off x="4558" y="1944"/>
              <a:ext cx="240" cy="254"/>
              <a:chOff x="1056" y="1849"/>
              <a:chExt cx="240" cy="254"/>
            </a:xfrm>
          </p:grpSpPr>
          <p:sp>
            <p:nvSpPr>
              <p:cNvPr id="13608" name="Rectangle 106"/>
              <p:cNvSpPr/>
              <p:nvPr/>
            </p:nvSpPr>
            <p:spPr>
              <a:xfrm>
                <a:off x="1056" y="1895"/>
                <a:ext cx="240" cy="143"/>
              </a:xfrm>
              <a:prstGeom prst="rect">
                <a:avLst/>
              </a:prstGeom>
              <a:solidFill>
                <a:srgbClr val="00FFFF"/>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609" name="Text Box 107"/>
              <p:cNvSpPr txBox="1"/>
              <p:nvPr/>
            </p:nvSpPr>
            <p:spPr>
              <a:xfrm>
                <a:off x="1056" y="1872"/>
                <a:ext cx="172" cy="231"/>
              </a:xfrm>
              <a:prstGeom prst="rect">
                <a:avLst/>
              </a:prstGeom>
              <a:noFill/>
              <a:ln w="9525">
                <a:noFill/>
              </a:ln>
            </p:spPr>
            <p:txBody>
              <a:bodyPr>
                <a:spAutoFit/>
              </a:bodyPr>
              <a:lstStyle/>
              <a:p>
                <a:pPr>
                  <a:spcBef>
                    <a:spcPct val="50000"/>
                  </a:spcBef>
                </a:pPr>
                <a:r>
                  <a:rPr lang="en-US" altLang="zh-CN" sz="1800" dirty="0">
                    <a:latin typeface="Times New Roman" panose="02020603050405020304" pitchFamily="18" charset="0"/>
                  </a:rPr>
                  <a:t>&amp;</a:t>
                </a:r>
                <a:endParaRPr lang="en-US" altLang="zh-CN" sz="2400" dirty="0">
                  <a:latin typeface="Times New Roman" panose="02020603050405020304" pitchFamily="18" charset="0"/>
                </a:endParaRPr>
              </a:p>
            </p:txBody>
          </p:sp>
          <p:sp>
            <p:nvSpPr>
              <p:cNvPr id="13610" name="Oval 108"/>
              <p:cNvSpPr/>
              <p:nvPr/>
            </p:nvSpPr>
            <p:spPr>
              <a:xfrm>
                <a:off x="1148" y="1849"/>
                <a:ext cx="56" cy="46"/>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pSp>
        <p:sp>
          <p:nvSpPr>
            <p:cNvPr id="13387" name="Line 109"/>
            <p:cNvSpPr/>
            <p:nvPr/>
          </p:nvSpPr>
          <p:spPr>
            <a:xfrm>
              <a:off x="4680" y="1241"/>
              <a:ext cx="0" cy="703"/>
            </a:xfrm>
            <a:prstGeom prst="line">
              <a:avLst/>
            </a:prstGeom>
            <a:ln w="9525" cap="flat" cmpd="sng">
              <a:solidFill>
                <a:schemeClr val="tx1"/>
              </a:solidFill>
              <a:prstDash val="solid"/>
              <a:headEnd type="none" w="med" len="med"/>
              <a:tailEnd type="none" w="med" len="med"/>
            </a:ln>
          </p:spPr>
        </p:sp>
        <p:sp>
          <p:nvSpPr>
            <p:cNvPr id="13388" name="Line 110"/>
            <p:cNvSpPr/>
            <p:nvPr/>
          </p:nvSpPr>
          <p:spPr>
            <a:xfrm flipH="1">
              <a:off x="168" y="1320"/>
              <a:ext cx="4992" cy="0"/>
            </a:xfrm>
            <a:prstGeom prst="line">
              <a:avLst/>
            </a:prstGeom>
            <a:ln w="9525" cap="flat" cmpd="sng">
              <a:solidFill>
                <a:schemeClr val="tx1"/>
              </a:solidFill>
              <a:prstDash val="solid"/>
              <a:headEnd type="none" w="med" len="med"/>
              <a:tailEnd type="none" w="med" len="med"/>
            </a:ln>
          </p:spPr>
        </p:sp>
        <p:sp>
          <p:nvSpPr>
            <p:cNvPr id="13389" name="Line 111"/>
            <p:cNvSpPr/>
            <p:nvPr/>
          </p:nvSpPr>
          <p:spPr>
            <a:xfrm>
              <a:off x="1704" y="1224"/>
              <a:ext cx="0" cy="84"/>
            </a:xfrm>
            <a:prstGeom prst="line">
              <a:avLst/>
            </a:prstGeom>
            <a:ln w="9525" cap="flat" cmpd="sng">
              <a:solidFill>
                <a:schemeClr val="tx1"/>
              </a:solidFill>
              <a:prstDash val="solid"/>
              <a:headEnd type="none" w="med" len="med"/>
              <a:tailEnd type="none" w="med" len="med"/>
            </a:ln>
          </p:spPr>
        </p:sp>
        <p:sp>
          <p:nvSpPr>
            <p:cNvPr id="13390" name="Line 112"/>
            <p:cNvSpPr/>
            <p:nvPr/>
          </p:nvSpPr>
          <p:spPr>
            <a:xfrm flipH="1">
              <a:off x="1524" y="1236"/>
              <a:ext cx="0" cy="660"/>
            </a:xfrm>
            <a:prstGeom prst="line">
              <a:avLst/>
            </a:prstGeom>
            <a:ln w="9525" cap="flat" cmpd="sng">
              <a:solidFill>
                <a:schemeClr val="tx1"/>
              </a:solidFill>
              <a:prstDash val="solid"/>
              <a:headEnd type="none" w="med" len="med"/>
              <a:tailEnd type="none" w="med" len="med"/>
            </a:ln>
          </p:spPr>
        </p:sp>
        <p:sp>
          <p:nvSpPr>
            <p:cNvPr id="13391" name="Rectangle 113"/>
            <p:cNvSpPr/>
            <p:nvPr/>
          </p:nvSpPr>
          <p:spPr>
            <a:xfrm flipV="1">
              <a:off x="1416" y="1891"/>
              <a:ext cx="336" cy="222"/>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92" name="Rectangle 114"/>
            <p:cNvSpPr/>
            <p:nvPr/>
          </p:nvSpPr>
          <p:spPr>
            <a:xfrm flipV="1">
              <a:off x="1416" y="1891"/>
              <a:ext cx="336" cy="222"/>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93" name="Text Box 115"/>
            <p:cNvSpPr txBox="1"/>
            <p:nvPr/>
          </p:nvSpPr>
          <p:spPr>
            <a:xfrm>
              <a:off x="1404" y="1894"/>
              <a:ext cx="336" cy="231"/>
            </a:xfrm>
            <a:prstGeom prst="rect">
              <a:avLst/>
            </a:prstGeom>
            <a:noFill/>
            <a:ln w="9525">
              <a:noFill/>
            </a:ln>
          </p:spPr>
          <p:txBody>
            <a:bodyPr>
              <a:spAutoFit/>
            </a:bodyPr>
            <a:lstStyle/>
            <a:p>
              <a:pPr algn="ctr">
                <a:spcBef>
                  <a:spcPct val="50000"/>
                </a:spcBef>
              </a:pPr>
              <a:r>
                <a:rPr lang="en-US" altLang="zh-CN" sz="1800" dirty="0">
                  <a:latin typeface="Arial" panose="020B0604020202020204" pitchFamily="34" charset="0"/>
                  <a:sym typeface="Symbol" panose="05050102010706020507" pitchFamily="18" charset="2"/>
                </a:rPr>
                <a:t>1</a:t>
              </a:r>
            </a:p>
          </p:txBody>
        </p:sp>
        <p:sp>
          <p:nvSpPr>
            <p:cNvPr id="13394" name="Line 116"/>
            <p:cNvSpPr/>
            <p:nvPr/>
          </p:nvSpPr>
          <p:spPr>
            <a:xfrm>
              <a:off x="1800" y="1752"/>
              <a:ext cx="0" cy="96"/>
            </a:xfrm>
            <a:prstGeom prst="line">
              <a:avLst/>
            </a:prstGeom>
            <a:ln w="9525" cap="flat" cmpd="sng">
              <a:solidFill>
                <a:schemeClr val="tx1"/>
              </a:solidFill>
              <a:prstDash val="solid"/>
              <a:headEnd type="none" w="med" len="med"/>
              <a:tailEnd type="none" w="med" len="med"/>
            </a:ln>
          </p:spPr>
        </p:sp>
        <p:sp>
          <p:nvSpPr>
            <p:cNvPr id="13395" name="Line 117"/>
            <p:cNvSpPr/>
            <p:nvPr/>
          </p:nvSpPr>
          <p:spPr>
            <a:xfrm flipH="1">
              <a:off x="1222" y="1848"/>
              <a:ext cx="578" cy="0"/>
            </a:xfrm>
            <a:prstGeom prst="line">
              <a:avLst/>
            </a:prstGeom>
            <a:ln w="9525" cap="flat" cmpd="sng">
              <a:solidFill>
                <a:schemeClr val="tx1"/>
              </a:solidFill>
              <a:prstDash val="solid"/>
              <a:headEnd type="none" w="med" len="med"/>
              <a:tailEnd type="none" w="med" len="med"/>
            </a:ln>
          </p:spPr>
        </p:sp>
        <p:sp>
          <p:nvSpPr>
            <p:cNvPr id="13396" name="Oval 118"/>
            <p:cNvSpPr/>
            <p:nvPr/>
          </p:nvSpPr>
          <p:spPr>
            <a:xfrm>
              <a:off x="1200" y="182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397" name="Line 119"/>
            <p:cNvSpPr/>
            <p:nvPr/>
          </p:nvSpPr>
          <p:spPr>
            <a:xfrm>
              <a:off x="3000" y="1752"/>
              <a:ext cx="0" cy="96"/>
            </a:xfrm>
            <a:prstGeom prst="line">
              <a:avLst/>
            </a:prstGeom>
            <a:ln w="9525" cap="flat" cmpd="sng">
              <a:solidFill>
                <a:schemeClr val="tx1"/>
              </a:solidFill>
              <a:prstDash val="solid"/>
              <a:headEnd type="none" w="med" len="med"/>
              <a:tailEnd type="none" w="med" len="med"/>
            </a:ln>
          </p:spPr>
        </p:sp>
        <p:sp>
          <p:nvSpPr>
            <p:cNvPr id="13398" name="Line 120"/>
            <p:cNvSpPr/>
            <p:nvPr/>
          </p:nvSpPr>
          <p:spPr>
            <a:xfrm flipH="1">
              <a:off x="2399" y="1848"/>
              <a:ext cx="601" cy="0"/>
            </a:xfrm>
            <a:prstGeom prst="line">
              <a:avLst/>
            </a:prstGeom>
            <a:ln w="9525" cap="flat" cmpd="sng">
              <a:solidFill>
                <a:schemeClr val="tx1"/>
              </a:solidFill>
              <a:prstDash val="solid"/>
              <a:headEnd type="none" w="med" len="med"/>
              <a:tailEnd type="none" w="med" len="med"/>
            </a:ln>
          </p:spPr>
        </p:sp>
        <p:sp>
          <p:nvSpPr>
            <p:cNvPr id="13399" name="Oval 121"/>
            <p:cNvSpPr/>
            <p:nvPr/>
          </p:nvSpPr>
          <p:spPr>
            <a:xfrm>
              <a:off x="2352" y="182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400" name="Line 122"/>
            <p:cNvSpPr/>
            <p:nvPr/>
          </p:nvSpPr>
          <p:spPr>
            <a:xfrm>
              <a:off x="4129" y="1752"/>
              <a:ext cx="0" cy="96"/>
            </a:xfrm>
            <a:prstGeom prst="line">
              <a:avLst/>
            </a:prstGeom>
            <a:ln w="9525" cap="flat" cmpd="sng">
              <a:solidFill>
                <a:schemeClr val="tx1"/>
              </a:solidFill>
              <a:prstDash val="solid"/>
              <a:headEnd type="none" w="med" len="med"/>
              <a:tailEnd type="none" w="med" len="med"/>
            </a:ln>
          </p:spPr>
        </p:sp>
        <p:sp>
          <p:nvSpPr>
            <p:cNvPr id="13401" name="Line 123"/>
            <p:cNvSpPr/>
            <p:nvPr/>
          </p:nvSpPr>
          <p:spPr>
            <a:xfrm flipH="1">
              <a:off x="3528" y="1848"/>
              <a:ext cx="601" cy="0"/>
            </a:xfrm>
            <a:prstGeom prst="line">
              <a:avLst/>
            </a:prstGeom>
            <a:ln w="9525" cap="flat" cmpd="sng">
              <a:solidFill>
                <a:schemeClr val="tx1"/>
              </a:solidFill>
              <a:prstDash val="solid"/>
              <a:headEnd type="none" w="med" len="med"/>
              <a:tailEnd type="none" w="med" len="med"/>
            </a:ln>
          </p:spPr>
        </p:sp>
        <p:sp>
          <p:nvSpPr>
            <p:cNvPr id="13402" name="Oval 124"/>
            <p:cNvSpPr/>
            <p:nvPr/>
          </p:nvSpPr>
          <p:spPr>
            <a:xfrm>
              <a:off x="3505" y="182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403" name="Line 125"/>
            <p:cNvSpPr/>
            <p:nvPr/>
          </p:nvSpPr>
          <p:spPr>
            <a:xfrm>
              <a:off x="5281" y="1752"/>
              <a:ext cx="0" cy="96"/>
            </a:xfrm>
            <a:prstGeom prst="line">
              <a:avLst/>
            </a:prstGeom>
            <a:ln w="9525" cap="flat" cmpd="sng">
              <a:solidFill>
                <a:schemeClr val="tx1"/>
              </a:solidFill>
              <a:prstDash val="solid"/>
              <a:headEnd type="none" w="med" len="med"/>
              <a:tailEnd type="none" w="med" len="med"/>
            </a:ln>
          </p:spPr>
        </p:sp>
        <p:sp>
          <p:nvSpPr>
            <p:cNvPr id="13404" name="Line 126"/>
            <p:cNvSpPr/>
            <p:nvPr/>
          </p:nvSpPr>
          <p:spPr>
            <a:xfrm flipH="1">
              <a:off x="4680" y="1848"/>
              <a:ext cx="601" cy="0"/>
            </a:xfrm>
            <a:prstGeom prst="line">
              <a:avLst/>
            </a:prstGeom>
            <a:ln w="9525" cap="flat" cmpd="sng">
              <a:solidFill>
                <a:schemeClr val="tx1"/>
              </a:solidFill>
              <a:prstDash val="solid"/>
              <a:headEnd type="none" w="med" len="med"/>
              <a:tailEnd type="none" w="med" len="med"/>
            </a:ln>
          </p:spPr>
        </p:sp>
        <p:sp>
          <p:nvSpPr>
            <p:cNvPr id="13405" name="Oval 127"/>
            <p:cNvSpPr/>
            <p:nvPr/>
          </p:nvSpPr>
          <p:spPr>
            <a:xfrm>
              <a:off x="4655" y="182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406" name="Line 128"/>
            <p:cNvSpPr/>
            <p:nvPr/>
          </p:nvSpPr>
          <p:spPr>
            <a:xfrm>
              <a:off x="4020" y="1248"/>
              <a:ext cx="0" cy="84"/>
            </a:xfrm>
            <a:prstGeom prst="line">
              <a:avLst/>
            </a:prstGeom>
            <a:ln w="9525" cap="flat" cmpd="sng">
              <a:solidFill>
                <a:schemeClr val="tx1"/>
              </a:solidFill>
              <a:prstDash val="solid"/>
              <a:headEnd type="none" w="med" len="med"/>
              <a:tailEnd type="none" w="med" len="med"/>
            </a:ln>
          </p:spPr>
        </p:sp>
        <p:sp>
          <p:nvSpPr>
            <p:cNvPr id="13407" name="Line 129"/>
            <p:cNvSpPr/>
            <p:nvPr/>
          </p:nvSpPr>
          <p:spPr>
            <a:xfrm>
              <a:off x="5160" y="1224"/>
              <a:ext cx="0" cy="108"/>
            </a:xfrm>
            <a:prstGeom prst="line">
              <a:avLst/>
            </a:prstGeom>
            <a:ln w="9525" cap="flat" cmpd="sng">
              <a:solidFill>
                <a:schemeClr val="tx1"/>
              </a:solidFill>
              <a:prstDash val="solid"/>
              <a:headEnd type="none" w="med" len="med"/>
              <a:tailEnd type="none" w="med" len="med"/>
            </a:ln>
          </p:spPr>
        </p:sp>
        <p:sp>
          <p:nvSpPr>
            <p:cNvPr id="13408" name="Line 130"/>
            <p:cNvSpPr/>
            <p:nvPr/>
          </p:nvSpPr>
          <p:spPr>
            <a:xfrm>
              <a:off x="2904" y="1248"/>
              <a:ext cx="0" cy="84"/>
            </a:xfrm>
            <a:prstGeom prst="line">
              <a:avLst/>
            </a:prstGeom>
            <a:ln w="9525" cap="flat" cmpd="sng">
              <a:solidFill>
                <a:schemeClr val="tx1"/>
              </a:solidFill>
              <a:prstDash val="solid"/>
              <a:headEnd type="none" w="med" len="med"/>
              <a:tailEnd type="none" w="med" len="med"/>
            </a:ln>
          </p:spPr>
        </p:sp>
        <p:sp>
          <p:nvSpPr>
            <p:cNvPr id="13409" name="Line 131"/>
            <p:cNvSpPr/>
            <p:nvPr/>
          </p:nvSpPr>
          <p:spPr>
            <a:xfrm>
              <a:off x="2688" y="1224"/>
              <a:ext cx="0" cy="696"/>
            </a:xfrm>
            <a:prstGeom prst="line">
              <a:avLst/>
            </a:prstGeom>
            <a:ln w="9525" cap="flat" cmpd="sng">
              <a:solidFill>
                <a:schemeClr val="tx1"/>
              </a:solidFill>
              <a:prstDash val="solid"/>
              <a:headEnd type="none" w="med" len="med"/>
              <a:tailEnd type="none" w="med" len="med"/>
            </a:ln>
          </p:spPr>
        </p:sp>
        <p:sp>
          <p:nvSpPr>
            <p:cNvPr id="13410" name="Line 132"/>
            <p:cNvSpPr/>
            <p:nvPr/>
          </p:nvSpPr>
          <p:spPr>
            <a:xfrm>
              <a:off x="3828" y="1248"/>
              <a:ext cx="0" cy="672"/>
            </a:xfrm>
            <a:prstGeom prst="line">
              <a:avLst/>
            </a:prstGeom>
            <a:ln w="9525" cap="flat" cmpd="sng">
              <a:solidFill>
                <a:schemeClr val="tx1"/>
              </a:solidFill>
              <a:prstDash val="solid"/>
              <a:headEnd type="none" w="med" len="med"/>
              <a:tailEnd type="none" w="med" len="med"/>
            </a:ln>
          </p:spPr>
        </p:sp>
        <p:grpSp>
          <p:nvGrpSpPr>
            <p:cNvPr id="13411" name="Group 133"/>
            <p:cNvGrpSpPr/>
            <p:nvPr/>
          </p:nvGrpSpPr>
          <p:grpSpPr>
            <a:xfrm>
              <a:off x="3684" y="1896"/>
              <a:ext cx="576" cy="288"/>
              <a:chOff x="4032" y="2880"/>
              <a:chExt cx="672" cy="288"/>
            </a:xfrm>
          </p:grpSpPr>
          <p:sp>
            <p:nvSpPr>
              <p:cNvPr id="13602" name="Rectangle 134"/>
              <p:cNvSpPr/>
              <p:nvPr/>
            </p:nvSpPr>
            <p:spPr>
              <a:xfrm>
                <a:off x="4032" y="2906"/>
                <a:ext cx="672" cy="214"/>
              </a:xfrm>
              <a:prstGeom prst="rect">
                <a:avLst/>
              </a:prstGeom>
              <a:solidFill>
                <a:srgbClr val="99CCFF"/>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603" name="Text Box 135"/>
              <p:cNvSpPr txBox="1"/>
              <p:nvPr/>
            </p:nvSpPr>
            <p:spPr>
              <a:xfrm>
                <a:off x="4128" y="2976"/>
                <a:ext cx="192" cy="192"/>
              </a:xfrm>
              <a:prstGeom prst="rect">
                <a:avLst/>
              </a:prstGeom>
              <a:noFill/>
              <a:ln w="9525">
                <a:noFill/>
              </a:ln>
            </p:spPr>
            <p:txBody>
              <a:bodyPr>
                <a:spAutoFit/>
              </a:bodyPr>
              <a:lstStyle/>
              <a:p>
                <a:pPr>
                  <a:spcBef>
                    <a:spcPct val="50000"/>
                  </a:spcBef>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13604" name="Text Box 136"/>
              <p:cNvSpPr txBox="1"/>
              <p:nvPr/>
            </p:nvSpPr>
            <p:spPr>
              <a:xfrm>
                <a:off x="4512" y="2976"/>
                <a:ext cx="192" cy="192"/>
              </a:xfrm>
              <a:prstGeom prst="rect">
                <a:avLst/>
              </a:prstGeom>
              <a:noFill/>
              <a:ln w="9525">
                <a:noFill/>
              </a:ln>
            </p:spPr>
            <p:txBody>
              <a:bodyPr>
                <a:spAutoFit/>
              </a:bodyPr>
              <a:lstStyle/>
              <a:p>
                <a:pPr>
                  <a:spcBef>
                    <a:spcPct val="50000"/>
                  </a:spcBef>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13605" name="Line 137"/>
              <p:cNvSpPr/>
              <p:nvPr/>
            </p:nvSpPr>
            <p:spPr>
              <a:xfrm>
                <a:off x="4032" y="3024"/>
                <a:ext cx="672" cy="0"/>
              </a:xfrm>
              <a:prstGeom prst="line">
                <a:avLst/>
              </a:prstGeom>
              <a:ln w="9525" cap="flat" cmpd="sng">
                <a:solidFill>
                  <a:schemeClr val="tx1"/>
                </a:solidFill>
                <a:prstDash val="solid"/>
                <a:headEnd type="none" w="med" len="med"/>
                <a:tailEnd type="none" w="med" len="med"/>
              </a:ln>
            </p:spPr>
          </p:sp>
          <p:sp>
            <p:nvSpPr>
              <p:cNvPr id="13606" name="Line 138"/>
              <p:cNvSpPr/>
              <p:nvPr/>
            </p:nvSpPr>
            <p:spPr>
              <a:xfrm>
                <a:off x="4416" y="3024"/>
                <a:ext cx="0" cy="96"/>
              </a:xfrm>
              <a:prstGeom prst="line">
                <a:avLst/>
              </a:prstGeom>
              <a:ln w="9525" cap="flat" cmpd="sng">
                <a:solidFill>
                  <a:schemeClr val="tx1"/>
                </a:solidFill>
                <a:prstDash val="solid"/>
                <a:headEnd type="none" w="med" len="med"/>
                <a:tailEnd type="none" w="med" len="med"/>
              </a:ln>
            </p:spPr>
          </p:sp>
          <p:sp>
            <p:nvSpPr>
              <p:cNvPr id="13607" name="Text Box 139"/>
              <p:cNvSpPr txBox="1"/>
              <p:nvPr/>
            </p:nvSpPr>
            <p:spPr>
              <a:xfrm>
                <a:off x="4176" y="2880"/>
                <a:ext cx="287" cy="173"/>
              </a:xfrm>
              <a:prstGeom prst="rect">
                <a:avLst/>
              </a:prstGeom>
              <a:noFill/>
              <a:ln w="9525">
                <a:noFill/>
              </a:ln>
            </p:spPr>
            <p:txBody>
              <a:bodyPr>
                <a:spAutoFit/>
              </a:bodyPr>
              <a:lstStyle/>
              <a:p>
                <a:pPr>
                  <a:spcBef>
                    <a:spcPct val="50000"/>
                  </a:spcBef>
                </a:pPr>
                <a:r>
                  <a:rPr lang="en-US" altLang="zh-CN" sz="1200" dirty="0">
                    <a:latin typeface="Times New Roman" panose="02020603050405020304" pitchFamily="18" charset="0"/>
                    <a:sym typeface="Symbol" panose="05050102010706020507" pitchFamily="18" charset="2"/>
                  </a:rPr>
                  <a:t>1</a:t>
                </a:r>
                <a:endParaRPr lang="en-US" altLang="zh-CN" sz="1400" dirty="0">
                  <a:latin typeface="Times New Roman" panose="02020603050405020304" pitchFamily="18" charset="0"/>
                  <a:sym typeface="Symbol" panose="05050102010706020507" pitchFamily="18" charset="2"/>
                </a:endParaRPr>
              </a:p>
            </p:txBody>
          </p:sp>
        </p:grpSp>
        <p:grpSp>
          <p:nvGrpSpPr>
            <p:cNvPr id="13412" name="Group 140"/>
            <p:cNvGrpSpPr/>
            <p:nvPr/>
          </p:nvGrpSpPr>
          <p:grpSpPr>
            <a:xfrm>
              <a:off x="4872" y="1896"/>
              <a:ext cx="480" cy="288"/>
              <a:chOff x="4032" y="2880"/>
              <a:chExt cx="672" cy="288"/>
            </a:xfrm>
          </p:grpSpPr>
          <p:sp>
            <p:nvSpPr>
              <p:cNvPr id="13596" name="Rectangle 141"/>
              <p:cNvSpPr/>
              <p:nvPr/>
            </p:nvSpPr>
            <p:spPr>
              <a:xfrm>
                <a:off x="4032" y="2906"/>
                <a:ext cx="672" cy="214"/>
              </a:xfrm>
              <a:prstGeom prst="rect">
                <a:avLst/>
              </a:prstGeom>
              <a:solidFill>
                <a:srgbClr val="99CCFF"/>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97" name="Text Box 142"/>
              <p:cNvSpPr txBox="1"/>
              <p:nvPr/>
            </p:nvSpPr>
            <p:spPr>
              <a:xfrm>
                <a:off x="4128" y="2976"/>
                <a:ext cx="192" cy="192"/>
              </a:xfrm>
              <a:prstGeom prst="rect">
                <a:avLst/>
              </a:prstGeom>
              <a:noFill/>
              <a:ln w="9525">
                <a:noFill/>
              </a:ln>
            </p:spPr>
            <p:txBody>
              <a:bodyPr>
                <a:spAutoFit/>
              </a:bodyPr>
              <a:lstStyle/>
              <a:p>
                <a:pPr>
                  <a:spcBef>
                    <a:spcPct val="50000"/>
                  </a:spcBef>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13598" name="Text Box 143"/>
              <p:cNvSpPr txBox="1"/>
              <p:nvPr/>
            </p:nvSpPr>
            <p:spPr>
              <a:xfrm>
                <a:off x="4512" y="2976"/>
                <a:ext cx="192" cy="192"/>
              </a:xfrm>
              <a:prstGeom prst="rect">
                <a:avLst/>
              </a:prstGeom>
              <a:noFill/>
              <a:ln w="9525">
                <a:noFill/>
              </a:ln>
            </p:spPr>
            <p:txBody>
              <a:bodyPr>
                <a:spAutoFit/>
              </a:bodyPr>
              <a:lstStyle/>
              <a:p>
                <a:pPr>
                  <a:spcBef>
                    <a:spcPct val="50000"/>
                  </a:spcBef>
                </a:pPr>
                <a:r>
                  <a:rPr lang="en-US" altLang="zh-CN" sz="1400" dirty="0">
                    <a:latin typeface="Times New Roman" panose="02020603050405020304" pitchFamily="18" charset="0"/>
                  </a:rPr>
                  <a:t>&amp;</a:t>
                </a:r>
                <a:endParaRPr lang="en-US" altLang="zh-CN" sz="1600" dirty="0">
                  <a:latin typeface="Times New Roman" panose="02020603050405020304" pitchFamily="18" charset="0"/>
                </a:endParaRPr>
              </a:p>
            </p:txBody>
          </p:sp>
          <p:sp>
            <p:nvSpPr>
              <p:cNvPr id="13599" name="Line 144"/>
              <p:cNvSpPr/>
              <p:nvPr/>
            </p:nvSpPr>
            <p:spPr>
              <a:xfrm>
                <a:off x="4032" y="3024"/>
                <a:ext cx="672" cy="0"/>
              </a:xfrm>
              <a:prstGeom prst="line">
                <a:avLst/>
              </a:prstGeom>
              <a:ln w="9525" cap="flat" cmpd="sng">
                <a:solidFill>
                  <a:schemeClr val="tx1"/>
                </a:solidFill>
                <a:prstDash val="solid"/>
                <a:headEnd type="none" w="med" len="med"/>
                <a:tailEnd type="none" w="med" len="med"/>
              </a:ln>
            </p:spPr>
          </p:sp>
          <p:sp>
            <p:nvSpPr>
              <p:cNvPr id="13600" name="Line 145"/>
              <p:cNvSpPr/>
              <p:nvPr/>
            </p:nvSpPr>
            <p:spPr>
              <a:xfrm>
                <a:off x="4416" y="3024"/>
                <a:ext cx="0" cy="96"/>
              </a:xfrm>
              <a:prstGeom prst="line">
                <a:avLst/>
              </a:prstGeom>
              <a:ln w="9525" cap="flat" cmpd="sng">
                <a:solidFill>
                  <a:schemeClr val="tx1"/>
                </a:solidFill>
                <a:prstDash val="solid"/>
                <a:headEnd type="none" w="med" len="med"/>
                <a:tailEnd type="none" w="med" len="med"/>
              </a:ln>
            </p:spPr>
          </p:sp>
          <p:sp>
            <p:nvSpPr>
              <p:cNvPr id="13601" name="Text Box 146"/>
              <p:cNvSpPr txBox="1"/>
              <p:nvPr/>
            </p:nvSpPr>
            <p:spPr>
              <a:xfrm>
                <a:off x="4176" y="2880"/>
                <a:ext cx="287" cy="154"/>
              </a:xfrm>
              <a:prstGeom prst="rect">
                <a:avLst/>
              </a:prstGeom>
              <a:noFill/>
              <a:ln w="9525">
                <a:noFill/>
              </a:ln>
            </p:spPr>
            <p:txBody>
              <a:bodyPr>
                <a:spAutoFit/>
              </a:bodyPr>
              <a:lstStyle/>
              <a:p>
                <a:pPr>
                  <a:spcBef>
                    <a:spcPct val="50000"/>
                  </a:spcBef>
                </a:pPr>
                <a:r>
                  <a:rPr lang="en-US" altLang="zh-CN" sz="1000" dirty="0">
                    <a:latin typeface="Times New Roman" panose="02020603050405020304" pitchFamily="18" charset="0"/>
                    <a:sym typeface="Symbol" panose="05050102010706020507" pitchFamily="18" charset="2"/>
                  </a:rPr>
                  <a:t>1</a:t>
                </a:r>
                <a:endParaRPr lang="en-US" altLang="zh-CN" sz="1400" dirty="0">
                  <a:latin typeface="Times New Roman" panose="02020603050405020304" pitchFamily="18" charset="0"/>
                  <a:sym typeface="Symbol" panose="05050102010706020507" pitchFamily="18" charset="2"/>
                </a:endParaRPr>
              </a:p>
            </p:txBody>
          </p:sp>
        </p:grpSp>
        <p:sp>
          <p:nvSpPr>
            <p:cNvPr id="13413" name="Line 147"/>
            <p:cNvSpPr/>
            <p:nvPr/>
          </p:nvSpPr>
          <p:spPr>
            <a:xfrm>
              <a:off x="4980" y="1212"/>
              <a:ext cx="0" cy="708"/>
            </a:xfrm>
            <a:prstGeom prst="line">
              <a:avLst/>
            </a:prstGeom>
            <a:ln w="9525" cap="flat" cmpd="sng">
              <a:solidFill>
                <a:schemeClr val="tx1"/>
              </a:solidFill>
              <a:prstDash val="solid"/>
              <a:headEnd type="none" w="med" len="med"/>
              <a:tailEnd type="none" w="med" len="med"/>
            </a:ln>
          </p:spPr>
        </p:sp>
        <p:sp>
          <p:nvSpPr>
            <p:cNvPr id="13414" name="Line 148"/>
            <p:cNvSpPr/>
            <p:nvPr/>
          </p:nvSpPr>
          <p:spPr>
            <a:xfrm>
              <a:off x="288" y="2232"/>
              <a:ext cx="4872" cy="0"/>
            </a:xfrm>
            <a:prstGeom prst="line">
              <a:avLst/>
            </a:prstGeom>
            <a:ln w="9525" cap="flat" cmpd="sng">
              <a:solidFill>
                <a:schemeClr val="tx1"/>
              </a:solidFill>
              <a:prstDash val="solid"/>
              <a:headEnd type="none" w="med" len="med"/>
              <a:tailEnd type="none" w="med" len="med"/>
            </a:ln>
          </p:spPr>
        </p:sp>
        <p:sp>
          <p:nvSpPr>
            <p:cNvPr id="13415" name="Line 149"/>
            <p:cNvSpPr/>
            <p:nvPr/>
          </p:nvSpPr>
          <p:spPr>
            <a:xfrm>
              <a:off x="744" y="2328"/>
              <a:ext cx="4224" cy="0"/>
            </a:xfrm>
            <a:prstGeom prst="line">
              <a:avLst/>
            </a:prstGeom>
            <a:ln w="9525" cap="flat" cmpd="sng">
              <a:solidFill>
                <a:schemeClr val="tx1"/>
              </a:solidFill>
              <a:prstDash val="solid"/>
              <a:headEnd type="none" w="med" len="med"/>
              <a:tailEnd type="none" w="med" len="med"/>
            </a:ln>
          </p:spPr>
        </p:sp>
        <p:sp>
          <p:nvSpPr>
            <p:cNvPr id="13416" name="Line 150"/>
            <p:cNvSpPr/>
            <p:nvPr/>
          </p:nvSpPr>
          <p:spPr>
            <a:xfrm>
              <a:off x="348" y="2424"/>
              <a:ext cx="4860" cy="0"/>
            </a:xfrm>
            <a:prstGeom prst="line">
              <a:avLst/>
            </a:prstGeom>
            <a:ln w="9525" cap="flat" cmpd="sng">
              <a:solidFill>
                <a:schemeClr val="tx1"/>
              </a:solidFill>
              <a:prstDash val="solid"/>
              <a:headEnd type="none" w="med" len="med"/>
              <a:tailEnd type="none" w="med" len="med"/>
            </a:ln>
          </p:spPr>
        </p:sp>
        <p:sp>
          <p:nvSpPr>
            <p:cNvPr id="13417" name="Line 151"/>
            <p:cNvSpPr/>
            <p:nvPr/>
          </p:nvSpPr>
          <p:spPr>
            <a:xfrm>
              <a:off x="816" y="2520"/>
              <a:ext cx="4200" cy="0"/>
            </a:xfrm>
            <a:prstGeom prst="line">
              <a:avLst/>
            </a:prstGeom>
            <a:ln w="9525" cap="flat" cmpd="sng">
              <a:solidFill>
                <a:schemeClr val="tx1"/>
              </a:solidFill>
              <a:prstDash val="solid"/>
              <a:headEnd type="none" w="med" len="med"/>
              <a:tailEnd type="none" w="med" len="med"/>
            </a:ln>
          </p:spPr>
        </p:sp>
        <p:sp>
          <p:nvSpPr>
            <p:cNvPr id="13418" name="Line 152"/>
            <p:cNvSpPr/>
            <p:nvPr/>
          </p:nvSpPr>
          <p:spPr>
            <a:xfrm>
              <a:off x="396" y="2616"/>
              <a:ext cx="4860" cy="0"/>
            </a:xfrm>
            <a:prstGeom prst="line">
              <a:avLst/>
            </a:prstGeom>
            <a:ln w="9525" cap="flat" cmpd="sng">
              <a:solidFill>
                <a:schemeClr val="tx1"/>
              </a:solidFill>
              <a:prstDash val="solid"/>
              <a:headEnd type="none" w="med" len="med"/>
              <a:tailEnd type="none" w="med" len="med"/>
            </a:ln>
          </p:spPr>
        </p:sp>
        <p:sp>
          <p:nvSpPr>
            <p:cNvPr id="13419" name="Line 153"/>
            <p:cNvSpPr/>
            <p:nvPr/>
          </p:nvSpPr>
          <p:spPr>
            <a:xfrm>
              <a:off x="864" y="2712"/>
              <a:ext cx="4200" cy="0"/>
            </a:xfrm>
            <a:prstGeom prst="line">
              <a:avLst/>
            </a:prstGeom>
            <a:ln w="9525" cap="flat" cmpd="sng">
              <a:solidFill>
                <a:schemeClr val="tx1"/>
              </a:solidFill>
              <a:prstDash val="solid"/>
              <a:headEnd type="none" w="med" len="med"/>
              <a:tailEnd type="none" w="med" len="med"/>
            </a:ln>
          </p:spPr>
        </p:sp>
        <p:sp>
          <p:nvSpPr>
            <p:cNvPr id="13420" name="Line 154"/>
            <p:cNvSpPr/>
            <p:nvPr/>
          </p:nvSpPr>
          <p:spPr>
            <a:xfrm>
              <a:off x="480" y="2808"/>
              <a:ext cx="5208" cy="0"/>
            </a:xfrm>
            <a:prstGeom prst="line">
              <a:avLst/>
            </a:prstGeom>
            <a:ln w="9525" cap="flat" cmpd="sng">
              <a:solidFill>
                <a:schemeClr val="tx1"/>
              </a:solidFill>
              <a:prstDash val="solid"/>
              <a:headEnd type="none" w="med" len="med"/>
              <a:tailEnd type="none" w="med" len="med"/>
            </a:ln>
          </p:spPr>
        </p:sp>
        <p:sp>
          <p:nvSpPr>
            <p:cNvPr id="13421" name="Line 155"/>
            <p:cNvSpPr/>
            <p:nvPr/>
          </p:nvSpPr>
          <p:spPr>
            <a:xfrm flipV="1">
              <a:off x="936" y="2904"/>
              <a:ext cx="4656" cy="0"/>
            </a:xfrm>
            <a:prstGeom prst="line">
              <a:avLst/>
            </a:prstGeom>
            <a:ln w="9525" cap="flat" cmpd="sng">
              <a:solidFill>
                <a:schemeClr val="tx1"/>
              </a:solidFill>
              <a:prstDash val="solid"/>
              <a:headEnd type="none" w="med" len="med"/>
              <a:tailEnd type="none" w="med" len="med"/>
            </a:ln>
          </p:spPr>
        </p:sp>
        <p:sp>
          <p:nvSpPr>
            <p:cNvPr id="13422" name="Line 156"/>
            <p:cNvSpPr/>
            <p:nvPr/>
          </p:nvSpPr>
          <p:spPr>
            <a:xfrm>
              <a:off x="708" y="3000"/>
              <a:ext cx="4212" cy="0"/>
            </a:xfrm>
            <a:prstGeom prst="line">
              <a:avLst/>
            </a:prstGeom>
            <a:ln w="9525" cap="flat" cmpd="sng">
              <a:solidFill>
                <a:schemeClr val="tx1"/>
              </a:solidFill>
              <a:prstDash val="solid"/>
              <a:headEnd type="none" w="med" len="med"/>
              <a:tailEnd type="none" w="med" len="med"/>
            </a:ln>
          </p:spPr>
        </p:sp>
        <p:sp>
          <p:nvSpPr>
            <p:cNvPr id="13423" name="Line 157"/>
            <p:cNvSpPr/>
            <p:nvPr/>
          </p:nvSpPr>
          <p:spPr>
            <a:xfrm>
              <a:off x="240" y="3096"/>
              <a:ext cx="5064" cy="0"/>
            </a:xfrm>
            <a:prstGeom prst="line">
              <a:avLst/>
            </a:prstGeom>
            <a:ln w="9525" cap="flat" cmpd="sng">
              <a:solidFill>
                <a:schemeClr val="tx1"/>
              </a:solidFill>
              <a:prstDash val="solid"/>
              <a:headEnd type="none" w="med" len="med"/>
              <a:tailEnd type="none" w="med" len="med"/>
            </a:ln>
          </p:spPr>
        </p:sp>
        <p:sp>
          <p:nvSpPr>
            <p:cNvPr id="13424" name="Line 158"/>
            <p:cNvSpPr/>
            <p:nvPr/>
          </p:nvSpPr>
          <p:spPr>
            <a:xfrm>
              <a:off x="1272" y="3192"/>
              <a:ext cx="4224" cy="0"/>
            </a:xfrm>
            <a:prstGeom prst="line">
              <a:avLst/>
            </a:prstGeom>
            <a:ln w="9525" cap="flat" cmpd="sng">
              <a:solidFill>
                <a:schemeClr val="tx1"/>
              </a:solidFill>
              <a:prstDash val="solid"/>
              <a:headEnd type="none" w="med" len="med"/>
              <a:tailEnd type="none" w="med" len="med"/>
            </a:ln>
          </p:spPr>
        </p:sp>
        <p:grpSp>
          <p:nvGrpSpPr>
            <p:cNvPr id="13425" name="Group 159"/>
            <p:cNvGrpSpPr/>
            <p:nvPr/>
          </p:nvGrpSpPr>
          <p:grpSpPr>
            <a:xfrm>
              <a:off x="36" y="3387"/>
              <a:ext cx="336" cy="321"/>
              <a:chOff x="2448" y="3859"/>
              <a:chExt cx="336" cy="348"/>
            </a:xfrm>
          </p:grpSpPr>
          <p:sp>
            <p:nvSpPr>
              <p:cNvPr id="13593" name="Rectangle 160"/>
              <p:cNvSpPr/>
              <p:nvPr/>
            </p:nvSpPr>
            <p:spPr>
              <a:xfrm>
                <a:off x="2448" y="3936"/>
                <a:ext cx="336" cy="240"/>
              </a:xfrm>
              <a:prstGeom prst="rect">
                <a:avLst/>
              </a:prstGeom>
              <a:solidFill>
                <a:srgbClr val="00FF00"/>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94" name="Text Box 161"/>
              <p:cNvSpPr txBox="1"/>
              <p:nvPr/>
            </p:nvSpPr>
            <p:spPr>
              <a:xfrm>
                <a:off x="2496" y="3936"/>
                <a:ext cx="240" cy="271"/>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sym typeface="Symbol" panose="05050102010706020507" pitchFamily="18" charset="2"/>
                  </a:rPr>
                  <a:t>1</a:t>
                </a:r>
                <a:endParaRPr lang="en-US" altLang="zh-CN" sz="2400" dirty="0">
                  <a:latin typeface="Times New Roman" panose="02020603050405020304" pitchFamily="18" charset="0"/>
                </a:endParaRPr>
              </a:p>
            </p:txBody>
          </p:sp>
          <p:sp>
            <p:nvSpPr>
              <p:cNvPr id="13595" name="Oval 162"/>
              <p:cNvSpPr/>
              <p:nvPr/>
            </p:nvSpPr>
            <p:spPr>
              <a:xfrm>
                <a:off x="2563" y="3859"/>
                <a:ext cx="77" cy="77"/>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pSp>
        <p:grpSp>
          <p:nvGrpSpPr>
            <p:cNvPr id="13426" name="Group 163"/>
            <p:cNvGrpSpPr/>
            <p:nvPr/>
          </p:nvGrpSpPr>
          <p:grpSpPr>
            <a:xfrm>
              <a:off x="1176" y="3351"/>
              <a:ext cx="336" cy="321"/>
              <a:chOff x="2448" y="3859"/>
              <a:chExt cx="336" cy="348"/>
            </a:xfrm>
          </p:grpSpPr>
          <p:sp>
            <p:nvSpPr>
              <p:cNvPr id="13590" name="Rectangle 164"/>
              <p:cNvSpPr/>
              <p:nvPr/>
            </p:nvSpPr>
            <p:spPr>
              <a:xfrm>
                <a:off x="2448" y="3936"/>
                <a:ext cx="336" cy="240"/>
              </a:xfrm>
              <a:prstGeom prst="rect">
                <a:avLst/>
              </a:prstGeom>
              <a:solidFill>
                <a:srgbClr val="00FF00"/>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91" name="Text Box 165"/>
              <p:cNvSpPr txBox="1"/>
              <p:nvPr/>
            </p:nvSpPr>
            <p:spPr>
              <a:xfrm>
                <a:off x="2496" y="3936"/>
                <a:ext cx="240" cy="271"/>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sym typeface="Symbol" panose="05050102010706020507" pitchFamily="18" charset="2"/>
                  </a:rPr>
                  <a:t>1</a:t>
                </a:r>
                <a:endParaRPr lang="en-US" altLang="zh-CN" sz="2400" dirty="0">
                  <a:latin typeface="Times New Roman" panose="02020603050405020304" pitchFamily="18" charset="0"/>
                </a:endParaRPr>
              </a:p>
            </p:txBody>
          </p:sp>
          <p:sp>
            <p:nvSpPr>
              <p:cNvPr id="13592" name="Oval 166"/>
              <p:cNvSpPr/>
              <p:nvPr/>
            </p:nvSpPr>
            <p:spPr>
              <a:xfrm>
                <a:off x="2563" y="3859"/>
                <a:ext cx="77" cy="77"/>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pSp>
        <p:grpSp>
          <p:nvGrpSpPr>
            <p:cNvPr id="13427" name="Group 167"/>
            <p:cNvGrpSpPr/>
            <p:nvPr/>
          </p:nvGrpSpPr>
          <p:grpSpPr>
            <a:xfrm>
              <a:off x="5352" y="3418"/>
              <a:ext cx="336" cy="302"/>
              <a:chOff x="0" y="3349"/>
              <a:chExt cx="336" cy="302"/>
            </a:xfrm>
          </p:grpSpPr>
          <p:sp>
            <p:nvSpPr>
              <p:cNvPr id="13584" name="Rectangle 168"/>
              <p:cNvSpPr/>
              <p:nvPr/>
            </p:nvSpPr>
            <p:spPr>
              <a:xfrm flipV="1">
                <a:off x="0" y="3358"/>
                <a:ext cx="336" cy="222"/>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85" name="Text Box 169"/>
              <p:cNvSpPr txBox="1"/>
              <p:nvPr/>
            </p:nvSpPr>
            <p:spPr>
              <a:xfrm>
                <a:off x="48" y="3349"/>
                <a:ext cx="240" cy="250"/>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sym typeface="Symbol" panose="05050102010706020507" pitchFamily="18" charset="2"/>
                  </a:rPr>
                  <a:t>1</a:t>
                </a:r>
                <a:endParaRPr lang="en-US" altLang="zh-CN" sz="2400" dirty="0">
                  <a:latin typeface="Times New Roman" panose="02020603050405020304" pitchFamily="18" charset="0"/>
                </a:endParaRPr>
              </a:p>
            </p:txBody>
          </p:sp>
          <p:sp>
            <p:nvSpPr>
              <p:cNvPr id="13586" name="Oval 170"/>
              <p:cNvSpPr/>
              <p:nvPr/>
            </p:nvSpPr>
            <p:spPr>
              <a:xfrm flipV="1">
                <a:off x="129" y="3580"/>
                <a:ext cx="77"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87" name="Rectangle 171"/>
              <p:cNvSpPr/>
              <p:nvPr/>
            </p:nvSpPr>
            <p:spPr>
              <a:xfrm flipV="1">
                <a:off x="0" y="3358"/>
                <a:ext cx="336" cy="222"/>
              </a:xfrm>
              <a:prstGeom prst="rect">
                <a:avLst/>
              </a:prstGeom>
              <a:solidFill>
                <a:srgbClr val="00FF00"/>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88" name="Text Box 172"/>
              <p:cNvSpPr txBox="1"/>
              <p:nvPr/>
            </p:nvSpPr>
            <p:spPr>
              <a:xfrm>
                <a:off x="48" y="3349"/>
                <a:ext cx="240" cy="250"/>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sym typeface="Symbol" panose="05050102010706020507" pitchFamily="18" charset="2"/>
                  </a:rPr>
                  <a:t>1</a:t>
                </a:r>
                <a:endParaRPr lang="en-US" altLang="zh-CN" sz="2400" dirty="0">
                  <a:latin typeface="Times New Roman" panose="02020603050405020304" pitchFamily="18" charset="0"/>
                </a:endParaRPr>
              </a:p>
            </p:txBody>
          </p:sp>
          <p:sp>
            <p:nvSpPr>
              <p:cNvPr id="13589" name="Oval 173"/>
              <p:cNvSpPr/>
              <p:nvPr/>
            </p:nvSpPr>
            <p:spPr>
              <a:xfrm flipV="1">
                <a:off x="129" y="3580"/>
                <a:ext cx="77"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pSp>
        <p:sp>
          <p:nvSpPr>
            <p:cNvPr id="13428" name="Line 174"/>
            <p:cNvSpPr/>
            <p:nvPr/>
          </p:nvSpPr>
          <p:spPr>
            <a:xfrm>
              <a:off x="5160" y="625"/>
              <a:ext cx="428" cy="0"/>
            </a:xfrm>
            <a:prstGeom prst="line">
              <a:avLst/>
            </a:prstGeom>
            <a:ln w="9525" cap="flat" cmpd="sng">
              <a:solidFill>
                <a:schemeClr val="tx1"/>
              </a:solidFill>
              <a:prstDash val="solid"/>
              <a:headEnd type="none" w="med" len="med"/>
              <a:tailEnd type="none" w="med" len="med"/>
            </a:ln>
          </p:spPr>
        </p:sp>
        <p:sp>
          <p:nvSpPr>
            <p:cNvPr id="13429" name="Line 175"/>
            <p:cNvSpPr/>
            <p:nvPr/>
          </p:nvSpPr>
          <p:spPr>
            <a:xfrm>
              <a:off x="5592" y="623"/>
              <a:ext cx="0" cy="2281"/>
            </a:xfrm>
            <a:prstGeom prst="line">
              <a:avLst/>
            </a:prstGeom>
            <a:ln w="9525" cap="flat" cmpd="sng">
              <a:solidFill>
                <a:schemeClr val="tx1"/>
              </a:solidFill>
              <a:prstDash val="solid"/>
              <a:headEnd type="none" w="med" len="med"/>
              <a:tailEnd type="none" w="med" len="med"/>
            </a:ln>
          </p:spPr>
        </p:sp>
        <p:sp>
          <p:nvSpPr>
            <p:cNvPr id="13430" name="Line 176"/>
            <p:cNvSpPr/>
            <p:nvPr/>
          </p:nvSpPr>
          <p:spPr>
            <a:xfrm>
              <a:off x="5688" y="550"/>
              <a:ext cx="0" cy="2258"/>
            </a:xfrm>
            <a:prstGeom prst="line">
              <a:avLst/>
            </a:prstGeom>
            <a:ln w="9525" cap="flat" cmpd="sng">
              <a:solidFill>
                <a:schemeClr val="tx1"/>
              </a:solidFill>
              <a:prstDash val="solid"/>
              <a:headEnd type="none" w="med" len="med"/>
              <a:tailEnd type="none" w="med" len="med"/>
            </a:ln>
          </p:spPr>
        </p:sp>
        <p:sp>
          <p:nvSpPr>
            <p:cNvPr id="13431" name="Line 177"/>
            <p:cNvSpPr/>
            <p:nvPr/>
          </p:nvSpPr>
          <p:spPr>
            <a:xfrm>
              <a:off x="4890" y="552"/>
              <a:ext cx="798" cy="0"/>
            </a:xfrm>
            <a:prstGeom prst="line">
              <a:avLst/>
            </a:prstGeom>
            <a:ln w="9525" cap="flat" cmpd="sng">
              <a:solidFill>
                <a:schemeClr val="tx1"/>
              </a:solidFill>
              <a:prstDash val="solid"/>
              <a:headEnd type="none" w="med" len="med"/>
              <a:tailEnd type="none" w="med" len="med"/>
            </a:ln>
          </p:spPr>
        </p:sp>
        <p:sp>
          <p:nvSpPr>
            <p:cNvPr id="13432" name="Line 178"/>
            <p:cNvSpPr/>
            <p:nvPr/>
          </p:nvSpPr>
          <p:spPr>
            <a:xfrm>
              <a:off x="5496" y="1752"/>
              <a:ext cx="0" cy="1656"/>
            </a:xfrm>
            <a:prstGeom prst="line">
              <a:avLst/>
            </a:prstGeom>
            <a:ln w="9525" cap="flat" cmpd="sng">
              <a:solidFill>
                <a:schemeClr val="tx1"/>
              </a:solidFill>
              <a:prstDash val="solid"/>
              <a:headEnd type="none" w="med" len="med"/>
              <a:tailEnd type="none" w="med" len="med"/>
            </a:ln>
          </p:spPr>
        </p:sp>
        <p:sp>
          <p:nvSpPr>
            <p:cNvPr id="13433" name="Line 179"/>
            <p:cNvSpPr/>
            <p:nvPr/>
          </p:nvSpPr>
          <p:spPr>
            <a:xfrm>
              <a:off x="5160" y="2136"/>
              <a:ext cx="0" cy="96"/>
            </a:xfrm>
            <a:prstGeom prst="line">
              <a:avLst/>
            </a:prstGeom>
            <a:ln w="9525" cap="flat" cmpd="sng">
              <a:solidFill>
                <a:schemeClr val="tx1"/>
              </a:solidFill>
              <a:prstDash val="solid"/>
              <a:headEnd type="none" w="med" len="med"/>
              <a:tailEnd type="none" w="med" len="med"/>
            </a:ln>
          </p:spPr>
        </p:sp>
        <p:sp>
          <p:nvSpPr>
            <p:cNvPr id="13434" name="Line 180"/>
            <p:cNvSpPr/>
            <p:nvPr/>
          </p:nvSpPr>
          <p:spPr>
            <a:xfrm>
              <a:off x="5208" y="2136"/>
              <a:ext cx="0" cy="288"/>
            </a:xfrm>
            <a:prstGeom prst="line">
              <a:avLst/>
            </a:prstGeom>
            <a:ln w="9525" cap="flat" cmpd="sng">
              <a:solidFill>
                <a:schemeClr val="tx1"/>
              </a:solidFill>
              <a:prstDash val="solid"/>
              <a:headEnd type="none" w="med" len="med"/>
              <a:tailEnd type="none" w="med" len="med"/>
            </a:ln>
          </p:spPr>
        </p:sp>
        <p:sp>
          <p:nvSpPr>
            <p:cNvPr id="13435" name="Line 181"/>
            <p:cNvSpPr/>
            <p:nvPr/>
          </p:nvSpPr>
          <p:spPr>
            <a:xfrm>
              <a:off x="5256" y="2136"/>
              <a:ext cx="0" cy="480"/>
            </a:xfrm>
            <a:prstGeom prst="line">
              <a:avLst/>
            </a:prstGeom>
            <a:ln w="9525" cap="flat" cmpd="sng">
              <a:solidFill>
                <a:schemeClr val="tx1"/>
              </a:solidFill>
              <a:prstDash val="solid"/>
              <a:headEnd type="none" w="med" len="med"/>
              <a:tailEnd type="none" w="med" len="med"/>
            </a:ln>
          </p:spPr>
        </p:sp>
        <p:sp>
          <p:nvSpPr>
            <p:cNvPr id="13436" name="Line 182"/>
            <p:cNvSpPr/>
            <p:nvPr/>
          </p:nvSpPr>
          <p:spPr>
            <a:xfrm>
              <a:off x="5304" y="2136"/>
              <a:ext cx="0" cy="960"/>
            </a:xfrm>
            <a:prstGeom prst="line">
              <a:avLst/>
            </a:prstGeom>
            <a:ln w="9525" cap="flat" cmpd="sng">
              <a:solidFill>
                <a:schemeClr val="tx1"/>
              </a:solidFill>
              <a:prstDash val="solid"/>
              <a:headEnd type="none" w="med" len="med"/>
              <a:tailEnd type="none" w="med" len="med"/>
            </a:ln>
          </p:spPr>
        </p:sp>
        <p:sp>
          <p:nvSpPr>
            <p:cNvPr id="13437" name="Line 183"/>
            <p:cNvSpPr/>
            <p:nvPr/>
          </p:nvSpPr>
          <p:spPr>
            <a:xfrm>
              <a:off x="4920" y="2136"/>
              <a:ext cx="0" cy="864"/>
            </a:xfrm>
            <a:prstGeom prst="line">
              <a:avLst/>
            </a:prstGeom>
            <a:ln w="9525" cap="flat" cmpd="sng">
              <a:solidFill>
                <a:schemeClr val="tx1"/>
              </a:solidFill>
              <a:prstDash val="solid"/>
              <a:headEnd type="none" w="med" len="med"/>
              <a:tailEnd type="none" w="med" len="med"/>
            </a:ln>
          </p:spPr>
        </p:sp>
        <p:sp>
          <p:nvSpPr>
            <p:cNvPr id="13438" name="Line 184"/>
            <p:cNvSpPr/>
            <p:nvPr/>
          </p:nvSpPr>
          <p:spPr>
            <a:xfrm>
              <a:off x="4968" y="2136"/>
              <a:ext cx="0" cy="192"/>
            </a:xfrm>
            <a:prstGeom prst="line">
              <a:avLst/>
            </a:prstGeom>
            <a:ln w="9525" cap="flat" cmpd="sng">
              <a:solidFill>
                <a:schemeClr val="tx1"/>
              </a:solidFill>
              <a:prstDash val="solid"/>
              <a:headEnd type="none" w="med" len="med"/>
              <a:tailEnd type="none" w="med" len="med"/>
            </a:ln>
          </p:spPr>
        </p:sp>
        <p:sp>
          <p:nvSpPr>
            <p:cNvPr id="13439" name="Line 185"/>
            <p:cNvSpPr/>
            <p:nvPr/>
          </p:nvSpPr>
          <p:spPr>
            <a:xfrm>
              <a:off x="5016" y="2136"/>
              <a:ext cx="0" cy="384"/>
            </a:xfrm>
            <a:prstGeom prst="line">
              <a:avLst/>
            </a:prstGeom>
            <a:ln w="9525" cap="flat" cmpd="sng">
              <a:solidFill>
                <a:schemeClr val="tx1"/>
              </a:solidFill>
              <a:prstDash val="solid"/>
              <a:headEnd type="none" w="med" len="med"/>
              <a:tailEnd type="none" w="med" len="med"/>
            </a:ln>
          </p:spPr>
        </p:sp>
        <p:sp>
          <p:nvSpPr>
            <p:cNvPr id="13440" name="Line 186"/>
            <p:cNvSpPr/>
            <p:nvPr/>
          </p:nvSpPr>
          <p:spPr>
            <a:xfrm>
              <a:off x="5064" y="2136"/>
              <a:ext cx="0" cy="576"/>
            </a:xfrm>
            <a:prstGeom prst="line">
              <a:avLst/>
            </a:prstGeom>
            <a:ln w="9525" cap="flat" cmpd="sng">
              <a:solidFill>
                <a:schemeClr val="tx1"/>
              </a:solidFill>
              <a:prstDash val="solid"/>
              <a:headEnd type="none" w="med" len="med"/>
              <a:tailEnd type="none" w="med" len="med"/>
            </a:ln>
          </p:spPr>
        </p:sp>
        <p:sp>
          <p:nvSpPr>
            <p:cNvPr id="13441" name="Line 187"/>
            <p:cNvSpPr/>
            <p:nvPr/>
          </p:nvSpPr>
          <p:spPr>
            <a:xfrm>
              <a:off x="4008" y="625"/>
              <a:ext cx="428" cy="0"/>
            </a:xfrm>
            <a:prstGeom prst="line">
              <a:avLst/>
            </a:prstGeom>
            <a:ln w="9525" cap="flat" cmpd="sng">
              <a:solidFill>
                <a:schemeClr val="tx1"/>
              </a:solidFill>
              <a:prstDash val="solid"/>
              <a:headEnd type="none" w="med" len="med"/>
              <a:tailEnd type="none" w="med" len="med"/>
            </a:ln>
          </p:spPr>
        </p:sp>
        <p:sp>
          <p:nvSpPr>
            <p:cNvPr id="13442" name="Line 188"/>
            <p:cNvSpPr/>
            <p:nvPr/>
          </p:nvSpPr>
          <p:spPr>
            <a:xfrm>
              <a:off x="3738" y="552"/>
              <a:ext cx="798" cy="0"/>
            </a:xfrm>
            <a:prstGeom prst="line">
              <a:avLst/>
            </a:prstGeom>
            <a:ln w="9525" cap="flat" cmpd="sng">
              <a:solidFill>
                <a:schemeClr val="tx1"/>
              </a:solidFill>
              <a:prstDash val="solid"/>
              <a:headEnd type="none" w="med" len="med"/>
              <a:tailEnd type="none" w="med" len="med"/>
            </a:ln>
          </p:spPr>
        </p:sp>
        <p:sp>
          <p:nvSpPr>
            <p:cNvPr id="13443" name="Line 189"/>
            <p:cNvSpPr/>
            <p:nvPr/>
          </p:nvSpPr>
          <p:spPr>
            <a:xfrm>
              <a:off x="2856" y="625"/>
              <a:ext cx="428" cy="0"/>
            </a:xfrm>
            <a:prstGeom prst="line">
              <a:avLst/>
            </a:prstGeom>
            <a:ln w="9525" cap="flat" cmpd="sng">
              <a:solidFill>
                <a:schemeClr val="tx1"/>
              </a:solidFill>
              <a:prstDash val="solid"/>
              <a:headEnd type="none" w="med" len="med"/>
              <a:tailEnd type="none" w="med" len="med"/>
            </a:ln>
          </p:spPr>
        </p:sp>
        <p:sp>
          <p:nvSpPr>
            <p:cNvPr id="13444" name="Line 190"/>
            <p:cNvSpPr/>
            <p:nvPr/>
          </p:nvSpPr>
          <p:spPr>
            <a:xfrm>
              <a:off x="2586" y="552"/>
              <a:ext cx="798" cy="0"/>
            </a:xfrm>
            <a:prstGeom prst="line">
              <a:avLst/>
            </a:prstGeom>
            <a:ln w="9525" cap="flat" cmpd="sng">
              <a:solidFill>
                <a:schemeClr val="tx1"/>
              </a:solidFill>
              <a:prstDash val="solid"/>
              <a:headEnd type="none" w="med" len="med"/>
              <a:tailEnd type="none" w="med" len="med"/>
            </a:ln>
          </p:spPr>
        </p:sp>
        <p:sp>
          <p:nvSpPr>
            <p:cNvPr id="13445" name="Line 191"/>
            <p:cNvSpPr/>
            <p:nvPr/>
          </p:nvSpPr>
          <p:spPr>
            <a:xfrm>
              <a:off x="1681" y="625"/>
              <a:ext cx="455" cy="0"/>
            </a:xfrm>
            <a:prstGeom prst="line">
              <a:avLst/>
            </a:prstGeom>
            <a:ln w="9525" cap="flat" cmpd="sng">
              <a:solidFill>
                <a:schemeClr val="tx1"/>
              </a:solidFill>
              <a:prstDash val="solid"/>
              <a:headEnd type="none" w="med" len="med"/>
              <a:tailEnd type="none" w="med" len="med"/>
            </a:ln>
          </p:spPr>
        </p:sp>
        <p:sp>
          <p:nvSpPr>
            <p:cNvPr id="13446" name="Line 192"/>
            <p:cNvSpPr/>
            <p:nvPr/>
          </p:nvSpPr>
          <p:spPr>
            <a:xfrm>
              <a:off x="1434" y="552"/>
              <a:ext cx="798" cy="0"/>
            </a:xfrm>
            <a:prstGeom prst="line">
              <a:avLst/>
            </a:prstGeom>
            <a:ln w="9525" cap="flat" cmpd="sng">
              <a:solidFill>
                <a:schemeClr val="tx1"/>
              </a:solidFill>
              <a:prstDash val="solid"/>
              <a:headEnd type="none" w="med" len="med"/>
              <a:tailEnd type="none" w="med" len="med"/>
            </a:ln>
          </p:spPr>
        </p:sp>
        <p:sp>
          <p:nvSpPr>
            <p:cNvPr id="13447" name="Line 193"/>
            <p:cNvSpPr/>
            <p:nvPr/>
          </p:nvSpPr>
          <p:spPr>
            <a:xfrm>
              <a:off x="4440" y="625"/>
              <a:ext cx="0" cy="2099"/>
            </a:xfrm>
            <a:prstGeom prst="line">
              <a:avLst/>
            </a:prstGeom>
            <a:ln w="9525" cap="flat" cmpd="sng">
              <a:solidFill>
                <a:schemeClr val="tx1"/>
              </a:solidFill>
              <a:prstDash val="solid"/>
              <a:headEnd type="none" w="med" len="med"/>
              <a:tailEnd type="none" w="med" len="med"/>
            </a:ln>
          </p:spPr>
        </p:sp>
        <p:sp>
          <p:nvSpPr>
            <p:cNvPr id="13448" name="Line 194"/>
            <p:cNvSpPr/>
            <p:nvPr/>
          </p:nvSpPr>
          <p:spPr>
            <a:xfrm>
              <a:off x="4536" y="552"/>
              <a:ext cx="0" cy="2077"/>
            </a:xfrm>
            <a:prstGeom prst="line">
              <a:avLst/>
            </a:prstGeom>
            <a:ln w="9525" cap="flat" cmpd="sng">
              <a:solidFill>
                <a:schemeClr val="tx1"/>
              </a:solidFill>
              <a:prstDash val="solid"/>
              <a:headEnd type="none" w="med" len="med"/>
              <a:tailEnd type="none" w="med" len="med"/>
            </a:ln>
          </p:spPr>
        </p:sp>
        <p:sp>
          <p:nvSpPr>
            <p:cNvPr id="13449" name="Line 195"/>
            <p:cNvSpPr/>
            <p:nvPr/>
          </p:nvSpPr>
          <p:spPr>
            <a:xfrm>
              <a:off x="3288" y="625"/>
              <a:ext cx="0" cy="1895"/>
            </a:xfrm>
            <a:prstGeom prst="line">
              <a:avLst/>
            </a:prstGeom>
            <a:ln w="9525" cap="flat" cmpd="sng">
              <a:solidFill>
                <a:schemeClr val="tx1"/>
              </a:solidFill>
              <a:prstDash val="solid"/>
              <a:headEnd type="none" w="med" len="med"/>
              <a:tailEnd type="none" w="med" len="med"/>
            </a:ln>
          </p:spPr>
        </p:sp>
        <p:sp>
          <p:nvSpPr>
            <p:cNvPr id="13450" name="Line 196"/>
            <p:cNvSpPr/>
            <p:nvPr/>
          </p:nvSpPr>
          <p:spPr>
            <a:xfrm>
              <a:off x="3384" y="552"/>
              <a:ext cx="0" cy="1895"/>
            </a:xfrm>
            <a:prstGeom prst="line">
              <a:avLst/>
            </a:prstGeom>
            <a:ln w="9525" cap="flat" cmpd="sng">
              <a:solidFill>
                <a:schemeClr val="tx1"/>
              </a:solidFill>
              <a:prstDash val="solid"/>
              <a:headEnd type="none" w="med" len="med"/>
              <a:tailEnd type="none" w="med" len="med"/>
            </a:ln>
          </p:spPr>
        </p:sp>
        <p:sp>
          <p:nvSpPr>
            <p:cNvPr id="13451" name="Line 197"/>
            <p:cNvSpPr/>
            <p:nvPr/>
          </p:nvSpPr>
          <p:spPr>
            <a:xfrm>
              <a:off x="2136" y="625"/>
              <a:ext cx="0" cy="1709"/>
            </a:xfrm>
            <a:prstGeom prst="line">
              <a:avLst/>
            </a:prstGeom>
            <a:ln w="9525" cap="flat" cmpd="sng">
              <a:solidFill>
                <a:schemeClr val="tx1"/>
              </a:solidFill>
              <a:prstDash val="solid"/>
              <a:headEnd type="none" w="med" len="med"/>
              <a:tailEnd type="none" w="med" len="med"/>
            </a:ln>
          </p:spPr>
        </p:sp>
        <p:sp>
          <p:nvSpPr>
            <p:cNvPr id="13452" name="Line 198"/>
            <p:cNvSpPr/>
            <p:nvPr/>
          </p:nvSpPr>
          <p:spPr>
            <a:xfrm>
              <a:off x="2232" y="552"/>
              <a:ext cx="0" cy="1680"/>
            </a:xfrm>
            <a:prstGeom prst="line">
              <a:avLst/>
            </a:prstGeom>
            <a:ln w="9525" cap="flat" cmpd="sng">
              <a:solidFill>
                <a:schemeClr val="tx1"/>
              </a:solidFill>
              <a:prstDash val="solid"/>
              <a:headEnd type="none" w="med" len="med"/>
              <a:tailEnd type="none" w="med" len="med"/>
            </a:ln>
          </p:spPr>
        </p:sp>
        <p:sp>
          <p:nvSpPr>
            <p:cNvPr id="13453" name="Line 199"/>
            <p:cNvSpPr/>
            <p:nvPr/>
          </p:nvSpPr>
          <p:spPr>
            <a:xfrm>
              <a:off x="1272" y="2111"/>
              <a:ext cx="0" cy="1081"/>
            </a:xfrm>
            <a:prstGeom prst="line">
              <a:avLst/>
            </a:prstGeom>
            <a:ln w="9525" cap="flat" cmpd="sng">
              <a:solidFill>
                <a:schemeClr val="tx1"/>
              </a:solidFill>
              <a:prstDash val="solid"/>
              <a:headEnd type="none" w="med" len="med"/>
              <a:tailEnd type="none" w="med" len="med"/>
            </a:ln>
          </p:spPr>
        </p:sp>
        <p:sp>
          <p:nvSpPr>
            <p:cNvPr id="13454" name="Line 200"/>
            <p:cNvSpPr/>
            <p:nvPr/>
          </p:nvSpPr>
          <p:spPr>
            <a:xfrm>
              <a:off x="2424" y="2136"/>
              <a:ext cx="0" cy="1065"/>
            </a:xfrm>
            <a:prstGeom prst="line">
              <a:avLst/>
            </a:prstGeom>
            <a:ln w="9525" cap="flat" cmpd="sng">
              <a:solidFill>
                <a:schemeClr val="tx1"/>
              </a:solidFill>
              <a:prstDash val="solid"/>
              <a:headEnd type="none" w="med" len="med"/>
              <a:tailEnd type="none" w="med" len="med"/>
            </a:ln>
          </p:spPr>
        </p:sp>
        <p:sp>
          <p:nvSpPr>
            <p:cNvPr id="13455" name="Line 201"/>
            <p:cNvSpPr/>
            <p:nvPr/>
          </p:nvSpPr>
          <p:spPr>
            <a:xfrm>
              <a:off x="3576" y="2136"/>
              <a:ext cx="0" cy="1065"/>
            </a:xfrm>
            <a:prstGeom prst="line">
              <a:avLst/>
            </a:prstGeom>
            <a:ln w="9525" cap="flat" cmpd="sng">
              <a:solidFill>
                <a:schemeClr val="tx1"/>
              </a:solidFill>
              <a:prstDash val="solid"/>
              <a:headEnd type="none" w="med" len="med"/>
              <a:tailEnd type="none" w="med" len="med"/>
            </a:ln>
          </p:spPr>
        </p:sp>
        <p:sp>
          <p:nvSpPr>
            <p:cNvPr id="13456" name="Line 202"/>
            <p:cNvSpPr/>
            <p:nvPr/>
          </p:nvSpPr>
          <p:spPr>
            <a:xfrm>
              <a:off x="4728" y="2136"/>
              <a:ext cx="0" cy="1065"/>
            </a:xfrm>
            <a:prstGeom prst="line">
              <a:avLst/>
            </a:prstGeom>
            <a:ln w="9525" cap="flat" cmpd="sng">
              <a:solidFill>
                <a:schemeClr val="tx1"/>
              </a:solidFill>
              <a:prstDash val="solid"/>
              <a:headEnd type="none" w="med" len="med"/>
              <a:tailEnd type="none" w="med" len="med"/>
            </a:ln>
          </p:spPr>
        </p:sp>
        <p:sp>
          <p:nvSpPr>
            <p:cNvPr id="13457" name="Line 203"/>
            <p:cNvSpPr/>
            <p:nvPr/>
          </p:nvSpPr>
          <p:spPr>
            <a:xfrm>
              <a:off x="288" y="2028"/>
              <a:ext cx="0" cy="192"/>
            </a:xfrm>
            <a:prstGeom prst="line">
              <a:avLst/>
            </a:prstGeom>
            <a:ln w="9525" cap="flat" cmpd="sng">
              <a:solidFill>
                <a:schemeClr val="tx1"/>
              </a:solidFill>
              <a:prstDash val="solid"/>
              <a:headEnd type="none" w="med" len="med"/>
              <a:tailEnd type="none" w="med" len="med"/>
            </a:ln>
          </p:spPr>
        </p:sp>
        <p:sp>
          <p:nvSpPr>
            <p:cNvPr id="13458" name="Line 204"/>
            <p:cNvSpPr/>
            <p:nvPr/>
          </p:nvSpPr>
          <p:spPr>
            <a:xfrm>
              <a:off x="348" y="2028"/>
              <a:ext cx="0" cy="396"/>
            </a:xfrm>
            <a:prstGeom prst="line">
              <a:avLst/>
            </a:prstGeom>
            <a:ln w="9525" cap="flat" cmpd="sng">
              <a:solidFill>
                <a:schemeClr val="tx1"/>
              </a:solidFill>
              <a:prstDash val="solid"/>
              <a:headEnd type="none" w="med" len="med"/>
              <a:tailEnd type="none" w="med" len="med"/>
            </a:ln>
          </p:spPr>
        </p:sp>
        <p:sp>
          <p:nvSpPr>
            <p:cNvPr id="13459" name="Line 205"/>
            <p:cNvSpPr/>
            <p:nvPr/>
          </p:nvSpPr>
          <p:spPr>
            <a:xfrm>
              <a:off x="408" y="2028"/>
              <a:ext cx="0" cy="576"/>
            </a:xfrm>
            <a:prstGeom prst="line">
              <a:avLst/>
            </a:prstGeom>
            <a:ln w="9525" cap="flat" cmpd="sng">
              <a:solidFill>
                <a:schemeClr val="tx1"/>
              </a:solidFill>
              <a:prstDash val="solid"/>
              <a:headEnd type="none" w="med" len="med"/>
              <a:tailEnd type="none" w="med" len="med"/>
            </a:ln>
          </p:spPr>
        </p:sp>
        <p:sp>
          <p:nvSpPr>
            <p:cNvPr id="13460" name="Line 206"/>
            <p:cNvSpPr/>
            <p:nvPr/>
          </p:nvSpPr>
          <p:spPr>
            <a:xfrm>
              <a:off x="480" y="2028"/>
              <a:ext cx="0" cy="780"/>
            </a:xfrm>
            <a:prstGeom prst="line">
              <a:avLst/>
            </a:prstGeom>
            <a:ln w="9525" cap="flat" cmpd="sng">
              <a:solidFill>
                <a:schemeClr val="tx1"/>
              </a:solidFill>
              <a:prstDash val="solid"/>
              <a:headEnd type="none" w="med" len="med"/>
              <a:tailEnd type="none" w="med" len="med"/>
            </a:ln>
          </p:spPr>
        </p:sp>
        <p:sp>
          <p:nvSpPr>
            <p:cNvPr id="13461" name="Line 207"/>
            <p:cNvSpPr/>
            <p:nvPr/>
          </p:nvSpPr>
          <p:spPr>
            <a:xfrm>
              <a:off x="744" y="2016"/>
              <a:ext cx="0" cy="312"/>
            </a:xfrm>
            <a:prstGeom prst="line">
              <a:avLst/>
            </a:prstGeom>
            <a:ln w="9525" cap="flat" cmpd="sng">
              <a:solidFill>
                <a:schemeClr val="tx1"/>
              </a:solidFill>
              <a:prstDash val="solid"/>
              <a:headEnd type="none" w="med" len="med"/>
              <a:tailEnd type="none" w="med" len="med"/>
            </a:ln>
          </p:spPr>
        </p:sp>
        <p:sp>
          <p:nvSpPr>
            <p:cNvPr id="13462" name="Line 208"/>
            <p:cNvSpPr/>
            <p:nvPr/>
          </p:nvSpPr>
          <p:spPr>
            <a:xfrm>
              <a:off x="804" y="2004"/>
              <a:ext cx="0" cy="516"/>
            </a:xfrm>
            <a:prstGeom prst="line">
              <a:avLst/>
            </a:prstGeom>
            <a:ln w="9525" cap="flat" cmpd="sng">
              <a:solidFill>
                <a:schemeClr val="tx1"/>
              </a:solidFill>
              <a:prstDash val="solid"/>
              <a:headEnd type="none" w="med" len="med"/>
              <a:tailEnd type="none" w="med" len="med"/>
            </a:ln>
          </p:spPr>
        </p:sp>
        <p:sp>
          <p:nvSpPr>
            <p:cNvPr id="13463" name="Line 209"/>
            <p:cNvSpPr/>
            <p:nvPr/>
          </p:nvSpPr>
          <p:spPr>
            <a:xfrm>
              <a:off x="864" y="2004"/>
              <a:ext cx="0" cy="708"/>
            </a:xfrm>
            <a:prstGeom prst="line">
              <a:avLst/>
            </a:prstGeom>
            <a:ln w="9525" cap="flat" cmpd="sng">
              <a:solidFill>
                <a:schemeClr val="tx1"/>
              </a:solidFill>
              <a:prstDash val="solid"/>
              <a:headEnd type="none" w="med" len="med"/>
              <a:tailEnd type="none" w="med" len="med"/>
            </a:ln>
          </p:spPr>
        </p:sp>
        <p:sp>
          <p:nvSpPr>
            <p:cNvPr id="13464" name="Line 210"/>
            <p:cNvSpPr/>
            <p:nvPr/>
          </p:nvSpPr>
          <p:spPr>
            <a:xfrm>
              <a:off x="924" y="2016"/>
              <a:ext cx="0" cy="888"/>
            </a:xfrm>
            <a:prstGeom prst="line">
              <a:avLst/>
            </a:prstGeom>
            <a:ln w="9525" cap="flat" cmpd="sng">
              <a:solidFill>
                <a:schemeClr val="tx1"/>
              </a:solidFill>
              <a:prstDash val="solid"/>
              <a:headEnd type="none" w="med" len="med"/>
              <a:tailEnd type="none" w="med" len="med"/>
            </a:ln>
          </p:spPr>
        </p:sp>
        <p:sp>
          <p:nvSpPr>
            <p:cNvPr id="13465" name="Line 211"/>
            <p:cNvSpPr/>
            <p:nvPr/>
          </p:nvSpPr>
          <p:spPr>
            <a:xfrm flipV="1">
              <a:off x="180" y="1320"/>
              <a:ext cx="0" cy="2064"/>
            </a:xfrm>
            <a:prstGeom prst="line">
              <a:avLst/>
            </a:prstGeom>
            <a:ln w="9525" cap="flat" cmpd="sng">
              <a:solidFill>
                <a:schemeClr val="tx1"/>
              </a:solidFill>
              <a:prstDash val="solid"/>
              <a:headEnd type="none" w="med" len="med"/>
              <a:tailEnd type="none" w="med" len="med"/>
            </a:ln>
          </p:spPr>
        </p:sp>
        <p:sp>
          <p:nvSpPr>
            <p:cNvPr id="13466" name="Line 212"/>
            <p:cNvSpPr/>
            <p:nvPr/>
          </p:nvSpPr>
          <p:spPr>
            <a:xfrm>
              <a:off x="1860" y="3624"/>
              <a:ext cx="0" cy="202"/>
            </a:xfrm>
            <a:prstGeom prst="line">
              <a:avLst/>
            </a:prstGeom>
            <a:ln w="9525" cap="flat" cmpd="sng">
              <a:solidFill>
                <a:schemeClr val="tx1"/>
              </a:solidFill>
              <a:prstDash val="solid"/>
              <a:headEnd type="none" w="med" len="med"/>
              <a:tailEnd type="none" w="med" len="med"/>
            </a:ln>
          </p:spPr>
        </p:sp>
        <p:sp>
          <p:nvSpPr>
            <p:cNvPr id="13467" name="Line 213"/>
            <p:cNvSpPr/>
            <p:nvPr/>
          </p:nvSpPr>
          <p:spPr>
            <a:xfrm flipH="1">
              <a:off x="1332" y="3627"/>
              <a:ext cx="0" cy="225"/>
            </a:xfrm>
            <a:prstGeom prst="line">
              <a:avLst/>
            </a:prstGeom>
            <a:ln w="9525" cap="flat" cmpd="sng">
              <a:solidFill>
                <a:schemeClr val="tx1"/>
              </a:solidFill>
              <a:prstDash val="solid"/>
              <a:headEnd type="none" w="med" len="med"/>
              <a:tailEnd type="none" w="med" len="med"/>
            </a:ln>
          </p:spPr>
        </p:sp>
        <p:sp>
          <p:nvSpPr>
            <p:cNvPr id="13468" name="Line 214"/>
            <p:cNvSpPr/>
            <p:nvPr/>
          </p:nvSpPr>
          <p:spPr>
            <a:xfrm>
              <a:off x="1848" y="3000"/>
              <a:ext cx="0" cy="336"/>
            </a:xfrm>
            <a:prstGeom prst="line">
              <a:avLst/>
            </a:prstGeom>
            <a:ln w="9525" cap="flat" cmpd="sng">
              <a:solidFill>
                <a:schemeClr val="tx1"/>
              </a:solidFill>
              <a:prstDash val="solid"/>
              <a:headEnd type="none" w="med" len="med"/>
              <a:tailEnd type="none" w="med" len="med"/>
            </a:ln>
          </p:spPr>
        </p:sp>
        <p:sp>
          <p:nvSpPr>
            <p:cNvPr id="13469" name="Line 215"/>
            <p:cNvSpPr/>
            <p:nvPr/>
          </p:nvSpPr>
          <p:spPr>
            <a:xfrm flipV="1">
              <a:off x="1320" y="3096"/>
              <a:ext cx="0" cy="240"/>
            </a:xfrm>
            <a:prstGeom prst="line">
              <a:avLst/>
            </a:prstGeom>
            <a:ln w="9525" cap="flat" cmpd="sng">
              <a:solidFill>
                <a:schemeClr val="tx1"/>
              </a:solidFill>
              <a:prstDash val="solid"/>
              <a:headEnd type="none" w="med" len="med"/>
              <a:tailEnd type="none" w="med" len="med"/>
            </a:ln>
          </p:spPr>
        </p:sp>
        <p:sp>
          <p:nvSpPr>
            <p:cNvPr id="13470" name="Line 216"/>
            <p:cNvSpPr/>
            <p:nvPr/>
          </p:nvSpPr>
          <p:spPr>
            <a:xfrm>
              <a:off x="204" y="3683"/>
              <a:ext cx="0" cy="227"/>
            </a:xfrm>
            <a:prstGeom prst="line">
              <a:avLst/>
            </a:prstGeom>
            <a:ln w="9525" cap="flat" cmpd="sng">
              <a:solidFill>
                <a:schemeClr val="tx1"/>
              </a:solidFill>
              <a:prstDash val="solid"/>
              <a:headEnd type="none" w="med" len="med"/>
              <a:tailEnd type="none" w="med" len="med"/>
            </a:ln>
          </p:spPr>
        </p:sp>
        <p:sp>
          <p:nvSpPr>
            <p:cNvPr id="13471" name="Line 217"/>
            <p:cNvSpPr/>
            <p:nvPr/>
          </p:nvSpPr>
          <p:spPr>
            <a:xfrm>
              <a:off x="5521" y="3708"/>
              <a:ext cx="0" cy="321"/>
            </a:xfrm>
            <a:prstGeom prst="line">
              <a:avLst/>
            </a:prstGeom>
            <a:ln w="9525" cap="flat" cmpd="sng">
              <a:solidFill>
                <a:schemeClr val="tx1"/>
              </a:solidFill>
              <a:prstDash val="solid"/>
              <a:headEnd type="none" w="med" len="med"/>
              <a:tailEnd type="none" w="med" len="med"/>
            </a:ln>
          </p:spPr>
        </p:sp>
        <p:sp>
          <p:nvSpPr>
            <p:cNvPr id="13472" name="Text Box 218"/>
            <p:cNvSpPr txBox="1"/>
            <p:nvPr/>
          </p:nvSpPr>
          <p:spPr>
            <a:xfrm>
              <a:off x="1212" y="3806"/>
              <a:ext cx="576" cy="250"/>
            </a:xfrm>
            <a:prstGeom prst="rect">
              <a:avLst/>
            </a:prstGeom>
            <a:noFill/>
            <a:ln w="9525">
              <a:noFill/>
            </a:ln>
          </p:spPr>
          <p:txBody>
            <a:bodyPr>
              <a:spAutoFit/>
            </a:bodyPr>
            <a:lstStyle/>
            <a:p>
              <a:pPr>
                <a:spcBef>
                  <a:spcPct val="50000"/>
                </a:spcBef>
              </a:pPr>
              <a:r>
                <a:rPr lang="en-US" altLang="zh-CN" dirty="0">
                  <a:latin typeface="Times New Roman" panose="02020603050405020304" pitchFamily="18" charset="0"/>
                </a:rPr>
                <a:t>CP</a:t>
              </a:r>
              <a:r>
                <a:rPr lang="en-US" altLang="zh-CN" baseline="-25000" dirty="0">
                  <a:latin typeface="Times New Roman" panose="02020603050405020304" pitchFamily="18" charset="0"/>
                </a:rPr>
                <a:t>U</a:t>
              </a:r>
              <a:endParaRPr lang="en-US" altLang="zh-CN" dirty="0">
                <a:latin typeface="Times New Roman" panose="02020603050405020304" pitchFamily="18" charset="0"/>
              </a:endParaRPr>
            </a:p>
          </p:txBody>
        </p:sp>
        <p:sp>
          <p:nvSpPr>
            <p:cNvPr id="13473" name="Text Box 219"/>
            <p:cNvSpPr txBox="1"/>
            <p:nvPr/>
          </p:nvSpPr>
          <p:spPr>
            <a:xfrm>
              <a:off x="1716" y="3792"/>
              <a:ext cx="432" cy="250"/>
            </a:xfrm>
            <a:prstGeom prst="rect">
              <a:avLst/>
            </a:prstGeom>
            <a:noFill/>
            <a:ln w="9525">
              <a:noFill/>
            </a:ln>
          </p:spPr>
          <p:txBody>
            <a:bodyPr>
              <a:spAutoFit/>
            </a:bodyPr>
            <a:lstStyle/>
            <a:p>
              <a:pPr>
                <a:spcBef>
                  <a:spcPct val="50000"/>
                </a:spcBef>
              </a:pPr>
              <a:r>
                <a:rPr lang="en-US" altLang="zh-CN" dirty="0">
                  <a:latin typeface="Times New Roman" panose="02020603050405020304" pitchFamily="18" charset="0"/>
                </a:rPr>
                <a:t>CP</a:t>
              </a:r>
              <a:r>
                <a:rPr lang="en-US" altLang="zh-CN" baseline="-25000" dirty="0">
                  <a:latin typeface="Times New Roman" panose="02020603050405020304" pitchFamily="18" charset="0"/>
                </a:rPr>
                <a:t>D</a:t>
              </a:r>
            </a:p>
          </p:txBody>
        </p:sp>
        <p:sp>
          <p:nvSpPr>
            <p:cNvPr id="13474" name="Text Box 220"/>
            <p:cNvSpPr txBox="1"/>
            <p:nvPr/>
          </p:nvSpPr>
          <p:spPr>
            <a:xfrm>
              <a:off x="204" y="3708"/>
              <a:ext cx="456" cy="288"/>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Cr</a:t>
              </a:r>
            </a:p>
          </p:txBody>
        </p:sp>
        <p:sp>
          <p:nvSpPr>
            <p:cNvPr id="13475" name="Text Box 221"/>
            <p:cNvSpPr txBox="1"/>
            <p:nvPr/>
          </p:nvSpPr>
          <p:spPr>
            <a:xfrm>
              <a:off x="5112" y="3816"/>
              <a:ext cx="384" cy="288"/>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LD</a:t>
              </a:r>
            </a:p>
          </p:txBody>
        </p:sp>
        <p:sp>
          <p:nvSpPr>
            <p:cNvPr id="13476" name="Text Box 222"/>
            <p:cNvSpPr txBox="1"/>
            <p:nvPr/>
          </p:nvSpPr>
          <p:spPr>
            <a:xfrm>
              <a:off x="888" y="3864"/>
              <a:ext cx="384" cy="288"/>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A</a:t>
              </a:r>
            </a:p>
          </p:txBody>
        </p:sp>
        <p:sp>
          <p:nvSpPr>
            <p:cNvPr id="13477" name="Text Box 223"/>
            <p:cNvSpPr txBox="1"/>
            <p:nvPr/>
          </p:nvSpPr>
          <p:spPr>
            <a:xfrm>
              <a:off x="2088" y="3768"/>
              <a:ext cx="384" cy="288"/>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B</a:t>
              </a:r>
            </a:p>
          </p:txBody>
        </p:sp>
        <p:sp>
          <p:nvSpPr>
            <p:cNvPr id="13478" name="Text Box 224"/>
            <p:cNvSpPr txBox="1"/>
            <p:nvPr/>
          </p:nvSpPr>
          <p:spPr>
            <a:xfrm>
              <a:off x="3240" y="3768"/>
              <a:ext cx="384" cy="288"/>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C</a:t>
              </a:r>
            </a:p>
          </p:txBody>
        </p:sp>
        <p:sp>
          <p:nvSpPr>
            <p:cNvPr id="13479" name="Line 225"/>
            <p:cNvSpPr/>
            <p:nvPr/>
          </p:nvSpPr>
          <p:spPr>
            <a:xfrm>
              <a:off x="1152" y="2112"/>
              <a:ext cx="0" cy="1904"/>
            </a:xfrm>
            <a:prstGeom prst="line">
              <a:avLst/>
            </a:prstGeom>
            <a:ln w="9525" cap="flat" cmpd="sng">
              <a:solidFill>
                <a:schemeClr val="tx1"/>
              </a:solidFill>
              <a:prstDash val="solid"/>
              <a:headEnd type="none" w="med" len="med"/>
              <a:tailEnd type="none" w="med" len="med"/>
            </a:ln>
          </p:spPr>
        </p:sp>
        <p:sp>
          <p:nvSpPr>
            <p:cNvPr id="13480" name="Line 226"/>
            <p:cNvSpPr/>
            <p:nvPr/>
          </p:nvSpPr>
          <p:spPr>
            <a:xfrm>
              <a:off x="2328" y="2136"/>
              <a:ext cx="0" cy="1859"/>
            </a:xfrm>
            <a:prstGeom prst="line">
              <a:avLst/>
            </a:prstGeom>
            <a:ln w="9525" cap="flat" cmpd="sng">
              <a:solidFill>
                <a:schemeClr val="tx1"/>
              </a:solidFill>
              <a:prstDash val="solid"/>
              <a:headEnd type="none" w="med" len="med"/>
              <a:tailEnd type="none" w="med" len="med"/>
            </a:ln>
          </p:spPr>
        </p:sp>
        <p:sp>
          <p:nvSpPr>
            <p:cNvPr id="13481" name="Line 227"/>
            <p:cNvSpPr/>
            <p:nvPr/>
          </p:nvSpPr>
          <p:spPr>
            <a:xfrm>
              <a:off x="3480" y="2136"/>
              <a:ext cx="0" cy="1859"/>
            </a:xfrm>
            <a:prstGeom prst="line">
              <a:avLst/>
            </a:prstGeom>
            <a:ln w="9525" cap="flat" cmpd="sng">
              <a:solidFill>
                <a:schemeClr val="tx1"/>
              </a:solidFill>
              <a:prstDash val="solid"/>
              <a:headEnd type="none" w="med" len="med"/>
              <a:tailEnd type="none" w="med" len="med"/>
            </a:ln>
          </p:spPr>
        </p:sp>
        <p:sp>
          <p:nvSpPr>
            <p:cNvPr id="13482" name="Line 228"/>
            <p:cNvSpPr/>
            <p:nvPr/>
          </p:nvSpPr>
          <p:spPr>
            <a:xfrm>
              <a:off x="4632" y="2136"/>
              <a:ext cx="0" cy="1882"/>
            </a:xfrm>
            <a:prstGeom prst="line">
              <a:avLst/>
            </a:prstGeom>
            <a:ln w="9525" cap="flat" cmpd="sng">
              <a:solidFill>
                <a:schemeClr val="tx1"/>
              </a:solidFill>
              <a:prstDash val="solid"/>
              <a:headEnd type="none" w="med" len="med"/>
              <a:tailEnd type="none" w="med" len="med"/>
            </a:ln>
          </p:spPr>
        </p:sp>
        <p:sp>
          <p:nvSpPr>
            <p:cNvPr id="13483" name="Text Box 229"/>
            <p:cNvSpPr txBox="1"/>
            <p:nvPr/>
          </p:nvSpPr>
          <p:spPr>
            <a:xfrm>
              <a:off x="4392" y="3768"/>
              <a:ext cx="384" cy="288"/>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D</a:t>
              </a:r>
            </a:p>
          </p:txBody>
        </p:sp>
        <p:sp>
          <p:nvSpPr>
            <p:cNvPr id="13484" name="Oval 230"/>
            <p:cNvSpPr/>
            <p:nvPr/>
          </p:nvSpPr>
          <p:spPr>
            <a:xfrm>
              <a:off x="1678" y="130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485" name="Oval 231"/>
            <p:cNvSpPr/>
            <p:nvPr/>
          </p:nvSpPr>
          <p:spPr>
            <a:xfrm>
              <a:off x="2881" y="129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486" name="Oval 232"/>
            <p:cNvSpPr/>
            <p:nvPr/>
          </p:nvSpPr>
          <p:spPr>
            <a:xfrm>
              <a:off x="3998" y="130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487" name="Oval 233"/>
            <p:cNvSpPr/>
            <p:nvPr/>
          </p:nvSpPr>
          <p:spPr>
            <a:xfrm>
              <a:off x="5147" y="129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488" name="Oval 234"/>
            <p:cNvSpPr/>
            <p:nvPr/>
          </p:nvSpPr>
          <p:spPr>
            <a:xfrm>
              <a:off x="4512" y="2590"/>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489" name="Oval 235"/>
            <p:cNvSpPr/>
            <p:nvPr/>
          </p:nvSpPr>
          <p:spPr>
            <a:xfrm>
              <a:off x="4417" y="268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490" name="Oval 236"/>
            <p:cNvSpPr/>
            <p:nvPr/>
          </p:nvSpPr>
          <p:spPr>
            <a:xfrm>
              <a:off x="3361" y="239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491" name="Oval 237"/>
            <p:cNvSpPr/>
            <p:nvPr/>
          </p:nvSpPr>
          <p:spPr>
            <a:xfrm>
              <a:off x="3265" y="249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492" name="Oval 238"/>
            <p:cNvSpPr/>
            <p:nvPr/>
          </p:nvSpPr>
          <p:spPr>
            <a:xfrm>
              <a:off x="2209" y="220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493" name="Oval 239"/>
            <p:cNvSpPr/>
            <p:nvPr/>
          </p:nvSpPr>
          <p:spPr>
            <a:xfrm>
              <a:off x="2114" y="230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494" name="Oval 240"/>
            <p:cNvSpPr/>
            <p:nvPr/>
          </p:nvSpPr>
          <p:spPr>
            <a:xfrm>
              <a:off x="2402"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495" name="Oval 241"/>
            <p:cNvSpPr/>
            <p:nvPr/>
          </p:nvSpPr>
          <p:spPr>
            <a:xfrm>
              <a:off x="3553"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496" name="Oval 242"/>
            <p:cNvSpPr/>
            <p:nvPr/>
          </p:nvSpPr>
          <p:spPr>
            <a:xfrm>
              <a:off x="4705"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497" name="Oval 243"/>
            <p:cNvSpPr/>
            <p:nvPr/>
          </p:nvSpPr>
          <p:spPr>
            <a:xfrm>
              <a:off x="5471" y="3168"/>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498" name="Line 244"/>
            <p:cNvSpPr/>
            <p:nvPr/>
          </p:nvSpPr>
          <p:spPr>
            <a:xfrm>
              <a:off x="1992" y="1752"/>
              <a:ext cx="0" cy="1440"/>
            </a:xfrm>
            <a:prstGeom prst="line">
              <a:avLst/>
            </a:prstGeom>
            <a:ln w="9525" cap="flat" cmpd="sng">
              <a:solidFill>
                <a:schemeClr val="tx1"/>
              </a:solidFill>
              <a:prstDash val="solid"/>
              <a:headEnd type="none" w="med" len="med"/>
              <a:tailEnd type="none" w="med" len="med"/>
            </a:ln>
          </p:spPr>
        </p:sp>
        <p:sp>
          <p:nvSpPr>
            <p:cNvPr id="13499" name="Line 245"/>
            <p:cNvSpPr/>
            <p:nvPr/>
          </p:nvSpPr>
          <p:spPr>
            <a:xfrm>
              <a:off x="3144" y="1752"/>
              <a:ext cx="0" cy="1440"/>
            </a:xfrm>
            <a:prstGeom prst="line">
              <a:avLst/>
            </a:prstGeom>
            <a:ln w="9525" cap="flat" cmpd="sng">
              <a:solidFill>
                <a:schemeClr val="tx1"/>
              </a:solidFill>
              <a:prstDash val="solid"/>
              <a:headEnd type="none" w="med" len="med"/>
              <a:tailEnd type="none" w="med" len="med"/>
            </a:ln>
          </p:spPr>
        </p:sp>
        <p:sp>
          <p:nvSpPr>
            <p:cNvPr id="13500" name="Line 246"/>
            <p:cNvSpPr/>
            <p:nvPr/>
          </p:nvSpPr>
          <p:spPr>
            <a:xfrm>
              <a:off x="4296" y="1752"/>
              <a:ext cx="0" cy="1440"/>
            </a:xfrm>
            <a:prstGeom prst="line">
              <a:avLst/>
            </a:prstGeom>
            <a:ln w="9525" cap="flat" cmpd="sng">
              <a:solidFill>
                <a:schemeClr val="tx1"/>
              </a:solidFill>
              <a:prstDash val="solid"/>
              <a:headEnd type="none" w="med" len="med"/>
              <a:tailEnd type="none" w="med" len="med"/>
            </a:ln>
          </p:spPr>
        </p:sp>
        <p:sp>
          <p:nvSpPr>
            <p:cNvPr id="13501" name="Oval 247"/>
            <p:cNvSpPr/>
            <p:nvPr/>
          </p:nvSpPr>
          <p:spPr>
            <a:xfrm>
              <a:off x="4272"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02" name="Oval 248"/>
            <p:cNvSpPr/>
            <p:nvPr/>
          </p:nvSpPr>
          <p:spPr>
            <a:xfrm>
              <a:off x="3120"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03" name="Oval 249"/>
            <p:cNvSpPr/>
            <p:nvPr/>
          </p:nvSpPr>
          <p:spPr>
            <a:xfrm>
              <a:off x="1969" y="3166"/>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04" name="Line 250"/>
            <p:cNvSpPr/>
            <p:nvPr/>
          </p:nvSpPr>
          <p:spPr>
            <a:xfrm>
              <a:off x="2904" y="2136"/>
              <a:ext cx="0" cy="96"/>
            </a:xfrm>
            <a:prstGeom prst="line">
              <a:avLst/>
            </a:prstGeom>
            <a:ln w="9525" cap="flat" cmpd="sng">
              <a:solidFill>
                <a:schemeClr val="tx1"/>
              </a:solidFill>
              <a:prstDash val="solid"/>
              <a:headEnd type="none" w="med" len="med"/>
              <a:tailEnd type="none" w="med" len="med"/>
            </a:ln>
          </p:spPr>
        </p:sp>
        <p:sp>
          <p:nvSpPr>
            <p:cNvPr id="13505" name="Line 251"/>
            <p:cNvSpPr/>
            <p:nvPr/>
          </p:nvSpPr>
          <p:spPr>
            <a:xfrm>
              <a:off x="3000" y="2136"/>
              <a:ext cx="0" cy="960"/>
            </a:xfrm>
            <a:prstGeom prst="line">
              <a:avLst/>
            </a:prstGeom>
            <a:ln w="9525" cap="flat" cmpd="sng">
              <a:solidFill>
                <a:schemeClr val="tx1"/>
              </a:solidFill>
              <a:prstDash val="solid"/>
              <a:headEnd type="none" w="med" len="med"/>
              <a:tailEnd type="none" w="med" len="med"/>
            </a:ln>
          </p:spPr>
        </p:sp>
        <p:sp>
          <p:nvSpPr>
            <p:cNvPr id="13506" name="Line 252"/>
            <p:cNvSpPr/>
            <p:nvPr/>
          </p:nvSpPr>
          <p:spPr>
            <a:xfrm>
              <a:off x="2760" y="2136"/>
              <a:ext cx="0" cy="192"/>
            </a:xfrm>
            <a:prstGeom prst="line">
              <a:avLst/>
            </a:prstGeom>
            <a:ln w="9525" cap="flat" cmpd="sng">
              <a:solidFill>
                <a:schemeClr val="tx1"/>
              </a:solidFill>
              <a:prstDash val="solid"/>
              <a:headEnd type="none" w="med" len="med"/>
              <a:tailEnd type="none" w="med" len="med"/>
            </a:ln>
          </p:spPr>
        </p:sp>
        <p:sp>
          <p:nvSpPr>
            <p:cNvPr id="13507" name="Line 253"/>
            <p:cNvSpPr/>
            <p:nvPr/>
          </p:nvSpPr>
          <p:spPr>
            <a:xfrm>
              <a:off x="2664" y="2136"/>
              <a:ext cx="0" cy="864"/>
            </a:xfrm>
            <a:prstGeom prst="line">
              <a:avLst/>
            </a:prstGeom>
            <a:ln w="9525" cap="flat" cmpd="sng">
              <a:solidFill>
                <a:schemeClr val="tx1"/>
              </a:solidFill>
              <a:prstDash val="solid"/>
              <a:headEnd type="none" w="med" len="med"/>
              <a:tailEnd type="none" w="med" len="med"/>
            </a:ln>
          </p:spPr>
        </p:sp>
        <p:sp>
          <p:nvSpPr>
            <p:cNvPr id="13508" name="Oval 254"/>
            <p:cNvSpPr/>
            <p:nvPr/>
          </p:nvSpPr>
          <p:spPr>
            <a:xfrm>
              <a:off x="2737" y="230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09" name="Oval 255"/>
            <p:cNvSpPr/>
            <p:nvPr/>
          </p:nvSpPr>
          <p:spPr>
            <a:xfrm>
              <a:off x="2880" y="220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10" name="Oval 256"/>
            <p:cNvSpPr/>
            <p:nvPr/>
          </p:nvSpPr>
          <p:spPr>
            <a:xfrm>
              <a:off x="2642" y="2973"/>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11" name="Oval 257"/>
            <p:cNvSpPr/>
            <p:nvPr/>
          </p:nvSpPr>
          <p:spPr>
            <a:xfrm>
              <a:off x="2977" y="3071"/>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12" name="Line 258"/>
            <p:cNvSpPr/>
            <p:nvPr/>
          </p:nvSpPr>
          <p:spPr>
            <a:xfrm>
              <a:off x="3720" y="2136"/>
              <a:ext cx="0" cy="864"/>
            </a:xfrm>
            <a:prstGeom prst="line">
              <a:avLst/>
            </a:prstGeom>
            <a:ln w="9525" cap="flat" cmpd="sng">
              <a:solidFill>
                <a:schemeClr val="tx1"/>
              </a:solidFill>
              <a:prstDash val="solid"/>
              <a:headEnd type="none" w="med" len="med"/>
              <a:tailEnd type="none" w="med" len="med"/>
            </a:ln>
          </p:spPr>
        </p:sp>
        <p:sp>
          <p:nvSpPr>
            <p:cNvPr id="13513" name="Line 259"/>
            <p:cNvSpPr/>
            <p:nvPr/>
          </p:nvSpPr>
          <p:spPr>
            <a:xfrm>
              <a:off x="3816" y="2136"/>
              <a:ext cx="0" cy="192"/>
            </a:xfrm>
            <a:prstGeom prst="line">
              <a:avLst/>
            </a:prstGeom>
            <a:ln w="9525" cap="flat" cmpd="sng">
              <a:solidFill>
                <a:schemeClr val="tx1"/>
              </a:solidFill>
              <a:prstDash val="solid"/>
              <a:headEnd type="none" w="med" len="med"/>
              <a:tailEnd type="none" w="med" len="med"/>
            </a:ln>
          </p:spPr>
        </p:sp>
        <p:sp>
          <p:nvSpPr>
            <p:cNvPr id="13514" name="Line 260"/>
            <p:cNvSpPr/>
            <p:nvPr/>
          </p:nvSpPr>
          <p:spPr>
            <a:xfrm>
              <a:off x="3912" y="2136"/>
              <a:ext cx="0" cy="384"/>
            </a:xfrm>
            <a:prstGeom prst="line">
              <a:avLst/>
            </a:prstGeom>
            <a:ln w="9525" cap="flat" cmpd="sng">
              <a:solidFill>
                <a:schemeClr val="tx1"/>
              </a:solidFill>
              <a:prstDash val="solid"/>
              <a:headEnd type="none" w="med" len="med"/>
              <a:tailEnd type="none" w="med" len="med"/>
            </a:ln>
          </p:spPr>
        </p:sp>
        <p:sp>
          <p:nvSpPr>
            <p:cNvPr id="13515" name="Oval 261"/>
            <p:cNvSpPr/>
            <p:nvPr/>
          </p:nvSpPr>
          <p:spPr>
            <a:xfrm>
              <a:off x="3794" y="230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16" name="Oval 262"/>
            <p:cNvSpPr/>
            <p:nvPr/>
          </p:nvSpPr>
          <p:spPr>
            <a:xfrm>
              <a:off x="3889" y="2495"/>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17" name="Oval 263"/>
            <p:cNvSpPr/>
            <p:nvPr/>
          </p:nvSpPr>
          <p:spPr>
            <a:xfrm>
              <a:off x="3696" y="2973"/>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18" name="Line 264"/>
            <p:cNvSpPr/>
            <p:nvPr/>
          </p:nvSpPr>
          <p:spPr>
            <a:xfrm>
              <a:off x="4032" y="2136"/>
              <a:ext cx="0" cy="96"/>
            </a:xfrm>
            <a:prstGeom prst="line">
              <a:avLst/>
            </a:prstGeom>
            <a:ln w="9525" cap="flat" cmpd="sng">
              <a:solidFill>
                <a:schemeClr val="tx1"/>
              </a:solidFill>
              <a:prstDash val="solid"/>
              <a:headEnd type="none" w="med" len="med"/>
              <a:tailEnd type="none" w="med" len="med"/>
            </a:ln>
          </p:spPr>
        </p:sp>
        <p:sp>
          <p:nvSpPr>
            <p:cNvPr id="13519" name="Line 265"/>
            <p:cNvSpPr/>
            <p:nvPr/>
          </p:nvSpPr>
          <p:spPr>
            <a:xfrm>
              <a:off x="4104" y="2136"/>
              <a:ext cx="0" cy="288"/>
            </a:xfrm>
            <a:prstGeom prst="line">
              <a:avLst/>
            </a:prstGeom>
            <a:ln w="9525" cap="flat" cmpd="sng">
              <a:solidFill>
                <a:schemeClr val="tx1"/>
              </a:solidFill>
              <a:prstDash val="solid"/>
              <a:headEnd type="none" w="med" len="med"/>
              <a:tailEnd type="none" w="med" len="med"/>
            </a:ln>
          </p:spPr>
        </p:sp>
        <p:sp>
          <p:nvSpPr>
            <p:cNvPr id="13520" name="Line 266"/>
            <p:cNvSpPr/>
            <p:nvPr/>
          </p:nvSpPr>
          <p:spPr>
            <a:xfrm>
              <a:off x="4200" y="2136"/>
              <a:ext cx="0" cy="960"/>
            </a:xfrm>
            <a:prstGeom prst="line">
              <a:avLst/>
            </a:prstGeom>
            <a:ln w="9525" cap="flat" cmpd="sng">
              <a:solidFill>
                <a:schemeClr val="tx1"/>
              </a:solidFill>
              <a:prstDash val="solid"/>
              <a:headEnd type="none" w="med" len="med"/>
              <a:tailEnd type="none" w="med" len="med"/>
            </a:ln>
          </p:spPr>
        </p:sp>
        <p:sp>
          <p:nvSpPr>
            <p:cNvPr id="13521" name="Oval 267"/>
            <p:cNvSpPr/>
            <p:nvPr/>
          </p:nvSpPr>
          <p:spPr>
            <a:xfrm>
              <a:off x="4008" y="220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22" name="Oval 268"/>
            <p:cNvSpPr/>
            <p:nvPr/>
          </p:nvSpPr>
          <p:spPr>
            <a:xfrm>
              <a:off x="4081" y="239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23" name="Oval 269"/>
            <p:cNvSpPr/>
            <p:nvPr/>
          </p:nvSpPr>
          <p:spPr>
            <a:xfrm>
              <a:off x="4174" y="3071"/>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24" name="Line 270"/>
            <p:cNvSpPr/>
            <p:nvPr/>
          </p:nvSpPr>
          <p:spPr>
            <a:xfrm>
              <a:off x="5160" y="3852"/>
              <a:ext cx="228" cy="0"/>
            </a:xfrm>
            <a:prstGeom prst="line">
              <a:avLst/>
            </a:prstGeom>
            <a:ln w="19050" cap="flat" cmpd="sng">
              <a:solidFill>
                <a:schemeClr val="tx1"/>
              </a:solidFill>
              <a:prstDash val="solid"/>
              <a:headEnd type="none" w="med" len="med"/>
              <a:tailEnd type="none" w="sm" len="lg"/>
            </a:ln>
          </p:spPr>
        </p:sp>
        <p:grpSp>
          <p:nvGrpSpPr>
            <p:cNvPr id="13525" name="Group 271"/>
            <p:cNvGrpSpPr/>
            <p:nvPr/>
          </p:nvGrpSpPr>
          <p:grpSpPr>
            <a:xfrm>
              <a:off x="232" y="1744"/>
              <a:ext cx="302" cy="359"/>
              <a:chOff x="672" y="3961"/>
              <a:chExt cx="302" cy="359"/>
            </a:xfrm>
          </p:grpSpPr>
          <p:grpSp>
            <p:nvGrpSpPr>
              <p:cNvPr id="13580" name="Group 272"/>
              <p:cNvGrpSpPr/>
              <p:nvPr/>
            </p:nvGrpSpPr>
            <p:grpSpPr>
              <a:xfrm>
                <a:off x="672" y="4032"/>
                <a:ext cx="302" cy="288"/>
                <a:chOff x="1728" y="1872"/>
                <a:chExt cx="336" cy="312"/>
              </a:xfrm>
            </p:grpSpPr>
            <p:sp>
              <p:nvSpPr>
                <p:cNvPr id="13582" name="Rectangle 273"/>
                <p:cNvSpPr/>
                <p:nvPr/>
              </p:nvSpPr>
              <p:spPr>
                <a:xfrm>
                  <a:off x="1728" y="1872"/>
                  <a:ext cx="336" cy="240"/>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83" name="Text Box 274"/>
                <p:cNvSpPr txBox="1"/>
                <p:nvPr/>
              </p:nvSpPr>
              <p:spPr>
                <a:xfrm>
                  <a:off x="1776" y="1872"/>
                  <a:ext cx="240" cy="312"/>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&amp;</a:t>
                  </a:r>
                </a:p>
              </p:txBody>
            </p:sp>
          </p:grpSp>
          <p:sp>
            <p:nvSpPr>
              <p:cNvPr id="13581" name="Oval 275"/>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pSp>
        <p:grpSp>
          <p:nvGrpSpPr>
            <p:cNvPr id="13526" name="Group 276"/>
            <p:cNvGrpSpPr/>
            <p:nvPr/>
          </p:nvGrpSpPr>
          <p:grpSpPr>
            <a:xfrm>
              <a:off x="676" y="1732"/>
              <a:ext cx="302" cy="359"/>
              <a:chOff x="672" y="3961"/>
              <a:chExt cx="302" cy="359"/>
            </a:xfrm>
          </p:grpSpPr>
          <p:grpSp>
            <p:nvGrpSpPr>
              <p:cNvPr id="13576" name="Group 277"/>
              <p:cNvGrpSpPr/>
              <p:nvPr/>
            </p:nvGrpSpPr>
            <p:grpSpPr>
              <a:xfrm>
                <a:off x="672" y="4032"/>
                <a:ext cx="302" cy="288"/>
                <a:chOff x="1728" y="1872"/>
                <a:chExt cx="336" cy="312"/>
              </a:xfrm>
            </p:grpSpPr>
            <p:sp>
              <p:nvSpPr>
                <p:cNvPr id="13578" name="Rectangle 278"/>
                <p:cNvSpPr/>
                <p:nvPr/>
              </p:nvSpPr>
              <p:spPr>
                <a:xfrm>
                  <a:off x="1728" y="1872"/>
                  <a:ext cx="336" cy="240"/>
                </a:xfrm>
                <a:prstGeom prst="rect">
                  <a:avLst/>
                </a:prstGeom>
                <a:solidFill>
                  <a:srgbClr val="CCFFFF"/>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79" name="Text Box 279"/>
                <p:cNvSpPr txBox="1"/>
                <p:nvPr/>
              </p:nvSpPr>
              <p:spPr>
                <a:xfrm>
                  <a:off x="1776" y="1872"/>
                  <a:ext cx="240" cy="312"/>
                </a:xfrm>
                <a:prstGeom prst="rect">
                  <a:avLst/>
                </a:prstGeom>
                <a:noFill/>
                <a:ln w="9525">
                  <a:noFill/>
                </a:ln>
              </p:spPr>
              <p:txBody>
                <a:bodyPr>
                  <a:spAutoFit/>
                </a:bodyPr>
                <a:lstStyle/>
                <a:p>
                  <a:pPr>
                    <a:spcBef>
                      <a:spcPct val="50000"/>
                    </a:spcBef>
                  </a:pPr>
                  <a:r>
                    <a:rPr lang="en-US" altLang="zh-CN" sz="2400" dirty="0">
                      <a:latin typeface="Times New Roman" panose="02020603050405020304" pitchFamily="18" charset="0"/>
                    </a:rPr>
                    <a:t>&amp;</a:t>
                  </a:r>
                </a:p>
              </p:txBody>
            </p:sp>
          </p:grpSp>
          <p:sp>
            <p:nvSpPr>
              <p:cNvPr id="13577" name="Oval 280"/>
              <p:cNvSpPr/>
              <p:nvPr/>
            </p:nvSpPr>
            <p:spPr>
              <a:xfrm>
                <a:off x="788" y="3961"/>
                <a:ext cx="70"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pSp>
        <p:sp>
          <p:nvSpPr>
            <p:cNvPr id="13527" name="Line 281"/>
            <p:cNvSpPr/>
            <p:nvPr/>
          </p:nvSpPr>
          <p:spPr>
            <a:xfrm flipV="1">
              <a:off x="372" y="444"/>
              <a:ext cx="0" cy="1296"/>
            </a:xfrm>
            <a:prstGeom prst="line">
              <a:avLst/>
            </a:prstGeom>
            <a:ln w="9525" cap="flat" cmpd="sng">
              <a:solidFill>
                <a:schemeClr val="tx1"/>
              </a:solidFill>
              <a:prstDash val="solid"/>
              <a:headEnd type="none" w="med" len="med"/>
              <a:tailEnd type="none" w="sm" len="lg"/>
            </a:ln>
          </p:spPr>
        </p:sp>
        <p:sp>
          <p:nvSpPr>
            <p:cNvPr id="13528" name="Line 282"/>
            <p:cNvSpPr/>
            <p:nvPr/>
          </p:nvSpPr>
          <p:spPr>
            <a:xfrm flipV="1">
              <a:off x="828" y="456"/>
              <a:ext cx="0" cy="1260"/>
            </a:xfrm>
            <a:prstGeom prst="line">
              <a:avLst/>
            </a:prstGeom>
            <a:ln w="9525" cap="flat" cmpd="sng">
              <a:solidFill>
                <a:schemeClr val="tx1"/>
              </a:solidFill>
              <a:prstDash val="solid"/>
              <a:headEnd type="none" w="med" len="med"/>
              <a:tailEnd type="none" w="sm" len="lg"/>
            </a:ln>
          </p:spPr>
        </p:sp>
        <p:sp>
          <p:nvSpPr>
            <p:cNvPr id="13529" name="Line 283"/>
            <p:cNvSpPr/>
            <p:nvPr/>
          </p:nvSpPr>
          <p:spPr>
            <a:xfrm>
              <a:off x="1344" y="1308"/>
              <a:ext cx="0" cy="864"/>
            </a:xfrm>
            <a:prstGeom prst="line">
              <a:avLst/>
            </a:prstGeom>
            <a:ln w="9525" cap="flat" cmpd="sng">
              <a:solidFill>
                <a:schemeClr val="tx1"/>
              </a:solidFill>
              <a:prstDash val="solid"/>
              <a:headEnd type="none" w="med" len="med"/>
              <a:tailEnd type="none" w="sm" len="lg"/>
            </a:ln>
          </p:spPr>
        </p:sp>
        <p:sp>
          <p:nvSpPr>
            <p:cNvPr id="13530" name="Line 284"/>
            <p:cNvSpPr/>
            <p:nvPr/>
          </p:nvSpPr>
          <p:spPr>
            <a:xfrm>
              <a:off x="1212" y="2172"/>
              <a:ext cx="132" cy="0"/>
            </a:xfrm>
            <a:prstGeom prst="line">
              <a:avLst/>
            </a:prstGeom>
            <a:ln w="9525" cap="flat" cmpd="sng">
              <a:solidFill>
                <a:schemeClr val="tx1"/>
              </a:solidFill>
              <a:prstDash val="solid"/>
              <a:headEnd type="none" w="med" len="med"/>
              <a:tailEnd type="none" w="sm" len="lg"/>
            </a:ln>
          </p:spPr>
        </p:sp>
        <p:sp>
          <p:nvSpPr>
            <p:cNvPr id="13531" name="Line 285"/>
            <p:cNvSpPr/>
            <p:nvPr/>
          </p:nvSpPr>
          <p:spPr>
            <a:xfrm flipH="1">
              <a:off x="1212" y="2112"/>
              <a:ext cx="0" cy="72"/>
            </a:xfrm>
            <a:prstGeom prst="line">
              <a:avLst/>
            </a:prstGeom>
            <a:ln w="9525" cap="flat" cmpd="sng">
              <a:solidFill>
                <a:schemeClr val="tx1"/>
              </a:solidFill>
              <a:prstDash val="solid"/>
              <a:headEnd type="none" w="med" len="med"/>
              <a:tailEnd type="none" w="sm" len="lg"/>
            </a:ln>
          </p:spPr>
        </p:sp>
        <p:sp>
          <p:nvSpPr>
            <p:cNvPr id="13532" name="Line 286"/>
            <p:cNvSpPr/>
            <p:nvPr/>
          </p:nvSpPr>
          <p:spPr>
            <a:xfrm>
              <a:off x="2532" y="1320"/>
              <a:ext cx="0" cy="864"/>
            </a:xfrm>
            <a:prstGeom prst="line">
              <a:avLst/>
            </a:prstGeom>
            <a:ln w="9525" cap="flat" cmpd="sng">
              <a:solidFill>
                <a:schemeClr val="tx1"/>
              </a:solidFill>
              <a:prstDash val="solid"/>
              <a:headEnd type="none" w="med" len="med"/>
              <a:tailEnd type="none" w="sm" len="lg"/>
            </a:ln>
          </p:spPr>
        </p:sp>
        <p:sp>
          <p:nvSpPr>
            <p:cNvPr id="13533" name="Line 287"/>
            <p:cNvSpPr/>
            <p:nvPr/>
          </p:nvSpPr>
          <p:spPr>
            <a:xfrm>
              <a:off x="2376" y="2184"/>
              <a:ext cx="156" cy="0"/>
            </a:xfrm>
            <a:prstGeom prst="line">
              <a:avLst/>
            </a:prstGeom>
            <a:ln w="9525" cap="flat" cmpd="sng">
              <a:solidFill>
                <a:schemeClr val="tx1"/>
              </a:solidFill>
              <a:prstDash val="solid"/>
              <a:headEnd type="none" w="med" len="med"/>
              <a:tailEnd type="none" w="sm" len="lg"/>
            </a:ln>
          </p:spPr>
        </p:sp>
        <p:sp>
          <p:nvSpPr>
            <p:cNvPr id="13534" name="Line 288"/>
            <p:cNvSpPr/>
            <p:nvPr/>
          </p:nvSpPr>
          <p:spPr>
            <a:xfrm>
              <a:off x="2376" y="2124"/>
              <a:ext cx="0" cy="72"/>
            </a:xfrm>
            <a:prstGeom prst="line">
              <a:avLst/>
            </a:prstGeom>
            <a:ln w="9525" cap="flat" cmpd="sng">
              <a:solidFill>
                <a:schemeClr val="tx1"/>
              </a:solidFill>
              <a:prstDash val="solid"/>
              <a:headEnd type="none" w="med" len="med"/>
              <a:tailEnd type="none" w="sm" len="lg"/>
            </a:ln>
          </p:spPr>
        </p:sp>
        <p:sp>
          <p:nvSpPr>
            <p:cNvPr id="13535" name="Line 289"/>
            <p:cNvSpPr/>
            <p:nvPr/>
          </p:nvSpPr>
          <p:spPr>
            <a:xfrm flipH="1">
              <a:off x="3660" y="1320"/>
              <a:ext cx="0" cy="876"/>
            </a:xfrm>
            <a:prstGeom prst="line">
              <a:avLst/>
            </a:prstGeom>
            <a:ln w="9525" cap="flat" cmpd="sng">
              <a:solidFill>
                <a:schemeClr val="tx1"/>
              </a:solidFill>
              <a:prstDash val="solid"/>
              <a:headEnd type="none" w="med" len="med"/>
              <a:tailEnd type="none" w="sm" len="lg"/>
            </a:ln>
          </p:spPr>
        </p:sp>
        <p:sp>
          <p:nvSpPr>
            <p:cNvPr id="13536" name="Line 290"/>
            <p:cNvSpPr/>
            <p:nvPr/>
          </p:nvSpPr>
          <p:spPr>
            <a:xfrm>
              <a:off x="3528" y="2196"/>
              <a:ext cx="144" cy="0"/>
            </a:xfrm>
            <a:prstGeom prst="line">
              <a:avLst/>
            </a:prstGeom>
            <a:ln w="9525" cap="flat" cmpd="sng">
              <a:solidFill>
                <a:schemeClr val="tx1"/>
              </a:solidFill>
              <a:prstDash val="solid"/>
              <a:headEnd type="none" w="med" len="med"/>
              <a:tailEnd type="none" w="sm" len="lg"/>
            </a:ln>
          </p:spPr>
        </p:sp>
        <p:sp>
          <p:nvSpPr>
            <p:cNvPr id="13537" name="Line 291"/>
            <p:cNvSpPr/>
            <p:nvPr/>
          </p:nvSpPr>
          <p:spPr>
            <a:xfrm>
              <a:off x="3528" y="2124"/>
              <a:ext cx="0" cy="84"/>
            </a:xfrm>
            <a:prstGeom prst="line">
              <a:avLst/>
            </a:prstGeom>
            <a:ln w="9525" cap="flat" cmpd="sng">
              <a:solidFill>
                <a:schemeClr val="tx1"/>
              </a:solidFill>
              <a:prstDash val="solid"/>
              <a:headEnd type="none" w="med" len="med"/>
              <a:tailEnd type="none" w="sm" len="lg"/>
            </a:ln>
          </p:spPr>
        </p:sp>
        <p:sp>
          <p:nvSpPr>
            <p:cNvPr id="13538" name="Oval 292"/>
            <p:cNvSpPr/>
            <p:nvPr/>
          </p:nvSpPr>
          <p:spPr>
            <a:xfrm>
              <a:off x="1314" y="129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39" name="Oval 293"/>
            <p:cNvSpPr/>
            <p:nvPr/>
          </p:nvSpPr>
          <p:spPr>
            <a:xfrm>
              <a:off x="2502" y="1309"/>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40" name="Oval 294"/>
            <p:cNvSpPr/>
            <p:nvPr/>
          </p:nvSpPr>
          <p:spPr>
            <a:xfrm>
              <a:off x="3642" y="1297"/>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41" name="Oval 295"/>
            <p:cNvSpPr/>
            <p:nvPr/>
          </p:nvSpPr>
          <p:spPr>
            <a:xfrm>
              <a:off x="4806" y="1309"/>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42" name="Line 296"/>
            <p:cNvSpPr/>
            <p:nvPr/>
          </p:nvSpPr>
          <p:spPr>
            <a:xfrm>
              <a:off x="4824" y="1320"/>
              <a:ext cx="0" cy="852"/>
            </a:xfrm>
            <a:prstGeom prst="line">
              <a:avLst/>
            </a:prstGeom>
            <a:ln w="9525" cap="flat" cmpd="sng">
              <a:solidFill>
                <a:schemeClr val="tx1"/>
              </a:solidFill>
              <a:prstDash val="solid"/>
              <a:headEnd type="none" w="med" len="med"/>
              <a:tailEnd type="none" w="sm" len="lg"/>
            </a:ln>
          </p:spPr>
        </p:sp>
        <p:sp>
          <p:nvSpPr>
            <p:cNvPr id="13543" name="Line 297"/>
            <p:cNvSpPr/>
            <p:nvPr/>
          </p:nvSpPr>
          <p:spPr>
            <a:xfrm>
              <a:off x="4680" y="2184"/>
              <a:ext cx="144" cy="0"/>
            </a:xfrm>
            <a:prstGeom prst="line">
              <a:avLst/>
            </a:prstGeom>
            <a:ln w="9525" cap="flat" cmpd="sng">
              <a:solidFill>
                <a:schemeClr val="tx1"/>
              </a:solidFill>
              <a:prstDash val="solid"/>
              <a:headEnd type="none" w="med" len="med"/>
              <a:tailEnd type="none" w="sm" len="lg"/>
            </a:ln>
          </p:spPr>
        </p:sp>
        <p:sp>
          <p:nvSpPr>
            <p:cNvPr id="13544" name="Line 298"/>
            <p:cNvSpPr/>
            <p:nvPr/>
          </p:nvSpPr>
          <p:spPr>
            <a:xfrm>
              <a:off x="4680" y="2136"/>
              <a:ext cx="0" cy="60"/>
            </a:xfrm>
            <a:prstGeom prst="line">
              <a:avLst/>
            </a:prstGeom>
            <a:ln w="9525" cap="flat" cmpd="sng">
              <a:solidFill>
                <a:schemeClr val="tx1"/>
              </a:solidFill>
              <a:prstDash val="solid"/>
              <a:headEnd type="none" w="med" len="med"/>
              <a:tailEnd type="none" w="sm" len="lg"/>
            </a:ln>
          </p:spPr>
        </p:sp>
        <p:sp>
          <p:nvSpPr>
            <p:cNvPr id="13545" name="Line 299"/>
            <p:cNvSpPr/>
            <p:nvPr/>
          </p:nvSpPr>
          <p:spPr>
            <a:xfrm>
              <a:off x="1632" y="972"/>
              <a:ext cx="0" cy="180"/>
            </a:xfrm>
            <a:prstGeom prst="line">
              <a:avLst/>
            </a:prstGeom>
            <a:ln w="9525" cap="flat" cmpd="sng">
              <a:solidFill>
                <a:schemeClr val="tx1"/>
              </a:solidFill>
              <a:prstDash val="solid"/>
              <a:headEnd type="none" w="med" len="med"/>
              <a:tailEnd type="none" w="sm" len="lg"/>
            </a:ln>
          </p:spPr>
        </p:sp>
        <p:sp>
          <p:nvSpPr>
            <p:cNvPr id="13546" name="Line 300"/>
            <p:cNvSpPr/>
            <p:nvPr/>
          </p:nvSpPr>
          <p:spPr>
            <a:xfrm>
              <a:off x="1632" y="960"/>
              <a:ext cx="372" cy="0"/>
            </a:xfrm>
            <a:prstGeom prst="line">
              <a:avLst/>
            </a:prstGeom>
            <a:ln w="9525" cap="flat" cmpd="sng">
              <a:solidFill>
                <a:schemeClr val="tx1"/>
              </a:solidFill>
              <a:prstDash val="solid"/>
              <a:headEnd type="none" w="med" len="med"/>
              <a:tailEnd type="none" w="sm" len="lg"/>
            </a:ln>
          </p:spPr>
        </p:sp>
        <p:sp>
          <p:nvSpPr>
            <p:cNvPr id="13547" name="Line 301"/>
            <p:cNvSpPr/>
            <p:nvPr/>
          </p:nvSpPr>
          <p:spPr>
            <a:xfrm>
              <a:off x="2808" y="960"/>
              <a:ext cx="0" cy="216"/>
            </a:xfrm>
            <a:prstGeom prst="line">
              <a:avLst/>
            </a:prstGeom>
            <a:ln w="9525" cap="flat" cmpd="sng">
              <a:solidFill>
                <a:schemeClr val="tx1"/>
              </a:solidFill>
              <a:prstDash val="solid"/>
              <a:headEnd type="none" w="med" len="med"/>
              <a:tailEnd type="none" w="sm" len="lg"/>
            </a:ln>
          </p:spPr>
        </p:sp>
        <p:sp>
          <p:nvSpPr>
            <p:cNvPr id="13548" name="Line 302"/>
            <p:cNvSpPr/>
            <p:nvPr/>
          </p:nvSpPr>
          <p:spPr>
            <a:xfrm>
              <a:off x="2808" y="960"/>
              <a:ext cx="360" cy="0"/>
            </a:xfrm>
            <a:prstGeom prst="line">
              <a:avLst/>
            </a:prstGeom>
            <a:ln w="9525" cap="flat" cmpd="sng">
              <a:solidFill>
                <a:schemeClr val="tx1"/>
              </a:solidFill>
              <a:prstDash val="solid"/>
              <a:headEnd type="none" w="med" len="med"/>
              <a:tailEnd type="none" w="sm" len="lg"/>
            </a:ln>
          </p:spPr>
        </p:sp>
        <p:sp>
          <p:nvSpPr>
            <p:cNvPr id="13549" name="Line 303"/>
            <p:cNvSpPr/>
            <p:nvPr/>
          </p:nvSpPr>
          <p:spPr>
            <a:xfrm>
              <a:off x="3948" y="972"/>
              <a:ext cx="0" cy="192"/>
            </a:xfrm>
            <a:prstGeom prst="line">
              <a:avLst/>
            </a:prstGeom>
            <a:ln w="9525" cap="flat" cmpd="sng">
              <a:solidFill>
                <a:schemeClr val="tx1"/>
              </a:solidFill>
              <a:prstDash val="solid"/>
              <a:headEnd type="none" w="med" len="med"/>
              <a:tailEnd type="none" w="sm" len="lg"/>
            </a:ln>
          </p:spPr>
        </p:sp>
        <p:sp>
          <p:nvSpPr>
            <p:cNvPr id="13550" name="Line 304"/>
            <p:cNvSpPr/>
            <p:nvPr/>
          </p:nvSpPr>
          <p:spPr>
            <a:xfrm>
              <a:off x="3960" y="960"/>
              <a:ext cx="336" cy="0"/>
            </a:xfrm>
            <a:prstGeom prst="line">
              <a:avLst/>
            </a:prstGeom>
            <a:ln w="9525" cap="flat" cmpd="sng">
              <a:solidFill>
                <a:schemeClr val="tx1"/>
              </a:solidFill>
              <a:prstDash val="solid"/>
              <a:headEnd type="none" w="med" len="med"/>
              <a:tailEnd type="none" w="sm" len="lg"/>
            </a:ln>
          </p:spPr>
        </p:sp>
        <p:sp>
          <p:nvSpPr>
            <p:cNvPr id="13551" name="Line 305"/>
            <p:cNvSpPr/>
            <p:nvPr/>
          </p:nvSpPr>
          <p:spPr>
            <a:xfrm>
              <a:off x="5100" y="972"/>
              <a:ext cx="0" cy="192"/>
            </a:xfrm>
            <a:prstGeom prst="line">
              <a:avLst/>
            </a:prstGeom>
            <a:ln w="9525" cap="flat" cmpd="sng">
              <a:solidFill>
                <a:schemeClr val="tx1"/>
              </a:solidFill>
              <a:prstDash val="solid"/>
              <a:headEnd type="none" w="med" len="med"/>
              <a:tailEnd type="none" w="sm" len="lg"/>
            </a:ln>
          </p:spPr>
        </p:sp>
        <p:sp>
          <p:nvSpPr>
            <p:cNvPr id="13552" name="Line 306"/>
            <p:cNvSpPr/>
            <p:nvPr/>
          </p:nvSpPr>
          <p:spPr>
            <a:xfrm>
              <a:off x="5100" y="960"/>
              <a:ext cx="360" cy="0"/>
            </a:xfrm>
            <a:prstGeom prst="line">
              <a:avLst/>
            </a:prstGeom>
            <a:ln w="9525" cap="flat" cmpd="sng">
              <a:solidFill>
                <a:schemeClr val="tx1"/>
              </a:solidFill>
              <a:prstDash val="solid"/>
              <a:headEnd type="none" w="med" len="med"/>
              <a:tailEnd type="none" w="sm" len="lg"/>
            </a:ln>
          </p:spPr>
        </p:sp>
        <p:sp>
          <p:nvSpPr>
            <p:cNvPr id="13553" name="Text Box 307"/>
            <p:cNvSpPr txBox="1"/>
            <p:nvPr/>
          </p:nvSpPr>
          <p:spPr>
            <a:xfrm>
              <a:off x="1610" y="981"/>
              <a:ext cx="275" cy="231"/>
            </a:xfrm>
            <a:prstGeom prst="rect">
              <a:avLst/>
            </a:prstGeom>
            <a:noFill/>
            <a:ln w="19050">
              <a:noFill/>
            </a:ln>
          </p:spPr>
          <p:txBody>
            <a:bodyPr wrap="none">
              <a:spAutoFit/>
            </a:bodyPr>
            <a:lstStyle/>
            <a:p>
              <a:pPr>
                <a:spcBef>
                  <a:spcPct val="50000"/>
                </a:spcBef>
              </a:pPr>
              <a:r>
                <a:rPr lang="en-US" altLang="zh-CN" sz="1800" dirty="0">
                  <a:latin typeface="Arial" panose="020B0604020202020204" pitchFamily="34" charset="0"/>
                  <a:sym typeface="Symbol" panose="05050102010706020507" pitchFamily="18" charset="2"/>
                </a:rPr>
                <a:t>1</a:t>
              </a:r>
              <a:endParaRPr lang="en-US" altLang="zh-CN" sz="1800" dirty="0">
                <a:latin typeface="Arial" panose="020B0604020202020204" pitchFamily="34" charset="0"/>
              </a:endParaRPr>
            </a:p>
          </p:txBody>
        </p:sp>
        <p:sp>
          <p:nvSpPr>
            <p:cNvPr id="13554" name="Oval 308"/>
            <p:cNvSpPr/>
            <p:nvPr/>
          </p:nvSpPr>
          <p:spPr>
            <a:xfrm>
              <a:off x="5136" y="1173"/>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55" name="Oval 309"/>
            <p:cNvSpPr/>
            <p:nvPr/>
          </p:nvSpPr>
          <p:spPr>
            <a:xfrm>
              <a:off x="3988" y="1165"/>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56" name="Oval 310"/>
            <p:cNvSpPr/>
            <p:nvPr/>
          </p:nvSpPr>
          <p:spPr>
            <a:xfrm>
              <a:off x="2876" y="1169"/>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57" name="Oval 311"/>
            <p:cNvSpPr/>
            <p:nvPr/>
          </p:nvSpPr>
          <p:spPr>
            <a:xfrm>
              <a:off x="1680" y="1161"/>
              <a:ext cx="69" cy="7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pSp>
          <p:nvGrpSpPr>
            <p:cNvPr id="13558" name="Group 312"/>
            <p:cNvGrpSpPr/>
            <p:nvPr/>
          </p:nvGrpSpPr>
          <p:grpSpPr>
            <a:xfrm>
              <a:off x="1704" y="3339"/>
              <a:ext cx="336" cy="321"/>
              <a:chOff x="2448" y="3859"/>
              <a:chExt cx="336" cy="348"/>
            </a:xfrm>
          </p:grpSpPr>
          <p:sp>
            <p:nvSpPr>
              <p:cNvPr id="13573" name="Rectangle 313"/>
              <p:cNvSpPr/>
              <p:nvPr/>
            </p:nvSpPr>
            <p:spPr>
              <a:xfrm>
                <a:off x="2448" y="3936"/>
                <a:ext cx="336" cy="240"/>
              </a:xfrm>
              <a:prstGeom prst="rect">
                <a:avLst/>
              </a:prstGeom>
              <a:solidFill>
                <a:srgbClr val="00FF00"/>
              </a:solidFill>
              <a:ln w="9525"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74" name="Text Box 314"/>
              <p:cNvSpPr txBox="1"/>
              <p:nvPr/>
            </p:nvSpPr>
            <p:spPr>
              <a:xfrm>
                <a:off x="2496" y="3936"/>
                <a:ext cx="240" cy="271"/>
              </a:xfrm>
              <a:prstGeom prst="rect">
                <a:avLst/>
              </a:prstGeom>
              <a:noFill/>
              <a:ln w="9525">
                <a:noFill/>
              </a:ln>
            </p:spPr>
            <p:txBody>
              <a:bodyPr>
                <a:spAutoFit/>
              </a:bodyPr>
              <a:lstStyle/>
              <a:p>
                <a:pPr algn="ctr">
                  <a:spcBef>
                    <a:spcPct val="50000"/>
                  </a:spcBef>
                </a:pPr>
                <a:r>
                  <a:rPr lang="en-US" altLang="zh-CN" dirty="0">
                    <a:latin typeface="Times New Roman" panose="02020603050405020304" pitchFamily="18" charset="0"/>
                    <a:sym typeface="Symbol" panose="05050102010706020507" pitchFamily="18" charset="2"/>
                  </a:rPr>
                  <a:t>1</a:t>
                </a:r>
                <a:endParaRPr lang="en-US" altLang="zh-CN" sz="2400" dirty="0">
                  <a:latin typeface="Times New Roman" panose="02020603050405020304" pitchFamily="18" charset="0"/>
                </a:endParaRPr>
              </a:p>
            </p:txBody>
          </p:sp>
          <p:sp>
            <p:nvSpPr>
              <p:cNvPr id="13575" name="Oval 315"/>
              <p:cNvSpPr/>
              <p:nvPr/>
            </p:nvSpPr>
            <p:spPr>
              <a:xfrm>
                <a:off x="2563" y="3859"/>
                <a:ext cx="77" cy="77"/>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pSp>
        <p:sp>
          <p:nvSpPr>
            <p:cNvPr id="13559" name="Line 316"/>
            <p:cNvSpPr/>
            <p:nvPr/>
          </p:nvSpPr>
          <p:spPr>
            <a:xfrm>
              <a:off x="1500" y="2124"/>
              <a:ext cx="0" cy="972"/>
            </a:xfrm>
            <a:prstGeom prst="line">
              <a:avLst/>
            </a:prstGeom>
            <a:ln w="9525" cap="flat" cmpd="sng">
              <a:solidFill>
                <a:schemeClr val="tx1"/>
              </a:solidFill>
              <a:prstDash val="solid"/>
              <a:headEnd type="none" w="med" len="med"/>
              <a:tailEnd type="none" w="sm" len="lg"/>
            </a:ln>
          </p:spPr>
        </p:sp>
        <p:sp>
          <p:nvSpPr>
            <p:cNvPr id="13560" name="Line 317"/>
            <p:cNvSpPr/>
            <p:nvPr/>
          </p:nvSpPr>
          <p:spPr>
            <a:xfrm>
              <a:off x="1620" y="2112"/>
              <a:ext cx="0" cy="900"/>
            </a:xfrm>
            <a:prstGeom prst="line">
              <a:avLst/>
            </a:prstGeom>
            <a:ln w="9525" cap="flat" cmpd="sng">
              <a:solidFill>
                <a:schemeClr val="tx1"/>
              </a:solidFill>
              <a:prstDash val="solid"/>
              <a:headEnd type="none" w="med" len="med"/>
              <a:tailEnd type="none" w="sm" len="lg"/>
            </a:ln>
          </p:spPr>
        </p:sp>
        <p:sp>
          <p:nvSpPr>
            <p:cNvPr id="13561" name="Oval 318"/>
            <p:cNvSpPr/>
            <p:nvPr/>
          </p:nvSpPr>
          <p:spPr>
            <a:xfrm>
              <a:off x="1818" y="2990"/>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62" name="Oval 319"/>
            <p:cNvSpPr/>
            <p:nvPr/>
          </p:nvSpPr>
          <p:spPr>
            <a:xfrm>
              <a:off x="1482" y="3074"/>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63" name="Line 320"/>
            <p:cNvSpPr/>
            <p:nvPr/>
          </p:nvSpPr>
          <p:spPr>
            <a:xfrm>
              <a:off x="696" y="2016"/>
              <a:ext cx="0" cy="996"/>
            </a:xfrm>
            <a:prstGeom prst="line">
              <a:avLst/>
            </a:prstGeom>
            <a:ln w="9525" cap="flat" cmpd="sng">
              <a:solidFill>
                <a:schemeClr val="tx1"/>
              </a:solidFill>
              <a:prstDash val="solid"/>
              <a:headEnd type="none" w="med" len="med"/>
              <a:tailEnd type="none" w="sm" len="lg"/>
            </a:ln>
          </p:spPr>
        </p:sp>
        <p:sp>
          <p:nvSpPr>
            <p:cNvPr id="13564" name="Oval 321"/>
            <p:cNvSpPr/>
            <p:nvPr/>
          </p:nvSpPr>
          <p:spPr>
            <a:xfrm>
              <a:off x="1302" y="3074"/>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65" name="Oval 322"/>
            <p:cNvSpPr/>
            <p:nvPr/>
          </p:nvSpPr>
          <p:spPr>
            <a:xfrm>
              <a:off x="1594" y="2982"/>
              <a:ext cx="48" cy="48"/>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3566" name="Line 323"/>
            <p:cNvSpPr/>
            <p:nvPr/>
          </p:nvSpPr>
          <p:spPr>
            <a:xfrm>
              <a:off x="240" y="2040"/>
              <a:ext cx="0" cy="1056"/>
            </a:xfrm>
            <a:prstGeom prst="line">
              <a:avLst/>
            </a:prstGeom>
            <a:ln w="9525" cap="flat" cmpd="sng">
              <a:solidFill>
                <a:schemeClr val="tx1"/>
              </a:solidFill>
              <a:prstDash val="solid"/>
              <a:headEnd type="none" w="med" len="med"/>
              <a:tailEnd type="none" w="sm" len="lg"/>
            </a:ln>
          </p:spPr>
        </p:sp>
        <p:grpSp>
          <p:nvGrpSpPr>
            <p:cNvPr id="13567" name="Group 324"/>
            <p:cNvGrpSpPr/>
            <p:nvPr/>
          </p:nvGrpSpPr>
          <p:grpSpPr>
            <a:xfrm>
              <a:off x="748" y="255"/>
              <a:ext cx="425" cy="288"/>
              <a:chOff x="338" y="314"/>
              <a:chExt cx="425" cy="288"/>
            </a:xfrm>
          </p:grpSpPr>
          <p:sp>
            <p:nvSpPr>
              <p:cNvPr id="13571" name="Text Box 325"/>
              <p:cNvSpPr txBox="1"/>
              <p:nvPr/>
            </p:nvSpPr>
            <p:spPr>
              <a:xfrm>
                <a:off x="338" y="314"/>
                <a:ext cx="425" cy="288"/>
              </a:xfrm>
              <a:prstGeom prst="rect">
                <a:avLst/>
              </a:prstGeom>
              <a:noFill/>
              <a:ln w="19050">
                <a:noFill/>
              </a:ln>
            </p:spPr>
            <p:txBody>
              <a:bodyPr wrap="none">
                <a:spAutoFit/>
              </a:bodyPr>
              <a:lstStyle/>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CB</a:t>
                </a:r>
              </a:p>
            </p:txBody>
          </p:sp>
          <p:sp>
            <p:nvSpPr>
              <p:cNvPr id="13572" name="Line 326"/>
              <p:cNvSpPr/>
              <p:nvPr/>
            </p:nvSpPr>
            <p:spPr>
              <a:xfrm>
                <a:off x="396" y="360"/>
                <a:ext cx="132" cy="0"/>
              </a:xfrm>
              <a:prstGeom prst="line">
                <a:avLst/>
              </a:prstGeom>
              <a:ln w="19050" cap="flat" cmpd="sng">
                <a:solidFill>
                  <a:schemeClr val="tx1"/>
                </a:solidFill>
                <a:prstDash val="solid"/>
                <a:headEnd type="none" w="med" len="med"/>
                <a:tailEnd type="none" w="sm" len="lg"/>
              </a:ln>
            </p:spPr>
          </p:sp>
        </p:grpSp>
        <p:grpSp>
          <p:nvGrpSpPr>
            <p:cNvPr id="13568" name="Group 327"/>
            <p:cNvGrpSpPr/>
            <p:nvPr/>
          </p:nvGrpSpPr>
          <p:grpSpPr>
            <a:xfrm>
              <a:off x="340" y="255"/>
              <a:ext cx="425" cy="288"/>
              <a:chOff x="794" y="302"/>
              <a:chExt cx="425" cy="288"/>
            </a:xfrm>
          </p:grpSpPr>
          <p:sp>
            <p:nvSpPr>
              <p:cNvPr id="13569" name="Text Box 328"/>
              <p:cNvSpPr txBox="1"/>
              <p:nvPr/>
            </p:nvSpPr>
            <p:spPr>
              <a:xfrm>
                <a:off x="794" y="302"/>
                <a:ext cx="425" cy="288"/>
              </a:xfrm>
              <a:prstGeom prst="rect">
                <a:avLst/>
              </a:prstGeom>
              <a:noFill/>
              <a:ln w="19050">
                <a:noFill/>
              </a:ln>
            </p:spPr>
            <p:txBody>
              <a:bodyPr wrap="none">
                <a:spAutoFit/>
              </a:bodyPr>
              <a:lstStyle/>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CC</a:t>
                </a:r>
              </a:p>
            </p:txBody>
          </p:sp>
          <p:sp>
            <p:nvSpPr>
              <p:cNvPr id="13570" name="Line 329"/>
              <p:cNvSpPr/>
              <p:nvPr/>
            </p:nvSpPr>
            <p:spPr>
              <a:xfrm>
                <a:off x="840" y="348"/>
                <a:ext cx="156" cy="0"/>
              </a:xfrm>
              <a:prstGeom prst="line">
                <a:avLst/>
              </a:prstGeom>
              <a:ln w="19050" cap="flat" cmpd="sng">
                <a:solidFill>
                  <a:schemeClr val="tx1"/>
                </a:solidFill>
                <a:prstDash val="solid"/>
                <a:headEnd type="none" w="med" len="med"/>
                <a:tailEnd type="none" w="sm" len="lg"/>
              </a:ln>
            </p:spPr>
          </p:sp>
        </p:grpSp>
      </p:gr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idx="1"/>
          </p:nvPr>
        </p:nvSpPr>
        <p:spPr>
          <a:xfrm>
            <a:off x="171450" y="819150"/>
            <a:ext cx="8782050" cy="609600"/>
          </a:xfrm>
        </p:spPr>
        <p:txBody>
          <a:bodyPr vert="horz" wrap="square" lIns="91440" tIns="45720" rIns="91440" bIns="45720" anchor="t" anchorCtr="0"/>
          <a:lstStyle/>
          <a:p>
            <a:pPr eaLnBrk="1" hangingPunct="1">
              <a:lnSpc>
                <a:spcPct val="90000"/>
              </a:lnSpc>
              <a:buNone/>
            </a:pPr>
            <a:r>
              <a:rPr lang="zh-CN" altLang="en-US" sz="2800" dirty="0">
                <a:latin typeface="Times New Roman" panose="02020603050405020304" pitchFamily="18" charset="0"/>
              </a:rPr>
              <a:t>例</a:t>
            </a:r>
            <a:r>
              <a:rPr lang="en-US" altLang="zh-CN" sz="2800" dirty="0">
                <a:latin typeface="Times New Roman" panose="02020603050405020304" pitchFamily="18" charset="0"/>
              </a:rPr>
              <a:t>1 : </a:t>
            </a:r>
            <a:r>
              <a:rPr lang="zh-CN" altLang="en-US" sz="2800" dirty="0">
                <a:latin typeface="Times New Roman" panose="02020603050405020304" pitchFamily="18" charset="0"/>
              </a:rPr>
              <a:t>用</a:t>
            </a:r>
            <a:r>
              <a:rPr lang="en-US" altLang="zh-CN" sz="2800" dirty="0">
                <a:latin typeface="Times New Roman" panose="02020603050405020304" pitchFamily="18" charset="0"/>
              </a:rPr>
              <a:t>74LS193</a:t>
            </a:r>
            <a:r>
              <a:rPr lang="zh-CN" altLang="en-US" sz="2800" dirty="0"/>
              <a:t>利用反馈归零法构成十进制加法计数器</a:t>
            </a:r>
          </a:p>
        </p:txBody>
      </p:sp>
      <p:grpSp>
        <p:nvGrpSpPr>
          <p:cNvPr id="316419" name="Group 3"/>
          <p:cNvGrpSpPr/>
          <p:nvPr/>
        </p:nvGrpSpPr>
        <p:grpSpPr>
          <a:xfrm>
            <a:off x="1104900" y="1809750"/>
            <a:ext cx="5715000" cy="3900488"/>
            <a:chOff x="696" y="1140"/>
            <a:chExt cx="3600" cy="2457"/>
          </a:xfrm>
        </p:grpSpPr>
        <p:grpSp>
          <p:nvGrpSpPr>
            <p:cNvPr id="14340" name="Group 4"/>
            <p:cNvGrpSpPr/>
            <p:nvPr/>
          </p:nvGrpSpPr>
          <p:grpSpPr>
            <a:xfrm>
              <a:off x="696" y="1140"/>
              <a:ext cx="3600" cy="2055"/>
              <a:chOff x="768" y="1392"/>
              <a:chExt cx="3600" cy="2055"/>
            </a:xfrm>
          </p:grpSpPr>
          <p:sp>
            <p:nvSpPr>
              <p:cNvPr id="14345" name="Rectangle 5"/>
              <p:cNvSpPr/>
              <p:nvPr/>
            </p:nvSpPr>
            <p:spPr>
              <a:xfrm>
                <a:off x="1632" y="2064"/>
                <a:ext cx="2352" cy="1344"/>
              </a:xfrm>
              <a:prstGeom prst="rect">
                <a:avLst/>
              </a:prstGeom>
              <a:solidFill>
                <a:srgbClr val="E1FDFF"/>
              </a:solidFill>
              <a:ln w="31750"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16422" name="Rectangle 6"/>
              <p:cNvSpPr>
                <a:spLocks noChangeArrowheads="1"/>
              </p:cNvSpPr>
              <p:nvPr/>
            </p:nvSpPr>
            <p:spPr bwMode="auto">
              <a:xfrm>
                <a:off x="3648" y="2112"/>
                <a:ext cx="35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r</a:t>
                </a:r>
              </a:p>
            </p:txBody>
          </p:sp>
          <p:sp>
            <p:nvSpPr>
              <p:cNvPr id="316423" name="Rectangle 7"/>
              <p:cNvSpPr>
                <a:spLocks noChangeArrowheads="1"/>
              </p:cNvSpPr>
              <p:nvPr/>
            </p:nvSpPr>
            <p:spPr bwMode="auto">
              <a:xfrm>
                <a:off x="1632" y="2441"/>
                <a:ext cx="5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U</a:t>
                </a:r>
              </a:p>
            </p:txBody>
          </p:sp>
          <p:sp>
            <p:nvSpPr>
              <p:cNvPr id="316424" name="Rectangle 8"/>
              <p:cNvSpPr>
                <a:spLocks noChangeArrowheads="1"/>
              </p:cNvSpPr>
              <p:nvPr/>
            </p:nvSpPr>
            <p:spPr bwMode="auto">
              <a:xfrm>
                <a:off x="1632" y="2873"/>
                <a:ext cx="5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p>
            </p:txBody>
          </p:sp>
          <p:sp>
            <p:nvSpPr>
              <p:cNvPr id="316425" name="Rectangle 9"/>
              <p:cNvSpPr>
                <a:spLocks noChangeArrowheads="1"/>
              </p:cNvSpPr>
              <p:nvPr/>
            </p:nvSpPr>
            <p:spPr bwMode="auto">
              <a:xfrm>
                <a:off x="2112" y="3113"/>
                <a:ext cx="107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  C  B  A</a:t>
                </a:r>
              </a:p>
            </p:txBody>
          </p:sp>
          <p:sp>
            <p:nvSpPr>
              <p:cNvPr id="316426" name="Rectangle 10"/>
              <p:cNvSpPr>
                <a:spLocks noChangeArrowheads="1"/>
              </p:cNvSpPr>
              <p:nvPr/>
            </p:nvSpPr>
            <p:spPr bwMode="auto">
              <a:xfrm>
                <a:off x="3408" y="3120"/>
                <a:ext cx="4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LD</a:t>
                </a:r>
              </a:p>
            </p:txBody>
          </p:sp>
          <p:sp>
            <p:nvSpPr>
              <p:cNvPr id="316427" name="Rectangle 11"/>
              <p:cNvSpPr>
                <a:spLocks noChangeArrowheads="1"/>
              </p:cNvSpPr>
              <p:nvPr/>
            </p:nvSpPr>
            <p:spPr bwMode="auto">
              <a:xfrm>
                <a:off x="1728" y="2057"/>
                <a:ext cx="141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  </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  </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B  </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p>
            </p:txBody>
          </p:sp>
          <p:sp>
            <p:nvSpPr>
              <p:cNvPr id="316428" name="Rectangle 12"/>
              <p:cNvSpPr>
                <a:spLocks noChangeArrowheads="1"/>
              </p:cNvSpPr>
              <p:nvPr/>
            </p:nvSpPr>
            <p:spPr bwMode="auto">
              <a:xfrm>
                <a:off x="3504" y="2393"/>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CC</a:t>
                </a:r>
              </a:p>
            </p:txBody>
          </p:sp>
          <p:sp>
            <p:nvSpPr>
              <p:cNvPr id="316429" name="Rectangle 13"/>
              <p:cNvSpPr>
                <a:spLocks noChangeArrowheads="1"/>
              </p:cNvSpPr>
              <p:nvPr/>
            </p:nvSpPr>
            <p:spPr bwMode="auto">
              <a:xfrm>
                <a:off x="3504" y="2777"/>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CB</a:t>
                </a:r>
              </a:p>
            </p:txBody>
          </p:sp>
          <p:sp>
            <p:nvSpPr>
              <p:cNvPr id="14354" name="Line 14"/>
              <p:cNvSpPr/>
              <p:nvPr/>
            </p:nvSpPr>
            <p:spPr>
              <a:xfrm>
                <a:off x="3552" y="2832"/>
                <a:ext cx="240" cy="0"/>
              </a:xfrm>
              <a:prstGeom prst="line">
                <a:avLst/>
              </a:prstGeom>
              <a:ln w="9525" cap="flat" cmpd="sng">
                <a:solidFill>
                  <a:schemeClr val="tx1"/>
                </a:solidFill>
                <a:prstDash val="solid"/>
                <a:headEnd type="none" w="med" len="med"/>
                <a:tailEnd type="none" w="med" len="med"/>
              </a:ln>
            </p:spPr>
          </p:sp>
          <p:sp>
            <p:nvSpPr>
              <p:cNvPr id="14355" name="Line 15"/>
              <p:cNvSpPr/>
              <p:nvPr/>
            </p:nvSpPr>
            <p:spPr>
              <a:xfrm>
                <a:off x="3504" y="2448"/>
                <a:ext cx="288" cy="0"/>
              </a:xfrm>
              <a:prstGeom prst="line">
                <a:avLst/>
              </a:prstGeom>
              <a:ln w="9525" cap="flat" cmpd="sng">
                <a:solidFill>
                  <a:schemeClr val="tx1"/>
                </a:solidFill>
                <a:prstDash val="solid"/>
                <a:headEnd type="none" w="med" len="med"/>
                <a:tailEnd type="none" w="med" len="med"/>
              </a:ln>
            </p:spPr>
          </p:sp>
          <p:sp>
            <p:nvSpPr>
              <p:cNvPr id="316432" name="Rectangle 16"/>
              <p:cNvSpPr>
                <a:spLocks noChangeArrowheads="1"/>
              </p:cNvSpPr>
              <p:nvPr/>
            </p:nvSpPr>
            <p:spPr bwMode="auto">
              <a:xfrm>
                <a:off x="2256" y="2537"/>
                <a:ext cx="93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74LS193</a:t>
                </a:r>
              </a:p>
            </p:txBody>
          </p:sp>
          <p:sp>
            <p:nvSpPr>
              <p:cNvPr id="14357" name="Line 17"/>
              <p:cNvSpPr/>
              <p:nvPr/>
            </p:nvSpPr>
            <p:spPr>
              <a:xfrm>
                <a:off x="3984" y="2256"/>
                <a:ext cx="384" cy="0"/>
              </a:xfrm>
              <a:prstGeom prst="line">
                <a:avLst/>
              </a:prstGeom>
              <a:ln w="9525" cap="flat" cmpd="sng">
                <a:solidFill>
                  <a:schemeClr val="tx1"/>
                </a:solidFill>
                <a:prstDash val="solid"/>
                <a:headEnd type="none" w="med" len="med"/>
                <a:tailEnd type="none" w="med" len="med"/>
              </a:ln>
            </p:spPr>
          </p:sp>
          <p:sp>
            <p:nvSpPr>
              <p:cNvPr id="14358" name="Line 18"/>
              <p:cNvSpPr/>
              <p:nvPr/>
            </p:nvSpPr>
            <p:spPr>
              <a:xfrm>
                <a:off x="3552" y="3120"/>
                <a:ext cx="336" cy="0"/>
              </a:xfrm>
              <a:prstGeom prst="line">
                <a:avLst/>
              </a:prstGeom>
              <a:ln w="9525" cap="flat" cmpd="sng">
                <a:solidFill>
                  <a:schemeClr val="tx1"/>
                </a:solidFill>
                <a:prstDash val="solid"/>
                <a:headEnd type="none" w="med" len="med"/>
                <a:tailEnd type="none" w="med" len="med"/>
              </a:ln>
            </p:spPr>
          </p:sp>
          <p:sp>
            <p:nvSpPr>
              <p:cNvPr id="14359" name="Line 19"/>
              <p:cNvSpPr/>
              <p:nvPr/>
            </p:nvSpPr>
            <p:spPr>
              <a:xfrm flipH="1">
                <a:off x="1200" y="2640"/>
                <a:ext cx="432" cy="0"/>
              </a:xfrm>
              <a:prstGeom prst="line">
                <a:avLst/>
              </a:prstGeom>
              <a:ln w="9525" cap="flat" cmpd="sng">
                <a:solidFill>
                  <a:schemeClr val="tx1"/>
                </a:solidFill>
                <a:prstDash val="solid"/>
                <a:headEnd type="none" w="med" len="med"/>
                <a:tailEnd type="none" w="med" len="med"/>
              </a:ln>
            </p:spPr>
          </p:sp>
          <p:sp>
            <p:nvSpPr>
              <p:cNvPr id="316436" name="Rectangle 20"/>
              <p:cNvSpPr>
                <a:spLocks noChangeArrowheads="1"/>
              </p:cNvSpPr>
              <p:nvPr/>
            </p:nvSpPr>
            <p:spPr bwMode="auto">
              <a:xfrm>
                <a:off x="768" y="2489"/>
                <a:ext cx="3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p>
            </p:txBody>
          </p:sp>
          <p:sp>
            <p:nvSpPr>
              <p:cNvPr id="14361" name="Line 21"/>
              <p:cNvSpPr/>
              <p:nvPr/>
            </p:nvSpPr>
            <p:spPr>
              <a:xfrm flipV="1">
                <a:off x="1920" y="1392"/>
                <a:ext cx="0" cy="672"/>
              </a:xfrm>
              <a:prstGeom prst="line">
                <a:avLst/>
              </a:prstGeom>
              <a:ln w="9525" cap="flat" cmpd="sng">
                <a:solidFill>
                  <a:schemeClr val="tx1"/>
                </a:solidFill>
                <a:prstDash val="solid"/>
                <a:headEnd type="none" w="med" len="med"/>
                <a:tailEnd type="none" w="med" len="med"/>
              </a:ln>
            </p:spPr>
          </p:sp>
          <p:sp>
            <p:nvSpPr>
              <p:cNvPr id="14362" name="Line 22"/>
              <p:cNvSpPr/>
              <p:nvPr/>
            </p:nvSpPr>
            <p:spPr>
              <a:xfrm flipV="1">
                <a:off x="2256" y="1392"/>
                <a:ext cx="0" cy="672"/>
              </a:xfrm>
              <a:prstGeom prst="line">
                <a:avLst/>
              </a:prstGeom>
              <a:ln w="9525" cap="flat" cmpd="sng">
                <a:solidFill>
                  <a:schemeClr val="tx1"/>
                </a:solidFill>
                <a:prstDash val="solid"/>
                <a:headEnd type="none" w="med" len="med"/>
                <a:tailEnd type="none" w="med" len="med"/>
              </a:ln>
            </p:spPr>
          </p:sp>
          <p:sp>
            <p:nvSpPr>
              <p:cNvPr id="14363" name="Line 23"/>
              <p:cNvSpPr/>
              <p:nvPr/>
            </p:nvSpPr>
            <p:spPr>
              <a:xfrm flipH="1" flipV="1">
                <a:off x="2592" y="1392"/>
                <a:ext cx="0" cy="672"/>
              </a:xfrm>
              <a:prstGeom prst="line">
                <a:avLst/>
              </a:prstGeom>
              <a:ln w="9525" cap="flat" cmpd="sng">
                <a:solidFill>
                  <a:schemeClr val="tx1"/>
                </a:solidFill>
                <a:prstDash val="solid"/>
                <a:headEnd type="none" w="med" len="med"/>
                <a:tailEnd type="none" w="med" len="med"/>
              </a:ln>
            </p:spPr>
          </p:sp>
          <p:sp>
            <p:nvSpPr>
              <p:cNvPr id="14364" name="Line 24"/>
              <p:cNvSpPr/>
              <p:nvPr/>
            </p:nvSpPr>
            <p:spPr>
              <a:xfrm flipV="1">
                <a:off x="2928" y="1392"/>
                <a:ext cx="0" cy="672"/>
              </a:xfrm>
              <a:prstGeom prst="line">
                <a:avLst/>
              </a:prstGeom>
              <a:ln w="9525" cap="flat" cmpd="sng">
                <a:solidFill>
                  <a:schemeClr val="tx1"/>
                </a:solidFill>
                <a:prstDash val="solid"/>
                <a:headEnd type="none" w="med" len="med"/>
                <a:tailEnd type="none" w="med" len="med"/>
              </a:ln>
            </p:spPr>
          </p:sp>
          <p:sp>
            <p:nvSpPr>
              <p:cNvPr id="14365" name="Rectangle 25"/>
              <p:cNvSpPr/>
              <p:nvPr/>
            </p:nvSpPr>
            <p:spPr>
              <a:xfrm>
                <a:off x="3696" y="1392"/>
                <a:ext cx="336" cy="576"/>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4366" name="Line 26"/>
              <p:cNvSpPr/>
              <p:nvPr/>
            </p:nvSpPr>
            <p:spPr>
              <a:xfrm flipH="1">
                <a:off x="1920" y="1536"/>
                <a:ext cx="1776" cy="0"/>
              </a:xfrm>
              <a:prstGeom prst="line">
                <a:avLst/>
              </a:prstGeom>
              <a:ln w="9525" cap="flat" cmpd="sng">
                <a:solidFill>
                  <a:schemeClr val="tx1"/>
                </a:solidFill>
                <a:prstDash val="solid"/>
                <a:headEnd type="none" w="med" len="med"/>
                <a:tailEnd type="none" w="med" len="med"/>
              </a:ln>
            </p:spPr>
          </p:sp>
          <p:sp>
            <p:nvSpPr>
              <p:cNvPr id="14367" name="Line 27"/>
              <p:cNvSpPr/>
              <p:nvPr/>
            </p:nvSpPr>
            <p:spPr>
              <a:xfrm flipH="1">
                <a:off x="2592" y="1776"/>
                <a:ext cx="1104" cy="0"/>
              </a:xfrm>
              <a:prstGeom prst="line">
                <a:avLst/>
              </a:prstGeom>
              <a:ln w="9525" cap="flat" cmpd="sng">
                <a:solidFill>
                  <a:schemeClr val="tx1"/>
                </a:solidFill>
                <a:prstDash val="solid"/>
                <a:headEnd type="none" w="med" len="med"/>
                <a:tailEnd type="none" w="med" len="med"/>
              </a:ln>
            </p:spPr>
          </p:sp>
          <p:sp>
            <p:nvSpPr>
              <p:cNvPr id="14368" name="Line 28"/>
              <p:cNvSpPr/>
              <p:nvPr/>
            </p:nvSpPr>
            <p:spPr>
              <a:xfrm>
                <a:off x="4032" y="1680"/>
                <a:ext cx="336" cy="0"/>
              </a:xfrm>
              <a:prstGeom prst="line">
                <a:avLst/>
              </a:prstGeom>
              <a:ln w="9525" cap="flat" cmpd="sng">
                <a:solidFill>
                  <a:schemeClr val="tx1"/>
                </a:solidFill>
                <a:prstDash val="solid"/>
                <a:headEnd type="none" w="med" len="med"/>
                <a:tailEnd type="none" w="med" len="med"/>
              </a:ln>
            </p:spPr>
          </p:sp>
          <p:sp>
            <p:nvSpPr>
              <p:cNvPr id="14369" name="Line 29"/>
              <p:cNvSpPr/>
              <p:nvPr/>
            </p:nvSpPr>
            <p:spPr>
              <a:xfrm>
                <a:off x="4368" y="1680"/>
                <a:ext cx="0" cy="576"/>
              </a:xfrm>
              <a:prstGeom prst="line">
                <a:avLst/>
              </a:prstGeom>
              <a:ln w="9525" cap="flat" cmpd="sng">
                <a:solidFill>
                  <a:schemeClr val="tx1"/>
                </a:solidFill>
                <a:prstDash val="solid"/>
                <a:headEnd type="none" w="med" len="med"/>
                <a:tailEnd type="none" w="med" len="med"/>
              </a:ln>
            </p:spPr>
          </p:sp>
          <p:sp>
            <p:nvSpPr>
              <p:cNvPr id="316446" name="Rectangle 30"/>
              <p:cNvSpPr>
                <a:spLocks noChangeArrowheads="1"/>
              </p:cNvSpPr>
              <p:nvPr/>
            </p:nvSpPr>
            <p:spPr bwMode="auto">
              <a:xfrm>
                <a:off x="3696" y="1529"/>
                <a:ext cx="2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&amp;</a:t>
                </a:r>
              </a:p>
            </p:txBody>
          </p:sp>
          <p:sp>
            <p:nvSpPr>
              <p:cNvPr id="14371" name="Oval 31"/>
              <p:cNvSpPr/>
              <p:nvPr/>
            </p:nvSpPr>
            <p:spPr>
              <a:xfrm>
                <a:off x="1872" y="1488"/>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4372" name="Oval 32"/>
              <p:cNvSpPr/>
              <p:nvPr/>
            </p:nvSpPr>
            <p:spPr>
              <a:xfrm>
                <a:off x="2544" y="1728"/>
                <a:ext cx="96" cy="96"/>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grpSp>
        <p:sp>
          <p:nvSpPr>
            <p:cNvPr id="14341" name="Line 33"/>
            <p:cNvSpPr/>
            <p:nvPr/>
          </p:nvSpPr>
          <p:spPr>
            <a:xfrm>
              <a:off x="1128" y="2844"/>
              <a:ext cx="432" cy="0"/>
            </a:xfrm>
            <a:prstGeom prst="line">
              <a:avLst/>
            </a:prstGeom>
            <a:ln w="19050" cap="flat" cmpd="sng">
              <a:solidFill>
                <a:schemeClr val="tx1"/>
              </a:solidFill>
              <a:prstDash val="solid"/>
              <a:headEnd type="none" w="med" len="med"/>
              <a:tailEnd type="none" w="sm" len="lg"/>
            </a:ln>
          </p:spPr>
        </p:sp>
        <p:sp>
          <p:nvSpPr>
            <p:cNvPr id="14342" name="Line 34"/>
            <p:cNvSpPr/>
            <p:nvPr/>
          </p:nvSpPr>
          <p:spPr>
            <a:xfrm>
              <a:off x="3624" y="3156"/>
              <a:ext cx="0" cy="312"/>
            </a:xfrm>
            <a:prstGeom prst="line">
              <a:avLst/>
            </a:prstGeom>
            <a:ln w="19050" cap="flat" cmpd="sng">
              <a:solidFill>
                <a:schemeClr val="tx1"/>
              </a:solidFill>
              <a:prstDash val="solid"/>
              <a:headEnd type="none" w="med" len="med"/>
              <a:tailEnd type="none" w="sm" len="lg"/>
            </a:ln>
          </p:spPr>
        </p:sp>
        <p:sp>
          <p:nvSpPr>
            <p:cNvPr id="14343" name="Text Box 35"/>
            <p:cNvSpPr txBox="1"/>
            <p:nvPr/>
          </p:nvSpPr>
          <p:spPr>
            <a:xfrm>
              <a:off x="3722" y="327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14344" name="Text Box 36"/>
            <p:cNvSpPr txBox="1"/>
            <p:nvPr/>
          </p:nvSpPr>
          <p:spPr>
            <a:xfrm>
              <a:off x="842" y="2622"/>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16419"/>
                                        </p:tgtEl>
                                        <p:attrNameLst>
                                          <p:attrName>style.visibility</p:attrName>
                                        </p:attrNameLst>
                                      </p:cBhvr>
                                      <p:to>
                                        <p:strVal val="visible"/>
                                      </p:to>
                                    </p:set>
                                    <p:animEffect transition="in" filter="slide(fromBottom)">
                                      <p:cBhvr>
                                        <p:cTn id="7" dur="2000"/>
                                        <p:tgtEl>
                                          <p:spTgt spid="316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idx="1"/>
          </p:nvPr>
        </p:nvSpPr>
        <p:spPr>
          <a:xfrm>
            <a:off x="723900" y="1828800"/>
            <a:ext cx="7924800" cy="3238500"/>
          </a:xfrm>
        </p:spPr>
        <p:txBody>
          <a:bodyPr vert="horz" wrap="square" lIns="91440" tIns="45720" rIns="91440" bIns="45720" anchor="t" anchorCtr="0"/>
          <a:lstStyle/>
          <a:p>
            <a:pPr eaLnBrk="1" hangingPunct="1">
              <a:buNone/>
            </a:pPr>
            <a:r>
              <a:rPr lang="en-US" altLang="zh-CN" sz="2800" dirty="0"/>
              <a:t> </a:t>
            </a:r>
            <a:r>
              <a:rPr lang="en-US" altLang="zh-CN" sz="2800" dirty="0">
                <a:latin typeface="Times New Roman" panose="02020603050405020304" pitchFamily="18" charset="0"/>
              </a:rPr>
              <a:t>0000           0001          0010          0011            0100</a:t>
            </a:r>
          </a:p>
          <a:p>
            <a:pPr eaLnBrk="1" hangingPunct="1">
              <a:buNone/>
            </a:pPr>
            <a:endParaRPr lang="en-US" altLang="zh-CN" sz="2800" dirty="0">
              <a:latin typeface="Times New Roman" panose="02020603050405020304" pitchFamily="18" charset="0"/>
            </a:endParaRPr>
          </a:p>
          <a:p>
            <a:pPr eaLnBrk="1" hangingPunct="1">
              <a:buNone/>
            </a:pPr>
            <a:r>
              <a:rPr lang="en-US" altLang="zh-CN" sz="2800" dirty="0">
                <a:latin typeface="Times New Roman" panose="02020603050405020304" pitchFamily="18" charset="0"/>
              </a:rPr>
              <a:t> 1010</a:t>
            </a:r>
          </a:p>
          <a:p>
            <a:pPr eaLnBrk="1" hangingPunct="1">
              <a:buNone/>
            </a:pPr>
            <a:endParaRPr lang="en-US" altLang="zh-CN" sz="2800" dirty="0">
              <a:latin typeface="Times New Roman" panose="02020603050405020304" pitchFamily="18" charset="0"/>
            </a:endParaRPr>
          </a:p>
          <a:p>
            <a:pPr eaLnBrk="1" hangingPunct="1">
              <a:buNone/>
            </a:pPr>
            <a:endParaRPr lang="en-US" altLang="zh-CN" sz="2800" dirty="0">
              <a:latin typeface="Times New Roman" panose="02020603050405020304" pitchFamily="18" charset="0"/>
            </a:endParaRPr>
          </a:p>
          <a:p>
            <a:pPr eaLnBrk="1" hangingPunct="1">
              <a:buNone/>
            </a:pPr>
            <a:r>
              <a:rPr lang="en-US" altLang="zh-CN" sz="2800" dirty="0">
                <a:latin typeface="Times New Roman" panose="02020603050405020304" pitchFamily="18" charset="0"/>
              </a:rPr>
              <a:t> 1001           1000           0111          0110            0101</a:t>
            </a:r>
          </a:p>
        </p:txBody>
      </p:sp>
      <p:sp>
        <p:nvSpPr>
          <p:cNvPr id="15363" name="Line 3"/>
          <p:cNvSpPr/>
          <p:nvPr/>
        </p:nvSpPr>
        <p:spPr>
          <a:xfrm>
            <a:off x="1924050" y="2095500"/>
            <a:ext cx="609600" cy="0"/>
          </a:xfrm>
          <a:prstGeom prst="line">
            <a:avLst/>
          </a:prstGeom>
          <a:ln w="9525" cap="flat" cmpd="sng">
            <a:solidFill>
              <a:srgbClr val="FF3300"/>
            </a:solidFill>
            <a:prstDash val="solid"/>
            <a:headEnd type="none" w="med" len="med"/>
            <a:tailEnd type="triangle" w="med" len="med"/>
          </a:ln>
        </p:spPr>
      </p:sp>
      <p:sp>
        <p:nvSpPr>
          <p:cNvPr id="15364" name="Line 4"/>
          <p:cNvSpPr/>
          <p:nvPr/>
        </p:nvSpPr>
        <p:spPr>
          <a:xfrm>
            <a:off x="3524250" y="2095500"/>
            <a:ext cx="533400" cy="0"/>
          </a:xfrm>
          <a:prstGeom prst="line">
            <a:avLst/>
          </a:prstGeom>
          <a:ln w="9525" cap="flat" cmpd="sng">
            <a:solidFill>
              <a:srgbClr val="FF3300"/>
            </a:solidFill>
            <a:prstDash val="solid"/>
            <a:headEnd type="none" w="med" len="med"/>
            <a:tailEnd type="triangle" w="med" len="med"/>
          </a:ln>
        </p:spPr>
      </p:sp>
      <p:sp>
        <p:nvSpPr>
          <p:cNvPr id="15365" name="Line 5"/>
          <p:cNvSpPr/>
          <p:nvPr/>
        </p:nvSpPr>
        <p:spPr>
          <a:xfrm>
            <a:off x="5124450" y="2095500"/>
            <a:ext cx="533400" cy="0"/>
          </a:xfrm>
          <a:prstGeom prst="line">
            <a:avLst/>
          </a:prstGeom>
          <a:ln w="9525" cap="flat" cmpd="sng">
            <a:solidFill>
              <a:srgbClr val="FF3300"/>
            </a:solidFill>
            <a:prstDash val="solid"/>
            <a:headEnd type="none" w="med" len="med"/>
            <a:tailEnd type="triangle" w="med" len="med"/>
          </a:ln>
        </p:spPr>
      </p:sp>
      <p:sp>
        <p:nvSpPr>
          <p:cNvPr id="15366" name="Line 6"/>
          <p:cNvSpPr/>
          <p:nvPr/>
        </p:nvSpPr>
        <p:spPr>
          <a:xfrm>
            <a:off x="6572250" y="2095500"/>
            <a:ext cx="990600" cy="0"/>
          </a:xfrm>
          <a:prstGeom prst="line">
            <a:avLst/>
          </a:prstGeom>
          <a:ln w="9525" cap="flat" cmpd="sng">
            <a:solidFill>
              <a:srgbClr val="FF3300"/>
            </a:solidFill>
            <a:prstDash val="solid"/>
            <a:headEnd type="none" w="med" len="med"/>
            <a:tailEnd type="triangle" w="med" len="med"/>
          </a:ln>
        </p:spPr>
      </p:sp>
      <p:sp>
        <p:nvSpPr>
          <p:cNvPr id="15367" name="Line 7"/>
          <p:cNvSpPr/>
          <p:nvPr/>
        </p:nvSpPr>
        <p:spPr>
          <a:xfrm>
            <a:off x="8020050" y="2324100"/>
            <a:ext cx="0" cy="2209800"/>
          </a:xfrm>
          <a:prstGeom prst="line">
            <a:avLst/>
          </a:prstGeom>
          <a:ln w="9525" cap="flat" cmpd="sng">
            <a:solidFill>
              <a:srgbClr val="FF3300"/>
            </a:solidFill>
            <a:prstDash val="solid"/>
            <a:headEnd type="none" w="med" len="med"/>
            <a:tailEnd type="triangle" w="med" len="med"/>
          </a:ln>
        </p:spPr>
      </p:sp>
      <p:sp>
        <p:nvSpPr>
          <p:cNvPr id="15368" name="Line 8"/>
          <p:cNvSpPr/>
          <p:nvPr/>
        </p:nvSpPr>
        <p:spPr>
          <a:xfrm flipH="1">
            <a:off x="6648450" y="4648200"/>
            <a:ext cx="914400" cy="0"/>
          </a:xfrm>
          <a:prstGeom prst="line">
            <a:avLst/>
          </a:prstGeom>
          <a:ln w="9525" cap="flat" cmpd="sng">
            <a:solidFill>
              <a:srgbClr val="FF3300"/>
            </a:solidFill>
            <a:prstDash val="solid"/>
            <a:headEnd type="none" w="med" len="med"/>
            <a:tailEnd type="triangle" w="med" len="med"/>
          </a:ln>
        </p:spPr>
      </p:sp>
      <p:sp>
        <p:nvSpPr>
          <p:cNvPr id="15369" name="Line 9"/>
          <p:cNvSpPr/>
          <p:nvPr/>
        </p:nvSpPr>
        <p:spPr>
          <a:xfrm flipH="1">
            <a:off x="5010150" y="4667250"/>
            <a:ext cx="685800" cy="0"/>
          </a:xfrm>
          <a:prstGeom prst="line">
            <a:avLst/>
          </a:prstGeom>
          <a:ln w="9525" cap="flat" cmpd="sng">
            <a:solidFill>
              <a:srgbClr val="FF3300"/>
            </a:solidFill>
            <a:prstDash val="solid"/>
            <a:headEnd type="none" w="med" len="med"/>
            <a:tailEnd type="triangle" w="med" len="med"/>
          </a:ln>
        </p:spPr>
      </p:sp>
      <p:sp>
        <p:nvSpPr>
          <p:cNvPr id="15370" name="Line 10"/>
          <p:cNvSpPr/>
          <p:nvPr/>
        </p:nvSpPr>
        <p:spPr>
          <a:xfrm flipH="1">
            <a:off x="3448050" y="4686300"/>
            <a:ext cx="533400" cy="0"/>
          </a:xfrm>
          <a:prstGeom prst="line">
            <a:avLst/>
          </a:prstGeom>
          <a:ln w="9525" cap="flat" cmpd="sng">
            <a:solidFill>
              <a:srgbClr val="FF3300"/>
            </a:solidFill>
            <a:prstDash val="solid"/>
            <a:headEnd type="none" w="med" len="med"/>
            <a:tailEnd type="triangle" w="med" len="med"/>
          </a:ln>
        </p:spPr>
      </p:sp>
      <p:sp>
        <p:nvSpPr>
          <p:cNvPr id="15371" name="Line 11"/>
          <p:cNvSpPr/>
          <p:nvPr/>
        </p:nvSpPr>
        <p:spPr>
          <a:xfrm flipH="1">
            <a:off x="1695450" y="4686300"/>
            <a:ext cx="762000" cy="0"/>
          </a:xfrm>
          <a:prstGeom prst="line">
            <a:avLst/>
          </a:prstGeom>
          <a:ln w="9525" cap="flat" cmpd="sng">
            <a:solidFill>
              <a:srgbClr val="FF3300"/>
            </a:solidFill>
            <a:prstDash val="solid"/>
            <a:headEnd type="none" w="med" len="med"/>
            <a:tailEnd type="triangle" w="med" len="med"/>
          </a:ln>
        </p:spPr>
      </p:sp>
      <p:sp>
        <p:nvSpPr>
          <p:cNvPr id="15372" name="Line 12"/>
          <p:cNvSpPr/>
          <p:nvPr/>
        </p:nvSpPr>
        <p:spPr>
          <a:xfrm flipV="1">
            <a:off x="1162050" y="2400300"/>
            <a:ext cx="0" cy="533400"/>
          </a:xfrm>
          <a:prstGeom prst="line">
            <a:avLst/>
          </a:prstGeom>
          <a:ln w="9525" cap="flat" cmpd="sng">
            <a:solidFill>
              <a:srgbClr val="FF3300"/>
            </a:solidFill>
            <a:prstDash val="solid"/>
            <a:headEnd type="none" w="med" len="med"/>
            <a:tailEnd type="triangle" w="med" len="med"/>
          </a:ln>
        </p:spPr>
      </p:sp>
      <p:sp>
        <p:nvSpPr>
          <p:cNvPr id="15373" name="Oval 13"/>
          <p:cNvSpPr/>
          <p:nvPr/>
        </p:nvSpPr>
        <p:spPr>
          <a:xfrm>
            <a:off x="552450" y="1619250"/>
            <a:ext cx="1371600" cy="1905000"/>
          </a:xfrm>
          <a:prstGeom prst="ellipse">
            <a:avLst/>
          </a:prstGeom>
          <a:noFill/>
          <a:ln w="9525" cap="flat" cmpd="sng">
            <a:solidFill>
              <a:srgbClr val="339933"/>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5374" name="Line 14"/>
          <p:cNvSpPr/>
          <p:nvPr/>
        </p:nvSpPr>
        <p:spPr>
          <a:xfrm flipV="1">
            <a:off x="1181100" y="3390900"/>
            <a:ext cx="0" cy="1143000"/>
          </a:xfrm>
          <a:prstGeom prst="line">
            <a:avLst/>
          </a:prstGeom>
          <a:ln w="9525" cap="flat" cmpd="sng">
            <a:solidFill>
              <a:srgbClr val="FF3300"/>
            </a:solidFill>
            <a:prstDash val="solid"/>
            <a:headEnd type="none" w="med" len="med"/>
            <a:tailEnd type="triangle" w="med" len="med"/>
          </a:ln>
        </p:spPr>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idx="1"/>
          </p:nvPr>
        </p:nvSpPr>
        <p:spPr>
          <a:xfrm>
            <a:off x="247650" y="666750"/>
            <a:ext cx="8439150" cy="590550"/>
          </a:xfrm>
        </p:spPr>
        <p:txBody>
          <a:bodyPr vert="horz" wrap="square" lIns="91440" tIns="45720" rIns="91440" bIns="45720" anchor="t" anchorCtr="0"/>
          <a:lstStyle/>
          <a:p>
            <a:pPr eaLnBrk="1" hangingPunct="1">
              <a:lnSpc>
                <a:spcPct val="90000"/>
              </a:lnSpc>
              <a:buNone/>
            </a:pPr>
            <a:r>
              <a:rPr lang="zh-CN" altLang="en-US" sz="2800" dirty="0">
                <a:latin typeface="Times New Roman" panose="02020603050405020304" pitchFamily="18" charset="0"/>
              </a:rPr>
              <a:t>例</a:t>
            </a:r>
            <a:r>
              <a:rPr lang="en-US" altLang="zh-CN" sz="2800" dirty="0">
                <a:latin typeface="Times New Roman" panose="02020603050405020304" pitchFamily="18" charset="0"/>
              </a:rPr>
              <a:t>2 : </a:t>
            </a:r>
            <a:r>
              <a:rPr lang="zh-CN" altLang="en-US" sz="2800" dirty="0">
                <a:latin typeface="Times New Roman" panose="02020603050405020304" pitchFamily="18" charset="0"/>
              </a:rPr>
              <a:t>用</a:t>
            </a:r>
            <a:r>
              <a:rPr lang="en-US" altLang="zh-CN" sz="2800" dirty="0">
                <a:latin typeface="Times New Roman" panose="02020603050405020304" pitchFamily="18" charset="0"/>
              </a:rPr>
              <a:t>74LS193</a:t>
            </a:r>
            <a:r>
              <a:rPr lang="zh-CN" altLang="en-US" sz="2800" dirty="0"/>
              <a:t>利用预置数法</a:t>
            </a:r>
            <a:r>
              <a:rPr lang="zh-CN" altLang="en-US" sz="2800" dirty="0">
                <a:latin typeface="Times New Roman" panose="02020603050405020304" pitchFamily="18" charset="0"/>
              </a:rPr>
              <a:t>构成模</a:t>
            </a:r>
            <a:r>
              <a:rPr lang="en-US" altLang="zh-CN" sz="2800" dirty="0">
                <a:latin typeface="Times New Roman" panose="02020603050405020304" pitchFamily="18" charset="0"/>
              </a:rPr>
              <a:t>12</a:t>
            </a:r>
            <a:r>
              <a:rPr lang="zh-CN" altLang="en-US" sz="2800" dirty="0">
                <a:latin typeface="Times New Roman" panose="02020603050405020304" pitchFamily="18" charset="0"/>
              </a:rPr>
              <a:t>减法计数器</a:t>
            </a:r>
          </a:p>
        </p:txBody>
      </p:sp>
      <p:grpSp>
        <p:nvGrpSpPr>
          <p:cNvPr id="318467" name="Group 3"/>
          <p:cNvGrpSpPr/>
          <p:nvPr/>
        </p:nvGrpSpPr>
        <p:grpSpPr>
          <a:xfrm>
            <a:off x="1085850" y="1428750"/>
            <a:ext cx="6657975" cy="4926013"/>
            <a:chOff x="684" y="900"/>
            <a:chExt cx="4194" cy="3103"/>
          </a:xfrm>
        </p:grpSpPr>
        <p:sp>
          <p:nvSpPr>
            <p:cNvPr id="16388" name="Rectangle 4"/>
            <p:cNvSpPr/>
            <p:nvPr/>
          </p:nvSpPr>
          <p:spPr>
            <a:xfrm>
              <a:off x="1512" y="1548"/>
              <a:ext cx="2352" cy="1344"/>
            </a:xfrm>
            <a:prstGeom prst="rect">
              <a:avLst/>
            </a:prstGeom>
            <a:solidFill>
              <a:srgbClr val="E1FDFF"/>
            </a:solidFill>
            <a:ln w="31750"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18469" name="Rectangle 5"/>
            <p:cNvSpPr>
              <a:spLocks noChangeArrowheads="1"/>
            </p:cNvSpPr>
            <p:nvPr/>
          </p:nvSpPr>
          <p:spPr bwMode="auto">
            <a:xfrm>
              <a:off x="3528" y="1596"/>
              <a:ext cx="35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r</a:t>
              </a:r>
            </a:p>
          </p:txBody>
        </p:sp>
        <p:sp>
          <p:nvSpPr>
            <p:cNvPr id="318470" name="Rectangle 6"/>
            <p:cNvSpPr>
              <a:spLocks noChangeArrowheads="1"/>
            </p:cNvSpPr>
            <p:nvPr/>
          </p:nvSpPr>
          <p:spPr bwMode="auto">
            <a:xfrm>
              <a:off x="1512" y="1925"/>
              <a:ext cx="5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U</a:t>
              </a:r>
            </a:p>
          </p:txBody>
        </p:sp>
        <p:sp>
          <p:nvSpPr>
            <p:cNvPr id="318471" name="Rectangle 7"/>
            <p:cNvSpPr>
              <a:spLocks noChangeArrowheads="1"/>
            </p:cNvSpPr>
            <p:nvPr/>
          </p:nvSpPr>
          <p:spPr bwMode="auto">
            <a:xfrm>
              <a:off x="1512" y="2357"/>
              <a:ext cx="50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a:t>
              </a:r>
            </a:p>
          </p:txBody>
        </p:sp>
        <p:sp>
          <p:nvSpPr>
            <p:cNvPr id="318472" name="Rectangle 8"/>
            <p:cNvSpPr>
              <a:spLocks noChangeArrowheads="1"/>
            </p:cNvSpPr>
            <p:nvPr/>
          </p:nvSpPr>
          <p:spPr bwMode="auto">
            <a:xfrm>
              <a:off x="1992" y="2597"/>
              <a:ext cx="124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   C   B   A</a:t>
              </a:r>
            </a:p>
          </p:txBody>
        </p:sp>
        <p:sp>
          <p:nvSpPr>
            <p:cNvPr id="318473" name="Rectangle 9"/>
            <p:cNvSpPr>
              <a:spLocks noChangeArrowheads="1"/>
            </p:cNvSpPr>
            <p:nvPr/>
          </p:nvSpPr>
          <p:spPr bwMode="auto">
            <a:xfrm>
              <a:off x="3288" y="2604"/>
              <a:ext cx="4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Black" panose="020B0A04020102020204" pitchFamily="34" charset="0"/>
                  <a:ea typeface="宋体" panose="02010600030101010101" pitchFamily="2" charset="-122"/>
                  <a:cs typeface="+mn-cs"/>
                </a:rPr>
                <a:t> </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LD</a:t>
              </a:r>
            </a:p>
          </p:txBody>
        </p:sp>
        <p:sp>
          <p:nvSpPr>
            <p:cNvPr id="318474" name="Rectangle 10"/>
            <p:cNvSpPr>
              <a:spLocks noChangeArrowheads="1"/>
            </p:cNvSpPr>
            <p:nvPr/>
          </p:nvSpPr>
          <p:spPr bwMode="auto">
            <a:xfrm>
              <a:off x="1608" y="1541"/>
              <a:ext cx="141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D  </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  </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B  </a:t>
              </a: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a:t>
              </a:r>
            </a:p>
          </p:txBody>
        </p:sp>
        <p:sp>
          <p:nvSpPr>
            <p:cNvPr id="318475" name="Rectangle 11"/>
            <p:cNvSpPr>
              <a:spLocks noChangeArrowheads="1"/>
            </p:cNvSpPr>
            <p:nvPr/>
          </p:nvSpPr>
          <p:spPr bwMode="auto">
            <a:xfrm>
              <a:off x="3384" y="1877"/>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CC</a:t>
              </a:r>
            </a:p>
          </p:txBody>
        </p:sp>
        <p:sp>
          <p:nvSpPr>
            <p:cNvPr id="318476" name="Rectangle 12"/>
            <p:cNvSpPr>
              <a:spLocks noChangeArrowheads="1"/>
            </p:cNvSpPr>
            <p:nvPr/>
          </p:nvSpPr>
          <p:spPr bwMode="auto">
            <a:xfrm>
              <a:off x="3384" y="2261"/>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Q</a:t>
              </a:r>
              <a:r>
                <a:rPr kumimoji="1" lang="en-US" altLang="zh-CN" sz="2800" b="0" i="0" u="none" strike="noStrike" kern="1200" cap="none" spc="0" normalizeH="0" baseline="-2500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CB</a:t>
              </a:r>
            </a:p>
          </p:txBody>
        </p:sp>
        <p:sp>
          <p:nvSpPr>
            <p:cNvPr id="16397" name="Line 13"/>
            <p:cNvSpPr/>
            <p:nvPr/>
          </p:nvSpPr>
          <p:spPr>
            <a:xfrm>
              <a:off x="3432" y="2316"/>
              <a:ext cx="240" cy="0"/>
            </a:xfrm>
            <a:prstGeom prst="line">
              <a:avLst/>
            </a:prstGeom>
            <a:ln w="9525" cap="flat" cmpd="sng">
              <a:solidFill>
                <a:schemeClr val="tx1"/>
              </a:solidFill>
              <a:prstDash val="solid"/>
              <a:headEnd type="none" w="med" len="med"/>
              <a:tailEnd type="none" w="med" len="med"/>
            </a:ln>
          </p:spPr>
        </p:sp>
        <p:sp>
          <p:nvSpPr>
            <p:cNvPr id="16398" name="Line 14"/>
            <p:cNvSpPr/>
            <p:nvPr/>
          </p:nvSpPr>
          <p:spPr>
            <a:xfrm>
              <a:off x="3384" y="1932"/>
              <a:ext cx="288" cy="0"/>
            </a:xfrm>
            <a:prstGeom prst="line">
              <a:avLst/>
            </a:prstGeom>
            <a:ln w="9525" cap="flat" cmpd="sng">
              <a:solidFill>
                <a:schemeClr val="tx1"/>
              </a:solidFill>
              <a:prstDash val="solid"/>
              <a:headEnd type="none" w="med" len="med"/>
              <a:tailEnd type="none" w="med" len="med"/>
            </a:ln>
          </p:spPr>
        </p:sp>
        <p:sp>
          <p:nvSpPr>
            <p:cNvPr id="318479" name="Rectangle 15"/>
            <p:cNvSpPr>
              <a:spLocks noChangeArrowheads="1"/>
            </p:cNvSpPr>
            <p:nvPr/>
          </p:nvSpPr>
          <p:spPr bwMode="auto">
            <a:xfrm>
              <a:off x="2136" y="2021"/>
              <a:ext cx="93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74LS193</a:t>
              </a:r>
            </a:p>
          </p:txBody>
        </p:sp>
        <p:sp>
          <p:nvSpPr>
            <p:cNvPr id="16400" name="Line 16"/>
            <p:cNvSpPr/>
            <p:nvPr/>
          </p:nvSpPr>
          <p:spPr>
            <a:xfrm>
              <a:off x="3864" y="1740"/>
              <a:ext cx="240" cy="0"/>
            </a:xfrm>
            <a:prstGeom prst="line">
              <a:avLst/>
            </a:prstGeom>
            <a:ln w="9525" cap="flat" cmpd="sng">
              <a:solidFill>
                <a:schemeClr val="tx1"/>
              </a:solidFill>
              <a:prstDash val="solid"/>
              <a:headEnd type="none" w="med" len="med"/>
              <a:tailEnd type="none" w="med" len="med"/>
            </a:ln>
          </p:spPr>
        </p:sp>
        <p:sp>
          <p:nvSpPr>
            <p:cNvPr id="16401" name="Line 17"/>
            <p:cNvSpPr/>
            <p:nvPr/>
          </p:nvSpPr>
          <p:spPr>
            <a:xfrm flipH="1">
              <a:off x="4512" y="1188"/>
              <a:ext cx="0" cy="2376"/>
            </a:xfrm>
            <a:prstGeom prst="line">
              <a:avLst/>
            </a:prstGeom>
            <a:ln w="9525" cap="flat" cmpd="sng">
              <a:solidFill>
                <a:schemeClr val="tx1"/>
              </a:solidFill>
              <a:prstDash val="solid"/>
              <a:headEnd type="none" w="med" len="med"/>
              <a:tailEnd type="none" w="med" len="med"/>
            </a:ln>
          </p:spPr>
        </p:sp>
        <p:sp>
          <p:nvSpPr>
            <p:cNvPr id="16402" name="Line 18"/>
            <p:cNvSpPr/>
            <p:nvPr/>
          </p:nvSpPr>
          <p:spPr>
            <a:xfrm flipV="1">
              <a:off x="3480" y="1176"/>
              <a:ext cx="1032" cy="0"/>
            </a:xfrm>
            <a:prstGeom prst="line">
              <a:avLst/>
            </a:prstGeom>
            <a:ln w="9525" cap="flat" cmpd="sng">
              <a:solidFill>
                <a:schemeClr val="tx1"/>
              </a:solidFill>
              <a:prstDash val="solid"/>
              <a:headEnd type="none" w="med" len="med"/>
              <a:tailEnd type="none" w="med" len="med"/>
            </a:ln>
          </p:spPr>
        </p:sp>
        <p:sp>
          <p:nvSpPr>
            <p:cNvPr id="16403" name="Rectangle 19"/>
            <p:cNvSpPr/>
            <p:nvPr/>
          </p:nvSpPr>
          <p:spPr>
            <a:xfrm>
              <a:off x="3132" y="960"/>
              <a:ext cx="324" cy="504"/>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lstStyle/>
            <a:p>
              <a:pPr algn="ctr"/>
              <a:r>
                <a:rPr lang="en-US" altLang="zh-CN" sz="2400" dirty="0">
                  <a:latin typeface="Arial" panose="020B0604020202020204" pitchFamily="34" charset="0"/>
                  <a:sym typeface="Symbol" panose="05050102010706020507" pitchFamily="18" charset="2"/>
                </a:rPr>
                <a:t>1</a:t>
              </a:r>
            </a:p>
          </p:txBody>
        </p:sp>
        <p:sp>
          <p:nvSpPr>
            <p:cNvPr id="16404" name="Line 20"/>
            <p:cNvSpPr/>
            <p:nvPr/>
          </p:nvSpPr>
          <p:spPr>
            <a:xfrm flipV="1">
              <a:off x="3624" y="2892"/>
              <a:ext cx="0" cy="240"/>
            </a:xfrm>
            <a:prstGeom prst="line">
              <a:avLst/>
            </a:prstGeom>
            <a:ln w="9525" cap="flat" cmpd="sng">
              <a:solidFill>
                <a:schemeClr val="tx1"/>
              </a:solidFill>
              <a:prstDash val="solid"/>
              <a:headEnd type="none" w="med" len="med"/>
              <a:tailEnd type="none" w="med" len="med"/>
            </a:ln>
          </p:spPr>
        </p:sp>
        <p:sp>
          <p:nvSpPr>
            <p:cNvPr id="16405" name="Line 21"/>
            <p:cNvSpPr/>
            <p:nvPr/>
          </p:nvSpPr>
          <p:spPr>
            <a:xfrm>
              <a:off x="3432" y="2604"/>
              <a:ext cx="336" cy="0"/>
            </a:xfrm>
            <a:prstGeom prst="line">
              <a:avLst/>
            </a:prstGeom>
            <a:ln w="9525" cap="flat" cmpd="sng">
              <a:solidFill>
                <a:schemeClr val="tx1"/>
              </a:solidFill>
              <a:prstDash val="solid"/>
              <a:headEnd type="none" w="med" len="med"/>
              <a:tailEnd type="none" w="med" len="med"/>
            </a:ln>
          </p:spPr>
        </p:sp>
        <p:sp>
          <p:nvSpPr>
            <p:cNvPr id="16406" name="Line 22"/>
            <p:cNvSpPr/>
            <p:nvPr/>
          </p:nvSpPr>
          <p:spPr>
            <a:xfrm>
              <a:off x="3876" y="2076"/>
              <a:ext cx="240" cy="0"/>
            </a:xfrm>
            <a:prstGeom prst="line">
              <a:avLst/>
            </a:prstGeom>
            <a:ln w="9525" cap="flat" cmpd="sng">
              <a:solidFill>
                <a:schemeClr val="tx1"/>
              </a:solidFill>
              <a:prstDash val="solid"/>
              <a:headEnd type="none" w="med" len="med"/>
              <a:tailEnd type="none" w="med" len="med"/>
            </a:ln>
          </p:spPr>
        </p:sp>
        <p:sp>
          <p:nvSpPr>
            <p:cNvPr id="16407" name="Line 23"/>
            <p:cNvSpPr/>
            <p:nvPr/>
          </p:nvSpPr>
          <p:spPr>
            <a:xfrm flipH="1" flipV="1">
              <a:off x="3864" y="2412"/>
              <a:ext cx="240" cy="0"/>
            </a:xfrm>
            <a:prstGeom prst="line">
              <a:avLst/>
            </a:prstGeom>
            <a:ln w="9525" cap="flat" cmpd="sng">
              <a:solidFill>
                <a:schemeClr val="tx1"/>
              </a:solidFill>
              <a:prstDash val="solid"/>
              <a:headEnd type="none" w="med" len="med"/>
              <a:tailEnd type="none" w="med" len="med"/>
            </a:ln>
          </p:spPr>
        </p:sp>
        <p:sp>
          <p:nvSpPr>
            <p:cNvPr id="16408" name="Line 24"/>
            <p:cNvSpPr/>
            <p:nvPr/>
          </p:nvSpPr>
          <p:spPr>
            <a:xfrm flipH="1">
              <a:off x="2136" y="2892"/>
              <a:ext cx="0" cy="240"/>
            </a:xfrm>
            <a:prstGeom prst="line">
              <a:avLst/>
            </a:prstGeom>
            <a:ln w="9525" cap="flat" cmpd="sng">
              <a:solidFill>
                <a:schemeClr val="tx1"/>
              </a:solidFill>
              <a:prstDash val="solid"/>
              <a:headEnd type="none" w="med" len="med"/>
              <a:tailEnd type="none" w="med" len="med"/>
            </a:ln>
          </p:spPr>
        </p:sp>
        <p:sp>
          <p:nvSpPr>
            <p:cNvPr id="16409" name="Line 25"/>
            <p:cNvSpPr/>
            <p:nvPr/>
          </p:nvSpPr>
          <p:spPr>
            <a:xfrm>
              <a:off x="2472" y="2892"/>
              <a:ext cx="0" cy="240"/>
            </a:xfrm>
            <a:prstGeom prst="line">
              <a:avLst/>
            </a:prstGeom>
            <a:ln w="9525" cap="flat" cmpd="sng">
              <a:solidFill>
                <a:schemeClr val="tx1"/>
              </a:solidFill>
              <a:prstDash val="solid"/>
              <a:headEnd type="none" w="med" len="med"/>
              <a:tailEnd type="none" w="med" len="med"/>
            </a:ln>
          </p:spPr>
        </p:sp>
        <p:sp>
          <p:nvSpPr>
            <p:cNvPr id="16410" name="Line 26"/>
            <p:cNvSpPr/>
            <p:nvPr/>
          </p:nvSpPr>
          <p:spPr>
            <a:xfrm>
              <a:off x="2808" y="2892"/>
              <a:ext cx="0" cy="240"/>
            </a:xfrm>
            <a:prstGeom prst="line">
              <a:avLst/>
            </a:prstGeom>
            <a:ln w="9525" cap="flat" cmpd="sng">
              <a:solidFill>
                <a:schemeClr val="tx1"/>
              </a:solidFill>
              <a:prstDash val="solid"/>
              <a:headEnd type="none" w="med" len="med"/>
              <a:tailEnd type="none" w="med" len="med"/>
            </a:ln>
          </p:spPr>
        </p:sp>
        <p:sp>
          <p:nvSpPr>
            <p:cNvPr id="16411" name="Line 27"/>
            <p:cNvSpPr/>
            <p:nvPr/>
          </p:nvSpPr>
          <p:spPr>
            <a:xfrm>
              <a:off x="3096" y="2892"/>
              <a:ext cx="0" cy="240"/>
            </a:xfrm>
            <a:prstGeom prst="line">
              <a:avLst/>
            </a:prstGeom>
            <a:ln w="9525" cap="flat" cmpd="sng">
              <a:solidFill>
                <a:schemeClr val="tx1"/>
              </a:solidFill>
              <a:prstDash val="solid"/>
              <a:headEnd type="none" w="med" len="med"/>
              <a:tailEnd type="none" w="med" len="med"/>
            </a:ln>
          </p:spPr>
        </p:sp>
        <p:sp>
          <p:nvSpPr>
            <p:cNvPr id="318492" name="Rectangle 28"/>
            <p:cNvSpPr>
              <a:spLocks noChangeArrowheads="1"/>
            </p:cNvSpPr>
            <p:nvPr/>
          </p:nvSpPr>
          <p:spPr bwMode="auto">
            <a:xfrm>
              <a:off x="3000" y="316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p>
          </p:txBody>
        </p:sp>
        <p:sp>
          <p:nvSpPr>
            <p:cNvPr id="16413" name="Line 29"/>
            <p:cNvSpPr/>
            <p:nvPr/>
          </p:nvSpPr>
          <p:spPr>
            <a:xfrm flipH="1">
              <a:off x="1080" y="2508"/>
              <a:ext cx="432" cy="0"/>
            </a:xfrm>
            <a:prstGeom prst="line">
              <a:avLst/>
            </a:prstGeom>
            <a:ln w="9525" cap="flat" cmpd="sng">
              <a:solidFill>
                <a:schemeClr val="tx1"/>
              </a:solidFill>
              <a:prstDash val="solid"/>
              <a:headEnd type="none" w="med" len="med"/>
              <a:tailEnd type="none" w="med" len="med"/>
            </a:ln>
          </p:spPr>
        </p:sp>
        <p:sp>
          <p:nvSpPr>
            <p:cNvPr id="318494" name="Rectangle 30"/>
            <p:cNvSpPr>
              <a:spLocks noChangeArrowheads="1"/>
            </p:cNvSpPr>
            <p:nvPr/>
          </p:nvSpPr>
          <p:spPr bwMode="auto">
            <a:xfrm>
              <a:off x="684" y="2357"/>
              <a:ext cx="3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CP</a:t>
              </a:r>
            </a:p>
          </p:txBody>
        </p:sp>
        <p:sp>
          <p:nvSpPr>
            <p:cNvPr id="16415" name="Line 31"/>
            <p:cNvSpPr/>
            <p:nvPr/>
          </p:nvSpPr>
          <p:spPr>
            <a:xfrm flipH="1" flipV="1">
              <a:off x="1800" y="924"/>
              <a:ext cx="0" cy="624"/>
            </a:xfrm>
            <a:prstGeom prst="line">
              <a:avLst/>
            </a:prstGeom>
            <a:ln w="9525" cap="flat" cmpd="sng">
              <a:solidFill>
                <a:schemeClr val="tx1"/>
              </a:solidFill>
              <a:prstDash val="solid"/>
              <a:headEnd type="none" w="med" len="med"/>
              <a:tailEnd type="none" w="med" len="med"/>
            </a:ln>
          </p:spPr>
        </p:sp>
        <p:sp>
          <p:nvSpPr>
            <p:cNvPr id="16416" name="Line 32"/>
            <p:cNvSpPr/>
            <p:nvPr/>
          </p:nvSpPr>
          <p:spPr>
            <a:xfrm flipV="1">
              <a:off x="2136" y="912"/>
              <a:ext cx="0" cy="636"/>
            </a:xfrm>
            <a:prstGeom prst="line">
              <a:avLst/>
            </a:prstGeom>
            <a:ln w="9525" cap="flat" cmpd="sng">
              <a:solidFill>
                <a:schemeClr val="tx1"/>
              </a:solidFill>
              <a:prstDash val="solid"/>
              <a:headEnd type="none" w="med" len="med"/>
              <a:tailEnd type="none" w="med" len="med"/>
            </a:ln>
          </p:spPr>
        </p:sp>
        <p:sp>
          <p:nvSpPr>
            <p:cNvPr id="16417" name="Line 33"/>
            <p:cNvSpPr/>
            <p:nvPr/>
          </p:nvSpPr>
          <p:spPr>
            <a:xfrm flipV="1">
              <a:off x="2472" y="900"/>
              <a:ext cx="0" cy="648"/>
            </a:xfrm>
            <a:prstGeom prst="line">
              <a:avLst/>
            </a:prstGeom>
            <a:ln w="9525" cap="flat" cmpd="sng">
              <a:solidFill>
                <a:schemeClr val="tx1"/>
              </a:solidFill>
              <a:prstDash val="solid"/>
              <a:headEnd type="none" w="med" len="med"/>
              <a:tailEnd type="none" w="med" len="med"/>
            </a:ln>
          </p:spPr>
        </p:sp>
        <p:sp>
          <p:nvSpPr>
            <p:cNvPr id="16418" name="Line 34"/>
            <p:cNvSpPr/>
            <p:nvPr/>
          </p:nvSpPr>
          <p:spPr>
            <a:xfrm flipV="1">
              <a:off x="2808" y="936"/>
              <a:ext cx="0" cy="612"/>
            </a:xfrm>
            <a:prstGeom prst="line">
              <a:avLst/>
            </a:prstGeom>
            <a:ln w="9525" cap="flat" cmpd="sng">
              <a:solidFill>
                <a:schemeClr val="tx1"/>
              </a:solidFill>
              <a:prstDash val="solid"/>
              <a:headEnd type="none" w="med" len="med"/>
              <a:tailEnd type="none" w="med" len="med"/>
            </a:ln>
          </p:spPr>
        </p:sp>
        <p:sp>
          <p:nvSpPr>
            <p:cNvPr id="16419" name="Line 35"/>
            <p:cNvSpPr/>
            <p:nvPr/>
          </p:nvSpPr>
          <p:spPr>
            <a:xfrm>
              <a:off x="1824" y="1044"/>
              <a:ext cx="1308" cy="0"/>
            </a:xfrm>
            <a:prstGeom prst="line">
              <a:avLst/>
            </a:prstGeom>
            <a:ln w="19050" cap="flat" cmpd="sng">
              <a:solidFill>
                <a:schemeClr val="tx1"/>
              </a:solidFill>
              <a:prstDash val="solid"/>
              <a:headEnd type="none" w="med" len="med"/>
              <a:tailEnd type="none" w="sm" len="lg"/>
            </a:ln>
          </p:spPr>
        </p:sp>
        <p:sp>
          <p:nvSpPr>
            <p:cNvPr id="16420" name="Line 36"/>
            <p:cNvSpPr/>
            <p:nvPr/>
          </p:nvSpPr>
          <p:spPr>
            <a:xfrm>
              <a:off x="2136" y="1344"/>
              <a:ext cx="984" cy="0"/>
            </a:xfrm>
            <a:prstGeom prst="line">
              <a:avLst/>
            </a:prstGeom>
            <a:ln w="19050" cap="flat" cmpd="sng">
              <a:solidFill>
                <a:schemeClr val="tx1"/>
              </a:solidFill>
              <a:prstDash val="solid"/>
              <a:headEnd type="none" w="med" len="med"/>
              <a:tailEnd type="none" w="sm" len="lg"/>
            </a:ln>
          </p:spPr>
        </p:sp>
        <p:sp>
          <p:nvSpPr>
            <p:cNvPr id="16421" name="Oval 37"/>
            <p:cNvSpPr/>
            <p:nvPr/>
          </p:nvSpPr>
          <p:spPr>
            <a:xfrm flipV="1">
              <a:off x="2124" y="1320"/>
              <a:ext cx="51" cy="51"/>
            </a:xfrm>
            <a:prstGeom prst="ellipse">
              <a:avLst/>
            </a:prstGeom>
            <a:solidFill>
              <a:schemeClr val="tx1"/>
            </a:solidFill>
            <a:ln w="19050" cap="flat" cmpd="sng">
              <a:solidFill>
                <a:schemeClr val="tx1"/>
              </a:solidFill>
              <a:prstDash val="solid"/>
              <a:headEnd type="none" w="med" len="med"/>
              <a:tailEnd type="none" w="sm" len="lg"/>
            </a:ln>
          </p:spPr>
          <p:txBody>
            <a:bodyPr wrap="none" anchor="ctr" anchorCtr="0"/>
            <a:lstStyle/>
            <a:p>
              <a:endParaRPr lang="zh-CN" altLang="en-US" dirty="0">
                <a:latin typeface="Arial" panose="020B0604020202020204" pitchFamily="34" charset="0"/>
              </a:endParaRPr>
            </a:p>
          </p:txBody>
        </p:sp>
        <p:sp>
          <p:nvSpPr>
            <p:cNvPr id="16422" name="Oval 38"/>
            <p:cNvSpPr/>
            <p:nvPr/>
          </p:nvSpPr>
          <p:spPr>
            <a:xfrm flipV="1">
              <a:off x="1780" y="1024"/>
              <a:ext cx="51" cy="51"/>
            </a:xfrm>
            <a:prstGeom prst="ellipse">
              <a:avLst/>
            </a:prstGeom>
            <a:solidFill>
              <a:schemeClr val="tx1"/>
            </a:solidFill>
            <a:ln w="19050" cap="flat" cmpd="sng">
              <a:solidFill>
                <a:schemeClr val="tx1"/>
              </a:solidFill>
              <a:prstDash val="solid"/>
              <a:headEnd type="none" w="med" len="med"/>
              <a:tailEnd type="none" w="sm" len="lg"/>
            </a:ln>
          </p:spPr>
          <p:txBody>
            <a:bodyPr wrap="none" anchor="ctr" anchorCtr="0"/>
            <a:lstStyle/>
            <a:p>
              <a:endParaRPr lang="zh-CN" altLang="en-US" dirty="0">
                <a:latin typeface="Arial" panose="020B0604020202020204" pitchFamily="34" charset="0"/>
              </a:endParaRPr>
            </a:p>
          </p:txBody>
        </p:sp>
        <p:sp>
          <p:nvSpPr>
            <p:cNvPr id="16423" name="Line 39"/>
            <p:cNvSpPr/>
            <p:nvPr/>
          </p:nvSpPr>
          <p:spPr>
            <a:xfrm>
              <a:off x="1032" y="2052"/>
              <a:ext cx="492" cy="0"/>
            </a:xfrm>
            <a:prstGeom prst="line">
              <a:avLst/>
            </a:prstGeom>
            <a:ln w="19050" cap="flat" cmpd="sng">
              <a:solidFill>
                <a:schemeClr val="tx1"/>
              </a:solidFill>
              <a:prstDash val="solid"/>
              <a:headEnd type="none" w="med" len="med"/>
              <a:tailEnd type="none" w="sm" len="lg"/>
            </a:ln>
          </p:spPr>
        </p:sp>
        <p:sp>
          <p:nvSpPr>
            <p:cNvPr id="16424" name="Text Box 40"/>
            <p:cNvSpPr txBox="1"/>
            <p:nvPr/>
          </p:nvSpPr>
          <p:spPr>
            <a:xfrm>
              <a:off x="818" y="1854"/>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16425" name="Rectangle 41"/>
            <p:cNvSpPr/>
            <p:nvPr/>
          </p:nvSpPr>
          <p:spPr>
            <a:xfrm>
              <a:off x="3376" y="3136"/>
              <a:ext cx="504" cy="276"/>
            </a:xfrm>
            <a:prstGeom prst="rect">
              <a:avLst/>
            </a:prstGeom>
            <a:solidFill>
              <a:srgbClr val="CCFFFF"/>
            </a:solidFill>
            <a:ln w="25400" cap="flat" cmpd="sng">
              <a:solidFill>
                <a:srgbClr val="3333FF"/>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18506" name="Rectangle 42"/>
            <p:cNvSpPr>
              <a:spLocks noChangeArrowheads="1"/>
            </p:cNvSpPr>
            <p:nvPr/>
          </p:nvSpPr>
          <p:spPr bwMode="auto">
            <a:xfrm>
              <a:off x="3480" y="3101"/>
              <a:ext cx="29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&amp;</a:t>
              </a:r>
            </a:p>
          </p:txBody>
        </p:sp>
        <p:sp>
          <p:nvSpPr>
            <p:cNvPr id="16427" name="Line 43"/>
            <p:cNvSpPr/>
            <p:nvPr/>
          </p:nvSpPr>
          <p:spPr>
            <a:xfrm>
              <a:off x="3744" y="3420"/>
              <a:ext cx="0" cy="168"/>
            </a:xfrm>
            <a:prstGeom prst="line">
              <a:avLst/>
            </a:prstGeom>
            <a:ln w="19050" cap="flat" cmpd="sng">
              <a:solidFill>
                <a:schemeClr val="tx1"/>
              </a:solidFill>
              <a:prstDash val="solid"/>
              <a:headEnd type="none" w="med" len="med"/>
              <a:tailEnd type="none" w="sm" len="lg"/>
            </a:ln>
          </p:spPr>
        </p:sp>
        <p:sp>
          <p:nvSpPr>
            <p:cNvPr id="16428" name="Line 44"/>
            <p:cNvSpPr/>
            <p:nvPr/>
          </p:nvSpPr>
          <p:spPr>
            <a:xfrm>
              <a:off x="3744" y="3576"/>
              <a:ext cx="768" cy="0"/>
            </a:xfrm>
            <a:prstGeom prst="line">
              <a:avLst/>
            </a:prstGeom>
            <a:ln w="19050" cap="flat" cmpd="sng">
              <a:solidFill>
                <a:schemeClr val="tx1"/>
              </a:solidFill>
              <a:prstDash val="solid"/>
              <a:headEnd type="none" w="med" len="med"/>
              <a:tailEnd type="none" w="sm" len="lg"/>
            </a:ln>
          </p:spPr>
        </p:sp>
        <p:sp>
          <p:nvSpPr>
            <p:cNvPr id="318509" name="Rectangle 45"/>
            <p:cNvSpPr>
              <a:spLocks noChangeArrowheads="1"/>
            </p:cNvSpPr>
            <p:nvPr/>
          </p:nvSpPr>
          <p:spPr bwMode="auto">
            <a:xfrm>
              <a:off x="2680" y="3153"/>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p>
          </p:txBody>
        </p:sp>
        <p:sp>
          <p:nvSpPr>
            <p:cNvPr id="318510" name="Rectangle 46"/>
            <p:cNvSpPr>
              <a:spLocks noChangeArrowheads="1"/>
            </p:cNvSpPr>
            <p:nvPr/>
          </p:nvSpPr>
          <p:spPr bwMode="auto">
            <a:xfrm>
              <a:off x="2348" y="3157"/>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p>
          </p:txBody>
        </p:sp>
        <p:sp>
          <p:nvSpPr>
            <p:cNvPr id="318511" name="Rectangle 47"/>
            <p:cNvSpPr>
              <a:spLocks noChangeArrowheads="1"/>
            </p:cNvSpPr>
            <p:nvPr/>
          </p:nvSpPr>
          <p:spPr bwMode="auto">
            <a:xfrm>
              <a:off x="2040" y="316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1</a:t>
              </a:r>
            </a:p>
          </p:txBody>
        </p:sp>
        <p:sp>
          <p:nvSpPr>
            <p:cNvPr id="16432" name="Line 48"/>
            <p:cNvSpPr/>
            <p:nvPr/>
          </p:nvSpPr>
          <p:spPr>
            <a:xfrm>
              <a:off x="3492" y="3408"/>
              <a:ext cx="0" cy="168"/>
            </a:xfrm>
            <a:prstGeom prst="line">
              <a:avLst/>
            </a:prstGeom>
            <a:ln w="19050" cap="flat" cmpd="sng">
              <a:solidFill>
                <a:schemeClr val="tx1"/>
              </a:solidFill>
              <a:prstDash val="solid"/>
              <a:headEnd type="none" w="med" len="med"/>
              <a:tailEnd type="none" w="sm" len="lg"/>
            </a:ln>
          </p:spPr>
        </p:sp>
        <p:grpSp>
          <p:nvGrpSpPr>
            <p:cNvPr id="16433" name="Group 49"/>
            <p:cNvGrpSpPr/>
            <p:nvPr/>
          </p:nvGrpSpPr>
          <p:grpSpPr>
            <a:xfrm>
              <a:off x="3108" y="3780"/>
              <a:ext cx="612" cy="168"/>
              <a:chOff x="3108" y="3780"/>
              <a:chExt cx="612" cy="168"/>
            </a:xfrm>
          </p:grpSpPr>
          <p:sp>
            <p:nvSpPr>
              <p:cNvPr id="16436" name="Line 50"/>
              <p:cNvSpPr/>
              <p:nvPr/>
            </p:nvSpPr>
            <p:spPr>
              <a:xfrm>
                <a:off x="3108" y="3780"/>
                <a:ext cx="192" cy="0"/>
              </a:xfrm>
              <a:prstGeom prst="line">
                <a:avLst/>
              </a:prstGeom>
              <a:ln w="19050" cap="flat" cmpd="sng">
                <a:solidFill>
                  <a:srgbClr val="FF3300"/>
                </a:solidFill>
                <a:prstDash val="solid"/>
                <a:headEnd type="none" w="med" len="med"/>
                <a:tailEnd type="none" w="sm" len="lg"/>
              </a:ln>
            </p:spPr>
          </p:sp>
          <p:sp>
            <p:nvSpPr>
              <p:cNvPr id="16437" name="Line 51"/>
              <p:cNvSpPr/>
              <p:nvPr/>
            </p:nvSpPr>
            <p:spPr>
              <a:xfrm>
                <a:off x="3300" y="3780"/>
                <a:ext cx="0" cy="168"/>
              </a:xfrm>
              <a:prstGeom prst="line">
                <a:avLst/>
              </a:prstGeom>
              <a:ln w="19050" cap="flat" cmpd="sng">
                <a:solidFill>
                  <a:srgbClr val="FF3300"/>
                </a:solidFill>
                <a:prstDash val="solid"/>
                <a:headEnd type="none" w="med" len="med"/>
                <a:tailEnd type="none" w="sm" len="lg"/>
              </a:ln>
            </p:spPr>
          </p:sp>
          <p:sp>
            <p:nvSpPr>
              <p:cNvPr id="16438" name="Line 52"/>
              <p:cNvSpPr/>
              <p:nvPr/>
            </p:nvSpPr>
            <p:spPr>
              <a:xfrm>
                <a:off x="3300" y="3936"/>
                <a:ext cx="240" cy="0"/>
              </a:xfrm>
              <a:prstGeom prst="line">
                <a:avLst/>
              </a:prstGeom>
              <a:ln w="19050" cap="flat" cmpd="sng">
                <a:solidFill>
                  <a:srgbClr val="FF3300"/>
                </a:solidFill>
                <a:prstDash val="solid"/>
                <a:headEnd type="none" w="med" len="med"/>
                <a:tailEnd type="none" w="sm" len="lg"/>
              </a:ln>
            </p:spPr>
          </p:sp>
          <p:sp>
            <p:nvSpPr>
              <p:cNvPr id="16439" name="Line 53"/>
              <p:cNvSpPr/>
              <p:nvPr/>
            </p:nvSpPr>
            <p:spPr>
              <a:xfrm>
                <a:off x="3528" y="3780"/>
                <a:ext cx="0" cy="156"/>
              </a:xfrm>
              <a:prstGeom prst="line">
                <a:avLst/>
              </a:prstGeom>
              <a:ln w="19050" cap="flat" cmpd="sng">
                <a:solidFill>
                  <a:srgbClr val="FF3300"/>
                </a:solidFill>
                <a:prstDash val="solid"/>
                <a:headEnd type="none" w="med" len="med"/>
                <a:tailEnd type="none" w="sm" len="lg"/>
              </a:ln>
            </p:spPr>
          </p:sp>
          <p:sp>
            <p:nvSpPr>
              <p:cNvPr id="16440" name="Line 54"/>
              <p:cNvSpPr/>
              <p:nvPr/>
            </p:nvSpPr>
            <p:spPr>
              <a:xfrm>
                <a:off x="3528" y="3780"/>
                <a:ext cx="192" cy="0"/>
              </a:xfrm>
              <a:prstGeom prst="line">
                <a:avLst/>
              </a:prstGeom>
              <a:ln w="19050" cap="flat" cmpd="sng">
                <a:solidFill>
                  <a:srgbClr val="FF3300"/>
                </a:solidFill>
                <a:prstDash val="solid"/>
                <a:headEnd type="none" w="med" len="med"/>
                <a:tailEnd type="none" w="sm" len="lg"/>
              </a:ln>
            </p:spPr>
          </p:sp>
        </p:grpSp>
        <p:sp>
          <p:nvSpPr>
            <p:cNvPr id="16434" name="Text Box 55"/>
            <p:cNvSpPr txBox="1"/>
            <p:nvPr/>
          </p:nvSpPr>
          <p:spPr>
            <a:xfrm>
              <a:off x="4154" y="150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16435" name="Text Box 56"/>
            <p:cNvSpPr txBox="1"/>
            <p:nvPr/>
          </p:nvSpPr>
          <p:spPr>
            <a:xfrm>
              <a:off x="3866" y="3676"/>
              <a:ext cx="1012" cy="327"/>
            </a:xfrm>
            <a:prstGeom prst="rect">
              <a:avLst/>
            </a:prstGeom>
            <a:noFill/>
            <a:ln w="19050">
              <a:noFill/>
            </a:ln>
          </p:spPr>
          <p:txBody>
            <a:bodyPr wrap="none">
              <a:spAutoFit/>
            </a:bodyPr>
            <a:lstStyle/>
            <a:p>
              <a:r>
                <a:rPr lang="zh-CN" altLang="en-US" sz="2800" dirty="0">
                  <a:latin typeface="Arial" panose="020B0604020202020204" pitchFamily="34" charset="0"/>
                </a:rPr>
                <a:t>初态设置</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18467"/>
                                        </p:tgtEl>
                                        <p:attrNameLst>
                                          <p:attrName>style.visibility</p:attrName>
                                        </p:attrNameLst>
                                      </p:cBhvr>
                                      <p:to>
                                        <p:strVal val="visible"/>
                                      </p:to>
                                    </p:set>
                                    <p:animEffect transition="in" filter="slide(fromBottom)">
                                      <p:cBhvr>
                                        <p:cTn id="7" dur="2000"/>
                                        <p:tgtEl>
                                          <p:spTgt spid="318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xfrm>
            <a:off x="304800" y="1371600"/>
            <a:ext cx="7772400" cy="214313"/>
          </a:xfrm>
        </p:spPr>
        <p:txBody>
          <a:bodyPr vert="horz" wrap="square" lIns="91440" tIns="45720" rIns="91440" bIns="45720" anchor="ctr" anchorCtr="0"/>
          <a:lstStyle/>
          <a:p>
            <a:pPr eaLnBrk="1" hangingPunct="1"/>
            <a:r>
              <a:rPr lang="en-US" altLang="zh-CN" sz="800" dirty="0"/>
              <a:t>.</a:t>
            </a:r>
          </a:p>
        </p:txBody>
      </p:sp>
      <p:sp>
        <p:nvSpPr>
          <p:cNvPr id="17411" name="Line 3"/>
          <p:cNvSpPr/>
          <p:nvPr/>
        </p:nvSpPr>
        <p:spPr>
          <a:xfrm>
            <a:off x="2076450" y="2114550"/>
            <a:ext cx="533400" cy="0"/>
          </a:xfrm>
          <a:prstGeom prst="line">
            <a:avLst/>
          </a:prstGeom>
          <a:ln w="9525" cap="flat" cmpd="sng">
            <a:solidFill>
              <a:srgbClr val="FF3300"/>
            </a:solidFill>
            <a:prstDash val="solid"/>
            <a:headEnd type="none" w="med" len="med"/>
            <a:tailEnd type="triangle" w="med" len="med"/>
          </a:ln>
        </p:spPr>
      </p:sp>
      <p:sp>
        <p:nvSpPr>
          <p:cNvPr id="17412" name="Line 4"/>
          <p:cNvSpPr/>
          <p:nvPr/>
        </p:nvSpPr>
        <p:spPr>
          <a:xfrm>
            <a:off x="3486150" y="2095500"/>
            <a:ext cx="457200" cy="0"/>
          </a:xfrm>
          <a:prstGeom prst="line">
            <a:avLst/>
          </a:prstGeom>
          <a:ln w="9525" cap="flat" cmpd="sng">
            <a:solidFill>
              <a:srgbClr val="FF3300"/>
            </a:solidFill>
            <a:prstDash val="solid"/>
            <a:headEnd type="none" w="med" len="med"/>
            <a:tailEnd type="triangle" w="med" len="med"/>
          </a:ln>
        </p:spPr>
      </p:sp>
      <p:sp>
        <p:nvSpPr>
          <p:cNvPr id="17413" name="Line 5"/>
          <p:cNvSpPr/>
          <p:nvPr/>
        </p:nvSpPr>
        <p:spPr>
          <a:xfrm>
            <a:off x="4686300" y="2095500"/>
            <a:ext cx="609600" cy="0"/>
          </a:xfrm>
          <a:prstGeom prst="line">
            <a:avLst/>
          </a:prstGeom>
          <a:ln w="9525" cap="flat" cmpd="sng">
            <a:solidFill>
              <a:srgbClr val="FF3300"/>
            </a:solidFill>
            <a:prstDash val="solid"/>
            <a:headEnd type="none" w="med" len="med"/>
            <a:tailEnd type="triangle" w="med" len="med"/>
          </a:ln>
        </p:spPr>
      </p:sp>
      <p:sp>
        <p:nvSpPr>
          <p:cNvPr id="17414" name="Line 6"/>
          <p:cNvSpPr/>
          <p:nvPr/>
        </p:nvSpPr>
        <p:spPr>
          <a:xfrm>
            <a:off x="6096000" y="2095500"/>
            <a:ext cx="742950" cy="0"/>
          </a:xfrm>
          <a:prstGeom prst="line">
            <a:avLst/>
          </a:prstGeom>
          <a:ln w="9525" cap="flat" cmpd="sng">
            <a:solidFill>
              <a:srgbClr val="FF3300"/>
            </a:solidFill>
            <a:prstDash val="solid"/>
            <a:headEnd type="none" w="med" len="med"/>
            <a:tailEnd type="triangle" w="med" len="med"/>
          </a:ln>
        </p:spPr>
      </p:sp>
      <p:sp>
        <p:nvSpPr>
          <p:cNvPr id="17415" name="Line 7"/>
          <p:cNvSpPr/>
          <p:nvPr/>
        </p:nvSpPr>
        <p:spPr>
          <a:xfrm>
            <a:off x="8515350" y="2305050"/>
            <a:ext cx="0" cy="2209800"/>
          </a:xfrm>
          <a:prstGeom prst="line">
            <a:avLst/>
          </a:prstGeom>
          <a:ln w="9525" cap="flat" cmpd="sng">
            <a:solidFill>
              <a:srgbClr val="FF3300"/>
            </a:solidFill>
            <a:prstDash val="solid"/>
            <a:headEnd type="none" w="med" len="med"/>
            <a:tailEnd type="triangle" w="med" len="med"/>
          </a:ln>
        </p:spPr>
      </p:sp>
      <p:sp>
        <p:nvSpPr>
          <p:cNvPr id="17416" name="Line 8"/>
          <p:cNvSpPr/>
          <p:nvPr/>
        </p:nvSpPr>
        <p:spPr>
          <a:xfrm flipH="1">
            <a:off x="6096000" y="4667250"/>
            <a:ext cx="704850" cy="0"/>
          </a:xfrm>
          <a:prstGeom prst="line">
            <a:avLst/>
          </a:prstGeom>
          <a:ln w="9525" cap="flat" cmpd="sng">
            <a:solidFill>
              <a:srgbClr val="FF3300"/>
            </a:solidFill>
            <a:prstDash val="solid"/>
            <a:headEnd type="none" w="med" len="med"/>
            <a:tailEnd type="triangle" w="med" len="med"/>
          </a:ln>
        </p:spPr>
      </p:sp>
      <p:sp>
        <p:nvSpPr>
          <p:cNvPr id="17417" name="Line 9"/>
          <p:cNvSpPr/>
          <p:nvPr/>
        </p:nvSpPr>
        <p:spPr>
          <a:xfrm flipH="1">
            <a:off x="4724400" y="4667250"/>
            <a:ext cx="609600" cy="0"/>
          </a:xfrm>
          <a:prstGeom prst="line">
            <a:avLst/>
          </a:prstGeom>
          <a:ln w="9525" cap="flat" cmpd="sng">
            <a:solidFill>
              <a:srgbClr val="FF3300"/>
            </a:solidFill>
            <a:prstDash val="solid"/>
            <a:headEnd type="none" w="med" len="med"/>
            <a:tailEnd type="triangle" w="med" len="med"/>
          </a:ln>
        </p:spPr>
      </p:sp>
      <p:sp>
        <p:nvSpPr>
          <p:cNvPr id="17418" name="Line 10"/>
          <p:cNvSpPr/>
          <p:nvPr/>
        </p:nvSpPr>
        <p:spPr>
          <a:xfrm flipH="1">
            <a:off x="3390900" y="4667250"/>
            <a:ext cx="609600" cy="0"/>
          </a:xfrm>
          <a:prstGeom prst="line">
            <a:avLst/>
          </a:prstGeom>
          <a:ln w="9525" cap="flat" cmpd="sng">
            <a:solidFill>
              <a:srgbClr val="FF3300"/>
            </a:solidFill>
            <a:prstDash val="solid"/>
            <a:headEnd type="none" w="med" len="med"/>
            <a:tailEnd type="triangle" w="med" len="med"/>
          </a:ln>
        </p:spPr>
      </p:sp>
      <p:sp>
        <p:nvSpPr>
          <p:cNvPr id="17419" name="Line 11"/>
          <p:cNvSpPr/>
          <p:nvPr/>
        </p:nvSpPr>
        <p:spPr>
          <a:xfrm flipH="1">
            <a:off x="1981200" y="4667250"/>
            <a:ext cx="762000" cy="0"/>
          </a:xfrm>
          <a:prstGeom prst="line">
            <a:avLst/>
          </a:prstGeom>
          <a:ln w="9525" cap="flat" cmpd="sng">
            <a:solidFill>
              <a:srgbClr val="FF3300"/>
            </a:solidFill>
            <a:prstDash val="solid"/>
            <a:headEnd type="none" w="med" len="med"/>
            <a:tailEnd type="triangle" w="med" len="med"/>
          </a:ln>
        </p:spPr>
      </p:sp>
      <p:sp>
        <p:nvSpPr>
          <p:cNvPr id="17420" name="Line 12"/>
          <p:cNvSpPr/>
          <p:nvPr/>
        </p:nvSpPr>
        <p:spPr>
          <a:xfrm flipH="1" flipV="1">
            <a:off x="1657350" y="2362200"/>
            <a:ext cx="19050" cy="571500"/>
          </a:xfrm>
          <a:prstGeom prst="line">
            <a:avLst/>
          </a:prstGeom>
          <a:ln w="9525" cap="flat" cmpd="sng">
            <a:solidFill>
              <a:srgbClr val="FF3300"/>
            </a:solidFill>
            <a:prstDash val="solid"/>
            <a:headEnd type="none" w="med" len="med"/>
            <a:tailEnd type="triangle" w="med" len="med"/>
          </a:ln>
        </p:spPr>
      </p:sp>
      <p:sp>
        <p:nvSpPr>
          <p:cNvPr id="319501" name="Rectangle 13"/>
          <p:cNvSpPr>
            <a:spLocks noChangeArrowheads="1"/>
          </p:cNvSpPr>
          <p:nvPr/>
        </p:nvSpPr>
        <p:spPr bwMode="auto">
          <a:xfrm>
            <a:off x="228600" y="3036888"/>
            <a:ext cx="6588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en-US"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LD</a:t>
            </a:r>
          </a:p>
        </p:txBody>
      </p:sp>
      <p:sp>
        <p:nvSpPr>
          <p:cNvPr id="17422" name="Line 14"/>
          <p:cNvSpPr/>
          <p:nvPr/>
        </p:nvSpPr>
        <p:spPr>
          <a:xfrm>
            <a:off x="323850" y="3124200"/>
            <a:ext cx="457200" cy="0"/>
          </a:xfrm>
          <a:prstGeom prst="line">
            <a:avLst/>
          </a:prstGeom>
          <a:ln w="9525" cap="flat" cmpd="sng">
            <a:solidFill>
              <a:schemeClr val="tx1"/>
            </a:solidFill>
            <a:prstDash val="solid"/>
            <a:headEnd type="none" w="med" len="med"/>
            <a:tailEnd type="none" w="med" len="med"/>
          </a:ln>
        </p:spPr>
      </p:sp>
      <p:sp>
        <p:nvSpPr>
          <p:cNvPr id="17423" name="Oval 15"/>
          <p:cNvSpPr/>
          <p:nvPr/>
        </p:nvSpPr>
        <p:spPr>
          <a:xfrm>
            <a:off x="914400" y="1409700"/>
            <a:ext cx="1447800" cy="2876550"/>
          </a:xfrm>
          <a:prstGeom prst="ellipse">
            <a:avLst/>
          </a:prstGeom>
          <a:noFill/>
          <a:ln w="9525" cap="flat" cmpd="sng">
            <a:solidFill>
              <a:srgbClr val="339933"/>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7424" name="Line 16"/>
          <p:cNvSpPr/>
          <p:nvPr/>
        </p:nvSpPr>
        <p:spPr>
          <a:xfrm>
            <a:off x="7397750" y="2082800"/>
            <a:ext cx="742950" cy="0"/>
          </a:xfrm>
          <a:prstGeom prst="line">
            <a:avLst/>
          </a:prstGeom>
          <a:ln w="9525" cap="flat" cmpd="sng">
            <a:solidFill>
              <a:srgbClr val="FF3300"/>
            </a:solidFill>
            <a:prstDash val="solid"/>
            <a:headEnd type="none" w="med" len="med"/>
            <a:tailEnd type="triangle" w="med" len="med"/>
          </a:ln>
        </p:spPr>
      </p:sp>
      <p:sp>
        <p:nvSpPr>
          <p:cNvPr id="17425" name="Line 17"/>
          <p:cNvSpPr/>
          <p:nvPr/>
        </p:nvSpPr>
        <p:spPr>
          <a:xfrm flipH="1">
            <a:off x="7454900" y="4673600"/>
            <a:ext cx="704850" cy="0"/>
          </a:xfrm>
          <a:prstGeom prst="line">
            <a:avLst/>
          </a:prstGeom>
          <a:ln w="9525" cap="flat" cmpd="sng">
            <a:solidFill>
              <a:srgbClr val="FF3300"/>
            </a:solidFill>
            <a:prstDash val="solid"/>
            <a:headEnd type="none" w="med" len="med"/>
            <a:tailEnd type="triangle" w="med" len="med"/>
          </a:ln>
        </p:spPr>
      </p:sp>
      <p:sp>
        <p:nvSpPr>
          <p:cNvPr id="17426" name="Rectangle 18"/>
          <p:cNvSpPr/>
          <p:nvPr/>
        </p:nvSpPr>
        <p:spPr>
          <a:xfrm>
            <a:off x="1238250" y="1820863"/>
            <a:ext cx="895350" cy="519112"/>
          </a:xfrm>
          <a:prstGeom prst="rect">
            <a:avLst/>
          </a:prstGeom>
          <a:noFill/>
          <a:ln w="19050">
            <a:noFill/>
          </a:ln>
        </p:spPr>
        <p:txBody>
          <a:bodyPr wrap="none">
            <a:spAutoFit/>
          </a:bodyPr>
          <a:lstStyle/>
          <a:p>
            <a:r>
              <a:rPr lang="en-US" altLang="zh-CN" sz="2800" dirty="0">
                <a:latin typeface="Times New Roman" panose="02020603050405020304" pitchFamily="18" charset="0"/>
              </a:rPr>
              <a:t>1111</a:t>
            </a:r>
          </a:p>
        </p:txBody>
      </p:sp>
      <p:sp>
        <p:nvSpPr>
          <p:cNvPr id="17427" name="Rectangle 19"/>
          <p:cNvSpPr/>
          <p:nvPr/>
        </p:nvSpPr>
        <p:spPr>
          <a:xfrm>
            <a:off x="2514600" y="1839913"/>
            <a:ext cx="895350" cy="519112"/>
          </a:xfrm>
          <a:prstGeom prst="rect">
            <a:avLst/>
          </a:prstGeom>
          <a:noFill/>
          <a:ln w="19050">
            <a:noFill/>
          </a:ln>
        </p:spPr>
        <p:txBody>
          <a:bodyPr wrap="none">
            <a:spAutoFit/>
          </a:bodyPr>
          <a:lstStyle/>
          <a:p>
            <a:r>
              <a:rPr lang="en-US" altLang="zh-CN" sz="2800" dirty="0">
                <a:latin typeface="Times New Roman" panose="02020603050405020304" pitchFamily="18" charset="0"/>
              </a:rPr>
              <a:t>1110</a:t>
            </a:r>
          </a:p>
        </p:txBody>
      </p:sp>
      <p:sp>
        <p:nvSpPr>
          <p:cNvPr id="17428" name="Rectangle 20"/>
          <p:cNvSpPr/>
          <p:nvPr/>
        </p:nvSpPr>
        <p:spPr>
          <a:xfrm>
            <a:off x="3867150" y="1809750"/>
            <a:ext cx="895350" cy="519113"/>
          </a:xfrm>
          <a:prstGeom prst="rect">
            <a:avLst/>
          </a:prstGeom>
          <a:noFill/>
          <a:ln w="19050">
            <a:noFill/>
          </a:ln>
        </p:spPr>
        <p:txBody>
          <a:bodyPr wrap="none">
            <a:spAutoFit/>
          </a:bodyPr>
          <a:lstStyle/>
          <a:p>
            <a:r>
              <a:rPr lang="en-US" altLang="zh-CN" sz="2800" dirty="0">
                <a:latin typeface="Times New Roman" panose="02020603050405020304" pitchFamily="18" charset="0"/>
              </a:rPr>
              <a:t>1101</a:t>
            </a:r>
          </a:p>
        </p:txBody>
      </p:sp>
      <p:sp>
        <p:nvSpPr>
          <p:cNvPr id="17429" name="Rectangle 21"/>
          <p:cNvSpPr/>
          <p:nvPr/>
        </p:nvSpPr>
        <p:spPr>
          <a:xfrm>
            <a:off x="5238750" y="1809750"/>
            <a:ext cx="895350" cy="519113"/>
          </a:xfrm>
          <a:prstGeom prst="rect">
            <a:avLst/>
          </a:prstGeom>
          <a:noFill/>
          <a:ln w="19050">
            <a:noFill/>
          </a:ln>
        </p:spPr>
        <p:txBody>
          <a:bodyPr wrap="none">
            <a:spAutoFit/>
          </a:bodyPr>
          <a:lstStyle/>
          <a:p>
            <a:r>
              <a:rPr lang="en-US" altLang="zh-CN" sz="2800" dirty="0">
                <a:latin typeface="Times New Roman" panose="02020603050405020304" pitchFamily="18" charset="0"/>
              </a:rPr>
              <a:t>1100</a:t>
            </a:r>
          </a:p>
        </p:txBody>
      </p:sp>
      <p:sp>
        <p:nvSpPr>
          <p:cNvPr id="17430" name="Rectangle 22"/>
          <p:cNvSpPr/>
          <p:nvPr/>
        </p:nvSpPr>
        <p:spPr>
          <a:xfrm>
            <a:off x="6686550" y="1790700"/>
            <a:ext cx="895350" cy="519113"/>
          </a:xfrm>
          <a:prstGeom prst="rect">
            <a:avLst/>
          </a:prstGeom>
          <a:noFill/>
          <a:ln w="19050">
            <a:noFill/>
          </a:ln>
        </p:spPr>
        <p:txBody>
          <a:bodyPr wrap="none">
            <a:spAutoFit/>
          </a:bodyPr>
          <a:lstStyle/>
          <a:p>
            <a:r>
              <a:rPr lang="en-US" altLang="zh-CN" sz="2800" dirty="0">
                <a:latin typeface="Times New Roman" panose="02020603050405020304" pitchFamily="18" charset="0"/>
              </a:rPr>
              <a:t>1011</a:t>
            </a:r>
          </a:p>
        </p:txBody>
      </p:sp>
      <p:sp>
        <p:nvSpPr>
          <p:cNvPr id="17431" name="Rectangle 23"/>
          <p:cNvSpPr/>
          <p:nvPr/>
        </p:nvSpPr>
        <p:spPr>
          <a:xfrm>
            <a:off x="8039100" y="1809750"/>
            <a:ext cx="895350" cy="519113"/>
          </a:xfrm>
          <a:prstGeom prst="rect">
            <a:avLst/>
          </a:prstGeom>
          <a:noFill/>
          <a:ln w="19050">
            <a:noFill/>
          </a:ln>
        </p:spPr>
        <p:txBody>
          <a:bodyPr wrap="none">
            <a:spAutoFit/>
          </a:bodyPr>
          <a:lstStyle/>
          <a:p>
            <a:r>
              <a:rPr lang="en-US" altLang="zh-CN" sz="2800" dirty="0">
                <a:latin typeface="Times New Roman" panose="02020603050405020304" pitchFamily="18" charset="0"/>
              </a:rPr>
              <a:t>1010</a:t>
            </a:r>
          </a:p>
        </p:txBody>
      </p:sp>
      <p:sp>
        <p:nvSpPr>
          <p:cNvPr id="17432" name="Rectangle 24"/>
          <p:cNvSpPr/>
          <p:nvPr/>
        </p:nvSpPr>
        <p:spPr>
          <a:xfrm>
            <a:off x="8058150" y="4400550"/>
            <a:ext cx="895350" cy="519113"/>
          </a:xfrm>
          <a:prstGeom prst="rect">
            <a:avLst/>
          </a:prstGeom>
          <a:noFill/>
          <a:ln w="19050">
            <a:noFill/>
          </a:ln>
        </p:spPr>
        <p:txBody>
          <a:bodyPr wrap="none">
            <a:spAutoFit/>
          </a:bodyPr>
          <a:lstStyle/>
          <a:p>
            <a:r>
              <a:rPr lang="en-US" altLang="zh-CN" sz="2800" dirty="0">
                <a:latin typeface="Times New Roman" panose="02020603050405020304" pitchFamily="18" charset="0"/>
              </a:rPr>
              <a:t>1001</a:t>
            </a:r>
          </a:p>
        </p:txBody>
      </p:sp>
      <p:sp>
        <p:nvSpPr>
          <p:cNvPr id="17433" name="Rectangle 25"/>
          <p:cNvSpPr/>
          <p:nvPr/>
        </p:nvSpPr>
        <p:spPr>
          <a:xfrm>
            <a:off x="6686550" y="4419600"/>
            <a:ext cx="895350" cy="519113"/>
          </a:xfrm>
          <a:prstGeom prst="rect">
            <a:avLst/>
          </a:prstGeom>
          <a:noFill/>
          <a:ln w="19050">
            <a:noFill/>
          </a:ln>
        </p:spPr>
        <p:txBody>
          <a:bodyPr wrap="none">
            <a:spAutoFit/>
          </a:bodyPr>
          <a:lstStyle/>
          <a:p>
            <a:r>
              <a:rPr lang="en-US" altLang="zh-CN" sz="2800" dirty="0">
                <a:latin typeface="Times New Roman" panose="02020603050405020304" pitchFamily="18" charset="0"/>
              </a:rPr>
              <a:t>1000</a:t>
            </a:r>
          </a:p>
        </p:txBody>
      </p:sp>
      <p:sp>
        <p:nvSpPr>
          <p:cNvPr id="17434" name="Rectangle 26"/>
          <p:cNvSpPr/>
          <p:nvPr/>
        </p:nvSpPr>
        <p:spPr>
          <a:xfrm>
            <a:off x="5334000" y="4400550"/>
            <a:ext cx="895350" cy="519113"/>
          </a:xfrm>
          <a:prstGeom prst="rect">
            <a:avLst/>
          </a:prstGeom>
          <a:noFill/>
          <a:ln w="19050">
            <a:noFill/>
          </a:ln>
        </p:spPr>
        <p:txBody>
          <a:bodyPr wrap="none">
            <a:spAutoFit/>
          </a:bodyPr>
          <a:lstStyle/>
          <a:p>
            <a:r>
              <a:rPr lang="en-US" altLang="zh-CN" sz="2800" dirty="0">
                <a:latin typeface="Times New Roman" panose="02020603050405020304" pitchFamily="18" charset="0"/>
              </a:rPr>
              <a:t>0111</a:t>
            </a:r>
          </a:p>
        </p:txBody>
      </p:sp>
      <p:sp>
        <p:nvSpPr>
          <p:cNvPr id="17435" name="Rectangle 27"/>
          <p:cNvSpPr/>
          <p:nvPr/>
        </p:nvSpPr>
        <p:spPr>
          <a:xfrm>
            <a:off x="3962400" y="4400550"/>
            <a:ext cx="895350" cy="519113"/>
          </a:xfrm>
          <a:prstGeom prst="rect">
            <a:avLst/>
          </a:prstGeom>
          <a:noFill/>
          <a:ln w="19050">
            <a:noFill/>
          </a:ln>
        </p:spPr>
        <p:txBody>
          <a:bodyPr wrap="none">
            <a:spAutoFit/>
          </a:bodyPr>
          <a:lstStyle/>
          <a:p>
            <a:r>
              <a:rPr lang="en-US" altLang="zh-CN" sz="2800" dirty="0">
                <a:latin typeface="Times New Roman" panose="02020603050405020304" pitchFamily="18" charset="0"/>
              </a:rPr>
              <a:t>0110</a:t>
            </a:r>
          </a:p>
        </p:txBody>
      </p:sp>
      <p:sp>
        <p:nvSpPr>
          <p:cNvPr id="17436" name="Rectangle 28"/>
          <p:cNvSpPr/>
          <p:nvPr/>
        </p:nvSpPr>
        <p:spPr>
          <a:xfrm>
            <a:off x="2686050" y="4381500"/>
            <a:ext cx="895350" cy="519113"/>
          </a:xfrm>
          <a:prstGeom prst="rect">
            <a:avLst/>
          </a:prstGeom>
          <a:noFill/>
          <a:ln w="19050">
            <a:noFill/>
          </a:ln>
        </p:spPr>
        <p:txBody>
          <a:bodyPr wrap="none">
            <a:spAutoFit/>
          </a:bodyPr>
          <a:lstStyle/>
          <a:p>
            <a:r>
              <a:rPr lang="en-US" altLang="zh-CN" sz="2800" dirty="0">
                <a:latin typeface="Times New Roman" panose="02020603050405020304" pitchFamily="18" charset="0"/>
              </a:rPr>
              <a:t>0101</a:t>
            </a:r>
          </a:p>
        </p:txBody>
      </p:sp>
      <p:sp>
        <p:nvSpPr>
          <p:cNvPr id="17437" name="Rectangle 29"/>
          <p:cNvSpPr/>
          <p:nvPr/>
        </p:nvSpPr>
        <p:spPr>
          <a:xfrm>
            <a:off x="1181100" y="4419600"/>
            <a:ext cx="895350" cy="476250"/>
          </a:xfrm>
          <a:prstGeom prst="rect">
            <a:avLst/>
          </a:prstGeom>
          <a:noFill/>
          <a:ln w="19050">
            <a:noFill/>
          </a:ln>
        </p:spPr>
        <p:txBody>
          <a:bodyPr wrap="none">
            <a:spAutoFit/>
          </a:bodyPr>
          <a:lstStyle/>
          <a:p>
            <a:pPr>
              <a:lnSpc>
                <a:spcPct val="90000"/>
              </a:lnSpc>
              <a:spcBef>
                <a:spcPct val="20000"/>
              </a:spcBef>
              <a:buClr>
                <a:schemeClr val="bg2"/>
              </a:buClr>
              <a:buSzPct val="75000"/>
              <a:buFont typeface="Wingdings" panose="05000000000000000000" pitchFamily="2" charset="2"/>
            </a:pPr>
            <a:r>
              <a:rPr lang="en-US" altLang="zh-CN" sz="2800" dirty="0">
                <a:latin typeface="Times New Roman" panose="02020603050405020304" pitchFamily="18" charset="0"/>
              </a:rPr>
              <a:t>0100</a:t>
            </a:r>
          </a:p>
        </p:txBody>
      </p:sp>
      <p:sp>
        <p:nvSpPr>
          <p:cNvPr id="17438" name="Rectangle 30"/>
          <p:cNvSpPr/>
          <p:nvPr/>
        </p:nvSpPr>
        <p:spPr>
          <a:xfrm>
            <a:off x="1085850" y="3048000"/>
            <a:ext cx="996950" cy="579438"/>
          </a:xfrm>
          <a:prstGeom prst="rect">
            <a:avLst/>
          </a:prstGeom>
          <a:noFill/>
          <a:ln w="19050">
            <a:noFill/>
          </a:ln>
        </p:spPr>
        <p:txBody>
          <a:bodyPr wrap="none">
            <a:spAutoFit/>
          </a:bodyPr>
          <a:lstStyle/>
          <a:p>
            <a:r>
              <a:rPr lang="en-US" altLang="zh-CN" sz="3200" dirty="0">
                <a:latin typeface="Times New Roman" panose="02020603050405020304" pitchFamily="18" charset="0"/>
              </a:rPr>
              <a:t> </a:t>
            </a:r>
            <a:r>
              <a:rPr lang="en-US" altLang="zh-CN" sz="2800" dirty="0">
                <a:latin typeface="Times New Roman" panose="02020603050405020304" pitchFamily="18" charset="0"/>
              </a:rPr>
              <a:t>0011</a:t>
            </a:r>
          </a:p>
        </p:txBody>
      </p:sp>
      <p:sp>
        <p:nvSpPr>
          <p:cNvPr id="17439" name="Line 31"/>
          <p:cNvSpPr/>
          <p:nvPr/>
        </p:nvSpPr>
        <p:spPr>
          <a:xfrm flipH="1" flipV="1">
            <a:off x="1644650" y="3759200"/>
            <a:ext cx="19050" cy="571500"/>
          </a:xfrm>
          <a:prstGeom prst="line">
            <a:avLst/>
          </a:prstGeom>
          <a:ln w="9525" cap="flat" cmpd="sng">
            <a:solidFill>
              <a:srgbClr val="FF3300"/>
            </a:solidFill>
            <a:prstDash val="solid"/>
            <a:headEnd type="none" w="med" len="med"/>
            <a:tailEnd type="triangle" w="med" len="med"/>
          </a:ln>
        </p:spPr>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Text Box 2"/>
          <p:cNvSpPr txBox="1">
            <a:spLocks noChangeArrowheads="1"/>
          </p:cNvSpPr>
          <p:nvPr/>
        </p:nvSpPr>
        <p:spPr bwMode="auto">
          <a:xfrm>
            <a:off x="827088" y="1628775"/>
            <a:ext cx="5511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1" lang="en-US" altLang="zh-CN" sz="2800" b="1"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1. </a:t>
            </a:r>
            <a:r>
              <a:rPr kumimoji="1" lang="zh-CN" altLang="en-US" sz="2800" b="1"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同步十进制加法计数器</a:t>
            </a:r>
            <a:r>
              <a:rPr kumimoji="1" lang="en-US" altLang="zh-CN" sz="2800" b="1"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74LS160</a:t>
            </a:r>
            <a:r>
              <a:rPr kumimoji="1" lang="en-US" altLang="zh-CN" sz="24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 </a:t>
            </a:r>
          </a:p>
        </p:txBody>
      </p:sp>
      <p:sp>
        <p:nvSpPr>
          <p:cNvPr id="18435" name="Rectangle 251"/>
          <p:cNvSpPr/>
          <p:nvPr/>
        </p:nvSpPr>
        <p:spPr>
          <a:xfrm>
            <a:off x="539750" y="2200275"/>
            <a:ext cx="8031163" cy="2397125"/>
          </a:xfrm>
          <a:prstGeom prst="rect">
            <a:avLst/>
          </a:prstGeom>
          <a:noFill/>
          <a:ln w="9525">
            <a:noFill/>
          </a:ln>
        </p:spPr>
        <p:txBody>
          <a:bodyPr anchor="ctr" anchorCtr="0">
            <a:spAutoFit/>
          </a:bodyPr>
          <a:lstStyle/>
          <a:p>
            <a:pPr>
              <a:lnSpc>
                <a:spcPct val="135000"/>
              </a:lnSpc>
            </a:pPr>
            <a:r>
              <a:rPr lang="en-US" altLang="zh-CN" sz="2800" dirty="0">
                <a:latin typeface="Arial" panose="020B0604020202020204" pitchFamily="34" charset="0"/>
              </a:rPr>
              <a:t>        </a:t>
            </a:r>
            <a:r>
              <a:rPr lang="zh-CN" altLang="en-US" sz="2800" dirty="0">
                <a:latin typeface="Arial" panose="020B0604020202020204" pitchFamily="34" charset="0"/>
              </a:rPr>
              <a:t>同步十进法计数器</a:t>
            </a:r>
            <a:r>
              <a:rPr lang="en-US" altLang="zh-CN" sz="2800" dirty="0">
                <a:latin typeface="Arial" panose="020B0604020202020204" pitchFamily="34" charset="0"/>
              </a:rPr>
              <a:t>74LS160</a:t>
            </a:r>
            <a:r>
              <a:rPr lang="zh-CN" altLang="en-US" sz="2800" dirty="0">
                <a:latin typeface="Arial" panose="020B0604020202020204" pitchFamily="34" charset="0"/>
              </a:rPr>
              <a:t>与同步二进制加法计数器</a:t>
            </a:r>
            <a:r>
              <a:rPr lang="en-US" altLang="zh-CN" sz="2800" dirty="0">
                <a:latin typeface="Arial" panose="020B0604020202020204" pitchFamily="34" charset="0"/>
              </a:rPr>
              <a:t>74LS161</a:t>
            </a:r>
            <a:r>
              <a:rPr lang="zh-CN" altLang="en-US" sz="2800" dirty="0">
                <a:latin typeface="Arial" panose="020B0604020202020204" pitchFamily="34" charset="0"/>
              </a:rPr>
              <a:t>（也即同步十六进制加法计数器）基本相同。异步置零，异步预置和保持功能与</a:t>
            </a:r>
            <a:r>
              <a:rPr lang="en-US" altLang="zh-CN" sz="2800" dirty="0">
                <a:latin typeface="Arial" panose="020B0604020202020204" pitchFamily="34" charset="0"/>
              </a:rPr>
              <a:t>74LS161</a:t>
            </a:r>
            <a:r>
              <a:rPr lang="zh-CN" altLang="en-US" sz="2800" dirty="0">
                <a:latin typeface="Arial" panose="020B0604020202020204" pitchFamily="34" charset="0"/>
              </a:rPr>
              <a:t>是完全相同的，只是计数规律有所差别。 </a:t>
            </a:r>
          </a:p>
        </p:txBody>
      </p:sp>
      <p:sp>
        <p:nvSpPr>
          <p:cNvPr id="323836" name="Text Box 252"/>
          <p:cNvSpPr txBox="1">
            <a:spLocks noChangeArrowheads="1"/>
          </p:cNvSpPr>
          <p:nvPr/>
        </p:nvSpPr>
        <p:spPr bwMode="auto">
          <a:xfrm>
            <a:off x="755650" y="608013"/>
            <a:ext cx="6840538" cy="80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lnSpc>
                <a:spcPct val="145000"/>
              </a:lnSpc>
              <a:spcBef>
                <a:spcPct val="50000"/>
              </a:spcBef>
              <a:buClrTx/>
              <a:buSzTx/>
              <a:buFontTx/>
              <a:buNone/>
              <a:defRPr/>
            </a:pPr>
            <a:r>
              <a:rPr kumimoji="1" lang="en-US" altLang="zh-CN" sz="3200" b="1" kern="1200" cap="none" spc="0" normalizeH="0" baseline="0" noProof="0" dirty="0">
                <a:solidFill>
                  <a:srgbClr val="3333FF"/>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7.4.2 </a:t>
            </a:r>
            <a:r>
              <a:rPr kumimoji="1" lang="zh-CN" altLang="en-US" sz="3200" b="1" kern="1200" cap="none" spc="0" normalizeH="0" baseline="0" noProof="0" dirty="0">
                <a:solidFill>
                  <a:srgbClr val="3333FF"/>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十进制计数器</a:t>
            </a:r>
            <a:endParaRPr kumimoji="1" lang="zh-CN" altLang="en-US" sz="24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Group 4"/>
          <p:cNvGrpSpPr/>
          <p:nvPr/>
        </p:nvGrpSpPr>
        <p:grpSpPr>
          <a:xfrm>
            <a:off x="1185863" y="404813"/>
            <a:ext cx="5691187" cy="6381750"/>
            <a:chOff x="1868" y="7161"/>
            <a:chExt cx="7800" cy="7749"/>
          </a:xfrm>
        </p:grpSpPr>
        <p:grpSp>
          <p:nvGrpSpPr>
            <p:cNvPr id="19463" name="Group 5"/>
            <p:cNvGrpSpPr/>
            <p:nvPr/>
          </p:nvGrpSpPr>
          <p:grpSpPr>
            <a:xfrm>
              <a:off x="1868" y="7161"/>
              <a:ext cx="7800" cy="7504"/>
              <a:chOff x="1892" y="7018"/>
              <a:chExt cx="7800" cy="7504"/>
            </a:xfrm>
          </p:grpSpPr>
          <p:sp>
            <p:nvSpPr>
              <p:cNvPr id="19465" name="Rectangle 6"/>
              <p:cNvSpPr/>
              <p:nvPr/>
            </p:nvSpPr>
            <p:spPr>
              <a:xfrm>
                <a:off x="7862" y="10605"/>
                <a:ext cx="720" cy="93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just">
                  <a:lnSpc>
                    <a:spcPct val="96000"/>
                  </a:lnSpc>
                </a:pPr>
                <a:r>
                  <a:rPr lang="en-US" altLang="zh-CN" sz="1400" dirty="0">
                    <a:latin typeface="Times New Roman" panose="02020603050405020304" pitchFamily="18" charset="0"/>
                  </a:rPr>
                  <a:t>&amp; </a:t>
                </a:r>
                <a:r>
                  <a:rPr lang="en-US" altLang="zh-CN" sz="1400" i="1" dirty="0">
                    <a:latin typeface="Times New Roman" panose="02020603050405020304" pitchFamily="18" charset="0"/>
                  </a:rPr>
                  <a:t>J</a:t>
                </a:r>
              </a:p>
              <a:p>
                <a:pPr algn="just">
                  <a:lnSpc>
                    <a:spcPct val="96000"/>
                  </a:lnSpc>
                </a:pPr>
                <a:r>
                  <a:rPr lang="en-US" altLang="zh-CN" sz="1400" i="1" dirty="0">
                    <a:latin typeface="Times New Roman" panose="02020603050405020304" pitchFamily="18" charset="0"/>
                  </a:rPr>
                  <a:t>C</a:t>
                </a:r>
              </a:p>
              <a:p>
                <a:pPr algn="just">
                  <a:lnSpc>
                    <a:spcPct val="96000"/>
                  </a:lnSpc>
                </a:pPr>
                <a:r>
                  <a:rPr lang="en-US" altLang="zh-CN" sz="1400" i="1" dirty="0">
                    <a:latin typeface="Times New Roman" panose="02020603050405020304" pitchFamily="18" charset="0"/>
                  </a:rPr>
                  <a:t>R</a:t>
                </a:r>
              </a:p>
              <a:p>
                <a:pPr algn="just">
                  <a:lnSpc>
                    <a:spcPct val="96000"/>
                  </a:lnSpc>
                </a:pPr>
                <a:r>
                  <a:rPr lang="en-US" altLang="zh-CN" sz="1400" dirty="0">
                    <a:latin typeface="Times New Roman" panose="02020603050405020304" pitchFamily="18" charset="0"/>
                  </a:rPr>
                  <a:t>&amp; </a:t>
                </a:r>
                <a:r>
                  <a:rPr lang="en-US" altLang="zh-CN" sz="1400" i="1" dirty="0">
                    <a:latin typeface="Times New Roman" panose="02020603050405020304" pitchFamily="18" charset="0"/>
                  </a:rPr>
                  <a:t>K</a:t>
                </a:r>
                <a:endParaRPr lang="en-US" altLang="zh-CN" sz="3200" dirty="0">
                  <a:latin typeface="Arial" panose="020B0604020202020204" pitchFamily="34" charset="0"/>
                </a:endParaRPr>
              </a:p>
            </p:txBody>
          </p:sp>
          <p:sp>
            <p:nvSpPr>
              <p:cNvPr id="19466" name="Line 7"/>
              <p:cNvSpPr/>
              <p:nvPr/>
            </p:nvSpPr>
            <p:spPr>
              <a:xfrm>
                <a:off x="7862" y="11343"/>
                <a:ext cx="180" cy="0"/>
              </a:xfrm>
              <a:prstGeom prst="line">
                <a:avLst/>
              </a:prstGeom>
              <a:ln w="9525" cap="flat" cmpd="sng">
                <a:solidFill>
                  <a:srgbClr val="0000FF"/>
                </a:solidFill>
                <a:prstDash val="solid"/>
                <a:headEnd type="none" w="med" len="med"/>
                <a:tailEnd type="none" w="med" len="med"/>
              </a:ln>
            </p:spPr>
          </p:sp>
          <p:sp>
            <p:nvSpPr>
              <p:cNvPr id="19467" name="Line 8"/>
              <p:cNvSpPr/>
              <p:nvPr/>
            </p:nvSpPr>
            <p:spPr>
              <a:xfrm>
                <a:off x="8052" y="11343"/>
                <a:ext cx="0" cy="193"/>
              </a:xfrm>
              <a:prstGeom prst="line">
                <a:avLst/>
              </a:prstGeom>
              <a:ln w="9525" cap="flat" cmpd="sng">
                <a:solidFill>
                  <a:srgbClr val="0000FF"/>
                </a:solidFill>
                <a:prstDash val="solid"/>
                <a:headEnd type="none" w="med" len="med"/>
                <a:tailEnd type="none" w="med" len="med"/>
              </a:ln>
            </p:spPr>
          </p:sp>
          <p:sp>
            <p:nvSpPr>
              <p:cNvPr id="19468" name="Line 9"/>
              <p:cNvSpPr/>
              <p:nvPr/>
            </p:nvSpPr>
            <p:spPr>
              <a:xfrm>
                <a:off x="7862" y="10839"/>
                <a:ext cx="180" cy="0"/>
              </a:xfrm>
              <a:prstGeom prst="line">
                <a:avLst/>
              </a:prstGeom>
              <a:ln w="9525" cap="flat" cmpd="sng">
                <a:solidFill>
                  <a:srgbClr val="0000FF"/>
                </a:solidFill>
                <a:prstDash val="solid"/>
                <a:headEnd type="none" w="med" len="med"/>
                <a:tailEnd type="none" w="med" len="med"/>
              </a:ln>
            </p:spPr>
          </p:sp>
          <p:sp>
            <p:nvSpPr>
              <p:cNvPr id="19469" name="Line 10"/>
              <p:cNvSpPr/>
              <p:nvPr/>
            </p:nvSpPr>
            <p:spPr>
              <a:xfrm flipV="1">
                <a:off x="8049" y="10605"/>
                <a:ext cx="0" cy="232"/>
              </a:xfrm>
              <a:prstGeom prst="line">
                <a:avLst/>
              </a:prstGeom>
              <a:ln w="9525" cap="flat" cmpd="sng">
                <a:solidFill>
                  <a:srgbClr val="0000FF"/>
                </a:solidFill>
                <a:prstDash val="solid"/>
                <a:headEnd type="none" w="med" len="med"/>
                <a:tailEnd type="none" w="med" len="med"/>
              </a:ln>
            </p:spPr>
          </p:sp>
          <p:sp>
            <p:nvSpPr>
              <p:cNvPr id="19470" name="Oval 11"/>
              <p:cNvSpPr/>
              <p:nvPr/>
            </p:nvSpPr>
            <p:spPr>
              <a:xfrm>
                <a:off x="3755" y="12605"/>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471" name="Line 12"/>
              <p:cNvSpPr/>
              <p:nvPr/>
            </p:nvSpPr>
            <p:spPr>
              <a:xfrm>
                <a:off x="3767" y="12643"/>
                <a:ext cx="499" cy="0"/>
              </a:xfrm>
              <a:prstGeom prst="line">
                <a:avLst/>
              </a:prstGeom>
              <a:ln w="9525" cap="flat" cmpd="sng">
                <a:solidFill>
                  <a:srgbClr val="0000FF"/>
                </a:solidFill>
                <a:prstDash val="solid"/>
                <a:headEnd type="none" w="med" len="med"/>
                <a:tailEnd type="none" w="med" len="med"/>
              </a:ln>
            </p:spPr>
          </p:sp>
          <p:sp>
            <p:nvSpPr>
              <p:cNvPr id="19472" name="Oval 13"/>
              <p:cNvSpPr/>
              <p:nvPr/>
            </p:nvSpPr>
            <p:spPr>
              <a:xfrm>
                <a:off x="3752" y="12880"/>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473" name="Line 14"/>
              <p:cNvSpPr/>
              <p:nvPr/>
            </p:nvSpPr>
            <p:spPr>
              <a:xfrm>
                <a:off x="3677" y="12717"/>
                <a:ext cx="584" cy="0"/>
              </a:xfrm>
              <a:prstGeom prst="line">
                <a:avLst/>
              </a:prstGeom>
              <a:ln w="9525" cap="flat" cmpd="sng">
                <a:solidFill>
                  <a:srgbClr val="0000FF"/>
                </a:solidFill>
                <a:prstDash val="solid"/>
                <a:headEnd type="none" w="med" len="med"/>
                <a:tailEnd type="none" w="med" len="med"/>
              </a:ln>
            </p:spPr>
          </p:sp>
          <p:sp>
            <p:nvSpPr>
              <p:cNvPr id="19474" name="Line 15"/>
              <p:cNvSpPr/>
              <p:nvPr/>
            </p:nvSpPr>
            <p:spPr>
              <a:xfrm>
                <a:off x="3767" y="12901"/>
                <a:ext cx="499" cy="0"/>
              </a:xfrm>
              <a:prstGeom prst="line">
                <a:avLst/>
              </a:prstGeom>
              <a:ln w="9525" cap="flat" cmpd="sng">
                <a:solidFill>
                  <a:srgbClr val="0000FF"/>
                </a:solidFill>
                <a:prstDash val="solid"/>
                <a:headEnd type="none" w="med" len="med"/>
                <a:tailEnd type="none" w="med" len="med"/>
              </a:ln>
            </p:spPr>
          </p:sp>
          <p:sp>
            <p:nvSpPr>
              <p:cNvPr id="19475" name="Line 16"/>
              <p:cNvSpPr/>
              <p:nvPr/>
            </p:nvSpPr>
            <p:spPr>
              <a:xfrm>
                <a:off x="3663" y="12820"/>
                <a:ext cx="584" cy="0"/>
              </a:xfrm>
              <a:prstGeom prst="line">
                <a:avLst/>
              </a:prstGeom>
              <a:ln w="9525" cap="flat" cmpd="sng">
                <a:solidFill>
                  <a:srgbClr val="0000FF"/>
                </a:solidFill>
                <a:prstDash val="solid"/>
                <a:headEnd type="none" w="med" len="med"/>
                <a:tailEnd type="none" w="med" len="med"/>
              </a:ln>
            </p:spPr>
          </p:sp>
          <p:sp>
            <p:nvSpPr>
              <p:cNvPr id="19476" name="Line 17"/>
              <p:cNvSpPr/>
              <p:nvPr/>
            </p:nvSpPr>
            <p:spPr>
              <a:xfrm>
                <a:off x="3917" y="12568"/>
                <a:ext cx="360" cy="0"/>
              </a:xfrm>
              <a:prstGeom prst="line">
                <a:avLst/>
              </a:prstGeom>
              <a:ln w="9525" cap="flat" cmpd="sng">
                <a:solidFill>
                  <a:srgbClr val="0000FF"/>
                </a:solidFill>
                <a:prstDash val="solid"/>
                <a:headEnd type="none" w="med" len="med"/>
                <a:tailEnd type="none" w="med" len="med"/>
              </a:ln>
            </p:spPr>
          </p:sp>
          <p:sp>
            <p:nvSpPr>
              <p:cNvPr id="19477" name="Line 18"/>
              <p:cNvSpPr/>
              <p:nvPr/>
            </p:nvSpPr>
            <p:spPr>
              <a:xfrm>
                <a:off x="4037" y="12500"/>
                <a:ext cx="227" cy="0"/>
              </a:xfrm>
              <a:prstGeom prst="line">
                <a:avLst/>
              </a:prstGeom>
              <a:ln w="9525" cap="flat" cmpd="sng">
                <a:solidFill>
                  <a:srgbClr val="0000FF"/>
                </a:solidFill>
                <a:prstDash val="solid"/>
                <a:headEnd type="none" w="med" len="med"/>
                <a:tailEnd type="none" w="med" len="med"/>
              </a:ln>
            </p:spPr>
          </p:sp>
          <p:sp>
            <p:nvSpPr>
              <p:cNvPr id="19478" name="Line 19"/>
              <p:cNvSpPr/>
              <p:nvPr/>
            </p:nvSpPr>
            <p:spPr>
              <a:xfrm>
                <a:off x="7877" y="8037"/>
                <a:ext cx="180" cy="0"/>
              </a:xfrm>
              <a:prstGeom prst="line">
                <a:avLst/>
              </a:prstGeom>
              <a:ln w="9525" cap="flat" cmpd="sng">
                <a:solidFill>
                  <a:srgbClr val="0000FF"/>
                </a:solidFill>
                <a:prstDash val="solid"/>
                <a:headEnd type="none" w="med" len="med"/>
                <a:tailEnd type="none" w="med" len="med"/>
              </a:ln>
            </p:spPr>
          </p:sp>
          <p:sp>
            <p:nvSpPr>
              <p:cNvPr id="19479" name="Line 20"/>
              <p:cNvSpPr/>
              <p:nvPr/>
            </p:nvSpPr>
            <p:spPr>
              <a:xfrm>
                <a:off x="5876" y="10672"/>
                <a:ext cx="1984" cy="0"/>
              </a:xfrm>
              <a:prstGeom prst="line">
                <a:avLst/>
              </a:prstGeom>
              <a:ln w="9525" cap="flat" cmpd="sng">
                <a:solidFill>
                  <a:srgbClr val="0000FF"/>
                </a:solidFill>
                <a:prstDash val="solid"/>
                <a:headEnd type="none" w="med" len="med"/>
                <a:tailEnd type="none" w="med" len="med"/>
              </a:ln>
            </p:spPr>
          </p:sp>
          <p:sp>
            <p:nvSpPr>
              <p:cNvPr id="19480" name="Line 21"/>
              <p:cNvSpPr/>
              <p:nvPr/>
            </p:nvSpPr>
            <p:spPr>
              <a:xfrm>
                <a:off x="6069" y="11350"/>
                <a:ext cx="0" cy="156"/>
              </a:xfrm>
              <a:prstGeom prst="line">
                <a:avLst/>
              </a:prstGeom>
              <a:ln w="9525" cap="flat" cmpd="sng">
                <a:solidFill>
                  <a:srgbClr val="0000FF"/>
                </a:solidFill>
                <a:prstDash val="solid"/>
                <a:headEnd type="none" w="med" len="med"/>
                <a:tailEnd type="none" w="med" len="med"/>
              </a:ln>
            </p:spPr>
          </p:sp>
          <p:sp>
            <p:nvSpPr>
              <p:cNvPr id="19481" name="Oval 22"/>
              <p:cNvSpPr/>
              <p:nvPr/>
            </p:nvSpPr>
            <p:spPr>
              <a:xfrm>
                <a:off x="3759" y="11081"/>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482" name="Oval 23"/>
              <p:cNvSpPr/>
              <p:nvPr/>
            </p:nvSpPr>
            <p:spPr>
              <a:xfrm>
                <a:off x="7802" y="11017"/>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483" name="Oval 24"/>
              <p:cNvSpPr/>
              <p:nvPr/>
            </p:nvSpPr>
            <p:spPr>
              <a:xfrm>
                <a:off x="7621" y="11012"/>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484" name="Oval 25"/>
              <p:cNvSpPr/>
              <p:nvPr/>
            </p:nvSpPr>
            <p:spPr>
              <a:xfrm>
                <a:off x="3631" y="12802"/>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485" name="Oval 26"/>
              <p:cNvSpPr/>
              <p:nvPr/>
            </p:nvSpPr>
            <p:spPr>
              <a:xfrm>
                <a:off x="5885" y="7322"/>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486" name="Rectangle 27"/>
              <p:cNvSpPr/>
              <p:nvPr/>
            </p:nvSpPr>
            <p:spPr>
              <a:xfrm>
                <a:off x="5522" y="9709"/>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400" dirty="0">
                    <a:latin typeface="Times New Roman" panose="02020603050405020304" pitchFamily="18" charset="0"/>
                  </a:rPr>
                  <a:t>&amp;</a:t>
                </a:r>
              </a:p>
              <a:p>
                <a:endParaRPr lang="en-US" altLang="zh-CN" sz="3200" dirty="0">
                  <a:latin typeface="Arial" panose="020B0604020202020204" pitchFamily="34" charset="0"/>
                </a:endParaRPr>
              </a:p>
            </p:txBody>
          </p:sp>
          <p:sp>
            <p:nvSpPr>
              <p:cNvPr id="19487" name="Line 28"/>
              <p:cNvSpPr/>
              <p:nvPr/>
            </p:nvSpPr>
            <p:spPr>
              <a:xfrm>
                <a:off x="5342" y="9397"/>
                <a:ext cx="720" cy="312"/>
              </a:xfrm>
              <a:prstGeom prst="line">
                <a:avLst/>
              </a:prstGeom>
              <a:ln w="9525" cap="flat" cmpd="sng">
                <a:solidFill>
                  <a:srgbClr val="0000FF"/>
                </a:solidFill>
                <a:prstDash val="solid"/>
                <a:headEnd type="none" w="med" len="med"/>
                <a:tailEnd type="none" w="med" len="med"/>
              </a:ln>
            </p:spPr>
          </p:sp>
          <p:sp>
            <p:nvSpPr>
              <p:cNvPr id="19488" name="Line 29"/>
              <p:cNvSpPr/>
              <p:nvPr/>
            </p:nvSpPr>
            <p:spPr>
              <a:xfrm>
                <a:off x="5882" y="11515"/>
                <a:ext cx="1980" cy="0"/>
              </a:xfrm>
              <a:prstGeom prst="line">
                <a:avLst/>
              </a:prstGeom>
              <a:ln w="9525" cap="flat" cmpd="sng">
                <a:solidFill>
                  <a:srgbClr val="0000FF"/>
                </a:solidFill>
                <a:prstDash val="solid"/>
                <a:headEnd type="none" w="med" len="med"/>
                <a:tailEnd type="none" w="med" len="med"/>
              </a:ln>
            </p:spPr>
          </p:sp>
          <p:sp>
            <p:nvSpPr>
              <p:cNvPr id="19489" name="Rectangle 30"/>
              <p:cNvSpPr/>
              <p:nvPr/>
            </p:nvSpPr>
            <p:spPr>
              <a:xfrm>
                <a:off x="4262" y="12457"/>
                <a:ext cx="690" cy="598"/>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just"/>
                <a:r>
                  <a:rPr lang="en-US" altLang="zh-CN" sz="1400" dirty="0">
                    <a:latin typeface="Times New Roman" panose="02020603050405020304" pitchFamily="18" charset="0"/>
                  </a:rPr>
                  <a:t> &amp; </a:t>
                </a:r>
                <a:r>
                  <a:rPr lang="en-US" altLang="zh-CN" sz="1400" dirty="0">
                    <a:latin typeface="宋体" panose="02010600030101010101" pitchFamily="2" charset="-122"/>
                  </a:rPr>
                  <a:t>≥</a:t>
                </a:r>
                <a:r>
                  <a:rPr lang="en-US" altLang="zh-CN" sz="1400" dirty="0">
                    <a:latin typeface="Times New Roman" panose="02020603050405020304" pitchFamily="18" charset="0"/>
                  </a:rPr>
                  <a:t>1       </a:t>
                </a:r>
                <a:endParaRPr lang="en-US" altLang="zh-CN" sz="3200" dirty="0">
                  <a:latin typeface="Arial" panose="020B0604020202020204" pitchFamily="34" charset="0"/>
                </a:endParaRPr>
              </a:p>
            </p:txBody>
          </p:sp>
          <p:sp>
            <p:nvSpPr>
              <p:cNvPr id="19490" name="Line 31"/>
              <p:cNvSpPr/>
              <p:nvPr/>
            </p:nvSpPr>
            <p:spPr>
              <a:xfrm>
                <a:off x="4622" y="11137"/>
                <a:ext cx="1800" cy="0"/>
              </a:xfrm>
              <a:prstGeom prst="line">
                <a:avLst/>
              </a:prstGeom>
              <a:ln w="9525" cap="flat" cmpd="sng">
                <a:solidFill>
                  <a:srgbClr val="0000FF"/>
                </a:solidFill>
                <a:prstDash val="solid"/>
                <a:headEnd type="none" w="med" len="med"/>
                <a:tailEnd type="none" w="med" len="med"/>
              </a:ln>
            </p:spPr>
          </p:sp>
          <p:sp>
            <p:nvSpPr>
              <p:cNvPr id="19491" name="Line 32"/>
              <p:cNvSpPr/>
              <p:nvPr/>
            </p:nvSpPr>
            <p:spPr>
              <a:xfrm>
                <a:off x="7637" y="9397"/>
                <a:ext cx="170" cy="0"/>
              </a:xfrm>
              <a:prstGeom prst="line">
                <a:avLst/>
              </a:prstGeom>
              <a:ln w="9525" cap="flat" cmpd="sng">
                <a:solidFill>
                  <a:srgbClr val="0000FF"/>
                </a:solidFill>
                <a:prstDash val="solid"/>
                <a:headEnd type="none" w="med" len="med"/>
                <a:tailEnd type="none" w="med" len="med"/>
              </a:ln>
            </p:spPr>
          </p:sp>
          <p:sp>
            <p:nvSpPr>
              <p:cNvPr id="19492" name="Line 33"/>
              <p:cNvSpPr/>
              <p:nvPr/>
            </p:nvSpPr>
            <p:spPr>
              <a:xfrm>
                <a:off x="7525" y="9538"/>
                <a:ext cx="272" cy="0"/>
              </a:xfrm>
              <a:prstGeom prst="line">
                <a:avLst/>
              </a:prstGeom>
              <a:ln w="9525" cap="flat" cmpd="sng">
                <a:solidFill>
                  <a:srgbClr val="0000FF"/>
                </a:solidFill>
                <a:prstDash val="solid"/>
                <a:headEnd type="none" w="med" len="med"/>
                <a:tailEnd type="none" w="med" len="med"/>
              </a:ln>
            </p:spPr>
          </p:sp>
          <p:sp>
            <p:nvSpPr>
              <p:cNvPr id="19493" name="Oval 34"/>
              <p:cNvSpPr/>
              <p:nvPr/>
            </p:nvSpPr>
            <p:spPr>
              <a:xfrm>
                <a:off x="5132" y="12909"/>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494" name="Oval 35"/>
              <p:cNvSpPr/>
              <p:nvPr/>
            </p:nvSpPr>
            <p:spPr>
              <a:xfrm>
                <a:off x="3631" y="12688"/>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495" name="Oval 36"/>
              <p:cNvSpPr/>
              <p:nvPr/>
            </p:nvSpPr>
            <p:spPr>
              <a:xfrm>
                <a:off x="3631" y="9537"/>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496" name="Line 37"/>
              <p:cNvSpPr/>
              <p:nvPr/>
            </p:nvSpPr>
            <p:spPr>
              <a:xfrm>
                <a:off x="3913" y="10288"/>
                <a:ext cx="0" cy="2268"/>
              </a:xfrm>
              <a:prstGeom prst="line">
                <a:avLst/>
              </a:prstGeom>
              <a:ln w="9525" cap="flat" cmpd="sng">
                <a:solidFill>
                  <a:srgbClr val="0000FF"/>
                </a:solidFill>
                <a:prstDash val="solid"/>
                <a:headEnd type="none" w="med" len="med"/>
                <a:tailEnd type="none" w="med" len="med"/>
              </a:ln>
            </p:spPr>
          </p:sp>
          <p:sp>
            <p:nvSpPr>
              <p:cNvPr id="19497" name="Line 38"/>
              <p:cNvSpPr/>
              <p:nvPr/>
            </p:nvSpPr>
            <p:spPr>
              <a:xfrm>
                <a:off x="6962" y="7486"/>
                <a:ext cx="900" cy="0"/>
              </a:xfrm>
              <a:prstGeom prst="line">
                <a:avLst/>
              </a:prstGeom>
              <a:ln w="9525" cap="flat" cmpd="sng">
                <a:solidFill>
                  <a:srgbClr val="0000FF"/>
                </a:solidFill>
                <a:prstDash val="solid"/>
                <a:headEnd type="none" w="med" len="med"/>
                <a:tailEnd type="none" w="med" len="med"/>
              </a:ln>
            </p:spPr>
          </p:sp>
          <p:sp>
            <p:nvSpPr>
              <p:cNvPr id="19498" name="Line 39"/>
              <p:cNvSpPr/>
              <p:nvPr/>
            </p:nvSpPr>
            <p:spPr>
              <a:xfrm>
                <a:off x="5968" y="12384"/>
                <a:ext cx="1984" cy="0"/>
              </a:xfrm>
              <a:prstGeom prst="line">
                <a:avLst/>
              </a:prstGeom>
              <a:ln w="9525" cap="flat" cmpd="sng">
                <a:solidFill>
                  <a:srgbClr val="0000FF"/>
                </a:solidFill>
                <a:prstDash val="solid"/>
                <a:headEnd type="none" w="med" len="med"/>
                <a:tailEnd type="none" w="med" len="med"/>
              </a:ln>
            </p:spPr>
          </p:sp>
          <p:sp>
            <p:nvSpPr>
              <p:cNvPr id="19499" name="Line 40"/>
              <p:cNvSpPr/>
              <p:nvPr/>
            </p:nvSpPr>
            <p:spPr>
              <a:xfrm>
                <a:off x="4622" y="9505"/>
                <a:ext cx="1800" cy="0"/>
              </a:xfrm>
              <a:prstGeom prst="line">
                <a:avLst/>
              </a:prstGeom>
              <a:ln w="9525" cap="flat" cmpd="sng">
                <a:solidFill>
                  <a:srgbClr val="0000FF"/>
                </a:solidFill>
                <a:prstDash val="solid"/>
                <a:headEnd type="none" w="med" len="med"/>
                <a:tailEnd type="none" w="med" len="med"/>
              </a:ln>
            </p:spPr>
          </p:sp>
          <p:sp>
            <p:nvSpPr>
              <p:cNvPr id="19500" name="Line 41"/>
              <p:cNvSpPr/>
              <p:nvPr/>
            </p:nvSpPr>
            <p:spPr>
              <a:xfrm>
                <a:off x="7520" y="7856"/>
                <a:ext cx="0" cy="5040"/>
              </a:xfrm>
              <a:prstGeom prst="line">
                <a:avLst/>
              </a:prstGeom>
              <a:ln w="9525" cap="flat" cmpd="sng">
                <a:solidFill>
                  <a:srgbClr val="0000FF"/>
                </a:solidFill>
                <a:prstDash val="solid"/>
                <a:headEnd type="none" w="med" len="med"/>
                <a:tailEnd type="none" w="med" len="med"/>
              </a:ln>
            </p:spPr>
          </p:sp>
          <p:sp>
            <p:nvSpPr>
              <p:cNvPr id="19501" name="Line 42"/>
              <p:cNvSpPr/>
              <p:nvPr/>
            </p:nvSpPr>
            <p:spPr>
              <a:xfrm>
                <a:off x="4262" y="12773"/>
                <a:ext cx="340" cy="0"/>
              </a:xfrm>
              <a:prstGeom prst="line">
                <a:avLst/>
              </a:prstGeom>
              <a:ln w="9525" cap="flat" cmpd="sng">
                <a:solidFill>
                  <a:srgbClr val="0000FF"/>
                </a:solidFill>
                <a:prstDash val="solid"/>
                <a:headEnd type="none" w="med" len="med"/>
                <a:tailEnd type="none" w="med" len="med"/>
              </a:ln>
            </p:spPr>
          </p:sp>
          <p:sp>
            <p:nvSpPr>
              <p:cNvPr id="19502" name="Line 43"/>
              <p:cNvSpPr/>
              <p:nvPr/>
            </p:nvSpPr>
            <p:spPr>
              <a:xfrm>
                <a:off x="4600" y="12470"/>
                <a:ext cx="0" cy="567"/>
              </a:xfrm>
              <a:prstGeom prst="line">
                <a:avLst/>
              </a:prstGeom>
              <a:ln w="9525" cap="flat" cmpd="sng">
                <a:solidFill>
                  <a:srgbClr val="0000FF"/>
                </a:solidFill>
                <a:prstDash val="solid"/>
                <a:headEnd type="none" w="med" len="med"/>
                <a:tailEnd type="none" w="med" len="med"/>
              </a:ln>
            </p:spPr>
          </p:sp>
          <p:sp>
            <p:nvSpPr>
              <p:cNvPr id="19503" name="Line 44"/>
              <p:cNvSpPr/>
              <p:nvPr/>
            </p:nvSpPr>
            <p:spPr>
              <a:xfrm>
                <a:off x="4012" y="12980"/>
                <a:ext cx="2" cy="709"/>
              </a:xfrm>
              <a:prstGeom prst="line">
                <a:avLst/>
              </a:prstGeom>
              <a:ln w="9525" cap="flat" cmpd="sng">
                <a:solidFill>
                  <a:srgbClr val="0000FF"/>
                </a:solidFill>
                <a:prstDash val="solid"/>
                <a:headEnd type="none" w="med" len="med"/>
                <a:tailEnd type="none" w="med" len="med"/>
              </a:ln>
            </p:spPr>
          </p:sp>
          <p:sp>
            <p:nvSpPr>
              <p:cNvPr id="19504" name="Line 45"/>
              <p:cNvSpPr/>
              <p:nvPr/>
            </p:nvSpPr>
            <p:spPr>
              <a:xfrm>
                <a:off x="5912" y="8164"/>
                <a:ext cx="1980" cy="0"/>
              </a:xfrm>
              <a:prstGeom prst="line">
                <a:avLst/>
              </a:prstGeom>
              <a:ln w="9525" cap="flat" cmpd="sng">
                <a:solidFill>
                  <a:srgbClr val="0000FF"/>
                </a:solidFill>
                <a:prstDash val="solid"/>
                <a:headEnd type="none" w="med" len="med"/>
                <a:tailEnd type="none" w="med" len="med"/>
              </a:ln>
            </p:spPr>
          </p:sp>
          <p:sp>
            <p:nvSpPr>
              <p:cNvPr id="19505" name="Line 46"/>
              <p:cNvSpPr/>
              <p:nvPr/>
            </p:nvSpPr>
            <p:spPr>
              <a:xfrm>
                <a:off x="5341" y="7539"/>
                <a:ext cx="0" cy="156"/>
              </a:xfrm>
              <a:prstGeom prst="line">
                <a:avLst/>
              </a:prstGeom>
              <a:ln w="9525" cap="flat" cmpd="sng">
                <a:solidFill>
                  <a:srgbClr val="0000FF"/>
                </a:solidFill>
                <a:prstDash val="solid"/>
                <a:headEnd type="none" w="med" len="med"/>
                <a:tailEnd type="none" w="med" len="med"/>
              </a:ln>
            </p:spPr>
          </p:sp>
          <p:sp>
            <p:nvSpPr>
              <p:cNvPr id="19506" name="Line 47"/>
              <p:cNvSpPr/>
              <p:nvPr/>
            </p:nvSpPr>
            <p:spPr>
              <a:xfrm>
                <a:off x="6069" y="8015"/>
                <a:ext cx="0" cy="156"/>
              </a:xfrm>
              <a:prstGeom prst="line">
                <a:avLst/>
              </a:prstGeom>
              <a:ln w="9525" cap="flat" cmpd="sng">
                <a:solidFill>
                  <a:srgbClr val="0000FF"/>
                </a:solidFill>
                <a:prstDash val="solid"/>
                <a:headEnd type="none" w="med" len="med"/>
                <a:tailEnd type="none" w="med" len="med"/>
              </a:ln>
            </p:spPr>
          </p:sp>
          <p:sp>
            <p:nvSpPr>
              <p:cNvPr id="19507" name="Line 48"/>
              <p:cNvSpPr/>
              <p:nvPr/>
            </p:nvSpPr>
            <p:spPr>
              <a:xfrm>
                <a:off x="8897" y="9226"/>
                <a:ext cx="0" cy="1037"/>
              </a:xfrm>
              <a:prstGeom prst="line">
                <a:avLst/>
              </a:prstGeom>
              <a:ln w="9525" cap="flat" cmpd="sng">
                <a:solidFill>
                  <a:srgbClr val="0000FF"/>
                </a:solidFill>
                <a:prstDash val="solid"/>
                <a:headEnd type="none" w="med" len="med"/>
                <a:tailEnd type="none" w="med" len="med"/>
              </a:ln>
            </p:spPr>
          </p:sp>
          <p:sp>
            <p:nvSpPr>
              <p:cNvPr id="19508" name="Line 49"/>
              <p:cNvSpPr/>
              <p:nvPr/>
            </p:nvSpPr>
            <p:spPr>
              <a:xfrm>
                <a:off x="6069" y="9709"/>
                <a:ext cx="0" cy="156"/>
              </a:xfrm>
              <a:prstGeom prst="line">
                <a:avLst/>
              </a:prstGeom>
              <a:ln w="9525" cap="flat" cmpd="sng">
                <a:solidFill>
                  <a:srgbClr val="0000FF"/>
                </a:solidFill>
                <a:prstDash val="solid"/>
                <a:headEnd type="none" w="med" len="med"/>
                <a:tailEnd type="none" w="med" len="med"/>
              </a:ln>
            </p:spPr>
          </p:sp>
          <p:sp>
            <p:nvSpPr>
              <p:cNvPr id="19509" name="Line 50"/>
              <p:cNvSpPr/>
              <p:nvPr/>
            </p:nvSpPr>
            <p:spPr>
              <a:xfrm>
                <a:off x="8882" y="10876"/>
                <a:ext cx="0" cy="1032"/>
              </a:xfrm>
              <a:prstGeom prst="line">
                <a:avLst/>
              </a:prstGeom>
              <a:ln w="9525" cap="flat" cmpd="sng">
                <a:solidFill>
                  <a:srgbClr val="0000FF"/>
                </a:solidFill>
                <a:prstDash val="solid"/>
                <a:headEnd type="none" w="med" len="med"/>
                <a:tailEnd type="none" w="med" len="med"/>
              </a:ln>
            </p:spPr>
          </p:sp>
          <p:sp>
            <p:nvSpPr>
              <p:cNvPr id="19510" name="Line 51"/>
              <p:cNvSpPr/>
              <p:nvPr/>
            </p:nvSpPr>
            <p:spPr>
              <a:xfrm>
                <a:off x="3782" y="8689"/>
                <a:ext cx="5102" cy="0"/>
              </a:xfrm>
              <a:prstGeom prst="line">
                <a:avLst/>
              </a:prstGeom>
              <a:ln w="9525" cap="flat" cmpd="sng">
                <a:solidFill>
                  <a:srgbClr val="0000FF"/>
                </a:solidFill>
                <a:prstDash val="solid"/>
                <a:headEnd type="none" w="med" len="med"/>
                <a:tailEnd type="none" w="med" len="med"/>
              </a:ln>
            </p:spPr>
          </p:sp>
          <p:sp>
            <p:nvSpPr>
              <p:cNvPr id="19511" name="Line 52"/>
              <p:cNvSpPr/>
              <p:nvPr/>
            </p:nvSpPr>
            <p:spPr>
              <a:xfrm>
                <a:off x="3909" y="10273"/>
                <a:ext cx="4989" cy="0"/>
              </a:xfrm>
              <a:prstGeom prst="line">
                <a:avLst/>
              </a:prstGeom>
              <a:ln w="9525" cap="flat" cmpd="sng">
                <a:solidFill>
                  <a:srgbClr val="0000FF"/>
                </a:solidFill>
                <a:prstDash val="solid"/>
                <a:headEnd type="none" w="med" len="med"/>
                <a:tailEnd type="none" w="med" len="med"/>
              </a:ln>
            </p:spPr>
          </p:sp>
          <p:sp>
            <p:nvSpPr>
              <p:cNvPr id="19512" name="Line 53"/>
              <p:cNvSpPr/>
              <p:nvPr/>
            </p:nvSpPr>
            <p:spPr>
              <a:xfrm>
                <a:off x="7652" y="7727"/>
                <a:ext cx="180" cy="0"/>
              </a:xfrm>
              <a:prstGeom prst="line">
                <a:avLst/>
              </a:prstGeom>
              <a:ln w="9525" cap="flat" cmpd="sng">
                <a:solidFill>
                  <a:srgbClr val="0000FF"/>
                </a:solidFill>
                <a:prstDash val="solid"/>
                <a:headEnd type="none" w="med" len="med"/>
                <a:tailEnd type="none" w="med" len="med"/>
              </a:ln>
            </p:spPr>
          </p:sp>
          <p:sp>
            <p:nvSpPr>
              <p:cNvPr id="19513" name="Line 54"/>
              <p:cNvSpPr/>
              <p:nvPr/>
            </p:nvSpPr>
            <p:spPr>
              <a:xfrm>
                <a:off x="7516" y="7852"/>
                <a:ext cx="345" cy="0"/>
              </a:xfrm>
              <a:prstGeom prst="line">
                <a:avLst/>
              </a:prstGeom>
              <a:ln w="9525" cap="flat" cmpd="sng">
                <a:solidFill>
                  <a:srgbClr val="0000FF"/>
                </a:solidFill>
                <a:prstDash val="solid"/>
                <a:headEnd type="none" w="med" len="med"/>
                <a:tailEnd type="none" w="med" len="med"/>
              </a:ln>
            </p:spPr>
          </p:sp>
          <p:sp>
            <p:nvSpPr>
              <p:cNvPr id="19514" name="Oval 55"/>
              <p:cNvSpPr/>
              <p:nvPr/>
            </p:nvSpPr>
            <p:spPr>
              <a:xfrm>
                <a:off x="7802" y="9509"/>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515" name="Oval 56"/>
              <p:cNvSpPr/>
              <p:nvPr/>
            </p:nvSpPr>
            <p:spPr>
              <a:xfrm>
                <a:off x="7802" y="11143"/>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516" name="Line 57"/>
              <p:cNvSpPr/>
              <p:nvPr/>
            </p:nvSpPr>
            <p:spPr>
              <a:xfrm>
                <a:off x="7652" y="12754"/>
                <a:ext cx="249" cy="0"/>
              </a:xfrm>
              <a:prstGeom prst="line">
                <a:avLst/>
              </a:prstGeom>
              <a:ln w="9525" cap="flat" cmpd="sng">
                <a:solidFill>
                  <a:srgbClr val="0000FF"/>
                </a:solidFill>
                <a:prstDash val="solid"/>
                <a:headEnd type="none" w="med" len="med"/>
                <a:tailEnd type="none" w="med" len="med"/>
              </a:ln>
            </p:spPr>
          </p:sp>
          <p:sp>
            <p:nvSpPr>
              <p:cNvPr id="19517" name="Line 58"/>
              <p:cNvSpPr/>
              <p:nvPr/>
            </p:nvSpPr>
            <p:spPr>
              <a:xfrm>
                <a:off x="7531" y="12895"/>
                <a:ext cx="360" cy="0"/>
              </a:xfrm>
              <a:prstGeom prst="line">
                <a:avLst/>
              </a:prstGeom>
              <a:ln w="9525" cap="flat" cmpd="sng">
                <a:solidFill>
                  <a:srgbClr val="0000FF"/>
                </a:solidFill>
                <a:prstDash val="solid"/>
                <a:headEnd type="none" w="med" len="med"/>
                <a:tailEnd type="none" w="med" len="med"/>
              </a:ln>
            </p:spPr>
          </p:sp>
          <p:sp>
            <p:nvSpPr>
              <p:cNvPr id="19518" name="Oval 59"/>
              <p:cNvSpPr/>
              <p:nvPr/>
            </p:nvSpPr>
            <p:spPr>
              <a:xfrm>
                <a:off x="2987" y="14209"/>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519" name="Line 60"/>
              <p:cNvSpPr/>
              <p:nvPr/>
            </p:nvSpPr>
            <p:spPr>
              <a:xfrm>
                <a:off x="2657" y="14239"/>
                <a:ext cx="540" cy="0"/>
              </a:xfrm>
              <a:prstGeom prst="line">
                <a:avLst/>
              </a:prstGeom>
              <a:ln w="9525" cap="flat" cmpd="sng">
                <a:solidFill>
                  <a:srgbClr val="0000FF"/>
                </a:solidFill>
                <a:prstDash val="solid"/>
                <a:headEnd type="none" w="med" len="med"/>
                <a:tailEnd type="none" w="med" len="med"/>
              </a:ln>
            </p:spPr>
          </p:sp>
          <p:sp>
            <p:nvSpPr>
              <p:cNvPr id="19520" name="Rectangle 61"/>
              <p:cNvSpPr/>
              <p:nvPr/>
            </p:nvSpPr>
            <p:spPr>
              <a:xfrm>
                <a:off x="1892" y="10246"/>
                <a:ext cx="1260" cy="624"/>
              </a:xfrm>
              <a:prstGeom prst="rect">
                <a:avLst/>
              </a:prstGeom>
              <a:noFill/>
              <a:ln w="9525">
                <a:noFill/>
              </a:ln>
            </p:spPr>
            <p:txBody>
              <a:bodyPr/>
              <a:lstStyle/>
              <a:p>
                <a:pPr algn="just">
                  <a:lnSpc>
                    <a:spcPct val="96000"/>
                  </a:lnSpc>
                </a:pPr>
                <a:r>
                  <a:rPr lang="en-US" altLang="zh-CN" sz="1400" i="1" dirty="0">
                    <a:latin typeface="Times New Roman" panose="02020603050405020304" pitchFamily="18" charset="0"/>
                  </a:rPr>
                  <a:t>CP</a:t>
                </a:r>
                <a:endParaRPr lang="en-US" altLang="zh-CN" sz="3200" dirty="0">
                  <a:latin typeface="Arial" panose="020B0604020202020204" pitchFamily="34" charset="0"/>
                </a:endParaRPr>
              </a:p>
            </p:txBody>
          </p:sp>
          <p:sp>
            <p:nvSpPr>
              <p:cNvPr id="19521" name="Rectangle 62"/>
              <p:cNvSpPr/>
              <p:nvPr/>
            </p:nvSpPr>
            <p:spPr>
              <a:xfrm>
                <a:off x="2342" y="7954"/>
                <a:ext cx="360" cy="312"/>
              </a:xfrm>
              <a:prstGeom prst="rect">
                <a:avLst/>
              </a:prstGeom>
              <a:noFill/>
              <a:ln w="9525">
                <a:noFill/>
              </a:ln>
            </p:spPr>
            <p:txBody>
              <a:bodyPr lIns="0" tIns="0" rIns="0" bIns="0"/>
              <a:lstStyle/>
              <a:p>
                <a:r>
                  <a:rPr lang="en-US" altLang="zh-CN" sz="1400" i="1" dirty="0">
                    <a:latin typeface="Times New Roman" panose="02020603050405020304" pitchFamily="18" charset="0"/>
                  </a:rPr>
                  <a:t>D</a:t>
                </a:r>
                <a:r>
                  <a:rPr lang="en-US" altLang="zh-CN" sz="1400" baseline="-25000" dirty="0">
                    <a:latin typeface="Times New Roman" panose="02020603050405020304" pitchFamily="18" charset="0"/>
                  </a:rPr>
                  <a:t>0</a:t>
                </a:r>
                <a:endParaRPr lang="en-US" altLang="zh-CN" sz="3200" dirty="0">
                  <a:latin typeface="Arial" panose="020B0604020202020204" pitchFamily="34" charset="0"/>
                </a:endParaRPr>
              </a:p>
            </p:txBody>
          </p:sp>
          <p:sp>
            <p:nvSpPr>
              <p:cNvPr id="19522" name="Line 63"/>
              <p:cNvSpPr/>
              <p:nvPr/>
            </p:nvSpPr>
            <p:spPr>
              <a:xfrm>
                <a:off x="6962" y="8039"/>
                <a:ext cx="900" cy="0"/>
              </a:xfrm>
              <a:prstGeom prst="line">
                <a:avLst/>
              </a:prstGeom>
              <a:ln w="9525" cap="flat" cmpd="sng">
                <a:solidFill>
                  <a:srgbClr val="0000FF"/>
                </a:solidFill>
                <a:prstDash val="solid"/>
                <a:headEnd type="none" w="med" len="med"/>
                <a:tailEnd type="none" w="med" len="med"/>
              </a:ln>
            </p:spPr>
          </p:sp>
          <p:sp>
            <p:nvSpPr>
              <p:cNvPr id="19523" name="Rectangle 64"/>
              <p:cNvSpPr/>
              <p:nvPr/>
            </p:nvSpPr>
            <p:spPr>
              <a:xfrm>
                <a:off x="2387" y="9634"/>
                <a:ext cx="360" cy="312"/>
              </a:xfrm>
              <a:prstGeom prst="rect">
                <a:avLst/>
              </a:prstGeom>
              <a:noFill/>
              <a:ln w="9525">
                <a:noFill/>
              </a:ln>
            </p:spPr>
            <p:txBody>
              <a:bodyPr lIns="0" tIns="0" rIns="0" bIns="0"/>
              <a:lstStyle/>
              <a:p>
                <a:r>
                  <a:rPr lang="en-US" altLang="zh-CN" sz="1400" i="1" dirty="0">
                    <a:latin typeface="Times New Roman" panose="02020603050405020304" pitchFamily="18" charset="0"/>
                  </a:rPr>
                  <a:t>D</a:t>
                </a:r>
                <a:r>
                  <a:rPr lang="en-US" altLang="zh-CN" sz="1400" baseline="-25000" dirty="0">
                    <a:latin typeface="Times New Roman" panose="02020603050405020304" pitchFamily="18" charset="0"/>
                  </a:rPr>
                  <a:t>1</a:t>
                </a:r>
                <a:endParaRPr lang="en-US" altLang="zh-CN" sz="3200" dirty="0">
                  <a:latin typeface="Arial" panose="020B0604020202020204" pitchFamily="34" charset="0"/>
                </a:endParaRPr>
              </a:p>
            </p:txBody>
          </p:sp>
          <p:sp>
            <p:nvSpPr>
              <p:cNvPr id="19524" name="Rectangle 65"/>
              <p:cNvSpPr/>
              <p:nvPr/>
            </p:nvSpPr>
            <p:spPr>
              <a:xfrm>
                <a:off x="2342" y="11350"/>
                <a:ext cx="360" cy="312"/>
              </a:xfrm>
              <a:prstGeom prst="rect">
                <a:avLst/>
              </a:prstGeom>
              <a:noFill/>
              <a:ln w="9525">
                <a:noFill/>
              </a:ln>
            </p:spPr>
            <p:txBody>
              <a:bodyPr lIns="0" tIns="0" rIns="0" bIns="0"/>
              <a:lstStyle/>
              <a:p>
                <a:r>
                  <a:rPr lang="en-US" altLang="zh-CN" sz="1400" i="1" dirty="0">
                    <a:latin typeface="Times New Roman" panose="02020603050405020304" pitchFamily="18" charset="0"/>
                  </a:rPr>
                  <a:t>D</a:t>
                </a:r>
                <a:r>
                  <a:rPr lang="en-US" altLang="zh-CN" sz="1400" baseline="-25000" dirty="0">
                    <a:latin typeface="Times New Roman" panose="02020603050405020304" pitchFamily="18" charset="0"/>
                  </a:rPr>
                  <a:t>2</a:t>
                </a:r>
                <a:endParaRPr lang="en-US" altLang="zh-CN" sz="3200" dirty="0">
                  <a:latin typeface="Arial" panose="020B0604020202020204" pitchFamily="34" charset="0"/>
                </a:endParaRPr>
              </a:p>
            </p:txBody>
          </p:sp>
          <p:sp>
            <p:nvSpPr>
              <p:cNvPr id="19525" name="Rectangle 66"/>
              <p:cNvSpPr/>
              <p:nvPr/>
            </p:nvSpPr>
            <p:spPr>
              <a:xfrm>
                <a:off x="2390" y="12976"/>
                <a:ext cx="360" cy="312"/>
              </a:xfrm>
              <a:prstGeom prst="rect">
                <a:avLst/>
              </a:prstGeom>
              <a:noFill/>
              <a:ln w="9525">
                <a:noFill/>
              </a:ln>
            </p:spPr>
            <p:txBody>
              <a:bodyPr lIns="0" tIns="0" rIns="0" bIns="0"/>
              <a:lstStyle/>
              <a:p>
                <a:r>
                  <a:rPr lang="en-US" altLang="zh-CN" sz="1400" i="1" dirty="0">
                    <a:latin typeface="Times New Roman" panose="02020603050405020304" pitchFamily="18" charset="0"/>
                  </a:rPr>
                  <a:t>D</a:t>
                </a:r>
                <a:r>
                  <a:rPr lang="en-US" altLang="zh-CN" sz="1400" baseline="-25000" dirty="0">
                    <a:latin typeface="Times New Roman" panose="02020603050405020304" pitchFamily="18" charset="0"/>
                  </a:rPr>
                  <a:t>3</a:t>
                </a:r>
                <a:endParaRPr lang="en-US" altLang="zh-CN" sz="3200" dirty="0">
                  <a:latin typeface="Arial" panose="020B0604020202020204" pitchFamily="34" charset="0"/>
                </a:endParaRPr>
              </a:p>
            </p:txBody>
          </p:sp>
          <p:sp>
            <p:nvSpPr>
              <p:cNvPr id="19526" name="Rectangle 67"/>
              <p:cNvSpPr/>
              <p:nvPr/>
            </p:nvSpPr>
            <p:spPr>
              <a:xfrm>
                <a:off x="7862" y="7269"/>
                <a:ext cx="720" cy="93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just">
                  <a:lnSpc>
                    <a:spcPct val="96000"/>
                  </a:lnSpc>
                </a:pPr>
                <a:r>
                  <a:rPr lang="en-US" altLang="zh-CN" sz="1400" dirty="0">
                    <a:latin typeface="Times New Roman" panose="02020603050405020304" pitchFamily="18" charset="0"/>
                  </a:rPr>
                  <a:t>&amp; </a:t>
                </a:r>
                <a:r>
                  <a:rPr lang="en-US" altLang="zh-CN" sz="1400" i="1" dirty="0">
                    <a:latin typeface="Times New Roman" panose="02020603050405020304" pitchFamily="18" charset="0"/>
                  </a:rPr>
                  <a:t>J</a:t>
                </a:r>
              </a:p>
              <a:p>
                <a:pPr algn="just">
                  <a:lnSpc>
                    <a:spcPct val="96000"/>
                  </a:lnSpc>
                </a:pPr>
                <a:r>
                  <a:rPr lang="en-US" altLang="zh-CN" sz="1400" i="1" dirty="0">
                    <a:latin typeface="Times New Roman" panose="02020603050405020304" pitchFamily="18" charset="0"/>
                  </a:rPr>
                  <a:t>C</a:t>
                </a:r>
              </a:p>
              <a:p>
                <a:pPr algn="just">
                  <a:lnSpc>
                    <a:spcPct val="96000"/>
                  </a:lnSpc>
                </a:pPr>
                <a:r>
                  <a:rPr lang="en-US" altLang="zh-CN" sz="1400" i="1" dirty="0">
                    <a:latin typeface="Times New Roman" panose="02020603050405020304" pitchFamily="18" charset="0"/>
                  </a:rPr>
                  <a:t>R</a:t>
                </a:r>
              </a:p>
              <a:p>
                <a:pPr algn="just">
                  <a:lnSpc>
                    <a:spcPct val="96000"/>
                  </a:lnSpc>
                </a:pPr>
                <a:r>
                  <a:rPr lang="en-US" altLang="zh-CN" sz="1400" dirty="0">
                    <a:latin typeface="Times New Roman" panose="02020603050405020304" pitchFamily="18" charset="0"/>
                  </a:rPr>
                  <a:t>&amp; </a:t>
                </a:r>
                <a:r>
                  <a:rPr lang="en-US" altLang="zh-CN" sz="1400" i="1" dirty="0">
                    <a:latin typeface="Times New Roman" panose="02020603050405020304" pitchFamily="18" charset="0"/>
                  </a:rPr>
                  <a:t>K</a:t>
                </a:r>
                <a:endParaRPr lang="en-US" altLang="zh-CN" sz="3200" dirty="0">
                  <a:latin typeface="Arial" panose="020B0604020202020204" pitchFamily="34" charset="0"/>
                </a:endParaRPr>
              </a:p>
            </p:txBody>
          </p:sp>
          <p:sp>
            <p:nvSpPr>
              <p:cNvPr id="19527" name="Line 68"/>
              <p:cNvSpPr/>
              <p:nvPr/>
            </p:nvSpPr>
            <p:spPr>
              <a:xfrm>
                <a:off x="8052" y="7991"/>
                <a:ext cx="0" cy="215"/>
              </a:xfrm>
              <a:prstGeom prst="line">
                <a:avLst/>
              </a:prstGeom>
              <a:ln w="9525" cap="flat" cmpd="sng">
                <a:solidFill>
                  <a:srgbClr val="0000FF"/>
                </a:solidFill>
                <a:prstDash val="solid"/>
                <a:headEnd type="none" w="med" len="med"/>
                <a:tailEnd type="none" w="med" len="med"/>
              </a:ln>
            </p:spPr>
          </p:sp>
          <p:sp>
            <p:nvSpPr>
              <p:cNvPr id="19528" name="Line 69"/>
              <p:cNvSpPr/>
              <p:nvPr/>
            </p:nvSpPr>
            <p:spPr>
              <a:xfrm>
                <a:off x="7862" y="7503"/>
                <a:ext cx="180" cy="0"/>
              </a:xfrm>
              <a:prstGeom prst="line">
                <a:avLst/>
              </a:prstGeom>
              <a:ln w="9525" cap="flat" cmpd="sng">
                <a:solidFill>
                  <a:srgbClr val="0000FF"/>
                </a:solidFill>
                <a:prstDash val="solid"/>
                <a:headEnd type="none" w="med" len="med"/>
                <a:tailEnd type="none" w="med" len="med"/>
              </a:ln>
            </p:spPr>
          </p:sp>
          <p:sp>
            <p:nvSpPr>
              <p:cNvPr id="19529" name="Line 70"/>
              <p:cNvSpPr/>
              <p:nvPr/>
            </p:nvSpPr>
            <p:spPr>
              <a:xfrm flipV="1">
                <a:off x="8049" y="7269"/>
                <a:ext cx="0" cy="232"/>
              </a:xfrm>
              <a:prstGeom prst="line">
                <a:avLst/>
              </a:prstGeom>
              <a:ln w="9525" cap="flat" cmpd="sng">
                <a:solidFill>
                  <a:srgbClr val="0000FF"/>
                </a:solidFill>
                <a:prstDash val="solid"/>
                <a:headEnd type="none" w="med" len="med"/>
                <a:tailEnd type="none" w="med" len="med"/>
              </a:ln>
            </p:spPr>
          </p:sp>
          <p:sp>
            <p:nvSpPr>
              <p:cNvPr id="19530" name="Line 71"/>
              <p:cNvSpPr/>
              <p:nvPr/>
            </p:nvSpPr>
            <p:spPr>
              <a:xfrm>
                <a:off x="8582" y="7510"/>
                <a:ext cx="425" cy="0"/>
              </a:xfrm>
              <a:prstGeom prst="line">
                <a:avLst/>
              </a:prstGeom>
              <a:ln w="9525" cap="flat" cmpd="sng">
                <a:solidFill>
                  <a:srgbClr val="0000FF"/>
                </a:solidFill>
                <a:prstDash val="solid"/>
                <a:headEnd type="none" w="med" len="med"/>
                <a:tailEnd type="none" w="med" len="med"/>
              </a:ln>
            </p:spPr>
          </p:sp>
          <p:sp>
            <p:nvSpPr>
              <p:cNvPr id="19531" name="Line 72"/>
              <p:cNvSpPr/>
              <p:nvPr/>
            </p:nvSpPr>
            <p:spPr>
              <a:xfrm>
                <a:off x="8582" y="8008"/>
                <a:ext cx="180" cy="0"/>
              </a:xfrm>
              <a:prstGeom prst="line">
                <a:avLst/>
              </a:prstGeom>
              <a:ln w="9525" cap="flat" cmpd="sng">
                <a:solidFill>
                  <a:srgbClr val="0000FF"/>
                </a:solidFill>
                <a:prstDash val="solid"/>
                <a:headEnd type="none" w="med" len="med"/>
                <a:tailEnd type="none" w="med" len="med"/>
              </a:ln>
            </p:spPr>
          </p:sp>
          <p:sp>
            <p:nvSpPr>
              <p:cNvPr id="19532" name="Line 73"/>
              <p:cNvSpPr/>
              <p:nvPr/>
            </p:nvSpPr>
            <p:spPr>
              <a:xfrm>
                <a:off x="8897" y="7540"/>
                <a:ext cx="0" cy="1140"/>
              </a:xfrm>
              <a:prstGeom prst="line">
                <a:avLst/>
              </a:prstGeom>
              <a:ln w="9525" cap="flat" cmpd="sng">
                <a:solidFill>
                  <a:srgbClr val="0000FF"/>
                </a:solidFill>
                <a:prstDash val="solid"/>
                <a:headEnd type="none" w="med" len="med"/>
                <a:tailEnd type="none" w="med" len="med"/>
              </a:ln>
            </p:spPr>
          </p:sp>
          <p:sp>
            <p:nvSpPr>
              <p:cNvPr id="19533" name="Rectangle 74"/>
              <p:cNvSpPr/>
              <p:nvPr/>
            </p:nvSpPr>
            <p:spPr>
              <a:xfrm>
                <a:off x="9077" y="7339"/>
                <a:ext cx="540" cy="312"/>
              </a:xfrm>
              <a:prstGeom prst="rect">
                <a:avLst/>
              </a:prstGeom>
              <a:noFill/>
              <a:ln w="9525">
                <a:noFill/>
              </a:ln>
            </p:spPr>
            <p:txBody>
              <a:bodyPr lIns="0" tIns="0" rIns="0" bIns="0"/>
              <a:lstStyle/>
              <a:p>
                <a:r>
                  <a:rPr lang="en-US" altLang="zh-CN" sz="1400" i="1" dirty="0">
                    <a:latin typeface="Times New Roman" panose="02020603050405020304" pitchFamily="18" charset="0"/>
                  </a:rPr>
                  <a:t>Q</a:t>
                </a:r>
                <a:r>
                  <a:rPr lang="en-US" altLang="zh-CN" sz="1400" baseline="-25000" dirty="0">
                    <a:latin typeface="Times New Roman" panose="02020603050405020304" pitchFamily="18" charset="0"/>
                  </a:rPr>
                  <a:t>0</a:t>
                </a:r>
                <a:endParaRPr lang="en-US" altLang="zh-CN" sz="3200" dirty="0">
                  <a:latin typeface="Arial" panose="020B0604020202020204" pitchFamily="34" charset="0"/>
                </a:endParaRPr>
              </a:p>
            </p:txBody>
          </p:sp>
          <p:sp>
            <p:nvSpPr>
              <p:cNvPr id="19534" name="Rectangle 75"/>
              <p:cNvSpPr/>
              <p:nvPr/>
            </p:nvSpPr>
            <p:spPr>
              <a:xfrm>
                <a:off x="5522" y="7228"/>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35" name="Rectangle 76"/>
              <p:cNvSpPr/>
              <p:nvPr/>
            </p:nvSpPr>
            <p:spPr>
              <a:xfrm>
                <a:off x="5522" y="8008"/>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36" name="Rectangle 77"/>
              <p:cNvSpPr/>
              <p:nvPr/>
            </p:nvSpPr>
            <p:spPr>
              <a:xfrm>
                <a:off x="6422" y="7450"/>
                <a:ext cx="360" cy="62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just"/>
                <a:r>
                  <a:rPr lang="en-US" altLang="zh-CN" sz="1200" dirty="0">
                    <a:latin typeface="宋体" panose="02010600030101010101" pitchFamily="2" charset="-122"/>
                  </a:rPr>
                  <a:t>≥</a:t>
                </a:r>
                <a:r>
                  <a:rPr lang="en-US" altLang="zh-CN" sz="1200" dirty="0">
                    <a:latin typeface="Times New Roman" panose="02020603050405020304" pitchFamily="18" charset="0"/>
                  </a:rPr>
                  <a:t>1</a:t>
                </a:r>
                <a:endParaRPr lang="en-US" altLang="zh-CN" sz="2800" dirty="0">
                  <a:latin typeface="Arial" panose="020B0604020202020204" pitchFamily="34" charset="0"/>
                </a:endParaRPr>
              </a:p>
            </p:txBody>
          </p:sp>
          <p:sp>
            <p:nvSpPr>
              <p:cNvPr id="19537" name="Line 78"/>
              <p:cNvSpPr/>
              <p:nvPr/>
            </p:nvSpPr>
            <p:spPr>
              <a:xfrm>
                <a:off x="6782" y="7741"/>
                <a:ext cx="180" cy="0"/>
              </a:xfrm>
              <a:prstGeom prst="line">
                <a:avLst/>
              </a:prstGeom>
              <a:ln w="9525" cap="flat" cmpd="sng">
                <a:solidFill>
                  <a:srgbClr val="0000FF"/>
                </a:solidFill>
                <a:prstDash val="solid"/>
                <a:headEnd type="none" w="med" len="med"/>
                <a:tailEnd type="none" w="med" len="med"/>
              </a:ln>
            </p:spPr>
          </p:sp>
          <p:sp>
            <p:nvSpPr>
              <p:cNvPr id="19538" name="Oval 79"/>
              <p:cNvSpPr/>
              <p:nvPr/>
            </p:nvSpPr>
            <p:spPr>
              <a:xfrm>
                <a:off x="6931" y="7711"/>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539" name="Oval 80"/>
              <p:cNvSpPr/>
              <p:nvPr/>
            </p:nvSpPr>
            <p:spPr>
              <a:xfrm>
                <a:off x="7809" y="7822"/>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540" name="Line 81"/>
              <p:cNvSpPr/>
              <p:nvPr/>
            </p:nvSpPr>
            <p:spPr>
              <a:xfrm>
                <a:off x="5342" y="7540"/>
                <a:ext cx="180" cy="0"/>
              </a:xfrm>
              <a:prstGeom prst="line">
                <a:avLst/>
              </a:prstGeom>
              <a:ln w="9525" cap="flat" cmpd="sng">
                <a:solidFill>
                  <a:srgbClr val="0000FF"/>
                </a:solidFill>
                <a:prstDash val="solid"/>
                <a:headEnd type="none" w="med" len="med"/>
                <a:tailEnd type="none" w="med" len="med"/>
              </a:ln>
            </p:spPr>
          </p:sp>
          <p:sp>
            <p:nvSpPr>
              <p:cNvPr id="19541" name="Oval 82"/>
              <p:cNvSpPr/>
              <p:nvPr/>
            </p:nvSpPr>
            <p:spPr>
              <a:xfrm>
                <a:off x="5882" y="8134"/>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542" name="Oval 83"/>
              <p:cNvSpPr/>
              <p:nvPr/>
            </p:nvSpPr>
            <p:spPr>
              <a:xfrm>
                <a:off x="6039" y="8128"/>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543" name="Line 84"/>
              <p:cNvSpPr/>
              <p:nvPr/>
            </p:nvSpPr>
            <p:spPr>
              <a:xfrm>
                <a:off x="5342" y="7696"/>
                <a:ext cx="720" cy="312"/>
              </a:xfrm>
              <a:prstGeom prst="line">
                <a:avLst/>
              </a:prstGeom>
              <a:ln w="9525" cap="flat" cmpd="sng">
                <a:solidFill>
                  <a:srgbClr val="0000FF"/>
                </a:solidFill>
                <a:prstDash val="solid"/>
                <a:headEnd type="none" w="med" len="med"/>
                <a:tailEnd type="none" w="med" len="med"/>
              </a:ln>
            </p:spPr>
          </p:sp>
          <p:sp>
            <p:nvSpPr>
              <p:cNvPr id="19544" name="Rectangle 85"/>
              <p:cNvSpPr/>
              <p:nvPr/>
            </p:nvSpPr>
            <p:spPr>
              <a:xfrm>
                <a:off x="7862" y="8970"/>
                <a:ext cx="720" cy="93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just">
                  <a:lnSpc>
                    <a:spcPct val="96000"/>
                  </a:lnSpc>
                </a:pPr>
                <a:r>
                  <a:rPr lang="en-US" altLang="zh-CN" sz="1400" dirty="0">
                    <a:latin typeface="Times New Roman" panose="02020603050405020304" pitchFamily="18" charset="0"/>
                  </a:rPr>
                  <a:t>&amp; </a:t>
                </a:r>
                <a:r>
                  <a:rPr lang="en-US" altLang="zh-CN" sz="1400" i="1" dirty="0">
                    <a:latin typeface="Times New Roman" panose="02020603050405020304" pitchFamily="18" charset="0"/>
                  </a:rPr>
                  <a:t>J</a:t>
                </a:r>
              </a:p>
              <a:p>
                <a:pPr algn="just">
                  <a:lnSpc>
                    <a:spcPct val="96000"/>
                  </a:lnSpc>
                </a:pPr>
                <a:r>
                  <a:rPr lang="en-US" altLang="zh-CN" sz="1400" i="1" dirty="0">
                    <a:latin typeface="Times New Roman" panose="02020603050405020304" pitchFamily="18" charset="0"/>
                  </a:rPr>
                  <a:t>C</a:t>
                </a:r>
              </a:p>
              <a:p>
                <a:pPr algn="just">
                  <a:lnSpc>
                    <a:spcPct val="96000"/>
                  </a:lnSpc>
                </a:pPr>
                <a:r>
                  <a:rPr lang="en-US" altLang="zh-CN" sz="1400" i="1" dirty="0">
                    <a:latin typeface="Times New Roman" panose="02020603050405020304" pitchFamily="18" charset="0"/>
                  </a:rPr>
                  <a:t>R</a:t>
                </a:r>
              </a:p>
              <a:p>
                <a:pPr algn="just">
                  <a:lnSpc>
                    <a:spcPct val="96000"/>
                  </a:lnSpc>
                </a:pPr>
                <a:r>
                  <a:rPr lang="en-US" altLang="zh-CN" sz="1400" dirty="0">
                    <a:latin typeface="Times New Roman" panose="02020603050405020304" pitchFamily="18" charset="0"/>
                  </a:rPr>
                  <a:t>&amp; </a:t>
                </a:r>
                <a:r>
                  <a:rPr lang="en-US" altLang="zh-CN" sz="1400" i="1" dirty="0">
                    <a:latin typeface="Times New Roman" panose="02020603050405020304" pitchFamily="18" charset="0"/>
                  </a:rPr>
                  <a:t>K</a:t>
                </a:r>
                <a:endParaRPr lang="en-US" altLang="zh-CN" sz="3200" dirty="0">
                  <a:latin typeface="Arial" panose="020B0604020202020204" pitchFamily="34" charset="0"/>
                </a:endParaRPr>
              </a:p>
            </p:txBody>
          </p:sp>
          <p:sp>
            <p:nvSpPr>
              <p:cNvPr id="19545" name="Line 86"/>
              <p:cNvSpPr/>
              <p:nvPr/>
            </p:nvSpPr>
            <p:spPr>
              <a:xfrm>
                <a:off x="7862" y="9693"/>
                <a:ext cx="180" cy="0"/>
              </a:xfrm>
              <a:prstGeom prst="line">
                <a:avLst/>
              </a:prstGeom>
              <a:ln w="9525" cap="flat" cmpd="sng">
                <a:solidFill>
                  <a:srgbClr val="0000FF"/>
                </a:solidFill>
                <a:prstDash val="solid"/>
                <a:headEnd type="none" w="med" len="med"/>
                <a:tailEnd type="none" w="med" len="med"/>
              </a:ln>
            </p:spPr>
          </p:sp>
          <p:sp>
            <p:nvSpPr>
              <p:cNvPr id="19546" name="Line 87"/>
              <p:cNvSpPr/>
              <p:nvPr/>
            </p:nvSpPr>
            <p:spPr>
              <a:xfrm>
                <a:off x="8052" y="9693"/>
                <a:ext cx="0" cy="215"/>
              </a:xfrm>
              <a:prstGeom prst="line">
                <a:avLst/>
              </a:prstGeom>
              <a:ln w="9525" cap="flat" cmpd="sng">
                <a:solidFill>
                  <a:srgbClr val="0000FF"/>
                </a:solidFill>
                <a:prstDash val="solid"/>
                <a:headEnd type="none" w="med" len="med"/>
                <a:tailEnd type="none" w="med" len="med"/>
              </a:ln>
            </p:spPr>
          </p:sp>
          <p:sp>
            <p:nvSpPr>
              <p:cNvPr id="19547" name="Line 88"/>
              <p:cNvSpPr/>
              <p:nvPr/>
            </p:nvSpPr>
            <p:spPr>
              <a:xfrm>
                <a:off x="7870" y="9205"/>
                <a:ext cx="180" cy="0"/>
              </a:xfrm>
              <a:prstGeom prst="line">
                <a:avLst/>
              </a:prstGeom>
              <a:ln w="9525" cap="flat" cmpd="sng">
                <a:solidFill>
                  <a:srgbClr val="0000FF"/>
                </a:solidFill>
                <a:prstDash val="solid"/>
                <a:headEnd type="none" w="med" len="med"/>
                <a:tailEnd type="none" w="med" len="med"/>
              </a:ln>
            </p:spPr>
          </p:sp>
          <p:sp>
            <p:nvSpPr>
              <p:cNvPr id="19548" name="Line 89"/>
              <p:cNvSpPr/>
              <p:nvPr/>
            </p:nvSpPr>
            <p:spPr>
              <a:xfrm flipV="1">
                <a:off x="8057" y="8971"/>
                <a:ext cx="0" cy="232"/>
              </a:xfrm>
              <a:prstGeom prst="line">
                <a:avLst/>
              </a:prstGeom>
              <a:ln w="9525" cap="flat" cmpd="sng">
                <a:solidFill>
                  <a:srgbClr val="0000FF"/>
                </a:solidFill>
                <a:prstDash val="solid"/>
                <a:headEnd type="none" w="med" len="med"/>
                <a:tailEnd type="none" w="med" len="med"/>
              </a:ln>
            </p:spPr>
          </p:sp>
          <p:sp>
            <p:nvSpPr>
              <p:cNvPr id="19549" name="Line 90"/>
              <p:cNvSpPr/>
              <p:nvPr/>
            </p:nvSpPr>
            <p:spPr>
              <a:xfrm>
                <a:off x="8597" y="9196"/>
                <a:ext cx="425" cy="0"/>
              </a:xfrm>
              <a:prstGeom prst="line">
                <a:avLst/>
              </a:prstGeom>
              <a:ln w="9525" cap="flat" cmpd="sng">
                <a:solidFill>
                  <a:srgbClr val="0000FF"/>
                </a:solidFill>
                <a:prstDash val="solid"/>
                <a:headEnd type="none" w="med" len="med"/>
                <a:tailEnd type="none" w="med" len="med"/>
              </a:ln>
            </p:spPr>
          </p:sp>
          <p:sp>
            <p:nvSpPr>
              <p:cNvPr id="19550" name="Line 91"/>
              <p:cNvSpPr/>
              <p:nvPr/>
            </p:nvSpPr>
            <p:spPr>
              <a:xfrm>
                <a:off x="8582" y="9694"/>
                <a:ext cx="180" cy="0"/>
              </a:xfrm>
              <a:prstGeom prst="line">
                <a:avLst/>
              </a:prstGeom>
              <a:ln w="9525" cap="flat" cmpd="sng">
                <a:solidFill>
                  <a:srgbClr val="0000FF"/>
                </a:solidFill>
                <a:prstDash val="solid"/>
                <a:headEnd type="none" w="med" len="med"/>
                <a:tailEnd type="none" w="med" len="med"/>
              </a:ln>
            </p:spPr>
          </p:sp>
          <p:sp>
            <p:nvSpPr>
              <p:cNvPr id="19551" name="Rectangle 92"/>
              <p:cNvSpPr/>
              <p:nvPr/>
            </p:nvSpPr>
            <p:spPr>
              <a:xfrm>
                <a:off x="9077" y="9025"/>
                <a:ext cx="540" cy="312"/>
              </a:xfrm>
              <a:prstGeom prst="rect">
                <a:avLst/>
              </a:prstGeom>
              <a:noFill/>
              <a:ln w="9525">
                <a:noFill/>
              </a:ln>
            </p:spPr>
            <p:txBody>
              <a:bodyPr lIns="0" tIns="0" rIns="0" bIns="0"/>
              <a:lstStyle/>
              <a:p>
                <a:r>
                  <a:rPr lang="en-US" altLang="zh-CN" sz="1400" i="1" dirty="0">
                    <a:latin typeface="Times New Roman" panose="02020603050405020304" pitchFamily="18" charset="0"/>
                  </a:rPr>
                  <a:t>Q</a:t>
                </a:r>
                <a:r>
                  <a:rPr lang="en-US" altLang="zh-CN" sz="1400" baseline="-25000" dirty="0">
                    <a:latin typeface="Times New Roman" panose="02020603050405020304" pitchFamily="18" charset="0"/>
                  </a:rPr>
                  <a:t>1</a:t>
                </a:r>
                <a:endParaRPr lang="en-US" altLang="zh-CN" sz="3200" dirty="0">
                  <a:latin typeface="Arial" panose="020B0604020202020204" pitchFamily="34" charset="0"/>
                </a:endParaRPr>
              </a:p>
            </p:txBody>
          </p:sp>
          <p:sp>
            <p:nvSpPr>
              <p:cNvPr id="19552" name="Rectangle 93"/>
              <p:cNvSpPr/>
              <p:nvPr/>
            </p:nvSpPr>
            <p:spPr>
              <a:xfrm>
                <a:off x="5522" y="8914"/>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53" name="Rectangle 94"/>
              <p:cNvSpPr/>
              <p:nvPr/>
            </p:nvSpPr>
            <p:spPr>
              <a:xfrm>
                <a:off x="6422" y="9136"/>
                <a:ext cx="360" cy="62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just"/>
                <a:r>
                  <a:rPr lang="en-US" altLang="zh-CN" sz="1200" dirty="0">
                    <a:latin typeface="宋体" panose="02010600030101010101" pitchFamily="2" charset="-122"/>
                  </a:rPr>
                  <a:t>≥</a:t>
                </a:r>
                <a:r>
                  <a:rPr lang="en-US" altLang="zh-CN" sz="1200" dirty="0">
                    <a:latin typeface="Times New Roman" panose="02020603050405020304" pitchFamily="18" charset="0"/>
                  </a:rPr>
                  <a:t>1</a:t>
                </a:r>
                <a:endParaRPr lang="en-US" altLang="zh-CN" sz="2800" dirty="0">
                  <a:latin typeface="Arial" panose="020B0604020202020204" pitchFamily="34" charset="0"/>
                </a:endParaRPr>
              </a:p>
            </p:txBody>
          </p:sp>
          <p:sp>
            <p:nvSpPr>
              <p:cNvPr id="19554" name="Line 95"/>
              <p:cNvSpPr/>
              <p:nvPr/>
            </p:nvSpPr>
            <p:spPr>
              <a:xfrm>
                <a:off x="6782" y="9427"/>
                <a:ext cx="180" cy="0"/>
              </a:xfrm>
              <a:prstGeom prst="line">
                <a:avLst/>
              </a:prstGeom>
              <a:ln w="9525" cap="flat" cmpd="sng">
                <a:solidFill>
                  <a:srgbClr val="0000FF"/>
                </a:solidFill>
                <a:prstDash val="solid"/>
                <a:headEnd type="none" w="med" len="med"/>
                <a:tailEnd type="none" w="med" len="med"/>
              </a:ln>
            </p:spPr>
          </p:sp>
          <p:sp>
            <p:nvSpPr>
              <p:cNvPr id="19555" name="Line 96"/>
              <p:cNvSpPr/>
              <p:nvPr/>
            </p:nvSpPr>
            <p:spPr>
              <a:xfrm>
                <a:off x="6962" y="9145"/>
                <a:ext cx="0" cy="556"/>
              </a:xfrm>
              <a:prstGeom prst="line">
                <a:avLst/>
              </a:prstGeom>
              <a:ln w="9525" cap="flat" cmpd="sng">
                <a:solidFill>
                  <a:srgbClr val="0000FF"/>
                </a:solidFill>
                <a:prstDash val="solid"/>
                <a:headEnd type="none" w="med" len="med"/>
                <a:tailEnd type="none" w="med" len="med"/>
              </a:ln>
            </p:spPr>
          </p:sp>
          <p:sp>
            <p:nvSpPr>
              <p:cNvPr id="19556" name="Line 97"/>
              <p:cNvSpPr/>
              <p:nvPr/>
            </p:nvSpPr>
            <p:spPr>
              <a:xfrm>
                <a:off x="6962" y="9145"/>
                <a:ext cx="900" cy="0"/>
              </a:xfrm>
              <a:prstGeom prst="line">
                <a:avLst/>
              </a:prstGeom>
              <a:ln w="9525" cap="flat" cmpd="sng">
                <a:solidFill>
                  <a:srgbClr val="0000FF"/>
                </a:solidFill>
                <a:prstDash val="solid"/>
                <a:headEnd type="none" w="med" len="med"/>
                <a:tailEnd type="none" w="med" len="med"/>
              </a:ln>
            </p:spPr>
          </p:sp>
          <p:sp>
            <p:nvSpPr>
              <p:cNvPr id="19557" name="Line 98"/>
              <p:cNvSpPr/>
              <p:nvPr/>
            </p:nvSpPr>
            <p:spPr>
              <a:xfrm>
                <a:off x="6962" y="9718"/>
                <a:ext cx="900" cy="0"/>
              </a:xfrm>
              <a:prstGeom prst="line">
                <a:avLst/>
              </a:prstGeom>
              <a:ln w="9525" cap="flat" cmpd="sng">
                <a:solidFill>
                  <a:srgbClr val="0000FF"/>
                </a:solidFill>
                <a:prstDash val="solid"/>
                <a:headEnd type="none" w="med" len="med"/>
                <a:tailEnd type="none" w="med" len="med"/>
              </a:ln>
            </p:spPr>
          </p:sp>
          <p:sp>
            <p:nvSpPr>
              <p:cNvPr id="19558" name="Line 99"/>
              <p:cNvSpPr/>
              <p:nvPr/>
            </p:nvSpPr>
            <p:spPr>
              <a:xfrm>
                <a:off x="5877" y="9016"/>
                <a:ext cx="1984" cy="0"/>
              </a:xfrm>
              <a:prstGeom prst="line">
                <a:avLst/>
              </a:prstGeom>
              <a:ln w="9525" cap="flat" cmpd="sng">
                <a:solidFill>
                  <a:srgbClr val="0000FF"/>
                </a:solidFill>
                <a:prstDash val="solid"/>
                <a:headEnd type="none" w="med" len="med"/>
                <a:tailEnd type="none" w="med" len="med"/>
              </a:ln>
            </p:spPr>
          </p:sp>
          <p:sp>
            <p:nvSpPr>
              <p:cNvPr id="19559" name="Line 100"/>
              <p:cNvSpPr/>
              <p:nvPr/>
            </p:nvSpPr>
            <p:spPr>
              <a:xfrm>
                <a:off x="5342" y="9226"/>
                <a:ext cx="180" cy="0"/>
              </a:xfrm>
              <a:prstGeom prst="line">
                <a:avLst/>
              </a:prstGeom>
              <a:ln w="9525" cap="flat" cmpd="sng">
                <a:solidFill>
                  <a:srgbClr val="0000FF"/>
                </a:solidFill>
                <a:prstDash val="solid"/>
                <a:headEnd type="none" w="med" len="med"/>
                <a:tailEnd type="none" w="med" len="med"/>
              </a:ln>
            </p:spPr>
          </p:sp>
          <p:sp>
            <p:nvSpPr>
              <p:cNvPr id="19560" name="Line 101"/>
              <p:cNvSpPr/>
              <p:nvPr/>
            </p:nvSpPr>
            <p:spPr>
              <a:xfrm>
                <a:off x="5342" y="9226"/>
                <a:ext cx="0" cy="156"/>
              </a:xfrm>
              <a:prstGeom prst="line">
                <a:avLst/>
              </a:prstGeom>
              <a:ln w="9525" cap="flat" cmpd="sng">
                <a:solidFill>
                  <a:srgbClr val="0000FF"/>
                </a:solidFill>
                <a:prstDash val="solid"/>
                <a:headEnd type="none" w="med" len="med"/>
                <a:tailEnd type="none" w="med" len="med"/>
              </a:ln>
            </p:spPr>
          </p:sp>
          <p:sp>
            <p:nvSpPr>
              <p:cNvPr id="19561" name="Line 102"/>
              <p:cNvSpPr/>
              <p:nvPr/>
            </p:nvSpPr>
            <p:spPr>
              <a:xfrm>
                <a:off x="8582" y="10846"/>
                <a:ext cx="425" cy="0"/>
              </a:xfrm>
              <a:prstGeom prst="line">
                <a:avLst/>
              </a:prstGeom>
              <a:ln w="9525" cap="flat" cmpd="sng">
                <a:solidFill>
                  <a:srgbClr val="0000FF"/>
                </a:solidFill>
                <a:prstDash val="solid"/>
                <a:headEnd type="none" w="med" len="med"/>
                <a:tailEnd type="none" w="med" len="med"/>
              </a:ln>
            </p:spPr>
          </p:sp>
          <p:sp>
            <p:nvSpPr>
              <p:cNvPr id="19562" name="Line 103"/>
              <p:cNvSpPr/>
              <p:nvPr/>
            </p:nvSpPr>
            <p:spPr>
              <a:xfrm>
                <a:off x="8582" y="11344"/>
                <a:ext cx="180" cy="0"/>
              </a:xfrm>
              <a:prstGeom prst="line">
                <a:avLst/>
              </a:prstGeom>
              <a:ln w="9525" cap="flat" cmpd="sng">
                <a:solidFill>
                  <a:srgbClr val="0000FF"/>
                </a:solidFill>
                <a:prstDash val="solid"/>
                <a:headEnd type="none" w="med" len="med"/>
                <a:tailEnd type="none" w="med" len="med"/>
              </a:ln>
            </p:spPr>
          </p:sp>
          <p:sp>
            <p:nvSpPr>
              <p:cNvPr id="19563" name="Rectangle 104"/>
              <p:cNvSpPr/>
              <p:nvPr/>
            </p:nvSpPr>
            <p:spPr>
              <a:xfrm>
                <a:off x="9077" y="10675"/>
                <a:ext cx="540" cy="312"/>
              </a:xfrm>
              <a:prstGeom prst="rect">
                <a:avLst/>
              </a:prstGeom>
              <a:noFill/>
              <a:ln w="9525">
                <a:noFill/>
              </a:ln>
            </p:spPr>
            <p:txBody>
              <a:bodyPr lIns="0" tIns="0" rIns="0" bIns="0"/>
              <a:lstStyle/>
              <a:p>
                <a:r>
                  <a:rPr lang="en-US" altLang="zh-CN" sz="1400" i="1" dirty="0">
                    <a:latin typeface="Times New Roman" panose="02020603050405020304" pitchFamily="18" charset="0"/>
                  </a:rPr>
                  <a:t>Q</a:t>
                </a:r>
                <a:r>
                  <a:rPr lang="en-US" altLang="zh-CN" sz="1400" baseline="-25000" dirty="0">
                    <a:latin typeface="Times New Roman" panose="02020603050405020304" pitchFamily="18" charset="0"/>
                  </a:rPr>
                  <a:t>2</a:t>
                </a:r>
                <a:endParaRPr lang="en-US" altLang="zh-CN" sz="3200" dirty="0">
                  <a:latin typeface="Arial" panose="020B0604020202020204" pitchFamily="34" charset="0"/>
                </a:endParaRPr>
              </a:p>
            </p:txBody>
          </p:sp>
          <p:sp>
            <p:nvSpPr>
              <p:cNvPr id="19564" name="Rectangle 105"/>
              <p:cNvSpPr/>
              <p:nvPr/>
            </p:nvSpPr>
            <p:spPr>
              <a:xfrm>
                <a:off x="5522" y="10564"/>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65" name="Rectangle 106"/>
              <p:cNvSpPr/>
              <p:nvPr/>
            </p:nvSpPr>
            <p:spPr>
              <a:xfrm>
                <a:off x="5522" y="11344"/>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66" name="Rectangle 107"/>
              <p:cNvSpPr/>
              <p:nvPr/>
            </p:nvSpPr>
            <p:spPr>
              <a:xfrm>
                <a:off x="6422" y="10786"/>
                <a:ext cx="360" cy="62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just"/>
                <a:r>
                  <a:rPr lang="en-US" altLang="zh-CN" sz="1200" dirty="0">
                    <a:latin typeface="宋体" panose="02010600030101010101" pitchFamily="2" charset="-122"/>
                  </a:rPr>
                  <a:t>≥</a:t>
                </a:r>
                <a:r>
                  <a:rPr lang="en-US" altLang="zh-CN" sz="1200" dirty="0">
                    <a:latin typeface="Times New Roman" panose="02020603050405020304" pitchFamily="18" charset="0"/>
                  </a:rPr>
                  <a:t>1</a:t>
                </a:r>
                <a:endParaRPr lang="en-US" altLang="zh-CN" sz="2800" dirty="0">
                  <a:latin typeface="Arial" panose="020B0604020202020204" pitchFamily="34" charset="0"/>
                </a:endParaRPr>
              </a:p>
            </p:txBody>
          </p:sp>
          <p:sp>
            <p:nvSpPr>
              <p:cNvPr id="19567" name="Line 108"/>
              <p:cNvSpPr/>
              <p:nvPr/>
            </p:nvSpPr>
            <p:spPr>
              <a:xfrm>
                <a:off x="6782" y="11077"/>
                <a:ext cx="180" cy="0"/>
              </a:xfrm>
              <a:prstGeom prst="line">
                <a:avLst/>
              </a:prstGeom>
              <a:ln w="9525" cap="flat" cmpd="sng">
                <a:solidFill>
                  <a:srgbClr val="0000FF"/>
                </a:solidFill>
                <a:prstDash val="solid"/>
                <a:headEnd type="none" w="med" len="med"/>
                <a:tailEnd type="none" w="med" len="med"/>
              </a:ln>
            </p:spPr>
          </p:sp>
          <p:sp>
            <p:nvSpPr>
              <p:cNvPr id="19568" name="Line 109"/>
              <p:cNvSpPr/>
              <p:nvPr/>
            </p:nvSpPr>
            <p:spPr>
              <a:xfrm>
                <a:off x="6962" y="10795"/>
                <a:ext cx="0" cy="556"/>
              </a:xfrm>
              <a:prstGeom prst="line">
                <a:avLst/>
              </a:prstGeom>
              <a:ln w="9525" cap="flat" cmpd="sng">
                <a:solidFill>
                  <a:srgbClr val="0000FF"/>
                </a:solidFill>
                <a:prstDash val="solid"/>
                <a:headEnd type="none" w="med" len="med"/>
                <a:tailEnd type="none" w="med" len="med"/>
              </a:ln>
            </p:spPr>
          </p:sp>
          <p:sp>
            <p:nvSpPr>
              <p:cNvPr id="19569" name="Line 110"/>
              <p:cNvSpPr/>
              <p:nvPr/>
            </p:nvSpPr>
            <p:spPr>
              <a:xfrm>
                <a:off x="6962" y="10795"/>
                <a:ext cx="900" cy="0"/>
              </a:xfrm>
              <a:prstGeom prst="line">
                <a:avLst/>
              </a:prstGeom>
              <a:ln w="9525" cap="flat" cmpd="sng">
                <a:solidFill>
                  <a:srgbClr val="0000FF"/>
                </a:solidFill>
                <a:prstDash val="solid"/>
                <a:headEnd type="none" w="med" len="med"/>
                <a:tailEnd type="none" w="med" len="med"/>
              </a:ln>
            </p:spPr>
          </p:sp>
          <p:sp>
            <p:nvSpPr>
              <p:cNvPr id="19570" name="Line 111"/>
              <p:cNvSpPr/>
              <p:nvPr/>
            </p:nvSpPr>
            <p:spPr>
              <a:xfrm>
                <a:off x="6962" y="11376"/>
                <a:ext cx="900" cy="0"/>
              </a:xfrm>
              <a:prstGeom prst="line">
                <a:avLst/>
              </a:prstGeom>
              <a:ln w="9525" cap="flat" cmpd="sng">
                <a:solidFill>
                  <a:srgbClr val="0000FF"/>
                </a:solidFill>
                <a:prstDash val="solid"/>
                <a:headEnd type="none" w="med" len="med"/>
                <a:tailEnd type="none" w="med" len="med"/>
              </a:ln>
            </p:spPr>
          </p:sp>
          <p:sp>
            <p:nvSpPr>
              <p:cNvPr id="19571" name="Line 112"/>
              <p:cNvSpPr/>
              <p:nvPr/>
            </p:nvSpPr>
            <p:spPr>
              <a:xfrm>
                <a:off x="7637" y="11040"/>
                <a:ext cx="170" cy="0"/>
              </a:xfrm>
              <a:prstGeom prst="line">
                <a:avLst/>
              </a:prstGeom>
              <a:ln w="9525" cap="flat" cmpd="sng">
                <a:solidFill>
                  <a:srgbClr val="0000FF"/>
                </a:solidFill>
                <a:prstDash val="solid"/>
                <a:headEnd type="none" w="med" len="med"/>
                <a:tailEnd type="none" w="med" len="med"/>
              </a:ln>
            </p:spPr>
          </p:sp>
          <p:sp>
            <p:nvSpPr>
              <p:cNvPr id="19572" name="Line 113"/>
              <p:cNvSpPr/>
              <p:nvPr/>
            </p:nvSpPr>
            <p:spPr>
              <a:xfrm>
                <a:off x="5162" y="10690"/>
                <a:ext cx="360" cy="0"/>
              </a:xfrm>
              <a:prstGeom prst="line">
                <a:avLst/>
              </a:prstGeom>
              <a:ln w="9525" cap="flat" cmpd="sng">
                <a:solidFill>
                  <a:srgbClr val="0000FF"/>
                </a:solidFill>
                <a:prstDash val="solid"/>
                <a:headEnd type="none" w="med" len="med"/>
                <a:tailEnd type="none" w="med" len="med"/>
              </a:ln>
            </p:spPr>
          </p:sp>
          <p:sp>
            <p:nvSpPr>
              <p:cNvPr id="19573" name="Line 114"/>
              <p:cNvSpPr/>
              <p:nvPr/>
            </p:nvSpPr>
            <p:spPr>
              <a:xfrm>
                <a:off x="5342" y="10876"/>
                <a:ext cx="180" cy="0"/>
              </a:xfrm>
              <a:prstGeom prst="line">
                <a:avLst/>
              </a:prstGeom>
              <a:ln w="9525" cap="flat" cmpd="sng">
                <a:solidFill>
                  <a:srgbClr val="0000FF"/>
                </a:solidFill>
                <a:prstDash val="solid"/>
                <a:headEnd type="none" w="med" len="med"/>
                <a:tailEnd type="none" w="med" len="med"/>
              </a:ln>
            </p:spPr>
          </p:sp>
          <p:sp>
            <p:nvSpPr>
              <p:cNvPr id="19574" name="Line 115"/>
              <p:cNvSpPr/>
              <p:nvPr/>
            </p:nvSpPr>
            <p:spPr>
              <a:xfrm>
                <a:off x="5162" y="11233"/>
                <a:ext cx="1260" cy="0"/>
              </a:xfrm>
              <a:prstGeom prst="line">
                <a:avLst/>
              </a:prstGeom>
              <a:ln w="9525" cap="flat" cmpd="sng">
                <a:solidFill>
                  <a:srgbClr val="0000FF"/>
                </a:solidFill>
                <a:prstDash val="solid"/>
                <a:headEnd type="none" w="med" len="med"/>
                <a:tailEnd type="none" w="med" len="med"/>
              </a:ln>
            </p:spPr>
          </p:sp>
          <p:sp>
            <p:nvSpPr>
              <p:cNvPr id="19575" name="Line 116"/>
              <p:cNvSpPr/>
              <p:nvPr/>
            </p:nvSpPr>
            <p:spPr>
              <a:xfrm>
                <a:off x="5342" y="10876"/>
                <a:ext cx="0" cy="156"/>
              </a:xfrm>
              <a:prstGeom prst="line">
                <a:avLst/>
              </a:prstGeom>
              <a:ln w="9525" cap="flat" cmpd="sng">
                <a:solidFill>
                  <a:srgbClr val="0000FF"/>
                </a:solidFill>
                <a:prstDash val="solid"/>
                <a:headEnd type="none" w="med" len="med"/>
                <a:tailEnd type="none" w="med" len="med"/>
              </a:ln>
            </p:spPr>
          </p:sp>
          <p:sp>
            <p:nvSpPr>
              <p:cNvPr id="19576" name="Line 117"/>
              <p:cNvSpPr/>
              <p:nvPr/>
            </p:nvSpPr>
            <p:spPr>
              <a:xfrm>
                <a:off x="5342" y="11032"/>
                <a:ext cx="720" cy="312"/>
              </a:xfrm>
              <a:prstGeom prst="line">
                <a:avLst/>
              </a:prstGeom>
              <a:ln w="9525" cap="flat" cmpd="sng">
                <a:solidFill>
                  <a:srgbClr val="0000FF"/>
                </a:solidFill>
                <a:prstDash val="solid"/>
                <a:headEnd type="none" w="med" len="med"/>
                <a:tailEnd type="none" w="med" len="med"/>
              </a:ln>
            </p:spPr>
          </p:sp>
          <p:sp>
            <p:nvSpPr>
              <p:cNvPr id="19577" name="Rectangle 118"/>
              <p:cNvSpPr/>
              <p:nvPr/>
            </p:nvSpPr>
            <p:spPr>
              <a:xfrm>
                <a:off x="7937" y="12312"/>
                <a:ext cx="720" cy="93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just">
                  <a:lnSpc>
                    <a:spcPct val="96000"/>
                  </a:lnSpc>
                </a:pPr>
                <a:r>
                  <a:rPr lang="en-US" altLang="zh-CN" sz="1400" dirty="0">
                    <a:latin typeface="Times New Roman" panose="02020603050405020304" pitchFamily="18" charset="0"/>
                  </a:rPr>
                  <a:t>&amp; J</a:t>
                </a:r>
              </a:p>
              <a:p>
                <a:pPr algn="just">
                  <a:lnSpc>
                    <a:spcPct val="96000"/>
                  </a:lnSpc>
                </a:pPr>
                <a:r>
                  <a:rPr lang="en-US" altLang="zh-CN" sz="1400" dirty="0">
                    <a:latin typeface="Times New Roman" panose="02020603050405020304" pitchFamily="18" charset="0"/>
                  </a:rPr>
                  <a:t>C</a:t>
                </a:r>
              </a:p>
              <a:p>
                <a:pPr algn="just">
                  <a:lnSpc>
                    <a:spcPct val="96000"/>
                  </a:lnSpc>
                </a:pPr>
                <a:r>
                  <a:rPr lang="en-US" altLang="zh-CN" sz="1400" dirty="0">
                    <a:latin typeface="Times New Roman" panose="02020603050405020304" pitchFamily="18" charset="0"/>
                  </a:rPr>
                  <a:t>R</a:t>
                </a:r>
              </a:p>
              <a:p>
                <a:pPr algn="just">
                  <a:lnSpc>
                    <a:spcPct val="96000"/>
                  </a:lnSpc>
                </a:pPr>
                <a:r>
                  <a:rPr lang="en-US" altLang="zh-CN" sz="1400" dirty="0">
                    <a:latin typeface="Times New Roman" panose="02020603050405020304" pitchFamily="18" charset="0"/>
                  </a:rPr>
                  <a:t>&amp; K</a:t>
                </a:r>
                <a:endParaRPr lang="en-US" altLang="zh-CN" sz="3200" dirty="0">
                  <a:latin typeface="Arial" panose="020B0604020202020204" pitchFamily="34" charset="0"/>
                </a:endParaRPr>
              </a:p>
            </p:txBody>
          </p:sp>
          <p:sp>
            <p:nvSpPr>
              <p:cNvPr id="19578" name="Rectangle 119"/>
              <p:cNvSpPr/>
              <p:nvPr/>
            </p:nvSpPr>
            <p:spPr>
              <a:xfrm>
                <a:off x="9152" y="12382"/>
                <a:ext cx="540" cy="312"/>
              </a:xfrm>
              <a:prstGeom prst="rect">
                <a:avLst/>
              </a:prstGeom>
              <a:noFill/>
              <a:ln w="9525">
                <a:noFill/>
              </a:ln>
            </p:spPr>
            <p:txBody>
              <a:bodyPr lIns="0" tIns="0" rIns="0" bIns="0"/>
              <a:lstStyle/>
              <a:p>
                <a:r>
                  <a:rPr lang="en-US" altLang="zh-CN" sz="1400" i="1" dirty="0">
                    <a:latin typeface="Times New Roman" panose="02020603050405020304" pitchFamily="18" charset="0"/>
                  </a:rPr>
                  <a:t>Q</a:t>
                </a:r>
                <a:r>
                  <a:rPr lang="en-US" altLang="zh-CN" sz="1400" baseline="-25000" dirty="0">
                    <a:latin typeface="Times New Roman" panose="02020603050405020304" pitchFamily="18" charset="0"/>
                  </a:rPr>
                  <a:t>3</a:t>
                </a:r>
                <a:endParaRPr lang="en-US" altLang="zh-CN" sz="3200" dirty="0">
                  <a:latin typeface="Arial" panose="020B0604020202020204" pitchFamily="34" charset="0"/>
                </a:endParaRPr>
              </a:p>
            </p:txBody>
          </p:sp>
          <p:sp>
            <p:nvSpPr>
              <p:cNvPr id="19579" name="Rectangle 120"/>
              <p:cNvSpPr/>
              <p:nvPr/>
            </p:nvSpPr>
            <p:spPr>
              <a:xfrm>
                <a:off x="5597" y="12271"/>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80" name="Rectangle 121"/>
              <p:cNvSpPr/>
              <p:nvPr/>
            </p:nvSpPr>
            <p:spPr>
              <a:xfrm>
                <a:off x="5597" y="13051"/>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81" name="Rectangle 122"/>
              <p:cNvSpPr/>
              <p:nvPr/>
            </p:nvSpPr>
            <p:spPr>
              <a:xfrm>
                <a:off x="6497" y="12493"/>
                <a:ext cx="360" cy="62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just"/>
                <a:r>
                  <a:rPr lang="en-US" altLang="zh-CN" sz="1200" dirty="0">
                    <a:latin typeface="宋体" panose="02010600030101010101" pitchFamily="2" charset="-122"/>
                  </a:rPr>
                  <a:t>≥</a:t>
                </a:r>
                <a:r>
                  <a:rPr lang="en-US" altLang="zh-CN" sz="1200" dirty="0">
                    <a:latin typeface="Times New Roman" panose="02020603050405020304" pitchFamily="18" charset="0"/>
                  </a:rPr>
                  <a:t>1</a:t>
                </a:r>
                <a:endParaRPr lang="en-US" altLang="zh-CN" sz="2800" dirty="0">
                  <a:latin typeface="Arial" panose="020B0604020202020204" pitchFamily="34" charset="0"/>
                </a:endParaRPr>
              </a:p>
            </p:txBody>
          </p:sp>
          <p:sp>
            <p:nvSpPr>
              <p:cNvPr id="19582" name="Line 123"/>
              <p:cNvSpPr/>
              <p:nvPr/>
            </p:nvSpPr>
            <p:spPr>
              <a:xfrm>
                <a:off x="5162" y="12940"/>
                <a:ext cx="1332" cy="0"/>
              </a:xfrm>
              <a:prstGeom prst="line">
                <a:avLst/>
              </a:prstGeom>
              <a:ln w="9525" cap="flat" cmpd="sng">
                <a:solidFill>
                  <a:srgbClr val="0000FF"/>
                </a:solidFill>
                <a:prstDash val="solid"/>
                <a:headEnd type="none" w="med" len="med"/>
                <a:tailEnd type="none" w="med" len="med"/>
              </a:ln>
            </p:spPr>
          </p:sp>
          <p:sp>
            <p:nvSpPr>
              <p:cNvPr id="19583" name="Line 124"/>
              <p:cNvSpPr/>
              <p:nvPr/>
            </p:nvSpPr>
            <p:spPr>
              <a:xfrm>
                <a:off x="5409" y="12591"/>
                <a:ext cx="0" cy="156"/>
              </a:xfrm>
              <a:prstGeom prst="line">
                <a:avLst/>
              </a:prstGeom>
              <a:ln w="9525" cap="flat" cmpd="sng">
                <a:solidFill>
                  <a:srgbClr val="0000FF"/>
                </a:solidFill>
                <a:prstDash val="solid"/>
                <a:headEnd type="none" w="med" len="med"/>
                <a:tailEnd type="none" w="med" len="med"/>
              </a:ln>
            </p:spPr>
          </p:sp>
          <p:sp>
            <p:nvSpPr>
              <p:cNvPr id="19584" name="Line 125"/>
              <p:cNvSpPr/>
              <p:nvPr/>
            </p:nvSpPr>
            <p:spPr>
              <a:xfrm>
                <a:off x="6137" y="13051"/>
                <a:ext cx="0" cy="156"/>
              </a:xfrm>
              <a:prstGeom prst="line">
                <a:avLst/>
              </a:prstGeom>
              <a:ln w="9525" cap="flat" cmpd="sng">
                <a:solidFill>
                  <a:srgbClr val="0000FF"/>
                </a:solidFill>
                <a:prstDash val="solid"/>
                <a:headEnd type="none" w="med" len="med"/>
                <a:tailEnd type="none" w="med" len="med"/>
              </a:ln>
            </p:spPr>
          </p:sp>
          <p:sp>
            <p:nvSpPr>
              <p:cNvPr id="19585" name="Line 126"/>
              <p:cNvSpPr/>
              <p:nvPr/>
            </p:nvSpPr>
            <p:spPr>
              <a:xfrm>
                <a:off x="5417" y="12739"/>
                <a:ext cx="720" cy="312"/>
              </a:xfrm>
              <a:prstGeom prst="line">
                <a:avLst/>
              </a:prstGeom>
              <a:ln w="9525" cap="flat" cmpd="sng">
                <a:solidFill>
                  <a:srgbClr val="0000FF"/>
                </a:solidFill>
                <a:prstDash val="solid"/>
                <a:headEnd type="none" w="med" len="med"/>
                <a:tailEnd type="none" w="med" len="med"/>
              </a:ln>
            </p:spPr>
          </p:sp>
          <p:sp>
            <p:nvSpPr>
              <p:cNvPr id="19586" name="Line 127"/>
              <p:cNvSpPr/>
              <p:nvPr/>
            </p:nvSpPr>
            <p:spPr>
              <a:xfrm>
                <a:off x="2762" y="13177"/>
                <a:ext cx="2835" cy="0"/>
              </a:xfrm>
              <a:prstGeom prst="line">
                <a:avLst/>
              </a:prstGeom>
              <a:ln w="9525" cap="flat" cmpd="sng">
                <a:solidFill>
                  <a:srgbClr val="0000FF"/>
                </a:solidFill>
                <a:prstDash val="solid"/>
                <a:headEnd type="none" w="med" len="med"/>
                <a:tailEnd type="none" w="med" len="med"/>
              </a:ln>
            </p:spPr>
          </p:sp>
          <p:sp>
            <p:nvSpPr>
              <p:cNvPr id="19587" name="Line 128"/>
              <p:cNvSpPr/>
              <p:nvPr/>
            </p:nvSpPr>
            <p:spPr>
              <a:xfrm>
                <a:off x="2732" y="7369"/>
                <a:ext cx="360" cy="0"/>
              </a:xfrm>
              <a:prstGeom prst="line">
                <a:avLst/>
              </a:prstGeom>
              <a:ln w="9525" cap="flat" cmpd="sng">
                <a:solidFill>
                  <a:srgbClr val="0000FF"/>
                </a:solidFill>
                <a:prstDash val="solid"/>
                <a:headEnd type="none" w="med" len="med"/>
                <a:tailEnd type="none" w="med" len="med"/>
              </a:ln>
            </p:spPr>
          </p:sp>
          <p:sp>
            <p:nvSpPr>
              <p:cNvPr id="19588" name="Rectangle 129"/>
              <p:cNvSpPr/>
              <p:nvPr/>
            </p:nvSpPr>
            <p:spPr>
              <a:xfrm>
                <a:off x="2266" y="7018"/>
                <a:ext cx="1" cy="592"/>
              </a:xfrm>
              <a:prstGeom prst="rect">
                <a:avLst/>
              </a:prstGeom>
              <a:noFill/>
              <a:ln w="9525">
                <a:noFill/>
              </a:ln>
            </p:spPr>
            <p:txBody>
              <a:bodyPr wrap="none" lIns="0" tIns="0" rIns="0" bIns="0">
                <a:spAutoFit/>
              </a:bodyPr>
              <a:lstStyle/>
              <a:p>
                <a:pPr algn="just"/>
                <a:endParaRPr lang="zh-CN" altLang="zh-CN" sz="3200" dirty="0">
                  <a:latin typeface="Arial" panose="020B0604020202020204" pitchFamily="34" charset="0"/>
                </a:endParaRPr>
              </a:p>
            </p:txBody>
          </p:sp>
          <p:sp>
            <p:nvSpPr>
              <p:cNvPr id="19589" name="Rectangle 130"/>
              <p:cNvSpPr/>
              <p:nvPr/>
            </p:nvSpPr>
            <p:spPr>
              <a:xfrm>
                <a:off x="4262" y="9322"/>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90" name="Rectangle 131"/>
              <p:cNvSpPr/>
              <p:nvPr/>
            </p:nvSpPr>
            <p:spPr>
              <a:xfrm>
                <a:off x="4262" y="10882"/>
                <a:ext cx="360" cy="44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591" name="Rectangle 132"/>
              <p:cNvSpPr/>
              <p:nvPr/>
            </p:nvSpPr>
            <p:spPr>
              <a:xfrm>
                <a:off x="3182" y="10252"/>
                <a:ext cx="249" cy="31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400" dirty="0">
                    <a:latin typeface="Times New Roman" panose="02020603050405020304" pitchFamily="18" charset="0"/>
                  </a:rPr>
                  <a:t>1</a:t>
                </a:r>
                <a:endParaRPr lang="en-US" altLang="zh-CN" sz="3200" dirty="0">
                  <a:latin typeface="Arial" panose="020B0604020202020204" pitchFamily="34" charset="0"/>
                </a:endParaRPr>
              </a:p>
            </p:txBody>
          </p:sp>
          <p:sp>
            <p:nvSpPr>
              <p:cNvPr id="19592" name="Rectangle 133"/>
              <p:cNvSpPr/>
              <p:nvPr/>
            </p:nvSpPr>
            <p:spPr>
              <a:xfrm>
                <a:off x="3182" y="11858"/>
                <a:ext cx="249" cy="31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400" dirty="0">
                    <a:latin typeface="Times New Roman" panose="02020603050405020304" pitchFamily="18" charset="0"/>
                  </a:rPr>
                  <a:t>1</a:t>
                </a:r>
                <a:endParaRPr lang="en-US" altLang="zh-CN" sz="3200" dirty="0">
                  <a:latin typeface="Arial" panose="020B0604020202020204" pitchFamily="34" charset="0"/>
                </a:endParaRPr>
              </a:p>
            </p:txBody>
          </p:sp>
          <p:sp>
            <p:nvSpPr>
              <p:cNvPr id="19593" name="Line 134"/>
              <p:cNvSpPr/>
              <p:nvPr/>
            </p:nvSpPr>
            <p:spPr>
              <a:xfrm flipV="1">
                <a:off x="4952" y="12836"/>
                <a:ext cx="1544" cy="1"/>
              </a:xfrm>
              <a:prstGeom prst="line">
                <a:avLst/>
              </a:prstGeom>
              <a:ln w="9525" cap="flat" cmpd="sng">
                <a:solidFill>
                  <a:srgbClr val="0000FF"/>
                </a:solidFill>
                <a:prstDash val="solid"/>
                <a:headEnd type="none" w="med" len="med"/>
                <a:tailEnd type="none" w="med" len="med"/>
              </a:ln>
            </p:spPr>
          </p:sp>
          <p:sp>
            <p:nvSpPr>
              <p:cNvPr id="19594" name="Line 135"/>
              <p:cNvSpPr/>
              <p:nvPr/>
            </p:nvSpPr>
            <p:spPr>
              <a:xfrm>
                <a:off x="3800" y="11112"/>
                <a:ext cx="459" cy="1"/>
              </a:xfrm>
              <a:prstGeom prst="line">
                <a:avLst/>
              </a:prstGeom>
              <a:ln w="9525" cap="flat" cmpd="sng">
                <a:solidFill>
                  <a:srgbClr val="0000FF"/>
                </a:solidFill>
                <a:prstDash val="solid"/>
                <a:headEnd type="none" w="med" len="med"/>
                <a:tailEnd type="none" w="med" len="med"/>
              </a:ln>
            </p:spPr>
          </p:sp>
          <p:sp>
            <p:nvSpPr>
              <p:cNvPr id="19595" name="Line 136"/>
              <p:cNvSpPr/>
              <p:nvPr/>
            </p:nvSpPr>
            <p:spPr>
              <a:xfrm>
                <a:off x="3947" y="10984"/>
                <a:ext cx="312" cy="0"/>
              </a:xfrm>
              <a:prstGeom prst="line">
                <a:avLst/>
              </a:prstGeom>
              <a:ln w="9525" cap="flat" cmpd="sng">
                <a:solidFill>
                  <a:srgbClr val="0000FF"/>
                </a:solidFill>
                <a:prstDash val="solid"/>
                <a:headEnd type="none" w="med" len="med"/>
                <a:tailEnd type="none" w="med" len="med"/>
              </a:ln>
            </p:spPr>
          </p:sp>
          <p:sp>
            <p:nvSpPr>
              <p:cNvPr id="19596" name="Line 137"/>
              <p:cNvSpPr/>
              <p:nvPr/>
            </p:nvSpPr>
            <p:spPr>
              <a:xfrm>
                <a:off x="3692" y="9565"/>
                <a:ext cx="567" cy="0"/>
              </a:xfrm>
              <a:prstGeom prst="line">
                <a:avLst/>
              </a:prstGeom>
              <a:ln w="9525" cap="flat" cmpd="sng">
                <a:solidFill>
                  <a:srgbClr val="0000FF"/>
                </a:solidFill>
                <a:prstDash val="solid"/>
                <a:headEnd type="none" w="med" len="med"/>
                <a:tailEnd type="none" w="med" len="med"/>
              </a:ln>
            </p:spPr>
          </p:sp>
          <p:sp>
            <p:nvSpPr>
              <p:cNvPr id="19597" name="Line 138"/>
              <p:cNvSpPr/>
              <p:nvPr/>
            </p:nvSpPr>
            <p:spPr>
              <a:xfrm>
                <a:off x="3827" y="9439"/>
                <a:ext cx="425" cy="0"/>
              </a:xfrm>
              <a:prstGeom prst="line">
                <a:avLst/>
              </a:prstGeom>
              <a:ln w="9525" cap="flat" cmpd="sng">
                <a:solidFill>
                  <a:srgbClr val="0000FF"/>
                </a:solidFill>
                <a:prstDash val="solid"/>
                <a:headEnd type="none" w="med" len="med"/>
                <a:tailEnd type="none" w="med" len="med"/>
              </a:ln>
            </p:spPr>
          </p:sp>
          <p:sp>
            <p:nvSpPr>
              <p:cNvPr id="19598" name="Rectangle 139"/>
              <p:cNvSpPr/>
              <p:nvPr/>
            </p:nvSpPr>
            <p:spPr>
              <a:xfrm>
                <a:off x="9122" y="14086"/>
                <a:ext cx="540" cy="312"/>
              </a:xfrm>
              <a:prstGeom prst="rect">
                <a:avLst/>
              </a:prstGeom>
              <a:noFill/>
              <a:ln w="9525">
                <a:noFill/>
              </a:ln>
            </p:spPr>
            <p:txBody>
              <a:bodyPr lIns="0" tIns="0" rIns="0" bIns="0"/>
              <a:lstStyle/>
              <a:p>
                <a:r>
                  <a:rPr lang="en-US" altLang="zh-CN" sz="1400" i="1" dirty="0">
                    <a:latin typeface="Times New Roman" panose="02020603050405020304" pitchFamily="18" charset="0"/>
                  </a:rPr>
                  <a:t>O</a:t>
                </a:r>
                <a:r>
                  <a:rPr lang="en-US" altLang="zh-CN" sz="1400" i="1" baseline="-25000" dirty="0">
                    <a:latin typeface="Times New Roman" panose="02020603050405020304" pitchFamily="18" charset="0"/>
                  </a:rPr>
                  <a:t>C</a:t>
                </a:r>
                <a:endParaRPr lang="en-US" altLang="zh-CN" sz="3200" dirty="0">
                  <a:latin typeface="Arial" panose="020B0604020202020204" pitchFamily="34" charset="0"/>
                </a:endParaRPr>
              </a:p>
            </p:txBody>
          </p:sp>
          <p:sp>
            <p:nvSpPr>
              <p:cNvPr id="19599" name="Line 140"/>
              <p:cNvSpPr/>
              <p:nvPr/>
            </p:nvSpPr>
            <p:spPr>
              <a:xfrm>
                <a:off x="3662" y="7762"/>
                <a:ext cx="2767" cy="0"/>
              </a:xfrm>
              <a:prstGeom prst="line">
                <a:avLst/>
              </a:prstGeom>
              <a:ln w="9525" cap="flat" cmpd="sng">
                <a:solidFill>
                  <a:srgbClr val="0000FF"/>
                </a:solidFill>
                <a:prstDash val="solid"/>
                <a:headEnd type="none" w="med" len="med"/>
                <a:tailEnd type="none" w="med" len="med"/>
              </a:ln>
            </p:spPr>
          </p:sp>
          <p:sp>
            <p:nvSpPr>
              <p:cNvPr id="19600" name="Line 141"/>
              <p:cNvSpPr/>
              <p:nvPr/>
            </p:nvSpPr>
            <p:spPr>
              <a:xfrm>
                <a:off x="2687" y="8149"/>
                <a:ext cx="2835" cy="0"/>
              </a:xfrm>
              <a:prstGeom prst="line">
                <a:avLst/>
              </a:prstGeom>
              <a:ln w="9525" cap="flat" cmpd="sng">
                <a:solidFill>
                  <a:srgbClr val="0000FF"/>
                </a:solidFill>
                <a:prstDash val="solid"/>
                <a:headEnd type="none" w="med" len="med"/>
                <a:tailEnd type="none" w="med" len="med"/>
              </a:ln>
            </p:spPr>
          </p:sp>
          <p:sp>
            <p:nvSpPr>
              <p:cNvPr id="19601" name="Line 142"/>
              <p:cNvSpPr/>
              <p:nvPr/>
            </p:nvSpPr>
            <p:spPr>
              <a:xfrm>
                <a:off x="2687" y="9835"/>
                <a:ext cx="2835" cy="0"/>
              </a:xfrm>
              <a:prstGeom prst="line">
                <a:avLst/>
              </a:prstGeom>
              <a:ln w="9525" cap="flat" cmpd="sng">
                <a:solidFill>
                  <a:srgbClr val="0000FF"/>
                </a:solidFill>
                <a:prstDash val="solid"/>
                <a:headEnd type="none" w="med" len="med"/>
                <a:tailEnd type="none" w="med" len="med"/>
              </a:ln>
            </p:spPr>
          </p:sp>
          <p:sp>
            <p:nvSpPr>
              <p:cNvPr id="19602" name="Line 143"/>
              <p:cNvSpPr/>
              <p:nvPr/>
            </p:nvSpPr>
            <p:spPr>
              <a:xfrm>
                <a:off x="2687" y="11476"/>
                <a:ext cx="2835" cy="0"/>
              </a:xfrm>
              <a:prstGeom prst="line">
                <a:avLst/>
              </a:prstGeom>
              <a:ln w="9525" cap="flat" cmpd="sng">
                <a:solidFill>
                  <a:srgbClr val="0000FF"/>
                </a:solidFill>
                <a:prstDash val="solid"/>
                <a:headEnd type="none" w="med" len="med"/>
                <a:tailEnd type="none" w="med" len="med"/>
              </a:ln>
            </p:spPr>
          </p:sp>
          <p:sp>
            <p:nvSpPr>
              <p:cNvPr id="19603" name="Line 144"/>
              <p:cNvSpPr/>
              <p:nvPr/>
            </p:nvSpPr>
            <p:spPr>
              <a:xfrm>
                <a:off x="2642" y="10423"/>
                <a:ext cx="540" cy="0"/>
              </a:xfrm>
              <a:prstGeom prst="line">
                <a:avLst/>
              </a:prstGeom>
              <a:ln w="9525" cap="flat" cmpd="sng">
                <a:solidFill>
                  <a:srgbClr val="0000FF"/>
                </a:solidFill>
                <a:prstDash val="solid"/>
                <a:headEnd type="none" w="med" len="med"/>
                <a:tailEnd type="none" w="med" len="med"/>
              </a:ln>
            </p:spPr>
          </p:sp>
          <p:sp>
            <p:nvSpPr>
              <p:cNvPr id="19604" name="Line 145"/>
              <p:cNvSpPr/>
              <p:nvPr/>
            </p:nvSpPr>
            <p:spPr>
              <a:xfrm>
                <a:off x="2642" y="12014"/>
                <a:ext cx="540" cy="0"/>
              </a:xfrm>
              <a:prstGeom prst="line">
                <a:avLst/>
              </a:prstGeom>
              <a:ln w="9525" cap="flat" cmpd="sng">
                <a:solidFill>
                  <a:srgbClr val="0000FF"/>
                </a:solidFill>
                <a:prstDash val="solid"/>
                <a:headEnd type="none" w="med" len="med"/>
                <a:tailEnd type="none" w="med" len="med"/>
              </a:ln>
            </p:spPr>
          </p:sp>
          <p:sp>
            <p:nvSpPr>
              <p:cNvPr id="19605" name="Rectangle 146"/>
              <p:cNvSpPr/>
              <p:nvPr/>
            </p:nvSpPr>
            <p:spPr>
              <a:xfrm>
                <a:off x="2282" y="13846"/>
                <a:ext cx="360" cy="312"/>
              </a:xfrm>
              <a:prstGeom prst="rect">
                <a:avLst/>
              </a:prstGeom>
              <a:noFill/>
              <a:ln w="9525">
                <a:noFill/>
              </a:ln>
            </p:spPr>
            <p:txBody>
              <a:bodyPr lIns="0" tIns="0" rIns="0" bIns="0"/>
              <a:lstStyle/>
              <a:p>
                <a:r>
                  <a:rPr lang="en-US" altLang="zh-CN" sz="1400" i="1" dirty="0">
                    <a:latin typeface="Times New Roman" panose="02020603050405020304" pitchFamily="18" charset="0"/>
                  </a:rPr>
                  <a:t>E</a:t>
                </a:r>
                <a:r>
                  <a:rPr lang="en-US" altLang="zh-CN" sz="1400" i="1" baseline="-25000" dirty="0">
                    <a:latin typeface="Times New Roman" panose="02020603050405020304" pitchFamily="18" charset="0"/>
                  </a:rPr>
                  <a:t>P</a:t>
                </a:r>
                <a:endParaRPr lang="en-US" altLang="zh-CN" sz="3200" dirty="0">
                  <a:latin typeface="Arial" panose="020B0604020202020204" pitchFamily="34" charset="0"/>
                </a:endParaRPr>
              </a:p>
            </p:txBody>
          </p:sp>
          <p:sp>
            <p:nvSpPr>
              <p:cNvPr id="19606" name="Rectangle 147"/>
              <p:cNvSpPr/>
              <p:nvPr/>
            </p:nvSpPr>
            <p:spPr>
              <a:xfrm>
                <a:off x="2282" y="14158"/>
                <a:ext cx="360" cy="312"/>
              </a:xfrm>
              <a:prstGeom prst="rect">
                <a:avLst/>
              </a:prstGeom>
              <a:noFill/>
              <a:ln w="9525">
                <a:noFill/>
              </a:ln>
            </p:spPr>
            <p:txBody>
              <a:bodyPr lIns="0" tIns="0" rIns="0" bIns="0"/>
              <a:lstStyle/>
              <a:p>
                <a:r>
                  <a:rPr lang="en-US" altLang="zh-CN" sz="1400" i="1" dirty="0">
                    <a:latin typeface="Times New Roman" panose="02020603050405020304" pitchFamily="18" charset="0"/>
                  </a:rPr>
                  <a:t>E</a:t>
                </a:r>
                <a:r>
                  <a:rPr lang="en-US" altLang="zh-CN" sz="1400" i="1" baseline="-25000" dirty="0">
                    <a:latin typeface="Times New Roman" panose="02020603050405020304" pitchFamily="18" charset="0"/>
                  </a:rPr>
                  <a:t>T</a:t>
                </a:r>
                <a:endParaRPr lang="en-US" altLang="zh-CN" sz="3200" dirty="0">
                  <a:latin typeface="Arial" panose="020B0604020202020204" pitchFamily="34" charset="0"/>
                </a:endParaRPr>
              </a:p>
            </p:txBody>
          </p:sp>
          <p:sp>
            <p:nvSpPr>
              <p:cNvPr id="19607" name="Line 148"/>
              <p:cNvSpPr/>
              <p:nvPr/>
            </p:nvSpPr>
            <p:spPr>
              <a:xfrm>
                <a:off x="3479" y="12004"/>
                <a:ext cx="4025" cy="0"/>
              </a:xfrm>
              <a:prstGeom prst="line">
                <a:avLst/>
              </a:prstGeom>
              <a:ln w="9525" cap="flat" cmpd="sng">
                <a:solidFill>
                  <a:srgbClr val="0000FF"/>
                </a:solidFill>
                <a:prstDash val="solid"/>
                <a:headEnd type="none" w="med" len="med"/>
                <a:tailEnd type="none" w="med" len="med"/>
              </a:ln>
            </p:spPr>
          </p:sp>
          <p:sp>
            <p:nvSpPr>
              <p:cNvPr id="19608" name="Line 149"/>
              <p:cNvSpPr/>
              <p:nvPr/>
            </p:nvSpPr>
            <p:spPr>
              <a:xfrm>
                <a:off x="4022" y="11893"/>
                <a:ext cx="4864" cy="0"/>
              </a:xfrm>
              <a:prstGeom prst="line">
                <a:avLst/>
              </a:prstGeom>
              <a:ln w="9525" cap="flat" cmpd="sng">
                <a:solidFill>
                  <a:srgbClr val="0000FF"/>
                </a:solidFill>
                <a:prstDash val="solid"/>
                <a:headEnd type="none" w="med" len="med"/>
                <a:tailEnd type="none" w="med" len="med"/>
              </a:ln>
            </p:spPr>
          </p:sp>
          <p:sp>
            <p:nvSpPr>
              <p:cNvPr id="19609" name="Line 150"/>
              <p:cNvSpPr/>
              <p:nvPr/>
            </p:nvSpPr>
            <p:spPr>
              <a:xfrm>
                <a:off x="3422" y="10414"/>
                <a:ext cx="4207" cy="0"/>
              </a:xfrm>
              <a:prstGeom prst="line">
                <a:avLst/>
              </a:prstGeom>
              <a:ln w="9525" cap="flat" cmpd="sng">
                <a:solidFill>
                  <a:srgbClr val="0000FF"/>
                </a:solidFill>
                <a:prstDash val="solid"/>
                <a:headEnd type="none" w="med" len="med"/>
                <a:tailEnd type="none" w="med" len="med"/>
              </a:ln>
            </p:spPr>
          </p:sp>
          <p:sp>
            <p:nvSpPr>
              <p:cNvPr id="19610" name="Oval 151"/>
              <p:cNvSpPr/>
              <p:nvPr/>
            </p:nvSpPr>
            <p:spPr>
              <a:xfrm>
                <a:off x="7622" y="10384"/>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11" name="Oval 152"/>
              <p:cNvSpPr/>
              <p:nvPr/>
            </p:nvSpPr>
            <p:spPr>
              <a:xfrm>
                <a:off x="8582" y="7978"/>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12" name="Oval 153"/>
              <p:cNvSpPr/>
              <p:nvPr/>
            </p:nvSpPr>
            <p:spPr>
              <a:xfrm>
                <a:off x="8867" y="7480"/>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13" name="Oval 154"/>
              <p:cNvSpPr/>
              <p:nvPr/>
            </p:nvSpPr>
            <p:spPr>
              <a:xfrm>
                <a:off x="7809" y="7690"/>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14" name="Oval 155"/>
              <p:cNvSpPr/>
              <p:nvPr/>
            </p:nvSpPr>
            <p:spPr>
              <a:xfrm>
                <a:off x="8582" y="9664"/>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15" name="Oval 156"/>
              <p:cNvSpPr/>
              <p:nvPr/>
            </p:nvSpPr>
            <p:spPr>
              <a:xfrm>
                <a:off x="8870" y="9166"/>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16" name="Oval 157"/>
              <p:cNvSpPr/>
              <p:nvPr/>
            </p:nvSpPr>
            <p:spPr>
              <a:xfrm>
                <a:off x="6931" y="9397"/>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17" name="Oval 158"/>
              <p:cNvSpPr/>
              <p:nvPr/>
            </p:nvSpPr>
            <p:spPr>
              <a:xfrm>
                <a:off x="7802" y="9368"/>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18" name="Oval 159"/>
              <p:cNvSpPr/>
              <p:nvPr/>
            </p:nvSpPr>
            <p:spPr>
              <a:xfrm>
                <a:off x="6047" y="9814"/>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19" name="Oval 160"/>
              <p:cNvSpPr/>
              <p:nvPr/>
            </p:nvSpPr>
            <p:spPr>
              <a:xfrm>
                <a:off x="8582" y="11314"/>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20" name="Oval 161"/>
              <p:cNvSpPr/>
              <p:nvPr/>
            </p:nvSpPr>
            <p:spPr>
              <a:xfrm>
                <a:off x="8855" y="10816"/>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21" name="Oval 162"/>
              <p:cNvSpPr/>
              <p:nvPr/>
            </p:nvSpPr>
            <p:spPr>
              <a:xfrm>
                <a:off x="6931" y="11047"/>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22" name="Line 163"/>
              <p:cNvSpPr/>
              <p:nvPr/>
            </p:nvSpPr>
            <p:spPr>
              <a:xfrm>
                <a:off x="7937" y="13034"/>
                <a:ext cx="180" cy="0"/>
              </a:xfrm>
              <a:prstGeom prst="line">
                <a:avLst/>
              </a:prstGeom>
              <a:ln w="9525" cap="flat" cmpd="sng">
                <a:solidFill>
                  <a:srgbClr val="0000FF"/>
                </a:solidFill>
                <a:prstDash val="solid"/>
                <a:headEnd type="none" w="med" len="med"/>
                <a:tailEnd type="none" w="med" len="med"/>
              </a:ln>
            </p:spPr>
          </p:sp>
          <p:sp>
            <p:nvSpPr>
              <p:cNvPr id="19623" name="Line 164"/>
              <p:cNvSpPr/>
              <p:nvPr/>
            </p:nvSpPr>
            <p:spPr>
              <a:xfrm>
                <a:off x="8127" y="13035"/>
                <a:ext cx="0" cy="215"/>
              </a:xfrm>
              <a:prstGeom prst="line">
                <a:avLst/>
              </a:prstGeom>
              <a:ln w="9525" cap="flat" cmpd="sng">
                <a:solidFill>
                  <a:srgbClr val="0000FF"/>
                </a:solidFill>
                <a:prstDash val="solid"/>
                <a:headEnd type="none" w="med" len="med"/>
                <a:tailEnd type="none" w="med" len="med"/>
              </a:ln>
            </p:spPr>
          </p:sp>
          <p:sp>
            <p:nvSpPr>
              <p:cNvPr id="19624" name="Line 165"/>
              <p:cNvSpPr/>
              <p:nvPr/>
            </p:nvSpPr>
            <p:spPr>
              <a:xfrm>
                <a:off x="7937" y="12546"/>
                <a:ext cx="180" cy="0"/>
              </a:xfrm>
              <a:prstGeom prst="line">
                <a:avLst/>
              </a:prstGeom>
              <a:ln w="9525" cap="flat" cmpd="sng">
                <a:solidFill>
                  <a:srgbClr val="0000FF"/>
                </a:solidFill>
                <a:prstDash val="solid"/>
                <a:headEnd type="none" w="med" len="med"/>
                <a:tailEnd type="none" w="med" len="med"/>
              </a:ln>
            </p:spPr>
          </p:sp>
          <p:sp>
            <p:nvSpPr>
              <p:cNvPr id="19625" name="Line 166"/>
              <p:cNvSpPr/>
              <p:nvPr/>
            </p:nvSpPr>
            <p:spPr>
              <a:xfrm flipV="1">
                <a:off x="8124" y="12312"/>
                <a:ext cx="0" cy="232"/>
              </a:xfrm>
              <a:prstGeom prst="line">
                <a:avLst/>
              </a:prstGeom>
              <a:ln w="9525" cap="flat" cmpd="sng">
                <a:solidFill>
                  <a:srgbClr val="0000FF"/>
                </a:solidFill>
                <a:prstDash val="solid"/>
                <a:headEnd type="none" w="med" len="med"/>
                <a:tailEnd type="none" w="med" len="med"/>
              </a:ln>
            </p:spPr>
          </p:sp>
          <p:sp>
            <p:nvSpPr>
              <p:cNvPr id="19626" name="Line 167"/>
              <p:cNvSpPr/>
              <p:nvPr/>
            </p:nvSpPr>
            <p:spPr>
              <a:xfrm>
                <a:off x="8657" y="12553"/>
                <a:ext cx="425" cy="0"/>
              </a:xfrm>
              <a:prstGeom prst="line">
                <a:avLst/>
              </a:prstGeom>
              <a:ln w="9525" cap="flat" cmpd="sng">
                <a:solidFill>
                  <a:srgbClr val="0000FF"/>
                </a:solidFill>
                <a:prstDash val="solid"/>
                <a:headEnd type="none" w="med" len="med"/>
                <a:tailEnd type="none" w="med" len="med"/>
              </a:ln>
            </p:spPr>
          </p:sp>
          <p:sp>
            <p:nvSpPr>
              <p:cNvPr id="19627" name="Line 168"/>
              <p:cNvSpPr/>
              <p:nvPr/>
            </p:nvSpPr>
            <p:spPr>
              <a:xfrm>
                <a:off x="8657" y="13051"/>
                <a:ext cx="180" cy="0"/>
              </a:xfrm>
              <a:prstGeom prst="line">
                <a:avLst/>
              </a:prstGeom>
              <a:ln w="9525" cap="flat" cmpd="sng">
                <a:solidFill>
                  <a:srgbClr val="0000FF"/>
                </a:solidFill>
                <a:prstDash val="solid"/>
                <a:headEnd type="none" w="med" len="med"/>
                <a:tailEnd type="none" w="med" len="med"/>
              </a:ln>
            </p:spPr>
          </p:sp>
          <p:sp>
            <p:nvSpPr>
              <p:cNvPr id="19628" name="Oval 169"/>
              <p:cNvSpPr/>
              <p:nvPr/>
            </p:nvSpPr>
            <p:spPr>
              <a:xfrm>
                <a:off x="8657" y="13021"/>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29" name="Line 170"/>
              <p:cNvSpPr/>
              <p:nvPr/>
            </p:nvSpPr>
            <p:spPr>
              <a:xfrm>
                <a:off x="8956" y="12582"/>
                <a:ext cx="1" cy="1093"/>
              </a:xfrm>
              <a:prstGeom prst="line">
                <a:avLst/>
              </a:prstGeom>
              <a:ln w="9525" cap="flat" cmpd="sng">
                <a:solidFill>
                  <a:srgbClr val="0000FF"/>
                </a:solidFill>
                <a:prstDash val="solid"/>
                <a:headEnd type="none" w="med" len="med"/>
                <a:tailEnd type="none" w="med" len="med"/>
              </a:ln>
            </p:spPr>
          </p:sp>
          <p:sp>
            <p:nvSpPr>
              <p:cNvPr id="19630" name="Oval 171"/>
              <p:cNvSpPr/>
              <p:nvPr/>
            </p:nvSpPr>
            <p:spPr>
              <a:xfrm>
                <a:off x="8930" y="12523"/>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31" name="Oval 172"/>
              <p:cNvSpPr/>
              <p:nvPr/>
            </p:nvSpPr>
            <p:spPr>
              <a:xfrm>
                <a:off x="7004" y="12756"/>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32" name="Oval 173"/>
              <p:cNvSpPr/>
              <p:nvPr/>
            </p:nvSpPr>
            <p:spPr>
              <a:xfrm>
                <a:off x="7884" y="12865"/>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33" name="Oval 174"/>
              <p:cNvSpPr/>
              <p:nvPr/>
            </p:nvSpPr>
            <p:spPr>
              <a:xfrm>
                <a:off x="7884" y="12725"/>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34" name="Line 175"/>
              <p:cNvSpPr/>
              <p:nvPr/>
            </p:nvSpPr>
            <p:spPr>
              <a:xfrm>
                <a:off x="5957" y="13207"/>
                <a:ext cx="1980" cy="0"/>
              </a:xfrm>
              <a:prstGeom prst="line">
                <a:avLst/>
              </a:prstGeom>
              <a:ln w="9525" cap="flat" cmpd="sng">
                <a:solidFill>
                  <a:srgbClr val="0000FF"/>
                </a:solidFill>
                <a:prstDash val="solid"/>
                <a:headEnd type="none" w="med" len="med"/>
                <a:tailEnd type="none" w="med" len="med"/>
              </a:ln>
            </p:spPr>
          </p:sp>
          <p:sp>
            <p:nvSpPr>
              <p:cNvPr id="19635" name="Oval 176"/>
              <p:cNvSpPr/>
              <p:nvPr/>
            </p:nvSpPr>
            <p:spPr>
              <a:xfrm>
                <a:off x="5957" y="13177"/>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36" name="Oval 177"/>
              <p:cNvSpPr/>
              <p:nvPr/>
            </p:nvSpPr>
            <p:spPr>
              <a:xfrm>
                <a:off x="6106" y="13171"/>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37" name="Line 178"/>
              <p:cNvSpPr/>
              <p:nvPr/>
            </p:nvSpPr>
            <p:spPr>
              <a:xfrm>
                <a:off x="6852" y="12780"/>
                <a:ext cx="185" cy="4"/>
              </a:xfrm>
              <a:prstGeom prst="line">
                <a:avLst/>
              </a:prstGeom>
              <a:ln w="9525" cap="flat" cmpd="sng">
                <a:solidFill>
                  <a:srgbClr val="0000FF"/>
                </a:solidFill>
                <a:prstDash val="solid"/>
                <a:headEnd type="none" w="med" len="med"/>
                <a:tailEnd type="none" w="med" len="med"/>
              </a:ln>
            </p:spPr>
          </p:sp>
          <p:sp>
            <p:nvSpPr>
              <p:cNvPr id="19638" name="Line 179"/>
              <p:cNvSpPr/>
              <p:nvPr/>
            </p:nvSpPr>
            <p:spPr>
              <a:xfrm>
                <a:off x="7653" y="7731"/>
                <a:ext cx="0" cy="5023"/>
              </a:xfrm>
              <a:prstGeom prst="line">
                <a:avLst/>
              </a:prstGeom>
              <a:ln w="9525" cap="flat" cmpd="sng">
                <a:solidFill>
                  <a:srgbClr val="0000FF"/>
                </a:solidFill>
                <a:prstDash val="solid"/>
                <a:headEnd type="none" w="med" len="med"/>
                <a:tailEnd type="none" w="med" len="med"/>
              </a:ln>
            </p:spPr>
          </p:sp>
          <p:sp>
            <p:nvSpPr>
              <p:cNvPr id="19639" name="Oval 180"/>
              <p:cNvSpPr/>
              <p:nvPr/>
            </p:nvSpPr>
            <p:spPr>
              <a:xfrm>
                <a:off x="7622" y="9368"/>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40" name="Line 181"/>
              <p:cNvSpPr/>
              <p:nvPr/>
            </p:nvSpPr>
            <p:spPr>
              <a:xfrm>
                <a:off x="5162" y="7330"/>
                <a:ext cx="0" cy="6050"/>
              </a:xfrm>
              <a:prstGeom prst="line">
                <a:avLst/>
              </a:prstGeom>
              <a:ln w="9525" cap="flat" cmpd="sng">
                <a:solidFill>
                  <a:srgbClr val="0000FF"/>
                </a:solidFill>
                <a:prstDash val="solid"/>
                <a:headEnd type="none" w="med" len="med"/>
                <a:tailEnd type="none" w="med" len="med"/>
              </a:ln>
            </p:spPr>
          </p:sp>
          <p:sp>
            <p:nvSpPr>
              <p:cNvPr id="19641" name="Oval 182"/>
              <p:cNvSpPr/>
              <p:nvPr/>
            </p:nvSpPr>
            <p:spPr>
              <a:xfrm>
                <a:off x="5139" y="11209"/>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42" name="Oval 183"/>
              <p:cNvSpPr/>
              <p:nvPr/>
            </p:nvSpPr>
            <p:spPr>
              <a:xfrm>
                <a:off x="5131" y="12375"/>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43" name="Oval 184"/>
              <p:cNvSpPr/>
              <p:nvPr/>
            </p:nvSpPr>
            <p:spPr>
              <a:xfrm>
                <a:off x="3756" y="9409"/>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44" name="Line 185"/>
              <p:cNvSpPr/>
              <p:nvPr/>
            </p:nvSpPr>
            <p:spPr>
              <a:xfrm>
                <a:off x="7922" y="14178"/>
                <a:ext cx="170" cy="0"/>
              </a:xfrm>
              <a:prstGeom prst="line">
                <a:avLst/>
              </a:prstGeom>
              <a:ln w="9525" cap="flat" cmpd="sng">
                <a:solidFill>
                  <a:srgbClr val="0000FF"/>
                </a:solidFill>
                <a:prstDash val="solid"/>
                <a:headEnd type="none" w="med" len="med"/>
                <a:tailEnd type="none" w="med" len="med"/>
              </a:ln>
            </p:spPr>
          </p:sp>
          <p:sp>
            <p:nvSpPr>
              <p:cNvPr id="19645" name="Line 186"/>
              <p:cNvSpPr/>
              <p:nvPr/>
            </p:nvSpPr>
            <p:spPr>
              <a:xfrm>
                <a:off x="7919" y="13698"/>
                <a:ext cx="0" cy="482"/>
              </a:xfrm>
              <a:prstGeom prst="line">
                <a:avLst/>
              </a:prstGeom>
              <a:ln w="9525" cap="flat" cmpd="sng">
                <a:solidFill>
                  <a:srgbClr val="0000FF"/>
                </a:solidFill>
                <a:prstDash val="solid"/>
                <a:headEnd type="none" w="med" len="med"/>
                <a:tailEnd type="none" w="med" len="med"/>
              </a:ln>
            </p:spPr>
          </p:sp>
          <p:sp>
            <p:nvSpPr>
              <p:cNvPr id="19646" name="Line 187"/>
              <p:cNvSpPr/>
              <p:nvPr/>
            </p:nvSpPr>
            <p:spPr>
              <a:xfrm>
                <a:off x="8453" y="14269"/>
                <a:ext cx="540" cy="0"/>
              </a:xfrm>
              <a:prstGeom prst="line">
                <a:avLst/>
              </a:prstGeom>
              <a:ln w="9525" cap="flat" cmpd="sng">
                <a:solidFill>
                  <a:srgbClr val="0000FF"/>
                </a:solidFill>
                <a:prstDash val="solid"/>
                <a:headEnd type="none" w="med" len="med"/>
                <a:tailEnd type="none" w="med" len="med"/>
              </a:ln>
            </p:spPr>
          </p:sp>
          <p:sp>
            <p:nvSpPr>
              <p:cNvPr id="19647" name="Oval 188"/>
              <p:cNvSpPr/>
              <p:nvPr/>
            </p:nvSpPr>
            <p:spPr>
              <a:xfrm>
                <a:off x="7502" y="9509"/>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48" name="Oval 189"/>
              <p:cNvSpPr/>
              <p:nvPr/>
            </p:nvSpPr>
            <p:spPr>
              <a:xfrm>
                <a:off x="7487" y="11142"/>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49" name="Oval 190"/>
              <p:cNvSpPr/>
              <p:nvPr/>
            </p:nvSpPr>
            <p:spPr>
              <a:xfrm>
                <a:off x="7486" y="11968"/>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50" name="Line 191"/>
              <p:cNvSpPr/>
              <p:nvPr/>
            </p:nvSpPr>
            <p:spPr>
              <a:xfrm>
                <a:off x="3662" y="7762"/>
                <a:ext cx="0" cy="6396"/>
              </a:xfrm>
              <a:prstGeom prst="line">
                <a:avLst/>
              </a:prstGeom>
              <a:ln w="9525" cap="flat" cmpd="sng">
                <a:solidFill>
                  <a:srgbClr val="0000FF"/>
                </a:solidFill>
                <a:prstDash val="solid"/>
                <a:headEnd type="none" w="med" len="med"/>
                <a:tailEnd type="none" w="med" len="med"/>
              </a:ln>
            </p:spPr>
          </p:sp>
          <p:sp>
            <p:nvSpPr>
              <p:cNvPr id="19651" name="Line 192"/>
              <p:cNvSpPr/>
              <p:nvPr/>
            </p:nvSpPr>
            <p:spPr>
              <a:xfrm>
                <a:off x="3422" y="14157"/>
                <a:ext cx="232" cy="0"/>
              </a:xfrm>
              <a:prstGeom prst="line">
                <a:avLst/>
              </a:prstGeom>
              <a:ln w="9525" cap="flat" cmpd="sng">
                <a:solidFill>
                  <a:srgbClr val="0000FF"/>
                </a:solidFill>
                <a:prstDash val="solid"/>
                <a:headEnd type="none" w="med" len="med"/>
                <a:tailEnd type="none" w="med" len="med"/>
              </a:ln>
            </p:spPr>
          </p:sp>
          <p:sp>
            <p:nvSpPr>
              <p:cNvPr id="19652" name="Line 193"/>
              <p:cNvSpPr/>
              <p:nvPr/>
            </p:nvSpPr>
            <p:spPr>
              <a:xfrm>
                <a:off x="2642" y="14068"/>
                <a:ext cx="540" cy="0"/>
              </a:xfrm>
              <a:prstGeom prst="line">
                <a:avLst/>
              </a:prstGeom>
              <a:ln w="9525" cap="flat" cmpd="sng">
                <a:solidFill>
                  <a:srgbClr val="0000FF"/>
                </a:solidFill>
                <a:prstDash val="solid"/>
                <a:headEnd type="none" w="med" len="med"/>
                <a:tailEnd type="none" w="med" len="med"/>
              </a:ln>
            </p:spPr>
          </p:sp>
          <p:sp>
            <p:nvSpPr>
              <p:cNvPr id="19653" name="Line 194"/>
              <p:cNvSpPr/>
              <p:nvPr/>
            </p:nvSpPr>
            <p:spPr>
              <a:xfrm>
                <a:off x="3014" y="14224"/>
                <a:ext cx="0" cy="142"/>
              </a:xfrm>
              <a:prstGeom prst="line">
                <a:avLst/>
              </a:prstGeom>
              <a:ln w="9525" cap="flat" cmpd="sng">
                <a:solidFill>
                  <a:srgbClr val="0000FF"/>
                </a:solidFill>
                <a:prstDash val="solid"/>
                <a:headEnd type="none" w="med" len="med"/>
                <a:tailEnd type="none" w="med" len="med"/>
              </a:ln>
            </p:spPr>
          </p:sp>
          <p:sp>
            <p:nvSpPr>
              <p:cNvPr id="19654" name="Line 195"/>
              <p:cNvSpPr/>
              <p:nvPr/>
            </p:nvSpPr>
            <p:spPr>
              <a:xfrm>
                <a:off x="3010" y="14380"/>
                <a:ext cx="5080" cy="0"/>
              </a:xfrm>
              <a:prstGeom prst="line">
                <a:avLst/>
              </a:prstGeom>
              <a:ln w="9525" cap="flat" cmpd="sng">
                <a:solidFill>
                  <a:srgbClr val="0000FF"/>
                </a:solidFill>
                <a:prstDash val="solid"/>
                <a:headEnd type="none" w="med" len="med"/>
                <a:tailEnd type="none" w="med" len="med"/>
              </a:ln>
            </p:spPr>
          </p:sp>
          <p:sp>
            <p:nvSpPr>
              <p:cNvPr id="19655" name="Rectangle 196"/>
              <p:cNvSpPr/>
              <p:nvPr/>
            </p:nvSpPr>
            <p:spPr>
              <a:xfrm>
                <a:off x="3137" y="7213"/>
                <a:ext cx="215" cy="31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400" dirty="0">
                    <a:latin typeface="Times New Roman" panose="02020603050405020304" pitchFamily="18" charset="0"/>
                  </a:rPr>
                  <a:t>1</a:t>
                </a:r>
                <a:endParaRPr lang="en-US" altLang="zh-CN" sz="3200" dirty="0">
                  <a:latin typeface="Arial" panose="020B0604020202020204" pitchFamily="34" charset="0"/>
                </a:endParaRPr>
              </a:p>
            </p:txBody>
          </p:sp>
          <p:sp>
            <p:nvSpPr>
              <p:cNvPr id="19656" name="Line 197"/>
              <p:cNvSpPr/>
              <p:nvPr/>
            </p:nvSpPr>
            <p:spPr>
              <a:xfrm>
                <a:off x="3782" y="14278"/>
                <a:ext cx="4309" cy="0"/>
              </a:xfrm>
              <a:prstGeom prst="line">
                <a:avLst/>
              </a:prstGeom>
              <a:ln w="9525" cap="flat" cmpd="sng">
                <a:solidFill>
                  <a:srgbClr val="0000FF"/>
                </a:solidFill>
                <a:prstDash val="solid"/>
                <a:headEnd type="none" w="med" len="med"/>
                <a:tailEnd type="none" w="med" len="med"/>
              </a:ln>
            </p:spPr>
          </p:sp>
          <p:sp>
            <p:nvSpPr>
              <p:cNvPr id="19657" name="Line 198"/>
              <p:cNvSpPr/>
              <p:nvPr/>
            </p:nvSpPr>
            <p:spPr>
              <a:xfrm>
                <a:off x="3782" y="8698"/>
                <a:ext cx="0" cy="5579"/>
              </a:xfrm>
              <a:prstGeom prst="line">
                <a:avLst/>
              </a:prstGeom>
              <a:ln w="9525" cap="flat" cmpd="sng">
                <a:solidFill>
                  <a:srgbClr val="0000FF"/>
                </a:solidFill>
                <a:prstDash val="solid"/>
                <a:headEnd type="none" w="med" len="med"/>
                <a:tailEnd type="none" w="med" len="med"/>
              </a:ln>
            </p:spPr>
          </p:sp>
          <p:sp>
            <p:nvSpPr>
              <p:cNvPr id="19658" name="Oval 199"/>
              <p:cNvSpPr/>
              <p:nvPr/>
            </p:nvSpPr>
            <p:spPr>
              <a:xfrm>
                <a:off x="5131" y="11640"/>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59" name="Line 200"/>
              <p:cNvSpPr/>
              <p:nvPr/>
            </p:nvSpPr>
            <p:spPr>
              <a:xfrm>
                <a:off x="6962" y="7487"/>
                <a:ext cx="0" cy="556"/>
              </a:xfrm>
              <a:prstGeom prst="line">
                <a:avLst/>
              </a:prstGeom>
              <a:ln w="9525" cap="flat" cmpd="sng">
                <a:solidFill>
                  <a:srgbClr val="0000FF"/>
                </a:solidFill>
                <a:prstDash val="solid"/>
                <a:headEnd type="none" w="med" len="med"/>
                <a:tailEnd type="none" w="med" len="med"/>
              </a:ln>
            </p:spPr>
          </p:sp>
          <p:sp>
            <p:nvSpPr>
              <p:cNvPr id="19660" name="Line 201"/>
              <p:cNvSpPr/>
              <p:nvPr/>
            </p:nvSpPr>
            <p:spPr>
              <a:xfrm>
                <a:off x="5938" y="7350"/>
                <a:ext cx="1928" cy="0"/>
              </a:xfrm>
              <a:prstGeom prst="line">
                <a:avLst/>
              </a:prstGeom>
              <a:ln w="9525" cap="flat" cmpd="sng">
                <a:solidFill>
                  <a:srgbClr val="0000FF"/>
                </a:solidFill>
                <a:prstDash val="solid"/>
                <a:headEnd type="none" w="med" len="med"/>
                <a:tailEnd type="none" w="med" len="med"/>
              </a:ln>
            </p:spPr>
          </p:sp>
          <p:sp>
            <p:nvSpPr>
              <p:cNvPr id="19661" name="Line 202"/>
              <p:cNvSpPr/>
              <p:nvPr/>
            </p:nvSpPr>
            <p:spPr>
              <a:xfrm>
                <a:off x="5162" y="7877"/>
                <a:ext cx="1260" cy="0"/>
              </a:xfrm>
              <a:prstGeom prst="line">
                <a:avLst/>
              </a:prstGeom>
              <a:ln w="9525" cap="flat" cmpd="sng">
                <a:solidFill>
                  <a:srgbClr val="0000FF"/>
                </a:solidFill>
                <a:prstDash val="solid"/>
                <a:headEnd type="none" w="med" len="med"/>
                <a:tailEnd type="none" w="med" len="med"/>
              </a:ln>
            </p:spPr>
          </p:sp>
          <p:sp>
            <p:nvSpPr>
              <p:cNvPr id="19662" name="Oval 203"/>
              <p:cNvSpPr/>
              <p:nvPr/>
            </p:nvSpPr>
            <p:spPr>
              <a:xfrm>
                <a:off x="5885" y="8990"/>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63" name="Line 204"/>
              <p:cNvSpPr/>
              <p:nvPr/>
            </p:nvSpPr>
            <p:spPr>
              <a:xfrm>
                <a:off x="5162" y="9052"/>
                <a:ext cx="360" cy="0"/>
              </a:xfrm>
              <a:prstGeom prst="line">
                <a:avLst/>
              </a:prstGeom>
              <a:ln w="9525" cap="flat" cmpd="sng">
                <a:solidFill>
                  <a:srgbClr val="0000FF"/>
                </a:solidFill>
                <a:prstDash val="solid"/>
                <a:headEnd type="none" w="med" len="med"/>
                <a:tailEnd type="none" w="med" len="med"/>
              </a:ln>
            </p:spPr>
          </p:sp>
          <p:sp>
            <p:nvSpPr>
              <p:cNvPr id="19664" name="Line 205"/>
              <p:cNvSpPr/>
              <p:nvPr/>
            </p:nvSpPr>
            <p:spPr>
              <a:xfrm>
                <a:off x="5162" y="9603"/>
                <a:ext cx="1260" cy="0"/>
              </a:xfrm>
              <a:prstGeom prst="line">
                <a:avLst/>
              </a:prstGeom>
              <a:ln w="9525" cap="flat" cmpd="sng">
                <a:solidFill>
                  <a:srgbClr val="0000FF"/>
                </a:solidFill>
                <a:prstDash val="solid"/>
                <a:headEnd type="none" w="med" len="med"/>
                <a:tailEnd type="none" w="med" len="med"/>
              </a:ln>
            </p:spPr>
          </p:sp>
          <p:sp>
            <p:nvSpPr>
              <p:cNvPr id="19665" name="Line 206"/>
              <p:cNvSpPr/>
              <p:nvPr/>
            </p:nvSpPr>
            <p:spPr>
              <a:xfrm>
                <a:off x="5927" y="9847"/>
                <a:ext cx="1928" cy="0"/>
              </a:xfrm>
              <a:prstGeom prst="line">
                <a:avLst/>
              </a:prstGeom>
              <a:ln w="9525" cap="flat" cmpd="sng">
                <a:solidFill>
                  <a:srgbClr val="0000FF"/>
                </a:solidFill>
                <a:prstDash val="solid"/>
                <a:headEnd type="none" w="med" len="med"/>
                <a:tailEnd type="none" w="med" len="med"/>
              </a:ln>
            </p:spPr>
          </p:sp>
          <p:sp>
            <p:nvSpPr>
              <p:cNvPr id="19666" name="Oval 207"/>
              <p:cNvSpPr/>
              <p:nvPr/>
            </p:nvSpPr>
            <p:spPr>
              <a:xfrm>
                <a:off x="5882" y="11482"/>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67" name="Oval 208"/>
              <p:cNvSpPr/>
              <p:nvPr/>
            </p:nvSpPr>
            <p:spPr>
              <a:xfrm>
                <a:off x="6039" y="11484"/>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68" name="Line 209"/>
              <p:cNvSpPr/>
              <p:nvPr/>
            </p:nvSpPr>
            <p:spPr>
              <a:xfrm>
                <a:off x="7037" y="12514"/>
                <a:ext cx="0" cy="556"/>
              </a:xfrm>
              <a:prstGeom prst="line">
                <a:avLst/>
              </a:prstGeom>
              <a:ln w="9525" cap="flat" cmpd="sng">
                <a:solidFill>
                  <a:srgbClr val="0000FF"/>
                </a:solidFill>
                <a:prstDash val="solid"/>
                <a:headEnd type="none" w="med" len="med"/>
                <a:tailEnd type="none" w="med" len="med"/>
              </a:ln>
            </p:spPr>
          </p:sp>
          <p:sp>
            <p:nvSpPr>
              <p:cNvPr id="19669" name="Line 210"/>
              <p:cNvSpPr/>
              <p:nvPr/>
            </p:nvSpPr>
            <p:spPr>
              <a:xfrm>
                <a:off x="7037" y="12514"/>
                <a:ext cx="900" cy="0"/>
              </a:xfrm>
              <a:prstGeom prst="line">
                <a:avLst/>
              </a:prstGeom>
              <a:ln w="9525" cap="flat" cmpd="sng">
                <a:solidFill>
                  <a:srgbClr val="0000FF"/>
                </a:solidFill>
                <a:prstDash val="solid"/>
                <a:headEnd type="none" w="med" len="med"/>
                <a:tailEnd type="none" w="med" len="med"/>
              </a:ln>
            </p:spPr>
          </p:sp>
          <p:sp>
            <p:nvSpPr>
              <p:cNvPr id="19670" name="Line 211"/>
              <p:cNvSpPr/>
              <p:nvPr/>
            </p:nvSpPr>
            <p:spPr>
              <a:xfrm>
                <a:off x="7037" y="13063"/>
                <a:ext cx="900" cy="0"/>
              </a:xfrm>
              <a:prstGeom prst="line">
                <a:avLst/>
              </a:prstGeom>
              <a:ln w="9525" cap="flat" cmpd="sng">
                <a:solidFill>
                  <a:srgbClr val="0000FF"/>
                </a:solidFill>
                <a:prstDash val="solid"/>
                <a:headEnd type="none" w="med" len="med"/>
                <a:tailEnd type="none" w="med" len="med"/>
              </a:ln>
            </p:spPr>
          </p:sp>
          <p:sp>
            <p:nvSpPr>
              <p:cNvPr id="19671" name="Line 212"/>
              <p:cNvSpPr/>
              <p:nvPr/>
            </p:nvSpPr>
            <p:spPr>
              <a:xfrm>
                <a:off x="5177" y="12409"/>
                <a:ext cx="408" cy="0"/>
              </a:xfrm>
              <a:prstGeom prst="line">
                <a:avLst/>
              </a:prstGeom>
              <a:ln w="9525" cap="flat" cmpd="sng">
                <a:solidFill>
                  <a:srgbClr val="0000FF"/>
                </a:solidFill>
                <a:prstDash val="solid"/>
                <a:headEnd type="none" w="med" len="med"/>
                <a:tailEnd type="none" w="med" len="med"/>
              </a:ln>
            </p:spPr>
          </p:sp>
          <p:sp>
            <p:nvSpPr>
              <p:cNvPr id="19672" name="Line 213"/>
              <p:cNvSpPr/>
              <p:nvPr/>
            </p:nvSpPr>
            <p:spPr>
              <a:xfrm>
                <a:off x="5417" y="12595"/>
                <a:ext cx="180" cy="0"/>
              </a:xfrm>
              <a:prstGeom prst="line">
                <a:avLst/>
              </a:prstGeom>
              <a:ln w="9525" cap="flat" cmpd="sng">
                <a:solidFill>
                  <a:srgbClr val="0000FF"/>
                </a:solidFill>
                <a:prstDash val="solid"/>
                <a:headEnd type="none" w="med" len="med"/>
                <a:tailEnd type="none" w="med" len="med"/>
              </a:ln>
            </p:spPr>
          </p:sp>
          <p:sp>
            <p:nvSpPr>
              <p:cNvPr id="19673" name="Line 214"/>
              <p:cNvSpPr/>
              <p:nvPr/>
            </p:nvSpPr>
            <p:spPr>
              <a:xfrm>
                <a:off x="5162" y="13390"/>
                <a:ext cx="425" cy="0"/>
              </a:xfrm>
              <a:prstGeom prst="line">
                <a:avLst/>
              </a:prstGeom>
              <a:ln w="9525" cap="flat" cmpd="sng">
                <a:solidFill>
                  <a:srgbClr val="0000FF"/>
                </a:solidFill>
                <a:prstDash val="solid"/>
                <a:headEnd type="none" w="med" len="med"/>
                <a:tailEnd type="none" w="med" len="med"/>
              </a:ln>
            </p:spPr>
          </p:sp>
          <p:sp>
            <p:nvSpPr>
              <p:cNvPr id="19674" name="Oval 215"/>
              <p:cNvSpPr/>
              <p:nvPr/>
            </p:nvSpPr>
            <p:spPr>
              <a:xfrm>
                <a:off x="5131" y="10657"/>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75" name="Oval 216"/>
              <p:cNvSpPr/>
              <p:nvPr/>
            </p:nvSpPr>
            <p:spPr>
              <a:xfrm>
                <a:off x="3632" y="11203"/>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76" name="Oval 217"/>
              <p:cNvSpPr/>
              <p:nvPr/>
            </p:nvSpPr>
            <p:spPr>
              <a:xfrm>
                <a:off x="3894" y="10948"/>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77" name="Oval 218"/>
              <p:cNvSpPr/>
              <p:nvPr/>
            </p:nvSpPr>
            <p:spPr>
              <a:xfrm>
                <a:off x="3137" y="11987"/>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78" name="Oval 219"/>
              <p:cNvSpPr/>
              <p:nvPr/>
            </p:nvSpPr>
            <p:spPr>
              <a:xfrm>
                <a:off x="3437" y="11978"/>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79" name="Line 220"/>
              <p:cNvSpPr/>
              <p:nvPr/>
            </p:nvSpPr>
            <p:spPr>
              <a:xfrm>
                <a:off x="5162" y="8338"/>
                <a:ext cx="360" cy="0"/>
              </a:xfrm>
              <a:prstGeom prst="line">
                <a:avLst/>
              </a:prstGeom>
              <a:ln w="9525" cap="flat" cmpd="sng">
                <a:solidFill>
                  <a:srgbClr val="0000FF"/>
                </a:solidFill>
                <a:prstDash val="solid"/>
                <a:headEnd type="none" w="med" len="med"/>
                <a:tailEnd type="none" w="med" len="med"/>
              </a:ln>
            </p:spPr>
          </p:sp>
          <p:sp>
            <p:nvSpPr>
              <p:cNvPr id="19680" name="Line 221"/>
              <p:cNvSpPr/>
              <p:nvPr/>
            </p:nvSpPr>
            <p:spPr>
              <a:xfrm>
                <a:off x="5162" y="10024"/>
                <a:ext cx="360" cy="0"/>
              </a:xfrm>
              <a:prstGeom prst="line">
                <a:avLst/>
              </a:prstGeom>
              <a:ln w="9525" cap="flat" cmpd="sng">
                <a:solidFill>
                  <a:srgbClr val="0000FF"/>
                </a:solidFill>
                <a:prstDash val="solid"/>
                <a:headEnd type="none" w="med" len="med"/>
                <a:tailEnd type="none" w="med" len="med"/>
              </a:ln>
            </p:spPr>
          </p:sp>
          <p:sp>
            <p:nvSpPr>
              <p:cNvPr id="19681" name="Oval 222"/>
              <p:cNvSpPr/>
              <p:nvPr/>
            </p:nvSpPr>
            <p:spPr>
              <a:xfrm>
                <a:off x="5131" y="7332"/>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82" name="Oval 223"/>
              <p:cNvSpPr/>
              <p:nvPr/>
            </p:nvSpPr>
            <p:spPr>
              <a:xfrm>
                <a:off x="5131" y="7849"/>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83" name="Oval 224"/>
              <p:cNvSpPr/>
              <p:nvPr/>
            </p:nvSpPr>
            <p:spPr>
              <a:xfrm>
                <a:off x="5131" y="9019"/>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84" name="Oval 225"/>
              <p:cNvSpPr/>
              <p:nvPr/>
            </p:nvSpPr>
            <p:spPr>
              <a:xfrm>
                <a:off x="5131" y="9567"/>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85" name="Oval 226"/>
              <p:cNvSpPr/>
              <p:nvPr/>
            </p:nvSpPr>
            <p:spPr>
              <a:xfrm>
                <a:off x="5131" y="8304"/>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86" name="Oval 227"/>
              <p:cNvSpPr/>
              <p:nvPr/>
            </p:nvSpPr>
            <p:spPr>
              <a:xfrm>
                <a:off x="5131" y="10002"/>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87" name="Line 228"/>
              <p:cNvSpPr/>
              <p:nvPr/>
            </p:nvSpPr>
            <p:spPr>
              <a:xfrm>
                <a:off x="5160" y="11670"/>
                <a:ext cx="362" cy="4"/>
              </a:xfrm>
              <a:prstGeom prst="line">
                <a:avLst/>
              </a:prstGeom>
              <a:ln w="9525" cap="flat" cmpd="sng">
                <a:solidFill>
                  <a:srgbClr val="0000FF"/>
                </a:solidFill>
                <a:prstDash val="solid"/>
                <a:headEnd type="none" w="med" len="med"/>
                <a:tailEnd type="none" w="med" len="med"/>
              </a:ln>
            </p:spPr>
          </p:sp>
          <p:sp>
            <p:nvSpPr>
              <p:cNvPr id="19688" name="Oval 229"/>
              <p:cNvSpPr/>
              <p:nvPr/>
            </p:nvSpPr>
            <p:spPr>
              <a:xfrm>
                <a:off x="3437" y="10388"/>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89" name="Rectangle 230"/>
              <p:cNvSpPr/>
              <p:nvPr/>
            </p:nvSpPr>
            <p:spPr>
              <a:xfrm>
                <a:off x="2281" y="11681"/>
                <a:ext cx="1" cy="592"/>
              </a:xfrm>
              <a:prstGeom prst="rect">
                <a:avLst/>
              </a:prstGeom>
              <a:noFill/>
              <a:ln w="9525">
                <a:noFill/>
              </a:ln>
            </p:spPr>
            <p:txBody>
              <a:bodyPr wrap="none" lIns="0" tIns="0" rIns="0" bIns="0">
                <a:spAutoFit/>
              </a:bodyPr>
              <a:lstStyle/>
              <a:p>
                <a:pPr algn="just"/>
                <a:endParaRPr lang="zh-CN" altLang="zh-CN" sz="3200" dirty="0">
                  <a:latin typeface="Arial" panose="020B0604020202020204" pitchFamily="34" charset="0"/>
                </a:endParaRPr>
              </a:p>
            </p:txBody>
          </p:sp>
          <p:sp>
            <p:nvSpPr>
              <p:cNvPr id="19690" name="Line 231"/>
              <p:cNvSpPr/>
              <p:nvPr/>
            </p:nvSpPr>
            <p:spPr>
              <a:xfrm>
                <a:off x="3362" y="7360"/>
                <a:ext cx="2160" cy="0"/>
              </a:xfrm>
              <a:prstGeom prst="line">
                <a:avLst/>
              </a:prstGeom>
              <a:ln w="9525" cap="flat" cmpd="sng">
                <a:solidFill>
                  <a:srgbClr val="0000FF"/>
                </a:solidFill>
                <a:prstDash val="solid"/>
                <a:headEnd type="none" w="med" len="med"/>
                <a:tailEnd type="none" w="med" len="med"/>
              </a:ln>
            </p:spPr>
          </p:sp>
          <p:sp>
            <p:nvSpPr>
              <p:cNvPr id="19691" name="Line 232"/>
              <p:cNvSpPr/>
              <p:nvPr/>
            </p:nvSpPr>
            <p:spPr>
              <a:xfrm flipH="1">
                <a:off x="8840" y="13049"/>
                <a:ext cx="1" cy="529"/>
              </a:xfrm>
              <a:prstGeom prst="line">
                <a:avLst/>
              </a:prstGeom>
              <a:ln w="9525" cap="flat" cmpd="sng">
                <a:solidFill>
                  <a:srgbClr val="0000FF"/>
                </a:solidFill>
                <a:prstDash val="solid"/>
                <a:headEnd type="none" w="med" len="med"/>
                <a:tailEnd type="none" w="med" len="med"/>
              </a:ln>
            </p:spPr>
          </p:sp>
          <p:sp>
            <p:nvSpPr>
              <p:cNvPr id="19692" name="Line 233"/>
              <p:cNvSpPr/>
              <p:nvPr/>
            </p:nvSpPr>
            <p:spPr>
              <a:xfrm>
                <a:off x="4134" y="9678"/>
                <a:ext cx="130" cy="0"/>
              </a:xfrm>
              <a:prstGeom prst="line">
                <a:avLst/>
              </a:prstGeom>
              <a:ln w="9525" cap="flat" cmpd="sng">
                <a:solidFill>
                  <a:srgbClr val="0000FF"/>
                </a:solidFill>
                <a:prstDash val="solid"/>
                <a:headEnd type="none" w="med" len="med"/>
                <a:tailEnd type="none" w="med" len="med"/>
              </a:ln>
            </p:spPr>
          </p:sp>
          <p:sp>
            <p:nvSpPr>
              <p:cNvPr id="19693" name="Line 234"/>
              <p:cNvSpPr/>
              <p:nvPr/>
            </p:nvSpPr>
            <p:spPr>
              <a:xfrm>
                <a:off x="4134" y="9678"/>
                <a:ext cx="0" cy="3900"/>
              </a:xfrm>
              <a:prstGeom prst="line">
                <a:avLst/>
              </a:prstGeom>
              <a:ln w="9525" cap="flat" cmpd="sng">
                <a:solidFill>
                  <a:srgbClr val="0000FF"/>
                </a:solidFill>
                <a:prstDash val="solid"/>
                <a:headEnd type="none" w="med" len="med"/>
                <a:tailEnd type="none" w="med" len="med"/>
              </a:ln>
            </p:spPr>
          </p:sp>
          <p:sp>
            <p:nvSpPr>
              <p:cNvPr id="19694" name="Line 235"/>
              <p:cNvSpPr/>
              <p:nvPr/>
            </p:nvSpPr>
            <p:spPr>
              <a:xfrm>
                <a:off x="4142" y="13573"/>
                <a:ext cx="4694" cy="0"/>
              </a:xfrm>
              <a:prstGeom prst="line">
                <a:avLst/>
              </a:prstGeom>
              <a:ln w="9525" cap="flat" cmpd="sng">
                <a:solidFill>
                  <a:srgbClr val="0000FF"/>
                </a:solidFill>
                <a:prstDash val="solid"/>
                <a:headEnd type="none" w="med" len="med"/>
                <a:tailEnd type="none" w="med" len="med"/>
              </a:ln>
            </p:spPr>
          </p:sp>
          <p:sp>
            <p:nvSpPr>
              <p:cNvPr id="19695" name="Line 236"/>
              <p:cNvSpPr/>
              <p:nvPr/>
            </p:nvSpPr>
            <p:spPr>
              <a:xfrm>
                <a:off x="4020" y="13680"/>
                <a:ext cx="4938" cy="1"/>
              </a:xfrm>
              <a:prstGeom prst="line">
                <a:avLst/>
              </a:prstGeom>
              <a:ln w="9525" cap="flat" cmpd="sng">
                <a:solidFill>
                  <a:srgbClr val="0000FF"/>
                </a:solidFill>
                <a:prstDash val="solid"/>
                <a:headEnd type="none" w="med" len="med"/>
                <a:tailEnd type="none" w="med" len="med"/>
              </a:ln>
            </p:spPr>
          </p:sp>
          <p:sp>
            <p:nvSpPr>
              <p:cNvPr id="19696" name="Line 237"/>
              <p:cNvSpPr/>
              <p:nvPr/>
            </p:nvSpPr>
            <p:spPr>
              <a:xfrm flipV="1">
                <a:off x="4012" y="12981"/>
                <a:ext cx="252" cy="3"/>
              </a:xfrm>
              <a:prstGeom prst="line">
                <a:avLst/>
              </a:prstGeom>
              <a:ln w="9525" cap="flat" cmpd="sng">
                <a:solidFill>
                  <a:srgbClr val="0000FF"/>
                </a:solidFill>
                <a:prstDash val="solid"/>
                <a:headEnd type="none" w="med" len="med"/>
                <a:tailEnd type="none" w="med" len="med"/>
              </a:ln>
            </p:spPr>
          </p:sp>
          <p:sp>
            <p:nvSpPr>
              <p:cNvPr id="19697" name="Line 238"/>
              <p:cNvSpPr/>
              <p:nvPr/>
            </p:nvSpPr>
            <p:spPr>
              <a:xfrm>
                <a:off x="4022" y="11884"/>
                <a:ext cx="0" cy="624"/>
              </a:xfrm>
              <a:prstGeom prst="line">
                <a:avLst/>
              </a:prstGeom>
              <a:ln w="9525" cap="flat" cmpd="sng">
                <a:solidFill>
                  <a:srgbClr val="0000FF"/>
                </a:solidFill>
                <a:prstDash val="solid"/>
                <a:headEnd type="none" w="med" len="med"/>
                <a:tailEnd type="none" w="med" len="med"/>
              </a:ln>
            </p:spPr>
          </p:sp>
          <p:sp>
            <p:nvSpPr>
              <p:cNvPr id="19698" name="Oval 239"/>
              <p:cNvSpPr/>
              <p:nvPr/>
            </p:nvSpPr>
            <p:spPr>
              <a:xfrm>
                <a:off x="7893" y="13651"/>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699" name="Line 240"/>
              <p:cNvSpPr/>
              <p:nvPr/>
            </p:nvSpPr>
            <p:spPr>
              <a:xfrm>
                <a:off x="3692" y="11230"/>
                <a:ext cx="567" cy="0"/>
              </a:xfrm>
              <a:prstGeom prst="line">
                <a:avLst/>
              </a:prstGeom>
              <a:ln w="9525" cap="flat" cmpd="sng">
                <a:solidFill>
                  <a:srgbClr val="0000FF"/>
                </a:solidFill>
                <a:prstDash val="solid"/>
                <a:headEnd type="none" w="med" len="med"/>
                <a:tailEnd type="none" w="med" len="med"/>
              </a:ln>
            </p:spPr>
          </p:sp>
          <p:sp>
            <p:nvSpPr>
              <p:cNvPr id="19700" name="Line 241"/>
              <p:cNvSpPr/>
              <p:nvPr/>
            </p:nvSpPr>
            <p:spPr>
              <a:xfrm>
                <a:off x="7871" y="7991"/>
                <a:ext cx="180" cy="0"/>
              </a:xfrm>
              <a:prstGeom prst="line">
                <a:avLst/>
              </a:prstGeom>
              <a:ln w="9525" cap="flat" cmpd="sng">
                <a:solidFill>
                  <a:srgbClr val="0000FF"/>
                </a:solidFill>
                <a:prstDash val="solid"/>
                <a:headEnd type="none" w="med" len="med"/>
                <a:tailEnd type="none" w="med" len="med"/>
              </a:ln>
            </p:spPr>
          </p:sp>
          <p:sp>
            <p:nvSpPr>
              <p:cNvPr id="19701" name="Oval 242"/>
              <p:cNvSpPr/>
              <p:nvPr/>
            </p:nvSpPr>
            <p:spPr>
              <a:xfrm>
                <a:off x="3072" y="7338"/>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702" name="Oval 243"/>
              <p:cNvSpPr/>
              <p:nvPr/>
            </p:nvSpPr>
            <p:spPr>
              <a:xfrm>
                <a:off x="5881" y="9819"/>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703" name="Oval 244"/>
              <p:cNvSpPr/>
              <p:nvPr/>
            </p:nvSpPr>
            <p:spPr>
              <a:xfrm>
                <a:off x="5885" y="10644"/>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704" name="Oval 245"/>
              <p:cNvSpPr/>
              <p:nvPr/>
            </p:nvSpPr>
            <p:spPr>
              <a:xfrm>
                <a:off x="5960" y="12360"/>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19705" name="Rectangle 246"/>
              <p:cNvSpPr/>
              <p:nvPr/>
            </p:nvSpPr>
            <p:spPr>
              <a:xfrm>
                <a:off x="8087" y="14042"/>
                <a:ext cx="360" cy="48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sp>
            <p:nvSpPr>
              <p:cNvPr id="19706" name="Line 247"/>
              <p:cNvSpPr/>
              <p:nvPr/>
            </p:nvSpPr>
            <p:spPr>
              <a:xfrm>
                <a:off x="7532" y="11176"/>
                <a:ext cx="272" cy="0"/>
              </a:xfrm>
              <a:prstGeom prst="line">
                <a:avLst/>
              </a:prstGeom>
              <a:ln w="9525" cap="flat" cmpd="sng">
                <a:solidFill>
                  <a:srgbClr val="0000FF"/>
                </a:solidFill>
                <a:prstDash val="solid"/>
                <a:headEnd type="none" w="med" len="med"/>
                <a:tailEnd type="none" w="med" len="med"/>
              </a:ln>
            </p:spPr>
          </p:sp>
          <p:sp>
            <p:nvSpPr>
              <p:cNvPr id="19707" name="Rectangle 248"/>
              <p:cNvSpPr/>
              <p:nvPr/>
            </p:nvSpPr>
            <p:spPr>
              <a:xfrm>
                <a:off x="3182" y="14002"/>
                <a:ext cx="249" cy="312"/>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400" dirty="0">
                    <a:latin typeface="Times New Roman" panose="02020603050405020304" pitchFamily="18" charset="0"/>
                  </a:rPr>
                  <a:t>&amp;</a:t>
                </a:r>
                <a:endParaRPr lang="en-US" altLang="zh-CN" sz="3200" dirty="0">
                  <a:latin typeface="Arial" panose="020B0604020202020204" pitchFamily="34" charset="0"/>
                </a:endParaRPr>
              </a:p>
            </p:txBody>
          </p:sp>
        </p:grpSp>
        <p:sp>
          <p:nvSpPr>
            <p:cNvPr id="19464" name="Text Box 249"/>
            <p:cNvSpPr txBox="1"/>
            <p:nvPr/>
          </p:nvSpPr>
          <p:spPr>
            <a:xfrm>
              <a:off x="4176" y="14502"/>
              <a:ext cx="3552" cy="408"/>
            </a:xfrm>
            <a:prstGeom prst="rect">
              <a:avLst/>
            </a:prstGeom>
            <a:noFill/>
            <a:ln w="9525">
              <a:noFill/>
            </a:ln>
          </p:spPr>
          <p:txBody>
            <a:bodyPr/>
            <a:lstStyle/>
            <a:p>
              <a:pPr algn="ctr"/>
              <a:r>
                <a:rPr lang="zh-CN" altLang="en-US" sz="1600" dirty="0">
                  <a:latin typeface="Times New Roman" panose="02020603050405020304" pitchFamily="18" charset="0"/>
                </a:rPr>
                <a:t>计数器</a:t>
              </a:r>
              <a:r>
                <a:rPr lang="en-US" altLang="zh-CN" sz="1600" dirty="0">
                  <a:latin typeface="Times New Roman" panose="02020603050405020304" pitchFamily="18" charset="0"/>
                </a:rPr>
                <a:t>74LS160</a:t>
              </a:r>
              <a:r>
                <a:rPr lang="zh-CN" altLang="en-US" sz="1600" dirty="0">
                  <a:latin typeface="Times New Roman" panose="02020603050405020304" pitchFamily="18" charset="0"/>
                </a:rPr>
                <a:t>的逻辑图</a:t>
              </a:r>
              <a:endParaRPr lang="zh-CN" altLang="en-US" sz="3600" dirty="0">
                <a:latin typeface="Arial" panose="020B0604020202020204" pitchFamily="34" charset="0"/>
              </a:endParaRPr>
            </a:p>
          </p:txBody>
        </p:sp>
      </p:grpSp>
      <p:sp>
        <p:nvSpPr>
          <p:cNvPr id="19459" name="Rectangle 251"/>
          <p:cNvSpPr/>
          <p:nvPr/>
        </p:nvSpPr>
        <p:spPr>
          <a:xfrm>
            <a:off x="0" y="3348038"/>
            <a:ext cx="9144000" cy="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19460" name="Object 250"/>
          <p:cNvGraphicFramePr>
            <a:graphicFrameLocks noChangeAspect="1"/>
          </p:cNvGraphicFramePr>
          <p:nvPr/>
        </p:nvGraphicFramePr>
        <p:xfrm>
          <a:off x="1331913" y="549275"/>
          <a:ext cx="360362" cy="292100"/>
        </p:xfrm>
        <a:graphic>
          <a:graphicData uri="http://schemas.openxmlformats.org/presentationml/2006/ole">
            <mc:AlternateContent xmlns:mc="http://schemas.openxmlformats.org/markup-compatibility/2006">
              <mc:Choice xmlns:v="urn:schemas-microsoft-com:vml" Requires="v">
                <p:oleObj r:id="rId2" imgW="203200" imgH="165100" progId="Equation.3">
                  <p:embed/>
                </p:oleObj>
              </mc:Choice>
              <mc:Fallback>
                <p:oleObj r:id="rId2" imgW="203200" imgH="165100" progId="Equation.3">
                  <p:embed/>
                  <p:pic>
                    <p:nvPicPr>
                      <p:cNvPr id="0" name="图片 3080"/>
                      <p:cNvPicPr/>
                      <p:nvPr/>
                    </p:nvPicPr>
                    <p:blipFill>
                      <a:blip r:embed="rId3"/>
                      <a:stretch>
                        <a:fillRect/>
                      </a:stretch>
                    </p:blipFill>
                    <p:spPr>
                      <a:xfrm>
                        <a:off x="1331913" y="549275"/>
                        <a:ext cx="360362" cy="292100"/>
                      </a:xfrm>
                      <a:prstGeom prst="rect">
                        <a:avLst/>
                      </a:prstGeom>
                      <a:noFill/>
                      <a:ln w="38100">
                        <a:noFill/>
                        <a:miter/>
                      </a:ln>
                    </p:spPr>
                  </p:pic>
                </p:oleObj>
              </mc:Fallback>
            </mc:AlternateContent>
          </a:graphicData>
        </a:graphic>
      </p:graphicFrame>
      <p:sp>
        <p:nvSpPr>
          <p:cNvPr id="19461" name="Rectangle 253"/>
          <p:cNvSpPr/>
          <p:nvPr/>
        </p:nvSpPr>
        <p:spPr>
          <a:xfrm>
            <a:off x="0" y="3324225"/>
            <a:ext cx="9144000" cy="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19462" name="Object 252"/>
          <p:cNvGraphicFramePr>
            <a:graphicFrameLocks noChangeAspect="1"/>
          </p:cNvGraphicFramePr>
          <p:nvPr/>
        </p:nvGraphicFramePr>
        <p:xfrm>
          <a:off x="1403350" y="4292600"/>
          <a:ext cx="295275" cy="360363"/>
        </p:xfrm>
        <a:graphic>
          <a:graphicData uri="http://schemas.openxmlformats.org/presentationml/2006/ole">
            <mc:AlternateContent xmlns:mc="http://schemas.openxmlformats.org/markup-compatibility/2006">
              <mc:Choice xmlns:v="urn:schemas-microsoft-com:vml" Requires="v">
                <p:oleObj r:id="rId4" imgW="203200" imgH="215900" progId="Equation.3">
                  <p:embed/>
                </p:oleObj>
              </mc:Choice>
              <mc:Fallback>
                <p:oleObj r:id="rId4" imgW="203200" imgH="215900" progId="Equation.3">
                  <p:embed/>
                  <p:pic>
                    <p:nvPicPr>
                      <p:cNvPr id="0" name="图片 3079"/>
                      <p:cNvPicPr/>
                      <p:nvPr/>
                    </p:nvPicPr>
                    <p:blipFill>
                      <a:blip r:embed="rId5"/>
                      <a:stretch>
                        <a:fillRect/>
                      </a:stretch>
                    </p:blipFill>
                    <p:spPr>
                      <a:xfrm>
                        <a:off x="1403350" y="4292600"/>
                        <a:ext cx="295275" cy="360363"/>
                      </a:xfrm>
                      <a:prstGeom prst="rect">
                        <a:avLst/>
                      </a:prstGeom>
                      <a:noFill/>
                      <a:ln w="38100">
                        <a:noFill/>
                        <a:miter/>
                      </a:ln>
                    </p:spPr>
                  </p:pic>
                </p:oleObj>
              </mc:Fallback>
            </mc:AlternateContent>
          </a:graphicData>
        </a:graphic>
      </p:graphicFrame>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4"/>
          <p:cNvSpPr txBox="1"/>
          <p:nvPr/>
        </p:nvSpPr>
        <p:spPr>
          <a:xfrm>
            <a:off x="0" y="1341438"/>
            <a:ext cx="9144000" cy="5021262"/>
          </a:xfrm>
          <a:prstGeom prst="rect">
            <a:avLst/>
          </a:prstGeom>
          <a:noFill/>
          <a:ln w="9525">
            <a:noFill/>
          </a:ln>
        </p:spPr>
        <p:txBody>
          <a:bodyPr>
            <a:spAutoFit/>
          </a:bodyPr>
          <a:lstStyle/>
          <a:p>
            <a:pPr algn="just">
              <a:lnSpc>
                <a:spcPct val="110000"/>
              </a:lnSpc>
              <a:spcBef>
                <a:spcPct val="50000"/>
              </a:spcBef>
            </a:pPr>
            <a:r>
              <a:rPr lang="en-US" altLang="zh-CN" sz="2400" dirty="0">
                <a:latin typeface="Times New Roman" panose="02020603050405020304" pitchFamily="18" charset="0"/>
              </a:rPr>
              <a:t>       ① </a:t>
            </a:r>
            <a:r>
              <a:rPr lang="zh-CN" altLang="en-US" sz="2400" dirty="0">
                <a:latin typeface="Times New Roman" panose="02020603050405020304" pitchFamily="18" charset="0"/>
              </a:rPr>
              <a:t>该器件为双时钟工作方式，</a:t>
            </a:r>
            <a:r>
              <a:rPr lang="en-US" altLang="zh-CN" sz="2400" i="1" dirty="0">
                <a:latin typeface="Times New Roman" panose="02020603050405020304" pitchFamily="18" charset="0"/>
              </a:rPr>
              <a:t>CP</a:t>
            </a:r>
            <a:r>
              <a:rPr lang="en-US" altLang="zh-CN" sz="2400" baseline="-25000" dirty="0">
                <a:latin typeface="Times New Roman" panose="02020603050405020304" pitchFamily="18" charset="0"/>
              </a:rPr>
              <a:t>U</a:t>
            </a:r>
            <a:r>
              <a:rPr lang="zh-CN" altLang="en-US" sz="2400" dirty="0">
                <a:latin typeface="Times New Roman" panose="02020603050405020304" pitchFamily="18" charset="0"/>
              </a:rPr>
              <a:t>是加计数时钟输入，</a:t>
            </a:r>
            <a:r>
              <a:rPr lang="en-US" altLang="zh-CN" sz="2400" i="1" dirty="0">
                <a:latin typeface="Times New Roman" panose="02020603050405020304" pitchFamily="18" charset="0"/>
              </a:rPr>
              <a:t>CP</a:t>
            </a:r>
            <a:r>
              <a:rPr lang="en-US" altLang="zh-CN" sz="2400" i="1" baseline="-25000" dirty="0">
                <a:latin typeface="Times New Roman" panose="02020603050405020304" pitchFamily="18" charset="0"/>
              </a:rPr>
              <a:t>D</a:t>
            </a:r>
            <a:r>
              <a:rPr lang="zh-CN" altLang="en-US" sz="2400" dirty="0">
                <a:latin typeface="Times New Roman" panose="02020603050405020304" pitchFamily="18" charset="0"/>
              </a:rPr>
              <a:t>是减计数时钟输入，均为上升沿触发，采用</a:t>
            </a:r>
            <a:r>
              <a:rPr lang="en-US" altLang="zh-CN" sz="2400" dirty="0">
                <a:latin typeface="Times New Roman" panose="02020603050405020304" pitchFamily="18" charset="0"/>
              </a:rPr>
              <a:t>8421 BCD</a:t>
            </a:r>
            <a:r>
              <a:rPr lang="zh-CN" altLang="en-US" sz="2400" dirty="0">
                <a:latin typeface="Times New Roman" panose="02020603050405020304" pitchFamily="18" charset="0"/>
              </a:rPr>
              <a:t>码计数。</a:t>
            </a:r>
          </a:p>
          <a:p>
            <a:pPr algn="just">
              <a:lnSpc>
                <a:spcPct val="110000"/>
              </a:lnSpc>
              <a:spcBef>
                <a:spcPct val="50000"/>
              </a:spcBef>
            </a:pPr>
            <a:r>
              <a:rPr lang="zh-CN" altLang="en-US" sz="2400" dirty="0">
                <a:latin typeface="Times New Roman" panose="02020603050405020304" pitchFamily="18" charset="0"/>
              </a:rPr>
              <a:t>       ② </a:t>
            </a:r>
            <a:r>
              <a:rPr lang="en-US" altLang="zh-CN" sz="2400" i="1" dirty="0">
                <a:latin typeface="Times New Roman" panose="02020603050405020304" pitchFamily="18" charset="0"/>
              </a:rPr>
              <a:t>C</a:t>
            </a:r>
            <a:r>
              <a:rPr lang="en-US" altLang="zh-CN" sz="2400" baseline="-25000" dirty="0">
                <a:latin typeface="Times New Roman" panose="02020603050405020304" pitchFamily="18" charset="0"/>
              </a:rPr>
              <a:t>r</a:t>
            </a:r>
            <a:r>
              <a:rPr lang="zh-CN" altLang="en-US" sz="2400" dirty="0">
                <a:latin typeface="Times New Roman" panose="02020603050405020304" pitchFamily="18" charset="0"/>
              </a:rPr>
              <a:t>为异步清</a:t>
            </a:r>
            <a:r>
              <a:rPr lang="en-US" altLang="zh-CN" sz="2400" dirty="0">
                <a:latin typeface="Times New Roman" panose="02020603050405020304" pitchFamily="18" charset="0"/>
              </a:rPr>
              <a:t>0</a:t>
            </a:r>
            <a:r>
              <a:rPr lang="zh-CN" altLang="en-US" sz="2400" dirty="0">
                <a:latin typeface="Times New Roman" panose="02020603050405020304" pitchFamily="18" charset="0"/>
              </a:rPr>
              <a:t>端，高电平有效。</a:t>
            </a:r>
          </a:p>
          <a:p>
            <a:pPr algn="just">
              <a:lnSpc>
                <a:spcPct val="110000"/>
              </a:lnSpc>
              <a:spcBef>
                <a:spcPct val="50000"/>
              </a:spcBef>
            </a:pPr>
            <a:r>
              <a:rPr lang="zh-CN" altLang="en-US" sz="2400" dirty="0">
                <a:latin typeface="Times New Roman" panose="02020603050405020304" pitchFamily="18" charset="0"/>
              </a:rPr>
              <a:t>       ③ </a:t>
            </a:r>
            <a:r>
              <a:rPr lang="en-US" altLang="zh-CN" sz="2400" i="1" dirty="0">
                <a:latin typeface="Times New Roman" panose="02020603050405020304" pitchFamily="18" charset="0"/>
              </a:rPr>
              <a:t>LD</a:t>
            </a:r>
            <a:r>
              <a:rPr lang="zh-CN" altLang="en-US" sz="2400" dirty="0">
                <a:latin typeface="Times New Roman" panose="02020603050405020304" pitchFamily="18" charset="0"/>
              </a:rPr>
              <a:t>为异步预置控制端，低电平有效，当</a:t>
            </a:r>
            <a:r>
              <a:rPr lang="en-US" altLang="zh-CN" sz="2400" i="1" dirty="0">
                <a:latin typeface="Times New Roman" panose="02020603050405020304" pitchFamily="18" charset="0"/>
              </a:rPr>
              <a:t>C</a:t>
            </a:r>
            <a:r>
              <a:rPr lang="en-US" altLang="zh-CN" sz="2400" baseline="-25000" dirty="0">
                <a:latin typeface="Times New Roman" panose="02020603050405020304" pitchFamily="18" charset="0"/>
              </a:rPr>
              <a:t>r</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r>
              <a:rPr lang="en-US" altLang="zh-CN" sz="2400" i="1" dirty="0">
                <a:latin typeface="Times New Roman" panose="02020603050405020304" pitchFamily="18" charset="0"/>
              </a:rPr>
              <a:t>LD</a:t>
            </a:r>
            <a:r>
              <a:rPr lang="en-US" altLang="zh-CN" sz="2400" dirty="0">
                <a:latin typeface="Times New Roman" panose="02020603050405020304" pitchFamily="18" charset="0"/>
              </a:rPr>
              <a:t>=0</a:t>
            </a:r>
            <a:r>
              <a:rPr lang="zh-CN" altLang="en-US" sz="2400" dirty="0">
                <a:latin typeface="Times New Roman" panose="02020603050405020304" pitchFamily="18" charset="0"/>
              </a:rPr>
              <a:t>时预置输入端</a:t>
            </a:r>
            <a:r>
              <a:rPr lang="en-US" altLang="zh-CN" sz="2400" i="1" dirty="0">
                <a:latin typeface="Times New Roman" panose="02020603050405020304" pitchFamily="18" charset="0"/>
              </a:rPr>
              <a:t>D</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C</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B</a:t>
            </a:r>
            <a:r>
              <a:rPr lang="zh-CN" altLang="en-US" sz="2400" i="1" dirty="0">
                <a:latin typeface="Times New Roman" panose="02020603050405020304" pitchFamily="18" charset="0"/>
              </a:rPr>
              <a:t>、</a:t>
            </a:r>
            <a:r>
              <a:rPr lang="en-US" altLang="zh-CN" sz="2400" i="1" dirty="0">
                <a:latin typeface="Times New Roman" panose="02020603050405020304" pitchFamily="18" charset="0"/>
              </a:rPr>
              <a:t>A</a:t>
            </a:r>
            <a:r>
              <a:rPr lang="zh-CN" altLang="en-US" sz="2400" dirty="0">
                <a:latin typeface="Times New Roman" panose="02020603050405020304" pitchFamily="18" charset="0"/>
              </a:rPr>
              <a:t>的数据送至输出端，即</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D</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C</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B</a:t>
            </a:r>
            <a:r>
              <a:rPr lang="en-US" altLang="zh-CN" sz="2400" i="1" dirty="0">
                <a:latin typeface="Times New Roman" panose="02020603050405020304" pitchFamily="18" charset="0"/>
              </a:rPr>
              <a:t>Q</a:t>
            </a:r>
            <a:r>
              <a:rPr lang="en-US" altLang="zh-CN" sz="2400" i="1" baseline="-25000" dirty="0">
                <a:latin typeface="Times New Roman" panose="02020603050405020304" pitchFamily="18" charset="0"/>
              </a:rPr>
              <a:t>A</a:t>
            </a:r>
            <a:r>
              <a:rPr lang="en-US" altLang="zh-CN" sz="2400" dirty="0">
                <a:latin typeface="Times New Roman" panose="02020603050405020304" pitchFamily="18" charset="0"/>
              </a:rPr>
              <a:t>=</a:t>
            </a:r>
            <a:r>
              <a:rPr lang="en-US" altLang="zh-CN" sz="2400" i="1" dirty="0">
                <a:latin typeface="Times New Roman" panose="02020603050405020304" pitchFamily="18" charset="0"/>
              </a:rPr>
              <a:t>DCBA</a:t>
            </a:r>
            <a:r>
              <a:rPr lang="zh-CN" altLang="en-US" sz="2400" dirty="0">
                <a:latin typeface="Times New Roman" panose="02020603050405020304" pitchFamily="18" charset="0"/>
              </a:rPr>
              <a:t>。</a:t>
            </a:r>
          </a:p>
          <a:p>
            <a:pPr algn="just">
              <a:lnSpc>
                <a:spcPct val="110000"/>
              </a:lnSpc>
              <a:spcBef>
                <a:spcPct val="50000"/>
              </a:spcBef>
            </a:pPr>
            <a:r>
              <a:rPr lang="zh-CN" altLang="en-US" sz="2400" dirty="0">
                <a:latin typeface="Times New Roman" panose="02020603050405020304" pitchFamily="18" charset="0"/>
              </a:rPr>
              <a:t>       ④ 进位输出和借位输出是分开的。</a:t>
            </a:r>
          </a:p>
          <a:p>
            <a:pPr algn="just">
              <a:lnSpc>
                <a:spcPct val="110000"/>
              </a:lnSpc>
              <a:spcBef>
                <a:spcPct val="50000"/>
              </a:spcBef>
            </a:pPr>
            <a:r>
              <a:rPr lang="zh-CN" altLang="en-US" sz="2400" i="1" dirty="0">
                <a:latin typeface="Times New Roman" panose="02020603050405020304" pitchFamily="18" charset="0"/>
              </a:rPr>
              <a:t>       </a:t>
            </a:r>
            <a:r>
              <a:rPr lang="en-US" altLang="zh-CN" sz="2400" i="1" dirty="0">
                <a:latin typeface="Times New Roman" panose="02020603050405020304" pitchFamily="18" charset="0"/>
              </a:rPr>
              <a:t>O</a:t>
            </a:r>
            <a:r>
              <a:rPr lang="en-US" altLang="zh-CN" sz="2400" i="1" baseline="-25000" dirty="0">
                <a:latin typeface="Times New Roman" panose="02020603050405020304" pitchFamily="18" charset="0"/>
              </a:rPr>
              <a:t>CC</a:t>
            </a:r>
            <a:r>
              <a:rPr lang="zh-CN" altLang="en-US" sz="2400" dirty="0">
                <a:latin typeface="Times New Roman" panose="02020603050405020304" pitchFamily="18" charset="0"/>
              </a:rPr>
              <a:t>为进位输出，加法计数时，进入</a:t>
            </a:r>
            <a:r>
              <a:rPr lang="en-US" altLang="zh-CN" sz="2400" dirty="0">
                <a:latin typeface="Times New Roman" panose="02020603050405020304" pitchFamily="18" charset="0"/>
              </a:rPr>
              <a:t>1001</a:t>
            </a:r>
            <a:r>
              <a:rPr lang="zh-CN" altLang="en-US" sz="2400" dirty="0">
                <a:latin typeface="Times New Roman" panose="02020603050405020304" pitchFamily="18" charset="0"/>
              </a:rPr>
              <a:t>状态后有负脉冲输出，脉宽为一个时钟周期。</a:t>
            </a:r>
          </a:p>
          <a:p>
            <a:pPr algn="just">
              <a:lnSpc>
                <a:spcPct val="110000"/>
              </a:lnSpc>
              <a:spcBef>
                <a:spcPct val="50000"/>
              </a:spcBef>
            </a:pPr>
            <a:r>
              <a:rPr lang="zh-CN" altLang="en-US" sz="2400" i="1" dirty="0">
                <a:latin typeface="Times New Roman" panose="02020603050405020304" pitchFamily="18" charset="0"/>
              </a:rPr>
              <a:t>       </a:t>
            </a:r>
            <a:r>
              <a:rPr lang="en-US" altLang="zh-CN" sz="2400" i="1" dirty="0">
                <a:latin typeface="Times New Roman" panose="02020603050405020304" pitchFamily="18" charset="0"/>
              </a:rPr>
              <a:t>O</a:t>
            </a:r>
            <a:r>
              <a:rPr lang="en-US" altLang="zh-CN" sz="2400" i="1" baseline="-25000" dirty="0">
                <a:latin typeface="Times New Roman" panose="02020603050405020304" pitchFamily="18" charset="0"/>
              </a:rPr>
              <a:t>CB</a:t>
            </a:r>
            <a:r>
              <a:rPr lang="zh-CN" altLang="en-US" sz="2400" dirty="0">
                <a:latin typeface="Times New Roman" panose="02020603050405020304" pitchFamily="18" charset="0"/>
              </a:rPr>
              <a:t>为借位输出，减法计数时，进入</a:t>
            </a:r>
            <a:r>
              <a:rPr lang="en-US" altLang="zh-CN" sz="2400" dirty="0">
                <a:latin typeface="Times New Roman" panose="02020603050405020304" pitchFamily="18" charset="0"/>
              </a:rPr>
              <a:t>0000</a:t>
            </a:r>
            <a:r>
              <a:rPr lang="zh-CN" altLang="en-US" sz="2400" dirty="0">
                <a:latin typeface="Times New Roman" panose="02020603050405020304" pitchFamily="18" charset="0"/>
              </a:rPr>
              <a:t>状态后有负脉冲输出，脉宽为一个时钟周期。 </a:t>
            </a:r>
          </a:p>
        </p:txBody>
      </p:sp>
      <p:sp>
        <p:nvSpPr>
          <p:cNvPr id="19461" name="Text Box 5"/>
          <p:cNvSpPr txBox="1">
            <a:spLocks noChangeArrowheads="1"/>
          </p:cNvSpPr>
          <p:nvPr/>
        </p:nvSpPr>
        <p:spPr bwMode="auto">
          <a:xfrm>
            <a:off x="827088" y="549275"/>
            <a:ext cx="5511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R="0" defTabSz="914400">
              <a:buClrTx/>
              <a:buSzTx/>
              <a:buFontTx/>
              <a:buNone/>
              <a:defRPr/>
            </a:pPr>
            <a:r>
              <a:rPr kumimoji="1" lang="en-US" altLang="zh-CN" sz="2800" b="1"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2. </a:t>
            </a:r>
            <a:r>
              <a:rPr kumimoji="1" lang="zh-CN" altLang="en-US" sz="2800" b="1"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十进制可逆集成计数器</a:t>
            </a:r>
            <a:r>
              <a:rPr kumimoji="1" lang="en-US" altLang="zh-CN" sz="2800" b="1" kern="1200" cap="none" spc="0" normalizeH="0" baseline="0" noProof="0">
                <a:solidFill>
                  <a:srgbClr val="3333FF"/>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74LS192</a:t>
            </a:r>
            <a:r>
              <a:rPr kumimoji="1" lang="en-US" altLang="zh-CN" sz="24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 </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Group 4"/>
          <p:cNvGrpSpPr/>
          <p:nvPr/>
        </p:nvGrpSpPr>
        <p:grpSpPr>
          <a:xfrm>
            <a:off x="0" y="333375"/>
            <a:ext cx="8964613" cy="6580188"/>
            <a:chOff x="1624" y="7320"/>
            <a:chExt cx="8839" cy="6830"/>
          </a:xfrm>
        </p:grpSpPr>
        <p:grpSp>
          <p:nvGrpSpPr>
            <p:cNvPr id="21513" name="Group 5"/>
            <p:cNvGrpSpPr/>
            <p:nvPr/>
          </p:nvGrpSpPr>
          <p:grpSpPr>
            <a:xfrm>
              <a:off x="1624" y="7320"/>
              <a:ext cx="8839" cy="6830"/>
              <a:chOff x="1624" y="6064"/>
              <a:chExt cx="8839" cy="6830"/>
            </a:xfrm>
          </p:grpSpPr>
          <p:grpSp>
            <p:nvGrpSpPr>
              <p:cNvPr id="21515" name="Group 6"/>
              <p:cNvGrpSpPr/>
              <p:nvPr/>
            </p:nvGrpSpPr>
            <p:grpSpPr>
              <a:xfrm>
                <a:off x="1624" y="6064"/>
                <a:ext cx="8839" cy="6830"/>
                <a:chOff x="1888" y="2536"/>
                <a:chExt cx="8839" cy="6830"/>
              </a:xfrm>
            </p:grpSpPr>
            <p:sp>
              <p:nvSpPr>
                <p:cNvPr id="21520" name="Rectangle 7"/>
                <p:cNvSpPr/>
                <p:nvPr/>
              </p:nvSpPr>
              <p:spPr>
                <a:xfrm>
                  <a:off x="9145" y="2556"/>
                  <a:ext cx="360" cy="468"/>
                </a:xfrm>
                <a:prstGeom prst="rect">
                  <a:avLst/>
                </a:prstGeom>
                <a:noFill/>
                <a:ln w="9525">
                  <a:noFill/>
                </a:ln>
              </p:spPr>
              <p:txBody>
                <a:bodyPr lIns="0" rIns="0"/>
                <a:lstStyle/>
                <a:p>
                  <a:pPr algn="just"/>
                  <a:r>
                    <a:rPr lang="en-US" altLang="zh-CN" sz="1800" i="1" dirty="0">
                      <a:latin typeface="Times New Roman" panose="02020603050405020304" pitchFamily="18" charset="0"/>
                    </a:rPr>
                    <a:t>Q</a:t>
                  </a:r>
                  <a:r>
                    <a:rPr lang="en-US" altLang="zh-CN" sz="1800" i="1" baseline="-25000" dirty="0">
                      <a:latin typeface="Times New Roman" panose="02020603050405020304" pitchFamily="18" charset="0"/>
                    </a:rPr>
                    <a:t>D</a:t>
                  </a:r>
                  <a:endParaRPr lang="en-US" altLang="zh-CN" sz="4800" dirty="0">
                    <a:latin typeface="Times New Roman" panose="02020603050405020304" pitchFamily="18" charset="0"/>
                  </a:endParaRPr>
                </a:p>
              </p:txBody>
            </p:sp>
            <p:sp>
              <p:nvSpPr>
                <p:cNvPr id="21521" name="Rectangle 8"/>
                <p:cNvSpPr/>
                <p:nvPr/>
              </p:nvSpPr>
              <p:spPr>
                <a:xfrm>
                  <a:off x="7296" y="2536"/>
                  <a:ext cx="360" cy="468"/>
                </a:xfrm>
                <a:prstGeom prst="rect">
                  <a:avLst/>
                </a:prstGeom>
                <a:noFill/>
                <a:ln w="9525">
                  <a:noFill/>
                </a:ln>
              </p:spPr>
              <p:txBody>
                <a:bodyPr lIns="0" rIns="0"/>
                <a:lstStyle/>
                <a:p>
                  <a:pPr algn="just"/>
                  <a:r>
                    <a:rPr lang="en-US" altLang="zh-CN" sz="1800" i="1" dirty="0">
                      <a:latin typeface="Times New Roman" panose="02020603050405020304" pitchFamily="18" charset="0"/>
                    </a:rPr>
                    <a:t>Q</a:t>
                  </a:r>
                  <a:r>
                    <a:rPr lang="en-US" altLang="zh-CN" sz="1800" i="1" baseline="-25000" dirty="0">
                      <a:latin typeface="Times New Roman" panose="02020603050405020304" pitchFamily="18" charset="0"/>
                    </a:rPr>
                    <a:t>C</a:t>
                  </a:r>
                  <a:endParaRPr lang="en-US" altLang="zh-CN" sz="4800" dirty="0">
                    <a:latin typeface="Times New Roman" panose="02020603050405020304" pitchFamily="18" charset="0"/>
                  </a:endParaRPr>
                </a:p>
              </p:txBody>
            </p:sp>
            <p:sp>
              <p:nvSpPr>
                <p:cNvPr id="21522" name="Rectangle 9"/>
                <p:cNvSpPr/>
                <p:nvPr/>
              </p:nvSpPr>
              <p:spPr>
                <a:xfrm>
                  <a:off x="5230" y="2556"/>
                  <a:ext cx="360" cy="468"/>
                </a:xfrm>
                <a:prstGeom prst="rect">
                  <a:avLst/>
                </a:prstGeom>
                <a:noFill/>
                <a:ln w="9525">
                  <a:noFill/>
                </a:ln>
              </p:spPr>
              <p:txBody>
                <a:bodyPr lIns="0" rIns="0"/>
                <a:lstStyle/>
                <a:p>
                  <a:pPr algn="just"/>
                  <a:r>
                    <a:rPr lang="en-US" altLang="zh-CN" sz="1800" i="1" dirty="0">
                      <a:latin typeface="Times New Roman" panose="02020603050405020304" pitchFamily="18" charset="0"/>
                    </a:rPr>
                    <a:t>Q</a:t>
                  </a:r>
                  <a:r>
                    <a:rPr lang="en-US" altLang="zh-CN" sz="1800" i="1" baseline="-25000" dirty="0">
                      <a:latin typeface="Times New Roman" panose="02020603050405020304" pitchFamily="18" charset="0"/>
                    </a:rPr>
                    <a:t>B</a:t>
                  </a:r>
                  <a:endParaRPr lang="en-US" altLang="zh-CN" sz="4800" dirty="0">
                    <a:latin typeface="Times New Roman" panose="02020603050405020304" pitchFamily="18" charset="0"/>
                  </a:endParaRPr>
                </a:p>
              </p:txBody>
            </p:sp>
            <p:sp>
              <p:nvSpPr>
                <p:cNvPr id="21523" name="Rectangle 10"/>
                <p:cNvSpPr/>
                <p:nvPr/>
              </p:nvSpPr>
              <p:spPr>
                <a:xfrm>
                  <a:off x="3220" y="2556"/>
                  <a:ext cx="360" cy="468"/>
                </a:xfrm>
                <a:prstGeom prst="rect">
                  <a:avLst/>
                </a:prstGeom>
                <a:noFill/>
                <a:ln w="9525">
                  <a:noFill/>
                </a:ln>
              </p:spPr>
              <p:txBody>
                <a:bodyPr lIns="0" rIns="0"/>
                <a:lstStyle/>
                <a:p>
                  <a:pPr algn="just"/>
                  <a:r>
                    <a:rPr lang="en-US" altLang="zh-CN" sz="1800" i="1" dirty="0">
                      <a:latin typeface="Times New Roman" panose="02020603050405020304" pitchFamily="18" charset="0"/>
                    </a:rPr>
                    <a:t>Q</a:t>
                  </a:r>
                  <a:r>
                    <a:rPr lang="en-US" altLang="zh-CN" sz="1800" i="1" baseline="-25000" dirty="0">
                      <a:latin typeface="Times New Roman" panose="02020603050405020304" pitchFamily="18" charset="0"/>
                    </a:rPr>
                    <a:t>A</a:t>
                  </a:r>
                  <a:endParaRPr lang="en-US" altLang="zh-CN" sz="4800" dirty="0">
                    <a:latin typeface="Times New Roman" panose="02020603050405020304" pitchFamily="18" charset="0"/>
                  </a:endParaRPr>
                </a:p>
              </p:txBody>
            </p:sp>
            <p:sp>
              <p:nvSpPr>
                <p:cNvPr id="21524" name="Rectangle 11"/>
                <p:cNvSpPr/>
                <p:nvPr/>
              </p:nvSpPr>
              <p:spPr>
                <a:xfrm>
                  <a:off x="1888" y="2915"/>
                  <a:ext cx="1" cy="855"/>
                </a:xfrm>
                <a:prstGeom prst="rect">
                  <a:avLst/>
                </a:prstGeom>
                <a:noFill/>
                <a:ln w="9525">
                  <a:noFill/>
                </a:ln>
              </p:spPr>
              <p:txBody>
                <a:bodyPr wrap="none" lIns="0" rIns="0">
                  <a:spAutoFit/>
                </a:bodyPr>
                <a:lstStyle/>
                <a:p>
                  <a:pPr algn="just"/>
                  <a:endParaRPr lang="zh-CN" altLang="zh-CN" sz="4800" dirty="0">
                    <a:latin typeface="Times New Roman" panose="02020603050405020304" pitchFamily="18" charset="0"/>
                  </a:endParaRPr>
                </a:p>
              </p:txBody>
            </p:sp>
            <p:sp>
              <p:nvSpPr>
                <p:cNvPr id="21525" name="Rectangle 12"/>
                <p:cNvSpPr/>
                <p:nvPr/>
              </p:nvSpPr>
              <p:spPr>
                <a:xfrm>
                  <a:off x="10193" y="8511"/>
                  <a:ext cx="1" cy="855"/>
                </a:xfrm>
                <a:prstGeom prst="rect">
                  <a:avLst/>
                </a:prstGeom>
                <a:noFill/>
                <a:ln w="9525">
                  <a:noFill/>
                </a:ln>
              </p:spPr>
              <p:txBody>
                <a:bodyPr wrap="none" lIns="0" rIns="0">
                  <a:spAutoFit/>
                </a:bodyPr>
                <a:lstStyle/>
                <a:p>
                  <a:pPr algn="just"/>
                  <a:endParaRPr lang="zh-CN" altLang="zh-CN" sz="4800" dirty="0">
                    <a:latin typeface="Times New Roman" panose="02020603050405020304" pitchFamily="18" charset="0"/>
                  </a:endParaRPr>
                </a:p>
              </p:txBody>
            </p:sp>
            <p:sp>
              <p:nvSpPr>
                <p:cNvPr id="21526" name="Rectangle 13"/>
                <p:cNvSpPr/>
                <p:nvPr/>
              </p:nvSpPr>
              <p:spPr>
                <a:xfrm>
                  <a:off x="9271" y="8490"/>
                  <a:ext cx="360" cy="468"/>
                </a:xfrm>
                <a:prstGeom prst="rect">
                  <a:avLst/>
                </a:prstGeom>
                <a:noFill/>
                <a:ln w="9525">
                  <a:noFill/>
                </a:ln>
              </p:spPr>
              <p:txBody>
                <a:bodyPr lIns="0" rIns="0"/>
                <a:lstStyle/>
                <a:p>
                  <a:pPr algn="just"/>
                  <a:r>
                    <a:rPr lang="en-US" altLang="zh-CN" sz="1800" i="1" dirty="0">
                      <a:latin typeface="Times New Roman" panose="02020603050405020304" pitchFamily="18" charset="0"/>
                    </a:rPr>
                    <a:t>C</a:t>
                  </a:r>
                  <a:r>
                    <a:rPr lang="en-US" altLang="zh-CN" sz="1800" i="1" baseline="-25000" dirty="0">
                      <a:latin typeface="Times New Roman" panose="02020603050405020304" pitchFamily="18" charset="0"/>
                    </a:rPr>
                    <a:t>r</a:t>
                  </a:r>
                  <a:endParaRPr lang="en-US" altLang="zh-CN" sz="4800" dirty="0">
                    <a:latin typeface="Times New Roman" panose="02020603050405020304" pitchFamily="18" charset="0"/>
                  </a:endParaRPr>
                </a:p>
              </p:txBody>
            </p:sp>
            <p:sp>
              <p:nvSpPr>
                <p:cNvPr id="21527" name="Rectangle 14"/>
                <p:cNvSpPr/>
                <p:nvPr/>
              </p:nvSpPr>
              <p:spPr>
                <a:xfrm>
                  <a:off x="8920" y="8490"/>
                  <a:ext cx="360" cy="468"/>
                </a:xfrm>
                <a:prstGeom prst="rect">
                  <a:avLst/>
                </a:prstGeom>
                <a:noFill/>
                <a:ln w="9525">
                  <a:noFill/>
                </a:ln>
              </p:spPr>
              <p:txBody>
                <a:bodyPr lIns="0" rIns="0"/>
                <a:lstStyle/>
                <a:p>
                  <a:pPr algn="just"/>
                  <a:r>
                    <a:rPr lang="en-US" altLang="zh-CN" sz="1800" i="1" dirty="0">
                      <a:latin typeface="Times New Roman" panose="02020603050405020304" pitchFamily="18" charset="0"/>
                    </a:rPr>
                    <a:t>D</a:t>
                  </a:r>
                  <a:endParaRPr lang="en-US" altLang="zh-CN" sz="4800" dirty="0">
                    <a:latin typeface="Times New Roman" panose="02020603050405020304" pitchFamily="18" charset="0"/>
                  </a:endParaRPr>
                </a:p>
              </p:txBody>
            </p:sp>
            <p:sp>
              <p:nvSpPr>
                <p:cNvPr id="21528" name="Rectangle 15"/>
                <p:cNvSpPr/>
                <p:nvPr/>
              </p:nvSpPr>
              <p:spPr>
                <a:xfrm>
                  <a:off x="6955" y="8556"/>
                  <a:ext cx="360" cy="468"/>
                </a:xfrm>
                <a:prstGeom prst="rect">
                  <a:avLst/>
                </a:prstGeom>
                <a:noFill/>
                <a:ln w="9525">
                  <a:noFill/>
                </a:ln>
              </p:spPr>
              <p:txBody>
                <a:bodyPr lIns="0" rIns="0"/>
                <a:lstStyle/>
                <a:p>
                  <a:pPr algn="just"/>
                  <a:r>
                    <a:rPr lang="en-US" altLang="zh-CN" sz="1800" i="1" dirty="0">
                      <a:latin typeface="Times New Roman" panose="02020603050405020304" pitchFamily="18" charset="0"/>
                    </a:rPr>
                    <a:t>C</a:t>
                  </a:r>
                  <a:endParaRPr lang="en-US" altLang="zh-CN" sz="4800" dirty="0">
                    <a:latin typeface="Times New Roman" panose="02020603050405020304" pitchFamily="18" charset="0"/>
                  </a:endParaRPr>
                </a:p>
              </p:txBody>
            </p:sp>
            <p:sp>
              <p:nvSpPr>
                <p:cNvPr id="21529" name="Rectangle 16"/>
                <p:cNvSpPr/>
                <p:nvPr/>
              </p:nvSpPr>
              <p:spPr>
                <a:xfrm>
                  <a:off x="4975" y="8535"/>
                  <a:ext cx="360" cy="468"/>
                </a:xfrm>
                <a:prstGeom prst="rect">
                  <a:avLst/>
                </a:prstGeom>
                <a:noFill/>
                <a:ln w="9525">
                  <a:noFill/>
                </a:ln>
              </p:spPr>
              <p:txBody>
                <a:bodyPr lIns="0" rIns="0"/>
                <a:lstStyle/>
                <a:p>
                  <a:pPr algn="just"/>
                  <a:r>
                    <a:rPr lang="en-US" altLang="zh-CN" sz="1800" i="1" dirty="0">
                      <a:latin typeface="Times New Roman" panose="02020603050405020304" pitchFamily="18" charset="0"/>
                    </a:rPr>
                    <a:t>B</a:t>
                  </a:r>
                  <a:endParaRPr lang="en-US" altLang="zh-CN" sz="4800" dirty="0">
                    <a:latin typeface="Times New Roman" panose="02020603050405020304" pitchFamily="18" charset="0"/>
                  </a:endParaRPr>
                </a:p>
              </p:txBody>
            </p:sp>
            <p:sp>
              <p:nvSpPr>
                <p:cNvPr id="21530" name="Rectangle 17"/>
                <p:cNvSpPr/>
                <p:nvPr/>
              </p:nvSpPr>
              <p:spPr>
                <a:xfrm>
                  <a:off x="2890" y="8550"/>
                  <a:ext cx="360" cy="468"/>
                </a:xfrm>
                <a:prstGeom prst="rect">
                  <a:avLst/>
                </a:prstGeom>
                <a:noFill/>
                <a:ln w="9525">
                  <a:noFill/>
                </a:ln>
              </p:spPr>
              <p:txBody>
                <a:bodyPr lIns="0" rIns="0"/>
                <a:lstStyle/>
                <a:p>
                  <a:pPr algn="just"/>
                  <a:r>
                    <a:rPr lang="en-US" altLang="zh-CN" sz="1800" i="1" dirty="0">
                      <a:latin typeface="Times New Roman" panose="02020603050405020304" pitchFamily="18" charset="0"/>
                    </a:rPr>
                    <a:t>A</a:t>
                  </a:r>
                  <a:endParaRPr lang="en-US" altLang="zh-CN" sz="4800" dirty="0">
                    <a:latin typeface="Times New Roman" panose="02020603050405020304" pitchFamily="18" charset="0"/>
                  </a:endParaRPr>
                </a:p>
              </p:txBody>
            </p:sp>
            <p:sp>
              <p:nvSpPr>
                <p:cNvPr id="21531" name="Rectangle 18"/>
                <p:cNvSpPr/>
                <p:nvPr/>
              </p:nvSpPr>
              <p:spPr>
                <a:xfrm>
                  <a:off x="3100" y="8550"/>
                  <a:ext cx="1260" cy="624"/>
                </a:xfrm>
                <a:prstGeom prst="rect">
                  <a:avLst/>
                </a:prstGeom>
                <a:noFill/>
                <a:ln w="9525">
                  <a:noFill/>
                </a:ln>
              </p:spPr>
              <p:txBody>
                <a:bodyPr/>
                <a:lstStyle/>
                <a:p>
                  <a:r>
                    <a:rPr lang="en-US" altLang="zh-CN" sz="1800" i="1" dirty="0">
                      <a:latin typeface="Times New Roman" panose="02020603050405020304" pitchFamily="18" charset="0"/>
                    </a:rPr>
                    <a:t>CP</a:t>
                  </a:r>
                  <a:r>
                    <a:rPr lang="en-US" altLang="zh-CN" sz="1800" i="1" baseline="-25000" dirty="0">
                      <a:latin typeface="Times New Roman" panose="02020603050405020304" pitchFamily="18" charset="0"/>
                    </a:rPr>
                    <a:t>D</a:t>
                  </a:r>
                  <a:r>
                    <a:rPr lang="en-US" altLang="zh-CN" sz="1800" baseline="-25000" dirty="0">
                      <a:latin typeface="Times New Roman" panose="02020603050405020304" pitchFamily="18" charset="0"/>
                    </a:rPr>
                    <a:t> </a:t>
                  </a:r>
                  <a:r>
                    <a:rPr lang="en-US" altLang="zh-CN" sz="1800" i="1" baseline="-25000" dirty="0">
                      <a:latin typeface="Times New Roman" panose="02020603050405020304" pitchFamily="18" charset="0"/>
                    </a:rPr>
                    <a:t> </a:t>
                  </a:r>
                  <a:r>
                    <a:rPr lang="en-US" altLang="zh-CN" sz="1800" i="1" dirty="0">
                      <a:latin typeface="Times New Roman" panose="02020603050405020304" pitchFamily="18" charset="0"/>
                    </a:rPr>
                    <a:t>CP</a:t>
                  </a:r>
                  <a:r>
                    <a:rPr lang="en-US" altLang="zh-CN" sz="1800" i="1" baseline="-25000" dirty="0">
                      <a:latin typeface="Times New Roman" panose="02020603050405020304" pitchFamily="18" charset="0"/>
                    </a:rPr>
                    <a:t>u</a:t>
                  </a:r>
                  <a:endParaRPr lang="en-US" altLang="zh-CN" sz="4800" dirty="0">
                    <a:latin typeface="Times New Roman" panose="02020603050405020304" pitchFamily="18" charset="0"/>
                  </a:endParaRPr>
                </a:p>
              </p:txBody>
            </p:sp>
            <p:sp>
              <p:nvSpPr>
                <p:cNvPr id="21532" name="Rectangle 19"/>
                <p:cNvSpPr/>
                <p:nvPr/>
              </p:nvSpPr>
              <p:spPr>
                <a:xfrm>
                  <a:off x="5040" y="3810"/>
                  <a:ext cx="1395" cy="78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just"/>
                  <a:r>
                    <a:rPr lang="en-US" altLang="zh-CN" sz="1800" dirty="0">
                      <a:latin typeface="Times New Roman" panose="02020603050405020304" pitchFamily="18" charset="0"/>
                    </a:rPr>
                    <a:t>         </a:t>
                  </a:r>
                </a:p>
                <a:p>
                  <a:pPr algn="ctr">
                    <a:lnSpc>
                      <a:spcPct val="160000"/>
                    </a:lnSpc>
                  </a:pPr>
                  <a:r>
                    <a:rPr lang="en-US" altLang="zh-CN" sz="1800" i="1" dirty="0">
                      <a:latin typeface="Times New Roman" panose="02020603050405020304" pitchFamily="18" charset="0"/>
                    </a:rPr>
                    <a:t>S   T</a:t>
                  </a:r>
                  <a:r>
                    <a:rPr lang="en-US" altLang="zh-CN" sz="1800" baseline="-25000" dirty="0">
                      <a:latin typeface="Times New Roman" panose="02020603050405020304" pitchFamily="18" charset="0"/>
                    </a:rPr>
                    <a:t>1</a:t>
                  </a:r>
                  <a:r>
                    <a:rPr lang="en-US" altLang="zh-CN" sz="1800" dirty="0">
                      <a:latin typeface="Times New Roman" panose="02020603050405020304" pitchFamily="18" charset="0"/>
                    </a:rPr>
                    <a:t>    </a:t>
                  </a: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533" name="Rectangle 20"/>
                <p:cNvSpPr/>
                <p:nvPr/>
              </p:nvSpPr>
              <p:spPr>
                <a:xfrm>
                  <a:off x="2992" y="3810"/>
                  <a:ext cx="1395" cy="78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just"/>
                  <a:r>
                    <a:rPr lang="en-US" altLang="zh-CN" sz="1800" dirty="0">
                      <a:latin typeface="Times New Roman" panose="02020603050405020304" pitchFamily="18" charset="0"/>
                    </a:rPr>
                    <a:t>          </a:t>
                  </a:r>
                </a:p>
                <a:p>
                  <a:pPr algn="ctr">
                    <a:lnSpc>
                      <a:spcPct val="160000"/>
                    </a:lnSpc>
                  </a:pPr>
                  <a:r>
                    <a:rPr lang="en-US" altLang="zh-CN" sz="1800" i="1" dirty="0">
                      <a:latin typeface="Times New Roman" panose="02020603050405020304" pitchFamily="18" charset="0"/>
                    </a:rPr>
                    <a:t>S   T</a:t>
                  </a:r>
                  <a:r>
                    <a:rPr lang="en-US" altLang="zh-CN" sz="1800" baseline="-25000" dirty="0">
                      <a:latin typeface="Times New Roman" panose="02020603050405020304" pitchFamily="18" charset="0"/>
                    </a:rPr>
                    <a:t>0</a:t>
                  </a:r>
                  <a:r>
                    <a:rPr lang="en-US" altLang="zh-CN" sz="1800" dirty="0">
                      <a:latin typeface="Times New Roman" panose="02020603050405020304" pitchFamily="18" charset="0"/>
                    </a:rPr>
                    <a:t>    </a:t>
                  </a: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534" name="Line 21"/>
                <p:cNvSpPr/>
                <p:nvPr/>
              </p:nvSpPr>
              <p:spPr>
                <a:xfrm>
                  <a:off x="3897" y="4271"/>
                  <a:ext cx="490" cy="1"/>
                </a:xfrm>
                <a:prstGeom prst="line">
                  <a:avLst/>
                </a:prstGeom>
                <a:ln w="9525" cap="flat" cmpd="sng">
                  <a:solidFill>
                    <a:srgbClr val="0000FF"/>
                  </a:solidFill>
                  <a:prstDash val="solid"/>
                  <a:headEnd type="none" w="med" len="med"/>
                  <a:tailEnd type="none" w="med" len="med"/>
                </a:ln>
              </p:spPr>
            </p:sp>
            <p:sp>
              <p:nvSpPr>
                <p:cNvPr id="21535" name="Line 22"/>
                <p:cNvSpPr/>
                <p:nvPr/>
              </p:nvSpPr>
              <p:spPr>
                <a:xfrm>
                  <a:off x="3895" y="4278"/>
                  <a:ext cx="0" cy="312"/>
                </a:xfrm>
                <a:prstGeom prst="line">
                  <a:avLst/>
                </a:prstGeom>
                <a:ln w="9525" cap="flat" cmpd="sng">
                  <a:solidFill>
                    <a:srgbClr val="0000FF"/>
                  </a:solidFill>
                  <a:prstDash val="solid"/>
                  <a:headEnd type="none" w="med" len="med"/>
                  <a:tailEnd type="none" w="med" len="med"/>
                </a:ln>
              </p:spPr>
            </p:sp>
            <p:sp>
              <p:nvSpPr>
                <p:cNvPr id="21536" name="Freeform 23"/>
                <p:cNvSpPr/>
                <p:nvPr/>
              </p:nvSpPr>
              <p:spPr>
                <a:xfrm rot="-5400000">
                  <a:off x="3577" y="4438"/>
                  <a:ext cx="108" cy="198"/>
                </a:xfrm>
                <a:custGeom>
                  <a:avLst/>
                  <a:gdLst/>
                  <a:ahLst/>
                  <a:cxnLst>
                    <a:cxn ang="0">
                      <a:pos x="0" y="0"/>
                    </a:cxn>
                    <a:cxn ang="0">
                      <a:pos x="108" y="89"/>
                    </a:cxn>
                    <a:cxn ang="0">
                      <a:pos x="0" y="198"/>
                    </a:cxn>
                  </a:cxnLst>
                  <a:rect l="0" t="0" r="0" b="0"/>
                  <a:pathLst>
                    <a:path w="220" h="312">
                      <a:moveTo>
                        <a:pt x="0" y="0"/>
                      </a:moveTo>
                      <a:lnTo>
                        <a:pt x="220" y="140"/>
                      </a:lnTo>
                      <a:lnTo>
                        <a:pt x="1" y="312"/>
                      </a:lnTo>
                    </a:path>
                  </a:pathLst>
                </a:custGeom>
                <a:noFill/>
                <a:ln w="9525" cap="flat" cmpd="sng">
                  <a:solidFill>
                    <a:srgbClr val="0000FF">
                      <a:alpha val="100000"/>
                    </a:srgbClr>
                  </a:solidFill>
                  <a:prstDash val="solid"/>
                  <a:round/>
                  <a:headEnd type="none" w="med" len="med"/>
                  <a:tailEnd type="none" w="med" len="med"/>
                </a:ln>
              </p:spPr>
              <p:txBody>
                <a:bodyPr/>
                <a:lstStyle/>
                <a:p>
                  <a:endParaRPr lang="zh-CN" altLang="en-US"/>
                </a:p>
              </p:txBody>
            </p:sp>
            <p:sp>
              <p:nvSpPr>
                <p:cNvPr id="21537" name="Line 24"/>
                <p:cNvSpPr/>
                <p:nvPr/>
              </p:nvSpPr>
              <p:spPr>
                <a:xfrm flipV="1">
                  <a:off x="3355" y="3030"/>
                  <a:ext cx="0" cy="780"/>
                </a:xfrm>
                <a:prstGeom prst="line">
                  <a:avLst/>
                </a:prstGeom>
                <a:ln w="9525" cap="flat" cmpd="sng">
                  <a:solidFill>
                    <a:srgbClr val="0000FF"/>
                  </a:solidFill>
                  <a:prstDash val="solid"/>
                  <a:headEnd type="none" w="med" len="med"/>
                  <a:tailEnd type="none" w="med" len="med"/>
                </a:ln>
              </p:spPr>
            </p:sp>
            <p:sp>
              <p:nvSpPr>
                <p:cNvPr id="21538" name="Oval 25"/>
                <p:cNvSpPr/>
                <p:nvPr/>
              </p:nvSpPr>
              <p:spPr>
                <a:xfrm>
                  <a:off x="3329" y="3292"/>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539" name="Line 26"/>
                <p:cNvSpPr/>
                <p:nvPr/>
              </p:nvSpPr>
              <p:spPr>
                <a:xfrm>
                  <a:off x="3375" y="3322"/>
                  <a:ext cx="1355" cy="0"/>
                </a:xfrm>
                <a:prstGeom prst="line">
                  <a:avLst/>
                </a:prstGeom>
                <a:ln w="9525" cap="flat" cmpd="sng">
                  <a:solidFill>
                    <a:srgbClr val="0000FF"/>
                  </a:solidFill>
                  <a:prstDash val="solid"/>
                  <a:headEnd type="none" w="med" len="med"/>
                  <a:tailEnd type="none" w="med" len="med"/>
                </a:ln>
              </p:spPr>
            </p:sp>
            <p:sp>
              <p:nvSpPr>
                <p:cNvPr id="21540" name="Line 27"/>
                <p:cNvSpPr/>
                <p:nvPr/>
              </p:nvSpPr>
              <p:spPr>
                <a:xfrm>
                  <a:off x="4213" y="3543"/>
                  <a:ext cx="0" cy="198"/>
                </a:xfrm>
                <a:prstGeom prst="line">
                  <a:avLst/>
                </a:prstGeom>
                <a:ln w="9525" cap="flat" cmpd="sng">
                  <a:solidFill>
                    <a:srgbClr val="0000FF"/>
                  </a:solidFill>
                  <a:prstDash val="solid"/>
                  <a:headEnd type="none" w="med" len="med"/>
                  <a:tailEnd type="none" w="med" len="med"/>
                </a:ln>
              </p:spPr>
            </p:sp>
            <p:sp>
              <p:nvSpPr>
                <p:cNvPr id="21541" name="Oval 28"/>
                <p:cNvSpPr/>
                <p:nvPr/>
              </p:nvSpPr>
              <p:spPr>
                <a:xfrm>
                  <a:off x="4184" y="3737"/>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542" name="Line 29"/>
                <p:cNvSpPr/>
                <p:nvPr/>
              </p:nvSpPr>
              <p:spPr>
                <a:xfrm>
                  <a:off x="4218" y="3538"/>
                  <a:ext cx="323" cy="0"/>
                </a:xfrm>
                <a:prstGeom prst="line">
                  <a:avLst/>
                </a:prstGeom>
                <a:ln w="9525" cap="flat" cmpd="sng">
                  <a:solidFill>
                    <a:srgbClr val="0000FF"/>
                  </a:solidFill>
                  <a:prstDash val="solid"/>
                  <a:headEnd type="none" w="med" len="med"/>
                  <a:tailEnd type="none" w="med" len="med"/>
                </a:ln>
              </p:spPr>
            </p:sp>
            <p:sp>
              <p:nvSpPr>
                <p:cNvPr id="21543" name="Line 30"/>
                <p:cNvSpPr/>
                <p:nvPr/>
              </p:nvSpPr>
              <p:spPr>
                <a:xfrm flipH="1">
                  <a:off x="4548" y="3538"/>
                  <a:ext cx="2" cy="3452"/>
                </a:xfrm>
                <a:prstGeom prst="line">
                  <a:avLst/>
                </a:prstGeom>
                <a:ln w="9525" cap="flat" cmpd="sng">
                  <a:solidFill>
                    <a:srgbClr val="0000FF"/>
                  </a:solidFill>
                  <a:prstDash val="solid"/>
                  <a:headEnd type="none" w="med" len="med"/>
                  <a:tailEnd type="none" w="med" len="med"/>
                </a:ln>
              </p:spPr>
            </p:sp>
            <p:sp>
              <p:nvSpPr>
                <p:cNvPr id="21544" name="Line 31"/>
                <p:cNvSpPr/>
                <p:nvPr/>
              </p:nvSpPr>
              <p:spPr>
                <a:xfrm flipH="1">
                  <a:off x="4712" y="3327"/>
                  <a:ext cx="8" cy="3777"/>
                </a:xfrm>
                <a:prstGeom prst="line">
                  <a:avLst/>
                </a:prstGeom>
                <a:ln w="9525" cap="flat" cmpd="sng">
                  <a:solidFill>
                    <a:srgbClr val="0000FF"/>
                  </a:solidFill>
                  <a:prstDash val="solid"/>
                  <a:headEnd type="none" w="med" len="med"/>
                  <a:tailEnd type="none" w="med" len="med"/>
                </a:ln>
              </p:spPr>
            </p:sp>
            <p:sp>
              <p:nvSpPr>
                <p:cNvPr id="21545" name="Oval 32"/>
                <p:cNvSpPr/>
                <p:nvPr/>
              </p:nvSpPr>
              <p:spPr>
                <a:xfrm>
                  <a:off x="3115" y="4591"/>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546" name="Oval 33"/>
                <p:cNvSpPr/>
                <p:nvPr/>
              </p:nvSpPr>
              <p:spPr>
                <a:xfrm>
                  <a:off x="3597" y="4584"/>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547" name="Oval 34"/>
                <p:cNvSpPr/>
                <p:nvPr/>
              </p:nvSpPr>
              <p:spPr>
                <a:xfrm>
                  <a:off x="3989" y="4589"/>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548" name="Oval 35"/>
                <p:cNvSpPr/>
                <p:nvPr/>
              </p:nvSpPr>
              <p:spPr>
                <a:xfrm>
                  <a:off x="4218" y="4589"/>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549" name="Line 36"/>
                <p:cNvSpPr/>
                <p:nvPr/>
              </p:nvSpPr>
              <p:spPr>
                <a:xfrm>
                  <a:off x="4250" y="4655"/>
                  <a:ext cx="0" cy="386"/>
                </a:xfrm>
                <a:prstGeom prst="line">
                  <a:avLst/>
                </a:prstGeom>
                <a:ln w="9525" cap="flat" cmpd="sng">
                  <a:solidFill>
                    <a:srgbClr val="0000FF"/>
                  </a:solidFill>
                  <a:prstDash val="solid"/>
                  <a:headEnd type="none" w="med" len="med"/>
                  <a:tailEnd type="none" w="med" len="med"/>
                </a:ln>
              </p:spPr>
            </p:sp>
            <p:sp>
              <p:nvSpPr>
                <p:cNvPr id="21550" name="Oval 37"/>
                <p:cNvSpPr/>
                <p:nvPr/>
              </p:nvSpPr>
              <p:spPr>
                <a:xfrm>
                  <a:off x="4224" y="5001"/>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551" name="Rectangle 38"/>
                <p:cNvSpPr/>
                <p:nvPr/>
              </p:nvSpPr>
              <p:spPr>
                <a:xfrm>
                  <a:off x="3955" y="5058"/>
                  <a:ext cx="425" cy="30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552" name="Line 39"/>
                <p:cNvSpPr/>
                <p:nvPr/>
              </p:nvSpPr>
              <p:spPr>
                <a:xfrm>
                  <a:off x="4295" y="5370"/>
                  <a:ext cx="0" cy="1248"/>
                </a:xfrm>
                <a:prstGeom prst="line">
                  <a:avLst/>
                </a:prstGeom>
                <a:ln w="9525" cap="flat" cmpd="sng">
                  <a:solidFill>
                    <a:srgbClr val="0000FF"/>
                  </a:solidFill>
                  <a:prstDash val="solid"/>
                  <a:headEnd type="none" w="med" len="med"/>
                  <a:tailEnd type="none" w="med" len="med"/>
                </a:ln>
              </p:spPr>
            </p:sp>
            <p:sp>
              <p:nvSpPr>
                <p:cNvPr id="21553" name="Line 40"/>
                <p:cNvSpPr/>
                <p:nvPr/>
              </p:nvSpPr>
              <p:spPr>
                <a:xfrm>
                  <a:off x="3627" y="4640"/>
                  <a:ext cx="0" cy="1134"/>
                </a:xfrm>
                <a:prstGeom prst="line">
                  <a:avLst/>
                </a:prstGeom>
                <a:ln w="9525" cap="flat" cmpd="sng">
                  <a:solidFill>
                    <a:srgbClr val="0000FF"/>
                  </a:solidFill>
                  <a:prstDash val="solid"/>
                  <a:headEnd type="none" w="med" len="med"/>
                  <a:tailEnd type="none" w="med" len="med"/>
                </a:ln>
              </p:spPr>
            </p:sp>
            <p:sp>
              <p:nvSpPr>
                <p:cNvPr id="21554" name="Line 41"/>
                <p:cNvSpPr/>
                <p:nvPr/>
              </p:nvSpPr>
              <p:spPr>
                <a:xfrm>
                  <a:off x="3141" y="4661"/>
                  <a:ext cx="0" cy="1020"/>
                </a:xfrm>
                <a:prstGeom prst="line">
                  <a:avLst/>
                </a:prstGeom>
                <a:ln w="9525" cap="flat" cmpd="sng">
                  <a:solidFill>
                    <a:srgbClr val="0000FF"/>
                  </a:solidFill>
                  <a:prstDash val="solid"/>
                  <a:headEnd type="none" w="med" len="med"/>
                  <a:tailEnd type="none" w="med" len="med"/>
                </a:ln>
              </p:spPr>
            </p:sp>
            <p:sp>
              <p:nvSpPr>
                <p:cNvPr id="21555" name="Line 42"/>
                <p:cNvSpPr/>
                <p:nvPr/>
              </p:nvSpPr>
              <p:spPr>
                <a:xfrm flipV="1">
                  <a:off x="5937" y="4260"/>
                  <a:ext cx="498" cy="3"/>
                </a:xfrm>
                <a:prstGeom prst="line">
                  <a:avLst/>
                </a:prstGeom>
                <a:ln w="9525" cap="flat" cmpd="sng">
                  <a:solidFill>
                    <a:srgbClr val="0000FF"/>
                  </a:solidFill>
                  <a:prstDash val="solid"/>
                  <a:headEnd type="none" w="med" len="med"/>
                  <a:tailEnd type="none" w="med" len="med"/>
                </a:ln>
              </p:spPr>
            </p:sp>
            <p:sp>
              <p:nvSpPr>
                <p:cNvPr id="21556" name="Line 43"/>
                <p:cNvSpPr/>
                <p:nvPr/>
              </p:nvSpPr>
              <p:spPr>
                <a:xfrm>
                  <a:off x="5935" y="4270"/>
                  <a:ext cx="0" cy="312"/>
                </a:xfrm>
                <a:prstGeom prst="line">
                  <a:avLst/>
                </a:prstGeom>
                <a:ln w="9525" cap="flat" cmpd="sng">
                  <a:solidFill>
                    <a:srgbClr val="0000FF"/>
                  </a:solidFill>
                  <a:prstDash val="solid"/>
                  <a:headEnd type="none" w="med" len="med"/>
                  <a:tailEnd type="none" w="med" len="med"/>
                </a:ln>
              </p:spPr>
            </p:sp>
            <p:sp>
              <p:nvSpPr>
                <p:cNvPr id="21557" name="Freeform 44"/>
                <p:cNvSpPr/>
                <p:nvPr/>
              </p:nvSpPr>
              <p:spPr>
                <a:xfrm rot="-5400000">
                  <a:off x="5615" y="4430"/>
                  <a:ext cx="108" cy="198"/>
                </a:xfrm>
                <a:custGeom>
                  <a:avLst/>
                  <a:gdLst/>
                  <a:ahLst/>
                  <a:cxnLst>
                    <a:cxn ang="0">
                      <a:pos x="0" y="0"/>
                    </a:cxn>
                    <a:cxn ang="0">
                      <a:pos x="108" y="89"/>
                    </a:cxn>
                    <a:cxn ang="0">
                      <a:pos x="0" y="198"/>
                    </a:cxn>
                  </a:cxnLst>
                  <a:rect l="0" t="0" r="0" b="0"/>
                  <a:pathLst>
                    <a:path w="220" h="312">
                      <a:moveTo>
                        <a:pt x="0" y="0"/>
                      </a:moveTo>
                      <a:lnTo>
                        <a:pt x="220" y="140"/>
                      </a:lnTo>
                      <a:lnTo>
                        <a:pt x="1" y="312"/>
                      </a:lnTo>
                    </a:path>
                  </a:pathLst>
                </a:custGeom>
                <a:noFill/>
                <a:ln w="9525" cap="flat" cmpd="sng">
                  <a:solidFill>
                    <a:srgbClr val="0000FF">
                      <a:alpha val="100000"/>
                    </a:srgbClr>
                  </a:solidFill>
                  <a:prstDash val="solid"/>
                  <a:round/>
                  <a:headEnd type="none" w="med" len="med"/>
                  <a:tailEnd type="none" w="med" len="med"/>
                </a:ln>
              </p:spPr>
              <p:txBody>
                <a:bodyPr/>
                <a:lstStyle/>
                <a:p>
                  <a:endParaRPr lang="zh-CN" altLang="en-US"/>
                </a:p>
              </p:txBody>
            </p:sp>
            <p:sp>
              <p:nvSpPr>
                <p:cNvPr id="21558" name="Line 45"/>
                <p:cNvSpPr/>
                <p:nvPr/>
              </p:nvSpPr>
              <p:spPr>
                <a:xfrm flipV="1">
                  <a:off x="5395" y="3022"/>
                  <a:ext cx="0" cy="780"/>
                </a:xfrm>
                <a:prstGeom prst="line">
                  <a:avLst/>
                </a:prstGeom>
                <a:ln w="9525" cap="flat" cmpd="sng">
                  <a:solidFill>
                    <a:srgbClr val="0000FF"/>
                  </a:solidFill>
                  <a:prstDash val="solid"/>
                  <a:headEnd type="none" w="med" len="med"/>
                  <a:tailEnd type="none" w="med" len="med"/>
                </a:ln>
              </p:spPr>
            </p:sp>
            <p:sp>
              <p:nvSpPr>
                <p:cNvPr id="21559" name="Oval 46"/>
                <p:cNvSpPr/>
                <p:nvPr/>
              </p:nvSpPr>
              <p:spPr>
                <a:xfrm>
                  <a:off x="5369" y="3302"/>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560" name="Line 47"/>
                <p:cNvSpPr/>
                <p:nvPr/>
              </p:nvSpPr>
              <p:spPr>
                <a:xfrm>
                  <a:off x="5383" y="3329"/>
                  <a:ext cx="1355" cy="0"/>
                </a:xfrm>
                <a:prstGeom prst="line">
                  <a:avLst/>
                </a:prstGeom>
                <a:ln w="9525" cap="flat" cmpd="sng">
                  <a:solidFill>
                    <a:srgbClr val="0000FF"/>
                  </a:solidFill>
                  <a:prstDash val="solid"/>
                  <a:headEnd type="none" w="med" len="med"/>
                  <a:tailEnd type="none" w="med" len="med"/>
                </a:ln>
              </p:spPr>
            </p:sp>
            <p:sp>
              <p:nvSpPr>
                <p:cNvPr id="21561" name="Line 48"/>
                <p:cNvSpPr/>
                <p:nvPr/>
              </p:nvSpPr>
              <p:spPr>
                <a:xfrm>
                  <a:off x="6218" y="3530"/>
                  <a:ext cx="0" cy="210"/>
                </a:xfrm>
                <a:prstGeom prst="line">
                  <a:avLst/>
                </a:prstGeom>
                <a:ln w="9525" cap="flat" cmpd="sng">
                  <a:solidFill>
                    <a:srgbClr val="0000FF"/>
                  </a:solidFill>
                  <a:prstDash val="solid"/>
                  <a:headEnd type="none" w="med" len="med"/>
                  <a:tailEnd type="none" w="med" len="med"/>
                </a:ln>
              </p:spPr>
            </p:sp>
            <p:sp>
              <p:nvSpPr>
                <p:cNvPr id="21562" name="Oval 49"/>
                <p:cNvSpPr/>
                <p:nvPr/>
              </p:nvSpPr>
              <p:spPr>
                <a:xfrm>
                  <a:off x="6186" y="3750"/>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563" name="Line 50"/>
                <p:cNvSpPr/>
                <p:nvPr/>
              </p:nvSpPr>
              <p:spPr>
                <a:xfrm>
                  <a:off x="6223" y="3530"/>
                  <a:ext cx="323" cy="0"/>
                </a:xfrm>
                <a:prstGeom prst="line">
                  <a:avLst/>
                </a:prstGeom>
                <a:ln w="9525" cap="flat" cmpd="sng">
                  <a:solidFill>
                    <a:srgbClr val="0000FF"/>
                  </a:solidFill>
                  <a:prstDash val="solid"/>
                  <a:headEnd type="none" w="med" len="med"/>
                  <a:tailEnd type="none" w="med" len="med"/>
                </a:ln>
              </p:spPr>
            </p:sp>
            <p:sp>
              <p:nvSpPr>
                <p:cNvPr id="21564" name="Line 51"/>
                <p:cNvSpPr/>
                <p:nvPr/>
              </p:nvSpPr>
              <p:spPr>
                <a:xfrm>
                  <a:off x="6560" y="3530"/>
                  <a:ext cx="0" cy="3713"/>
                </a:xfrm>
                <a:prstGeom prst="line">
                  <a:avLst/>
                </a:prstGeom>
                <a:ln w="9525" cap="flat" cmpd="sng">
                  <a:solidFill>
                    <a:srgbClr val="0000FF"/>
                  </a:solidFill>
                  <a:prstDash val="solid"/>
                  <a:headEnd type="none" w="med" len="med"/>
                  <a:tailEnd type="none" w="med" len="med"/>
                </a:ln>
              </p:spPr>
            </p:sp>
            <p:sp>
              <p:nvSpPr>
                <p:cNvPr id="21565" name="Line 52"/>
                <p:cNvSpPr/>
                <p:nvPr/>
              </p:nvSpPr>
              <p:spPr>
                <a:xfrm>
                  <a:off x="6739" y="3327"/>
                  <a:ext cx="1" cy="3987"/>
                </a:xfrm>
                <a:prstGeom prst="line">
                  <a:avLst/>
                </a:prstGeom>
                <a:ln w="9525" cap="flat" cmpd="sng">
                  <a:solidFill>
                    <a:srgbClr val="0000FF"/>
                  </a:solidFill>
                  <a:prstDash val="solid"/>
                  <a:headEnd type="none" w="med" len="med"/>
                  <a:tailEnd type="none" w="med" len="med"/>
                </a:ln>
              </p:spPr>
            </p:sp>
            <p:sp>
              <p:nvSpPr>
                <p:cNvPr id="21566" name="Oval 53"/>
                <p:cNvSpPr/>
                <p:nvPr/>
              </p:nvSpPr>
              <p:spPr>
                <a:xfrm>
                  <a:off x="5155" y="4601"/>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567" name="Oval 54"/>
                <p:cNvSpPr/>
                <p:nvPr/>
              </p:nvSpPr>
              <p:spPr>
                <a:xfrm>
                  <a:off x="5635" y="4585"/>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568" name="Oval 55"/>
                <p:cNvSpPr/>
                <p:nvPr/>
              </p:nvSpPr>
              <p:spPr>
                <a:xfrm>
                  <a:off x="6038" y="4581"/>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569" name="Oval 56"/>
                <p:cNvSpPr/>
                <p:nvPr/>
              </p:nvSpPr>
              <p:spPr>
                <a:xfrm>
                  <a:off x="6258" y="4581"/>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570" name="Oval 57"/>
                <p:cNvSpPr/>
                <p:nvPr/>
              </p:nvSpPr>
              <p:spPr>
                <a:xfrm>
                  <a:off x="6255" y="5008"/>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571" name="Line 58"/>
                <p:cNvSpPr/>
                <p:nvPr/>
              </p:nvSpPr>
              <p:spPr>
                <a:xfrm>
                  <a:off x="5661" y="4644"/>
                  <a:ext cx="2" cy="1164"/>
                </a:xfrm>
                <a:prstGeom prst="line">
                  <a:avLst/>
                </a:prstGeom>
                <a:ln w="9525" cap="flat" cmpd="sng">
                  <a:solidFill>
                    <a:srgbClr val="0000FF"/>
                  </a:solidFill>
                  <a:prstDash val="solid"/>
                  <a:headEnd type="none" w="med" len="med"/>
                  <a:tailEnd type="none" w="med" len="med"/>
                </a:ln>
              </p:spPr>
            </p:sp>
            <p:sp>
              <p:nvSpPr>
                <p:cNvPr id="21572" name="Line 59"/>
                <p:cNvSpPr/>
                <p:nvPr/>
              </p:nvSpPr>
              <p:spPr>
                <a:xfrm>
                  <a:off x="5175" y="4662"/>
                  <a:ext cx="0" cy="1020"/>
                </a:xfrm>
                <a:prstGeom prst="line">
                  <a:avLst/>
                </a:prstGeom>
                <a:ln w="9525" cap="flat" cmpd="sng">
                  <a:solidFill>
                    <a:srgbClr val="0000FF"/>
                  </a:solidFill>
                  <a:prstDash val="solid"/>
                  <a:headEnd type="none" w="med" len="med"/>
                  <a:tailEnd type="none" w="med" len="med"/>
                </a:ln>
              </p:spPr>
            </p:sp>
            <p:sp>
              <p:nvSpPr>
                <p:cNvPr id="21573" name="Rectangle 60"/>
                <p:cNvSpPr/>
                <p:nvPr/>
              </p:nvSpPr>
              <p:spPr>
                <a:xfrm>
                  <a:off x="5975" y="5074"/>
                  <a:ext cx="425" cy="30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574" name="Line 61"/>
                <p:cNvSpPr/>
                <p:nvPr/>
              </p:nvSpPr>
              <p:spPr>
                <a:xfrm>
                  <a:off x="6284" y="4641"/>
                  <a:ext cx="0" cy="351"/>
                </a:xfrm>
                <a:prstGeom prst="line">
                  <a:avLst/>
                </a:prstGeom>
                <a:ln w="9525" cap="flat" cmpd="sng">
                  <a:solidFill>
                    <a:srgbClr val="0000FF"/>
                  </a:solidFill>
                  <a:prstDash val="solid"/>
                  <a:headEnd type="none" w="med" len="med"/>
                  <a:tailEnd type="none" w="med" len="med"/>
                </a:ln>
              </p:spPr>
            </p:sp>
            <p:sp>
              <p:nvSpPr>
                <p:cNvPr id="21575" name="Line 62"/>
                <p:cNvSpPr/>
                <p:nvPr/>
              </p:nvSpPr>
              <p:spPr>
                <a:xfrm>
                  <a:off x="6292" y="5385"/>
                  <a:ext cx="0" cy="471"/>
                </a:xfrm>
                <a:prstGeom prst="line">
                  <a:avLst/>
                </a:prstGeom>
                <a:ln w="9525" cap="flat" cmpd="sng">
                  <a:solidFill>
                    <a:srgbClr val="0000FF"/>
                  </a:solidFill>
                  <a:prstDash val="solid"/>
                  <a:headEnd type="none" w="med" len="med"/>
                  <a:tailEnd type="none" w="med" len="med"/>
                </a:ln>
              </p:spPr>
            </p:sp>
            <p:sp>
              <p:nvSpPr>
                <p:cNvPr id="21576" name="Line 63"/>
                <p:cNvSpPr/>
                <p:nvPr/>
              </p:nvSpPr>
              <p:spPr>
                <a:xfrm>
                  <a:off x="4055" y="5370"/>
                  <a:ext cx="0" cy="156"/>
                </a:xfrm>
                <a:prstGeom prst="line">
                  <a:avLst/>
                </a:prstGeom>
                <a:ln w="9525" cap="flat" cmpd="sng">
                  <a:solidFill>
                    <a:srgbClr val="0000FF"/>
                  </a:solidFill>
                  <a:prstDash val="solid"/>
                  <a:headEnd type="none" w="med" len="med"/>
                  <a:tailEnd type="none" w="med" len="med"/>
                </a:ln>
              </p:spPr>
            </p:sp>
            <p:sp>
              <p:nvSpPr>
                <p:cNvPr id="21577" name="Line 64"/>
                <p:cNvSpPr/>
                <p:nvPr/>
              </p:nvSpPr>
              <p:spPr>
                <a:xfrm>
                  <a:off x="3155" y="5526"/>
                  <a:ext cx="900" cy="0"/>
                </a:xfrm>
                <a:prstGeom prst="line">
                  <a:avLst/>
                </a:prstGeom>
                <a:ln w="9525" cap="flat" cmpd="sng">
                  <a:solidFill>
                    <a:srgbClr val="0000FF"/>
                  </a:solidFill>
                  <a:prstDash val="solid"/>
                  <a:headEnd type="none" w="med" len="med"/>
                  <a:tailEnd type="none" w="med" len="med"/>
                </a:ln>
              </p:spPr>
            </p:sp>
            <p:sp>
              <p:nvSpPr>
                <p:cNvPr id="21578" name="Oval 65"/>
                <p:cNvSpPr/>
                <p:nvPr/>
              </p:nvSpPr>
              <p:spPr>
                <a:xfrm>
                  <a:off x="3118" y="5689"/>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579" name="Rectangle 66"/>
                <p:cNvSpPr/>
                <p:nvPr/>
              </p:nvSpPr>
              <p:spPr>
                <a:xfrm>
                  <a:off x="2935" y="5758"/>
                  <a:ext cx="369" cy="24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580" name="Line 67"/>
                <p:cNvSpPr/>
                <p:nvPr/>
              </p:nvSpPr>
              <p:spPr>
                <a:xfrm>
                  <a:off x="2992" y="6009"/>
                  <a:ext cx="0" cy="2551"/>
                </a:xfrm>
                <a:prstGeom prst="line">
                  <a:avLst/>
                </a:prstGeom>
                <a:ln w="9525" cap="flat" cmpd="sng">
                  <a:solidFill>
                    <a:srgbClr val="0000FF"/>
                  </a:solidFill>
                  <a:prstDash val="solid"/>
                  <a:headEnd type="none" w="med" len="med"/>
                  <a:tailEnd type="none" w="med" len="med"/>
                </a:ln>
              </p:spPr>
            </p:sp>
            <p:sp>
              <p:nvSpPr>
                <p:cNvPr id="21581" name="Line 68"/>
                <p:cNvSpPr/>
                <p:nvPr/>
              </p:nvSpPr>
              <p:spPr>
                <a:xfrm>
                  <a:off x="3113" y="5995"/>
                  <a:ext cx="0" cy="629"/>
                </a:xfrm>
                <a:prstGeom prst="line">
                  <a:avLst/>
                </a:prstGeom>
                <a:ln w="9525" cap="flat" cmpd="sng">
                  <a:solidFill>
                    <a:srgbClr val="0000FF"/>
                  </a:solidFill>
                  <a:prstDash val="solid"/>
                  <a:headEnd type="none" w="med" len="med"/>
                  <a:tailEnd type="none" w="med" len="med"/>
                </a:ln>
              </p:spPr>
            </p:sp>
            <p:sp>
              <p:nvSpPr>
                <p:cNvPr id="21582" name="Line 69"/>
                <p:cNvSpPr/>
                <p:nvPr/>
              </p:nvSpPr>
              <p:spPr>
                <a:xfrm>
                  <a:off x="3229" y="6003"/>
                  <a:ext cx="0" cy="312"/>
                </a:xfrm>
                <a:prstGeom prst="line">
                  <a:avLst/>
                </a:prstGeom>
                <a:ln w="9525" cap="flat" cmpd="sng">
                  <a:solidFill>
                    <a:srgbClr val="0000FF"/>
                  </a:solidFill>
                  <a:prstDash val="solid"/>
                  <a:headEnd type="none" w="med" len="med"/>
                  <a:tailEnd type="none" w="med" len="med"/>
                </a:ln>
              </p:spPr>
            </p:sp>
            <p:sp>
              <p:nvSpPr>
                <p:cNvPr id="21583" name="Line 70"/>
                <p:cNvSpPr/>
                <p:nvPr/>
              </p:nvSpPr>
              <p:spPr>
                <a:xfrm>
                  <a:off x="3355" y="4866"/>
                  <a:ext cx="0" cy="1446"/>
                </a:xfrm>
                <a:prstGeom prst="line">
                  <a:avLst/>
                </a:prstGeom>
                <a:ln w="9525" cap="flat" cmpd="sng">
                  <a:solidFill>
                    <a:srgbClr val="0000FF"/>
                  </a:solidFill>
                  <a:prstDash val="solid"/>
                  <a:headEnd type="none" w="med" len="med"/>
                  <a:tailEnd type="none" w="med" len="med"/>
                </a:ln>
              </p:spPr>
            </p:sp>
            <p:sp>
              <p:nvSpPr>
                <p:cNvPr id="21584" name="Line 71"/>
                <p:cNvSpPr/>
                <p:nvPr/>
              </p:nvSpPr>
              <p:spPr>
                <a:xfrm>
                  <a:off x="3358" y="4858"/>
                  <a:ext cx="6679" cy="2"/>
                </a:xfrm>
                <a:prstGeom prst="line">
                  <a:avLst/>
                </a:prstGeom>
                <a:ln w="9525" cap="flat" cmpd="sng">
                  <a:solidFill>
                    <a:srgbClr val="0000FF"/>
                  </a:solidFill>
                  <a:prstDash val="solid"/>
                  <a:headEnd type="none" w="med" len="med"/>
                  <a:tailEnd type="none" w="med" len="med"/>
                </a:ln>
              </p:spPr>
            </p:sp>
            <p:sp>
              <p:nvSpPr>
                <p:cNvPr id="21585" name="Line 72"/>
                <p:cNvSpPr/>
                <p:nvPr/>
              </p:nvSpPr>
              <p:spPr>
                <a:xfrm>
                  <a:off x="4015" y="4650"/>
                  <a:ext cx="0" cy="198"/>
                </a:xfrm>
                <a:prstGeom prst="line">
                  <a:avLst/>
                </a:prstGeom>
                <a:ln w="9525" cap="flat" cmpd="sng">
                  <a:solidFill>
                    <a:srgbClr val="0000FF"/>
                  </a:solidFill>
                  <a:prstDash val="solid"/>
                  <a:headEnd type="none" w="med" len="med"/>
                  <a:tailEnd type="none" w="med" len="med"/>
                </a:ln>
              </p:spPr>
            </p:sp>
            <p:sp>
              <p:nvSpPr>
                <p:cNvPr id="21586" name="Oval 73"/>
                <p:cNvSpPr/>
                <p:nvPr/>
              </p:nvSpPr>
              <p:spPr>
                <a:xfrm>
                  <a:off x="3989" y="4829"/>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587" name="Rectangle 74"/>
                <p:cNvSpPr/>
                <p:nvPr/>
              </p:nvSpPr>
              <p:spPr>
                <a:xfrm>
                  <a:off x="3415" y="5762"/>
                  <a:ext cx="369" cy="24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588" name="Oval 75"/>
                <p:cNvSpPr/>
                <p:nvPr/>
              </p:nvSpPr>
              <p:spPr>
                <a:xfrm>
                  <a:off x="3118" y="5503"/>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589" name="Line 76"/>
                <p:cNvSpPr/>
                <p:nvPr/>
              </p:nvSpPr>
              <p:spPr>
                <a:xfrm>
                  <a:off x="6085" y="5385"/>
                  <a:ext cx="0" cy="142"/>
                </a:xfrm>
                <a:prstGeom prst="line">
                  <a:avLst/>
                </a:prstGeom>
                <a:ln w="9525" cap="flat" cmpd="sng">
                  <a:solidFill>
                    <a:srgbClr val="0000FF"/>
                  </a:solidFill>
                  <a:prstDash val="solid"/>
                  <a:headEnd type="none" w="med" len="med"/>
                  <a:tailEnd type="none" w="med" len="med"/>
                </a:ln>
              </p:spPr>
            </p:sp>
            <p:sp>
              <p:nvSpPr>
                <p:cNvPr id="21590" name="Line 77"/>
                <p:cNvSpPr/>
                <p:nvPr/>
              </p:nvSpPr>
              <p:spPr>
                <a:xfrm>
                  <a:off x="5195" y="5526"/>
                  <a:ext cx="900" cy="0"/>
                </a:xfrm>
                <a:prstGeom prst="line">
                  <a:avLst/>
                </a:prstGeom>
                <a:ln w="9525" cap="flat" cmpd="sng">
                  <a:solidFill>
                    <a:srgbClr val="0000FF"/>
                  </a:solidFill>
                  <a:prstDash val="solid"/>
                  <a:headEnd type="none" w="med" len="med"/>
                  <a:tailEnd type="none" w="med" len="med"/>
                </a:ln>
              </p:spPr>
            </p:sp>
            <p:sp>
              <p:nvSpPr>
                <p:cNvPr id="21591" name="Oval 78"/>
                <p:cNvSpPr/>
                <p:nvPr/>
              </p:nvSpPr>
              <p:spPr>
                <a:xfrm>
                  <a:off x="5158" y="5698"/>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592" name="Rectangle 79"/>
                <p:cNvSpPr/>
                <p:nvPr/>
              </p:nvSpPr>
              <p:spPr>
                <a:xfrm>
                  <a:off x="4975" y="5758"/>
                  <a:ext cx="369" cy="24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593" name="Line 80"/>
                <p:cNvSpPr/>
                <p:nvPr/>
              </p:nvSpPr>
              <p:spPr>
                <a:xfrm>
                  <a:off x="5035" y="5994"/>
                  <a:ext cx="0" cy="2551"/>
                </a:xfrm>
                <a:prstGeom prst="line">
                  <a:avLst/>
                </a:prstGeom>
                <a:ln w="9525" cap="flat" cmpd="sng">
                  <a:solidFill>
                    <a:srgbClr val="0000FF"/>
                  </a:solidFill>
                  <a:prstDash val="solid"/>
                  <a:headEnd type="none" w="med" len="med"/>
                  <a:tailEnd type="none" w="med" len="med"/>
                </a:ln>
              </p:spPr>
            </p:sp>
            <p:sp>
              <p:nvSpPr>
                <p:cNvPr id="21594" name="Line 81"/>
                <p:cNvSpPr/>
                <p:nvPr/>
              </p:nvSpPr>
              <p:spPr>
                <a:xfrm>
                  <a:off x="5153" y="5994"/>
                  <a:ext cx="0" cy="629"/>
                </a:xfrm>
                <a:prstGeom prst="line">
                  <a:avLst/>
                </a:prstGeom>
                <a:ln w="9525" cap="flat" cmpd="sng">
                  <a:solidFill>
                    <a:srgbClr val="0000FF"/>
                  </a:solidFill>
                  <a:prstDash val="solid"/>
                  <a:headEnd type="none" w="med" len="med"/>
                  <a:tailEnd type="none" w="med" len="med"/>
                </a:ln>
              </p:spPr>
            </p:sp>
            <p:sp>
              <p:nvSpPr>
                <p:cNvPr id="21595" name="Line 82"/>
                <p:cNvSpPr/>
                <p:nvPr/>
              </p:nvSpPr>
              <p:spPr>
                <a:xfrm>
                  <a:off x="5269" y="5994"/>
                  <a:ext cx="0" cy="312"/>
                </a:xfrm>
                <a:prstGeom prst="line">
                  <a:avLst/>
                </a:prstGeom>
                <a:ln w="9525" cap="flat" cmpd="sng">
                  <a:solidFill>
                    <a:srgbClr val="0000FF"/>
                  </a:solidFill>
                  <a:prstDash val="solid"/>
                  <a:headEnd type="none" w="med" len="med"/>
                  <a:tailEnd type="none" w="med" len="med"/>
                </a:ln>
              </p:spPr>
            </p:sp>
            <p:sp>
              <p:nvSpPr>
                <p:cNvPr id="21596" name="Line 83"/>
                <p:cNvSpPr/>
                <p:nvPr/>
              </p:nvSpPr>
              <p:spPr>
                <a:xfrm>
                  <a:off x="5395" y="4863"/>
                  <a:ext cx="0" cy="1434"/>
                </a:xfrm>
                <a:prstGeom prst="line">
                  <a:avLst/>
                </a:prstGeom>
                <a:ln w="9525" cap="flat" cmpd="sng">
                  <a:solidFill>
                    <a:srgbClr val="0000FF"/>
                  </a:solidFill>
                  <a:prstDash val="solid"/>
                  <a:headEnd type="none" w="med" len="med"/>
                  <a:tailEnd type="none" w="med" len="med"/>
                </a:ln>
              </p:spPr>
            </p:sp>
            <p:sp>
              <p:nvSpPr>
                <p:cNvPr id="21597" name="Line 84"/>
                <p:cNvSpPr/>
                <p:nvPr/>
              </p:nvSpPr>
              <p:spPr>
                <a:xfrm>
                  <a:off x="5260" y="6306"/>
                  <a:ext cx="144" cy="0"/>
                </a:xfrm>
                <a:prstGeom prst="line">
                  <a:avLst/>
                </a:prstGeom>
                <a:ln w="9525" cap="flat" cmpd="sng">
                  <a:solidFill>
                    <a:srgbClr val="0000FF"/>
                  </a:solidFill>
                  <a:prstDash val="solid"/>
                  <a:headEnd type="none" w="med" len="med"/>
                  <a:tailEnd type="none" w="med" len="med"/>
                </a:ln>
              </p:spPr>
            </p:sp>
            <p:sp>
              <p:nvSpPr>
                <p:cNvPr id="21598" name="Oval 85"/>
                <p:cNvSpPr/>
                <p:nvPr/>
              </p:nvSpPr>
              <p:spPr>
                <a:xfrm>
                  <a:off x="5149" y="5503"/>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599" name="Oval 86"/>
                <p:cNvSpPr/>
                <p:nvPr/>
              </p:nvSpPr>
              <p:spPr>
                <a:xfrm>
                  <a:off x="5375" y="4838"/>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00" name="Line 87"/>
                <p:cNvSpPr/>
                <p:nvPr/>
              </p:nvSpPr>
              <p:spPr>
                <a:xfrm>
                  <a:off x="6064" y="4639"/>
                  <a:ext cx="0" cy="198"/>
                </a:xfrm>
                <a:prstGeom prst="line">
                  <a:avLst/>
                </a:prstGeom>
                <a:ln w="9525" cap="flat" cmpd="sng">
                  <a:solidFill>
                    <a:srgbClr val="0000FF"/>
                  </a:solidFill>
                  <a:prstDash val="solid"/>
                  <a:headEnd type="none" w="med" len="med"/>
                  <a:tailEnd type="none" w="med" len="med"/>
                </a:ln>
              </p:spPr>
            </p:sp>
            <p:sp>
              <p:nvSpPr>
                <p:cNvPr id="21601" name="Oval 88"/>
                <p:cNvSpPr/>
                <p:nvPr/>
              </p:nvSpPr>
              <p:spPr>
                <a:xfrm>
                  <a:off x="6038" y="4829"/>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02" name="Rectangle 89"/>
                <p:cNvSpPr/>
                <p:nvPr/>
              </p:nvSpPr>
              <p:spPr>
                <a:xfrm>
                  <a:off x="5475" y="5826"/>
                  <a:ext cx="482" cy="527"/>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800" dirty="0">
                      <a:latin typeface="宋体" panose="02010600030101010101" pitchFamily="2" charset="-122"/>
                    </a:rPr>
                    <a:t>≥</a:t>
                  </a:r>
                  <a:r>
                    <a:rPr lang="en-US" altLang="zh-CN" sz="1800" dirty="0">
                      <a:latin typeface="Times New Roman" panose="02020603050405020304" pitchFamily="18" charset="0"/>
                    </a:rPr>
                    <a:t>1</a:t>
                  </a:r>
                </a:p>
                <a:p>
                  <a:pPr algn="just">
                    <a:lnSpc>
                      <a:spcPct val="96000"/>
                    </a:lnSpc>
                  </a:pPr>
                  <a:r>
                    <a:rPr lang="en-US" altLang="zh-CN" sz="1800" dirty="0">
                      <a:latin typeface="Times New Roman" panose="02020603050405020304" pitchFamily="18" charset="0"/>
                    </a:rPr>
                    <a:t>&amp;         </a:t>
                  </a:r>
                  <a:endParaRPr lang="en-US" altLang="zh-CN" sz="4800" dirty="0">
                    <a:latin typeface="Times New Roman" panose="02020603050405020304" pitchFamily="18" charset="0"/>
                  </a:endParaRPr>
                </a:p>
              </p:txBody>
            </p:sp>
            <p:sp>
              <p:nvSpPr>
                <p:cNvPr id="21603" name="Line 90"/>
                <p:cNvSpPr/>
                <p:nvPr/>
              </p:nvSpPr>
              <p:spPr>
                <a:xfrm>
                  <a:off x="5475" y="6108"/>
                  <a:ext cx="482" cy="0"/>
                </a:xfrm>
                <a:prstGeom prst="line">
                  <a:avLst/>
                </a:prstGeom>
                <a:ln w="9525" cap="flat" cmpd="sng">
                  <a:solidFill>
                    <a:srgbClr val="0000FF"/>
                  </a:solidFill>
                  <a:prstDash val="solid"/>
                  <a:headEnd type="none" w="med" len="med"/>
                  <a:tailEnd type="none" w="med" len="med"/>
                </a:ln>
              </p:spPr>
            </p:sp>
            <p:sp>
              <p:nvSpPr>
                <p:cNvPr id="21604" name="Line 91"/>
                <p:cNvSpPr/>
                <p:nvPr/>
              </p:nvSpPr>
              <p:spPr>
                <a:xfrm>
                  <a:off x="5719" y="6100"/>
                  <a:ext cx="0" cy="255"/>
                </a:xfrm>
                <a:prstGeom prst="line">
                  <a:avLst/>
                </a:prstGeom>
                <a:ln w="9525" cap="flat" cmpd="sng">
                  <a:solidFill>
                    <a:srgbClr val="0000FF"/>
                  </a:solidFill>
                  <a:prstDash val="solid"/>
                  <a:headEnd type="none" w="med" len="med"/>
                  <a:tailEnd type="none" w="med" len="med"/>
                </a:ln>
              </p:spPr>
            </p:sp>
            <p:sp>
              <p:nvSpPr>
                <p:cNvPr id="21605" name="Line 92"/>
                <p:cNvSpPr/>
                <p:nvPr/>
              </p:nvSpPr>
              <p:spPr>
                <a:xfrm flipH="1">
                  <a:off x="5516" y="6354"/>
                  <a:ext cx="1" cy="390"/>
                </a:xfrm>
                <a:prstGeom prst="line">
                  <a:avLst/>
                </a:prstGeom>
                <a:ln w="9525" cap="flat" cmpd="sng">
                  <a:solidFill>
                    <a:srgbClr val="0000FF"/>
                  </a:solidFill>
                  <a:prstDash val="solid"/>
                  <a:headEnd type="none" w="med" len="med"/>
                  <a:tailEnd type="none" w="med" len="med"/>
                </a:ln>
              </p:spPr>
            </p:sp>
            <p:sp>
              <p:nvSpPr>
                <p:cNvPr id="21606" name="Line 93"/>
                <p:cNvSpPr/>
                <p:nvPr/>
              </p:nvSpPr>
              <p:spPr>
                <a:xfrm>
                  <a:off x="5590" y="6354"/>
                  <a:ext cx="1" cy="618"/>
                </a:xfrm>
                <a:prstGeom prst="line">
                  <a:avLst/>
                </a:prstGeom>
                <a:ln w="9525" cap="flat" cmpd="sng">
                  <a:solidFill>
                    <a:srgbClr val="0000FF"/>
                  </a:solidFill>
                  <a:prstDash val="solid"/>
                  <a:headEnd type="none" w="med" len="med"/>
                  <a:tailEnd type="none" w="med" len="med"/>
                </a:ln>
              </p:spPr>
            </p:sp>
            <p:sp>
              <p:nvSpPr>
                <p:cNvPr id="21607" name="Line 94"/>
                <p:cNvSpPr/>
                <p:nvPr/>
              </p:nvSpPr>
              <p:spPr>
                <a:xfrm flipH="1">
                  <a:off x="5783" y="6358"/>
                  <a:ext cx="2" cy="488"/>
                </a:xfrm>
                <a:prstGeom prst="line">
                  <a:avLst/>
                </a:prstGeom>
                <a:ln w="9525" cap="flat" cmpd="sng">
                  <a:solidFill>
                    <a:srgbClr val="0000FF"/>
                  </a:solidFill>
                  <a:prstDash val="solid"/>
                  <a:headEnd type="none" w="med" len="med"/>
                  <a:tailEnd type="none" w="med" len="med"/>
                </a:ln>
              </p:spPr>
            </p:sp>
            <p:sp>
              <p:nvSpPr>
                <p:cNvPr id="21608" name="Line 95"/>
                <p:cNvSpPr/>
                <p:nvPr/>
              </p:nvSpPr>
              <p:spPr>
                <a:xfrm flipH="1">
                  <a:off x="5864" y="6366"/>
                  <a:ext cx="1" cy="677"/>
                </a:xfrm>
                <a:prstGeom prst="line">
                  <a:avLst/>
                </a:prstGeom>
                <a:ln w="9525" cap="flat" cmpd="sng">
                  <a:solidFill>
                    <a:srgbClr val="0000FF"/>
                  </a:solidFill>
                  <a:prstDash val="solid"/>
                  <a:headEnd type="none" w="med" len="med"/>
                  <a:tailEnd type="none" w="med" len="med"/>
                </a:ln>
              </p:spPr>
            </p:sp>
            <p:sp>
              <p:nvSpPr>
                <p:cNvPr id="21609" name="Rectangle 96"/>
                <p:cNvSpPr/>
                <p:nvPr/>
              </p:nvSpPr>
              <p:spPr>
                <a:xfrm>
                  <a:off x="7080" y="3850"/>
                  <a:ext cx="1395" cy="78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just"/>
                  <a:r>
                    <a:rPr lang="en-US" altLang="zh-CN" sz="1800" dirty="0">
                      <a:latin typeface="Times New Roman" panose="02020603050405020304" pitchFamily="18" charset="0"/>
                    </a:rPr>
                    <a:t>          </a:t>
                  </a:r>
                </a:p>
                <a:p>
                  <a:pPr algn="ctr">
                    <a:lnSpc>
                      <a:spcPct val="160000"/>
                    </a:lnSpc>
                  </a:pPr>
                  <a:r>
                    <a:rPr lang="en-US" altLang="zh-CN" sz="1800" i="1" dirty="0">
                      <a:latin typeface="Times New Roman" panose="02020603050405020304" pitchFamily="18" charset="0"/>
                    </a:rPr>
                    <a:t>S   T</a:t>
                  </a:r>
                  <a:r>
                    <a:rPr lang="en-US" altLang="zh-CN" sz="1800" baseline="-25000" dirty="0">
                      <a:latin typeface="Times New Roman" panose="02020603050405020304" pitchFamily="18" charset="0"/>
                    </a:rPr>
                    <a:t>2</a:t>
                  </a:r>
                  <a:r>
                    <a:rPr lang="en-US" altLang="zh-CN" sz="1800" dirty="0">
                      <a:latin typeface="Times New Roman" panose="02020603050405020304" pitchFamily="18" charset="0"/>
                    </a:rPr>
                    <a:t>    </a:t>
                  </a: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610" name="Line 97"/>
                <p:cNvSpPr/>
                <p:nvPr/>
              </p:nvSpPr>
              <p:spPr>
                <a:xfrm flipV="1">
                  <a:off x="7977" y="4302"/>
                  <a:ext cx="490" cy="1"/>
                </a:xfrm>
                <a:prstGeom prst="line">
                  <a:avLst/>
                </a:prstGeom>
                <a:ln w="9525" cap="flat" cmpd="sng">
                  <a:solidFill>
                    <a:srgbClr val="0000FF"/>
                  </a:solidFill>
                  <a:prstDash val="solid"/>
                  <a:headEnd type="none" w="med" len="med"/>
                  <a:tailEnd type="none" w="med" len="med"/>
                </a:ln>
              </p:spPr>
            </p:sp>
            <p:sp>
              <p:nvSpPr>
                <p:cNvPr id="21611" name="Line 98"/>
                <p:cNvSpPr/>
                <p:nvPr/>
              </p:nvSpPr>
              <p:spPr>
                <a:xfrm>
                  <a:off x="7975" y="4310"/>
                  <a:ext cx="0" cy="312"/>
                </a:xfrm>
                <a:prstGeom prst="line">
                  <a:avLst/>
                </a:prstGeom>
                <a:ln w="9525" cap="flat" cmpd="sng">
                  <a:solidFill>
                    <a:srgbClr val="0000FF"/>
                  </a:solidFill>
                  <a:prstDash val="solid"/>
                  <a:headEnd type="none" w="med" len="med"/>
                  <a:tailEnd type="none" w="med" len="med"/>
                </a:ln>
              </p:spPr>
            </p:sp>
            <p:sp>
              <p:nvSpPr>
                <p:cNvPr id="21612" name="Freeform 99"/>
                <p:cNvSpPr/>
                <p:nvPr/>
              </p:nvSpPr>
              <p:spPr>
                <a:xfrm rot="-5400000">
                  <a:off x="7662" y="4470"/>
                  <a:ext cx="108" cy="198"/>
                </a:xfrm>
                <a:custGeom>
                  <a:avLst/>
                  <a:gdLst/>
                  <a:ahLst/>
                  <a:cxnLst>
                    <a:cxn ang="0">
                      <a:pos x="0" y="0"/>
                    </a:cxn>
                    <a:cxn ang="0">
                      <a:pos x="108" y="89"/>
                    </a:cxn>
                    <a:cxn ang="0">
                      <a:pos x="0" y="198"/>
                    </a:cxn>
                  </a:cxnLst>
                  <a:rect l="0" t="0" r="0" b="0"/>
                  <a:pathLst>
                    <a:path w="220" h="312">
                      <a:moveTo>
                        <a:pt x="0" y="0"/>
                      </a:moveTo>
                      <a:lnTo>
                        <a:pt x="220" y="140"/>
                      </a:lnTo>
                      <a:lnTo>
                        <a:pt x="1" y="312"/>
                      </a:lnTo>
                    </a:path>
                  </a:pathLst>
                </a:custGeom>
                <a:noFill/>
                <a:ln w="9525" cap="flat" cmpd="sng">
                  <a:solidFill>
                    <a:srgbClr val="0000FF">
                      <a:alpha val="100000"/>
                    </a:srgbClr>
                  </a:solidFill>
                  <a:prstDash val="solid"/>
                  <a:round/>
                  <a:headEnd type="none" w="med" len="med"/>
                  <a:tailEnd type="none" w="med" len="med"/>
                </a:ln>
              </p:spPr>
              <p:txBody>
                <a:bodyPr/>
                <a:lstStyle/>
                <a:p>
                  <a:endParaRPr lang="zh-CN" altLang="en-US"/>
                </a:p>
              </p:txBody>
            </p:sp>
            <p:sp>
              <p:nvSpPr>
                <p:cNvPr id="21613" name="Rectangle 100"/>
                <p:cNvSpPr/>
                <p:nvPr/>
              </p:nvSpPr>
              <p:spPr>
                <a:xfrm>
                  <a:off x="9000" y="3830"/>
                  <a:ext cx="1395" cy="78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just"/>
                  <a:r>
                    <a:rPr lang="en-US" altLang="zh-CN" sz="1800" dirty="0">
                      <a:latin typeface="Times New Roman" panose="02020603050405020304" pitchFamily="18" charset="0"/>
                    </a:rPr>
                    <a:t>          </a:t>
                  </a:r>
                </a:p>
                <a:p>
                  <a:pPr algn="ctr">
                    <a:lnSpc>
                      <a:spcPct val="160000"/>
                    </a:lnSpc>
                  </a:pPr>
                  <a:r>
                    <a:rPr lang="en-US" altLang="zh-CN" sz="1800" i="1" dirty="0">
                      <a:latin typeface="Times New Roman" panose="02020603050405020304" pitchFamily="18" charset="0"/>
                    </a:rPr>
                    <a:t>S   T</a:t>
                  </a:r>
                  <a:r>
                    <a:rPr lang="en-US" altLang="zh-CN" sz="1800" baseline="-25000" dirty="0">
                      <a:latin typeface="Times New Roman" panose="02020603050405020304" pitchFamily="18" charset="0"/>
                    </a:rPr>
                    <a:t>3</a:t>
                  </a:r>
                  <a:r>
                    <a:rPr lang="en-US" altLang="zh-CN" sz="1800" dirty="0">
                      <a:latin typeface="Times New Roman" panose="02020603050405020304" pitchFamily="18" charset="0"/>
                    </a:rPr>
                    <a:t>    </a:t>
                  </a:r>
                  <a:r>
                    <a:rPr lang="en-US" altLang="zh-CN" sz="1800" dirty="0">
                      <a:latin typeface="宋体" panose="02010600030101010101" pitchFamily="2" charset="-122"/>
                    </a:rPr>
                    <a:t>≥</a:t>
                  </a: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614" name="Line 101"/>
                <p:cNvSpPr/>
                <p:nvPr/>
              </p:nvSpPr>
              <p:spPr>
                <a:xfrm flipV="1">
                  <a:off x="9897" y="4278"/>
                  <a:ext cx="502" cy="5"/>
                </a:xfrm>
                <a:prstGeom prst="line">
                  <a:avLst/>
                </a:prstGeom>
                <a:ln w="9525" cap="flat" cmpd="sng">
                  <a:solidFill>
                    <a:srgbClr val="0000FF"/>
                  </a:solidFill>
                  <a:prstDash val="solid"/>
                  <a:headEnd type="none" w="med" len="med"/>
                  <a:tailEnd type="none" w="med" len="med"/>
                </a:ln>
              </p:spPr>
            </p:sp>
            <p:sp>
              <p:nvSpPr>
                <p:cNvPr id="21615" name="Line 102"/>
                <p:cNvSpPr/>
                <p:nvPr/>
              </p:nvSpPr>
              <p:spPr>
                <a:xfrm>
                  <a:off x="9895" y="4290"/>
                  <a:ext cx="0" cy="312"/>
                </a:xfrm>
                <a:prstGeom prst="line">
                  <a:avLst/>
                </a:prstGeom>
                <a:ln w="9525" cap="flat" cmpd="sng">
                  <a:solidFill>
                    <a:srgbClr val="0000FF"/>
                  </a:solidFill>
                  <a:prstDash val="solid"/>
                  <a:headEnd type="none" w="med" len="med"/>
                  <a:tailEnd type="none" w="med" len="med"/>
                </a:ln>
              </p:spPr>
            </p:sp>
            <p:sp>
              <p:nvSpPr>
                <p:cNvPr id="21616" name="Freeform 103"/>
                <p:cNvSpPr/>
                <p:nvPr/>
              </p:nvSpPr>
              <p:spPr>
                <a:xfrm rot="-5400000">
                  <a:off x="9575" y="4450"/>
                  <a:ext cx="108" cy="198"/>
                </a:xfrm>
                <a:custGeom>
                  <a:avLst/>
                  <a:gdLst/>
                  <a:ahLst/>
                  <a:cxnLst>
                    <a:cxn ang="0">
                      <a:pos x="0" y="0"/>
                    </a:cxn>
                    <a:cxn ang="0">
                      <a:pos x="108" y="89"/>
                    </a:cxn>
                    <a:cxn ang="0">
                      <a:pos x="0" y="198"/>
                    </a:cxn>
                  </a:cxnLst>
                  <a:rect l="0" t="0" r="0" b="0"/>
                  <a:pathLst>
                    <a:path w="220" h="312">
                      <a:moveTo>
                        <a:pt x="0" y="0"/>
                      </a:moveTo>
                      <a:lnTo>
                        <a:pt x="220" y="140"/>
                      </a:lnTo>
                      <a:lnTo>
                        <a:pt x="1" y="312"/>
                      </a:lnTo>
                    </a:path>
                  </a:pathLst>
                </a:custGeom>
                <a:noFill/>
                <a:ln w="9525" cap="flat" cmpd="sng">
                  <a:solidFill>
                    <a:srgbClr val="0000FF">
                      <a:alpha val="100000"/>
                    </a:srgbClr>
                  </a:solidFill>
                  <a:prstDash val="solid"/>
                  <a:round/>
                  <a:headEnd type="none" w="med" len="med"/>
                  <a:tailEnd type="none" w="med" len="med"/>
                </a:ln>
              </p:spPr>
              <p:txBody>
                <a:bodyPr/>
                <a:lstStyle/>
                <a:p>
                  <a:endParaRPr lang="zh-CN" altLang="en-US"/>
                </a:p>
              </p:txBody>
            </p:sp>
            <p:sp>
              <p:nvSpPr>
                <p:cNvPr id="21617" name="Line 104"/>
                <p:cNvSpPr/>
                <p:nvPr/>
              </p:nvSpPr>
              <p:spPr>
                <a:xfrm flipV="1">
                  <a:off x="7435" y="3070"/>
                  <a:ext cx="0" cy="780"/>
                </a:xfrm>
                <a:prstGeom prst="line">
                  <a:avLst/>
                </a:prstGeom>
                <a:ln w="9525" cap="flat" cmpd="sng">
                  <a:solidFill>
                    <a:srgbClr val="0000FF"/>
                  </a:solidFill>
                  <a:prstDash val="solid"/>
                  <a:headEnd type="none" w="med" len="med"/>
                  <a:tailEnd type="none" w="med" len="med"/>
                </a:ln>
              </p:spPr>
            </p:sp>
            <p:sp>
              <p:nvSpPr>
                <p:cNvPr id="21618" name="Oval 105"/>
                <p:cNvSpPr/>
                <p:nvPr/>
              </p:nvSpPr>
              <p:spPr>
                <a:xfrm>
                  <a:off x="7409" y="3323"/>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19" name="Line 106"/>
                <p:cNvSpPr/>
                <p:nvPr/>
              </p:nvSpPr>
              <p:spPr>
                <a:xfrm>
                  <a:off x="7431" y="3350"/>
                  <a:ext cx="1355" cy="0"/>
                </a:xfrm>
                <a:prstGeom prst="line">
                  <a:avLst/>
                </a:prstGeom>
                <a:ln w="9525" cap="flat" cmpd="sng">
                  <a:solidFill>
                    <a:srgbClr val="0000FF"/>
                  </a:solidFill>
                  <a:prstDash val="solid"/>
                  <a:headEnd type="none" w="med" len="med"/>
                  <a:tailEnd type="none" w="med" len="med"/>
                </a:ln>
              </p:spPr>
            </p:sp>
            <p:sp>
              <p:nvSpPr>
                <p:cNvPr id="21620" name="Line 107"/>
                <p:cNvSpPr/>
                <p:nvPr/>
              </p:nvSpPr>
              <p:spPr>
                <a:xfrm>
                  <a:off x="8267" y="3578"/>
                  <a:ext cx="0" cy="198"/>
                </a:xfrm>
                <a:prstGeom prst="line">
                  <a:avLst/>
                </a:prstGeom>
                <a:ln w="9525" cap="flat" cmpd="sng">
                  <a:solidFill>
                    <a:srgbClr val="0000FF"/>
                  </a:solidFill>
                  <a:prstDash val="solid"/>
                  <a:headEnd type="none" w="med" len="med"/>
                  <a:tailEnd type="none" w="med" len="med"/>
                </a:ln>
              </p:spPr>
            </p:sp>
            <p:sp>
              <p:nvSpPr>
                <p:cNvPr id="21621" name="Oval 108"/>
                <p:cNvSpPr/>
                <p:nvPr/>
              </p:nvSpPr>
              <p:spPr>
                <a:xfrm>
                  <a:off x="8244" y="3786"/>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22" name="Line 109"/>
                <p:cNvSpPr/>
                <p:nvPr/>
              </p:nvSpPr>
              <p:spPr>
                <a:xfrm>
                  <a:off x="8278" y="3578"/>
                  <a:ext cx="323" cy="0"/>
                </a:xfrm>
                <a:prstGeom prst="line">
                  <a:avLst/>
                </a:prstGeom>
                <a:ln w="9525" cap="flat" cmpd="sng">
                  <a:solidFill>
                    <a:srgbClr val="0000FF"/>
                  </a:solidFill>
                  <a:prstDash val="solid"/>
                  <a:headEnd type="none" w="med" len="med"/>
                  <a:tailEnd type="none" w="med" len="med"/>
                </a:ln>
              </p:spPr>
            </p:sp>
            <p:sp>
              <p:nvSpPr>
                <p:cNvPr id="21623" name="Line 110"/>
                <p:cNvSpPr/>
                <p:nvPr/>
              </p:nvSpPr>
              <p:spPr>
                <a:xfrm>
                  <a:off x="8615" y="3578"/>
                  <a:ext cx="0" cy="3883"/>
                </a:xfrm>
                <a:prstGeom prst="line">
                  <a:avLst/>
                </a:prstGeom>
                <a:ln w="9525" cap="flat" cmpd="sng">
                  <a:solidFill>
                    <a:srgbClr val="0000FF"/>
                  </a:solidFill>
                  <a:prstDash val="solid"/>
                  <a:headEnd type="none" w="med" len="med"/>
                  <a:tailEnd type="none" w="med" len="med"/>
                </a:ln>
              </p:spPr>
            </p:sp>
            <p:sp>
              <p:nvSpPr>
                <p:cNvPr id="21624" name="Line 111"/>
                <p:cNvSpPr/>
                <p:nvPr/>
              </p:nvSpPr>
              <p:spPr>
                <a:xfrm flipH="1">
                  <a:off x="8784" y="3348"/>
                  <a:ext cx="3" cy="4212"/>
                </a:xfrm>
                <a:prstGeom prst="line">
                  <a:avLst/>
                </a:prstGeom>
                <a:ln w="9525" cap="flat" cmpd="sng">
                  <a:solidFill>
                    <a:srgbClr val="0000FF"/>
                  </a:solidFill>
                  <a:prstDash val="solid"/>
                  <a:headEnd type="none" w="med" len="med"/>
                  <a:tailEnd type="none" w="med" len="med"/>
                </a:ln>
              </p:spPr>
            </p:sp>
            <p:sp>
              <p:nvSpPr>
                <p:cNvPr id="21625" name="Line 112"/>
                <p:cNvSpPr/>
                <p:nvPr/>
              </p:nvSpPr>
              <p:spPr>
                <a:xfrm flipV="1">
                  <a:off x="9335" y="3050"/>
                  <a:ext cx="0" cy="780"/>
                </a:xfrm>
                <a:prstGeom prst="line">
                  <a:avLst/>
                </a:prstGeom>
                <a:ln w="9525" cap="flat" cmpd="sng">
                  <a:solidFill>
                    <a:srgbClr val="0000FF"/>
                  </a:solidFill>
                  <a:prstDash val="solid"/>
                  <a:headEnd type="none" w="med" len="med"/>
                  <a:tailEnd type="none" w="med" len="med"/>
                </a:ln>
              </p:spPr>
            </p:sp>
            <p:sp>
              <p:nvSpPr>
                <p:cNvPr id="21626" name="Oval 113"/>
                <p:cNvSpPr/>
                <p:nvPr/>
              </p:nvSpPr>
              <p:spPr>
                <a:xfrm>
                  <a:off x="9309" y="3321"/>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27" name="Line 114"/>
                <p:cNvSpPr/>
                <p:nvPr/>
              </p:nvSpPr>
              <p:spPr>
                <a:xfrm>
                  <a:off x="9364" y="3342"/>
                  <a:ext cx="1355" cy="0"/>
                </a:xfrm>
                <a:prstGeom prst="line">
                  <a:avLst/>
                </a:prstGeom>
                <a:ln w="9525" cap="flat" cmpd="sng">
                  <a:solidFill>
                    <a:srgbClr val="0000FF"/>
                  </a:solidFill>
                  <a:prstDash val="solid"/>
                  <a:headEnd type="none" w="med" len="med"/>
                  <a:tailEnd type="none" w="med" len="med"/>
                </a:ln>
              </p:spPr>
            </p:sp>
            <p:sp>
              <p:nvSpPr>
                <p:cNvPr id="21628" name="Line 115"/>
                <p:cNvSpPr/>
                <p:nvPr/>
              </p:nvSpPr>
              <p:spPr>
                <a:xfrm>
                  <a:off x="10167" y="3558"/>
                  <a:ext cx="0" cy="198"/>
                </a:xfrm>
                <a:prstGeom prst="line">
                  <a:avLst/>
                </a:prstGeom>
                <a:ln w="9525" cap="flat" cmpd="sng">
                  <a:solidFill>
                    <a:srgbClr val="0000FF"/>
                  </a:solidFill>
                  <a:prstDash val="solid"/>
                  <a:headEnd type="none" w="med" len="med"/>
                  <a:tailEnd type="none" w="med" len="med"/>
                </a:ln>
              </p:spPr>
            </p:sp>
            <p:sp>
              <p:nvSpPr>
                <p:cNvPr id="21629" name="Oval 116"/>
                <p:cNvSpPr/>
                <p:nvPr/>
              </p:nvSpPr>
              <p:spPr>
                <a:xfrm>
                  <a:off x="10144" y="3757"/>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30" name="Line 117"/>
                <p:cNvSpPr/>
                <p:nvPr/>
              </p:nvSpPr>
              <p:spPr>
                <a:xfrm>
                  <a:off x="10178" y="3558"/>
                  <a:ext cx="323" cy="0"/>
                </a:xfrm>
                <a:prstGeom prst="line">
                  <a:avLst/>
                </a:prstGeom>
                <a:ln w="9525" cap="flat" cmpd="sng">
                  <a:solidFill>
                    <a:srgbClr val="0000FF"/>
                  </a:solidFill>
                  <a:prstDash val="solid"/>
                  <a:headEnd type="none" w="med" len="med"/>
                  <a:tailEnd type="none" w="med" len="med"/>
                </a:ln>
              </p:spPr>
            </p:sp>
            <p:sp>
              <p:nvSpPr>
                <p:cNvPr id="21631" name="Line 118"/>
                <p:cNvSpPr/>
                <p:nvPr/>
              </p:nvSpPr>
              <p:spPr>
                <a:xfrm>
                  <a:off x="10515" y="3558"/>
                  <a:ext cx="0" cy="4134"/>
                </a:xfrm>
                <a:prstGeom prst="line">
                  <a:avLst/>
                </a:prstGeom>
                <a:ln w="9525" cap="flat" cmpd="sng">
                  <a:solidFill>
                    <a:srgbClr val="0000FF"/>
                  </a:solidFill>
                  <a:prstDash val="solid"/>
                  <a:headEnd type="none" w="med" len="med"/>
                  <a:tailEnd type="none" w="med" len="med"/>
                </a:ln>
              </p:spPr>
            </p:sp>
            <p:sp>
              <p:nvSpPr>
                <p:cNvPr id="21632" name="Line 119"/>
                <p:cNvSpPr/>
                <p:nvPr/>
              </p:nvSpPr>
              <p:spPr>
                <a:xfrm>
                  <a:off x="10720" y="3342"/>
                  <a:ext cx="0" cy="4479"/>
                </a:xfrm>
                <a:prstGeom prst="line">
                  <a:avLst/>
                </a:prstGeom>
                <a:ln w="9525" cap="flat" cmpd="sng">
                  <a:solidFill>
                    <a:srgbClr val="0000FF"/>
                  </a:solidFill>
                  <a:prstDash val="solid"/>
                  <a:headEnd type="none" w="med" len="med"/>
                  <a:tailEnd type="none" w="med" len="med"/>
                </a:ln>
              </p:spPr>
            </p:sp>
            <p:sp>
              <p:nvSpPr>
                <p:cNvPr id="21633" name="Oval 120"/>
                <p:cNvSpPr/>
                <p:nvPr/>
              </p:nvSpPr>
              <p:spPr>
                <a:xfrm>
                  <a:off x="7186" y="4632"/>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34" name="Oval 121"/>
                <p:cNvSpPr/>
                <p:nvPr/>
              </p:nvSpPr>
              <p:spPr>
                <a:xfrm>
                  <a:off x="8069" y="4630"/>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35" name="Oval 122"/>
                <p:cNvSpPr/>
                <p:nvPr/>
              </p:nvSpPr>
              <p:spPr>
                <a:xfrm>
                  <a:off x="8289" y="4630"/>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36" name="Oval 123"/>
                <p:cNvSpPr/>
                <p:nvPr/>
              </p:nvSpPr>
              <p:spPr>
                <a:xfrm>
                  <a:off x="9135" y="4612"/>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37" name="Oval 124"/>
                <p:cNvSpPr/>
                <p:nvPr/>
              </p:nvSpPr>
              <p:spPr>
                <a:xfrm>
                  <a:off x="9595" y="4614"/>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38" name="Oval 125"/>
                <p:cNvSpPr/>
                <p:nvPr/>
              </p:nvSpPr>
              <p:spPr>
                <a:xfrm>
                  <a:off x="10018" y="4610"/>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39" name="Oval 126"/>
                <p:cNvSpPr/>
                <p:nvPr/>
              </p:nvSpPr>
              <p:spPr>
                <a:xfrm>
                  <a:off x="10238" y="4610"/>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40" name="Line 127"/>
                <p:cNvSpPr/>
                <p:nvPr/>
              </p:nvSpPr>
              <p:spPr>
                <a:xfrm flipH="1">
                  <a:off x="7715" y="4696"/>
                  <a:ext cx="0" cy="1128"/>
                </a:xfrm>
                <a:prstGeom prst="line">
                  <a:avLst/>
                </a:prstGeom>
                <a:ln w="9525" cap="flat" cmpd="sng">
                  <a:solidFill>
                    <a:srgbClr val="0000FF"/>
                  </a:solidFill>
                  <a:prstDash val="solid"/>
                  <a:headEnd type="none" w="med" len="med"/>
                  <a:tailEnd type="none" w="med" len="med"/>
                </a:ln>
              </p:spPr>
            </p:sp>
            <p:sp>
              <p:nvSpPr>
                <p:cNvPr id="21641" name="Line 128"/>
                <p:cNvSpPr/>
                <p:nvPr/>
              </p:nvSpPr>
              <p:spPr>
                <a:xfrm>
                  <a:off x="7218" y="4687"/>
                  <a:ext cx="0" cy="1009"/>
                </a:xfrm>
                <a:prstGeom prst="line">
                  <a:avLst/>
                </a:prstGeom>
                <a:ln w="9525" cap="flat" cmpd="sng">
                  <a:solidFill>
                    <a:srgbClr val="0000FF"/>
                  </a:solidFill>
                  <a:prstDash val="solid"/>
                  <a:headEnd type="none" w="med" len="med"/>
                  <a:tailEnd type="none" w="med" len="med"/>
                </a:ln>
              </p:spPr>
            </p:sp>
            <p:sp>
              <p:nvSpPr>
                <p:cNvPr id="21642" name="Line 129"/>
                <p:cNvSpPr/>
                <p:nvPr/>
              </p:nvSpPr>
              <p:spPr>
                <a:xfrm>
                  <a:off x="8320" y="4686"/>
                  <a:ext cx="0" cy="340"/>
                </a:xfrm>
                <a:prstGeom prst="line">
                  <a:avLst/>
                </a:prstGeom>
                <a:ln w="9525" cap="flat" cmpd="sng">
                  <a:solidFill>
                    <a:srgbClr val="0000FF"/>
                  </a:solidFill>
                  <a:prstDash val="solid"/>
                  <a:headEnd type="none" w="med" len="med"/>
                  <a:tailEnd type="none" w="med" len="med"/>
                </a:ln>
              </p:spPr>
            </p:sp>
            <p:sp>
              <p:nvSpPr>
                <p:cNvPr id="21643" name="Line 130"/>
                <p:cNvSpPr/>
                <p:nvPr/>
              </p:nvSpPr>
              <p:spPr>
                <a:xfrm>
                  <a:off x="7418" y="4894"/>
                  <a:ext cx="0" cy="1434"/>
                </a:xfrm>
                <a:prstGeom prst="line">
                  <a:avLst/>
                </a:prstGeom>
                <a:ln w="9525" cap="flat" cmpd="sng">
                  <a:solidFill>
                    <a:srgbClr val="0000FF"/>
                  </a:solidFill>
                  <a:prstDash val="solid"/>
                  <a:headEnd type="none" w="med" len="med"/>
                  <a:tailEnd type="none" w="med" len="med"/>
                </a:ln>
              </p:spPr>
            </p:sp>
            <p:sp>
              <p:nvSpPr>
                <p:cNvPr id="21644" name="Oval 131"/>
                <p:cNvSpPr/>
                <p:nvPr/>
              </p:nvSpPr>
              <p:spPr>
                <a:xfrm>
                  <a:off x="7389" y="4834"/>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45" name="Line 132"/>
                <p:cNvSpPr/>
                <p:nvPr/>
              </p:nvSpPr>
              <p:spPr>
                <a:xfrm>
                  <a:off x="8095" y="4690"/>
                  <a:ext cx="0" cy="198"/>
                </a:xfrm>
                <a:prstGeom prst="line">
                  <a:avLst/>
                </a:prstGeom>
                <a:ln w="9525" cap="flat" cmpd="sng">
                  <a:solidFill>
                    <a:srgbClr val="0000FF"/>
                  </a:solidFill>
                  <a:prstDash val="solid"/>
                  <a:headEnd type="none" w="med" len="med"/>
                  <a:tailEnd type="none" w="med" len="med"/>
                </a:ln>
              </p:spPr>
            </p:sp>
            <p:sp>
              <p:nvSpPr>
                <p:cNvPr id="21646" name="Oval 133"/>
                <p:cNvSpPr/>
                <p:nvPr/>
              </p:nvSpPr>
              <p:spPr>
                <a:xfrm>
                  <a:off x="8063" y="4836"/>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47" name="Oval 134"/>
                <p:cNvSpPr/>
                <p:nvPr/>
              </p:nvSpPr>
              <p:spPr>
                <a:xfrm>
                  <a:off x="10238" y="5048"/>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48" name="Line 135"/>
                <p:cNvSpPr/>
                <p:nvPr/>
              </p:nvSpPr>
              <p:spPr>
                <a:xfrm flipH="1">
                  <a:off x="9625" y="4672"/>
                  <a:ext cx="0" cy="1185"/>
                </a:xfrm>
                <a:prstGeom prst="line">
                  <a:avLst/>
                </a:prstGeom>
                <a:ln w="9525" cap="flat" cmpd="sng">
                  <a:solidFill>
                    <a:srgbClr val="0000FF"/>
                  </a:solidFill>
                  <a:prstDash val="solid"/>
                  <a:headEnd type="none" w="med" len="med"/>
                  <a:tailEnd type="none" w="med" len="med"/>
                </a:ln>
              </p:spPr>
            </p:sp>
            <p:sp>
              <p:nvSpPr>
                <p:cNvPr id="21649" name="Line 136"/>
                <p:cNvSpPr/>
                <p:nvPr/>
              </p:nvSpPr>
              <p:spPr>
                <a:xfrm flipH="1">
                  <a:off x="9158" y="4674"/>
                  <a:ext cx="1" cy="1037"/>
                </a:xfrm>
                <a:prstGeom prst="line">
                  <a:avLst/>
                </a:prstGeom>
                <a:ln w="9525" cap="flat" cmpd="sng">
                  <a:solidFill>
                    <a:srgbClr val="0000FF"/>
                  </a:solidFill>
                  <a:prstDash val="solid"/>
                  <a:headEnd type="none" w="med" len="med"/>
                  <a:tailEnd type="none" w="med" len="med"/>
                </a:ln>
              </p:spPr>
            </p:sp>
            <p:sp>
              <p:nvSpPr>
                <p:cNvPr id="21650" name="Line 137"/>
                <p:cNvSpPr/>
                <p:nvPr/>
              </p:nvSpPr>
              <p:spPr>
                <a:xfrm flipH="1">
                  <a:off x="10270" y="4668"/>
                  <a:ext cx="1" cy="362"/>
                </a:xfrm>
                <a:prstGeom prst="line">
                  <a:avLst/>
                </a:prstGeom>
                <a:ln w="9525" cap="flat" cmpd="sng">
                  <a:solidFill>
                    <a:srgbClr val="0000FF"/>
                  </a:solidFill>
                  <a:prstDash val="solid"/>
                  <a:headEnd type="none" w="med" len="med"/>
                  <a:tailEnd type="none" w="med" len="med"/>
                </a:ln>
              </p:spPr>
            </p:sp>
            <p:sp>
              <p:nvSpPr>
                <p:cNvPr id="21651" name="Line 138"/>
                <p:cNvSpPr/>
                <p:nvPr/>
              </p:nvSpPr>
              <p:spPr>
                <a:xfrm>
                  <a:off x="9334" y="4881"/>
                  <a:ext cx="0" cy="3135"/>
                </a:xfrm>
                <a:prstGeom prst="line">
                  <a:avLst/>
                </a:prstGeom>
                <a:ln w="9525" cap="flat" cmpd="sng">
                  <a:solidFill>
                    <a:srgbClr val="0000FF"/>
                  </a:solidFill>
                  <a:prstDash val="solid"/>
                  <a:headEnd type="none" w="med" len="med"/>
                  <a:tailEnd type="none" w="med" len="med"/>
                </a:ln>
              </p:spPr>
            </p:sp>
            <p:sp>
              <p:nvSpPr>
                <p:cNvPr id="21652" name="Oval 139"/>
                <p:cNvSpPr/>
                <p:nvPr/>
              </p:nvSpPr>
              <p:spPr>
                <a:xfrm>
                  <a:off x="9338" y="4838"/>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53" name="Line 140"/>
                <p:cNvSpPr/>
                <p:nvPr/>
              </p:nvSpPr>
              <p:spPr>
                <a:xfrm>
                  <a:off x="10038" y="4670"/>
                  <a:ext cx="0" cy="198"/>
                </a:xfrm>
                <a:prstGeom prst="line">
                  <a:avLst/>
                </a:prstGeom>
                <a:ln w="9525" cap="flat" cmpd="sng">
                  <a:solidFill>
                    <a:srgbClr val="0000FF"/>
                  </a:solidFill>
                  <a:prstDash val="solid"/>
                  <a:headEnd type="none" w="med" len="med"/>
                  <a:tailEnd type="none" w="med" len="med"/>
                </a:ln>
              </p:spPr>
            </p:sp>
            <p:sp>
              <p:nvSpPr>
                <p:cNvPr id="21654" name="Rectangle 141"/>
                <p:cNvSpPr/>
                <p:nvPr/>
              </p:nvSpPr>
              <p:spPr>
                <a:xfrm>
                  <a:off x="8047" y="5078"/>
                  <a:ext cx="425" cy="30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655" name="Rectangle 142"/>
                <p:cNvSpPr/>
                <p:nvPr/>
              </p:nvSpPr>
              <p:spPr>
                <a:xfrm>
                  <a:off x="10035" y="5114"/>
                  <a:ext cx="425" cy="30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656" name="Oval 143"/>
                <p:cNvSpPr/>
                <p:nvPr/>
              </p:nvSpPr>
              <p:spPr>
                <a:xfrm>
                  <a:off x="7189" y="5702"/>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57" name="Rectangle 144"/>
                <p:cNvSpPr/>
                <p:nvPr/>
              </p:nvSpPr>
              <p:spPr>
                <a:xfrm>
                  <a:off x="6966" y="5762"/>
                  <a:ext cx="369" cy="24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658" name="Oval 145"/>
                <p:cNvSpPr/>
                <p:nvPr/>
              </p:nvSpPr>
              <p:spPr>
                <a:xfrm>
                  <a:off x="9129" y="5686"/>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59" name="Rectangle 146"/>
                <p:cNvSpPr/>
                <p:nvPr/>
              </p:nvSpPr>
              <p:spPr>
                <a:xfrm>
                  <a:off x="8915" y="5746"/>
                  <a:ext cx="369" cy="244"/>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660" name="Line 147"/>
                <p:cNvSpPr/>
                <p:nvPr/>
              </p:nvSpPr>
              <p:spPr>
                <a:xfrm>
                  <a:off x="7260" y="6014"/>
                  <a:ext cx="0" cy="312"/>
                </a:xfrm>
                <a:prstGeom prst="line">
                  <a:avLst/>
                </a:prstGeom>
                <a:ln w="9525" cap="flat" cmpd="sng">
                  <a:solidFill>
                    <a:srgbClr val="0000FF"/>
                  </a:solidFill>
                  <a:prstDash val="solid"/>
                  <a:headEnd type="none" w="med" len="med"/>
                  <a:tailEnd type="none" w="med" len="med"/>
                </a:ln>
              </p:spPr>
            </p:sp>
            <p:sp>
              <p:nvSpPr>
                <p:cNvPr id="21661" name="Line 148"/>
                <p:cNvSpPr/>
                <p:nvPr/>
              </p:nvSpPr>
              <p:spPr>
                <a:xfrm flipV="1">
                  <a:off x="7251" y="6326"/>
                  <a:ext cx="171" cy="4"/>
                </a:xfrm>
                <a:prstGeom prst="line">
                  <a:avLst/>
                </a:prstGeom>
                <a:ln w="9525" cap="flat" cmpd="sng">
                  <a:solidFill>
                    <a:srgbClr val="0000FF"/>
                  </a:solidFill>
                  <a:prstDash val="solid"/>
                  <a:headEnd type="none" w="med" len="med"/>
                  <a:tailEnd type="none" w="med" len="med"/>
                </a:ln>
              </p:spPr>
            </p:sp>
            <p:sp>
              <p:nvSpPr>
                <p:cNvPr id="21662" name="Line 149"/>
                <p:cNvSpPr/>
                <p:nvPr/>
              </p:nvSpPr>
              <p:spPr>
                <a:xfrm>
                  <a:off x="9202" y="5994"/>
                  <a:ext cx="0" cy="312"/>
                </a:xfrm>
                <a:prstGeom prst="line">
                  <a:avLst/>
                </a:prstGeom>
                <a:ln w="9525" cap="flat" cmpd="sng">
                  <a:solidFill>
                    <a:srgbClr val="0000FF"/>
                  </a:solidFill>
                  <a:prstDash val="solid"/>
                  <a:headEnd type="none" w="med" len="med"/>
                  <a:tailEnd type="none" w="med" len="med"/>
                </a:ln>
              </p:spPr>
            </p:sp>
            <p:sp>
              <p:nvSpPr>
                <p:cNvPr id="21663" name="Line 150"/>
                <p:cNvSpPr/>
                <p:nvPr/>
              </p:nvSpPr>
              <p:spPr>
                <a:xfrm>
                  <a:off x="9215" y="6306"/>
                  <a:ext cx="140" cy="0"/>
                </a:xfrm>
                <a:prstGeom prst="line">
                  <a:avLst/>
                </a:prstGeom>
                <a:ln w="9525" cap="flat" cmpd="sng">
                  <a:solidFill>
                    <a:srgbClr val="0000FF"/>
                  </a:solidFill>
                  <a:prstDash val="solid"/>
                  <a:headEnd type="none" w="med" len="med"/>
                  <a:tailEnd type="none" w="med" len="med"/>
                </a:ln>
              </p:spPr>
            </p:sp>
            <p:sp>
              <p:nvSpPr>
                <p:cNvPr id="21664" name="Line 151"/>
                <p:cNvSpPr/>
                <p:nvPr/>
              </p:nvSpPr>
              <p:spPr>
                <a:xfrm>
                  <a:off x="7144" y="6009"/>
                  <a:ext cx="0" cy="635"/>
                </a:xfrm>
                <a:prstGeom prst="line">
                  <a:avLst/>
                </a:prstGeom>
                <a:ln w="9525" cap="flat" cmpd="sng">
                  <a:solidFill>
                    <a:srgbClr val="0000FF"/>
                  </a:solidFill>
                  <a:prstDash val="solid"/>
                  <a:headEnd type="none" w="med" len="med"/>
                  <a:tailEnd type="none" w="med" len="med"/>
                </a:ln>
              </p:spPr>
            </p:sp>
            <p:sp>
              <p:nvSpPr>
                <p:cNvPr id="21665" name="Line 152"/>
                <p:cNvSpPr/>
                <p:nvPr/>
              </p:nvSpPr>
              <p:spPr>
                <a:xfrm>
                  <a:off x="9084" y="5974"/>
                  <a:ext cx="0" cy="624"/>
                </a:xfrm>
                <a:prstGeom prst="line">
                  <a:avLst/>
                </a:prstGeom>
                <a:ln w="9525" cap="flat" cmpd="sng">
                  <a:solidFill>
                    <a:srgbClr val="0000FF"/>
                  </a:solidFill>
                  <a:prstDash val="solid"/>
                  <a:headEnd type="none" w="med" len="med"/>
                  <a:tailEnd type="none" w="med" len="med"/>
                </a:ln>
              </p:spPr>
            </p:sp>
            <p:sp>
              <p:nvSpPr>
                <p:cNvPr id="21666" name="Line 153"/>
                <p:cNvSpPr/>
                <p:nvPr/>
              </p:nvSpPr>
              <p:spPr>
                <a:xfrm>
                  <a:off x="7035" y="6009"/>
                  <a:ext cx="0" cy="2580"/>
                </a:xfrm>
                <a:prstGeom prst="line">
                  <a:avLst/>
                </a:prstGeom>
                <a:ln w="9525" cap="flat" cmpd="sng">
                  <a:solidFill>
                    <a:srgbClr val="0000FF"/>
                  </a:solidFill>
                  <a:prstDash val="solid"/>
                  <a:headEnd type="none" w="med" len="med"/>
                  <a:tailEnd type="none" w="med" len="med"/>
                </a:ln>
              </p:spPr>
            </p:sp>
            <p:sp>
              <p:nvSpPr>
                <p:cNvPr id="21667" name="Line 154"/>
                <p:cNvSpPr/>
                <p:nvPr/>
              </p:nvSpPr>
              <p:spPr>
                <a:xfrm>
                  <a:off x="8975" y="5990"/>
                  <a:ext cx="0" cy="2580"/>
                </a:xfrm>
                <a:prstGeom prst="line">
                  <a:avLst/>
                </a:prstGeom>
                <a:ln w="9525" cap="flat" cmpd="sng">
                  <a:solidFill>
                    <a:srgbClr val="0000FF"/>
                  </a:solidFill>
                  <a:prstDash val="solid"/>
                  <a:headEnd type="none" w="med" len="med"/>
                  <a:tailEnd type="none" w="med" len="med"/>
                </a:ln>
              </p:spPr>
            </p:sp>
            <p:sp>
              <p:nvSpPr>
                <p:cNvPr id="21668" name="Rectangle 155"/>
                <p:cNvSpPr/>
                <p:nvPr/>
              </p:nvSpPr>
              <p:spPr>
                <a:xfrm>
                  <a:off x="9400" y="5854"/>
                  <a:ext cx="712" cy="527"/>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800" dirty="0">
                      <a:latin typeface="宋体" panose="02010600030101010101" pitchFamily="2" charset="-122"/>
                    </a:rPr>
                    <a:t>≥</a:t>
                  </a:r>
                  <a:r>
                    <a:rPr lang="en-US" altLang="zh-CN" sz="1800" dirty="0">
                      <a:latin typeface="Times New Roman" panose="02020603050405020304" pitchFamily="18" charset="0"/>
                    </a:rPr>
                    <a:t>1</a:t>
                  </a:r>
                </a:p>
                <a:p>
                  <a:pPr algn="just">
                    <a:lnSpc>
                      <a:spcPct val="96000"/>
                    </a:lnSpc>
                  </a:pPr>
                  <a:r>
                    <a:rPr lang="en-US" altLang="zh-CN" sz="1800" dirty="0">
                      <a:latin typeface="Times New Roman" panose="02020603050405020304" pitchFamily="18" charset="0"/>
                    </a:rPr>
                    <a:t>&amp;         </a:t>
                  </a:r>
                  <a:endParaRPr lang="en-US" altLang="zh-CN" sz="4800" dirty="0">
                    <a:latin typeface="Times New Roman" panose="02020603050405020304" pitchFamily="18" charset="0"/>
                  </a:endParaRPr>
                </a:p>
              </p:txBody>
            </p:sp>
            <p:sp>
              <p:nvSpPr>
                <p:cNvPr id="21669" name="Line 156"/>
                <p:cNvSpPr/>
                <p:nvPr/>
              </p:nvSpPr>
              <p:spPr>
                <a:xfrm flipV="1">
                  <a:off x="9408" y="6126"/>
                  <a:ext cx="705" cy="0"/>
                </a:xfrm>
                <a:prstGeom prst="line">
                  <a:avLst/>
                </a:prstGeom>
                <a:ln w="9525" cap="flat" cmpd="sng">
                  <a:solidFill>
                    <a:srgbClr val="0000FF"/>
                  </a:solidFill>
                  <a:prstDash val="solid"/>
                  <a:headEnd type="none" w="med" len="med"/>
                  <a:tailEnd type="none" w="med" len="med"/>
                </a:ln>
              </p:spPr>
            </p:sp>
            <p:sp>
              <p:nvSpPr>
                <p:cNvPr id="21670" name="Line 157"/>
                <p:cNvSpPr/>
                <p:nvPr/>
              </p:nvSpPr>
              <p:spPr>
                <a:xfrm>
                  <a:off x="9651" y="6130"/>
                  <a:ext cx="0" cy="255"/>
                </a:xfrm>
                <a:prstGeom prst="line">
                  <a:avLst/>
                </a:prstGeom>
                <a:ln w="9525" cap="flat" cmpd="sng">
                  <a:solidFill>
                    <a:srgbClr val="0000FF"/>
                  </a:solidFill>
                  <a:prstDash val="solid"/>
                  <a:headEnd type="none" w="med" len="med"/>
                  <a:tailEnd type="none" w="med" len="med"/>
                </a:ln>
              </p:spPr>
            </p:sp>
            <p:sp>
              <p:nvSpPr>
                <p:cNvPr id="21671" name="Rectangle 158"/>
                <p:cNvSpPr/>
                <p:nvPr/>
              </p:nvSpPr>
              <p:spPr>
                <a:xfrm>
                  <a:off x="7495" y="5834"/>
                  <a:ext cx="482" cy="527"/>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800" dirty="0">
                      <a:latin typeface="宋体" panose="02010600030101010101" pitchFamily="2" charset="-122"/>
                    </a:rPr>
                    <a:t>≥</a:t>
                  </a:r>
                  <a:r>
                    <a:rPr lang="en-US" altLang="zh-CN" sz="1800" dirty="0">
                      <a:latin typeface="Times New Roman" panose="02020603050405020304" pitchFamily="18" charset="0"/>
                    </a:rPr>
                    <a:t>1</a:t>
                  </a:r>
                </a:p>
                <a:p>
                  <a:pPr algn="just">
                    <a:lnSpc>
                      <a:spcPct val="96000"/>
                    </a:lnSpc>
                  </a:pPr>
                  <a:r>
                    <a:rPr lang="en-US" altLang="zh-CN" sz="1800" dirty="0">
                      <a:latin typeface="Times New Roman" panose="02020603050405020304" pitchFamily="18" charset="0"/>
                    </a:rPr>
                    <a:t>&amp;         </a:t>
                  </a:r>
                  <a:endParaRPr lang="en-US" altLang="zh-CN" sz="4800" dirty="0">
                    <a:latin typeface="Times New Roman" panose="02020603050405020304" pitchFamily="18" charset="0"/>
                  </a:endParaRPr>
                </a:p>
              </p:txBody>
            </p:sp>
            <p:sp>
              <p:nvSpPr>
                <p:cNvPr id="21672" name="Line 159"/>
                <p:cNvSpPr/>
                <p:nvPr/>
              </p:nvSpPr>
              <p:spPr>
                <a:xfrm>
                  <a:off x="7495" y="6112"/>
                  <a:ext cx="482" cy="0"/>
                </a:xfrm>
                <a:prstGeom prst="line">
                  <a:avLst/>
                </a:prstGeom>
                <a:ln w="9525" cap="flat" cmpd="sng">
                  <a:solidFill>
                    <a:srgbClr val="0000FF"/>
                  </a:solidFill>
                  <a:prstDash val="solid"/>
                  <a:headEnd type="none" w="med" len="med"/>
                  <a:tailEnd type="none" w="med" len="med"/>
                </a:ln>
              </p:spPr>
            </p:sp>
            <p:sp>
              <p:nvSpPr>
                <p:cNvPr id="21673" name="Line 160"/>
                <p:cNvSpPr/>
                <p:nvPr/>
              </p:nvSpPr>
              <p:spPr>
                <a:xfrm>
                  <a:off x="7739" y="6110"/>
                  <a:ext cx="0" cy="255"/>
                </a:xfrm>
                <a:prstGeom prst="line">
                  <a:avLst/>
                </a:prstGeom>
                <a:ln w="9525" cap="flat" cmpd="sng">
                  <a:solidFill>
                    <a:srgbClr val="0000FF"/>
                  </a:solidFill>
                  <a:prstDash val="solid"/>
                  <a:headEnd type="none" w="med" len="med"/>
                  <a:tailEnd type="none" w="med" len="med"/>
                </a:ln>
              </p:spPr>
            </p:sp>
            <p:sp>
              <p:nvSpPr>
                <p:cNvPr id="21674" name="Rectangle 161"/>
                <p:cNvSpPr/>
                <p:nvPr/>
              </p:nvSpPr>
              <p:spPr>
                <a:xfrm>
                  <a:off x="2468" y="5730"/>
                  <a:ext cx="425" cy="30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675" name="Line 162"/>
                <p:cNvSpPr/>
                <p:nvPr/>
              </p:nvSpPr>
              <p:spPr>
                <a:xfrm>
                  <a:off x="3107" y="6618"/>
                  <a:ext cx="7257" cy="0"/>
                </a:xfrm>
                <a:prstGeom prst="line">
                  <a:avLst/>
                </a:prstGeom>
                <a:ln w="9525" cap="flat" cmpd="sng">
                  <a:solidFill>
                    <a:srgbClr val="0000FF"/>
                  </a:solidFill>
                  <a:prstDash val="solid"/>
                  <a:headEnd type="none" w="med" len="med"/>
                  <a:tailEnd type="none" w="med" len="med"/>
                </a:ln>
              </p:spPr>
            </p:sp>
            <p:sp>
              <p:nvSpPr>
                <p:cNvPr id="21676" name="Line 163"/>
                <p:cNvSpPr/>
                <p:nvPr/>
              </p:nvSpPr>
              <p:spPr>
                <a:xfrm>
                  <a:off x="10375" y="5430"/>
                  <a:ext cx="0" cy="2551"/>
                </a:xfrm>
                <a:prstGeom prst="line">
                  <a:avLst/>
                </a:prstGeom>
                <a:ln w="9525" cap="flat" cmpd="sng">
                  <a:solidFill>
                    <a:srgbClr val="0000FF"/>
                  </a:solidFill>
                  <a:prstDash val="solid"/>
                  <a:headEnd type="none" w="med" len="med"/>
                  <a:tailEnd type="none" w="med" len="med"/>
                </a:ln>
              </p:spPr>
            </p:sp>
            <p:sp>
              <p:nvSpPr>
                <p:cNvPr id="21677" name="Oval 164"/>
                <p:cNvSpPr/>
                <p:nvPr/>
              </p:nvSpPr>
              <p:spPr>
                <a:xfrm>
                  <a:off x="10344" y="6588"/>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78" name="Line 165"/>
                <p:cNvSpPr/>
                <p:nvPr/>
              </p:nvSpPr>
              <p:spPr>
                <a:xfrm>
                  <a:off x="3478" y="6009"/>
                  <a:ext cx="0" cy="1984"/>
                </a:xfrm>
                <a:prstGeom prst="line">
                  <a:avLst/>
                </a:prstGeom>
                <a:ln w="9525" cap="flat" cmpd="sng">
                  <a:solidFill>
                    <a:srgbClr val="0000FF"/>
                  </a:solidFill>
                  <a:prstDash val="solid"/>
                  <a:headEnd type="none" w="med" len="med"/>
                  <a:tailEnd type="none" w="med" len="med"/>
                </a:ln>
              </p:spPr>
            </p:sp>
            <p:sp>
              <p:nvSpPr>
                <p:cNvPr id="21679" name="Oval 166"/>
                <p:cNvSpPr/>
                <p:nvPr/>
              </p:nvSpPr>
              <p:spPr>
                <a:xfrm>
                  <a:off x="4270" y="6591"/>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80" name="Oval 167"/>
                <p:cNvSpPr/>
                <p:nvPr/>
              </p:nvSpPr>
              <p:spPr>
                <a:xfrm>
                  <a:off x="5126" y="6588"/>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681" name="Line 168"/>
                <p:cNvSpPr/>
                <p:nvPr/>
              </p:nvSpPr>
              <p:spPr>
                <a:xfrm>
                  <a:off x="2024" y="6720"/>
                  <a:ext cx="7428" cy="0"/>
                </a:xfrm>
                <a:prstGeom prst="line">
                  <a:avLst/>
                </a:prstGeom>
                <a:ln w="9525" cap="flat" cmpd="sng">
                  <a:solidFill>
                    <a:srgbClr val="0000FF"/>
                  </a:solidFill>
                  <a:prstDash val="solid"/>
                  <a:headEnd type="none" w="med" len="med"/>
                  <a:tailEnd type="none" w="med" len="med"/>
                </a:ln>
              </p:spPr>
            </p:sp>
            <p:sp>
              <p:nvSpPr>
                <p:cNvPr id="21682" name="Line 169"/>
                <p:cNvSpPr/>
                <p:nvPr/>
              </p:nvSpPr>
              <p:spPr>
                <a:xfrm>
                  <a:off x="2023" y="6009"/>
                  <a:ext cx="0" cy="709"/>
                </a:xfrm>
                <a:prstGeom prst="line">
                  <a:avLst/>
                </a:prstGeom>
                <a:ln w="9525" cap="flat" cmpd="sng">
                  <a:solidFill>
                    <a:srgbClr val="0000FF"/>
                  </a:solidFill>
                  <a:prstDash val="solid"/>
                  <a:headEnd type="none" w="med" len="med"/>
                  <a:tailEnd type="none" w="med" len="med"/>
                </a:ln>
              </p:spPr>
            </p:sp>
            <p:sp>
              <p:nvSpPr>
                <p:cNvPr id="21683" name="Line 170"/>
                <p:cNvSpPr/>
                <p:nvPr/>
              </p:nvSpPr>
              <p:spPr>
                <a:xfrm>
                  <a:off x="9443" y="6378"/>
                  <a:ext cx="0" cy="329"/>
                </a:xfrm>
                <a:prstGeom prst="line">
                  <a:avLst/>
                </a:prstGeom>
                <a:ln w="9525" cap="flat" cmpd="sng">
                  <a:solidFill>
                    <a:srgbClr val="0000FF"/>
                  </a:solidFill>
                  <a:prstDash val="solid"/>
                  <a:headEnd type="none" w="med" len="med"/>
                  <a:tailEnd type="none" w="med" len="med"/>
                </a:ln>
              </p:spPr>
            </p:sp>
            <p:sp>
              <p:nvSpPr>
                <p:cNvPr id="21684" name="Line 171"/>
                <p:cNvSpPr/>
                <p:nvPr/>
              </p:nvSpPr>
              <p:spPr>
                <a:xfrm>
                  <a:off x="2113" y="6009"/>
                  <a:ext cx="0" cy="1672"/>
                </a:xfrm>
                <a:prstGeom prst="line">
                  <a:avLst/>
                </a:prstGeom>
                <a:ln w="9525" cap="flat" cmpd="sng">
                  <a:solidFill>
                    <a:srgbClr val="0000FF"/>
                  </a:solidFill>
                  <a:prstDash val="solid"/>
                  <a:headEnd type="none" w="med" len="med"/>
                  <a:tailEnd type="none" w="med" len="med"/>
                </a:ln>
              </p:spPr>
            </p:sp>
            <p:sp>
              <p:nvSpPr>
                <p:cNvPr id="21685" name="Line 172"/>
                <p:cNvSpPr/>
                <p:nvPr/>
              </p:nvSpPr>
              <p:spPr>
                <a:xfrm>
                  <a:off x="2188" y="6009"/>
                  <a:ext cx="0" cy="1417"/>
                </a:xfrm>
                <a:prstGeom prst="line">
                  <a:avLst/>
                </a:prstGeom>
                <a:ln w="9525" cap="flat" cmpd="sng">
                  <a:solidFill>
                    <a:srgbClr val="0000FF"/>
                  </a:solidFill>
                  <a:prstDash val="solid"/>
                  <a:headEnd type="none" w="med" len="med"/>
                  <a:tailEnd type="none" w="med" len="med"/>
                </a:ln>
              </p:spPr>
            </p:sp>
            <p:sp>
              <p:nvSpPr>
                <p:cNvPr id="21686" name="Line 173"/>
                <p:cNvSpPr/>
                <p:nvPr/>
              </p:nvSpPr>
              <p:spPr>
                <a:xfrm>
                  <a:off x="2278" y="6009"/>
                  <a:ext cx="0" cy="1191"/>
                </a:xfrm>
                <a:prstGeom prst="line">
                  <a:avLst/>
                </a:prstGeom>
                <a:ln w="9525" cap="flat" cmpd="sng">
                  <a:solidFill>
                    <a:srgbClr val="0000FF"/>
                  </a:solidFill>
                  <a:prstDash val="solid"/>
                  <a:headEnd type="none" w="med" len="med"/>
                  <a:tailEnd type="none" w="med" len="med"/>
                </a:ln>
              </p:spPr>
            </p:sp>
            <p:sp>
              <p:nvSpPr>
                <p:cNvPr id="21687" name="Line 174"/>
                <p:cNvSpPr/>
                <p:nvPr/>
              </p:nvSpPr>
              <p:spPr>
                <a:xfrm>
                  <a:off x="2368" y="6009"/>
                  <a:ext cx="0" cy="952"/>
                </a:xfrm>
                <a:prstGeom prst="line">
                  <a:avLst/>
                </a:prstGeom>
                <a:ln w="9525" cap="flat" cmpd="sng">
                  <a:solidFill>
                    <a:srgbClr val="0000FF"/>
                  </a:solidFill>
                  <a:prstDash val="solid"/>
                  <a:headEnd type="none" w="med" len="med"/>
                  <a:tailEnd type="none" w="med" len="med"/>
                </a:ln>
              </p:spPr>
            </p:sp>
            <p:sp>
              <p:nvSpPr>
                <p:cNvPr id="21688" name="Line 175"/>
                <p:cNvSpPr/>
                <p:nvPr/>
              </p:nvSpPr>
              <p:spPr>
                <a:xfrm>
                  <a:off x="2533" y="6039"/>
                  <a:ext cx="0" cy="794"/>
                </a:xfrm>
                <a:prstGeom prst="line">
                  <a:avLst/>
                </a:prstGeom>
                <a:ln w="9525" cap="flat" cmpd="sng">
                  <a:solidFill>
                    <a:srgbClr val="0000FF"/>
                  </a:solidFill>
                  <a:prstDash val="solid"/>
                  <a:headEnd type="none" w="med" len="med"/>
                  <a:tailEnd type="none" w="med" len="med"/>
                </a:ln>
              </p:spPr>
            </p:sp>
            <p:sp>
              <p:nvSpPr>
                <p:cNvPr id="21689" name="Line 176"/>
                <p:cNvSpPr/>
                <p:nvPr/>
              </p:nvSpPr>
              <p:spPr>
                <a:xfrm>
                  <a:off x="9505" y="6370"/>
                  <a:ext cx="0" cy="595"/>
                </a:xfrm>
                <a:prstGeom prst="line">
                  <a:avLst/>
                </a:prstGeom>
                <a:ln w="9525" cap="flat" cmpd="sng">
                  <a:solidFill>
                    <a:srgbClr val="0000FF"/>
                  </a:solidFill>
                  <a:prstDash val="solid"/>
                  <a:headEnd type="none" w="med" len="med"/>
                  <a:tailEnd type="none" w="med" len="med"/>
                </a:ln>
              </p:spPr>
            </p:sp>
            <p:sp>
              <p:nvSpPr>
                <p:cNvPr id="21690" name="Line 177"/>
                <p:cNvSpPr/>
                <p:nvPr/>
              </p:nvSpPr>
              <p:spPr>
                <a:xfrm>
                  <a:off x="9559" y="6378"/>
                  <a:ext cx="0" cy="822"/>
                </a:xfrm>
                <a:prstGeom prst="line">
                  <a:avLst/>
                </a:prstGeom>
                <a:ln w="9525" cap="flat" cmpd="sng">
                  <a:solidFill>
                    <a:srgbClr val="0000FF"/>
                  </a:solidFill>
                  <a:prstDash val="solid"/>
                  <a:headEnd type="none" w="med" len="med"/>
                  <a:tailEnd type="none" w="med" len="med"/>
                </a:ln>
              </p:spPr>
            </p:sp>
            <p:sp>
              <p:nvSpPr>
                <p:cNvPr id="21691" name="Line 178"/>
                <p:cNvSpPr/>
                <p:nvPr/>
              </p:nvSpPr>
              <p:spPr>
                <a:xfrm>
                  <a:off x="9622" y="6396"/>
                  <a:ext cx="0" cy="1032"/>
                </a:xfrm>
                <a:prstGeom prst="line">
                  <a:avLst/>
                </a:prstGeom>
                <a:ln w="9525" cap="flat" cmpd="sng">
                  <a:solidFill>
                    <a:srgbClr val="0000FF"/>
                  </a:solidFill>
                  <a:prstDash val="solid"/>
                  <a:headEnd type="none" w="med" len="med"/>
                  <a:tailEnd type="none" w="med" len="med"/>
                </a:ln>
              </p:spPr>
            </p:sp>
            <p:sp>
              <p:nvSpPr>
                <p:cNvPr id="21692" name="Line 179"/>
                <p:cNvSpPr/>
                <p:nvPr/>
              </p:nvSpPr>
              <p:spPr>
                <a:xfrm>
                  <a:off x="9682" y="6384"/>
                  <a:ext cx="0" cy="465"/>
                </a:xfrm>
                <a:prstGeom prst="line">
                  <a:avLst/>
                </a:prstGeom>
                <a:ln w="9525" cap="flat" cmpd="sng">
                  <a:solidFill>
                    <a:srgbClr val="0000FF"/>
                  </a:solidFill>
                  <a:prstDash val="solid"/>
                  <a:headEnd type="none" w="med" len="med"/>
                  <a:tailEnd type="none" w="med" len="med"/>
                </a:ln>
              </p:spPr>
            </p:sp>
            <p:sp>
              <p:nvSpPr>
                <p:cNvPr id="21693" name="Line 180"/>
                <p:cNvSpPr/>
                <p:nvPr/>
              </p:nvSpPr>
              <p:spPr>
                <a:xfrm>
                  <a:off x="9733" y="6381"/>
                  <a:ext cx="0" cy="709"/>
                </a:xfrm>
                <a:prstGeom prst="line">
                  <a:avLst/>
                </a:prstGeom>
                <a:ln w="9525" cap="flat" cmpd="sng">
                  <a:solidFill>
                    <a:srgbClr val="0000FF"/>
                  </a:solidFill>
                  <a:prstDash val="solid"/>
                  <a:headEnd type="none" w="med" len="med"/>
                  <a:tailEnd type="none" w="med" len="med"/>
                </a:ln>
              </p:spPr>
            </p:sp>
            <p:sp>
              <p:nvSpPr>
                <p:cNvPr id="21694" name="Line 181"/>
                <p:cNvSpPr/>
                <p:nvPr/>
              </p:nvSpPr>
              <p:spPr>
                <a:xfrm>
                  <a:off x="9793" y="6381"/>
                  <a:ext cx="0" cy="924"/>
                </a:xfrm>
                <a:prstGeom prst="line">
                  <a:avLst/>
                </a:prstGeom>
                <a:ln w="9525" cap="flat" cmpd="sng">
                  <a:solidFill>
                    <a:srgbClr val="0000FF"/>
                  </a:solidFill>
                  <a:prstDash val="solid"/>
                  <a:headEnd type="none" w="med" len="med"/>
                  <a:tailEnd type="none" w="med" len="med"/>
                </a:ln>
              </p:spPr>
            </p:sp>
            <p:sp>
              <p:nvSpPr>
                <p:cNvPr id="21695" name="Line 182"/>
                <p:cNvSpPr/>
                <p:nvPr/>
              </p:nvSpPr>
              <p:spPr>
                <a:xfrm>
                  <a:off x="9853" y="6378"/>
                  <a:ext cx="0" cy="1179"/>
                </a:xfrm>
                <a:prstGeom prst="line">
                  <a:avLst/>
                </a:prstGeom>
                <a:ln w="9525" cap="flat" cmpd="sng">
                  <a:solidFill>
                    <a:srgbClr val="0000FF"/>
                  </a:solidFill>
                  <a:prstDash val="solid"/>
                  <a:headEnd type="none" w="med" len="med"/>
                  <a:tailEnd type="none" w="med" len="med"/>
                </a:ln>
              </p:spPr>
            </p:sp>
            <p:sp>
              <p:nvSpPr>
                <p:cNvPr id="21696" name="Line 183"/>
                <p:cNvSpPr/>
                <p:nvPr/>
              </p:nvSpPr>
              <p:spPr>
                <a:xfrm>
                  <a:off x="2531" y="6846"/>
                  <a:ext cx="7385" cy="12"/>
                </a:xfrm>
                <a:prstGeom prst="line">
                  <a:avLst/>
                </a:prstGeom>
                <a:ln w="9525" cap="flat" cmpd="sng">
                  <a:solidFill>
                    <a:srgbClr val="0000FF"/>
                  </a:solidFill>
                  <a:prstDash val="solid"/>
                  <a:headEnd type="none" w="med" len="med"/>
                  <a:tailEnd type="none" w="med" len="med"/>
                </a:ln>
              </p:spPr>
            </p:sp>
            <p:sp>
              <p:nvSpPr>
                <p:cNvPr id="21697" name="Line 184"/>
                <p:cNvSpPr/>
                <p:nvPr/>
              </p:nvSpPr>
              <p:spPr>
                <a:xfrm flipV="1">
                  <a:off x="2355" y="6960"/>
                  <a:ext cx="7150" cy="6"/>
                </a:xfrm>
                <a:prstGeom prst="line">
                  <a:avLst/>
                </a:prstGeom>
                <a:ln w="9525" cap="flat" cmpd="sng">
                  <a:solidFill>
                    <a:srgbClr val="0000FF"/>
                  </a:solidFill>
                  <a:prstDash val="solid"/>
                  <a:headEnd type="none" w="med" len="med"/>
                  <a:tailEnd type="none" w="med" len="med"/>
                </a:ln>
              </p:spPr>
            </p:sp>
            <p:sp>
              <p:nvSpPr>
                <p:cNvPr id="21698" name="Line 185"/>
                <p:cNvSpPr/>
                <p:nvPr/>
              </p:nvSpPr>
              <p:spPr>
                <a:xfrm>
                  <a:off x="2840" y="6039"/>
                  <a:ext cx="0" cy="1043"/>
                </a:xfrm>
                <a:prstGeom prst="line">
                  <a:avLst/>
                </a:prstGeom>
                <a:ln w="9525" cap="flat" cmpd="sng">
                  <a:solidFill>
                    <a:srgbClr val="0000FF"/>
                  </a:solidFill>
                  <a:prstDash val="solid"/>
                  <a:headEnd type="none" w="med" len="med"/>
                  <a:tailEnd type="none" w="med" len="med"/>
                </a:ln>
              </p:spPr>
            </p:sp>
            <p:sp>
              <p:nvSpPr>
                <p:cNvPr id="21699" name="Line 186"/>
                <p:cNvSpPr/>
                <p:nvPr/>
              </p:nvSpPr>
              <p:spPr>
                <a:xfrm flipV="1">
                  <a:off x="2835" y="7080"/>
                  <a:ext cx="7157" cy="6"/>
                </a:xfrm>
                <a:prstGeom prst="line">
                  <a:avLst/>
                </a:prstGeom>
                <a:ln w="9525" cap="flat" cmpd="sng">
                  <a:solidFill>
                    <a:srgbClr val="0000FF"/>
                  </a:solidFill>
                  <a:prstDash val="solid"/>
                  <a:headEnd type="none" w="med" len="med"/>
                  <a:tailEnd type="none" w="med" len="med"/>
                </a:ln>
              </p:spPr>
            </p:sp>
            <p:sp>
              <p:nvSpPr>
                <p:cNvPr id="21700" name="Line 187"/>
                <p:cNvSpPr/>
                <p:nvPr/>
              </p:nvSpPr>
              <p:spPr>
                <a:xfrm>
                  <a:off x="2680" y="6039"/>
                  <a:ext cx="0" cy="1786"/>
                </a:xfrm>
                <a:prstGeom prst="line">
                  <a:avLst/>
                </a:prstGeom>
                <a:ln w="9525" cap="flat" cmpd="sng">
                  <a:solidFill>
                    <a:srgbClr val="0000FF"/>
                  </a:solidFill>
                  <a:prstDash val="solid"/>
                  <a:headEnd type="none" w="med" len="med"/>
                  <a:tailEnd type="none" w="med" len="med"/>
                </a:ln>
              </p:spPr>
            </p:sp>
            <p:sp>
              <p:nvSpPr>
                <p:cNvPr id="21701" name="Line 188"/>
                <p:cNvSpPr/>
                <p:nvPr/>
              </p:nvSpPr>
              <p:spPr>
                <a:xfrm>
                  <a:off x="2279" y="7206"/>
                  <a:ext cx="7284" cy="6"/>
                </a:xfrm>
                <a:prstGeom prst="line">
                  <a:avLst/>
                </a:prstGeom>
                <a:ln w="9525" cap="flat" cmpd="sng">
                  <a:solidFill>
                    <a:srgbClr val="0000FF"/>
                  </a:solidFill>
                  <a:prstDash val="solid"/>
                  <a:headEnd type="none" w="med" len="med"/>
                  <a:tailEnd type="none" w="med" len="med"/>
                </a:ln>
              </p:spPr>
            </p:sp>
            <p:sp>
              <p:nvSpPr>
                <p:cNvPr id="21702" name="Line 189"/>
                <p:cNvSpPr/>
                <p:nvPr/>
              </p:nvSpPr>
              <p:spPr>
                <a:xfrm>
                  <a:off x="6740" y="7308"/>
                  <a:ext cx="3043" cy="0"/>
                </a:xfrm>
                <a:prstGeom prst="line">
                  <a:avLst/>
                </a:prstGeom>
                <a:ln w="9525" cap="flat" cmpd="sng">
                  <a:solidFill>
                    <a:srgbClr val="0000FF"/>
                  </a:solidFill>
                  <a:prstDash val="solid"/>
                  <a:headEnd type="none" w="med" len="med"/>
                  <a:tailEnd type="none" w="med" len="med"/>
                </a:ln>
              </p:spPr>
            </p:sp>
            <p:sp>
              <p:nvSpPr>
                <p:cNvPr id="21703" name="Line 190"/>
                <p:cNvSpPr/>
                <p:nvPr/>
              </p:nvSpPr>
              <p:spPr>
                <a:xfrm>
                  <a:off x="2179" y="7428"/>
                  <a:ext cx="7432" cy="0"/>
                </a:xfrm>
                <a:prstGeom prst="line">
                  <a:avLst/>
                </a:prstGeom>
                <a:ln w="9525" cap="flat" cmpd="sng">
                  <a:solidFill>
                    <a:srgbClr val="0000FF"/>
                  </a:solidFill>
                  <a:prstDash val="solid"/>
                  <a:headEnd type="none" w="med" len="med"/>
                  <a:tailEnd type="none" w="med" len="med"/>
                </a:ln>
              </p:spPr>
            </p:sp>
            <p:sp>
              <p:nvSpPr>
                <p:cNvPr id="21704" name="Line 191"/>
                <p:cNvSpPr/>
                <p:nvPr/>
              </p:nvSpPr>
              <p:spPr>
                <a:xfrm>
                  <a:off x="8792" y="7560"/>
                  <a:ext cx="1063" cy="0"/>
                </a:xfrm>
                <a:prstGeom prst="line">
                  <a:avLst/>
                </a:prstGeom>
                <a:ln w="9525" cap="flat" cmpd="sng">
                  <a:solidFill>
                    <a:srgbClr val="0000FF"/>
                  </a:solidFill>
                  <a:prstDash val="solid"/>
                  <a:headEnd type="none" w="med" len="med"/>
                  <a:tailEnd type="none" w="med" len="med"/>
                </a:ln>
              </p:spPr>
            </p:sp>
            <p:sp>
              <p:nvSpPr>
                <p:cNvPr id="21705" name="Line 192"/>
                <p:cNvSpPr/>
                <p:nvPr/>
              </p:nvSpPr>
              <p:spPr>
                <a:xfrm>
                  <a:off x="2107" y="7680"/>
                  <a:ext cx="8404" cy="12"/>
                </a:xfrm>
                <a:prstGeom prst="line">
                  <a:avLst/>
                </a:prstGeom>
                <a:ln w="9525" cap="flat" cmpd="sng">
                  <a:solidFill>
                    <a:srgbClr val="0000FF"/>
                  </a:solidFill>
                  <a:prstDash val="solid"/>
                  <a:headEnd type="none" w="med" len="med"/>
                  <a:tailEnd type="none" w="med" len="med"/>
                </a:ln>
              </p:spPr>
            </p:sp>
            <p:sp>
              <p:nvSpPr>
                <p:cNvPr id="21706" name="Line 193"/>
                <p:cNvSpPr/>
                <p:nvPr/>
              </p:nvSpPr>
              <p:spPr>
                <a:xfrm flipV="1">
                  <a:off x="2692" y="7818"/>
                  <a:ext cx="8035" cy="6"/>
                </a:xfrm>
                <a:prstGeom prst="line">
                  <a:avLst/>
                </a:prstGeom>
                <a:ln w="9525" cap="flat" cmpd="sng">
                  <a:solidFill>
                    <a:srgbClr val="0000FF"/>
                  </a:solidFill>
                  <a:prstDash val="solid"/>
                  <a:headEnd type="none" w="med" len="med"/>
                  <a:tailEnd type="none" w="med" len="med"/>
                </a:ln>
              </p:spPr>
            </p:sp>
            <p:sp>
              <p:nvSpPr>
                <p:cNvPr id="21707" name="Line 194"/>
                <p:cNvSpPr/>
                <p:nvPr/>
              </p:nvSpPr>
              <p:spPr>
                <a:xfrm>
                  <a:off x="3739" y="6009"/>
                  <a:ext cx="0" cy="1984"/>
                </a:xfrm>
                <a:prstGeom prst="line">
                  <a:avLst/>
                </a:prstGeom>
                <a:ln w="9525" cap="flat" cmpd="sng">
                  <a:solidFill>
                    <a:srgbClr val="0000FF"/>
                  </a:solidFill>
                  <a:prstDash val="solid"/>
                  <a:headEnd type="none" w="med" len="med"/>
                  <a:tailEnd type="none" w="med" len="med"/>
                </a:ln>
              </p:spPr>
            </p:sp>
            <p:sp>
              <p:nvSpPr>
                <p:cNvPr id="21708" name="Rectangle 195"/>
                <p:cNvSpPr/>
                <p:nvPr/>
              </p:nvSpPr>
              <p:spPr>
                <a:xfrm>
                  <a:off x="3358" y="8031"/>
                  <a:ext cx="238" cy="255"/>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709" name="Rectangle 196"/>
                <p:cNvSpPr/>
                <p:nvPr/>
              </p:nvSpPr>
              <p:spPr>
                <a:xfrm>
                  <a:off x="3637" y="8031"/>
                  <a:ext cx="238" cy="255"/>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710" name="Oval 197"/>
                <p:cNvSpPr/>
                <p:nvPr/>
              </p:nvSpPr>
              <p:spPr>
                <a:xfrm>
                  <a:off x="3709" y="7965"/>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11" name="Oval 198"/>
                <p:cNvSpPr/>
                <p:nvPr/>
              </p:nvSpPr>
              <p:spPr>
                <a:xfrm>
                  <a:off x="3448" y="7965"/>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12" name="Line 199"/>
                <p:cNvSpPr/>
                <p:nvPr/>
              </p:nvSpPr>
              <p:spPr>
                <a:xfrm>
                  <a:off x="3484" y="8295"/>
                  <a:ext cx="0" cy="312"/>
                </a:xfrm>
                <a:prstGeom prst="line">
                  <a:avLst/>
                </a:prstGeom>
                <a:ln w="9525" cap="flat" cmpd="sng">
                  <a:solidFill>
                    <a:srgbClr val="0000FF"/>
                  </a:solidFill>
                  <a:prstDash val="solid"/>
                  <a:headEnd type="none" w="med" len="med"/>
                  <a:tailEnd type="none" w="med" len="med"/>
                </a:ln>
              </p:spPr>
            </p:sp>
            <p:sp>
              <p:nvSpPr>
                <p:cNvPr id="21713" name="Line 200"/>
                <p:cNvSpPr/>
                <p:nvPr/>
              </p:nvSpPr>
              <p:spPr>
                <a:xfrm>
                  <a:off x="3757" y="8289"/>
                  <a:ext cx="0" cy="312"/>
                </a:xfrm>
                <a:prstGeom prst="line">
                  <a:avLst/>
                </a:prstGeom>
                <a:ln w="9525" cap="flat" cmpd="sng">
                  <a:solidFill>
                    <a:srgbClr val="0000FF"/>
                  </a:solidFill>
                  <a:prstDash val="solid"/>
                  <a:headEnd type="none" w="med" len="med"/>
                  <a:tailEnd type="none" w="med" len="med"/>
                </a:ln>
              </p:spPr>
            </p:sp>
            <p:sp>
              <p:nvSpPr>
                <p:cNvPr id="21714" name="Oval 201"/>
                <p:cNvSpPr/>
                <p:nvPr/>
              </p:nvSpPr>
              <p:spPr>
                <a:xfrm>
                  <a:off x="9301" y="6270"/>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15" name="Rectangle 202"/>
                <p:cNvSpPr/>
                <p:nvPr/>
              </p:nvSpPr>
              <p:spPr>
                <a:xfrm>
                  <a:off x="9226" y="8073"/>
                  <a:ext cx="238" cy="255"/>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716" name="Oval 203"/>
                <p:cNvSpPr/>
                <p:nvPr/>
              </p:nvSpPr>
              <p:spPr>
                <a:xfrm>
                  <a:off x="9308" y="8006"/>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17" name="Line 204"/>
                <p:cNvSpPr/>
                <p:nvPr/>
              </p:nvSpPr>
              <p:spPr>
                <a:xfrm>
                  <a:off x="9358" y="8346"/>
                  <a:ext cx="0" cy="255"/>
                </a:xfrm>
                <a:prstGeom prst="line">
                  <a:avLst/>
                </a:prstGeom>
                <a:ln w="9525" cap="flat" cmpd="sng">
                  <a:solidFill>
                    <a:srgbClr val="0000FF"/>
                  </a:solidFill>
                  <a:prstDash val="solid"/>
                  <a:headEnd type="none" w="med" len="med"/>
                  <a:tailEnd type="none" w="med" len="med"/>
                </a:ln>
              </p:spPr>
            </p:sp>
            <p:sp>
              <p:nvSpPr>
                <p:cNvPr id="21718" name="Rectangle 205"/>
                <p:cNvSpPr/>
                <p:nvPr/>
              </p:nvSpPr>
              <p:spPr>
                <a:xfrm>
                  <a:off x="10255" y="7992"/>
                  <a:ext cx="238" cy="255"/>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8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21719" name="Oval 206"/>
                <p:cNvSpPr/>
                <p:nvPr/>
              </p:nvSpPr>
              <p:spPr>
                <a:xfrm>
                  <a:off x="10338" y="8253"/>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20" name="Line 207"/>
                <p:cNvSpPr/>
                <p:nvPr/>
              </p:nvSpPr>
              <p:spPr>
                <a:xfrm>
                  <a:off x="10368" y="8310"/>
                  <a:ext cx="0" cy="255"/>
                </a:xfrm>
                <a:prstGeom prst="line">
                  <a:avLst/>
                </a:prstGeom>
                <a:ln w="9525" cap="flat" cmpd="sng">
                  <a:solidFill>
                    <a:srgbClr val="0000FF"/>
                  </a:solidFill>
                  <a:prstDash val="solid"/>
                  <a:headEnd type="none" w="med" len="med"/>
                  <a:tailEnd type="none" w="med" len="med"/>
                </a:ln>
              </p:spPr>
            </p:sp>
            <p:sp>
              <p:nvSpPr>
                <p:cNvPr id="21721" name="Line 208"/>
                <p:cNvSpPr/>
                <p:nvPr/>
              </p:nvSpPr>
              <p:spPr>
                <a:xfrm>
                  <a:off x="2203" y="3681"/>
                  <a:ext cx="0" cy="1984"/>
                </a:xfrm>
                <a:prstGeom prst="line">
                  <a:avLst/>
                </a:prstGeom>
                <a:ln w="9525" cap="flat" cmpd="sng">
                  <a:solidFill>
                    <a:srgbClr val="0000FF"/>
                  </a:solidFill>
                  <a:prstDash val="solid"/>
                  <a:headEnd type="none" w="med" len="med"/>
                  <a:tailEnd type="none" w="med" len="med"/>
                </a:ln>
              </p:spPr>
            </p:sp>
            <p:sp>
              <p:nvSpPr>
                <p:cNvPr id="21722" name="Oval 209"/>
                <p:cNvSpPr/>
                <p:nvPr/>
              </p:nvSpPr>
              <p:spPr>
                <a:xfrm>
                  <a:off x="2173" y="5670"/>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23" name="Line 210"/>
                <p:cNvSpPr/>
                <p:nvPr/>
              </p:nvSpPr>
              <p:spPr>
                <a:xfrm>
                  <a:off x="2713" y="3615"/>
                  <a:ext cx="0" cy="2098"/>
                </a:xfrm>
                <a:prstGeom prst="line">
                  <a:avLst/>
                </a:prstGeom>
                <a:ln w="9525" cap="flat" cmpd="sng">
                  <a:solidFill>
                    <a:srgbClr val="0000FF"/>
                  </a:solidFill>
                  <a:prstDash val="solid"/>
                  <a:headEnd type="none" w="med" len="med"/>
                  <a:tailEnd type="none" w="med" len="med"/>
                </a:ln>
              </p:spPr>
            </p:sp>
            <p:sp>
              <p:nvSpPr>
                <p:cNvPr id="21724" name="Oval 211"/>
                <p:cNvSpPr/>
                <p:nvPr/>
              </p:nvSpPr>
              <p:spPr>
                <a:xfrm>
                  <a:off x="2683" y="5667"/>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25" name="Rectangle 212"/>
                <p:cNvSpPr/>
                <p:nvPr/>
              </p:nvSpPr>
              <p:spPr>
                <a:xfrm>
                  <a:off x="2608" y="2903"/>
                  <a:ext cx="1" cy="856"/>
                </a:xfrm>
                <a:prstGeom prst="rect">
                  <a:avLst/>
                </a:prstGeom>
                <a:noFill/>
                <a:ln w="9525">
                  <a:noFill/>
                </a:ln>
              </p:spPr>
              <p:txBody>
                <a:bodyPr wrap="none" lIns="0" rIns="0">
                  <a:spAutoFit/>
                </a:bodyPr>
                <a:lstStyle/>
                <a:p>
                  <a:pPr algn="just"/>
                  <a:endParaRPr lang="zh-CN" altLang="zh-CN" sz="4800" dirty="0">
                    <a:latin typeface="Times New Roman" panose="02020603050405020304" pitchFamily="18" charset="0"/>
                  </a:endParaRPr>
                </a:p>
              </p:txBody>
            </p:sp>
            <p:sp>
              <p:nvSpPr>
                <p:cNvPr id="21726" name="Oval 213"/>
                <p:cNvSpPr/>
                <p:nvPr/>
              </p:nvSpPr>
              <p:spPr>
                <a:xfrm>
                  <a:off x="3712" y="6813"/>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27" name="Oval 214"/>
                <p:cNvSpPr/>
                <p:nvPr/>
              </p:nvSpPr>
              <p:spPr>
                <a:xfrm>
                  <a:off x="3445" y="6693"/>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28" name="Oval 215"/>
                <p:cNvSpPr/>
                <p:nvPr/>
              </p:nvSpPr>
              <p:spPr>
                <a:xfrm>
                  <a:off x="4518" y="6936"/>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29" name="Oval 216"/>
                <p:cNvSpPr/>
                <p:nvPr/>
              </p:nvSpPr>
              <p:spPr>
                <a:xfrm>
                  <a:off x="4689" y="7062"/>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30" name="Oval 217"/>
                <p:cNvSpPr/>
                <p:nvPr/>
              </p:nvSpPr>
              <p:spPr>
                <a:xfrm>
                  <a:off x="5488" y="6694"/>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31" name="Oval 218"/>
                <p:cNvSpPr/>
                <p:nvPr/>
              </p:nvSpPr>
              <p:spPr>
                <a:xfrm>
                  <a:off x="5563" y="6938"/>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32" name="Oval 219"/>
                <p:cNvSpPr/>
                <p:nvPr/>
              </p:nvSpPr>
              <p:spPr>
                <a:xfrm>
                  <a:off x="5755" y="6812"/>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33" name="Oval 220"/>
                <p:cNvSpPr/>
                <p:nvPr/>
              </p:nvSpPr>
              <p:spPr>
                <a:xfrm>
                  <a:off x="5836" y="7056"/>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34" name="Oval 221"/>
                <p:cNvSpPr/>
                <p:nvPr/>
              </p:nvSpPr>
              <p:spPr>
                <a:xfrm>
                  <a:off x="6449" y="6588"/>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35" name="Oval 222"/>
                <p:cNvSpPr/>
                <p:nvPr/>
              </p:nvSpPr>
              <p:spPr>
                <a:xfrm>
                  <a:off x="6527" y="7181"/>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36" name="Oval 223"/>
                <p:cNvSpPr/>
                <p:nvPr/>
              </p:nvSpPr>
              <p:spPr>
                <a:xfrm>
                  <a:off x="7112" y="6588"/>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37" name="Line 224"/>
                <p:cNvSpPr/>
                <p:nvPr/>
              </p:nvSpPr>
              <p:spPr>
                <a:xfrm>
                  <a:off x="7572" y="6369"/>
                  <a:ext cx="0" cy="381"/>
                </a:xfrm>
                <a:prstGeom prst="line">
                  <a:avLst/>
                </a:prstGeom>
                <a:ln w="9525" cap="flat" cmpd="sng">
                  <a:solidFill>
                    <a:srgbClr val="0000FF"/>
                  </a:solidFill>
                  <a:prstDash val="solid"/>
                  <a:headEnd type="none" w="med" len="med"/>
                  <a:tailEnd type="none" w="med" len="med"/>
                </a:ln>
              </p:spPr>
            </p:sp>
            <p:sp>
              <p:nvSpPr>
                <p:cNvPr id="21738" name="Oval 225"/>
                <p:cNvSpPr/>
                <p:nvPr/>
              </p:nvSpPr>
              <p:spPr>
                <a:xfrm>
                  <a:off x="7542" y="6699"/>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39" name="Line 226"/>
                <p:cNvSpPr/>
                <p:nvPr/>
              </p:nvSpPr>
              <p:spPr>
                <a:xfrm>
                  <a:off x="7639" y="6369"/>
                  <a:ext cx="0" cy="624"/>
                </a:xfrm>
                <a:prstGeom prst="line">
                  <a:avLst/>
                </a:prstGeom>
                <a:ln w="9525" cap="flat" cmpd="sng">
                  <a:solidFill>
                    <a:srgbClr val="0000FF"/>
                  </a:solidFill>
                  <a:prstDash val="solid"/>
                  <a:headEnd type="none" w="med" len="med"/>
                  <a:tailEnd type="none" w="med" len="med"/>
                </a:ln>
              </p:spPr>
            </p:sp>
            <p:sp>
              <p:nvSpPr>
                <p:cNvPr id="21740" name="Oval 227"/>
                <p:cNvSpPr/>
                <p:nvPr/>
              </p:nvSpPr>
              <p:spPr>
                <a:xfrm>
                  <a:off x="7608" y="6938"/>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41" name="Line 228"/>
                <p:cNvSpPr/>
                <p:nvPr/>
              </p:nvSpPr>
              <p:spPr>
                <a:xfrm>
                  <a:off x="7704" y="6363"/>
                  <a:ext cx="0" cy="884"/>
                </a:xfrm>
                <a:prstGeom prst="line">
                  <a:avLst/>
                </a:prstGeom>
                <a:ln w="9525" cap="flat" cmpd="sng">
                  <a:solidFill>
                    <a:srgbClr val="0000FF"/>
                  </a:solidFill>
                  <a:prstDash val="solid"/>
                  <a:headEnd type="none" w="med" len="med"/>
                  <a:tailEnd type="none" w="med" len="med"/>
                </a:ln>
              </p:spPr>
            </p:sp>
            <p:sp>
              <p:nvSpPr>
                <p:cNvPr id="21742" name="Oval 229"/>
                <p:cNvSpPr/>
                <p:nvPr/>
              </p:nvSpPr>
              <p:spPr>
                <a:xfrm>
                  <a:off x="7674" y="7184"/>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43" name="Line 230"/>
                <p:cNvSpPr/>
                <p:nvPr/>
              </p:nvSpPr>
              <p:spPr>
                <a:xfrm>
                  <a:off x="7780" y="6369"/>
                  <a:ext cx="0" cy="468"/>
                </a:xfrm>
                <a:prstGeom prst="line">
                  <a:avLst/>
                </a:prstGeom>
                <a:ln w="9525" cap="flat" cmpd="sng">
                  <a:solidFill>
                    <a:srgbClr val="0000FF"/>
                  </a:solidFill>
                  <a:prstDash val="solid"/>
                  <a:headEnd type="none" w="med" len="med"/>
                  <a:tailEnd type="none" w="med" len="med"/>
                </a:ln>
              </p:spPr>
            </p:sp>
            <p:sp>
              <p:nvSpPr>
                <p:cNvPr id="21744" name="Oval 231"/>
                <p:cNvSpPr/>
                <p:nvPr/>
              </p:nvSpPr>
              <p:spPr>
                <a:xfrm>
                  <a:off x="7749" y="6819"/>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45" name="Line 232"/>
                <p:cNvSpPr/>
                <p:nvPr/>
              </p:nvSpPr>
              <p:spPr>
                <a:xfrm>
                  <a:off x="7864" y="6360"/>
                  <a:ext cx="0" cy="765"/>
                </a:xfrm>
                <a:prstGeom prst="line">
                  <a:avLst/>
                </a:prstGeom>
                <a:ln w="9525" cap="flat" cmpd="sng">
                  <a:solidFill>
                    <a:srgbClr val="0000FF"/>
                  </a:solidFill>
                  <a:prstDash val="solid"/>
                  <a:headEnd type="none" w="med" len="med"/>
                  <a:tailEnd type="none" w="med" len="med"/>
                </a:ln>
              </p:spPr>
            </p:sp>
            <p:sp>
              <p:nvSpPr>
                <p:cNvPr id="21746" name="Oval 233"/>
                <p:cNvSpPr/>
                <p:nvPr/>
              </p:nvSpPr>
              <p:spPr>
                <a:xfrm>
                  <a:off x="7832" y="7063"/>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47" name="Line 234"/>
                <p:cNvSpPr/>
                <p:nvPr/>
              </p:nvSpPr>
              <p:spPr>
                <a:xfrm>
                  <a:off x="7945" y="6360"/>
                  <a:ext cx="0" cy="936"/>
                </a:xfrm>
                <a:prstGeom prst="line">
                  <a:avLst/>
                </a:prstGeom>
                <a:ln w="9525" cap="flat" cmpd="sng">
                  <a:solidFill>
                    <a:srgbClr val="0000FF"/>
                  </a:solidFill>
                  <a:prstDash val="solid"/>
                  <a:headEnd type="none" w="med" len="med"/>
                  <a:tailEnd type="none" w="med" len="med"/>
                </a:ln>
              </p:spPr>
            </p:sp>
            <p:sp>
              <p:nvSpPr>
                <p:cNvPr id="21748" name="Oval 235"/>
                <p:cNvSpPr/>
                <p:nvPr/>
              </p:nvSpPr>
              <p:spPr>
                <a:xfrm>
                  <a:off x="7914" y="7288"/>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49" name="Oval 236"/>
                <p:cNvSpPr/>
                <p:nvPr/>
              </p:nvSpPr>
              <p:spPr>
                <a:xfrm>
                  <a:off x="8582" y="7405"/>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50" name="Oval 237"/>
                <p:cNvSpPr/>
                <p:nvPr/>
              </p:nvSpPr>
              <p:spPr>
                <a:xfrm>
                  <a:off x="9055" y="6588"/>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51" name="Line 238"/>
                <p:cNvSpPr/>
                <p:nvPr/>
              </p:nvSpPr>
              <p:spPr>
                <a:xfrm>
                  <a:off x="8130" y="5385"/>
                  <a:ext cx="0" cy="142"/>
                </a:xfrm>
                <a:prstGeom prst="line">
                  <a:avLst/>
                </a:prstGeom>
                <a:ln w="9525" cap="flat" cmpd="sng">
                  <a:solidFill>
                    <a:srgbClr val="0000FF"/>
                  </a:solidFill>
                  <a:prstDash val="solid"/>
                  <a:headEnd type="none" w="med" len="med"/>
                  <a:tailEnd type="none" w="med" len="med"/>
                </a:ln>
              </p:spPr>
            </p:sp>
            <p:sp>
              <p:nvSpPr>
                <p:cNvPr id="21752" name="Line 239"/>
                <p:cNvSpPr/>
                <p:nvPr/>
              </p:nvSpPr>
              <p:spPr>
                <a:xfrm>
                  <a:off x="7225" y="5526"/>
                  <a:ext cx="900" cy="0"/>
                </a:xfrm>
                <a:prstGeom prst="line">
                  <a:avLst/>
                </a:prstGeom>
                <a:ln w="9525" cap="flat" cmpd="sng">
                  <a:solidFill>
                    <a:srgbClr val="0000FF"/>
                  </a:solidFill>
                  <a:prstDash val="solid"/>
                  <a:headEnd type="none" w="med" len="med"/>
                  <a:tailEnd type="none" w="med" len="med"/>
                </a:ln>
              </p:spPr>
            </p:sp>
            <p:sp>
              <p:nvSpPr>
                <p:cNvPr id="21753" name="Oval 240"/>
                <p:cNvSpPr/>
                <p:nvPr/>
              </p:nvSpPr>
              <p:spPr>
                <a:xfrm>
                  <a:off x="7185" y="5494"/>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54" name="Line 241"/>
                <p:cNvSpPr/>
                <p:nvPr/>
              </p:nvSpPr>
              <p:spPr>
                <a:xfrm>
                  <a:off x="10095" y="5415"/>
                  <a:ext cx="0" cy="142"/>
                </a:xfrm>
                <a:prstGeom prst="line">
                  <a:avLst/>
                </a:prstGeom>
                <a:ln w="9525" cap="flat" cmpd="sng">
                  <a:solidFill>
                    <a:srgbClr val="0000FF"/>
                  </a:solidFill>
                  <a:prstDash val="solid"/>
                  <a:headEnd type="none" w="med" len="med"/>
                  <a:tailEnd type="none" w="med" len="med"/>
                </a:ln>
              </p:spPr>
            </p:sp>
            <p:sp>
              <p:nvSpPr>
                <p:cNvPr id="21755" name="Line 242"/>
                <p:cNvSpPr/>
                <p:nvPr/>
              </p:nvSpPr>
              <p:spPr>
                <a:xfrm>
                  <a:off x="9190" y="5556"/>
                  <a:ext cx="900" cy="0"/>
                </a:xfrm>
                <a:prstGeom prst="line">
                  <a:avLst/>
                </a:prstGeom>
                <a:ln w="9525" cap="flat" cmpd="sng">
                  <a:solidFill>
                    <a:srgbClr val="0000FF"/>
                  </a:solidFill>
                  <a:prstDash val="solid"/>
                  <a:headEnd type="none" w="med" len="med"/>
                  <a:tailEnd type="none" w="med" len="med"/>
                </a:ln>
              </p:spPr>
            </p:sp>
            <p:sp>
              <p:nvSpPr>
                <p:cNvPr id="21756" name="Oval 243"/>
                <p:cNvSpPr/>
                <p:nvPr/>
              </p:nvSpPr>
              <p:spPr>
                <a:xfrm>
                  <a:off x="9129" y="5524"/>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57" name="Line 244"/>
                <p:cNvSpPr/>
                <p:nvPr/>
              </p:nvSpPr>
              <p:spPr>
                <a:xfrm>
                  <a:off x="8365" y="5385"/>
                  <a:ext cx="0" cy="1208"/>
                </a:xfrm>
                <a:prstGeom prst="line">
                  <a:avLst/>
                </a:prstGeom>
                <a:ln w="9525" cap="flat" cmpd="sng">
                  <a:solidFill>
                    <a:srgbClr val="0000FF"/>
                  </a:solidFill>
                  <a:prstDash val="solid"/>
                  <a:headEnd type="none" w="med" len="med"/>
                  <a:tailEnd type="none" w="med" len="med"/>
                </a:ln>
              </p:spPr>
            </p:sp>
            <p:sp>
              <p:nvSpPr>
                <p:cNvPr id="21758" name="Oval 245"/>
                <p:cNvSpPr/>
                <p:nvPr/>
              </p:nvSpPr>
              <p:spPr>
                <a:xfrm>
                  <a:off x="8338" y="6587"/>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59" name="Rectangle 246"/>
                <p:cNvSpPr/>
                <p:nvPr/>
              </p:nvSpPr>
              <p:spPr>
                <a:xfrm>
                  <a:off x="1978" y="5729"/>
                  <a:ext cx="425" cy="300"/>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760" name="Oval 247"/>
                <p:cNvSpPr/>
                <p:nvPr/>
              </p:nvSpPr>
              <p:spPr>
                <a:xfrm>
                  <a:off x="8289" y="5009"/>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61" name="Oval 248"/>
                <p:cNvSpPr/>
                <p:nvPr/>
              </p:nvSpPr>
              <p:spPr>
                <a:xfrm>
                  <a:off x="7686" y="4634"/>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62" name="Line 249"/>
                <p:cNvSpPr/>
                <p:nvPr/>
              </p:nvSpPr>
              <p:spPr>
                <a:xfrm>
                  <a:off x="3231" y="6308"/>
                  <a:ext cx="128" cy="0"/>
                </a:xfrm>
                <a:prstGeom prst="line">
                  <a:avLst/>
                </a:prstGeom>
                <a:ln w="9525" cap="flat" cmpd="sng">
                  <a:solidFill>
                    <a:srgbClr val="0000FF"/>
                  </a:solidFill>
                  <a:prstDash val="solid"/>
                  <a:headEnd type="none" w="med" len="med"/>
                  <a:tailEnd type="none" w="med" len="med"/>
                </a:ln>
              </p:spPr>
            </p:sp>
            <p:sp>
              <p:nvSpPr>
                <p:cNvPr id="21763" name="Line 250"/>
                <p:cNvSpPr/>
                <p:nvPr/>
              </p:nvSpPr>
              <p:spPr>
                <a:xfrm>
                  <a:off x="5944" y="6350"/>
                  <a:ext cx="0" cy="1332"/>
                </a:xfrm>
                <a:prstGeom prst="line">
                  <a:avLst/>
                </a:prstGeom>
                <a:ln w="9525" cap="flat" cmpd="sng">
                  <a:solidFill>
                    <a:srgbClr val="0000FF"/>
                  </a:solidFill>
                  <a:prstDash val="solid"/>
                  <a:headEnd type="none" w="med" len="med"/>
                  <a:tailEnd type="none" w="med" len="med"/>
                </a:ln>
              </p:spPr>
            </p:sp>
            <p:sp>
              <p:nvSpPr>
                <p:cNvPr id="21764" name="Oval 251"/>
                <p:cNvSpPr/>
                <p:nvPr/>
              </p:nvSpPr>
              <p:spPr>
                <a:xfrm>
                  <a:off x="5916" y="7662"/>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65" name="Line 252"/>
                <p:cNvSpPr/>
                <p:nvPr/>
              </p:nvSpPr>
              <p:spPr>
                <a:xfrm flipV="1">
                  <a:off x="5680" y="6504"/>
                  <a:ext cx="1840" cy="2"/>
                </a:xfrm>
                <a:prstGeom prst="line">
                  <a:avLst/>
                </a:prstGeom>
                <a:ln w="9525" cap="flat" cmpd="sng">
                  <a:solidFill>
                    <a:srgbClr val="0000FF"/>
                  </a:solidFill>
                  <a:prstDash val="solid"/>
                  <a:headEnd type="none" w="med" len="med"/>
                  <a:tailEnd type="none" w="med" len="med"/>
                </a:ln>
              </p:spPr>
            </p:sp>
            <p:sp>
              <p:nvSpPr>
                <p:cNvPr id="21766" name="Line 253"/>
                <p:cNvSpPr/>
                <p:nvPr/>
              </p:nvSpPr>
              <p:spPr>
                <a:xfrm>
                  <a:off x="5672" y="6358"/>
                  <a:ext cx="0" cy="146"/>
                </a:xfrm>
                <a:prstGeom prst="line">
                  <a:avLst/>
                </a:prstGeom>
                <a:ln w="9525" cap="flat" cmpd="sng">
                  <a:solidFill>
                    <a:srgbClr val="0000FF"/>
                  </a:solidFill>
                  <a:prstDash val="solid"/>
                  <a:headEnd type="none" w="med" len="med"/>
                  <a:tailEnd type="none" w="med" len="med"/>
                </a:ln>
              </p:spPr>
            </p:sp>
            <p:sp>
              <p:nvSpPr>
                <p:cNvPr id="21767" name="Rectangle 254"/>
                <p:cNvSpPr/>
                <p:nvPr/>
              </p:nvSpPr>
              <p:spPr>
                <a:xfrm>
                  <a:off x="6016" y="6078"/>
                  <a:ext cx="312" cy="258"/>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1800" dirty="0">
                      <a:latin typeface="Times New Roman" panose="02020603050405020304" pitchFamily="18" charset="0"/>
                    </a:rPr>
                    <a:t>&amp;</a:t>
                  </a:r>
                  <a:endParaRPr lang="en-US" altLang="zh-CN" sz="4800" dirty="0">
                    <a:latin typeface="Times New Roman" panose="02020603050405020304" pitchFamily="18" charset="0"/>
                  </a:endParaRPr>
                </a:p>
              </p:txBody>
            </p:sp>
            <p:sp>
              <p:nvSpPr>
                <p:cNvPr id="21768" name="Line 255"/>
                <p:cNvSpPr/>
                <p:nvPr/>
              </p:nvSpPr>
              <p:spPr>
                <a:xfrm flipV="1">
                  <a:off x="6480" y="5856"/>
                  <a:ext cx="0" cy="762"/>
                </a:xfrm>
                <a:prstGeom prst="line">
                  <a:avLst/>
                </a:prstGeom>
                <a:ln w="9525" cap="flat" cmpd="sng">
                  <a:solidFill>
                    <a:srgbClr val="0000FF"/>
                  </a:solidFill>
                  <a:prstDash val="solid"/>
                  <a:headEnd type="none" w="med" len="med"/>
                  <a:tailEnd type="none" w="med" len="med"/>
                </a:ln>
              </p:spPr>
            </p:sp>
            <p:sp>
              <p:nvSpPr>
                <p:cNvPr id="21769" name="Line 256"/>
                <p:cNvSpPr/>
                <p:nvPr/>
              </p:nvSpPr>
              <p:spPr>
                <a:xfrm>
                  <a:off x="6288" y="5854"/>
                  <a:ext cx="176" cy="2"/>
                </a:xfrm>
                <a:prstGeom prst="line">
                  <a:avLst/>
                </a:prstGeom>
                <a:ln w="9525" cap="flat" cmpd="sng">
                  <a:solidFill>
                    <a:srgbClr val="0000FF"/>
                  </a:solidFill>
                  <a:prstDash val="solid"/>
                  <a:headEnd type="none" w="med" len="med"/>
                  <a:tailEnd type="none" w="med" len="med"/>
                </a:ln>
              </p:spPr>
            </p:sp>
            <p:sp>
              <p:nvSpPr>
                <p:cNvPr id="21770" name="Line 257"/>
                <p:cNvSpPr/>
                <p:nvPr/>
              </p:nvSpPr>
              <p:spPr>
                <a:xfrm>
                  <a:off x="6384" y="5934"/>
                  <a:ext cx="0" cy="564"/>
                </a:xfrm>
                <a:prstGeom prst="line">
                  <a:avLst/>
                </a:prstGeom>
                <a:ln w="9525" cap="flat" cmpd="sng">
                  <a:solidFill>
                    <a:srgbClr val="0000FF"/>
                  </a:solidFill>
                  <a:prstDash val="solid"/>
                  <a:headEnd type="none" w="med" len="med"/>
                  <a:tailEnd type="none" w="med" len="med"/>
                </a:ln>
              </p:spPr>
            </p:sp>
            <p:sp>
              <p:nvSpPr>
                <p:cNvPr id="21771" name="Line 258"/>
                <p:cNvSpPr/>
                <p:nvPr/>
              </p:nvSpPr>
              <p:spPr>
                <a:xfrm>
                  <a:off x="6176" y="5932"/>
                  <a:ext cx="0" cy="108"/>
                </a:xfrm>
                <a:prstGeom prst="line">
                  <a:avLst/>
                </a:prstGeom>
                <a:ln w="9525" cap="flat" cmpd="sng">
                  <a:solidFill>
                    <a:srgbClr val="0000FF"/>
                  </a:solidFill>
                  <a:prstDash val="solid"/>
                  <a:headEnd type="none" w="med" len="med"/>
                  <a:tailEnd type="none" w="med" len="med"/>
                </a:ln>
              </p:spPr>
            </p:sp>
            <p:sp>
              <p:nvSpPr>
                <p:cNvPr id="21772" name="Line 259"/>
                <p:cNvSpPr/>
                <p:nvPr/>
              </p:nvSpPr>
              <p:spPr>
                <a:xfrm flipH="1">
                  <a:off x="6176" y="5938"/>
                  <a:ext cx="208" cy="0"/>
                </a:xfrm>
                <a:prstGeom prst="line">
                  <a:avLst/>
                </a:prstGeom>
                <a:ln w="9525" cap="flat" cmpd="sng">
                  <a:solidFill>
                    <a:srgbClr val="0000FF"/>
                  </a:solidFill>
                  <a:prstDash val="solid"/>
                  <a:headEnd type="none" w="med" len="med"/>
                  <a:tailEnd type="none" w="med" len="med"/>
                </a:ln>
              </p:spPr>
            </p:sp>
            <p:sp>
              <p:nvSpPr>
                <p:cNvPr id="21773" name="Oval 260"/>
                <p:cNvSpPr/>
                <p:nvPr/>
              </p:nvSpPr>
              <p:spPr>
                <a:xfrm>
                  <a:off x="6144" y="6022"/>
                  <a:ext cx="57" cy="57"/>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74" name="Oval 261"/>
                <p:cNvSpPr/>
                <p:nvPr/>
              </p:nvSpPr>
              <p:spPr>
                <a:xfrm>
                  <a:off x="6360" y="6472"/>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75" name="Line 262"/>
                <p:cNvSpPr/>
                <p:nvPr/>
              </p:nvSpPr>
              <p:spPr>
                <a:xfrm>
                  <a:off x="6280" y="6330"/>
                  <a:ext cx="0" cy="1356"/>
                </a:xfrm>
                <a:prstGeom prst="line">
                  <a:avLst/>
                </a:prstGeom>
                <a:ln w="9525" cap="flat" cmpd="sng">
                  <a:solidFill>
                    <a:srgbClr val="0000FF"/>
                  </a:solidFill>
                  <a:prstDash val="solid"/>
                  <a:headEnd type="none" w="med" len="med"/>
                  <a:tailEnd type="none" w="med" len="med"/>
                </a:ln>
              </p:spPr>
            </p:sp>
            <p:sp>
              <p:nvSpPr>
                <p:cNvPr id="21776" name="Line 263"/>
                <p:cNvSpPr/>
                <p:nvPr/>
              </p:nvSpPr>
              <p:spPr>
                <a:xfrm>
                  <a:off x="6168" y="6330"/>
                  <a:ext cx="0" cy="1092"/>
                </a:xfrm>
                <a:prstGeom prst="line">
                  <a:avLst/>
                </a:prstGeom>
                <a:ln w="9525" cap="flat" cmpd="sng">
                  <a:solidFill>
                    <a:srgbClr val="0000FF"/>
                  </a:solidFill>
                  <a:prstDash val="solid"/>
                  <a:headEnd type="none" w="med" len="med"/>
                  <a:tailEnd type="none" w="med" len="med"/>
                </a:ln>
              </p:spPr>
            </p:sp>
            <p:sp>
              <p:nvSpPr>
                <p:cNvPr id="21777" name="Line 264"/>
                <p:cNvSpPr/>
                <p:nvPr/>
              </p:nvSpPr>
              <p:spPr>
                <a:xfrm>
                  <a:off x="6056" y="6336"/>
                  <a:ext cx="0" cy="882"/>
                </a:xfrm>
                <a:prstGeom prst="line">
                  <a:avLst/>
                </a:prstGeom>
                <a:ln w="9525" cap="flat" cmpd="sng">
                  <a:solidFill>
                    <a:srgbClr val="0000FF"/>
                  </a:solidFill>
                  <a:prstDash val="solid"/>
                  <a:headEnd type="none" w="med" len="med"/>
                  <a:tailEnd type="none" w="med" len="med"/>
                </a:ln>
              </p:spPr>
            </p:sp>
            <p:sp>
              <p:nvSpPr>
                <p:cNvPr id="21778" name="Oval 265"/>
                <p:cNvSpPr/>
                <p:nvPr/>
              </p:nvSpPr>
              <p:spPr>
                <a:xfrm>
                  <a:off x="6248" y="7658"/>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79" name="Oval 266"/>
                <p:cNvSpPr/>
                <p:nvPr/>
              </p:nvSpPr>
              <p:spPr>
                <a:xfrm>
                  <a:off x="6144" y="7388"/>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80" name="Oval 267"/>
                <p:cNvSpPr/>
                <p:nvPr/>
              </p:nvSpPr>
              <p:spPr>
                <a:xfrm>
                  <a:off x="6032" y="7178"/>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81" name="Line 268"/>
                <p:cNvSpPr/>
                <p:nvPr/>
              </p:nvSpPr>
              <p:spPr>
                <a:xfrm>
                  <a:off x="7512" y="6360"/>
                  <a:ext cx="0" cy="138"/>
                </a:xfrm>
                <a:prstGeom prst="line">
                  <a:avLst/>
                </a:prstGeom>
                <a:ln w="9525" cap="flat" cmpd="sng">
                  <a:solidFill>
                    <a:srgbClr val="0000FF"/>
                  </a:solidFill>
                  <a:prstDash val="solid"/>
                  <a:headEnd type="none" w="med" len="med"/>
                  <a:tailEnd type="none" w="med" len="med"/>
                </a:ln>
              </p:spPr>
            </p:sp>
            <p:sp>
              <p:nvSpPr>
                <p:cNvPr id="21782" name="Line 269"/>
                <p:cNvSpPr/>
                <p:nvPr/>
              </p:nvSpPr>
              <p:spPr>
                <a:xfrm>
                  <a:off x="9888" y="6126"/>
                  <a:ext cx="0" cy="258"/>
                </a:xfrm>
                <a:prstGeom prst="line">
                  <a:avLst/>
                </a:prstGeom>
                <a:ln w="9525" cap="flat" cmpd="sng">
                  <a:solidFill>
                    <a:srgbClr val="0000FF"/>
                  </a:solidFill>
                  <a:prstDash val="solid"/>
                  <a:headEnd type="none" w="med" len="med"/>
                  <a:tailEnd type="none" w="med" len="med"/>
                </a:ln>
              </p:spPr>
            </p:sp>
            <p:sp>
              <p:nvSpPr>
                <p:cNvPr id="21783" name="Line 270"/>
                <p:cNvSpPr/>
                <p:nvPr/>
              </p:nvSpPr>
              <p:spPr>
                <a:xfrm>
                  <a:off x="9920" y="6378"/>
                  <a:ext cx="0" cy="486"/>
                </a:xfrm>
                <a:prstGeom prst="line">
                  <a:avLst/>
                </a:prstGeom>
                <a:ln w="9525" cap="flat" cmpd="sng">
                  <a:solidFill>
                    <a:srgbClr val="0000FF"/>
                  </a:solidFill>
                  <a:prstDash val="solid"/>
                  <a:headEnd type="none" w="med" len="med"/>
                  <a:tailEnd type="none" w="med" len="med"/>
                </a:ln>
              </p:spPr>
            </p:sp>
            <p:sp>
              <p:nvSpPr>
                <p:cNvPr id="21784" name="Oval 271"/>
                <p:cNvSpPr/>
                <p:nvPr/>
              </p:nvSpPr>
              <p:spPr>
                <a:xfrm>
                  <a:off x="9656" y="6832"/>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85" name="Oval 272"/>
                <p:cNvSpPr/>
                <p:nvPr/>
              </p:nvSpPr>
              <p:spPr>
                <a:xfrm>
                  <a:off x="9704" y="7047"/>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sp>
              <p:nvSpPr>
                <p:cNvPr id="21786" name="Line 273"/>
                <p:cNvSpPr/>
                <p:nvPr/>
              </p:nvSpPr>
              <p:spPr>
                <a:xfrm>
                  <a:off x="9984" y="6390"/>
                  <a:ext cx="0" cy="684"/>
                </a:xfrm>
                <a:prstGeom prst="line">
                  <a:avLst/>
                </a:prstGeom>
                <a:ln w="9525" cap="flat" cmpd="sng">
                  <a:solidFill>
                    <a:srgbClr val="0000FF"/>
                  </a:solidFill>
                  <a:prstDash val="solid"/>
                  <a:headEnd type="none" w="med" len="med"/>
                  <a:tailEnd type="none" w="med" len="med"/>
                </a:ln>
              </p:spPr>
            </p:sp>
            <p:sp>
              <p:nvSpPr>
                <p:cNvPr id="21787" name="Line 274"/>
                <p:cNvSpPr/>
                <p:nvPr/>
              </p:nvSpPr>
              <p:spPr>
                <a:xfrm>
                  <a:off x="10048" y="6378"/>
                  <a:ext cx="0" cy="1440"/>
                </a:xfrm>
                <a:prstGeom prst="line">
                  <a:avLst/>
                </a:prstGeom>
                <a:ln w="9525" cap="flat" cmpd="sng">
                  <a:solidFill>
                    <a:srgbClr val="0000FF"/>
                  </a:solidFill>
                  <a:prstDash val="solid"/>
                  <a:headEnd type="none" w="med" len="med"/>
                  <a:tailEnd type="none" w="med" len="med"/>
                </a:ln>
              </p:spPr>
            </p:sp>
            <p:sp>
              <p:nvSpPr>
                <p:cNvPr id="21788" name="Oval 275"/>
                <p:cNvSpPr/>
                <p:nvPr/>
              </p:nvSpPr>
              <p:spPr>
                <a:xfrm>
                  <a:off x="10024" y="7788"/>
                  <a:ext cx="57" cy="57"/>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dirty="0">
                    <a:latin typeface="Arial" panose="020B0604020202020204" pitchFamily="34" charset="0"/>
                  </a:endParaRPr>
                </a:p>
              </p:txBody>
            </p:sp>
          </p:grpSp>
          <p:sp>
            <p:nvSpPr>
              <p:cNvPr id="21516" name="Text Box 276"/>
              <p:cNvSpPr txBox="1"/>
              <p:nvPr/>
            </p:nvSpPr>
            <p:spPr>
              <a:xfrm>
                <a:off x="3680" y="7455"/>
                <a:ext cx="392" cy="450"/>
              </a:xfrm>
              <a:prstGeom prst="rect">
                <a:avLst/>
              </a:prstGeom>
              <a:noFill/>
              <a:ln w="9525">
                <a:noFill/>
              </a:ln>
            </p:spPr>
            <p:txBody>
              <a:bodyPr/>
              <a:lstStyle/>
              <a:p>
                <a:pPr algn="just"/>
                <a:r>
                  <a:rPr lang="en-US" altLang="zh-CN" sz="1800" i="1" dirty="0">
                    <a:latin typeface="Times New Roman" panose="02020603050405020304" pitchFamily="18" charset="0"/>
                  </a:rPr>
                  <a:t>R</a:t>
                </a:r>
                <a:endParaRPr lang="en-US" altLang="zh-CN" sz="4800" dirty="0">
                  <a:latin typeface="Times New Roman" panose="02020603050405020304" pitchFamily="18" charset="0"/>
                </a:endParaRPr>
              </a:p>
            </p:txBody>
          </p:sp>
          <p:sp>
            <p:nvSpPr>
              <p:cNvPr id="21517" name="Text Box 277"/>
              <p:cNvSpPr txBox="1"/>
              <p:nvPr/>
            </p:nvSpPr>
            <p:spPr>
              <a:xfrm>
                <a:off x="5728" y="7440"/>
                <a:ext cx="392" cy="450"/>
              </a:xfrm>
              <a:prstGeom prst="rect">
                <a:avLst/>
              </a:prstGeom>
              <a:noFill/>
              <a:ln w="9525">
                <a:noFill/>
              </a:ln>
            </p:spPr>
            <p:txBody>
              <a:bodyPr/>
              <a:lstStyle/>
              <a:p>
                <a:pPr algn="just"/>
                <a:r>
                  <a:rPr lang="en-US" altLang="zh-CN" sz="1800" i="1" dirty="0">
                    <a:latin typeface="Times New Roman" panose="02020603050405020304" pitchFamily="18" charset="0"/>
                  </a:rPr>
                  <a:t>R</a:t>
                </a:r>
                <a:endParaRPr lang="en-US" altLang="zh-CN" sz="4800" dirty="0">
                  <a:latin typeface="Times New Roman" panose="02020603050405020304" pitchFamily="18" charset="0"/>
                </a:endParaRPr>
              </a:p>
            </p:txBody>
          </p:sp>
          <p:sp>
            <p:nvSpPr>
              <p:cNvPr id="21518" name="Text Box 278"/>
              <p:cNvSpPr txBox="1"/>
              <p:nvPr/>
            </p:nvSpPr>
            <p:spPr>
              <a:xfrm>
                <a:off x="9704" y="7473"/>
                <a:ext cx="392" cy="450"/>
              </a:xfrm>
              <a:prstGeom prst="rect">
                <a:avLst/>
              </a:prstGeom>
              <a:noFill/>
              <a:ln w="9525">
                <a:noFill/>
              </a:ln>
            </p:spPr>
            <p:txBody>
              <a:bodyPr/>
              <a:lstStyle/>
              <a:p>
                <a:pPr algn="just"/>
                <a:r>
                  <a:rPr lang="en-US" altLang="zh-CN" sz="1800" i="1" dirty="0">
                    <a:latin typeface="Times New Roman" panose="02020603050405020304" pitchFamily="18" charset="0"/>
                  </a:rPr>
                  <a:t>R</a:t>
                </a:r>
                <a:endParaRPr lang="en-US" altLang="zh-CN" sz="4800" dirty="0">
                  <a:latin typeface="Times New Roman" panose="02020603050405020304" pitchFamily="18" charset="0"/>
                </a:endParaRPr>
              </a:p>
            </p:txBody>
          </p:sp>
          <p:sp>
            <p:nvSpPr>
              <p:cNvPr id="21519" name="Text Box 279"/>
              <p:cNvSpPr txBox="1"/>
              <p:nvPr/>
            </p:nvSpPr>
            <p:spPr>
              <a:xfrm>
                <a:off x="7776" y="7470"/>
                <a:ext cx="392" cy="450"/>
              </a:xfrm>
              <a:prstGeom prst="rect">
                <a:avLst/>
              </a:prstGeom>
              <a:noFill/>
              <a:ln w="9525">
                <a:noFill/>
              </a:ln>
            </p:spPr>
            <p:txBody>
              <a:bodyPr/>
              <a:lstStyle/>
              <a:p>
                <a:pPr algn="just"/>
                <a:r>
                  <a:rPr lang="en-US" altLang="zh-CN" sz="1800" i="1" dirty="0">
                    <a:latin typeface="Times New Roman" panose="02020603050405020304" pitchFamily="18" charset="0"/>
                  </a:rPr>
                  <a:t>R</a:t>
                </a:r>
                <a:endParaRPr lang="en-US" altLang="zh-CN" sz="4800" dirty="0">
                  <a:latin typeface="Times New Roman" panose="02020603050405020304" pitchFamily="18" charset="0"/>
                </a:endParaRPr>
              </a:p>
            </p:txBody>
          </p:sp>
        </p:grpSp>
        <p:sp>
          <p:nvSpPr>
            <p:cNvPr id="21514" name="Text Box 280"/>
            <p:cNvSpPr txBox="1"/>
            <p:nvPr/>
          </p:nvSpPr>
          <p:spPr>
            <a:xfrm>
              <a:off x="4416" y="13584"/>
              <a:ext cx="2269" cy="468"/>
            </a:xfrm>
            <a:prstGeom prst="rect">
              <a:avLst/>
            </a:prstGeom>
            <a:noFill/>
            <a:ln w="9525">
              <a:noFill/>
            </a:ln>
          </p:spPr>
          <p:txBody>
            <a:bodyPr wrap="none"/>
            <a:lstStyle/>
            <a:p>
              <a:pPr algn="ctr"/>
              <a:r>
                <a:rPr lang="en-US" altLang="zh-CN" sz="1800" dirty="0">
                  <a:latin typeface="Times New Roman" panose="02020603050405020304" pitchFamily="18" charset="0"/>
                </a:rPr>
                <a:t>74LS192</a:t>
              </a:r>
              <a:r>
                <a:rPr lang="zh-CN" altLang="en-US" sz="1800" dirty="0">
                  <a:latin typeface="Times New Roman" panose="02020603050405020304" pitchFamily="18" charset="0"/>
                </a:rPr>
                <a:t>逻辑图</a:t>
              </a:r>
              <a:endParaRPr lang="zh-CN" altLang="en-US" sz="4800" dirty="0">
                <a:latin typeface="Times New Roman" panose="02020603050405020304" pitchFamily="18" charset="0"/>
              </a:endParaRPr>
            </a:p>
          </p:txBody>
        </p:sp>
      </p:grpSp>
      <p:sp>
        <p:nvSpPr>
          <p:cNvPr id="21507" name="Rectangle 282"/>
          <p:cNvSpPr/>
          <p:nvPr/>
        </p:nvSpPr>
        <p:spPr>
          <a:xfrm>
            <a:off x="0" y="3348038"/>
            <a:ext cx="9144000" cy="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21508" name="Object 281"/>
          <p:cNvGraphicFramePr>
            <a:graphicFrameLocks noChangeAspect="1"/>
          </p:cNvGraphicFramePr>
          <p:nvPr/>
        </p:nvGraphicFramePr>
        <p:xfrm>
          <a:off x="8388350" y="6165850"/>
          <a:ext cx="360363" cy="290513"/>
        </p:xfrm>
        <a:graphic>
          <a:graphicData uri="http://schemas.openxmlformats.org/presentationml/2006/ole">
            <mc:AlternateContent xmlns:mc="http://schemas.openxmlformats.org/markup-compatibility/2006">
              <mc:Choice xmlns:v="urn:schemas-microsoft-com:vml" Requires="v">
                <p:oleObj r:id="rId2" imgW="203200" imgH="165100" progId="Equation.3">
                  <p:embed/>
                </p:oleObj>
              </mc:Choice>
              <mc:Fallback>
                <p:oleObj r:id="rId2" imgW="203200" imgH="165100" progId="Equation.3">
                  <p:embed/>
                  <p:pic>
                    <p:nvPicPr>
                      <p:cNvPr id="0" name="图片 3077"/>
                      <p:cNvPicPr/>
                      <p:nvPr/>
                    </p:nvPicPr>
                    <p:blipFill>
                      <a:blip r:embed="rId3"/>
                      <a:stretch>
                        <a:fillRect/>
                      </a:stretch>
                    </p:blipFill>
                    <p:spPr>
                      <a:xfrm>
                        <a:off x="8388350" y="6165850"/>
                        <a:ext cx="360363" cy="290513"/>
                      </a:xfrm>
                      <a:prstGeom prst="rect">
                        <a:avLst/>
                      </a:prstGeom>
                      <a:noFill/>
                      <a:ln w="38100">
                        <a:noFill/>
                        <a:miter/>
                      </a:ln>
                    </p:spPr>
                  </p:pic>
                </p:oleObj>
              </mc:Fallback>
            </mc:AlternateContent>
          </a:graphicData>
        </a:graphic>
      </p:graphicFrame>
      <p:sp>
        <p:nvSpPr>
          <p:cNvPr id="21509" name="Rectangle 284"/>
          <p:cNvSpPr/>
          <p:nvPr/>
        </p:nvSpPr>
        <p:spPr>
          <a:xfrm>
            <a:off x="0" y="3319463"/>
            <a:ext cx="9144000" cy="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21510" name="Object 283"/>
          <p:cNvGraphicFramePr>
            <a:graphicFrameLocks noChangeAspect="1"/>
          </p:cNvGraphicFramePr>
          <p:nvPr/>
        </p:nvGraphicFramePr>
        <p:xfrm>
          <a:off x="179388" y="849313"/>
          <a:ext cx="504825" cy="461962"/>
        </p:xfrm>
        <a:graphic>
          <a:graphicData uri="http://schemas.openxmlformats.org/presentationml/2006/ole">
            <mc:AlternateContent xmlns:mc="http://schemas.openxmlformats.org/markup-compatibility/2006">
              <mc:Choice xmlns:v="urn:schemas-microsoft-com:vml" Requires="v">
                <p:oleObj r:id="rId4" imgW="241300" imgH="203200" progId="Equation.3">
                  <p:embed/>
                </p:oleObj>
              </mc:Choice>
              <mc:Fallback>
                <p:oleObj r:id="rId4" imgW="241300" imgH="203200" progId="Equation.3">
                  <p:embed/>
                  <p:pic>
                    <p:nvPicPr>
                      <p:cNvPr id="0" name="图片 3076"/>
                      <p:cNvPicPr/>
                      <p:nvPr/>
                    </p:nvPicPr>
                    <p:blipFill>
                      <a:blip r:embed="rId5"/>
                      <a:stretch>
                        <a:fillRect/>
                      </a:stretch>
                    </p:blipFill>
                    <p:spPr>
                      <a:xfrm>
                        <a:off x="179388" y="849313"/>
                        <a:ext cx="504825" cy="461962"/>
                      </a:xfrm>
                      <a:prstGeom prst="rect">
                        <a:avLst/>
                      </a:prstGeom>
                      <a:noFill/>
                      <a:ln w="38100">
                        <a:noFill/>
                        <a:miter/>
                      </a:ln>
                    </p:spPr>
                  </p:pic>
                </p:oleObj>
              </mc:Fallback>
            </mc:AlternateContent>
          </a:graphicData>
        </a:graphic>
      </p:graphicFrame>
      <p:sp>
        <p:nvSpPr>
          <p:cNvPr id="21511" name="Rectangle 286"/>
          <p:cNvSpPr/>
          <p:nvPr/>
        </p:nvSpPr>
        <p:spPr>
          <a:xfrm>
            <a:off x="0" y="3314700"/>
            <a:ext cx="9144000" cy="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21512" name="Object 285"/>
          <p:cNvGraphicFramePr>
            <a:graphicFrameLocks noChangeAspect="1"/>
          </p:cNvGraphicFramePr>
          <p:nvPr/>
        </p:nvGraphicFramePr>
        <p:xfrm>
          <a:off x="755650" y="836613"/>
          <a:ext cx="503238" cy="447675"/>
        </p:xfrm>
        <a:graphic>
          <a:graphicData uri="http://schemas.openxmlformats.org/presentationml/2006/ole">
            <mc:AlternateContent xmlns:mc="http://schemas.openxmlformats.org/markup-compatibility/2006">
              <mc:Choice xmlns:v="urn:schemas-microsoft-com:vml" Requires="v">
                <p:oleObj r:id="rId6" imgW="254000" imgH="203200" progId="Equation.3">
                  <p:embed/>
                </p:oleObj>
              </mc:Choice>
              <mc:Fallback>
                <p:oleObj r:id="rId6" imgW="254000" imgH="203200" progId="Equation.3">
                  <p:embed/>
                  <p:pic>
                    <p:nvPicPr>
                      <p:cNvPr id="0" name="图片 3078"/>
                      <p:cNvPicPr/>
                      <p:nvPr/>
                    </p:nvPicPr>
                    <p:blipFill>
                      <a:blip r:embed="rId7"/>
                      <a:stretch>
                        <a:fillRect/>
                      </a:stretch>
                    </p:blipFill>
                    <p:spPr>
                      <a:xfrm>
                        <a:off x="755650" y="836613"/>
                        <a:ext cx="503238" cy="447675"/>
                      </a:xfrm>
                      <a:prstGeom prst="rect">
                        <a:avLst/>
                      </a:prstGeom>
                      <a:noFill/>
                      <a:ln w="38100">
                        <a:noFill/>
                        <a:miter/>
                      </a:ln>
                    </p:spPr>
                  </p:pic>
                </p:oleObj>
              </mc:Fallback>
            </mc:AlternateContent>
          </a:graphicData>
        </a:graphic>
      </p:graphicFrame>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Text Box 2"/>
          <p:cNvSpPr txBox="1">
            <a:spLocks noChangeArrowheads="1"/>
          </p:cNvSpPr>
          <p:nvPr/>
        </p:nvSpPr>
        <p:spPr bwMode="auto">
          <a:xfrm>
            <a:off x="1790700" y="709613"/>
            <a:ext cx="5385435" cy="58356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200" b="1" kern="1200" cap="none" spc="0" normalizeH="0" baseline="0" noProof="0" dirty="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7.5  </a:t>
            </a:r>
            <a:r>
              <a:rPr kumimoji="1" lang="zh-CN" altLang="zh-CN" sz="3200" b="1" kern="1200" cap="none" spc="0" normalizeH="0" baseline="0" noProof="0" dirty="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同步</a:t>
            </a:r>
            <a:r>
              <a:rPr kumimoji="1" lang="zh-CN" altLang="en-US" sz="3200" b="1" kern="1200" cap="none" spc="0" normalizeH="0" baseline="0" noProof="0" dirty="0">
                <a:solidFill>
                  <a:srgbClr val="008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时序逻辑电路的设计</a:t>
            </a:r>
          </a:p>
        </p:txBody>
      </p:sp>
      <p:sp>
        <p:nvSpPr>
          <p:cNvPr id="152579" name="Text Box 3"/>
          <p:cNvSpPr txBox="1"/>
          <p:nvPr/>
        </p:nvSpPr>
        <p:spPr>
          <a:xfrm>
            <a:off x="455613" y="1335088"/>
            <a:ext cx="8134350" cy="1706880"/>
          </a:xfrm>
          <a:prstGeom prst="rect">
            <a:avLst/>
          </a:prstGeom>
          <a:noFill/>
          <a:ln w="9525">
            <a:noFill/>
          </a:ln>
        </p:spPr>
        <p:txBody>
          <a:bodyPr>
            <a:spAutoFit/>
          </a:bodyPr>
          <a:lstStyle/>
          <a:p>
            <a:pPr indent="762000">
              <a:lnSpc>
                <a:spcPct val="125000"/>
              </a:lnSpc>
              <a:spcBef>
                <a:spcPct val="50000"/>
              </a:spcBef>
            </a:pPr>
            <a:r>
              <a:rPr lang="zh-CN" altLang="en-US" sz="2800" dirty="0">
                <a:latin typeface="Times New Roman" panose="02020603050405020304" pitchFamily="18" charset="0"/>
              </a:rPr>
              <a:t>同步时序逻辑电路设计又称</a:t>
            </a:r>
            <a:r>
              <a:rPr lang="zh-CN" altLang="en-US" sz="2800" dirty="0">
                <a:latin typeface="Arial" panose="020B0604020202020204" pitchFamily="34" charset="0"/>
              </a:rPr>
              <a:t>同步时序逻辑电路综合，</a:t>
            </a:r>
            <a:r>
              <a:rPr lang="zh-CN" altLang="en-US" sz="2800" dirty="0">
                <a:latin typeface="Times New Roman" panose="02020603050405020304" pitchFamily="18" charset="0"/>
              </a:rPr>
              <a:t>其基本指导思想是用尽可能少的触发器和门电路来完成设计。</a:t>
            </a:r>
          </a:p>
        </p:txBody>
      </p:sp>
      <p:sp>
        <p:nvSpPr>
          <p:cNvPr id="152580" name="Text Box 4"/>
          <p:cNvSpPr txBox="1">
            <a:spLocks noChangeArrowheads="1"/>
          </p:cNvSpPr>
          <p:nvPr/>
        </p:nvSpPr>
        <p:spPr bwMode="auto">
          <a:xfrm>
            <a:off x="155575" y="3189605"/>
            <a:ext cx="8988425" cy="2861310"/>
          </a:xfrm>
          <a:prstGeom prst="rect">
            <a:avLst/>
          </a:prstGeom>
          <a:noFill/>
          <a:ln w="9525">
            <a:noFill/>
            <a:miter lim="800000"/>
          </a:ln>
          <a:effectLst/>
        </p:spPr>
        <p:txBody>
          <a:bodyPr>
            <a:noAutofit/>
          </a:bodyPr>
          <a:lstStyle/>
          <a:p>
            <a:pPr marL="1047750" marR="0" indent="-374650" defTabSz="914400">
              <a:lnSpc>
                <a:spcPct val="100000"/>
              </a:lnSpc>
              <a:spcBef>
                <a:spcPts val="0"/>
              </a:spcBef>
              <a:buClrTx/>
              <a:buSzTx/>
              <a:buFontTx/>
              <a:buNone/>
              <a:defRPr/>
            </a:pPr>
            <a:r>
              <a:rPr kumimoji="1"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7.5.1 </a:t>
            </a:r>
            <a:r>
              <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同步时序电路设计的一般步骤</a:t>
            </a:r>
          </a:p>
          <a:p>
            <a:pPr marL="1047750" marR="0" indent="-374650" defTabSz="914400">
              <a:lnSpc>
                <a:spcPct val="100000"/>
              </a:lnSpc>
              <a:spcBef>
                <a:spcPts val="0"/>
              </a:spcBef>
              <a:buClrTx/>
              <a:buSzTx/>
              <a:buFontTx/>
              <a:buNone/>
              <a:defRPr/>
            </a:pP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1. </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作原始状态图和状态表；</a:t>
            </a:r>
          </a:p>
          <a:p>
            <a:pPr marL="1047750" marR="0" indent="-374650" defTabSz="914400">
              <a:lnSpc>
                <a:spcPct val="100000"/>
              </a:lnSpc>
              <a:spcBef>
                <a:spcPts val="0"/>
              </a:spcBef>
              <a:buClrTx/>
              <a:buSzTx/>
              <a:buFontTx/>
              <a:buNone/>
              <a:defRPr/>
            </a:pP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2. </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对原始状态表化简；</a:t>
            </a:r>
          </a:p>
          <a:p>
            <a:pPr marL="1047750" marR="0" indent="-374650" defTabSz="914400">
              <a:lnSpc>
                <a:spcPct val="100000"/>
              </a:lnSpc>
              <a:spcBef>
                <a:spcPts val="0"/>
              </a:spcBef>
              <a:buClrTx/>
              <a:buSzTx/>
              <a:buFontTx/>
              <a:buNone/>
              <a:defRPr/>
            </a:pP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3. </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状态分配；</a:t>
            </a:r>
          </a:p>
          <a:p>
            <a:pPr marL="1047750" marR="0" indent="-374650" defTabSz="914400">
              <a:lnSpc>
                <a:spcPct val="100000"/>
              </a:lnSpc>
              <a:spcBef>
                <a:spcPts val="0"/>
              </a:spcBef>
              <a:buClrTx/>
              <a:buSzTx/>
              <a:buFontTx/>
              <a:buNone/>
              <a:defRPr/>
            </a:pP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4. </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选定触发器；</a:t>
            </a:r>
          </a:p>
          <a:p>
            <a:pPr marL="1047750" marR="0" indent="-374650" defTabSz="914400">
              <a:lnSpc>
                <a:spcPct val="100000"/>
              </a:lnSpc>
              <a:spcBef>
                <a:spcPts val="0"/>
              </a:spcBef>
              <a:buClrTx/>
              <a:buSzTx/>
              <a:buFontTx/>
              <a:buNone/>
              <a:defRPr/>
            </a:pP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5.</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求出输出函数和激励函数表达式；</a:t>
            </a:r>
          </a:p>
          <a:p>
            <a:pPr marL="1047750" marR="0" indent="-374650" defTabSz="914400">
              <a:lnSpc>
                <a:spcPct val="100000"/>
              </a:lnSpc>
              <a:spcBef>
                <a:spcPts val="0"/>
              </a:spcBef>
              <a:buClrTx/>
              <a:buSzTx/>
              <a:buFontTx/>
              <a:buNone/>
              <a:defRPr/>
            </a:pPr>
            <a:r>
              <a:rPr kumimoji="1" lang="en-US" altLang="zh-CN" sz="2800" kern="1200" cap="none" spc="0" normalizeH="0" baseline="0" noProof="0" dirty="0">
                <a:latin typeface="Times New Roman" panose="02020603050405020304" pitchFamily="18" charset="0"/>
                <a:ea typeface="宋体" panose="02010600030101010101" pitchFamily="2" charset="-122"/>
                <a:cs typeface="+mn-cs"/>
              </a:rPr>
              <a:t>6. </a:t>
            </a:r>
            <a:r>
              <a:rPr kumimoji="1" lang="zh-CN" altLang="en-US" sz="2800" kern="1200" cap="none" spc="0" normalizeH="0" baseline="0" noProof="0" dirty="0">
                <a:latin typeface="Times New Roman" panose="02020603050405020304" pitchFamily="18" charset="0"/>
                <a:ea typeface="宋体" panose="02010600030101010101" pitchFamily="2" charset="-122"/>
                <a:cs typeface="+mn-cs"/>
              </a:rPr>
              <a:t>画出逻辑电路图。</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2579">
                                            <p:txEl>
                                              <p:pRg st="0" end="0"/>
                                            </p:txEl>
                                          </p:spTgt>
                                        </p:tgtEl>
                                        <p:attrNameLst>
                                          <p:attrName>style.visibility</p:attrName>
                                        </p:attrNameLst>
                                      </p:cBhvr>
                                      <p:to>
                                        <p:strVal val="visible"/>
                                      </p:to>
                                    </p:set>
                                    <p:animEffect transition="in" filter="wipe(left)">
                                      <p:cBhvr>
                                        <p:cTn id="7" dur="500"/>
                                        <p:tgtEl>
                                          <p:spTgt spid="152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2580"/>
                                        </p:tgtEl>
                                        <p:attrNameLst>
                                          <p:attrName>style.visibility</p:attrName>
                                        </p:attrNameLst>
                                      </p:cBhvr>
                                      <p:to>
                                        <p:strVal val="visible"/>
                                      </p:to>
                                    </p:set>
                                    <p:animEffect transition="in" filter="wipe(left)">
                                      <p:cBhvr>
                                        <p:cTn id="12" dur="500"/>
                                        <p:tgtEl>
                                          <p:spTgt spid="152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9" grpId="0" build="p"/>
      <p:bldP spid="152580" grpId="0" bldLvl="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ext Box 2"/>
          <p:cNvSpPr txBox="1">
            <a:spLocks noChangeArrowheads="1"/>
          </p:cNvSpPr>
          <p:nvPr/>
        </p:nvSpPr>
        <p:spPr bwMode="auto">
          <a:xfrm>
            <a:off x="2000250" y="614363"/>
            <a:ext cx="4057015" cy="58356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7.5.2  </a:t>
            </a:r>
            <a:r>
              <a:rPr kumimoji="1" lang="zh-CN" altLang="zh-CN"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建立原始状态图</a:t>
            </a:r>
            <a:endParaRPr kumimoji="1" lang="zh-CN" altLang="en-US"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153603" name="Text Box 3"/>
          <p:cNvSpPr txBox="1"/>
          <p:nvPr/>
        </p:nvSpPr>
        <p:spPr>
          <a:xfrm>
            <a:off x="666750" y="1346200"/>
            <a:ext cx="7791450" cy="2245360"/>
          </a:xfrm>
          <a:prstGeom prst="rect">
            <a:avLst/>
          </a:prstGeom>
          <a:noFill/>
          <a:ln w="19050">
            <a:noFill/>
          </a:ln>
        </p:spPr>
        <p:txBody>
          <a:bodyPr>
            <a:spAutoFit/>
          </a:bodyPr>
          <a:lstStyle/>
          <a:p>
            <a:pPr indent="762000" algn="just">
              <a:spcBef>
                <a:spcPct val="50000"/>
              </a:spcBef>
            </a:pPr>
            <a:r>
              <a:rPr lang="zh-CN" altLang="en-US" sz="2800" dirty="0">
                <a:latin typeface="Times New Roman" panose="02020603050405020304" pitchFamily="18" charset="0"/>
              </a:rPr>
              <a:t>状态图是同步时序电路设计的依据，它必须正确反映设计要求。状态图的构成没有统一的方法，关键是要充分正确地理解设计要求，明确电路的输入条件和输出要求，输入和输出关系，以及状态的转换关系。</a:t>
            </a:r>
          </a:p>
        </p:txBody>
      </p:sp>
      <p:sp>
        <p:nvSpPr>
          <p:cNvPr id="153604" name="Text Box 4"/>
          <p:cNvSpPr txBox="1"/>
          <p:nvPr/>
        </p:nvSpPr>
        <p:spPr>
          <a:xfrm>
            <a:off x="723900" y="3689350"/>
            <a:ext cx="7791450" cy="2891790"/>
          </a:xfrm>
          <a:prstGeom prst="rect">
            <a:avLst/>
          </a:prstGeom>
          <a:noFill/>
          <a:ln w="19050">
            <a:noFill/>
          </a:ln>
        </p:spPr>
        <p:txBody>
          <a:bodyPr>
            <a:spAutoFit/>
          </a:bodyPr>
          <a:lstStyle/>
          <a:p>
            <a:pPr indent="762000" algn="just">
              <a:spcBef>
                <a:spcPct val="50000"/>
              </a:spcBef>
            </a:pPr>
            <a:r>
              <a:rPr lang="zh-CN" altLang="en-US" sz="2800" b="1" dirty="0">
                <a:latin typeface="Times New Roman" panose="02020603050405020304" pitchFamily="18" charset="0"/>
              </a:rPr>
              <a:t>原始状态图建立的一般过程为：</a:t>
            </a:r>
          </a:p>
          <a:p>
            <a:pPr indent="762000" algn="just">
              <a:spcBef>
                <a:spcPct val="50000"/>
              </a:spcBef>
            </a:pPr>
            <a:r>
              <a:rPr lang="zh-CN" altLang="en-US" sz="2800" dirty="0">
                <a:latin typeface="Times New Roman" panose="02020603050405020304" pitchFamily="18" charset="0"/>
              </a:rPr>
              <a:t>假定一个初始状态，由此出发，每加入一个输入信号，则记忆其次态，并标出其相应的输出值。次态可能为现态、已有状态或新的状态，直到没有新的状态为止。每个状态的各种可能的输入值都要考虑到。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03"/>
                                        </p:tgtEl>
                                        <p:attrNameLst>
                                          <p:attrName>style.visibility</p:attrName>
                                        </p:attrNameLst>
                                      </p:cBhvr>
                                      <p:to>
                                        <p:strVal val="visible"/>
                                      </p:to>
                                    </p:set>
                                    <p:animEffect transition="in" filter="wipe(left)">
                                      <p:cBhvr>
                                        <p:cTn id="7" dur="500"/>
                                        <p:tgtEl>
                                          <p:spTgt spid="15360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04"/>
                                        </p:tgtEl>
                                        <p:attrNameLst>
                                          <p:attrName>style.visibility</p:attrName>
                                        </p:attrNameLst>
                                      </p:cBhvr>
                                      <p:to>
                                        <p:strVal val="visible"/>
                                      </p:to>
                                    </p:set>
                                    <p:animEffect transition="in" filter="wipe(left)">
                                      <p:cBhvr>
                                        <p:cTn id="12" dur="500"/>
                                        <p:tgtEl>
                                          <p:spTgt spid="153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p:bldP spid="15360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descr="羊皮纸"/>
          <p:cNvSpPr txBox="1"/>
          <p:nvPr/>
        </p:nvSpPr>
        <p:spPr>
          <a:xfrm>
            <a:off x="0" y="390525"/>
            <a:ext cx="5176838" cy="2306955"/>
          </a:xfrm>
          <a:prstGeom prst="rect">
            <a:avLst/>
          </a:prstGeom>
          <a:blipFill rotWithShape="1">
            <a:blip r:embed="rId2"/>
          </a:blipFill>
          <a:ln w="19050">
            <a:noFill/>
          </a:ln>
        </p:spPr>
        <p:txBody>
          <a:bodyPr>
            <a:spAutoFit/>
          </a:bodyPr>
          <a:lstStyle/>
          <a:p>
            <a:pPr algn="just"/>
            <a:r>
              <a:rPr lang="zh-CN" altLang="zh-CN" sz="2400" b="1" dirty="0">
                <a:latin typeface="Times New Roman" panose="02020603050405020304" pitchFamily="18" charset="0"/>
              </a:rPr>
              <a:t>例: </a:t>
            </a:r>
            <a:r>
              <a:rPr lang="zh-CN" altLang="zh-CN" sz="2400" dirty="0">
                <a:latin typeface="Times New Roman" panose="02020603050405020304" pitchFamily="18" charset="0"/>
              </a:rPr>
              <a:t>   某序列检测器有一个输入端</a:t>
            </a:r>
            <a:r>
              <a:rPr lang="en-US" altLang="zh-CN" sz="2400" dirty="0">
                <a:latin typeface="Times New Roman" panose="02020603050405020304" pitchFamily="18" charset="0"/>
              </a:rPr>
              <a:t>x</a:t>
            </a:r>
            <a:r>
              <a:rPr lang="zh-CN" altLang="zh-CN" sz="2400" dirty="0">
                <a:latin typeface="Times New Roman" panose="02020603050405020304" pitchFamily="18" charset="0"/>
              </a:rPr>
              <a:t>和一个输出端</a:t>
            </a:r>
            <a:r>
              <a:rPr lang="en-US" altLang="zh-CN" sz="2400" dirty="0">
                <a:latin typeface="Times New Roman" panose="02020603050405020304" pitchFamily="18" charset="0"/>
              </a:rPr>
              <a:t>Z</a:t>
            </a:r>
            <a:r>
              <a:rPr lang="zh-CN" altLang="en-US" sz="2400" dirty="0">
                <a:latin typeface="Times New Roman" panose="02020603050405020304" pitchFamily="18" charset="0"/>
              </a:rPr>
              <a:t>。</a:t>
            </a:r>
            <a:r>
              <a:rPr lang="zh-CN" altLang="zh-CN" sz="2400" dirty="0">
                <a:latin typeface="Times New Roman" panose="02020603050405020304" pitchFamily="18" charset="0"/>
              </a:rPr>
              <a:t>从</a:t>
            </a:r>
            <a:r>
              <a:rPr lang="en-US" altLang="zh-CN" sz="2400" dirty="0">
                <a:latin typeface="Times New Roman" panose="02020603050405020304" pitchFamily="18" charset="0"/>
              </a:rPr>
              <a:t>x</a:t>
            </a:r>
            <a:r>
              <a:rPr lang="zh-CN" altLang="zh-CN" sz="2400" dirty="0">
                <a:latin typeface="Times New Roman" panose="02020603050405020304" pitchFamily="18" charset="0"/>
              </a:rPr>
              <a:t>端输入一组按时间顺序排列的串行二进制码。当输入序列中出现101时，输出</a:t>
            </a:r>
            <a:r>
              <a:rPr lang="en-US" altLang="zh-CN" sz="2400"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r>
              <a:rPr lang="zh-CN" altLang="zh-CN" sz="2400" dirty="0">
                <a:latin typeface="Times New Roman" panose="02020603050405020304" pitchFamily="18" charset="0"/>
              </a:rPr>
              <a:t>否则</a:t>
            </a:r>
            <a:r>
              <a:rPr lang="zh-CN" altLang="en-US" sz="2400" dirty="0">
                <a:latin typeface="Times New Roman" panose="02020603050405020304" pitchFamily="18" charset="0"/>
              </a:rPr>
              <a:t> </a:t>
            </a:r>
            <a:r>
              <a:rPr lang="en-US" altLang="zh-CN" sz="2400"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r>
              <a:rPr lang="zh-CN" altLang="zh-CN" sz="2400" dirty="0">
                <a:latin typeface="Times New Roman" panose="02020603050405020304" pitchFamily="18" charset="0"/>
              </a:rPr>
              <a:t>试作出该序列检测器的</a:t>
            </a:r>
            <a:r>
              <a:rPr lang="en-US" altLang="zh-CN" sz="2400" dirty="0">
                <a:latin typeface="Times New Roman" panose="02020603050405020304" pitchFamily="18" charset="0"/>
              </a:rPr>
              <a:t>Mealy</a:t>
            </a:r>
            <a:r>
              <a:rPr lang="zh-CN" altLang="zh-CN" sz="2400" dirty="0">
                <a:latin typeface="Times New Roman" panose="02020603050405020304" pitchFamily="18" charset="0"/>
              </a:rPr>
              <a:t>型和</a:t>
            </a:r>
            <a:r>
              <a:rPr lang="en-US" altLang="zh-CN" sz="2400" dirty="0">
                <a:latin typeface="Times New Roman" panose="02020603050405020304" pitchFamily="18" charset="0"/>
              </a:rPr>
              <a:t>Moore</a:t>
            </a:r>
            <a:r>
              <a:rPr lang="zh-CN" altLang="zh-CN" sz="2400" dirty="0">
                <a:latin typeface="Times New Roman" panose="02020603050405020304" pitchFamily="18" charset="0"/>
              </a:rPr>
              <a:t>型原始状态图和状态表。</a:t>
            </a:r>
            <a:endParaRPr lang="zh-CN" altLang="en-US" sz="2400" dirty="0">
              <a:latin typeface="Times New Roman" panose="02020603050405020304" pitchFamily="18" charset="0"/>
            </a:endParaRPr>
          </a:p>
        </p:txBody>
      </p:sp>
      <p:sp>
        <p:nvSpPr>
          <p:cNvPr id="154627" name="Oval 3"/>
          <p:cNvSpPr/>
          <p:nvPr/>
        </p:nvSpPr>
        <p:spPr>
          <a:xfrm>
            <a:off x="1371600" y="3703955"/>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0</a:t>
            </a:r>
            <a:endParaRPr lang="en-US" altLang="zh-CN" sz="2400" dirty="0">
              <a:latin typeface="Times New Roman" panose="02020603050405020304" pitchFamily="18" charset="0"/>
            </a:endParaRPr>
          </a:p>
        </p:txBody>
      </p:sp>
      <p:sp>
        <p:nvSpPr>
          <p:cNvPr id="154628" name="Oval 4"/>
          <p:cNvSpPr/>
          <p:nvPr/>
        </p:nvSpPr>
        <p:spPr>
          <a:xfrm>
            <a:off x="3392488" y="3703955"/>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154629" name="Oval 5"/>
          <p:cNvSpPr/>
          <p:nvPr/>
        </p:nvSpPr>
        <p:spPr>
          <a:xfrm>
            <a:off x="3392488" y="516763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2</a:t>
            </a:r>
            <a:endParaRPr lang="en-US" altLang="zh-CN" sz="2400" dirty="0">
              <a:latin typeface="Times New Roman" panose="02020603050405020304" pitchFamily="18" charset="0"/>
            </a:endParaRPr>
          </a:p>
        </p:txBody>
      </p:sp>
      <p:sp>
        <p:nvSpPr>
          <p:cNvPr id="154630" name="Oval 6"/>
          <p:cNvSpPr/>
          <p:nvPr/>
        </p:nvSpPr>
        <p:spPr>
          <a:xfrm>
            <a:off x="1371600" y="516763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3</a:t>
            </a:r>
            <a:endParaRPr lang="en-US" altLang="zh-CN" sz="2400" dirty="0">
              <a:latin typeface="Times New Roman" panose="02020603050405020304" pitchFamily="18" charset="0"/>
            </a:endParaRPr>
          </a:p>
        </p:txBody>
      </p:sp>
      <p:grpSp>
        <p:nvGrpSpPr>
          <p:cNvPr id="2" name="Group 7"/>
          <p:cNvGrpSpPr/>
          <p:nvPr/>
        </p:nvGrpSpPr>
        <p:grpSpPr>
          <a:xfrm>
            <a:off x="1943100" y="5777230"/>
            <a:ext cx="1477963" cy="547688"/>
            <a:chOff x="2294" y="3084"/>
            <a:chExt cx="931" cy="345"/>
          </a:xfrm>
        </p:grpSpPr>
        <p:sp>
          <p:nvSpPr>
            <p:cNvPr id="20524" name="Text Box 8"/>
            <p:cNvSpPr txBox="1"/>
            <p:nvPr/>
          </p:nvSpPr>
          <p:spPr>
            <a:xfrm>
              <a:off x="2510" y="3139"/>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1/1</a:t>
              </a:r>
            </a:p>
          </p:txBody>
        </p:sp>
        <p:sp>
          <p:nvSpPr>
            <p:cNvPr id="20525" name="Freeform 9"/>
            <p:cNvSpPr/>
            <p:nvPr/>
          </p:nvSpPr>
          <p:spPr>
            <a:xfrm rot="10800000">
              <a:off x="2294" y="3084"/>
              <a:ext cx="931" cy="124"/>
            </a:xfrm>
            <a:custGeom>
              <a:avLst/>
              <a:gdLst>
                <a:gd name="txL" fmla="*/ 0 w 931"/>
                <a:gd name="txT" fmla="*/ 0 h 124"/>
                <a:gd name="txR" fmla="*/ 931 w 931"/>
                <a:gd name="txB" fmla="*/ 124 h 124"/>
              </a:gdLst>
              <a:ahLst/>
              <a:cxnLst>
                <a:cxn ang="0">
                  <a:pos x="0" y="124"/>
                </a:cxn>
                <a:cxn ang="0">
                  <a:pos x="487" y="0"/>
                </a:cxn>
                <a:cxn ang="0">
                  <a:pos x="931" y="124"/>
                </a:cxn>
              </a:cxnLst>
              <a:rect l="txL" t="txT" r="txR" b="txB"/>
              <a:pathLst>
                <a:path w="931" h="124">
                  <a:moveTo>
                    <a:pt x="0" y="124"/>
                  </a:moveTo>
                  <a:cubicBezTo>
                    <a:pt x="81" y="103"/>
                    <a:pt x="332" y="0"/>
                    <a:pt x="487" y="0"/>
                  </a:cubicBezTo>
                  <a:cubicBezTo>
                    <a:pt x="642" y="0"/>
                    <a:pt x="838" y="98"/>
                    <a:pt x="931" y="124"/>
                  </a:cubicBezTo>
                </a:path>
              </a:pathLst>
            </a:custGeom>
            <a:noFill/>
            <a:ln w="38100" cap="flat" cmpd="sng">
              <a:solidFill>
                <a:srgbClr val="3333FF">
                  <a:alpha val="100000"/>
                </a:srgbClr>
              </a:solidFill>
              <a:prstDash val="solid"/>
              <a:round/>
              <a:headEnd type="none" w="med" len="med"/>
              <a:tailEnd type="triangle" w="sm" len="lg"/>
            </a:ln>
          </p:spPr>
          <p:txBody>
            <a:bodyPr/>
            <a:lstStyle/>
            <a:p>
              <a:endParaRPr lang="zh-CN" altLang="en-US" sz="2400"/>
            </a:p>
          </p:txBody>
        </p:sp>
      </p:grpSp>
      <p:grpSp>
        <p:nvGrpSpPr>
          <p:cNvPr id="3" name="Group 10"/>
          <p:cNvGrpSpPr/>
          <p:nvPr/>
        </p:nvGrpSpPr>
        <p:grpSpPr>
          <a:xfrm>
            <a:off x="1962150" y="3153093"/>
            <a:ext cx="1477963" cy="592137"/>
            <a:chOff x="2306" y="1431"/>
            <a:chExt cx="931" cy="373"/>
          </a:xfrm>
        </p:grpSpPr>
        <p:sp>
          <p:nvSpPr>
            <p:cNvPr id="20522" name="Text Box 11"/>
            <p:cNvSpPr txBox="1"/>
            <p:nvPr/>
          </p:nvSpPr>
          <p:spPr>
            <a:xfrm>
              <a:off x="2592" y="1431"/>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1/0</a:t>
              </a:r>
            </a:p>
          </p:txBody>
        </p:sp>
        <p:sp>
          <p:nvSpPr>
            <p:cNvPr id="20523" name="Freeform 12"/>
            <p:cNvSpPr/>
            <p:nvPr/>
          </p:nvSpPr>
          <p:spPr>
            <a:xfrm>
              <a:off x="2306" y="1680"/>
              <a:ext cx="931" cy="124"/>
            </a:xfrm>
            <a:custGeom>
              <a:avLst/>
              <a:gdLst>
                <a:gd name="txL" fmla="*/ 0 w 931"/>
                <a:gd name="txT" fmla="*/ 0 h 124"/>
                <a:gd name="txR" fmla="*/ 931 w 931"/>
                <a:gd name="txB" fmla="*/ 124 h 124"/>
              </a:gdLst>
              <a:ahLst/>
              <a:cxnLst>
                <a:cxn ang="0">
                  <a:pos x="0" y="124"/>
                </a:cxn>
                <a:cxn ang="0">
                  <a:pos x="487" y="0"/>
                </a:cxn>
                <a:cxn ang="0">
                  <a:pos x="931" y="124"/>
                </a:cxn>
              </a:cxnLst>
              <a:rect l="txL" t="txT" r="txR" b="txB"/>
              <a:pathLst>
                <a:path w="931" h="124">
                  <a:moveTo>
                    <a:pt x="0" y="124"/>
                  </a:moveTo>
                  <a:cubicBezTo>
                    <a:pt x="81" y="103"/>
                    <a:pt x="332" y="0"/>
                    <a:pt x="487" y="0"/>
                  </a:cubicBezTo>
                  <a:cubicBezTo>
                    <a:pt x="642" y="0"/>
                    <a:pt x="838" y="98"/>
                    <a:pt x="931" y="124"/>
                  </a:cubicBezTo>
                </a:path>
              </a:pathLst>
            </a:custGeom>
            <a:noFill/>
            <a:ln w="38100" cap="flat" cmpd="sng">
              <a:solidFill>
                <a:srgbClr val="3333FF">
                  <a:alpha val="100000"/>
                </a:srgbClr>
              </a:solidFill>
              <a:prstDash val="solid"/>
              <a:round/>
              <a:headEnd type="none" w="med" len="med"/>
              <a:tailEnd type="triangle" w="sm" len="lg"/>
            </a:ln>
          </p:spPr>
          <p:txBody>
            <a:bodyPr/>
            <a:lstStyle/>
            <a:p>
              <a:endParaRPr lang="zh-CN" altLang="en-US" sz="2400"/>
            </a:p>
          </p:txBody>
        </p:sp>
      </p:grpSp>
      <p:grpSp>
        <p:nvGrpSpPr>
          <p:cNvPr id="4" name="Group 13"/>
          <p:cNvGrpSpPr/>
          <p:nvPr/>
        </p:nvGrpSpPr>
        <p:grpSpPr>
          <a:xfrm>
            <a:off x="4038600" y="4081780"/>
            <a:ext cx="755650" cy="1463675"/>
            <a:chOff x="3614" y="2016"/>
            <a:chExt cx="476" cy="922"/>
          </a:xfrm>
        </p:grpSpPr>
        <p:sp>
          <p:nvSpPr>
            <p:cNvPr id="20520" name="Text Box 14"/>
            <p:cNvSpPr txBox="1"/>
            <p:nvPr/>
          </p:nvSpPr>
          <p:spPr>
            <a:xfrm>
              <a:off x="3730" y="2219"/>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0/0</a:t>
              </a:r>
            </a:p>
          </p:txBody>
        </p:sp>
        <p:sp>
          <p:nvSpPr>
            <p:cNvPr id="20521" name="Freeform 15"/>
            <p:cNvSpPr/>
            <p:nvPr/>
          </p:nvSpPr>
          <p:spPr>
            <a:xfrm>
              <a:off x="3614" y="2016"/>
              <a:ext cx="160" cy="922"/>
            </a:xfrm>
            <a:custGeom>
              <a:avLst/>
              <a:gdLst>
                <a:gd name="txL" fmla="*/ 0 w 160"/>
                <a:gd name="txT" fmla="*/ 0 h 922"/>
                <a:gd name="txR" fmla="*/ 160 w 160"/>
                <a:gd name="txB" fmla="*/ 922 h 922"/>
              </a:gdLst>
              <a:ahLst/>
              <a:cxnLst>
                <a:cxn ang="0">
                  <a:pos x="0" y="0"/>
                </a:cxn>
                <a:cxn ang="0">
                  <a:pos x="155" y="478"/>
                </a:cxn>
                <a:cxn ang="0">
                  <a:pos x="31" y="922"/>
                </a:cxn>
              </a:cxnLst>
              <a:rect l="txL" t="txT" r="txR" b="txB"/>
              <a:pathLst>
                <a:path w="160" h="922">
                  <a:moveTo>
                    <a:pt x="0" y="0"/>
                  </a:moveTo>
                  <a:cubicBezTo>
                    <a:pt x="24" y="80"/>
                    <a:pt x="150" y="324"/>
                    <a:pt x="155" y="478"/>
                  </a:cubicBezTo>
                  <a:cubicBezTo>
                    <a:pt x="160" y="632"/>
                    <a:pt x="57" y="829"/>
                    <a:pt x="31" y="922"/>
                  </a:cubicBezTo>
                </a:path>
              </a:pathLst>
            </a:custGeom>
            <a:noFill/>
            <a:ln w="38100" cap="flat" cmpd="sng">
              <a:solidFill>
                <a:srgbClr val="3333FF">
                  <a:alpha val="100000"/>
                </a:srgbClr>
              </a:solidFill>
              <a:prstDash val="solid"/>
              <a:round/>
              <a:headEnd type="none" w="med" len="med"/>
              <a:tailEnd type="triangle" w="sm" len="lg"/>
            </a:ln>
          </p:spPr>
          <p:txBody>
            <a:bodyPr/>
            <a:lstStyle/>
            <a:p>
              <a:endParaRPr lang="zh-CN" altLang="en-US" sz="2400"/>
            </a:p>
          </p:txBody>
        </p:sp>
      </p:grpSp>
      <p:grpSp>
        <p:nvGrpSpPr>
          <p:cNvPr id="5" name="Group 16"/>
          <p:cNvGrpSpPr/>
          <p:nvPr/>
        </p:nvGrpSpPr>
        <p:grpSpPr>
          <a:xfrm>
            <a:off x="2057400" y="5013643"/>
            <a:ext cx="1287463" cy="541337"/>
            <a:chOff x="2366" y="2603"/>
            <a:chExt cx="811" cy="341"/>
          </a:xfrm>
        </p:grpSpPr>
        <p:sp>
          <p:nvSpPr>
            <p:cNvPr id="20518" name="Text Box 17"/>
            <p:cNvSpPr txBox="1"/>
            <p:nvPr/>
          </p:nvSpPr>
          <p:spPr>
            <a:xfrm>
              <a:off x="2554" y="2603"/>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0/0</a:t>
              </a:r>
            </a:p>
          </p:txBody>
        </p:sp>
        <p:sp>
          <p:nvSpPr>
            <p:cNvPr id="20519" name="Freeform 18"/>
            <p:cNvSpPr/>
            <p:nvPr/>
          </p:nvSpPr>
          <p:spPr>
            <a:xfrm>
              <a:off x="2366" y="2856"/>
              <a:ext cx="811" cy="88"/>
            </a:xfrm>
            <a:custGeom>
              <a:avLst/>
              <a:gdLst>
                <a:gd name="txL" fmla="*/ 0 w 931"/>
                <a:gd name="txT" fmla="*/ 0 h 124"/>
                <a:gd name="txR" fmla="*/ 931 w 931"/>
                <a:gd name="txB" fmla="*/ 124 h 124"/>
              </a:gdLst>
              <a:ahLst/>
              <a:cxnLst>
                <a:cxn ang="0">
                  <a:pos x="0" y="62"/>
                </a:cxn>
                <a:cxn ang="0">
                  <a:pos x="369" y="0"/>
                </a:cxn>
                <a:cxn ang="0">
                  <a:pos x="706" y="62"/>
                </a:cxn>
              </a:cxnLst>
              <a:rect l="txL" t="txT" r="txR" b="txB"/>
              <a:pathLst>
                <a:path w="931" h="124">
                  <a:moveTo>
                    <a:pt x="0" y="124"/>
                  </a:moveTo>
                  <a:cubicBezTo>
                    <a:pt x="81" y="103"/>
                    <a:pt x="332" y="0"/>
                    <a:pt x="487" y="0"/>
                  </a:cubicBezTo>
                  <a:cubicBezTo>
                    <a:pt x="642" y="0"/>
                    <a:pt x="838" y="98"/>
                    <a:pt x="931" y="124"/>
                  </a:cubicBezTo>
                </a:path>
              </a:pathLst>
            </a:custGeom>
            <a:noFill/>
            <a:ln w="38100" cap="flat" cmpd="sng">
              <a:solidFill>
                <a:srgbClr val="3333FF">
                  <a:alpha val="100000"/>
                </a:srgbClr>
              </a:solidFill>
              <a:prstDash val="solid"/>
              <a:round/>
              <a:headEnd type="none" w="med" len="med"/>
              <a:tailEnd type="triangle" w="sm" len="lg"/>
            </a:ln>
          </p:spPr>
          <p:txBody>
            <a:bodyPr/>
            <a:lstStyle/>
            <a:p>
              <a:endParaRPr lang="zh-CN" altLang="en-US" sz="2400"/>
            </a:p>
          </p:txBody>
        </p:sp>
      </p:grpSp>
      <p:grpSp>
        <p:nvGrpSpPr>
          <p:cNvPr id="6" name="Group 19"/>
          <p:cNvGrpSpPr/>
          <p:nvPr/>
        </p:nvGrpSpPr>
        <p:grpSpPr>
          <a:xfrm>
            <a:off x="1955800" y="3891280"/>
            <a:ext cx="1039813" cy="1635125"/>
            <a:chOff x="2302" y="1896"/>
            <a:chExt cx="655" cy="1030"/>
          </a:xfrm>
        </p:grpSpPr>
        <p:sp>
          <p:nvSpPr>
            <p:cNvPr id="20516" name="Freeform 20"/>
            <p:cNvSpPr/>
            <p:nvPr/>
          </p:nvSpPr>
          <p:spPr>
            <a:xfrm rot="3876819">
              <a:off x="2226" y="2195"/>
              <a:ext cx="1030" cy="431"/>
            </a:xfrm>
            <a:custGeom>
              <a:avLst/>
              <a:gdLst>
                <a:gd name="txL" fmla="*/ 0 w 864"/>
                <a:gd name="txT" fmla="*/ 0 h 444"/>
                <a:gd name="txR" fmla="*/ 864 w 864"/>
                <a:gd name="txB" fmla="*/ 444 h 444"/>
              </a:gdLst>
              <a:ahLst/>
              <a:cxnLst>
                <a:cxn ang="0">
                  <a:pos x="1228" y="0"/>
                </a:cxn>
                <a:cxn ang="0">
                  <a:pos x="563" y="93"/>
                </a:cxn>
                <a:cxn ang="0">
                  <a:pos x="0" y="418"/>
                </a:cxn>
              </a:cxnLst>
              <a:rect l="txL" t="txT" r="txR" b="txB"/>
              <a:pathLst>
                <a:path w="864" h="444">
                  <a:moveTo>
                    <a:pt x="864" y="0"/>
                  </a:moveTo>
                  <a:cubicBezTo>
                    <a:pt x="786" y="18"/>
                    <a:pt x="540" y="25"/>
                    <a:pt x="396" y="99"/>
                  </a:cubicBezTo>
                  <a:cubicBezTo>
                    <a:pt x="252" y="173"/>
                    <a:pt x="82" y="372"/>
                    <a:pt x="0" y="444"/>
                  </a:cubicBezTo>
                </a:path>
              </a:pathLst>
            </a:custGeom>
            <a:noFill/>
            <a:ln w="38100" cap="flat" cmpd="sng">
              <a:solidFill>
                <a:srgbClr val="3333FF">
                  <a:alpha val="100000"/>
                </a:srgbClr>
              </a:solidFill>
              <a:prstDash val="solid"/>
              <a:round/>
              <a:headEnd type="none" w="med" len="med"/>
              <a:tailEnd type="triangle" w="sm" len="lg"/>
            </a:ln>
          </p:spPr>
          <p:txBody>
            <a:bodyPr/>
            <a:lstStyle/>
            <a:p>
              <a:endParaRPr lang="zh-CN" altLang="en-US" sz="2400"/>
            </a:p>
          </p:txBody>
        </p:sp>
        <p:sp>
          <p:nvSpPr>
            <p:cNvPr id="20517" name="Text Box 21"/>
            <p:cNvSpPr txBox="1"/>
            <p:nvPr/>
          </p:nvSpPr>
          <p:spPr>
            <a:xfrm>
              <a:off x="2302" y="2085"/>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0/0</a:t>
              </a:r>
            </a:p>
          </p:txBody>
        </p:sp>
      </p:grpSp>
      <p:grpSp>
        <p:nvGrpSpPr>
          <p:cNvPr id="7" name="Group 22"/>
          <p:cNvGrpSpPr/>
          <p:nvPr/>
        </p:nvGrpSpPr>
        <p:grpSpPr>
          <a:xfrm>
            <a:off x="1774825" y="4202430"/>
            <a:ext cx="1784350" cy="798513"/>
            <a:chOff x="2188" y="2092"/>
            <a:chExt cx="1124" cy="503"/>
          </a:xfrm>
        </p:grpSpPr>
        <p:sp>
          <p:nvSpPr>
            <p:cNvPr id="20514" name="Freeform 23"/>
            <p:cNvSpPr/>
            <p:nvPr/>
          </p:nvSpPr>
          <p:spPr>
            <a:xfrm rot="10043488">
              <a:off x="2188" y="2092"/>
              <a:ext cx="1095" cy="503"/>
            </a:xfrm>
            <a:custGeom>
              <a:avLst/>
              <a:gdLst>
                <a:gd name="txL" fmla="*/ 0 w 864"/>
                <a:gd name="txT" fmla="*/ 0 h 444"/>
                <a:gd name="txR" fmla="*/ 864 w 864"/>
                <a:gd name="txB" fmla="*/ 444 h 444"/>
              </a:gdLst>
              <a:ahLst/>
              <a:cxnLst>
                <a:cxn ang="0">
                  <a:pos x="1388" y="0"/>
                </a:cxn>
                <a:cxn ang="0">
                  <a:pos x="636" y="127"/>
                </a:cxn>
                <a:cxn ang="0">
                  <a:pos x="0" y="570"/>
                </a:cxn>
              </a:cxnLst>
              <a:rect l="txL" t="txT" r="txR" b="txB"/>
              <a:pathLst>
                <a:path w="864" h="444">
                  <a:moveTo>
                    <a:pt x="864" y="0"/>
                  </a:moveTo>
                  <a:cubicBezTo>
                    <a:pt x="786" y="18"/>
                    <a:pt x="540" y="25"/>
                    <a:pt x="396" y="99"/>
                  </a:cubicBezTo>
                  <a:cubicBezTo>
                    <a:pt x="252" y="173"/>
                    <a:pt x="82" y="372"/>
                    <a:pt x="0" y="444"/>
                  </a:cubicBezTo>
                </a:path>
              </a:pathLst>
            </a:custGeom>
            <a:noFill/>
            <a:ln w="38100" cap="flat" cmpd="sng">
              <a:solidFill>
                <a:srgbClr val="3333FF">
                  <a:alpha val="100000"/>
                </a:srgbClr>
              </a:solidFill>
              <a:prstDash val="solid"/>
              <a:round/>
              <a:headEnd type="none" w="med" len="med"/>
              <a:tailEnd type="triangle" w="sm" len="lg"/>
            </a:ln>
          </p:spPr>
          <p:txBody>
            <a:bodyPr/>
            <a:lstStyle/>
            <a:p>
              <a:endParaRPr lang="zh-CN" altLang="en-US" sz="2400"/>
            </a:p>
          </p:txBody>
        </p:sp>
        <p:sp>
          <p:nvSpPr>
            <p:cNvPr id="20515" name="Text Box 24"/>
            <p:cNvSpPr txBox="1"/>
            <p:nvPr/>
          </p:nvSpPr>
          <p:spPr>
            <a:xfrm>
              <a:off x="2952" y="2133"/>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1/0</a:t>
              </a:r>
            </a:p>
          </p:txBody>
        </p:sp>
      </p:grpSp>
      <p:grpSp>
        <p:nvGrpSpPr>
          <p:cNvPr id="8" name="Group 25"/>
          <p:cNvGrpSpPr/>
          <p:nvPr/>
        </p:nvGrpSpPr>
        <p:grpSpPr>
          <a:xfrm>
            <a:off x="777875" y="3510280"/>
            <a:ext cx="704850" cy="1065213"/>
            <a:chOff x="1560" y="1656"/>
            <a:chExt cx="444" cy="671"/>
          </a:xfrm>
        </p:grpSpPr>
        <p:sp>
          <p:nvSpPr>
            <p:cNvPr id="20512" name="Freeform 26"/>
            <p:cNvSpPr/>
            <p:nvPr/>
          </p:nvSpPr>
          <p:spPr>
            <a:xfrm>
              <a:off x="1608" y="1656"/>
              <a:ext cx="396" cy="463"/>
            </a:xfrm>
            <a:custGeom>
              <a:avLst/>
              <a:gdLst>
                <a:gd name="txL" fmla="*/ 0 w 396"/>
                <a:gd name="txT" fmla="*/ 0 h 463"/>
                <a:gd name="txR" fmla="*/ 396 w 396"/>
                <a:gd name="txB" fmla="*/ 463 h 463"/>
              </a:gdLst>
              <a:ahLst/>
              <a:cxnLst>
                <a:cxn ang="0">
                  <a:pos x="347" y="417"/>
                </a:cxn>
                <a:cxn ang="0">
                  <a:pos x="192" y="456"/>
                </a:cxn>
                <a:cxn ang="0">
                  <a:pos x="48" y="372"/>
                </a:cxn>
                <a:cxn ang="0">
                  <a:pos x="0" y="240"/>
                </a:cxn>
                <a:cxn ang="0">
                  <a:pos x="48" y="84"/>
                </a:cxn>
                <a:cxn ang="0">
                  <a:pos x="144" y="12"/>
                </a:cxn>
                <a:cxn ang="0">
                  <a:pos x="228" y="12"/>
                </a:cxn>
                <a:cxn ang="0">
                  <a:pos x="324" y="36"/>
                </a:cxn>
                <a:cxn ang="0">
                  <a:pos x="396" y="96"/>
                </a:cxn>
              </a:cxnLst>
              <a:rect l="txL" t="txT" r="txR" b="txB"/>
              <a:pathLst>
                <a:path w="396" h="463">
                  <a:moveTo>
                    <a:pt x="347" y="417"/>
                  </a:moveTo>
                  <a:cubicBezTo>
                    <a:pt x="321" y="423"/>
                    <a:pt x="242" y="463"/>
                    <a:pt x="192" y="456"/>
                  </a:cubicBezTo>
                  <a:cubicBezTo>
                    <a:pt x="142" y="449"/>
                    <a:pt x="80" y="408"/>
                    <a:pt x="48" y="372"/>
                  </a:cubicBezTo>
                  <a:cubicBezTo>
                    <a:pt x="16" y="336"/>
                    <a:pt x="0" y="288"/>
                    <a:pt x="0" y="240"/>
                  </a:cubicBezTo>
                  <a:cubicBezTo>
                    <a:pt x="0" y="192"/>
                    <a:pt x="24" y="122"/>
                    <a:pt x="48" y="84"/>
                  </a:cubicBezTo>
                  <a:cubicBezTo>
                    <a:pt x="72" y="46"/>
                    <a:pt x="114" y="24"/>
                    <a:pt x="144" y="12"/>
                  </a:cubicBezTo>
                  <a:cubicBezTo>
                    <a:pt x="174" y="0"/>
                    <a:pt x="198" y="8"/>
                    <a:pt x="228" y="12"/>
                  </a:cubicBezTo>
                  <a:cubicBezTo>
                    <a:pt x="258" y="16"/>
                    <a:pt x="296" y="22"/>
                    <a:pt x="324" y="36"/>
                  </a:cubicBezTo>
                  <a:cubicBezTo>
                    <a:pt x="352" y="50"/>
                    <a:pt x="381" y="84"/>
                    <a:pt x="396" y="96"/>
                  </a:cubicBezTo>
                </a:path>
              </a:pathLst>
            </a:custGeom>
            <a:noFill/>
            <a:ln w="38100" cap="flat" cmpd="sng">
              <a:solidFill>
                <a:srgbClr val="3333FF">
                  <a:alpha val="100000"/>
                </a:srgbClr>
              </a:solidFill>
              <a:prstDash val="solid"/>
              <a:round/>
              <a:headEnd type="triangle" w="med" len="med"/>
              <a:tailEnd type="none" w="sm" len="lg"/>
            </a:ln>
          </p:spPr>
          <p:txBody>
            <a:bodyPr/>
            <a:lstStyle/>
            <a:p>
              <a:endParaRPr lang="zh-CN" altLang="en-US" sz="2400"/>
            </a:p>
          </p:txBody>
        </p:sp>
        <p:sp>
          <p:nvSpPr>
            <p:cNvPr id="20513" name="Text Box 27"/>
            <p:cNvSpPr txBox="1"/>
            <p:nvPr/>
          </p:nvSpPr>
          <p:spPr>
            <a:xfrm>
              <a:off x="1560" y="2037"/>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0/0</a:t>
              </a:r>
            </a:p>
          </p:txBody>
        </p:sp>
      </p:grpSp>
      <p:grpSp>
        <p:nvGrpSpPr>
          <p:cNvPr id="9" name="Group 28"/>
          <p:cNvGrpSpPr/>
          <p:nvPr/>
        </p:nvGrpSpPr>
        <p:grpSpPr>
          <a:xfrm>
            <a:off x="3749675" y="2934018"/>
            <a:ext cx="660400" cy="1174750"/>
            <a:chOff x="3432" y="1293"/>
            <a:chExt cx="416" cy="740"/>
          </a:xfrm>
        </p:grpSpPr>
        <p:sp>
          <p:nvSpPr>
            <p:cNvPr id="20510" name="Freeform 29"/>
            <p:cNvSpPr/>
            <p:nvPr/>
          </p:nvSpPr>
          <p:spPr>
            <a:xfrm>
              <a:off x="3432" y="1584"/>
              <a:ext cx="416" cy="449"/>
            </a:xfrm>
            <a:custGeom>
              <a:avLst/>
              <a:gdLst>
                <a:gd name="txL" fmla="*/ 0 w 416"/>
                <a:gd name="txT" fmla="*/ 0 h 449"/>
                <a:gd name="txR" fmla="*/ 416 w 416"/>
                <a:gd name="txB" fmla="*/ 449 h 449"/>
              </a:gdLst>
              <a:ahLst/>
              <a:cxnLst>
                <a:cxn ang="0">
                  <a:pos x="0" y="202"/>
                </a:cxn>
                <a:cxn ang="0">
                  <a:pos x="50" y="60"/>
                </a:cxn>
                <a:cxn ang="0">
                  <a:pos x="206" y="0"/>
                </a:cxn>
                <a:cxn ang="0">
                  <a:pos x="374" y="60"/>
                </a:cxn>
                <a:cxn ang="0">
                  <a:pos x="410" y="228"/>
                </a:cxn>
                <a:cxn ang="0">
                  <a:pos x="338" y="396"/>
                </a:cxn>
                <a:cxn ang="0">
                  <a:pos x="181" y="449"/>
                </a:cxn>
              </a:cxnLst>
              <a:rect l="txL" t="txT" r="txR" b="txB"/>
              <a:pathLst>
                <a:path w="416" h="449">
                  <a:moveTo>
                    <a:pt x="0" y="202"/>
                  </a:moveTo>
                  <a:cubicBezTo>
                    <a:pt x="8" y="178"/>
                    <a:pt x="16" y="94"/>
                    <a:pt x="50" y="60"/>
                  </a:cubicBezTo>
                  <a:cubicBezTo>
                    <a:pt x="84" y="26"/>
                    <a:pt x="152" y="0"/>
                    <a:pt x="206" y="0"/>
                  </a:cubicBezTo>
                  <a:cubicBezTo>
                    <a:pt x="260" y="0"/>
                    <a:pt x="340" y="22"/>
                    <a:pt x="374" y="60"/>
                  </a:cubicBezTo>
                  <a:cubicBezTo>
                    <a:pt x="408" y="98"/>
                    <a:pt x="416" y="172"/>
                    <a:pt x="410" y="228"/>
                  </a:cubicBezTo>
                  <a:cubicBezTo>
                    <a:pt x="404" y="284"/>
                    <a:pt x="376" y="359"/>
                    <a:pt x="338" y="396"/>
                  </a:cubicBezTo>
                  <a:cubicBezTo>
                    <a:pt x="300" y="433"/>
                    <a:pt x="214" y="438"/>
                    <a:pt x="181" y="449"/>
                  </a:cubicBezTo>
                </a:path>
              </a:pathLst>
            </a:custGeom>
            <a:noFill/>
            <a:ln w="38100" cap="flat" cmpd="sng">
              <a:solidFill>
                <a:srgbClr val="3333FF">
                  <a:alpha val="100000"/>
                </a:srgbClr>
              </a:solidFill>
              <a:prstDash val="solid"/>
              <a:round/>
              <a:headEnd type="none" w="med" len="med"/>
              <a:tailEnd type="triangle" w="sm" len="lg"/>
            </a:ln>
          </p:spPr>
          <p:txBody>
            <a:bodyPr/>
            <a:lstStyle/>
            <a:p>
              <a:endParaRPr lang="zh-CN" altLang="en-US" sz="2400"/>
            </a:p>
          </p:txBody>
        </p:sp>
        <p:sp>
          <p:nvSpPr>
            <p:cNvPr id="20511" name="Text Box 30"/>
            <p:cNvSpPr txBox="1"/>
            <p:nvPr/>
          </p:nvSpPr>
          <p:spPr>
            <a:xfrm>
              <a:off x="3444" y="1293"/>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1/0</a:t>
              </a:r>
            </a:p>
          </p:txBody>
        </p:sp>
      </p:grpSp>
      <p:sp>
        <p:nvSpPr>
          <p:cNvPr id="154655" name="Text Box 31"/>
          <p:cNvSpPr txBox="1"/>
          <p:nvPr/>
        </p:nvSpPr>
        <p:spPr>
          <a:xfrm>
            <a:off x="5435600" y="1190625"/>
            <a:ext cx="3213735" cy="460375"/>
          </a:xfrm>
          <a:prstGeom prst="rect">
            <a:avLst/>
          </a:prstGeom>
          <a:noFill/>
          <a:ln w="19050">
            <a:noFill/>
          </a:ln>
        </p:spPr>
        <p:txBody>
          <a:bodyPr wrap="none">
            <a:spAutoFit/>
          </a:bodyPr>
          <a:lstStyle/>
          <a:p>
            <a:r>
              <a:rPr lang="zh-CN" altLang="zh-CN" sz="2400" b="1" dirty="0">
                <a:latin typeface="Times New Roman" panose="02020603050405020304" pitchFamily="18" charset="0"/>
              </a:rPr>
              <a:t>电路的</a:t>
            </a:r>
            <a:r>
              <a:rPr lang="en-US" altLang="zh-CN" sz="2400" b="1" dirty="0">
                <a:latin typeface="Times New Roman" panose="02020603050405020304" pitchFamily="18" charset="0"/>
              </a:rPr>
              <a:t>Mealy </a:t>
            </a:r>
            <a:r>
              <a:rPr lang="zh-CN" altLang="zh-CN" sz="2400" b="1" dirty="0">
                <a:latin typeface="Times New Roman" panose="02020603050405020304" pitchFamily="18" charset="0"/>
              </a:rPr>
              <a:t>型状态表</a:t>
            </a:r>
            <a:endParaRPr lang="zh-CN" altLang="en-US" sz="2400" dirty="0">
              <a:latin typeface="Times New Roman" panose="02020603050405020304" pitchFamily="18" charset="0"/>
            </a:endParaRPr>
          </a:p>
        </p:txBody>
      </p:sp>
      <p:grpSp>
        <p:nvGrpSpPr>
          <p:cNvPr id="10" name="Group 32"/>
          <p:cNvGrpSpPr/>
          <p:nvPr/>
        </p:nvGrpSpPr>
        <p:grpSpPr>
          <a:xfrm>
            <a:off x="5199063" y="1866900"/>
            <a:ext cx="3943350" cy="3943350"/>
            <a:chOff x="564" y="1020"/>
            <a:chExt cx="4464" cy="2436"/>
          </a:xfrm>
        </p:grpSpPr>
        <p:sp>
          <p:nvSpPr>
            <p:cNvPr id="20497" name="Line 33"/>
            <p:cNvSpPr/>
            <p:nvPr/>
          </p:nvSpPr>
          <p:spPr>
            <a:xfrm>
              <a:off x="588" y="1020"/>
              <a:ext cx="4404" cy="0"/>
            </a:xfrm>
            <a:prstGeom prst="line">
              <a:avLst/>
            </a:prstGeom>
            <a:ln w="38100" cap="flat" cmpd="sng">
              <a:solidFill>
                <a:schemeClr val="tx1"/>
              </a:solidFill>
              <a:prstDash val="solid"/>
              <a:headEnd type="none" w="med" len="med"/>
              <a:tailEnd type="none" w="sm" len="lg"/>
            </a:ln>
          </p:spPr>
        </p:sp>
        <p:sp>
          <p:nvSpPr>
            <p:cNvPr id="20498" name="Line 34"/>
            <p:cNvSpPr/>
            <p:nvPr/>
          </p:nvSpPr>
          <p:spPr>
            <a:xfrm>
              <a:off x="624" y="3444"/>
              <a:ext cx="4404" cy="0"/>
            </a:xfrm>
            <a:prstGeom prst="line">
              <a:avLst/>
            </a:prstGeom>
            <a:ln w="38100" cap="flat" cmpd="sng">
              <a:solidFill>
                <a:schemeClr val="tx1"/>
              </a:solidFill>
              <a:prstDash val="solid"/>
              <a:headEnd type="none" w="med" len="med"/>
              <a:tailEnd type="none" w="sm" len="lg"/>
            </a:ln>
          </p:spPr>
        </p:sp>
        <p:sp>
          <p:nvSpPr>
            <p:cNvPr id="20499" name="Line 35"/>
            <p:cNvSpPr/>
            <p:nvPr/>
          </p:nvSpPr>
          <p:spPr>
            <a:xfrm>
              <a:off x="1644" y="1020"/>
              <a:ext cx="0" cy="2424"/>
            </a:xfrm>
            <a:prstGeom prst="line">
              <a:avLst/>
            </a:prstGeom>
            <a:ln w="19050" cap="flat" cmpd="sng">
              <a:solidFill>
                <a:schemeClr val="tx1"/>
              </a:solidFill>
              <a:prstDash val="solid"/>
              <a:headEnd type="none" w="med" len="med"/>
              <a:tailEnd type="none" w="sm" len="lg"/>
            </a:ln>
          </p:spPr>
        </p:sp>
        <p:sp>
          <p:nvSpPr>
            <p:cNvPr id="20500" name="Line 36"/>
            <p:cNvSpPr/>
            <p:nvPr/>
          </p:nvSpPr>
          <p:spPr>
            <a:xfrm>
              <a:off x="3228" y="1620"/>
              <a:ext cx="0" cy="1836"/>
            </a:xfrm>
            <a:prstGeom prst="line">
              <a:avLst/>
            </a:prstGeom>
            <a:ln w="19050" cap="flat" cmpd="sng">
              <a:solidFill>
                <a:schemeClr val="tx1"/>
              </a:solidFill>
              <a:prstDash val="solid"/>
              <a:headEnd type="none" w="med" len="med"/>
              <a:tailEnd type="none" w="sm" len="lg"/>
            </a:ln>
          </p:spPr>
        </p:sp>
        <p:sp>
          <p:nvSpPr>
            <p:cNvPr id="20501" name="Line 37"/>
            <p:cNvSpPr/>
            <p:nvPr/>
          </p:nvSpPr>
          <p:spPr>
            <a:xfrm>
              <a:off x="1644" y="1608"/>
              <a:ext cx="3336" cy="0"/>
            </a:xfrm>
            <a:prstGeom prst="line">
              <a:avLst/>
            </a:prstGeom>
            <a:ln w="12700" cap="flat" cmpd="sng">
              <a:solidFill>
                <a:schemeClr val="tx1"/>
              </a:solidFill>
              <a:prstDash val="solid"/>
              <a:headEnd type="none" w="med" len="med"/>
              <a:tailEnd type="none" w="sm" len="lg"/>
            </a:ln>
          </p:spPr>
        </p:sp>
        <p:sp>
          <p:nvSpPr>
            <p:cNvPr id="20502" name="Line 38"/>
            <p:cNvSpPr/>
            <p:nvPr/>
          </p:nvSpPr>
          <p:spPr>
            <a:xfrm>
              <a:off x="564" y="2160"/>
              <a:ext cx="4404" cy="0"/>
            </a:xfrm>
            <a:prstGeom prst="line">
              <a:avLst/>
            </a:prstGeom>
            <a:ln w="12700" cap="flat" cmpd="sng">
              <a:solidFill>
                <a:schemeClr val="tx1"/>
              </a:solidFill>
              <a:prstDash val="solid"/>
              <a:headEnd type="none" w="med" len="med"/>
              <a:tailEnd type="none" w="sm" len="lg"/>
            </a:ln>
          </p:spPr>
        </p:sp>
        <p:sp>
          <p:nvSpPr>
            <p:cNvPr id="20503" name="Text Box 39"/>
            <p:cNvSpPr txBox="1"/>
            <p:nvPr/>
          </p:nvSpPr>
          <p:spPr>
            <a:xfrm>
              <a:off x="769" y="1420"/>
              <a:ext cx="897" cy="284"/>
            </a:xfrm>
            <a:prstGeom prst="rect">
              <a:avLst/>
            </a:prstGeom>
            <a:noFill/>
            <a:ln w="19050">
              <a:noFill/>
            </a:ln>
          </p:spPr>
          <p:txBody>
            <a:bodyPr wrap="none">
              <a:spAutoFit/>
            </a:bodyPr>
            <a:lstStyle/>
            <a:p>
              <a:r>
                <a:rPr lang="zh-CN" altLang="zh-CN" sz="2400" dirty="0">
                  <a:latin typeface="Times New Roman" panose="02020603050405020304" pitchFamily="18" charset="0"/>
                </a:rPr>
                <a:t>现态</a:t>
              </a:r>
            </a:p>
          </p:txBody>
        </p:sp>
        <p:sp>
          <p:nvSpPr>
            <p:cNvPr id="20504" name="Text Box 40"/>
            <p:cNvSpPr txBox="1"/>
            <p:nvPr/>
          </p:nvSpPr>
          <p:spPr>
            <a:xfrm>
              <a:off x="2677" y="1146"/>
              <a:ext cx="1683" cy="284"/>
            </a:xfrm>
            <a:prstGeom prst="rect">
              <a:avLst/>
            </a:prstGeom>
            <a:noFill/>
            <a:ln w="19050">
              <a:noFill/>
            </a:ln>
          </p:spPr>
          <p:txBody>
            <a:bodyPr wrap="none">
              <a:spAutoFit/>
            </a:bodyPr>
            <a:lstStyle/>
            <a:p>
              <a:r>
                <a:rPr lang="zh-CN" altLang="en-US" sz="2400" dirty="0">
                  <a:latin typeface="Times New Roman" panose="02020603050405020304" pitchFamily="18" charset="0"/>
                </a:rPr>
                <a:t>次态</a:t>
              </a:r>
              <a:r>
                <a:rPr lang="en-US" altLang="zh-CN" sz="2400" dirty="0">
                  <a:latin typeface="Times New Roman" panose="02020603050405020304" pitchFamily="18" charset="0"/>
                </a:rPr>
                <a:t>/</a:t>
              </a:r>
              <a:r>
                <a:rPr lang="zh-CN" altLang="en-US" sz="2400" dirty="0">
                  <a:latin typeface="Times New Roman" panose="02020603050405020304" pitchFamily="18" charset="0"/>
                </a:rPr>
                <a:t>输出</a:t>
              </a:r>
            </a:p>
          </p:txBody>
        </p:sp>
        <p:sp>
          <p:nvSpPr>
            <p:cNvPr id="20505" name="Text Box 41"/>
            <p:cNvSpPr txBox="1"/>
            <p:nvPr/>
          </p:nvSpPr>
          <p:spPr>
            <a:xfrm>
              <a:off x="2183" y="1722"/>
              <a:ext cx="727" cy="284"/>
            </a:xfrm>
            <a:prstGeom prst="rect">
              <a:avLst/>
            </a:prstGeom>
            <a:noFill/>
            <a:ln w="19050">
              <a:noFill/>
            </a:ln>
          </p:spPr>
          <p:txBody>
            <a:bodyPr wrap="none">
              <a:spAutoFit/>
            </a:bodyPr>
            <a:lstStyle/>
            <a:p>
              <a:r>
                <a:rPr lang="en-US" altLang="zh-CN" sz="2400" i="1" dirty="0">
                  <a:latin typeface="Times New Roman" panose="02020603050405020304" pitchFamily="18" charset="0"/>
                </a:rPr>
                <a:t>x</a:t>
              </a:r>
              <a:r>
                <a:rPr lang="en-US" altLang="zh-CN" sz="2400" dirty="0">
                  <a:latin typeface="Times New Roman" panose="02020603050405020304" pitchFamily="18" charset="0"/>
                </a:rPr>
                <a:t>=0</a:t>
              </a:r>
            </a:p>
          </p:txBody>
        </p:sp>
        <p:sp>
          <p:nvSpPr>
            <p:cNvPr id="20506" name="Text Box 42"/>
            <p:cNvSpPr txBox="1"/>
            <p:nvPr/>
          </p:nvSpPr>
          <p:spPr>
            <a:xfrm>
              <a:off x="3829" y="1722"/>
              <a:ext cx="727" cy="284"/>
            </a:xfrm>
            <a:prstGeom prst="rect">
              <a:avLst/>
            </a:prstGeom>
            <a:noFill/>
            <a:ln w="19050">
              <a:noFill/>
            </a:ln>
          </p:spPr>
          <p:txBody>
            <a:bodyPr wrap="none">
              <a:spAutoFit/>
            </a:bodyPr>
            <a:lstStyle/>
            <a:p>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p>
          </p:txBody>
        </p:sp>
        <p:sp>
          <p:nvSpPr>
            <p:cNvPr id="20507" name="Text Box 43"/>
            <p:cNvSpPr txBox="1"/>
            <p:nvPr/>
          </p:nvSpPr>
          <p:spPr>
            <a:xfrm>
              <a:off x="864" y="2226"/>
              <a:ext cx="511" cy="969"/>
            </a:xfrm>
            <a:prstGeom prst="rect">
              <a:avLst/>
            </a:prstGeom>
            <a:noFill/>
            <a:ln w="19050">
              <a:noFill/>
            </a:ln>
          </p:spPr>
          <p:txBody>
            <a:bodyPr wrap="none">
              <a:spAutoFit/>
            </a:bodyPr>
            <a:lstStyle/>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0</a:t>
              </a: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3</a:t>
              </a:r>
            </a:p>
          </p:txBody>
        </p:sp>
        <p:sp>
          <p:nvSpPr>
            <p:cNvPr id="20508" name="Text Box 44"/>
            <p:cNvSpPr txBox="1"/>
            <p:nvPr/>
          </p:nvSpPr>
          <p:spPr>
            <a:xfrm>
              <a:off x="2113" y="2226"/>
              <a:ext cx="779" cy="969"/>
            </a:xfrm>
            <a:prstGeom prst="rect">
              <a:avLst/>
            </a:prstGeom>
            <a:noFill/>
            <a:ln w="19050">
              <a:noFill/>
            </a:ln>
          </p:spPr>
          <p:txBody>
            <a:bodyPr wrap="none">
              <a:spAutoFit/>
            </a:bodyPr>
            <a:lstStyle/>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0</a:t>
              </a:r>
              <a:r>
                <a:rPr lang="en-US" altLang="zh-CN" sz="24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0</a:t>
              </a:r>
              <a:r>
                <a:rPr lang="en-US" altLang="zh-CN" sz="24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/0</a:t>
              </a:r>
            </a:p>
          </p:txBody>
        </p:sp>
        <p:sp>
          <p:nvSpPr>
            <p:cNvPr id="20509" name="Text Box 45"/>
            <p:cNvSpPr txBox="1"/>
            <p:nvPr/>
          </p:nvSpPr>
          <p:spPr>
            <a:xfrm>
              <a:off x="3783" y="2226"/>
              <a:ext cx="779" cy="969"/>
            </a:xfrm>
            <a:prstGeom prst="rect">
              <a:avLst/>
            </a:prstGeom>
            <a:noFill/>
            <a:ln w="19050">
              <a:noFill/>
            </a:ln>
          </p:spPr>
          <p:txBody>
            <a:bodyPr wrap="none">
              <a:spAutoFit/>
            </a:bodyPr>
            <a:lstStyle/>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/0</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/1</a:t>
              </a:r>
              <a:endParaRPr lang="en-US" altLang="zh-CN" sz="2400" baseline="-25000" dirty="0">
                <a:latin typeface="Times New Roman" panose="02020603050405020304" pitchFamily="18" charset="0"/>
              </a:endParaRP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/0</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4627"/>
                                        </p:tgtEl>
                                        <p:attrNameLst>
                                          <p:attrName>style.visibility</p:attrName>
                                        </p:attrNameLst>
                                      </p:cBhvr>
                                      <p:to>
                                        <p:strVal val="visible"/>
                                      </p:to>
                                    </p:set>
                                    <p:animEffect transition="in" filter="wipe(left)">
                                      <p:cBhvr>
                                        <p:cTn id="7" dur="500"/>
                                        <p:tgtEl>
                                          <p:spTgt spid="1546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4628"/>
                                        </p:tgtEl>
                                        <p:attrNameLst>
                                          <p:attrName>style.visibility</p:attrName>
                                        </p:attrNameLst>
                                      </p:cBhvr>
                                      <p:to>
                                        <p:strVal val="visible"/>
                                      </p:to>
                                    </p:set>
                                    <p:animEffect transition="in" filter="wipe(left)">
                                      <p:cBhvr>
                                        <p:cTn id="17" dur="500"/>
                                        <p:tgtEl>
                                          <p:spTgt spid="1546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4629"/>
                                        </p:tgtEl>
                                        <p:attrNameLst>
                                          <p:attrName>style.visibility</p:attrName>
                                        </p:attrNameLst>
                                      </p:cBhvr>
                                      <p:to>
                                        <p:strVal val="visible"/>
                                      </p:to>
                                    </p:set>
                                    <p:animEffect transition="in" filter="wipe(left)">
                                      <p:cBhvr>
                                        <p:cTn id="27" dur="500"/>
                                        <p:tgtEl>
                                          <p:spTgt spid="1546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righ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4630"/>
                                        </p:tgtEl>
                                        <p:attrNameLst>
                                          <p:attrName>style.visibility</p:attrName>
                                        </p:attrNameLst>
                                      </p:cBhvr>
                                      <p:to>
                                        <p:strVal val="visible"/>
                                      </p:to>
                                    </p:set>
                                    <p:animEffect transition="in" filter="wipe(left)">
                                      <p:cBhvr>
                                        <p:cTn id="37" dur="500"/>
                                        <p:tgtEl>
                                          <p:spTgt spid="15463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up)">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up)">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right)">
                                      <p:cBhvr>
                                        <p:cTn id="52" dur="500"/>
                                        <p:tgtEl>
                                          <p:spTgt spid="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wipe(left)">
                                      <p:cBhvr>
                                        <p:cTn id="57" dur="500"/>
                                        <p:tgtEl>
                                          <p:spTgt spid="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wipe(left)">
                                      <p:cBhvr>
                                        <p:cTn id="62" dur="500"/>
                                        <p:tgtEl>
                                          <p:spTgt spid="7"/>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54655"/>
                                        </p:tgtEl>
                                        <p:attrNameLst>
                                          <p:attrName>style.visibility</p:attrName>
                                        </p:attrNameLst>
                                      </p:cBhvr>
                                      <p:to>
                                        <p:strVal val="visible"/>
                                      </p:to>
                                    </p:set>
                                    <p:animEffect transition="in" filter="dissolve">
                                      <p:cBhvr>
                                        <p:cTn id="67" dur="500"/>
                                        <p:tgtEl>
                                          <p:spTgt spid="154655"/>
                                        </p:tgtEl>
                                      </p:cBhvr>
                                    </p:animEffect>
                                  </p:childTnLst>
                                </p:cTn>
                              </p:par>
                            </p:childTnLst>
                          </p:cTn>
                        </p:par>
                      </p:childTnLst>
                    </p:cTn>
                  </p:par>
                  <p:par>
                    <p:cTn id="68" fill="hold">
                      <p:stCondLst>
                        <p:cond delay="indefinite"/>
                      </p:stCondLst>
                      <p:childTnLst>
                        <p:par>
                          <p:cTn id="69" fill="hold">
                            <p:stCondLst>
                              <p:cond delay="0"/>
                            </p:stCondLst>
                            <p:childTnLst>
                              <p:par>
                                <p:cTn id="70" presetID="8" presetClass="entr" presetSubtype="32" fill="hold" nodeType="click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diamond(out)">
                                      <p:cBhvr>
                                        <p:cTn id="72"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ldLvl="0" animBg="1"/>
      <p:bldP spid="154628" grpId="0" bldLvl="0" animBg="1"/>
      <p:bldP spid="154629" grpId="0" bldLvl="0" animBg="1"/>
      <p:bldP spid="154630" grpId="0" bldLvl="0" animBg="1"/>
      <p:bldP spid="154655"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Text Box 2"/>
          <p:cNvSpPr txBox="1"/>
          <p:nvPr/>
        </p:nvSpPr>
        <p:spPr>
          <a:xfrm>
            <a:off x="4937125" y="695325"/>
            <a:ext cx="3335020" cy="460375"/>
          </a:xfrm>
          <a:prstGeom prst="rect">
            <a:avLst/>
          </a:prstGeom>
          <a:noFill/>
          <a:ln w="19050">
            <a:noFill/>
          </a:ln>
        </p:spPr>
        <p:txBody>
          <a:bodyPr wrap="none">
            <a:spAutoFit/>
          </a:bodyPr>
          <a:lstStyle/>
          <a:p>
            <a:r>
              <a:rPr lang="zh-CN" altLang="zh-CN" sz="2400" b="1" dirty="0">
                <a:latin typeface="Times New Roman" panose="02020603050405020304" pitchFamily="18" charset="0"/>
              </a:rPr>
              <a:t>电路的 </a:t>
            </a:r>
            <a:r>
              <a:rPr lang="en-US" altLang="zh-CN" sz="2400" b="1" dirty="0">
                <a:latin typeface="Times New Roman" panose="02020603050405020304" pitchFamily="18" charset="0"/>
              </a:rPr>
              <a:t>Moore </a:t>
            </a:r>
            <a:r>
              <a:rPr lang="zh-CN" altLang="zh-CN" sz="2400" b="1" dirty="0">
                <a:latin typeface="Times New Roman" panose="02020603050405020304" pitchFamily="18" charset="0"/>
              </a:rPr>
              <a:t>型状态表</a:t>
            </a:r>
            <a:endParaRPr lang="zh-CN" altLang="en-US" sz="2400" dirty="0">
              <a:latin typeface="Times New Roman" panose="02020603050405020304" pitchFamily="18" charset="0"/>
            </a:endParaRPr>
          </a:p>
        </p:txBody>
      </p:sp>
      <p:grpSp>
        <p:nvGrpSpPr>
          <p:cNvPr id="2" name="Group 3"/>
          <p:cNvGrpSpPr/>
          <p:nvPr/>
        </p:nvGrpSpPr>
        <p:grpSpPr>
          <a:xfrm>
            <a:off x="4856163" y="1562100"/>
            <a:ext cx="3924300" cy="3867150"/>
            <a:chOff x="564" y="1224"/>
            <a:chExt cx="4464" cy="2436"/>
          </a:xfrm>
        </p:grpSpPr>
        <p:sp>
          <p:nvSpPr>
            <p:cNvPr id="21536" name="Line 4"/>
            <p:cNvSpPr/>
            <p:nvPr/>
          </p:nvSpPr>
          <p:spPr>
            <a:xfrm>
              <a:off x="588" y="1224"/>
              <a:ext cx="4404" cy="0"/>
            </a:xfrm>
            <a:prstGeom prst="line">
              <a:avLst/>
            </a:prstGeom>
            <a:ln w="38100" cap="flat" cmpd="sng">
              <a:solidFill>
                <a:schemeClr val="tx1"/>
              </a:solidFill>
              <a:prstDash val="solid"/>
              <a:headEnd type="none" w="med" len="med"/>
              <a:tailEnd type="none" w="sm" len="lg"/>
            </a:ln>
          </p:spPr>
        </p:sp>
        <p:sp>
          <p:nvSpPr>
            <p:cNvPr id="21537" name="Line 5"/>
            <p:cNvSpPr/>
            <p:nvPr/>
          </p:nvSpPr>
          <p:spPr>
            <a:xfrm>
              <a:off x="624" y="3648"/>
              <a:ext cx="4404" cy="0"/>
            </a:xfrm>
            <a:prstGeom prst="line">
              <a:avLst/>
            </a:prstGeom>
            <a:ln w="38100" cap="flat" cmpd="sng">
              <a:solidFill>
                <a:schemeClr val="tx1"/>
              </a:solidFill>
              <a:prstDash val="solid"/>
              <a:headEnd type="none" w="med" len="med"/>
              <a:tailEnd type="none" w="sm" len="lg"/>
            </a:ln>
          </p:spPr>
        </p:sp>
        <p:sp>
          <p:nvSpPr>
            <p:cNvPr id="21538" name="Line 6"/>
            <p:cNvSpPr/>
            <p:nvPr/>
          </p:nvSpPr>
          <p:spPr>
            <a:xfrm>
              <a:off x="1644" y="1224"/>
              <a:ext cx="0" cy="2424"/>
            </a:xfrm>
            <a:prstGeom prst="line">
              <a:avLst/>
            </a:prstGeom>
            <a:ln w="19050" cap="flat" cmpd="sng">
              <a:solidFill>
                <a:schemeClr val="tx1"/>
              </a:solidFill>
              <a:prstDash val="solid"/>
              <a:headEnd type="none" w="med" len="med"/>
              <a:tailEnd type="none" w="sm" len="lg"/>
            </a:ln>
          </p:spPr>
        </p:sp>
        <p:sp>
          <p:nvSpPr>
            <p:cNvPr id="21539" name="Line 7"/>
            <p:cNvSpPr/>
            <p:nvPr/>
          </p:nvSpPr>
          <p:spPr>
            <a:xfrm>
              <a:off x="2712" y="1824"/>
              <a:ext cx="0" cy="1836"/>
            </a:xfrm>
            <a:prstGeom prst="line">
              <a:avLst/>
            </a:prstGeom>
            <a:ln w="19050" cap="flat" cmpd="sng">
              <a:solidFill>
                <a:schemeClr val="tx1"/>
              </a:solidFill>
              <a:prstDash val="solid"/>
              <a:headEnd type="none" w="med" len="med"/>
              <a:tailEnd type="none" w="sm" len="lg"/>
            </a:ln>
          </p:spPr>
        </p:sp>
        <p:sp>
          <p:nvSpPr>
            <p:cNvPr id="21540" name="Line 8"/>
            <p:cNvSpPr/>
            <p:nvPr/>
          </p:nvSpPr>
          <p:spPr>
            <a:xfrm>
              <a:off x="1644" y="1812"/>
              <a:ext cx="2184" cy="0"/>
            </a:xfrm>
            <a:prstGeom prst="line">
              <a:avLst/>
            </a:prstGeom>
            <a:ln w="12700" cap="flat" cmpd="sng">
              <a:solidFill>
                <a:schemeClr val="tx1"/>
              </a:solidFill>
              <a:prstDash val="solid"/>
              <a:headEnd type="none" w="med" len="med"/>
              <a:tailEnd type="none" w="sm" len="lg"/>
            </a:ln>
          </p:spPr>
        </p:sp>
        <p:sp>
          <p:nvSpPr>
            <p:cNvPr id="21541" name="Line 9"/>
            <p:cNvSpPr/>
            <p:nvPr/>
          </p:nvSpPr>
          <p:spPr>
            <a:xfrm>
              <a:off x="564" y="2364"/>
              <a:ext cx="4404" cy="0"/>
            </a:xfrm>
            <a:prstGeom prst="line">
              <a:avLst/>
            </a:prstGeom>
            <a:ln w="12700" cap="flat" cmpd="sng">
              <a:solidFill>
                <a:schemeClr val="tx1"/>
              </a:solidFill>
              <a:prstDash val="solid"/>
              <a:headEnd type="none" w="med" len="med"/>
              <a:tailEnd type="none" w="sm" len="lg"/>
            </a:ln>
          </p:spPr>
        </p:sp>
        <p:sp>
          <p:nvSpPr>
            <p:cNvPr id="21542" name="Text Box 10"/>
            <p:cNvSpPr txBox="1"/>
            <p:nvPr/>
          </p:nvSpPr>
          <p:spPr>
            <a:xfrm>
              <a:off x="770" y="1624"/>
              <a:ext cx="901" cy="290"/>
            </a:xfrm>
            <a:prstGeom prst="rect">
              <a:avLst/>
            </a:prstGeom>
            <a:noFill/>
            <a:ln w="19050">
              <a:noFill/>
            </a:ln>
          </p:spPr>
          <p:txBody>
            <a:bodyPr wrap="none">
              <a:spAutoFit/>
            </a:bodyPr>
            <a:lstStyle/>
            <a:p>
              <a:r>
                <a:rPr lang="zh-CN" altLang="zh-CN" sz="2400" dirty="0">
                  <a:latin typeface="Times New Roman" panose="02020603050405020304" pitchFamily="18" charset="0"/>
                </a:rPr>
                <a:t>现态</a:t>
              </a:r>
            </a:p>
          </p:txBody>
        </p:sp>
        <p:sp>
          <p:nvSpPr>
            <p:cNvPr id="21543" name="Text Box 11"/>
            <p:cNvSpPr txBox="1"/>
            <p:nvPr/>
          </p:nvSpPr>
          <p:spPr>
            <a:xfrm>
              <a:off x="2343" y="1350"/>
              <a:ext cx="1162" cy="290"/>
            </a:xfrm>
            <a:prstGeom prst="rect">
              <a:avLst/>
            </a:prstGeom>
            <a:noFill/>
            <a:ln w="19050">
              <a:noFill/>
            </a:ln>
          </p:spPr>
          <p:txBody>
            <a:bodyPr wrap="none">
              <a:spAutoFit/>
            </a:bodyPr>
            <a:lstStyle/>
            <a:p>
              <a:r>
                <a:rPr lang="zh-CN" altLang="en-US" sz="2400" dirty="0">
                  <a:latin typeface="Times New Roman" panose="02020603050405020304" pitchFamily="18" charset="0"/>
                </a:rPr>
                <a:t>次   态</a:t>
              </a:r>
            </a:p>
          </p:txBody>
        </p:sp>
        <p:sp>
          <p:nvSpPr>
            <p:cNvPr id="21544" name="Text Box 12"/>
            <p:cNvSpPr txBox="1"/>
            <p:nvPr/>
          </p:nvSpPr>
          <p:spPr>
            <a:xfrm>
              <a:off x="1958" y="1926"/>
              <a:ext cx="731" cy="290"/>
            </a:xfrm>
            <a:prstGeom prst="rect">
              <a:avLst/>
            </a:prstGeom>
            <a:noFill/>
            <a:ln w="19050">
              <a:noFill/>
            </a:ln>
          </p:spPr>
          <p:txBody>
            <a:bodyPr wrap="none">
              <a:spAutoFit/>
            </a:bodyPr>
            <a:lstStyle/>
            <a:p>
              <a:r>
                <a:rPr lang="en-US" altLang="zh-CN" sz="2400" i="1" dirty="0">
                  <a:latin typeface="Times New Roman" panose="02020603050405020304" pitchFamily="18" charset="0"/>
                </a:rPr>
                <a:t>x</a:t>
              </a:r>
              <a:r>
                <a:rPr lang="en-US" altLang="zh-CN" sz="2400" dirty="0">
                  <a:latin typeface="Times New Roman" panose="02020603050405020304" pitchFamily="18" charset="0"/>
                </a:rPr>
                <a:t>=0</a:t>
              </a:r>
            </a:p>
          </p:txBody>
        </p:sp>
        <p:sp>
          <p:nvSpPr>
            <p:cNvPr id="21545" name="Text Box 13"/>
            <p:cNvSpPr txBox="1"/>
            <p:nvPr/>
          </p:nvSpPr>
          <p:spPr>
            <a:xfrm>
              <a:off x="3025" y="1926"/>
              <a:ext cx="731" cy="290"/>
            </a:xfrm>
            <a:prstGeom prst="rect">
              <a:avLst/>
            </a:prstGeom>
            <a:noFill/>
            <a:ln w="19050">
              <a:noFill/>
            </a:ln>
          </p:spPr>
          <p:txBody>
            <a:bodyPr wrap="none">
              <a:spAutoFit/>
            </a:bodyPr>
            <a:lstStyle/>
            <a:p>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p>
          </p:txBody>
        </p:sp>
        <p:sp>
          <p:nvSpPr>
            <p:cNvPr id="21546" name="Text Box 14"/>
            <p:cNvSpPr txBox="1"/>
            <p:nvPr/>
          </p:nvSpPr>
          <p:spPr>
            <a:xfrm>
              <a:off x="866" y="2430"/>
              <a:ext cx="514" cy="988"/>
            </a:xfrm>
            <a:prstGeom prst="rect">
              <a:avLst/>
            </a:prstGeom>
            <a:noFill/>
            <a:ln w="19050">
              <a:noFill/>
            </a:ln>
          </p:spPr>
          <p:txBody>
            <a:bodyPr wrap="none">
              <a:spAutoFit/>
            </a:bodyPr>
            <a:lstStyle/>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0</a:t>
              </a: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3</a:t>
              </a:r>
            </a:p>
          </p:txBody>
        </p:sp>
        <p:sp>
          <p:nvSpPr>
            <p:cNvPr id="21547" name="Text Box 15"/>
            <p:cNvSpPr txBox="1"/>
            <p:nvPr/>
          </p:nvSpPr>
          <p:spPr>
            <a:xfrm>
              <a:off x="2030" y="2430"/>
              <a:ext cx="514" cy="988"/>
            </a:xfrm>
            <a:prstGeom prst="rect">
              <a:avLst/>
            </a:prstGeom>
            <a:noFill/>
            <a:ln w="19050">
              <a:noFill/>
            </a:ln>
          </p:spPr>
          <p:txBody>
            <a:bodyPr wrap="none">
              <a:spAutoFit/>
            </a:bodyPr>
            <a:lstStyle/>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0</a:t>
              </a: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0</a:t>
              </a: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2</a:t>
              </a:r>
              <a:endParaRPr lang="en-US" altLang="zh-CN" sz="2400" dirty="0">
                <a:latin typeface="Times New Roman" panose="02020603050405020304" pitchFamily="18" charset="0"/>
              </a:endParaRPr>
            </a:p>
          </p:txBody>
        </p:sp>
        <p:sp>
          <p:nvSpPr>
            <p:cNvPr id="21548" name="Text Box 16"/>
            <p:cNvSpPr txBox="1"/>
            <p:nvPr/>
          </p:nvSpPr>
          <p:spPr>
            <a:xfrm>
              <a:off x="3098" y="2430"/>
              <a:ext cx="514" cy="988"/>
            </a:xfrm>
            <a:prstGeom prst="rect">
              <a:avLst/>
            </a:prstGeom>
            <a:noFill/>
            <a:ln w="19050">
              <a:noFill/>
            </a:ln>
          </p:spPr>
          <p:txBody>
            <a:bodyPr wrap="none">
              <a:spAutoFit/>
            </a:bodyPr>
            <a:lstStyle/>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3</a:t>
              </a:r>
            </a:p>
            <a:p>
              <a:r>
                <a:rPr lang="en-US" altLang="zh-CN" sz="2400" dirty="0">
                  <a:latin typeface="Times New Roman" panose="02020603050405020304" pitchFamily="18" charset="0"/>
                </a:rPr>
                <a:t>S</a:t>
              </a:r>
              <a:r>
                <a:rPr lang="en-US" altLang="zh-CN" sz="2400" baseline="-250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21549" name="Rectangle 17"/>
            <p:cNvSpPr/>
            <p:nvPr/>
          </p:nvSpPr>
          <p:spPr>
            <a:xfrm>
              <a:off x="3873" y="1470"/>
              <a:ext cx="1075" cy="523"/>
            </a:xfrm>
            <a:prstGeom prst="rect">
              <a:avLst/>
            </a:prstGeom>
            <a:noFill/>
            <a:ln w="19050">
              <a:noFill/>
            </a:ln>
          </p:spPr>
          <p:txBody>
            <a:bodyPr wrap="none">
              <a:spAutoFit/>
            </a:bodyPr>
            <a:lstStyle/>
            <a:p>
              <a:pPr algn="ctr"/>
              <a:r>
                <a:rPr lang="zh-CN" altLang="en-US" sz="2400" dirty="0">
                  <a:latin typeface="Times New Roman" panose="02020603050405020304" pitchFamily="18" charset="0"/>
                </a:rPr>
                <a:t>输  出</a:t>
              </a:r>
            </a:p>
            <a:p>
              <a:pPr algn="ctr"/>
              <a:r>
                <a:rPr lang="en-US" altLang="zh-CN" sz="2400" dirty="0">
                  <a:latin typeface="Times New Roman" panose="02020603050405020304" pitchFamily="18" charset="0"/>
                </a:rPr>
                <a:t>Z</a:t>
              </a:r>
            </a:p>
          </p:txBody>
        </p:sp>
        <p:sp>
          <p:nvSpPr>
            <p:cNvPr id="21550" name="Line 18"/>
            <p:cNvSpPr/>
            <p:nvPr/>
          </p:nvSpPr>
          <p:spPr>
            <a:xfrm>
              <a:off x="3828" y="1224"/>
              <a:ext cx="0" cy="2424"/>
            </a:xfrm>
            <a:prstGeom prst="line">
              <a:avLst/>
            </a:prstGeom>
            <a:ln w="19050" cap="flat" cmpd="sng">
              <a:solidFill>
                <a:schemeClr val="tx1"/>
              </a:solidFill>
              <a:prstDash val="solid"/>
              <a:headEnd type="none" w="med" len="med"/>
              <a:tailEnd type="none" w="sm" len="lg"/>
            </a:ln>
          </p:spPr>
        </p:sp>
        <p:sp>
          <p:nvSpPr>
            <p:cNvPr id="21551" name="Text Box 19"/>
            <p:cNvSpPr txBox="1"/>
            <p:nvPr/>
          </p:nvSpPr>
          <p:spPr>
            <a:xfrm>
              <a:off x="4324" y="2430"/>
              <a:ext cx="381" cy="988"/>
            </a:xfrm>
            <a:prstGeom prst="rect">
              <a:avLst/>
            </a:prstGeom>
            <a:noFill/>
            <a:ln w="19050">
              <a:noFill/>
            </a:ln>
          </p:spPr>
          <p:txBody>
            <a:bodyPr wrap="none">
              <a:spAutoFit/>
            </a:bodyPr>
            <a:lstStyle/>
            <a:p>
              <a:r>
                <a:rPr lang="en-US" altLang="zh-CN" sz="2400" dirty="0">
                  <a:latin typeface="Times New Roman" panose="02020603050405020304" pitchFamily="18" charset="0"/>
                </a:rPr>
                <a:t>0</a:t>
              </a:r>
            </a:p>
            <a:p>
              <a:r>
                <a:rPr lang="en-US" altLang="zh-CN" sz="2400" dirty="0">
                  <a:latin typeface="Times New Roman" panose="02020603050405020304" pitchFamily="18" charset="0"/>
                </a:rPr>
                <a:t>0</a:t>
              </a:r>
            </a:p>
            <a:p>
              <a:r>
                <a:rPr lang="en-US" altLang="zh-CN" sz="2400" dirty="0">
                  <a:latin typeface="Times New Roman" panose="02020603050405020304" pitchFamily="18" charset="0"/>
                </a:rPr>
                <a:t>0</a:t>
              </a:r>
            </a:p>
            <a:p>
              <a:r>
                <a:rPr lang="en-US" altLang="zh-CN" sz="2400" dirty="0">
                  <a:latin typeface="Times New Roman" panose="02020603050405020304" pitchFamily="18" charset="0"/>
                </a:rPr>
                <a:t>1</a:t>
              </a:r>
            </a:p>
          </p:txBody>
        </p:sp>
      </p:grpSp>
      <p:sp>
        <p:nvSpPr>
          <p:cNvPr id="155668" name="Oval 20"/>
          <p:cNvSpPr/>
          <p:nvPr/>
        </p:nvSpPr>
        <p:spPr>
          <a:xfrm>
            <a:off x="955675" y="2384425"/>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0</a:t>
            </a:r>
            <a:r>
              <a:rPr lang="en-US" altLang="zh-CN" sz="2400" dirty="0">
                <a:latin typeface="Times New Roman" panose="02020603050405020304" pitchFamily="18" charset="0"/>
              </a:rPr>
              <a:t>/0</a:t>
            </a:r>
          </a:p>
        </p:txBody>
      </p:sp>
      <p:sp>
        <p:nvSpPr>
          <p:cNvPr id="155669" name="Oval 21"/>
          <p:cNvSpPr/>
          <p:nvPr/>
        </p:nvSpPr>
        <p:spPr>
          <a:xfrm>
            <a:off x="2976563" y="2384425"/>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i="1" dirty="0">
                <a:latin typeface="Times New Roman" panose="02020603050405020304" pitchFamily="18" charset="0"/>
              </a:rPr>
              <a:t> S</a:t>
            </a:r>
            <a:r>
              <a:rPr lang="en-US" altLang="zh-CN" sz="2400" i="1" baseline="-25000" dirty="0">
                <a:latin typeface="Times New Roman" panose="02020603050405020304" pitchFamily="18" charset="0"/>
              </a:rPr>
              <a:t>1</a:t>
            </a:r>
            <a:r>
              <a:rPr lang="en-US" altLang="zh-CN" sz="2400" dirty="0">
                <a:latin typeface="Times New Roman" panose="02020603050405020304" pitchFamily="18" charset="0"/>
              </a:rPr>
              <a:t>/0</a:t>
            </a:r>
            <a:endParaRPr lang="en-US" altLang="zh-CN" sz="2400" i="1" baseline="-25000" dirty="0">
              <a:latin typeface="Times New Roman" panose="02020603050405020304" pitchFamily="18" charset="0"/>
            </a:endParaRPr>
          </a:p>
        </p:txBody>
      </p:sp>
      <p:sp>
        <p:nvSpPr>
          <p:cNvPr id="155670" name="Oval 22"/>
          <p:cNvSpPr/>
          <p:nvPr/>
        </p:nvSpPr>
        <p:spPr>
          <a:xfrm>
            <a:off x="2976563" y="3848100"/>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2</a:t>
            </a:r>
            <a:r>
              <a:rPr lang="en-US" altLang="zh-CN" sz="2400" dirty="0">
                <a:latin typeface="Times New Roman" panose="02020603050405020304" pitchFamily="18" charset="0"/>
              </a:rPr>
              <a:t>/0</a:t>
            </a:r>
            <a:endParaRPr lang="en-US" altLang="zh-CN" sz="2400" i="1" baseline="-25000" dirty="0">
              <a:latin typeface="Times New Roman" panose="02020603050405020304" pitchFamily="18" charset="0"/>
            </a:endParaRPr>
          </a:p>
        </p:txBody>
      </p:sp>
      <p:sp>
        <p:nvSpPr>
          <p:cNvPr id="155671" name="Oval 23"/>
          <p:cNvSpPr/>
          <p:nvPr/>
        </p:nvSpPr>
        <p:spPr>
          <a:xfrm>
            <a:off x="955675" y="3848100"/>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i="1" dirty="0">
                <a:latin typeface="Times New Roman" panose="02020603050405020304" pitchFamily="18" charset="0"/>
              </a:rPr>
              <a:t>S</a:t>
            </a:r>
            <a:r>
              <a:rPr lang="en-US" altLang="zh-CN" sz="2400" i="1" baseline="-25000" dirty="0">
                <a:latin typeface="Times New Roman" panose="02020603050405020304" pitchFamily="18" charset="0"/>
              </a:rPr>
              <a:t>3</a:t>
            </a:r>
            <a:r>
              <a:rPr lang="en-US" altLang="zh-CN" sz="2400" dirty="0">
                <a:latin typeface="Times New Roman" panose="02020603050405020304" pitchFamily="18" charset="0"/>
              </a:rPr>
              <a:t>/1</a:t>
            </a:r>
            <a:endParaRPr lang="en-US" altLang="zh-CN" sz="2400" i="1" baseline="-25000" dirty="0">
              <a:latin typeface="Times New Roman" panose="02020603050405020304" pitchFamily="18" charset="0"/>
            </a:endParaRPr>
          </a:p>
        </p:txBody>
      </p:sp>
      <p:grpSp>
        <p:nvGrpSpPr>
          <p:cNvPr id="3" name="Group 24"/>
          <p:cNvGrpSpPr/>
          <p:nvPr/>
        </p:nvGrpSpPr>
        <p:grpSpPr>
          <a:xfrm>
            <a:off x="3581400" y="2176463"/>
            <a:ext cx="887413" cy="738187"/>
            <a:chOff x="3570" y="1263"/>
            <a:chExt cx="559" cy="465"/>
          </a:xfrm>
        </p:grpSpPr>
        <p:sp>
          <p:nvSpPr>
            <p:cNvPr id="21534" name="Text Box 25"/>
            <p:cNvSpPr txBox="1"/>
            <p:nvPr/>
          </p:nvSpPr>
          <p:spPr>
            <a:xfrm>
              <a:off x="3918" y="1263"/>
              <a:ext cx="211" cy="290"/>
            </a:xfrm>
            <a:prstGeom prst="rect">
              <a:avLst/>
            </a:prstGeom>
            <a:noFill/>
            <a:ln w="38100">
              <a:noFill/>
            </a:ln>
          </p:spPr>
          <p:txBody>
            <a:bodyPr wrap="none">
              <a:spAutoFit/>
            </a:bodyPr>
            <a:lstStyle/>
            <a:p>
              <a:r>
                <a:rPr lang="en-US" altLang="zh-CN" sz="2400" dirty="0">
                  <a:latin typeface="Times New Roman" panose="02020603050405020304" pitchFamily="18" charset="0"/>
                </a:rPr>
                <a:t>1</a:t>
              </a:r>
            </a:p>
          </p:txBody>
        </p:sp>
        <p:sp>
          <p:nvSpPr>
            <p:cNvPr id="21535" name="Freeform 26"/>
            <p:cNvSpPr/>
            <p:nvPr/>
          </p:nvSpPr>
          <p:spPr>
            <a:xfrm rot="189521">
              <a:off x="3570" y="1280"/>
              <a:ext cx="392" cy="448"/>
            </a:xfrm>
            <a:custGeom>
              <a:avLst/>
              <a:gdLst>
                <a:gd name="txL" fmla="*/ 0 w 392"/>
                <a:gd name="txT" fmla="*/ 0 h 448"/>
                <a:gd name="txR" fmla="*/ 392 w 392"/>
                <a:gd name="txB" fmla="*/ 448 h 448"/>
              </a:gdLst>
              <a:ahLst/>
              <a:cxnLst>
                <a:cxn ang="0">
                  <a:pos x="0" y="158"/>
                </a:cxn>
                <a:cxn ang="0">
                  <a:pos x="78" y="40"/>
                </a:cxn>
                <a:cxn ang="0">
                  <a:pos x="210" y="4"/>
                </a:cxn>
                <a:cxn ang="0">
                  <a:pos x="270" y="16"/>
                </a:cxn>
                <a:cxn ang="0">
                  <a:pos x="354" y="100"/>
                </a:cxn>
                <a:cxn ang="0">
                  <a:pos x="390" y="244"/>
                </a:cxn>
                <a:cxn ang="0">
                  <a:pos x="366" y="352"/>
                </a:cxn>
                <a:cxn ang="0">
                  <a:pos x="318" y="412"/>
                </a:cxn>
                <a:cxn ang="0">
                  <a:pos x="186" y="448"/>
                </a:cxn>
              </a:cxnLst>
              <a:rect l="txL" t="txT" r="txR" b="txB"/>
              <a:pathLst>
                <a:path w="392" h="448">
                  <a:moveTo>
                    <a:pt x="0" y="158"/>
                  </a:moveTo>
                  <a:cubicBezTo>
                    <a:pt x="13" y="138"/>
                    <a:pt x="43" y="66"/>
                    <a:pt x="78" y="40"/>
                  </a:cubicBezTo>
                  <a:cubicBezTo>
                    <a:pt x="113" y="14"/>
                    <a:pt x="178" y="8"/>
                    <a:pt x="210" y="4"/>
                  </a:cubicBezTo>
                  <a:cubicBezTo>
                    <a:pt x="242" y="0"/>
                    <a:pt x="246" y="0"/>
                    <a:pt x="270" y="16"/>
                  </a:cubicBezTo>
                  <a:cubicBezTo>
                    <a:pt x="294" y="32"/>
                    <a:pt x="334" y="62"/>
                    <a:pt x="354" y="100"/>
                  </a:cubicBezTo>
                  <a:cubicBezTo>
                    <a:pt x="374" y="138"/>
                    <a:pt x="388" y="202"/>
                    <a:pt x="390" y="244"/>
                  </a:cubicBezTo>
                  <a:cubicBezTo>
                    <a:pt x="392" y="286"/>
                    <a:pt x="378" y="324"/>
                    <a:pt x="366" y="352"/>
                  </a:cubicBezTo>
                  <a:cubicBezTo>
                    <a:pt x="354" y="380"/>
                    <a:pt x="348" y="396"/>
                    <a:pt x="318" y="412"/>
                  </a:cubicBezTo>
                  <a:cubicBezTo>
                    <a:pt x="288" y="428"/>
                    <a:pt x="213" y="441"/>
                    <a:pt x="186" y="448"/>
                  </a:cubicBezTo>
                </a:path>
              </a:pathLst>
            </a:custGeom>
            <a:noFill/>
            <a:ln w="38100" cap="flat" cmpd="sng">
              <a:solidFill>
                <a:srgbClr val="3333FF">
                  <a:alpha val="100000"/>
                </a:srgbClr>
              </a:solidFill>
              <a:prstDash val="solid"/>
              <a:round/>
              <a:headEnd type="none" w="med" len="med"/>
              <a:tailEnd type="triangle" w="sm" len="lg"/>
            </a:ln>
          </p:spPr>
          <p:txBody>
            <a:bodyPr/>
            <a:lstStyle/>
            <a:p>
              <a:endParaRPr lang="zh-CN" altLang="en-US" sz="2400"/>
            </a:p>
          </p:txBody>
        </p:sp>
      </p:grpSp>
      <p:grpSp>
        <p:nvGrpSpPr>
          <p:cNvPr id="4" name="Group 27"/>
          <p:cNvGrpSpPr/>
          <p:nvPr/>
        </p:nvGrpSpPr>
        <p:grpSpPr>
          <a:xfrm>
            <a:off x="1812925" y="3771900"/>
            <a:ext cx="1211263" cy="539750"/>
            <a:chOff x="2456" y="2268"/>
            <a:chExt cx="763" cy="340"/>
          </a:xfrm>
        </p:grpSpPr>
        <p:sp>
          <p:nvSpPr>
            <p:cNvPr id="21532" name="Text Box 28"/>
            <p:cNvSpPr txBox="1"/>
            <p:nvPr/>
          </p:nvSpPr>
          <p:spPr>
            <a:xfrm>
              <a:off x="2718" y="2268"/>
              <a:ext cx="211" cy="290"/>
            </a:xfrm>
            <a:prstGeom prst="rect">
              <a:avLst/>
            </a:prstGeom>
            <a:noFill/>
            <a:ln w="38100">
              <a:noFill/>
            </a:ln>
          </p:spPr>
          <p:txBody>
            <a:bodyPr wrap="none">
              <a:spAutoFit/>
            </a:bodyPr>
            <a:lstStyle/>
            <a:p>
              <a:r>
                <a:rPr lang="en-US" altLang="zh-CN" sz="2400" dirty="0">
                  <a:latin typeface="Times New Roman" panose="02020603050405020304" pitchFamily="18" charset="0"/>
                </a:rPr>
                <a:t>0</a:t>
              </a:r>
            </a:p>
          </p:txBody>
        </p:sp>
        <p:sp>
          <p:nvSpPr>
            <p:cNvPr id="21533" name="Freeform 29"/>
            <p:cNvSpPr/>
            <p:nvPr/>
          </p:nvSpPr>
          <p:spPr>
            <a:xfrm>
              <a:off x="2456" y="2520"/>
              <a:ext cx="763" cy="88"/>
            </a:xfrm>
            <a:custGeom>
              <a:avLst/>
              <a:gdLst>
                <a:gd name="txL" fmla="*/ 0 w 931"/>
                <a:gd name="txT" fmla="*/ 0 h 124"/>
                <a:gd name="txR" fmla="*/ 931 w 931"/>
                <a:gd name="txB" fmla="*/ 124 h 124"/>
              </a:gdLst>
              <a:ahLst/>
              <a:cxnLst>
                <a:cxn ang="0">
                  <a:pos x="0" y="62"/>
                </a:cxn>
                <a:cxn ang="0">
                  <a:pos x="327" y="0"/>
                </a:cxn>
                <a:cxn ang="0">
                  <a:pos x="625" y="62"/>
                </a:cxn>
              </a:cxnLst>
              <a:rect l="txL" t="txT" r="txR" b="txB"/>
              <a:pathLst>
                <a:path w="931" h="124">
                  <a:moveTo>
                    <a:pt x="0" y="124"/>
                  </a:moveTo>
                  <a:cubicBezTo>
                    <a:pt x="81" y="103"/>
                    <a:pt x="332" y="0"/>
                    <a:pt x="487" y="0"/>
                  </a:cubicBezTo>
                  <a:cubicBezTo>
                    <a:pt x="642" y="0"/>
                    <a:pt x="838" y="98"/>
                    <a:pt x="931" y="124"/>
                  </a:cubicBezTo>
                </a:path>
              </a:pathLst>
            </a:custGeom>
            <a:noFill/>
            <a:ln w="38100" cap="flat" cmpd="sng">
              <a:solidFill>
                <a:srgbClr val="3333FF">
                  <a:alpha val="100000"/>
                </a:srgbClr>
              </a:solidFill>
              <a:prstDash val="solid"/>
              <a:round/>
              <a:headEnd type="none" w="med" len="med"/>
              <a:tailEnd type="triangle" w="sm" len="lg"/>
            </a:ln>
          </p:spPr>
          <p:txBody>
            <a:bodyPr/>
            <a:lstStyle/>
            <a:p>
              <a:endParaRPr lang="zh-CN" altLang="en-US" sz="2400"/>
            </a:p>
          </p:txBody>
        </p:sp>
      </p:grpSp>
      <p:grpSp>
        <p:nvGrpSpPr>
          <p:cNvPr id="5" name="Group 30"/>
          <p:cNvGrpSpPr/>
          <p:nvPr/>
        </p:nvGrpSpPr>
        <p:grpSpPr>
          <a:xfrm>
            <a:off x="1641475" y="4572000"/>
            <a:ext cx="1477963" cy="547688"/>
            <a:chOff x="2348" y="2772"/>
            <a:chExt cx="931" cy="345"/>
          </a:xfrm>
        </p:grpSpPr>
        <p:sp>
          <p:nvSpPr>
            <p:cNvPr id="21530" name="Text Box 31"/>
            <p:cNvSpPr txBox="1"/>
            <p:nvPr/>
          </p:nvSpPr>
          <p:spPr>
            <a:xfrm>
              <a:off x="2732" y="2827"/>
              <a:ext cx="211" cy="290"/>
            </a:xfrm>
            <a:prstGeom prst="rect">
              <a:avLst/>
            </a:prstGeom>
            <a:noFill/>
            <a:ln w="38100">
              <a:noFill/>
            </a:ln>
          </p:spPr>
          <p:txBody>
            <a:bodyPr wrap="none">
              <a:spAutoFit/>
            </a:bodyPr>
            <a:lstStyle/>
            <a:p>
              <a:r>
                <a:rPr lang="en-US" altLang="zh-CN" sz="2400" dirty="0">
                  <a:latin typeface="Times New Roman" panose="02020603050405020304" pitchFamily="18" charset="0"/>
                </a:rPr>
                <a:t>1</a:t>
              </a:r>
            </a:p>
          </p:txBody>
        </p:sp>
        <p:sp>
          <p:nvSpPr>
            <p:cNvPr id="21531" name="Freeform 32"/>
            <p:cNvSpPr/>
            <p:nvPr/>
          </p:nvSpPr>
          <p:spPr>
            <a:xfrm rot="10800000">
              <a:off x="2348" y="2772"/>
              <a:ext cx="931" cy="124"/>
            </a:xfrm>
            <a:custGeom>
              <a:avLst/>
              <a:gdLst>
                <a:gd name="txL" fmla="*/ 0 w 931"/>
                <a:gd name="txT" fmla="*/ 0 h 124"/>
                <a:gd name="txR" fmla="*/ 931 w 931"/>
                <a:gd name="txB" fmla="*/ 124 h 124"/>
              </a:gdLst>
              <a:ahLst/>
              <a:cxnLst>
                <a:cxn ang="0">
                  <a:pos x="0" y="124"/>
                </a:cxn>
                <a:cxn ang="0">
                  <a:pos x="487" y="0"/>
                </a:cxn>
                <a:cxn ang="0">
                  <a:pos x="931" y="124"/>
                </a:cxn>
              </a:cxnLst>
              <a:rect l="txL" t="txT" r="txR" b="txB"/>
              <a:pathLst>
                <a:path w="931" h="124">
                  <a:moveTo>
                    <a:pt x="0" y="124"/>
                  </a:moveTo>
                  <a:cubicBezTo>
                    <a:pt x="81" y="103"/>
                    <a:pt x="332" y="0"/>
                    <a:pt x="487" y="0"/>
                  </a:cubicBezTo>
                  <a:cubicBezTo>
                    <a:pt x="642" y="0"/>
                    <a:pt x="838" y="98"/>
                    <a:pt x="931" y="124"/>
                  </a:cubicBezTo>
                </a:path>
              </a:pathLst>
            </a:custGeom>
            <a:noFill/>
            <a:ln w="38100" cap="flat" cmpd="sng">
              <a:solidFill>
                <a:srgbClr val="3333FF">
                  <a:alpha val="100000"/>
                </a:srgbClr>
              </a:solidFill>
              <a:prstDash val="solid"/>
              <a:round/>
              <a:headEnd type="none" w="med" len="med"/>
              <a:tailEnd type="triangle" w="sm" len="lg"/>
            </a:ln>
          </p:spPr>
          <p:txBody>
            <a:bodyPr/>
            <a:lstStyle/>
            <a:p>
              <a:endParaRPr lang="zh-CN" altLang="en-US" sz="2400"/>
            </a:p>
          </p:txBody>
        </p:sp>
      </p:grpSp>
      <p:grpSp>
        <p:nvGrpSpPr>
          <p:cNvPr id="6" name="Group 33"/>
          <p:cNvGrpSpPr/>
          <p:nvPr/>
        </p:nvGrpSpPr>
        <p:grpSpPr>
          <a:xfrm>
            <a:off x="3813175" y="2914650"/>
            <a:ext cx="442913" cy="1292225"/>
            <a:chOff x="3716" y="1728"/>
            <a:chExt cx="279" cy="814"/>
          </a:xfrm>
        </p:grpSpPr>
        <p:sp>
          <p:nvSpPr>
            <p:cNvPr id="21528" name="Text Box 34"/>
            <p:cNvSpPr txBox="1"/>
            <p:nvPr/>
          </p:nvSpPr>
          <p:spPr>
            <a:xfrm>
              <a:off x="3784" y="1907"/>
              <a:ext cx="211" cy="290"/>
            </a:xfrm>
            <a:prstGeom prst="rect">
              <a:avLst/>
            </a:prstGeom>
            <a:noFill/>
            <a:ln w="38100">
              <a:noFill/>
            </a:ln>
          </p:spPr>
          <p:txBody>
            <a:bodyPr wrap="none">
              <a:spAutoFit/>
            </a:bodyPr>
            <a:lstStyle/>
            <a:p>
              <a:r>
                <a:rPr lang="en-US" altLang="zh-CN" sz="2400" dirty="0">
                  <a:latin typeface="Times New Roman" panose="02020603050405020304" pitchFamily="18" charset="0"/>
                </a:rPr>
                <a:t>0</a:t>
              </a:r>
            </a:p>
          </p:txBody>
        </p:sp>
        <p:sp>
          <p:nvSpPr>
            <p:cNvPr id="21529" name="Freeform 35"/>
            <p:cNvSpPr/>
            <p:nvPr/>
          </p:nvSpPr>
          <p:spPr>
            <a:xfrm>
              <a:off x="3716" y="1728"/>
              <a:ext cx="112" cy="814"/>
            </a:xfrm>
            <a:custGeom>
              <a:avLst/>
              <a:gdLst>
                <a:gd name="txL" fmla="*/ 0 w 160"/>
                <a:gd name="txT" fmla="*/ 0 h 922"/>
                <a:gd name="txR" fmla="*/ 160 w 160"/>
                <a:gd name="txB" fmla="*/ 922 h 922"/>
              </a:gdLst>
              <a:ahLst/>
              <a:cxnLst>
                <a:cxn ang="0">
                  <a:pos x="0" y="0"/>
                </a:cxn>
                <a:cxn ang="0">
                  <a:pos x="76" y="373"/>
                </a:cxn>
                <a:cxn ang="0">
                  <a:pos x="15" y="719"/>
                </a:cxn>
              </a:cxnLst>
              <a:rect l="txL" t="txT" r="txR" b="txB"/>
              <a:pathLst>
                <a:path w="160" h="922">
                  <a:moveTo>
                    <a:pt x="0" y="0"/>
                  </a:moveTo>
                  <a:cubicBezTo>
                    <a:pt x="24" y="80"/>
                    <a:pt x="150" y="324"/>
                    <a:pt x="155" y="478"/>
                  </a:cubicBezTo>
                  <a:cubicBezTo>
                    <a:pt x="160" y="632"/>
                    <a:pt x="57" y="829"/>
                    <a:pt x="31" y="922"/>
                  </a:cubicBezTo>
                </a:path>
              </a:pathLst>
            </a:custGeom>
            <a:noFill/>
            <a:ln w="38100" cap="flat" cmpd="sng">
              <a:solidFill>
                <a:srgbClr val="3333FF">
                  <a:alpha val="100000"/>
                </a:srgbClr>
              </a:solidFill>
              <a:prstDash val="solid"/>
              <a:round/>
              <a:headEnd type="none" w="med" len="med"/>
              <a:tailEnd type="triangle" w="sm" len="lg"/>
            </a:ln>
          </p:spPr>
          <p:txBody>
            <a:bodyPr/>
            <a:lstStyle/>
            <a:p>
              <a:endParaRPr lang="zh-CN" altLang="en-US" sz="2400"/>
            </a:p>
          </p:txBody>
        </p:sp>
      </p:grpSp>
      <p:grpSp>
        <p:nvGrpSpPr>
          <p:cNvPr id="7" name="Group 36"/>
          <p:cNvGrpSpPr/>
          <p:nvPr/>
        </p:nvGrpSpPr>
        <p:grpSpPr>
          <a:xfrm>
            <a:off x="438150" y="1976438"/>
            <a:ext cx="758825" cy="1016000"/>
            <a:chOff x="1590" y="1137"/>
            <a:chExt cx="478" cy="640"/>
          </a:xfrm>
        </p:grpSpPr>
        <p:sp>
          <p:nvSpPr>
            <p:cNvPr id="21526" name="Text Box 37"/>
            <p:cNvSpPr txBox="1"/>
            <p:nvPr/>
          </p:nvSpPr>
          <p:spPr>
            <a:xfrm>
              <a:off x="1590" y="1137"/>
              <a:ext cx="211" cy="290"/>
            </a:xfrm>
            <a:prstGeom prst="rect">
              <a:avLst/>
            </a:prstGeom>
            <a:noFill/>
            <a:ln w="38100">
              <a:noFill/>
            </a:ln>
          </p:spPr>
          <p:txBody>
            <a:bodyPr wrap="none">
              <a:spAutoFit/>
            </a:bodyPr>
            <a:lstStyle/>
            <a:p>
              <a:r>
                <a:rPr lang="en-US" altLang="zh-CN" sz="2400" dirty="0">
                  <a:latin typeface="Times New Roman" panose="02020603050405020304" pitchFamily="18" charset="0"/>
                </a:rPr>
                <a:t>0</a:t>
              </a:r>
            </a:p>
          </p:txBody>
        </p:sp>
        <p:sp>
          <p:nvSpPr>
            <p:cNvPr id="21527" name="Freeform 38"/>
            <p:cNvSpPr/>
            <p:nvPr/>
          </p:nvSpPr>
          <p:spPr>
            <a:xfrm>
              <a:off x="1632" y="1310"/>
              <a:ext cx="436" cy="467"/>
            </a:xfrm>
            <a:custGeom>
              <a:avLst/>
              <a:gdLst>
                <a:gd name="txL" fmla="*/ 0 w 436"/>
                <a:gd name="txT" fmla="*/ 0 h 467"/>
                <a:gd name="txR" fmla="*/ 436 w 436"/>
                <a:gd name="txB" fmla="*/ 467 h 467"/>
              </a:gdLst>
              <a:ahLst/>
              <a:cxnLst>
                <a:cxn ang="0">
                  <a:pos x="288" y="467"/>
                </a:cxn>
                <a:cxn ang="0">
                  <a:pos x="120" y="430"/>
                </a:cxn>
                <a:cxn ang="0">
                  <a:pos x="18" y="335"/>
                </a:cxn>
                <a:cxn ang="0">
                  <a:pos x="14" y="178"/>
                </a:cxn>
                <a:cxn ang="0">
                  <a:pos x="84" y="70"/>
                </a:cxn>
                <a:cxn ang="0">
                  <a:pos x="216" y="10"/>
                </a:cxn>
                <a:cxn ang="0">
                  <a:pos x="288" y="10"/>
                </a:cxn>
                <a:cxn ang="0">
                  <a:pos x="386" y="42"/>
                </a:cxn>
                <a:cxn ang="0">
                  <a:pos x="436" y="127"/>
                </a:cxn>
              </a:cxnLst>
              <a:rect l="txL" t="txT" r="txR" b="txB"/>
              <a:pathLst>
                <a:path w="436" h="467">
                  <a:moveTo>
                    <a:pt x="288" y="467"/>
                  </a:moveTo>
                  <a:cubicBezTo>
                    <a:pt x="260" y="461"/>
                    <a:pt x="165" y="452"/>
                    <a:pt x="120" y="430"/>
                  </a:cubicBezTo>
                  <a:cubicBezTo>
                    <a:pt x="75" y="408"/>
                    <a:pt x="36" y="377"/>
                    <a:pt x="18" y="335"/>
                  </a:cubicBezTo>
                  <a:cubicBezTo>
                    <a:pt x="0" y="293"/>
                    <a:pt x="3" y="222"/>
                    <a:pt x="14" y="178"/>
                  </a:cubicBezTo>
                  <a:cubicBezTo>
                    <a:pt x="25" y="134"/>
                    <a:pt x="50" y="98"/>
                    <a:pt x="84" y="70"/>
                  </a:cubicBezTo>
                  <a:cubicBezTo>
                    <a:pt x="118" y="42"/>
                    <a:pt x="182" y="20"/>
                    <a:pt x="216" y="10"/>
                  </a:cubicBezTo>
                  <a:cubicBezTo>
                    <a:pt x="250" y="0"/>
                    <a:pt x="260" y="5"/>
                    <a:pt x="288" y="10"/>
                  </a:cubicBezTo>
                  <a:cubicBezTo>
                    <a:pt x="316" y="15"/>
                    <a:pt x="361" y="23"/>
                    <a:pt x="386" y="42"/>
                  </a:cubicBezTo>
                  <a:cubicBezTo>
                    <a:pt x="411" y="61"/>
                    <a:pt x="425" y="111"/>
                    <a:pt x="436" y="127"/>
                  </a:cubicBezTo>
                </a:path>
              </a:pathLst>
            </a:custGeom>
            <a:noFill/>
            <a:ln w="38100" cap="flat" cmpd="sng">
              <a:solidFill>
                <a:srgbClr val="3333FF">
                  <a:alpha val="100000"/>
                </a:srgbClr>
              </a:solidFill>
              <a:prstDash val="solid"/>
              <a:round/>
              <a:headEnd type="triangle" w="med" len="med"/>
              <a:tailEnd type="none" w="sm" len="lg"/>
            </a:ln>
          </p:spPr>
          <p:txBody>
            <a:bodyPr/>
            <a:lstStyle/>
            <a:p>
              <a:endParaRPr lang="zh-CN" altLang="en-US" sz="2400"/>
            </a:p>
          </p:txBody>
        </p:sp>
      </p:grpSp>
      <p:grpSp>
        <p:nvGrpSpPr>
          <p:cNvPr id="8" name="Group 39"/>
          <p:cNvGrpSpPr/>
          <p:nvPr/>
        </p:nvGrpSpPr>
        <p:grpSpPr>
          <a:xfrm>
            <a:off x="1685925" y="3009900"/>
            <a:ext cx="1314450" cy="876300"/>
            <a:chOff x="2376" y="1788"/>
            <a:chExt cx="828" cy="552"/>
          </a:xfrm>
        </p:grpSpPr>
        <p:sp>
          <p:nvSpPr>
            <p:cNvPr id="21524" name="Line 40"/>
            <p:cNvSpPr/>
            <p:nvPr/>
          </p:nvSpPr>
          <p:spPr>
            <a:xfrm flipV="1">
              <a:off x="2376" y="1788"/>
              <a:ext cx="828" cy="552"/>
            </a:xfrm>
            <a:prstGeom prst="line">
              <a:avLst/>
            </a:prstGeom>
            <a:ln w="38100" cap="flat" cmpd="sng">
              <a:solidFill>
                <a:srgbClr val="3333FF"/>
              </a:solidFill>
              <a:prstDash val="solid"/>
              <a:headEnd type="none" w="med" len="med"/>
              <a:tailEnd type="triangle" w="sm" len="lg"/>
            </a:ln>
          </p:spPr>
        </p:sp>
        <p:sp>
          <p:nvSpPr>
            <p:cNvPr id="21525" name="Text Box 41"/>
            <p:cNvSpPr txBox="1"/>
            <p:nvPr/>
          </p:nvSpPr>
          <p:spPr>
            <a:xfrm>
              <a:off x="2970" y="1827"/>
              <a:ext cx="211" cy="290"/>
            </a:xfrm>
            <a:prstGeom prst="rect">
              <a:avLst/>
            </a:prstGeom>
            <a:noFill/>
            <a:ln w="38100">
              <a:noFill/>
            </a:ln>
          </p:spPr>
          <p:txBody>
            <a:bodyPr wrap="none">
              <a:spAutoFit/>
            </a:bodyPr>
            <a:lstStyle/>
            <a:p>
              <a:r>
                <a:rPr lang="en-US" altLang="zh-CN" sz="2400" dirty="0">
                  <a:latin typeface="Times New Roman" panose="02020603050405020304" pitchFamily="18" charset="0"/>
                </a:rPr>
                <a:t>1</a:t>
              </a:r>
            </a:p>
          </p:txBody>
        </p:sp>
      </p:grpSp>
      <p:grpSp>
        <p:nvGrpSpPr>
          <p:cNvPr id="9" name="Group 42"/>
          <p:cNvGrpSpPr/>
          <p:nvPr/>
        </p:nvGrpSpPr>
        <p:grpSpPr>
          <a:xfrm>
            <a:off x="1819275" y="2971800"/>
            <a:ext cx="1200150" cy="914400"/>
            <a:chOff x="2460" y="1764"/>
            <a:chExt cx="756" cy="576"/>
          </a:xfrm>
        </p:grpSpPr>
        <p:sp>
          <p:nvSpPr>
            <p:cNvPr id="21522" name="Line 43"/>
            <p:cNvSpPr/>
            <p:nvPr/>
          </p:nvSpPr>
          <p:spPr>
            <a:xfrm flipH="1" flipV="1">
              <a:off x="2460" y="1764"/>
              <a:ext cx="756" cy="576"/>
            </a:xfrm>
            <a:prstGeom prst="line">
              <a:avLst/>
            </a:prstGeom>
            <a:ln w="38100" cap="flat" cmpd="sng">
              <a:solidFill>
                <a:srgbClr val="3333FF"/>
              </a:solidFill>
              <a:prstDash val="solid"/>
              <a:headEnd type="none" w="med" len="med"/>
              <a:tailEnd type="triangle" w="sm" len="lg"/>
            </a:ln>
          </p:spPr>
        </p:sp>
        <p:sp>
          <p:nvSpPr>
            <p:cNvPr id="21523" name="Text Box 44"/>
            <p:cNvSpPr txBox="1"/>
            <p:nvPr/>
          </p:nvSpPr>
          <p:spPr>
            <a:xfrm>
              <a:off x="2490" y="1797"/>
              <a:ext cx="211" cy="290"/>
            </a:xfrm>
            <a:prstGeom prst="rect">
              <a:avLst/>
            </a:prstGeom>
            <a:noFill/>
            <a:ln w="38100">
              <a:noFill/>
            </a:ln>
          </p:spPr>
          <p:txBody>
            <a:bodyPr wrap="none">
              <a:spAutoFit/>
            </a:bodyPr>
            <a:lstStyle/>
            <a:p>
              <a:r>
                <a:rPr lang="en-US" altLang="zh-CN" sz="2400" dirty="0">
                  <a:latin typeface="Times New Roman" panose="02020603050405020304" pitchFamily="18" charset="0"/>
                </a:rPr>
                <a:t>0</a:t>
              </a:r>
            </a:p>
          </p:txBody>
        </p:sp>
      </p:grpSp>
      <p:grpSp>
        <p:nvGrpSpPr>
          <p:cNvPr id="10" name="Group 45"/>
          <p:cNvGrpSpPr/>
          <p:nvPr/>
        </p:nvGrpSpPr>
        <p:grpSpPr>
          <a:xfrm>
            <a:off x="1660525" y="1909763"/>
            <a:ext cx="1477963" cy="630237"/>
            <a:chOff x="2360" y="1095"/>
            <a:chExt cx="931" cy="397"/>
          </a:xfrm>
        </p:grpSpPr>
        <p:sp>
          <p:nvSpPr>
            <p:cNvPr id="21520" name="Freeform 46"/>
            <p:cNvSpPr/>
            <p:nvPr/>
          </p:nvSpPr>
          <p:spPr>
            <a:xfrm>
              <a:off x="2360" y="1368"/>
              <a:ext cx="931" cy="124"/>
            </a:xfrm>
            <a:custGeom>
              <a:avLst/>
              <a:gdLst>
                <a:gd name="txL" fmla="*/ 0 w 931"/>
                <a:gd name="txT" fmla="*/ 0 h 124"/>
                <a:gd name="txR" fmla="*/ 931 w 931"/>
                <a:gd name="txB" fmla="*/ 124 h 124"/>
              </a:gdLst>
              <a:ahLst/>
              <a:cxnLst>
                <a:cxn ang="0">
                  <a:pos x="0" y="124"/>
                </a:cxn>
                <a:cxn ang="0">
                  <a:pos x="487" y="0"/>
                </a:cxn>
                <a:cxn ang="0">
                  <a:pos x="931" y="124"/>
                </a:cxn>
              </a:cxnLst>
              <a:rect l="txL" t="txT" r="txR" b="txB"/>
              <a:pathLst>
                <a:path w="931" h="124">
                  <a:moveTo>
                    <a:pt x="0" y="124"/>
                  </a:moveTo>
                  <a:cubicBezTo>
                    <a:pt x="81" y="103"/>
                    <a:pt x="332" y="0"/>
                    <a:pt x="487" y="0"/>
                  </a:cubicBezTo>
                  <a:cubicBezTo>
                    <a:pt x="642" y="0"/>
                    <a:pt x="838" y="98"/>
                    <a:pt x="931" y="124"/>
                  </a:cubicBezTo>
                </a:path>
              </a:pathLst>
            </a:custGeom>
            <a:noFill/>
            <a:ln w="38100" cap="flat" cmpd="sng">
              <a:solidFill>
                <a:srgbClr val="3333FF">
                  <a:alpha val="100000"/>
                </a:srgbClr>
              </a:solidFill>
              <a:prstDash val="solid"/>
              <a:round/>
              <a:headEnd type="none" w="med" len="med"/>
              <a:tailEnd type="triangle" w="sm" len="lg"/>
            </a:ln>
          </p:spPr>
          <p:txBody>
            <a:bodyPr/>
            <a:lstStyle/>
            <a:p>
              <a:endParaRPr lang="zh-CN" altLang="en-US" sz="2400"/>
            </a:p>
          </p:txBody>
        </p:sp>
        <p:sp>
          <p:nvSpPr>
            <p:cNvPr id="21521" name="Text Box 47"/>
            <p:cNvSpPr txBox="1"/>
            <p:nvPr/>
          </p:nvSpPr>
          <p:spPr>
            <a:xfrm>
              <a:off x="2718" y="1095"/>
              <a:ext cx="211" cy="290"/>
            </a:xfrm>
            <a:prstGeom prst="rect">
              <a:avLst/>
            </a:prstGeom>
            <a:noFill/>
            <a:ln w="38100">
              <a:noFill/>
            </a:ln>
          </p:spPr>
          <p:txBody>
            <a:bodyPr wrap="none">
              <a:spAutoFit/>
            </a:bodyPr>
            <a:lstStyle/>
            <a:p>
              <a:r>
                <a:rPr lang="en-US" altLang="zh-CN" sz="2400" dirty="0">
                  <a:latin typeface="Times New Roman" panose="02020603050405020304" pitchFamily="18" charset="0"/>
                </a:rPr>
                <a:t>1</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5668"/>
                                        </p:tgtEl>
                                        <p:attrNameLst>
                                          <p:attrName>style.visibility</p:attrName>
                                        </p:attrNameLst>
                                      </p:cBhvr>
                                      <p:to>
                                        <p:strVal val="visible"/>
                                      </p:to>
                                    </p:set>
                                    <p:animEffect transition="in" filter="wipe(left)">
                                      <p:cBhvr>
                                        <p:cTn id="7" dur="500"/>
                                        <p:tgtEl>
                                          <p:spTgt spid="15566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5669"/>
                                        </p:tgtEl>
                                        <p:attrNameLst>
                                          <p:attrName>style.visibility</p:attrName>
                                        </p:attrNameLst>
                                      </p:cBhvr>
                                      <p:to>
                                        <p:strVal val="visible"/>
                                      </p:to>
                                    </p:set>
                                    <p:animEffect transition="in" filter="wipe(left)">
                                      <p:cBhvr>
                                        <p:cTn id="17" dur="500"/>
                                        <p:tgtEl>
                                          <p:spTgt spid="15566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5670"/>
                                        </p:tgtEl>
                                        <p:attrNameLst>
                                          <p:attrName>style.visibility</p:attrName>
                                        </p:attrNameLst>
                                      </p:cBhvr>
                                      <p:to>
                                        <p:strVal val="visible"/>
                                      </p:to>
                                    </p:set>
                                    <p:animEffect transition="in" filter="wipe(left)">
                                      <p:cBhvr>
                                        <p:cTn id="27" dur="500"/>
                                        <p:tgtEl>
                                          <p:spTgt spid="15567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right)">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5671"/>
                                        </p:tgtEl>
                                        <p:attrNameLst>
                                          <p:attrName>style.visibility</p:attrName>
                                        </p:attrNameLst>
                                      </p:cBhvr>
                                      <p:to>
                                        <p:strVal val="visible"/>
                                      </p:to>
                                    </p:set>
                                    <p:animEffect transition="in" filter="wipe(left)">
                                      <p:cBhvr>
                                        <p:cTn id="37" dur="500"/>
                                        <p:tgtEl>
                                          <p:spTgt spid="15567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up)">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up)">
                                      <p:cBhvr>
                                        <p:cTn id="47" dur="5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right)">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wipe(left)">
                                      <p:cBhvr>
                                        <p:cTn id="57" dur="500"/>
                                        <p:tgtEl>
                                          <p:spTgt spid="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wipe(left)">
                                      <p:cBhvr>
                                        <p:cTn id="62" dur="500"/>
                                        <p:tgtEl>
                                          <p:spTgt spid="8"/>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55650"/>
                                        </p:tgtEl>
                                        <p:attrNameLst>
                                          <p:attrName>style.visibility</p:attrName>
                                        </p:attrNameLst>
                                      </p:cBhvr>
                                      <p:to>
                                        <p:strVal val="visible"/>
                                      </p:to>
                                    </p:set>
                                    <p:animEffect transition="in" filter="dissolve">
                                      <p:cBhvr>
                                        <p:cTn id="67" dur="500"/>
                                        <p:tgtEl>
                                          <p:spTgt spid="155650"/>
                                        </p:tgtEl>
                                      </p:cBhvr>
                                    </p:animEffect>
                                  </p:childTnLst>
                                </p:cTn>
                              </p:par>
                            </p:childTnLst>
                          </p:cTn>
                        </p:par>
                      </p:childTnLst>
                    </p:cTn>
                  </p:par>
                  <p:par>
                    <p:cTn id="68" fill="hold">
                      <p:stCondLst>
                        <p:cond delay="indefinite"/>
                      </p:stCondLst>
                      <p:childTnLst>
                        <p:par>
                          <p:cTn id="69" fill="hold">
                            <p:stCondLst>
                              <p:cond delay="0"/>
                            </p:stCondLst>
                            <p:childTnLst>
                              <p:par>
                                <p:cTn id="70" presetID="8" presetClass="entr" presetSubtype="32" fill="hold" nodeType="clickEffect">
                                  <p:stCondLst>
                                    <p:cond delay="0"/>
                                  </p:stCondLst>
                                  <p:childTnLst>
                                    <p:set>
                                      <p:cBhvr>
                                        <p:cTn id="71" dur="1" fill="hold">
                                          <p:stCondLst>
                                            <p:cond delay="0"/>
                                          </p:stCondLst>
                                        </p:cTn>
                                        <p:tgtEl>
                                          <p:spTgt spid="2"/>
                                        </p:tgtEl>
                                        <p:attrNameLst>
                                          <p:attrName>style.visibility</p:attrName>
                                        </p:attrNameLst>
                                      </p:cBhvr>
                                      <p:to>
                                        <p:strVal val="visible"/>
                                      </p:to>
                                    </p:set>
                                    <p:animEffect transition="in" filter="diamond(out)">
                                      <p:cBhvr>
                                        <p:cTn id="7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0" grpId="0"/>
      <p:bldP spid="155668" grpId="0" bldLvl="0" animBg="1"/>
      <p:bldP spid="155669" grpId="0" bldLvl="0" animBg="1"/>
      <p:bldP spid="155670" grpId="0" bldLvl="0" animBg="1"/>
      <p:bldP spid="155671" grpId="0" bldLvl="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descr="羊皮纸"/>
          <p:cNvSpPr txBox="1"/>
          <p:nvPr/>
        </p:nvSpPr>
        <p:spPr>
          <a:xfrm>
            <a:off x="250825" y="695325"/>
            <a:ext cx="3919538" cy="3415030"/>
          </a:xfrm>
          <a:prstGeom prst="rect">
            <a:avLst/>
          </a:prstGeom>
          <a:blipFill rotWithShape="1">
            <a:blip r:embed="rId2"/>
          </a:blipFill>
          <a:ln w="19050">
            <a:noFill/>
          </a:ln>
        </p:spPr>
        <p:txBody>
          <a:bodyPr>
            <a:spAutoFit/>
          </a:bodyPr>
          <a:lstStyle/>
          <a:p>
            <a:pPr algn="just"/>
            <a:r>
              <a:rPr lang="zh-CN" altLang="zh-CN" sz="2400" b="1" dirty="0">
                <a:latin typeface="Times New Roman" panose="02020603050405020304" pitchFamily="18" charset="0"/>
              </a:rPr>
              <a:t>例: </a:t>
            </a:r>
            <a:r>
              <a:rPr lang="zh-CN" altLang="zh-CN" sz="2400" dirty="0">
                <a:latin typeface="Times New Roman" panose="02020603050405020304" pitchFamily="18" charset="0"/>
              </a:rPr>
              <a:t>   假设某同步时序电路，用于检测串行输入的84</a:t>
            </a:r>
            <a:r>
              <a:rPr lang="en-US" altLang="zh-CN" sz="2400" dirty="0">
                <a:latin typeface="Times New Roman" panose="02020603050405020304" pitchFamily="18" charset="0"/>
              </a:rPr>
              <a:t>2</a:t>
            </a:r>
            <a:r>
              <a:rPr lang="zh-CN" altLang="zh-CN" sz="2400" dirty="0">
                <a:latin typeface="Times New Roman" panose="02020603050405020304" pitchFamily="18" charset="0"/>
              </a:rPr>
              <a:t>1</a:t>
            </a:r>
            <a:r>
              <a:rPr lang="en-US" altLang="zh-CN" sz="2400" dirty="0">
                <a:latin typeface="Times New Roman" panose="02020603050405020304" pitchFamily="18" charset="0"/>
              </a:rPr>
              <a:t>BCD</a:t>
            </a:r>
            <a:r>
              <a:rPr lang="zh-CN" altLang="zh-CN" sz="2400" dirty="0">
                <a:latin typeface="Times New Roman" panose="02020603050405020304" pitchFamily="18" charset="0"/>
              </a:rPr>
              <a:t>码，其输入的顺序是先高位后低位，当出现非法数字(即输入1010，1011，1100，1101，1110，1111)时，电路的输出为1。试作出该时序电路的</a:t>
            </a:r>
            <a:r>
              <a:rPr lang="en-US" altLang="zh-CN" sz="2400" dirty="0">
                <a:latin typeface="Times New Roman" panose="02020603050405020304" pitchFamily="18" charset="0"/>
              </a:rPr>
              <a:t>Mealy</a:t>
            </a:r>
            <a:r>
              <a:rPr lang="zh-CN" altLang="zh-CN" sz="2400" dirty="0">
                <a:latin typeface="Times New Roman" panose="02020603050405020304" pitchFamily="18" charset="0"/>
              </a:rPr>
              <a:t>型原始状态图和状态表。</a:t>
            </a:r>
            <a:endParaRPr lang="zh-CN" altLang="en-US" sz="2400" dirty="0">
              <a:latin typeface="Times New Roman" panose="02020603050405020304" pitchFamily="18" charset="0"/>
            </a:endParaRPr>
          </a:p>
        </p:txBody>
      </p:sp>
      <p:sp>
        <p:nvSpPr>
          <p:cNvPr id="156675" name="Oval 3"/>
          <p:cNvSpPr/>
          <p:nvPr/>
        </p:nvSpPr>
        <p:spPr>
          <a:xfrm>
            <a:off x="4686300" y="542925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F</a:t>
            </a:r>
          </a:p>
        </p:txBody>
      </p:sp>
      <p:sp>
        <p:nvSpPr>
          <p:cNvPr id="156676" name="Oval 4"/>
          <p:cNvSpPr/>
          <p:nvPr/>
        </p:nvSpPr>
        <p:spPr>
          <a:xfrm>
            <a:off x="5514975" y="409575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D</a:t>
            </a:r>
          </a:p>
        </p:txBody>
      </p:sp>
      <p:sp>
        <p:nvSpPr>
          <p:cNvPr id="156677" name="Oval 5"/>
          <p:cNvSpPr/>
          <p:nvPr/>
        </p:nvSpPr>
        <p:spPr>
          <a:xfrm>
            <a:off x="7150100" y="1374775"/>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A</a:t>
            </a:r>
            <a:endParaRPr lang="en-US" altLang="zh-CN" sz="2400" b="1" dirty="0">
              <a:latin typeface="Times New Roman" panose="02020603050405020304" pitchFamily="18" charset="0"/>
            </a:endParaRPr>
          </a:p>
        </p:txBody>
      </p:sp>
      <p:sp>
        <p:nvSpPr>
          <p:cNvPr id="156678" name="Oval 6"/>
          <p:cNvSpPr/>
          <p:nvPr/>
        </p:nvSpPr>
        <p:spPr>
          <a:xfrm>
            <a:off x="6351588" y="276225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B</a:t>
            </a:r>
          </a:p>
        </p:txBody>
      </p:sp>
      <p:sp>
        <p:nvSpPr>
          <p:cNvPr id="156679" name="Oval 7"/>
          <p:cNvSpPr/>
          <p:nvPr/>
        </p:nvSpPr>
        <p:spPr>
          <a:xfrm>
            <a:off x="8064500" y="276225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C</a:t>
            </a:r>
          </a:p>
        </p:txBody>
      </p:sp>
      <p:sp>
        <p:nvSpPr>
          <p:cNvPr id="156680" name="Oval 8"/>
          <p:cNvSpPr/>
          <p:nvPr/>
        </p:nvSpPr>
        <p:spPr>
          <a:xfrm>
            <a:off x="7321550" y="409575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E</a:t>
            </a:r>
          </a:p>
        </p:txBody>
      </p:sp>
      <p:sp>
        <p:nvSpPr>
          <p:cNvPr id="156681" name="Oval 9"/>
          <p:cNvSpPr/>
          <p:nvPr/>
        </p:nvSpPr>
        <p:spPr>
          <a:xfrm>
            <a:off x="6597650" y="5429250"/>
            <a:ext cx="625475" cy="6254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G</a:t>
            </a:r>
          </a:p>
        </p:txBody>
      </p:sp>
      <p:grpSp>
        <p:nvGrpSpPr>
          <p:cNvPr id="2" name="Group 10"/>
          <p:cNvGrpSpPr/>
          <p:nvPr/>
        </p:nvGrpSpPr>
        <p:grpSpPr>
          <a:xfrm>
            <a:off x="6553200" y="1941513"/>
            <a:ext cx="714375" cy="820737"/>
            <a:chOff x="2808" y="1103"/>
            <a:chExt cx="450" cy="517"/>
          </a:xfrm>
        </p:grpSpPr>
        <p:sp>
          <p:nvSpPr>
            <p:cNvPr id="22559" name="Text Box 11"/>
            <p:cNvSpPr txBox="1"/>
            <p:nvPr/>
          </p:nvSpPr>
          <p:spPr>
            <a:xfrm>
              <a:off x="2808" y="1103"/>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0/0</a:t>
              </a:r>
            </a:p>
          </p:txBody>
        </p:sp>
        <p:sp>
          <p:nvSpPr>
            <p:cNvPr id="22560" name="Line 12"/>
            <p:cNvSpPr/>
            <p:nvPr/>
          </p:nvSpPr>
          <p:spPr>
            <a:xfrm flipH="1">
              <a:off x="2958" y="1128"/>
              <a:ext cx="300" cy="492"/>
            </a:xfrm>
            <a:prstGeom prst="line">
              <a:avLst/>
            </a:prstGeom>
            <a:ln w="38100" cap="flat" cmpd="sng">
              <a:solidFill>
                <a:srgbClr val="3333FF"/>
              </a:solidFill>
              <a:prstDash val="solid"/>
              <a:headEnd type="none" w="med" len="med"/>
              <a:tailEnd type="triangle" w="sm" len="lg"/>
            </a:ln>
          </p:spPr>
        </p:sp>
      </p:grpSp>
      <p:grpSp>
        <p:nvGrpSpPr>
          <p:cNvPr id="3" name="Group 13"/>
          <p:cNvGrpSpPr/>
          <p:nvPr/>
        </p:nvGrpSpPr>
        <p:grpSpPr>
          <a:xfrm>
            <a:off x="6924675" y="3224213"/>
            <a:ext cx="736600" cy="928687"/>
            <a:chOff x="3042" y="1911"/>
            <a:chExt cx="464" cy="585"/>
          </a:xfrm>
        </p:grpSpPr>
        <p:sp>
          <p:nvSpPr>
            <p:cNvPr id="22557" name="Text Box 14"/>
            <p:cNvSpPr txBox="1"/>
            <p:nvPr/>
          </p:nvSpPr>
          <p:spPr>
            <a:xfrm>
              <a:off x="3146" y="1911"/>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1/0</a:t>
              </a:r>
            </a:p>
          </p:txBody>
        </p:sp>
        <p:sp>
          <p:nvSpPr>
            <p:cNvPr id="22558" name="Line 15"/>
            <p:cNvSpPr/>
            <p:nvPr/>
          </p:nvSpPr>
          <p:spPr>
            <a:xfrm>
              <a:off x="3042" y="1956"/>
              <a:ext cx="408" cy="540"/>
            </a:xfrm>
            <a:prstGeom prst="line">
              <a:avLst/>
            </a:prstGeom>
            <a:ln w="38100" cap="flat" cmpd="sng">
              <a:solidFill>
                <a:srgbClr val="3333FF"/>
              </a:solidFill>
              <a:prstDash val="solid"/>
              <a:headEnd type="none" w="med" len="med"/>
              <a:tailEnd type="triangle" w="sm" len="lg"/>
            </a:ln>
          </p:spPr>
        </p:sp>
      </p:grpSp>
      <p:grpSp>
        <p:nvGrpSpPr>
          <p:cNvPr id="4" name="Group 16"/>
          <p:cNvGrpSpPr/>
          <p:nvPr/>
        </p:nvGrpSpPr>
        <p:grpSpPr>
          <a:xfrm>
            <a:off x="5676900" y="3314700"/>
            <a:ext cx="771525" cy="781050"/>
            <a:chOff x="2256" y="1968"/>
            <a:chExt cx="486" cy="492"/>
          </a:xfrm>
        </p:grpSpPr>
        <p:sp>
          <p:nvSpPr>
            <p:cNvPr id="22555" name="Text Box 17"/>
            <p:cNvSpPr txBox="1"/>
            <p:nvPr/>
          </p:nvSpPr>
          <p:spPr>
            <a:xfrm>
              <a:off x="2256" y="1979"/>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0/0</a:t>
              </a:r>
            </a:p>
          </p:txBody>
        </p:sp>
        <p:sp>
          <p:nvSpPr>
            <p:cNvPr id="22556" name="Line 18"/>
            <p:cNvSpPr/>
            <p:nvPr/>
          </p:nvSpPr>
          <p:spPr>
            <a:xfrm flipH="1">
              <a:off x="2442" y="1968"/>
              <a:ext cx="300" cy="492"/>
            </a:xfrm>
            <a:prstGeom prst="line">
              <a:avLst/>
            </a:prstGeom>
            <a:ln w="38100" cap="flat" cmpd="sng">
              <a:solidFill>
                <a:srgbClr val="3333FF"/>
              </a:solidFill>
              <a:prstDash val="solid"/>
              <a:headEnd type="none" w="med" len="med"/>
              <a:tailEnd type="triangle" w="sm" len="lg"/>
            </a:ln>
          </p:spPr>
        </p:sp>
      </p:grpSp>
      <p:grpSp>
        <p:nvGrpSpPr>
          <p:cNvPr id="5" name="Group 19"/>
          <p:cNvGrpSpPr/>
          <p:nvPr/>
        </p:nvGrpSpPr>
        <p:grpSpPr>
          <a:xfrm>
            <a:off x="7686675" y="1890713"/>
            <a:ext cx="717550" cy="928687"/>
            <a:chOff x="3522" y="1071"/>
            <a:chExt cx="452" cy="585"/>
          </a:xfrm>
        </p:grpSpPr>
        <p:sp>
          <p:nvSpPr>
            <p:cNvPr id="22553" name="Text Box 20"/>
            <p:cNvSpPr txBox="1"/>
            <p:nvPr/>
          </p:nvSpPr>
          <p:spPr>
            <a:xfrm>
              <a:off x="3614" y="1071"/>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1/0</a:t>
              </a:r>
            </a:p>
          </p:txBody>
        </p:sp>
        <p:sp>
          <p:nvSpPr>
            <p:cNvPr id="22554" name="Line 21"/>
            <p:cNvSpPr/>
            <p:nvPr/>
          </p:nvSpPr>
          <p:spPr>
            <a:xfrm>
              <a:off x="3522" y="1116"/>
              <a:ext cx="408" cy="540"/>
            </a:xfrm>
            <a:prstGeom prst="line">
              <a:avLst/>
            </a:prstGeom>
            <a:ln w="38100" cap="flat" cmpd="sng">
              <a:solidFill>
                <a:srgbClr val="3333FF"/>
              </a:solidFill>
              <a:prstDash val="solid"/>
              <a:headEnd type="none" w="med" len="med"/>
              <a:tailEnd type="triangle" w="sm" len="lg"/>
            </a:ln>
          </p:spPr>
        </p:sp>
      </p:grpSp>
      <p:grpSp>
        <p:nvGrpSpPr>
          <p:cNvPr id="6" name="Group 22"/>
          <p:cNvGrpSpPr/>
          <p:nvPr/>
        </p:nvGrpSpPr>
        <p:grpSpPr>
          <a:xfrm>
            <a:off x="4819650" y="4705350"/>
            <a:ext cx="790575" cy="781050"/>
            <a:chOff x="1716" y="2844"/>
            <a:chExt cx="498" cy="492"/>
          </a:xfrm>
        </p:grpSpPr>
        <p:sp>
          <p:nvSpPr>
            <p:cNvPr id="22551" name="Text Box 23"/>
            <p:cNvSpPr txBox="1"/>
            <p:nvPr/>
          </p:nvSpPr>
          <p:spPr>
            <a:xfrm>
              <a:off x="1716" y="2855"/>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0/0</a:t>
              </a:r>
            </a:p>
          </p:txBody>
        </p:sp>
        <p:sp>
          <p:nvSpPr>
            <p:cNvPr id="22552" name="Line 24"/>
            <p:cNvSpPr/>
            <p:nvPr/>
          </p:nvSpPr>
          <p:spPr>
            <a:xfrm flipH="1">
              <a:off x="1914" y="2844"/>
              <a:ext cx="300" cy="492"/>
            </a:xfrm>
            <a:prstGeom prst="line">
              <a:avLst/>
            </a:prstGeom>
            <a:ln w="38100" cap="flat" cmpd="sng">
              <a:solidFill>
                <a:srgbClr val="3333FF"/>
              </a:solidFill>
              <a:prstDash val="solid"/>
              <a:headEnd type="none" w="med" len="med"/>
              <a:tailEnd type="triangle" w="sm" len="lg"/>
            </a:ln>
          </p:spPr>
        </p:sp>
      </p:grpSp>
      <p:grpSp>
        <p:nvGrpSpPr>
          <p:cNvPr id="7" name="Group 25"/>
          <p:cNvGrpSpPr/>
          <p:nvPr/>
        </p:nvGrpSpPr>
        <p:grpSpPr>
          <a:xfrm>
            <a:off x="6067425" y="4610100"/>
            <a:ext cx="755650" cy="914400"/>
            <a:chOff x="2502" y="2784"/>
            <a:chExt cx="476" cy="576"/>
          </a:xfrm>
        </p:grpSpPr>
        <p:sp>
          <p:nvSpPr>
            <p:cNvPr id="22549" name="Text Box 26"/>
            <p:cNvSpPr txBox="1"/>
            <p:nvPr/>
          </p:nvSpPr>
          <p:spPr>
            <a:xfrm>
              <a:off x="2618" y="2784"/>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1/0</a:t>
              </a:r>
            </a:p>
          </p:txBody>
        </p:sp>
        <p:sp>
          <p:nvSpPr>
            <p:cNvPr id="22550" name="Line 27"/>
            <p:cNvSpPr/>
            <p:nvPr/>
          </p:nvSpPr>
          <p:spPr>
            <a:xfrm>
              <a:off x="2502" y="2820"/>
              <a:ext cx="408" cy="540"/>
            </a:xfrm>
            <a:prstGeom prst="line">
              <a:avLst/>
            </a:prstGeom>
            <a:ln w="38100" cap="flat" cmpd="sng">
              <a:solidFill>
                <a:srgbClr val="3333FF"/>
              </a:solidFill>
              <a:prstDash val="solid"/>
              <a:headEnd type="none" w="med" len="med"/>
              <a:tailEnd type="triangle" w="sm" len="lg"/>
            </a:ln>
          </p:spPr>
        </p:sp>
      </p:grpSp>
      <p:grpSp>
        <p:nvGrpSpPr>
          <p:cNvPr id="8" name="Group 28"/>
          <p:cNvGrpSpPr/>
          <p:nvPr/>
        </p:nvGrpSpPr>
        <p:grpSpPr>
          <a:xfrm>
            <a:off x="4762500" y="1619250"/>
            <a:ext cx="2362200" cy="3810000"/>
            <a:chOff x="1680" y="900"/>
            <a:chExt cx="1488" cy="2400"/>
          </a:xfrm>
        </p:grpSpPr>
        <p:sp>
          <p:nvSpPr>
            <p:cNvPr id="22546" name="Freeform 29"/>
            <p:cNvSpPr/>
            <p:nvPr/>
          </p:nvSpPr>
          <p:spPr>
            <a:xfrm>
              <a:off x="1680" y="900"/>
              <a:ext cx="1488" cy="2400"/>
            </a:xfrm>
            <a:custGeom>
              <a:avLst/>
              <a:gdLst>
                <a:gd name="txL" fmla="*/ 0 w 1464"/>
                <a:gd name="txT" fmla="*/ 0 h 2436"/>
                <a:gd name="txR" fmla="*/ 1464 w 1464"/>
                <a:gd name="txB" fmla="*/ 2436 h 2436"/>
              </a:gdLst>
              <a:ahLst/>
              <a:cxnLst>
                <a:cxn ang="0">
                  <a:pos x="0" y="2365"/>
                </a:cxn>
                <a:cxn ang="0">
                  <a:pos x="198" y="1304"/>
                </a:cxn>
                <a:cxn ang="0">
                  <a:pos x="794" y="466"/>
                </a:cxn>
                <a:cxn ang="0">
                  <a:pos x="1512" y="0"/>
                </a:cxn>
              </a:cxnLst>
              <a:rect l="txL" t="txT" r="txR" b="txB"/>
              <a:pathLst>
                <a:path w="1464" h="2436">
                  <a:moveTo>
                    <a:pt x="0" y="2436"/>
                  </a:moveTo>
                  <a:cubicBezTo>
                    <a:pt x="32" y="2254"/>
                    <a:pt x="64" y="1670"/>
                    <a:pt x="192" y="1344"/>
                  </a:cubicBezTo>
                  <a:cubicBezTo>
                    <a:pt x="320" y="1018"/>
                    <a:pt x="556" y="704"/>
                    <a:pt x="768" y="480"/>
                  </a:cubicBezTo>
                  <a:cubicBezTo>
                    <a:pt x="980" y="256"/>
                    <a:pt x="1319" y="100"/>
                    <a:pt x="1464" y="0"/>
                  </a:cubicBezTo>
                </a:path>
              </a:pathLst>
            </a:custGeom>
            <a:noFill/>
            <a:ln w="38100" cap="flat" cmpd="sng">
              <a:solidFill>
                <a:srgbClr val="3333FF">
                  <a:alpha val="100000"/>
                </a:srgbClr>
              </a:solidFill>
              <a:prstDash val="solid"/>
              <a:round/>
              <a:headEnd type="none" w="med" len="med"/>
              <a:tailEnd type="triangle" w="med" len="med"/>
            </a:ln>
          </p:spPr>
          <p:txBody>
            <a:bodyPr/>
            <a:lstStyle/>
            <a:p>
              <a:endParaRPr lang="zh-CN" altLang="en-US" sz="2400"/>
            </a:p>
          </p:txBody>
        </p:sp>
        <p:sp>
          <p:nvSpPr>
            <p:cNvPr id="22547" name="Text Box 30"/>
            <p:cNvSpPr txBox="1"/>
            <p:nvPr/>
          </p:nvSpPr>
          <p:spPr>
            <a:xfrm>
              <a:off x="2244" y="1043"/>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0/0</a:t>
              </a:r>
            </a:p>
          </p:txBody>
        </p:sp>
        <p:sp>
          <p:nvSpPr>
            <p:cNvPr id="22548" name="Text Box 31"/>
            <p:cNvSpPr txBox="1"/>
            <p:nvPr/>
          </p:nvSpPr>
          <p:spPr>
            <a:xfrm>
              <a:off x="2006" y="1251"/>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1/0</a:t>
              </a:r>
            </a:p>
          </p:txBody>
        </p:sp>
      </p:grpSp>
      <p:sp>
        <p:nvSpPr>
          <p:cNvPr id="22545" name="Text Box 32"/>
          <p:cNvSpPr txBox="1"/>
          <p:nvPr/>
        </p:nvSpPr>
        <p:spPr>
          <a:xfrm>
            <a:off x="4441825" y="711200"/>
            <a:ext cx="795020" cy="460375"/>
          </a:xfrm>
          <a:prstGeom prst="rect">
            <a:avLst/>
          </a:prstGeom>
          <a:noFill/>
          <a:ln w="19050">
            <a:noFill/>
          </a:ln>
        </p:spPr>
        <p:txBody>
          <a:bodyPr wrap="none">
            <a:spAutoFit/>
          </a:bodyPr>
          <a:lstStyle/>
          <a:p>
            <a:r>
              <a:rPr lang="zh-CN" altLang="en-US" sz="2400" b="1" dirty="0">
                <a:latin typeface="Times New Roman" panose="02020603050405020304" pitchFamily="18" charset="0"/>
              </a:rPr>
              <a:t>解：</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6677"/>
                                        </p:tgtEl>
                                        <p:attrNameLst>
                                          <p:attrName>style.visibility</p:attrName>
                                        </p:attrNameLst>
                                      </p:cBhvr>
                                      <p:to>
                                        <p:strVal val="visible"/>
                                      </p:to>
                                    </p:set>
                                    <p:animEffect transition="in" filter="wipe(left)">
                                      <p:cBhvr>
                                        <p:cTn id="7" dur="500"/>
                                        <p:tgtEl>
                                          <p:spTgt spid="1566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righ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6678"/>
                                        </p:tgtEl>
                                        <p:attrNameLst>
                                          <p:attrName>style.visibility</p:attrName>
                                        </p:attrNameLst>
                                      </p:cBhvr>
                                      <p:to>
                                        <p:strVal val="visible"/>
                                      </p:to>
                                    </p:set>
                                    <p:animEffect transition="in" filter="wipe(left)">
                                      <p:cBhvr>
                                        <p:cTn id="17" dur="500"/>
                                        <p:tgtEl>
                                          <p:spTgt spid="15667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6679"/>
                                        </p:tgtEl>
                                        <p:attrNameLst>
                                          <p:attrName>style.visibility</p:attrName>
                                        </p:attrNameLst>
                                      </p:cBhvr>
                                      <p:to>
                                        <p:strVal val="visible"/>
                                      </p:to>
                                    </p:set>
                                    <p:animEffect transition="in" filter="wipe(left)">
                                      <p:cBhvr>
                                        <p:cTn id="27" dur="500"/>
                                        <p:tgtEl>
                                          <p:spTgt spid="15667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righ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6676"/>
                                        </p:tgtEl>
                                        <p:attrNameLst>
                                          <p:attrName>style.visibility</p:attrName>
                                        </p:attrNameLst>
                                      </p:cBhvr>
                                      <p:to>
                                        <p:strVal val="visible"/>
                                      </p:to>
                                    </p:set>
                                    <p:animEffect transition="in" filter="wipe(left)">
                                      <p:cBhvr>
                                        <p:cTn id="37" dur="500"/>
                                        <p:tgtEl>
                                          <p:spTgt spid="15667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56680"/>
                                        </p:tgtEl>
                                        <p:attrNameLst>
                                          <p:attrName>style.visibility</p:attrName>
                                        </p:attrNameLst>
                                      </p:cBhvr>
                                      <p:to>
                                        <p:strVal val="visible"/>
                                      </p:to>
                                    </p:set>
                                    <p:animEffect transition="in" filter="wipe(left)">
                                      <p:cBhvr>
                                        <p:cTn id="47" dur="500"/>
                                        <p:tgtEl>
                                          <p:spTgt spid="15668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right)">
                                      <p:cBhvr>
                                        <p:cTn id="52" dur="500"/>
                                        <p:tgtEl>
                                          <p:spTgt spid="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56675"/>
                                        </p:tgtEl>
                                        <p:attrNameLst>
                                          <p:attrName>style.visibility</p:attrName>
                                        </p:attrNameLst>
                                      </p:cBhvr>
                                      <p:to>
                                        <p:strVal val="visible"/>
                                      </p:to>
                                    </p:set>
                                    <p:animEffect transition="in" filter="wipe(left)">
                                      <p:cBhvr>
                                        <p:cTn id="57" dur="500"/>
                                        <p:tgtEl>
                                          <p:spTgt spid="15667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wipe(left)">
                                      <p:cBhvr>
                                        <p:cTn id="62" dur="500"/>
                                        <p:tgtEl>
                                          <p:spTgt spid="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56681"/>
                                        </p:tgtEl>
                                        <p:attrNameLst>
                                          <p:attrName>style.visibility</p:attrName>
                                        </p:attrNameLst>
                                      </p:cBhvr>
                                      <p:to>
                                        <p:strVal val="visible"/>
                                      </p:to>
                                    </p:set>
                                    <p:animEffect transition="in" filter="wipe(left)">
                                      <p:cBhvr>
                                        <p:cTn id="67" dur="500"/>
                                        <p:tgtEl>
                                          <p:spTgt spid="15668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wipe(down)">
                                      <p:cBhvr>
                                        <p:cTn id="7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ldLvl="0" animBg="1"/>
      <p:bldP spid="156676" grpId="0" bldLvl="0" animBg="1"/>
      <p:bldP spid="156677" grpId="0" bldLvl="0" animBg="1"/>
      <p:bldP spid="156678" grpId="0" bldLvl="0" animBg="1"/>
      <p:bldP spid="156679" grpId="0" bldLvl="0" animBg="1"/>
      <p:bldP spid="156680" grpId="0" bldLvl="0" animBg="1"/>
      <p:bldP spid="156681" grpId="0" bldLvl="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554" name="Group 2"/>
          <p:cNvGrpSpPr/>
          <p:nvPr/>
        </p:nvGrpSpPr>
        <p:grpSpPr>
          <a:xfrm>
            <a:off x="530225" y="688975"/>
            <a:ext cx="8251825" cy="4837113"/>
            <a:chOff x="406" y="458"/>
            <a:chExt cx="5198" cy="3047"/>
          </a:xfrm>
        </p:grpSpPr>
        <p:sp>
          <p:nvSpPr>
            <p:cNvPr id="23556" name="Oval 3"/>
            <p:cNvSpPr/>
            <p:nvPr/>
          </p:nvSpPr>
          <p:spPr>
            <a:xfrm>
              <a:off x="1678"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H</a:t>
              </a:r>
            </a:p>
          </p:txBody>
        </p:sp>
        <p:sp>
          <p:nvSpPr>
            <p:cNvPr id="23557" name="Oval 4"/>
            <p:cNvSpPr/>
            <p:nvPr/>
          </p:nvSpPr>
          <p:spPr>
            <a:xfrm>
              <a:off x="760" y="162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D</a:t>
              </a:r>
            </a:p>
          </p:txBody>
        </p:sp>
        <p:sp>
          <p:nvSpPr>
            <p:cNvPr id="23558" name="Oval 5"/>
            <p:cNvSpPr/>
            <p:nvPr/>
          </p:nvSpPr>
          <p:spPr>
            <a:xfrm>
              <a:off x="2690" y="458"/>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A</a:t>
              </a:r>
              <a:endParaRPr lang="en-US" altLang="zh-CN" sz="2400" b="1" dirty="0">
                <a:latin typeface="Times New Roman" panose="02020603050405020304" pitchFamily="18" charset="0"/>
              </a:endParaRPr>
            </a:p>
          </p:txBody>
        </p:sp>
        <p:sp>
          <p:nvSpPr>
            <p:cNvPr id="23559" name="Oval 6"/>
            <p:cNvSpPr/>
            <p:nvPr/>
          </p:nvSpPr>
          <p:spPr>
            <a:xfrm>
              <a:off x="1407" y="804"/>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B</a:t>
              </a:r>
            </a:p>
          </p:txBody>
        </p:sp>
        <p:sp>
          <p:nvSpPr>
            <p:cNvPr id="23560" name="Text Box 7"/>
            <p:cNvSpPr txBox="1"/>
            <p:nvPr/>
          </p:nvSpPr>
          <p:spPr>
            <a:xfrm>
              <a:off x="3324" y="531"/>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1/0</a:t>
              </a:r>
            </a:p>
          </p:txBody>
        </p:sp>
        <p:sp>
          <p:nvSpPr>
            <p:cNvPr id="23561" name="Text Box 8"/>
            <p:cNvSpPr txBox="1"/>
            <p:nvPr/>
          </p:nvSpPr>
          <p:spPr>
            <a:xfrm>
              <a:off x="2086" y="531"/>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0/0</a:t>
              </a:r>
            </a:p>
          </p:txBody>
        </p:sp>
        <p:sp>
          <p:nvSpPr>
            <p:cNvPr id="23562" name="Oval 9"/>
            <p:cNvSpPr/>
            <p:nvPr/>
          </p:nvSpPr>
          <p:spPr>
            <a:xfrm>
              <a:off x="3998" y="804"/>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C</a:t>
              </a:r>
            </a:p>
          </p:txBody>
        </p:sp>
        <p:sp>
          <p:nvSpPr>
            <p:cNvPr id="23563" name="Line 10"/>
            <p:cNvSpPr/>
            <p:nvPr/>
          </p:nvSpPr>
          <p:spPr>
            <a:xfrm flipH="1">
              <a:off x="1768" y="696"/>
              <a:ext cx="888" cy="228"/>
            </a:xfrm>
            <a:prstGeom prst="line">
              <a:avLst/>
            </a:prstGeom>
            <a:ln w="19050" cap="flat" cmpd="sng">
              <a:solidFill>
                <a:srgbClr val="3333FF"/>
              </a:solidFill>
              <a:prstDash val="solid"/>
              <a:headEnd type="none" w="med" len="med"/>
              <a:tailEnd type="triangle" w="sm" len="lg"/>
            </a:ln>
          </p:spPr>
        </p:sp>
        <p:sp>
          <p:nvSpPr>
            <p:cNvPr id="23564" name="Line 11"/>
            <p:cNvSpPr/>
            <p:nvPr/>
          </p:nvSpPr>
          <p:spPr>
            <a:xfrm>
              <a:off x="1768" y="1164"/>
              <a:ext cx="360" cy="456"/>
            </a:xfrm>
            <a:prstGeom prst="line">
              <a:avLst/>
            </a:prstGeom>
            <a:ln w="19050" cap="flat" cmpd="sng">
              <a:solidFill>
                <a:srgbClr val="3333FF"/>
              </a:solidFill>
              <a:prstDash val="solid"/>
              <a:headEnd type="none" w="med" len="med"/>
              <a:tailEnd type="triangle" w="sm" len="lg"/>
            </a:ln>
          </p:spPr>
        </p:sp>
        <p:sp>
          <p:nvSpPr>
            <p:cNvPr id="23565" name="Line 12"/>
            <p:cNvSpPr/>
            <p:nvPr/>
          </p:nvSpPr>
          <p:spPr>
            <a:xfrm flipH="1">
              <a:off x="1048" y="1164"/>
              <a:ext cx="372" cy="456"/>
            </a:xfrm>
            <a:prstGeom prst="line">
              <a:avLst/>
            </a:prstGeom>
            <a:ln w="19050" cap="flat" cmpd="sng">
              <a:solidFill>
                <a:srgbClr val="3333FF"/>
              </a:solidFill>
              <a:prstDash val="solid"/>
              <a:headEnd type="none" w="med" len="med"/>
              <a:tailEnd type="triangle" w="sm" len="lg"/>
            </a:ln>
          </p:spPr>
        </p:sp>
        <p:sp>
          <p:nvSpPr>
            <p:cNvPr id="23566" name="Line 13"/>
            <p:cNvSpPr/>
            <p:nvPr/>
          </p:nvSpPr>
          <p:spPr>
            <a:xfrm>
              <a:off x="3100" y="696"/>
              <a:ext cx="924" cy="240"/>
            </a:xfrm>
            <a:prstGeom prst="line">
              <a:avLst/>
            </a:prstGeom>
            <a:ln w="19050" cap="flat" cmpd="sng">
              <a:solidFill>
                <a:srgbClr val="3333FF"/>
              </a:solidFill>
              <a:prstDash val="solid"/>
              <a:headEnd type="none" w="med" len="med"/>
              <a:tailEnd type="triangle" w="sm" len="lg"/>
            </a:ln>
          </p:spPr>
        </p:sp>
        <p:sp>
          <p:nvSpPr>
            <p:cNvPr id="23567" name="Oval 14"/>
            <p:cNvSpPr/>
            <p:nvPr/>
          </p:nvSpPr>
          <p:spPr>
            <a:xfrm>
              <a:off x="2018" y="162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E</a:t>
              </a:r>
            </a:p>
          </p:txBody>
        </p:sp>
        <p:sp>
          <p:nvSpPr>
            <p:cNvPr id="23568" name="Line 15"/>
            <p:cNvSpPr/>
            <p:nvPr/>
          </p:nvSpPr>
          <p:spPr>
            <a:xfrm flipH="1">
              <a:off x="1948" y="2004"/>
              <a:ext cx="132" cy="600"/>
            </a:xfrm>
            <a:prstGeom prst="line">
              <a:avLst/>
            </a:prstGeom>
            <a:ln w="19050" cap="flat" cmpd="sng">
              <a:solidFill>
                <a:srgbClr val="3333FF"/>
              </a:solidFill>
              <a:prstDash val="solid"/>
              <a:headEnd type="none" w="med" len="med"/>
              <a:tailEnd type="triangle" w="sm" len="lg"/>
            </a:ln>
          </p:spPr>
        </p:sp>
        <p:sp>
          <p:nvSpPr>
            <p:cNvPr id="23569" name="Line 16"/>
            <p:cNvSpPr/>
            <p:nvPr/>
          </p:nvSpPr>
          <p:spPr>
            <a:xfrm>
              <a:off x="2368" y="1992"/>
              <a:ext cx="156" cy="612"/>
            </a:xfrm>
            <a:prstGeom prst="line">
              <a:avLst/>
            </a:prstGeom>
            <a:ln w="19050" cap="flat" cmpd="sng">
              <a:solidFill>
                <a:srgbClr val="3333FF"/>
              </a:solidFill>
              <a:prstDash val="solid"/>
              <a:headEnd type="none" w="med" len="med"/>
              <a:tailEnd type="triangle" w="sm" len="lg"/>
            </a:ln>
          </p:spPr>
        </p:sp>
        <p:sp>
          <p:nvSpPr>
            <p:cNvPr id="23570" name="Oval 17"/>
            <p:cNvSpPr/>
            <p:nvPr/>
          </p:nvSpPr>
          <p:spPr>
            <a:xfrm>
              <a:off x="2354"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I</a:t>
              </a:r>
            </a:p>
          </p:txBody>
        </p:sp>
        <p:sp>
          <p:nvSpPr>
            <p:cNvPr id="23571" name="Text Box 18"/>
            <p:cNvSpPr txBox="1"/>
            <p:nvPr/>
          </p:nvSpPr>
          <p:spPr>
            <a:xfrm>
              <a:off x="910" y="1175"/>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0/0</a:t>
              </a:r>
            </a:p>
          </p:txBody>
        </p:sp>
        <p:sp>
          <p:nvSpPr>
            <p:cNvPr id="23572" name="Text Box 19"/>
            <p:cNvSpPr txBox="1"/>
            <p:nvPr/>
          </p:nvSpPr>
          <p:spPr>
            <a:xfrm>
              <a:off x="1678" y="2028"/>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0/0</a:t>
              </a:r>
            </a:p>
          </p:txBody>
        </p:sp>
        <p:sp>
          <p:nvSpPr>
            <p:cNvPr id="23573" name="Text Box 20"/>
            <p:cNvSpPr txBox="1"/>
            <p:nvPr/>
          </p:nvSpPr>
          <p:spPr>
            <a:xfrm>
              <a:off x="1884" y="1175"/>
              <a:ext cx="402" cy="290"/>
            </a:xfrm>
            <a:prstGeom prst="rect">
              <a:avLst/>
            </a:prstGeom>
            <a:noFill/>
            <a:ln w="38100">
              <a:noFill/>
            </a:ln>
          </p:spPr>
          <p:txBody>
            <a:bodyPr>
              <a:spAutoFit/>
            </a:bodyPr>
            <a:lstStyle/>
            <a:p>
              <a:r>
                <a:rPr lang="en-US" altLang="zh-CN" sz="2400" dirty="0">
                  <a:latin typeface="Times New Roman" panose="02020603050405020304" pitchFamily="18" charset="0"/>
                </a:rPr>
                <a:t>1/0</a:t>
              </a:r>
            </a:p>
          </p:txBody>
        </p:sp>
        <p:sp>
          <p:nvSpPr>
            <p:cNvPr id="23574" name="Text Box 21"/>
            <p:cNvSpPr txBox="1"/>
            <p:nvPr/>
          </p:nvSpPr>
          <p:spPr>
            <a:xfrm>
              <a:off x="2364" y="2028"/>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1/0</a:t>
              </a:r>
            </a:p>
          </p:txBody>
        </p:sp>
        <p:sp>
          <p:nvSpPr>
            <p:cNvPr id="23575" name="Oval 22"/>
            <p:cNvSpPr/>
            <p:nvPr/>
          </p:nvSpPr>
          <p:spPr>
            <a:xfrm>
              <a:off x="406"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F</a:t>
              </a:r>
            </a:p>
          </p:txBody>
        </p:sp>
        <p:sp>
          <p:nvSpPr>
            <p:cNvPr id="23576" name="Line 23"/>
            <p:cNvSpPr/>
            <p:nvPr/>
          </p:nvSpPr>
          <p:spPr>
            <a:xfrm flipH="1">
              <a:off x="676" y="2016"/>
              <a:ext cx="132" cy="600"/>
            </a:xfrm>
            <a:prstGeom prst="line">
              <a:avLst/>
            </a:prstGeom>
            <a:ln w="19050" cap="flat" cmpd="sng">
              <a:solidFill>
                <a:srgbClr val="3333FF"/>
              </a:solidFill>
              <a:prstDash val="solid"/>
              <a:headEnd type="none" w="med" len="med"/>
              <a:tailEnd type="triangle" w="sm" len="lg"/>
            </a:ln>
          </p:spPr>
        </p:sp>
        <p:sp>
          <p:nvSpPr>
            <p:cNvPr id="23577" name="Line 24"/>
            <p:cNvSpPr/>
            <p:nvPr/>
          </p:nvSpPr>
          <p:spPr>
            <a:xfrm>
              <a:off x="1096" y="2004"/>
              <a:ext cx="156" cy="612"/>
            </a:xfrm>
            <a:prstGeom prst="line">
              <a:avLst/>
            </a:prstGeom>
            <a:ln w="19050" cap="flat" cmpd="sng">
              <a:solidFill>
                <a:srgbClr val="3333FF"/>
              </a:solidFill>
              <a:prstDash val="solid"/>
              <a:headEnd type="none" w="med" len="med"/>
              <a:tailEnd type="triangle" w="sm" len="lg"/>
            </a:ln>
          </p:spPr>
        </p:sp>
        <p:sp>
          <p:nvSpPr>
            <p:cNvPr id="23578" name="Oval 25"/>
            <p:cNvSpPr/>
            <p:nvPr/>
          </p:nvSpPr>
          <p:spPr>
            <a:xfrm>
              <a:off x="1094"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G</a:t>
              </a:r>
            </a:p>
          </p:txBody>
        </p:sp>
        <p:sp>
          <p:nvSpPr>
            <p:cNvPr id="23579" name="Text Box 26"/>
            <p:cNvSpPr txBox="1"/>
            <p:nvPr/>
          </p:nvSpPr>
          <p:spPr>
            <a:xfrm>
              <a:off x="406" y="2028"/>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0/0</a:t>
              </a:r>
            </a:p>
          </p:txBody>
        </p:sp>
        <p:sp>
          <p:nvSpPr>
            <p:cNvPr id="23580" name="Text Box 27"/>
            <p:cNvSpPr txBox="1"/>
            <p:nvPr/>
          </p:nvSpPr>
          <p:spPr>
            <a:xfrm>
              <a:off x="1092" y="2028"/>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1/0</a:t>
              </a:r>
            </a:p>
          </p:txBody>
        </p:sp>
        <p:sp>
          <p:nvSpPr>
            <p:cNvPr id="23581" name="Oval 28"/>
            <p:cNvSpPr/>
            <p:nvPr/>
          </p:nvSpPr>
          <p:spPr>
            <a:xfrm>
              <a:off x="4294"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N</a:t>
              </a:r>
            </a:p>
          </p:txBody>
        </p:sp>
        <p:sp>
          <p:nvSpPr>
            <p:cNvPr id="23582" name="Oval 29"/>
            <p:cNvSpPr/>
            <p:nvPr/>
          </p:nvSpPr>
          <p:spPr>
            <a:xfrm>
              <a:off x="3376" y="162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J</a:t>
              </a:r>
            </a:p>
          </p:txBody>
        </p:sp>
        <p:sp>
          <p:nvSpPr>
            <p:cNvPr id="23583" name="Line 30"/>
            <p:cNvSpPr/>
            <p:nvPr/>
          </p:nvSpPr>
          <p:spPr>
            <a:xfrm>
              <a:off x="4384" y="1176"/>
              <a:ext cx="360" cy="456"/>
            </a:xfrm>
            <a:prstGeom prst="line">
              <a:avLst/>
            </a:prstGeom>
            <a:ln w="19050" cap="flat" cmpd="sng">
              <a:solidFill>
                <a:srgbClr val="3333FF"/>
              </a:solidFill>
              <a:prstDash val="solid"/>
              <a:headEnd type="none" w="med" len="med"/>
              <a:tailEnd type="triangle" w="sm" len="lg"/>
            </a:ln>
          </p:spPr>
        </p:sp>
        <p:sp>
          <p:nvSpPr>
            <p:cNvPr id="23584" name="Line 31"/>
            <p:cNvSpPr/>
            <p:nvPr/>
          </p:nvSpPr>
          <p:spPr>
            <a:xfrm flipH="1">
              <a:off x="3664" y="1176"/>
              <a:ext cx="372" cy="456"/>
            </a:xfrm>
            <a:prstGeom prst="line">
              <a:avLst/>
            </a:prstGeom>
            <a:ln w="19050" cap="flat" cmpd="sng">
              <a:solidFill>
                <a:srgbClr val="3333FF"/>
              </a:solidFill>
              <a:prstDash val="solid"/>
              <a:headEnd type="none" w="med" len="med"/>
              <a:tailEnd type="triangle" w="sm" len="lg"/>
            </a:ln>
          </p:spPr>
        </p:sp>
        <p:sp>
          <p:nvSpPr>
            <p:cNvPr id="23585" name="Oval 32"/>
            <p:cNvSpPr/>
            <p:nvPr/>
          </p:nvSpPr>
          <p:spPr>
            <a:xfrm>
              <a:off x="4634" y="162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K</a:t>
              </a:r>
            </a:p>
          </p:txBody>
        </p:sp>
        <p:sp>
          <p:nvSpPr>
            <p:cNvPr id="23586" name="Line 33"/>
            <p:cNvSpPr/>
            <p:nvPr/>
          </p:nvSpPr>
          <p:spPr>
            <a:xfrm flipH="1">
              <a:off x="4564" y="2016"/>
              <a:ext cx="132" cy="600"/>
            </a:xfrm>
            <a:prstGeom prst="line">
              <a:avLst/>
            </a:prstGeom>
            <a:ln w="19050" cap="flat" cmpd="sng">
              <a:solidFill>
                <a:srgbClr val="3333FF"/>
              </a:solidFill>
              <a:prstDash val="solid"/>
              <a:headEnd type="none" w="med" len="med"/>
              <a:tailEnd type="triangle" w="sm" len="lg"/>
            </a:ln>
          </p:spPr>
        </p:sp>
        <p:sp>
          <p:nvSpPr>
            <p:cNvPr id="23587" name="Line 34"/>
            <p:cNvSpPr/>
            <p:nvPr/>
          </p:nvSpPr>
          <p:spPr>
            <a:xfrm>
              <a:off x="4984" y="2004"/>
              <a:ext cx="156" cy="612"/>
            </a:xfrm>
            <a:prstGeom prst="line">
              <a:avLst/>
            </a:prstGeom>
            <a:ln w="19050" cap="flat" cmpd="sng">
              <a:solidFill>
                <a:srgbClr val="3333FF"/>
              </a:solidFill>
              <a:prstDash val="solid"/>
              <a:headEnd type="none" w="med" len="med"/>
              <a:tailEnd type="triangle" w="sm" len="lg"/>
            </a:ln>
          </p:spPr>
        </p:sp>
        <p:sp>
          <p:nvSpPr>
            <p:cNvPr id="23588" name="Oval 35"/>
            <p:cNvSpPr/>
            <p:nvPr/>
          </p:nvSpPr>
          <p:spPr>
            <a:xfrm>
              <a:off x="4970"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P</a:t>
              </a:r>
            </a:p>
          </p:txBody>
        </p:sp>
        <p:sp>
          <p:nvSpPr>
            <p:cNvPr id="23589" name="Text Box 36"/>
            <p:cNvSpPr txBox="1"/>
            <p:nvPr/>
          </p:nvSpPr>
          <p:spPr>
            <a:xfrm>
              <a:off x="3526" y="1175"/>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0/0</a:t>
              </a:r>
            </a:p>
          </p:txBody>
        </p:sp>
        <p:sp>
          <p:nvSpPr>
            <p:cNvPr id="23590" name="Text Box 37"/>
            <p:cNvSpPr txBox="1"/>
            <p:nvPr/>
          </p:nvSpPr>
          <p:spPr>
            <a:xfrm>
              <a:off x="4306" y="2028"/>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0/0</a:t>
              </a:r>
            </a:p>
          </p:txBody>
        </p:sp>
        <p:sp>
          <p:nvSpPr>
            <p:cNvPr id="23591" name="Text Box 38"/>
            <p:cNvSpPr txBox="1"/>
            <p:nvPr/>
          </p:nvSpPr>
          <p:spPr>
            <a:xfrm>
              <a:off x="4500" y="1175"/>
              <a:ext cx="402" cy="290"/>
            </a:xfrm>
            <a:prstGeom prst="rect">
              <a:avLst/>
            </a:prstGeom>
            <a:noFill/>
            <a:ln w="38100">
              <a:noFill/>
            </a:ln>
          </p:spPr>
          <p:txBody>
            <a:bodyPr>
              <a:spAutoFit/>
            </a:bodyPr>
            <a:lstStyle/>
            <a:p>
              <a:r>
                <a:rPr lang="en-US" altLang="zh-CN" sz="2400" dirty="0">
                  <a:latin typeface="Times New Roman" panose="02020603050405020304" pitchFamily="18" charset="0"/>
                </a:rPr>
                <a:t>1/0</a:t>
              </a:r>
            </a:p>
          </p:txBody>
        </p:sp>
        <p:sp>
          <p:nvSpPr>
            <p:cNvPr id="23592" name="Text Box 39"/>
            <p:cNvSpPr txBox="1"/>
            <p:nvPr/>
          </p:nvSpPr>
          <p:spPr>
            <a:xfrm>
              <a:off x="4992" y="2028"/>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1/0</a:t>
              </a:r>
            </a:p>
          </p:txBody>
        </p:sp>
        <p:sp>
          <p:nvSpPr>
            <p:cNvPr id="23593" name="Oval 40"/>
            <p:cNvSpPr/>
            <p:nvPr/>
          </p:nvSpPr>
          <p:spPr>
            <a:xfrm>
              <a:off x="3022"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L</a:t>
              </a:r>
            </a:p>
          </p:txBody>
        </p:sp>
        <p:sp>
          <p:nvSpPr>
            <p:cNvPr id="23594" name="Line 41"/>
            <p:cNvSpPr/>
            <p:nvPr/>
          </p:nvSpPr>
          <p:spPr>
            <a:xfrm flipH="1">
              <a:off x="3292" y="2028"/>
              <a:ext cx="132" cy="600"/>
            </a:xfrm>
            <a:prstGeom prst="line">
              <a:avLst/>
            </a:prstGeom>
            <a:ln w="19050" cap="flat" cmpd="sng">
              <a:solidFill>
                <a:srgbClr val="3333FF"/>
              </a:solidFill>
              <a:prstDash val="solid"/>
              <a:headEnd type="none" w="med" len="med"/>
              <a:tailEnd type="triangle" w="sm" len="lg"/>
            </a:ln>
          </p:spPr>
        </p:sp>
        <p:sp>
          <p:nvSpPr>
            <p:cNvPr id="23595" name="Line 42"/>
            <p:cNvSpPr/>
            <p:nvPr/>
          </p:nvSpPr>
          <p:spPr>
            <a:xfrm>
              <a:off x="3712" y="2016"/>
              <a:ext cx="156" cy="612"/>
            </a:xfrm>
            <a:prstGeom prst="line">
              <a:avLst/>
            </a:prstGeom>
            <a:ln w="19050" cap="flat" cmpd="sng">
              <a:solidFill>
                <a:srgbClr val="3333FF"/>
              </a:solidFill>
              <a:prstDash val="solid"/>
              <a:headEnd type="none" w="med" len="med"/>
              <a:tailEnd type="triangle" w="sm" len="lg"/>
            </a:ln>
          </p:spPr>
        </p:sp>
        <p:sp>
          <p:nvSpPr>
            <p:cNvPr id="23596" name="Oval 43"/>
            <p:cNvSpPr/>
            <p:nvPr/>
          </p:nvSpPr>
          <p:spPr>
            <a:xfrm>
              <a:off x="3710" y="258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dirty="0">
                  <a:latin typeface="Times New Roman" panose="02020603050405020304" pitchFamily="18" charset="0"/>
                </a:rPr>
                <a:t>M</a:t>
              </a:r>
            </a:p>
          </p:txBody>
        </p:sp>
        <p:sp>
          <p:nvSpPr>
            <p:cNvPr id="23597" name="Text Box 44"/>
            <p:cNvSpPr txBox="1"/>
            <p:nvPr/>
          </p:nvSpPr>
          <p:spPr>
            <a:xfrm>
              <a:off x="3010" y="2028"/>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0/0</a:t>
              </a:r>
            </a:p>
          </p:txBody>
        </p:sp>
        <p:sp>
          <p:nvSpPr>
            <p:cNvPr id="23598" name="Text Box 45"/>
            <p:cNvSpPr txBox="1"/>
            <p:nvPr/>
          </p:nvSpPr>
          <p:spPr>
            <a:xfrm>
              <a:off x="3720" y="2028"/>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1/0</a:t>
              </a:r>
            </a:p>
          </p:txBody>
        </p:sp>
        <p:sp>
          <p:nvSpPr>
            <p:cNvPr id="23599" name="Line 46"/>
            <p:cNvSpPr/>
            <p:nvPr/>
          </p:nvSpPr>
          <p:spPr>
            <a:xfrm>
              <a:off x="576" y="3000"/>
              <a:ext cx="0" cy="492"/>
            </a:xfrm>
            <a:prstGeom prst="line">
              <a:avLst/>
            </a:prstGeom>
            <a:ln w="19050" cap="flat" cmpd="sng">
              <a:solidFill>
                <a:srgbClr val="3333FF"/>
              </a:solidFill>
              <a:prstDash val="solid"/>
              <a:headEnd type="none" w="med" len="med"/>
              <a:tailEnd type="triangle" w="sm" len="lg"/>
            </a:ln>
          </p:spPr>
        </p:sp>
        <p:sp>
          <p:nvSpPr>
            <p:cNvPr id="23600" name="Line 47"/>
            <p:cNvSpPr/>
            <p:nvPr/>
          </p:nvSpPr>
          <p:spPr>
            <a:xfrm>
              <a:off x="1284" y="3000"/>
              <a:ext cx="0" cy="492"/>
            </a:xfrm>
            <a:prstGeom prst="line">
              <a:avLst/>
            </a:prstGeom>
            <a:ln w="19050" cap="flat" cmpd="sng">
              <a:solidFill>
                <a:srgbClr val="3333FF"/>
              </a:solidFill>
              <a:prstDash val="solid"/>
              <a:headEnd type="none" w="med" len="med"/>
              <a:tailEnd type="triangle" w="sm" len="lg"/>
            </a:ln>
          </p:spPr>
        </p:sp>
        <p:sp>
          <p:nvSpPr>
            <p:cNvPr id="23601" name="Line 48"/>
            <p:cNvSpPr/>
            <p:nvPr/>
          </p:nvSpPr>
          <p:spPr>
            <a:xfrm>
              <a:off x="1848" y="3000"/>
              <a:ext cx="0" cy="492"/>
            </a:xfrm>
            <a:prstGeom prst="line">
              <a:avLst/>
            </a:prstGeom>
            <a:ln w="19050" cap="flat" cmpd="sng">
              <a:solidFill>
                <a:srgbClr val="3333FF"/>
              </a:solidFill>
              <a:prstDash val="solid"/>
              <a:headEnd type="none" w="med" len="med"/>
              <a:tailEnd type="triangle" w="sm" len="lg"/>
            </a:ln>
          </p:spPr>
        </p:sp>
        <p:sp>
          <p:nvSpPr>
            <p:cNvPr id="23602" name="Line 49"/>
            <p:cNvSpPr/>
            <p:nvPr/>
          </p:nvSpPr>
          <p:spPr>
            <a:xfrm>
              <a:off x="2532" y="3000"/>
              <a:ext cx="0" cy="492"/>
            </a:xfrm>
            <a:prstGeom prst="line">
              <a:avLst/>
            </a:prstGeom>
            <a:ln w="19050" cap="flat" cmpd="sng">
              <a:solidFill>
                <a:srgbClr val="3333FF"/>
              </a:solidFill>
              <a:prstDash val="solid"/>
              <a:headEnd type="none" w="med" len="med"/>
              <a:tailEnd type="triangle" w="sm" len="lg"/>
            </a:ln>
          </p:spPr>
        </p:sp>
        <p:sp>
          <p:nvSpPr>
            <p:cNvPr id="23603" name="Line 50"/>
            <p:cNvSpPr/>
            <p:nvPr/>
          </p:nvSpPr>
          <p:spPr>
            <a:xfrm>
              <a:off x="3216" y="3000"/>
              <a:ext cx="0" cy="492"/>
            </a:xfrm>
            <a:prstGeom prst="line">
              <a:avLst/>
            </a:prstGeom>
            <a:ln w="19050" cap="flat" cmpd="sng">
              <a:solidFill>
                <a:srgbClr val="3333FF"/>
              </a:solidFill>
              <a:prstDash val="solid"/>
              <a:headEnd type="none" w="med" len="med"/>
              <a:tailEnd type="triangle" w="sm" len="lg"/>
            </a:ln>
          </p:spPr>
        </p:sp>
        <p:sp>
          <p:nvSpPr>
            <p:cNvPr id="23604" name="Line 51"/>
            <p:cNvSpPr/>
            <p:nvPr/>
          </p:nvSpPr>
          <p:spPr>
            <a:xfrm>
              <a:off x="3900" y="3000"/>
              <a:ext cx="0" cy="492"/>
            </a:xfrm>
            <a:prstGeom prst="line">
              <a:avLst/>
            </a:prstGeom>
            <a:ln w="19050" cap="flat" cmpd="sng">
              <a:solidFill>
                <a:srgbClr val="3333FF"/>
              </a:solidFill>
              <a:prstDash val="solid"/>
              <a:headEnd type="none" w="med" len="med"/>
              <a:tailEnd type="triangle" w="sm" len="lg"/>
            </a:ln>
          </p:spPr>
        </p:sp>
        <p:sp>
          <p:nvSpPr>
            <p:cNvPr id="23605" name="Line 52"/>
            <p:cNvSpPr/>
            <p:nvPr/>
          </p:nvSpPr>
          <p:spPr>
            <a:xfrm>
              <a:off x="4500" y="3000"/>
              <a:ext cx="0" cy="492"/>
            </a:xfrm>
            <a:prstGeom prst="line">
              <a:avLst/>
            </a:prstGeom>
            <a:ln w="19050" cap="flat" cmpd="sng">
              <a:solidFill>
                <a:srgbClr val="3333FF"/>
              </a:solidFill>
              <a:prstDash val="solid"/>
              <a:headEnd type="none" w="med" len="med"/>
              <a:tailEnd type="triangle" w="sm" len="lg"/>
            </a:ln>
          </p:spPr>
        </p:sp>
        <p:sp>
          <p:nvSpPr>
            <p:cNvPr id="23606" name="Line 53"/>
            <p:cNvSpPr/>
            <p:nvPr/>
          </p:nvSpPr>
          <p:spPr>
            <a:xfrm>
              <a:off x="5184" y="3000"/>
              <a:ext cx="0" cy="492"/>
            </a:xfrm>
            <a:prstGeom prst="line">
              <a:avLst/>
            </a:prstGeom>
            <a:ln w="19050" cap="flat" cmpd="sng">
              <a:solidFill>
                <a:srgbClr val="3333FF"/>
              </a:solidFill>
              <a:prstDash val="solid"/>
              <a:headEnd type="none" w="med" len="med"/>
              <a:tailEnd type="triangle" w="sm" len="lg"/>
            </a:ln>
          </p:spPr>
        </p:sp>
        <p:sp>
          <p:nvSpPr>
            <p:cNvPr id="23607" name="Line 54"/>
            <p:cNvSpPr/>
            <p:nvPr/>
          </p:nvSpPr>
          <p:spPr>
            <a:xfrm flipV="1">
              <a:off x="2868" y="852"/>
              <a:ext cx="0" cy="2592"/>
            </a:xfrm>
            <a:prstGeom prst="line">
              <a:avLst/>
            </a:prstGeom>
            <a:ln w="19050" cap="flat" cmpd="sng">
              <a:solidFill>
                <a:srgbClr val="3333FF"/>
              </a:solidFill>
              <a:prstDash val="solid"/>
              <a:headEnd type="none" w="med" len="med"/>
              <a:tailEnd type="triangle" w="sm" len="lg"/>
            </a:ln>
          </p:spPr>
        </p:sp>
        <p:sp>
          <p:nvSpPr>
            <p:cNvPr id="23608" name="Line 55"/>
            <p:cNvSpPr/>
            <p:nvPr/>
          </p:nvSpPr>
          <p:spPr>
            <a:xfrm>
              <a:off x="492" y="3480"/>
              <a:ext cx="2376" cy="0"/>
            </a:xfrm>
            <a:prstGeom prst="line">
              <a:avLst/>
            </a:prstGeom>
            <a:ln w="19050" cap="flat" cmpd="sng">
              <a:solidFill>
                <a:srgbClr val="3333FF"/>
              </a:solidFill>
              <a:prstDash val="solid"/>
              <a:headEnd type="none" w="med" len="med"/>
              <a:tailEnd type="triangle" w="sm" len="lg"/>
            </a:ln>
          </p:spPr>
        </p:sp>
        <p:sp>
          <p:nvSpPr>
            <p:cNvPr id="23609" name="Line 56"/>
            <p:cNvSpPr/>
            <p:nvPr/>
          </p:nvSpPr>
          <p:spPr>
            <a:xfrm flipH="1">
              <a:off x="2868" y="3492"/>
              <a:ext cx="2376" cy="0"/>
            </a:xfrm>
            <a:prstGeom prst="line">
              <a:avLst/>
            </a:prstGeom>
            <a:ln w="19050" cap="flat" cmpd="sng">
              <a:solidFill>
                <a:srgbClr val="3333FF"/>
              </a:solidFill>
              <a:prstDash val="solid"/>
              <a:headEnd type="none" w="med" len="med"/>
              <a:tailEnd type="triangle" w="sm" len="lg"/>
            </a:ln>
          </p:spPr>
        </p:sp>
        <p:sp>
          <p:nvSpPr>
            <p:cNvPr id="23610" name="Text Box 57"/>
            <p:cNvSpPr txBox="1"/>
            <p:nvPr/>
          </p:nvSpPr>
          <p:spPr>
            <a:xfrm>
              <a:off x="562" y="2964"/>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0/0</a:t>
              </a:r>
            </a:p>
          </p:txBody>
        </p:sp>
        <p:sp>
          <p:nvSpPr>
            <p:cNvPr id="23611" name="Text Box 58"/>
            <p:cNvSpPr txBox="1"/>
            <p:nvPr/>
          </p:nvSpPr>
          <p:spPr>
            <a:xfrm>
              <a:off x="552" y="3156"/>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1/0</a:t>
              </a:r>
            </a:p>
          </p:txBody>
        </p:sp>
        <p:sp>
          <p:nvSpPr>
            <p:cNvPr id="23612" name="Text Box 59"/>
            <p:cNvSpPr txBox="1"/>
            <p:nvPr/>
          </p:nvSpPr>
          <p:spPr>
            <a:xfrm>
              <a:off x="1282" y="2964"/>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0/0</a:t>
              </a:r>
            </a:p>
          </p:txBody>
        </p:sp>
        <p:sp>
          <p:nvSpPr>
            <p:cNvPr id="23613" name="Text Box 60"/>
            <p:cNvSpPr txBox="1"/>
            <p:nvPr/>
          </p:nvSpPr>
          <p:spPr>
            <a:xfrm>
              <a:off x="1272" y="3156"/>
              <a:ext cx="360" cy="290"/>
            </a:xfrm>
            <a:prstGeom prst="rect">
              <a:avLst/>
            </a:prstGeom>
            <a:noFill/>
            <a:ln w="38100">
              <a:noFill/>
            </a:ln>
          </p:spPr>
          <p:txBody>
            <a:bodyPr wrap="none">
              <a:spAutoFit/>
            </a:bodyPr>
            <a:lstStyle/>
            <a:p>
              <a:r>
                <a:rPr lang="en-US" altLang="zh-CN" sz="2400" dirty="0">
                  <a:latin typeface="Times New Roman" panose="02020603050405020304" pitchFamily="18" charset="0"/>
                </a:rPr>
                <a:t>1/0</a:t>
              </a:r>
            </a:p>
          </p:txBody>
        </p:sp>
        <p:sp>
          <p:nvSpPr>
            <p:cNvPr id="23614" name="Text Box 61"/>
            <p:cNvSpPr txBox="1"/>
            <p:nvPr/>
          </p:nvSpPr>
          <p:spPr>
            <a:xfrm>
              <a:off x="1894" y="2987"/>
              <a:ext cx="402" cy="290"/>
            </a:xfrm>
            <a:prstGeom prst="rect">
              <a:avLst/>
            </a:prstGeom>
            <a:noFill/>
            <a:ln w="38100">
              <a:noFill/>
            </a:ln>
          </p:spPr>
          <p:txBody>
            <a:bodyPr>
              <a:spAutoFit/>
            </a:bodyPr>
            <a:lstStyle/>
            <a:p>
              <a:r>
                <a:rPr lang="en-US" altLang="zh-CN" sz="2400" dirty="0">
                  <a:latin typeface="Times New Roman" panose="02020603050405020304" pitchFamily="18" charset="0"/>
                </a:rPr>
                <a:t>0/0</a:t>
              </a:r>
            </a:p>
          </p:txBody>
        </p:sp>
        <p:sp>
          <p:nvSpPr>
            <p:cNvPr id="23615" name="Text Box 62"/>
            <p:cNvSpPr txBox="1"/>
            <p:nvPr/>
          </p:nvSpPr>
          <p:spPr>
            <a:xfrm>
              <a:off x="1884" y="3167"/>
              <a:ext cx="402" cy="290"/>
            </a:xfrm>
            <a:prstGeom prst="rect">
              <a:avLst/>
            </a:prstGeom>
            <a:noFill/>
            <a:ln w="38100">
              <a:noFill/>
            </a:ln>
          </p:spPr>
          <p:txBody>
            <a:bodyPr>
              <a:spAutoFit/>
            </a:bodyPr>
            <a:lstStyle/>
            <a:p>
              <a:r>
                <a:rPr lang="en-US" altLang="zh-CN" sz="2400" dirty="0">
                  <a:latin typeface="Times New Roman" panose="02020603050405020304" pitchFamily="18" charset="0"/>
                </a:rPr>
                <a:t>1/0</a:t>
              </a:r>
            </a:p>
          </p:txBody>
        </p:sp>
        <p:sp>
          <p:nvSpPr>
            <p:cNvPr id="23616" name="Text Box 63"/>
            <p:cNvSpPr txBox="1"/>
            <p:nvPr/>
          </p:nvSpPr>
          <p:spPr>
            <a:xfrm>
              <a:off x="2536" y="2987"/>
              <a:ext cx="402" cy="290"/>
            </a:xfrm>
            <a:prstGeom prst="rect">
              <a:avLst/>
            </a:prstGeom>
            <a:noFill/>
            <a:ln w="38100">
              <a:noFill/>
            </a:ln>
          </p:spPr>
          <p:txBody>
            <a:bodyPr>
              <a:spAutoFit/>
            </a:bodyPr>
            <a:lstStyle/>
            <a:p>
              <a:r>
                <a:rPr lang="en-US" altLang="zh-CN" sz="2400" dirty="0">
                  <a:latin typeface="Times New Roman" panose="02020603050405020304" pitchFamily="18" charset="0"/>
                </a:rPr>
                <a:t>0/0</a:t>
              </a:r>
            </a:p>
          </p:txBody>
        </p:sp>
        <p:sp>
          <p:nvSpPr>
            <p:cNvPr id="23617" name="Text Box 64"/>
            <p:cNvSpPr txBox="1"/>
            <p:nvPr/>
          </p:nvSpPr>
          <p:spPr>
            <a:xfrm>
              <a:off x="2526" y="3167"/>
              <a:ext cx="402" cy="290"/>
            </a:xfrm>
            <a:prstGeom prst="rect">
              <a:avLst/>
            </a:prstGeom>
            <a:noFill/>
            <a:ln w="38100">
              <a:noFill/>
            </a:ln>
          </p:spPr>
          <p:txBody>
            <a:bodyPr>
              <a:spAutoFit/>
            </a:bodyPr>
            <a:lstStyle/>
            <a:p>
              <a:r>
                <a:rPr lang="en-US" altLang="zh-CN" sz="2400" dirty="0">
                  <a:latin typeface="Times New Roman" panose="02020603050405020304" pitchFamily="18" charset="0"/>
                </a:rPr>
                <a:t>1/0</a:t>
              </a:r>
            </a:p>
          </p:txBody>
        </p:sp>
        <p:sp>
          <p:nvSpPr>
            <p:cNvPr id="23618" name="Text Box 65"/>
            <p:cNvSpPr txBox="1"/>
            <p:nvPr/>
          </p:nvSpPr>
          <p:spPr>
            <a:xfrm>
              <a:off x="3232" y="3011"/>
              <a:ext cx="402" cy="290"/>
            </a:xfrm>
            <a:prstGeom prst="rect">
              <a:avLst/>
            </a:prstGeom>
            <a:noFill/>
            <a:ln w="38100">
              <a:noFill/>
            </a:ln>
          </p:spPr>
          <p:txBody>
            <a:bodyPr>
              <a:spAutoFit/>
            </a:bodyPr>
            <a:lstStyle/>
            <a:p>
              <a:r>
                <a:rPr lang="en-US" altLang="zh-CN" sz="2400" dirty="0">
                  <a:latin typeface="Times New Roman" panose="02020603050405020304" pitchFamily="18" charset="0"/>
                </a:rPr>
                <a:t>0/0</a:t>
              </a:r>
            </a:p>
          </p:txBody>
        </p:sp>
        <p:sp>
          <p:nvSpPr>
            <p:cNvPr id="23619" name="Text Box 66"/>
            <p:cNvSpPr txBox="1"/>
            <p:nvPr/>
          </p:nvSpPr>
          <p:spPr>
            <a:xfrm>
              <a:off x="3234" y="3179"/>
              <a:ext cx="402" cy="290"/>
            </a:xfrm>
            <a:prstGeom prst="rect">
              <a:avLst/>
            </a:prstGeom>
            <a:noFill/>
            <a:ln w="38100">
              <a:noFill/>
            </a:ln>
          </p:spPr>
          <p:txBody>
            <a:bodyPr>
              <a:spAutoFit/>
            </a:bodyPr>
            <a:lstStyle/>
            <a:p>
              <a:r>
                <a:rPr lang="en-US" altLang="zh-CN" sz="2400" dirty="0">
                  <a:latin typeface="Times New Roman" panose="02020603050405020304" pitchFamily="18" charset="0"/>
                </a:rPr>
                <a:t>1/0</a:t>
              </a:r>
            </a:p>
          </p:txBody>
        </p:sp>
        <p:sp>
          <p:nvSpPr>
            <p:cNvPr id="23620" name="Text Box 67"/>
            <p:cNvSpPr txBox="1"/>
            <p:nvPr/>
          </p:nvSpPr>
          <p:spPr>
            <a:xfrm>
              <a:off x="3928" y="3023"/>
              <a:ext cx="402" cy="290"/>
            </a:xfrm>
            <a:prstGeom prst="rect">
              <a:avLst/>
            </a:prstGeom>
            <a:noFill/>
            <a:ln w="38100">
              <a:noFill/>
            </a:ln>
          </p:spPr>
          <p:txBody>
            <a:bodyPr>
              <a:spAutoFit/>
            </a:bodyPr>
            <a:lstStyle/>
            <a:p>
              <a:r>
                <a:rPr lang="en-US" altLang="zh-CN" sz="2400" dirty="0">
                  <a:latin typeface="Times New Roman" panose="02020603050405020304" pitchFamily="18" charset="0"/>
                </a:rPr>
                <a:t>0/1</a:t>
              </a:r>
            </a:p>
          </p:txBody>
        </p:sp>
        <p:sp>
          <p:nvSpPr>
            <p:cNvPr id="23621" name="Text Box 68"/>
            <p:cNvSpPr txBox="1"/>
            <p:nvPr/>
          </p:nvSpPr>
          <p:spPr>
            <a:xfrm>
              <a:off x="3930" y="3191"/>
              <a:ext cx="402" cy="290"/>
            </a:xfrm>
            <a:prstGeom prst="rect">
              <a:avLst/>
            </a:prstGeom>
            <a:noFill/>
            <a:ln w="38100">
              <a:noFill/>
            </a:ln>
          </p:spPr>
          <p:txBody>
            <a:bodyPr>
              <a:spAutoFit/>
            </a:bodyPr>
            <a:lstStyle/>
            <a:p>
              <a:r>
                <a:rPr lang="en-US" altLang="zh-CN" sz="2400" dirty="0">
                  <a:latin typeface="Times New Roman" panose="02020603050405020304" pitchFamily="18" charset="0"/>
                </a:rPr>
                <a:t>1/1</a:t>
              </a:r>
            </a:p>
          </p:txBody>
        </p:sp>
        <p:sp>
          <p:nvSpPr>
            <p:cNvPr id="23622" name="Text Box 69"/>
            <p:cNvSpPr txBox="1"/>
            <p:nvPr/>
          </p:nvSpPr>
          <p:spPr>
            <a:xfrm>
              <a:off x="4540" y="3047"/>
              <a:ext cx="402" cy="290"/>
            </a:xfrm>
            <a:prstGeom prst="rect">
              <a:avLst/>
            </a:prstGeom>
            <a:noFill/>
            <a:ln w="38100">
              <a:noFill/>
            </a:ln>
          </p:spPr>
          <p:txBody>
            <a:bodyPr>
              <a:spAutoFit/>
            </a:bodyPr>
            <a:lstStyle/>
            <a:p>
              <a:r>
                <a:rPr lang="en-US" altLang="zh-CN" sz="2400" dirty="0">
                  <a:latin typeface="Times New Roman" panose="02020603050405020304" pitchFamily="18" charset="0"/>
                </a:rPr>
                <a:t>0/1</a:t>
              </a:r>
            </a:p>
          </p:txBody>
        </p:sp>
        <p:sp>
          <p:nvSpPr>
            <p:cNvPr id="23623" name="Text Box 70"/>
            <p:cNvSpPr txBox="1"/>
            <p:nvPr/>
          </p:nvSpPr>
          <p:spPr>
            <a:xfrm>
              <a:off x="4530" y="3203"/>
              <a:ext cx="402" cy="290"/>
            </a:xfrm>
            <a:prstGeom prst="rect">
              <a:avLst/>
            </a:prstGeom>
            <a:noFill/>
            <a:ln w="38100">
              <a:noFill/>
            </a:ln>
          </p:spPr>
          <p:txBody>
            <a:bodyPr>
              <a:spAutoFit/>
            </a:bodyPr>
            <a:lstStyle/>
            <a:p>
              <a:r>
                <a:rPr lang="en-US" altLang="zh-CN" sz="2400" dirty="0">
                  <a:latin typeface="Times New Roman" panose="02020603050405020304" pitchFamily="18" charset="0"/>
                </a:rPr>
                <a:t>1/1</a:t>
              </a:r>
            </a:p>
          </p:txBody>
        </p:sp>
        <p:sp>
          <p:nvSpPr>
            <p:cNvPr id="23624" name="Text Box 71"/>
            <p:cNvSpPr txBox="1"/>
            <p:nvPr/>
          </p:nvSpPr>
          <p:spPr>
            <a:xfrm>
              <a:off x="5200" y="3047"/>
              <a:ext cx="402" cy="290"/>
            </a:xfrm>
            <a:prstGeom prst="rect">
              <a:avLst/>
            </a:prstGeom>
            <a:noFill/>
            <a:ln w="38100">
              <a:noFill/>
            </a:ln>
          </p:spPr>
          <p:txBody>
            <a:bodyPr>
              <a:spAutoFit/>
            </a:bodyPr>
            <a:lstStyle/>
            <a:p>
              <a:r>
                <a:rPr lang="en-US" altLang="zh-CN" sz="2400" dirty="0">
                  <a:latin typeface="Times New Roman" panose="02020603050405020304" pitchFamily="18" charset="0"/>
                </a:rPr>
                <a:t>0/1</a:t>
              </a:r>
            </a:p>
          </p:txBody>
        </p:sp>
        <p:sp>
          <p:nvSpPr>
            <p:cNvPr id="23625" name="Text Box 72"/>
            <p:cNvSpPr txBox="1"/>
            <p:nvPr/>
          </p:nvSpPr>
          <p:spPr>
            <a:xfrm>
              <a:off x="5202" y="3215"/>
              <a:ext cx="402" cy="290"/>
            </a:xfrm>
            <a:prstGeom prst="rect">
              <a:avLst/>
            </a:prstGeom>
            <a:noFill/>
            <a:ln w="38100">
              <a:noFill/>
            </a:ln>
          </p:spPr>
          <p:txBody>
            <a:bodyPr>
              <a:spAutoFit/>
            </a:bodyPr>
            <a:lstStyle/>
            <a:p>
              <a:r>
                <a:rPr lang="en-US" altLang="zh-CN" sz="2400" dirty="0">
                  <a:latin typeface="Times New Roman" panose="02020603050405020304" pitchFamily="18" charset="0"/>
                </a:rPr>
                <a:t>1/1</a:t>
              </a:r>
            </a:p>
          </p:txBody>
        </p:sp>
      </p:grpSp>
      <p:sp>
        <p:nvSpPr>
          <p:cNvPr id="23555" name="Text Box 73"/>
          <p:cNvSpPr txBox="1"/>
          <p:nvPr/>
        </p:nvSpPr>
        <p:spPr>
          <a:xfrm>
            <a:off x="3241675" y="6130925"/>
            <a:ext cx="2621280" cy="460375"/>
          </a:xfrm>
          <a:prstGeom prst="rect">
            <a:avLst/>
          </a:prstGeom>
          <a:noFill/>
          <a:ln w="19050">
            <a:noFill/>
          </a:ln>
        </p:spPr>
        <p:txBody>
          <a:bodyPr wrap="none">
            <a:spAutoFit/>
          </a:bodyPr>
          <a:lstStyle/>
          <a:p>
            <a:r>
              <a:rPr lang="zh-CN" altLang="zh-CN" sz="2400" dirty="0">
                <a:latin typeface="Times New Roman" panose="02020603050405020304" pitchFamily="18" charset="0"/>
              </a:rPr>
              <a:t>电路的原始状态图</a:t>
            </a: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descr="羊皮纸"/>
          <p:cNvSpPr/>
          <p:nvPr/>
        </p:nvSpPr>
        <p:spPr>
          <a:xfrm>
            <a:off x="0" y="-19050"/>
            <a:ext cx="9144000" cy="6858000"/>
          </a:xfrm>
          <a:prstGeom prst="rect">
            <a:avLst/>
          </a:prstGeom>
          <a:blipFill rotWithShape="1">
            <a:blip r:embed="rId2"/>
          </a:blipFill>
          <a:ln w="57150">
            <a:noFill/>
          </a:ln>
        </p:spPr>
        <p:txBody>
          <a:bodyPr wrap="none" anchor="ctr" anchorCtr="0"/>
          <a:lstStyle/>
          <a:p>
            <a:pPr algn="ctr"/>
            <a:endParaRPr lang="zh-CN" altLang="zh-CN" sz="2400" dirty="0">
              <a:latin typeface="Times New Roman" panose="02020603050405020304" pitchFamily="18" charset="0"/>
            </a:endParaRPr>
          </a:p>
        </p:txBody>
      </p:sp>
      <p:grpSp>
        <p:nvGrpSpPr>
          <p:cNvPr id="24579" name="Group 3"/>
          <p:cNvGrpSpPr/>
          <p:nvPr/>
        </p:nvGrpSpPr>
        <p:grpSpPr>
          <a:xfrm>
            <a:off x="1219200" y="193675"/>
            <a:ext cx="7086600" cy="6545263"/>
            <a:chOff x="624" y="122"/>
            <a:chExt cx="4464" cy="4123"/>
          </a:xfrm>
        </p:grpSpPr>
        <p:sp>
          <p:nvSpPr>
            <p:cNvPr id="24581" name="Line 4"/>
            <p:cNvSpPr/>
            <p:nvPr/>
          </p:nvSpPr>
          <p:spPr>
            <a:xfrm>
              <a:off x="648" y="132"/>
              <a:ext cx="4404" cy="0"/>
            </a:xfrm>
            <a:prstGeom prst="line">
              <a:avLst/>
            </a:prstGeom>
            <a:ln w="38100" cap="flat" cmpd="sng">
              <a:solidFill>
                <a:schemeClr val="tx1"/>
              </a:solidFill>
              <a:prstDash val="solid"/>
              <a:headEnd type="none" w="med" len="med"/>
              <a:tailEnd type="none" w="sm" len="lg"/>
            </a:ln>
          </p:spPr>
        </p:sp>
        <p:sp>
          <p:nvSpPr>
            <p:cNvPr id="24582" name="Line 5"/>
            <p:cNvSpPr/>
            <p:nvPr/>
          </p:nvSpPr>
          <p:spPr>
            <a:xfrm>
              <a:off x="684" y="4176"/>
              <a:ext cx="4404" cy="0"/>
            </a:xfrm>
            <a:prstGeom prst="line">
              <a:avLst/>
            </a:prstGeom>
            <a:ln w="38100" cap="flat" cmpd="sng">
              <a:solidFill>
                <a:schemeClr val="tx1"/>
              </a:solidFill>
              <a:prstDash val="solid"/>
              <a:headEnd type="none" w="med" len="med"/>
              <a:tailEnd type="none" w="sm" len="lg"/>
            </a:ln>
          </p:spPr>
        </p:sp>
        <p:sp>
          <p:nvSpPr>
            <p:cNvPr id="24583" name="Line 6"/>
            <p:cNvSpPr/>
            <p:nvPr/>
          </p:nvSpPr>
          <p:spPr>
            <a:xfrm>
              <a:off x="1704" y="144"/>
              <a:ext cx="0" cy="4044"/>
            </a:xfrm>
            <a:prstGeom prst="line">
              <a:avLst/>
            </a:prstGeom>
            <a:ln w="19050" cap="flat" cmpd="sng">
              <a:solidFill>
                <a:schemeClr val="tx1"/>
              </a:solidFill>
              <a:prstDash val="solid"/>
              <a:headEnd type="none" w="med" len="med"/>
              <a:tailEnd type="none" w="sm" len="lg"/>
            </a:ln>
          </p:spPr>
        </p:sp>
        <p:sp>
          <p:nvSpPr>
            <p:cNvPr id="24584" name="Line 7"/>
            <p:cNvSpPr/>
            <p:nvPr/>
          </p:nvSpPr>
          <p:spPr>
            <a:xfrm>
              <a:off x="3288" y="408"/>
              <a:ext cx="0" cy="3756"/>
            </a:xfrm>
            <a:prstGeom prst="line">
              <a:avLst/>
            </a:prstGeom>
            <a:ln w="19050" cap="flat" cmpd="sng">
              <a:solidFill>
                <a:schemeClr val="tx1"/>
              </a:solidFill>
              <a:prstDash val="solid"/>
              <a:headEnd type="none" w="med" len="med"/>
              <a:tailEnd type="none" w="sm" len="lg"/>
            </a:ln>
          </p:spPr>
        </p:sp>
        <p:sp>
          <p:nvSpPr>
            <p:cNvPr id="24585" name="Line 8"/>
            <p:cNvSpPr/>
            <p:nvPr/>
          </p:nvSpPr>
          <p:spPr>
            <a:xfrm>
              <a:off x="1704" y="396"/>
              <a:ext cx="3336" cy="0"/>
            </a:xfrm>
            <a:prstGeom prst="line">
              <a:avLst/>
            </a:prstGeom>
            <a:ln w="12700" cap="flat" cmpd="sng">
              <a:solidFill>
                <a:schemeClr val="tx1"/>
              </a:solidFill>
              <a:prstDash val="solid"/>
              <a:headEnd type="none" w="med" len="med"/>
              <a:tailEnd type="none" w="sm" len="lg"/>
            </a:ln>
          </p:spPr>
        </p:sp>
        <p:sp>
          <p:nvSpPr>
            <p:cNvPr id="24586" name="Line 9"/>
            <p:cNvSpPr/>
            <p:nvPr/>
          </p:nvSpPr>
          <p:spPr>
            <a:xfrm>
              <a:off x="624" y="696"/>
              <a:ext cx="4404" cy="0"/>
            </a:xfrm>
            <a:prstGeom prst="line">
              <a:avLst/>
            </a:prstGeom>
            <a:ln w="12700" cap="flat" cmpd="sng">
              <a:solidFill>
                <a:schemeClr val="tx1"/>
              </a:solidFill>
              <a:prstDash val="solid"/>
              <a:headEnd type="none" w="med" len="med"/>
              <a:tailEnd type="none" w="sm" len="lg"/>
            </a:ln>
          </p:spPr>
        </p:sp>
        <p:sp>
          <p:nvSpPr>
            <p:cNvPr id="24587" name="Text Box 10"/>
            <p:cNvSpPr txBox="1"/>
            <p:nvPr/>
          </p:nvSpPr>
          <p:spPr>
            <a:xfrm>
              <a:off x="862" y="241"/>
              <a:ext cx="499" cy="290"/>
            </a:xfrm>
            <a:prstGeom prst="rect">
              <a:avLst/>
            </a:prstGeom>
            <a:noFill/>
            <a:ln w="19050">
              <a:noFill/>
            </a:ln>
          </p:spPr>
          <p:txBody>
            <a:bodyPr wrap="none">
              <a:spAutoFit/>
            </a:bodyPr>
            <a:lstStyle/>
            <a:p>
              <a:pPr algn="ctr"/>
              <a:r>
                <a:rPr lang="zh-CN" altLang="zh-CN" sz="2400" dirty="0">
                  <a:latin typeface="Times New Roman" panose="02020603050405020304" pitchFamily="18" charset="0"/>
                </a:rPr>
                <a:t>现态</a:t>
              </a:r>
            </a:p>
          </p:txBody>
        </p:sp>
        <p:sp>
          <p:nvSpPr>
            <p:cNvPr id="24588" name="Text Box 11"/>
            <p:cNvSpPr txBox="1"/>
            <p:nvPr/>
          </p:nvSpPr>
          <p:spPr>
            <a:xfrm>
              <a:off x="2818" y="122"/>
              <a:ext cx="936" cy="290"/>
            </a:xfrm>
            <a:prstGeom prst="rect">
              <a:avLst/>
            </a:prstGeom>
            <a:noFill/>
            <a:ln w="19050">
              <a:noFill/>
            </a:ln>
          </p:spPr>
          <p:txBody>
            <a:bodyPr wrap="none">
              <a:spAutoFit/>
            </a:bodyPr>
            <a:lstStyle/>
            <a:p>
              <a:pPr algn="ctr"/>
              <a:r>
                <a:rPr lang="zh-CN" altLang="en-US" sz="2400" dirty="0">
                  <a:latin typeface="Times New Roman" panose="02020603050405020304" pitchFamily="18" charset="0"/>
                </a:rPr>
                <a:t>次态</a:t>
              </a:r>
              <a:r>
                <a:rPr lang="en-US" altLang="zh-CN" sz="2400" dirty="0">
                  <a:latin typeface="Times New Roman" panose="02020603050405020304" pitchFamily="18" charset="0"/>
                </a:rPr>
                <a:t>/</a:t>
              </a:r>
              <a:r>
                <a:rPr lang="zh-CN" altLang="en-US" sz="2400" dirty="0">
                  <a:latin typeface="Times New Roman" panose="02020603050405020304" pitchFamily="18" charset="0"/>
                </a:rPr>
                <a:t>输出</a:t>
              </a:r>
              <a:endParaRPr lang="zh-CN" altLang="en-US" dirty="0">
                <a:latin typeface="Times New Roman" panose="02020603050405020304" pitchFamily="18" charset="0"/>
              </a:endParaRPr>
            </a:p>
          </p:txBody>
        </p:sp>
        <p:sp>
          <p:nvSpPr>
            <p:cNvPr id="24589" name="Text Box 12"/>
            <p:cNvSpPr txBox="1"/>
            <p:nvPr/>
          </p:nvSpPr>
          <p:spPr>
            <a:xfrm>
              <a:off x="2210" y="386"/>
              <a:ext cx="405" cy="290"/>
            </a:xfrm>
            <a:prstGeom prst="rect">
              <a:avLst/>
            </a:prstGeom>
            <a:noFill/>
            <a:ln w="19050">
              <a:noFill/>
            </a:ln>
          </p:spPr>
          <p:txBody>
            <a:bodyPr wrap="none">
              <a:spAutoFit/>
            </a:bodyPr>
            <a:lstStyle/>
            <a:p>
              <a:pPr algn="ctr"/>
              <a:r>
                <a:rPr lang="en-US" altLang="zh-CN" sz="2400" i="1" dirty="0">
                  <a:latin typeface="Times New Roman" panose="02020603050405020304" pitchFamily="18" charset="0"/>
                </a:rPr>
                <a:t>x</a:t>
              </a:r>
              <a:r>
                <a:rPr lang="en-US" altLang="zh-CN" sz="2400" dirty="0">
                  <a:latin typeface="Times New Roman" panose="02020603050405020304" pitchFamily="18" charset="0"/>
                </a:rPr>
                <a:t>=0</a:t>
              </a:r>
            </a:p>
          </p:txBody>
        </p:sp>
        <p:sp>
          <p:nvSpPr>
            <p:cNvPr id="24590" name="Text Box 13"/>
            <p:cNvSpPr txBox="1"/>
            <p:nvPr/>
          </p:nvSpPr>
          <p:spPr>
            <a:xfrm>
              <a:off x="3869" y="398"/>
              <a:ext cx="405" cy="290"/>
            </a:xfrm>
            <a:prstGeom prst="rect">
              <a:avLst/>
            </a:prstGeom>
            <a:noFill/>
            <a:ln w="19050">
              <a:noFill/>
            </a:ln>
          </p:spPr>
          <p:txBody>
            <a:bodyPr wrap="none">
              <a:spAutoFit/>
            </a:bodyPr>
            <a:lstStyle/>
            <a:p>
              <a:pPr algn="ct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p>
          </p:txBody>
        </p:sp>
        <p:sp>
          <p:nvSpPr>
            <p:cNvPr id="24591" name="Text Box 14"/>
            <p:cNvSpPr txBox="1"/>
            <p:nvPr/>
          </p:nvSpPr>
          <p:spPr>
            <a:xfrm>
              <a:off x="922" y="698"/>
              <a:ext cx="286" cy="3547"/>
            </a:xfrm>
            <a:prstGeom prst="rect">
              <a:avLst/>
            </a:prstGeom>
            <a:noFill/>
            <a:ln w="19050">
              <a:noFill/>
            </a:ln>
          </p:spPr>
          <p:txBody>
            <a:bodyPr wrap="none">
              <a:spAutoFit/>
            </a:bodyPr>
            <a:lstStyle/>
            <a:p>
              <a:pPr algn="ctr"/>
              <a:r>
                <a:rPr lang="en-US" altLang="zh-CN" sz="2400" dirty="0">
                  <a:latin typeface="Times New Roman" panose="02020603050405020304" pitchFamily="18" charset="0"/>
                </a:rPr>
                <a:t>A</a:t>
              </a:r>
            </a:p>
            <a:p>
              <a:pPr algn="ctr"/>
              <a:r>
                <a:rPr lang="en-US" altLang="zh-CN" sz="2400" dirty="0">
                  <a:latin typeface="Times New Roman" panose="02020603050405020304" pitchFamily="18" charset="0"/>
                </a:rPr>
                <a:t>B</a:t>
              </a:r>
            </a:p>
            <a:p>
              <a:pPr algn="ctr"/>
              <a:r>
                <a:rPr lang="en-US" altLang="zh-CN" sz="2400" dirty="0">
                  <a:latin typeface="Times New Roman" panose="02020603050405020304" pitchFamily="18" charset="0"/>
                </a:rPr>
                <a:t>C</a:t>
              </a:r>
            </a:p>
            <a:p>
              <a:pPr algn="ctr"/>
              <a:r>
                <a:rPr lang="en-US" altLang="zh-CN" sz="2400" dirty="0">
                  <a:latin typeface="Times New Roman" panose="02020603050405020304" pitchFamily="18" charset="0"/>
                </a:rPr>
                <a:t>D</a:t>
              </a:r>
            </a:p>
            <a:p>
              <a:pPr algn="ctr"/>
              <a:r>
                <a:rPr lang="en-US" altLang="zh-CN" sz="2400" dirty="0">
                  <a:latin typeface="Times New Roman" panose="02020603050405020304" pitchFamily="18" charset="0"/>
                </a:rPr>
                <a:t>E</a:t>
              </a:r>
            </a:p>
            <a:p>
              <a:pPr algn="ctr"/>
              <a:r>
                <a:rPr lang="en-US" altLang="zh-CN" sz="2400" dirty="0">
                  <a:latin typeface="Times New Roman" panose="02020603050405020304" pitchFamily="18" charset="0"/>
                </a:rPr>
                <a:t>F</a:t>
              </a:r>
            </a:p>
            <a:p>
              <a:pPr algn="ctr"/>
              <a:r>
                <a:rPr lang="en-US" altLang="zh-CN" sz="2400" dirty="0">
                  <a:latin typeface="Times New Roman" panose="02020603050405020304" pitchFamily="18" charset="0"/>
                </a:rPr>
                <a:t>G</a:t>
              </a:r>
            </a:p>
            <a:p>
              <a:pPr algn="ctr"/>
              <a:r>
                <a:rPr lang="en-US" altLang="zh-CN" sz="2400" dirty="0">
                  <a:latin typeface="Times New Roman" panose="02020603050405020304" pitchFamily="18" charset="0"/>
                </a:rPr>
                <a:t>H</a:t>
              </a:r>
            </a:p>
            <a:p>
              <a:pPr algn="ctr"/>
              <a:r>
                <a:rPr lang="en-US" altLang="zh-CN" sz="2400" dirty="0">
                  <a:latin typeface="Times New Roman" panose="02020603050405020304" pitchFamily="18" charset="0"/>
                </a:rPr>
                <a:t>I</a:t>
              </a:r>
            </a:p>
            <a:p>
              <a:pPr algn="ctr"/>
              <a:r>
                <a:rPr lang="en-US" altLang="zh-CN" sz="2400" dirty="0">
                  <a:latin typeface="Times New Roman" panose="02020603050405020304" pitchFamily="18" charset="0"/>
                </a:rPr>
                <a:t>J</a:t>
              </a:r>
            </a:p>
            <a:p>
              <a:pPr algn="ctr"/>
              <a:r>
                <a:rPr lang="en-US" altLang="zh-CN" sz="2400" dirty="0">
                  <a:latin typeface="Times New Roman" panose="02020603050405020304" pitchFamily="18" charset="0"/>
                </a:rPr>
                <a:t>K</a:t>
              </a:r>
            </a:p>
            <a:p>
              <a:pPr algn="ctr"/>
              <a:r>
                <a:rPr lang="en-US" altLang="zh-CN" sz="2400" dirty="0">
                  <a:latin typeface="Times New Roman" panose="02020603050405020304" pitchFamily="18" charset="0"/>
                </a:rPr>
                <a:t>L</a:t>
              </a:r>
            </a:p>
            <a:p>
              <a:pPr algn="ctr"/>
              <a:r>
                <a:rPr lang="en-US" altLang="zh-CN" sz="2400" dirty="0">
                  <a:latin typeface="Times New Roman" panose="02020603050405020304" pitchFamily="18" charset="0"/>
                </a:rPr>
                <a:t>M</a:t>
              </a:r>
            </a:p>
            <a:p>
              <a:pPr algn="ctr"/>
              <a:r>
                <a:rPr lang="en-US" altLang="zh-CN" sz="2400" dirty="0">
                  <a:latin typeface="Times New Roman" panose="02020603050405020304" pitchFamily="18" charset="0"/>
                </a:rPr>
                <a:t>N</a:t>
              </a:r>
            </a:p>
            <a:p>
              <a:pPr algn="ctr"/>
              <a:r>
                <a:rPr lang="en-US" altLang="zh-CN" sz="2400" dirty="0">
                  <a:latin typeface="Times New Roman" panose="02020603050405020304" pitchFamily="18" charset="0"/>
                </a:rPr>
                <a:t>P</a:t>
              </a:r>
              <a:endParaRPr lang="en-US" altLang="zh-CN" sz="2400" baseline="-25000" dirty="0">
                <a:latin typeface="Times New Roman" panose="02020603050405020304" pitchFamily="18" charset="0"/>
              </a:endParaRPr>
            </a:p>
          </p:txBody>
        </p:sp>
        <p:sp>
          <p:nvSpPr>
            <p:cNvPr id="24592" name="Text Box 15"/>
            <p:cNvSpPr txBox="1"/>
            <p:nvPr/>
          </p:nvSpPr>
          <p:spPr>
            <a:xfrm>
              <a:off x="2210" y="698"/>
              <a:ext cx="403" cy="3547"/>
            </a:xfrm>
            <a:prstGeom prst="rect">
              <a:avLst/>
            </a:prstGeom>
            <a:noFill/>
            <a:ln w="19050">
              <a:noFill/>
            </a:ln>
          </p:spPr>
          <p:txBody>
            <a:bodyPr wrap="none">
              <a:spAutoFit/>
            </a:bodyPr>
            <a:lstStyle/>
            <a:p>
              <a:pPr algn="ctr"/>
              <a:r>
                <a:rPr lang="en-US" altLang="zh-CN" sz="2400" dirty="0">
                  <a:latin typeface="Times New Roman" panose="02020603050405020304" pitchFamily="18" charset="0"/>
                </a:rPr>
                <a:t>B/0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D/0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J/0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F/0</a:t>
              </a:r>
            </a:p>
            <a:p>
              <a:pPr algn="ctr"/>
              <a:r>
                <a:rPr lang="en-US" altLang="zh-CN" sz="2400" dirty="0">
                  <a:latin typeface="Times New Roman" panose="02020603050405020304" pitchFamily="18" charset="0"/>
                </a:rPr>
                <a:t>H/0</a:t>
              </a:r>
            </a:p>
            <a:p>
              <a:pPr algn="ctr"/>
              <a:r>
                <a:rPr lang="en-US" altLang="zh-CN" sz="2400" dirty="0">
                  <a:latin typeface="Times New Roman" panose="02020603050405020304" pitchFamily="18" charset="0"/>
                </a:rPr>
                <a:t>A/0</a:t>
              </a:r>
            </a:p>
            <a:p>
              <a:pPr algn="ctr"/>
              <a:r>
                <a:rPr lang="en-US" altLang="zh-CN" sz="2400" dirty="0">
                  <a:latin typeface="Times New Roman" panose="02020603050405020304" pitchFamily="18" charset="0"/>
                </a:rPr>
                <a:t>A/0</a:t>
              </a:r>
            </a:p>
            <a:p>
              <a:pPr algn="ctr"/>
              <a:r>
                <a:rPr lang="en-US" altLang="zh-CN" sz="2400" dirty="0">
                  <a:latin typeface="Times New Roman" panose="02020603050405020304" pitchFamily="18" charset="0"/>
                </a:rPr>
                <a:t>A/0</a:t>
              </a:r>
            </a:p>
            <a:p>
              <a:pPr algn="ctr"/>
              <a:r>
                <a:rPr lang="en-US" altLang="zh-CN" sz="2400" dirty="0">
                  <a:latin typeface="Times New Roman" panose="02020603050405020304" pitchFamily="18" charset="0"/>
                </a:rPr>
                <a:t>A/0</a:t>
              </a:r>
            </a:p>
            <a:p>
              <a:pPr algn="ctr"/>
              <a:r>
                <a:rPr lang="en-US" altLang="zh-CN" sz="2400" dirty="0">
                  <a:latin typeface="Times New Roman" panose="02020603050405020304" pitchFamily="18" charset="0"/>
                </a:rPr>
                <a:t>L/0</a:t>
              </a:r>
            </a:p>
            <a:p>
              <a:pPr algn="ctr"/>
              <a:r>
                <a:rPr lang="en-US" altLang="zh-CN" sz="2400" dirty="0">
                  <a:latin typeface="Times New Roman" panose="02020603050405020304" pitchFamily="18" charset="0"/>
                </a:rPr>
                <a:t>N/0</a:t>
              </a:r>
            </a:p>
            <a:p>
              <a:pPr algn="ctr"/>
              <a:r>
                <a:rPr lang="en-US" altLang="zh-CN" sz="2400" dirty="0">
                  <a:latin typeface="Times New Roman" panose="02020603050405020304" pitchFamily="18" charset="0"/>
                </a:rPr>
                <a:t>A/0</a:t>
              </a:r>
            </a:p>
            <a:p>
              <a:pPr algn="ctr"/>
              <a:r>
                <a:rPr lang="en-US" altLang="zh-CN" sz="2400" dirty="0">
                  <a:latin typeface="Times New Roman" panose="02020603050405020304" pitchFamily="18" charset="0"/>
                </a:rPr>
                <a:t>A/1</a:t>
              </a:r>
            </a:p>
            <a:p>
              <a:pPr algn="ctr"/>
              <a:r>
                <a:rPr lang="en-US" altLang="zh-CN" sz="2400" dirty="0">
                  <a:latin typeface="Times New Roman" panose="02020603050405020304" pitchFamily="18" charset="0"/>
                </a:rPr>
                <a:t>A/1</a:t>
              </a:r>
            </a:p>
            <a:p>
              <a:pPr algn="ctr"/>
              <a:r>
                <a:rPr lang="en-US" altLang="zh-CN" sz="2400" dirty="0">
                  <a:latin typeface="Times New Roman" panose="02020603050405020304" pitchFamily="18" charset="0"/>
                </a:rPr>
                <a:t>A/1</a:t>
              </a:r>
            </a:p>
          </p:txBody>
        </p:sp>
        <p:sp>
          <p:nvSpPr>
            <p:cNvPr id="24593" name="Text Box 16"/>
            <p:cNvSpPr txBox="1"/>
            <p:nvPr/>
          </p:nvSpPr>
          <p:spPr>
            <a:xfrm>
              <a:off x="3869" y="698"/>
              <a:ext cx="435" cy="3547"/>
            </a:xfrm>
            <a:prstGeom prst="rect">
              <a:avLst/>
            </a:prstGeom>
            <a:noFill/>
            <a:ln w="19050">
              <a:noFill/>
            </a:ln>
          </p:spPr>
          <p:txBody>
            <a:bodyPr wrap="none">
              <a:spAutoFit/>
            </a:bodyPr>
            <a:lstStyle/>
            <a:p>
              <a:pPr algn="ctr"/>
              <a:r>
                <a:rPr lang="en-US" altLang="zh-CN" sz="2400" dirty="0">
                  <a:latin typeface="Times New Roman" panose="02020603050405020304" pitchFamily="18" charset="0"/>
                </a:rPr>
                <a:t>C/0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E/0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K/0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G/0</a:t>
              </a:r>
            </a:p>
            <a:p>
              <a:pPr algn="ctr"/>
              <a:r>
                <a:rPr lang="en-US" altLang="zh-CN" sz="2400" dirty="0">
                  <a:latin typeface="Times New Roman" panose="02020603050405020304" pitchFamily="18" charset="0"/>
                </a:rPr>
                <a:t>I/0</a:t>
              </a:r>
            </a:p>
            <a:p>
              <a:pPr algn="ctr"/>
              <a:r>
                <a:rPr lang="en-US" altLang="zh-CN" sz="2400" dirty="0">
                  <a:latin typeface="Times New Roman" panose="02020603050405020304" pitchFamily="18" charset="0"/>
                </a:rPr>
                <a:t>A/0</a:t>
              </a:r>
            </a:p>
            <a:p>
              <a:pPr algn="ctr"/>
              <a:r>
                <a:rPr lang="en-US" altLang="zh-CN" sz="2400" dirty="0">
                  <a:latin typeface="Times New Roman" panose="02020603050405020304" pitchFamily="18" charset="0"/>
                </a:rPr>
                <a:t>A/0</a:t>
              </a:r>
            </a:p>
            <a:p>
              <a:pPr algn="ctr"/>
              <a:r>
                <a:rPr lang="en-US" altLang="zh-CN" sz="2400" dirty="0">
                  <a:latin typeface="Times New Roman" panose="02020603050405020304" pitchFamily="18" charset="0"/>
                </a:rPr>
                <a:t>A/0</a:t>
              </a:r>
            </a:p>
            <a:p>
              <a:pPr algn="ctr"/>
              <a:r>
                <a:rPr lang="en-US" altLang="zh-CN" sz="2400" dirty="0">
                  <a:latin typeface="Times New Roman" panose="02020603050405020304" pitchFamily="18" charset="0"/>
                </a:rPr>
                <a:t>A/0</a:t>
              </a:r>
            </a:p>
            <a:p>
              <a:pPr algn="ctr"/>
              <a:r>
                <a:rPr lang="en-US" altLang="zh-CN" sz="2400" dirty="0">
                  <a:latin typeface="Times New Roman" panose="02020603050405020304" pitchFamily="18" charset="0"/>
                </a:rPr>
                <a:t>M/0</a:t>
              </a:r>
            </a:p>
            <a:p>
              <a:pPr algn="ctr"/>
              <a:r>
                <a:rPr lang="en-US" altLang="zh-CN" sz="2400" dirty="0">
                  <a:latin typeface="Times New Roman" panose="02020603050405020304" pitchFamily="18" charset="0"/>
                </a:rPr>
                <a:t>P/0</a:t>
              </a:r>
            </a:p>
            <a:p>
              <a:pPr algn="ctr"/>
              <a:r>
                <a:rPr lang="en-US" altLang="zh-CN" sz="2400" dirty="0">
                  <a:latin typeface="Times New Roman" panose="02020603050405020304" pitchFamily="18" charset="0"/>
                </a:rPr>
                <a:t>A/0</a:t>
              </a:r>
            </a:p>
            <a:p>
              <a:pPr algn="ctr"/>
              <a:r>
                <a:rPr lang="en-US" altLang="zh-CN" sz="2400" dirty="0">
                  <a:latin typeface="Times New Roman" panose="02020603050405020304" pitchFamily="18" charset="0"/>
                </a:rPr>
                <a:t>A/1</a:t>
              </a:r>
            </a:p>
            <a:p>
              <a:pPr algn="ctr"/>
              <a:r>
                <a:rPr lang="en-US" altLang="zh-CN" sz="2400" dirty="0">
                  <a:latin typeface="Times New Roman" panose="02020603050405020304" pitchFamily="18" charset="0"/>
                </a:rPr>
                <a:t>A/1</a:t>
              </a:r>
            </a:p>
            <a:p>
              <a:pPr algn="ctr"/>
              <a:r>
                <a:rPr lang="en-US" altLang="zh-CN" sz="2400" dirty="0">
                  <a:latin typeface="Times New Roman" panose="02020603050405020304" pitchFamily="18" charset="0"/>
                </a:rPr>
                <a:t>A/1</a:t>
              </a:r>
            </a:p>
          </p:txBody>
        </p:sp>
      </p:grpSp>
      <p:sp>
        <p:nvSpPr>
          <p:cNvPr id="24580" name="Text Box 17"/>
          <p:cNvSpPr txBox="1"/>
          <p:nvPr/>
        </p:nvSpPr>
        <p:spPr>
          <a:xfrm>
            <a:off x="440373" y="411163"/>
            <a:ext cx="551815" cy="2540000"/>
          </a:xfrm>
          <a:prstGeom prst="rect">
            <a:avLst/>
          </a:prstGeom>
          <a:noFill/>
          <a:ln w="19050">
            <a:noFill/>
          </a:ln>
        </p:spPr>
        <p:txBody>
          <a:bodyPr vert="eaVert" wrap="none">
            <a:spAutoFit/>
          </a:bodyPr>
          <a:lstStyle/>
          <a:p>
            <a:r>
              <a:rPr lang="zh-CN" altLang="zh-CN" sz="2400" b="1" dirty="0">
                <a:latin typeface="Times New Roman" panose="02020603050405020304" pitchFamily="18" charset="0"/>
              </a:rPr>
              <a:t>电路的原始状态</a:t>
            </a:r>
            <a:r>
              <a:rPr lang="zh-CN" altLang="en-US" sz="2400" b="1" dirty="0">
                <a:latin typeface="Times New Roman" panose="02020603050405020304" pitchFamily="18" charset="0"/>
              </a:rPr>
              <a:t>表</a:t>
            </a: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descr="羊皮纸"/>
          <p:cNvSpPr txBox="1"/>
          <p:nvPr/>
        </p:nvSpPr>
        <p:spPr>
          <a:xfrm>
            <a:off x="168275" y="638175"/>
            <a:ext cx="7392670" cy="1200150"/>
          </a:xfrm>
          <a:prstGeom prst="rect">
            <a:avLst/>
          </a:prstGeom>
          <a:noFill/>
          <a:ln w="38100">
            <a:noFill/>
          </a:ln>
        </p:spPr>
        <p:txBody>
          <a:bodyPr wrap="none" lIns="90000" tIns="46800" rIns="90000" bIns="46800">
            <a:spAutoFit/>
          </a:bodyPr>
          <a:lstStyle/>
          <a:p>
            <a:r>
              <a:rPr lang="zh-CN" altLang="en-US" sz="2400" b="1" dirty="0">
                <a:latin typeface="Times New Roman" panose="02020603050405020304" pitchFamily="18" charset="0"/>
              </a:rPr>
              <a:t>例</a:t>
            </a:r>
            <a:r>
              <a:rPr lang="zh-CN" altLang="en-US" sz="2400" dirty="0">
                <a:latin typeface="Times New Roman" panose="02020603050405020304" pitchFamily="18" charset="0"/>
              </a:rPr>
              <a:t>：假设有一个三位二进制加、减法器（模</a:t>
            </a:r>
            <a:r>
              <a:rPr lang="en-US" altLang="zh-CN" sz="2400" dirty="0">
                <a:latin typeface="Times New Roman" panose="02020603050405020304" pitchFamily="18" charset="0"/>
              </a:rPr>
              <a:t>8</a:t>
            </a:r>
            <a:r>
              <a:rPr lang="zh-CN" altLang="en-US" sz="2400" dirty="0">
                <a:latin typeface="Times New Roman" panose="02020603050405020304" pitchFamily="18" charset="0"/>
              </a:rPr>
              <a:t>计数器）</a:t>
            </a:r>
          </a:p>
          <a:p>
            <a:r>
              <a:rPr lang="zh-CN" altLang="en-US" sz="2400" dirty="0">
                <a:latin typeface="Times New Roman" panose="02020603050405020304" pitchFamily="18" charset="0"/>
              </a:rPr>
              <a:t>，当</a:t>
            </a:r>
            <a:r>
              <a:rPr lang="en-US" altLang="zh-CN" sz="2400" dirty="0">
                <a:latin typeface="Times New Roman" panose="02020603050405020304" pitchFamily="18" charset="0"/>
              </a:rPr>
              <a:t>X</a:t>
            </a:r>
            <a:r>
              <a:rPr lang="zh-CN" altLang="en-US" sz="2400" dirty="0">
                <a:latin typeface="Times New Roman" panose="02020603050405020304" pitchFamily="18" charset="0"/>
              </a:rPr>
              <a:t>输入为</a:t>
            </a:r>
            <a:r>
              <a:rPr lang="en-US" altLang="zh-CN" sz="2400" dirty="0">
                <a:latin typeface="Times New Roman" panose="02020603050405020304" pitchFamily="18" charset="0"/>
              </a:rPr>
              <a:t>1</a:t>
            </a:r>
            <a:r>
              <a:rPr lang="zh-CN" altLang="en-US" sz="2400" dirty="0">
                <a:latin typeface="Times New Roman" panose="02020603050405020304" pitchFamily="18" charset="0"/>
              </a:rPr>
              <a:t>时，实现加</a:t>
            </a:r>
            <a:r>
              <a:rPr lang="en-US" altLang="zh-CN" sz="2400" dirty="0">
                <a:latin typeface="Times New Roman" panose="02020603050405020304" pitchFamily="18" charset="0"/>
              </a:rPr>
              <a:t>1</a:t>
            </a:r>
            <a:r>
              <a:rPr lang="zh-CN" altLang="en-US" sz="2400" dirty="0">
                <a:latin typeface="Times New Roman" panose="02020603050405020304" pitchFamily="18" charset="0"/>
              </a:rPr>
              <a:t>计数；当</a:t>
            </a:r>
            <a:r>
              <a:rPr lang="en-US" altLang="zh-CN" sz="2400" dirty="0">
                <a:latin typeface="Times New Roman" panose="02020603050405020304" pitchFamily="18" charset="0"/>
              </a:rPr>
              <a:t>X</a:t>
            </a:r>
            <a:r>
              <a:rPr lang="zh-CN" altLang="en-US" sz="2400" dirty="0">
                <a:latin typeface="Times New Roman" panose="02020603050405020304" pitchFamily="18" charset="0"/>
              </a:rPr>
              <a:t>为</a:t>
            </a:r>
            <a:r>
              <a:rPr lang="en-US" altLang="zh-CN" sz="2400" dirty="0">
                <a:latin typeface="Times New Roman" panose="02020603050405020304" pitchFamily="18" charset="0"/>
              </a:rPr>
              <a:t>0</a:t>
            </a:r>
            <a:r>
              <a:rPr lang="zh-CN" altLang="en-US" sz="2400" dirty="0">
                <a:latin typeface="Times New Roman" panose="02020603050405020304" pitchFamily="18" charset="0"/>
              </a:rPr>
              <a:t>时，实现减</a:t>
            </a:r>
            <a:r>
              <a:rPr lang="en-US" altLang="zh-CN" sz="2400" dirty="0">
                <a:latin typeface="Times New Roman" panose="02020603050405020304" pitchFamily="18" charset="0"/>
              </a:rPr>
              <a:t>1</a:t>
            </a:r>
          </a:p>
          <a:p>
            <a:r>
              <a:rPr lang="zh-CN" altLang="en-US" sz="2400" dirty="0">
                <a:latin typeface="Times New Roman" panose="02020603050405020304" pitchFamily="18" charset="0"/>
              </a:rPr>
              <a:t>计数，试作出该电路的</a:t>
            </a:r>
            <a:r>
              <a:rPr lang="en-US" altLang="zh-CN" sz="2400" dirty="0">
                <a:latin typeface="Times New Roman" panose="02020603050405020304" pitchFamily="18" charset="0"/>
              </a:rPr>
              <a:t>Moore</a:t>
            </a:r>
            <a:r>
              <a:rPr lang="zh-CN" altLang="en-US" sz="2400" dirty="0">
                <a:latin typeface="Times New Roman" panose="02020603050405020304" pitchFamily="18" charset="0"/>
              </a:rPr>
              <a:t>型原始状态图和状态表。</a:t>
            </a:r>
          </a:p>
        </p:txBody>
      </p:sp>
      <p:sp>
        <p:nvSpPr>
          <p:cNvPr id="25603" name="Text Box 3" descr="羊皮纸"/>
          <p:cNvSpPr txBox="1"/>
          <p:nvPr/>
        </p:nvSpPr>
        <p:spPr>
          <a:xfrm>
            <a:off x="228600" y="2159000"/>
            <a:ext cx="791210" cy="461645"/>
          </a:xfrm>
          <a:prstGeom prst="rect">
            <a:avLst/>
          </a:prstGeom>
          <a:noFill/>
          <a:ln w="38100">
            <a:noFill/>
          </a:ln>
        </p:spPr>
        <p:txBody>
          <a:bodyPr wrap="none" lIns="90000" tIns="46800" rIns="90000" bIns="46800">
            <a:spAutoFit/>
          </a:bodyPr>
          <a:lstStyle/>
          <a:p>
            <a:r>
              <a:rPr lang="zh-CN" altLang="en-US" sz="2400" b="1" dirty="0">
                <a:solidFill>
                  <a:srgbClr val="FF3300"/>
                </a:solidFill>
                <a:latin typeface="Times New Roman" panose="02020603050405020304" pitchFamily="18" charset="0"/>
              </a:rPr>
              <a:t>解：</a:t>
            </a:r>
          </a:p>
        </p:txBody>
      </p:sp>
      <p:grpSp>
        <p:nvGrpSpPr>
          <p:cNvPr id="2" name="Group 4"/>
          <p:cNvGrpSpPr/>
          <p:nvPr/>
        </p:nvGrpSpPr>
        <p:grpSpPr>
          <a:xfrm>
            <a:off x="361950" y="2813050"/>
            <a:ext cx="8343900" cy="1062038"/>
            <a:chOff x="228" y="1772"/>
            <a:chExt cx="5256" cy="669"/>
          </a:xfrm>
        </p:grpSpPr>
        <p:sp>
          <p:nvSpPr>
            <p:cNvPr id="25625" name="Text Box 5"/>
            <p:cNvSpPr txBox="1"/>
            <p:nvPr/>
          </p:nvSpPr>
          <p:spPr>
            <a:xfrm>
              <a:off x="562" y="1772"/>
              <a:ext cx="403" cy="290"/>
            </a:xfrm>
            <a:prstGeom prst="rect">
              <a:avLst/>
            </a:prstGeom>
            <a:noFill/>
            <a:ln w="19050">
              <a:noFill/>
            </a:ln>
          </p:spPr>
          <p:txBody>
            <a:bodyPr wrap="none">
              <a:spAutoFit/>
            </a:bodyPr>
            <a:lstStyle/>
            <a:p>
              <a:r>
                <a:rPr lang="en-US" altLang="zh-CN" sz="2400" dirty="0">
                  <a:latin typeface="Times New Roman" panose="02020603050405020304" pitchFamily="18" charset="0"/>
                </a:rPr>
                <a:t>000</a:t>
              </a:r>
            </a:p>
          </p:txBody>
        </p:sp>
        <p:sp>
          <p:nvSpPr>
            <p:cNvPr id="25626" name="Text Box 6"/>
            <p:cNvSpPr txBox="1"/>
            <p:nvPr/>
          </p:nvSpPr>
          <p:spPr>
            <a:xfrm>
              <a:off x="1121" y="1772"/>
              <a:ext cx="389" cy="290"/>
            </a:xfrm>
            <a:prstGeom prst="rect">
              <a:avLst/>
            </a:prstGeom>
            <a:noFill/>
            <a:ln w="19050">
              <a:noFill/>
            </a:ln>
          </p:spPr>
          <p:txBody>
            <a:bodyPr wrap="none">
              <a:spAutoFit/>
            </a:bodyPr>
            <a:lstStyle/>
            <a:p>
              <a:r>
                <a:rPr lang="en-US" altLang="zh-CN" sz="2400" dirty="0">
                  <a:latin typeface="Times New Roman" panose="02020603050405020304" pitchFamily="18" charset="0"/>
                </a:rPr>
                <a:t>111</a:t>
              </a:r>
            </a:p>
          </p:txBody>
        </p:sp>
        <p:sp>
          <p:nvSpPr>
            <p:cNvPr id="25627" name="Text Box 7"/>
            <p:cNvSpPr txBox="1"/>
            <p:nvPr/>
          </p:nvSpPr>
          <p:spPr>
            <a:xfrm>
              <a:off x="1705" y="1772"/>
              <a:ext cx="396" cy="290"/>
            </a:xfrm>
            <a:prstGeom prst="rect">
              <a:avLst/>
            </a:prstGeom>
            <a:noFill/>
            <a:ln w="19050">
              <a:noFill/>
            </a:ln>
          </p:spPr>
          <p:txBody>
            <a:bodyPr wrap="none">
              <a:spAutoFit/>
            </a:bodyPr>
            <a:lstStyle/>
            <a:p>
              <a:r>
                <a:rPr lang="en-US" altLang="zh-CN" sz="2400" dirty="0">
                  <a:latin typeface="Times New Roman" panose="02020603050405020304" pitchFamily="18" charset="0"/>
                </a:rPr>
                <a:t>110</a:t>
              </a:r>
            </a:p>
          </p:txBody>
        </p:sp>
        <p:sp>
          <p:nvSpPr>
            <p:cNvPr id="25628" name="Text Box 8"/>
            <p:cNvSpPr txBox="1"/>
            <p:nvPr/>
          </p:nvSpPr>
          <p:spPr>
            <a:xfrm>
              <a:off x="2289" y="1772"/>
              <a:ext cx="403" cy="290"/>
            </a:xfrm>
            <a:prstGeom prst="rect">
              <a:avLst/>
            </a:prstGeom>
            <a:noFill/>
            <a:ln w="19050">
              <a:noFill/>
            </a:ln>
          </p:spPr>
          <p:txBody>
            <a:bodyPr wrap="none">
              <a:spAutoFit/>
            </a:bodyPr>
            <a:lstStyle/>
            <a:p>
              <a:r>
                <a:rPr lang="en-US" altLang="zh-CN" sz="2400" dirty="0">
                  <a:latin typeface="Times New Roman" panose="02020603050405020304" pitchFamily="18" charset="0"/>
                </a:rPr>
                <a:t>101</a:t>
              </a:r>
            </a:p>
          </p:txBody>
        </p:sp>
        <p:sp>
          <p:nvSpPr>
            <p:cNvPr id="25629" name="Line 9"/>
            <p:cNvSpPr/>
            <p:nvPr/>
          </p:nvSpPr>
          <p:spPr>
            <a:xfrm>
              <a:off x="960" y="1951"/>
              <a:ext cx="252" cy="1"/>
            </a:xfrm>
            <a:prstGeom prst="line">
              <a:avLst/>
            </a:prstGeom>
            <a:ln w="19050" cap="flat" cmpd="sng">
              <a:solidFill>
                <a:srgbClr val="3333FF"/>
              </a:solidFill>
              <a:prstDash val="solid"/>
              <a:headEnd type="none" w="med" len="med"/>
              <a:tailEnd type="triangle" w="sm" len="lg"/>
            </a:ln>
          </p:spPr>
        </p:sp>
        <p:sp>
          <p:nvSpPr>
            <p:cNvPr id="25630" name="Freeform 10"/>
            <p:cNvSpPr/>
            <p:nvPr/>
          </p:nvSpPr>
          <p:spPr>
            <a:xfrm>
              <a:off x="228" y="1955"/>
              <a:ext cx="5256" cy="486"/>
            </a:xfrm>
            <a:custGeom>
              <a:avLst/>
              <a:gdLst>
                <a:gd name="txL" fmla="*/ 0 w 2756"/>
                <a:gd name="txT" fmla="*/ 0 h 478"/>
                <a:gd name="txR" fmla="*/ 2756 w 2756"/>
                <a:gd name="txB" fmla="*/ 478 h 478"/>
              </a:gdLst>
              <a:ahLst/>
              <a:cxnLst>
                <a:cxn ang="0">
                  <a:pos x="9257" y="0"/>
                </a:cxn>
                <a:cxn ang="0">
                  <a:pos x="10024" y="0"/>
                </a:cxn>
                <a:cxn ang="0">
                  <a:pos x="10024" y="494"/>
                </a:cxn>
                <a:cxn ang="0">
                  <a:pos x="0" y="494"/>
                </a:cxn>
                <a:cxn ang="0">
                  <a:pos x="0" y="0"/>
                </a:cxn>
                <a:cxn ang="0">
                  <a:pos x="647" y="0"/>
                </a:cxn>
              </a:cxnLst>
              <a:rect l="txL" t="txT" r="txR" b="txB"/>
              <a:pathLst>
                <a:path w="2756" h="478">
                  <a:moveTo>
                    <a:pt x="2545" y="0"/>
                  </a:moveTo>
                  <a:lnTo>
                    <a:pt x="2756" y="0"/>
                  </a:lnTo>
                  <a:lnTo>
                    <a:pt x="2756" y="478"/>
                  </a:lnTo>
                  <a:lnTo>
                    <a:pt x="0" y="478"/>
                  </a:lnTo>
                  <a:lnTo>
                    <a:pt x="0" y="0"/>
                  </a:lnTo>
                  <a:lnTo>
                    <a:pt x="178" y="0"/>
                  </a:lnTo>
                </a:path>
              </a:pathLst>
            </a:custGeom>
            <a:noFill/>
            <a:ln w="19050" cap="flat" cmpd="sng">
              <a:solidFill>
                <a:srgbClr val="3333FF">
                  <a:alpha val="100000"/>
                </a:srgbClr>
              </a:solidFill>
              <a:prstDash val="solid"/>
              <a:round/>
              <a:headEnd type="none" w="med" len="med"/>
              <a:tailEnd type="triangle" w="sm" len="lg"/>
            </a:ln>
          </p:spPr>
          <p:txBody>
            <a:bodyPr/>
            <a:lstStyle/>
            <a:p>
              <a:endParaRPr lang="zh-CN" altLang="en-US" sz="2400"/>
            </a:p>
          </p:txBody>
        </p:sp>
        <p:sp>
          <p:nvSpPr>
            <p:cNvPr id="25631" name="Text Box 11"/>
            <p:cNvSpPr txBox="1"/>
            <p:nvPr/>
          </p:nvSpPr>
          <p:spPr>
            <a:xfrm>
              <a:off x="2850" y="1776"/>
              <a:ext cx="403" cy="290"/>
            </a:xfrm>
            <a:prstGeom prst="rect">
              <a:avLst/>
            </a:prstGeom>
            <a:noFill/>
            <a:ln w="19050">
              <a:noFill/>
            </a:ln>
          </p:spPr>
          <p:txBody>
            <a:bodyPr wrap="none">
              <a:spAutoFit/>
            </a:bodyPr>
            <a:lstStyle/>
            <a:p>
              <a:r>
                <a:rPr lang="en-US" altLang="zh-CN" sz="2400" dirty="0">
                  <a:latin typeface="Times New Roman" panose="02020603050405020304" pitchFamily="18" charset="0"/>
                </a:rPr>
                <a:t>100</a:t>
              </a:r>
            </a:p>
          </p:txBody>
        </p:sp>
        <p:sp>
          <p:nvSpPr>
            <p:cNvPr id="25632" name="Text Box 12"/>
            <p:cNvSpPr txBox="1"/>
            <p:nvPr/>
          </p:nvSpPr>
          <p:spPr>
            <a:xfrm>
              <a:off x="3457" y="1773"/>
              <a:ext cx="396" cy="290"/>
            </a:xfrm>
            <a:prstGeom prst="rect">
              <a:avLst/>
            </a:prstGeom>
            <a:noFill/>
            <a:ln w="19050">
              <a:noFill/>
            </a:ln>
          </p:spPr>
          <p:txBody>
            <a:bodyPr wrap="none">
              <a:spAutoFit/>
            </a:bodyPr>
            <a:lstStyle/>
            <a:p>
              <a:r>
                <a:rPr lang="en-US" altLang="zh-CN" sz="2400" dirty="0">
                  <a:latin typeface="Times New Roman" panose="02020603050405020304" pitchFamily="18" charset="0"/>
                </a:rPr>
                <a:t>011</a:t>
              </a:r>
            </a:p>
          </p:txBody>
        </p:sp>
        <p:sp>
          <p:nvSpPr>
            <p:cNvPr id="25633" name="Text Box 13"/>
            <p:cNvSpPr txBox="1"/>
            <p:nvPr/>
          </p:nvSpPr>
          <p:spPr>
            <a:xfrm>
              <a:off x="4041" y="1773"/>
              <a:ext cx="403" cy="290"/>
            </a:xfrm>
            <a:prstGeom prst="rect">
              <a:avLst/>
            </a:prstGeom>
            <a:noFill/>
            <a:ln w="19050">
              <a:noFill/>
            </a:ln>
          </p:spPr>
          <p:txBody>
            <a:bodyPr wrap="none">
              <a:spAutoFit/>
            </a:bodyPr>
            <a:lstStyle/>
            <a:p>
              <a:r>
                <a:rPr lang="en-US" altLang="zh-CN" sz="2400" dirty="0">
                  <a:latin typeface="Times New Roman" panose="02020603050405020304" pitchFamily="18" charset="0"/>
                </a:rPr>
                <a:t>010</a:t>
              </a:r>
            </a:p>
          </p:txBody>
        </p:sp>
        <p:sp>
          <p:nvSpPr>
            <p:cNvPr id="25634" name="Text Box 14"/>
            <p:cNvSpPr txBox="1"/>
            <p:nvPr/>
          </p:nvSpPr>
          <p:spPr>
            <a:xfrm>
              <a:off x="4685" y="1773"/>
              <a:ext cx="403" cy="290"/>
            </a:xfrm>
            <a:prstGeom prst="rect">
              <a:avLst/>
            </a:prstGeom>
            <a:noFill/>
            <a:ln w="19050">
              <a:noFill/>
            </a:ln>
          </p:spPr>
          <p:txBody>
            <a:bodyPr wrap="none">
              <a:spAutoFit/>
            </a:bodyPr>
            <a:lstStyle/>
            <a:p>
              <a:r>
                <a:rPr lang="en-US" altLang="zh-CN" sz="2400" dirty="0">
                  <a:latin typeface="Times New Roman" panose="02020603050405020304" pitchFamily="18" charset="0"/>
                </a:rPr>
                <a:t>001</a:t>
              </a:r>
            </a:p>
          </p:txBody>
        </p:sp>
        <p:sp>
          <p:nvSpPr>
            <p:cNvPr id="25635" name="Line 15"/>
            <p:cNvSpPr/>
            <p:nvPr/>
          </p:nvSpPr>
          <p:spPr>
            <a:xfrm>
              <a:off x="1523" y="1955"/>
              <a:ext cx="252" cy="1"/>
            </a:xfrm>
            <a:prstGeom prst="line">
              <a:avLst/>
            </a:prstGeom>
            <a:ln w="19050" cap="flat" cmpd="sng">
              <a:solidFill>
                <a:srgbClr val="3333FF"/>
              </a:solidFill>
              <a:prstDash val="solid"/>
              <a:headEnd type="none" w="med" len="med"/>
              <a:tailEnd type="triangle" w="sm" len="lg"/>
            </a:ln>
          </p:spPr>
        </p:sp>
        <p:sp>
          <p:nvSpPr>
            <p:cNvPr id="25636" name="Line 16"/>
            <p:cNvSpPr/>
            <p:nvPr/>
          </p:nvSpPr>
          <p:spPr>
            <a:xfrm>
              <a:off x="2112" y="1954"/>
              <a:ext cx="252" cy="1"/>
            </a:xfrm>
            <a:prstGeom prst="line">
              <a:avLst/>
            </a:prstGeom>
            <a:ln w="19050" cap="flat" cmpd="sng">
              <a:solidFill>
                <a:srgbClr val="3333FF"/>
              </a:solidFill>
              <a:prstDash val="solid"/>
              <a:headEnd type="none" w="med" len="med"/>
              <a:tailEnd type="triangle" w="sm" len="lg"/>
            </a:ln>
          </p:spPr>
        </p:sp>
        <p:sp>
          <p:nvSpPr>
            <p:cNvPr id="25637" name="Line 17"/>
            <p:cNvSpPr/>
            <p:nvPr/>
          </p:nvSpPr>
          <p:spPr>
            <a:xfrm>
              <a:off x="2670" y="1955"/>
              <a:ext cx="252" cy="1"/>
            </a:xfrm>
            <a:prstGeom prst="line">
              <a:avLst/>
            </a:prstGeom>
            <a:ln w="19050" cap="flat" cmpd="sng">
              <a:solidFill>
                <a:srgbClr val="3333FF"/>
              </a:solidFill>
              <a:prstDash val="solid"/>
              <a:headEnd type="none" w="med" len="med"/>
              <a:tailEnd type="triangle" w="sm" len="lg"/>
            </a:ln>
          </p:spPr>
        </p:sp>
        <p:sp>
          <p:nvSpPr>
            <p:cNvPr id="25638" name="Line 18"/>
            <p:cNvSpPr/>
            <p:nvPr/>
          </p:nvSpPr>
          <p:spPr>
            <a:xfrm>
              <a:off x="3251" y="1949"/>
              <a:ext cx="252" cy="1"/>
            </a:xfrm>
            <a:prstGeom prst="line">
              <a:avLst/>
            </a:prstGeom>
            <a:ln w="19050" cap="flat" cmpd="sng">
              <a:solidFill>
                <a:srgbClr val="3333FF"/>
              </a:solidFill>
              <a:prstDash val="solid"/>
              <a:headEnd type="none" w="med" len="med"/>
              <a:tailEnd type="triangle" w="sm" len="lg"/>
            </a:ln>
          </p:spPr>
        </p:sp>
        <p:sp>
          <p:nvSpPr>
            <p:cNvPr id="25639" name="Line 19"/>
            <p:cNvSpPr/>
            <p:nvPr/>
          </p:nvSpPr>
          <p:spPr>
            <a:xfrm>
              <a:off x="3830" y="1949"/>
              <a:ext cx="252" cy="1"/>
            </a:xfrm>
            <a:prstGeom prst="line">
              <a:avLst/>
            </a:prstGeom>
            <a:ln w="19050" cap="flat" cmpd="sng">
              <a:solidFill>
                <a:srgbClr val="3333FF"/>
              </a:solidFill>
              <a:prstDash val="solid"/>
              <a:headEnd type="none" w="med" len="med"/>
              <a:tailEnd type="triangle" w="sm" len="lg"/>
            </a:ln>
          </p:spPr>
        </p:sp>
        <p:sp>
          <p:nvSpPr>
            <p:cNvPr id="25640" name="Line 20"/>
            <p:cNvSpPr/>
            <p:nvPr/>
          </p:nvSpPr>
          <p:spPr>
            <a:xfrm>
              <a:off x="4456" y="1949"/>
              <a:ext cx="252" cy="1"/>
            </a:xfrm>
            <a:prstGeom prst="line">
              <a:avLst/>
            </a:prstGeom>
            <a:ln w="19050" cap="flat" cmpd="sng">
              <a:solidFill>
                <a:srgbClr val="3333FF"/>
              </a:solidFill>
              <a:prstDash val="solid"/>
              <a:headEnd type="none" w="med" len="med"/>
              <a:tailEnd type="triangle" w="sm" len="lg"/>
            </a:ln>
          </p:spPr>
        </p:sp>
      </p:grpSp>
      <p:grpSp>
        <p:nvGrpSpPr>
          <p:cNvPr id="3" name="Group 21"/>
          <p:cNvGrpSpPr/>
          <p:nvPr/>
        </p:nvGrpSpPr>
        <p:grpSpPr>
          <a:xfrm>
            <a:off x="349250" y="4495800"/>
            <a:ext cx="8343900" cy="1062038"/>
            <a:chOff x="220" y="2832"/>
            <a:chExt cx="5256" cy="669"/>
          </a:xfrm>
        </p:grpSpPr>
        <p:sp>
          <p:nvSpPr>
            <p:cNvPr id="25609" name="Text Box 22"/>
            <p:cNvSpPr txBox="1"/>
            <p:nvPr/>
          </p:nvSpPr>
          <p:spPr>
            <a:xfrm>
              <a:off x="554" y="2832"/>
              <a:ext cx="403" cy="290"/>
            </a:xfrm>
            <a:prstGeom prst="rect">
              <a:avLst/>
            </a:prstGeom>
            <a:noFill/>
            <a:ln w="19050">
              <a:noFill/>
            </a:ln>
          </p:spPr>
          <p:txBody>
            <a:bodyPr wrap="none">
              <a:spAutoFit/>
            </a:bodyPr>
            <a:lstStyle/>
            <a:p>
              <a:r>
                <a:rPr lang="en-US" altLang="zh-CN" sz="2400" dirty="0">
                  <a:latin typeface="Times New Roman" panose="02020603050405020304" pitchFamily="18" charset="0"/>
                </a:rPr>
                <a:t>000</a:t>
              </a:r>
            </a:p>
          </p:txBody>
        </p:sp>
        <p:sp>
          <p:nvSpPr>
            <p:cNvPr id="25610" name="Text Box 23"/>
            <p:cNvSpPr txBox="1"/>
            <p:nvPr/>
          </p:nvSpPr>
          <p:spPr>
            <a:xfrm>
              <a:off x="1113" y="2832"/>
              <a:ext cx="403" cy="290"/>
            </a:xfrm>
            <a:prstGeom prst="rect">
              <a:avLst/>
            </a:prstGeom>
            <a:noFill/>
            <a:ln w="19050">
              <a:noFill/>
            </a:ln>
          </p:spPr>
          <p:txBody>
            <a:bodyPr wrap="none">
              <a:spAutoFit/>
            </a:bodyPr>
            <a:lstStyle/>
            <a:p>
              <a:r>
                <a:rPr lang="en-US" altLang="zh-CN" sz="2400" dirty="0">
                  <a:latin typeface="Times New Roman" panose="02020603050405020304" pitchFamily="18" charset="0"/>
                </a:rPr>
                <a:t>001</a:t>
              </a:r>
            </a:p>
          </p:txBody>
        </p:sp>
        <p:sp>
          <p:nvSpPr>
            <p:cNvPr id="25611" name="Text Box 24"/>
            <p:cNvSpPr txBox="1"/>
            <p:nvPr/>
          </p:nvSpPr>
          <p:spPr>
            <a:xfrm>
              <a:off x="1697" y="2832"/>
              <a:ext cx="403" cy="290"/>
            </a:xfrm>
            <a:prstGeom prst="rect">
              <a:avLst/>
            </a:prstGeom>
            <a:noFill/>
            <a:ln w="19050">
              <a:noFill/>
            </a:ln>
          </p:spPr>
          <p:txBody>
            <a:bodyPr wrap="none">
              <a:spAutoFit/>
            </a:bodyPr>
            <a:lstStyle/>
            <a:p>
              <a:r>
                <a:rPr lang="en-US" altLang="zh-CN" sz="2400" dirty="0">
                  <a:latin typeface="Times New Roman" panose="02020603050405020304" pitchFamily="18" charset="0"/>
                </a:rPr>
                <a:t>010</a:t>
              </a:r>
            </a:p>
          </p:txBody>
        </p:sp>
        <p:sp>
          <p:nvSpPr>
            <p:cNvPr id="25612" name="Text Box 25"/>
            <p:cNvSpPr txBox="1"/>
            <p:nvPr/>
          </p:nvSpPr>
          <p:spPr>
            <a:xfrm>
              <a:off x="2281" y="2832"/>
              <a:ext cx="396" cy="290"/>
            </a:xfrm>
            <a:prstGeom prst="rect">
              <a:avLst/>
            </a:prstGeom>
            <a:noFill/>
            <a:ln w="19050">
              <a:noFill/>
            </a:ln>
          </p:spPr>
          <p:txBody>
            <a:bodyPr wrap="none">
              <a:spAutoFit/>
            </a:bodyPr>
            <a:lstStyle/>
            <a:p>
              <a:r>
                <a:rPr lang="en-US" altLang="zh-CN" sz="2400" dirty="0">
                  <a:latin typeface="Times New Roman" panose="02020603050405020304" pitchFamily="18" charset="0"/>
                </a:rPr>
                <a:t>011</a:t>
              </a:r>
            </a:p>
          </p:txBody>
        </p:sp>
        <p:sp>
          <p:nvSpPr>
            <p:cNvPr id="25613" name="Line 26"/>
            <p:cNvSpPr/>
            <p:nvPr/>
          </p:nvSpPr>
          <p:spPr>
            <a:xfrm>
              <a:off x="952" y="3011"/>
              <a:ext cx="252" cy="1"/>
            </a:xfrm>
            <a:prstGeom prst="line">
              <a:avLst/>
            </a:prstGeom>
            <a:ln w="19050" cap="flat" cmpd="sng">
              <a:solidFill>
                <a:srgbClr val="3333FF"/>
              </a:solidFill>
              <a:prstDash val="solid"/>
              <a:headEnd type="none" w="med" len="med"/>
              <a:tailEnd type="triangle" w="sm" len="lg"/>
            </a:ln>
          </p:spPr>
        </p:sp>
        <p:sp>
          <p:nvSpPr>
            <p:cNvPr id="25614" name="Freeform 27"/>
            <p:cNvSpPr/>
            <p:nvPr/>
          </p:nvSpPr>
          <p:spPr>
            <a:xfrm>
              <a:off x="220" y="3015"/>
              <a:ext cx="5256" cy="486"/>
            </a:xfrm>
            <a:custGeom>
              <a:avLst/>
              <a:gdLst>
                <a:gd name="txL" fmla="*/ 0 w 2756"/>
                <a:gd name="txT" fmla="*/ 0 h 478"/>
                <a:gd name="txR" fmla="*/ 2756 w 2756"/>
                <a:gd name="txB" fmla="*/ 478 h 478"/>
              </a:gdLst>
              <a:ahLst/>
              <a:cxnLst>
                <a:cxn ang="0">
                  <a:pos x="9257" y="0"/>
                </a:cxn>
                <a:cxn ang="0">
                  <a:pos x="10024" y="0"/>
                </a:cxn>
                <a:cxn ang="0">
                  <a:pos x="10024" y="494"/>
                </a:cxn>
                <a:cxn ang="0">
                  <a:pos x="0" y="494"/>
                </a:cxn>
                <a:cxn ang="0">
                  <a:pos x="0" y="0"/>
                </a:cxn>
                <a:cxn ang="0">
                  <a:pos x="647" y="0"/>
                </a:cxn>
              </a:cxnLst>
              <a:rect l="txL" t="txT" r="txR" b="txB"/>
              <a:pathLst>
                <a:path w="2756" h="478">
                  <a:moveTo>
                    <a:pt x="2545" y="0"/>
                  </a:moveTo>
                  <a:lnTo>
                    <a:pt x="2756" y="0"/>
                  </a:lnTo>
                  <a:lnTo>
                    <a:pt x="2756" y="478"/>
                  </a:lnTo>
                  <a:lnTo>
                    <a:pt x="0" y="478"/>
                  </a:lnTo>
                  <a:lnTo>
                    <a:pt x="0" y="0"/>
                  </a:lnTo>
                  <a:lnTo>
                    <a:pt x="178" y="0"/>
                  </a:lnTo>
                </a:path>
              </a:pathLst>
            </a:custGeom>
            <a:noFill/>
            <a:ln w="19050" cap="flat" cmpd="sng">
              <a:solidFill>
                <a:srgbClr val="3333FF">
                  <a:alpha val="100000"/>
                </a:srgbClr>
              </a:solidFill>
              <a:prstDash val="solid"/>
              <a:round/>
              <a:headEnd type="none" w="med" len="med"/>
              <a:tailEnd type="triangle" w="sm" len="lg"/>
            </a:ln>
          </p:spPr>
          <p:txBody>
            <a:bodyPr/>
            <a:lstStyle/>
            <a:p>
              <a:endParaRPr lang="zh-CN" altLang="en-US" sz="2400"/>
            </a:p>
          </p:txBody>
        </p:sp>
        <p:sp>
          <p:nvSpPr>
            <p:cNvPr id="25615" name="Text Box 28"/>
            <p:cNvSpPr txBox="1"/>
            <p:nvPr/>
          </p:nvSpPr>
          <p:spPr>
            <a:xfrm>
              <a:off x="2842" y="2836"/>
              <a:ext cx="403" cy="290"/>
            </a:xfrm>
            <a:prstGeom prst="rect">
              <a:avLst/>
            </a:prstGeom>
            <a:noFill/>
            <a:ln w="19050">
              <a:noFill/>
            </a:ln>
          </p:spPr>
          <p:txBody>
            <a:bodyPr wrap="none">
              <a:spAutoFit/>
            </a:bodyPr>
            <a:lstStyle/>
            <a:p>
              <a:r>
                <a:rPr lang="en-US" altLang="zh-CN" sz="2400" dirty="0">
                  <a:latin typeface="Times New Roman" panose="02020603050405020304" pitchFamily="18" charset="0"/>
                </a:rPr>
                <a:t>100</a:t>
              </a:r>
            </a:p>
          </p:txBody>
        </p:sp>
        <p:sp>
          <p:nvSpPr>
            <p:cNvPr id="25616" name="Text Box 29"/>
            <p:cNvSpPr txBox="1"/>
            <p:nvPr/>
          </p:nvSpPr>
          <p:spPr>
            <a:xfrm>
              <a:off x="3449" y="2833"/>
              <a:ext cx="403" cy="290"/>
            </a:xfrm>
            <a:prstGeom prst="rect">
              <a:avLst/>
            </a:prstGeom>
            <a:noFill/>
            <a:ln w="19050">
              <a:noFill/>
            </a:ln>
          </p:spPr>
          <p:txBody>
            <a:bodyPr wrap="none">
              <a:spAutoFit/>
            </a:bodyPr>
            <a:lstStyle/>
            <a:p>
              <a:r>
                <a:rPr lang="en-US" altLang="zh-CN" sz="2400" dirty="0">
                  <a:latin typeface="Times New Roman" panose="02020603050405020304" pitchFamily="18" charset="0"/>
                </a:rPr>
                <a:t>101</a:t>
              </a:r>
            </a:p>
          </p:txBody>
        </p:sp>
        <p:sp>
          <p:nvSpPr>
            <p:cNvPr id="25617" name="Text Box 30"/>
            <p:cNvSpPr txBox="1"/>
            <p:nvPr/>
          </p:nvSpPr>
          <p:spPr>
            <a:xfrm>
              <a:off x="4033" y="2833"/>
              <a:ext cx="396" cy="290"/>
            </a:xfrm>
            <a:prstGeom prst="rect">
              <a:avLst/>
            </a:prstGeom>
            <a:noFill/>
            <a:ln w="19050">
              <a:noFill/>
            </a:ln>
          </p:spPr>
          <p:txBody>
            <a:bodyPr wrap="none">
              <a:spAutoFit/>
            </a:bodyPr>
            <a:lstStyle/>
            <a:p>
              <a:r>
                <a:rPr lang="en-US" altLang="zh-CN" sz="2400" dirty="0">
                  <a:latin typeface="Times New Roman" panose="02020603050405020304" pitchFamily="18" charset="0"/>
                </a:rPr>
                <a:t>110</a:t>
              </a:r>
            </a:p>
          </p:txBody>
        </p:sp>
        <p:sp>
          <p:nvSpPr>
            <p:cNvPr id="25618" name="Text Box 31"/>
            <p:cNvSpPr txBox="1"/>
            <p:nvPr/>
          </p:nvSpPr>
          <p:spPr>
            <a:xfrm>
              <a:off x="4677" y="2833"/>
              <a:ext cx="389" cy="290"/>
            </a:xfrm>
            <a:prstGeom prst="rect">
              <a:avLst/>
            </a:prstGeom>
            <a:noFill/>
            <a:ln w="19050">
              <a:noFill/>
            </a:ln>
          </p:spPr>
          <p:txBody>
            <a:bodyPr wrap="none">
              <a:spAutoFit/>
            </a:bodyPr>
            <a:lstStyle/>
            <a:p>
              <a:r>
                <a:rPr lang="en-US" altLang="zh-CN" sz="2400" dirty="0">
                  <a:latin typeface="Times New Roman" panose="02020603050405020304" pitchFamily="18" charset="0"/>
                </a:rPr>
                <a:t>111</a:t>
              </a:r>
            </a:p>
          </p:txBody>
        </p:sp>
        <p:sp>
          <p:nvSpPr>
            <p:cNvPr id="25619" name="Line 32"/>
            <p:cNvSpPr/>
            <p:nvPr/>
          </p:nvSpPr>
          <p:spPr>
            <a:xfrm>
              <a:off x="1515" y="3015"/>
              <a:ext cx="252" cy="1"/>
            </a:xfrm>
            <a:prstGeom prst="line">
              <a:avLst/>
            </a:prstGeom>
            <a:ln w="19050" cap="flat" cmpd="sng">
              <a:solidFill>
                <a:srgbClr val="3333FF"/>
              </a:solidFill>
              <a:prstDash val="solid"/>
              <a:headEnd type="none" w="med" len="med"/>
              <a:tailEnd type="triangle" w="sm" len="lg"/>
            </a:ln>
          </p:spPr>
        </p:sp>
        <p:sp>
          <p:nvSpPr>
            <p:cNvPr id="25620" name="Line 33"/>
            <p:cNvSpPr/>
            <p:nvPr/>
          </p:nvSpPr>
          <p:spPr>
            <a:xfrm>
              <a:off x="2104" y="3014"/>
              <a:ext cx="252" cy="1"/>
            </a:xfrm>
            <a:prstGeom prst="line">
              <a:avLst/>
            </a:prstGeom>
            <a:ln w="19050" cap="flat" cmpd="sng">
              <a:solidFill>
                <a:srgbClr val="3333FF"/>
              </a:solidFill>
              <a:prstDash val="solid"/>
              <a:headEnd type="none" w="med" len="med"/>
              <a:tailEnd type="triangle" w="sm" len="lg"/>
            </a:ln>
          </p:spPr>
        </p:sp>
        <p:sp>
          <p:nvSpPr>
            <p:cNvPr id="25621" name="Line 34"/>
            <p:cNvSpPr/>
            <p:nvPr/>
          </p:nvSpPr>
          <p:spPr>
            <a:xfrm>
              <a:off x="2662" y="3015"/>
              <a:ext cx="252" cy="1"/>
            </a:xfrm>
            <a:prstGeom prst="line">
              <a:avLst/>
            </a:prstGeom>
            <a:ln w="19050" cap="flat" cmpd="sng">
              <a:solidFill>
                <a:srgbClr val="3333FF"/>
              </a:solidFill>
              <a:prstDash val="solid"/>
              <a:headEnd type="none" w="med" len="med"/>
              <a:tailEnd type="triangle" w="sm" len="lg"/>
            </a:ln>
          </p:spPr>
        </p:sp>
        <p:sp>
          <p:nvSpPr>
            <p:cNvPr id="25622" name="Line 35"/>
            <p:cNvSpPr/>
            <p:nvPr/>
          </p:nvSpPr>
          <p:spPr>
            <a:xfrm>
              <a:off x="3243" y="3009"/>
              <a:ext cx="252" cy="1"/>
            </a:xfrm>
            <a:prstGeom prst="line">
              <a:avLst/>
            </a:prstGeom>
            <a:ln w="19050" cap="flat" cmpd="sng">
              <a:solidFill>
                <a:srgbClr val="3333FF"/>
              </a:solidFill>
              <a:prstDash val="solid"/>
              <a:headEnd type="none" w="med" len="med"/>
              <a:tailEnd type="triangle" w="sm" len="lg"/>
            </a:ln>
          </p:spPr>
        </p:sp>
        <p:sp>
          <p:nvSpPr>
            <p:cNvPr id="25623" name="Line 36"/>
            <p:cNvSpPr/>
            <p:nvPr/>
          </p:nvSpPr>
          <p:spPr>
            <a:xfrm>
              <a:off x="3822" y="3009"/>
              <a:ext cx="252" cy="1"/>
            </a:xfrm>
            <a:prstGeom prst="line">
              <a:avLst/>
            </a:prstGeom>
            <a:ln w="19050" cap="flat" cmpd="sng">
              <a:solidFill>
                <a:srgbClr val="3333FF"/>
              </a:solidFill>
              <a:prstDash val="solid"/>
              <a:headEnd type="none" w="med" len="med"/>
              <a:tailEnd type="triangle" w="sm" len="lg"/>
            </a:ln>
          </p:spPr>
        </p:sp>
        <p:sp>
          <p:nvSpPr>
            <p:cNvPr id="25624" name="Line 37"/>
            <p:cNvSpPr/>
            <p:nvPr/>
          </p:nvSpPr>
          <p:spPr>
            <a:xfrm>
              <a:off x="4448" y="3009"/>
              <a:ext cx="252" cy="1"/>
            </a:xfrm>
            <a:prstGeom prst="line">
              <a:avLst/>
            </a:prstGeom>
            <a:ln w="19050" cap="flat" cmpd="sng">
              <a:solidFill>
                <a:srgbClr val="3333FF"/>
              </a:solidFill>
              <a:prstDash val="solid"/>
              <a:headEnd type="none" w="med" len="med"/>
              <a:tailEnd type="triangle" w="sm" len="lg"/>
            </a:ln>
          </p:spPr>
        </p:sp>
      </p:grpSp>
      <p:sp>
        <p:nvSpPr>
          <p:cNvPr id="237606" name="Text Box 38" descr="羊皮纸"/>
          <p:cNvSpPr txBox="1"/>
          <p:nvPr/>
        </p:nvSpPr>
        <p:spPr>
          <a:xfrm>
            <a:off x="1128713" y="2238375"/>
            <a:ext cx="1771015" cy="461645"/>
          </a:xfrm>
          <a:prstGeom prst="rect">
            <a:avLst/>
          </a:prstGeom>
          <a:noFill/>
          <a:ln w="38100">
            <a:noFill/>
          </a:ln>
        </p:spPr>
        <p:txBody>
          <a:bodyPr wrap="none" lIns="90000" tIns="46800" rIns="90000" bIns="46800">
            <a:spAutoFit/>
          </a:bodyPr>
          <a:lstStyle/>
          <a:p>
            <a:r>
              <a:rPr lang="zh-CN" altLang="en-US" sz="2400" dirty="0">
                <a:latin typeface="Times New Roman" panose="02020603050405020304" pitchFamily="18" charset="0"/>
              </a:rPr>
              <a:t>当</a:t>
            </a:r>
            <a:r>
              <a:rPr lang="en-US" altLang="zh-CN" sz="2400" dirty="0">
                <a:latin typeface="Times New Roman" panose="02020603050405020304" pitchFamily="18" charset="0"/>
              </a:rPr>
              <a:t>X</a:t>
            </a:r>
            <a:r>
              <a:rPr lang="zh-CN" altLang="en-US" sz="2400" dirty="0">
                <a:latin typeface="Times New Roman" panose="02020603050405020304" pitchFamily="18" charset="0"/>
              </a:rPr>
              <a:t>为</a:t>
            </a:r>
            <a:r>
              <a:rPr lang="en-US" altLang="zh-CN" sz="2400" dirty="0">
                <a:latin typeface="Times New Roman" panose="02020603050405020304" pitchFamily="18" charset="0"/>
              </a:rPr>
              <a:t>0</a:t>
            </a:r>
            <a:r>
              <a:rPr lang="zh-CN" altLang="en-US" sz="2400" dirty="0">
                <a:latin typeface="Times New Roman" panose="02020603050405020304" pitchFamily="18" charset="0"/>
              </a:rPr>
              <a:t>时：</a:t>
            </a:r>
          </a:p>
        </p:txBody>
      </p:sp>
      <p:sp>
        <p:nvSpPr>
          <p:cNvPr id="237607" name="Text Box 39" descr="羊皮纸"/>
          <p:cNvSpPr txBox="1"/>
          <p:nvPr/>
        </p:nvSpPr>
        <p:spPr>
          <a:xfrm>
            <a:off x="1147763" y="3971925"/>
            <a:ext cx="1771015" cy="461645"/>
          </a:xfrm>
          <a:prstGeom prst="rect">
            <a:avLst/>
          </a:prstGeom>
          <a:noFill/>
          <a:ln w="38100">
            <a:noFill/>
          </a:ln>
        </p:spPr>
        <p:txBody>
          <a:bodyPr wrap="none" lIns="90000" tIns="46800" rIns="90000" bIns="46800">
            <a:spAutoFit/>
          </a:bodyPr>
          <a:lstStyle/>
          <a:p>
            <a:r>
              <a:rPr lang="zh-CN" altLang="en-US" sz="2400" dirty="0">
                <a:latin typeface="Times New Roman" panose="02020603050405020304" pitchFamily="18" charset="0"/>
              </a:rPr>
              <a:t>当</a:t>
            </a:r>
            <a:r>
              <a:rPr lang="en-US" altLang="zh-CN" sz="2400" dirty="0">
                <a:latin typeface="Times New Roman" panose="02020603050405020304" pitchFamily="18" charset="0"/>
              </a:rPr>
              <a:t>X</a:t>
            </a:r>
            <a:r>
              <a:rPr lang="zh-CN" altLang="en-US" sz="2400" dirty="0">
                <a:latin typeface="Times New Roman" panose="02020603050405020304" pitchFamily="18" charset="0"/>
              </a:rPr>
              <a:t>为</a:t>
            </a:r>
            <a:r>
              <a:rPr lang="en-US" altLang="zh-CN" sz="2400" dirty="0">
                <a:latin typeface="Times New Roman" panose="02020603050405020304" pitchFamily="18" charset="0"/>
              </a:rPr>
              <a:t>1</a:t>
            </a:r>
            <a:r>
              <a:rPr lang="zh-CN" altLang="en-US" sz="2400" dirty="0">
                <a:latin typeface="Times New Roman" panose="02020603050405020304" pitchFamily="18" charset="0"/>
              </a:rPr>
              <a:t>时：</a:t>
            </a:r>
          </a:p>
        </p:txBody>
      </p:sp>
      <p:sp>
        <p:nvSpPr>
          <p:cNvPr id="237608" name="Text Box 40" descr="羊皮纸"/>
          <p:cNvSpPr txBox="1"/>
          <p:nvPr/>
        </p:nvSpPr>
        <p:spPr>
          <a:xfrm>
            <a:off x="595313" y="5778500"/>
            <a:ext cx="6884670" cy="461645"/>
          </a:xfrm>
          <a:prstGeom prst="rect">
            <a:avLst/>
          </a:prstGeom>
          <a:noFill/>
          <a:ln w="38100">
            <a:noFill/>
          </a:ln>
        </p:spPr>
        <p:txBody>
          <a:bodyPr wrap="none" lIns="90000" tIns="46800" rIns="90000" bIns="46800">
            <a:spAutoFit/>
          </a:bodyPr>
          <a:lstStyle/>
          <a:p>
            <a:r>
              <a:rPr lang="zh-CN" altLang="en-US" sz="2400" i="1" dirty="0">
                <a:solidFill>
                  <a:srgbClr val="339933"/>
                </a:solidFill>
                <a:latin typeface="Times New Roman" panose="02020603050405020304" pitchFamily="18" charset="0"/>
              </a:rPr>
              <a:t>计数器的输出可为状态本身，亦可看作外部输出。</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7606"/>
                                        </p:tgtEl>
                                        <p:attrNameLst>
                                          <p:attrName>style.visibility</p:attrName>
                                        </p:attrNameLst>
                                      </p:cBhvr>
                                      <p:to>
                                        <p:strVal val="visible"/>
                                      </p:to>
                                    </p:set>
                                    <p:animEffect transition="in" filter="wipe(left)">
                                      <p:cBhvr>
                                        <p:cTn id="7" dur="500"/>
                                        <p:tgtEl>
                                          <p:spTgt spid="2376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7607"/>
                                        </p:tgtEl>
                                        <p:attrNameLst>
                                          <p:attrName>style.visibility</p:attrName>
                                        </p:attrNameLst>
                                      </p:cBhvr>
                                      <p:to>
                                        <p:strVal val="visible"/>
                                      </p:to>
                                    </p:set>
                                    <p:animEffect transition="in" filter="wipe(left)">
                                      <p:cBhvr>
                                        <p:cTn id="17" dur="500"/>
                                        <p:tgtEl>
                                          <p:spTgt spid="23760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37608"/>
                                        </p:tgtEl>
                                        <p:attrNameLst>
                                          <p:attrName>style.visibility</p:attrName>
                                        </p:attrNameLst>
                                      </p:cBhvr>
                                      <p:to>
                                        <p:strVal val="visible"/>
                                      </p:to>
                                    </p:set>
                                    <p:anim calcmode="lin" valueType="num">
                                      <p:cBhvr additive="base">
                                        <p:cTn id="27" dur="500" fill="hold"/>
                                        <p:tgtEl>
                                          <p:spTgt spid="237608"/>
                                        </p:tgtEl>
                                        <p:attrNameLst>
                                          <p:attrName>ppt_x</p:attrName>
                                        </p:attrNameLst>
                                      </p:cBhvr>
                                      <p:tavLst>
                                        <p:tav tm="0">
                                          <p:val>
                                            <p:strVal val="#ppt_x"/>
                                          </p:val>
                                        </p:tav>
                                        <p:tav tm="100000">
                                          <p:val>
                                            <p:strVal val="#ppt_x"/>
                                          </p:val>
                                        </p:tav>
                                      </p:tavLst>
                                    </p:anim>
                                    <p:anim calcmode="lin" valueType="num">
                                      <p:cBhvr additive="base">
                                        <p:cTn id="28" dur="500" fill="hold"/>
                                        <p:tgtEl>
                                          <p:spTgt spid="2376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606" grpId="0"/>
      <p:bldP spid="237607" grpId="0"/>
      <p:bldP spid="237608"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87413" y="866775"/>
            <a:ext cx="6846888" cy="5991225"/>
            <a:chOff x="559" y="366"/>
            <a:chExt cx="4313" cy="3774"/>
          </a:xfrm>
        </p:grpSpPr>
        <p:sp>
          <p:nvSpPr>
            <p:cNvPr id="26628" name="Text Box 3" descr="羊皮纸"/>
            <p:cNvSpPr txBox="1"/>
            <p:nvPr/>
          </p:nvSpPr>
          <p:spPr>
            <a:xfrm>
              <a:off x="2667" y="366"/>
              <a:ext cx="209" cy="291"/>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1</a:t>
              </a:r>
            </a:p>
          </p:txBody>
        </p:sp>
        <p:sp>
          <p:nvSpPr>
            <p:cNvPr id="26629" name="Oval 4"/>
            <p:cNvSpPr/>
            <p:nvPr/>
          </p:nvSpPr>
          <p:spPr>
            <a:xfrm>
              <a:off x="1897" y="836"/>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i="1" dirty="0">
                  <a:latin typeface="Times New Roman" panose="02020603050405020304" pitchFamily="18" charset="0"/>
                </a:rPr>
                <a:t> </a:t>
              </a:r>
              <a:r>
                <a:rPr lang="en-US" altLang="zh-CN" sz="2400" dirty="0">
                  <a:latin typeface="Times New Roman" panose="02020603050405020304" pitchFamily="18" charset="0"/>
                </a:rPr>
                <a:t>000</a:t>
              </a:r>
              <a:endParaRPr lang="en-US" altLang="zh-CN" sz="2400" baseline="-25000" dirty="0">
                <a:latin typeface="Times New Roman" panose="02020603050405020304" pitchFamily="18" charset="0"/>
              </a:endParaRPr>
            </a:p>
          </p:txBody>
        </p:sp>
        <p:sp>
          <p:nvSpPr>
            <p:cNvPr id="26630" name="Oval 5"/>
            <p:cNvSpPr/>
            <p:nvPr/>
          </p:nvSpPr>
          <p:spPr>
            <a:xfrm>
              <a:off x="895" y="257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baseline="-25000" dirty="0">
                  <a:latin typeface="Times New Roman" panose="02020603050405020304" pitchFamily="18" charset="0"/>
                </a:rPr>
                <a:t>110</a:t>
              </a:r>
            </a:p>
          </p:txBody>
        </p:sp>
        <p:sp>
          <p:nvSpPr>
            <p:cNvPr id="26631" name="Oval 6"/>
            <p:cNvSpPr/>
            <p:nvPr/>
          </p:nvSpPr>
          <p:spPr>
            <a:xfrm>
              <a:off x="3032" y="80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fontAlgn="ctr"/>
              <a:r>
                <a:rPr lang="en-US" altLang="zh-CN" sz="2400" baseline="-25000" dirty="0">
                  <a:latin typeface="Times New Roman" panose="02020603050405020304" pitchFamily="18" charset="0"/>
                </a:rPr>
                <a:t>001</a:t>
              </a:r>
            </a:p>
          </p:txBody>
        </p:sp>
        <p:sp>
          <p:nvSpPr>
            <p:cNvPr id="26632" name="Oval 7"/>
            <p:cNvSpPr/>
            <p:nvPr/>
          </p:nvSpPr>
          <p:spPr>
            <a:xfrm>
              <a:off x="1897" y="323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baseline="-25000" dirty="0">
                  <a:latin typeface="Times New Roman" panose="02020603050405020304" pitchFamily="18" charset="0"/>
                </a:rPr>
                <a:t>101</a:t>
              </a:r>
            </a:p>
          </p:txBody>
        </p:sp>
        <p:sp>
          <p:nvSpPr>
            <p:cNvPr id="26633" name="Oval 8"/>
            <p:cNvSpPr/>
            <p:nvPr/>
          </p:nvSpPr>
          <p:spPr>
            <a:xfrm>
              <a:off x="3918" y="1463"/>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baseline="-25000" dirty="0">
                  <a:latin typeface="Times New Roman" panose="02020603050405020304" pitchFamily="18" charset="0"/>
                </a:rPr>
                <a:t>010</a:t>
              </a:r>
            </a:p>
          </p:txBody>
        </p:sp>
        <p:sp>
          <p:nvSpPr>
            <p:cNvPr id="26634" name="Oval 9"/>
            <p:cNvSpPr/>
            <p:nvPr/>
          </p:nvSpPr>
          <p:spPr>
            <a:xfrm>
              <a:off x="895" y="1475"/>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baseline="-25000" dirty="0">
                  <a:latin typeface="Times New Roman" panose="02020603050405020304" pitchFamily="18" charset="0"/>
                </a:rPr>
                <a:t>111</a:t>
              </a:r>
            </a:p>
          </p:txBody>
        </p:sp>
        <p:sp>
          <p:nvSpPr>
            <p:cNvPr id="26635" name="Oval 10"/>
            <p:cNvSpPr/>
            <p:nvPr/>
          </p:nvSpPr>
          <p:spPr>
            <a:xfrm>
              <a:off x="3048" y="3227"/>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baseline="-25000" dirty="0">
                  <a:latin typeface="Times New Roman" panose="02020603050405020304" pitchFamily="18" charset="0"/>
                </a:rPr>
                <a:t>100</a:t>
              </a:r>
            </a:p>
          </p:txBody>
        </p:sp>
        <p:sp>
          <p:nvSpPr>
            <p:cNvPr id="26636" name="Oval 11"/>
            <p:cNvSpPr/>
            <p:nvPr/>
          </p:nvSpPr>
          <p:spPr>
            <a:xfrm>
              <a:off x="3918" y="2593"/>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400" baseline="-25000" dirty="0">
                  <a:latin typeface="Times New Roman" panose="02020603050405020304" pitchFamily="18" charset="0"/>
                </a:rPr>
                <a:t>011</a:t>
              </a:r>
            </a:p>
          </p:txBody>
        </p:sp>
        <p:cxnSp>
          <p:nvCxnSpPr>
            <p:cNvPr id="26637" name="AutoShape 12"/>
            <p:cNvCxnSpPr>
              <a:stCxn id="26634" idx="7"/>
              <a:endCxn id="26629" idx="2"/>
            </p:cNvCxnSpPr>
            <p:nvPr/>
          </p:nvCxnSpPr>
          <p:spPr>
            <a:xfrm rot="-5400000">
              <a:off x="1401" y="1058"/>
              <a:ext cx="437" cy="531"/>
            </a:xfrm>
            <a:prstGeom prst="curvedConnector2">
              <a:avLst/>
            </a:prstGeom>
            <a:ln w="38100" cap="flat" cmpd="sng">
              <a:solidFill>
                <a:srgbClr val="3333FF"/>
              </a:solidFill>
              <a:prstDash val="solid"/>
              <a:headEnd type="none" w="med" len="med"/>
              <a:tailEnd type="triangle" w="sm" len="lg"/>
            </a:ln>
          </p:spPr>
        </p:cxnSp>
        <p:cxnSp>
          <p:nvCxnSpPr>
            <p:cNvPr id="26638" name="AutoShape 13"/>
            <p:cNvCxnSpPr>
              <a:stCxn id="26629" idx="7"/>
              <a:endCxn id="26631" idx="1"/>
            </p:cNvCxnSpPr>
            <p:nvPr/>
          </p:nvCxnSpPr>
          <p:spPr>
            <a:xfrm rot="-5400000">
              <a:off x="2715" y="507"/>
              <a:ext cx="36" cy="755"/>
            </a:xfrm>
            <a:prstGeom prst="curvedConnector3">
              <a:avLst>
                <a:gd name="adj1" fmla="val 686111"/>
              </a:avLst>
            </a:prstGeom>
            <a:ln w="38100" cap="flat" cmpd="sng">
              <a:solidFill>
                <a:srgbClr val="3333FF"/>
              </a:solidFill>
              <a:prstDash val="solid"/>
              <a:headEnd type="none" w="med" len="med"/>
              <a:tailEnd type="triangle" w="sm" len="lg"/>
            </a:ln>
          </p:spPr>
        </p:cxnSp>
        <p:cxnSp>
          <p:nvCxnSpPr>
            <p:cNvPr id="26639" name="AutoShape 14"/>
            <p:cNvCxnSpPr>
              <a:stCxn id="26631" idx="6"/>
              <a:endCxn id="26633" idx="0"/>
            </p:cNvCxnSpPr>
            <p:nvPr/>
          </p:nvCxnSpPr>
          <p:spPr>
            <a:xfrm>
              <a:off x="3582" y="1069"/>
              <a:ext cx="605" cy="382"/>
            </a:xfrm>
            <a:prstGeom prst="curvedConnector2">
              <a:avLst/>
            </a:prstGeom>
            <a:ln w="38100" cap="flat" cmpd="sng">
              <a:solidFill>
                <a:srgbClr val="3333FF"/>
              </a:solidFill>
              <a:prstDash val="solid"/>
              <a:headEnd type="none" w="med" len="med"/>
              <a:tailEnd type="triangle" w="sm" len="lg"/>
            </a:ln>
          </p:spPr>
        </p:cxnSp>
        <p:cxnSp>
          <p:nvCxnSpPr>
            <p:cNvPr id="26640" name="AutoShape 15"/>
            <p:cNvCxnSpPr>
              <a:stCxn id="26633" idx="6"/>
              <a:endCxn id="26636" idx="6"/>
            </p:cNvCxnSpPr>
            <p:nvPr/>
          </p:nvCxnSpPr>
          <p:spPr>
            <a:xfrm>
              <a:off x="4468" y="1732"/>
              <a:ext cx="1" cy="1130"/>
            </a:xfrm>
            <a:prstGeom prst="curvedConnector3">
              <a:avLst>
                <a:gd name="adj1" fmla="val 13200005"/>
              </a:avLst>
            </a:prstGeom>
            <a:ln w="38100" cap="flat" cmpd="sng">
              <a:solidFill>
                <a:srgbClr val="3333FF"/>
              </a:solidFill>
              <a:prstDash val="solid"/>
              <a:headEnd type="none" w="med" len="med"/>
              <a:tailEnd type="triangle" w="sm" len="lg"/>
            </a:ln>
          </p:spPr>
        </p:cxnSp>
        <p:cxnSp>
          <p:nvCxnSpPr>
            <p:cNvPr id="26641" name="AutoShape 16"/>
            <p:cNvCxnSpPr>
              <a:stCxn id="26636" idx="4"/>
              <a:endCxn id="26635" idx="6"/>
            </p:cNvCxnSpPr>
            <p:nvPr/>
          </p:nvCxnSpPr>
          <p:spPr>
            <a:xfrm rot="5400000">
              <a:off x="3716" y="3025"/>
              <a:ext cx="353" cy="589"/>
            </a:xfrm>
            <a:prstGeom prst="curvedConnector2">
              <a:avLst/>
            </a:prstGeom>
            <a:ln w="38100" cap="flat" cmpd="sng">
              <a:solidFill>
                <a:srgbClr val="3333FF"/>
              </a:solidFill>
              <a:prstDash val="solid"/>
              <a:headEnd type="none" w="med" len="med"/>
              <a:tailEnd type="triangle" w="sm" len="lg"/>
            </a:ln>
          </p:spPr>
        </p:cxnSp>
        <p:cxnSp>
          <p:nvCxnSpPr>
            <p:cNvPr id="26642" name="AutoShape 17"/>
            <p:cNvCxnSpPr>
              <a:stCxn id="26635" idx="3"/>
              <a:endCxn id="26632" idx="5"/>
            </p:cNvCxnSpPr>
            <p:nvPr/>
          </p:nvCxnSpPr>
          <p:spPr>
            <a:xfrm rot="5400000">
              <a:off x="2738" y="3316"/>
              <a:ext cx="7" cy="771"/>
            </a:xfrm>
            <a:prstGeom prst="curvedConnector3">
              <a:avLst>
                <a:gd name="adj1" fmla="val 3114287"/>
              </a:avLst>
            </a:prstGeom>
            <a:ln w="38100" cap="flat" cmpd="sng">
              <a:solidFill>
                <a:srgbClr val="3333FF"/>
              </a:solidFill>
              <a:prstDash val="solid"/>
              <a:headEnd type="none" w="med" len="med"/>
              <a:tailEnd type="triangle" w="sm" len="lg"/>
            </a:ln>
          </p:spPr>
        </p:cxnSp>
        <p:cxnSp>
          <p:nvCxnSpPr>
            <p:cNvPr id="26643" name="AutoShape 18"/>
            <p:cNvCxnSpPr>
              <a:stCxn id="26632" idx="2"/>
              <a:endCxn id="26630" idx="4"/>
            </p:cNvCxnSpPr>
            <p:nvPr/>
          </p:nvCxnSpPr>
          <p:spPr>
            <a:xfrm rot="10800000">
              <a:off x="1164" y="3124"/>
              <a:ext cx="721" cy="379"/>
            </a:xfrm>
            <a:prstGeom prst="curvedConnector2">
              <a:avLst/>
            </a:prstGeom>
            <a:ln w="38100" cap="flat" cmpd="sng">
              <a:solidFill>
                <a:srgbClr val="3333FF"/>
              </a:solidFill>
              <a:prstDash val="solid"/>
              <a:headEnd type="none" w="med" len="med"/>
              <a:tailEnd type="triangle" w="sm" len="lg"/>
            </a:ln>
          </p:spPr>
        </p:cxnSp>
        <p:cxnSp>
          <p:nvCxnSpPr>
            <p:cNvPr id="26644" name="AutoShape 19"/>
            <p:cNvCxnSpPr>
              <a:stCxn id="26630" idx="2"/>
              <a:endCxn id="26634" idx="3"/>
            </p:cNvCxnSpPr>
            <p:nvPr/>
          </p:nvCxnSpPr>
          <p:spPr>
            <a:xfrm rot="-10800000" flipH="1">
              <a:off x="883" y="1946"/>
              <a:ext cx="91" cy="897"/>
            </a:xfrm>
            <a:prstGeom prst="curvedConnector4">
              <a:avLst>
                <a:gd name="adj1" fmla="val -145056"/>
                <a:gd name="adj2" fmla="val 97208"/>
              </a:avLst>
            </a:prstGeom>
            <a:ln w="38100" cap="flat" cmpd="sng">
              <a:solidFill>
                <a:srgbClr val="3333FF"/>
              </a:solidFill>
              <a:prstDash val="solid"/>
              <a:headEnd type="none" w="med" len="med"/>
              <a:tailEnd type="triangle" w="sm" len="lg"/>
            </a:ln>
          </p:spPr>
        </p:cxnSp>
        <p:cxnSp>
          <p:nvCxnSpPr>
            <p:cNvPr id="26645" name="AutoShape 20"/>
            <p:cNvCxnSpPr>
              <a:stCxn id="26629" idx="3"/>
              <a:endCxn id="26634" idx="6"/>
            </p:cNvCxnSpPr>
            <p:nvPr/>
          </p:nvCxnSpPr>
          <p:spPr>
            <a:xfrm rot="5400000">
              <a:off x="1492" y="1260"/>
              <a:ext cx="437" cy="531"/>
            </a:xfrm>
            <a:prstGeom prst="curvedConnector2">
              <a:avLst/>
            </a:prstGeom>
            <a:ln w="38100" cap="flat" cmpd="sng">
              <a:solidFill>
                <a:srgbClr val="3333FF"/>
              </a:solidFill>
              <a:prstDash val="solid"/>
              <a:headEnd type="none" w="med" len="med"/>
              <a:tailEnd type="triangle" w="sm" len="lg"/>
            </a:ln>
          </p:spPr>
        </p:cxnSp>
        <p:cxnSp>
          <p:nvCxnSpPr>
            <p:cNvPr id="26646" name="AutoShape 21"/>
            <p:cNvCxnSpPr>
              <a:stCxn id="26634" idx="4"/>
              <a:endCxn id="26630" idx="7"/>
            </p:cNvCxnSpPr>
            <p:nvPr/>
          </p:nvCxnSpPr>
          <p:spPr>
            <a:xfrm rot="-5400000" flipH="1">
              <a:off x="951" y="2238"/>
              <a:ext cx="616" cy="190"/>
            </a:xfrm>
            <a:prstGeom prst="curvedConnector3">
              <a:avLst>
                <a:gd name="adj1" fmla="val 43505"/>
              </a:avLst>
            </a:prstGeom>
            <a:ln w="38100" cap="flat" cmpd="sng">
              <a:solidFill>
                <a:srgbClr val="3333FF"/>
              </a:solidFill>
              <a:prstDash val="solid"/>
              <a:headEnd type="none" w="med" len="med"/>
              <a:tailEnd type="triangle" w="sm" len="lg"/>
            </a:ln>
          </p:spPr>
        </p:cxnSp>
        <p:cxnSp>
          <p:nvCxnSpPr>
            <p:cNvPr id="26647" name="AutoShape 22"/>
            <p:cNvCxnSpPr>
              <a:stCxn id="26630" idx="5"/>
              <a:endCxn id="26632" idx="1"/>
            </p:cNvCxnSpPr>
            <p:nvPr/>
          </p:nvCxnSpPr>
          <p:spPr>
            <a:xfrm rot="-5400000" flipH="1">
              <a:off x="1537" y="2862"/>
              <a:ext cx="256" cy="622"/>
            </a:xfrm>
            <a:prstGeom prst="curvedConnector3">
              <a:avLst>
                <a:gd name="adj1" fmla="val -10940"/>
              </a:avLst>
            </a:prstGeom>
            <a:ln w="38100" cap="flat" cmpd="sng">
              <a:solidFill>
                <a:srgbClr val="3333FF"/>
              </a:solidFill>
              <a:prstDash val="solid"/>
              <a:headEnd type="none" w="med" len="med"/>
              <a:tailEnd type="triangle" w="sm" len="lg"/>
            </a:ln>
          </p:spPr>
        </p:cxnSp>
        <p:cxnSp>
          <p:nvCxnSpPr>
            <p:cNvPr id="26648" name="AutoShape 23"/>
            <p:cNvCxnSpPr/>
            <p:nvPr/>
          </p:nvCxnSpPr>
          <p:spPr>
            <a:xfrm flipV="1">
              <a:off x="2459" y="3508"/>
              <a:ext cx="589" cy="7"/>
            </a:xfrm>
            <a:prstGeom prst="curvedConnector3">
              <a:avLst>
                <a:gd name="adj1" fmla="val 49917"/>
              </a:avLst>
            </a:prstGeom>
            <a:ln w="38100" cap="flat" cmpd="sng">
              <a:solidFill>
                <a:srgbClr val="3333FF"/>
              </a:solidFill>
              <a:prstDash val="solid"/>
              <a:headEnd type="none" w="med" len="med"/>
              <a:tailEnd type="triangle" w="sm" len="lg"/>
            </a:ln>
          </p:spPr>
        </p:cxnSp>
        <p:cxnSp>
          <p:nvCxnSpPr>
            <p:cNvPr id="26649" name="AutoShape 24"/>
            <p:cNvCxnSpPr>
              <a:stCxn id="26635" idx="7"/>
            </p:cNvCxnSpPr>
            <p:nvPr/>
          </p:nvCxnSpPr>
          <p:spPr>
            <a:xfrm rot="-5400000">
              <a:off x="3388" y="3094"/>
              <a:ext cx="318" cy="81"/>
            </a:xfrm>
            <a:prstGeom prst="bentConnector3">
              <a:avLst>
                <a:gd name="adj1" fmla="val 60380"/>
              </a:avLst>
            </a:prstGeom>
            <a:ln w="38100">
              <a:noFill/>
            </a:ln>
          </p:spPr>
        </p:cxnSp>
        <p:cxnSp>
          <p:nvCxnSpPr>
            <p:cNvPr id="26650" name="AutoShape 25"/>
            <p:cNvCxnSpPr>
              <a:stCxn id="26635" idx="7"/>
              <a:endCxn id="26636" idx="3"/>
            </p:cNvCxnSpPr>
            <p:nvPr/>
          </p:nvCxnSpPr>
          <p:spPr>
            <a:xfrm rot="-5400000">
              <a:off x="3637" y="2934"/>
              <a:ext cx="230" cy="490"/>
            </a:xfrm>
            <a:prstGeom prst="curvedConnector3">
              <a:avLst>
                <a:gd name="adj1" fmla="val 123042"/>
              </a:avLst>
            </a:prstGeom>
            <a:ln w="38100" cap="flat" cmpd="sng">
              <a:solidFill>
                <a:srgbClr val="3333FF"/>
              </a:solidFill>
              <a:prstDash val="solid"/>
              <a:headEnd type="none" w="med" len="med"/>
              <a:tailEnd type="triangle" w="sm" len="lg"/>
            </a:ln>
          </p:spPr>
        </p:cxnSp>
        <p:cxnSp>
          <p:nvCxnSpPr>
            <p:cNvPr id="26651" name="AutoShape 26"/>
            <p:cNvCxnSpPr>
              <a:stCxn id="26636" idx="1"/>
              <a:endCxn id="26633" idx="4"/>
            </p:cNvCxnSpPr>
            <p:nvPr/>
          </p:nvCxnSpPr>
          <p:spPr>
            <a:xfrm rot="-5400000">
              <a:off x="3768" y="2241"/>
              <a:ext cx="647" cy="190"/>
            </a:xfrm>
            <a:prstGeom prst="curvedConnector3">
              <a:avLst>
                <a:gd name="adj1" fmla="val 56106"/>
              </a:avLst>
            </a:prstGeom>
            <a:ln w="38100" cap="flat" cmpd="sng">
              <a:solidFill>
                <a:srgbClr val="3333FF"/>
              </a:solidFill>
              <a:prstDash val="solid"/>
              <a:headEnd type="none" w="med" len="med"/>
              <a:tailEnd type="triangle" w="sm" len="lg"/>
            </a:ln>
          </p:spPr>
        </p:cxnSp>
        <p:cxnSp>
          <p:nvCxnSpPr>
            <p:cNvPr id="26652" name="AutoShape 27"/>
            <p:cNvCxnSpPr>
              <a:stCxn id="26633" idx="2"/>
              <a:endCxn id="26631" idx="5"/>
            </p:cNvCxnSpPr>
            <p:nvPr/>
          </p:nvCxnSpPr>
          <p:spPr>
            <a:xfrm rot="10800000">
              <a:off x="3491" y="1271"/>
              <a:ext cx="415" cy="461"/>
            </a:xfrm>
            <a:prstGeom prst="curvedConnector2">
              <a:avLst/>
            </a:prstGeom>
            <a:ln w="38100" cap="flat" cmpd="sng">
              <a:solidFill>
                <a:srgbClr val="3333FF"/>
              </a:solidFill>
              <a:prstDash val="solid"/>
              <a:headEnd type="none" w="med" len="med"/>
              <a:tailEnd type="triangle" w="sm" len="lg"/>
            </a:ln>
          </p:spPr>
        </p:cxnSp>
        <p:cxnSp>
          <p:nvCxnSpPr>
            <p:cNvPr id="26653" name="AutoShape 28"/>
            <p:cNvCxnSpPr/>
            <p:nvPr/>
          </p:nvCxnSpPr>
          <p:spPr>
            <a:xfrm rot="-5400000" flipV="1">
              <a:off x="2684" y="844"/>
              <a:ext cx="166" cy="664"/>
            </a:xfrm>
            <a:prstGeom prst="curvedConnector4">
              <a:avLst>
                <a:gd name="adj1" fmla="val 25301"/>
                <a:gd name="adj2" fmla="val 56778"/>
              </a:avLst>
            </a:prstGeom>
            <a:ln w="38100" cap="flat" cmpd="sng">
              <a:solidFill>
                <a:srgbClr val="3333FF"/>
              </a:solidFill>
              <a:prstDash val="solid"/>
              <a:headEnd type="none" w="med" len="med"/>
              <a:tailEnd type="triangle" w="sm" len="lg"/>
            </a:ln>
          </p:spPr>
        </p:cxnSp>
        <p:sp>
          <p:nvSpPr>
            <p:cNvPr id="26654" name="Text Box 29" descr="羊皮纸"/>
            <p:cNvSpPr txBox="1"/>
            <p:nvPr/>
          </p:nvSpPr>
          <p:spPr>
            <a:xfrm>
              <a:off x="1299" y="918"/>
              <a:ext cx="209" cy="291"/>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1</a:t>
              </a:r>
            </a:p>
          </p:txBody>
        </p:sp>
        <p:sp>
          <p:nvSpPr>
            <p:cNvPr id="26655" name="Text Box 30" descr="羊皮纸"/>
            <p:cNvSpPr txBox="1"/>
            <p:nvPr/>
          </p:nvSpPr>
          <p:spPr>
            <a:xfrm>
              <a:off x="1279" y="3430"/>
              <a:ext cx="209" cy="291"/>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1</a:t>
              </a:r>
            </a:p>
          </p:txBody>
        </p:sp>
        <p:sp>
          <p:nvSpPr>
            <p:cNvPr id="26656" name="Text Box 31" descr="羊皮纸"/>
            <p:cNvSpPr txBox="1"/>
            <p:nvPr/>
          </p:nvSpPr>
          <p:spPr>
            <a:xfrm>
              <a:off x="2687" y="3849"/>
              <a:ext cx="209" cy="291"/>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1</a:t>
              </a:r>
            </a:p>
          </p:txBody>
        </p:sp>
        <p:sp>
          <p:nvSpPr>
            <p:cNvPr id="26657" name="Text Box 32" descr="羊皮纸"/>
            <p:cNvSpPr txBox="1"/>
            <p:nvPr/>
          </p:nvSpPr>
          <p:spPr>
            <a:xfrm>
              <a:off x="3918" y="3438"/>
              <a:ext cx="209" cy="291"/>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1</a:t>
              </a:r>
            </a:p>
          </p:txBody>
        </p:sp>
        <p:sp>
          <p:nvSpPr>
            <p:cNvPr id="26658" name="Text Box 33" descr="羊皮纸"/>
            <p:cNvSpPr txBox="1"/>
            <p:nvPr/>
          </p:nvSpPr>
          <p:spPr>
            <a:xfrm>
              <a:off x="4663" y="2015"/>
              <a:ext cx="209" cy="291"/>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1</a:t>
              </a:r>
            </a:p>
          </p:txBody>
        </p:sp>
        <p:sp>
          <p:nvSpPr>
            <p:cNvPr id="26659" name="Text Box 34" descr="羊皮纸"/>
            <p:cNvSpPr txBox="1"/>
            <p:nvPr/>
          </p:nvSpPr>
          <p:spPr>
            <a:xfrm>
              <a:off x="3918" y="860"/>
              <a:ext cx="209" cy="291"/>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1</a:t>
              </a:r>
            </a:p>
          </p:txBody>
        </p:sp>
        <p:sp>
          <p:nvSpPr>
            <p:cNvPr id="26660" name="Text Box 35" descr="羊皮纸"/>
            <p:cNvSpPr txBox="1"/>
            <p:nvPr/>
          </p:nvSpPr>
          <p:spPr>
            <a:xfrm>
              <a:off x="559" y="2254"/>
              <a:ext cx="209" cy="291"/>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1</a:t>
              </a:r>
            </a:p>
          </p:txBody>
        </p:sp>
        <p:sp>
          <p:nvSpPr>
            <p:cNvPr id="26661" name="Text Box 36" descr="羊皮纸"/>
            <p:cNvSpPr txBox="1"/>
            <p:nvPr/>
          </p:nvSpPr>
          <p:spPr>
            <a:xfrm>
              <a:off x="1824" y="1520"/>
              <a:ext cx="209" cy="291"/>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0</a:t>
              </a:r>
            </a:p>
          </p:txBody>
        </p:sp>
        <p:sp>
          <p:nvSpPr>
            <p:cNvPr id="26662" name="Text Box 37" descr="羊皮纸"/>
            <p:cNvSpPr txBox="1"/>
            <p:nvPr/>
          </p:nvSpPr>
          <p:spPr>
            <a:xfrm>
              <a:off x="1348" y="2160"/>
              <a:ext cx="209" cy="291"/>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0</a:t>
              </a:r>
            </a:p>
          </p:txBody>
        </p:sp>
        <p:sp>
          <p:nvSpPr>
            <p:cNvPr id="26663" name="Text Box 38" descr="羊皮纸"/>
            <p:cNvSpPr txBox="1"/>
            <p:nvPr/>
          </p:nvSpPr>
          <p:spPr>
            <a:xfrm>
              <a:off x="1824" y="2752"/>
              <a:ext cx="209" cy="291"/>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0</a:t>
              </a:r>
            </a:p>
          </p:txBody>
        </p:sp>
        <p:sp>
          <p:nvSpPr>
            <p:cNvPr id="26664" name="Text Box 39" descr="羊皮纸"/>
            <p:cNvSpPr txBox="1"/>
            <p:nvPr/>
          </p:nvSpPr>
          <p:spPr>
            <a:xfrm>
              <a:off x="2604" y="3176"/>
              <a:ext cx="209" cy="291"/>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0</a:t>
              </a:r>
            </a:p>
          </p:txBody>
        </p:sp>
        <p:sp>
          <p:nvSpPr>
            <p:cNvPr id="26665" name="Text Box 40" descr="羊皮纸"/>
            <p:cNvSpPr txBox="1"/>
            <p:nvPr/>
          </p:nvSpPr>
          <p:spPr>
            <a:xfrm>
              <a:off x="3448" y="2784"/>
              <a:ext cx="209" cy="291"/>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0</a:t>
              </a:r>
            </a:p>
          </p:txBody>
        </p:sp>
        <p:sp>
          <p:nvSpPr>
            <p:cNvPr id="26666" name="Text Box 41" descr="羊皮纸"/>
            <p:cNvSpPr txBox="1"/>
            <p:nvPr/>
          </p:nvSpPr>
          <p:spPr>
            <a:xfrm>
              <a:off x="3692" y="2212"/>
              <a:ext cx="209" cy="291"/>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0</a:t>
              </a:r>
            </a:p>
          </p:txBody>
        </p:sp>
        <p:sp>
          <p:nvSpPr>
            <p:cNvPr id="26667" name="Text Box 42" descr="羊皮纸"/>
            <p:cNvSpPr txBox="1"/>
            <p:nvPr/>
          </p:nvSpPr>
          <p:spPr>
            <a:xfrm>
              <a:off x="3384" y="1544"/>
              <a:ext cx="209" cy="291"/>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0</a:t>
              </a:r>
            </a:p>
          </p:txBody>
        </p:sp>
        <p:sp>
          <p:nvSpPr>
            <p:cNvPr id="26668" name="Text Box 43" descr="羊皮纸"/>
            <p:cNvSpPr txBox="1"/>
            <p:nvPr/>
          </p:nvSpPr>
          <p:spPr>
            <a:xfrm>
              <a:off x="2668" y="1236"/>
              <a:ext cx="209" cy="291"/>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0</a:t>
              </a:r>
            </a:p>
          </p:txBody>
        </p:sp>
      </p:grpSp>
      <p:sp>
        <p:nvSpPr>
          <p:cNvPr id="26627" name="Text Box 44" descr="羊皮纸"/>
          <p:cNvSpPr txBox="1"/>
          <p:nvPr/>
        </p:nvSpPr>
        <p:spPr>
          <a:xfrm>
            <a:off x="3128963" y="463550"/>
            <a:ext cx="1709420" cy="461645"/>
          </a:xfrm>
          <a:prstGeom prst="rect">
            <a:avLst/>
          </a:prstGeom>
          <a:noFill/>
          <a:ln w="38100">
            <a:noFill/>
          </a:ln>
        </p:spPr>
        <p:txBody>
          <a:bodyPr wrap="none" lIns="90000" tIns="46800" rIns="90000" bIns="46800">
            <a:spAutoFit/>
          </a:bodyPr>
          <a:lstStyle/>
          <a:p>
            <a:r>
              <a:rPr lang="zh-CN" altLang="en-US" sz="2400" b="1" dirty="0">
                <a:latin typeface="Times New Roman" panose="02020603050405020304" pitchFamily="18" charset="0"/>
              </a:rPr>
              <a:t>原始状态图</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00" y="1450975"/>
            <a:ext cx="7237413" cy="4387850"/>
            <a:chOff x="768" y="122"/>
            <a:chExt cx="4559" cy="2764"/>
          </a:xfrm>
        </p:grpSpPr>
        <p:sp>
          <p:nvSpPr>
            <p:cNvPr id="27652" name="Line 3"/>
            <p:cNvSpPr/>
            <p:nvPr/>
          </p:nvSpPr>
          <p:spPr>
            <a:xfrm>
              <a:off x="792" y="132"/>
              <a:ext cx="4404" cy="0"/>
            </a:xfrm>
            <a:prstGeom prst="line">
              <a:avLst/>
            </a:prstGeom>
            <a:ln w="38100" cap="flat" cmpd="sng">
              <a:solidFill>
                <a:schemeClr val="tx1"/>
              </a:solidFill>
              <a:prstDash val="solid"/>
              <a:headEnd type="none" w="med" len="med"/>
              <a:tailEnd type="none" w="sm" len="lg"/>
            </a:ln>
          </p:spPr>
        </p:sp>
        <p:sp>
          <p:nvSpPr>
            <p:cNvPr id="27653" name="Line 4"/>
            <p:cNvSpPr/>
            <p:nvPr/>
          </p:nvSpPr>
          <p:spPr>
            <a:xfrm>
              <a:off x="923" y="2880"/>
              <a:ext cx="4404" cy="0"/>
            </a:xfrm>
            <a:prstGeom prst="line">
              <a:avLst/>
            </a:prstGeom>
            <a:ln w="38100" cap="flat" cmpd="sng">
              <a:solidFill>
                <a:schemeClr val="tx1"/>
              </a:solidFill>
              <a:prstDash val="solid"/>
              <a:headEnd type="none" w="med" len="med"/>
              <a:tailEnd type="none" w="sm" len="lg"/>
            </a:ln>
          </p:spPr>
        </p:sp>
        <p:sp>
          <p:nvSpPr>
            <p:cNvPr id="27654" name="Line 5"/>
            <p:cNvSpPr/>
            <p:nvPr/>
          </p:nvSpPr>
          <p:spPr>
            <a:xfrm flipH="1">
              <a:off x="1844" y="144"/>
              <a:ext cx="4" cy="2742"/>
            </a:xfrm>
            <a:prstGeom prst="line">
              <a:avLst/>
            </a:prstGeom>
            <a:ln w="19050" cap="flat" cmpd="sng">
              <a:solidFill>
                <a:schemeClr val="tx1"/>
              </a:solidFill>
              <a:prstDash val="solid"/>
              <a:headEnd type="none" w="med" len="med"/>
              <a:tailEnd type="none" w="sm" len="lg"/>
            </a:ln>
          </p:spPr>
        </p:sp>
        <p:sp>
          <p:nvSpPr>
            <p:cNvPr id="27655" name="Line 6"/>
            <p:cNvSpPr/>
            <p:nvPr/>
          </p:nvSpPr>
          <p:spPr>
            <a:xfrm>
              <a:off x="3432" y="404"/>
              <a:ext cx="1" cy="2474"/>
            </a:xfrm>
            <a:prstGeom prst="line">
              <a:avLst/>
            </a:prstGeom>
            <a:ln w="19050" cap="flat" cmpd="sng">
              <a:solidFill>
                <a:schemeClr val="tx1"/>
              </a:solidFill>
              <a:prstDash val="solid"/>
              <a:headEnd type="none" w="med" len="med"/>
              <a:tailEnd type="none" w="sm" len="lg"/>
            </a:ln>
          </p:spPr>
        </p:sp>
        <p:sp>
          <p:nvSpPr>
            <p:cNvPr id="27656" name="Line 7"/>
            <p:cNvSpPr/>
            <p:nvPr/>
          </p:nvSpPr>
          <p:spPr>
            <a:xfrm>
              <a:off x="1848" y="392"/>
              <a:ext cx="3336" cy="0"/>
            </a:xfrm>
            <a:prstGeom prst="line">
              <a:avLst/>
            </a:prstGeom>
            <a:ln w="12700" cap="flat" cmpd="sng">
              <a:solidFill>
                <a:schemeClr val="tx1"/>
              </a:solidFill>
              <a:prstDash val="solid"/>
              <a:headEnd type="none" w="med" len="med"/>
              <a:tailEnd type="none" w="sm" len="lg"/>
            </a:ln>
          </p:spPr>
        </p:sp>
        <p:sp>
          <p:nvSpPr>
            <p:cNvPr id="27657" name="Line 8"/>
            <p:cNvSpPr/>
            <p:nvPr/>
          </p:nvSpPr>
          <p:spPr>
            <a:xfrm>
              <a:off x="768" y="688"/>
              <a:ext cx="4404" cy="0"/>
            </a:xfrm>
            <a:prstGeom prst="line">
              <a:avLst/>
            </a:prstGeom>
            <a:ln w="12700" cap="flat" cmpd="sng">
              <a:solidFill>
                <a:schemeClr val="tx1"/>
              </a:solidFill>
              <a:prstDash val="solid"/>
              <a:headEnd type="none" w="med" len="med"/>
              <a:tailEnd type="none" w="sm" len="lg"/>
            </a:ln>
          </p:spPr>
        </p:sp>
        <p:sp>
          <p:nvSpPr>
            <p:cNvPr id="27658" name="Text Box 9"/>
            <p:cNvSpPr txBox="1"/>
            <p:nvPr/>
          </p:nvSpPr>
          <p:spPr>
            <a:xfrm>
              <a:off x="1006" y="239"/>
              <a:ext cx="499" cy="290"/>
            </a:xfrm>
            <a:prstGeom prst="rect">
              <a:avLst/>
            </a:prstGeom>
            <a:noFill/>
            <a:ln w="19050">
              <a:noFill/>
            </a:ln>
          </p:spPr>
          <p:txBody>
            <a:bodyPr wrap="none">
              <a:spAutoFit/>
            </a:bodyPr>
            <a:lstStyle/>
            <a:p>
              <a:pPr algn="ctr"/>
              <a:r>
                <a:rPr lang="zh-CN" altLang="zh-CN" sz="2400" dirty="0">
                  <a:latin typeface="Times New Roman" panose="02020603050405020304" pitchFamily="18" charset="0"/>
                </a:rPr>
                <a:t>现态</a:t>
              </a:r>
            </a:p>
          </p:txBody>
        </p:sp>
        <p:sp>
          <p:nvSpPr>
            <p:cNvPr id="27659" name="Text Box 10"/>
            <p:cNvSpPr txBox="1"/>
            <p:nvPr/>
          </p:nvSpPr>
          <p:spPr>
            <a:xfrm>
              <a:off x="2962" y="122"/>
              <a:ext cx="936" cy="290"/>
            </a:xfrm>
            <a:prstGeom prst="rect">
              <a:avLst/>
            </a:prstGeom>
            <a:noFill/>
            <a:ln w="19050">
              <a:noFill/>
            </a:ln>
          </p:spPr>
          <p:txBody>
            <a:bodyPr wrap="none">
              <a:spAutoFit/>
            </a:bodyPr>
            <a:lstStyle/>
            <a:p>
              <a:pPr algn="ctr"/>
              <a:r>
                <a:rPr lang="zh-CN" altLang="en-US" sz="2400" dirty="0">
                  <a:latin typeface="Times New Roman" panose="02020603050405020304" pitchFamily="18" charset="0"/>
                </a:rPr>
                <a:t>次态</a:t>
              </a:r>
              <a:r>
                <a:rPr lang="en-US" altLang="zh-CN" sz="2400" dirty="0">
                  <a:latin typeface="Times New Roman" panose="02020603050405020304" pitchFamily="18" charset="0"/>
                </a:rPr>
                <a:t>/</a:t>
              </a:r>
              <a:r>
                <a:rPr lang="zh-CN" altLang="en-US" sz="2400" dirty="0">
                  <a:latin typeface="Times New Roman" panose="02020603050405020304" pitchFamily="18" charset="0"/>
                </a:rPr>
                <a:t>输出</a:t>
              </a:r>
              <a:endParaRPr lang="zh-CN" altLang="en-US" dirty="0">
                <a:latin typeface="Times New Roman" panose="02020603050405020304" pitchFamily="18" charset="0"/>
              </a:endParaRPr>
            </a:p>
          </p:txBody>
        </p:sp>
        <p:sp>
          <p:nvSpPr>
            <p:cNvPr id="27660" name="Text Box 11"/>
            <p:cNvSpPr txBox="1"/>
            <p:nvPr/>
          </p:nvSpPr>
          <p:spPr>
            <a:xfrm>
              <a:off x="2354" y="351"/>
              <a:ext cx="405" cy="290"/>
            </a:xfrm>
            <a:prstGeom prst="rect">
              <a:avLst/>
            </a:prstGeom>
            <a:noFill/>
            <a:ln w="19050">
              <a:noFill/>
            </a:ln>
          </p:spPr>
          <p:txBody>
            <a:bodyPr wrap="none">
              <a:spAutoFit/>
            </a:bodyPr>
            <a:lstStyle/>
            <a:p>
              <a:pPr algn="ctr"/>
              <a:r>
                <a:rPr lang="en-US" altLang="zh-CN" sz="2400" i="1" dirty="0">
                  <a:latin typeface="Times New Roman" panose="02020603050405020304" pitchFamily="18" charset="0"/>
                </a:rPr>
                <a:t>x</a:t>
              </a:r>
              <a:r>
                <a:rPr lang="en-US" altLang="zh-CN" sz="2400" dirty="0">
                  <a:latin typeface="Times New Roman" panose="02020603050405020304" pitchFamily="18" charset="0"/>
                </a:rPr>
                <a:t>=0</a:t>
              </a:r>
            </a:p>
          </p:txBody>
        </p:sp>
        <p:sp>
          <p:nvSpPr>
            <p:cNvPr id="27661" name="Text Box 12"/>
            <p:cNvSpPr txBox="1"/>
            <p:nvPr/>
          </p:nvSpPr>
          <p:spPr>
            <a:xfrm>
              <a:off x="4013" y="362"/>
              <a:ext cx="405" cy="290"/>
            </a:xfrm>
            <a:prstGeom prst="rect">
              <a:avLst/>
            </a:prstGeom>
            <a:noFill/>
            <a:ln w="19050">
              <a:noFill/>
            </a:ln>
          </p:spPr>
          <p:txBody>
            <a:bodyPr wrap="none">
              <a:spAutoFit/>
            </a:bodyPr>
            <a:lstStyle/>
            <a:p>
              <a:pPr algn="ct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p>
          </p:txBody>
        </p:sp>
        <p:sp>
          <p:nvSpPr>
            <p:cNvPr id="27662" name="Text Box 13"/>
            <p:cNvSpPr txBox="1"/>
            <p:nvPr/>
          </p:nvSpPr>
          <p:spPr>
            <a:xfrm>
              <a:off x="1007" y="658"/>
              <a:ext cx="403" cy="1919"/>
            </a:xfrm>
            <a:prstGeom prst="rect">
              <a:avLst/>
            </a:prstGeom>
            <a:noFill/>
            <a:ln w="19050">
              <a:noFill/>
            </a:ln>
          </p:spPr>
          <p:txBody>
            <a:bodyPr wrap="none">
              <a:spAutoFit/>
            </a:bodyPr>
            <a:lstStyle/>
            <a:p>
              <a:pPr algn="ctr"/>
              <a:r>
                <a:rPr lang="en-US" altLang="zh-CN" sz="2400" dirty="0">
                  <a:latin typeface="Times New Roman" panose="02020603050405020304" pitchFamily="18" charset="0"/>
                </a:rPr>
                <a:t>000</a:t>
              </a:r>
            </a:p>
            <a:p>
              <a:pPr algn="ctr"/>
              <a:r>
                <a:rPr lang="en-US" altLang="zh-CN" sz="2400" dirty="0">
                  <a:latin typeface="Times New Roman" panose="02020603050405020304" pitchFamily="18" charset="0"/>
                </a:rPr>
                <a:t>001</a:t>
              </a:r>
            </a:p>
            <a:p>
              <a:pPr algn="ctr"/>
              <a:r>
                <a:rPr lang="en-US" altLang="zh-CN" sz="2400" dirty="0">
                  <a:latin typeface="Times New Roman" panose="02020603050405020304" pitchFamily="18" charset="0"/>
                </a:rPr>
                <a:t>010</a:t>
              </a:r>
            </a:p>
            <a:p>
              <a:pPr algn="ctr"/>
              <a:r>
                <a:rPr lang="en-US" altLang="zh-CN" sz="2400" dirty="0">
                  <a:latin typeface="Times New Roman" panose="02020603050405020304" pitchFamily="18" charset="0"/>
                </a:rPr>
                <a:t>011</a:t>
              </a:r>
            </a:p>
            <a:p>
              <a:pPr algn="ctr"/>
              <a:r>
                <a:rPr lang="en-US" altLang="zh-CN" sz="2400" dirty="0">
                  <a:latin typeface="Times New Roman" panose="02020603050405020304" pitchFamily="18" charset="0"/>
                </a:rPr>
                <a:t>100</a:t>
              </a:r>
            </a:p>
            <a:p>
              <a:pPr algn="ctr"/>
              <a:r>
                <a:rPr lang="en-US" altLang="zh-CN" sz="2400" dirty="0">
                  <a:latin typeface="Times New Roman" panose="02020603050405020304" pitchFamily="18" charset="0"/>
                </a:rPr>
                <a:t>101</a:t>
              </a:r>
            </a:p>
            <a:p>
              <a:pPr algn="ctr"/>
              <a:r>
                <a:rPr lang="en-US" altLang="zh-CN" sz="2400" dirty="0">
                  <a:latin typeface="Times New Roman" panose="02020603050405020304" pitchFamily="18" charset="0"/>
                </a:rPr>
                <a:t>110</a:t>
              </a:r>
            </a:p>
            <a:p>
              <a:pPr algn="ctr"/>
              <a:r>
                <a:rPr lang="en-US" altLang="zh-CN" sz="2400" dirty="0">
                  <a:latin typeface="Times New Roman" panose="02020603050405020304" pitchFamily="18" charset="0"/>
                </a:rPr>
                <a:t>111</a:t>
              </a:r>
            </a:p>
          </p:txBody>
        </p:sp>
        <p:sp>
          <p:nvSpPr>
            <p:cNvPr id="27663" name="Text Box 14"/>
            <p:cNvSpPr txBox="1"/>
            <p:nvPr/>
          </p:nvSpPr>
          <p:spPr>
            <a:xfrm>
              <a:off x="2354" y="658"/>
              <a:ext cx="403" cy="1919"/>
            </a:xfrm>
            <a:prstGeom prst="rect">
              <a:avLst/>
            </a:prstGeom>
            <a:noFill/>
            <a:ln w="19050">
              <a:noFill/>
            </a:ln>
          </p:spPr>
          <p:txBody>
            <a:bodyPr wrap="none">
              <a:spAutoFit/>
            </a:bodyPr>
            <a:lstStyle/>
            <a:p>
              <a:pPr algn="ctr"/>
              <a:r>
                <a:rPr lang="en-US" altLang="zh-CN" sz="2400" dirty="0">
                  <a:latin typeface="Times New Roman" panose="02020603050405020304" pitchFamily="18" charset="0"/>
                </a:rPr>
                <a:t>111</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000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001</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010</a:t>
              </a:r>
            </a:p>
            <a:p>
              <a:pPr algn="ctr"/>
              <a:r>
                <a:rPr lang="en-US" altLang="zh-CN" sz="2400" dirty="0">
                  <a:latin typeface="Times New Roman" panose="02020603050405020304" pitchFamily="18" charset="0"/>
                </a:rPr>
                <a:t>011</a:t>
              </a:r>
            </a:p>
            <a:p>
              <a:pPr algn="ctr"/>
              <a:r>
                <a:rPr lang="en-US" altLang="zh-CN" sz="2400" dirty="0">
                  <a:latin typeface="Times New Roman" panose="02020603050405020304" pitchFamily="18" charset="0"/>
                </a:rPr>
                <a:t>100</a:t>
              </a:r>
            </a:p>
            <a:p>
              <a:pPr algn="ctr"/>
              <a:r>
                <a:rPr lang="en-US" altLang="zh-CN" sz="2400" dirty="0">
                  <a:latin typeface="Times New Roman" panose="02020603050405020304" pitchFamily="18" charset="0"/>
                </a:rPr>
                <a:t>101</a:t>
              </a:r>
            </a:p>
            <a:p>
              <a:pPr algn="ctr"/>
              <a:r>
                <a:rPr lang="en-US" altLang="zh-CN" sz="2400" dirty="0">
                  <a:latin typeface="Times New Roman" panose="02020603050405020304" pitchFamily="18" charset="0"/>
                </a:rPr>
                <a:t>110</a:t>
              </a:r>
            </a:p>
          </p:txBody>
        </p:sp>
        <p:sp>
          <p:nvSpPr>
            <p:cNvPr id="27664" name="Text Box 15"/>
            <p:cNvSpPr txBox="1"/>
            <p:nvPr/>
          </p:nvSpPr>
          <p:spPr>
            <a:xfrm>
              <a:off x="3957" y="658"/>
              <a:ext cx="560" cy="2151"/>
            </a:xfrm>
            <a:prstGeom prst="rect">
              <a:avLst/>
            </a:prstGeom>
            <a:noFill/>
            <a:ln w="19050">
              <a:noFill/>
            </a:ln>
          </p:spPr>
          <p:txBody>
            <a:bodyPr>
              <a:spAutoFit/>
            </a:bodyPr>
            <a:lstStyle/>
            <a:p>
              <a:pPr algn="ctr"/>
              <a:r>
                <a:rPr lang="en-US" altLang="zh-CN" sz="2400" dirty="0">
                  <a:latin typeface="Times New Roman" panose="02020603050405020304" pitchFamily="18" charset="0"/>
                </a:rPr>
                <a:t>001</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010</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011</a:t>
              </a:r>
              <a:endParaRPr lang="en-US" altLang="zh-CN" sz="2400" baseline="-25000" dirty="0">
                <a:latin typeface="Times New Roman" panose="02020603050405020304" pitchFamily="18" charset="0"/>
              </a:endParaRPr>
            </a:p>
            <a:p>
              <a:pPr algn="ctr"/>
              <a:r>
                <a:rPr lang="en-US" altLang="zh-CN" sz="2400" dirty="0">
                  <a:latin typeface="Times New Roman" panose="02020603050405020304" pitchFamily="18" charset="0"/>
                </a:rPr>
                <a:t>100</a:t>
              </a:r>
            </a:p>
            <a:p>
              <a:pPr algn="ctr"/>
              <a:r>
                <a:rPr lang="en-US" altLang="zh-CN" sz="2400" dirty="0">
                  <a:latin typeface="Times New Roman" panose="02020603050405020304" pitchFamily="18" charset="0"/>
                </a:rPr>
                <a:t>101</a:t>
              </a:r>
            </a:p>
            <a:p>
              <a:pPr algn="ctr"/>
              <a:r>
                <a:rPr lang="en-US" altLang="zh-CN" sz="2400" dirty="0">
                  <a:latin typeface="Times New Roman" panose="02020603050405020304" pitchFamily="18" charset="0"/>
                </a:rPr>
                <a:t>110</a:t>
              </a:r>
            </a:p>
            <a:p>
              <a:pPr algn="ctr"/>
              <a:r>
                <a:rPr lang="en-US" altLang="zh-CN" sz="2400" dirty="0">
                  <a:latin typeface="Times New Roman" panose="02020603050405020304" pitchFamily="18" charset="0"/>
                </a:rPr>
                <a:t>111</a:t>
              </a:r>
            </a:p>
            <a:p>
              <a:pPr algn="ctr"/>
              <a:r>
                <a:rPr lang="en-US" altLang="zh-CN" sz="2400" dirty="0">
                  <a:latin typeface="Times New Roman" panose="02020603050405020304" pitchFamily="18" charset="0"/>
                </a:rPr>
                <a:t>000</a:t>
              </a:r>
            </a:p>
            <a:p>
              <a:pPr algn="ctr"/>
              <a:endParaRPr lang="en-US" altLang="zh-CN" sz="2400" dirty="0">
                <a:latin typeface="Times New Roman" panose="02020603050405020304" pitchFamily="18" charset="0"/>
              </a:endParaRPr>
            </a:p>
          </p:txBody>
        </p:sp>
      </p:grpSp>
      <p:sp>
        <p:nvSpPr>
          <p:cNvPr id="27651" name="Text Box 16" descr="羊皮纸"/>
          <p:cNvSpPr txBox="1"/>
          <p:nvPr/>
        </p:nvSpPr>
        <p:spPr>
          <a:xfrm>
            <a:off x="3186113" y="596900"/>
            <a:ext cx="1709420" cy="461645"/>
          </a:xfrm>
          <a:prstGeom prst="rect">
            <a:avLst/>
          </a:prstGeom>
          <a:noFill/>
          <a:ln w="38100">
            <a:noFill/>
          </a:ln>
        </p:spPr>
        <p:txBody>
          <a:bodyPr wrap="none" lIns="90000" tIns="46800" rIns="90000" bIns="46800">
            <a:spAutoFit/>
          </a:bodyPr>
          <a:lstStyle/>
          <a:p>
            <a:r>
              <a:rPr lang="zh-CN" altLang="en-US" sz="2400" b="1" dirty="0">
                <a:latin typeface="Times New Roman" panose="02020603050405020304" pitchFamily="18" charset="0"/>
              </a:rPr>
              <a:t>原始状态表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ext Box 2"/>
          <p:cNvSpPr txBox="1">
            <a:spLocks noChangeArrowheads="1"/>
          </p:cNvSpPr>
          <p:nvPr/>
        </p:nvSpPr>
        <p:spPr bwMode="auto">
          <a:xfrm>
            <a:off x="3448050" y="842963"/>
            <a:ext cx="2679700" cy="521970"/>
          </a:xfrm>
          <a:prstGeom prst="rect">
            <a:avLst/>
          </a:prstGeom>
          <a:noFill/>
          <a:ln w="9525">
            <a:noFill/>
            <a:miter lim="800000"/>
          </a:ln>
          <a:effectLst/>
        </p:spPr>
        <p:txBody>
          <a:bodyPr wrap="none">
            <a:spAutoFit/>
          </a:bodyPr>
          <a:lstStyle/>
          <a:p>
            <a:pPr marR="0" defTabSz="914400">
              <a:buClrTx/>
              <a:buSzTx/>
              <a:buFontTx/>
              <a:buNone/>
              <a:defRPr/>
            </a:pPr>
            <a:r>
              <a:rPr kumimoji="1"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7.5.3    </a:t>
            </a:r>
            <a:r>
              <a:rPr kumimoji="1" lang="zh-CN"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状态简化</a:t>
            </a:r>
            <a:endParaRPr kumimoji="1"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grpSp>
        <p:nvGrpSpPr>
          <p:cNvPr id="2" name="Group 3"/>
          <p:cNvGrpSpPr/>
          <p:nvPr/>
        </p:nvGrpSpPr>
        <p:grpSpPr>
          <a:xfrm>
            <a:off x="666750" y="1504950"/>
            <a:ext cx="7791450" cy="4646613"/>
            <a:chOff x="420" y="948"/>
            <a:chExt cx="4908" cy="2927"/>
          </a:xfrm>
        </p:grpSpPr>
        <p:sp>
          <p:nvSpPr>
            <p:cNvPr id="28676" name="Text Box 4"/>
            <p:cNvSpPr txBox="1"/>
            <p:nvPr/>
          </p:nvSpPr>
          <p:spPr>
            <a:xfrm>
              <a:off x="420" y="948"/>
              <a:ext cx="4908" cy="1820"/>
            </a:xfrm>
            <a:prstGeom prst="rect">
              <a:avLst/>
            </a:prstGeom>
            <a:noFill/>
            <a:ln w="19050">
              <a:noFill/>
            </a:ln>
          </p:spPr>
          <p:txBody>
            <a:bodyPr>
              <a:spAutoFit/>
            </a:bodyPr>
            <a:lstStyle/>
            <a:p>
              <a:pPr indent="762000" algn="just">
                <a:lnSpc>
                  <a:spcPct val="130000"/>
                </a:lnSpc>
                <a:spcBef>
                  <a:spcPct val="50000"/>
                </a:spcBef>
              </a:pPr>
              <a:r>
                <a:rPr lang="zh-CN" altLang="en-US" sz="2800" dirty="0">
                  <a:latin typeface="Times New Roman" panose="02020603050405020304" pitchFamily="18" charset="0"/>
                </a:rPr>
                <a:t>一般情况下，原始状态图和原始状态表中存在着多余的状态。状态个数越多，电路中所需的触发器的数目也越多，制造成本就越高。为降低制造成本，需要去掉多余的状态，即要进行</a:t>
              </a:r>
              <a:r>
                <a:rPr lang="zh-CN" altLang="en-US" sz="2800" b="1" dirty="0">
                  <a:latin typeface="Times New Roman" panose="02020603050405020304" pitchFamily="18" charset="0"/>
                </a:rPr>
                <a:t>状态简化</a:t>
              </a:r>
              <a:r>
                <a:rPr lang="zh-CN" altLang="en-US" sz="2800" dirty="0">
                  <a:latin typeface="Times New Roman" panose="02020603050405020304" pitchFamily="18" charset="0"/>
                </a:rPr>
                <a:t>。</a:t>
              </a:r>
            </a:p>
          </p:txBody>
        </p:sp>
        <p:sp>
          <p:nvSpPr>
            <p:cNvPr id="28677" name="Text Box 5"/>
            <p:cNvSpPr txBox="1"/>
            <p:nvPr/>
          </p:nvSpPr>
          <p:spPr>
            <a:xfrm>
              <a:off x="420" y="2760"/>
              <a:ext cx="4908" cy="1115"/>
            </a:xfrm>
            <a:prstGeom prst="rect">
              <a:avLst/>
            </a:prstGeom>
            <a:noFill/>
            <a:ln w="19050">
              <a:noFill/>
            </a:ln>
          </p:spPr>
          <p:txBody>
            <a:bodyPr>
              <a:spAutoFit/>
            </a:bodyPr>
            <a:lstStyle/>
            <a:p>
              <a:pPr indent="762000" algn="just">
                <a:lnSpc>
                  <a:spcPct val="130000"/>
                </a:lnSpc>
                <a:spcBef>
                  <a:spcPct val="50000"/>
                </a:spcBef>
              </a:pPr>
              <a:r>
                <a:rPr lang="zh-CN" altLang="en-US" sz="2800" dirty="0">
                  <a:latin typeface="Times New Roman" panose="02020603050405020304" pitchFamily="18" charset="0"/>
                </a:rPr>
                <a:t>所谓</a:t>
              </a:r>
              <a:r>
                <a:rPr lang="zh-CN" altLang="en-US" sz="2800" b="1" dirty="0">
                  <a:solidFill>
                    <a:srgbClr val="FF0000"/>
                  </a:solidFill>
                  <a:latin typeface="Times New Roman" panose="02020603050405020304" pitchFamily="18" charset="0"/>
                </a:rPr>
                <a:t>状态简化</a:t>
              </a:r>
              <a:r>
                <a:rPr lang="zh-CN" altLang="en-US" sz="2800" dirty="0">
                  <a:latin typeface="Times New Roman" panose="02020603050405020304" pitchFamily="18" charset="0"/>
                </a:rPr>
                <a:t>，就是要获得一个最小化的状态表。这个表不仅能正确地反映设计的全部要求，而且状态的数目最少。</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9746"/>
                                        </p:tgtEl>
                                        <p:attrNameLst>
                                          <p:attrName>style.visibility</p:attrName>
                                        </p:attrNameLst>
                                      </p:cBhvr>
                                      <p:to>
                                        <p:strVal val="visible"/>
                                      </p:to>
                                    </p:set>
                                    <p:animEffect transition="in" filter="wipe(left)">
                                      <p:cBhvr>
                                        <p:cTn id="7" dur="500"/>
                                        <p:tgtEl>
                                          <p:spTgt spid="1597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6" grpId="0" bldLvl="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descr="羊皮纸"/>
          <p:cNvSpPr/>
          <p:nvPr/>
        </p:nvSpPr>
        <p:spPr>
          <a:xfrm>
            <a:off x="244475" y="917575"/>
            <a:ext cx="8258175" cy="1462088"/>
          </a:xfrm>
          <a:prstGeom prst="rect">
            <a:avLst/>
          </a:prstGeom>
          <a:blipFill rotWithShape="0">
            <a:blip r:embed="rId21"/>
          </a:blipFill>
          <a:ln w="19050">
            <a:noFill/>
          </a:ln>
        </p:spPr>
        <p:txBody>
          <a:bodyPr wrap="none" anchor="ctr" anchorCtr="0"/>
          <a:lstStyle/>
          <a:p>
            <a:pPr algn="ctr">
              <a:lnSpc>
                <a:spcPct val="120000"/>
              </a:lnSpc>
            </a:pPr>
            <a:r>
              <a:rPr lang="zh-CN" altLang="en-US" sz="2800" b="1" dirty="0">
                <a:latin typeface="Times New Roman" panose="02020603050405020304" pitchFamily="18" charset="0"/>
              </a:rPr>
              <a:t>完全确定状态表</a:t>
            </a:r>
            <a:r>
              <a:rPr lang="zh-CN" altLang="en-US" sz="2800" dirty="0">
                <a:latin typeface="Times New Roman" panose="02020603050405020304" pitchFamily="18" charset="0"/>
              </a:rPr>
              <a:t>： 状态表中的</a:t>
            </a:r>
            <a:r>
              <a:rPr lang="zh-CN" altLang="zh-CN" sz="2800" dirty="0">
                <a:latin typeface="Times New Roman" panose="02020603050405020304" pitchFamily="18" charset="0"/>
              </a:rPr>
              <a:t>次态和输出都有确定的</a:t>
            </a:r>
            <a:endParaRPr lang="zh-CN" altLang="en-US" sz="2800" dirty="0">
              <a:latin typeface="Times New Roman" panose="02020603050405020304" pitchFamily="18" charset="0"/>
            </a:endParaRPr>
          </a:p>
          <a:p>
            <a:pPr algn="ctr">
              <a:lnSpc>
                <a:spcPct val="120000"/>
              </a:lnSpc>
            </a:pPr>
            <a:r>
              <a:rPr lang="zh-CN" altLang="zh-CN" sz="2800" dirty="0">
                <a:latin typeface="Times New Roman" panose="02020603050405020304" pitchFamily="18" charset="0"/>
              </a:rPr>
              <a:t>	</a:t>
            </a:r>
            <a:r>
              <a:rPr lang="zh-CN" altLang="en-US" sz="2800" dirty="0">
                <a:latin typeface="Times New Roman" panose="02020603050405020304" pitchFamily="18" charset="0"/>
              </a:rPr>
              <a:t>   </a:t>
            </a:r>
            <a:r>
              <a:rPr lang="zh-CN" altLang="zh-CN" sz="2800" dirty="0">
                <a:latin typeface="Times New Roman" panose="02020603050405020304" pitchFamily="18" charset="0"/>
              </a:rPr>
              <a:t>状态和确定的输出值。</a:t>
            </a:r>
          </a:p>
          <a:p>
            <a:pPr algn="ctr"/>
            <a:endParaRPr lang="en-US" altLang="zh-CN" sz="2800" dirty="0">
              <a:latin typeface="Times New Roman" panose="02020603050405020304" pitchFamily="18" charset="0"/>
            </a:endParaRPr>
          </a:p>
        </p:txBody>
      </p:sp>
      <p:sp>
        <p:nvSpPr>
          <p:cNvPr id="160771" name="Text Box 3" descr="羊皮纸"/>
          <p:cNvSpPr txBox="1"/>
          <p:nvPr/>
        </p:nvSpPr>
        <p:spPr>
          <a:xfrm>
            <a:off x="388938" y="1892300"/>
            <a:ext cx="8366125" cy="2675255"/>
          </a:xfrm>
          <a:prstGeom prst="rect">
            <a:avLst/>
          </a:prstGeom>
          <a:blipFill rotWithShape="1">
            <a:blip r:embed="rId21"/>
          </a:blipFill>
          <a:ln w="38100">
            <a:noFill/>
          </a:ln>
        </p:spPr>
        <p:txBody>
          <a:bodyPr>
            <a:spAutoFit/>
          </a:bodyPr>
          <a:lstStyle/>
          <a:p>
            <a:pPr marL="381000" indent="-381000" algn="just" defTabSz="285750">
              <a:lnSpc>
                <a:spcPct val="120000"/>
              </a:lnSpc>
              <a:tabLst>
                <a:tab pos="285750" algn="l"/>
              </a:tabLst>
            </a:pPr>
            <a:r>
              <a:rPr lang="zh-CN" altLang="zh-CN" sz="2800" b="1" dirty="0">
                <a:latin typeface="Times New Roman" panose="02020603050405020304" pitchFamily="18" charset="0"/>
              </a:rPr>
              <a:t>等效状态：</a:t>
            </a:r>
            <a:r>
              <a:rPr lang="zh-CN" altLang="zh-CN" sz="2800" dirty="0">
                <a:latin typeface="Times New Roman" panose="02020603050405020304" pitchFamily="18" charset="0"/>
              </a:rPr>
              <a:t>设状态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是完全确定状态表中的两个状态,如果对于所有可能的输入序列，分别从状态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	</a:t>
            </a:r>
            <a:r>
              <a:rPr lang="zh-CN" altLang="zh-CN" sz="2800" dirty="0">
                <a:latin typeface="Times New Roman" panose="02020603050405020304" pitchFamily="18" charset="0"/>
              </a:rPr>
              <a:t>和状态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出发，所得到的输出响应序列完全相同，	则状态</a:t>
            </a:r>
            <a:r>
              <a:rPr lang="en-US" altLang="zh-CN" sz="2800" dirty="0">
                <a:latin typeface="Times New Roman" panose="02020603050405020304" pitchFamily="18" charset="0"/>
              </a:rPr>
              <a:t>S1</a:t>
            </a:r>
            <a:r>
              <a:rPr lang="zh-CN" altLang="zh-CN" sz="2800" dirty="0">
                <a:latin typeface="Times New Roman" panose="02020603050405020304" pitchFamily="18" charset="0"/>
              </a:rPr>
              <a:t>和</a:t>
            </a:r>
            <a:r>
              <a:rPr lang="en-US" altLang="zh-CN" sz="2800" dirty="0">
                <a:latin typeface="Times New Roman" panose="02020603050405020304" pitchFamily="18" charset="0"/>
              </a:rPr>
              <a:t>S2</a:t>
            </a:r>
            <a:r>
              <a:rPr lang="zh-CN" altLang="zh-CN" sz="2800" dirty="0">
                <a:latin typeface="Times New Roman" panose="02020603050405020304" pitchFamily="18" charset="0"/>
              </a:rPr>
              <a:t>是等效的，记作(</a:t>
            </a:r>
            <a:r>
              <a:rPr lang="en-US" altLang="zh-CN" sz="2800" dirty="0">
                <a:latin typeface="Times New Roman" panose="02020603050405020304" pitchFamily="18" charset="0"/>
              </a:rPr>
              <a:t>S1, S2) .	</a:t>
            </a:r>
            <a:r>
              <a:rPr lang="zh-CN" altLang="zh-CN" sz="2800" dirty="0">
                <a:latin typeface="Times New Roman" panose="02020603050405020304" pitchFamily="18" charset="0"/>
              </a:rPr>
              <a:t>或说，状态</a:t>
            </a:r>
            <a:r>
              <a:rPr lang="en-US" altLang="zh-CN" sz="2800" dirty="0">
                <a:latin typeface="Times New Roman" panose="02020603050405020304" pitchFamily="18" charset="0"/>
              </a:rPr>
              <a:t>S1</a:t>
            </a:r>
            <a:r>
              <a:rPr lang="zh-CN" altLang="zh-CN" sz="2800" dirty="0">
                <a:latin typeface="Times New Roman" panose="02020603050405020304" pitchFamily="18" charset="0"/>
              </a:rPr>
              <a:t>和</a:t>
            </a:r>
            <a:r>
              <a:rPr lang="en-US" altLang="zh-CN" sz="2800" dirty="0">
                <a:latin typeface="Times New Roman" panose="02020603050405020304" pitchFamily="18" charset="0"/>
              </a:rPr>
              <a:t>S2</a:t>
            </a:r>
            <a:r>
              <a:rPr lang="zh-CN" altLang="zh-CN" sz="2800" dirty="0">
                <a:latin typeface="Times New Roman" panose="02020603050405020304" pitchFamily="18" charset="0"/>
              </a:rPr>
              <a:t>是等效对。等效状态可以合并。</a:t>
            </a:r>
            <a:endParaRPr lang="zh-CN" altLang="en-US" sz="2800" dirty="0">
              <a:latin typeface="Times New Roman" panose="02020603050405020304" pitchFamily="18" charset="0"/>
            </a:endParaRPr>
          </a:p>
        </p:txBody>
      </p:sp>
      <p:sp>
        <p:nvSpPr>
          <p:cNvPr id="160772" name="Text Box 4"/>
          <p:cNvSpPr txBox="1">
            <a:spLocks noChangeArrowheads="1"/>
          </p:cNvSpPr>
          <p:nvPr/>
        </p:nvSpPr>
        <p:spPr bwMode="auto">
          <a:xfrm>
            <a:off x="285750" y="442913"/>
            <a:ext cx="4572000" cy="521970"/>
          </a:xfrm>
          <a:prstGeom prst="rect">
            <a:avLst/>
          </a:prstGeom>
          <a:noFill/>
          <a:ln w="57150">
            <a:noFill/>
            <a:miter lim="800000"/>
            <a:tailEnd type="none" w="sm" len="lg"/>
          </a:ln>
          <a:effectLst/>
        </p:spPr>
        <p:txBody>
          <a:bodyPr>
            <a:spAutoFit/>
          </a:bodyPr>
          <a:lstStyle/>
          <a:p>
            <a:pPr marR="0" algn="just" defTabSz="914400">
              <a:spcBef>
                <a:spcPct val="50000"/>
              </a:spcBef>
              <a:buClrTx/>
              <a:buSzTx/>
              <a:buFontTx/>
              <a:buNone/>
              <a:defRPr/>
            </a:pPr>
            <a:r>
              <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一、完全确定状态表的简化</a:t>
            </a:r>
          </a:p>
        </p:txBody>
      </p:sp>
      <p:grpSp>
        <p:nvGrpSpPr>
          <p:cNvPr id="2" name="Group 6"/>
          <p:cNvGrpSpPr/>
          <p:nvPr>
            <p:custDataLst>
              <p:tags r:id="rId1"/>
            </p:custDataLst>
          </p:nvPr>
        </p:nvGrpSpPr>
        <p:grpSpPr>
          <a:xfrm>
            <a:off x="2241550" y="4811713"/>
            <a:ext cx="762000" cy="1885950"/>
            <a:chOff x="756" y="732"/>
            <a:chExt cx="480" cy="1188"/>
          </a:xfrm>
        </p:grpSpPr>
        <p:sp>
          <p:nvSpPr>
            <p:cNvPr id="29732" name="Oval 7"/>
            <p:cNvSpPr/>
            <p:nvPr>
              <p:custDataLst>
                <p:tags r:id="rId18"/>
              </p:custDataLst>
            </p:nvPr>
          </p:nvSpPr>
          <p:spPr>
            <a:xfrm>
              <a:off x="756" y="732"/>
              <a:ext cx="480" cy="480"/>
            </a:xfrm>
            <a:prstGeom prst="ellipse">
              <a:avLst/>
            </a:prstGeom>
            <a:solidFill>
              <a:srgbClr val="A3FFE7"/>
            </a:solidFill>
            <a:ln w="38100" cap="flat" cmpd="sng">
              <a:solidFill>
                <a:srgbClr val="FF66FF"/>
              </a:solidFill>
              <a:prstDash val="solid"/>
              <a:headEnd type="none" w="med" len="med"/>
              <a:tailEnd type="none" w="sm" len="lg"/>
            </a:ln>
          </p:spPr>
          <p:txBody>
            <a:bodyPr wrap="none" anchor="ctr" anchorCtr="0"/>
            <a:lstStyle/>
            <a:p>
              <a:pPr algn="ct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dirty="0">
                <a:latin typeface="Times New Roman" panose="02020603050405020304" pitchFamily="18" charset="0"/>
              </a:endParaRPr>
            </a:p>
          </p:txBody>
        </p:sp>
        <p:sp>
          <p:nvSpPr>
            <p:cNvPr id="29733" name="Oval 8"/>
            <p:cNvSpPr/>
            <p:nvPr>
              <p:custDataLst>
                <p:tags r:id="rId19"/>
              </p:custDataLst>
            </p:nvPr>
          </p:nvSpPr>
          <p:spPr>
            <a:xfrm>
              <a:off x="756" y="1440"/>
              <a:ext cx="480" cy="480"/>
            </a:xfrm>
            <a:prstGeom prst="ellipse">
              <a:avLst/>
            </a:prstGeom>
            <a:solidFill>
              <a:srgbClr val="A3FFE7"/>
            </a:solidFill>
            <a:ln w="38100" cap="flat" cmpd="sng">
              <a:solidFill>
                <a:srgbClr val="FF66FF"/>
              </a:solidFill>
              <a:prstDash val="solid"/>
              <a:headEnd type="none" w="med" len="med"/>
              <a:tailEnd type="none" w="sm" len="lg"/>
            </a:ln>
          </p:spPr>
          <p:txBody>
            <a:bodyPr wrap="none" anchor="ctr" anchorCtr="0"/>
            <a:lstStyle/>
            <a:p>
              <a:pPr algn="ct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dirty="0">
                <a:latin typeface="Times New Roman" panose="02020603050405020304" pitchFamily="18" charset="0"/>
              </a:endParaRPr>
            </a:p>
          </p:txBody>
        </p:sp>
      </p:grpSp>
      <p:grpSp>
        <p:nvGrpSpPr>
          <p:cNvPr id="3" name="Group 9"/>
          <p:cNvGrpSpPr/>
          <p:nvPr>
            <p:custDataLst>
              <p:tags r:id="rId2"/>
            </p:custDataLst>
          </p:nvPr>
        </p:nvGrpSpPr>
        <p:grpSpPr>
          <a:xfrm>
            <a:off x="4032250" y="4811713"/>
            <a:ext cx="762000" cy="1885950"/>
            <a:chOff x="1884" y="732"/>
            <a:chExt cx="480" cy="1188"/>
          </a:xfrm>
        </p:grpSpPr>
        <p:sp>
          <p:nvSpPr>
            <p:cNvPr id="29730" name="Oval 10"/>
            <p:cNvSpPr/>
            <p:nvPr>
              <p:custDataLst>
                <p:tags r:id="rId16"/>
              </p:custDataLst>
            </p:nvPr>
          </p:nvSpPr>
          <p:spPr>
            <a:xfrm>
              <a:off x="1884" y="732"/>
              <a:ext cx="480" cy="480"/>
            </a:xfrm>
            <a:prstGeom prst="ellipse">
              <a:avLst/>
            </a:prstGeom>
            <a:solidFill>
              <a:srgbClr val="A3FFE7"/>
            </a:solidFill>
            <a:ln w="38100" cap="flat" cmpd="sng">
              <a:solidFill>
                <a:srgbClr val="FF66FF"/>
              </a:solidFill>
              <a:prstDash val="solid"/>
              <a:headEnd type="none" w="med" len="med"/>
              <a:tailEnd type="none" w="sm" len="lg"/>
            </a:ln>
          </p:spPr>
          <p:txBody>
            <a:bodyPr wrap="none" anchor="ctr" anchorCtr="0"/>
            <a:lstStyle/>
            <a:p>
              <a:pPr algn="ct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29731" name="Oval 11"/>
            <p:cNvSpPr/>
            <p:nvPr>
              <p:custDataLst>
                <p:tags r:id="rId17"/>
              </p:custDataLst>
            </p:nvPr>
          </p:nvSpPr>
          <p:spPr>
            <a:xfrm>
              <a:off x="1884" y="1440"/>
              <a:ext cx="480" cy="480"/>
            </a:xfrm>
            <a:prstGeom prst="ellipse">
              <a:avLst/>
            </a:prstGeom>
            <a:solidFill>
              <a:srgbClr val="A3FFE7"/>
            </a:solidFill>
            <a:ln w="38100" cap="flat" cmpd="sng">
              <a:solidFill>
                <a:srgbClr val="FF66FF"/>
              </a:solidFill>
              <a:prstDash val="solid"/>
              <a:headEnd type="none" w="med" len="med"/>
              <a:tailEnd type="none" w="sm" len="lg"/>
            </a:ln>
          </p:spPr>
          <p:txBody>
            <a:bodyPr wrap="none" anchor="ctr" anchorCtr="0"/>
            <a:lstStyle/>
            <a:p>
              <a:pPr algn="ct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p:txBody>
        </p:sp>
      </p:grpSp>
      <p:grpSp>
        <p:nvGrpSpPr>
          <p:cNvPr id="4" name="Group 12"/>
          <p:cNvGrpSpPr/>
          <p:nvPr>
            <p:custDataLst>
              <p:tags r:id="rId3"/>
            </p:custDataLst>
          </p:nvPr>
        </p:nvGrpSpPr>
        <p:grpSpPr>
          <a:xfrm>
            <a:off x="5765800" y="4811713"/>
            <a:ext cx="762000" cy="1885950"/>
            <a:chOff x="2976" y="732"/>
            <a:chExt cx="480" cy="1188"/>
          </a:xfrm>
        </p:grpSpPr>
        <p:sp>
          <p:nvSpPr>
            <p:cNvPr id="29728" name="Oval 13"/>
            <p:cNvSpPr/>
            <p:nvPr>
              <p:custDataLst>
                <p:tags r:id="rId14"/>
              </p:custDataLst>
            </p:nvPr>
          </p:nvSpPr>
          <p:spPr>
            <a:xfrm>
              <a:off x="2976" y="732"/>
              <a:ext cx="480" cy="480"/>
            </a:xfrm>
            <a:prstGeom prst="ellipse">
              <a:avLst/>
            </a:prstGeom>
            <a:solidFill>
              <a:srgbClr val="A3FFE7"/>
            </a:solidFill>
            <a:ln w="38100" cap="flat" cmpd="sng">
              <a:solidFill>
                <a:srgbClr val="FF66FF"/>
              </a:solidFill>
              <a:prstDash val="solid"/>
              <a:headEnd type="none" w="med" len="med"/>
              <a:tailEnd type="none" w="sm" len="lg"/>
            </a:ln>
          </p:spPr>
          <p:txBody>
            <a:bodyPr wrap="none" anchor="ctr" anchorCtr="0"/>
            <a:lstStyle/>
            <a:p>
              <a:pPr algn="ct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dirty="0">
                <a:latin typeface="Times New Roman" panose="02020603050405020304" pitchFamily="18" charset="0"/>
              </a:endParaRPr>
            </a:p>
          </p:txBody>
        </p:sp>
        <p:sp>
          <p:nvSpPr>
            <p:cNvPr id="29729" name="Oval 14"/>
            <p:cNvSpPr/>
            <p:nvPr>
              <p:custDataLst>
                <p:tags r:id="rId15"/>
              </p:custDataLst>
            </p:nvPr>
          </p:nvSpPr>
          <p:spPr>
            <a:xfrm>
              <a:off x="2976" y="1440"/>
              <a:ext cx="480" cy="480"/>
            </a:xfrm>
            <a:prstGeom prst="ellipse">
              <a:avLst/>
            </a:prstGeom>
            <a:solidFill>
              <a:srgbClr val="A3FFE7"/>
            </a:solidFill>
            <a:ln w="38100" cap="flat" cmpd="sng">
              <a:solidFill>
                <a:srgbClr val="FF66FF"/>
              </a:solidFill>
              <a:prstDash val="solid"/>
              <a:headEnd type="none" w="med" len="med"/>
              <a:tailEnd type="none" w="sm" len="lg"/>
            </a:ln>
          </p:spPr>
          <p:txBody>
            <a:bodyPr wrap="none" anchor="ctr" anchorCtr="0"/>
            <a:lstStyle/>
            <a:p>
              <a:pPr algn="ct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dirty="0">
                <a:latin typeface="Times New Roman" panose="02020603050405020304" pitchFamily="18" charset="0"/>
              </a:endParaRPr>
            </a:p>
          </p:txBody>
        </p:sp>
      </p:grpSp>
      <p:grpSp>
        <p:nvGrpSpPr>
          <p:cNvPr id="6" name="Group 18"/>
          <p:cNvGrpSpPr/>
          <p:nvPr>
            <p:custDataLst>
              <p:tags r:id="rId4"/>
            </p:custDataLst>
          </p:nvPr>
        </p:nvGrpSpPr>
        <p:grpSpPr>
          <a:xfrm>
            <a:off x="3041650" y="4745038"/>
            <a:ext cx="933450" cy="1665287"/>
            <a:chOff x="1260" y="690"/>
            <a:chExt cx="588" cy="1049"/>
          </a:xfrm>
        </p:grpSpPr>
        <p:sp>
          <p:nvSpPr>
            <p:cNvPr id="29722" name="Line 19"/>
            <p:cNvSpPr/>
            <p:nvPr>
              <p:custDataLst>
                <p:tags r:id="rId10"/>
              </p:custDataLst>
            </p:nvPr>
          </p:nvSpPr>
          <p:spPr>
            <a:xfrm>
              <a:off x="1260" y="972"/>
              <a:ext cx="588" cy="0"/>
            </a:xfrm>
            <a:prstGeom prst="line">
              <a:avLst/>
            </a:prstGeom>
            <a:ln w="38100" cap="flat" cmpd="sng">
              <a:solidFill>
                <a:srgbClr val="3333FF"/>
              </a:solidFill>
              <a:prstDash val="solid"/>
              <a:headEnd type="triangle" w="med" len="med"/>
              <a:tailEnd type="none" w="med" len="med"/>
            </a:ln>
          </p:spPr>
        </p:sp>
        <p:sp>
          <p:nvSpPr>
            <p:cNvPr id="29723" name="Line 20"/>
            <p:cNvSpPr/>
            <p:nvPr>
              <p:custDataLst>
                <p:tags r:id="rId11"/>
              </p:custDataLst>
            </p:nvPr>
          </p:nvSpPr>
          <p:spPr>
            <a:xfrm>
              <a:off x="1260" y="1692"/>
              <a:ext cx="588" cy="0"/>
            </a:xfrm>
            <a:prstGeom prst="line">
              <a:avLst/>
            </a:prstGeom>
            <a:ln w="38100" cap="flat" cmpd="sng">
              <a:solidFill>
                <a:srgbClr val="3333FF"/>
              </a:solidFill>
              <a:prstDash val="solid"/>
              <a:headEnd type="none" w="med" len="med"/>
              <a:tailEnd type="triangle" w="med" len="med"/>
            </a:ln>
          </p:spPr>
        </p:sp>
        <p:sp>
          <p:nvSpPr>
            <p:cNvPr id="29724" name="Text Box 21"/>
            <p:cNvSpPr txBox="1"/>
            <p:nvPr>
              <p:custDataLst>
                <p:tags r:id="rId12"/>
              </p:custDataLst>
            </p:nvPr>
          </p:nvSpPr>
          <p:spPr>
            <a:xfrm>
              <a:off x="1334" y="690"/>
              <a:ext cx="402" cy="329"/>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29725" name="Text Box 22"/>
            <p:cNvSpPr txBox="1"/>
            <p:nvPr>
              <p:custDataLst>
                <p:tags r:id="rId13"/>
              </p:custDataLst>
            </p:nvPr>
          </p:nvSpPr>
          <p:spPr>
            <a:xfrm>
              <a:off x="1334" y="1410"/>
              <a:ext cx="402" cy="329"/>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grpSp>
      <p:grpSp>
        <p:nvGrpSpPr>
          <p:cNvPr id="7" name="Group 23"/>
          <p:cNvGrpSpPr/>
          <p:nvPr>
            <p:custDataLst>
              <p:tags r:id="rId5"/>
            </p:custDataLst>
          </p:nvPr>
        </p:nvGrpSpPr>
        <p:grpSpPr>
          <a:xfrm>
            <a:off x="4813300" y="4745038"/>
            <a:ext cx="933450" cy="1665287"/>
            <a:chOff x="2376" y="690"/>
            <a:chExt cx="588" cy="1049"/>
          </a:xfrm>
        </p:grpSpPr>
        <p:sp>
          <p:nvSpPr>
            <p:cNvPr id="29718" name="Line 24"/>
            <p:cNvSpPr/>
            <p:nvPr>
              <p:custDataLst>
                <p:tags r:id="rId6"/>
              </p:custDataLst>
            </p:nvPr>
          </p:nvSpPr>
          <p:spPr>
            <a:xfrm>
              <a:off x="2376" y="972"/>
              <a:ext cx="588" cy="0"/>
            </a:xfrm>
            <a:prstGeom prst="line">
              <a:avLst/>
            </a:prstGeom>
            <a:ln w="38100" cap="flat" cmpd="sng">
              <a:solidFill>
                <a:srgbClr val="3333FF"/>
              </a:solidFill>
              <a:prstDash val="solid"/>
              <a:headEnd type="none" w="med" len="med"/>
              <a:tailEnd type="triangle" w="med" len="med"/>
            </a:ln>
          </p:spPr>
        </p:sp>
        <p:sp>
          <p:nvSpPr>
            <p:cNvPr id="29719" name="Line 25"/>
            <p:cNvSpPr/>
            <p:nvPr>
              <p:custDataLst>
                <p:tags r:id="rId7"/>
              </p:custDataLst>
            </p:nvPr>
          </p:nvSpPr>
          <p:spPr>
            <a:xfrm>
              <a:off x="2376" y="1692"/>
              <a:ext cx="588" cy="0"/>
            </a:xfrm>
            <a:prstGeom prst="line">
              <a:avLst/>
            </a:prstGeom>
            <a:ln w="38100" cap="flat" cmpd="sng">
              <a:solidFill>
                <a:srgbClr val="3333FF"/>
              </a:solidFill>
              <a:prstDash val="solid"/>
              <a:headEnd type="none" w="med" len="med"/>
              <a:tailEnd type="triangle" w="med" len="med"/>
            </a:ln>
          </p:spPr>
        </p:sp>
        <p:sp>
          <p:nvSpPr>
            <p:cNvPr id="29720" name="Text Box 26"/>
            <p:cNvSpPr txBox="1"/>
            <p:nvPr>
              <p:custDataLst>
                <p:tags r:id="rId8"/>
              </p:custDataLst>
            </p:nvPr>
          </p:nvSpPr>
          <p:spPr>
            <a:xfrm>
              <a:off x="2426" y="690"/>
              <a:ext cx="402" cy="329"/>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29721" name="Text Box 27"/>
            <p:cNvSpPr txBox="1"/>
            <p:nvPr>
              <p:custDataLst>
                <p:tags r:id="rId9"/>
              </p:custDataLst>
            </p:nvPr>
          </p:nvSpPr>
          <p:spPr>
            <a:xfrm>
              <a:off x="2426" y="1410"/>
              <a:ext cx="402" cy="329"/>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0772"/>
                                        </p:tgtEl>
                                        <p:attrNameLst>
                                          <p:attrName>style.visibility</p:attrName>
                                        </p:attrNameLst>
                                      </p:cBhvr>
                                      <p:to>
                                        <p:strVal val="visible"/>
                                      </p:to>
                                    </p:set>
                                    <p:animEffect transition="in" filter="wipe(left)">
                                      <p:cBhvr>
                                        <p:cTn id="7" dur="500"/>
                                        <p:tgtEl>
                                          <p:spTgt spid="1607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0770"/>
                                        </p:tgtEl>
                                        <p:attrNameLst>
                                          <p:attrName>style.visibility</p:attrName>
                                        </p:attrNameLst>
                                      </p:cBhvr>
                                      <p:to>
                                        <p:strVal val="visible"/>
                                      </p:to>
                                    </p:set>
                                    <p:animEffect transition="in" filter="wipe(left)">
                                      <p:cBhvr>
                                        <p:cTn id="12" dur="500"/>
                                        <p:tgtEl>
                                          <p:spTgt spid="16077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0771"/>
                                        </p:tgtEl>
                                        <p:attrNameLst>
                                          <p:attrName>style.visibility</p:attrName>
                                        </p:attrNameLst>
                                      </p:cBhvr>
                                      <p:to>
                                        <p:strVal val="visible"/>
                                      </p:to>
                                    </p:set>
                                    <p:animEffect transition="in" filter="wipe(left)">
                                      <p:cBhvr>
                                        <p:cTn id="17" dur="500"/>
                                        <p:tgtEl>
                                          <p:spTgt spid="16077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left)">
                                      <p:cBhvr>
                                        <p:cTn id="4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0" grpId="0" bldLvl="0" animBg="1"/>
      <p:bldP spid="160771" grpId="0" bldLvl="0" animBg="1"/>
      <p:bldP spid="160772" grpId="0" bldLvl="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ext Box 2" descr="羊皮纸"/>
          <p:cNvSpPr txBox="1"/>
          <p:nvPr/>
        </p:nvSpPr>
        <p:spPr>
          <a:xfrm>
            <a:off x="530225" y="768350"/>
            <a:ext cx="7893050" cy="565150"/>
          </a:xfrm>
          <a:prstGeom prst="rect">
            <a:avLst/>
          </a:prstGeom>
          <a:blipFill rotWithShape="1">
            <a:blip r:embed="rId2"/>
          </a:blipFill>
          <a:ln w="38100">
            <a:noFill/>
          </a:ln>
        </p:spPr>
        <p:txBody>
          <a:bodyPr>
            <a:spAutoFit/>
          </a:bodyPr>
          <a:lstStyle/>
          <a:p>
            <a:pPr algn="just" defTabSz="2000250">
              <a:lnSpc>
                <a:spcPct val="110000"/>
              </a:lnSpc>
              <a:buChar char="•"/>
            </a:pPr>
            <a:r>
              <a:rPr lang="en-US" altLang="zh-CN" sz="2800" dirty="0">
                <a:latin typeface="Times New Roman" panose="02020603050405020304" pitchFamily="18" charset="0"/>
              </a:rPr>
              <a:t> </a:t>
            </a:r>
            <a:r>
              <a:rPr lang="zh-CN" altLang="zh-CN" sz="2800" dirty="0">
                <a:latin typeface="Times New Roman" panose="02020603050405020304" pitchFamily="18" charset="0"/>
              </a:rPr>
              <a:t>等效状态传递性：(</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(S</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r>
              <a:rPr lang="en-US" altLang="zh-CN" sz="2800" dirty="0">
                <a:latin typeface="Times New Roman" panose="02020603050405020304" pitchFamily="18" charset="0"/>
              </a:rPr>
              <a:t>)</a:t>
            </a:r>
            <a:r>
              <a:rPr lang="en-US" altLang="zh-CN" sz="2800" dirty="0">
                <a:latin typeface="宋体" panose="02010600030101010101" pitchFamily="2" charset="-122"/>
                <a:sym typeface="Monotype Sorts" pitchFamily="2" charset="2"/>
              </a:rPr>
              <a:t>→</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r>
              <a:rPr lang="en-US" altLang="zh-CN" sz="2800" dirty="0">
                <a:latin typeface="Times New Roman" panose="02020603050405020304" pitchFamily="18" charset="0"/>
              </a:rPr>
              <a:t>)</a:t>
            </a:r>
          </a:p>
        </p:txBody>
      </p:sp>
      <p:sp>
        <p:nvSpPr>
          <p:cNvPr id="161795" name="Text Box 3" descr="羊皮纸"/>
          <p:cNvSpPr txBox="1"/>
          <p:nvPr/>
        </p:nvSpPr>
        <p:spPr>
          <a:xfrm>
            <a:off x="550863" y="1608138"/>
            <a:ext cx="7893050" cy="565150"/>
          </a:xfrm>
          <a:prstGeom prst="rect">
            <a:avLst/>
          </a:prstGeom>
          <a:blipFill rotWithShape="1">
            <a:blip r:embed="rId2"/>
          </a:blipFill>
          <a:ln w="38100">
            <a:noFill/>
          </a:ln>
        </p:spPr>
        <p:txBody>
          <a:bodyPr>
            <a:spAutoFit/>
          </a:bodyPr>
          <a:lstStyle/>
          <a:p>
            <a:pPr algn="just" defTabSz="2000250">
              <a:lnSpc>
                <a:spcPct val="110000"/>
              </a:lnSpc>
              <a:buChar char="•"/>
            </a:pPr>
            <a:r>
              <a:rPr lang="en-US" altLang="zh-CN" sz="2800" dirty="0">
                <a:latin typeface="Times New Roman" panose="02020603050405020304" pitchFamily="18" charset="0"/>
              </a:rPr>
              <a:t> </a:t>
            </a:r>
            <a:r>
              <a:rPr lang="zh-CN" altLang="zh-CN" sz="2800" dirty="0">
                <a:latin typeface="Times New Roman" panose="02020603050405020304" pitchFamily="18" charset="0"/>
              </a:rPr>
              <a:t>等效类： 彼此等效的状态集合</a:t>
            </a:r>
            <a:endParaRPr lang="zh-CN" altLang="en-US" sz="2800" dirty="0">
              <a:latin typeface="Times New Roman" panose="02020603050405020304" pitchFamily="18" charset="0"/>
            </a:endParaRPr>
          </a:p>
        </p:txBody>
      </p:sp>
      <p:sp>
        <p:nvSpPr>
          <p:cNvPr id="161796" name="Text Box 4" descr="羊皮纸"/>
          <p:cNvSpPr txBox="1"/>
          <p:nvPr/>
        </p:nvSpPr>
        <p:spPr>
          <a:xfrm>
            <a:off x="560388" y="2376488"/>
            <a:ext cx="7893050" cy="1038860"/>
          </a:xfrm>
          <a:prstGeom prst="rect">
            <a:avLst/>
          </a:prstGeom>
          <a:blipFill rotWithShape="1">
            <a:blip r:embed="rId2"/>
          </a:blipFill>
          <a:ln w="38100">
            <a:noFill/>
          </a:ln>
        </p:spPr>
        <p:txBody>
          <a:bodyPr>
            <a:spAutoFit/>
          </a:bodyPr>
          <a:lstStyle/>
          <a:p>
            <a:pPr algn="just" defTabSz="285750">
              <a:lnSpc>
                <a:spcPct val="110000"/>
              </a:lnSpc>
              <a:buChar char="•"/>
            </a:pPr>
            <a:r>
              <a:rPr lang="en-US" altLang="zh-CN" sz="2800" dirty="0">
                <a:latin typeface="Times New Roman" panose="02020603050405020304" pitchFamily="18" charset="0"/>
              </a:rPr>
              <a:t> </a:t>
            </a:r>
            <a:r>
              <a:rPr lang="zh-CN" altLang="zh-CN" sz="2800" dirty="0">
                <a:latin typeface="Times New Roman" panose="02020603050405020304" pitchFamily="18" charset="0"/>
              </a:rPr>
              <a:t>最大等效类： 不被其它等效类所包含的等效类。	一个状态也可能是一个最大等效类。</a:t>
            </a:r>
            <a:endParaRPr lang="zh-CN" altLang="en-US" sz="2800" dirty="0">
              <a:latin typeface="Times New Roman" panose="02020603050405020304" pitchFamily="18" charset="0"/>
            </a:endParaRPr>
          </a:p>
        </p:txBody>
      </p:sp>
      <p:sp>
        <p:nvSpPr>
          <p:cNvPr id="161832" name="Text Box 40"/>
          <p:cNvSpPr txBox="1"/>
          <p:nvPr/>
        </p:nvSpPr>
        <p:spPr>
          <a:xfrm>
            <a:off x="596900" y="3757613"/>
            <a:ext cx="7715250" cy="2287905"/>
          </a:xfrm>
          <a:prstGeom prst="rect">
            <a:avLst/>
          </a:prstGeom>
          <a:noFill/>
          <a:ln w="38100">
            <a:noFill/>
          </a:ln>
        </p:spPr>
        <p:txBody>
          <a:bodyPr>
            <a:spAutoFit/>
          </a:bodyPr>
          <a:lstStyle/>
          <a:p>
            <a:pPr algn="just">
              <a:lnSpc>
                <a:spcPct val="170000"/>
              </a:lnSpc>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状态简化的任务是要在原始状态表中找出全部最大等效类</a:t>
            </a:r>
            <a:r>
              <a:rPr lang="en-US" altLang="zh-CN" sz="2800" dirty="0">
                <a:latin typeface="Times New Roman" panose="02020603050405020304" pitchFamily="18" charset="0"/>
              </a:rPr>
              <a:t>(</a:t>
            </a:r>
            <a:r>
              <a:rPr lang="zh-CN" altLang="en-US" sz="2800" dirty="0">
                <a:latin typeface="Times New Roman" panose="02020603050405020304" pitchFamily="18" charset="0"/>
              </a:rPr>
              <a:t>最大等效类集合</a:t>
            </a:r>
            <a:r>
              <a:rPr lang="en-US" altLang="zh-CN" sz="2800" dirty="0">
                <a:latin typeface="Times New Roman" panose="02020603050405020304" pitchFamily="18" charset="0"/>
              </a:rPr>
              <a:t>)</a:t>
            </a:r>
            <a:r>
              <a:rPr lang="zh-CN" altLang="en-US" sz="2800" dirty="0">
                <a:latin typeface="Times New Roman" panose="02020603050405020304" pitchFamily="18" charset="0"/>
              </a:rPr>
              <a:t>，并将每一个最大等效类用一个状态来表示。</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1794"/>
                                        </p:tgtEl>
                                        <p:attrNameLst>
                                          <p:attrName>style.visibility</p:attrName>
                                        </p:attrNameLst>
                                      </p:cBhvr>
                                      <p:to>
                                        <p:strVal val="visible"/>
                                      </p:to>
                                    </p:set>
                                    <p:animEffect transition="in" filter="wipe(left)">
                                      <p:cBhvr>
                                        <p:cTn id="7" dur="500"/>
                                        <p:tgtEl>
                                          <p:spTgt spid="1617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1795"/>
                                        </p:tgtEl>
                                        <p:attrNameLst>
                                          <p:attrName>style.visibility</p:attrName>
                                        </p:attrNameLst>
                                      </p:cBhvr>
                                      <p:to>
                                        <p:strVal val="visible"/>
                                      </p:to>
                                    </p:set>
                                    <p:animEffect transition="in" filter="wipe(left)">
                                      <p:cBhvr>
                                        <p:cTn id="12" dur="500"/>
                                        <p:tgtEl>
                                          <p:spTgt spid="16179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1796"/>
                                        </p:tgtEl>
                                        <p:attrNameLst>
                                          <p:attrName>style.visibility</p:attrName>
                                        </p:attrNameLst>
                                      </p:cBhvr>
                                      <p:to>
                                        <p:strVal val="visible"/>
                                      </p:to>
                                    </p:set>
                                    <p:animEffect transition="in" filter="wipe(left)">
                                      <p:cBhvr>
                                        <p:cTn id="17" dur="500"/>
                                        <p:tgtEl>
                                          <p:spTgt spid="16179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1832"/>
                                        </p:tgtEl>
                                        <p:attrNameLst>
                                          <p:attrName>style.visibility</p:attrName>
                                        </p:attrNameLst>
                                      </p:cBhvr>
                                      <p:to>
                                        <p:strVal val="visible"/>
                                      </p:to>
                                    </p:set>
                                    <p:animEffect transition="in" filter="wipe(left)">
                                      <p:cBhvr>
                                        <p:cTn id="22" dur="500"/>
                                        <p:tgtEl>
                                          <p:spTgt spid="1618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4" grpId="0" bldLvl="0" animBg="1"/>
      <p:bldP spid="161795" grpId="0" bldLvl="0" animBg="1"/>
      <p:bldP spid="161796" grpId="0" bldLvl="0" animBg="1"/>
      <p:bldP spid="161832"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p:cNvSpPr txBox="1"/>
          <p:nvPr/>
        </p:nvSpPr>
        <p:spPr>
          <a:xfrm>
            <a:off x="647700" y="512763"/>
            <a:ext cx="2228850" cy="780415"/>
          </a:xfrm>
          <a:prstGeom prst="rect">
            <a:avLst/>
          </a:prstGeom>
          <a:noFill/>
          <a:ln w="38100">
            <a:noFill/>
          </a:ln>
        </p:spPr>
        <p:txBody>
          <a:bodyPr>
            <a:spAutoFit/>
          </a:bodyPr>
          <a:lstStyle/>
          <a:p>
            <a:pPr algn="just">
              <a:lnSpc>
                <a:spcPct val="160000"/>
              </a:lnSpc>
              <a:spcBef>
                <a:spcPct val="50000"/>
              </a:spcBef>
            </a:pPr>
            <a:r>
              <a:rPr lang="zh-CN" altLang="en-US" sz="2800" b="1" dirty="0">
                <a:latin typeface="Times New Roman" panose="02020603050405020304" pitchFamily="18" charset="0"/>
              </a:rPr>
              <a:t>判别方法：</a:t>
            </a:r>
          </a:p>
        </p:txBody>
      </p:sp>
      <p:sp>
        <p:nvSpPr>
          <p:cNvPr id="163843" name="Text Box 3"/>
          <p:cNvSpPr txBox="1"/>
          <p:nvPr/>
        </p:nvSpPr>
        <p:spPr>
          <a:xfrm>
            <a:off x="723900" y="3619500"/>
            <a:ext cx="7715250" cy="607695"/>
          </a:xfrm>
          <a:prstGeom prst="rect">
            <a:avLst/>
          </a:prstGeom>
          <a:noFill/>
          <a:ln w="28575">
            <a:noFill/>
          </a:ln>
        </p:spPr>
        <p:txBody>
          <a:bodyPr>
            <a:spAutoFit/>
          </a:bodyPr>
          <a:lstStyle/>
          <a:p>
            <a:pPr algn="just">
              <a:lnSpc>
                <a:spcPct val="120000"/>
              </a:lnSpc>
              <a:spcBef>
                <a:spcPct val="50000"/>
              </a:spcBef>
            </a:pPr>
            <a:r>
              <a:rPr lang="zh-CN" altLang="en-US" sz="2800" dirty="0">
                <a:latin typeface="Times New Roman" panose="02020603050405020304" pitchFamily="18" charset="0"/>
              </a:rPr>
              <a:t>第一、它们的输出完全相同；</a:t>
            </a:r>
          </a:p>
        </p:txBody>
      </p:sp>
      <p:sp>
        <p:nvSpPr>
          <p:cNvPr id="163844" name="Text Box 4"/>
          <p:cNvSpPr txBox="1"/>
          <p:nvPr/>
        </p:nvSpPr>
        <p:spPr>
          <a:xfrm>
            <a:off x="723900" y="1465263"/>
            <a:ext cx="7715250" cy="2030095"/>
          </a:xfrm>
          <a:prstGeom prst="rect">
            <a:avLst/>
          </a:prstGeom>
          <a:noFill/>
          <a:ln w="28575">
            <a:noFill/>
          </a:ln>
        </p:spPr>
        <p:txBody>
          <a:bodyPr>
            <a:spAutoFit/>
          </a:bodyPr>
          <a:lstStyle/>
          <a:p>
            <a:pPr algn="just">
              <a:lnSpc>
                <a:spcPct val="150000"/>
              </a:lnSpc>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假定状态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是完全确定原始状态表中的两个现态，那么</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等效的条件可归纳为在输入的各种取值组合下：</a:t>
            </a:r>
            <a:endParaRPr lang="zh-CN" altLang="en-US" sz="2800" dirty="0">
              <a:latin typeface="Times New Roman" panose="02020603050405020304" pitchFamily="18" charset="0"/>
            </a:endParaRPr>
          </a:p>
        </p:txBody>
      </p:sp>
      <p:sp>
        <p:nvSpPr>
          <p:cNvPr id="163845" name="Text Box 5"/>
          <p:cNvSpPr txBox="1"/>
          <p:nvPr/>
        </p:nvSpPr>
        <p:spPr>
          <a:xfrm>
            <a:off x="1146175" y="5046663"/>
            <a:ext cx="2620963" cy="607695"/>
          </a:xfrm>
          <a:prstGeom prst="rect">
            <a:avLst/>
          </a:prstGeom>
          <a:noFill/>
          <a:ln w="28575">
            <a:noFill/>
          </a:ln>
        </p:spPr>
        <p:txBody>
          <a:bodyPr>
            <a:spAutoFit/>
          </a:bodyPr>
          <a:lstStyle/>
          <a:p>
            <a:pPr algn="just">
              <a:lnSpc>
                <a:spcPct val="120000"/>
              </a:lnSpc>
              <a:spcBef>
                <a:spcPct val="50000"/>
              </a:spcBef>
            </a:pPr>
            <a:r>
              <a:rPr lang="en-US" altLang="zh-CN" sz="2800" dirty="0">
                <a:solidFill>
                  <a:srgbClr val="FF3300"/>
                </a:solidFill>
                <a:latin typeface="Times New Roman" panose="02020603050405020304" pitchFamily="18" charset="0"/>
              </a:rPr>
              <a:t>(1) </a:t>
            </a:r>
            <a:r>
              <a:rPr lang="zh-CN" altLang="en-US" sz="2800" dirty="0">
                <a:solidFill>
                  <a:srgbClr val="FF3300"/>
                </a:solidFill>
                <a:latin typeface="Times New Roman" panose="02020603050405020304" pitchFamily="18" charset="0"/>
              </a:rPr>
              <a:t>次态相同；          </a:t>
            </a:r>
          </a:p>
        </p:txBody>
      </p:sp>
      <p:sp>
        <p:nvSpPr>
          <p:cNvPr id="163847" name="Rectangle 7" descr="羊皮纸"/>
          <p:cNvSpPr/>
          <p:nvPr/>
        </p:nvSpPr>
        <p:spPr>
          <a:xfrm>
            <a:off x="712788" y="4308475"/>
            <a:ext cx="6579870" cy="608965"/>
          </a:xfrm>
          <a:prstGeom prst="rect">
            <a:avLst/>
          </a:prstGeom>
          <a:noFill/>
          <a:ln w="38100">
            <a:noFill/>
          </a:ln>
        </p:spPr>
        <p:txBody>
          <a:bodyPr wrap="none" lIns="90000" tIns="46800" rIns="90000" bIns="46800">
            <a:spAutoFit/>
          </a:bodyPr>
          <a:lstStyle/>
          <a:p>
            <a:pPr>
              <a:lnSpc>
                <a:spcPct val="120000"/>
              </a:lnSpc>
              <a:spcBef>
                <a:spcPct val="50000"/>
              </a:spcBef>
            </a:pPr>
            <a:r>
              <a:rPr lang="zh-CN" altLang="en-US" sz="2800" dirty="0">
                <a:latin typeface="Times New Roman" panose="02020603050405020304" pitchFamily="18" charset="0"/>
              </a:rPr>
              <a:t>第二、它们的次态满足下列条件之一，即</a:t>
            </a:r>
          </a:p>
        </p:txBody>
      </p:sp>
      <p:sp>
        <p:nvSpPr>
          <p:cNvPr id="163848" name="Rectangle 8" descr="羊皮纸"/>
          <p:cNvSpPr/>
          <p:nvPr/>
        </p:nvSpPr>
        <p:spPr>
          <a:xfrm>
            <a:off x="4183063" y="5080000"/>
            <a:ext cx="2459990" cy="523240"/>
          </a:xfrm>
          <a:prstGeom prst="rect">
            <a:avLst/>
          </a:prstGeom>
          <a:noFill/>
          <a:ln w="38100">
            <a:noFill/>
          </a:ln>
        </p:spPr>
        <p:txBody>
          <a:bodyPr wrap="none" lIns="90000" tIns="46800" rIns="90000" bIns="46800">
            <a:spAutoFit/>
          </a:bodyPr>
          <a:lstStyle/>
          <a:p>
            <a:r>
              <a:rPr lang="en-US" altLang="zh-CN" sz="2800" dirty="0">
                <a:solidFill>
                  <a:srgbClr val="FF3300"/>
                </a:solidFill>
                <a:latin typeface="Times New Roman" panose="02020603050405020304" pitchFamily="18" charset="0"/>
              </a:rPr>
              <a:t>(2) </a:t>
            </a:r>
            <a:r>
              <a:rPr lang="zh-CN" altLang="en-US" sz="2800" dirty="0">
                <a:solidFill>
                  <a:srgbClr val="FF3300"/>
                </a:solidFill>
                <a:latin typeface="Times New Roman" panose="02020603050405020304" pitchFamily="18" charset="0"/>
              </a:rPr>
              <a:t>次态交错；</a:t>
            </a:r>
          </a:p>
        </p:txBody>
      </p:sp>
      <p:sp>
        <p:nvSpPr>
          <p:cNvPr id="163849" name="Rectangle 9" descr="羊皮纸"/>
          <p:cNvSpPr/>
          <p:nvPr/>
        </p:nvSpPr>
        <p:spPr>
          <a:xfrm>
            <a:off x="1144588" y="5791200"/>
            <a:ext cx="2459990" cy="523240"/>
          </a:xfrm>
          <a:prstGeom prst="rect">
            <a:avLst/>
          </a:prstGeom>
          <a:noFill/>
          <a:ln w="38100">
            <a:noFill/>
          </a:ln>
        </p:spPr>
        <p:txBody>
          <a:bodyPr wrap="none" lIns="90000" tIns="46800" rIns="90000" bIns="46800">
            <a:spAutoFit/>
          </a:bodyPr>
          <a:lstStyle/>
          <a:p>
            <a:r>
              <a:rPr lang="en-US" altLang="zh-CN" sz="2800" dirty="0">
                <a:solidFill>
                  <a:srgbClr val="FF3300"/>
                </a:solidFill>
                <a:latin typeface="Times New Roman" panose="02020603050405020304" pitchFamily="18" charset="0"/>
              </a:rPr>
              <a:t>(3) </a:t>
            </a:r>
            <a:r>
              <a:rPr lang="zh-CN" altLang="en-US" sz="2800" dirty="0">
                <a:solidFill>
                  <a:srgbClr val="FF3300"/>
                </a:solidFill>
                <a:latin typeface="Times New Roman" panose="02020603050405020304" pitchFamily="18" charset="0"/>
              </a:rPr>
              <a:t>次态循环；</a:t>
            </a:r>
          </a:p>
        </p:txBody>
      </p:sp>
      <p:sp>
        <p:nvSpPr>
          <p:cNvPr id="163850" name="Rectangle 10" descr="羊皮纸"/>
          <p:cNvSpPr/>
          <p:nvPr/>
        </p:nvSpPr>
        <p:spPr>
          <a:xfrm>
            <a:off x="4200525" y="5738813"/>
            <a:ext cx="2815590" cy="523240"/>
          </a:xfrm>
          <a:prstGeom prst="rect">
            <a:avLst/>
          </a:prstGeom>
          <a:noFill/>
          <a:ln w="38100">
            <a:noFill/>
          </a:ln>
        </p:spPr>
        <p:txBody>
          <a:bodyPr wrap="none" lIns="90000" tIns="46800" rIns="90000" bIns="46800">
            <a:spAutoFit/>
          </a:bodyPr>
          <a:lstStyle/>
          <a:p>
            <a:r>
              <a:rPr lang="en-US" altLang="zh-CN" sz="2800" dirty="0">
                <a:solidFill>
                  <a:srgbClr val="FF3300"/>
                </a:solidFill>
                <a:latin typeface="Times New Roman" panose="02020603050405020304" pitchFamily="18" charset="0"/>
              </a:rPr>
              <a:t>(4) </a:t>
            </a:r>
            <a:r>
              <a:rPr lang="zh-CN" altLang="en-US" sz="2800" dirty="0">
                <a:solidFill>
                  <a:srgbClr val="FF3300"/>
                </a:solidFill>
                <a:latin typeface="Times New Roman" panose="02020603050405020304" pitchFamily="18" charset="0"/>
              </a:rPr>
              <a:t>次态对等效。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44"/>
                                        </p:tgtEl>
                                        <p:attrNameLst>
                                          <p:attrName>style.visibility</p:attrName>
                                        </p:attrNameLst>
                                      </p:cBhvr>
                                      <p:to>
                                        <p:strVal val="visible"/>
                                      </p:to>
                                    </p:set>
                                    <p:animEffect transition="in" filter="wipe(left)">
                                      <p:cBhvr>
                                        <p:cTn id="7" dur="500"/>
                                        <p:tgtEl>
                                          <p:spTgt spid="1638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43"/>
                                        </p:tgtEl>
                                        <p:attrNameLst>
                                          <p:attrName>style.visibility</p:attrName>
                                        </p:attrNameLst>
                                      </p:cBhvr>
                                      <p:to>
                                        <p:strVal val="visible"/>
                                      </p:to>
                                    </p:set>
                                    <p:animEffect transition="in" filter="wipe(left)">
                                      <p:cBhvr>
                                        <p:cTn id="12" dur="500"/>
                                        <p:tgtEl>
                                          <p:spTgt spid="1638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3847"/>
                                        </p:tgtEl>
                                        <p:attrNameLst>
                                          <p:attrName>style.visibility</p:attrName>
                                        </p:attrNameLst>
                                      </p:cBhvr>
                                      <p:to>
                                        <p:strVal val="visible"/>
                                      </p:to>
                                    </p:set>
                                    <p:animEffect transition="in" filter="wipe(left)">
                                      <p:cBhvr>
                                        <p:cTn id="17" dur="500"/>
                                        <p:tgtEl>
                                          <p:spTgt spid="16384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63845"/>
                                        </p:tgtEl>
                                        <p:attrNameLst>
                                          <p:attrName>style.visibility</p:attrName>
                                        </p:attrNameLst>
                                      </p:cBhvr>
                                      <p:to>
                                        <p:strVal val="visible"/>
                                      </p:to>
                                    </p:set>
                                    <p:anim calcmode="lin" valueType="num">
                                      <p:cBhvr additive="base">
                                        <p:cTn id="22" dur="500" fill="hold"/>
                                        <p:tgtEl>
                                          <p:spTgt spid="163845"/>
                                        </p:tgtEl>
                                        <p:attrNameLst>
                                          <p:attrName>ppt_x</p:attrName>
                                        </p:attrNameLst>
                                      </p:cBhvr>
                                      <p:tavLst>
                                        <p:tav tm="0">
                                          <p:val>
                                            <p:strVal val="#ppt_x"/>
                                          </p:val>
                                        </p:tav>
                                        <p:tav tm="100000">
                                          <p:val>
                                            <p:strVal val="#ppt_x"/>
                                          </p:val>
                                        </p:tav>
                                      </p:tavLst>
                                    </p:anim>
                                    <p:anim calcmode="lin" valueType="num">
                                      <p:cBhvr additive="base">
                                        <p:cTn id="23" dur="500" fill="hold"/>
                                        <p:tgtEl>
                                          <p:spTgt spid="16384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63848"/>
                                        </p:tgtEl>
                                        <p:attrNameLst>
                                          <p:attrName>style.visibility</p:attrName>
                                        </p:attrNameLst>
                                      </p:cBhvr>
                                      <p:to>
                                        <p:strVal val="visible"/>
                                      </p:to>
                                    </p:set>
                                    <p:anim calcmode="lin" valueType="num">
                                      <p:cBhvr additive="base">
                                        <p:cTn id="28" dur="500" fill="hold"/>
                                        <p:tgtEl>
                                          <p:spTgt spid="163848"/>
                                        </p:tgtEl>
                                        <p:attrNameLst>
                                          <p:attrName>ppt_x</p:attrName>
                                        </p:attrNameLst>
                                      </p:cBhvr>
                                      <p:tavLst>
                                        <p:tav tm="0">
                                          <p:val>
                                            <p:strVal val="#ppt_x"/>
                                          </p:val>
                                        </p:tav>
                                        <p:tav tm="100000">
                                          <p:val>
                                            <p:strVal val="#ppt_x"/>
                                          </p:val>
                                        </p:tav>
                                      </p:tavLst>
                                    </p:anim>
                                    <p:anim calcmode="lin" valueType="num">
                                      <p:cBhvr additive="base">
                                        <p:cTn id="29" dur="500" fill="hold"/>
                                        <p:tgtEl>
                                          <p:spTgt spid="16384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63849"/>
                                        </p:tgtEl>
                                        <p:attrNameLst>
                                          <p:attrName>style.visibility</p:attrName>
                                        </p:attrNameLst>
                                      </p:cBhvr>
                                      <p:to>
                                        <p:strVal val="visible"/>
                                      </p:to>
                                    </p:set>
                                    <p:anim calcmode="lin" valueType="num">
                                      <p:cBhvr additive="base">
                                        <p:cTn id="34" dur="500" fill="hold"/>
                                        <p:tgtEl>
                                          <p:spTgt spid="163849"/>
                                        </p:tgtEl>
                                        <p:attrNameLst>
                                          <p:attrName>ppt_x</p:attrName>
                                        </p:attrNameLst>
                                      </p:cBhvr>
                                      <p:tavLst>
                                        <p:tav tm="0">
                                          <p:val>
                                            <p:strVal val="#ppt_x"/>
                                          </p:val>
                                        </p:tav>
                                        <p:tav tm="100000">
                                          <p:val>
                                            <p:strVal val="#ppt_x"/>
                                          </p:val>
                                        </p:tav>
                                      </p:tavLst>
                                    </p:anim>
                                    <p:anim calcmode="lin" valueType="num">
                                      <p:cBhvr additive="base">
                                        <p:cTn id="35" dur="500" fill="hold"/>
                                        <p:tgtEl>
                                          <p:spTgt spid="163849"/>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63850"/>
                                        </p:tgtEl>
                                        <p:attrNameLst>
                                          <p:attrName>style.visibility</p:attrName>
                                        </p:attrNameLst>
                                      </p:cBhvr>
                                      <p:to>
                                        <p:strVal val="visible"/>
                                      </p:to>
                                    </p:set>
                                    <p:anim calcmode="lin" valueType="num">
                                      <p:cBhvr additive="base">
                                        <p:cTn id="40" dur="500" fill="hold"/>
                                        <p:tgtEl>
                                          <p:spTgt spid="163850"/>
                                        </p:tgtEl>
                                        <p:attrNameLst>
                                          <p:attrName>ppt_x</p:attrName>
                                        </p:attrNameLst>
                                      </p:cBhvr>
                                      <p:tavLst>
                                        <p:tav tm="0">
                                          <p:val>
                                            <p:strVal val="#ppt_x"/>
                                          </p:val>
                                        </p:tav>
                                        <p:tav tm="100000">
                                          <p:val>
                                            <p:strVal val="#ppt_x"/>
                                          </p:val>
                                        </p:tav>
                                      </p:tavLst>
                                    </p:anim>
                                    <p:anim calcmode="lin" valueType="num">
                                      <p:cBhvr additive="base">
                                        <p:cTn id="41" dur="500" fill="hold"/>
                                        <p:tgtEl>
                                          <p:spTgt spid="1638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p:bldP spid="163844" grpId="0"/>
      <p:bldP spid="163845" grpId="0"/>
      <p:bldP spid="163847" grpId="0"/>
      <p:bldP spid="163848" grpId="0"/>
      <p:bldP spid="163849" grpId="0"/>
      <p:bldP spid="163850"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957638" y="2822575"/>
            <a:ext cx="854075" cy="2889250"/>
            <a:chOff x="2493" y="1070"/>
            <a:chExt cx="538" cy="1820"/>
          </a:xfrm>
        </p:grpSpPr>
        <p:sp>
          <p:nvSpPr>
            <p:cNvPr id="32788" name="Oval 3"/>
            <p:cNvSpPr/>
            <p:nvPr/>
          </p:nvSpPr>
          <p:spPr>
            <a:xfrm>
              <a:off x="2493" y="107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 S</a:t>
              </a:r>
              <a:r>
                <a:rPr lang="en-US" altLang="zh-CN" sz="2800" i="1" baseline="-25000" dirty="0">
                  <a:latin typeface="Times New Roman" panose="02020603050405020304" pitchFamily="18" charset="0"/>
                </a:rPr>
                <a:t>i</a:t>
              </a:r>
            </a:p>
          </p:txBody>
        </p:sp>
        <p:sp>
          <p:nvSpPr>
            <p:cNvPr id="32789" name="Oval 4"/>
            <p:cNvSpPr/>
            <p:nvPr/>
          </p:nvSpPr>
          <p:spPr>
            <a:xfrm>
              <a:off x="2493" y="2352"/>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j</a:t>
              </a:r>
            </a:p>
          </p:txBody>
        </p:sp>
      </p:grpSp>
      <p:sp>
        <p:nvSpPr>
          <p:cNvPr id="164869" name="Line 5"/>
          <p:cNvSpPr/>
          <p:nvPr/>
        </p:nvSpPr>
        <p:spPr>
          <a:xfrm>
            <a:off x="7391400" y="4076700"/>
            <a:ext cx="914400" cy="0"/>
          </a:xfrm>
          <a:prstGeom prst="line">
            <a:avLst/>
          </a:prstGeom>
          <a:ln w="38100" cap="flat" cmpd="sng">
            <a:solidFill>
              <a:srgbClr val="3333FF"/>
            </a:solidFill>
            <a:prstDash val="solid"/>
            <a:headEnd type="none" w="med" len="med"/>
            <a:tailEnd type="triangle" w="sm" len="lg"/>
          </a:ln>
        </p:spPr>
      </p:sp>
      <p:sp>
        <p:nvSpPr>
          <p:cNvPr id="164870" name="Line 6"/>
          <p:cNvSpPr/>
          <p:nvPr/>
        </p:nvSpPr>
        <p:spPr>
          <a:xfrm flipH="1">
            <a:off x="666750" y="4019550"/>
            <a:ext cx="781050" cy="0"/>
          </a:xfrm>
          <a:prstGeom prst="line">
            <a:avLst/>
          </a:prstGeom>
          <a:ln w="38100" cap="flat" cmpd="sng">
            <a:solidFill>
              <a:srgbClr val="3333FF"/>
            </a:solidFill>
            <a:prstDash val="solid"/>
            <a:headEnd type="none" w="med" len="med"/>
            <a:tailEnd type="triangle" w="sm" len="lg"/>
          </a:ln>
        </p:spPr>
      </p:sp>
      <p:grpSp>
        <p:nvGrpSpPr>
          <p:cNvPr id="3" name="Group 7"/>
          <p:cNvGrpSpPr/>
          <p:nvPr/>
        </p:nvGrpSpPr>
        <p:grpSpPr>
          <a:xfrm>
            <a:off x="4865688" y="4457700"/>
            <a:ext cx="1782762" cy="804863"/>
            <a:chOff x="3065" y="2100"/>
            <a:chExt cx="1123" cy="507"/>
          </a:xfrm>
        </p:grpSpPr>
        <p:sp>
          <p:nvSpPr>
            <p:cNvPr id="32786" name="Freeform 8"/>
            <p:cNvSpPr/>
            <p:nvPr/>
          </p:nvSpPr>
          <p:spPr>
            <a:xfrm>
              <a:off x="3065" y="2100"/>
              <a:ext cx="1123" cy="507"/>
            </a:xfrm>
            <a:custGeom>
              <a:avLst/>
              <a:gdLst>
                <a:gd name="txL" fmla="*/ 0 w 1123"/>
                <a:gd name="txT" fmla="*/ 0 h 507"/>
                <a:gd name="txR" fmla="*/ 1123 w 1123"/>
                <a:gd name="txB" fmla="*/ 507 h 507"/>
              </a:gdLst>
              <a:ahLst/>
              <a:cxnLst>
                <a:cxn ang="0">
                  <a:pos x="1123" y="0"/>
                </a:cxn>
                <a:cxn ang="0">
                  <a:pos x="523" y="348"/>
                </a:cxn>
                <a:cxn ang="0">
                  <a:pos x="0" y="507"/>
                </a:cxn>
              </a:cxnLst>
              <a:rect l="txL" t="txT" r="txR" b="txB"/>
              <a:pathLst>
                <a:path w="1123" h="507">
                  <a:moveTo>
                    <a:pt x="1123" y="0"/>
                  </a:moveTo>
                  <a:cubicBezTo>
                    <a:pt x="1023" y="58"/>
                    <a:pt x="710" y="263"/>
                    <a:pt x="523" y="348"/>
                  </a:cubicBezTo>
                  <a:cubicBezTo>
                    <a:pt x="336" y="433"/>
                    <a:pt x="109" y="474"/>
                    <a:pt x="0" y="507"/>
                  </a:cubicBezTo>
                </a:path>
              </a:pathLst>
            </a:custGeom>
            <a:noFill/>
            <a:ln w="38100" cap="flat" cmpd="sng">
              <a:solidFill>
                <a:srgbClr val="3333FF">
                  <a:alpha val="100000"/>
                </a:srgbClr>
              </a:solidFill>
              <a:prstDash val="solid"/>
              <a:round/>
              <a:headEnd type="triangle" w="med" len="med"/>
              <a:tailEnd type="none" w="med" len="med"/>
            </a:ln>
          </p:spPr>
          <p:txBody>
            <a:bodyPr/>
            <a:lstStyle/>
            <a:p>
              <a:endParaRPr lang="zh-CN" altLang="en-US" sz="2800"/>
            </a:p>
          </p:txBody>
        </p:sp>
        <p:sp>
          <p:nvSpPr>
            <p:cNvPr id="32787" name="Text Box 9"/>
            <p:cNvSpPr txBox="1"/>
            <p:nvPr/>
          </p:nvSpPr>
          <p:spPr>
            <a:xfrm>
              <a:off x="3308" y="2163"/>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1/0</a:t>
              </a:r>
            </a:p>
          </p:txBody>
        </p:sp>
      </p:grpSp>
      <p:grpSp>
        <p:nvGrpSpPr>
          <p:cNvPr id="4" name="Group 10"/>
          <p:cNvGrpSpPr/>
          <p:nvPr/>
        </p:nvGrpSpPr>
        <p:grpSpPr>
          <a:xfrm>
            <a:off x="1498600" y="2843213"/>
            <a:ext cx="2463800" cy="1649412"/>
            <a:chOff x="944" y="1083"/>
            <a:chExt cx="1552" cy="1039"/>
          </a:xfrm>
        </p:grpSpPr>
        <p:sp>
          <p:nvSpPr>
            <p:cNvPr id="32783" name="Oval 11"/>
            <p:cNvSpPr/>
            <p:nvPr/>
          </p:nvSpPr>
          <p:spPr>
            <a:xfrm>
              <a:off x="944" y="158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l</a:t>
              </a:r>
            </a:p>
          </p:txBody>
        </p:sp>
        <p:sp>
          <p:nvSpPr>
            <p:cNvPr id="32784" name="Freeform 12"/>
            <p:cNvSpPr/>
            <p:nvPr/>
          </p:nvSpPr>
          <p:spPr>
            <a:xfrm>
              <a:off x="1404" y="1200"/>
              <a:ext cx="1092" cy="480"/>
            </a:xfrm>
            <a:custGeom>
              <a:avLst/>
              <a:gdLst>
                <a:gd name="txL" fmla="*/ 0 w 1092"/>
                <a:gd name="txT" fmla="*/ 0 h 480"/>
                <a:gd name="txR" fmla="*/ 1092 w 1092"/>
                <a:gd name="txB" fmla="*/ 480 h 480"/>
              </a:gdLst>
              <a:ahLst/>
              <a:cxnLst>
                <a:cxn ang="0">
                  <a:pos x="0" y="480"/>
                </a:cxn>
                <a:cxn ang="0">
                  <a:pos x="540" y="156"/>
                </a:cxn>
                <a:cxn ang="0">
                  <a:pos x="1092" y="0"/>
                </a:cxn>
              </a:cxnLst>
              <a:rect l="txL" t="txT" r="txR" b="txB"/>
              <a:pathLst>
                <a:path w="1092" h="480">
                  <a:moveTo>
                    <a:pt x="0" y="480"/>
                  </a:moveTo>
                  <a:cubicBezTo>
                    <a:pt x="90" y="426"/>
                    <a:pt x="358" y="236"/>
                    <a:pt x="540" y="156"/>
                  </a:cubicBezTo>
                  <a:cubicBezTo>
                    <a:pt x="722" y="76"/>
                    <a:pt x="977" y="32"/>
                    <a:pt x="1092" y="0"/>
                  </a:cubicBezTo>
                </a:path>
              </a:pathLst>
            </a:custGeom>
            <a:noFill/>
            <a:ln w="38100" cap="flat" cmpd="sng">
              <a:solidFill>
                <a:srgbClr val="3333FF">
                  <a:alpha val="100000"/>
                </a:srgbClr>
              </a:solidFill>
              <a:prstDash val="solid"/>
              <a:round/>
              <a:headEnd type="triangle" w="med" len="med"/>
              <a:tailEnd type="none" w="sm" len="lg"/>
            </a:ln>
          </p:spPr>
          <p:txBody>
            <a:bodyPr/>
            <a:lstStyle/>
            <a:p>
              <a:endParaRPr lang="zh-CN" altLang="en-US" sz="2800"/>
            </a:p>
          </p:txBody>
        </p:sp>
        <p:sp>
          <p:nvSpPr>
            <p:cNvPr id="32785" name="Text Box 13"/>
            <p:cNvSpPr txBox="1"/>
            <p:nvPr/>
          </p:nvSpPr>
          <p:spPr>
            <a:xfrm>
              <a:off x="1722" y="1083"/>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0/1</a:t>
              </a:r>
            </a:p>
          </p:txBody>
        </p:sp>
      </p:grpSp>
      <p:grpSp>
        <p:nvGrpSpPr>
          <p:cNvPr id="5" name="Group 14"/>
          <p:cNvGrpSpPr/>
          <p:nvPr/>
        </p:nvGrpSpPr>
        <p:grpSpPr>
          <a:xfrm>
            <a:off x="2171700" y="4438650"/>
            <a:ext cx="1754188" cy="800100"/>
            <a:chOff x="1368" y="2088"/>
            <a:chExt cx="1105" cy="504"/>
          </a:xfrm>
        </p:grpSpPr>
        <p:sp>
          <p:nvSpPr>
            <p:cNvPr id="32781" name="Freeform 15"/>
            <p:cNvSpPr/>
            <p:nvPr/>
          </p:nvSpPr>
          <p:spPr>
            <a:xfrm>
              <a:off x="1368" y="2088"/>
              <a:ext cx="1105" cy="504"/>
            </a:xfrm>
            <a:custGeom>
              <a:avLst/>
              <a:gdLst>
                <a:gd name="txL" fmla="*/ 0 w 1033"/>
                <a:gd name="txT" fmla="*/ 0 h 468"/>
                <a:gd name="txR" fmla="*/ 1033 w 1033"/>
                <a:gd name="txB" fmla="*/ 468 h 468"/>
              </a:gdLst>
              <a:ahLst/>
              <a:cxnLst>
                <a:cxn ang="0">
                  <a:pos x="0" y="0"/>
                </a:cxn>
                <a:cxn ang="0">
                  <a:pos x="536" y="404"/>
                </a:cxn>
                <a:cxn ang="0">
                  <a:pos x="1182" y="543"/>
                </a:cxn>
              </a:cxnLst>
              <a:rect l="txL" t="txT" r="txR" b="txB"/>
              <a:pathLst>
                <a:path w="1033" h="468">
                  <a:moveTo>
                    <a:pt x="0" y="0"/>
                  </a:moveTo>
                  <a:cubicBezTo>
                    <a:pt x="78" y="58"/>
                    <a:pt x="296" y="270"/>
                    <a:pt x="468" y="348"/>
                  </a:cubicBezTo>
                  <a:cubicBezTo>
                    <a:pt x="640" y="426"/>
                    <a:pt x="915" y="443"/>
                    <a:pt x="1033" y="468"/>
                  </a:cubicBezTo>
                </a:path>
              </a:pathLst>
            </a:custGeom>
            <a:noFill/>
            <a:ln w="38100" cap="flat" cmpd="sng">
              <a:solidFill>
                <a:srgbClr val="3333FF">
                  <a:alpha val="100000"/>
                </a:srgbClr>
              </a:solidFill>
              <a:prstDash val="solid"/>
              <a:round/>
              <a:headEnd type="triangle" w="med" len="med"/>
              <a:tailEnd type="none" w="sm" len="lg"/>
            </a:ln>
          </p:spPr>
          <p:txBody>
            <a:bodyPr/>
            <a:lstStyle/>
            <a:p>
              <a:endParaRPr lang="zh-CN" altLang="en-US" sz="2800"/>
            </a:p>
          </p:txBody>
        </p:sp>
        <p:sp>
          <p:nvSpPr>
            <p:cNvPr id="32782" name="Text Box 16"/>
            <p:cNvSpPr txBox="1"/>
            <p:nvPr/>
          </p:nvSpPr>
          <p:spPr>
            <a:xfrm>
              <a:off x="1806" y="2171"/>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0/1</a:t>
              </a:r>
            </a:p>
          </p:txBody>
        </p:sp>
      </p:grpSp>
      <p:grpSp>
        <p:nvGrpSpPr>
          <p:cNvPr id="6" name="Group 17"/>
          <p:cNvGrpSpPr/>
          <p:nvPr/>
        </p:nvGrpSpPr>
        <p:grpSpPr>
          <a:xfrm>
            <a:off x="4876800" y="2843213"/>
            <a:ext cx="2486025" cy="1649412"/>
            <a:chOff x="3072" y="1083"/>
            <a:chExt cx="1566" cy="1039"/>
          </a:xfrm>
        </p:grpSpPr>
        <p:sp>
          <p:nvSpPr>
            <p:cNvPr id="32778" name="Oval 18"/>
            <p:cNvSpPr/>
            <p:nvPr/>
          </p:nvSpPr>
          <p:spPr>
            <a:xfrm>
              <a:off x="4100" y="158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k</a:t>
              </a:r>
            </a:p>
          </p:txBody>
        </p:sp>
        <p:sp>
          <p:nvSpPr>
            <p:cNvPr id="32779" name="Freeform 19"/>
            <p:cNvSpPr/>
            <p:nvPr/>
          </p:nvSpPr>
          <p:spPr>
            <a:xfrm>
              <a:off x="3072" y="1236"/>
              <a:ext cx="1057" cy="492"/>
            </a:xfrm>
            <a:custGeom>
              <a:avLst/>
              <a:gdLst>
                <a:gd name="txL" fmla="*/ 0 w 1033"/>
                <a:gd name="txT" fmla="*/ 0 h 468"/>
                <a:gd name="txR" fmla="*/ 1033 w 1033"/>
                <a:gd name="txB" fmla="*/ 468 h 468"/>
              </a:gdLst>
              <a:ahLst/>
              <a:cxnLst>
                <a:cxn ang="0">
                  <a:pos x="0" y="0"/>
                </a:cxn>
                <a:cxn ang="0">
                  <a:pos x="616" y="172"/>
                </a:cxn>
                <a:cxn ang="0">
                  <a:pos x="1082" y="517"/>
                </a:cxn>
              </a:cxnLst>
              <a:rect l="txL" t="txT" r="txR" b="txB"/>
              <a:pathLst>
                <a:path w="1033" h="468">
                  <a:moveTo>
                    <a:pt x="0" y="0"/>
                  </a:moveTo>
                  <a:cubicBezTo>
                    <a:pt x="98" y="28"/>
                    <a:pt x="416" y="78"/>
                    <a:pt x="588" y="156"/>
                  </a:cubicBezTo>
                  <a:cubicBezTo>
                    <a:pt x="760" y="234"/>
                    <a:pt x="940" y="403"/>
                    <a:pt x="1033" y="468"/>
                  </a:cubicBezTo>
                </a:path>
              </a:pathLst>
            </a:custGeom>
            <a:noFill/>
            <a:ln w="38100" cap="flat" cmpd="sng">
              <a:solidFill>
                <a:srgbClr val="3333FF">
                  <a:alpha val="100000"/>
                </a:srgbClr>
              </a:solidFill>
              <a:prstDash val="solid"/>
              <a:round/>
              <a:headEnd type="none" w="med" len="med"/>
              <a:tailEnd type="triangle" w="sm" len="lg"/>
            </a:ln>
          </p:spPr>
          <p:txBody>
            <a:bodyPr/>
            <a:lstStyle/>
            <a:p>
              <a:endParaRPr lang="zh-CN" altLang="en-US" sz="2800"/>
            </a:p>
          </p:txBody>
        </p:sp>
        <p:sp>
          <p:nvSpPr>
            <p:cNvPr id="32780" name="Text Box 20"/>
            <p:cNvSpPr txBox="1"/>
            <p:nvPr/>
          </p:nvSpPr>
          <p:spPr>
            <a:xfrm>
              <a:off x="3524" y="1083"/>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1/0</a:t>
              </a:r>
            </a:p>
          </p:txBody>
        </p:sp>
      </p:grpSp>
      <p:sp>
        <p:nvSpPr>
          <p:cNvPr id="164885" name="Text Box 21"/>
          <p:cNvSpPr txBox="1"/>
          <p:nvPr/>
        </p:nvSpPr>
        <p:spPr>
          <a:xfrm>
            <a:off x="3438525" y="1263650"/>
            <a:ext cx="1600200" cy="519113"/>
          </a:xfrm>
          <a:prstGeom prst="rect">
            <a:avLst/>
          </a:prstGeom>
          <a:noFill/>
          <a:ln w="19050">
            <a:noFill/>
          </a:ln>
        </p:spPr>
        <p:txBody>
          <a:bodyPr wrap="none">
            <a:spAutoFit/>
          </a:bodyPr>
          <a:lstStyle/>
          <a:p>
            <a:r>
              <a:rPr lang="zh-CN" altLang="en-US" sz="2800" dirty="0">
                <a:latin typeface="Times New Roman" panose="02020603050405020304" pitchFamily="18" charset="0"/>
              </a:rPr>
              <a:t>次态相同</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885"/>
                                        </p:tgtEl>
                                        <p:attrNameLst>
                                          <p:attrName>style.visibility</p:attrName>
                                        </p:attrNameLst>
                                      </p:cBhvr>
                                      <p:to>
                                        <p:strVal val="visible"/>
                                      </p:to>
                                    </p:set>
                                    <p:animEffect transition="in" filter="wipe(left)">
                                      <p:cBhvr>
                                        <p:cTn id="7" dur="500"/>
                                        <p:tgtEl>
                                          <p:spTgt spid="16488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4869"/>
                                        </p:tgtEl>
                                        <p:attrNameLst>
                                          <p:attrName>style.visibility</p:attrName>
                                        </p:attrNameLst>
                                      </p:cBhvr>
                                      <p:to>
                                        <p:strVal val="visible"/>
                                      </p:to>
                                    </p:set>
                                    <p:animEffect transition="in" filter="wipe(left)">
                                      <p:cBhvr>
                                        <p:cTn id="27" dur="500"/>
                                        <p:tgtEl>
                                          <p:spTgt spid="16486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righ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right)">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164870"/>
                                        </p:tgtEl>
                                        <p:attrNameLst>
                                          <p:attrName>style.visibility</p:attrName>
                                        </p:attrNameLst>
                                      </p:cBhvr>
                                      <p:to>
                                        <p:strVal val="visible"/>
                                      </p:to>
                                    </p:set>
                                    <p:animEffect transition="in" filter="wipe(right)">
                                      <p:cBhvr>
                                        <p:cTn id="42" dur="500"/>
                                        <p:tgtEl>
                                          <p:spTgt spid="1648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85"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Text Box 2"/>
          <p:cNvSpPr txBox="1"/>
          <p:nvPr/>
        </p:nvSpPr>
        <p:spPr>
          <a:xfrm>
            <a:off x="2274888" y="1111250"/>
            <a:ext cx="2667000" cy="519113"/>
          </a:xfrm>
          <a:prstGeom prst="rect">
            <a:avLst/>
          </a:prstGeom>
          <a:noFill/>
          <a:ln w="19050">
            <a:noFill/>
          </a:ln>
        </p:spPr>
        <p:txBody>
          <a:bodyPr wrap="none">
            <a:spAutoFit/>
          </a:bodyPr>
          <a:lstStyle/>
          <a:p>
            <a:r>
              <a:rPr lang="zh-CN" altLang="en-US" sz="2800" dirty="0">
                <a:latin typeface="Times New Roman" panose="02020603050405020304" pitchFamily="18" charset="0"/>
              </a:rPr>
              <a:t>次态相同或交错</a:t>
            </a:r>
          </a:p>
        </p:txBody>
      </p:sp>
      <p:grpSp>
        <p:nvGrpSpPr>
          <p:cNvPr id="2" name="Group 3"/>
          <p:cNvGrpSpPr/>
          <p:nvPr/>
        </p:nvGrpSpPr>
        <p:grpSpPr>
          <a:xfrm>
            <a:off x="2643188" y="2613025"/>
            <a:ext cx="854075" cy="3136900"/>
            <a:chOff x="1665" y="902"/>
            <a:chExt cx="538" cy="1976"/>
          </a:xfrm>
        </p:grpSpPr>
        <p:sp>
          <p:nvSpPr>
            <p:cNvPr id="33810" name="Oval 4"/>
            <p:cNvSpPr/>
            <p:nvPr/>
          </p:nvSpPr>
          <p:spPr>
            <a:xfrm>
              <a:off x="1665" y="902"/>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 S</a:t>
              </a:r>
              <a:r>
                <a:rPr lang="en-US" altLang="zh-CN" sz="2800" i="1" baseline="-25000" dirty="0">
                  <a:latin typeface="Times New Roman" panose="02020603050405020304" pitchFamily="18" charset="0"/>
                </a:rPr>
                <a:t>i</a:t>
              </a:r>
            </a:p>
          </p:txBody>
        </p:sp>
        <p:sp>
          <p:nvSpPr>
            <p:cNvPr id="33811" name="Oval 5"/>
            <p:cNvSpPr/>
            <p:nvPr/>
          </p:nvSpPr>
          <p:spPr>
            <a:xfrm>
              <a:off x="1665" y="234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j</a:t>
              </a:r>
            </a:p>
          </p:txBody>
        </p:sp>
      </p:grpSp>
      <p:grpSp>
        <p:nvGrpSpPr>
          <p:cNvPr id="3" name="Group 6"/>
          <p:cNvGrpSpPr/>
          <p:nvPr/>
        </p:nvGrpSpPr>
        <p:grpSpPr>
          <a:xfrm>
            <a:off x="3475038" y="4495800"/>
            <a:ext cx="2087562" cy="919163"/>
            <a:chOff x="2189" y="2088"/>
            <a:chExt cx="1315" cy="579"/>
          </a:xfrm>
        </p:grpSpPr>
        <p:sp>
          <p:nvSpPr>
            <p:cNvPr id="33808" name="Text Box 7"/>
            <p:cNvSpPr txBox="1"/>
            <p:nvPr/>
          </p:nvSpPr>
          <p:spPr>
            <a:xfrm>
              <a:off x="2658" y="2175"/>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0/0</a:t>
              </a:r>
            </a:p>
          </p:txBody>
        </p:sp>
        <p:sp>
          <p:nvSpPr>
            <p:cNvPr id="33809" name="Freeform 8"/>
            <p:cNvSpPr/>
            <p:nvPr/>
          </p:nvSpPr>
          <p:spPr>
            <a:xfrm>
              <a:off x="2189" y="2088"/>
              <a:ext cx="1315" cy="579"/>
            </a:xfrm>
            <a:custGeom>
              <a:avLst/>
              <a:gdLst>
                <a:gd name="txL" fmla="*/ 0 w 1135"/>
                <a:gd name="txT" fmla="*/ 0 h 543"/>
                <a:gd name="txR" fmla="*/ 1135 w 1135"/>
                <a:gd name="txB" fmla="*/ 543 h 543"/>
              </a:gdLst>
              <a:ahLst/>
              <a:cxnLst>
                <a:cxn ang="0">
                  <a:pos x="1524" y="0"/>
                </a:cxn>
                <a:cxn ang="0">
                  <a:pos x="747" y="424"/>
                </a:cxn>
                <a:cxn ang="0">
                  <a:pos x="0" y="617"/>
                </a:cxn>
              </a:cxnLst>
              <a:rect l="txL" t="txT" r="txR" b="txB"/>
              <a:pathLst>
                <a:path w="1135" h="543">
                  <a:moveTo>
                    <a:pt x="1135" y="0"/>
                  </a:moveTo>
                  <a:cubicBezTo>
                    <a:pt x="1039" y="60"/>
                    <a:pt x="746" y="283"/>
                    <a:pt x="557" y="373"/>
                  </a:cubicBezTo>
                  <a:cubicBezTo>
                    <a:pt x="368" y="463"/>
                    <a:pt x="116" y="508"/>
                    <a:pt x="0" y="543"/>
                  </a:cubicBezTo>
                </a:path>
              </a:pathLst>
            </a:custGeom>
            <a:noFill/>
            <a:ln w="38100" cap="flat" cmpd="sng">
              <a:solidFill>
                <a:srgbClr val="3333FF">
                  <a:alpha val="100000"/>
                </a:srgbClr>
              </a:solidFill>
              <a:prstDash val="solid"/>
              <a:round/>
              <a:headEnd type="triangle" w="med" len="med"/>
              <a:tailEnd type="none" w="med" len="med"/>
            </a:ln>
          </p:spPr>
          <p:txBody>
            <a:bodyPr/>
            <a:lstStyle/>
            <a:p>
              <a:endParaRPr lang="zh-CN" altLang="en-US" sz="2800"/>
            </a:p>
          </p:txBody>
        </p:sp>
      </p:grpSp>
      <p:grpSp>
        <p:nvGrpSpPr>
          <p:cNvPr id="4" name="Group 9"/>
          <p:cNvGrpSpPr/>
          <p:nvPr/>
        </p:nvGrpSpPr>
        <p:grpSpPr>
          <a:xfrm>
            <a:off x="1574800" y="3314700"/>
            <a:ext cx="1206500" cy="1619250"/>
            <a:chOff x="992" y="1344"/>
            <a:chExt cx="760" cy="1020"/>
          </a:xfrm>
        </p:grpSpPr>
        <p:sp>
          <p:nvSpPr>
            <p:cNvPr id="33806" name="Text Box 10"/>
            <p:cNvSpPr txBox="1"/>
            <p:nvPr/>
          </p:nvSpPr>
          <p:spPr>
            <a:xfrm>
              <a:off x="992" y="1719"/>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1/0</a:t>
              </a:r>
            </a:p>
          </p:txBody>
        </p:sp>
        <p:sp>
          <p:nvSpPr>
            <p:cNvPr id="33807" name="Freeform 11"/>
            <p:cNvSpPr/>
            <p:nvPr/>
          </p:nvSpPr>
          <p:spPr>
            <a:xfrm>
              <a:off x="1344" y="1344"/>
              <a:ext cx="408" cy="1020"/>
            </a:xfrm>
            <a:custGeom>
              <a:avLst/>
              <a:gdLst>
                <a:gd name="txL" fmla="*/ 0 w 408"/>
                <a:gd name="txT" fmla="*/ 0 h 1020"/>
                <a:gd name="txR" fmla="*/ 408 w 408"/>
                <a:gd name="txB" fmla="*/ 1020 h 1020"/>
              </a:gdLst>
              <a:ahLst/>
              <a:cxnLst>
                <a:cxn ang="0">
                  <a:pos x="408" y="1020"/>
                </a:cxn>
                <a:cxn ang="0">
                  <a:pos x="216" y="888"/>
                </a:cxn>
                <a:cxn ang="0">
                  <a:pos x="72" y="744"/>
                </a:cxn>
                <a:cxn ang="0">
                  <a:pos x="12" y="396"/>
                </a:cxn>
                <a:cxn ang="0">
                  <a:pos x="144" y="156"/>
                </a:cxn>
                <a:cxn ang="0">
                  <a:pos x="360" y="0"/>
                </a:cxn>
              </a:cxnLst>
              <a:rect l="txL" t="txT" r="txR" b="txB"/>
              <a:pathLst>
                <a:path w="408" h="1020">
                  <a:moveTo>
                    <a:pt x="408" y="1020"/>
                  </a:moveTo>
                  <a:cubicBezTo>
                    <a:pt x="376" y="998"/>
                    <a:pt x="272" y="934"/>
                    <a:pt x="216" y="888"/>
                  </a:cubicBezTo>
                  <a:cubicBezTo>
                    <a:pt x="160" y="842"/>
                    <a:pt x="106" y="826"/>
                    <a:pt x="72" y="744"/>
                  </a:cubicBezTo>
                  <a:cubicBezTo>
                    <a:pt x="38" y="662"/>
                    <a:pt x="0" y="494"/>
                    <a:pt x="12" y="396"/>
                  </a:cubicBezTo>
                  <a:cubicBezTo>
                    <a:pt x="24" y="298"/>
                    <a:pt x="86" y="222"/>
                    <a:pt x="144" y="156"/>
                  </a:cubicBezTo>
                  <a:cubicBezTo>
                    <a:pt x="202" y="90"/>
                    <a:pt x="315" y="33"/>
                    <a:pt x="360" y="0"/>
                  </a:cubicBezTo>
                </a:path>
              </a:pathLst>
            </a:custGeom>
            <a:noFill/>
            <a:ln w="38100" cap="flat" cmpd="sng">
              <a:solidFill>
                <a:srgbClr val="3333FF">
                  <a:alpha val="100000"/>
                </a:srgbClr>
              </a:solidFill>
              <a:prstDash val="solid"/>
              <a:round/>
              <a:headEnd type="none" w="med" len="med"/>
              <a:tailEnd type="triangle" w="med" len="med"/>
            </a:ln>
          </p:spPr>
          <p:txBody>
            <a:bodyPr/>
            <a:lstStyle/>
            <a:p>
              <a:endParaRPr lang="zh-CN" altLang="en-US" sz="2800"/>
            </a:p>
          </p:txBody>
        </p:sp>
      </p:grpSp>
      <p:sp>
        <p:nvSpPr>
          <p:cNvPr id="165900" name="Line 12"/>
          <p:cNvSpPr/>
          <p:nvPr/>
        </p:nvSpPr>
        <p:spPr>
          <a:xfrm>
            <a:off x="6229350" y="4057650"/>
            <a:ext cx="1276350" cy="0"/>
          </a:xfrm>
          <a:prstGeom prst="line">
            <a:avLst/>
          </a:prstGeom>
          <a:ln w="38100" cap="flat" cmpd="sng">
            <a:solidFill>
              <a:srgbClr val="3333FF"/>
            </a:solidFill>
            <a:prstDash val="solid"/>
            <a:headEnd type="none" w="med" len="med"/>
            <a:tailEnd type="triangle" w="sm" len="lg"/>
          </a:ln>
        </p:spPr>
      </p:sp>
      <p:grpSp>
        <p:nvGrpSpPr>
          <p:cNvPr id="5" name="Group 13"/>
          <p:cNvGrpSpPr/>
          <p:nvPr/>
        </p:nvGrpSpPr>
        <p:grpSpPr>
          <a:xfrm>
            <a:off x="3422650" y="3157538"/>
            <a:ext cx="638175" cy="1871662"/>
            <a:chOff x="2156" y="1245"/>
            <a:chExt cx="402" cy="1179"/>
          </a:xfrm>
        </p:grpSpPr>
        <p:sp>
          <p:nvSpPr>
            <p:cNvPr id="33804" name="Text Box 14"/>
            <p:cNvSpPr txBox="1"/>
            <p:nvPr/>
          </p:nvSpPr>
          <p:spPr>
            <a:xfrm>
              <a:off x="2156" y="1695"/>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1/0</a:t>
              </a:r>
            </a:p>
          </p:txBody>
        </p:sp>
        <p:sp>
          <p:nvSpPr>
            <p:cNvPr id="33805" name="Freeform 15"/>
            <p:cNvSpPr/>
            <p:nvPr/>
          </p:nvSpPr>
          <p:spPr>
            <a:xfrm>
              <a:off x="2172" y="1245"/>
              <a:ext cx="355" cy="1179"/>
            </a:xfrm>
            <a:custGeom>
              <a:avLst/>
              <a:gdLst>
                <a:gd name="txL" fmla="*/ 0 w 355"/>
                <a:gd name="txT" fmla="*/ 0 h 1179"/>
                <a:gd name="txR" fmla="*/ 355 w 355"/>
                <a:gd name="txB" fmla="*/ 1179 h 1179"/>
              </a:gdLst>
              <a:ahLst/>
              <a:cxnLst>
                <a:cxn ang="0">
                  <a:pos x="7" y="0"/>
                </a:cxn>
                <a:cxn ang="0">
                  <a:pos x="268" y="262"/>
                </a:cxn>
                <a:cxn ang="0">
                  <a:pos x="281" y="296"/>
                </a:cxn>
                <a:cxn ang="0">
                  <a:pos x="332" y="431"/>
                </a:cxn>
                <a:cxn ang="0">
                  <a:pos x="336" y="699"/>
                </a:cxn>
                <a:cxn ang="0">
                  <a:pos x="216" y="951"/>
                </a:cxn>
                <a:cxn ang="0">
                  <a:pos x="0" y="1179"/>
                </a:cxn>
              </a:cxnLst>
              <a:rect l="txL" t="txT" r="txR" b="txB"/>
              <a:pathLst>
                <a:path w="355" h="1179">
                  <a:moveTo>
                    <a:pt x="7" y="0"/>
                  </a:moveTo>
                  <a:cubicBezTo>
                    <a:pt x="51" y="44"/>
                    <a:pt x="223" y="213"/>
                    <a:pt x="268" y="262"/>
                  </a:cubicBezTo>
                  <a:cubicBezTo>
                    <a:pt x="314" y="311"/>
                    <a:pt x="270" y="267"/>
                    <a:pt x="281" y="296"/>
                  </a:cubicBezTo>
                  <a:cubicBezTo>
                    <a:pt x="291" y="324"/>
                    <a:pt x="323" y="364"/>
                    <a:pt x="332" y="431"/>
                  </a:cubicBezTo>
                  <a:cubicBezTo>
                    <a:pt x="341" y="498"/>
                    <a:pt x="355" y="613"/>
                    <a:pt x="336" y="699"/>
                  </a:cubicBezTo>
                  <a:cubicBezTo>
                    <a:pt x="317" y="785"/>
                    <a:pt x="272" y="871"/>
                    <a:pt x="216" y="951"/>
                  </a:cubicBezTo>
                  <a:cubicBezTo>
                    <a:pt x="160" y="1031"/>
                    <a:pt x="45" y="1132"/>
                    <a:pt x="0" y="1179"/>
                  </a:cubicBezTo>
                </a:path>
              </a:pathLst>
            </a:custGeom>
            <a:noFill/>
            <a:ln w="38100" cap="flat" cmpd="sng">
              <a:solidFill>
                <a:srgbClr val="3333FF">
                  <a:alpha val="100000"/>
                </a:srgbClr>
              </a:solidFill>
              <a:prstDash val="solid"/>
              <a:round/>
              <a:headEnd type="none" w="med" len="med"/>
              <a:tailEnd type="triangle" w="med" len="med"/>
            </a:ln>
          </p:spPr>
          <p:txBody>
            <a:bodyPr/>
            <a:lstStyle/>
            <a:p>
              <a:endParaRPr lang="zh-CN" altLang="en-US" sz="2800"/>
            </a:p>
          </p:txBody>
        </p:sp>
      </p:grpSp>
      <p:grpSp>
        <p:nvGrpSpPr>
          <p:cNvPr id="6" name="Group 16"/>
          <p:cNvGrpSpPr/>
          <p:nvPr/>
        </p:nvGrpSpPr>
        <p:grpSpPr>
          <a:xfrm>
            <a:off x="3524250" y="2728913"/>
            <a:ext cx="2676525" cy="1782762"/>
            <a:chOff x="2220" y="975"/>
            <a:chExt cx="1686" cy="1123"/>
          </a:xfrm>
        </p:grpSpPr>
        <p:sp>
          <p:nvSpPr>
            <p:cNvPr id="33801" name="Oval 17"/>
            <p:cNvSpPr/>
            <p:nvPr/>
          </p:nvSpPr>
          <p:spPr>
            <a:xfrm>
              <a:off x="3368" y="156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k</a:t>
              </a:r>
            </a:p>
          </p:txBody>
        </p:sp>
        <p:sp>
          <p:nvSpPr>
            <p:cNvPr id="33802" name="Freeform 18"/>
            <p:cNvSpPr/>
            <p:nvPr/>
          </p:nvSpPr>
          <p:spPr>
            <a:xfrm>
              <a:off x="2220" y="1092"/>
              <a:ext cx="1201" cy="564"/>
            </a:xfrm>
            <a:custGeom>
              <a:avLst/>
              <a:gdLst>
                <a:gd name="txL" fmla="*/ 0 w 1033"/>
                <a:gd name="txT" fmla="*/ 0 h 468"/>
                <a:gd name="txR" fmla="*/ 1033 w 1033"/>
                <a:gd name="txB" fmla="*/ 468 h 468"/>
              </a:gdLst>
              <a:ahLst/>
              <a:cxnLst>
                <a:cxn ang="0">
                  <a:pos x="0" y="0"/>
                </a:cxn>
                <a:cxn ang="0">
                  <a:pos x="795" y="227"/>
                </a:cxn>
                <a:cxn ang="0">
                  <a:pos x="1396" y="680"/>
                </a:cxn>
              </a:cxnLst>
              <a:rect l="txL" t="txT" r="txR" b="txB"/>
              <a:pathLst>
                <a:path w="1033" h="468">
                  <a:moveTo>
                    <a:pt x="0" y="0"/>
                  </a:moveTo>
                  <a:cubicBezTo>
                    <a:pt x="98" y="28"/>
                    <a:pt x="416" y="78"/>
                    <a:pt x="588" y="156"/>
                  </a:cubicBezTo>
                  <a:cubicBezTo>
                    <a:pt x="760" y="234"/>
                    <a:pt x="940" y="403"/>
                    <a:pt x="1033" y="468"/>
                  </a:cubicBezTo>
                </a:path>
              </a:pathLst>
            </a:custGeom>
            <a:noFill/>
            <a:ln w="38100" cap="flat" cmpd="sng">
              <a:solidFill>
                <a:srgbClr val="3333FF">
                  <a:alpha val="100000"/>
                </a:srgbClr>
              </a:solidFill>
              <a:prstDash val="solid"/>
              <a:round/>
              <a:headEnd type="none" w="med" len="med"/>
              <a:tailEnd type="triangle" w="sm" len="lg"/>
            </a:ln>
          </p:spPr>
          <p:txBody>
            <a:bodyPr/>
            <a:lstStyle/>
            <a:p>
              <a:endParaRPr lang="zh-CN" altLang="en-US" sz="2800"/>
            </a:p>
          </p:txBody>
        </p:sp>
        <p:sp>
          <p:nvSpPr>
            <p:cNvPr id="33803" name="Text Box 19"/>
            <p:cNvSpPr txBox="1"/>
            <p:nvPr/>
          </p:nvSpPr>
          <p:spPr>
            <a:xfrm>
              <a:off x="2718" y="975"/>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0/0</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5890"/>
                                        </p:tgtEl>
                                        <p:attrNameLst>
                                          <p:attrName>style.visibility</p:attrName>
                                        </p:attrNameLst>
                                      </p:cBhvr>
                                      <p:to>
                                        <p:strVal val="visible"/>
                                      </p:to>
                                    </p:set>
                                    <p:animEffect transition="in" filter="wipe(left)">
                                      <p:cBhvr>
                                        <p:cTn id="7" dur="500"/>
                                        <p:tgtEl>
                                          <p:spTgt spid="1658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5900"/>
                                        </p:tgtEl>
                                        <p:attrNameLst>
                                          <p:attrName>style.visibility</p:attrName>
                                        </p:attrNameLst>
                                      </p:cBhvr>
                                      <p:to>
                                        <p:strVal val="visible"/>
                                      </p:to>
                                    </p:set>
                                    <p:animEffect transition="in" filter="wipe(left)">
                                      <p:cBhvr>
                                        <p:cTn id="37" dur="500"/>
                                        <p:tgtEl>
                                          <p:spTgt spid="165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0"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Text Box 2"/>
          <p:cNvSpPr txBox="1"/>
          <p:nvPr/>
        </p:nvSpPr>
        <p:spPr>
          <a:xfrm>
            <a:off x="2274888" y="857250"/>
            <a:ext cx="3733800" cy="519113"/>
          </a:xfrm>
          <a:prstGeom prst="rect">
            <a:avLst/>
          </a:prstGeom>
          <a:noFill/>
          <a:ln w="19050">
            <a:noFill/>
          </a:ln>
        </p:spPr>
        <p:txBody>
          <a:bodyPr wrap="none">
            <a:spAutoFit/>
          </a:bodyPr>
          <a:lstStyle/>
          <a:p>
            <a:r>
              <a:rPr lang="zh-CN" altLang="en-US" sz="2800" dirty="0">
                <a:latin typeface="Times New Roman" panose="02020603050405020304" pitchFamily="18" charset="0"/>
              </a:rPr>
              <a:t>次态交错或相同或循环</a:t>
            </a:r>
          </a:p>
        </p:txBody>
      </p:sp>
      <p:grpSp>
        <p:nvGrpSpPr>
          <p:cNvPr id="2" name="Group 3"/>
          <p:cNvGrpSpPr/>
          <p:nvPr/>
        </p:nvGrpSpPr>
        <p:grpSpPr>
          <a:xfrm>
            <a:off x="1976438" y="2451100"/>
            <a:ext cx="854075" cy="3136900"/>
            <a:chOff x="1245" y="836"/>
            <a:chExt cx="538" cy="1976"/>
          </a:xfrm>
        </p:grpSpPr>
        <p:sp>
          <p:nvSpPr>
            <p:cNvPr id="34846" name="Oval 4"/>
            <p:cNvSpPr/>
            <p:nvPr/>
          </p:nvSpPr>
          <p:spPr>
            <a:xfrm>
              <a:off x="1245" y="836"/>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 S</a:t>
              </a:r>
              <a:r>
                <a:rPr lang="en-US" altLang="zh-CN" sz="2800" i="1" baseline="-25000" dirty="0">
                  <a:latin typeface="Times New Roman" panose="02020603050405020304" pitchFamily="18" charset="0"/>
                </a:rPr>
                <a:t>i</a:t>
              </a:r>
            </a:p>
          </p:txBody>
        </p:sp>
        <p:sp>
          <p:nvSpPr>
            <p:cNvPr id="34847" name="Oval 5"/>
            <p:cNvSpPr/>
            <p:nvPr/>
          </p:nvSpPr>
          <p:spPr>
            <a:xfrm>
              <a:off x="1245" y="227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j</a:t>
              </a:r>
            </a:p>
          </p:txBody>
        </p:sp>
      </p:grpSp>
      <p:grpSp>
        <p:nvGrpSpPr>
          <p:cNvPr id="3" name="Group 6"/>
          <p:cNvGrpSpPr/>
          <p:nvPr/>
        </p:nvGrpSpPr>
        <p:grpSpPr>
          <a:xfrm>
            <a:off x="908050" y="3152775"/>
            <a:ext cx="1206500" cy="1619250"/>
            <a:chOff x="572" y="1278"/>
            <a:chExt cx="760" cy="1020"/>
          </a:xfrm>
        </p:grpSpPr>
        <p:sp>
          <p:nvSpPr>
            <p:cNvPr id="34844" name="Text Box 7"/>
            <p:cNvSpPr txBox="1"/>
            <p:nvPr/>
          </p:nvSpPr>
          <p:spPr>
            <a:xfrm>
              <a:off x="572" y="1653"/>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1/0</a:t>
              </a:r>
            </a:p>
          </p:txBody>
        </p:sp>
        <p:sp>
          <p:nvSpPr>
            <p:cNvPr id="34845" name="Freeform 8"/>
            <p:cNvSpPr/>
            <p:nvPr/>
          </p:nvSpPr>
          <p:spPr>
            <a:xfrm>
              <a:off x="924" y="1278"/>
              <a:ext cx="408" cy="1020"/>
            </a:xfrm>
            <a:custGeom>
              <a:avLst/>
              <a:gdLst>
                <a:gd name="txL" fmla="*/ 0 w 408"/>
                <a:gd name="txT" fmla="*/ 0 h 1020"/>
                <a:gd name="txR" fmla="*/ 408 w 408"/>
                <a:gd name="txB" fmla="*/ 1020 h 1020"/>
              </a:gdLst>
              <a:ahLst/>
              <a:cxnLst>
                <a:cxn ang="0">
                  <a:pos x="408" y="1020"/>
                </a:cxn>
                <a:cxn ang="0">
                  <a:pos x="216" y="888"/>
                </a:cxn>
                <a:cxn ang="0">
                  <a:pos x="72" y="744"/>
                </a:cxn>
                <a:cxn ang="0">
                  <a:pos x="12" y="396"/>
                </a:cxn>
                <a:cxn ang="0">
                  <a:pos x="144" y="156"/>
                </a:cxn>
                <a:cxn ang="0">
                  <a:pos x="360" y="0"/>
                </a:cxn>
              </a:cxnLst>
              <a:rect l="txL" t="txT" r="txR" b="txB"/>
              <a:pathLst>
                <a:path w="408" h="1020">
                  <a:moveTo>
                    <a:pt x="408" y="1020"/>
                  </a:moveTo>
                  <a:cubicBezTo>
                    <a:pt x="376" y="998"/>
                    <a:pt x="272" y="934"/>
                    <a:pt x="216" y="888"/>
                  </a:cubicBezTo>
                  <a:cubicBezTo>
                    <a:pt x="160" y="842"/>
                    <a:pt x="106" y="826"/>
                    <a:pt x="72" y="744"/>
                  </a:cubicBezTo>
                  <a:cubicBezTo>
                    <a:pt x="38" y="662"/>
                    <a:pt x="0" y="494"/>
                    <a:pt x="12" y="396"/>
                  </a:cubicBezTo>
                  <a:cubicBezTo>
                    <a:pt x="24" y="298"/>
                    <a:pt x="86" y="222"/>
                    <a:pt x="144" y="156"/>
                  </a:cubicBezTo>
                  <a:cubicBezTo>
                    <a:pt x="202" y="90"/>
                    <a:pt x="315" y="33"/>
                    <a:pt x="360" y="0"/>
                  </a:cubicBezTo>
                </a:path>
              </a:pathLst>
            </a:custGeom>
            <a:noFill/>
            <a:ln w="38100" cap="flat" cmpd="sng">
              <a:solidFill>
                <a:srgbClr val="3333FF">
                  <a:alpha val="100000"/>
                </a:srgbClr>
              </a:solidFill>
              <a:prstDash val="solid"/>
              <a:round/>
              <a:headEnd type="none" w="med" len="med"/>
              <a:tailEnd type="triangle" w="med" len="med"/>
            </a:ln>
          </p:spPr>
          <p:txBody>
            <a:bodyPr/>
            <a:lstStyle/>
            <a:p>
              <a:endParaRPr lang="zh-CN" altLang="en-US" sz="2800"/>
            </a:p>
          </p:txBody>
        </p:sp>
      </p:grpSp>
      <p:grpSp>
        <p:nvGrpSpPr>
          <p:cNvPr id="4" name="Group 9"/>
          <p:cNvGrpSpPr/>
          <p:nvPr/>
        </p:nvGrpSpPr>
        <p:grpSpPr>
          <a:xfrm>
            <a:off x="2755900" y="2995613"/>
            <a:ext cx="638175" cy="1871662"/>
            <a:chOff x="1736" y="1179"/>
            <a:chExt cx="402" cy="1179"/>
          </a:xfrm>
        </p:grpSpPr>
        <p:sp>
          <p:nvSpPr>
            <p:cNvPr id="34842" name="Text Box 10"/>
            <p:cNvSpPr txBox="1"/>
            <p:nvPr/>
          </p:nvSpPr>
          <p:spPr>
            <a:xfrm>
              <a:off x="1736" y="1629"/>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1/0</a:t>
              </a:r>
            </a:p>
          </p:txBody>
        </p:sp>
        <p:sp>
          <p:nvSpPr>
            <p:cNvPr id="34843" name="Freeform 11"/>
            <p:cNvSpPr/>
            <p:nvPr/>
          </p:nvSpPr>
          <p:spPr>
            <a:xfrm>
              <a:off x="1752" y="1179"/>
              <a:ext cx="366" cy="1179"/>
            </a:xfrm>
            <a:custGeom>
              <a:avLst/>
              <a:gdLst>
                <a:gd name="txL" fmla="*/ 0 w 366"/>
                <a:gd name="txT" fmla="*/ 0 h 1179"/>
                <a:gd name="txR" fmla="*/ 366 w 366"/>
                <a:gd name="txB" fmla="*/ 1179 h 1179"/>
              </a:gdLst>
              <a:ahLst/>
              <a:cxnLst>
                <a:cxn ang="0">
                  <a:pos x="7" y="0"/>
                </a:cxn>
                <a:cxn ang="0">
                  <a:pos x="180" y="129"/>
                </a:cxn>
                <a:cxn ang="0">
                  <a:pos x="300" y="285"/>
                </a:cxn>
                <a:cxn ang="0">
                  <a:pos x="360" y="417"/>
                </a:cxn>
                <a:cxn ang="0">
                  <a:pos x="336" y="699"/>
                </a:cxn>
                <a:cxn ang="0">
                  <a:pos x="216" y="951"/>
                </a:cxn>
                <a:cxn ang="0">
                  <a:pos x="0" y="1179"/>
                </a:cxn>
              </a:cxnLst>
              <a:rect l="txL" t="txT" r="txR" b="txB"/>
              <a:pathLst>
                <a:path w="366" h="1179">
                  <a:moveTo>
                    <a:pt x="7" y="0"/>
                  </a:moveTo>
                  <a:cubicBezTo>
                    <a:pt x="36" y="22"/>
                    <a:pt x="131" y="81"/>
                    <a:pt x="180" y="129"/>
                  </a:cubicBezTo>
                  <a:cubicBezTo>
                    <a:pt x="229" y="177"/>
                    <a:pt x="270" y="237"/>
                    <a:pt x="300" y="285"/>
                  </a:cubicBezTo>
                  <a:cubicBezTo>
                    <a:pt x="330" y="333"/>
                    <a:pt x="354" y="348"/>
                    <a:pt x="360" y="417"/>
                  </a:cubicBezTo>
                  <a:cubicBezTo>
                    <a:pt x="366" y="486"/>
                    <a:pt x="360" y="610"/>
                    <a:pt x="336" y="699"/>
                  </a:cubicBezTo>
                  <a:cubicBezTo>
                    <a:pt x="312" y="788"/>
                    <a:pt x="272" y="871"/>
                    <a:pt x="216" y="951"/>
                  </a:cubicBezTo>
                  <a:cubicBezTo>
                    <a:pt x="160" y="1031"/>
                    <a:pt x="45" y="1132"/>
                    <a:pt x="0" y="1179"/>
                  </a:cubicBezTo>
                </a:path>
              </a:pathLst>
            </a:custGeom>
            <a:noFill/>
            <a:ln w="38100" cap="flat" cmpd="sng">
              <a:solidFill>
                <a:srgbClr val="3333FF">
                  <a:alpha val="100000"/>
                </a:srgbClr>
              </a:solidFill>
              <a:prstDash val="solid"/>
              <a:round/>
              <a:headEnd type="none" w="med" len="med"/>
              <a:tailEnd type="triangle" w="med" len="med"/>
            </a:ln>
          </p:spPr>
          <p:txBody>
            <a:bodyPr/>
            <a:lstStyle/>
            <a:p>
              <a:endParaRPr lang="zh-CN" altLang="en-US" sz="2800"/>
            </a:p>
          </p:txBody>
        </p:sp>
      </p:grpSp>
      <p:sp>
        <p:nvSpPr>
          <p:cNvPr id="166924" name="Line 12"/>
          <p:cNvSpPr/>
          <p:nvPr/>
        </p:nvSpPr>
        <p:spPr>
          <a:xfrm>
            <a:off x="7124700" y="4000500"/>
            <a:ext cx="1085850" cy="0"/>
          </a:xfrm>
          <a:prstGeom prst="line">
            <a:avLst/>
          </a:prstGeom>
          <a:ln w="38100" cap="flat" cmpd="sng">
            <a:solidFill>
              <a:srgbClr val="3333FF"/>
            </a:solidFill>
            <a:prstDash val="solid"/>
            <a:headEnd type="none" w="med" len="med"/>
            <a:tailEnd type="triangle" w="sm" len="lg"/>
          </a:ln>
        </p:spPr>
      </p:sp>
      <p:grpSp>
        <p:nvGrpSpPr>
          <p:cNvPr id="5" name="Group 13"/>
          <p:cNvGrpSpPr/>
          <p:nvPr/>
        </p:nvGrpSpPr>
        <p:grpSpPr>
          <a:xfrm>
            <a:off x="2916238" y="2297113"/>
            <a:ext cx="2636837" cy="3482975"/>
            <a:chOff x="1837" y="739"/>
            <a:chExt cx="1661" cy="2194"/>
          </a:xfrm>
        </p:grpSpPr>
        <p:sp>
          <p:nvSpPr>
            <p:cNvPr id="34835" name="Oval 14"/>
            <p:cNvSpPr/>
            <p:nvPr/>
          </p:nvSpPr>
          <p:spPr>
            <a:xfrm>
              <a:off x="2948" y="836"/>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k</a:t>
              </a:r>
            </a:p>
          </p:txBody>
        </p:sp>
        <p:sp>
          <p:nvSpPr>
            <p:cNvPr id="34836" name="Oval 15"/>
            <p:cNvSpPr/>
            <p:nvPr/>
          </p:nvSpPr>
          <p:spPr>
            <a:xfrm>
              <a:off x="2960" y="227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l</a:t>
              </a:r>
            </a:p>
          </p:txBody>
        </p:sp>
        <p:grpSp>
          <p:nvGrpSpPr>
            <p:cNvPr id="34837" name="Group 16"/>
            <p:cNvGrpSpPr/>
            <p:nvPr/>
          </p:nvGrpSpPr>
          <p:grpSpPr>
            <a:xfrm>
              <a:off x="1837" y="739"/>
              <a:ext cx="1106" cy="2194"/>
              <a:chOff x="1837" y="739"/>
              <a:chExt cx="1106" cy="2194"/>
            </a:xfrm>
          </p:grpSpPr>
          <p:sp>
            <p:nvSpPr>
              <p:cNvPr id="34838" name="Text Box 17"/>
              <p:cNvSpPr txBox="1"/>
              <p:nvPr/>
            </p:nvSpPr>
            <p:spPr>
              <a:xfrm>
                <a:off x="2214" y="861"/>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0/0</a:t>
                </a:r>
              </a:p>
            </p:txBody>
          </p:sp>
          <p:sp>
            <p:nvSpPr>
              <p:cNvPr id="34839" name="Freeform 18"/>
              <p:cNvSpPr/>
              <p:nvPr/>
            </p:nvSpPr>
            <p:spPr>
              <a:xfrm rot="-1562043">
                <a:off x="1837" y="739"/>
                <a:ext cx="1043" cy="606"/>
              </a:xfrm>
              <a:custGeom>
                <a:avLst/>
                <a:gdLst>
                  <a:gd name="txL" fmla="*/ 0 w 1033"/>
                  <a:gd name="txT" fmla="*/ 0 h 468"/>
                  <a:gd name="txR" fmla="*/ 1033 w 1033"/>
                  <a:gd name="txB" fmla="*/ 468 h 468"/>
                </a:gdLst>
                <a:ahLst/>
                <a:cxnLst>
                  <a:cxn ang="0">
                    <a:pos x="0" y="0"/>
                  </a:cxn>
                  <a:cxn ang="0">
                    <a:pos x="600" y="262"/>
                  </a:cxn>
                  <a:cxn ang="0">
                    <a:pos x="1053" y="785"/>
                  </a:cxn>
                </a:cxnLst>
                <a:rect l="txL" t="txT" r="txR" b="txB"/>
                <a:pathLst>
                  <a:path w="1033" h="468">
                    <a:moveTo>
                      <a:pt x="0" y="0"/>
                    </a:moveTo>
                    <a:cubicBezTo>
                      <a:pt x="98" y="28"/>
                      <a:pt x="416" y="78"/>
                      <a:pt x="588" y="156"/>
                    </a:cubicBezTo>
                    <a:cubicBezTo>
                      <a:pt x="760" y="234"/>
                      <a:pt x="940" y="403"/>
                      <a:pt x="1033" y="468"/>
                    </a:cubicBezTo>
                  </a:path>
                </a:pathLst>
              </a:custGeom>
              <a:noFill/>
              <a:ln w="38100" cap="flat" cmpd="sng">
                <a:solidFill>
                  <a:srgbClr val="3333FF">
                    <a:alpha val="100000"/>
                  </a:srgbClr>
                </a:solidFill>
                <a:prstDash val="solid"/>
                <a:round/>
                <a:headEnd type="none" w="med" len="med"/>
                <a:tailEnd type="triangle" w="sm" len="lg"/>
              </a:ln>
            </p:spPr>
            <p:txBody>
              <a:bodyPr/>
              <a:lstStyle/>
              <a:p>
                <a:endParaRPr lang="zh-CN" altLang="en-US" sz="2800"/>
              </a:p>
            </p:txBody>
          </p:sp>
          <p:sp>
            <p:nvSpPr>
              <p:cNvPr id="34840" name="Freeform 19"/>
              <p:cNvSpPr/>
              <p:nvPr/>
            </p:nvSpPr>
            <p:spPr>
              <a:xfrm rot="1424213">
                <a:off x="1851" y="2452"/>
                <a:ext cx="1092" cy="481"/>
              </a:xfrm>
              <a:custGeom>
                <a:avLst/>
                <a:gdLst>
                  <a:gd name="txL" fmla="*/ 0 w 1135"/>
                  <a:gd name="txT" fmla="*/ 0 h 543"/>
                  <a:gd name="txR" fmla="*/ 1135 w 1135"/>
                  <a:gd name="txB" fmla="*/ 543 h 543"/>
                </a:gdLst>
                <a:ahLst/>
                <a:cxnLst>
                  <a:cxn ang="0">
                    <a:pos x="1051" y="0"/>
                  </a:cxn>
                  <a:cxn ang="0">
                    <a:pos x="516" y="292"/>
                  </a:cxn>
                  <a:cxn ang="0">
                    <a:pos x="0" y="426"/>
                  </a:cxn>
                </a:cxnLst>
                <a:rect l="txL" t="txT" r="txR" b="txB"/>
                <a:pathLst>
                  <a:path w="1135" h="543">
                    <a:moveTo>
                      <a:pt x="1135" y="0"/>
                    </a:moveTo>
                    <a:cubicBezTo>
                      <a:pt x="1039" y="60"/>
                      <a:pt x="746" y="283"/>
                      <a:pt x="557" y="373"/>
                    </a:cubicBezTo>
                    <a:cubicBezTo>
                      <a:pt x="368" y="463"/>
                      <a:pt x="116" y="508"/>
                      <a:pt x="0" y="543"/>
                    </a:cubicBezTo>
                  </a:path>
                </a:pathLst>
              </a:custGeom>
              <a:noFill/>
              <a:ln w="38100" cap="flat" cmpd="sng">
                <a:solidFill>
                  <a:srgbClr val="3333FF">
                    <a:alpha val="100000"/>
                  </a:srgbClr>
                </a:solidFill>
                <a:prstDash val="solid"/>
                <a:round/>
                <a:headEnd type="triangle" w="med" len="med"/>
                <a:tailEnd type="none" w="med" len="med"/>
              </a:ln>
            </p:spPr>
            <p:txBody>
              <a:bodyPr/>
              <a:lstStyle/>
              <a:p>
                <a:endParaRPr lang="zh-CN" altLang="en-US" sz="2800"/>
              </a:p>
            </p:txBody>
          </p:sp>
          <p:sp>
            <p:nvSpPr>
              <p:cNvPr id="34841" name="Text Box 20"/>
              <p:cNvSpPr txBox="1"/>
              <p:nvPr/>
            </p:nvSpPr>
            <p:spPr>
              <a:xfrm>
                <a:off x="2202" y="2496"/>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0/0</a:t>
                </a:r>
              </a:p>
            </p:txBody>
          </p:sp>
        </p:grpSp>
      </p:grpSp>
      <p:grpSp>
        <p:nvGrpSpPr>
          <p:cNvPr id="7" name="Group 21"/>
          <p:cNvGrpSpPr/>
          <p:nvPr/>
        </p:nvGrpSpPr>
        <p:grpSpPr>
          <a:xfrm>
            <a:off x="2533650" y="1957388"/>
            <a:ext cx="2565400" cy="4367212"/>
            <a:chOff x="1596" y="525"/>
            <a:chExt cx="1616" cy="2751"/>
          </a:xfrm>
        </p:grpSpPr>
        <p:sp>
          <p:nvSpPr>
            <p:cNvPr id="34831" name="Text Box 22"/>
            <p:cNvSpPr txBox="1"/>
            <p:nvPr/>
          </p:nvSpPr>
          <p:spPr>
            <a:xfrm>
              <a:off x="2226" y="2949"/>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0/1</a:t>
              </a:r>
            </a:p>
          </p:txBody>
        </p:sp>
        <p:sp>
          <p:nvSpPr>
            <p:cNvPr id="34832" name="Freeform 23"/>
            <p:cNvSpPr/>
            <p:nvPr/>
          </p:nvSpPr>
          <p:spPr>
            <a:xfrm>
              <a:off x="1596" y="568"/>
              <a:ext cx="1428" cy="320"/>
            </a:xfrm>
            <a:custGeom>
              <a:avLst/>
              <a:gdLst>
                <a:gd name="txL" fmla="*/ 0 w 1428"/>
                <a:gd name="txT" fmla="*/ 0 h 320"/>
                <a:gd name="txR" fmla="*/ 1428 w 1428"/>
                <a:gd name="txB" fmla="*/ 320 h 320"/>
              </a:gdLst>
              <a:ahLst/>
              <a:cxnLst>
                <a:cxn ang="0">
                  <a:pos x="0" y="260"/>
                </a:cxn>
                <a:cxn ang="0">
                  <a:pos x="240" y="104"/>
                </a:cxn>
                <a:cxn ang="0">
                  <a:pos x="444" y="32"/>
                </a:cxn>
                <a:cxn ang="0">
                  <a:pos x="660" y="8"/>
                </a:cxn>
                <a:cxn ang="0">
                  <a:pos x="912" y="20"/>
                </a:cxn>
                <a:cxn ang="0">
                  <a:pos x="1212" y="128"/>
                </a:cxn>
                <a:cxn ang="0">
                  <a:pos x="1428" y="320"/>
                </a:cxn>
              </a:cxnLst>
              <a:rect l="txL" t="txT" r="txR" b="txB"/>
              <a:pathLst>
                <a:path w="1428" h="320">
                  <a:moveTo>
                    <a:pt x="0" y="260"/>
                  </a:moveTo>
                  <a:cubicBezTo>
                    <a:pt x="40" y="234"/>
                    <a:pt x="166" y="142"/>
                    <a:pt x="240" y="104"/>
                  </a:cubicBezTo>
                  <a:cubicBezTo>
                    <a:pt x="314" y="66"/>
                    <a:pt x="374" y="48"/>
                    <a:pt x="444" y="32"/>
                  </a:cubicBezTo>
                  <a:cubicBezTo>
                    <a:pt x="514" y="16"/>
                    <a:pt x="582" y="10"/>
                    <a:pt x="660" y="8"/>
                  </a:cubicBezTo>
                  <a:cubicBezTo>
                    <a:pt x="738" y="6"/>
                    <a:pt x="820" y="0"/>
                    <a:pt x="912" y="20"/>
                  </a:cubicBezTo>
                  <a:cubicBezTo>
                    <a:pt x="1004" y="40"/>
                    <a:pt x="1126" y="78"/>
                    <a:pt x="1212" y="128"/>
                  </a:cubicBezTo>
                  <a:cubicBezTo>
                    <a:pt x="1298" y="178"/>
                    <a:pt x="1383" y="280"/>
                    <a:pt x="1428" y="320"/>
                  </a:cubicBezTo>
                </a:path>
              </a:pathLst>
            </a:custGeom>
            <a:noFill/>
            <a:ln w="38100" cap="flat" cmpd="sng">
              <a:solidFill>
                <a:srgbClr val="3333FF">
                  <a:alpha val="100000"/>
                </a:srgbClr>
              </a:solidFill>
              <a:prstDash val="solid"/>
              <a:round/>
              <a:headEnd type="triangle" w="med" len="med"/>
              <a:tailEnd type="none" w="med" len="med"/>
            </a:ln>
          </p:spPr>
          <p:txBody>
            <a:bodyPr/>
            <a:lstStyle/>
            <a:p>
              <a:endParaRPr lang="zh-CN" altLang="en-US" sz="2800"/>
            </a:p>
          </p:txBody>
        </p:sp>
        <p:sp>
          <p:nvSpPr>
            <p:cNvPr id="34833" name="Freeform 24"/>
            <p:cNvSpPr/>
            <p:nvPr/>
          </p:nvSpPr>
          <p:spPr>
            <a:xfrm>
              <a:off x="1620" y="2832"/>
              <a:ext cx="1592" cy="388"/>
            </a:xfrm>
            <a:custGeom>
              <a:avLst/>
              <a:gdLst>
                <a:gd name="txL" fmla="*/ 0 w 1592"/>
                <a:gd name="txT" fmla="*/ 0 h 388"/>
                <a:gd name="txR" fmla="*/ 1592 w 1592"/>
                <a:gd name="txB" fmla="*/ 388 h 388"/>
              </a:gdLst>
              <a:ahLst/>
              <a:cxnLst>
                <a:cxn ang="0">
                  <a:pos x="1592" y="28"/>
                </a:cxn>
                <a:cxn ang="0">
                  <a:pos x="1368" y="204"/>
                </a:cxn>
                <a:cxn ang="0">
                  <a:pos x="1176" y="324"/>
                </a:cxn>
                <a:cxn ang="0">
                  <a:pos x="924" y="384"/>
                </a:cxn>
                <a:cxn ang="0">
                  <a:pos x="564" y="348"/>
                </a:cxn>
                <a:cxn ang="0">
                  <a:pos x="192" y="192"/>
                </a:cxn>
                <a:cxn ang="0">
                  <a:pos x="0" y="0"/>
                </a:cxn>
              </a:cxnLst>
              <a:rect l="txL" t="txT" r="txR" b="txB"/>
              <a:pathLst>
                <a:path w="1592" h="388">
                  <a:moveTo>
                    <a:pt x="1592" y="28"/>
                  </a:moveTo>
                  <a:cubicBezTo>
                    <a:pt x="1555" y="57"/>
                    <a:pt x="1437" y="155"/>
                    <a:pt x="1368" y="204"/>
                  </a:cubicBezTo>
                  <a:cubicBezTo>
                    <a:pt x="1299" y="253"/>
                    <a:pt x="1250" y="294"/>
                    <a:pt x="1176" y="324"/>
                  </a:cubicBezTo>
                  <a:cubicBezTo>
                    <a:pt x="1102" y="354"/>
                    <a:pt x="1026" y="380"/>
                    <a:pt x="924" y="384"/>
                  </a:cubicBezTo>
                  <a:cubicBezTo>
                    <a:pt x="822" y="388"/>
                    <a:pt x="686" y="380"/>
                    <a:pt x="564" y="348"/>
                  </a:cubicBezTo>
                  <a:cubicBezTo>
                    <a:pt x="442" y="316"/>
                    <a:pt x="286" y="250"/>
                    <a:pt x="192" y="192"/>
                  </a:cubicBezTo>
                  <a:cubicBezTo>
                    <a:pt x="98" y="134"/>
                    <a:pt x="40" y="40"/>
                    <a:pt x="0" y="0"/>
                  </a:cubicBezTo>
                </a:path>
              </a:pathLst>
            </a:custGeom>
            <a:noFill/>
            <a:ln w="38100" cap="flat" cmpd="sng">
              <a:solidFill>
                <a:srgbClr val="3333FF">
                  <a:alpha val="100000"/>
                </a:srgbClr>
              </a:solidFill>
              <a:prstDash val="solid"/>
              <a:round/>
              <a:headEnd type="none" w="med" len="med"/>
              <a:tailEnd type="triangle" w="med" len="med"/>
            </a:ln>
          </p:spPr>
          <p:txBody>
            <a:bodyPr/>
            <a:lstStyle/>
            <a:p>
              <a:endParaRPr lang="zh-CN" altLang="en-US" sz="2800"/>
            </a:p>
          </p:txBody>
        </p:sp>
        <p:sp>
          <p:nvSpPr>
            <p:cNvPr id="34834" name="Text Box 25"/>
            <p:cNvSpPr txBox="1"/>
            <p:nvPr/>
          </p:nvSpPr>
          <p:spPr>
            <a:xfrm>
              <a:off x="2226" y="525"/>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0/1</a:t>
              </a:r>
            </a:p>
          </p:txBody>
        </p:sp>
      </p:grpSp>
      <p:grpSp>
        <p:nvGrpSpPr>
          <p:cNvPr id="8" name="Group 26"/>
          <p:cNvGrpSpPr/>
          <p:nvPr/>
        </p:nvGrpSpPr>
        <p:grpSpPr>
          <a:xfrm>
            <a:off x="5534025" y="2819400"/>
            <a:ext cx="1562100" cy="2386013"/>
            <a:chOff x="3486" y="1068"/>
            <a:chExt cx="984" cy="1503"/>
          </a:xfrm>
        </p:grpSpPr>
        <p:sp>
          <p:nvSpPr>
            <p:cNvPr id="34826" name="Oval 27"/>
            <p:cNvSpPr/>
            <p:nvPr/>
          </p:nvSpPr>
          <p:spPr>
            <a:xfrm>
              <a:off x="3932" y="155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m</a:t>
              </a:r>
            </a:p>
          </p:txBody>
        </p:sp>
        <p:sp>
          <p:nvSpPr>
            <p:cNvPr id="34827" name="Freeform 28"/>
            <p:cNvSpPr/>
            <p:nvPr/>
          </p:nvSpPr>
          <p:spPr>
            <a:xfrm rot="-378392">
              <a:off x="3486" y="2126"/>
              <a:ext cx="649" cy="397"/>
            </a:xfrm>
            <a:custGeom>
              <a:avLst/>
              <a:gdLst>
                <a:gd name="txL" fmla="*/ 0 w 1135"/>
                <a:gd name="txT" fmla="*/ 0 h 543"/>
                <a:gd name="txR" fmla="*/ 1135 w 1135"/>
                <a:gd name="txB" fmla="*/ 543 h 543"/>
              </a:gdLst>
              <a:ahLst/>
              <a:cxnLst>
                <a:cxn ang="0">
                  <a:pos x="371" y="0"/>
                </a:cxn>
                <a:cxn ang="0">
                  <a:pos x="182" y="200"/>
                </a:cxn>
                <a:cxn ang="0">
                  <a:pos x="0" y="290"/>
                </a:cxn>
              </a:cxnLst>
              <a:rect l="txL" t="txT" r="txR" b="txB"/>
              <a:pathLst>
                <a:path w="1135" h="543">
                  <a:moveTo>
                    <a:pt x="1135" y="0"/>
                  </a:moveTo>
                  <a:cubicBezTo>
                    <a:pt x="1039" y="60"/>
                    <a:pt x="746" y="283"/>
                    <a:pt x="557" y="373"/>
                  </a:cubicBezTo>
                  <a:cubicBezTo>
                    <a:pt x="368" y="463"/>
                    <a:pt x="116" y="508"/>
                    <a:pt x="0" y="543"/>
                  </a:cubicBezTo>
                </a:path>
              </a:pathLst>
            </a:custGeom>
            <a:noFill/>
            <a:ln w="38100" cap="flat" cmpd="sng">
              <a:solidFill>
                <a:srgbClr val="3333FF">
                  <a:alpha val="100000"/>
                </a:srgbClr>
              </a:solidFill>
              <a:prstDash val="solid"/>
              <a:round/>
              <a:headEnd type="triangle" w="med" len="med"/>
              <a:tailEnd type="none" w="med" len="med"/>
            </a:ln>
          </p:spPr>
          <p:txBody>
            <a:bodyPr/>
            <a:lstStyle/>
            <a:p>
              <a:endParaRPr lang="zh-CN" altLang="en-US" sz="2800"/>
            </a:p>
          </p:txBody>
        </p:sp>
        <p:sp>
          <p:nvSpPr>
            <p:cNvPr id="34828" name="Freeform 29"/>
            <p:cNvSpPr/>
            <p:nvPr/>
          </p:nvSpPr>
          <p:spPr>
            <a:xfrm>
              <a:off x="3528" y="1212"/>
              <a:ext cx="519" cy="392"/>
            </a:xfrm>
            <a:custGeom>
              <a:avLst/>
              <a:gdLst>
                <a:gd name="txL" fmla="*/ 0 w 519"/>
                <a:gd name="txT" fmla="*/ 0 h 392"/>
                <a:gd name="txR" fmla="*/ 519 w 519"/>
                <a:gd name="txB" fmla="*/ 392 h 392"/>
              </a:gdLst>
              <a:ahLst/>
              <a:cxnLst>
                <a:cxn ang="0">
                  <a:pos x="0" y="0"/>
                </a:cxn>
                <a:cxn ang="0">
                  <a:pos x="276" y="120"/>
                </a:cxn>
                <a:cxn ang="0">
                  <a:pos x="519" y="392"/>
                </a:cxn>
              </a:cxnLst>
              <a:rect l="txL" t="txT" r="txR" b="txB"/>
              <a:pathLst>
                <a:path w="519" h="392">
                  <a:moveTo>
                    <a:pt x="0" y="0"/>
                  </a:moveTo>
                  <a:cubicBezTo>
                    <a:pt x="46" y="20"/>
                    <a:pt x="190" y="55"/>
                    <a:pt x="276" y="120"/>
                  </a:cubicBezTo>
                  <a:cubicBezTo>
                    <a:pt x="362" y="185"/>
                    <a:pt x="469" y="336"/>
                    <a:pt x="519" y="392"/>
                  </a:cubicBezTo>
                </a:path>
              </a:pathLst>
            </a:custGeom>
            <a:noFill/>
            <a:ln w="38100" cap="flat" cmpd="sng">
              <a:solidFill>
                <a:srgbClr val="3333FF">
                  <a:alpha val="100000"/>
                </a:srgbClr>
              </a:solidFill>
              <a:prstDash val="solid"/>
              <a:round/>
              <a:headEnd type="none" w="med" len="med"/>
              <a:tailEnd type="triangle" w="sm" len="lg"/>
            </a:ln>
          </p:spPr>
          <p:txBody>
            <a:bodyPr/>
            <a:lstStyle/>
            <a:p>
              <a:endParaRPr lang="zh-CN" altLang="en-US" sz="2800"/>
            </a:p>
          </p:txBody>
        </p:sp>
        <p:sp>
          <p:nvSpPr>
            <p:cNvPr id="34829" name="Text Box 30"/>
            <p:cNvSpPr txBox="1"/>
            <p:nvPr/>
          </p:nvSpPr>
          <p:spPr>
            <a:xfrm>
              <a:off x="3810" y="2244"/>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1/0</a:t>
              </a:r>
            </a:p>
          </p:txBody>
        </p:sp>
        <p:sp>
          <p:nvSpPr>
            <p:cNvPr id="34830" name="Text Box 31"/>
            <p:cNvSpPr txBox="1"/>
            <p:nvPr/>
          </p:nvSpPr>
          <p:spPr>
            <a:xfrm>
              <a:off x="3738" y="1068"/>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1/0</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6914"/>
                                        </p:tgtEl>
                                        <p:attrNameLst>
                                          <p:attrName>style.visibility</p:attrName>
                                        </p:attrNameLst>
                                      </p:cBhvr>
                                      <p:to>
                                        <p:strVal val="visible"/>
                                      </p:to>
                                    </p:set>
                                    <p:animEffect transition="in" filter="wipe(left)">
                                      <p:cBhvr>
                                        <p:cTn id="7" dur="500"/>
                                        <p:tgtEl>
                                          <p:spTgt spid="1669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righ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66924"/>
                                        </p:tgtEl>
                                        <p:attrNameLst>
                                          <p:attrName>style.visibility</p:attrName>
                                        </p:attrNameLst>
                                      </p:cBhvr>
                                      <p:to>
                                        <p:strVal val="visible"/>
                                      </p:to>
                                    </p:set>
                                    <p:animEffect transition="in" filter="wipe(left)">
                                      <p:cBhvr>
                                        <p:cTn id="42" dur="500"/>
                                        <p:tgtEl>
                                          <p:spTgt spid="166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4"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Text Box 2"/>
          <p:cNvSpPr txBox="1"/>
          <p:nvPr/>
        </p:nvSpPr>
        <p:spPr>
          <a:xfrm>
            <a:off x="2274888" y="933450"/>
            <a:ext cx="4289425" cy="519113"/>
          </a:xfrm>
          <a:prstGeom prst="rect">
            <a:avLst/>
          </a:prstGeom>
          <a:noFill/>
          <a:ln w="19050">
            <a:noFill/>
          </a:ln>
        </p:spPr>
        <p:txBody>
          <a:bodyPr wrap="none">
            <a:spAutoFit/>
          </a:bodyPr>
          <a:lstStyle/>
          <a:p>
            <a:r>
              <a:rPr lang="zh-CN" altLang="en-US" sz="2800" dirty="0">
                <a:latin typeface="Times New Roman" panose="02020603050405020304" pitchFamily="18" charset="0"/>
              </a:rPr>
              <a:t>次态交错或等效</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k</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l</a:t>
            </a:r>
            <a:r>
              <a:rPr lang="zh-CN" altLang="zh-CN" sz="2800" dirty="0">
                <a:latin typeface="Times New Roman" panose="02020603050405020304" pitchFamily="18" charset="0"/>
              </a:rPr>
              <a:t>等效</a:t>
            </a:r>
            <a:r>
              <a:rPr lang="en-US" altLang="zh-CN" sz="2800" dirty="0">
                <a:latin typeface="Times New Roman" panose="02020603050405020304" pitchFamily="18" charset="0"/>
              </a:rPr>
              <a:t>)</a:t>
            </a:r>
          </a:p>
        </p:txBody>
      </p:sp>
      <p:grpSp>
        <p:nvGrpSpPr>
          <p:cNvPr id="2" name="Group 3"/>
          <p:cNvGrpSpPr/>
          <p:nvPr/>
        </p:nvGrpSpPr>
        <p:grpSpPr>
          <a:xfrm>
            <a:off x="3081338" y="2495550"/>
            <a:ext cx="854075" cy="3463925"/>
            <a:chOff x="1941" y="852"/>
            <a:chExt cx="538" cy="2182"/>
          </a:xfrm>
        </p:grpSpPr>
        <p:sp>
          <p:nvSpPr>
            <p:cNvPr id="35857" name="Oval 4"/>
            <p:cNvSpPr/>
            <p:nvPr/>
          </p:nvSpPr>
          <p:spPr>
            <a:xfrm>
              <a:off x="1941" y="852"/>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 S</a:t>
              </a:r>
              <a:r>
                <a:rPr lang="en-US" altLang="zh-CN" sz="2800" i="1" baseline="-25000" dirty="0">
                  <a:latin typeface="Times New Roman" panose="02020603050405020304" pitchFamily="18" charset="0"/>
                </a:rPr>
                <a:t>i</a:t>
              </a:r>
            </a:p>
          </p:txBody>
        </p:sp>
        <p:sp>
          <p:nvSpPr>
            <p:cNvPr id="35858" name="Oval 5"/>
            <p:cNvSpPr/>
            <p:nvPr/>
          </p:nvSpPr>
          <p:spPr>
            <a:xfrm>
              <a:off x="1941" y="2496"/>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j</a:t>
              </a:r>
            </a:p>
          </p:txBody>
        </p:sp>
      </p:grpSp>
      <p:grpSp>
        <p:nvGrpSpPr>
          <p:cNvPr id="3" name="Group 6"/>
          <p:cNvGrpSpPr/>
          <p:nvPr/>
        </p:nvGrpSpPr>
        <p:grpSpPr>
          <a:xfrm>
            <a:off x="3848100" y="3257550"/>
            <a:ext cx="1031875" cy="1981200"/>
            <a:chOff x="2424" y="1332"/>
            <a:chExt cx="650" cy="1248"/>
          </a:xfrm>
        </p:grpSpPr>
        <p:sp>
          <p:nvSpPr>
            <p:cNvPr id="35855" name="Text Box 7"/>
            <p:cNvSpPr txBox="1"/>
            <p:nvPr/>
          </p:nvSpPr>
          <p:spPr>
            <a:xfrm>
              <a:off x="2672" y="1707"/>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1/0</a:t>
              </a:r>
            </a:p>
          </p:txBody>
        </p:sp>
        <p:sp>
          <p:nvSpPr>
            <p:cNvPr id="35856" name="Freeform 8"/>
            <p:cNvSpPr/>
            <p:nvPr/>
          </p:nvSpPr>
          <p:spPr>
            <a:xfrm>
              <a:off x="2424" y="1332"/>
              <a:ext cx="332" cy="1248"/>
            </a:xfrm>
            <a:custGeom>
              <a:avLst/>
              <a:gdLst>
                <a:gd name="txL" fmla="*/ 0 w 332"/>
                <a:gd name="txT" fmla="*/ 0 h 1248"/>
                <a:gd name="txR" fmla="*/ 332 w 332"/>
                <a:gd name="txB" fmla="*/ 1248 h 1248"/>
              </a:gdLst>
              <a:ahLst/>
              <a:cxnLst>
                <a:cxn ang="0">
                  <a:pos x="32" y="0"/>
                </a:cxn>
                <a:cxn ang="0">
                  <a:pos x="264" y="360"/>
                </a:cxn>
                <a:cxn ang="0">
                  <a:pos x="288" y="816"/>
                </a:cxn>
                <a:cxn ang="0">
                  <a:pos x="0" y="1248"/>
                </a:cxn>
              </a:cxnLst>
              <a:rect l="txL" t="txT" r="txR" b="txB"/>
              <a:pathLst>
                <a:path w="332" h="1248">
                  <a:moveTo>
                    <a:pt x="32" y="0"/>
                  </a:moveTo>
                  <a:cubicBezTo>
                    <a:pt x="71" y="60"/>
                    <a:pt x="221" y="224"/>
                    <a:pt x="264" y="360"/>
                  </a:cubicBezTo>
                  <a:cubicBezTo>
                    <a:pt x="307" y="496"/>
                    <a:pt x="332" y="668"/>
                    <a:pt x="288" y="816"/>
                  </a:cubicBezTo>
                  <a:cubicBezTo>
                    <a:pt x="244" y="964"/>
                    <a:pt x="60" y="1158"/>
                    <a:pt x="0" y="1248"/>
                  </a:cubicBezTo>
                </a:path>
              </a:pathLst>
            </a:custGeom>
            <a:noFill/>
            <a:ln w="38100" cap="flat" cmpd="sng">
              <a:solidFill>
                <a:srgbClr val="3333FF">
                  <a:alpha val="100000"/>
                </a:srgbClr>
              </a:solidFill>
              <a:prstDash val="solid"/>
              <a:round/>
              <a:headEnd type="none" w="med" len="med"/>
              <a:tailEnd type="triangle" w="med" len="med"/>
            </a:ln>
          </p:spPr>
          <p:txBody>
            <a:bodyPr/>
            <a:lstStyle/>
            <a:p>
              <a:endParaRPr lang="zh-CN" altLang="en-US" sz="2800"/>
            </a:p>
          </p:txBody>
        </p:sp>
      </p:grpSp>
      <p:grpSp>
        <p:nvGrpSpPr>
          <p:cNvPr id="4" name="Group 9"/>
          <p:cNvGrpSpPr/>
          <p:nvPr/>
        </p:nvGrpSpPr>
        <p:grpSpPr>
          <a:xfrm>
            <a:off x="2051050" y="3160713"/>
            <a:ext cx="1066800" cy="2093912"/>
            <a:chOff x="1292" y="1271"/>
            <a:chExt cx="672" cy="1319"/>
          </a:xfrm>
        </p:grpSpPr>
        <p:sp>
          <p:nvSpPr>
            <p:cNvPr id="35853" name="Text Box 10"/>
            <p:cNvSpPr txBox="1"/>
            <p:nvPr/>
          </p:nvSpPr>
          <p:spPr>
            <a:xfrm>
              <a:off x="1292" y="1695"/>
              <a:ext cx="402" cy="327"/>
            </a:xfrm>
            <a:prstGeom prst="rect">
              <a:avLst/>
            </a:prstGeom>
            <a:noFill/>
            <a:ln w="38100">
              <a:noFill/>
            </a:ln>
          </p:spPr>
          <p:txBody>
            <a:bodyPr>
              <a:spAutoFit/>
            </a:bodyPr>
            <a:lstStyle/>
            <a:p>
              <a:r>
                <a:rPr lang="en-US" altLang="zh-CN" sz="2800" dirty="0">
                  <a:latin typeface="Times New Roman" panose="02020603050405020304" pitchFamily="18" charset="0"/>
                </a:rPr>
                <a:t>1/0</a:t>
              </a:r>
            </a:p>
          </p:txBody>
        </p:sp>
        <p:sp>
          <p:nvSpPr>
            <p:cNvPr id="35854" name="Freeform 11"/>
            <p:cNvSpPr/>
            <p:nvPr/>
          </p:nvSpPr>
          <p:spPr>
            <a:xfrm rot="10777798">
              <a:off x="1632" y="1271"/>
              <a:ext cx="332" cy="1319"/>
            </a:xfrm>
            <a:custGeom>
              <a:avLst/>
              <a:gdLst>
                <a:gd name="txL" fmla="*/ 0 w 332"/>
                <a:gd name="txT" fmla="*/ 0 h 1248"/>
                <a:gd name="txR" fmla="*/ 332 w 332"/>
                <a:gd name="txB" fmla="*/ 1248 h 1248"/>
              </a:gdLst>
              <a:ahLst/>
              <a:cxnLst>
                <a:cxn ang="0">
                  <a:pos x="32" y="0"/>
                </a:cxn>
                <a:cxn ang="0">
                  <a:pos x="264" y="402"/>
                </a:cxn>
                <a:cxn ang="0">
                  <a:pos x="288" y="911"/>
                </a:cxn>
                <a:cxn ang="0">
                  <a:pos x="0" y="1394"/>
                </a:cxn>
              </a:cxnLst>
              <a:rect l="txL" t="txT" r="txR" b="txB"/>
              <a:pathLst>
                <a:path w="332" h="1248">
                  <a:moveTo>
                    <a:pt x="32" y="0"/>
                  </a:moveTo>
                  <a:cubicBezTo>
                    <a:pt x="71" y="60"/>
                    <a:pt x="221" y="224"/>
                    <a:pt x="264" y="360"/>
                  </a:cubicBezTo>
                  <a:cubicBezTo>
                    <a:pt x="307" y="496"/>
                    <a:pt x="332" y="668"/>
                    <a:pt x="288" y="816"/>
                  </a:cubicBezTo>
                  <a:cubicBezTo>
                    <a:pt x="244" y="964"/>
                    <a:pt x="60" y="1158"/>
                    <a:pt x="0" y="1248"/>
                  </a:cubicBezTo>
                </a:path>
              </a:pathLst>
            </a:custGeom>
            <a:noFill/>
            <a:ln w="38100" cap="flat" cmpd="sng">
              <a:solidFill>
                <a:srgbClr val="3333FF">
                  <a:alpha val="100000"/>
                </a:srgbClr>
              </a:solidFill>
              <a:prstDash val="solid"/>
              <a:round/>
              <a:headEnd type="none" w="med" len="med"/>
              <a:tailEnd type="triangle" w="med" len="med"/>
            </a:ln>
          </p:spPr>
          <p:txBody>
            <a:bodyPr/>
            <a:lstStyle/>
            <a:p>
              <a:endParaRPr lang="zh-CN" altLang="en-US" sz="2800"/>
            </a:p>
          </p:txBody>
        </p:sp>
      </p:grpSp>
      <p:grpSp>
        <p:nvGrpSpPr>
          <p:cNvPr id="5" name="Group 12"/>
          <p:cNvGrpSpPr/>
          <p:nvPr/>
        </p:nvGrpSpPr>
        <p:grpSpPr>
          <a:xfrm>
            <a:off x="3863975" y="2124075"/>
            <a:ext cx="2689225" cy="3929063"/>
            <a:chOff x="2434" y="618"/>
            <a:chExt cx="1694" cy="2475"/>
          </a:xfrm>
        </p:grpSpPr>
        <p:sp>
          <p:nvSpPr>
            <p:cNvPr id="35847" name="Oval 13"/>
            <p:cNvSpPr/>
            <p:nvPr/>
          </p:nvSpPr>
          <p:spPr>
            <a:xfrm>
              <a:off x="3590" y="2496"/>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l</a:t>
              </a:r>
            </a:p>
          </p:txBody>
        </p:sp>
        <p:sp>
          <p:nvSpPr>
            <p:cNvPr id="35848" name="Oval 14"/>
            <p:cNvSpPr/>
            <p:nvPr/>
          </p:nvSpPr>
          <p:spPr>
            <a:xfrm>
              <a:off x="3590" y="852"/>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k</a:t>
              </a:r>
            </a:p>
          </p:txBody>
        </p:sp>
        <p:sp>
          <p:nvSpPr>
            <p:cNvPr id="35849" name="Freeform 15"/>
            <p:cNvSpPr/>
            <p:nvPr/>
          </p:nvSpPr>
          <p:spPr>
            <a:xfrm rot="-1250369">
              <a:off x="2508" y="744"/>
              <a:ext cx="1057" cy="492"/>
            </a:xfrm>
            <a:custGeom>
              <a:avLst/>
              <a:gdLst>
                <a:gd name="txL" fmla="*/ 0 w 1033"/>
                <a:gd name="txT" fmla="*/ 0 h 468"/>
                <a:gd name="txR" fmla="*/ 1033 w 1033"/>
                <a:gd name="txB" fmla="*/ 468 h 468"/>
              </a:gdLst>
              <a:ahLst/>
              <a:cxnLst>
                <a:cxn ang="0">
                  <a:pos x="0" y="0"/>
                </a:cxn>
                <a:cxn ang="0">
                  <a:pos x="616" y="172"/>
                </a:cxn>
                <a:cxn ang="0">
                  <a:pos x="1082" y="517"/>
                </a:cxn>
              </a:cxnLst>
              <a:rect l="txL" t="txT" r="txR" b="txB"/>
              <a:pathLst>
                <a:path w="1033" h="468">
                  <a:moveTo>
                    <a:pt x="0" y="0"/>
                  </a:moveTo>
                  <a:cubicBezTo>
                    <a:pt x="98" y="28"/>
                    <a:pt x="416" y="78"/>
                    <a:pt x="588" y="156"/>
                  </a:cubicBezTo>
                  <a:cubicBezTo>
                    <a:pt x="760" y="234"/>
                    <a:pt x="940" y="403"/>
                    <a:pt x="1033" y="468"/>
                  </a:cubicBezTo>
                </a:path>
              </a:pathLst>
            </a:custGeom>
            <a:noFill/>
            <a:ln w="38100" cap="flat" cmpd="sng">
              <a:solidFill>
                <a:srgbClr val="3333FF">
                  <a:alpha val="100000"/>
                </a:srgbClr>
              </a:solidFill>
              <a:prstDash val="solid"/>
              <a:round/>
              <a:headEnd type="none" w="med" len="med"/>
              <a:tailEnd type="triangle" w="sm" len="lg"/>
            </a:ln>
          </p:spPr>
          <p:txBody>
            <a:bodyPr/>
            <a:lstStyle/>
            <a:p>
              <a:endParaRPr lang="zh-CN" altLang="en-US" sz="2800"/>
            </a:p>
          </p:txBody>
        </p:sp>
        <p:sp>
          <p:nvSpPr>
            <p:cNvPr id="35850" name="Freeform 16"/>
            <p:cNvSpPr/>
            <p:nvPr/>
          </p:nvSpPr>
          <p:spPr>
            <a:xfrm>
              <a:off x="2434" y="2970"/>
              <a:ext cx="1226" cy="88"/>
            </a:xfrm>
            <a:custGeom>
              <a:avLst/>
              <a:gdLst>
                <a:gd name="txL" fmla="*/ 0 w 1226"/>
                <a:gd name="txT" fmla="*/ 0 h 88"/>
                <a:gd name="txR" fmla="*/ 1226 w 1226"/>
                <a:gd name="txB" fmla="*/ 88 h 88"/>
              </a:gdLst>
              <a:ahLst/>
              <a:cxnLst>
                <a:cxn ang="0">
                  <a:pos x="1226" y="6"/>
                </a:cxn>
                <a:cxn ang="0">
                  <a:pos x="540" y="87"/>
                </a:cxn>
                <a:cxn ang="0">
                  <a:pos x="0" y="0"/>
                </a:cxn>
              </a:cxnLst>
              <a:rect l="txL" t="txT" r="txR" b="txB"/>
              <a:pathLst>
                <a:path w="1226" h="88">
                  <a:moveTo>
                    <a:pt x="1226" y="6"/>
                  </a:moveTo>
                  <a:cubicBezTo>
                    <a:pt x="1112" y="17"/>
                    <a:pt x="744" y="88"/>
                    <a:pt x="540" y="87"/>
                  </a:cubicBezTo>
                  <a:cubicBezTo>
                    <a:pt x="336" y="86"/>
                    <a:pt x="113" y="18"/>
                    <a:pt x="0" y="0"/>
                  </a:cubicBezTo>
                </a:path>
              </a:pathLst>
            </a:custGeom>
            <a:noFill/>
            <a:ln w="38100" cap="flat" cmpd="sng">
              <a:solidFill>
                <a:srgbClr val="3333FF">
                  <a:alpha val="100000"/>
                </a:srgbClr>
              </a:solidFill>
              <a:prstDash val="solid"/>
              <a:round/>
              <a:headEnd type="triangle" w="med" len="med"/>
              <a:tailEnd type="none" w="med" len="med"/>
            </a:ln>
          </p:spPr>
          <p:txBody>
            <a:bodyPr/>
            <a:lstStyle/>
            <a:p>
              <a:endParaRPr lang="zh-CN" altLang="en-US" sz="2800"/>
            </a:p>
          </p:txBody>
        </p:sp>
        <p:sp>
          <p:nvSpPr>
            <p:cNvPr id="35851" name="Text Box 17"/>
            <p:cNvSpPr txBox="1"/>
            <p:nvPr/>
          </p:nvSpPr>
          <p:spPr>
            <a:xfrm>
              <a:off x="2834" y="618"/>
              <a:ext cx="402" cy="327"/>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35852" name="Text Box 18"/>
            <p:cNvSpPr txBox="1"/>
            <p:nvPr/>
          </p:nvSpPr>
          <p:spPr>
            <a:xfrm>
              <a:off x="2834" y="2766"/>
              <a:ext cx="402" cy="327"/>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7938"/>
                                        </p:tgtEl>
                                        <p:attrNameLst>
                                          <p:attrName>style.visibility</p:attrName>
                                        </p:attrNameLst>
                                      </p:cBhvr>
                                      <p:to>
                                        <p:strVal val="visible"/>
                                      </p:to>
                                    </p:set>
                                    <p:animEffect transition="in" filter="wipe(left)">
                                      <p:cBhvr>
                                        <p:cTn id="7" dur="500"/>
                                        <p:tgtEl>
                                          <p:spTgt spid="1679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8"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p:nvPr/>
        </p:nvSpPr>
        <p:spPr>
          <a:xfrm>
            <a:off x="898525" y="733425"/>
            <a:ext cx="2333625" cy="519113"/>
          </a:xfrm>
          <a:prstGeom prst="rect">
            <a:avLst/>
          </a:prstGeom>
          <a:noFill/>
          <a:ln w="19050">
            <a:noFill/>
          </a:ln>
        </p:spPr>
        <p:txBody>
          <a:bodyPr wrap="none">
            <a:spAutoFit/>
          </a:bodyPr>
          <a:lstStyle/>
          <a:p>
            <a:r>
              <a:rPr lang="en-US" altLang="zh-CN" sz="2800" b="1" dirty="0">
                <a:solidFill>
                  <a:srgbClr val="9900FF"/>
                </a:solidFill>
                <a:latin typeface="Times New Roman" panose="02020603050405020304" pitchFamily="18" charset="0"/>
              </a:rPr>
              <a:t>1. </a:t>
            </a:r>
            <a:r>
              <a:rPr lang="zh-CN" altLang="en-US" sz="2800" b="1" dirty="0">
                <a:solidFill>
                  <a:srgbClr val="9900FF"/>
                </a:solidFill>
                <a:latin typeface="Times New Roman" panose="02020603050405020304" pitchFamily="18" charset="0"/>
              </a:rPr>
              <a:t>观察法化简</a:t>
            </a:r>
          </a:p>
        </p:txBody>
      </p:sp>
      <p:sp>
        <p:nvSpPr>
          <p:cNvPr id="168963" name="Text Box 3"/>
          <p:cNvSpPr txBox="1"/>
          <p:nvPr/>
        </p:nvSpPr>
        <p:spPr>
          <a:xfrm>
            <a:off x="1374775" y="1320800"/>
            <a:ext cx="4454525" cy="519113"/>
          </a:xfrm>
          <a:prstGeom prst="rect">
            <a:avLst/>
          </a:prstGeom>
          <a:noFill/>
          <a:ln w="19050">
            <a:noFill/>
          </a:ln>
        </p:spPr>
        <p:txBody>
          <a:bodyPr wrap="none">
            <a:spAutoFit/>
          </a:bodyPr>
          <a:lstStyle/>
          <a:p>
            <a:r>
              <a:rPr lang="zh-CN" altLang="en-US" sz="2800" b="1" dirty="0">
                <a:latin typeface="Times New Roman" panose="02020603050405020304" pitchFamily="18" charset="0"/>
              </a:rPr>
              <a:t>例</a:t>
            </a:r>
            <a:r>
              <a:rPr lang="zh-CN" altLang="en-US" sz="2800" dirty="0">
                <a:latin typeface="Times New Roman" panose="02020603050405020304" pitchFamily="18" charset="0"/>
              </a:rPr>
              <a:t>：简化下表所示的状态表</a:t>
            </a:r>
          </a:p>
        </p:txBody>
      </p:sp>
      <p:grpSp>
        <p:nvGrpSpPr>
          <p:cNvPr id="2" name="Group 17"/>
          <p:cNvGrpSpPr/>
          <p:nvPr/>
        </p:nvGrpSpPr>
        <p:grpSpPr>
          <a:xfrm>
            <a:off x="895350" y="2286000"/>
            <a:ext cx="7086600" cy="3810000"/>
            <a:chOff x="564" y="1440"/>
            <a:chExt cx="4464" cy="2400"/>
          </a:xfrm>
        </p:grpSpPr>
        <p:sp>
          <p:nvSpPr>
            <p:cNvPr id="36869" name="Line 4"/>
            <p:cNvSpPr/>
            <p:nvPr/>
          </p:nvSpPr>
          <p:spPr>
            <a:xfrm>
              <a:off x="588" y="1440"/>
              <a:ext cx="4404" cy="0"/>
            </a:xfrm>
            <a:prstGeom prst="line">
              <a:avLst/>
            </a:prstGeom>
            <a:ln w="38100" cap="flat" cmpd="sng">
              <a:solidFill>
                <a:schemeClr val="tx1"/>
              </a:solidFill>
              <a:prstDash val="solid"/>
              <a:headEnd type="none" w="med" len="med"/>
              <a:tailEnd type="none" w="sm" len="lg"/>
            </a:ln>
          </p:spPr>
        </p:sp>
        <p:sp>
          <p:nvSpPr>
            <p:cNvPr id="36870" name="Line 5"/>
            <p:cNvSpPr/>
            <p:nvPr/>
          </p:nvSpPr>
          <p:spPr>
            <a:xfrm>
              <a:off x="624" y="3828"/>
              <a:ext cx="4404" cy="0"/>
            </a:xfrm>
            <a:prstGeom prst="line">
              <a:avLst/>
            </a:prstGeom>
            <a:ln w="38100" cap="flat" cmpd="sng">
              <a:solidFill>
                <a:schemeClr val="tx1"/>
              </a:solidFill>
              <a:prstDash val="solid"/>
              <a:headEnd type="none" w="med" len="med"/>
              <a:tailEnd type="none" w="sm" len="lg"/>
            </a:ln>
          </p:spPr>
        </p:sp>
        <p:sp>
          <p:nvSpPr>
            <p:cNvPr id="36871" name="Line 6"/>
            <p:cNvSpPr/>
            <p:nvPr/>
          </p:nvSpPr>
          <p:spPr>
            <a:xfrm>
              <a:off x="1644" y="1440"/>
              <a:ext cx="0" cy="2400"/>
            </a:xfrm>
            <a:prstGeom prst="line">
              <a:avLst/>
            </a:prstGeom>
            <a:ln w="19050" cap="flat" cmpd="sng">
              <a:solidFill>
                <a:schemeClr val="tx1"/>
              </a:solidFill>
              <a:prstDash val="solid"/>
              <a:headEnd type="none" w="med" len="med"/>
              <a:tailEnd type="none" w="sm" len="lg"/>
            </a:ln>
          </p:spPr>
        </p:sp>
        <p:sp>
          <p:nvSpPr>
            <p:cNvPr id="36872" name="Line 7"/>
            <p:cNvSpPr/>
            <p:nvPr/>
          </p:nvSpPr>
          <p:spPr>
            <a:xfrm>
              <a:off x="3228" y="2040"/>
              <a:ext cx="0" cy="1788"/>
            </a:xfrm>
            <a:prstGeom prst="line">
              <a:avLst/>
            </a:prstGeom>
            <a:ln w="19050" cap="flat" cmpd="sng">
              <a:solidFill>
                <a:schemeClr val="tx1"/>
              </a:solidFill>
              <a:prstDash val="solid"/>
              <a:headEnd type="none" w="med" len="med"/>
              <a:tailEnd type="none" w="sm" len="lg"/>
            </a:ln>
          </p:spPr>
        </p:sp>
        <p:sp>
          <p:nvSpPr>
            <p:cNvPr id="36873" name="Line 8"/>
            <p:cNvSpPr/>
            <p:nvPr/>
          </p:nvSpPr>
          <p:spPr>
            <a:xfrm>
              <a:off x="1644" y="2028"/>
              <a:ext cx="3336" cy="0"/>
            </a:xfrm>
            <a:prstGeom prst="line">
              <a:avLst/>
            </a:prstGeom>
            <a:ln w="12700" cap="flat" cmpd="sng">
              <a:solidFill>
                <a:schemeClr val="tx1"/>
              </a:solidFill>
              <a:prstDash val="solid"/>
              <a:headEnd type="none" w="med" len="med"/>
              <a:tailEnd type="none" w="sm" len="lg"/>
            </a:ln>
          </p:spPr>
        </p:sp>
        <p:sp>
          <p:nvSpPr>
            <p:cNvPr id="36874" name="Line 9"/>
            <p:cNvSpPr/>
            <p:nvPr/>
          </p:nvSpPr>
          <p:spPr>
            <a:xfrm>
              <a:off x="564" y="2580"/>
              <a:ext cx="4404" cy="0"/>
            </a:xfrm>
            <a:prstGeom prst="line">
              <a:avLst/>
            </a:prstGeom>
            <a:ln w="12700" cap="flat" cmpd="sng">
              <a:solidFill>
                <a:schemeClr val="tx1"/>
              </a:solidFill>
              <a:prstDash val="solid"/>
              <a:headEnd type="none" w="med" len="med"/>
              <a:tailEnd type="none" w="sm" len="lg"/>
            </a:ln>
          </p:spPr>
        </p:sp>
        <p:sp>
          <p:nvSpPr>
            <p:cNvPr id="36875" name="Text Box 10"/>
            <p:cNvSpPr txBox="1"/>
            <p:nvPr/>
          </p:nvSpPr>
          <p:spPr>
            <a:xfrm>
              <a:off x="770" y="1840"/>
              <a:ext cx="560" cy="327"/>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36876" name="Text Box 11"/>
            <p:cNvSpPr txBox="1"/>
            <p:nvPr/>
          </p:nvSpPr>
          <p:spPr>
            <a:xfrm>
              <a:off x="2678" y="1566"/>
              <a:ext cx="1062"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36877" name="Text Box 12"/>
            <p:cNvSpPr txBox="1"/>
            <p:nvPr/>
          </p:nvSpPr>
          <p:spPr>
            <a:xfrm>
              <a:off x="2186" y="2142"/>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36878" name="Text Box 13"/>
            <p:cNvSpPr txBox="1"/>
            <p:nvPr/>
          </p:nvSpPr>
          <p:spPr>
            <a:xfrm>
              <a:off x="3830" y="2142"/>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36879" name="Text Box 14"/>
            <p:cNvSpPr txBox="1"/>
            <p:nvPr/>
          </p:nvSpPr>
          <p:spPr>
            <a:xfrm>
              <a:off x="866" y="2646"/>
              <a:ext cx="278" cy="1134"/>
            </a:xfrm>
            <a:prstGeom prst="rect">
              <a:avLst/>
            </a:prstGeom>
            <a:noFill/>
            <a:ln w="19050">
              <a:noFill/>
            </a:ln>
          </p:spPr>
          <p:txBody>
            <a:bodyPr wrap="none">
              <a:spAutoFit/>
            </a:bodyPr>
            <a:lstStyle/>
            <a:p>
              <a:r>
                <a:rPr lang="en-US" altLang="zh-CN" sz="2800" dirty="0">
                  <a:latin typeface="Times New Roman" panose="02020603050405020304" pitchFamily="18" charset="0"/>
                </a:rPr>
                <a:t>A</a:t>
              </a:r>
            </a:p>
            <a:p>
              <a:r>
                <a:rPr lang="en-US" altLang="zh-CN" sz="2800" dirty="0">
                  <a:latin typeface="Times New Roman" panose="02020603050405020304" pitchFamily="18" charset="0"/>
                </a:rPr>
                <a:t>B</a:t>
              </a:r>
            </a:p>
            <a:p>
              <a:r>
                <a:rPr lang="en-US" altLang="zh-CN" sz="2800" dirty="0">
                  <a:latin typeface="Times New Roman" panose="02020603050405020304" pitchFamily="18" charset="0"/>
                </a:rPr>
                <a:t>C</a:t>
              </a: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36880" name="Text Box 15"/>
            <p:cNvSpPr txBox="1"/>
            <p:nvPr/>
          </p:nvSpPr>
          <p:spPr>
            <a:xfrm>
              <a:off x="2174" y="2646"/>
              <a:ext cx="452" cy="1134"/>
            </a:xfrm>
            <a:prstGeom prst="rect">
              <a:avLst/>
            </a:prstGeom>
            <a:noFill/>
            <a:ln w="19050">
              <a:noFill/>
            </a:ln>
          </p:spPr>
          <p:txBody>
            <a:bodyPr wrap="none">
              <a:spAutoFit/>
            </a:bodyPr>
            <a:lstStyle/>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p>
            <a:p>
              <a:r>
                <a:rPr lang="en-US" altLang="zh-CN" sz="2800" dirty="0">
                  <a:latin typeface="Times New Roman" panose="02020603050405020304" pitchFamily="18" charset="0"/>
                </a:rPr>
                <a:t>A/0</a:t>
              </a:r>
            </a:p>
          </p:txBody>
        </p:sp>
        <p:sp>
          <p:nvSpPr>
            <p:cNvPr id="36881" name="Text Box 16"/>
            <p:cNvSpPr txBox="1"/>
            <p:nvPr/>
          </p:nvSpPr>
          <p:spPr>
            <a:xfrm>
              <a:off x="3842" y="2646"/>
              <a:ext cx="452" cy="1134"/>
            </a:xfrm>
            <a:prstGeom prst="rect">
              <a:avLst/>
            </a:prstGeom>
            <a:noFill/>
            <a:ln w="19050">
              <a:noFill/>
            </a:ln>
          </p:spPr>
          <p:txBody>
            <a:bodyPr wrap="none">
              <a:spAutoFit/>
            </a:bodyPr>
            <a:lstStyle/>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D/1</a:t>
              </a:r>
            </a:p>
            <a:p>
              <a:r>
                <a:rPr lang="en-US" altLang="zh-CN" sz="2800" dirty="0">
                  <a:latin typeface="Times New Roman" panose="02020603050405020304" pitchFamily="18" charset="0"/>
                </a:rPr>
                <a:t>D/1</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8963"/>
                                        </p:tgtEl>
                                        <p:attrNameLst>
                                          <p:attrName>style.visibility</p:attrName>
                                        </p:attrNameLst>
                                      </p:cBhvr>
                                      <p:to>
                                        <p:strVal val="visible"/>
                                      </p:to>
                                    </p:set>
                                    <p:animEffect transition="in" filter="wipe(left)">
                                      <p:cBhvr>
                                        <p:cTn id="7" dur="500"/>
                                        <p:tgtEl>
                                          <p:spTgt spid="168963"/>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to="" calcmode="lin" valueType="num">
                                      <p:cBhvr>
                                        <p:cTn id="12"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3"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p:nvPr/>
        </p:nvSpPr>
        <p:spPr>
          <a:xfrm>
            <a:off x="822325" y="674688"/>
            <a:ext cx="1025525" cy="519112"/>
          </a:xfrm>
          <a:prstGeom prst="rect">
            <a:avLst/>
          </a:prstGeom>
          <a:noFill/>
          <a:ln w="19050">
            <a:noFill/>
          </a:ln>
        </p:spPr>
        <p:txBody>
          <a:bodyPr>
            <a:spAutoFit/>
          </a:bodyPr>
          <a:lstStyle/>
          <a:p>
            <a:r>
              <a:rPr lang="zh-CN" altLang="en-US" sz="2800" b="1" dirty="0">
                <a:latin typeface="Times New Roman" panose="02020603050405020304" pitchFamily="18" charset="0"/>
              </a:rPr>
              <a:t>解：</a:t>
            </a:r>
          </a:p>
        </p:txBody>
      </p:sp>
      <p:sp>
        <p:nvSpPr>
          <p:cNvPr id="169987" name="Text Box 3"/>
          <p:cNvSpPr txBox="1"/>
          <p:nvPr/>
        </p:nvSpPr>
        <p:spPr>
          <a:xfrm>
            <a:off x="4321175" y="531813"/>
            <a:ext cx="3424238" cy="946150"/>
          </a:xfrm>
          <a:prstGeom prst="rect">
            <a:avLst/>
          </a:prstGeom>
          <a:noFill/>
          <a:ln w="19050">
            <a:noFill/>
          </a:ln>
        </p:spPr>
        <p:txBody>
          <a:bodyPr>
            <a:spAutoFit/>
          </a:bodyPr>
          <a:lstStyle/>
          <a:p>
            <a:pPr>
              <a:buChar char="•"/>
            </a:pPr>
            <a:r>
              <a:rPr lang="en-US" altLang="zh-CN" sz="2800" dirty="0">
                <a:latin typeface="Times New Roman" panose="02020603050405020304" pitchFamily="18" charset="0"/>
                <a:sym typeface="Monotype Sorts" pitchFamily="2" charset="2"/>
              </a:rPr>
              <a:t>   A</a:t>
            </a:r>
            <a:r>
              <a:rPr lang="zh-CN" altLang="en-US" sz="2800" dirty="0">
                <a:latin typeface="Times New Roman" panose="02020603050405020304" pitchFamily="18" charset="0"/>
                <a:sym typeface="Monotype Sorts" pitchFamily="2" charset="2"/>
              </a:rPr>
              <a:t>和</a:t>
            </a:r>
            <a:r>
              <a:rPr lang="en-US" altLang="zh-CN" sz="2800" dirty="0">
                <a:latin typeface="Times New Roman" panose="02020603050405020304" pitchFamily="18" charset="0"/>
                <a:sym typeface="Monotype Sorts" pitchFamily="2" charset="2"/>
              </a:rPr>
              <a:t>B</a:t>
            </a:r>
            <a:r>
              <a:rPr lang="zh-CN" altLang="en-US" sz="2800" dirty="0">
                <a:latin typeface="Times New Roman" panose="02020603050405020304" pitchFamily="18" charset="0"/>
                <a:sym typeface="Monotype Sorts" pitchFamily="2" charset="2"/>
              </a:rPr>
              <a:t>，</a:t>
            </a:r>
            <a:r>
              <a:rPr lang="en-US" altLang="zh-CN" sz="2800" dirty="0">
                <a:latin typeface="Times New Roman" panose="02020603050405020304" pitchFamily="18" charset="0"/>
                <a:sym typeface="Monotype Sorts" pitchFamily="2" charset="2"/>
              </a:rPr>
              <a:t>C</a:t>
            </a:r>
            <a:r>
              <a:rPr lang="zh-CN" altLang="zh-CN" sz="2800" dirty="0">
                <a:latin typeface="Times New Roman" panose="02020603050405020304" pitchFamily="18" charset="0"/>
                <a:sym typeface="Monotype Sorts" pitchFamily="2" charset="2"/>
              </a:rPr>
              <a:t>和</a:t>
            </a:r>
            <a:r>
              <a:rPr lang="en-US" altLang="zh-CN" sz="2800" dirty="0">
                <a:latin typeface="Times New Roman" panose="02020603050405020304" pitchFamily="18" charset="0"/>
                <a:sym typeface="Monotype Sorts" pitchFamily="2" charset="2"/>
              </a:rPr>
              <a:t>D</a:t>
            </a:r>
            <a:r>
              <a:rPr lang="zh-CN" altLang="zh-CN" sz="2800" dirty="0">
                <a:latin typeface="Times New Roman" panose="02020603050405020304" pitchFamily="18" charset="0"/>
                <a:sym typeface="Monotype Sorts" pitchFamily="2" charset="2"/>
              </a:rPr>
              <a:t>的输出完全相等；</a:t>
            </a:r>
          </a:p>
        </p:txBody>
      </p:sp>
      <p:sp>
        <p:nvSpPr>
          <p:cNvPr id="169988" name="Text Box 4"/>
          <p:cNvSpPr txBox="1"/>
          <p:nvPr/>
        </p:nvSpPr>
        <p:spPr>
          <a:xfrm>
            <a:off x="4240213" y="1552575"/>
            <a:ext cx="4384675" cy="1758950"/>
          </a:xfrm>
          <a:prstGeom prst="rect">
            <a:avLst/>
          </a:prstGeom>
          <a:noFill/>
          <a:ln w="19050">
            <a:noFill/>
          </a:ln>
        </p:spPr>
        <p:txBody>
          <a:bodyPr>
            <a:spAutoFit/>
          </a:bodyPr>
          <a:lstStyle/>
          <a:p>
            <a:pPr marL="381000" indent="-381000">
              <a:lnSpc>
                <a:spcPct val="130000"/>
              </a:lnSpc>
              <a:buChar char="•"/>
            </a:pPr>
            <a:r>
              <a:rPr lang="en-US" altLang="zh-CN" sz="2800" dirty="0">
                <a:latin typeface="Times New Roman" panose="02020603050405020304" pitchFamily="18" charset="0"/>
                <a:sym typeface="Monotype Sorts" pitchFamily="2" charset="2"/>
              </a:rPr>
              <a:t>C</a:t>
            </a:r>
            <a:r>
              <a:rPr lang="zh-CN" altLang="zh-CN" sz="2800" dirty="0">
                <a:latin typeface="Times New Roman" panose="02020603050405020304" pitchFamily="18" charset="0"/>
                <a:sym typeface="Monotype Sorts" pitchFamily="2" charset="2"/>
              </a:rPr>
              <a:t>和</a:t>
            </a:r>
            <a:r>
              <a:rPr lang="en-US" altLang="zh-CN" sz="2800" dirty="0">
                <a:latin typeface="Times New Roman" panose="02020603050405020304" pitchFamily="18" charset="0"/>
                <a:sym typeface="Monotype Sorts" pitchFamily="2" charset="2"/>
              </a:rPr>
              <a:t>D</a:t>
            </a:r>
            <a:r>
              <a:rPr lang="zh-CN" altLang="zh-CN" sz="2800" dirty="0">
                <a:latin typeface="Times New Roman" panose="02020603050405020304" pitchFamily="18" charset="0"/>
                <a:sym typeface="Monotype Sorts" pitchFamily="2" charset="2"/>
              </a:rPr>
              <a:t>在输入的各种取值组合下，次态相同，因此</a:t>
            </a:r>
            <a:r>
              <a:rPr lang="en-US" altLang="zh-CN" sz="2800" dirty="0">
                <a:latin typeface="Times New Roman" panose="02020603050405020304" pitchFamily="18" charset="0"/>
                <a:sym typeface="Monotype Sorts" pitchFamily="2" charset="2"/>
              </a:rPr>
              <a:t>C</a:t>
            </a:r>
            <a:r>
              <a:rPr lang="zh-CN" altLang="zh-CN" sz="2800" dirty="0">
                <a:latin typeface="Times New Roman" panose="02020603050405020304" pitchFamily="18" charset="0"/>
                <a:sym typeface="Monotype Sorts" pitchFamily="2" charset="2"/>
              </a:rPr>
              <a:t>和</a:t>
            </a:r>
            <a:r>
              <a:rPr lang="en-US" altLang="zh-CN" sz="2800" dirty="0">
                <a:latin typeface="Times New Roman" panose="02020603050405020304" pitchFamily="18" charset="0"/>
                <a:sym typeface="Monotype Sorts" pitchFamily="2" charset="2"/>
              </a:rPr>
              <a:t>D</a:t>
            </a:r>
            <a:r>
              <a:rPr lang="zh-CN" altLang="zh-CN" sz="2800" dirty="0">
                <a:latin typeface="Times New Roman" panose="02020603050405020304" pitchFamily="18" charset="0"/>
                <a:sym typeface="Monotype Sorts" pitchFamily="2" charset="2"/>
              </a:rPr>
              <a:t>等效；</a:t>
            </a:r>
          </a:p>
        </p:txBody>
      </p:sp>
      <p:sp>
        <p:nvSpPr>
          <p:cNvPr id="169989" name="Text Box 5"/>
          <p:cNvSpPr txBox="1"/>
          <p:nvPr/>
        </p:nvSpPr>
        <p:spPr>
          <a:xfrm>
            <a:off x="4321175" y="4965700"/>
            <a:ext cx="4510088" cy="1758950"/>
          </a:xfrm>
          <a:prstGeom prst="rect">
            <a:avLst/>
          </a:prstGeom>
          <a:noFill/>
          <a:ln w="19050">
            <a:noFill/>
          </a:ln>
        </p:spPr>
        <p:txBody>
          <a:bodyPr>
            <a:spAutoFit/>
          </a:bodyPr>
          <a:lstStyle/>
          <a:p>
            <a:pPr marL="381000" indent="-381000">
              <a:lnSpc>
                <a:spcPct val="130000"/>
              </a:lnSpc>
              <a:buChar char="•"/>
            </a:pPr>
            <a:r>
              <a:rPr lang="zh-CN" altLang="en-US" sz="2800" dirty="0">
                <a:latin typeface="Times New Roman" panose="02020603050405020304" pitchFamily="18" charset="0"/>
                <a:sym typeface="Monotype Sorts" pitchFamily="2" charset="2"/>
              </a:rPr>
              <a:t>最大等效类为</a:t>
            </a:r>
            <a:r>
              <a:rPr lang="en-US" altLang="zh-CN" sz="2800" dirty="0">
                <a:latin typeface="Times New Roman" panose="02020603050405020304" pitchFamily="18" charset="0"/>
                <a:sym typeface="Monotype Sorts" pitchFamily="2" charset="2"/>
              </a:rPr>
              <a:t>{A}</a:t>
            </a:r>
            <a:r>
              <a:rPr lang="zh-CN" altLang="en-US" sz="2800" dirty="0">
                <a:latin typeface="Times New Roman" panose="02020603050405020304" pitchFamily="18" charset="0"/>
                <a:sym typeface="Monotype Sorts" pitchFamily="2" charset="2"/>
              </a:rPr>
              <a:t>，</a:t>
            </a:r>
            <a:r>
              <a:rPr lang="en-US" altLang="zh-CN" sz="2800" dirty="0">
                <a:latin typeface="Times New Roman" panose="02020603050405020304" pitchFamily="18" charset="0"/>
                <a:sym typeface="Monotype Sorts" pitchFamily="2" charset="2"/>
              </a:rPr>
              <a:t>{B}</a:t>
            </a:r>
            <a:r>
              <a:rPr lang="zh-CN" altLang="en-US" sz="2800" dirty="0">
                <a:latin typeface="Times New Roman" panose="02020603050405020304" pitchFamily="18" charset="0"/>
                <a:sym typeface="Monotype Sorts" pitchFamily="2" charset="2"/>
              </a:rPr>
              <a:t>，</a:t>
            </a:r>
            <a:r>
              <a:rPr lang="en-US" altLang="zh-CN" sz="2800" dirty="0">
                <a:latin typeface="Times New Roman" panose="02020603050405020304" pitchFamily="18" charset="0"/>
                <a:sym typeface="Monotype Sorts" pitchFamily="2" charset="2"/>
              </a:rPr>
              <a:t>{C,D},</a:t>
            </a:r>
            <a:r>
              <a:rPr lang="zh-CN" altLang="zh-CN" sz="2800" dirty="0">
                <a:latin typeface="Times New Roman" panose="02020603050405020304" pitchFamily="18" charset="0"/>
                <a:sym typeface="Monotype Sorts" pitchFamily="2" charset="2"/>
              </a:rPr>
              <a:t>分别用</a:t>
            </a:r>
            <a:r>
              <a:rPr lang="en-US" altLang="zh-CN" sz="2800" dirty="0">
                <a:latin typeface="Times New Roman" panose="02020603050405020304" pitchFamily="18" charset="0"/>
                <a:sym typeface="Monotype Sorts" pitchFamily="2" charset="2"/>
              </a:rPr>
              <a:t>A', B', C'</a:t>
            </a:r>
            <a:r>
              <a:rPr lang="zh-CN" altLang="zh-CN" sz="2800" dirty="0">
                <a:latin typeface="Times New Roman" panose="02020603050405020304" pitchFamily="18" charset="0"/>
                <a:sym typeface="Monotype Sorts" pitchFamily="2" charset="2"/>
              </a:rPr>
              <a:t>表示；</a:t>
            </a:r>
            <a:r>
              <a:rPr lang="zh-CN" altLang="en-US" sz="2800" dirty="0">
                <a:latin typeface="Times New Roman" panose="02020603050405020304" pitchFamily="18" charset="0"/>
                <a:sym typeface="Monotype Sorts" pitchFamily="2" charset="2"/>
              </a:rPr>
              <a:t> </a:t>
            </a:r>
          </a:p>
        </p:txBody>
      </p:sp>
      <p:sp>
        <p:nvSpPr>
          <p:cNvPr id="169990" name="Text Box 6"/>
          <p:cNvSpPr txBox="1"/>
          <p:nvPr/>
        </p:nvSpPr>
        <p:spPr>
          <a:xfrm>
            <a:off x="4281488" y="3162300"/>
            <a:ext cx="4391025" cy="1887538"/>
          </a:xfrm>
          <a:prstGeom prst="rect">
            <a:avLst/>
          </a:prstGeom>
          <a:noFill/>
          <a:ln w="19050">
            <a:noFill/>
          </a:ln>
        </p:spPr>
        <p:txBody>
          <a:bodyPr>
            <a:spAutoFit/>
          </a:bodyPr>
          <a:lstStyle/>
          <a:p>
            <a:pPr marL="381000" indent="-381000">
              <a:lnSpc>
                <a:spcPct val="140000"/>
              </a:lnSpc>
              <a:buChar char="•"/>
            </a:pPr>
            <a:r>
              <a:rPr lang="en-US" altLang="zh-CN" sz="2800" dirty="0">
                <a:latin typeface="Times New Roman" panose="02020603050405020304" pitchFamily="18" charset="0"/>
                <a:sym typeface="Monotype Sorts" pitchFamily="2" charset="2"/>
              </a:rPr>
              <a:t>A</a:t>
            </a:r>
            <a:r>
              <a:rPr lang="zh-CN" altLang="zh-CN" sz="2800" dirty="0">
                <a:latin typeface="Times New Roman" panose="02020603050405020304" pitchFamily="18" charset="0"/>
                <a:sym typeface="Monotype Sorts" pitchFamily="2" charset="2"/>
              </a:rPr>
              <a:t>和</a:t>
            </a:r>
            <a:r>
              <a:rPr lang="en-US" altLang="zh-CN" sz="2800" dirty="0">
                <a:latin typeface="Times New Roman" panose="02020603050405020304" pitchFamily="18" charset="0"/>
                <a:sym typeface="Monotype Sorts" pitchFamily="2" charset="2"/>
              </a:rPr>
              <a:t>B</a:t>
            </a:r>
            <a:r>
              <a:rPr lang="zh-CN" altLang="zh-CN" sz="2800" dirty="0">
                <a:latin typeface="Times New Roman" panose="02020603050405020304" pitchFamily="18" charset="0"/>
                <a:sym typeface="Monotype Sorts" pitchFamily="2" charset="2"/>
              </a:rPr>
              <a:t>在</a:t>
            </a:r>
            <a:r>
              <a:rPr lang="en-US" altLang="zh-CN" sz="2800" dirty="0">
                <a:latin typeface="Times New Roman" panose="02020603050405020304" pitchFamily="18" charset="0"/>
                <a:sym typeface="Monotype Sorts" pitchFamily="2" charset="2"/>
              </a:rPr>
              <a:t>x=1</a:t>
            </a:r>
            <a:r>
              <a:rPr lang="zh-CN" altLang="zh-CN" sz="2800" dirty="0">
                <a:latin typeface="Times New Roman" panose="02020603050405020304" pitchFamily="18" charset="0"/>
                <a:sym typeface="Monotype Sorts" pitchFamily="2" charset="2"/>
              </a:rPr>
              <a:t>时的次态不满足四条件之一，因此</a:t>
            </a:r>
            <a:r>
              <a:rPr lang="en-US" altLang="zh-CN" sz="2800" dirty="0">
                <a:latin typeface="Times New Roman" panose="02020603050405020304" pitchFamily="18" charset="0"/>
                <a:sym typeface="Monotype Sorts" pitchFamily="2" charset="2"/>
              </a:rPr>
              <a:t>A</a:t>
            </a:r>
            <a:r>
              <a:rPr lang="zh-CN" altLang="zh-CN" sz="2800" dirty="0">
                <a:latin typeface="Times New Roman" panose="02020603050405020304" pitchFamily="18" charset="0"/>
                <a:sym typeface="Monotype Sorts" pitchFamily="2" charset="2"/>
              </a:rPr>
              <a:t>和</a:t>
            </a:r>
            <a:r>
              <a:rPr lang="en-US" altLang="zh-CN" sz="2800" dirty="0">
                <a:latin typeface="Times New Roman" panose="02020603050405020304" pitchFamily="18" charset="0"/>
                <a:sym typeface="Monotype Sorts" pitchFamily="2" charset="2"/>
              </a:rPr>
              <a:t>B</a:t>
            </a:r>
            <a:r>
              <a:rPr lang="zh-CN" altLang="zh-CN" sz="2800" dirty="0">
                <a:latin typeface="Times New Roman" panose="02020603050405020304" pitchFamily="18" charset="0"/>
                <a:sym typeface="Monotype Sorts" pitchFamily="2" charset="2"/>
              </a:rPr>
              <a:t>不等效;</a:t>
            </a:r>
          </a:p>
        </p:txBody>
      </p:sp>
      <p:grpSp>
        <p:nvGrpSpPr>
          <p:cNvPr id="2" name="Group 21"/>
          <p:cNvGrpSpPr/>
          <p:nvPr/>
        </p:nvGrpSpPr>
        <p:grpSpPr>
          <a:xfrm>
            <a:off x="306388" y="1768475"/>
            <a:ext cx="3378200" cy="3810000"/>
            <a:chOff x="3111" y="992"/>
            <a:chExt cx="2128" cy="2400"/>
          </a:xfrm>
        </p:grpSpPr>
        <p:sp>
          <p:nvSpPr>
            <p:cNvPr id="37896" name="Line 8"/>
            <p:cNvSpPr/>
            <p:nvPr/>
          </p:nvSpPr>
          <p:spPr>
            <a:xfrm>
              <a:off x="3173" y="992"/>
              <a:ext cx="2049" cy="0"/>
            </a:xfrm>
            <a:prstGeom prst="line">
              <a:avLst/>
            </a:prstGeom>
            <a:ln w="38100" cap="flat" cmpd="sng">
              <a:solidFill>
                <a:schemeClr val="tx1"/>
              </a:solidFill>
              <a:prstDash val="solid"/>
              <a:headEnd type="none" w="med" len="med"/>
              <a:tailEnd type="none" w="sm" len="lg"/>
            </a:ln>
          </p:spPr>
        </p:sp>
        <p:sp>
          <p:nvSpPr>
            <p:cNvPr id="37897" name="Line 9"/>
            <p:cNvSpPr/>
            <p:nvPr/>
          </p:nvSpPr>
          <p:spPr>
            <a:xfrm>
              <a:off x="3190" y="3380"/>
              <a:ext cx="2049" cy="0"/>
            </a:xfrm>
            <a:prstGeom prst="line">
              <a:avLst/>
            </a:prstGeom>
            <a:ln w="38100" cap="flat" cmpd="sng">
              <a:solidFill>
                <a:schemeClr val="tx1"/>
              </a:solidFill>
              <a:prstDash val="solid"/>
              <a:headEnd type="none" w="med" len="med"/>
              <a:tailEnd type="none" w="sm" len="lg"/>
            </a:ln>
          </p:spPr>
        </p:sp>
        <p:sp>
          <p:nvSpPr>
            <p:cNvPr id="37898" name="Line 10"/>
            <p:cNvSpPr/>
            <p:nvPr/>
          </p:nvSpPr>
          <p:spPr>
            <a:xfrm>
              <a:off x="3665" y="992"/>
              <a:ext cx="0" cy="2400"/>
            </a:xfrm>
            <a:prstGeom prst="line">
              <a:avLst/>
            </a:prstGeom>
            <a:ln w="19050" cap="flat" cmpd="sng">
              <a:solidFill>
                <a:schemeClr val="tx1"/>
              </a:solidFill>
              <a:prstDash val="solid"/>
              <a:headEnd type="none" w="med" len="med"/>
              <a:tailEnd type="none" w="sm" len="lg"/>
            </a:ln>
          </p:spPr>
        </p:sp>
        <p:sp>
          <p:nvSpPr>
            <p:cNvPr id="37899" name="Line 11"/>
            <p:cNvSpPr/>
            <p:nvPr/>
          </p:nvSpPr>
          <p:spPr>
            <a:xfrm>
              <a:off x="4402" y="1592"/>
              <a:ext cx="0" cy="1788"/>
            </a:xfrm>
            <a:prstGeom prst="line">
              <a:avLst/>
            </a:prstGeom>
            <a:ln w="19050" cap="flat" cmpd="sng">
              <a:solidFill>
                <a:schemeClr val="tx1"/>
              </a:solidFill>
              <a:prstDash val="solid"/>
              <a:headEnd type="none" w="med" len="med"/>
              <a:tailEnd type="none" w="sm" len="lg"/>
            </a:ln>
          </p:spPr>
        </p:sp>
        <p:sp>
          <p:nvSpPr>
            <p:cNvPr id="37900" name="Line 12"/>
            <p:cNvSpPr/>
            <p:nvPr/>
          </p:nvSpPr>
          <p:spPr>
            <a:xfrm>
              <a:off x="3665" y="1580"/>
              <a:ext cx="1552" cy="0"/>
            </a:xfrm>
            <a:prstGeom prst="line">
              <a:avLst/>
            </a:prstGeom>
            <a:ln w="12700" cap="flat" cmpd="sng">
              <a:solidFill>
                <a:schemeClr val="tx1"/>
              </a:solidFill>
              <a:prstDash val="solid"/>
              <a:headEnd type="none" w="med" len="med"/>
              <a:tailEnd type="none" w="sm" len="lg"/>
            </a:ln>
          </p:spPr>
        </p:sp>
        <p:sp>
          <p:nvSpPr>
            <p:cNvPr id="37901" name="Line 13"/>
            <p:cNvSpPr/>
            <p:nvPr/>
          </p:nvSpPr>
          <p:spPr>
            <a:xfrm>
              <a:off x="3162" y="2132"/>
              <a:ext cx="2049" cy="0"/>
            </a:xfrm>
            <a:prstGeom prst="line">
              <a:avLst/>
            </a:prstGeom>
            <a:ln w="12700" cap="flat" cmpd="sng">
              <a:solidFill>
                <a:schemeClr val="tx1"/>
              </a:solidFill>
              <a:prstDash val="solid"/>
              <a:headEnd type="none" w="med" len="med"/>
              <a:tailEnd type="none" w="sm" len="lg"/>
            </a:ln>
          </p:spPr>
        </p:sp>
        <p:sp>
          <p:nvSpPr>
            <p:cNvPr id="37902" name="Text Box 14"/>
            <p:cNvSpPr txBox="1"/>
            <p:nvPr/>
          </p:nvSpPr>
          <p:spPr>
            <a:xfrm>
              <a:off x="3111" y="1386"/>
              <a:ext cx="564" cy="327"/>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37903" name="Text Box 15"/>
            <p:cNvSpPr txBox="1"/>
            <p:nvPr/>
          </p:nvSpPr>
          <p:spPr>
            <a:xfrm>
              <a:off x="3903" y="1124"/>
              <a:ext cx="1074"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37904" name="Text Box 16"/>
            <p:cNvSpPr txBox="1"/>
            <p:nvPr/>
          </p:nvSpPr>
          <p:spPr>
            <a:xfrm>
              <a:off x="3917" y="1694"/>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37905" name="Text Box 17"/>
            <p:cNvSpPr txBox="1"/>
            <p:nvPr/>
          </p:nvSpPr>
          <p:spPr>
            <a:xfrm>
              <a:off x="4682" y="1694"/>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37906" name="Text Box 18"/>
            <p:cNvSpPr txBox="1"/>
            <p:nvPr/>
          </p:nvSpPr>
          <p:spPr>
            <a:xfrm>
              <a:off x="3303" y="2198"/>
              <a:ext cx="278" cy="1134"/>
            </a:xfrm>
            <a:prstGeom prst="rect">
              <a:avLst/>
            </a:prstGeom>
            <a:noFill/>
            <a:ln w="19050">
              <a:noFill/>
            </a:ln>
          </p:spPr>
          <p:txBody>
            <a:bodyPr wrap="none">
              <a:spAutoFit/>
            </a:bodyPr>
            <a:lstStyle/>
            <a:p>
              <a:r>
                <a:rPr lang="en-US" altLang="zh-CN" sz="2800" dirty="0">
                  <a:latin typeface="Times New Roman" panose="02020603050405020304" pitchFamily="18" charset="0"/>
                </a:rPr>
                <a:t>A</a:t>
              </a:r>
            </a:p>
            <a:p>
              <a:r>
                <a:rPr lang="en-US" altLang="zh-CN" sz="2800" dirty="0">
                  <a:latin typeface="Times New Roman" panose="02020603050405020304" pitchFamily="18" charset="0"/>
                </a:rPr>
                <a:t>B</a:t>
              </a:r>
            </a:p>
            <a:p>
              <a:r>
                <a:rPr lang="en-US" altLang="zh-CN" sz="2800" dirty="0">
                  <a:latin typeface="Times New Roman" panose="02020603050405020304" pitchFamily="18" charset="0"/>
                </a:rPr>
                <a:t>C</a:t>
              </a: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37907" name="Text Box 19"/>
            <p:cNvSpPr txBox="1"/>
            <p:nvPr/>
          </p:nvSpPr>
          <p:spPr>
            <a:xfrm>
              <a:off x="3911" y="2198"/>
              <a:ext cx="452" cy="1134"/>
            </a:xfrm>
            <a:prstGeom prst="rect">
              <a:avLst/>
            </a:prstGeom>
            <a:noFill/>
            <a:ln w="19050">
              <a:noFill/>
            </a:ln>
          </p:spPr>
          <p:txBody>
            <a:bodyPr wrap="none">
              <a:spAutoFit/>
            </a:bodyPr>
            <a:lstStyle/>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p>
            <a:p>
              <a:r>
                <a:rPr lang="en-US" altLang="zh-CN" sz="2800" dirty="0">
                  <a:latin typeface="Times New Roman" panose="02020603050405020304" pitchFamily="18" charset="0"/>
                </a:rPr>
                <a:t>A/0</a:t>
              </a:r>
            </a:p>
          </p:txBody>
        </p:sp>
        <p:sp>
          <p:nvSpPr>
            <p:cNvPr id="37908" name="Text Box 20"/>
            <p:cNvSpPr txBox="1"/>
            <p:nvPr/>
          </p:nvSpPr>
          <p:spPr>
            <a:xfrm>
              <a:off x="4687" y="2198"/>
              <a:ext cx="452" cy="1134"/>
            </a:xfrm>
            <a:prstGeom prst="rect">
              <a:avLst/>
            </a:prstGeom>
            <a:noFill/>
            <a:ln w="19050">
              <a:noFill/>
            </a:ln>
          </p:spPr>
          <p:txBody>
            <a:bodyPr wrap="none">
              <a:spAutoFit/>
            </a:bodyPr>
            <a:lstStyle/>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D/1</a:t>
              </a:r>
            </a:p>
            <a:p>
              <a:r>
                <a:rPr lang="en-US" altLang="zh-CN" sz="2800" dirty="0">
                  <a:latin typeface="Times New Roman" panose="02020603050405020304" pitchFamily="18" charset="0"/>
                </a:rPr>
                <a:t>D/1</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9987"/>
                                        </p:tgtEl>
                                        <p:attrNameLst>
                                          <p:attrName>style.visibility</p:attrName>
                                        </p:attrNameLst>
                                      </p:cBhvr>
                                      <p:to>
                                        <p:strVal val="visible"/>
                                      </p:to>
                                    </p:set>
                                    <p:animEffect transition="in" filter="wipe(left)">
                                      <p:cBhvr>
                                        <p:cTn id="12" dur="500"/>
                                        <p:tgtEl>
                                          <p:spTgt spid="1699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9988"/>
                                        </p:tgtEl>
                                        <p:attrNameLst>
                                          <p:attrName>style.visibility</p:attrName>
                                        </p:attrNameLst>
                                      </p:cBhvr>
                                      <p:to>
                                        <p:strVal val="visible"/>
                                      </p:to>
                                    </p:set>
                                    <p:animEffect transition="in" filter="wipe(left)">
                                      <p:cBhvr>
                                        <p:cTn id="17" dur="500"/>
                                        <p:tgtEl>
                                          <p:spTgt spid="16998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9990"/>
                                        </p:tgtEl>
                                        <p:attrNameLst>
                                          <p:attrName>style.visibility</p:attrName>
                                        </p:attrNameLst>
                                      </p:cBhvr>
                                      <p:to>
                                        <p:strVal val="visible"/>
                                      </p:to>
                                    </p:set>
                                    <p:animEffect transition="in" filter="wipe(left)">
                                      <p:cBhvr>
                                        <p:cTn id="22" dur="500"/>
                                        <p:tgtEl>
                                          <p:spTgt spid="16999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9989"/>
                                        </p:tgtEl>
                                        <p:attrNameLst>
                                          <p:attrName>style.visibility</p:attrName>
                                        </p:attrNameLst>
                                      </p:cBhvr>
                                      <p:to>
                                        <p:strVal val="visible"/>
                                      </p:to>
                                    </p:set>
                                    <p:animEffect transition="in" filter="wipe(left)">
                                      <p:cBhvr>
                                        <p:cTn id="27" dur="500"/>
                                        <p:tgtEl>
                                          <p:spTgt spid="169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0"/>
      <p:bldP spid="169988" grpId="0"/>
      <p:bldP spid="169989" grpId="0"/>
      <p:bldP spid="169990"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p:nvPr/>
        </p:nvSpPr>
        <p:spPr>
          <a:xfrm>
            <a:off x="3886200" y="1100138"/>
            <a:ext cx="3028950" cy="519112"/>
          </a:xfrm>
          <a:prstGeom prst="rect">
            <a:avLst/>
          </a:prstGeom>
          <a:noFill/>
          <a:ln w="19050">
            <a:noFill/>
          </a:ln>
        </p:spPr>
        <p:txBody>
          <a:bodyPr wrap="none">
            <a:spAutoFit/>
          </a:bodyPr>
          <a:lstStyle/>
          <a:p>
            <a:r>
              <a:rPr lang="zh-CN" altLang="en-US" sz="2800" dirty="0">
                <a:latin typeface="Times New Roman" panose="02020603050405020304" pitchFamily="18" charset="0"/>
                <a:sym typeface="Monotype Sorts" pitchFamily="2" charset="2"/>
              </a:rPr>
              <a:t>最小化状态表为：</a:t>
            </a:r>
          </a:p>
        </p:txBody>
      </p:sp>
      <p:grpSp>
        <p:nvGrpSpPr>
          <p:cNvPr id="2" name="Group 3"/>
          <p:cNvGrpSpPr/>
          <p:nvPr/>
        </p:nvGrpSpPr>
        <p:grpSpPr>
          <a:xfrm>
            <a:off x="3781425" y="1958975"/>
            <a:ext cx="5075238" cy="3576638"/>
            <a:chOff x="564" y="1440"/>
            <a:chExt cx="4464" cy="2253"/>
          </a:xfrm>
        </p:grpSpPr>
        <p:sp>
          <p:nvSpPr>
            <p:cNvPr id="38930" name="Line 4"/>
            <p:cNvSpPr/>
            <p:nvPr/>
          </p:nvSpPr>
          <p:spPr>
            <a:xfrm>
              <a:off x="588" y="1440"/>
              <a:ext cx="4404" cy="0"/>
            </a:xfrm>
            <a:prstGeom prst="line">
              <a:avLst/>
            </a:prstGeom>
            <a:ln w="38100" cap="flat" cmpd="sng">
              <a:solidFill>
                <a:schemeClr val="tx1"/>
              </a:solidFill>
              <a:prstDash val="solid"/>
              <a:headEnd type="none" w="med" len="med"/>
              <a:tailEnd type="none" w="sm" len="lg"/>
            </a:ln>
          </p:spPr>
        </p:sp>
        <p:sp>
          <p:nvSpPr>
            <p:cNvPr id="38931" name="Line 5"/>
            <p:cNvSpPr/>
            <p:nvPr/>
          </p:nvSpPr>
          <p:spPr>
            <a:xfrm>
              <a:off x="624" y="3576"/>
              <a:ext cx="4404" cy="0"/>
            </a:xfrm>
            <a:prstGeom prst="line">
              <a:avLst/>
            </a:prstGeom>
            <a:ln w="38100" cap="flat" cmpd="sng">
              <a:solidFill>
                <a:schemeClr val="tx1"/>
              </a:solidFill>
              <a:prstDash val="solid"/>
              <a:headEnd type="none" w="med" len="med"/>
              <a:tailEnd type="none" w="sm" len="lg"/>
            </a:ln>
          </p:spPr>
        </p:sp>
        <p:sp>
          <p:nvSpPr>
            <p:cNvPr id="38932" name="Line 6"/>
            <p:cNvSpPr/>
            <p:nvPr/>
          </p:nvSpPr>
          <p:spPr>
            <a:xfrm>
              <a:off x="1644" y="1440"/>
              <a:ext cx="0" cy="2124"/>
            </a:xfrm>
            <a:prstGeom prst="line">
              <a:avLst/>
            </a:prstGeom>
            <a:ln w="19050" cap="flat" cmpd="sng">
              <a:solidFill>
                <a:schemeClr val="tx1"/>
              </a:solidFill>
              <a:prstDash val="solid"/>
              <a:headEnd type="none" w="med" len="med"/>
              <a:tailEnd type="none" w="sm" len="lg"/>
            </a:ln>
          </p:spPr>
        </p:sp>
        <p:sp>
          <p:nvSpPr>
            <p:cNvPr id="38933" name="Line 7"/>
            <p:cNvSpPr/>
            <p:nvPr/>
          </p:nvSpPr>
          <p:spPr>
            <a:xfrm>
              <a:off x="3228" y="2040"/>
              <a:ext cx="0" cy="1524"/>
            </a:xfrm>
            <a:prstGeom prst="line">
              <a:avLst/>
            </a:prstGeom>
            <a:ln w="19050" cap="flat" cmpd="sng">
              <a:solidFill>
                <a:schemeClr val="tx1"/>
              </a:solidFill>
              <a:prstDash val="solid"/>
              <a:headEnd type="none" w="med" len="med"/>
              <a:tailEnd type="none" w="sm" len="lg"/>
            </a:ln>
          </p:spPr>
        </p:sp>
        <p:sp>
          <p:nvSpPr>
            <p:cNvPr id="38934" name="Line 8"/>
            <p:cNvSpPr/>
            <p:nvPr/>
          </p:nvSpPr>
          <p:spPr>
            <a:xfrm>
              <a:off x="1644" y="2028"/>
              <a:ext cx="3336" cy="0"/>
            </a:xfrm>
            <a:prstGeom prst="line">
              <a:avLst/>
            </a:prstGeom>
            <a:ln w="12700" cap="flat" cmpd="sng">
              <a:solidFill>
                <a:schemeClr val="tx1"/>
              </a:solidFill>
              <a:prstDash val="solid"/>
              <a:headEnd type="none" w="med" len="med"/>
              <a:tailEnd type="none" w="sm" len="lg"/>
            </a:ln>
          </p:spPr>
        </p:sp>
        <p:sp>
          <p:nvSpPr>
            <p:cNvPr id="38935" name="Line 9"/>
            <p:cNvSpPr/>
            <p:nvPr/>
          </p:nvSpPr>
          <p:spPr>
            <a:xfrm>
              <a:off x="564" y="2580"/>
              <a:ext cx="4404" cy="0"/>
            </a:xfrm>
            <a:prstGeom prst="line">
              <a:avLst/>
            </a:prstGeom>
            <a:ln w="12700" cap="flat" cmpd="sng">
              <a:solidFill>
                <a:schemeClr val="tx1"/>
              </a:solidFill>
              <a:prstDash val="solid"/>
              <a:headEnd type="none" w="med" len="med"/>
              <a:tailEnd type="none" w="sm" len="lg"/>
            </a:ln>
          </p:spPr>
        </p:sp>
        <p:sp>
          <p:nvSpPr>
            <p:cNvPr id="38936" name="Text Box 10"/>
            <p:cNvSpPr txBox="1"/>
            <p:nvPr/>
          </p:nvSpPr>
          <p:spPr>
            <a:xfrm>
              <a:off x="771" y="1840"/>
              <a:ext cx="787" cy="327"/>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38937" name="Text Box 11"/>
            <p:cNvSpPr txBox="1"/>
            <p:nvPr/>
          </p:nvSpPr>
          <p:spPr>
            <a:xfrm>
              <a:off x="2679" y="1566"/>
              <a:ext cx="1500"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38938" name="Text Box 12"/>
            <p:cNvSpPr txBox="1"/>
            <p:nvPr/>
          </p:nvSpPr>
          <p:spPr>
            <a:xfrm>
              <a:off x="2187" y="2142"/>
              <a:ext cx="632"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38939" name="Text Box 13"/>
            <p:cNvSpPr txBox="1"/>
            <p:nvPr/>
          </p:nvSpPr>
          <p:spPr>
            <a:xfrm>
              <a:off x="3830" y="2142"/>
              <a:ext cx="632"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38940" name="Text Box 14"/>
            <p:cNvSpPr txBox="1"/>
            <p:nvPr/>
          </p:nvSpPr>
          <p:spPr>
            <a:xfrm>
              <a:off x="866" y="2646"/>
              <a:ext cx="444" cy="1047"/>
            </a:xfrm>
            <a:prstGeom prst="rect">
              <a:avLst/>
            </a:prstGeom>
            <a:noFill/>
            <a:ln w="19050">
              <a:noFill/>
            </a:ln>
          </p:spPr>
          <p:txBody>
            <a:bodyPr wrap="none">
              <a:spAutoFit/>
            </a:bodyPr>
            <a:lstStyle/>
            <a:p>
              <a:r>
                <a:rPr lang="en-US" altLang="zh-CN" sz="2800" dirty="0">
                  <a:latin typeface="Times New Roman" panose="02020603050405020304" pitchFamily="18" charset="0"/>
                </a:rPr>
                <a:t>A'</a:t>
              </a:r>
            </a:p>
            <a:p>
              <a:r>
                <a:rPr lang="en-US" altLang="zh-CN" sz="2800" dirty="0">
                  <a:latin typeface="Times New Roman" panose="02020603050405020304" pitchFamily="18" charset="0"/>
                </a:rPr>
                <a:t>B'</a:t>
              </a:r>
            </a:p>
            <a:p>
              <a:r>
                <a:rPr lang="en-US" altLang="zh-CN" sz="2800" dirty="0">
                  <a:latin typeface="Times New Roman" panose="02020603050405020304" pitchFamily="18" charset="0"/>
                </a:rPr>
                <a:t>C'</a:t>
              </a:r>
            </a:p>
            <a:p>
              <a:endParaRPr lang="en-US" altLang="zh-CN" sz="2800" baseline="-25000" dirty="0">
                <a:latin typeface="Times New Roman" panose="02020603050405020304" pitchFamily="18" charset="0"/>
              </a:endParaRPr>
            </a:p>
          </p:txBody>
        </p:sp>
        <p:sp>
          <p:nvSpPr>
            <p:cNvPr id="38941" name="Text Box 15"/>
            <p:cNvSpPr txBox="1"/>
            <p:nvPr/>
          </p:nvSpPr>
          <p:spPr>
            <a:xfrm>
              <a:off x="2114" y="2646"/>
              <a:ext cx="687" cy="865"/>
            </a:xfrm>
            <a:prstGeom prst="rect">
              <a:avLst/>
            </a:prstGeom>
            <a:noFill/>
            <a:ln w="19050">
              <a:noFill/>
            </a:ln>
          </p:spPr>
          <p:txBody>
            <a:bodyPr wrap="none">
              <a:spAutoFit/>
            </a:bodyPr>
            <a:lstStyle/>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p>
          </p:txBody>
        </p:sp>
        <p:sp>
          <p:nvSpPr>
            <p:cNvPr id="38942" name="Text Box 16"/>
            <p:cNvSpPr txBox="1"/>
            <p:nvPr/>
          </p:nvSpPr>
          <p:spPr>
            <a:xfrm>
              <a:off x="3781" y="2646"/>
              <a:ext cx="669" cy="865"/>
            </a:xfrm>
            <a:prstGeom prst="rect">
              <a:avLst/>
            </a:prstGeom>
            <a:noFill/>
            <a:ln w="19050">
              <a:noFill/>
            </a:ln>
          </p:spPr>
          <p:txBody>
            <a:bodyPr wrap="none">
              <a:spAutoFit/>
            </a:bodyPr>
            <a:lstStyle/>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C'/1</a:t>
              </a:r>
            </a:p>
          </p:txBody>
        </p:sp>
      </p:grpSp>
      <p:grpSp>
        <p:nvGrpSpPr>
          <p:cNvPr id="3" name="Group 17"/>
          <p:cNvGrpSpPr/>
          <p:nvPr/>
        </p:nvGrpSpPr>
        <p:grpSpPr>
          <a:xfrm>
            <a:off x="255588" y="1960563"/>
            <a:ext cx="3378200" cy="3810000"/>
            <a:chOff x="3111" y="992"/>
            <a:chExt cx="2128" cy="2400"/>
          </a:xfrm>
        </p:grpSpPr>
        <p:sp>
          <p:nvSpPr>
            <p:cNvPr id="38917" name="Line 18"/>
            <p:cNvSpPr/>
            <p:nvPr/>
          </p:nvSpPr>
          <p:spPr>
            <a:xfrm>
              <a:off x="3173" y="992"/>
              <a:ext cx="2049" cy="0"/>
            </a:xfrm>
            <a:prstGeom prst="line">
              <a:avLst/>
            </a:prstGeom>
            <a:ln w="38100" cap="flat" cmpd="sng">
              <a:solidFill>
                <a:schemeClr val="tx1"/>
              </a:solidFill>
              <a:prstDash val="solid"/>
              <a:headEnd type="none" w="med" len="med"/>
              <a:tailEnd type="none" w="sm" len="lg"/>
            </a:ln>
          </p:spPr>
        </p:sp>
        <p:sp>
          <p:nvSpPr>
            <p:cNvPr id="38918" name="Line 19"/>
            <p:cNvSpPr/>
            <p:nvPr/>
          </p:nvSpPr>
          <p:spPr>
            <a:xfrm>
              <a:off x="3190" y="3380"/>
              <a:ext cx="2049" cy="0"/>
            </a:xfrm>
            <a:prstGeom prst="line">
              <a:avLst/>
            </a:prstGeom>
            <a:ln w="38100" cap="flat" cmpd="sng">
              <a:solidFill>
                <a:schemeClr val="tx1"/>
              </a:solidFill>
              <a:prstDash val="solid"/>
              <a:headEnd type="none" w="med" len="med"/>
              <a:tailEnd type="none" w="sm" len="lg"/>
            </a:ln>
          </p:spPr>
        </p:sp>
        <p:sp>
          <p:nvSpPr>
            <p:cNvPr id="38919" name="Line 20"/>
            <p:cNvSpPr/>
            <p:nvPr/>
          </p:nvSpPr>
          <p:spPr>
            <a:xfrm>
              <a:off x="3665" y="992"/>
              <a:ext cx="0" cy="2400"/>
            </a:xfrm>
            <a:prstGeom prst="line">
              <a:avLst/>
            </a:prstGeom>
            <a:ln w="19050" cap="flat" cmpd="sng">
              <a:solidFill>
                <a:schemeClr val="tx1"/>
              </a:solidFill>
              <a:prstDash val="solid"/>
              <a:headEnd type="none" w="med" len="med"/>
              <a:tailEnd type="none" w="sm" len="lg"/>
            </a:ln>
          </p:spPr>
        </p:sp>
        <p:sp>
          <p:nvSpPr>
            <p:cNvPr id="38920" name="Line 21"/>
            <p:cNvSpPr/>
            <p:nvPr/>
          </p:nvSpPr>
          <p:spPr>
            <a:xfrm>
              <a:off x="4402" y="1592"/>
              <a:ext cx="0" cy="1788"/>
            </a:xfrm>
            <a:prstGeom prst="line">
              <a:avLst/>
            </a:prstGeom>
            <a:ln w="19050" cap="flat" cmpd="sng">
              <a:solidFill>
                <a:schemeClr val="tx1"/>
              </a:solidFill>
              <a:prstDash val="solid"/>
              <a:headEnd type="none" w="med" len="med"/>
              <a:tailEnd type="none" w="sm" len="lg"/>
            </a:ln>
          </p:spPr>
        </p:sp>
        <p:sp>
          <p:nvSpPr>
            <p:cNvPr id="38921" name="Line 22"/>
            <p:cNvSpPr/>
            <p:nvPr/>
          </p:nvSpPr>
          <p:spPr>
            <a:xfrm>
              <a:off x="3665" y="1580"/>
              <a:ext cx="1552" cy="0"/>
            </a:xfrm>
            <a:prstGeom prst="line">
              <a:avLst/>
            </a:prstGeom>
            <a:ln w="12700" cap="flat" cmpd="sng">
              <a:solidFill>
                <a:schemeClr val="tx1"/>
              </a:solidFill>
              <a:prstDash val="solid"/>
              <a:headEnd type="none" w="med" len="med"/>
              <a:tailEnd type="none" w="sm" len="lg"/>
            </a:ln>
          </p:spPr>
        </p:sp>
        <p:sp>
          <p:nvSpPr>
            <p:cNvPr id="38922" name="Line 23"/>
            <p:cNvSpPr/>
            <p:nvPr/>
          </p:nvSpPr>
          <p:spPr>
            <a:xfrm>
              <a:off x="3162" y="2132"/>
              <a:ext cx="2049" cy="0"/>
            </a:xfrm>
            <a:prstGeom prst="line">
              <a:avLst/>
            </a:prstGeom>
            <a:ln w="12700" cap="flat" cmpd="sng">
              <a:solidFill>
                <a:schemeClr val="tx1"/>
              </a:solidFill>
              <a:prstDash val="solid"/>
              <a:headEnd type="none" w="med" len="med"/>
              <a:tailEnd type="none" w="sm" len="lg"/>
            </a:ln>
          </p:spPr>
        </p:sp>
        <p:sp>
          <p:nvSpPr>
            <p:cNvPr id="38923" name="Text Box 24"/>
            <p:cNvSpPr txBox="1"/>
            <p:nvPr/>
          </p:nvSpPr>
          <p:spPr>
            <a:xfrm>
              <a:off x="3111" y="1386"/>
              <a:ext cx="564" cy="327"/>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38924" name="Text Box 25"/>
            <p:cNvSpPr txBox="1"/>
            <p:nvPr/>
          </p:nvSpPr>
          <p:spPr>
            <a:xfrm>
              <a:off x="3903" y="1124"/>
              <a:ext cx="1074"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38925" name="Text Box 26"/>
            <p:cNvSpPr txBox="1"/>
            <p:nvPr/>
          </p:nvSpPr>
          <p:spPr>
            <a:xfrm>
              <a:off x="3917" y="1694"/>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38926" name="Text Box 27"/>
            <p:cNvSpPr txBox="1"/>
            <p:nvPr/>
          </p:nvSpPr>
          <p:spPr>
            <a:xfrm>
              <a:off x="4682" y="1694"/>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38927" name="Text Box 28"/>
            <p:cNvSpPr txBox="1"/>
            <p:nvPr/>
          </p:nvSpPr>
          <p:spPr>
            <a:xfrm>
              <a:off x="3303" y="2198"/>
              <a:ext cx="278" cy="1134"/>
            </a:xfrm>
            <a:prstGeom prst="rect">
              <a:avLst/>
            </a:prstGeom>
            <a:noFill/>
            <a:ln w="19050">
              <a:noFill/>
            </a:ln>
          </p:spPr>
          <p:txBody>
            <a:bodyPr wrap="none">
              <a:spAutoFit/>
            </a:bodyPr>
            <a:lstStyle/>
            <a:p>
              <a:r>
                <a:rPr lang="en-US" altLang="zh-CN" sz="2800" dirty="0">
                  <a:latin typeface="Times New Roman" panose="02020603050405020304" pitchFamily="18" charset="0"/>
                </a:rPr>
                <a:t>A</a:t>
              </a:r>
            </a:p>
            <a:p>
              <a:r>
                <a:rPr lang="en-US" altLang="zh-CN" sz="2800" dirty="0">
                  <a:latin typeface="Times New Roman" panose="02020603050405020304" pitchFamily="18" charset="0"/>
                </a:rPr>
                <a:t>B</a:t>
              </a:r>
            </a:p>
            <a:p>
              <a:r>
                <a:rPr lang="en-US" altLang="zh-CN" sz="2800" dirty="0">
                  <a:latin typeface="Times New Roman" panose="02020603050405020304" pitchFamily="18" charset="0"/>
                </a:rPr>
                <a:t>C</a:t>
              </a: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38928" name="Text Box 29"/>
            <p:cNvSpPr txBox="1"/>
            <p:nvPr/>
          </p:nvSpPr>
          <p:spPr>
            <a:xfrm>
              <a:off x="3911" y="2198"/>
              <a:ext cx="452" cy="1134"/>
            </a:xfrm>
            <a:prstGeom prst="rect">
              <a:avLst/>
            </a:prstGeom>
            <a:noFill/>
            <a:ln w="19050">
              <a:noFill/>
            </a:ln>
          </p:spPr>
          <p:txBody>
            <a:bodyPr wrap="none">
              <a:spAutoFit/>
            </a:bodyPr>
            <a:lstStyle/>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p>
            <a:p>
              <a:r>
                <a:rPr lang="en-US" altLang="zh-CN" sz="2800" dirty="0">
                  <a:latin typeface="Times New Roman" panose="02020603050405020304" pitchFamily="18" charset="0"/>
                </a:rPr>
                <a:t>A/0</a:t>
              </a:r>
            </a:p>
          </p:txBody>
        </p:sp>
        <p:sp>
          <p:nvSpPr>
            <p:cNvPr id="38929" name="Text Box 30"/>
            <p:cNvSpPr txBox="1"/>
            <p:nvPr/>
          </p:nvSpPr>
          <p:spPr>
            <a:xfrm>
              <a:off x="4687" y="2198"/>
              <a:ext cx="452" cy="1134"/>
            </a:xfrm>
            <a:prstGeom prst="rect">
              <a:avLst/>
            </a:prstGeom>
            <a:noFill/>
            <a:ln w="19050">
              <a:noFill/>
            </a:ln>
          </p:spPr>
          <p:txBody>
            <a:bodyPr wrap="none">
              <a:spAutoFit/>
            </a:bodyPr>
            <a:lstStyle/>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D/1</a:t>
              </a:r>
            </a:p>
            <a:p>
              <a:r>
                <a:rPr lang="en-US" altLang="zh-CN" sz="2800" dirty="0">
                  <a:latin typeface="Times New Roman" panose="02020603050405020304" pitchFamily="18" charset="0"/>
                </a:rPr>
                <a:t>D/1</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to="" calcmode="lin" valueType="num">
                                      <p:cBhvr>
                                        <p:cTn id="12"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p:nvPr/>
        </p:nvSpPr>
        <p:spPr>
          <a:xfrm>
            <a:off x="898525" y="676275"/>
            <a:ext cx="2673350" cy="519113"/>
          </a:xfrm>
          <a:prstGeom prst="rect">
            <a:avLst/>
          </a:prstGeom>
          <a:noFill/>
          <a:ln w="19050">
            <a:noFill/>
          </a:ln>
        </p:spPr>
        <p:txBody>
          <a:bodyPr wrap="none">
            <a:spAutoFit/>
          </a:bodyPr>
          <a:lstStyle/>
          <a:p>
            <a:r>
              <a:rPr lang="en-US" altLang="zh-CN" sz="2800" b="1" dirty="0">
                <a:solidFill>
                  <a:srgbClr val="9900FF"/>
                </a:solidFill>
                <a:latin typeface="Times New Roman" panose="02020603050405020304" pitchFamily="18" charset="0"/>
              </a:rPr>
              <a:t>2. </a:t>
            </a:r>
            <a:r>
              <a:rPr lang="zh-CN" altLang="en-US" sz="2800" b="1" dirty="0">
                <a:solidFill>
                  <a:srgbClr val="9900FF"/>
                </a:solidFill>
                <a:latin typeface="Times New Roman" panose="02020603050405020304" pitchFamily="18" charset="0"/>
              </a:rPr>
              <a:t>隐含表法化简</a:t>
            </a:r>
          </a:p>
        </p:txBody>
      </p:sp>
      <p:sp>
        <p:nvSpPr>
          <p:cNvPr id="172035" name="Text Box 3"/>
          <p:cNvSpPr txBox="1"/>
          <p:nvPr/>
        </p:nvSpPr>
        <p:spPr>
          <a:xfrm>
            <a:off x="1374775" y="1130300"/>
            <a:ext cx="4454525" cy="519113"/>
          </a:xfrm>
          <a:prstGeom prst="rect">
            <a:avLst/>
          </a:prstGeom>
          <a:noFill/>
          <a:ln w="19050">
            <a:noFill/>
          </a:ln>
        </p:spPr>
        <p:txBody>
          <a:bodyPr wrap="none">
            <a:spAutoFit/>
          </a:bodyPr>
          <a:lstStyle/>
          <a:p>
            <a:r>
              <a:rPr lang="zh-CN" altLang="en-US" sz="2800" b="1" dirty="0">
                <a:latin typeface="Times New Roman" panose="02020603050405020304" pitchFamily="18" charset="0"/>
              </a:rPr>
              <a:t>例</a:t>
            </a:r>
            <a:r>
              <a:rPr lang="zh-CN" altLang="en-US" sz="2800" dirty="0">
                <a:latin typeface="Times New Roman" panose="02020603050405020304" pitchFamily="18" charset="0"/>
              </a:rPr>
              <a:t>：简化下表所示的状态表</a:t>
            </a:r>
          </a:p>
        </p:txBody>
      </p:sp>
      <p:grpSp>
        <p:nvGrpSpPr>
          <p:cNvPr id="2" name="Group 4"/>
          <p:cNvGrpSpPr/>
          <p:nvPr/>
        </p:nvGrpSpPr>
        <p:grpSpPr>
          <a:xfrm>
            <a:off x="914400" y="1943100"/>
            <a:ext cx="7086600" cy="4362450"/>
            <a:chOff x="564" y="1164"/>
            <a:chExt cx="4464" cy="2748"/>
          </a:xfrm>
        </p:grpSpPr>
        <p:sp>
          <p:nvSpPr>
            <p:cNvPr id="39941" name="Line 5"/>
            <p:cNvSpPr/>
            <p:nvPr/>
          </p:nvSpPr>
          <p:spPr>
            <a:xfrm>
              <a:off x="588" y="1164"/>
              <a:ext cx="4404" cy="0"/>
            </a:xfrm>
            <a:prstGeom prst="line">
              <a:avLst/>
            </a:prstGeom>
            <a:ln w="38100" cap="flat" cmpd="sng">
              <a:solidFill>
                <a:schemeClr val="tx1"/>
              </a:solidFill>
              <a:prstDash val="solid"/>
              <a:headEnd type="none" w="med" len="med"/>
              <a:tailEnd type="none" w="sm" len="lg"/>
            </a:ln>
          </p:spPr>
        </p:sp>
        <p:sp>
          <p:nvSpPr>
            <p:cNvPr id="39942" name="Line 6"/>
            <p:cNvSpPr/>
            <p:nvPr/>
          </p:nvSpPr>
          <p:spPr>
            <a:xfrm>
              <a:off x="624" y="3900"/>
              <a:ext cx="4404" cy="0"/>
            </a:xfrm>
            <a:prstGeom prst="line">
              <a:avLst/>
            </a:prstGeom>
            <a:ln w="38100" cap="flat" cmpd="sng">
              <a:solidFill>
                <a:schemeClr val="tx1"/>
              </a:solidFill>
              <a:prstDash val="solid"/>
              <a:headEnd type="none" w="med" len="med"/>
              <a:tailEnd type="none" w="sm" len="lg"/>
            </a:ln>
          </p:spPr>
        </p:sp>
        <p:sp>
          <p:nvSpPr>
            <p:cNvPr id="39943" name="Line 7"/>
            <p:cNvSpPr/>
            <p:nvPr/>
          </p:nvSpPr>
          <p:spPr>
            <a:xfrm>
              <a:off x="1644" y="1164"/>
              <a:ext cx="0" cy="2736"/>
            </a:xfrm>
            <a:prstGeom prst="line">
              <a:avLst/>
            </a:prstGeom>
            <a:ln w="19050" cap="flat" cmpd="sng">
              <a:solidFill>
                <a:schemeClr val="tx1"/>
              </a:solidFill>
              <a:prstDash val="solid"/>
              <a:headEnd type="none" w="med" len="med"/>
              <a:tailEnd type="none" w="sm" len="lg"/>
            </a:ln>
          </p:spPr>
        </p:sp>
        <p:sp>
          <p:nvSpPr>
            <p:cNvPr id="39944" name="Line 8"/>
            <p:cNvSpPr/>
            <p:nvPr/>
          </p:nvSpPr>
          <p:spPr>
            <a:xfrm>
              <a:off x="3228" y="1584"/>
              <a:ext cx="0" cy="2328"/>
            </a:xfrm>
            <a:prstGeom prst="line">
              <a:avLst/>
            </a:prstGeom>
            <a:ln w="19050" cap="flat" cmpd="sng">
              <a:solidFill>
                <a:schemeClr val="tx1"/>
              </a:solidFill>
              <a:prstDash val="solid"/>
              <a:headEnd type="none" w="med" len="med"/>
              <a:tailEnd type="none" w="sm" len="lg"/>
            </a:ln>
          </p:spPr>
        </p:sp>
        <p:sp>
          <p:nvSpPr>
            <p:cNvPr id="39945" name="Line 9"/>
            <p:cNvSpPr/>
            <p:nvPr/>
          </p:nvSpPr>
          <p:spPr>
            <a:xfrm>
              <a:off x="1644" y="1572"/>
              <a:ext cx="3336" cy="0"/>
            </a:xfrm>
            <a:prstGeom prst="line">
              <a:avLst/>
            </a:prstGeom>
            <a:ln w="12700" cap="flat" cmpd="sng">
              <a:solidFill>
                <a:schemeClr val="tx1"/>
              </a:solidFill>
              <a:prstDash val="solid"/>
              <a:headEnd type="none" w="med" len="med"/>
              <a:tailEnd type="none" w="sm" len="lg"/>
            </a:ln>
          </p:spPr>
        </p:sp>
        <p:sp>
          <p:nvSpPr>
            <p:cNvPr id="39946" name="Line 10"/>
            <p:cNvSpPr/>
            <p:nvPr/>
          </p:nvSpPr>
          <p:spPr>
            <a:xfrm>
              <a:off x="564" y="1896"/>
              <a:ext cx="4404" cy="0"/>
            </a:xfrm>
            <a:prstGeom prst="line">
              <a:avLst/>
            </a:prstGeom>
            <a:ln w="12700" cap="flat" cmpd="sng">
              <a:solidFill>
                <a:schemeClr val="tx1"/>
              </a:solidFill>
              <a:prstDash val="solid"/>
              <a:headEnd type="none" w="med" len="med"/>
              <a:tailEnd type="none" w="sm" len="lg"/>
            </a:ln>
          </p:spPr>
        </p:sp>
        <p:sp>
          <p:nvSpPr>
            <p:cNvPr id="39947" name="Text Box 11"/>
            <p:cNvSpPr txBox="1"/>
            <p:nvPr/>
          </p:nvSpPr>
          <p:spPr>
            <a:xfrm>
              <a:off x="770" y="1384"/>
              <a:ext cx="564" cy="327"/>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39948" name="Text Box 12"/>
            <p:cNvSpPr txBox="1"/>
            <p:nvPr/>
          </p:nvSpPr>
          <p:spPr>
            <a:xfrm>
              <a:off x="2678" y="1194"/>
              <a:ext cx="1074"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39949" name="Text Box 13"/>
            <p:cNvSpPr txBox="1"/>
            <p:nvPr/>
          </p:nvSpPr>
          <p:spPr>
            <a:xfrm>
              <a:off x="2138" y="1554"/>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39950" name="Text Box 14"/>
            <p:cNvSpPr txBox="1"/>
            <p:nvPr/>
          </p:nvSpPr>
          <p:spPr>
            <a:xfrm>
              <a:off x="3794" y="1554"/>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39951" name="Text Box 15"/>
            <p:cNvSpPr txBox="1"/>
            <p:nvPr/>
          </p:nvSpPr>
          <p:spPr>
            <a:xfrm>
              <a:off x="866" y="1938"/>
              <a:ext cx="278" cy="1941"/>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A</a:t>
              </a:r>
            </a:p>
            <a:p>
              <a:pPr algn="ctr"/>
              <a:r>
                <a:rPr lang="en-US" altLang="zh-CN" sz="2800" dirty="0">
                  <a:latin typeface="Times New Roman" panose="02020603050405020304" pitchFamily="18" charset="0"/>
                </a:rPr>
                <a:t>B</a:t>
              </a:r>
            </a:p>
            <a:p>
              <a:pPr algn="ctr"/>
              <a:r>
                <a:rPr lang="en-US" altLang="zh-CN" sz="2800" dirty="0">
                  <a:latin typeface="Times New Roman" panose="02020603050405020304" pitchFamily="18" charset="0"/>
                </a:rPr>
                <a:t>C</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E</a:t>
              </a:r>
            </a:p>
            <a:p>
              <a:pPr algn="ctr"/>
              <a:r>
                <a:rPr lang="en-US" altLang="zh-CN" sz="2800" dirty="0">
                  <a:latin typeface="Times New Roman" panose="02020603050405020304" pitchFamily="18" charset="0"/>
                </a:rPr>
                <a:t>F</a:t>
              </a:r>
            </a:p>
            <a:p>
              <a:pPr algn="ctr"/>
              <a:r>
                <a:rPr lang="en-US" altLang="zh-CN" sz="2800" dirty="0">
                  <a:latin typeface="Times New Roman" panose="02020603050405020304" pitchFamily="18" charset="0"/>
                </a:rPr>
                <a:t>G</a:t>
              </a:r>
              <a:endParaRPr lang="en-US" altLang="zh-CN" sz="2800" baseline="-25000" dirty="0">
                <a:latin typeface="Times New Roman" panose="02020603050405020304" pitchFamily="18" charset="0"/>
              </a:endParaRPr>
            </a:p>
          </p:txBody>
        </p:sp>
        <p:sp>
          <p:nvSpPr>
            <p:cNvPr id="39952" name="Text Box 16"/>
            <p:cNvSpPr txBox="1"/>
            <p:nvPr/>
          </p:nvSpPr>
          <p:spPr>
            <a:xfrm>
              <a:off x="2138" y="1938"/>
              <a:ext cx="452" cy="1941"/>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F/0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p>
            <a:p>
              <a:pPr algn="ctr"/>
              <a:r>
                <a:rPr lang="en-US" altLang="zh-CN" sz="2800" dirty="0">
                  <a:latin typeface="Times New Roman" panose="02020603050405020304" pitchFamily="18" charset="0"/>
                </a:rPr>
                <a:t>D/1</a:t>
              </a:r>
            </a:p>
            <a:p>
              <a:pPr algn="ctr"/>
              <a:r>
                <a:rPr lang="en-US" altLang="zh-CN" sz="2800" dirty="0">
                  <a:latin typeface="Times New Roman" panose="02020603050405020304" pitchFamily="18" charset="0"/>
                </a:rPr>
                <a:t>C/0</a:t>
              </a:r>
            </a:p>
            <a:p>
              <a:pPr algn="ctr"/>
              <a:r>
                <a:rPr lang="en-US" altLang="zh-CN" sz="2800" dirty="0">
                  <a:latin typeface="Times New Roman" panose="02020603050405020304" pitchFamily="18" charset="0"/>
                </a:rPr>
                <a:t>D/0</a:t>
              </a:r>
            </a:p>
            <a:p>
              <a:pPr algn="ctr"/>
              <a:r>
                <a:rPr lang="en-US" altLang="zh-CN" sz="2800" dirty="0">
                  <a:latin typeface="Times New Roman" panose="02020603050405020304" pitchFamily="18" charset="0"/>
                </a:rPr>
                <a:t>C/1</a:t>
              </a:r>
            </a:p>
          </p:txBody>
        </p:sp>
        <p:sp>
          <p:nvSpPr>
            <p:cNvPr id="39953" name="Text Box 17"/>
            <p:cNvSpPr txBox="1"/>
            <p:nvPr/>
          </p:nvSpPr>
          <p:spPr>
            <a:xfrm>
              <a:off x="3794" y="1938"/>
              <a:ext cx="452" cy="1941"/>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B/1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G/0</a:t>
              </a:r>
            </a:p>
            <a:p>
              <a:pPr algn="ctr"/>
              <a:r>
                <a:rPr lang="en-US" altLang="zh-CN" sz="2800" dirty="0">
                  <a:latin typeface="Times New Roman" panose="02020603050405020304" pitchFamily="18" charset="0"/>
                </a:rPr>
                <a:t>E/0</a:t>
              </a:r>
            </a:p>
            <a:p>
              <a:pPr algn="ctr"/>
              <a:r>
                <a:rPr lang="en-US" altLang="zh-CN" sz="2800" dirty="0">
                  <a:latin typeface="Times New Roman" panose="02020603050405020304" pitchFamily="18" charset="0"/>
                </a:rPr>
                <a:t>E/1</a:t>
              </a:r>
            </a:p>
            <a:p>
              <a:pPr algn="ctr"/>
              <a:r>
                <a:rPr lang="en-US" altLang="zh-CN" sz="2800" dirty="0">
                  <a:latin typeface="Times New Roman" panose="02020603050405020304" pitchFamily="18" charset="0"/>
                </a:rPr>
                <a:t>G/0</a:t>
              </a:r>
            </a:p>
            <a:p>
              <a:pPr algn="ctr"/>
              <a:r>
                <a:rPr lang="en-US" altLang="zh-CN" sz="2800" dirty="0">
                  <a:latin typeface="Times New Roman" panose="02020603050405020304" pitchFamily="18" charset="0"/>
                </a:rPr>
                <a:t>D/0</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2035"/>
                                        </p:tgtEl>
                                        <p:attrNameLst>
                                          <p:attrName>style.visibility</p:attrName>
                                        </p:attrNameLst>
                                      </p:cBhvr>
                                      <p:to>
                                        <p:strVal val="visible"/>
                                      </p:to>
                                    </p:set>
                                    <p:animEffect transition="in" filter="wipe(left)">
                                      <p:cBhvr>
                                        <p:cTn id="7" dur="500"/>
                                        <p:tgtEl>
                                          <p:spTgt spid="172035"/>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to="" calcmode="lin" valueType="num">
                                      <p:cBhvr>
                                        <p:cTn id="12"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3"/>
          <p:cNvSpPr txBox="1"/>
          <p:nvPr/>
        </p:nvSpPr>
        <p:spPr>
          <a:xfrm>
            <a:off x="693738" y="447675"/>
            <a:ext cx="898525" cy="946150"/>
          </a:xfrm>
          <a:prstGeom prst="rect">
            <a:avLst/>
          </a:prstGeom>
          <a:noFill/>
          <a:ln w="19050">
            <a:noFill/>
          </a:ln>
        </p:spPr>
        <p:txBody>
          <a:bodyPr wrap="none">
            <a:spAutoFit/>
          </a:bodyPr>
          <a:lstStyle/>
          <a:p>
            <a:r>
              <a:rPr lang="zh-CN" altLang="en-US" sz="2800" b="1" dirty="0">
                <a:latin typeface="Times New Roman" panose="02020603050405020304" pitchFamily="18" charset="0"/>
              </a:rPr>
              <a:t>解：</a:t>
            </a:r>
          </a:p>
          <a:p>
            <a:endParaRPr lang="zh-CN" altLang="en-US" sz="2800" b="1" dirty="0">
              <a:latin typeface="Times New Roman" panose="02020603050405020304" pitchFamily="18" charset="0"/>
            </a:endParaRPr>
          </a:p>
        </p:txBody>
      </p:sp>
      <p:sp>
        <p:nvSpPr>
          <p:cNvPr id="173060" name="Text Box 4"/>
          <p:cNvSpPr txBox="1"/>
          <p:nvPr/>
        </p:nvSpPr>
        <p:spPr>
          <a:xfrm>
            <a:off x="2286000" y="587375"/>
            <a:ext cx="1412875" cy="519113"/>
          </a:xfrm>
          <a:prstGeom prst="rect">
            <a:avLst/>
          </a:prstGeom>
          <a:noFill/>
          <a:ln w="19050">
            <a:noFill/>
          </a:ln>
        </p:spPr>
        <p:txBody>
          <a:bodyPr wrap="none">
            <a:spAutoFit/>
          </a:bodyPr>
          <a:lstStyle/>
          <a:p>
            <a:pPr>
              <a:buChar char="•"/>
            </a:pPr>
            <a:r>
              <a:rPr lang="en-US" altLang="zh-CN" sz="2800" dirty="0">
                <a:latin typeface="Times New Roman" panose="02020603050405020304" pitchFamily="18" charset="0"/>
                <a:sym typeface="Monotype Sorts" pitchFamily="2" charset="2"/>
              </a:rPr>
              <a:t> </a:t>
            </a:r>
            <a:r>
              <a:rPr lang="zh-CN" altLang="en-US" sz="2000" b="1" dirty="0">
                <a:latin typeface="Times New Roman" panose="02020603050405020304" pitchFamily="18" charset="0"/>
                <a:ea typeface="华文楷体" panose="02010600040101010101" pitchFamily="2" charset="-122"/>
                <a:sym typeface="Monotype Sorts" pitchFamily="2" charset="2"/>
              </a:rPr>
              <a:t>作隐含表</a:t>
            </a:r>
            <a:endParaRPr lang="zh-CN" altLang="en-US" sz="2000" b="1" dirty="0">
              <a:latin typeface="Times New Roman" panose="02020603050405020304" pitchFamily="18" charset="0"/>
              <a:ea typeface="华文楷体" panose="02010600040101010101" pitchFamily="2" charset="-122"/>
            </a:endParaRPr>
          </a:p>
        </p:txBody>
      </p:sp>
      <p:sp>
        <p:nvSpPr>
          <p:cNvPr id="173063" name="Text Box 7"/>
          <p:cNvSpPr txBox="1"/>
          <p:nvPr/>
        </p:nvSpPr>
        <p:spPr>
          <a:xfrm>
            <a:off x="5780088" y="514350"/>
            <a:ext cx="2914650" cy="3079750"/>
          </a:xfrm>
          <a:prstGeom prst="rect">
            <a:avLst/>
          </a:prstGeom>
          <a:noFill/>
          <a:ln w="19050">
            <a:noFill/>
          </a:ln>
        </p:spPr>
        <p:txBody>
          <a:bodyPr>
            <a:spAutoFit/>
          </a:bodyPr>
          <a:lstStyle/>
          <a:p>
            <a:pPr marL="95250" indent="-95250" defTabSz="381000">
              <a:buChar char="•"/>
              <a:tabLst>
                <a:tab pos="285750" algn="l"/>
              </a:tabLst>
            </a:pPr>
            <a:r>
              <a:rPr lang="en-US" altLang="zh-CN" sz="2800" dirty="0">
                <a:latin typeface="Times New Roman" panose="02020603050405020304" pitchFamily="18" charset="0"/>
                <a:sym typeface="Monotype Sorts" pitchFamily="2" charset="2"/>
              </a:rPr>
              <a:t> </a:t>
            </a:r>
            <a:r>
              <a:rPr lang="zh-CN" altLang="en-US" sz="2000" b="1" dirty="0">
                <a:latin typeface="华文楷体" panose="02010600040101010101" pitchFamily="2" charset="-122"/>
                <a:ea typeface="华文楷体" panose="02010600040101010101" pitchFamily="2" charset="-122"/>
                <a:sym typeface="Monotype Sorts" pitchFamily="2" charset="2"/>
              </a:rPr>
              <a:t>顺序比较，寻找等效状态对</a:t>
            </a:r>
            <a:endParaRPr lang="zh-CN" altLang="en-US" sz="2000" b="1" dirty="0">
              <a:latin typeface="华文楷体" panose="02010600040101010101" pitchFamily="2" charset="-122"/>
              <a:ea typeface="华文楷体" panose="02010600040101010101" pitchFamily="2" charset="-122"/>
            </a:endParaRPr>
          </a:p>
          <a:p>
            <a:pPr marL="95250" indent="-95250" defTabSz="381000">
              <a:buChar char="•"/>
              <a:tabLst>
                <a:tab pos="285750" algn="l"/>
              </a:tabLst>
            </a:pPr>
            <a:r>
              <a:rPr lang="zh-CN" altLang="en-US" sz="2800" dirty="0">
                <a:latin typeface="华文楷体" panose="02010600040101010101" pitchFamily="2" charset="-122"/>
                <a:ea typeface="华文楷体" panose="02010600040101010101" pitchFamily="2" charset="-122"/>
              </a:rPr>
              <a:t> </a:t>
            </a:r>
            <a:r>
              <a:rPr lang="zh-CN" altLang="en-US" sz="2000" b="1" dirty="0">
                <a:latin typeface="华文楷体" panose="02010600040101010101" pitchFamily="2" charset="-122"/>
                <a:ea typeface="华文楷体" panose="02010600040101010101" pitchFamily="2" charset="-122"/>
              </a:rPr>
              <a:t>状态对等效，打“ √</a:t>
            </a:r>
            <a:r>
              <a:rPr lang="zh-CN" altLang="en-US" sz="2000" b="1" dirty="0">
                <a:latin typeface="华文楷体" panose="02010600040101010101" pitchFamily="2" charset="-122"/>
                <a:ea typeface="华文楷体" panose="02010600040101010101" pitchFamily="2" charset="-122"/>
                <a:sym typeface="Monotype Sorts" pitchFamily="2" charset="2"/>
              </a:rPr>
              <a:t>”；</a:t>
            </a:r>
          </a:p>
          <a:p>
            <a:pPr marL="95250" indent="-95250" defTabSz="381000">
              <a:buChar char="•"/>
              <a:tabLst>
                <a:tab pos="285750" algn="l"/>
              </a:tabLst>
            </a:pPr>
            <a:r>
              <a:rPr lang="zh-CN" altLang="en-US" sz="2000" b="1" dirty="0">
                <a:latin typeface="华文楷体" panose="02010600040101010101" pitchFamily="2" charset="-122"/>
                <a:ea typeface="华文楷体" panose="02010600040101010101" pitchFamily="2" charset="-122"/>
                <a:sym typeface="Monotype Sorts" pitchFamily="2" charset="2"/>
              </a:rPr>
              <a:t> 状态对不等效，打      “   ╳”；</a:t>
            </a:r>
          </a:p>
          <a:p>
            <a:pPr marL="95250" indent="-95250" defTabSz="381000">
              <a:buChar char="•"/>
              <a:tabLst>
                <a:tab pos="285750" algn="l"/>
              </a:tabLst>
            </a:pPr>
            <a:r>
              <a:rPr lang="zh-CN" altLang="en-US" sz="2000" b="1" dirty="0">
                <a:latin typeface="华文楷体" panose="02010600040101010101" pitchFamily="2" charset="-122"/>
                <a:ea typeface="华文楷体" panose="02010600040101010101" pitchFamily="2" charset="-122"/>
                <a:sym typeface="Monotype Sorts" pitchFamily="2" charset="2"/>
              </a:rPr>
              <a:t> 状态对是否等效需进	一步检查，则标记次态对。</a:t>
            </a:r>
          </a:p>
        </p:txBody>
      </p:sp>
      <p:grpSp>
        <p:nvGrpSpPr>
          <p:cNvPr id="2" name="Group 8"/>
          <p:cNvGrpSpPr/>
          <p:nvPr/>
        </p:nvGrpSpPr>
        <p:grpSpPr>
          <a:xfrm>
            <a:off x="4179888" y="2654300"/>
            <a:ext cx="4284662" cy="4203700"/>
            <a:chOff x="2734" y="1385"/>
            <a:chExt cx="2699" cy="2648"/>
          </a:xfrm>
        </p:grpSpPr>
        <p:sp>
          <p:nvSpPr>
            <p:cNvPr id="41061" name="Text Box 9"/>
            <p:cNvSpPr txBox="1"/>
            <p:nvPr/>
          </p:nvSpPr>
          <p:spPr>
            <a:xfrm>
              <a:off x="3092" y="3706"/>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A</a:t>
              </a:r>
            </a:p>
          </p:txBody>
        </p:sp>
        <p:sp>
          <p:nvSpPr>
            <p:cNvPr id="41062" name="Text Box 10"/>
            <p:cNvSpPr txBox="1"/>
            <p:nvPr/>
          </p:nvSpPr>
          <p:spPr>
            <a:xfrm>
              <a:off x="3468" y="3706"/>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B</a:t>
              </a:r>
            </a:p>
          </p:txBody>
        </p:sp>
        <p:sp>
          <p:nvSpPr>
            <p:cNvPr id="41063" name="Text Box 11"/>
            <p:cNvSpPr txBox="1"/>
            <p:nvPr/>
          </p:nvSpPr>
          <p:spPr>
            <a:xfrm>
              <a:off x="3918" y="3706"/>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41064" name="Text Box 12"/>
            <p:cNvSpPr txBox="1"/>
            <p:nvPr/>
          </p:nvSpPr>
          <p:spPr>
            <a:xfrm>
              <a:off x="4316" y="3706"/>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41065" name="Text Box 13"/>
            <p:cNvSpPr txBox="1"/>
            <p:nvPr/>
          </p:nvSpPr>
          <p:spPr>
            <a:xfrm>
              <a:off x="4724" y="3706"/>
              <a:ext cx="253" cy="327"/>
            </a:xfrm>
            <a:prstGeom prst="rect">
              <a:avLst/>
            </a:prstGeom>
            <a:noFill/>
            <a:ln w="19050">
              <a:noFill/>
            </a:ln>
          </p:spPr>
          <p:txBody>
            <a:bodyPr wrap="none">
              <a:spAutoFit/>
            </a:bodyPr>
            <a:lstStyle/>
            <a:p>
              <a:r>
                <a:rPr lang="en-US" altLang="zh-CN" sz="2800" dirty="0">
                  <a:latin typeface="Times New Roman" panose="02020603050405020304" pitchFamily="18" charset="0"/>
                </a:rPr>
                <a:t>E</a:t>
              </a:r>
            </a:p>
          </p:txBody>
        </p:sp>
        <p:sp>
          <p:nvSpPr>
            <p:cNvPr id="41066" name="Text Box 14"/>
            <p:cNvSpPr txBox="1"/>
            <p:nvPr/>
          </p:nvSpPr>
          <p:spPr>
            <a:xfrm>
              <a:off x="5192" y="3706"/>
              <a:ext cx="241" cy="327"/>
            </a:xfrm>
            <a:prstGeom prst="rect">
              <a:avLst/>
            </a:prstGeom>
            <a:noFill/>
            <a:ln w="19050">
              <a:noFill/>
            </a:ln>
          </p:spPr>
          <p:txBody>
            <a:bodyPr wrap="none">
              <a:spAutoFit/>
            </a:bodyPr>
            <a:lstStyle/>
            <a:p>
              <a:r>
                <a:rPr lang="en-US" altLang="zh-CN" sz="2800" dirty="0">
                  <a:latin typeface="Times New Roman" panose="02020603050405020304" pitchFamily="18" charset="0"/>
                </a:rPr>
                <a:t>F</a:t>
              </a:r>
            </a:p>
          </p:txBody>
        </p:sp>
        <p:sp>
          <p:nvSpPr>
            <p:cNvPr id="41067" name="Text Box 15"/>
            <p:cNvSpPr txBox="1"/>
            <p:nvPr/>
          </p:nvSpPr>
          <p:spPr>
            <a:xfrm>
              <a:off x="2734" y="3401"/>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G</a:t>
              </a:r>
            </a:p>
          </p:txBody>
        </p:sp>
        <p:sp>
          <p:nvSpPr>
            <p:cNvPr id="41068" name="Text Box 16"/>
            <p:cNvSpPr txBox="1"/>
            <p:nvPr/>
          </p:nvSpPr>
          <p:spPr>
            <a:xfrm>
              <a:off x="2734" y="2995"/>
              <a:ext cx="241" cy="327"/>
            </a:xfrm>
            <a:prstGeom prst="rect">
              <a:avLst/>
            </a:prstGeom>
            <a:noFill/>
            <a:ln w="19050">
              <a:noFill/>
            </a:ln>
          </p:spPr>
          <p:txBody>
            <a:bodyPr wrap="none">
              <a:spAutoFit/>
            </a:bodyPr>
            <a:lstStyle/>
            <a:p>
              <a:r>
                <a:rPr lang="en-US" altLang="zh-CN" sz="2800" dirty="0">
                  <a:latin typeface="Times New Roman" panose="02020603050405020304" pitchFamily="18" charset="0"/>
                </a:rPr>
                <a:t>F</a:t>
              </a:r>
            </a:p>
          </p:txBody>
        </p:sp>
        <p:sp>
          <p:nvSpPr>
            <p:cNvPr id="41069" name="Text Box 17"/>
            <p:cNvSpPr txBox="1"/>
            <p:nvPr/>
          </p:nvSpPr>
          <p:spPr>
            <a:xfrm>
              <a:off x="2734" y="2584"/>
              <a:ext cx="253" cy="327"/>
            </a:xfrm>
            <a:prstGeom prst="rect">
              <a:avLst/>
            </a:prstGeom>
            <a:noFill/>
            <a:ln w="19050">
              <a:noFill/>
            </a:ln>
          </p:spPr>
          <p:txBody>
            <a:bodyPr wrap="none">
              <a:spAutoFit/>
            </a:bodyPr>
            <a:lstStyle/>
            <a:p>
              <a:r>
                <a:rPr lang="en-US" altLang="zh-CN" sz="2800" dirty="0">
                  <a:latin typeface="Times New Roman" panose="02020603050405020304" pitchFamily="18" charset="0"/>
                </a:rPr>
                <a:t>E</a:t>
              </a:r>
            </a:p>
          </p:txBody>
        </p:sp>
        <p:sp>
          <p:nvSpPr>
            <p:cNvPr id="41070" name="Text Box 18"/>
            <p:cNvSpPr txBox="1"/>
            <p:nvPr/>
          </p:nvSpPr>
          <p:spPr>
            <a:xfrm>
              <a:off x="2734" y="2187"/>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41071" name="Text Box 19"/>
            <p:cNvSpPr txBox="1"/>
            <p:nvPr/>
          </p:nvSpPr>
          <p:spPr>
            <a:xfrm>
              <a:off x="2734" y="1781"/>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41072" name="Text Box 20"/>
            <p:cNvSpPr txBox="1"/>
            <p:nvPr/>
          </p:nvSpPr>
          <p:spPr>
            <a:xfrm>
              <a:off x="2734" y="1385"/>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B</a:t>
              </a:r>
            </a:p>
          </p:txBody>
        </p:sp>
      </p:grpSp>
      <p:sp>
        <p:nvSpPr>
          <p:cNvPr id="173077" name="Text Box 21"/>
          <p:cNvSpPr txBox="1"/>
          <p:nvPr/>
        </p:nvSpPr>
        <p:spPr>
          <a:xfrm>
            <a:off x="4586288" y="2613025"/>
            <a:ext cx="619125" cy="519113"/>
          </a:xfrm>
          <a:prstGeom prst="rect">
            <a:avLst/>
          </a:prstGeom>
          <a:noFill/>
          <a:ln w="19050">
            <a:noFill/>
          </a:ln>
        </p:spPr>
        <p:txBody>
          <a:bodyPr wrap="none">
            <a:spAutoFit/>
          </a:bodyPr>
          <a:lstStyle/>
          <a:p>
            <a:r>
              <a:rPr lang="en-US" altLang="zh-CN" sz="2800" dirty="0">
                <a:latin typeface="Times New Roman" panose="02020603050405020304" pitchFamily="18" charset="0"/>
              </a:rPr>
              <a:t>CF</a:t>
            </a:r>
          </a:p>
        </p:txBody>
      </p:sp>
      <p:sp>
        <p:nvSpPr>
          <p:cNvPr id="173078" name="Text Box 22"/>
          <p:cNvSpPr txBox="1"/>
          <p:nvPr/>
        </p:nvSpPr>
        <p:spPr>
          <a:xfrm>
            <a:off x="4629150" y="4549775"/>
            <a:ext cx="638175" cy="519113"/>
          </a:xfrm>
          <a:prstGeom prst="rect">
            <a:avLst/>
          </a:prstGeom>
          <a:noFill/>
          <a:ln w="19050">
            <a:noFill/>
          </a:ln>
        </p:spPr>
        <p:txBody>
          <a:bodyPr wrap="none">
            <a:spAutoFit/>
          </a:bodyPr>
          <a:lstStyle/>
          <a:p>
            <a:r>
              <a:rPr lang="en-US" altLang="zh-CN" sz="2800" dirty="0">
                <a:latin typeface="Times New Roman" panose="02020603050405020304" pitchFamily="18" charset="0"/>
              </a:rPr>
              <a:t>BE</a:t>
            </a:r>
          </a:p>
        </p:txBody>
      </p:sp>
      <p:sp>
        <p:nvSpPr>
          <p:cNvPr id="173079" name="Text Box 23"/>
          <p:cNvSpPr txBox="1"/>
          <p:nvPr/>
        </p:nvSpPr>
        <p:spPr>
          <a:xfrm>
            <a:off x="5335588" y="4430713"/>
            <a:ext cx="538162" cy="701675"/>
          </a:xfrm>
          <a:prstGeom prst="rect">
            <a:avLst/>
          </a:prstGeom>
          <a:noFill/>
          <a:ln w="19050">
            <a:noFill/>
          </a:ln>
        </p:spPr>
        <p:txBody>
          <a:bodyPr wrap="none">
            <a:spAutoFit/>
          </a:bodyPr>
          <a:lstStyle/>
          <a:p>
            <a:pPr algn="ctr"/>
            <a:r>
              <a:rPr lang="en-US" altLang="zh-CN" sz="2000" b="1" dirty="0">
                <a:latin typeface="Times New Roman" panose="02020603050405020304" pitchFamily="18" charset="0"/>
              </a:rPr>
              <a:t>AE</a:t>
            </a:r>
          </a:p>
          <a:p>
            <a:pPr algn="ctr"/>
            <a:r>
              <a:rPr lang="en-US" altLang="zh-CN" sz="2000" b="1" dirty="0">
                <a:latin typeface="Times New Roman" panose="02020603050405020304" pitchFamily="18" charset="0"/>
              </a:rPr>
              <a:t>CF</a:t>
            </a:r>
            <a:endParaRPr lang="en-US" altLang="zh-CN" sz="2800" dirty="0">
              <a:latin typeface="Times New Roman" panose="02020603050405020304" pitchFamily="18" charset="0"/>
            </a:endParaRPr>
          </a:p>
        </p:txBody>
      </p:sp>
      <p:sp>
        <p:nvSpPr>
          <p:cNvPr id="173080" name="Text Box 24"/>
          <p:cNvSpPr txBox="1"/>
          <p:nvPr/>
        </p:nvSpPr>
        <p:spPr>
          <a:xfrm>
            <a:off x="6605588" y="5686425"/>
            <a:ext cx="552450" cy="701675"/>
          </a:xfrm>
          <a:prstGeom prst="rect">
            <a:avLst/>
          </a:prstGeom>
          <a:noFill/>
          <a:ln w="19050">
            <a:noFill/>
          </a:ln>
        </p:spPr>
        <p:txBody>
          <a:bodyPr wrap="none">
            <a:spAutoFit/>
          </a:bodyPr>
          <a:lstStyle/>
          <a:p>
            <a:r>
              <a:rPr lang="en-US" altLang="zh-CN" sz="2000" b="1" dirty="0">
                <a:latin typeface="Times New Roman" panose="02020603050405020304" pitchFamily="18" charset="0"/>
              </a:rPr>
              <a:t>CD</a:t>
            </a:r>
          </a:p>
          <a:p>
            <a:r>
              <a:rPr lang="en-US" altLang="zh-CN" sz="2000" b="1" dirty="0">
                <a:latin typeface="Times New Roman" panose="02020603050405020304" pitchFamily="18" charset="0"/>
              </a:rPr>
              <a:t>DE</a:t>
            </a:r>
            <a:endParaRPr lang="en-US" altLang="zh-CN" sz="2800" dirty="0">
              <a:latin typeface="Times New Roman" panose="02020603050405020304" pitchFamily="18" charset="0"/>
            </a:endParaRPr>
          </a:p>
        </p:txBody>
      </p:sp>
      <p:grpSp>
        <p:nvGrpSpPr>
          <p:cNvPr id="3" name="Group 25"/>
          <p:cNvGrpSpPr/>
          <p:nvPr/>
        </p:nvGrpSpPr>
        <p:grpSpPr>
          <a:xfrm>
            <a:off x="4557713" y="2589213"/>
            <a:ext cx="3987800" cy="3773487"/>
            <a:chOff x="1068" y="756"/>
            <a:chExt cx="2808" cy="2808"/>
          </a:xfrm>
        </p:grpSpPr>
        <p:grpSp>
          <p:nvGrpSpPr>
            <p:cNvPr id="41036" name="Group 26"/>
            <p:cNvGrpSpPr/>
            <p:nvPr/>
          </p:nvGrpSpPr>
          <p:grpSpPr>
            <a:xfrm>
              <a:off x="1068" y="3096"/>
              <a:ext cx="2808" cy="468"/>
              <a:chOff x="1068" y="3096"/>
              <a:chExt cx="2808" cy="468"/>
            </a:xfrm>
          </p:grpSpPr>
          <p:sp>
            <p:nvSpPr>
              <p:cNvPr id="41055" name="Rectangle 27"/>
              <p:cNvSpPr/>
              <p:nvPr/>
            </p:nvSpPr>
            <p:spPr>
              <a:xfrm>
                <a:off x="1068"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056" name="Rectangle 28"/>
              <p:cNvSpPr/>
              <p:nvPr/>
            </p:nvSpPr>
            <p:spPr>
              <a:xfrm>
                <a:off x="1536"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057" name="Rectangle 29"/>
              <p:cNvSpPr/>
              <p:nvPr/>
            </p:nvSpPr>
            <p:spPr>
              <a:xfrm>
                <a:off x="2004"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058" name="Rectangle 30"/>
              <p:cNvSpPr/>
              <p:nvPr/>
            </p:nvSpPr>
            <p:spPr>
              <a:xfrm>
                <a:off x="2472"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059" name="Rectangle 31"/>
              <p:cNvSpPr/>
              <p:nvPr/>
            </p:nvSpPr>
            <p:spPr>
              <a:xfrm>
                <a:off x="2940"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060" name="Rectangle 32"/>
              <p:cNvSpPr/>
              <p:nvPr/>
            </p:nvSpPr>
            <p:spPr>
              <a:xfrm>
                <a:off x="3408"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41037" name="Group 33"/>
            <p:cNvGrpSpPr/>
            <p:nvPr/>
          </p:nvGrpSpPr>
          <p:grpSpPr>
            <a:xfrm>
              <a:off x="1068" y="2628"/>
              <a:ext cx="2340" cy="468"/>
              <a:chOff x="1068" y="2628"/>
              <a:chExt cx="2340" cy="468"/>
            </a:xfrm>
          </p:grpSpPr>
          <p:sp>
            <p:nvSpPr>
              <p:cNvPr id="41050" name="Rectangle 34"/>
              <p:cNvSpPr/>
              <p:nvPr/>
            </p:nvSpPr>
            <p:spPr>
              <a:xfrm>
                <a:off x="1068"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051" name="Rectangle 35"/>
              <p:cNvSpPr/>
              <p:nvPr/>
            </p:nvSpPr>
            <p:spPr>
              <a:xfrm>
                <a:off x="1536"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052" name="Rectangle 36"/>
              <p:cNvSpPr/>
              <p:nvPr/>
            </p:nvSpPr>
            <p:spPr>
              <a:xfrm>
                <a:off x="2004"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053" name="Rectangle 37"/>
              <p:cNvSpPr/>
              <p:nvPr/>
            </p:nvSpPr>
            <p:spPr>
              <a:xfrm>
                <a:off x="2472"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054" name="Rectangle 38"/>
              <p:cNvSpPr/>
              <p:nvPr/>
            </p:nvSpPr>
            <p:spPr>
              <a:xfrm>
                <a:off x="2940"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41038" name="Group 39"/>
            <p:cNvGrpSpPr/>
            <p:nvPr/>
          </p:nvGrpSpPr>
          <p:grpSpPr>
            <a:xfrm>
              <a:off x="1068" y="1692"/>
              <a:ext cx="1872" cy="936"/>
              <a:chOff x="1068" y="1692"/>
              <a:chExt cx="1872" cy="936"/>
            </a:xfrm>
          </p:grpSpPr>
          <p:sp>
            <p:nvSpPr>
              <p:cNvPr id="41043" name="Rectangle 40"/>
              <p:cNvSpPr/>
              <p:nvPr/>
            </p:nvSpPr>
            <p:spPr>
              <a:xfrm>
                <a:off x="1068"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044" name="Rectangle 41"/>
              <p:cNvSpPr/>
              <p:nvPr/>
            </p:nvSpPr>
            <p:spPr>
              <a:xfrm>
                <a:off x="1536"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045" name="Rectangle 42"/>
              <p:cNvSpPr/>
              <p:nvPr/>
            </p:nvSpPr>
            <p:spPr>
              <a:xfrm>
                <a:off x="2004"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046" name="Rectangle 43"/>
              <p:cNvSpPr/>
              <p:nvPr/>
            </p:nvSpPr>
            <p:spPr>
              <a:xfrm>
                <a:off x="2472"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047" name="Rectangle 44"/>
              <p:cNvSpPr/>
              <p:nvPr/>
            </p:nvSpPr>
            <p:spPr>
              <a:xfrm>
                <a:off x="1068" y="1692"/>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048" name="Rectangle 45"/>
              <p:cNvSpPr/>
              <p:nvPr/>
            </p:nvSpPr>
            <p:spPr>
              <a:xfrm>
                <a:off x="1536" y="1692"/>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049" name="Rectangle 46"/>
              <p:cNvSpPr/>
              <p:nvPr/>
            </p:nvSpPr>
            <p:spPr>
              <a:xfrm>
                <a:off x="2004" y="1692"/>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41039" name="Group 47"/>
            <p:cNvGrpSpPr/>
            <p:nvPr/>
          </p:nvGrpSpPr>
          <p:grpSpPr>
            <a:xfrm>
              <a:off x="1068" y="756"/>
              <a:ext cx="936" cy="936"/>
              <a:chOff x="1068" y="756"/>
              <a:chExt cx="936" cy="936"/>
            </a:xfrm>
          </p:grpSpPr>
          <p:sp>
            <p:nvSpPr>
              <p:cNvPr id="41040" name="Rectangle 48"/>
              <p:cNvSpPr/>
              <p:nvPr/>
            </p:nvSpPr>
            <p:spPr>
              <a:xfrm>
                <a:off x="1068" y="1224"/>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041" name="Rectangle 49"/>
              <p:cNvSpPr/>
              <p:nvPr/>
            </p:nvSpPr>
            <p:spPr>
              <a:xfrm>
                <a:off x="1536" y="1224"/>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042" name="Rectangle 50"/>
              <p:cNvSpPr/>
              <p:nvPr/>
            </p:nvSpPr>
            <p:spPr>
              <a:xfrm>
                <a:off x="1068" y="75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grpSp>
        <p:nvGrpSpPr>
          <p:cNvPr id="8" name="Group 51"/>
          <p:cNvGrpSpPr/>
          <p:nvPr/>
        </p:nvGrpSpPr>
        <p:grpSpPr>
          <a:xfrm>
            <a:off x="4608513" y="3267075"/>
            <a:ext cx="561975" cy="515938"/>
            <a:chOff x="1608" y="1176"/>
            <a:chExt cx="396" cy="384"/>
          </a:xfrm>
        </p:grpSpPr>
        <p:sp>
          <p:nvSpPr>
            <p:cNvPr id="41034" name="Line 52"/>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35" name="Line 53"/>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9" name="Group 54"/>
          <p:cNvGrpSpPr/>
          <p:nvPr/>
        </p:nvGrpSpPr>
        <p:grpSpPr>
          <a:xfrm>
            <a:off x="4608513" y="3895725"/>
            <a:ext cx="561975" cy="515938"/>
            <a:chOff x="1608" y="1176"/>
            <a:chExt cx="396" cy="384"/>
          </a:xfrm>
        </p:grpSpPr>
        <p:sp>
          <p:nvSpPr>
            <p:cNvPr id="41032" name="Line 5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33" name="Line 5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0" name="Group 57"/>
          <p:cNvGrpSpPr/>
          <p:nvPr/>
        </p:nvGrpSpPr>
        <p:grpSpPr>
          <a:xfrm>
            <a:off x="4608513" y="5153025"/>
            <a:ext cx="561975" cy="515938"/>
            <a:chOff x="1608" y="1176"/>
            <a:chExt cx="396" cy="384"/>
          </a:xfrm>
        </p:grpSpPr>
        <p:sp>
          <p:nvSpPr>
            <p:cNvPr id="41030" name="Line 5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31" name="Line 5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1" name="Group 60"/>
          <p:cNvGrpSpPr/>
          <p:nvPr/>
        </p:nvGrpSpPr>
        <p:grpSpPr>
          <a:xfrm>
            <a:off x="4608513" y="5797550"/>
            <a:ext cx="561975" cy="517525"/>
            <a:chOff x="1608" y="1176"/>
            <a:chExt cx="396" cy="384"/>
          </a:xfrm>
        </p:grpSpPr>
        <p:sp>
          <p:nvSpPr>
            <p:cNvPr id="41028" name="Line 61"/>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29" name="Line 62"/>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2" name="Group 64"/>
          <p:cNvGrpSpPr/>
          <p:nvPr/>
        </p:nvGrpSpPr>
        <p:grpSpPr>
          <a:xfrm>
            <a:off x="5273675" y="3267075"/>
            <a:ext cx="561975" cy="515938"/>
            <a:chOff x="1608" y="1176"/>
            <a:chExt cx="396" cy="384"/>
          </a:xfrm>
        </p:grpSpPr>
        <p:sp>
          <p:nvSpPr>
            <p:cNvPr id="41026" name="Line 6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27" name="Line 6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3" name="Group 67"/>
          <p:cNvGrpSpPr/>
          <p:nvPr/>
        </p:nvGrpSpPr>
        <p:grpSpPr>
          <a:xfrm>
            <a:off x="5273675" y="3911600"/>
            <a:ext cx="561975" cy="515938"/>
            <a:chOff x="1608" y="1176"/>
            <a:chExt cx="396" cy="384"/>
          </a:xfrm>
        </p:grpSpPr>
        <p:sp>
          <p:nvSpPr>
            <p:cNvPr id="41024" name="Line 6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25" name="Line 6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4" name="Group 70"/>
          <p:cNvGrpSpPr/>
          <p:nvPr/>
        </p:nvGrpSpPr>
        <p:grpSpPr>
          <a:xfrm>
            <a:off x="5954713" y="3911600"/>
            <a:ext cx="563562" cy="515938"/>
            <a:chOff x="1608" y="1176"/>
            <a:chExt cx="396" cy="384"/>
          </a:xfrm>
        </p:grpSpPr>
        <p:sp>
          <p:nvSpPr>
            <p:cNvPr id="41022" name="Line 71"/>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23" name="Line 72"/>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5" name="Group 73"/>
          <p:cNvGrpSpPr/>
          <p:nvPr/>
        </p:nvGrpSpPr>
        <p:grpSpPr>
          <a:xfrm>
            <a:off x="5938838" y="4540250"/>
            <a:ext cx="561975" cy="515938"/>
            <a:chOff x="1608" y="1176"/>
            <a:chExt cx="396" cy="384"/>
          </a:xfrm>
        </p:grpSpPr>
        <p:sp>
          <p:nvSpPr>
            <p:cNvPr id="41020" name="Line 74"/>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21" name="Line 75"/>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6" name="Group 76"/>
          <p:cNvGrpSpPr/>
          <p:nvPr/>
        </p:nvGrpSpPr>
        <p:grpSpPr>
          <a:xfrm>
            <a:off x="6602413" y="4540250"/>
            <a:ext cx="561975" cy="515938"/>
            <a:chOff x="1608" y="1176"/>
            <a:chExt cx="396" cy="384"/>
          </a:xfrm>
        </p:grpSpPr>
        <p:sp>
          <p:nvSpPr>
            <p:cNvPr id="41018" name="Line 77"/>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19" name="Line 78"/>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7" name="Group 79"/>
          <p:cNvGrpSpPr/>
          <p:nvPr/>
        </p:nvGrpSpPr>
        <p:grpSpPr>
          <a:xfrm>
            <a:off x="6584950" y="5153025"/>
            <a:ext cx="563563" cy="515938"/>
            <a:chOff x="1608" y="1176"/>
            <a:chExt cx="396" cy="384"/>
          </a:xfrm>
        </p:grpSpPr>
        <p:sp>
          <p:nvSpPr>
            <p:cNvPr id="41016" name="Line 80"/>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17" name="Line 81"/>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8" name="Group 82"/>
          <p:cNvGrpSpPr/>
          <p:nvPr/>
        </p:nvGrpSpPr>
        <p:grpSpPr>
          <a:xfrm>
            <a:off x="7250113" y="5168900"/>
            <a:ext cx="561975" cy="515938"/>
            <a:chOff x="1608" y="1176"/>
            <a:chExt cx="396" cy="384"/>
          </a:xfrm>
        </p:grpSpPr>
        <p:sp>
          <p:nvSpPr>
            <p:cNvPr id="41014" name="Line 83"/>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15" name="Line 84"/>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9" name="Group 85"/>
          <p:cNvGrpSpPr/>
          <p:nvPr/>
        </p:nvGrpSpPr>
        <p:grpSpPr>
          <a:xfrm>
            <a:off x="5273675" y="5168900"/>
            <a:ext cx="561975" cy="515938"/>
            <a:chOff x="1608" y="1176"/>
            <a:chExt cx="396" cy="384"/>
          </a:xfrm>
        </p:grpSpPr>
        <p:sp>
          <p:nvSpPr>
            <p:cNvPr id="41012" name="Line 86"/>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13" name="Line 87"/>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20" name="Group 88"/>
          <p:cNvGrpSpPr/>
          <p:nvPr/>
        </p:nvGrpSpPr>
        <p:grpSpPr>
          <a:xfrm>
            <a:off x="5273675" y="5797550"/>
            <a:ext cx="561975" cy="517525"/>
            <a:chOff x="1608" y="1176"/>
            <a:chExt cx="396" cy="384"/>
          </a:xfrm>
        </p:grpSpPr>
        <p:sp>
          <p:nvSpPr>
            <p:cNvPr id="41010" name="Line 89"/>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11" name="Line 90"/>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21" name="Group 91"/>
          <p:cNvGrpSpPr/>
          <p:nvPr/>
        </p:nvGrpSpPr>
        <p:grpSpPr>
          <a:xfrm>
            <a:off x="5954713" y="5797550"/>
            <a:ext cx="563562" cy="517525"/>
            <a:chOff x="1608" y="1176"/>
            <a:chExt cx="396" cy="384"/>
          </a:xfrm>
        </p:grpSpPr>
        <p:sp>
          <p:nvSpPr>
            <p:cNvPr id="41008" name="Line 92"/>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09" name="Line 93"/>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22" name="Group 94"/>
          <p:cNvGrpSpPr/>
          <p:nvPr/>
        </p:nvGrpSpPr>
        <p:grpSpPr>
          <a:xfrm>
            <a:off x="7250113" y="5797550"/>
            <a:ext cx="561975" cy="517525"/>
            <a:chOff x="1608" y="1176"/>
            <a:chExt cx="396" cy="384"/>
          </a:xfrm>
        </p:grpSpPr>
        <p:sp>
          <p:nvSpPr>
            <p:cNvPr id="41006" name="Line 9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07" name="Line 9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23" name="Group 97"/>
          <p:cNvGrpSpPr/>
          <p:nvPr/>
        </p:nvGrpSpPr>
        <p:grpSpPr>
          <a:xfrm>
            <a:off x="7932738" y="5815013"/>
            <a:ext cx="561975" cy="515937"/>
            <a:chOff x="1608" y="1176"/>
            <a:chExt cx="396" cy="384"/>
          </a:xfrm>
        </p:grpSpPr>
        <p:sp>
          <p:nvSpPr>
            <p:cNvPr id="41004" name="Line 9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005" name="Line 9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24" name="Group 100"/>
          <p:cNvGrpSpPr/>
          <p:nvPr/>
        </p:nvGrpSpPr>
        <p:grpSpPr>
          <a:xfrm>
            <a:off x="6005513" y="5218113"/>
            <a:ext cx="495300" cy="434975"/>
            <a:chOff x="2592" y="2628"/>
            <a:chExt cx="348" cy="324"/>
          </a:xfrm>
        </p:grpSpPr>
        <p:sp>
          <p:nvSpPr>
            <p:cNvPr id="41002" name="Line 101"/>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41003" name="Line 102"/>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25" name="Group 117"/>
          <p:cNvGrpSpPr/>
          <p:nvPr/>
        </p:nvGrpSpPr>
        <p:grpSpPr>
          <a:xfrm>
            <a:off x="84138" y="1277938"/>
            <a:ext cx="4044950" cy="5124450"/>
            <a:chOff x="2912" y="600"/>
            <a:chExt cx="2548" cy="3228"/>
          </a:xfrm>
        </p:grpSpPr>
        <p:sp>
          <p:nvSpPr>
            <p:cNvPr id="40989" name="Line 104"/>
            <p:cNvSpPr/>
            <p:nvPr/>
          </p:nvSpPr>
          <p:spPr>
            <a:xfrm>
              <a:off x="2977" y="600"/>
              <a:ext cx="2463" cy="0"/>
            </a:xfrm>
            <a:prstGeom prst="line">
              <a:avLst/>
            </a:prstGeom>
            <a:ln w="38100" cap="flat" cmpd="sng">
              <a:solidFill>
                <a:schemeClr val="tx1"/>
              </a:solidFill>
              <a:prstDash val="solid"/>
              <a:headEnd type="none" w="med" len="med"/>
              <a:tailEnd type="none" w="sm" len="lg"/>
            </a:ln>
          </p:spPr>
        </p:sp>
        <p:sp>
          <p:nvSpPr>
            <p:cNvPr id="40990" name="Line 105"/>
            <p:cNvSpPr/>
            <p:nvPr/>
          </p:nvSpPr>
          <p:spPr>
            <a:xfrm>
              <a:off x="2998" y="3814"/>
              <a:ext cx="2462" cy="0"/>
            </a:xfrm>
            <a:prstGeom prst="line">
              <a:avLst/>
            </a:prstGeom>
            <a:ln w="38100" cap="flat" cmpd="sng">
              <a:solidFill>
                <a:schemeClr val="tx1"/>
              </a:solidFill>
              <a:prstDash val="solid"/>
              <a:headEnd type="none" w="med" len="med"/>
              <a:tailEnd type="none" w="sm" len="lg"/>
            </a:ln>
          </p:spPr>
        </p:sp>
        <p:sp>
          <p:nvSpPr>
            <p:cNvPr id="40991" name="Line 106"/>
            <p:cNvSpPr/>
            <p:nvPr/>
          </p:nvSpPr>
          <p:spPr>
            <a:xfrm>
              <a:off x="3568" y="600"/>
              <a:ext cx="0" cy="3214"/>
            </a:xfrm>
            <a:prstGeom prst="line">
              <a:avLst/>
            </a:prstGeom>
            <a:ln w="19050" cap="flat" cmpd="sng">
              <a:solidFill>
                <a:schemeClr val="tx1"/>
              </a:solidFill>
              <a:prstDash val="solid"/>
              <a:headEnd type="none" w="med" len="med"/>
              <a:tailEnd type="none" w="sm" len="lg"/>
            </a:ln>
          </p:spPr>
        </p:sp>
        <p:sp>
          <p:nvSpPr>
            <p:cNvPr id="40992" name="Line 107"/>
            <p:cNvSpPr/>
            <p:nvPr/>
          </p:nvSpPr>
          <p:spPr>
            <a:xfrm>
              <a:off x="4454" y="1093"/>
              <a:ext cx="0" cy="2735"/>
            </a:xfrm>
            <a:prstGeom prst="line">
              <a:avLst/>
            </a:prstGeom>
            <a:ln w="19050" cap="flat" cmpd="sng">
              <a:solidFill>
                <a:schemeClr val="tx1"/>
              </a:solidFill>
              <a:prstDash val="solid"/>
              <a:headEnd type="none" w="med" len="med"/>
              <a:tailEnd type="none" w="sm" len="lg"/>
            </a:ln>
          </p:spPr>
        </p:sp>
        <p:sp>
          <p:nvSpPr>
            <p:cNvPr id="40993" name="Line 108"/>
            <p:cNvSpPr/>
            <p:nvPr/>
          </p:nvSpPr>
          <p:spPr>
            <a:xfrm>
              <a:off x="3568" y="1079"/>
              <a:ext cx="1865" cy="0"/>
            </a:xfrm>
            <a:prstGeom prst="line">
              <a:avLst/>
            </a:prstGeom>
            <a:ln w="12700" cap="flat" cmpd="sng">
              <a:solidFill>
                <a:schemeClr val="tx1"/>
              </a:solidFill>
              <a:prstDash val="solid"/>
              <a:headEnd type="none" w="med" len="med"/>
              <a:tailEnd type="none" w="sm" len="lg"/>
            </a:ln>
          </p:spPr>
        </p:sp>
        <p:sp>
          <p:nvSpPr>
            <p:cNvPr id="40994" name="Line 109"/>
            <p:cNvSpPr/>
            <p:nvPr/>
          </p:nvSpPr>
          <p:spPr>
            <a:xfrm>
              <a:off x="2964" y="1460"/>
              <a:ext cx="2462" cy="0"/>
            </a:xfrm>
            <a:prstGeom prst="line">
              <a:avLst/>
            </a:prstGeom>
            <a:ln w="12700" cap="flat" cmpd="sng">
              <a:solidFill>
                <a:schemeClr val="tx1"/>
              </a:solidFill>
              <a:prstDash val="solid"/>
              <a:headEnd type="none" w="med" len="med"/>
              <a:tailEnd type="none" w="sm" len="lg"/>
            </a:ln>
          </p:spPr>
        </p:sp>
        <p:sp>
          <p:nvSpPr>
            <p:cNvPr id="40995" name="Text Box 110"/>
            <p:cNvSpPr txBox="1"/>
            <p:nvPr/>
          </p:nvSpPr>
          <p:spPr>
            <a:xfrm>
              <a:off x="2912" y="860"/>
              <a:ext cx="564" cy="327"/>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40996" name="Text Box 111"/>
            <p:cNvSpPr txBox="1"/>
            <p:nvPr/>
          </p:nvSpPr>
          <p:spPr>
            <a:xfrm>
              <a:off x="3924" y="672"/>
              <a:ext cx="1074"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40997" name="Text Box 112"/>
            <p:cNvSpPr txBox="1"/>
            <p:nvPr/>
          </p:nvSpPr>
          <p:spPr>
            <a:xfrm>
              <a:off x="3844" y="1058"/>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40998" name="Text Box 113"/>
            <p:cNvSpPr txBox="1"/>
            <p:nvPr/>
          </p:nvSpPr>
          <p:spPr>
            <a:xfrm>
              <a:off x="4770" y="1058"/>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40999" name="Text Box 114"/>
            <p:cNvSpPr txBox="1"/>
            <p:nvPr/>
          </p:nvSpPr>
          <p:spPr>
            <a:xfrm>
              <a:off x="3072" y="1509"/>
              <a:ext cx="278" cy="1941"/>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A</a:t>
              </a:r>
            </a:p>
            <a:p>
              <a:pPr algn="ctr"/>
              <a:r>
                <a:rPr lang="en-US" altLang="zh-CN" sz="2800" dirty="0">
                  <a:latin typeface="Times New Roman" panose="02020603050405020304" pitchFamily="18" charset="0"/>
                </a:rPr>
                <a:t>B</a:t>
              </a:r>
            </a:p>
            <a:p>
              <a:pPr algn="ctr"/>
              <a:r>
                <a:rPr lang="en-US" altLang="zh-CN" sz="2800" dirty="0">
                  <a:latin typeface="Times New Roman" panose="02020603050405020304" pitchFamily="18" charset="0"/>
                </a:rPr>
                <a:t>C</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E</a:t>
              </a:r>
            </a:p>
            <a:p>
              <a:pPr algn="ctr"/>
              <a:r>
                <a:rPr lang="en-US" altLang="zh-CN" sz="2800" dirty="0">
                  <a:latin typeface="Times New Roman" panose="02020603050405020304" pitchFamily="18" charset="0"/>
                </a:rPr>
                <a:t>F</a:t>
              </a:r>
            </a:p>
            <a:p>
              <a:pPr algn="ctr"/>
              <a:r>
                <a:rPr lang="en-US" altLang="zh-CN" sz="2800" dirty="0">
                  <a:latin typeface="Times New Roman" panose="02020603050405020304" pitchFamily="18" charset="0"/>
                </a:rPr>
                <a:t>G</a:t>
              </a:r>
              <a:endParaRPr lang="en-US" altLang="zh-CN" sz="2800" baseline="-25000" dirty="0">
                <a:latin typeface="Times New Roman" panose="02020603050405020304" pitchFamily="18" charset="0"/>
              </a:endParaRPr>
            </a:p>
          </p:txBody>
        </p:sp>
        <p:sp>
          <p:nvSpPr>
            <p:cNvPr id="41000" name="Text Box 115"/>
            <p:cNvSpPr txBox="1"/>
            <p:nvPr/>
          </p:nvSpPr>
          <p:spPr>
            <a:xfrm>
              <a:off x="3745" y="1509"/>
              <a:ext cx="452" cy="1941"/>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F/0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p>
            <a:p>
              <a:pPr algn="ctr"/>
              <a:r>
                <a:rPr lang="en-US" altLang="zh-CN" sz="2800" dirty="0">
                  <a:latin typeface="Times New Roman" panose="02020603050405020304" pitchFamily="18" charset="0"/>
                </a:rPr>
                <a:t>D/1</a:t>
              </a:r>
            </a:p>
            <a:p>
              <a:pPr algn="ctr"/>
              <a:r>
                <a:rPr lang="en-US" altLang="zh-CN" sz="2800" dirty="0">
                  <a:latin typeface="Times New Roman" panose="02020603050405020304" pitchFamily="18" charset="0"/>
                </a:rPr>
                <a:t>C/0</a:t>
              </a:r>
            </a:p>
            <a:p>
              <a:pPr algn="ctr"/>
              <a:r>
                <a:rPr lang="en-US" altLang="zh-CN" sz="2800" dirty="0">
                  <a:latin typeface="Times New Roman" panose="02020603050405020304" pitchFamily="18" charset="0"/>
                </a:rPr>
                <a:t>D/0</a:t>
              </a:r>
            </a:p>
            <a:p>
              <a:pPr algn="ctr"/>
              <a:r>
                <a:rPr lang="en-US" altLang="zh-CN" sz="2800" dirty="0">
                  <a:latin typeface="Times New Roman" panose="02020603050405020304" pitchFamily="18" charset="0"/>
                </a:rPr>
                <a:t>C/1</a:t>
              </a:r>
            </a:p>
          </p:txBody>
        </p:sp>
        <p:sp>
          <p:nvSpPr>
            <p:cNvPr id="41001" name="Text Box 116"/>
            <p:cNvSpPr txBox="1"/>
            <p:nvPr/>
          </p:nvSpPr>
          <p:spPr>
            <a:xfrm>
              <a:off x="4671" y="1509"/>
              <a:ext cx="452" cy="1941"/>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B/1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G/0</a:t>
              </a:r>
            </a:p>
            <a:p>
              <a:pPr algn="ctr"/>
              <a:r>
                <a:rPr lang="en-US" altLang="zh-CN" sz="2800" dirty="0">
                  <a:latin typeface="Times New Roman" panose="02020603050405020304" pitchFamily="18" charset="0"/>
                </a:rPr>
                <a:t>E/0</a:t>
              </a:r>
            </a:p>
            <a:p>
              <a:pPr algn="ctr"/>
              <a:r>
                <a:rPr lang="en-US" altLang="zh-CN" sz="2800" dirty="0">
                  <a:latin typeface="Times New Roman" panose="02020603050405020304" pitchFamily="18" charset="0"/>
                </a:rPr>
                <a:t>E/1</a:t>
              </a:r>
            </a:p>
            <a:p>
              <a:pPr algn="ctr"/>
              <a:r>
                <a:rPr lang="en-US" altLang="zh-CN" sz="2800" dirty="0">
                  <a:latin typeface="Times New Roman" panose="02020603050405020304" pitchFamily="18" charset="0"/>
                </a:rPr>
                <a:t>G/0</a:t>
              </a:r>
            </a:p>
            <a:p>
              <a:pPr algn="ctr"/>
              <a:r>
                <a:rPr lang="en-US" altLang="zh-CN" sz="2800" dirty="0">
                  <a:latin typeface="Times New Roman" panose="02020603050405020304" pitchFamily="18" charset="0"/>
                </a:rPr>
                <a:t>D/0</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to="" calcmode="lin" valueType="num">
                                      <p:cBhvr>
                                        <p:cTn id="7" dur="1" fill="hold"/>
                                        <p:tgtEl>
                                          <p:spTgt spid="25"/>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3060"/>
                                        </p:tgtEl>
                                        <p:attrNameLst>
                                          <p:attrName>style.visibility</p:attrName>
                                        </p:attrNameLst>
                                      </p:cBhvr>
                                      <p:to>
                                        <p:strVal val="visible"/>
                                      </p:to>
                                    </p:set>
                                    <p:animEffect transition="in" filter="wipe(left)">
                                      <p:cBhvr>
                                        <p:cTn id="12" dur="500"/>
                                        <p:tgtEl>
                                          <p:spTgt spid="17306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173063"/>
                                        </p:tgtEl>
                                        <p:attrNameLst>
                                          <p:attrName>style.visibility</p:attrName>
                                        </p:attrNameLst>
                                      </p:cBhvr>
                                      <p:to>
                                        <p:strVal val="visible"/>
                                      </p:to>
                                    </p:set>
                                    <p:animEffect transition="in" filter="blinds(vertical)">
                                      <p:cBhvr>
                                        <p:cTn id="27" dur="500"/>
                                        <p:tgtEl>
                                          <p:spTgt spid="17306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3077"/>
                                        </p:tgtEl>
                                        <p:attrNameLst>
                                          <p:attrName>style.visibility</p:attrName>
                                        </p:attrNameLst>
                                      </p:cBhvr>
                                      <p:to>
                                        <p:strVal val="visible"/>
                                      </p:to>
                                    </p:set>
                                    <p:animEffect transition="in" filter="wipe(left)">
                                      <p:cBhvr>
                                        <p:cTn id="32" dur="500"/>
                                        <p:tgtEl>
                                          <p:spTgt spid="17307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73078"/>
                                        </p:tgtEl>
                                        <p:attrNameLst>
                                          <p:attrName>style.visibility</p:attrName>
                                        </p:attrNameLst>
                                      </p:cBhvr>
                                      <p:to>
                                        <p:strVal val="visible"/>
                                      </p:to>
                                    </p:set>
                                    <p:animEffect transition="in" filter="wipe(left)">
                                      <p:cBhvr>
                                        <p:cTn id="47" dur="500"/>
                                        <p:tgtEl>
                                          <p:spTgt spid="17307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left)">
                                      <p:cBhvr>
                                        <p:cTn id="52" dur="5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wipe(left)">
                                      <p:cBhvr>
                                        <p:cTn id="57" dur="500"/>
                                        <p:tgtEl>
                                          <p:spTgt spid="11"/>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blinds(horizontal)">
                                      <p:cBhvr>
                                        <p:cTn id="62" dur="500"/>
                                        <p:tgtEl>
                                          <p:spTgt spid="12"/>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blinds(horizontal)">
                                      <p:cBhvr>
                                        <p:cTn id="67" dur="500"/>
                                        <p:tgtEl>
                                          <p:spTgt spid="1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73079"/>
                                        </p:tgtEl>
                                        <p:attrNameLst>
                                          <p:attrName>style.visibility</p:attrName>
                                        </p:attrNameLst>
                                      </p:cBhvr>
                                      <p:to>
                                        <p:strVal val="visible"/>
                                      </p:to>
                                    </p:set>
                                    <p:animEffect transition="in" filter="wipe(left)">
                                      <p:cBhvr>
                                        <p:cTn id="72" dur="500"/>
                                        <p:tgtEl>
                                          <p:spTgt spid="173079"/>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blinds(horizontal)">
                                      <p:cBhvr>
                                        <p:cTn id="77" dur="5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blinds(horizontal)">
                                      <p:cBhvr>
                                        <p:cTn id="82" dur="500"/>
                                        <p:tgtEl>
                                          <p:spTgt spid="20"/>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14"/>
                                        </p:tgtEl>
                                        <p:attrNameLst>
                                          <p:attrName>style.visibility</p:attrName>
                                        </p:attrNameLst>
                                      </p:cBhvr>
                                      <p:to>
                                        <p:strVal val="visible"/>
                                      </p:to>
                                    </p:set>
                                    <p:animEffect transition="in" filter="blinds(horizontal)">
                                      <p:cBhvr>
                                        <p:cTn id="87" dur="500"/>
                                        <p:tgtEl>
                                          <p:spTgt spid="14"/>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15"/>
                                        </p:tgtEl>
                                        <p:attrNameLst>
                                          <p:attrName>style.visibility</p:attrName>
                                        </p:attrNameLst>
                                      </p:cBhvr>
                                      <p:to>
                                        <p:strVal val="visible"/>
                                      </p:to>
                                    </p:set>
                                    <p:animEffect transition="in" filter="blinds(horizontal)">
                                      <p:cBhvr>
                                        <p:cTn id="92" dur="500"/>
                                        <p:tgtEl>
                                          <p:spTgt spid="15"/>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24"/>
                                        </p:tgtEl>
                                        <p:attrNameLst>
                                          <p:attrName>style.visibility</p:attrName>
                                        </p:attrNameLst>
                                      </p:cBhvr>
                                      <p:to>
                                        <p:strVal val="visible"/>
                                      </p:to>
                                    </p:set>
                                    <p:animEffect transition="in" filter="wipe(left)">
                                      <p:cBhvr>
                                        <p:cTn id="97" dur="500"/>
                                        <p:tgtEl>
                                          <p:spTgt spid="24"/>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blinds(horizontal)">
                                      <p:cBhvr>
                                        <p:cTn id="102" dur="500"/>
                                        <p:tgtEl>
                                          <p:spTgt spid="21"/>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nodeType="clickEffect">
                                  <p:stCondLst>
                                    <p:cond delay="0"/>
                                  </p:stCondLst>
                                  <p:childTnLst>
                                    <p:set>
                                      <p:cBhvr>
                                        <p:cTn id="106" dur="1" fill="hold">
                                          <p:stCondLst>
                                            <p:cond delay="0"/>
                                          </p:stCondLst>
                                        </p:cTn>
                                        <p:tgtEl>
                                          <p:spTgt spid="16"/>
                                        </p:tgtEl>
                                        <p:attrNameLst>
                                          <p:attrName>style.visibility</p:attrName>
                                        </p:attrNameLst>
                                      </p:cBhvr>
                                      <p:to>
                                        <p:strVal val="visible"/>
                                      </p:to>
                                    </p:set>
                                    <p:animEffect transition="in" filter="blinds(horizontal)">
                                      <p:cBhvr>
                                        <p:cTn id="107" dur="500"/>
                                        <p:tgtEl>
                                          <p:spTgt spid="16"/>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nodeType="clickEffect">
                                  <p:stCondLst>
                                    <p:cond delay="0"/>
                                  </p:stCondLst>
                                  <p:childTnLst>
                                    <p:set>
                                      <p:cBhvr>
                                        <p:cTn id="111" dur="1" fill="hold">
                                          <p:stCondLst>
                                            <p:cond delay="0"/>
                                          </p:stCondLst>
                                        </p:cTn>
                                        <p:tgtEl>
                                          <p:spTgt spid="17"/>
                                        </p:tgtEl>
                                        <p:attrNameLst>
                                          <p:attrName>style.visibility</p:attrName>
                                        </p:attrNameLst>
                                      </p:cBhvr>
                                      <p:to>
                                        <p:strVal val="visible"/>
                                      </p:to>
                                    </p:set>
                                    <p:animEffect transition="in" filter="blinds(horizontal)">
                                      <p:cBhvr>
                                        <p:cTn id="112" dur="500"/>
                                        <p:tgtEl>
                                          <p:spTgt spid="17"/>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173080"/>
                                        </p:tgtEl>
                                        <p:attrNameLst>
                                          <p:attrName>style.visibility</p:attrName>
                                        </p:attrNameLst>
                                      </p:cBhvr>
                                      <p:to>
                                        <p:strVal val="visible"/>
                                      </p:to>
                                    </p:set>
                                    <p:animEffect transition="in" filter="wipe(left)">
                                      <p:cBhvr>
                                        <p:cTn id="117" dur="500"/>
                                        <p:tgtEl>
                                          <p:spTgt spid="173080"/>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nodeType="clickEffect">
                                  <p:stCondLst>
                                    <p:cond delay="0"/>
                                  </p:stCondLst>
                                  <p:childTnLst>
                                    <p:set>
                                      <p:cBhvr>
                                        <p:cTn id="121" dur="1" fill="hold">
                                          <p:stCondLst>
                                            <p:cond delay="0"/>
                                          </p:stCondLst>
                                        </p:cTn>
                                        <p:tgtEl>
                                          <p:spTgt spid="18"/>
                                        </p:tgtEl>
                                        <p:attrNameLst>
                                          <p:attrName>style.visibility</p:attrName>
                                        </p:attrNameLst>
                                      </p:cBhvr>
                                      <p:to>
                                        <p:strVal val="visible"/>
                                      </p:to>
                                    </p:set>
                                    <p:animEffect transition="in" filter="blinds(horizontal)">
                                      <p:cBhvr>
                                        <p:cTn id="122" dur="500"/>
                                        <p:tgtEl>
                                          <p:spTgt spid="18"/>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nodeType="clickEffect">
                                  <p:stCondLst>
                                    <p:cond delay="0"/>
                                  </p:stCondLst>
                                  <p:childTnLst>
                                    <p:set>
                                      <p:cBhvr>
                                        <p:cTn id="126" dur="1" fill="hold">
                                          <p:stCondLst>
                                            <p:cond delay="0"/>
                                          </p:stCondLst>
                                        </p:cTn>
                                        <p:tgtEl>
                                          <p:spTgt spid="22"/>
                                        </p:tgtEl>
                                        <p:attrNameLst>
                                          <p:attrName>style.visibility</p:attrName>
                                        </p:attrNameLst>
                                      </p:cBhvr>
                                      <p:to>
                                        <p:strVal val="visible"/>
                                      </p:to>
                                    </p:set>
                                    <p:animEffect transition="in" filter="blinds(horizontal)">
                                      <p:cBhvr>
                                        <p:cTn id="127" dur="500"/>
                                        <p:tgtEl>
                                          <p:spTgt spid="22"/>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nodeType="clickEffect">
                                  <p:stCondLst>
                                    <p:cond delay="0"/>
                                  </p:stCondLst>
                                  <p:childTnLst>
                                    <p:set>
                                      <p:cBhvr>
                                        <p:cTn id="131" dur="1" fill="hold">
                                          <p:stCondLst>
                                            <p:cond delay="0"/>
                                          </p:stCondLst>
                                        </p:cTn>
                                        <p:tgtEl>
                                          <p:spTgt spid="23"/>
                                        </p:tgtEl>
                                        <p:attrNameLst>
                                          <p:attrName>style.visibility</p:attrName>
                                        </p:attrNameLst>
                                      </p:cBhvr>
                                      <p:to>
                                        <p:strVal val="visible"/>
                                      </p:to>
                                    </p:set>
                                    <p:animEffect transition="in" filter="blinds(horizontal)">
                                      <p:cBhvr>
                                        <p:cTn id="13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0" grpId="0"/>
      <p:bldP spid="173063" grpId="0"/>
      <p:bldP spid="173077" grpId="0"/>
      <p:bldP spid="173078" grpId="0"/>
      <p:bldP spid="173079" grpId="0"/>
      <p:bldP spid="173080"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Line 2"/>
          <p:cNvSpPr/>
          <p:nvPr/>
        </p:nvSpPr>
        <p:spPr>
          <a:xfrm flipV="1">
            <a:off x="3103563" y="3941763"/>
            <a:ext cx="463550" cy="469900"/>
          </a:xfrm>
          <a:prstGeom prst="line">
            <a:avLst/>
          </a:prstGeom>
          <a:ln w="19050" cap="flat" cmpd="sng">
            <a:solidFill>
              <a:srgbClr val="3333FF"/>
            </a:solidFill>
            <a:prstDash val="solid"/>
            <a:headEnd type="none" w="med" len="med"/>
            <a:tailEnd type="none" w="sm" len="lg"/>
          </a:ln>
        </p:spPr>
      </p:sp>
      <p:grpSp>
        <p:nvGrpSpPr>
          <p:cNvPr id="41987" name="Group 3"/>
          <p:cNvGrpSpPr/>
          <p:nvPr/>
        </p:nvGrpSpPr>
        <p:grpSpPr>
          <a:xfrm>
            <a:off x="820738" y="703263"/>
            <a:ext cx="4098925" cy="4283075"/>
            <a:chOff x="2398" y="456"/>
            <a:chExt cx="2582" cy="2698"/>
          </a:xfrm>
        </p:grpSpPr>
        <p:grpSp>
          <p:nvGrpSpPr>
            <p:cNvPr id="41999" name="Group 4"/>
            <p:cNvGrpSpPr/>
            <p:nvPr/>
          </p:nvGrpSpPr>
          <p:grpSpPr>
            <a:xfrm>
              <a:off x="2621" y="456"/>
              <a:ext cx="2359" cy="2386"/>
              <a:chOff x="1068" y="756"/>
              <a:chExt cx="2808" cy="2808"/>
            </a:xfrm>
          </p:grpSpPr>
          <p:grpSp>
            <p:nvGrpSpPr>
              <p:cNvPr id="42069" name="Group 5"/>
              <p:cNvGrpSpPr/>
              <p:nvPr/>
            </p:nvGrpSpPr>
            <p:grpSpPr>
              <a:xfrm>
                <a:off x="1068" y="3096"/>
                <a:ext cx="2808" cy="468"/>
                <a:chOff x="1068" y="3096"/>
                <a:chExt cx="2808" cy="468"/>
              </a:xfrm>
            </p:grpSpPr>
            <p:sp>
              <p:nvSpPr>
                <p:cNvPr id="42088" name="Rectangle 6"/>
                <p:cNvSpPr/>
                <p:nvPr/>
              </p:nvSpPr>
              <p:spPr>
                <a:xfrm>
                  <a:off x="1068"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2089" name="Rectangle 7"/>
                <p:cNvSpPr/>
                <p:nvPr/>
              </p:nvSpPr>
              <p:spPr>
                <a:xfrm>
                  <a:off x="1536"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2090" name="Rectangle 8"/>
                <p:cNvSpPr/>
                <p:nvPr/>
              </p:nvSpPr>
              <p:spPr>
                <a:xfrm>
                  <a:off x="2004"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2091" name="Rectangle 9"/>
                <p:cNvSpPr/>
                <p:nvPr/>
              </p:nvSpPr>
              <p:spPr>
                <a:xfrm>
                  <a:off x="2472"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2092" name="Rectangle 10"/>
                <p:cNvSpPr/>
                <p:nvPr/>
              </p:nvSpPr>
              <p:spPr>
                <a:xfrm>
                  <a:off x="2940"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2093" name="Rectangle 11"/>
                <p:cNvSpPr/>
                <p:nvPr/>
              </p:nvSpPr>
              <p:spPr>
                <a:xfrm>
                  <a:off x="3408" y="309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42070" name="Group 12"/>
              <p:cNvGrpSpPr/>
              <p:nvPr/>
            </p:nvGrpSpPr>
            <p:grpSpPr>
              <a:xfrm>
                <a:off x="1068" y="2628"/>
                <a:ext cx="2340" cy="468"/>
                <a:chOff x="1068" y="2628"/>
                <a:chExt cx="2340" cy="468"/>
              </a:xfrm>
            </p:grpSpPr>
            <p:sp>
              <p:nvSpPr>
                <p:cNvPr id="42083" name="Rectangle 13"/>
                <p:cNvSpPr/>
                <p:nvPr/>
              </p:nvSpPr>
              <p:spPr>
                <a:xfrm>
                  <a:off x="1068"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2084" name="Rectangle 14"/>
                <p:cNvSpPr/>
                <p:nvPr/>
              </p:nvSpPr>
              <p:spPr>
                <a:xfrm>
                  <a:off x="1536"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2085" name="Rectangle 15"/>
                <p:cNvSpPr/>
                <p:nvPr/>
              </p:nvSpPr>
              <p:spPr>
                <a:xfrm>
                  <a:off x="2004"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2086" name="Rectangle 16"/>
                <p:cNvSpPr/>
                <p:nvPr/>
              </p:nvSpPr>
              <p:spPr>
                <a:xfrm>
                  <a:off x="2472"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2087" name="Rectangle 17"/>
                <p:cNvSpPr/>
                <p:nvPr/>
              </p:nvSpPr>
              <p:spPr>
                <a:xfrm>
                  <a:off x="2940" y="2628"/>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42071" name="Group 18"/>
              <p:cNvGrpSpPr/>
              <p:nvPr/>
            </p:nvGrpSpPr>
            <p:grpSpPr>
              <a:xfrm>
                <a:off x="1068" y="1692"/>
                <a:ext cx="1872" cy="936"/>
                <a:chOff x="1068" y="1692"/>
                <a:chExt cx="1872" cy="936"/>
              </a:xfrm>
            </p:grpSpPr>
            <p:sp>
              <p:nvSpPr>
                <p:cNvPr id="42076" name="Rectangle 19"/>
                <p:cNvSpPr/>
                <p:nvPr/>
              </p:nvSpPr>
              <p:spPr>
                <a:xfrm>
                  <a:off x="1068"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2077" name="Rectangle 20"/>
                <p:cNvSpPr/>
                <p:nvPr/>
              </p:nvSpPr>
              <p:spPr>
                <a:xfrm>
                  <a:off x="1536"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2078" name="Rectangle 21"/>
                <p:cNvSpPr/>
                <p:nvPr/>
              </p:nvSpPr>
              <p:spPr>
                <a:xfrm>
                  <a:off x="2004"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2079" name="Rectangle 22"/>
                <p:cNvSpPr/>
                <p:nvPr/>
              </p:nvSpPr>
              <p:spPr>
                <a:xfrm>
                  <a:off x="2472" y="2160"/>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2080" name="Rectangle 23"/>
                <p:cNvSpPr/>
                <p:nvPr/>
              </p:nvSpPr>
              <p:spPr>
                <a:xfrm>
                  <a:off x="1068" y="1692"/>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2081" name="Rectangle 24"/>
                <p:cNvSpPr/>
                <p:nvPr/>
              </p:nvSpPr>
              <p:spPr>
                <a:xfrm>
                  <a:off x="1536" y="1692"/>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2082" name="Rectangle 25"/>
                <p:cNvSpPr/>
                <p:nvPr/>
              </p:nvSpPr>
              <p:spPr>
                <a:xfrm>
                  <a:off x="2004" y="1692"/>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42072" name="Group 26"/>
              <p:cNvGrpSpPr/>
              <p:nvPr/>
            </p:nvGrpSpPr>
            <p:grpSpPr>
              <a:xfrm>
                <a:off x="1068" y="756"/>
                <a:ext cx="936" cy="936"/>
                <a:chOff x="1068" y="756"/>
                <a:chExt cx="936" cy="936"/>
              </a:xfrm>
            </p:grpSpPr>
            <p:sp>
              <p:nvSpPr>
                <p:cNvPr id="42073" name="Rectangle 27"/>
                <p:cNvSpPr/>
                <p:nvPr/>
              </p:nvSpPr>
              <p:spPr>
                <a:xfrm>
                  <a:off x="1068" y="1224"/>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2074" name="Rectangle 28"/>
                <p:cNvSpPr/>
                <p:nvPr/>
              </p:nvSpPr>
              <p:spPr>
                <a:xfrm>
                  <a:off x="1536" y="1224"/>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2075" name="Rectangle 29"/>
                <p:cNvSpPr/>
                <p:nvPr/>
              </p:nvSpPr>
              <p:spPr>
                <a:xfrm>
                  <a:off x="1068" y="75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sp>
          <p:nvSpPr>
            <p:cNvPr id="42000" name="Text Box 30"/>
            <p:cNvSpPr txBox="1"/>
            <p:nvPr/>
          </p:nvSpPr>
          <p:spPr>
            <a:xfrm>
              <a:off x="2734" y="2827"/>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A</a:t>
              </a:r>
            </a:p>
          </p:txBody>
        </p:sp>
        <p:sp>
          <p:nvSpPr>
            <p:cNvPr id="42001" name="Text Box 31"/>
            <p:cNvSpPr txBox="1"/>
            <p:nvPr/>
          </p:nvSpPr>
          <p:spPr>
            <a:xfrm>
              <a:off x="3087" y="2827"/>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B</a:t>
              </a:r>
            </a:p>
          </p:txBody>
        </p:sp>
        <p:sp>
          <p:nvSpPr>
            <p:cNvPr id="42002" name="Text Box 32"/>
            <p:cNvSpPr txBox="1"/>
            <p:nvPr/>
          </p:nvSpPr>
          <p:spPr>
            <a:xfrm>
              <a:off x="3510" y="2827"/>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42003" name="Text Box 33"/>
            <p:cNvSpPr txBox="1"/>
            <p:nvPr/>
          </p:nvSpPr>
          <p:spPr>
            <a:xfrm>
              <a:off x="3883" y="2827"/>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42004" name="Text Box 34"/>
            <p:cNvSpPr txBox="1"/>
            <p:nvPr/>
          </p:nvSpPr>
          <p:spPr>
            <a:xfrm>
              <a:off x="4266" y="2827"/>
              <a:ext cx="253" cy="327"/>
            </a:xfrm>
            <a:prstGeom prst="rect">
              <a:avLst/>
            </a:prstGeom>
            <a:noFill/>
            <a:ln w="19050">
              <a:noFill/>
            </a:ln>
          </p:spPr>
          <p:txBody>
            <a:bodyPr wrap="none">
              <a:spAutoFit/>
            </a:bodyPr>
            <a:lstStyle/>
            <a:p>
              <a:r>
                <a:rPr lang="en-US" altLang="zh-CN" sz="2800" dirty="0">
                  <a:latin typeface="Times New Roman" panose="02020603050405020304" pitchFamily="18" charset="0"/>
                </a:rPr>
                <a:t>E</a:t>
              </a:r>
            </a:p>
          </p:txBody>
        </p:sp>
        <p:sp>
          <p:nvSpPr>
            <p:cNvPr id="42005" name="Text Box 35"/>
            <p:cNvSpPr txBox="1"/>
            <p:nvPr/>
          </p:nvSpPr>
          <p:spPr>
            <a:xfrm>
              <a:off x="4706" y="2827"/>
              <a:ext cx="241" cy="327"/>
            </a:xfrm>
            <a:prstGeom prst="rect">
              <a:avLst/>
            </a:prstGeom>
            <a:noFill/>
            <a:ln w="19050">
              <a:noFill/>
            </a:ln>
          </p:spPr>
          <p:txBody>
            <a:bodyPr wrap="none">
              <a:spAutoFit/>
            </a:bodyPr>
            <a:lstStyle/>
            <a:p>
              <a:r>
                <a:rPr lang="en-US" altLang="zh-CN" sz="2800" dirty="0">
                  <a:latin typeface="Times New Roman" panose="02020603050405020304" pitchFamily="18" charset="0"/>
                </a:rPr>
                <a:t>F</a:t>
              </a:r>
            </a:p>
          </p:txBody>
        </p:sp>
        <p:sp>
          <p:nvSpPr>
            <p:cNvPr id="42006" name="Text Box 36"/>
            <p:cNvSpPr txBox="1"/>
            <p:nvPr/>
          </p:nvSpPr>
          <p:spPr>
            <a:xfrm>
              <a:off x="2398" y="2521"/>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G</a:t>
              </a:r>
            </a:p>
          </p:txBody>
        </p:sp>
        <p:sp>
          <p:nvSpPr>
            <p:cNvPr id="42007" name="Text Box 37"/>
            <p:cNvSpPr txBox="1"/>
            <p:nvPr/>
          </p:nvSpPr>
          <p:spPr>
            <a:xfrm>
              <a:off x="2398" y="2113"/>
              <a:ext cx="241" cy="327"/>
            </a:xfrm>
            <a:prstGeom prst="rect">
              <a:avLst/>
            </a:prstGeom>
            <a:noFill/>
            <a:ln w="19050">
              <a:noFill/>
            </a:ln>
          </p:spPr>
          <p:txBody>
            <a:bodyPr wrap="none">
              <a:spAutoFit/>
            </a:bodyPr>
            <a:lstStyle/>
            <a:p>
              <a:r>
                <a:rPr lang="en-US" altLang="zh-CN" sz="2800" dirty="0">
                  <a:latin typeface="Times New Roman" panose="02020603050405020304" pitchFamily="18" charset="0"/>
                </a:rPr>
                <a:t>F</a:t>
              </a:r>
            </a:p>
          </p:txBody>
        </p:sp>
        <p:sp>
          <p:nvSpPr>
            <p:cNvPr id="42008" name="Text Box 38"/>
            <p:cNvSpPr txBox="1"/>
            <p:nvPr/>
          </p:nvSpPr>
          <p:spPr>
            <a:xfrm>
              <a:off x="2398" y="1700"/>
              <a:ext cx="253" cy="327"/>
            </a:xfrm>
            <a:prstGeom prst="rect">
              <a:avLst/>
            </a:prstGeom>
            <a:noFill/>
            <a:ln w="19050">
              <a:noFill/>
            </a:ln>
          </p:spPr>
          <p:txBody>
            <a:bodyPr wrap="none">
              <a:spAutoFit/>
            </a:bodyPr>
            <a:lstStyle/>
            <a:p>
              <a:r>
                <a:rPr lang="en-US" altLang="zh-CN" sz="2800" dirty="0">
                  <a:latin typeface="Times New Roman" panose="02020603050405020304" pitchFamily="18" charset="0"/>
                </a:rPr>
                <a:t>E</a:t>
              </a:r>
            </a:p>
          </p:txBody>
        </p:sp>
        <p:sp>
          <p:nvSpPr>
            <p:cNvPr id="42009" name="Text Box 39"/>
            <p:cNvSpPr txBox="1"/>
            <p:nvPr/>
          </p:nvSpPr>
          <p:spPr>
            <a:xfrm>
              <a:off x="2398" y="1302"/>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42010" name="Text Box 40"/>
            <p:cNvSpPr txBox="1"/>
            <p:nvPr/>
          </p:nvSpPr>
          <p:spPr>
            <a:xfrm>
              <a:off x="2398" y="895"/>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42011" name="Text Box 41"/>
            <p:cNvSpPr txBox="1"/>
            <p:nvPr/>
          </p:nvSpPr>
          <p:spPr>
            <a:xfrm>
              <a:off x="2398" y="497"/>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B</a:t>
              </a:r>
            </a:p>
          </p:txBody>
        </p:sp>
        <p:sp>
          <p:nvSpPr>
            <p:cNvPr id="42012" name="Text Box 42"/>
            <p:cNvSpPr txBox="1"/>
            <p:nvPr/>
          </p:nvSpPr>
          <p:spPr>
            <a:xfrm>
              <a:off x="2600" y="471"/>
              <a:ext cx="390" cy="327"/>
            </a:xfrm>
            <a:prstGeom prst="rect">
              <a:avLst/>
            </a:prstGeom>
            <a:noFill/>
            <a:ln w="19050">
              <a:noFill/>
            </a:ln>
          </p:spPr>
          <p:txBody>
            <a:bodyPr wrap="none">
              <a:spAutoFit/>
            </a:bodyPr>
            <a:lstStyle/>
            <a:p>
              <a:r>
                <a:rPr lang="en-US" altLang="zh-CN" sz="2800" dirty="0">
                  <a:latin typeface="Times New Roman" panose="02020603050405020304" pitchFamily="18" charset="0"/>
                </a:rPr>
                <a:t>CF</a:t>
              </a:r>
            </a:p>
          </p:txBody>
        </p:sp>
        <p:sp>
          <p:nvSpPr>
            <p:cNvPr id="42013" name="Text Box 43"/>
            <p:cNvSpPr txBox="1"/>
            <p:nvPr/>
          </p:nvSpPr>
          <p:spPr>
            <a:xfrm>
              <a:off x="2627" y="1695"/>
              <a:ext cx="402" cy="327"/>
            </a:xfrm>
            <a:prstGeom prst="rect">
              <a:avLst/>
            </a:prstGeom>
            <a:noFill/>
            <a:ln w="19050">
              <a:noFill/>
            </a:ln>
          </p:spPr>
          <p:txBody>
            <a:bodyPr wrap="none">
              <a:spAutoFit/>
            </a:bodyPr>
            <a:lstStyle/>
            <a:p>
              <a:r>
                <a:rPr lang="en-US" altLang="zh-CN" sz="2800" dirty="0">
                  <a:latin typeface="Times New Roman" panose="02020603050405020304" pitchFamily="18" charset="0"/>
                </a:rPr>
                <a:t>BE</a:t>
              </a:r>
            </a:p>
          </p:txBody>
        </p:sp>
        <p:sp>
          <p:nvSpPr>
            <p:cNvPr id="42014" name="Text Box 44"/>
            <p:cNvSpPr txBox="1"/>
            <p:nvPr/>
          </p:nvSpPr>
          <p:spPr>
            <a:xfrm>
              <a:off x="3060" y="1620"/>
              <a:ext cx="339" cy="442"/>
            </a:xfrm>
            <a:prstGeom prst="rect">
              <a:avLst/>
            </a:prstGeom>
            <a:noFill/>
            <a:ln w="19050">
              <a:noFill/>
            </a:ln>
          </p:spPr>
          <p:txBody>
            <a:bodyPr wrap="none">
              <a:spAutoFit/>
            </a:bodyPr>
            <a:lstStyle/>
            <a:p>
              <a:pPr algn="ctr"/>
              <a:r>
                <a:rPr lang="en-US" altLang="zh-CN" sz="2000" b="1" dirty="0">
                  <a:latin typeface="Times New Roman" panose="02020603050405020304" pitchFamily="18" charset="0"/>
                </a:rPr>
                <a:t>AE</a:t>
              </a:r>
            </a:p>
            <a:p>
              <a:pPr algn="ctr"/>
              <a:r>
                <a:rPr lang="en-US" altLang="zh-CN" sz="2000" b="1" dirty="0">
                  <a:latin typeface="Times New Roman" panose="02020603050405020304" pitchFamily="18" charset="0"/>
                </a:rPr>
                <a:t>CF</a:t>
              </a:r>
              <a:endParaRPr lang="en-US" altLang="zh-CN" sz="2800" dirty="0">
                <a:latin typeface="Times New Roman" panose="02020603050405020304" pitchFamily="18" charset="0"/>
              </a:endParaRPr>
            </a:p>
          </p:txBody>
        </p:sp>
        <p:grpSp>
          <p:nvGrpSpPr>
            <p:cNvPr id="42015" name="Group 45"/>
            <p:cNvGrpSpPr/>
            <p:nvPr/>
          </p:nvGrpSpPr>
          <p:grpSpPr>
            <a:xfrm>
              <a:off x="2652" y="884"/>
              <a:ext cx="2298" cy="1938"/>
              <a:chOff x="2340" y="1296"/>
              <a:chExt cx="2736" cy="2280"/>
            </a:xfrm>
          </p:grpSpPr>
          <p:grpSp>
            <p:nvGrpSpPr>
              <p:cNvPr id="42018" name="Group 46"/>
              <p:cNvGrpSpPr/>
              <p:nvPr/>
            </p:nvGrpSpPr>
            <p:grpSpPr>
              <a:xfrm>
                <a:off x="2340" y="1296"/>
                <a:ext cx="396" cy="384"/>
                <a:chOff x="1608" y="1176"/>
                <a:chExt cx="396" cy="384"/>
              </a:xfrm>
            </p:grpSpPr>
            <p:sp>
              <p:nvSpPr>
                <p:cNvPr id="42067" name="Line 47"/>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68" name="Line 48"/>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19" name="Group 49"/>
              <p:cNvGrpSpPr/>
              <p:nvPr/>
            </p:nvGrpSpPr>
            <p:grpSpPr>
              <a:xfrm>
                <a:off x="2808" y="1296"/>
                <a:ext cx="396" cy="384"/>
                <a:chOff x="1608" y="1176"/>
                <a:chExt cx="396" cy="384"/>
              </a:xfrm>
            </p:grpSpPr>
            <p:sp>
              <p:nvSpPr>
                <p:cNvPr id="42065" name="Line 50"/>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66" name="Line 51"/>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0" name="Group 52"/>
              <p:cNvGrpSpPr/>
              <p:nvPr/>
            </p:nvGrpSpPr>
            <p:grpSpPr>
              <a:xfrm>
                <a:off x="2808" y="1776"/>
                <a:ext cx="396" cy="384"/>
                <a:chOff x="1608" y="1176"/>
                <a:chExt cx="396" cy="384"/>
              </a:xfrm>
            </p:grpSpPr>
            <p:sp>
              <p:nvSpPr>
                <p:cNvPr id="42063" name="Line 53"/>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64" name="Line 54"/>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1" name="Group 55"/>
              <p:cNvGrpSpPr/>
              <p:nvPr/>
            </p:nvGrpSpPr>
            <p:grpSpPr>
              <a:xfrm>
                <a:off x="2340" y="1764"/>
                <a:ext cx="396" cy="384"/>
                <a:chOff x="1608" y="1176"/>
                <a:chExt cx="396" cy="384"/>
              </a:xfrm>
            </p:grpSpPr>
            <p:sp>
              <p:nvSpPr>
                <p:cNvPr id="42061" name="Line 56"/>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62" name="Line 57"/>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2" name="Group 58"/>
              <p:cNvGrpSpPr/>
              <p:nvPr/>
            </p:nvGrpSpPr>
            <p:grpSpPr>
              <a:xfrm>
                <a:off x="3288" y="1776"/>
                <a:ext cx="396" cy="384"/>
                <a:chOff x="1608" y="1176"/>
                <a:chExt cx="396" cy="384"/>
              </a:xfrm>
            </p:grpSpPr>
            <p:sp>
              <p:nvSpPr>
                <p:cNvPr id="42059" name="Line 59"/>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60" name="Line 60"/>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3" name="Group 61"/>
              <p:cNvGrpSpPr/>
              <p:nvPr/>
            </p:nvGrpSpPr>
            <p:grpSpPr>
              <a:xfrm>
                <a:off x="3276" y="2244"/>
                <a:ext cx="396" cy="384"/>
                <a:chOff x="1608" y="1176"/>
                <a:chExt cx="396" cy="384"/>
              </a:xfrm>
            </p:grpSpPr>
            <p:sp>
              <p:nvSpPr>
                <p:cNvPr id="42057" name="Line 62"/>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58" name="Line 63"/>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4" name="Group 64"/>
              <p:cNvGrpSpPr/>
              <p:nvPr/>
            </p:nvGrpSpPr>
            <p:grpSpPr>
              <a:xfrm>
                <a:off x="3744" y="2244"/>
                <a:ext cx="396" cy="384"/>
                <a:chOff x="1608" y="1176"/>
                <a:chExt cx="396" cy="384"/>
              </a:xfrm>
            </p:grpSpPr>
            <p:sp>
              <p:nvSpPr>
                <p:cNvPr id="42055" name="Line 6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56" name="Line 6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5" name="Group 67"/>
              <p:cNvGrpSpPr/>
              <p:nvPr/>
            </p:nvGrpSpPr>
            <p:grpSpPr>
              <a:xfrm>
                <a:off x="3732" y="2700"/>
                <a:ext cx="396" cy="384"/>
                <a:chOff x="1608" y="1176"/>
                <a:chExt cx="396" cy="384"/>
              </a:xfrm>
            </p:grpSpPr>
            <p:sp>
              <p:nvSpPr>
                <p:cNvPr id="42053" name="Line 6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54" name="Line 6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6" name="Group 70"/>
              <p:cNvGrpSpPr/>
              <p:nvPr/>
            </p:nvGrpSpPr>
            <p:grpSpPr>
              <a:xfrm>
                <a:off x="4200" y="2712"/>
                <a:ext cx="396" cy="384"/>
                <a:chOff x="1608" y="1176"/>
                <a:chExt cx="396" cy="384"/>
              </a:xfrm>
            </p:grpSpPr>
            <p:sp>
              <p:nvSpPr>
                <p:cNvPr id="42051" name="Line 71"/>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52" name="Line 72"/>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7" name="Group 73"/>
              <p:cNvGrpSpPr/>
              <p:nvPr/>
            </p:nvGrpSpPr>
            <p:grpSpPr>
              <a:xfrm>
                <a:off x="2808" y="2712"/>
                <a:ext cx="396" cy="384"/>
                <a:chOff x="1608" y="1176"/>
                <a:chExt cx="396" cy="384"/>
              </a:xfrm>
            </p:grpSpPr>
            <p:sp>
              <p:nvSpPr>
                <p:cNvPr id="42049" name="Line 74"/>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50" name="Line 75"/>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8" name="Group 76"/>
              <p:cNvGrpSpPr/>
              <p:nvPr/>
            </p:nvGrpSpPr>
            <p:grpSpPr>
              <a:xfrm>
                <a:off x="2340" y="2700"/>
                <a:ext cx="396" cy="384"/>
                <a:chOff x="1608" y="1176"/>
                <a:chExt cx="396" cy="384"/>
              </a:xfrm>
            </p:grpSpPr>
            <p:sp>
              <p:nvSpPr>
                <p:cNvPr id="42047" name="Line 77"/>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48" name="Line 78"/>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29" name="Group 79"/>
              <p:cNvGrpSpPr/>
              <p:nvPr/>
            </p:nvGrpSpPr>
            <p:grpSpPr>
              <a:xfrm>
                <a:off x="2340" y="3180"/>
                <a:ext cx="396" cy="384"/>
                <a:chOff x="1608" y="1176"/>
                <a:chExt cx="396" cy="384"/>
              </a:xfrm>
            </p:grpSpPr>
            <p:sp>
              <p:nvSpPr>
                <p:cNvPr id="42045" name="Line 80"/>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46" name="Line 81"/>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30" name="Group 82"/>
              <p:cNvGrpSpPr/>
              <p:nvPr/>
            </p:nvGrpSpPr>
            <p:grpSpPr>
              <a:xfrm>
                <a:off x="2808" y="3180"/>
                <a:ext cx="396" cy="384"/>
                <a:chOff x="1608" y="1176"/>
                <a:chExt cx="396" cy="384"/>
              </a:xfrm>
            </p:grpSpPr>
            <p:sp>
              <p:nvSpPr>
                <p:cNvPr id="42043" name="Line 83"/>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44" name="Line 84"/>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31" name="Group 85"/>
              <p:cNvGrpSpPr/>
              <p:nvPr/>
            </p:nvGrpSpPr>
            <p:grpSpPr>
              <a:xfrm>
                <a:off x="3288" y="3180"/>
                <a:ext cx="396" cy="384"/>
                <a:chOff x="1608" y="1176"/>
                <a:chExt cx="396" cy="384"/>
              </a:xfrm>
            </p:grpSpPr>
            <p:sp>
              <p:nvSpPr>
                <p:cNvPr id="42041" name="Line 86"/>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42" name="Line 87"/>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32" name="Group 88"/>
              <p:cNvGrpSpPr/>
              <p:nvPr/>
            </p:nvGrpSpPr>
            <p:grpSpPr>
              <a:xfrm>
                <a:off x="4200" y="3180"/>
                <a:ext cx="396" cy="384"/>
                <a:chOff x="1608" y="1176"/>
                <a:chExt cx="396" cy="384"/>
              </a:xfrm>
            </p:grpSpPr>
            <p:sp>
              <p:nvSpPr>
                <p:cNvPr id="42039" name="Line 89"/>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40" name="Line 90"/>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33" name="Group 91"/>
              <p:cNvGrpSpPr/>
              <p:nvPr/>
            </p:nvGrpSpPr>
            <p:grpSpPr>
              <a:xfrm>
                <a:off x="4680" y="3192"/>
                <a:ext cx="396" cy="384"/>
                <a:chOff x="1608" y="1176"/>
                <a:chExt cx="396" cy="384"/>
              </a:xfrm>
            </p:grpSpPr>
            <p:sp>
              <p:nvSpPr>
                <p:cNvPr id="42037" name="Line 92"/>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2038" name="Line 93"/>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42034" name="Group 94"/>
              <p:cNvGrpSpPr/>
              <p:nvPr/>
            </p:nvGrpSpPr>
            <p:grpSpPr>
              <a:xfrm>
                <a:off x="3324" y="2748"/>
                <a:ext cx="348" cy="324"/>
                <a:chOff x="2592" y="2628"/>
                <a:chExt cx="348" cy="324"/>
              </a:xfrm>
            </p:grpSpPr>
            <p:sp>
              <p:nvSpPr>
                <p:cNvPr id="42035" name="Line 95"/>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42036" name="Line 96"/>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sp>
          <p:nvSpPr>
            <p:cNvPr id="42016" name="Text Box 97"/>
            <p:cNvSpPr txBox="1"/>
            <p:nvPr/>
          </p:nvSpPr>
          <p:spPr>
            <a:xfrm>
              <a:off x="3762" y="2426"/>
              <a:ext cx="348" cy="250"/>
            </a:xfrm>
            <a:prstGeom prst="rect">
              <a:avLst/>
            </a:prstGeom>
            <a:noFill/>
            <a:ln w="19050">
              <a:noFill/>
            </a:ln>
          </p:spPr>
          <p:txBody>
            <a:bodyPr wrap="none">
              <a:spAutoFit/>
            </a:bodyPr>
            <a:lstStyle/>
            <a:p>
              <a:r>
                <a:rPr lang="en-US" altLang="zh-CN" sz="2000" b="1" dirty="0">
                  <a:latin typeface="Times New Roman" panose="02020603050405020304" pitchFamily="18" charset="0"/>
                </a:rPr>
                <a:t>CD</a:t>
              </a:r>
              <a:endParaRPr lang="en-US" altLang="zh-CN" sz="2800" dirty="0">
                <a:latin typeface="Times New Roman" panose="02020603050405020304" pitchFamily="18" charset="0"/>
              </a:endParaRPr>
            </a:p>
          </p:txBody>
        </p:sp>
        <p:sp>
          <p:nvSpPr>
            <p:cNvPr id="42017" name="Text Box 98"/>
            <p:cNvSpPr txBox="1"/>
            <p:nvPr/>
          </p:nvSpPr>
          <p:spPr>
            <a:xfrm>
              <a:off x="3917" y="2628"/>
              <a:ext cx="339" cy="250"/>
            </a:xfrm>
            <a:prstGeom prst="rect">
              <a:avLst/>
            </a:prstGeom>
            <a:noFill/>
            <a:ln w="19050">
              <a:noFill/>
            </a:ln>
          </p:spPr>
          <p:txBody>
            <a:bodyPr wrap="none">
              <a:spAutoFit/>
            </a:bodyPr>
            <a:lstStyle/>
            <a:p>
              <a:r>
                <a:rPr lang="en-US" altLang="zh-CN" sz="2000" b="1" dirty="0">
                  <a:latin typeface="Times New Roman" panose="02020603050405020304" pitchFamily="18" charset="0"/>
                </a:rPr>
                <a:t>DE</a:t>
              </a:r>
              <a:endParaRPr lang="en-US" altLang="zh-CN" sz="2800" dirty="0">
                <a:latin typeface="Times New Roman" panose="02020603050405020304" pitchFamily="18" charset="0"/>
              </a:endParaRPr>
            </a:p>
          </p:txBody>
        </p:sp>
      </p:grpSp>
      <p:sp>
        <p:nvSpPr>
          <p:cNvPr id="174179" name="Text Box 99"/>
          <p:cNvSpPr txBox="1"/>
          <p:nvPr/>
        </p:nvSpPr>
        <p:spPr>
          <a:xfrm>
            <a:off x="425450" y="5211763"/>
            <a:ext cx="8226425" cy="1117600"/>
          </a:xfrm>
          <a:prstGeom prst="rect">
            <a:avLst/>
          </a:prstGeom>
          <a:noFill/>
          <a:ln w="19050">
            <a:noFill/>
          </a:ln>
        </p:spPr>
        <p:txBody>
          <a:bodyPr>
            <a:spAutoFit/>
          </a:bodyPr>
          <a:lstStyle/>
          <a:p>
            <a:pPr>
              <a:lnSpc>
                <a:spcPct val="120000"/>
              </a:lnSpc>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处于循环链中的每一个状态对都是等效状态对</a:t>
            </a:r>
            <a:r>
              <a:rPr lang="en-US" altLang="zh-CN" sz="2800" dirty="0">
                <a:latin typeface="Times New Roman" panose="02020603050405020304" pitchFamily="18" charset="0"/>
                <a:sym typeface="Monotype Sorts" pitchFamily="2" charset="2"/>
              </a:rPr>
              <a:t>,</a:t>
            </a:r>
            <a:r>
              <a:rPr lang="zh-CN" altLang="en-US" sz="2800" dirty="0">
                <a:latin typeface="Times New Roman" panose="02020603050405020304" pitchFamily="18" charset="0"/>
                <a:sym typeface="Monotype Sorts" pitchFamily="2" charset="2"/>
              </a:rPr>
              <a:t>一共</a:t>
            </a:r>
            <a:r>
              <a:rPr lang="zh-CN" altLang="en-US" sz="2800" dirty="0">
                <a:latin typeface="Times New Roman" panose="02020603050405020304" pitchFamily="18" charset="0"/>
              </a:rPr>
              <a:t>四个等效对 </a:t>
            </a:r>
            <a:r>
              <a:rPr lang="en-US" altLang="zh-CN" sz="2800" dirty="0">
                <a:latin typeface="Times New Roman" panose="02020603050405020304" pitchFamily="18" charset="0"/>
              </a:rPr>
              <a:t>(A,B), (A,E), (B,E), (C,F)</a:t>
            </a:r>
            <a:r>
              <a:rPr lang="zh-CN" altLang="en-US" sz="2800" dirty="0">
                <a:latin typeface="Times New Roman" panose="02020603050405020304" pitchFamily="18" charset="0"/>
                <a:sym typeface="Monotype Sorts" pitchFamily="2" charset="2"/>
              </a:rPr>
              <a:t>。</a:t>
            </a:r>
          </a:p>
        </p:txBody>
      </p:sp>
      <p:grpSp>
        <p:nvGrpSpPr>
          <p:cNvPr id="26" name="Group 106"/>
          <p:cNvGrpSpPr/>
          <p:nvPr/>
        </p:nvGrpSpPr>
        <p:grpSpPr>
          <a:xfrm>
            <a:off x="5338763" y="985838"/>
            <a:ext cx="2805112" cy="3486150"/>
            <a:chOff x="338" y="600"/>
            <a:chExt cx="1767" cy="2196"/>
          </a:xfrm>
        </p:grpSpPr>
        <p:grpSp>
          <p:nvGrpSpPr>
            <p:cNvPr id="41993" name="Group 100"/>
            <p:cNvGrpSpPr/>
            <p:nvPr/>
          </p:nvGrpSpPr>
          <p:grpSpPr>
            <a:xfrm>
              <a:off x="338" y="600"/>
              <a:ext cx="1767" cy="2196"/>
              <a:chOff x="386" y="756"/>
              <a:chExt cx="1767" cy="2196"/>
            </a:xfrm>
          </p:grpSpPr>
          <p:sp>
            <p:nvSpPr>
              <p:cNvPr id="41995" name="Text Box 101"/>
              <p:cNvSpPr txBox="1"/>
              <p:nvPr/>
            </p:nvSpPr>
            <p:spPr>
              <a:xfrm>
                <a:off x="386" y="756"/>
                <a:ext cx="1637" cy="1108"/>
              </a:xfrm>
              <a:prstGeom prst="rect">
                <a:avLst/>
              </a:prstGeom>
              <a:noFill/>
              <a:ln w="19050">
                <a:noFill/>
              </a:ln>
            </p:spPr>
            <p:txBody>
              <a:bodyPr>
                <a:spAutoFit/>
              </a:bodyPr>
              <a:lstStyle/>
              <a:p>
                <a:pPr marL="381000" indent="-381000" algn="just">
                  <a:lnSpc>
                    <a:spcPct val="130000"/>
                  </a:lnSpc>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关联比较，确定等效状态对</a:t>
                </a:r>
              </a:p>
            </p:txBody>
          </p:sp>
          <p:grpSp>
            <p:nvGrpSpPr>
              <p:cNvPr id="41996" name="Group 102"/>
              <p:cNvGrpSpPr/>
              <p:nvPr/>
            </p:nvGrpSpPr>
            <p:grpSpPr>
              <a:xfrm>
                <a:off x="506" y="2522"/>
                <a:ext cx="1647" cy="430"/>
                <a:chOff x="1466" y="866"/>
                <a:chExt cx="1647" cy="430"/>
              </a:xfrm>
            </p:grpSpPr>
            <p:sp>
              <p:nvSpPr>
                <p:cNvPr id="41997" name="Text Box 103"/>
                <p:cNvSpPr txBox="1"/>
                <p:nvPr/>
              </p:nvSpPr>
              <p:spPr>
                <a:xfrm>
                  <a:off x="1466" y="866"/>
                  <a:ext cx="1647" cy="327"/>
                </a:xfrm>
                <a:prstGeom prst="rect">
                  <a:avLst/>
                </a:prstGeom>
                <a:noFill/>
                <a:ln w="19050">
                  <a:noFill/>
                </a:ln>
              </p:spPr>
              <p:txBody>
                <a:bodyPr wrap="none">
                  <a:spAutoFit/>
                </a:bodyPr>
                <a:lstStyle/>
                <a:p>
                  <a:r>
                    <a:rPr lang="en-US" altLang="zh-CN" sz="2800" dirty="0">
                      <a:latin typeface="Times New Roman" panose="02020603050405020304" pitchFamily="18" charset="0"/>
                    </a:rPr>
                    <a:t>AE</a:t>
                  </a:r>
                  <a:r>
                    <a:rPr lang="en-US" altLang="zh-CN" sz="2800" dirty="0">
                      <a:latin typeface="宋体" panose="02010600030101010101" pitchFamily="2" charset="-122"/>
                      <a:sym typeface="Monotype Sorts" pitchFamily="2" charset="2"/>
                    </a:rPr>
                    <a:t>→</a:t>
                  </a:r>
                  <a:r>
                    <a:rPr lang="en-US" altLang="zh-CN" sz="2800" dirty="0">
                      <a:latin typeface="Times New Roman" panose="02020603050405020304" pitchFamily="18" charset="0"/>
                      <a:sym typeface="Monotype Sorts" pitchFamily="2" charset="2"/>
                    </a:rPr>
                    <a:t>BE</a:t>
                  </a:r>
                  <a:r>
                    <a:rPr lang="en-US" altLang="zh-CN" sz="2800" dirty="0">
                      <a:latin typeface="宋体" panose="02010600030101010101" pitchFamily="2" charset="-122"/>
                      <a:sym typeface="Monotype Sorts" pitchFamily="2" charset="2"/>
                    </a:rPr>
                    <a:t>→</a:t>
                  </a:r>
                  <a:r>
                    <a:rPr lang="en-US" altLang="zh-CN" sz="2800" dirty="0">
                      <a:latin typeface="Times New Roman" panose="02020603050405020304" pitchFamily="18" charset="0"/>
                      <a:sym typeface="Monotype Sorts" pitchFamily="2" charset="2"/>
                    </a:rPr>
                    <a:t>CF</a:t>
                  </a:r>
                  <a:r>
                    <a:rPr lang="en-US" altLang="zh-CN" sz="2800" dirty="0">
                      <a:latin typeface="华文楷体" panose="02010600040101010101" pitchFamily="2" charset="-122"/>
                      <a:ea typeface="华文楷体" panose="02010600040101010101" pitchFamily="2" charset="-122"/>
                      <a:sym typeface="Monotype Sorts" pitchFamily="2" charset="2"/>
                    </a:rPr>
                    <a:t>√</a:t>
                  </a:r>
                </a:p>
              </p:txBody>
            </p:sp>
            <p:sp>
              <p:nvSpPr>
                <p:cNvPr id="41998" name="Freeform 104"/>
                <p:cNvSpPr/>
                <p:nvPr/>
              </p:nvSpPr>
              <p:spPr>
                <a:xfrm>
                  <a:off x="1692" y="1116"/>
                  <a:ext cx="444" cy="180"/>
                </a:xfrm>
                <a:custGeom>
                  <a:avLst/>
                  <a:gdLst>
                    <a:gd name="txL" fmla="*/ 0 w 444"/>
                    <a:gd name="txT" fmla="*/ 0 h 180"/>
                    <a:gd name="txR" fmla="*/ 444 w 444"/>
                    <a:gd name="txB" fmla="*/ 180 h 180"/>
                  </a:gdLst>
                  <a:ahLst/>
                  <a:cxnLst>
                    <a:cxn ang="0">
                      <a:pos x="444" y="12"/>
                    </a:cxn>
                    <a:cxn ang="0">
                      <a:pos x="444" y="180"/>
                    </a:cxn>
                    <a:cxn ang="0">
                      <a:pos x="0" y="180"/>
                    </a:cxn>
                    <a:cxn ang="0">
                      <a:pos x="0" y="0"/>
                    </a:cxn>
                  </a:cxnLst>
                  <a:rect l="txL" t="txT" r="txR" b="txB"/>
                  <a:pathLst>
                    <a:path w="444" h="180">
                      <a:moveTo>
                        <a:pt x="444" y="12"/>
                      </a:moveTo>
                      <a:lnTo>
                        <a:pt x="444" y="180"/>
                      </a:lnTo>
                      <a:lnTo>
                        <a:pt x="0" y="180"/>
                      </a:lnTo>
                      <a:lnTo>
                        <a:pt x="0" y="0"/>
                      </a:lnTo>
                    </a:path>
                  </a:pathLst>
                </a:custGeom>
                <a:noFill/>
                <a:ln w="19050" cap="flat" cmpd="sng">
                  <a:solidFill>
                    <a:schemeClr val="tx1">
                      <a:alpha val="100000"/>
                    </a:schemeClr>
                  </a:solidFill>
                  <a:prstDash val="solid"/>
                  <a:round/>
                  <a:headEnd type="none" w="med" len="med"/>
                  <a:tailEnd type="triangle" w="med" len="med"/>
                </a:ln>
              </p:spPr>
              <p:txBody>
                <a:bodyPr/>
                <a:lstStyle/>
                <a:p>
                  <a:endParaRPr lang="zh-CN" altLang="en-US" sz="2800"/>
                </a:p>
              </p:txBody>
            </p:sp>
          </p:grpSp>
        </p:grpSp>
        <p:sp>
          <p:nvSpPr>
            <p:cNvPr id="41994" name="Text Box 105" descr="羊皮纸"/>
            <p:cNvSpPr txBox="1"/>
            <p:nvPr/>
          </p:nvSpPr>
          <p:spPr>
            <a:xfrm>
              <a:off x="519" y="1849"/>
              <a:ext cx="1295" cy="327"/>
            </a:xfrm>
            <a:prstGeom prst="rect">
              <a:avLst/>
            </a:prstGeom>
            <a:noFill/>
            <a:ln w="38100">
              <a:noFill/>
            </a:ln>
          </p:spPr>
          <p:txBody>
            <a:bodyPr lIns="90000" tIns="46800" rIns="90000" bIns="46800">
              <a:spAutoFit/>
            </a:bodyPr>
            <a:lstStyle/>
            <a:p>
              <a:r>
                <a:rPr lang="en-US" altLang="zh-CN" sz="2800" dirty="0">
                  <a:latin typeface="Times New Roman" panose="02020603050405020304" pitchFamily="18" charset="0"/>
                </a:rPr>
                <a:t>AB</a:t>
              </a:r>
              <a:r>
                <a:rPr lang="en-US" altLang="zh-CN" sz="2800" dirty="0">
                  <a:latin typeface="Times New Roman" panose="02020603050405020304" pitchFamily="18" charset="0"/>
                  <a:sym typeface="Monotype Sorts" pitchFamily="2" charset="2"/>
                </a:rPr>
                <a:t>→CF</a:t>
              </a:r>
              <a:r>
                <a:rPr lang="en-US" altLang="zh-CN" sz="2800" dirty="0">
                  <a:latin typeface="华文楷体" panose="02010600040101010101" pitchFamily="2" charset="-122"/>
                  <a:ea typeface="华文楷体" panose="02010600040101010101" pitchFamily="2" charset="-122"/>
                  <a:sym typeface="Monotype Sorts" pitchFamily="2" charset="2"/>
                </a:rPr>
                <a:t>√</a:t>
              </a:r>
            </a:p>
          </p:txBody>
        </p:sp>
      </p:grpSp>
      <p:grpSp>
        <p:nvGrpSpPr>
          <p:cNvPr id="29" name="Group 107"/>
          <p:cNvGrpSpPr/>
          <p:nvPr/>
        </p:nvGrpSpPr>
        <p:grpSpPr>
          <a:xfrm>
            <a:off x="3033713" y="3933825"/>
            <a:ext cx="563562" cy="515938"/>
            <a:chOff x="1608" y="1176"/>
            <a:chExt cx="396" cy="384"/>
          </a:xfrm>
        </p:grpSpPr>
        <p:sp>
          <p:nvSpPr>
            <p:cNvPr id="41991" name="Line 10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1992" name="Line 10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up)">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4082"/>
                                        </p:tgtEl>
                                        <p:attrNameLst>
                                          <p:attrName>style.visibility</p:attrName>
                                        </p:attrNameLst>
                                      </p:cBhvr>
                                      <p:to>
                                        <p:strVal val="visible"/>
                                      </p:to>
                                    </p:set>
                                    <p:animEffect transition="in" filter="wipe(left)">
                                      <p:cBhvr>
                                        <p:cTn id="12" dur="500"/>
                                        <p:tgtEl>
                                          <p:spTgt spid="174082"/>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blinds(horizontal)">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74179"/>
                                        </p:tgtEl>
                                        <p:attrNameLst>
                                          <p:attrName>style.visibility</p:attrName>
                                        </p:attrNameLst>
                                      </p:cBhvr>
                                      <p:to>
                                        <p:strVal val="visible"/>
                                      </p:to>
                                    </p:set>
                                    <p:animEffect transition="in" filter="wipe(left)">
                                      <p:cBhvr>
                                        <p:cTn id="21" dur="500"/>
                                        <p:tgtEl>
                                          <p:spTgt spid="174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79"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40200" y="2379663"/>
            <a:ext cx="4556125" cy="3810000"/>
            <a:chOff x="564" y="1440"/>
            <a:chExt cx="4464" cy="2400"/>
          </a:xfrm>
        </p:grpSpPr>
        <p:sp>
          <p:nvSpPr>
            <p:cNvPr id="43027" name="Line 3"/>
            <p:cNvSpPr/>
            <p:nvPr/>
          </p:nvSpPr>
          <p:spPr>
            <a:xfrm>
              <a:off x="588" y="1440"/>
              <a:ext cx="4404" cy="0"/>
            </a:xfrm>
            <a:prstGeom prst="line">
              <a:avLst/>
            </a:prstGeom>
            <a:ln w="38100" cap="flat" cmpd="sng">
              <a:solidFill>
                <a:schemeClr val="tx1"/>
              </a:solidFill>
              <a:prstDash val="solid"/>
              <a:headEnd type="none" w="med" len="med"/>
              <a:tailEnd type="none" w="sm" len="lg"/>
            </a:ln>
          </p:spPr>
        </p:sp>
        <p:sp>
          <p:nvSpPr>
            <p:cNvPr id="43028" name="Line 4"/>
            <p:cNvSpPr/>
            <p:nvPr/>
          </p:nvSpPr>
          <p:spPr>
            <a:xfrm>
              <a:off x="624" y="3828"/>
              <a:ext cx="4404" cy="0"/>
            </a:xfrm>
            <a:prstGeom prst="line">
              <a:avLst/>
            </a:prstGeom>
            <a:ln w="38100" cap="flat" cmpd="sng">
              <a:solidFill>
                <a:schemeClr val="tx1"/>
              </a:solidFill>
              <a:prstDash val="solid"/>
              <a:headEnd type="none" w="med" len="med"/>
              <a:tailEnd type="none" w="sm" len="lg"/>
            </a:ln>
          </p:spPr>
        </p:sp>
        <p:sp>
          <p:nvSpPr>
            <p:cNvPr id="43029" name="Line 5"/>
            <p:cNvSpPr/>
            <p:nvPr/>
          </p:nvSpPr>
          <p:spPr>
            <a:xfrm>
              <a:off x="1644" y="1440"/>
              <a:ext cx="0" cy="2400"/>
            </a:xfrm>
            <a:prstGeom prst="line">
              <a:avLst/>
            </a:prstGeom>
            <a:ln w="19050" cap="flat" cmpd="sng">
              <a:solidFill>
                <a:schemeClr val="tx1"/>
              </a:solidFill>
              <a:prstDash val="solid"/>
              <a:headEnd type="none" w="med" len="med"/>
              <a:tailEnd type="none" w="sm" len="lg"/>
            </a:ln>
          </p:spPr>
        </p:sp>
        <p:sp>
          <p:nvSpPr>
            <p:cNvPr id="43030" name="Line 6"/>
            <p:cNvSpPr/>
            <p:nvPr/>
          </p:nvSpPr>
          <p:spPr>
            <a:xfrm>
              <a:off x="3228" y="2040"/>
              <a:ext cx="0" cy="1788"/>
            </a:xfrm>
            <a:prstGeom prst="line">
              <a:avLst/>
            </a:prstGeom>
            <a:ln w="19050" cap="flat" cmpd="sng">
              <a:solidFill>
                <a:schemeClr val="tx1"/>
              </a:solidFill>
              <a:prstDash val="solid"/>
              <a:headEnd type="none" w="med" len="med"/>
              <a:tailEnd type="none" w="sm" len="lg"/>
            </a:ln>
          </p:spPr>
        </p:sp>
        <p:sp>
          <p:nvSpPr>
            <p:cNvPr id="43031" name="Line 7"/>
            <p:cNvSpPr/>
            <p:nvPr/>
          </p:nvSpPr>
          <p:spPr>
            <a:xfrm>
              <a:off x="1644" y="2028"/>
              <a:ext cx="3336" cy="0"/>
            </a:xfrm>
            <a:prstGeom prst="line">
              <a:avLst/>
            </a:prstGeom>
            <a:ln w="12700" cap="flat" cmpd="sng">
              <a:solidFill>
                <a:schemeClr val="tx1"/>
              </a:solidFill>
              <a:prstDash val="solid"/>
              <a:headEnd type="none" w="med" len="med"/>
              <a:tailEnd type="none" w="sm" len="lg"/>
            </a:ln>
          </p:spPr>
        </p:sp>
        <p:sp>
          <p:nvSpPr>
            <p:cNvPr id="43032" name="Line 8"/>
            <p:cNvSpPr/>
            <p:nvPr/>
          </p:nvSpPr>
          <p:spPr>
            <a:xfrm>
              <a:off x="564" y="2580"/>
              <a:ext cx="4404" cy="0"/>
            </a:xfrm>
            <a:prstGeom prst="line">
              <a:avLst/>
            </a:prstGeom>
            <a:ln w="12700" cap="flat" cmpd="sng">
              <a:solidFill>
                <a:schemeClr val="tx1"/>
              </a:solidFill>
              <a:prstDash val="solid"/>
              <a:headEnd type="none" w="med" len="med"/>
              <a:tailEnd type="none" w="sm" len="lg"/>
            </a:ln>
          </p:spPr>
        </p:sp>
        <p:sp>
          <p:nvSpPr>
            <p:cNvPr id="43033" name="Text Box 9"/>
            <p:cNvSpPr txBox="1"/>
            <p:nvPr/>
          </p:nvSpPr>
          <p:spPr>
            <a:xfrm>
              <a:off x="769" y="1840"/>
              <a:ext cx="878" cy="327"/>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43034" name="Text Box 10"/>
            <p:cNvSpPr txBox="1"/>
            <p:nvPr/>
          </p:nvSpPr>
          <p:spPr>
            <a:xfrm>
              <a:off x="2678" y="1566"/>
              <a:ext cx="1670"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43035" name="Text Box 11"/>
            <p:cNvSpPr txBox="1"/>
            <p:nvPr/>
          </p:nvSpPr>
          <p:spPr>
            <a:xfrm>
              <a:off x="2174" y="2142"/>
              <a:ext cx="704"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43036" name="Text Box 12"/>
            <p:cNvSpPr txBox="1"/>
            <p:nvPr/>
          </p:nvSpPr>
          <p:spPr>
            <a:xfrm>
              <a:off x="3938" y="2142"/>
              <a:ext cx="704"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43037" name="Text Box 13"/>
            <p:cNvSpPr txBox="1"/>
            <p:nvPr/>
          </p:nvSpPr>
          <p:spPr>
            <a:xfrm>
              <a:off x="866" y="2646"/>
              <a:ext cx="354" cy="1134"/>
            </a:xfrm>
            <a:prstGeom prst="rect">
              <a:avLst/>
            </a:prstGeom>
            <a:noFill/>
            <a:ln w="19050">
              <a:noFill/>
            </a:ln>
          </p:spPr>
          <p:txBody>
            <a:bodyPr wrap="none">
              <a:spAutoFit/>
            </a:bodyPr>
            <a:lstStyle/>
            <a:p>
              <a:r>
                <a:rPr lang="en-US" altLang="zh-CN" sz="2800" dirty="0">
                  <a:latin typeface="Times New Roman" panose="02020603050405020304" pitchFamily="18" charset="0"/>
                </a:rPr>
                <a:t>a</a:t>
              </a:r>
            </a:p>
            <a:p>
              <a:r>
                <a:rPr lang="en-US" altLang="zh-CN" sz="2800" dirty="0">
                  <a:latin typeface="Times New Roman" panose="02020603050405020304" pitchFamily="18" charset="0"/>
                </a:rPr>
                <a:t>b</a:t>
              </a:r>
            </a:p>
            <a:p>
              <a:r>
                <a:rPr lang="en-US" altLang="zh-CN" sz="2800" dirty="0">
                  <a:latin typeface="Times New Roman" panose="02020603050405020304" pitchFamily="18" charset="0"/>
                </a:rPr>
                <a:t>c</a:t>
              </a: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43038" name="Text Box 14"/>
            <p:cNvSpPr txBox="1"/>
            <p:nvPr/>
          </p:nvSpPr>
          <p:spPr>
            <a:xfrm>
              <a:off x="2063" y="2646"/>
              <a:ext cx="626" cy="1134"/>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c/1</a:t>
              </a:r>
            </a:p>
            <a:p>
              <a:pPr algn="ctr"/>
              <a:r>
                <a:rPr lang="en-US" altLang="zh-CN" sz="2800" dirty="0">
                  <a:latin typeface="Times New Roman" panose="02020603050405020304" pitchFamily="18" charset="0"/>
                </a:rPr>
                <a:t>b/1</a:t>
              </a:r>
            </a:p>
          </p:txBody>
        </p:sp>
        <p:sp>
          <p:nvSpPr>
            <p:cNvPr id="43039" name="Text Box 15"/>
            <p:cNvSpPr txBox="1"/>
            <p:nvPr/>
          </p:nvSpPr>
          <p:spPr>
            <a:xfrm>
              <a:off x="3827" y="2646"/>
              <a:ext cx="626" cy="1134"/>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a/1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a/0</a:t>
              </a:r>
            </a:p>
            <a:p>
              <a:pPr algn="ctr"/>
              <a:r>
                <a:rPr lang="en-US" altLang="zh-CN" sz="2800" dirty="0">
                  <a:latin typeface="Times New Roman" panose="02020603050405020304" pitchFamily="18" charset="0"/>
                </a:rPr>
                <a:t>c/0</a:t>
              </a:r>
            </a:p>
          </p:txBody>
        </p:sp>
      </p:grpSp>
      <p:sp>
        <p:nvSpPr>
          <p:cNvPr id="43011" name="Text Box 16"/>
          <p:cNvSpPr txBox="1"/>
          <p:nvPr/>
        </p:nvSpPr>
        <p:spPr>
          <a:xfrm>
            <a:off x="288925" y="328613"/>
            <a:ext cx="7148513" cy="647700"/>
          </a:xfrm>
          <a:prstGeom prst="rect">
            <a:avLst/>
          </a:prstGeom>
          <a:noFill/>
          <a:ln w="19050">
            <a:noFill/>
          </a:ln>
        </p:spPr>
        <p:txBody>
          <a:bodyPr>
            <a:spAutoFit/>
          </a:bodyPr>
          <a:lstStyle/>
          <a:p>
            <a:pPr marL="381000" indent="-381000">
              <a:lnSpc>
                <a:spcPct val="130000"/>
              </a:lnSpc>
            </a:pPr>
            <a:r>
              <a:rPr lang="zh-CN" altLang="en-US" sz="2800" b="1" dirty="0">
                <a:latin typeface="Times New Roman" panose="02020603050405020304" pitchFamily="18" charset="0"/>
                <a:sym typeface="Monotype Sorts" pitchFamily="2" charset="2"/>
              </a:rPr>
              <a:t>确定最大等效类，作最小化状态表</a:t>
            </a:r>
            <a:r>
              <a:rPr lang="en-US" altLang="zh-CN" sz="2800" b="1" dirty="0">
                <a:latin typeface="Times New Roman" panose="02020603050405020304" pitchFamily="18" charset="0"/>
                <a:sym typeface="Monotype Sorts" pitchFamily="2" charset="2"/>
              </a:rPr>
              <a:t>:</a:t>
            </a:r>
          </a:p>
        </p:txBody>
      </p:sp>
      <p:sp>
        <p:nvSpPr>
          <p:cNvPr id="176145" name="Text Box 17"/>
          <p:cNvSpPr txBox="1"/>
          <p:nvPr/>
        </p:nvSpPr>
        <p:spPr>
          <a:xfrm>
            <a:off x="1108075" y="928688"/>
            <a:ext cx="6388100" cy="1373187"/>
          </a:xfrm>
          <a:prstGeom prst="rect">
            <a:avLst/>
          </a:prstGeom>
          <a:noFill/>
          <a:ln w="19050">
            <a:noFill/>
          </a:ln>
        </p:spPr>
        <p:txBody>
          <a:bodyPr wrap="none">
            <a:spAutoFit/>
          </a:bodyPr>
          <a:lstStyle/>
          <a:p>
            <a:pPr>
              <a:buChar char="•"/>
            </a:pPr>
            <a:r>
              <a:rPr lang="en-US" altLang="zh-CN" sz="2800" dirty="0">
                <a:latin typeface="Times New Roman" panose="02020603050405020304" pitchFamily="18" charset="0"/>
              </a:rPr>
              <a:t> </a:t>
            </a:r>
            <a:r>
              <a:rPr lang="zh-CN" altLang="en-US" sz="2800" dirty="0">
                <a:latin typeface="Times New Roman" panose="02020603050405020304" pitchFamily="18" charset="0"/>
              </a:rPr>
              <a:t>四个等效对 </a:t>
            </a:r>
            <a:r>
              <a:rPr lang="en-US" altLang="zh-CN" sz="2800" dirty="0">
                <a:latin typeface="Times New Roman" panose="02020603050405020304" pitchFamily="18" charset="0"/>
              </a:rPr>
              <a:t>(A,B), (A,E), (B,E), (C,F)</a:t>
            </a:r>
          </a:p>
          <a:p>
            <a:pPr>
              <a:buChar char="•"/>
            </a:pPr>
            <a:r>
              <a:rPr lang="en-US" altLang="zh-CN" sz="2800" dirty="0">
                <a:latin typeface="Times New Roman" panose="02020603050405020304" pitchFamily="18" charset="0"/>
              </a:rPr>
              <a:t> </a:t>
            </a:r>
            <a:r>
              <a:rPr lang="zh-CN" altLang="zh-CN" sz="2800" dirty="0">
                <a:latin typeface="Times New Roman" panose="02020603050405020304" pitchFamily="18" charset="0"/>
              </a:rPr>
              <a:t>四个最大等效类 (</a:t>
            </a:r>
            <a:r>
              <a:rPr lang="en-US" altLang="zh-CN" sz="2800" dirty="0">
                <a:latin typeface="Times New Roman" panose="02020603050405020304" pitchFamily="18" charset="0"/>
              </a:rPr>
              <a:t>A,B,E), (C,F), (D), (G)</a:t>
            </a:r>
          </a:p>
          <a:p>
            <a:pPr>
              <a:buChar char="•"/>
            </a:pPr>
            <a:r>
              <a:rPr lang="en-US" altLang="zh-CN" sz="2800" dirty="0">
                <a:latin typeface="Times New Roman" panose="02020603050405020304" pitchFamily="18" charset="0"/>
              </a:rPr>
              <a:t> </a:t>
            </a:r>
            <a:r>
              <a:rPr lang="zh-CN" altLang="zh-CN" sz="2800" dirty="0">
                <a:latin typeface="Times New Roman" panose="02020603050405020304" pitchFamily="18" charset="0"/>
              </a:rPr>
              <a:t>令以上四个最大等效类依次为</a:t>
            </a:r>
            <a:r>
              <a:rPr lang="en-US" altLang="zh-CN" sz="2800" dirty="0">
                <a:latin typeface="Times New Roman" panose="02020603050405020304" pitchFamily="18" charset="0"/>
              </a:rPr>
              <a:t>a, b, c, d.</a:t>
            </a:r>
          </a:p>
        </p:txBody>
      </p:sp>
      <p:grpSp>
        <p:nvGrpSpPr>
          <p:cNvPr id="3" name="Group 18"/>
          <p:cNvGrpSpPr/>
          <p:nvPr/>
        </p:nvGrpSpPr>
        <p:grpSpPr>
          <a:xfrm>
            <a:off x="0" y="2376488"/>
            <a:ext cx="4044950" cy="4319587"/>
            <a:chOff x="2912" y="600"/>
            <a:chExt cx="2548" cy="3228"/>
          </a:xfrm>
        </p:grpSpPr>
        <p:sp>
          <p:nvSpPr>
            <p:cNvPr id="43014" name="Line 19"/>
            <p:cNvSpPr/>
            <p:nvPr/>
          </p:nvSpPr>
          <p:spPr>
            <a:xfrm>
              <a:off x="2977" y="600"/>
              <a:ext cx="2463" cy="0"/>
            </a:xfrm>
            <a:prstGeom prst="line">
              <a:avLst/>
            </a:prstGeom>
            <a:ln w="38100" cap="flat" cmpd="sng">
              <a:solidFill>
                <a:schemeClr val="tx1"/>
              </a:solidFill>
              <a:prstDash val="solid"/>
              <a:headEnd type="none" w="med" len="med"/>
              <a:tailEnd type="none" w="sm" len="lg"/>
            </a:ln>
          </p:spPr>
        </p:sp>
        <p:sp>
          <p:nvSpPr>
            <p:cNvPr id="43015" name="Line 20"/>
            <p:cNvSpPr/>
            <p:nvPr/>
          </p:nvSpPr>
          <p:spPr>
            <a:xfrm>
              <a:off x="2998" y="3814"/>
              <a:ext cx="2462" cy="0"/>
            </a:xfrm>
            <a:prstGeom prst="line">
              <a:avLst/>
            </a:prstGeom>
            <a:ln w="38100" cap="flat" cmpd="sng">
              <a:solidFill>
                <a:schemeClr val="tx1"/>
              </a:solidFill>
              <a:prstDash val="solid"/>
              <a:headEnd type="none" w="med" len="med"/>
              <a:tailEnd type="none" w="sm" len="lg"/>
            </a:ln>
          </p:spPr>
        </p:sp>
        <p:sp>
          <p:nvSpPr>
            <p:cNvPr id="43016" name="Line 21"/>
            <p:cNvSpPr/>
            <p:nvPr/>
          </p:nvSpPr>
          <p:spPr>
            <a:xfrm>
              <a:off x="3568" y="600"/>
              <a:ext cx="0" cy="3214"/>
            </a:xfrm>
            <a:prstGeom prst="line">
              <a:avLst/>
            </a:prstGeom>
            <a:ln w="19050" cap="flat" cmpd="sng">
              <a:solidFill>
                <a:schemeClr val="tx1"/>
              </a:solidFill>
              <a:prstDash val="solid"/>
              <a:headEnd type="none" w="med" len="med"/>
              <a:tailEnd type="none" w="sm" len="lg"/>
            </a:ln>
          </p:spPr>
        </p:sp>
        <p:sp>
          <p:nvSpPr>
            <p:cNvPr id="43017" name="Line 22"/>
            <p:cNvSpPr/>
            <p:nvPr/>
          </p:nvSpPr>
          <p:spPr>
            <a:xfrm>
              <a:off x="4454" y="1093"/>
              <a:ext cx="0" cy="2735"/>
            </a:xfrm>
            <a:prstGeom prst="line">
              <a:avLst/>
            </a:prstGeom>
            <a:ln w="19050" cap="flat" cmpd="sng">
              <a:solidFill>
                <a:schemeClr val="tx1"/>
              </a:solidFill>
              <a:prstDash val="solid"/>
              <a:headEnd type="none" w="med" len="med"/>
              <a:tailEnd type="none" w="sm" len="lg"/>
            </a:ln>
          </p:spPr>
        </p:sp>
        <p:sp>
          <p:nvSpPr>
            <p:cNvPr id="43018" name="Line 23"/>
            <p:cNvSpPr/>
            <p:nvPr/>
          </p:nvSpPr>
          <p:spPr>
            <a:xfrm>
              <a:off x="3568" y="1079"/>
              <a:ext cx="1865" cy="0"/>
            </a:xfrm>
            <a:prstGeom prst="line">
              <a:avLst/>
            </a:prstGeom>
            <a:ln w="12700" cap="flat" cmpd="sng">
              <a:solidFill>
                <a:schemeClr val="tx1"/>
              </a:solidFill>
              <a:prstDash val="solid"/>
              <a:headEnd type="none" w="med" len="med"/>
              <a:tailEnd type="none" w="sm" len="lg"/>
            </a:ln>
          </p:spPr>
        </p:sp>
        <p:sp>
          <p:nvSpPr>
            <p:cNvPr id="43019" name="Line 24"/>
            <p:cNvSpPr/>
            <p:nvPr/>
          </p:nvSpPr>
          <p:spPr>
            <a:xfrm>
              <a:off x="2964" y="1460"/>
              <a:ext cx="2462" cy="0"/>
            </a:xfrm>
            <a:prstGeom prst="line">
              <a:avLst/>
            </a:prstGeom>
            <a:ln w="12700" cap="flat" cmpd="sng">
              <a:solidFill>
                <a:schemeClr val="tx1"/>
              </a:solidFill>
              <a:prstDash val="solid"/>
              <a:headEnd type="none" w="med" len="med"/>
              <a:tailEnd type="none" w="sm" len="lg"/>
            </a:ln>
          </p:spPr>
        </p:sp>
        <p:sp>
          <p:nvSpPr>
            <p:cNvPr id="43020" name="Text Box 25"/>
            <p:cNvSpPr txBox="1"/>
            <p:nvPr/>
          </p:nvSpPr>
          <p:spPr>
            <a:xfrm>
              <a:off x="2912" y="861"/>
              <a:ext cx="564" cy="388"/>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43021" name="Text Box 26"/>
            <p:cNvSpPr txBox="1"/>
            <p:nvPr/>
          </p:nvSpPr>
          <p:spPr>
            <a:xfrm>
              <a:off x="3924" y="674"/>
              <a:ext cx="1074" cy="38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43022" name="Text Box 27"/>
            <p:cNvSpPr txBox="1"/>
            <p:nvPr/>
          </p:nvSpPr>
          <p:spPr>
            <a:xfrm>
              <a:off x="3844" y="1059"/>
              <a:ext cx="453" cy="388"/>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43023" name="Text Box 28"/>
            <p:cNvSpPr txBox="1"/>
            <p:nvPr/>
          </p:nvSpPr>
          <p:spPr>
            <a:xfrm>
              <a:off x="4770" y="1059"/>
              <a:ext cx="453" cy="388"/>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43024" name="Text Box 29"/>
            <p:cNvSpPr txBox="1"/>
            <p:nvPr/>
          </p:nvSpPr>
          <p:spPr>
            <a:xfrm>
              <a:off x="3072" y="1509"/>
              <a:ext cx="278" cy="2303"/>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A</a:t>
              </a:r>
            </a:p>
            <a:p>
              <a:pPr algn="ctr"/>
              <a:r>
                <a:rPr lang="en-US" altLang="zh-CN" sz="2800" dirty="0">
                  <a:latin typeface="Times New Roman" panose="02020603050405020304" pitchFamily="18" charset="0"/>
                </a:rPr>
                <a:t>B</a:t>
              </a:r>
            </a:p>
            <a:p>
              <a:pPr algn="ctr"/>
              <a:r>
                <a:rPr lang="en-US" altLang="zh-CN" sz="2800" dirty="0">
                  <a:latin typeface="Times New Roman" panose="02020603050405020304" pitchFamily="18" charset="0"/>
                </a:rPr>
                <a:t>C</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E</a:t>
              </a:r>
            </a:p>
            <a:p>
              <a:pPr algn="ctr"/>
              <a:r>
                <a:rPr lang="en-US" altLang="zh-CN" sz="2800" dirty="0">
                  <a:latin typeface="Times New Roman" panose="02020603050405020304" pitchFamily="18" charset="0"/>
                </a:rPr>
                <a:t>F</a:t>
              </a:r>
            </a:p>
            <a:p>
              <a:pPr algn="ctr"/>
              <a:r>
                <a:rPr lang="en-US" altLang="zh-CN" sz="2800" dirty="0">
                  <a:latin typeface="Times New Roman" panose="02020603050405020304" pitchFamily="18" charset="0"/>
                </a:rPr>
                <a:t>G</a:t>
              </a:r>
              <a:endParaRPr lang="en-US" altLang="zh-CN" sz="2800" baseline="-25000" dirty="0">
                <a:latin typeface="Times New Roman" panose="02020603050405020304" pitchFamily="18" charset="0"/>
              </a:endParaRPr>
            </a:p>
          </p:txBody>
        </p:sp>
        <p:sp>
          <p:nvSpPr>
            <p:cNvPr id="43025" name="Text Box 30"/>
            <p:cNvSpPr txBox="1"/>
            <p:nvPr/>
          </p:nvSpPr>
          <p:spPr>
            <a:xfrm>
              <a:off x="3745" y="1509"/>
              <a:ext cx="452" cy="2303"/>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F/0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p>
            <a:p>
              <a:pPr algn="ctr"/>
              <a:r>
                <a:rPr lang="en-US" altLang="zh-CN" sz="2800" dirty="0">
                  <a:latin typeface="Times New Roman" panose="02020603050405020304" pitchFamily="18" charset="0"/>
                </a:rPr>
                <a:t>D/1</a:t>
              </a:r>
            </a:p>
            <a:p>
              <a:pPr algn="ctr"/>
              <a:r>
                <a:rPr lang="en-US" altLang="zh-CN" sz="2800" dirty="0">
                  <a:latin typeface="Times New Roman" panose="02020603050405020304" pitchFamily="18" charset="0"/>
                </a:rPr>
                <a:t>C/0</a:t>
              </a:r>
            </a:p>
            <a:p>
              <a:pPr algn="ctr"/>
              <a:r>
                <a:rPr lang="en-US" altLang="zh-CN" sz="2800" dirty="0">
                  <a:latin typeface="Times New Roman" panose="02020603050405020304" pitchFamily="18" charset="0"/>
                </a:rPr>
                <a:t>D/0</a:t>
              </a:r>
            </a:p>
            <a:p>
              <a:pPr algn="ctr"/>
              <a:r>
                <a:rPr lang="en-US" altLang="zh-CN" sz="2800" dirty="0">
                  <a:latin typeface="Times New Roman" panose="02020603050405020304" pitchFamily="18" charset="0"/>
                </a:rPr>
                <a:t>C/1</a:t>
              </a:r>
            </a:p>
          </p:txBody>
        </p:sp>
        <p:sp>
          <p:nvSpPr>
            <p:cNvPr id="43026" name="Text Box 31"/>
            <p:cNvSpPr txBox="1"/>
            <p:nvPr/>
          </p:nvSpPr>
          <p:spPr>
            <a:xfrm>
              <a:off x="4671" y="1509"/>
              <a:ext cx="452" cy="2303"/>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B/1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A/1</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G/0</a:t>
              </a:r>
            </a:p>
            <a:p>
              <a:pPr algn="ctr"/>
              <a:r>
                <a:rPr lang="en-US" altLang="zh-CN" sz="2800" dirty="0">
                  <a:latin typeface="Times New Roman" panose="02020603050405020304" pitchFamily="18" charset="0"/>
                </a:rPr>
                <a:t>E/0</a:t>
              </a:r>
            </a:p>
            <a:p>
              <a:pPr algn="ctr"/>
              <a:r>
                <a:rPr lang="en-US" altLang="zh-CN" sz="2800" dirty="0">
                  <a:latin typeface="Times New Roman" panose="02020603050405020304" pitchFamily="18" charset="0"/>
                </a:rPr>
                <a:t>E/1</a:t>
              </a:r>
            </a:p>
            <a:p>
              <a:pPr algn="ctr"/>
              <a:r>
                <a:rPr lang="en-US" altLang="zh-CN" sz="2800" dirty="0">
                  <a:latin typeface="Times New Roman" panose="02020603050405020304" pitchFamily="18" charset="0"/>
                </a:rPr>
                <a:t>G/0</a:t>
              </a:r>
            </a:p>
            <a:p>
              <a:pPr algn="ctr"/>
              <a:r>
                <a:rPr lang="en-US" altLang="zh-CN" sz="2800" dirty="0">
                  <a:latin typeface="Times New Roman" panose="02020603050405020304" pitchFamily="18" charset="0"/>
                </a:rPr>
                <a:t>D/0</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6145"/>
                                        </p:tgtEl>
                                        <p:attrNameLst>
                                          <p:attrName>style.visibility</p:attrName>
                                        </p:attrNameLst>
                                      </p:cBhvr>
                                      <p:to>
                                        <p:strVal val="visible"/>
                                      </p:to>
                                    </p:set>
                                    <p:animEffect transition="in" filter="wipe(left)">
                                      <p:cBhvr>
                                        <p:cTn id="7" dur="500"/>
                                        <p:tgtEl>
                                          <p:spTgt spid="176145"/>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to="" calcmode="lin" valueType="num">
                                      <p:cBhvr>
                                        <p:cTn id="12" dur="1" fill="hold"/>
                                        <p:tgtEl>
                                          <p:spTgt spid="3"/>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to="" calcmode="lin" valueType="num">
                                      <p:cBhvr>
                                        <p:cTn id="17"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45"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2"/>
          <p:cNvSpPr txBox="1">
            <a:spLocks noChangeArrowheads="1"/>
          </p:cNvSpPr>
          <p:nvPr/>
        </p:nvSpPr>
        <p:spPr bwMode="auto">
          <a:xfrm>
            <a:off x="1123950" y="781050"/>
            <a:ext cx="5886450" cy="519113"/>
          </a:xfrm>
          <a:prstGeom prst="rect">
            <a:avLst/>
          </a:prstGeom>
          <a:noFill/>
          <a:ln w="57150">
            <a:noFill/>
            <a:miter lim="800000"/>
            <a:tailEnd type="none" w="sm" len="lg"/>
          </a:ln>
          <a:effectLst/>
        </p:spPr>
        <p:txBody>
          <a:bodyPr>
            <a:spAutoFit/>
          </a:bodyPr>
          <a:lstStyle/>
          <a:p>
            <a:pPr marR="0" algn="just" defTabSz="914400">
              <a:spcBef>
                <a:spcPct val="50000"/>
              </a:spcBef>
              <a:buClrTx/>
              <a:buSzTx/>
              <a:buFontTx/>
              <a:buNone/>
              <a:defRPr/>
            </a:pPr>
            <a:r>
              <a:rPr kumimoji="1"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二、不完全确定状态表的简化</a:t>
            </a:r>
          </a:p>
        </p:txBody>
      </p:sp>
      <p:sp>
        <p:nvSpPr>
          <p:cNvPr id="177155" name="Text Box 3" descr="羊皮纸"/>
          <p:cNvSpPr txBox="1"/>
          <p:nvPr/>
        </p:nvSpPr>
        <p:spPr>
          <a:xfrm>
            <a:off x="628650" y="1492250"/>
            <a:ext cx="7715250" cy="1758950"/>
          </a:xfrm>
          <a:prstGeom prst="rect">
            <a:avLst/>
          </a:prstGeom>
          <a:blipFill rotWithShape="1">
            <a:blip r:embed="rId2"/>
          </a:blipFill>
          <a:ln w="28575">
            <a:noFill/>
          </a:ln>
        </p:spPr>
        <p:txBody>
          <a:bodyPr>
            <a:spAutoFit/>
          </a:bodyPr>
          <a:lstStyle/>
          <a:p>
            <a:pPr algn="just">
              <a:lnSpc>
                <a:spcPct val="130000"/>
              </a:lnSpc>
              <a:spcBef>
                <a:spcPct val="50000"/>
              </a:spcBef>
            </a:pPr>
            <a:r>
              <a:rPr lang="zh-CN" altLang="en-US" sz="2800" b="1" dirty="0">
                <a:latin typeface="Times New Roman" panose="02020603050405020304" pitchFamily="18" charset="0"/>
              </a:rPr>
              <a:t>不完全确定状态表</a:t>
            </a:r>
            <a:r>
              <a:rPr lang="zh-CN" altLang="en-US" sz="2800" dirty="0">
                <a:latin typeface="Times New Roman" panose="02020603050405020304" pitchFamily="18" charset="0"/>
              </a:rPr>
              <a:t>： 状态表中存在不确</a:t>
            </a:r>
            <a:r>
              <a:rPr lang="zh-CN" altLang="zh-CN" sz="2800" dirty="0">
                <a:latin typeface="Times New Roman" panose="02020603050405020304" pitchFamily="18" charset="0"/>
              </a:rPr>
              <a:t>定</a:t>
            </a:r>
            <a:r>
              <a:rPr lang="zh-CN" altLang="en-US" sz="2800" dirty="0">
                <a:latin typeface="Times New Roman" panose="02020603050405020304" pitchFamily="18" charset="0"/>
              </a:rPr>
              <a:t>的次态或输出，这些不确定的次态或输出将有利于状态简化。</a:t>
            </a:r>
          </a:p>
        </p:txBody>
      </p:sp>
      <p:sp>
        <p:nvSpPr>
          <p:cNvPr id="177156" name="Text Box 4" descr="羊皮纸"/>
          <p:cNvSpPr txBox="1"/>
          <p:nvPr/>
        </p:nvSpPr>
        <p:spPr>
          <a:xfrm>
            <a:off x="723900" y="3200400"/>
            <a:ext cx="7696200" cy="3425825"/>
          </a:xfrm>
          <a:prstGeom prst="rect">
            <a:avLst/>
          </a:prstGeom>
          <a:blipFill rotWithShape="1">
            <a:blip r:embed="rId2"/>
          </a:blipFill>
          <a:ln w="28575">
            <a:noFill/>
          </a:ln>
        </p:spPr>
        <p:txBody>
          <a:bodyPr>
            <a:spAutoFit/>
          </a:bodyPr>
          <a:lstStyle/>
          <a:p>
            <a:pPr algn="just" defTabSz="381000">
              <a:lnSpc>
                <a:spcPct val="130000"/>
              </a:lnSpc>
              <a:spcBef>
                <a:spcPct val="50000"/>
              </a:spcBef>
              <a:buChar char="•"/>
            </a:pPr>
            <a:r>
              <a:rPr lang="en-US" altLang="zh-CN" sz="2800" dirty="0">
                <a:latin typeface="Times New Roman" panose="02020603050405020304" pitchFamily="18" charset="0"/>
              </a:rPr>
              <a:t> </a:t>
            </a:r>
            <a:r>
              <a:rPr lang="zh-CN" altLang="en-US" sz="2800" dirty="0">
                <a:latin typeface="Times New Roman" panose="02020603050405020304" pitchFamily="18" charset="0"/>
              </a:rPr>
              <a:t>相容状态：设状态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是不完全确定状态表中	的两个状态，如果对于所有的有效输入序列，分别从状态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出发，所得到的输出响应序列(除不确定的那些位之外)是完全相同的，那么状态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是相容的，或者说状	态</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zh-CN" altLang="zh-CN" sz="2800" dirty="0">
                <a:latin typeface="Times New Roman" panose="02020603050405020304" pitchFamily="18" charset="0"/>
              </a:rPr>
              <a:t>是相容对，记作(</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t>
            </a:r>
            <a:r>
              <a:rPr lang="zh-CN" altLang="en-US" sz="2800" dirty="0">
                <a:latin typeface="Times New Roman" panose="02020603050405020304" pitchFamily="18" charset="0"/>
              </a:rPr>
              <a:t>。</a:t>
            </a:r>
            <a:r>
              <a:rPr lang="zh-CN" altLang="zh-CN" sz="2800" dirty="0">
                <a:latin typeface="Times New Roman" panose="02020603050405020304" pitchFamily="18" charset="0"/>
              </a:rPr>
              <a:t>相容状态可以合并。</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7155"/>
                                        </p:tgtEl>
                                        <p:attrNameLst>
                                          <p:attrName>style.visibility</p:attrName>
                                        </p:attrNameLst>
                                      </p:cBhvr>
                                      <p:to>
                                        <p:strVal val="visible"/>
                                      </p:to>
                                    </p:set>
                                    <p:animEffect transition="in" filter="wipe(left)">
                                      <p:cBhvr>
                                        <p:cTn id="7" dur="500"/>
                                        <p:tgtEl>
                                          <p:spTgt spid="1771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7156"/>
                                        </p:tgtEl>
                                        <p:attrNameLst>
                                          <p:attrName>style.visibility</p:attrName>
                                        </p:attrNameLst>
                                      </p:cBhvr>
                                      <p:to>
                                        <p:strVal val="visible"/>
                                      </p:to>
                                    </p:set>
                                    <p:animEffect transition="in" filter="wipe(left)">
                                      <p:cBhvr>
                                        <p:cTn id="12" dur="500"/>
                                        <p:tgtEl>
                                          <p:spTgt spid="177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5" grpId="0" bldLvl="0" animBg="1"/>
      <p:bldP spid="177156" grpId="0" bldLvl="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3" descr="羊皮纸"/>
          <p:cNvSpPr txBox="1"/>
          <p:nvPr/>
        </p:nvSpPr>
        <p:spPr>
          <a:xfrm>
            <a:off x="436563" y="431800"/>
            <a:ext cx="635000" cy="519113"/>
          </a:xfrm>
          <a:prstGeom prst="rect">
            <a:avLst/>
          </a:prstGeom>
          <a:noFill/>
          <a:ln w="38100">
            <a:noFill/>
          </a:ln>
        </p:spPr>
        <p:txBody>
          <a:bodyPr wrap="none" lIns="90000" tIns="46800" rIns="90000" bIns="46800">
            <a:spAutoFit/>
          </a:bodyPr>
          <a:lstStyle/>
          <a:p>
            <a:r>
              <a:rPr lang="zh-CN" altLang="en-US" sz="2800" dirty="0">
                <a:latin typeface="Times New Roman" panose="02020603050405020304" pitchFamily="18" charset="0"/>
              </a:rPr>
              <a:t>例</a:t>
            </a:r>
            <a:r>
              <a:rPr lang="en-US" altLang="zh-CN" sz="2800" dirty="0">
                <a:latin typeface="Times New Roman" panose="02020603050405020304" pitchFamily="18" charset="0"/>
              </a:rPr>
              <a:t>:</a:t>
            </a:r>
          </a:p>
        </p:txBody>
      </p:sp>
      <p:sp>
        <p:nvSpPr>
          <p:cNvPr id="179204" name="Text Box 4" descr="羊皮纸"/>
          <p:cNvSpPr txBox="1"/>
          <p:nvPr/>
        </p:nvSpPr>
        <p:spPr>
          <a:xfrm>
            <a:off x="500063" y="655638"/>
            <a:ext cx="8318500" cy="1800225"/>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        </a:t>
            </a:r>
            <a:r>
              <a:rPr lang="zh-CN" altLang="en-US" sz="2800" dirty="0">
                <a:latin typeface="Times New Roman" panose="02020603050405020304" pitchFamily="18" charset="0"/>
              </a:rPr>
              <a:t>设计一个“</a:t>
            </a:r>
            <a:r>
              <a:rPr lang="en-US" altLang="zh-CN" sz="2800" dirty="0">
                <a:latin typeface="Times New Roman" panose="02020603050405020304" pitchFamily="18" charset="0"/>
              </a:rPr>
              <a:t>1111”</a:t>
            </a:r>
            <a:r>
              <a:rPr lang="zh-CN" altLang="en-US" sz="2800" dirty="0">
                <a:latin typeface="Times New Roman" panose="02020603050405020304" pitchFamily="18" charset="0"/>
              </a:rPr>
              <a:t>序列检测器，使其成为爆炸装置</a:t>
            </a:r>
          </a:p>
          <a:p>
            <a:r>
              <a:rPr lang="zh-CN" altLang="en-US" sz="2800" dirty="0">
                <a:latin typeface="Times New Roman" panose="02020603050405020304" pitchFamily="18" charset="0"/>
              </a:rPr>
              <a:t>的引爆控制器。假定工作条件为：平时无</a:t>
            </a:r>
            <a:r>
              <a:rPr lang="en-US" altLang="zh-CN" sz="2800" dirty="0">
                <a:latin typeface="Times New Roman" panose="02020603050405020304" pitchFamily="18" charset="0"/>
              </a:rPr>
              <a:t>1</a:t>
            </a:r>
            <a:r>
              <a:rPr lang="zh-CN" altLang="en-US" sz="2800" dirty="0">
                <a:latin typeface="Times New Roman" panose="02020603050405020304" pitchFamily="18" charset="0"/>
              </a:rPr>
              <a:t>输入，</a:t>
            </a:r>
          </a:p>
          <a:p>
            <a:r>
              <a:rPr lang="en-US" altLang="zh-CN" sz="2800" dirty="0">
                <a:latin typeface="Times New Roman" panose="02020603050405020304" pitchFamily="18" charset="0"/>
              </a:rPr>
              <a:t>Z</a:t>
            </a:r>
            <a:r>
              <a:rPr lang="zh-CN" altLang="en-US" sz="2800" dirty="0">
                <a:latin typeface="Times New Roman" panose="02020603050405020304" pitchFamily="18" charset="0"/>
              </a:rPr>
              <a:t>一直处于</a:t>
            </a:r>
            <a:r>
              <a:rPr lang="en-US" altLang="zh-CN" sz="2800" dirty="0">
                <a:latin typeface="Times New Roman" panose="02020603050405020304" pitchFamily="18" charset="0"/>
              </a:rPr>
              <a:t>0</a:t>
            </a:r>
            <a:r>
              <a:rPr lang="zh-CN" altLang="en-US" sz="2800" dirty="0">
                <a:latin typeface="Times New Roman" panose="02020603050405020304" pitchFamily="18" charset="0"/>
              </a:rPr>
              <a:t>状态；当连续输入</a:t>
            </a:r>
            <a:r>
              <a:rPr lang="en-US" altLang="zh-CN" sz="2800" dirty="0">
                <a:latin typeface="Times New Roman" panose="02020603050405020304" pitchFamily="18" charset="0"/>
              </a:rPr>
              <a:t>4</a:t>
            </a:r>
            <a:r>
              <a:rPr lang="zh-CN" altLang="en-US" sz="2800" dirty="0">
                <a:latin typeface="Times New Roman" panose="02020603050405020304" pitchFamily="18" charset="0"/>
              </a:rPr>
              <a:t>个</a:t>
            </a:r>
            <a:r>
              <a:rPr lang="en-US" altLang="zh-CN" sz="2800" dirty="0">
                <a:latin typeface="Times New Roman" panose="02020603050405020304" pitchFamily="18" charset="0"/>
              </a:rPr>
              <a:t>1</a:t>
            </a:r>
            <a:r>
              <a:rPr lang="zh-CN" altLang="en-US" sz="2800" dirty="0">
                <a:latin typeface="Times New Roman" panose="02020603050405020304" pitchFamily="18" charset="0"/>
              </a:rPr>
              <a:t>时（不允许出现</a:t>
            </a:r>
          </a:p>
          <a:p>
            <a:r>
              <a:rPr lang="en-US" altLang="zh-CN" sz="2800" dirty="0">
                <a:latin typeface="Times New Roman" panose="02020603050405020304" pitchFamily="18" charset="0"/>
              </a:rPr>
              <a:t>0</a:t>
            </a:r>
            <a:r>
              <a:rPr lang="zh-CN" altLang="en-US" sz="2800" dirty="0">
                <a:latin typeface="Times New Roman" panose="02020603050405020304" pitchFamily="18" charset="0"/>
              </a:rPr>
              <a:t>），</a:t>
            </a:r>
            <a:r>
              <a:rPr lang="en-US" altLang="zh-CN" sz="2800" dirty="0">
                <a:latin typeface="Times New Roman" panose="02020603050405020304" pitchFamily="18" charset="0"/>
              </a:rPr>
              <a:t>Z=1</a:t>
            </a:r>
            <a:r>
              <a:rPr lang="zh-CN" altLang="en-US" sz="2800" dirty="0">
                <a:latin typeface="Times New Roman" panose="02020603050405020304" pitchFamily="18" charset="0"/>
              </a:rPr>
              <a:t>引爆，整个装置不存在。</a:t>
            </a:r>
          </a:p>
        </p:txBody>
      </p:sp>
      <p:sp>
        <p:nvSpPr>
          <p:cNvPr id="179206" name="Oval 6"/>
          <p:cNvSpPr/>
          <p:nvPr/>
        </p:nvSpPr>
        <p:spPr>
          <a:xfrm>
            <a:off x="900113" y="3097213"/>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 A</a:t>
            </a:r>
            <a:endParaRPr lang="en-US" altLang="zh-CN" sz="2800" i="1" baseline="-25000" dirty="0">
              <a:latin typeface="Times New Roman" panose="02020603050405020304" pitchFamily="18" charset="0"/>
            </a:endParaRPr>
          </a:p>
        </p:txBody>
      </p:sp>
      <p:sp>
        <p:nvSpPr>
          <p:cNvPr id="179207" name="Oval 7"/>
          <p:cNvSpPr/>
          <p:nvPr/>
        </p:nvSpPr>
        <p:spPr>
          <a:xfrm>
            <a:off x="900113" y="5132388"/>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D</a:t>
            </a:r>
            <a:endParaRPr lang="en-US" altLang="zh-CN" sz="2800" i="1" baseline="-25000" dirty="0">
              <a:latin typeface="Times New Roman" panose="02020603050405020304" pitchFamily="18" charset="0"/>
            </a:endParaRPr>
          </a:p>
        </p:txBody>
      </p:sp>
      <p:sp>
        <p:nvSpPr>
          <p:cNvPr id="179214" name="Oval 14"/>
          <p:cNvSpPr/>
          <p:nvPr/>
        </p:nvSpPr>
        <p:spPr>
          <a:xfrm>
            <a:off x="3267075" y="3089275"/>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B</a:t>
            </a:r>
          </a:p>
        </p:txBody>
      </p:sp>
      <p:sp>
        <p:nvSpPr>
          <p:cNvPr id="179221" name="Oval 21"/>
          <p:cNvSpPr/>
          <p:nvPr/>
        </p:nvSpPr>
        <p:spPr>
          <a:xfrm>
            <a:off x="3257550" y="5095875"/>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C</a:t>
            </a:r>
            <a:endParaRPr lang="en-US" altLang="zh-CN" sz="2800" i="1" baseline="-25000" dirty="0">
              <a:latin typeface="Times New Roman" panose="02020603050405020304" pitchFamily="18" charset="0"/>
            </a:endParaRPr>
          </a:p>
        </p:txBody>
      </p:sp>
      <p:grpSp>
        <p:nvGrpSpPr>
          <p:cNvPr id="2" name="Group 43"/>
          <p:cNvGrpSpPr/>
          <p:nvPr/>
        </p:nvGrpSpPr>
        <p:grpSpPr>
          <a:xfrm>
            <a:off x="3678238" y="3952875"/>
            <a:ext cx="674687" cy="1136650"/>
            <a:chOff x="2317" y="2490"/>
            <a:chExt cx="425" cy="716"/>
          </a:xfrm>
        </p:grpSpPr>
        <p:sp>
          <p:nvSpPr>
            <p:cNvPr id="45104" name="Text Box 23"/>
            <p:cNvSpPr txBox="1"/>
            <p:nvPr/>
          </p:nvSpPr>
          <p:spPr>
            <a:xfrm>
              <a:off x="2340" y="2623"/>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1/0</a:t>
              </a:r>
            </a:p>
          </p:txBody>
        </p:sp>
        <p:sp>
          <p:nvSpPr>
            <p:cNvPr id="45105" name="Line 25"/>
            <p:cNvSpPr/>
            <p:nvPr/>
          </p:nvSpPr>
          <p:spPr>
            <a:xfrm>
              <a:off x="2317" y="2490"/>
              <a:ext cx="0" cy="716"/>
            </a:xfrm>
            <a:prstGeom prst="line">
              <a:avLst/>
            </a:prstGeom>
            <a:ln w="38100" cap="flat" cmpd="sng">
              <a:solidFill>
                <a:srgbClr val="3333FF"/>
              </a:solidFill>
              <a:prstDash val="solid"/>
              <a:headEnd type="none" w="med" len="med"/>
              <a:tailEnd type="triangle" w="sm" len="lg"/>
            </a:ln>
          </p:spPr>
        </p:sp>
      </p:grpSp>
      <p:grpSp>
        <p:nvGrpSpPr>
          <p:cNvPr id="3" name="Group 47"/>
          <p:cNvGrpSpPr/>
          <p:nvPr/>
        </p:nvGrpSpPr>
        <p:grpSpPr>
          <a:xfrm>
            <a:off x="1768475" y="4954588"/>
            <a:ext cx="1503363" cy="561975"/>
            <a:chOff x="1114" y="3121"/>
            <a:chExt cx="947" cy="354"/>
          </a:xfrm>
        </p:grpSpPr>
        <p:sp>
          <p:nvSpPr>
            <p:cNvPr id="45102" name="Text Box 12"/>
            <p:cNvSpPr txBox="1"/>
            <p:nvPr/>
          </p:nvSpPr>
          <p:spPr>
            <a:xfrm>
              <a:off x="1349" y="3121"/>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1/0</a:t>
              </a:r>
            </a:p>
          </p:txBody>
        </p:sp>
        <p:sp>
          <p:nvSpPr>
            <p:cNvPr id="45103" name="Line 26"/>
            <p:cNvSpPr/>
            <p:nvPr/>
          </p:nvSpPr>
          <p:spPr>
            <a:xfrm flipH="1" flipV="1">
              <a:off x="1114" y="3469"/>
              <a:ext cx="947" cy="6"/>
            </a:xfrm>
            <a:prstGeom prst="line">
              <a:avLst/>
            </a:prstGeom>
            <a:ln w="38100" cap="flat" cmpd="sng">
              <a:solidFill>
                <a:srgbClr val="3333FF"/>
              </a:solidFill>
              <a:prstDash val="solid"/>
              <a:headEnd type="none" w="med" len="med"/>
              <a:tailEnd type="triangle" w="sm" len="lg"/>
            </a:ln>
          </p:spPr>
        </p:sp>
      </p:grpSp>
      <p:grpSp>
        <p:nvGrpSpPr>
          <p:cNvPr id="4" name="Group 42"/>
          <p:cNvGrpSpPr/>
          <p:nvPr/>
        </p:nvGrpSpPr>
        <p:grpSpPr>
          <a:xfrm>
            <a:off x="1757363" y="2967038"/>
            <a:ext cx="1514475" cy="538162"/>
            <a:chOff x="1107" y="1869"/>
            <a:chExt cx="954" cy="339"/>
          </a:xfrm>
        </p:grpSpPr>
        <p:sp>
          <p:nvSpPr>
            <p:cNvPr id="45100" name="Line 24"/>
            <p:cNvSpPr/>
            <p:nvPr/>
          </p:nvSpPr>
          <p:spPr>
            <a:xfrm>
              <a:off x="1107" y="2208"/>
              <a:ext cx="954" cy="0"/>
            </a:xfrm>
            <a:prstGeom prst="line">
              <a:avLst/>
            </a:prstGeom>
            <a:ln w="38100" cap="flat" cmpd="sng">
              <a:solidFill>
                <a:srgbClr val="3333FF"/>
              </a:solidFill>
              <a:prstDash val="solid"/>
              <a:headEnd type="none" w="med" len="med"/>
              <a:tailEnd type="triangle" w="sm" len="lg"/>
            </a:ln>
          </p:spPr>
        </p:sp>
        <p:sp>
          <p:nvSpPr>
            <p:cNvPr id="45101" name="Text Box 27"/>
            <p:cNvSpPr txBox="1"/>
            <p:nvPr/>
          </p:nvSpPr>
          <p:spPr>
            <a:xfrm>
              <a:off x="1382" y="1869"/>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1/0</a:t>
              </a:r>
            </a:p>
          </p:txBody>
        </p:sp>
      </p:grpSp>
      <p:grpSp>
        <p:nvGrpSpPr>
          <p:cNvPr id="5" name="Group 46"/>
          <p:cNvGrpSpPr/>
          <p:nvPr/>
        </p:nvGrpSpPr>
        <p:grpSpPr>
          <a:xfrm>
            <a:off x="285750" y="2387600"/>
            <a:ext cx="739775" cy="1136650"/>
            <a:chOff x="180" y="1504"/>
            <a:chExt cx="466" cy="716"/>
          </a:xfrm>
        </p:grpSpPr>
        <p:sp>
          <p:nvSpPr>
            <p:cNvPr id="45098" name="Text Box 16"/>
            <p:cNvSpPr txBox="1"/>
            <p:nvPr/>
          </p:nvSpPr>
          <p:spPr>
            <a:xfrm>
              <a:off x="180" y="1504"/>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0/0</a:t>
              </a:r>
            </a:p>
          </p:txBody>
        </p:sp>
        <p:cxnSp>
          <p:nvCxnSpPr>
            <p:cNvPr id="45099" name="AutoShape 33"/>
            <p:cNvCxnSpPr>
              <a:stCxn id="179206" idx="1"/>
              <a:endCxn id="179206" idx="2"/>
            </p:cNvCxnSpPr>
            <p:nvPr/>
          </p:nvCxnSpPr>
          <p:spPr>
            <a:xfrm rot="-5400000" flipH="1" flipV="1">
              <a:off x="499" y="2073"/>
              <a:ext cx="202" cy="91"/>
            </a:xfrm>
            <a:prstGeom prst="curvedConnector4">
              <a:avLst>
                <a:gd name="adj1" fmla="val -104454"/>
                <a:gd name="adj2" fmla="val 245056"/>
              </a:avLst>
            </a:prstGeom>
            <a:ln w="38100" cap="flat" cmpd="sng">
              <a:solidFill>
                <a:srgbClr val="3333FF"/>
              </a:solidFill>
              <a:prstDash val="solid"/>
              <a:headEnd type="none" w="med" len="med"/>
              <a:tailEnd type="triangle" w="sm" len="lg"/>
            </a:ln>
          </p:spPr>
        </p:cxnSp>
      </p:grpSp>
      <p:grpSp>
        <p:nvGrpSpPr>
          <p:cNvPr id="6" name="Group 50"/>
          <p:cNvGrpSpPr/>
          <p:nvPr/>
        </p:nvGrpSpPr>
        <p:grpSpPr>
          <a:xfrm>
            <a:off x="1149350" y="5851525"/>
            <a:ext cx="1136650" cy="706438"/>
            <a:chOff x="724" y="3686"/>
            <a:chExt cx="716" cy="445"/>
          </a:xfrm>
        </p:grpSpPr>
        <p:sp>
          <p:nvSpPr>
            <p:cNvPr id="45096" name="Line 29"/>
            <p:cNvSpPr/>
            <p:nvPr/>
          </p:nvSpPr>
          <p:spPr>
            <a:xfrm>
              <a:off x="1018" y="3686"/>
              <a:ext cx="422" cy="244"/>
            </a:xfrm>
            <a:prstGeom prst="line">
              <a:avLst/>
            </a:prstGeom>
            <a:ln w="38100" cap="flat" cmpd="sng">
              <a:solidFill>
                <a:srgbClr val="3333FF"/>
              </a:solidFill>
              <a:prstDash val="solid"/>
              <a:headEnd type="none" w="med" len="med"/>
              <a:tailEnd type="triangle" w="sm" len="lg"/>
            </a:ln>
          </p:spPr>
        </p:sp>
        <p:sp>
          <p:nvSpPr>
            <p:cNvPr id="45097" name="Text Box 34"/>
            <p:cNvSpPr txBox="1"/>
            <p:nvPr/>
          </p:nvSpPr>
          <p:spPr>
            <a:xfrm>
              <a:off x="724" y="3804"/>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0/d</a:t>
              </a:r>
            </a:p>
          </p:txBody>
        </p:sp>
      </p:grpSp>
      <p:grpSp>
        <p:nvGrpSpPr>
          <p:cNvPr id="7" name="Group 49"/>
          <p:cNvGrpSpPr/>
          <p:nvPr/>
        </p:nvGrpSpPr>
        <p:grpSpPr>
          <a:xfrm>
            <a:off x="3870325" y="5451475"/>
            <a:ext cx="917575" cy="715963"/>
            <a:chOff x="2438" y="3434"/>
            <a:chExt cx="578" cy="451"/>
          </a:xfrm>
        </p:grpSpPr>
        <p:sp>
          <p:nvSpPr>
            <p:cNvPr id="45094" name="Line 30"/>
            <p:cNvSpPr/>
            <p:nvPr/>
          </p:nvSpPr>
          <p:spPr>
            <a:xfrm>
              <a:off x="2438" y="3718"/>
              <a:ext cx="154" cy="167"/>
            </a:xfrm>
            <a:prstGeom prst="line">
              <a:avLst/>
            </a:prstGeom>
            <a:ln w="38100" cap="flat" cmpd="sng">
              <a:solidFill>
                <a:srgbClr val="3333FF"/>
              </a:solidFill>
              <a:prstDash val="solid"/>
              <a:headEnd type="none" w="med" len="med"/>
              <a:tailEnd type="triangle" w="sm" len="lg"/>
            </a:ln>
          </p:spPr>
        </p:sp>
        <p:sp>
          <p:nvSpPr>
            <p:cNvPr id="45095" name="Text Box 35"/>
            <p:cNvSpPr txBox="1"/>
            <p:nvPr/>
          </p:nvSpPr>
          <p:spPr>
            <a:xfrm>
              <a:off x="2614" y="3434"/>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0/d</a:t>
              </a:r>
            </a:p>
          </p:txBody>
        </p:sp>
      </p:grpSp>
      <p:grpSp>
        <p:nvGrpSpPr>
          <p:cNvPr id="8" name="Group 48"/>
          <p:cNvGrpSpPr/>
          <p:nvPr/>
        </p:nvGrpSpPr>
        <p:grpSpPr>
          <a:xfrm>
            <a:off x="3633788" y="2436813"/>
            <a:ext cx="654050" cy="804862"/>
            <a:chOff x="2289" y="1535"/>
            <a:chExt cx="412" cy="507"/>
          </a:xfrm>
        </p:grpSpPr>
        <p:sp>
          <p:nvSpPr>
            <p:cNvPr id="45092" name="Line 31"/>
            <p:cNvSpPr/>
            <p:nvPr/>
          </p:nvSpPr>
          <p:spPr>
            <a:xfrm flipV="1">
              <a:off x="2522" y="1901"/>
              <a:ext cx="179" cy="141"/>
            </a:xfrm>
            <a:prstGeom prst="line">
              <a:avLst/>
            </a:prstGeom>
            <a:ln w="38100" cap="flat" cmpd="sng">
              <a:solidFill>
                <a:srgbClr val="3333FF"/>
              </a:solidFill>
              <a:prstDash val="solid"/>
              <a:headEnd type="none" w="med" len="med"/>
              <a:tailEnd type="triangle" w="sm" len="lg"/>
            </a:ln>
          </p:spPr>
        </p:sp>
        <p:sp>
          <p:nvSpPr>
            <p:cNvPr id="45093" name="Text Box 36"/>
            <p:cNvSpPr txBox="1"/>
            <p:nvPr/>
          </p:nvSpPr>
          <p:spPr>
            <a:xfrm>
              <a:off x="2289" y="1535"/>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0/d</a:t>
              </a:r>
            </a:p>
          </p:txBody>
        </p:sp>
      </p:grpSp>
      <p:grpSp>
        <p:nvGrpSpPr>
          <p:cNvPr id="9" name="Group 45"/>
          <p:cNvGrpSpPr/>
          <p:nvPr/>
        </p:nvGrpSpPr>
        <p:grpSpPr>
          <a:xfrm>
            <a:off x="142875" y="5313363"/>
            <a:ext cx="830263" cy="725487"/>
            <a:chOff x="90" y="3347"/>
            <a:chExt cx="523" cy="457"/>
          </a:xfrm>
        </p:grpSpPr>
        <p:sp>
          <p:nvSpPr>
            <p:cNvPr id="45090" name="Line 28"/>
            <p:cNvSpPr/>
            <p:nvPr/>
          </p:nvSpPr>
          <p:spPr>
            <a:xfrm flipH="1">
              <a:off x="428" y="3668"/>
              <a:ext cx="185" cy="136"/>
            </a:xfrm>
            <a:prstGeom prst="line">
              <a:avLst/>
            </a:prstGeom>
            <a:ln w="38100" cap="flat" cmpd="sng">
              <a:solidFill>
                <a:srgbClr val="3333FF"/>
              </a:solidFill>
              <a:prstDash val="solid"/>
              <a:headEnd type="none" w="med" len="med"/>
              <a:tailEnd type="triangle" w="sm" len="lg"/>
            </a:ln>
          </p:spPr>
        </p:sp>
        <p:sp>
          <p:nvSpPr>
            <p:cNvPr id="45091" name="Text Box 37"/>
            <p:cNvSpPr txBox="1"/>
            <p:nvPr/>
          </p:nvSpPr>
          <p:spPr>
            <a:xfrm>
              <a:off x="90" y="3347"/>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1/1</a:t>
              </a:r>
            </a:p>
          </p:txBody>
        </p:sp>
      </p:grpSp>
      <p:sp>
        <p:nvSpPr>
          <p:cNvPr id="179238" name="Oval 38"/>
          <p:cNvSpPr/>
          <p:nvPr/>
        </p:nvSpPr>
        <p:spPr>
          <a:xfrm>
            <a:off x="38100" y="5965825"/>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d</a:t>
            </a:r>
          </a:p>
        </p:txBody>
      </p:sp>
      <p:sp>
        <p:nvSpPr>
          <p:cNvPr id="179239" name="Oval 39"/>
          <p:cNvSpPr/>
          <p:nvPr/>
        </p:nvSpPr>
        <p:spPr>
          <a:xfrm>
            <a:off x="2249488" y="5965825"/>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d</a:t>
            </a:r>
          </a:p>
        </p:txBody>
      </p:sp>
      <p:sp>
        <p:nvSpPr>
          <p:cNvPr id="179240" name="Oval 40"/>
          <p:cNvSpPr/>
          <p:nvPr/>
        </p:nvSpPr>
        <p:spPr>
          <a:xfrm>
            <a:off x="4008438" y="5956300"/>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d</a:t>
            </a:r>
          </a:p>
        </p:txBody>
      </p:sp>
      <p:sp>
        <p:nvSpPr>
          <p:cNvPr id="179241" name="Oval 41"/>
          <p:cNvSpPr/>
          <p:nvPr/>
        </p:nvSpPr>
        <p:spPr>
          <a:xfrm>
            <a:off x="4283075" y="2490788"/>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d</a:t>
            </a:r>
          </a:p>
        </p:txBody>
      </p:sp>
      <p:grpSp>
        <p:nvGrpSpPr>
          <p:cNvPr id="10" name="Group 51"/>
          <p:cNvGrpSpPr/>
          <p:nvPr/>
        </p:nvGrpSpPr>
        <p:grpSpPr>
          <a:xfrm>
            <a:off x="5435600" y="2813050"/>
            <a:ext cx="3378200" cy="3810000"/>
            <a:chOff x="3111" y="992"/>
            <a:chExt cx="2128" cy="2400"/>
          </a:xfrm>
        </p:grpSpPr>
        <p:sp>
          <p:nvSpPr>
            <p:cNvPr id="45077" name="Line 52"/>
            <p:cNvSpPr/>
            <p:nvPr/>
          </p:nvSpPr>
          <p:spPr>
            <a:xfrm>
              <a:off x="3173" y="992"/>
              <a:ext cx="2049" cy="0"/>
            </a:xfrm>
            <a:prstGeom prst="line">
              <a:avLst/>
            </a:prstGeom>
            <a:ln w="38100" cap="flat" cmpd="sng">
              <a:solidFill>
                <a:schemeClr val="tx1"/>
              </a:solidFill>
              <a:prstDash val="solid"/>
              <a:headEnd type="none" w="med" len="med"/>
              <a:tailEnd type="none" w="sm" len="lg"/>
            </a:ln>
          </p:spPr>
        </p:sp>
        <p:sp>
          <p:nvSpPr>
            <p:cNvPr id="45078" name="Line 53"/>
            <p:cNvSpPr/>
            <p:nvPr/>
          </p:nvSpPr>
          <p:spPr>
            <a:xfrm>
              <a:off x="3190" y="3380"/>
              <a:ext cx="2049" cy="0"/>
            </a:xfrm>
            <a:prstGeom prst="line">
              <a:avLst/>
            </a:prstGeom>
            <a:ln w="38100" cap="flat" cmpd="sng">
              <a:solidFill>
                <a:schemeClr val="tx1"/>
              </a:solidFill>
              <a:prstDash val="solid"/>
              <a:headEnd type="none" w="med" len="med"/>
              <a:tailEnd type="none" w="sm" len="lg"/>
            </a:ln>
          </p:spPr>
        </p:sp>
        <p:sp>
          <p:nvSpPr>
            <p:cNvPr id="45079" name="Line 54"/>
            <p:cNvSpPr/>
            <p:nvPr/>
          </p:nvSpPr>
          <p:spPr>
            <a:xfrm>
              <a:off x="3665" y="992"/>
              <a:ext cx="0" cy="2400"/>
            </a:xfrm>
            <a:prstGeom prst="line">
              <a:avLst/>
            </a:prstGeom>
            <a:ln w="19050" cap="flat" cmpd="sng">
              <a:solidFill>
                <a:schemeClr val="tx1"/>
              </a:solidFill>
              <a:prstDash val="solid"/>
              <a:headEnd type="none" w="med" len="med"/>
              <a:tailEnd type="none" w="sm" len="lg"/>
            </a:ln>
          </p:spPr>
        </p:sp>
        <p:sp>
          <p:nvSpPr>
            <p:cNvPr id="45080" name="Line 55"/>
            <p:cNvSpPr/>
            <p:nvPr/>
          </p:nvSpPr>
          <p:spPr>
            <a:xfrm>
              <a:off x="4402" y="1592"/>
              <a:ext cx="0" cy="1788"/>
            </a:xfrm>
            <a:prstGeom prst="line">
              <a:avLst/>
            </a:prstGeom>
            <a:ln w="19050" cap="flat" cmpd="sng">
              <a:solidFill>
                <a:schemeClr val="tx1"/>
              </a:solidFill>
              <a:prstDash val="solid"/>
              <a:headEnd type="none" w="med" len="med"/>
              <a:tailEnd type="none" w="sm" len="lg"/>
            </a:ln>
          </p:spPr>
        </p:sp>
        <p:sp>
          <p:nvSpPr>
            <p:cNvPr id="45081" name="Line 56"/>
            <p:cNvSpPr/>
            <p:nvPr/>
          </p:nvSpPr>
          <p:spPr>
            <a:xfrm>
              <a:off x="3665" y="1580"/>
              <a:ext cx="1552" cy="0"/>
            </a:xfrm>
            <a:prstGeom prst="line">
              <a:avLst/>
            </a:prstGeom>
            <a:ln w="12700" cap="flat" cmpd="sng">
              <a:solidFill>
                <a:schemeClr val="tx1"/>
              </a:solidFill>
              <a:prstDash val="solid"/>
              <a:headEnd type="none" w="med" len="med"/>
              <a:tailEnd type="none" w="sm" len="lg"/>
            </a:ln>
          </p:spPr>
        </p:sp>
        <p:sp>
          <p:nvSpPr>
            <p:cNvPr id="45082" name="Line 57"/>
            <p:cNvSpPr/>
            <p:nvPr/>
          </p:nvSpPr>
          <p:spPr>
            <a:xfrm>
              <a:off x="3162" y="2132"/>
              <a:ext cx="2049" cy="0"/>
            </a:xfrm>
            <a:prstGeom prst="line">
              <a:avLst/>
            </a:prstGeom>
            <a:ln w="12700" cap="flat" cmpd="sng">
              <a:solidFill>
                <a:schemeClr val="tx1"/>
              </a:solidFill>
              <a:prstDash val="solid"/>
              <a:headEnd type="none" w="med" len="med"/>
              <a:tailEnd type="none" w="sm" len="lg"/>
            </a:ln>
          </p:spPr>
        </p:sp>
        <p:sp>
          <p:nvSpPr>
            <p:cNvPr id="45083" name="Text Box 58"/>
            <p:cNvSpPr txBox="1"/>
            <p:nvPr/>
          </p:nvSpPr>
          <p:spPr>
            <a:xfrm>
              <a:off x="3111" y="1386"/>
              <a:ext cx="564" cy="327"/>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45084" name="Text Box 59"/>
            <p:cNvSpPr txBox="1"/>
            <p:nvPr/>
          </p:nvSpPr>
          <p:spPr>
            <a:xfrm>
              <a:off x="3903" y="1124"/>
              <a:ext cx="1074"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45085" name="Text Box 60"/>
            <p:cNvSpPr txBox="1"/>
            <p:nvPr/>
          </p:nvSpPr>
          <p:spPr>
            <a:xfrm>
              <a:off x="3917" y="1694"/>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45086" name="Text Box 61"/>
            <p:cNvSpPr txBox="1"/>
            <p:nvPr/>
          </p:nvSpPr>
          <p:spPr>
            <a:xfrm>
              <a:off x="4682" y="1694"/>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45087" name="Text Box 62"/>
            <p:cNvSpPr txBox="1"/>
            <p:nvPr/>
          </p:nvSpPr>
          <p:spPr>
            <a:xfrm>
              <a:off x="3303" y="2198"/>
              <a:ext cx="278" cy="1134"/>
            </a:xfrm>
            <a:prstGeom prst="rect">
              <a:avLst/>
            </a:prstGeom>
            <a:noFill/>
            <a:ln w="19050">
              <a:noFill/>
            </a:ln>
          </p:spPr>
          <p:txBody>
            <a:bodyPr wrap="none">
              <a:spAutoFit/>
            </a:bodyPr>
            <a:lstStyle/>
            <a:p>
              <a:r>
                <a:rPr lang="en-US" altLang="zh-CN" sz="2800" dirty="0">
                  <a:latin typeface="Times New Roman" panose="02020603050405020304" pitchFamily="18" charset="0"/>
                </a:rPr>
                <a:t>A</a:t>
              </a:r>
            </a:p>
            <a:p>
              <a:r>
                <a:rPr lang="en-US" altLang="zh-CN" sz="2800" dirty="0">
                  <a:latin typeface="Times New Roman" panose="02020603050405020304" pitchFamily="18" charset="0"/>
                </a:rPr>
                <a:t>B</a:t>
              </a:r>
            </a:p>
            <a:p>
              <a:r>
                <a:rPr lang="en-US" altLang="zh-CN" sz="2800" dirty="0">
                  <a:latin typeface="Times New Roman" panose="02020603050405020304" pitchFamily="18" charset="0"/>
                </a:rPr>
                <a:t>C</a:t>
              </a: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45088" name="Text Box 63"/>
            <p:cNvSpPr txBox="1"/>
            <p:nvPr/>
          </p:nvSpPr>
          <p:spPr>
            <a:xfrm>
              <a:off x="3911" y="2198"/>
              <a:ext cx="452" cy="1134"/>
            </a:xfrm>
            <a:prstGeom prst="rect">
              <a:avLst/>
            </a:prstGeom>
            <a:noFill/>
            <a:ln w="19050">
              <a:noFill/>
            </a:ln>
          </p:spPr>
          <p:txBody>
            <a:bodyPr wrap="none">
              <a:spAutoFit/>
            </a:bodyPr>
            <a:lstStyle/>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d/d</a:t>
              </a:r>
            </a:p>
            <a:p>
              <a:r>
                <a:rPr lang="en-US" altLang="zh-CN" sz="2800" dirty="0">
                  <a:latin typeface="Times New Roman" panose="02020603050405020304" pitchFamily="18" charset="0"/>
                </a:rPr>
                <a:t>d/d</a:t>
              </a:r>
            </a:p>
          </p:txBody>
        </p:sp>
        <p:sp>
          <p:nvSpPr>
            <p:cNvPr id="45089" name="Text Box 64"/>
            <p:cNvSpPr txBox="1"/>
            <p:nvPr/>
          </p:nvSpPr>
          <p:spPr>
            <a:xfrm>
              <a:off x="4687" y="2198"/>
              <a:ext cx="452" cy="1134"/>
            </a:xfrm>
            <a:prstGeom prst="rect">
              <a:avLst/>
            </a:prstGeom>
            <a:noFill/>
            <a:ln w="19050">
              <a:noFill/>
            </a:ln>
          </p:spPr>
          <p:txBody>
            <a:bodyPr wrap="none">
              <a:spAutoFit/>
            </a:bodyPr>
            <a:lstStyle/>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p>
            <a:p>
              <a:r>
                <a:rPr lang="en-US" altLang="zh-CN" sz="2800" dirty="0">
                  <a:latin typeface="Times New Roman" panose="02020603050405020304" pitchFamily="18" charset="0"/>
                </a:rPr>
                <a:t>d/1</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9204"/>
                                        </p:tgtEl>
                                        <p:attrNameLst>
                                          <p:attrName>style.visibility</p:attrName>
                                        </p:attrNameLst>
                                      </p:cBhvr>
                                      <p:to>
                                        <p:strVal val="visible"/>
                                      </p:to>
                                    </p:set>
                                    <p:animEffect transition="in" filter="wipe(left)">
                                      <p:cBhvr>
                                        <p:cTn id="7" dur="500"/>
                                        <p:tgtEl>
                                          <p:spTgt spid="17920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7920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92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up)">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7922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2"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right)">
                                      <p:cBhvr>
                                        <p:cTn id="34" dur="500"/>
                                        <p:tgtEl>
                                          <p:spTgt spid="3"/>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920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wipe(up)">
                                      <p:cBhvr>
                                        <p:cTn id="43" dur="500"/>
                                        <p:tgtEl>
                                          <p:spTgt spid="9"/>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7923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up)">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wipe(down)">
                                      <p:cBhvr>
                                        <p:cTn id="57" dur="500"/>
                                        <p:tgtEl>
                                          <p:spTgt spid="8"/>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79241"/>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7"/>
                                        </p:tgtEl>
                                        <p:attrNameLst>
                                          <p:attrName>style.visibility</p:attrName>
                                        </p:attrNameLst>
                                      </p:cBhvr>
                                      <p:to>
                                        <p:strVal val="visible"/>
                                      </p:to>
                                    </p:set>
                                    <p:animEffect transition="in" filter="wipe(up)">
                                      <p:cBhvr>
                                        <p:cTn id="66" dur="500"/>
                                        <p:tgtEl>
                                          <p:spTgt spid="7"/>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7924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nodeType="clickEffect">
                                  <p:stCondLst>
                                    <p:cond delay="0"/>
                                  </p:stCondLst>
                                  <p:childTnLst>
                                    <p:set>
                                      <p:cBhvr>
                                        <p:cTn id="74" dur="1" fill="hold">
                                          <p:stCondLst>
                                            <p:cond delay="0"/>
                                          </p:stCondLst>
                                        </p:cTn>
                                        <p:tgtEl>
                                          <p:spTgt spid="6"/>
                                        </p:tgtEl>
                                        <p:attrNameLst>
                                          <p:attrName>style.visibility</p:attrName>
                                        </p:attrNameLst>
                                      </p:cBhvr>
                                      <p:to>
                                        <p:strVal val="visible"/>
                                      </p:to>
                                    </p:set>
                                    <p:animEffect transition="in" filter="wipe(up)">
                                      <p:cBhvr>
                                        <p:cTn id="75" dur="500"/>
                                        <p:tgtEl>
                                          <p:spTgt spid="6"/>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179239"/>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24" presetClass="entr" presetSubtype="0" fill="hold" nodeType="clickEffect">
                                  <p:stCondLst>
                                    <p:cond delay="0"/>
                                  </p:stCondLst>
                                  <p:childTnLst>
                                    <p:set>
                                      <p:cBhvr>
                                        <p:cTn id="83" dur="1" fill="hold">
                                          <p:stCondLst>
                                            <p:cond delay="0"/>
                                          </p:stCondLst>
                                        </p:cTn>
                                        <p:tgtEl>
                                          <p:spTgt spid="10"/>
                                        </p:tgtEl>
                                        <p:attrNameLst>
                                          <p:attrName>style.visibility</p:attrName>
                                        </p:attrNameLst>
                                      </p:cBhvr>
                                      <p:to>
                                        <p:strVal val="visible"/>
                                      </p:to>
                                    </p:set>
                                    <p:anim to="" calcmode="lin" valueType="num">
                                      <p:cBhvr>
                                        <p:cTn id="84" dur="1" fill="hold"/>
                                        <p:tgtEl>
                                          <p:spTgt spid="10"/>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4" grpId="0"/>
      <p:bldP spid="179206" grpId="0" bldLvl="0" animBg="1"/>
      <p:bldP spid="179207" grpId="0" bldLvl="0" animBg="1"/>
      <p:bldP spid="179214" grpId="0" bldLvl="0" animBg="1"/>
      <p:bldP spid="179221" grpId="0" bldLvl="0" animBg="1"/>
      <p:bldP spid="179238" grpId="0" bldLvl="0" animBg="1"/>
      <p:bldP spid="179239" grpId="0" bldLvl="0" animBg="1"/>
      <p:bldP spid="179240" grpId="0" bldLvl="0" animBg="1"/>
      <p:bldP spid="179241" grpId="0" bldLvl="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Text Box 2" descr="羊皮纸"/>
          <p:cNvSpPr txBox="1"/>
          <p:nvPr/>
        </p:nvSpPr>
        <p:spPr>
          <a:xfrm>
            <a:off x="685800" y="457200"/>
            <a:ext cx="6648450" cy="690563"/>
          </a:xfrm>
          <a:prstGeom prst="rect">
            <a:avLst/>
          </a:prstGeom>
          <a:blipFill rotWithShape="1">
            <a:blip r:embed="rId2"/>
          </a:blipFill>
          <a:ln w="19050">
            <a:noFill/>
          </a:ln>
        </p:spPr>
        <p:txBody>
          <a:bodyPr>
            <a:spAutoFit/>
          </a:bodyPr>
          <a:lstStyle/>
          <a:p>
            <a:pPr algn="just" defTabSz="2095500">
              <a:lnSpc>
                <a:spcPct val="140000"/>
              </a:lnSpc>
              <a:spcBef>
                <a:spcPct val="50000"/>
              </a:spcBef>
              <a:buChar char="•"/>
            </a:pPr>
            <a:r>
              <a:rPr lang="en-US" altLang="zh-CN" sz="2800" dirty="0">
                <a:latin typeface="Times New Roman" panose="02020603050405020304" pitchFamily="18" charset="0"/>
              </a:rPr>
              <a:t> </a:t>
            </a:r>
            <a:r>
              <a:rPr lang="zh-CN" altLang="en-US" sz="2800" dirty="0">
                <a:latin typeface="Times New Roman" panose="02020603050405020304" pitchFamily="18" charset="0"/>
              </a:rPr>
              <a:t>相容状态无传递性：</a:t>
            </a:r>
          </a:p>
        </p:txBody>
      </p:sp>
      <p:grpSp>
        <p:nvGrpSpPr>
          <p:cNvPr id="2" name="Group 3"/>
          <p:cNvGrpSpPr/>
          <p:nvPr/>
        </p:nvGrpSpPr>
        <p:grpSpPr>
          <a:xfrm>
            <a:off x="1328738" y="1317625"/>
            <a:ext cx="854075" cy="2565400"/>
            <a:chOff x="1761" y="1310"/>
            <a:chExt cx="538" cy="1616"/>
          </a:xfrm>
        </p:grpSpPr>
        <p:sp>
          <p:nvSpPr>
            <p:cNvPr id="46112" name="Oval 4"/>
            <p:cNvSpPr/>
            <p:nvPr/>
          </p:nvSpPr>
          <p:spPr>
            <a:xfrm>
              <a:off x="1761" y="131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 S</a:t>
              </a:r>
              <a:r>
                <a:rPr lang="en-US" altLang="zh-CN" sz="2800" i="1" baseline="-25000" dirty="0">
                  <a:latin typeface="Times New Roman" panose="02020603050405020304" pitchFamily="18" charset="0"/>
                </a:rPr>
                <a:t>i</a:t>
              </a:r>
            </a:p>
          </p:txBody>
        </p:sp>
        <p:sp>
          <p:nvSpPr>
            <p:cNvPr id="46113" name="Oval 5"/>
            <p:cNvSpPr/>
            <p:nvPr/>
          </p:nvSpPr>
          <p:spPr>
            <a:xfrm>
              <a:off x="1761" y="2388"/>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j</a:t>
              </a:r>
            </a:p>
          </p:txBody>
        </p:sp>
      </p:grpSp>
      <p:grpSp>
        <p:nvGrpSpPr>
          <p:cNvPr id="3" name="Group 6"/>
          <p:cNvGrpSpPr/>
          <p:nvPr/>
        </p:nvGrpSpPr>
        <p:grpSpPr>
          <a:xfrm>
            <a:off x="2198688" y="3733800"/>
            <a:ext cx="2201862" cy="1300163"/>
            <a:chOff x="2309" y="2832"/>
            <a:chExt cx="1387" cy="819"/>
          </a:xfrm>
        </p:grpSpPr>
        <p:sp>
          <p:nvSpPr>
            <p:cNvPr id="46110" name="Text Box 7"/>
            <p:cNvSpPr txBox="1"/>
            <p:nvPr/>
          </p:nvSpPr>
          <p:spPr>
            <a:xfrm>
              <a:off x="2864" y="3315"/>
              <a:ext cx="402" cy="327"/>
            </a:xfrm>
            <a:prstGeom prst="rect">
              <a:avLst/>
            </a:prstGeom>
            <a:noFill/>
            <a:ln w="38100">
              <a:noFill/>
            </a:ln>
          </p:spPr>
          <p:txBody>
            <a:bodyPr>
              <a:spAutoFit/>
            </a:bodyPr>
            <a:lstStyle/>
            <a:p>
              <a:r>
                <a:rPr lang="en-US" altLang="zh-CN" sz="2800" dirty="0">
                  <a:latin typeface="Times New Roman" panose="02020603050405020304" pitchFamily="18" charset="0"/>
                </a:rPr>
                <a:t>1/1</a:t>
              </a:r>
            </a:p>
          </p:txBody>
        </p:sp>
        <p:sp>
          <p:nvSpPr>
            <p:cNvPr id="46111" name="Freeform 8"/>
            <p:cNvSpPr/>
            <p:nvPr/>
          </p:nvSpPr>
          <p:spPr>
            <a:xfrm>
              <a:off x="2309" y="2832"/>
              <a:ext cx="1387" cy="819"/>
            </a:xfrm>
            <a:custGeom>
              <a:avLst/>
              <a:gdLst>
                <a:gd name="txL" fmla="*/ 0 w 1135"/>
                <a:gd name="txT" fmla="*/ 0 h 543"/>
                <a:gd name="txR" fmla="*/ 1135 w 1135"/>
                <a:gd name="txB" fmla="*/ 543 h 543"/>
              </a:gdLst>
              <a:ahLst/>
              <a:cxnLst>
                <a:cxn ang="0">
                  <a:pos x="1695" y="0"/>
                </a:cxn>
                <a:cxn ang="0">
                  <a:pos x="832" y="849"/>
                </a:cxn>
                <a:cxn ang="0">
                  <a:pos x="0" y="1235"/>
                </a:cxn>
              </a:cxnLst>
              <a:rect l="txL" t="txT" r="txR" b="txB"/>
              <a:pathLst>
                <a:path w="1135" h="543">
                  <a:moveTo>
                    <a:pt x="1135" y="0"/>
                  </a:moveTo>
                  <a:cubicBezTo>
                    <a:pt x="1039" y="60"/>
                    <a:pt x="746" y="283"/>
                    <a:pt x="557" y="373"/>
                  </a:cubicBezTo>
                  <a:cubicBezTo>
                    <a:pt x="368" y="463"/>
                    <a:pt x="116" y="508"/>
                    <a:pt x="0" y="543"/>
                  </a:cubicBezTo>
                </a:path>
              </a:pathLst>
            </a:custGeom>
            <a:noFill/>
            <a:ln w="38100" cap="flat" cmpd="sng">
              <a:solidFill>
                <a:srgbClr val="3333FF">
                  <a:alpha val="100000"/>
                </a:srgbClr>
              </a:solidFill>
              <a:prstDash val="solid"/>
              <a:round/>
              <a:headEnd type="triangle" w="med" len="med"/>
              <a:tailEnd type="none" w="med" len="med"/>
            </a:ln>
          </p:spPr>
          <p:txBody>
            <a:bodyPr/>
            <a:lstStyle/>
            <a:p>
              <a:endParaRPr lang="zh-CN" altLang="en-US" sz="2800"/>
            </a:p>
          </p:txBody>
        </p:sp>
      </p:grpSp>
      <p:grpSp>
        <p:nvGrpSpPr>
          <p:cNvPr id="4" name="Group 9"/>
          <p:cNvGrpSpPr/>
          <p:nvPr/>
        </p:nvGrpSpPr>
        <p:grpSpPr>
          <a:xfrm>
            <a:off x="428625" y="2019300"/>
            <a:ext cx="942975" cy="1219200"/>
            <a:chOff x="1194" y="1752"/>
            <a:chExt cx="594" cy="768"/>
          </a:xfrm>
        </p:grpSpPr>
        <p:sp>
          <p:nvSpPr>
            <p:cNvPr id="46108" name="Text Box 10"/>
            <p:cNvSpPr txBox="1"/>
            <p:nvPr/>
          </p:nvSpPr>
          <p:spPr>
            <a:xfrm>
              <a:off x="1194" y="1923"/>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0/0</a:t>
              </a:r>
            </a:p>
          </p:txBody>
        </p:sp>
        <p:sp>
          <p:nvSpPr>
            <p:cNvPr id="46109" name="Freeform 11"/>
            <p:cNvSpPr/>
            <p:nvPr/>
          </p:nvSpPr>
          <p:spPr>
            <a:xfrm>
              <a:off x="1538" y="1752"/>
              <a:ext cx="250" cy="768"/>
            </a:xfrm>
            <a:custGeom>
              <a:avLst/>
              <a:gdLst>
                <a:gd name="txL" fmla="*/ 0 w 250"/>
                <a:gd name="txT" fmla="*/ 0 h 768"/>
                <a:gd name="txR" fmla="*/ 250 w 250"/>
                <a:gd name="txB" fmla="*/ 768 h 768"/>
              </a:gdLst>
              <a:ahLst/>
              <a:cxnLst>
                <a:cxn ang="0">
                  <a:pos x="226" y="768"/>
                </a:cxn>
                <a:cxn ang="0">
                  <a:pos x="106" y="648"/>
                </a:cxn>
                <a:cxn ang="0">
                  <a:pos x="22" y="468"/>
                </a:cxn>
                <a:cxn ang="0">
                  <a:pos x="10" y="312"/>
                </a:cxn>
                <a:cxn ang="0">
                  <a:pos x="82" y="132"/>
                </a:cxn>
                <a:cxn ang="0">
                  <a:pos x="250" y="0"/>
                </a:cxn>
              </a:cxnLst>
              <a:rect l="txL" t="txT" r="txR" b="txB"/>
              <a:pathLst>
                <a:path w="250" h="768">
                  <a:moveTo>
                    <a:pt x="226" y="768"/>
                  </a:moveTo>
                  <a:cubicBezTo>
                    <a:pt x="206" y="748"/>
                    <a:pt x="140" y="698"/>
                    <a:pt x="106" y="648"/>
                  </a:cubicBezTo>
                  <a:cubicBezTo>
                    <a:pt x="72" y="598"/>
                    <a:pt x="38" y="524"/>
                    <a:pt x="22" y="468"/>
                  </a:cubicBezTo>
                  <a:cubicBezTo>
                    <a:pt x="6" y="412"/>
                    <a:pt x="0" y="368"/>
                    <a:pt x="10" y="312"/>
                  </a:cubicBezTo>
                  <a:cubicBezTo>
                    <a:pt x="20" y="256"/>
                    <a:pt x="42" y="184"/>
                    <a:pt x="82" y="132"/>
                  </a:cubicBezTo>
                  <a:cubicBezTo>
                    <a:pt x="122" y="80"/>
                    <a:pt x="215" y="27"/>
                    <a:pt x="250" y="0"/>
                  </a:cubicBezTo>
                </a:path>
              </a:pathLst>
            </a:custGeom>
            <a:noFill/>
            <a:ln w="38100" cap="flat" cmpd="sng">
              <a:solidFill>
                <a:srgbClr val="3333FF">
                  <a:alpha val="100000"/>
                </a:srgbClr>
              </a:solidFill>
              <a:prstDash val="solid"/>
              <a:round/>
              <a:headEnd type="triangle" w="med" len="med"/>
              <a:tailEnd type="none" w="med" len="med"/>
            </a:ln>
          </p:spPr>
          <p:txBody>
            <a:bodyPr/>
            <a:lstStyle/>
            <a:p>
              <a:endParaRPr lang="zh-CN" altLang="en-US" sz="2800"/>
            </a:p>
          </p:txBody>
        </p:sp>
      </p:grpSp>
      <p:sp>
        <p:nvSpPr>
          <p:cNvPr id="180236" name="Line 12"/>
          <p:cNvSpPr/>
          <p:nvPr/>
        </p:nvSpPr>
        <p:spPr>
          <a:xfrm>
            <a:off x="5181600" y="3448050"/>
            <a:ext cx="685800" cy="0"/>
          </a:xfrm>
          <a:prstGeom prst="line">
            <a:avLst/>
          </a:prstGeom>
          <a:ln w="38100" cap="flat" cmpd="sng">
            <a:solidFill>
              <a:srgbClr val="3333FF"/>
            </a:solidFill>
            <a:prstDash val="solid"/>
            <a:headEnd type="none" w="med" len="med"/>
            <a:tailEnd type="triangle" w="sm" len="lg"/>
          </a:ln>
        </p:spPr>
      </p:sp>
      <p:grpSp>
        <p:nvGrpSpPr>
          <p:cNvPr id="5" name="Group 13"/>
          <p:cNvGrpSpPr/>
          <p:nvPr/>
        </p:nvGrpSpPr>
        <p:grpSpPr>
          <a:xfrm>
            <a:off x="409575" y="3657600"/>
            <a:ext cx="923925" cy="1276350"/>
            <a:chOff x="1182" y="2784"/>
            <a:chExt cx="582" cy="804"/>
          </a:xfrm>
        </p:grpSpPr>
        <p:sp>
          <p:nvSpPr>
            <p:cNvPr id="46106" name="Text Box 14"/>
            <p:cNvSpPr txBox="1"/>
            <p:nvPr/>
          </p:nvSpPr>
          <p:spPr>
            <a:xfrm>
              <a:off x="1182" y="2943"/>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0/0</a:t>
              </a:r>
            </a:p>
          </p:txBody>
        </p:sp>
        <p:sp>
          <p:nvSpPr>
            <p:cNvPr id="46107" name="Freeform 15"/>
            <p:cNvSpPr/>
            <p:nvPr/>
          </p:nvSpPr>
          <p:spPr>
            <a:xfrm>
              <a:off x="1538" y="2784"/>
              <a:ext cx="226" cy="804"/>
            </a:xfrm>
            <a:custGeom>
              <a:avLst/>
              <a:gdLst>
                <a:gd name="txL" fmla="*/ 0 w 226"/>
                <a:gd name="txT" fmla="*/ 0 h 804"/>
                <a:gd name="txR" fmla="*/ 226 w 226"/>
                <a:gd name="txB" fmla="*/ 804 h 804"/>
              </a:gdLst>
              <a:ahLst/>
              <a:cxnLst>
                <a:cxn ang="0">
                  <a:pos x="226" y="804"/>
                </a:cxn>
                <a:cxn ang="0">
                  <a:pos x="82" y="696"/>
                </a:cxn>
                <a:cxn ang="0">
                  <a:pos x="10" y="528"/>
                </a:cxn>
                <a:cxn ang="0">
                  <a:pos x="22" y="324"/>
                </a:cxn>
                <a:cxn ang="0">
                  <a:pos x="118" y="144"/>
                </a:cxn>
                <a:cxn ang="0">
                  <a:pos x="226" y="0"/>
                </a:cxn>
              </a:cxnLst>
              <a:rect l="txL" t="txT" r="txR" b="txB"/>
              <a:pathLst>
                <a:path w="226" h="804">
                  <a:moveTo>
                    <a:pt x="226" y="804"/>
                  </a:moveTo>
                  <a:cubicBezTo>
                    <a:pt x="202" y="786"/>
                    <a:pt x="118" y="742"/>
                    <a:pt x="82" y="696"/>
                  </a:cubicBezTo>
                  <a:cubicBezTo>
                    <a:pt x="46" y="650"/>
                    <a:pt x="20" y="590"/>
                    <a:pt x="10" y="528"/>
                  </a:cubicBezTo>
                  <a:cubicBezTo>
                    <a:pt x="0" y="466"/>
                    <a:pt x="4" y="388"/>
                    <a:pt x="22" y="324"/>
                  </a:cubicBezTo>
                  <a:cubicBezTo>
                    <a:pt x="40" y="260"/>
                    <a:pt x="84" y="198"/>
                    <a:pt x="118" y="144"/>
                  </a:cubicBezTo>
                  <a:cubicBezTo>
                    <a:pt x="152" y="90"/>
                    <a:pt x="204" y="30"/>
                    <a:pt x="226" y="0"/>
                  </a:cubicBezTo>
                </a:path>
              </a:pathLst>
            </a:custGeom>
            <a:noFill/>
            <a:ln w="38100" cap="flat" cmpd="sng">
              <a:solidFill>
                <a:srgbClr val="3333FF">
                  <a:alpha val="100000"/>
                </a:srgbClr>
              </a:solidFill>
              <a:prstDash val="solid"/>
              <a:round/>
              <a:headEnd type="none" w="med" len="med"/>
              <a:tailEnd type="triangle" w="med" len="med"/>
            </a:ln>
          </p:spPr>
          <p:txBody>
            <a:bodyPr/>
            <a:lstStyle/>
            <a:p>
              <a:endParaRPr lang="zh-CN" altLang="en-US" sz="2800"/>
            </a:p>
          </p:txBody>
        </p:sp>
      </p:grpSp>
      <p:grpSp>
        <p:nvGrpSpPr>
          <p:cNvPr id="6" name="Group 16"/>
          <p:cNvGrpSpPr/>
          <p:nvPr/>
        </p:nvGrpSpPr>
        <p:grpSpPr>
          <a:xfrm>
            <a:off x="2095500" y="2038350"/>
            <a:ext cx="990600" cy="1219200"/>
            <a:chOff x="2244" y="1764"/>
            <a:chExt cx="624" cy="768"/>
          </a:xfrm>
        </p:grpSpPr>
        <p:sp>
          <p:nvSpPr>
            <p:cNvPr id="46104" name="Freeform 17"/>
            <p:cNvSpPr/>
            <p:nvPr/>
          </p:nvSpPr>
          <p:spPr>
            <a:xfrm>
              <a:off x="2244" y="1764"/>
              <a:ext cx="260" cy="768"/>
            </a:xfrm>
            <a:custGeom>
              <a:avLst/>
              <a:gdLst>
                <a:gd name="txL" fmla="*/ 0 w 260"/>
                <a:gd name="txT" fmla="*/ 0 h 768"/>
                <a:gd name="txR" fmla="*/ 260 w 260"/>
                <a:gd name="txB" fmla="*/ 768 h 768"/>
              </a:gdLst>
              <a:ahLst/>
              <a:cxnLst>
                <a:cxn ang="0">
                  <a:pos x="0" y="0"/>
                </a:cxn>
                <a:cxn ang="0">
                  <a:pos x="180" y="120"/>
                </a:cxn>
                <a:cxn ang="0">
                  <a:pos x="240" y="216"/>
                </a:cxn>
                <a:cxn ang="0">
                  <a:pos x="252" y="360"/>
                </a:cxn>
                <a:cxn ang="0">
                  <a:pos x="252" y="468"/>
                </a:cxn>
                <a:cxn ang="0">
                  <a:pos x="204" y="600"/>
                </a:cxn>
                <a:cxn ang="0">
                  <a:pos x="60" y="768"/>
                </a:cxn>
              </a:cxnLst>
              <a:rect l="txL" t="txT" r="txR" b="txB"/>
              <a:pathLst>
                <a:path w="260" h="768">
                  <a:moveTo>
                    <a:pt x="0" y="0"/>
                  </a:moveTo>
                  <a:cubicBezTo>
                    <a:pt x="30" y="20"/>
                    <a:pt x="140" y="84"/>
                    <a:pt x="180" y="120"/>
                  </a:cubicBezTo>
                  <a:cubicBezTo>
                    <a:pt x="220" y="156"/>
                    <a:pt x="228" y="176"/>
                    <a:pt x="240" y="216"/>
                  </a:cubicBezTo>
                  <a:cubicBezTo>
                    <a:pt x="252" y="256"/>
                    <a:pt x="250" y="318"/>
                    <a:pt x="252" y="360"/>
                  </a:cubicBezTo>
                  <a:cubicBezTo>
                    <a:pt x="254" y="402"/>
                    <a:pt x="260" y="428"/>
                    <a:pt x="252" y="468"/>
                  </a:cubicBezTo>
                  <a:cubicBezTo>
                    <a:pt x="244" y="508"/>
                    <a:pt x="236" y="550"/>
                    <a:pt x="204" y="600"/>
                  </a:cubicBezTo>
                  <a:cubicBezTo>
                    <a:pt x="172" y="650"/>
                    <a:pt x="90" y="733"/>
                    <a:pt x="60" y="768"/>
                  </a:cubicBezTo>
                </a:path>
              </a:pathLst>
            </a:custGeom>
            <a:noFill/>
            <a:ln w="38100" cap="flat" cmpd="sng">
              <a:solidFill>
                <a:srgbClr val="3333FF">
                  <a:alpha val="100000"/>
                </a:srgbClr>
              </a:solidFill>
              <a:prstDash val="solid"/>
              <a:round/>
              <a:headEnd type="triangle" w="med" len="med"/>
              <a:tailEnd type="none" w="med" len="med"/>
            </a:ln>
          </p:spPr>
          <p:txBody>
            <a:bodyPr/>
            <a:lstStyle/>
            <a:p>
              <a:endParaRPr lang="zh-CN" altLang="en-US" sz="2800"/>
            </a:p>
          </p:txBody>
        </p:sp>
        <p:sp>
          <p:nvSpPr>
            <p:cNvPr id="46105" name="Text Box 18"/>
            <p:cNvSpPr txBox="1"/>
            <p:nvPr/>
          </p:nvSpPr>
          <p:spPr>
            <a:xfrm>
              <a:off x="2466" y="1935"/>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0/0</a:t>
              </a:r>
            </a:p>
          </p:txBody>
        </p:sp>
      </p:grpSp>
      <p:grpSp>
        <p:nvGrpSpPr>
          <p:cNvPr id="7" name="Group 19"/>
          <p:cNvGrpSpPr/>
          <p:nvPr/>
        </p:nvGrpSpPr>
        <p:grpSpPr>
          <a:xfrm>
            <a:off x="1328738" y="3657600"/>
            <a:ext cx="1814512" cy="1730375"/>
            <a:chOff x="1761" y="2784"/>
            <a:chExt cx="1143" cy="1090"/>
          </a:xfrm>
        </p:grpSpPr>
        <p:sp>
          <p:nvSpPr>
            <p:cNvPr id="46101" name="Oval 20"/>
            <p:cNvSpPr/>
            <p:nvPr/>
          </p:nvSpPr>
          <p:spPr>
            <a:xfrm>
              <a:off x="1761" y="3336"/>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k</a:t>
              </a:r>
            </a:p>
          </p:txBody>
        </p:sp>
        <p:sp>
          <p:nvSpPr>
            <p:cNvPr id="46102" name="Freeform 21"/>
            <p:cNvSpPr/>
            <p:nvPr/>
          </p:nvSpPr>
          <p:spPr>
            <a:xfrm>
              <a:off x="2280" y="2784"/>
              <a:ext cx="260" cy="720"/>
            </a:xfrm>
            <a:custGeom>
              <a:avLst/>
              <a:gdLst>
                <a:gd name="txL" fmla="*/ 0 w 260"/>
                <a:gd name="txT" fmla="*/ 0 h 720"/>
                <a:gd name="txR" fmla="*/ 260 w 260"/>
                <a:gd name="txB" fmla="*/ 720 h 720"/>
              </a:gdLst>
              <a:ahLst/>
              <a:cxnLst>
                <a:cxn ang="0">
                  <a:pos x="0" y="0"/>
                </a:cxn>
                <a:cxn ang="0">
                  <a:pos x="180" y="120"/>
                </a:cxn>
                <a:cxn ang="0">
                  <a:pos x="240" y="216"/>
                </a:cxn>
                <a:cxn ang="0">
                  <a:pos x="252" y="360"/>
                </a:cxn>
                <a:cxn ang="0">
                  <a:pos x="252" y="468"/>
                </a:cxn>
                <a:cxn ang="0">
                  <a:pos x="204" y="600"/>
                </a:cxn>
                <a:cxn ang="0">
                  <a:pos x="36" y="720"/>
                </a:cxn>
              </a:cxnLst>
              <a:rect l="txL" t="txT" r="txR" b="txB"/>
              <a:pathLst>
                <a:path w="260" h="720">
                  <a:moveTo>
                    <a:pt x="0" y="0"/>
                  </a:moveTo>
                  <a:cubicBezTo>
                    <a:pt x="30" y="20"/>
                    <a:pt x="140" y="84"/>
                    <a:pt x="180" y="120"/>
                  </a:cubicBezTo>
                  <a:cubicBezTo>
                    <a:pt x="220" y="156"/>
                    <a:pt x="228" y="176"/>
                    <a:pt x="240" y="216"/>
                  </a:cubicBezTo>
                  <a:cubicBezTo>
                    <a:pt x="252" y="256"/>
                    <a:pt x="250" y="318"/>
                    <a:pt x="252" y="360"/>
                  </a:cubicBezTo>
                  <a:cubicBezTo>
                    <a:pt x="254" y="402"/>
                    <a:pt x="260" y="428"/>
                    <a:pt x="252" y="468"/>
                  </a:cubicBezTo>
                  <a:cubicBezTo>
                    <a:pt x="244" y="508"/>
                    <a:pt x="240" y="558"/>
                    <a:pt x="204" y="600"/>
                  </a:cubicBezTo>
                  <a:cubicBezTo>
                    <a:pt x="168" y="642"/>
                    <a:pt x="71" y="695"/>
                    <a:pt x="36" y="720"/>
                  </a:cubicBezTo>
                </a:path>
              </a:pathLst>
            </a:custGeom>
            <a:noFill/>
            <a:ln w="38100" cap="flat" cmpd="sng">
              <a:solidFill>
                <a:srgbClr val="3333FF">
                  <a:alpha val="100000"/>
                </a:srgbClr>
              </a:solidFill>
              <a:prstDash val="solid"/>
              <a:round/>
              <a:headEnd type="none" w="med" len="med"/>
              <a:tailEnd type="triangle" w="med" len="med"/>
            </a:ln>
          </p:spPr>
          <p:txBody>
            <a:bodyPr/>
            <a:lstStyle/>
            <a:p>
              <a:endParaRPr lang="zh-CN" altLang="en-US" sz="2800"/>
            </a:p>
          </p:txBody>
        </p:sp>
        <p:sp>
          <p:nvSpPr>
            <p:cNvPr id="46103" name="Text Box 22"/>
            <p:cNvSpPr txBox="1"/>
            <p:nvPr/>
          </p:nvSpPr>
          <p:spPr>
            <a:xfrm>
              <a:off x="2502" y="2931"/>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0/0</a:t>
              </a:r>
            </a:p>
          </p:txBody>
        </p:sp>
      </p:grpSp>
      <p:grpSp>
        <p:nvGrpSpPr>
          <p:cNvPr id="8" name="Group 23"/>
          <p:cNvGrpSpPr/>
          <p:nvPr/>
        </p:nvGrpSpPr>
        <p:grpSpPr>
          <a:xfrm>
            <a:off x="2209800" y="1566863"/>
            <a:ext cx="2924175" cy="2316162"/>
            <a:chOff x="2316" y="1467"/>
            <a:chExt cx="1842" cy="1459"/>
          </a:xfrm>
        </p:grpSpPr>
        <p:sp>
          <p:nvSpPr>
            <p:cNvPr id="46094" name="Oval 24"/>
            <p:cNvSpPr/>
            <p:nvPr/>
          </p:nvSpPr>
          <p:spPr>
            <a:xfrm>
              <a:off x="3620" y="2388"/>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i="1" dirty="0">
                  <a:latin typeface="Times New Roman" panose="02020603050405020304" pitchFamily="18" charset="0"/>
                </a:rPr>
                <a:t>S</a:t>
              </a:r>
              <a:r>
                <a:rPr lang="en-US" altLang="zh-CN" sz="2800" i="1" baseline="-25000" dirty="0">
                  <a:latin typeface="Times New Roman" panose="02020603050405020304" pitchFamily="18" charset="0"/>
                </a:rPr>
                <a:t>l</a:t>
              </a:r>
            </a:p>
          </p:txBody>
        </p:sp>
        <p:grpSp>
          <p:nvGrpSpPr>
            <p:cNvPr id="46095" name="Group 25"/>
            <p:cNvGrpSpPr/>
            <p:nvPr/>
          </p:nvGrpSpPr>
          <p:grpSpPr>
            <a:xfrm>
              <a:off x="2316" y="1467"/>
              <a:ext cx="1393" cy="957"/>
              <a:chOff x="2316" y="1467"/>
              <a:chExt cx="1393" cy="957"/>
            </a:xfrm>
          </p:grpSpPr>
          <p:sp>
            <p:nvSpPr>
              <p:cNvPr id="46099" name="Text Box 26"/>
              <p:cNvSpPr txBox="1"/>
              <p:nvPr/>
            </p:nvSpPr>
            <p:spPr>
              <a:xfrm>
                <a:off x="2840" y="1467"/>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1/0</a:t>
                </a:r>
              </a:p>
            </p:txBody>
          </p:sp>
          <p:sp>
            <p:nvSpPr>
              <p:cNvPr id="46100" name="Freeform 27"/>
              <p:cNvSpPr/>
              <p:nvPr/>
            </p:nvSpPr>
            <p:spPr>
              <a:xfrm>
                <a:off x="2316" y="1500"/>
                <a:ext cx="1393" cy="924"/>
              </a:xfrm>
              <a:custGeom>
                <a:avLst/>
                <a:gdLst>
                  <a:gd name="txL" fmla="*/ 0 w 1033"/>
                  <a:gd name="txT" fmla="*/ 0 h 468"/>
                  <a:gd name="txR" fmla="*/ 1033 w 1033"/>
                  <a:gd name="txB" fmla="*/ 468 h 468"/>
                </a:gdLst>
                <a:ahLst/>
                <a:cxnLst>
                  <a:cxn ang="0">
                    <a:pos x="0" y="0"/>
                  </a:cxn>
                  <a:cxn ang="0">
                    <a:pos x="1069" y="608"/>
                  </a:cxn>
                  <a:cxn ang="0">
                    <a:pos x="1878" y="1824"/>
                  </a:cxn>
                </a:cxnLst>
                <a:rect l="txL" t="txT" r="txR" b="txB"/>
                <a:pathLst>
                  <a:path w="1033" h="468">
                    <a:moveTo>
                      <a:pt x="0" y="0"/>
                    </a:moveTo>
                    <a:cubicBezTo>
                      <a:pt x="98" y="28"/>
                      <a:pt x="416" y="78"/>
                      <a:pt x="588" y="156"/>
                    </a:cubicBezTo>
                    <a:cubicBezTo>
                      <a:pt x="760" y="234"/>
                      <a:pt x="940" y="403"/>
                      <a:pt x="1033" y="468"/>
                    </a:cubicBezTo>
                  </a:path>
                </a:pathLst>
              </a:custGeom>
              <a:noFill/>
              <a:ln w="38100" cap="flat" cmpd="sng">
                <a:solidFill>
                  <a:srgbClr val="3333FF">
                    <a:alpha val="100000"/>
                  </a:srgbClr>
                </a:solidFill>
                <a:prstDash val="solid"/>
                <a:round/>
                <a:headEnd type="none" w="med" len="med"/>
                <a:tailEnd type="triangle" w="sm" len="lg"/>
              </a:ln>
            </p:spPr>
            <p:txBody>
              <a:bodyPr/>
              <a:lstStyle/>
              <a:p>
                <a:endParaRPr lang="zh-CN" altLang="en-US" sz="2800"/>
              </a:p>
            </p:txBody>
          </p:sp>
        </p:grpSp>
        <p:grpSp>
          <p:nvGrpSpPr>
            <p:cNvPr id="46096" name="Group 28"/>
            <p:cNvGrpSpPr/>
            <p:nvPr/>
          </p:nvGrpSpPr>
          <p:grpSpPr>
            <a:xfrm>
              <a:off x="2316" y="2379"/>
              <a:ext cx="1296" cy="327"/>
              <a:chOff x="2316" y="2379"/>
              <a:chExt cx="1296" cy="327"/>
            </a:xfrm>
          </p:grpSpPr>
          <p:sp>
            <p:nvSpPr>
              <p:cNvPr id="46097" name="Line 29"/>
              <p:cNvSpPr/>
              <p:nvPr/>
            </p:nvSpPr>
            <p:spPr>
              <a:xfrm>
                <a:off x="2316" y="2640"/>
                <a:ext cx="1296" cy="0"/>
              </a:xfrm>
              <a:prstGeom prst="line">
                <a:avLst/>
              </a:prstGeom>
              <a:ln w="38100" cap="flat" cmpd="sng">
                <a:solidFill>
                  <a:srgbClr val="3333FF"/>
                </a:solidFill>
                <a:prstDash val="solid"/>
                <a:headEnd type="none" w="med" len="med"/>
                <a:tailEnd type="triangle" w="sm" len="lg"/>
              </a:ln>
            </p:spPr>
          </p:sp>
          <p:sp>
            <p:nvSpPr>
              <p:cNvPr id="46098" name="Text Box 30"/>
              <p:cNvSpPr txBox="1"/>
              <p:nvPr/>
            </p:nvSpPr>
            <p:spPr>
              <a:xfrm>
                <a:off x="2840" y="2379"/>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a:t>
                </a:r>
                <a:r>
                  <a:rPr lang="en-US" altLang="zh-CN" sz="2800" i="1" dirty="0">
                    <a:latin typeface="Times New Roman" panose="02020603050405020304" pitchFamily="18" charset="0"/>
                  </a:rPr>
                  <a:t>d</a:t>
                </a:r>
              </a:p>
            </p:txBody>
          </p:sp>
        </p:grpSp>
      </p:grpSp>
      <p:sp>
        <p:nvSpPr>
          <p:cNvPr id="180255" name="Text Box 31" descr="羊皮纸"/>
          <p:cNvSpPr txBox="1"/>
          <p:nvPr/>
        </p:nvSpPr>
        <p:spPr>
          <a:xfrm>
            <a:off x="6019800" y="2019300"/>
            <a:ext cx="2743200" cy="2914650"/>
          </a:xfrm>
          <a:prstGeom prst="rect">
            <a:avLst/>
          </a:prstGeom>
          <a:blipFill rotWithShape="1">
            <a:blip r:embed="rId2"/>
          </a:blipFill>
          <a:ln w="19050">
            <a:noFill/>
          </a:ln>
        </p:spPr>
        <p:txBody>
          <a:bodyPr>
            <a:spAutoFit/>
          </a:bodyPr>
          <a:lstStyle/>
          <a:p>
            <a:pPr>
              <a:lnSpc>
                <a:spcPct val="140000"/>
              </a:lnSpc>
              <a:spcBef>
                <a:spcPct val="50000"/>
              </a:spcBef>
            </a:pP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i</a:t>
            </a:r>
            <a:r>
              <a:rPr lang="zh-CN" altLang="en-US"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j</a:t>
            </a:r>
            <a:r>
              <a:rPr lang="zh-CN" altLang="zh-CN" sz="2800" dirty="0">
                <a:latin typeface="Times New Roman" panose="02020603050405020304" pitchFamily="18" charset="0"/>
              </a:rPr>
              <a:t>相容；</a:t>
            </a:r>
          </a:p>
          <a:p>
            <a:pPr>
              <a:lnSpc>
                <a:spcPct val="140000"/>
              </a:lnSpc>
              <a:spcBef>
                <a:spcPct val="50000"/>
              </a:spcBef>
            </a:pP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j</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k</a:t>
            </a:r>
            <a:r>
              <a:rPr lang="zh-CN" altLang="zh-CN" sz="2800" dirty="0">
                <a:latin typeface="Times New Roman" panose="02020603050405020304" pitchFamily="18" charset="0"/>
              </a:rPr>
              <a:t>相容；</a:t>
            </a:r>
          </a:p>
          <a:p>
            <a:pPr>
              <a:lnSpc>
                <a:spcPct val="140000"/>
              </a:lnSpc>
              <a:spcBef>
                <a:spcPct val="50000"/>
              </a:spcBef>
            </a:pPr>
            <a:r>
              <a:rPr lang="zh-CN" altLang="zh-CN" sz="2800" dirty="0">
                <a:latin typeface="Times New Roman" panose="02020603050405020304" pitchFamily="18" charset="0"/>
              </a:rPr>
              <a:t>但</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i</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k</a:t>
            </a:r>
            <a:r>
              <a:rPr lang="zh-CN" altLang="zh-CN" sz="2800" dirty="0">
                <a:latin typeface="Times New Roman" panose="02020603050405020304" pitchFamily="18" charset="0"/>
              </a:rPr>
              <a:t>不相容。</a:t>
            </a:r>
          </a:p>
        </p:txBody>
      </p:sp>
      <p:sp>
        <p:nvSpPr>
          <p:cNvPr id="180256" name="Text Box 32"/>
          <p:cNvSpPr txBox="1"/>
          <p:nvPr/>
        </p:nvSpPr>
        <p:spPr>
          <a:xfrm>
            <a:off x="685800" y="6067425"/>
            <a:ext cx="8229600" cy="561975"/>
          </a:xfrm>
          <a:prstGeom prst="rect">
            <a:avLst/>
          </a:prstGeom>
          <a:noFill/>
          <a:ln w="19050">
            <a:noFill/>
          </a:ln>
        </p:spPr>
        <p:txBody>
          <a:bodyPr>
            <a:spAutoFit/>
          </a:bodyPr>
          <a:lstStyle/>
          <a:p>
            <a:pPr algn="just" defTabSz="2571750">
              <a:lnSpc>
                <a:spcPct val="110000"/>
              </a:lnSpc>
              <a:spcBef>
                <a:spcPct val="50000"/>
              </a:spcBef>
              <a:buChar char="•"/>
            </a:pPr>
            <a:r>
              <a:rPr lang="zh-CN" altLang="en-US" sz="2800" dirty="0">
                <a:latin typeface="Times New Roman" panose="02020603050405020304" pitchFamily="18" charset="0"/>
              </a:rPr>
              <a:t>最大相容类：不被其它相容类所包含的相容类</a:t>
            </a:r>
          </a:p>
        </p:txBody>
      </p:sp>
      <p:sp>
        <p:nvSpPr>
          <p:cNvPr id="180257" name="Rectangle 33" descr="羊皮纸"/>
          <p:cNvSpPr/>
          <p:nvPr/>
        </p:nvSpPr>
        <p:spPr>
          <a:xfrm>
            <a:off x="708025" y="5510213"/>
            <a:ext cx="4927600" cy="561975"/>
          </a:xfrm>
          <a:prstGeom prst="rect">
            <a:avLst/>
          </a:prstGeom>
          <a:noFill/>
          <a:ln w="38100">
            <a:noFill/>
          </a:ln>
        </p:spPr>
        <p:txBody>
          <a:bodyPr wrap="none" lIns="90000" tIns="46800" rIns="90000" bIns="46800">
            <a:spAutoFit/>
          </a:bodyPr>
          <a:lstStyle/>
          <a:p>
            <a:pPr>
              <a:lnSpc>
                <a:spcPct val="110000"/>
              </a:lnSpc>
              <a:spcBef>
                <a:spcPct val="50000"/>
              </a:spcBef>
              <a:buChar char="•"/>
            </a:pPr>
            <a:r>
              <a:rPr lang="zh-CN" altLang="en-US" sz="2800" dirty="0">
                <a:latin typeface="Times New Roman" panose="02020603050405020304" pitchFamily="18" charset="0"/>
              </a:rPr>
              <a:t>相容类：彼此相容的状态集合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0226"/>
                                        </p:tgtEl>
                                        <p:attrNameLst>
                                          <p:attrName>style.visibility</p:attrName>
                                        </p:attrNameLst>
                                      </p:cBhvr>
                                      <p:to>
                                        <p:strVal val="visible"/>
                                      </p:to>
                                    </p:set>
                                    <p:animEffect transition="in" filter="wipe(left)">
                                      <p:cBhvr>
                                        <p:cTn id="7" dur="500"/>
                                        <p:tgtEl>
                                          <p:spTgt spid="1802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80236"/>
                                        </p:tgtEl>
                                        <p:attrNameLst>
                                          <p:attrName>style.visibility</p:attrName>
                                        </p:attrNameLst>
                                      </p:cBhvr>
                                      <p:to>
                                        <p:strVal val="visible"/>
                                      </p:to>
                                    </p:set>
                                    <p:animEffect transition="in" filter="wipe(left)">
                                      <p:cBhvr>
                                        <p:cTn id="32" dur="500"/>
                                        <p:tgtEl>
                                          <p:spTgt spid="18023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up)">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down)">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left)">
                                      <p:cBhvr>
                                        <p:cTn id="47" dur="5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0255"/>
                                        </p:tgtEl>
                                        <p:attrNameLst>
                                          <p:attrName>style.visibility</p:attrName>
                                        </p:attrNameLst>
                                      </p:cBhvr>
                                      <p:to>
                                        <p:strVal val="visible"/>
                                      </p:to>
                                    </p:set>
                                    <p:animEffect transition="in" filter="wipe(left)">
                                      <p:cBhvr>
                                        <p:cTn id="52" dur="500"/>
                                        <p:tgtEl>
                                          <p:spTgt spid="18025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80257"/>
                                        </p:tgtEl>
                                        <p:attrNameLst>
                                          <p:attrName>style.visibility</p:attrName>
                                        </p:attrNameLst>
                                      </p:cBhvr>
                                      <p:to>
                                        <p:strVal val="visible"/>
                                      </p:to>
                                    </p:set>
                                    <p:animEffect transition="in" filter="wipe(left)">
                                      <p:cBhvr>
                                        <p:cTn id="57" dur="500"/>
                                        <p:tgtEl>
                                          <p:spTgt spid="18025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80256"/>
                                        </p:tgtEl>
                                        <p:attrNameLst>
                                          <p:attrName>style.visibility</p:attrName>
                                        </p:attrNameLst>
                                      </p:cBhvr>
                                      <p:to>
                                        <p:strVal val="visible"/>
                                      </p:to>
                                    </p:set>
                                    <p:animEffect transition="in" filter="wipe(left)">
                                      <p:cBhvr>
                                        <p:cTn id="62" dur="500"/>
                                        <p:tgtEl>
                                          <p:spTgt spid="180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6" grpId="0" bldLvl="0" animBg="1"/>
      <p:bldP spid="180255" grpId="0" bldLvl="0" animBg="1"/>
      <p:bldP spid="180256" grpId="0"/>
      <p:bldP spid="180257"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p:nvPr/>
        </p:nvSpPr>
        <p:spPr>
          <a:xfrm>
            <a:off x="457200" y="417513"/>
            <a:ext cx="2400300" cy="519112"/>
          </a:xfrm>
          <a:prstGeom prst="rect">
            <a:avLst/>
          </a:prstGeom>
          <a:noFill/>
          <a:ln w="38100">
            <a:noFill/>
          </a:ln>
        </p:spPr>
        <p:txBody>
          <a:bodyPr>
            <a:spAutoFit/>
          </a:bodyPr>
          <a:lstStyle/>
          <a:p>
            <a:pPr algn="just">
              <a:spcBef>
                <a:spcPct val="50000"/>
              </a:spcBef>
            </a:pPr>
            <a:r>
              <a:rPr lang="zh-CN" altLang="en-US" sz="2800" b="1" dirty="0">
                <a:latin typeface="Times New Roman" panose="02020603050405020304" pitchFamily="18" charset="0"/>
              </a:rPr>
              <a:t>判别方法：</a:t>
            </a:r>
          </a:p>
        </p:txBody>
      </p:sp>
      <p:sp>
        <p:nvSpPr>
          <p:cNvPr id="182275" name="Text Box 3" descr="羊皮纸"/>
          <p:cNvSpPr txBox="1"/>
          <p:nvPr/>
        </p:nvSpPr>
        <p:spPr>
          <a:xfrm>
            <a:off x="647700" y="890588"/>
            <a:ext cx="7715250" cy="2870200"/>
          </a:xfrm>
          <a:prstGeom prst="rect">
            <a:avLst/>
          </a:prstGeom>
          <a:blipFill rotWithShape="1">
            <a:blip r:embed="rId2"/>
          </a:blipFill>
          <a:ln w="19050">
            <a:noFill/>
          </a:ln>
        </p:spPr>
        <p:txBody>
          <a:bodyPr>
            <a:spAutoFit/>
          </a:bodyPr>
          <a:lstStyle/>
          <a:p>
            <a:pPr algn="just">
              <a:lnSpc>
                <a:spcPct val="130000"/>
              </a:lnSpc>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在不完全确定状态表中判断两个状态是否相容也是根据表中给出的次态和输出来决定的。假定状态</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i</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j</a:t>
            </a:r>
            <a:r>
              <a:rPr lang="zh-CN" altLang="zh-CN" sz="2800" dirty="0">
                <a:latin typeface="Times New Roman" panose="02020603050405020304" pitchFamily="18" charset="0"/>
              </a:rPr>
              <a:t>是不完全确定状态表中的两个现态，那么状态</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i</a:t>
            </a:r>
            <a:r>
              <a:rPr lang="zh-CN" altLang="zh-CN" sz="2800" dirty="0">
                <a:latin typeface="Times New Roman" panose="02020603050405020304" pitchFamily="18" charset="0"/>
              </a:rPr>
              <a:t>和</a:t>
            </a:r>
            <a:r>
              <a:rPr lang="en-US" altLang="zh-CN" sz="2800" dirty="0">
                <a:latin typeface="Times New Roman" panose="02020603050405020304" pitchFamily="18" charset="0"/>
              </a:rPr>
              <a:t>S</a:t>
            </a:r>
            <a:r>
              <a:rPr lang="en-US" altLang="zh-CN" sz="2800" i="1" baseline="-25000" dirty="0">
                <a:latin typeface="Times New Roman" panose="02020603050405020304" pitchFamily="18" charset="0"/>
              </a:rPr>
              <a:t>j</a:t>
            </a:r>
            <a:r>
              <a:rPr lang="zh-CN" altLang="zh-CN" sz="2800" dirty="0">
                <a:latin typeface="Times New Roman" panose="02020603050405020304" pitchFamily="18" charset="0"/>
              </a:rPr>
              <a:t>相容的条件可归纳为在输入的各种取值组合下</a:t>
            </a:r>
            <a:r>
              <a:rPr lang="en-US" altLang="zh-CN" sz="2800" dirty="0">
                <a:latin typeface="Times New Roman" panose="02020603050405020304" pitchFamily="18" charset="0"/>
              </a:rPr>
              <a:t>:</a:t>
            </a:r>
          </a:p>
        </p:txBody>
      </p:sp>
      <p:sp>
        <p:nvSpPr>
          <p:cNvPr id="182276" name="Text Box 4"/>
          <p:cNvSpPr txBox="1"/>
          <p:nvPr/>
        </p:nvSpPr>
        <p:spPr>
          <a:xfrm>
            <a:off x="647700" y="3657600"/>
            <a:ext cx="7715250" cy="1203325"/>
          </a:xfrm>
          <a:prstGeom prst="rect">
            <a:avLst/>
          </a:prstGeom>
          <a:noFill/>
          <a:ln w="19050">
            <a:noFill/>
          </a:ln>
        </p:spPr>
        <p:txBody>
          <a:bodyPr>
            <a:spAutoFit/>
          </a:bodyPr>
          <a:lstStyle/>
          <a:p>
            <a:pPr algn="just">
              <a:lnSpc>
                <a:spcPct val="130000"/>
              </a:lnSpc>
              <a:spcBef>
                <a:spcPct val="50000"/>
              </a:spcBef>
            </a:pPr>
            <a:r>
              <a:rPr lang="zh-CN" altLang="en-US" sz="2800" dirty="0">
                <a:latin typeface="Times New Roman" panose="02020603050405020304" pitchFamily="18" charset="0"/>
              </a:rPr>
              <a:t>第一、它们的输出完全相同，或者其中的		一个</a:t>
            </a:r>
            <a:r>
              <a:rPr lang="en-US" altLang="zh-CN" sz="2800" dirty="0">
                <a:latin typeface="Times New Roman" panose="02020603050405020304" pitchFamily="18" charset="0"/>
              </a:rPr>
              <a:t>(</a:t>
            </a:r>
            <a:r>
              <a:rPr lang="zh-CN" altLang="en-US" sz="2800" dirty="0">
                <a:latin typeface="Times New Roman" panose="02020603050405020304" pitchFamily="18" charset="0"/>
              </a:rPr>
              <a:t>或两个</a:t>
            </a:r>
            <a:r>
              <a:rPr lang="en-US" altLang="zh-CN" sz="2800" dirty="0">
                <a:latin typeface="Times New Roman" panose="02020603050405020304" pitchFamily="18" charset="0"/>
              </a:rPr>
              <a:t>) </a:t>
            </a:r>
            <a:r>
              <a:rPr lang="zh-CN" altLang="en-US" sz="2800" dirty="0">
                <a:latin typeface="Times New Roman" panose="02020603050405020304" pitchFamily="18" charset="0"/>
              </a:rPr>
              <a:t>输出为任意值。</a:t>
            </a:r>
          </a:p>
        </p:txBody>
      </p:sp>
      <p:sp>
        <p:nvSpPr>
          <p:cNvPr id="182277" name="Rectangle 5" descr="羊皮纸"/>
          <p:cNvSpPr/>
          <p:nvPr/>
        </p:nvSpPr>
        <p:spPr>
          <a:xfrm>
            <a:off x="0" y="4808538"/>
            <a:ext cx="7639050" cy="639762"/>
          </a:xfrm>
          <a:prstGeom prst="rect">
            <a:avLst/>
          </a:prstGeom>
          <a:blipFill rotWithShape="1">
            <a:blip r:embed="rId2"/>
          </a:blipFill>
          <a:ln w="19050">
            <a:noFill/>
          </a:ln>
        </p:spPr>
        <p:txBody>
          <a:bodyPr wrap="none" anchor="ctr" anchorCtr="0"/>
          <a:lstStyle/>
          <a:p>
            <a:pPr algn="ctr">
              <a:lnSpc>
                <a:spcPct val="90000"/>
              </a:lnSpc>
              <a:spcBef>
                <a:spcPct val="50000"/>
              </a:spcBef>
            </a:pPr>
            <a:r>
              <a:rPr lang="zh-CN" altLang="en-US" sz="2800" dirty="0">
                <a:latin typeface="Times New Roman" panose="02020603050405020304" pitchFamily="18" charset="0"/>
              </a:rPr>
              <a:t>第二、它们的次态满足下列条件之一：</a:t>
            </a:r>
            <a:endParaRPr lang="zh-CN" altLang="en-US" sz="2800" dirty="0">
              <a:solidFill>
                <a:srgbClr val="FF66FF"/>
              </a:solidFill>
              <a:latin typeface="Times New Roman" panose="02020603050405020304" pitchFamily="18" charset="0"/>
            </a:endParaRPr>
          </a:p>
        </p:txBody>
      </p:sp>
      <p:sp>
        <p:nvSpPr>
          <p:cNvPr id="182283" name="Text Box 11"/>
          <p:cNvSpPr txBox="1"/>
          <p:nvPr/>
        </p:nvSpPr>
        <p:spPr>
          <a:xfrm>
            <a:off x="150813" y="5505450"/>
            <a:ext cx="2628900" cy="519113"/>
          </a:xfrm>
          <a:prstGeom prst="rect">
            <a:avLst/>
          </a:prstGeom>
          <a:noFill/>
          <a:ln w="19050">
            <a:noFill/>
          </a:ln>
        </p:spPr>
        <p:txBody>
          <a:bodyPr>
            <a:spAutoFit/>
          </a:bodyPr>
          <a:lstStyle/>
          <a:p>
            <a:pPr>
              <a:spcBef>
                <a:spcPct val="50000"/>
              </a:spcBef>
            </a:pPr>
            <a:r>
              <a:rPr lang="en-US" altLang="zh-CN" sz="2800" dirty="0">
                <a:solidFill>
                  <a:srgbClr val="FF3300"/>
                </a:solidFill>
                <a:latin typeface="Times New Roman" panose="02020603050405020304" pitchFamily="18" charset="0"/>
              </a:rPr>
              <a:t>(1) </a:t>
            </a:r>
            <a:r>
              <a:rPr lang="zh-CN" altLang="en-US" sz="2800" dirty="0">
                <a:solidFill>
                  <a:srgbClr val="FF3300"/>
                </a:solidFill>
                <a:latin typeface="Times New Roman" panose="02020603050405020304" pitchFamily="18" charset="0"/>
              </a:rPr>
              <a:t>次态相同；</a:t>
            </a:r>
          </a:p>
        </p:txBody>
      </p:sp>
      <p:sp>
        <p:nvSpPr>
          <p:cNvPr id="182284" name="Text Box 12"/>
          <p:cNvSpPr txBox="1"/>
          <p:nvPr/>
        </p:nvSpPr>
        <p:spPr>
          <a:xfrm>
            <a:off x="2628900" y="5462588"/>
            <a:ext cx="2819400" cy="519112"/>
          </a:xfrm>
          <a:prstGeom prst="rect">
            <a:avLst/>
          </a:prstGeom>
          <a:noFill/>
          <a:ln w="19050">
            <a:noFill/>
          </a:ln>
        </p:spPr>
        <p:txBody>
          <a:bodyPr>
            <a:spAutoFit/>
          </a:bodyPr>
          <a:lstStyle/>
          <a:p>
            <a:pPr>
              <a:spcBef>
                <a:spcPct val="50000"/>
              </a:spcBef>
            </a:pPr>
            <a:r>
              <a:rPr lang="en-US" altLang="zh-CN" sz="2800" dirty="0">
                <a:solidFill>
                  <a:srgbClr val="FF3300"/>
                </a:solidFill>
                <a:latin typeface="Times New Roman" panose="02020603050405020304" pitchFamily="18" charset="0"/>
              </a:rPr>
              <a:t>(2) </a:t>
            </a:r>
            <a:r>
              <a:rPr lang="zh-CN" altLang="en-US" sz="2800" dirty="0">
                <a:solidFill>
                  <a:srgbClr val="FF3300"/>
                </a:solidFill>
                <a:latin typeface="Times New Roman" panose="02020603050405020304" pitchFamily="18" charset="0"/>
              </a:rPr>
              <a:t>次态交错；</a:t>
            </a:r>
          </a:p>
        </p:txBody>
      </p:sp>
      <p:sp>
        <p:nvSpPr>
          <p:cNvPr id="182285" name="Text Box 13"/>
          <p:cNvSpPr txBox="1"/>
          <p:nvPr/>
        </p:nvSpPr>
        <p:spPr>
          <a:xfrm>
            <a:off x="5295900" y="5451475"/>
            <a:ext cx="2895600" cy="519113"/>
          </a:xfrm>
          <a:prstGeom prst="rect">
            <a:avLst/>
          </a:prstGeom>
          <a:noFill/>
          <a:ln w="19050">
            <a:noFill/>
          </a:ln>
        </p:spPr>
        <p:txBody>
          <a:bodyPr>
            <a:spAutoFit/>
          </a:bodyPr>
          <a:lstStyle/>
          <a:p>
            <a:pPr>
              <a:spcBef>
                <a:spcPct val="50000"/>
              </a:spcBef>
            </a:pPr>
            <a:r>
              <a:rPr lang="en-US" altLang="zh-CN" sz="2800" dirty="0">
                <a:solidFill>
                  <a:srgbClr val="FF3300"/>
                </a:solidFill>
                <a:latin typeface="Times New Roman" panose="02020603050405020304" pitchFamily="18" charset="0"/>
              </a:rPr>
              <a:t>(3) </a:t>
            </a:r>
            <a:r>
              <a:rPr lang="zh-CN" altLang="en-US" sz="2800" dirty="0">
                <a:solidFill>
                  <a:srgbClr val="FF3300"/>
                </a:solidFill>
                <a:latin typeface="Times New Roman" panose="02020603050405020304" pitchFamily="18" charset="0"/>
              </a:rPr>
              <a:t>次态循环；</a:t>
            </a:r>
          </a:p>
        </p:txBody>
      </p:sp>
      <p:sp>
        <p:nvSpPr>
          <p:cNvPr id="182286" name="Text Box 14"/>
          <p:cNvSpPr txBox="1"/>
          <p:nvPr/>
        </p:nvSpPr>
        <p:spPr>
          <a:xfrm>
            <a:off x="133350" y="6100763"/>
            <a:ext cx="5981700" cy="519112"/>
          </a:xfrm>
          <a:prstGeom prst="rect">
            <a:avLst/>
          </a:prstGeom>
          <a:noFill/>
          <a:ln w="19050">
            <a:noFill/>
          </a:ln>
        </p:spPr>
        <p:txBody>
          <a:bodyPr>
            <a:spAutoFit/>
          </a:bodyPr>
          <a:lstStyle/>
          <a:p>
            <a:pPr>
              <a:spcBef>
                <a:spcPct val="50000"/>
              </a:spcBef>
            </a:pPr>
            <a:r>
              <a:rPr lang="en-US" altLang="zh-CN" sz="2800" dirty="0">
                <a:solidFill>
                  <a:srgbClr val="FF3300"/>
                </a:solidFill>
                <a:latin typeface="Times New Roman" panose="02020603050405020304" pitchFamily="18" charset="0"/>
              </a:rPr>
              <a:t>(4) </a:t>
            </a:r>
            <a:r>
              <a:rPr lang="zh-CN" altLang="en-US" sz="2800" dirty="0">
                <a:solidFill>
                  <a:srgbClr val="FF3300"/>
                </a:solidFill>
                <a:latin typeface="Times New Roman" panose="02020603050405020304" pitchFamily="18" charset="0"/>
              </a:rPr>
              <a:t>其中的一个</a:t>
            </a:r>
            <a:r>
              <a:rPr lang="en-US" altLang="zh-CN" sz="2800" dirty="0">
                <a:solidFill>
                  <a:srgbClr val="FF3300"/>
                </a:solidFill>
                <a:latin typeface="Times New Roman" panose="02020603050405020304" pitchFamily="18" charset="0"/>
              </a:rPr>
              <a:t>(</a:t>
            </a:r>
            <a:r>
              <a:rPr lang="zh-CN" altLang="en-US" sz="2800" dirty="0">
                <a:solidFill>
                  <a:srgbClr val="FF3300"/>
                </a:solidFill>
                <a:latin typeface="Times New Roman" panose="02020603050405020304" pitchFamily="18" charset="0"/>
              </a:rPr>
              <a:t>或两个</a:t>
            </a:r>
            <a:r>
              <a:rPr lang="en-US" altLang="zh-CN" sz="2800" dirty="0">
                <a:solidFill>
                  <a:srgbClr val="FF3300"/>
                </a:solidFill>
                <a:latin typeface="Times New Roman" panose="02020603050405020304" pitchFamily="18" charset="0"/>
              </a:rPr>
              <a:t>)</a:t>
            </a:r>
            <a:r>
              <a:rPr lang="zh-CN" altLang="en-US" sz="2800" dirty="0">
                <a:solidFill>
                  <a:srgbClr val="FF3300"/>
                </a:solidFill>
                <a:latin typeface="Times New Roman" panose="02020603050405020304" pitchFamily="18" charset="0"/>
              </a:rPr>
              <a:t>为任意状态</a:t>
            </a:r>
            <a:r>
              <a:rPr lang="en-US" altLang="zh-CN" sz="2800" dirty="0">
                <a:solidFill>
                  <a:srgbClr val="FF3300"/>
                </a:solidFill>
                <a:latin typeface="Times New Roman" panose="02020603050405020304" pitchFamily="18" charset="0"/>
              </a:rPr>
              <a:t>;</a:t>
            </a:r>
          </a:p>
        </p:txBody>
      </p:sp>
      <p:sp>
        <p:nvSpPr>
          <p:cNvPr id="182287" name="Text Box 15"/>
          <p:cNvSpPr txBox="1"/>
          <p:nvPr/>
        </p:nvSpPr>
        <p:spPr>
          <a:xfrm>
            <a:off x="5905500" y="6076950"/>
            <a:ext cx="3238500" cy="519113"/>
          </a:xfrm>
          <a:prstGeom prst="rect">
            <a:avLst/>
          </a:prstGeom>
          <a:noFill/>
          <a:ln w="19050">
            <a:noFill/>
          </a:ln>
        </p:spPr>
        <p:txBody>
          <a:bodyPr>
            <a:spAutoFit/>
          </a:bodyPr>
          <a:lstStyle/>
          <a:p>
            <a:pPr>
              <a:spcBef>
                <a:spcPct val="50000"/>
              </a:spcBef>
            </a:pPr>
            <a:r>
              <a:rPr lang="en-US" altLang="zh-CN" sz="2800" dirty="0">
                <a:solidFill>
                  <a:srgbClr val="FF3300"/>
                </a:solidFill>
                <a:latin typeface="Times New Roman" panose="02020603050405020304" pitchFamily="18" charset="0"/>
              </a:rPr>
              <a:t>(5) </a:t>
            </a:r>
            <a:r>
              <a:rPr lang="zh-CN" altLang="en-US" sz="2800" dirty="0">
                <a:solidFill>
                  <a:srgbClr val="FF3300"/>
                </a:solidFill>
                <a:latin typeface="Times New Roman" panose="02020603050405020304" pitchFamily="18" charset="0"/>
              </a:rPr>
              <a:t>次态相容；</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2275"/>
                                        </p:tgtEl>
                                        <p:attrNameLst>
                                          <p:attrName>style.visibility</p:attrName>
                                        </p:attrNameLst>
                                      </p:cBhvr>
                                      <p:to>
                                        <p:strVal val="visible"/>
                                      </p:to>
                                    </p:set>
                                    <p:animEffect transition="in" filter="wipe(left)">
                                      <p:cBhvr>
                                        <p:cTn id="7" dur="500"/>
                                        <p:tgtEl>
                                          <p:spTgt spid="1822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2276"/>
                                        </p:tgtEl>
                                        <p:attrNameLst>
                                          <p:attrName>style.visibility</p:attrName>
                                        </p:attrNameLst>
                                      </p:cBhvr>
                                      <p:to>
                                        <p:strVal val="visible"/>
                                      </p:to>
                                    </p:set>
                                    <p:animEffect transition="in" filter="wipe(left)">
                                      <p:cBhvr>
                                        <p:cTn id="12" dur="500"/>
                                        <p:tgtEl>
                                          <p:spTgt spid="18227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2277"/>
                                        </p:tgtEl>
                                        <p:attrNameLst>
                                          <p:attrName>style.visibility</p:attrName>
                                        </p:attrNameLst>
                                      </p:cBhvr>
                                      <p:to>
                                        <p:strVal val="visible"/>
                                      </p:to>
                                    </p:set>
                                    <p:animEffect transition="in" filter="wipe(left)">
                                      <p:cBhvr>
                                        <p:cTn id="17" dur="500"/>
                                        <p:tgtEl>
                                          <p:spTgt spid="18227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82283"/>
                                        </p:tgtEl>
                                        <p:attrNameLst>
                                          <p:attrName>style.visibility</p:attrName>
                                        </p:attrNameLst>
                                      </p:cBhvr>
                                      <p:to>
                                        <p:strVal val="visible"/>
                                      </p:to>
                                    </p:set>
                                    <p:anim calcmode="lin" valueType="num">
                                      <p:cBhvr additive="base">
                                        <p:cTn id="22" dur="500" fill="hold"/>
                                        <p:tgtEl>
                                          <p:spTgt spid="182283"/>
                                        </p:tgtEl>
                                        <p:attrNameLst>
                                          <p:attrName>ppt_x</p:attrName>
                                        </p:attrNameLst>
                                      </p:cBhvr>
                                      <p:tavLst>
                                        <p:tav tm="0">
                                          <p:val>
                                            <p:strVal val="#ppt_x"/>
                                          </p:val>
                                        </p:tav>
                                        <p:tav tm="100000">
                                          <p:val>
                                            <p:strVal val="#ppt_x"/>
                                          </p:val>
                                        </p:tav>
                                      </p:tavLst>
                                    </p:anim>
                                    <p:anim calcmode="lin" valueType="num">
                                      <p:cBhvr additive="base">
                                        <p:cTn id="23" dur="500" fill="hold"/>
                                        <p:tgtEl>
                                          <p:spTgt spid="182283"/>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82284"/>
                                        </p:tgtEl>
                                        <p:attrNameLst>
                                          <p:attrName>style.visibility</p:attrName>
                                        </p:attrNameLst>
                                      </p:cBhvr>
                                      <p:to>
                                        <p:strVal val="visible"/>
                                      </p:to>
                                    </p:set>
                                    <p:anim calcmode="lin" valueType="num">
                                      <p:cBhvr additive="base">
                                        <p:cTn id="28" dur="500" fill="hold"/>
                                        <p:tgtEl>
                                          <p:spTgt spid="182284"/>
                                        </p:tgtEl>
                                        <p:attrNameLst>
                                          <p:attrName>ppt_x</p:attrName>
                                        </p:attrNameLst>
                                      </p:cBhvr>
                                      <p:tavLst>
                                        <p:tav tm="0">
                                          <p:val>
                                            <p:strVal val="#ppt_x"/>
                                          </p:val>
                                        </p:tav>
                                        <p:tav tm="100000">
                                          <p:val>
                                            <p:strVal val="#ppt_x"/>
                                          </p:val>
                                        </p:tav>
                                      </p:tavLst>
                                    </p:anim>
                                    <p:anim calcmode="lin" valueType="num">
                                      <p:cBhvr additive="base">
                                        <p:cTn id="29" dur="500" fill="hold"/>
                                        <p:tgtEl>
                                          <p:spTgt spid="182284"/>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82285"/>
                                        </p:tgtEl>
                                        <p:attrNameLst>
                                          <p:attrName>style.visibility</p:attrName>
                                        </p:attrNameLst>
                                      </p:cBhvr>
                                      <p:to>
                                        <p:strVal val="visible"/>
                                      </p:to>
                                    </p:set>
                                    <p:anim calcmode="lin" valueType="num">
                                      <p:cBhvr additive="base">
                                        <p:cTn id="34" dur="500" fill="hold"/>
                                        <p:tgtEl>
                                          <p:spTgt spid="182285"/>
                                        </p:tgtEl>
                                        <p:attrNameLst>
                                          <p:attrName>ppt_x</p:attrName>
                                        </p:attrNameLst>
                                      </p:cBhvr>
                                      <p:tavLst>
                                        <p:tav tm="0">
                                          <p:val>
                                            <p:strVal val="#ppt_x"/>
                                          </p:val>
                                        </p:tav>
                                        <p:tav tm="100000">
                                          <p:val>
                                            <p:strVal val="#ppt_x"/>
                                          </p:val>
                                        </p:tav>
                                      </p:tavLst>
                                    </p:anim>
                                    <p:anim calcmode="lin" valueType="num">
                                      <p:cBhvr additive="base">
                                        <p:cTn id="35" dur="500" fill="hold"/>
                                        <p:tgtEl>
                                          <p:spTgt spid="182285"/>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82286"/>
                                        </p:tgtEl>
                                        <p:attrNameLst>
                                          <p:attrName>style.visibility</p:attrName>
                                        </p:attrNameLst>
                                      </p:cBhvr>
                                      <p:to>
                                        <p:strVal val="visible"/>
                                      </p:to>
                                    </p:set>
                                    <p:anim calcmode="lin" valueType="num">
                                      <p:cBhvr additive="base">
                                        <p:cTn id="40" dur="500" fill="hold"/>
                                        <p:tgtEl>
                                          <p:spTgt spid="182286"/>
                                        </p:tgtEl>
                                        <p:attrNameLst>
                                          <p:attrName>ppt_x</p:attrName>
                                        </p:attrNameLst>
                                      </p:cBhvr>
                                      <p:tavLst>
                                        <p:tav tm="0">
                                          <p:val>
                                            <p:strVal val="#ppt_x"/>
                                          </p:val>
                                        </p:tav>
                                        <p:tav tm="100000">
                                          <p:val>
                                            <p:strVal val="#ppt_x"/>
                                          </p:val>
                                        </p:tav>
                                      </p:tavLst>
                                    </p:anim>
                                    <p:anim calcmode="lin" valueType="num">
                                      <p:cBhvr additive="base">
                                        <p:cTn id="41" dur="500" fill="hold"/>
                                        <p:tgtEl>
                                          <p:spTgt spid="182286"/>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82287"/>
                                        </p:tgtEl>
                                        <p:attrNameLst>
                                          <p:attrName>style.visibility</p:attrName>
                                        </p:attrNameLst>
                                      </p:cBhvr>
                                      <p:to>
                                        <p:strVal val="visible"/>
                                      </p:to>
                                    </p:set>
                                    <p:anim calcmode="lin" valueType="num">
                                      <p:cBhvr additive="base">
                                        <p:cTn id="46" dur="500" fill="hold"/>
                                        <p:tgtEl>
                                          <p:spTgt spid="182287"/>
                                        </p:tgtEl>
                                        <p:attrNameLst>
                                          <p:attrName>ppt_x</p:attrName>
                                        </p:attrNameLst>
                                      </p:cBhvr>
                                      <p:tavLst>
                                        <p:tav tm="0">
                                          <p:val>
                                            <p:strVal val="#ppt_x"/>
                                          </p:val>
                                        </p:tav>
                                        <p:tav tm="100000">
                                          <p:val>
                                            <p:strVal val="#ppt_x"/>
                                          </p:val>
                                        </p:tav>
                                      </p:tavLst>
                                    </p:anim>
                                    <p:anim calcmode="lin" valueType="num">
                                      <p:cBhvr additive="base">
                                        <p:cTn id="47" dur="500" fill="hold"/>
                                        <p:tgtEl>
                                          <p:spTgt spid="1822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bldLvl="0" animBg="1"/>
      <p:bldP spid="182276" grpId="0"/>
      <p:bldP spid="182277" grpId="0" bldLvl="0" animBg="1"/>
      <p:bldP spid="182283" grpId="0"/>
      <p:bldP spid="182284" grpId="0"/>
      <p:bldP spid="182285" grpId="0"/>
      <p:bldP spid="182286" grpId="0"/>
      <p:bldP spid="182287"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p:nvPr/>
        </p:nvSpPr>
        <p:spPr>
          <a:xfrm>
            <a:off x="1374775" y="806450"/>
            <a:ext cx="4454525" cy="519113"/>
          </a:xfrm>
          <a:prstGeom prst="rect">
            <a:avLst/>
          </a:prstGeom>
          <a:noFill/>
          <a:ln w="19050">
            <a:noFill/>
          </a:ln>
        </p:spPr>
        <p:txBody>
          <a:bodyPr wrap="none">
            <a:spAutoFit/>
          </a:bodyPr>
          <a:lstStyle/>
          <a:p>
            <a:r>
              <a:rPr lang="zh-CN" altLang="en-US" sz="2800" b="1" dirty="0">
                <a:latin typeface="Times New Roman" panose="02020603050405020304" pitchFamily="18" charset="0"/>
              </a:rPr>
              <a:t>例</a:t>
            </a:r>
            <a:r>
              <a:rPr lang="zh-CN" altLang="en-US" sz="2800" dirty="0">
                <a:latin typeface="Times New Roman" panose="02020603050405020304" pitchFamily="18" charset="0"/>
              </a:rPr>
              <a:t>：简化下表所示的状态表</a:t>
            </a:r>
          </a:p>
        </p:txBody>
      </p:sp>
      <p:grpSp>
        <p:nvGrpSpPr>
          <p:cNvPr id="2" name="Group 3"/>
          <p:cNvGrpSpPr/>
          <p:nvPr/>
        </p:nvGrpSpPr>
        <p:grpSpPr>
          <a:xfrm>
            <a:off x="895350" y="1570038"/>
            <a:ext cx="7086600" cy="4381500"/>
            <a:chOff x="564" y="1116"/>
            <a:chExt cx="4464" cy="2760"/>
          </a:xfrm>
        </p:grpSpPr>
        <p:sp>
          <p:nvSpPr>
            <p:cNvPr id="48132" name="Line 4"/>
            <p:cNvSpPr/>
            <p:nvPr/>
          </p:nvSpPr>
          <p:spPr>
            <a:xfrm>
              <a:off x="588" y="1116"/>
              <a:ext cx="4404" cy="0"/>
            </a:xfrm>
            <a:prstGeom prst="line">
              <a:avLst/>
            </a:prstGeom>
            <a:ln w="38100" cap="flat" cmpd="sng">
              <a:solidFill>
                <a:schemeClr val="tx1"/>
              </a:solidFill>
              <a:prstDash val="solid"/>
              <a:headEnd type="none" w="med" len="med"/>
              <a:tailEnd type="none" w="sm" len="lg"/>
            </a:ln>
          </p:spPr>
        </p:sp>
        <p:sp>
          <p:nvSpPr>
            <p:cNvPr id="48133" name="Line 5"/>
            <p:cNvSpPr/>
            <p:nvPr/>
          </p:nvSpPr>
          <p:spPr>
            <a:xfrm>
              <a:off x="624" y="3864"/>
              <a:ext cx="4404" cy="0"/>
            </a:xfrm>
            <a:prstGeom prst="line">
              <a:avLst/>
            </a:prstGeom>
            <a:ln w="38100" cap="flat" cmpd="sng">
              <a:solidFill>
                <a:schemeClr val="tx1"/>
              </a:solidFill>
              <a:prstDash val="solid"/>
              <a:headEnd type="none" w="med" len="med"/>
              <a:tailEnd type="none" w="sm" len="lg"/>
            </a:ln>
          </p:spPr>
        </p:sp>
        <p:sp>
          <p:nvSpPr>
            <p:cNvPr id="48134" name="Line 6"/>
            <p:cNvSpPr/>
            <p:nvPr/>
          </p:nvSpPr>
          <p:spPr>
            <a:xfrm>
              <a:off x="1644" y="1116"/>
              <a:ext cx="0" cy="2760"/>
            </a:xfrm>
            <a:prstGeom prst="line">
              <a:avLst/>
            </a:prstGeom>
            <a:ln w="19050" cap="flat" cmpd="sng">
              <a:solidFill>
                <a:schemeClr val="tx1"/>
              </a:solidFill>
              <a:prstDash val="solid"/>
              <a:headEnd type="none" w="med" len="med"/>
              <a:tailEnd type="none" w="sm" len="lg"/>
            </a:ln>
          </p:spPr>
        </p:sp>
        <p:sp>
          <p:nvSpPr>
            <p:cNvPr id="48135" name="Line 7"/>
            <p:cNvSpPr/>
            <p:nvPr/>
          </p:nvSpPr>
          <p:spPr>
            <a:xfrm>
              <a:off x="2676" y="1584"/>
              <a:ext cx="0" cy="2268"/>
            </a:xfrm>
            <a:prstGeom prst="line">
              <a:avLst/>
            </a:prstGeom>
            <a:ln w="19050" cap="flat" cmpd="sng">
              <a:solidFill>
                <a:schemeClr val="tx1"/>
              </a:solidFill>
              <a:prstDash val="solid"/>
              <a:headEnd type="none" w="med" len="med"/>
              <a:tailEnd type="none" w="sm" len="lg"/>
            </a:ln>
          </p:spPr>
        </p:sp>
        <p:sp>
          <p:nvSpPr>
            <p:cNvPr id="48136" name="Line 8"/>
            <p:cNvSpPr/>
            <p:nvPr/>
          </p:nvSpPr>
          <p:spPr>
            <a:xfrm>
              <a:off x="1644" y="1584"/>
              <a:ext cx="2136" cy="0"/>
            </a:xfrm>
            <a:prstGeom prst="line">
              <a:avLst/>
            </a:prstGeom>
            <a:ln w="12700" cap="flat" cmpd="sng">
              <a:solidFill>
                <a:schemeClr val="tx1"/>
              </a:solidFill>
              <a:prstDash val="solid"/>
              <a:headEnd type="none" w="med" len="med"/>
              <a:tailEnd type="none" w="sm" len="lg"/>
            </a:ln>
          </p:spPr>
        </p:sp>
        <p:sp>
          <p:nvSpPr>
            <p:cNvPr id="48137" name="Line 9"/>
            <p:cNvSpPr/>
            <p:nvPr/>
          </p:nvSpPr>
          <p:spPr>
            <a:xfrm>
              <a:off x="564" y="2040"/>
              <a:ext cx="4404" cy="0"/>
            </a:xfrm>
            <a:prstGeom prst="line">
              <a:avLst/>
            </a:prstGeom>
            <a:ln w="12700" cap="flat" cmpd="sng">
              <a:solidFill>
                <a:schemeClr val="tx1"/>
              </a:solidFill>
              <a:prstDash val="solid"/>
              <a:headEnd type="none" w="med" len="med"/>
              <a:tailEnd type="none" w="sm" len="lg"/>
            </a:ln>
          </p:spPr>
        </p:sp>
        <p:sp>
          <p:nvSpPr>
            <p:cNvPr id="48138" name="Text Box 10"/>
            <p:cNvSpPr txBox="1"/>
            <p:nvPr/>
          </p:nvSpPr>
          <p:spPr>
            <a:xfrm>
              <a:off x="722" y="1434"/>
              <a:ext cx="676" cy="327"/>
            </a:xfrm>
            <a:prstGeom prst="rect">
              <a:avLst/>
            </a:prstGeom>
            <a:noFill/>
            <a:ln w="19050">
              <a:noFill/>
            </a:ln>
          </p:spPr>
          <p:txBody>
            <a:bodyPr wrap="none">
              <a:spAutoFit/>
            </a:bodyPr>
            <a:lstStyle/>
            <a:p>
              <a:r>
                <a:rPr lang="zh-CN" altLang="zh-CN" sz="2800" dirty="0">
                  <a:latin typeface="Times New Roman" panose="02020603050405020304" pitchFamily="18" charset="0"/>
                </a:rPr>
                <a:t>现  态</a:t>
              </a:r>
            </a:p>
          </p:txBody>
        </p:sp>
        <p:sp>
          <p:nvSpPr>
            <p:cNvPr id="48139" name="Text Box 11"/>
            <p:cNvSpPr txBox="1"/>
            <p:nvPr/>
          </p:nvSpPr>
          <p:spPr>
            <a:xfrm>
              <a:off x="2294" y="1206"/>
              <a:ext cx="916" cy="327"/>
            </a:xfrm>
            <a:prstGeom prst="rect">
              <a:avLst/>
            </a:prstGeom>
            <a:noFill/>
            <a:ln w="19050">
              <a:noFill/>
            </a:ln>
          </p:spPr>
          <p:txBody>
            <a:bodyPr wrap="none">
              <a:spAutoFit/>
            </a:bodyPr>
            <a:lstStyle/>
            <a:p>
              <a:r>
                <a:rPr lang="zh-CN" altLang="en-US" sz="2800" dirty="0">
                  <a:latin typeface="Times New Roman" panose="02020603050405020304" pitchFamily="18" charset="0"/>
                </a:rPr>
                <a:t>次   	态</a:t>
              </a:r>
            </a:p>
          </p:txBody>
        </p:sp>
        <p:sp>
          <p:nvSpPr>
            <p:cNvPr id="48140" name="Text Box 12"/>
            <p:cNvSpPr txBox="1"/>
            <p:nvPr/>
          </p:nvSpPr>
          <p:spPr>
            <a:xfrm>
              <a:off x="1946" y="1650"/>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48141" name="Text Box 13"/>
            <p:cNvSpPr txBox="1"/>
            <p:nvPr/>
          </p:nvSpPr>
          <p:spPr>
            <a:xfrm>
              <a:off x="3038" y="1650"/>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48142" name="Text Box 14"/>
            <p:cNvSpPr txBox="1"/>
            <p:nvPr/>
          </p:nvSpPr>
          <p:spPr>
            <a:xfrm>
              <a:off x="866" y="2130"/>
              <a:ext cx="278" cy="1672"/>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A</a:t>
              </a:r>
            </a:p>
            <a:p>
              <a:pPr algn="ctr"/>
              <a:r>
                <a:rPr lang="en-US" altLang="zh-CN" sz="2800" dirty="0">
                  <a:latin typeface="Times New Roman" panose="02020603050405020304" pitchFamily="18" charset="0"/>
                </a:rPr>
                <a:t>B</a:t>
              </a:r>
            </a:p>
            <a:p>
              <a:pPr algn="ctr"/>
              <a:r>
                <a:rPr lang="en-US" altLang="zh-CN" sz="2800" dirty="0">
                  <a:latin typeface="Times New Roman" panose="02020603050405020304" pitchFamily="18" charset="0"/>
                </a:rPr>
                <a:t>C</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E</a:t>
              </a:r>
            </a:p>
            <a:p>
              <a:pPr algn="ctr"/>
              <a:r>
                <a:rPr lang="en-US" altLang="zh-CN" sz="2800" dirty="0">
                  <a:latin typeface="Times New Roman" panose="02020603050405020304" pitchFamily="18" charset="0"/>
                </a:rPr>
                <a:t>F</a:t>
              </a:r>
              <a:endParaRPr lang="en-US" altLang="zh-CN" sz="2800" baseline="-25000" dirty="0">
                <a:latin typeface="Times New Roman" panose="02020603050405020304" pitchFamily="18" charset="0"/>
              </a:endParaRPr>
            </a:p>
          </p:txBody>
        </p:sp>
        <p:sp>
          <p:nvSpPr>
            <p:cNvPr id="48143" name="Text Box 15"/>
            <p:cNvSpPr txBox="1"/>
            <p:nvPr/>
          </p:nvSpPr>
          <p:spPr>
            <a:xfrm>
              <a:off x="2018" y="2130"/>
              <a:ext cx="278" cy="1672"/>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B</a:t>
              </a:r>
            </a:p>
            <a:p>
              <a:pPr algn="ctr"/>
              <a:r>
                <a:rPr lang="en-US" altLang="zh-CN" sz="2800" dirty="0">
                  <a:latin typeface="Times New Roman" panose="02020603050405020304" pitchFamily="18" charset="0"/>
                </a:rPr>
                <a:t>B</a:t>
              </a:r>
            </a:p>
            <a:p>
              <a:pPr algn="ctr"/>
              <a:r>
                <a:rPr lang="en-US" altLang="zh-CN" sz="2800" dirty="0">
                  <a:latin typeface="Times New Roman" panose="02020603050405020304" pitchFamily="18" charset="0"/>
                </a:rPr>
                <a:t>A</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F</a:t>
              </a:r>
            </a:p>
            <a:p>
              <a:pPr algn="ctr"/>
              <a:r>
                <a:rPr lang="en-US" altLang="zh-CN" sz="2800" dirty="0">
                  <a:latin typeface="Times New Roman" panose="02020603050405020304" pitchFamily="18" charset="0"/>
                </a:rPr>
                <a:t>d</a:t>
              </a:r>
            </a:p>
          </p:txBody>
        </p:sp>
        <p:sp>
          <p:nvSpPr>
            <p:cNvPr id="48144" name="Text Box 16"/>
            <p:cNvSpPr txBox="1"/>
            <p:nvPr/>
          </p:nvSpPr>
          <p:spPr>
            <a:xfrm>
              <a:off x="3098" y="2130"/>
              <a:ext cx="278" cy="1672"/>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E</a:t>
              </a:r>
            </a:p>
            <a:p>
              <a:pPr algn="ctr"/>
              <a:r>
                <a:rPr lang="en-US" altLang="zh-CN" sz="2800" dirty="0">
                  <a:latin typeface="Times New Roman" panose="02020603050405020304" pitchFamily="18" charset="0"/>
                </a:rPr>
                <a:t>E</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C</a:t>
              </a:r>
            </a:p>
          </p:txBody>
        </p:sp>
        <p:sp>
          <p:nvSpPr>
            <p:cNvPr id="48145" name="Line 17"/>
            <p:cNvSpPr/>
            <p:nvPr/>
          </p:nvSpPr>
          <p:spPr>
            <a:xfrm>
              <a:off x="3780" y="1128"/>
              <a:ext cx="0" cy="2736"/>
            </a:xfrm>
            <a:prstGeom prst="line">
              <a:avLst/>
            </a:prstGeom>
            <a:ln w="19050" cap="flat" cmpd="sng">
              <a:solidFill>
                <a:schemeClr val="tx1"/>
              </a:solidFill>
              <a:prstDash val="solid"/>
              <a:headEnd type="none" w="med" len="med"/>
              <a:tailEnd type="none" w="sm" len="lg"/>
            </a:ln>
          </p:spPr>
        </p:sp>
        <p:sp>
          <p:nvSpPr>
            <p:cNvPr id="48146" name="Rectangle 18"/>
            <p:cNvSpPr/>
            <p:nvPr/>
          </p:nvSpPr>
          <p:spPr>
            <a:xfrm>
              <a:off x="3974" y="1434"/>
              <a:ext cx="788" cy="327"/>
            </a:xfrm>
            <a:prstGeom prst="rect">
              <a:avLst/>
            </a:prstGeom>
            <a:noFill/>
            <a:ln w="19050">
              <a:noFill/>
            </a:ln>
          </p:spPr>
          <p:txBody>
            <a:bodyPr wrap="none">
              <a:spAutoFit/>
            </a:bodyPr>
            <a:lstStyle/>
            <a:p>
              <a:r>
                <a:rPr lang="zh-CN" altLang="en-US" sz="2800" dirty="0">
                  <a:latin typeface="Times New Roman" panose="02020603050405020304" pitchFamily="18" charset="0"/>
                </a:rPr>
                <a:t>输    出</a:t>
              </a:r>
            </a:p>
          </p:txBody>
        </p:sp>
        <p:sp>
          <p:nvSpPr>
            <p:cNvPr id="48147" name="Text Box 19"/>
            <p:cNvSpPr txBox="1"/>
            <p:nvPr/>
          </p:nvSpPr>
          <p:spPr>
            <a:xfrm>
              <a:off x="4310" y="2130"/>
              <a:ext cx="228" cy="1672"/>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0</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1</a:t>
              </a:r>
            </a:p>
            <a:p>
              <a:pPr algn="ctr"/>
              <a:r>
                <a:rPr lang="en-US" altLang="zh-CN" sz="2800" dirty="0">
                  <a:latin typeface="Times New Roman" panose="02020603050405020304" pitchFamily="18" charset="0"/>
                </a:rPr>
                <a:t>1</a:t>
              </a:r>
            </a:p>
            <a:p>
              <a:pPr algn="ctr"/>
              <a:r>
                <a:rPr lang="en-US" altLang="zh-CN" sz="2800" dirty="0">
                  <a:latin typeface="Times New Roman" panose="02020603050405020304" pitchFamily="18" charset="0"/>
                </a:rPr>
                <a:t>1</a:t>
              </a:r>
            </a:p>
            <a:p>
              <a:pPr algn="ctr"/>
              <a:r>
                <a:rPr lang="en-US" altLang="zh-CN" sz="2800" dirty="0">
                  <a:latin typeface="Times New Roman" panose="02020603050405020304" pitchFamily="18" charset="0"/>
                </a:rPr>
                <a:t>d</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3"/>
          <p:cNvSpPr txBox="1"/>
          <p:nvPr/>
        </p:nvSpPr>
        <p:spPr>
          <a:xfrm>
            <a:off x="606425" y="674688"/>
            <a:ext cx="898525" cy="519112"/>
          </a:xfrm>
          <a:prstGeom prst="rect">
            <a:avLst/>
          </a:prstGeom>
          <a:noFill/>
          <a:ln w="19050">
            <a:noFill/>
          </a:ln>
        </p:spPr>
        <p:txBody>
          <a:bodyPr wrap="none">
            <a:spAutoFit/>
          </a:bodyPr>
          <a:lstStyle/>
          <a:p>
            <a:r>
              <a:rPr lang="zh-CN" altLang="en-US" sz="2800" b="1" dirty="0">
                <a:latin typeface="Times New Roman" panose="02020603050405020304" pitchFamily="18" charset="0"/>
              </a:rPr>
              <a:t>解：</a:t>
            </a:r>
          </a:p>
        </p:txBody>
      </p:sp>
      <p:sp>
        <p:nvSpPr>
          <p:cNvPr id="185348" name="Text Box 4"/>
          <p:cNvSpPr txBox="1"/>
          <p:nvPr/>
        </p:nvSpPr>
        <p:spPr>
          <a:xfrm>
            <a:off x="2033588" y="695325"/>
            <a:ext cx="2508250" cy="519113"/>
          </a:xfrm>
          <a:prstGeom prst="rect">
            <a:avLst/>
          </a:prstGeom>
          <a:noFill/>
          <a:ln w="19050">
            <a:noFill/>
          </a:ln>
        </p:spPr>
        <p:txBody>
          <a:bodyPr wrap="none">
            <a:spAutoFit/>
          </a:bodyPr>
          <a:lstStyle/>
          <a:p>
            <a:pPr marL="457200" indent="-457200">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ea typeface="仿宋_GB2312" panose="02010609030101010101" pitchFamily="49" charset="-122"/>
                <a:sym typeface="Monotype Sorts" pitchFamily="2" charset="2"/>
              </a:rPr>
              <a:t>作隐含表；</a:t>
            </a:r>
          </a:p>
        </p:txBody>
      </p:sp>
      <p:sp>
        <p:nvSpPr>
          <p:cNvPr id="185349" name="Text Box 5"/>
          <p:cNvSpPr txBox="1"/>
          <p:nvPr/>
        </p:nvSpPr>
        <p:spPr>
          <a:xfrm>
            <a:off x="4695825" y="592138"/>
            <a:ext cx="4081463" cy="1203325"/>
          </a:xfrm>
          <a:prstGeom prst="rect">
            <a:avLst/>
          </a:prstGeom>
          <a:noFill/>
          <a:ln w="19050">
            <a:noFill/>
          </a:ln>
        </p:spPr>
        <p:txBody>
          <a:bodyPr>
            <a:spAutoFit/>
          </a:bodyPr>
          <a:lstStyle/>
          <a:p>
            <a:pPr marL="381000" indent="-381000">
              <a:lnSpc>
                <a:spcPct val="130000"/>
              </a:lnSpc>
              <a:buChar char="•"/>
            </a:pPr>
            <a:r>
              <a:rPr lang="en-US" altLang="zh-CN" sz="2800" dirty="0">
                <a:latin typeface="Times New Roman" panose="02020603050405020304" pitchFamily="18" charset="0"/>
                <a:sym typeface="Monotype Sorts" pitchFamily="2" charset="2"/>
              </a:rPr>
              <a:t> </a:t>
            </a:r>
            <a:r>
              <a:rPr lang="zh-CN" altLang="en-US" sz="2800" dirty="0">
                <a:latin typeface="仿宋_GB2312" panose="02010609030101010101" pitchFamily="49" charset="-122"/>
                <a:ea typeface="仿宋_GB2312" panose="02010609030101010101" pitchFamily="49" charset="-122"/>
                <a:sym typeface="Monotype Sorts" pitchFamily="2" charset="2"/>
              </a:rPr>
              <a:t>顺序比较，</a:t>
            </a:r>
          </a:p>
          <a:p>
            <a:pPr marL="381000" indent="-381000">
              <a:lnSpc>
                <a:spcPct val="130000"/>
              </a:lnSpc>
            </a:pPr>
            <a:r>
              <a:rPr lang="zh-CN" altLang="en-US" sz="2800" dirty="0">
                <a:latin typeface="仿宋_GB2312" panose="02010609030101010101" pitchFamily="49" charset="-122"/>
                <a:ea typeface="仿宋_GB2312" panose="02010609030101010101" pitchFamily="49" charset="-122"/>
                <a:sym typeface="Monotype Sorts" pitchFamily="2" charset="2"/>
              </a:rPr>
              <a:t>   寻找相容对；</a:t>
            </a:r>
          </a:p>
        </p:txBody>
      </p:sp>
      <p:sp>
        <p:nvSpPr>
          <p:cNvPr id="185350" name="Text Box 6"/>
          <p:cNvSpPr txBox="1"/>
          <p:nvPr/>
        </p:nvSpPr>
        <p:spPr>
          <a:xfrm>
            <a:off x="5440363" y="2503488"/>
            <a:ext cx="677862" cy="946150"/>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AB</a:t>
            </a:r>
          </a:p>
          <a:p>
            <a:pPr algn="ctr"/>
            <a:r>
              <a:rPr lang="en-US" altLang="zh-CN" sz="2800" dirty="0">
                <a:latin typeface="Times New Roman" panose="02020603050405020304" pitchFamily="18" charset="0"/>
              </a:rPr>
              <a:t>DE</a:t>
            </a:r>
          </a:p>
        </p:txBody>
      </p:sp>
      <p:grpSp>
        <p:nvGrpSpPr>
          <p:cNvPr id="2" name="Group 7"/>
          <p:cNvGrpSpPr/>
          <p:nvPr/>
        </p:nvGrpSpPr>
        <p:grpSpPr>
          <a:xfrm>
            <a:off x="4741863" y="4170363"/>
            <a:ext cx="628650" cy="609600"/>
            <a:chOff x="1608" y="1176"/>
            <a:chExt cx="396" cy="384"/>
          </a:xfrm>
        </p:grpSpPr>
        <p:sp>
          <p:nvSpPr>
            <p:cNvPr id="49229" name="Line 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9230" name="Line 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3" name="Group 10"/>
          <p:cNvGrpSpPr/>
          <p:nvPr/>
        </p:nvGrpSpPr>
        <p:grpSpPr>
          <a:xfrm>
            <a:off x="6323013" y="3503613"/>
            <a:ext cx="552450" cy="514350"/>
            <a:chOff x="2592" y="2628"/>
            <a:chExt cx="348" cy="324"/>
          </a:xfrm>
        </p:grpSpPr>
        <p:sp>
          <p:nvSpPr>
            <p:cNvPr id="49227" name="Line 11"/>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49228" name="Line 12"/>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4" name="Group 13"/>
          <p:cNvGrpSpPr/>
          <p:nvPr/>
        </p:nvGrpSpPr>
        <p:grpSpPr>
          <a:xfrm>
            <a:off x="7046913" y="4246563"/>
            <a:ext cx="552450" cy="514350"/>
            <a:chOff x="2592" y="2628"/>
            <a:chExt cx="348" cy="324"/>
          </a:xfrm>
        </p:grpSpPr>
        <p:sp>
          <p:nvSpPr>
            <p:cNvPr id="49225" name="Line 14"/>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49226" name="Line 15"/>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5" name="Group 16"/>
          <p:cNvGrpSpPr/>
          <p:nvPr/>
        </p:nvGrpSpPr>
        <p:grpSpPr>
          <a:xfrm>
            <a:off x="4262438" y="1865313"/>
            <a:ext cx="4137025" cy="4205287"/>
            <a:chOff x="2794" y="504"/>
            <a:chExt cx="2606" cy="2649"/>
          </a:xfrm>
        </p:grpSpPr>
        <p:sp>
          <p:nvSpPr>
            <p:cNvPr id="49198" name="Rectangle 17"/>
            <p:cNvSpPr/>
            <p:nvPr/>
          </p:nvSpPr>
          <p:spPr>
            <a:xfrm>
              <a:off x="3528" y="1908"/>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nvGrpSpPr>
            <p:cNvPr id="49199" name="Group 18"/>
            <p:cNvGrpSpPr/>
            <p:nvPr/>
          </p:nvGrpSpPr>
          <p:grpSpPr>
            <a:xfrm>
              <a:off x="2794" y="504"/>
              <a:ext cx="2606" cy="2649"/>
              <a:chOff x="2794" y="504"/>
              <a:chExt cx="2606" cy="2649"/>
            </a:xfrm>
          </p:grpSpPr>
          <p:sp>
            <p:nvSpPr>
              <p:cNvPr id="49200" name="Text Box 19"/>
              <p:cNvSpPr txBox="1"/>
              <p:nvPr/>
            </p:nvSpPr>
            <p:spPr>
              <a:xfrm>
                <a:off x="3194" y="2826"/>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A</a:t>
                </a:r>
              </a:p>
            </p:txBody>
          </p:sp>
          <p:sp>
            <p:nvSpPr>
              <p:cNvPr id="49201" name="Text Box 20"/>
              <p:cNvSpPr txBox="1"/>
              <p:nvPr/>
            </p:nvSpPr>
            <p:spPr>
              <a:xfrm>
                <a:off x="3614" y="2826"/>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B</a:t>
                </a:r>
              </a:p>
            </p:txBody>
          </p:sp>
          <p:sp>
            <p:nvSpPr>
              <p:cNvPr id="49202" name="Text Box 21"/>
              <p:cNvSpPr txBox="1"/>
              <p:nvPr/>
            </p:nvSpPr>
            <p:spPr>
              <a:xfrm>
                <a:off x="4118" y="2826"/>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49203" name="Text Box 22"/>
              <p:cNvSpPr txBox="1"/>
              <p:nvPr/>
            </p:nvSpPr>
            <p:spPr>
              <a:xfrm>
                <a:off x="4562" y="2826"/>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49204" name="Text Box 23"/>
              <p:cNvSpPr txBox="1"/>
              <p:nvPr/>
            </p:nvSpPr>
            <p:spPr>
              <a:xfrm>
                <a:off x="5018" y="2826"/>
                <a:ext cx="253" cy="327"/>
              </a:xfrm>
              <a:prstGeom prst="rect">
                <a:avLst/>
              </a:prstGeom>
              <a:noFill/>
              <a:ln w="19050">
                <a:noFill/>
              </a:ln>
            </p:spPr>
            <p:txBody>
              <a:bodyPr wrap="none">
                <a:spAutoFit/>
              </a:bodyPr>
              <a:lstStyle/>
              <a:p>
                <a:r>
                  <a:rPr lang="en-US" altLang="zh-CN" sz="2800" dirty="0">
                    <a:latin typeface="Times New Roman" panose="02020603050405020304" pitchFamily="18" charset="0"/>
                  </a:rPr>
                  <a:t>E</a:t>
                </a:r>
              </a:p>
            </p:txBody>
          </p:sp>
          <p:sp>
            <p:nvSpPr>
              <p:cNvPr id="49205" name="Text Box 24"/>
              <p:cNvSpPr txBox="1"/>
              <p:nvPr/>
            </p:nvSpPr>
            <p:spPr>
              <a:xfrm>
                <a:off x="2794" y="2478"/>
                <a:ext cx="241" cy="327"/>
              </a:xfrm>
              <a:prstGeom prst="rect">
                <a:avLst/>
              </a:prstGeom>
              <a:noFill/>
              <a:ln w="19050">
                <a:noFill/>
              </a:ln>
            </p:spPr>
            <p:txBody>
              <a:bodyPr wrap="none">
                <a:spAutoFit/>
              </a:bodyPr>
              <a:lstStyle/>
              <a:p>
                <a:r>
                  <a:rPr lang="en-US" altLang="zh-CN" sz="2800" dirty="0">
                    <a:latin typeface="Times New Roman" panose="02020603050405020304" pitchFamily="18" charset="0"/>
                  </a:rPr>
                  <a:t>F</a:t>
                </a:r>
              </a:p>
            </p:txBody>
          </p:sp>
          <p:sp>
            <p:nvSpPr>
              <p:cNvPr id="49206" name="Text Box 25"/>
              <p:cNvSpPr txBox="1"/>
              <p:nvPr/>
            </p:nvSpPr>
            <p:spPr>
              <a:xfrm>
                <a:off x="2794" y="1992"/>
                <a:ext cx="253" cy="327"/>
              </a:xfrm>
              <a:prstGeom prst="rect">
                <a:avLst/>
              </a:prstGeom>
              <a:noFill/>
              <a:ln w="19050">
                <a:noFill/>
              </a:ln>
            </p:spPr>
            <p:txBody>
              <a:bodyPr wrap="none">
                <a:spAutoFit/>
              </a:bodyPr>
              <a:lstStyle/>
              <a:p>
                <a:r>
                  <a:rPr lang="en-US" altLang="zh-CN" sz="2800" dirty="0">
                    <a:latin typeface="Times New Roman" panose="02020603050405020304" pitchFamily="18" charset="0"/>
                  </a:rPr>
                  <a:t>E</a:t>
                </a:r>
              </a:p>
            </p:txBody>
          </p:sp>
          <p:sp>
            <p:nvSpPr>
              <p:cNvPr id="49207" name="Text Box 26"/>
              <p:cNvSpPr txBox="1"/>
              <p:nvPr/>
            </p:nvSpPr>
            <p:spPr>
              <a:xfrm>
                <a:off x="2794" y="1524"/>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49208" name="Text Box 27"/>
              <p:cNvSpPr txBox="1"/>
              <p:nvPr/>
            </p:nvSpPr>
            <p:spPr>
              <a:xfrm>
                <a:off x="2794" y="1044"/>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49209" name="Text Box 28"/>
              <p:cNvSpPr txBox="1"/>
              <p:nvPr/>
            </p:nvSpPr>
            <p:spPr>
              <a:xfrm>
                <a:off x="2794" y="576"/>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B</a:t>
                </a:r>
              </a:p>
            </p:txBody>
          </p:sp>
          <p:grpSp>
            <p:nvGrpSpPr>
              <p:cNvPr id="49210" name="Group 29"/>
              <p:cNvGrpSpPr/>
              <p:nvPr/>
            </p:nvGrpSpPr>
            <p:grpSpPr>
              <a:xfrm>
                <a:off x="3060" y="504"/>
                <a:ext cx="2340" cy="2340"/>
                <a:chOff x="3060" y="504"/>
                <a:chExt cx="2340" cy="2340"/>
              </a:xfrm>
            </p:grpSpPr>
            <p:sp>
              <p:nvSpPr>
                <p:cNvPr id="49211" name="Rectangle 30"/>
                <p:cNvSpPr/>
                <p:nvPr/>
              </p:nvSpPr>
              <p:spPr>
                <a:xfrm>
                  <a:off x="3996" y="1908"/>
                  <a:ext cx="468" cy="468"/>
                </a:xfrm>
                <a:prstGeom prst="rect">
                  <a:avLst/>
                </a:prstGeom>
                <a:noFill/>
                <a:ln w="1905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9212" name="Rectangle 31"/>
                <p:cNvSpPr/>
                <p:nvPr/>
              </p:nvSpPr>
              <p:spPr>
                <a:xfrm>
                  <a:off x="3528" y="1440"/>
                  <a:ext cx="468" cy="468"/>
                </a:xfrm>
                <a:prstGeom prst="rect">
                  <a:avLst/>
                </a:prstGeom>
                <a:noFill/>
                <a:ln w="1905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9213" name="Rectangle 32"/>
                <p:cNvSpPr/>
                <p:nvPr/>
              </p:nvSpPr>
              <p:spPr>
                <a:xfrm>
                  <a:off x="3060"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9214" name="Rectangle 33"/>
                <p:cNvSpPr/>
                <p:nvPr/>
              </p:nvSpPr>
              <p:spPr>
                <a:xfrm>
                  <a:off x="3528"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9215" name="Rectangle 34"/>
                <p:cNvSpPr/>
                <p:nvPr/>
              </p:nvSpPr>
              <p:spPr>
                <a:xfrm>
                  <a:off x="3996"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9216" name="Rectangle 35"/>
                <p:cNvSpPr/>
                <p:nvPr/>
              </p:nvSpPr>
              <p:spPr>
                <a:xfrm>
                  <a:off x="4464"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9217" name="Rectangle 36"/>
                <p:cNvSpPr/>
                <p:nvPr/>
              </p:nvSpPr>
              <p:spPr>
                <a:xfrm>
                  <a:off x="4932"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9218" name="Rectangle 37"/>
                <p:cNvSpPr/>
                <p:nvPr/>
              </p:nvSpPr>
              <p:spPr>
                <a:xfrm>
                  <a:off x="3060" y="1908"/>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9219" name="Rectangle 38"/>
                <p:cNvSpPr/>
                <p:nvPr/>
              </p:nvSpPr>
              <p:spPr>
                <a:xfrm>
                  <a:off x="4464" y="1908"/>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9220" name="Rectangle 39"/>
                <p:cNvSpPr/>
                <p:nvPr/>
              </p:nvSpPr>
              <p:spPr>
                <a:xfrm>
                  <a:off x="3060" y="1440"/>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9221" name="Rectangle 40"/>
                <p:cNvSpPr/>
                <p:nvPr/>
              </p:nvSpPr>
              <p:spPr>
                <a:xfrm>
                  <a:off x="3996" y="1440"/>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9222" name="Rectangle 41"/>
                <p:cNvSpPr/>
                <p:nvPr/>
              </p:nvSpPr>
              <p:spPr>
                <a:xfrm>
                  <a:off x="3060" y="972"/>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9223" name="Rectangle 42"/>
                <p:cNvSpPr/>
                <p:nvPr/>
              </p:nvSpPr>
              <p:spPr>
                <a:xfrm>
                  <a:off x="3528" y="972"/>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9224" name="Rectangle 43"/>
                <p:cNvSpPr/>
                <p:nvPr/>
              </p:nvSpPr>
              <p:spPr>
                <a:xfrm>
                  <a:off x="3060" y="504"/>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grpSp>
      <p:grpSp>
        <p:nvGrpSpPr>
          <p:cNvPr id="8" name="Group 44"/>
          <p:cNvGrpSpPr/>
          <p:nvPr/>
        </p:nvGrpSpPr>
        <p:grpSpPr>
          <a:xfrm>
            <a:off x="4741863" y="2665413"/>
            <a:ext cx="628650" cy="609600"/>
            <a:chOff x="1608" y="1176"/>
            <a:chExt cx="396" cy="384"/>
          </a:xfrm>
        </p:grpSpPr>
        <p:sp>
          <p:nvSpPr>
            <p:cNvPr id="49196" name="Line 4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9197" name="Line 4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9" name="Group 47"/>
          <p:cNvGrpSpPr/>
          <p:nvPr/>
        </p:nvGrpSpPr>
        <p:grpSpPr>
          <a:xfrm>
            <a:off x="4741863" y="3427413"/>
            <a:ext cx="628650" cy="609600"/>
            <a:chOff x="1608" y="1176"/>
            <a:chExt cx="396" cy="384"/>
          </a:xfrm>
        </p:grpSpPr>
        <p:sp>
          <p:nvSpPr>
            <p:cNvPr id="49194" name="Line 4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49195" name="Line 4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10" name="Group 50"/>
          <p:cNvGrpSpPr/>
          <p:nvPr/>
        </p:nvGrpSpPr>
        <p:grpSpPr>
          <a:xfrm>
            <a:off x="7789863" y="5008563"/>
            <a:ext cx="552450" cy="514350"/>
            <a:chOff x="2592" y="2628"/>
            <a:chExt cx="348" cy="324"/>
          </a:xfrm>
        </p:grpSpPr>
        <p:sp>
          <p:nvSpPr>
            <p:cNvPr id="49192" name="Line 51"/>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49193" name="Line 52"/>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11" name="Group 53"/>
          <p:cNvGrpSpPr/>
          <p:nvPr/>
        </p:nvGrpSpPr>
        <p:grpSpPr>
          <a:xfrm>
            <a:off x="4779963" y="1979613"/>
            <a:ext cx="552450" cy="514350"/>
            <a:chOff x="3120" y="576"/>
            <a:chExt cx="348" cy="324"/>
          </a:xfrm>
        </p:grpSpPr>
        <p:sp>
          <p:nvSpPr>
            <p:cNvPr id="49190" name="Line 54"/>
            <p:cNvSpPr/>
            <p:nvPr/>
          </p:nvSpPr>
          <p:spPr>
            <a:xfrm>
              <a:off x="3120" y="576"/>
              <a:ext cx="162" cy="324"/>
            </a:xfrm>
            <a:prstGeom prst="line">
              <a:avLst/>
            </a:prstGeom>
            <a:ln w="38100" cap="flat" cmpd="sng">
              <a:solidFill>
                <a:srgbClr val="3333FF"/>
              </a:solidFill>
              <a:prstDash val="solid"/>
              <a:headEnd type="none" w="med" len="med"/>
              <a:tailEnd type="none" w="sm" len="lg"/>
            </a:ln>
          </p:spPr>
        </p:sp>
        <p:sp>
          <p:nvSpPr>
            <p:cNvPr id="49191" name="Line 55"/>
            <p:cNvSpPr/>
            <p:nvPr/>
          </p:nvSpPr>
          <p:spPr>
            <a:xfrm rot="3520495">
              <a:off x="3237" y="611"/>
              <a:ext cx="201" cy="261"/>
            </a:xfrm>
            <a:prstGeom prst="line">
              <a:avLst/>
            </a:prstGeom>
            <a:ln w="38100" cap="flat" cmpd="sng">
              <a:solidFill>
                <a:srgbClr val="3333FF"/>
              </a:solidFill>
              <a:prstDash val="solid"/>
              <a:headEnd type="none" w="med" len="med"/>
              <a:tailEnd type="none" w="sm" len="lg"/>
            </a:ln>
          </p:spPr>
        </p:sp>
      </p:grpSp>
      <p:sp>
        <p:nvSpPr>
          <p:cNvPr id="185400" name="Text Box 56"/>
          <p:cNvSpPr txBox="1"/>
          <p:nvPr/>
        </p:nvSpPr>
        <p:spPr>
          <a:xfrm>
            <a:off x="5468938" y="3475038"/>
            <a:ext cx="658812" cy="519112"/>
          </a:xfrm>
          <a:prstGeom prst="rect">
            <a:avLst/>
          </a:prstGeom>
          <a:noFill/>
          <a:ln w="19050">
            <a:noFill/>
          </a:ln>
        </p:spPr>
        <p:txBody>
          <a:bodyPr wrap="none">
            <a:spAutoFit/>
          </a:bodyPr>
          <a:lstStyle/>
          <a:p>
            <a:r>
              <a:rPr lang="en-US" altLang="zh-CN" sz="2800" dirty="0">
                <a:latin typeface="Times New Roman" panose="02020603050405020304" pitchFamily="18" charset="0"/>
              </a:rPr>
              <a:t>DE</a:t>
            </a:r>
          </a:p>
        </p:txBody>
      </p:sp>
      <p:sp>
        <p:nvSpPr>
          <p:cNvPr id="185401" name="Text Box 57"/>
          <p:cNvSpPr txBox="1"/>
          <p:nvPr/>
        </p:nvSpPr>
        <p:spPr>
          <a:xfrm>
            <a:off x="5507038" y="4179888"/>
            <a:ext cx="619125" cy="519112"/>
          </a:xfrm>
          <a:prstGeom prst="rect">
            <a:avLst/>
          </a:prstGeom>
          <a:noFill/>
          <a:ln w="19050">
            <a:noFill/>
          </a:ln>
        </p:spPr>
        <p:txBody>
          <a:bodyPr wrap="none">
            <a:spAutoFit/>
          </a:bodyPr>
          <a:lstStyle/>
          <a:p>
            <a:r>
              <a:rPr lang="en-US" altLang="zh-CN" sz="2800" dirty="0">
                <a:latin typeface="Times New Roman" panose="02020603050405020304" pitchFamily="18" charset="0"/>
              </a:rPr>
              <a:t>BF</a:t>
            </a:r>
          </a:p>
        </p:txBody>
      </p:sp>
      <p:sp>
        <p:nvSpPr>
          <p:cNvPr id="185402" name="Text Box 58"/>
          <p:cNvSpPr txBox="1"/>
          <p:nvPr/>
        </p:nvSpPr>
        <p:spPr>
          <a:xfrm>
            <a:off x="6249988" y="4198938"/>
            <a:ext cx="639762" cy="519112"/>
          </a:xfrm>
          <a:prstGeom prst="rect">
            <a:avLst/>
          </a:prstGeom>
          <a:noFill/>
          <a:ln w="19050">
            <a:noFill/>
          </a:ln>
        </p:spPr>
        <p:txBody>
          <a:bodyPr wrap="none">
            <a:spAutoFit/>
          </a:bodyPr>
          <a:lstStyle/>
          <a:p>
            <a:r>
              <a:rPr lang="en-US" altLang="zh-CN" sz="2800" dirty="0">
                <a:latin typeface="Times New Roman" panose="02020603050405020304" pitchFamily="18" charset="0"/>
              </a:rPr>
              <a:t>AF</a:t>
            </a:r>
          </a:p>
        </p:txBody>
      </p:sp>
      <p:sp>
        <p:nvSpPr>
          <p:cNvPr id="185403" name="Text Box 59"/>
          <p:cNvSpPr txBox="1"/>
          <p:nvPr/>
        </p:nvSpPr>
        <p:spPr>
          <a:xfrm>
            <a:off x="6249988" y="4941888"/>
            <a:ext cx="638175" cy="519112"/>
          </a:xfrm>
          <a:prstGeom prst="rect">
            <a:avLst/>
          </a:prstGeom>
          <a:noFill/>
          <a:ln w="19050">
            <a:noFill/>
          </a:ln>
        </p:spPr>
        <p:txBody>
          <a:bodyPr wrap="none">
            <a:spAutoFit/>
          </a:bodyPr>
          <a:lstStyle/>
          <a:p>
            <a:r>
              <a:rPr lang="en-US" altLang="zh-CN" sz="2800" dirty="0">
                <a:latin typeface="Times New Roman" panose="02020603050405020304" pitchFamily="18" charset="0"/>
              </a:rPr>
              <a:t>CE</a:t>
            </a:r>
          </a:p>
        </p:txBody>
      </p:sp>
      <p:sp>
        <p:nvSpPr>
          <p:cNvPr id="185404" name="Text Box 60"/>
          <p:cNvSpPr txBox="1"/>
          <p:nvPr/>
        </p:nvSpPr>
        <p:spPr>
          <a:xfrm>
            <a:off x="6973888" y="4960938"/>
            <a:ext cx="638175" cy="519112"/>
          </a:xfrm>
          <a:prstGeom prst="rect">
            <a:avLst/>
          </a:prstGeom>
          <a:noFill/>
          <a:ln w="19050">
            <a:noFill/>
          </a:ln>
        </p:spPr>
        <p:txBody>
          <a:bodyPr wrap="none">
            <a:spAutoFit/>
          </a:bodyPr>
          <a:lstStyle/>
          <a:p>
            <a:r>
              <a:rPr lang="en-US" altLang="zh-CN" sz="2800" dirty="0">
                <a:latin typeface="Times New Roman" panose="02020603050405020304" pitchFamily="18" charset="0"/>
              </a:rPr>
              <a:t>CE</a:t>
            </a:r>
          </a:p>
        </p:txBody>
      </p:sp>
      <p:sp>
        <p:nvSpPr>
          <p:cNvPr id="185405" name="Text Box 61"/>
          <p:cNvSpPr txBox="1"/>
          <p:nvPr/>
        </p:nvSpPr>
        <p:spPr>
          <a:xfrm>
            <a:off x="5468938" y="4960938"/>
            <a:ext cx="677862" cy="519112"/>
          </a:xfrm>
          <a:prstGeom prst="rect">
            <a:avLst/>
          </a:prstGeom>
          <a:noFill/>
          <a:ln w="19050">
            <a:noFill/>
          </a:ln>
        </p:spPr>
        <p:txBody>
          <a:bodyPr wrap="none">
            <a:spAutoFit/>
          </a:bodyPr>
          <a:lstStyle/>
          <a:p>
            <a:r>
              <a:rPr lang="en-US" altLang="zh-CN" sz="2800" dirty="0">
                <a:latin typeface="Times New Roman" panose="02020603050405020304" pitchFamily="18" charset="0"/>
              </a:rPr>
              <a:t>CD</a:t>
            </a:r>
          </a:p>
        </p:txBody>
      </p:sp>
      <p:sp>
        <p:nvSpPr>
          <p:cNvPr id="185406" name="Text Box 62"/>
          <p:cNvSpPr txBox="1"/>
          <p:nvPr/>
        </p:nvSpPr>
        <p:spPr>
          <a:xfrm>
            <a:off x="4725988" y="4941888"/>
            <a:ext cx="677862" cy="519112"/>
          </a:xfrm>
          <a:prstGeom prst="rect">
            <a:avLst/>
          </a:prstGeom>
          <a:noFill/>
          <a:ln w="19050">
            <a:noFill/>
          </a:ln>
        </p:spPr>
        <p:txBody>
          <a:bodyPr wrap="none">
            <a:spAutoFit/>
          </a:bodyPr>
          <a:lstStyle/>
          <a:p>
            <a:r>
              <a:rPr lang="en-US" altLang="zh-CN" sz="2800" dirty="0">
                <a:latin typeface="Times New Roman" panose="02020603050405020304" pitchFamily="18" charset="0"/>
              </a:rPr>
              <a:t>CD</a:t>
            </a:r>
          </a:p>
        </p:txBody>
      </p:sp>
      <p:grpSp>
        <p:nvGrpSpPr>
          <p:cNvPr id="12" name="Group 80"/>
          <p:cNvGrpSpPr/>
          <p:nvPr/>
        </p:nvGrpSpPr>
        <p:grpSpPr>
          <a:xfrm>
            <a:off x="-73025" y="1620838"/>
            <a:ext cx="3930650" cy="4381500"/>
            <a:chOff x="-46" y="1021"/>
            <a:chExt cx="2476" cy="2760"/>
          </a:xfrm>
        </p:grpSpPr>
        <p:sp>
          <p:nvSpPr>
            <p:cNvPr id="49174" name="Line 64"/>
            <p:cNvSpPr/>
            <p:nvPr/>
          </p:nvSpPr>
          <p:spPr>
            <a:xfrm>
              <a:off x="13" y="1021"/>
              <a:ext cx="2398" cy="0"/>
            </a:xfrm>
            <a:prstGeom prst="line">
              <a:avLst/>
            </a:prstGeom>
            <a:ln w="38100" cap="flat" cmpd="sng">
              <a:solidFill>
                <a:schemeClr val="tx1"/>
              </a:solidFill>
              <a:prstDash val="solid"/>
              <a:headEnd type="none" w="med" len="med"/>
              <a:tailEnd type="none" w="sm" len="lg"/>
            </a:ln>
          </p:spPr>
        </p:sp>
        <p:sp>
          <p:nvSpPr>
            <p:cNvPr id="49175" name="Line 65"/>
            <p:cNvSpPr/>
            <p:nvPr/>
          </p:nvSpPr>
          <p:spPr>
            <a:xfrm>
              <a:off x="33" y="3769"/>
              <a:ext cx="2397" cy="0"/>
            </a:xfrm>
            <a:prstGeom prst="line">
              <a:avLst/>
            </a:prstGeom>
            <a:ln w="38100" cap="flat" cmpd="sng">
              <a:solidFill>
                <a:schemeClr val="tx1"/>
              </a:solidFill>
              <a:prstDash val="solid"/>
              <a:headEnd type="none" w="med" len="med"/>
              <a:tailEnd type="none" w="sm" len="lg"/>
            </a:ln>
          </p:spPr>
        </p:sp>
        <p:sp>
          <p:nvSpPr>
            <p:cNvPr id="49176" name="Line 66"/>
            <p:cNvSpPr/>
            <p:nvPr/>
          </p:nvSpPr>
          <p:spPr>
            <a:xfrm>
              <a:off x="588" y="1021"/>
              <a:ext cx="0" cy="2760"/>
            </a:xfrm>
            <a:prstGeom prst="line">
              <a:avLst/>
            </a:prstGeom>
            <a:ln w="19050" cap="flat" cmpd="sng">
              <a:solidFill>
                <a:schemeClr val="tx1"/>
              </a:solidFill>
              <a:prstDash val="solid"/>
              <a:headEnd type="none" w="med" len="med"/>
              <a:tailEnd type="none" w="sm" len="lg"/>
            </a:ln>
          </p:spPr>
        </p:sp>
        <p:sp>
          <p:nvSpPr>
            <p:cNvPr id="49177" name="Line 67"/>
            <p:cNvSpPr/>
            <p:nvPr/>
          </p:nvSpPr>
          <p:spPr>
            <a:xfrm>
              <a:off x="1150" y="1489"/>
              <a:ext cx="0" cy="2268"/>
            </a:xfrm>
            <a:prstGeom prst="line">
              <a:avLst/>
            </a:prstGeom>
            <a:ln w="19050" cap="flat" cmpd="sng">
              <a:solidFill>
                <a:schemeClr val="tx1"/>
              </a:solidFill>
              <a:prstDash val="solid"/>
              <a:headEnd type="none" w="med" len="med"/>
              <a:tailEnd type="none" w="sm" len="lg"/>
            </a:ln>
          </p:spPr>
        </p:sp>
        <p:sp>
          <p:nvSpPr>
            <p:cNvPr id="49178" name="Line 68"/>
            <p:cNvSpPr/>
            <p:nvPr/>
          </p:nvSpPr>
          <p:spPr>
            <a:xfrm>
              <a:off x="588" y="1489"/>
              <a:ext cx="1163" cy="0"/>
            </a:xfrm>
            <a:prstGeom prst="line">
              <a:avLst/>
            </a:prstGeom>
            <a:ln w="12700" cap="flat" cmpd="sng">
              <a:solidFill>
                <a:schemeClr val="tx1"/>
              </a:solidFill>
              <a:prstDash val="solid"/>
              <a:headEnd type="none" w="med" len="med"/>
              <a:tailEnd type="none" w="sm" len="lg"/>
            </a:ln>
          </p:spPr>
        </p:sp>
        <p:sp>
          <p:nvSpPr>
            <p:cNvPr id="49179" name="Line 69"/>
            <p:cNvSpPr/>
            <p:nvPr/>
          </p:nvSpPr>
          <p:spPr>
            <a:xfrm>
              <a:off x="0" y="1945"/>
              <a:ext cx="2398" cy="0"/>
            </a:xfrm>
            <a:prstGeom prst="line">
              <a:avLst/>
            </a:prstGeom>
            <a:ln w="12700" cap="flat" cmpd="sng">
              <a:solidFill>
                <a:schemeClr val="tx1"/>
              </a:solidFill>
              <a:prstDash val="solid"/>
              <a:headEnd type="none" w="med" len="med"/>
              <a:tailEnd type="none" w="sm" len="lg"/>
            </a:ln>
          </p:spPr>
        </p:sp>
        <p:sp>
          <p:nvSpPr>
            <p:cNvPr id="49180" name="Text Box 70"/>
            <p:cNvSpPr txBox="1"/>
            <p:nvPr/>
          </p:nvSpPr>
          <p:spPr>
            <a:xfrm>
              <a:off x="-46" y="1339"/>
              <a:ext cx="676" cy="327"/>
            </a:xfrm>
            <a:prstGeom prst="rect">
              <a:avLst/>
            </a:prstGeom>
            <a:noFill/>
            <a:ln w="19050">
              <a:noFill/>
            </a:ln>
          </p:spPr>
          <p:txBody>
            <a:bodyPr wrap="none">
              <a:spAutoFit/>
            </a:bodyPr>
            <a:lstStyle/>
            <a:p>
              <a:r>
                <a:rPr lang="zh-CN" altLang="zh-CN" sz="2800" dirty="0">
                  <a:latin typeface="Times New Roman" panose="02020603050405020304" pitchFamily="18" charset="0"/>
                </a:rPr>
                <a:t>现  态</a:t>
              </a:r>
            </a:p>
          </p:txBody>
        </p:sp>
        <p:sp>
          <p:nvSpPr>
            <p:cNvPr id="49181" name="Text Box 71"/>
            <p:cNvSpPr txBox="1"/>
            <p:nvPr/>
          </p:nvSpPr>
          <p:spPr>
            <a:xfrm>
              <a:off x="726" y="1111"/>
              <a:ext cx="916" cy="327"/>
            </a:xfrm>
            <a:prstGeom prst="rect">
              <a:avLst/>
            </a:prstGeom>
            <a:noFill/>
            <a:ln w="19050">
              <a:noFill/>
            </a:ln>
          </p:spPr>
          <p:txBody>
            <a:bodyPr wrap="none">
              <a:spAutoFit/>
            </a:bodyPr>
            <a:lstStyle/>
            <a:p>
              <a:r>
                <a:rPr lang="zh-CN" altLang="en-US" sz="2800" dirty="0">
                  <a:latin typeface="Times New Roman" panose="02020603050405020304" pitchFamily="18" charset="0"/>
                </a:rPr>
                <a:t>次   	态</a:t>
              </a:r>
            </a:p>
          </p:txBody>
        </p:sp>
        <p:sp>
          <p:nvSpPr>
            <p:cNvPr id="49182" name="Text Box 72"/>
            <p:cNvSpPr txBox="1"/>
            <p:nvPr/>
          </p:nvSpPr>
          <p:spPr>
            <a:xfrm>
              <a:off x="752" y="1555"/>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49183" name="Text Box 73"/>
            <p:cNvSpPr txBox="1"/>
            <p:nvPr/>
          </p:nvSpPr>
          <p:spPr>
            <a:xfrm>
              <a:off x="1347" y="1555"/>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49184" name="Text Box 74"/>
            <p:cNvSpPr txBox="1"/>
            <p:nvPr/>
          </p:nvSpPr>
          <p:spPr>
            <a:xfrm>
              <a:off x="102" y="2035"/>
              <a:ext cx="278" cy="1672"/>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A</a:t>
              </a:r>
            </a:p>
            <a:p>
              <a:pPr algn="ctr"/>
              <a:r>
                <a:rPr lang="en-US" altLang="zh-CN" sz="2800" dirty="0">
                  <a:latin typeface="Times New Roman" panose="02020603050405020304" pitchFamily="18" charset="0"/>
                </a:rPr>
                <a:t>B</a:t>
              </a:r>
            </a:p>
            <a:p>
              <a:pPr algn="ctr"/>
              <a:r>
                <a:rPr lang="en-US" altLang="zh-CN" sz="2800" dirty="0">
                  <a:latin typeface="Times New Roman" panose="02020603050405020304" pitchFamily="18" charset="0"/>
                </a:rPr>
                <a:t>C</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E</a:t>
              </a:r>
            </a:p>
            <a:p>
              <a:pPr algn="ctr"/>
              <a:r>
                <a:rPr lang="en-US" altLang="zh-CN" sz="2800" dirty="0">
                  <a:latin typeface="Times New Roman" panose="02020603050405020304" pitchFamily="18" charset="0"/>
                </a:rPr>
                <a:t>F</a:t>
              </a:r>
              <a:endParaRPr lang="en-US" altLang="zh-CN" sz="2800" baseline="-25000" dirty="0">
                <a:latin typeface="Times New Roman" panose="02020603050405020304" pitchFamily="18" charset="0"/>
              </a:endParaRPr>
            </a:p>
          </p:txBody>
        </p:sp>
        <p:sp>
          <p:nvSpPr>
            <p:cNvPr id="49185" name="Text Box 75"/>
            <p:cNvSpPr txBox="1"/>
            <p:nvPr/>
          </p:nvSpPr>
          <p:spPr>
            <a:xfrm>
              <a:off x="728" y="2035"/>
              <a:ext cx="278" cy="1672"/>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B</a:t>
              </a:r>
            </a:p>
            <a:p>
              <a:pPr algn="ctr"/>
              <a:r>
                <a:rPr lang="en-US" altLang="zh-CN" sz="2800" dirty="0">
                  <a:latin typeface="Times New Roman" panose="02020603050405020304" pitchFamily="18" charset="0"/>
                </a:rPr>
                <a:t>B</a:t>
              </a:r>
            </a:p>
            <a:p>
              <a:pPr algn="ctr"/>
              <a:r>
                <a:rPr lang="en-US" altLang="zh-CN" sz="2800" dirty="0">
                  <a:latin typeface="Times New Roman" panose="02020603050405020304" pitchFamily="18" charset="0"/>
                </a:rPr>
                <a:t>A</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F</a:t>
              </a:r>
            </a:p>
            <a:p>
              <a:pPr algn="ctr"/>
              <a:r>
                <a:rPr lang="en-US" altLang="zh-CN" sz="2800" dirty="0">
                  <a:latin typeface="Times New Roman" panose="02020603050405020304" pitchFamily="18" charset="0"/>
                </a:rPr>
                <a:t>d</a:t>
              </a:r>
            </a:p>
          </p:txBody>
        </p:sp>
        <p:sp>
          <p:nvSpPr>
            <p:cNvPr id="49186" name="Text Box 76"/>
            <p:cNvSpPr txBox="1"/>
            <p:nvPr/>
          </p:nvSpPr>
          <p:spPr>
            <a:xfrm>
              <a:off x="1317" y="2035"/>
              <a:ext cx="278" cy="1672"/>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E</a:t>
              </a:r>
            </a:p>
            <a:p>
              <a:pPr algn="ctr"/>
              <a:r>
                <a:rPr lang="en-US" altLang="zh-CN" sz="2800" dirty="0">
                  <a:latin typeface="Times New Roman" panose="02020603050405020304" pitchFamily="18" charset="0"/>
                </a:rPr>
                <a:t>E</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C</a:t>
              </a:r>
            </a:p>
          </p:txBody>
        </p:sp>
        <p:sp>
          <p:nvSpPr>
            <p:cNvPr id="49187" name="Line 77"/>
            <p:cNvSpPr/>
            <p:nvPr/>
          </p:nvSpPr>
          <p:spPr>
            <a:xfrm>
              <a:off x="1751" y="1033"/>
              <a:ext cx="0" cy="2736"/>
            </a:xfrm>
            <a:prstGeom prst="line">
              <a:avLst/>
            </a:prstGeom>
            <a:ln w="19050" cap="flat" cmpd="sng">
              <a:solidFill>
                <a:schemeClr val="tx1"/>
              </a:solidFill>
              <a:prstDash val="solid"/>
              <a:headEnd type="none" w="med" len="med"/>
              <a:tailEnd type="none" w="sm" len="lg"/>
            </a:ln>
          </p:spPr>
        </p:sp>
        <p:sp>
          <p:nvSpPr>
            <p:cNvPr id="49188" name="Rectangle 78"/>
            <p:cNvSpPr/>
            <p:nvPr/>
          </p:nvSpPr>
          <p:spPr>
            <a:xfrm>
              <a:off x="1787" y="1307"/>
              <a:ext cx="620" cy="327"/>
            </a:xfrm>
            <a:prstGeom prst="rect">
              <a:avLst/>
            </a:prstGeom>
            <a:noFill/>
            <a:ln w="19050">
              <a:noFill/>
            </a:ln>
          </p:spPr>
          <p:txBody>
            <a:bodyPr wrap="none">
              <a:spAutoFit/>
            </a:bodyPr>
            <a:lstStyle/>
            <a:p>
              <a:r>
                <a:rPr lang="zh-CN" altLang="en-US" sz="2800" dirty="0">
                  <a:latin typeface="Times New Roman" panose="02020603050405020304" pitchFamily="18" charset="0"/>
                </a:rPr>
                <a:t>输 出</a:t>
              </a:r>
            </a:p>
          </p:txBody>
        </p:sp>
        <p:sp>
          <p:nvSpPr>
            <p:cNvPr id="49189" name="Text Box 79"/>
            <p:cNvSpPr txBox="1"/>
            <p:nvPr/>
          </p:nvSpPr>
          <p:spPr>
            <a:xfrm>
              <a:off x="1988" y="2035"/>
              <a:ext cx="228" cy="1672"/>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0</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1</a:t>
              </a:r>
            </a:p>
            <a:p>
              <a:pPr algn="ctr"/>
              <a:r>
                <a:rPr lang="en-US" altLang="zh-CN" sz="2800" dirty="0">
                  <a:latin typeface="Times New Roman" panose="02020603050405020304" pitchFamily="18" charset="0"/>
                </a:rPr>
                <a:t>1</a:t>
              </a:r>
            </a:p>
            <a:p>
              <a:pPr algn="ctr"/>
              <a:r>
                <a:rPr lang="en-US" altLang="zh-CN" sz="2800" dirty="0">
                  <a:latin typeface="Times New Roman" panose="02020603050405020304" pitchFamily="18" charset="0"/>
                </a:rPr>
                <a:t>1</a:t>
              </a:r>
            </a:p>
            <a:p>
              <a:pPr algn="ctr"/>
              <a:r>
                <a:rPr lang="en-US" altLang="zh-CN" sz="2800" dirty="0">
                  <a:latin typeface="Times New Roman" panose="02020603050405020304" pitchFamily="18" charset="0"/>
                </a:rPr>
                <a:t>d</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to="" calcmode="lin" valueType="num">
                                      <p:cBhvr>
                                        <p:cTn id="7" dur="1" fill="hold"/>
                                        <p:tgtEl>
                                          <p:spTgt spid="12"/>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5348"/>
                                        </p:tgtEl>
                                        <p:attrNameLst>
                                          <p:attrName>style.visibility</p:attrName>
                                        </p:attrNameLst>
                                      </p:cBhvr>
                                      <p:to>
                                        <p:strVal val="visible"/>
                                      </p:to>
                                    </p:set>
                                    <p:animEffect transition="in" filter="wipe(left)">
                                      <p:cBhvr>
                                        <p:cTn id="12" dur="500"/>
                                        <p:tgtEl>
                                          <p:spTgt spid="1853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5349"/>
                                        </p:tgtEl>
                                        <p:attrNameLst>
                                          <p:attrName>style.visibility</p:attrName>
                                        </p:attrNameLst>
                                      </p:cBhvr>
                                      <p:to>
                                        <p:strVal val="visible"/>
                                      </p:to>
                                    </p:set>
                                    <p:animEffect transition="in" filter="wipe(left)">
                                      <p:cBhvr>
                                        <p:cTn id="22" dur="500"/>
                                        <p:tgtEl>
                                          <p:spTgt spid="18534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5406"/>
                                        </p:tgtEl>
                                        <p:attrNameLst>
                                          <p:attrName>style.visibility</p:attrName>
                                        </p:attrNameLst>
                                      </p:cBhvr>
                                      <p:to>
                                        <p:strVal val="visible"/>
                                      </p:to>
                                    </p:set>
                                    <p:animEffect transition="in" filter="wipe(left)">
                                      <p:cBhvr>
                                        <p:cTn id="47" dur="500"/>
                                        <p:tgtEl>
                                          <p:spTgt spid="18540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5350"/>
                                        </p:tgtEl>
                                        <p:attrNameLst>
                                          <p:attrName>style.visibility</p:attrName>
                                        </p:attrNameLst>
                                      </p:cBhvr>
                                      <p:to>
                                        <p:strVal val="visible"/>
                                      </p:to>
                                    </p:set>
                                    <p:animEffect transition="in" filter="wipe(left)">
                                      <p:cBhvr>
                                        <p:cTn id="52" dur="500"/>
                                        <p:tgtEl>
                                          <p:spTgt spid="18535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85400"/>
                                        </p:tgtEl>
                                        <p:attrNameLst>
                                          <p:attrName>style.visibility</p:attrName>
                                        </p:attrNameLst>
                                      </p:cBhvr>
                                      <p:to>
                                        <p:strVal val="visible"/>
                                      </p:to>
                                    </p:set>
                                    <p:animEffect transition="in" filter="wipe(left)">
                                      <p:cBhvr>
                                        <p:cTn id="57" dur="500"/>
                                        <p:tgtEl>
                                          <p:spTgt spid="18540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85401"/>
                                        </p:tgtEl>
                                        <p:attrNameLst>
                                          <p:attrName>style.visibility</p:attrName>
                                        </p:attrNameLst>
                                      </p:cBhvr>
                                      <p:to>
                                        <p:strVal val="visible"/>
                                      </p:to>
                                    </p:set>
                                    <p:animEffect transition="in" filter="wipe(left)">
                                      <p:cBhvr>
                                        <p:cTn id="62" dur="500"/>
                                        <p:tgtEl>
                                          <p:spTgt spid="18540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85405"/>
                                        </p:tgtEl>
                                        <p:attrNameLst>
                                          <p:attrName>style.visibility</p:attrName>
                                        </p:attrNameLst>
                                      </p:cBhvr>
                                      <p:to>
                                        <p:strVal val="visible"/>
                                      </p:to>
                                    </p:set>
                                    <p:animEffect transition="in" filter="wipe(left)">
                                      <p:cBhvr>
                                        <p:cTn id="67" dur="500"/>
                                        <p:tgtEl>
                                          <p:spTgt spid="185405"/>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3"/>
                                        </p:tgtEl>
                                        <p:attrNameLst>
                                          <p:attrName>style.visibility</p:attrName>
                                        </p:attrNameLst>
                                      </p:cBhvr>
                                      <p:to>
                                        <p:strVal val="visible"/>
                                      </p:to>
                                    </p:set>
                                    <p:animEffect transition="in" filter="wipe(left)">
                                      <p:cBhvr>
                                        <p:cTn id="72" dur="500"/>
                                        <p:tgtEl>
                                          <p:spTgt spid="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85402"/>
                                        </p:tgtEl>
                                        <p:attrNameLst>
                                          <p:attrName>style.visibility</p:attrName>
                                        </p:attrNameLst>
                                      </p:cBhvr>
                                      <p:to>
                                        <p:strVal val="visible"/>
                                      </p:to>
                                    </p:set>
                                    <p:animEffect transition="in" filter="wipe(left)">
                                      <p:cBhvr>
                                        <p:cTn id="77" dur="500"/>
                                        <p:tgtEl>
                                          <p:spTgt spid="18540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85403"/>
                                        </p:tgtEl>
                                        <p:attrNameLst>
                                          <p:attrName>style.visibility</p:attrName>
                                        </p:attrNameLst>
                                      </p:cBhvr>
                                      <p:to>
                                        <p:strVal val="visible"/>
                                      </p:to>
                                    </p:set>
                                    <p:animEffect transition="in" filter="wipe(left)">
                                      <p:cBhvr>
                                        <p:cTn id="82" dur="500"/>
                                        <p:tgtEl>
                                          <p:spTgt spid="185403"/>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4"/>
                                        </p:tgtEl>
                                        <p:attrNameLst>
                                          <p:attrName>style.visibility</p:attrName>
                                        </p:attrNameLst>
                                      </p:cBhvr>
                                      <p:to>
                                        <p:strVal val="visible"/>
                                      </p:to>
                                    </p:set>
                                    <p:animEffect transition="in" filter="wipe(left)">
                                      <p:cBhvr>
                                        <p:cTn id="87" dur="500"/>
                                        <p:tgtEl>
                                          <p:spTgt spid="4"/>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85404"/>
                                        </p:tgtEl>
                                        <p:attrNameLst>
                                          <p:attrName>style.visibility</p:attrName>
                                        </p:attrNameLst>
                                      </p:cBhvr>
                                      <p:to>
                                        <p:strVal val="visible"/>
                                      </p:to>
                                    </p:set>
                                    <p:animEffect transition="in" filter="wipe(left)">
                                      <p:cBhvr>
                                        <p:cTn id="92" dur="500"/>
                                        <p:tgtEl>
                                          <p:spTgt spid="185404"/>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10"/>
                                        </p:tgtEl>
                                        <p:attrNameLst>
                                          <p:attrName>style.visibility</p:attrName>
                                        </p:attrNameLst>
                                      </p:cBhvr>
                                      <p:to>
                                        <p:strVal val="visible"/>
                                      </p:to>
                                    </p:set>
                                    <p:animEffect transition="in" filter="wipe(left)">
                                      <p:cBhvr>
                                        <p:cTn id="9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8" grpId="0"/>
      <p:bldP spid="185349" grpId="0"/>
      <p:bldP spid="185350" grpId="0"/>
      <p:bldP spid="185400" grpId="0"/>
      <p:bldP spid="185401" grpId="0"/>
      <p:bldP spid="185402" grpId="0"/>
      <p:bldP spid="185403" grpId="0"/>
      <p:bldP spid="185404" grpId="0"/>
      <p:bldP spid="185405" grpId="0"/>
      <p:bldP spid="185406"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Text Box 2"/>
          <p:cNvSpPr txBox="1"/>
          <p:nvPr/>
        </p:nvSpPr>
        <p:spPr>
          <a:xfrm>
            <a:off x="6038850" y="3181350"/>
            <a:ext cx="2381250" cy="1801813"/>
          </a:xfrm>
          <a:prstGeom prst="rect">
            <a:avLst/>
          </a:prstGeom>
          <a:noFill/>
          <a:ln w="19050">
            <a:noFill/>
          </a:ln>
        </p:spPr>
        <p:txBody>
          <a:bodyPr>
            <a:spAutoFit/>
          </a:bodyPr>
          <a:lstStyle/>
          <a:p>
            <a:pPr>
              <a:spcBef>
                <a:spcPct val="50000"/>
              </a:spcBef>
            </a:pPr>
            <a:r>
              <a:rPr lang="en-US" altLang="zh-CN" sz="2800" dirty="0">
                <a:latin typeface="Times New Roman" panose="02020603050405020304" pitchFamily="18" charset="0"/>
                <a:sym typeface="Monotype Sorts" pitchFamily="2" charset="2"/>
              </a:rPr>
              <a:t>CE→AF √</a:t>
            </a:r>
          </a:p>
          <a:p>
            <a:pPr>
              <a:spcBef>
                <a:spcPct val="50000"/>
              </a:spcBef>
            </a:pPr>
            <a:r>
              <a:rPr lang="en-US" altLang="zh-CN" sz="2800" dirty="0">
                <a:latin typeface="Times New Roman" panose="02020603050405020304" pitchFamily="18" charset="0"/>
                <a:sym typeface="Monotype Sorts" pitchFamily="2" charset="2"/>
              </a:rPr>
              <a:t>CF→CE √</a:t>
            </a:r>
          </a:p>
          <a:p>
            <a:pPr>
              <a:spcBef>
                <a:spcPct val="50000"/>
              </a:spcBef>
            </a:pPr>
            <a:r>
              <a:rPr lang="en-US" altLang="zh-CN" sz="2800" dirty="0">
                <a:latin typeface="Times New Roman" panose="02020603050405020304" pitchFamily="18" charset="0"/>
                <a:sym typeface="Monotype Sorts" pitchFamily="2" charset="2"/>
              </a:rPr>
              <a:t>DF→CE √</a:t>
            </a:r>
          </a:p>
        </p:txBody>
      </p:sp>
      <p:sp>
        <p:nvSpPr>
          <p:cNvPr id="186371" name="Text Box 3"/>
          <p:cNvSpPr txBox="1"/>
          <p:nvPr/>
        </p:nvSpPr>
        <p:spPr>
          <a:xfrm>
            <a:off x="1069975" y="4953000"/>
            <a:ext cx="6729413" cy="817563"/>
          </a:xfrm>
          <a:prstGeom prst="rect">
            <a:avLst/>
          </a:prstGeom>
          <a:noFill/>
          <a:ln w="19050">
            <a:noFill/>
          </a:ln>
        </p:spPr>
        <p:txBody>
          <a:bodyPr>
            <a:spAutoFit/>
          </a:bodyPr>
          <a:lstStyle/>
          <a:p>
            <a:pPr defTabSz="666750">
              <a:lnSpc>
                <a:spcPct val="170000"/>
              </a:lnSpc>
            </a:pPr>
            <a:r>
              <a:rPr lang="zh-CN" altLang="en-US" sz="2800" dirty="0">
                <a:latin typeface="Times New Roman" panose="02020603050405020304" pitchFamily="18" charset="0"/>
                <a:sym typeface="Monotype Sorts" pitchFamily="2" charset="2"/>
              </a:rPr>
              <a:t>以上三步与确定状态表的化简相同</a:t>
            </a:r>
          </a:p>
        </p:txBody>
      </p:sp>
      <p:sp>
        <p:nvSpPr>
          <p:cNvPr id="186372" name="Text Box 4"/>
          <p:cNvSpPr txBox="1"/>
          <p:nvPr/>
        </p:nvSpPr>
        <p:spPr>
          <a:xfrm>
            <a:off x="650875" y="4591050"/>
            <a:ext cx="6780213" cy="690563"/>
          </a:xfrm>
          <a:prstGeom prst="rect">
            <a:avLst/>
          </a:prstGeom>
          <a:noFill/>
          <a:ln w="19050">
            <a:noFill/>
          </a:ln>
        </p:spPr>
        <p:txBody>
          <a:bodyPr>
            <a:spAutoFit/>
          </a:bodyPr>
          <a:lstStyle/>
          <a:p>
            <a:pPr marL="381000" indent="-381000">
              <a:lnSpc>
                <a:spcPct val="140000"/>
              </a:lnSpc>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关联比较，确定相容对；</a:t>
            </a:r>
          </a:p>
        </p:txBody>
      </p:sp>
      <p:grpSp>
        <p:nvGrpSpPr>
          <p:cNvPr id="2" name="Group 5"/>
          <p:cNvGrpSpPr/>
          <p:nvPr/>
        </p:nvGrpSpPr>
        <p:grpSpPr>
          <a:xfrm>
            <a:off x="758825" y="571500"/>
            <a:ext cx="4137025" cy="4205288"/>
            <a:chOff x="346" y="504"/>
            <a:chExt cx="2606" cy="2649"/>
          </a:xfrm>
        </p:grpSpPr>
        <p:sp>
          <p:nvSpPr>
            <p:cNvPr id="50190" name="Text Box 6"/>
            <p:cNvSpPr txBox="1"/>
            <p:nvPr/>
          </p:nvSpPr>
          <p:spPr>
            <a:xfrm>
              <a:off x="1088" y="906"/>
              <a:ext cx="427" cy="596"/>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AB</a:t>
              </a:r>
            </a:p>
            <a:p>
              <a:pPr algn="ctr"/>
              <a:r>
                <a:rPr lang="en-US" altLang="zh-CN" sz="2800" dirty="0">
                  <a:latin typeface="Times New Roman" panose="02020603050405020304" pitchFamily="18" charset="0"/>
                </a:rPr>
                <a:t>DE</a:t>
              </a:r>
            </a:p>
          </p:txBody>
        </p:sp>
        <p:grpSp>
          <p:nvGrpSpPr>
            <p:cNvPr id="50191" name="Group 7"/>
            <p:cNvGrpSpPr/>
            <p:nvPr/>
          </p:nvGrpSpPr>
          <p:grpSpPr>
            <a:xfrm>
              <a:off x="648" y="1956"/>
              <a:ext cx="396" cy="384"/>
              <a:chOff x="1608" y="1176"/>
              <a:chExt cx="396" cy="384"/>
            </a:xfrm>
          </p:grpSpPr>
          <p:sp>
            <p:nvSpPr>
              <p:cNvPr id="50245" name="Line 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50246" name="Line 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50192" name="Group 10"/>
            <p:cNvGrpSpPr/>
            <p:nvPr/>
          </p:nvGrpSpPr>
          <p:grpSpPr>
            <a:xfrm>
              <a:off x="1644" y="1536"/>
              <a:ext cx="348" cy="324"/>
              <a:chOff x="2592" y="2628"/>
              <a:chExt cx="348" cy="324"/>
            </a:xfrm>
          </p:grpSpPr>
          <p:sp>
            <p:nvSpPr>
              <p:cNvPr id="50243" name="Line 11"/>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50244" name="Line 12"/>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50193" name="Group 13"/>
            <p:cNvGrpSpPr/>
            <p:nvPr/>
          </p:nvGrpSpPr>
          <p:grpSpPr>
            <a:xfrm>
              <a:off x="2100" y="2004"/>
              <a:ext cx="348" cy="324"/>
              <a:chOff x="2592" y="2628"/>
              <a:chExt cx="348" cy="324"/>
            </a:xfrm>
          </p:grpSpPr>
          <p:sp>
            <p:nvSpPr>
              <p:cNvPr id="50241" name="Line 14"/>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50242" name="Line 15"/>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50194" name="Group 16"/>
            <p:cNvGrpSpPr/>
            <p:nvPr/>
          </p:nvGrpSpPr>
          <p:grpSpPr>
            <a:xfrm>
              <a:off x="346" y="504"/>
              <a:ext cx="2606" cy="2649"/>
              <a:chOff x="2794" y="504"/>
              <a:chExt cx="2606" cy="2649"/>
            </a:xfrm>
          </p:grpSpPr>
          <p:sp>
            <p:nvSpPr>
              <p:cNvPr id="50214" name="Rectangle 17"/>
              <p:cNvSpPr/>
              <p:nvPr/>
            </p:nvSpPr>
            <p:spPr>
              <a:xfrm>
                <a:off x="3528" y="1908"/>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nvGrpSpPr>
              <p:cNvPr id="50215" name="Group 18"/>
              <p:cNvGrpSpPr/>
              <p:nvPr/>
            </p:nvGrpSpPr>
            <p:grpSpPr>
              <a:xfrm>
                <a:off x="2794" y="504"/>
                <a:ext cx="2606" cy="2649"/>
                <a:chOff x="2794" y="504"/>
                <a:chExt cx="2606" cy="2649"/>
              </a:xfrm>
            </p:grpSpPr>
            <p:sp>
              <p:nvSpPr>
                <p:cNvPr id="50216" name="Text Box 19"/>
                <p:cNvSpPr txBox="1"/>
                <p:nvPr/>
              </p:nvSpPr>
              <p:spPr>
                <a:xfrm>
                  <a:off x="3194" y="2826"/>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A</a:t>
                  </a:r>
                </a:p>
              </p:txBody>
            </p:sp>
            <p:sp>
              <p:nvSpPr>
                <p:cNvPr id="50217" name="Text Box 20"/>
                <p:cNvSpPr txBox="1"/>
                <p:nvPr/>
              </p:nvSpPr>
              <p:spPr>
                <a:xfrm>
                  <a:off x="3614" y="2826"/>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B</a:t>
                  </a:r>
                </a:p>
              </p:txBody>
            </p:sp>
            <p:sp>
              <p:nvSpPr>
                <p:cNvPr id="50218" name="Text Box 21"/>
                <p:cNvSpPr txBox="1"/>
                <p:nvPr/>
              </p:nvSpPr>
              <p:spPr>
                <a:xfrm>
                  <a:off x="4118" y="2826"/>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50219" name="Text Box 22"/>
                <p:cNvSpPr txBox="1"/>
                <p:nvPr/>
              </p:nvSpPr>
              <p:spPr>
                <a:xfrm>
                  <a:off x="4562" y="2826"/>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50220" name="Text Box 23"/>
                <p:cNvSpPr txBox="1"/>
                <p:nvPr/>
              </p:nvSpPr>
              <p:spPr>
                <a:xfrm>
                  <a:off x="5018" y="2826"/>
                  <a:ext cx="253" cy="327"/>
                </a:xfrm>
                <a:prstGeom prst="rect">
                  <a:avLst/>
                </a:prstGeom>
                <a:noFill/>
                <a:ln w="19050">
                  <a:noFill/>
                </a:ln>
              </p:spPr>
              <p:txBody>
                <a:bodyPr wrap="none">
                  <a:spAutoFit/>
                </a:bodyPr>
                <a:lstStyle/>
                <a:p>
                  <a:r>
                    <a:rPr lang="en-US" altLang="zh-CN" sz="2800" dirty="0">
                      <a:latin typeface="Times New Roman" panose="02020603050405020304" pitchFamily="18" charset="0"/>
                    </a:rPr>
                    <a:t>E</a:t>
                  </a:r>
                </a:p>
              </p:txBody>
            </p:sp>
            <p:sp>
              <p:nvSpPr>
                <p:cNvPr id="50221" name="Text Box 24"/>
                <p:cNvSpPr txBox="1"/>
                <p:nvPr/>
              </p:nvSpPr>
              <p:spPr>
                <a:xfrm>
                  <a:off x="2794" y="2478"/>
                  <a:ext cx="241" cy="327"/>
                </a:xfrm>
                <a:prstGeom prst="rect">
                  <a:avLst/>
                </a:prstGeom>
                <a:noFill/>
                <a:ln w="19050">
                  <a:noFill/>
                </a:ln>
              </p:spPr>
              <p:txBody>
                <a:bodyPr wrap="none">
                  <a:spAutoFit/>
                </a:bodyPr>
                <a:lstStyle/>
                <a:p>
                  <a:r>
                    <a:rPr lang="en-US" altLang="zh-CN" sz="2800" dirty="0">
                      <a:latin typeface="Times New Roman" panose="02020603050405020304" pitchFamily="18" charset="0"/>
                    </a:rPr>
                    <a:t>F</a:t>
                  </a:r>
                </a:p>
              </p:txBody>
            </p:sp>
            <p:sp>
              <p:nvSpPr>
                <p:cNvPr id="50222" name="Text Box 25"/>
                <p:cNvSpPr txBox="1"/>
                <p:nvPr/>
              </p:nvSpPr>
              <p:spPr>
                <a:xfrm>
                  <a:off x="2794" y="1992"/>
                  <a:ext cx="253" cy="327"/>
                </a:xfrm>
                <a:prstGeom prst="rect">
                  <a:avLst/>
                </a:prstGeom>
                <a:noFill/>
                <a:ln w="19050">
                  <a:noFill/>
                </a:ln>
              </p:spPr>
              <p:txBody>
                <a:bodyPr wrap="none">
                  <a:spAutoFit/>
                </a:bodyPr>
                <a:lstStyle/>
                <a:p>
                  <a:r>
                    <a:rPr lang="en-US" altLang="zh-CN" sz="2800" dirty="0">
                      <a:latin typeface="Times New Roman" panose="02020603050405020304" pitchFamily="18" charset="0"/>
                    </a:rPr>
                    <a:t>E</a:t>
                  </a:r>
                </a:p>
              </p:txBody>
            </p:sp>
            <p:sp>
              <p:nvSpPr>
                <p:cNvPr id="50223" name="Text Box 26"/>
                <p:cNvSpPr txBox="1"/>
                <p:nvPr/>
              </p:nvSpPr>
              <p:spPr>
                <a:xfrm>
                  <a:off x="2794" y="1524"/>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50224" name="Text Box 27"/>
                <p:cNvSpPr txBox="1"/>
                <p:nvPr/>
              </p:nvSpPr>
              <p:spPr>
                <a:xfrm>
                  <a:off x="2794" y="1044"/>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50225" name="Text Box 28"/>
                <p:cNvSpPr txBox="1"/>
                <p:nvPr/>
              </p:nvSpPr>
              <p:spPr>
                <a:xfrm>
                  <a:off x="2794" y="576"/>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B</a:t>
                  </a:r>
                </a:p>
              </p:txBody>
            </p:sp>
            <p:grpSp>
              <p:nvGrpSpPr>
                <p:cNvPr id="50226" name="Group 29"/>
                <p:cNvGrpSpPr/>
                <p:nvPr/>
              </p:nvGrpSpPr>
              <p:grpSpPr>
                <a:xfrm>
                  <a:off x="3060" y="504"/>
                  <a:ext cx="2340" cy="2340"/>
                  <a:chOff x="3060" y="504"/>
                  <a:chExt cx="2340" cy="2340"/>
                </a:xfrm>
              </p:grpSpPr>
              <p:sp>
                <p:nvSpPr>
                  <p:cNvPr id="50227" name="Rectangle 30"/>
                  <p:cNvSpPr/>
                  <p:nvPr/>
                </p:nvSpPr>
                <p:spPr>
                  <a:xfrm>
                    <a:off x="3996" y="1908"/>
                    <a:ext cx="468" cy="468"/>
                  </a:xfrm>
                  <a:prstGeom prst="rect">
                    <a:avLst/>
                  </a:prstGeom>
                  <a:noFill/>
                  <a:ln w="1905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0228" name="Rectangle 31"/>
                  <p:cNvSpPr/>
                  <p:nvPr/>
                </p:nvSpPr>
                <p:spPr>
                  <a:xfrm>
                    <a:off x="3528" y="1440"/>
                    <a:ext cx="468" cy="468"/>
                  </a:xfrm>
                  <a:prstGeom prst="rect">
                    <a:avLst/>
                  </a:prstGeom>
                  <a:noFill/>
                  <a:ln w="1905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0229" name="Rectangle 32"/>
                  <p:cNvSpPr/>
                  <p:nvPr/>
                </p:nvSpPr>
                <p:spPr>
                  <a:xfrm>
                    <a:off x="3060"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0230" name="Rectangle 33"/>
                  <p:cNvSpPr/>
                  <p:nvPr/>
                </p:nvSpPr>
                <p:spPr>
                  <a:xfrm>
                    <a:off x="3528"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0231" name="Rectangle 34"/>
                  <p:cNvSpPr/>
                  <p:nvPr/>
                </p:nvSpPr>
                <p:spPr>
                  <a:xfrm>
                    <a:off x="3996"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0232" name="Rectangle 35"/>
                  <p:cNvSpPr/>
                  <p:nvPr/>
                </p:nvSpPr>
                <p:spPr>
                  <a:xfrm>
                    <a:off x="4464"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0233" name="Rectangle 36"/>
                  <p:cNvSpPr/>
                  <p:nvPr/>
                </p:nvSpPr>
                <p:spPr>
                  <a:xfrm>
                    <a:off x="4932" y="237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0234" name="Rectangle 37"/>
                  <p:cNvSpPr/>
                  <p:nvPr/>
                </p:nvSpPr>
                <p:spPr>
                  <a:xfrm>
                    <a:off x="3060" y="1908"/>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0235" name="Rectangle 38"/>
                  <p:cNvSpPr/>
                  <p:nvPr/>
                </p:nvSpPr>
                <p:spPr>
                  <a:xfrm>
                    <a:off x="4464" y="1908"/>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0236" name="Rectangle 39"/>
                  <p:cNvSpPr/>
                  <p:nvPr/>
                </p:nvSpPr>
                <p:spPr>
                  <a:xfrm>
                    <a:off x="3060" y="1440"/>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0237" name="Rectangle 40"/>
                  <p:cNvSpPr/>
                  <p:nvPr/>
                </p:nvSpPr>
                <p:spPr>
                  <a:xfrm>
                    <a:off x="3996" y="1440"/>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0238" name="Rectangle 41"/>
                  <p:cNvSpPr/>
                  <p:nvPr/>
                </p:nvSpPr>
                <p:spPr>
                  <a:xfrm>
                    <a:off x="3060" y="972"/>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0239" name="Rectangle 42"/>
                  <p:cNvSpPr/>
                  <p:nvPr/>
                </p:nvSpPr>
                <p:spPr>
                  <a:xfrm>
                    <a:off x="3528" y="972"/>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0240" name="Rectangle 43"/>
                  <p:cNvSpPr/>
                  <p:nvPr/>
                </p:nvSpPr>
                <p:spPr>
                  <a:xfrm>
                    <a:off x="3060" y="504"/>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grpSp>
        <p:grpSp>
          <p:nvGrpSpPr>
            <p:cNvPr id="50195" name="Group 44"/>
            <p:cNvGrpSpPr/>
            <p:nvPr/>
          </p:nvGrpSpPr>
          <p:grpSpPr>
            <a:xfrm>
              <a:off x="648" y="1008"/>
              <a:ext cx="396" cy="384"/>
              <a:chOff x="1608" y="1176"/>
              <a:chExt cx="396" cy="384"/>
            </a:xfrm>
          </p:grpSpPr>
          <p:sp>
            <p:nvSpPr>
              <p:cNvPr id="50212" name="Line 4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50213" name="Line 4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50196" name="Group 47"/>
            <p:cNvGrpSpPr/>
            <p:nvPr/>
          </p:nvGrpSpPr>
          <p:grpSpPr>
            <a:xfrm>
              <a:off x="648" y="1488"/>
              <a:ext cx="396" cy="384"/>
              <a:chOff x="1608" y="1176"/>
              <a:chExt cx="396" cy="384"/>
            </a:xfrm>
          </p:grpSpPr>
          <p:sp>
            <p:nvSpPr>
              <p:cNvPr id="50210" name="Line 4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50211" name="Line 4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50197" name="Group 50"/>
            <p:cNvGrpSpPr/>
            <p:nvPr/>
          </p:nvGrpSpPr>
          <p:grpSpPr>
            <a:xfrm>
              <a:off x="2568" y="2484"/>
              <a:ext cx="348" cy="324"/>
              <a:chOff x="2592" y="2628"/>
              <a:chExt cx="348" cy="324"/>
            </a:xfrm>
          </p:grpSpPr>
          <p:sp>
            <p:nvSpPr>
              <p:cNvPr id="50208" name="Line 51"/>
              <p:cNvSpPr/>
              <p:nvPr/>
            </p:nvSpPr>
            <p:spPr>
              <a:xfrm>
                <a:off x="2592" y="2628"/>
                <a:ext cx="162" cy="324"/>
              </a:xfrm>
              <a:prstGeom prst="line">
                <a:avLst/>
              </a:prstGeom>
              <a:ln w="38100" cap="flat" cmpd="sng">
                <a:solidFill>
                  <a:srgbClr val="3333FF"/>
                </a:solidFill>
                <a:prstDash val="solid"/>
                <a:headEnd type="none" w="med" len="med"/>
                <a:tailEnd type="none" w="sm" len="lg"/>
              </a:ln>
            </p:spPr>
          </p:sp>
          <p:sp>
            <p:nvSpPr>
              <p:cNvPr id="50209" name="Line 52"/>
              <p:cNvSpPr/>
              <p:nvPr/>
            </p:nvSpPr>
            <p:spPr>
              <a:xfrm rot="3520495">
                <a:off x="2709" y="2663"/>
                <a:ext cx="201" cy="261"/>
              </a:xfrm>
              <a:prstGeom prst="line">
                <a:avLst/>
              </a:prstGeom>
              <a:ln w="38100" cap="flat" cmpd="sng">
                <a:solidFill>
                  <a:srgbClr val="3333FF"/>
                </a:solidFill>
                <a:prstDash val="solid"/>
                <a:headEnd type="none" w="med" len="med"/>
                <a:tailEnd type="none" w="sm" len="lg"/>
              </a:ln>
            </p:spPr>
          </p:sp>
        </p:grpSp>
        <p:grpSp>
          <p:nvGrpSpPr>
            <p:cNvPr id="50198" name="Group 53"/>
            <p:cNvGrpSpPr/>
            <p:nvPr/>
          </p:nvGrpSpPr>
          <p:grpSpPr>
            <a:xfrm>
              <a:off x="672" y="576"/>
              <a:ext cx="348" cy="324"/>
              <a:chOff x="3120" y="576"/>
              <a:chExt cx="348" cy="324"/>
            </a:xfrm>
          </p:grpSpPr>
          <p:sp>
            <p:nvSpPr>
              <p:cNvPr id="50206" name="Line 54"/>
              <p:cNvSpPr/>
              <p:nvPr/>
            </p:nvSpPr>
            <p:spPr>
              <a:xfrm>
                <a:off x="3120" y="576"/>
                <a:ext cx="162" cy="324"/>
              </a:xfrm>
              <a:prstGeom prst="line">
                <a:avLst/>
              </a:prstGeom>
              <a:ln w="38100" cap="flat" cmpd="sng">
                <a:solidFill>
                  <a:srgbClr val="3333FF"/>
                </a:solidFill>
                <a:prstDash val="solid"/>
                <a:headEnd type="none" w="med" len="med"/>
                <a:tailEnd type="none" w="sm" len="lg"/>
              </a:ln>
            </p:spPr>
          </p:sp>
          <p:sp>
            <p:nvSpPr>
              <p:cNvPr id="50207" name="Line 55"/>
              <p:cNvSpPr/>
              <p:nvPr/>
            </p:nvSpPr>
            <p:spPr>
              <a:xfrm rot="3520495">
                <a:off x="3237" y="611"/>
                <a:ext cx="201" cy="261"/>
              </a:xfrm>
              <a:prstGeom prst="line">
                <a:avLst/>
              </a:prstGeom>
              <a:ln w="38100" cap="flat" cmpd="sng">
                <a:solidFill>
                  <a:srgbClr val="3333FF"/>
                </a:solidFill>
                <a:prstDash val="solid"/>
                <a:headEnd type="none" w="med" len="med"/>
                <a:tailEnd type="none" w="sm" len="lg"/>
              </a:ln>
            </p:spPr>
          </p:sp>
        </p:grpSp>
        <p:sp>
          <p:nvSpPr>
            <p:cNvPr id="50199" name="Text Box 56"/>
            <p:cNvSpPr txBox="1"/>
            <p:nvPr/>
          </p:nvSpPr>
          <p:spPr>
            <a:xfrm>
              <a:off x="1106" y="1518"/>
              <a:ext cx="415" cy="327"/>
            </a:xfrm>
            <a:prstGeom prst="rect">
              <a:avLst/>
            </a:prstGeom>
            <a:noFill/>
            <a:ln w="19050">
              <a:noFill/>
            </a:ln>
          </p:spPr>
          <p:txBody>
            <a:bodyPr wrap="none">
              <a:spAutoFit/>
            </a:bodyPr>
            <a:lstStyle/>
            <a:p>
              <a:r>
                <a:rPr lang="en-US" altLang="zh-CN" sz="2800" dirty="0">
                  <a:latin typeface="Times New Roman" panose="02020603050405020304" pitchFamily="18" charset="0"/>
                </a:rPr>
                <a:t>DE</a:t>
              </a:r>
            </a:p>
          </p:txBody>
        </p:sp>
        <p:sp>
          <p:nvSpPr>
            <p:cNvPr id="50200" name="Text Box 57"/>
            <p:cNvSpPr txBox="1"/>
            <p:nvPr/>
          </p:nvSpPr>
          <p:spPr>
            <a:xfrm>
              <a:off x="1130" y="1962"/>
              <a:ext cx="390" cy="327"/>
            </a:xfrm>
            <a:prstGeom prst="rect">
              <a:avLst/>
            </a:prstGeom>
            <a:noFill/>
            <a:ln w="19050">
              <a:noFill/>
            </a:ln>
          </p:spPr>
          <p:txBody>
            <a:bodyPr wrap="none">
              <a:spAutoFit/>
            </a:bodyPr>
            <a:lstStyle/>
            <a:p>
              <a:r>
                <a:rPr lang="en-US" altLang="zh-CN" sz="2800" dirty="0">
                  <a:latin typeface="Times New Roman" panose="02020603050405020304" pitchFamily="18" charset="0"/>
                </a:rPr>
                <a:t>BF</a:t>
              </a:r>
            </a:p>
          </p:txBody>
        </p:sp>
        <p:sp>
          <p:nvSpPr>
            <p:cNvPr id="50201" name="Text Box 58"/>
            <p:cNvSpPr txBox="1"/>
            <p:nvPr/>
          </p:nvSpPr>
          <p:spPr>
            <a:xfrm>
              <a:off x="1598" y="1974"/>
              <a:ext cx="403" cy="327"/>
            </a:xfrm>
            <a:prstGeom prst="rect">
              <a:avLst/>
            </a:prstGeom>
            <a:noFill/>
            <a:ln w="19050">
              <a:noFill/>
            </a:ln>
          </p:spPr>
          <p:txBody>
            <a:bodyPr wrap="none">
              <a:spAutoFit/>
            </a:bodyPr>
            <a:lstStyle/>
            <a:p>
              <a:r>
                <a:rPr lang="en-US" altLang="zh-CN" sz="2800" dirty="0">
                  <a:latin typeface="Times New Roman" panose="02020603050405020304" pitchFamily="18" charset="0"/>
                </a:rPr>
                <a:t>AF</a:t>
              </a:r>
            </a:p>
          </p:txBody>
        </p:sp>
        <p:sp>
          <p:nvSpPr>
            <p:cNvPr id="50202" name="Text Box 59"/>
            <p:cNvSpPr txBox="1"/>
            <p:nvPr/>
          </p:nvSpPr>
          <p:spPr>
            <a:xfrm>
              <a:off x="1598" y="2442"/>
              <a:ext cx="402" cy="327"/>
            </a:xfrm>
            <a:prstGeom prst="rect">
              <a:avLst/>
            </a:prstGeom>
            <a:noFill/>
            <a:ln w="19050">
              <a:noFill/>
            </a:ln>
          </p:spPr>
          <p:txBody>
            <a:bodyPr wrap="none">
              <a:spAutoFit/>
            </a:bodyPr>
            <a:lstStyle/>
            <a:p>
              <a:r>
                <a:rPr lang="en-US" altLang="zh-CN" sz="2800" dirty="0">
                  <a:latin typeface="Times New Roman" panose="02020603050405020304" pitchFamily="18" charset="0"/>
                </a:rPr>
                <a:t>CE</a:t>
              </a:r>
            </a:p>
          </p:txBody>
        </p:sp>
        <p:sp>
          <p:nvSpPr>
            <p:cNvPr id="50203" name="Text Box 60"/>
            <p:cNvSpPr txBox="1"/>
            <p:nvPr/>
          </p:nvSpPr>
          <p:spPr>
            <a:xfrm>
              <a:off x="2054" y="2454"/>
              <a:ext cx="402" cy="327"/>
            </a:xfrm>
            <a:prstGeom prst="rect">
              <a:avLst/>
            </a:prstGeom>
            <a:noFill/>
            <a:ln w="19050">
              <a:noFill/>
            </a:ln>
          </p:spPr>
          <p:txBody>
            <a:bodyPr wrap="none">
              <a:spAutoFit/>
            </a:bodyPr>
            <a:lstStyle/>
            <a:p>
              <a:r>
                <a:rPr lang="en-US" altLang="zh-CN" sz="2800" dirty="0">
                  <a:latin typeface="Times New Roman" panose="02020603050405020304" pitchFamily="18" charset="0"/>
                </a:rPr>
                <a:t>CE</a:t>
              </a:r>
            </a:p>
          </p:txBody>
        </p:sp>
        <p:sp>
          <p:nvSpPr>
            <p:cNvPr id="50204" name="Text Box 61"/>
            <p:cNvSpPr txBox="1"/>
            <p:nvPr/>
          </p:nvSpPr>
          <p:spPr>
            <a:xfrm>
              <a:off x="1106" y="2454"/>
              <a:ext cx="427" cy="327"/>
            </a:xfrm>
            <a:prstGeom prst="rect">
              <a:avLst/>
            </a:prstGeom>
            <a:noFill/>
            <a:ln w="19050">
              <a:noFill/>
            </a:ln>
          </p:spPr>
          <p:txBody>
            <a:bodyPr wrap="none">
              <a:spAutoFit/>
            </a:bodyPr>
            <a:lstStyle/>
            <a:p>
              <a:r>
                <a:rPr lang="en-US" altLang="zh-CN" sz="2800" dirty="0">
                  <a:latin typeface="Times New Roman" panose="02020603050405020304" pitchFamily="18" charset="0"/>
                </a:rPr>
                <a:t>CD</a:t>
              </a:r>
            </a:p>
          </p:txBody>
        </p:sp>
        <p:sp>
          <p:nvSpPr>
            <p:cNvPr id="50205" name="Text Box 62"/>
            <p:cNvSpPr txBox="1"/>
            <p:nvPr/>
          </p:nvSpPr>
          <p:spPr>
            <a:xfrm>
              <a:off x="638" y="2442"/>
              <a:ext cx="427" cy="327"/>
            </a:xfrm>
            <a:prstGeom prst="rect">
              <a:avLst/>
            </a:prstGeom>
            <a:noFill/>
            <a:ln w="19050">
              <a:noFill/>
            </a:ln>
          </p:spPr>
          <p:txBody>
            <a:bodyPr wrap="none">
              <a:spAutoFit/>
            </a:bodyPr>
            <a:lstStyle/>
            <a:p>
              <a:r>
                <a:rPr lang="en-US" altLang="zh-CN" sz="2800" dirty="0">
                  <a:latin typeface="Times New Roman" panose="02020603050405020304" pitchFamily="18" charset="0"/>
                </a:rPr>
                <a:t>CD</a:t>
              </a:r>
            </a:p>
          </p:txBody>
        </p:sp>
      </p:grpSp>
      <p:sp>
        <p:nvSpPr>
          <p:cNvPr id="186431" name="Rectangle 63"/>
          <p:cNvSpPr/>
          <p:nvPr/>
        </p:nvSpPr>
        <p:spPr>
          <a:xfrm>
            <a:off x="6003925" y="428625"/>
            <a:ext cx="1933575" cy="519113"/>
          </a:xfrm>
          <a:prstGeom prst="rect">
            <a:avLst/>
          </a:prstGeom>
          <a:noFill/>
          <a:ln w="19050">
            <a:noFill/>
          </a:ln>
        </p:spPr>
        <p:txBody>
          <a:bodyPr wrap="none">
            <a:spAutoFit/>
          </a:bodyPr>
          <a:lstStyle/>
          <a:p>
            <a:r>
              <a:rPr lang="en-US" altLang="zh-CN" sz="2800" dirty="0">
                <a:latin typeface="Times New Roman" panose="02020603050405020304" pitchFamily="18" charset="0"/>
              </a:rPr>
              <a:t>AF</a:t>
            </a:r>
            <a:r>
              <a:rPr lang="en-US" altLang="zh-CN" sz="2800" dirty="0">
                <a:latin typeface="宋体" panose="02010600030101010101" pitchFamily="2" charset="-122"/>
                <a:sym typeface="Monotype Sorts" pitchFamily="2" charset="2"/>
              </a:rPr>
              <a:t>→</a:t>
            </a:r>
            <a:r>
              <a:rPr lang="en-US" altLang="zh-CN" sz="2800" dirty="0">
                <a:latin typeface="Times New Roman" panose="02020603050405020304" pitchFamily="18" charset="0"/>
                <a:sym typeface="Monotype Sorts" pitchFamily="2" charset="2"/>
              </a:rPr>
              <a:t>CD √</a:t>
            </a:r>
          </a:p>
        </p:txBody>
      </p:sp>
      <p:grpSp>
        <p:nvGrpSpPr>
          <p:cNvPr id="13" name="Group 64"/>
          <p:cNvGrpSpPr/>
          <p:nvPr/>
        </p:nvGrpSpPr>
        <p:grpSpPr>
          <a:xfrm>
            <a:off x="6022975" y="981075"/>
            <a:ext cx="1951038" cy="1109663"/>
            <a:chOff x="3794" y="990"/>
            <a:chExt cx="1229" cy="699"/>
          </a:xfrm>
        </p:grpSpPr>
        <p:sp>
          <p:nvSpPr>
            <p:cNvPr id="50187" name="Freeform 65"/>
            <p:cNvSpPr/>
            <p:nvPr/>
          </p:nvSpPr>
          <p:spPr>
            <a:xfrm>
              <a:off x="3996" y="1236"/>
              <a:ext cx="396" cy="288"/>
            </a:xfrm>
            <a:custGeom>
              <a:avLst/>
              <a:gdLst>
                <a:gd name="txL" fmla="*/ 0 w 384"/>
                <a:gd name="txT" fmla="*/ 0 h 252"/>
                <a:gd name="txR" fmla="*/ 384 w 384"/>
                <a:gd name="txB" fmla="*/ 252 h 252"/>
              </a:gdLst>
              <a:ahLst/>
              <a:cxnLst>
                <a:cxn ang="0">
                  <a:pos x="0" y="0"/>
                </a:cxn>
                <a:cxn ang="0">
                  <a:pos x="0" y="329"/>
                </a:cxn>
                <a:cxn ang="0">
                  <a:pos x="408" y="329"/>
                </a:cxn>
              </a:cxnLst>
              <a:rect l="txL" t="txT" r="txR" b="txB"/>
              <a:pathLst>
                <a:path w="384" h="252">
                  <a:moveTo>
                    <a:pt x="0" y="0"/>
                  </a:moveTo>
                  <a:lnTo>
                    <a:pt x="0" y="252"/>
                  </a:lnTo>
                  <a:lnTo>
                    <a:pt x="384" y="252"/>
                  </a:lnTo>
                </a:path>
              </a:pathLst>
            </a:custGeom>
            <a:noFill/>
            <a:ln w="19050" cap="flat" cmpd="sng">
              <a:solidFill>
                <a:schemeClr val="tx1">
                  <a:alpha val="100000"/>
                </a:schemeClr>
              </a:solidFill>
              <a:prstDash val="solid"/>
              <a:round/>
              <a:headEnd type="none" w="med" len="med"/>
              <a:tailEnd type="triangle" w="med" len="med"/>
            </a:ln>
          </p:spPr>
          <p:txBody>
            <a:bodyPr/>
            <a:lstStyle/>
            <a:p>
              <a:endParaRPr lang="zh-CN" altLang="en-US" sz="2800"/>
            </a:p>
          </p:txBody>
        </p:sp>
        <p:sp>
          <p:nvSpPr>
            <p:cNvPr id="50188" name="Rectangle 66"/>
            <p:cNvSpPr/>
            <p:nvPr/>
          </p:nvSpPr>
          <p:spPr>
            <a:xfrm>
              <a:off x="3794" y="990"/>
              <a:ext cx="1229" cy="327"/>
            </a:xfrm>
            <a:prstGeom prst="rect">
              <a:avLst/>
            </a:prstGeom>
            <a:noFill/>
            <a:ln w="19050">
              <a:noFill/>
            </a:ln>
          </p:spPr>
          <p:txBody>
            <a:bodyPr wrap="none">
              <a:spAutoFit/>
            </a:bodyPr>
            <a:lstStyle/>
            <a:p>
              <a:r>
                <a:rPr lang="en-US" altLang="zh-CN" sz="2800" dirty="0">
                  <a:latin typeface="Times New Roman" panose="02020603050405020304" pitchFamily="18" charset="0"/>
                  <a:sym typeface="Monotype Sorts" pitchFamily="2" charset="2"/>
                </a:rPr>
                <a:t>BC</a:t>
              </a:r>
              <a:r>
                <a:rPr lang="en-US" altLang="zh-CN" sz="2800" dirty="0">
                  <a:latin typeface="宋体" panose="02010600030101010101" pitchFamily="2" charset="-122"/>
                  <a:sym typeface="Monotype Sorts" pitchFamily="2" charset="2"/>
                </a:rPr>
                <a:t>→</a:t>
              </a:r>
              <a:r>
                <a:rPr lang="en-US" altLang="zh-CN" sz="2800" dirty="0">
                  <a:latin typeface="Times New Roman" panose="02020603050405020304" pitchFamily="18" charset="0"/>
                  <a:sym typeface="Monotype Sorts" pitchFamily="2" charset="2"/>
                </a:rPr>
                <a:t>AB √</a:t>
              </a:r>
            </a:p>
          </p:txBody>
        </p:sp>
        <p:sp>
          <p:nvSpPr>
            <p:cNvPr id="50189" name="Rectangle 67"/>
            <p:cNvSpPr/>
            <p:nvPr/>
          </p:nvSpPr>
          <p:spPr>
            <a:xfrm>
              <a:off x="4262" y="1362"/>
              <a:ext cx="751" cy="327"/>
            </a:xfrm>
            <a:prstGeom prst="rect">
              <a:avLst/>
            </a:prstGeom>
            <a:noFill/>
            <a:ln w="19050">
              <a:noFill/>
            </a:ln>
          </p:spPr>
          <p:txBody>
            <a:bodyPr wrap="none">
              <a:spAutoFit/>
            </a:bodyPr>
            <a:lstStyle/>
            <a:p>
              <a:r>
                <a:rPr lang="en-US" altLang="zh-CN" sz="2800" dirty="0">
                  <a:latin typeface="Times New Roman" panose="02020603050405020304" pitchFamily="18" charset="0"/>
                  <a:sym typeface="Monotype Sorts" pitchFamily="2" charset="2"/>
                </a:rPr>
                <a:t> DE √</a:t>
              </a:r>
            </a:p>
          </p:txBody>
        </p:sp>
      </p:grpSp>
      <p:sp>
        <p:nvSpPr>
          <p:cNvPr id="186436" name="Rectangle 68"/>
          <p:cNvSpPr/>
          <p:nvPr/>
        </p:nvSpPr>
        <p:spPr>
          <a:xfrm>
            <a:off x="6061075" y="2009775"/>
            <a:ext cx="1952625" cy="519113"/>
          </a:xfrm>
          <a:prstGeom prst="rect">
            <a:avLst/>
          </a:prstGeom>
          <a:noFill/>
          <a:ln w="19050">
            <a:noFill/>
          </a:ln>
        </p:spPr>
        <p:txBody>
          <a:bodyPr wrap="none">
            <a:spAutoFit/>
          </a:bodyPr>
          <a:lstStyle/>
          <a:p>
            <a:r>
              <a:rPr lang="en-US" altLang="zh-CN" sz="2800" dirty="0">
                <a:latin typeface="Times New Roman" panose="02020603050405020304" pitchFamily="18" charset="0"/>
                <a:sym typeface="Monotype Sorts" pitchFamily="2" charset="2"/>
              </a:rPr>
              <a:t>BD→DE √</a:t>
            </a:r>
          </a:p>
        </p:txBody>
      </p:sp>
      <p:sp>
        <p:nvSpPr>
          <p:cNvPr id="186437" name="Rectangle 69"/>
          <p:cNvSpPr/>
          <p:nvPr/>
        </p:nvSpPr>
        <p:spPr>
          <a:xfrm>
            <a:off x="6061075" y="2562225"/>
            <a:ext cx="2722563" cy="519113"/>
          </a:xfrm>
          <a:prstGeom prst="rect">
            <a:avLst/>
          </a:prstGeom>
          <a:noFill/>
          <a:ln w="19050">
            <a:noFill/>
          </a:ln>
        </p:spPr>
        <p:txBody>
          <a:bodyPr wrap="none">
            <a:spAutoFit/>
          </a:bodyPr>
          <a:lstStyle/>
          <a:p>
            <a:r>
              <a:rPr lang="en-US" altLang="zh-CN" sz="2800" dirty="0">
                <a:latin typeface="Times New Roman" panose="02020603050405020304" pitchFamily="18" charset="0"/>
                <a:sym typeface="Monotype Sorts" pitchFamily="2" charset="2"/>
              </a:rPr>
              <a:t>BE→BF→CD √</a:t>
            </a:r>
          </a:p>
        </p:txBody>
      </p:sp>
      <p:sp>
        <p:nvSpPr>
          <p:cNvPr id="186438" name="Text Box 70"/>
          <p:cNvSpPr txBox="1"/>
          <p:nvPr/>
        </p:nvSpPr>
        <p:spPr>
          <a:xfrm>
            <a:off x="838200" y="5654675"/>
            <a:ext cx="7696200" cy="1203325"/>
          </a:xfrm>
          <a:prstGeom prst="rect">
            <a:avLst/>
          </a:prstGeom>
          <a:noFill/>
          <a:ln w="19050">
            <a:noFill/>
          </a:ln>
        </p:spPr>
        <p:txBody>
          <a:bodyPr>
            <a:spAutoFit/>
          </a:bodyPr>
          <a:lstStyle/>
          <a:p>
            <a:pPr>
              <a:lnSpc>
                <a:spcPct val="130000"/>
              </a:lnSpc>
              <a:spcBef>
                <a:spcPct val="50000"/>
              </a:spcBef>
            </a:pPr>
            <a:r>
              <a:rPr lang="zh-CN" altLang="en-US" sz="2800" dirty="0">
                <a:latin typeface="Times New Roman" panose="02020603050405020304" pitchFamily="18" charset="0"/>
              </a:rPr>
              <a:t>全部相容对：</a:t>
            </a:r>
            <a:r>
              <a:rPr lang="en-US" altLang="zh-CN" sz="2800" dirty="0">
                <a:latin typeface="Times New Roman" panose="02020603050405020304" pitchFamily="18" charset="0"/>
              </a:rPr>
              <a:t>(A,B), (A,F), (B,C), (B,D), (B,E), (B,F), (C,D), (C,E), (C,F), (D,F), (D,E),  (E,F)</a:t>
            </a:r>
            <a:r>
              <a:rPr lang="zh-CN" altLang="en-US" sz="2800" dirty="0">
                <a:latin typeface="Times New Roman" panose="02020603050405020304" pitchFamily="18"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6372"/>
                                        </p:tgtEl>
                                        <p:attrNameLst>
                                          <p:attrName>style.visibility</p:attrName>
                                        </p:attrNameLst>
                                      </p:cBhvr>
                                      <p:to>
                                        <p:strVal val="visible"/>
                                      </p:to>
                                    </p:set>
                                    <p:animEffect transition="in" filter="wipe(left)">
                                      <p:cBhvr>
                                        <p:cTn id="12" dur="500"/>
                                        <p:tgtEl>
                                          <p:spTgt spid="18637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6431"/>
                                        </p:tgtEl>
                                        <p:attrNameLst>
                                          <p:attrName>style.visibility</p:attrName>
                                        </p:attrNameLst>
                                      </p:cBhvr>
                                      <p:to>
                                        <p:strVal val="visible"/>
                                      </p:to>
                                    </p:set>
                                    <p:animEffect transition="in" filter="wipe(left)">
                                      <p:cBhvr>
                                        <p:cTn id="17" dur="500"/>
                                        <p:tgtEl>
                                          <p:spTgt spid="1864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6436"/>
                                        </p:tgtEl>
                                        <p:attrNameLst>
                                          <p:attrName>style.visibility</p:attrName>
                                        </p:attrNameLst>
                                      </p:cBhvr>
                                      <p:to>
                                        <p:strVal val="visible"/>
                                      </p:to>
                                    </p:set>
                                    <p:animEffect transition="in" filter="wipe(left)">
                                      <p:cBhvr>
                                        <p:cTn id="27" dur="500"/>
                                        <p:tgtEl>
                                          <p:spTgt spid="18643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6437"/>
                                        </p:tgtEl>
                                        <p:attrNameLst>
                                          <p:attrName>style.visibility</p:attrName>
                                        </p:attrNameLst>
                                      </p:cBhvr>
                                      <p:to>
                                        <p:strVal val="visible"/>
                                      </p:to>
                                    </p:set>
                                    <p:animEffect transition="in" filter="wipe(left)">
                                      <p:cBhvr>
                                        <p:cTn id="32" dur="500"/>
                                        <p:tgtEl>
                                          <p:spTgt spid="18643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86370"/>
                                        </p:tgtEl>
                                        <p:attrNameLst>
                                          <p:attrName>style.visibility</p:attrName>
                                        </p:attrNameLst>
                                      </p:cBhvr>
                                      <p:to>
                                        <p:strVal val="visible"/>
                                      </p:to>
                                    </p:set>
                                    <p:animEffect transition="in" filter="wipe(left)">
                                      <p:cBhvr>
                                        <p:cTn id="37" dur="500"/>
                                        <p:tgtEl>
                                          <p:spTgt spid="18637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6371"/>
                                        </p:tgtEl>
                                        <p:attrNameLst>
                                          <p:attrName>style.visibility</p:attrName>
                                        </p:attrNameLst>
                                      </p:cBhvr>
                                      <p:to>
                                        <p:strVal val="visible"/>
                                      </p:to>
                                    </p:set>
                                    <p:animEffect transition="in" filter="wipe(left)">
                                      <p:cBhvr>
                                        <p:cTn id="42" dur="500"/>
                                        <p:tgtEl>
                                          <p:spTgt spid="18637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6438"/>
                                        </p:tgtEl>
                                        <p:attrNameLst>
                                          <p:attrName>style.visibility</p:attrName>
                                        </p:attrNameLst>
                                      </p:cBhvr>
                                      <p:to>
                                        <p:strVal val="visible"/>
                                      </p:to>
                                    </p:set>
                                    <p:animEffect transition="in" filter="wipe(left)">
                                      <p:cBhvr>
                                        <p:cTn id="47" dur="500"/>
                                        <p:tgtEl>
                                          <p:spTgt spid="186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0" grpId="0"/>
      <p:bldP spid="186371" grpId="0"/>
      <p:bldP spid="186372" grpId="0"/>
      <p:bldP spid="186431" grpId="0"/>
      <p:bldP spid="186436" grpId="0"/>
      <p:bldP spid="186437" grpId="0"/>
      <p:bldP spid="186438"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p:nvPr/>
        </p:nvSpPr>
        <p:spPr>
          <a:xfrm>
            <a:off x="898525" y="1123950"/>
            <a:ext cx="7148513" cy="647700"/>
          </a:xfrm>
          <a:prstGeom prst="rect">
            <a:avLst/>
          </a:prstGeom>
          <a:noFill/>
          <a:ln w="19050">
            <a:noFill/>
          </a:ln>
        </p:spPr>
        <p:txBody>
          <a:bodyPr>
            <a:spAutoFit/>
          </a:bodyPr>
          <a:lstStyle/>
          <a:p>
            <a:pPr marL="381000" indent="-381000">
              <a:lnSpc>
                <a:spcPct val="130000"/>
              </a:lnSpc>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作状态合并图，求最大相容类。</a:t>
            </a:r>
          </a:p>
        </p:txBody>
      </p:sp>
      <p:grpSp>
        <p:nvGrpSpPr>
          <p:cNvPr id="2" name="Group 22"/>
          <p:cNvGrpSpPr/>
          <p:nvPr/>
        </p:nvGrpSpPr>
        <p:grpSpPr>
          <a:xfrm>
            <a:off x="95250" y="2085975"/>
            <a:ext cx="2617788" cy="3192463"/>
            <a:chOff x="0" y="1146"/>
            <a:chExt cx="1578" cy="2107"/>
          </a:xfrm>
        </p:grpSpPr>
        <p:sp>
          <p:nvSpPr>
            <p:cNvPr id="51236" name="Oval 4"/>
            <p:cNvSpPr/>
            <p:nvPr/>
          </p:nvSpPr>
          <p:spPr>
            <a:xfrm>
              <a:off x="193" y="1446"/>
              <a:ext cx="1155" cy="1286"/>
            </a:xfrm>
            <a:prstGeom prst="ellipse">
              <a:avLst/>
            </a:prstGeom>
            <a:noFill/>
            <a:ln w="3810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1237" name="AutoShape 5"/>
            <p:cNvSpPr/>
            <p:nvPr/>
          </p:nvSpPr>
          <p:spPr>
            <a:xfrm>
              <a:off x="294" y="1455"/>
              <a:ext cx="984" cy="946"/>
            </a:xfrm>
            <a:prstGeom prst="triangle">
              <a:avLst>
                <a:gd name="adj" fmla="val 50000"/>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1238" name="Text Box 6"/>
            <p:cNvSpPr txBox="1"/>
            <p:nvPr/>
          </p:nvSpPr>
          <p:spPr>
            <a:xfrm>
              <a:off x="641" y="1146"/>
              <a:ext cx="419" cy="343"/>
            </a:xfrm>
            <a:prstGeom prst="rect">
              <a:avLst/>
            </a:prstGeom>
            <a:noFill/>
            <a:ln w="19050">
              <a:noFill/>
            </a:ln>
          </p:spPr>
          <p:txBody>
            <a:bodyPr>
              <a:spAutoFit/>
            </a:bodyPr>
            <a:lstStyle/>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p>
          </p:txBody>
        </p:sp>
        <p:sp>
          <p:nvSpPr>
            <p:cNvPr id="51239" name="Text Box 7"/>
            <p:cNvSpPr txBox="1"/>
            <p:nvPr/>
          </p:nvSpPr>
          <p:spPr>
            <a:xfrm>
              <a:off x="0" y="2205"/>
              <a:ext cx="303" cy="343"/>
            </a:xfrm>
            <a:prstGeom prst="rect">
              <a:avLst/>
            </a:prstGeom>
            <a:noFill/>
            <a:ln w="19050">
              <a:noFill/>
            </a:ln>
          </p:spPr>
          <p:txBody>
            <a:bodyPr wrap="none">
              <a:spAutoFit/>
            </a:bodyPr>
            <a:lstStyle/>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p>
          </p:txBody>
        </p:sp>
        <p:sp>
          <p:nvSpPr>
            <p:cNvPr id="51240" name="Text Box 8"/>
            <p:cNvSpPr txBox="1"/>
            <p:nvPr/>
          </p:nvSpPr>
          <p:spPr>
            <a:xfrm>
              <a:off x="1274" y="2205"/>
              <a:ext cx="304" cy="343"/>
            </a:xfrm>
            <a:prstGeom prst="rect">
              <a:avLst/>
            </a:prstGeom>
            <a:noFill/>
            <a:ln w="19050">
              <a:noFill/>
            </a:ln>
          </p:spPr>
          <p:txBody>
            <a:bodyPr wrap="none">
              <a:spAutoFit/>
            </a:bodyPr>
            <a:lstStyle/>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p>
          </p:txBody>
        </p:sp>
        <p:sp>
          <p:nvSpPr>
            <p:cNvPr id="51241" name="Text Box 9"/>
            <p:cNvSpPr txBox="1"/>
            <p:nvPr/>
          </p:nvSpPr>
          <p:spPr>
            <a:xfrm>
              <a:off x="131" y="2911"/>
              <a:ext cx="1302" cy="342"/>
            </a:xfrm>
            <a:prstGeom prst="rect">
              <a:avLst/>
            </a:prstGeom>
            <a:noFill/>
            <a:ln w="19050">
              <a:noFill/>
            </a:ln>
          </p:spPr>
          <p:txBody>
            <a:bodyPr>
              <a:spAutoFit/>
            </a:bodyPr>
            <a:lstStyle/>
            <a:p>
              <a:r>
                <a:rPr lang="en-US" altLang="zh-CN" sz="2800" dirty="0">
                  <a:latin typeface="Times New Roman" panose="02020603050405020304" pitchFamily="18" charset="0"/>
                </a:rPr>
                <a:t>3</a:t>
              </a:r>
              <a:r>
                <a:rPr lang="zh-CN" altLang="en-US" sz="2800" dirty="0">
                  <a:latin typeface="Times New Roman" panose="02020603050405020304" pitchFamily="18" charset="0"/>
                </a:rPr>
                <a:t>状态相容</a:t>
              </a:r>
            </a:p>
          </p:txBody>
        </p:sp>
      </p:grpSp>
      <p:grpSp>
        <p:nvGrpSpPr>
          <p:cNvPr id="3" name="Group 23"/>
          <p:cNvGrpSpPr/>
          <p:nvPr/>
        </p:nvGrpSpPr>
        <p:grpSpPr>
          <a:xfrm>
            <a:off x="2713038" y="2028825"/>
            <a:ext cx="2773362" cy="3241675"/>
            <a:chOff x="1517" y="1134"/>
            <a:chExt cx="1807" cy="2042"/>
          </a:xfrm>
        </p:grpSpPr>
        <p:grpSp>
          <p:nvGrpSpPr>
            <p:cNvPr id="51226" name="Group 11"/>
            <p:cNvGrpSpPr/>
            <p:nvPr/>
          </p:nvGrpSpPr>
          <p:grpSpPr>
            <a:xfrm>
              <a:off x="1797" y="1446"/>
              <a:ext cx="1221" cy="1171"/>
              <a:chOff x="3228" y="1572"/>
              <a:chExt cx="1728" cy="1728"/>
            </a:xfrm>
          </p:grpSpPr>
          <p:sp>
            <p:nvSpPr>
              <p:cNvPr id="51232" name="Oval 12"/>
              <p:cNvSpPr/>
              <p:nvPr/>
            </p:nvSpPr>
            <p:spPr>
              <a:xfrm rot="-5400000">
                <a:off x="3228" y="1572"/>
                <a:ext cx="1728" cy="1728"/>
              </a:xfrm>
              <a:prstGeom prst="ellipse">
                <a:avLst/>
              </a:prstGeom>
              <a:noFill/>
              <a:ln w="3810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1233" name="Rectangle 13"/>
              <p:cNvSpPr/>
              <p:nvPr/>
            </p:nvSpPr>
            <p:spPr>
              <a:xfrm rot="-8038063">
                <a:off x="3479" y="1823"/>
                <a:ext cx="1224" cy="1224"/>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1234" name="Line 14"/>
              <p:cNvSpPr/>
              <p:nvPr/>
            </p:nvSpPr>
            <p:spPr>
              <a:xfrm>
                <a:off x="3228" y="2448"/>
                <a:ext cx="1728" cy="0"/>
              </a:xfrm>
              <a:prstGeom prst="line">
                <a:avLst/>
              </a:prstGeom>
              <a:ln w="38100" cap="flat" cmpd="sng">
                <a:solidFill>
                  <a:srgbClr val="3333FF"/>
                </a:solidFill>
                <a:prstDash val="solid"/>
                <a:headEnd type="none" w="med" len="med"/>
                <a:tailEnd type="none" w="sm" len="lg"/>
              </a:ln>
            </p:spPr>
          </p:sp>
          <p:sp>
            <p:nvSpPr>
              <p:cNvPr id="51235" name="Line 15"/>
              <p:cNvSpPr/>
              <p:nvPr/>
            </p:nvSpPr>
            <p:spPr>
              <a:xfrm>
                <a:off x="4104" y="1572"/>
                <a:ext cx="0" cy="1704"/>
              </a:xfrm>
              <a:prstGeom prst="line">
                <a:avLst/>
              </a:prstGeom>
              <a:ln w="38100" cap="flat" cmpd="sng">
                <a:solidFill>
                  <a:srgbClr val="3333FF"/>
                </a:solidFill>
                <a:prstDash val="solid"/>
                <a:headEnd type="none" w="med" len="med"/>
                <a:tailEnd type="none" w="sm" len="lg"/>
              </a:ln>
            </p:spPr>
          </p:sp>
        </p:grpSp>
        <p:sp>
          <p:nvSpPr>
            <p:cNvPr id="51227" name="Text Box 16"/>
            <p:cNvSpPr txBox="1"/>
            <p:nvPr/>
          </p:nvSpPr>
          <p:spPr>
            <a:xfrm>
              <a:off x="1517" y="1874"/>
              <a:ext cx="328" cy="327"/>
            </a:xfrm>
            <a:prstGeom prst="rect">
              <a:avLst/>
            </a:prstGeom>
            <a:noFill/>
            <a:ln w="19050">
              <a:noFill/>
            </a:ln>
          </p:spPr>
          <p:txBody>
            <a:bodyPr wrap="none">
              <a:spAutoFit/>
            </a:bodyPr>
            <a:lstStyle/>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4</a:t>
              </a:r>
            </a:p>
          </p:txBody>
        </p:sp>
        <p:sp>
          <p:nvSpPr>
            <p:cNvPr id="51228" name="Text Box 17"/>
            <p:cNvSpPr txBox="1"/>
            <p:nvPr/>
          </p:nvSpPr>
          <p:spPr>
            <a:xfrm>
              <a:off x="2279" y="1134"/>
              <a:ext cx="328" cy="327"/>
            </a:xfrm>
            <a:prstGeom prst="rect">
              <a:avLst/>
            </a:prstGeom>
            <a:noFill/>
            <a:ln w="19050">
              <a:noFill/>
            </a:ln>
          </p:spPr>
          <p:txBody>
            <a:bodyPr wrap="none">
              <a:spAutoFit/>
            </a:bodyPr>
            <a:lstStyle/>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p>
          </p:txBody>
        </p:sp>
        <p:sp>
          <p:nvSpPr>
            <p:cNvPr id="51229" name="Text Box 18"/>
            <p:cNvSpPr txBox="1"/>
            <p:nvPr/>
          </p:nvSpPr>
          <p:spPr>
            <a:xfrm>
              <a:off x="2996" y="1837"/>
              <a:ext cx="328" cy="327"/>
            </a:xfrm>
            <a:prstGeom prst="rect">
              <a:avLst/>
            </a:prstGeom>
            <a:noFill/>
            <a:ln w="19050">
              <a:noFill/>
            </a:ln>
          </p:spPr>
          <p:txBody>
            <a:bodyPr wrap="none">
              <a:spAutoFit/>
            </a:bodyPr>
            <a:lstStyle/>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p>
          </p:txBody>
        </p:sp>
        <p:sp>
          <p:nvSpPr>
            <p:cNvPr id="51230" name="Text Box 19"/>
            <p:cNvSpPr txBox="1"/>
            <p:nvPr/>
          </p:nvSpPr>
          <p:spPr>
            <a:xfrm>
              <a:off x="2339" y="2565"/>
              <a:ext cx="328" cy="327"/>
            </a:xfrm>
            <a:prstGeom prst="rect">
              <a:avLst/>
            </a:prstGeom>
            <a:noFill/>
            <a:ln w="19050">
              <a:noFill/>
            </a:ln>
          </p:spPr>
          <p:txBody>
            <a:bodyPr wrap="none">
              <a:spAutoFit/>
            </a:bodyPr>
            <a:lstStyle/>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p>
          </p:txBody>
        </p:sp>
        <p:sp>
          <p:nvSpPr>
            <p:cNvPr id="51231" name="Text Box 20"/>
            <p:cNvSpPr txBox="1"/>
            <p:nvPr/>
          </p:nvSpPr>
          <p:spPr>
            <a:xfrm>
              <a:off x="2027" y="2849"/>
              <a:ext cx="1163" cy="327"/>
            </a:xfrm>
            <a:prstGeom prst="rect">
              <a:avLst/>
            </a:prstGeom>
            <a:noFill/>
            <a:ln w="19050">
              <a:noFill/>
            </a:ln>
          </p:spPr>
          <p:txBody>
            <a:bodyPr wrap="none">
              <a:spAutoFit/>
            </a:bodyPr>
            <a:lstStyle/>
            <a:p>
              <a:r>
                <a:rPr lang="en-US" altLang="zh-CN" sz="2800" dirty="0">
                  <a:latin typeface="Times New Roman" panose="02020603050405020304" pitchFamily="18" charset="0"/>
                </a:rPr>
                <a:t>4</a:t>
              </a:r>
              <a:r>
                <a:rPr lang="zh-CN" altLang="en-US" sz="2800" dirty="0">
                  <a:latin typeface="Times New Roman" panose="02020603050405020304" pitchFamily="18" charset="0"/>
                </a:rPr>
                <a:t>状态相容</a:t>
              </a:r>
            </a:p>
          </p:txBody>
        </p:sp>
      </p:grpSp>
      <p:grpSp>
        <p:nvGrpSpPr>
          <p:cNvPr id="5" name="Group 45"/>
          <p:cNvGrpSpPr/>
          <p:nvPr/>
        </p:nvGrpSpPr>
        <p:grpSpPr>
          <a:xfrm>
            <a:off x="5641975" y="2084388"/>
            <a:ext cx="2854325" cy="3176587"/>
            <a:chOff x="3554" y="1277"/>
            <a:chExt cx="1834" cy="2134"/>
          </a:xfrm>
        </p:grpSpPr>
        <p:sp>
          <p:nvSpPr>
            <p:cNvPr id="51206" name="Text Box 25"/>
            <p:cNvSpPr txBox="1"/>
            <p:nvPr/>
          </p:nvSpPr>
          <p:spPr>
            <a:xfrm>
              <a:off x="4334" y="1277"/>
              <a:ext cx="324" cy="349"/>
            </a:xfrm>
            <a:prstGeom prst="rect">
              <a:avLst/>
            </a:prstGeom>
            <a:noFill/>
            <a:ln w="38100">
              <a:noFill/>
            </a:ln>
          </p:spPr>
          <p:txBody>
            <a:bodyPr wrap="none">
              <a:spAutoFit/>
            </a:bodyPr>
            <a:lstStyle/>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1</a:t>
              </a:r>
            </a:p>
          </p:txBody>
        </p:sp>
        <p:sp>
          <p:nvSpPr>
            <p:cNvPr id="51207" name="Text Box 26"/>
            <p:cNvSpPr txBox="1"/>
            <p:nvPr/>
          </p:nvSpPr>
          <p:spPr>
            <a:xfrm>
              <a:off x="5065" y="1856"/>
              <a:ext cx="323" cy="349"/>
            </a:xfrm>
            <a:prstGeom prst="rect">
              <a:avLst/>
            </a:prstGeom>
            <a:noFill/>
            <a:ln w="38100">
              <a:noFill/>
            </a:ln>
          </p:spPr>
          <p:txBody>
            <a:bodyPr wrap="none">
              <a:spAutoFit/>
            </a:bodyPr>
            <a:lstStyle/>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2</a:t>
              </a:r>
            </a:p>
          </p:txBody>
        </p:sp>
        <p:sp>
          <p:nvSpPr>
            <p:cNvPr id="51208" name="Text Box 27"/>
            <p:cNvSpPr txBox="1"/>
            <p:nvPr/>
          </p:nvSpPr>
          <p:spPr>
            <a:xfrm>
              <a:off x="4800" y="2635"/>
              <a:ext cx="323" cy="348"/>
            </a:xfrm>
            <a:prstGeom prst="rect">
              <a:avLst/>
            </a:prstGeom>
            <a:noFill/>
            <a:ln w="38100">
              <a:noFill/>
            </a:ln>
          </p:spPr>
          <p:txBody>
            <a:bodyPr wrap="none">
              <a:spAutoFit/>
            </a:bodyPr>
            <a:lstStyle/>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3</a:t>
              </a:r>
            </a:p>
          </p:txBody>
        </p:sp>
        <p:grpSp>
          <p:nvGrpSpPr>
            <p:cNvPr id="51209" name="Group 28"/>
            <p:cNvGrpSpPr/>
            <p:nvPr/>
          </p:nvGrpSpPr>
          <p:grpSpPr>
            <a:xfrm>
              <a:off x="3825" y="1563"/>
              <a:ext cx="1274" cy="1268"/>
              <a:chOff x="660" y="1140"/>
              <a:chExt cx="1728" cy="1740"/>
            </a:xfrm>
          </p:grpSpPr>
          <p:sp>
            <p:nvSpPr>
              <p:cNvPr id="51219" name="Oval 29"/>
              <p:cNvSpPr/>
              <p:nvPr/>
            </p:nvSpPr>
            <p:spPr>
              <a:xfrm>
                <a:off x="660" y="1152"/>
                <a:ext cx="1728" cy="1728"/>
              </a:xfrm>
              <a:prstGeom prst="ellipse">
                <a:avLst/>
              </a:prstGeom>
              <a:noFill/>
              <a:ln w="3810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1220" name="AutoShape 30"/>
              <p:cNvSpPr/>
              <p:nvPr/>
            </p:nvSpPr>
            <p:spPr>
              <a:xfrm>
                <a:off x="714" y="1162"/>
                <a:ext cx="1620" cy="1540"/>
              </a:xfrm>
              <a:prstGeom prst="pentagon">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188447" name="AutoShape 31"/>
              <p:cNvSpPr>
                <a:spLocks noChangeArrowheads="1"/>
              </p:cNvSpPr>
              <p:nvPr/>
            </p:nvSpPr>
            <p:spPr bwMode="auto">
              <a:xfrm>
                <a:off x="731" y="1188"/>
                <a:ext cx="1590" cy="1512"/>
              </a:xfrm>
              <a:prstGeom prst="star5">
                <a:avLst/>
              </a:prstGeom>
              <a:noFill/>
              <a:ln w="38100">
                <a:solidFill>
                  <a:srgbClr val="3333FF"/>
                </a:solidFill>
                <a:miter lim="800000"/>
                <a:tailEnd type="none" w="sm" len="lg"/>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22" name="Line 32"/>
              <p:cNvSpPr/>
              <p:nvPr/>
            </p:nvSpPr>
            <p:spPr>
              <a:xfrm>
                <a:off x="708" y="1752"/>
                <a:ext cx="1320" cy="960"/>
              </a:xfrm>
              <a:prstGeom prst="line">
                <a:avLst/>
              </a:prstGeom>
              <a:ln w="38100" cap="flat" cmpd="sng">
                <a:solidFill>
                  <a:srgbClr val="3333FF"/>
                </a:solidFill>
                <a:prstDash val="solid"/>
                <a:headEnd type="none" w="med" len="med"/>
                <a:tailEnd type="none" w="sm" len="lg"/>
              </a:ln>
            </p:spPr>
          </p:sp>
          <p:sp>
            <p:nvSpPr>
              <p:cNvPr id="51223" name="Line 33"/>
              <p:cNvSpPr/>
              <p:nvPr/>
            </p:nvSpPr>
            <p:spPr>
              <a:xfrm>
                <a:off x="708" y="1764"/>
                <a:ext cx="1632" cy="0"/>
              </a:xfrm>
              <a:prstGeom prst="line">
                <a:avLst/>
              </a:prstGeom>
              <a:ln w="38100" cap="flat" cmpd="sng">
                <a:solidFill>
                  <a:srgbClr val="3333FF"/>
                </a:solidFill>
                <a:prstDash val="solid"/>
                <a:headEnd type="none" w="med" len="med"/>
                <a:tailEnd type="none" w="sm" len="lg"/>
              </a:ln>
            </p:spPr>
          </p:sp>
          <p:sp>
            <p:nvSpPr>
              <p:cNvPr id="51224" name="Line 34"/>
              <p:cNvSpPr/>
              <p:nvPr/>
            </p:nvSpPr>
            <p:spPr>
              <a:xfrm flipH="1">
                <a:off x="1044" y="1140"/>
                <a:ext cx="480" cy="1560"/>
              </a:xfrm>
              <a:prstGeom prst="line">
                <a:avLst/>
              </a:prstGeom>
              <a:ln w="38100" cap="flat" cmpd="sng">
                <a:solidFill>
                  <a:srgbClr val="3333FF"/>
                </a:solidFill>
                <a:prstDash val="solid"/>
                <a:headEnd type="none" w="med" len="med"/>
                <a:tailEnd type="none" w="sm" len="lg"/>
              </a:ln>
            </p:spPr>
          </p:sp>
          <p:sp>
            <p:nvSpPr>
              <p:cNvPr id="51225" name="Line 35"/>
              <p:cNvSpPr/>
              <p:nvPr/>
            </p:nvSpPr>
            <p:spPr>
              <a:xfrm>
                <a:off x="1524" y="1164"/>
                <a:ext cx="480" cy="1536"/>
              </a:xfrm>
              <a:prstGeom prst="line">
                <a:avLst/>
              </a:prstGeom>
              <a:ln w="38100" cap="flat" cmpd="sng">
                <a:solidFill>
                  <a:srgbClr val="3333FF"/>
                </a:solidFill>
                <a:prstDash val="solid"/>
                <a:headEnd type="none" w="med" len="med"/>
                <a:tailEnd type="none" w="sm" len="lg"/>
              </a:ln>
            </p:spPr>
          </p:sp>
        </p:grpSp>
        <p:sp>
          <p:nvSpPr>
            <p:cNvPr id="51210" name="Line 36"/>
            <p:cNvSpPr/>
            <p:nvPr/>
          </p:nvSpPr>
          <p:spPr>
            <a:xfrm flipV="1">
              <a:off x="4108" y="2009"/>
              <a:ext cx="956" cy="691"/>
            </a:xfrm>
            <a:prstGeom prst="line">
              <a:avLst/>
            </a:prstGeom>
            <a:ln w="38100" cap="flat" cmpd="sng">
              <a:solidFill>
                <a:srgbClr val="3333FF"/>
              </a:solidFill>
              <a:prstDash val="solid"/>
              <a:headEnd type="none" w="med" len="med"/>
              <a:tailEnd type="none" w="sm" len="lg"/>
            </a:ln>
          </p:spPr>
        </p:sp>
        <p:sp>
          <p:nvSpPr>
            <p:cNvPr id="51211" name="Text Box 37"/>
            <p:cNvSpPr txBox="1"/>
            <p:nvPr/>
          </p:nvSpPr>
          <p:spPr>
            <a:xfrm>
              <a:off x="3933" y="2661"/>
              <a:ext cx="324" cy="349"/>
            </a:xfrm>
            <a:prstGeom prst="rect">
              <a:avLst/>
            </a:prstGeom>
            <a:noFill/>
            <a:ln w="38100">
              <a:noFill/>
            </a:ln>
          </p:spPr>
          <p:txBody>
            <a:bodyPr wrap="none">
              <a:spAutoFit/>
            </a:bodyPr>
            <a:lstStyle/>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4</a:t>
              </a:r>
            </a:p>
          </p:txBody>
        </p:sp>
        <p:sp>
          <p:nvSpPr>
            <p:cNvPr id="51212" name="Text Box 38"/>
            <p:cNvSpPr txBox="1"/>
            <p:nvPr/>
          </p:nvSpPr>
          <p:spPr>
            <a:xfrm>
              <a:off x="3554" y="1848"/>
              <a:ext cx="323" cy="348"/>
            </a:xfrm>
            <a:prstGeom prst="rect">
              <a:avLst/>
            </a:prstGeom>
            <a:noFill/>
            <a:ln w="38100">
              <a:noFill/>
            </a:ln>
          </p:spPr>
          <p:txBody>
            <a:bodyPr wrap="none">
              <a:spAutoFit/>
            </a:bodyPr>
            <a:lstStyle/>
            <a:p>
              <a:r>
                <a:rPr lang="en-US" altLang="zh-CN" sz="2800" dirty="0">
                  <a:latin typeface="Times New Roman" panose="02020603050405020304" pitchFamily="18" charset="0"/>
                </a:rPr>
                <a:t>S</a:t>
              </a:r>
              <a:r>
                <a:rPr lang="en-US" altLang="zh-CN" sz="2800" baseline="-25000" dirty="0">
                  <a:latin typeface="Times New Roman" panose="02020603050405020304" pitchFamily="18" charset="0"/>
                </a:rPr>
                <a:t>5</a:t>
              </a:r>
            </a:p>
          </p:txBody>
        </p:sp>
        <p:sp>
          <p:nvSpPr>
            <p:cNvPr id="51213" name="Oval 39"/>
            <p:cNvSpPr/>
            <p:nvPr/>
          </p:nvSpPr>
          <p:spPr>
            <a:xfrm>
              <a:off x="5037" y="1992"/>
              <a:ext cx="53" cy="52"/>
            </a:xfrm>
            <a:prstGeom prst="ellipse">
              <a:avLst/>
            </a:prstGeom>
            <a:solidFill>
              <a:srgbClr val="3333FF"/>
            </a:solidFill>
            <a:ln w="3810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1214" name="Oval 40"/>
            <p:cNvSpPr/>
            <p:nvPr/>
          </p:nvSpPr>
          <p:spPr>
            <a:xfrm>
              <a:off x="4798" y="2683"/>
              <a:ext cx="53" cy="52"/>
            </a:xfrm>
            <a:prstGeom prst="ellipse">
              <a:avLst/>
            </a:prstGeom>
            <a:solidFill>
              <a:srgbClr val="3333FF"/>
            </a:solidFill>
            <a:ln w="3810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1215" name="Oval 41"/>
            <p:cNvSpPr/>
            <p:nvPr/>
          </p:nvSpPr>
          <p:spPr>
            <a:xfrm>
              <a:off x="4064" y="2665"/>
              <a:ext cx="53" cy="53"/>
            </a:xfrm>
            <a:prstGeom prst="ellipse">
              <a:avLst/>
            </a:prstGeom>
            <a:solidFill>
              <a:srgbClr val="3333FF"/>
            </a:solidFill>
            <a:ln w="3810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1216" name="Oval 42"/>
            <p:cNvSpPr/>
            <p:nvPr/>
          </p:nvSpPr>
          <p:spPr>
            <a:xfrm>
              <a:off x="3834" y="2001"/>
              <a:ext cx="53" cy="52"/>
            </a:xfrm>
            <a:prstGeom prst="ellipse">
              <a:avLst/>
            </a:prstGeom>
            <a:solidFill>
              <a:srgbClr val="3333FF"/>
            </a:solidFill>
            <a:ln w="3810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1217" name="Oval 43"/>
            <p:cNvSpPr/>
            <p:nvPr/>
          </p:nvSpPr>
          <p:spPr>
            <a:xfrm>
              <a:off x="4436" y="1546"/>
              <a:ext cx="53" cy="52"/>
            </a:xfrm>
            <a:prstGeom prst="ellipse">
              <a:avLst/>
            </a:prstGeom>
            <a:solidFill>
              <a:srgbClr val="3333FF"/>
            </a:solidFill>
            <a:ln w="3810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1218" name="Text Box 44"/>
            <p:cNvSpPr txBox="1"/>
            <p:nvPr/>
          </p:nvSpPr>
          <p:spPr>
            <a:xfrm>
              <a:off x="4030" y="3062"/>
              <a:ext cx="1147" cy="349"/>
            </a:xfrm>
            <a:prstGeom prst="rect">
              <a:avLst/>
            </a:prstGeom>
            <a:noFill/>
            <a:ln w="38100">
              <a:noFill/>
            </a:ln>
          </p:spPr>
          <p:txBody>
            <a:bodyPr wrap="none">
              <a:spAutoFit/>
            </a:bodyPr>
            <a:lstStyle/>
            <a:p>
              <a:r>
                <a:rPr lang="en-US" altLang="zh-CN" sz="2800" dirty="0">
                  <a:latin typeface="Times New Roman" panose="02020603050405020304" pitchFamily="18" charset="0"/>
                </a:rPr>
                <a:t>5</a:t>
              </a:r>
              <a:r>
                <a:rPr lang="zh-CN" altLang="en-US" sz="2800" dirty="0">
                  <a:latin typeface="Times New Roman" panose="02020603050405020304" pitchFamily="18" charset="0"/>
                </a:rPr>
                <a:t>状态相容</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6"/>
          <p:cNvGrpSpPr/>
          <p:nvPr/>
        </p:nvGrpSpPr>
        <p:grpSpPr>
          <a:xfrm>
            <a:off x="4579938" y="1057275"/>
            <a:ext cx="3468687" cy="3662363"/>
            <a:chOff x="2942" y="390"/>
            <a:chExt cx="2185" cy="2307"/>
          </a:xfrm>
        </p:grpSpPr>
        <p:sp>
          <p:nvSpPr>
            <p:cNvPr id="52229" name="Text Box 23"/>
            <p:cNvSpPr txBox="1"/>
            <p:nvPr/>
          </p:nvSpPr>
          <p:spPr>
            <a:xfrm>
              <a:off x="3902" y="390"/>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A</a:t>
              </a:r>
            </a:p>
          </p:txBody>
        </p:sp>
        <p:sp>
          <p:nvSpPr>
            <p:cNvPr id="52230" name="Text Box 24"/>
            <p:cNvSpPr txBox="1"/>
            <p:nvPr/>
          </p:nvSpPr>
          <p:spPr>
            <a:xfrm>
              <a:off x="4862" y="1086"/>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B</a:t>
              </a:r>
            </a:p>
          </p:txBody>
        </p:sp>
        <p:sp>
          <p:nvSpPr>
            <p:cNvPr id="52231" name="Text Box 25"/>
            <p:cNvSpPr txBox="1"/>
            <p:nvPr/>
          </p:nvSpPr>
          <p:spPr>
            <a:xfrm>
              <a:off x="4778" y="1842"/>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52232" name="Text Box 26"/>
            <p:cNvSpPr txBox="1"/>
            <p:nvPr/>
          </p:nvSpPr>
          <p:spPr>
            <a:xfrm>
              <a:off x="3938" y="2370"/>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52233" name="Text Box 27"/>
            <p:cNvSpPr txBox="1"/>
            <p:nvPr/>
          </p:nvSpPr>
          <p:spPr>
            <a:xfrm>
              <a:off x="2942" y="1074"/>
              <a:ext cx="241" cy="327"/>
            </a:xfrm>
            <a:prstGeom prst="rect">
              <a:avLst/>
            </a:prstGeom>
            <a:noFill/>
            <a:ln w="19050">
              <a:noFill/>
            </a:ln>
          </p:spPr>
          <p:txBody>
            <a:bodyPr wrap="none">
              <a:spAutoFit/>
            </a:bodyPr>
            <a:lstStyle/>
            <a:p>
              <a:r>
                <a:rPr lang="en-US" altLang="zh-CN" sz="2800" dirty="0">
                  <a:latin typeface="Times New Roman" panose="02020603050405020304" pitchFamily="18" charset="0"/>
                </a:rPr>
                <a:t>F</a:t>
              </a:r>
            </a:p>
          </p:txBody>
        </p:sp>
        <p:sp>
          <p:nvSpPr>
            <p:cNvPr id="52234" name="Oval 28"/>
            <p:cNvSpPr/>
            <p:nvPr/>
          </p:nvSpPr>
          <p:spPr>
            <a:xfrm>
              <a:off x="4752" y="1080"/>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2235" name="Oval 29"/>
            <p:cNvSpPr/>
            <p:nvPr/>
          </p:nvSpPr>
          <p:spPr>
            <a:xfrm>
              <a:off x="4752" y="1944"/>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2236" name="Oval 30"/>
            <p:cNvSpPr/>
            <p:nvPr/>
          </p:nvSpPr>
          <p:spPr>
            <a:xfrm>
              <a:off x="3252" y="1956"/>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2237" name="Oval 31"/>
            <p:cNvSpPr/>
            <p:nvPr/>
          </p:nvSpPr>
          <p:spPr>
            <a:xfrm>
              <a:off x="3276" y="1080"/>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2238" name="Oval 32"/>
            <p:cNvSpPr/>
            <p:nvPr/>
          </p:nvSpPr>
          <p:spPr>
            <a:xfrm>
              <a:off x="4008" y="660"/>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2239" name="Oval 33"/>
            <p:cNvSpPr/>
            <p:nvPr/>
          </p:nvSpPr>
          <p:spPr>
            <a:xfrm>
              <a:off x="4008" y="2376"/>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2240" name="Line 35"/>
            <p:cNvSpPr/>
            <p:nvPr/>
          </p:nvSpPr>
          <p:spPr>
            <a:xfrm>
              <a:off x="3300" y="1116"/>
              <a:ext cx="1476" cy="0"/>
            </a:xfrm>
            <a:prstGeom prst="line">
              <a:avLst/>
            </a:prstGeom>
            <a:ln w="38100" cap="flat" cmpd="sng">
              <a:solidFill>
                <a:srgbClr val="3333FF"/>
              </a:solidFill>
              <a:prstDash val="solid"/>
              <a:headEnd type="none" w="med" len="med"/>
              <a:tailEnd type="none" w="sm" len="lg"/>
            </a:ln>
          </p:spPr>
        </p:sp>
        <p:sp>
          <p:nvSpPr>
            <p:cNvPr id="52241" name="Oval 37"/>
            <p:cNvSpPr/>
            <p:nvPr/>
          </p:nvSpPr>
          <p:spPr>
            <a:xfrm>
              <a:off x="3180" y="696"/>
              <a:ext cx="1728" cy="1728"/>
            </a:xfrm>
            <a:prstGeom prst="ellipse">
              <a:avLst/>
            </a:prstGeom>
            <a:noFill/>
            <a:ln w="3810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2242" name="AutoShape 38"/>
            <p:cNvSpPr/>
            <p:nvPr/>
          </p:nvSpPr>
          <p:spPr>
            <a:xfrm rot="1796567">
              <a:off x="3182" y="814"/>
              <a:ext cx="1724" cy="1492"/>
            </a:xfrm>
            <a:prstGeom prst="hexagon">
              <a:avLst>
                <a:gd name="adj" fmla="val 28887"/>
                <a:gd name="vf" fmla="val 115470"/>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2243" name="Line 39"/>
            <p:cNvSpPr/>
            <p:nvPr/>
          </p:nvSpPr>
          <p:spPr>
            <a:xfrm flipV="1">
              <a:off x="3288" y="1116"/>
              <a:ext cx="1500" cy="864"/>
            </a:xfrm>
            <a:prstGeom prst="line">
              <a:avLst/>
            </a:prstGeom>
            <a:ln w="38100" cap="flat" cmpd="sng">
              <a:solidFill>
                <a:srgbClr val="3333FF"/>
              </a:solidFill>
              <a:prstDash val="solid"/>
              <a:headEnd type="none" w="med" len="med"/>
              <a:tailEnd type="none" w="sm" len="lg"/>
            </a:ln>
          </p:spPr>
        </p:sp>
        <p:sp>
          <p:nvSpPr>
            <p:cNvPr id="52244" name="Line 40"/>
            <p:cNvSpPr/>
            <p:nvPr/>
          </p:nvSpPr>
          <p:spPr>
            <a:xfrm>
              <a:off x="3300" y="1116"/>
              <a:ext cx="744" cy="1296"/>
            </a:xfrm>
            <a:prstGeom prst="line">
              <a:avLst/>
            </a:prstGeom>
            <a:ln w="38100" cap="flat" cmpd="sng">
              <a:solidFill>
                <a:srgbClr val="3333FF"/>
              </a:solidFill>
              <a:prstDash val="solid"/>
              <a:headEnd type="none" w="med" len="med"/>
              <a:tailEnd type="none" w="sm" len="lg"/>
            </a:ln>
          </p:spPr>
        </p:sp>
        <p:sp>
          <p:nvSpPr>
            <p:cNvPr id="52245" name="Line 41"/>
            <p:cNvSpPr/>
            <p:nvPr/>
          </p:nvSpPr>
          <p:spPr>
            <a:xfrm>
              <a:off x="3300" y="1980"/>
              <a:ext cx="1488" cy="0"/>
            </a:xfrm>
            <a:prstGeom prst="line">
              <a:avLst/>
            </a:prstGeom>
            <a:ln w="38100" cap="flat" cmpd="sng">
              <a:solidFill>
                <a:srgbClr val="3333FF"/>
              </a:solidFill>
              <a:prstDash val="solid"/>
              <a:headEnd type="none" w="med" len="med"/>
              <a:tailEnd type="none" w="sm" len="lg"/>
            </a:ln>
          </p:spPr>
        </p:sp>
        <p:sp>
          <p:nvSpPr>
            <p:cNvPr id="52246" name="Line 42"/>
            <p:cNvSpPr/>
            <p:nvPr/>
          </p:nvSpPr>
          <p:spPr>
            <a:xfrm>
              <a:off x="3324" y="1128"/>
              <a:ext cx="1464" cy="852"/>
            </a:xfrm>
            <a:prstGeom prst="line">
              <a:avLst/>
            </a:prstGeom>
            <a:ln w="38100" cap="flat" cmpd="sng">
              <a:solidFill>
                <a:srgbClr val="3333FF"/>
              </a:solidFill>
              <a:prstDash val="solid"/>
              <a:headEnd type="none" w="med" len="med"/>
              <a:tailEnd type="none" w="sm" len="lg"/>
            </a:ln>
          </p:spPr>
        </p:sp>
        <p:sp>
          <p:nvSpPr>
            <p:cNvPr id="52247" name="Line 43"/>
            <p:cNvSpPr/>
            <p:nvPr/>
          </p:nvSpPr>
          <p:spPr>
            <a:xfrm flipH="1">
              <a:off x="4044" y="1116"/>
              <a:ext cx="744" cy="1308"/>
            </a:xfrm>
            <a:prstGeom prst="line">
              <a:avLst/>
            </a:prstGeom>
            <a:ln w="38100" cap="flat" cmpd="sng">
              <a:solidFill>
                <a:srgbClr val="3333FF"/>
              </a:solidFill>
              <a:prstDash val="solid"/>
              <a:headEnd type="none" w="med" len="med"/>
              <a:tailEnd type="none" w="sm" len="lg"/>
            </a:ln>
          </p:spPr>
        </p:sp>
        <p:sp>
          <p:nvSpPr>
            <p:cNvPr id="52248" name="Text Box 44"/>
            <p:cNvSpPr txBox="1"/>
            <p:nvPr/>
          </p:nvSpPr>
          <p:spPr>
            <a:xfrm>
              <a:off x="3002" y="1890"/>
              <a:ext cx="253" cy="327"/>
            </a:xfrm>
            <a:prstGeom prst="rect">
              <a:avLst/>
            </a:prstGeom>
            <a:noFill/>
            <a:ln w="19050">
              <a:noFill/>
            </a:ln>
          </p:spPr>
          <p:txBody>
            <a:bodyPr wrap="none">
              <a:spAutoFit/>
            </a:bodyPr>
            <a:lstStyle/>
            <a:p>
              <a:r>
                <a:rPr lang="en-US" altLang="zh-CN" sz="2800" dirty="0">
                  <a:latin typeface="Times New Roman" panose="02020603050405020304" pitchFamily="18" charset="0"/>
                </a:rPr>
                <a:t>E</a:t>
              </a:r>
            </a:p>
          </p:txBody>
        </p:sp>
      </p:grpSp>
      <p:sp>
        <p:nvSpPr>
          <p:cNvPr id="189485" name="Text Box 45" descr="羊皮纸"/>
          <p:cNvSpPr txBox="1"/>
          <p:nvPr/>
        </p:nvSpPr>
        <p:spPr>
          <a:xfrm>
            <a:off x="808038" y="4324350"/>
            <a:ext cx="4476750" cy="1628775"/>
          </a:xfrm>
          <a:prstGeom prst="rect">
            <a:avLst/>
          </a:prstGeom>
          <a:blipFill rotWithShape="1">
            <a:blip r:embed="rId2"/>
          </a:blipFill>
          <a:ln w="19050">
            <a:noFill/>
          </a:ln>
        </p:spPr>
        <p:txBody>
          <a:bodyPr>
            <a:spAutoFit/>
          </a:bodyPr>
          <a:lstStyle/>
          <a:p>
            <a:pPr>
              <a:lnSpc>
                <a:spcPct val="180000"/>
              </a:lnSpc>
              <a:spcBef>
                <a:spcPct val="50000"/>
              </a:spcBef>
            </a:pPr>
            <a:r>
              <a:rPr lang="zh-CN" altLang="en-US" sz="2800" dirty="0">
                <a:latin typeface="Times New Roman" panose="02020603050405020304" pitchFamily="18" charset="0"/>
              </a:rPr>
              <a:t>本例状态合并图，最大相容类是</a:t>
            </a:r>
            <a:r>
              <a:rPr lang="en-US" altLang="zh-CN" sz="2800" dirty="0">
                <a:latin typeface="Times New Roman" panose="02020603050405020304" pitchFamily="18" charset="0"/>
              </a:rPr>
              <a:t>(A,B,F), (B,C,D,E,F)</a:t>
            </a:r>
            <a:r>
              <a:rPr lang="zh-CN" altLang="en-US" sz="2800" dirty="0">
                <a:latin typeface="Times New Roman" panose="02020603050405020304" pitchFamily="18" charset="0"/>
              </a:rPr>
              <a:t>。</a:t>
            </a:r>
          </a:p>
        </p:txBody>
      </p:sp>
      <p:sp>
        <p:nvSpPr>
          <p:cNvPr id="189487" name="Text Box 47"/>
          <p:cNvSpPr txBox="1"/>
          <p:nvPr/>
        </p:nvSpPr>
        <p:spPr>
          <a:xfrm>
            <a:off x="750888" y="590550"/>
            <a:ext cx="3295650" cy="3084513"/>
          </a:xfrm>
          <a:prstGeom prst="rect">
            <a:avLst/>
          </a:prstGeom>
          <a:noFill/>
          <a:ln w="19050">
            <a:noFill/>
          </a:ln>
        </p:spPr>
        <p:txBody>
          <a:bodyPr>
            <a:spAutoFit/>
          </a:bodyPr>
          <a:lstStyle/>
          <a:p>
            <a:pPr>
              <a:lnSpc>
                <a:spcPct val="130000"/>
              </a:lnSpc>
              <a:spcBef>
                <a:spcPct val="50000"/>
              </a:spcBef>
            </a:pPr>
            <a:r>
              <a:rPr lang="zh-CN" altLang="en-US" sz="2800" dirty="0">
                <a:latin typeface="Times New Roman" panose="02020603050405020304" pitchFamily="18" charset="0"/>
              </a:rPr>
              <a:t>全部相容状态对：</a:t>
            </a:r>
          </a:p>
          <a:p>
            <a:pPr>
              <a:lnSpc>
                <a:spcPct val="130000"/>
              </a:lnSpc>
              <a:spcBef>
                <a:spcPct val="50000"/>
              </a:spcBef>
            </a:pPr>
            <a:r>
              <a:rPr lang="en-US" altLang="zh-CN" sz="2800" dirty="0">
                <a:latin typeface="Times New Roman" panose="02020603050405020304" pitchFamily="18" charset="0"/>
              </a:rPr>
              <a:t>(A,B), (A,F), (B,C), (B,D), (B,E), (B,F), (C,D), (C,E), (C,F), (D,F), (D,E), (E,F)</a:t>
            </a:r>
            <a:r>
              <a:rPr lang="zh-CN" altLang="en-US" sz="2800" dirty="0">
                <a:latin typeface="Times New Roman" panose="02020603050405020304" pitchFamily="18"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94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3" presetClass="entr" presetSubtype="16"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9485"/>
                                        </p:tgtEl>
                                        <p:attrNameLst>
                                          <p:attrName>style.visibility</p:attrName>
                                        </p:attrNameLst>
                                      </p:cBhvr>
                                      <p:to>
                                        <p:strVal val="visible"/>
                                      </p:to>
                                    </p:set>
                                    <p:animEffect transition="in" filter="wipe(left)">
                                      <p:cBhvr>
                                        <p:cTn id="17" dur="500"/>
                                        <p:tgtEl>
                                          <p:spTgt spid="189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85" grpId="0" bldLvl="0" animBg="1"/>
      <p:bldP spid="189487"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Text Box 2"/>
          <p:cNvSpPr txBox="1"/>
          <p:nvPr/>
        </p:nvSpPr>
        <p:spPr>
          <a:xfrm>
            <a:off x="666750" y="819150"/>
            <a:ext cx="7905750" cy="1210945"/>
          </a:xfrm>
          <a:prstGeom prst="rect">
            <a:avLst/>
          </a:prstGeom>
          <a:noFill/>
          <a:ln w="19050">
            <a:noFill/>
          </a:ln>
        </p:spPr>
        <p:txBody>
          <a:bodyPr>
            <a:spAutoFit/>
          </a:bodyPr>
          <a:lstStyle/>
          <a:p>
            <a:pPr>
              <a:lnSpc>
                <a:spcPct val="130000"/>
              </a:lnSpc>
              <a:spcBef>
                <a:spcPct val="50000"/>
              </a:spcBef>
            </a:pPr>
            <a:r>
              <a:rPr lang="zh-CN" altLang="en-US" sz="2800" b="1" dirty="0">
                <a:latin typeface="Times New Roman" panose="02020603050405020304" pitchFamily="18" charset="0"/>
                <a:sym typeface="Monotype Sorts" pitchFamily="2" charset="2"/>
              </a:rPr>
              <a:t>作最小化状态表</a:t>
            </a:r>
            <a:r>
              <a:rPr lang="en-US" altLang="zh-CN" sz="2800" b="1" dirty="0">
                <a:latin typeface="Times New Roman" panose="02020603050405020304" pitchFamily="18" charset="0"/>
                <a:sym typeface="Monotype Sorts" pitchFamily="2" charset="2"/>
              </a:rPr>
              <a:t>:</a:t>
            </a: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最小化状态表</a:t>
            </a:r>
            <a:r>
              <a:rPr lang="en-US" altLang="zh-CN" sz="2800" dirty="0">
                <a:latin typeface="Times New Roman" panose="02020603050405020304" pitchFamily="18" charset="0"/>
                <a:sym typeface="Monotype Sorts" pitchFamily="2" charset="2"/>
              </a:rPr>
              <a:t>(</a:t>
            </a:r>
            <a:r>
              <a:rPr lang="zh-CN" altLang="en-US" sz="2800" dirty="0">
                <a:latin typeface="Times New Roman" panose="02020603050405020304" pitchFamily="18" charset="0"/>
                <a:sym typeface="Monotype Sorts" pitchFamily="2" charset="2"/>
              </a:rPr>
              <a:t>又称最小闭合覆盖</a:t>
            </a: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应满足下列三个条件：</a:t>
            </a:r>
          </a:p>
        </p:txBody>
      </p:sp>
      <p:sp>
        <p:nvSpPr>
          <p:cNvPr id="190467" name="Text Box 3"/>
          <p:cNvSpPr txBox="1"/>
          <p:nvPr/>
        </p:nvSpPr>
        <p:spPr>
          <a:xfrm>
            <a:off x="666750" y="2038350"/>
            <a:ext cx="7981950" cy="4152900"/>
          </a:xfrm>
          <a:prstGeom prst="rect">
            <a:avLst/>
          </a:prstGeom>
          <a:noFill/>
          <a:ln w="19050">
            <a:noFill/>
          </a:ln>
        </p:spPr>
        <p:txBody>
          <a:bodyPr>
            <a:spAutoFit/>
          </a:bodyPr>
          <a:lstStyle/>
          <a:p>
            <a:pPr>
              <a:lnSpc>
                <a:spcPct val="120000"/>
              </a:lnSpc>
              <a:spcBef>
                <a:spcPct val="50000"/>
              </a:spcBef>
              <a:buChar char="•"/>
            </a:pPr>
            <a:r>
              <a:rPr lang="en-US" altLang="zh-CN" sz="2800" dirty="0">
                <a:latin typeface="Times New Roman" panose="02020603050405020304" pitchFamily="18" charset="0"/>
              </a:rPr>
              <a:t> </a:t>
            </a:r>
            <a:r>
              <a:rPr lang="zh-CN" altLang="en-US" sz="2800" dirty="0">
                <a:latin typeface="Times New Roman" panose="02020603050405020304" pitchFamily="18" charset="0"/>
              </a:rPr>
              <a:t>覆盖性－－所选相容类集合应包含原始状态表中	的全部状态。</a:t>
            </a:r>
          </a:p>
          <a:p>
            <a:pPr>
              <a:lnSpc>
                <a:spcPct val="110000"/>
              </a:lnSpc>
              <a:spcBef>
                <a:spcPct val="50000"/>
              </a:spcBef>
              <a:buChar char="•"/>
            </a:pPr>
            <a:r>
              <a:rPr lang="zh-CN" altLang="en-US" sz="2800" dirty="0">
                <a:latin typeface="Times New Roman" panose="02020603050405020304" pitchFamily="18" charset="0"/>
              </a:rPr>
              <a:t> 最小性－－所选相容类集合中相容类的个数应最	少。</a:t>
            </a:r>
          </a:p>
          <a:p>
            <a:pPr>
              <a:lnSpc>
                <a:spcPct val="130000"/>
              </a:lnSpc>
              <a:spcBef>
                <a:spcPct val="50000"/>
              </a:spcBef>
              <a:buChar char="•"/>
            </a:pPr>
            <a:r>
              <a:rPr lang="zh-CN" altLang="en-US" sz="2800" dirty="0">
                <a:latin typeface="Times New Roman" panose="02020603050405020304" pitchFamily="18" charset="0"/>
              </a:rPr>
              <a:t> 闭合性－－所选相容类集合中的任一相容类，在	原始状态表中任一输入条件下产生的次态应	该属于该集合中的某一个相容类。</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0466"/>
                                        </p:tgtEl>
                                        <p:attrNameLst>
                                          <p:attrName>style.visibility</p:attrName>
                                        </p:attrNameLst>
                                      </p:cBhvr>
                                      <p:to>
                                        <p:strVal val="visible"/>
                                      </p:to>
                                    </p:set>
                                    <p:animEffect transition="in" filter="wipe(left)">
                                      <p:cBhvr>
                                        <p:cTn id="7" dur="500"/>
                                        <p:tgtEl>
                                          <p:spTgt spid="1904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0467"/>
                                        </p:tgtEl>
                                        <p:attrNameLst>
                                          <p:attrName>style.visibility</p:attrName>
                                        </p:attrNameLst>
                                      </p:cBhvr>
                                      <p:to>
                                        <p:strVal val="visible"/>
                                      </p:to>
                                    </p:set>
                                    <p:animEffect transition="in" filter="wipe(left)">
                                      <p:cBhvr>
                                        <p:cTn id="12" dur="500"/>
                                        <p:tgtEl>
                                          <p:spTgt spid="190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6" grpId="0"/>
      <p:bldP spid="190467"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Text Box 2"/>
          <p:cNvSpPr txBox="1"/>
          <p:nvPr/>
        </p:nvSpPr>
        <p:spPr>
          <a:xfrm>
            <a:off x="977900" y="446088"/>
            <a:ext cx="7505700" cy="1227772"/>
          </a:xfrm>
          <a:prstGeom prst="rect">
            <a:avLst/>
          </a:prstGeom>
          <a:noFill/>
          <a:ln w="19050">
            <a:noFill/>
          </a:ln>
        </p:spPr>
        <p:txBody>
          <a:bodyPr>
            <a:spAutoFit/>
          </a:bodyPr>
          <a:lstStyle/>
          <a:p>
            <a:pPr>
              <a:lnSpc>
                <a:spcPct val="140000"/>
              </a:lnSpc>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采用闭合覆盖表来反映所选相容类集合的覆盖和闭合情况。本例的闭合覆盖表为</a:t>
            </a:r>
          </a:p>
        </p:txBody>
      </p:sp>
      <p:grpSp>
        <p:nvGrpSpPr>
          <p:cNvPr id="2" name="Group 57"/>
          <p:cNvGrpSpPr/>
          <p:nvPr/>
        </p:nvGrpSpPr>
        <p:grpSpPr>
          <a:xfrm>
            <a:off x="3159125" y="2636838"/>
            <a:ext cx="5984875" cy="2933700"/>
            <a:chOff x="1990" y="1661"/>
            <a:chExt cx="3770" cy="1848"/>
          </a:xfrm>
        </p:grpSpPr>
        <p:sp>
          <p:nvSpPr>
            <p:cNvPr id="54293" name="Text Box 36"/>
            <p:cNvSpPr txBox="1"/>
            <p:nvPr/>
          </p:nvSpPr>
          <p:spPr>
            <a:xfrm>
              <a:off x="5161" y="3038"/>
              <a:ext cx="599" cy="327"/>
            </a:xfrm>
            <a:prstGeom prst="rect">
              <a:avLst/>
            </a:prstGeom>
            <a:noFill/>
            <a:ln w="19050">
              <a:noFill/>
            </a:ln>
          </p:spPr>
          <p:txBody>
            <a:bodyPr>
              <a:spAutoFit/>
            </a:bodyPr>
            <a:lstStyle/>
            <a:p>
              <a:r>
                <a:rPr lang="en-US" altLang="zh-CN" sz="2800" dirty="0">
                  <a:latin typeface="Times New Roman" panose="02020603050405020304" pitchFamily="18" charset="0"/>
                </a:rPr>
                <a:t>CDE</a:t>
              </a:r>
            </a:p>
          </p:txBody>
        </p:sp>
        <p:grpSp>
          <p:nvGrpSpPr>
            <p:cNvPr id="54294" name="Group 56"/>
            <p:cNvGrpSpPr/>
            <p:nvPr/>
          </p:nvGrpSpPr>
          <p:grpSpPr>
            <a:xfrm>
              <a:off x="1990" y="1661"/>
              <a:ext cx="3685" cy="1848"/>
              <a:chOff x="1990" y="1661"/>
              <a:chExt cx="3685" cy="1848"/>
            </a:xfrm>
          </p:grpSpPr>
          <p:sp>
            <p:nvSpPr>
              <p:cNvPr id="54295" name="Line 4"/>
              <p:cNvSpPr/>
              <p:nvPr/>
            </p:nvSpPr>
            <p:spPr>
              <a:xfrm>
                <a:off x="1990" y="1661"/>
                <a:ext cx="3618" cy="0"/>
              </a:xfrm>
              <a:prstGeom prst="line">
                <a:avLst/>
              </a:prstGeom>
              <a:ln w="38100" cap="flat" cmpd="sng">
                <a:solidFill>
                  <a:schemeClr val="tx1"/>
                </a:solidFill>
                <a:prstDash val="solid"/>
                <a:headEnd type="none" w="med" len="med"/>
                <a:tailEnd type="none" w="sm" len="lg"/>
              </a:ln>
            </p:spPr>
          </p:sp>
          <p:sp>
            <p:nvSpPr>
              <p:cNvPr id="54296" name="Line 5"/>
              <p:cNvSpPr/>
              <p:nvPr/>
            </p:nvSpPr>
            <p:spPr>
              <a:xfrm>
                <a:off x="1990" y="3497"/>
                <a:ext cx="3618" cy="0"/>
              </a:xfrm>
              <a:prstGeom prst="line">
                <a:avLst/>
              </a:prstGeom>
              <a:ln w="38100" cap="flat" cmpd="sng">
                <a:solidFill>
                  <a:schemeClr val="tx1"/>
                </a:solidFill>
                <a:prstDash val="solid"/>
                <a:headEnd type="none" w="med" len="med"/>
                <a:tailEnd type="none" w="sm" len="lg"/>
              </a:ln>
            </p:spPr>
          </p:sp>
          <p:sp>
            <p:nvSpPr>
              <p:cNvPr id="54297" name="Line 6"/>
              <p:cNvSpPr/>
              <p:nvPr/>
            </p:nvSpPr>
            <p:spPr>
              <a:xfrm>
                <a:off x="2973" y="2069"/>
                <a:ext cx="2635" cy="0"/>
              </a:xfrm>
              <a:prstGeom prst="line">
                <a:avLst/>
              </a:prstGeom>
              <a:ln w="28575" cap="flat" cmpd="sng">
                <a:solidFill>
                  <a:schemeClr val="tx1"/>
                </a:solidFill>
                <a:prstDash val="solid"/>
                <a:headEnd type="none" w="med" len="med"/>
                <a:tailEnd type="none" w="sm" len="lg"/>
              </a:ln>
            </p:spPr>
          </p:sp>
          <p:sp>
            <p:nvSpPr>
              <p:cNvPr id="54298" name="Line 7"/>
              <p:cNvSpPr/>
              <p:nvPr/>
            </p:nvSpPr>
            <p:spPr>
              <a:xfrm>
                <a:off x="1990" y="2441"/>
                <a:ext cx="3618" cy="0"/>
              </a:xfrm>
              <a:prstGeom prst="line">
                <a:avLst/>
              </a:prstGeom>
              <a:ln w="19050" cap="flat" cmpd="sng">
                <a:solidFill>
                  <a:schemeClr val="tx1"/>
                </a:solidFill>
                <a:prstDash val="solid"/>
                <a:headEnd type="none" w="med" len="med"/>
                <a:tailEnd type="none" w="sm" len="lg"/>
              </a:ln>
            </p:spPr>
          </p:sp>
          <p:sp>
            <p:nvSpPr>
              <p:cNvPr id="54299" name="Line 8"/>
              <p:cNvSpPr/>
              <p:nvPr/>
            </p:nvSpPr>
            <p:spPr>
              <a:xfrm>
                <a:off x="2973" y="1673"/>
                <a:ext cx="0" cy="1836"/>
              </a:xfrm>
              <a:prstGeom prst="line">
                <a:avLst/>
              </a:prstGeom>
              <a:ln w="19050" cap="flat" cmpd="sng">
                <a:solidFill>
                  <a:schemeClr val="tx1"/>
                </a:solidFill>
                <a:prstDash val="solid"/>
                <a:headEnd type="none" w="med" len="med"/>
                <a:tailEnd type="none" w="sm" len="lg"/>
              </a:ln>
            </p:spPr>
          </p:sp>
          <p:sp>
            <p:nvSpPr>
              <p:cNvPr id="54300" name="Line 9"/>
              <p:cNvSpPr/>
              <p:nvPr/>
            </p:nvSpPr>
            <p:spPr>
              <a:xfrm>
                <a:off x="3268" y="2069"/>
                <a:ext cx="0" cy="1440"/>
              </a:xfrm>
              <a:prstGeom prst="line">
                <a:avLst/>
              </a:prstGeom>
              <a:ln w="19050" cap="flat" cmpd="sng">
                <a:solidFill>
                  <a:schemeClr val="tx1"/>
                </a:solidFill>
                <a:prstDash val="solid"/>
                <a:headEnd type="none" w="med" len="med"/>
                <a:tailEnd type="none" w="sm" len="lg"/>
              </a:ln>
            </p:spPr>
          </p:sp>
          <p:sp>
            <p:nvSpPr>
              <p:cNvPr id="54301" name="Line 10"/>
              <p:cNvSpPr/>
              <p:nvPr/>
            </p:nvSpPr>
            <p:spPr>
              <a:xfrm>
                <a:off x="3538" y="2081"/>
                <a:ext cx="0" cy="1428"/>
              </a:xfrm>
              <a:prstGeom prst="line">
                <a:avLst/>
              </a:prstGeom>
              <a:ln w="19050" cap="flat" cmpd="sng">
                <a:solidFill>
                  <a:schemeClr val="tx1"/>
                </a:solidFill>
                <a:prstDash val="solid"/>
                <a:headEnd type="none" w="med" len="med"/>
                <a:tailEnd type="none" w="sm" len="lg"/>
              </a:ln>
            </p:spPr>
          </p:sp>
          <p:sp>
            <p:nvSpPr>
              <p:cNvPr id="54302" name="Line 11"/>
              <p:cNvSpPr/>
              <p:nvPr/>
            </p:nvSpPr>
            <p:spPr>
              <a:xfrm>
                <a:off x="3842" y="2081"/>
                <a:ext cx="0" cy="1428"/>
              </a:xfrm>
              <a:prstGeom prst="line">
                <a:avLst/>
              </a:prstGeom>
              <a:ln w="19050" cap="flat" cmpd="sng">
                <a:solidFill>
                  <a:schemeClr val="tx1"/>
                </a:solidFill>
                <a:prstDash val="solid"/>
                <a:headEnd type="none" w="med" len="med"/>
                <a:tailEnd type="none" w="sm" len="lg"/>
              </a:ln>
            </p:spPr>
          </p:sp>
          <p:sp>
            <p:nvSpPr>
              <p:cNvPr id="54303" name="Line 12"/>
              <p:cNvSpPr/>
              <p:nvPr/>
            </p:nvSpPr>
            <p:spPr>
              <a:xfrm>
                <a:off x="4138" y="2069"/>
                <a:ext cx="0" cy="1440"/>
              </a:xfrm>
              <a:prstGeom prst="line">
                <a:avLst/>
              </a:prstGeom>
              <a:ln w="19050" cap="flat" cmpd="sng">
                <a:solidFill>
                  <a:schemeClr val="tx1"/>
                </a:solidFill>
                <a:prstDash val="solid"/>
                <a:headEnd type="none" w="med" len="med"/>
                <a:tailEnd type="none" w="sm" len="lg"/>
              </a:ln>
            </p:spPr>
          </p:sp>
          <p:sp>
            <p:nvSpPr>
              <p:cNvPr id="54304" name="Line 13"/>
              <p:cNvSpPr/>
              <p:nvPr/>
            </p:nvSpPr>
            <p:spPr>
              <a:xfrm>
                <a:off x="4434" y="2069"/>
                <a:ext cx="0" cy="1428"/>
              </a:xfrm>
              <a:prstGeom prst="line">
                <a:avLst/>
              </a:prstGeom>
              <a:ln w="19050" cap="flat" cmpd="sng">
                <a:solidFill>
                  <a:schemeClr val="tx1"/>
                </a:solidFill>
                <a:prstDash val="solid"/>
                <a:headEnd type="none" w="med" len="med"/>
                <a:tailEnd type="none" w="sm" len="lg"/>
              </a:ln>
            </p:spPr>
          </p:sp>
          <p:sp>
            <p:nvSpPr>
              <p:cNvPr id="54305" name="Line 14"/>
              <p:cNvSpPr/>
              <p:nvPr/>
            </p:nvSpPr>
            <p:spPr>
              <a:xfrm>
                <a:off x="4712" y="1661"/>
                <a:ext cx="0" cy="1836"/>
              </a:xfrm>
              <a:prstGeom prst="line">
                <a:avLst/>
              </a:prstGeom>
              <a:ln w="19050" cap="flat" cmpd="sng">
                <a:solidFill>
                  <a:schemeClr val="tx1"/>
                </a:solidFill>
                <a:prstDash val="solid"/>
                <a:headEnd type="none" w="med" len="med"/>
                <a:tailEnd type="none" w="sm" len="lg"/>
              </a:ln>
            </p:spPr>
          </p:sp>
          <p:sp>
            <p:nvSpPr>
              <p:cNvPr id="54306" name="Line 15"/>
              <p:cNvSpPr/>
              <p:nvPr/>
            </p:nvSpPr>
            <p:spPr>
              <a:xfrm>
                <a:off x="5182" y="2081"/>
                <a:ext cx="0" cy="1428"/>
              </a:xfrm>
              <a:prstGeom prst="line">
                <a:avLst/>
              </a:prstGeom>
              <a:ln w="19050" cap="flat" cmpd="sng">
                <a:solidFill>
                  <a:schemeClr val="tx1"/>
                </a:solidFill>
                <a:prstDash val="solid"/>
                <a:headEnd type="none" w="med" len="med"/>
                <a:tailEnd type="none" w="sm" len="lg"/>
              </a:ln>
            </p:spPr>
          </p:sp>
          <p:sp>
            <p:nvSpPr>
              <p:cNvPr id="54307" name="Text Box 16"/>
              <p:cNvSpPr txBox="1"/>
              <p:nvPr/>
            </p:nvSpPr>
            <p:spPr>
              <a:xfrm>
                <a:off x="2026" y="1857"/>
                <a:ext cx="788" cy="596"/>
              </a:xfrm>
              <a:prstGeom prst="rect">
                <a:avLst/>
              </a:prstGeom>
              <a:noFill/>
              <a:ln w="19050">
                <a:noFill/>
              </a:ln>
            </p:spPr>
            <p:txBody>
              <a:bodyPr wrap="none">
                <a:spAutoFit/>
              </a:bodyPr>
              <a:lstStyle/>
              <a:p>
                <a:r>
                  <a:rPr lang="zh-CN" altLang="en-US" sz="2800" dirty="0">
                    <a:latin typeface="Times New Roman" panose="02020603050405020304" pitchFamily="18" charset="0"/>
                  </a:rPr>
                  <a:t>最大相</a:t>
                </a:r>
              </a:p>
              <a:p>
                <a:r>
                  <a:rPr lang="zh-CN" altLang="en-US" sz="2800" dirty="0">
                    <a:latin typeface="Times New Roman" panose="02020603050405020304" pitchFamily="18" charset="0"/>
                  </a:rPr>
                  <a:t>  容类</a:t>
                </a:r>
              </a:p>
            </p:txBody>
          </p:sp>
          <p:sp>
            <p:nvSpPr>
              <p:cNvPr id="54308" name="Text Box 17"/>
              <p:cNvSpPr txBox="1"/>
              <p:nvPr/>
            </p:nvSpPr>
            <p:spPr>
              <a:xfrm>
                <a:off x="2050" y="2608"/>
                <a:ext cx="838" cy="757"/>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ABF</a:t>
                </a:r>
              </a:p>
              <a:p>
                <a:pPr algn="ctr"/>
                <a:endParaRPr lang="en-US" altLang="zh-CN" sz="2800" dirty="0">
                  <a:latin typeface="Times New Roman" panose="02020603050405020304" pitchFamily="18" charset="0"/>
                </a:endParaRPr>
              </a:p>
              <a:p>
                <a:pPr algn="ctr">
                  <a:lnSpc>
                    <a:spcPct val="60000"/>
                  </a:lnSpc>
                </a:pPr>
                <a:r>
                  <a:rPr lang="en-US" altLang="zh-CN" sz="2800" dirty="0">
                    <a:latin typeface="Times New Roman" panose="02020603050405020304" pitchFamily="18" charset="0"/>
                  </a:rPr>
                  <a:t>BCDEF</a:t>
                </a:r>
              </a:p>
            </p:txBody>
          </p:sp>
          <p:sp>
            <p:nvSpPr>
              <p:cNvPr id="54309" name="Text Box 18"/>
              <p:cNvSpPr txBox="1"/>
              <p:nvPr/>
            </p:nvSpPr>
            <p:spPr>
              <a:xfrm>
                <a:off x="3035" y="2074"/>
                <a:ext cx="202" cy="327"/>
              </a:xfrm>
              <a:prstGeom prst="rect">
                <a:avLst/>
              </a:prstGeom>
              <a:noFill/>
              <a:ln w="19050">
                <a:noFill/>
              </a:ln>
            </p:spPr>
            <p:txBody>
              <a:bodyPr>
                <a:spAutoFit/>
              </a:bodyPr>
              <a:lstStyle/>
              <a:p>
                <a:r>
                  <a:rPr lang="en-US" altLang="zh-CN" sz="2800" dirty="0">
                    <a:latin typeface="Times New Roman" panose="02020603050405020304" pitchFamily="18" charset="0"/>
                  </a:rPr>
                  <a:t>A</a:t>
                </a:r>
              </a:p>
            </p:txBody>
          </p:sp>
          <p:sp>
            <p:nvSpPr>
              <p:cNvPr id="54310" name="Text Box 19"/>
              <p:cNvSpPr txBox="1"/>
              <p:nvPr/>
            </p:nvSpPr>
            <p:spPr>
              <a:xfrm>
                <a:off x="3322" y="2074"/>
                <a:ext cx="202" cy="327"/>
              </a:xfrm>
              <a:prstGeom prst="rect">
                <a:avLst/>
              </a:prstGeom>
              <a:noFill/>
              <a:ln w="19050">
                <a:noFill/>
              </a:ln>
            </p:spPr>
            <p:txBody>
              <a:bodyPr>
                <a:spAutoFit/>
              </a:bodyPr>
              <a:lstStyle/>
              <a:p>
                <a:r>
                  <a:rPr lang="en-US" altLang="zh-CN" sz="2800" dirty="0">
                    <a:latin typeface="Times New Roman" panose="02020603050405020304" pitchFamily="18" charset="0"/>
                  </a:rPr>
                  <a:t>B</a:t>
                </a:r>
              </a:p>
            </p:txBody>
          </p:sp>
          <p:sp>
            <p:nvSpPr>
              <p:cNvPr id="54311" name="Text Box 20"/>
              <p:cNvSpPr txBox="1"/>
              <p:nvPr/>
            </p:nvSpPr>
            <p:spPr>
              <a:xfrm>
                <a:off x="3574" y="2074"/>
                <a:ext cx="202" cy="327"/>
              </a:xfrm>
              <a:prstGeom prst="rect">
                <a:avLst/>
              </a:prstGeom>
              <a:noFill/>
              <a:ln w="19050">
                <a:noFill/>
              </a:ln>
            </p:spPr>
            <p:txBody>
              <a:bodyPr>
                <a:spAutoFit/>
              </a:bodyPr>
              <a:lstStyle/>
              <a:p>
                <a:r>
                  <a:rPr lang="en-US" altLang="zh-CN" sz="2800" dirty="0">
                    <a:latin typeface="Times New Roman" panose="02020603050405020304" pitchFamily="18" charset="0"/>
                  </a:rPr>
                  <a:t>C</a:t>
                </a:r>
              </a:p>
            </p:txBody>
          </p:sp>
          <p:sp>
            <p:nvSpPr>
              <p:cNvPr id="54312" name="Text Box 21"/>
              <p:cNvSpPr txBox="1"/>
              <p:nvPr/>
            </p:nvSpPr>
            <p:spPr>
              <a:xfrm>
                <a:off x="3879" y="2074"/>
                <a:ext cx="201" cy="327"/>
              </a:xfrm>
              <a:prstGeom prst="rect">
                <a:avLst/>
              </a:prstGeom>
              <a:noFill/>
              <a:ln w="19050">
                <a:noFill/>
              </a:ln>
            </p:spPr>
            <p:txBody>
              <a:bodyPr>
                <a:spAutoFit/>
              </a:bodyPr>
              <a:lstStyle/>
              <a:p>
                <a:r>
                  <a:rPr lang="en-US" altLang="zh-CN" sz="2800" dirty="0">
                    <a:latin typeface="Times New Roman" panose="02020603050405020304" pitchFamily="18" charset="0"/>
                  </a:rPr>
                  <a:t>D</a:t>
                </a:r>
              </a:p>
            </p:txBody>
          </p:sp>
          <p:sp>
            <p:nvSpPr>
              <p:cNvPr id="54313" name="Text Box 22"/>
              <p:cNvSpPr txBox="1"/>
              <p:nvPr/>
            </p:nvSpPr>
            <p:spPr>
              <a:xfrm>
                <a:off x="4166" y="2074"/>
                <a:ext cx="201" cy="327"/>
              </a:xfrm>
              <a:prstGeom prst="rect">
                <a:avLst/>
              </a:prstGeom>
              <a:noFill/>
              <a:ln w="19050">
                <a:noFill/>
              </a:ln>
            </p:spPr>
            <p:txBody>
              <a:bodyPr>
                <a:spAutoFit/>
              </a:bodyPr>
              <a:lstStyle/>
              <a:p>
                <a:r>
                  <a:rPr lang="en-US" altLang="zh-CN" sz="2800" dirty="0">
                    <a:latin typeface="Times New Roman" panose="02020603050405020304" pitchFamily="18" charset="0"/>
                  </a:rPr>
                  <a:t>E</a:t>
                </a:r>
              </a:p>
            </p:txBody>
          </p:sp>
          <p:sp>
            <p:nvSpPr>
              <p:cNvPr id="54314" name="Text Box 23"/>
              <p:cNvSpPr txBox="1"/>
              <p:nvPr/>
            </p:nvSpPr>
            <p:spPr>
              <a:xfrm>
                <a:off x="4513" y="2074"/>
                <a:ext cx="202" cy="327"/>
              </a:xfrm>
              <a:prstGeom prst="rect">
                <a:avLst/>
              </a:prstGeom>
              <a:noFill/>
              <a:ln w="19050">
                <a:noFill/>
              </a:ln>
            </p:spPr>
            <p:txBody>
              <a:bodyPr>
                <a:spAutoFit/>
              </a:bodyPr>
              <a:lstStyle/>
              <a:p>
                <a:r>
                  <a:rPr lang="en-US" altLang="zh-CN" sz="2800" dirty="0">
                    <a:latin typeface="Times New Roman" panose="02020603050405020304" pitchFamily="18" charset="0"/>
                  </a:rPr>
                  <a:t>F</a:t>
                </a:r>
              </a:p>
            </p:txBody>
          </p:sp>
          <p:sp>
            <p:nvSpPr>
              <p:cNvPr id="54315" name="Text Box 24"/>
              <p:cNvSpPr txBox="1"/>
              <p:nvPr/>
            </p:nvSpPr>
            <p:spPr>
              <a:xfrm>
                <a:off x="3018" y="2580"/>
                <a:ext cx="340" cy="327"/>
              </a:xfrm>
              <a:prstGeom prst="rect">
                <a:avLst/>
              </a:prstGeom>
              <a:noFill/>
              <a:ln w="19050">
                <a:noFill/>
              </a:ln>
            </p:spPr>
            <p:txBody>
              <a:bodyPr wrap="none">
                <a:spAutoFit/>
              </a:bodyPr>
              <a:lstStyle/>
              <a:p>
                <a:r>
                  <a:rPr lang="en-US" altLang="zh-CN" sz="2800" dirty="0">
                    <a:latin typeface="Times New Roman" panose="02020603050405020304" pitchFamily="18" charset="0"/>
                    <a:sym typeface="Monotype Sorts" pitchFamily="2" charset="2"/>
                  </a:rPr>
                  <a:t>√</a:t>
                </a:r>
              </a:p>
            </p:txBody>
          </p:sp>
          <p:sp>
            <p:nvSpPr>
              <p:cNvPr id="54316" name="Text Box 25"/>
              <p:cNvSpPr txBox="1"/>
              <p:nvPr/>
            </p:nvSpPr>
            <p:spPr>
              <a:xfrm>
                <a:off x="3265" y="2635"/>
                <a:ext cx="202" cy="730"/>
              </a:xfrm>
              <a:prstGeom prst="rect">
                <a:avLst/>
              </a:prstGeom>
              <a:noFill/>
              <a:ln w="19050">
                <a:noFill/>
              </a:ln>
            </p:spPr>
            <p:txBody>
              <a:bodyPr>
                <a:spAutoFit/>
              </a:bodyPr>
              <a:lstStyle/>
              <a:p>
                <a:pPr>
                  <a:lnSpc>
                    <a:spcPct val="8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endParaRPr>
              </a:p>
              <a:p>
                <a:pPr>
                  <a:lnSpc>
                    <a:spcPct val="170000"/>
                  </a:lnSpc>
                </a:pPr>
                <a:r>
                  <a:rPr lang="en-US" altLang="zh-CN" sz="2800" dirty="0">
                    <a:latin typeface="Times New Roman" panose="02020603050405020304" pitchFamily="18" charset="0"/>
                    <a:sym typeface="Monotype Sorts" pitchFamily="2" charset="2"/>
                  </a:rPr>
                  <a:t>√</a:t>
                </a:r>
              </a:p>
            </p:txBody>
          </p:sp>
          <p:sp>
            <p:nvSpPr>
              <p:cNvPr id="54317" name="Text Box 26"/>
              <p:cNvSpPr txBox="1"/>
              <p:nvPr/>
            </p:nvSpPr>
            <p:spPr>
              <a:xfrm>
                <a:off x="3583" y="3038"/>
                <a:ext cx="201" cy="327"/>
              </a:xfrm>
              <a:prstGeom prst="rect">
                <a:avLst/>
              </a:prstGeom>
              <a:noFill/>
              <a:ln w="19050">
                <a:noFill/>
              </a:ln>
            </p:spPr>
            <p:txBody>
              <a:bodyPr>
                <a:spAutoFit/>
              </a:bodyPr>
              <a:lstStyle/>
              <a:p>
                <a:r>
                  <a:rPr lang="en-US" altLang="zh-CN" sz="2800" dirty="0">
                    <a:latin typeface="Times New Roman" panose="02020603050405020304" pitchFamily="18" charset="0"/>
                    <a:sym typeface="Monotype Sorts" pitchFamily="2" charset="2"/>
                  </a:rPr>
                  <a:t>√</a:t>
                </a:r>
              </a:p>
            </p:txBody>
          </p:sp>
          <p:sp>
            <p:nvSpPr>
              <p:cNvPr id="54318" name="Text Box 27"/>
              <p:cNvSpPr txBox="1"/>
              <p:nvPr/>
            </p:nvSpPr>
            <p:spPr>
              <a:xfrm>
                <a:off x="3887" y="3038"/>
                <a:ext cx="202" cy="327"/>
              </a:xfrm>
              <a:prstGeom prst="rect">
                <a:avLst/>
              </a:prstGeom>
              <a:noFill/>
              <a:ln w="19050">
                <a:noFill/>
              </a:ln>
            </p:spPr>
            <p:txBody>
              <a:bodyPr>
                <a:spAutoFit/>
              </a:bodyPr>
              <a:lstStyle/>
              <a:p>
                <a:r>
                  <a:rPr lang="en-US" altLang="zh-CN" sz="2800" dirty="0">
                    <a:latin typeface="Times New Roman" panose="02020603050405020304" pitchFamily="18" charset="0"/>
                    <a:sym typeface="Monotype Sorts" pitchFamily="2" charset="2"/>
                  </a:rPr>
                  <a:t>√</a:t>
                </a:r>
              </a:p>
            </p:txBody>
          </p:sp>
          <p:sp>
            <p:nvSpPr>
              <p:cNvPr id="54319" name="Text Box 28"/>
              <p:cNvSpPr txBox="1"/>
              <p:nvPr/>
            </p:nvSpPr>
            <p:spPr>
              <a:xfrm>
                <a:off x="4174" y="3038"/>
                <a:ext cx="202" cy="327"/>
              </a:xfrm>
              <a:prstGeom prst="rect">
                <a:avLst/>
              </a:prstGeom>
              <a:noFill/>
              <a:ln w="19050">
                <a:noFill/>
              </a:ln>
            </p:spPr>
            <p:txBody>
              <a:bodyPr>
                <a:spAutoFit/>
              </a:bodyPr>
              <a:lstStyle/>
              <a:p>
                <a:r>
                  <a:rPr lang="en-US" altLang="zh-CN" sz="2800" dirty="0">
                    <a:latin typeface="Times New Roman" panose="02020603050405020304" pitchFamily="18" charset="0"/>
                    <a:sym typeface="Monotype Sorts" pitchFamily="2" charset="2"/>
                  </a:rPr>
                  <a:t>√</a:t>
                </a:r>
              </a:p>
            </p:txBody>
          </p:sp>
          <p:sp>
            <p:nvSpPr>
              <p:cNvPr id="54320" name="Text Box 29"/>
              <p:cNvSpPr txBox="1"/>
              <p:nvPr/>
            </p:nvSpPr>
            <p:spPr>
              <a:xfrm>
                <a:off x="4424" y="2554"/>
                <a:ext cx="202" cy="865"/>
              </a:xfrm>
              <a:prstGeom prst="rect">
                <a:avLst/>
              </a:prstGeom>
              <a:noFill/>
              <a:ln w="19050">
                <a:noFill/>
              </a:ln>
            </p:spPr>
            <p:txBody>
              <a:bodyPr>
                <a:spAutoFit/>
              </a:bodyPr>
              <a:lstStyle/>
              <a:p>
                <a:pPr>
                  <a:lnSpc>
                    <a:spcPct val="11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endParaRPr>
              </a:p>
              <a:p>
                <a:pPr>
                  <a:lnSpc>
                    <a:spcPct val="190000"/>
                  </a:lnSpc>
                </a:pPr>
                <a:r>
                  <a:rPr lang="en-US" altLang="zh-CN" sz="2800" dirty="0">
                    <a:latin typeface="Times New Roman" panose="02020603050405020304" pitchFamily="18" charset="0"/>
                    <a:sym typeface="Monotype Sorts" pitchFamily="2" charset="2"/>
                  </a:rPr>
                  <a:t>√</a:t>
                </a:r>
              </a:p>
            </p:txBody>
          </p:sp>
          <p:sp>
            <p:nvSpPr>
              <p:cNvPr id="54321" name="Text Box 30"/>
              <p:cNvSpPr txBox="1"/>
              <p:nvPr/>
            </p:nvSpPr>
            <p:spPr>
              <a:xfrm>
                <a:off x="3487" y="1715"/>
                <a:ext cx="916" cy="327"/>
              </a:xfrm>
              <a:prstGeom prst="rect">
                <a:avLst/>
              </a:prstGeom>
              <a:noFill/>
              <a:ln w="19050">
                <a:noFill/>
              </a:ln>
            </p:spPr>
            <p:txBody>
              <a:bodyPr wrap="none">
                <a:spAutoFit/>
              </a:bodyPr>
              <a:lstStyle/>
              <a:p>
                <a:r>
                  <a:rPr lang="zh-CN" altLang="en-US" sz="2800" dirty="0">
                    <a:latin typeface="Times New Roman" panose="02020603050405020304" pitchFamily="18" charset="0"/>
                  </a:rPr>
                  <a:t>覆	盖</a:t>
                </a:r>
              </a:p>
            </p:txBody>
          </p:sp>
          <p:sp>
            <p:nvSpPr>
              <p:cNvPr id="54322" name="Text Box 31"/>
              <p:cNvSpPr txBox="1"/>
              <p:nvPr/>
            </p:nvSpPr>
            <p:spPr>
              <a:xfrm>
                <a:off x="4716" y="1752"/>
                <a:ext cx="916" cy="327"/>
              </a:xfrm>
              <a:prstGeom prst="rect">
                <a:avLst/>
              </a:prstGeom>
              <a:noFill/>
              <a:ln w="19050">
                <a:noFill/>
              </a:ln>
            </p:spPr>
            <p:txBody>
              <a:bodyPr wrap="none">
                <a:spAutoFit/>
              </a:bodyPr>
              <a:lstStyle/>
              <a:p>
                <a:r>
                  <a:rPr lang="zh-CN" altLang="en-US" sz="2800" dirty="0">
                    <a:latin typeface="Times New Roman" panose="02020603050405020304" pitchFamily="18" charset="0"/>
                  </a:rPr>
                  <a:t>闭	合</a:t>
                </a:r>
              </a:p>
            </p:txBody>
          </p:sp>
          <p:sp>
            <p:nvSpPr>
              <p:cNvPr id="54323" name="Text Box 32"/>
              <p:cNvSpPr txBox="1"/>
              <p:nvPr/>
            </p:nvSpPr>
            <p:spPr>
              <a:xfrm>
                <a:off x="4722" y="2039"/>
                <a:ext cx="466" cy="327"/>
              </a:xfrm>
              <a:prstGeom prst="rect">
                <a:avLst/>
              </a:prstGeom>
              <a:noFill/>
              <a:ln w="19050">
                <a:noFill/>
              </a:ln>
            </p:spPr>
            <p:txBody>
              <a:bodyPr wrap="none">
                <a:spAutoFit/>
              </a:bodyPr>
              <a:lstStyle/>
              <a:p>
                <a:r>
                  <a:rPr lang="en-US" altLang="zh-CN" sz="2800" dirty="0">
                    <a:latin typeface="Times New Roman" panose="02020603050405020304" pitchFamily="18" charset="0"/>
                  </a:rPr>
                  <a:t>x=0</a:t>
                </a:r>
              </a:p>
            </p:txBody>
          </p:sp>
          <p:sp>
            <p:nvSpPr>
              <p:cNvPr id="54324" name="Text Box 33"/>
              <p:cNvSpPr txBox="1"/>
              <p:nvPr/>
            </p:nvSpPr>
            <p:spPr>
              <a:xfrm>
                <a:off x="5209" y="2051"/>
                <a:ext cx="466" cy="327"/>
              </a:xfrm>
              <a:prstGeom prst="rect">
                <a:avLst/>
              </a:prstGeom>
              <a:noFill/>
              <a:ln w="19050">
                <a:noFill/>
              </a:ln>
            </p:spPr>
            <p:txBody>
              <a:bodyPr wrap="none">
                <a:spAutoFit/>
              </a:bodyPr>
              <a:lstStyle/>
              <a:p>
                <a:r>
                  <a:rPr lang="en-US" altLang="zh-CN" sz="2800" dirty="0">
                    <a:latin typeface="Times New Roman" panose="02020603050405020304" pitchFamily="18" charset="0"/>
                  </a:rPr>
                  <a:t>x=1</a:t>
                </a:r>
              </a:p>
            </p:txBody>
          </p:sp>
          <p:sp>
            <p:nvSpPr>
              <p:cNvPr id="54325" name="Text Box 34"/>
              <p:cNvSpPr txBox="1"/>
              <p:nvPr/>
            </p:nvSpPr>
            <p:spPr>
              <a:xfrm>
                <a:off x="4827" y="2591"/>
                <a:ext cx="201" cy="327"/>
              </a:xfrm>
              <a:prstGeom prst="rect">
                <a:avLst/>
              </a:prstGeom>
              <a:noFill/>
              <a:ln w="19050">
                <a:noFill/>
              </a:ln>
            </p:spPr>
            <p:txBody>
              <a:bodyPr>
                <a:spAutoFit/>
              </a:bodyPr>
              <a:lstStyle/>
              <a:p>
                <a:r>
                  <a:rPr lang="en-US" altLang="zh-CN" sz="2800" dirty="0">
                    <a:latin typeface="Times New Roman" panose="02020603050405020304" pitchFamily="18" charset="0"/>
                  </a:rPr>
                  <a:t>B</a:t>
                </a:r>
              </a:p>
            </p:txBody>
          </p:sp>
          <p:sp>
            <p:nvSpPr>
              <p:cNvPr id="54326" name="Text Box 35"/>
              <p:cNvSpPr txBox="1"/>
              <p:nvPr/>
            </p:nvSpPr>
            <p:spPr>
              <a:xfrm>
                <a:off x="4662" y="3038"/>
                <a:ext cx="559" cy="327"/>
              </a:xfrm>
              <a:prstGeom prst="rect">
                <a:avLst/>
              </a:prstGeom>
              <a:noFill/>
              <a:ln w="19050">
                <a:noFill/>
              </a:ln>
            </p:spPr>
            <p:txBody>
              <a:bodyPr>
                <a:spAutoFit/>
              </a:bodyPr>
              <a:lstStyle/>
              <a:p>
                <a:r>
                  <a:rPr lang="en-US" altLang="zh-CN" sz="2800" dirty="0">
                    <a:latin typeface="Times New Roman" panose="02020603050405020304" pitchFamily="18" charset="0"/>
                  </a:rPr>
                  <a:t>ABF</a:t>
                </a:r>
              </a:p>
            </p:txBody>
          </p:sp>
          <p:sp>
            <p:nvSpPr>
              <p:cNvPr id="54327" name="Text Box 37"/>
              <p:cNvSpPr txBox="1"/>
              <p:nvPr/>
            </p:nvSpPr>
            <p:spPr>
              <a:xfrm>
                <a:off x="5209" y="2591"/>
                <a:ext cx="436" cy="327"/>
              </a:xfrm>
              <a:prstGeom prst="rect">
                <a:avLst/>
              </a:prstGeom>
              <a:noFill/>
              <a:ln w="19050">
                <a:noFill/>
              </a:ln>
            </p:spPr>
            <p:txBody>
              <a:bodyPr>
                <a:spAutoFit/>
              </a:bodyPr>
              <a:lstStyle/>
              <a:p>
                <a:pPr algn="ctr"/>
                <a:r>
                  <a:rPr lang="en-US" altLang="zh-CN" sz="2800" dirty="0">
                    <a:latin typeface="Times New Roman" panose="02020603050405020304" pitchFamily="18" charset="0"/>
                  </a:rPr>
                  <a:t>CD</a:t>
                </a:r>
              </a:p>
            </p:txBody>
          </p:sp>
        </p:grpSp>
      </p:grpSp>
      <p:grpSp>
        <p:nvGrpSpPr>
          <p:cNvPr id="4" name="Group 55"/>
          <p:cNvGrpSpPr/>
          <p:nvPr/>
        </p:nvGrpSpPr>
        <p:grpSpPr>
          <a:xfrm>
            <a:off x="-44450" y="1887538"/>
            <a:ext cx="3225800" cy="4381500"/>
            <a:chOff x="-28" y="1189"/>
            <a:chExt cx="2032" cy="2760"/>
          </a:xfrm>
        </p:grpSpPr>
        <p:sp>
          <p:nvSpPr>
            <p:cNvPr id="54277" name="Line 39"/>
            <p:cNvSpPr/>
            <p:nvPr/>
          </p:nvSpPr>
          <p:spPr>
            <a:xfrm>
              <a:off x="37" y="1189"/>
              <a:ext cx="1896" cy="0"/>
            </a:xfrm>
            <a:prstGeom prst="line">
              <a:avLst/>
            </a:prstGeom>
            <a:ln w="38100" cap="flat" cmpd="sng">
              <a:solidFill>
                <a:schemeClr val="tx1"/>
              </a:solidFill>
              <a:prstDash val="solid"/>
              <a:headEnd type="none" w="med" len="med"/>
              <a:tailEnd type="none" w="sm" len="lg"/>
            </a:ln>
          </p:spPr>
        </p:sp>
        <p:sp>
          <p:nvSpPr>
            <p:cNvPr id="54278" name="Line 40"/>
            <p:cNvSpPr/>
            <p:nvPr/>
          </p:nvSpPr>
          <p:spPr>
            <a:xfrm>
              <a:off x="52" y="3937"/>
              <a:ext cx="1896" cy="0"/>
            </a:xfrm>
            <a:prstGeom prst="line">
              <a:avLst/>
            </a:prstGeom>
            <a:ln w="38100" cap="flat" cmpd="sng">
              <a:solidFill>
                <a:schemeClr val="tx1"/>
              </a:solidFill>
              <a:prstDash val="solid"/>
              <a:headEnd type="none" w="med" len="med"/>
              <a:tailEnd type="none" w="sm" len="lg"/>
            </a:ln>
          </p:spPr>
        </p:sp>
        <p:sp>
          <p:nvSpPr>
            <p:cNvPr id="54279" name="Line 41"/>
            <p:cNvSpPr/>
            <p:nvPr/>
          </p:nvSpPr>
          <p:spPr>
            <a:xfrm>
              <a:off x="491" y="1189"/>
              <a:ext cx="0" cy="2760"/>
            </a:xfrm>
            <a:prstGeom prst="line">
              <a:avLst/>
            </a:prstGeom>
            <a:ln w="19050" cap="flat" cmpd="sng">
              <a:solidFill>
                <a:schemeClr val="tx1"/>
              </a:solidFill>
              <a:prstDash val="solid"/>
              <a:headEnd type="none" w="med" len="med"/>
              <a:tailEnd type="none" w="sm" len="lg"/>
            </a:ln>
          </p:spPr>
        </p:sp>
        <p:sp>
          <p:nvSpPr>
            <p:cNvPr id="54280" name="Line 42"/>
            <p:cNvSpPr/>
            <p:nvPr/>
          </p:nvSpPr>
          <p:spPr>
            <a:xfrm>
              <a:off x="936" y="1657"/>
              <a:ext cx="0" cy="2268"/>
            </a:xfrm>
            <a:prstGeom prst="line">
              <a:avLst/>
            </a:prstGeom>
            <a:ln w="19050" cap="flat" cmpd="sng">
              <a:solidFill>
                <a:schemeClr val="tx1"/>
              </a:solidFill>
              <a:prstDash val="solid"/>
              <a:headEnd type="none" w="med" len="med"/>
              <a:tailEnd type="none" w="sm" len="lg"/>
            </a:ln>
          </p:spPr>
        </p:sp>
        <p:sp>
          <p:nvSpPr>
            <p:cNvPr id="54281" name="Line 43"/>
            <p:cNvSpPr/>
            <p:nvPr/>
          </p:nvSpPr>
          <p:spPr>
            <a:xfrm>
              <a:off x="491" y="1657"/>
              <a:ext cx="920" cy="0"/>
            </a:xfrm>
            <a:prstGeom prst="line">
              <a:avLst/>
            </a:prstGeom>
            <a:ln w="12700" cap="flat" cmpd="sng">
              <a:solidFill>
                <a:schemeClr val="tx1"/>
              </a:solidFill>
              <a:prstDash val="solid"/>
              <a:headEnd type="none" w="med" len="med"/>
              <a:tailEnd type="none" w="sm" len="lg"/>
            </a:ln>
          </p:spPr>
        </p:sp>
        <p:sp>
          <p:nvSpPr>
            <p:cNvPr id="54282" name="Line 44"/>
            <p:cNvSpPr/>
            <p:nvPr/>
          </p:nvSpPr>
          <p:spPr>
            <a:xfrm>
              <a:off x="26" y="2113"/>
              <a:ext cx="1896" cy="0"/>
            </a:xfrm>
            <a:prstGeom prst="line">
              <a:avLst/>
            </a:prstGeom>
            <a:ln w="12700" cap="flat" cmpd="sng">
              <a:solidFill>
                <a:schemeClr val="tx1"/>
              </a:solidFill>
              <a:prstDash val="solid"/>
              <a:headEnd type="none" w="med" len="med"/>
              <a:tailEnd type="none" w="sm" len="lg"/>
            </a:ln>
          </p:spPr>
        </p:sp>
        <p:sp>
          <p:nvSpPr>
            <p:cNvPr id="54283" name="Text Box 45"/>
            <p:cNvSpPr txBox="1"/>
            <p:nvPr/>
          </p:nvSpPr>
          <p:spPr>
            <a:xfrm>
              <a:off x="-28" y="1493"/>
              <a:ext cx="564" cy="327"/>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54284" name="Text Box 46"/>
            <p:cNvSpPr txBox="1"/>
            <p:nvPr/>
          </p:nvSpPr>
          <p:spPr>
            <a:xfrm>
              <a:off x="600" y="1265"/>
              <a:ext cx="564"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p>
          </p:txBody>
        </p:sp>
        <p:sp>
          <p:nvSpPr>
            <p:cNvPr id="54285" name="Text Box 47"/>
            <p:cNvSpPr txBox="1"/>
            <p:nvPr/>
          </p:nvSpPr>
          <p:spPr>
            <a:xfrm>
              <a:off x="519" y="1717"/>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54286" name="Text Box 48"/>
            <p:cNvSpPr txBox="1"/>
            <p:nvPr/>
          </p:nvSpPr>
          <p:spPr>
            <a:xfrm>
              <a:off x="969" y="1710"/>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54287" name="Text Box 49"/>
            <p:cNvSpPr txBox="1"/>
            <p:nvPr/>
          </p:nvSpPr>
          <p:spPr>
            <a:xfrm>
              <a:off x="78" y="2203"/>
              <a:ext cx="278" cy="1672"/>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A</a:t>
              </a:r>
            </a:p>
            <a:p>
              <a:pPr algn="ctr"/>
              <a:r>
                <a:rPr lang="en-US" altLang="zh-CN" sz="2800" dirty="0">
                  <a:latin typeface="Times New Roman" panose="02020603050405020304" pitchFamily="18" charset="0"/>
                </a:rPr>
                <a:t>B</a:t>
              </a:r>
            </a:p>
            <a:p>
              <a:pPr algn="ctr"/>
              <a:r>
                <a:rPr lang="en-US" altLang="zh-CN" sz="2800" dirty="0">
                  <a:latin typeface="Times New Roman" panose="02020603050405020304" pitchFamily="18" charset="0"/>
                </a:rPr>
                <a:t>C</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E</a:t>
              </a:r>
            </a:p>
            <a:p>
              <a:pPr algn="ctr"/>
              <a:r>
                <a:rPr lang="en-US" altLang="zh-CN" sz="2800" dirty="0">
                  <a:latin typeface="Times New Roman" panose="02020603050405020304" pitchFamily="18" charset="0"/>
                </a:rPr>
                <a:t>F</a:t>
              </a:r>
              <a:endParaRPr lang="en-US" altLang="zh-CN" sz="2800" baseline="-25000" dirty="0">
                <a:latin typeface="Times New Roman" panose="02020603050405020304" pitchFamily="18" charset="0"/>
              </a:endParaRPr>
            </a:p>
          </p:txBody>
        </p:sp>
        <p:sp>
          <p:nvSpPr>
            <p:cNvPr id="54288" name="Text Box 50"/>
            <p:cNvSpPr txBox="1"/>
            <p:nvPr/>
          </p:nvSpPr>
          <p:spPr>
            <a:xfrm>
              <a:off x="573" y="2203"/>
              <a:ext cx="278" cy="1672"/>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B</a:t>
              </a:r>
            </a:p>
            <a:p>
              <a:pPr algn="ctr"/>
              <a:r>
                <a:rPr lang="en-US" altLang="zh-CN" sz="2800" dirty="0">
                  <a:latin typeface="Times New Roman" panose="02020603050405020304" pitchFamily="18" charset="0"/>
                </a:rPr>
                <a:t>B</a:t>
              </a:r>
            </a:p>
            <a:p>
              <a:pPr algn="ctr"/>
              <a:r>
                <a:rPr lang="en-US" altLang="zh-CN" sz="2800" dirty="0">
                  <a:latin typeface="Times New Roman" panose="02020603050405020304" pitchFamily="18" charset="0"/>
                </a:rPr>
                <a:t>A</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F</a:t>
              </a:r>
            </a:p>
            <a:p>
              <a:pPr algn="ctr"/>
              <a:r>
                <a:rPr lang="en-US" altLang="zh-CN" sz="2800" dirty="0">
                  <a:latin typeface="Times New Roman" panose="02020603050405020304" pitchFamily="18" charset="0"/>
                </a:rPr>
                <a:t>d</a:t>
              </a:r>
            </a:p>
          </p:txBody>
        </p:sp>
        <p:sp>
          <p:nvSpPr>
            <p:cNvPr id="54289" name="Text Box 51"/>
            <p:cNvSpPr txBox="1"/>
            <p:nvPr/>
          </p:nvSpPr>
          <p:spPr>
            <a:xfrm>
              <a:off x="1039" y="2203"/>
              <a:ext cx="278" cy="1672"/>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E</a:t>
              </a:r>
            </a:p>
            <a:p>
              <a:pPr algn="ctr"/>
              <a:r>
                <a:rPr lang="en-US" altLang="zh-CN" sz="2800" dirty="0">
                  <a:latin typeface="Times New Roman" panose="02020603050405020304" pitchFamily="18" charset="0"/>
                </a:rPr>
                <a:t>E</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C</a:t>
              </a:r>
            </a:p>
          </p:txBody>
        </p:sp>
        <p:sp>
          <p:nvSpPr>
            <p:cNvPr id="54290" name="Line 52"/>
            <p:cNvSpPr/>
            <p:nvPr/>
          </p:nvSpPr>
          <p:spPr>
            <a:xfrm>
              <a:off x="1411" y="1201"/>
              <a:ext cx="0" cy="2736"/>
            </a:xfrm>
            <a:prstGeom prst="line">
              <a:avLst/>
            </a:prstGeom>
            <a:ln w="19050" cap="flat" cmpd="sng">
              <a:solidFill>
                <a:schemeClr val="tx1"/>
              </a:solidFill>
              <a:prstDash val="solid"/>
              <a:headEnd type="none" w="med" len="med"/>
              <a:tailEnd type="none" w="sm" len="lg"/>
            </a:ln>
          </p:spPr>
        </p:sp>
        <p:sp>
          <p:nvSpPr>
            <p:cNvPr id="54291" name="Rectangle 53"/>
            <p:cNvSpPr/>
            <p:nvPr/>
          </p:nvSpPr>
          <p:spPr>
            <a:xfrm>
              <a:off x="1440" y="1461"/>
              <a:ext cx="564" cy="327"/>
            </a:xfrm>
            <a:prstGeom prst="rect">
              <a:avLst/>
            </a:prstGeom>
            <a:noFill/>
            <a:ln w="19050">
              <a:noFill/>
            </a:ln>
          </p:spPr>
          <p:txBody>
            <a:bodyPr wrap="none">
              <a:spAutoFit/>
            </a:bodyPr>
            <a:lstStyle/>
            <a:p>
              <a:r>
                <a:rPr lang="zh-CN" altLang="en-US" sz="2800" dirty="0">
                  <a:latin typeface="Times New Roman" panose="02020603050405020304" pitchFamily="18" charset="0"/>
                </a:rPr>
                <a:t>输出</a:t>
              </a:r>
            </a:p>
          </p:txBody>
        </p:sp>
        <p:sp>
          <p:nvSpPr>
            <p:cNvPr id="54292" name="Text Box 54"/>
            <p:cNvSpPr txBox="1"/>
            <p:nvPr/>
          </p:nvSpPr>
          <p:spPr>
            <a:xfrm>
              <a:off x="1575" y="2203"/>
              <a:ext cx="228" cy="1672"/>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0</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1</a:t>
              </a:r>
            </a:p>
            <a:p>
              <a:pPr algn="ctr"/>
              <a:r>
                <a:rPr lang="en-US" altLang="zh-CN" sz="2800" dirty="0">
                  <a:latin typeface="Times New Roman" panose="02020603050405020304" pitchFamily="18" charset="0"/>
                </a:rPr>
                <a:t>1</a:t>
              </a:r>
            </a:p>
            <a:p>
              <a:pPr algn="ctr"/>
              <a:r>
                <a:rPr lang="en-US" altLang="zh-CN" sz="2800" dirty="0">
                  <a:latin typeface="Times New Roman" panose="02020603050405020304" pitchFamily="18" charset="0"/>
                </a:rPr>
                <a:t>1</a:t>
              </a:r>
            </a:p>
            <a:p>
              <a:pPr algn="ctr"/>
              <a:r>
                <a:rPr lang="en-US" altLang="zh-CN" sz="2800" dirty="0">
                  <a:latin typeface="Times New Roman" panose="02020603050405020304" pitchFamily="18" charset="0"/>
                </a:rPr>
                <a:t>d</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1490"/>
                                        </p:tgtEl>
                                        <p:attrNameLst>
                                          <p:attrName>style.visibility</p:attrName>
                                        </p:attrNameLst>
                                      </p:cBhvr>
                                      <p:to>
                                        <p:strVal val="visible"/>
                                      </p:to>
                                    </p:set>
                                    <p:animEffect transition="in" filter="wipe(left)">
                                      <p:cBhvr>
                                        <p:cTn id="7" dur="500"/>
                                        <p:tgtEl>
                                          <p:spTgt spid="191490"/>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to="" calcmode="lin" valueType="num">
                                      <p:cBhvr>
                                        <p:cTn id="12" dur="1" fill="hold"/>
                                        <p:tgtEl>
                                          <p:spTgt spid="4"/>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0"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Text Box 2"/>
          <p:cNvSpPr txBox="1"/>
          <p:nvPr/>
        </p:nvSpPr>
        <p:spPr>
          <a:xfrm>
            <a:off x="171450" y="457200"/>
            <a:ext cx="3267075" cy="1445260"/>
          </a:xfrm>
          <a:prstGeom prst="rect">
            <a:avLst/>
          </a:prstGeom>
          <a:noFill/>
          <a:ln w="19050">
            <a:noFill/>
          </a:ln>
        </p:spPr>
        <p:txBody>
          <a:bodyPr>
            <a:spAutoFit/>
          </a:bodyPr>
          <a:lstStyle/>
          <a:p>
            <a:pPr algn="just">
              <a:lnSpc>
                <a:spcPct val="110000"/>
              </a:lnSpc>
              <a:spcBef>
                <a:spcPct val="50000"/>
              </a:spcBef>
            </a:pPr>
            <a:r>
              <a:rPr lang="zh-CN" altLang="zh-CN" sz="2000" b="1" dirty="0">
                <a:latin typeface="华文楷体" panose="02010600040101010101" pitchFamily="2" charset="-122"/>
                <a:ea typeface="华文楷体" panose="02010600040101010101" pitchFamily="2" charset="-122"/>
              </a:rPr>
              <a:t>所选相容类集合{(</a:t>
            </a:r>
            <a:r>
              <a:rPr lang="en-US" altLang="zh-CN" sz="2000" b="1" dirty="0">
                <a:latin typeface="华文楷体" panose="02010600040101010101" pitchFamily="2" charset="-122"/>
                <a:ea typeface="华文楷体" panose="02010600040101010101" pitchFamily="2" charset="-122"/>
              </a:rPr>
              <a:t>A,B,F), (B,C,D,E,F)} </a:t>
            </a:r>
            <a:r>
              <a:rPr lang="zh-CN" altLang="zh-CN" sz="2000" b="1" dirty="0">
                <a:latin typeface="华文楷体" panose="02010600040101010101" pitchFamily="2" charset="-122"/>
                <a:ea typeface="华文楷体" panose="02010600040101010101" pitchFamily="2" charset="-122"/>
              </a:rPr>
              <a:t>满足最小闭合覆盖条件，令</a:t>
            </a:r>
            <a:r>
              <a:rPr lang="en-US" altLang="zh-CN" sz="2000" b="1" dirty="0">
                <a:latin typeface="华文楷体" panose="02010600040101010101" pitchFamily="2" charset="-122"/>
                <a:ea typeface="华文楷体" panose="02010600040101010101" pitchFamily="2" charset="-122"/>
              </a:rPr>
              <a:t>A</a:t>
            </a:r>
            <a:r>
              <a:rPr lang="zh-CN" altLang="zh-CN" sz="2000" b="1" dirty="0">
                <a:latin typeface="华文楷体" panose="02010600040101010101" pitchFamily="2" charset="-122"/>
                <a:ea typeface="华文楷体" panose="02010600040101010101" pitchFamily="2" charset="-122"/>
              </a:rPr>
              <a:t>表示</a:t>
            </a:r>
            <a:r>
              <a:rPr lang="en-US" altLang="zh-CN" sz="2000" b="1" dirty="0">
                <a:latin typeface="Times New Roman" panose="02020603050405020304" pitchFamily="18" charset="0"/>
                <a:ea typeface="华文楷体" panose="02010600040101010101" pitchFamily="2" charset="-122"/>
              </a:rPr>
              <a:t>(</a:t>
            </a:r>
            <a:r>
              <a:rPr lang="en-US" altLang="zh-CN" sz="2000" b="1" dirty="0">
                <a:latin typeface="华文楷体" panose="02010600040101010101" pitchFamily="2" charset="-122"/>
                <a:ea typeface="华文楷体" panose="02010600040101010101" pitchFamily="2" charset="-122"/>
              </a:rPr>
              <a:t>A,B,F)</a:t>
            </a:r>
            <a:r>
              <a:rPr lang="zh-CN" altLang="en-US" sz="2000" b="1" dirty="0">
                <a:latin typeface="华文楷体" panose="02010600040101010101" pitchFamily="2" charset="-122"/>
                <a:ea typeface="华文楷体" panose="02010600040101010101" pitchFamily="2" charset="-122"/>
              </a:rPr>
              <a:t>，</a:t>
            </a:r>
            <a:r>
              <a:rPr lang="en-US" altLang="zh-CN" sz="2000" b="1" dirty="0">
                <a:latin typeface="华文楷体" panose="02010600040101010101" pitchFamily="2" charset="-122"/>
                <a:ea typeface="华文楷体" panose="02010600040101010101" pitchFamily="2" charset="-122"/>
              </a:rPr>
              <a:t>C</a:t>
            </a:r>
            <a:r>
              <a:rPr lang="zh-CN" altLang="zh-CN" sz="2000" b="1" dirty="0">
                <a:latin typeface="华文楷体" panose="02010600040101010101" pitchFamily="2" charset="-122"/>
                <a:ea typeface="华文楷体" panose="02010600040101010101" pitchFamily="2" charset="-122"/>
              </a:rPr>
              <a:t>表示(</a:t>
            </a:r>
            <a:r>
              <a:rPr lang="en-US" altLang="zh-CN" sz="2000" b="1" dirty="0">
                <a:latin typeface="华文楷体" panose="02010600040101010101" pitchFamily="2" charset="-122"/>
                <a:ea typeface="华文楷体" panose="02010600040101010101" pitchFamily="2" charset="-122"/>
              </a:rPr>
              <a:t>B,C,D,E,F)</a:t>
            </a:r>
            <a:r>
              <a:rPr lang="zh-CN" altLang="zh-CN" sz="2000" b="1" dirty="0">
                <a:latin typeface="华文楷体" panose="02010600040101010101" pitchFamily="2" charset="-122"/>
                <a:ea typeface="华文楷体" panose="02010600040101010101" pitchFamily="2" charset="-122"/>
              </a:rPr>
              <a:t>可得：</a:t>
            </a:r>
            <a:endParaRPr lang="zh-CN" altLang="en-US" sz="2000" b="1" dirty="0">
              <a:latin typeface="华文楷体" panose="02010600040101010101" pitchFamily="2" charset="-122"/>
              <a:ea typeface="华文楷体" panose="02010600040101010101" pitchFamily="2" charset="-122"/>
            </a:endParaRPr>
          </a:p>
        </p:txBody>
      </p:sp>
      <p:grpSp>
        <p:nvGrpSpPr>
          <p:cNvPr id="2" name="Group 3"/>
          <p:cNvGrpSpPr/>
          <p:nvPr/>
        </p:nvGrpSpPr>
        <p:grpSpPr>
          <a:xfrm>
            <a:off x="3438525" y="2457450"/>
            <a:ext cx="5497513" cy="1927225"/>
            <a:chOff x="564" y="1116"/>
            <a:chExt cx="4452" cy="1748"/>
          </a:xfrm>
        </p:grpSpPr>
        <p:sp>
          <p:nvSpPr>
            <p:cNvPr id="55370" name="Line 4"/>
            <p:cNvSpPr/>
            <p:nvPr/>
          </p:nvSpPr>
          <p:spPr>
            <a:xfrm>
              <a:off x="588" y="1116"/>
              <a:ext cx="4404" cy="0"/>
            </a:xfrm>
            <a:prstGeom prst="line">
              <a:avLst/>
            </a:prstGeom>
            <a:ln w="38100" cap="flat" cmpd="sng">
              <a:solidFill>
                <a:schemeClr val="tx1"/>
              </a:solidFill>
              <a:prstDash val="solid"/>
              <a:headEnd type="none" w="med" len="med"/>
              <a:tailEnd type="none" w="sm" len="lg"/>
            </a:ln>
          </p:spPr>
        </p:sp>
        <p:sp>
          <p:nvSpPr>
            <p:cNvPr id="55371" name="Line 5"/>
            <p:cNvSpPr/>
            <p:nvPr/>
          </p:nvSpPr>
          <p:spPr>
            <a:xfrm>
              <a:off x="612" y="2808"/>
              <a:ext cx="4404" cy="0"/>
            </a:xfrm>
            <a:prstGeom prst="line">
              <a:avLst/>
            </a:prstGeom>
            <a:ln w="38100" cap="flat" cmpd="sng">
              <a:solidFill>
                <a:schemeClr val="tx1"/>
              </a:solidFill>
              <a:prstDash val="solid"/>
              <a:headEnd type="none" w="med" len="med"/>
              <a:tailEnd type="none" w="sm" len="lg"/>
            </a:ln>
          </p:spPr>
        </p:sp>
        <p:sp>
          <p:nvSpPr>
            <p:cNvPr id="55372" name="Line 6"/>
            <p:cNvSpPr/>
            <p:nvPr/>
          </p:nvSpPr>
          <p:spPr>
            <a:xfrm>
              <a:off x="1644" y="1116"/>
              <a:ext cx="0" cy="1680"/>
            </a:xfrm>
            <a:prstGeom prst="line">
              <a:avLst/>
            </a:prstGeom>
            <a:ln w="19050" cap="flat" cmpd="sng">
              <a:solidFill>
                <a:schemeClr val="tx1"/>
              </a:solidFill>
              <a:prstDash val="solid"/>
              <a:headEnd type="none" w="med" len="med"/>
              <a:tailEnd type="none" w="sm" len="lg"/>
            </a:ln>
          </p:spPr>
        </p:sp>
        <p:sp>
          <p:nvSpPr>
            <p:cNvPr id="55373" name="Line 7"/>
            <p:cNvSpPr/>
            <p:nvPr/>
          </p:nvSpPr>
          <p:spPr>
            <a:xfrm>
              <a:off x="2676" y="1584"/>
              <a:ext cx="0" cy="1236"/>
            </a:xfrm>
            <a:prstGeom prst="line">
              <a:avLst/>
            </a:prstGeom>
            <a:ln w="19050" cap="flat" cmpd="sng">
              <a:solidFill>
                <a:schemeClr val="tx1"/>
              </a:solidFill>
              <a:prstDash val="solid"/>
              <a:headEnd type="none" w="med" len="med"/>
              <a:tailEnd type="none" w="sm" len="lg"/>
            </a:ln>
          </p:spPr>
        </p:sp>
        <p:sp>
          <p:nvSpPr>
            <p:cNvPr id="55374" name="Line 8"/>
            <p:cNvSpPr/>
            <p:nvPr/>
          </p:nvSpPr>
          <p:spPr>
            <a:xfrm>
              <a:off x="1644" y="1584"/>
              <a:ext cx="2136" cy="0"/>
            </a:xfrm>
            <a:prstGeom prst="line">
              <a:avLst/>
            </a:prstGeom>
            <a:ln w="12700" cap="flat" cmpd="sng">
              <a:solidFill>
                <a:schemeClr val="tx1"/>
              </a:solidFill>
              <a:prstDash val="solid"/>
              <a:headEnd type="none" w="med" len="med"/>
              <a:tailEnd type="none" w="sm" len="lg"/>
            </a:ln>
          </p:spPr>
        </p:sp>
        <p:sp>
          <p:nvSpPr>
            <p:cNvPr id="55375" name="Line 9"/>
            <p:cNvSpPr/>
            <p:nvPr/>
          </p:nvSpPr>
          <p:spPr>
            <a:xfrm>
              <a:off x="564" y="2040"/>
              <a:ext cx="4404" cy="0"/>
            </a:xfrm>
            <a:prstGeom prst="line">
              <a:avLst/>
            </a:prstGeom>
            <a:ln w="12700" cap="flat" cmpd="sng">
              <a:solidFill>
                <a:schemeClr val="tx1"/>
              </a:solidFill>
              <a:prstDash val="solid"/>
              <a:headEnd type="none" w="med" len="med"/>
              <a:tailEnd type="none" w="sm" len="lg"/>
            </a:ln>
          </p:spPr>
        </p:sp>
        <p:sp>
          <p:nvSpPr>
            <p:cNvPr id="55376" name="Text Box 10"/>
            <p:cNvSpPr txBox="1"/>
            <p:nvPr/>
          </p:nvSpPr>
          <p:spPr>
            <a:xfrm>
              <a:off x="722" y="1434"/>
              <a:ext cx="864" cy="471"/>
            </a:xfrm>
            <a:prstGeom prst="rect">
              <a:avLst/>
            </a:prstGeom>
            <a:noFill/>
            <a:ln w="19050">
              <a:noFill/>
            </a:ln>
          </p:spPr>
          <p:txBody>
            <a:bodyPr wrap="none">
              <a:spAutoFit/>
            </a:bodyPr>
            <a:lstStyle/>
            <a:p>
              <a:r>
                <a:rPr lang="zh-CN" altLang="zh-CN" sz="2800" dirty="0">
                  <a:latin typeface="Times New Roman" panose="02020603050405020304" pitchFamily="18" charset="0"/>
                </a:rPr>
                <a:t>现  态</a:t>
              </a:r>
            </a:p>
          </p:txBody>
        </p:sp>
        <p:sp>
          <p:nvSpPr>
            <p:cNvPr id="55377" name="Text Box 11"/>
            <p:cNvSpPr txBox="1"/>
            <p:nvPr/>
          </p:nvSpPr>
          <p:spPr>
            <a:xfrm>
              <a:off x="2294" y="1207"/>
              <a:ext cx="1173" cy="471"/>
            </a:xfrm>
            <a:prstGeom prst="rect">
              <a:avLst/>
            </a:prstGeom>
            <a:noFill/>
            <a:ln w="19050">
              <a:noFill/>
            </a:ln>
          </p:spPr>
          <p:txBody>
            <a:bodyPr wrap="none">
              <a:spAutoFit/>
            </a:bodyPr>
            <a:lstStyle/>
            <a:p>
              <a:r>
                <a:rPr lang="zh-CN" altLang="en-US" sz="2800" dirty="0">
                  <a:latin typeface="Times New Roman" panose="02020603050405020304" pitchFamily="18" charset="0"/>
                </a:rPr>
                <a:t>次   	态</a:t>
              </a:r>
            </a:p>
          </p:txBody>
        </p:sp>
        <p:sp>
          <p:nvSpPr>
            <p:cNvPr id="55378" name="Text Box 12"/>
            <p:cNvSpPr txBox="1"/>
            <p:nvPr/>
          </p:nvSpPr>
          <p:spPr>
            <a:xfrm>
              <a:off x="1946" y="1650"/>
              <a:ext cx="582" cy="471"/>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55379" name="Text Box 13"/>
            <p:cNvSpPr txBox="1"/>
            <p:nvPr/>
          </p:nvSpPr>
          <p:spPr>
            <a:xfrm>
              <a:off x="3039" y="1650"/>
              <a:ext cx="582" cy="471"/>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55380" name="Text Box 14"/>
            <p:cNvSpPr txBox="1"/>
            <p:nvPr/>
          </p:nvSpPr>
          <p:spPr>
            <a:xfrm>
              <a:off x="857" y="2228"/>
              <a:ext cx="298" cy="636"/>
            </a:xfrm>
            <a:prstGeom prst="rect">
              <a:avLst/>
            </a:prstGeom>
            <a:noFill/>
            <a:ln w="19050">
              <a:noFill/>
            </a:ln>
          </p:spPr>
          <p:txBody>
            <a:bodyPr wrap="none">
              <a:spAutoFit/>
            </a:bodyPr>
            <a:lstStyle/>
            <a:p>
              <a:pPr algn="ctr"/>
              <a:r>
                <a:rPr lang="en-US" altLang="zh-CN" sz="2000" dirty="0">
                  <a:latin typeface="Times New Roman" panose="02020603050405020304" pitchFamily="18" charset="0"/>
                </a:rPr>
                <a:t>A</a:t>
              </a:r>
            </a:p>
            <a:p>
              <a:pPr algn="ctr"/>
              <a:r>
                <a:rPr lang="en-US" altLang="zh-CN" sz="2000" dirty="0">
                  <a:latin typeface="Times New Roman" panose="02020603050405020304" pitchFamily="18" charset="0"/>
                </a:rPr>
                <a:t>C</a:t>
              </a:r>
              <a:endParaRPr lang="en-US" altLang="zh-CN" sz="2000" baseline="-25000" dirty="0">
                <a:latin typeface="Times New Roman" panose="02020603050405020304" pitchFamily="18" charset="0"/>
              </a:endParaRPr>
            </a:p>
          </p:txBody>
        </p:sp>
        <p:sp>
          <p:nvSpPr>
            <p:cNvPr id="55381" name="Text Box 15"/>
            <p:cNvSpPr txBox="1"/>
            <p:nvPr/>
          </p:nvSpPr>
          <p:spPr>
            <a:xfrm>
              <a:off x="1915" y="2228"/>
              <a:ext cx="487" cy="636"/>
            </a:xfrm>
            <a:prstGeom prst="rect">
              <a:avLst/>
            </a:prstGeom>
            <a:noFill/>
            <a:ln w="19050">
              <a:noFill/>
            </a:ln>
          </p:spPr>
          <p:txBody>
            <a:bodyPr wrap="none">
              <a:spAutoFit/>
            </a:bodyPr>
            <a:lstStyle/>
            <a:p>
              <a:pPr algn="ctr"/>
              <a:r>
                <a:rPr lang="en-US" altLang="zh-CN" sz="2000" dirty="0">
                  <a:latin typeface="Times New Roman" panose="02020603050405020304" pitchFamily="18" charset="0"/>
                </a:rPr>
                <a:t>A,C</a:t>
              </a:r>
            </a:p>
            <a:p>
              <a:pPr algn="ctr"/>
              <a:r>
                <a:rPr lang="en-US" altLang="zh-CN" sz="2000" dirty="0">
                  <a:latin typeface="Times New Roman" panose="02020603050405020304" pitchFamily="18" charset="0"/>
                </a:rPr>
                <a:t>A</a:t>
              </a:r>
            </a:p>
          </p:txBody>
        </p:sp>
        <p:sp>
          <p:nvSpPr>
            <p:cNvPr id="55382" name="Text Box 16"/>
            <p:cNvSpPr txBox="1"/>
            <p:nvPr/>
          </p:nvSpPr>
          <p:spPr>
            <a:xfrm>
              <a:off x="3093" y="2228"/>
              <a:ext cx="286" cy="636"/>
            </a:xfrm>
            <a:prstGeom prst="rect">
              <a:avLst/>
            </a:prstGeom>
            <a:noFill/>
            <a:ln w="19050">
              <a:noFill/>
            </a:ln>
          </p:spPr>
          <p:txBody>
            <a:bodyPr wrap="none">
              <a:spAutoFit/>
            </a:bodyPr>
            <a:lstStyle/>
            <a:p>
              <a:pPr algn="ctr"/>
              <a:r>
                <a:rPr lang="en-US" altLang="zh-CN" sz="2000" dirty="0">
                  <a:latin typeface="Times New Roman" panose="02020603050405020304" pitchFamily="18" charset="0"/>
                </a:rPr>
                <a:t>C</a:t>
              </a:r>
            </a:p>
            <a:p>
              <a:pPr algn="ctr"/>
              <a:r>
                <a:rPr lang="en-US" altLang="zh-CN" sz="2000" dirty="0">
                  <a:latin typeface="Times New Roman" panose="02020603050405020304" pitchFamily="18" charset="0"/>
                </a:rPr>
                <a:t>C</a:t>
              </a:r>
            </a:p>
          </p:txBody>
        </p:sp>
        <p:sp>
          <p:nvSpPr>
            <p:cNvPr id="55383" name="Line 17"/>
            <p:cNvSpPr/>
            <p:nvPr/>
          </p:nvSpPr>
          <p:spPr>
            <a:xfrm>
              <a:off x="3780" y="1128"/>
              <a:ext cx="0" cy="1668"/>
            </a:xfrm>
            <a:prstGeom prst="line">
              <a:avLst/>
            </a:prstGeom>
            <a:ln w="19050" cap="flat" cmpd="sng">
              <a:solidFill>
                <a:schemeClr val="tx1"/>
              </a:solidFill>
              <a:prstDash val="solid"/>
              <a:headEnd type="none" w="med" len="med"/>
              <a:tailEnd type="none" w="sm" len="lg"/>
            </a:ln>
          </p:spPr>
        </p:sp>
        <p:sp>
          <p:nvSpPr>
            <p:cNvPr id="55384" name="Rectangle 18"/>
            <p:cNvSpPr/>
            <p:nvPr/>
          </p:nvSpPr>
          <p:spPr>
            <a:xfrm>
              <a:off x="3973" y="1434"/>
              <a:ext cx="1003" cy="471"/>
            </a:xfrm>
            <a:prstGeom prst="rect">
              <a:avLst/>
            </a:prstGeom>
            <a:noFill/>
            <a:ln w="19050">
              <a:noFill/>
            </a:ln>
          </p:spPr>
          <p:txBody>
            <a:bodyPr wrap="none">
              <a:spAutoFit/>
            </a:bodyPr>
            <a:lstStyle/>
            <a:p>
              <a:r>
                <a:rPr lang="zh-CN" altLang="en-US" sz="2800" dirty="0">
                  <a:latin typeface="Times New Roman" panose="02020603050405020304" pitchFamily="18" charset="0"/>
                </a:rPr>
                <a:t>输    出</a:t>
              </a:r>
            </a:p>
          </p:txBody>
        </p:sp>
        <p:sp>
          <p:nvSpPr>
            <p:cNvPr id="55385" name="Text Box 19"/>
            <p:cNvSpPr txBox="1"/>
            <p:nvPr/>
          </p:nvSpPr>
          <p:spPr>
            <a:xfrm>
              <a:off x="4299" y="2275"/>
              <a:ext cx="252" cy="527"/>
            </a:xfrm>
            <a:prstGeom prst="rect">
              <a:avLst/>
            </a:prstGeom>
            <a:noFill/>
            <a:ln w="19050">
              <a:noFill/>
            </a:ln>
          </p:spPr>
          <p:txBody>
            <a:bodyPr wrap="none">
              <a:spAutoFit/>
            </a:bodyPr>
            <a:lstStyle/>
            <a:p>
              <a:pPr algn="ctr">
                <a:lnSpc>
                  <a:spcPct val="80000"/>
                </a:lnSpc>
              </a:pPr>
              <a:r>
                <a:rPr lang="en-US" altLang="zh-CN" sz="2000" dirty="0">
                  <a:latin typeface="Times New Roman" panose="02020603050405020304" pitchFamily="18" charset="0"/>
                </a:rPr>
                <a:t>0</a:t>
              </a:r>
            </a:p>
            <a:p>
              <a:pPr algn="ctr">
                <a:lnSpc>
                  <a:spcPct val="80000"/>
                </a:lnSpc>
              </a:pPr>
              <a:r>
                <a:rPr lang="en-US" altLang="zh-CN" sz="2000" dirty="0">
                  <a:latin typeface="Times New Roman" panose="02020603050405020304" pitchFamily="18" charset="0"/>
                </a:rPr>
                <a:t>1</a:t>
              </a:r>
            </a:p>
          </p:txBody>
        </p:sp>
      </p:grpSp>
      <p:grpSp>
        <p:nvGrpSpPr>
          <p:cNvPr id="3" name="Group 20"/>
          <p:cNvGrpSpPr/>
          <p:nvPr/>
        </p:nvGrpSpPr>
        <p:grpSpPr>
          <a:xfrm>
            <a:off x="3438525" y="4733925"/>
            <a:ext cx="5462588" cy="1981200"/>
            <a:chOff x="564" y="1116"/>
            <a:chExt cx="4452" cy="1704"/>
          </a:xfrm>
        </p:grpSpPr>
        <p:sp>
          <p:nvSpPr>
            <p:cNvPr id="55354" name="Line 21"/>
            <p:cNvSpPr/>
            <p:nvPr/>
          </p:nvSpPr>
          <p:spPr>
            <a:xfrm>
              <a:off x="588" y="1116"/>
              <a:ext cx="4404" cy="0"/>
            </a:xfrm>
            <a:prstGeom prst="line">
              <a:avLst/>
            </a:prstGeom>
            <a:ln w="38100" cap="flat" cmpd="sng">
              <a:solidFill>
                <a:schemeClr val="tx1"/>
              </a:solidFill>
              <a:prstDash val="solid"/>
              <a:headEnd type="none" w="med" len="med"/>
              <a:tailEnd type="none" w="sm" len="lg"/>
            </a:ln>
          </p:spPr>
        </p:sp>
        <p:sp>
          <p:nvSpPr>
            <p:cNvPr id="55355" name="Line 22"/>
            <p:cNvSpPr/>
            <p:nvPr/>
          </p:nvSpPr>
          <p:spPr>
            <a:xfrm>
              <a:off x="612" y="2808"/>
              <a:ext cx="4404" cy="0"/>
            </a:xfrm>
            <a:prstGeom prst="line">
              <a:avLst/>
            </a:prstGeom>
            <a:ln w="38100" cap="flat" cmpd="sng">
              <a:solidFill>
                <a:schemeClr val="tx1"/>
              </a:solidFill>
              <a:prstDash val="solid"/>
              <a:headEnd type="none" w="med" len="med"/>
              <a:tailEnd type="none" w="sm" len="lg"/>
            </a:ln>
          </p:spPr>
        </p:sp>
        <p:sp>
          <p:nvSpPr>
            <p:cNvPr id="55356" name="Line 23"/>
            <p:cNvSpPr/>
            <p:nvPr/>
          </p:nvSpPr>
          <p:spPr>
            <a:xfrm>
              <a:off x="1644" y="1116"/>
              <a:ext cx="0" cy="1680"/>
            </a:xfrm>
            <a:prstGeom prst="line">
              <a:avLst/>
            </a:prstGeom>
            <a:ln w="19050" cap="flat" cmpd="sng">
              <a:solidFill>
                <a:schemeClr val="tx1"/>
              </a:solidFill>
              <a:prstDash val="solid"/>
              <a:headEnd type="none" w="med" len="med"/>
              <a:tailEnd type="none" w="sm" len="lg"/>
            </a:ln>
          </p:spPr>
        </p:sp>
        <p:sp>
          <p:nvSpPr>
            <p:cNvPr id="55357" name="Line 24"/>
            <p:cNvSpPr/>
            <p:nvPr/>
          </p:nvSpPr>
          <p:spPr>
            <a:xfrm>
              <a:off x="2676" y="1584"/>
              <a:ext cx="0" cy="1236"/>
            </a:xfrm>
            <a:prstGeom prst="line">
              <a:avLst/>
            </a:prstGeom>
            <a:ln w="19050" cap="flat" cmpd="sng">
              <a:solidFill>
                <a:schemeClr val="tx1"/>
              </a:solidFill>
              <a:prstDash val="solid"/>
              <a:headEnd type="none" w="med" len="med"/>
              <a:tailEnd type="none" w="sm" len="lg"/>
            </a:ln>
          </p:spPr>
        </p:sp>
        <p:sp>
          <p:nvSpPr>
            <p:cNvPr id="55358" name="Line 25"/>
            <p:cNvSpPr/>
            <p:nvPr/>
          </p:nvSpPr>
          <p:spPr>
            <a:xfrm>
              <a:off x="1644" y="1584"/>
              <a:ext cx="2136" cy="0"/>
            </a:xfrm>
            <a:prstGeom prst="line">
              <a:avLst/>
            </a:prstGeom>
            <a:ln w="12700" cap="flat" cmpd="sng">
              <a:solidFill>
                <a:schemeClr val="tx1"/>
              </a:solidFill>
              <a:prstDash val="solid"/>
              <a:headEnd type="none" w="med" len="med"/>
              <a:tailEnd type="none" w="sm" len="lg"/>
            </a:ln>
          </p:spPr>
        </p:sp>
        <p:sp>
          <p:nvSpPr>
            <p:cNvPr id="55359" name="Line 26"/>
            <p:cNvSpPr/>
            <p:nvPr/>
          </p:nvSpPr>
          <p:spPr>
            <a:xfrm>
              <a:off x="564" y="2040"/>
              <a:ext cx="4404" cy="0"/>
            </a:xfrm>
            <a:prstGeom prst="line">
              <a:avLst/>
            </a:prstGeom>
            <a:ln w="12700" cap="flat" cmpd="sng">
              <a:solidFill>
                <a:schemeClr val="tx1"/>
              </a:solidFill>
              <a:prstDash val="solid"/>
              <a:headEnd type="none" w="med" len="med"/>
              <a:tailEnd type="none" w="sm" len="lg"/>
            </a:ln>
          </p:spPr>
        </p:sp>
        <p:sp>
          <p:nvSpPr>
            <p:cNvPr id="55360" name="Text Box 27"/>
            <p:cNvSpPr txBox="1"/>
            <p:nvPr/>
          </p:nvSpPr>
          <p:spPr>
            <a:xfrm>
              <a:off x="722" y="1434"/>
              <a:ext cx="869" cy="447"/>
            </a:xfrm>
            <a:prstGeom prst="rect">
              <a:avLst/>
            </a:prstGeom>
            <a:noFill/>
            <a:ln w="19050">
              <a:noFill/>
            </a:ln>
          </p:spPr>
          <p:txBody>
            <a:bodyPr wrap="none">
              <a:spAutoFit/>
            </a:bodyPr>
            <a:lstStyle/>
            <a:p>
              <a:r>
                <a:rPr lang="zh-CN" altLang="zh-CN" sz="2800" dirty="0">
                  <a:latin typeface="Times New Roman" panose="02020603050405020304" pitchFamily="18" charset="0"/>
                </a:rPr>
                <a:t>现  态</a:t>
              </a:r>
            </a:p>
          </p:txBody>
        </p:sp>
        <p:sp>
          <p:nvSpPr>
            <p:cNvPr id="55361" name="Text Box 28"/>
            <p:cNvSpPr txBox="1"/>
            <p:nvPr/>
          </p:nvSpPr>
          <p:spPr>
            <a:xfrm>
              <a:off x="2294" y="1206"/>
              <a:ext cx="1180" cy="447"/>
            </a:xfrm>
            <a:prstGeom prst="rect">
              <a:avLst/>
            </a:prstGeom>
            <a:noFill/>
            <a:ln w="19050">
              <a:noFill/>
            </a:ln>
          </p:spPr>
          <p:txBody>
            <a:bodyPr wrap="none">
              <a:spAutoFit/>
            </a:bodyPr>
            <a:lstStyle/>
            <a:p>
              <a:r>
                <a:rPr lang="zh-CN" altLang="en-US" sz="2800" dirty="0">
                  <a:latin typeface="Times New Roman" panose="02020603050405020304" pitchFamily="18" charset="0"/>
                </a:rPr>
                <a:t>次   	态</a:t>
              </a:r>
            </a:p>
          </p:txBody>
        </p:sp>
        <p:sp>
          <p:nvSpPr>
            <p:cNvPr id="55362" name="Text Box 29"/>
            <p:cNvSpPr txBox="1"/>
            <p:nvPr/>
          </p:nvSpPr>
          <p:spPr>
            <a:xfrm>
              <a:off x="1946" y="1651"/>
              <a:ext cx="586" cy="44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55363" name="Text Box 30"/>
            <p:cNvSpPr txBox="1"/>
            <p:nvPr/>
          </p:nvSpPr>
          <p:spPr>
            <a:xfrm>
              <a:off x="3038" y="1651"/>
              <a:ext cx="586" cy="44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55364" name="Text Box 31"/>
            <p:cNvSpPr txBox="1"/>
            <p:nvPr/>
          </p:nvSpPr>
          <p:spPr>
            <a:xfrm>
              <a:off x="858" y="2215"/>
              <a:ext cx="300" cy="604"/>
            </a:xfrm>
            <a:prstGeom prst="rect">
              <a:avLst/>
            </a:prstGeom>
            <a:noFill/>
            <a:ln w="19050">
              <a:noFill/>
            </a:ln>
          </p:spPr>
          <p:txBody>
            <a:bodyPr wrap="none">
              <a:spAutoFit/>
            </a:bodyPr>
            <a:lstStyle/>
            <a:p>
              <a:pPr algn="ctr"/>
              <a:r>
                <a:rPr lang="en-US" altLang="zh-CN" sz="2000" dirty="0">
                  <a:latin typeface="Times New Roman" panose="02020603050405020304" pitchFamily="18" charset="0"/>
                </a:rPr>
                <a:t>A</a:t>
              </a:r>
            </a:p>
            <a:p>
              <a:pPr algn="ctr"/>
              <a:r>
                <a:rPr lang="en-US" altLang="zh-CN" sz="2000" dirty="0">
                  <a:latin typeface="Times New Roman" panose="02020603050405020304" pitchFamily="18" charset="0"/>
                </a:rPr>
                <a:t>C</a:t>
              </a:r>
              <a:endParaRPr lang="en-US" altLang="zh-CN" sz="2000" baseline="-25000" dirty="0">
                <a:latin typeface="Times New Roman" panose="02020603050405020304" pitchFamily="18" charset="0"/>
              </a:endParaRPr>
            </a:p>
          </p:txBody>
        </p:sp>
        <p:sp>
          <p:nvSpPr>
            <p:cNvPr id="55365" name="Text Box 32"/>
            <p:cNvSpPr txBox="1"/>
            <p:nvPr/>
          </p:nvSpPr>
          <p:spPr>
            <a:xfrm>
              <a:off x="2009" y="2215"/>
              <a:ext cx="300" cy="604"/>
            </a:xfrm>
            <a:prstGeom prst="rect">
              <a:avLst/>
            </a:prstGeom>
            <a:noFill/>
            <a:ln w="19050">
              <a:noFill/>
            </a:ln>
          </p:spPr>
          <p:txBody>
            <a:bodyPr wrap="none">
              <a:spAutoFit/>
            </a:bodyPr>
            <a:lstStyle/>
            <a:p>
              <a:pPr algn="ctr"/>
              <a:r>
                <a:rPr lang="en-US" altLang="zh-CN" sz="2000" dirty="0">
                  <a:latin typeface="Times New Roman" panose="02020603050405020304" pitchFamily="18" charset="0"/>
                </a:rPr>
                <a:t>d</a:t>
              </a:r>
            </a:p>
            <a:p>
              <a:pPr algn="ctr"/>
              <a:r>
                <a:rPr lang="en-US" altLang="zh-CN" sz="2000" dirty="0">
                  <a:latin typeface="Times New Roman" panose="02020603050405020304" pitchFamily="18" charset="0"/>
                </a:rPr>
                <a:t>A</a:t>
              </a:r>
            </a:p>
          </p:txBody>
        </p:sp>
        <p:sp>
          <p:nvSpPr>
            <p:cNvPr id="55366" name="Text Box 33"/>
            <p:cNvSpPr txBox="1"/>
            <p:nvPr/>
          </p:nvSpPr>
          <p:spPr>
            <a:xfrm>
              <a:off x="3093" y="2215"/>
              <a:ext cx="289" cy="604"/>
            </a:xfrm>
            <a:prstGeom prst="rect">
              <a:avLst/>
            </a:prstGeom>
            <a:noFill/>
            <a:ln w="19050">
              <a:noFill/>
            </a:ln>
          </p:spPr>
          <p:txBody>
            <a:bodyPr wrap="none">
              <a:spAutoFit/>
            </a:bodyPr>
            <a:lstStyle/>
            <a:p>
              <a:pPr algn="ctr"/>
              <a:r>
                <a:rPr lang="en-US" altLang="zh-CN" sz="2000" dirty="0">
                  <a:latin typeface="Times New Roman" panose="02020603050405020304" pitchFamily="18" charset="0"/>
                </a:rPr>
                <a:t>C</a:t>
              </a:r>
            </a:p>
            <a:p>
              <a:pPr algn="ctr"/>
              <a:r>
                <a:rPr lang="en-US" altLang="zh-CN" sz="2000" dirty="0">
                  <a:latin typeface="Times New Roman" panose="02020603050405020304" pitchFamily="18" charset="0"/>
                </a:rPr>
                <a:t>C</a:t>
              </a:r>
            </a:p>
          </p:txBody>
        </p:sp>
        <p:sp>
          <p:nvSpPr>
            <p:cNvPr id="55367" name="Line 34"/>
            <p:cNvSpPr/>
            <p:nvPr/>
          </p:nvSpPr>
          <p:spPr>
            <a:xfrm>
              <a:off x="3780" y="1128"/>
              <a:ext cx="0" cy="1668"/>
            </a:xfrm>
            <a:prstGeom prst="line">
              <a:avLst/>
            </a:prstGeom>
            <a:ln w="19050" cap="flat" cmpd="sng">
              <a:solidFill>
                <a:schemeClr val="tx1"/>
              </a:solidFill>
              <a:prstDash val="solid"/>
              <a:headEnd type="none" w="med" len="med"/>
              <a:tailEnd type="none" w="sm" len="lg"/>
            </a:ln>
          </p:spPr>
        </p:sp>
        <p:sp>
          <p:nvSpPr>
            <p:cNvPr id="55368" name="Rectangle 35"/>
            <p:cNvSpPr/>
            <p:nvPr/>
          </p:nvSpPr>
          <p:spPr>
            <a:xfrm>
              <a:off x="3973" y="1434"/>
              <a:ext cx="1009" cy="447"/>
            </a:xfrm>
            <a:prstGeom prst="rect">
              <a:avLst/>
            </a:prstGeom>
            <a:noFill/>
            <a:ln w="19050">
              <a:noFill/>
            </a:ln>
          </p:spPr>
          <p:txBody>
            <a:bodyPr wrap="none">
              <a:spAutoFit/>
            </a:bodyPr>
            <a:lstStyle/>
            <a:p>
              <a:r>
                <a:rPr lang="zh-CN" altLang="en-US" sz="2800" dirty="0">
                  <a:latin typeface="Times New Roman" panose="02020603050405020304" pitchFamily="18" charset="0"/>
                </a:rPr>
                <a:t>输    出</a:t>
              </a:r>
            </a:p>
          </p:txBody>
        </p:sp>
        <p:sp>
          <p:nvSpPr>
            <p:cNvPr id="55369" name="Text Box 36"/>
            <p:cNvSpPr txBox="1"/>
            <p:nvPr/>
          </p:nvSpPr>
          <p:spPr>
            <a:xfrm>
              <a:off x="4298" y="2215"/>
              <a:ext cx="254" cy="604"/>
            </a:xfrm>
            <a:prstGeom prst="rect">
              <a:avLst/>
            </a:prstGeom>
            <a:noFill/>
            <a:ln w="19050">
              <a:noFill/>
            </a:ln>
          </p:spPr>
          <p:txBody>
            <a:bodyPr wrap="none">
              <a:spAutoFit/>
            </a:bodyPr>
            <a:lstStyle/>
            <a:p>
              <a:pPr algn="ctr"/>
              <a:r>
                <a:rPr lang="en-US" altLang="zh-CN" sz="2000" dirty="0">
                  <a:latin typeface="Times New Roman" panose="02020603050405020304" pitchFamily="18" charset="0"/>
                </a:rPr>
                <a:t>0</a:t>
              </a:r>
            </a:p>
            <a:p>
              <a:pPr algn="ctr"/>
              <a:r>
                <a:rPr lang="en-US" altLang="zh-CN" sz="2000" dirty="0">
                  <a:latin typeface="Times New Roman" panose="02020603050405020304" pitchFamily="18" charset="0"/>
                </a:rPr>
                <a:t>1</a:t>
              </a:r>
            </a:p>
          </p:txBody>
        </p:sp>
      </p:grpSp>
      <p:sp>
        <p:nvSpPr>
          <p:cNvPr id="192549" name="Text Box 37"/>
          <p:cNvSpPr txBox="1"/>
          <p:nvPr/>
        </p:nvSpPr>
        <p:spPr>
          <a:xfrm>
            <a:off x="3438525" y="4227513"/>
            <a:ext cx="5611813" cy="519112"/>
          </a:xfrm>
          <a:prstGeom prst="rect">
            <a:avLst/>
          </a:prstGeom>
          <a:noFill/>
          <a:ln w="19050">
            <a:noFill/>
          </a:ln>
        </p:spPr>
        <p:txBody>
          <a:bodyPr>
            <a:spAutoFit/>
          </a:bodyPr>
          <a:lstStyle/>
          <a:p>
            <a:pPr algn="just">
              <a:lnSpc>
                <a:spcPct val="140000"/>
              </a:lnSpc>
              <a:spcBef>
                <a:spcPct val="50000"/>
              </a:spcBef>
            </a:pPr>
            <a:r>
              <a:rPr lang="zh-CN" altLang="zh-CN" sz="2000" b="1" dirty="0">
                <a:latin typeface="Times New Roman" panose="02020603050405020304" pitchFamily="18" charset="0"/>
                <a:ea typeface="华文楷体" panose="02010600040101010101" pitchFamily="2" charset="-122"/>
              </a:rPr>
              <a:t>由于该表中只有两个状态，进一步可以得到：</a:t>
            </a:r>
            <a:endParaRPr lang="zh-CN" altLang="en-US" sz="2000" b="1" dirty="0">
              <a:latin typeface="Times New Roman" panose="02020603050405020304" pitchFamily="18" charset="0"/>
              <a:ea typeface="华文楷体" panose="02010600040101010101" pitchFamily="2" charset="-122"/>
            </a:endParaRPr>
          </a:p>
        </p:txBody>
      </p:sp>
      <p:grpSp>
        <p:nvGrpSpPr>
          <p:cNvPr id="4" name="Group 38"/>
          <p:cNvGrpSpPr/>
          <p:nvPr/>
        </p:nvGrpSpPr>
        <p:grpSpPr>
          <a:xfrm>
            <a:off x="-22225" y="2354263"/>
            <a:ext cx="3225800" cy="4381500"/>
            <a:chOff x="-28" y="1189"/>
            <a:chExt cx="2032" cy="2760"/>
          </a:xfrm>
        </p:grpSpPr>
        <p:sp>
          <p:nvSpPr>
            <p:cNvPr id="55338" name="Line 39"/>
            <p:cNvSpPr/>
            <p:nvPr/>
          </p:nvSpPr>
          <p:spPr>
            <a:xfrm>
              <a:off x="37" y="1189"/>
              <a:ext cx="1896" cy="0"/>
            </a:xfrm>
            <a:prstGeom prst="line">
              <a:avLst/>
            </a:prstGeom>
            <a:ln w="38100" cap="flat" cmpd="sng">
              <a:solidFill>
                <a:schemeClr val="tx1"/>
              </a:solidFill>
              <a:prstDash val="solid"/>
              <a:headEnd type="none" w="med" len="med"/>
              <a:tailEnd type="none" w="sm" len="lg"/>
            </a:ln>
          </p:spPr>
        </p:sp>
        <p:sp>
          <p:nvSpPr>
            <p:cNvPr id="55339" name="Line 40"/>
            <p:cNvSpPr/>
            <p:nvPr/>
          </p:nvSpPr>
          <p:spPr>
            <a:xfrm>
              <a:off x="52" y="3937"/>
              <a:ext cx="1896" cy="0"/>
            </a:xfrm>
            <a:prstGeom prst="line">
              <a:avLst/>
            </a:prstGeom>
            <a:ln w="38100" cap="flat" cmpd="sng">
              <a:solidFill>
                <a:schemeClr val="tx1"/>
              </a:solidFill>
              <a:prstDash val="solid"/>
              <a:headEnd type="none" w="med" len="med"/>
              <a:tailEnd type="none" w="sm" len="lg"/>
            </a:ln>
          </p:spPr>
        </p:sp>
        <p:sp>
          <p:nvSpPr>
            <p:cNvPr id="55340" name="Line 41"/>
            <p:cNvSpPr/>
            <p:nvPr/>
          </p:nvSpPr>
          <p:spPr>
            <a:xfrm>
              <a:off x="491" y="1189"/>
              <a:ext cx="0" cy="2760"/>
            </a:xfrm>
            <a:prstGeom prst="line">
              <a:avLst/>
            </a:prstGeom>
            <a:ln w="19050" cap="flat" cmpd="sng">
              <a:solidFill>
                <a:schemeClr val="tx1"/>
              </a:solidFill>
              <a:prstDash val="solid"/>
              <a:headEnd type="none" w="med" len="med"/>
              <a:tailEnd type="none" w="sm" len="lg"/>
            </a:ln>
          </p:spPr>
        </p:sp>
        <p:sp>
          <p:nvSpPr>
            <p:cNvPr id="55341" name="Line 42"/>
            <p:cNvSpPr/>
            <p:nvPr/>
          </p:nvSpPr>
          <p:spPr>
            <a:xfrm>
              <a:off x="936" y="1657"/>
              <a:ext cx="0" cy="2268"/>
            </a:xfrm>
            <a:prstGeom prst="line">
              <a:avLst/>
            </a:prstGeom>
            <a:ln w="19050" cap="flat" cmpd="sng">
              <a:solidFill>
                <a:schemeClr val="tx1"/>
              </a:solidFill>
              <a:prstDash val="solid"/>
              <a:headEnd type="none" w="med" len="med"/>
              <a:tailEnd type="none" w="sm" len="lg"/>
            </a:ln>
          </p:spPr>
        </p:sp>
        <p:sp>
          <p:nvSpPr>
            <p:cNvPr id="55342" name="Line 43"/>
            <p:cNvSpPr/>
            <p:nvPr/>
          </p:nvSpPr>
          <p:spPr>
            <a:xfrm>
              <a:off x="491" y="1657"/>
              <a:ext cx="920" cy="0"/>
            </a:xfrm>
            <a:prstGeom prst="line">
              <a:avLst/>
            </a:prstGeom>
            <a:ln w="12700" cap="flat" cmpd="sng">
              <a:solidFill>
                <a:schemeClr val="tx1"/>
              </a:solidFill>
              <a:prstDash val="solid"/>
              <a:headEnd type="none" w="med" len="med"/>
              <a:tailEnd type="none" w="sm" len="lg"/>
            </a:ln>
          </p:spPr>
        </p:sp>
        <p:sp>
          <p:nvSpPr>
            <p:cNvPr id="55343" name="Line 44"/>
            <p:cNvSpPr/>
            <p:nvPr/>
          </p:nvSpPr>
          <p:spPr>
            <a:xfrm>
              <a:off x="26" y="2113"/>
              <a:ext cx="1896" cy="0"/>
            </a:xfrm>
            <a:prstGeom prst="line">
              <a:avLst/>
            </a:prstGeom>
            <a:ln w="12700" cap="flat" cmpd="sng">
              <a:solidFill>
                <a:schemeClr val="tx1"/>
              </a:solidFill>
              <a:prstDash val="solid"/>
              <a:headEnd type="none" w="med" len="med"/>
              <a:tailEnd type="none" w="sm" len="lg"/>
            </a:ln>
          </p:spPr>
        </p:sp>
        <p:sp>
          <p:nvSpPr>
            <p:cNvPr id="55344" name="Text Box 45"/>
            <p:cNvSpPr txBox="1"/>
            <p:nvPr/>
          </p:nvSpPr>
          <p:spPr>
            <a:xfrm>
              <a:off x="-28" y="1493"/>
              <a:ext cx="564" cy="327"/>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55345" name="Text Box 46"/>
            <p:cNvSpPr txBox="1"/>
            <p:nvPr/>
          </p:nvSpPr>
          <p:spPr>
            <a:xfrm>
              <a:off x="600" y="1265"/>
              <a:ext cx="564"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p>
          </p:txBody>
        </p:sp>
        <p:sp>
          <p:nvSpPr>
            <p:cNvPr id="55346" name="Text Box 47"/>
            <p:cNvSpPr txBox="1"/>
            <p:nvPr/>
          </p:nvSpPr>
          <p:spPr>
            <a:xfrm>
              <a:off x="519" y="1717"/>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55347" name="Text Box 48"/>
            <p:cNvSpPr txBox="1"/>
            <p:nvPr/>
          </p:nvSpPr>
          <p:spPr>
            <a:xfrm>
              <a:off x="969" y="1710"/>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55348" name="Text Box 49"/>
            <p:cNvSpPr txBox="1"/>
            <p:nvPr/>
          </p:nvSpPr>
          <p:spPr>
            <a:xfrm>
              <a:off x="78" y="2203"/>
              <a:ext cx="278" cy="1672"/>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A</a:t>
              </a:r>
            </a:p>
            <a:p>
              <a:pPr algn="ctr"/>
              <a:r>
                <a:rPr lang="en-US" altLang="zh-CN" sz="2800" dirty="0">
                  <a:latin typeface="Times New Roman" panose="02020603050405020304" pitchFamily="18" charset="0"/>
                </a:rPr>
                <a:t>B</a:t>
              </a:r>
            </a:p>
            <a:p>
              <a:pPr algn="ctr"/>
              <a:r>
                <a:rPr lang="en-US" altLang="zh-CN" sz="2800" dirty="0">
                  <a:latin typeface="Times New Roman" panose="02020603050405020304" pitchFamily="18" charset="0"/>
                </a:rPr>
                <a:t>C</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E</a:t>
              </a:r>
            </a:p>
            <a:p>
              <a:pPr algn="ctr"/>
              <a:r>
                <a:rPr lang="en-US" altLang="zh-CN" sz="2800" dirty="0">
                  <a:latin typeface="Times New Roman" panose="02020603050405020304" pitchFamily="18" charset="0"/>
                </a:rPr>
                <a:t>F</a:t>
              </a:r>
              <a:endParaRPr lang="en-US" altLang="zh-CN" sz="2800" baseline="-25000" dirty="0">
                <a:latin typeface="Times New Roman" panose="02020603050405020304" pitchFamily="18" charset="0"/>
              </a:endParaRPr>
            </a:p>
          </p:txBody>
        </p:sp>
        <p:sp>
          <p:nvSpPr>
            <p:cNvPr id="55349" name="Text Box 50"/>
            <p:cNvSpPr txBox="1"/>
            <p:nvPr/>
          </p:nvSpPr>
          <p:spPr>
            <a:xfrm>
              <a:off x="573" y="2203"/>
              <a:ext cx="278" cy="1672"/>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B</a:t>
              </a:r>
            </a:p>
            <a:p>
              <a:pPr algn="ctr"/>
              <a:r>
                <a:rPr lang="en-US" altLang="zh-CN" sz="2800" dirty="0">
                  <a:latin typeface="Times New Roman" panose="02020603050405020304" pitchFamily="18" charset="0"/>
                </a:rPr>
                <a:t>B</a:t>
              </a:r>
            </a:p>
            <a:p>
              <a:pPr algn="ctr"/>
              <a:r>
                <a:rPr lang="en-US" altLang="zh-CN" sz="2800" dirty="0">
                  <a:latin typeface="Times New Roman" panose="02020603050405020304" pitchFamily="18" charset="0"/>
                </a:rPr>
                <a:t>A</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F</a:t>
              </a:r>
            </a:p>
            <a:p>
              <a:pPr algn="ctr"/>
              <a:r>
                <a:rPr lang="en-US" altLang="zh-CN" sz="2800" dirty="0">
                  <a:latin typeface="Times New Roman" panose="02020603050405020304" pitchFamily="18" charset="0"/>
                </a:rPr>
                <a:t>d</a:t>
              </a:r>
            </a:p>
          </p:txBody>
        </p:sp>
        <p:sp>
          <p:nvSpPr>
            <p:cNvPr id="55350" name="Text Box 51"/>
            <p:cNvSpPr txBox="1"/>
            <p:nvPr/>
          </p:nvSpPr>
          <p:spPr>
            <a:xfrm>
              <a:off x="1039" y="2203"/>
              <a:ext cx="278" cy="1672"/>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E</a:t>
              </a:r>
            </a:p>
            <a:p>
              <a:pPr algn="ctr"/>
              <a:r>
                <a:rPr lang="en-US" altLang="zh-CN" sz="2800" dirty="0">
                  <a:latin typeface="Times New Roman" panose="02020603050405020304" pitchFamily="18" charset="0"/>
                </a:rPr>
                <a:t>E</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C</a:t>
              </a:r>
            </a:p>
          </p:txBody>
        </p:sp>
        <p:sp>
          <p:nvSpPr>
            <p:cNvPr id="55351" name="Line 52"/>
            <p:cNvSpPr/>
            <p:nvPr/>
          </p:nvSpPr>
          <p:spPr>
            <a:xfrm>
              <a:off x="1411" y="1201"/>
              <a:ext cx="0" cy="2736"/>
            </a:xfrm>
            <a:prstGeom prst="line">
              <a:avLst/>
            </a:prstGeom>
            <a:ln w="19050" cap="flat" cmpd="sng">
              <a:solidFill>
                <a:schemeClr val="tx1"/>
              </a:solidFill>
              <a:prstDash val="solid"/>
              <a:headEnd type="none" w="med" len="med"/>
              <a:tailEnd type="none" w="sm" len="lg"/>
            </a:ln>
          </p:spPr>
        </p:sp>
        <p:sp>
          <p:nvSpPr>
            <p:cNvPr id="55352" name="Rectangle 53"/>
            <p:cNvSpPr/>
            <p:nvPr/>
          </p:nvSpPr>
          <p:spPr>
            <a:xfrm>
              <a:off x="1440" y="1461"/>
              <a:ext cx="564" cy="327"/>
            </a:xfrm>
            <a:prstGeom prst="rect">
              <a:avLst/>
            </a:prstGeom>
            <a:noFill/>
            <a:ln w="19050">
              <a:noFill/>
            </a:ln>
          </p:spPr>
          <p:txBody>
            <a:bodyPr wrap="none">
              <a:spAutoFit/>
            </a:bodyPr>
            <a:lstStyle/>
            <a:p>
              <a:r>
                <a:rPr lang="zh-CN" altLang="en-US" sz="2800" dirty="0">
                  <a:latin typeface="Times New Roman" panose="02020603050405020304" pitchFamily="18" charset="0"/>
                </a:rPr>
                <a:t>输出</a:t>
              </a:r>
            </a:p>
          </p:txBody>
        </p:sp>
        <p:sp>
          <p:nvSpPr>
            <p:cNvPr id="55353" name="Text Box 54"/>
            <p:cNvSpPr txBox="1"/>
            <p:nvPr/>
          </p:nvSpPr>
          <p:spPr>
            <a:xfrm>
              <a:off x="1575" y="2203"/>
              <a:ext cx="228" cy="1672"/>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0</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1</a:t>
              </a:r>
            </a:p>
            <a:p>
              <a:pPr algn="ctr"/>
              <a:r>
                <a:rPr lang="en-US" altLang="zh-CN" sz="2800" dirty="0">
                  <a:latin typeface="Times New Roman" panose="02020603050405020304" pitchFamily="18" charset="0"/>
                </a:rPr>
                <a:t>1</a:t>
              </a:r>
            </a:p>
            <a:p>
              <a:pPr algn="ctr"/>
              <a:r>
                <a:rPr lang="en-US" altLang="zh-CN" sz="2800" dirty="0">
                  <a:latin typeface="Times New Roman" panose="02020603050405020304" pitchFamily="18" charset="0"/>
                </a:rPr>
                <a:t>1</a:t>
              </a:r>
            </a:p>
            <a:p>
              <a:pPr algn="ctr"/>
              <a:r>
                <a:rPr lang="en-US" altLang="zh-CN" sz="2800" dirty="0">
                  <a:latin typeface="Times New Roman" panose="02020603050405020304" pitchFamily="18" charset="0"/>
                </a:rPr>
                <a:t>d</a:t>
              </a:r>
            </a:p>
          </p:txBody>
        </p:sp>
      </p:grpSp>
      <p:grpSp>
        <p:nvGrpSpPr>
          <p:cNvPr id="5" name="Group 91"/>
          <p:cNvGrpSpPr/>
          <p:nvPr/>
        </p:nvGrpSpPr>
        <p:grpSpPr>
          <a:xfrm>
            <a:off x="3159125" y="447675"/>
            <a:ext cx="6080125" cy="2006600"/>
            <a:chOff x="1990" y="282"/>
            <a:chExt cx="3830" cy="1264"/>
          </a:xfrm>
        </p:grpSpPr>
        <p:sp>
          <p:nvSpPr>
            <p:cNvPr id="55304" name="Text Box 56"/>
            <p:cNvSpPr txBox="1"/>
            <p:nvPr/>
          </p:nvSpPr>
          <p:spPr>
            <a:xfrm>
              <a:off x="5221" y="1158"/>
              <a:ext cx="599" cy="250"/>
            </a:xfrm>
            <a:prstGeom prst="rect">
              <a:avLst/>
            </a:prstGeom>
            <a:noFill/>
            <a:ln w="19050">
              <a:noFill/>
            </a:ln>
          </p:spPr>
          <p:txBody>
            <a:bodyPr>
              <a:spAutoFit/>
            </a:bodyPr>
            <a:lstStyle/>
            <a:p>
              <a:r>
                <a:rPr lang="en-US" altLang="zh-CN" sz="2000" dirty="0">
                  <a:latin typeface="Times New Roman" panose="02020603050405020304" pitchFamily="18" charset="0"/>
                </a:rPr>
                <a:t>CDE</a:t>
              </a:r>
            </a:p>
          </p:txBody>
        </p:sp>
        <p:sp>
          <p:nvSpPr>
            <p:cNvPr id="55305" name="Line 58"/>
            <p:cNvSpPr/>
            <p:nvPr/>
          </p:nvSpPr>
          <p:spPr>
            <a:xfrm>
              <a:off x="1990" y="293"/>
              <a:ext cx="3618" cy="0"/>
            </a:xfrm>
            <a:prstGeom prst="line">
              <a:avLst/>
            </a:prstGeom>
            <a:ln w="38100" cap="flat" cmpd="sng">
              <a:solidFill>
                <a:schemeClr val="tx1"/>
              </a:solidFill>
              <a:prstDash val="solid"/>
              <a:headEnd type="none" w="med" len="med"/>
              <a:tailEnd type="none" w="sm" len="lg"/>
            </a:ln>
          </p:spPr>
        </p:sp>
        <p:sp>
          <p:nvSpPr>
            <p:cNvPr id="55306" name="Line 59"/>
            <p:cNvSpPr/>
            <p:nvPr/>
          </p:nvSpPr>
          <p:spPr>
            <a:xfrm>
              <a:off x="1990" y="1462"/>
              <a:ext cx="3618" cy="0"/>
            </a:xfrm>
            <a:prstGeom prst="line">
              <a:avLst/>
            </a:prstGeom>
            <a:ln w="38100" cap="flat" cmpd="sng">
              <a:solidFill>
                <a:schemeClr val="tx1"/>
              </a:solidFill>
              <a:prstDash val="solid"/>
              <a:headEnd type="none" w="med" len="med"/>
              <a:tailEnd type="none" w="sm" len="lg"/>
            </a:ln>
          </p:spPr>
        </p:sp>
        <p:sp>
          <p:nvSpPr>
            <p:cNvPr id="55307" name="Line 60"/>
            <p:cNvSpPr/>
            <p:nvPr/>
          </p:nvSpPr>
          <p:spPr>
            <a:xfrm>
              <a:off x="2973" y="553"/>
              <a:ext cx="2635" cy="0"/>
            </a:xfrm>
            <a:prstGeom prst="line">
              <a:avLst/>
            </a:prstGeom>
            <a:ln w="28575" cap="flat" cmpd="sng">
              <a:solidFill>
                <a:schemeClr val="tx1"/>
              </a:solidFill>
              <a:prstDash val="solid"/>
              <a:headEnd type="none" w="med" len="med"/>
              <a:tailEnd type="none" w="sm" len="lg"/>
            </a:ln>
          </p:spPr>
        </p:sp>
        <p:sp>
          <p:nvSpPr>
            <p:cNvPr id="55308" name="Line 61"/>
            <p:cNvSpPr/>
            <p:nvPr/>
          </p:nvSpPr>
          <p:spPr>
            <a:xfrm>
              <a:off x="1990" y="790"/>
              <a:ext cx="3618" cy="0"/>
            </a:xfrm>
            <a:prstGeom prst="line">
              <a:avLst/>
            </a:prstGeom>
            <a:ln w="19050" cap="flat" cmpd="sng">
              <a:solidFill>
                <a:schemeClr val="tx1"/>
              </a:solidFill>
              <a:prstDash val="solid"/>
              <a:headEnd type="none" w="med" len="med"/>
              <a:tailEnd type="none" w="sm" len="lg"/>
            </a:ln>
          </p:spPr>
        </p:sp>
        <p:sp>
          <p:nvSpPr>
            <p:cNvPr id="55309" name="Line 62"/>
            <p:cNvSpPr/>
            <p:nvPr/>
          </p:nvSpPr>
          <p:spPr>
            <a:xfrm>
              <a:off x="2973" y="301"/>
              <a:ext cx="0" cy="1168"/>
            </a:xfrm>
            <a:prstGeom prst="line">
              <a:avLst/>
            </a:prstGeom>
            <a:ln w="19050" cap="flat" cmpd="sng">
              <a:solidFill>
                <a:schemeClr val="tx1"/>
              </a:solidFill>
              <a:prstDash val="solid"/>
              <a:headEnd type="none" w="med" len="med"/>
              <a:tailEnd type="none" w="sm" len="lg"/>
            </a:ln>
          </p:spPr>
        </p:sp>
        <p:sp>
          <p:nvSpPr>
            <p:cNvPr id="55310" name="Line 63"/>
            <p:cNvSpPr/>
            <p:nvPr/>
          </p:nvSpPr>
          <p:spPr>
            <a:xfrm>
              <a:off x="3268" y="553"/>
              <a:ext cx="0" cy="916"/>
            </a:xfrm>
            <a:prstGeom prst="line">
              <a:avLst/>
            </a:prstGeom>
            <a:ln w="19050" cap="flat" cmpd="sng">
              <a:solidFill>
                <a:schemeClr val="tx1"/>
              </a:solidFill>
              <a:prstDash val="solid"/>
              <a:headEnd type="none" w="med" len="med"/>
              <a:tailEnd type="none" w="sm" len="lg"/>
            </a:ln>
          </p:spPr>
        </p:sp>
        <p:sp>
          <p:nvSpPr>
            <p:cNvPr id="55311" name="Line 64"/>
            <p:cNvSpPr/>
            <p:nvPr/>
          </p:nvSpPr>
          <p:spPr>
            <a:xfrm>
              <a:off x="3538" y="560"/>
              <a:ext cx="0" cy="909"/>
            </a:xfrm>
            <a:prstGeom prst="line">
              <a:avLst/>
            </a:prstGeom>
            <a:ln w="19050" cap="flat" cmpd="sng">
              <a:solidFill>
                <a:schemeClr val="tx1"/>
              </a:solidFill>
              <a:prstDash val="solid"/>
              <a:headEnd type="none" w="med" len="med"/>
              <a:tailEnd type="none" w="sm" len="lg"/>
            </a:ln>
          </p:spPr>
        </p:sp>
        <p:sp>
          <p:nvSpPr>
            <p:cNvPr id="55312" name="Line 65"/>
            <p:cNvSpPr/>
            <p:nvPr/>
          </p:nvSpPr>
          <p:spPr>
            <a:xfrm>
              <a:off x="3842" y="560"/>
              <a:ext cx="0" cy="909"/>
            </a:xfrm>
            <a:prstGeom prst="line">
              <a:avLst/>
            </a:prstGeom>
            <a:ln w="19050" cap="flat" cmpd="sng">
              <a:solidFill>
                <a:schemeClr val="tx1"/>
              </a:solidFill>
              <a:prstDash val="solid"/>
              <a:headEnd type="none" w="med" len="med"/>
              <a:tailEnd type="none" w="sm" len="lg"/>
            </a:ln>
          </p:spPr>
        </p:sp>
        <p:sp>
          <p:nvSpPr>
            <p:cNvPr id="55313" name="Line 66"/>
            <p:cNvSpPr/>
            <p:nvPr/>
          </p:nvSpPr>
          <p:spPr>
            <a:xfrm>
              <a:off x="4138" y="553"/>
              <a:ext cx="0" cy="916"/>
            </a:xfrm>
            <a:prstGeom prst="line">
              <a:avLst/>
            </a:prstGeom>
            <a:ln w="19050" cap="flat" cmpd="sng">
              <a:solidFill>
                <a:schemeClr val="tx1"/>
              </a:solidFill>
              <a:prstDash val="solid"/>
              <a:headEnd type="none" w="med" len="med"/>
              <a:tailEnd type="none" w="sm" len="lg"/>
            </a:ln>
          </p:spPr>
        </p:sp>
        <p:sp>
          <p:nvSpPr>
            <p:cNvPr id="55314" name="Line 67"/>
            <p:cNvSpPr/>
            <p:nvPr/>
          </p:nvSpPr>
          <p:spPr>
            <a:xfrm>
              <a:off x="4434" y="553"/>
              <a:ext cx="0" cy="909"/>
            </a:xfrm>
            <a:prstGeom prst="line">
              <a:avLst/>
            </a:prstGeom>
            <a:ln w="19050" cap="flat" cmpd="sng">
              <a:solidFill>
                <a:schemeClr val="tx1"/>
              </a:solidFill>
              <a:prstDash val="solid"/>
              <a:headEnd type="none" w="med" len="med"/>
              <a:tailEnd type="none" w="sm" len="lg"/>
            </a:ln>
          </p:spPr>
        </p:sp>
        <p:sp>
          <p:nvSpPr>
            <p:cNvPr id="55315" name="Line 68"/>
            <p:cNvSpPr/>
            <p:nvPr/>
          </p:nvSpPr>
          <p:spPr>
            <a:xfrm>
              <a:off x="4712" y="293"/>
              <a:ext cx="0" cy="1169"/>
            </a:xfrm>
            <a:prstGeom prst="line">
              <a:avLst/>
            </a:prstGeom>
            <a:ln w="19050" cap="flat" cmpd="sng">
              <a:solidFill>
                <a:schemeClr val="tx1"/>
              </a:solidFill>
              <a:prstDash val="solid"/>
              <a:headEnd type="none" w="med" len="med"/>
              <a:tailEnd type="none" w="sm" len="lg"/>
            </a:ln>
          </p:spPr>
        </p:sp>
        <p:sp>
          <p:nvSpPr>
            <p:cNvPr id="55316" name="Line 69"/>
            <p:cNvSpPr/>
            <p:nvPr/>
          </p:nvSpPr>
          <p:spPr>
            <a:xfrm>
              <a:off x="5182" y="560"/>
              <a:ext cx="0" cy="909"/>
            </a:xfrm>
            <a:prstGeom prst="line">
              <a:avLst/>
            </a:prstGeom>
            <a:ln w="19050" cap="flat" cmpd="sng">
              <a:solidFill>
                <a:schemeClr val="tx1"/>
              </a:solidFill>
              <a:prstDash val="solid"/>
              <a:headEnd type="none" w="med" len="med"/>
              <a:tailEnd type="none" w="sm" len="lg"/>
            </a:ln>
          </p:spPr>
        </p:sp>
        <p:sp>
          <p:nvSpPr>
            <p:cNvPr id="55317" name="Text Box 70"/>
            <p:cNvSpPr txBox="1"/>
            <p:nvPr/>
          </p:nvSpPr>
          <p:spPr>
            <a:xfrm>
              <a:off x="2326" y="340"/>
              <a:ext cx="596" cy="442"/>
            </a:xfrm>
            <a:prstGeom prst="rect">
              <a:avLst/>
            </a:prstGeom>
            <a:noFill/>
            <a:ln w="19050">
              <a:noFill/>
            </a:ln>
          </p:spPr>
          <p:txBody>
            <a:bodyPr wrap="none">
              <a:spAutoFit/>
            </a:bodyPr>
            <a:lstStyle/>
            <a:p>
              <a:r>
                <a:rPr lang="zh-CN" altLang="en-US" sz="2000" dirty="0">
                  <a:latin typeface="Times New Roman" panose="02020603050405020304" pitchFamily="18" charset="0"/>
                </a:rPr>
                <a:t>最大相</a:t>
              </a:r>
            </a:p>
            <a:p>
              <a:r>
                <a:rPr lang="zh-CN" altLang="en-US" sz="2000" dirty="0">
                  <a:latin typeface="Times New Roman" panose="02020603050405020304" pitchFamily="18" charset="0"/>
                </a:rPr>
                <a:t>  容类</a:t>
              </a:r>
            </a:p>
          </p:txBody>
        </p:sp>
        <p:sp>
          <p:nvSpPr>
            <p:cNvPr id="55318" name="Text Box 71"/>
            <p:cNvSpPr txBox="1"/>
            <p:nvPr/>
          </p:nvSpPr>
          <p:spPr>
            <a:xfrm>
              <a:off x="2284" y="851"/>
              <a:ext cx="633" cy="557"/>
            </a:xfrm>
            <a:prstGeom prst="rect">
              <a:avLst/>
            </a:prstGeom>
            <a:noFill/>
            <a:ln w="19050">
              <a:noFill/>
            </a:ln>
          </p:spPr>
          <p:txBody>
            <a:bodyPr wrap="none">
              <a:spAutoFit/>
            </a:bodyPr>
            <a:lstStyle/>
            <a:p>
              <a:pPr algn="ctr"/>
              <a:r>
                <a:rPr lang="en-US" altLang="zh-CN" sz="2000" dirty="0">
                  <a:latin typeface="Times New Roman" panose="02020603050405020304" pitchFamily="18" charset="0"/>
                </a:rPr>
                <a:t>ABF</a:t>
              </a:r>
            </a:p>
            <a:p>
              <a:pPr algn="ctr"/>
              <a:endParaRPr lang="en-US" altLang="zh-CN" sz="2000" dirty="0">
                <a:latin typeface="Times New Roman" panose="02020603050405020304" pitchFamily="18" charset="0"/>
              </a:endParaRPr>
            </a:p>
            <a:p>
              <a:pPr algn="ctr">
                <a:lnSpc>
                  <a:spcPct val="60000"/>
                </a:lnSpc>
              </a:pPr>
              <a:r>
                <a:rPr lang="en-US" altLang="zh-CN" sz="2000" dirty="0">
                  <a:latin typeface="Times New Roman" panose="02020603050405020304" pitchFamily="18" charset="0"/>
                </a:rPr>
                <a:t>BCDEF</a:t>
              </a:r>
            </a:p>
          </p:txBody>
        </p:sp>
        <p:sp>
          <p:nvSpPr>
            <p:cNvPr id="55319" name="Text Box 72"/>
            <p:cNvSpPr txBox="1"/>
            <p:nvPr/>
          </p:nvSpPr>
          <p:spPr>
            <a:xfrm>
              <a:off x="3035" y="556"/>
              <a:ext cx="202" cy="250"/>
            </a:xfrm>
            <a:prstGeom prst="rect">
              <a:avLst/>
            </a:prstGeom>
            <a:noFill/>
            <a:ln w="19050">
              <a:noFill/>
            </a:ln>
          </p:spPr>
          <p:txBody>
            <a:bodyPr>
              <a:spAutoFit/>
            </a:bodyPr>
            <a:lstStyle/>
            <a:p>
              <a:r>
                <a:rPr lang="en-US" altLang="zh-CN" sz="2000" dirty="0">
                  <a:latin typeface="Times New Roman" panose="02020603050405020304" pitchFamily="18" charset="0"/>
                </a:rPr>
                <a:t>A</a:t>
              </a:r>
            </a:p>
          </p:txBody>
        </p:sp>
        <p:sp>
          <p:nvSpPr>
            <p:cNvPr id="55320" name="Text Box 73"/>
            <p:cNvSpPr txBox="1"/>
            <p:nvPr/>
          </p:nvSpPr>
          <p:spPr>
            <a:xfrm>
              <a:off x="3322" y="556"/>
              <a:ext cx="202" cy="250"/>
            </a:xfrm>
            <a:prstGeom prst="rect">
              <a:avLst/>
            </a:prstGeom>
            <a:noFill/>
            <a:ln w="19050">
              <a:noFill/>
            </a:ln>
          </p:spPr>
          <p:txBody>
            <a:bodyPr>
              <a:spAutoFit/>
            </a:bodyPr>
            <a:lstStyle/>
            <a:p>
              <a:r>
                <a:rPr lang="en-US" altLang="zh-CN" sz="2000" dirty="0">
                  <a:latin typeface="Times New Roman" panose="02020603050405020304" pitchFamily="18" charset="0"/>
                </a:rPr>
                <a:t>B</a:t>
              </a:r>
            </a:p>
          </p:txBody>
        </p:sp>
        <p:sp>
          <p:nvSpPr>
            <p:cNvPr id="55321" name="Text Box 74"/>
            <p:cNvSpPr txBox="1"/>
            <p:nvPr/>
          </p:nvSpPr>
          <p:spPr>
            <a:xfrm>
              <a:off x="3574" y="556"/>
              <a:ext cx="202" cy="250"/>
            </a:xfrm>
            <a:prstGeom prst="rect">
              <a:avLst/>
            </a:prstGeom>
            <a:noFill/>
            <a:ln w="19050">
              <a:noFill/>
            </a:ln>
          </p:spPr>
          <p:txBody>
            <a:bodyPr>
              <a:spAutoFit/>
            </a:bodyPr>
            <a:lstStyle/>
            <a:p>
              <a:r>
                <a:rPr lang="en-US" altLang="zh-CN" sz="2000" dirty="0">
                  <a:latin typeface="Times New Roman" panose="02020603050405020304" pitchFamily="18" charset="0"/>
                </a:rPr>
                <a:t>C</a:t>
              </a:r>
            </a:p>
          </p:txBody>
        </p:sp>
        <p:sp>
          <p:nvSpPr>
            <p:cNvPr id="55322" name="Text Box 75"/>
            <p:cNvSpPr txBox="1"/>
            <p:nvPr/>
          </p:nvSpPr>
          <p:spPr>
            <a:xfrm>
              <a:off x="3879" y="556"/>
              <a:ext cx="201" cy="250"/>
            </a:xfrm>
            <a:prstGeom prst="rect">
              <a:avLst/>
            </a:prstGeom>
            <a:noFill/>
            <a:ln w="19050">
              <a:noFill/>
            </a:ln>
          </p:spPr>
          <p:txBody>
            <a:bodyPr>
              <a:spAutoFit/>
            </a:bodyPr>
            <a:lstStyle/>
            <a:p>
              <a:r>
                <a:rPr lang="en-US" altLang="zh-CN" sz="2000" dirty="0">
                  <a:latin typeface="Times New Roman" panose="02020603050405020304" pitchFamily="18" charset="0"/>
                </a:rPr>
                <a:t>D</a:t>
              </a:r>
            </a:p>
          </p:txBody>
        </p:sp>
        <p:sp>
          <p:nvSpPr>
            <p:cNvPr id="55323" name="Text Box 76"/>
            <p:cNvSpPr txBox="1"/>
            <p:nvPr/>
          </p:nvSpPr>
          <p:spPr>
            <a:xfrm>
              <a:off x="4166" y="556"/>
              <a:ext cx="201" cy="250"/>
            </a:xfrm>
            <a:prstGeom prst="rect">
              <a:avLst/>
            </a:prstGeom>
            <a:noFill/>
            <a:ln w="19050">
              <a:noFill/>
            </a:ln>
          </p:spPr>
          <p:txBody>
            <a:bodyPr>
              <a:spAutoFit/>
            </a:bodyPr>
            <a:lstStyle/>
            <a:p>
              <a:r>
                <a:rPr lang="en-US" altLang="zh-CN" sz="2000" dirty="0">
                  <a:latin typeface="Times New Roman" panose="02020603050405020304" pitchFamily="18" charset="0"/>
                </a:rPr>
                <a:t>E</a:t>
              </a:r>
            </a:p>
          </p:txBody>
        </p:sp>
        <p:sp>
          <p:nvSpPr>
            <p:cNvPr id="55324" name="Text Box 77"/>
            <p:cNvSpPr txBox="1"/>
            <p:nvPr/>
          </p:nvSpPr>
          <p:spPr>
            <a:xfrm>
              <a:off x="4513" y="556"/>
              <a:ext cx="202" cy="250"/>
            </a:xfrm>
            <a:prstGeom prst="rect">
              <a:avLst/>
            </a:prstGeom>
            <a:noFill/>
            <a:ln w="19050">
              <a:noFill/>
            </a:ln>
          </p:spPr>
          <p:txBody>
            <a:bodyPr>
              <a:spAutoFit/>
            </a:bodyPr>
            <a:lstStyle/>
            <a:p>
              <a:r>
                <a:rPr lang="en-US" altLang="zh-CN" sz="2000" dirty="0">
                  <a:latin typeface="Times New Roman" panose="02020603050405020304" pitchFamily="18" charset="0"/>
                </a:rPr>
                <a:t>F</a:t>
              </a:r>
            </a:p>
          </p:txBody>
        </p:sp>
        <p:sp>
          <p:nvSpPr>
            <p:cNvPr id="55325" name="Text Box 78"/>
            <p:cNvSpPr txBox="1"/>
            <p:nvPr/>
          </p:nvSpPr>
          <p:spPr>
            <a:xfrm>
              <a:off x="3018" y="710"/>
              <a:ext cx="340" cy="327"/>
            </a:xfrm>
            <a:prstGeom prst="rect">
              <a:avLst/>
            </a:prstGeom>
            <a:noFill/>
            <a:ln w="19050">
              <a:noFill/>
            </a:ln>
          </p:spPr>
          <p:txBody>
            <a:bodyPr wrap="none">
              <a:spAutoFit/>
            </a:bodyPr>
            <a:lstStyle/>
            <a:p>
              <a:r>
                <a:rPr lang="en-US" altLang="zh-CN" sz="2800" dirty="0">
                  <a:latin typeface="Times New Roman" panose="02020603050405020304" pitchFamily="18" charset="0"/>
                  <a:sym typeface="Monotype Sorts" pitchFamily="2" charset="2"/>
                </a:rPr>
                <a:t>√</a:t>
              </a:r>
            </a:p>
          </p:txBody>
        </p:sp>
        <p:sp>
          <p:nvSpPr>
            <p:cNvPr id="55326" name="Text Box 79"/>
            <p:cNvSpPr txBox="1"/>
            <p:nvPr/>
          </p:nvSpPr>
          <p:spPr>
            <a:xfrm>
              <a:off x="3265" y="781"/>
              <a:ext cx="202" cy="730"/>
            </a:xfrm>
            <a:prstGeom prst="rect">
              <a:avLst/>
            </a:prstGeom>
            <a:noFill/>
            <a:ln w="19050">
              <a:noFill/>
            </a:ln>
          </p:spPr>
          <p:txBody>
            <a:bodyPr>
              <a:spAutoFit/>
            </a:bodyPr>
            <a:lstStyle/>
            <a:p>
              <a:pPr>
                <a:lnSpc>
                  <a:spcPct val="8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endParaRPr>
            </a:p>
            <a:p>
              <a:pPr>
                <a:lnSpc>
                  <a:spcPct val="170000"/>
                </a:lnSpc>
              </a:pPr>
              <a:r>
                <a:rPr lang="en-US" altLang="zh-CN" sz="2800" dirty="0">
                  <a:latin typeface="Times New Roman" panose="02020603050405020304" pitchFamily="18" charset="0"/>
                  <a:sym typeface="Monotype Sorts" pitchFamily="2" charset="2"/>
                </a:rPr>
                <a:t>√</a:t>
              </a:r>
            </a:p>
          </p:txBody>
        </p:sp>
        <p:sp>
          <p:nvSpPr>
            <p:cNvPr id="55327" name="Text Box 80"/>
            <p:cNvSpPr txBox="1"/>
            <p:nvPr/>
          </p:nvSpPr>
          <p:spPr>
            <a:xfrm>
              <a:off x="3583" y="1170"/>
              <a:ext cx="201" cy="327"/>
            </a:xfrm>
            <a:prstGeom prst="rect">
              <a:avLst/>
            </a:prstGeom>
            <a:noFill/>
            <a:ln w="19050">
              <a:noFill/>
            </a:ln>
          </p:spPr>
          <p:txBody>
            <a:bodyPr>
              <a:spAutoFit/>
            </a:bodyPr>
            <a:lstStyle/>
            <a:p>
              <a:r>
                <a:rPr lang="en-US" altLang="zh-CN" sz="2800" dirty="0">
                  <a:latin typeface="Times New Roman" panose="02020603050405020304" pitchFamily="18" charset="0"/>
                  <a:sym typeface="Monotype Sorts" pitchFamily="2" charset="2"/>
                </a:rPr>
                <a:t>√</a:t>
              </a:r>
            </a:p>
          </p:txBody>
        </p:sp>
        <p:sp>
          <p:nvSpPr>
            <p:cNvPr id="55328" name="Text Box 81"/>
            <p:cNvSpPr txBox="1"/>
            <p:nvPr/>
          </p:nvSpPr>
          <p:spPr>
            <a:xfrm>
              <a:off x="3887" y="1170"/>
              <a:ext cx="202" cy="327"/>
            </a:xfrm>
            <a:prstGeom prst="rect">
              <a:avLst/>
            </a:prstGeom>
            <a:noFill/>
            <a:ln w="19050">
              <a:noFill/>
            </a:ln>
          </p:spPr>
          <p:txBody>
            <a:bodyPr>
              <a:spAutoFit/>
            </a:bodyPr>
            <a:lstStyle/>
            <a:p>
              <a:r>
                <a:rPr lang="en-US" altLang="zh-CN" sz="2800" dirty="0">
                  <a:latin typeface="Times New Roman" panose="02020603050405020304" pitchFamily="18" charset="0"/>
                  <a:sym typeface="Monotype Sorts" pitchFamily="2" charset="2"/>
                </a:rPr>
                <a:t>√</a:t>
              </a:r>
            </a:p>
          </p:txBody>
        </p:sp>
        <p:sp>
          <p:nvSpPr>
            <p:cNvPr id="55329" name="Text Box 82"/>
            <p:cNvSpPr txBox="1"/>
            <p:nvPr/>
          </p:nvSpPr>
          <p:spPr>
            <a:xfrm>
              <a:off x="4174" y="1170"/>
              <a:ext cx="202" cy="327"/>
            </a:xfrm>
            <a:prstGeom prst="rect">
              <a:avLst/>
            </a:prstGeom>
            <a:noFill/>
            <a:ln w="19050">
              <a:noFill/>
            </a:ln>
          </p:spPr>
          <p:txBody>
            <a:bodyPr>
              <a:spAutoFit/>
            </a:bodyPr>
            <a:lstStyle/>
            <a:p>
              <a:r>
                <a:rPr lang="en-US" altLang="zh-CN" sz="2800" dirty="0">
                  <a:latin typeface="Times New Roman" panose="02020603050405020304" pitchFamily="18" charset="0"/>
                  <a:sym typeface="Monotype Sorts" pitchFamily="2" charset="2"/>
                </a:rPr>
                <a:t>√</a:t>
              </a:r>
            </a:p>
          </p:txBody>
        </p:sp>
        <p:sp>
          <p:nvSpPr>
            <p:cNvPr id="55330" name="Text Box 83"/>
            <p:cNvSpPr txBox="1"/>
            <p:nvPr/>
          </p:nvSpPr>
          <p:spPr>
            <a:xfrm>
              <a:off x="4424" y="681"/>
              <a:ext cx="202" cy="865"/>
            </a:xfrm>
            <a:prstGeom prst="rect">
              <a:avLst/>
            </a:prstGeom>
            <a:noFill/>
            <a:ln w="19050">
              <a:noFill/>
            </a:ln>
          </p:spPr>
          <p:txBody>
            <a:bodyPr>
              <a:spAutoFit/>
            </a:bodyPr>
            <a:lstStyle/>
            <a:p>
              <a:pPr>
                <a:lnSpc>
                  <a:spcPct val="110000"/>
                </a:lnSpc>
              </a:pPr>
              <a:r>
                <a:rPr lang="en-US" altLang="zh-CN" sz="2800" dirty="0">
                  <a:latin typeface="Times New Roman" panose="02020603050405020304" pitchFamily="18" charset="0"/>
                  <a:sym typeface="Monotype Sorts" pitchFamily="2" charset="2"/>
                </a:rPr>
                <a:t>√</a:t>
              </a:r>
              <a:endParaRPr lang="en-US" altLang="zh-CN" sz="2800" dirty="0">
                <a:latin typeface="Times New Roman" panose="02020603050405020304" pitchFamily="18" charset="0"/>
              </a:endParaRPr>
            </a:p>
            <a:p>
              <a:pPr>
                <a:lnSpc>
                  <a:spcPct val="190000"/>
                </a:lnSpc>
              </a:pPr>
              <a:r>
                <a:rPr lang="en-US" altLang="zh-CN" sz="2800" dirty="0">
                  <a:latin typeface="Times New Roman" panose="02020603050405020304" pitchFamily="18" charset="0"/>
                  <a:sym typeface="Monotype Sorts" pitchFamily="2" charset="2"/>
                </a:rPr>
                <a:t>√</a:t>
              </a:r>
            </a:p>
          </p:txBody>
        </p:sp>
        <p:sp>
          <p:nvSpPr>
            <p:cNvPr id="55331" name="Text Box 84"/>
            <p:cNvSpPr txBox="1"/>
            <p:nvPr/>
          </p:nvSpPr>
          <p:spPr>
            <a:xfrm>
              <a:off x="3487" y="282"/>
              <a:ext cx="852" cy="250"/>
            </a:xfrm>
            <a:prstGeom prst="rect">
              <a:avLst/>
            </a:prstGeom>
            <a:noFill/>
            <a:ln w="19050">
              <a:noFill/>
            </a:ln>
          </p:spPr>
          <p:txBody>
            <a:bodyPr wrap="none">
              <a:spAutoFit/>
            </a:bodyPr>
            <a:lstStyle/>
            <a:p>
              <a:r>
                <a:rPr lang="zh-CN" altLang="en-US" sz="2000" dirty="0">
                  <a:latin typeface="Times New Roman" panose="02020603050405020304" pitchFamily="18" charset="0"/>
                </a:rPr>
                <a:t>覆	盖</a:t>
              </a:r>
            </a:p>
          </p:txBody>
        </p:sp>
        <p:sp>
          <p:nvSpPr>
            <p:cNvPr id="55332" name="Text Box 85"/>
            <p:cNvSpPr txBox="1"/>
            <p:nvPr/>
          </p:nvSpPr>
          <p:spPr>
            <a:xfrm>
              <a:off x="4716" y="294"/>
              <a:ext cx="849" cy="250"/>
            </a:xfrm>
            <a:prstGeom prst="rect">
              <a:avLst/>
            </a:prstGeom>
            <a:noFill/>
            <a:ln w="19050">
              <a:noFill/>
            </a:ln>
          </p:spPr>
          <p:txBody>
            <a:bodyPr wrap="none">
              <a:spAutoFit/>
            </a:bodyPr>
            <a:lstStyle/>
            <a:p>
              <a:r>
                <a:rPr lang="zh-CN" altLang="en-US" sz="2000" dirty="0">
                  <a:latin typeface="Times New Roman" panose="02020603050405020304" pitchFamily="18" charset="0"/>
                </a:rPr>
                <a:t>闭	合</a:t>
              </a:r>
            </a:p>
          </p:txBody>
        </p:sp>
        <p:sp>
          <p:nvSpPr>
            <p:cNvPr id="55333" name="Text Box 86"/>
            <p:cNvSpPr txBox="1"/>
            <p:nvPr/>
          </p:nvSpPr>
          <p:spPr>
            <a:xfrm>
              <a:off x="4734" y="525"/>
              <a:ext cx="366" cy="250"/>
            </a:xfrm>
            <a:prstGeom prst="rect">
              <a:avLst/>
            </a:prstGeom>
            <a:noFill/>
            <a:ln w="19050">
              <a:noFill/>
            </a:ln>
          </p:spPr>
          <p:txBody>
            <a:bodyPr wrap="none">
              <a:spAutoFit/>
            </a:bodyPr>
            <a:lstStyle/>
            <a:p>
              <a:r>
                <a:rPr lang="en-US" altLang="zh-CN" sz="2000" dirty="0">
                  <a:latin typeface="Times New Roman" panose="02020603050405020304" pitchFamily="18" charset="0"/>
                </a:rPr>
                <a:t>x=0</a:t>
              </a:r>
            </a:p>
          </p:txBody>
        </p:sp>
        <p:sp>
          <p:nvSpPr>
            <p:cNvPr id="55334" name="Text Box 87"/>
            <p:cNvSpPr txBox="1"/>
            <p:nvPr/>
          </p:nvSpPr>
          <p:spPr>
            <a:xfrm>
              <a:off x="5257" y="520"/>
              <a:ext cx="366" cy="250"/>
            </a:xfrm>
            <a:prstGeom prst="rect">
              <a:avLst/>
            </a:prstGeom>
            <a:noFill/>
            <a:ln w="19050">
              <a:noFill/>
            </a:ln>
          </p:spPr>
          <p:txBody>
            <a:bodyPr wrap="none">
              <a:spAutoFit/>
            </a:bodyPr>
            <a:lstStyle/>
            <a:p>
              <a:r>
                <a:rPr lang="en-US" altLang="zh-CN" sz="2000" dirty="0">
                  <a:latin typeface="Times New Roman" panose="02020603050405020304" pitchFamily="18" charset="0"/>
                </a:rPr>
                <a:t>x=1</a:t>
              </a:r>
            </a:p>
          </p:txBody>
        </p:sp>
        <p:sp>
          <p:nvSpPr>
            <p:cNvPr id="55335" name="Text Box 88"/>
            <p:cNvSpPr txBox="1"/>
            <p:nvPr/>
          </p:nvSpPr>
          <p:spPr>
            <a:xfrm>
              <a:off x="4827" y="885"/>
              <a:ext cx="201" cy="250"/>
            </a:xfrm>
            <a:prstGeom prst="rect">
              <a:avLst/>
            </a:prstGeom>
            <a:noFill/>
            <a:ln w="19050">
              <a:noFill/>
            </a:ln>
          </p:spPr>
          <p:txBody>
            <a:bodyPr>
              <a:spAutoFit/>
            </a:bodyPr>
            <a:lstStyle/>
            <a:p>
              <a:r>
                <a:rPr lang="en-US" altLang="zh-CN" sz="2000" dirty="0">
                  <a:latin typeface="Times New Roman" panose="02020603050405020304" pitchFamily="18" charset="0"/>
                </a:rPr>
                <a:t>B</a:t>
              </a:r>
            </a:p>
          </p:txBody>
        </p:sp>
        <p:sp>
          <p:nvSpPr>
            <p:cNvPr id="55336" name="Text Box 89"/>
            <p:cNvSpPr txBox="1"/>
            <p:nvPr/>
          </p:nvSpPr>
          <p:spPr>
            <a:xfrm>
              <a:off x="4746" y="1169"/>
              <a:ext cx="559" cy="250"/>
            </a:xfrm>
            <a:prstGeom prst="rect">
              <a:avLst/>
            </a:prstGeom>
            <a:noFill/>
            <a:ln w="19050">
              <a:noFill/>
            </a:ln>
          </p:spPr>
          <p:txBody>
            <a:bodyPr>
              <a:spAutoFit/>
            </a:bodyPr>
            <a:lstStyle/>
            <a:p>
              <a:r>
                <a:rPr lang="en-US" altLang="zh-CN" sz="2000" dirty="0">
                  <a:latin typeface="Times New Roman" panose="02020603050405020304" pitchFamily="18" charset="0"/>
                </a:rPr>
                <a:t>ABF</a:t>
              </a:r>
            </a:p>
          </p:txBody>
        </p:sp>
        <p:sp>
          <p:nvSpPr>
            <p:cNvPr id="55337" name="Text Box 90"/>
            <p:cNvSpPr txBox="1"/>
            <p:nvPr/>
          </p:nvSpPr>
          <p:spPr>
            <a:xfrm>
              <a:off x="5209" y="885"/>
              <a:ext cx="436" cy="250"/>
            </a:xfrm>
            <a:prstGeom prst="rect">
              <a:avLst/>
            </a:prstGeom>
            <a:noFill/>
            <a:ln w="19050">
              <a:noFill/>
            </a:ln>
          </p:spPr>
          <p:txBody>
            <a:bodyPr>
              <a:spAutoFit/>
            </a:bodyPr>
            <a:lstStyle/>
            <a:p>
              <a:pPr algn="ctr"/>
              <a:r>
                <a:rPr lang="en-US" altLang="zh-CN" sz="2000" dirty="0">
                  <a:latin typeface="Times New Roman" panose="02020603050405020304" pitchFamily="18" charset="0"/>
                </a:rPr>
                <a:t>CD</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2514"/>
                                        </p:tgtEl>
                                        <p:attrNameLst>
                                          <p:attrName>style.visibility</p:attrName>
                                        </p:attrNameLst>
                                      </p:cBhvr>
                                      <p:to>
                                        <p:strVal val="visible"/>
                                      </p:to>
                                    </p:set>
                                    <p:animEffect transition="in" filter="wipe(left)">
                                      <p:cBhvr>
                                        <p:cTn id="7" dur="500"/>
                                        <p:tgtEl>
                                          <p:spTgt spid="192514"/>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to="" calcmode="lin" valueType="num">
                                      <p:cBhvr>
                                        <p:cTn id="12" dur="1" fill="hold"/>
                                        <p:tgtEl>
                                          <p:spTgt spid="4"/>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4"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to="" calcmode="lin" valueType="num">
                                      <p:cBhvr>
                                        <p:cTn id="23" dur="1" fill="hold"/>
                                        <p:tgtEl>
                                          <p:spTgt spid="2"/>
                                        </p:tgtEl>
                                        <p:attrNameLst>
                                          <p:attrName>style.visibility</p:attrName>
                                        </p:attrNameLst>
                                      </p:cBhvr>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92549"/>
                                        </p:tgtEl>
                                        <p:attrNameLst>
                                          <p:attrName>style.visibility</p:attrName>
                                        </p:attrNameLst>
                                      </p:cBhvr>
                                      <p:to>
                                        <p:strVal val="visible"/>
                                      </p:to>
                                    </p:set>
                                    <p:animEffect transition="in" filter="wipe(left)">
                                      <p:cBhvr>
                                        <p:cTn id="28" dur="500"/>
                                        <p:tgtEl>
                                          <p:spTgt spid="192549"/>
                                        </p:tgtEl>
                                      </p:cBhvr>
                                    </p:animEffect>
                                  </p:childTnLst>
                                </p:cTn>
                              </p:par>
                            </p:childTnLst>
                          </p:cTn>
                        </p:par>
                      </p:childTnLst>
                    </p:cTn>
                  </p:par>
                  <p:par>
                    <p:cTn id="29" fill="hold">
                      <p:stCondLst>
                        <p:cond delay="indefinite"/>
                      </p:stCondLst>
                      <p:childTnLst>
                        <p:par>
                          <p:cTn id="30" fill="hold">
                            <p:stCondLst>
                              <p:cond delay="0"/>
                            </p:stCondLst>
                            <p:childTnLst>
                              <p:par>
                                <p:cTn id="31" presetID="24"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 to="" calcmode="lin" valueType="num">
                                      <p:cBhvr>
                                        <p:cTn id="33" dur="1" fill="hold"/>
                                        <p:tgtEl>
                                          <p:spTgt spid="3"/>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4" grpId="0"/>
      <p:bldP spid="192549"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p:nvPr/>
        </p:nvSpPr>
        <p:spPr>
          <a:xfrm>
            <a:off x="974725" y="882650"/>
            <a:ext cx="4451350" cy="519113"/>
          </a:xfrm>
          <a:prstGeom prst="rect">
            <a:avLst/>
          </a:prstGeom>
          <a:noFill/>
          <a:ln w="19050">
            <a:noFill/>
          </a:ln>
        </p:spPr>
        <p:txBody>
          <a:bodyPr wrap="none">
            <a:spAutoFit/>
          </a:bodyPr>
          <a:lstStyle/>
          <a:p>
            <a:r>
              <a:rPr lang="zh-CN" altLang="en-US" sz="2800" b="1" dirty="0">
                <a:latin typeface="Times New Roman" panose="02020603050405020304" pitchFamily="18" charset="0"/>
              </a:rPr>
              <a:t>例：</a:t>
            </a:r>
            <a:r>
              <a:rPr lang="zh-CN" altLang="en-US" sz="2800" dirty="0">
                <a:latin typeface="Times New Roman" panose="02020603050405020304" pitchFamily="18" charset="0"/>
              </a:rPr>
              <a:t>化简下表所示的状态表</a:t>
            </a:r>
          </a:p>
        </p:txBody>
      </p:sp>
      <p:grpSp>
        <p:nvGrpSpPr>
          <p:cNvPr id="2" name="Group 3"/>
          <p:cNvGrpSpPr/>
          <p:nvPr/>
        </p:nvGrpSpPr>
        <p:grpSpPr>
          <a:xfrm>
            <a:off x="990600" y="1828800"/>
            <a:ext cx="7086600" cy="4286250"/>
            <a:chOff x="564" y="1224"/>
            <a:chExt cx="4464" cy="2700"/>
          </a:xfrm>
        </p:grpSpPr>
        <p:sp>
          <p:nvSpPr>
            <p:cNvPr id="56324" name="Line 4"/>
            <p:cNvSpPr/>
            <p:nvPr/>
          </p:nvSpPr>
          <p:spPr>
            <a:xfrm>
              <a:off x="588" y="1224"/>
              <a:ext cx="4404" cy="0"/>
            </a:xfrm>
            <a:prstGeom prst="line">
              <a:avLst/>
            </a:prstGeom>
            <a:ln w="38100" cap="flat" cmpd="sng">
              <a:solidFill>
                <a:schemeClr val="tx1"/>
              </a:solidFill>
              <a:prstDash val="solid"/>
              <a:headEnd type="none" w="med" len="med"/>
              <a:tailEnd type="none" w="sm" len="lg"/>
            </a:ln>
          </p:spPr>
        </p:sp>
        <p:sp>
          <p:nvSpPr>
            <p:cNvPr id="56325" name="Line 5"/>
            <p:cNvSpPr/>
            <p:nvPr/>
          </p:nvSpPr>
          <p:spPr>
            <a:xfrm>
              <a:off x="624" y="3912"/>
              <a:ext cx="4404" cy="0"/>
            </a:xfrm>
            <a:prstGeom prst="line">
              <a:avLst/>
            </a:prstGeom>
            <a:ln w="38100" cap="flat" cmpd="sng">
              <a:solidFill>
                <a:schemeClr val="tx1"/>
              </a:solidFill>
              <a:prstDash val="solid"/>
              <a:headEnd type="none" w="med" len="med"/>
              <a:tailEnd type="none" w="sm" len="lg"/>
            </a:ln>
          </p:spPr>
        </p:sp>
        <p:sp>
          <p:nvSpPr>
            <p:cNvPr id="56326" name="Line 6"/>
            <p:cNvSpPr/>
            <p:nvPr/>
          </p:nvSpPr>
          <p:spPr>
            <a:xfrm>
              <a:off x="1644" y="1224"/>
              <a:ext cx="0" cy="2700"/>
            </a:xfrm>
            <a:prstGeom prst="line">
              <a:avLst/>
            </a:prstGeom>
            <a:ln w="19050" cap="flat" cmpd="sng">
              <a:solidFill>
                <a:schemeClr val="tx1"/>
              </a:solidFill>
              <a:prstDash val="solid"/>
              <a:headEnd type="none" w="med" len="med"/>
              <a:tailEnd type="none" w="sm" len="lg"/>
            </a:ln>
          </p:spPr>
        </p:sp>
        <p:sp>
          <p:nvSpPr>
            <p:cNvPr id="56327" name="Line 7"/>
            <p:cNvSpPr/>
            <p:nvPr/>
          </p:nvSpPr>
          <p:spPr>
            <a:xfrm>
              <a:off x="3228" y="1824"/>
              <a:ext cx="0" cy="2076"/>
            </a:xfrm>
            <a:prstGeom prst="line">
              <a:avLst/>
            </a:prstGeom>
            <a:ln w="19050" cap="flat" cmpd="sng">
              <a:solidFill>
                <a:schemeClr val="tx1"/>
              </a:solidFill>
              <a:prstDash val="solid"/>
              <a:headEnd type="none" w="med" len="med"/>
              <a:tailEnd type="none" w="sm" len="lg"/>
            </a:ln>
          </p:spPr>
        </p:sp>
        <p:sp>
          <p:nvSpPr>
            <p:cNvPr id="56328" name="Line 8"/>
            <p:cNvSpPr/>
            <p:nvPr/>
          </p:nvSpPr>
          <p:spPr>
            <a:xfrm>
              <a:off x="1644" y="1812"/>
              <a:ext cx="3336" cy="0"/>
            </a:xfrm>
            <a:prstGeom prst="line">
              <a:avLst/>
            </a:prstGeom>
            <a:ln w="12700" cap="flat" cmpd="sng">
              <a:solidFill>
                <a:schemeClr val="tx1"/>
              </a:solidFill>
              <a:prstDash val="solid"/>
              <a:headEnd type="none" w="med" len="med"/>
              <a:tailEnd type="none" w="sm" len="lg"/>
            </a:ln>
          </p:spPr>
        </p:sp>
        <p:sp>
          <p:nvSpPr>
            <p:cNvPr id="56329" name="Line 9"/>
            <p:cNvSpPr/>
            <p:nvPr/>
          </p:nvSpPr>
          <p:spPr>
            <a:xfrm>
              <a:off x="564" y="2364"/>
              <a:ext cx="4404" cy="0"/>
            </a:xfrm>
            <a:prstGeom prst="line">
              <a:avLst/>
            </a:prstGeom>
            <a:ln w="12700" cap="flat" cmpd="sng">
              <a:solidFill>
                <a:schemeClr val="tx1"/>
              </a:solidFill>
              <a:prstDash val="solid"/>
              <a:headEnd type="none" w="med" len="med"/>
              <a:tailEnd type="none" w="sm" len="lg"/>
            </a:ln>
          </p:spPr>
        </p:sp>
        <p:sp>
          <p:nvSpPr>
            <p:cNvPr id="56330" name="Text Box 10"/>
            <p:cNvSpPr txBox="1"/>
            <p:nvPr/>
          </p:nvSpPr>
          <p:spPr>
            <a:xfrm>
              <a:off x="770" y="1624"/>
              <a:ext cx="564" cy="327"/>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56331" name="Text Box 11"/>
            <p:cNvSpPr txBox="1"/>
            <p:nvPr/>
          </p:nvSpPr>
          <p:spPr>
            <a:xfrm>
              <a:off x="2678" y="1350"/>
              <a:ext cx="1074"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56332" name="Text Box 12"/>
            <p:cNvSpPr txBox="1"/>
            <p:nvPr/>
          </p:nvSpPr>
          <p:spPr>
            <a:xfrm>
              <a:off x="2186" y="1926"/>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56333" name="Text Box 13"/>
            <p:cNvSpPr txBox="1"/>
            <p:nvPr/>
          </p:nvSpPr>
          <p:spPr>
            <a:xfrm>
              <a:off x="3830" y="1926"/>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56334" name="Text Box 14"/>
            <p:cNvSpPr txBox="1"/>
            <p:nvPr/>
          </p:nvSpPr>
          <p:spPr>
            <a:xfrm>
              <a:off x="866" y="2430"/>
              <a:ext cx="278" cy="1403"/>
            </a:xfrm>
            <a:prstGeom prst="rect">
              <a:avLst/>
            </a:prstGeom>
            <a:noFill/>
            <a:ln w="19050">
              <a:noFill/>
            </a:ln>
          </p:spPr>
          <p:txBody>
            <a:bodyPr wrap="none">
              <a:spAutoFit/>
            </a:bodyPr>
            <a:lstStyle/>
            <a:p>
              <a:r>
                <a:rPr lang="en-US" altLang="zh-CN" sz="2800" dirty="0">
                  <a:latin typeface="Times New Roman" panose="02020603050405020304" pitchFamily="18" charset="0"/>
                </a:rPr>
                <a:t>A</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a:t>
              </a:r>
            </a:p>
            <a:p>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56335" name="Text Box 15"/>
            <p:cNvSpPr txBox="1"/>
            <p:nvPr/>
          </p:nvSpPr>
          <p:spPr>
            <a:xfrm>
              <a:off x="2114" y="2430"/>
              <a:ext cx="452" cy="1403"/>
            </a:xfrm>
            <a:prstGeom prst="rect">
              <a:avLst/>
            </a:prstGeom>
            <a:noFill/>
            <a:ln w="19050">
              <a:noFill/>
            </a:ln>
          </p:spPr>
          <p:txBody>
            <a:bodyPr wrap="none">
              <a:spAutoFit/>
            </a:bodyPr>
            <a:lstStyle/>
            <a:p>
              <a:r>
                <a:rPr lang="en-US" altLang="zh-CN" sz="2800" dirty="0">
                  <a:latin typeface="Times New Roman" panose="02020603050405020304" pitchFamily="18" charset="0"/>
                </a:rPr>
                <a:t>D/d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p>
            <a:p>
              <a:r>
                <a:rPr lang="en-US" altLang="zh-CN" sz="2800" dirty="0">
                  <a:latin typeface="Times New Roman" panose="02020603050405020304" pitchFamily="18" charset="0"/>
                </a:rPr>
                <a:t>C/1</a:t>
              </a:r>
            </a:p>
          </p:txBody>
        </p:sp>
        <p:sp>
          <p:nvSpPr>
            <p:cNvPr id="56336" name="Text Box 16"/>
            <p:cNvSpPr txBox="1"/>
            <p:nvPr/>
          </p:nvSpPr>
          <p:spPr>
            <a:xfrm>
              <a:off x="3782" y="2430"/>
              <a:ext cx="452" cy="1403"/>
            </a:xfrm>
            <a:prstGeom prst="rect">
              <a:avLst/>
            </a:prstGeom>
            <a:noFill/>
            <a:ln w="19050">
              <a:noFill/>
            </a:ln>
          </p:spPr>
          <p:txBody>
            <a:bodyPr wrap="none">
              <a:spAutoFit/>
            </a:bodyPr>
            <a:lstStyle/>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p>
            <a:p>
              <a:r>
                <a:rPr lang="en-US" altLang="zh-CN" sz="2800" dirty="0">
                  <a:latin typeface="Times New Roman" panose="02020603050405020304" pitchFamily="18" charset="0"/>
                </a:rPr>
                <a:t>B/d</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Text Box 2"/>
          <p:cNvSpPr txBox="1"/>
          <p:nvPr/>
        </p:nvSpPr>
        <p:spPr>
          <a:xfrm>
            <a:off x="822325" y="695325"/>
            <a:ext cx="5253038" cy="519113"/>
          </a:xfrm>
          <a:prstGeom prst="rect">
            <a:avLst/>
          </a:prstGeom>
          <a:noFill/>
          <a:ln w="19050">
            <a:noFill/>
          </a:ln>
        </p:spPr>
        <p:txBody>
          <a:bodyPr wrap="none">
            <a:spAutoFit/>
          </a:bodyPr>
          <a:lstStyle/>
          <a:p>
            <a:r>
              <a:rPr lang="zh-CN" altLang="en-US" sz="2800" b="1" dirty="0">
                <a:latin typeface="Times New Roman" panose="02020603050405020304" pitchFamily="18" charset="0"/>
              </a:rPr>
              <a:t>解</a:t>
            </a:r>
            <a:r>
              <a:rPr lang="zh-CN" altLang="en-US" sz="2800" dirty="0">
                <a:latin typeface="Times New Roman" panose="02020603050405020304" pitchFamily="18" charset="0"/>
              </a:rPr>
              <a:t>：</a:t>
            </a:r>
            <a:r>
              <a:rPr lang="zh-CN" altLang="en-US" sz="2800" dirty="0">
                <a:latin typeface="Times New Roman" panose="02020603050405020304" pitchFamily="18" charset="0"/>
                <a:sym typeface="Monotype Sorts" pitchFamily="2" charset="2"/>
              </a:rPr>
              <a:t> 作隐含表，寻找相容状态对</a:t>
            </a:r>
          </a:p>
        </p:txBody>
      </p:sp>
      <p:grpSp>
        <p:nvGrpSpPr>
          <p:cNvPr id="2" name="Group 3"/>
          <p:cNvGrpSpPr/>
          <p:nvPr/>
        </p:nvGrpSpPr>
        <p:grpSpPr>
          <a:xfrm>
            <a:off x="2968625" y="1828800"/>
            <a:ext cx="3394075" cy="3405188"/>
            <a:chOff x="562" y="1056"/>
            <a:chExt cx="2138" cy="2145"/>
          </a:xfrm>
        </p:grpSpPr>
        <p:grpSp>
          <p:nvGrpSpPr>
            <p:cNvPr id="57396" name="Group 4"/>
            <p:cNvGrpSpPr/>
            <p:nvPr/>
          </p:nvGrpSpPr>
          <p:grpSpPr>
            <a:xfrm>
              <a:off x="828" y="1056"/>
              <a:ext cx="1872" cy="1872"/>
              <a:chOff x="2028" y="1080"/>
              <a:chExt cx="1872" cy="1872"/>
            </a:xfrm>
          </p:grpSpPr>
          <p:sp>
            <p:nvSpPr>
              <p:cNvPr id="57405" name="Rectangle 5"/>
              <p:cNvSpPr/>
              <p:nvPr/>
            </p:nvSpPr>
            <p:spPr>
              <a:xfrm>
                <a:off x="2028" y="2484"/>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7406" name="Rectangle 6"/>
              <p:cNvSpPr/>
              <p:nvPr/>
            </p:nvSpPr>
            <p:spPr>
              <a:xfrm>
                <a:off x="2496" y="2484"/>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7407" name="Rectangle 7"/>
              <p:cNvSpPr/>
              <p:nvPr/>
            </p:nvSpPr>
            <p:spPr>
              <a:xfrm>
                <a:off x="2964" y="2484"/>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7408" name="Rectangle 8"/>
              <p:cNvSpPr/>
              <p:nvPr/>
            </p:nvSpPr>
            <p:spPr>
              <a:xfrm>
                <a:off x="3432" y="2484"/>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7409" name="Rectangle 9"/>
              <p:cNvSpPr/>
              <p:nvPr/>
            </p:nvSpPr>
            <p:spPr>
              <a:xfrm>
                <a:off x="2028" y="201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7410" name="Rectangle 10"/>
              <p:cNvSpPr/>
              <p:nvPr/>
            </p:nvSpPr>
            <p:spPr>
              <a:xfrm>
                <a:off x="2496" y="201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7411" name="Rectangle 11"/>
              <p:cNvSpPr/>
              <p:nvPr/>
            </p:nvSpPr>
            <p:spPr>
              <a:xfrm>
                <a:off x="2964" y="2016"/>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7412" name="Rectangle 12"/>
              <p:cNvSpPr/>
              <p:nvPr/>
            </p:nvSpPr>
            <p:spPr>
              <a:xfrm>
                <a:off x="2028" y="1548"/>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7413" name="Rectangle 13"/>
              <p:cNvSpPr/>
              <p:nvPr/>
            </p:nvSpPr>
            <p:spPr>
              <a:xfrm>
                <a:off x="2496" y="1548"/>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7414" name="Rectangle 14"/>
              <p:cNvSpPr/>
              <p:nvPr/>
            </p:nvSpPr>
            <p:spPr>
              <a:xfrm>
                <a:off x="2028" y="1080"/>
                <a:ext cx="468" cy="468"/>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sp>
          <p:nvSpPr>
            <p:cNvPr id="57397" name="Text Box 15"/>
            <p:cNvSpPr txBox="1"/>
            <p:nvPr/>
          </p:nvSpPr>
          <p:spPr>
            <a:xfrm>
              <a:off x="974" y="2874"/>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A</a:t>
              </a:r>
            </a:p>
          </p:txBody>
        </p:sp>
        <p:sp>
          <p:nvSpPr>
            <p:cNvPr id="57398" name="Text Box 16"/>
            <p:cNvSpPr txBox="1"/>
            <p:nvPr/>
          </p:nvSpPr>
          <p:spPr>
            <a:xfrm>
              <a:off x="1394" y="2874"/>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B</a:t>
              </a:r>
            </a:p>
          </p:txBody>
        </p:sp>
        <p:sp>
          <p:nvSpPr>
            <p:cNvPr id="57399" name="Text Box 17"/>
            <p:cNvSpPr txBox="1"/>
            <p:nvPr/>
          </p:nvSpPr>
          <p:spPr>
            <a:xfrm>
              <a:off x="1898" y="2874"/>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57400" name="Text Box 18"/>
            <p:cNvSpPr txBox="1"/>
            <p:nvPr/>
          </p:nvSpPr>
          <p:spPr>
            <a:xfrm>
              <a:off x="2342" y="2874"/>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57401" name="Text Box 19"/>
            <p:cNvSpPr txBox="1"/>
            <p:nvPr/>
          </p:nvSpPr>
          <p:spPr>
            <a:xfrm>
              <a:off x="562" y="2544"/>
              <a:ext cx="253" cy="327"/>
            </a:xfrm>
            <a:prstGeom prst="rect">
              <a:avLst/>
            </a:prstGeom>
            <a:noFill/>
            <a:ln w="19050">
              <a:noFill/>
            </a:ln>
          </p:spPr>
          <p:txBody>
            <a:bodyPr wrap="none">
              <a:spAutoFit/>
            </a:bodyPr>
            <a:lstStyle/>
            <a:p>
              <a:r>
                <a:rPr lang="en-US" altLang="zh-CN" sz="2800" dirty="0">
                  <a:latin typeface="Times New Roman" panose="02020603050405020304" pitchFamily="18" charset="0"/>
                </a:rPr>
                <a:t>E</a:t>
              </a:r>
            </a:p>
          </p:txBody>
        </p:sp>
        <p:sp>
          <p:nvSpPr>
            <p:cNvPr id="57402" name="Text Box 20"/>
            <p:cNvSpPr txBox="1"/>
            <p:nvPr/>
          </p:nvSpPr>
          <p:spPr>
            <a:xfrm>
              <a:off x="562" y="2076"/>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57403" name="Text Box 21"/>
            <p:cNvSpPr txBox="1"/>
            <p:nvPr/>
          </p:nvSpPr>
          <p:spPr>
            <a:xfrm>
              <a:off x="562" y="1596"/>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57404" name="Text Box 22"/>
            <p:cNvSpPr txBox="1"/>
            <p:nvPr/>
          </p:nvSpPr>
          <p:spPr>
            <a:xfrm>
              <a:off x="562" y="1128"/>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B</a:t>
              </a:r>
            </a:p>
          </p:txBody>
        </p:sp>
      </p:grpSp>
      <p:sp>
        <p:nvSpPr>
          <p:cNvPr id="195607" name="Text Box 23"/>
          <p:cNvSpPr txBox="1"/>
          <p:nvPr/>
        </p:nvSpPr>
        <p:spPr>
          <a:xfrm>
            <a:off x="4146550" y="2466975"/>
            <a:ext cx="677863" cy="946150"/>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AB</a:t>
            </a:r>
          </a:p>
          <a:p>
            <a:pPr algn="ctr"/>
            <a:r>
              <a:rPr lang="en-US" altLang="zh-CN" sz="2800" dirty="0">
                <a:latin typeface="Times New Roman" panose="02020603050405020304" pitchFamily="18" charset="0"/>
              </a:rPr>
              <a:t>DE</a:t>
            </a:r>
          </a:p>
        </p:txBody>
      </p:sp>
      <p:grpSp>
        <p:nvGrpSpPr>
          <p:cNvPr id="4" name="Group 24"/>
          <p:cNvGrpSpPr/>
          <p:nvPr/>
        </p:nvGrpSpPr>
        <p:grpSpPr>
          <a:xfrm>
            <a:off x="4933950" y="4114800"/>
            <a:ext cx="628650" cy="609600"/>
            <a:chOff x="1608" y="1176"/>
            <a:chExt cx="396" cy="384"/>
          </a:xfrm>
        </p:grpSpPr>
        <p:sp>
          <p:nvSpPr>
            <p:cNvPr id="57394" name="Line 25"/>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57395" name="Line 26"/>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grpSp>
        <p:nvGrpSpPr>
          <p:cNvPr id="5" name="Group 27"/>
          <p:cNvGrpSpPr/>
          <p:nvPr/>
        </p:nvGrpSpPr>
        <p:grpSpPr>
          <a:xfrm>
            <a:off x="4191000" y="4114800"/>
            <a:ext cx="628650" cy="609600"/>
            <a:chOff x="1608" y="1176"/>
            <a:chExt cx="396" cy="384"/>
          </a:xfrm>
        </p:grpSpPr>
        <p:sp>
          <p:nvSpPr>
            <p:cNvPr id="57392" name="Line 28"/>
            <p:cNvSpPr/>
            <p:nvPr/>
          </p:nvSpPr>
          <p:spPr>
            <a:xfrm>
              <a:off x="1620" y="1176"/>
              <a:ext cx="384" cy="384"/>
            </a:xfrm>
            <a:prstGeom prst="line">
              <a:avLst/>
            </a:prstGeom>
            <a:ln w="38100" cap="flat" cmpd="sng">
              <a:solidFill>
                <a:srgbClr val="3333FF"/>
              </a:solidFill>
              <a:prstDash val="solid"/>
              <a:headEnd type="none" w="med" len="med"/>
              <a:tailEnd type="none" w="sm" len="lg"/>
            </a:ln>
          </p:spPr>
        </p:sp>
        <p:sp>
          <p:nvSpPr>
            <p:cNvPr id="57393" name="Line 29"/>
            <p:cNvSpPr/>
            <p:nvPr/>
          </p:nvSpPr>
          <p:spPr>
            <a:xfrm rot="5416333">
              <a:off x="1608" y="1176"/>
              <a:ext cx="384" cy="384"/>
            </a:xfrm>
            <a:prstGeom prst="line">
              <a:avLst/>
            </a:prstGeom>
            <a:ln w="38100" cap="flat" cmpd="sng">
              <a:solidFill>
                <a:srgbClr val="3333FF"/>
              </a:solidFill>
              <a:prstDash val="solid"/>
              <a:headEnd type="none" w="med" len="med"/>
              <a:tailEnd type="none" w="sm" len="lg"/>
            </a:ln>
          </p:spPr>
        </p:sp>
      </p:grpSp>
      <p:sp>
        <p:nvSpPr>
          <p:cNvPr id="195614" name="Text Box 30"/>
          <p:cNvSpPr txBox="1"/>
          <p:nvPr/>
        </p:nvSpPr>
        <p:spPr>
          <a:xfrm>
            <a:off x="4175125" y="3209925"/>
            <a:ext cx="677863" cy="946150"/>
          </a:xfrm>
          <a:prstGeom prst="rect">
            <a:avLst/>
          </a:prstGeom>
          <a:noFill/>
          <a:ln w="19050">
            <a:noFill/>
          </a:ln>
        </p:spPr>
        <p:txBody>
          <a:bodyPr wrap="none">
            <a:spAutoFit/>
          </a:bodyPr>
          <a:lstStyle/>
          <a:p>
            <a:r>
              <a:rPr lang="en-US" altLang="zh-CN" sz="2800" dirty="0">
                <a:latin typeface="Times New Roman" panose="02020603050405020304" pitchFamily="18" charset="0"/>
              </a:rPr>
              <a:t>AC</a:t>
            </a:r>
          </a:p>
          <a:p>
            <a:r>
              <a:rPr lang="en-US" altLang="zh-CN" sz="2800" dirty="0">
                <a:latin typeface="Times New Roman" panose="02020603050405020304" pitchFamily="18" charset="0"/>
              </a:rPr>
              <a:t>CE</a:t>
            </a:r>
          </a:p>
        </p:txBody>
      </p:sp>
      <p:sp>
        <p:nvSpPr>
          <p:cNvPr id="195615" name="Text Box 31"/>
          <p:cNvSpPr txBox="1"/>
          <p:nvPr/>
        </p:nvSpPr>
        <p:spPr>
          <a:xfrm>
            <a:off x="3451225" y="3190875"/>
            <a:ext cx="677863" cy="946150"/>
          </a:xfrm>
          <a:prstGeom prst="rect">
            <a:avLst/>
          </a:prstGeom>
          <a:noFill/>
          <a:ln w="19050">
            <a:noFill/>
          </a:ln>
        </p:spPr>
        <p:txBody>
          <a:bodyPr wrap="none">
            <a:spAutoFit/>
          </a:bodyPr>
          <a:lstStyle/>
          <a:p>
            <a:r>
              <a:rPr lang="en-US" altLang="zh-CN" sz="2800" dirty="0">
                <a:latin typeface="Times New Roman" panose="02020603050405020304" pitchFamily="18" charset="0"/>
              </a:rPr>
              <a:t>CD</a:t>
            </a:r>
          </a:p>
          <a:p>
            <a:r>
              <a:rPr lang="en-US" altLang="zh-CN" sz="2800" dirty="0">
                <a:latin typeface="Times New Roman" panose="02020603050405020304" pitchFamily="18" charset="0"/>
              </a:rPr>
              <a:t>AC</a:t>
            </a:r>
          </a:p>
        </p:txBody>
      </p:sp>
      <p:sp>
        <p:nvSpPr>
          <p:cNvPr id="195616" name="Text Box 32"/>
          <p:cNvSpPr txBox="1"/>
          <p:nvPr/>
        </p:nvSpPr>
        <p:spPr>
          <a:xfrm>
            <a:off x="3413125" y="3971925"/>
            <a:ext cx="677863" cy="946150"/>
          </a:xfrm>
          <a:prstGeom prst="rect">
            <a:avLst/>
          </a:prstGeom>
          <a:noFill/>
          <a:ln w="19050">
            <a:noFill/>
          </a:ln>
        </p:spPr>
        <p:txBody>
          <a:bodyPr wrap="none">
            <a:spAutoFit/>
          </a:bodyPr>
          <a:lstStyle/>
          <a:p>
            <a:r>
              <a:rPr lang="en-US" altLang="zh-CN" sz="2800" dirty="0">
                <a:latin typeface="Times New Roman" panose="02020603050405020304" pitchFamily="18" charset="0"/>
              </a:rPr>
              <a:t>AB</a:t>
            </a:r>
          </a:p>
          <a:p>
            <a:r>
              <a:rPr lang="en-US" altLang="zh-CN" sz="2800" dirty="0">
                <a:latin typeface="Times New Roman" panose="02020603050405020304" pitchFamily="18" charset="0"/>
              </a:rPr>
              <a:t>CD</a:t>
            </a:r>
          </a:p>
        </p:txBody>
      </p:sp>
      <p:sp>
        <p:nvSpPr>
          <p:cNvPr id="195617" name="Text Box 33"/>
          <p:cNvSpPr txBox="1"/>
          <p:nvPr/>
        </p:nvSpPr>
        <p:spPr>
          <a:xfrm>
            <a:off x="3422650" y="2657475"/>
            <a:ext cx="677863" cy="519113"/>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AB</a:t>
            </a:r>
          </a:p>
        </p:txBody>
      </p:sp>
      <p:sp>
        <p:nvSpPr>
          <p:cNvPr id="195618" name="Text Box 34"/>
          <p:cNvSpPr txBox="1"/>
          <p:nvPr/>
        </p:nvSpPr>
        <p:spPr>
          <a:xfrm>
            <a:off x="3413125" y="1914525"/>
            <a:ext cx="658813" cy="519113"/>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DE</a:t>
            </a:r>
          </a:p>
        </p:txBody>
      </p:sp>
      <p:sp>
        <p:nvSpPr>
          <p:cNvPr id="195619" name="Text Box 35"/>
          <p:cNvSpPr txBox="1"/>
          <p:nvPr/>
        </p:nvSpPr>
        <p:spPr>
          <a:xfrm>
            <a:off x="4938713" y="3419475"/>
            <a:ext cx="657225" cy="519113"/>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BC</a:t>
            </a:r>
          </a:p>
        </p:txBody>
      </p:sp>
      <p:sp>
        <p:nvSpPr>
          <p:cNvPr id="195620" name="Text Box 36"/>
          <p:cNvSpPr txBox="1"/>
          <p:nvPr/>
        </p:nvSpPr>
        <p:spPr>
          <a:xfrm>
            <a:off x="5681663" y="4162425"/>
            <a:ext cx="657225" cy="519113"/>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BC</a:t>
            </a:r>
          </a:p>
        </p:txBody>
      </p:sp>
      <p:sp>
        <p:nvSpPr>
          <p:cNvPr id="195621" name="Text Box 37" descr="羊皮纸"/>
          <p:cNvSpPr txBox="1"/>
          <p:nvPr/>
        </p:nvSpPr>
        <p:spPr>
          <a:xfrm>
            <a:off x="808038" y="5635625"/>
            <a:ext cx="7772400" cy="1117600"/>
          </a:xfrm>
          <a:prstGeom prst="rect">
            <a:avLst/>
          </a:prstGeom>
          <a:blipFill rotWithShape="1">
            <a:blip r:embed="rId2"/>
          </a:blipFill>
          <a:ln w="19050">
            <a:noFill/>
          </a:ln>
        </p:spPr>
        <p:txBody>
          <a:bodyPr>
            <a:spAutoFit/>
          </a:bodyPr>
          <a:lstStyle/>
          <a:p>
            <a:pPr>
              <a:lnSpc>
                <a:spcPct val="120000"/>
              </a:lnSpc>
              <a:spcBef>
                <a:spcPct val="50000"/>
              </a:spcBef>
            </a:pPr>
            <a:r>
              <a:rPr lang="zh-CN" altLang="zh-CN" sz="2800" dirty="0">
                <a:latin typeface="Times New Roman" panose="02020603050405020304" pitchFamily="18" charset="0"/>
              </a:rPr>
              <a:t>由上图得相容状态对为(</a:t>
            </a:r>
            <a:r>
              <a:rPr lang="en-US" altLang="zh-CN" sz="2800" dirty="0">
                <a:latin typeface="Times New Roman" panose="02020603050405020304" pitchFamily="18" charset="0"/>
              </a:rPr>
              <a:t>A,B), (A,C), (A,D), (A,E), 				(B,C), (C,D), (D,E)</a:t>
            </a:r>
          </a:p>
        </p:txBody>
      </p:sp>
      <p:grpSp>
        <p:nvGrpSpPr>
          <p:cNvPr id="6" name="Group 38"/>
          <p:cNvGrpSpPr/>
          <p:nvPr/>
        </p:nvGrpSpPr>
        <p:grpSpPr>
          <a:xfrm>
            <a:off x="6403975" y="1304925"/>
            <a:ext cx="2781300" cy="752475"/>
            <a:chOff x="2870" y="882"/>
            <a:chExt cx="1752" cy="474"/>
          </a:xfrm>
        </p:grpSpPr>
        <p:grpSp>
          <p:nvGrpSpPr>
            <p:cNvPr id="57388" name="Group 39"/>
            <p:cNvGrpSpPr/>
            <p:nvPr/>
          </p:nvGrpSpPr>
          <p:grpSpPr>
            <a:xfrm>
              <a:off x="3132" y="1152"/>
              <a:ext cx="1020" cy="204"/>
              <a:chOff x="3840" y="1200"/>
              <a:chExt cx="1020" cy="204"/>
            </a:xfrm>
          </p:grpSpPr>
          <p:sp>
            <p:nvSpPr>
              <p:cNvPr id="57390" name="Freeform 40"/>
              <p:cNvSpPr/>
              <p:nvPr/>
            </p:nvSpPr>
            <p:spPr>
              <a:xfrm>
                <a:off x="4320" y="1212"/>
                <a:ext cx="540" cy="108"/>
              </a:xfrm>
              <a:custGeom>
                <a:avLst/>
                <a:gdLst>
                  <a:gd name="txL" fmla="*/ 0 w 540"/>
                  <a:gd name="txT" fmla="*/ 0 h 108"/>
                  <a:gd name="txR" fmla="*/ 540 w 540"/>
                  <a:gd name="txB" fmla="*/ 108 h 108"/>
                </a:gdLst>
                <a:ahLst/>
                <a:cxnLst>
                  <a:cxn ang="0">
                    <a:pos x="540" y="0"/>
                  </a:cxn>
                  <a:cxn ang="0">
                    <a:pos x="540" y="108"/>
                  </a:cxn>
                  <a:cxn ang="0">
                    <a:pos x="0" y="108"/>
                  </a:cxn>
                  <a:cxn ang="0">
                    <a:pos x="0" y="0"/>
                  </a:cxn>
                </a:cxnLst>
                <a:rect l="txL" t="txT" r="txR" b="txB"/>
                <a:pathLst>
                  <a:path w="540" h="108">
                    <a:moveTo>
                      <a:pt x="540" y="0"/>
                    </a:moveTo>
                    <a:cubicBezTo>
                      <a:pt x="540" y="36"/>
                      <a:pt x="540" y="72"/>
                      <a:pt x="540" y="108"/>
                    </a:cubicBezTo>
                    <a:lnTo>
                      <a:pt x="0" y="108"/>
                    </a:lnTo>
                    <a:lnTo>
                      <a:pt x="0" y="0"/>
                    </a:lnTo>
                  </a:path>
                </a:pathLst>
              </a:custGeom>
              <a:noFill/>
              <a:ln w="19050" cap="flat" cmpd="sng">
                <a:solidFill>
                  <a:schemeClr val="tx1">
                    <a:alpha val="100000"/>
                  </a:schemeClr>
                </a:solidFill>
                <a:prstDash val="solid"/>
                <a:round/>
                <a:headEnd type="none" w="med" len="med"/>
                <a:tailEnd type="arrow" w="med" len="med"/>
              </a:ln>
            </p:spPr>
            <p:txBody>
              <a:bodyPr/>
              <a:lstStyle/>
              <a:p>
                <a:endParaRPr lang="zh-CN" altLang="en-US" sz="2800"/>
              </a:p>
            </p:txBody>
          </p:sp>
          <p:sp>
            <p:nvSpPr>
              <p:cNvPr id="57391" name="Freeform 41"/>
              <p:cNvSpPr/>
              <p:nvPr/>
            </p:nvSpPr>
            <p:spPr>
              <a:xfrm>
                <a:off x="3840" y="1200"/>
                <a:ext cx="1020" cy="204"/>
              </a:xfrm>
              <a:custGeom>
                <a:avLst/>
                <a:gdLst>
                  <a:gd name="txL" fmla="*/ 0 w 1020"/>
                  <a:gd name="txT" fmla="*/ 0 h 204"/>
                  <a:gd name="txR" fmla="*/ 1020 w 1020"/>
                  <a:gd name="txB" fmla="*/ 204 h 204"/>
                </a:gdLst>
                <a:ahLst/>
                <a:cxnLst>
                  <a:cxn ang="0">
                    <a:pos x="1020" y="0"/>
                  </a:cxn>
                  <a:cxn ang="0">
                    <a:pos x="1020" y="204"/>
                  </a:cxn>
                  <a:cxn ang="0">
                    <a:pos x="0" y="204"/>
                  </a:cxn>
                  <a:cxn ang="0">
                    <a:pos x="0" y="12"/>
                  </a:cxn>
                </a:cxnLst>
                <a:rect l="txL" t="txT" r="txR" b="txB"/>
                <a:pathLst>
                  <a:path w="1020" h="204">
                    <a:moveTo>
                      <a:pt x="1020" y="0"/>
                    </a:moveTo>
                    <a:lnTo>
                      <a:pt x="1020" y="204"/>
                    </a:lnTo>
                    <a:lnTo>
                      <a:pt x="0" y="204"/>
                    </a:lnTo>
                    <a:lnTo>
                      <a:pt x="0" y="12"/>
                    </a:lnTo>
                  </a:path>
                </a:pathLst>
              </a:custGeom>
              <a:noFill/>
              <a:ln w="19050" cap="flat" cmpd="sng">
                <a:solidFill>
                  <a:schemeClr val="tx1">
                    <a:alpha val="100000"/>
                  </a:schemeClr>
                </a:solidFill>
                <a:prstDash val="solid"/>
                <a:round/>
                <a:headEnd type="none" w="med" len="med"/>
                <a:tailEnd type="arrow" w="med" len="med"/>
              </a:ln>
            </p:spPr>
            <p:txBody>
              <a:bodyPr/>
              <a:lstStyle/>
              <a:p>
                <a:endParaRPr lang="zh-CN" altLang="en-US" sz="2800"/>
              </a:p>
            </p:txBody>
          </p:sp>
        </p:grpSp>
        <p:sp>
          <p:nvSpPr>
            <p:cNvPr id="57389" name="Rectangle 42"/>
            <p:cNvSpPr/>
            <p:nvPr/>
          </p:nvSpPr>
          <p:spPr>
            <a:xfrm>
              <a:off x="2870" y="882"/>
              <a:ext cx="1752" cy="327"/>
            </a:xfrm>
            <a:prstGeom prst="rect">
              <a:avLst/>
            </a:prstGeom>
            <a:noFill/>
            <a:ln w="19050">
              <a:noFill/>
            </a:ln>
          </p:spPr>
          <p:txBody>
            <a:bodyPr wrap="none">
              <a:spAutoFit/>
            </a:bodyPr>
            <a:lstStyle/>
            <a:p>
              <a:r>
                <a:rPr lang="en-US" altLang="zh-CN" sz="2800" dirty="0">
                  <a:latin typeface="Times New Roman" panose="02020603050405020304" pitchFamily="18" charset="0"/>
                </a:rPr>
                <a:t>AB</a:t>
              </a:r>
              <a:r>
                <a:rPr lang="en-US" altLang="zh-CN" sz="2800" dirty="0">
                  <a:latin typeface="Times New Roman" panose="02020603050405020304" pitchFamily="18" charset="0"/>
                  <a:sym typeface="Monotype Sorts" pitchFamily="2" charset="2"/>
                </a:rPr>
                <a:t>→DE→BC √</a:t>
              </a:r>
            </a:p>
          </p:txBody>
        </p:sp>
      </p:grpSp>
      <p:sp>
        <p:nvSpPr>
          <p:cNvPr id="195627" name="Rectangle 43"/>
          <p:cNvSpPr/>
          <p:nvPr/>
        </p:nvSpPr>
        <p:spPr>
          <a:xfrm>
            <a:off x="6403975" y="2085975"/>
            <a:ext cx="1971675" cy="519113"/>
          </a:xfrm>
          <a:prstGeom prst="rect">
            <a:avLst/>
          </a:prstGeom>
          <a:noFill/>
          <a:ln w="19050">
            <a:noFill/>
          </a:ln>
        </p:spPr>
        <p:txBody>
          <a:bodyPr wrap="none">
            <a:spAutoFit/>
          </a:bodyPr>
          <a:lstStyle/>
          <a:p>
            <a:r>
              <a:rPr lang="en-US" altLang="zh-CN" sz="2800" dirty="0">
                <a:latin typeface="Times New Roman" panose="02020603050405020304" pitchFamily="18" charset="0"/>
                <a:sym typeface="Monotype Sorts" pitchFamily="2" charset="2"/>
              </a:rPr>
              <a:t>AC→AB √</a:t>
            </a:r>
          </a:p>
        </p:txBody>
      </p:sp>
      <p:grpSp>
        <p:nvGrpSpPr>
          <p:cNvPr id="8" name="Group 65"/>
          <p:cNvGrpSpPr/>
          <p:nvPr/>
        </p:nvGrpSpPr>
        <p:grpSpPr>
          <a:xfrm>
            <a:off x="6419850" y="4529138"/>
            <a:ext cx="2033588" cy="733425"/>
            <a:chOff x="3264" y="2853"/>
            <a:chExt cx="1281" cy="462"/>
          </a:xfrm>
        </p:grpSpPr>
        <p:sp>
          <p:nvSpPr>
            <p:cNvPr id="57386" name="Text Box 45"/>
            <p:cNvSpPr txBox="1"/>
            <p:nvPr/>
          </p:nvSpPr>
          <p:spPr>
            <a:xfrm>
              <a:off x="3264" y="2994"/>
              <a:ext cx="858" cy="233"/>
            </a:xfrm>
            <a:prstGeom prst="rect">
              <a:avLst/>
            </a:prstGeom>
            <a:noFill/>
            <a:ln w="19050">
              <a:noFill/>
            </a:ln>
          </p:spPr>
          <p:txBody>
            <a:bodyPr>
              <a:spAutoFit/>
            </a:bodyPr>
            <a:lstStyle/>
            <a:p>
              <a:pPr>
                <a:lnSpc>
                  <a:spcPct val="65000"/>
                </a:lnSpc>
                <a:spcBef>
                  <a:spcPct val="50000"/>
                </a:spcBef>
              </a:pPr>
              <a:r>
                <a:rPr lang="en-US" altLang="zh-CN" sz="2800" dirty="0">
                  <a:latin typeface="Times New Roman" panose="02020603050405020304" pitchFamily="18" charset="0"/>
                  <a:sym typeface="Monotype Sorts" pitchFamily="2" charset="2"/>
                </a:rPr>
                <a:t>BD→</a:t>
              </a:r>
            </a:p>
          </p:txBody>
        </p:sp>
        <p:sp>
          <p:nvSpPr>
            <p:cNvPr id="57387" name="Rectangle 46"/>
            <p:cNvSpPr/>
            <p:nvPr/>
          </p:nvSpPr>
          <p:spPr>
            <a:xfrm>
              <a:off x="3806" y="2853"/>
              <a:ext cx="739" cy="462"/>
            </a:xfrm>
            <a:prstGeom prst="rect">
              <a:avLst/>
            </a:prstGeom>
            <a:noFill/>
            <a:ln w="19050">
              <a:noFill/>
            </a:ln>
          </p:spPr>
          <p:txBody>
            <a:bodyPr wrap="none">
              <a:spAutoFit/>
            </a:bodyPr>
            <a:lstStyle/>
            <a:p>
              <a:pPr>
                <a:lnSpc>
                  <a:spcPct val="60000"/>
                </a:lnSpc>
                <a:spcBef>
                  <a:spcPct val="50000"/>
                </a:spcBef>
              </a:pPr>
              <a:r>
                <a:rPr lang="en-US" altLang="zh-CN" sz="2800" dirty="0">
                  <a:latin typeface="Times New Roman" panose="02020603050405020304" pitchFamily="18" charset="0"/>
                  <a:sym typeface="Monotype Sorts" pitchFamily="2" charset="2"/>
                </a:rPr>
                <a:t>AC √</a:t>
              </a:r>
            </a:p>
            <a:p>
              <a:pPr>
                <a:lnSpc>
                  <a:spcPct val="40000"/>
                </a:lnSpc>
                <a:spcBef>
                  <a:spcPct val="50000"/>
                </a:spcBef>
              </a:pPr>
              <a:r>
                <a:rPr lang="en-US" altLang="zh-CN" sz="2800" dirty="0">
                  <a:latin typeface="Times New Roman" panose="02020603050405020304" pitchFamily="18" charset="0"/>
                  <a:sym typeface="Monotype Sorts" pitchFamily="2" charset="2"/>
                </a:rPr>
                <a:t>CE  </a:t>
              </a:r>
              <a:r>
                <a:rPr lang="en-US" altLang="zh-CN" sz="2800" b="1" dirty="0">
                  <a:latin typeface="Times New Roman" panose="02020603050405020304" pitchFamily="18" charset="0"/>
                  <a:sym typeface="Monotype Sorts" pitchFamily="2" charset="2"/>
                </a:rPr>
                <a:t>╳</a:t>
              </a:r>
            </a:p>
          </p:txBody>
        </p:sp>
      </p:grpSp>
      <p:grpSp>
        <p:nvGrpSpPr>
          <p:cNvPr id="9" name="Group 63"/>
          <p:cNvGrpSpPr/>
          <p:nvPr/>
        </p:nvGrpSpPr>
        <p:grpSpPr>
          <a:xfrm>
            <a:off x="6448425" y="3632200"/>
            <a:ext cx="1860550" cy="808038"/>
            <a:chOff x="3282" y="2288"/>
            <a:chExt cx="1172" cy="509"/>
          </a:xfrm>
        </p:grpSpPr>
        <p:sp>
          <p:nvSpPr>
            <p:cNvPr id="57383" name="Rectangle 48"/>
            <p:cNvSpPr/>
            <p:nvPr/>
          </p:nvSpPr>
          <p:spPr>
            <a:xfrm>
              <a:off x="3282" y="2370"/>
              <a:ext cx="639" cy="327"/>
            </a:xfrm>
            <a:prstGeom prst="rect">
              <a:avLst/>
            </a:prstGeom>
            <a:noFill/>
            <a:ln w="19050">
              <a:noFill/>
            </a:ln>
          </p:spPr>
          <p:txBody>
            <a:bodyPr wrap="none">
              <a:spAutoFit/>
            </a:bodyPr>
            <a:lstStyle/>
            <a:p>
              <a:pPr>
                <a:spcBef>
                  <a:spcPct val="50000"/>
                </a:spcBef>
              </a:pPr>
              <a:r>
                <a:rPr lang="en-US" altLang="zh-CN" sz="2800" dirty="0">
                  <a:latin typeface="Times New Roman" panose="02020603050405020304" pitchFamily="18" charset="0"/>
                  <a:sym typeface="Monotype Sorts" pitchFamily="2" charset="2"/>
                </a:rPr>
                <a:t>AE→</a:t>
              </a:r>
            </a:p>
          </p:txBody>
        </p:sp>
        <p:sp>
          <p:nvSpPr>
            <p:cNvPr id="57384" name="Rectangle 49"/>
            <p:cNvSpPr/>
            <p:nvPr/>
          </p:nvSpPr>
          <p:spPr>
            <a:xfrm>
              <a:off x="3786" y="2334"/>
              <a:ext cx="427" cy="463"/>
            </a:xfrm>
            <a:prstGeom prst="rect">
              <a:avLst/>
            </a:prstGeom>
            <a:noFill/>
            <a:ln w="19050">
              <a:noFill/>
            </a:ln>
          </p:spPr>
          <p:txBody>
            <a:bodyPr wrap="none">
              <a:spAutoFit/>
            </a:bodyPr>
            <a:lstStyle/>
            <a:p>
              <a:pPr>
                <a:lnSpc>
                  <a:spcPct val="50000"/>
                </a:lnSpc>
                <a:spcBef>
                  <a:spcPct val="50000"/>
                </a:spcBef>
              </a:pPr>
              <a:r>
                <a:rPr lang="en-US" altLang="zh-CN" sz="2800" dirty="0">
                  <a:latin typeface="Times New Roman" panose="02020603050405020304" pitchFamily="18" charset="0"/>
                  <a:sym typeface="Monotype Sorts" pitchFamily="2" charset="2"/>
                </a:rPr>
                <a:t>AB</a:t>
              </a:r>
            </a:p>
            <a:p>
              <a:pPr>
                <a:lnSpc>
                  <a:spcPct val="50000"/>
                </a:lnSpc>
                <a:spcBef>
                  <a:spcPct val="50000"/>
                </a:spcBef>
              </a:pPr>
              <a:r>
                <a:rPr lang="en-US" altLang="zh-CN" sz="2800" dirty="0">
                  <a:latin typeface="Times New Roman" panose="02020603050405020304" pitchFamily="18" charset="0"/>
                  <a:sym typeface="Monotype Sorts" pitchFamily="2" charset="2"/>
                </a:rPr>
                <a:t>CD</a:t>
              </a:r>
            </a:p>
          </p:txBody>
        </p:sp>
        <p:sp>
          <p:nvSpPr>
            <p:cNvPr id="57385" name="Rectangle 50"/>
            <p:cNvSpPr/>
            <p:nvPr/>
          </p:nvSpPr>
          <p:spPr>
            <a:xfrm>
              <a:off x="4134" y="2288"/>
              <a:ext cx="320" cy="488"/>
            </a:xfrm>
            <a:prstGeom prst="rect">
              <a:avLst/>
            </a:prstGeom>
            <a:noFill/>
            <a:ln w="19050">
              <a:noFill/>
            </a:ln>
          </p:spPr>
          <p:txBody>
            <a:bodyPr>
              <a:spAutoFit/>
            </a:bodyPr>
            <a:lstStyle/>
            <a:p>
              <a:pPr>
                <a:lnSpc>
                  <a:spcPct val="80000"/>
                </a:lnSpc>
              </a:pPr>
              <a:r>
                <a:rPr lang="en-US" altLang="zh-CN" sz="2800" dirty="0">
                  <a:latin typeface="Times New Roman" panose="02020603050405020304" pitchFamily="18" charset="0"/>
                  <a:sym typeface="Monotype Sorts" pitchFamily="2" charset="2"/>
                </a:rPr>
                <a:t>√</a:t>
              </a:r>
            </a:p>
            <a:p>
              <a:pPr>
                <a:lnSpc>
                  <a:spcPct val="80000"/>
                </a:lnSpc>
              </a:pPr>
              <a:r>
                <a:rPr lang="en-US" altLang="zh-CN" sz="2800" dirty="0">
                  <a:latin typeface="Times New Roman" panose="02020603050405020304" pitchFamily="18" charset="0"/>
                  <a:sym typeface="Monotype Sorts" pitchFamily="2" charset="2"/>
                </a:rPr>
                <a:t>√</a:t>
              </a:r>
            </a:p>
          </p:txBody>
        </p:sp>
      </p:grpSp>
      <p:grpSp>
        <p:nvGrpSpPr>
          <p:cNvPr id="10" name="Group 64"/>
          <p:cNvGrpSpPr/>
          <p:nvPr/>
        </p:nvGrpSpPr>
        <p:grpSpPr>
          <a:xfrm>
            <a:off x="6394450" y="2536825"/>
            <a:ext cx="2868613" cy="989013"/>
            <a:chOff x="3248" y="1598"/>
            <a:chExt cx="1807" cy="623"/>
          </a:xfrm>
        </p:grpSpPr>
        <p:sp>
          <p:nvSpPr>
            <p:cNvPr id="57379" name="Rectangle 53"/>
            <p:cNvSpPr/>
            <p:nvPr/>
          </p:nvSpPr>
          <p:spPr>
            <a:xfrm>
              <a:off x="3248" y="1754"/>
              <a:ext cx="664" cy="327"/>
            </a:xfrm>
            <a:prstGeom prst="rect">
              <a:avLst/>
            </a:prstGeom>
            <a:noFill/>
            <a:ln w="19050">
              <a:noFill/>
            </a:ln>
          </p:spPr>
          <p:txBody>
            <a:bodyPr>
              <a:spAutoFit/>
            </a:bodyPr>
            <a:lstStyle/>
            <a:p>
              <a:pPr>
                <a:spcBef>
                  <a:spcPct val="50000"/>
                </a:spcBef>
              </a:pPr>
              <a:r>
                <a:rPr lang="en-US" altLang="zh-CN" sz="2800" dirty="0">
                  <a:latin typeface="Times New Roman" panose="02020603050405020304" pitchFamily="18" charset="0"/>
                  <a:sym typeface="Monotype Sorts" pitchFamily="2" charset="2"/>
                </a:rPr>
                <a:t>AD→</a:t>
              </a:r>
            </a:p>
          </p:txBody>
        </p:sp>
        <p:sp>
          <p:nvSpPr>
            <p:cNvPr id="57380" name="Rectangle 54"/>
            <p:cNvSpPr/>
            <p:nvPr/>
          </p:nvSpPr>
          <p:spPr>
            <a:xfrm>
              <a:off x="4124" y="1599"/>
              <a:ext cx="931" cy="327"/>
            </a:xfrm>
            <a:prstGeom prst="rect">
              <a:avLst/>
            </a:prstGeom>
            <a:noFill/>
            <a:ln w="19050">
              <a:noFill/>
            </a:ln>
          </p:spPr>
          <p:txBody>
            <a:bodyPr>
              <a:spAutoFit/>
            </a:bodyPr>
            <a:lstStyle/>
            <a:p>
              <a:pPr>
                <a:spcBef>
                  <a:spcPct val="50000"/>
                </a:spcBef>
              </a:pPr>
              <a:r>
                <a:rPr lang="en-US" altLang="zh-CN" sz="2800" dirty="0">
                  <a:latin typeface="Times New Roman" panose="02020603050405020304" pitchFamily="18" charset="0"/>
                  <a:sym typeface="Monotype Sorts" pitchFamily="2" charset="2"/>
                </a:rPr>
                <a:t>→BC √</a:t>
              </a:r>
            </a:p>
          </p:txBody>
        </p:sp>
        <p:sp>
          <p:nvSpPr>
            <p:cNvPr id="57381" name="Rectangle 55"/>
            <p:cNvSpPr/>
            <p:nvPr/>
          </p:nvSpPr>
          <p:spPr>
            <a:xfrm>
              <a:off x="3814" y="1598"/>
              <a:ext cx="498" cy="596"/>
            </a:xfrm>
            <a:prstGeom prst="rect">
              <a:avLst/>
            </a:prstGeom>
            <a:noFill/>
            <a:ln w="19050">
              <a:noFill/>
            </a:ln>
          </p:spPr>
          <p:txBody>
            <a:bodyPr>
              <a:spAutoFit/>
            </a:bodyPr>
            <a:lstStyle/>
            <a:p>
              <a:r>
                <a:rPr lang="en-US" altLang="zh-CN" sz="2800" dirty="0">
                  <a:latin typeface="Times New Roman" panose="02020603050405020304" pitchFamily="18" charset="0"/>
                  <a:sym typeface="Monotype Sorts" pitchFamily="2" charset="2"/>
                </a:rPr>
                <a:t>CDAC</a:t>
              </a:r>
            </a:p>
          </p:txBody>
        </p:sp>
        <p:sp>
          <p:nvSpPr>
            <p:cNvPr id="57382" name="Rectangle 56"/>
            <p:cNvSpPr/>
            <p:nvPr/>
          </p:nvSpPr>
          <p:spPr>
            <a:xfrm>
              <a:off x="4195" y="1894"/>
              <a:ext cx="341" cy="327"/>
            </a:xfrm>
            <a:prstGeom prst="rect">
              <a:avLst/>
            </a:prstGeom>
            <a:noFill/>
            <a:ln w="19050">
              <a:noFill/>
            </a:ln>
          </p:spPr>
          <p:txBody>
            <a:bodyPr>
              <a:spAutoFit/>
            </a:bodyPr>
            <a:lstStyle/>
            <a:p>
              <a:r>
                <a:rPr lang="en-US" altLang="zh-CN" sz="2800" dirty="0">
                  <a:latin typeface="Times New Roman" panose="02020603050405020304" pitchFamily="18" charset="0"/>
                  <a:sym typeface="Monotype Sorts" pitchFamily="2" charset="2"/>
                </a:rPr>
                <a:t>√</a:t>
              </a:r>
            </a:p>
          </p:txBody>
        </p:sp>
      </p:grpSp>
      <p:sp>
        <p:nvSpPr>
          <p:cNvPr id="195645" name="Line 61"/>
          <p:cNvSpPr/>
          <p:nvPr/>
        </p:nvSpPr>
        <p:spPr>
          <a:xfrm flipH="1">
            <a:off x="4129088" y="3332163"/>
            <a:ext cx="720725" cy="731837"/>
          </a:xfrm>
          <a:prstGeom prst="line">
            <a:avLst/>
          </a:prstGeom>
          <a:ln w="19050" cap="flat" cmpd="sng">
            <a:solidFill>
              <a:srgbClr val="3333FF"/>
            </a:solidFill>
            <a:prstDash val="solid"/>
            <a:headEnd type="none" w="med" len="med"/>
            <a:tailEnd type="none" w="sm" len="lg"/>
          </a:ln>
        </p:spPr>
      </p:sp>
      <p:grpSp>
        <p:nvGrpSpPr>
          <p:cNvPr id="11" name="Group 80"/>
          <p:cNvGrpSpPr/>
          <p:nvPr/>
        </p:nvGrpSpPr>
        <p:grpSpPr>
          <a:xfrm>
            <a:off x="-17462" y="1401763"/>
            <a:ext cx="3100387" cy="4286250"/>
            <a:chOff x="-11" y="883"/>
            <a:chExt cx="1953" cy="2700"/>
          </a:xfrm>
        </p:grpSpPr>
        <p:sp>
          <p:nvSpPr>
            <p:cNvPr id="57366" name="Line 67"/>
            <p:cNvSpPr/>
            <p:nvPr/>
          </p:nvSpPr>
          <p:spPr>
            <a:xfrm>
              <a:off x="68" y="883"/>
              <a:ext cx="1859" cy="0"/>
            </a:xfrm>
            <a:prstGeom prst="line">
              <a:avLst/>
            </a:prstGeom>
            <a:ln w="38100" cap="flat" cmpd="sng">
              <a:solidFill>
                <a:schemeClr val="tx1"/>
              </a:solidFill>
              <a:prstDash val="solid"/>
              <a:headEnd type="none" w="med" len="med"/>
              <a:tailEnd type="none" w="sm" len="lg"/>
            </a:ln>
          </p:spPr>
        </p:sp>
        <p:sp>
          <p:nvSpPr>
            <p:cNvPr id="57367" name="Line 68"/>
            <p:cNvSpPr/>
            <p:nvPr/>
          </p:nvSpPr>
          <p:spPr>
            <a:xfrm>
              <a:off x="83" y="3571"/>
              <a:ext cx="1859" cy="0"/>
            </a:xfrm>
            <a:prstGeom prst="line">
              <a:avLst/>
            </a:prstGeom>
            <a:ln w="38100" cap="flat" cmpd="sng">
              <a:solidFill>
                <a:schemeClr val="tx1"/>
              </a:solidFill>
              <a:prstDash val="solid"/>
              <a:headEnd type="none" w="med" len="med"/>
              <a:tailEnd type="none" w="sm" len="lg"/>
            </a:ln>
          </p:spPr>
        </p:sp>
        <p:sp>
          <p:nvSpPr>
            <p:cNvPr id="57368" name="Line 69"/>
            <p:cNvSpPr/>
            <p:nvPr/>
          </p:nvSpPr>
          <p:spPr>
            <a:xfrm>
              <a:off x="514" y="883"/>
              <a:ext cx="0" cy="2700"/>
            </a:xfrm>
            <a:prstGeom prst="line">
              <a:avLst/>
            </a:prstGeom>
            <a:ln w="19050" cap="flat" cmpd="sng">
              <a:solidFill>
                <a:schemeClr val="tx1"/>
              </a:solidFill>
              <a:prstDash val="solid"/>
              <a:headEnd type="none" w="med" len="med"/>
              <a:tailEnd type="none" w="sm" len="lg"/>
            </a:ln>
          </p:spPr>
        </p:sp>
        <p:sp>
          <p:nvSpPr>
            <p:cNvPr id="57369" name="Line 70"/>
            <p:cNvSpPr/>
            <p:nvPr/>
          </p:nvSpPr>
          <p:spPr>
            <a:xfrm>
              <a:off x="1182" y="1483"/>
              <a:ext cx="0" cy="2076"/>
            </a:xfrm>
            <a:prstGeom prst="line">
              <a:avLst/>
            </a:prstGeom>
            <a:ln w="19050" cap="flat" cmpd="sng">
              <a:solidFill>
                <a:schemeClr val="tx1"/>
              </a:solidFill>
              <a:prstDash val="solid"/>
              <a:headEnd type="none" w="med" len="med"/>
              <a:tailEnd type="none" w="sm" len="lg"/>
            </a:ln>
          </p:spPr>
        </p:sp>
        <p:sp>
          <p:nvSpPr>
            <p:cNvPr id="57370" name="Line 71"/>
            <p:cNvSpPr/>
            <p:nvPr/>
          </p:nvSpPr>
          <p:spPr>
            <a:xfrm>
              <a:off x="514" y="1471"/>
              <a:ext cx="1408" cy="0"/>
            </a:xfrm>
            <a:prstGeom prst="line">
              <a:avLst/>
            </a:prstGeom>
            <a:ln w="12700" cap="flat" cmpd="sng">
              <a:solidFill>
                <a:schemeClr val="tx1"/>
              </a:solidFill>
              <a:prstDash val="solid"/>
              <a:headEnd type="none" w="med" len="med"/>
              <a:tailEnd type="none" w="sm" len="lg"/>
            </a:ln>
          </p:spPr>
        </p:sp>
        <p:sp>
          <p:nvSpPr>
            <p:cNvPr id="57371" name="Line 72"/>
            <p:cNvSpPr/>
            <p:nvPr/>
          </p:nvSpPr>
          <p:spPr>
            <a:xfrm>
              <a:off x="58" y="2023"/>
              <a:ext cx="1859" cy="0"/>
            </a:xfrm>
            <a:prstGeom prst="line">
              <a:avLst/>
            </a:prstGeom>
            <a:ln w="12700" cap="flat" cmpd="sng">
              <a:solidFill>
                <a:schemeClr val="tx1"/>
              </a:solidFill>
              <a:prstDash val="solid"/>
              <a:headEnd type="none" w="med" len="med"/>
              <a:tailEnd type="none" w="sm" len="lg"/>
            </a:ln>
          </p:spPr>
        </p:sp>
        <p:sp>
          <p:nvSpPr>
            <p:cNvPr id="57372" name="Text Box 73"/>
            <p:cNvSpPr txBox="1"/>
            <p:nvPr/>
          </p:nvSpPr>
          <p:spPr>
            <a:xfrm>
              <a:off x="-11" y="1283"/>
              <a:ext cx="564" cy="327"/>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57373" name="Text Box 74"/>
            <p:cNvSpPr txBox="1"/>
            <p:nvPr/>
          </p:nvSpPr>
          <p:spPr>
            <a:xfrm>
              <a:off x="638" y="1009"/>
              <a:ext cx="1074"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57374" name="Text Box 75"/>
            <p:cNvSpPr txBox="1"/>
            <p:nvPr/>
          </p:nvSpPr>
          <p:spPr>
            <a:xfrm>
              <a:off x="743" y="1585"/>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57375" name="Text Box 76"/>
            <p:cNvSpPr txBox="1"/>
            <p:nvPr/>
          </p:nvSpPr>
          <p:spPr>
            <a:xfrm>
              <a:off x="1436" y="1585"/>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57376" name="Text Box 77"/>
            <p:cNvSpPr txBox="1"/>
            <p:nvPr/>
          </p:nvSpPr>
          <p:spPr>
            <a:xfrm>
              <a:off x="185" y="2089"/>
              <a:ext cx="278" cy="1403"/>
            </a:xfrm>
            <a:prstGeom prst="rect">
              <a:avLst/>
            </a:prstGeom>
            <a:noFill/>
            <a:ln w="19050">
              <a:noFill/>
            </a:ln>
          </p:spPr>
          <p:txBody>
            <a:bodyPr wrap="none">
              <a:spAutoFit/>
            </a:bodyPr>
            <a:lstStyle/>
            <a:p>
              <a:r>
                <a:rPr lang="en-US" altLang="zh-CN" sz="2800" dirty="0">
                  <a:latin typeface="Times New Roman" panose="02020603050405020304" pitchFamily="18" charset="0"/>
                </a:rPr>
                <a:t>A</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a:t>
              </a:r>
            </a:p>
            <a:p>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57377" name="Text Box 78"/>
            <p:cNvSpPr txBox="1"/>
            <p:nvPr/>
          </p:nvSpPr>
          <p:spPr>
            <a:xfrm>
              <a:off x="712" y="2089"/>
              <a:ext cx="452" cy="1403"/>
            </a:xfrm>
            <a:prstGeom prst="rect">
              <a:avLst/>
            </a:prstGeom>
            <a:noFill/>
            <a:ln w="19050">
              <a:noFill/>
            </a:ln>
          </p:spPr>
          <p:txBody>
            <a:bodyPr wrap="none">
              <a:spAutoFit/>
            </a:bodyPr>
            <a:lstStyle/>
            <a:p>
              <a:r>
                <a:rPr lang="en-US" altLang="zh-CN" sz="2800" dirty="0">
                  <a:latin typeface="Times New Roman" panose="02020603050405020304" pitchFamily="18" charset="0"/>
                </a:rPr>
                <a:t>D/d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p>
            <a:p>
              <a:r>
                <a:rPr lang="en-US" altLang="zh-CN" sz="2800" dirty="0">
                  <a:latin typeface="Times New Roman" panose="02020603050405020304" pitchFamily="18" charset="0"/>
                </a:rPr>
                <a:t>C/1</a:t>
              </a:r>
            </a:p>
          </p:txBody>
        </p:sp>
        <p:sp>
          <p:nvSpPr>
            <p:cNvPr id="57378" name="Text Box 79"/>
            <p:cNvSpPr txBox="1"/>
            <p:nvPr/>
          </p:nvSpPr>
          <p:spPr>
            <a:xfrm>
              <a:off x="1416" y="2089"/>
              <a:ext cx="452" cy="1403"/>
            </a:xfrm>
            <a:prstGeom prst="rect">
              <a:avLst/>
            </a:prstGeom>
            <a:noFill/>
            <a:ln w="19050">
              <a:noFill/>
            </a:ln>
          </p:spPr>
          <p:txBody>
            <a:bodyPr wrap="none">
              <a:spAutoFit/>
            </a:bodyPr>
            <a:lstStyle/>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p>
            <a:p>
              <a:r>
                <a:rPr lang="en-US" altLang="zh-CN" sz="2800" dirty="0">
                  <a:latin typeface="Times New Roman" panose="02020603050405020304" pitchFamily="18" charset="0"/>
                </a:rPr>
                <a:t>B/d</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5586"/>
                                        </p:tgtEl>
                                        <p:attrNameLst>
                                          <p:attrName>style.visibility</p:attrName>
                                        </p:attrNameLst>
                                      </p:cBhvr>
                                      <p:to>
                                        <p:strVal val="visible"/>
                                      </p:to>
                                    </p:set>
                                    <p:animEffect transition="in" filter="wipe(left)">
                                      <p:cBhvr>
                                        <p:cTn id="7" dur="500"/>
                                        <p:tgtEl>
                                          <p:spTgt spid="195586"/>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to="" calcmode="lin" valueType="num">
                                      <p:cBhvr>
                                        <p:cTn id="12" dur="1" fill="hold"/>
                                        <p:tgtEl>
                                          <p:spTgt spid="11"/>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5618"/>
                                        </p:tgtEl>
                                        <p:attrNameLst>
                                          <p:attrName>style.visibility</p:attrName>
                                        </p:attrNameLst>
                                      </p:cBhvr>
                                      <p:to>
                                        <p:strVal val="visible"/>
                                      </p:to>
                                    </p:set>
                                    <p:animEffect transition="in" filter="wipe(left)">
                                      <p:cBhvr>
                                        <p:cTn id="22" dur="500"/>
                                        <p:tgtEl>
                                          <p:spTgt spid="1956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5617"/>
                                        </p:tgtEl>
                                        <p:attrNameLst>
                                          <p:attrName>style.visibility</p:attrName>
                                        </p:attrNameLst>
                                      </p:cBhvr>
                                      <p:to>
                                        <p:strVal val="visible"/>
                                      </p:to>
                                    </p:set>
                                    <p:animEffect transition="in" filter="wipe(left)">
                                      <p:cBhvr>
                                        <p:cTn id="27" dur="500"/>
                                        <p:tgtEl>
                                          <p:spTgt spid="1956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5615"/>
                                        </p:tgtEl>
                                        <p:attrNameLst>
                                          <p:attrName>style.visibility</p:attrName>
                                        </p:attrNameLst>
                                      </p:cBhvr>
                                      <p:to>
                                        <p:strVal val="visible"/>
                                      </p:to>
                                    </p:set>
                                    <p:animEffect transition="in" filter="wipe(left)">
                                      <p:cBhvr>
                                        <p:cTn id="32" dur="500"/>
                                        <p:tgtEl>
                                          <p:spTgt spid="1956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5616"/>
                                        </p:tgtEl>
                                        <p:attrNameLst>
                                          <p:attrName>style.visibility</p:attrName>
                                        </p:attrNameLst>
                                      </p:cBhvr>
                                      <p:to>
                                        <p:strVal val="visible"/>
                                      </p:to>
                                    </p:set>
                                    <p:animEffect transition="in" filter="wipe(left)">
                                      <p:cBhvr>
                                        <p:cTn id="37" dur="500"/>
                                        <p:tgtEl>
                                          <p:spTgt spid="1956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95607"/>
                                        </p:tgtEl>
                                        <p:attrNameLst>
                                          <p:attrName>style.visibility</p:attrName>
                                        </p:attrNameLst>
                                      </p:cBhvr>
                                      <p:to>
                                        <p:strVal val="visible"/>
                                      </p:to>
                                    </p:set>
                                    <p:animEffect transition="in" filter="wipe(left)">
                                      <p:cBhvr>
                                        <p:cTn id="42" dur="500"/>
                                        <p:tgtEl>
                                          <p:spTgt spid="19560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95614"/>
                                        </p:tgtEl>
                                        <p:attrNameLst>
                                          <p:attrName>style.visibility</p:attrName>
                                        </p:attrNameLst>
                                      </p:cBhvr>
                                      <p:to>
                                        <p:strVal val="visible"/>
                                      </p:to>
                                    </p:set>
                                    <p:animEffect transition="in" filter="wipe(left)">
                                      <p:cBhvr>
                                        <p:cTn id="47" dur="500"/>
                                        <p:tgtEl>
                                          <p:spTgt spid="1956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left)">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95619"/>
                                        </p:tgtEl>
                                        <p:attrNameLst>
                                          <p:attrName>style.visibility</p:attrName>
                                        </p:attrNameLst>
                                      </p:cBhvr>
                                      <p:to>
                                        <p:strVal val="visible"/>
                                      </p:to>
                                    </p:set>
                                    <p:animEffect transition="in" filter="wipe(left)">
                                      <p:cBhvr>
                                        <p:cTn id="57" dur="500"/>
                                        <p:tgtEl>
                                          <p:spTgt spid="19561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wipe(left)">
                                      <p:cBhvr>
                                        <p:cTn id="62" dur="500"/>
                                        <p:tgtEl>
                                          <p:spTgt spid="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95620"/>
                                        </p:tgtEl>
                                        <p:attrNameLst>
                                          <p:attrName>style.visibility</p:attrName>
                                        </p:attrNameLst>
                                      </p:cBhvr>
                                      <p:to>
                                        <p:strVal val="visible"/>
                                      </p:to>
                                    </p:set>
                                    <p:animEffect transition="in" filter="wipe(left)">
                                      <p:cBhvr>
                                        <p:cTn id="67" dur="500"/>
                                        <p:tgtEl>
                                          <p:spTgt spid="19562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wipe(left)">
                                      <p:cBhvr>
                                        <p:cTn id="72" dur="500"/>
                                        <p:tgtEl>
                                          <p:spTgt spid="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95627"/>
                                        </p:tgtEl>
                                        <p:attrNameLst>
                                          <p:attrName>style.visibility</p:attrName>
                                        </p:attrNameLst>
                                      </p:cBhvr>
                                      <p:to>
                                        <p:strVal val="visible"/>
                                      </p:to>
                                    </p:set>
                                    <p:animEffect transition="in" filter="wipe(left)">
                                      <p:cBhvr>
                                        <p:cTn id="77" dur="500"/>
                                        <p:tgtEl>
                                          <p:spTgt spid="19562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0"/>
                                        </p:tgtEl>
                                        <p:attrNameLst>
                                          <p:attrName>style.visibility</p:attrName>
                                        </p:attrNameLst>
                                      </p:cBhvr>
                                      <p:to>
                                        <p:strVal val="visible"/>
                                      </p:to>
                                    </p:set>
                                    <p:animEffect transition="in" filter="wipe(left)">
                                      <p:cBhvr>
                                        <p:cTn id="82" dur="500"/>
                                        <p:tgtEl>
                                          <p:spTgt spid="1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9"/>
                                        </p:tgtEl>
                                        <p:attrNameLst>
                                          <p:attrName>style.visibility</p:attrName>
                                        </p:attrNameLst>
                                      </p:cBhvr>
                                      <p:to>
                                        <p:strVal val="visible"/>
                                      </p:to>
                                    </p:set>
                                    <p:animEffect transition="in" filter="wipe(left)">
                                      <p:cBhvr>
                                        <p:cTn id="87" dur="500"/>
                                        <p:tgtEl>
                                          <p:spTgt spid="9"/>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8"/>
                                        </p:tgtEl>
                                        <p:attrNameLst>
                                          <p:attrName>style.visibility</p:attrName>
                                        </p:attrNameLst>
                                      </p:cBhvr>
                                      <p:to>
                                        <p:strVal val="visible"/>
                                      </p:to>
                                    </p:set>
                                    <p:animEffect transition="in" filter="wipe(left)">
                                      <p:cBhvr>
                                        <p:cTn id="92" dur="500"/>
                                        <p:tgtEl>
                                          <p:spTgt spid="8"/>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19564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195621"/>
                                        </p:tgtEl>
                                        <p:attrNameLst>
                                          <p:attrName>style.visibility</p:attrName>
                                        </p:attrNameLst>
                                      </p:cBhvr>
                                      <p:to>
                                        <p:strVal val="visible"/>
                                      </p:to>
                                    </p:set>
                                    <p:animEffect transition="in" filter="wipe(left)">
                                      <p:cBhvr>
                                        <p:cTn id="101" dur="500"/>
                                        <p:tgtEl>
                                          <p:spTgt spid="195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6" grpId="0"/>
      <p:bldP spid="195607" grpId="0"/>
      <p:bldP spid="195614" grpId="0"/>
      <p:bldP spid="195615" grpId="0"/>
      <p:bldP spid="195616" grpId="0"/>
      <p:bldP spid="195617" grpId="0"/>
      <p:bldP spid="195618" grpId="0"/>
      <p:bldP spid="195619" grpId="0"/>
      <p:bldP spid="195620" grpId="0"/>
      <p:bldP spid="195621" grpId="0" bldLvl="0" animBg="1"/>
      <p:bldP spid="195627"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Text Box 2"/>
          <p:cNvSpPr txBox="1"/>
          <p:nvPr/>
        </p:nvSpPr>
        <p:spPr>
          <a:xfrm>
            <a:off x="1222375" y="1114425"/>
            <a:ext cx="5343525" cy="519113"/>
          </a:xfrm>
          <a:prstGeom prst="rect">
            <a:avLst/>
          </a:prstGeom>
          <a:noFill/>
          <a:ln w="19050">
            <a:noFill/>
          </a:ln>
        </p:spPr>
        <p:txBody>
          <a:bodyPr wrap="none">
            <a:spAutoFit/>
          </a:bodyPr>
          <a:lstStyle/>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作状态合并图，寻找最大相容类</a:t>
            </a:r>
          </a:p>
        </p:txBody>
      </p:sp>
      <p:grpSp>
        <p:nvGrpSpPr>
          <p:cNvPr id="2" name="Group 3"/>
          <p:cNvGrpSpPr/>
          <p:nvPr/>
        </p:nvGrpSpPr>
        <p:grpSpPr>
          <a:xfrm>
            <a:off x="2613025" y="1704975"/>
            <a:ext cx="3468688" cy="3376613"/>
            <a:chOff x="1646" y="1074"/>
            <a:chExt cx="2185" cy="2127"/>
          </a:xfrm>
        </p:grpSpPr>
        <p:sp>
          <p:nvSpPr>
            <p:cNvPr id="58373" name="Text Box 4"/>
            <p:cNvSpPr txBox="1"/>
            <p:nvPr/>
          </p:nvSpPr>
          <p:spPr>
            <a:xfrm>
              <a:off x="2606" y="1074"/>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A</a:t>
              </a:r>
            </a:p>
          </p:txBody>
        </p:sp>
        <p:sp>
          <p:nvSpPr>
            <p:cNvPr id="58374" name="Text Box 5"/>
            <p:cNvSpPr txBox="1"/>
            <p:nvPr/>
          </p:nvSpPr>
          <p:spPr>
            <a:xfrm>
              <a:off x="3566" y="1770"/>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B</a:t>
              </a:r>
            </a:p>
          </p:txBody>
        </p:sp>
        <p:sp>
          <p:nvSpPr>
            <p:cNvPr id="58375" name="Text Box 6"/>
            <p:cNvSpPr txBox="1"/>
            <p:nvPr/>
          </p:nvSpPr>
          <p:spPr>
            <a:xfrm>
              <a:off x="3206" y="2838"/>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58376" name="Text Box 7"/>
            <p:cNvSpPr txBox="1"/>
            <p:nvPr/>
          </p:nvSpPr>
          <p:spPr>
            <a:xfrm>
              <a:off x="2030" y="2874"/>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58377" name="Text Box 8"/>
            <p:cNvSpPr txBox="1"/>
            <p:nvPr/>
          </p:nvSpPr>
          <p:spPr>
            <a:xfrm>
              <a:off x="1646" y="1758"/>
              <a:ext cx="253" cy="327"/>
            </a:xfrm>
            <a:prstGeom prst="rect">
              <a:avLst/>
            </a:prstGeom>
            <a:noFill/>
            <a:ln w="19050">
              <a:noFill/>
            </a:ln>
          </p:spPr>
          <p:txBody>
            <a:bodyPr wrap="none">
              <a:spAutoFit/>
            </a:bodyPr>
            <a:lstStyle/>
            <a:p>
              <a:r>
                <a:rPr lang="en-US" altLang="zh-CN" sz="2800" dirty="0">
                  <a:latin typeface="Times New Roman" panose="02020603050405020304" pitchFamily="18" charset="0"/>
                </a:rPr>
                <a:t>E</a:t>
              </a:r>
            </a:p>
          </p:txBody>
        </p:sp>
        <p:sp>
          <p:nvSpPr>
            <p:cNvPr id="58378" name="Oval 9"/>
            <p:cNvSpPr/>
            <p:nvPr/>
          </p:nvSpPr>
          <p:spPr>
            <a:xfrm>
              <a:off x="3528" y="1956"/>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8379" name="Oval 10"/>
            <p:cNvSpPr/>
            <p:nvPr/>
          </p:nvSpPr>
          <p:spPr>
            <a:xfrm>
              <a:off x="3204" y="2904"/>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8380" name="Oval 11"/>
            <p:cNvSpPr/>
            <p:nvPr/>
          </p:nvSpPr>
          <p:spPr>
            <a:xfrm>
              <a:off x="2208" y="2880"/>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8381" name="Oval 12"/>
            <p:cNvSpPr/>
            <p:nvPr/>
          </p:nvSpPr>
          <p:spPr>
            <a:xfrm>
              <a:off x="1896" y="1968"/>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8382" name="Oval 13"/>
            <p:cNvSpPr/>
            <p:nvPr/>
          </p:nvSpPr>
          <p:spPr>
            <a:xfrm>
              <a:off x="2712" y="1344"/>
              <a:ext cx="72" cy="72"/>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nvGrpSpPr>
            <p:cNvPr id="58383" name="Group 14"/>
            <p:cNvGrpSpPr/>
            <p:nvPr/>
          </p:nvGrpSpPr>
          <p:grpSpPr>
            <a:xfrm>
              <a:off x="1884" y="1380"/>
              <a:ext cx="1728" cy="1728"/>
              <a:chOff x="1884" y="1380"/>
              <a:chExt cx="1728" cy="1728"/>
            </a:xfrm>
          </p:grpSpPr>
          <p:sp>
            <p:nvSpPr>
              <p:cNvPr id="58384" name="Oval 15"/>
              <p:cNvSpPr/>
              <p:nvPr/>
            </p:nvSpPr>
            <p:spPr>
              <a:xfrm>
                <a:off x="1884" y="1380"/>
                <a:ext cx="1728" cy="1728"/>
              </a:xfrm>
              <a:prstGeom prst="ellipse">
                <a:avLst/>
              </a:prstGeom>
              <a:noFill/>
              <a:ln w="3810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8385" name="AutoShape 16"/>
              <p:cNvSpPr/>
              <p:nvPr/>
            </p:nvSpPr>
            <p:spPr>
              <a:xfrm>
                <a:off x="1938" y="1390"/>
                <a:ext cx="1620" cy="1540"/>
              </a:xfrm>
              <a:prstGeom prst="pentagon">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8386" name="Line 17"/>
              <p:cNvSpPr/>
              <p:nvPr/>
            </p:nvSpPr>
            <p:spPr>
              <a:xfrm flipH="1">
                <a:off x="2244" y="1392"/>
                <a:ext cx="504" cy="1536"/>
              </a:xfrm>
              <a:prstGeom prst="line">
                <a:avLst/>
              </a:prstGeom>
              <a:ln w="38100" cap="flat" cmpd="sng">
                <a:solidFill>
                  <a:srgbClr val="3333FF"/>
                </a:solidFill>
                <a:prstDash val="solid"/>
                <a:headEnd type="none" w="med" len="med"/>
                <a:tailEnd type="none" w="sm" len="lg"/>
              </a:ln>
            </p:spPr>
          </p:sp>
          <p:sp>
            <p:nvSpPr>
              <p:cNvPr id="58387" name="Line 18"/>
              <p:cNvSpPr/>
              <p:nvPr/>
            </p:nvSpPr>
            <p:spPr>
              <a:xfrm>
                <a:off x="2760" y="1380"/>
                <a:ext cx="492" cy="1560"/>
              </a:xfrm>
              <a:prstGeom prst="line">
                <a:avLst/>
              </a:prstGeom>
              <a:ln w="38100" cap="flat" cmpd="sng">
                <a:solidFill>
                  <a:srgbClr val="3333FF"/>
                </a:solidFill>
                <a:prstDash val="solid"/>
                <a:headEnd type="none" w="med" len="med"/>
                <a:tailEnd type="none" w="sm" len="lg"/>
              </a:ln>
            </p:spPr>
          </p:sp>
        </p:grpSp>
      </p:grpSp>
      <p:sp>
        <p:nvSpPr>
          <p:cNvPr id="196627" name="Text Box 19"/>
          <p:cNvSpPr txBox="1"/>
          <p:nvPr/>
        </p:nvSpPr>
        <p:spPr>
          <a:xfrm>
            <a:off x="1222375" y="5334000"/>
            <a:ext cx="6743700" cy="519113"/>
          </a:xfrm>
          <a:prstGeom prst="rect">
            <a:avLst/>
          </a:prstGeom>
          <a:noFill/>
          <a:ln w="19050">
            <a:noFill/>
          </a:ln>
        </p:spPr>
        <p:txBody>
          <a:bodyPr>
            <a:spAutoFit/>
          </a:bodyPr>
          <a:lstStyle/>
          <a:p>
            <a:pPr>
              <a:spcBef>
                <a:spcPct val="50000"/>
              </a:spcBef>
            </a:pPr>
            <a:r>
              <a:rPr lang="zh-CN" altLang="en-US" sz="2800" dirty="0">
                <a:latin typeface="Times New Roman" panose="02020603050405020304" pitchFamily="18" charset="0"/>
              </a:rPr>
              <a:t>得最大相容类为</a:t>
            </a:r>
            <a:r>
              <a:rPr lang="en-US" altLang="zh-CN" sz="2800" dirty="0">
                <a:latin typeface="Times New Roman" panose="02020603050405020304" pitchFamily="18" charset="0"/>
              </a:rPr>
              <a:t>(A,B,C), (A,C,D), (A,D,E)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6610"/>
                                        </p:tgtEl>
                                        <p:attrNameLst>
                                          <p:attrName>style.visibility</p:attrName>
                                        </p:attrNameLst>
                                      </p:cBhvr>
                                      <p:to>
                                        <p:strVal val="visible"/>
                                      </p:to>
                                    </p:set>
                                    <p:animEffect transition="in" filter="wipe(left)">
                                      <p:cBhvr>
                                        <p:cTn id="7" dur="500"/>
                                        <p:tgtEl>
                                          <p:spTgt spid="196610"/>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to="" calcmode="lin" valueType="num">
                                      <p:cBhvr>
                                        <p:cTn id="12" dur="1" fill="hold"/>
                                        <p:tgtEl>
                                          <p:spTgt spid="2"/>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6627"/>
                                        </p:tgtEl>
                                        <p:attrNameLst>
                                          <p:attrName>style.visibility</p:attrName>
                                        </p:attrNameLst>
                                      </p:cBhvr>
                                      <p:to>
                                        <p:strVal val="visible"/>
                                      </p:to>
                                    </p:set>
                                    <p:animEffect transition="in" filter="wipe(left)">
                                      <p:cBhvr>
                                        <p:cTn id="17" dur="500"/>
                                        <p:tgtEl>
                                          <p:spTgt spid="196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0" grpId="0"/>
      <p:bldP spid="196627"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Text Box 2"/>
          <p:cNvSpPr txBox="1"/>
          <p:nvPr/>
        </p:nvSpPr>
        <p:spPr>
          <a:xfrm>
            <a:off x="631825" y="504825"/>
            <a:ext cx="2886075" cy="519113"/>
          </a:xfrm>
          <a:prstGeom prst="rect">
            <a:avLst/>
          </a:prstGeom>
          <a:noFill/>
          <a:ln w="19050">
            <a:noFill/>
          </a:ln>
        </p:spPr>
        <p:txBody>
          <a:bodyPr wrap="none">
            <a:spAutoFit/>
          </a:bodyPr>
          <a:lstStyle/>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作最小化状态表</a:t>
            </a:r>
          </a:p>
        </p:txBody>
      </p:sp>
      <p:sp>
        <p:nvSpPr>
          <p:cNvPr id="197635" name="Text Box 3"/>
          <p:cNvSpPr txBox="1"/>
          <p:nvPr/>
        </p:nvSpPr>
        <p:spPr>
          <a:xfrm>
            <a:off x="614363" y="1031875"/>
            <a:ext cx="4381500" cy="1373188"/>
          </a:xfrm>
          <a:prstGeom prst="rect">
            <a:avLst/>
          </a:prstGeom>
          <a:noFill/>
          <a:ln w="19050">
            <a:noFill/>
          </a:ln>
        </p:spPr>
        <p:txBody>
          <a:bodyPr>
            <a:spAutoFit/>
          </a:bodyPr>
          <a:lstStyle/>
          <a:p>
            <a:pPr algn="just">
              <a:spcBef>
                <a:spcPct val="50000"/>
              </a:spcBef>
            </a:pPr>
            <a:r>
              <a:rPr lang="zh-CN" altLang="en-US" sz="2800" dirty="0">
                <a:latin typeface="Times New Roman" panose="02020603050405020304" pitchFamily="18" charset="0"/>
              </a:rPr>
              <a:t>若选相容类集合为</a:t>
            </a:r>
            <a:r>
              <a:rPr lang="en-US" altLang="zh-CN" sz="2800" dirty="0">
                <a:latin typeface="Times New Roman" panose="02020603050405020304" pitchFamily="18" charset="0"/>
              </a:rPr>
              <a:t>{(A,B,C), (A,D,E)}</a:t>
            </a:r>
            <a:r>
              <a:rPr lang="zh-CN" altLang="zh-CN" sz="2800" dirty="0">
                <a:latin typeface="Times New Roman" panose="02020603050405020304" pitchFamily="18" charset="0"/>
              </a:rPr>
              <a:t>则下表表明它不满足闭合要求</a:t>
            </a:r>
          </a:p>
        </p:txBody>
      </p:sp>
      <p:grpSp>
        <p:nvGrpSpPr>
          <p:cNvPr id="2" name="Group 69"/>
          <p:cNvGrpSpPr/>
          <p:nvPr/>
        </p:nvGrpSpPr>
        <p:grpSpPr>
          <a:xfrm>
            <a:off x="3233738" y="3562350"/>
            <a:ext cx="5713412" cy="2933700"/>
            <a:chOff x="2037" y="2244"/>
            <a:chExt cx="3599" cy="1848"/>
          </a:xfrm>
        </p:grpSpPr>
        <p:sp>
          <p:nvSpPr>
            <p:cNvPr id="59431" name="Line 5"/>
            <p:cNvSpPr/>
            <p:nvPr/>
          </p:nvSpPr>
          <p:spPr>
            <a:xfrm>
              <a:off x="2037" y="2244"/>
              <a:ext cx="3522" cy="0"/>
            </a:xfrm>
            <a:prstGeom prst="line">
              <a:avLst/>
            </a:prstGeom>
            <a:ln w="38100" cap="flat" cmpd="sng">
              <a:solidFill>
                <a:schemeClr val="tx1"/>
              </a:solidFill>
              <a:prstDash val="solid"/>
              <a:headEnd type="none" w="med" len="med"/>
              <a:tailEnd type="none" w="sm" len="lg"/>
            </a:ln>
          </p:spPr>
        </p:sp>
        <p:sp>
          <p:nvSpPr>
            <p:cNvPr id="59432" name="Line 6"/>
            <p:cNvSpPr/>
            <p:nvPr/>
          </p:nvSpPr>
          <p:spPr>
            <a:xfrm>
              <a:off x="2037" y="4080"/>
              <a:ext cx="3522" cy="0"/>
            </a:xfrm>
            <a:prstGeom prst="line">
              <a:avLst/>
            </a:prstGeom>
            <a:ln w="38100" cap="flat" cmpd="sng">
              <a:solidFill>
                <a:schemeClr val="tx1"/>
              </a:solidFill>
              <a:prstDash val="solid"/>
              <a:headEnd type="none" w="med" len="med"/>
              <a:tailEnd type="none" w="sm" len="lg"/>
            </a:ln>
          </p:spPr>
        </p:sp>
        <p:sp>
          <p:nvSpPr>
            <p:cNvPr id="59433" name="Line 7"/>
            <p:cNvSpPr/>
            <p:nvPr/>
          </p:nvSpPr>
          <p:spPr>
            <a:xfrm>
              <a:off x="2994" y="2652"/>
              <a:ext cx="2565" cy="0"/>
            </a:xfrm>
            <a:prstGeom prst="line">
              <a:avLst/>
            </a:prstGeom>
            <a:ln w="28575" cap="flat" cmpd="sng">
              <a:solidFill>
                <a:schemeClr val="tx1"/>
              </a:solidFill>
              <a:prstDash val="solid"/>
              <a:headEnd type="none" w="med" len="med"/>
              <a:tailEnd type="none" w="sm" len="lg"/>
            </a:ln>
          </p:spPr>
        </p:sp>
        <p:sp>
          <p:nvSpPr>
            <p:cNvPr id="59434" name="Line 8"/>
            <p:cNvSpPr/>
            <p:nvPr/>
          </p:nvSpPr>
          <p:spPr>
            <a:xfrm>
              <a:off x="2037" y="3024"/>
              <a:ext cx="3522" cy="0"/>
            </a:xfrm>
            <a:prstGeom prst="line">
              <a:avLst/>
            </a:prstGeom>
            <a:ln w="19050" cap="flat" cmpd="sng">
              <a:solidFill>
                <a:schemeClr val="tx1"/>
              </a:solidFill>
              <a:prstDash val="solid"/>
              <a:headEnd type="none" w="med" len="med"/>
              <a:tailEnd type="none" w="sm" len="lg"/>
            </a:ln>
          </p:spPr>
        </p:sp>
        <p:sp>
          <p:nvSpPr>
            <p:cNvPr id="59435" name="Line 9"/>
            <p:cNvSpPr/>
            <p:nvPr/>
          </p:nvSpPr>
          <p:spPr>
            <a:xfrm>
              <a:off x="2994" y="2256"/>
              <a:ext cx="0" cy="1836"/>
            </a:xfrm>
            <a:prstGeom prst="line">
              <a:avLst/>
            </a:prstGeom>
            <a:ln w="19050" cap="flat" cmpd="sng">
              <a:solidFill>
                <a:schemeClr val="tx1"/>
              </a:solidFill>
              <a:prstDash val="solid"/>
              <a:headEnd type="none" w="med" len="med"/>
              <a:tailEnd type="none" w="sm" len="lg"/>
            </a:ln>
          </p:spPr>
        </p:sp>
        <p:sp>
          <p:nvSpPr>
            <p:cNvPr id="59436" name="Line 10"/>
            <p:cNvSpPr/>
            <p:nvPr/>
          </p:nvSpPr>
          <p:spPr>
            <a:xfrm>
              <a:off x="3282" y="2652"/>
              <a:ext cx="0" cy="1440"/>
            </a:xfrm>
            <a:prstGeom prst="line">
              <a:avLst/>
            </a:prstGeom>
            <a:ln w="19050" cap="flat" cmpd="sng">
              <a:solidFill>
                <a:schemeClr val="tx1"/>
              </a:solidFill>
              <a:prstDash val="solid"/>
              <a:headEnd type="none" w="med" len="med"/>
              <a:tailEnd type="none" w="sm" len="lg"/>
            </a:ln>
          </p:spPr>
        </p:sp>
        <p:sp>
          <p:nvSpPr>
            <p:cNvPr id="59437" name="Line 11"/>
            <p:cNvSpPr/>
            <p:nvPr/>
          </p:nvSpPr>
          <p:spPr>
            <a:xfrm>
              <a:off x="3544" y="2664"/>
              <a:ext cx="0" cy="1428"/>
            </a:xfrm>
            <a:prstGeom prst="line">
              <a:avLst/>
            </a:prstGeom>
            <a:ln w="19050" cap="flat" cmpd="sng">
              <a:solidFill>
                <a:schemeClr val="tx1"/>
              </a:solidFill>
              <a:prstDash val="solid"/>
              <a:headEnd type="none" w="med" len="med"/>
              <a:tailEnd type="none" w="sm" len="lg"/>
            </a:ln>
          </p:spPr>
        </p:sp>
        <p:sp>
          <p:nvSpPr>
            <p:cNvPr id="59438" name="Line 12"/>
            <p:cNvSpPr/>
            <p:nvPr/>
          </p:nvSpPr>
          <p:spPr>
            <a:xfrm>
              <a:off x="3841" y="2664"/>
              <a:ext cx="0" cy="1428"/>
            </a:xfrm>
            <a:prstGeom prst="line">
              <a:avLst/>
            </a:prstGeom>
            <a:ln w="19050" cap="flat" cmpd="sng">
              <a:solidFill>
                <a:schemeClr val="tx1"/>
              </a:solidFill>
              <a:prstDash val="solid"/>
              <a:headEnd type="none" w="med" len="med"/>
              <a:tailEnd type="none" w="sm" len="lg"/>
            </a:ln>
          </p:spPr>
        </p:sp>
        <p:sp>
          <p:nvSpPr>
            <p:cNvPr id="59439" name="Line 13"/>
            <p:cNvSpPr/>
            <p:nvPr/>
          </p:nvSpPr>
          <p:spPr>
            <a:xfrm>
              <a:off x="4128" y="2652"/>
              <a:ext cx="0" cy="1440"/>
            </a:xfrm>
            <a:prstGeom prst="line">
              <a:avLst/>
            </a:prstGeom>
            <a:ln w="19050" cap="flat" cmpd="sng">
              <a:solidFill>
                <a:schemeClr val="tx1"/>
              </a:solidFill>
              <a:prstDash val="solid"/>
              <a:headEnd type="none" w="med" len="med"/>
              <a:tailEnd type="none" w="sm" len="lg"/>
            </a:ln>
          </p:spPr>
        </p:sp>
        <p:sp>
          <p:nvSpPr>
            <p:cNvPr id="59440" name="Line 14"/>
            <p:cNvSpPr/>
            <p:nvPr/>
          </p:nvSpPr>
          <p:spPr>
            <a:xfrm>
              <a:off x="4433" y="2244"/>
              <a:ext cx="0" cy="1836"/>
            </a:xfrm>
            <a:prstGeom prst="line">
              <a:avLst/>
            </a:prstGeom>
            <a:ln w="19050" cap="flat" cmpd="sng">
              <a:solidFill>
                <a:schemeClr val="tx1"/>
              </a:solidFill>
              <a:prstDash val="solid"/>
              <a:headEnd type="none" w="med" len="med"/>
              <a:tailEnd type="none" w="sm" len="lg"/>
            </a:ln>
          </p:spPr>
        </p:sp>
        <p:sp>
          <p:nvSpPr>
            <p:cNvPr id="59441" name="Line 15"/>
            <p:cNvSpPr/>
            <p:nvPr/>
          </p:nvSpPr>
          <p:spPr>
            <a:xfrm>
              <a:off x="5001" y="2664"/>
              <a:ext cx="0" cy="1428"/>
            </a:xfrm>
            <a:prstGeom prst="line">
              <a:avLst/>
            </a:prstGeom>
            <a:ln w="19050" cap="flat" cmpd="sng">
              <a:solidFill>
                <a:schemeClr val="tx1"/>
              </a:solidFill>
              <a:prstDash val="solid"/>
              <a:headEnd type="none" w="med" len="med"/>
              <a:tailEnd type="none" w="sm" len="lg"/>
            </a:ln>
          </p:spPr>
        </p:sp>
        <p:sp>
          <p:nvSpPr>
            <p:cNvPr id="59442" name="Text Box 16"/>
            <p:cNvSpPr txBox="1"/>
            <p:nvPr/>
          </p:nvSpPr>
          <p:spPr>
            <a:xfrm>
              <a:off x="2207" y="2440"/>
              <a:ext cx="788" cy="327"/>
            </a:xfrm>
            <a:prstGeom prst="rect">
              <a:avLst/>
            </a:prstGeom>
            <a:noFill/>
            <a:ln w="19050">
              <a:noFill/>
            </a:ln>
          </p:spPr>
          <p:txBody>
            <a:bodyPr wrap="none">
              <a:spAutoFit/>
            </a:bodyPr>
            <a:lstStyle/>
            <a:p>
              <a:r>
                <a:rPr lang="zh-CN" altLang="en-US" sz="2800" dirty="0">
                  <a:latin typeface="Times New Roman" panose="02020603050405020304" pitchFamily="18" charset="0"/>
                </a:rPr>
                <a:t>相容类</a:t>
              </a:r>
            </a:p>
          </p:txBody>
        </p:sp>
        <p:sp>
          <p:nvSpPr>
            <p:cNvPr id="59443" name="Text Box 17"/>
            <p:cNvSpPr txBox="1"/>
            <p:nvPr/>
          </p:nvSpPr>
          <p:spPr>
            <a:xfrm>
              <a:off x="2216" y="3191"/>
              <a:ext cx="577" cy="757"/>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ABC</a:t>
              </a:r>
            </a:p>
            <a:p>
              <a:pPr algn="ctr"/>
              <a:endParaRPr lang="en-US" altLang="zh-CN" sz="2800" dirty="0">
                <a:latin typeface="Times New Roman" panose="02020603050405020304" pitchFamily="18" charset="0"/>
              </a:endParaRPr>
            </a:p>
            <a:p>
              <a:pPr algn="ctr">
                <a:lnSpc>
                  <a:spcPct val="60000"/>
                </a:lnSpc>
              </a:pPr>
              <a:r>
                <a:rPr lang="en-US" altLang="zh-CN" sz="2800" dirty="0">
                  <a:latin typeface="Times New Roman" panose="02020603050405020304" pitchFamily="18" charset="0"/>
                </a:rPr>
                <a:t>ADE</a:t>
              </a:r>
            </a:p>
          </p:txBody>
        </p:sp>
        <p:sp>
          <p:nvSpPr>
            <p:cNvPr id="59444" name="Text Box 18"/>
            <p:cNvSpPr txBox="1"/>
            <p:nvPr/>
          </p:nvSpPr>
          <p:spPr>
            <a:xfrm>
              <a:off x="3055" y="2657"/>
              <a:ext cx="196" cy="327"/>
            </a:xfrm>
            <a:prstGeom prst="rect">
              <a:avLst/>
            </a:prstGeom>
            <a:noFill/>
            <a:ln w="19050">
              <a:noFill/>
            </a:ln>
          </p:spPr>
          <p:txBody>
            <a:bodyPr>
              <a:spAutoFit/>
            </a:bodyPr>
            <a:lstStyle/>
            <a:p>
              <a:r>
                <a:rPr lang="en-US" altLang="zh-CN" sz="2800" dirty="0">
                  <a:latin typeface="Times New Roman" panose="02020603050405020304" pitchFamily="18" charset="0"/>
                </a:rPr>
                <a:t>A</a:t>
              </a:r>
            </a:p>
          </p:txBody>
        </p:sp>
        <p:sp>
          <p:nvSpPr>
            <p:cNvPr id="59445" name="Text Box 19"/>
            <p:cNvSpPr txBox="1"/>
            <p:nvPr/>
          </p:nvSpPr>
          <p:spPr>
            <a:xfrm>
              <a:off x="3310" y="2657"/>
              <a:ext cx="196" cy="327"/>
            </a:xfrm>
            <a:prstGeom prst="rect">
              <a:avLst/>
            </a:prstGeom>
            <a:noFill/>
            <a:ln w="19050">
              <a:noFill/>
            </a:ln>
          </p:spPr>
          <p:txBody>
            <a:bodyPr>
              <a:spAutoFit/>
            </a:bodyPr>
            <a:lstStyle/>
            <a:p>
              <a:r>
                <a:rPr lang="en-US" altLang="zh-CN" sz="2800" dirty="0">
                  <a:latin typeface="Times New Roman" panose="02020603050405020304" pitchFamily="18" charset="0"/>
                </a:rPr>
                <a:t>B</a:t>
              </a:r>
            </a:p>
          </p:txBody>
        </p:sp>
        <p:sp>
          <p:nvSpPr>
            <p:cNvPr id="59446" name="Text Box 20"/>
            <p:cNvSpPr txBox="1"/>
            <p:nvPr/>
          </p:nvSpPr>
          <p:spPr>
            <a:xfrm>
              <a:off x="3579" y="2657"/>
              <a:ext cx="197" cy="327"/>
            </a:xfrm>
            <a:prstGeom prst="rect">
              <a:avLst/>
            </a:prstGeom>
            <a:noFill/>
            <a:ln w="19050">
              <a:noFill/>
            </a:ln>
          </p:spPr>
          <p:txBody>
            <a:bodyPr>
              <a:spAutoFit/>
            </a:bodyPr>
            <a:lstStyle/>
            <a:p>
              <a:r>
                <a:rPr lang="en-US" altLang="zh-CN" sz="2800" dirty="0">
                  <a:latin typeface="Times New Roman" panose="02020603050405020304" pitchFamily="18" charset="0"/>
                </a:rPr>
                <a:t>C</a:t>
              </a:r>
            </a:p>
          </p:txBody>
        </p:sp>
        <p:sp>
          <p:nvSpPr>
            <p:cNvPr id="59447" name="Text Box 21"/>
            <p:cNvSpPr txBox="1"/>
            <p:nvPr/>
          </p:nvSpPr>
          <p:spPr>
            <a:xfrm>
              <a:off x="3876" y="2657"/>
              <a:ext cx="196" cy="327"/>
            </a:xfrm>
            <a:prstGeom prst="rect">
              <a:avLst/>
            </a:prstGeom>
            <a:noFill/>
            <a:ln w="19050">
              <a:noFill/>
            </a:ln>
          </p:spPr>
          <p:txBody>
            <a:bodyPr>
              <a:spAutoFit/>
            </a:bodyPr>
            <a:lstStyle/>
            <a:p>
              <a:r>
                <a:rPr lang="en-US" altLang="zh-CN" sz="2800" dirty="0">
                  <a:latin typeface="Times New Roman" panose="02020603050405020304" pitchFamily="18" charset="0"/>
                </a:rPr>
                <a:t>D</a:t>
              </a:r>
            </a:p>
          </p:txBody>
        </p:sp>
        <p:sp>
          <p:nvSpPr>
            <p:cNvPr id="59448" name="Text Box 22"/>
            <p:cNvSpPr txBox="1"/>
            <p:nvPr/>
          </p:nvSpPr>
          <p:spPr>
            <a:xfrm>
              <a:off x="4155" y="2657"/>
              <a:ext cx="196" cy="327"/>
            </a:xfrm>
            <a:prstGeom prst="rect">
              <a:avLst/>
            </a:prstGeom>
            <a:noFill/>
            <a:ln w="19050">
              <a:noFill/>
            </a:ln>
          </p:spPr>
          <p:txBody>
            <a:bodyPr>
              <a:spAutoFit/>
            </a:bodyPr>
            <a:lstStyle/>
            <a:p>
              <a:r>
                <a:rPr lang="en-US" altLang="zh-CN" sz="2800" dirty="0">
                  <a:latin typeface="Times New Roman" panose="02020603050405020304" pitchFamily="18" charset="0"/>
                </a:rPr>
                <a:t>E</a:t>
              </a:r>
            </a:p>
          </p:txBody>
        </p:sp>
        <p:sp>
          <p:nvSpPr>
            <p:cNvPr id="59449" name="Text Box 23"/>
            <p:cNvSpPr txBox="1"/>
            <p:nvPr/>
          </p:nvSpPr>
          <p:spPr>
            <a:xfrm>
              <a:off x="2978" y="3187"/>
              <a:ext cx="340" cy="811"/>
            </a:xfrm>
            <a:prstGeom prst="rect">
              <a:avLst/>
            </a:prstGeom>
            <a:noFill/>
            <a:ln w="19050">
              <a:noFill/>
            </a:ln>
          </p:spPr>
          <p:txBody>
            <a:bodyPr wrap="none">
              <a:spAutoFit/>
            </a:bodyPr>
            <a:lstStyle/>
            <a:p>
              <a:r>
                <a:rPr lang="en-US" altLang="zh-CN" sz="2800" dirty="0">
                  <a:latin typeface="Times New Roman" panose="02020603050405020304" pitchFamily="18" charset="0"/>
                  <a:sym typeface="Monotype Sorts" pitchFamily="2" charset="2"/>
                </a:rPr>
                <a:t>√</a:t>
              </a:r>
              <a:endParaRPr lang="en-US" altLang="zh-CN" sz="2800" dirty="0">
                <a:latin typeface="华文楷体" panose="02010600040101010101" pitchFamily="2" charset="-122"/>
                <a:ea typeface="华文楷体" panose="02010600040101010101" pitchFamily="2" charset="-122"/>
              </a:endParaRPr>
            </a:p>
            <a:p>
              <a:pPr>
                <a:lnSpc>
                  <a:spcPct val="180000"/>
                </a:lnSpc>
              </a:pPr>
              <a:r>
                <a:rPr lang="en-US" altLang="zh-CN" sz="2800" dirty="0">
                  <a:latin typeface="Times New Roman" panose="02020603050405020304" pitchFamily="18" charset="0"/>
                  <a:sym typeface="Monotype Sorts" pitchFamily="2" charset="2"/>
                </a:rPr>
                <a:t>√</a:t>
              </a:r>
            </a:p>
          </p:txBody>
        </p:sp>
        <p:sp>
          <p:nvSpPr>
            <p:cNvPr id="59450" name="Text Box 24"/>
            <p:cNvSpPr txBox="1"/>
            <p:nvPr/>
          </p:nvSpPr>
          <p:spPr>
            <a:xfrm>
              <a:off x="3241" y="3218"/>
              <a:ext cx="197" cy="273"/>
            </a:xfrm>
            <a:prstGeom prst="rect">
              <a:avLst/>
            </a:prstGeom>
            <a:noFill/>
            <a:ln w="19050">
              <a:noFill/>
            </a:ln>
          </p:spPr>
          <p:txBody>
            <a:bodyPr>
              <a:spAutoFit/>
            </a:bodyPr>
            <a:lstStyle/>
            <a:p>
              <a:pPr>
                <a:lnSpc>
                  <a:spcPct val="80000"/>
                </a:lnSpc>
              </a:pPr>
              <a:r>
                <a:rPr lang="en-US" altLang="zh-CN" sz="2800" dirty="0">
                  <a:latin typeface="Times New Roman" panose="02020603050405020304" pitchFamily="18" charset="0"/>
                  <a:sym typeface="Monotype Sorts" pitchFamily="2" charset="2"/>
                </a:rPr>
                <a:t>√</a:t>
              </a:r>
            </a:p>
          </p:txBody>
        </p:sp>
        <p:sp>
          <p:nvSpPr>
            <p:cNvPr id="59451" name="Text Box 25"/>
            <p:cNvSpPr txBox="1"/>
            <p:nvPr/>
          </p:nvSpPr>
          <p:spPr>
            <a:xfrm>
              <a:off x="3528" y="3165"/>
              <a:ext cx="196" cy="327"/>
            </a:xfrm>
            <a:prstGeom prst="rect">
              <a:avLst/>
            </a:prstGeom>
            <a:noFill/>
            <a:ln w="19050">
              <a:noFill/>
            </a:ln>
          </p:spPr>
          <p:txBody>
            <a:bodyPr>
              <a:spAutoFit/>
            </a:bodyPr>
            <a:lstStyle/>
            <a:p>
              <a:r>
                <a:rPr lang="en-US" altLang="zh-CN" sz="2800" dirty="0">
                  <a:latin typeface="Times New Roman" panose="02020603050405020304" pitchFamily="18" charset="0"/>
                  <a:sym typeface="Monotype Sorts" pitchFamily="2" charset="2"/>
                </a:rPr>
                <a:t>√</a:t>
              </a:r>
            </a:p>
          </p:txBody>
        </p:sp>
        <p:sp>
          <p:nvSpPr>
            <p:cNvPr id="59452" name="Text Box 26"/>
            <p:cNvSpPr txBox="1"/>
            <p:nvPr/>
          </p:nvSpPr>
          <p:spPr>
            <a:xfrm>
              <a:off x="3812" y="3621"/>
              <a:ext cx="196" cy="327"/>
            </a:xfrm>
            <a:prstGeom prst="rect">
              <a:avLst/>
            </a:prstGeom>
            <a:noFill/>
            <a:ln w="19050">
              <a:noFill/>
            </a:ln>
          </p:spPr>
          <p:txBody>
            <a:bodyPr>
              <a:spAutoFit/>
            </a:bodyPr>
            <a:lstStyle/>
            <a:p>
              <a:r>
                <a:rPr lang="en-US" altLang="zh-CN" sz="2800" dirty="0">
                  <a:latin typeface="Times New Roman" panose="02020603050405020304" pitchFamily="18" charset="0"/>
                  <a:sym typeface="Monotype Sorts" pitchFamily="2" charset="2"/>
                </a:rPr>
                <a:t>√</a:t>
              </a:r>
            </a:p>
          </p:txBody>
        </p:sp>
        <p:sp>
          <p:nvSpPr>
            <p:cNvPr id="59453" name="Text Box 27"/>
            <p:cNvSpPr txBox="1"/>
            <p:nvPr/>
          </p:nvSpPr>
          <p:spPr>
            <a:xfrm>
              <a:off x="4092" y="3621"/>
              <a:ext cx="196" cy="327"/>
            </a:xfrm>
            <a:prstGeom prst="rect">
              <a:avLst/>
            </a:prstGeom>
            <a:noFill/>
            <a:ln w="19050">
              <a:noFill/>
            </a:ln>
          </p:spPr>
          <p:txBody>
            <a:bodyPr>
              <a:spAutoFit/>
            </a:bodyPr>
            <a:lstStyle/>
            <a:p>
              <a:r>
                <a:rPr lang="en-US" altLang="zh-CN" sz="2800" dirty="0">
                  <a:latin typeface="Times New Roman" panose="02020603050405020304" pitchFamily="18" charset="0"/>
                  <a:sym typeface="Monotype Sorts" pitchFamily="2" charset="2"/>
                </a:rPr>
                <a:t>√</a:t>
              </a:r>
            </a:p>
          </p:txBody>
        </p:sp>
        <p:sp>
          <p:nvSpPr>
            <p:cNvPr id="59454" name="Text Box 28"/>
            <p:cNvSpPr txBox="1"/>
            <p:nvPr/>
          </p:nvSpPr>
          <p:spPr>
            <a:xfrm>
              <a:off x="3496" y="2298"/>
              <a:ext cx="916" cy="327"/>
            </a:xfrm>
            <a:prstGeom prst="rect">
              <a:avLst/>
            </a:prstGeom>
            <a:noFill/>
            <a:ln w="19050">
              <a:noFill/>
            </a:ln>
          </p:spPr>
          <p:txBody>
            <a:bodyPr wrap="none">
              <a:spAutoFit/>
            </a:bodyPr>
            <a:lstStyle/>
            <a:p>
              <a:r>
                <a:rPr lang="zh-CN" altLang="en-US" sz="2800" dirty="0">
                  <a:latin typeface="Times New Roman" panose="02020603050405020304" pitchFamily="18" charset="0"/>
                </a:rPr>
                <a:t>覆	盖</a:t>
              </a:r>
            </a:p>
          </p:txBody>
        </p:sp>
        <p:sp>
          <p:nvSpPr>
            <p:cNvPr id="59455" name="Text Box 29"/>
            <p:cNvSpPr txBox="1"/>
            <p:nvPr/>
          </p:nvSpPr>
          <p:spPr>
            <a:xfrm>
              <a:off x="4671" y="2322"/>
              <a:ext cx="916" cy="327"/>
            </a:xfrm>
            <a:prstGeom prst="rect">
              <a:avLst/>
            </a:prstGeom>
            <a:noFill/>
            <a:ln w="19050">
              <a:noFill/>
            </a:ln>
          </p:spPr>
          <p:txBody>
            <a:bodyPr wrap="none">
              <a:spAutoFit/>
            </a:bodyPr>
            <a:lstStyle/>
            <a:p>
              <a:r>
                <a:rPr lang="zh-CN" altLang="en-US" sz="2800" dirty="0">
                  <a:latin typeface="Times New Roman" panose="02020603050405020304" pitchFamily="18" charset="0"/>
                </a:rPr>
                <a:t>闭	合</a:t>
              </a:r>
            </a:p>
          </p:txBody>
        </p:sp>
        <p:sp>
          <p:nvSpPr>
            <p:cNvPr id="59456" name="Text Box 30"/>
            <p:cNvSpPr txBox="1"/>
            <p:nvPr/>
          </p:nvSpPr>
          <p:spPr>
            <a:xfrm>
              <a:off x="4538" y="2622"/>
              <a:ext cx="466" cy="327"/>
            </a:xfrm>
            <a:prstGeom prst="rect">
              <a:avLst/>
            </a:prstGeom>
            <a:noFill/>
            <a:ln w="19050">
              <a:noFill/>
            </a:ln>
          </p:spPr>
          <p:txBody>
            <a:bodyPr wrap="none">
              <a:spAutoFit/>
            </a:bodyPr>
            <a:lstStyle/>
            <a:p>
              <a:r>
                <a:rPr lang="en-US" altLang="zh-CN" sz="2800" dirty="0">
                  <a:latin typeface="Times New Roman" panose="02020603050405020304" pitchFamily="18" charset="0"/>
                </a:rPr>
                <a:t>x=0</a:t>
              </a:r>
            </a:p>
          </p:txBody>
        </p:sp>
        <p:sp>
          <p:nvSpPr>
            <p:cNvPr id="59457" name="Text Box 31"/>
            <p:cNvSpPr txBox="1"/>
            <p:nvPr/>
          </p:nvSpPr>
          <p:spPr>
            <a:xfrm>
              <a:off x="5133" y="2634"/>
              <a:ext cx="466" cy="327"/>
            </a:xfrm>
            <a:prstGeom prst="rect">
              <a:avLst/>
            </a:prstGeom>
            <a:noFill/>
            <a:ln w="19050">
              <a:noFill/>
            </a:ln>
          </p:spPr>
          <p:txBody>
            <a:bodyPr wrap="none">
              <a:spAutoFit/>
            </a:bodyPr>
            <a:lstStyle/>
            <a:p>
              <a:r>
                <a:rPr lang="en-US" altLang="zh-CN" sz="2800" dirty="0">
                  <a:latin typeface="Times New Roman" panose="02020603050405020304" pitchFamily="18" charset="0"/>
                </a:rPr>
                <a:t>x=1</a:t>
              </a:r>
            </a:p>
          </p:txBody>
        </p:sp>
        <p:sp>
          <p:nvSpPr>
            <p:cNvPr id="59458" name="Text Box 32"/>
            <p:cNvSpPr txBox="1"/>
            <p:nvPr/>
          </p:nvSpPr>
          <p:spPr>
            <a:xfrm>
              <a:off x="4491" y="3186"/>
              <a:ext cx="428" cy="327"/>
            </a:xfrm>
            <a:prstGeom prst="rect">
              <a:avLst/>
            </a:prstGeom>
            <a:noFill/>
            <a:ln w="19050">
              <a:noFill/>
            </a:ln>
          </p:spPr>
          <p:txBody>
            <a:bodyPr>
              <a:spAutoFit/>
            </a:bodyPr>
            <a:lstStyle/>
            <a:p>
              <a:pPr algn="ctr"/>
              <a:r>
                <a:rPr lang="en-US" altLang="zh-CN" sz="2800" dirty="0">
                  <a:latin typeface="Times New Roman" panose="02020603050405020304" pitchFamily="18" charset="0"/>
                </a:rPr>
                <a:t>DE</a:t>
              </a:r>
            </a:p>
          </p:txBody>
        </p:sp>
        <p:sp>
          <p:nvSpPr>
            <p:cNvPr id="59459" name="Text Box 33"/>
            <p:cNvSpPr txBox="1"/>
            <p:nvPr/>
          </p:nvSpPr>
          <p:spPr>
            <a:xfrm>
              <a:off x="4430" y="3621"/>
              <a:ext cx="586" cy="327"/>
            </a:xfrm>
            <a:prstGeom prst="rect">
              <a:avLst/>
            </a:prstGeom>
            <a:noFill/>
            <a:ln w="19050">
              <a:noFill/>
            </a:ln>
          </p:spPr>
          <p:txBody>
            <a:bodyPr>
              <a:spAutoFit/>
            </a:bodyPr>
            <a:lstStyle/>
            <a:p>
              <a:pPr algn="ctr"/>
              <a:r>
                <a:rPr lang="en-US" altLang="zh-CN" sz="2800" dirty="0">
                  <a:latin typeface="Times New Roman" panose="02020603050405020304" pitchFamily="18" charset="0"/>
                </a:rPr>
                <a:t>CD</a:t>
              </a:r>
            </a:p>
          </p:txBody>
        </p:sp>
        <p:sp>
          <p:nvSpPr>
            <p:cNvPr id="59460" name="Text Box 34"/>
            <p:cNvSpPr txBox="1"/>
            <p:nvPr/>
          </p:nvSpPr>
          <p:spPr>
            <a:xfrm>
              <a:off x="4954" y="3621"/>
              <a:ext cx="682" cy="327"/>
            </a:xfrm>
            <a:prstGeom prst="rect">
              <a:avLst/>
            </a:prstGeom>
            <a:noFill/>
            <a:ln w="19050">
              <a:noFill/>
            </a:ln>
          </p:spPr>
          <p:txBody>
            <a:bodyPr>
              <a:spAutoFit/>
            </a:bodyPr>
            <a:lstStyle/>
            <a:p>
              <a:r>
                <a:rPr lang="en-US" altLang="zh-CN" sz="2800" dirty="0">
                  <a:latin typeface="Times New Roman" panose="02020603050405020304" pitchFamily="18" charset="0"/>
                </a:rPr>
                <a:t>ABC</a:t>
              </a:r>
            </a:p>
          </p:txBody>
        </p:sp>
        <p:sp>
          <p:nvSpPr>
            <p:cNvPr id="59461" name="Text Box 35"/>
            <p:cNvSpPr txBox="1"/>
            <p:nvPr/>
          </p:nvSpPr>
          <p:spPr>
            <a:xfrm>
              <a:off x="4967" y="3174"/>
              <a:ext cx="553" cy="327"/>
            </a:xfrm>
            <a:prstGeom prst="rect">
              <a:avLst/>
            </a:prstGeom>
            <a:noFill/>
            <a:ln w="19050">
              <a:noFill/>
            </a:ln>
          </p:spPr>
          <p:txBody>
            <a:bodyPr>
              <a:spAutoFit/>
            </a:bodyPr>
            <a:lstStyle/>
            <a:p>
              <a:pPr algn="ctr"/>
              <a:r>
                <a:rPr lang="en-US" altLang="zh-CN" sz="2800" dirty="0">
                  <a:latin typeface="Times New Roman" panose="02020603050405020304" pitchFamily="18" charset="0"/>
                </a:rPr>
                <a:t>AB</a:t>
              </a:r>
            </a:p>
          </p:txBody>
        </p:sp>
      </p:grpSp>
      <p:grpSp>
        <p:nvGrpSpPr>
          <p:cNvPr id="3" name="Group 36"/>
          <p:cNvGrpSpPr/>
          <p:nvPr/>
        </p:nvGrpSpPr>
        <p:grpSpPr>
          <a:xfrm>
            <a:off x="5468938" y="809625"/>
            <a:ext cx="2590800" cy="2579688"/>
            <a:chOff x="3457" y="342"/>
            <a:chExt cx="1632" cy="1625"/>
          </a:xfrm>
        </p:grpSpPr>
        <p:sp>
          <p:nvSpPr>
            <p:cNvPr id="59413" name="Text Box 37"/>
            <p:cNvSpPr txBox="1"/>
            <p:nvPr/>
          </p:nvSpPr>
          <p:spPr>
            <a:xfrm>
              <a:off x="4171" y="342"/>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A</a:t>
              </a:r>
            </a:p>
          </p:txBody>
        </p:sp>
        <p:sp>
          <p:nvSpPr>
            <p:cNvPr id="59414" name="Text Box 38"/>
            <p:cNvSpPr txBox="1"/>
            <p:nvPr/>
          </p:nvSpPr>
          <p:spPr>
            <a:xfrm>
              <a:off x="4824" y="922"/>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B</a:t>
              </a:r>
            </a:p>
          </p:txBody>
        </p:sp>
        <p:sp>
          <p:nvSpPr>
            <p:cNvPr id="59415" name="Text Box 39"/>
            <p:cNvSpPr txBox="1"/>
            <p:nvPr/>
          </p:nvSpPr>
          <p:spPr>
            <a:xfrm>
              <a:off x="4580" y="1628"/>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59416" name="Text Box 40"/>
            <p:cNvSpPr txBox="1"/>
            <p:nvPr/>
          </p:nvSpPr>
          <p:spPr>
            <a:xfrm>
              <a:off x="3754" y="1640"/>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59417" name="Text Box 41"/>
            <p:cNvSpPr txBox="1"/>
            <p:nvPr/>
          </p:nvSpPr>
          <p:spPr>
            <a:xfrm>
              <a:off x="3457" y="914"/>
              <a:ext cx="253" cy="327"/>
            </a:xfrm>
            <a:prstGeom prst="rect">
              <a:avLst/>
            </a:prstGeom>
            <a:noFill/>
            <a:ln w="19050">
              <a:noFill/>
            </a:ln>
          </p:spPr>
          <p:txBody>
            <a:bodyPr wrap="none">
              <a:spAutoFit/>
            </a:bodyPr>
            <a:lstStyle/>
            <a:p>
              <a:r>
                <a:rPr lang="en-US" altLang="zh-CN" sz="2800" dirty="0">
                  <a:latin typeface="Times New Roman" panose="02020603050405020304" pitchFamily="18" charset="0"/>
                </a:rPr>
                <a:t>E</a:t>
              </a:r>
            </a:p>
          </p:txBody>
        </p:sp>
        <p:sp>
          <p:nvSpPr>
            <p:cNvPr id="59418" name="Oval 42"/>
            <p:cNvSpPr/>
            <p:nvPr/>
          </p:nvSpPr>
          <p:spPr>
            <a:xfrm>
              <a:off x="4798" y="1045"/>
              <a:ext cx="49" cy="48"/>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9419" name="Oval 43"/>
            <p:cNvSpPr/>
            <p:nvPr/>
          </p:nvSpPr>
          <p:spPr>
            <a:xfrm>
              <a:off x="4578" y="1672"/>
              <a:ext cx="49" cy="47"/>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9420" name="Oval 44"/>
            <p:cNvSpPr/>
            <p:nvPr/>
          </p:nvSpPr>
          <p:spPr>
            <a:xfrm>
              <a:off x="3900" y="1656"/>
              <a:ext cx="49" cy="47"/>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9421" name="Oval 45"/>
            <p:cNvSpPr/>
            <p:nvPr/>
          </p:nvSpPr>
          <p:spPr>
            <a:xfrm>
              <a:off x="3687" y="1053"/>
              <a:ext cx="49" cy="48"/>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9422" name="Oval 46"/>
            <p:cNvSpPr/>
            <p:nvPr/>
          </p:nvSpPr>
          <p:spPr>
            <a:xfrm>
              <a:off x="4243" y="640"/>
              <a:ext cx="49" cy="48"/>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9423" name="Oval 47"/>
            <p:cNvSpPr/>
            <p:nvPr/>
          </p:nvSpPr>
          <p:spPr>
            <a:xfrm>
              <a:off x="3679" y="664"/>
              <a:ext cx="1176" cy="1142"/>
            </a:xfrm>
            <a:prstGeom prst="ellipse">
              <a:avLst/>
            </a:prstGeom>
            <a:noFill/>
            <a:ln w="3810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59424" name="Line 48"/>
            <p:cNvSpPr/>
            <p:nvPr/>
          </p:nvSpPr>
          <p:spPr>
            <a:xfrm flipH="1">
              <a:off x="3924" y="672"/>
              <a:ext cx="343" cy="1015"/>
            </a:xfrm>
            <a:prstGeom prst="line">
              <a:avLst/>
            </a:prstGeom>
            <a:ln w="38100" cap="flat" cmpd="sng">
              <a:solidFill>
                <a:srgbClr val="FF9900"/>
              </a:solidFill>
              <a:prstDash val="solid"/>
              <a:headEnd type="none" w="med" len="med"/>
              <a:tailEnd type="none" w="sm" len="lg"/>
            </a:ln>
          </p:spPr>
        </p:sp>
        <p:sp>
          <p:nvSpPr>
            <p:cNvPr id="59425" name="Line 49"/>
            <p:cNvSpPr/>
            <p:nvPr/>
          </p:nvSpPr>
          <p:spPr>
            <a:xfrm>
              <a:off x="4275" y="664"/>
              <a:ext cx="335" cy="1031"/>
            </a:xfrm>
            <a:prstGeom prst="line">
              <a:avLst/>
            </a:prstGeom>
            <a:ln w="38100" cap="flat" cmpd="sng">
              <a:solidFill>
                <a:srgbClr val="FF0000"/>
              </a:solidFill>
              <a:prstDash val="solid"/>
              <a:headEnd type="none" w="med" len="med"/>
              <a:tailEnd type="none" w="sm" len="lg"/>
            </a:ln>
          </p:spPr>
        </p:sp>
        <p:sp>
          <p:nvSpPr>
            <p:cNvPr id="59426" name="Line 50"/>
            <p:cNvSpPr/>
            <p:nvPr/>
          </p:nvSpPr>
          <p:spPr>
            <a:xfrm>
              <a:off x="4284" y="684"/>
              <a:ext cx="540" cy="384"/>
            </a:xfrm>
            <a:prstGeom prst="line">
              <a:avLst/>
            </a:prstGeom>
            <a:ln w="38100" cap="flat" cmpd="sng">
              <a:solidFill>
                <a:srgbClr val="FF0000"/>
              </a:solidFill>
              <a:prstDash val="solid"/>
              <a:headEnd type="none" w="med" len="med"/>
              <a:tailEnd type="none" w="sm" len="lg"/>
            </a:ln>
          </p:spPr>
        </p:sp>
        <p:sp>
          <p:nvSpPr>
            <p:cNvPr id="59427" name="Line 51"/>
            <p:cNvSpPr/>
            <p:nvPr/>
          </p:nvSpPr>
          <p:spPr>
            <a:xfrm flipH="1">
              <a:off x="4608" y="1068"/>
              <a:ext cx="204" cy="636"/>
            </a:xfrm>
            <a:prstGeom prst="line">
              <a:avLst/>
            </a:prstGeom>
            <a:ln w="38100" cap="flat" cmpd="sng">
              <a:solidFill>
                <a:srgbClr val="FF0000"/>
              </a:solidFill>
              <a:prstDash val="solid"/>
              <a:headEnd type="none" w="med" len="med"/>
              <a:tailEnd type="none" w="sm" len="lg"/>
            </a:ln>
          </p:spPr>
        </p:sp>
        <p:sp>
          <p:nvSpPr>
            <p:cNvPr id="59428" name="Line 52"/>
            <p:cNvSpPr/>
            <p:nvPr/>
          </p:nvSpPr>
          <p:spPr>
            <a:xfrm>
              <a:off x="3936" y="1680"/>
              <a:ext cx="672" cy="12"/>
            </a:xfrm>
            <a:prstGeom prst="line">
              <a:avLst/>
            </a:prstGeom>
            <a:ln w="38100" cap="flat" cmpd="sng">
              <a:solidFill>
                <a:srgbClr val="3333FF"/>
              </a:solidFill>
              <a:prstDash val="solid"/>
              <a:headEnd type="none" w="med" len="med"/>
              <a:tailEnd type="none" w="sm" len="lg"/>
            </a:ln>
          </p:spPr>
        </p:sp>
        <p:sp>
          <p:nvSpPr>
            <p:cNvPr id="59429" name="Line 53"/>
            <p:cNvSpPr/>
            <p:nvPr/>
          </p:nvSpPr>
          <p:spPr>
            <a:xfrm flipH="1">
              <a:off x="3708" y="672"/>
              <a:ext cx="564" cy="396"/>
            </a:xfrm>
            <a:prstGeom prst="line">
              <a:avLst/>
            </a:prstGeom>
            <a:ln w="38100" cap="flat" cmpd="sng">
              <a:solidFill>
                <a:srgbClr val="FF9900"/>
              </a:solidFill>
              <a:prstDash val="solid"/>
              <a:headEnd type="none" w="med" len="med"/>
              <a:tailEnd type="none" w="sm" len="lg"/>
            </a:ln>
          </p:spPr>
        </p:sp>
        <p:sp>
          <p:nvSpPr>
            <p:cNvPr id="59430" name="Line 54"/>
            <p:cNvSpPr/>
            <p:nvPr/>
          </p:nvSpPr>
          <p:spPr>
            <a:xfrm>
              <a:off x="3720" y="1068"/>
              <a:ext cx="204" cy="600"/>
            </a:xfrm>
            <a:prstGeom prst="line">
              <a:avLst/>
            </a:prstGeom>
            <a:ln w="38100" cap="flat" cmpd="sng">
              <a:solidFill>
                <a:srgbClr val="FF9900"/>
              </a:solidFill>
              <a:prstDash val="solid"/>
              <a:headEnd type="none" w="med" len="med"/>
              <a:tailEnd type="none" w="sm" len="lg"/>
            </a:ln>
          </p:spPr>
        </p:sp>
      </p:grpSp>
      <p:grpSp>
        <p:nvGrpSpPr>
          <p:cNvPr id="4" name="Group 55"/>
          <p:cNvGrpSpPr/>
          <p:nvPr/>
        </p:nvGrpSpPr>
        <p:grpSpPr>
          <a:xfrm>
            <a:off x="38100" y="2457450"/>
            <a:ext cx="3100388" cy="4286250"/>
            <a:chOff x="-11" y="883"/>
            <a:chExt cx="1953" cy="2700"/>
          </a:xfrm>
        </p:grpSpPr>
        <p:sp>
          <p:nvSpPr>
            <p:cNvPr id="59400" name="Line 56"/>
            <p:cNvSpPr/>
            <p:nvPr/>
          </p:nvSpPr>
          <p:spPr>
            <a:xfrm>
              <a:off x="68" y="883"/>
              <a:ext cx="1859" cy="0"/>
            </a:xfrm>
            <a:prstGeom prst="line">
              <a:avLst/>
            </a:prstGeom>
            <a:ln w="38100" cap="flat" cmpd="sng">
              <a:solidFill>
                <a:schemeClr val="tx1"/>
              </a:solidFill>
              <a:prstDash val="solid"/>
              <a:headEnd type="none" w="med" len="med"/>
              <a:tailEnd type="none" w="sm" len="lg"/>
            </a:ln>
          </p:spPr>
        </p:sp>
        <p:sp>
          <p:nvSpPr>
            <p:cNvPr id="59401" name="Line 57"/>
            <p:cNvSpPr/>
            <p:nvPr/>
          </p:nvSpPr>
          <p:spPr>
            <a:xfrm>
              <a:off x="83" y="3571"/>
              <a:ext cx="1859" cy="0"/>
            </a:xfrm>
            <a:prstGeom prst="line">
              <a:avLst/>
            </a:prstGeom>
            <a:ln w="38100" cap="flat" cmpd="sng">
              <a:solidFill>
                <a:schemeClr val="tx1"/>
              </a:solidFill>
              <a:prstDash val="solid"/>
              <a:headEnd type="none" w="med" len="med"/>
              <a:tailEnd type="none" w="sm" len="lg"/>
            </a:ln>
          </p:spPr>
        </p:sp>
        <p:sp>
          <p:nvSpPr>
            <p:cNvPr id="59402" name="Line 58"/>
            <p:cNvSpPr/>
            <p:nvPr/>
          </p:nvSpPr>
          <p:spPr>
            <a:xfrm>
              <a:off x="514" y="883"/>
              <a:ext cx="0" cy="2700"/>
            </a:xfrm>
            <a:prstGeom prst="line">
              <a:avLst/>
            </a:prstGeom>
            <a:ln w="19050" cap="flat" cmpd="sng">
              <a:solidFill>
                <a:schemeClr val="tx1"/>
              </a:solidFill>
              <a:prstDash val="solid"/>
              <a:headEnd type="none" w="med" len="med"/>
              <a:tailEnd type="none" w="sm" len="lg"/>
            </a:ln>
          </p:spPr>
        </p:sp>
        <p:sp>
          <p:nvSpPr>
            <p:cNvPr id="59403" name="Line 59"/>
            <p:cNvSpPr/>
            <p:nvPr/>
          </p:nvSpPr>
          <p:spPr>
            <a:xfrm>
              <a:off x="1182" y="1483"/>
              <a:ext cx="0" cy="2076"/>
            </a:xfrm>
            <a:prstGeom prst="line">
              <a:avLst/>
            </a:prstGeom>
            <a:ln w="19050" cap="flat" cmpd="sng">
              <a:solidFill>
                <a:schemeClr val="tx1"/>
              </a:solidFill>
              <a:prstDash val="solid"/>
              <a:headEnd type="none" w="med" len="med"/>
              <a:tailEnd type="none" w="sm" len="lg"/>
            </a:ln>
          </p:spPr>
        </p:sp>
        <p:sp>
          <p:nvSpPr>
            <p:cNvPr id="59404" name="Line 60"/>
            <p:cNvSpPr/>
            <p:nvPr/>
          </p:nvSpPr>
          <p:spPr>
            <a:xfrm>
              <a:off x="514" y="1471"/>
              <a:ext cx="1408" cy="0"/>
            </a:xfrm>
            <a:prstGeom prst="line">
              <a:avLst/>
            </a:prstGeom>
            <a:ln w="12700" cap="flat" cmpd="sng">
              <a:solidFill>
                <a:schemeClr val="tx1"/>
              </a:solidFill>
              <a:prstDash val="solid"/>
              <a:headEnd type="none" w="med" len="med"/>
              <a:tailEnd type="none" w="sm" len="lg"/>
            </a:ln>
          </p:spPr>
        </p:sp>
        <p:sp>
          <p:nvSpPr>
            <p:cNvPr id="59405" name="Line 61"/>
            <p:cNvSpPr/>
            <p:nvPr/>
          </p:nvSpPr>
          <p:spPr>
            <a:xfrm>
              <a:off x="58" y="2023"/>
              <a:ext cx="1859" cy="0"/>
            </a:xfrm>
            <a:prstGeom prst="line">
              <a:avLst/>
            </a:prstGeom>
            <a:ln w="12700" cap="flat" cmpd="sng">
              <a:solidFill>
                <a:schemeClr val="tx1"/>
              </a:solidFill>
              <a:prstDash val="solid"/>
              <a:headEnd type="none" w="med" len="med"/>
              <a:tailEnd type="none" w="sm" len="lg"/>
            </a:ln>
          </p:spPr>
        </p:sp>
        <p:sp>
          <p:nvSpPr>
            <p:cNvPr id="59406" name="Text Box 62"/>
            <p:cNvSpPr txBox="1"/>
            <p:nvPr/>
          </p:nvSpPr>
          <p:spPr>
            <a:xfrm>
              <a:off x="-11" y="1283"/>
              <a:ext cx="564" cy="327"/>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59407" name="Text Box 63"/>
            <p:cNvSpPr txBox="1"/>
            <p:nvPr/>
          </p:nvSpPr>
          <p:spPr>
            <a:xfrm>
              <a:off x="638" y="1009"/>
              <a:ext cx="1074"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59408" name="Text Box 64"/>
            <p:cNvSpPr txBox="1"/>
            <p:nvPr/>
          </p:nvSpPr>
          <p:spPr>
            <a:xfrm>
              <a:off x="743" y="1585"/>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59409" name="Text Box 65"/>
            <p:cNvSpPr txBox="1"/>
            <p:nvPr/>
          </p:nvSpPr>
          <p:spPr>
            <a:xfrm>
              <a:off x="1436" y="1585"/>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59410" name="Text Box 66"/>
            <p:cNvSpPr txBox="1"/>
            <p:nvPr/>
          </p:nvSpPr>
          <p:spPr>
            <a:xfrm>
              <a:off x="185" y="2089"/>
              <a:ext cx="278" cy="1403"/>
            </a:xfrm>
            <a:prstGeom prst="rect">
              <a:avLst/>
            </a:prstGeom>
            <a:noFill/>
            <a:ln w="19050">
              <a:noFill/>
            </a:ln>
          </p:spPr>
          <p:txBody>
            <a:bodyPr wrap="none">
              <a:spAutoFit/>
            </a:bodyPr>
            <a:lstStyle/>
            <a:p>
              <a:r>
                <a:rPr lang="en-US" altLang="zh-CN" sz="2800" dirty="0">
                  <a:latin typeface="Times New Roman" panose="02020603050405020304" pitchFamily="18" charset="0"/>
                </a:rPr>
                <a:t>A</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a:t>
              </a:r>
            </a:p>
            <a:p>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59411" name="Text Box 67"/>
            <p:cNvSpPr txBox="1"/>
            <p:nvPr/>
          </p:nvSpPr>
          <p:spPr>
            <a:xfrm>
              <a:off x="712" y="2089"/>
              <a:ext cx="452" cy="1403"/>
            </a:xfrm>
            <a:prstGeom prst="rect">
              <a:avLst/>
            </a:prstGeom>
            <a:noFill/>
            <a:ln w="19050">
              <a:noFill/>
            </a:ln>
          </p:spPr>
          <p:txBody>
            <a:bodyPr wrap="none">
              <a:spAutoFit/>
            </a:bodyPr>
            <a:lstStyle/>
            <a:p>
              <a:r>
                <a:rPr lang="en-US" altLang="zh-CN" sz="2800" dirty="0">
                  <a:latin typeface="Times New Roman" panose="02020603050405020304" pitchFamily="18" charset="0"/>
                </a:rPr>
                <a:t>D/d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p>
            <a:p>
              <a:r>
                <a:rPr lang="en-US" altLang="zh-CN" sz="2800" dirty="0">
                  <a:latin typeface="Times New Roman" panose="02020603050405020304" pitchFamily="18" charset="0"/>
                </a:rPr>
                <a:t>C/1</a:t>
              </a:r>
            </a:p>
          </p:txBody>
        </p:sp>
        <p:sp>
          <p:nvSpPr>
            <p:cNvPr id="59412" name="Text Box 68"/>
            <p:cNvSpPr txBox="1"/>
            <p:nvPr/>
          </p:nvSpPr>
          <p:spPr>
            <a:xfrm>
              <a:off x="1416" y="2089"/>
              <a:ext cx="452" cy="1403"/>
            </a:xfrm>
            <a:prstGeom prst="rect">
              <a:avLst/>
            </a:prstGeom>
            <a:noFill/>
            <a:ln w="19050">
              <a:noFill/>
            </a:ln>
          </p:spPr>
          <p:txBody>
            <a:bodyPr wrap="none">
              <a:spAutoFit/>
            </a:bodyPr>
            <a:lstStyle/>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p>
            <a:p>
              <a:r>
                <a:rPr lang="en-US" altLang="zh-CN" sz="2800" dirty="0">
                  <a:latin typeface="Times New Roman" panose="02020603050405020304" pitchFamily="18" charset="0"/>
                </a:rPr>
                <a:t>B/d</a:t>
              </a:r>
            </a:p>
          </p:txBody>
        </p:sp>
      </p:grpSp>
      <p:sp>
        <p:nvSpPr>
          <p:cNvPr id="197702" name="Text Box 70"/>
          <p:cNvSpPr txBox="1"/>
          <p:nvPr/>
        </p:nvSpPr>
        <p:spPr>
          <a:xfrm>
            <a:off x="4137025" y="495300"/>
            <a:ext cx="4629150" cy="519113"/>
          </a:xfrm>
          <a:prstGeom prst="rect">
            <a:avLst/>
          </a:prstGeom>
          <a:noFill/>
          <a:ln w="19050">
            <a:noFill/>
          </a:ln>
        </p:spPr>
        <p:txBody>
          <a:bodyPr>
            <a:spAutoFit/>
          </a:bodyPr>
          <a:lstStyle/>
          <a:p>
            <a:pPr>
              <a:spcBef>
                <a:spcPct val="50000"/>
              </a:spcBef>
            </a:pPr>
            <a:r>
              <a:rPr lang="en-US" altLang="zh-CN" sz="2800" dirty="0">
                <a:latin typeface="Times New Roman" panose="02020603050405020304" pitchFamily="18" charset="0"/>
              </a:rPr>
              <a:t>(A,B,C), (A,C,D), (A,D,E)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7634"/>
                                        </p:tgtEl>
                                        <p:attrNameLst>
                                          <p:attrName>style.visibility</p:attrName>
                                        </p:attrNameLst>
                                      </p:cBhvr>
                                      <p:to>
                                        <p:strVal val="visible"/>
                                      </p:to>
                                    </p:set>
                                    <p:animEffect transition="in" filter="wipe(left)">
                                      <p:cBhvr>
                                        <p:cTn id="7" dur="500"/>
                                        <p:tgtEl>
                                          <p:spTgt spid="1976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7702"/>
                                        </p:tgtEl>
                                        <p:attrNameLst>
                                          <p:attrName>style.visibility</p:attrName>
                                        </p:attrNameLst>
                                      </p:cBhvr>
                                      <p:to>
                                        <p:strVal val="visible"/>
                                      </p:to>
                                    </p:set>
                                    <p:animEffect transition="in" filter="wipe(left)">
                                      <p:cBhvr>
                                        <p:cTn id="12" dur="500"/>
                                        <p:tgtEl>
                                          <p:spTgt spid="197702"/>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to="" calcmode="lin" valueType="num">
                                      <p:cBhvr>
                                        <p:cTn id="17" dur="1" fill="hold"/>
                                        <p:tgtEl>
                                          <p:spTgt spid="3"/>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97635"/>
                                        </p:tgtEl>
                                        <p:attrNameLst>
                                          <p:attrName>style.visibility</p:attrName>
                                        </p:attrNameLst>
                                      </p:cBhvr>
                                      <p:to>
                                        <p:strVal val="visible"/>
                                      </p:to>
                                    </p:set>
                                    <p:animEffect transition="in" filter="wipe(up)">
                                      <p:cBhvr>
                                        <p:cTn id="22" dur="500"/>
                                        <p:tgtEl>
                                          <p:spTgt spid="197635"/>
                                        </p:tgtEl>
                                      </p:cBhvr>
                                    </p:animEffect>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 to="" calcmode="lin" valueType="num">
                                      <p:cBhvr>
                                        <p:cTn id="27" dur="1" fill="hold"/>
                                        <p:tgtEl>
                                          <p:spTgt spid="4"/>
                                        </p:tgtEl>
                                        <p:attrNameLst>
                                          <p:attrName>style.visibility</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 to="" calcmode="lin" valueType="num">
                                      <p:cBhvr>
                                        <p:cTn id="32"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4" grpId="0"/>
      <p:bldP spid="197635" grpId="0"/>
      <p:bldP spid="197702"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Text Box 2"/>
          <p:cNvSpPr txBox="1"/>
          <p:nvPr/>
        </p:nvSpPr>
        <p:spPr>
          <a:xfrm>
            <a:off x="566738" y="404813"/>
            <a:ext cx="4271962" cy="1383665"/>
          </a:xfrm>
          <a:prstGeom prst="rect">
            <a:avLst/>
          </a:prstGeom>
          <a:noFill/>
          <a:ln w="19050">
            <a:noFill/>
          </a:ln>
        </p:spPr>
        <p:txBody>
          <a:bodyPr>
            <a:spAutoFit/>
          </a:bodyPr>
          <a:lstStyle/>
          <a:p>
            <a:pPr algn="just">
              <a:spcBef>
                <a:spcPct val="50000"/>
              </a:spcBef>
            </a:pPr>
            <a:r>
              <a:rPr lang="zh-CN" altLang="en-US" sz="2800" dirty="0">
                <a:latin typeface="Times New Roman" panose="02020603050405020304" pitchFamily="18" charset="0"/>
              </a:rPr>
              <a:t>但如果选相容类 </a:t>
            </a:r>
            <a:r>
              <a:rPr lang="en-US" altLang="zh-CN" sz="2800" dirty="0">
                <a:latin typeface="Times New Roman" panose="02020603050405020304" pitchFamily="18" charset="0"/>
              </a:rPr>
              <a:t>(A,B,C)</a:t>
            </a:r>
            <a:r>
              <a:rPr lang="zh-CN" altLang="en-US" sz="2800" dirty="0">
                <a:latin typeface="Times New Roman" panose="02020603050405020304" pitchFamily="18" charset="0"/>
              </a:rPr>
              <a:t>和 </a:t>
            </a:r>
            <a:r>
              <a:rPr lang="en-US" altLang="zh-CN" sz="2800" dirty="0">
                <a:latin typeface="Times New Roman" panose="02020603050405020304" pitchFamily="18" charset="0"/>
              </a:rPr>
              <a:t>(D,E)</a:t>
            </a:r>
            <a:r>
              <a:rPr lang="zh-CN" altLang="zh-CN" sz="2800" dirty="0">
                <a:latin typeface="Times New Roman" panose="02020603050405020304" pitchFamily="18" charset="0"/>
              </a:rPr>
              <a:t>则能满足最小闭合覆盖的要求</a:t>
            </a:r>
          </a:p>
        </p:txBody>
      </p:sp>
      <p:grpSp>
        <p:nvGrpSpPr>
          <p:cNvPr id="2" name="Group 68"/>
          <p:cNvGrpSpPr/>
          <p:nvPr/>
        </p:nvGrpSpPr>
        <p:grpSpPr>
          <a:xfrm>
            <a:off x="3328988" y="3419475"/>
            <a:ext cx="5380037" cy="2933700"/>
            <a:chOff x="2097" y="2124"/>
            <a:chExt cx="3389" cy="1848"/>
          </a:xfrm>
        </p:grpSpPr>
        <p:sp>
          <p:nvSpPr>
            <p:cNvPr id="60453" name="Line 4"/>
            <p:cNvSpPr/>
            <p:nvPr/>
          </p:nvSpPr>
          <p:spPr>
            <a:xfrm>
              <a:off x="2097" y="2124"/>
              <a:ext cx="3306" cy="0"/>
            </a:xfrm>
            <a:prstGeom prst="line">
              <a:avLst/>
            </a:prstGeom>
            <a:ln w="38100" cap="flat" cmpd="sng">
              <a:solidFill>
                <a:schemeClr val="tx1"/>
              </a:solidFill>
              <a:prstDash val="solid"/>
              <a:headEnd type="none" w="med" len="med"/>
              <a:tailEnd type="none" w="sm" len="lg"/>
            </a:ln>
          </p:spPr>
        </p:sp>
        <p:sp>
          <p:nvSpPr>
            <p:cNvPr id="60454" name="Line 5"/>
            <p:cNvSpPr/>
            <p:nvPr/>
          </p:nvSpPr>
          <p:spPr>
            <a:xfrm>
              <a:off x="2097" y="3960"/>
              <a:ext cx="3306" cy="0"/>
            </a:xfrm>
            <a:prstGeom prst="line">
              <a:avLst/>
            </a:prstGeom>
            <a:ln w="38100" cap="flat" cmpd="sng">
              <a:solidFill>
                <a:schemeClr val="tx1"/>
              </a:solidFill>
              <a:prstDash val="solid"/>
              <a:headEnd type="none" w="med" len="med"/>
              <a:tailEnd type="none" w="sm" len="lg"/>
            </a:ln>
          </p:spPr>
        </p:sp>
        <p:sp>
          <p:nvSpPr>
            <p:cNvPr id="60455" name="Line 6"/>
            <p:cNvSpPr/>
            <p:nvPr/>
          </p:nvSpPr>
          <p:spPr>
            <a:xfrm>
              <a:off x="2995" y="2532"/>
              <a:ext cx="2408" cy="0"/>
            </a:xfrm>
            <a:prstGeom prst="line">
              <a:avLst/>
            </a:prstGeom>
            <a:ln w="28575" cap="flat" cmpd="sng">
              <a:solidFill>
                <a:schemeClr val="tx1"/>
              </a:solidFill>
              <a:prstDash val="solid"/>
              <a:headEnd type="none" w="med" len="med"/>
              <a:tailEnd type="none" w="sm" len="lg"/>
            </a:ln>
          </p:spPr>
        </p:sp>
        <p:sp>
          <p:nvSpPr>
            <p:cNvPr id="60456" name="Line 7"/>
            <p:cNvSpPr/>
            <p:nvPr/>
          </p:nvSpPr>
          <p:spPr>
            <a:xfrm>
              <a:off x="2097" y="2904"/>
              <a:ext cx="3306" cy="0"/>
            </a:xfrm>
            <a:prstGeom prst="line">
              <a:avLst/>
            </a:prstGeom>
            <a:ln w="19050" cap="flat" cmpd="sng">
              <a:solidFill>
                <a:schemeClr val="tx1"/>
              </a:solidFill>
              <a:prstDash val="solid"/>
              <a:headEnd type="none" w="med" len="med"/>
              <a:tailEnd type="none" w="sm" len="lg"/>
            </a:ln>
          </p:spPr>
        </p:sp>
        <p:sp>
          <p:nvSpPr>
            <p:cNvPr id="60457" name="Line 8"/>
            <p:cNvSpPr/>
            <p:nvPr/>
          </p:nvSpPr>
          <p:spPr>
            <a:xfrm>
              <a:off x="2995" y="2136"/>
              <a:ext cx="0" cy="1836"/>
            </a:xfrm>
            <a:prstGeom prst="line">
              <a:avLst/>
            </a:prstGeom>
            <a:ln w="19050" cap="flat" cmpd="sng">
              <a:solidFill>
                <a:schemeClr val="tx1"/>
              </a:solidFill>
              <a:prstDash val="solid"/>
              <a:headEnd type="none" w="med" len="med"/>
              <a:tailEnd type="none" w="sm" len="lg"/>
            </a:ln>
          </p:spPr>
        </p:sp>
        <p:sp>
          <p:nvSpPr>
            <p:cNvPr id="60458" name="Line 9"/>
            <p:cNvSpPr/>
            <p:nvPr/>
          </p:nvSpPr>
          <p:spPr>
            <a:xfrm>
              <a:off x="3265" y="2532"/>
              <a:ext cx="0" cy="1440"/>
            </a:xfrm>
            <a:prstGeom prst="line">
              <a:avLst/>
            </a:prstGeom>
            <a:ln w="19050" cap="flat" cmpd="sng">
              <a:solidFill>
                <a:schemeClr val="tx1"/>
              </a:solidFill>
              <a:prstDash val="solid"/>
              <a:headEnd type="none" w="med" len="med"/>
              <a:tailEnd type="none" w="sm" len="lg"/>
            </a:ln>
          </p:spPr>
        </p:sp>
        <p:sp>
          <p:nvSpPr>
            <p:cNvPr id="60459" name="Line 10"/>
            <p:cNvSpPr/>
            <p:nvPr/>
          </p:nvSpPr>
          <p:spPr>
            <a:xfrm>
              <a:off x="3511" y="2544"/>
              <a:ext cx="0" cy="1428"/>
            </a:xfrm>
            <a:prstGeom prst="line">
              <a:avLst/>
            </a:prstGeom>
            <a:ln w="19050" cap="flat" cmpd="sng">
              <a:solidFill>
                <a:schemeClr val="tx1"/>
              </a:solidFill>
              <a:prstDash val="solid"/>
              <a:headEnd type="none" w="med" len="med"/>
              <a:tailEnd type="none" w="sm" len="lg"/>
            </a:ln>
          </p:spPr>
        </p:sp>
        <p:sp>
          <p:nvSpPr>
            <p:cNvPr id="60460" name="Line 11"/>
            <p:cNvSpPr/>
            <p:nvPr/>
          </p:nvSpPr>
          <p:spPr>
            <a:xfrm>
              <a:off x="3790" y="2544"/>
              <a:ext cx="0" cy="1428"/>
            </a:xfrm>
            <a:prstGeom prst="line">
              <a:avLst/>
            </a:prstGeom>
            <a:ln w="19050" cap="flat" cmpd="sng">
              <a:solidFill>
                <a:schemeClr val="tx1"/>
              </a:solidFill>
              <a:prstDash val="solid"/>
              <a:headEnd type="none" w="med" len="med"/>
              <a:tailEnd type="none" w="sm" len="lg"/>
            </a:ln>
          </p:spPr>
        </p:sp>
        <p:sp>
          <p:nvSpPr>
            <p:cNvPr id="60461" name="Line 12"/>
            <p:cNvSpPr/>
            <p:nvPr/>
          </p:nvSpPr>
          <p:spPr>
            <a:xfrm>
              <a:off x="4060" y="2532"/>
              <a:ext cx="0" cy="1440"/>
            </a:xfrm>
            <a:prstGeom prst="line">
              <a:avLst/>
            </a:prstGeom>
            <a:ln w="19050" cap="flat" cmpd="sng">
              <a:solidFill>
                <a:schemeClr val="tx1"/>
              </a:solidFill>
              <a:prstDash val="solid"/>
              <a:headEnd type="none" w="med" len="med"/>
              <a:tailEnd type="none" w="sm" len="lg"/>
            </a:ln>
          </p:spPr>
        </p:sp>
        <p:sp>
          <p:nvSpPr>
            <p:cNvPr id="60462" name="Line 13"/>
            <p:cNvSpPr/>
            <p:nvPr/>
          </p:nvSpPr>
          <p:spPr>
            <a:xfrm>
              <a:off x="4346" y="2124"/>
              <a:ext cx="0" cy="1836"/>
            </a:xfrm>
            <a:prstGeom prst="line">
              <a:avLst/>
            </a:prstGeom>
            <a:ln w="19050" cap="flat" cmpd="sng">
              <a:solidFill>
                <a:schemeClr val="tx1"/>
              </a:solidFill>
              <a:prstDash val="solid"/>
              <a:headEnd type="none" w="med" len="med"/>
              <a:tailEnd type="none" w="sm" len="lg"/>
            </a:ln>
          </p:spPr>
        </p:sp>
        <p:sp>
          <p:nvSpPr>
            <p:cNvPr id="60463" name="Line 14"/>
            <p:cNvSpPr/>
            <p:nvPr/>
          </p:nvSpPr>
          <p:spPr>
            <a:xfrm>
              <a:off x="4878" y="2544"/>
              <a:ext cx="0" cy="1428"/>
            </a:xfrm>
            <a:prstGeom prst="line">
              <a:avLst/>
            </a:prstGeom>
            <a:ln w="19050" cap="flat" cmpd="sng">
              <a:solidFill>
                <a:schemeClr val="tx1"/>
              </a:solidFill>
              <a:prstDash val="solid"/>
              <a:headEnd type="none" w="med" len="med"/>
              <a:tailEnd type="none" w="sm" len="lg"/>
            </a:ln>
          </p:spPr>
        </p:sp>
        <p:sp>
          <p:nvSpPr>
            <p:cNvPr id="60464" name="Text Box 15"/>
            <p:cNvSpPr txBox="1"/>
            <p:nvPr/>
          </p:nvSpPr>
          <p:spPr>
            <a:xfrm>
              <a:off x="2257" y="2320"/>
              <a:ext cx="788" cy="327"/>
            </a:xfrm>
            <a:prstGeom prst="rect">
              <a:avLst/>
            </a:prstGeom>
            <a:noFill/>
            <a:ln w="19050">
              <a:noFill/>
            </a:ln>
          </p:spPr>
          <p:txBody>
            <a:bodyPr wrap="none">
              <a:spAutoFit/>
            </a:bodyPr>
            <a:lstStyle/>
            <a:p>
              <a:r>
                <a:rPr lang="zh-CN" altLang="en-US" sz="2800" dirty="0">
                  <a:latin typeface="Times New Roman" panose="02020603050405020304" pitchFamily="18" charset="0"/>
                </a:rPr>
                <a:t>相容类</a:t>
              </a:r>
            </a:p>
          </p:txBody>
        </p:sp>
        <p:sp>
          <p:nvSpPr>
            <p:cNvPr id="60465" name="Text Box 16"/>
            <p:cNvSpPr txBox="1"/>
            <p:nvPr/>
          </p:nvSpPr>
          <p:spPr>
            <a:xfrm>
              <a:off x="2247" y="3071"/>
              <a:ext cx="576" cy="757"/>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ABC</a:t>
              </a:r>
            </a:p>
            <a:p>
              <a:pPr algn="ctr"/>
              <a:endParaRPr lang="en-US" altLang="zh-CN" sz="2800" dirty="0">
                <a:latin typeface="Times New Roman" panose="02020603050405020304" pitchFamily="18" charset="0"/>
              </a:endParaRPr>
            </a:p>
            <a:p>
              <a:pPr algn="ctr">
                <a:lnSpc>
                  <a:spcPct val="60000"/>
                </a:lnSpc>
              </a:pPr>
              <a:r>
                <a:rPr lang="en-US" altLang="zh-CN" sz="2800" dirty="0">
                  <a:latin typeface="Times New Roman" panose="02020603050405020304" pitchFamily="18" charset="0"/>
                </a:rPr>
                <a:t>DE</a:t>
              </a:r>
            </a:p>
          </p:txBody>
        </p:sp>
        <p:sp>
          <p:nvSpPr>
            <p:cNvPr id="60466" name="Text Box 17"/>
            <p:cNvSpPr txBox="1"/>
            <p:nvPr/>
          </p:nvSpPr>
          <p:spPr>
            <a:xfrm>
              <a:off x="3052" y="2537"/>
              <a:ext cx="184" cy="327"/>
            </a:xfrm>
            <a:prstGeom prst="rect">
              <a:avLst/>
            </a:prstGeom>
            <a:noFill/>
            <a:ln w="19050">
              <a:noFill/>
            </a:ln>
          </p:spPr>
          <p:txBody>
            <a:bodyPr>
              <a:spAutoFit/>
            </a:bodyPr>
            <a:lstStyle/>
            <a:p>
              <a:r>
                <a:rPr lang="en-US" altLang="zh-CN" sz="2800" dirty="0">
                  <a:latin typeface="Times New Roman" panose="02020603050405020304" pitchFamily="18" charset="0"/>
                </a:rPr>
                <a:t>A</a:t>
              </a:r>
            </a:p>
          </p:txBody>
        </p:sp>
        <p:sp>
          <p:nvSpPr>
            <p:cNvPr id="60467" name="Text Box 18"/>
            <p:cNvSpPr txBox="1"/>
            <p:nvPr/>
          </p:nvSpPr>
          <p:spPr>
            <a:xfrm>
              <a:off x="3314" y="2537"/>
              <a:ext cx="184" cy="327"/>
            </a:xfrm>
            <a:prstGeom prst="rect">
              <a:avLst/>
            </a:prstGeom>
            <a:noFill/>
            <a:ln w="19050">
              <a:noFill/>
            </a:ln>
          </p:spPr>
          <p:txBody>
            <a:bodyPr>
              <a:spAutoFit/>
            </a:bodyPr>
            <a:lstStyle/>
            <a:p>
              <a:r>
                <a:rPr lang="en-US" altLang="zh-CN" sz="2800" dirty="0">
                  <a:latin typeface="Times New Roman" panose="02020603050405020304" pitchFamily="18" charset="0"/>
                </a:rPr>
                <a:t>B</a:t>
              </a:r>
            </a:p>
          </p:txBody>
        </p:sp>
        <p:sp>
          <p:nvSpPr>
            <p:cNvPr id="60468" name="Text Box 19"/>
            <p:cNvSpPr txBox="1"/>
            <p:nvPr/>
          </p:nvSpPr>
          <p:spPr>
            <a:xfrm>
              <a:off x="3545" y="2537"/>
              <a:ext cx="184" cy="327"/>
            </a:xfrm>
            <a:prstGeom prst="rect">
              <a:avLst/>
            </a:prstGeom>
            <a:noFill/>
            <a:ln w="19050">
              <a:noFill/>
            </a:ln>
          </p:spPr>
          <p:txBody>
            <a:bodyPr>
              <a:spAutoFit/>
            </a:bodyPr>
            <a:lstStyle/>
            <a:p>
              <a:r>
                <a:rPr lang="en-US" altLang="zh-CN" sz="2800" dirty="0">
                  <a:latin typeface="Times New Roman" panose="02020603050405020304" pitchFamily="18" charset="0"/>
                </a:rPr>
                <a:t>C</a:t>
              </a:r>
            </a:p>
          </p:txBody>
        </p:sp>
        <p:sp>
          <p:nvSpPr>
            <p:cNvPr id="60469" name="Text Box 20"/>
            <p:cNvSpPr txBox="1"/>
            <p:nvPr/>
          </p:nvSpPr>
          <p:spPr>
            <a:xfrm>
              <a:off x="3823" y="2537"/>
              <a:ext cx="184" cy="327"/>
            </a:xfrm>
            <a:prstGeom prst="rect">
              <a:avLst/>
            </a:prstGeom>
            <a:noFill/>
            <a:ln w="19050">
              <a:noFill/>
            </a:ln>
          </p:spPr>
          <p:txBody>
            <a:bodyPr>
              <a:spAutoFit/>
            </a:bodyPr>
            <a:lstStyle/>
            <a:p>
              <a:r>
                <a:rPr lang="en-US" altLang="zh-CN" sz="2800" dirty="0">
                  <a:latin typeface="Times New Roman" panose="02020603050405020304" pitchFamily="18" charset="0"/>
                </a:rPr>
                <a:t>D</a:t>
              </a:r>
            </a:p>
          </p:txBody>
        </p:sp>
        <p:sp>
          <p:nvSpPr>
            <p:cNvPr id="60470" name="Text Box 21"/>
            <p:cNvSpPr txBox="1"/>
            <p:nvPr/>
          </p:nvSpPr>
          <p:spPr>
            <a:xfrm>
              <a:off x="4085" y="2537"/>
              <a:ext cx="184" cy="327"/>
            </a:xfrm>
            <a:prstGeom prst="rect">
              <a:avLst/>
            </a:prstGeom>
            <a:noFill/>
            <a:ln w="19050">
              <a:noFill/>
            </a:ln>
          </p:spPr>
          <p:txBody>
            <a:bodyPr>
              <a:spAutoFit/>
            </a:bodyPr>
            <a:lstStyle/>
            <a:p>
              <a:r>
                <a:rPr lang="en-US" altLang="zh-CN" sz="2800" dirty="0">
                  <a:latin typeface="Times New Roman" panose="02020603050405020304" pitchFamily="18" charset="0"/>
                </a:rPr>
                <a:t>E</a:t>
              </a:r>
            </a:p>
          </p:txBody>
        </p:sp>
        <p:sp>
          <p:nvSpPr>
            <p:cNvPr id="60471" name="Text Box 22"/>
            <p:cNvSpPr txBox="1"/>
            <p:nvPr/>
          </p:nvSpPr>
          <p:spPr>
            <a:xfrm>
              <a:off x="3037" y="3054"/>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A</a:t>
              </a:r>
            </a:p>
          </p:txBody>
        </p:sp>
        <p:sp>
          <p:nvSpPr>
            <p:cNvPr id="60472" name="Text Box 23"/>
            <p:cNvSpPr txBox="1"/>
            <p:nvPr/>
          </p:nvSpPr>
          <p:spPr>
            <a:xfrm>
              <a:off x="3306" y="3098"/>
              <a:ext cx="184" cy="273"/>
            </a:xfrm>
            <a:prstGeom prst="rect">
              <a:avLst/>
            </a:prstGeom>
            <a:noFill/>
            <a:ln w="19050">
              <a:noFill/>
            </a:ln>
          </p:spPr>
          <p:txBody>
            <a:bodyPr>
              <a:spAutoFit/>
            </a:bodyPr>
            <a:lstStyle/>
            <a:p>
              <a:pPr>
                <a:lnSpc>
                  <a:spcPct val="80000"/>
                </a:lnSpc>
              </a:pPr>
              <a:r>
                <a:rPr lang="en-US" altLang="zh-CN" sz="2800" dirty="0">
                  <a:latin typeface="Times New Roman" panose="02020603050405020304" pitchFamily="18" charset="0"/>
                </a:rPr>
                <a:t>B</a:t>
              </a:r>
            </a:p>
          </p:txBody>
        </p:sp>
        <p:sp>
          <p:nvSpPr>
            <p:cNvPr id="60473" name="Text Box 24"/>
            <p:cNvSpPr txBox="1"/>
            <p:nvPr/>
          </p:nvSpPr>
          <p:spPr>
            <a:xfrm>
              <a:off x="3552" y="3045"/>
              <a:ext cx="185" cy="327"/>
            </a:xfrm>
            <a:prstGeom prst="rect">
              <a:avLst/>
            </a:prstGeom>
            <a:noFill/>
            <a:ln w="19050">
              <a:noFill/>
            </a:ln>
          </p:spPr>
          <p:txBody>
            <a:bodyPr>
              <a:spAutoFit/>
            </a:bodyPr>
            <a:lstStyle/>
            <a:p>
              <a:r>
                <a:rPr lang="en-US" altLang="zh-CN" sz="2800" dirty="0">
                  <a:latin typeface="Times New Roman" panose="02020603050405020304" pitchFamily="18" charset="0"/>
                </a:rPr>
                <a:t>C</a:t>
              </a:r>
            </a:p>
          </p:txBody>
        </p:sp>
        <p:sp>
          <p:nvSpPr>
            <p:cNvPr id="60474" name="Text Box 25"/>
            <p:cNvSpPr txBox="1"/>
            <p:nvPr/>
          </p:nvSpPr>
          <p:spPr>
            <a:xfrm>
              <a:off x="3831" y="3501"/>
              <a:ext cx="184" cy="327"/>
            </a:xfrm>
            <a:prstGeom prst="rect">
              <a:avLst/>
            </a:prstGeom>
            <a:noFill/>
            <a:ln w="19050">
              <a:noFill/>
            </a:ln>
          </p:spPr>
          <p:txBody>
            <a:bodyPr>
              <a:spAutoFit/>
            </a:bodyPr>
            <a:lstStyle/>
            <a:p>
              <a:r>
                <a:rPr lang="en-US" altLang="zh-CN" sz="2800" dirty="0">
                  <a:latin typeface="Times New Roman" panose="02020603050405020304" pitchFamily="18" charset="0"/>
                </a:rPr>
                <a:t>D</a:t>
              </a:r>
            </a:p>
          </p:txBody>
        </p:sp>
        <p:sp>
          <p:nvSpPr>
            <p:cNvPr id="60475" name="Text Box 26"/>
            <p:cNvSpPr txBox="1"/>
            <p:nvPr/>
          </p:nvSpPr>
          <p:spPr>
            <a:xfrm>
              <a:off x="4093" y="3501"/>
              <a:ext cx="184" cy="327"/>
            </a:xfrm>
            <a:prstGeom prst="rect">
              <a:avLst/>
            </a:prstGeom>
            <a:noFill/>
            <a:ln w="19050">
              <a:noFill/>
            </a:ln>
          </p:spPr>
          <p:txBody>
            <a:bodyPr>
              <a:spAutoFit/>
            </a:bodyPr>
            <a:lstStyle/>
            <a:p>
              <a:r>
                <a:rPr lang="en-US" altLang="zh-CN" sz="2800" dirty="0">
                  <a:latin typeface="Times New Roman" panose="02020603050405020304" pitchFamily="18" charset="0"/>
                </a:rPr>
                <a:t>E</a:t>
              </a:r>
            </a:p>
          </p:txBody>
        </p:sp>
        <p:sp>
          <p:nvSpPr>
            <p:cNvPr id="60476" name="Text Box 27"/>
            <p:cNvSpPr txBox="1"/>
            <p:nvPr/>
          </p:nvSpPr>
          <p:spPr>
            <a:xfrm>
              <a:off x="3465" y="2178"/>
              <a:ext cx="916" cy="327"/>
            </a:xfrm>
            <a:prstGeom prst="rect">
              <a:avLst/>
            </a:prstGeom>
            <a:noFill/>
            <a:ln w="19050">
              <a:noFill/>
            </a:ln>
          </p:spPr>
          <p:txBody>
            <a:bodyPr wrap="none">
              <a:spAutoFit/>
            </a:bodyPr>
            <a:lstStyle/>
            <a:p>
              <a:r>
                <a:rPr lang="zh-CN" altLang="en-US" sz="2800" dirty="0">
                  <a:latin typeface="Times New Roman" panose="02020603050405020304" pitchFamily="18" charset="0"/>
                </a:rPr>
                <a:t>覆	盖</a:t>
              </a:r>
            </a:p>
          </p:txBody>
        </p:sp>
        <p:sp>
          <p:nvSpPr>
            <p:cNvPr id="60477" name="Text Box 28"/>
            <p:cNvSpPr txBox="1"/>
            <p:nvPr/>
          </p:nvSpPr>
          <p:spPr>
            <a:xfrm>
              <a:off x="4570" y="2202"/>
              <a:ext cx="916" cy="327"/>
            </a:xfrm>
            <a:prstGeom prst="rect">
              <a:avLst/>
            </a:prstGeom>
            <a:noFill/>
            <a:ln w="19050">
              <a:noFill/>
            </a:ln>
          </p:spPr>
          <p:txBody>
            <a:bodyPr wrap="none">
              <a:spAutoFit/>
            </a:bodyPr>
            <a:lstStyle/>
            <a:p>
              <a:r>
                <a:rPr lang="zh-CN" altLang="en-US" sz="2800" dirty="0">
                  <a:latin typeface="Times New Roman" panose="02020603050405020304" pitchFamily="18" charset="0"/>
                </a:rPr>
                <a:t>闭	合</a:t>
              </a:r>
            </a:p>
          </p:txBody>
        </p:sp>
        <p:sp>
          <p:nvSpPr>
            <p:cNvPr id="60478" name="Text Box 29"/>
            <p:cNvSpPr txBox="1"/>
            <p:nvPr/>
          </p:nvSpPr>
          <p:spPr>
            <a:xfrm>
              <a:off x="4443" y="2502"/>
              <a:ext cx="466" cy="327"/>
            </a:xfrm>
            <a:prstGeom prst="rect">
              <a:avLst/>
            </a:prstGeom>
            <a:noFill/>
            <a:ln w="19050">
              <a:noFill/>
            </a:ln>
          </p:spPr>
          <p:txBody>
            <a:bodyPr wrap="none">
              <a:spAutoFit/>
            </a:bodyPr>
            <a:lstStyle/>
            <a:p>
              <a:r>
                <a:rPr lang="en-US" altLang="zh-CN" sz="2800" dirty="0">
                  <a:latin typeface="Times New Roman" panose="02020603050405020304" pitchFamily="18" charset="0"/>
                </a:rPr>
                <a:t>x=0</a:t>
              </a:r>
            </a:p>
          </p:txBody>
        </p:sp>
        <p:sp>
          <p:nvSpPr>
            <p:cNvPr id="60479" name="Text Box 30"/>
            <p:cNvSpPr txBox="1"/>
            <p:nvPr/>
          </p:nvSpPr>
          <p:spPr>
            <a:xfrm>
              <a:off x="5001" y="2514"/>
              <a:ext cx="466" cy="327"/>
            </a:xfrm>
            <a:prstGeom prst="rect">
              <a:avLst/>
            </a:prstGeom>
            <a:noFill/>
            <a:ln w="19050">
              <a:noFill/>
            </a:ln>
          </p:spPr>
          <p:txBody>
            <a:bodyPr wrap="none">
              <a:spAutoFit/>
            </a:bodyPr>
            <a:lstStyle/>
            <a:p>
              <a:r>
                <a:rPr lang="en-US" altLang="zh-CN" sz="2800" dirty="0">
                  <a:latin typeface="Times New Roman" panose="02020603050405020304" pitchFamily="18" charset="0"/>
                </a:rPr>
                <a:t>x=1</a:t>
              </a:r>
            </a:p>
          </p:txBody>
        </p:sp>
        <p:sp>
          <p:nvSpPr>
            <p:cNvPr id="60480" name="Text Box 31"/>
            <p:cNvSpPr txBox="1"/>
            <p:nvPr/>
          </p:nvSpPr>
          <p:spPr>
            <a:xfrm>
              <a:off x="4319" y="3041"/>
              <a:ext cx="527" cy="327"/>
            </a:xfrm>
            <a:prstGeom prst="rect">
              <a:avLst/>
            </a:prstGeom>
            <a:noFill/>
            <a:ln w="19050">
              <a:noFill/>
            </a:ln>
          </p:spPr>
          <p:txBody>
            <a:bodyPr>
              <a:spAutoFit/>
            </a:bodyPr>
            <a:lstStyle/>
            <a:p>
              <a:pPr algn="ctr"/>
              <a:r>
                <a:rPr lang="en-US" altLang="zh-CN" sz="2800" dirty="0">
                  <a:latin typeface="Times New Roman" panose="02020603050405020304" pitchFamily="18" charset="0"/>
                </a:rPr>
                <a:t>DE</a:t>
              </a:r>
            </a:p>
          </p:txBody>
        </p:sp>
        <p:sp>
          <p:nvSpPr>
            <p:cNvPr id="60481" name="Text Box 32"/>
            <p:cNvSpPr txBox="1"/>
            <p:nvPr/>
          </p:nvSpPr>
          <p:spPr>
            <a:xfrm>
              <a:off x="4442" y="3501"/>
              <a:ext cx="399" cy="327"/>
            </a:xfrm>
            <a:prstGeom prst="rect">
              <a:avLst/>
            </a:prstGeom>
            <a:noFill/>
            <a:ln w="19050">
              <a:noFill/>
            </a:ln>
          </p:spPr>
          <p:txBody>
            <a:bodyPr>
              <a:spAutoFit/>
            </a:bodyPr>
            <a:lstStyle/>
            <a:p>
              <a:pPr algn="ctr"/>
              <a:r>
                <a:rPr lang="en-US" altLang="zh-CN" sz="2800" dirty="0">
                  <a:latin typeface="Times New Roman" panose="02020603050405020304" pitchFamily="18" charset="0"/>
                </a:rPr>
                <a:t>C</a:t>
              </a:r>
            </a:p>
          </p:txBody>
        </p:sp>
        <p:sp>
          <p:nvSpPr>
            <p:cNvPr id="60482" name="Text Box 33"/>
            <p:cNvSpPr txBox="1"/>
            <p:nvPr/>
          </p:nvSpPr>
          <p:spPr>
            <a:xfrm>
              <a:off x="4878" y="3501"/>
              <a:ext cx="603" cy="327"/>
            </a:xfrm>
            <a:prstGeom prst="rect">
              <a:avLst/>
            </a:prstGeom>
            <a:noFill/>
            <a:ln w="19050">
              <a:noFill/>
            </a:ln>
          </p:spPr>
          <p:txBody>
            <a:bodyPr>
              <a:spAutoFit/>
            </a:bodyPr>
            <a:lstStyle/>
            <a:p>
              <a:pPr algn="ctr"/>
              <a:r>
                <a:rPr lang="en-US" altLang="zh-CN" sz="2800" dirty="0">
                  <a:latin typeface="Times New Roman" panose="02020603050405020304" pitchFamily="18" charset="0"/>
                </a:rPr>
                <a:t>BC</a:t>
              </a:r>
            </a:p>
          </p:txBody>
        </p:sp>
        <p:sp>
          <p:nvSpPr>
            <p:cNvPr id="60483" name="Text Box 34"/>
            <p:cNvSpPr txBox="1"/>
            <p:nvPr/>
          </p:nvSpPr>
          <p:spPr>
            <a:xfrm>
              <a:off x="4917" y="3047"/>
              <a:ext cx="538" cy="327"/>
            </a:xfrm>
            <a:prstGeom prst="rect">
              <a:avLst/>
            </a:prstGeom>
            <a:noFill/>
            <a:ln w="19050">
              <a:noFill/>
            </a:ln>
          </p:spPr>
          <p:txBody>
            <a:bodyPr>
              <a:spAutoFit/>
            </a:bodyPr>
            <a:lstStyle/>
            <a:p>
              <a:pPr algn="ctr"/>
              <a:r>
                <a:rPr lang="en-US" altLang="zh-CN" sz="2800" dirty="0">
                  <a:latin typeface="Times New Roman" panose="02020603050405020304" pitchFamily="18" charset="0"/>
                </a:rPr>
                <a:t>AB</a:t>
              </a:r>
            </a:p>
          </p:txBody>
        </p:sp>
      </p:grpSp>
      <p:grpSp>
        <p:nvGrpSpPr>
          <p:cNvPr id="3" name="Group 35"/>
          <p:cNvGrpSpPr/>
          <p:nvPr/>
        </p:nvGrpSpPr>
        <p:grpSpPr>
          <a:xfrm>
            <a:off x="5487988" y="542925"/>
            <a:ext cx="2590800" cy="2579688"/>
            <a:chOff x="3457" y="342"/>
            <a:chExt cx="1632" cy="1625"/>
          </a:xfrm>
        </p:grpSpPr>
        <p:sp>
          <p:nvSpPr>
            <p:cNvPr id="60435" name="Text Box 36"/>
            <p:cNvSpPr txBox="1"/>
            <p:nvPr/>
          </p:nvSpPr>
          <p:spPr>
            <a:xfrm>
              <a:off x="4171" y="342"/>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A</a:t>
              </a:r>
            </a:p>
          </p:txBody>
        </p:sp>
        <p:sp>
          <p:nvSpPr>
            <p:cNvPr id="60436" name="Text Box 37"/>
            <p:cNvSpPr txBox="1"/>
            <p:nvPr/>
          </p:nvSpPr>
          <p:spPr>
            <a:xfrm>
              <a:off x="4824" y="922"/>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B</a:t>
              </a:r>
            </a:p>
          </p:txBody>
        </p:sp>
        <p:sp>
          <p:nvSpPr>
            <p:cNvPr id="60437" name="Text Box 38"/>
            <p:cNvSpPr txBox="1"/>
            <p:nvPr/>
          </p:nvSpPr>
          <p:spPr>
            <a:xfrm>
              <a:off x="4580" y="1628"/>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60438" name="Text Box 39"/>
            <p:cNvSpPr txBox="1"/>
            <p:nvPr/>
          </p:nvSpPr>
          <p:spPr>
            <a:xfrm>
              <a:off x="3754" y="1640"/>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60439" name="Text Box 40"/>
            <p:cNvSpPr txBox="1"/>
            <p:nvPr/>
          </p:nvSpPr>
          <p:spPr>
            <a:xfrm>
              <a:off x="3457" y="914"/>
              <a:ext cx="253" cy="327"/>
            </a:xfrm>
            <a:prstGeom prst="rect">
              <a:avLst/>
            </a:prstGeom>
            <a:noFill/>
            <a:ln w="19050">
              <a:noFill/>
            </a:ln>
          </p:spPr>
          <p:txBody>
            <a:bodyPr wrap="none">
              <a:spAutoFit/>
            </a:bodyPr>
            <a:lstStyle/>
            <a:p>
              <a:r>
                <a:rPr lang="en-US" altLang="zh-CN" sz="2800" dirty="0">
                  <a:latin typeface="Times New Roman" panose="02020603050405020304" pitchFamily="18" charset="0"/>
                </a:rPr>
                <a:t>E</a:t>
              </a:r>
            </a:p>
          </p:txBody>
        </p:sp>
        <p:sp>
          <p:nvSpPr>
            <p:cNvPr id="60440" name="Oval 41"/>
            <p:cNvSpPr/>
            <p:nvPr/>
          </p:nvSpPr>
          <p:spPr>
            <a:xfrm>
              <a:off x="4798" y="1045"/>
              <a:ext cx="49" cy="48"/>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60441" name="Oval 42"/>
            <p:cNvSpPr/>
            <p:nvPr/>
          </p:nvSpPr>
          <p:spPr>
            <a:xfrm>
              <a:off x="4578" y="1672"/>
              <a:ext cx="49" cy="47"/>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60442" name="Oval 43"/>
            <p:cNvSpPr/>
            <p:nvPr/>
          </p:nvSpPr>
          <p:spPr>
            <a:xfrm>
              <a:off x="3900" y="1656"/>
              <a:ext cx="49" cy="47"/>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60443" name="Oval 44"/>
            <p:cNvSpPr/>
            <p:nvPr/>
          </p:nvSpPr>
          <p:spPr>
            <a:xfrm>
              <a:off x="3687" y="1053"/>
              <a:ext cx="49" cy="48"/>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60444" name="Oval 45"/>
            <p:cNvSpPr/>
            <p:nvPr/>
          </p:nvSpPr>
          <p:spPr>
            <a:xfrm>
              <a:off x="4243" y="640"/>
              <a:ext cx="49" cy="48"/>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60445" name="Oval 46"/>
            <p:cNvSpPr/>
            <p:nvPr/>
          </p:nvSpPr>
          <p:spPr>
            <a:xfrm>
              <a:off x="3679" y="664"/>
              <a:ext cx="1176" cy="1142"/>
            </a:xfrm>
            <a:prstGeom prst="ellipse">
              <a:avLst/>
            </a:prstGeom>
            <a:noFill/>
            <a:ln w="3810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60446" name="Line 47"/>
            <p:cNvSpPr/>
            <p:nvPr/>
          </p:nvSpPr>
          <p:spPr>
            <a:xfrm flipH="1">
              <a:off x="3924" y="672"/>
              <a:ext cx="343" cy="1015"/>
            </a:xfrm>
            <a:prstGeom prst="line">
              <a:avLst/>
            </a:prstGeom>
            <a:ln w="38100" cap="flat" cmpd="sng">
              <a:solidFill>
                <a:srgbClr val="3366FF"/>
              </a:solidFill>
              <a:prstDash val="solid"/>
              <a:headEnd type="none" w="med" len="med"/>
              <a:tailEnd type="none" w="sm" len="lg"/>
            </a:ln>
          </p:spPr>
        </p:sp>
        <p:sp>
          <p:nvSpPr>
            <p:cNvPr id="60447" name="Line 48"/>
            <p:cNvSpPr/>
            <p:nvPr/>
          </p:nvSpPr>
          <p:spPr>
            <a:xfrm>
              <a:off x="4275" y="664"/>
              <a:ext cx="335" cy="1031"/>
            </a:xfrm>
            <a:prstGeom prst="line">
              <a:avLst/>
            </a:prstGeom>
            <a:ln w="38100" cap="flat" cmpd="sng">
              <a:solidFill>
                <a:srgbClr val="FF0000"/>
              </a:solidFill>
              <a:prstDash val="solid"/>
              <a:headEnd type="none" w="med" len="med"/>
              <a:tailEnd type="none" w="sm" len="lg"/>
            </a:ln>
          </p:spPr>
        </p:sp>
        <p:sp>
          <p:nvSpPr>
            <p:cNvPr id="60448" name="Line 49"/>
            <p:cNvSpPr/>
            <p:nvPr/>
          </p:nvSpPr>
          <p:spPr>
            <a:xfrm>
              <a:off x="4284" y="684"/>
              <a:ext cx="540" cy="384"/>
            </a:xfrm>
            <a:prstGeom prst="line">
              <a:avLst/>
            </a:prstGeom>
            <a:ln w="38100" cap="flat" cmpd="sng">
              <a:solidFill>
                <a:srgbClr val="FF0000"/>
              </a:solidFill>
              <a:prstDash val="solid"/>
              <a:headEnd type="none" w="med" len="med"/>
              <a:tailEnd type="none" w="sm" len="lg"/>
            </a:ln>
          </p:spPr>
        </p:sp>
        <p:sp>
          <p:nvSpPr>
            <p:cNvPr id="60449" name="Line 50"/>
            <p:cNvSpPr/>
            <p:nvPr/>
          </p:nvSpPr>
          <p:spPr>
            <a:xfrm flipH="1">
              <a:off x="4608" y="1068"/>
              <a:ext cx="204" cy="636"/>
            </a:xfrm>
            <a:prstGeom prst="line">
              <a:avLst/>
            </a:prstGeom>
            <a:ln w="38100" cap="flat" cmpd="sng">
              <a:solidFill>
                <a:srgbClr val="FF0000"/>
              </a:solidFill>
              <a:prstDash val="solid"/>
              <a:headEnd type="none" w="med" len="med"/>
              <a:tailEnd type="none" w="sm" len="lg"/>
            </a:ln>
          </p:spPr>
        </p:sp>
        <p:sp>
          <p:nvSpPr>
            <p:cNvPr id="60450" name="Line 51"/>
            <p:cNvSpPr/>
            <p:nvPr/>
          </p:nvSpPr>
          <p:spPr>
            <a:xfrm>
              <a:off x="3936" y="1680"/>
              <a:ext cx="672" cy="12"/>
            </a:xfrm>
            <a:prstGeom prst="line">
              <a:avLst/>
            </a:prstGeom>
            <a:ln w="38100" cap="flat" cmpd="sng">
              <a:solidFill>
                <a:srgbClr val="3333FF"/>
              </a:solidFill>
              <a:prstDash val="solid"/>
              <a:headEnd type="none" w="med" len="med"/>
              <a:tailEnd type="none" w="sm" len="lg"/>
            </a:ln>
          </p:spPr>
        </p:sp>
        <p:sp>
          <p:nvSpPr>
            <p:cNvPr id="60451" name="Line 52"/>
            <p:cNvSpPr/>
            <p:nvPr/>
          </p:nvSpPr>
          <p:spPr>
            <a:xfrm flipH="1">
              <a:off x="3708" y="672"/>
              <a:ext cx="564" cy="396"/>
            </a:xfrm>
            <a:prstGeom prst="line">
              <a:avLst/>
            </a:prstGeom>
            <a:ln w="38100" cap="flat" cmpd="sng">
              <a:solidFill>
                <a:srgbClr val="3366FF"/>
              </a:solidFill>
              <a:prstDash val="solid"/>
              <a:headEnd type="none" w="med" len="med"/>
              <a:tailEnd type="none" w="sm" len="lg"/>
            </a:ln>
          </p:spPr>
        </p:sp>
        <p:sp>
          <p:nvSpPr>
            <p:cNvPr id="60452" name="Line 53"/>
            <p:cNvSpPr/>
            <p:nvPr/>
          </p:nvSpPr>
          <p:spPr>
            <a:xfrm>
              <a:off x="3720" y="1068"/>
              <a:ext cx="204" cy="600"/>
            </a:xfrm>
            <a:prstGeom prst="line">
              <a:avLst/>
            </a:prstGeom>
            <a:ln w="38100" cap="flat" cmpd="sng">
              <a:solidFill>
                <a:srgbClr val="FF9900"/>
              </a:solidFill>
              <a:prstDash val="solid"/>
              <a:headEnd type="none" w="med" len="med"/>
              <a:tailEnd type="none" w="sm" len="lg"/>
            </a:ln>
          </p:spPr>
        </p:sp>
      </p:grpSp>
      <p:grpSp>
        <p:nvGrpSpPr>
          <p:cNvPr id="4" name="Group 54"/>
          <p:cNvGrpSpPr/>
          <p:nvPr/>
        </p:nvGrpSpPr>
        <p:grpSpPr>
          <a:xfrm>
            <a:off x="57150" y="2082800"/>
            <a:ext cx="3100388" cy="4286250"/>
            <a:chOff x="-11" y="883"/>
            <a:chExt cx="1953" cy="2700"/>
          </a:xfrm>
        </p:grpSpPr>
        <p:sp>
          <p:nvSpPr>
            <p:cNvPr id="60422" name="Line 55"/>
            <p:cNvSpPr/>
            <p:nvPr/>
          </p:nvSpPr>
          <p:spPr>
            <a:xfrm>
              <a:off x="68" y="883"/>
              <a:ext cx="1859" cy="0"/>
            </a:xfrm>
            <a:prstGeom prst="line">
              <a:avLst/>
            </a:prstGeom>
            <a:ln w="38100" cap="flat" cmpd="sng">
              <a:solidFill>
                <a:schemeClr val="tx1"/>
              </a:solidFill>
              <a:prstDash val="solid"/>
              <a:headEnd type="none" w="med" len="med"/>
              <a:tailEnd type="none" w="sm" len="lg"/>
            </a:ln>
          </p:spPr>
        </p:sp>
        <p:sp>
          <p:nvSpPr>
            <p:cNvPr id="60423" name="Line 56"/>
            <p:cNvSpPr/>
            <p:nvPr/>
          </p:nvSpPr>
          <p:spPr>
            <a:xfrm>
              <a:off x="83" y="3571"/>
              <a:ext cx="1859" cy="0"/>
            </a:xfrm>
            <a:prstGeom prst="line">
              <a:avLst/>
            </a:prstGeom>
            <a:ln w="38100" cap="flat" cmpd="sng">
              <a:solidFill>
                <a:schemeClr val="tx1"/>
              </a:solidFill>
              <a:prstDash val="solid"/>
              <a:headEnd type="none" w="med" len="med"/>
              <a:tailEnd type="none" w="sm" len="lg"/>
            </a:ln>
          </p:spPr>
        </p:sp>
        <p:sp>
          <p:nvSpPr>
            <p:cNvPr id="60424" name="Line 57"/>
            <p:cNvSpPr/>
            <p:nvPr/>
          </p:nvSpPr>
          <p:spPr>
            <a:xfrm>
              <a:off x="514" y="883"/>
              <a:ext cx="0" cy="2700"/>
            </a:xfrm>
            <a:prstGeom prst="line">
              <a:avLst/>
            </a:prstGeom>
            <a:ln w="19050" cap="flat" cmpd="sng">
              <a:solidFill>
                <a:schemeClr val="tx1"/>
              </a:solidFill>
              <a:prstDash val="solid"/>
              <a:headEnd type="none" w="med" len="med"/>
              <a:tailEnd type="none" w="sm" len="lg"/>
            </a:ln>
          </p:spPr>
        </p:sp>
        <p:sp>
          <p:nvSpPr>
            <p:cNvPr id="60425" name="Line 58"/>
            <p:cNvSpPr/>
            <p:nvPr/>
          </p:nvSpPr>
          <p:spPr>
            <a:xfrm>
              <a:off x="1182" y="1483"/>
              <a:ext cx="0" cy="2076"/>
            </a:xfrm>
            <a:prstGeom prst="line">
              <a:avLst/>
            </a:prstGeom>
            <a:ln w="19050" cap="flat" cmpd="sng">
              <a:solidFill>
                <a:schemeClr val="tx1"/>
              </a:solidFill>
              <a:prstDash val="solid"/>
              <a:headEnd type="none" w="med" len="med"/>
              <a:tailEnd type="none" w="sm" len="lg"/>
            </a:ln>
          </p:spPr>
        </p:sp>
        <p:sp>
          <p:nvSpPr>
            <p:cNvPr id="60426" name="Line 59"/>
            <p:cNvSpPr/>
            <p:nvPr/>
          </p:nvSpPr>
          <p:spPr>
            <a:xfrm>
              <a:off x="514" y="1471"/>
              <a:ext cx="1408" cy="0"/>
            </a:xfrm>
            <a:prstGeom prst="line">
              <a:avLst/>
            </a:prstGeom>
            <a:ln w="12700" cap="flat" cmpd="sng">
              <a:solidFill>
                <a:schemeClr val="tx1"/>
              </a:solidFill>
              <a:prstDash val="solid"/>
              <a:headEnd type="none" w="med" len="med"/>
              <a:tailEnd type="none" w="sm" len="lg"/>
            </a:ln>
          </p:spPr>
        </p:sp>
        <p:sp>
          <p:nvSpPr>
            <p:cNvPr id="60427" name="Line 60"/>
            <p:cNvSpPr/>
            <p:nvPr/>
          </p:nvSpPr>
          <p:spPr>
            <a:xfrm>
              <a:off x="58" y="2023"/>
              <a:ext cx="1859" cy="0"/>
            </a:xfrm>
            <a:prstGeom prst="line">
              <a:avLst/>
            </a:prstGeom>
            <a:ln w="12700" cap="flat" cmpd="sng">
              <a:solidFill>
                <a:schemeClr val="tx1"/>
              </a:solidFill>
              <a:prstDash val="solid"/>
              <a:headEnd type="none" w="med" len="med"/>
              <a:tailEnd type="none" w="sm" len="lg"/>
            </a:ln>
          </p:spPr>
        </p:sp>
        <p:sp>
          <p:nvSpPr>
            <p:cNvPr id="60428" name="Text Box 61"/>
            <p:cNvSpPr txBox="1"/>
            <p:nvPr/>
          </p:nvSpPr>
          <p:spPr>
            <a:xfrm>
              <a:off x="-11" y="1283"/>
              <a:ext cx="564" cy="327"/>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60429" name="Text Box 62"/>
            <p:cNvSpPr txBox="1"/>
            <p:nvPr/>
          </p:nvSpPr>
          <p:spPr>
            <a:xfrm>
              <a:off x="638" y="1009"/>
              <a:ext cx="1074"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60430" name="Text Box 63"/>
            <p:cNvSpPr txBox="1"/>
            <p:nvPr/>
          </p:nvSpPr>
          <p:spPr>
            <a:xfrm>
              <a:off x="743" y="1585"/>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60431" name="Text Box 64"/>
            <p:cNvSpPr txBox="1"/>
            <p:nvPr/>
          </p:nvSpPr>
          <p:spPr>
            <a:xfrm>
              <a:off x="1436" y="1585"/>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60432" name="Text Box 65"/>
            <p:cNvSpPr txBox="1"/>
            <p:nvPr/>
          </p:nvSpPr>
          <p:spPr>
            <a:xfrm>
              <a:off x="185" y="2089"/>
              <a:ext cx="278" cy="1403"/>
            </a:xfrm>
            <a:prstGeom prst="rect">
              <a:avLst/>
            </a:prstGeom>
            <a:noFill/>
            <a:ln w="19050">
              <a:noFill/>
            </a:ln>
          </p:spPr>
          <p:txBody>
            <a:bodyPr wrap="none">
              <a:spAutoFit/>
            </a:bodyPr>
            <a:lstStyle/>
            <a:p>
              <a:r>
                <a:rPr lang="en-US" altLang="zh-CN" sz="2800" dirty="0">
                  <a:latin typeface="Times New Roman" panose="02020603050405020304" pitchFamily="18" charset="0"/>
                </a:rPr>
                <a:t>A</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a:t>
              </a:r>
            </a:p>
            <a:p>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60433" name="Text Box 66"/>
            <p:cNvSpPr txBox="1"/>
            <p:nvPr/>
          </p:nvSpPr>
          <p:spPr>
            <a:xfrm>
              <a:off x="712" y="2089"/>
              <a:ext cx="452" cy="1403"/>
            </a:xfrm>
            <a:prstGeom prst="rect">
              <a:avLst/>
            </a:prstGeom>
            <a:noFill/>
            <a:ln w="19050">
              <a:noFill/>
            </a:ln>
          </p:spPr>
          <p:txBody>
            <a:bodyPr wrap="none">
              <a:spAutoFit/>
            </a:bodyPr>
            <a:lstStyle/>
            <a:p>
              <a:r>
                <a:rPr lang="en-US" altLang="zh-CN" sz="2800" dirty="0">
                  <a:latin typeface="Times New Roman" panose="02020603050405020304" pitchFamily="18" charset="0"/>
                </a:rPr>
                <a:t>D/d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p>
            <a:p>
              <a:r>
                <a:rPr lang="en-US" altLang="zh-CN" sz="2800" dirty="0">
                  <a:latin typeface="Times New Roman" panose="02020603050405020304" pitchFamily="18" charset="0"/>
                </a:rPr>
                <a:t>C/1</a:t>
              </a:r>
            </a:p>
          </p:txBody>
        </p:sp>
        <p:sp>
          <p:nvSpPr>
            <p:cNvPr id="60434" name="Text Box 67"/>
            <p:cNvSpPr txBox="1"/>
            <p:nvPr/>
          </p:nvSpPr>
          <p:spPr>
            <a:xfrm>
              <a:off x="1416" y="2089"/>
              <a:ext cx="452" cy="1403"/>
            </a:xfrm>
            <a:prstGeom prst="rect">
              <a:avLst/>
            </a:prstGeom>
            <a:noFill/>
            <a:ln w="19050">
              <a:noFill/>
            </a:ln>
          </p:spPr>
          <p:txBody>
            <a:bodyPr wrap="none">
              <a:spAutoFit/>
            </a:bodyPr>
            <a:lstStyle/>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p>
            <a:p>
              <a:r>
                <a:rPr lang="en-US" altLang="zh-CN" sz="2800" dirty="0">
                  <a:latin typeface="Times New Roman" panose="02020603050405020304" pitchFamily="18" charset="0"/>
                </a:rPr>
                <a:t>B/d</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8658"/>
                                        </p:tgtEl>
                                        <p:attrNameLst>
                                          <p:attrName>style.visibility</p:attrName>
                                        </p:attrNameLst>
                                      </p:cBhvr>
                                      <p:to>
                                        <p:strVal val="visible"/>
                                      </p:to>
                                    </p:set>
                                    <p:animEffect transition="in" filter="wipe(up)">
                                      <p:cBhvr>
                                        <p:cTn id="7" dur="500"/>
                                        <p:tgtEl>
                                          <p:spTgt spid="198658"/>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to="" calcmode="lin" valueType="num">
                                      <p:cBhvr>
                                        <p:cTn id="12" dur="1" fill="hold"/>
                                        <p:tgtEl>
                                          <p:spTgt spid="3"/>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to="" calcmode="lin" valueType="num">
                                      <p:cBhvr>
                                        <p:cTn id="17" dur="1" fill="hold"/>
                                        <p:tgtEl>
                                          <p:spTgt spid="4"/>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to="" calcmode="lin" valueType="num">
                                      <p:cBhvr>
                                        <p:cTn id="22" dur="1" fill="hold"/>
                                        <p:tgtEl>
                                          <p:spTgt spid="2"/>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8"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Text Box 2"/>
          <p:cNvSpPr txBox="1"/>
          <p:nvPr/>
        </p:nvSpPr>
        <p:spPr>
          <a:xfrm>
            <a:off x="3317875" y="792163"/>
            <a:ext cx="7372350" cy="733425"/>
          </a:xfrm>
          <a:prstGeom prst="rect">
            <a:avLst/>
          </a:prstGeom>
          <a:noFill/>
          <a:ln w="19050">
            <a:noFill/>
          </a:ln>
        </p:spPr>
        <p:txBody>
          <a:bodyPr>
            <a:spAutoFit/>
          </a:bodyPr>
          <a:lstStyle/>
          <a:p>
            <a:pPr>
              <a:lnSpc>
                <a:spcPct val="150000"/>
              </a:lnSpc>
              <a:spcBef>
                <a:spcPct val="50000"/>
              </a:spcBef>
            </a:pPr>
            <a:r>
              <a:rPr lang="zh-CN" altLang="en-US" sz="2800" dirty="0">
                <a:latin typeface="Times New Roman" panose="02020603050405020304" pitchFamily="18" charset="0"/>
              </a:rPr>
              <a:t>令</a:t>
            </a:r>
            <a:r>
              <a:rPr lang="en-US" altLang="zh-CN" sz="2800" dirty="0">
                <a:latin typeface="Times New Roman" panose="02020603050405020304" pitchFamily="18" charset="0"/>
              </a:rPr>
              <a:t>A'=(A,B,C), B'=(D,E), </a:t>
            </a:r>
            <a:r>
              <a:rPr lang="zh-CN" altLang="zh-CN" sz="2800" dirty="0">
                <a:latin typeface="Times New Roman" panose="02020603050405020304" pitchFamily="18" charset="0"/>
              </a:rPr>
              <a:t>进一步可得：</a:t>
            </a:r>
          </a:p>
        </p:txBody>
      </p:sp>
      <p:grpSp>
        <p:nvGrpSpPr>
          <p:cNvPr id="2" name="Group 3"/>
          <p:cNvGrpSpPr/>
          <p:nvPr/>
        </p:nvGrpSpPr>
        <p:grpSpPr>
          <a:xfrm>
            <a:off x="3597275" y="2103438"/>
            <a:ext cx="5180013" cy="2876550"/>
            <a:chOff x="564" y="1152"/>
            <a:chExt cx="4464" cy="1812"/>
          </a:xfrm>
        </p:grpSpPr>
        <p:sp>
          <p:nvSpPr>
            <p:cNvPr id="61459" name="Line 4"/>
            <p:cNvSpPr/>
            <p:nvPr/>
          </p:nvSpPr>
          <p:spPr>
            <a:xfrm>
              <a:off x="588" y="1152"/>
              <a:ext cx="4404" cy="0"/>
            </a:xfrm>
            <a:prstGeom prst="line">
              <a:avLst/>
            </a:prstGeom>
            <a:ln w="38100" cap="flat" cmpd="sng">
              <a:solidFill>
                <a:schemeClr val="tx1"/>
              </a:solidFill>
              <a:prstDash val="solid"/>
              <a:headEnd type="none" w="med" len="med"/>
              <a:tailEnd type="none" w="sm" len="lg"/>
            </a:ln>
          </p:spPr>
        </p:sp>
        <p:sp>
          <p:nvSpPr>
            <p:cNvPr id="61460" name="Line 5"/>
            <p:cNvSpPr/>
            <p:nvPr/>
          </p:nvSpPr>
          <p:spPr>
            <a:xfrm>
              <a:off x="624" y="2964"/>
              <a:ext cx="4404" cy="0"/>
            </a:xfrm>
            <a:prstGeom prst="line">
              <a:avLst/>
            </a:prstGeom>
            <a:ln w="38100" cap="flat" cmpd="sng">
              <a:solidFill>
                <a:schemeClr val="tx1"/>
              </a:solidFill>
              <a:prstDash val="solid"/>
              <a:headEnd type="none" w="med" len="med"/>
              <a:tailEnd type="none" w="sm" len="lg"/>
            </a:ln>
          </p:spPr>
        </p:sp>
        <p:sp>
          <p:nvSpPr>
            <p:cNvPr id="61461" name="Line 6"/>
            <p:cNvSpPr/>
            <p:nvPr/>
          </p:nvSpPr>
          <p:spPr>
            <a:xfrm>
              <a:off x="1644" y="1152"/>
              <a:ext cx="0" cy="1812"/>
            </a:xfrm>
            <a:prstGeom prst="line">
              <a:avLst/>
            </a:prstGeom>
            <a:ln w="19050" cap="flat" cmpd="sng">
              <a:solidFill>
                <a:schemeClr val="tx1"/>
              </a:solidFill>
              <a:prstDash val="solid"/>
              <a:headEnd type="none" w="med" len="med"/>
              <a:tailEnd type="none" w="sm" len="lg"/>
            </a:ln>
          </p:spPr>
        </p:sp>
        <p:sp>
          <p:nvSpPr>
            <p:cNvPr id="61462" name="Line 7"/>
            <p:cNvSpPr/>
            <p:nvPr/>
          </p:nvSpPr>
          <p:spPr>
            <a:xfrm>
              <a:off x="3228" y="1752"/>
              <a:ext cx="0" cy="1212"/>
            </a:xfrm>
            <a:prstGeom prst="line">
              <a:avLst/>
            </a:prstGeom>
            <a:ln w="19050" cap="flat" cmpd="sng">
              <a:solidFill>
                <a:schemeClr val="tx1"/>
              </a:solidFill>
              <a:prstDash val="solid"/>
              <a:headEnd type="none" w="med" len="med"/>
              <a:tailEnd type="none" w="sm" len="lg"/>
            </a:ln>
          </p:spPr>
        </p:sp>
        <p:sp>
          <p:nvSpPr>
            <p:cNvPr id="61463" name="Line 8"/>
            <p:cNvSpPr/>
            <p:nvPr/>
          </p:nvSpPr>
          <p:spPr>
            <a:xfrm>
              <a:off x="1644" y="1740"/>
              <a:ext cx="3336" cy="0"/>
            </a:xfrm>
            <a:prstGeom prst="line">
              <a:avLst/>
            </a:prstGeom>
            <a:ln w="12700" cap="flat" cmpd="sng">
              <a:solidFill>
                <a:schemeClr val="tx1"/>
              </a:solidFill>
              <a:prstDash val="solid"/>
              <a:headEnd type="none" w="med" len="med"/>
              <a:tailEnd type="none" w="sm" len="lg"/>
            </a:ln>
          </p:spPr>
        </p:sp>
        <p:sp>
          <p:nvSpPr>
            <p:cNvPr id="61464" name="Line 9"/>
            <p:cNvSpPr/>
            <p:nvPr/>
          </p:nvSpPr>
          <p:spPr>
            <a:xfrm>
              <a:off x="564" y="2292"/>
              <a:ext cx="4404" cy="0"/>
            </a:xfrm>
            <a:prstGeom prst="line">
              <a:avLst/>
            </a:prstGeom>
            <a:ln w="12700" cap="flat" cmpd="sng">
              <a:solidFill>
                <a:schemeClr val="tx1"/>
              </a:solidFill>
              <a:prstDash val="solid"/>
              <a:headEnd type="none" w="med" len="med"/>
              <a:tailEnd type="none" w="sm" len="lg"/>
            </a:ln>
          </p:spPr>
        </p:sp>
        <p:sp>
          <p:nvSpPr>
            <p:cNvPr id="61465" name="Text Box 10"/>
            <p:cNvSpPr txBox="1"/>
            <p:nvPr/>
          </p:nvSpPr>
          <p:spPr>
            <a:xfrm>
              <a:off x="770" y="1552"/>
              <a:ext cx="1251" cy="327"/>
            </a:xfrm>
            <a:prstGeom prst="rect">
              <a:avLst/>
            </a:prstGeom>
            <a:noFill/>
            <a:ln w="19050">
              <a:noFill/>
            </a:ln>
          </p:spPr>
          <p:txBody>
            <a:bodyPr>
              <a:spAutoFit/>
            </a:bodyPr>
            <a:lstStyle/>
            <a:p>
              <a:r>
                <a:rPr lang="zh-CN" altLang="zh-CN" sz="2800" dirty="0">
                  <a:latin typeface="Times New Roman" panose="02020603050405020304" pitchFamily="18" charset="0"/>
                </a:rPr>
                <a:t>现态</a:t>
              </a:r>
            </a:p>
          </p:txBody>
        </p:sp>
        <p:sp>
          <p:nvSpPr>
            <p:cNvPr id="61466" name="Text Box 11"/>
            <p:cNvSpPr txBox="1"/>
            <p:nvPr/>
          </p:nvSpPr>
          <p:spPr>
            <a:xfrm>
              <a:off x="2678" y="1278"/>
              <a:ext cx="1469"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61467" name="Text Box 12"/>
            <p:cNvSpPr txBox="1"/>
            <p:nvPr/>
          </p:nvSpPr>
          <p:spPr>
            <a:xfrm>
              <a:off x="2185" y="1854"/>
              <a:ext cx="620"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61468" name="Text Box 13"/>
            <p:cNvSpPr txBox="1"/>
            <p:nvPr/>
          </p:nvSpPr>
          <p:spPr>
            <a:xfrm>
              <a:off x="3831" y="1854"/>
              <a:ext cx="620"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61469" name="Text Box 14"/>
            <p:cNvSpPr txBox="1"/>
            <p:nvPr/>
          </p:nvSpPr>
          <p:spPr>
            <a:xfrm>
              <a:off x="865" y="2358"/>
              <a:ext cx="435" cy="596"/>
            </a:xfrm>
            <a:prstGeom prst="rect">
              <a:avLst/>
            </a:prstGeom>
            <a:noFill/>
            <a:ln w="19050">
              <a:noFill/>
            </a:ln>
          </p:spPr>
          <p:txBody>
            <a:bodyPr wrap="none">
              <a:spAutoFit/>
            </a:bodyPr>
            <a:lstStyle/>
            <a:p>
              <a:r>
                <a:rPr lang="en-US" altLang="zh-CN" sz="2800" dirty="0">
                  <a:latin typeface="Times New Roman" panose="02020603050405020304" pitchFamily="18" charset="0"/>
                </a:rPr>
                <a:t>A'</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baseline="-25000" dirty="0">
                <a:latin typeface="Times New Roman" panose="02020603050405020304" pitchFamily="18" charset="0"/>
              </a:endParaRPr>
            </a:p>
          </p:txBody>
        </p:sp>
        <p:sp>
          <p:nvSpPr>
            <p:cNvPr id="61470" name="Text Box 15"/>
            <p:cNvSpPr txBox="1"/>
            <p:nvPr/>
          </p:nvSpPr>
          <p:spPr>
            <a:xfrm>
              <a:off x="2114" y="2358"/>
              <a:ext cx="750" cy="596"/>
            </a:xfrm>
            <a:prstGeom prst="rect">
              <a:avLst/>
            </a:prstGeom>
            <a:noFill/>
            <a:ln w="19050">
              <a:noFill/>
            </a:ln>
          </p:spPr>
          <p:txBody>
            <a:bodyPr wrap="none">
              <a:spAutoFit/>
            </a:bodyPr>
            <a:lstStyle/>
            <a:p>
              <a:r>
                <a:rPr lang="en-US" altLang="zh-CN" sz="2800" dirty="0">
                  <a:latin typeface="Times New Roman" panose="02020603050405020304" pitchFamily="18" charset="0"/>
                </a:rPr>
                <a:t>B' /0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 /1</a:t>
              </a:r>
            </a:p>
          </p:txBody>
        </p:sp>
        <p:sp>
          <p:nvSpPr>
            <p:cNvPr id="61471" name="Text Box 16"/>
            <p:cNvSpPr txBox="1"/>
            <p:nvPr/>
          </p:nvSpPr>
          <p:spPr>
            <a:xfrm>
              <a:off x="3783" y="2358"/>
              <a:ext cx="673" cy="596"/>
            </a:xfrm>
            <a:prstGeom prst="rect">
              <a:avLst/>
            </a:prstGeom>
            <a:noFill/>
            <a:ln w="19050">
              <a:noFill/>
            </a:ln>
          </p:spPr>
          <p:txBody>
            <a:bodyPr wrap="none">
              <a:spAutoFit/>
            </a:bodyPr>
            <a:lstStyle/>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A'/d</a:t>
              </a:r>
            </a:p>
          </p:txBody>
        </p:sp>
      </p:grpSp>
      <p:sp>
        <p:nvSpPr>
          <p:cNvPr id="199697" name="Text Box 17"/>
          <p:cNvSpPr txBox="1"/>
          <p:nvPr/>
        </p:nvSpPr>
        <p:spPr>
          <a:xfrm>
            <a:off x="990600" y="5010150"/>
            <a:ext cx="7581900" cy="1210945"/>
          </a:xfrm>
          <a:prstGeom prst="rect">
            <a:avLst/>
          </a:prstGeom>
          <a:noFill/>
          <a:ln w="19050">
            <a:noFill/>
          </a:ln>
        </p:spPr>
        <p:txBody>
          <a:bodyPr>
            <a:spAutoFit/>
          </a:bodyPr>
          <a:lstStyle/>
          <a:p>
            <a:pPr>
              <a:lnSpc>
                <a:spcPct val="130000"/>
              </a:lnSpc>
              <a:spcBef>
                <a:spcPct val="50000"/>
              </a:spcBef>
            </a:pPr>
            <a:r>
              <a:rPr lang="zh-CN" altLang="en-US" sz="2800" dirty="0">
                <a:latin typeface="Times New Roman" panose="02020603050405020304" pitchFamily="18" charset="0"/>
              </a:rPr>
              <a:t>寻找最小闭合覆盖通常不是一件容易的事情，其结果往往不唯一。</a:t>
            </a:r>
          </a:p>
        </p:txBody>
      </p:sp>
      <p:grpSp>
        <p:nvGrpSpPr>
          <p:cNvPr id="3" name="Group 18"/>
          <p:cNvGrpSpPr/>
          <p:nvPr/>
        </p:nvGrpSpPr>
        <p:grpSpPr>
          <a:xfrm>
            <a:off x="185738" y="741363"/>
            <a:ext cx="3100387" cy="4286250"/>
            <a:chOff x="-11" y="883"/>
            <a:chExt cx="1953" cy="2700"/>
          </a:xfrm>
        </p:grpSpPr>
        <p:sp>
          <p:nvSpPr>
            <p:cNvPr id="61446" name="Line 19"/>
            <p:cNvSpPr/>
            <p:nvPr/>
          </p:nvSpPr>
          <p:spPr>
            <a:xfrm>
              <a:off x="68" y="883"/>
              <a:ext cx="1859" cy="0"/>
            </a:xfrm>
            <a:prstGeom prst="line">
              <a:avLst/>
            </a:prstGeom>
            <a:ln w="38100" cap="flat" cmpd="sng">
              <a:solidFill>
                <a:schemeClr val="tx1"/>
              </a:solidFill>
              <a:prstDash val="solid"/>
              <a:headEnd type="none" w="med" len="med"/>
              <a:tailEnd type="none" w="sm" len="lg"/>
            </a:ln>
          </p:spPr>
        </p:sp>
        <p:sp>
          <p:nvSpPr>
            <p:cNvPr id="61447" name="Line 20"/>
            <p:cNvSpPr/>
            <p:nvPr/>
          </p:nvSpPr>
          <p:spPr>
            <a:xfrm>
              <a:off x="83" y="3571"/>
              <a:ext cx="1859" cy="0"/>
            </a:xfrm>
            <a:prstGeom prst="line">
              <a:avLst/>
            </a:prstGeom>
            <a:ln w="38100" cap="flat" cmpd="sng">
              <a:solidFill>
                <a:schemeClr val="tx1"/>
              </a:solidFill>
              <a:prstDash val="solid"/>
              <a:headEnd type="none" w="med" len="med"/>
              <a:tailEnd type="none" w="sm" len="lg"/>
            </a:ln>
          </p:spPr>
        </p:sp>
        <p:sp>
          <p:nvSpPr>
            <p:cNvPr id="61448" name="Line 21"/>
            <p:cNvSpPr/>
            <p:nvPr/>
          </p:nvSpPr>
          <p:spPr>
            <a:xfrm>
              <a:off x="514" y="883"/>
              <a:ext cx="0" cy="2700"/>
            </a:xfrm>
            <a:prstGeom prst="line">
              <a:avLst/>
            </a:prstGeom>
            <a:ln w="19050" cap="flat" cmpd="sng">
              <a:solidFill>
                <a:schemeClr val="tx1"/>
              </a:solidFill>
              <a:prstDash val="solid"/>
              <a:headEnd type="none" w="med" len="med"/>
              <a:tailEnd type="none" w="sm" len="lg"/>
            </a:ln>
          </p:spPr>
        </p:sp>
        <p:sp>
          <p:nvSpPr>
            <p:cNvPr id="61449" name="Line 22"/>
            <p:cNvSpPr/>
            <p:nvPr/>
          </p:nvSpPr>
          <p:spPr>
            <a:xfrm>
              <a:off x="1182" y="1483"/>
              <a:ext cx="0" cy="2076"/>
            </a:xfrm>
            <a:prstGeom prst="line">
              <a:avLst/>
            </a:prstGeom>
            <a:ln w="19050" cap="flat" cmpd="sng">
              <a:solidFill>
                <a:schemeClr val="tx1"/>
              </a:solidFill>
              <a:prstDash val="solid"/>
              <a:headEnd type="none" w="med" len="med"/>
              <a:tailEnd type="none" w="sm" len="lg"/>
            </a:ln>
          </p:spPr>
        </p:sp>
        <p:sp>
          <p:nvSpPr>
            <p:cNvPr id="61450" name="Line 23"/>
            <p:cNvSpPr/>
            <p:nvPr/>
          </p:nvSpPr>
          <p:spPr>
            <a:xfrm>
              <a:off x="514" y="1471"/>
              <a:ext cx="1408" cy="0"/>
            </a:xfrm>
            <a:prstGeom prst="line">
              <a:avLst/>
            </a:prstGeom>
            <a:ln w="12700" cap="flat" cmpd="sng">
              <a:solidFill>
                <a:schemeClr val="tx1"/>
              </a:solidFill>
              <a:prstDash val="solid"/>
              <a:headEnd type="none" w="med" len="med"/>
              <a:tailEnd type="none" w="sm" len="lg"/>
            </a:ln>
          </p:spPr>
        </p:sp>
        <p:sp>
          <p:nvSpPr>
            <p:cNvPr id="61451" name="Line 24"/>
            <p:cNvSpPr/>
            <p:nvPr/>
          </p:nvSpPr>
          <p:spPr>
            <a:xfrm>
              <a:off x="58" y="2023"/>
              <a:ext cx="1859" cy="0"/>
            </a:xfrm>
            <a:prstGeom prst="line">
              <a:avLst/>
            </a:prstGeom>
            <a:ln w="12700" cap="flat" cmpd="sng">
              <a:solidFill>
                <a:schemeClr val="tx1"/>
              </a:solidFill>
              <a:prstDash val="solid"/>
              <a:headEnd type="none" w="med" len="med"/>
              <a:tailEnd type="none" w="sm" len="lg"/>
            </a:ln>
          </p:spPr>
        </p:sp>
        <p:sp>
          <p:nvSpPr>
            <p:cNvPr id="61452" name="Text Box 25"/>
            <p:cNvSpPr txBox="1"/>
            <p:nvPr/>
          </p:nvSpPr>
          <p:spPr>
            <a:xfrm>
              <a:off x="-11" y="1283"/>
              <a:ext cx="564" cy="327"/>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61453" name="Text Box 26"/>
            <p:cNvSpPr txBox="1"/>
            <p:nvPr/>
          </p:nvSpPr>
          <p:spPr>
            <a:xfrm>
              <a:off x="638" y="1009"/>
              <a:ext cx="1074"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61454" name="Text Box 27"/>
            <p:cNvSpPr txBox="1"/>
            <p:nvPr/>
          </p:nvSpPr>
          <p:spPr>
            <a:xfrm>
              <a:off x="743" y="1585"/>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61455" name="Text Box 28"/>
            <p:cNvSpPr txBox="1"/>
            <p:nvPr/>
          </p:nvSpPr>
          <p:spPr>
            <a:xfrm>
              <a:off x="1436" y="1585"/>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61456" name="Text Box 29"/>
            <p:cNvSpPr txBox="1"/>
            <p:nvPr/>
          </p:nvSpPr>
          <p:spPr>
            <a:xfrm>
              <a:off x="185" y="2089"/>
              <a:ext cx="278" cy="1403"/>
            </a:xfrm>
            <a:prstGeom prst="rect">
              <a:avLst/>
            </a:prstGeom>
            <a:noFill/>
            <a:ln w="19050">
              <a:noFill/>
            </a:ln>
          </p:spPr>
          <p:txBody>
            <a:bodyPr wrap="none">
              <a:spAutoFit/>
            </a:bodyPr>
            <a:lstStyle/>
            <a:p>
              <a:r>
                <a:rPr lang="en-US" altLang="zh-CN" sz="2800" dirty="0">
                  <a:latin typeface="Times New Roman" panose="02020603050405020304" pitchFamily="18" charset="0"/>
                </a:rPr>
                <a:t>A</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a:t>
              </a:r>
            </a:p>
            <a:p>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61457" name="Text Box 30"/>
            <p:cNvSpPr txBox="1"/>
            <p:nvPr/>
          </p:nvSpPr>
          <p:spPr>
            <a:xfrm>
              <a:off x="712" y="2089"/>
              <a:ext cx="452" cy="1403"/>
            </a:xfrm>
            <a:prstGeom prst="rect">
              <a:avLst/>
            </a:prstGeom>
            <a:noFill/>
            <a:ln w="19050">
              <a:noFill/>
            </a:ln>
          </p:spPr>
          <p:txBody>
            <a:bodyPr wrap="none">
              <a:spAutoFit/>
            </a:bodyPr>
            <a:lstStyle/>
            <a:p>
              <a:r>
                <a:rPr lang="en-US" altLang="zh-CN" sz="2800" dirty="0">
                  <a:latin typeface="Times New Roman" panose="02020603050405020304" pitchFamily="18" charset="0"/>
                </a:rPr>
                <a:t>D/d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p>
            <a:p>
              <a:r>
                <a:rPr lang="en-US" altLang="zh-CN" sz="2800" dirty="0">
                  <a:latin typeface="Times New Roman" panose="02020603050405020304" pitchFamily="18" charset="0"/>
                </a:rPr>
                <a:t>C/1</a:t>
              </a:r>
            </a:p>
          </p:txBody>
        </p:sp>
        <p:sp>
          <p:nvSpPr>
            <p:cNvPr id="61458" name="Text Box 31"/>
            <p:cNvSpPr txBox="1"/>
            <p:nvPr/>
          </p:nvSpPr>
          <p:spPr>
            <a:xfrm>
              <a:off x="1416" y="2089"/>
              <a:ext cx="452" cy="1403"/>
            </a:xfrm>
            <a:prstGeom prst="rect">
              <a:avLst/>
            </a:prstGeom>
            <a:noFill/>
            <a:ln w="19050">
              <a:noFill/>
            </a:ln>
          </p:spPr>
          <p:txBody>
            <a:bodyPr wrap="none">
              <a:spAutoFit/>
            </a:bodyPr>
            <a:lstStyle/>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B/d</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C/d</a:t>
              </a:r>
            </a:p>
            <a:p>
              <a:r>
                <a:rPr lang="en-US" altLang="zh-CN" sz="2800" dirty="0">
                  <a:latin typeface="Times New Roman" panose="02020603050405020304" pitchFamily="18" charset="0"/>
                </a:rPr>
                <a:t>B/d</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9682"/>
                                        </p:tgtEl>
                                        <p:attrNameLst>
                                          <p:attrName>style.visibility</p:attrName>
                                        </p:attrNameLst>
                                      </p:cBhvr>
                                      <p:to>
                                        <p:strVal val="visible"/>
                                      </p:to>
                                    </p:set>
                                    <p:animEffect transition="in" filter="wipe(left)">
                                      <p:cBhvr>
                                        <p:cTn id="12" dur="500"/>
                                        <p:tgtEl>
                                          <p:spTgt spid="199682"/>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to="" calcmode="lin" valueType="num">
                                      <p:cBhvr>
                                        <p:cTn id="17" dur="1" fill="hold"/>
                                        <p:tgtEl>
                                          <p:spTgt spid="2"/>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9697"/>
                                        </p:tgtEl>
                                        <p:attrNameLst>
                                          <p:attrName>style.visibility</p:attrName>
                                        </p:attrNameLst>
                                      </p:cBhvr>
                                      <p:to>
                                        <p:strVal val="visible"/>
                                      </p:to>
                                    </p:set>
                                    <p:animEffect transition="in" filter="wipe(left)">
                                      <p:cBhvr>
                                        <p:cTn id="22" dur="500"/>
                                        <p:tgtEl>
                                          <p:spTgt spid="1996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2" grpId="0"/>
      <p:bldP spid="199697"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Text Box 2"/>
          <p:cNvSpPr txBox="1">
            <a:spLocks noChangeArrowheads="1"/>
          </p:cNvSpPr>
          <p:nvPr/>
        </p:nvSpPr>
        <p:spPr bwMode="auto">
          <a:xfrm>
            <a:off x="2642235" y="957263"/>
            <a:ext cx="4735830" cy="583565"/>
          </a:xfrm>
          <a:prstGeom prst="rect">
            <a:avLst/>
          </a:prstGeom>
          <a:noFill/>
          <a:ln w="9525">
            <a:noFill/>
            <a:miter lim="800000"/>
          </a:ln>
          <a:effectLst/>
        </p:spPr>
        <p:txBody>
          <a:bodyPr wrap="none">
            <a:spAutoFit/>
          </a:bodyPr>
          <a:lstStyle/>
          <a:p>
            <a:pPr marR="0" defTabSz="914400">
              <a:buClrTx/>
              <a:buSzTx/>
              <a:buFontTx/>
              <a:buNone/>
              <a:defRPr/>
            </a:pPr>
            <a:r>
              <a:rPr kumimoji="1" lang="en-US" altLang="zh-CN"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7.5.4  </a:t>
            </a:r>
            <a:r>
              <a:rPr kumimoji="1" lang="zh-CN" altLang="zh-CN"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状态编码(状态分配)</a:t>
            </a:r>
            <a:endParaRPr kumimoji="1" lang="en-US" altLang="zh-CN" sz="3200" b="1" kern="1200" cap="none" spc="0" normalizeH="0" baseline="0" noProof="0" dirty="0">
              <a:latin typeface="Times New Roman" panose="02020603050405020304" pitchFamily="18" charset="0"/>
              <a:ea typeface="宋体" panose="02010600030101010101" pitchFamily="2" charset="-122"/>
              <a:cs typeface="+mn-cs"/>
            </a:endParaRPr>
          </a:p>
        </p:txBody>
      </p:sp>
      <p:grpSp>
        <p:nvGrpSpPr>
          <p:cNvPr id="2" name="Group 3"/>
          <p:cNvGrpSpPr/>
          <p:nvPr/>
        </p:nvGrpSpPr>
        <p:grpSpPr>
          <a:xfrm>
            <a:off x="647700" y="1657350"/>
            <a:ext cx="7791450" cy="4189413"/>
            <a:chOff x="408" y="1044"/>
            <a:chExt cx="4908" cy="2639"/>
          </a:xfrm>
        </p:grpSpPr>
        <p:sp>
          <p:nvSpPr>
            <p:cNvPr id="62468" name="Text Box 4"/>
            <p:cNvSpPr txBox="1"/>
            <p:nvPr/>
          </p:nvSpPr>
          <p:spPr>
            <a:xfrm>
              <a:off x="408" y="1044"/>
              <a:ext cx="4908" cy="758"/>
            </a:xfrm>
            <a:prstGeom prst="rect">
              <a:avLst/>
            </a:prstGeom>
            <a:noFill/>
            <a:ln w="19050">
              <a:noFill/>
            </a:ln>
          </p:spPr>
          <p:txBody>
            <a:bodyPr>
              <a:spAutoFit/>
            </a:bodyPr>
            <a:lstStyle/>
            <a:p>
              <a:pPr indent="762000" algn="just">
                <a:lnSpc>
                  <a:spcPct val="130000"/>
                </a:lnSpc>
                <a:spcBef>
                  <a:spcPct val="50000"/>
                </a:spcBef>
              </a:pPr>
              <a:r>
                <a:rPr lang="zh-CN" altLang="en-US" sz="2800" dirty="0">
                  <a:latin typeface="Times New Roman" panose="02020603050405020304" pitchFamily="18" charset="0"/>
                </a:rPr>
                <a:t>给最小化状态表中的每一个状态指定一个二进制代码，形成二进制状态表。</a:t>
              </a:r>
            </a:p>
          </p:txBody>
        </p:sp>
        <p:sp>
          <p:nvSpPr>
            <p:cNvPr id="62469" name="Text Box 5"/>
            <p:cNvSpPr txBox="1"/>
            <p:nvPr/>
          </p:nvSpPr>
          <p:spPr>
            <a:xfrm>
              <a:off x="408" y="1740"/>
              <a:ext cx="4908" cy="1943"/>
            </a:xfrm>
            <a:prstGeom prst="rect">
              <a:avLst/>
            </a:prstGeom>
            <a:noFill/>
            <a:ln w="19050">
              <a:noFill/>
            </a:ln>
          </p:spPr>
          <p:txBody>
            <a:bodyPr>
              <a:spAutoFit/>
            </a:bodyPr>
            <a:lstStyle/>
            <a:p>
              <a:pPr indent="762000" algn="just">
                <a:lnSpc>
                  <a:spcPct val="140000"/>
                </a:lnSpc>
                <a:spcBef>
                  <a:spcPct val="50000"/>
                </a:spcBef>
              </a:pPr>
              <a:r>
                <a:rPr lang="zh-CN" altLang="en-US" sz="2800" dirty="0">
                  <a:latin typeface="Times New Roman" panose="02020603050405020304" pitchFamily="18" charset="0"/>
                </a:rPr>
                <a:t>通常情况下，状态编码的方案不一样，所得到的输出函数和激励函数的表达式也不同，由此而设计出来的电路复杂度也不同。状态分配的任务是：</a:t>
              </a:r>
              <a:r>
                <a:rPr lang="zh-CN" altLang="en-US" sz="2800" dirty="0">
                  <a:latin typeface="Times New Roman" panose="02020603050405020304" pitchFamily="18" charset="0"/>
                  <a:sym typeface="Monotype Sorts" pitchFamily="2" charset="2"/>
                </a:rPr>
                <a:t> 决定编码的长度；寻找一种最佳的或接近最佳的状态分配方案。</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Text Box 2"/>
          <p:cNvSpPr txBox="1"/>
          <p:nvPr/>
        </p:nvSpPr>
        <p:spPr>
          <a:xfrm>
            <a:off x="838200" y="1162050"/>
            <a:ext cx="7620000" cy="1289050"/>
          </a:xfrm>
          <a:prstGeom prst="rect">
            <a:avLst/>
          </a:prstGeom>
          <a:noFill/>
          <a:ln w="19050">
            <a:noFill/>
          </a:ln>
        </p:spPr>
        <p:txBody>
          <a:bodyPr>
            <a:spAutoFit/>
          </a:bodyPr>
          <a:lstStyle/>
          <a:p>
            <a:pPr>
              <a:lnSpc>
                <a:spcPct val="140000"/>
              </a:lnSpc>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设最小化状态表中的状态数为</a:t>
            </a:r>
            <a:r>
              <a:rPr lang="en-US" altLang="zh-CN" sz="2800" dirty="0">
                <a:latin typeface="Times New Roman" panose="02020603050405020304" pitchFamily="18" charset="0"/>
              </a:rPr>
              <a:t>N</a:t>
            </a:r>
            <a:r>
              <a:rPr lang="zh-CN" altLang="en-US" sz="2800" dirty="0">
                <a:latin typeface="Times New Roman" panose="02020603050405020304" pitchFamily="18" charset="0"/>
              </a:rPr>
              <a:t>，</a:t>
            </a:r>
            <a:r>
              <a:rPr lang="zh-CN" altLang="zh-CN" sz="2800" dirty="0">
                <a:latin typeface="Times New Roman" panose="02020603050405020304" pitchFamily="18" charset="0"/>
              </a:rPr>
              <a:t>编码长度为</a:t>
            </a:r>
            <a:r>
              <a:rPr lang="en-US" altLang="zh-CN" sz="2800" i="1" dirty="0">
                <a:latin typeface="Times New Roman" panose="02020603050405020304" pitchFamily="18" charset="0"/>
              </a:rPr>
              <a:t>n</a:t>
            </a:r>
            <a:r>
              <a:rPr lang="zh-CN" altLang="en-US" sz="2800" dirty="0">
                <a:latin typeface="Times New Roman" panose="02020603050405020304" pitchFamily="18" charset="0"/>
              </a:rPr>
              <a:t>，</a:t>
            </a:r>
            <a:r>
              <a:rPr lang="en-US" altLang="zh-CN" sz="2800" dirty="0">
                <a:latin typeface="Times New Roman" panose="02020603050405020304" pitchFamily="18" charset="0"/>
              </a:rPr>
              <a:t>N</a:t>
            </a:r>
            <a:r>
              <a:rPr lang="zh-CN" altLang="zh-CN" sz="2800" dirty="0">
                <a:latin typeface="Times New Roman" panose="02020603050405020304" pitchFamily="18" charset="0"/>
              </a:rPr>
              <a:t>和</a:t>
            </a:r>
            <a:r>
              <a:rPr lang="en-US" altLang="zh-CN" sz="2800" i="1" dirty="0">
                <a:latin typeface="Times New Roman" panose="02020603050405020304" pitchFamily="18" charset="0"/>
              </a:rPr>
              <a:t>n</a:t>
            </a:r>
            <a:r>
              <a:rPr lang="zh-CN" altLang="zh-CN" sz="2800" dirty="0">
                <a:latin typeface="Times New Roman" panose="02020603050405020304" pitchFamily="18" charset="0"/>
              </a:rPr>
              <a:t>的关系为 2</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&lt;N</a:t>
            </a: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2</a:t>
            </a:r>
            <a:r>
              <a:rPr lang="en-US" altLang="zh-CN" sz="2800" i="1" baseline="30000" dirty="0">
                <a:latin typeface="Times New Roman" panose="02020603050405020304" pitchFamily="18" charset="0"/>
              </a:rPr>
              <a:t>n</a:t>
            </a:r>
          </a:p>
        </p:txBody>
      </p:sp>
      <p:grpSp>
        <p:nvGrpSpPr>
          <p:cNvPr id="2" name="Group 7"/>
          <p:cNvGrpSpPr/>
          <p:nvPr/>
        </p:nvGrpSpPr>
        <p:grpSpPr>
          <a:xfrm>
            <a:off x="838200" y="2686050"/>
            <a:ext cx="7620000" cy="2898775"/>
            <a:chOff x="528" y="1692"/>
            <a:chExt cx="4800" cy="1826"/>
          </a:xfrm>
        </p:grpSpPr>
        <p:sp>
          <p:nvSpPr>
            <p:cNvPr id="1029" name="Text Box 3"/>
            <p:cNvSpPr txBox="1"/>
            <p:nvPr/>
          </p:nvSpPr>
          <p:spPr>
            <a:xfrm>
              <a:off x="528" y="1692"/>
              <a:ext cx="4800" cy="812"/>
            </a:xfrm>
            <a:prstGeom prst="rect">
              <a:avLst/>
            </a:prstGeom>
            <a:noFill/>
            <a:ln w="19050">
              <a:noFill/>
            </a:ln>
          </p:spPr>
          <p:txBody>
            <a:bodyPr>
              <a:spAutoFit/>
            </a:bodyPr>
            <a:lstStyle/>
            <a:p>
              <a:pPr indent="666750">
                <a:lnSpc>
                  <a:spcPct val="140000"/>
                </a:lnSpc>
                <a:spcBef>
                  <a:spcPct val="50000"/>
                </a:spcBef>
              </a:pPr>
              <a:r>
                <a:rPr lang="zh-CN" altLang="en-US" sz="2800" dirty="0">
                  <a:latin typeface="Times New Roman" panose="02020603050405020304" pitchFamily="18" charset="0"/>
                </a:rPr>
                <a:t>用</a:t>
              </a:r>
              <a:r>
                <a:rPr lang="en-US" altLang="zh-CN" sz="2800" dirty="0">
                  <a:latin typeface="Times New Roman" panose="02020603050405020304" pitchFamily="18" charset="0"/>
                </a:rPr>
                <a:t>2</a:t>
              </a:r>
              <a:r>
                <a:rPr lang="en-US" altLang="zh-CN" sz="2800" i="1" baseline="30000" dirty="0">
                  <a:latin typeface="Times New Roman" panose="02020603050405020304" pitchFamily="18" charset="0"/>
                </a:rPr>
                <a:t>n</a:t>
              </a:r>
              <a:r>
                <a:rPr lang="zh-CN" altLang="zh-CN" sz="2800" dirty="0">
                  <a:latin typeface="Times New Roman" panose="02020603050405020304" pitchFamily="18" charset="0"/>
                </a:rPr>
                <a:t>种组合来对</a:t>
              </a:r>
              <a:r>
                <a:rPr lang="en-US" altLang="zh-CN" sz="2800" dirty="0">
                  <a:latin typeface="Times New Roman" panose="02020603050405020304" pitchFamily="18" charset="0"/>
                </a:rPr>
                <a:t>N</a:t>
              </a:r>
              <a:r>
                <a:rPr lang="zh-CN" altLang="zh-CN" sz="2800" dirty="0">
                  <a:latin typeface="Times New Roman" panose="02020603050405020304" pitchFamily="18" charset="0"/>
                </a:rPr>
                <a:t>个状态进行分配时，可能出现的分配方案的总数</a:t>
              </a:r>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s</a:t>
              </a:r>
              <a:r>
                <a:rPr lang="zh-CN" altLang="zh-CN" sz="2800" dirty="0">
                  <a:latin typeface="Times New Roman" panose="02020603050405020304" pitchFamily="18" charset="0"/>
                </a:rPr>
                <a:t>为</a:t>
              </a:r>
            </a:p>
          </p:txBody>
        </p:sp>
        <p:grpSp>
          <p:nvGrpSpPr>
            <p:cNvPr id="1030" name="Group 4"/>
            <p:cNvGrpSpPr/>
            <p:nvPr/>
          </p:nvGrpSpPr>
          <p:grpSpPr>
            <a:xfrm>
              <a:off x="1559" y="2830"/>
              <a:ext cx="2283" cy="688"/>
              <a:chOff x="1331" y="2470"/>
              <a:chExt cx="2283" cy="688"/>
            </a:xfrm>
          </p:grpSpPr>
          <p:graphicFrame>
            <p:nvGraphicFramePr>
              <p:cNvPr id="1026" name="Object 5"/>
              <p:cNvGraphicFramePr>
                <a:graphicFrameLocks noChangeAspect="1"/>
              </p:cNvGraphicFramePr>
              <p:nvPr/>
            </p:nvGraphicFramePr>
            <p:xfrm>
              <a:off x="1331" y="2470"/>
              <a:ext cx="2283" cy="688"/>
            </p:xfrm>
            <a:graphic>
              <a:graphicData uri="http://schemas.openxmlformats.org/presentationml/2006/ole">
                <mc:AlternateContent xmlns:mc="http://schemas.openxmlformats.org/markup-compatibility/2006">
                  <mc:Choice xmlns:v="urn:schemas-microsoft-com:vml" Requires="v">
                    <p:oleObj r:id="rId2" imgW="1294765" imgH="444500" progId="Equation.3">
                      <p:embed/>
                    </p:oleObj>
                  </mc:Choice>
                  <mc:Fallback>
                    <p:oleObj r:id="rId2" imgW="1294765" imgH="444500" progId="Equation.3">
                      <p:embed/>
                      <p:pic>
                        <p:nvPicPr>
                          <p:cNvPr id="0" name="图片 3075"/>
                          <p:cNvPicPr/>
                          <p:nvPr/>
                        </p:nvPicPr>
                        <p:blipFill>
                          <a:blip r:embed="rId3"/>
                          <a:stretch>
                            <a:fillRect/>
                          </a:stretch>
                        </p:blipFill>
                        <p:spPr>
                          <a:xfrm>
                            <a:off x="1331" y="2470"/>
                            <a:ext cx="2283" cy="688"/>
                          </a:xfrm>
                          <a:prstGeom prst="rect">
                            <a:avLst/>
                          </a:prstGeom>
                          <a:noFill/>
                          <a:ln w="38100">
                            <a:noFill/>
                            <a:miter/>
                          </a:ln>
                        </p:spPr>
                      </p:pic>
                    </p:oleObj>
                  </mc:Fallback>
                </mc:AlternateContent>
              </a:graphicData>
            </a:graphic>
          </p:graphicFrame>
          <p:sp>
            <p:nvSpPr>
              <p:cNvPr id="1031" name="Text Box 6"/>
              <p:cNvSpPr txBox="1"/>
              <p:nvPr/>
            </p:nvSpPr>
            <p:spPr>
              <a:xfrm>
                <a:off x="2942" y="2812"/>
                <a:ext cx="340" cy="327"/>
              </a:xfrm>
              <a:prstGeom prst="rect">
                <a:avLst/>
              </a:prstGeom>
              <a:noFill/>
              <a:ln w="19050">
                <a:noFill/>
              </a:ln>
            </p:spPr>
            <p:txBody>
              <a:bodyPr wrap="none">
                <a:spAutoFit/>
              </a:bodyPr>
              <a:lstStyle/>
              <a:p>
                <a:r>
                  <a:rPr lang="zh-CN" altLang="en-US" sz="2800" dirty="0">
                    <a:latin typeface="Times New Roman" panose="02020603050405020304" pitchFamily="18" charset="0"/>
                  </a:rPr>
                  <a:t>－</a:t>
                </a: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1730"/>
                                        </p:tgtEl>
                                        <p:attrNameLst>
                                          <p:attrName>style.visibility</p:attrName>
                                        </p:attrNameLst>
                                      </p:cBhvr>
                                      <p:to>
                                        <p:strVal val="visible"/>
                                      </p:to>
                                    </p:set>
                                    <p:animEffect transition="in" filter="wipe(left)">
                                      <p:cBhvr>
                                        <p:cTn id="7" dur="500"/>
                                        <p:tgtEl>
                                          <p:spTgt spid="2017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0"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descr="羊皮纸"/>
          <p:cNvSpPr/>
          <p:nvPr/>
        </p:nvSpPr>
        <p:spPr>
          <a:xfrm>
            <a:off x="0" y="0"/>
            <a:ext cx="9144000" cy="6858000"/>
          </a:xfrm>
          <a:prstGeom prst="rect">
            <a:avLst/>
          </a:prstGeom>
          <a:blipFill rotWithShape="1">
            <a:blip r:embed="rId2"/>
          </a:blipFill>
          <a:ln w="57150">
            <a:noFill/>
          </a:ln>
        </p:spPr>
        <p:txBody>
          <a:bodyPr wrap="none" anchor="ctr" anchorCtr="0"/>
          <a:lstStyle/>
          <a:p>
            <a:endParaRPr lang="zh-CN" altLang="en-US" sz="2800" dirty="0">
              <a:latin typeface="Times New Roman" panose="02020603050405020304" pitchFamily="18" charset="0"/>
            </a:endParaRPr>
          </a:p>
        </p:txBody>
      </p:sp>
      <p:sp>
        <p:nvSpPr>
          <p:cNvPr id="202755" name="Text Box 3"/>
          <p:cNvSpPr txBox="1"/>
          <p:nvPr/>
        </p:nvSpPr>
        <p:spPr>
          <a:xfrm>
            <a:off x="152400" y="247650"/>
            <a:ext cx="5219700" cy="519113"/>
          </a:xfrm>
          <a:prstGeom prst="rect">
            <a:avLst/>
          </a:prstGeom>
          <a:noFill/>
          <a:ln w="19050">
            <a:noFill/>
          </a:ln>
        </p:spPr>
        <p:txBody>
          <a:bodyPr>
            <a:spAutoFit/>
          </a:bodyPr>
          <a:lstStyle/>
          <a:p>
            <a:pPr>
              <a:spcBef>
                <a:spcPct val="50000"/>
              </a:spcBef>
            </a:pPr>
            <a:r>
              <a:rPr lang="zh-CN" altLang="en-US" sz="2800" b="1" dirty="0">
                <a:latin typeface="Times New Roman" panose="02020603050405020304" pitchFamily="18" charset="0"/>
              </a:rPr>
              <a:t>例如</a:t>
            </a:r>
            <a:r>
              <a:rPr lang="zh-CN" altLang="en-US" sz="2800" dirty="0">
                <a:latin typeface="Times New Roman" panose="02020603050405020304" pitchFamily="18" charset="0"/>
              </a:rPr>
              <a:t>，</a:t>
            </a:r>
            <a:r>
              <a:rPr lang="en-US" altLang="zh-CN" sz="2800" dirty="0">
                <a:latin typeface="Times New Roman" panose="02020603050405020304" pitchFamily="18" charset="0"/>
              </a:rPr>
              <a:t>n=2, N=4</a:t>
            </a:r>
            <a:r>
              <a:rPr lang="zh-CN" altLang="zh-CN" sz="2800" dirty="0">
                <a:latin typeface="Times New Roman" panose="02020603050405020304" pitchFamily="18" charset="0"/>
              </a:rPr>
              <a:t>时 有</a:t>
            </a:r>
          </a:p>
        </p:txBody>
      </p:sp>
      <p:grpSp>
        <p:nvGrpSpPr>
          <p:cNvPr id="2" name="Group 4"/>
          <p:cNvGrpSpPr/>
          <p:nvPr/>
        </p:nvGrpSpPr>
        <p:grpSpPr>
          <a:xfrm>
            <a:off x="247650" y="796925"/>
            <a:ext cx="8534400" cy="5773738"/>
            <a:chOff x="348" y="742"/>
            <a:chExt cx="4980" cy="3362"/>
          </a:xfrm>
        </p:grpSpPr>
        <p:sp>
          <p:nvSpPr>
            <p:cNvPr id="63493" name="Line 5"/>
            <p:cNvSpPr/>
            <p:nvPr/>
          </p:nvSpPr>
          <p:spPr>
            <a:xfrm>
              <a:off x="348" y="742"/>
              <a:ext cx="4980" cy="0"/>
            </a:xfrm>
            <a:prstGeom prst="line">
              <a:avLst/>
            </a:prstGeom>
            <a:ln w="38100" cap="flat" cmpd="sng">
              <a:solidFill>
                <a:schemeClr val="tx1"/>
              </a:solidFill>
              <a:prstDash val="solid"/>
              <a:headEnd type="none" w="med" len="med"/>
              <a:tailEnd type="none" w="sm" len="lg"/>
            </a:ln>
          </p:spPr>
        </p:sp>
        <p:sp>
          <p:nvSpPr>
            <p:cNvPr id="63494" name="Line 6"/>
            <p:cNvSpPr/>
            <p:nvPr/>
          </p:nvSpPr>
          <p:spPr>
            <a:xfrm>
              <a:off x="991" y="1017"/>
              <a:ext cx="4337" cy="0"/>
            </a:xfrm>
            <a:prstGeom prst="line">
              <a:avLst/>
            </a:prstGeom>
            <a:ln w="12700" cap="flat" cmpd="sng">
              <a:solidFill>
                <a:schemeClr val="tx1"/>
              </a:solidFill>
              <a:prstDash val="solid"/>
              <a:headEnd type="none" w="med" len="med"/>
              <a:tailEnd type="none" w="sm" len="lg"/>
            </a:ln>
          </p:spPr>
        </p:sp>
        <p:sp>
          <p:nvSpPr>
            <p:cNvPr id="63495" name="Line 7"/>
            <p:cNvSpPr/>
            <p:nvPr/>
          </p:nvSpPr>
          <p:spPr>
            <a:xfrm>
              <a:off x="348" y="1315"/>
              <a:ext cx="4980" cy="0"/>
            </a:xfrm>
            <a:prstGeom prst="line">
              <a:avLst/>
            </a:prstGeom>
            <a:ln w="19050" cap="flat" cmpd="sng">
              <a:solidFill>
                <a:schemeClr val="tx1"/>
              </a:solidFill>
              <a:prstDash val="solid"/>
              <a:headEnd type="none" w="med" len="med"/>
              <a:tailEnd type="none" w="sm" len="lg"/>
            </a:ln>
          </p:spPr>
        </p:sp>
        <p:sp>
          <p:nvSpPr>
            <p:cNvPr id="63496" name="Line 8"/>
            <p:cNvSpPr/>
            <p:nvPr/>
          </p:nvSpPr>
          <p:spPr>
            <a:xfrm>
              <a:off x="979" y="742"/>
              <a:ext cx="0" cy="1660"/>
            </a:xfrm>
            <a:prstGeom prst="line">
              <a:avLst/>
            </a:prstGeom>
            <a:ln w="19050" cap="flat" cmpd="sng">
              <a:solidFill>
                <a:schemeClr val="tx1"/>
              </a:solidFill>
              <a:prstDash val="solid"/>
              <a:headEnd type="none" w="med" len="med"/>
              <a:tailEnd type="none" w="sm" len="lg"/>
            </a:ln>
          </p:spPr>
        </p:sp>
        <p:sp>
          <p:nvSpPr>
            <p:cNvPr id="63497" name="Line 9"/>
            <p:cNvSpPr/>
            <p:nvPr/>
          </p:nvSpPr>
          <p:spPr>
            <a:xfrm>
              <a:off x="348" y="2412"/>
              <a:ext cx="4980" cy="0"/>
            </a:xfrm>
            <a:prstGeom prst="line">
              <a:avLst/>
            </a:prstGeom>
            <a:ln w="19050" cap="flat" cmpd="sng">
              <a:solidFill>
                <a:schemeClr val="tx1"/>
              </a:solidFill>
              <a:prstDash val="solid"/>
              <a:headEnd type="none" w="med" len="med"/>
              <a:tailEnd type="none" w="sm" len="lg"/>
            </a:ln>
          </p:spPr>
        </p:sp>
        <p:sp>
          <p:nvSpPr>
            <p:cNvPr id="63498" name="Text Box 10"/>
            <p:cNvSpPr txBox="1"/>
            <p:nvPr/>
          </p:nvSpPr>
          <p:spPr>
            <a:xfrm>
              <a:off x="2518" y="746"/>
              <a:ext cx="1353" cy="266"/>
            </a:xfrm>
            <a:prstGeom prst="rect">
              <a:avLst/>
            </a:prstGeom>
            <a:noFill/>
            <a:ln w="19050">
              <a:noFill/>
            </a:ln>
          </p:spPr>
          <p:txBody>
            <a:bodyPr wrap="none">
              <a:spAutoFit/>
            </a:bodyPr>
            <a:lstStyle/>
            <a:p>
              <a:r>
                <a:rPr lang="zh-CN" altLang="en-US" sz="2400" dirty="0">
                  <a:latin typeface="Times New Roman" panose="02020603050405020304" pitchFamily="18" charset="0"/>
                </a:rPr>
                <a:t>方		案</a:t>
              </a:r>
              <a:endParaRPr lang="zh-CN" altLang="en-US" sz="2800" dirty="0">
                <a:latin typeface="Times New Roman" panose="02020603050405020304" pitchFamily="18" charset="0"/>
              </a:endParaRPr>
            </a:p>
          </p:txBody>
        </p:sp>
        <p:sp>
          <p:nvSpPr>
            <p:cNvPr id="63499" name="Text Box 11"/>
            <p:cNvSpPr txBox="1"/>
            <p:nvPr/>
          </p:nvSpPr>
          <p:spPr>
            <a:xfrm>
              <a:off x="433" y="911"/>
              <a:ext cx="463" cy="266"/>
            </a:xfrm>
            <a:prstGeom prst="rect">
              <a:avLst/>
            </a:prstGeom>
            <a:noFill/>
            <a:ln w="19050">
              <a:noFill/>
            </a:ln>
          </p:spPr>
          <p:txBody>
            <a:bodyPr wrap="none">
              <a:spAutoFit/>
            </a:bodyPr>
            <a:lstStyle/>
            <a:p>
              <a:r>
                <a:rPr lang="zh-CN" altLang="en-US" sz="2400" dirty="0">
                  <a:latin typeface="Times New Roman" panose="02020603050405020304" pitchFamily="18" charset="0"/>
                </a:rPr>
                <a:t>状态</a:t>
              </a:r>
              <a:endParaRPr lang="zh-CN" altLang="en-US" sz="2800" dirty="0">
                <a:latin typeface="Times New Roman" panose="02020603050405020304" pitchFamily="18" charset="0"/>
              </a:endParaRPr>
            </a:p>
          </p:txBody>
        </p:sp>
        <p:sp>
          <p:nvSpPr>
            <p:cNvPr id="63500" name="Text Box 12"/>
            <p:cNvSpPr txBox="1"/>
            <p:nvPr/>
          </p:nvSpPr>
          <p:spPr>
            <a:xfrm>
              <a:off x="993" y="1012"/>
              <a:ext cx="3983" cy="302"/>
            </a:xfrm>
            <a:prstGeom prst="rect">
              <a:avLst/>
            </a:prstGeom>
            <a:noFill/>
            <a:ln w="19050">
              <a:noFill/>
            </a:ln>
          </p:spPr>
          <p:txBody>
            <a:bodyPr wrap="none">
              <a:spAutoFit/>
            </a:bodyPr>
            <a:lstStyle/>
            <a:p>
              <a:pPr defTabSz="571500"/>
              <a:r>
                <a:rPr lang="en-US" altLang="zh-CN" sz="2800" dirty="0">
                  <a:latin typeface="Times New Roman" panose="02020603050405020304" pitchFamily="18" charset="0"/>
                </a:rPr>
                <a:t>1	2	3	4	5	6	7	8	9	10	11	12</a:t>
              </a:r>
            </a:p>
          </p:txBody>
        </p:sp>
        <p:sp>
          <p:nvSpPr>
            <p:cNvPr id="63501" name="Text Box 13"/>
            <p:cNvSpPr txBox="1"/>
            <p:nvPr/>
          </p:nvSpPr>
          <p:spPr>
            <a:xfrm>
              <a:off x="517" y="1298"/>
              <a:ext cx="257" cy="1049"/>
            </a:xfrm>
            <a:prstGeom prst="rect">
              <a:avLst/>
            </a:prstGeom>
            <a:noFill/>
            <a:ln w="19050">
              <a:noFill/>
            </a:ln>
          </p:spPr>
          <p:txBody>
            <a:bodyPr wrap="none">
              <a:spAutoFit/>
            </a:bodyPr>
            <a:lstStyle/>
            <a:p>
              <a:r>
                <a:rPr lang="en-US" altLang="zh-CN" sz="2800" dirty="0">
                  <a:latin typeface="Times New Roman" panose="02020603050405020304" pitchFamily="18" charset="0"/>
                </a:rPr>
                <a:t>A</a:t>
              </a:r>
            </a:p>
            <a:p>
              <a:r>
                <a:rPr lang="en-US" altLang="zh-CN" sz="2800" dirty="0">
                  <a:latin typeface="Times New Roman" panose="02020603050405020304" pitchFamily="18" charset="0"/>
                </a:rPr>
                <a:t>B</a:t>
              </a:r>
            </a:p>
            <a:p>
              <a:r>
                <a:rPr lang="en-US" altLang="zh-CN" sz="2800" dirty="0">
                  <a:latin typeface="Times New Roman" panose="02020603050405020304" pitchFamily="18" charset="0"/>
                </a:rPr>
                <a:t>C</a:t>
              </a:r>
            </a:p>
            <a:p>
              <a:r>
                <a:rPr lang="en-US" altLang="zh-CN" sz="2800" dirty="0">
                  <a:latin typeface="Times New Roman" panose="02020603050405020304" pitchFamily="18" charset="0"/>
                </a:rPr>
                <a:t>D</a:t>
              </a:r>
            </a:p>
          </p:txBody>
        </p:sp>
        <p:sp>
          <p:nvSpPr>
            <p:cNvPr id="63502" name="Text Box 14"/>
            <p:cNvSpPr txBox="1"/>
            <p:nvPr/>
          </p:nvSpPr>
          <p:spPr>
            <a:xfrm>
              <a:off x="981" y="1310"/>
              <a:ext cx="3983" cy="302"/>
            </a:xfrm>
            <a:prstGeom prst="rect">
              <a:avLst/>
            </a:prstGeom>
            <a:noFill/>
            <a:ln w="19050">
              <a:noFill/>
            </a:ln>
          </p:spPr>
          <p:txBody>
            <a:bodyPr wrap="none">
              <a:spAutoFit/>
            </a:bodyPr>
            <a:lstStyle/>
            <a:p>
              <a:pPr defTabSz="571500"/>
              <a:r>
                <a:rPr lang="en-US" altLang="zh-CN" sz="2800" dirty="0">
                  <a:latin typeface="Times New Roman" panose="02020603050405020304" pitchFamily="18" charset="0"/>
                </a:rPr>
                <a:t>00	10	01	11	00	01	10	11	00	10	01	11</a:t>
              </a:r>
            </a:p>
          </p:txBody>
        </p:sp>
        <p:sp>
          <p:nvSpPr>
            <p:cNvPr id="63503" name="Text Box 15"/>
            <p:cNvSpPr txBox="1"/>
            <p:nvPr/>
          </p:nvSpPr>
          <p:spPr>
            <a:xfrm>
              <a:off x="981" y="1567"/>
              <a:ext cx="3983" cy="302"/>
            </a:xfrm>
            <a:prstGeom prst="rect">
              <a:avLst/>
            </a:prstGeom>
            <a:noFill/>
            <a:ln w="19050">
              <a:noFill/>
            </a:ln>
          </p:spPr>
          <p:txBody>
            <a:bodyPr wrap="none">
              <a:spAutoFit/>
            </a:bodyPr>
            <a:lstStyle/>
            <a:p>
              <a:pPr defTabSz="571500"/>
              <a:r>
                <a:rPr lang="en-US" altLang="zh-CN" sz="2800" dirty="0">
                  <a:latin typeface="Times New Roman" panose="02020603050405020304" pitchFamily="18" charset="0"/>
                </a:rPr>
                <a:t>01	11	00	10	10	11	00	01	11	01	10	00</a:t>
              </a:r>
            </a:p>
          </p:txBody>
        </p:sp>
        <p:sp>
          <p:nvSpPr>
            <p:cNvPr id="63504" name="Text Box 16"/>
            <p:cNvSpPr txBox="1"/>
            <p:nvPr/>
          </p:nvSpPr>
          <p:spPr>
            <a:xfrm>
              <a:off x="981" y="1833"/>
              <a:ext cx="3983" cy="302"/>
            </a:xfrm>
            <a:prstGeom prst="rect">
              <a:avLst/>
            </a:prstGeom>
            <a:noFill/>
            <a:ln w="19050">
              <a:noFill/>
            </a:ln>
          </p:spPr>
          <p:txBody>
            <a:bodyPr wrap="none">
              <a:spAutoFit/>
            </a:bodyPr>
            <a:lstStyle/>
            <a:p>
              <a:pPr defTabSz="571500"/>
              <a:r>
                <a:rPr lang="en-US" altLang="zh-CN" sz="2800" dirty="0">
                  <a:latin typeface="Times New Roman" panose="02020603050405020304" pitchFamily="18" charset="0"/>
                </a:rPr>
                <a:t>11	01	10	00	11	10	01	00	01	11	00	10</a:t>
              </a:r>
            </a:p>
          </p:txBody>
        </p:sp>
        <p:sp>
          <p:nvSpPr>
            <p:cNvPr id="63505" name="Text Box 17"/>
            <p:cNvSpPr txBox="1"/>
            <p:nvPr/>
          </p:nvSpPr>
          <p:spPr>
            <a:xfrm>
              <a:off x="981" y="2110"/>
              <a:ext cx="3983" cy="302"/>
            </a:xfrm>
            <a:prstGeom prst="rect">
              <a:avLst/>
            </a:prstGeom>
            <a:noFill/>
            <a:ln w="19050">
              <a:noFill/>
            </a:ln>
          </p:spPr>
          <p:txBody>
            <a:bodyPr wrap="none">
              <a:spAutoFit/>
            </a:bodyPr>
            <a:lstStyle/>
            <a:p>
              <a:pPr defTabSz="571500"/>
              <a:r>
                <a:rPr lang="en-US" altLang="zh-CN" sz="2800" dirty="0">
                  <a:latin typeface="Times New Roman" panose="02020603050405020304" pitchFamily="18" charset="0"/>
                </a:rPr>
                <a:t>10	00	11	01	01	00	11	10	10	00	11	01</a:t>
              </a:r>
            </a:p>
          </p:txBody>
        </p:sp>
        <p:sp>
          <p:nvSpPr>
            <p:cNvPr id="63506" name="Line 18"/>
            <p:cNvSpPr/>
            <p:nvPr/>
          </p:nvSpPr>
          <p:spPr>
            <a:xfrm>
              <a:off x="348" y="2434"/>
              <a:ext cx="4980" cy="0"/>
            </a:xfrm>
            <a:prstGeom prst="line">
              <a:avLst/>
            </a:prstGeom>
            <a:ln w="19050" cap="flat" cmpd="sng">
              <a:solidFill>
                <a:schemeClr val="tx1"/>
              </a:solidFill>
              <a:prstDash val="solid"/>
              <a:headEnd type="none" w="med" len="med"/>
              <a:tailEnd type="none" w="sm" len="lg"/>
            </a:ln>
          </p:spPr>
        </p:sp>
        <p:sp>
          <p:nvSpPr>
            <p:cNvPr id="63507" name="Line 19"/>
            <p:cNvSpPr/>
            <p:nvPr/>
          </p:nvSpPr>
          <p:spPr>
            <a:xfrm>
              <a:off x="991" y="2709"/>
              <a:ext cx="4337" cy="0"/>
            </a:xfrm>
            <a:prstGeom prst="line">
              <a:avLst/>
            </a:prstGeom>
            <a:ln w="12700" cap="flat" cmpd="sng">
              <a:solidFill>
                <a:schemeClr val="tx1"/>
              </a:solidFill>
              <a:prstDash val="solid"/>
              <a:headEnd type="none" w="med" len="med"/>
              <a:tailEnd type="none" w="sm" len="lg"/>
            </a:ln>
          </p:spPr>
        </p:sp>
        <p:sp>
          <p:nvSpPr>
            <p:cNvPr id="63508" name="Line 20"/>
            <p:cNvSpPr/>
            <p:nvPr/>
          </p:nvSpPr>
          <p:spPr>
            <a:xfrm>
              <a:off x="348" y="3007"/>
              <a:ext cx="4980" cy="0"/>
            </a:xfrm>
            <a:prstGeom prst="line">
              <a:avLst/>
            </a:prstGeom>
            <a:ln w="19050" cap="flat" cmpd="sng">
              <a:solidFill>
                <a:schemeClr val="tx1"/>
              </a:solidFill>
              <a:prstDash val="solid"/>
              <a:headEnd type="none" w="med" len="med"/>
              <a:tailEnd type="none" w="sm" len="lg"/>
            </a:ln>
          </p:spPr>
        </p:sp>
        <p:sp>
          <p:nvSpPr>
            <p:cNvPr id="63509" name="Line 21"/>
            <p:cNvSpPr/>
            <p:nvPr/>
          </p:nvSpPr>
          <p:spPr>
            <a:xfrm>
              <a:off x="979" y="2434"/>
              <a:ext cx="0" cy="1660"/>
            </a:xfrm>
            <a:prstGeom prst="line">
              <a:avLst/>
            </a:prstGeom>
            <a:ln w="19050" cap="flat" cmpd="sng">
              <a:solidFill>
                <a:schemeClr val="tx1"/>
              </a:solidFill>
              <a:prstDash val="solid"/>
              <a:headEnd type="none" w="med" len="med"/>
              <a:tailEnd type="none" w="sm" len="lg"/>
            </a:ln>
          </p:spPr>
        </p:sp>
        <p:sp>
          <p:nvSpPr>
            <p:cNvPr id="63510" name="Line 22"/>
            <p:cNvSpPr/>
            <p:nvPr/>
          </p:nvSpPr>
          <p:spPr>
            <a:xfrm>
              <a:off x="348" y="4104"/>
              <a:ext cx="4980" cy="0"/>
            </a:xfrm>
            <a:prstGeom prst="line">
              <a:avLst/>
            </a:prstGeom>
            <a:ln w="38100" cap="flat" cmpd="sng">
              <a:solidFill>
                <a:schemeClr val="tx1"/>
              </a:solidFill>
              <a:prstDash val="solid"/>
              <a:headEnd type="none" w="med" len="med"/>
              <a:tailEnd type="none" w="sm" len="lg"/>
            </a:ln>
          </p:spPr>
        </p:sp>
        <p:sp>
          <p:nvSpPr>
            <p:cNvPr id="63511" name="Text Box 23"/>
            <p:cNvSpPr txBox="1"/>
            <p:nvPr/>
          </p:nvSpPr>
          <p:spPr>
            <a:xfrm>
              <a:off x="2518" y="2438"/>
              <a:ext cx="1353" cy="266"/>
            </a:xfrm>
            <a:prstGeom prst="rect">
              <a:avLst/>
            </a:prstGeom>
            <a:noFill/>
            <a:ln w="19050">
              <a:noFill/>
            </a:ln>
          </p:spPr>
          <p:txBody>
            <a:bodyPr wrap="none">
              <a:spAutoFit/>
            </a:bodyPr>
            <a:lstStyle/>
            <a:p>
              <a:r>
                <a:rPr lang="zh-CN" altLang="en-US" sz="2400" dirty="0">
                  <a:latin typeface="Times New Roman" panose="02020603050405020304" pitchFamily="18" charset="0"/>
                </a:rPr>
                <a:t>方		案</a:t>
              </a:r>
              <a:endParaRPr lang="zh-CN" altLang="en-US" sz="2800" dirty="0">
                <a:latin typeface="Times New Roman" panose="02020603050405020304" pitchFamily="18" charset="0"/>
              </a:endParaRPr>
            </a:p>
          </p:txBody>
        </p:sp>
        <p:sp>
          <p:nvSpPr>
            <p:cNvPr id="63512" name="Text Box 24"/>
            <p:cNvSpPr txBox="1"/>
            <p:nvPr/>
          </p:nvSpPr>
          <p:spPr>
            <a:xfrm>
              <a:off x="433" y="2603"/>
              <a:ext cx="463" cy="266"/>
            </a:xfrm>
            <a:prstGeom prst="rect">
              <a:avLst/>
            </a:prstGeom>
            <a:noFill/>
            <a:ln w="19050">
              <a:noFill/>
            </a:ln>
          </p:spPr>
          <p:txBody>
            <a:bodyPr wrap="none">
              <a:spAutoFit/>
            </a:bodyPr>
            <a:lstStyle/>
            <a:p>
              <a:r>
                <a:rPr lang="zh-CN" altLang="en-US" sz="2400" dirty="0">
                  <a:latin typeface="Times New Roman" panose="02020603050405020304" pitchFamily="18" charset="0"/>
                </a:rPr>
                <a:t>状态</a:t>
              </a:r>
              <a:endParaRPr lang="zh-CN" altLang="en-US" sz="2800" dirty="0">
                <a:latin typeface="Times New Roman" panose="02020603050405020304" pitchFamily="18" charset="0"/>
              </a:endParaRPr>
            </a:p>
          </p:txBody>
        </p:sp>
        <p:sp>
          <p:nvSpPr>
            <p:cNvPr id="63513" name="Text Box 25"/>
            <p:cNvSpPr txBox="1"/>
            <p:nvPr/>
          </p:nvSpPr>
          <p:spPr>
            <a:xfrm>
              <a:off x="993" y="2704"/>
              <a:ext cx="3983" cy="302"/>
            </a:xfrm>
            <a:prstGeom prst="rect">
              <a:avLst/>
            </a:prstGeom>
            <a:noFill/>
            <a:ln w="19050">
              <a:noFill/>
            </a:ln>
          </p:spPr>
          <p:txBody>
            <a:bodyPr wrap="none">
              <a:spAutoFit/>
            </a:bodyPr>
            <a:lstStyle/>
            <a:p>
              <a:pPr defTabSz="571500"/>
              <a:r>
                <a:rPr lang="en-US" altLang="zh-CN" sz="2800" dirty="0">
                  <a:latin typeface="Times New Roman" panose="02020603050405020304" pitchFamily="18" charset="0"/>
                </a:rPr>
                <a:t>13	14	15	16	17	18	19	20	21	22	23	24</a:t>
              </a:r>
            </a:p>
          </p:txBody>
        </p:sp>
        <p:sp>
          <p:nvSpPr>
            <p:cNvPr id="63514" name="Text Box 26"/>
            <p:cNvSpPr txBox="1"/>
            <p:nvPr/>
          </p:nvSpPr>
          <p:spPr>
            <a:xfrm>
              <a:off x="517" y="2989"/>
              <a:ext cx="257" cy="1048"/>
            </a:xfrm>
            <a:prstGeom prst="rect">
              <a:avLst/>
            </a:prstGeom>
            <a:noFill/>
            <a:ln w="19050">
              <a:noFill/>
            </a:ln>
          </p:spPr>
          <p:txBody>
            <a:bodyPr wrap="none">
              <a:spAutoFit/>
            </a:bodyPr>
            <a:lstStyle/>
            <a:p>
              <a:r>
                <a:rPr lang="en-US" altLang="zh-CN" sz="2800" dirty="0">
                  <a:latin typeface="Times New Roman" panose="02020603050405020304" pitchFamily="18" charset="0"/>
                </a:rPr>
                <a:t>A</a:t>
              </a:r>
            </a:p>
            <a:p>
              <a:r>
                <a:rPr lang="en-US" altLang="zh-CN" sz="2800" dirty="0">
                  <a:latin typeface="Times New Roman" panose="02020603050405020304" pitchFamily="18" charset="0"/>
                </a:rPr>
                <a:t>B</a:t>
              </a:r>
            </a:p>
            <a:p>
              <a:r>
                <a:rPr lang="en-US" altLang="zh-CN" sz="2800" dirty="0">
                  <a:latin typeface="Times New Roman" panose="02020603050405020304" pitchFamily="18" charset="0"/>
                </a:rPr>
                <a:t>C</a:t>
              </a:r>
            </a:p>
            <a:p>
              <a:r>
                <a:rPr lang="en-US" altLang="zh-CN" sz="2800" dirty="0">
                  <a:latin typeface="Times New Roman" panose="02020603050405020304" pitchFamily="18" charset="0"/>
                </a:rPr>
                <a:t>D</a:t>
              </a:r>
            </a:p>
          </p:txBody>
        </p:sp>
        <p:sp>
          <p:nvSpPr>
            <p:cNvPr id="63515" name="Text Box 27"/>
            <p:cNvSpPr txBox="1"/>
            <p:nvPr/>
          </p:nvSpPr>
          <p:spPr>
            <a:xfrm>
              <a:off x="981" y="3002"/>
              <a:ext cx="3983" cy="302"/>
            </a:xfrm>
            <a:prstGeom prst="rect">
              <a:avLst/>
            </a:prstGeom>
            <a:noFill/>
            <a:ln w="19050">
              <a:noFill/>
            </a:ln>
          </p:spPr>
          <p:txBody>
            <a:bodyPr wrap="none">
              <a:spAutoFit/>
            </a:bodyPr>
            <a:lstStyle/>
            <a:p>
              <a:pPr defTabSz="571500"/>
              <a:r>
                <a:rPr lang="en-US" altLang="zh-CN" sz="2800" dirty="0">
                  <a:latin typeface="Times New Roman" panose="02020603050405020304" pitchFamily="18" charset="0"/>
                </a:rPr>
                <a:t>00	01	10	11	00	10	01	11	00	01	10	11</a:t>
              </a:r>
            </a:p>
          </p:txBody>
        </p:sp>
        <p:sp>
          <p:nvSpPr>
            <p:cNvPr id="63516" name="Text Box 28"/>
            <p:cNvSpPr txBox="1"/>
            <p:nvPr/>
          </p:nvSpPr>
          <p:spPr>
            <a:xfrm>
              <a:off x="981" y="3259"/>
              <a:ext cx="3983" cy="302"/>
            </a:xfrm>
            <a:prstGeom prst="rect">
              <a:avLst/>
            </a:prstGeom>
            <a:noFill/>
            <a:ln w="19050">
              <a:noFill/>
            </a:ln>
          </p:spPr>
          <p:txBody>
            <a:bodyPr wrap="none">
              <a:spAutoFit/>
            </a:bodyPr>
            <a:lstStyle/>
            <a:p>
              <a:pPr defTabSz="571500"/>
              <a:r>
                <a:rPr lang="en-US" altLang="zh-CN" sz="2800" dirty="0">
                  <a:latin typeface="Times New Roman" panose="02020603050405020304" pitchFamily="18" charset="0"/>
                </a:rPr>
                <a:t>11	10	01	00	10	00	11	01	01	00	11	10</a:t>
              </a:r>
            </a:p>
          </p:txBody>
        </p:sp>
        <p:sp>
          <p:nvSpPr>
            <p:cNvPr id="63517" name="Text Box 29"/>
            <p:cNvSpPr txBox="1"/>
            <p:nvPr/>
          </p:nvSpPr>
          <p:spPr>
            <a:xfrm>
              <a:off x="981" y="3524"/>
              <a:ext cx="3983" cy="303"/>
            </a:xfrm>
            <a:prstGeom prst="rect">
              <a:avLst/>
            </a:prstGeom>
            <a:noFill/>
            <a:ln w="19050">
              <a:noFill/>
            </a:ln>
          </p:spPr>
          <p:txBody>
            <a:bodyPr wrap="none">
              <a:spAutoFit/>
            </a:bodyPr>
            <a:lstStyle/>
            <a:p>
              <a:pPr defTabSz="571500"/>
              <a:r>
                <a:rPr lang="en-US" altLang="zh-CN" sz="2800" dirty="0">
                  <a:latin typeface="Times New Roman" panose="02020603050405020304" pitchFamily="18" charset="0"/>
                </a:rPr>
                <a:t>10	11	00	01	01	11	00	10	10	11	00	01</a:t>
              </a:r>
            </a:p>
          </p:txBody>
        </p:sp>
        <p:sp>
          <p:nvSpPr>
            <p:cNvPr id="63518" name="Text Box 30"/>
            <p:cNvSpPr txBox="1"/>
            <p:nvPr/>
          </p:nvSpPr>
          <p:spPr>
            <a:xfrm>
              <a:off x="981" y="3802"/>
              <a:ext cx="3983" cy="302"/>
            </a:xfrm>
            <a:prstGeom prst="rect">
              <a:avLst/>
            </a:prstGeom>
            <a:noFill/>
            <a:ln w="19050">
              <a:noFill/>
            </a:ln>
          </p:spPr>
          <p:txBody>
            <a:bodyPr wrap="none">
              <a:spAutoFit/>
            </a:bodyPr>
            <a:lstStyle/>
            <a:p>
              <a:pPr defTabSz="571500"/>
              <a:r>
                <a:rPr lang="en-US" altLang="zh-CN" sz="2800" dirty="0">
                  <a:latin typeface="Times New Roman" panose="02020603050405020304" pitchFamily="18" charset="0"/>
                </a:rPr>
                <a:t>01	00	11	10	11	01	10	00	11	10	01	00</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2755"/>
                                        </p:tgtEl>
                                        <p:attrNameLst>
                                          <p:attrName>style.visibility</p:attrName>
                                        </p:attrNameLst>
                                      </p:cBhvr>
                                      <p:to>
                                        <p:strVal val="visible"/>
                                      </p:to>
                                    </p:set>
                                    <p:animEffect transition="in" filter="wipe(left)">
                                      <p:cBhvr>
                                        <p:cTn id="7" dur="500"/>
                                        <p:tgtEl>
                                          <p:spTgt spid="20275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
          <p:cNvGrpSpPr/>
          <p:nvPr/>
        </p:nvGrpSpPr>
        <p:grpSpPr>
          <a:xfrm>
            <a:off x="895350" y="914400"/>
            <a:ext cx="7524750" cy="5384800"/>
            <a:chOff x="564" y="576"/>
            <a:chExt cx="4740" cy="3392"/>
          </a:xfrm>
        </p:grpSpPr>
        <p:sp>
          <p:nvSpPr>
            <p:cNvPr id="2052" name="Text Box 2"/>
            <p:cNvSpPr txBox="1"/>
            <p:nvPr/>
          </p:nvSpPr>
          <p:spPr>
            <a:xfrm>
              <a:off x="576" y="576"/>
              <a:ext cx="4704" cy="812"/>
            </a:xfrm>
            <a:prstGeom prst="rect">
              <a:avLst/>
            </a:prstGeom>
            <a:noFill/>
            <a:ln w="19050">
              <a:noFill/>
            </a:ln>
          </p:spPr>
          <p:txBody>
            <a:bodyPr>
              <a:spAutoFit/>
            </a:bodyPr>
            <a:lstStyle/>
            <a:p>
              <a:pPr>
                <a:lnSpc>
                  <a:spcPct val="140000"/>
                </a:lnSpc>
                <a:spcBef>
                  <a:spcPct val="50000"/>
                </a:spcBef>
              </a:pPr>
              <a:r>
                <a:rPr lang="zh-CN" altLang="zh-CN" sz="2800" dirty="0">
                  <a:latin typeface="Times New Roman" panose="02020603050405020304" pitchFamily="18" charset="0"/>
                </a:rPr>
                <a:t>但是，在</a:t>
              </a:r>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s</a:t>
              </a:r>
              <a:r>
                <a:rPr lang="zh-CN" altLang="zh-CN" sz="2800" dirty="0">
                  <a:latin typeface="Times New Roman" panose="02020603050405020304" pitchFamily="18" charset="0"/>
                </a:rPr>
                <a:t>种方案中只有三种是独立的(真正不相同的)方案</a:t>
              </a:r>
            </a:p>
          </p:txBody>
        </p:sp>
        <p:grpSp>
          <p:nvGrpSpPr>
            <p:cNvPr id="2053" name="Group 3"/>
            <p:cNvGrpSpPr/>
            <p:nvPr/>
          </p:nvGrpSpPr>
          <p:grpSpPr>
            <a:xfrm>
              <a:off x="1768" y="1404"/>
              <a:ext cx="1744" cy="732"/>
              <a:chOff x="1828" y="1548"/>
              <a:chExt cx="1744" cy="756"/>
            </a:xfrm>
          </p:grpSpPr>
          <p:graphicFrame>
            <p:nvGraphicFramePr>
              <p:cNvPr id="2050" name="Object 4"/>
              <p:cNvGraphicFramePr>
                <a:graphicFrameLocks noChangeAspect="1"/>
              </p:cNvGraphicFramePr>
              <p:nvPr/>
            </p:nvGraphicFramePr>
            <p:xfrm>
              <a:off x="1828" y="1548"/>
              <a:ext cx="1744" cy="756"/>
            </p:xfrm>
            <a:graphic>
              <a:graphicData uri="http://schemas.openxmlformats.org/presentationml/2006/ole">
                <mc:AlternateContent xmlns:mc="http://schemas.openxmlformats.org/markup-compatibility/2006">
                  <mc:Choice xmlns:v="urn:schemas-microsoft-com:vml" Requires="v">
                    <p:oleObj r:id="rId2" imgW="1092200" imgH="457200" progId="Equation.3">
                      <p:embed/>
                    </p:oleObj>
                  </mc:Choice>
                  <mc:Fallback>
                    <p:oleObj r:id="rId2" imgW="1092200" imgH="457200" progId="Equation.3">
                      <p:embed/>
                      <p:pic>
                        <p:nvPicPr>
                          <p:cNvPr id="0" name="图片 3076"/>
                          <p:cNvPicPr/>
                          <p:nvPr/>
                        </p:nvPicPr>
                        <p:blipFill>
                          <a:blip r:embed="rId3"/>
                          <a:stretch>
                            <a:fillRect/>
                          </a:stretch>
                        </p:blipFill>
                        <p:spPr>
                          <a:xfrm>
                            <a:off x="1828" y="1548"/>
                            <a:ext cx="1744" cy="756"/>
                          </a:xfrm>
                          <a:prstGeom prst="rect">
                            <a:avLst/>
                          </a:prstGeom>
                          <a:noFill/>
                          <a:ln w="38100">
                            <a:noFill/>
                            <a:miter/>
                          </a:ln>
                        </p:spPr>
                      </p:pic>
                    </p:oleObj>
                  </mc:Fallback>
                </mc:AlternateContent>
              </a:graphicData>
            </a:graphic>
          </p:graphicFrame>
          <p:sp>
            <p:nvSpPr>
              <p:cNvPr id="2055" name="Text Box 5"/>
              <p:cNvSpPr txBox="1"/>
              <p:nvPr/>
            </p:nvSpPr>
            <p:spPr>
              <a:xfrm>
                <a:off x="2858" y="1552"/>
                <a:ext cx="340" cy="338"/>
              </a:xfrm>
              <a:prstGeom prst="rect">
                <a:avLst/>
              </a:prstGeom>
              <a:noFill/>
              <a:ln w="19050">
                <a:noFill/>
              </a:ln>
            </p:spPr>
            <p:txBody>
              <a:bodyPr wrap="none">
                <a:spAutoFit/>
              </a:bodyPr>
              <a:lstStyle/>
              <a:p>
                <a:r>
                  <a:rPr lang="zh-CN" altLang="en-US" sz="2800" dirty="0">
                    <a:latin typeface="Times New Roman" panose="02020603050405020304" pitchFamily="18" charset="0"/>
                  </a:rPr>
                  <a:t>－</a:t>
                </a:r>
              </a:p>
            </p:txBody>
          </p:sp>
          <p:sp>
            <p:nvSpPr>
              <p:cNvPr id="2056" name="Text Box 6"/>
              <p:cNvSpPr txBox="1"/>
              <p:nvPr/>
            </p:nvSpPr>
            <p:spPr>
              <a:xfrm>
                <a:off x="2702" y="1936"/>
                <a:ext cx="340" cy="338"/>
              </a:xfrm>
              <a:prstGeom prst="rect">
                <a:avLst/>
              </a:prstGeom>
              <a:noFill/>
              <a:ln w="19050">
                <a:noFill/>
              </a:ln>
            </p:spPr>
            <p:txBody>
              <a:bodyPr wrap="none">
                <a:spAutoFit/>
              </a:bodyPr>
              <a:lstStyle/>
              <a:p>
                <a:r>
                  <a:rPr lang="zh-CN" altLang="en-US" sz="2800" dirty="0">
                    <a:latin typeface="Times New Roman" panose="02020603050405020304" pitchFamily="18" charset="0"/>
                  </a:rPr>
                  <a:t>－</a:t>
                </a:r>
              </a:p>
            </p:txBody>
          </p:sp>
        </p:grpSp>
        <p:sp>
          <p:nvSpPr>
            <p:cNvPr id="2054" name="Text Box 7"/>
            <p:cNvSpPr txBox="1"/>
            <p:nvPr/>
          </p:nvSpPr>
          <p:spPr>
            <a:xfrm>
              <a:off x="564" y="2160"/>
              <a:ext cx="4740" cy="1808"/>
            </a:xfrm>
            <a:prstGeom prst="rect">
              <a:avLst/>
            </a:prstGeom>
            <a:noFill/>
            <a:ln w="19050">
              <a:noFill/>
            </a:ln>
          </p:spPr>
          <p:txBody>
            <a:bodyPr>
              <a:spAutoFit/>
            </a:bodyPr>
            <a:lstStyle/>
            <a:p>
              <a:pPr algn="just">
                <a:lnSpc>
                  <a:spcPct val="130000"/>
                </a:lnSpc>
                <a:spcBef>
                  <a:spcPct val="50000"/>
                </a:spcBef>
              </a:pPr>
              <a:r>
                <a:rPr lang="zh-CN" altLang="en-US" sz="2800" dirty="0">
                  <a:latin typeface="Times New Roman" panose="02020603050405020304" pitchFamily="18" charset="0"/>
                </a:rPr>
                <a:t>然而，当</a:t>
              </a:r>
              <a:r>
                <a:rPr lang="en-US" altLang="zh-CN" sz="2800" dirty="0">
                  <a:latin typeface="Times New Roman" panose="02020603050405020304" pitchFamily="18" charset="0"/>
                </a:rPr>
                <a:t>n</a:t>
              </a:r>
              <a:r>
                <a:rPr lang="zh-CN" altLang="en-US" sz="2800" dirty="0">
                  <a:latin typeface="Times New Roman" panose="02020603050405020304" pitchFamily="18" charset="0"/>
                </a:rPr>
                <a:t>较大时，</a:t>
              </a:r>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u</a:t>
              </a:r>
              <a:r>
                <a:rPr lang="zh-CN" altLang="zh-CN" sz="2800" dirty="0">
                  <a:latin typeface="Times New Roman" panose="02020603050405020304" pitchFamily="18" charset="0"/>
                </a:rPr>
                <a:t>仍然很大，要真正找到最佳的分配方案是十分困难的，况且分配方案的好坏还与所采用的触发器的类型有关。因此，实际应用时都是采用工程的方法，依据以下四条件原则来进行状态分配。</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Text Box 2"/>
          <p:cNvSpPr txBox="1"/>
          <p:nvPr/>
        </p:nvSpPr>
        <p:spPr>
          <a:xfrm>
            <a:off x="895350" y="477838"/>
            <a:ext cx="5238750" cy="690562"/>
          </a:xfrm>
          <a:prstGeom prst="rect">
            <a:avLst/>
          </a:prstGeom>
          <a:noFill/>
          <a:ln w="19050">
            <a:noFill/>
          </a:ln>
        </p:spPr>
        <p:txBody>
          <a:bodyPr>
            <a:spAutoFit/>
          </a:bodyPr>
          <a:lstStyle/>
          <a:p>
            <a:pPr>
              <a:lnSpc>
                <a:spcPct val="140000"/>
              </a:lnSpc>
              <a:spcBef>
                <a:spcPct val="50000"/>
              </a:spcBef>
            </a:pPr>
            <a:r>
              <a:rPr lang="zh-CN" altLang="zh-CN" sz="2800" b="1" dirty="0">
                <a:latin typeface="Times New Roman" panose="02020603050405020304" pitchFamily="18" charset="0"/>
              </a:rPr>
              <a:t>状态分配的基本原则有四条：</a:t>
            </a:r>
          </a:p>
        </p:txBody>
      </p:sp>
      <p:sp>
        <p:nvSpPr>
          <p:cNvPr id="204803" name="Text Box 3"/>
          <p:cNvSpPr txBox="1"/>
          <p:nvPr/>
        </p:nvSpPr>
        <p:spPr>
          <a:xfrm>
            <a:off x="895350" y="1404938"/>
            <a:ext cx="7524750" cy="1203325"/>
          </a:xfrm>
          <a:prstGeom prst="rect">
            <a:avLst/>
          </a:prstGeom>
          <a:noFill/>
          <a:ln w="19050">
            <a:noFill/>
          </a:ln>
        </p:spPr>
        <p:txBody>
          <a:bodyPr>
            <a:spAutoFit/>
          </a:bodyPr>
          <a:lstStyle/>
          <a:p>
            <a:pPr marL="571500" indent="-571500" algn="just">
              <a:lnSpc>
                <a:spcPct val="130000"/>
              </a:lnSpc>
              <a:spcBef>
                <a:spcPct val="50000"/>
              </a:spcBef>
            </a:pPr>
            <a:r>
              <a:rPr lang="en-US" altLang="zh-CN" sz="2800" dirty="0">
                <a:latin typeface="Times New Roman" panose="02020603050405020304" pitchFamily="18" charset="0"/>
              </a:rPr>
              <a:t>(1) </a:t>
            </a:r>
            <a:r>
              <a:rPr lang="zh-CN" altLang="en-US" sz="2800" dirty="0">
                <a:latin typeface="Times New Roman" panose="02020603050405020304" pitchFamily="18" charset="0"/>
              </a:rPr>
              <a:t>在相同输入条件下具有相同次态的现态，应尽可能分配相邻的二进制代码；</a:t>
            </a:r>
          </a:p>
        </p:txBody>
      </p:sp>
      <p:sp>
        <p:nvSpPr>
          <p:cNvPr id="204804" name="Text Box 4"/>
          <p:cNvSpPr txBox="1"/>
          <p:nvPr/>
        </p:nvSpPr>
        <p:spPr>
          <a:xfrm>
            <a:off x="850900" y="2613025"/>
            <a:ext cx="7524750" cy="1203325"/>
          </a:xfrm>
          <a:prstGeom prst="rect">
            <a:avLst/>
          </a:prstGeom>
          <a:noFill/>
          <a:ln w="19050">
            <a:noFill/>
          </a:ln>
        </p:spPr>
        <p:txBody>
          <a:bodyPr>
            <a:spAutoFit/>
          </a:bodyPr>
          <a:lstStyle/>
          <a:p>
            <a:pPr marL="571500" indent="-571500" algn="just">
              <a:lnSpc>
                <a:spcPct val="130000"/>
              </a:lnSpc>
              <a:spcBef>
                <a:spcPct val="50000"/>
              </a:spcBef>
            </a:pPr>
            <a:r>
              <a:rPr lang="en-US" altLang="zh-CN" sz="2800" dirty="0">
                <a:latin typeface="Times New Roman" panose="02020603050405020304" pitchFamily="18" charset="0"/>
              </a:rPr>
              <a:t>(2) </a:t>
            </a:r>
            <a:r>
              <a:rPr lang="zh-CN" altLang="en-US" sz="2800" dirty="0">
                <a:latin typeface="Times New Roman" panose="02020603050405020304" pitchFamily="18" charset="0"/>
              </a:rPr>
              <a:t>在相邻输入条件，同一现态的次态应尽可能分配相邻的二进制代码；</a:t>
            </a:r>
          </a:p>
        </p:txBody>
      </p:sp>
      <p:sp>
        <p:nvSpPr>
          <p:cNvPr id="204805" name="Text Box 5"/>
          <p:cNvSpPr txBox="1"/>
          <p:nvPr/>
        </p:nvSpPr>
        <p:spPr>
          <a:xfrm>
            <a:off x="817563" y="3800475"/>
            <a:ext cx="7524750" cy="1203325"/>
          </a:xfrm>
          <a:prstGeom prst="rect">
            <a:avLst/>
          </a:prstGeom>
          <a:noFill/>
          <a:ln w="19050">
            <a:noFill/>
          </a:ln>
        </p:spPr>
        <p:txBody>
          <a:bodyPr>
            <a:spAutoFit/>
          </a:bodyPr>
          <a:lstStyle/>
          <a:p>
            <a:pPr marL="571500" indent="-571500" algn="just">
              <a:lnSpc>
                <a:spcPct val="130000"/>
              </a:lnSpc>
              <a:spcBef>
                <a:spcPct val="50000"/>
              </a:spcBef>
            </a:pPr>
            <a:r>
              <a:rPr lang="en-US" altLang="zh-CN" sz="2800" dirty="0">
                <a:latin typeface="Times New Roman" panose="02020603050405020304" pitchFamily="18" charset="0"/>
              </a:rPr>
              <a:t>(3) </a:t>
            </a:r>
            <a:r>
              <a:rPr lang="zh-CN" altLang="en-US" sz="2800" dirty="0">
                <a:latin typeface="Times New Roman" panose="02020603050405020304" pitchFamily="18" charset="0"/>
              </a:rPr>
              <a:t>输出</a:t>
            </a:r>
            <a:r>
              <a:rPr lang="zh-CN" altLang="en-US" sz="2800" b="1" dirty="0">
                <a:solidFill>
                  <a:srgbClr val="FF0000"/>
                </a:solidFill>
                <a:latin typeface="Times New Roman" panose="02020603050405020304" pitchFamily="18" charset="0"/>
              </a:rPr>
              <a:t>完全相同</a:t>
            </a:r>
            <a:r>
              <a:rPr lang="zh-CN" altLang="en-US" sz="2800" dirty="0">
                <a:latin typeface="Times New Roman" panose="02020603050405020304" pitchFamily="18" charset="0"/>
              </a:rPr>
              <a:t>的现态应尽可能分配相邻的二进制代码；</a:t>
            </a:r>
          </a:p>
        </p:txBody>
      </p:sp>
      <p:sp>
        <p:nvSpPr>
          <p:cNvPr id="204806" name="Text Box 6"/>
          <p:cNvSpPr txBox="1"/>
          <p:nvPr/>
        </p:nvSpPr>
        <p:spPr>
          <a:xfrm>
            <a:off x="803275" y="4856163"/>
            <a:ext cx="7524750" cy="1374775"/>
          </a:xfrm>
          <a:prstGeom prst="rect">
            <a:avLst/>
          </a:prstGeom>
          <a:noFill/>
          <a:ln w="19050">
            <a:noFill/>
          </a:ln>
        </p:spPr>
        <p:txBody>
          <a:bodyPr>
            <a:spAutoFit/>
          </a:bodyPr>
          <a:lstStyle/>
          <a:p>
            <a:pPr marL="571500" indent="-571500" algn="just">
              <a:lnSpc>
                <a:spcPct val="150000"/>
              </a:lnSpc>
              <a:spcBef>
                <a:spcPct val="50000"/>
              </a:spcBef>
            </a:pPr>
            <a:r>
              <a:rPr lang="en-US" altLang="zh-CN" sz="2800" dirty="0">
                <a:latin typeface="Times New Roman" panose="02020603050405020304" pitchFamily="18" charset="0"/>
              </a:rPr>
              <a:t>(4) </a:t>
            </a:r>
            <a:r>
              <a:rPr lang="zh-CN" altLang="en-US" sz="2800" dirty="0">
                <a:latin typeface="Times New Roman" panose="02020603050405020304" pitchFamily="18" charset="0"/>
              </a:rPr>
              <a:t>最小化状态表中出现次数最多的状态或初始状态应分配逻辑</a:t>
            </a:r>
            <a:r>
              <a:rPr lang="en-US" altLang="zh-CN" sz="2800" dirty="0">
                <a:latin typeface="Times New Roman" panose="02020603050405020304" pitchFamily="18" charset="0"/>
              </a:rPr>
              <a:t>0</a:t>
            </a:r>
            <a:r>
              <a:rPr lang="zh-CN" altLang="en-US" sz="2800" dirty="0">
                <a:latin typeface="Times New Roman" panose="02020603050405020304" pitchFamily="18"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802"/>
                                        </p:tgtEl>
                                        <p:attrNameLst>
                                          <p:attrName>style.visibility</p:attrName>
                                        </p:attrNameLst>
                                      </p:cBhvr>
                                      <p:to>
                                        <p:strVal val="visible"/>
                                      </p:to>
                                    </p:set>
                                    <p:animEffect transition="in" filter="wipe(left)">
                                      <p:cBhvr>
                                        <p:cTn id="7" dur="500"/>
                                        <p:tgtEl>
                                          <p:spTgt spid="20480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4803"/>
                                        </p:tgtEl>
                                        <p:attrNameLst>
                                          <p:attrName>style.visibility</p:attrName>
                                        </p:attrNameLst>
                                      </p:cBhvr>
                                      <p:to>
                                        <p:strVal val="visible"/>
                                      </p:to>
                                    </p:set>
                                    <p:animEffect transition="in" filter="wipe(left)">
                                      <p:cBhvr>
                                        <p:cTn id="12" dur="500"/>
                                        <p:tgtEl>
                                          <p:spTgt spid="20480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4804"/>
                                        </p:tgtEl>
                                        <p:attrNameLst>
                                          <p:attrName>style.visibility</p:attrName>
                                        </p:attrNameLst>
                                      </p:cBhvr>
                                      <p:to>
                                        <p:strVal val="visible"/>
                                      </p:to>
                                    </p:set>
                                    <p:animEffect transition="in" filter="wipe(left)">
                                      <p:cBhvr>
                                        <p:cTn id="17" dur="500"/>
                                        <p:tgtEl>
                                          <p:spTgt spid="20480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4805"/>
                                        </p:tgtEl>
                                        <p:attrNameLst>
                                          <p:attrName>style.visibility</p:attrName>
                                        </p:attrNameLst>
                                      </p:cBhvr>
                                      <p:to>
                                        <p:strVal val="visible"/>
                                      </p:to>
                                    </p:set>
                                    <p:animEffect transition="in" filter="wipe(left)">
                                      <p:cBhvr>
                                        <p:cTn id="22" dur="500"/>
                                        <p:tgtEl>
                                          <p:spTgt spid="20480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4806"/>
                                        </p:tgtEl>
                                        <p:attrNameLst>
                                          <p:attrName>style.visibility</p:attrName>
                                        </p:attrNameLst>
                                      </p:cBhvr>
                                      <p:to>
                                        <p:strVal val="visible"/>
                                      </p:to>
                                    </p:set>
                                    <p:animEffect transition="in" filter="wipe(left)">
                                      <p:cBhvr>
                                        <p:cTn id="27" dur="500"/>
                                        <p:tgtEl>
                                          <p:spTgt spid="204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2" grpId="0"/>
      <p:bldP spid="204803" grpId="0"/>
      <p:bldP spid="204804" grpId="0"/>
      <p:bldP spid="204805" grpId="0"/>
      <p:bldP spid="204806"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p:nvPr/>
        </p:nvSpPr>
        <p:spPr>
          <a:xfrm>
            <a:off x="631825" y="1343025"/>
            <a:ext cx="7467600" cy="3508375"/>
          </a:xfrm>
          <a:prstGeom prst="rect">
            <a:avLst/>
          </a:prstGeom>
          <a:noFill/>
          <a:ln w="19050">
            <a:noFill/>
          </a:ln>
        </p:spPr>
        <p:txBody>
          <a:bodyPr>
            <a:spAutoFit/>
          </a:bodyPr>
          <a:lstStyle/>
          <a:p>
            <a:pPr algn="just">
              <a:lnSpc>
                <a:spcPct val="200000"/>
              </a:lnSpc>
              <a:spcBef>
                <a:spcPct val="50000"/>
              </a:spcBef>
            </a:pPr>
            <a:r>
              <a:rPr lang="zh-CN" altLang="zh-CN" sz="2800" dirty="0">
                <a:latin typeface="Times New Roman" panose="02020603050405020304" pitchFamily="18" charset="0"/>
              </a:rPr>
              <a:t>	一般情况下，第一条原则较为重要，需优先考虑，其次要考虑由前三条原则得到的应分配相邻代码的状态对出现的次数，次数多的状态对应优先分配相邻的二进制代码。</a:t>
            </a:r>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Text Box 2"/>
          <p:cNvSpPr txBox="1"/>
          <p:nvPr/>
        </p:nvSpPr>
        <p:spPr>
          <a:xfrm>
            <a:off x="803275" y="958850"/>
            <a:ext cx="6219825" cy="519113"/>
          </a:xfrm>
          <a:prstGeom prst="rect">
            <a:avLst/>
          </a:prstGeom>
          <a:noFill/>
          <a:ln w="19050">
            <a:noFill/>
          </a:ln>
        </p:spPr>
        <p:txBody>
          <a:bodyPr wrap="none">
            <a:spAutoFit/>
          </a:bodyPr>
          <a:lstStyle/>
          <a:p>
            <a:r>
              <a:rPr lang="zh-CN" altLang="en-US" sz="2800" b="1" dirty="0">
                <a:latin typeface="Times New Roman" panose="02020603050405020304" pitchFamily="18" charset="0"/>
              </a:rPr>
              <a:t>例</a:t>
            </a:r>
            <a:r>
              <a:rPr lang="zh-CN" altLang="en-US" sz="2800" dirty="0">
                <a:latin typeface="Times New Roman" panose="02020603050405020304" pitchFamily="18" charset="0"/>
              </a:rPr>
              <a:t>：对下表所示的状态表进行状态分配</a:t>
            </a:r>
          </a:p>
        </p:txBody>
      </p:sp>
      <p:grpSp>
        <p:nvGrpSpPr>
          <p:cNvPr id="2" name="Group 3"/>
          <p:cNvGrpSpPr/>
          <p:nvPr/>
        </p:nvGrpSpPr>
        <p:grpSpPr>
          <a:xfrm>
            <a:off x="895350" y="2286000"/>
            <a:ext cx="7086600" cy="3810000"/>
            <a:chOff x="564" y="1440"/>
            <a:chExt cx="4464" cy="2400"/>
          </a:xfrm>
        </p:grpSpPr>
        <p:sp>
          <p:nvSpPr>
            <p:cNvPr id="66564" name="Line 4"/>
            <p:cNvSpPr/>
            <p:nvPr/>
          </p:nvSpPr>
          <p:spPr>
            <a:xfrm>
              <a:off x="588" y="1440"/>
              <a:ext cx="4404" cy="0"/>
            </a:xfrm>
            <a:prstGeom prst="line">
              <a:avLst/>
            </a:prstGeom>
            <a:ln w="38100" cap="flat" cmpd="sng">
              <a:solidFill>
                <a:schemeClr val="tx1"/>
              </a:solidFill>
              <a:prstDash val="solid"/>
              <a:headEnd type="none" w="med" len="med"/>
              <a:tailEnd type="none" w="sm" len="lg"/>
            </a:ln>
          </p:spPr>
        </p:sp>
        <p:sp>
          <p:nvSpPr>
            <p:cNvPr id="66565" name="Line 5"/>
            <p:cNvSpPr/>
            <p:nvPr/>
          </p:nvSpPr>
          <p:spPr>
            <a:xfrm>
              <a:off x="624" y="3828"/>
              <a:ext cx="4404" cy="0"/>
            </a:xfrm>
            <a:prstGeom prst="line">
              <a:avLst/>
            </a:prstGeom>
            <a:ln w="38100" cap="flat" cmpd="sng">
              <a:solidFill>
                <a:schemeClr val="tx1"/>
              </a:solidFill>
              <a:prstDash val="solid"/>
              <a:headEnd type="none" w="med" len="med"/>
              <a:tailEnd type="none" w="sm" len="lg"/>
            </a:ln>
          </p:spPr>
        </p:sp>
        <p:sp>
          <p:nvSpPr>
            <p:cNvPr id="66566" name="Line 6"/>
            <p:cNvSpPr/>
            <p:nvPr/>
          </p:nvSpPr>
          <p:spPr>
            <a:xfrm>
              <a:off x="1644" y="1440"/>
              <a:ext cx="0" cy="2400"/>
            </a:xfrm>
            <a:prstGeom prst="line">
              <a:avLst/>
            </a:prstGeom>
            <a:ln w="19050" cap="flat" cmpd="sng">
              <a:solidFill>
                <a:schemeClr val="tx1"/>
              </a:solidFill>
              <a:prstDash val="solid"/>
              <a:headEnd type="none" w="med" len="med"/>
              <a:tailEnd type="none" w="sm" len="lg"/>
            </a:ln>
          </p:spPr>
        </p:sp>
        <p:sp>
          <p:nvSpPr>
            <p:cNvPr id="66567" name="Line 7"/>
            <p:cNvSpPr/>
            <p:nvPr/>
          </p:nvSpPr>
          <p:spPr>
            <a:xfrm>
              <a:off x="3228" y="2040"/>
              <a:ext cx="0" cy="1788"/>
            </a:xfrm>
            <a:prstGeom prst="line">
              <a:avLst/>
            </a:prstGeom>
            <a:ln w="19050" cap="flat" cmpd="sng">
              <a:solidFill>
                <a:schemeClr val="tx1"/>
              </a:solidFill>
              <a:prstDash val="solid"/>
              <a:headEnd type="none" w="med" len="med"/>
              <a:tailEnd type="none" w="sm" len="lg"/>
            </a:ln>
          </p:spPr>
        </p:sp>
        <p:sp>
          <p:nvSpPr>
            <p:cNvPr id="66568" name="Line 8"/>
            <p:cNvSpPr/>
            <p:nvPr/>
          </p:nvSpPr>
          <p:spPr>
            <a:xfrm>
              <a:off x="1644" y="2028"/>
              <a:ext cx="3336" cy="0"/>
            </a:xfrm>
            <a:prstGeom prst="line">
              <a:avLst/>
            </a:prstGeom>
            <a:ln w="12700" cap="flat" cmpd="sng">
              <a:solidFill>
                <a:schemeClr val="tx1"/>
              </a:solidFill>
              <a:prstDash val="solid"/>
              <a:headEnd type="none" w="med" len="med"/>
              <a:tailEnd type="none" w="sm" len="lg"/>
            </a:ln>
          </p:spPr>
        </p:sp>
        <p:sp>
          <p:nvSpPr>
            <p:cNvPr id="66569" name="Line 9"/>
            <p:cNvSpPr/>
            <p:nvPr/>
          </p:nvSpPr>
          <p:spPr>
            <a:xfrm>
              <a:off x="564" y="2580"/>
              <a:ext cx="4404" cy="0"/>
            </a:xfrm>
            <a:prstGeom prst="line">
              <a:avLst/>
            </a:prstGeom>
            <a:ln w="12700" cap="flat" cmpd="sng">
              <a:solidFill>
                <a:schemeClr val="tx1"/>
              </a:solidFill>
              <a:prstDash val="solid"/>
              <a:headEnd type="none" w="med" len="med"/>
              <a:tailEnd type="none" w="sm" len="lg"/>
            </a:ln>
          </p:spPr>
        </p:sp>
        <p:sp>
          <p:nvSpPr>
            <p:cNvPr id="66570" name="Text Box 10"/>
            <p:cNvSpPr txBox="1"/>
            <p:nvPr/>
          </p:nvSpPr>
          <p:spPr>
            <a:xfrm>
              <a:off x="770" y="1840"/>
              <a:ext cx="564" cy="327"/>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66571" name="Text Box 11"/>
            <p:cNvSpPr txBox="1"/>
            <p:nvPr/>
          </p:nvSpPr>
          <p:spPr>
            <a:xfrm>
              <a:off x="2678" y="1566"/>
              <a:ext cx="1074"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66572" name="Text Box 12"/>
            <p:cNvSpPr txBox="1"/>
            <p:nvPr/>
          </p:nvSpPr>
          <p:spPr>
            <a:xfrm>
              <a:off x="2186" y="2142"/>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66573" name="Text Box 13"/>
            <p:cNvSpPr txBox="1"/>
            <p:nvPr/>
          </p:nvSpPr>
          <p:spPr>
            <a:xfrm>
              <a:off x="3830" y="2142"/>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66574" name="Text Box 14"/>
            <p:cNvSpPr txBox="1"/>
            <p:nvPr/>
          </p:nvSpPr>
          <p:spPr>
            <a:xfrm>
              <a:off x="866" y="2646"/>
              <a:ext cx="278" cy="1134"/>
            </a:xfrm>
            <a:prstGeom prst="rect">
              <a:avLst/>
            </a:prstGeom>
            <a:noFill/>
            <a:ln w="19050">
              <a:noFill/>
            </a:ln>
          </p:spPr>
          <p:txBody>
            <a:bodyPr wrap="none">
              <a:spAutoFit/>
            </a:bodyPr>
            <a:lstStyle/>
            <a:p>
              <a:r>
                <a:rPr lang="en-US" altLang="zh-CN" sz="2800" dirty="0">
                  <a:latin typeface="Times New Roman" panose="02020603050405020304" pitchFamily="18" charset="0"/>
                </a:rPr>
                <a:t>A</a:t>
              </a:r>
            </a:p>
            <a:p>
              <a:r>
                <a:rPr lang="en-US" altLang="zh-CN" sz="2800" dirty="0">
                  <a:latin typeface="Times New Roman" panose="02020603050405020304" pitchFamily="18" charset="0"/>
                </a:rPr>
                <a:t>B</a:t>
              </a:r>
            </a:p>
            <a:p>
              <a:r>
                <a:rPr lang="en-US" altLang="zh-CN" sz="2800" dirty="0">
                  <a:latin typeface="Times New Roman" panose="02020603050405020304" pitchFamily="18" charset="0"/>
                </a:rPr>
                <a:t>C</a:t>
              </a: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66575" name="Text Box 15"/>
            <p:cNvSpPr txBox="1"/>
            <p:nvPr/>
          </p:nvSpPr>
          <p:spPr>
            <a:xfrm>
              <a:off x="2114" y="2646"/>
              <a:ext cx="452" cy="1134"/>
            </a:xfrm>
            <a:prstGeom prst="rect">
              <a:avLst/>
            </a:prstGeom>
            <a:noFill/>
            <a:ln w="19050">
              <a:noFill/>
            </a:ln>
          </p:spPr>
          <p:txBody>
            <a:bodyPr wrap="none">
              <a:spAutoFit/>
            </a:bodyPr>
            <a:lstStyle/>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B/0</a:t>
              </a:r>
            </a:p>
            <a:p>
              <a:r>
                <a:rPr lang="en-US" altLang="zh-CN" sz="2800" dirty="0">
                  <a:latin typeface="Times New Roman" panose="02020603050405020304" pitchFamily="18" charset="0"/>
                </a:rPr>
                <a:t>A/1</a:t>
              </a:r>
            </a:p>
          </p:txBody>
        </p:sp>
        <p:sp>
          <p:nvSpPr>
            <p:cNvPr id="66576" name="Text Box 16"/>
            <p:cNvSpPr txBox="1"/>
            <p:nvPr/>
          </p:nvSpPr>
          <p:spPr>
            <a:xfrm>
              <a:off x="3782" y="2646"/>
              <a:ext cx="452" cy="1134"/>
            </a:xfrm>
            <a:prstGeom prst="rect">
              <a:avLst/>
            </a:prstGeom>
            <a:noFill/>
            <a:ln w="19050">
              <a:noFill/>
            </a:ln>
          </p:spPr>
          <p:txBody>
            <a:bodyPr wrap="none">
              <a:spAutoFit/>
            </a:bodyPr>
            <a:lstStyle/>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p>
            <a:p>
              <a:r>
                <a:rPr lang="en-US" altLang="zh-CN" sz="2800" dirty="0">
                  <a:latin typeface="Times New Roman" panose="02020603050405020304" pitchFamily="18" charset="0"/>
                </a:rPr>
                <a:t>B/1</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6850"/>
                                        </p:tgtEl>
                                        <p:attrNameLst>
                                          <p:attrName>style.visibility</p:attrName>
                                        </p:attrNameLst>
                                      </p:cBhvr>
                                      <p:to>
                                        <p:strVal val="visible"/>
                                      </p:to>
                                    </p:set>
                                    <p:animEffect transition="in" filter="wipe(left)">
                                      <p:cBhvr>
                                        <p:cTn id="7" dur="500"/>
                                        <p:tgtEl>
                                          <p:spTgt spid="206850"/>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0"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p:nvPr/>
        </p:nvSpPr>
        <p:spPr>
          <a:xfrm>
            <a:off x="663575" y="696913"/>
            <a:ext cx="895350" cy="519112"/>
          </a:xfrm>
          <a:prstGeom prst="rect">
            <a:avLst/>
          </a:prstGeom>
          <a:noFill/>
          <a:ln w="19050">
            <a:noFill/>
          </a:ln>
        </p:spPr>
        <p:txBody>
          <a:bodyPr wrap="none">
            <a:spAutoFit/>
          </a:bodyPr>
          <a:lstStyle/>
          <a:p>
            <a:r>
              <a:rPr lang="zh-CN" altLang="en-US" sz="2800" b="1" dirty="0">
                <a:latin typeface="Times New Roman" panose="02020603050405020304" pitchFamily="18" charset="0"/>
              </a:rPr>
              <a:t>解：</a:t>
            </a:r>
          </a:p>
        </p:txBody>
      </p:sp>
      <p:sp>
        <p:nvSpPr>
          <p:cNvPr id="207875" name="Text Box 3"/>
          <p:cNvSpPr txBox="1"/>
          <p:nvPr/>
        </p:nvSpPr>
        <p:spPr>
          <a:xfrm>
            <a:off x="5108575" y="781050"/>
            <a:ext cx="2636838" cy="519113"/>
          </a:xfrm>
          <a:prstGeom prst="rect">
            <a:avLst/>
          </a:prstGeom>
          <a:noFill/>
          <a:ln w="19050">
            <a:noFill/>
          </a:ln>
        </p:spPr>
        <p:txBody>
          <a:bodyPr>
            <a:spAutoFit/>
          </a:bodyPr>
          <a:lstStyle/>
          <a:p>
            <a:pPr>
              <a:spcBef>
                <a:spcPct val="50000"/>
              </a:spcBef>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确定</a:t>
            </a:r>
            <a:r>
              <a:rPr lang="en-US" altLang="zh-CN" sz="2800" dirty="0">
                <a:latin typeface="Times New Roman" panose="02020603050405020304" pitchFamily="18" charset="0"/>
                <a:sym typeface="Monotype Sorts" pitchFamily="2" charset="2"/>
              </a:rPr>
              <a:t>n=2</a:t>
            </a:r>
          </a:p>
        </p:txBody>
      </p:sp>
      <p:sp>
        <p:nvSpPr>
          <p:cNvPr id="207876" name="Text Box 4"/>
          <p:cNvSpPr txBox="1"/>
          <p:nvPr/>
        </p:nvSpPr>
        <p:spPr>
          <a:xfrm>
            <a:off x="5105400" y="1530350"/>
            <a:ext cx="3830638" cy="4449763"/>
          </a:xfrm>
          <a:prstGeom prst="rect">
            <a:avLst/>
          </a:prstGeom>
          <a:noFill/>
          <a:ln w="19050">
            <a:noFill/>
          </a:ln>
        </p:spPr>
        <p:txBody>
          <a:bodyPr>
            <a:spAutoFit/>
          </a:bodyPr>
          <a:lstStyle/>
          <a:p>
            <a:pPr algn="just">
              <a:lnSpc>
                <a:spcPct val="80000"/>
              </a:lnSpc>
              <a:spcBef>
                <a:spcPct val="50000"/>
              </a:spcBef>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确定</a:t>
            </a:r>
            <a:r>
              <a:rPr lang="zh-CN" altLang="zh-CN" sz="2800" dirty="0">
                <a:latin typeface="Times New Roman" panose="02020603050405020304" pitchFamily="18" charset="0"/>
                <a:sym typeface="Monotype Sorts" pitchFamily="2" charset="2"/>
              </a:rPr>
              <a:t>分配</a:t>
            </a: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由规则(1)得</a:t>
            </a:r>
            <a:r>
              <a:rPr lang="en-US" altLang="zh-CN" sz="2400" dirty="0">
                <a:latin typeface="Times New Roman" panose="02020603050405020304" pitchFamily="18" charset="0"/>
                <a:sym typeface="Monotype Sorts" pitchFamily="2" charset="2"/>
              </a:rPr>
              <a:t>A</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B,A</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C</a:t>
            </a:r>
            <a:r>
              <a:rPr lang="zh-CN" altLang="zh-CN" sz="2400" dirty="0">
                <a:latin typeface="Times New Roman" panose="02020603050405020304" pitchFamily="18" charset="0"/>
                <a:sym typeface="Monotype Sorts" pitchFamily="2" charset="2"/>
              </a:rPr>
              <a:t>应相邻；</a:t>
            </a:r>
            <a:endParaRPr lang="zh-CN" altLang="en-US" sz="2400" dirty="0">
              <a:latin typeface="Times New Roman" panose="02020603050405020304" pitchFamily="18" charset="0"/>
              <a:sym typeface="Monotype Sorts" pitchFamily="2" charset="2"/>
            </a:endParaRP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由规则(2)得</a:t>
            </a:r>
            <a:r>
              <a:rPr lang="en-US" altLang="zh-CN" sz="2400" dirty="0">
                <a:latin typeface="Times New Roman" panose="02020603050405020304" pitchFamily="18" charset="0"/>
                <a:sym typeface="Monotype Sorts" pitchFamily="2" charset="2"/>
              </a:rPr>
              <a:t>C</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D,C</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A,B</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D,A</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B</a:t>
            </a:r>
            <a:r>
              <a:rPr lang="zh-CN" altLang="zh-CN" sz="2400" dirty="0">
                <a:latin typeface="Times New Roman" panose="02020603050405020304" pitchFamily="18" charset="0"/>
                <a:sym typeface="Monotype Sorts" pitchFamily="2" charset="2"/>
              </a:rPr>
              <a:t>应相邻；</a:t>
            </a: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由规则(3)得</a:t>
            </a:r>
            <a:r>
              <a:rPr lang="en-US" altLang="zh-CN" sz="2400" dirty="0">
                <a:latin typeface="Times New Roman" panose="02020603050405020304" pitchFamily="18" charset="0"/>
                <a:sym typeface="Monotype Sorts" pitchFamily="2" charset="2"/>
              </a:rPr>
              <a:t>A,B,C </a:t>
            </a:r>
            <a:r>
              <a:rPr lang="zh-CN" altLang="zh-CN" sz="2400" dirty="0">
                <a:latin typeface="Times New Roman" panose="02020603050405020304" pitchFamily="18" charset="0"/>
                <a:sym typeface="Monotype Sorts" pitchFamily="2" charset="2"/>
              </a:rPr>
              <a:t>三者应相邻</a:t>
            </a:r>
            <a:r>
              <a:rPr lang="en-US" altLang="zh-CN" sz="2400" dirty="0">
                <a:latin typeface="Times New Roman" panose="02020603050405020304" pitchFamily="18" charset="0"/>
                <a:sym typeface="Monotype Sorts" pitchFamily="2" charset="2"/>
              </a:rPr>
              <a:t>,</a:t>
            </a:r>
            <a:r>
              <a:rPr lang="zh-CN" altLang="zh-CN" sz="2400" dirty="0">
                <a:latin typeface="Times New Roman" panose="02020603050405020304" pitchFamily="18" charset="0"/>
                <a:sym typeface="Monotype Sorts" pitchFamily="2" charset="2"/>
              </a:rPr>
              <a:t>即</a:t>
            </a:r>
            <a:r>
              <a:rPr lang="en-US" altLang="zh-CN" sz="2400" dirty="0">
                <a:latin typeface="Times New Roman" panose="02020603050405020304" pitchFamily="18" charset="0"/>
                <a:sym typeface="Monotype Sorts" pitchFamily="2" charset="2"/>
              </a:rPr>
              <a:t>A	B,AC,BC</a:t>
            </a:r>
            <a:r>
              <a:rPr lang="zh-CN" altLang="zh-CN" sz="2400" dirty="0">
                <a:latin typeface="Times New Roman" panose="02020603050405020304" pitchFamily="18" charset="0"/>
                <a:sym typeface="Monotype Sorts" pitchFamily="2" charset="2"/>
              </a:rPr>
              <a:t>应相邻；</a:t>
            </a: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由规则(4)得</a:t>
            </a:r>
            <a:r>
              <a:rPr lang="en-US" altLang="zh-CN" sz="2400" dirty="0">
                <a:latin typeface="Times New Roman" panose="02020603050405020304" pitchFamily="18" charset="0"/>
                <a:sym typeface="Monotype Sorts" pitchFamily="2" charset="2"/>
              </a:rPr>
              <a:t>A</a:t>
            </a:r>
            <a:r>
              <a:rPr lang="zh-CN" altLang="zh-CN" sz="2400" dirty="0">
                <a:latin typeface="Times New Roman" panose="02020603050405020304" pitchFamily="18" charset="0"/>
                <a:sym typeface="Monotype Sorts" pitchFamily="2" charset="2"/>
              </a:rPr>
              <a:t>分配为逻辑0。</a:t>
            </a:r>
            <a:endParaRPr lang="zh-CN" altLang="en-US" sz="2400" dirty="0">
              <a:latin typeface="Times New Roman" panose="02020603050405020304" pitchFamily="18" charset="0"/>
            </a:endParaRPr>
          </a:p>
        </p:txBody>
      </p:sp>
      <p:grpSp>
        <p:nvGrpSpPr>
          <p:cNvPr id="2" name="Group 5"/>
          <p:cNvGrpSpPr/>
          <p:nvPr/>
        </p:nvGrpSpPr>
        <p:grpSpPr>
          <a:xfrm>
            <a:off x="153988" y="1841500"/>
            <a:ext cx="4678362" cy="3944938"/>
            <a:chOff x="564" y="1440"/>
            <a:chExt cx="4464" cy="2400"/>
          </a:xfrm>
        </p:grpSpPr>
        <p:sp>
          <p:nvSpPr>
            <p:cNvPr id="67590" name="Line 6"/>
            <p:cNvSpPr/>
            <p:nvPr/>
          </p:nvSpPr>
          <p:spPr>
            <a:xfrm>
              <a:off x="588" y="1440"/>
              <a:ext cx="4404" cy="0"/>
            </a:xfrm>
            <a:prstGeom prst="line">
              <a:avLst/>
            </a:prstGeom>
            <a:ln w="38100" cap="flat" cmpd="sng">
              <a:solidFill>
                <a:schemeClr val="tx1"/>
              </a:solidFill>
              <a:prstDash val="solid"/>
              <a:headEnd type="none" w="med" len="med"/>
              <a:tailEnd type="none" w="sm" len="lg"/>
            </a:ln>
          </p:spPr>
        </p:sp>
        <p:sp>
          <p:nvSpPr>
            <p:cNvPr id="67591" name="Line 7"/>
            <p:cNvSpPr/>
            <p:nvPr/>
          </p:nvSpPr>
          <p:spPr>
            <a:xfrm>
              <a:off x="624" y="3828"/>
              <a:ext cx="4404" cy="0"/>
            </a:xfrm>
            <a:prstGeom prst="line">
              <a:avLst/>
            </a:prstGeom>
            <a:ln w="38100" cap="flat" cmpd="sng">
              <a:solidFill>
                <a:schemeClr val="tx1"/>
              </a:solidFill>
              <a:prstDash val="solid"/>
              <a:headEnd type="none" w="med" len="med"/>
              <a:tailEnd type="none" w="sm" len="lg"/>
            </a:ln>
          </p:spPr>
        </p:sp>
        <p:sp>
          <p:nvSpPr>
            <p:cNvPr id="67592" name="Line 8"/>
            <p:cNvSpPr/>
            <p:nvPr/>
          </p:nvSpPr>
          <p:spPr>
            <a:xfrm>
              <a:off x="1644" y="1440"/>
              <a:ext cx="0" cy="2400"/>
            </a:xfrm>
            <a:prstGeom prst="line">
              <a:avLst/>
            </a:prstGeom>
            <a:ln w="19050" cap="flat" cmpd="sng">
              <a:solidFill>
                <a:schemeClr val="tx1"/>
              </a:solidFill>
              <a:prstDash val="solid"/>
              <a:headEnd type="none" w="med" len="med"/>
              <a:tailEnd type="none" w="sm" len="lg"/>
            </a:ln>
          </p:spPr>
        </p:sp>
        <p:sp>
          <p:nvSpPr>
            <p:cNvPr id="67593" name="Line 9"/>
            <p:cNvSpPr/>
            <p:nvPr/>
          </p:nvSpPr>
          <p:spPr>
            <a:xfrm>
              <a:off x="3228" y="2040"/>
              <a:ext cx="0" cy="1788"/>
            </a:xfrm>
            <a:prstGeom prst="line">
              <a:avLst/>
            </a:prstGeom>
            <a:ln w="19050" cap="flat" cmpd="sng">
              <a:solidFill>
                <a:schemeClr val="tx1"/>
              </a:solidFill>
              <a:prstDash val="solid"/>
              <a:headEnd type="none" w="med" len="med"/>
              <a:tailEnd type="none" w="sm" len="lg"/>
            </a:ln>
          </p:spPr>
        </p:sp>
        <p:sp>
          <p:nvSpPr>
            <p:cNvPr id="67594" name="Line 10"/>
            <p:cNvSpPr/>
            <p:nvPr/>
          </p:nvSpPr>
          <p:spPr>
            <a:xfrm>
              <a:off x="1644" y="2028"/>
              <a:ext cx="3336" cy="0"/>
            </a:xfrm>
            <a:prstGeom prst="line">
              <a:avLst/>
            </a:prstGeom>
            <a:ln w="12700" cap="flat" cmpd="sng">
              <a:solidFill>
                <a:schemeClr val="tx1"/>
              </a:solidFill>
              <a:prstDash val="solid"/>
              <a:headEnd type="none" w="med" len="med"/>
              <a:tailEnd type="none" w="sm" len="lg"/>
            </a:ln>
          </p:spPr>
        </p:sp>
        <p:sp>
          <p:nvSpPr>
            <p:cNvPr id="67595" name="Line 11"/>
            <p:cNvSpPr/>
            <p:nvPr/>
          </p:nvSpPr>
          <p:spPr>
            <a:xfrm>
              <a:off x="564" y="2580"/>
              <a:ext cx="4404" cy="0"/>
            </a:xfrm>
            <a:prstGeom prst="line">
              <a:avLst/>
            </a:prstGeom>
            <a:ln w="12700" cap="flat" cmpd="sng">
              <a:solidFill>
                <a:schemeClr val="tx1"/>
              </a:solidFill>
              <a:prstDash val="solid"/>
              <a:headEnd type="none" w="med" len="med"/>
              <a:tailEnd type="none" w="sm" len="lg"/>
            </a:ln>
          </p:spPr>
        </p:sp>
        <p:sp>
          <p:nvSpPr>
            <p:cNvPr id="67596" name="Text Box 12"/>
            <p:cNvSpPr txBox="1"/>
            <p:nvPr/>
          </p:nvSpPr>
          <p:spPr>
            <a:xfrm>
              <a:off x="770" y="1840"/>
              <a:ext cx="854" cy="316"/>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67597" name="Text Box 13"/>
            <p:cNvSpPr txBox="1"/>
            <p:nvPr/>
          </p:nvSpPr>
          <p:spPr>
            <a:xfrm>
              <a:off x="2679" y="1565"/>
              <a:ext cx="1626" cy="315"/>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67598" name="Text Box 14"/>
            <p:cNvSpPr txBox="1"/>
            <p:nvPr/>
          </p:nvSpPr>
          <p:spPr>
            <a:xfrm>
              <a:off x="2186" y="2142"/>
              <a:ext cx="686" cy="316"/>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67599" name="Text Box 15"/>
            <p:cNvSpPr txBox="1"/>
            <p:nvPr/>
          </p:nvSpPr>
          <p:spPr>
            <a:xfrm>
              <a:off x="3830" y="2142"/>
              <a:ext cx="686" cy="316"/>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67600" name="Text Box 16"/>
            <p:cNvSpPr txBox="1"/>
            <p:nvPr/>
          </p:nvSpPr>
          <p:spPr>
            <a:xfrm>
              <a:off x="865" y="2646"/>
              <a:ext cx="422" cy="1096"/>
            </a:xfrm>
            <a:prstGeom prst="rect">
              <a:avLst/>
            </a:prstGeom>
            <a:noFill/>
            <a:ln w="19050">
              <a:noFill/>
            </a:ln>
          </p:spPr>
          <p:txBody>
            <a:bodyPr wrap="none">
              <a:spAutoFit/>
            </a:bodyPr>
            <a:lstStyle/>
            <a:p>
              <a:r>
                <a:rPr lang="en-US" altLang="zh-CN" sz="2800" dirty="0">
                  <a:latin typeface="Times New Roman" panose="02020603050405020304" pitchFamily="18" charset="0"/>
                </a:rPr>
                <a:t>A</a:t>
              </a:r>
            </a:p>
            <a:p>
              <a:r>
                <a:rPr lang="en-US" altLang="zh-CN" sz="2800" dirty="0">
                  <a:latin typeface="Times New Roman" panose="02020603050405020304" pitchFamily="18" charset="0"/>
                </a:rPr>
                <a:t>B</a:t>
              </a:r>
            </a:p>
            <a:p>
              <a:r>
                <a:rPr lang="en-US" altLang="zh-CN" sz="2800" dirty="0">
                  <a:latin typeface="Times New Roman" panose="02020603050405020304" pitchFamily="18" charset="0"/>
                </a:rPr>
                <a:t>C</a:t>
              </a: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67601" name="Text Box 17"/>
            <p:cNvSpPr txBox="1"/>
            <p:nvPr/>
          </p:nvSpPr>
          <p:spPr>
            <a:xfrm>
              <a:off x="2114" y="2646"/>
              <a:ext cx="684" cy="1096"/>
            </a:xfrm>
            <a:prstGeom prst="rect">
              <a:avLst/>
            </a:prstGeom>
            <a:noFill/>
            <a:ln w="19050">
              <a:noFill/>
            </a:ln>
          </p:spPr>
          <p:txBody>
            <a:bodyPr wrap="none">
              <a:spAutoFit/>
            </a:bodyPr>
            <a:lstStyle/>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B/0</a:t>
              </a:r>
            </a:p>
            <a:p>
              <a:r>
                <a:rPr lang="en-US" altLang="zh-CN" sz="2800" dirty="0">
                  <a:latin typeface="Times New Roman" panose="02020603050405020304" pitchFamily="18" charset="0"/>
                </a:rPr>
                <a:t>A/1</a:t>
              </a:r>
            </a:p>
          </p:txBody>
        </p:sp>
        <p:sp>
          <p:nvSpPr>
            <p:cNvPr id="67602" name="Text Box 18"/>
            <p:cNvSpPr txBox="1"/>
            <p:nvPr/>
          </p:nvSpPr>
          <p:spPr>
            <a:xfrm>
              <a:off x="3781" y="2646"/>
              <a:ext cx="685" cy="1096"/>
            </a:xfrm>
            <a:prstGeom prst="rect">
              <a:avLst/>
            </a:prstGeom>
            <a:noFill/>
            <a:ln w="19050">
              <a:noFill/>
            </a:ln>
          </p:spPr>
          <p:txBody>
            <a:bodyPr wrap="none">
              <a:spAutoFit/>
            </a:bodyPr>
            <a:lstStyle/>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p>
            <a:p>
              <a:r>
                <a:rPr lang="en-US" altLang="zh-CN" sz="2800" dirty="0">
                  <a:latin typeface="Times New Roman" panose="02020603050405020304" pitchFamily="18" charset="0"/>
                </a:rPr>
                <a:t>B/1</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07875"/>
                                        </p:tgtEl>
                                        <p:attrNameLst>
                                          <p:attrName>style.visibility</p:attrName>
                                        </p:attrNameLst>
                                      </p:cBhvr>
                                      <p:to>
                                        <p:strVal val="visible"/>
                                      </p:to>
                                    </p:set>
                                    <p:animEffect transition="in" filter="wipe(left)">
                                      <p:cBhvr>
                                        <p:cTn id="13" dur="500"/>
                                        <p:tgtEl>
                                          <p:spTgt spid="20787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07876"/>
                                        </p:tgtEl>
                                        <p:attrNameLst>
                                          <p:attrName>style.visibility</p:attrName>
                                        </p:attrNameLst>
                                      </p:cBhvr>
                                      <p:to>
                                        <p:strVal val="visible"/>
                                      </p:to>
                                    </p:set>
                                    <p:animEffect transition="in" filter="wipe(up)">
                                      <p:cBhvr>
                                        <p:cTn id="18" dur="3000"/>
                                        <p:tgtEl>
                                          <p:spTgt spid="207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5" grpId="0"/>
      <p:bldP spid="207876"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279775" y="1941513"/>
            <a:ext cx="2682875" cy="2943225"/>
            <a:chOff x="722" y="978"/>
            <a:chExt cx="1690" cy="1854"/>
          </a:xfrm>
        </p:grpSpPr>
        <p:sp>
          <p:nvSpPr>
            <p:cNvPr id="68617" name="Text Box 3"/>
            <p:cNvSpPr txBox="1"/>
            <p:nvPr/>
          </p:nvSpPr>
          <p:spPr>
            <a:xfrm>
              <a:off x="1394" y="1710"/>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A</a:t>
              </a:r>
            </a:p>
          </p:txBody>
        </p:sp>
        <p:sp>
          <p:nvSpPr>
            <p:cNvPr id="68618" name="Text Box 4"/>
            <p:cNvSpPr txBox="1"/>
            <p:nvPr/>
          </p:nvSpPr>
          <p:spPr>
            <a:xfrm>
              <a:off x="2031" y="1710"/>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B</a:t>
              </a:r>
            </a:p>
          </p:txBody>
        </p:sp>
        <p:sp>
          <p:nvSpPr>
            <p:cNvPr id="68619" name="Text Box 5"/>
            <p:cNvSpPr txBox="1"/>
            <p:nvPr/>
          </p:nvSpPr>
          <p:spPr>
            <a:xfrm>
              <a:off x="2018" y="2358"/>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68620" name="Text Box 6"/>
            <p:cNvSpPr txBox="1"/>
            <p:nvPr/>
          </p:nvSpPr>
          <p:spPr>
            <a:xfrm>
              <a:off x="1394" y="2358"/>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68621" name="Text Box 7"/>
            <p:cNvSpPr txBox="1"/>
            <p:nvPr/>
          </p:nvSpPr>
          <p:spPr>
            <a:xfrm>
              <a:off x="1382" y="133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68622" name="Text Box 8"/>
            <p:cNvSpPr txBox="1"/>
            <p:nvPr/>
          </p:nvSpPr>
          <p:spPr>
            <a:xfrm>
              <a:off x="2030" y="133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68623" name="Text Box 9"/>
            <p:cNvSpPr txBox="1"/>
            <p:nvPr/>
          </p:nvSpPr>
          <p:spPr>
            <a:xfrm>
              <a:off x="986" y="1794"/>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68624" name="Text Box 10"/>
            <p:cNvSpPr txBox="1"/>
            <p:nvPr/>
          </p:nvSpPr>
          <p:spPr>
            <a:xfrm>
              <a:off x="1010" y="243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grpSp>
          <p:nvGrpSpPr>
            <p:cNvPr id="68625" name="Group 11"/>
            <p:cNvGrpSpPr/>
            <p:nvPr/>
          </p:nvGrpSpPr>
          <p:grpSpPr>
            <a:xfrm>
              <a:off x="792" y="1212"/>
              <a:ext cx="1620" cy="1620"/>
              <a:chOff x="792" y="1212"/>
              <a:chExt cx="1620" cy="1620"/>
            </a:xfrm>
          </p:grpSpPr>
          <p:grpSp>
            <p:nvGrpSpPr>
              <p:cNvPr id="68628" name="Group 12"/>
              <p:cNvGrpSpPr/>
              <p:nvPr/>
            </p:nvGrpSpPr>
            <p:grpSpPr>
              <a:xfrm>
                <a:off x="1212" y="1632"/>
                <a:ext cx="1200" cy="1200"/>
                <a:chOff x="1272" y="1896"/>
                <a:chExt cx="1200" cy="1200"/>
              </a:xfrm>
            </p:grpSpPr>
            <p:sp>
              <p:nvSpPr>
                <p:cNvPr id="68630" name="Rectangle 13"/>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68631" name="Rectangle 14"/>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68632" name="Rectangle 15"/>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68633" name="Rectangle 16"/>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sp>
            <p:nvSpPr>
              <p:cNvPr id="68629" name="Line 17"/>
              <p:cNvSpPr/>
              <p:nvPr/>
            </p:nvSpPr>
            <p:spPr>
              <a:xfrm>
                <a:off x="792" y="1212"/>
                <a:ext cx="432" cy="432"/>
              </a:xfrm>
              <a:prstGeom prst="line">
                <a:avLst/>
              </a:prstGeom>
              <a:ln w="38100" cap="flat" cmpd="sng">
                <a:solidFill>
                  <a:srgbClr val="3333FF"/>
                </a:solidFill>
                <a:prstDash val="solid"/>
                <a:headEnd type="none" w="med" len="med"/>
                <a:tailEnd type="none" w="sm" len="lg"/>
              </a:ln>
            </p:spPr>
          </p:sp>
        </p:grpSp>
        <p:sp>
          <p:nvSpPr>
            <p:cNvPr id="68626" name="Text Box 18"/>
            <p:cNvSpPr txBox="1"/>
            <p:nvPr/>
          </p:nvSpPr>
          <p:spPr>
            <a:xfrm>
              <a:off x="818" y="978"/>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p>
          </p:txBody>
        </p:sp>
        <p:sp>
          <p:nvSpPr>
            <p:cNvPr id="68627" name="Text Box 19"/>
            <p:cNvSpPr txBox="1"/>
            <p:nvPr/>
          </p:nvSpPr>
          <p:spPr>
            <a:xfrm>
              <a:off x="722" y="1242"/>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grpSp>
      <p:grpSp>
        <p:nvGrpSpPr>
          <p:cNvPr id="5" name="Group 20"/>
          <p:cNvGrpSpPr/>
          <p:nvPr/>
        </p:nvGrpSpPr>
        <p:grpSpPr>
          <a:xfrm>
            <a:off x="6486525" y="1911350"/>
            <a:ext cx="2282825" cy="3151188"/>
            <a:chOff x="3266" y="1074"/>
            <a:chExt cx="1438" cy="1985"/>
          </a:xfrm>
        </p:grpSpPr>
        <p:sp>
          <p:nvSpPr>
            <p:cNvPr id="68613" name="Text Box 21"/>
            <p:cNvSpPr txBox="1"/>
            <p:nvPr/>
          </p:nvSpPr>
          <p:spPr>
            <a:xfrm>
              <a:off x="3266" y="1385"/>
              <a:ext cx="340" cy="1674"/>
            </a:xfrm>
            <a:prstGeom prst="rect">
              <a:avLst/>
            </a:prstGeom>
            <a:noFill/>
            <a:ln w="19050">
              <a:noFill/>
            </a:ln>
          </p:spPr>
          <p:txBody>
            <a:bodyPr wrap="none">
              <a:spAutoFit/>
            </a:bodyPr>
            <a:lstStyle/>
            <a:p>
              <a:pPr>
                <a:lnSpc>
                  <a:spcPct val="150000"/>
                </a:lnSpc>
              </a:pPr>
              <a:r>
                <a:rPr lang="en-US" altLang="zh-CN" sz="2800" dirty="0">
                  <a:latin typeface="Times New Roman" panose="02020603050405020304" pitchFamily="18" charset="0"/>
                </a:rPr>
                <a:t>A:</a:t>
              </a:r>
            </a:p>
            <a:p>
              <a:pPr>
                <a:lnSpc>
                  <a:spcPct val="150000"/>
                </a:lnSpc>
              </a:pPr>
              <a:r>
                <a:rPr lang="en-US" altLang="zh-CN" sz="2800" dirty="0">
                  <a:latin typeface="Times New Roman" panose="02020603050405020304" pitchFamily="18" charset="0"/>
                </a:rPr>
                <a:t>B:</a:t>
              </a:r>
            </a:p>
            <a:p>
              <a:pPr>
                <a:lnSpc>
                  <a:spcPct val="150000"/>
                </a:lnSpc>
              </a:pPr>
              <a:r>
                <a:rPr lang="en-US" altLang="zh-CN" sz="2800" dirty="0">
                  <a:latin typeface="Times New Roman" panose="02020603050405020304" pitchFamily="18" charset="0"/>
                </a:rPr>
                <a:t>C:</a:t>
              </a:r>
            </a:p>
            <a:p>
              <a:pPr>
                <a:lnSpc>
                  <a:spcPct val="150000"/>
                </a:lnSpc>
              </a:pPr>
              <a:r>
                <a:rPr lang="en-US" altLang="zh-CN" sz="2800" dirty="0">
                  <a:latin typeface="Times New Roman" panose="02020603050405020304" pitchFamily="18" charset="0"/>
                </a:rPr>
                <a:t>D:</a:t>
              </a:r>
            </a:p>
          </p:txBody>
        </p:sp>
        <p:sp>
          <p:nvSpPr>
            <p:cNvPr id="68614" name="Text Box 22"/>
            <p:cNvSpPr txBox="1"/>
            <p:nvPr/>
          </p:nvSpPr>
          <p:spPr>
            <a:xfrm>
              <a:off x="3938" y="1074"/>
              <a:ext cx="738"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p>
          </p:txBody>
        </p:sp>
        <p:sp>
          <p:nvSpPr>
            <p:cNvPr id="68615" name="Line 23"/>
            <p:cNvSpPr/>
            <p:nvPr/>
          </p:nvSpPr>
          <p:spPr>
            <a:xfrm>
              <a:off x="3852" y="1416"/>
              <a:ext cx="852" cy="0"/>
            </a:xfrm>
            <a:prstGeom prst="line">
              <a:avLst/>
            </a:prstGeom>
            <a:ln w="19050" cap="flat" cmpd="sng">
              <a:solidFill>
                <a:schemeClr val="tx1"/>
              </a:solidFill>
              <a:prstDash val="solid"/>
              <a:headEnd type="none" w="med" len="med"/>
              <a:tailEnd type="none" w="sm" len="lg"/>
            </a:ln>
          </p:spPr>
        </p:sp>
        <p:sp>
          <p:nvSpPr>
            <p:cNvPr id="68616" name="Text Box 24"/>
            <p:cNvSpPr txBox="1"/>
            <p:nvPr/>
          </p:nvSpPr>
          <p:spPr>
            <a:xfrm>
              <a:off x="3890" y="1493"/>
              <a:ext cx="804" cy="1566"/>
            </a:xfrm>
            <a:prstGeom prst="rect">
              <a:avLst/>
            </a:prstGeom>
            <a:noFill/>
            <a:ln w="19050">
              <a:noFill/>
            </a:ln>
          </p:spPr>
          <p:txBody>
            <a:bodyPr wrap="none">
              <a:spAutoFit/>
            </a:bodyPr>
            <a:lstStyle/>
            <a:p>
              <a:pPr>
                <a:lnSpc>
                  <a:spcPct val="140000"/>
                </a:lnSpc>
              </a:pPr>
              <a:r>
                <a:rPr lang="en-US" altLang="zh-CN" sz="2800" dirty="0">
                  <a:latin typeface="Times New Roman" panose="02020603050405020304" pitchFamily="18" charset="0"/>
                </a:rPr>
                <a:t>0	0</a:t>
              </a:r>
            </a:p>
            <a:p>
              <a:pPr>
                <a:lnSpc>
                  <a:spcPct val="140000"/>
                </a:lnSpc>
              </a:pPr>
              <a:r>
                <a:rPr lang="en-US" altLang="zh-CN" sz="2800" dirty="0">
                  <a:latin typeface="Times New Roman" panose="02020603050405020304" pitchFamily="18" charset="0"/>
                </a:rPr>
                <a:t>1	0</a:t>
              </a:r>
            </a:p>
            <a:p>
              <a:pPr>
                <a:lnSpc>
                  <a:spcPct val="140000"/>
                </a:lnSpc>
              </a:pPr>
              <a:r>
                <a:rPr lang="en-US" altLang="zh-CN" sz="2800" dirty="0">
                  <a:latin typeface="Times New Roman" panose="02020603050405020304" pitchFamily="18" charset="0"/>
                </a:rPr>
                <a:t>0	1</a:t>
              </a:r>
            </a:p>
            <a:p>
              <a:pPr>
                <a:lnSpc>
                  <a:spcPct val="140000"/>
                </a:lnSpc>
              </a:pPr>
              <a:r>
                <a:rPr lang="en-US" altLang="zh-CN" sz="2800" dirty="0">
                  <a:latin typeface="Times New Roman" panose="02020603050405020304" pitchFamily="18" charset="0"/>
                </a:rPr>
                <a:t>1	1</a:t>
              </a:r>
            </a:p>
          </p:txBody>
        </p:sp>
      </p:grpSp>
      <p:sp>
        <p:nvSpPr>
          <p:cNvPr id="208921" name="Text Box 25"/>
          <p:cNvSpPr txBox="1"/>
          <p:nvPr/>
        </p:nvSpPr>
        <p:spPr>
          <a:xfrm>
            <a:off x="476250" y="911225"/>
            <a:ext cx="2468563" cy="4802188"/>
          </a:xfrm>
          <a:prstGeom prst="rect">
            <a:avLst/>
          </a:prstGeom>
          <a:noFill/>
          <a:ln w="19050">
            <a:noFill/>
          </a:ln>
        </p:spPr>
        <p:txBody>
          <a:bodyPr>
            <a:spAutoFit/>
          </a:bodyPr>
          <a:lstStyle/>
          <a:p>
            <a:pPr algn="just">
              <a:lnSpc>
                <a:spcPct val="80000"/>
              </a:lnSpc>
              <a:spcBef>
                <a:spcPct val="50000"/>
              </a:spcBef>
            </a:pPr>
            <a:r>
              <a:rPr lang="en-US" altLang="zh-CN"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由规则(1)得</a:t>
            </a:r>
            <a:r>
              <a:rPr lang="en-US" altLang="zh-CN" sz="2400" dirty="0">
                <a:latin typeface="Times New Roman" panose="02020603050405020304" pitchFamily="18" charset="0"/>
                <a:sym typeface="Monotype Sorts" pitchFamily="2" charset="2"/>
              </a:rPr>
              <a:t>A</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B,A</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C</a:t>
            </a:r>
            <a:r>
              <a:rPr lang="zh-CN" altLang="zh-CN" sz="2400" dirty="0">
                <a:latin typeface="Times New Roman" panose="02020603050405020304" pitchFamily="18" charset="0"/>
                <a:sym typeface="Monotype Sorts" pitchFamily="2" charset="2"/>
              </a:rPr>
              <a:t>应相邻；</a:t>
            </a:r>
            <a:endParaRPr lang="zh-CN" altLang="en-US" sz="2400" dirty="0">
              <a:latin typeface="Times New Roman" panose="02020603050405020304" pitchFamily="18" charset="0"/>
              <a:sym typeface="Monotype Sorts" pitchFamily="2" charset="2"/>
            </a:endParaRP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由规则(2)得</a:t>
            </a:r>
            <a:r>
              <a:rPr lang="en-US" altLang="zh-CN" sz="2400" dirty="0">
                <a:latin typeface="Times New Roman" panose="02020603050405020304" pitchFamily="18" charset="0"/>
                <a:sym typeface="Monotype Sorts" pitchFamily="2" charset="2"/>
              </a:rPr>
              <a:t>C</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D,C</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A,B</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D,A</a:t>
            </a:r>
            <a:r>
              <a:rPr lang="zh-CN" altLang="zh-CN"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B</a:t>
            </a:r>
            <a:r>
              <a:rPr lang="zh-CN" altLang="zh-CN" sz="2400" dirty="0">
                <a:latin typeface="Times New Roman" panose="02020603050405020304" pitchFamily="18" charset="0"/>
                <a:sym typeface="Monotype Sorts" pitchFamily="2" charset="2"/>
              </a:rPr>
              <a:t>应相邻；</a:t>
            </a: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由规则(3)得</a:t>
            </a:r>
            <a:r>
              <a:rPr lang="en-US" altLang="zh-CN" sz="2400" dirty="0">
                <a:latin typeface="Times New Roman" panose="02020603050405020304" pitchFamily="18" charset="0"/>
                <a:sym typeface="Monotype Sorts" pitchFamily="2" charset="2"/>
              </a:rPr>
              <a:t>A,B,C </a:t>
            </a:r>
            <a:r>
              <a:rPr lang="zh-CN" altLang="zh-CN" sz="2400" dirty="0">
                <a:latin typeface="Times New Roman" panose="02020603050405020304" pitchFamily="18" charset="0"/>
                <a:sym typeface="Monotype Sorts" pitchFamily="2" charset="2"/>
              </a:rPr>
              <a:t>三者应相邻</a:t>
            </a:r>
            <a:r>
              <a:rPr lang="en-US" altLang="zh-CN" sz="2400" dirty="0">
                <a:latin typeface="Times New Roman" panose="02020603050405020304" pitchFamily="18" charset="0"/>
                <a:sym typeface="Monotype Sorts" pitchFamily="2" charset="2"/>
              </a:rPr>
              <a:t>,</a:t>
            </a:r>
            <a:r>
              <a:rPr lang="zh-CN" altLang="zh-CN" sz="2400" dirty="0">
                <a:latin typeface="Times New Roman" panose="02020603050405020304" pitchFamily="18" charset="0"/>
                <a:sym typeface="Monotype Sorts" pitchFamily="2" charset="2"/>
              </a:rPr>
              <a:t>即</a:t>
            </a:r>
            <a:r>
              <a:rPr lang="en-US" altLang="zh-CN" sz="2400" dirty="0">
                <a:latin typeface="Times New Roman" panose="02020603050405020304" pitchFamily="18" charset="0"/>
                <a:sym typeface="Monotype Sorts" pitchFamily="2" charset="2"/>
              </a:rPr>
              <a:t>A</a:t>
            </a:r>
            <a:r>
              <a:rPr lang="zh-CN" altLang="en-US"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B,A</a:t>
            </a:r>
            <a:r>
              <a:rPr lang="zh-CN" altLang="en-US"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C,B</a:t>
            </a:r>
            <a:r>
              <a:rPr lang="zh-CN" altLang="en-US" sz="2400" dirty="0">
                <a:latin typeface="Times New Roman" panose="02020603050405020304" pitchFamily="18" charset="0"/>
                <a:sym typeface="Monotype Sorts" pitchFamily="2" charset="2"/>
              </a:rPr>
              <a:t>和</a:t>
            </a:r>
            <a:r>
              <a:rPr lang="en-US" altLang="zh-CN" sz="2400" dirty="0">
                <a:latin typeface="Times New Roman" panose="02020603050405020304" pitchFamily="18" charset="0"/>
                <a:sym typeface="Monotype Sorts" pitchFamily="2" charset="2"/>
              </a:rPr>
              <a:t>C</a:t>
            </a:r>
            <a:r>
              <a:rPr lang="zh-CN" altLang="zh-CN" sz="2400" dirty="0">
                <a:latin typeface="Times New Roman" panose="02020603050405020304" pitchFamily="18" charset="0"/>
                <a:sym typeface="Monotype Sorts" pitchFamily="2" charset="2"/>
              </a:rPr>
              <a:t>应相邻；</a:t>
            </a:r>
          </a:p>
          <a:p>
            <a:pPr algn="just">
              <a:spcBef>
                <a:spcPct val="50000"/>
              </a:spcBef>
            </a:pPr>
            <a:r>
              <a:rPr lang="zh-CN" altLang="en-US" sz="2400" dirty="0">
                <a:latin typeface="Times New Roman" panose="02020603050405020304" pitchFamily="18" charset="0"/>
                <a:sym typeface="Monotype Sorts" pitchFamily="2" charset="2"/>
              </a:rPr>
              <a:t>        </a:t>
            </a:r>
            <a:r>
              <a:rPr lang="zh-CN" altLang="zh-CN" sz="2400" dirty="0">
                <a:latin typeface="Times New Roman" panose="02020603050405020304" pitchFamily="18" charset="0"/>
                <a:sym typeface="Monotype Sorts" pitchFamily="2" charset="2"/>
              </a:rPr>
              <a:t>由规则(4)得</a:t>
            </a:r>
            <a:r>
              <a:rPr lang="en-US" altLang="zh-CN" sz="2400" dirty="0">
                <a:latin typeface="Times New Roman" panose="02020603050405020304" pitchFamily="18" charset="0"/>
                <a:sym typeface="Monotype Sorts" pitchFamily="2" charset="2"/>
              </a:rPr>
              <a:t>A</a:t>
            </a:r>
            <a:r>
              <a:rPr lang="zh-CN" altLang="zh-CN" sz="2400" dirty="0">
                <a:latin typeface="Times New Roman" panose="02020603050405020304" pitchFamily="18" charset="0"/>
                <a:sym typeface="Monotype Sorts" pitchFamily="2" charset="2"/>
              </a:rPr>
              <a:t>分配为逻辑0。</a:t>
            </a:r>
            <a:endParaRPr lang="zh-CN" altLang="en-US" sz="24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8921"/>
                                        </p:tgtEl>
                                        <p:attrNameLst>
                                          <p:attrName>style.visibility</p:attrName>
                                        </p:attrNameLst>
                                      </p:cBhvr>
                                      <p:to>
                                        <p:strVal val="visible"/>
                                      </p:to>
                                    </p:set>
                                    <p:animEffect transition="in" filter="wipe(up)">
                                      <p:cBhvr>
                                        <p:cTn id="7" dur="3000"/>
                                        <p:tgtEl>
                                          <p:spTgt spid="208921"/>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21"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Text Box 2"/>
          <p:cNvSpPr txBox="1"/>
          <p:nvPr/>
        </p:nvSpPr>
        <p:spPr>
          <a:xfrm>
            <a:off x="1012825" y="635000"/>
            <a:ext cx="5156200" cy="519113"/>
          </a:xfrm>
          <a:prstGeom prst="rect">
            <a:avLst/>
          </a:prstGeom>
          <a:noFill/>
          <a:ln w="19050">
            <a:noFill/>
          </a:ln>
        </p:spPr>
        <p:txBody>
          <a:bodyPr wrap="none">
            <a:spAutoFit/>
          </a:bodyPr>
          <a:lstStyle/>
          <a:p>
            <a:r>
              <a:rPr lang="zh-CN" altLang="en-US" sz="2800" dirty="0">
                <a:latin typeface="Times New Roman" panose="02020603050405020304" pitchFamily="18" charset="0"/>
              </a:rPr>
              <a:t>最后我们可以得到二进制状态表</a:t>
            </a:r>
          </a:p>
        </p:txBody>
      </p:sp>
      <p:grpSp>
        <p:nvGrpSpPr>
          <p:cNvPr id="2" name="Group 33"/>
          <p:cNvGrpSpPr/>
          <p:nvPr/>
        </p:nvGrpSpPr>
        <p:grpSpPr>
          <a:xfrm>
            <a:off x="4549775" y="1411288"/>
            <a:ext cx="4395788" cy="3937000"/>
            <a:chOff x="91" y="989"/>
            <a:chExt cx="2623" cy="2424"/>
          </a:xfrm>
        </p:grpSpPr>
        <p:sp>
          <p:nvSpPr>
            <p:cNvPr id="69651" name="Line 4"/>
            <p:cNvSpPr/>
            <p:nvPr/>
          </p:nvSpPr>
          <p:spPr>
            <a:xfrm>
              <a:off x="92" y="989"/>
              <a:ext cx="2540" cy="0"/>
            </a:xfrm>
            <a:prstGeom prst="line">
              <a:avLst/>
            </a:prstGeom>
            <a:ln w="38100" cap="flat" cmpd="sng">
              <a:solidFill>
                <a:schemeClr val="tx1"/>
              </a:solidFill>
              <a:prstDash val="solid"/>
              <a:headEnd type="none" w="med" len="med"/>
              <a:tailEnd type="none" w="sm" len="lg"/>
            </a:ln>
          </p:spPr>
        </p:sp>
        <p:sp>
          <p:nvSpPr>
            <p:cNvPr id="69652" name="Line 5"/>
            <p:cNvSpPr/>
            <p:nvPr/>
          </p:nvSpPr>
          <p:spPr>
            <a:xfrm>
              <a:off x="92" y="3402"/>
              <a:ext cx="2540" cy="0"/>
            </a:xfrm>
            <a:prstGeom prst="line">
              <a:avLst/>
            </a:prstGeom>
            <a:ln w="38100" cap="flat" cmpd="sng">
              <a:solidFill>
                <a:schemeClr val="tx1"/>
              </a:solidFill>
              <a:prstDash val="solid"/>
              <a:headEnd type="none" w="med" len="med"/>
              <a:tailEnd type="none" w="sm" len="lg"/>
            </a:ln>
          </p:spPr>
        </p:sp>
        <p:sp>
          <p:nvSpPr>
            <p:cNvPr id="69653" name="Line 6"/>
            <p:cNvSpPr/>
            <p:nvPr/>
          </p:nvSpPr>
          <p:spPr>
            <a:xfrm>
              <a:off x="749" y="989"/>
              <a:ext cx="0" cy="2424"/>
            </a:xfrm>
            <a:prstGeom prst="line">
              <a:avLst/>
            </a:prstGeom>
            <a:ln w="19050" cap="flat" cmpd="sng">
              <a:solidFill>
                <a:schemeClr val="tx1"/>
              </a:solidFill>
              <a:prstDash val="solid"/>
              <a:headEnd type="none" w="med" len="med"/>
              <a:tailEnd type="none" w="sm" len="lg"/>
            </a:ln>
          </p:spPr>
        </p:sp>
        <p:sp>
          <p:nvSpPr>
            <p:cNvPr id="69654" name="Line 7"/>
            <p:cNvSpPr/>
            <p:nvPr/>
          </p:nvSpPr>
          <p:spPr>
            <a:xfrm>
              <a:off x="1663" y="1528"/>
              <a:ext cx="0" cy="1863"/>
            </a:xfrm>
            <a:prstGeom prst="line">
              <a:avLst/>
            </a:prstGeom>
            <a:ln w="19050" cap="flat" cmpd="sng">
              <a:solidFill>
                <a:schemeClr val="tx1"/>
              </a:solidFill>
              <a:prstDash val="solid"/>
              <a:headEnd type="none" w="med" len="med"/>
              <a:tailEnd type="none" w="sm" len="lg"/>
            </a:ln>
          </p:spPr>
        </p:sp>
        <p:sp>
          <p:nvSpPr>
            <p:cNvPr id="69655" name="Line 8"/>
            <p:cNvSpPr/>
            <p:nvPr/>
          </p:nvSpPr>
          <p:spPr>
            <a:xfrm>
              <a:off x="757" y="1517"/>
              <a:ext cx="1875" cy="0"/>
            </a:xfrm>
            <a:prstGeom prst="line">
              <a:avLst/>
            </a:prstGeom>
            <a:ln w="12700" cap="flat" cmpd="sng">
              <a:solidFill>
                <a:schemeClr val="tx1"/>
              </a:solidFill>
              <a:prstDash val="solid"/>
              <a:headEnd type="none" w="med" len="med"/>
              <a:tailEnd type="none" w="sm" len="lg"/>
            </a:ln>
          </p:spPr>
        </p:sp>
        <p:sp>
          <p:nvSpPr>
            <p:cNvPr id="69656" name="Line 9"/>
            <p:cNvSpPr/>
            <p:nvPr/>
          </p:nvSpPr>
          <p:spPr>
            <a:xfrm>
              <a:off x="91" y="2012"/>
              <a:ext cx="2540" cy="0"/>
            </a:xfrm>
            <a:prstGeom prst="line">
              <a:avLst/>
            </a:prstGeom>
            <a:ln w="12700" cap="flat" cmpd="sng">
              <a:solidFill>
                <a:schemeClr val="tx1"/>
              </a:solidFill>
              <a:prstDash val="solid"/>
              <a:headEnd type="none" w="med" len="med"/>
              <a:tailEnd type="none" w="sm" len="lg"/>
            </a:ln>
          </p:spPr>
        </p:sp>
        <p:sp>
          <p:nvSpPr>
            <p:cNvPr id="69657" name="Text Box 10"/>
            <p:cNvSpPr txBox="1"/>
            <p:nvPr/>
          </p:nvSpPr>
          <p:spPr>
            <a:xfrm>
              <a:off x="162" y="1077"/>
              <a:ext cx="713" cy="846"/>
            </a:xfrm>
            <a:prstGeom prst="rect">
              <a:avLst/>
            </a:prstGeom>
            <a:noFill/>
            <a:ln w="19050">
              <a:noFill/>
            </a:ln>
          </p:spPr>
          <p:txBody>
            <a:bodyPr>
              <a:spAutoFit/>
            </a:bodyPr>
            <a:lstStyle/>
            <a:p>
              <a:pPr>
                <a:lnSpc>
                  <a:spcPct val="150000"/>
                </a:lnSpc>
              </a:pPr>
              <a:r>
                <a:rPr lang="zh-CN" altLang="zh-CN" sz="2800" dirty="0">
                  <a:latin typeface="Times New Roman" panose="02020603050405020304" pitchFamily="18" charset="0"/>
                </a:rPr>
                <a:t>现态</a:t>
              </a:r>
            </a:p>
            <a:p>
              <a:pPr>
                <a:lnSpc>
                  <a:spcPct val="150000"/>
                </a:lnSpc>
              </a:pP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p>
          </p:txBody>
        </p:sp>
        <p:sp>
          <p:nvSpPr>
            <p:cNvPr id="69658" name="Text Box 11"/>
            <p:cNvSpPr txBox="1"/>
            <p:nvPr/>
          </p:nvSpPr>
          <p:spPr>
            <a:xfrm>
              <a:off x="674" y="1095"/>
              <a:ext cx="2040" cy="319"/>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69659" name="Text Box 12"/>
            <p:cNvSpPr txBox="1"/>
            <p:nvPr/>
          </p:nvSpPr>
          <p:spPr>
            <a:xfrm>
              <a:off x="1034" y="1619"/>
              <a:ext cx="429" cy="320"/>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69660" name="Text Box 13"/>
            <p:cNvSpPr txBox="1"/>
            <p:nvPr/>
          </p:nvSpPr>
          <p:spPr>
            <a:xfrm>
              <a:off x="2010" y="1619"/>
              <a:ext cx="429" cy="320"/>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69661" name="Text Box 14"/>
            <p:cNvSpPr txBox="1"/>
            <p:nvPr/>
          </p:nvSpPr>
          <p:spPr>
            <a:xfrm>
              <a:off x="131" y="2106"/>
              <a:ext cx="614" cy="1214"/>
            </a:xfrm>
            <a:prstGeom prst="rect">
              <a:avLst/>
            </a:prstGeom>
            <a:noFill/>
            <a:ln w="19050">
              <a:noFill/>
            </a:ln>
          </p:spPr>
          <p:txBody>
            <a:bodyPr wrap="none">
              <a:spAutoFit/>
            </a:bodyPr>
            <a:lstStyle/>
            <a:p>
              <a:pPr algn="ctr" defTabSz="666750">
                <a:lnSpc>
                  <a:spcPct val="110000"/>
                </a:lnSpc>
              </a:pPr>
              <a:r>
                <a:rPr lang="en-US" altLang="zh-CN" sz="2800" dirty="0">
                  <a:latin typeface="Times New Roman" panose="02020603050405020304" pitchFamily="18" charset="0"/>
                </a:rPr>
                <a:t>0	0</a:t>
              </a:r>
            </a:p>
            <a:p>
              <a:pPr algn="ctr" defTabSz="666750">
                <a:lnSpc>
                  <a:spcPct val="110000"/>
                </a:lnSpc>
              </a:pPr>
              <a:r>
                <a:rPr lang="en-US" altLang="zh-CN" sz="2800" dirty="0">
                  <a:latin typeface="Times New Roman" panose="02020603050405020304" pitchFamily="18" charset="0"/>
                </a:rPr>
                <a:t>0	1</a:t>
              </a:r>
            </a:p>
            <a:p>
              <a:pPr algn="ctr" defTabSz="666750">
                <a:lnSpc>
                  <a:spcPct val="110000"/>
                </a:lnSpc>
              </a:pPr>
              <a:r>
                <a:rPr lang="en-US" altLang="zh-CN" sz="2800" dirty="0">
                  <a:latin typeface="Times New Roman" panose="02020603050405020304" pitchFamily="18" charset="0"/>
                </a:rPr>
                <a:t>1	1</a:t>
              </a:r>
            </a:p>
            <a:p>
              <a:pPr algn="ctr" defTabSz="666750">
                <a:lnSpc>
                  <a:spcPct val="110000"/>
                </a:lnSpc>
              </a:pPr>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69662" name="Text Box 15"/>
            <p:cNvSpPr txBox="1"/>
            <p:nvPr/>
          </p:nvSpPr>
          <p:spPr>
            <a:xfrm>
              <a:off x="1021" y="2098"/>
              <a:ext cx="487" cy="1214"/>
            </a:xfrm>
            <a:prstGeom prst="rect">
              <a:avLst/>
            </a:prstGeom>
            <a:noFill/>
            <a:ln w="19050">
              <a:noFill/>
            </a:ln>
          </p:spPr>
          <p:txBody>
            <a:bodyPr wrap="none">
              <a:spAutoFit/>
            </a:bodyPr>
            <a:lstStyle/>
            <a:p>
              <a:pPr>
                <a:lnSpc>
                  <a:spcPct val="110000"/>
                </a:lnSpc>
              </a:pPr>
              <a:r>
                <a:rPr lang="en-US" altLang="zh-CN" sz="2800" dirty="0">
                  <a:latin typeface="Times New Roman" panose="02020603050405020304" pitchFamily="18" charset="0"/>
                </a:rPr>
                <a:t>01/0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10/0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01/0</a:t>
              </a:r>
            </a:p>
          </p:txBody>
        </p:sp>
        <p:sp>
          <p:nvSpPr>
            <p:cNvPr id="69663" name="Text Box 16"/>
            <p:cNvSpPr txBox="1"/>
            <p:nvPr/>
          </p:nvSpPr>
          <p:spPr>
            <a:xfrm>
              <a:off x="1983" y="2098"/>
              <a:ext cx="487" cy="1214"/>
            </a:xfrm>
            <a:prstGeom prst="rect">
              <a:avLst/>
            </a:prstGeom>
            <a:noFill/>
            <a:ln w="19050">
              <a:noFill/>
            </a:ln>
          </p:spPr>
          <p:txBody>
            <a:bodyPr wrap="none">
              <a:spAutoFit/>
            </a:bodyPr>
            <a:lstStyle/>
            <a:p>
              <a:pPr>
                <a:lnSpc>
                  <a:spcPct val="110000"/>
                </a:lnSpc>
              </a:pPr>
              <a:r>
                <a:rPr lang="en-US" altLang="zh-CN" sz="2800" dirty="0">
                  <a:latin typeface="Times New Roman" panose="02020603050405020304" pitchFamily="18" charset="0"/>
                </a:rPr>
                <a:t>11/0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11/0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10/1</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00/0</a:t>
              </a:r>
            </a:p>
          </p:txBody>
        </p:sp>
      </p:grpSp>
      <p:sp>
        <p:nvSpPr>
          <p:cNvPr id="209937" name="Text Box 17" descr="羊皮纸"/>
          <p:cNvSpPr txBox="1"/>
          <p:nvPr/>
        </p:nvSpPr>
        <p:spPr>
          <a:xfrm>
            <a:off x="955675" y="5511800"/>
            <a:ext cx="7207250" cy="946150"/>
          </a:xfrm>
          <a:prstGeom prst="rect">
            <a:avLst/>
          </a:prstGeom>
          <a:blipFill rotWithShape="1">
            <a:blip r:embed="rId2"/>
          </a:blipFill>
          <a:ln w="19050">
            <a:noFill/>
          </a:ln>
        </p:spPr>
        <p:txBody>
          <a:bodyPr>
            <a:spAutoFit/>
          </a:bodyPr>
          <a:lstStyle/>
          <a:p>
            <a:pPr marL="1143000" indent="-1143000"/>
            <a:r>
              <a:rPr lang="zh-CN" altLang="en-US" sz="2800" b="1" dirty="0">
                <a:latin typeface="Times New Roman" panose="02020603050405020304" pitchFamily="18" charset="0"/>
              </a:rPr>
              <a:t>注意：</a:t>
            </a:r>
            <a:r>
              <a:rPr lang="zh-CN" altLang="en-US" sz="2800" dirty="0">
                <a:latin typeface="Times New Roman" panose="02020603050405020304" pitchFamily="18" charset="0"/>
              </a:rPr>
              <a:t>有时满足分配原则的分配方案不唯一，这时可任选一种。</a:t>
            </a:r>
          </a:p>
        </p:txBody>
      </p:sp>
      <p:grpSp>
        <p:nvGrpSpPr>
          <p:cNvPr id="3" name="Group 19"/>
          <p:cNvGrpSpPr/>
          <p:nvPr/>
        </p:nvGrpSpPr>
        <p:grpSpPr>
          <a:xfrm>
            <a:off x="147638" y="1414463"/>
            <a:ext cx="4089400" cy="3944937"/>
            <a:chOff x="564" y="1440"/>
            <a:chExt cx="4464" cy="2400"/>
          </a:xfrm>
        </p:grpSpPr>
        <p:sp>
          <p:nvSpPr>
            <p:cNvPr id="69638" name="Line 20"/>
            <p:cNvSpPr/>
            <p:nvPr/>
          </p:nvSpPr>
          <p:spPr>
            <a:xfrm>
              <a:off x="588" y="1440"/>
              <a:ext cx="4404" cy="0"/>
            </a:xfrm>
            <a:prstGeom prst="line">
              <a:avLst/>
            </a:prstGeom>
            <a:ln w="38100" cap="flat" cmpd="sng">
              <a:solidFill>
                <a:schemeClr val="tx1"/>
              </a:solidFill>
              <a:prstDash val="solid"/>
              <a:headEnd type="none" w="med" len="med"/>
              <a:tailEnd type="none" w="sm" len="lg"/>
            </a:ln>
          </p:spPr>
        </p:sp>
        <p:sp>
          <p:nvSpPr>
            <p:cNvPr id="69639" name="Line 21"/>
            <p:cNvSpPr/>
            <p:nvPr/>
          </p:nvSpPr>
          <p:spPr>
            <a:xfrm>
              <a:off x="624" y="3828"/>
              <a:ext cx="4404" cy="0"/>
            </a:xfrm>
            <a:prstGeom prst="line">
              <a:avLst/>
            </a:prstGeom>
            <a:ln w="38100" cap="flat" cmpd="sng">
              <a:solidFill>
                <a:schemeClr val="tx1"/>
              </a:solidFill>
              <a:prstDash val="solid"/>
              <a:headEnd type="none" w="med" len="med"/>
              <a:tailEnd type="none" w="sm" len="lg"/>
            </a:ln>
          </p:spPr>
        </p:sp>
        <p:sp>
          <p:nvSpPr>
            <p:cNvPr id="69640" name="Line 22"/>
            <p:cNvSpPr/>
            <p:nvPr/>
          </p:nvSpPr>
          <p:spPr>
            <a:xfrm>
              <a:off x="1644" y="1440"/>
              <a:ext cx="0" cy="2400"/>
            </a:xfrm>
            <a:prstGeom prst="line">
              <a:avLst/>
            </a:prstGeom>
            <a:ln w="19050" cap="flat" cmpd="sng">
              <a:solidFill>
                <a:schemeClr val="tx1"/>
              </a:solidFill>
              <a:prstDash val="solid"/>
              <a:headEnd type="none" w="med" len="med"/>
              <a:tailEnd type="none" w="sm" len="lg"/>
            </a:ln>
          </p:spPr>
        </p:sp>
        <p:sp>
          <p:nvSpPr>
            <p:cNvPr id="69641" name="Line 23"/>
            <p:cNvSpPr/>
            <p:nvPr/>
          </p:nvSpPr>
          <p:spPr>
            <a:xfrm>
              <a:off x="3228" y="2040"/>
              <a:ext cx="0" cy="1788"/>
            </a:xfrm>
            <a:prstGeom prst="line">
              <a:avLst/>
            </a:prstGeom>
            <a:ln w="19050" cap="flat" cmpd="sng">
              <a:solidFill>
                <a:schemeClr val="tx1"/>
              </a:solidFill>
              <a:prstDash val="solid"/>
              <a:headEnd type="none" w="med" len="med"/>
              <a:tailEnd type="none" w="sm" len="lg"/>
            </a:ln>
          </p:spPr>
        </p:sp>
        <p:sp>
          <p:nvSpPr>
            <p:cNvPr id="69642" name="Line 24"/>
            <p:cNvSpPr/>
            <p:nvPr/>
          </p:nvSpPr>
          <p:spPr>
            <a:xfrm>
              <a:off x="1644" y="2028"/>
              <a:ext cx="3336" cy="0"/>
            </a:xfrm>
            <a:prstGeom prst="line">
              <a:avLst/>
            </a:prstGeom>
            <a:ln w="12700" cap="flat" cmpd="sng">
              <a:solidFill>
                <a:schemeClr val="tx1"/>
              </a:solidFill>
              <a:prstDash val="solid"/>
              <a:headEnd type="none" w="med" len="med"/>
              <a:tailEnd type="none" w="sm" len="lg"/>
            </a:ln>
          </p:spPr>
        </p:sp>
        <p:sp>
          <p:nvSpPr>
            <p:cNvPr id="69643" name="Line 25"/>
            <p:cNvSpPr/>
            <p:nvPr/>
          </p:nvSpPr>
          <p:spPr>
            <a:xfrm>
              <a:off x="564" y="2580"/>
              <a:ext cx="4404" cy="0"/>
            </a:xfrm>
            <a:prstGeom prst="line">
              <a:avLst/>
            </a:prstGeom>
            <a:ln w="12700" cap="flat" cmpd="sng">
              <a:solidFill>
                <a:schemeClr val="tx1"/>
              </a:solidFill>
              <a:prstDash val="solid"/>
              <a:headEnd type="none" w="med" len="med"/>
              <a:tailEnd type="none" w="sm" len="lg"/>
            </a:ln>
          </p:spPr>
        </p:sp>
        <p:sp>
          <p:nvSpPr>
            <p:cNvPr id="69644" name="Text Box 26"/>
            <p:cNvSpPr txBox="1"/>
            <p:nvPr/>
          </p:nvSpPr>
          <p:spPr>
            <a:xfrm>
              <a:off x="770" y="1840"/>
              <a:ext cx="978" cy="316"/>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69645" name="Text Box 27"/>
            <p:cNvSpPr txBox="1"/>
            <p:nvPr/>
          </p:nvSpPr>
          <p:spPr>
            <a:xfrm>
              <a:off x="2678" y="1565"/>
              <a:ext cx="1861" cy="315"/>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69646" name="Text Box 28"/>
            <p:cNvSpPr txBox="1"/>
            <p:nvPr/>
          </p:nvSpPr>
          <p:spPr>
            <a:xfrm>
              <a:off x="2186" y="2142"/>
              <a:ext cx="785" cy="316"/>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69647" name="Text Box 29"/>
            <p:cNvSpPr txBox="1"/>
            <p:nvPr/>
          </p:nvSpPr>
          <p:spPr>
            <a:xfrm>
              <a:off x="3831" y="2142"/>
              <a:ext cx="785" cy="316"/>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69648" name="Text Box 30"/>
            <p:cNvSpPr txBox="1"/>
            <p:nvPr/>
          </p:nvSpPr>
          <p:spPr>
            <a:xfrm>
              <a:off x="866" y="2646"/>
              <a:ext cx="481" cy="1095"/>
            </a:xfrm>
            <a:prstGeom prst="rect">
              <a:avLst/>
            </a:prstGeom>
            <a:noFill/>
            <a:ln w="19050">
              <a:noFill/>
            </a:ln>
          </p:spPr>
          <p:txBody>
            <a:bodyPr wrap="none">
              <a:spAutoFit/>
            </a:bodyPr>
            <a:lstStyle/>
            <a:p>
              <a:r>
                <a:rPr lang="en-US" altLang="zh-CN" sz="2800" dirty="0">
                  <a:latin typeface="Times New Roman" panose="02020603050405020304" pitchFamily="18" charset="0"/>
                </a:rPr>
                <a:t>A</a:t>
              </a:r>
            </a:p>
            <a:p>
              <a:r>
                <a:rPr lang="en-US" altLang="zh-CN" sz="2800" dirty="0">
                  <a:latin typeface="Times New Roman" panose="02020603050405020304" pitchFamily="18" charset="0"/>
                </a:rPr>
                <a:t>B</a:t>
              </a:r>
            </a:p>
            <a:p>
              <a:r>
                <a:rPr lang="en-US" altLang="zh-CN" sz="2800" dirty="0">
                  <a:latin typeface="Times New Roman" panose="02020603050405020304" pitchFamily="18" charset="0"/>
                </a:rPr>
                <a:t>C</a:t>
              </a: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69649" name="Text Box 31"/>
            <p:cNvSpPr txBox="1"/>
            <p:nvPr/>
          </p:nvSpPr>
          <p:spPr>
            <a:xfrm>
              <a:off x="2113" y="2646"/>
              <a:ext cx="784" cy="1095"/>
            </a:xfrm>
            <a:prstGeom prst="rect">
              <a:avLst/>
            </a:prstGeom>
            <a:noFill/>
            <a:ln w="19050">
              <a:noFill/>
            </a:ln>
          </p:spPr>
          <p:txBody>
            <a:bodyPr wrap="none">
              <a:spAutoFit/>
            </a:bodyPr>
            <a:lstStyle/>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B/0</a:t>
              </a:r>
            </a:p>
            <a:p>
              <a:r>
                <a:rPr lang="en-US" altLang="zh-CN" sz="2800" dirty="0">
                  <a:latin typeface="Times New Roman" panose="02020603050405020304" pitchFamily="18" charset="0"/>
                </a:rPr>
                <a:t>A/1</a:t>
              </a:r>
            </a:p>
          </p:txBody>
        </p:sp>
        <p:sp>
          <p:nvSpPr>
            <p:cNvPr id="69650" name="Text Box 32"/>
            <p:cNvSpPr txBox="1"/>
            <p:nvPr/>
          </p:nvSpPr>
          <p:spPr>
            <a:xfrm>
              <a:off x="3780" y="2646"/>
              <a:ext cx="784" cy="1095"/>
            </a:xfrm>
            <a:prstGeom prst="rect">
              <a:avLst/>
            </a:prstGeom>
            <a:noFill/>
            <a:ln w="19050">
              <a:noFill/>
            </a:ln>
          </p:spPr>
          <p:txBody>
            <a:bodyPr wrap="none">
              <a:spAutoFit/>
            </a:bodyPr>
            <a:lstStyle/>
            <a:p>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D/0</a:t>
              </a:r>
            </a:p>
            <a:p>
              <a:r>
                <a:rPr lang="en-US" altLang="zh-CN" sz="2800" dirty="0">
                  <a:latin typeface="Times New Roman" panose="02020603050405020304" pitchFamily="18" charset="0"/>
                </a:rPr>
                <a:t>B/1</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ou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9922"/>
                                        </p:tgtEl>
                                        <p:attrNameLst>
                                          <p:attrName>style.visibility</p:attrName>
                                        </p:attrNameLst>
                                      </p:cBhvr>
                                      <p:to>
                                        <p:strVal val="visible"/>
                                      </p:to>
                                    </p:set>
                                    <p:animEffect transition="in" filter="wipe(left)">
                                      <p:cBhvr>
                                        <p:cTn id="12" dur="500"/>
                                        <p:tgtEl>
                                          <p:spTgt spid="209922"/>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09937"/>
                                        </p:tgtEl>
                                        <p:attrNameLst>
                                          <p:attrName>style.visibility</p:attrName>
                                        </p:attrNameLst>
                                      </p:cBhvr>
                                      <p:to>
                                        <p:strVal val="visible"/>
                                      </p:to>
                                    </p:set>
                                    <p:animEffect transition="in" filter="wipe(left)">
                                      <p:cBhvr>
                                        <p:cTn id="23" dur="500"/>
                                        <p:tgtEl>
                                          <p:spTgt spid="2099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2" grpId="0"/>
      <p:bldP spid="209937" grpId="0" bldLvl="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Text Box 2"/>
          <p:cNvSpPr txBox="1">
            <a:spLocks noChangeArrowheads="1"/>
          </p:cNvSpPr>
          <p:nvPr/>
        </p:nvSpPr>
        <p:spPr bwMode="auto">
          <a:xfrm>
            <a:off x="2047875" y="949325"/>
            <a:ext cx="4654550" cy="579438"/>
          </a:xfrm>
          <a:prstGeom prst="rect">
            <a:avLst/>
          </a:prstGeom>
          <a:noFill/>
          <a:ln w="9525">
            <a:noFill/>
            <a:miter lim="800000"/>
          </a:ln>
          <a:effectLst/>
        </p:spPr>
        <p:txBody>
          <a:bodyPr wrap="none">
            <a:spAutoFit/>
          </a:bodyPr>
          <a:lstStyle/>
          <a:p>
            <a:pPr marR="0" defTabSz="914400">
              <a:buClrTx/>
              <a:buSzTx/>
              <a:buFontTx/>
              <a:buNone/>
              <a:defRPr/>
            </a:pPr>
            <a:r>
              <a:rPr kumimoji="1" lang="zh-CN" altLang="zh-CN" sz="32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确定激励函数和输出函数</a:t>
            </a:r>
            <a:endParaRPr kumimoji="1" lang="zh-CN" altLang="en-US" sz="3200" b="1" kern="1200" cap="none" spc="0" normalizeH="0" baseline="0" noProof="0">
              <a:latin typeface="Times New Roman" panose="02020603050405020304" pitchFamily="18" charset="0"/>
              <a:ea typeface="宋体" panose="02010600030101010101" pitchFamily="2" charset="-122"/>
              <a:cs typeface="+mn-cs"/>
            </a:endParaRPr>
          </a:p>
        </p:txBody>
      </p:sp>
      <p:sp>
        <p:nvSpPr>
          <p:cNvPr id="210947" name="Text Box 3"/>
          <p:cNvSpPr txBox="1"/>
          <p:nvPr/>
        </p:nvSpPr>
        <p:spPr>
          <a:xfrm>
            <a:off x="685800" y="1676400"/>
            <a:ext cx="3181350" cy="647700"/>
          </a:xfrm>
          <a:prstGeom prst="rect">
            <a:avLst/>
          </a:prstGeom>
          <a:noFill/>
          <a:ln w="19050">
            <a:noFill/>
          </a:ln>
        </p:spPr>
        <p:txBody>
          <a:bodyPr>
            <a:spAutoFit/>
          </a:bodyPr>
          <a:lstStyle/>
          <a:p>
            <a:pPr algn="just">
              <a:lnSpc>
                <a:spcPct val="130000"/>
              </a:lnSpc>
              <a:spcBef>
                <a:spcPct val="50000"/>
              </a:spcBef>
            </a:pPr>
            <a:r>
              <a:rPr lang="en-US" altLang="zh-CN" sz="2800" b="1" dirty="0">
                <a:latin typeface="Times New Roman" panose="02020603050405020304" pitchFamily="18" charset="0"/>
              </a:rPr>
              <a:t>1. </a:t>
            </a:r>
            <a:r>
              <a:rPr lang="zh-CN" altLang="en-US" sz="2800" b="1" dirty="0">
                <a:latin typeface="Times New Roman" panose="02020603050405020304" pitchFamily="18" charset="0"/>
              </a:rPr>
              <a:t>触发器的激励表</a:t>
            </a:r>
          </a:p>
        </p:txBody>
      </p:sp>
      <p:sp>
        <p:nvSpPr>
          <p:cNvPr id="210948" name="Text Box 4"/>
          <p:cNvSpPr txBox="1"/>
          <p:nvPr/>
        </p:nvSpPr>
        <p:spPr>
          <a:xfrm>
            <a:off x="742950" y="2181225"/>
            <a:ext cx="7791450" cy="3933825"/>
          </a:xfrm>
          <a:prstGeom prst="rect">
            <a:avLst/>
          </a:prstGeom>
          <a:noFill/>
          <a:ln w="19050">
            <a:noFill/>
          </a:ln>
        </p:spPr>
        <p:txBody>
          <a:bodyPr>
            <a:spAutoFit/>
          </a:bodyPr>
          <a:lstStyle/>
          <a:p>
            <a:pPr indent="762000" algn="just">
              <a:lnSpc>
                <a:spcPct val="180000"/>
              </a:lnSpc>
              <a:spcBef>
                <a:spcPct val="50000"/>
              </a:spcBef>
            </a:pPr>
            <a:r>
              <a:rPr lang="zh-CN" altLang="en-US" sz="2800" dirty="0">
                <a:latin typeface="Times New Roman" panose="02020603050405020304" pitchFamily="18" charset="0"/>
              </a:rPr>
              <a:t>触发器的激励表反映触发器从某种现态转换 到某种次态时，对触发器输入</a:t>
            </a:r>
            <a:r>
              <a:rPr lang="en-US" altLang="zh-CN" sz="2800" dirty="0">
                <a:latin typeface="Times New Roman" panose="02020603050405020304" pitchFamily="18" charset="0"/>
              </a:rPr>
              <a:t>(</a:t>
            </a:r>
            <a:r>
              <a:rPr lang="zh-CN" altLang="en-US" sz="2800" dirty="0">
                <a:latin typeface="Times New Roman" panose="02020603050405020304" pitchFamily="18" charset="0"/>
              </a:rPr>
              <a:t>激励</a:t>
            </a:r>
            <a:r>
              <a:rPr lang="en-US" altLang="zh-CN" sz="2800" dirty="0">
                <a:latin typeface="Times New Roman" panose="02020603050405020304" pitchFamily="18" charset="0"/>
              </a:rPr>
              <a:t>)</a:t>
            </a:r>
            <a:r>
              <a:rPr lang="zh-CN" altLang="en-US" sz="2800" dirty="0">
                <a:latin typeface="Times New Roman" panose="02020603050405020304" pitchFamily="18" charset="0"/>
              </a:rPr>
              <a:t>的要求。在这种表中，现态和次态作为自变量，输入</a:t>
            </a:r>
            <a:r>
              <a:rPr lang="en-US" altLang="zh-CN" sz="2800" dirty="0">
                <a:latin typeface="Times New Roman" panose="02020603050405020304" pitchFamily="18" charset="0"/>
              </a:rPr>
              <a:t>(</a:t>
            </a:r>
            <a:r>
              <a:rPr lang="zh-CN" altLang="en-US" sz="2800" dirty="0">
                <a:latin typeface="Times New Roman" panose="02020603050405020304" pitchFamily="18" charset="0"/>
              </a:rPr>
              <a:t>激励</a:t>
            </a:r>
            <a:r>
              <a:rPr lang="en-US" altLang="zh-CN" sz="2800" dirty="0">
                <a:latin typeface="Times New Roman" panose="02020603050405020304" pitchFamily="18" charset="0"/>
              </a:rPr>
              <a:t>)</a:t>
            </a:r>
            <a:r>
              <a:rPr lang="zh-CN" altLang="en-US" sz="2800" dirty="0">
                <a:latin typeface="Times New Roman" panose="02020603050405020304" pitchFamily="18" charset="0"/>
              </a:rPr>
              <a:t>作为因变量。触发器的激励表可由触发器的状态表直接推出。</a:t>
            </a:r>
            <a:endParaRPr lang="zh-CN" altLang="en-US" sz="2800" dirty="0">
              <a:latin typeface="Times New Roman" panose="02020603050405020304" pitchFamily="18" charset="0"/>
              <a:sym typeface="Monotype Sorts"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0947"/>
                                        </p:tgtEl>
                                        <p:attrNameLst>
                                          <p:attrName>style.visibility</p:attrName>
                                        </p:attrNameLst>
                                      </p:cBhvr>
                                      <p:to>
                                        <p:strVal val="visible"/>
                                      </p:to>
                                    </p:set>
                                    <p:animEffect transition="in" filter="wipe(left)">
                                      <p:cBhvr>
                                        <p:cTn id="7" dur="500"/>
                                        <p:tgtEl>
                                          <p:spTgt spid="2109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0948"/>
                                        </p:tgtEl>
                                        <p:attrNameLst>
                                          <p:attrName>style.visibility</p:attrName>
                                        </p:attrNameLst>
                                      </p:cBhvr>
                                      <p:to>
                                        <p:strVal val="visible"/>
                                      </p:to>
                                    </p:set>
                                    <p:animEffect transition="in" filter="wipe(left)">
                                      <p:cBhvr>
                                        <p:cTn id="12" dur="500"/>
                                        <p:tgtEl>
                                          <p:spTgt spid="210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7" grpId="0"/>
      <p:bldP spid="210948"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4850" y="2305050"/>
            <a:ext cx="3581400" cy="3238500"/>
            <a:chOff x="348" y="912"/>
            <a:chExt cx="2256" cy="2040"/>
          </a:xfrm>
        </p:grpSpPr>
        <p:sp>
          <p:nvSpPr>
            <p:cNvPr id="71694" name="Line 3"/>
            <p:cNvSpPr/>
            <p:nvPr/>
          </p:nvSpPr>
          <p:spPr>
            <a:xfrm>
              <a:off x="348" y="912"/>
              <a:ext cx="2256" cy="0"/>
            </a:xfrm>
            <a:prstGeom prst="line">
              <a:avLst/>
            </a:prstGeom>
            <a:ln w="38100" cap="flat" cmpd="sng">
              <a:solidFill>
                <a:schemeClr val="tx1"/>
              </a:solidFill>
              <a:prstDash val="solid"/>
              <a:headEnd type="none" w="med" len="med"/>
              <a:tailEnd type="none" w="sm" len="lg"/>
            </a:ln>
          </p:spPr>
        </p:sp>
        <p:sp>
          <p:nvSpPr>
            <p:cNvPr id="71695" name="Line 4"/>
            <p:cNvSpPr/>
            <p:nvPr/>
          </p:nvSpPr>
          <p:spPr>
            <a:xfrm>
              <a:off x="348" y="2952"/>
              <a:ext cx="2256" cy="0"/>
            </a:xfrm>
            <a:prstGeom prst="line">
              <a:avLst/>
            </a:prstGeom>
            <a:ln w="38100" cap="flat" cmpd="sng">
              <a:solidFill>
                <a:schemeClr val="tx1"/>
              </a:solidFill>
              <a:prstDash val="solid"/>
              <a:headEnd type="none" w="med" len="med"/>
              <a:tailEnd type="none" w="sm" len="lg"/>
            </a:ln>
          </p:spPr>
        </p:sp>
        <p:sp>
          <p:nvSpPr>
            <p:cNvPr id="71696" name="Line 5"/>
            <p:cNvSpPr/>
            <p:nvPr/>
          </p:nvSpPr>
          <p:spPr>
            <a:xfrm>
              <a:off x="348" y="1344"/>
              <a:ext cx="2256" cy="0"/>
            </a:xfrm>
            <a:prstGeom prst="line">
              <a:avLst/>
            </a:prstGeom>
            <a:ln w="19050" cap="flat" cmpd="sng">
              <a:solidFill>
                <a:schemeClr val="tx1"/>
              </a:solidFill>
              <a:prstDash val="solid"/>
              <a:headEnd type="none" w="med" len="med"/>
              <a:tailEnd type="none" w="sm" len="lg"/>
            </a:ln>
          </p:spPr>
        </p:sp>
        <p:sp>
          <p:nvSpPr>
            <p:cNvPr id="71697" name="Line 6"/>
            <p:cNvSpPr/>
            <p:nvPr/>
          </p:nvSpPr>
          <p:spPr>
            <a:xfrm>
              <a:off x="1476" y="912"/>
              <a:ext cx="0" cy="2040"/>
            </a:xfrm>
            <a:prstGeom prst="line">
              <a:avLst/>
            </a:prstGeom>
            <a:ln w="19050" cap="flat" cmpd="sng">
              <a:solidFill>
                <a:schemeClr val="tx1"/>
              </a:solidFill>
              <a:prstDash val="solid"/>
              <a:headEnd type="none" w="med" len="med"/>
              <a:tailEnd type="none" w="sm" len="lg"/>
            </a:ln>
          </p:spPr>
        </p:sp>
        <p:sp>
          <p:nvSpPr>
            <p:cNvPr id="71698" name="Text Box 7"/>
            <p:cNvSpPr txBox="1"/>
            <p:nvPr/>
          </p:nvSpPr>
          <p:spPr>
            <a:xfrm>
              <a:off x="506" y="966"/>
              <a:ext cx="1004" cy="327"/>
            </a:xfrm>
            <a:prstGeom prst="rect">
              <a:avLst/>
            </a:prstGeom>
            <a:noFill/>
            <a:ln w="19050">
              <a:noFill/>
            </a:ln>
          </p:spPr>
          <p:txBody>
            <a:bodyPr wrap="none">
              <a:spAutoFit/>
            </a:bodyPr>
            <a:lstStyle/>
            <a:p>
              <a:r>
                <a:rPr lang="en-US" altLang="zh-CN" sz="2800" dirty="0">
                  <a:latin typeface="Times New Roman" panose="02020603050405020304" pitchFamily="18" charset="0"/>
                </a:rPr>
                <a:t>Q    </a:t>
              </a:r>
              <a:r>
                <a:rPr lang="en-US" altLang="zh-CN" sz="2800" dirty="0">
                  <a:latin typeface="Times New Roman" panose="02020603050405020304" pitchFamily="18" charset="0"/>
                  <a:sym typeface="Monotype Sorts" pitchFamily="2" charset="2"/>
                </a:rPr>
                <a:t>Q</a:t>
              </a:r>
              <a:r>
                <a:rPr lang="en-US" altLang="zh-CN" sz="2800" baseline="30000" dirty="0">
                  <a:latin typeface="Times New Roman" panose="02020603050405020304" pitchFamily="18" charset="0"/>
                  <a:sym typeface="Monotype Sorts" pitchFamily="2" charset="2"/>
                </a:rPr>
                <a:t>(n+1)</a:t>
              </a:r>
            </a:p>
          </p:txBody>
        </p:sp>
        <p:sp>
          <p:nvSpPr>
            <p:cNvPr id="71699" name="Text Box 8"/>
            <p:cNvSpPr txBox="1"/>
            <p:nvPr/>
          </p:nvSpPr>
          <p:spPr>
            <a:xfrm>
              <a:off x="1718" y="966"/>
              <a:ext cx="661" cy="327"/>
            </a:xfrm>
            <a:prstGeom prst="rect">
              <a:avLst/>
            </a:prstGeom>
            <a:noFill/>
            <a:ln w="19050">
              <a:noFill/>
            </a:ln>
          </p:spPr>
          <p:txBody>
            <a:bodyPr wrap="none">
              <a:spAutoFit/>
            </a:bodyPr>
            <a:lstStyle/>
            <a:p>
              <a:pPr defTabSz="666750"/>
              <a:r>
                <a:rPr lang="en-US" altLang="zh-CN" sz="2800" dirty="0">
                  <a:latin typeface="Times New Roman" panose="02020603050405020304" pitchFamily="18" charset="0"/>
                </a:rPr>
                <a:t>R	S</a:t>
              </a:r>
            </a:p>
          </p:txBody>
        </p:sp>
        <p:sp>
          <p:nvSpPr>
            <p:cNvPr id="71700" name="Text Box 9"/>
            <p:cNvSpPr txBox="1"/>
            <p:nvPr/>
          </p:nvSpPr>
          <p:spPr>
            <a:xfrm>
              <a:off x="1706" y="1369"/>
              <a:ext cx="648" cy="1458"/>
            </a:xfrm>
            <a:prstGeom prst="rect">
              <a:avLst/>
            </a:prstGeom>
            <a:noFill/>
            <a:ln w="19050">
              <a:noFill/>
            </a:ln>
          </p:spPr>
          <p:txBody>
            <a:bodyPr wrap="none">
              <a:spAutoFit/>
            </a:bodyPr>
            <a:lstStyle/>
            <a:p>
              <a:pPr defTabSz="666750">
                <a:lnSpc>
                  <a:spcPct val="130000"/>
                </a:lnSpc>
              </a:pPr>
              <a:r>
                <a:rPr lang="en-US" altLang="zh-CN" sz="2800" dirty="0">
                  <a:latin typeface="Times New Roman" panose="02020603050405020304" pitchFamily="18" charset="0"/>
                </a:rPr>
                <a:t>d	0</a:t>
              </a:r>
            </a:p>
            <a:p>
              <a:pPr defTabSz="666750">
                <a:lnSpc>
                  <a:spcPct val="130000"/>
                </a:lnSpc>
              </a:pPr>
              <a:r>
                <a:rPr lang="en-US" altLang="zh-CN" sz="2800" dirty="0">
                  <a:latin typeface="Times New Roman" panose="02020603050405020304" pitchFamily="18" charset="0"/>
                </a:rPr>
                <a:t>0	1</a:t>
              </a:r>
            </a:p>
            <a:p>
              <a:pPr defTabSz="666750">
                <a:lnSpc>
                  <a:spcPct val="130000"/>
                </a:lnSpc>
              </a:pPr>
              <a:r>
                <a:rPr lang="en-US" altLang="zh-CN" sz="2800" dirty="0">
                  <a:latin typeface="Times New Roman" panose="02020603050405020304" pitchFamily="18" charset="0"/>
                </a:rPr>
                <a:t>1	0</a:t>
              </a:r>
            </a:p>
            <a:p>
              <a:pPr defTabSz="666750">
                <a:lnSpc>
                  <a:spcPct val="130000"/>
                </a:lnSpc>
              </a:pPr>
              <a:r>
                <a:rPr lang="en-US" altLang="zh-CN" sz="2800" dirty="0">
                  <a:latin typeface="Times New Roman" panose="02020603050405020304" pitchFamily="18" charset="0"/>
                </a:rPr>
                <a:t>0	d</a:t>
              </a:r>
            </a:p>
          </p:txBody>
        </p:sp>
        <p:sp>
          <p:nvSpPr>
            <p:cNvPr id="71701" name="Text Box 10"/>
            <p:cNvSpPr txBox="1"/>
            <p:nvPr/>
          </p:nvSpPr>
          <p:spPr>
            <a:xfrm>
              <a:off x="566" y="1345"/>
              <a:ext cx="648" cy="1458"/>
            </a:xfrm>
            <a:prstGeom prst="rect">
              <a:avLst/>
            </a:prstGeom>
            <a:noFill/>
            <a:ln w="19050">
              <a:noFill/>
            </a:ln>
          </p:spPr>
          <p:txBody>
            <a:bodyPr wrap="none">
              <a:spAutoFit/>
            </a:bodyPr>
            <a:lstStyle/>
            <a:p>
              <a:pPr defTabSz="666750">
                <a:lnSpc>
                  <a:spcPct val="130000"/>
                </a:lnSpc>
              </a:pPr>
              <a:r>
                <a:rPr lang="en-US" altLang="zh-CN" sz="2800" dirty="0">
                  <a:latin typeface="Times New Roman" panose="02020603050405020304" pitchFamily="18" charset="0"/>
                </a:rPr>
                <a:t>0	0</a:t>
              </a:r>
            </a:p>
            <a:p>
              <a:pPr defTabSz="666750">
                <a:lnSpc>
                  <a:spcPct val="130000"/>
                </a:lnSpc>
              </a:pPr>
              <a:r>
                <a:rPr lang="en-US" altLang="zh-CN" sz="2800" dirty="0">
                  <a:latin typeface="Times New Roman" panose="02020603050405020304" pitchFamily="18" charset="0"/>
                </a:rPr>
                <a:t>0	1</a:t>
              </a:r>
            </a:p>
            <a:p>
              <a:pPr defTabSz="666750">
                <a:lnSpc>
                  <a:spcPct val="130000"/>
                </a:lnSpc>
              </a:pPr>
              <a:r>
                <a:rPr lang="en-US" altLang="zh-CN" sz="2800" dirty="0">
                  <a:latin typeface="Times New Roman" panose="02020603050405020304" pitchFamily="18" charset="0"/>
                </a:rPr>
                <a:t>1	0</a:t>
              </a:r>
            </a:p>
            <a:p>
              <a:pPr defTabSz="666750">
                <a:lnSpc>
                  <a:spcPct val="130000"/>
                </a:lnSpc>
              </a:pPr>
              <a:r>
                <a:rPr lang="en-US" altLang="zh-CN" sz="2800" dirty="0">
                  <a:latin typeface="Times New Roman" panose="02020603050405020304" pitchFamily="18" charset="0"/>
                </a:rPr>
                <a:t>1	1</a:t>
              </a:r>
            </a:p>
          </p:txBody>
        </p:sp>
      </p:grpSp>
      <p:grpSp>
        <p:nvGrpSpPr>
          <p:cNvPr id="3" name="Group 11"/>
          <p:cNvGrpSpPr/>
          <p:nvPr/>
        </p:nvGrpSpPr>
        <p:grpSpPr>
          <a:xfrm>
            <a:off x="4743450" y="2305050"/>
            <a:ext cx="3581400" cy="3238500"/>
            <a:chOff x="2988" y="1044"/>
            <a:chExt cx="2256" cy="2040"/>
          </a:xfrm>
        </p:grpSpPr>
        <p:sp>
          <p:nvSpPr>
            <p:cNvPr id="71686" name="Line 12"/>
            <p:cNvSpPr/>
            <p:nvPr/>
          </p:nvSpPr>
          <p:spPr>
            <a:xfrm>
              <a:off x="2988" y="1044"/>
              <a:ext cx="2256" cy="0"/>
            </a:xfrm>
            <a:prstGeom prst="line">
              <a:avLst/>
            </a:prstGeom>
            <a:ln w="38100" cap="flat" cmpd="sng">
              <a:solidFill>
                <a:schemeClr val="tx1"/>
              </a:solidFill>
              <a:prstDash val="solid"/>
              <a:headEnd type="none" w="med" len="med"/>
              <a:tailEnd type="none" w="sm" len="lg"/>
            </a:ln>
          </p:spPr>
        </p:sp>
        <p:sp>
          <p:nvSpPr>
            <p:cNvPr id="71687" name="Line 13"/>
            <p:cNvSpPr/>
            <p:nvPr/>
          </p:nvSpPr>
          <p:spPr>
            <a:xfrm>
              <a:off x="2988" y="3084"/>
              <a:ext cx="2256" cy="0"/>
            </a:xfrm>
            <a:prstGeom prst="line">
              <a:avLst/>
            </a:prstGeom>
            <a:ln w="38100" cap="flat" cmpd="sng">
              <a:solidFill>
                <a:schemeClr val="tx1"/>
              </a:solidFill>
              <a:prstDash val="solid"/>
              <a:headEnd type="none" w="med" len="med"/>
              <a:tailEnd type="none" w="sm" len="lg"/>
            </a:ln>
          </p:spPr>
        </p:sp>
        <p:sp>
          <p:nvSpPr>
            <p:cNvPr id="71688" name="Line 14"/>
            <p:cNvSpPr/>
            <p:nvPr/>
          </p:nvSpPr>
          <p:spPr>
            <a:xfrm>
              <a:off x="2988" y="1476"/>
              <a:ext cx="2256" cy="0"/>
            </a:xfrm>
            <a:prstGeom prst="line">
              <a:avLst/>
            </a:prstGeom>
            <a:ln w="19050" cap="flat" cmpd="sng">
              <a:solidFill>
                <a:schemeClr val="tx1"/>
              </a:solidFill>
              <a:prstDash val="solid"/>
              <a:headEnd type="none" w="med" len="med"/>
              <a:tailEnd type="none" w="sm" len="lg"/>
            </a:ln>
          </p:spPr>
        </p:sp>
        <p:sp>
          <p:nvSpPr>
            <p:cNvPr id="71689" name="Line 15"/>
            <p:cNvSpPr/>
            <p:nvPr/>
          </p:nvSpPr>
          <p:spPr>
            <a:xfrm>
              <a:off x="4116" y="1044"/>
              <a:ext cx="0" cy="2040"/>
            </a:xfrm>
            <a:prstGeom prst="line">
              <a:avLst/>
            </a:prstGeom>
            <a:ln w="19050" cap="flat" cmpd="sng">
              <a:solidFill>
                <a:schemeClr val="tx1"/>
              </a:solidFill>
              <a:prstDash val="solid"/>
              <a:headEnd type="none" w="med" len="med"/>
              <a:tailEnd type="none" w="sm" len="lg"/>
            </a:ln>
          </p:spPr>
        </p:sp>
        <p:sp>
          <p:nvSpPr>
            <p:cNvPr id="71690" name="Text Box 16"/>
            <p:cNvSpPr txBox="1"/>
            <p:nvPr/>
          </p:nvSpPr>
          <p:spPr>
            <a:xfrm>
              <a:off x="3146" y="1098"/>
              <a:ext cx="1004" cy="327"/>
            </a:xfrm>
            <a:prstGeom prst="rect">
              <a:avLst/>
            </a:prstGeom>
            <a:noFill/>
            <a:ln w="19050">
              <a:noFill/>
            </a:ln>
          </p:spPr>
          <p:txBody>
            <a:bodyPr wrap="none">
              <a:spAutoFit/>
            </a:bodyPr>
            <a:lstStyle/>
            <a:p>
              <a:r>
                <a:rPr lang="en-US" altLang="zh-CN" sz="2800" dirty="0">
                  <a:latin typeface="Times New Roman" panose="02020603050405020304" pitchFamily="18" charset="0"/>
                </a:rPr>
                <a:t>Q    </a:t>
              </a:r>
              <a:r>
                <a:rPr lang="en-US" altLang="zh-CN" sz="2800" dirty="0">
                  <a:latin typeface="Times New Roman" panose="02020603050405020304" pitchFamily="18" charset="0"/>
                  <a:sym typeface="Monotype Sorts" pitchFamily="2" charset="2"/>
                </a:rPr>
                <a:t>Q</a:t>
              </a:r>
              <a:r>
                <a:rPr lang="en-US" altLang="zh-CN" sz="2800" baseline="30000" dirty="0">
                  <a:latin typeface="Times New Roman" panose="02020603050405020304" pitchFamily="18" charset="0"/>
                  <a:sym typeface="Monotype Sorts" pitchFamily="2" charset="2"/>
                </a:rPr>
                <a:t>(n+1)</a:t>
              </a:r>
            </a:p>
          </p:txBody>
        </p:sp>
        <p:sp>
          <p:nvSpPr>
            <p:cNvPr id="71691" name="Text Box 17"/>
            <p:cNvSpPr txBox="1"/>
            <p:nvPr/>
          </p:nvSpPr>
          <p:spPr>
            <a:xfrm>
              <a:off x="4562" y="1098"/>
              <a:ext cx="278" cy="327"/>
            </a:xfrm>
            <a:prstGeom prst="rect">
              <a:avLst/>
            </a:prstGeom>
            <a:noFill/>
            <a:ln w="19050">
              <a:noFill/>
            </a:ln>
          </p:spPr>
          <p:txBody>
            <a:bodyPr wrap="none">
              <a:spAutoFit/>
            </a:bodyPr>
            <a:lstStyle/>
            <a:p>
              <a:pPr defTabSz="666750"/>
              <a:r>
                <a:rPr lang="en-US" altLang="zh-CN" sz="2800" dirty="0">
                  <a:latin typeface="Times New Roman" panose="02020603050405020304" pitchFamily="18" charset="0"/>
                </a:rPr>
                <a:t>D</a:t>
              </a:r>
            </a:p>
          </p:txBody>
        </p:sp>
        <p:sp>
          <p:nvSpPr>
            <p:cNvPr id="71692" name="Text Box 18"/>
            <p:cNvSpPr txBox="1"/>
            <p:nvPr/>
          </p:nvSpPr>
          <p:spPr>
            <a:xfrm>
              <a:off x="4598" y="1501"/>
              <a:ext cx="228" cy="1458"/>
            </a:xfrm>
            <a:prstGeom prst="rect">
              <a:avLst/>
            </a:prstGeom>
            <a:noFill/>
            <a:ln w="19050">
              <a:noFill/>
            </a:ln>
          </p:spPr>
          <p:txBody>
            <a:bodyPr wrap="none">
              <a:spAutoFit/>
            </a:bodyPr>
            <a:lstStyle/>
            <a:p>
              <a:pPr defTabSz="666750">
                <a:lnSpc>
                  <a:spcPct val="130000"/>
                </a:lnSpc>
              </a:pPr>
              <a:r>
                <a:rPr lang="en-US" altLang="zh-CN" sz="2800" dirty="0">
                  <a:latin typeface="Times New Roman" panose="02020603050405020304" pitchFamily="18" charset="0"/>
                </a:rPr>
                <a:t>0</a:t>
              </a:r>
            </a:p>
            <a:p>
              <a:pPr defTabSz="666750">
                <a:lnSpc>
                  <a:spcPct val="130000"/>
                </a:lnSpc>
              </a:pPr>
              <a:r>
                <a:rPr lang="en-US" altLang="zh-CN" sz="2800" dirty="0">
                  <a:latin typeface="Times New Roman" panose="02020603050405020304" pitchFamily="18" charset="0"/>
                </a:rPr>
                <a:t>1</a:t>
              </a:r>
            </a:p>
            <a:p>
              <a:pPr defTabSz="666750">
                <a:lnSpc>
                  <a:spcPct val="130000"/>
                </a:lnSpc>
              </a:pPr>
              <a:r>
                <a:rPr lang="en-US" altLang="zh-CN" sz="2800" dirty="0">
                  <a:latin typeface="Times New Roman" panose="02020603050405020304" pitchFamily="18" charset="0"/>
                </a:rPr>
                <a:t>0</a:t>
              </a:r>
            </a:p>
            <a:p>
              <a:pPr defTabSz="666750">
                <a:lnSpc>
                  <a:spcPct val="130000"/>
                </a:lnSpc>
              </a:pPr>
              <a:r>
                <a:rPr lang="en-US" altLang="zh-CN" sz="2800" dirty="0">
                  <a:latin typeface="Times New Roman" panose="02020603050405020304" pitchFamily="18" charset="0"/>
                </a:rPr>
                <a:t>1</a:t>
              </a:r>
            </a:p>
          </p:txBody>
        </p:sp>
        <p:sp>
          <p:nvSpPr>
            <p:cNvPr id="71693" name="Text Box 19"/>
            <p:cNvSpPr txBox="1"/>
            <p:nvPr/>
          </p:nvSpPr>
          <p:spPr>
            <a:xfrm>
              <a:off x="3206" y="1477"/>
              <a:ext cx="648" cy="1458"/>
            </a:xfrm>
            <a:prstGeom prst="rect">
              <a:avLst/>
            </a:prstGeom>
            <a:noFill/>
            <a:ln w="19050">
              <a:noFill/>
            </a:ln>
          </p:spPr>
          <p:txBody>
            <a:bodyPr wrap="none">
              <a:spAutoFit/>
            </a:bodyPr>
            <a:lstStyle/>
            <a:p>
              <a:pPr defTabSz="666750">
                <a:lnSpc>
                  <a:spcPct val="130000"/>
                </a:lnSpc>
              </a:pPr>
              <a:r>
                <a:rPr lang="en-US" altLang="zh-CN" sz="2800" dirty="0">
                  <a:latin typeface="Times New Roman" panose="02020603050405020304" pitchFamily="18" charset="0"/>
                </a:rPr>
                <a:t>0	0</a:t>
              </a:r>
            </a:p>
            <a:p>
              <a:pPr defTabSz="666750">
                <a:lnSpc>
                  <a:spcPct val="130000"/>
                </a:lnSpc>
              </a:pPr>
              <a:r>
                <a:rPr lang="en-US" altLang="zh-CN" sz="2800" dirty="0">
                  <a:latin typeface="Times New Roman" panose="02020603050405020304" pitchFamily="18" charset="0"/>
                </a:rPr>
                <a:t>0	1</a:t>
              </a:r>
            </a:p>
            <a:p>
              <a:pPr defTabSz="666750">
                <a:lnSpc>
                  <a:spcPct val="130000"/>
                </a:lnSpc>
              </a:pPr>
              <a:r>
                <a:rPr lang="en-US" altLang="zh-CN" sz="2800" dirty="0">
                  <a:latin typeface="Times New Roman" panose="02020603050405020304" pitchFamily="18" charset="0"/>
                </a:rPr>
                <a:t>1	0</a:t>
              </a:r>
            </a:p>
            <a:p>
              <a:pPr defTabSz="666750">
                <a:lnSpc>
                  <a:spcPct val="130000"/>
                </a:lnSpc>
              </a:pPr>
              <a:r>
                <a:rPr lang="en-US" altLang="zh-CN" sz="2800" dirty="0">
                  <a:latin typeface="Times New Roman" panose="02020603050405020304" pitchFamily="18" charset="0"/>
                </a:rPr>
                <a:t>1	1</a:t>
              </a:r>
            </a:p>
          </p:txBody>
        </p:sp>
      </p:grpSp>
      <p:sp>
        <p:nvSpPr>
          <p:cNvPr id="211988" name="Text Box 20"/>
          <p:cNvSpPr txBox="1"/>
          <p:nvPr/>
        </p:nvSpPr>
        <p:spPr>
          <a:xfrm>
            <a:off x="1089025" y="1514475"/>
            <a:ext cx="2859088" cy="519113"/>
          </a:xfrm>
          <a:prstGeom prst="rect">
            <a:avLst/>
          </a:prstGeom>
          <a:noFill/>
          <a:ln w="19050">
            <a:noFill/>
          </a:ln>
        </p:spPr>
        <p:txBody>
          <a:bodyPr wrap="none">
            <a:spAutoFit/>
          </a:bodyPr>
          <a:lstStyle/>
          <a:p>
            <a:r>
              <a:rPr lang="en-US" altLang="zh-CN" sz="2800" dirty="0">
                <a:latin typeface="Times New Roman" panose="02020603050405020304" pitchFamily="18" charset="0"/>
              </a:rPr>
              <a:t>R-S</a:t>
            </a:r>
            <a:r>
              <a:rPr lang="zh-CN" altLang="zh-CN" sz="2800" dirty="0">
                <a:latin typeface="Times New Roman" panose="02020603050405020304" pitchFamily="18" charset="0"/>
              </a:rPr>
              <a:t>触发器激励表</a:t>
            </a:r>
          </a:p>
        </p:txBody>
      </p:sp>
      <p:sp>
        <p:nvSpPr>
          <p:cNvPr id="211989" name="Text Box 21"/>
          <p:cNvSpPr txBox="1"/>
          <p:nvPr/>
        </p:nvSpPr>
        <p:spPr>
          <a:xfrm>
            <a:off x="5222875" y="1514475"/>
            <a:ext cx="2562225" cy="519113"/>
          </a:xfrm>
          <a:prstGeom prst="rect">
            <a:avLst/>
          </a:prstGeom>
          <a:noFill/>
          <a:ln w="19050">
            <a:noFill/>
          </a:ln>
        </p:spPr>
        <p:txBody>
          <a:bodyPr wrap="none">
            <a:spAutoFit/>
          </a:bodyPr>
          <a:lstStyle/>
          <a:p>
            <a:r>
              <a:rPr lang="en-US" altLang="zh-CN" sz="2800" dirty="0">
                <a:latin typeface="Times New Roman" panose="02020603050405020304" pitchFamily="18" charset="0"/>
              </a:rPr>
              <a:t>D</a:t>
            </a:r>
            <a:r>
              <a:rPr lang="zh-CN" altLang="zh-CN" sz="2800" dirty="0">
                <a:latin typeface="Times New Roman" panose="02020603050405020304" pitchFamily="18" charset="0"/>
              </a:rPr>
              <a:t>触发器激励表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1988"/>
                                        </p:tgtEl>
                                        <p:attrNameLst>
                                          <p:attrName>style.visibility</p:attrName>
                                        </p:attrNameLst>
                                      </p:cBhvr>
                                      <p:to>
                                        <p:strVal val="visible"/>
                                      </p:to>
                                    </p:set>
                                    <p:animEffect transition="in" filter="wipe(left)">
                                      <p:cBhvr>
                                        <p:cTn id="7" dur="500"/>
                                        <p:tgtEl>
                                          <p:spTgt spid="211988"/>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1989"/>
                                        </p:tgtEl>
                                        <p:attrNameLst>
                                          <p:attrName>style.visibility</p:attrName>
                                        </p:attrNameLst>
                                      </p:cBhvr>
                                      <p:to>
                                        <p:strVal val="visible"/>
                                      </p:to>
                                    </p:set>
                                    <p:animEffect transition="in" filter="wipe(left)">
                                      <p:cBhvr>
                                        <p:cTn id="18" dur="500"/>
                                        <p:tgtEl>
                                          <p:spTgt spid="211989"/>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500" fill="hold"/>
                                        <p:tgtEl>
                                          <p:spTgt spid="3"/>
                                        </p:tgtEl>
                                        <p:attrNameLst>
                                          <p:attrName>ppt_w</p:attrName>
                                        </p:attrNameLst>
                                      </p:cBhvr>
                                      <p:tavLst>
                                        <p:tav tm="0">
                                          <p:val>
                                            <p:fltVal val="0"/>
                                          </p:val>
                                        </p:tav>
                                        <p:tav tm="100000">
                                          <p:val>
                                            <p:strVal val="#ppt_w"/>
                                          </p:val>
                                        </p:tav>
                                      </p:tavLst>
                                    </p:anim>
                                    <p:anim calcmode="lin" valueType="num">
                                      <p:cBhvr>
                                        <p:cTn id="24" dur="500" fill="hold"/>
                                        <p:tgtEl>
                                          <p:spTgt spid="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88" grpId="0"/>
      <p:bldP spid="211989"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4850" y="2171700"/>
            <a:ext cx="3581400" cy="3238500"/>
            <a:chOff x="348" y="912"/>
            <a:chExt cx="2256" cy="2040"/>
          </a:xfrm>
        </p:grpSpPr>
        <p:sp>
          <p:nvSpPr>
            <p:cNvPr id="72718" name="Line 3"/>
            <p:cNvSpPr/>
            <p:nvPr/>
          </p:nvSpPr>
          <p:spPr>
            <a:xfrm>
              <a:off x="348" y="912"/>
              <a:ext cx="2256" cy="0"/>
            </a:xfrm>
            <a:prstGeom prst="line">
              <a:avLst/>
            </a:prstGeom>
            <a:ln w="38100" cap="flat" cmpd="sng">
              <a:solidFill>
                <a:schemeClr val="tx1"/>
              </a:solidFill>
              <a:prstDash val="solid"/>
              <a:headEnd type="none" w="med" len="med"/>
              <a:tailEnd type="none" w="sm" len="lg"/>
            </a:ln>
          </p:spPr>
        </p:sp>
        <p:sp>
          <p:nvSpPr>
            <p:cNvPr id="72719" name="Line 4"/>
            <p:cNvSpPr/>
            <p:nvPr/>
          </p:nvSpPr>
          <p:spPr>
            <a:xfrm>
              <a:off x="348" y="2952"/>
              <a:ext cx="2256" cy="0"/>
            </a:xfrm>
            <a:prstGeom prst="line">
              <a:avLst/>
            </a:prstGeom>
            <a:ln w="38100" cap="flat" cmpd="sng">
              <a:solidFill>
                <a:schemeClr val="tx1"/>
              </a:solidFill>
              <a:prstDash val="solid"/>
              <a:headEnd type="none" w="med" len="med"/>
              <a:tailEnd type="none" w="sm" len="lg"/>
            </a:ln>
          </p:spPr>
        </p:sp>
        <p:sp>
          <p:nvSpPr>
            <p:cNvPr id="72720" name="Line 5"/>
            <p:cNvSpPr/>
            <p:nvPr/>
          </p:nvSpPr>
          <p:spPr>
            <a:xfrm>
              <a:off x="348" y="1344"/>
              <a:ext cx="2256" cy="0"/>
            </a:xfrm>
            <a:prstGeom prst="line">
              <a:avLst/>
            </a:prstGeom>
            <a:ln w="19050" cap="flat" cmpd="sng">
              <a:solidFill>
                <a:schemeClr val="tx1"/>
              </a:solidFill>
              <a:prstDash val="solid"/>
              <a:headEnd type="none" w="med" len="med"/>
              <a:tailEnd type="none" w="sm" len="lg"/>
            </a:ln>
          </p:spPr>
        </p:sp>
        <p:sp>
          <p:nvSpPr>
            <p:cNvPr id="72721" name="Line 6"/>
            <p:cNvSpPr/>
            <p:nvPr/>
          </p:nvSpPr>
          <p:spPr>
            <a:xfrm>
              <a:off x="1476" y="912"/>
              <a:ext cx="0" cy="2040"/>
            </a:xfrm>
            <a:prstGeom prst="line">
              <a:avLst/>
            </a:prstGeom>
            <a:ln w="19050" cap="flat" cmpd="sng">
              <a:solidFill>
                <a:schemeClr val="tx1"/>
              </a:solidFill>
              <a:prstDash val="solid"/>
              <a:headEnd type="none" w="med" len="med"/>
              <a:tailEnd type="none" w="sm" len="lg"/>
            </a:ln>
          </p:spPr>
        </p:sp>
        <p:sp>
          <p:nvSpPr>
            <p:cNvPr id="72722" name="Text Box 7"/>
            <p:cNvSpPr txBox="1"/>
            <p:nvPr/>
          </p:nvSpPr>
          <p:spPr>
            <a:xfrm>
              <a:off x="506" y="966"/>
              <a:ext cx="1004" cy="327"/>
            </a:xfrm>
            <a:prstGeom prst="rect">
              <a:avLst/>
            </a:prstGeom>
            <a:noFill/>
            <a:ln w="19050">
              <a:noFill/>
            </a:ln>
          </p:spPr>
          <p:txBody>
            <a:bodyPr wrap="none">
              <a:spAutoFit/>
            </a:bodyPr>
            <a:lstStyle/>
            <a:p>
              <a:r>
                <a:rPr lang="en-US" altLang="zh-CN" sz="2800" dirty="0">
                  <a:latin typeface="Times New Roman" panose="02020603050405020304" pitchFamily="18" charset="0"/>
                </a:rPr>
                <a:t>Q    </a:t>
              </a:r>
              <a:r>
                <a:rPr lang="en-US" altLang="zh-CN" sz="2800" dirty="0">
                  <a:latin typeface="Times New Roman" panose="02020603050405020304" pitchFamily="18" charset="0"/>
                  <a:sym typeface="Monotype Sorts" pitchFamily="2" charset="2"/>
                </a:rPr>
                <a:t>Q</a:t>
              </a:r>
              <a:r>
                <a:rPr lang="en-US" altLang="zh-CN" sz="2800" baseline="30000" dirty="0">
                  <a:latin typeface="Times New Roman" panose="02020603050405020304" pitchFamily="18" charset="0"/>
                  <a:sym typeface="Monotype Sorts" pitchFamily="2" charset="2"/>
                </a:rPr>
                <a:t>(n+1)</a:t>
              </a:r>
            </a:p>
          </p:txBody>
        </p:sp>
        <p:sp>
          <p:nvSpPr>
            <p:cNvPr id="72723" name="Text Box 8"/>
            <p:cNvSpPr txBox="1"/>
            <p:nvPr/>
          </p:nvSpPr>
          <p:spPr>
            <a:xfrm>
              <a:off x="1718" y="966"/>
              <a:ext cx="698" cy="327"/>
            </a:xfrm>
            <a:prstGeom prst="rect">
              <a:avLst/>
            </a:prstGeom>
            <a:noFill/>
            <a:ln w="19050">
              <a:noFill/>
            </a:ln>
          </p:spPr>
          <p:txBody>
            <a:bodyPr wrap="none">
              <a:spAutoFit/>
            </a:bodyPr>
            <a:lstStyle/>
            <a:p>
              <a:pPr defTabSz="666750"/>
              <a:r>
                <a:rPr lang="en-US" altLang="zh-CN" sz="2800" dirty="0">
                  <a:latin typeface="Times New Roman" panose="02020603050405020304" pitchFamily="18" charset="0"/>
                </a:rPr>
                <a:t>J	K</a:t>
              </a:r>
            </a:p>
          </p:txBody>
        </p:sp>
        <p:sp>
          <p:nvSpPr>
            <p:cNvPr id="72724" name="Text Box 9"/>
            <p:cNvSpPr txBox="1"/>
            <p:nvPr/>
          </p:nvSpPr>
          <p:spPr>
            <a:xfrm>
              <a:off x="1706" y="1369"/>
              <a:ext cx="648" cy="1458"/>
            </a:xfrm>
            <a:prstGeom prst="rect">
              <a:avLst/>
            </a:prstGeom>
            <a:noFill/>
            <a:ln w="19050">
              <a:noFill/>
            </a:ln>
          </p:spPr>
          <p:txBody>
            <a:bodyPr wrap="none">
              <a:spAutoFit/>
            </a:bodyPr>
            <a:lstStyle/>
            <a:p>
              <a:pPr defTabSz="666750">
                <a:lnSpc>
                  <a:spcPct val="130000"/>
                </a:lnSpc>
              </a:pPr>
              <a:r>
                <a:rPr lang="en-US" altLang="zh-CN" sz="2800" dirty="0">
                  <a:latin typeface="Times New Roman" panose="02020603050405020304" pitchFamily="18" charset="0"/>
                </a:rPr>
                <a:t>0	d</a:t>
              </a:r>
            </a:p>
            <a:p>
              <a:pPr defTabSz="666750">
                <a:lnSpc>
                  <a:spcPct val="130000"/>
                </a:lnSpc>
              </a:pPr>
              <a:r>
                <a:rPr lang="en-US" altLang="zh-CN" sz="2800" dirty="0">
                  <a:latin typeface="Times New Roman" panose="02020603050405020304" pitchFamily="18" charset="0"/>
                </a:rPr>
                <a:t>1	d</a:t>
              </a:r>
            </a:p>
            <a:p>
              <a:pPr defTabSz="666750">
                <a:lnSpc>
                  <a:spcPct val="130000"/>
                </a:lnSpc>
              </a:pPr>
              <a:r>
                <a:rPr lang="en-US" altLang="zh-CN" sz="2800" dirty="0">
                  <a:latin typeface="Times New Roman" panose="02020603050405020304" pitchFamily="18" charset="0"/>
                </a:rPr>
                <a:t>d	1</a:t>
              </a:r>
            </a:p>
            <a:p>
              <a:pPr defTabSz="666750">
                <a:lnSpc>
                  <a:spcPct val="130000"/>
                </a:lnSpc>
              </a:pPr>
              <a:r>
                <a:rPr lang="en-US" altLang="zh-CN" sz="2800" dirty="0">
                  <a:latin typeface="Times New Roman" panose="02020603050405020304" pitchFamily="18" charset="0"/>
                </a:rPr>
                <a:t>d	0</a:t>
              </a:r>
            </a:p>
          </p:txBody>
        </p:sp>
        <p:sp>
          <p:nvSpPr>
            <p:cNvPr id="72725" name="Text Box 10"/>
            <p:cNvSpPr txBox="1"/>
            <p:nvPr/>
          </p:nvSpPr>
          <p:spPr>
            <a:xfrm>
              <a:off x="566" y="1345"/>
              <a:ext cx="648" cy="1458"/>
            </a:xfrm>
            <a:prstGeom prst="rect">
              <a:avLst/>
            </a:prstGeom>
            <a:noFill/>
            <a:ln w="19050">
              <a:noFill/>
            </a:ln>
          </p:spPr>
          <p:txBody>
            <a:bodyPr wrap="none">
              <a:spAutoFit/>
            </a:bodyPr>
            <a:lstStyle/>
            <a:p>
              <a:pPr defTabSz="666750">
                <a:lnSpc>
                  <a:spcPct val="130000"/>
                </a:lnSpc>
              </a:pPr>
              <a:r>
                <a:rPr lang="en-US" altLang="zh-CN" sz="2800" dirty="0">
                  <a:latin typeface="Times New Roman" panose="02020603050405020304" pitchFamily="18" charset="0"/>
                </a:rPr>
                <a:t>0	0</a:t>
              </a:r>
            </a:p>
            <a:p>
              <a:pPr defTabSz="666750">
                <a:lnSpc>
                  <a:spcPct val="130000"/>
                </a:lnSpc>
              </a:pPr>
              <a:r>
                <a:rPr lang="en-US" altLang="zh-CN" sz="2800" dirty="0">
                  <a:latin typeface="Times New Roman" panose="02020603050405020304" pitchFamily="18" charset="0"/>
                </a:rPr>
                <a:t>0	1</a:t>
              </a:r>
            </a:p>
            <a:p>
              <a:pPr defTabSz="666750">
                <a:lnSpc>
                  <a:spcPct val="130000"/>
                </a:lnSpc>
              </a:pPr>
              <a:r>
                <a:rPr lang="en-US" altLang="zh-CN" sz="2800" dirty="0">
                  <a:latin typeface="Times New Roman" panose="02020603050405020304" pitchFamily="18" charset="0"/>
                </a:rPr>
                <a:t>1	0</a:t>
              </a:r>
            </a:p>
            <a:p>
              <a:pPr defTabSz="666750">
                <a:lnSpc>
                  <a:spcPct val="130000"/>
                </a:lnSpc>
              </a:pPr>
              <a:r>
                <a:rPr lang="en-US" altLang="zh-CN" sz="2800" dirty="0">
                  <a:latin typeface="Times New Roman" panose="02020603050405020304" pitchFamily="18" charset="0"/>
                </a:rPr>
                <a:t>1	1</a:t>
              </a:r>
            </a:p>
          </p:txBody>
        </p:sp>
      </p:grpSp>
      <p:grpSp>
        <p:nvGrpSpPr>
          <p:cNvPr id="3" name="Group 11"/>
          <p:cNvGrpSpPr/>
          <p:nvPr/>
        </p:nvGrpSpPr>
        <p:grpSpPr>
          <a:xfrm>
            <a:off x="4743450" y="2171700"/>
            <a:ext cx="3581400" cy="3238500"/>
            <a:chOff x="2988" y="1044"/>
            <a:chExt cx="2256" cy="2040"/>
          </a:xfrm>
        </p:grpSpPr>
        <p:sp>
          <p:nvSpPr>
            <p:cNvPr id="72710" name="Line 12"/>
            <p:cNvSpPr/>
            <p:nvPr/>
          </p:nvSpPr>
          <p:spPr>
            <a:xfrm>
              <a:off x="2988" y="1044"/>
              <a:ext cx="2256" cy="0"/>
            </a:xfrm>
            <a:prstGeom prst="line">
              <a:avLst/>
            </a:prstGeom>
            <a:ln w="38100" cap="flat" cmpd="sng">
              <a:solidFill>
                <a:schemeClr val="tx1"/>
              </a:solidFill>
              <a:prstDash val="solid"/>
              <a:headEnd type="none" w="med" len="med"/>
              <a:tailEnd type="none" w="sm" len="lg"/>
            </a:ln>
          </p:spPr>
        </p:sp>
        <p:sp>
          <p:nvSpPr>
            <p:cNvPr id="72711" name="Line 13"/>
            <p:cNvSpPr/>
            <p:nvPr/>
          </p:nvSpPr>
          <p:spPr>
            <a:xfrm>
              <a:off x="2988" y="3084"/>
              <a:ext cx="2256" cy="0"/>
            </a:xfrm>
            <a:prstGeom prst="line">
              <a:avLst/>
            </a:prstGeom>
            <a:ln w="38100" cap="flat" cmpd="sng">
              <a:solidFill>
                <a:schemeClr val="tx1"/>
              </a:solidFill>
              <a:prstDash val="solid"/>
              <a:headEnd type="none" w="med" len="med"/>
              <a:tailEnd type="none" w="sm" len="lg"/>
            </a:ln>
          </p:spPr>
        </p:sp>
        <p:sp>
          <p:nvSpPr>
            <p:cNvPr id="72712" name="Line 14"/>
            <p:cNvSpPr/>
            <p:nvPr/>
          </p:nvSpPr>
          <p:spPr>
            <a:xfrm>
              <a:off x="2988" y="1476"/>
              <a:ext cx="2256" cy="0"/>
            </a:xfrm>
            <a:prstGeom prst="line">
              <a:avLst/>
            </a:prstGeom>
            <a:ln w="19050" cap="flat" cmpd="sng">
              <a:solidFill>
                <a:schemeClr val="tx1"/>
              </a:solidFill>
              <a:prstDash val="solid"/>
              <a:headEnd type="none" w="med" len="med"/>
              <a:tailEnd type="none" w="sm" len="lg"/>
            </a:ln>
          </p:spPr>
        </p:sp>
        <p:sp>
          <p:nvSpPr>
            <p:cNvPr id="72713" name="Line 15"/>
            <p:cNvSpPr/>
            <p:nvPr/>
          </p:nvSpPr>
          <p:spPr>
            <a:xfrm>
              <a:off x="4116" y="1044"/>
              <a:ext cx="0" cy="2040"/>
            </a:xfrm>
            <a:prstGeom prst="line">
              <a:avLst/>
            </a:prstGeom>
            <a:ln w="19050" cap="flat" cmpd="sng">
              <a:solidFill>
                <a:schemeClr val="tx1"/>
              </a:solidFill>
              <a:prstDash val="solid"/>
              <a:headEnd type="none" w="med" len="med"/>
              <a:tailEnd type="none" w="sm" len="lg"/>
            </a:ln>
          </p:spPr>
        </p:sp>
        <p:sp>
          <p:nvSpPr>
            <p:cNvPr id="72714" name="Text Box 16"/>
            <p:cNvSpPr txBox="1"/>
            <p:nvPr/>
          </p:nvSpPr>
          <p:spPr>
            <a:xfrm>
              <a:off x="3146" y="1098"/>
              <a:ext cx="1004" cy="327"/>
            </a:xfrm>
            <a:prstGeom prst="rect">
              <a:avLst/>
            </a:prstGeom>
            <a:noFill/>
            <a:ln w="19050">
              <a:noFill/>
            </a:ln>
          </p:spPr>
          <p:txBody>
            <a:bodyPr wrap="none">
              <a:spAutoFit/>
            </a:bodyPr>
            <a:lstStyle/>
            <a:p>
              <a:r>
                <a:rPr lang="en-US" altLang="zh-CN" sz="2800" dirty="0">
                  <a:latin typeface="Times New Roman" panose="02020603050405020304" pitchFamily="18" charset="0"/>
                </a:rPr>
                <a:t>Q    </a:t>
              </a:r>
              <a:r>
                <a:rPr lang="en-US" altLang="zh-CN" sz="2800" dirty="0">
                  <a:latin typeface="Times New Roman" panose="02020603050405020304" pitchFamily="18" charset="0"/>
                  <a:sym typeface="Monotype Sorts" pitchFamily="2" charset="2"/>
                </a:rPr>
                <a:t>Q</a:t>
              </a:r>
              <a:r>
                <a:rPr lang="en-US" altLang="zh-CN" sz="2800" baseline="30000" dirty="0">
                  <a:latin typeface="Times New Roman" panose="02020603050405020304" pitchFamily="18" charset="0"/>
                  <a:sym typeface="Monotype Sorts" pitchFamily="2" charset="2"/>
                </a:rPr>
                <a:t>(n+1)</a:t>
              </a:r>
            </a:p>
          </p:txBody>
        </p:sp>
        <p:sp>
          <p:nvSpPr>
            <p:cNvPr id="72715" name="Text Box 17"/>
            <p:cNvSpPr txBox="1"/>
            <p:nvPr/>
          </p:nvSpPr>
          <p:spPr>
            <a:xfrm>
              <a:off x="4562" y="1098"/>
              <a:ext cx="253" cy="327"/>
            </a:xfrm>
            <a:prstGeom prst="rect">
              <a:avLst/>
            </a:prstGeom>
            <a:noFill/>
            <a:ln w="19050">
              <a:noFill/>
            </a:ln>
          </p:spPr>
          <p:txBody>
            <a:bodyPr wrap="none">
              <a:spAutoFit/>
            </a:bodyPr>
            <a:lstStyle/>
            <a:p>
              <a:pPr defTabSz="666750"/>
              <a:r>
                <a:rPr lang="en-US" altLang="zh-CN" sz="2800" dirty="0">
                  <a:latin typeface="Times New Roman" panose="02020603050405020304" pitchFamily="18" charset="0"/>
                </a:rPr>
                <a:t>T</a:t>
              </a:r>
            </a:p>
          </p:txBody>
        </p:sp>
        <p:sp>
          <p:nvSpPr>
            <p:cNvPr id="72716" name="Text Box 18"/>
            <p:cNvSpPr txBox="1"/>
            <p:nvPr/>
          </p:nvSpPr>
          <p:spPr>
            <a:xfrm>
              <a:off x="4598" y="1501"/>
              <a:ext cx="228" cy="1458"/>
            </a:xfrm>
            <a:prstGeom prst="rect">
              <a:avLst/>
            </a:prstGeom>
            <a:noFill/>
            <a:ln w="19050">
              <a:noFill/>
            </a:ln>
          </p:spPr>
          <p:txBody>
            <a:bodyPr wrap="none">
              <a:spAutoFit/>
            </a:bodyPr>
            <a:lstStyle/>
            <a:p>
              <a:pPr defTabSz="666750">
                <a:lnSpc>
                  <a:spcPct val="130000"/>
                </a:lnSpc>
              </a:pPr>
              <a:r>
                <a:rPr lang="en-US" altLang="zh-CN" sz="2800" dirty="0">
                  <a:latin typeface="Times New Roman" panose="02020603050405020304" pitchFamily="18" charset="0"/>
                </a:rPr>
                <a:t>0</a:t>
              </a:r>
            </a:p>
            <a:p>
              <a:pPr defTabSz="666750">
                <a:lnSpc>
                  <a:spcPct val="130000"/>
                </a:lnSpc>
              </a:pPr>
              <a:r>
                <a:rPr lang="en-US" altLang="zh-CN" sz="2800" dirty="0">
                  <a:latin typeface="Times New Roman" panose="02020603050405020304" pitchFamily="18" charset="0"/>
                </a:rPr>
                <a:t>1</a:t>
              </a:r>
            </a:p>
            <a:p>
              <a:pPr defTabSz="666750">
                <a:lnSpc>
                  <a:spcPct val="130000"/>
                </a:lnSpc>
              </a:pPr>
              <a:r>
                <a:rPr lang="en-US" altLang="zh-CN" sz="2800" dirty="0">
                  <a:latin typeface="Times New Roman" panose="02020603050405020304" pitchFamily="18" charset="0"/>
                </a:rPr>
                <a:t>1</a:t>
              </a:r>
            </a:p>
            <a:p>
              <a:pPr defTabSz="666750">
                <a:lnSpc>
                  <a:spcPct val="130000"/>
                </a:lnSpc>
              </a:pPr>
              <a:r>
                <a:rPr lang="en-US" altLang="zh-CN" sz="2800" dirty="0">
                  <a:latin typeface="Times New Roman" panose="02020603050405020304" pitchFamily="18" charset="0"/>
                </a:rPr>
                <a:t>0</a:t>
              </a:r>
            </a:p>
          </p:txBody>
        </p:sp>
        <p:sp>
          <p:nvSpPr>
            <p:cNvPr id="72717" name="Text Box 19"/>
            <p:cNvSpPr txBox="1"/>
            <p:nvPr/>
          </p:nvSpPr>
          <p:spPr>
            <a:xfrm>
              <a:off x="3206" y="1477"/>
              <a:ext cx="648" cy="1458"/>
            </a:xfrm>
            <a:prstGeom prst="rect">
              <a:avLst/>
            </a:prstGeom>
            <a:noFill/>
            <a:ln w="19050">
              <a:noFill/>
            </a:ln>
          </p:spPr>
          <p:txBody>
            <a:bodyPr wrap="none">
              <a:spAutoFit/>
            </a:bodyPr>
            <a:lstStyle/>
            <a:p>
              <a:pPr defTabSz="666750">
                <a:lnSpc>
                  <a:spcPct val="130000"/>
                </a:lnSpc>
              </a:pPr>
              <a:r>
                <a:rPr lang="en-US" altLang="zh-CN" sz="2800" dirty="0">
                  <a:latin typeface="Times New Roman" panose="02020603050405020304" pitchFamily="18" charset="0"/>
                </a:rPr>
                <a:t>0	0</a:t>
              </a:r>
            </a:p>
            <a:p>
              <a:pPr defTabSz="666750">
                <a:lnSpc>
                  <a:spcPct val="130000"/>
                </a:lnSpc>
              </a:pPr>
              <a:r>
                <a:rPr lang="en-US" altLang="zh-CN" sz="2800" dirty="0">
                  <a:latin typeface="Times New Roman" panose="02020603050405020304" pitchFamily="18" charset="0"/>
                </a:rPr>
                <a:t>0	1</a:t>
              </a:r>
            </a:p>
            <a:p>
              <a:pPr defTabSz="666750">
                <a:lnSpc>
                  <a:spcPct val="130000"/>
                </a:lnSpc>
              </a:pPr>
              <a:r>
                <a:rPr lang="en-US" altLang="zh-CN" sz="2800" dirty="0">
                  <a:latin typeface="Times New Roman" panose="02020603050405020304" pitchFamily="18" charset="0"/>
                </a:rPr>
                <a:t>1	0</a:t>
              </a:r>
            </a:p>
            <a:p>
              <a:pPr defTabSz="666750">
                <a:lnSpc>
                  <a:spcPct val="130000"/>
                </a:lnSpc>
              </a:pPr>
              <a:r>
                <a:rPr lang="en-US" altLang="zh-CN" sz="2800" dirty="0">
                  <a:latin typeface="Times New Roman" panose="02020603050405020304" pitchFamily="18" charset="0"/>
                </a:rPr>
                <a:t>1	1</a:t>
              </a:r>
            </a:p>
          </p:txBody>
        </p:sp>
      </p:grpSp>
      <p:sp>
        <p:nvSpPr>
          <p:cNvPr id="213012" name="Text Box 20"/>
          <p:cNvSpPr txBox="1"/>
          <p:nvPr/>
        </p:nvSpPr>
        <p:spPr>
          <a:xfrm>
            <a:off x="1108075" y="1457325"/>
            <a:ext cx="2819400" cy="519113"/>
          </a:xfrm>
          <a:prstGeom prst="rect">
            <a:avLst/>
          </a:prstGeom>
          <a:noFill/>
          <a:ln w="19050">
            <a:noFill/>
          </a:ln>
        </p:spPr>
        <p:txBody>
          <a:bodyPr wrap="none">
            <a:spAutoFit/>
          </a:bodyPr>
          <a:lstStyle/>
          <a:p>
            <a:r>
              <a:rPr lang="en-US" altLang="zh-CN" sz="2800" dirty="0">
                <a:latin typeface="Times New Roman" panose="02020603050405020304" pitchFamily="18" charset="0"/>
              </a:rPr>
              <a:t>J-K</a:t>
            </a:r>
            <a:r>
              <a:rPr lang="zh-CN" altLang="en-US" sz="2800" dirty="0">
                <a:latin typeface="Times New Roman" panose="02020603050405020304" pitchFamily="18" charset="0"/>
              </a:rPr>
              <a:t>触发器激励表</a:t>
            </a:r>
          </a:p>
        </p:txBody>
      </p:sp>
      <p:sp>
        <p:nvSpPr>
          <p:cNvPr id="213013" name="Text Box 21"/>
          <p:cNvSpPr txBox="1"/>
          <p:nvPr/>
        </p:nvSpPr>
        <p:spPr>
          <a:xfrm>
            <a:off x="5241925" y="1457325"/>
            <a:ext cx="2522538" cy="519113"/>
          </a:xfrm>
          <a:prstGeom prst="rect">
            <a:avLst/>
          </a:prstGeom>
          <a:noFill/>
          <a:ln w="19050">
            <a:noFill/>
          </a:ln>
        </p:spPr>
        <p:txBody>
          <a:bodyPr wrap="none">
            <a:spAutoFit/>
          </a:bodyPr>
          <a:lstStyle/>
          <a:p>
            <a:r>
              <a:rPr lang="en-US" altLang="zh-CN" sz="2800" dirty="0">
                <a:latin typeface="Times New Roman" panose="02020603050405020304" pitchFamily="18" charset="0"/>
              </a:rPr>
              <a:t>T</a:t>
            </a:r>
            <a:r>
              <a:rPr lang="zh-CN" altLang="en-US" sz="2800" dirty="0">
                <a:latin typeface="Times New Roman" panose="02020603050405020304" pitchFamily="18" charset="0"/>
              </a:rPr>
              <a:t>触发器激励表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3012"/>
                                        </p:tgtEl>
                                        <p:attrNameLst>
                                          <p:attrName>style.visibility</p:attrName>
                                        </p:attrNameLst>
                                      </p:cBhvr>
                                      <p:to>
                                        <p:strVal val="visible"/>
                                      </p:to>
                                    </p:set>
                                    <p:animEffect transition="in" filter="wipe(left)">
                                      <p:cBhvr>
                                        <p:cTn id="7" dur="500"/>
                                        <p:tgtEl>
                                          <p:spTgt spid="21301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3013"/>
                                        </p:tgtEl>
                                        <p:attrNameLst>
                                          <p:attrName>style.visibility</p:attrName>
                                        </p:attrNameLst>
                                      </p:cBhvr>
                                      <p:to>
                                        <p:strVal val="visible"/>
                                      </p:to>
                                    </p:set>
                                    <p:animEffect transition="in" filter="wipe(left)">
                                      <p:cBhvr>
                                        <p:cTn id="18" dur="500"/>
                                        <p:tgtEl>
                                          <p:spTgt spid="21301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500" fill="hold"/>
                                        <p:tgtEl>
                                          <p:spTgt spid="3"/>
                                        </p:tgtEl>
                                        <p:attrNameLst>
                                          <p:attrName>ppt_w</p:attrName>
                                        </p:attrNameLst>
                                      </p:cBhvr>
                                      <p:tavLst>
                                        <p:tav tm="0">
                                          <p:val>
                                            <p:fltVal val="0"/>
                                          </p:val>
                                        </p:tav>
                                        <p:tav tm="100000">
                                          <p:val>
                                            <p:strVal val="#ppt_w"/>
                                          </p:val>
                                        </p:tav>
                                      </p:tavLst>
                                    </p:anim>
                                    <p:anim calcmode="lin" valueType="num">
                                      <p:cBhvr>
                                        <p:cTn id="24" dur="500" fill="hold"/>
                                        <p:tgtEl>
                                          <p:spTgt spid="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012" grpId="0"/>
      <p:bldP spid="213013"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p:cNvSpPr txBox="1"/>
          <p:nvPr/>
        </p:nvSpPr>
        <p:spPr>
          <a:xfrm>
            <a:off x="458788" y="927100"/>
            <a:ext cx="7791450" cy="647700"/>
          </a:xfrm>
          <a:prstGeom prst="rect">
            <a:avLst/>
          </a:prstGeom>
          <a:noFill/>
          <a:ln w="19050">
            <a:noFill/>
          </a:ln>
        </p:spPr>
        <p:txBody>
          <a:bodyPr>
            <a:spAutoFit/>
          </a:bodyPr>
          <a:lstStyle/>
          <a:p>
            <a:pPr algn="just">
              <a:lnSpc>
                <a:spcPct val="130000"/>
              </a:lnSpc>
              <a:spcBef>
                <a:spcPct val="50000"/>
              </a:spcBef>
            </a:pPr>
            <a:r>
              <a:rPr lang="en-US" altLang="zh-CN" sz="2800" b="1" dirty="0">
                <a:latin typeface="Times New Roman" panose="02020603050405020304" pitchFamily="18" charset="0"/>
              </a:rPr>
              <a:t>2. </a:t>
            </a:r>
            <a:r>
              <a:rPr lang="zh-CN" altLang="en-US" sz="2800" b="1" dirty="0">
                <a:latin typeface="Times New Roman" panose="02020603050405020304" pitchFamily="18" charset="0"/>
              </a:rPr>
              <a:t>确定激励函数</a:t>
            </a:r>
          </a:p>
        </p:txBody>
      </p:sp>
      <p:sp>
        <p:nvSpPr>
          <p:cNvPr id="214019" name="Text Box 3" descr="羊皮纸"/>
          <p:cNvSpPr txBox="1"/>
          <p:nvPr/>
        </p:nvSpPr>
        <p:spPr>
          <a:xfrm>
            <a:off x="612775" y="1833563"/>
            <a:ext cx="7791450" cy="1628775"/>
          </a:xfrm>
          <a:prstGeom prst="rect">
            <a:avLst/>
          </a:prstGeom>
          <a:blipFill rotWithShape="1">
            <a:blip r:embed="rId2"/>
          </a:blipFill>
          <a:ln w="19050">
            <a:noFill/>
          </a:ln>
        </p:spPr>
        <p:txBody>
          <a:bodyPr>
            <a:spAutoFit/>
          </a:bodyPr>
          <a:lstStyle/>
          <a:p>
            <a:pPr indent="762000" algn="just">
              <a:lnSpc>
                <a:spcPct val="180000"/>
              </a:lnSpc>
              <a:spcBef>
                <a:spcPct val="50000"/>
              </a:spcBef>
            </a:pPr>
            <a:r>
              <a:rPr lang="zh-CN" altLang="en-US" sz="2800" b="1" dirty="0">
                <a:latin typeface="Times New Roman" panose="02020603050405020304" pitchFamily="18" charset="0"/>
              </a:rPr>
              <a:t>两种方法</a:t>
            </a:r>
            <a:r>
              <a:rPr lang="zh-CN" altLang="en-US" sz="2800" dirty="0">
                <a:latin typeface="Times New Roman" panose="02020603050405020304" pitchFamily="18" charset="0"/>
              </a:rPr>
              <a:t>：根据次态方程来确定和通过激励表来确定。</a:t>
            </a:r>
            <a:endParaRPr lang="zh-CN" altLang="en-US" sz="2800" dirty="0">
              <a:latin typeface="Times New Roman" panose="02020603050405020304" pitchFamily="18" charset="0"/>
              <a:sym typeface="Monotype Sorts" pitchFamily="2"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4019"/>
                                        </p:tgtEl>
                                        <p:attrNameLst>
                                          <p:attrName>style.visibility</p:attrName>
                                        </p:attrNameLst>
                                      </p:cBhvr>
                                      <p:to>
                                        <p:strVal val="visible"/>
                                      </p:to>
                                    </p:set>
                                    <p:animEffect transition="in" filter="wipe(left)">
                                      <p:cBhvr>
                                        <p:cTn id="7" dur="500"/>
                                        <p:tgtEl>
                                          <p:spTgt spid="214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9" grpId="0" bldLvl="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Text Box 2"/>
          <p:cNvSpPr txBox="1"/>
          <p:nvPr/>
        </p:nvSpPr>
        <p:spPr>
          <a:xfrm>
            <a:off x="628650" y="952500"/>
            <a:ext cx="7753350" cy="1289050"/>
          </a:xfrm>
          <a:prstGeom prst="rect">
            <a:avLst/>
          </a:prstGeom>
          <a:noFill/>
          <a:ln w="19050">
            <a:noFill/>
          </a:ln>
        </p:spPr>
        <p:txBody>
          <a:bodyPr>
            <a:spAutoFit/>
          </a:bodyPr>
          <a:lstStyle/>
          <a:p>
            <a:pPr marL="762000" indent="-762000">
              <a:lnSpc>
                <a:spcPct val="140000"/>
              </a:lnSpc>
              <a:spcBef>
                <a:spcPct val="50000"/>
              </a:spcBef>
            </a:pPr>
            <a:r>
              <a:rPr lang="zh-CN" altLang="en-US" sz="2800" b="1" dirty="0">
                <a:latin typeface="Times New Roman" panose="02020603050405020304" pitchFamily="18" charset="0"/>
              </a:rPr>
              <a:t>例：</a:t>
            </a:r>
            <a:r>
              <a:rPr lang="zh-CN" altLang="en-US" sz="2800" dirty="0">
                <a:latin typeface="Times New Roman" panose="02020603050405020304" pitchFamily="18" charset="0"/>
              </a:rPr>
              <a:t>若用</a:t>
            </a:r>
            <a:r>
              <a:rPr lang="en-US" altLang="zh-CN" sz="2800" dirty="0">
                <a:latin typeface="Times New Roman" panose="02020603050405020304" pitchFamily="18" charset="0"/>
              </a:rPr>
              <a:t>J-K</a:t>
            </a:r>
            <a:r>
              <a:rPr lang="zh-CN" altLang="zh-CN" sz="2800" dirty="0">
                <a:latin typeface="Times New Roman" panose="02020603050405020304" pitchFamily="18" charset="0"/>
              </a:rPr>
              <a:t>触发器实现下表所示的二进制状态表， 试写出激励和输出函数。</a:t>
            </a:r>
          </a:p>
        </p:txBody>
      </p:sp>
      <p:grpSp>
        <p:nvGrpSpPr>
          <p:cNvPr id="2" name="Group 3"/>
          <p:cNvGrpSpPr/>
          <p:nvPr/>
        </p:nvGrpSpPr>
        <p:grpSpPr>
          <a:xfrm>
            <a:off x="952500" y="2419350"/>
            <a:ext cx="6991350" cy="3848100"/>
            <a:chOff x="588" y="1428"/>
            <a:chExt cx="4404" cy="2424"/>
          </a:xfrm>
        </p:grpSpPr>
        <p:sp>
          <p:nvSpPr>
            <p:cNvPr id="74756" name="Line 4"/>
            <p:cNvSpPr/>
            <p:nvPr/>
          </p:nvSpPr>
          <p:spPr>
            <a:xfrm>
              <a:off x="588" y="1428"/>
              <a:ext cx="4404" cy="0"/>
            </a:xfrm>
            <a:prstGeom prst="line">
              <a:avLst/>
            </a:prstGeom>
            <a:ln w="38100" cap="flat" cmpd="sng">
              <a:solidFill>
                <a:schemeClr val="tx1"/>
              </a:solidFill>
              <a:prstDash val="solid"/>
              <a:headEnd type="none" w="med" len="med"/>
              <a:tailEnd type="none" w="sm" len="lg"/>
            </a:ln>
          </p:spPr>
        </p:sp>
        <p:sp>
          <p:nvSpPr>
            <p:cNvPr id="74757" name="Line 5"/>
            <p:cNvSpPr/>
            <p:nvPr/>
          </p:nvSpPr>
          <p:spPr>
            <a:xfrm>
              <a:off x="588" y="3841"/>
              <a:ext cx="4404" cy="0"/>
            </a:xfrm>
            <a:prstGeom prst="line">
              <a:avLst/>
            </a:prstGeom>
            <a:ln w="38100" cap="flat" cmpd="sng">
              <a:solidFill>
                <a:schemeClr val="tx1"/>
              </a:solidFill>
              <a:prstDash val="solid"/>
              <a:headEnd type="none" w="med" len="med"/>
              <a:tailEnd type="none" w="sm" len="lg"/>
            </a:ln>
          </p:spPr>
        </p:sp>
        <p:sp>
          <p:nvSpPr>
            <p:cNvPr id="74758" name="Line 6"/>
            <p:cNvSpPr/>
            <p:nvPr/>
          </p:nvSpPr>
          <p:spPr>
            <a:xfrm>
              <a:off x="1728" y="1428"/>
              <a:ext cx="0" cy="2424"/>
            </a:xfrm>
            <a:prstGeom prst="line">
              <a:avLst/>
            </a:prstGeom>
            <a:ln w="19050" cap="flat" cmpd="sng">
              <a:solidFill>
                <a:schemeClr val="tx1"/>
              </a:solidFill>
              <a:prstDash val="solid"/>
              <a:headEnd type="none" w="med" len="med"/>
              <a:tailEnd type="none" w="sm" len="lg"/>
            </a:ln>
          </p:spPr>
        </p:sp>
        <p:sp>
          <p:nvSpPr>
            <p:cNvPr id="74759" name="Line 7"/>
            <p:cNvSpPr/>
            <p:nvPr/>
          </p:nvSpPr>
          <p:spPr>
            <a:xfrm>
              <a:off x="3312" y="1967"/>
              <a:ext cx="0" cy="1863"/>
            </a:xfrm>
            <a:prstGeom prst="line">
              <a:avLst/>
            </a:prstGeom>
            <a:ln w="19050" cap="flat" cmpd="sng">
              <a:solidFill>
                <a:schemeClr val="tx1"/>
              </a:solidFill>
              <a:prstDash val="solid"/>
              <a:headEnd type="none" w="med" len="med"/>
              <a:tailEnd type="none" w="sm" len="lg"/>
            </a:ln>
          </p:spPr>
        </p:sp>
        <p:sp>
          <p:nvSpPr>
            <p:cNvPr id="74760" name="Line 8"/>
            <p:cNvSpPr/>
            <p:nvPr/>
          </p:nvSpPr>
          <p:spPr>
            <a:xfrm>
              <a:off x="1740" y="1956"/>
              <a:ext cx="3252" cy="0"/>
            </a:xfrm>
            <a:prstGeom prst="line">
              <a:avLst/>
            </a:prstGeom>
            <a:ln w="12700" cap="flat" cmpd="sng">
              <a:solidFill>
                <a:schemeClr val="tx1"/>
              </a:solidFill>
              <a:prstDash val="solid"/>
              <a:headEnd type="none" w="med" len="med"/>
              <a:tailEnd type="none" w="sm" len="lg"/>
            </a:ln>
          </p:spPr>
        </p:sp>
        <p:sp>
          <p:nvSpPr>
            <p:cNvPr id="74761" name="Line 9"/>
            <p:cNvSpPr/>
            <p:nvPr/>
          </p:nvSpPr>
          <p:spPr>
            <a:xfrm>
              <a:off x="588" y="2451"/>
              <a:ext cx="4404" cy="0"/>
            </a:xfrm>
            <a:prstGeom prst="line">
              <a:avLst/>
            </a:prstGeom>
            <a:ln w="12700" cap="flat" cmpd="sng">
              <a:solidFill>
                <a:schemeClr val="tx1"/>
              </a:solidFill>
              <a:prstDash val="solid"/>
              <a:headEnd type="none" w="med" len="med"/>
              <a:tailEnd type="none" w="sm" len="lg"/>
            </a:ln>
          </p:spPr>
        </p:sp>
        <p:sp>
          <p:nvSpPr>
            <p:cNvPr id="74762" name="Text Box 10"/>
            <p:cNvSpPr txBox="1"/>
            <p:nvPr/>
          </p:nvSpPr>
          <p:spPr>
            <a:xfrm>
              <a:off x="698" y="1498"/>
              <a:ext cx="916" cy="866"/>
            </a:xfrm>
            <a:prstGeom prst="rect">
              <a:avLst/>
            </a:prstGeom>
            <a:noFill/>
            <a:ln w="19050">
              <a:noFill/>
            </a:ln>
          </p:spPr>
          <p:txBody>
            <a:bodyPr>
              <a:spAutoFit/>
            </a:bodyPr>
            <a:lstStyle/>
            <a:p>
              <a:pPr>
                <a:lnSpc>
                  <a:spcPct val="150000"/>
                </a:lnSpc>
              </a:pPr>
              <a:r>
                <a:rPr lang="zh-CN" altLang="zh-CN" sz="2800" dirty="0">
                  <a:latin typeface="Times New Roman" panose="02020603050405020304" pitchFamily="18" charset="0"/>
                </a:rPr>
                <a:t>现	态</a:t>
              </a:r>
            </a:p>
            <a:p>
              <a:pPr>
                <a:lnSpc>
                  <a:spcPct val="150000"/>
                </a:lnSpc>
              </a:pPr>
              <a:r>
                <a:rPr lang="zh-CN" altLang="zh-CN" sz="2800" dirty="0">
                  <a:latin typeface="Times New Roman" panose="02020603050405020304" pitchFamily="18" charset="0"/>
                </a:rPr>
                <a:t>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p>
          </p:txBody>
        </p:sp>
        <p:sp>
          <p:nvSpPr>
            <p:cNvPr id="74763" name="Text Box 11"/>
            <p:cNvSpPr txBox="1"/>
            <p:nvPr/>
          </p:nvSpPr>
          <p:spPr>
            <a:xfrm>
              <a:off x="2174" y="1541"/>
              <a:ext cx="2291"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p>
          </p:txBody>
        </p:sp>
        <p:sp>
          <p:nvSpPr>
            <p:cNvPr id="74764" name="Text Box 12"/>
            <p:cNvSpPr txBox="1"/>
            <p:nvPr/>
          </p:nvSpPr>
          <p:spPr>
            <a:xfrm>
              <a:off x="2222" y="2058"/>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74765" name="Text Box 13"/>
            <p:cNvSpPr txBox="1"/>
            <p:nvPr/>
          </p:nvSpPr>
          <p:spPr>
            <a:xfrm>
              <a:off x="3914" y="2058"/>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74766" name="Text Box 14"/>
            <p:cNvSpPr txBox="1"/>
            <p:nvPr/>
          </p:nvSpPr>
          <p:spPr>
            <a:xfrm>
              <a:off x="806" y="2507"/>
              <a:ext cx="648" cy="1134"/>
            </a:xfrm>
            <a:prstGeom prst="rect">
              <a:avLst/>
            </a:prstGeom>
            <a:noFill/>
            <a:ln w="19050">
              <a:noFill/>
            </a:ln>
          </p:spPr>
          <p:txBody>
            <a:bodyPr wrap="none">
              <a:spAutoFit/>
            </a:bodyPr>
            <a:lstStyle/>
            <a:p>
              <a:pPr algn="ctr" defTabSz="666750"/>
              <a:r>
                <a:rPr lang="en-US" altLang="zh-CN" sz="2800" dirty="0">
                  <a:latin typeface="Times New Roman" panose="02020603050405020304" pitchFamily="18" charset="0"/>
                </a:rPr>
                <a:t>0	0</a:t>
              </a:r>
            </a:p>
            <a:p>
              <a:pPr algn="ctr" defTabSz="666750"/>
              <a:r>
                <a:rPr lang="en-US" altLang="zh-CN" sz="2800" dirty="0">
                  <a:latin typeface="Times New Roman" panose="02020603050405020304" pitchFamily="18" charset="0"/>
                </a:rPr>
                <a:t>0	1</a:t>
              </a:r>
            </a:p>
            <a:p>
              <a:pPr algn="ctr" defTabSz="666750"/>
              <a:r>
                <a:rPr lang="en-US" altLang="zh-CN" sz="2800" dirty="0">
                  <a:latin typeface="Times New Roman" panose="02020603050405020304" pitchFamily="18" charset="0"/>
                </a:rPr>
                <a:t>1	1</a:t>
              </a:r>
            </a:p>
            <a:p>
              <a:pPr algn="ctr" defTabSz="666750"/>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74767" name="Text Box 15"/>
            <p:cNvSpPr txBox="1"/>
            <p:nvPr/>
          </p:nvSpPr>
          <p:spPr>
            <a:xfrm>
              <a:off x="2198" y="2495"/>
              <a:ext cx="514" cy="1242"/>
            </a:xfrm>
            <a:prstGeom prst="rect">
              <a:avLst/>
            </a:prstGeom>
            <a:noFill/>
            <a:ln w="19050">
              <a:noFill/>
            </a:ln>
          </p:spPr>
          <p:txBody>
            <a:bodyPr wrap="none">
              <a:spAutoFit/>
            </a:bodyPr>
            <a:lstStyle/>
            <a:p>
              <a:pPr>
                <a:lnSpc>
                  <a:spcPct val="110000"/>
                </a:lnSpc>
              </a:pPr>
              <a:r>
                <a:rPr lang="en-US" altLang="zh-CN" sz="2800" dirty="0">
                  <a:latin typeface="Times New Roman" panose="02020603050405020304" pitchFamily="18" charset="0"/>
                </a:rPr>
                <a:t>11/0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01/0</a:t>
              </a:r>
            </a:p>
          </p:txBody>
        </p:sp>
        <p:sp>
          <p:nvSpPr>
            <p:cNvPr id="74768" name="Text Box 16"/>
            <p:cNvSpPr txBox="1"/>
            <p:nvPr/>
          </p:nvSpPr>
          <p:spPr>
            <a:xfrm>
              <a:off x="3866" y="2517"/>
              <a:ext cx="514" cy="1134"/>
            </a:xfrm>
            <a:prstGeom prst="rect">
              <a:avLst/>
            </a:prstGeom>
            <a:noFill/>
            <a:ln w="19050">
              <a:noFill/>
            </a:ln>
          </p:spPr>
          <p:txBody>
            <a:bodyPr wrap="none">
              <a:spAutoFit/>
            </a:bodyPr>
            <a:lstStyle/>
            <a:p>
              <a:r>
                <a:rPr lang="en-US" altLang="zh-CN" sz="2800" dirty="0">
                  <a:latin typeface="Times New Roman" panose="02020603050405020304" pitchFamily="18" charset="0"/>
                </a:rPr>
                <a:t>01/0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10/1</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11/0</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042"/>
                                        </p:tgtEl>
                                        <p:attrNameLst>
                                          <p:attrName>style.visibility</p:attrName>
                                        </p:attrNameLst>
                                      </p:cBhvr>
                                      <p:to>
                                        <p:strVal val="visible"/>
                                      </p:to>
                                    </p:set>
                                    <p:animEffect transition="in" filter="wipe(left)">
                                      <p:cBhvr>
                                        <p:cTn id="7" dur="500"/>
                                        <p:tgtEl>
                                          <p:spTgt spid="21504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2"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p:cNvSpPr txBox="1"/>
          <p:nvPr/>
        </p:nvSpPr>
        <p:spPr>
          <a:xfrm>
            <a:off x="974725" y="635000"/>
            <a:ext cx="901700" cy="519113"/>
          </a:xfrm>
          <a:prstGeom prst="rect">
            <a:avLst/>
          </a:prstGeom>
          <a:noFill/>
          <a:ln w="19050">
            <a:noFill/>
          </a:ln>
        </p:spPr>
        <p:txBody>
          <a:bodyPr>
            <a:spAutoFit/>
          </a:bodyPr>
          <a:lstStyle/>
          <a:p>
            <a:r>
              <a:rPr lang="zh-CN" altLang="en-US" sz="2800" b="1" dirty="0">
                <a:latin typeface="Times New Roman" panose="02020603050405020304" pitchFamily="18" charset="0"/>
              </a:rPr>
              <a:t>解：</a:t>
            </a:r>
          </a:p>
        </p:txBody>
      </p:sp>
      <p:sp>
        <p:nvSpPr>
          <p:cNvPr id="216067" name="Text Box 3"/>
          <p:cNvSpPr txBox="1"/>
          <p:nvPr/>
        </p:nvSpPr>
        <p:spPr>
          <a:xfrm>
            <a:off x="1736725" y="676275"/>
            <a:ext cx="2400300" cy="519113"/>
          </a:xfrm>
          <a:prstGeom prst="rect">
            <a:avLst/>
          </a:prstGeom>
          <a:noFill/>
          <a:ln w="19050">
            <a:noFill/>
          </a:ln>
        </p:spPr>
        <p:txBody>
          <a:bodyPr wrap="none">
            <a:spAutoFit/>
          </a:bodyPr>
          <a:lstStyle/>
          <a:p>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确定激励函数</a:t>
            </a:r>
          </a:p>
        </p:txBody>
      </p:sp>
      <p:grpSp>
        <p:nvGrpSpPr>
          <p:cNvPr id="2" name="Group 59"/>
          <p:cNvGrpSpPr/>
          <p:nvPr/>
        </p:nvGrpSpPr>
        <p:grpSpPr>
          <a:xfrm>
            <a:off x="3851275" y="2243138"/>
            <a:ext cx="5464175" cy="4557712"/>
            <a:chOff x="2426" y="1413"/>
            <a:chExt cx="3442" cy="2871"/>
          </a:xfrm>
        </p:grpSpPr>
        <p:sp>
          <p:nvSpPr>
            <p:cNvPr id="75805" name="Text Box 5"/>
            <p:cNvSpPr txBox="1"/>
            <p:nvPr/>
          </p:nvSpPr>
          <p:spPr>
            <a:xfrm>
              <a:off x="3139" y="1478"/>
              <a:ext cx="814" cy="518"/>
            </a:xfrm>
            <a:prstGeom prst="rect">
              <a:avLst/>
            </a:prstGeom>
            <a:noFill/>
            <a:ln w="19050">
              <a:noFill/>
            </a:ln>
          </p:spPr>
          <p:txBody>
            <a:bodyPr>
              <a:spAutoFit/>
            </a:bodyPr>
            <a:lstStyle/>
            <a:p>
              <a:pPr algn="ctr"/>
              <a:r>
                <a:rPr lang="zh-CN" altLang="zh-CN" sz="2400" dirty="0">
                  <a:latin typeface="Times New Roman" panose="02020603050405020304" pitchFamily="18" charset="0"/>
                </a:rPr>
                <a:t>现态</a:t>
              </a:r>
            </a:p>
            <a:p>
              <a:pPr algn="ctr"/>
              <a:r>
                <a:rPr lang="zh-CN" altLang="zh-CN" sz="2400" dirty="0">
                  <a:latin typeface="Times New Roman" panose="02020603050405020304" pitchFamily="18" charset="0"/>
                </a:rPr>
                <a:t>  </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    y</a:t>
              </a:r>
              <a:r>
                <a:rPr lang="en-US" altLang="zh-CN" sz="24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75806" name="Text Box 6"/>
            <p:cNvSpPr txBox="1"/>
            <p:nvPr/>
          </p:nvSpPr>
          <p:spPr>
            <a:xfrm>
              <a:off x="3894" y="1516"/>
              <a:ext cx="916" cy="480"/>
            </a:xfrm>
            <a:prstGeom prst="rect">
              <a:avLst/>
            </a:prstGeom>
            <a:noFill/>
            <a:ln w="19050">
              <a:noFill/>
            </a:ln>
          </p:spPr>
          <p:txBody>
            <a:bodyPr wrap="none">
              <a:spAutoFit/>
            </a:bodyPr>
            <a:lstStyle/>
            <a:p>
              <a:pPr algn="ctr"/>
              <a:r>
                <a:rPr lang="zh-CN" altLang="zh-CN" sz="2400" dirty="0">
                  <a:latin typeface="Times New Roman" panose="02020603050405020304" pitchFamily="18" charset="0"/>
                </a:rPr>
                <a:t>次态</a:t>
              </a:r>
            </a:p>
            <a:p>
              <a:pPr algn="ctr"/>
              <a:r>
                <a:rPr lang="en-US" altLang="zh-CN" sz="2000" b="1" dirty="0">
                  <a:latin typeface="Times New Roman" panose="02020603050405020304" pitchFamily="18" charset="0"/>
                </a:rPr>
                <a:t>y</a:t>
              </a:r>
              <a:r>
                <a:rPr lang="en-US" altLang="zh-CN" sz="2000" b="1" baseline="-25000" dirty="0">
                  <a:latin typeface="Times New Roman" panose="02020603050405020304" pitchFamily="18" charset="0"/>
                </a:rPr>
                <a:t>2</a:t>
              </a:r>
              <a:r>
                <a:rPr lang="en-US" altLang="zh-CN" sz="2000" b="1" baseline="30000" dirty="0">
                  <a:latin typeface="Times New Roman" panose="02020603050405020304" pitchFamily="18" charset="0"/>
                </a:rPr>
                <a:t>(</a:t>
              </a:r>
              <a:r>
                <a:rPr lang="en-US" altLang="zh-CN" sz="2000" b="1" i="1" baseline="30000" dirty="0">
                  <a:latin typeface="Times New Roman" panose="02020603050405020304" pitchFamily="18" charset="0"/>
                </a:rPr>
                <a:t>n</a:t>
              </a:r>
              <a:r>
                <a:rPr lang="en-US" altLang="zh-CN" sz="2000" b="1" baseline="30000" dirty="0">
                  <a:latin typeface="Times New Roman" panose="02020603050405020304" pitchFamily="18" charset="0"/>
                </a:rPr>
                <a:t>+1</a:t>
              </a:r>
              <a:r>
                <a:rPr lang="en-US" altLang="zh-CN" sz="2000" b="1" dirty="0">
                  <a:latin typeface="Times New Roman" panose="02020603050405020304" pitchFamily="18" charset="0"/>
                </a:rPr>
                <a:t>) y</a:t>
              </a:r>
              <a:r>
                <a:rPr lang="en-US" altLang="zh-CN" sz="2000" b="1" baseline="-25000" dirty="0">
                  <a:latin typeface="Times New Roman" panose="02020603050405020304" pitchFamily="18" charset="0"/>
                </a:rPr>
                <a:t>1</a:t>
              </a:r>
              <a:r>
                <a:rPr lang="en-US" altLang="zh-CN" sz="2000" b="1" baseline="30000" dirty="0">
                  <a:latin typeface="Times New Roman" panose="02020603050405020304" pitchFamily="18" charset="0"/>
                </a:rPr>
                <a:t>(</a:t>
              </a:r>
              <a:r>
                <a:rPr lang="en-US" altLang="zh-CN" sz="2000" b="1" i="1" baseline="30000" dirty="0">
                  <a:latin typeface="Times New Roman" panose="02020603050405020304" pitchFamily="18" charset="0"/>
                </a:rPr>
                <a:t>n</a:t>
              </a:r>
              <a:r>
                <a:rPr lang="en-US" altLang="zh-CN" sz="2000" b="1" baseline="300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75807" name="Text Box 7"/>
            <p:cNvSpPr txBox="1"/>
            <p:nvPr/>
          </p:nvSpPr>
          <p:spPr>
            <a:xfrm>
              <a:off x="3163" y="2074"/>
              <a:ext cx="648" cy="2210"/>
            </a:xfrm>
            <a:prstGeom prst="rect">
              <a:avLst/>
            </a:prstGeom>
            <a:noFill/>
            <a:ln w="19050">
              <a:noFill/>
            </a:ln>
          </p:spPr>
          <p:txBody>
            <a:bodyPr wrap="none">
              <a:spAutoFit/>
            </a:bodyPr>
            <a:lstStyle/>
            <a:p>
              <a:pPr defTabSz="666750"/>
              <a:r>
                <a:rPr lang="en-US" altLang="zh-CN" sz="2800" dirty="0">
                  <a:latin typeface="Times New Roman" panose="02020603050405020304" pitchFamily="18" charset="0"/>
                </a:rPr>
                <a:t>0	0</a:t>
              </a:r>
            </a:p>
            <a:p>
              <a:pPr defTabSz="666750"/>
              <a:r>
                <a:rPr lang="en-US" altLang="zh-CN" sz="2800" dirty="0">
                  <a:latin typeface="Times New Roman" panose="02020603050405020304" pitchFamily="18" charset="0"/>
                </a:rPr>
                <a:t>0	1</a:t>
              </a:r>
            </a:p>
            <a:p>
              <a:pPr defTabSz="666750"/>
              <a:r>
                <a:rPr lang="en-US" altLang="zh-CN" sz="2800" dirty="0">
                  <a:latin typeface="Times New Roman" panose="02020603050405020304" pitchFamily="18" charset="0"/>
                </a:rPr>
                <a:t>1	1</a:t>
              </a:r>
            </a:p>
            <a:p>
              <a:pPr defTabSz="666750"/>
              <a:r>
                <a:rPr lang="en-US" altLang="zh-CN" sz="2800" dirty="0">
                  <a:latin typeface="Times New Roman" panose="02020603050405020304" pitchFamily="18" charset="0"/>
                </a:rPr>
                <a:t>1	0</a:t>
              </a:r>
            </a:p>
            <a:p>
              <a:pPr defTabSz="666750"/>
              <a:r>
                <a:rPr lang="en-US" altLang="zh-CN" sz="2800" dirty="0">
                  <a:latin typeface="Times New Roman" panose="02020603050405020304" pitchFamily="18" charset="0"/>
                </a:rPr>
                <a:t>0	0</a:t>
              </a:r>
            </a:p>
            <a:p>
              <a:pPr defTabSz="666750"/>
              <a:r>
                <a:rPr lang="en-US" altLang="zh-CN" sz="2800" dirty="0">
                  <a:latin typeface="Times New Roman" panose="02020603050405020304" pitchFamily="18" charset="0"/>
                </a:rPr>
                <a:t>0	1</a:t>
              </a:r>
            </a:p>
            <a:p>
              <a:pPr defTabSz="666750"/>
              <a:r>
                <a:rPr lang="en-US" altLang="zh-CN" sz="2800" dirty="0">
                  <a:latin typeface="Times New Roman" panose="02020603050405020304" pitchFamily="18" charset="0"/>
                </a:rPr>
                <a:t>1	1</a:t>
              </a:r>
            </a:p>
            <a:p>
              <a:pPr defTabSz="666750"/>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75808" name="Rectangle 8"/>
            <p:cNvSpPr/>
            <p:nvPr/>
          </p:nvSpPr>
          <p:spPr>
            <a:xfrm>
              <a:off x="2523" y="1478"/>
              <a:ext cx="500" cy="518"/>
            </a:xfrm>
            <a:prstGeom prst="rect">
              <a:avLst/>
            </a:prstGeom>
            <a:noFill/>
            <a:ln w="19050">
              <a:noFill/>
            </a:ln>
          </p:spPr>
          <p:txBody>
            <a:bodyPr wrap="none">
              <a:spAutoFit/>
            </a:bodyPr>
            <a:lstStyle/>
            <a:p>
              <a:pPr algn="ctr"/>
              <a:r>
                <a:rPr lang="zh-CN" altLang="en-US" sz="2400" dirty="0">
                  <a:latin typeface="Times New Roman" panose="02020603050405020304" pitchFamily="18" charset="0"/>
                </a:rPr>
                <a:t>输入</a:t>
              </a:r>
            </a:p>
            <a:p>
              <a:pPr algn="ctr"/>
              <a:r>
                <a:rPr lang="en-US" altLang="zh-CN" sz="24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75809" name="Rectangle 9"/>
            <p:cNvSpPr/>
            <p:nvPr/>
          </p:nvSpPr>
          <p:spPr>
            <a:xfrm>
              <a:off x="4632" y="1478"/>
              <a:ext cx="1236" cy="518"/>
            </a:xfrm>
            <a:prstGeom prst="rect">
              <a:avLst/>
            </a:prstGeom>
            <a:noFill/>
            <a:ln w="19050">
              <a:noFill/>
            </a:ln>
          </p:spPr>
          <p:txBody>
            <a:bodyPr>
              <a:spAutoFit/>
            </a:bodyPr>
            <a:lstStyle/>
            <a:p>
              <a:pPr algn="ctr"/>
              <a:r>
                <a:rPr lang="zh-CN" altLang="en-US" sz="2400" dirty="0">
                  <a:latin typeface="Times New Roman" panose="02020603050405020304" pitchFamily="18" charset="0"/>
                </a:rPr>
                <a:t>激励函数</a:t>
              </a:r>
            </a:p>
            <a:p>
              <a:pPr algn="ctr"/>
              <a:r>
                <a:rPr lang="en-US" altLang="zh-CN" sz="2400" dirty="0">
                  <a:latin typeface="Times New Roman" panose="02020603050405020304" pitchFamily="18" charset="0"/>
                </a:rPr>
                <a:t>J</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K</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J</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K</a:t>
              </a:r>
              <a:r>
                <a:rPr lang="en-US" altLang="zh-CN" sz="2400" baseline="-25000" dirty="0">
                  <a:latin typeface="Times New Roman" panose="02020603050405020304" pitchFamily="18" charset="0"/>
                </a:rPr>
                <a:t>1</a:t>
              </a:r>
            </a:p>
          </p:txBody>
        </p:sp>
        <p:grpSp>
          <p:nvGrpSpPr>
            <p:cNvPr id="75810" name="Group 10"/>
            <p:cNvGrpSpPr/>
            <p:nvPr/>
          </p:nvGrpSpPr>
          <p:grpSpPr>
            <a:xfrm>
              <a:off x="2426" y="1413"/>
              <a:ext cx="3202" cy="2871"/>
              <a:chOff x="480" y="1043"/>
              <a:chExt cx="3456" cy="2871"/>
            </a:xfrm>
          </p:grpSpPr>
          <p:sp>
            <p:nvSpPr>
              <p:cNvPr id="75814" name="Line 11"/>
              <p:cNvSpPr/>
              <p:nvPr/>
            </p:nvSpPr>
            <p:spPr>
              <a:xfrm>
                <a:off x="515" y="1056"/>
                <a:ext cx="3421" cy="0"/>
              </a:xfrm>
              <a:prstGeom prst="line">
                <a:avLst/>
              </a:prstGeom>
              <a:ln w="38100" cap="flat" cmpd="sng">
                <a:solidFill>
                  <a:schemeClr val="tx1"/>
                </a:solidFill>
                <a:prstDash val="solid"/>
                <a:headEnd type="none" w="med" len="med"/>
                <a:tailEnd type="none" w="sm" len="lg"/>
              </a:ln>
            </p:spPr>
          </p:sp>
          <p:sp>
            <p:nvSpPr>
              <p:cNvPr id="75815" name="Line 12"/>
              <p:cNvSpPr/>
              <p:nvPr/>
            </p:nvSpPr>
            <p:spPr>
              <a:xfrm>
                <a:off x="480" y="3901"/>
                <a:ext cx="3456" cy="0"/>
              </a:xfrm>
              <a:prstGeom prst="line">
                <a:avLst/>
              </a:prstGeom>
              <a:ln w="38100" cap="flat" cmpd="sng">
                <a:solidFill>
                  <a:schemeClr val="tx1"/>
                </a:solidFill>
                <a:prstDash val="solid"/>
                <a:headEnd type="none" w="med" len="med"/>
                <a:tailEnd type="none" w="sm" len="lg"/>
              </a:ln>
            </p:spPr>
          </p:sp>
          <p:sp>
            <p:nvSpPr>
              <p:cNvPr id="75816" name="Line 13"/>
              <p:cNvSpPr/>
              <p:nvPr/>
            </p:nvSpPr>
            <p:spPr>
              <a:xfrm>
                <a:off x="1159" y="1056"/>
                <a:ext cx="0" cy="2832"/>
              </a:xfrm>
              <a:prstGeom prst="line">
                <a:avLst/>
              </a:prstGeom>
              <a:ln w="19050" cap="flat" cmpd="sng">
                <a:solidFill>
                  <a:schemeClr val="tx1"/>
                </a:solidFill>
                <a:prstDash val="solid"/>
                <a:headEnd type="none" w="med" len="med"/>
                <a:tailEnd type="none" w="sm" len="lg"/>
              </a:ln>
            </p:spPr>
          </p:sp>
          <p:sp>
            <p:nvSpPr>
              <p:cNvPr id="75817" name="Line 14"/>
              <p:cNvSpPr/>
              <p:nvPr/>
            </p:nvSpPr>
            <p:spPr>
              <a:xfrm>
                <a:off x="1995" y="1043"/>
                <a:ext cx="0" cy="2871"/>
              </a:xfrm>
              <a:prstGeom prst="line">
                <a:avLst/>
              </a:prstGeom>
              <a:ln w="19050" cap="flat" cmpd="sng">
                <a:solidFill>
                  <a:schemeClr val="tx1"/>
                </a:solidFill>
                <a:prstDash val="solid"/>
                <a:headEnd type="none" w="med" len="med"/>
                <a:tailEnd type="none" w="sm" len="lg"/>
              </a:ln>
            </p:spPr>
          </p:sp>
          <p:sp>
            <p:nvSpPr>
              <p:cNvPr id="75818" name="Line 15"/>
              <p:cNvSpPr/>
              <p:nvPr/>
            </p:nvSpPr>
            <p:spPr>
              <a:xfrm>
                <a:off x="506" y="1684"/>
                <a:ext cx="3430" cy="0"/>
              </a:xfrm>
              <a:prstGeom prst="line">
                <a:avLst/>
              </a:prstGeom>
              <a:ln w="12700" cap="flat" cmpd="sng">
                <a:solidFill>
                  <a:schemeClr val="tx1"/>
                </a:solidFill>
                <a:prstDash val="solid"/>
                <a:headEnd type="none" w="med" len="med"/>
                <a:tailEnd type="none" w="sm" len="lg"/>
              </a:ln>
            </p:spPr>
          </p:sp>
          <p:sp>
            <p:nvSpPr>
              <p:cNvPr id="75819" name="Line 16"/>
              <p:cNvSpPr/>
              <p:nvPr/>
            </p:nvSpPr>
            <p:spPr>
              <a:xfrm>
                <a:off x="3074" y="1055"/>
                <a:ext cx="0" cy="2835"/>
              </a:xfrm>
              <a:prstGeom prst="line">
                <a:avLst/>
              </a:prstGeom>
              <a:ln w="19050" cap="flat" cmpd="sng">
                <a:solidFill>
                  <a:schemeClr val="tx1"/>
                </a:solidFill>
                <a:prstDash val="solid"/>
                <a:headEnd type="none" w="med" len="med"/>
                <a:tailEnd type="none" w="sm" len="lg"/>
              </a:ln>
            </p:spPr>
          </p:sp>
        </p:grpSp>
        <p:sp>
          <p:nvSpPr>
            <p:cNvPr id="75811" name="Text Box 17"/>
            <p:cNvSpPr txBox="1"/>
            <p:nvPr/>
          </p:nvSpPr>
          <p:spPr>
            <a:xfrm>
              <a:off x="4026" y="2062"/>
              <a:ext cx="588" cy="2210"/>
            </a:xfrm>
            <a:prstGeom prst="rect">
              <a:avLst/>
            </a:prstGeom>
            <a:noFill/>
            <a:ln w="19050">
              <a:noFill/>
            </a:ln>
          </p:spPr>
          <p:txBody>
            <a:bodyPr wrap="none">
              <a:spAutoFit/>
            </a:bodyPr>
            <a:lstStyle/>
            <a:p>
              <a:pPr defTabSz="952500">
                <a:tabLst>
                  <a:tab pos="571500" algn="l"/>
                </a:tabLst>
              </a:pPr>
              <a:r>
                <a:rPr lang="en-US" altLang="zh-CN" sz="2800" dirty="0">
                  <a:latin typeface="Times New Roman" panose="02020603050405020304" pitchFamily="18" charset="0"/>
                </a:rPr>
                <a:t>1	1</a:t>
              </a:r>
            </a:p>
            <a:p>
              <a:pPr defTabSz="952500">
                <a:tabLst>
                  <a:tab pos="571500" algn="l"/>
                </a:tabLst>
              </a:pPr>
              <a:r>
                <a:rPr lang="en-US" altLang="zh-CN" sz="2800" dirty="0">
                  <a:latin typeface="Times New Roman" panose="02020603050405020304" pitchFamily="18" charset="0"/>
                </a:rPr>
                <a:t>0	0</a:t>
              </a:r>
            </a:p>
            <a:p>
              <a:pPr defTabSz="952500">
                <a:tabLst>
                  <a:tab pos="571500" algn="l"/>
                </a:tabLst>
              </a:pPr>
              <a:r>
                <a:rPr lang="en-US" altLang="zh-CN" sz="2800" dirty="0">
                  <a:latin typeface="Times New Roman" panose="02020603050405020304" pitchFamily="18" charset="0"/>
                </a:rPr>
                <a:t>0	0</a:t>
              </a:r>
            </a:p>
            <a:p>
              <a:pPr defTabSz="952500">
                <a:tabLst>
                  <a:tab pos="571500" algn="l"/>
                </a:tabLst>
              </a:pPr>
              <a:r>
                <a:rPr lang="en-US" altLang="zh-CN" sz="2800" dirty="0">
                  <a:latin typeface="Times New Roman" panose="02020603050405020304" pitchFamily="18" charset="0"/>
                </a:rPr>
                <a:t>0	1</a:t>
              </a:r>
            </a:p>
            <a:p>
              <a:pPr defTabSz="952500">
                <a:tabLst>
                  <a:tab pos="571500" algn="l"/>
                </a:tabLst>
              </a:pPr>
              <a:r>
                <a:rPr lang="en-US" altLang="zh-CN" sz="2800" dirty="0">
                  <a:latin typeface="Times New Roman" panose="02020603050405020304" pitchFamily="18" charset="0"/>
                </a:rPr>
                <a:t>0	1</a:t>
              </a:r>
            </a:p>
            <a:p>
              <a:pPr defTabSz="952500">
                <a:tabLst>
                  <a:tab pos="571500" algn="l"/>
                </a:tabLst>
              </a:pPr>
              <a:r>
                <a:rPr lang="en-US" altLang="zh-CN" sz="2800" dirty="0">
                  <a:latin typeface="Times New Roman" panose="02020603050405020304" pitchFamily="18" charset="0"/>
                </a:rPr>
                <a:t>0	0</a:t>
              </a:r>
            </a:p>
            <a:p>
              <a:pPr defTabSz="952500">
                <a:tabLst>
                  <a:tab pos="571500" algn="l"/>
                </a:tabLst>
              </a:pPr>
              <a:r>
                <a:rPr lang="en-US" altLang="zh-CN" sz="2800" dirty="0">
                  <a:latin typeface="Times New Roman" panose="02020603050405020304" pitchFamily="18" charset="0"/>
                </a:rPr>
                <a:t>1	0</a:t>
              </a:r>
            </a:p>
            <a:p>
              <a:pPr defTabSz="952500">
                <a:tabLst>
                  <a:tab pos="571500" algn="l"/>
                </a:tabLst>
              </a:pPr>
              <a:r>
                <a:rPr lang="en-US" altLang="zh-CN" sz="2800" dirty="0">
                  <a:latin typeface="Times New Roman" panose="02020603050405020304" pitchFamily="18" charset="0"/>
                </a:rPr>
                <a:t>1	1</a:t>
              </a:r>
              <a:endParaRPr lang="en-US" altLang="zh-CN" sz="2800" baseline="-25000" dirty="0">
                <a:latin typeface="Times New Roman" panose="02020603050405020304" pitchFamily="18" charset="0"/>
              </a:endParaRPr>
            </a:p>
          </p:txBody>
        </p:sp>
        <p:sp>
          <p:nvSpPr>
            <p:cNvPr id="75812" name="Text Box 18"/>
            <p:cNvSpPr txBox="1"/>
            <p:nvPr/>
          </p:nvSpPr>
          <p:spPr>
            <a:xfrm>
              <a:off x="4829" y="2050"/>
              <a:ext cx="787" cy="2210"/>
            </a:xfrm>
            <a:prstGeom prst="rect">
              <a:avLst/>
            </a:prstGeom>
            <a:noFill/>
            <a:ln w="19050">
              <a:noFill/>
            </a:ln>
          </p:spPr>
          <p:txBody>
            <a:bodyPr>
              <a:spAutoFit/>
            </a:bodyPr>
            <a:lstStyle/>
            <a:p>
              <a:pPr defTabSz="571500"/>
              <a:r>
                <a:rPr lang="en-US" altLang="zh-CN" sz="2800" dirty="0">
                  <a:latin typeface="Times New Roman" panose="02020603050405020304" pitchFamily="18" charset="0"/>
                </a:rPr>
                <a:t>1 d	1 d</a:t>
              </a:r>
            </a:p>
            <a:p>
              <a:pPr defTabSz="571500"/>
              <a:r>
                <a:rPr lang="en-US" altLang="zh-CN" sz="2800" dirty="0">
                  <a:latin typeface="Times New Roman" panose="02020603050405020304" pitchFamily="18" charset="0"/>
                </a:rPr>
                <a:t>0 d	d 1</a:t>
              </a:r>
            </a:p>
            <a:p>
              <a:pPr defTabSz="571500"/>
              <a:r>
                <a:rPr lang="en-US" altLang="zh-CN" sz="2800" dirty="0">
                  <a:latin typeface="Times New Roman" panose="02020603050405020304" pitchFamily="18" charset="0"/>
                </a:rPr>
                <a:t>d 1	d 1</a:t>
              </a:r>
            </a:p>
            <a:p>
              <a:pPr defTabSz="571500"/>
              <a:r>
                <a:rPr lang="en-US" altLang="zh-CN" sz="2800" dirty="0">
                  <a:latin typeface="Times New Roman" panose="02020603050405020304" pitchFamily="18" charset="0"/>
                </a:rPr>
                <a:t>d 1	1 d</a:t>
              </a:r>
            </a:p>
            <a:p>
              <a:pPr defTabSz="571500"/>
              <a:r>
                <a:rPr lang="en-US" altLang="zh-CN" sz="2800" dirty="0">
                  <a:latin typeface="Times New Roman" panose="02020603050405020304" pitchFamily="18" charset="0"/>
                </a:rPr>
                <a:t>0 d	1 d</a:t>
              </a:r>
            </a:p>
            <a:p>
              <a:pPr defTabSz="571500"/>
              <a:r>
                <a:rPr lang="en-US" altLang="zh-CN" sz="2800" dirty="0">
                  <a:latin typeface="Times New Roman" panose="02020603050405020304" pitchFamily="18" charset="0"/>
                </a:rPr>
                <a:t>0 d	d 1</a:t>
              </a:r>
            </a:p>
            <a:p>
              <a:pPr defTabSz="571500"/>
              <a:r>
                <a:rPr lang="en-US" altLang="zh-CN" sz="2800" dirty="0">
                  <a:latin typeface="Times New Roman" panose="02020603050405020304" pitchFamily="18" charset="0"/>
                </a:rPr>
                <a:t>d 0	d 1</a:t>
              </a:r>
            </a:p>
            <a:p>
              <a:pPr defTabSz="571500"/>
              <a:r>
                <a:rPr lang="en-US" altLang="zh-CN" sz="2800" dirty="0">
                  <a:latin typeface="Times New Roman" panose="02020603050405020304" pitchFamily="18" charset="0"/>
                </a:rPr>
                <a:t>d 0	1 d</a:t>
              </a:r>
              <a:endParaRPr lang="en-US" altLang="zh-CN" sz="2800" baseline="-25000" dirty="0">
                <a:latin typeface="Times New Roman" panose="02020603050405020304" pitchFamily="18" charset="0"/>
              </a:endParaRPr>
            </a:p>
          </p:txBody>
        </p:sp>
        <p:sp>
          <p:nvSpPr>
            <p:cNvPr id="75813" name="Text Box 19"/>
            <p:cNvSpPr txBox="1"/>
            <p:nvPr/>
          </p:nvSpPr>
          <p:spPr>
            <a:xfrm>
              <a:off x="2540" y="2062"/>
              <a:ext cx="228" cy="2210"/>
            </a:xfrm>
            <a:prstGeom prst="rect">
              <a:avLst/>
            </a:prstGeom>
            <a:noFill/>
            <a:ln w="19050">
              <a:noFill/>
            </a:ln>
          </p:spPr>
          <p:txBody>
            <a:bodyPr wrap="none">
              <a:spAutoFit/>
            </a:bodyPr>
            <a:lstStyle/>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1</a:t>
              </a:r>
            </a:p>
            <a:p>
              <a:pPr algn="ctr" defTabSz="666750"/>
              <a:r>
                <a:rPr lang="en-US" altLang="zh-CN" sz="2800" dirty="0">
                  <a:latin typeface="Times New Roman" panose="02020603050405020304" pitchFamily="18" charset="0"/>
                </a:rPr>
                <a:t>1</a:t>
              </a:r>
            </a:p>
            <a:p>
              <a:pPr algn="ctr" defTabSz="666750"/>
              <a:r>
                <a:rPr lang="en-US" altLang="zh-CN" sz="2800" dirty="0">
                  <a:latin typeface="Times New Roman" panose="02020603050405020304" pitchFamily="18" charset="0"/>
                </a:rPr>
                <a:t>1</a:t>
              </a:r>
            </a:p>
            <a:p>
              <a:pPr algn="ctr" defTabSz="666750"/>
              <a:r>
                <a:rPr lang="en-US" altLang="zh-CN" sz="28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grpSp>
        <p:nvGrpSpPr>
          <p:cNvPr id="4" name="Group 45"/>
          <p:cNvGrpSpPr/>
          <p:nvPr/>
        </p:nvGrpSpPr>
        <p:grpSpPr>
          <a:xfrm>
            <a:off x="276225" y="2309813"/>
            <a:ext cx="3700463" cy="4468812"/>
            <a:chOff x="234" y="1461"/>
            <a:chExt cx="2331" cy="2451"/>
          </a:xfrm>
        </p:grpSpPr>
        <p:sp>
          <p:nvSpPr>
            <p:cNvPr id="75792" name="Line 32"/>
            <p:cNvSpPr/>
            <p:nvPr/>
          </p:nvSpPr>
          <p:spPr>
            <a:xfrm>
              <a:off x="377" y="1461"/>
              <a:ext cx="1925" cy="1"/>
            </a:xfrm>
            <a:prstGeom prst="line">
              <a:avLst/>
            </a:prstGeom>
            <a:ln w="38100" cap="flat" cmpd="sng">
              <a:solidFill>
                <a:schemeClr val="tx1"/>
              </a:solidFill>
              <a:prstDash val="solid"/>
              <a:headEnd type="none" w="med" len="med"/>
              <a:tailEnd type="none" w="sm" len="lg"/>
            </a:ln>
          </p:spPr>
        </p:sp>
        <p:sp>
          <p:nvSpPr>
            <p:cNvPr id="75793" name="Line 33"/>
            <p:cNvSpPr/>
            <p:nvPr/>
          </p:nvSpPr>
          <p:spPr>
            <a:xfrm>
              <a:off x="377" y="3874"/>
              <a:ext cx="1925" cy="1"/>
            </a:xfrm>
            <a:prstGeom prst="line">
              <a:avLst/>
            </a:prstGeom>
            <a:ln w="38100" cap="flat" cmpd="sng">
              <a:solidFill>
                <a:schemeClr val="tx1"/>
              </a:solidFill>
              <a:prstDash val="solid"/>
              <a:headEnd type="none" w="med" len="med"/>
              <a:tailEnd type="none" w="sm" len="lg"/>
            </a:ln>
          </p:spPr>
        </p:sp>
        <p:sp>
          <p:nvSpPr>
            <p:cNvPr id="75794" name="Line 34"/>
            <p:cNvSpPr/>
            <p:nvPr/>
          </p:nvSpPr>
          <p:spPr>
            <a:xfrm>
              <a:off x="783" y="1461"/>
              <a:ext cx="0" cy="2424"/>
            </a:xfrm>
            <a:prstGeom prst="line">
              <a:avLst/>
            </a:prstGeom>
            <a:ln w="19050" cap="flat" cmpd="sng">
              <a:solidFill>
                <a:schemeClr val="tx1"/>
              </a:solidFill>
              <a:prstDash val="solid"/>
              <a:headEnd type="none" w="med" len="med"/>
              <a:tailEnd type="none" w="sm" len="lg"/>
            </a:ln>
          </p:spPr>
        </p:sp>
        <p:sp>
          <p:nvSpPr>
            <p:cNvPr id="75795" name="Line 35"/>
            <p:cNvSpPr/>
            <p:nvPr/>
          </p:nvSpPr>
          <p:spPr>
            <a:xfrm>
              <a:off x="1520" y="2000"/>
              <a:ext cx="0" cy="1863"/>
            </a:xfrm>
            <a:prstGeom prst="line">
              <a:avLst/>
            </a:prstGeom>
            <a:ln w="19050" cap="flat" cmpd="sng">
              <a:solidFill>
                <a:schemeClr val="tx1"/>
              </a:solidFill>
              <a:prstDash val="solid"/>
              <a:headEnd type="none" w="med" len="med"/>
              <a:tailEnd type="none" w="sm" len="lg"/>
            </a:ln>
          </p:spPr>
        </p:sp>
        <p:sp>
          <p:nvSpPr>
            <p:cNvPr id="75796" name="Line 36"/>
            <p:cNvSpPr/>
            <p:nvPr/>
          </p:nvSpPr>
          <p:spPr>
            <a:xfrm>
              <a:off x="880" y="1989"/>
              <a:ext cx="1422" cy="1"/>
            </a:xfrm>
            <a:prstGeom prst="line">
              <a:avLst/>
            </a:prstGeom>
            <a:ln w="12700" cap="flat" cmpd="sng">
              <a:solidFill>
                <a:schemeClr val="tx1"/>
              </a:solidFill>
              <a:prstDash val="solid"/>
              <a:headEnd type="none" w="med" len="med"/>
              <a:tailEnd type="none" w="sm" len="lg"/>
            </a:ln>
          </p:spPr>
        </p:sp>
        <p:sp>
          <p:nvSpPr>
            <p:cNvPr id="75797" name="Line 37"/>
            <p:cNvSpPr/>
            <p:nvPr/>
          </p:nvSpPr>
          <p:spPr>
            <a:xfrm>
              <a:off x="377" y="2484"/>
              <a:ext cx="1925" cy="1"/>
            </a:xfrm>
            <a:prstGeom prst="line">
              <a:avLst/>
            </a:prstGeom>
            <a:ln w="12700" cap="flat" cmpd="sng">
              <a:solidFill>
                <a:schemeClr val="tx1"/>
              </a:solidFill>
              <a:prstDash val="solid"/>
              <a:headEnd type="none" w="med" len="med"/>
              <a:tailEnd type="none" w="sm" len="lg"/>
            </a:ln>
          </p:spPr>
        </p:sp>
        <p:sp>
          <p:nvSpPr>
            <p:cNvPr id="75798" name="Text Box 38"/>
            <p:cNvSpPr txBox="1"/>
            <p:nvPr/>
          </p:nvSpPr>
          <p:spPr>
            <a:xfrm>
              <a:off x="234" y="1501"/>
              <a:ext cx="593" cy="754"/>
            </a:xfrm>
            <a:prstGeom prst="rect">
              <a:avLst/>
            </a:prstGeom>
            <a:noFill/>
            <a:ln w="19050">
              <a:noFill/>
            </a:ln>
          </p:spPr>
          <p:txBody>
            <a:bodyPr>
              <a:spAutoFit/>
            </a:bodyPr>
            <a:lstStyle/>
            <a:p>
              <a:pPr>
                <a:lnSpc>
                  <a:spcPct val="150000"/>
                </a:lnSpc>
              </a:pPr>
              <a:r>
                <a:rPr lang="zh-CN" altLang="zh-CN" sz="2800" dirty="0">
                  <a:latin typeface="Times New Roman" panose="02020603050405020304" pitchFamily="18" charset="0"/>
                </a:rPr>
                <a:t>现态</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sp>
          <p:nvSpPr>
            <p:cNvPr id="75799" name="Text Box 39"/>
            <p:cNvSpPr txBox="1"/>
            <p:nvPr/>
          </p:nvSpPr>
          <p:spPr>
            <a:xfrm>
              <a:off x="722" y="1580"/>
              <a:ext cx="1843" cy="285"/>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p>
          </p:txBody>
        </p:sp>
        <p:sp>
          <p:nvSpPr>
            <p:cNvPr id="75800" name="Text Box 40"/>
            <p:cNvSpPr txBox="1"/>
            <p:nvPr/>
          </p:nvSpPr>
          <p:spPr>
            <a:xfrm>
              <a:off x="939" y="2091"/>
              <a:ext cx="453" cy="285"/>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75801" name="Text Box 41"/>
            <p:cNvSpPr txBox="1"/>
            <p:nvPr/>
          </p:nvSpPr>
          <p:spPr>
            <a:xfrm>
              <a:off x="1660" y="2091"/>
              <a:ext cx="453" cy="285"/>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75802" name="Text Box 42"/>
            <p:cNvSpPr txBox="1"/>
            <p:nvPr/>
          </p:nvSpPr>
          <p:spPr>
            <a:xfrm>
              <a:off x="298" y="2454"/>
              <a:ext cx="452" cy="1458"/>
            </a:xfrm>
            <a:prstGeom prst="rect">
              <a:avLst/>
            </a:prstGeom>
            <a:noFill/>
            <a:ln w="19050">
              <a:noFill/>
            </a:ln>
          </p:spPr>
          <p:txBody>
            <a:bodyPr wrap="none">
              <a:spAutoFit/>
            </a:bodyPr>
            <a:lstStyle/>
            <a:p>
              <a:pPr algn="ctr" defTabSz="666750">
                <a:lnSpc>
                  <a:spcPct val="150000"/>
                </a:lnSpc>
              </a:pPr>
              <a:r>
                <a:rPr lang="en-US" altLang="zh-CN" sz="2800" dirty="0">
                  <a:latin typeface="Times New Roman" panose="02020603050405020304" pitchFamily="18" charset="0"/>
                </a:rPr>
                <a:t>0  0</a:t>
              </a:r>
            </a:p>
            <a:p>
              <a:pPr algn="ctr" defTabSz="666750">
                <a:lnSpc>
                  <a:spcPct val="150000"/>
                </a:lnSpc>
              </a:pPr>
              <a:r>
                <a:rPr lang="en-US" altLang="zh-CN" sz="2800" dirty="0">
                  <a:latin typeface="Times New Roman" panose="02020603050405020304" pitchFamily="18" charset="0"/>
                </a:rPr>
                <a:t>0  1</a:t>
              </a:r>
            </a:p>
            <a:p>
              <a:pPr algn="ctr" defTabSz="666750">
                <a:lnSpc>
                  <a:spcPct val="150000"/>
                </a:lnSpc>
              </a:pPr>
              <a:r>
                <a:rPr lang="en-US" altLang="zh-CN" sz="2800" dirty="0">
                  <a:latin typeface="Times New Roman" panose="02020603050405020304" pitchFamily="18" charset="0"/>
                </a:rPr>
                <a:t>1  1</a:t>
              </a:r>
            </a:p>
            <a:p>
              <a:pPr algn="ctr" defTabSz="666750">
                <a:lnSpc>
                  <a:spcPct val="150000"/>
                </a:lnSpc>
              </a:pPr>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75803" name="Text Box 43"/>
            <p:cNvSpPr txBox="1"/>
            <p:nvPr/>
          </p:nvSpPr>
          <p:spPr>
            <a:xfrm>
              <a:off x="906" y="2452"/>
              <a:ext cx="514" cy="1457"/>
            </a:xfrm>
            <a:prstGeom prst="rect">
              <a:avLst/>
            </a:prstGeom>
            <a:noFill/>
            <a:ln w="19050">
              <a:noFill/>
            </a:ln>
          </p:spPr>
          <p:txBody>
            <a:bodyPr wrap="none">
              <a:spAutoFit/>
            </a:bodyPr>
            <a:lstStyle/>
            <a:p>
              <a:pPr>
                <a:lnSpc>
                  <a:spcPct val="150000"/>
                </a:lnSpc>
              </a:pPr>
              <a:r>
                <a:rPr lang="en-US" altLang="zh-CN" sz="2800" dirty="0">
                  <a:latin typeface="Times New Roman" panose="02020603050405020304" pitchFamily="18" charset="0"/>
                </a:rPr>
                <a:t>11/0</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01/0</a:t>
              </a:r>
            </a:p>
          </p:txBody>
        </p:sp>
        <p:sp>
          <p:nvSpPr>
            <p:cNvPr id="75804" name="Text Box 44"/>
            <p:cNvSpPr txBox="1"/>
            <p:nvPr/>
          </p:nvSpPr>
          <p:spPr>
            <a:xfrm>
              <a:off x="1665" y="2452"/>
              <a:ext cx="514" cy="1457"/>
            </a:xfrm>
            <a:prstGeom prst="rect">
              <a:avLst/>
            </a:prstGeom>
            <a:noFill/>
            <a:ln w="19050">
              <a:noFill/>
            </a:ln>
          </p:spPr>
          <p:txBody>
            <a:bodyPr wrap="none">
              <a:spAutoFit/>
            </a:bodyPr>
            <a:lstStyle/>
            <a:p>
              <a:pPr>
                <a:lnSpc>
                  <a:spcPct val="150000"/>
                </a:lnSpc>
              </a:pPr>
              <a:r>
                <a:rPr lang="en-US" altLang="zh-CN" sz="2800" dirty="0">
                  <a:latin typeface="Times New Roman" panose="02020603050405020304" pitchFamily="18" charset="0"/>
                </a:rPr>
                <a:t>01/0</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10/1</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11/0</a:t>
              </a:r>
            </a:p>
          </p:txBody>
        </p:sp>
      </p:grpSp>
      <p:grpSp>
        <p:nvGrpSpPr>
          <p:cNvPr id="5" name="Group 58"/>
          <p:cNvGrpSpPr/>
          <p:nvPr/>
        </p:nvGrpSpPr>
        <p:grpSpPr>
          <a:xfrm>
            <a:off x="4781550" y="357188"/>
            <a:ext cx="3581400" cy="1892300"/>
            <a:chOff x="3012" y="225"/>
            <a:chExt cx="2256" cy="1192"/>
          </a:xfrm>
        </p:grpSpPr>
        <p:grpSp>
          <p:nvGrpSpPr>
            <p:cNvPr id="75783" name="Group 57"/>
            <p:cNvGrpSpPr/>
            <p:nvPr/>
          </p:nvGrpSpPr>
          <p:grpSpPr>
            <a:xfrm>
              <a:off x="3012" y="225"/>
              <a:ext cx="2256" cy="1133"/>
              <a:chOff x="2928" y="225"/>
              <a:chExt cx="2256" cy="1133"/>
            </a:xfrm>
          </p:grpSpPr>
          <p:sp>
            <p:nvSpPr>
              <p:cNvPr id="75786" name="Line 49"/>
              <p:cNvSpPr/>
              <p:nvPr/>
            </p:nvSpPr>
            <p:spPr>
              <a:xfrm>
                <a:off x="2928" y="228"/>
                <a:ext cx="2256" cy="0"/>
              </a:xfrm>
              <a:prstGeom prst="line">
                <a:avLst/>
              </a:prstGeom>
              <a:ln w="38100" cap="flat" cmpd="sng">
                <a:solidFill>
                  <a:schemeClr val="tx1"/>
                </a:solidFill>
                <a:prstDash val="solid"/>
                <a:headEnd type="none" w="med" len="med"/>
                <a:tailEnd type="none" w="sm" len="lg"/>
              </a:ln>
            </p:spPr>
          </p:sp>
          <p:sp>
            <p:nvSpPr>
              <p:cNvPr id="75787" name="Line 50"/>
              <p:cNvSpPr/>
              <p:nvPr/>
            </p:nvSpPr>
            <p:spPr>
              <a:xfrm>
                <a:off x="2928" y="1358"/>
                <a:ext cx="2256" cy="0"/>
              </a:xfrm>
              <a:prstGeom prst="line">
                <a:avLst/>
              </a:prstGeom>
              <a:ln w="38100" cap="flat" cmpd="sng">
                <a:solidFill>
                  <a:schemeClr val="tx1"/>
                </a:solidFill>
                <a:prstDash val="solid"/>
                <a:headEnd type="none" w="med" len="med"/>
                <a:tailEnd type="none" w="sm" len="lg"/>
              </a:ln>
            </p:spPr>
          </p:sp>
          <p:sp>
            <p:nvSpPr>
              <p:cNvPr id="75788" name="Line 51"/>
              <p:cNvSpPr/>
              <p:nvPr/>
            </p:nvSpPr>
            <p:spPr>
              <a:xfrm>
                <a:off x="2928" y="467"/>
                <a:ext cx="2256" cy="0"/>
              </a:xfrm>
              <a:prstGeom prst="line">
                <a:avLst/>
              </a:prstGeom>
              <a:ln w="19050" cap="flat" cmpd="sng">
                <a:solidFill>
                  <a:schemeClr val="tx1"/>
                </a:solidFill>
                <a:prstDash val="solid"/>
                <a:headEnd type="none" w="med" len="med"/>
                <a:tailEnd type="none" w="sm" len="lg"/>
              </a:ln>
            </p:spPr>
          </p:sp>
          <p:sp>
            <p:nvSpPr>
              <p:cNvPr id="75789" name="Line 52"/>
              <p:cNvSpPr/>
              <p:nvPr/>
            </p:nvSpPr>
            <p:spPr>
              <a:xfrm>
                <a:off x="4056" y="228"/>
                <a:ext cx="0" cy="1130"/>
              </a:xfrm>
              <a:prstGeom prst="line">
                <a:avLst/>
              </a:prstGeom>
              <a:ln w="19050" cap="flat" cmpd="sng">
                <a:solidFill>
                  <a:schemeClr val="tx1"/>
                </a:solidFill>
                <a:prstDash val="solid"/>
                <a:headEnd type="none" w="med" len="med"/>
                <a:tailEnd type="none" w="sm" len="lg"/>
              </a:ln>
            </p:spPr>
          </p:sp>
          <p:sp>
            <p:nvSpPr>
              <p:cNvPr id="75790" name="Text Box 53"/>
              <p:cNvSpPr txBox="1"/>
              <p:nvPr/>
            </p:nvSpPr>
            <p:spPr>
              <a:xfrm>
                <a:off x="3194" y="225"/>
                <a:ext cx="741" cy="250"/>
              </a:xfrm>
              <a:prstGeom prst="rect">
                <a:avLst/>
              </a:prstGeom>
              <a:noFill/>
              <a:ln w="19050">
                <a:noFill/>
              </a:ln>
            </p:spPr>
            <p:txBody>
              <a:bodyPr wrap="none">
                <a:spAutoFit/>
              </a:bodyPr>
              <a:lstStyle/>
              <a:p>
                <a:r>
                  <a:rPr lang="en-US" altLang="zh-CN" sz="2000" dirty="0">
                    <a:latin typeface="Times New Roman" panose="02020603050405020304" pitchFamily="18" charset="0"/>
                  </a:rPr>
                  <a:t>Q    </a:t>
                </a:r>
                <a:r>
                  <a:rPr lang="en-US" altLang="zh-CN" sz="2000" dirty="0">
                    <a:latin typeface="Times New Roman" panose="02020603050405020304" pitchFamily="18" charset="0"/>
                    <a:sym typeface="Monotype Sorts" pitchFamily="2" charset="2"/>
                  </a:rPr>
                  <a:t>Q</a:t>
                </a:r>
                <a:r>
                  <a:rPr lang="en-US" altLang="zh-CN" sz="2000" baseline="30000" dirty="0">
                    <a:latin typeface="Times New Roman" panose="02020603050405020304" pitchFamily="18" charset="0"/>
                    <a:sym typeface="Monotype Sorts" pitchFamily="2" charset="2"/>
                  </a:rPr>
                  <a:t>(n+1)</a:t>
                </a:r>
                <a:endParaRPr lang="en-US" altLang="zh-CN" sz="2000" dirty="0">
                  <a:latin typeface="Times New Roman" panose="02020603050405020304" pitchFamily="18" charset="0"/>
                </a:endParaRPr>
              </a:p>
            </p:txBody>
          </p:sp>
          <p:sp>
            <p:nvSpPr>
              <p:cNvPr id="75791" name="Text Box 54"/>
              <p:cNvSpPr txBox="1"/>
              <p:nvPr/>
            </p:nvSpPr>
            <p:spPr>
              <a:xfrm>
                <a:off x="4298" y="225"/>
                <a:ext cx="652" cy="250"/>
              </a:xfrm>
              <a:prstGeom prst="rect">
                <a:avLst/>
              </a:prstGeom>
              <a:noFill/>
              <a:ln w="19050">
                <a:noFill/>
              </a:ln>
            </p:spPr>
            <p:txBody>
              <a:bodyPr wrap="none">
                <a:spAutoFit/>
              </a:bodyPr>
              <a:lstStyle/>
              <a:p>
                <a:pPr defTabSz="666750"/>
                <a:r>
                  <a:rPr lang="en-US" altLang="zh-CN" sz="2000" dirty="0">
                    <a:latin typeface="Times New Roman" panose="02020603050405020304" pitchFamily="18" charset="0"/>
                  </a:rPr>
                  <a:t>J	K</a:t>
                </a:r>
              </a:p>
            </p:txBody>
          </p:sp>
        </p:grpSp>
        <p:sp>
          <p:nvSpPr>
            <p:cNvPr id="75784" name="Text Box 55"/>
            <p:cNvSpPr txBox="1"/>
            <p:nvPr/>
          </p:nvSpPr>
          <p:spPr>
            <a:xfrm>
              <a:off x="4382" y="359"/>
              <a:ext cx="616" cy="1058"/>
            </a:xfrm>
            <a:prstGeom prst="rect">
              <a:avLst/>
            </a:prstGeom>
            <a:noFill/>
            <a:ln w="19050">
              <a:noFill/>
            </a:ln>
          </p:spPr>
          <p:txBody>
            <a:bodyPr wrap="none">
              <a:spAutoFit/>
            </a:bodyPr>
            <a:lstStyle/>
            <a:p>
              <a:pPr defTabSz="666750">
                <a:lnSpc>
                  <a:spcPct val="130000"/>
                </a:lnSpc>
              </a:pPr>
              <a:r>
                <a:rPr lang="en-US" altLang="zh-CN" sz="2000" dirty="0">
                  <a:latin typeface="Times New Roman" panose="02020603050405020304" pitchFamily="18" charset="0"/>
                </a:rPr>
                <a:t>0	d</a:t>
              </a:r>
            </a:p>
            <a:p>
              <a:pPr defTabSz="666750">
                <a:lnSpc>
                  <a:spcPct val="130000"/>
                </a:lnSpc>
              </a:pPr>
              <a:r>
                <a:rPr lang="en-US" altLang="zh-CN" sz="2000" dirty="0">
                  <a:latin typeface="Times New Roman" panose="02020603050405020304" pitchFamily="18" charset="0"/>
                </a:rPr>
                <a:t>1	d</a:t>
              </a:r>
            </a:p>
            <a:p>
              <a:pPr defTabSz="666750">
                <a:lnSpc>
                  <a:spcPct val="130000"/>
                </a:lnSpc>
              </a:pPr>
              <a:r>
                <a:rPr lang="en-US" altLang="zh-CN" sz="2000" dirty="0">
                  <a:latin typeface="Times New Roman" panose="02020603050405020304" pitchFamily="18" charset="0"/>
                </a:rPr>
                <a:t>d	1</a:t>
              </a:r>
            </a:p>
            <a:p>
              <a:pPr defTabSz="666750">
                <a:lnSpc>
                  <a:spcPct val="130000"/>
                </a:lnSpc>
              </a:pPr>
              <a:r>
                <a:rPr lang="en-US" altLang="zh-CN" sz="2000" dirty="0">
                  <a:latin typeface="Times New Roman" panose="02020603050405020304" pitchFamily="18" charset="0"/>
                </a:rPr>
                <a:t>d	0</a:t>
              </a:r>
            </a:p>
          </p:txBody>
        </p:sp>
        <p:sp>
          <p:nvSpPr>
            <p:cNvPr id="75785" name="Text Box 56"/>
            <p:cNvSpPr txBox="1"/>
            <p:nvPr/>
          </p:nvSpPr>
          <p:spPr>
            <a:xfrm>
              <a:off x="3254" y="358"/>
              <a:ext cx="616" cy="1058"/>
            </a:xfrm>
            <a:prstGeom prst="rect">
              <a:avLst/>
            </a:prstGeom>
            <a:noFill/>
            <a:ln w="19050">
              <a:noFill/>
            </a:ln>
          </p:spPr>
          <p:txBody>
            <a:bodyPr wrap="none">
              <a:spAutoFit/>
            </a:bodyPr>
            <a:lstStyle/>
            <a:p>
              <a:pPr defTabSz="666750">
                <a:lnSpc>
                  <a:spcPct val="130000"/>
                </a:lnSpc>
              </a:pPr>
              <a:r>
                <a:rPr lang="en-US" altLang="zh-CN" sz="2000" dirty="0">
                  <a:latin typeface="Times New Roman" panose="02020603050405020304" pitchFamily="18" charset="0"/>
                </a:rPr>
                <a:t>0	0</a:t>
              </a:r>
            </a:p>
            <a:p>
              <a:pPr defTabSz="666750">
                <a:lnSpc>
                  <a:spcPct val="130000"/>
                </a:lnSpc>
              </a:pPr>
              <a:r>
                <a:rPr lang="en-US" altLang="zh-CN" sz="2000" dirty="0">
                  <a:latin typeface="Times New Roman" panose="02020603050405020304" pitchFamily="18" charset="0"/>
                </a:rPr>
                <a:t>0	1</a:t>
              </a:r>
            </a:p>
            <a:p>
              <a:pPr defTabSz="666750">
                <a:lnSpc>
                  <a:spcPct val="130000"/>
                </a:lnSpc>
              </a:pPr>
              <a:r>
                <a:rPr lang="en-US" altLang="zh-CN" sz="2000" dirty="0">
                  <a:latin typeface="Times New Roman" panose="02020603050405020304" pitchFamily="18" charset="0"/>
                </a:rPr>
                <a:t>1	0</a:t>
              </a:r>
            </a:p>
            <a:p>
              <a:pPr defTabSz="666750">
                <a:lnSpc>
                  <a:spcPct val="130000"/>
                </a:lnSpc>
              </a:pPr>
              <a:r>
                <a:rPr lang="en-US" altLang="zh-CN" sz="2000" dirty="0">
                  <a:latin typeface="Times New Roman" panose="02020603050405020304" pitchFamily="18" charset="0"/>
                </a:rPr>
                <a:t>1	1</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6067"/>
                                        </p:tgtEl>
                                        <p:attrNameLst>
                                          <p:attrName>style.visibility</p:attrName>
                                        </p:attrNameLst>
                                      </p:cBhvr>
                                      <p:to>
                                        <p:strVal val="visible"/>
                                      </p:to>
                                    </p:set>
                                    <p:animEffect transition="in" filter="wipe(left)">
                                      <p:cBhvr>
                                        <p:cTn id="7" dur="500"/>
                                        <p:tgtEl>
                                          <p:spTgt spid="216067"/>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
                                          </p:val>
                                        </p:tav>
                                        <p:tav tm="100000">
                                          <p:val>
                                            <p:strVal val="#ppt_w"/>
                                          </p:val>
                                        </p:tav>
                                      </p:tavLst>
                                    </p:anim>
                                    <p:anim calcmode="lin" valueType="num">
                                      <p:cBhvr>
                                        <p:cTn id="19"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p:cTn id="24" dur="500" fill="hold"/>
                                        <p:tgtEl>
                                          <p:spTgt spid="2"/>
                                        </p:tgtEl>
                                        <p:attrNameLst>
                                          <p:attrName>ppt_w</p:attrName>
                                        </p:attrNameLst>
                                      </p:cBhvr>
                                      <p:tavLst>
                                        <p:tav tm="0">
                                          <p:val>
                                            <p:fltVal val="0"/>
                                          </p:val>
                                        </p:tav>
                                        <p:tav tm="100000">
                                          <p:val>
                                            <p:strVal val="#ppt_w"/>
                                          </p:val>
                                        </p:tav>
                                      </p:tavLst>
                                    </p:anim>
                                    <p:anim calcmode="lin" valueType="num">
                                      <p:cBhvr>
                                        <p:cTn id="25"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7"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122" name="Text Box 34"/>
          <p:cNvSpPr txBox="1"/>
          <p:nvPr/>
        </p:nvSpPr>
        <p:spPr>
          <a:xfrm>
            <a:off x="1077913" y="5678488"/>
            <a:ext cx="820737" cy="519112"/>
          </a:xfrm>
          <a:prstGeom prst="rect">
            <a:avLst/>
          </a:prstGeom>
          <a:noFill/>
          <a:ln w="19050">
            <a:noFill/>
          </a:ln>
        </p:spPr>
        <p:txBody>
          <a:bodyPr wrap="none">
            <a:spAutoFit/>
          </a:bodyPr>
          <a:lstStyle/>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=1</a:t>
            </a:r>
          </a:p>
        </p:txBody>
      </p:sp>
      <p:graphicFrame>
        <p:nvGraphicFramePr>
          <p:cNvPr id="217123" name="Object 35"/>
          <p:cNvGraphicFramePr>
            <a:graphicFrameLocks noChangeAspect="1"/>
          </p:cNvGraphicFramePr>
          <p:nvPr/>
        </p:nvGraphicFramePr>
        <p:xfrm>
          <a:off x="1027113" y="5021263"/>
          <a:ext cx="1350962" cy="517525"/>
        </p:xfrm>
        <a:graphic>
          <a:graphicData uri="http://schemas.openxmlformats.org/presentationml/2006/ole">
            <mc:AlternateContent xmlns:mc="http://schemas.openxmlformats.org/markup-compatibility/2006">
              <mc:Choice xmlns:v="urn:schemas-microsoft-com:vml" Requires="v">
                <p:oleObj r:id="rId2" imgW="481965" imgH="215900" progId="Equation.3">
                  <p:embed/>
                </p:oleObj>
              </mc:Choice>
              <mc:Fallback>
                <p:oleObj r:id="rId2" imgW="481965" imgH="215900" progId="Equation.3">
                  <p:embed/>
                  <p:pic>
                    <p:nvPicPr>
                      <p:cNvPr id="0" name="图片 3077"/>
                      <p:cNvPicPr/>
                      <p:nvPr/>
                    </p:nvPicPr>
                    <p:blipFill>
                      <a:blip r:embed="rId3"/>
                      <a:stretch>
                        <a:fillRect/>
                      </a:stretch>
                    </p:blipFill>
                    <p:spPr>
                      <a:xfrm>
                        <a:off x="1027113" y="5021263"/>
                        <a:ext cx="1350962" cy="517525"/>
                      </a:xfrm>
                      <a:prstGeom prst="rect">
                        <a:avLst/>
                      </a:prstGeom>
                      <a:noFill/>
                      <a:ln w="38100">
                        <a:noFill/>
                        <a:miter/>
                      </a:ln>
                    </p:spPr>
                  </p:pic>
                </p:oleObj>
              </mc:Fallback>
            </mc:AlternateContent>
          </a:graphicData>
        </a:graphic>
      </p:graphicFrame>
      <p:grpSp>
        <p:nvGrpSpPr>
          <p:cNvPr id="2" name="Group 54"/>
          <p:cNvGrpSpPr/>
          <p:nvPr/>
        </p:nvGrpSpPr>
        <p:grpSpPr>
          <a:xfrm>
            <a:off x="0" y="463550"/>
            <a:ext cx="5464175" cy="4557713"/>
            <a:chOff x="2426" y="1413"/>
            <a:chExt cx="3442" cy="2871"/>
          </a:xfrm>
        </p:grpSpPr>
        <p:sp>
          <p:nvSpPr>
            <p:cNvPr id="3204" name="Text Box 55"/>
            <p:cNvSpPr txBox="1"/>
            <p:nvPr/>
          </p:nvSpPr>
          <p:spPr>
            <a:xfrm>
              <a:off x="3139" y="1478"/>
              <a:ext cx="814" cy="518"/>
            </a:xfrm>
            <a:prstGeom prst="rect">
              <a:avLst/>
            </a:prstGeom>
            <a:noFill/>
            <a:ln w="19050">
              <a:noFill/>
            </a:ln>
          </p:spPr>
          <p:txBody>
            <a:bodyPr>
              <a:spAutoFit/>
            </a:bodyPr>
            <a:lstStyle/>
            <a:p>
              <a:pPr algn="ctr"/>
              <a:r>
                <a:rPr lang="zh-CN" altLang="zh-CN" sz="2400" dirty="0">
                  <a:latin typeface="Times New Roman" panose="02020603050405020304" pitchFamily="18" charset="0"/>
                </a:rPr>
                <a:t>现态</a:t>
              </a:r>
            </a:p>
            <a:p>
              <a:pPr algn="ctr"/>
              <a:r>
                <a:rPr lang="zh-CN" altLang="zh-CN" sz="2400" dirty="0">
                  <a:latin typeface="Times New Roman" panose="02020603050405020304" pitchFamily="18" charset="0"/>
                </a:rPr>
                <a:t>  </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    y</a:t>
              </a:r>
              <a:r>
                <a:rPr lang="en-US" altLang="zh-CN" sz="2400" baseline="-25000" dirty="0">
                  <a:latin typeface="Times New Roman" panose="02020603050405020304" pitchFamily="18" charset="0"/>
                </a:rPr>
                <a:t>1</a:t>
              </a:r>
              <a:endParaRPr lang="en-US" altLang="zh-CN" sz="2800" dirty="0">
                <a:latin typeface="Times New Roman" panose="02020603050405020304" pitchFamily="18" charset="0"/>
              </a:endParaRPr>
            </a:p>
          </p:txBody>
        </p:sp>
        <p:sp>
          <p:nvSpPr>
            <p:cNvPr id="3205" name="Text Box 56"/>
            <p:cNvSpPr txBox="1"/>
            <p:nvPr/>
          </p:nvSpPr>
          <p:spPr>
            <a:xfrm>
              <a:off x="3894" y="1516"/>
              <a:ext cx="916" cy="480"/>
            </a:xfrm>
            <a:prstGeom prst="rect">
              <a:avLst/>
            </a:prstGeom>
            <a:noFill/>
            <a:ln w="19050">
              <a:noFill/>
            </a:ln>
          </p:spPr>
          <p:txBody>
            <a:bodyPr wrap="none">
              <a:spAutoFit/>
            </a:bodyPr>
            <a:lstStyle/>
            <a:p>
              <a:pPr algn="ctr"/>
              <a:r>
                <a:rPr lang="zh-CN" altLang="zh-CN" sz="2400" dirty="0">
                  <a:latin typeface="Times New Roman" panose="02020603050405020304" pitchFamily="18" charset="0"/>
                </a:rPr>
                <a:t>次态</a:t>
              </a:r>
            </a:p>
            <a:p>
              <a:pPr algn="ctr"/>
              <a:r>
                <a:rPr lang="en-US" altLang="zh-CN" sz="2000" b="1" dirty="0">
                  <a:latin typeface="Times New Roman" panose="02020603050405020304" pitchFamily="18" charset="0"/>
                </a:rPr>
                <a:t>y</a:t>
              </a:r>
              <a:r>
                <a:rPr lang="en-US" altLang="zh-CN" sz="2000" b="1" baseline="-25000" dirty="0">
                  <a:latin typeface="Times New Roman" panose="02020603050405020304" pitchFamily="18" charset="0"/>
                </a:rPr>
                <a:t>2</a:t>
              </a:r>
              <a:r>
                <a:rPr lang="en-US" altLang="zh-CN" sz="2000" b="1" baseline="30000" dirty="0">
                  <a:latin typeface="Times New Roman" panose="02020603050405020304" pitchFamily="18" charset="0"/>
                </a:rPr>
                <a:t>(</a:t>
              </a:r>
              <a:r>
                <a:rPr lang="en-US" altLang="zh-CN" sz="2000" b="1" i="1" baseline="30000" dirty="0">
                  <a:latin typeface="Times New Roman" panose="02020603050405020304" pitchFamily="18" charset="0"/>
                </a:rPr>
                <a:t>n</a:t>
              </a:r>
              <a:r>
                <a:rPr lang="en-US" altLang="zh-CN" sz="2000" b="1" baseline="30000" dirty="0">
                  <a:latin typeface="Times New Roman" panose="02020603050405020304" pitchFamily="18" charset="0"/>
                </a:rPr>
                <a:t>+1</a:t>
              </a:r>
              <a:r>
                <a:rPr lang="en-US" altLang="zh-CN" sz="2000" b="1" dirty="0">
                  <a:latin typeface="Times New Roman" panose="02020603050405020304" pitchFamily="18" charset="0"/>
                </a:rPr>
                <a:t>) y</a:t>
              </a:r>
              <a:r>
                <a:rPr lang="en-US" altLang="zh-CN" sz="2000" b="1" baseline="-25000" dirty="0">
                  <a:latin typeface="Times New Roman" panose="02020603050405020304" pitchFamily="18" charset="0"/>
                </a:rPr>
                <a:t>1</a:t>
              </a:r>
              <a:r>
                <a:rPr lang="en-US" altLang="zh-CN" sz="2000" b="1" baseline="30000" dirty="0">
                  <a:latin typeface="Times New Roman" panose="02020603050405020304" pitchFamily="18" charset="0"/>
                </a:rPr>
                <a:t>(</a:t>
              </a:r>
              <a:r>
                <a:rPr lang="en-US" altLang="zh-CN" sz="2000" b="1" i="1" baseline="30000" dirty="0">
                  <a:latin typeface="Times New Roman" panose="02020603050405020304" pitchFamily="18" charset="0"/>
                </a:rPr>
                <a:t>n</a:t>
              </a:r>
              <a:r>
                <a:rPr lang="en-US" altLang="zh-CN" sz="2000" b="1" baseline="30000" dirty="0">
                  <a:latin typeface="Times New Roman" panose="02020603050405020304" pitchFamily="18" charset="0"/>
                </a:rPr>
                <a:t>+1)</a:t>
              </a:r>
              <a:endParaRPr lang="en-US" altLang="zh-CN" sz="2400" dirty="0">
                <a:latin typeface="Times New Roman" panose="02020603050405020304" pitchFamily="18" charset="0"/>
              </a:endParaRPr>
            </a:p>
          </p:txBody>
        </p:sp>
        <p:sp>
          <p:nvSpPr>
            <p:cNvPr id="3206" name="Text Box 57"/>
            <p:cNvSpPr txBox="1"/>
            <p:nvPr/>
          </p:nvSpPr>
          <p:spPr>
            <a:xfrm>
              <a:off x="3163" y="2074"/>
              <a:ext cx="648" cy="2210"/>
            </a:xfrm>
            <a:prstGeom prst="rect">
              <a:avLst/>
            </a:prstGeom>
            <a:noFill/>
            <a:ln w="19050">
              <a:noFill/>
            </a:ln>
          </p:spPr>
          <p:txBody>
            <a:bodyPr wrap="none">
              <a:spAutoFit/>
            </a:bodyPr>
            <a:lstStyle/>
            <a:p>
              <a:pPr defTabSz="666750"/>
              <a:r>
                <a:rPr lang="en-US" altLang="zh-CN" sz="2800" dirty="0">
                  <a:latin typeface="Times New Roman" panose="02020603050405020304" pitchFamily="18" charset="0"/>
                </a:rPr>
                <a:t>0	0</a:t>
              </a:r>
            </a:p>
            <a:p>
              <a:pPr defTabSz="666750"/>
              <a:r>
                <a:rPr lang="en-US" altLang="zh-CN" sz="2800" dirty="0">
                  <a:latin typeface="Times New Roman" panose="02020603050405020304" pitchFamily="18" charset="0"/>
                </a:rPr>
                <a:t>0	1</a:t>
              </a:r>
            </a:p>
            <a:p>
              <a:pPr defTabSz="666750"/>
              <a:r>
                <a:rPr lang="en-US" altLang="zh-CN" sz="2800" dirty="0">
                  <a:latin typeface="Times New Roman" panose="02020603050405020304" pitchFamily="18" charset="0"/>
                </a:rPr>
                <a:t>1	1</a:t>
              </a:r>
            </a:p>
            <a:p>
              <a:pPr defTabSz="666750"/>
              <a:r>
                <a:rPr lang="en-US" altLang="zh-CN" sz="2800" dirty="0">
                  <a:latin typeface="Times New Roman" panose="02020603050405020304" pitchFamily="18" charset="0"/>
                </a:rPr>
                <a:t>1	0</a:t>
              </a:r>
            </a:p>
            <a:p>
              <a:pPr defTabSz="666750"/>
              <a:r>
                <a:rPr lang="en-US" altLang="zh-CN" sz="2800" dirty="0">
                  <a:latin typeface="Times New Roman" panose="02020603050405020304" pitchFamily="18" charset="0"/>
                </a:rPr>
                <a:t>0	0</a:t>
              </a:r>
            </a:p>
            <a:p>
              <a:pPr defTabSz="666750"/>
              <a:r>
                <a:rPr lang="en-US" altLang="zh-CN" sz="2800" dirty="0">
                  <a:latin typeface="Times New Roman" panose="02020603050405020304" pitchFamily="18" charset="0"/>
                </a:rPr>
                <a:t>0	1</a:t>
              </a:r>
            </a:p>
            <a:p>
              <a:pPr defTabSz="666750"/>
              <a:r>
                <a:rPr lang="en-US" altLang="zh-CN" sz="2800" dirty="0">
                  <a:latin typeface="Times New Roman" panose="02020603050405020304" pitchFamily="18" charset="0"/>
                </a:rPr>
                <a:t>1	1</a:t>
              </a:r>
            </a:p>
            <a:p>
              <a:pPr defTabSz="666750"/>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3207" name="Rectangle 58"/>
            <p:cNvSpPr/>
            <p:nvPr/>
          </p:nvSpPr>
          <p:spPr>
            <a:xfrm>
              <a:off x="2523" y="1478"/>
              <a:ext cx="500" cy="518"/>
            </a:xfrm>
            <a:prstGeom prst="rect">
              <a:avLst/>
            </a:prstGeom>
            <a:noFill/>
            <a:ln w="19050">
              <a:noFill/>
            </a:ln>
          </p:spPr>
          <p:txBody>
            <a:bodyPr wrap="none">
              <a:spAutoFit/>
            </a:bodyPr>
            <a:lstStyle/>
            <a:p>
              <a:pPr algn="ctr"/>
              <a:r>
                <a:rPr lang="zh-CN" altLang="en-US" sz="2400" dirty="0">
                  <a:latin typeface="Times New Roman" panose="02020603050405020304" pitchFamily="18" charset="0"/>
                </a:rPr>
                <a:t>输入</a:t>
              </a:r>
            </a:p>
            <a:p>
              <a:pPr algn="ctr"/>
              <a:r>
                <a:rPr lang="en-US" altLang="zh-CN" sz="2400" dirty="0">
                  <a:latin typeface="Times New Roman" panose="02020603050405020304" pitchFamily="18" charset="0"/>
                </a:rPr>
                <a:t>x</a:t>
              </a:r>
              <a:endParaRPr lang="en-US" altLang="zh-CN" sz="2800" dirty="0">
                <a:latin typeface="Times New Roman" panose="02020603050405020304" pitchFamily="18" charset="0"/>
              </a:endParaRPr>
            </a:p>
          </p:txBody>
        </p:sp>
        <p:sp>
          <p:nvSpPr>
            <p:cNvPr id="3208" name="Rectangle 59"/>
            <p:cNvSpPr/>
            <p:nvPr/>
          </p:nvSpPr>
          <p:spPr>
            <a:xfrm>
              <a:off x="4632" y="1478"/>
              <a:ext cx="1236" cy="518"/>
            </a:xfrm>
            <a:prstGeom prst="rect">
              <a:avLst/>
            </a:prstGeom>
            <a:noFill/>
            <a:ln w="19050">
              <a:noFill/>
            </a:ln>
          </p:spPr>
          <p:txBody>
            <a:bodyPr>
              <a:spAutoFit/>
            </a:bodyPr>
            <a:lstStyle/>
            <a:p>
              <a:pPr algn="ctr"/>
              <a:r>
                <a:rPr lang="zh-CN" altLang="en-US" sz="2400" dirty="0">
                  <a:latin typeface="Times New Roman" panose="02020603050405020304" pitchFamily="18" charset="0"/>
                </a:rPr>
                <a:t>激励函数</a:t>
              </a:r>
            </a:p>
            <a:p>
              <a:pPr algn="ctr"/>
              <a:r>
                <a:rPr lang="en-US" altLang="zh-CN" sz="2400" dirty="0">
                  <a:latin typeface="Times New Roman" panose="02020603050405020304" pitchFamily="18" charset="0"/>
                </a:rPr>
                <a:t>J</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K</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J</a:t>
              </a:r>
              <a:r>
                <a:rPr lang="en-US" altLang="zh-CN" sz="2400" baseline="-25000" dirty="0">
                  <a:latin typeface="Times New Roman" panose="02020603050405020304" pitchFamily="18" charset="0"/>
                </a:rPr>
                <a:t>1</a:t>
              </a:r>
              <a:r>
                <a:rPr lang="en-US" altLang="zh-CN" sz="2400" dirty="0">
                  <a:latin typeface="Times New Roman" panose="02020603050405020304" pitchFamily="18" charset="0"/>
                </a:rPr>
                <a:t>K</a:t>
              </a:r>
              <a:r>
                <a:rPr lang="en-US" altLang="zh-CN" sz="2400" baseline="-25000" dirty="0">
                  <a:latin typeface="Times New Roman" panose="02020603050405020304" pitchFamily="18" charset="0"/>
                </a:rPr>
                <a:t>1</a:t>
              </a:r>
            </a:p>
          </p:txBody>
        </p:sp>
        <p:grpSp>
          <p:nvGrpSpPr>
            <p:cNvPr id="3209" name="Group 60"/>
            <p:cNvGrpSpPr/>
            <p:nvPr/>
          </p:nvGrpSpPr>
          <p:grpSpPr>
            <a:xfrm>
              <a:off x="2426" y="1413"/>
              <a:ext cx="3202" cy="2871"/>
              <a:chOff x="480" y="1043"/>
              <a:chExt cx="3456" cy="2871"/>
            </a:xfrm>
          </p:grpSpPr>
          <p:sp>
            <p:nvSpPr>
              <p:cNvPr id="3213" name="Line 61"/>
              <p:cNvSpPr/>
              <p:nvPr/>
            </p:nvSpPr>
            <p:spPr>
              <a:xfrm>
                <a:off x="515" y="1056"/>
                <a:ext cx="3421" cy="0"/>
              </a:xfrm>
              <a:prstGeom prst="line">
                <a:avLst/>
              </a:prstGeom>
              <a:ln w="38100" cap="flat" cmpd="sng">
                <a:solidFill>
                  <a:schemeClr val="tx1"/>
                </a:solidFill>
                <a:prstDash val="solid"/>
                <a:headEnd type="none" w="med" len="med"/>
                <a:tailEnd type="none" w="sm" len="lg"/>
              </a:ln>
            </p:spPr>
          </p:sp>
          <p:sp>
            <p:nvSpPr>
              <p:cNvPr id="3214" name="Line 62"/>
              <p:cNvSpPr/>
              <p:nvPr/>
            </p:nvSpPr>
            <p:spPr>
              <a:xfrm>
                <a:off x="480" y="3901"/>
                <a:ext cx="3456" cy="0"/>
              </a:xfrm>
              <a:prstGeom prst="line">
                <a:avLst/>
              </a:prstGeom>
              <a:ln w="38100" cap="flat" cmpd="sng">
                <a:solidFill>
                  <a:schemeClr val="tx1"/>
                </a:solidFill>
                <a:prstDash val="solid"/>
                <a:headEnd type="none" w="med" len="med"/>
                <a:tailEnd type="none" w="sm" len="lg"/>
              </a:ln>
            </p:spPr>
          </p:sp>
          <p:sp>
            <p:nvSpPr>
              <p:cNvPr id="3215" name="Line 63"/>
              <p:cNvSpPr/>
              <p:nvPr/>
            </p:nvSpPr>
            <p:spPr>
              <a:xfrm>
                <a:off x="1159" y="1056"/>
                <a:ext cx="0" cy="2832"/>
              </a:xfrm>
              <a:prstGeom prst="line">
                <a:avLst/>
              </a:prstGeom>
              <a:ln w="19050" cap="flat" cmpd="sng">
                <a:solidFill>
                  <a:schemeClr val="tx1"/>
                </a:solidFill>
                <a:prstDash val="solid"/>
                <a:headEnd type="none" w="med" len="med"/>
                <a:tailEnd type="none" w="sm" len="lg"/>
              </a:ln>
            </p:spPr>
          </p:sp>
          <p:sp>
            <p:nvSpPr>
              <p:cNvPr id="3216" name="Line 64"/>
              <p:cNvSpPr/>
              <p:nvPr/>
            </p:nvSpPr>
            <p:spPr>
              <a:xfrm>
                <a:off x="1995" y="1043"/>
                <a:ext cx="0" cy="2871"/>
              </a:xfrm>
              <a:prstGeom prst="line">
                <a:avLst/>
              </a:prstGeom>
              <a:ln w="19050" cap="flat" cmpd="sng">
                <a:solidFill>
                  <a:schemeClr val="tx1"/>
                </a:solidFill>
                <a:prstDash val="solid"/>
                <a:headEnd type="none" w="med" len="med"/>
                <a:tailEnd type="none" w="sm" len="lg"/>
              </a:ln>
            </p:spPr>
          </p:sp>
          <p:sp>
            <p:nvSpPr>
              <p:cNvPr id="3217" name="Line 65"/>
              <p:cNvSpPr/>
              <p:nvPr/>
            </p:nvSpPr>
            <p:spPr>
              <a:xfrm>
                <a:off x="506" y="1684"/>
                <a:ext cx="3430" cy="0"/>
              </a:xfrm>
              <a:prstGeom prst="line">
                <a:avLst/>
              </a:prstGeom>
              <a:ln w="12700" cap="flat" cmpd="sng">
                <a:solidFill>
                  <a:schemeClr val="tx1"/>
                </a:solidFill>
                <a:prstDash val="solid"/>
                <a:headEnd type="none" w="med" len="med"/>
                <a:tailEnd type="none" w="sm" len="lg"/>
              </a:ln>
            </p:spPr>
          </p:sp>
          <p:sp>
            <p:nvSpPr>
              <p:cNvPr id="3218" name="Line 66"/>
              <p:cNvSpPr/>
              <p:nvPr/>
            </p:nvSpPr>
            <p:spPr>
              <a:xfrm>
                <a:off x="3074" y="1055"/>
                <a:ext cx="0" cy="2835"/>
              </a:xfrm>
              <a:prstGeom prst="line">
                <a:avLst/>
              </a:prstGeom>
              <a:ln w="19050" cap="flat" cmpd="sng">
                <a:solidFill>
                  <a:schemeClr val="tx1"/>
                </a:solidFill>
                <a:prstDash val="solid"/>
                <a:headEnd type="none" w="med" len="med"/>
                <a:tailEnd type="none" w="sm" len="lg"/>
              </a:ln>
            </p:spPr>
          </p:sp>
        </p:grpSp>
        <p:sp>
          <p:nvSpPr>
            <p:cNvPr id="3210" name="Text Box 67"/>
            <p:cNvSpPr txBox="1"/>
            <p:nvPr/>
          </p:nvSpPr>
          <p:spPr>
            <a:xfrm>
              <a:off x="4026" y="2062"/>
              <a:ext cx="588" cy="2210"/>
            </a:xfrm>
            <a:prstGeom prst="rect">
              <a:avLst/>
            </a:prstGeom>
            <a:noFill/>
            <a:ln w="19050">
              <a:noFill/>
            </a:ln>
          </p:spPr>
          <p:txBody>
            <a:bodyPr wrap="none">
              <a:spAutoFit/>
            </a:bodyPr>
            <a:lstStyle/>
            <a:p>
              <a:pPr defTabSz="952500">
                <a:tabLst>
                  <a:tab pos="571500" algn="l"/>
                </a:tabLst>
              </a:pPr>
              <a:r>
                <a:rPr lang="en-US" altLang="zh-CN" sz="2800" dirty="0">
                  <a:latin typeface="Times New Roman" panose="02020603050405020304" pitchFamily="18" charset="0"/>
                </a:rPr>
                <a:t>1	1</a:t>
              </a:r>
            </a:p>
            <a:p>
              <a:pPr defTabSz="952500">
                <a:tabLst>
                  <a:tab pos="571500" algn="l"/>
                </a:tabLst>
              </a:pPr>
              <a:r>
                <a:rPr lang="en-US" altLang="zh-CN" sz="2800" dirty="0">
                  <a:latin typeface="Times New Roman" panose="02020603050405020304" pitchFamily="18" charset="0"/>
                </a:rPr>
                <a:t>0	0</a:t>
              </a:r>
            </a:p>
            <a:p>
              <a:pPr defTabSz="952500">
                <a:tabLst>
                  <a:tab pos="571500" algn="l"/>
                </a:tabLst>
              </a:pPr>
              <a:r>
                <a:rPr lang="en-US" altLang="zh-CN" sz="2800" dirty="0">
                  <a:latin typeface="Times New Roman" panose="02020603050405020304" pitchFamily="18" charset="0"/>
                </a:rPr>
                <a:t>0	0</a:t>
              </a:r>
            </a:p>
            <a:p>
              <a:pPr defTabSz="952500">
                <a:tabLst>
                  <a:tab pos="571500" algn="l"/>
                </a:tabLst>
              </a:pPr>
              <a:r>
                <a:rPr lang="en-US" altLang="zh-CN" sz="2800" dirty="0">
                  <a:latin typeface="Times New Roman" panose="02020603050405020304" pitchFamily="18" charset="0"/>
                </a:rPr>
                <a:t>0	1</a:t>
              </a:r>
            </a:p>
            <a:p>
              <a:pPr defTabSz="952500">
                <a:tabLst>
                  <a:tab pos="571500" algn="l"/>
                </a:tabLst>
              </a:pPr>
              <a:r>
                <a:rPr lang="en-US" altLang="zh-CN" sz="2800" dirty="0">
                  <a:latin typeface="Times New Roman" panose="02020603050405020304" pitchFamily="18" charset="0"/>
                </a:rPr>
                <a:t>0	1</a:t>
              </a:r>
            </a:p>
            <a:p>
              <a:pPr defTabSz="952500">
                <a:tabLst>
                  <a:tab pos="571500" algn="l"/>
                </a:tabLst>
              </a:pPr>
              <a:r>
                <a:rPr lang="en-US" altLang="zh-CN" sz="2800" dirty="0">
                  <a:latin typeface="Times New Roman" panose="02020603050405020304" pitchFamily="18" charset="0"/>
                </a:rPr>
                <a:t>0	0</a:t>
              </a:r>
            </a:p>
            <a:p>
              <a:pPr defTabSz="952500">
                <a:tabLst>
                  <a:tab pos="571500" algn="l"/>
                </a:tabLst>
              </a:pPr>
              <a:r>
                <a:rPr lang="en-US" altLang="zh-CN" sz="2800" dirty="0">
                  <a:latin typeface="Times New Roman" panose="02020603050405020304" pitchFamily="18" charset="0"/>
                </a:rPr>
                <a:t>1	0</a:t>
              </a:r>
            </a:p>
            <a:p>
              <a:pPr defTabSz="952500">
                <a:tabLst>
                  <a:tab pos="571500" algn="l"/>
                </a:tabLst>
              </a:pPr>
              <a:r>
                <a:rPr lang="en-US" altLang="zh-CN" sz="2800" dirty="0">
                  <a:latin typeface="Times New Roman" panose="02020603050405020304" pitchFamily="18" charset="0"/>
                </a:rPr>
                <a:t>1	1</a:t>
              </a:r>
              <a:endParaRPr lang="en-US" altLang="zh-CN" sz="2800" baseline="-25000" dirty="0">
                <a:latin typeface="Times New Roman" panose="02020603050405020304" pitchFamily="18" charset="0"/>
              </a:endParaRPr>
            </a:p>
          </p:txBody>
        </p:sp>
        <p:sp>
          <p:nvSpPr>
            <p:cNvPr id="3211" name="Text Box 68"/>
            <p:cNvSpPr txBox="1"/>
            <p:nvPr/>
          </p:nvSpPr>
          <p:spPr>
            <a:xfrm>
              <a:off x="4829" y="2050"/>
              <a:ext cx="787" cy="2210"/>
            </a:xfrm>
            <a:prstGeom prst="rect">
              <a:avLst/>
            </a:prstGeom>
            <a:noFill/>
            <a:ln w="19050">
              <a:noFill/>
            </a:ln>
          </p:spPr>
          <p:txBody>
            <a:bodyPr>
              <a:spAutoFit/>
            </a:bodyPr>
            <a:lstStyle/>
            <a:p>
              <a:pPr defTabSz="571500"/>
              <a:r>
                <a:rPr lang="en-US" altLang="zh-CN" sz="2800" dirty="0">
                  <a:latin typeface="Times New Roman" panose="02020603050405020304" pitchFamily="18" charset="0"/>
                </a:rPr>
                <a:t>1 d	1 d</a:t>
              </a:r>
            </a:p>
            <a:p>
              <a:pPr defTabSz="571500"/>
              <a:r>
                <a:rPr lang="en-US" altLang="zh-CN" sz="2800" dirty="0">
                  <a:latin typeface="Times New Roman" panose="02020603050405020304" pitchFamily="18" charset="0"/>
                </a:rPr>
                <a:t>0 d	d 1</a:t>
              </a:r>
            </a:p>
            <a:p>
              <a:pPr defTabSz="571500"/>
              <a:r>
                <a:rPr lang="en-US" altLang="zh-CN" sz="2800" dirty="0">
                  <a:latin typeface="Times New Roman" panose="02020603050405020304" pitchFamily="18" charset="0"/>
                </a:rPr>
                <a:t>d 1	d 1</a:t>
              </a:r>
            </a:p>
            <a:p>
              <a:pPr defTabSz="571500"/>
              <a:r>
                <a:rPr lang="en-US" altLang="zh-CN" sz="2800" dirty="0">
                  <a:latin typeface="Times New Roman" panose="02020603050405020304" pitchFamily="18" charset="0"/>
                </a:rPr>
                <a:t>d 1	1 d</a:t>
              </a:r>
            </a:p>
            <a:p>
              <a:pPr defTabSz="571500"/>
              <a:r>
                <a:rPr lang="en-US" altLang="zh-CN" sz="2800" dirty="0">
                  <a:latin typeface="Times New Roman" panose="02020603050405020304" pitchFamily="18" charset="0"/>
                </a:rPr>
                <a:t>0 d	1 d</a:t>
              </a:r>
            </a:p>
            <a:p>
              <a:pPr defTabSz="571500"/>
              <a:r>
                <a:rPr lang="en-US" altLang="zh-CN" sz="2800" dirty="0">
                  <a:latin typeface="Times New Roman" panose="02020603050405020304" pitchFamily="18" charset="0"/>
                </a:rPr>
                <a:t>0 d	d 1</a:t>
              </a:r>
            </a:p>
            <a:p>
              <a:pPr defTabSz="571500"/>
              <a:r>
                <a:rPr lang="en-US" altLang="zh-CN" sz="2800" dirty="0">
                  <a:latin typeface="Times New Roman" panose="02020603050405020304" pitchFamily="18" charset="0"/>
                </a:rPr>
                <a:t>d 0	d 1</a:t>
              </a:r>
            </a:p>
            <a:p>
              <a:pPr defTabSz="571500"/>
              <a:r>
                <a:rPr lang="en-US" altLang="zh-CN" sz="2800" dirty="0">
                  <a:latin typeface="Times New Roman" panose="02020603050405020304" pitchFamily="18" charset="0"/>
                </a:rPr>
                <a:t>d 0	1 d</a:t>
              </a:r>
              <a:endParaRPr lang="en-US" altLang="zh-CN" sz="2800" baseline="-25000" dirty="0">
                <a:latin typeface="Times New Roman" panose="02020603050405020304" pitchFamily="18" charset="0"/>
              </a:endParaRPr>
            </a:p>
          </p:txBody>
        </p:sp>
        <p:sp>
          <p:nvSpPr>
            <p:cNvPr id="3212" name="Text Box 69"/>
            <p:cNvSpPr txBox="1"/>
            <p:nvPr/>
          </p:nvSpPr>
          <p:spPr>
            <a:xfrm>
              <a:off x="2540" y="2062"/>
              <a:ext cx="228" cy="2210"/>
            </a:xfrm>
            <a:prstGeom prst="rect">
              <a:avLst/>
            </a:prstGeom>
            <a:noFill/>
            <a:ln w="19050">
              <a:noFill/>
            </a:ln>
          </p:spPr>
          <p:txBody>
            <a:bodyPr wrap="none">
              <a:spAutoFit/>
            </a:bodyPr>
            <a:lstStyle/>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1</a:t>
              </a:r>
            </a:p>
            <a:p>
              <a:pPr algn="ctr" defTabSz="666750"/>
              <a:r>
                <a:rPr lang="en-US" altLang="zh-CN" sz="2800" dirty="0">
                  <a:latin typeface="Times New Roman" panose="02020603050405020304" pitchFamily="18" charset="0"/>
                </a:rPr>
                <a:t>1</a:t>
              </a:r>
            </a:p>
            <a:p>
              <a:pPr algn="ctr" defTabSz="666750"/>
              <a:r>
                <a:rPr lang="en-US" altLang="zh-CN" sz="2800" dirty="0">
                  <a:latin typeface="Times New Roman" panose="02020603050405020304" pitchFamily="18" charset="0"/>
                </a:rPr>
                <a:t>1</a:t>
              </a:r>
            </a:p>
            <a:p>
              <a:pPr algn="ctr" defTabSz="666750"/>
              <a:r>
                <a:rPr lang="en-US" altLang="zh-CN" sz="2800" dirty="0">
                  <a:latin typeface="Times New Roman" panose="02020603050405020304" pitchFamily="18" charset="0"/>
                </a:rPr>
                <a:t>1</a:t>
              </a:r>
              <a:endParaRPr lang="en-US" altLang="zh-CN" sz="2800" baseline="-25000" dirty="0">
                <a:latin typeface="Times New Roman" panose="02020603050405020304" pitchFamily="18" charset="0"/>
              </a:endParaRPr>
            </a:p>
          </p:txBody>
        </p:sp>
      </p:grpSp>
      <p:grpSp>
        <p:nvGrpSpPr>
          <p:cNvPr id="4" name="Group 347"/>
          <p:cNvGrpSpPr/>
          <p:nvPr/>
        </p:nvGrpSpPr>
        <p:grpSpPr>
          <a:xfrm>
            <a:off x="5186363" y="0"/>
            <a:ext cx="3709987" cy="1690688"/>
            <a:chOff x="3267" y="0"/>
            <a:chExt cx="2337" cy="1065"/>
          </a:xfrm>
        </p:grpSpPr>
        <p:sp>
          <p:nvSpPr>
            <p:cNvPr id="3173" name="Text Box 164"/>
            <p:cNvSpPr txBox="1"/>
            <p:nvPr/>
          </p:nvSpPr>
          <p:spPr>
            <a:xfrm>
              <a:off x="3510" y="0"/>
              <a:ext cx="521" cy="327"/>
            </a:xfrm>
            <a:prstGeom prst="rect">
              <a:avLst/>
            </a:prstGeom>
            <a:noFill/>
            <a:ln w="19050">
              <a:noFill/>
            </a:ln>
          </p:spPr>
          <p:txBody>
            <a:bodyPr>
              <a:spAutoFit/>
            </a:bodyPr>
            <a:lstStyle/>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p>
          </p:txBody>
        </p:sp>
        <p:grpSp>
          <p:nvGrpSpPr>
            <p:cNvPr id="3174" name="Group 256"/>
            <p:cNvGrpSpPr/>
            <p:nvPr/>
          </p:nvGrpSpPr>
          <p:grpSpPr>
            <a:xfrm>
              <a:off x="3267" y="72"/>
              <a:ext cx="2337" cy="993"/>
              <a:chOff x="3267" y="72"/>
              <a:chExt cx="2337" cy="993"/>
            </a:xfrm>
          </p:grpSpPr>
          <p:sp>
            <p:nvSpPr>
              <p:cNvPr id="3175" name="Text Box 165"/>
              <p:cNvSpPr txBox="1"/>
              <p:nvPr/>
            </p:nvSpPr>
            <p:spPr>
              <a:xfrm>
                <a:off x="3845" y="38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176" name="Text Box 166"/>
              <p:cNvSpPr txBox="1"/>
              <p:nvPr/>
            </p:nvSpPr>
            <p:spPr>
              <a:xfrm>
                <a:off x="4349" y="38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3177" name="Text Box 167"/>
              <p:cNvSpPr txBox="1"/>
              <p:nvPr/>
            </p:nvSpPr>
            <p:spPr>
              <a:xfrm>
                <a:off x="4340" y="73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3178" name="Text Box 168"/>
              <p:cNvSpPr txBox="1"/>
              <p:nvPr/>
            </p:nvSpPr>
            <p:spPr>
              <a:xfrm>
                <a:off x="3845" y="73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3179" name="Text Box 169"/>
              <p:cNvSpPr txBox="1"/>
              <p:nvPr/>
            </p:nvSpPr>
            <p:spPr>
              <a:xfrm>
                <a:off x="3823" y="72"/>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3180" name="Text Box 170"/>
              <p:cNvSpPr txBox="1"/>
              <p:nvPr/>
            </p:nvSpPr>
            <p:spPr>
              <a:xfrm>
                <a:off x="4325" y="72"/>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3181" name="Text Box 171"/>
              <p:cNvSpPr txBox="1"/>
              <p:nvPr/>
            </p:nvSpPr>
            <p:spPr>
              <a:xfrm>
                <a:off x="3461" y="38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3182" name="Text Box 172"/>
              <p:cNvSpPr txBox="1"/>
              <p:nvPr/>
            </p:nvSpPr>
            <p:spPr>
              <a:xfrm>
                <a:off x="3480" y="732"/>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183" name="Line 173"/>
              <p:cNvSpPr/>
              <p:nvPr/>
            </p:nvSpPr>
            <p:spPr>
              <a:xfrm>
                <a:off x="3368" y="120"/>
                <a:ext cx="342" cy="233"/>
              </a:xfrm>
              <a:prstGeom prst="line">
                <a:avLst/>
              </a:prstGeom>
              <a:ln w="38100" cap="flat" cmpd="sng">
                <a:solidFill>
                  <a:srgbClr val="3333FF"/>
                </a:solidFill>
                <a:prstDash val="solid"/>
                <a:headEnd type="none" w="med" len="med"/>
                <a:tailEnd type="none" w="sm" len="lg"/>
              </a:ln>
            </p:spPr>
          </p:sp>
          <p:sp>
            <p:nvSpPr>
              <p:cNvPr id="3184" name="Text Box 174"/>
              <p:cNvSpPr txBox="1"/>
              <p:nvPr/>
            </p:nvSpPr>
            <p:spPr>
              <a:xfrm>
                <a:off x="3331" y="129"/>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grpSp>
            <p:nvGrpSpPr>
              <p:cNvPr id="3185" name="Group 175"/>
              <p:cNvGrpSpPr/>
              <p:nvPr/>
            </p:nvGrpSpPr>
            <p:grpSpPr>
              <a:xfrm>
                <a:off x="3700" y="346"/>
                <a:ext cx="1904" cy="648"/>
                <a:chOff x="2652" y="1704"/>
                <a:chExt cx="2400" cy="1200"/>
              </a:xfrm>
            </p:grpSpPr>
            <p:grpSp>
              <p:nvGrpSpPr>
                <p:cNvPr id="3194" name="Group 176"/>
                <p:cNvGrpSpPr/>
                <p:nvPr/>
              </p:nvGrpSpPr>
              <p:grpSpPr>
                <a:xfrm>
                  <a:off x="2652" y="1704"/>
                  <a:ext cx="1200" cy="1200"/>
                  <a:chOff x="1272" y="1896"/>
                  <a:chExt cx="1200" cy="1200"/>
                </a:xfrm>
              </p:grpSpPr>
              <p:sp>
                <p:nvSpPr>
                  <p:cNvPr id="3200" name="Rectangle 17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201" name="Rectangle 17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202" name="Rectangle 17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203" name="Rectangle 18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3195" name="Group 181"/>
                <p:cNvGrpSpPr/>
                <p:nvPr/>
              </p:nvGrpSpPr>
              <p:grpSpPr>
                <a:xfrm>
                  <a:off x="3852" y="1704"/>
                  <a:ext cx="1200" cy="1200"/>
                  <a:chOff x="1272" y="1896"/>
                  <a:chExt cx="1200" cy="1200"/>
                </a:xfrm>
              </p:grpSpPr>
              <p:sp>
                <p:nvSpPr>
                  <p:cNvPr id="3196" name="Rectangle 18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97" name="Rectangle 18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98" name="Rectangle 18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99" name="Rectangle 18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sp>
            <p:nvSpPr>
              <p:cNvPr id="3186" name="Text Box 186"/>
              <p:cNvSpPr txBox="1"/>
              <p:nvPr/>
            </p:nvSpPr>
            <p:spPr>
              <a:xfrm>
                <a:off x="4754" y="79"/>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3187" name="Text Box 187"/>
              <p:cNvSpPr txBox="1"/>
              <p:nvPr/>
            </p:nvSpPr>
            <p:spPr>
              <a:xfrm>
                <a:off x="5189" y="79"/>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3188" name="Text Box 188"/>
              <p:cNvSpPr txBox="1"/>
              <p:nvPr/>
            </p:nvSpPr>
            <p:spPr>
              <a:xfrm>
                <a:off x="4815" y="38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3189" name="Text Box 189"/>
              <p:cNvSpPr txBox="1"/>
              <p:nvPr/>
            </p:nvSpPr>
            <p:spPr>
              <a:xfrm>
                <a:off x="5245" y="38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3190" name="Text Box 190"/>
              <p:cNvSpPr txBox="1"/>
              <p:nvPr/>
            </p:nvSpPr>
            <p:spPr>
              <a:xfrm>
                <a:off x="4824" y="73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3191" name="Text Box 191"/>
              <p:cNvSpPr txBox="1"/>
              <p:nvPr/>
            </p:nvSpPr>
            <p:spPr>
              <a:xfrm>
                <a:off x="5273" y="73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3192" name="Text Box 192"/>
              <p:cNvSpPr txBox="1"/>
              <p:nvPr/>
            </p:nvSpPr>
            <p:spPr>
              <a:xfrm>
                <a:off x="3267" y="544"/>
                <a:ext cx="279" cy="327"/>
              </a:xfrm>
              <a:prstGeom prst="rect">
                <a:avLst/>
              </a:prstGeom>
              <a:noFill/>
              <a:ln w="19050">
                <a:noFill/>
              </a:ln>
            </p:spPr>
            <p:txBody>
              <a:bodyPr wrap="none">
                <a:spAutoFit/>
              </a:bodyPr>
              <a:lstStyle/>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p>
            </p:txBody>
          </p:sp>
          <p:sp>
            <p:nvSpPr>
              <p:cNvPr id="3193" name="AutoShape 193"/>
              <p:cNvSpPr/>
              <p:nvPr/>
            </p:nvSpPr>
            <p:spPr>
              <a:xfrm>
                <a:off x="3836" y="489"/>
                <a:ext cx="752" cy="155"/>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grpSp>
        <p:nvGrpSpPr>
          <p:cNvPr id="9" name="Group 444"/>
          <p:cNvGrpSpPr/>
          <p:nvPr/>
        </p:nvGrpSpPr>
        <p:grpSpPr>
          <a:xfrm>
            <a:off x="5173663" y="1625600"/>
            <a:ext cx="3709987" cy="1690688"/>
            <a:chOff x="3259" y="1024"/>
            <a:chExt cx="2337" cy="1065"/>
          </a:xfrm>
        </p:grpSpPr>
        <p:sp>
          <p:nvSpPr>
            <p:cNvPr id="3143" name="Text Box 349"/>
            <p:cNvSpPr txBox="1"/>
            <p:nvPr/>
          </p:nvSpPr>
          <p:spPr>
            <a:xfrm>
              <a:off x="3502" y="1024"/>
              <a:ext cx="521" cy="327"/>
            </a:xfrm>
            <a:prstGeom prst="rect">
              <a:avLst/>
            </a:prstGeom>
            <a:noFill/>
            <a:ln w="19050">
              <a:noFill/>
            </a:ln>
          </p:spPr>
          <p:txBody>
            <a:bodyPr>
              <a:spAutoFit/>
            </a:bodyPr>
            <a:lstStyle/>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p>
          </p:txBody>
        </p:sp>
        <p:sp>
          <p:nvSpPr>
            <p:cNvPr id="3144" name="Text Box 351"/>
            <p:cNvSpPr txBox="1"/>
            <p:nvPr/>
          </p:nvSpPr>
          <p:spPr>
            <a:xfrm>
              <a:off x="3837" y="1412"/>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3145" name="Text Box 352"/>
            <p:cNvSpPr txBox="1"/>
            <p:nvPr/>
          </p:nvSpPr>
          <p:spPr>
            <a:xfrm>
              <a:off x="4341" y="1412"/>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146" name="Text Box 353"/>
            <p:cNvSpPr txBox="1"/>
            <p:nvPr/>
          </p:nvSpPr>
          <p:spPr>
            <a:xfrm>
              <a:off x="4332" y="1762"/>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147" name="Text Box 354"/>
            <p:cNvSpPr txBox="1"/>
            <p:nvPr/>
          </p:nvSpPr>
          <p:spPr>
            <a:xfrm>
              <a:off x="3837" y="1762"/>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3148" name="Text Box 355"/>
            <p:cNvSpPr txBox="1"/>
            <p:nvPr/>
          </p:nvSpPr>
          <p:spPr>
            <a:xfrm>
              <a:off x="3815" y="1096"/>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3149" name="Text Box 356"/>
            <p:cNvSpPr txBox="1"/>
            <p:nvPr/>
          </p:nvSpPr>
          <p:spPr>
            <a:xfrm>
              <a:off x="4317" y="1096"/>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3150" name="Text Box 357"/>
            <p:cNvSpPr txBox="1"/>
            <p:nvPr/>
          </p:nvSpPr>
          <p:spPr>
            <a:xfrm>
              <a:off x="3453" y="1412"/>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3151" name="Text Box 358"/>
            <p:cNvSpPr txBox="1"/>
            <p:nvPr/>
          </p:nvSpPr>
          <p:spPr>
            <a:xfrm>
              <a:off x="3472" y="175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152" name="Line 359"/>
            <p:cNvSpPr/>
            <p:nvPr/>
          </p:nvSpPr>
          <p:spPr>
            <a:xfrm>
              <a:off x="3360" y="1144"/>
              <a:ext cx="342" cy="233"/>
            </a:xfrm>
            <a:prstGeom prst="line">
              <a:avLst/>
            </a:prstGeom>
            <a:ln w="38100" cap="flat" cmpd="sng">
              <a:solidFill>
                <a:srgbClr val="3333FF"/>
              </a:solidFill>
              <a:prstDash val="solid"/>
              <a:headEnd type="none" w="med" len="med"/>
              <a:tailEnd type="none" w="sm" len="lg"/>
            </a:ln>
          </p:spPr>
        </p:sp>
        <p:sp>
          <p:nvSpPr>
            <p:cNvPr id="3153" name="Text Box 360"/>
            <p:cNvSpPr txBox="1"/>
            <p:nvPr/>
          </p:nvSpPr>
          <p:spPr>
            <a:xfrm>
              <a:off x="3323" y="1153"/>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grpSp>
          <p:nvGrpSpPr>
            <p:cNvPr id="3154" name="Group 361"/>
            <p:cNvGrpSpPr/>
            <p:nvPr/>
          </p:nvGrpSpPr>
          <p:grpSpPr>
            <a:xfrm>
              <a:off x="3692" y="1370"/>
              <a:ext cx="1904" cy="648"/>
              <a:chOff x="2652" y="1704"/>
              <a:chExt cx="2400" cy="1200"/>
            </a:xfrm>
          </p:grpSpPr>
          <p:grpSp>
            <p:nvGrpSpPr>
              <p:cNvPr id="3163" name="Group 362"/>
              <p:cNvGrpSpPr/>
              <p:nvPr/>
            </p:nvGrpSpPr>
            <p:grpSpPr>
              <a:xfrm>
                <a:off x="2652" y="1704"/>
                <a:ext cx="1200" cy="1200"/>
                <a:chOff x="1272" y="1896"/>
                <a:chExt cx="1200" cy="1200"/>
              </a:xfrm>
            </p:grpSpPr>
            <p:sp>
              <p:nvSpPr>
                <p:cNvPr id="3169" name="Rectangle 363"/>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70" name="Rectangle 364"/>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71" name="Rectangle 365"/>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72" name="Rectangle 366"/>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3164" name="Group 367"/>
              <p:cNvGrpSpPr/>
              <p:nvPr/>
            </p:nvGrpSpPr>
            <p:grpSpPr>
              <a:xfrm>
                <a:off x="3852" y="1704"/>
                <a:ext cx="1200" cy="1200"/>
                <a:chOff x="1272" y="1896"/>
                <a:chExt cx="1200" cy="1200"/>
              </a:xfrm>
            </p:grpSpPr>
            <p:sp>
              <p:nvSpPr>
                <p:cNvPr id="3165" name="Rectangle 368"/>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66" name="Rectangle 369"/>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67" name="Rectangle 370"/>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68" name="Rectangle 371"/>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sp>
          <p:nvSpPr>
            <p:cNvPr id="3155" name="Text Box 372"/>
            <p:cNvSpPr txBox="1"/>
            <p:nvPr/>
          </p:nvSpPr>
          <p:spPr>
            <a:xfrm>
              <a:off x="4746" y="1103"/>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3156" name="Text Box 373"/>
            <p:cNvSpPr txBox="1"/>
            <p:nvPr/>
          </p:nvSpPr>
          <p:spPr>
            <a:xfrm>
              <a:off x="5181" y="1103"/>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3157" name="Text Box 374"/>
            <p:cNvSpPr txBox="1"/>
            <p:nvPr/>
          </p:nvSpPr>
          <p:spPr>
            <a:xfrm>
              <a:off x="4807" y="1405"/>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3158" name="Text Box 375"/>
            <p:cNvSpPr txBox="1"/>
            <p:nvPr/>
          </p:nvSpPr>
          <p:spPr>
            <a:xfrm>
              <a:off x="5237" y="1405"/>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3159" name="Text Box 376"/>
            <p:cNvSpPr txBox="1"/>
            <p:nvPr/>
          </p:nvSpPr>
          <p:spPr>
            <a:xfrm>
              <a:off x="4816" y="1762"/>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3160" name="Text Box 377"/>
            <p:cNvSpPr txBox="1"/>
            <p:nvPr/>
          </p:nvSpPr>
          <p:spPr>
            <a:xfrm>
              <a:off x="5265" y="1755"/>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3161" name="Text Box 378"/>
            <p:cNvSpPr txBox="1"/>
            <p:nvPr/>
          </p:nvSpPr>
          <p:spPr>
            <a:xfrm>
              <a:off x="3259" y="1568"/>
              <a:ext cx="354" cy="327"/>
            </a:xfrm>
            <a:prstGeom prst="rect">
              <a:avLst/>
            </a:prstGeom>
            <a:noFill/>
            <a:ln w="19050">
              <a:noFill/>
            </a:ln>
          </p:spPr>
          <p:txBody>
            <a:bodyPr wrap="none">
              <a:spAutoFit/>
            </a:bodyPr>
            <a:lstStyle/>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p>
          </p:txBody>
        </p:sp>
        <p:sp>
          <p:nvSpPr>
            <p:cNvPr id="3162" name="AutoShape 379"/>
            <p:cNvSpPr/>
            <p:nvPr/>
          </p:nvSpPr>
          <p:spPr>
            <a:xfrm>
              <a:off x="3822" y="1453"/>
              <a:ext cx="752" cy="551"/>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13" name="Group 445"/>
          <p:cNvGrpSpPr/>
          <p:nvPr/>
        </p:nvGrpSpPr>
        <p:grpSpPr>
          <a:xfrm>
            <a:off x="5180013" y="3330575"/>
            <a:ext cx="3709987" cy="1690688"/>
            <a:chOff x="3263" y="2098"/>
            <a:chExt cx="2337" cy="1065"/>
          </a:xfrm>
        </p:grpSpPr>
        <p:sp>
          <p:nvSpPr>
            <p:cNvPr id="3113" name="Text Box 381"/>
            <p:cNvSpPr txBox="1"/>
            <p:nvPr/>
          </p:nvSpPr>
          <p:spPr>
            <a:xfrm>
              <a:off x="3506" y="2098"/>
              <a:ext cx="521" cy="327"/>
            </a:xfrm>
            <a:prstGeom prst="rect">
              <a:avLst/>
            </a:prstGeom>
            <a:noFill/>
            <a:ln w="19050">
              <a:noFill/>
            </a:ln>
          </p:spPr>
          <p:txBody>
            <a:bodyPr>
              <a:spAutoFit/>
            </a:bodyPr>
            <a:lstStyle/>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p>
          </p:txBody>
        </p:sp>
        <p:sp>
          <p:nvSpPr>
            <p:cNvPr id="3114" name="Text Box 383"/>
            <p:cNvSpPr txBox="1"/>
            <p:nvPr/>
          </p:nvSpPr>
          <p:spPr>
            <a:xfrm>
              <a:off x="3841" y="248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115" name="Text Box 384"/>
            <p:cNvSpPr txBox="1"/>
            <p:nvPr/>
          </p:nvSpPr>
          <p:spPr>
            <a:xfrm>
              <a:off x="4345" y="248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116" name="Text Box 385"/>
            <p:cNvSpPr txBox="1"/>
            <p:nvPr/>
          </p:nvSpPr>
          <p:spPr>
            <a:xfrm>
              <a:off x="4336" y="283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3117" name="Text Box 386"/>
            <p:cNvSpPr txBox="1"/>
            <p:nvPr/>
          </p:nvSpPr>
          <p:spPr>
            <a:xfrm>
              <a:off x="3841" y="283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3118" name="Text Box 387"/>
            <p:cNvSpPr txBox="1"/>
            <p:nvPr/>
          </p:nvSpPr>
          <p:spPr>
            <a:xfrm>
              <a:off x="3819" y="2170"/>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3119" name="Text Box 388"/>
            <p:cNvSpPr txBox="1"/>
            <p:nvPr/>
          </p:nvSpPr>
          <p:spPr>
            <a:xfrm>
              <a:off x="4321" y="2170"/>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3120" name="Text Box 389"/>
            <p:cNvSpPr txBox="1"/>
            <p:nvPr/>
          </p:nvSpPr>
          <p:spPr>
            <a:xfrm>
              <a:off x="3457" y="248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3121" name="Text Box 390"/>
            <p:cNvSpPr txBox="1"/>
            <p:nvPr/>
          </p:nvSpPr>
          <p:spPr>
            <a:xfrm>
              <a:off x="3476" y="283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122" name="Line 391"/>
            <p:cNvSpPr/>
            <p:nvPr/>
          </p:nvSpPr>
          <p:spPr>
            <a:xfrm>
              <a:off x="3364" y="2218"/>
              <a:ext cx="342" cy="233"/>
            </a:xfrm>
            <a:prstGeom prst="line">
              <a:avLst/>
            </a:prstGeom>
            <a:ln w="38100" cap="flat" cmpd="sng">
              <a:solidFill>
                <a:srgbClr val="3333FF"/>
              </a:solidFill>
              <a:prstDash val="solid"/>
              <a:headEnd type="none" w="med" len="med"/>
              <a:tailEnd type="none" w="sm" len="lg"/>
            </a:ln>
          </p:spPr>
        </p:sp>
        <p:sp>
          <p:nvSpPr>
            <p:cNvPr id="3123" name="Text Box 392"/>
            <p:cNvSpPr txBox="1"/>
            <p:nvPr/>
          </p:nvSpPr>
          <p:spPr>
            <a:xfrm>
              <a:off x="3327" y="2227"/>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grpSp>
          <p:nvGrpSpPr>
            <p:cNvPr id="3124" name="Group 393"/>
            <p:cNvGrpSpPr/>
            <p:nvPr/>
          </p:nvGrpSpPr>
          <p:grpSpPr>
            <a:xfrm>
              <a:off x="3696" y="2444"/>
              <a:ext cx="1904" cy="719"/>
              <a:chOff x="2652" y="1704"/>
              <a:chExt cx="2400" cy="1200"/>
            </a:xfrm>
          </p:grpSpPr>
          <p:grpSp>
            <p:nvGrpSpPr>
              <p:cNvPr id="3133" name="Group 394"/>
              <p:cNvGrpSpPr/>
              <p:nvPr/>
            </p:nvGrpSpPr>
            <p:grpSpPr>
              <a:xfrm>
                <a:off x="2652" y="1704"/>
                <a:ext cx="1200" cy="1200"/>
                <a:chOff x="1272" y="1896"/>
                <a:chExt cx="1200" cy="1200"/>
              </a:xfrm>
            </p:grpSpPr>
            <p:sp>
              <p:nvSpPr>
                <p:cNvPr id="3139" name="Rectangle 395"/>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40" name="Rectangle 396"/>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41" name="Rectangle 397"/>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42" name="Rectangle 398"/>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3134" name="Group 399"/>
              <p:cNvGrpSpPr/>
              <p:nvPr/>
            </p:nvGrpSpPr>
            <p:grpSpPr>
              <a:xfrm>
                <a:off x="3852" y="1704"/>
                <a:ext cx="1200" cy="1200"/>
                <a:chOff x="1272" y="1896"/>
                <a:chExt cx="1200" cy="1200"/>
              </a:xfrm>
            </p:grpSpPr>
            <p:sp>
              <p:nvSpPr>
                <p:cNvPr id="3135" name="Rectangle 400"/>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36" name="Rectangle 401"/>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37" name="Rectangle 402"/>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38" name="Rectangle 403"/>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sp>
          <p:nvSpPr>
            <p:cNvPr id="3125" name="Text Box 404"/>
            <p:cNvSpPr txBox="1"/>
            <p:nvPr/>
          </p:nvSpPr>
          <p:spPr>
            <a:xfrm>
              <a:off x="4750" y="2177"/>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3126" name="Text Box 405"/>
            <p:cNvSpPr txBox="1"/>
            <p:nvPr/>
          </p:nvSpPr>
          <p:spPr>
            <a:xfrm>
              <a:off x="5185" y="2177"/>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3127" name="Text Box 406"/>
            <p:cNvSpPr txBox="1"/>
            <p:nvPr/>
          </p:nvSpPr>
          <p:spPr>
            <a:xfrm>
              <a:off x="4811" y="2479"/>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128" name="Text Box 407"/>
            <p:cNvSpPr txBox="1"/>
            <p:nvPr/>
          </p:nvSpPr>
          <p:spPr>
            <a:xfrm>
              <a:off x="5241" y="2479"/>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129" name="Text Box 408"/>
            <p:cNvSpPr txBox="1"/>
            <p:nvPr/>
          </p:nvSpPr>
          <p:spPr>
            <a:xfrm>
              <a:off x="4820" y="283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3130" name="Text Box 409"/>
            <p:cNvSpPr txBox="1"/>
            <p:nvPr/>
          </p:nvSpPr>
          <p:spPr>
            <a:xfrm>
              <a:off x="5269" y="2829"/>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3131" name="Text Box 410"/>
            <p:cNvSpPr txBox="1"/>
            <p:nvPr/>
          </p:nvSpPr>
          <p:spPr>
            <a:xfrm>
              <a:off x="3263" y="2642"/>
              <a:ext cx="279" cy="327"/>
            </a:xfrm>
            <a:prstGeom prst="rect">
              <a:avLst/>
            </a:prstGeom>
            <a:noFill/>
            <a:ln w="19050">
              <a:noFill/>
            </a:ln>
          </p:spPr>
          <p:txBody>
            <a:bodyPr wrap="none">
              <a:spAutoFit/>
            </a:bodyPr>
            <a:lstStyle/>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p>
          </p:txBody>
        </p:sp>
        <p:sp>
          <p:nvSpPr>
            <p:cNvPr id="3132" name="AutoShape 411"/>
            <p:cNvSpPr/>
            <p:nvPr/>
          </p:nvSpPr>
          <p:spPr>
            <a:xfrm>
              <a:off x="3772" y="2539"/>
              <a:ext cx="1748" cy="624"/>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17" name="Group 446"/>
          <p:cNvGrpSpPr/>
          <p:nvPr/>
        </p:nvGrpSpPr>
        <p:grpSpPr>
          <a:xfrm>
            <a:off x="5205413" y="5021263"/>
            <a:ext cx="3709987" cy="1690687"/>
            <a:chOff x="3279" y="3163"/>
            <a:chExt cx="2337" cy="1065"/>
          </a:xfrm>
        </p:grpSpPr>
        <p:sp>
          <p:nvSpPr>
            <p:cNvPr id="3083" name="Text Box 413"/>
            <p:cNvSpPr txBox="1"/>
            <p:nvPr/>
          </p:nvSpPr>
          <p:spPr>
            <a:xfrm>
              <a:off x="3522" y="3163"/>
              <a:ext cx="521" cy="327"/>
            </a:xfrm>
            <a:prstGeom prst="rect">
              <a:avLst/>
            </a:prstGeom>
            <a:noFill/>
            <a:ln w="19050">
              <a:noFill/>
            </a:ln>
          </p:spPr>
          <p:txBody>
            <a:bodyPr>
              <a:spAutoFit/>
            </a:bodyPr>
            <a:lstStyle/>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p>
          </p:txBody>
        </p:sp>
        <p:sp>
          <p:nvSpPr>
            <p:cNvPr id="3084" name="Text Box 415"/>
            <p:cNvSpPr txBox="1"/>
            <p:nvPr/>
          </p:nvSpPr>
          <p:spPr>
            <a:xfrm>
              <a:off x="3857" y="355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3085" name="Text Box 416"/>
            <p:cNvSpPr txBox="1"/>
            <p:nvPr/>
          </p:nvSpPr>
          <p:spPr>
            <a:xfrm>
              <a:off x="4361" y="355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3086" name="Text Box 417"/>
            <p:cNvSpPr txBox="1"/>
            <p:nvPr/>
          </p:nvSpPr>
          <p:spPr>
            <a:xfrm>
              <a:off x="4352" y="390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087" name="Text Box 418"/>
            <p:cNvSpPr txBox="1"/>
            <p:nvPr/>
          </p:nvSpPr>
          <p:spPr>
            <a:xfrm>
              <a:off x="3857" y="390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088" name="Text Box 419"/>
            <p:cNvSpPr txBox="1"/>
            <p:nvPr/>
          </p:nvSpPr>
          <p:spPr>
            <a:xfrm>
              <a:off x="3835" y="3235"/>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3089" name="Text Box 420"/>
            <p:cNvSpPr txBox="1"/>
            <p:nvPr/>
          </p:nvSpPr>
          <p:spPr>
            <a:xfrm>
              <a:off x="4337" y="3235"/>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3090" name="Text Box 421"/>
            <p:cNvSpPr txBox="1"/>
            <p:nvPr/>
          </p:nvSpPr>
          <p:spPr>
            <a:xfrm>
              <a:off x="3473" y="355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3091" name="Text Box 422"/>
            <p:cNvSpPr txBox="1"/>
            <p:nvPr/>
          </p:nvSpPr>
          <p:spPr>
            <a:xfrm>
              <a:off x="3492" y="3895"/>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092" name="Line 423"/>
            <p:cNvSpPr/>
            <p:nvPr/>
          </p:nvSpPr>
          <p:spPr>
            <a:xfrm>
              <a:off x="3380" y="3283"/>
              <a:ext cx="342" cy="233"/>
            </a:xfrm>
            <a:prstGeom prst="line">
              <a:avLst/>
            </a:prstGeom>
            <a:ln w="38100" cap="flat" cmpd="sng">
              <a:solidFill>
                <a:srgbClr val="3333FF"/>
              </a:solidFill>
              <a:prstDash val="solid"/>
              <a:headEnd type="none" w="med" len="med"/>
              <a:tailEnd type="none" w="sm" len="lg"/>
            </a:ln>
          </p:spPr>
        </p:sp>
        <p:sp>
          <p:nvSpPr>
            <p:cNvPr id="3093" name="Text Box 424"/>
            <p:cNvSpPr txBox="1"/>
            <p:nvPr/>
          </p:nvSpPr>
          <p:spPr>
            <a:xfrm>
              <a:off x="3343" y="3292"/>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grpSp>
          <p:nvGrpSpPr>
            <p:cNvPr id="3094" name="Group 425"/>
            <p:cNvGrpSpPr/>
            <p:nvPr/>
          </p:nvGrpSpPr>
          <p:grpSpPr>
            <a:xfrm>
              <a:off x="3712" y="3509"/>
              <a:ext cx="1904" cy="648"/>
              <a:chOff x="2652" y="1704"/>
              <a:chExt cx="2400" cy="1200"/>
            </a:xfrm>
          </p:grpSpPr>
          <p:grpSp>
            <p:nvGrpSpPr>
              <p:cNvPr id="3103" name="Group 426"/>
              <p:cNvGrpSpPr/>
              <p:nvPr/>
            </p:nvGrpSpPr>
            <p:grpSpPr>
              <a:xfrm>
                <a:off x="2652" y="1704"/>
                <a:ext cx="1200" cy="1200"/>
                <a:chOff x="1272" y="1896"/>
                <a:chExt cx="1200" cy="1200"/>
              </a:xfrm>
            </p:grpSpPr>
            <p:sp>
              <p:nvSpPr>
                <p:cNvPr id="3109" name="Rectangle 42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10" name="Rectangle 42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11" name="Rectangle 42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12" name="Rectangle 43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3104" name="Group 431"/>
              <p:cNvGrpSpPr/>
              <p:nvPr/>
            </p:nvGrpSpPr>
            <p:grpSpPr>
              <a:xfrm>
                <a:off x="3852" y="1704"/>
                <a:ext cx="1200" cy="1200"/>
                <a:chOff x="1272" y="1896"/>
                <a:chExt cx="1200" cy="1200"/>
              </a:xfrm>
            </p:grpSpPr>
            <p:sp>
              <p:nvSpPr>
                <p:cNvPr id="3105" name="Rectangle 43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06" name="Rectangle 43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07" name="Rectangle 43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3108" name="Rectangle 43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sp>
          <p:nvSpPr>
            <p:cNvPr id="3095" name="Text Box 436"/>
            <p:cNvSpPr txBox="1"/>
            <p:nvPr/>
          </p:nvSpPr>
          <p:spPr>
            <a:xfrm>
              <a:off x="4766" y="3242"/>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3096" name="Text Box 437"/>
            <p:cNvSpPr txBox="1"/>
            <p:nvPr/>
          </p:nvSpPr>
          <p:spPr>
            <a:xfrm>
              <a:off x="5201" y="3242"/>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3097" name="Text Box 438"/>
            <p:cNvSpPr txBox="1"/>
            <p:nvPr/>
          </p:nvSpPr>
          <p:spPr>
            <a:xfrm>
              <a:off x="4827" y="3544"/>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3098" name="Text Box 439"/>
            <p:cNvSpPr txBox="1"/>
            <p:nvPr/>
          </p:nvSpPr>
          <p:spPr>
            <a:xfrm>
              <a:off x="5257" y="3544"/>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3099" name="Text Box 440"/>
            <p:cNvSpPr txBox="1"/>
            <p:nvPr/>
          </p:nvSpPr>
          <p:spPr>
            <a:xfrm>
              <a:off x="4836" y="390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100" name="Text Box 441"/>
            <p:cNvSpPr txBox="1"/>
            <p:nvPr/>
          </p:nvSpPr>
          <p:spPr>
            <a:xfrm>
              <a:off x="5285" y="3894"/>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3101" name="Text Box 442"/>
            <p:cNvSpPr txBox="1"/>
            <p:nvPr/>
          </p:nvSpPr>
          <p:spPr>
            <a:xfrm>
              <a:off x="3279" y="3707"/>
              <a:ext cx="354" cy="327"/>
            </a:xfrm>
            <a:prstGeom prst="rect">
              <a:avLst/>
            </a:prstGeom>
            <a:noFill/>
            <a:ln w="19050">
              <a:noFill/>
            </a:ln>
          </p:spPr>
          <p:txBody>
            <a:bodyPr wrap="none">
              <a:spAutoFit/>
            </a:bodyPr>
            <a:lstStyle/>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p>
          </p:txBody>
        </p:sp>
        <p:sp>
          <p:nvSpPr>
            <p:cNvPr id="3102" name="AutoShape 443"/>
            <p:cNvSpPr/>
            <p:nvPr/>
          </p:nvSpPr>
          <p:spPr>
            <a:xfrm>
              <a:off x="3798" y="3604"/>
              <a:ext cx="1760" cy="527"/>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aphicFrame>
        <p:nvGraphicFramePr>
          <p:cNvPr id="217535" name="Object 447"/>
          <p:cNvGraphicFramePr>
            <a:graphicFrameLocks noChangeAspect="1"/>
          </p:cNvGraphicFramePr>
          <p:nvPr/>
        </p:nvGraphicFramePr>
        <p:xfrm>
          <a:off x="2833688" y="5021263"/>
          <a:ext cx="1208087" cy="517525"/>
        </p:xfrm>
        <a:graphic>
          <a:graphicData uri="http://schemas.openxmlformats.org/presentationml/2006/ole">
            <mc:AlternateContent xmlns:mc="http://schemas.openxmlformats.org/markup-compatibility/2006">
              <mc:Choice xmlns:v="urn:schemas-microsoft-com:vml" Requires="v">
                <p:oleObj r:id="rId4" imgW="431800" imgH="215900" progId="Equation.3">
                  <p:embed/>
                </p:oleObj>
              </mc:Choice>
              <mc:Fallback>
                <p:oleObj r:id="rId4" imgW="431800" imgH="215900" progId="Equation.3">
                  <p:embed/>
                  <p:pic>
                    <p:nvPicPr>
                      <p:cNvPr id="0" name="图片 3078"/>
                      <p:cNvPicPr/>
                      <p:nvPr/>
                    </p:nvPicPr>
                    <p:blipFill>
                      <a:blip r:embed="rId5"/>
                      <a:stretch>
                        <a:fillRect/>
                      </a:stretch>
                    </p:blipFill>
                    <p:spPr>
                      <a:xfrm>
                        <a:off x="2833688" y="5021263"/>
                        <a:ext cx="1208087" cy="517525"/>
                      </a:xfrm>
                      <a:prstGeom prst="rect">
                        <a:avLst/>
                      </a:prstGeom>
                      <a:noFill/>
                      <a:ln w="38100">
                        <a:noFill/>
                        <a:miter/>
                      </a:ln>
                    </p:spPr>
                  </p:pic>
                </p:oleObj>
              </mc:Fallback>
            </mc:AlternateContent>
          </a:graphicData>
        </a:graphic>
      </p:graphicFrame>
      <p:sp>
        <p:nvSpPr>
          <p:cNvPr id="217536" name="Text Box 448"/>
          <p:cNvSpPr txBox="1"/>
          <p:nvPr/>
        </p:nvSpPr>
        <p:spPr>
          <a:xfrm>
            <a:off x="2919413" y="5665788"/>
            <a:ext cx="939800" cy="519112"/>
          </a:xfrm>
          <a:prstGeom prst="rect">
            <a:avLst/>
          </a:prstGeom>
          <a:noFill/>
          <a:ln w="19050">
            <a:noFill/>
          </a:ln>
        </p:spPr>
        <p:txBody>
          <a:bodyPr wrap="none">
            <a:spAutoFit/>
          </a:bodyPr>
          <a:lstStyle/>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=1</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17123"/>
                                        </p:tgtEl>
                                        <p:attrNameLst>
                                          <p:attrName>style.visibility</p:attrName>
                                        </p:attrNameLst>
                                      </p:cBhvr>
                                      <p:to>
                                        <p:strVal val="visible"/>
                                      </p:to>
                                    </p:set>
                                    <p:animEffect transition="in" filter="wipe(left)">
                                      <p:cBhvr>
                                        <p:cTn id="19" dur="500"/>
                                        <p:tgtEl>
                                          <p:spTgt spid="217123"/>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500" fill="hold"/>
                                        <p:tgtEl>
                                          <p:spTgt spid="9"/>
                                        </p:tgtEl>
                                        <p:attrNameLst>
                                          <p:attrName>ppt_w</p:attrName>
                                        </p:attrNameLst>
                                      </p:cBhvr>
                                      <p:tavLst>
                                        <p:tav tm="0">
                                          <p:val>
                                            <p:fltVal val="0"/>
                                          </p:val>
                                        </p:tav>
                                        <p:tav tm="100000">
                                          <p:val>
                                            <p:strVal val="#ppt_w"/>
                                          </p:val>
                                        </p:tav>
                                      </p:tavLst>
                                    </p:anim>
                                    <p:anim calcmode="lin" valueType="num">
                                      <p:cBhvr>
                                        <p:cTn id="25"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17535"/>
                                        </p:tgtEl>
                                        <p:attrNameLst>
                                          <p:attrName>style.visibility</p:attrName>
                                        </p:attrNameLst>
                                      </p:cBhvr>
                                      <p:to>
                                        <p:strVal val="visible"/>
                                      </p:to>
                                    </p:set>
                                    <p:animEffect transition="in" filter="wipe(left)">
                                      <p:cBhvr>
                                        <p:cTn id="30" dur="500"/>
                                        <p:tgtEl>
                                          <p:spTgt spid="217535"/>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p:cTn id="35" dur="500" fill="hold"/>
                                        <p:tgtEl>
                                          <p:spTgt spid="13"/>
                                        </p:tgtEl>
                                        <p:attrNameLst>
                                          <p:attrName>ppt_w</p:attrName>
                                        </p:attrNameLst>
                                      </p:cBhvr>
                                      <p:tavLst>
                                        <p:tav tm="0">
                                          <p:val>
                                            <p:fltVal val="0"/>
                                          </p:val>
                                        </p:tav>
                                        <p:tav tm="100000">
                                          <p:val>
                                            <p:strVal val="#ppt_w"/>
                                          </p:val>
                                        </p:tav>
                                      </p:tavLst>
                                    </p:anim>
                                    <p:anim calcmode="lin" valueType="num">
                                      <p:cBhvr>
                                        <p:cTn id="36"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17122"/>
                                        </p:tgtEl>
                                        <p:attrNameLst>
                                          <p:attrName>style.visibility</p:attrName>
                                        </p:attrNameLst>
                                      </p:cBhvr>
                                      <p:to>
                                        <p:strVal val="visible"/>
                                      </p:to>
                                    </p:set>
                                    <p:animEffect transition="in" filter="wipe(left)">
                                      <p:cBhvr>
                                        <p:cTn id="41" dur="500"/>
                                        <p:tgtEl>
                                          <p:spTgt spid="217122"/>
                                        </p:tgtEl>
                                      </p:cBhvr>
                                    </p:animEffect>
                                  </p:childTnLst>
                                </p:cTn>
                              </p:par>
                            </p:childTnLst>
                          </p:cTn>
                        </p:par>
                      </p:childTnLst>
                    </p:cTn>
                  </p:par>
                  <p:par>
                    <p:cTn id="42" fill="hold">
                      <p:stCondLst>
                        <p:cond delay="indefinite"/>
                      </p:stCondLst>
                      <p:childTnLst>
                        <p:par>
                          <p:cTn id="43" fill="hold">
                            <p:stCondLst>
                              <p:cond delay="0"/>
                            </p:stCondLst>
                            <p:childTnLst>
                              <p:par>
                                <p:cTn id="44" presetID="23" presetClass="entr" presetSubtype="16"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 calcmode="lin" valueType="num">
                                      <p:cBhvr>
                                        <p:cTn id="46" dur="500" fill="hold"/>
                                        <p:tgtEl>
                                          <p:spTgt spid="17"/>
                                        </p:tgtEl>
                                        <p:attrNameLst>
                                          <p:attrName>ppt_w</p:attrName>
                                        </p:attrNameLst>
                                      </p:cBhvr>
                                      <p:tavLst>
                                        <p:tav tm="0">
                                          <p:val>
                                            <p:fltVal val="0"/>
                                          </p:val>
                                        </p:tav>
                                        <p:tav tm="100000">
                                          <p:val>
                                            <p:strVal val="#ppt_w"/>
                                          </p:val>
                                        </p:tav>
                                      </p:tavLst>
                                    </p:anim>
                                    <p:anim calcmode="lin" valueType="num">
                                      <p:cBhvr>
                                        <p:cTn id="47"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17536"/>
                                        </p:tgtEl>
                                        <p:attrNameLst>
                                          <p:attrName>style.visibility</p:attrName>
                                        </p:attrNameLst>
                                      </p:cBhvr>
                                      <p:to>
                                        <p:strVal val="visible"/>
                                      </p:to>
                                    </p:set>
                                    <p:animEffect transition="in" filter="wipe(left)">
                                      <p:cBhvr>
                                        <p:cTn id="52" dur="500"/>
                                        <p:tgtEl>
                                          <p:spTgt spid="2175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122" grpId="0"/>
      <p:bldP spid="217536"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Text Box 2"/>
          <p:cNvSpPr txBox="1"/>
          <p:nvPr/>
        </p:nvSpPr>
        <p:spPr>
          <a:xfrm>
            <a:off x="5032375" y="5472113"/>
            <a:ext cx="1792288" cy="519112"/>
          </a:xfrm>
          <a:prstGeom prst="rect">
            <a:avLst/>
          </a:prstGeom>
          <a:noFill/>
          <a:ln w="19050">
            <a:noFill/>
          </a:ln>
        </p:spPr>
        <p:txBody>
          <a:bodyPr wrap="none">
            <a:spAutoFit/>
          </a:bodyPr>
          <a:lstStyle/>
          <a:p>
            <a:r>
              <a:rPr lang="en-US" altLang="zh-CN" sz="2800" dirty="0">
                <a:latin typeface="Times New Roman" panose="02020603050405020304" pitchFamily="18" charset="0"/>
              </a:rPr>
              <a:t>Z=</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1</a:t>
            </a:r>
          </a:p>
        </p:txBody>
      </p:sp>
      <p:grpSp>
        <p:nvGrpSpPr>
          <p:cNvPr id="2" name="Group 3"/>
          <p:cNvGrpSpPr/>
          <p:nvPr/>
        </p:nvGrpSpPr>
        <p:grpSpPr>
          <a:xfrm>
            <a:off x="4189413" y="1639888"/>
            <a:ext cx="4549775" cy="3529012"/>
            <a:chOff x="1286" y="630"/>
            <a:chExt cx="2866" cy="2223"/>
          </a:xfrm>
        </p:grpSpPr>
        <p:sp>
          <p:nvSpPr>
            <p:cNvPr id="76819" name="Text Box 4"/>
            <p:cNvSpPr txBox="1"/>
            <p:nvPr/>
          </p:nvSpPr>
          <p:spPr>
            <a:xfrm>
              <a:off x="1934" y="135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76820" name="Text Box 5"/>
            <p:cNvSpPr txBox="1"/>
            <p:nvPr/>
          </p:nvSpPr>
          <p:spPr>
            <a:xfrm>
              <a:off x="2571" y="135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76821" name="Text Box 6"/>
            <p:cNvSpPr txBox="1"/>
            <p:nvPr/>
          </p:nvSpPr>
          <p:spPr>
            <a:xfrm>
              <a:off x="2558" y="199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76822" name="Text Box 7"/>
            <p:cNvSpPr txBox="1"/>
            <p:nvPr/>
          </p:nvSpPr>
          <p:spPr>
            <a:xfrm>
              <a:off x="1934" y="199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76823" name="Text Box 8"/>
            <p:cNvSpPr txBox="1"/>
            <p:nvPr/>
          </p:nvSpPr>
          <p:spPr>
            <a:xfrm>
              <a:off x="1922" y="978"/>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76824" name="Text Box 9"/>
            <p:cNvSpPr txBox="1"/>
            <p:nvPr/>
          </p:nvSpPr>
          <p:spPr>
            <a:xfrm>
              <a:off x="2570" y="978"/>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76825" name="Text Box 10"/>
            <p:cNvSpPr txBox="1"/>
            <p:nvPr/>
          </p:nvSpPr>
          <p:spPr>
            <a:xfrm>
              <a:off x="1526" y="1434"/>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76826" name="Text Box 11"/>
            <p:cNvSpPr txBox="1"/>
            <p:nvPr/>
          </p:nvSpPr>
          <p:spPr>
            <a:xfrm>
              <a:off x="1550" y="207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76827" name="Text Box 12"/>
            <p:cNvSpPr txBox="1"/>
            <p:nvPr/>
          </p:nvSpPr>
          <p:spPr>
            <a:xfrm>
              <a:off x="1286" y="870"/>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sp>
          <p:nvSpPr>
            <p:cNvPr id="76828" name="Text Box 13"/>
            <p:cNvSpPr txBox="1"/>
            <p:nvPr/>
          </p:nvSpPr>
          <p:spPr>
            <a:xfrm>
              <a:off x="1346" y="630"/>
              <a:ext cx="448" cy="327"/>
            </a:xfrm>
            <a:prstGeom prst="rect">
              <a:avLst/>
            </a:prstGeom>
            <a:noFill/>
            <a:ln w="19050">
              <a:noFill/>
            </a:ln>
          </p:spPr>
          <p:txBody>
            <a:bodyPr>
              <a:spAutoFit/>
            </a:bodyPr>
            <a:lstStyle/>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p>
          </p:txBody>
        </p:sp>
        <p:grpSp>
          <p:nvGrpSpPr>
            <p:cNvPr id="76829" name="Group 14"/>
            <p:cNvGrpSpPr/>
            <p:nvPr/>
          </p:nvGrpSpPr>
          <p:grpSpPr>
            <a:xfrm>
              <a:off x="1332" y="852"/>
              <a:ext cx="2820" cy="1620"/>
              <a:chOff x="1332" y="852"/>
              <a:chExt cx="2820" cy="1620"/>
            </a:xfrm>
          </p:grpSpPr>
          <p:sp>
            <p:nvSpPr>
              <p:cNvPr id="76839" name="Line 15"/>
              <p:cNvSpPr/>
              <p:nvPr/>
            </p:nvSpPr>
            <p:spPr>
              <a:xfrm>
                <a:off x="1332" y="852"/>
                <a:ext cx="432" cy="432"/>
              </a:xfrm>
              <a:prstGeom prst="line">
                <a:avLst/>
              </a:prstGeom>
              <a:ln w="38100" cap="flat" cmpd="sng">
                <a:solidFill>
                  <a:srgbClr val="3333FF"/>
                </a:solidFill>
                <a:prstDash val="solid"/>
                <a:headEnd type="none" w="med" len="med"/>
                <a:tailEnd type="none" w="sm" len="lg"/>
              </a:ln>
            </p:spPr>
          </p:sp>
          <p:grpSp>
            <p:nvGrpSpPr>
              <p:cNvPr id="76840" name="Group 16"/>
              <p:cNvGrpSpPr/>
              <p:nvPr/>
            </p:nvGrpSpPr>
            <p:grpSpPr>
              <a:xfrm>
                <a:off x="1752" y="1272"/>
                <a:ext cx="2400" cy="1200"/>
                <a:chOff x="2652" y="1704"/>
                <a:chExt cx="2400" cy="1200"/>
              </a:xfrm>
            </p:grpSpPr>
            <p:grpSp>
              <p:nvGrpSpPr>
                <p:cNvPr id="76841" name="Group 17"/>
                <p:cNvGrpSpPr/>
                <p:nvPr/>
              </p:nvGrpSpPr>
              <p:grpSpPr>
                <a:xfrm>
                  <a:off x="2652" y="1704"/>
                  <a:ext cx="1200" cy="1200"/>
                  <a:chOff x="1272" y="1896"/>
                  <a:chExt cx="1200" cy="1200"/>
                </a:xfrm>
              </p:grpSpPr>
              <p:sp>
                <p:nvSpPr>
                  <p:cNvPr id="76847" name="Rectangle 18"/>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76848" name="Rectangle 19"/>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76849" name="Rectangle 20"/>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76850" name="Rectangle 21"/>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76842" name="Group 22"/>
                <p:cNvGrpSpPr/>
                <p:nvPr/>
              </p:nvGrpSpPr>
              <p:grpSpPr>
                <a:xfrm>
                  <a:off x="3852" y="1704"/>
                  <a:ext cx="1200" cy="1200"/>
                  <a:chOff x="1272" y="1896"/>
                  <a:chExt cx="1200" cy="1200"/>
                </a:xfrm>
              </p:grpSpPr>
              <p:sp>
                <p:nvSpPr>
                  <p:cNvPr id="76843" name="Rectangle 23"/>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76844" name="Rectangle 24"/>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76845" name="Rectangle 25"/>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76846" name="Rectangle 26"/>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grpSp>
        <p:sp>
          <p:nvSpPr>
            <p:cNvPr id="76830" name="Text Box 27"/>
            <p:cNvSpPr txBox="1"/>
            <p:nvPr/>
          </p:nvSpPr>
          <p:spPr>
            <a:xfrm>
              <a:off x="3050" y="990"/>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76831" name="Text Box 28"/>
            <p:cNvSpPr txBox="1"/>
            <p:nvPr/>
          </p:nvSpPr>
          <p:spPr>
            <a:xfrm>
              <a:off x="3674" y="990"/>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76832" name="Text Box 29"/>
            <p:cNvSpPr txBox="1"/>
            <p:nvPr/>
          </p:nvSpPr>
          <p:spPr>
            <a:xfrm>
              <a:off x="3159" y="133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76833" name="Text Box 30"/>
            <p:cNvSpPr txBox="1"/>
            <p:nvPr/>
          </p:nvSpPr>
          <p:spPr>
            <a:xfrm>
              <a:off x="3699" y="133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76834" name="Text Box 31"/>
            <p:cNvSpPr txBox="1"/>
            <p:nvPr/>
          </p:nvSpPr>
          <p:spPr>
            <a:xfrm>
              <a:off x="3170" y="199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76835" name="Text Box 32"/>
            <p:cNvSpPr txBox="1"/>
            <p:nvPr/>
          </p:nvSpPr>
          <p:spPr>
            <a:xfrm>
              <a:off x="3734" y="198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76836" name="AutoShape 33"/>
            <p:cNvSpPr/>
            <p:nvPr/>
          </p:nvSpPr>
          <p:spPr>
            <a:xfrm>
              <a:off x="2484" y="2004"/>
              <a:ext cx="948" cy="288"/>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76837" name="AutoShape 34"/>
            <p:cNvSpPr/>
            <p:nvPr/>
          </p:nvSpPr>
          <p:spPr>
            <a:xfrm rot="10800000">
              <a:off x="3084" y="2004"/>
              <a:ext cx="948" cy="288"/>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76838" name="Text Box 35"/>
            <p:cNvSpPr txBox="1"/>
            <p:nvPr/>
          </p:nvSpPr>
          <p:spPr>
            <a:xfrm>
              <a:off x="2822" y="2526"/>
              <a:ext cx="253" cy="327"/>
            </a:xfrm>
            <a:prstGeom prst="rect">
              <a:avLst/>
            </a:prstGeom>
            <a:noFill/>
            <a:ln w="19050">
              <a:noFill/>
            </a:ln>
          </p:spPr>
          <p:txBody>
            <a:bodyPr wrap="none">
              <a:spAutoFit/>
            </a:bodyPr>
            <a:lstStyle/>
            <a:p>
              <a:r>
                <a:rPr lang="en-US" altLang="zh-CN" sz="2800" dirty="0">
                  <a:latin typeface="Times New Roman" panose="02020603050405020304" pitchFamily="18" charset="0"/>
                </a:rPr>
                <a:t>Z</a:t>
              </a:r>
            </a:p>
          </p:txBody>
        </p:sp>
      </p:grpSp>
      <p:sp>
        <p:nvSpPr>
          <p:cNvPr id="76804" name="Text Box 36"/>
          <p:cNvSpPr txBox="1"/>
          <p:nvPr/>
        </p:nvSpPr>
        <p:spPr>
          <a:xfrm>
            <a:off x="1603375" y="1057275"/>
            <a:ext cx="2387600" cy="519113"/>
          </a:xfrm>
          <a:prstGeom prst="rect">
            <a:avLst/>
          </a:prstGeom>
          <a:noFill/>
          <a:ln w="19050">
            <a:noFill/>
          </a:ln>
        </p:spPr>
        <p:txBody>
          <a:bodyPr wrap="none">
            <a:spAutoFit/>
          </a:bodyPr>
          <a:lstStyle/>
          <a:p>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确定输出函数</a:t>
            </a:r>
          </a:p>
        </p:txBody>
      </p:sp>
      <p:grpSp>
        <p:nvGrpSpPr>
          <p:cNvPr id="7" name="Group 37"/>
          <p:cNvGrpSpPr/>
          <p:nvPr/>
        </p:nvGrpSpPr>
        <p:grpSpPr>
          <a:xfrm>
            <a:off x="296863" y="2022475"/>
            <a:ext cx="3700462" cy="4468813"/>
            <a:chOff x="234" y="1461"/>
            <a:chExt cx="2331" cy="2451"/>
          </a:xfrm>
        </p:grpSpPr>
        <p:sp>
          <p:nvSpPr>
            <p:cNvPr id="76806" name="Line 38"/>
            <p:cNvSpPr/>
            <p:nvPr/>
          </p:nvSpPr>
          <p:spPr>
            <a:xfrm>
              <a:off x="377" y="1461"/>
              <a:ext cx="1925" cy="1"/>
            </a:xfrm>
            <a:prstGeom prst="line">
              <a:avLst/>
            </a:prstGeom>
            <a:ln w="38100" cap="flat" cmpd="sng">
              <a:solidFill>
                <a:schemeClr val="tx1"/>
              </a:solidFill>
              <a:prstDash val="solid"/>
              <a:headEnd type="none" w="med" len="med"/>
              <a:tailEnd type="none" w="sm" len="lg"/>
            </a:ln>
          </p:spPr>
        </p:sp>
        <p:sp>
          <p:nvSpPr>
            <p:cNvPr id="76807" name="Line 39"/>
            <p:cNvSpPr/>
            <p:nvPr/>
          </p:nvSpPr>
          <p:spPr>
            <a:xfrm>
              <a:off x="377" y="3874"/>
              <a:ext cx="1925" cy="1"/>
            </a:xfrm>
            <a:prstGeom prst="line">
              <a:avLst/>
            </a:prstGeom>
            <a:ln w="38100" cap="flat" cmpd="sng">
              <a:solidFill>
                <a:schemeClr val="tx1"/>
              </a:solidFill>
              <a:prstDash val="solid"/>
              <a:headEnd type="none" w="med" len="med"/>
              <a:tailEnd type="none" w="sm" len="lg"/>
            </a:ln>
          </p:spPr>
        </p:sp>
        <p:sp>
          <p:nvSpPr>
            <p:cNvPr id="76808" name="Line 40"/>
            <p:cNvSpPr/>
            <p:nvPr/>
          </p:nvSpPr>
          <p:spPr>
            <a:xfrm>
              <a:off x="783" y="1461"/>
              <a:ext cx="0" cy="2424"/>
            </a:xfrm>
            <a:prstGeom prst="line">
              <a:avLst/>
            </a:prstGeom>
            <a:ln w="19050" cap="flat" cmpd="sng">
              <a:solidFill>
                <a:schemeClr val="tx1"/>
              </a:solidFill>
              <a:prstDash val="solid"/>
              <a:headEnd type="none" w="med" len="med"/>
              <a:tailEnd type="none" w="sm" len="lg"/>
            </a:ln>
          </p:spPr>
        </p:sp>
        <p:sp>
          <p:nvSpPr>
            <p:cNvPr id="76809" name="Line 41"/>
            <p:cNvSpPr/>
            <p:nvPr/>
          </p:nvSpPr>
          <p:spPr>
            <a:xfrm>
              <a:off x="1520" y="2000"/>
              <a:ext cx="0" cy="1863"/>
            </a:xfrm>
            <a:prstGeom prst="line">
              <a:avLst/>
            </a:prstGeom>
            <a:ln w="19050" cap="flat" cmpd="sng">
              <a:solidFill>
                <a:schemeClr val="tx1"/>
              </a:solidFill>
              <a:prstDash val="solid"/>
              <a:headEnd type="none" w="med" len="med"/>
              <a:tailEnd type="none" w="sm" len="lg"/>
            </a:ln>
          </p:spPr>
        </p:sp>
        <p:sp>
          <p:nvSpPr>
            <p:cNvPr id="76810" name="Line 42"/>
            <p:cNvSpPr/>
            <p:nvPr/>
          </p:nvSpPr>
          <p:spPr>
            <a:xfrm>
              <a:off x="880" y="1989"/>
              <a:ext cx="1422" cy="1"/>
            </a:xfrm>
            <a:prstGeom prst="line">
              <a:avLst/>
            </a:prstGeom>
            <a:ln w="12700" cap="flat" cmpd="sng">
              <a:solidFill>
                <a:schemeClr val="tx1"/>
              </a:solidFill>
              <a:prstDash val="solid"/>
              <a:headEnd type="none" w="med" len="med"/>
              <a:tailEnd type="none" w="sm" len="lg"/>
            </a:ln>
          </p:spPr>
        </p:sp>
        <p:sp>
          <p:nvSpPr>
            <p:cNvPr id="76811" name="Line 43"/>
            <p:cNvSpPr/>
            <p:nvPr/>
          </p:nvSpPr>
          <p:spPr>
            <a:xfrm>
              <a:off x="377" y="2484"/>
              <a:ext cx="1925" cy="1"/>
            </a:xfrm>
            <a:prstGeom prst="line">
              <a:avLst/>
            </a:prstGeom>
            <a:ln w="12700" cap="flat" cmpd="sng">
              <a:solidFill>
                <a:schemeClr val="tx1"/>
              </a:solidFill>
              <a:prstDash val="solid"/>
              <a:headEnd type="none" w="med" len="med"/>
              <a:tailEnd type="none" w="sm" len="lg"/>
            </a:ln>
          </p:spPr>
        </p:sp>
        <p:sp>
          <p:nvSpPr>
            <p:cNvPr id="76812" name="Text Box 44"/>
            <p:cNvSpPr txBox="1"/>
            <p:nvPr/>
          </p:nvSpPr>
          <p:spPr>
            <a:xfrm>
              <a:off x="234" y="1501"/>
              <a:ext cx="593" cy="754"/>
            </a:xfrm>
            <a:prstGeom prst="rect">
              <a:avLst/>
            </a:prstGeom>
            <a:noFill/>
            <a:ln w="19050">
              <a:noFill/>
            </a:ln>
          </p:spPr>
          <p:txBody>
            <a:bodyPr>
              <a:spAutoFit/>
            </a:bodyPr>
            <a:lstStyle/>
            <a:p>
              <a:pPr>
                <a:lnSpc>
                  <a:spcPct val="150000"/>
                </a:lnSpc>
              </a:pPr>
              <a:r>
                <a:rPr lang="zh-CN" altLang="zh-CN" sz="2800" dirty="0">
                  <a:latin typeface="Times New Roman" panose="02020603050405020304" pitchFamily="18" charset="0"/>
                </a:rPr>
                <a:t>现态</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sp>
          <p:nvSpPr>
            <p:cNvPr id="76813" name="Text Box 45"/>
            <p:cNvSpPr txBox="1"/>
            <p:nvPr/>
          </p:nvSpPr>
          <p:spPr>
            <a:xfrm>
              <a:off x="722" y="1580"/>
              <a:ext cx="1843" cy="285"/>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p>
          </p:txBody>
        </p:sp>
        <p:sp>
          <p:nvSpPr>
            <p:cNvPr id="76814" name="Text Box 46"/>
            <p:cNvSpPr txBox="1"/>
            <p:nvPr/>
          </p:nvSpPr>
          <p:spPr>
            <a:xfrm>
              <a:off x="939" y="2091"/>
              <a:ext cx="453" cy="285"/>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76815" name="Text Box 47"/>
            <p:cNvSpPr txBox="1"/>
            <p:nvPr/>
          </p:nvSpPr>
          <p:spPr>
            <a:xfrm>
              <a:off x="1660" y="2091"/>
              <a:ext cx="453" cy="285"/>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76816" name="Text Box 48"/>
            <p:cNvSpPr txBox="1"/>
            <p:nvPr/>
          </p:nvSpPr>
          <p:spPr>
            <a:xfrm>
              <a:off x="298" y="2454"/>
              <a:ext cx="452" cy="1458"/>
            </a:xfrm>
            <a:prstGeom prst="rect">
              <a:avLst/>
            </a:prstGeom>
            <a:noFill/>
            <a:ln w="19050">
              <a:noFill/>
            </a:ln>
          </p:spPr>
          <p:txBody>
            <a:bodyPr wrap="none">
              <a:spAutoFit/>
            </a:bodyPr>
            <a:lstStyle/>
            <a:p>
              <a:pPr algn="ctr" defTabSz="666750">
                <a:lnSpc>
                  <a:spcPct val="150000"/>
                </a:lnSpc>
              </a:pPr>
              <a:r>
                <a:rPr lang="en-US" altLang="zh-CN" sz="2800" dirty="0">
                  <a:latin typeface="Times New Roman" panose="02020603050405020304" pitchFamily="18" charset="0"/>
                </a:rPr>
                <a:t>0  0</a:t>
              </a:r>
            </a:p>
            <a:p>
              <a:pPr algn="ctr" defTabSz="666750">
                <a:lnSpc>
                  <a:spcPct val="150000"/>
                </a:lnSpc>
              </a:pPr>
              <a:r>
                <a:rPr lang="en-US" altLang="zh-CN" sz="2800" dirty="0">
                  <a:latin typeface="Times New Roman" panose="02020603050405020304" pitchFamily="18" charset="0"/>
                </a:rPr>
                <a:t>0  1</a:t>
              </a:r>
            </a:p>
            <a:p>
              <a:pPr algn="ctr" defTabSz="666750">
                <a:lnSpc>
                  <a:spcPct val="150000"/>
                </a:lnSpc>
              </a:pPr>
              <a:r>
                <a:rPr lang="en-US" altLang="zh-CN" sz="2800" dirty="0">
                  <a:latin typeface="Times New Roman" panose="02020603050405020304" pitchFamily="18" charset="0"/>
                </a:rPr>
                <a:t>1  1</a:t>
              </a:r>
            </a:p>
            <a:p>
              <a:pPr algn="ctr" defTabSz="666750">
                <a:lnSpc>
                  <a:spcPct val="150000"/>
                </a:lnSpc>
              </a:pPr>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76817" name="Text Box 49"/>
            <p:cNvSpPr txBox="1"/>
            <p:nvPr/>
          </p:nvSpPr>
          <p:spPr>
            <a:xfrm>
              <a:off x="906" y="2452"/>
              <a:ext cx="514" cy="1457"/>
            </a:xfrm>
            <a:prstGeom prst="rect">
              <a:avLst/>
            </a:prstGeom>
            <a:noFill/>
            <a:ln w="19050">
              <a:noFill/>
            </a:ln>
          </p:spPr>
          <p:txBody>
            <a:bodyPr wrap="none">
              <a:spAutoFit/>
            </a:bodyPr>
            <a:lstStyle/>
            <a:p>
              <a:pPr>
                <a:lnSpc>
                  <a:spcPct val="150000"/>
                </a:lnSpc>
              </a:pPr>
              <a:r>
                <a:rPr lang="en-US" altLang="zh-CN" sz="2800" dirty="0">
                  <a:latin typeface="Times New Roman" panose="02020603050405020304" pitchFamily="18" charset="0"/>
                </a:rPr>
                <a:t>11/0</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01/0</a:t>
              </a:r>
            </a:p>
          </p:txBody>
        </p:sp>
        <p:sp>
          <p:nvSpPr>
            <p:cNvPr id="76818" name="Text Box 50"/>
            <p:cNvSpPr txBox="1"/>
            <p:nvPr/>
          </p:nvSpPr>
          <p:spPr>
            <a:xfrm>
              <a:off x="1665" y="2452"/>
              <a:ext cx="514" cy="1457"/>
            </a:xfrm>
            <a:prstGeom prst="rect">
              <a:avLst/>
            </a:prstGeom>
            <a:noFill/>
            <a:ln w="19050">
              <a:noFill/>
            </a:ln>
          </p:spPr>
          <p:txBody>
            <a:bodyPr wrap="none">
              <a:spAutoFit/>
            </a:bodyPr>
            <a:lstStyle/>
            <a:p>
              <a:pPr>
                <a:lnSpc>
                  <a:spcPct val="150000"/>
                </a:lnSpc>
              </a:pPr>
              <a:r>
                <a:rPr lang="en-US" altLang="zh-CN" sz="2800" dirty="0">
                  <a:latin typeface="Times New Roman" panose="02020603050405020304" pitchFamily="18" charset="0"/>
                </a:rPr>
                <a:t>01/0</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00/1</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10/1</a:t>
              </a:r>
              <a:endParaRPr lang="en-US" altLang="zh-CN" sz="2800" baseline="-25000" dirty="0">
                <a:latin typeface="Times New Roman" panose="02020603050405020304" pitchFamily="18" charset="0"/>
              </a:endParaRPr>
            </a:p>
            <a:p>
              <a:pPr>
                <a:lnSpc>
                  <a:spcPct val="150000"/>
                </a:lnSpc>
              </a:pPr>
              <a:r>
                <a:rPr lang="en-US" altLang="zh-CN" sz="2800" dirty="0">
                  <a:latin typeface="Times New Roman" panose="02020603050405020304" pitchFamily="18" charset="0"/>
                </a:rPr>
                <a:t>11/0</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18114"/>
                                        </p:tgtEl>
                                        <p:attrNameLst>
                                          <p:attrName>style.visibility</p:attrName>
                                        </p:attrNameLst>
                                      </p:cBhvr>
                                      <p:to>
                                        <p:strVal val="visible"/>
                                      </p:to>
                                    </p:set>
                                    <p:animEffect transition="in" filter="wipe(left)">
                                      <p:cBhvr>
                                        <p:cTn id="19" dur="500"/>
                                        <p:tgtEl>
                                          <p:spTgt spid="218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4"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Text Box 2"/>
          <p:cNvSpPr txBox="1">
            <a:spLocks noChangeArrowheads="1"/>
          </p:cNvSpPr>
          <p:nvPr/>
        </p:nvSpPr>
        <p:spPr bwMode="auto">
          <a:xfrm>
            <a:off x="2300288" y="990600"/>
            <a:ext cx="3432175" cy="579438"/>
          </a:xfrm>
          <a:prstGeom prst="rect">
            <a:avLst/>
          </a:prstGeom>
          <a:noFill/>
          <a:ln w="9525">
            <a:noFill/>
            <a:miter lim="800000"/>
          </a:ln>
          <a:effectLst/>
        </p:spPr>
        <p:txBody>
          <a:bodyPr>
            <a:spAutoFit/>
          </a:bodyPr>
          <a:lstStyle/>
          <a:p>
            <a:pPr marR="0" defTabSz="914400">
              <a:buClrTx/>
              <a:buSzTx/>
              <a:buFontTx/>
              <a:buNone/>
              <a:defRPr/>
            </a:pPr>
            <a:r>
              <a:rPr kumimoji="1" lang="zh-CN" altLang="zh-CN" sz="32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画出逻辑电路图</a:t>
            </a:r>
            <a:endParaRPr kumimoji="1" lang="zh-CN" altLang="en-US" sz="3200" b="1" kern="1200" cap="none" spc="0" normalizeH="0" baseline="0" noProof="0">
              <a:effectLst>
                <a:outerShdw blurRad="38100" dist="38100" dir="2700000" algn="tl">
                  <a:srgbClr val="FFFFFF"/>
                </a:outerShdw>
              </a:effectLst>
              <a:latin typeface="Times New Roman" panose="02020603050405020304" pitchFamily="18" charset="0"/>
              <a:ea typeface="宋体" panose="02010600030101010101" pitchFamily="2" charset="-122"/>
              <a:cs typeface="+mn-cs"/>
            </a:endParaRPr>
          </a:p>
        </p:txBody>
      </p:sp>
      <p:sp>
        <p:nvSpPr>
          <p:cNvPr id="77827" name="Text Box 3"/>
          <p:cNvSpPr txBox="1"/>
          <p:nvPr/>
        </p:nvSpPr>
        <p:spPr>
          <a:xfrm>
            <a:off x="817563" y="1971675"/>
            <a:ext cx="7200900" cy="2654300"/>
          </a:xfrm>
          <a:prstGeom prst="rect">
            <a:avLst/>
          </a:prstGeom>
          <a:noFill/>
          <a:ln w="19050">
            <a:noFill/>
          </a:ln>
        </p:spPr>
        <p:txBody>
          <a:bodyPr>
            <a:spAutoFit/>
          </a:bodyPr>
          <a:lstStyle/>
          <a:p>
            <a:pPr indent="762000" algn="just">
              <a:lnSpc>
                <a:spcPct val="200000"/>
              </a:lnSpc>
              <a:spcBef>
                <a:spcPct val="50000"/>
              </a:spcBef>
            </a:pPr>
            <a:r>
              <a:rPr lang="zh-CN" altLang="en-US" sz="2800" dirty="0">
                <a:latin typeface="Times New Roman" panose="02020603050405020304" pitchFamily="18" charset="0"/>
              </a:rPr>
              <a:t>先画出触发器并给触发器编号，再根据激励函数和输出函数画出组合逻辑部分的电路，最后画出同步时钟信号线。</a:t>
            </a:r>
          </a:p>
        </p:txBody>
      </p:sp>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2" descr="羊皮纸"/>
          <p:cNvSpPr/>
          <p:nvPr/>
        </p:nvSpPr>
        <p:spPr>
          <a:xfrm>
            <a:off x="0" y="482600"/>
            <a:ext cx="7974013" cy="5045075"/>
          </a:xfrm>
          <a:prstGeom prst="rect">
            <a:avLst/>
          </a:prstGeom>
          <a:blipFill rotWithShape="1">
            <a:blip r:embed="rId2"/>
          </a:blipFill>
          <a:ln w="19050">
            <a:noFill/>
          </a:ln>
        </p:spPr>
        <p:txBody>
          <a:bodyPr wrap="none" anchor="ctr" anchorCtr="0"/>
          <a:lstStyle/>
          <a:p>
            <a:endParaRPr lang="zh-CN" altLang="en-US" sz="2800" dirty="0">
              <a:latin typeface="Times New Roman" panose="02020603050405020304" pitchFamily="18" charset="0"/>
            </a:endParaRPr>
          </a:p>
        </p:txBody>
      </p:sp>
      <p:grpSp>
        <p:nvGrpSpPr>
          <p:cNvPr id="4102" name="Group 61"/>
          <p:cNvGrpSpPr/>
          <p:nvPr/>
        </p:nvGrpSpPr>
        <p:grpSpPr>
          <a:xfrm>
            <a:off x="838200" y="2057400"/>
            <a:ext cx="7172325" cy="4665663"/>
            <a:chOff x="528" y="1296"/>
            <a:chExt cx="4518" cy="2939"/>
          </a:xfrm>
        </p:grpSpPr>
        <p:sp>
          <p:nvSpPr>
            <p:cNvPr id="4107" name="Freeform 4"/>
            <p:cNvSpPr/>
            <p:nvPr/>
          </p:nvSpPr>
          <p:spPr>
            <a:xfrm>
              <a:off x="682" y="2259"/>
              <a:ext cx="3582" cy="270"/>
            </a:xfrm>
            <a:custGeom>
              <a:avLst/>
              <a:gdLst>
                <a:gd name="txL" fmla="*/ 0 w 2223"/>
                <a:gd name="txT" fmla="*/ 0 h 166"/>
                <a:gd name="txR" fmla="*/ 2223 w 2223"/>
                <a:gd name="txB" fmla="*/ 166 h 166"/>
              </a:gdLst>
              <a:ahLst/>
              <a:cxnLst>
                <a:cxn ang="0">
                  <a:pos x="5772" y="0"/>
                </a:cxn>
                <a:cxn ang="0">
                  <a:pos x="5772" y="439"/>
                </a:cxn>
                <a:cxn ang="0">
                  <a:pos x="0" y="439"/>
                </a:cxn>
              </a:cxnLst>
              <a:rect l="txL" t="txT" r="txR" b="txB"/>
              <a:pathLst>
                <a:path w="2223" h="166">
                  <a:moveTo>
                    <a:pt x="2223" y="0"/>
                  </a:moveTo>
                  <a:lnTo>
                    <a:pt x="2223" y="166"/>
                  </a:lnTo>
                  <a:lnTo>
                    <a:pt x="0" y="166"/>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4108" name="Line 5"/>
            <p:cNvSpPr/>
            <p:nvPr/>
          </p:nvSpPr>
          <p:spPr>
            <a:xfrm flipV="1">
              <a:off x="1983" y="2214"/>
              <a:ext cx="0" cy="421"/>
            </a:xfrm>
            <a:prstGeom prst="line">
              <a:avLst/>
            </a:prstGeom>
            <a:ln w="19050" cap="flat" cmpd="sng">
              <a:solidFill>
                <a:srgbClr val="3333FF"/>
              </a:solidFill>
              <a:prstDash val="solid"/>
              <a:headEnd type="none" w="med" len="med"/>
              <a:tailEnd type="none" w="sm" len="lg"/>
            </a:ln>
          </p:spPr>
        </p:sp>
        <p:sp>
          <p:nvSpPr>
            <p:cNvPr id="4109" name="Rectangle 6"/>
            <p:cNvSpPr/>
            <p:nvPr/>
          </p:nvSpPr>
          <p:spPr>
            <a:xfrm>
              <a:off x="1727" y="1658"/>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10" name="Rectangle 7"/>
            <p:cNvSpPr/>
            <p:nvPr/>
          </p:nvSpPr>
          <p:spPr>
            <a:xfrm>
              <a:off x="3518" y="1658"/>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11" name="Line 8"/>
            <p:cNvSpPr/>
            <p:nvPr/>
          </p:nvSpPr>
          <p:spPr>
            <a:xfrm flipV="1">
              <a:off x="2472" y="2225"/>
              <a:ext cx="0" cy="284"/>
            </a:xfrm>
            <a:prstGeom prst="line">
              <a:avLst/>
            </a:prstGeom>
            <a:ln w="19050" cap="flat" cmpd="sng">
              <a:solidFill>
                <a:srgbClr val="3333FF"/>
              </a:solidFill>
              <a:prstDash val="solid"/>
              <a:headEnd type="none" w="med" len="med"/>
              <a:tailEnd type="none" w="sm" len="lg"/>
            </a:ln>
          </p:spPr>
        </p:sp>
        <p:sp>
          <p:nvSpPr>
            <p:cNvPr id="4112" name="Freeform 9"/>
            <p:cNvSpPr/>
            <p:nvPr/>
          </p:nvSpPr>
          <p:spPr>
            <a:xfrm>
              <a:off x="4203" y="2114"/>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4113" name="Oval 10"/>
            <p:cNvSpPr/>
            <p:nvPr/>
          </p:nvSpPr>
          <p:spPr>
            <a:xfrm>
              <a:off x="4227" y="2215"/>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14" name="Text Box 11"/>
            <p:cNvSpPr txBox="1"/>
            <p:nvPr/>
          </p:nvSpPr>
          <p:spPr>
            <a:xfrm>
              <a:off x="1702" y="2631"/>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lstStyle/>
            <a:p>
              <a:pPr algn="ct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1</a:t>
              </a:r>
            </a:p>
          </p:txBody>
        </p:sp>
        <p:sp>
          <p:nvSpPr>
            <p:cNvPr id="4115" name="Text Box 12"/>
            <p:cNvSpPr txBox="1"/>
            <p:nvPr/>
          </p:nvSpPr>
          <p:spPr>
            <a:xfrm>
              <a:off x="3538" y="1890"/>
              <a:ext cx="354"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r>
                <a:rPr lang="en-US" altLang="zh-CN" sz="2800" baseline="-25000" dirty="0">
                  <a:latin typeface="Times New Roman" panose="02020603050405020304" pitchFamily="18" charset="0"/>
                </a:rPr>
                <a:t>1</a:t>
              </a:r>
            </a:p>
          </p:txBody>
        </p:sp>
        <p:sp>
          <p:nvSpPr>
            <p:cNvPr id="4116" name="Text Box 13"/>
            <p:cNvSpPr txBox="1"/>
            <p:nvPr/>
          </p:nvSpPr>
          <p:spPr>
            <a:xfrm>
              <a:off x="4135" y="1823"/>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4117" name="Text Box 14"/>
            <p:cNvSpPr txBox="1"/>
            <p:nvPr/>
          </p:nvSpPr>
          <p:spPr>
            <a:xfrm>
              <a:off x="1759" y="1890"/>
              <a:ext cx="354"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r>
                <a:rPr lang="en-US" altLang="zh-CN" sz="2800" baseline="-25000" dirty="0">
                  <a:latin typeface="Times New Roman" panose="02020603050405020304" pitchFamily="18" charset="0"/>
                </a:rPr>
                <a:t>2</a:t>
              </a:r>
            </a:p>
          </p:txBody>
        </p:sp>
        <p:sp>
          <p:nvSpPr>
            <p:cNvPr id="4118" name="Text Box 15"/>
            <p:cNvSpPr txBox="1"/>
            <p:nvPr/>
          </p:nvSpPr>
          <p:spPr>
            <a:xfrm>
              <a:off x="2356" y="1823"/>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4119" name="Text Box 16"/>
            <p:cNvSpPr txBox="1"/>
            <p:nvPr/>
          </p:nvSpPr>
          <p:spPr>
            <a:xfrm>
              <a:off x="1972" y="1311"/>
              <a:ext cx="316" cy="327"/>
            </a:xfrm>
            <a:prstGeom prst="rect">
              <a:avLst/>
            </a:prstGeom>
            <a:noFill/>
            <a:ln w="19050">
              <a:noFill/>
            </a:ln>
          </p:spPr>
          <p:txBody>
            <a:bodyPr>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p>
          </p:txBody>
        </p:sp>
        <p:sp>
          <p:nvSpPr>
            <p:cNvPr id="4120" name="Text Box 17"/>
            <p:cNvSpPr txBox="1"/>
            <p:nvPr/>
          </p:nvSpPr>
          <p:spPr>
            <a:xfrm>
              <a:off x="528" y="2199"/>
              <a:ext cx="390" cy="327"/>
            </a:xfrm>
            <a:prstGeom prst="rect">
              <a:avLst/>
            </a:prstGeom>
            <a:noFill/>
            <a:ln w="19050">
              <a:noFill/>
            </a:ln>
          </p:spPr>
          <p:txBody>
            <a:bodyPr wrap="none">
              <a:spAutoFit/>
            </a:bodyPr>
            <a:lstStyle/>
            <a:p>
              <a:r>
                <a:rPr lang="en-US" altLang="zh-CN" sz="2800" dirty="0">
                  <a:latin typeface="Times New Roman" panose="02020603050405020304" pitchFamily="18" charset="0"/>
                </a:rPr>
                <a:t>CP</a:t>
              </a:r>
            </a:p>
          </p:txBody>
        </p:sp>
        <p:sp>
          <p:nvSpPr>
            <p:cNvPr id="4121" name="Text Box 18"/>
            <p:cNvSpPr txBox="1"/>
            <p:nvPr/>
          </p:nvSpPr>
          <p:spPr>
            <a:xfrm>
              <a:off x="658" y="3839"/>
              <a:ext cx="278" cy="327"/>
            </a:xfrm>
            <a:prstGeom prst="rect">
              <a:avLst/>
            </a:prstGeom>
            <a:noFill/>
            <a:ln w="19050">
              <a:noFill/>
            </a:ln>
          </p:spPr>
          <p:txBody>
            <a:bodyPr>
              <a:spAutoFit/>
            </a:bodyPr>
            <a:lstStyle/>
            <a:p>
              <a:r>
                <a:rPr lang="en-US" altLang="zh-CN" sz="2800" dirty="0">
                  <a:latin typeface="Times New Roman" panose="02020603050405020304" pitchFamily="18" charset="0"/>
                </a:rPr>
                <a:t>x</a:t>
              </a:r>
            </a:p>
          </p:txBody>
        </p:sp>
        <p:sp>
          <p:nvSpPr>
            <p:cNvPr id="4122" name="Freeform 19"/>
            <p:cNvSpPr/>
            <p:nvPr/>
          </p:nvSpPr>
          <p:spPr>
            <a:xfrm>
              <a:off x="2423" y="2114"/>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4123" name="Oval 20"/>
            <p:cNvSpPr/>
            <p:nvPr/>
          </p:nvSpPr>
          <p:spPr>
            <a:xfrm>
              <a:off x="2447" y="2215"/>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24" name="Text Box 21"/>
            <p:cNvSpPr txBox="1"/>
            <p:nvPr/>
          </p:nvSpPr>
          <p:spPr>
            <a:xfrm>
              <a:off x="4286" y="2980"/>
              <a:ext cx="393" cy="643"/>
            </a:xfrm>
            <a:prstGeom prst="rect">
              <a:avLst/>
            </a:prstGeom>
            <a:solidFill>
              <a:srgbClr val="E1FDFF"/>
            </a:solidFill>
            <a:ln w="28575" cap="flat" cmpd="sng">
              <a:solidFill>
                <a:srgbClr val="3333FF"/>
              </a:solidFill>
              <a:prstDash val="solid"/>
              <a:miter/>
              <a:headEnd type="none" w="med" len="med"/>
              <a:tailEnd type="none" w="sm" len="lg"/>
            </a:ln>
          </p:spPr>
          <p:txBody>
            <a:bodyPr bIns="262800">
              <a:spAutoFit/>
            </a:bodyPr>
            <a:lstStyle/>
            <a:p>
              <a:pPr algn="ctr">
                <a:lnSpc>
                  <a:spcPct val="160000"/>
                </a:lnSpc>
              </a:pPr>
              <a:r>
                <a:rPr lang="en-US" altLang="zh-CN" sz="2800" dirty="0">
                  <a:latin typeface="Times New Roman" panose="02020603050405020304" pitchFamily="18" charset="0"/>
                </a:rPr>
                <a:t>&amp;</a:t>
              </a:r>
            </a:p>
          </p:txBody>
        </p:sp>
        <p:sp>
          <p:nvSpPr>
            <p:cNvPr id="4125" name="Oval 22"/>
            <p:cNvSpPr/>
            <p:nvPr/>
          </p:nvSpPr>
          <p:spPr>
            <a:xfrm>
              <a:off x="2439" y="2487"/>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26" name="Oval 23"/>
            <p:cNvSpPr/>
            <p:nvPr/>
          </p:nvSpPr>
          <p:spPr>
            <a:xfrm>
              <a:off x="1280" y="3717"/>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27" name="Oval 24"/>
            <p:cNvSpPr/>
            <p:nvPr/>
          </p:nvSpPr>
          <p:spPr>
            <a:xfrm>
              <a:off x="2470" y="3874"/>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28" name="Oval 25"/>
            <p:cNvSpPr/>
            <p:nvPr/>
          </p:nvSpPr>
          <p:spPr>
            <a:xfrm>
              <a:off x="1507" y="3876"/>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nvGrpSpPr>
            <p:cNvPr id="4129" name="Group 26"/>
            <p:cNvGrpSpPr/>
            <p:nvPr/>
          </p:nvGrpSpPr>
          <p:grpSpPr>
            <a:xfrm>
              <a:off x="3994" y="1321"/>
              <a:ext cx="304" cy="327"/>
              <a:chOff x="3166" y="1105"/>
              <a:chExt cx="304" cy="327"/>
            </a:xfrm>
          </p:grpSpPr>
          <p:sp>
            <p:nvSpPr>
              <p:cNvPr id="4155" name="Text Box 27"/>
              <p:cNvSpPr txBox="1"/>
              <p:nvPr/>
            </p:nvSpPr>
            <p:spPr>
              <a:xfrm>
                <a:off x="3166" y="1105"/>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sp>
            <p:nvSpPr>
              <p:cNvPr id="4156" name="Line 28"/>
              <p:cNvSpPr/>
              <p:nvPr/>
            </p:nvSpPr>
            <p:spPr>
              <a:xfrm>
                <a:off x="3201" y="1196"/>
                <a:ext cx="156" cy="0"/>
              </a:xfrm>
              <a:prstGeom prst="line">
                <a:avLst/>
              </a:prstGeom>
              <a:ln w="19050" cap="flat" cmpd="sng">
                <a:solidFill>
                  <a:schemeClr val="tx1"/>
                </a:solidFill>
                <a:prstDash val="solid"/>
                <a:headEnd type="none" w="med" len="med"/>
                <a:tailEnd type="none" w="sm" len="lg"/>
              </a:ln>
            </p:spPr>
          </p:sp>
        </p:grpSp>
        <p:sp>
          <p:nvSpPr>
            <p:cNvPr id="4130" name="Text Box 29"/>
            <p:cNvSpPr txBox="1"/>
            <p:nvPr/>
          </p:nvSpPr>
          <p:spPr>
            <a:xfrm>
              <a:off x="4831" y="3228"/>
              <a:ext cx="215" cy="327"/>
            </a:xfrm>
            <a:prstGeom prst="rect">
              <a:avLst/>
            </a:prstGeom>
            <a:noFill/>
            <a:ln w="19050">
              <a:noFill/>
            </a:ln>
          </p:spPr>
          <p:txBody>
            <a:bodyPr wrap="none">
              <a:spAutoFit/>
            </a:bodyPr>
            <a:lstStyle/>
            <a:p>
              <a:r>
                <a:rPr lang="en-US" altLang="zh-CN" sz="2800" dirty="0">
                  <a:latin typeface="Times New Roman" panose="02020603050405020304" pitchFamily="18" charset="0"/>
                </a:rPr>
                <a:t>z</a:t>
              </a:r>
            </a:p>
          </p:txBody>
        </p:sp>
        <p:sp>
          <p:nvSpPr>
            <p:cNvPr id="4131" name="Text Box 30"/>
            <p:cNvSpPr txBox="1"/>
            <p:nvPr/>
          </p:nvSpPr>
          <p:spPr>
            <a:xfrm>
              <a:off x="3398" y="3592"/>
              <a:ext cx="393" cy="643"/>
            </a:xfrm>
            <a:prstGeom prst="rect">
              <a:avLst/>
            </a:prstGeom>
            <a:solidFill>
              <a:srgbClr val="E1FDFF"/>
            </a:solidFill>
            <a:ln w="28575" cap="flat" cmpd="sng">
              <a:solidFill>
                <a:srgbClr val="3333FF"/>
              </a:solidFill>
              <a:prstDash val="solid"/>
              <a:miter/>
              <a:headEnd type="none" w="med" len="med"/>
              <a:tailEnd type="none" w="sm" len="lg"/>
            </a:ln>
          </p:spPr>
          <p:txBody>
            <a:bodyPr bIns="262800">
              <a:spAutoFit/>
            </a:bodyPr>
            <a:lstStyle/>
            <a:p>
              <a:pPr algn="ctr">
                <a:lnSpc>
                  <a:spcPct val="160000"/>
                </a:lnSpc>
              </a:pPr>
              <a:r>
                <a:rPr lang="en-US" altLang="zh-CN" sz="2800" dirty="0">
                  <a:latin typeface="Times New Roman" panose="02020603050405020304" pitchFamily="18" charset="0"/>
                  <a:sym typeface="Symbol" panose="05050102010706020507" pitchFamily="18" charset="2"/>
                </a:rPr>
                <a:t>1</a:t>
              </a:r>
            </a:p>
          </p:txBody>
        </p:sp>
        <p:sp>
          <p:nvSpPr>
            <p:cNvPr id="4132" name="Oval 31"/>
            <p:cNvSpPr/>
            <p:nvPr/>
          </p:nvSpPr>
          <p:spPr>
            <a:xfrm>
              <a:off x="2431" y="1593"/>
              <a:ext cx="66" cy="66"/>
            </a:xfrm>
            <a:prstGeom prst="ellipse">
              <a:avLst/>
            </a:prstGeom>
            <a:no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33" name="Line 32"/>
            <p:cNvSpPr/>
            <p:nvPr/>
          </p:nvSpPr>
          <p:spPr>
            <a:xfrm flipV="1">
              <a:off x="2459" y="1340"/>
              <a:ext cx="0" cy="252"/>
            </a:xfrm>
            <a:prstGeom prst="line">
              <a:avLst/>
            </a:prstGeom>
            <a:ln w="19050" cap="flat" cmpd="sng">
              <a:solidFill>
                <a:srgbClr val="3333FF"/>
              </a:solidFill>
              <a:prstDash val="solid"/>
              <a:headEnd type="none" w="med" len="med"/>
              <a:tailEnd type="none" w="sm" len="lg"/>
            </a:ln>
          </p:spPr>
        </p:sp>
        <p:grpSp>
          <p:nvGrpSpPr>
            <p:cNvPr id="4134" name="Group 33"/>
            <p:cNvGrpSpPr/>
            <p:nvPr/>
          </p:nvGrpSpPr>
          <p:grpSpPr>
            <a:xfrm>
              <a:off x="2576" y="1296"/>
              <a:ext cx="304" cy="327"/>
              <a:chOff x="3478" y="1165"/>
              <a:chExt cx="304" cy="327"/>
            </a:xfrm>
          </p:grpSpPr>
          <p:sp>
            <p:nvSpPr>
              <p:cNvPr id="4153" name="Text Box 34"/>
              <p:cNvSpPr txBox="1"/>
              <p:nvPr/>
            </p:nvSpPr>
            <p:spPr>
              <a:xfrm>
                <a:off x="3478" y="1165"/>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p>
            </p:txBody>
          </p:sp>
          <p:sp>
            <p:nvSpPr>
              <p:cNvPr id="4154" name="Line 35"/>
              <p:cNvSpPr/>
              <p:nvPr/>
            </p:nvSpPr>
            <p:spPr>
              <a:xfrm>
                <a:off x="3513" y="1256"/>
                <a:ext cx="156" cy="0"/>
              </a:xfrm>
              <a:prstGeom prst="line">
                <a:avLst/>
              </a:prstGeom>
              <a:ln w="19050" cap="flat" cmpd="sng">
                <a:solidFill>
                  <a:schemeClr val="tx1"/>
                </a:solidFill>
                <a:prstDash val="solid"/>
                <a:headEnd type="none" w="med" len="med"/>
                <a:tailEnd type="none" w="sm" len="lg"/>
              </a:ln>
            </p:spPr>
          </p:sp>
        </p:grpSp>
        <p:sp>
          <p:nvSpPr>
            <p:cNvPr id="4135" name="Freeform 36"/>
            <p:cNvSpPr/>
            <p:nvPr/>
          </p:nvSpPr>
          <p:spPr>
            <a:xfrm>
              <a:off x="972" y="1392"/>
              <a:ext cx="1380" cy="2352"/>
            </a:xfrm>
            <a:custGeom>
              <a:avLst/>
              <a:gdLst>
                <a:gd name="txL" fmla="*/ 0 w 1128"/>
                <a:gd name="txT" fmla="*/ 0 h 2292"/>
                <a:gd name="txR" fmla="*/ 1128 w 1128"/>
                <a:gd name="txB" fmla="*/ 2292 h 2292"/>
              </a:gdLst>
              <a:ahLst/>
              <a:cxnLst>
                <a:cxn ang="0">
                  <a:pos x="1006" y="266"/>
                </a:cxn>
                <a:cxn ang="0">
                  <a:pos x="1006" y="0"/>
                </a:cxn>
                <a:cxn ang="0">
                  <a:pos x="0" y="0"/>
                </a:cxn>
                <a:cxn ang="0">
                  <a:pos x="0" y="2414"/>
                </a:cxn>
                <a:cxn ang="0">
                  <a:pos x="1688" y="2414"/>
                </a:cxn>
                <a:cxn ang="0">
                  <a:pos x="1688" y="2110"/>
                </a:cxn>
              </a:cxnLst>
              <a:rect l="txL" t="txT" r="txR" b="txB"/>
              <a:pathLst>
                <a:path w="1128" h="2292">
                  <a:moveTo>
                    <a:pt x="672" y="252"/>
                  </a:moveTo>
                  <a:lnTo>
                    <a:pt x="672" y="0"/>
                  </a:lnTo>
                  <a:lnTo>
                    <a:pt x="0" y="0"/>
                  </a:lnTo>
                  <a:lnTo>
                    <a:pt x="0" y="2292"/>
                  </a:lnTo>
                  <a:lnTo>
                    <a:pt x="1128" y="2292"/>
                  </a:lnTo>
                  <a:lnTo>
                    <a:pt x="1128" y="2004"/>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4136" name="Text Box 37"/>
            <p:cNvSpPr txBox="1"/>
            <p:nvPr/>
          </p:nvSpPr>
          <p:spPr>
            <a:xfrm>
              <a:off x="2242" y="3243"/>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lstStyle/>
            <a:p>
              <a:pPr algn="ctr"/>
              <a:r>
                <a:rPr lang="en-US" altLang="zh-CN" sz="2800" dirty="0">
                  <a:latin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rPr>
                <a:t>1</a:t>
              </a:r>
            </a:p>
          </p:txBody>
        </p:sp>
        <p:sp>
          <p:nvSpPr>
            <p:cNvPr id="4137" name="Text Box 38"/>
            <p:cNvSpPr txBox="1"/>
            <p:nvPr/>
          </p:nvSpPr>
          <p:spPr>
            <a:xfrm>
              <a:off x="1186" y="3243"/>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lstStyle/>
            <a:p>
              <a:pPr algn="ctr"/>
              <a:r>
                <a:rPr lang="en-US" altLang="zh-CN" sz="2800" dirty="0">
                  <a:latin typeface="Times New Roman" panose="02020603050405020304" pitchFamily="18" charset="0"/>
                  <a:sym typeface="Symbol" panose="05050102010706020507" pitchFamily="18" charset="2"/>
                </a:rPr>
                <a:t>&amp;</a:t>
              </a:r>
            </a:p>
          </p:txBody>
        </p:sp>
        <p:sp>
          <p:nvSpPr>
            <p:cNvPr id="4138" name="Freeform 39"/>
            <p:cNvSpPr/>
            <p:nvPr/>
          </p:nvSpPr>
          <p:spPr>
            <a:xfrm>
              <a:off x="1476" y="2976"/>
              <a:ext cx="384" cy="264"/>
            </a:xfrm>
            <a:custGeom>
              <a:avLst/>
              <a:gdLst>
                <a:gd name="txL" fmla="*/ 0 w 384"/>
                <a:gd name="txT" fmla="*/ 0 h 264"/>
                <a:gd name="txR" fmla="*/ 384 w 384"/>
                <a:gd name="txB" fmla="*/ 264 h 264"/>
              </a:gdLst>
              <a:ahLst/>
              <a:cxnLst>
                <a:cxn ang="0">
                  <a:pos x="384" y="0"/>
                </a:cxn>
                <a:cxn ang="0">
                  <a:pos x="384" y="120"/>
                </a:cxn>
                <a:cxn ang="0">
                  <a:pos x="0" y="120"/>
                </a:cxn>
                <a:cxn ang="0">
                  <a:pos x="0" y="264"/>
                </a:cxn>
              </a:cxnLst>
              <a:rect l="txL" t="txT" r="txR" b="txB"/>
              <a:pathLst>
                <a:path w="384" h="264">
                  <a:moveTo>
                    <a:pt x="384" y="0"/>
                  </a:moveTo>
                  <a:cubicBezTo>
                    <a:pt x="384" y="40"/>
                    <a:pt x="384" y="80"/>
                    <a:pt x="384" y="120"/>
                  </a:cubicBezTo>
                  <a:lnTo>
                    <a:pt x="0" y="120"/>
                  </a:lnTo>
                  <a:lnTo>
                    <a:pt x="0" y="264"/>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4139" name="Freeform 40"/>
            <p:cNvSpPr/>
            <p:nvPr/>
          </p:nvSpPr>
          <p:spPr>
            <a:xfrm flipV="1">
              <a:off x="2064" y="2964"/>
              <a:ext cx="384" cy="264"/>
            </a:xfrm>
            <a:custGeom>
              <a:avLst/>
              <a:gdLst>
                <a:gd name="txL" fmla="*/ 0 w 384"/>
                <a:gd name="txT" fmla="*/ 0 h 264"/>
                <a:gd name="txR" fmla="*/ 384 w 384"/>
                <a:gd name="txB" fmla="*/ 264 h 264"/>
              </a:gdLst>
              <a:ahLst/>
              <a:cxnLst>
                <a:cxn ang="0">
                  <a:pos x="384" y="0"/>
                </a:cxn>
                <a:cxn ang="0">
                  <a:pos x="384" y="120"/>
                </a:cxn>
                <a:cxn ang="0">
                  <a:pos x="0" y="120"/>
                </a:cxn>
                <a:cxn ang="0">
                  <a:pos x="0" y="264"/>
                </a:cxn>
              </a:cxnLst>
              <a:rect l="txL" t="txT" r="txR" b="txB"/>
              <a:pathLst>
                <a:path w="384" h="264">
                  <a:moveTo>
                    <a:pt x="384" y="0"/>
                  </a:moveTo>
                  <a:cubicBezTo>
                    <a:pt x="384" y="40"/>
                    <a:pt x="384" y="80"/>
                    <a:pt x="384" y="120"/>
                  </a:cubicBezTo>
                  <a:lnTo>
                    <a:pt x="0" y="120"/>
                  </a:lnTo>
                  <a:lnTo>
                    <a:pt x="0" y="264"/>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4140" name="Freeform 41"/>
            <p:cNvSpPr/>
            <p:nvPr/>
          </p:nvSpPr>
          <p:spPr>
            <a:xfrm>
              <a:off x="3660" y="1404"/>
              <a:ext cx="1344" cy="1380"/>
            </a:xfrm>
            <a:custGeom>
              <a:avLst/>
              <a:gdLst>
                <a:gd name="txL" fmla="*/ 0 w 1320"/>
                <a:gd name="txT" fmla="*/ 0 h 1320"/>
                <a:gd name="txR" fmla="*/ 1320 w 1320"/>
                <a:gd name="txB" fmla="*/ 1320 h 1320"/>
              </a:gdLst>
              <a:ahLst/>
              <a:cxnLst>
                <a:cxn ang="0">
                  <a:pos x="0" y="852"/>
                </a:cxn>
                <a:cxn ang="0">
                  <a:pos x="0" y="1443"/>
                </a:cxn>
                <a:cxn ang="0">
                  <a:pos x="1368" y="1443"/>
                </a:cxn>
                <a:cxn ang="0">
                  <a:pos x="1368" y="0"/>
                </a:cxn>
                <a:cxn ang="0">
                  <a:pos x="610" y="0"/>
                </a:cxn>
                <a:cxn ang="0">
                  <a:pos x="610" y="223"/>
                </a:cxn>
              </a:cxnLst>
              <a:rect l="txL" t="txT" r="txR" b="txB"/>
              <a:pathLst>
                <a:path w="1320" h="1320">
                  <a:moveTo>
                    <a:pt x="0" y="780"/>
                  </a:moveTo>
                  <a:lnTo>
                    <a:pt x="0" y="1320"/>
                  </a:lnTo>
                  <a:lnTo>
                    <a:pt x="1320" y="1320"/>
                  </a:lnTo>
                  <a:lnTo>
                    <a:pt x="1320" y="0"/>
                  </a:lnTo>
                  <a:lnTo>
                    <a:pt x="588" y="0"/>
                  </a:lnTo>
                  <a:lnTo>
                    <a:pt x="588" y="204"/>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4141" name="Text Box 42"/>
            <p:cNvSpPr txBox="1"/>
            <p:nvPr/>
          </p:nvSpPr>
          <p:spPr>
            <a:xfrm>
              <a:off x="3634" y="1297"/>
              <a:ext cx="304" cy="327"/>
            </a:xfrm>
            <a:prstGeom prst="rect">
              <a:avLst/>
            </a:prstGeom>
            <a:noFill/>
            <a:ln w="19050">
              <a:noFill/>
            </a:ln>
          </p:spPr>
          <p:txBody>
            <a:bodyPr>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sp>
          <p:nvSpPr>
            <p:cNvPr id="4142" name="Freeform 43"/>
            <p:cNvSpPr/>
            <p:nvPr/>
          </p:nvSpPr>
          <p:spPr>
            <a:xfrm>
              <a:off x="2640" y="1464"/>
              <a:ext cx="996" cy="2304"/>
            </a:xfrm>
            <a:custGeom>
              <a:avLst/>
              <a:gdLst>
                <a:gd name="txL" fmla="*/ 0 w 996"/>
                <a:gd name="txT" fmla="*/ 0 h 2304"/>
                <a:gd name="txR" fmla="*/ 996 w 996"/>
                <a:gd name="txB" fmla="*/ 2304 h 2304"/>
              </a:gdLst>
              <a:ahLst/>
              <a:cxnLst>
                <a:cxn ang="0">
                  <a:pos x="996" y="180"/>
                </a:cxn>
                <a:cxn ang="0">
                  <a:pos x="996" y="0"/>
                </a:cxn>
                <a:cxn ang="0">
                  <a:pos x="576" y="0"/>
                </a:cxn>
                <a:cxn ang="0">
                  <a:pos x="576" y="2304"/>
                </a:cxn>
                <a:cxn ang="0">
                  <a:pos x="0" y="2304"/>
                </a:cxn>
                <a:cxn ang="0">
                  <a:pos x="0" y="2124"/>
                </a:cxn>
              </a:cxnLst>
              <a:rect l="txL" t="txT" r="txR" b="txB"/>
              <a:pathLst>
                <a:path w="996" h="2304">
                  <a:moveTo>
                    <a:pt x="996" y="180"/>
                  </a:moveTo>
                  <a:lnTo>
                    <a:pt x="996" y="0"/>
                  </a:lnTo>
                  <a:lnTo>
                    <a:pt x="576" y="0"/>
                  </a:lnTo>
                  <a:lnTo>
                    <a:pt x="576" y="2304"/>
                  </a:lnTo>
                  <a:lnTo>
                    <a:pt x="0" y="2304"/>
                  </a:lnTo>
                  <a:lnTo>
                    <a:pt x="0" y="2124"/>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4143" name="Freeform 44"/>
            <p:cNvSpPr/>
            <p:nvPr/>
          </p:nvSpPr>
          <p:spPr>
            <a:xfrm>
              <a:off x="1308" y="3588"/>
              <a:ext cx="2100" cy="516"/>
            </a:xfrm>
            <a:custGeom>
              <a:avLst/>
              <a:gdLst>
                <a:gd name="txL" fmla="*/ 0 w 1944"/>
                <a:gd name="txT" fmla="*/ 0 h 516"/>
                <a:gd name="txR" fmla="*/ 1944 w 1944"/>
                <a:gd name="txB" fmla="*/ 516 h 516"/>
              </a:gdLst>
              <a:ahLst/>
              <a:cxnLst>
                <a:cxn ang="0">
                  <a:pos x="0" y="0"/>
                </a:cxn>
                <a:cxn ang="0">
                  <a:pos x="0" y="516"/>
                </a:cxn>
                <a:cxn ang="0">
                  <a:pos x="2269" y="516"/>
                </a:cxn>
              </a:cxnLst>
              <a:rect l="txL" t="txT" r="txR" b="txB"/>
              <a:pathLst>
                <a:path w="1944" h="516">
                  <a:moveTo>
                    <a:pt x="0" y="0"/>
                  </a:moveTo>
                  <a:lnTo>
                    <a:pt x="0" y="516"/>
                  </a:lnTo>
                  <a:lnTo>
                    <a:pt x="1944" y="516"/>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4144" name="Line 45"/>
            <p:cNvSpPr/>
            <p:nvPr/>
          </p:nvSpPr>
          <p:spPr>
            <a:xfrm>
              <a:off x="648" y="3912"/>
              <a:ext cx="2760" cy="0"/>
            </a:xfrm>
            <a:prstGeom prst="line">
              <a:avLst/>
            </a:prstGeom>
            <a:ln w="19050" cap="flat" cmpd="sng">
              <a:solidFill>
                <a:srgbClr val="3333FF"/>
              </a:solidFill>
              <a:prstDash val="solid"/>
              <a:headEnd type="none" w="med" len="med"/>
              <a:tailEnd type="none" w="sm" len="lg"/>
            </a:ln>
          </p:spPr>
        </p:sp>
        <p:sp>
          <p:nvSpPr>
            <p:cNvPr id="4145" name="Line 46"/>
            <p:cNvSpPr/>
            <p:nvPr/>
          </p:nvSpPr>
          <p:spPr>
            <a:xfrm>
              <a:off x="2496" y="3588"/>
              <a:ext cx="0" cy="336"/>
            </a:xfrm>
            <a:prstGeom prst="line">
              <a:avLst/>
            </a:prstGeom>
            <a:ln w="19050" cap="flat" cmpd="sng">
              <a:solidFill>
                <a:srgbClr val="3333FF"/>
              </a:solidFill>
              <a:prstDash val="solid"/>
              <a:headEnd type="none" w="med" len="med"/>
              <a:tailEnd type="none" w="sm" len="lg"/>
            </a:ln>
          </p:spPr>
        </p:sp>
        <p:sp>
          <p:nvSpPr>
            <p:cNvPr id="4146" name="Line 47"/>
            <p:cNvSpPr/>
            <p:nvPr/>
          </p:nvSpPr>
          <p:spPr>
            <a:xfrm>
              <a:off x="1548" y="3588"/>
              <a:ext cx="0" cy="324"/>
            </a:xfrm>
            <a:prstGeom prst="line">
              <a:avLst/>
            </a:prstGeom>
            <a:ln w="19050" cap="flat" cmpd="sng">
              <a:solidFill>
                <a:srgbClr val="3333FF"/>
              </a:solidFill>
              <a:prstDash val="solid"/>
              <a:headEnd type="none" w="med" len="med"/>
              <a:tailEnd type="none" w="sm" len="lg"/>
            </a:ln>
          </p:spPr>
        </p:sp>
        <p:sp>
          <p:nvSpPr>
            <p:cNvPr id="4147" name="Oval 48"/>
            <p:cNvSpPr/>
            <p:nvPr/>
          </p:nvSpPr>
          <p:spPr>
            <a:xfrm>
              <a:off x="2427" y="3175"/>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48" name="Oval 49"/>
            <p:cNvSpPr/>
            <p:nvPr/>
          </p:nvSpPr>
          <p:spPr>
            <a:xfrm>
              <a:off x="4229" y="1593"/>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4149" name="Freeform 50"/>
            <p:cNvSpPr/>
            <p:nvPr/>
          </p:nvSpPr>
          <p:spPr>
            <a:xfrm>
              <a:off x="3792" y="3336"/>
              <a:ext cx="480" cy="564"/>
            </a:xfrm>
            <a:custGeom>
              <a:avLst/>
              <a:gdLst>
                <a:gd name="txL" fmla="*/ 0 w 480"/>
                <a:gd name="txT" fmla="*/ 0 h 564"/>
                <a:gd name="txR" fmla="*/ 480 w 480"/>
                <a:gd name="txB" fmla="*/ 564 h 564"/>
              </a:gdLst>
              <a:ahLst/>
              <a:cxnLst>
                <a:cxn ang="0">
                  <a:pos x="0" y="564"/>
                </a:cxn>
                <a:cxn ang="0">
                  <a:pos x="96" y="564"/>
                </a:cxn>
                <a:cxn ang="0">
                  <a:pos x="180" y="564"/>
                </a:cxn>
                <a:cxn ang="0">
                  <a:pos x="180" y="0"/>
                </a:cxn>
                <a:cxn ang="0">
                  <a:pos x="480" y="0"/>
                </a:cxn>
              </a:cxnLst>
              <a:rect l="txL" t="txT" r="txR" b="txB"/>
              <a:pathLst>
                <a:path w="480" h="564">
                  <a:moveTo>
                    <a:pt x="0" y="564"/>
                  </a:moveTo>
                  <a:cubicBezTo>
                    <a:pt x="32" y="564"/>
                    <a:pt x="64" y="564"/>
                    <a:pt x="96" y="564"/>
                  </a:cubicBezTo>
                  <a:lnTo>
                    <a:pt x="180" y="564"/>
                  </a:lnTo>
                  <a:lnTo>
                    <a:pt x="180" y="0"/>
                  </a:lnTo>
                  <a:lnTo>
                    <a:pt x="480" y="0"/>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4150" name="Line 51"/>
            <p:cNvSpPr/>
            <p:nvPr/>
          </p:nvSpPr>
          <p:spPr>
            <a:xfrm>
              <a:off x="4680" y="3336"/>
              <a:ext cx="276" cy="0"/>
            </a:xfrm>
            <a:prstGeom prst="line">
              <a:avLst/>
            </a:prstGeom>
            <a:ln w="19050" cap="flat" cmpd="sng">
              <a:solidFill>
                <a:srgbClr val="3333FF"/>
              </a:solidFill>
              <a:prstDash val="solid"/>
              <a:headEnd type="none" w="med" len="med"/>
              <a:tailEnd type="none" w="sm" len="lg"/>
            </a:ln>
          </p:spPr>
        </p:sp>
        <p:sp>
          <p:nvSpPr>
            <p:cNvPr id="4151" name="Line 52"/>
            <p:cNvSpPr/>
            <p:nvPr/>
          </p:nvSpPr>
          <p:spPr>
            <a:xfrm>
              <a:off x="3216" y="3096"/>
              <a:ext cx="1068" cy="0"/>
            </a:xfrm>
            <a:prstGeom prst="line">
              <a:avLst/>
            </a:prstGeom>
            <a:ln w="19050" cap="flat" cmpd="sng">
              <a:solidFill>
                <a:srgbClr val="3333FF"/>
              </a:solidFill>
              <a:prstDash val="solid"/>
              <a:headEnd type="none" w="med" len="med"/>
              <a:tailEnd type="none" w="sm" len="lg"/>
            </a:ln>
          </p:spPr>
        </p:sp>
        <p:sp>
          <p:nvSpPr>
            <p:cNvPr id="4152" name="Oval 53"/>
            <p:cNvSpPr/>
            <p:nvPr/>
          </p:nvSpPr>
          <p:spPr>
            <a:xfrm>
              <a:off x="3183" y="3075"/>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5" name="Group 60"/>
          <p:cNvGrpSpPr/>
          <p:nvPr/>
        </p:nvGrpSpPr>
        <p:grpSpPr>
          <a:xfrm>
            <a:off x="2105025" y="434975"/>
            <a:ext cx="5376863" cy="1495425"/>
            <a:chOff x="1326" y="274"/>
            <a:chExt cx="3387" cy="942"/>
          </a:xfrm>
        </p:grpSpPr>
        <p:graphicFrame>
          <p:nvGraphicFramePr>
            <p:cNvPr id="4098" name="Object 54"/>
            <p:cNvGraphicFramePr>
              <a:graphicFrameLocks noChangeAspect="1"/>
            </p:cNvGraphicFramePr>
            <p:nvPr/>
          </p:nvGraphicFramePr>
          <p:xfrm>
            <a:off x="1374" y="593"/>
            <a:ext cx="680" cy="318"/>
          </p:xfrm>
          <a:graphic>
            <a:graphicData uri="http://schemas.openxmlformats.org/presentationml/2006/ole">
              <mc:AlternateContent xmlns:mc="http://schemas.openxmlformats.org/markup-compatibility/2006">
                <mc:Choice xmlns:v="urn:schemas-microsoft-com:vml" Requires="v">
                  <p:oleObj r:id="rId3" imgW="431800" imgH="203200" progId="Equation.3">
                    <p:embed/>
                  </p:oleObj>
                </mc:Choice>
                <mc:Fallback>
                  <p:oleObj r:id="rId3" imgW="431800" imgH="203200" progId="Equation.3">
                    <p:embed/>
                    <p:pic>
                      <p:nvPicPr>
                        <p:cNvPr id="0" name="图片 3079"/>
                        <p:cNvPicPr/>
                        <p:nvPr/>
                      </p:nvPicPr>
                      <p:blipFill>
                        <a:blip r:embed="rId4"/>
                        <a:stretch>
                          <a:fillRect/>
                        </a:stretch>
                      </p:blipFill>
                      <p:spPr>
                        <a:xfrm>
                          <a:off x="1374" y="593"/>
                          <a:ext cx="680" cy="318"/>
                        </a:xfrm>
                        <a:prstGeom prst="rect">
                          <a:avLst/>
                        </a:prstGeom>
                        <a:noFill/>
                        <a:ln w="38100">
                          <a:noFill/>
                          <a:miter/>
                        </a:ln>
                      </p:spPr>
                    </p:pic>
                  </p:oleObj>
                </mc:Fallback>
              </mc:AlternateContent>
            </a:graphicData>
          </a:graphic>
        </p:graphicFrame>
        <p:grpSp>
          <p:nvGrpSpPr>
            <p:cNvPr id="4105" name="Group 55"/>
            <p:cNvGrpSpPr/>
            <p:nvPr/>
          </p:nvGrpSpPr>
          <p:grpSpPr>
            <a:xfrm>
              <a:off x="1326" y="274"/>
              <a:ext cx="3387" cy="323"/>
              <a:chOff x="1179" y="1216"/>
              <a:chExt cx="3387" cy="323"/>
            </a:xfrm>
          </p:grpSpPr>
          <p:graphicFrame>
            <p:nvGraphicFramePr>
              <p:cNvPr id="4100" name="Object 56"/>
              <p:cNvGraphicFramePr>
                <a:graphicFrameLocks noChangeAspect="1"/>
              </p:cNvGraphicFramePr>
              <p:nvPr/>
            </p:nvGraphicFramePr>
            <p:xfrm>
              <a:off x="1179" y="1216"/>
              <a:ext cx="3387" cy="323"/>
            </p:xfrm>
            <a:graphic>
              <a:graphicData uri="http://schemas.openxmlformats.org/presentationml/2006/ole">
                <mc:AlternateContent xmlns:mc="http://schemas.openxmlformats.org/markup-compatibility/2006">
                  <mc:Choice xmlns:v="urn:schemas-microsoft-com:vml" Requires="v">
                    <p:oleObj r:id="rId5" imgW="2247900" imgH="215900" progId="Equation.3">
                      <p:embed/>
                    </p:oleObj>
                  </mc:Choice>
                  <mc:Fallback>
                    <p:oleObj r:id="rId5" imgW="2247900" imgH="215900" progId="Equation.3">
                      <p:embed/>
                      <p:pic>
                        <p:nvPicPr>
                          <p:cNvPr id="0" name="图片 3080"/>
                          <p:cNvPicPr/>
                          <p:nvPr/>
                        </p:nvPicPr>
                        <p:blipFill>
                          <a:blip r:embed="rId6"/>
                          <a:stretch>
                            <a:fillRect/>
                          </a:stretch>
                        </p:blipFill>
                        <p:spPr>
                          <a:xfrm>
                            <a:off x="1179" y="1216"/>
                            <a:ext cx="3387" cy="323"/>
                          </a:xfrm>
                          <a:prstGeom prst="rect">
                            <a:avLst/>
                          </a:prstGeom>
                          <a:noFill/>
                          <a:ln w="38100">
                            <a:noFill/>
                            <a:miter/>
                          </a:ln>
                        </p:spPr>
                      </p:pic>
                    </p:oleObj>
                  </mc:Fallback>
                </mc:AlternateContent>
              </a:graphicData>
            </a:graphic>
          </p:graphicFrame>
          <p:sp>
            <p:nvSpPr>
              <p:cNvPr id="4106" name="Line 57"/>
              <p:cNvSpPr/>
              <p:nvPr/>
            </p:nvSpPr>
            <p:spPr>
              <a:xfrm>
                <a:off x="3036" y="1272"/>
                <a:ext cx="828" cy="0"/>
              </a:xfrm>
              <a:prstGeom prst="line">
                <a:avLst/>
              </a:prstGeom>
              <a:ln w="19050" cap="flat" cmpd="sng">
                <a:solidFill>
                  <a:schemeClr val="tx1"/>
                </a:solidFill>
                <a:prstDash val="solid"/>
                <a:headEnd type="none" w="med" len="med"/>
                <a:tailEnd type="none" w="sm" len="lg"/>
              </a:ln>
            </p:spPr>
          </p:sp>
        </p:grpSp>
        <p:graphicFrame>
          <p:nvGraphicFramePr>
            <p:cNvPr id="4099" name="Object 58"/>
            <p:cNvGraphicFramePr>
              <a:graphicFrameLocks noChangeAspect="1"/>
            </p:cNvGraphicFramePr>
            <p:nvPr/>
          </p:nvGraphicFramePr>
          <p:xfrm>
            <a:off x="1421" y="895"/>
            <a:ext cx="2591" cy="321"/>
          </p:xfrm>
          <a:graphic>
            <a:graphicData uri="http://schemas.openxmlformats.org/presentationml/2006/ole">
              <mc:AlternateContent xmlns:mc="http://schemas.openxmlformats.org/markup-compatibility/2006">
                <mc:Choice xmlns:v="urn:schemas-microsoft-com:vml" Requires="v">
                  <p:oleObj r:id="rId7" imgW="1726565" imgH="215900" progId="Equation.3">
                    <p:embed/>
                  </p:oleObj>
                </mc:Choice>
                <mc:Fallback>
                  <p:oleObj r:id="rId7" imgW="1726565" imgH="215900" progId="Equation.3">
                    <p:embed/>
                    <p:pic>
                      <p:nvPicPr>
                        <p:cNvPr id="0" name="图片 3081"/>
                        <p:cNvPicPr/>
                        <p:nvPr/>
                      </p:nvPicPr>
                      <p:blipFill>
                        <a:blip r:embed="rId8"/>
                        <a:stretch>
                          <a:fillRect/>
                        </a:stretch>
                      </p:blipFill>
                      <p:spPr>
                        <a:xfrm>
                          <a:off x="1421" y="895"/>
                          <a:ext cx="2591" cy="321"/>
                        </a:xfrm>
                        <a:prstGeom prst="rect">
                          <a:avLst/>
                        </a:prstGeom>
                        <a:noFill/>
                        <a:ln w="38100">
                          <a:noFill/>
                          <a:miter/>
                        </a:ln>
                      </p:spPr>
                    </p:pic>
                  </p:oleObj>
                </mc:Fallback>
              </mc:AlternateContent>
            </a:graphicData>
          </a:graphic>
        </p:graphicFrame>
      </p:grpSp>
      <p:sp>
        <p:nvSpPr>
          <p:cNvPr id="4104" name="Text Box 59"/>
          <p:cNvSpPr txBox="1"/>
          <p:nvPr/>
        </p:nvSpPr>
        <p:spPr>
          <a:xfrm>
            <a:off x="431800" y="517525"/>
            <a:ext cx="1250950" cy="519113"/>
          </a:xfrm>
          <a:prstGeom prst="rect">
            <a:avLst/>
          </a:prstGeom>
          <a:noFill/>
          <a:ln w="19050">
            <a:noFill/>
          </a:ln>
        </p:spPr>
        <p:txBody>
          <a:bodyPr wrap="none">
            <a:spAutoFit/>
          </a:bodyPr>
          <a:lstStyle/>
          <a:p>
            <a:r>
              <a:rPr lang="zh-CN" altLang="en-US" sz="2800" b="1" dirty="0">
                <a:latin typeface="Times New Roman" panose="02020603050405020304" pitchFamily="18" charset="0"/>
              </a:rPr>
              <a:t>例如：</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Text Box 2"/>
          <p:cNvSpPr txBox="1">
            <a:spLocks noChangeArrowheads="1"/>
          </p:cNvSpPr>
          <p:nvPr/>
        </p:nvSpPr>
        <p:spPr bwMode="auto">
          <a:xfrm>
            <a:off x="1584325" y="836613"/>
            <a:ext cx="6804025" cy="583565"/>
          </a:xfrm>
          <a:prstGeom prst="rect">
            <a:avLst/>
          </a:prstGeom>
          <a:noFill/>
          <a:ln w="19050">
            <a:noFill/>
            <a:miter lim="800000"/>
            <a:tailEnd type="none" w="sm" len="lg"/>
          </a:ln>
          <a:effectLst/>
        </p:spPr>
        <p:txBody>
          <a:bodyPr>
            <a:spAutoFit/>
          </a:bodyPr>
          <a:lstStyle/>
          <a:p>
            <a:pPr marR="0" algn="ctr" defTabSz="914400">
              <a:spcBef>
                <a:spcPct val="50000"/>
              </a:spcBef>
              <a:buClrTx/>
              <a:buSzTx/>
              <a:buFontTx/>
              <a:buNone/>
              <a:defRPr/>
            </a:pPr>
            <a:r>
              <a:rPr kumimoji="1" lang="en-US" altLang="zh-CN"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7.5.5  </a:t>
            </a:r>
            <a:r>
              <a:rPr kumimoji="1" lang="zh-CN" altLang="en-US" sz="3200" b="1" kern="1200" cap="none" spc="0" normalizeH="0" baseline="0" noProof="0" dirty="0">
                <a:effectLst>
                  <a:outerShdw blurRad="38100" dist="38100" dir="2700000" algn="tl">
                    <a:srgbClr val="FFFFFF"/>
                  </a:outerShdw>
                </a:effectLst>
                <a:latin typeface="Times New Roman" panose="02020603050405020304" pitchFamily="18" charset="0"/>
                <a:ea typeface="宋体" panose="02010600030101010101" pitchFamily="2" charset="-122"/>
                <a:cs typeface="+mn-cs"/>
              </a:rPr>
              <a:t>同步时序逻辑电路设计举例</a:t>
            </a:r>
            <a:endParaRPr kumimoji="1" lang="zh-CN" altLang="en-US" sz="3200" b="1" kern="1200" cap="none" spc="0" normalizeH="0" baseline="0" noProof="0" dirty="0">
              <a:latin typeface="Times New Roman" panose="02020603050405020304" pitchFamily="18" charset="0"/>
              <a:ea typeface="宋体" panose="02010600030101010101" pitchFamily="2" charset="-122"/>
              <a:cs typeface="+mn-cs"/>
            </a:endParaRPr>
          </a:p>
        </p:txBody>
      </p:sp>
      <p:sp>
        <p:nvSpPr>
          <p:cNvPr id="283651" name="Text Box 3"/>
          <p:cNvSpPr txBox="1"/>
          <p:nvPr/>
        </p:nvSpPr>
        <p:spPr>
          <a:xfrm>
            <a:off x="784225" y="1644650"/>
            <a:ext cx="901700" cy="519113"/>
          </a:xfrm>
          <a:prstGeom prst="rect">
            <a:avLst/>
          </a:prstGeom>
          <a:noFill/>
          <a:ln w="19050">
            <a:noFill/>
          </a:ln>
        </p:spPr>
        <p:txBody>
          <a:bodyPr wrap="none">
            <a:spAutoFit/>
          </a:bodyPr>
          <a:lstStyle/>
          <a:p>
            <a:r>
              <a:rPr lang="zh-CN" altLang="en-US" sz="2800" b="1" dirty="0">
                <a:latin typeface="Times New Roman" panose="02020603050405020304" pitchFamily="18" charset="0"/>
              </a:rPr>
              <a:t>例：</a:t>
            </a:r>
          </a:p>
        </p:txBody>
      </p:sp>
      <p:sp>
        <p:nvSpPr>
          <p:cNvPr id="283652" name="Text Box 4"/>
          <p:cNvSpPr txBox="1"/>
          <p:nvPr/>
        </p:nvSpPr>
        <p:spPr>
          <a:xfrm>
            <a:off x="495300" y="2209800"/>
            <a:ext cx="8248650" cy="3797300"/>
          </a:xfrm>
          <a:prstGeom prst="rect">
            <a:avLst/>
          </a:prstGeom>
          <a:noFill/>
          <a:ln w="19050">
            <a:noFill/>
          </a:ln>
        </p:spPr>
        <p:txBody>
          <a:bodyPr>
            <a:spAutoFit/>
          </a:bodyPr>
          <a:lstStyle/>
          <a:p>
            <a:pPr indent="666750" algn="just" defTabSz="609600">
              <a:lnSpc>
                <a:spcPct val="140000"/>
              </a:lnSpc>
              <a:spcBef>
                <a:spcPct val="50000"/>
              </a:spcBef>
              <a:tabLst>
                <a:tab pos="1714500" algn="l"/>
              </a:tabLst>
            </a:pPr>
            <a:r>
              <a:rPr lang="zh-CN" altLang="en-US" sz="2800" dirty="0">
                <a:latin typeface="Times New Roman" panose="02020603050405020304" pitchFamily="18" charset="0"/>
              </a:rPr>
              <a:t>设计一个“  </a:t>
            </a:r>
            <a:r>
              <a:rPr lang="en-US" altLang="zh-CN" sz="2800" dirty="0">
                <a:latin typeface="Times New Roman" panose="02020603050405020304" pitchFamily="18" charset="0"/>
              </a:rPr>
              <a:t>111…”</a:t>
            </a:r>
            <a:r>
              <a:rPr lang="zh-CN" altLang="en-US" sz="2800" dirty="0">
                <a:latin typeface="Times New Roman" panose="02020603050405020304" pitchFamily="18" charset="0"/>
              </a:rPr>
              <a:t>序列检测器，用来检测串行二进制序列，要求每当连续输入</a:t>
            </a:r>
            <a:r>
              <a:rPr lang="en-US" altLang="zh-CN" sz="2800" dirty="0">
                <a:latin typeface="Times New Roman" panose="02020603050405020304" pitchFamily="18" charset="0"/>
              </a:rPr>
              <a:t>3</a:t>
            </a:r>
            <a:r>
              <a:rPr lang="zh-CN" altLang="en-US" sz="2800" dirty="0">
                <a:latin typeface="Times New Roman" panose="02020603050405020304" pitchFamily="18" charset="0"/>
              </a:rPr>
              <a:t>个</a:t>
            </a:r>
            <a:r>
              <a:rPr lang="en-US" altLang="zh-CN" sz="2800" dirty="0">
                <a:latin typeface="Times New Roman" panose="02020603050405020304" pitchFamily="18" charset="0"/>
              </a:rPr>
              <a:t>(</a:t>
            </a:r>
            <a:r>
              <a:rPr lang="zh-CN" altLang="en-US" sz="2800" dirty="0">
                <a:latin typeface="Times New Roman" panose="02020603050405020304" pitchFamily="18" charset="0"/>
              </a:rPr>
              <a:t>或</a:t>
            </a:r>
            <a:r>
              <a:rPr lang="en-US" altLang="zh-CN" sz="2800" dirty="0">
                <a:latin typeface="Times New Roman" panose="02020603050405020304" pitchFamily="18" charset="0"/>
              </a:rPr>
              <a:t>3</a:t>
            </a:r>
            <a:r>
              <a:rPr lang="zh-CN" altLang="en-US" sz="2800" dirty="0">
                <a:latin typeface="Times New Roman" panose="02020603050405020304" pitchFamily="18" charset="0"/>
              </a:rPr>
              <a:t>个以上</a:t>
            </a:r>
            <a:r>
              <a:rPr lang="en-US" altLang="zh-CN" sz="2800" dirty="0">
                <a:latin typeface="Times New Roman" panose="02020603050405020304" pitchFamily="18" charset="0"/>
              </a:rPr>
              <a:t>)1</a:t>
            </a:r>
            <a:r>
              <a:rPr lang="zh-CN" altLang="en-US" sz="2800" dirty="0">
                <a:latin typeface="Times New Roman" panose="02020603050405020304" pitchFamily="18" charset="0"/>
              </a:rPr>
              <a:t>时，检测器输出为</a:t>
            </a:r>
            <a:r>
              <a:rPr lang="en-US" altLang="zh-CN" sz="2800" dirty="0">
                <a:latin typeface="Times New Roman" panose="02020603050405020304" pitchFamily="18" charset="0"/>
              </a:rPr>
              <a:t>1</a:t>
            </a:r>
            <a:r>
              <a:rPr lang="zh-CN" altLang="en-US" sz="2800" dirty="0">
                <a:latin typeface="Times New Roman" panose="02020603050405020304" pitchFamily="18" charset="0"/>
              </a:rPr>
              <a:t>，否则输出为</a:t>
            </a:r>
            <a:r>
              <a:rPr lang="en-US" altLang="zh-CN" sz="2800" dirty="0">
                <a:latin typeface="Times New Roman" panose="02020603050405020304" pitchFamily="18" charset="0"/>
              </a:rPr>
              <a:t>0</a:t>
            </a:r>
            <a:r>
              <a:rPr lang="zh-CN" altLang="en-US" sz="2800" dirty="0">
                <a:latin typeface="Times New Roman" panose="02020603050405020304" pitchFamily="18" charset="0"/>
              </a:rPr>
              <a:t>。其典型输入输出序列如下：</a:t>
            </a:r>
          </a:p>
          <a:p>
            <a:pPr indent="666750" algn="just" defTabSz="609600">
              <a:spcBef>
                <a:spcPct val="50000"/>
              </a:spcBef>
              <a:tabLst>
                <a:tab pos="1714500" algn="l"/>
              </a:tabLst>
            </a:pPr>
            <a:r>
              <a:rPr lang="zh-CN" altLang="en-US" sz="2800" dirty="0">
                <a:latin typeface="Times New Roman" panose="02020603050405020304" pitchFamily="18" charset="0"/>
              </a:rPr>
              <a:t>输入</a:t>
            </a:r>
            <a:r>
              <a:rPr lang="en-US" altLang="zh-CN" sz="2800" dirty="0">
                <a:latin typeface="Times New Roman" panose="02020603050405020304" pitchFamily="18" charset="0"/>
              </a:rPr>
              <a:t>x</a:t>
            </a:r>
            <a:r>
              <a:rPr lang="zh-CN" altLang="en-US" sz="2800" dirty="0">
                <a:latin typeface="Times New Roman" panose="02020603050405020304" pitchFamily="18" charset="0"/>
              </a:rPr>
              <a:t>：</a:t>
            </a:r>
            <a:r>
              <a:rPr lang="en-US" altLang="zh-CN" sz="2800" dirty="0">
                <a:latin typeface="Times New Roman" panose="02020603050405020304" pitchFamily="18" charset="0"/>
              </a:rPr>
              <a:t>0111011110</a:t>
            </a:r>
          </a:p>
          <a:p>
            <a:pPr indent="666750" algn="just" defTabSz="609600">
              <a:spcBef>
                <a:spcPct val="50000"/>
              </a:spcBef>
              <a:tabLst>
                <a:tab pos="1714500" algn="l"/>
              </a:tabLst>
            </a:pPr>
            <a:r>
              <a:rPr lang="zh-CN" altLang="zh-CN" sz="2800" dirty="0">
                <a:latin typeface="Times New Roman" panose="02020603050405020304" pitchFamily="18" charset="0"/>
              </a:rPr>
              <a:t>输出</a:t>
            </a:r>
            <a:r>
              <a:rPr lang="en-US" altLang="zh-CN" sz="2800" dirty="0">
                <a:latin typeface="Times New Roman" panose="02020603050405020304" pitchFamily="18" charset="0"/>
              </a:rPr>
              <a:t>Z</a:t>
            </a:r>
            <a:r>
              <a:rPr lang="zh-CN" altLang="en-US" sz="2800" dirty="0">
                <a:latin typeface="Times New Roman" panose="02020603050405020304" pitchFamily="18" charset="0"/>
              </a:rPr>
              <a:t>：</a:t>
            </a:r>
            <a:r>
              <a:rPr lang="en-US" altLang="zh-CN" sz="2800" dirty="0">
                <a:latin typeface="Times New Roman" panose="02020603050405020304" pitchFamily="18" charset="0"/>
              </a:rPr>
              <a:t>0001000110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3651"/>
                                        </p:tgtEl>
                                        <p:attrNameLst>
                                          <p:attrName>style.visibility</p:attrName>
                                        </p:attrNameLst>
                                      </p:cBhvr>
                                      <p:to>
                                        <p:strVal val="visible"/>
                                      </p:to>
                                    </p:set>
                                    <p:animEffect transition="in" filter="wipe(left)">
                                      <p:cBhvr>
                                        <p:cTn id="7" dur="500"/>
                                        <p:tgtEl>
                                          <p:spTgt spid="2836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3652"/>
                                        </p:tgtEl>
                                        <p:attrNameLst>
                                          <p:attrName>style.visibility</p:attrName>
                                        </p:attrNameLst>
                                      </p:cBhvr>
                                      <p:to>
                                        <p:strVal val="visible"/>
                                      </p:to>
                                    </p:set>
                                    <p:animEffect transition="in" filter="wipe(left)">
                                      <p:cBhvr>
                                        <p:cTn id="12" dur="500"/>
                                        <p:tgtEl>
                                          <p:spTgt spid="283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1" grpId="0"/>
      <p:bldP spid="283652"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p:nvPr/>
        </p:nvSpPr>
        <p:spPr>
          <a:xfrm>
            <a:off x="898525" y="920750"/>
            <a:ext cx="901700" cy="519113"/>
          </a:xfrm>
          <a:prstGeom prst="rect">
            <a:avLst/>
          </a:prstGeom>
          <a:noFill/>
          <a:ln w="19050">
            <a:noFill/>
          </a:ln>
        </p:spPr>
        <p:txBody>
          <a:bodyPr wrap="none">
            <a:spAutoFit/>
          </a:bodyPr>
          <a:lstStyle/>
          <a:p>
            <a:r>
              <a:rPr lang="zh-CN" altLang="en-US" sz="2800" b="1" dirty="0">
                <a:latin typeface="Times New Roman" panose="02020603050405020304" pitchFamily="18" charset="0"/>
              </a:rPr>
              <a:t>解：</a:t>
            </a:r>
          </a:p>
        </p:txBody>
      </p:sp>
      <p:sp>
        <p:nvSpPr>
          <p:cNvPr id="79875" name="Text Box 3"/>
          <p:cNvSpPr txBox="1"/>
          <p:nvPr/>
        </p:nvSpPr>
        <p:spPr>
          <a:xfrm>
            <a:off x="2041525" y="962025"/>
            <a:ext cx="3203575" cy="519113"/>
          </a:xfrm>
          <a:prstGeom prst="rect">
            <a:avLst/>
          </a:prstGeom>
          <a:noFill/>
          <a:ln w="19050">
            <a:noFill/>
          </a:ln>
        </p:spPr>
        <p:txBody>
          <a:bodyPr wrap="none">
            <a:spAutoFit/>
          </a:bodyPr>
          <a:lstStyle/>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作状态图和状态表</a:t>
            </a:r>
          </a:p>
        </p:txBody>
      </p:sp>
      <p:sp>
        <p:nvSpPr>
          <p:cNvPr id="284676" name="Text Box 4"/>
          <p:cNvSpPr txBox="1"/>
          <p:nvPr/>
        </p:nvSpPr>
        <p:spPr>
          <a:xfrm>
            <a:off x="5969000" y="3408363"/>
            <a:ext cx="361950" cy="519112"/>
          </a:xfrm>
          <a:prstGeom prst="rect">
            <a:avLst/>
          </a:prstGeom>
          <a:noFill/>
          <a:ln w="38100">
            <a:noFill/>
          </a:ln>
        </p:spPr>
        <p:txBody>
          <a:bodyPr wrap="none">
            <a:spAutoFit/>
          </a:bodyPr>
          <a:lstStyle/>
          <a:p>
            <a:r>
              <a:rPr lang="en-US" altLang="zh-CN" sz="2800" dirty="0">
                <a:latin typeface="Times New Roman" panose="02020603050405020304" pitchFamily="18" charset="0"/>
              </a:rPr>
              <a:t>0</a:t>
            </a:r>
          </a:p>
        </p:txBody>
      </p:sp>
      <p:sp>
        <p:nvSpPr>
          <p:cNvPr id="284677" name="Oval 5"/>
          <p:cNvSpPr/>
          <p:nvPr/>
        </p:nvSpPr>
        <p:spPr>
          <a:xfrm>
            <a:off x="2717800" y="3371850"/>
            <a:ext cx="854075" cy="854075"/>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dirty="0">
                <a:latin typeface="Times New Roman" panose="02020603050405020304" pitchFamily="18" charset="0"/>
              </a:rPr>
              <a:t>A</a:t>
            </a:r>
            <a:endParaRPr lang="en-US" altLang="zh-CN" sz="2800" i="1" baseline="-25000" dirty="0">
              <a:latin typeface="Times New Roman" panose="02020603050405020304" pitchFamily="18" charset="0"/>
            </a:endParaRPr>
          </a:p>
        </p:txBody>
      </p:sp>
      <p:grpSp>
        <p:nvGrpSpPr>
          <p:cNvPr id="2" name="Group 6"/>
          <p:cNvGrpSpPr/>
          <p:nvPr/>
        </p:nvGrpSpPr>
        <p:grpSpPr>
          <a:xfrm>
            <a:off x="1536700" y="3309938"/>
            <a:ext cx="1393825" cy="901700"/>
            <a:chOff x="968" y="2085"/>
            <a:chExt cx="878" cy="568"/>
          </a:xfrm>
        </p:grpSpPr>
        <p:sp>
          <p:nvSpPr>
            <p:cNvPr id="79904" name="Text Box 7"/>
            <p:cNvSpPr txBox="1"/>
            <p:nvPr/>
          </p:nvSpPr>
          <p:spPr>
            <a:xfrm flipH="1" flipV="1">
              <a:off x="968" y="2200"/>
              <a:ext cx="440" cy="327"/>
            </a:xfrm>
            <a:prstGeom prst="rect">
              <a:avLst/>
            </a:prstGeom>
            <a:noFill/>
            <a:ln w="38100">
              <a:noFill/>
            </a:ln>
          </p:spPr>
          <p:txBody>
            <a:bodyPr>
              <a:spAutoFit/>
            </a:bodyPr>
            <a:lstStyle/>
            <a:p>
              <a:r>
                <a:rPr lang="en-US" altLang="zh-CN" sz="2800" dirty="0">
                  <a:latin typeface="Times New Roman" panose="02020603050405020304" pitchFamily="18" charset="0"/>
                </a:rPr>
                <a:t>0/0</a:t>
              </a:r>
            </a:p>
          </p:txBody>
        </p:sp>
        <p:sp>
          <p:nvSpPr>
            <p:cNvPr id="79905" name="Freeform 8"/>
            <p:cNvSpPr/>
            <p:nvPr/>
          </p:nvSpPr>
          <p:spPr>
            <a:xfrm rot="-1137942">
              <a:off x="1360" y="2085"/>
              <a:ext cx="486" cy="568"/>
            </a:xfrm>
            <a:custGeom>
              <a:avLst/>
              <a:gdLst>
                <a:gd name="txL" fmla="*/ 0 w 436"/>
                <a:gd name="txT" fmla="*/ 0 h 467"/>
                <a:gd name="txR" fmla="*/ 436 w 436"/>
                <a:gd name="txB" fmla="*/ 467 h 467"/>
              </a:gdLst>
              <a:ahLst/>
              <a:cxnLst>
                <a:cxn ang="0">
                  <a:pos x="358" y="691"/>
                </a:cxn>
                <a:cxn ang="0">
                  <a:pos x="149" y="636"/>
                </a:cxn>
                <a:cxn ang="0">
                  <a:pos x="22" y="495"/>
                </a:cxn>
                <a:cxn ang="0">
                  <a:pos x="18" y="263"/>
                </a:cxn>
                <a:cxn ang="0">
                  <a:pos x="105" y="103"/>
                </a:cxn>
                <a:cxn ang="0">
                  <a:pos x="269" y="15"/>
                </a:cxn>
                <a:cxn ang="0">
                  <a:pos x="358" y="15"/>
                </a:cxn>
                <a:cxn ang="0">
                  <a:pos x="479" y="62"/>
                </a:cxn>
                <a:cxn ang="0">
                  <a:pos x="542" y="187"/>
                </a:cxn>
              </a:cxnLst>
              <a:rect l="txL" t="txT" r="txR" b="txB"/>
              <a:pathLst>
                <a:path w="436" h="467">
                  <a:moveTo>
                    <a:pt x="288" y="467"/>
                  </a:moveTo>
                  <a:cubicBezTo>
                    <a:pt x="260" y="461"/>
                    <a:pt x="165" y="452"/>
                    <a:pt x="120" y="430"/>
                  </a:cubicBezTo>
                  <a:cubicBezTo>
                    <a:pt x="75" y="408"/>
                    <a:pt x="36" y="377"/>
                    <a:pt x="18" y="335"/>
                  </a:cubicBezTo>
                  <a:cubicBezTo>
                    <a:pt x="0" y="293"/>
                    <a:pt x="3" y="222"/>
                    <a:pt x="14" y="178"/>
                  </a:cubicBezTo>
                  <a:cubicBezTo>
                    <a:pt x="25" y="134"/>
                    <a:pt x="50" y="98"/>
                    <a:pt x="84" y="70"/>
                  </a:cubicBezTo>
                  <a:cubicBezTo>
                    <a:pt x="118" y="42"/>
                    <a:pt x="182" y="20"/>
                    <a:pt x="216" y="10"/>
                  </a:cubicBezTo>
                  <a:cubicBezTo>
                    <a:pt x="250" y="0"/>
                    <a:pt x="260" y="5"/>
                    <a:pt x="288" y="10"/>
                  </a:cubicBezTo>
                  <a:cubicBezTo>
                    <a:pt x="316" y="15"/>
                    <a:pt x="361" y="23"/>
                    <a:pt x="386" y="42"/>
                  </a:cubicBezTo>
                  <a:cubicBezTo>
                    <a:pt x="411" y="61"/>
                    <a:pt x="425" y="111"/>
                    <a:pt x="436" y="127"/>
                  </a:cubicBezTo>
                </a:path>
              </a:pathLst>
            </a:custGeom>
            <a:noFill/>
            <a:ln w="38100" cap="flat" cmpd="sng">
              <a:solidFill>
                <a:srgbClr val="3333FF">
                  <a:alpha val="100000"/>
                </a:srgbClr>
              </a:solidFill>
              <a:prstDash val="solid"/>
              <a:round/>
              <a:headEnd type="none" w="med" len="med"/>
              <a:tailEnd type="triangle" w="med" len="med"/>
            </a:ln>
          </p:spPr>
          <p:txBody>
            <a:bodyPr/>
            <a:lstStyle/>
            <a:p>
              <a:endParaRPr lang="zh-CN" altLang="en-US" sz="2800"/>
            </a:p>
          </p:txBody>
        </p:sp>
      </p:grpSp>
      <p:grpSp>
        <p:nvGrpSpPr>
          <p:cNvPr id="3" name="Group 9"/>
          <p:cNvGrpSpPr/>
          <p:nvPr/>
        </p:nvGrpSpPr>
        <p:grpSpPr>
          <a:xfrm>
            <a:off x="3194050" y="4171950"/>
            <a:ext cx="1111250" cy="990600"/>
            <a:chOff x="2012" y="2628"/>
            <a:chExt cx="700" cy="624"/>
          </a:xfrm>
        </p:grpSpPr>
        <p:sp>
          <p:nvSpPr>
            <p:cNvPr id="79902" name="Line 10"/>
            <p:cNvSpPr/>
            <p:nvPr/>
          </p:nvSpPr>
          <p:spPr>
            <a:xfrm flipH="1" flipV="1">
              <a:off x="2088" y="2628"/>
              <a:ext cx="624" cy="624"/>
            </a:xfrm>
            <a:prstGeom prst="line">
              <a:avLst/>
            </a:prstGeom>
            <a:ln w="38100" cap="flat" cmpd="sng">
              <a:solidFill>
                <a:srgbClr val="3333FF"/>
              </a:solidFill>
              <a:prstDash val="solid"/>
              <a:headEnd type="none" w="med" len="med"/>
              <a:tailEnd type="triangle" w="sm" len="lg"/>
            </a:ln>
          </p:spPr>
        </p:sp>
        <p:sp>
          <p:nvSpPr>
            <p:cNvPr id="79903" name="Text Box 11"/>
            <p:cNvSpPr txBox="1"/>
            <p:nvPr/>
          </p:nvSpPr>
          <p:spPr>
            <a:xfrm flipH="1" flipV="1">
              <a:off x="2012" y="2860"/>
              <a:ext cx="440" cy="327"/>
            </a:xfrm>
            <a:prstGeom prst="rect">
              <a:avLst/>
            </a:prstGeom>
            <a:noFill/>
            <a:ln w="38100">
              <a:noFill/>
            </a:ln>
          </p:spPr>
          <p:txBody>
            <a:bodyPr>
              <a:spAutoFit/>
            </a:bodyPr>
            <a:lstStyle/>
            <a:p>
              <a:r>
                <a:rPr lang="en-US" altLang="zh-CN" sz="2800" dirty="0">
                  <a:latin typeface="Times New Roman" panose="02020603050405020304" pitchFamily="18" charset="0"/>
                </a:rPr>
                <a:t>0/0</a:t>
              </a:r>
            </a:p>
          </p:txBody>
        </p:sp>
      </p:grpSp>
      <p:grpSp>
        <p:nvGrpSpPr>
          <p:cNvPr id="4" name="Group 12"/>
          <p:cNvGrpSpPr/>
          <p:nvPr/>
        </p:nvGrpSpPr>
        <p:grpSpPr>
          <a:xfrm>
            <a:off x="3562350" y="3740150"/>
            <a:ext cx="2400300" cy="519113"/>
            <a:chOff x="2244" y="2356"/>
            <a:chExt cx="1512" cy="327"/>
          </a:xfrm>
        </p:grpSpPr>
        <p:sp>
          <p:nvSpPr>
            <p:cNvPr id="79900" name="Line 13"/>
            <p:cNvSpPr/>
            <p:nvPr/>
          </p:nvSpPr>
          <p:spPr>
            <a:xfrm flipH="1">
              <a:off x="2244" y="2400"/>
              <a:ext cx="1512" cy="0"/>
            </a:xfrm>
            <a:prstGeom prst="line">
              <a:avLst/>
            </a:prstGeom>
            <a:ln w="38100" cap="flat" cmpd="sng">
              <a:solidFill>
                <a:srgbClr val="3333FF"/>
              </a:solidFill>
              <a:prstDash val="solid"/>
              <a:headEnd type="none" w="med" len="med"/>
              <a:tailEnd type="triangle" w="sm" len="lg"/>
            </a:ln>
          </p:spPr>
        </p:sp>
        <p:sp>
          <p:nvSpPr>
            <p:cNvPr id="79901" name="Text Box 14"/>
            <p:cNvSpPr txBox="1"/>
            <p:nvPr/>
          </p:nvSpPr>
          <p:spPr>
            <a:xfrm flipH="1" flipV="1">
              <a:off x="2804" y="2356"/>
              <a:ext cx="440" cy="327"/>
            </a:xfrm>
            <a:prstGeom prst="rect">
              <a:avLst/>
            </a:prstGeom>
            <a:noFill/>
            <a:ln w="38100">
              <a:noFill/>
            </a:ln>
          </p:spPr>
          <p:txBody>
            <a:bodyPr>
              <a:spAutoFit/>
            </a:bodyPr>
            <a:lstStyle/>
            <a:p>
              <a:r>
                <a:rPr lang="en-US" altLang="zh-CN" sz="2800" dirty="0">
                  <a:latin typeface="Times New Roman" panose="02020603050405020304" pitchFamily="18" charset="0"/>
                </a:rPr>
                <a:t>0/0</a:t>
              </a:r>
            </a:p>
          </p:txBody>
        </p:sp>
      </p:grpSp>
      <p:grpSp>
        <p:nvGrpSpPr>
          <p:cNvPr id="5" name="Group 15"/>
          <p:cNvGrpSpPr/>
          <p:nvPr/>
        </p:nvGrpSpPr>
        <p:grpSpPr>
          <a:xfrm>
            <a:off x="3486150" y="2457450"/>
            <a:ext cx="1416050" cy="1085850"/>
            <a:chOff x="2196" y="1548"/>
            <a:chExt cx="892" cy="684"/>
          </a:xfrm>
        </p:grpSpPr>
        <p:sp>
          <p:nvSpPr>
            <p:cNvPr id="79898" name="Freeform 16"/>
            <p:cNvSpPr/>
            <p:nvPr/>
          </p:nvSpPr>
          <p:spPr>
            <a:xfrm>
              <a:off x="2196" y="1548"/>
              <a:ext cx="600" cy="684"/>
            </a:xfrm>
            <a:custGeom>
              <a:avLst/>
              <a:gdLst>
                <a:gd name="txL" fmla="*/ 0 w 600"/>
                <a:gd name="txT" fmla="*/ 0 h 684"/>
                <a:gd name="txR" fmla="*/ 600 w 600"/>
                <a:gd name="txB" fmla="*/ 684 h 684"/>
              </a:gdLst>
              <a:ahLst/>
              <a:cxnLst>
                <a:cxn ang="0">
                  <a:pos x="600" y="0"/>
                </a:cxn>
                <a:cxn ang="0">
                  <a:pos x="432" y="432"/>
                </a:cxn>
                <a:cxn ang="0">
                  <a:pos x="0" y="684"/>
                </a:cxn>
              </a:cxnLst>
              <a:rect l="txL" t="txT" r="txR" b="txB"/>
              <a:pathLst>
                <a:path w="600" h="684">
                  <a:moveTo>
                    <a:pt x="600" y="0"/>
                  </a:moveTo>
                  <a:cubicBezTo>
                    <a:pt x="566" y="159"/>
                    <a:pt x="532" y="318"/>
                    <a:pt x="432" y="432"/>
                  </a:cubicBezTo>
                  <a:cubicBezTo>
                    <a:pt x="332" y="546"/>
                    <a:pt x="70" y="644"/>
                    <a:pt x="0" y="684"/>
                  </a:cubicBezTo>
                </a:path>
              </a:pathLst>
            </a:custGeom>
            <a:noFill/>
            <a:ln w="38100" cap="flat" cmpd="sng">
              <a:solidFill>
                <a:srgbClr val="3333FF">
                  <a:alpha val="100000"/>
                </a:srgbClr>
              </a:solidFill>
              <a:prstDash val="solid"/>
              <a:round/>
              <a:headEnd type="none" w="med" len="med"/>
              <a:tailEnd type="triangle" w="med" len="med"/>
            </a:ln>
          </p:spPr>
          <p:txBody>
            <a:bodyPr/>
            <a:lstStyle/>
            <a:p>
              <a:endParaRPr lang="zh-CN" altLang="en-US" sz="2800"/>
            </a:p>
          </p:txBody>
        </p:sp>
        <p:sp>
          <p:nvSpPr>
            <p:cNvPr id="79899" name="Text Box 17"/>
            <p:cNvSpPr txBox="1"/>
            <p:nvPr/>
          </p:nvSpPr>
          <p:spPr>
            <a:xfrm flipH="1" flipV="1">
              <a:off x="2648" y="1768"/>
              <a:ext cx="440" cy="327"/>
            </a:xfrm>
            <a:prstGeom prst="rect">
              <a:avLst/>
            </a:prstGeom>
            <a:noFill/>
            <a:ln w="38100">
              <a:noFill/>
            </a:ln>
          </p:spPr>
          <p:txBody>
            <a:bodyPr>
              <a:spAutoFit/>
            </a:bodyPr>
            <a:lstStyle/>
            <a:p>
              <a:r>
                <a:rPr lang="en-US" altLang="zh-CN" sz="2800" dirty="0">
                  <a:latin typeface="Times New Roman" panose="02020603050405020304" pitchFamily="18" charset="0"/>
                </a:rPr>
                <a:t>0/0</a:t>
              </a:r>
            </a:p>
          </p:txBody>
        </p:sp>
      </p:grpSp>
      <p:grpSp>
        <p:nvGrpSpPr>
          <p:cNvPr id="6" name="Group 18"/>
          <p:cNvGrpSpPr/>
          <p:nvPr/>
        </p:nvGrpSpPr>
        <p:grpSpPr>
          <a:xfrm>
            <a:off x="2984500" y="1698625"/>
            <a:ext cx="2187575" cy="1635125"/>
            <a:chOff x="1880" y="1070"/>
            <a:chExt cx="1378" cy="1030"/>
          </a:xfrm>
        </p:grpSpPr>
        <p:sp>
          <p:nvSpPr>
            <p:cNvPr id="79894" name="Oval 19"/>
            <p:cNvSpPr/>
            <p:nvPr/>
          </p:nvSpPr>
          <p:spPr>
            <a:xfrm>
              <a:off x="2720" y="107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dirty="0">
                  <a:latin typeface="Times New Roman" panose="02020603050405020304" pitchFamily="18" charset="0"/>
                </a:rPr>
                <a:t>B</a:t>
              </a:r>
            </a:p>
          </p:txBody>
        </p:sp>
        <p:grpSp>
          <p:nvGrpSpPr>
            <p:cNvPr id="79895" name="Group 20"/>
            <p:cNvGrpSpPr/>
            <p:nvPr/>
          </p:nvGrpSpPr>
          <p:grpSpPr>
            <a:xfrm>
              <a:off x="1880" y="1416"/>
              <a:ext cx="832" cy="684"/>
              <a:chOff x="1880" y="1416"/>
              <a:chExt cx="832" cy="684"/>
            </a:xfrm>
          </p:grpSpPr>
          <p:sp>
            <p:nvSpPr>
              <p:cNvPr id="79896" name="Freeform 21"/>
              <p:cNvSpPr/>
              <p:nvPr/>
            </p:nvSpPr>
            <p:spPr>
              <a:xfrm>
                <a:off x="1980" y="1416"/>
                <a:ext cx="732" cy="684"/>
              </a:xfrm>
              <a:custGeom>
                <a:avLst/>
                <a:gdLst>
                  <a:gd name="txL" fmla="*/ 0 w 744"/>
                  <a:gd name="txT" fmla="*/ 0 h 876"/>
                  <a:gd name="txR" fmla="*/ 744 w 744"/>
                  <a:gd name="txB" fmla="*/ 876 h 876"/>
                </a:gdLst>
                <a:ahLst/>
                <a:cxnLst>
                  <a:cxn ang="0">
                    <a:pos x="0" y="534"/>
                  </a:cxn>
                  <a:cxn ang="0">
                    <a:pos x="244" y="205"/>
                  </a:cxn>
                  <a:cxn ang="0">
                    <a:pos x="720" y="0"/>
                  </a:cxn>
                </a:cxnLst>
                <a:rect l="txL" t="txT" r="txR" b="txB"/>
                <a:pathLst>
                  <a:path w="744" h="876">
                    <a:moveTo>
                      <a:pt x="0" y="876"/>
                    </a:moveTo>
                    <a:cubicBezTo>
                      <a:pt x="42" y="786"/>
                      <a:pt x="128" y="482"/>
                      <a:pt x="252" y="336"/>
                    </a:cubicBezTo>
                    <a:cubicBezTo>
                      <a:pt x="376" y="190"/>
                      <a:pt x="642" y="70"/>
                      <a:pt x="744" y="0"/>
                    </a:cubicBezTo>
                  </a:path>
                </a:pathLst>
              </a:custGeom>
              <a:noFill/>
              <a:ln w="38100" cap="flat" cmpd="sng">
                <a:solidFill>
                  <a:srgbClr val="3333FF">
                    <a:alpha val="100000"/>
                  </a:srgbClr>
                </a:solidFill>
                <a:prstDash val="solid"/>
                <a:round/>
                <a:headEnd type="none" w="med" len="med"/>
                <a:tailEnd type="triangle" w="med" len="med"/>
              </a:ln>
            </p:spPr>
            <p:txBody>
              <a:bodyPr/>
              <a:lstStyle/>
              <a:p>
                <a:endParaRPr lang="zh-CN" altLang="en-US" sz="2800"/>
              </a:p>
            </p:txBody>
          </p:sp>
          <p:sp>
            <p:nvSpPr>
              <p:cNvPr id="79897" name="Text Box 22"/>
              <p:cNvSpPr txBox="1"/>
              <p:nvPr/>
            </p:nvSpPr>
            <p:spPr>
              <a:xfrm flipH="1">
                <a:off x="1880" y="1436"/>
                <a:ext cx="536" cy="327"/>
              </a:xfrm>
              <a:prstGeom prst="rect">
                <a:avLst/>
              </a:prstGeom>
              <a:noFill/>
              <a:ln w="38100">
                <a:noFill/>
              </a:ln>
            </p:spPr>
            <p:txBody>
              <a:bodyPr>
                <a:spAutoFit/>
              </a:bodyPr>
              <a:lstStyle/>
              <a:p>
                <a:r>
                  <a:rPr lang="en-US" altLang="zh-CN" sz="2800" dirty="0">
                    <a:latin typeface="Times New Roman" panose="02020603050405020304" pitchFamily="18" charset="0"/>
                  </a:rPr>
                  <a:t>1/0</a:t>
                </a:r>
              </a:p>
            </p:txBody>
          </p:sp>
        </p:grpSp>
      </p:grpSp>
      <p:grpSp>
        <p:nvGrpSpPr>
          <p:cNvPr id="8" name="Group 23"/>
          <p:cNvGrpSpPr/>
          <p:nvPr/>
        </p:nvGrpSpPr>
        <p:grpSpPr>
          <a:xfrm>
            <a:off x="4318000" y="4171950"/>
            <a:ext cx="2089150" cy="1524000"/>
            <a:chOff x="2720" y="2628"/>
            <a:chExt cx="1316" cy="960"/>
          </a:xfrm>
        </p:grpSpPr>
        <p:sp>
          <p:nvSpPr>
            <p:cNvPr id="79891" name="Oval 24"/>
            <p:cNvSpPr/>
            <p:nvPr/>
          </p:nvSpPr>
          <p:spPr>
            <a:xfrm>
              <a:off x="2720" y="3050"/>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dirty="0">
                  <a:latin typeface="Times New Roman" panose="02020603050405020304" pitchFamily="18" charset="0"/>
                </a:rPr>
                <a:t>D</a:t>
              </a:r>
              <a:endParaRPr lang="en-US" altLang="zh-CN" sz="2800" i="1" baseline="-25000" dirty="0">
                <a:latin typeface="Times New Roman" panose="02020603050405020304" pitchFamily="18" charset="0"/>
              </a:endParaRPr>
            </a:p>
          </p:txBody>
        </p:sp>
        <p:sp>
          <p:nvSpPr>
            <p:cNvPr id="79892" name="Line 25"/>
            <p:cNvSpPr/>
            <p:nvPr/>
          </p:nvSpPr>
          <p:spPr>
            <a:xfrm flipH="1">
              <a:off x="3264" y="2628"/>
              <a:ext cx="600" cy="600"/>
            </a:xfrm>
            <a:prstGeom prst="line">
              <a:avLst/>
            </a:prstGeom>
            <a:ln w="38100" cap="flat" cmpd="sng">
              <a:solidFill>
                <a:srgbClr val="3333FF"/>
              </a:solidFill>
              <a:prstDash val="solid"/>
              <a:headEnd type="none" w="med" len="med"/>
              <a:tailEnd type="triangle" w="sm" len="lg"/>
            </a:ln>
          </p:spPr>
        </p:sp>
        <p:sp>
          <p:nvSpPr>
            <p:cNvPr id="79893" name="Text Box 26"/>
            <p:cNvSpPr txBox="1"/>
            <p:nvPr/>
          </p:nvSpPr>
          <p:spPr>
            <a:xfrm flipH="1">
              <a:off x="3500" y="2840"/>
              <a:ext cx="536" cy="327"/>
            </a:xfrm>
            <a:prstGeom prst="rect">
              <a:avLst/>
            </a:prstGeom>
            <a:noFill/>
            <a:ln w="38100">
              <a:noFill/>
            </a:ln>
          </p:spPr>
          <p:txBody>
            <a:bodyPr>
              <a:spAutoFit/>
            </a:bodyPr>
            <a:lstStyle/>
            <a:p>
              <a:r>
                <a:rPr lang="en-US" altLang="zh-CN" sz="2800" dirty="0">
                  <a:latin typeface="Times New Roman" panose="02020603050405020304" pitchFamily="18" charset="0"/>
                </a:rPr>
                <a:t>1/1</a:t>
              </a:r>
            </a:p>
          </p:txBody>
        </p:sp>
      </p:grpSp>
      <p:grpSp>
        <p:nvGrpSpPr>
          <p:cNvPr id="9" name="Group 27"/>
          <p:cNvGrpSpPr/>
          <p:nvPr/>
        </p:nvGrpSpPr>
        <p:grpSpPr>
          <a:xfrm>
            <a:off x="4279900" y="5567363"/>
            <a:ext cx="1612900" cy="736600"/>
            <a:chOff x="2696" y="3507"/>
            <a:chExt cx="1016" cy="464"/>
          </a:xfrm>
        </p:grpSpPr>
        <p:sp>
          <p:nvSpPr>
            <p:cNvPr id="79889" name="Freeform 28"/>
            <p:cNvSpPr/>
            <p:nvPr/>
          </p:nvSpPr>
          <p:spPr>
            <a:xfrm>
              <a:off x="2696" y="3507"/>
              <a:ext cx="562" cy="415"/>
            </a:xfrm>
            <a:custGeom>
              <a:avLst/>
              <a:gdLst>
                <a:gd name="txL" fmla="*/ 0 w 562"/>
                <a:gd name="txT" fmla="*/ 0 h 415"/>
                <a:gd name="txR" fmla="*/ 562 w 562"/>
                <a:gd name="txB" fmla="*/ 415 h 415"/>
              </a:gdLst>
              <a:ahLst/>
              <a:cxnLst>
                <a:cxn ang="0">
                  <a:pos x="508" y="9"/>
                </a:cxn>
                <a:cxn ang="0">
                  <a:pos x="561" y="173"/>
                </a:cxn>
                <a:cxn ang="0">
                  <a:pos x="501" y="324"/>
                </a:cxn>
                <a:cxn ang="0">
                  <a:pos x="328" y="405"/>
                </a:cxn>
                <a:cxn ang="0">
                  <a:pos x="176" y="386"/>
                </a:cxn>
                <a:cxn ang="0">
                  <a:pos x="50" y="281"/>
                </a:cxn>
                <a:cxn ang="0">
                  <a:pos x="18" y="208"/>
                </a:cxn>
                <a:cxn ang="0">
                  <a:pos x="10" y="92"/>
                </a:cxn>
                <a:cxn ang="0">
                  <a:pos x="82" y="0"/>
                </a:cxn>
              </a:cxnLst>
              <a:rect l="txL" t="txT" r="txR" b="txB"/>
              <a:pathLst>
                <a:path w="562" h="415">
                  <a:moveTo>
                    <a:pt x="508" y="9"/>
                  </a:moveTo>
                  <a:cubicBezTo>
                    <a:pt x="517" y="38"/>
                    <a:pt x="562" y="121"/>
                    <a:pt x="561" y="173"/>
                  </a:cubicBezTo>
                  <a:cubicBezTo>
                    <a:pt x="560" y="225"/>
                    <a:pt x="540" y="285"/>
                    <a:pt x="501" y="324"/>
                  </a:cubicBezTo>
                  <a:cubicBezTo>
                    <a:pt x="462" y="363"/>
                    <a:pt x="382" y="395"/>
                    <a:pt x="328" y="405"/>
                  </a:cubicBezTo>
                  <a:cubicBezTo>
                    <a:pt x="274" y="415"/>
                    <a:pt x="223" y="407"/>
                    <a:pt x="176" y="386"/>
                  </a:cubicBezTo>
                  <a:cubicBezTo>
                    <a:pt x="130" y="365"/>
                    <a:pt x="77" y="311"/>
                    <a:pt x="50" y="281"/>
                  </a:cubicBezTo>
                  <a:cubicBezTo>
                    <a:pt x="24" y="251"/>
                    <a:pt x="25" y="239"/>
                    <a:pt x="18" y="208"/>
                  </a:cubicBezTo>
                  <a:cubicBezTo>
                    <a:pt x="11" y="177"/>
                    <a:pt x="0" y="127"/>
                    <a:pt x="10" y="92"/>
                  </a:cubicBezTo>
                  <a:cubicBezTo>
                    <a:pt x="20" y="57"/>
                    <a:pt x="69" y="18"/>
                    <a:pt x="82" y="0"/>
                  </a:cubicBezTo>
                </a:path>
              </a:pathLst>
            </a:custGeom>
            <a:noFill/>
            <a:ln w="38100" cap="flat" cmpd="sng">
              <a:solidFill>
                <a:srgbClr val="3333FF">
                  <a:alpha val="100000"/>
                </a:srgbClr>
              </a:solidFill>
              <a:prstDash val="solid"/>
              <a:round/>
              <a:headEnd type="none" w="med" len="med"/>
              <a:tailEnd type="triangle" w="med" len="med"/>
            </a:ln>
          </p:spPr>
          <p:txBody>
            <a:bodyPr/>
            <a:lstStyle/>
            <a:p>
              <a:endParaRPr lang="zh-CN" altLang="en-US" sz="2800"/>
            </a:p>
          </p:txBody>
        </p:sp>
        <p:sp>
          <p:nvSpPr>
            <p:cNvPr id="79890" name="Text Box 29"/>
            <p:cNvSpPr txBox="1"/>
            <p:nvPr/>
          </p:nvSpPr>
          <p:spPr>
            <a:xfrm flipH="1">
              <a:off x="3176" y="3644"/>
              <a:ext cx="536" cy="327"/>
            </a:xfrm>
            <a:prstGeom prst="rect">
              <a:avLst/>
            </a:prstGeom>
            <a:noFill/>
            <a:ln w="38100">
              <a:noFill/>
            </a:ln>
          </p:spPr>
          <p:txBody>
            <a:bodyPr>
              <a:spAutoFit/>
            </a:bodyPr>
            <a:lstStyle/>
            <a:p>
              <a:r>
                <a:rPr lang="en-US" altLang="zh-CN" sz="2800" dirty="0">
                  <a:latin typeface="Times New Roman" panose="02020603050405020304" pitchFamily="18" charset="0"/>
                </a:rPr>
                <a:t>1/1</a:t>
              </a:r>
            </a:p>
          </p:txBody>
        </p:sp>
      </p:grpSp>
      <p:grpSp>
        <p:nvGrpSpPr>
          <p:cNvPr id="10" name="Group 30"/>
          <p:cNvGrpSpPr/>
          <p:nvPr/>
        </p:nvGrpSpPr>
        <p:grpSpPr>
          <a:xfrm>
            <a:off x="5181600" y="2209800"/>
            <a:ext cx="1649413" cy="2016125"/>
            <a:chOff x="3264" y="1392"/>
            <a:chExt cx="1039" cy="1270"/>
          </a:xfrm>
        </p:grpSpPr>
        <p:sp>
          <p:nvSpPr>
            <p:cNvPr id="79886" name="Oval 31"/>
            <p:cNvSpPr/>
            <p:nvPr/>
          </p:nvSpPr>
          <p:spPr>
            <a:xfrm>
              <a:off x="3765" y="2124"/>
              <a:ext cx="538"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dirty="0">
                  <a:latin typeface="Times New Roman" panose="02020603050405020304" pitchFamily="18" charset="0"/>
                </a:rPr>
                <a:t>C</a:t>
              </a:r>
              <a:endParaRPr lang="en-US" altLang="zh-CN" sz="2800" i="1" baseline="-25000" dirty="0">
                <a:latin typeface="Times New Roman" panose="02020603050405020304" pitchFamily="18" charset="0"/>
              </a:endParaRPr>
            </a:p>
          </p:txBody>
        </p:sp>
        <p:sp>
          <p:nvSpPr>
            <p:cNvPr id="79887" name="Freeform 32"/>
            <p:cNvSpPr/>
            <p:nvPr/>
          </p:nvSpPr>
          <p:spPr>
            <a:xfrm>
              <a:off x="3264" y="1392"/>
              <a:ext cx="768" cy="708"/>
            </a:xfrm>
            <a:custGeom>
              <a:avLst/>
              <a:gdLst>
                <a:gd name="txL" fmla="*/ 0 w 768"/>
                <a:gd name="txT" fmla="*/ 0 h 708"/>
                <a:gd name="txR" fmla="*/ 768 w 768"/>
                <a:gd name="txB" fmla="*/ 708 h 708"/>
              </a:gdLst>
              <a:ahLst/>
              <a:cxnLst>
                <a:cxn ang="0">
                  <a:pos x="0" y="0"/>
                </a:cxn>
                <a:cxn ang="0">
                  <a:pos x="420" y="240"/>
                </a:cxn>
                <a:cxn ang="0">
                  <a:pos x="768" y="708"/>
                </a:cxn>
              </a:cxnLst>
              <a:rect l="txL" t="txT" r="txR" b="txB"/>
              <a:pathLst>
                <a:path w="768" h="708">
                  <a:moveTo>
                    <a:pt x="0" y="0"/>
                  </a:moveTo>
                  <a:cubicBezTo>
                    <a:pt x="70" y="40"/>
                    <a:pt x="292" y="122"/>
                    <a:pt x="420" y="240"/>
                  </a:cubicBezTo>
                  <a:cubicBezTo>
                    <a:pt x="548" y="358"/>
                    <a:pt x="696" y="611"/>
                    <a:pt x="768" y="708"/>
                  </a:cubicBezTo>
                </a:path>
              </a:pathLst>
            </a:custGeom>
            <a:noFill/>
            <a:ln w="38100" cap="flat" cmpd="sng">
              <a:solidFill>
                <a:srgbClr val="3333FF">
                  <a:alpha val="100000"/>
                </a:srgbClr>
              </a:solidFill>
              <a:prstDash val="solid"/>
              <a:round/>
              <a:headEnd type="none" w="med" len="med"/>
              <a:tailEnd type="triangle" w="med" len="med"/>
            </a:ln>
          </p:spPr>
          <p:txBody>
            <a:bodyPr/>
            <a:lstStyle/>
            <a:p>
              <a:endParaRPr lang="zh-CN" altLang="en-US" sz="2800"/>
            </a:p>
          </p:txBody>
        </p:sp>
        <p:sp>
          <p:nvSpPr>
            <p:cNvPr id="79888" name="Text Box 33"/>
            <p:cNvSpPr txBox="1"/>
            <p:nvPr/>
          </p:nvSpPr>
          <p:spPr>
            <a:xfrm flipH="1">
              <a:off x="3704" y="1496"/>
              <a:ext cx="536" cy="327"/>
            </a:xfrm>
            <a:prstGeom prst="rect">
              <a:avLst/>
            </a:prstGeom>
            <a:noFill/>
            <a:ln w="38100">
              <a:noFill/>
            </a:ln>
          </p:spPr>
          <p:txBody>
            <a:bodyPr>
              <a:spAutoFit/>
            </a:bodyPr>
            <a:lstStyle/>
            <a:p>
              <a:r>
                <a:rPr lang="en-US" altLang="zh-CN" sz="2800" dirty="0">
                  <a:latin typeface="Times New Roman" panose="02020603050405020304" pitchFamily="18" charset="0"/>
                </a:rPr>
                <a:t>1/0</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4677"/>
                                        </p:tgtEl>
                                        <p:attrNameLst>
                                          <p:attrName>style.visibility</p:attrName>
                                        </p:attrNameLst>
                                      </p:cBhvr>
                                      <p:to>
                                        <p:strVal val="visible"/>
                                      </p:to>
                                    </p:set>
                                    <p:animEffect transition="in" filter="wipe(left)">
                                      <p:cBhvr>
                                        <p:cTn id="7" dur="500"/>
                                        <p:tgtEl>
                                          <p:spTgt spid="2846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righ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righ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down)">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right)">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right)">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right)">
                                      <p:cBhvr>
                                        <p:cTn id="47" dur="5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84676"/>
                                        </p:tgtEl>
                                        <p:attrNameLst>
                                          <p:attrName>style.visibility</p:attrName>
                                        </p:attrNameLst>
                                      </p:cBhvr>
                                      <p:to>
                                        <p:strVal val="visible"/>
                                      </p:to>
                                    </p:set>
                                    <p:animEffect transition="in" filter="wipe(left)">
                                      <p:cBhvr>
                                        <p:cTn id="52" dur="500"/>
                                        <p:tgtEl>
                                          <p:spTgt spid="284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6" grpId="0"/>
      <p:bldP spid="284677" grpId="0" bldLvl="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809750"/>
            <a:ext cx="7086600" cy="3810000"/>
            <a:chOff x="576" y="816"/>
            <a:chExt cx="4464" cy="2400"/>
          </a:xfrm>
        </p:grpSpPr>
        <p:sp>
          <p:nvSpPr>
            <p:cNvPr id="80899" name="Line 3"/>
            <p:cNvSpPr/>
            <p:nvPr/>
          </p:nvSpPr>
          <p:spPr>
            <a:xfrm>
              <a:off x="600" y="816"/>
              <a:ext cx="4404" cy="0"/>
            </a:xfrm>
            <a:prstGeom prst="line">
              <a:avLst/>
            </a:prstGeom>
            <a:ln w="38100" cap="flat" cmpd="sng">
              <a:solidFill>
                <a:schemeClr val="tx1"/>
              </a:solidFill>
              <a:prstDash val="solid"/>
              <a:headEnd type="none" w="med" len="med"/>
              <a:tailEnd type="none" w="sm" len="lg"/>
            </a:ln>
          </p:spPr>
        </p:sp>
        <p:sp>
          <p:nvSpPr>
            <p:cNvPr id="80900" name="Line 4"/>
            <p:cNvSpPr/>
            <p:nvPr/>
          </p:nvSpPr>
          <p:spPr>
            <a:xfrm>
              <a:off x="636" y="3204"/>
              <a:ext cx="4404" cy="0"/>
            </a:xfrm>
            <a:prstGeom prst="line">
              <a:avLst/>
            </a:prstGeom>
            <a:ln w="38100" cap="flat" cmpd="sng">
              <a:solidFill>
                <a:schemeClr val="tx1"/>
              </a:solidFill>
              <a:prstDash val="solid"/>
              <a:headEnd type="none" w="med" len="med"/>
              <a:tailEnd type="none" w="sm" len="lg"/>
            </a:ln>
          </p:spPr>
        </p:sp>
        <p:sp>
          <p:nvSpPr>
            <p:cNvPr id="80901" name="Line 5"/>
            <p:cNvSpPr/>
            <p:nvPr/>
          </p:nvSpPr>
          <p:spPr>
            <a:xfrm>
              <a:off x="1656" y="816"/>
              <a:ext cx="0" cy="2400"/>
            </a:xfrm>
            <a:prstGeom prst="line">
              <a:avLst/>
            </a:prstGeom>
            <a:ln w="19050" cap="flat" cmpd="sng">
              <a:solidFill>
                <a:schemeClr val="tx1"/>
              </a:solidFill>
              <a:prstDash val="solid"/>
              <a:headEnd type="none" w="med" len="med"/>
              <a:tailEnd type="none" w="sm" len="lg"/>
            </a:ln>
          </p:spPr>
        </p:sp>
        <p:sp>
          <p:nvSpPr>
            <p:cNvPr id="80902" name="Line 6"/>
            <p:cNvSpPr/>
            <p:nvPr/>
          </p:nvSpPr>
          <p:spPr>
            <a:xfrm>
              <a:off x="3240" y="1416"/>
              <a:ext cx="0" cy="1788"/>
            </a:xfrm>
            <a:prstGeom prst="line">
              <a:avLst/>
            </a:prstGeom>
            <a:ln w="19050" cap="flat" cmpd="sng">
              <a:solidFill>
                <a:schemeClr val="tx1"/>
              </a:solidFill>
              <a:prstDash val="solid"/>
              <a:headEnd type="none" w="med" len="med"/>
              <a:tailEnd type="none" w="sm" len="lg"/>
            </a:ln>
          </p:spPr>
        </p:sp>
        <p:sp>
          <p:nvSpPr>
            <p:cNvPr id="80903" name="Line 7"/>
            <p:cNvSpPr/>
            <p:nvPr/>
          </p:nvSpPr>
          <p:spPr>
            <a:xfrm>
              <a:off x="1656" y="1404"/>
              <a:ext cx="3336" cy="0"/>
            </a:xfrm>
            <a:prstGeom prst="line">
              <a:avLst/>
            </a:prstGeom>
            <a:ln w="12700" cap="flat" cmpd="sng">
              <a:solidFill>
                <a:schemeClr val="tx1"/>
              </a:solidFill>
              <a:prstDash val="solid"/>
              <a:headEnd type="none" w="med" len="med"/>
              <a:tailEnd type="none" w="sm" len="lg"/>
            </a:ln>
          </p:spPr>
        </p:sp>
        <p:sp>
          <p:nvSpPr>
            <p:cNvPr id="80904" name="Line 8"/>
            <p:cNvSpPr/>
            <p:nvPr/>
          </p:nvSpPr>
          <p:spPr>
            <a:xfrm>
              <a:off x="576" y="1956"/>
              <a:ext cx="4404" cy="0"/>
            </a:xfrm>
            <a:prstGeom prst="line">
              <a:avLst/>
            </a:prstGeom>
            <a:ln w="12700" cap="flat" cmpd="sng">
              <a:solidFill>
                <a:schemeClr val="tx1"/>
              </a:solidFill>
              <a:prstDash val="solid"/>
              <a:headEnd type="none" w="med" len="med"/>
              <a:tailEnd type="none" w="sm" len="lg"/>
            </a:ln>
          </p:spPr>
        </p:sp>
        <p:sp>
          <p:nvSpPr>
            <p:cNvPr id="80905" name="Text Box 9"/>
            <p:cNvSpPr txBox="1"/>
            <p:nvPr/>
          </p:nvSpPr>
          <p:spPr>
            <a:xfrm>
              <a:off x="686" y="1230"/>
              <a:ext cx="728" cy="327"/>
            </a:xfrm>
            <a:prstGeom prst="rect">
              <a:avLst/>
            </a:prstGeom>
            <a:noFill/>
            <a:ln w="19050">
              <a:noFill/>
            </a:ln>
          </p:spPr>
          <p:txBody>
            <a:bodyPr wrap="none">
              <a:spAutoFit/>
            </a:bodyPr>
            <a:lstStyle/>
            <a:p>
              <a:r>
                <a:rPr lang="zh-CN" altLang="zh-CN" sz="2800" dirty="0">
                  <a:latin typeface="Times New Roman" panose="02020603050405020304" pitchFamily="18" charset="0"/>
                </a:rPr>
                <a:t>现   态</a:t>
              </a:r>
            </a:p>
          </p:txBody>
        </p:sp>
        <p:sp>
          <p:nvSpPr>
            <p:cNvPr id="80906" name="Text Box 10"/>
            <p:cNvSpPr txBox="1"/>
            <p:nvPr/>
          </p:nvSpPr>
          <p:spPr>
            <a:xfrm>
              <a:off x="2630" y="942"/>
              <a:ext cx="1199"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p>
          </p:txBody>
        </p:sp>
        <p:sp>
          <p:nvSpPr>
            <p:cNvPr id="80907" name="Text Box 11"/>
            <p:cNvSpPr txBox="1"/>
            <p:nvPr/>
          </p:nvSpPr>
          <p:spPr>
            <a:xfrm>
              <a:off x="2114" y="1518"/>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80908" name="Text Box 12"/>
            <p:cNvSpPr txBox="1"/>
            <p:nvPr/>
          </p:nvSpPr>
          <p:spPr>
            <a:xfrm>
              <a:off x="3794" y="1518"/>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80909" name="Text Box 13"/>
            <p:cNvSpPr txBox="1"/>
            <p:nvPr/>
          </p:nvSpPr>
          <p:spPr>
            <a:xfrm>
              <a:off x="878" y="2022"/>
              <a:ext cx="278" cy="1134"/>
            </a:xfrm>
            <a:prstGeom prst="rect">
              <a:avLst/>
            </a:prstGeom>
            <a:noFill/>
            <a:ln w="19050">
              <a:noFill/>
            </a:ln>
          </p:spPr>
          <p:txBody>
            <a:bodyPr wrap="none">
              <a:spAutoFit/>
            </a:bodyPr>
            <a:lstStyle/>
            <a:p>
              <a:r>
                <a:rPr lang="en-US" altLang="zh-CN" sz="2800" dirty="0">
                  <a:latin typeface="Times New Roman" panose="02020603050405020304" pitchFamily="18" charset="0"/>
                </a:rPr>
                <a:t>A</a:t>
              </a:r>
            </a:p>
            <a:p>
              <a:r>
                <a:rPr lang="en-US" altLang="zh-CN" sz="2800" dirty="0">
                  <a:latin typeface="Times New Roman" panose="02020603050405020304" pitchFamily="18" charset="0"/>
                </a:rPr>
                <a:t>B</a:t>
              </a:r>
            </a:p>
            <a:p>
              <a:r>
                <a:rPr lang="en-US" altLang="zh-CN" sz="2800" dirty="0">
                  <a:latin typeface="Times New Roman" panose="02020603050405020304" pitchFamily="18" charset="0"/>
                </a:rPr>
                <a:t>C</a:t>
              </a: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80910" name="Text Box 14"/>
            <p:cNvSpPr txBox="1"/>
            <p:nvPr/>
          </p:nvSpPr>
          <p:spPr>
            <a:xfrm>
              <a:off x="2126" y="2022"/>
              <a:ext cx="452" cy="1134"/>
            </a:xfrm>
            <a:prstGeom prst="rect">
              <a:avLst/>
            </a:prstGeom>
            <a:noFill/>
            <a:ln w="19050">
              <a:noFill/>
            </a:ln>
          </p:spPr>
          <p:txBody>
            <a:bodyPr wrap="none">
              <a:spAutoFit/>
            </a:bodyPr>
            <a:lstStyle/>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p>
            <a:p>
              <a:r>
                <a:rPr lang="en-US" altLang="zh-CN" sz="2800" dirty="0">
                  <a:latin typeface="Times New Roman" panose="02020603050405020304" pitchFamily="18" charset="0"/>
                </a:rPr>
                <a:t>A/0</a:t>
              </a:r>
            </a:p>
          </p:txBody>
        </p:sp>
        <p:sp>
          <p:nvSpPr>
            <p:cNvPr id="80911" name="Text Box 15"/>
            <p:cNvSpPr txBox="1"/>
            <p:nvPr/>
          </p:nvSpPr>
          <p:spPr>
            <a:xfrm>
              <a:off x="3794" y="2022"/>
              <a:ext cx="452" cy="1134"/>
            </a:xfrm>
            <a:prstGeom prst="rect">
              <a:avLst/>
            </a:prstGeom>
            <a:noFill/>
            <a:ln w="19050">
              <a:noFill/>
            </a:ln>
          </p:spPr>
          <p:txBody>
            <a:bodyPr wrap="none">
              <a:spAutoFit/>
            </a:bodyPr>
            <a:lstStyle/>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D/1</a:t>
              </a:r>
            </a:p>
            <a:p>
              <a:r>
                <a:rPr lang="en-US" altLang="zh-CN" sz="2800" dirty="0">
                  <a:latin typeface="Times New Roman" panose="02020603050405020304" pitchFamily="18" charset="0"/>
                </a:rPr>
                <a:t>D/1</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Text Box 2"/>
          <p:cNvSpPr txBox="1"/>
          <p:nvPr/>
        </p:nvSpPr>
        <p:spPr>
          <a:xfrm>
            <a:off x="1146175" y="828675"/>
            <a:ext cx="1793875" cy="519113"/>
          </a:xfrm>
          <a:prstGeom prst="rect">
            <a:avLst/>
          </a:prstGeom>
          <a:noFill/>
          <a:ln w="19050">
            <a:noFill/>
          </a:ln>
        </p:spPr>
        <p:txBody>
          <a:bodyPr wrap="none">
            <a:spAutoFit/>
          </a:bodyPr>
          <a:lstStyle/>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状态化简</a:t>
            </a:r>
          </a:p>
        </p:txBody>
      </p:sp>
      <p:sp>
        <p:nvSpPr>
          <p:cNvPr id="286723" name="Text Box 3"/>
          <p:cNvSpPr txBox="1"/>
          <p:nvPr/>
        </p:nvSpPr>
        <p:spPr>
          <a:xfrm>
            <a:off x="669925" y="1400175"/>
            <a:ext cx="7848600" cy="1117600"/>
          </a:xfrm>
          <a:prstGeom prst="rect">
            <a:avLst/>
          </a:prstGeom>
          <a:noFill/>
          <a:ln w="19050">
            <a:noFill/>
          </a:ln>
        </p:spPr>
        <p:txBody>
          <a:bodyPr wrap="none">
            <a:spAutoFit/>
          </a:bodyPr>
          <a:lstStyle/>
          <a:p>
            <a:r>
              <a:rPr lang="en-US" altLang="zh-CN" sz="2800" dirty="0">
                <a:latin typeface="Times New Roman" panose="02020603050405020304" pitchFamily="18" charset="0"/>
              </a:rPr>
              <a:t>	</a:t>
            </a:r>
            <a:r>
              <a:rPr lang="zh-CN" altLang="en-US" sz="2800" dirty="0">
                <a:latin typeface="Times New Roman" panose="02020603050405020304" pitchFamily="18" charset="0"/>
              </a:rPr>
              <a:t>用观察法可得最大等效类为：</a:t>
            </a:r>
            <a:r>
              <a:rPr lang="en-US" altLang="zh-CN" sz="2800" dirty="0">
                <a:latin typeface="Times New Roman" panose="02020603050405020304" pitchFamily="18" charset="0"/>
              </a:rPr>
              <a:t>(A), (B), (C,D)</a:t>
            </a:r>
          </a:p>
          <a:p>
            <a:pPr>
              <a:lnSpc>
                <a:spcPct val="140000"/>
              </a:lnSpc>
            </a:pPr>
            <a:r>
              <a:rPr lang="zh-CN" altLang="en-US" sz="2800" dirty="0">
                <a:latin typeface="Times New Roman" panose="02020603050405020304" pitchFamily="18" charset="0"/>
              </a:rPr>
              <a:t>令</a:t>
            </a:r>
            <a:r>
              <a:rPr lang="en-US" altLang="zh-CN" sz="2800" dirty="0">
                <a:latin typeface="Times New Roman" panose="02020603050405020304" pitchFamily="18" charset="0"/>
              </a:rPr>
              <a:t>C</a:t>
            </a:r>
            <a:r>
              <a:rPr lang="zh-CN" altLang="en-US" sz="2800" dirty="0">
                <a:latin typeface="Times New Roman" panose="02020603050405020304" pitchFamily="18" charset="0"/>
              </a:rPr>
              <a:t>＝</a:t>
            </a:r>
            <a:r>
              <a:rPr lang="en-US" altLang="zh-CN" sz="2800" dirty="0">
                <a:latin typeface="Times New Roman" panose="02020603050405020304" pitchFamily="18" charset="0"/>
              </a:rPr>
              <a:t>(C,D),</a:t>
            </a:r>
            <a:r>
              <a:rPr lang="zh-CN" altLang="zh-CN" sz="2800" dirty="0">
                <a:latin typeface="Times New Roman" panose="02020603050405020304" pitchFamily="18" charset="0"/>
              </a:rPr>
              <a:t>可得下列最简状态表</a:t>
            </a:r>
          </a:p>
        </p:txBody>
      </p:sp>
      <p:grpSp>
        <p:nvGrpSpPr>
          <p:cNvPr id="2" name="Group 4"/>
          <p:cNvGrpSpPr/>
          <p:nvPr/>
        </p:nvGrpSpPr>
        <p:grpSpPr>
          <a:xfrm>
            <a:off x="4341813" y="2797175"/>
            <a:ext cx="4532312" cy="3390900"/>
            <a:chOff x="2765" y="1786"/>
            <a:chExt cx="2855" cy="2136"/>
          </a:xfrm>
        </p:grpSpPr>
        <p:sp>
          <p:nvSpPr>
            <p:cNvPr id="81939" name="Line 5"/>
            <p:cNvSpPr/>
            <p:nvPr/>
          </p:nvSpPr>
          <p:spPr>
            <a:xfrm>
              <a:off x="2843" y="1786"/>
              <a:ext cx="2754" cy="0"/>
            </a:xfrm>
            <a:prstGeom prst="line">
              <a:avLst/>
            </a:prstGeom>
            <a:ln w="38100" cap="flat" cmpd="sng">
              <a:solidFill>
                <a:schemeClr val="tx1"/>
              </a:solidFill>
              <a:prstDash val="solid"/>
              <a:headEnd type="none" w="med" len="med"/>
              <a:tailEnd type="none" w="sm" len="lg"/>
            </a:ln>
          </p:spPr>
        </p:sp>
        <p:sp>
          <p:nvSpPr>
            <p:cNvPr id="81940" name="Line 6"/>
            <p:cNvSpPr/>
            <p:nvPr/>
          </p:nvSpPr>
          <p:spPr>
            <a:xfrm>
              <a:off x="2866" y="3922"/>
              <a:ext cx="2754" cy="0"/>
            </a:xfrm>
            <a:prstGeom prst="line">
              <a:avLst/>
            </a:prstGeom>
            <a:ln w="38100" cap="flat" cmpd="sng">
              <a:solidFill>
                <a:schemeClr val="tx1"/>
              </a:solidFill>
              <a:prstDash val="solid"/>
              <a:headEnd type="none" w="med" len="med"/>
              <a:tailEnd type="none" w="sm" len="lg"/>
            </a:ln>
          </p:spPr>
        </p:sp>
        <p:sp>
          <p:nvSpPr>
            <p:cNvPr id="81941" name="Line 7"/>
            <p:cNvSpPr/>
            <p:nvPr/>
          </p:nvSpPr>
          <p:spPr>
            <a:xfrm>
              <a:off x="3503" y="1786"/>
              <a:ext cx="0" cy="2124"/>
            </a:xfrm>
            <a:prstGeom prst="line">
              <a:avLst/>
            </a:prstGeom>
            <a:ln w="19050" cap="flat" cmpd="sng">
              <a:solidFill>
                <a:schemeClr val="tx1"/>
              </a:solidFill>
              <a:prstDash val="solid"/>
              <a:headEnd type="none" w="med" len="med"/>
              <a:tailEnd type="none" w="sm" len="lg"/>
            </a:ln>
          </p:spPr>
        </p:sp>
        <p:sp>
          <p:nvSpPr>
            <p:cNvPr id="81942" name="Line 8"/>
            <p:cNvSpPr/>
            <p:nvPr/>
          </p:nvSpPr>
          <p:spPr>
            <a:xfrm>
              <a:off x="4494" y="2386"/>
              <a:ext cx="0" cy="1524"/>
            </a:xfrm>
            <a:prstGeom prst="line">
              <a:avLst/>
            </a:prstGeom>
            <a:ln w="19050" cap="flat" cmpd="sng">
              <a:solidFill>
                <a:schemeClr val="tx1"/>
              </a:solidFill>
              <a:prstDash val="solid"/>
              <a:headEnd type="none" w="med" len="med"/>
              <a:tailEnd type="none" w="sm" len="lg"/>
            </a:ln>
          </p:spPr>
        </p:sp>
        <p:sp>
          <p:nvSpPr>
            <p:cNvPr id="81943" name="Line 9"/>
            <p:cNvSpPr/>
            <p:nvPr/>
          </p:nvSpPr>
          <p:spPr>
            <a:xfrm>
              <a:off x="3503" y="2374"/>
              <a:ext cx="2087" cy="0"/>
            </a:xfrm>
            <a:prstGeom prst="line">
              <a:avLst/>
            </a:prstGeom>
            <a:ln w="12700" cap="flat" cmpd="sng">
              <a:solidFill>
                <a:schemeClr val="tx1"/>
              </a:solidFill>
              <a:prstDash val="solid"/>
              <a:headEnd type="none" w="med" len="med"/>
              <a:tailEnd type="none" w="sm" len="lg"/>
            </a:ln>
          </p:spPr>
        </p:sp>
        <p:sp>
          <p:nvSpPr>
            <p:cNvPr id="81944" name="Line 10"/>
            <p:cNvSpPr/>
            <p:nvPr/>
          </p:nvSpPr>
          <p:spPr>
            <a:xfrm>
              <a:off x="2828" y="2926"/>
              <a:ext cx="2754" cy="0"/>
            </a:xfrm>
            <a:prstGeom prst="line">
              <a:avLst/>
            </a:prstGeom>
            <a:ln w="12700" cap="flat" cmpd="sng">
              <a:solidFill>
                <a:schemeClr val="tx1"/>
              </a:solidFill>
              <a:prstDash val="solid"/>
              <a:headEnd type="none" w="med" len="med"/>
              <a:tailEnd type="none" w="sm" len="lg"/>
            </a:ln>
          </p:spPr>
        </p:sp>
        <p:sp>
          <p:nvSpPr>
            <p:cNvPr id="81945" name="Text Box 11"/>
            <p:cNvSpPr txBox="1"/>
            <p:nvPr/>
          </p:nvSpPr>
          <p:spPr>
            <a:xfrm>
              <a:off x="2765" y="2188"/>
              <a:ext cx="732" cy="327"/>
            </a:xfrm>
            <a:prstGeom prst="rect">
              <a:avLst/>
            </a:prstGeom>
            <a:noFill/>
            <a:ln w="19050">
              <a:noFill/>
            </a:ln>
          </p:spPr>
          <p:txBody>
            <a:bodyPr wrap="none">
              <a:spAutoFit/>
            </a:bodyPr>
            <a:lstStyle/>
            <a:p>
              <a:r>
                <a:rPr lang="zh-CN" altLang="zh-CN" sz="2800" dirty="0">
                  <a:latin typeface="Times New Roman" panose="02020603050405020304" pitchFamily="18" charset="0"/>
                </a:rPr>
                <a:t>现   态</a:t>
              </a:r>
            </a:p>
          </p:txBody>
        </p:sp>
        <p:sp>
          <p:nvSpPr>
            <p:cNvPr id="81946" name="Text Box 12"/>
            <p:cNvSpPr txBox="1"/>
            <p:nvPr/>
          </p:nvSpPr>
          <p:spPr>
            <a:xfrm>
              <a:off x="3912" y="1924"/>
              <a:ext cx="1211"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p>
          </p:txBody>
        </p:sp>
        <p:sp>
          <p:nvSpPr>
            <p:cNvPr id="81947" name="Text Box 13"/>
            <p:cNvSpPr txBox="1"/>
            <p:nvPr/>
          </p:nvSpPr>
          <p:spPr>
            <a:xfrm>
              <a:off x="3789" y="2488"/>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81948" name="Text Box 14"/>
            <p:cNvSpPr txBox="1"/>
            <p:nvPr/>
          </p:nvSpPr>
          <p:spPr>
            <a:xfrm>
              <a:off x="4841" y="2488"/>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81949" name="Text Box 15"/>
            <p:cNvSpPr txBox="1"/>
            <p:nvPr/>
          </p:nvSpPr>
          <p:spPr>
            <a:xfrm>
              <a:off x="3017" y="2992"/>
              <a:ext cx="278" cy="865"/>
            </a:xfrm>
            <a:prstGeom prst="rect">
              <a:avLst/>
            </a:prstGeom>
            <a:noFill/>
            <a:ln w="19050">
              <a:noFill/>
            </a:ln>
          </p:spPr>
          <p:txBody>
            <a:bodyPr wrap="none">
              <a:spAutoFit/>
            </a:bodyPr>
            <a:lstStyle/>
            <a:p>
              <a:r>
                <a:rPr lang="en-US" altLang="zh-CN" sz="2800" dirty="0">
                  <a:latin typeface="Times New Roman" panose="02020603050405020304" pitchFamily="18" charset="0"/>
                </a:rPr>
                <a:t>A</a:t>
              </a:r>
            </a:p>
            <a:p>
              <a:r>
                <a:rPr lang="en-US" altLang="zh-CN" sz="2800" dirty="0">
                  <a:latin typeface="Times New Roman" panose="02020603050405020304" pitchFamily="18" charset="0"/>
                </a:rPr>
                <a:t>B</a:t>
              </a: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p:txBody>
        </p:sp>
        <p:sp>
          <p:nvSpPr>
            <p:cNvPr id="81950" name="Text Box 16"/>
            <p:cNvSpPr txBox="1"/>
            <p:nvPr/>
          </p:nvSpPr>
          <p:spPr>
            <a:xfrm>
              <a:off x="3797" y="2992"/>
              <a:ext cx="452" cy="865"/>
            </a:xfrm>
            <a:prstGeom prst="rect">
              <a:avLst/>
            </a:prstGeom>
            <a:noFill/>
            <a:ln w="19050">
              <a:noFill/>
            </a:ln>
          </p:spPr>
          <p:txBody>
            <a:bodyPr wrap="none">
              <a:spAutoFit/>
            </a:bodyPr>
            <a:lstStyle/>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p>
          </p:txBody>
        </p:sp>
        <p:sp>
          <p:nvSpPr>
            <p:cNvPr id="81951" name="Text Box 17"/>
            <p:cNvSpPr txBox="1"/>
            <p:nvPr/>
          </p:nvSpPr>
          <p:spPr>
            <a:xfrm>
              <a:off x="4841" y="2992"/>
              <a:ext cx="439" cy="865"/>
            </a:xfrm>
            <a:prstGeom prst="rect">
              <a:avLst/>
            </a:prstGeom>
            <a:noFill/>
            <a:ln w="19050">
              <a:noFill/>
            </a:ln>
          </p:spPr>
          <p:txBody>
            <a:bodyPr wrap="none">
              <a:spAutoFit/>
            </a:bodyPr>
            <a:lstStyle/>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C/1</a:t>
              </a:r>
            </a:p>
          </p:txBody>
        </p:sp>
      </p:grpSp>
      <p:grpSp>
        <p:nvGrpSpPr>
          <p:cNvPr id="3" name="Group 18"/>
          <p:cNvGrpSpPr/>
          <p:nvPr/>
        </p:nvGrpSpPr>
        <p:grpSpPr>
          <a:xfrm>
            <a:off x="147638" y="2614613"/>
            <a:ext cx="3905250" cy="3810000"/>
            <a:chOff x="93" y="1647"/>
            <a:chExt cx="2460" cy="2400"/>
          </a:xfrm>
        </p:grpSpPr>
        <p:sp>
          <p:nvSpPr>
            <p:cNvPr id="81926" name="Line 19"/>
            <p:cNvSpPr/>
            <p:nvPr/>
          </p:nvSpPr>
          <p:spPr>
            <a:xfrm>
              <a:off x="267" y="1647"/>
              <a:ext cx="2267" cy="0"/>
            </a:xfrm>
            <a:prstGeom prst="line">
              <a:avLst/>
            </a:prstGeom>
            <a:ln w="38100" cap="flat" cmpd="sng">
              <a:solidFill>
                <a:schemeClr val="tx1"/>
              </a:solidFill>
              <a:prstDash val="solid"/>
              <a:headEnd type="none" w="med" len="med"/>
              <a:tailEnd type="none" w="sm" len="lg"/>
            </a:ln>
          </p:spPr>
        </p:sp>
        <p:sp>
          <p:nvSpPr>
            <p:cNvPr id="81927" name="Line 20"/>
            <p:cNvSpPr/>
            <p:nvPr/>
          </p:nvSpPr>
          <p:spPr>
            <a:xfrm>
              <a:off x="286" y="4035"/>
              <a:ext cx="2267" cy="0"/>
            </a:xfrm>
            <a:prstGeom prst="line">
              <a:avLst/>
            </a:prstGeom>
            <a:ln w="38100" cap="flat" cmpd="sng">
              <a:solidFill>
                <a:schemeClr val="tx1"/>
              </a:solidFill>
              <a:prstDash val="solid"/>
              <a:headEnd type="none" w="med" len="med"/>
              <a:tailEnd type="none" w="sm" len="lg"/>
            </a:ln>
          </p:spPr>
        </p:sp>
        <p:sp>
          <p:nvSpPr>
            <p:cNvPr id="81928" name="Line 21"/>
            <p:cNvSpPr/>
            <p:nvPr/>
          </p:nvSpPr>
          <p:spPr>
            <a:xfrm>
              <a:off x="811" y="1647"/>
              <a:ext cx="0" cy="2400"/>
            </a:xfrm>
            <a:prstGeom prst="line">
              <a:avLst/>
            </a:prstGeom>
            <a:ln w="19050" cap="flat" cmpd="sng">
              <a:solidFill>
                <a:schemeClr val="tx1"/>
              </a:solidFill>
              <a:prstDash val="solid"/>
              <a:headEnd type="none" w="med" len="med"/>
              <a:tailEnd type="none" w="sm" len="lg"/>
            </a:ln>
          </p:spPr>
        </p:sp>
        <p:sp>
          <p:nvSpPr>
            <p:cNvPr id="81929" name="Line 22"/>
            <p:cNvSpPr/>
            <p:nvPr/>
          </p:nvSpPr>
          <p:spPr>
            <a:xfrm>
              <a:off x="1626" y="2247"/>
              <a:ext cx="0" cy="1788"/>
            </a:xfrm>
            <a:prstGeom prst="line">
              <a:avLst/>
            </a:prstGeom>
            <a:ln w="19050" cap="flat" cmpd="sng">
              <a:solidFill>
                <a:schemeClr val="tx1"/>
              </a:solidFill>
              <a:prstDash val="solid"/>
              <a:headEnd type="none" w="med" len="med"/>
              <a:tailEnd type="none" w="sm" len="lg"/>
            </a:ln>
          </p:spPr>
        </p:sp>
        <p:sp>
          <p:nvSpPr>
            <p:cNvPr id="81930" name="Line 23"/>
            <p:cNvSpPr/>
            <p:nvPr/>
          </p:nvSpPr>
          <p:spPr>
            <a:xfrm>
              <a:off x="811" y="2235"/>
              <a:ext cx="1717" cy="0"/>
            </a:xfrm>
            <a:prstGeom prst="line">
              <a:avLst/>
            </a:prstGeom>
            <a:ln w="12700" cap="flat" cmpd="sng">
              <a:solidFill>
                <a:schemeClr val="tx1"/>
              </a:solidFill>
              <a:prstDash val="solid"/>
              <a:headEnd type="none" w="med" len="med"/>
              <a:tailEnd type="none" w="sm" len="lg"/>
            </a:ln>
          </p:spPr>
        </p:sp>
        <p:sp>
          <p:nvSpPr>
            <p:cNvPr id="81931" name="Line 24"/>
            <p:cNvSpPr/>
            <p:nvPr/>
          </p:nvSpPr>
          <p:spPr>
            <a:xfrm>
              <a:off x="255" y="2787"/>
              <a:ext cx="2267" cy="0"/>
            </a:xfrm>
            <a:prstGeom prst="line">
              <a:avLst/>
            </a:prstGeom>
            <a:ln w="12700" cap="flat" cmpd="sng">
              <a:solidFill>
                <a:schemeClr val="tx1"/>
              </a:solidFill>
              <a:prstDash val="solid"/>
              <a:headEnd type="none" w="med" len="med"/>
              <a:tailEnd type="none" w="sm" len="lg"/>
            </a:ln>
          </p:spPr>
        </p:sp>
        <p:sp>
          <p:nvSpPr>
            <p:cNvPr id="81932" name="Text Box 25"/>
            <p:cNvSpPr txBox="1"/>
            <p:nvPr/>
          </p:nvSpPr>
          <p:spPr>
            <a:xfrm>
              <a:off x="93" y="2049"/>
              <a:ext cx="732" cy="327"/>
            </a:xfrm>
            <a:prstGeom prst="rect">
              <a:avLst/>
            </a:prstGeom>
            <a:noFill/>
            <a:ln w="19050">
              <a:noFill/>
            </a:ln>
          </p:spPr>
          <p:txBody>
            <a:bodyPr wrap="none">
              <a:spAutoFit/>
            </a:bodyPr>
            <a:lstStyle/>
            <a:p>
              <a:r>
                <a:rPr lang="zh-CN" altLang="zh-CN" sz="2800" dirty="0">
                  <a:latin typeface="Times New Roman" panose="02020603050405020304" pitchFamily="18" charset="0"/>
                </a:rPr>
                <a:t>现   态</a:t>
              </a:r>
            </a:p>
          </p:txBody>
        </p:sp>
        <p:sp>
          <p:nvSpPr>
            <p:cNvPr id="81933" name="Text Box 26"/>
            <p:cNvSpPr txBox="1"/>
            <p:nvPr/>
          </p:nvSpPr>
          <p:spPr>
            <a:xfrm>
              <a:off x="1312" y="1773"/>
              <a:ext cx="1211"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p>
          </p:txBody>
        </p:sp>
        <p:sp>
          <p:nvSpPr>
            <p:cNvPr id="81934" name="Text Box 27"/>
            <p:cNvSpPr txBox="1"/>
            <p:nvPr/>
          </p:nvSpPr>
          <p:spPr>
            <a:xfrm>
              <a:off x="1047" y="2349"/>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81935" name="Text Box 28"/>
            <p:cNvSpPr txBox="1"/>
            <p:nvPr/>
          </p:nvSpPr>
          <p:spPr>
            <a:xfrm>
              <a:off x="1912" y="2349"/>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81936" name="Text Box 29"/>
            <p:cNvSpPr txBox="1"/>
            <p:nvPr/>
          </p:nvSpPr>
          <p:spPr>
            <a:xfrm>
              <a:off x="316" y="2834"/>
              <a:ext cx="278" cy="1134"/>
            </a:xfrm>
            <a:prstGeom prst="rect">
              <a:avLst/>
            </a:prstGeom>
            <a:noFill/>
            <a:ln w="19050">
              <a:noFill/>
            </a:ln>
          </p:spPr>
          <p:txBody>
            <a:bodyPr wrap="none">
              <a:spAutoFit/>
            </a:bodyPr>
            <a:lstStyle/>
            <a:p>
              <a:r>
                <a:rPr lang="en-US" altLang="zh-CN" sz="2800" dirty="0">
                  <a:latin typeface="Times New Roman" panose="02020603050405020304" pitchFamily="18" charset="0"/>
                </a:rPr>
                <a:t>A</a:t>
              </a:r>
            </a:p>
            <a:p>
              <a:r>
                <a:rPr lang="en-US" altLang="zh-CN" sz="2800" dirty="0">
                  <a:latin typeface="Times New Roman" panose="02020603050405020304" pitchFamily="18" charset="0"/>
                </a:rPr>
                <a:t>B</a:t>
              </a:r>
            </a:p>
            <a:p>
              <a:r>
                <a:rPr lang="en-US" altLang="zh-CN" sz="2800" dirty="0">
                  <a:latin typeface="Times New Roman" panose="02020603050405020304" pitchFamily="18" charset="0"/>
                </a:rPr>
                <a:t>C</a:t>
              </a:r>
            </a:p>
            <a:p>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sp>
          <p:nvSpPr>
            <p:cNvPr id="81937" name="Text Box 30"/>
            <p:cNvSpPr txBox="1"/>
            <p:nvPr/>
          </p:nvSpPr>
          <p:spPr>
            <a:xfrm>
              <a:off x="1053" y="2853"/>
              <a:ext cx="452" cy="1134"/>
            </a:xfrm>
            <a:prstGeom prst="rect">
              <a:avLst/>
            </a:prstGeom>
            <a:noFill/>
            <a:ln w="19050">
              <a:noFill/>
            </a:ln>
          </p:spPr>
          <p:txBody>
            <a:bodyPr wrap="none">
              <a:spAutoFit/>
            </a:bodyPr>
            <a:lstStyle/>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p>
            <a:p>
              <a:r>
                <a:rPr lang="en-US" altLang="zh-CN" sz="2800" dirty="0">
                  <a:latin typeface="Times New Roman" panose="02020603050405020304" pitchFamily="18" charset="0"/>
                </a:rPr>
                <a:t>A/0</a:t>
              </a:r>
            </a:p>
          </p:txBody>
        </p:sp>
        <p:sp>
          <p:nvSpPr>
            <p:cNvPr id="81938" name="Text Box 31"/>
            <p:cNvSpPr txBox="1"/>
            <p:nvPr/>
          </p:nvSpPr>
          <p:spPr>
            <a:xfrm>
              <a:off x="1912" y="2853"/>
              <a:ext cx="452" cy="1134"/>
            </a:xfrm>
            <a:prstGeom prst="rect">
              <a:avLst/>
            </a:prstGeom>
            <a:noFill/>
            <a:ln w="19050">
              <a:noFill/>
            </a:ln>
          </p:spPr>
          <p:txBody>
            <a:bodyPr wrap="none">
              <a:spAutoFit/>
            </a:bodyPr>
            <a:lstStyle/>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D/1</a:t>
              </a:r>
            </a:p>
            <a:p>
              <a:r>
                <a:rPr lang="en-US" altLang="zh-CN" sz="2800" dirty="0">
                  <a:latin typeface="Times New Roman" panose="02020603050405020304" pitchFamily="18" charset="0"/>
                </a:rPr>
                <a:t>D/1</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22"/>
                                        </p:tgtEl>
                                        <p:attrNameLst>
                                          <p:attrName>style.visibility</p:attrName>
                                        </p:attrNameLst>
                                      </p:cBhvr>
                                      <p:to>
                                        <p:strVal val="visible"/>
                                      </p:to>
                                    </p:set>
                                    <p:animEffect transition="in" filter="wipe(left)">
                                      <p:cBhvr>
                                        <p:cTn id="7" dur="500"/>
                                        <p:tgtEl>
                                          <p:spTgt spid="28672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86723"/>
                                        </p:tgtEl>
                                        <p:attrNameLst>
                                          <p:attrName>style.visibility</p:attrName>
                                        </p:attrNameLst>
                                      </p:cBhvr>
                                      <p:to>
                                        <p:strVal val="visible"/>
                                      </p:to>
                                    </p:set>
                                    <p:animEffect transition="in" filter="wipe(left)">
                                      <p:cBhvr>
                                        <p:cTn id="18" dur="500"/>
                                        <p:tgtEl>
                                          <p:spTgt spid="286723"/>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500" fill="hold"/>
                                        <p:tgtEl>
                                          <p:spTgt spid="2"/>
                                        </p:tgtEl>
                                        <p:attrNameLst>
                                          <p:attrName>ppt_w</p:attrName>
                                        </p:attrNameLst>
                                      </p:cBhvr>
                                      <p:tavLst>
                                        <p:tav tm="0">
                                          <p:val>
                                            <p:fltVal val="0"/>
                                          </p:val>
                                        </p:tav>
                                        <p:tav tm="100000">
                                          <p:val>
                                            <p:strVal val="#ppt_w"/>
                                          </p:val>
                                        </p:tav>
                                      </p:tavLst>
                                    </p:anim>
                                    <p:anim calcmode="lin" valueType="num">
                                      <p:cBhvr>
                                        <p:cTn id="24"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2" grpId="0"/>
      <p:bldP spid="286723"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Text Box 2"/>
          <p:cNvSpPr txBox="1"/>
          <p:nvPr/>
        </p:nvSpPr>
        <p:spPr>
          <a:xfrm>
            <a:off x="1084263" y="1030288"/>
            <a:ext cx="1962150" cy="519112"/>
          </a:xfrm>
          <a:prstGeom prst="rect">
            <a:avLst/>
          </a:prstGeom>
          <a:noFill/>
          <a:ln w="19050">
            <a:noFill/>
          </a:ln>
        </p:spPr>
        <p:txBody>
          <a:bodyPr wrap="none">
            <a:spAutoFit/>
          </a:bodyPr>
          <a:lstStyle/>
          <a:p>
            <a:r>
              <a:rPr lang="zh-CN" altLang="en-US" sz="2800" dirty="0">
                <a:latin typeface="Times New Roman" panose="02020603050405020304" pitchFamily="18" charset="0"/>
                <a:sym typeface="Monotype Sorts" pitchFamily="2" charset="2"/>
              </a:rPr>
              <a:t>状态分配：</a:t>
            </a:r>
          </a:p>
        </p:txBody>
      </p:sp>
      <p:sp>
        <p:nvSpPr>
          <p:cNvPr id="287747" name="Text Box 3"/>
          <p:cNvSpPr txBox="1"/>
          <p:nvPr/>
        </p:nvSpPr>
        <p:spPr>
          <a:xfrm>
            <a:off x="5186363" y="839788"/>
            <a:ext cx="3635375" cy="2486025"/>
          </a:xfrm>
          <a:prstGeom prst="rect">
            <a:avLst/>
          </a:prstGeom>
          <a:noFill/>
          <a:ln w="19050">
            <a:noFill/>
          </a:ln>
        </p:spPr>
        <p:txBody>
          <a:bodyPr wrap="none">
            <a:spAutoFit/>
          </a:bodyPr>
          <a:lstStyle/>
          <a:p>
            <a:pPr>
              <a:lnSpc>
                <a:spcPct val="140000"/>
              </a:lnSpc>
              <a:buChar char="•"/>
            </a:pPr>
            <a:r>
              <a:rPr lang="en-US" altLang="zh-CN" sz="2800" dirty="0">
                <a:latin typeface="Times New Roman" panose="02020603050405020304" pitchFamily="18" charset="0"/>
              </a:rPr>
              <a:t> AB</a:t>
            </a:r>
            <a:r>
              <a:rPr lang="zh-CN" altLang="en-US" sz="2800" dirty="0">
                <a:latin typeface="Times New Roman" panose="02020603050405020304" pitchFamily="18" charset="0"/>
              </a:rPr>
              <a:t>，</a:t>
            </a:r>
            <a:r>
              <a:rPr lang="en-US" altLang="zh-CN" sz="2800" dirty="0">
                <a:latin typeface="Times New Roman" panose="02020603050405020304" pitchFamily="18" charset="0"/>
              </a:rPr>
              <a:t>BC</a:t>
            </a:r>
            <a:r>
              <a:rPr lang="zh-CN" altLang="en-US" sz="2800" dirty="0">
                <a:latin typeface="Times New Roman" panose="02020603050405020304" pitchFamily="18" charset="0"/>
              </a:rPr>
              <a:t>，</a:t>
            </a:r>
            <a:r>
              <a:rPr lang="en-US" altLang="zh-CN" sz="2800" dirty="0">
                <a:latin typeface="Times New Roman" panose="02020603050405020304" pitchFamily="18" charset="0"/>
              </a:rPr>
              <a:t>AC</a:t>
            </a:r>
            <a:r>
              <a:rPr lang="zh-CN" altLang="zh-CN" sz="2800" dirty="0">
                <a:latin typeface="Times New Roman" panose="02020603050405020304" pitchFamily="18" charset="0"/>
              </a:rPr>
              <a:t>应相邻</a:t>
            </a:r>
          </a:p>
          <a:p>
            <a:pPr>
              <a:lnSpc>
                <a:spcPct val="140000"/>
              </a:lnSpc>
              <a:buChar char="•"/>
            </a:pPr>
            <a:r>
              <a:rPr lang="zh-CN" altLang="zh-CN" sz="2800" dirty="0">
                <a:latin typeface="Times New Roman" panose="02020603050405020304" pitchFamily="18" charset="0"/>
              </a:rPr>
              <a:t> </a:t>
            </a:r>
            <a:r>
              <a:rPr lang="en-US" altLang="zh-CN" sz="2800" dirty="0">
                <a:latin typeface="Times New Roman" panose="02020603050405020304" pitchFamily="18" charset="0"/>
              </a:rPr>
              <a:t>AB</a:t>
            </a:r>
            <a:r>
              <a:rPr lang="zh-CN" altLang="en-US" sz="2800" dirty="0">
                <a:latin typeface="Times New Roman" panose="02020603050405020304" pitchFamily="18" charset="0"/>
              </a:rPr>
              <a:t>，</a:t>
            </a:r>
            <a:r>
              <a:rPr lang="en-US" altLang="zh-CN" sz="2800" dirty="0">
                <a:latin typeface="Times New Roman" panose="02020603050405020304" pitchFamily="18" charset="0"/>
              </a:rPr>
              <a:t>AC</a:t>
            </a:r>
            <a:r>
              <a:rPr lang="zh-CN" altLang="zh-CN" sz="2800" dirty="0">
                <a:latin typeface="Times New Roman" panose="02020603050405020304" pitchFamily="18" charset="0"/>
              </a:rPr>
              <a:t>应相邻</a:t>
            </a:r>
          </a:p>
          <a:p>
            <a:pPr>
              <a:lnSpc>
                <a:spcPct val="140000"/>
              </a:lnSpc>
              <a:buChar char="•"/>
            </a:pPr>
            <a:r>
              <a:rPr lang="zh-CN" altLang="zh-CN" sz="2800" dirty="0">
                <a:latin typeface="Times New Roman" panose="02020603050405020304" pitchFamily="18" charset="0"/>
              </a:rPr>
              <a:t> </a:t>
            </a:r>
            <a:r>
              <a:rPr lang="en-US" altLang="zh-CN" sz="2800" dirty="0">
                <a:latin typeface="Times New Roman" panose="02020603050405020304" pitchFamily="18" charset="0"/>
              </a:rPr>
              <a:t>AB</a:t>
            </a:r>
            <a:r>
              <a:rPr lang="zh-CN" altLang="zh-CN" sz="2800" dirty="0">
                <a:latin typeface="Times New Roman" panose="02020603050405020304" pitchFamily="18" charset="0"/>
              </a:rPr>
              <a:t>应相邻</a:t>
            </a:r>
          </a:p>
          <a:p>
            <a:pPr>
              <a:lnSpc>
                <a:spcPct val="140000"/>
              </a:lnSpc>
              <a:buChar char="•"/>
            </a:pPr>
            <a:r>
              <a:rPr lang="zh-CN" altLang="zh-CN" sz="2800" dirty="0">
                <a:latin typeface="Times New Roman" panose="02020603050405020304" pitchFamily="18" charset="0"/>
              </a:rPr>
              <a:t> </a:t>
            </a:r>
            <a:r>
              <a:rPr lang="en-US" altLang="zh-CN" sz="2800" dirty="0">
                <a:latin typeface="Times New Roman" panose="02020603050405020304" pitchFamily="18" charset="0"/>
              </a:rPr>
              <a:t>A</a:t>
            </a:r>
            <a:r>
              <a:rPr lang="zh-CN" altLang="zh-CN" sz="2800" dirty="0">
                <a:latin typeface="Times New Roman" panose="02020603050405020304" pitchFamily="18" charset="0"/>
              </a:rPr>
              <a:t>应为逻辑0</a:t>
            </a:r>
          </a:p>
        </p:txBody>
      </p:sp>
      <p:grpSp>
        <p:nvGrpSpPr>
          <p:cNvPr id="2" name="Group 4"/>
          <p:cNvGrpSpPr/>
          <p:nvPr/>
        </p:nvGrpSpPr>
        <p:grpSpPr>
          <a:xfrm>
            <a:off x="5605463" y="3270250"/>
            <a:ext cx="2571750" cy="2817813"/>
            <a:chOff x="3531" y="2060"/>
            <a:chExt cx="1620" cy="1775"/>
          </a:xfrm>
        </p:grpSpPr>
        <p:sp>
          <p:nvSpPr>
            <p:cNvPr id="82964" name="Text Box 5"/>
            <p:cNvSpPr txBox="1"/>
            <p:nvPr/>
          </p:nvSpPr>
          <p:spPr>
            <a:xfrm>
              <a:off x="4133" y="2713"/>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A</a:t>
              </a:r>
            </a:p>
          </p:txBody>
        </p:sp>
        <p:sp>
          <p:nvSpPr>
            <p:cNvPr id="82965" name="Text Box 6"/>
            <p:cNvSpPr txBox="1"/>
            <p:nvPr/>
          </p:nvSpPr>
          <p:spPr>
            <a:xfrm>
              <a:off x="4709" y="3323"/>
              <a:ext cx="116" cy="327"/>
            </a:xfrm>
            <a:prstGeom prst="rect">
              <a:avLst/>
            </a:prstGeom>
            <a:noFill/>
            <a:ln w="19050">
              <a:noFill/>
            </a:ln>
          </p:spPr>
          <p:txBody>
            <a:bodyPr wrap="none">
              <a:spAutoFit/>
            </a:bodyPr>
            <a:lstStyle/>
            <a:p>
              <a:endParaRPr lang="zh-CN" altLang="zh-CN" sz="2800" dirty="0">
                <a:latin typeface="Times New Roman" panose="02020603050405020304" pitchFamily="18" charset="0"/>
              </a:endParaRPr>
            </a:p>
          </p:txBody>
        </p:sp>
        <p:sp>
          <p:nvSpPr>
            <p:cNvPr id="82966" name="Text Box 7"/>
            <p:cNvSpPr txBox="1"/>
            <p:nvPr/>
          </p:nvSpPr>
          <p:spPr>
            <a:xfrm>
              <a:off x="4133" y="3361"/>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B</a:t>
              </a:r>
            </a:p>
          </p:txBody>
        </p:sp>
        <p:sp>
          <p:nvSpPr>
            <p:cNvPr id="82967" name="Text Box 8"/>
            <p:cNvSpPr txBox="1"/>
            <p:nvPr/>
          </p:nvSpPr>
          <p:spPr>
            <a:xfrm>
              <a:off x="4121" y="234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2968" name="Text Box 9"/>
            <p:cNvSpPr txBox="1"/>
            <p:nvPr/>
          </p:nvSpPr>
          <p:spPr>
            <a:xfrm>
              <a:off x="4769" y="234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2969" name="Text Box 10"/>
            <p:cNvSpPr txBox="1"/>
            <p:nvPr/>
          </p:nvSpPr>
          <p:spPr>
            <a:xfrm>
              <a:off x="3725" y="2797"/>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2970" name="Text Box 11"/>
            <p:cNvSpPr txBox="1"/>
            <p:nvPr/>
          </p:nvSpPr>
          <p:spPr>
            <a:xfrm>
              <a:off x="3749" y="3433"/>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grpSp>
          <p:nvGrpSpPr>
            <p:cNvPr id="82971" name="Group 12"/>
            <p:cNvGrpSpPr/>
            <p:nvPr/>
          </p:nvGrpSpPr>
          <p:grpSpPr>
            <a:xfrm>
              <a:off x="3531" y="2215"/>
              <a:ext cx="1620" cy="1620"/>
              <a:chOff x="2784" y="1788"/>
              <a:chExt cx="1620" cy="1620"/>
            </a:xfrm>
          </p:grpSpPr>
          <p:grpSp>
            <p:nvGrpSpPr>
              <p:cNvPr id="82974" name="Group 13"/>
              <p:cNvGrpSpPr/>
              <p:nvPr/>
            </p:nvGrpSpPr>
            <p:grpSpPr>
              <a:xfrm>
                <a:off x="3204" y="2208"/>
                <a:ext cx="1200" cy="1200"/>
                <a:chOff x="1272" y="1896"/>
                <a:chExt cx="1200" cy="1200"/>
              </a:xfrm>
            </p:grpSpPr>
            <p:sp>
              <p:nvSpPr>
                <p:cNvPr id="82976" name="Rectangle 14"/>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2977" name="Rectangle 15"/>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2978" name="Rectangle 16"/>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2979" name="Rectangle 17"/>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sp>
            <p:nvSpPr>
              <p:cNvPr id="82975" name="Line 18"/>
              <p:cNvSpPr/>
              <p:nvPr/>
            </p:nvSpPr>
            <p:spPr>
              <a:xfrm>
                <a:off x="2784" y="1788"/>
                <a:ext cx="432" cy="432"/>
              </a:xfrm>
              <a:prstGeom prst="line">
                <a:avLst/>
              </a:prstGeom>
              <a:ln w="38100" cap="flat" cmpd="sng">
                <a:solidFill>
                  <a:srgbClr val="3333FF"/>
                </a:solidFill>
                <a:prstDash val="solid"/>
                <a:headEnd type="none" w="med" len="med"/>
                <a:tailEnd type="none" w="sm" len="lg"/>
              </a:ln>
            </p:spPr>
          </p:sp>
        </p:grpSp>
        <p:sp>
          <p:nvSpPr>
            <p:cNvPr id="82972" name="Text Box 19"/>
            <p:cNvSpPr txBox="1"/>
            <p:nvPr/>
          </p:nvSpPr>
          <p:spPr>
            <a:xfrm>
              <a:off x="3557" y="2317"/>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sp>
          <p:nvSpPr>
            <p:cNvPr id="82973" name="Text Box 20"/>
            <p:cNvSpPr txBox="1"/>
            <p:nvPr/>
          </p:nvSpPr>
          <p:spPr>
            <a:xfrm>
              <a:off x="3747" y="2060"/>
              <a:ext cx="304" cy="327"/>
            </a:xfrm>
            <a:prstGeom prst="rect">
              <a:avLst/>
            </a:prstGeom>
            <a:noFill/>
            <a:ln w="19050">
              <a:noFill/>
            </a:ln>
          </p:spPr>
          <p:txBody>
            <a:bodyPr>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p>
          </p:txBody>
        </p:sp>
      </p:grpSp>
      <p:grpSp>
        <p:nvGrpSpPr>
          <p:cNvPr id="5" name="Group 21"/>
          <p:cNvGrpSpPr/>
          <p:nvPr/>
        </p:nvGrpSpPr>
        <p:grpSpPr>
          <a:xfrm>
            <a:off x="325438" y="2687638"/>
            <a:ext cx="4532312" cy="3390900"/>
            <a:chOff x="2765" y="1786"/>
            <a:chExt cx="2855" cy="2136"/>
          </a:xfrm>
        </p:grpSpPr>
        <p:sp>
          <p:nvSpPr>
            <p:cNvPr id="82951" name="Line 22"/>
            <p:cNvSpPr/>
            <p:nvPr/>
          </p:nvSpPr>
          <p:spPr>
            <a:xfrm>
              <a:off x="2843" y="1786"/>
              <a:ext cx="2754" cy="0"/>
            </a:xfrm>
            <a:prstGeom prst="line">
              <a:avLst/>
            </a:prstGeom>
            <a:ln w="38100" cap="flat" cmpd="sng">
              <a:solidFill>
                <a:schemeClr val="tx1"/>
              </a:solidFill>
              <a:prstDash val="solid"/>
              <a:headEnd type="none" w="med" len="med"/>
              <a:tailEnd type="none" w="sm" len="lg"/>
            </a:ln>
          </p:spPr>
        </p:sp>
        <p:sp>
          <p:nvSpPr>
            <p:cNvPr id="82952" name="Line 23"/>
            <p:cNvSpPr/>
            <p:nvPr/>
          </p:nvSpPr>
          <p:spPr>
            <a:xfrm>
              <a:off x="2866" y="3922"/>
              <a:ext cx="2754" cy="0"/>
            </a:xfrm>
            <a:prstGeom prst="line">
              <a:avLst/>
            </a:prstGeom>
            <a:ln w="38100" cap="flat" cmpd="sng">
              <a:solidFill>
                <a:schemeClr val="tx1"/>
              </a:solidFill>
              <a:prstDash val="solid"/>
              <a:headEnd type="none" w="med" len="med"/>
              <a:tailEnd type="none" w="sm" len="lg"/>
            </a:ln>
          </p:spPr>
        </p:sp>
        <p:sp>
          <p:nvSpPr>
            <p:cNvPr id="82953" name="Line 24"/>
            <p:cNvSpPr/>
            <p:nvPr/>
          </p:nvSpPr>
          <p:spPr>
            <a:xfrm>
              <a:off x="3503" y="1786"/>
              <a:ext cx="0" cy="2124"/>
            </a:xfrm>
            <a:prstGeom prst="line">
              <a:avLst/>
            </a:prstGeom>
            <a:ln w="19050" cap="flat" cmpd="sng">
              <a:solidFill>
                <a:schemeClr val="tx1"/>
              </a:solidFill>
              <a:prstDash val="solid"/>
              <a:headEnd type="none" w="med" len="med"/>
              <a:tailEnd type="none" w="sm" len="lg"/>
            </a:ln>
          </p:spPr>
        </p:sp>
        <p:sp>
          <p:nvSpPr>
            <p:cNvPr id="82954" name="Line 25"/>
            <p:cNvSpPr/>
            <p:nvPr/>
          </p:nvSpPr>
          <p:spPr>
            <a:xfrm>
              <a:off x="4494" y="2386"/>
              <a:ext cx="0" cy="1524"/>
            </a:xfrm>
            <a:prstGeom prst="line">
              <a:avLst/>
            </a:prstGeom>
            <a:ln w="19050" cap="flat" cmpd="sng">
              <a:solidFill>
                <a:schemeClr val="tx1"/>
              </a:solidFill>
              <a:prstDash val="solid"/>
              <a:headEnd type="none" w="med" len="med"/>
              <a:tailEnd type="none" w="sm" len="lg"/>
            </a:ln>
          </p:spPr>
        </p:sp>
        <p:sp>
          <p:nvSpPr>
            <p:cNvPr id="82955" name="Line 26"/>
            <p:cNvSpPr/>
            <p:nvPr/>
          </p:nvSpPr>
          <p:spPr>
            <a:xfrm>
              <a:off x="3503" y="2374"/>
              <a:ext cx="2087" cy="0"/>
            </a:xfrm>
            <a:prstGeom prst="line">
              <a:avLst/>
            </a:prstGeom>
            <a:ln w="12700" cap="flat" cmpd="sng">
              <a:solidFill>
                <a:schemeClr val="tx1"/>
              </a:solidFill>
              <a:prstDash val="solid"/>
              <a:headEnd type="none" w="med" len="med"/>
              <a:tailEnd type="none" w="sm" len="lg"/>
            </a:ln>
          </p:spPr>
        </p:sp>
        <p:sp>
          <p:nvSpPr>
            <p:cNvPr id="82956" name="Line 27"/>
            <p:cNvSpPr/>
            <p:nvPr/>
          </p:nvSpPr>
          <p:spPr>
            <a:xfrm>
              <a:off x="2828" y="2926"/>
              <a:ext cx="2754" cy="0"/>
            </a:xfrm>
            <a:prstGeom prst="line">
              <a:avLst/>
            </a:prstGeom>
            <a:ln w="12700" cap="flat" cmpd="sng">
              <a:solidFill>
                <a:schemeClr val="tx1"/>
              </a:solidFill>
              <a:prstDash val="solid"/>
              <a:headEnd type="none" w="med" len="med"/>
              <a:tailEnd type="none" w="sm" len="lg"/>
            </a:ln>
          </p:spPr>
        </p:sp>
        <p:sp>
          <p:nvSpPr>
            <p:cNvPr id="82957" name="Text Box 28"/>
            <p:cNvSpPr txBox="1"/>
            <p:nvPr/>
          </p:nvSpPr>
          <p:spPr>
            <a:xfrm>
              <a:off x="2765" y="2188"/>
              <a:ext cx="732" cy="327"/>
            </a:xfrm>
            <a:prstGeom prst="rect">
              <a:avLst/>
            </a:prstGeom>
            <a:noFill/>
            <a:ln w="19050">
              <a:noFill/>
            </a:ln>
          </p:spPr>
          <p:txBody>
            <a:bodyPr wrap="none">
              <a:spAutoFit/>
            </a:bodyPr>
            <a:lstStyle/>
            <a:p>
              <a:r>
                <a:rPr lang="zh-CN" altLang="zh-CN" sz="2800" dirty="0">
                  <a:latin typeface="Times New Roman" panose="02020603050405020304" pitchFamily="18" charset="0"/>
                </a:rPr>
                <a:t>现   态</a:t>
              </a:r>
            </a:p>
          </p:txBody>
        </p:sp>
        <p:sp>
          <p:nvSpPr>
            <p:cNvPr id="82958" name="Text Box 29"/>
            <p:cNvSpPr txBox="1"/>
            <p:nvPr/>
          </p:nvSpPr>
          <p:spPr>
            <a:xfrm>
              <a:off x="3912" y="1924"/>
              <a:ext cx="1211"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p>
          </p:txBody>
        </p:sp>
        <p:sp>
          <p:nvSpPr>
            <p:cNvPr id="82959" name="Text Box 30"/>
            <p:cNvSpPr txBox="1"/>
            <p:nvPr/>
          </p:nvSpPr>
          <p:spPr>
            <a:xfrm>
              <a:off x="3789" y="2488"/>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82960" name="Text Box 31"/>
            <p:cNvSpPr txBox="1"/>
            <p:nvPr/>
          </p:nvSpPr>
          <p:spPr>
            <a:xfrm>
              <a:off x="4841" y="2488"/>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82961" name="Text Box 32"/>
            <p:cNvSpPr txBox="1"/>
            <p:nvPr/>
          </p:nvSpPr>
          <p:spPr>
            <a:xfrm>
              <a:off x="3017" y="2992"/>
              <a:ext cx="278" cy="865"/>
            </a:xfrm>
            <a:prstGeom prst="rect">
              <a:avLst/>
            </a:prstGeom>
            <a:noFill/>
            <a:ln w="19050">
              <a:noFill/>
            </a:ln>
          </p:spPr>
          <p:txBody>
            <a:bodyPr wrap="none">
              <a:spAutoFit/>
            </a:bodyPr>
            <a:lstStyle/>
            <a:p>
              <a:r>
                <a:rPr lang="en-US" altLang="zh-CN" sz="2800" dirty="0">
                  <a:latin typeface="Times New Roman" panose="02020603050405020304" pitchFamily="18" charset="0"/>
                </a:rPr>
                <a:t>A</a:t>
              </a:r>
            </a:p>
            <a:p>
              <a:r>
                <a:rPr lang="en-US" altLang="zh-CN" sz="2800" dirty="0">
                  <a:latin typeface="Times New Roman" panose="02020603050405020304" pitchFamily="18" charset="0"/>
                </a:rPr>
                <a:t>B</a:t>
              </a: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p:txBody>
        </p:sp>
        <p:sp>
          <p:nvSpPr>
            <p:cNvPr id="82962" name="Text Box 33"/>
            <p:cNvSpPr txBox="1"/>
            <p:nvPr/>
          </p:nvSpPr>
          <p:spPr>
            <a:xfrm>
              <a:off x="3797" y="2992"/>
              <a:ext cx="452" cy="865"/>
            </a:xfrm>
            <a:prstGeom prst="rect">
              <a:avLst/>
            </a:prstGeom>
            <a:noFill/>
            <a:ln w="19050">
              <a:noFill/>
            </a:ln>
          </p:spPr>
          <p:txBody>
            <a:bodyPr wrap="none">
              <a:spAutoFit/>
            </a:bodyPr>
            <a:lstStyle/>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p>
          </p:txBody>
        </p:sp>
        <p:sp>
          <p:nvSpPr>
            <p:cNvPr id="82963" name="Text Box 34"/>
            <p:cNvSpPr txBox="1"/>
            <p:nvPr/>
          </p:nvSpPr>
          <p:spPr>
            <a:xfrm>
              <a:off x="4841" y="2992"/>
              <a:ext cx="439" cy="865"/>
            </a:xfrm>
            <a:prstGeom prst="rect">
              <a:avLst/>
            </a:prstGeom>
            <a:noFill/>
            <a:ln w="19050">
              <a:noFill/>
            </a:ln>
          </p:spPr>
          <p:txBody>
            <a:bodyPr wrap="none">
              <a:spAutoFit/>
            </a:bodyPr>
            <a:lstStyle/>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C/1</a:t>
              </a:r>
            </a:p>
          </p:txBody>
        </p:sp>
      </p:grpSp>
      <p:sp>
        <p:nvSpPr>
          <p:cNvPr id="82950" name="Rectangle 35"/>
          <p:cNvSpPr/>
          <p:nvPr/>
        </p:nvSpPr>
        <p:spPr>
          <a:xfrm>
            <a:off x="7458075" y="4329113"/>
            <a:ext cx="469900" cy="457200"/>
          </a:xfrm>
          <a:prstGeom prst="rect">
            <a:avLst/>
          </a:prstGeom>
          <a:noFill/>
          <a:ln w="38100">
            <a:noFill/>
          </a:ln>
        </p:spPr>
        <p:txBody>
          <a:bodyPr lIns="90000" tIns="46800" rIns="90000" bIns="46800">
            <a:spAutoFit/>
          </a:bodyPr>
          <a:lstStyle/>
          <a:p>
            <a:pPr algn="ctr"/>
            <a:r>
              <a:rPr lang="en-US" altLang="zh-CN" sz="2400" dirty="0">
                <a:latin typeface="Times New Roman" panose="02020603050405020304" pitchFamily="18" charset="0"/>
              </a:rPr>
              <a:t>C</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7746"/>
                                        </p:tgtEl>
                                        <p:attrNameLst>
                                          <p:attrName>style.visibility</p:attrName>
                                        </p:attrNameLst>
                                      </p:cBhvr>
                                      <p:to>
                                        <p:strVal val="visible"/>
                                      </p:to>
                                    </p:set>
                                    <p:animEffect transition="in" filter="wipe(left)">
                                      <p:cBhvr>
                                        <p:cTn id="7" dur="500"/>
                                        <p:tgtEl>
                                          <p:spTgt spid="287746"/>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287747"/>
                                        </p:tgtEl>
                                        <p:attrNameLst>
                                          <p:attrName>style.visibility</p:attrName>
                                        </p:attrNameLst>
                                      </p:cBhvr>
                                      <p:to>
                                        <p:strVal val="visible"/>
                                      </p:to>
                                    </p:set>
                                    <p:animEffect transition="in" filter="wipe(up)">
                                      <p:cBhvr>
                                        <p:cTn id="18" dur="5000"/>
                                        <p:tgtEl>
                                          <p:spTgt spid="287747"/>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500" fill="hold"/>
                                        <p:tgtEl>
                                          <p:spTgt spid="2"/>
                                        </p:tgtEl>
                                        <p:attrNameLst>
                                          <p:attrName>ppt_w</p:attrName>
                                        </p:attrNameLst>
                                      </p:cBhvr>
                                      <p:tavLst>
                                        <p:tav tm="0">
                                          <p:val>
                                            <p:fltVal val="0"/>
                                          </p:val>
                                        </p:tav>
                                        <p:tav tm="100000">
                                          <p:val>
                                            <p:strVal val="#ppt_w"/>
                                          </p:val>
                                        </p:tav>
                                      </p:tavLst>
                                    </p:anim>
                                    <p:anim calcmode="lin" valueType="num">
                                      <p:cBhvr>
                                        <p:cTn id="24"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6" grpId="0"/>
      <p:bldP spid="287747"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298950" y="1841500"/>
            <a:ext cx="4716463" cy="3336925"/>
            <a:chOff x="2789" y="1498"/>
            <a:chExt cx="2971" cy="2102"/>
          </a:xfrm>
        </p:grpSpPr>
        <p:sp>
          <p:nvSpPr>
            <p:cNvPr id="84003" name="Line 3"/>
            <p:cNvSpPr/>
            <p:nvPr/>
          </p:nvSpPr>
          <p:spPr>
            <a:xfrm>
              <a:off x="2789" y="1498"/>
              <a:ext cx="2719" cy="1"/>
            </a:xfrm>
            <a:prstGeom prst="line">
              <a:avLst/>
            </a:prstGeom>
            <a:ln w="38100" cap="flat" cmpd="sng">
              <a:solidFill>
                <a:schemeClr val="tx1"/>
              </a:solidFill>
              <a:prstDash val="solid"/>
              <a:headEnd type="none" w="med" len="med"/>
              <a:tailEnd type="none" w="sm" len="lg"/>
            </a:ln>
          </p:spPr>
        </p:sp>
        <p:sp>
          <p:nvSpPr>
            <p:cNvPr id="84004" name="Line 4"/>
            <p:cNvSpPr/>
            <p:nvPr/>
          </p:nvSpPr>
          <p:spPr>
            <a:xfrm>
              <a:off x="2789" y="3599"/>
              <a:ext cx="2719" cy="1"/>
            </a:xfrm>
            <a:prstGeom prst="line">
              <a:avLst/>
            </a:prstGeom>
            <a:ln w="38100" cap="flat" cmpd="sng">
              <a:solidFill>
                <a:schemeClr val="tx1"/>
              </a:solidFill>
              <a:prstDash val="solid"/>
              <a:headEnd type="none" w="med" len="med"/>
              <a:tailEnd type="none" w="sm" len="lg"/>
            </a:ln>
          </p:spPr>
        </p:sp>
        <p:sp>
          <p:nvSpPr>
            <p:cNvPr id="84005" name="Line 5"/>
            <p:cNvSpPr/>
            <p:nvPr/>
          </p:nvSpPr>
          <p:spPr>
            <a:xfrm>
              <a:off x="3493" y="1498"/>
              <a:ext cx="0" cy="2088"/>
            </a:xfrm>
            <a:prstGeom prst="line">
              <a:avLst/>
            </a:prstGeom>
            <a:ln w="19050" cap="flat" cmpd="sng">
              <a:solidFill>
                <a:schemeClr val="tx1"/>
              </a:solidFill>
              <a:prstDash val="solid"/>
              <a:headEnd type="none" w="med" len="med"/>
              <a:tailEnd type="none" w="sm" len="lg"/>
            </a:ln>
          </p:spPr>
        </p:sp>
        <p:sp>
          <p:nvSpPr>
            <p:cNvPr id="84006" name="Line 6"/>
            <p:cNvSpPr/>
            <p:nvPr/>
          </p:nvSpPr>
          <p:spPr>
            <a:xfrm>
              <a:off x="4470" y="2037"/>
              <a:ext cx="0" cy="1563"/>
            </a:xfrm>
            <a:prstGeom prst="line">
              <a:avLst/>
            </a:prstGeom>
            <a:ln w="19050" cap="flat" cmpd="sng">
              <a:solidFill>
                <a:schemeClr val="tx1"/>
              </a:solidFill>
              <a:prstDash val="solid"/>
              <a:headEnd type="none" w="med" len="med"/>
              <a:tailEnd type="none" w="sm" len="lg"/>
            </a:ln>
          </p:spPr>
        </p:sp>
        <p:sp>
          <p:nvSpPr>
            <p:cNvPr id="84007" name="Line 7"/>
            <p:cNvSpPr/>
            <p:nvPr/>
          </p:nvSpPr>
          <p:spPr>
            <a:xfrm>
              <a:off x="3501" y="2026"/>
              <a:ext cx="2007" cy="1"/>
            </a:xfrm>
            <a:prstGeom prst="line">
              <a:avLst/>
            </a:prstGeom>
            <a:ln w="12700" cap="flat" cmpd="sng">
              <a:solidFill>
                <a:schemeClr val="tx1"/>
              </a:solidFill>
              <a:prstDash val="solid"/>
              <a:headEnd type="none" w="med" len="med"/>
              <a:tailEnd type="none" w="sm" len="lg"/>
            </a:ln>
          </p:spPr>
        </p:sp>
        <p:sp>
          <p:nvSpPr>
            <p:cNvPr id="84008" name="Line 8"/>
            <p:cNvSpPr/>
            <p:nvPr/>
          </p:nvSpPr>
          <p:spPr>
            <a:xfrm>
              <a:off x="2789" y="2521"/>
              <a:ext cx="2719" cy="1"/>
            </a:xfrm>
            <a:prstGeom prst="line">
              <a:avLst/>
            </a:prstGeom>
            <a:ln w="12700" cap="flat" cmpd="sng">
              <a:solidFill>
                <a:schemeClr val="tx1"/>
              </a:solidFill>
              <a:prstDash val="solid"/>
              <a:headEnd type="none" w="med" len="med"/>
              <a:tailEnd type="none" w="sm" len="lg"/>
            </a:ln>
          </p:spPr>
        </p:sp>
        <p:sp>
          <p:nvSpPr>
            <p:cNvPr id="84009" name="Text Box 9"/>
            <p:cNvSpPr txBox="1"/>
            <p:nvPr/>
          </p:nvSpPr>
          <p:spPr>
            <a:xfrm>
              <a:off x="2857" y="1568"/>
              <a:ext cx="565" cy="866"/>
            </a:xfrm>
            <a:prstGeom prst="rect">
              <a:avLst/>
            </a:prstGeom>
            <a:noFill/>
            <a:ln w="19050">
              <a:noFill/>
            </a:ln>
          </p:spPr>
          <p:txBody>
            <a:bodyPr>
              <a:spAutoFit/>
            </a:bodyPr>
            <a:lstStyle/>
            <a:p>
              <a:pPr>
                <a:lnSpc>
                  <a:spcPct val="150000"/>
                </a:lnSpc>
              </a:pPr>
              <a:r>
                <a:rPr lang="zh-CN" altLang="zh-CN" sz="2800" dirty="0">
                  <a:latin typeface="Times New Roman" panose="02020603050405020304" pitchFamily="18" charset="0"/>
                </a:rPr>
                <a:t>现态</a:t>
              </a:r>
            </a:p>
            <a:p>
              <a:pPr>
                <a:lnSpc>
                  <a:spcPct val="150000"/>
                </a:lnSpc>
              </a:pP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p>
          </p:txBody>
        </p:sp>
        <p:sp>
          <p:nvSpPr>
            <p:cNvPr id="84010" name="Text Box 10"/>
            <p:cNvSpPr txBox="1"/>
            <p:nvPr/>
          </p:nvSpPr>
          <p:spPr>
            <a:xfrm>
              <a:off x="3469" y="1598"/>
              <a:ext cx="2291"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p>
          </p:txBody>
        </p:sp>
        <p:sp>
          <p:nvSpPr>
            <p:cNvPr id="84011" name="Text Box 11"/>
            <p:cNvSpPr txBox="1"/>
            <p:nvPr/>
          </p:nvSpPr>
          <p:spPr>
            <a:xfrm>
              <a:off x="3798" y="2128"/>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84012" name="Text Box 12"/>
            <p:cNvSpPr txBox="1"/>
            <p:nvPr/>
          </p:nvSpPr>
          <p:spPr>
            <a:xfrm>
              <a:off x="4844" y="2128"/>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84013" name="Text Box 13"/>
            <p:cNvSpPr txBox="1"/>
            <p:nvPr/>
          </p:nvSpPr>
          <p:spPr>
            <a:xfrm>
              <a:off x="2800" y="2577"/>
              <a:ext cx="648" cy="865"/>
            </a:xfrm>
            <a:prstGeom prst="rect">
              <a:avLst/>
            </a:prstGeom>
            <a:noFill/>
            <a:ln w="19050">
              <a:noFill/>
            </a:ln>
          </p:spPr>
          <p:txBody>
            <a:bodyPr wrap="none">
              <a:spAutoFit/>
            </a:bodyPr>
            <a:lstStyle/>
            <a:p>
              <a:pPr algn="ctr" defTabSz="666750"/>
              <a:r>
                <a:rPr lang="en-US" altLang="zh-CN" sz="2800" dirty="0">
                  <a:latin typeface="Times New Roman" panose="02020603050405020304" pitchFamily="18" charset="0"/>
                </a:rPr>
                <a:t>0	0</a:t>
              </a:r>
            </a:p>
            <a:p>
              <a:pPr algn="ctr" defTabSz="666750"/>
              <a:r>
                <a:rPr lang="en-US" altLang="zh-CN" sz="2800" dirty="0">
                  <a:latin typeface="Times New Roman" panose="02020603050405020304" pitchFamily="18" charset="0"/>
                </a:rPr>
                <a:t>0	1</a:t>
              </a:r>
            </a:p>
            <a:p>
              <a:pPr algn="ctr" defTabSz="666750"/>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84014" name="Text Box 14"/>
            <p:cNvSpPr txBox="1"/>
            <p:nvPr/>
          </p:nvSpPr>
          <p:spPr>
            <a:xfrm>
              <a:off x="3783" y="2565"/>
              <a:ext cx="514" cy="946"/>
            </a:xfrm>
            <a:prstGeom prst="rect">
              <a:avLst/>
            </a:prstGeom>
            <a:noFill/>
            <a:ln w="19050">
              <a:noFill/>
            </a:ln>
          </p:spPr>
          <p:txBody>
            <a:bodyPr wrap="none">
              <a:spAutoFit/>
            </a:bodyPr>
            <a:lstStyle/>
            <a:p>
              <a:pPr>
                <a:lnSpc>
                  <a:spcPct val="11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00/0</a:t>
              </a:r>
            </a:p>
          </p:txBody>
        </p:sp>
        <p:sp>
          <p:nvSpPr>
            <p:cNvPr id="84015" name="Text Box 15"/>
            <p:cNvSpPr txBox="1"/>
            <p:nvPr/>
          </p:nvSpPr>
          <p:spPr>
            <a:xfrm>
              <a:off x="4812" y="2587"/>
              <a:ext cx="514" cy="919"/>
            </a:xfrm>
            <a:prstGeom prst="rect">
              <a:avLst/>
            </a:prstGeom>
            <a:noFill/>
            <a:ln w="19050">
              <a:noFill/>
            </a:ln>
          </p:spPr>
          <p:txBody>
            <a:bodyPr wrap="none">
              <a:spAutoFit/>
            </a:bodyPr>
            <a:lstStyle/>
            <a:p>
              <a:r>
                <a:rPr lang="en-US" altLang="zh-CN" sz="2800" dirty="0">
                  <a:latin typeface="Times New Roman" panose="02020603050405020304" pitchFamily="18" charset="0"/>
                </a:rPr>
                <a:t>01/0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10/0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10/1</a:t>
              </a:r>
            </a:p>
          </p:txBody>
        </p:sp>
      </p:grpSp>
      <p:grpSp>
        <p:nvGrpSpPr>
          <p:cNvPr id="3" name="Group 16"/>
          <p:cNvGrpSpPr/>
          <p:nvPr/>
        </p:nvGrpSpPr>
        <p:grpSpPr>
          <a:xfrm>
            <a:off x="0" y="3343275"/>
            <a:ext cx="4214813" cy="3390900"/>
            <a:chOff x="2765" y="1786"/>
            <a:chExt cx="2855" cy="2136"/>
          </a:xfrm>
        </p:grpSpPr>
        <p:sp>
          <p:nvSpPr>
            <p:cNvPr id="83990" name="Line 17"/>
            <p:cNvSpPr/>
            <p:nvPr/>
          </p:nvSpPr>
          <p:spPr>
            <a:xfrm>
              <a:off x="2843" y="1786"/>
              <a:ext cx="2754" cy="0"/>
            </a:xfrm>
            <a:prstGeom prst="line">
              <a:avLst/>
            </a:prstGeom>
            <a:ln w="38100" cap="flat" cmpd="sng">
              <a:solidFill>
                <a:schemeClr val="tx1"/>
              </a:solidFill>
              <a:prstDash val="solid"/>
              <a:headEnd type="none" w="med" len="med"/>
              <a:tailEnd type="none" w="sm" len="lg"/>
            </a:ln>
          </p:spPr>
        </p:sp>
        <p:sp>
          <p:nvSpPr>
            <p:cNvPr id="83991" name="Line 18"/>
            <p:cNvSpPr/>
            <p:nvPr/>
          </p:nvSpPr>
          <p:spPr>
            <a:xfrm>
              <a:off x="2866" y="3922"/>
              <a:ext cx="2754" cy="0"/>
            </a:xfrm>
            <a:prstGeom prst="line">
              <a:avLst/>
            </a:prstGeom>
            <a:ln w="38100" cap="flat" cmpd="sng">
              <a:solidFill>
                <a:schemeClr val="tx1"/>
              </a:solidFill>
              <a:prstDash val="solid"/>
              <a:headEnd type="none" w="med" len="med"/>
              <a:tailEnd type="none" w="sm" len="lg"/>
            </a:ln>
          </p:spPr>
        </p:sp>
        <p:sp>
          <p:nvSpPr>
            <p:cNvPr id="83992" name="Line 19"/>
            <p:cNvSpPr/>
            <p:nvPr/>
          </p:nvSpPr>
          <p:spPr>
            <a:xfrm>
              <a:off x="3503" y="1786"/>
              <a:ext cx="0" cy="2124"/>
            </a:xfrm>
            <a:prstGeom prst="line">
              <a:avLst/>
            </a:prstGeom>
            <a:ln w="19050" cap="flat" cmpd="sng">
              <a:solidFill>
                <a:schemeClr val="tx1"/>
              </a:solidFill>
              <a:prstDash val="solid"/>
              <a:headEnd type="none" w="med" len="med"/>
              <a:tailEnd type="none" w="sm" len="lg"/>
            </a:ln>
          </p:spPr>
        </p:sp>
        <p:sp>
          <p:nvSpPr>
            <p:cNvPr id="83993" name="Line 20"/>
            <p:cNvSpPr/>
            <p:nvPr/>
          </p:nvSpPr>
          <p:spPr>
            <a:xfrm>
              <a:off x="4494" y="2386"/>
              <a:ext cx="0" cy="1524"/>
            </a:xfrm>
            <a:prstGeom prst="line">
              <a:avLst/>
            </a:prstGeom>
            <a:ln w="19050" cap="flat" cmpd="sng">
              <a:solidFill>
                <a:schemeClr val="tx1"/>
              </a:solidFill>
              <a:prstDash val="solid"/>
              <a:headEnd type="none" w="med" len="med"/>
              <a:tailEnd type="none" w="sm" len="lg"/>
            </a:ln>
          </p:spPr>
        </p:sp>
        <p:sp>
          <p:nvSpPr>
            <p:cNvPr id="83994" name="Line 21"/>
            <p:cNvSpPr/>
            <p:nvPr/>
          </p:nvSpPr>
          <p:spPr>
            <a:xfrm>
              <a:off x="3503" y="2374"/>
              <a:ext cx="2087" cy="0"/>
            </a:xfrm>
            <a:prstGeom prst="line">
              <a:avLst/>
            </a:prstGeom>
            <a:ln w="12700" cap="flat" cmpd="sng">
              <a:solidFill>
                <a:schemeClr val="tx1"/>
              </a:solidFill>
              <a:prstDash val="solid"/>
              <a:headEnd type="none" w="med" len="med"/>
              <a:tailEnd type="none" w="sm" len="lg"/>
            </a:ln>
          </p:spPr>
        </p:sp>
        <p:sp>
          <p:nvSpPr>
            <p:cNvPr id="83995" name="Line 22"/>
            <p:cNvSpPr/>
            <p:nvPr/>
          </p:nvSpPr>
          <p:spPr>
            <a:xfrm>
              <a:off x="2828" y="2926"/>
              <a:ext cx="2754" cy="0"/>
            </a:xfrm>
            <a:prstGeom prst="line">
              <a:avLst/>
            </a:prstGeom>
            <a:ln w="12700" cap="flat" cmpd="sng">
              <a:solidFill>
                <a:schemeClr val="tx1"/>
              </a:solidFill>
              <a:prstDash val="solid"/>
              <a:headEnd type="none" w="med" len="med"/>
              <a:tailEnd type="none" w="sm" len="lg"/>
            </a:ln>
          </p:spPr>
        </p:sp>
        <p:sp>
          <p:nvSpPr>
            <p:cNvPr id="83996" name="Text Box 23"/>
            <p:cNvSpPr txBox="1"/>
            <p:nvPr/>
          </p:nvSpPr>
          <p:spPr>
            <a:xfrm>
              <a:off x="2765" y="2188"/>
              <a:ext cx="787" cy="327"/>
            </a:xfrm>
            <a:prstGeom prst="rect">
              <a:avLst/>
            </a:prstGeom>
            <a:noFill/>
            <a:ln w="19050">
              <a:noFill/>
            </a:ln>
          </p:spPr>
          <p:txBody>
            <a:bodyPr wrap="none">
              <a:spAutoFit/>
            </a:bodyPr>
            <a:lstStyle/>
            <a:p>
              <a:r>
                <a:rPr lang="zh-CN" altLang="zh-CN" sz="2800" dirty="0">
                  <a:latin typeface="Times New Roman" panose="02020603050405020304" pitchFamily="18" charset="0"/>
                </a:rPr>
                <a:t>现   态</a:t>
              </a:r>
            </a:p>
          </p:txBody>
        </p:sp>
        <p:sp>
          <p:nvSpPr>
            <p:cNvPr id="83997" name="Text Box 24"/>
            <p:cNvSpPr txBox="1"/>
            <p:nvPr/>
          </p:nvSpPr>
          <p:spPr>
            <a:xfrm>
              <a:off x="3912" y="1924"/>
              <a:ext cx="1303"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r>
                <a:rPr lang="en-US" altLang="zh-CN" sz="2800" dirty="0">
                  <a:latin typeface="Times New Roman" panose="02020603050405020304" pitchFamily="18" charset="0"/>
                </a:rPr>
                <a:t>Z</a:t>
              </a:r>
            </a:p>
          </p:txBody>
        </p:sp>
        <p:sp>
          <p:nvSpPr>
            <p:cNvPr id="83998" name="Text Box 25"/>
            <p:cNvSpPr txBox="1"/>
            <p:nvPr/>
          </p:nvSpPr>
          <p:spPr>
            <a:xfrm>
              <a:off x="3789" y="2488"/>
              <a:ext cx="487"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83999" name="Text Box 26"/>
            <p:cNvSpPr txBox="1"/>
            <p:nvPr/>
          </p:nvSpPr>
          <p:spPr>
            <a:xfrm>
              <a:off x="4841" y="2488"/>
              <a:ext cx="488"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84000" name="Text Box 27"/>
            <p:cNvSpPr txBox="1"/>
            <p:nvPr/>
          </p:nvSpPr>
          <p:spPr>
            <a:xfrm>
              <a:off x="3017" y="2992"/>
              <a:ext cx="299" cy="865"/>
            </a:xfrm>
            <a:prstGeom prst="rect">
              <a:avLst/>
            </a:prstGeom>
            <a:noFill/>
            <a:ln w="19050">
              <a:noFill/>
            </a:ln>
          </p:spPr>
          <p:txBody>
            <a:bodyPr wrap="none">
              <a:spAutoFit/>
            </a:bodyPr>
            <a:lstStyle/>
            <a:p>
              <a:r>
                <a:rPr lang="en-US" altLang="zh-CN" sz="2800" dirty="0">
                  <a:latin typeface="Times New Roman" panose="02020603050405020304" pitchFamily="18" charset="0"/>
                </a:rPr>
                <a:t>A</a:t>
              </a:r>
            </a:p>
            <a:p>
              <a:r>
                <a:rPr lang="en-US" altLang="zh-CN" sz="2800" dirty="0">
                  <a:latin typeface="Times New Roman" panose="02020603050405020304" pitchFamily="18" charset="0"/>
                </a:rPr>
                <a:t>B</a:t>
              </a:r>
            </a:p>
            <a:p>
              <a:r>
                <a:rPr lang="en-US" altLang="zh-CN" sz="2800" dirty="0">
                  <a:latin typeface="Times New Roman" panose="02020603050405020304" pitchFamily="18" charset="0"/>
                </a:rPr>
                <a:t>C</a:t>
              </a:r>
              <a:endParaRPr lang="en-US" altLang="zh-CN" sz="2800" baseline="-25000" dirty="0">
                <a:latin typeface="Times New Roman" panose="02020603050405020304" pitchFamily="18" charset="0"/>
              </a:endParaRPr>
            </a:p>
          </p:txBody>
        </p:sp>
        <p:sp>
          <p:nvSpPr>
            <p:cNvPr id="84001" name="Text Box 28"/>
            <p:cNvSpPr txBox="1"/>
            <p:nvPr/>
          </p:nvSpPr>
          <p:spPr>
            <a:xfrm>
              <a:off x="3797" y="2992"/>
              <a:ext cx="486" cy="865"/>
            </a:xfrm>
            <a:prstGeom prst="rect">
              <a:avLst/>
            </a:prstGeom>
            <a:noFill/>
            <a:ln w="19050">
              <a:noFill/>
            </a:ln>
          </p:spPr>
          <p:txBody>
            <a:bodyPr wrap="none">
              <a:spAutoFit/>
            </a:bodyPr>
            <a:lstStyle/>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A/0</a:t>
              </a:r>
            </a:p>
          </p:txBody>
        </p:sp>
        <p:sp>
          <p:nvSpPr>
            <p:cNvPr id="84002" name="Text Box 29"/>
            <p:cNvSpPr txBox="1"/>
            <p:nvPr/>
          </p:nvSpPr>
          <p:spPr>
            <a:xfrm>
              <a:off x="4841" y="2992"/>
              <a:ext cx="473" cy="865"/>
            </a:xfrm>
            <a:prstGeom prst="rect">
              <a:avLst/>
            </a:prstGeom>
            <a:noFill/>
            <a:ln w="19050">
              <a:noFill/>
            </a:ln>
          </p:spPr>
          <p:txBody>
            <a:bodyPr wrap="none">
              <a:spAutoFit/>
            </a:bodyPr>
            <a:lstStyle/>
            <a:p>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r>
                <a:rPr lang="en-US" altLang="zh-CN" sz="2800" dirty="0">
                  <a:latin typeface="Times New Roman" panose="02020603050405020304" pitchFamily="18" charset="0"/>
                </a:rPr>
                <a:t>C/1</a:t>
              </a:r>
            </a:p>
          </p:txBody>
        </p:sp>
      </p:grpSp>
      <p:grpSp>
        <p:nvGrpSpPr>
          <p:cNvPr id="4" name="Group 30"/>
          <p:cNvGrpSpPr/>
          <p:nvPr/>
        </p:nvGrpSpPr>
        <p:grpSpPr>
          <a:xfrm>
            <a:off x="852488" y="379413"/>
            <a:ext cx="2571750" cy="2817812"/>
            <a:chOff x="501" y="194"/>
            <a:chExt cx="1620" cy="1775"/>
          </a:xfrm>
        </p:grpSpPr>
        <p:sp>
          <p:nvSpPr>
            <p:cNvPr id="83974" name="Text Box 31"/>
            <p:cNvSpPr txBox="1"/>
            <p:nvPr/>
          </p:nvSpPr>
          <p:spPr>
            <a:xfrm>
              <a:off x="1103" y="847"/>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A</a:t>
              </a:r>
            </a:p>
          </p:txBody>
        </p:sp>
        <p:sp>
          <p:nvSpPr>
            <p:cNvPr id="83975" name="Text Box 32"/>
            <p:cNvSpPr txBox="1"/>
            <p:nvPr/>
          </p:nvSpPr>
          <p:spPr>
            <a:xfrm>
              <a:off x="1655" y="1469"/>
              <a:ext cx="116" cy="327"/>
            </a:xfrm>
            <a:prstGeom prst="rect">
              <a:avLst/>
            </a:prstGeom>
            <a:noFill/>
            <a:ln w="19050">
              <a:noFill/>
            </a:ln>
          </p:spPr>
          <p:txBody>
            <a:bodyPr wrap="none">
              <a:spAutoFit/>
            </a:bodyPr>
            <a:lstStyle/>
            <a:p>
              <a:endParaRPr lang="zh-CN" altLang="zh-CN" sz="2800" dirty="0">
                <a:latin typeface="Times New Roman" panose="02020603050405020304" pitchFamily="18" charset="0"/>
              </a:endParaRPr>
            </a:p>
          </p:txBody>
        </p:sp>
        <p:sp>
          <p:nvSpPr>
            <p:cNvPr id="83976" name="Text Box 33"/>
            <p:cNvSpPr txBox="1"/>
            <p:nvPr/>
          </p:nvSpPr>
          <p:spPr>
            <a:xfrm>
              <a:off x="1103" y="1495"/>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B</a:t>
              </a:r>
            </a:p>
          </p:txBody>
        </p:sp>
        <p:sp>
          <p:nvSpPr>
            <p:cNvPr id="83977" name="Text Box 34"/>
            <p:cNvSpPr txBox="1"/>
            <p:nvPr/>
          </p:nvSpPr>
          <p:spPr>
            <a:xfrm>
              <a:off x="1091" y="475"/>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3978" name="Text Box 35"/>
            <p:cNvSpPr txBox="1"/>
            <p:nvPr/>
          </p:nvSpPr>
          <p:spPr>
            <a:xfrm>
              <a:off x="1739" y="475"/>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3979" name="Text Box 36"/>
            <p:cNvSpPr txBox="1"/>
            <p:nvPr/>
          </p:nvSpPr>
          <p:spPr>
            <a:xfrm>
              <a:off x="695" y="93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3980" name="Text Box 37"/>
            <p:cNvSpPr txBox="1"/>
            <p:nvPr/>
          </p:nvSpPr>
          <p:spPr>
            <a:xfrm>
              <a:off x="719" y="1567"/>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grpSp>
          <p:nvGrpSpPr>
            <p:cNvPr id="83981" name="Group 38"/>
            <p:cNvGrpSpPr/>
            <p:nvPr/>
          </p:nvGrpSpPr>
          <p:grpSpPr>
            <a:xfrm>
              <a:off x="501" y="349"/>
              <a:ext cx="1620" cy="1620"/>
              <a:chOff x="2784" y="1788"/>
              <a:chExt cx="1620" cy="1620"/>
            </a:xfrm>
          </p:grpSpPr>
          <p:grpSp>
            <p:nvGrpSpPr>
              <p:cNvPr id="83984" name="Group 39"/>
              <p:cNvGrpSpPr/>
              <p:nvPr/>
            </p:nvGrpSpPr>
            <p:grpSpPr>
              <a:xfrm>
                <a:off x="3204" y="2208"/>
                <a:ext cx="1200" cy="1200"/>
                <a:chOff x="1272" y="1896"/>
                <a:chExt cx="1200" cy="1200"/>
              </a:xfrm>
            </p:grpSpPr>
            <p:sp>
              <p:nvSpPr>
                <p:cNvPr id="83986" name="Rectangle 40"/>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3987" name="Rectangle 41"/>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3988" name="Rectangle 42"/>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3989" name="Rectangle 43"/>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sp>
            <p:nvSpPr>
              <p:cNvPr id="83985" name="Line 44"/>
              <p:cNvSpPr/>
              <p:nvPr/>
            </p:nvSpPr>
            <p:spPr>
              <a:xfrm>
                <a:off x="2784" y="1788"/>
                <a:ext cx="432" cy="432"/>
              </a:xfrm>
              <a:prstGeom prst="line">
                <a:avLst/>
              </a:prstGeom>
              <a:ln w="38100" cap="flat" cmpd="sng">
                <a:solidFill>
                  <a:srgbClr val="3333FF"/>
                </a:solidFill>
                <a:prstDash val="solid"/>
                <a:headEnd type="none" w="med" len="med"/>
                <a:tailEnd type="none" w="sm" len="lg"/>
              </a:ln>
            </p:spPr>
          </p:sp>
        </p:grpSp>
        <p:sp>
          <p:nvSpPr>
            <p:cNvPr id="83982" name="Text Box 45"/>
            <p:cNvSpPr txBox="1"/>
            <p:nvPr/>
          </p:nvSpPr>
          <p:spPr>
            <a:xfrm>
              <a:off x="527" y="451"/>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sp>
          <p:nvSpPr>
            <p:cNvPr id="83983" name="Text Box 46"/>
            <p:cNvSpPr txBox="1"/>
            <p:nvPr/>
          </p:nvSpPr>
          <p:spPr>
            <a:xfrm>
              <a:off x="717" y="194"/>
              <a:ext cx="304" cy="327"/>
            </a:xfrm>
            <a:prstGeom prst="rect">
              <a:avLst/>
            </a:prstGeom>
            <a:noFill/>
            <a:ln w="19050">
              <a:noFill/>
            </a:ln>
          </p:spPr>
          <p:txBody>
            <a:bodyPr>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p>
          </p:txBody>
        </p:sp>
      </p:grpSp>
      <p:sp>
        <p:nvSpPr>
          <p:cNvPr id="83973" name="Rectangle 47"/>
          <p:cNvSpPr/>
          <p:nvPr/>
        </p:nvSpPr>
        <p:spPr>
          <a:xfrm>
            <a:off x="2628900" y="1428750"/>
            <a:ext cx="541338" cy="457200"/>
          </a:xfrm>
          <a:prstGeom prst="rect">
            <a:avLst/>
          </a:prstGeom>
          <a:noFill/>
          <a:ln w="38100">
            <a:noFill/>
          </a:ln>
        </p:spPr>
        <p:txBody>
          <a:bodyPr lIns="90000" tIns="46800" rIns="90000" bIns="46800">
            <a:spAutoFit/>
          </a:bodyPr>
          <a:lstStyle/>
          <a:p>
            <a:pPr algn="ctr"/>
            <a:r>
              <a:rPr lang="en-US" altLang="zh-CN" sz="2400" dirty="0">
                <a:latin typeface="Times New Roman" panose="02020603050405020304" pitchFamily="18" charset="0"/>
              </a:rPr>
              <a:t>C</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7363" y="2054225"/>
            <a:ext cx="8324850" cy="4633913"/>
            <a:chOff x="307" y="1294"/>
            <a:chExt cx="5244" cy="2919"/>
          </a:xfrm>
        </p:grpSpPr>
        <p:sp>
          <p:nvSpPr>
            <p:cNvPr id="85005" name="Line 3"/>
            <p:cNvSpPr/>
            <p:nvPr/>
          </p:nvSpPr>
          <p:spPr>
            <a:xfrm>
              <a:off x="319" y="1307"/>
              <a:ext cx="5220" cy="0"/>
            </a:xfrm>
            <a:prstGeom prst="line">
              <a:avLst/>
            </a:prstGeom>
            <a:ln w="38100" cap="flat" cmpd="sng">
              <a:solidFill>
                <a:schemeClr val="tx1"/>
              </a:solidFill>
              <a:prstDash val="solid"/>
              <a:headEnd type="none" w="med" len="med"/>
              <a:tailEnd type="none" w="sm" len="lg"/>
            </a:ln>
          </p:spPr>
        </p:sp>
        <p:sp>
          <p:nvSpPr>
            <p:cNvPr id="85006" name="Line 4"/>
            <p:cNvSpPr/>
            <p:nvPr/>
          </p:nvSpPr>
          <p:spPr>
            <a:xfrm>
              <a:off x="307" y="4200"/>
              <a:ext cx="5244" cy="0"/>
            </a:xfrm>
            <a:prstGeom prst="line">
              <a:avLst/>
            </a:prstGeom>
            <a:ln w="38100" cap="flat" cmpd="sng">
              <a:solidFill>
                <a:schemeClr val="tx1"/>
              </a:solidFill>
              <a:prstDash val="solid"/>
              <a:headEnd type="none" w="med" len="med"/>
              <a:tailEnd type="none" w="sm" len="lg"/>
            </a:ln>
          </p:spPr>
        </p:sp>
        <p:sp>
          <p:nvSpPr>
            <p:cNvPr id="85007" name="Line 5"/>
            <p:cNvSpPr/>
            <p:nvPr/>
          </p:nvSpPr>
          <p:spPr>
            <a:xfrm>
              <a:off x="1039" y="1307"/>
              <a:ext cx="0" cy="2880"/>
            </a:xfrm>
            <a:prstGeom prst="line">
              <a:avLst/>
            </a:prstGeom>
            <a:ln w="19050" cap="flat" cmpd="sng">
              <a:solidFill>
                <a:schemeClr val="tx1"/>
              </a:solidFill>
              <a:prstDash val="solid"/>
              <a:headEnd type="none" w="med" len="med"/>
              <a:tailEnd type="none" w="sm" len="lg"/>
            </a:ln>
          </p:spPr>
        </p:sp>
        <p:sp>
          <p:nvSpPr>
            <p:cNvPr id="85008" name="Line 6"/>
            <p:cNvSpPr/>
            <p:nvPr/>
          </p:nvSpPr>
          <p:spPr>
            <a:xfrm>
              <a:off x="2239" y="1294"/>
              <a:ext cx="0" cy="2919"/>
            </a:xfrm>
            <a:prstGeom prst="line">
              <a:avLst/>
            </a:prstGeom>
            <a:ln w="19050" cap="flat" cmpd="sng">
              <a:solidFill>
                <a:schemeClr val="tx1"/>
              </a:solidFill>
              <a:prstDash val="solid"/>
              <a:headEnd type="none" w="med" len="med"/>
              <a:tailEnd type="none" w="sm" len="lg"/>
            </a:ln>
          </p:spPr>
        </p:sp>
        <p:sp>
          <p:nvSpPr>
            <p:cNvPr id="85009" name="Line 7"/>
            <p:cNvSpPr/>
            <p:nvPr/>
          </p:nvSpPr>
          <p:spPr>
            <a:xfrm>
              <a:off x="307" y="1946"/>
              <a:ext cx="5244" cy="0"/>
            </a:xfrm>
            <a:prstGeom prst="line">
              <a:avLst/>
            </a:prstGeom>
            <a:ln w="12700" cap="flat" cmpd="sng">
              <a:solidFill>
                <a:schemeClr val="tx1"/>
              </a:solidFill>
              <a:prstDash val="solid"/>
              <a:headEnd type="none" w="med" len="med"/>
              <a:tailEnd type="none" w="sm" len="lg"/>
            </a:ln>
          </p:spPr>
        </p:sp>
        <p:sp>
          <p:nvSpPr>
            <p:cNvPr id="85010" name="Text Box 8"/>
            <p:cNvSpPr txBox="1"/>
            <p:nvPr/>
          </p:nvSpPr>
          <p:spPr>
            <a:xfrm>
              <a:off x="1161" y="1335"/>
              <a:ext cx="916" cy="596"/>
            </a:xfrm>
            <a:prstGeom prst="rect">
              <a:avLst/>
            </a:prstGeom>
            <a:noFill/>
            <a:ln w="19050">
              <a:noFill/>
            </a:ln>
          </p:spPr>
          <p:txBody>
            <a:bodyPr>
              <a:spAutoFit/>
            </a:bodyPr>
            <a:lstStyle/>
            <a:p>
              <a:r>
                <a:rPr lang="zh-CN" altLang="zh-CN" sz="2800" dirty="0">
                  <a:latin typeface="Times New Roman" panose="02020603050405020304" pitchFamily="18" charset="0"/>
                </a:rPr>
                <a:t>现	态</a:t>
              </a:r>
            </a:p>
            <a:p>
              <a:r>
                <a:rPr lang="zh-CN" altLang="zh-CN" sz="2800" dirty="0">
                  <a:latin typeface="Times New Roman" panose="02020603050405020304" pitchFamily="18" charset="0"/>
                </a:rPr>
                <a:t>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p>
          </p:txBody>
        </p:sp>
        <p:sp>
          <p:nvSpPr>
            <p:cNvPr id="85011" name="Text Box 9"/>
            <p:cNvSpPr txBox="1"/>
            <p:nvPr/>
          </p:nvSpPr>
          <p:spPr>
            <a:xfrm>
              <a:off x="2274" y="1325"/>
              <a:ext cx="1121" cy="596"/>
            </a:xfrm>
            <a:prstGeom prst="rect">
              <a:avLst/>
            </a:prstGeom>
            <a:noFill/>
            <a:ln w="19050">
              <a:noFill/>
            </a:ln>
          </p:spPr>
          <p:txBody>
            <a:bodyPr wrap="none">
              <a:spAutoFit/>
            </a:bodyPr>
            <a:lstStyle/>
            <a:p>
              <a:pPr algn="ctr"/>
              <a:r>
                <a:rPr lang="zh-CN" altLang="zh-CN" sz="2800" dirty="0">
                  <a:latin typeface="Times New Roman" panose="02020603050405020304" pitchFamily="18" charset="0"/>
                </a:rPr>
                <a:t>次     态</a:t>
              </a:r>
            </a:p>
            <a:p>
              <a:pPr algn="ct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p>
          </p:txBody>
        </p:sp>
        <p:sp>
          <p:nvSpPr>
            <p:cNvPr id="85012" name="Text Box 10"/>
            <p:cNvSpPr txBox="1"/>
            <p:nvPr/>
          </p:nvSpPr>
          <p:spPr>
            <a:xfrm>
              <a:off x="1293" y="1954"/>
              <a:ext cx="648" cy="2210"/>
            </a:xfrm>
            <a:prstGeom prst="rect">
              <a:avLst/>
            </a:prstGeom>
            <a:noFill/>
            <a:ln w="19050">
              <a:noFill/>
            </a:ln>
          </p:spPr>
          <p:txBody>
            <a:bodyPr wrap="none">
              <a:spAutoFit/>
            </a:bodyPr>
            <a:lstStyle/>
            <a:p>
              <a:pPr defTabSz="666750"/>
              <a:r>
                <a:rPr lang="en-US" altLang="zh-CN" sz="2800" dirty="0">
                  <a:latin typeface="Times New Roman" panose="02020603050405020304" pitchFamily="18" charset="0"/>
                </a:rPr>
                <a:t>0	0</a:t>
              </a:r>
            </a:p>
            <a:p>
              <a:pPr defTabSz="666750"/>
              <a:r>
                <a:rPr lang="en-US" altLang="zh-CN" sz="2800" dirty="0">
                  <a:latin typeface="Times New Roman" panose="02020603050405020304" pitchFamily="18" charset="0"/>
                </a:rPr>
                <a:t>0	1</a:t>
              </a:r>
            </a:p>
            <a:p>
              <a:pPr defTabSz="666750"/>
              <a:r>
                <a:rPr lang="en-US" altLang="zh-CN" sz="2800" dirty="0">
                  <a:latin typeface="Times New Roman" panose="02020603050405020304" pitchFamily="18" charset="0"/>
                </a:rPr>
                <a:t>1	0</a:t>
              </a:r>
            </a:p>
            <a:p>
              <a:pPr defTabSz="666750"/>
              <a:r>
                <a:rPr lang="en-US" altLang="zh-CN" sz="2800" dirty="0">
                  <a:latin typeface="Times New Roman" panose="02020603050405020304" pitchFamily="18" charset="0"/>
                </a:rPr>
                <a:t>1	1</a:t>
              </a:r>
            </a:p>
            <a:p>
              <a:pPr defTabSz="666750"/>
              <a:r>
                <a:rPr lang="en-US" altLang="zh-CN" sz="2800" dirty="0">
                  <a:latin typeface="Times New Roman" panose="02020603050405020304" pitchFamily="18" charset="0"/>
                </a:rPr>
                <a:t>0	0</a:t>
              </a:r>
            </a:p>
            <a:p>
              <a:pPr defTabSz="666750"/>
              <a:r>
                <a:rPr lang="en-US" altLang="zh-CN" sz="2800" dirty="0">
                  <a:latin typeface="Times New Roman" panose="02020603050405020304" pitchFamily="18" charset="0"/>
                </a:rPr>
                <a:t>0	1</a:t>
              </a:r>
            </a:p>
            <a:p>
              <a:pPr defTabSz="666750"/>
              <a:r>
                <a:rPr lang="en-US" altLang="zh-CN" sz="2800" dirty="0">
                  <a:latin typeface="Times New Roman" panose="02020603050405020304" pitchFamily="18" charset="0"/>
                </a:rPr>
                <a:t>1	0</a:t>
              </a:r>
            </a:p>
            <a:p>
              <a:pPr defTabSz="666750"/>
              <a:r>
                <a:rPr lang="en-US" altLang="zh-CN" sz="2800" dirty="0">
                  <a:latin typeface="Times New Roman" panose="02020603050405020304" pitchFamily="18" charset="0"/>
                </a:rPr>
                <a:t>1	1</a:t>
              </a:r>
              <a:endParaRPr lang="en-US" altLang="zh-CN" sz="2800" baseline="-25000" dirty="0">
                <a:latin typeface="Times New Roman" panose="02020603050405020304" pitchFamily="18" charset="0"/>
              </a:endParaRPr>
            </a:p>
          </p:txBody>
        </p:sp>
        <p:sp>
          <p:nvSpPr>
            <p:cNvPr id="85013" name="Rectangle 11"/>
            <p:cNvSpPr/>
            <p:nvPr/>
          </p:nvSpPr>
          <p:spPr>
            <a:xfrm>
              <a:off x="317" y="1349"/>
              <a:ext cx="620" cy="596"/>
            </a:xfrm>
            <a:prstGeom prst="rect">
              <a:avLst/>
            </a:prstGeom>
            <a:noFill/>
            <a:ln w="19050">
              <a:noFill/>
            </a:ln>
          </p:spPr>
          <p:txBody>
            <a:bodyPr wrap="none">
              <a:spAutoFit/>
            </a:bodyPr>
            <a:lstStyle/>
            <a:p>
              <a:pPr algn="ctr"/>
              <a:r>
                <a:rPr lang="zh-CN" altLang="en-US" sz="2800" dirty="0">
                  <a:latin typeface="Times New Roman" panose="02020603050405020304" pitchFamily="18" charset="0"/>
                </a:rPr>
                <a:t>输 入</a:t>
              </a:r>
            </a:p>
            <a:p>
              <a:pPr algn="ctr"/>
              <a:r>
                <a:rPr lang="en-US" altLang="zh-CN" sz="2800" dirty="0">
                  <a:latin typeface="Times New Roman" panose="02020603050405020304" pitchFamily="18" charset="0"/>
                </a:rPr>
                <a:t>x</a:t>
              </a:r>
            </a:p>
          </p:txBody>
        </p:sp>
        <p:sp>
          <p:nvSpPr>
            <p:cNvPr id="85014" name="Rectangle 12"/>
            <p:cNvSpPr/>
            <p:nvPr/>
          </p:nvSpPr>
          <p:spPr>
            <a:xfrm>
              <a:off x="3457" y="1335"/>
              <a:ext cx="1276" cy="596"/>
            </a:xfrm>
            <a:prstGeom prst="rect">
              <a:avLst/>
            </a:prstGeom>
            <a:noFill/>
            <a:ln w="19050">
              <a:noFill/>
            </a:ln>
          </p:spPr>
          <p:txBody>
            <a:bodyPr>
              <a:spAutoFit/>
            </a:bodyPr>
            <a:lstStyle/>
            <a:p>
              <a:pPr algn="ctr"/>
              <a:r>
                <a:rPr lang="zh-CN" altLang="en-US" sz="2800" dirty="0">
                  <a:latin typeface="Times New Roman" panose="02020603050405020304" pitchFamily="18" charset="0"/>
                </a:rPr>
                <a:t>激励函数</a:t>
              </a:r>
            </a:p>
            <a:p>
              <a:pPr algn="ct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1</a:t>
              </a:r>
            </a:p>
          </p:txBody>
        </p:sp>
        <p:sp>
          <p:nvSpPr>
            <p:cNvPr id="85015" name="Line 13"/>
            <p:cNvSpPr/>
            <p:nvPr/>
          </p:nvSpPr>
          <p:spPr>
            <a:xfrm>
              <a:off x="3391" y="1307"/>
              <a:ext cx="0" cy="2883"/>
            </a:xfrm>
            <a:prstGeom prst="line">
              <a:avLst/>
            </a:prstGeom>
            <a:ln w="19050" cap="flat" cmpd="sng">
              <a:solidFill>
                <a:schemeClr val="tx1"/>
              </a:solidFill>
              <a:prstDash val="solid"/>
              <a:headEnd type="none" w="med" len="med"/>
              <a:tailEnd type="none" w="sm" len="lg"/>
            </a:ln>
          </p:spPr>
        </p:sp>
        <p:sp>
          <p:nvSpPr>
            <p:cNvPr id="85016" name="Text Box 14"/>
            <p:cNvSpPr txBox="1"/>
            <p:nvPr/>
          </p:nvSpPr>
          <p:spPr>
            <a:xfrm>
              <a:off x="2403" y="1954"/>
              <a:ext cx="708" cy="2210"/>
            </a:xfrm>
            <a:prstGeom prst="rect">
              <a:avLst/>
            </a:prstGeom>
            <a:noFill/>
            <a:ln w="19050">
              <a:noFill/>
            </a:ln>
          </p:spPr>
          <p:txBody>
            <a:bodyPr wrap="none">
              <a:spAutoFit/>
            </a:bodyPr>
            <a:lstStyle/>
            <a:p>
              <a:pPr defTabSz="762000"/>
              <a:r>
                <a:rPr lang="en-US" altLang="zh-CN" sz="2800" dirty="0">
                  <a:latin typeface="Times New Roman" panose="02020603050405020304" pitchFamily="18" charset="0"/>
                </a:rPr>
                <a:t>0	0</a:t>
              </a:r>
            </a:p>
            <a:p>
              <a:pPr defTabSz="762000"/>
              <a:r>
                <a:rPr lang="en-US" altLang="zh-CN" sz="2800" dirty="0">
                  <a:latin typeface="Times New Roman" panose="02020603050405020304" pitchFamily="18" charset="0"/>
                </a:rPr>
                <a:t>0	0</a:t>
              </a:r>
            </a:p>
            <a:p>
              <a:pPr defTabSz="762000"/>
              <a:r>
                <a:rPr lang="en-US" altLang="zh-CN" sz="2800" dirty="0">
                  <a:latin typeface="Times New Roman" panose="02020603050405020304" pitchFamily="18" charset="0"/>
                </a:rPr>
                <a:t>0	0</a:t>
              </a:r>
            </a:p>
            <a:p>
              <a:pPr defTabSz="762000"/>
              <a:r>
                <a:rPr lang="en-US" altLang="zh-CN" sz="2800" dirty="0">
                  <a:latin typeface="Times New Roman" panose="02020603050405020304" pitchFamily="18" charset="0"/>
                </a:rPr>
                <a:t>d	d</a:t>
              </a:r>
            </a:p>
            <a:p>
              <a:pPr defTabSz="762000"/>
              <a:r>
                <a:rPr lang="en-US" altLang="zh-CN" sz="2800" dirty="0">
                  <a:latin typeface="Times New Roman" panose="02020603050405020304" pitchFamily="18" charset="0"/>
                </a:rPr>
                <a:t>0	1</a:t>
              </a:r>
            </a:p>
            <a:p>
              <a:pPr defTabSz="762000"/>
              <a:r>
                <a:rPr lang="en-US" altLang="zh-CN" sz="2800" dirty="0">
                  <a:latin typeface="Times New Roman" panose="02020603050405020304" pitchFamily="18" charset="0"/>
                </a:rPr>
                <a:t>1	0</a:t>
              </a:r>
            </a:p>
            <a:p>
              <a:pPr defTabSz="762000"/>
              <a:r>
                <a:rPr lang="en-US" altLang="zh-CN" sz="2800" dirty="0">
                  <a:latin typeface="Times New Roman" panose="02020603050405020304" pitchFamily="18" charset="0"/>
                </a:rPr>
                <a:t>1	0</a:t>
              </a:r>
            </a:p>
            <a:p>
              <a:pPr defTabSz="762000"/>
              <a:r>
                <a:rPr lang="en-US" altLang="zh-CN" sz="2800" dirty="0">
                  <a:latin typeface="Times New Roman" panose="02020603050405020304" pitchFamily="18" charset="0"/>
                </a:rPr>
                <a:t>d	d</a:t>
              </a:r>
              <a:endParaRPr lang="en-US" altLang="zh-CN" sz="2800" baseline="-25000" dirty="0">
                <a:latin typeface="Times New Roman" panose="02020603050405020304" pitchFamily="18" charset="0"/>
              </a:endParaRPr>
            </a:p>
          </p:txBody>
        </p:sp>
        <p:sp>
          <p:nvSpPr>
            <p:cNvPr id="85017" name="Text Box 15"/>
            <p:cNvSpPr txBox="1"/>
            <p:nvPr/>
          </p:nvSpPr>
          <p:spPr>
            <a:xfrm>
              <a:off x="3489" y="1954"/>
              <a:ext cx="1128" cy="2210"/>
            </a:xfrm>
            <a:prstGeom prst="rect">
              <a:avLst/>
            </a:prstGeom>
            <a:noFill/>
            <a:ln w="19050">
              <a:noFill/>
            </a:ln>
          </p:spPr>
          <p:txBody>
            <a:bodyPr wrap="none">
              <a:spAutoFit/>
            </a:bodyPr>
            <a:lstStyle/>
            <a:p>
              <a:pPr defTabSz="476250"/>
              <a:r>
                <a:rPr lang="en-US" altLang="zh-CN" sz="2800" dirty="0">
                  <a:latin typeface="Times New Roman" panose="02020603050405020304" pitchFamily="18" charset="0"/>
                </a:rPr>
                <a:t>0	d	0	d</a:t>
              </a:r>
            </a:p>
            <a:p>
              <a:pPr defTabSz="476250"/>
              <a:r>
                <a:rPr lang="en-US" altLang="zh-CN" sz="2800" dirty="0">
                  <a:latin typeface="Times New Roman" panose="02020603050405020304" pitchFamily="18" charset="0"/>
                </a:rPr>
                <a:t>0	d	d	1</a:t>
              </a:r>
            </a:p>
            <a:p>
              <a:pPr defTabSz="476250"/>
              <a:r>
                <a:rPr lang="en-US" altLang="zh-CN" sz="2800" dirty="0">
                  <a:latin typeface="Times New Roman" panose="02020603050405020304" pitchFamily="18" charset="0"/>
                </a:rPr>
                <a:t>d	1	0   d</a:t>
              </a:r>
            </a:p>
            <a:p>
              <a:pPr defTabSz="476250"/>
              <a:r>
                <a:rPr lang="en-US" altLang="zh-CN" sz="2800" dirty="0">
                  <a:latin typeface="Times New Roman" panose="02020603050405020304" pitchFamily="18" charset="0"/>
                </a:rPr>
                <a:t>d	d	d	d</a:t>
              </a:r>
            </a:p>
            <a:p>
              <a:pPr defTabSz="476250"/>
              <a:r>
                <a:rPr lang="en-US" altLang="zh-CN" sz="2800" dirty="0">
                  <a:latin typeface="Times New Roman" panose="02020603050405020304" pitchFamily="18" charset="0"/>
                </a:rPr>
                <a:t>0	d	1	d</a:t>
              </a:r>
            </a:p>
            <a:p>
              <a:pPr defTabSz="476250"/>
              <a:r>
                <a:rPr lang="en-US" altLang="zh-CN" sz="2800" dirty="0">
                  <a:latin typeface="Times New Roman" panose="02020603050405020304" pitchFamily="18" charset="0"/>
                </a:rPr>
                <a:t>1	d	d	1</a:t>
              </a:r>
            </a:p>
            <a:p>
              <a:pPr defTabSz="476250"/>
              <a:r>
                <a:rPr lang="en-US" altLang="zh-CN" sz="2800" dirty="0">
                  <a:latin typeface="Times New Roman" panose="02020603050405020304" pitchFamily="18" charset="0"/>
                </a:rPr>
                <a:t>d	0	0	d</a:t>
              </a:r>
            </a:p>
            <a:p>
              <a:pPr defTabSz="476250"/>
              <a:r>
                <a:rPr lang="en-US" altLang="zh-CN" sz="2800" dirty="0">
                  <a:latin typeface="Times New Roman" panose="02020603050405020304" pitchFamily="18" charset="0"/>
                </a:rPr>
                <a:t>d	d	d	d</a:t>
              </a:r>
              <a:endParaRPr lang="en-US" altLang="zh-CN" sz="2800" baseline="-25000" dirty="0">
                <a:latin typeface="Times New Roman" panose="02020603050405020304" pitchFamily="18" charset="0"/>
              </a:endParaRPr>
            </a:p>
          </p:txBody>
        </p:sp>
        <p:sp>
          <p:nvSpPr>
            <p:cNvPr id="85018" name="Text Box 16"/>
            <p:cNvSpPr txBox="1"/>
            <p:nvPr/>
          </p:nvSpPr>
          <p:spPr>
            <a:xfrm>
              <a:off x="483" y="1954"/>
              <a:ext cx="228" cy="2210"/>
            </a:xfrm>
            <a:prstGeom prst="rect">
              <a:avLst/>
            </a:prstGeom>
            <a:noFill/>
            <a:ln w="19050">
              <a:noFill/>
            </a:ln>
          </p:spPr>
          <p:txBody>
            <a:bodyPr wrap="none">
              <a:spAutoFit/>
            </a:bodyPr>
            <a:lstStyle/>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1</a:t>
              </a:r>
            </a:p>
            <a:p>
              <a:pPr algn="ctr" defTabSz="666750"/>
              <a:r>
                <a:rPr lang="en-US" altLang="zh-CN" sz="2800" dirty="0">
                  <a:latin typeface="Times New Roman" panose="02020603050405020304" pitchFamily="18" charset="0"/>
                </a:rPr>
                <a:t>1</a:t>
              </a:r>
            </a:p>
            <a:p>
              <a:pPr algn="ctr" defTabSz="666750"/>
              <a:r>
                <a:rPr lang="en-US" altLang="zh-CN" sz="2800" dirty="0">
                  <a:latin typeface="Times New Roman" panose="02020603050405020304" pitchFamily="18" charset="0"/>
                </a:rPr>
                <a:t>1</a:t>
              </a:r>
            </a:p>
            <a:p>
              <a:pPr algn="ctr" defTabSz="666750"/>
              <a:r>
                <a:rPr lang="en-US" altLang="zh-CN" sz="28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5019" name="Line 17"/>
            <p:cNvSpPr/>
            <p:nvPr/>
          </p:nvSpPr>
          <p:spPr>
            <a:xfrm>
              <a:off x="4747" y="1318"/>
              <a:ext cx="0" cy="2883"/>
            </a:xfrm>
            <a:prstGeom prst="line">
              <a:avLst/>
            </a:prstGeom>
            <a:ln w="19050" cap="flat" cmpd="sng">
              <a:solidFill>
                <a:schemeClr val="tx1"/>
              </a:solidFill>
              <a:prstDash val="solid"/>
              <a:headEnd type="none" w="med" len="med"/>
              <a:tailEnd type="none" w="sm" len="lg"/>
            </a:ln>
          </p:spPr>
        </p:sp>
        <p:sp>
          <p:nvSpPr>
            <p:cNvPr id="85020" name="Rectangle 18"/>
            <p:cNvSpPr/>
            <p:nvPr/>
          </p:nvSpPr>
          <p:spPr>
            <a:xfrm>
              <a:off x="4865" y="1349"/>
              <a:ext cx="620" cy="596"/>
            </a:xfrm>
            <a:prstGeom prst="rect">
              <a:avLst/>
            </a:prstGeom>
            <a:noFill/>
            <a:ln w="19050">
              <a:noFill/>
            </a:ln>
          </p:spPr>
          <p:txBody>
            <a:bodyPr wrap="none">
              <a:spAutoFit/>
            </a:bodyPr>
            <a:lstStyle/>
            <a:p>
              <a:pPr algn="ctr"/>
              <a:r>
                <a:rPr lang="zh-CN" altLang="en-US" sz="2800" dirty="0">
                  <a:latin typeface="Times New Roman" panose="02020603050405020304" pitchFamily="18" charset="0"/>
                </a:rPr>
                <a:t>输 出</a:t>
              </a:r>
            </a:p>
            <a:p>
              <a:pPr algn="ctr"/>
              <a:r>
                <a:rPr lang="en-US" altLang="zh-CN" sz="2800" dirty="0">
                  <a:latin typeface="Times New Roman" panose="02020603050405020304" pitchFamily="18" charset="0"/>
                </a:rPr>
                <a:t>Z</a:t>
              </a:r>
            </a:p>
          </p:txBody>
        </p:sp>
        <p:sp>
          <p:nvSpPr>
            <p:cNvPr id="85021" name="Text Box 19"/>
            <p:cNvSpPr txBox="1"/>
            <p:nvPr/>
          </p:nvSpPr>
          <p:spPr>
            <a:xfrm>
              <a:off x="5067" y="1954"/>
              <a:ext cx="228" cy="2210"/>
            </a:xfrm>
            <a:prstGeom prst="rect">
              <a:avLst/>
            </a:prstGeom>
            <a:noFill/>
            <a:ln w="19050">
              <a:noFill/>
            </a:ln>
          </p:spPr>
          <p:txBody>
            <a:bodyPr wrap="none">
              <a:spAutoFit/>
            </a:bodyPr>
            <a:lstStyle/>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d</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1</a:t>
              </a:r>
            </a:p>
            <a:p>
              <a:pPr algn="ctr" defTabSz="666750"/>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grpSp>
      <p:grpSp>
        <p:nvGrpSpPr>
          <p:cNvPr id="3" name="Group 20"/>
          <p:cNvGrpSpPr/>
          <p:nvPr/>
        </p:nvGrpSpPr>
        <p:grpSpPr>
          <a:xfrm>
            <a:off x="5249863" y="469900"/>
            <a:ext cx="3581400" cy="1474788"/>
            <a:chOff x="1692" y="1749"/>
            <a:chExt cx="2256" cy="929"/>
          </a:xfrm>
        </p:grpSpPr>
        <p:sp>
          <p:nvSpPr>
            <p:cNvPr id="84997" name="Line 21"/>
            <p:cNvSpPr/>
            <p:nvPr/>
          </p:nvSpPr>
          <p:spPr>
            <a:xfrm>
              <a:off x="1692" y="1788"/>
              <a:ext cx="2256" cy="0"/>
            </a:xfrm>
            <a:prstGeom prst="line">
              <a:avLst/>
            </a:prstGeom>
            <a:ln w="38100" cap="flat" cmpd="sng">
              <a:solidFill>
                <a:schemeClr val="tx1"/>
              </a:solidFill>
              <a:prstDash val="solid"/>
              <a:headEnd type="none" w="med" len="med"/>
              <a:tailEnd type="none" w="sm" len="lg"/>
            </a:ln>
          </p:spPr>
        </p:sp>
        <p:sp>
          <p:nvSpPr>
            <p:cNvPr id="84998" name="Line 22"/>
            <p:cNvSpPr/>
            <p:nvPr/>
          </p:nvSpPr>
          <p:spPr>
            <a:xfrm>
              <a:off x="1692" y="2678"/>
              <a:ext cx="2256" cy="0"/>
            </a:xfrm>
            <a:prstGeom prst="line">
              <a:avLst/>
            </a:prstGeom>
            <a:ln w="38100" cap="flat" cmpd="sng">
              <a:solidFill>
                <a:schemeClr val="tx1"/>
              </a:solidFill>
              <a:prstDash val="solid"/>
              <a:headEnd type="none" w="med" len="med"/>
              <a:tailEnd type="none" w="sm" len="lg"/>
            </a:ln>
          </p:spPr>
        </p:sp>
        <p:sp>
          <p:nvSpPr>
            <p:cNvPr id="84999" name="Line 23"/>
            <p:cNvSpPr/>
            <p:nvPr/>
          </p:nvSpPr>
          <p:spPr>
            <a:xfrm>
              <a:off x="1692" y="1976"/>
              <a:ext cx="2256" cy="0"/>
            </a:xfrm>
            <a:prstGeom prst="line">
              <a:avLst/>
            </a:prstGeom>
            <a:ln w="19050" cap="flat" cmpd="sng">
              <a:solidFill>
                <a:schemeClr val="tx1"/>
              </a:solidFill>
              <a:prstDash val="solid"/>
              <a:headEnd type="none" w="med" len="med"/>
              <a:tailEnd type="none" w="sm" len="lg"/>
            </a:ln>
          </p:spPr>
        </p:sp>
        <p:sp>
          <p:nvSpPr>
            <p:cNvPr id="85000" name="Line 24"/>
            <p:cNvSpPr/>
            <p:nvPr/>
          </p:nvSpPr>
          <p:spPr>
            <a:xfrm>
              <a:off x="2820" y="1788"/>
              <a:ext cx="0" cy="890"/>
            </a:xfrm>
            <a:prstGeom prst="line">
              <a:avLst/>
            </a:prstGeom>
            <a:ln w="19050" cap="flat" cmpd="sng">
              <a:solidFill>
                <a:schemeClr val="tx1"/>
              </a:solidFill>
              <a:prstDash val="solid"/>
              <a:headEnd type="none" w="med" len="med"/>
              <a:tailEnd type="none" w="sm" len="lg"/>
            </a:ln>
          </p:spPr>
        </p:sp>
        <p:sp>
          <p:nvSpPr>
            <p:cNvPr id="85001" name="Text Box 25"/>
            <p:cNvSpPr txBox="1"/>
            <p:nvPr/>
          </p:nvSpPr>
          <p:spPr>
            <a:xfrm>
              <a:off x="1887" y="1749"/>
              <a:ext cx="861" cy="250"/>
            </a:xfrm>
            <a:prstGeom prst="rect">
              <a:avLst/>
            </a:prstGeom>
            <a:noFill/>
            <a:ln w="19050">
              <a:noFill/>
            </a:ln>
          </p:spPr>
          <p:txBody>
            <a:bodyPr wrap="none">
              <a:spAutoFit/>
            </a:bodyPr>
            <a:lstStyle/>
            <a:p>
              <a:r>
                <a:rPr lang="en-US" altLang="zh-CN" sz="2000" dirty="0">
                  <a:latin typeface="Times New Roman" panose="02020603050405020304" pitchFamily="18" charset="0"/>
                </a:rPr>
                <a:t>Q       </a:t>
              </a:r>
              <a:r>
                <a:rPr lang="en-US" altLang="zh-CN" sz="2000" dirty="0">
                  <a:latin typeface="Times New Roman" panose="02020603050405020304" pitchFamily="18" charset="0"/>
                  <a:sym typeface="Monotype Sorts" pitchFamily="2" charset="2"/>
                </a:rPr>
                <a:t>Q</a:t>
              </a:r>
              <a:r>
                <a:rPr lang="en-US" altLang="zh-CN" sz="2000" baseline="30000" dirty="0">
                  <a:latin typeface="Times New Roman" panose="02020603050405020304" pitchFamily="18" charset="0"/>
                  <a:sym typeface="Monotype Sorts" pitchFamily="2" charset="2"/>
                </a:rPr>
                <a:t>(n+1)</a:t>
              </a:r>
              <a:endParaRPr lang="en-US" altLang="zh-CN" sz="2000" dirty="0">
                <a:latin typeface="Times New Roman" panose="02020603050405020304" pitchFamily="18" charset="0"/>
              </a:endParaRPr>
            </a:p>
          </p:txBody>
        </p:sp>
        <p:sp>
          <p:nvSpPr>
            <p:cNvPr id="85002" name="Text Box 26"/>
            <p:cNvSpPr txBox="1"/>
            <p:nvPr/>
          </p:nvSpPr>
          <p:spPr>
            <a:xfrm>
              <a:off x="3037" y="1757"/>
              <a:ext cx="652" cy="250"/>
            </a:xfrm>
            <a:prstGeom prst="rect">
              <a:avLst/>
            </a:prstGeom>
            <a:noFill/>
            <a:ln w="19050">
              <a:noFill/>
            </a:ln>
          </p:spPr>
          <p:txBody>
            <a:bodyPr wrap="none">
              <a:spAutoFit/>
            </a:bodyPr>
            <a:lstStyle/>
            <a:p>
              <a:pPr defTabSz="666750"/>
              <a:r>
                <a:rPr lang="en-US" altLang="zh-CN" sz="2000" dirty="0">
                  <a:latin typeface="Times New Roman" panose="02020603050405020304" pitchFamily="18" charset="0"/>
                </a:rPr>
                <a:t>J	K</a:t>
              </a:r>
            </a:p>
          </p:txBody>
        </p:sp>
        <p:sp>
          <p:nvSpPr>
            <p:cNvPr id="85003" name="Text Box 27"/>
            <p:cNvSpPr txBox="1"/>
            <p:nvPr/>
          </p:nvSpPr>
          <p:spPr>
            <a:xfrm>
              <a:off x="3050" y="2063"/>
              <a:ext cx="616" cy="594"/>
            </a:xfrm>
            <a:prstGeom prst="rect">
              <a:avLst/>
            </a:prstGeom>
            <a:noFill/>
            <a:ln w="19050">
              <a:noFill/>
            </a:ln>
          </p:spPr>
          <p:txBody>
            <a:bodyPr wrap="none">
              <a:spAutoFit/>
            </a:bodyPr>
            <a:lstStyle/>
            <a:p>
              <a:pPr defTabSz="666750">
                <a:lnSpc>
                  <a:spcPct val="70000"/>
                </a:lnSpc>
              </a:pPr>
              <a:r>
                <a:rPr lang="en-US" altLang="zh-CN" sz="2000" dirty="0">
                  <a:latin typeface="Times New Roman" panose="02020603050405020304" pitchFamily="18" charset="0"/>
                </a:rPr>
                <a:t>0	d</a:t>
              </a:r>
            </a:p>
            <a:p>
              <a:pPr defTabSz="666750">
                <a:lnSpc>
                  <a:spcPct val="70000"/>
                </a:lnSpc>
              </a:pPr>
              <a:r>
                <a:rPr lang="en-US" altLang="zh-CN" sz="2000" dirty="0">
                  <a:latin typeface="Times New Roman" panose="02020603050405020304" pitchFamily="18" charset="0"/>
                </a:rPr>
                <a:t>1	d</a:t>
              </a:r>
            </a:p>
            <a:p>
              <a:pPr defTabSz="666750">
                <a:lnSpc>
                  <a:spcPct val="70000"/>
                </a:lnSpc>
              </a:pPr>
              <a:r>
                <a:rPr lang="en-US" altLang="zh-CN" sz="2000" dirty="0">
                  <a:latin typeface="Times New Roman" panose="02020603050405020304" pitchFamily="18" charset="0"/>
                </a:rPr>
                <a:t>d	1</a:t>
              </a:r>
            </a:p>
            <a:p>
              <a:pPr defTabSz="666750">
                <a:lnSpc>
                  <a:spcPct val="70000"/>
                </a:lnSpc>
              </a:pPr>
              <a:r>
                <a:rPr lang="en-US" altLang="zh-CN" sz="2000" dirty="0">
                  <a:latin typeface="Times New Roman" panose="02020603050405020304" pitchFamily="18" charset="0"/>
                </a:rPr>
                <a:t>d	0</a:t>
              </a:r>
            </a:p>
          </p:txBody>
        </p:sp>
        <p:sp>
          <p:nvSpPr>
            <p:cNvPr id="85004" name="Text Box 28"/>
            <p:cNvSpPr txBox="1"/>
            <p:nvPr/>
          </p:nvSpPr>
          <p:spPr>
            <a:xfrm>
              <a:off x="1910" y="2053"/>
              <a:ext cx="616" cy="594"/>
            </a:xfrm>
            <a:prstGeom prst="rect">
              <a:avLst/>
            </a:prstGeom>
            <a:noFill/>
            <a:ln w="19050">
              <a:noFill/>
            </a:ln>
          </p:spPr>
          <p:txBody>
            <a:bodyPr wrap="none">
              <a:spAutoFit/>
            </a:bodyPr>
            <a:lstStyle/>
            <a:p>
              <a:pPr defTabSz="666750">
                <a:lnSpc>
                  <a:spcPct val="70000"/>
                </a:lnSpc>
              </a:pPr>
              <a:r>
                <a:rPr lang="en-US" altLang="zh-CN" sz="2000" dirty="0">
                  <a:latin typeface="Times New Roman" panose="02020603050405020304" pitchFamily="18" charset="0"/>
                </a:rPr>
                <a:t>0	0</a:t>
              </a:r>
            </a:p>
            <a:p>
              <a:pPr defTabSz="666750">
                <a:lnSpc>
                  <a:spcPct val="70000"/>
                </a:lnSpc>
              </a:pPr>
              <a:r>
                <a:rPr lang="en-US" altLang="zh-CN" sz="2000" dirty="0">
                  <a:latin typeface="Times New Roman" panose="02020603050405020304" pitchFamily="18" charset="0"/>
                </a:rPr>
                <a:t>0	1</a:t>
              </a:r>
            </a:p>
            <a:p>
              <a:pPr defTabSz="666750">
                <a:lnSpc>
                  <a:spcPct val="70000"/>
                </a:lnSpc>
              </a:pPr>
              <a:r>
                <a:rPr lang="en-US" altLang="zh-CN" sz="2000" dirty="0">
                  <a:latin typeface="Times New Roman" panose="02020603050405020304" pitchFamily="18" charset="0"/>
                </a:rPr>
                <a:t>1	0</a:t>
              </a:r>
            </a:p>
            <a:p>
              <a:pPr defTabSz="666750">
                <a:lnSpc>
                  <a:spcPct val="70000"/>
                </a:lnSpc>
              </a:pPr>
              <a:r>
                <a:rPr lang="en-US" altLang="zh-CN" sz="2000" dirty="0">
                  <a:latin typeface="Times New Roman" panose="02020603050405020304" pitchFamily="18" charset="0"/>
                </a:rPr>
                <a:t>1	1</a:t>
              </a:r>
            </a:p>
          </p:txBody>
        </p:sp>
      </p:grpSp>
      <p:sp>
        <p:nvSpPr>
          <p:cNvPr id="289821" name="Text Box 29"/>
          <p:cNvSpPr txBox="1"/>
          <p:nvPr/>
        </p:nvSpPr>
        <p:spPr>
          <a:xfrm>
            <a:off x="0" y="479425"/>
            <a:ext cx="7334250" cy="1331913"/>
          </a:xfrm>
          <a:prstGeom prst="rect">
            <a:avLst/>
          </a:prstGeom>
          <a:noFill/>
          <a:ln w="19050">
            <a:noFill/>
          </a:ln>
        </p:spPr>
        <p:txBody>
          <a:bodyPr>
            <a:spAutoFit/>
          </a:bodyPr>
          <a:lstStyle/>
          <a:p>
            <a:pPr marL="381000" indent="-381000">
              <a:lnSpc>
                <a:spcPct val="120000"/>
              </a:lnSpc>
              <a:spcBef>
                <a:spcPct val="50000"/>
              </a:spcBef>
            </a:pPr>
            <a:r>
              <a:rPr lang="zh-CN" altLang="en-US" sz="2800" dirty="0">
                <a:latin typeface="Times New Roman" panose="02020603050405020304" pitchFamily="18" charset="0"/>
                <a:sym typeface="Monotype Sorts" pitchFamily="2" charset="2"/>
              </a:rPr>
              <a:t>确定激励函数和输出函数表达式：</a:t>
            </a:r>
          </a:p>
          <a:p>
            <a:pPr marL="381000" indent="-381000">
              <a:lnSpc>
                <a:spcPct val="120000"/>
              </a:lnSpc>
              <a:spcBef>
                <a:spcPct val="50000"/>
              </a:spcBef>
            </a:pPr>
            <a:r>
              <a:rPr lang="zh-CN" altLang="en-US" sz="2800" dirty="0">
                <a:latin typeface="Times New Roman" panose="02020603050405020304" pitchFamily="18" charset="0"/>
                <a:sym typeface="Monotype Sorts" pitchFamily="2" charset="2"/>
              </a:rPr>
              <a:t>	选用</a:t>
            </a:r>
            <a:r>
              <a:rPr lang="en-US" altLang="zh-CN" sz="2800" dirty="0">
                <a:latin typeface="Times New Roman" panose="02020603050405020304" pitchFamily="18" charset="0"/>
                <a:sym typeface="Monotype Sorts" pitchFamily="2" charset="2"/>
              </a:rPr>
              <a:t>J</a:t>
            </a:r>
            <a:r>
              <a:rPr lang="zh-CN" altLang="en-US" sz="2800" dirty="0">
                <a:latin typeface="Times New Roman" panose="02020603050405020304" pitchFamily="18" charset="0"/>
                <a:sym typeface="Monotype Sorts" pitchFamily="2" charset="2"/>
              </a:rPr>
              <a:t>－</a:t>
            </a:r>
            <a:r>
              <a:rPr lang="en-US" altLang="zh-CN" sz="2800" dirty="0">
                <a:latin typeface="Times New Roman" panose="02020603050405020304" pitchFamily="18" charset="0"/>
                <a:sym typeface="Monotype Sorts" pitchFamily="2" charset="2"/>
              </a:rPr>
              <a:t>K</a:t>
            </a:r>
            <a:r>
              <a:rPr lang="zh-CN" altLang="zh-CN" sz="2800" dirty="0">
                <a:latin typeface="Times New Roman" panose="02020603050405020304" pitchFamily="18" charset="0"/>
                <a:sym typeface="Monotype Sorts" pitchFamily="2" charset="2"/>
              </a:rPr>
              <a:t>触发器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9821"/>
                                        </p:tgtEl>
                                        <p:attrNameLst>
                                          <p:attrName>style.visibility</p:attrName>
                                        </p:attrNameLst>
                                      </p:cBhvr>
                                      <p:to>
                                        <p:strVal val="visible"/>
                                      </p:to>
                                    </p:set>
                                    <p:animEffect transition="in" filter="wipe(left)">
                                      <p:cBhvr>
                                        <p:cTn id="7" dur="500"/>
                                        <p:tgtEl>
                                          <p:spTgt spid="2898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821"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953000" y="-95250"/>
            <a:ext cx="3709988" cy="1690688"/>
            <a:chOff x="264" y="828"/>
            <a:chExt cx="2337" cy="1065"/>
          </a:xfrm>
        </p:grpSpPr>
        <p:sp>
          <p:nvSpPr>
            <p:cNvPr id="86160" name="Text Box 3"/>
            <p:cNvSpPr txBox="1"/>
            <p:nvPr/>
          </p:nvSpPr>
          <p:spPr>
            <a:xfrm>
              <a:off x="507" y="828"/>
              <a:ext cx="521" cy="327"/>
            </a:xfrm>
            <a:prstGeom prst="rect">
              <a:avLst/>
            </a:prstGeom>
            <a:noFill/>
            <a:ln w="19050">
              <a:noFill/>
            </a:ln>
          </p:spPr>
          <p:txBody>
            <a:bodyPr>
              <a:spAutoFit/>
            </a:bodyPr>
            <a:lstStyle/>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p>
          </p:txBody>
        </p:sp>
        <p:sp>
          <p:nvSpPr>
            <p:cNvPr id="86161" name="Text Box 4"/>
            <p:cNvSpPr txBox="1"/>
            <p:nvPr/>
          </p:nvSpPr>
          <p:spPr>
            <a:xfrm>
              <a:off x="842" y="121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6162" name="Text Box 5"/>
            <p:cNvSpPr txBox="1"/>
            <p:nvPr/>
          </p:nvSpPr>
          <p:spPr>
            <a:xfrm>
              <a:off x="1346" y="121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163" name="Text Box 6"/>
            <p:cNvSpPr txBox="1"/>
            <p:nvPr/>
          </p:nvSpPr>
          <p:spPr>
            <a:xfrm>
              <a:off x="1337" y="156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164" name="Text Box 7"/>
            <p:cNvSpPr txBox="1"/>
            <p:nvPr/>
          </p:nvSpPr>
          <p:spPr>
            <a:xfrm>
              <a:off x="842" y="156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6165" name="Text Box 8"/>
            <p:cNvSpPr txBox="1"/>
            <p:nvPr/>
          </p:nvSpPr>
          <p:spPr>
            <a:xfrm>
              <a:off x="820" y="900"/>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86166" name="Text Box 9"/>
            <p:cNvSpPr txBox="1"/>
            <p:nvPr/>
          </p:nvSpPr>
          <p:spPr>
            <a:xfrm>
              <a:off x="1322" y="900"/>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86167" name="Text Box 10"/>
            <p:cNvSpPr txBox="1"/>
            <p:nvPr/>
          </p:nvSpPr>
          <p:spPr>
            <a:xfrm>
              <a:off x="458" y="121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6168" name="Text Box 11"/>
            <p:cNvSpPr txBox="1"/>
            <p:nvPr/>
          </p:nvSpPr>
          <p:spPr>
            <a:xfrm>
              <a:off x="477" y="156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6169" name="Line 12"/>
            <p:cNvSpPr/>
            <p:nvPr/>
          </p:nvSpPr>
          <p:spPr>
            <a:xfrm>
              <a:off x="365" y="948"/>
              <a:ext cx="342" cy="233"/>
            </a:xfrm>
            <a:prstGeom prst="line">
              <a:avLst/>
            </a:prstGeom>
            <a:ln w="38100" cap="flat" cmpd="sng">
              <a:solidFill>
                <a:srgbClr val="3333FF"/>
              </a:solidFill>
              <a:prstDash val="solid"/>
              <a:headEnd type="none" w="med" len="med"/>
              <a:tailEnd type="none" w="sm" len="lg"/>
            </a:ln>
          </p:spPr>
        </p:sp>
        <p:sp>
          <p:nvSpPr>
            <p:cNvPr id="86170" name="Text Box 13"/>
            <p:cNvSpPr txBox="1"/>
            <p:nvPr/>
          </p:nvSpPr>
          <p:spPr>
            <a:xfrm>
              <a:off x="328" y="957"/>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grpSp>
          <p:nvGrpSpPr>
            <p:cNvPr id="86171" name="Group 14"/>
            <p:cNvGrpSpPr/>
            <p:nvPr/>
          </p:nvGrpSpPr>
          <p:grpSpPr>
            <a:xfrm>
              <a:off x="697" y="1174"/>
              <a:ext cx="1904" cy="648"/>
              <a:chOff x="2652" y="1704"/>
              <a:chExt cx="2400" cy="1200"/>
            </a:xfrm>
          </p:grpSpPr>
          <p:grpSp>
            <p:nvGrpSpPr>
              <p:cNvPr id="86180" name="Group 15"/>
              <p:cNvGrpSpPr/>
              <p:nvPr/>
            </p:nvGrpSpPr>
            <p:grpSpPr>
              <a:xfrm>
                <a:off x="2652" y="1704"/>
                <a:ext cx="1200" cy="1200"/>
                <a:chOff x="1272" y="1896"/>
                <a:chExt cx="1200" cy="1200"/>
              </a:xfrm>
            </p:grpSpPr>
            <p:sp>
              <p:nvSpPr>
                <p:cNvPr id="86186" name="Rectangle 16"/>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187" name="Rectangle 17"/>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188" name="Rectangle 18"/>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189" name="Rectangle 19"/>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86181" name="Group 20"/>
              <p:cNvGrpSpPr/>
              <p:nvPr/>
            </p:nvGrpSpPr>
            <p:grpSpPr>
              <a:xfrm>
                <a:off x="3852" y="1704"/>
                <a:ext cx="1200" cy="1200"/>
                <a:chOff x="1272" y="1896"/>
                <a:chExt cx="1200" cy="1200"/>
              </a:xfrm>
            </p:grpSpPr>
            <p:sp>
              <p:nvSpPr>
                <p:cNvPr id="86182" name="Rectangle 21"/>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183" name="Rectangle 22"/>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184" name="Rectangle 23"/>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185" name="Rectangle 24"/>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sp>
          <p:nvSpPr>
            <p:cNvPr id="86172" name="Text Box 25"/>
            <p:cNvSpPr txBox="1"/>
            <p:nvPr/>
          </p:nvSpPr>
          <p:spPr>
            <a:xfrm>
              <a:off x="1751" y="907"/>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86173" name="Text Box 26"/>
            <p:cNvSpPr txBox="1"/>
            <p:nvPr/>
          </p:nvSpPr>
          <p:spPr>
            <a:xfrm>
              <a:off x="2186" y="907"/>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86174" name="Text Box 27"/>
            <p:cNvSpPr txBox="1"/>
            <p:nvPr/>
          </p:nvSpPr>
          <p:spPr>
            <a:xfrm>
              <a:off x="1812" y="1209"/>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175" name="Text Box 28"/>
            <p:cNvSpPr txBox="1"/>
            <p:nvPr/>
          </p:nvSpPr>
          <p:spPr>
            <a:xfrm>
              <a:off x="2242" y="1209"/>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6176" name="Text Box 29"/>
            <p:cNvSpPr txBox="1"/>
            <p:nvPr/>
          </p:nvSpPr>
          <p:spPr>
            <a:xfrm>
              <a:off x="1821" y="156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177" name="Text Box 30"/>
            <p:cNvSpPr txBox="1"/>
            <p:nvPr/>
          </p:nvSpPr>
          <p:spPr>
            <a:xfrm>
              <a:off x="2270" y="1559"/>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6178" name="Text Box 31"/>
            <p:cNvSpPr txBox="1"/>
            <p:nvPr/>
          </p:nvSpPr>
          <p:spPr>
            <a:xfrm>
              <a:off x="264" y="1372"/>
              <a:ext cx="279" cy="327"/>
            </a:xfrm>
            <a:prstGeom prst="rect">
              <a:avLst/>
            </a:prstGeom>
            <a:noFill/>
            <a:ln w="19050">
              <a:noFill/>
            </a:ln>
          </p:spPr>
          <p:txBody>
            <a:bodyPr wrap="none">
              <a:spAutoFit/>
            </a:bodyPr>
            <a:lstStyle/>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p>
          </p:txBody>
        </p:sp>
        <p:sp>
          <p:nvSpPr>
            <p:cNvPr id="86179" name="AutoShape 32"/>
            <p:cNvSpPr/>
            <p:nvPr/>
          </p:nvSpPr>
          <p:spPr>
            <a:xfrm>
              <a:off x="1790" y="1641"/>
              <a:ext cx="752" cy="155"/>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6" name="Group 33"/>
          <p:cNvGrpSpPr/>
          <p:nvPr/>
        </p:nvGrpSpPr>
        <p:grpSpPr>
          <a:xfrm>
            <a:off x="4957763" y="1301750"/>
            <a:ext cx="3709987" cy="1690688"/>
            <a:chOff x="3115" y="832"/>
            <a:chExt cx="2337" cy="1065"/>
          </a:xfrm>
        </p:grpSpPr>
        <p:sp>
          <p:nvSpPr>
            <p:cNvPr id="86130" name="Text Box 34"/>
            <p:cNvSpPr txBox="1"/>
            <p:nvPr/>
          </p:nvSpPr>
          <p:spPr>
            <a:xfrm>
              <a:off x="3358" y="832"/>
              <a:ext cx="521" cy="327"/>
            </a:xfrm>
            <a:prstGeom prst="rect">
              <a:avLst/>
            </a:prstGeom>
            <a:noFill/>
            <a:ln w="19050">
              <a:noFill/>
            </a:ln>
          </p:spPr>
          <p:txBody>
            <a:bodyPr>
              <a:spAutoFit/>
            </a:bodyPr>
            <a:lstStyle/>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p>
          </p:txBody>
        </p:sp>
        <p:sp>
          <p:nvSpPr>
            <p:cNvPr id="86131" name="Text Box 35"/>
            <p:cNvSpPr txBox="1"/>
            <p:nvPr/>
          </p:nvSpPr>
          <p:spPr>
            <a:xfrm>
              <a:off x="3693" y="122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132" name="Text Box 36"/>
            <p:cNvSpPr txBox="1"/>
            <p:nvPr/>
          </p:nvSpPr>
          <p:spPr>
            <a:xfrm>
              <a:off x="4197" y="122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6133" name="Text Box 37"/>
            <p:cNvSpPr txBox="1"/>
            <p:nvPr/>
          </p:nvSpPr>
          <p:spPr>
            <a:xfrm>
              <a:off x="4188" y="157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134" name="Text Box 38"/>
            <p:cNvSpPr txBox="1"/>
            <p:nvPr/>
          </p:nvSpPr>
          <p:spPr>
            <a:xfrm>
              <a:off x="3693" y="157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135" name="Text Box 39"/>
            <p:cNvSpPr txBox="1"/>
            <p:nvPr/>
          </p:nvSpPr>
          <p:spPr>
            <a:xfrm>
              <a:off x="3671" y="904"/>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86136" name="Text Box 40"/>
            <p:cNvSpPr txBox="1"/>
            <p:nvPr/>
          </p:nvSpPr>
          <p:spPr>
            <a:xfrm>
              <a:off x="4173" y="904"/>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86137" name="Text Box 41"/>
            <p:cNvSpPr txBox="1"/>
            <p:nvPr/>
          </p:nvSpPr>
          <p:spPr>
            <a:xfrm>
              <a:off x="3309" y="122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6138" name="Text Box 42"/>
            <p:cNvSpPr txBox="1"/>
            <p:nvPr/>
          </p:nvSpPr>
          <p:spPr>
            <a:xfrm>
              <a:off x="3328" y="1564"/>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6139" name="Line 43"/>
            <p:cNvSpPr/>
            <p:nvPr/>
          </p:nvSpPr>
          <p:spPr>
            <a:xfrm>
              <a:off x="3216" y="952"/>
              <a:ext cx="342" cy="233"/>
            </a:xfrm>
            <a:prstGeom prst="line">
              <a:avLst/>
            </a:prstGeom>
            <a:ln w="38100" cap="flat" cmpd="sng">
              <a:solidFill>
                <a:srgbClr val="3333FF"/>
              </a:solidFill>
              <a:prstDash val="solid"/>
              <a:headEnd type="none" w="med" len="med"/>
              <a:tailEnd type="none" w="sm" len="lg"/>
            </a:ln>
          </p:spPr>
        </p:sp>
        <p:sp>
          <p:nvSpPr>
            <p:cNvPr id="86140" name="Text Box 44"/>
            <p:cNvSpPr txBox="1"/>
            <p:nvPr/>
          </p:nvSpPr>
          <p:spPr>
            <a:xfrm>
              <a:off x="3179" y="961"/>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grpSp>
          <p:nvGrpSpPr>
            <p:cNvPr id="86141" name="Group 45"/>
            <p:cNvGrpSpPr/>
            <p:nvPr/>
          </p:nvGrpSpPr>
          <p:grpSpPr>
            <a:xfrm>
              <a:off x="3548" y="1178"/>
              <a:ext cx="1904" cy="648"/>
              <a:chOff x="2652" y="1704"/>
              <a:chExt cx="2400" cy="1200"/>
            </a:xfrm>
          </p:grpSpPr>
          <p:grpSp>
            <p:nvGrpSpPr>
              <p:cNvPr id="86150" name="Group 46"/>
              <p:cNvGrpSpPr/>
              <p:nvPr/>
            </p:nvGrpSpPr>
            <p:grpSpPr>
              <a:xfrm>
                <a:off x="2652" y="1704"/>
                <a:ext cx="1200" cy="1200"/>
                <a:chOff x="1272" y="1896"/>
                <a:chExt cx="1200" cy="1200"/>
              </a:xfrm>
            </p:grpSpPr>
            <p:sp>
              <p:nvSpPr>
                <p:cNvPr id="86156" name="Rectangle 4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157" name="Rectangle 4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158" name="Rectangle 4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159" name="Rectangle 5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86151" name="Group 51"/>
              <p:cNvGrpSpPr/>
              <p:nvPr/>
            </p:nvGrpSpPr>
            <p:grpSpPr>
              <a:xfrm>
                <a:off x="3852" y="1704"/>
                <a:ext cx="1200" cy="1200"/>
                <a:chOff x="1272" y="1896"/>
                <a:chExt cx="1200" cy="1200"/>
              </a:xfrm>
            </p:grpSpPr>
            <p:sp>
              <p:nvSpPr>
                <p:cNvPr id="86152" name="Rectangle 5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153" name="Rectangle 5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154" name="Rectangle 5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155" name="Rectangle 5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sp>
          <p:nvSpPr>
            <p:cNvPr id="86142" name="Text Box 56"/>
            <p:cNvSpPr txBox="1"/>
            <p:nvPr/>
          </p:nvSpPr>
          <p:spPr>
            <a:xfrm>
              <a:off x="4602" y="911"/>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86143" name="Text Box 57"/>
            <p:cNvSpPr txBox="1"/>
            <p:nvPr/>
          </p:nvSpPr>
          <p:spPr>
            <a:xfrm>
              <a:off x="5037" y="911"/>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86144" name="Text Box 58"/>
            <p:cNvSpPr txBox="1"/>
            <p:nvPr/>
          </p:nvSpPr>
          <p:spPr>
            <a:xfrm>
              <a:off x="4663" y="1213"/>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6145" name="Text Box 59"/>
            <p:cNvSpPr txBox="1"/>
            <p:nvPr/>
          </p:nvSpPr>
          <p:spPr>
            <a:xfrm>
              <a:off x="5093" y="1213"/>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146" name="Text Box 60"/>
            <p:cNvSpPr txBox="1"/>
            <p:nvPr/>
          </p:nvSpPr>
          <p:spPr>
            <a:xfrm>
              <a:off x="4672" y="157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147" name="Text Box 61"/>
            <p:cNvSpPr txBox="1"/>
            <p:nvPr/>
          </p:nvSpPr>
          <p:spPr>
            <a:xfrm>
              <a:off x="5121" y="1563"/>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148" name="Text Box 62"/>
            <p:cNvSpPr txBox="1"/>
            <p:nvPr/>
          </p:nvSpPr>
          <p:spPr>
            <a:xfrm>
              <a:off x="3115" y="1376"/>
              <a:ext cx="354" cy="327"/>
            </a:xfrm>
            <a:prstGeom prst="rect">
              <a:avLst/>
            </a:prstGeom>
            <a:noFill/>
            <a:ln w="19050">
              <a:noFill/>
            </a:ln>
          </p:spPr>
          <p:txBody>
            <a:bodyPr wrap="none">
              <a:spAutoFit/>
            </a:bodyPr>
            <a:lstStyle/>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p>
          </p:txBody>
        </p:sp>
        <p:sp>
          <p:nvSpPr>
            <p:cNvPr id="86149" name="AutoShape 63"/>
            <p:cNvSpPr/>
            <p:nvPr/>
          </p:nvSpPr>
          <p:spPr>
            <a:xfrm>
              <a:off x="3690" y="1261"/>
              <a:ext cx="752" cy="551"/>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10" name="Group 64"/>
          <p:cNvGrpSpPr/>
          <p:nvPr/>
        </p:nvGrpSpPr>
        <p:grpSpPr>
          <a:xfrm>
            <a:off x="4976813" y="2709863"/>
            <a:ext cx="3709987" cy="1690687"/>
            <a:chOff x="3135" y="1707"/>
            <a:chExt cx="2337" cy="1065"/>
          </a:xfrm>
        </p:grpSpPr>
        <p:sp>
          <p:nvSpPr>
            <p:cNvPr id="86100" name="Text Box 65"/>
            <p:cNvSpPr txBox="1"/>
            <p:nvPr/>
          </p:nvSpPr>
          <p:spPr>
            <a:xfrm>
              <a:off x="3378" y="1707"/>
              <a:ext cx="521" cy="327"/>
            </a:xfrm>
            <a:prstGeom prst="rect">
              <a:avLst/>
            </a:prstGeom>
            <a:noFill/>
            <a:ln w="19050">
              <a:noFill/>
            </a:ln>
          </p:spPr>
          <p:txBody>
            <a:bodyPr>
              <a:spAutoFit/>
            </a:bodyPr>
            <a:lstStyle/>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p>
          </p:txBody>
        </p:sp>
        <p:sp>
          <p:nvSpPr>
            <p:cNvPr id="86101" name="Text Box 66"/>
            <p:cNvSpPr txBox="1"/>
            <p:nvPr/>
          </p:nvSpPr>
          <p:spPr>
            <a:xfrm>
              <a:off x="3713" y="2095"/>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6102" name="Text Box 67"/>
            <p:cNvSpPr txBox="1"/>
            <p:nvPr/>
          </p:nvSpPr>
          <p:spPr>
            <a:xfrm>
              <a:off x="4217" y="2095"/>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6103" name="Text Box 68"/>
            <p:cNvSpPr txBox="1"/>
            <p:nvPr/>
          </p:nvSpPr>
          <p:spPr>
            <a:xfrm>
              <a:off x="4208" y="2445"/>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104" name="Text Box 69"/>
            <p:cNvSpPr txBox="1"/>
            <p:nvPr/>
          </p:nvSpPr>
          <p:spPr>
            <a:xfrm>
              <a:off x="3713" y="2445"/>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105" name="Text Box 70"/>
            <p:cNvSpPr txBox="1"/>
            <p:nvPr/>
          </p:nvSpPr>
          <p:spPr>
            <a:xfrm>
              <a:off x="3691" y="1779"/>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86106" name="Text Box 71"/>
            <p:cNvSpPr txBox="1"/>
            <p:nvPr/>
          </p:nvSpPr>
          <p:spPr>
            <a:xfrm>
              <a:off x="4193" y="1779"/>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86107" name="Text Box 72"/>
            <p:cNvSpPr txBox="1"/>
            <p:nvPr/>
          </p:nvSpPr>
          <p:spPr>
            <a:xfrm>
              <a:off x="3329" y="2095"/>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6108" name="Text Box 73"/>
            <p:cNvSpPr txBox="1"/>
            <p:nvPr/>
          </p:nvSpPr>
          <p:spPr>
            <a:xfrm>
              <a:off x="3348" y="2439"/>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6109" name="Line 74"/>
            <p:cNvSpPr/>
            <p:nvPr/>
          </p:nvSpPr>
          <p:spPr>
            <a:xfrm>
              <a:off x="3236" y="1827"/>
              <a:ext cx="342" cy="233"/>
            </a:xfrm>
            <a:prstGeom prst="line">
              <a:avLst/>
            </a:prstGeom>
            <a:ln w="38100" cap="flat" cmpd="sng">
              <a:solidFill>
                <a:srgbClr val="3333FF"/>
              </a:solidFill>
              <a:prstDash val="solid"/>
              <a:headEnd type="none" w="med" len="med"/>
              <a:tailEnd type="none" w="sm" len="lg"/>
            </a:ln>
          </p:spPr>
        </p:sp>
        <p:sp>
          <p:nvSpPr>
            <p:cNvPr id="86110" name="Text Box 75"/>
            <p:cNvSpPr txBox="1"/>
            <p:nvPr/>
          </p:nvSpPr>
          <p:spPr>
            <a:xfrm>
              <a:off x="3199" y="1836"/>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grpSp>
          <p:nvGrpSpPr>
            <p:cNvPr id="86111" name="Group 76"/>
            <p:cNvGrpSpPr/>
            <p:nvPr/>
          </p:nvGrpSpPr>
          <p:grpSpPr>
            <a:xfrm>
              <a:off x="3568" y="2053"/>
              <a:ext cx="1904" cy="719"/>
              <a:chOff x="2652" y="1704"/>
              <a:chExt cx="2400" cy="1200"/>
            </a:xfrm>
          </p:grpSpPr>
          <p:grpSp>
            <p:nvGrpSpPr>
              <p:cNvPr id="86120" name="Group 77"/>
              <p:cNvGrpSpPr/>
              <p:nvPr/>
            </p:nvGrpSpPr>
            <p:grpSpPr>
              <a:xfrm>
                <a:off x="2652" y="1704"/>
                <a:ext cx="1200" cy="1200"/>
                <a:chOff x="1272" y="1896"/>
                <a:chExt cx="1200" cy="1200"/>
              </a:xfrm>
            </p:grpSpPr>
            <p:sp>
              <p:nvSpPr>
                <p:cNvPr id="86126" name="Rectangle 78"/>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127" name="Rectangle 79"/>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128" name="Rectangle 80"/>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129" name="Rectangle 81"/>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86121" name="Group 82"/>
              <p:cNvGrpSpPr/>
              <p:nvPr/>
            </p:nvGrpSpPr>
            <p:grpSpPr>
              <a:xfrm>
                <a:off x="3852" y="1704"/>
                <a:ext cx="1200" cy="1200"/>
                <a:chOff x="1272" y="1896"/>
                <a:chExt cx="1200" cy="1200"/>
              </a:xfrm>
            </p:grpSpPr>
            <p:sp>
              <p:nvSpPr>
                <p:cNvPr id="86122" name="Rectangle 83"/>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123" name="Rectangle 84"/>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124" name="Rectangle 85"/>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125" name="Rectangle 86"/>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sp>
          <p:nvSpPr>
            <p:cNvPr id="86112" name="Text Box 87"/>
            <p:cNvSpPr txBox="1"/>
            <p:nvPr/>
          </p:nvSpPr>
          <p:spPr>
            <a:xfrm>
              <a:off x="4622" y="1786"/>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86113" name="Text Box 88"/>
            <p:cNvSpPr txBox="1"/>
            <p:nvPr/>
          </p:nvSpPr>
          <p:spPr>
            <a:xfrm>
              <a:off x="5057" y="1786"/>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86114" name="Text Box 89"/>
            <p:cNvSpPr txBox="1"/>
            <p:nvPr/>
          </p:nvSpPr>
          <p:spPr>
            <a:xfrm>
              <a:off x="4683" y="208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6115" name="Text Box 90"/>
            <p:cNvSpPr txBox="1"/>
            <p:nvPr/>
          </p:nvSpPr>
          <p:spPr>
            <a:xfrm>
              <a:off x="5113" y="208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6116" name="Text Box 91"/>
            <p:cNvSpPr txBox="1"/>
            <p:nvPr/>
          </p:nvSpPr>
          <p:spPr>
            <a:xfrm>
              <a:off x="4692" y="2445"/>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117" name="Text Box 92"/>
            <p:cNvSpPr txBox="1"/>
            <p:nvPr/>
          </p:nvSpPr>
          <p:spPr>
            <a:xfrm>
              <a:off x="5141" y="243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118" name="Text Box 93"/>
            <p:cNvSpPr txBox="1"/>
            <p:nvPr/>
          </p:nvSpPr>
          <p:spPr>
            <a:xfrm>
              <a:off x="3135" y="2251"/>
              <a:ext cx="279" cy="327"/>
            </a:xfrm>
            <a:prstGeom prst="rect">
              <a:avLst/>
            </a:prstGeom>
            <a:noFill/>
            <a:ln w="19050">
              <a:noFill/>
            </a:ln>
          </p:spPr>
          <p:txBody>
            <a:bodyPr wrap="none">
              <a:spAutoFit/>
            </a:bodyPr>
            <a:lstStyle/>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p>
          </p:txBody>
        </p:sp>
        <p:sp>
          <p:nvSpPr>
            <p:cNvPr id="86119" name="AutoShape 94"/>
            <p:cNvSpPr/>
            <p:nvPr/>
          </p:nvSpPr>
          <p:spPr>
            <a:xfrm>
              <a:off x="5090" y="2148"/>
              <a:ext cx="302" cy="624"/>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14" name="Group 95"/>
          <p:cNvGrpSpPr/>
          <p:nvPr/>
        </p:nvGrpSpPr>
        <p:grpSpPr>
          <a:xfrm>
            <a:off x="5014913" y="4206875"/>
            <a:ext cx="3709987" cy="1690688"/>
            <a:chOff x="3159" y="2650"/>
            <a:chExt cx="2337" cy="1065"/>
          </a:xfrm>
        </p:grpSpPr>
        <p:sp>
          <p:nvSpPr>
            <p:cNvPr id="86071" name="Text Box 96"/>
            <p:cNvSpPr txBox="1"/>
            <p:nvPr/>
          </p:nvSpPr>
          <p:spPr>
            <a:xfrm>
              <a:off x="3402" y="2650"/>
              <a:ext cx="521" cy="327"/>
            </a:xfrm>
            <a:prstGeom prst="rect">
              <a:avLst/>
            </a:prstGeom>
            <a:noFill/>
            <a:ln w="19050">
              <a:noFill/>
            </a:ln>
          </p:spPr>
          <p:txBody>
            <a:bodyPr>
              <a:spAutoFit/>
            </a:bodyPr>
            <a:lstStyle/>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p>
          </p:txBody>
        </p:sp>
        <p:sp>
          <p:nvSpPr>
            <p:cNvPr id="86072" name="Text Box 97"/>
            <p:cNvSpPr txBox="1"/>
            <p:nvPr/>
          </p:nvSpPr>
          <p:spPr>
            <a:xfrm>
              <a:off x="3737" y="303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073" name="Text Box 98"/>
            <p:cNvSpPr txBox="1"/>
            <p:nvPr/>
          </p:nvSpPr>
          <p:spPr>
            <a:xfrm>
              <a:off x="4241" y="303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074" name="Text Box 99"/>
            <p:cNvSpPr txBox="1"/>
            <p:nvPr/>
          </p:nvSpPr>
          <p:spPr>
            <a:xfrm>
              <a:off x="4232" y="338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075" name="Text Box 100"/>
            <p:cNvSpPr txBox="1"/>
            <p:nvPr/>
          </p:nvSpPr>
          <p:spPr>
            <a:xfrm>
              <a:off x="3737" y="338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6076" name="Text Box 101"/>
            <p:cNvSpPr txBox="1"/>
            <p:nvPr/>
          </p:nvSpPr>
          <p:spPr>
            <a:xfrm>
              <a:off x="3715" y="2722"/>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86077" name="Text Box 102"/>
            <p:cNvSpPr txBox="1"/>
            <p:nvPr/>
          </p:nvSpPr>
          <p:spPr>
            <a:xfrm>
              <a:off x="4217" y="2722"/>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86078" name="Text Box 103"/>
            <p:cNvSpPr txBox="1"/>
            <p:nvPr/>
          </p:nvSpPr>
          <p:spPr>
            <a:xfrm>
              <a:off x="3353" y="303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6079" name="Text Box 104"/>
            <p:cNvSpPr txBox="1"/>
            <p:nvPr/>
          </p:nvSpPr>
          <p:spPr>
            <a:xfrm>
              <a:off x="3372" y="3382"/>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6080" name="Line 105"/>
            <p:cNvSpPr/>
            <p:nvPr/>
          </p:nvSpPr>
          <p:spPr>
            <a:xfrm>
              <a:off x="3260" y="2770"/>
              <a:ext cx="342" cy="233"/>
            </a:xfrm>
            <a:prstGeom prst="line">
              <a:avLst/>
            </a:prstGeom>
            <a:ln w="38100" cap="flat" cmpd="sng">
              <a:solidFill>
                <a:srgbClr val="3333FF"/>
              </a:solidFill>
              <a:prstDash val="solid"/>
              <a:headEnd type="none" w="med" len="med"/>
              <a:tailEnd type="none" w="sm" len="lg"/>
            </a:ln>
          </p:spPr>
        </p:sp>
        <p:sp>
          <p:nvSpPr>
            <p:cNvPr id="86081" name="Text Box 106"/>
            <p:cNvSpPr txBox="1"/>
            <p:nvPr/>
          </p:nvSpPr>
          <p:spPr>
            <a:xfrm>
              <a:off x="3223" y="2779"/>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grpSp>
          <p:nvGrpSpPr>
            <p:cNvPr id="86082" name="Group 107"/>
            <p:cNvGrpSpPr/>
            <p:nvPr/>
          </p:nvGrpSpPr>
          <p:grpSpPr>
            <a:xfrm>
              <a:off x="3592" y="2996"/>
              <a:ext cx="952" cy="648"/>
              <a:chOff x="1272" y="1896"/>
              <a:chExt cx="1200" cy="1200"/>
            </a:xfrm>
          </p:grpSpPr>
          <p:sp>
            <p:nvSpPr>
              <p:cNvPr id="86096" name="Rectangle 108"/>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097" name="Rectangle 109"/>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098" name="Rectangle 110"/>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099" name="Rectangle 111"/>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86083" name="Group 112"/>
            <p:cNvGrpSpPr/>
            <p:nvPr/>
          </p:nvGrpSpPr>
          <p:grpSpPr>
            <a:xfrm>
              <a:off x="4544" y="2996"/>
              <a:ext cx="952" cy="648"/>
              <a:chOff x="1272" y="1896"/>
              <a:chExt cx="1200" cy="1200"/>
            </a:xfrm>
          </p:grpSpPr>
          <p:sp>
            <p:nvSpPr>
              <p:cNvPr id="86092" name="Rectangle 113"/>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093" name="Rectangle 114"/>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094" name="Rectangle 115"/>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095" name="Rectangle 116"/>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sp>
          <p:nvSpPr>
            <p:cNvPr id="86084" name="Text Box 117"/>
            <p:cNvSpPr txBox="1"/>
            <p:nvPr/>
          </p:nvSpPr>
          <p:spPr>
            <a:xfrm>
              <a:off x="4646" y="2729"/>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86085" name="Text Box 118"/>
            <p:cNvSpPr txBox="1"/>
            <p:nvPr/>
          </p:nvSpPr>
          <p:spPr>
            <a:xfrm>
              <a:off x="5081" y="2729"/>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86086" name="Text Box 119"/>
            <p:cNvSpPr txBox="1"/>
            <p:nvPr/>
          </p:nvSpPr>
          <p:spPr>
            <a:xfrm>
              <a:off x="4707" y="303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087" name="Text Box 120"/>
            <p:cNvSpPr txBox="1"/>
            <p:nvPr/>
          </p:nvSpPr>
          <p:spPr>
            <a:xfrm>
              <a:off x="5137" y="303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088" name="Text Box 121"/>
            <p:cNvSpPr txBox="1"/>
            <p:nvPr/>
          </p:nvSpPr>
          <p:spPr>
            <a:xfrm>
              <a:off x="4716" y="338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089" name="Text Box 122"/>
            <p:cNvSpPr txBox="1"/>
            <p:nvPr/>
          </p:nvSpPr>
          <p:spPr>
            <a:xfrm>
              <a:off x="5165" y="338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6090" name="Text Box 123"/>
            <p:cNvSpPr txBox="1"/>
            <p:nvPr/>
          </p:nvSpPr>
          <p:spPr>
            <a:xfrm>
              <a:off x="3159" y="3194"/>
              <a:ext cx="354" cy="327"/>
            </a:xfrm>
            <a:prstGeom prst="rect">
              <a:avLst/>
            </a:prstGeom>
            <a:noFill/>
            <a:ln w="19050">
              <a:noFill/>
            </a:ln>
          </p:spPr>
          <p:txBody>
            <a:bodyPr wrap="none">
              <a:spAutoFit/>
            </a:bodyPr>
            <a:lstStyle/>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p>
          </p:txBody>
        </p:sp>
        <p:sp>
          <p:nvSpPr>
            <p:cNvPr id="86091" name="AutoShape 124"/>
            <p:cNvSpPr/>
            <p:nvPr/>
          </p:nvSpPr>
          <p:spPr>
            <a:xfrm>
              <a:off x="3678" y="3091"/>
              <a:ext cx="1739" cy="527"/>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17" name="Group 125"/>
          <p:cNvGrpSpPr/>
          <p:nvPr/>
        </p:nvGrpSpPr>
        <p:grpSpPr>
          <a:xfrm>
            <a:off x="476250" y="5033963"/>
            <a:ext cx="3709988" cy="1690687"/>
            <a:chOff x="264" y="3163"/>
            <a:chExt cx="2337" cy="1065"/>
          </a:xfrm>
        </p:grpSpPr>
        <p:sp>
          <p:nvSpPr>
            <p:cNvPr id="86041" name="Text Box 126"/>
            <p:cNvSpPr txBox="1"/>
            <p:nvPr/>
          </p:nvSpPr>
          <p:spPr>
            <a:xfrm>
              <a:off x="507" y="3163"/>
              <a:ext cx="521" cy="327"/>
            </a:xfrm>
            <a:prstGeom prst="rect">
              <a:avLst/>
            </a:prstGeom>
            <a:noFill/>
            <a:ln w="19050">
              <a:noFill/>
            </a:ln>
          </p:spPr>
          <p:txBody>
            <a:bodyPr>
              <a:spAutoFit/>
            </a:bodyPr>
            <a:lstStyle/>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p>
          </p:txBody>
        </p:sp>
        <p:sp>
          <p:nvSpPr>
            <p:cNvPr id="86042" name="Text Box 127"/>
            <p:cNvSpPr txBox="1"/>
            <p:nvPr/>
          </p:nvSpPr>
          <p:spPr>
            <a:xfrm>
              <a:off x="842" y="355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6043" name="Text Box 128"/>
            <p:cNvSpPr txBox="1"/>
            <p:nvPr/>
          </p:nvSpPr>
          <p:spPr>
            <a:xfrm>
              <a:off x="1346" y="355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6044" name="Text Box 129"/>
            <p:cNvSpPr txBox="1"/>
            <p:nvPr/>
          </p:nvSpPr>
          <p:spPr>
            <a:xfrm>
              <a:off x="1337" y="390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045" name="Text Box 130"/>
            <p:cNvSpPr txBox="1"/>
            <p:nvPr/>
          </p:nvSpPr>
          <p:spPr>
            <a:xfrm>
              <a:off x="842" y="390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6046" name="Text Box 131"/>
            <p:cNvSpPr txBox="1"/>
            <p:nvPr/>
          </p:nvSpPr>
          <p:spPr>
            <a:xfrm>
              <a:off x="820" y="3235"/>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86047" name="Text Box 132"/>
            <p:cNvSpPr txBox="1"/>
            <p:nvPr/>
          </p:nvSpPr>
          <p:spPr>
            <a:xfrm>
              <a:off x="1322" y="3235"/>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86048" name="Text Box 133"/>
            <p:cNvSpPr txBox="1"/>
            <p:nvPr/>
          </p:nvSpPr>
          <p:spPr>
            <a:xfrm>
              <a:off x="458" y="355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6049" name="Text Box 134"/>
            <p:cNvSpPr txBox="1"/>
            <p:nvPr/>
          </p:nvSpPr>
          <p:spPr>
            <a:xfrm>
              <a:off x="477" y="3895"/>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6050" name="Line 135"/>
            <p:cNvSpPr/>
            <p:nvPr/>
          </p:nvSpPr>
          <p:spPr>
            <a:xfrm>
              <a:off x="365" y="3283"/>
              <a:ext cx="342" cy="233"/>
            </a:xfrm>
            <a:prstGeom prst="line">
              <a:avLst/>
            </a:prstGeom>
            <a:ln w="38100" cap="flat" cmpd="sng">
              <a:solidFill>
                <a:srgbClr val="3333FF"/>
              </a:solidFill>
              <a:prstDash val="solid"/>
              <a:headEnd type="none" w="med" len="med"/>
              <a:tailEnd type="none" w="sm" len="lg"/>
            </a:ln>
          </p:spPr>
        </p:sp>
        <p:sp>
          <p:nvSpPr>
            <p:cNvPr id="86051" name="Text Box 136"/>
            <p:cNvSpPr txBox="1"/>
            <p:nvPr/>
          </p:nvSpPr>
          <p:spPr>
            <a:xfrm>
              <a:off x="328" y="3292"/>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grpSp>
          <p:nvGrpSpPr>
            <p:cNvPr id="86052" name="Group 137"/>
            <p:cNvGrpSpPr/>
            <p:nvPr/>
          </p:nvGrpSpPr>
          <p:grpSpPr>
            <a:xfrm>
              <a:off x="721" y="3509"/>
              <a:ext cx="1880" cy="719"/>
              <a:chOff x="2652" y="1704"/>
              <a:chExt cx="2400" cy="1200"/>
            </a:xfrm>
          </p:grpSpPr>
          <p:grpSp>
            <p:nvGrpSpPr>
              <p:cNvPr id="86061" name="Group 138"/>
              <p:cNvGrpSpPr/>
              <p:nvPr/>
            </p:nvGrpSpPr>
            <p:grpSpPr>
              <a:xfrm>
                <a:off x="2652" y="1704"/>
                <a:ext cx="1200" cy="1200"/>
                <a:chOff x="1272" y="1896"/>
                <a:chExt cx="1200" cy="1200"/>
              </a:xfrm>
            </p:grpSpPr>
            <p:sp>
              <p:nvSpPr>
                <p:cNvPr id="86067" name="Rectangle 139"/>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068" name="Rectangle 140"/>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069" name="Rectangle 141"/>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070" name="Rectangle 142"/>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86062" name="Group 143"/>
              <p:cNvGrpSpPr/>
              <p:nvPr/>
            </p:nvGrpSpPr>
            <p:grpSpPr>
              <a:xfrm>
                <a:off x="3852" y="1704"/>
                <a:ext cx="1200" cy="1200"/>
                <a:chOff x="1272" y="1896"/>
                <a:chExt cx="1200" cy="1200"/>
              </a:xfrm>
            </p:grpSpPr>
            <p:sp>
              <p:nvSpPr>
                <p:cNvPr id="86063" name="Rectangle 144"/>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064" name="Rectangle 145"/>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065" name="Rectangle 146"/>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6066" name="Rectangle 147"/>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sp>
          <p:nvSpPr>
            <p:cNvPr id="86053" name="Text Box 148"/>
            <p:cNvSpPr txBox="1"/>
            <p:nvPr/>
          </p:nvSpPr>
          <p:spPr>
            <a:xfrm>
              <a:off x="1751" y="3242"/>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86054" name="Text Box 149"/>
            <p:cNvSpPr txBox="1"/>
            <p:nvPr/>
          </p:nvSpPr>
          <p:spPr>
            <a:xfrm>
              <a:off x="2186" y="3242"/>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86055" name="Text Box 150"/>
            <p:cNvSpPr txBox="1"/>
            <p:nvPr/>
          </p:nvSpPr>
          <p:spPr>
            <a:xfrm>
              <a:off x="1812" y="3544"/>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6056" name="Text Box 151"/>
            <p:cNvSpPr txBox="1"/>
            <p:nvPr/>
          </p:nvSpPr>
          <p:spPr>
            <a:xfrm>
              <a:off x="2242" y="3544"/>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6057" name="Text Box 152"/>
            <p:cNvSpPr txBox="1"/>
            <p:nvPr/>
          </p:nvSpPr>
          <p:spPr>
            <a:xfrm>
              <a:off x="1821" y="390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6058" name="Text Box 153"/>
            <p:cNvSpPr txBox="1"/>
            <p:nvPr/>
          </p:nvSpPr>
          <p:spPr>
            <a:xfrm>
              <a:off x="2270" y="3894"/>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6059" name="Text Box 154"/>
            <p:cNvSpPr txBox="1"/>
            <p:nvPr/>
          </p:nvSpPr>
          <p:spPr>
            <a:xfrm>
              <a:off x="264" y="3707"/>
              <a:ext cx="253" cy="327"/>
            </a:xfrm>
            <a:prstGeom prst="rect">
              <a:avLst/>
            </a:prstGeom>
            <a:noFill/>
            <a:ln w="19050">
              <a:noFill/>
            </a:ln>
          </p:spPr>
          <p:txBody>
            <a:bodyPr wrap="none">
              <a:spAutoFit/>
            </a:bodyPr>
            <a:lstStyle/>
            <a:p>
              <a:r>
                <a:rPr lang="en-US" altLang="zh-CN" sz="2800" dirty="0">
                  <a:latin typeface="Times New Roman" panose="02020603050405020304" pitchFamily="18" charset="0"/>
                </a:rPr>
                <a:t>Z</a:t>
              </a:r>
            </a:p>
          </p:txBody>
        </p:sp>
        <p:sp>
          <p:nvSpPr>
            <p:cNvPr id="86060" name="AutoShape 155"/>
            <p:cNvSpPr/>
            <p:nvPr/>
          </p:nvSpPr>
          <p:spPr>
            <a:xfrm>
              <a:off x="1769" y="3568"/>
              <a:ext cx="325" cy="624"/>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21" name="Group 156"/>
          <p:cNvGrpSpPr/>
          <p:nvPr/>
        </p:nvGrpSpPr>
        <p:grpSpPr>
          <a:xfrm>
            <a:off x="95250" y="588963"/>
            <a:ext cx="4954588" cy="4594225"/>
            <a:chOff x="2298" y="1307"/>
            <a:chExt cx="3121" cy="2894"/>
          </a:xfrm>
        </p:grpSpPr>
        <p:sp>
          <p:nvSpPr>
            <p:cNvPr id="86028" name="Line 157"/>
            <p:cNvSpPr/>
            <p:nvPr/>
          </p:nvSpPr>
          <p:spPr>
            <a:xfrm>
              <a:off x="2342" y="1307"/>
              <a:ext cx="3066" cy="0"/>
            </a:xfrm>
            <a:prstGeom prst="line">
              <a:avLst/>
            </a:prstGeom>
            <a:ln w="38100" cap="flat" cmpd="sng">
              <a:solidFill>
                <a:schemeClr val="tx1"/>
              </a:solidFill>
              <a:prstDash val="solid"/>
              <a:headEnd type="none" w="med" len="med"/>
              <a:tailEnd type="none" w="sm" len="lg"/>
            </a:ln>
          </p:spPr>
        </p:sp>
        <p:sp>
          <p:nvSpPr>
            <p:cNvPr id="86029" name="Line 158"/>
            <p:cNvSpPr/>
            <p:nvPr/>
          </p:nvSpPr>
          <p:spPr>
            <a:xfrm flipV="1">
              <a:off x="2299" y="4176"/>
              <a:ext cx="3081" cy="0"/>
            </a:xfrm>
            <a:prstGeom prst="line">
              <a:avLst/>
            </a:prstGeom>
            <a:ln w="38100" cap="flat" cmpd="sng">
              <a:solidFill>
                <a:schemeClr val="tx1"/>
              </a:solidFill>
              <a:prstDash val="solid"/>
              <a:headEnd type="none" w="med" len="med"/>
              <a:tailEnd type="none" w="sm" len="lg"/>
            </a:ln>
          </p:spPr>
        </p:sp>
        <p:sp>
          <p:nvSpPr>
            <p:cNvPr id="86030" name="Line 159"/>
            <p:cNvSpPr/>
            <p:nvPr/>
          </p:nvSpPr>
          <p:spPr>
            <a:xfrm>
              <a:off x="2385" y="1946"/>
              <a:ext cx="3034" cy="0"/>
            </a:xfrm>
            <a:prstGeom prst="line">
              <a:avLst/>
            </a:prstGeom>
            <a:ln w="12700" cap="flat" cmpd="sng">
              <a:solidFill>
                <a:schemeClr val="tx1"/>
              </a:solidFill>
              <a:prstDash val="solid"/>
              <a:headEnd type="none" w="med" len="med"/>
              <a:tailEnd type="none" w="sm" len="lg"/>
            </a:ln>
          </p:spPr>
        </p:sp>
        <p:sp>
          <p:nvSpPr>
            <p:cNvPr id="86031" name="Text Box 160"/>
            <p:cNvSpPr txBox="1"/>
            <p:nvPr/>
          </p:nvSpPr>
          <p:spPr>
            <a:xfrm>
              <a:off x="2666" y="1359"/>
              <a:ext cx="942" cy="596"/>
            </a:xfrm>
            <a:prstGeom prst="rect">
              <a:avLst/>
            </a:prstGeom>
            <a:noFill/>
            <a:ln w="19050">
              <a:noFill/>
            </a:ln>
          </p:spPr>
          <p:txBody>
            <a:bodyPr>
              <a:spAutoFit/>
            </a:bodyPr>
            <a:lstStyle/>
            <a:p>
              <a:r>
                <a:rPr lang="en-US" altLang="zh-CN" sz="2800" dirty="0">
                  <a:latin typeface="Times New Roman" panose="02020603050405020304" pitchFamily="18" charset="0"/>
                </a:rPr>
                <a:t>    </a:t>
              </a:r>
              <a:r>
                <a:rPr lang="zh-CN" altLang="zh-CN" sz="2800" dirty="0">
                  <a:latin typeface="Times New Roman" panose="02020603050405020304" pitchFamily="18" charset="0"/>
                </a:rPr>
                <a:t>现态</a:t>
              </a:r>
            </a:p>
            <a:p>
              <a:r>
                <a:rPr lang="zh-CN" altLang="zh-CN" sz="2800" dirty="0">
                  <a:latin typeface="Times New Roman" panose="02020603050405020304" pitchFamily="18" charset="0"/>
                </a:rPr>
                <a:t> </a:t>
              </a:r>
              <a:r>
                <a:rPr lang="zh-CN" altLang="en-US" sz="2800" dirty="0">
                  <a:latin typeface="Times New Roman" panose="02020603050405020304" pitchFamily="18" charset="0"/>
                </a:rPr>
                <a:t>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p>
          </p:txBody>
        </p:sp>
        <p:sp>
          <p:nvSpPr>
            <p:cNvPr id="86032" name="Text Box 161"/>
            <p:cNvSpPr txBox="1"/>
            <p:nvPr/>
          </p:nvSpPr>
          <p:spPr>
            <a:xfrm>
              <a:off x="2903" y="1954"/>
              <a:ext cx="648" cy="2210"/>
            </a:xfrm>
            <a:prstGeom prst="rect">
              <a:avLst/>
            </a:prstGeom>
            <a:noFill/>
            <a:ln w="19050">
              <a:noFill/>
            </a:ln>
          </p:spPr>
          <p:txBody>
            <a:bodyPr wrap="none">
              <a:spAutoFit/>
            </a:bodyPr>
            <a:lstStyle/>
            <a:p>
              <a:pPr defTabSz="666750"/>
              <a:r>
                <a:rPr lang="en-US" altLang="zh-CN" sz="2800" dirty="0">
                  <a:latin typeface="Times New Roman" panose="02020603050405020304" pitchFamily="18" charset="0"/>
                </a:rPr>
                <a:t>0	0</a:t>
              </a:r>
            </a:p>
            <a:p>
              <a:pPr defTabSz="666750"/>
              <a:r>
                <a:rPr lang="en-US" altLang="zh-CN" sz="2800" dirty="0">
                  <a:latin typeface="Times New Roman" panose="02020603050405020304" pitchFamily="18" charset="0"/>
                </a:rPr>
                <a:t>0	1</a:t>
              </a:r>
            </a:p>
            <a:p>
              <a:pPr defTabSz="666750"/>
              <a:r>
                <a:rPr lang="en-US" altLang="zh-CN" sz="2800" dirty="0">
                  <a:latin typeface="Times New Roman" panose="02020603050405020304" pitchFamily="18" charset="0"/>
                </a:rPr>
                <a:t>1	0</a:t>
              </a:r>
            </a:p>
            <a:p>
              <a:pPr defTabSz="666750"/>
              <a:r>
                <a:rPr lang="en-US" altLang="zh-CN" sz="2800" dirty="0">
                  <a:latin typeface="Times New Roman" panose="02020603050405020304" pitchFamily="18" charset="0"/>
                </a:rPr>
                <a:t>1	1</a:t>
              </a:r>
            </a:p>
            <a:p>
              <a:pPr defTabSz="666750"/>
              <a:r>
                <a:rPr lang="en-US" altLang="zh-CN" sz="2800" dirty="0">
                  <a:latin typeface="Times New Roman" panose="02020603050405020304" pitchFamily="18" charset="0"/>
                </a:rPr>
                <a:t>0	0</a:t>
              </a:r>
            </a:p>
            <a:p>
              <a:pPr defTabSz="666750"/>
              <a:r>
                <a:rPr lang="en-US" altLang="zh-CN" sz="2800" dirty="0">
                  <a:latin typeface="Times New Roman" panose="02020603050405020304" pitchFamily="18" charset="0"/>
                </a:rPr>
                <a:t>0	1</a:t>
              </a:r>
            </a:p>
            <a:p>
              <a:pPr defTabSz="666750"/>
              <a:r>
                <a:rPr lang="en-US" altLang="zh-CN" sz="2800" dirty="0">
                  <a:latin typeface="Times New Roman" panose="02020603050405020304" pitchFamily="18" charset="0"/>
                </a:rPr>
                <a:t>1	0</a:t>
              </a:r>
            </a:p>
            <a:p>
              <a:pPr defTabSz="666750"/>
              <a:r>
                <a:rPr lang="en-US" altLang="zh-CN" sz="2800" dirty="0">
                  <a:latin typeface="Times New Roman" panose="02020603050405020304" pitchFamily="18" charset="0"/>
                </a:rPr>
                <a:t>1	1</a:t>
              </a:r>
              <a:endParaRPr lang="en-US" altLang="zh-CN" sz="2800" baseline="-25000" dirty="0">
                <a:latin typeface="Times New Roman" panose="02020603050405020304" pitchFamily="18" charset="0"/>
              </a:endParaRPr>
            </a:p>
          </p:txBody>
        </p:sp>
        <p:sp>
          <p:nvSpPr>
            <p:cNvPr id="86033" name="Rectangle 162"/>
            <p:cNvSpPr/>
            <p:nvPr/>
          </p:nvSpPr>
          <p:spPr>
            <a:xfrm>
              <a:off x="2298" y="1373"/>
              <a:ext cx="620" cy="596"/>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 </a:t>
              </a:r>
              <a:r>
                <a:rPr lang="zh-CN" altLang="en-US" sz="2800" dirty="0">
                  <a:latin typeface="Times New Roman" panose="02020603050405020304" pitchFamily="18" charset="0"/>
                </a:rPr>
                <a:t>输入</a:t>
              </a:r>
            </a:p>
            <a:p>
              <a:pPr algn="ctr"/>
              <a:r>
                <a:rPr lang="en-US" altLang="zh-CN" sz="2800" dirty="0">
                  <a:latin typeface="Times New Roman" panose="02020603050405020304" pitchFamily="18" charset="0"/>
                </a:rPr>
                <a:t>x</a:t>
              </a:r>
            </a:p>
          </p:txBody>
        </p:sp>
        <p:sp>
          <p:nvSpPr>
            <p:cNvPr id="86034" name="Rectangle 163"/>
            <p:cNvSpPr/>
            <p:nvPr/>
          </p:nvSpPr>
          <p:spPr>
            <a:xfrm>
              <a:off x="3398" y="1335"/>
              <a:ext cx="1288" cy="596"/>
            </a:xfrm>
            <a:prstGeom prst="rect">
              <a:avLst/>
            </a:prstGeom>
            <a:noFill/>
            <a:ln w="19050">
              <a:noFill/>
            </a:ln>
          </p:spPr>
          <p:txBody>
            <a:bodyPr>
              <a:spAutoFit/>
            </a:bodyPr>
            <a:lstStyle/>
            <a:p>
              <a:pPr algn="ctr"/>
              <a:r>
                <a:rPr lang="zh-CN" altLang="en-US" sz="2800" dirty="0">
                  <a:latin typeface="Times New Roman" panose="02020603050405020304" pitchFamily="18" charset="0"/>
                </a:rPr>
                <a:t>激励函数</a:t>
              </a:r>
            </a:p>
            <a:p>
              <a:pPr algn="ct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1</a:t>
              </a:r>
            </a:p>
          </p:txBody>
        </p:sp>
        <p:sp>
          <p:nvSpPr>
            <p:cNvPr id="86035" name="Line 164"/>
            <p:cNvSpPr/>
            <p:nvPr/>
          </p:nvSpPr>
          <p:spPr>
            <a:xfrm>
              <a:off x="3482" y="1307"/>
              <a:ext cx="0" cy="2883"/>
            </a:xfrm>
            <a:prstGeom prst="line">
              <a:avLst/>
            </a:prstGeom>
            <a:ln w="19050" cap="flat" cmpd="sng">
              <a:solidFill>
                <a:schemeClr val="tx1"/>
              </a:solidFill>
              <a:prstDash val="solid"/>
              <a:headEnd type="none" w="med" len="med"/>
              <a:tailEnd type="none" w="sm" len="lg"/>
            </a:ln>
          </p:spPr>
        </p:sp>
        <p:sp>
          <p:nvSpPr>
            <p:cNvPr id="86036" name="Text Box 165"/>
            <p:cNvSpPr txBox="1"/>
            <p:nvPr/>
          </p:nvSpPr>
          <p:spPr>
            <a:xfrm>
              <a:off x="3570" y="1954"/>
              <a:ext cx="1128" cy="2210"/>
            </a:xfrm>
            <a:prstGeom prst="rect">
              <a:avLst/>
            </a:prstGeom>
            <a:noFill/>
            <a:ln w="19050">
              <a:noFill/>
            </a:ln>
          </p:spPr>
          <p:txBody>
            <a:bodyPr wrap="none">
              <a:spAutoFit/>
            </a:bodyPr>
            <a:lstStyle/>
            <a:p>
              <a:pPr defTabSz="476250"/>
              <a:r>
                <a:rPr lang="en-US" altLang="zh-CN" sz="2800" dirty="0">
                  <a:latin typeface="Times New Roman" panose="02020603050405020304" pitchFamily="18" charset="0"/>
                </a:rPr>
                <a:t>0	d	0	d</a:t>
              </a:r>
            </a:p>
            <a:p>
              <a:pPr defTabSz="476250"/>
              <a:r>
                <a:rPr lang="en-US" altLang="zh-CN" sz="2800" dirty="0">
                  <a:latin typeface="Times New Roman" panose="02020603050405020304" pitchFamily="18" charset="0"/>
                </a:rPr>
                <a:t>0	d	d	1</a:t>
              </a:r>
            </a:p>
            <a:p>
              <a:pPr defTabSz="476250"/>
              <a:r>
                <a:rPr lang="en-US" altLang="zh-CN" sz="2800" dirty="0">
                  <a:latin typeface="Times New Roman" panose="02020603050405020304" pitchFamily="18" charset="0"/>
                </a:rPr>
                <a:t>d	1	0	d</a:t>
              </a:r>
            </a:p>
            <a:p>
              <a:pPr defTabSz="476250"/>
              <a:r>
                <a:rPr lang="en-US" altLang="zh-CN" sz="2800" dirty="0">
                  <a:latin typeface="Times New Roman" panose="02020603050405020304" pitchFamily="18" charset="0"/>
                </a:rPr>
                <a:t>d	d	d	d</a:t>
              </a:r>
            </a:p>
            <a:p>
              <a:pPr defTabSz="476250"/>
              <a:r>
                <a:rPr lang="en-US" altLang="zh-CN" sz="2800" dirty="0">
                  <a:latin typeface="Times New Roman" panose="02020603050405020304" pitchFamily="18" charset="0"/>
                </a:rPr>
                <a:t>0	d	1	d</a:t>
              </a:r>
            </a:p>
            <a:p>
              <a:pPr defTabSz="476250"/>
              <a:r>
                <a:rPr lang="en-US" altLang="zh-CN" sz="2800" dirty="0">
                  <a:latin typeface="Times New Roman" panose="02020603050405020304" pitchFamily="18" charset="0"/>
                </a:rPr>
                <a:t>1	d	d	1</a:t>
              </a:r>
            </a:p>
            <a:p>
              <a:pPr defTabSz="476250"/>
              <a:r>
                <a:rPr lang="en-US" altLang="zh-CN" sz="2800" dirty="0">
                  <a:latin typeface="Times New Roman" panose="02020603050405020304" pitchFamily="18" charset="0"/>
                </a:rPr>
                <a:t>d	0	0	d</a:t>
              </a:r>
            </a:p>
            <a:p>
              <a:pPr defTabSz="476250"/>
              <a:r>
                <a:rPr lang="en-US" altLang="zh-CN" sz="2800" dirty="0">
                  <a:latin typeface="Times New Roman" panose="02020603050405020304" pitchFamily="18" charset="0"/>
                </a:rPr>
                <a:t>d	d	d	d</a:t>
              </a:r>
              <a:endParaRPr lang="en-US" altLang="zh-CN" sz="2800" baseline="-25000" dirty="0">
                <a:latin typeface="Times New Roman" panose="02020603050405020304" pitchFamily="18" charset="0"/>
              </a:endParaRPr>
            </a:p>
          </p:txBody>
        </p:sp>
        <p:sp>
          <p:nvSpPr>
            <p:cNvPr id="86037" name="Text Box 166"/>
            <p:cNvSpPr txBox="1"/>
            <p:nvPr/>
          </p:nvSpPr>
          <p:spPr>
            <a:xfrm>
              <a:off x="2531" y="1966"/>
              <a:ext cx="228" cy="2210"/>
            </a:xfrm>
            <a:prstGeom prst="rect">
              <a:avLst/>
            </a:prstGeom>
            <a:noFill/>
            <a:ln w="19050">
              <a:noFill/>
            </a:ln>
          </p:spPr>
          <p:txBody>
            <a:bodyPr wrap="none">
              <a:spAutoFit/>
            </a:bodyPr>
            <a:lstStyle/>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1</a:t>
              </a:r>
            </a:p>
            <a:p>
              <a:pPr algn="ctr" defTabSz="666750"/>
              <a:r>
                <a:rPr lang="en-US" altLang="zh-CN" sz="2800" dirty="0">
                  <a:latin typeface="Times New Roman" panose="02020603050405020304" pitchFamily="18" charset="0"/>
                </a:rPr>
                <a:t>1</a:t>
              </a:r>
            </a:p>
            <a:p>
              <a:pPr algn="ctr" defTabSz="666750"/>
              <a:r>
                <a:rPr lang="en-US" altLang="zh-CN" sz="2800" dirty="0">
                  <a:latin typeface="Times New Roman" panose="02020603050405020304" pitchFamily="18" charset="0"/>
                </a:rPr>
                <a:t>1</a:t>
              </a:r>
            </a:p>
            <a:p>
              <a:pPr algn="ctr" defTabSz="666750"/>
              <a:r>
                <a:rPr lang="en-US" altLang="zh-CN" sz="28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86038" name="Line 167"/>
            <p:cNvSpPr/>
            <p:nvPr/>
          </p:nvSpPr>
          <p:spPr>
            <a:xfrm>
              <a:off x="4698" y="1318"/>
              <a:ext cx="0" cy="2883"/>
            </a:xfrm>
            <a:prstGeom prst="line">
              <a:avLst/>
            </a:prstGeom>
            <a:ln w="19050" cap="flat" cmpd="sng">
              <a:solidFill>
                <a:schemeClr val="tx1"/>
              </a:solidFill>
              <a:prstDash val="solid"/>
              <a:headEnd type="none" w="med" len="med"/>
              <a:tailEnd type="none" w="sm" len="lg"/>
            </a:ln>
          </p:spPr>
        </p:sp>
        <p:sp>
          <p:nvSpPr>
            <p:cNvPr id="86039" name="Rectangle 168"/>
            <p:cNvSpPr/>
            <p:nvPr/>
          </p:nvSpPr>
          <p:spPr>
            <a:xfrm>
              <a:off x="4632" y="1349"/>
              <a:ext cx="620" cy="596"/>
            </a:xfrm>
            <a:prstGeom prst="rect">
              <a:avLst/>
            </a:prstGeom>
            <a:noFill/>
            <a:ln w="19050">
              <a:noFill/>
            </a:ln>
          </p:spPr>
          <p:txBody>
            <a:bodyPr wrap="none">
              <a:spAutoFit/>
            </a:bodyPr>
            <a:lstStyle/>
            <a:p>
              <a:pPr algn="ctr"/>
              <a:r>
                <a:rPr lang="zh-CN" altLang="en-US" sz="2800" dirty="0">
                  <a:latin typeface="Times New Roman" panose="02020603050405020304" pitchFamily="18" charset="0"/>
                </a:rPr>
                <a:t>输 出</a:t>
              </a:r>
            </a:p>
            <a:p>
              <a:pPr algn="ctr"/>
              <a:r>
                <a:rPr lang="en-US" altLang="zh-CN" sz="2800" dirty="0">
                  <a:latin typeface="Times New Roman" panose="02020603050405020304" pitchFamily="18" charset="0"/>
                </a:rPr>
                <a:t>Z</a:t>
              </a:r>
            </a:p>
          </p:txBody>
        </p:sp>
        <p:sp>
          <p:nvSpPr>
            <p:cNvPr id="86040" name="Text Box 169"/>
            <p:cNvSpPr txBox="1"/>
            <p:nvPr/>
          </p:nvSpPr>
          <p:spPr>
            <a:xfrm>
              <a:off x="4855" y="1954"/>
              <a:ext cx="228" cy="2210"/>
            </a:xfrm>
            <a:prstGeom prst="rect">
              <a:avLst/>
            </a:prstGeom>
            <a:noFill/>
            <a:ln w="19050">
              <a:noFill/>
            </a:ln>
          </p:spPr>
          <p:txBody>
            <a:bodyPr wrap="none">
              <a:spAutoFit/>
            </a:bodyPr>
            <a:lstStyle/>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d</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1</a:t>
              </a:r>
            </a:p>
            <a:p>
              <a:pPr algn="ctr" defTabSz="666750"/>
              <a:r>
                <a:rPr lang="en-US" altLang="zh-CN" sz="2800" dirty="0">
                  <a:latin typeface="Times New Roman" panose="02020603050405020304" pitchFamily="18" charset="0"/>
                </a:rPr>
                <a:t>d</a:t>
              </a:r>
              <a:endParaRPr lang="en-US" altLang="zh-CN" sz="2800" baseline="-25000" dirty="0">
                <a:latin typeface="Times New Roman" panose="02020603050405020304" pitchFamily="18" charset="0"/>
              </a:endParaRPr>
            </a:p>
          </p:txBody>
        </p:sp>
      </p:grpSp>
      <p:grpSp>
        <p:nvGrpSpPr>
          <p:cNvPr id="22" name="Group 170"/>
          <p:cNvGrpSpPr/>
          <p:nvPr/>
        </p:nvGrpSpPr>
        <p:grpSpPr>
          <a:xfrm>
            <a:off x="5865813" y="5741988"/>
            <a:ext cx="2689225" cy="1116012"/>
            <a:chOff x="3695" y="3617"/>
            <a:chExt cx="1694" cy="703"/>
          </a:xfrm>
        </p:grpSpPr>
        <p:sp>
          <p:nvSpPr>
            <p:cNvPr id="86025" name="Text Box 171"/>
            <p:cNvSpPr txBox="1"/>
            <p:nvPr/>
          </p:nvSpPr>
          <p:spPr>
            <a:xfrm>
              <a:off x="3695" y="3617"/>
              <a:ext cx="1694" cy="703"/>
            </a:xfrm>
            <a:prstGeom prst="rect">
              <a:avLst/>
            </a:prstGeom>
            <a:noFill/>
            <a:ln w="19050">
              <a:noFill/>
            </a:ln>
          </p:spPr>
          <p:txBody>
            <a:bodyPr wrap="none">
              <a:spAutoFit/>
            </a:bodyPr>
            <a:lstStyle/>
            <a:p>
              <a:pPr>
                <a:lnSpc>
                  <a:spcPct val="80000"/>
                </a:lnSpc>
              </a:pP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t>
              </a:r>
              <a:r>
                <a:rPr lang="en-US" altLang="zh-CN" sz="2800" i="1" dirty="0">
                  <a:latin typeface="Times New Roman" panose="02020603050405020304" pitchFamily="18" charset="0"/>
                </a:rPr>
                <a:t>x</a:t>
              </a:r>
              <a:endParaRPr lang="en-US" altLang="zh-CN" sz="2800" dirty="0">
                <a:latin typeface="Times New Roman" panose="02020603050405020304" pitchFamily="18" charset="0"/>
              </a:endParaRPr>
            </a:p>
            <a:p>
              <a:pPr>
                <a:lnSpc>
                  <a:spcPct val="80000"/>
                </a:lnSpc>
              </a:pP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=1</a:t>
              </a:r>
            </a:p>
            <a:p>
              <a:pPr>
                <a:lnSpc>
                  <a:spcPct val="80000"/>
                </a:lnSpc>
              </a:pPr>
              <a:r>
                <a:rPr lang="en-US" altLang="zh-CN" sz="2800" dirty="0">
                  <a:latin typeface="Times New Roman" panose="02020603050405020304" pitchFamily="18" charset="0"/>
                </a:rPr>
                <a:t>Z=</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2</a:t>
              </a:r>
            </a:p>
          </p:txBody>
        </p:sp>
        <p:sp>
          <p:nvSpPr>
            <p:cNvPr id="86026" name="Line 172"/>
            <p:cNvSpPr/>
            <p:nvPr/>
          </p:nvSpPr>
          <p:spPr>
            <a:xfrm>
              <a:off x="5217" y="3675"/>
              <a:ext cx="84" cy="0"/>
            </a:xfrm>
            <a:prstGeom prst="line">
              <a:avLst/>
            </a:prstGeom>
            <a:ln w="19050" cap="flat" cmpd="sng">
              <a:solidFill>
                <a:schemeClr val="tx1"/>
              </a:solidFill>
              <a:prstDash val="solid"/>
              <a:headEnd type="none" w="med" len="med"/>
              <a:tailEnd type="none" w="sm" len="lg"/>
            </a:ln>
          </p:spPr>
        </p:sp>
        <p:sp>
          <p:nvSpPr>
            <p:cNvPr id="86027" name="Line 173"/>
            <p:cNvSpPr/>
            <p:nvPr/>
          </p:nvSpPr>
          <p:spPr>
            <a:xfrm>
              <a:off x="4158" y="3897"/>
              <a:ext cx="117" cy="0"/>
            </a:xfrm>
            <a:prstGeom prst="line">
              <a:avLst/>
            </a:prstGeom>
            <a:ln w="9525" cap="flat" cmpd="sng">
              <a:solidFill>
                <a:schemeClr val="tx1"/>
              </a:solidFill>
              <a:prstDash val="soli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linds(horizontal)">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blinds(horizontal)">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p:cTn id="35" dur="500" fill="hold"/>
                                        <p:tgtEl>
                                          <p:spTgt spid="17"/>
                                        </p:tgtEl>
                                        <p:attrNameLst>
                                          <p:attrName>ppt_w</p:attrName>
                                        </p:attrNameLst>
                                      </p:cBhvr>
                                      <p:tavLst>
                                        <p:tav tm="0">
                                          <p:val>
                                            <p:fltVal val="0"/>
                                          </p:val>
                                        </p:tav>
                                        <p:tav tm="100000">
                                          <p:val>
                                            <p:strVal val="#ppt_w"/>
                                          </p:val>
                                        </p:tav>
                                      </p:tavLst>
                                    </p:anim>
                                    <p:anim calcmode="lin" valueType="num">
                                      <p:cBhvr>
                                        <p:cTn id="36"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blinds(horizontal)">
                                      <p:cBhvr>
                                        <p:cTn id="4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Text Box 2"/>
          <p:cNvSpPr txBox="1"/>
          <p:nvPr/>
        </p:nvSpPr>
        <p:spPr>
          <a:xfrm>
            <a:off x="704850" y="698500"/>
            <a:ext cx="1819275" cy="519113"/>
          </a:xfrm>
          <a:prstGeom prst="rect">
            <a:avLst/>
          </a:prstGeom>
          <a:noFill/>
          <a:ln w="19050">
            <a:noFill/>
          </a:ln>
        </p:spPr>
        <p:txBody>
          <a:bodyPr wrap="none">
            <a:spAutoFit/>
          </a:bodyPr>
          <a:lstStyle/>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画电路图</a:t>
            </a:r>
          </a:p>
        </p:txBody>
      </p:sp>
      <p:grpSp>
        <p:nvGrpSpPr>
          <p:cNvPr id="87043" name="Group 3"/>
          <p:cNvGrpSpPr/>
          <p:nvPr/>
        </p:nvGrpSpPr>
        <p:grpSpPr>
          <a:xfrm>
            <a:off x="5451475" y="341313"/>
            <a:ext cx="2689225" cy="1116012"/>
            <a:chOff x="3695" y="3617"/>
            <a:chExt cx="1694" cy="703"/>
          </a:xfrm>
        </p:grpSpPr>
        <p:sp>
          <p:nvSpPr>
            <p:cNvPr id="87096" name="Text Box 4"/>
            <p:cNvSpPr txBox="1"/>
            <p:nvPr/>
          </p:nvSpPr>
          <p:spPr>
            <a:xfrm>
              <a:off x="3695" y="3617"/>
              <a:ext cx="1694" cy="703"/>
            </a:xfrm>
            <a:prstGeom prst="rect">
              <a:avLst/>
            </a:prstGeom>
            <a:noFill/>
            <a:ln w="19050">
              <a:noFill/>
            </a:ln>
          </p:spPr>
          <p:txBody>
            <a:bodyPr wrap="none">
              <a:spAutoFit/>
            </a:bodyPr>
            <a:lstStyle/>
            <a:p>
              <a:pPr>
                <a:lnSpc>
                  <a:spcPct val="80000"/>
                </a:lnSpc>
              </a:pP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a:t>
              </a:r>
              <a:r>
                <a:rPr lang="en-US" altLang="zh-CN" sz="2800" i="1" dirty="0">
                  <a:latin typeface="Times New Roman" panose="02020603050405020304" pitchFamily="18" charset="0"/>
                </a:rPr>
                <a:t>x</a:t>
              </a:r>
              <a:endParaRPr lang="en-US" altLang="zh-CN" sz="2800" dirty="0">
                <a:latin typeface="Times New Roman" panose="02020603050405020304" pitchFamily="18" charset="0"/>
              </a:endParaRPr>
            </a:p>
            <a:p>
              <a:pPr>
                <a:lnSpc>
                  <a:spcPct val="80000"/>
                </a:lnSpc>
              </a:pP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=1</a:t>
              </a:r>
            </a:p>
            <a:p>
              <a:pPr>
                <a:lnSpc>
                  <a:spcPct val="80000"/>
                </a:lnSpc>
              </a:pPr>
              <a:r>
                <a:rPr lang="en-US" altLang="zh-CN" sz="2800" dirty="0">
                  <a:latin typeface="Times New Roman" panose="02020603050405020304" pitchFamily="18" charset="0"/>
                </a:rPr>
                <a:t>Z=</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2</a:t>
              </a:r>
            </a:p>
          </p:txBody>
        </p:sp>
        <p:sp>
          <p:nvSpPr>
            <p:cNvPr id="87097" name="Line 5"/>
            <p:cNvSpPr/>
            <p:nvPr/>
          </p:nvSpPr>
          <p:spPr>
            <a:xfrm>
              <a:off x="5217" y="3675"/>
              <a:ext cx="84" cy="0"/>
            </a:xfrm>
            <a:prstGeom prst="line">
              <a:avLst/>
            </a:prstGeom>
            <a:ln w="19050" cap="flat" cmpd="sng">
              <a:solidFill>
                <a:schemeClr val="tx1"/>
              </a:solidFill>
              <a:prstDash val="solid"/>
              <a:headEnd type="none" w="med" len="med"/>
              <a:tailEnd type="none" w="sm" len="lg"/>
            </a:ln>
          </p:spPr>
        </p:sp>
        <p:sp>
          <p:nvSpPr>
            <p:cNvPr id="87098" name="Line 6"/>
            <p:cNvSpPr/>
            <p:nvPr/>
          </p:nvSpPr>
          <p:spPr>
            <a:xfrm>
              <a:off x="4158" y="3897"/>
              <a:ext cx="117" cy="0"/>
            </a:xfrm>
            <a:prstGeom prst="line">
              <a:avLst/>
            </a:prstGeom>
            <a:ln w="9525" cap="flat" cmpd="sng">
              <a:solidFill>
                <a:schemeClr val="tx1"/>
              </a:solidFill>
              <a:prstDash val="solid"/>
              <a:headEnd type="none" w="med" len="med"/>
              <a:tailEnd type="none" w="sm" len="lg"/>
            </a:ln>
          </p:spPr>
        </p:sp>
      </p:grpSp>
      <p:grpSp>
        <p:nvGrpSpPr>
          <p:cNvPr id="87044" name="Group 7"/>
          <p:cNvGrpSpPr/>
          <p:nvPr/>
        </p:nvGrpSpPr>
        <p:grpSpPr>
          <a:xfrm>
            <a:off x="1082675" y="1363663"/>
            <a:ext cx="7189788" cy="4645025"/>
            <a:chOff x="682" y="859"/>
            <a:chExt cx="4529" cy="2926"/>
          </a:xfrm>
        </p:grpSpPr>
        <p:sp>
          <p:nvSpPr>
            <p:cNvPr id="87045" name="Rectangle 8"/>
            <p:cNvSpPr/>
            <p:nvPr/>
          </p:nvSpPr>
          <p:spPr>
            <a:xfrm>
              <a:off x="1667" y="1676"/>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7046" name="Rectangle 9"/>
            <p:cNvSpPr/>
            <p:nvPr/>
          </p:nvSpPr>
          <p:spPr>
            <a:xfrm>
              <a:off x="3458" y="1676"/>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7047" name="Freeform 10"/>
            <p:cNvSpPr/>
            <p:nvPr/>
          </p:nvSpPr>
          <p:spPr>
            <a:xfrm>
              <a:off x="3903" y="2132"/>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87048" name="Oval 11"/>
            <p:cNvSpPr/>
            <p:nvPr/>
          </p:nvSpPr>
          <p:spPr>
            <a:xfrm>
              <a:off x="3927" y="2233"/>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7049" name="Text Box 12"/>
            <p:cNvSpPr txBox="1"/>
            <p:nvPr/>
          </p:nvSpPr>
          <p:spPr>
            <a:xfrm>
              <a:off x="3478" y="1908"/>
              <a:ext cx="354" cy="327"/>
            </a:xfrm>
            <a:prstGeom prst="rect">
              <a:avLst/>
            </a:prstGeom>
            <a:noFill/>
            <a:ln w="19050">
              <a:noFill/>
            </a:ln>
          </p:spPr>
          <p:txBody>
            <a:bodyPr wrap="none">
              <a:spAutoFit/>
            </a:bodyPr>
            <a:lstStyle/>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p>
          </p:txBody>
        </p:sp>
        <p:sp>
          <p:nvSpPr>
            <p:cNvPr id="87050" name="Text Box 13"/>
            <p:cNvSpPr txBox="1"/>
            <p:nvPr/>
          </p:nvSpPr>
          <p:spPr>
            <a:xfrm>
              <a:off x="3835" y="1841"/>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87051" name="Text Box 14"/>
            <p:cNvSpPr txBox="1"/>
            <p:nvPr/>
          </p:nvSpPr>
          <p:spPr>
            <a:xfrm>
              <a:off x="1699" y="1908"/>
              <a:ext cx="354" cy="327"/>
            </a:xfrm>
            <a:prstGeom prst="rect">
              <a:avLst/>
            </a:prstGeom>
            <a:noFill/>
            <a:ln w="19050">
              <a:noFill/>
            </a:ln>
          </p:spPr>
          <p:txBody>
            <a:bodyPr wrap="none">
              <a:spAutoFit/>
            </a:bodyPr>
            <a:lstStyle/>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p>
          </p:txBody>
        </p:sp>
        <p:sp>
          <p:nvSpPr>
            <p:cNvPr id="87052" name="Text Box 15"/>
            <p:cNvSpPr txBox="1"/>
            <p:nvPr/>
          </p:nvSpPr>
          <p:spPr>
            <a:xfrm>
              <a:off x="2032" y="1841"/>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87053" name="Text Box 16"/>
            <p:cNvSpPr txBox="1"/>
            <p:nvPr/>
          </p:nvSpPr>
          <p:spPr>
            <a:xfrm>
              <a:off x="2152" y="873"/>
              <a:ext cx="316" cy="327"/>
            </a:xfrm>
            <a:prstGeom prst="rect">
              <a:avLst/>
            </a:prstGeom>
            <a:noFill/>
            <a:ln w="19050">
              <a:noFill/>
            </a:ln>
          </p:spPr>
          <p:txBody>
            <a:bodyPr>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p>
          </p:txBody>
        </p:sp>
        <p:sp>
          <p:nvSpPr>
            <p:cNvPr id="87054" name="Text Box 17"/>
            <p:cNvSpPr txBox="1"/>
            <p:nvPr/>
          </p:nvSpPr>
          <p:spPr>
            <a:xfrm>
              <a:off x="4656" y="2457"/>
              <a:ext cx="390" cy="327"/>
            </a:xfrm>
            <a:prstGeom prst="rect">
              <a:avLst/>
            </a:prstGeom>
            <a:noFill/>
            <a:ln w="19050">
              <a:noFill/>
            </a:ln>
          </p:spPr>
          <p:txBody>
            <a:bodyPr wrap="none">
              <a:spAutoFit/>
            </a:bodyPr>
            <a:lstStyle/>
            <a:p>
              <a:r>
                <a:rPr lang="en-US" altLang="zh-CN" sz="2800" dirty="0">
                  <a:latin typeface="Times New Roman" panose="02020603050405020304" pitchFamily="18" charset="0"/>
                </a:rPr>
                <a:t>CP</a:t>
              </a:r>
            </a:p>
          </p:txBody>
        </p:sp>
        <p:sp>
          <p:nvSpPr>
            <p:cNvPr id="87055" name="Text Box 18"/>
            <p:cNvSpPr txBox="1"/>
            <p:nvPr/>
          </p:nvSpPr>
          <p:spPr>
            <a:xfrm>
              <a:off x="4933" y="3458"/>
              <a:ext cx="278" cy="327"/>
            </a:xfrm>
            <a:prstGeom prst="rect">
              <a:avLst/>
            </a:prstGeom>
            <a:noFill/>
            <a:ln w="19050">
              <a:noFill/>
            </a:ln>
          </p:spPr>
          <p:txBody>
            <a:bodyPr>
              <a:spAutoFit/>
            </a:bodyPr>
            <a:lstStyle/>
            <a:p>
              <a:r>
                <a:rPr lang="en-US" altLang="zh-CN" sz="2800" dirty="0">
                  <a:latin typeface="Times New Roman" panose="02020603050405020304" pitchFamily="18" charset="0"/>
                </a:rPr>
                <a:t>x</a:t>
              </a:r>
            </a:p>
          </p:txBody>
        </p:sp>
        <p:sp>
          <p:nvSpPr>
            <p:cNvPr id="87056" name="Freeform 19"/>
            <p:cNvSpPr/>
            <p:nvPr/>
          </p:nvSpPr>
          <p:spPr>
            <a:xfrm>
              <a:off x="2099" y="2132"/>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87057" name="Oval 20"/>
            <p:cNvSpPr/>
            <p:nvPr/>
          </p:nvSpPr>
          <p:spPr>
            <a:xfrm>
              <a:off x="2123" y="2233"/>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7058" name="Oval 21"/>
            <p:cNvSpPr/>
            <p:nvPr/>
          </p:nvSpPr>
          <p:spPr>
            <a:xfrm>
              <a:off x="2266" y="3640"/>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nvGrpSpPr>
            <p:cNvPr id="87059" name="Group 22"/>
            <p:cNvGrpSpPr/>
            <p:nvPr/>
          </p:nvGrpSpPr>
          <p:grpSpPr>
            <a:xfrm>
              <a:off x="3610" y="1339"/>
              <a:ext cx="304" cy="327"/>
              <a:chOff x="3166" y="1105"/>
              <a:chExt cx="304" cy="327"/>
            </a:xfrm>
          </p:grpSpPr>
          <p:sp>
            <p:nvSpPr>
              <p:cNvPr id="87094" name="Text Box 23"/>
              <p:cNvSpPr txBox="1"/>
              <p:nvPr/>
            </p:nvSpPr>
            <p:spPr>
              <a:xfrm>
                <a:off x="3166" y="1105"/>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sp>
            <p:nvSpPr>
              <p:cNvPr id="87095" name="Line 24"/>
              <p:cNvSpPr/>
              <p:nvPr/>
            </p:nvSpPr>
            <p:spPr>
              <a:xfrm>
                <a:off x="3201" y="1196"/>
                <a:ext cx="156" cy="0"/>
              </a:xfrm>
              <a:prstGeom prst="line">
                <a:avLst/>
              </a:prstGeom>
              <a:ln w="19050" cap="flat" cmpd="sng">
                <a:solidFill>
                  <a:schemeClr val="tx1"/>
                </a:solidFill>
                <a:prstDash val="solid"/>
                <a:headEnd type="none" w="med" len="med"/>
                <a:tailEnd type="none" w="sm" len="lg"/>
              </a:ln>
            </p:spPr>
          </p:sp>
        </p:grpSp>
        <p:sp>
          <p:nvSpPr>
            <p:cNvPr id="87060" name="Text Box 25"/>
            <p:cNvSpPr txBox="1"/>
            <p:nvPr/>
          </p:nvSpPr>
          <p:spPr>
            <a:xfrm>
              <a:off x="895" y="906"/>
              <a:ext cx="215" cy="327"/>
            </a:xfrm>
            <a:prstGeom prst="rect">
              <a:avLst/>
            </a:prstGeom>
            <a:noFill/>
            <a:ln w="19050">
              <a:noFill/>
            </a:ln>
          </p:spPr>
          <p:txBody>
            <a:bodyPr wrap="none">
              <a:spAutoFit/>
            </a:bodyPr>
            <a:lstStyle/>
            <a:p>
              <a:r>
                <a:rPr lang="en-US" altLang="zh-CN" sz="2800" dirty="0">
                  <a:latin typeface="Times New Roman" panose="02020603050405020304" pitchFamily="18" charset="0"/>
                </a:rPr>
                <a:t>z</a:t>
              </a:r>
            </a:p>
          </p:txBody>
        </p:sp>
        <p:sp>
          <p:nvSpPr>
            <p:cNvPr id="87061" name="Oval 26"/>
            <p:cNvSpPr/>
            <p:nvPr/>
          </p:nvSpPr>
          <p:spPr>
            <a:xfrm>
              <a:off x="3931" y="2501"/>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nvGrpSpPr>
            <p:cNvPr id="87062" name="Group 27"/>
            <p:cNvGrpSpPr/>
            <p:nvPr/>
          </p:nvGrpSpPr>
          <p:grpSpPr>
            <a:xfrm>
              <a:off x="1546" y="1303"/>
              <a:ext cx="304" cy="327"/>
              <a:chOff x="3478" y="1165"/>
              <a:chExt cx="304" cy="327"/>
            </a:xfrm>
          </p:grpSpPr>
          <p:sp>
            <p:nvSpPr>
              <p:cNvPr id="87092" name="Text Box 28"/>
              <p:cNvSpPr txBox="1"/>
              <p:nvPr/>
            </p:nvSpPr>
            <p:spPr>
              <a:xfrm>
                <a:off x="3478" y="1165"/>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p>
            </p:txBody>
          </p:sp>
          <p:sp>
            <p:nvSpPr>
              <p:cNvPr id="87093" name="Line 29"/>
              <p:cNvSpPr/>
              <p:nvPr/>
            </p:nvSpPr>
            <p:spPr>
              <a:xfrm>
                <a:off x="3513" y="1256"/>
                <a:ext cx="156" cy="0"/>
              </a:xfrm>
              <a:prstGeom prst="line">
                <a:avLst/>
              </a:prstGeom>
              <a:ln w="19050" cap="flat" cmpd="sng">
                <a:solidFill>
                  <a:schemeClr val="tx1"/>
                </a:solidFill>
                <a:prstDash val="solid"/>
                <a:headEnd type="none" w="med" len="med"/>
                <a:tailEnd type="none" w="sm" len="lg"/>
              </a:ln>
            </p:spPr>
          </p:sp>
        </p:grpSp>
        <p:sp>
          <p:nvSpPr>
            <p:cNvPr id="87063" name="Text Box 30"/>
            <p:cNvSpPr txBox="1"/>
            <p:nvPr/>
          </p:nvSpPr>
          <p:spPr>
            <a:xfrm>
              <a:off x="2206" y="2673"/>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lstStyle/>
            <a:p>
              <a:pPr algn="ctr"/>
              <a:r>
                <a:rPr lang="en-US" altLang="zh-CN" sz="2800" dirty="0">
                  <a:latin typeface="Times New Roman" panose="02020603050405020304" pitchFamily="18" charset="0"/>
                  <a:sym typeface="Symbol" panose="05050102010706020507" pitchFamily="18" charset="2"/>
                </a:rPr>
                <a:t>&amp;</a:t>
              </a:r>
            </a:p>
          </p:txBody>
        </p:sp>
        <p:sp>
          <p:nvSpPr>
            <p:cNvPr id="87064" name="Text Box 31"/>
            <p:cNvSpPr txBox="1"/>
            <p:nvPr/>
          </p:nvSpPr>
          <p:spPr>
            <a:xfrm>
              <a:off x="4054" y="859"/>
              <a:ext cx="304" cy="327"/>
            </a:xfrm>
            <a:prstGeom prst="rect">
              <a:avLst/>
            </a:prstGeom>
            <a:noFill/>
            <a:ln w="19050">
              <a:noFill/>
            </a:ln>
          </p:spPr>
          <p:txBody>
            <a:bodyPr>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sp>
          <p:nvSpPr>
            <p:cNvPr id="87065" name="Line 32"/>
            <p:cNvSpPr/>
            <p:nvPr/>
          </p:nvSpPr>
          <p:spPr>
            <a:xfrm>
              <a:off x="1872" y="2238"/>
              <a:ext cx="0" cy="1452"/>
            </a:xfrm>
            <a:prstGeom prst="line">
              <a:avLst/>
            </a:prstGeom>
            <a:ln w="19050" cap="flat" cmpd="sng">
              <a:solidFill>
                <a:srgbClr val="3333FF"/>
              </a:solidFill>
              <a:prstDash val="solid"/>
              <a:headEnd type="none" w="med" len="med"/>
              <a:tailEnd type="none" w="sm" len="lg"/>
            </a:ln>
          </p:spPr>
        </p:sp>
        <p:sp>
          <p:nvSpPr>
            <p:cNvPr id="87066" name="Oval 33"/>
            <p:cNvSpPr/>
            <p:nvPr/>
          </p:nvSpPr>
          <p:spPr>
            <a:xfrm>
              <a:off x="1803" y="1609"/>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7067" name="Oval 34"/>
            <p:cNvSpPr/>
            <p:nvPr/>
          </p:nvSpPr>
          <p:spPr>
            <a:xfrm>
              <a:off x="3593" y="1611"/>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7068" name="Oval 35"/>
            <p:cNvSpPr/>
            <p:nvPr/>
          </p:nvSpPr>
          <p:spPr>
            <a:xfrm>
              <a:off x="1839" y="3657"/>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7069" name="Text Box 36"/>
            <p:cNvSpPr txBox="1"/>
            <p:nvPr/>
          </p:nvSpPr>
          <p:spPr>
            <a:xfrm>
              <a:off x="1582" y="2673"/>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lstStyle/>
            <a:p>
              <a:pPr algn="ctr"/>
              <a:r>
                <a:rPr lang="en-US" altLang="zh-CN" sz="2800" dirty="0">
                  <a:latin typeface="Times New Roman" panose="02020603050405020304" pitchFamily="18" charset="0"/>
                </a:rPr>
                <a:t>1</a:t>
              </a:r>
            </a:p>
          </p:txBody>
        </p:sp>
        <p:sp>
          <p:nvSpPr>
            <p:cNvPr id="87070" name="Oval 37"/>
            <p:cNvSpPr/>
            <p:nvPr/>
          </p:nvSpPr>
          <p:spPr>
            <a:xfrm>
              <a:off x="1841" y="2608"/>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7071" name="Text Box 38"/>
            <p:cNvSpPr txBox="1"/>
            <p:nvPr/>
          </p:nvSpPr>
          <p:spPr>
            <a:xfrm>
              <a:off x="682" y="1581"/>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lstStyle/>
            <a:p>
              <a:pPr algn="ctr"/>
              <a:r>
                <a:rPr lang="en-US" altLang="zh-CN" sz="2800" dirty="0">
                  <a:latin typeface="Times New Roman" panose="02020603050405020304" pitchFamily="18" charset="0"/>
                  <a:sym typeface="Symbol" panose="05050102010706020507" pitchFamily="18" charset="2"/>
                </a:rPr>
                <a:t>&amp;</a:t>
              </a:r>
            </a:p>
          </p:txBody>
        </p:sp>
        <p:sp>
          <p:nvSpPr>
            <p:cNvPr id="87072" name="Freeform 39"/>
            <p:cNvSpPr/>
            <p:nvPr/>
          </p:nvSpPr>
          <p:spPr>
            <a:xfrm>
              <a:off x="1104" y="1194"/>
              <a:ext cx="1344" cy="1152"/>
            </a:xfrm>
            <a:custGeom>
              <a:avLst/>
              <a:gdLst>
                <a:gd name="txL" fmla="*/ 0 w 1392"/>
                <a:gd name="txT" fmla="*/ 0 h 1164"/>
                <a:gd name="txR" fmla="*/ 1392 w 1392"/>
                <a:gd name="txB" fmla="*/ 1164 h 1164"/>
              </a:gdLst>
              <a:ahLst/>
              <a:cxnLst>
                <a:cxn ang="0">
                  <a:pos x="0" y="740"/>
                </a:cxn>
                <a:cxn ang="0">
                  <a:pos x="0" y="1140"/>
                </a:cxn>
                <a:cxn ang="0">
                  <a:pos x="347" y="1140"/>
                </a:cxn>
                <a:cxn ang="0">
                  <a:pos x="347" y="0"/>
                </a:cxn>
                <a:cxn ang="0">
                  <a:pos x="1298" y="0"/>
                </a:cxn>
                <a:cxn ang="0">
                  <a:pos x="1298" y="470"/>
                </a:cxn>
              </a:cxnLst>
              <a:rect l="txL" t="txT" r="txR" b="txB"/>
              <a:pathLst>
                <a:path w="1392" h="1164">
                  <a:moveTo>
                    <a:pt x="0" y="756"/>
                  </a:moveTo>
                  <a:lnTo>
                    <a:pt x="0" y="1164"/>
                  </a:lnTo>
                  <a:lnTo>
                    <a:pt x="372" y="1164"/>
                  </a:lnTo>
                  <a:lnTo>
                    <a:pt x="372" y="0"/>
                  </a:lnTo>
                  <a:lnTo>
                    <a:pt x="1392" y="0"/>
                  </a:lnTo>
                  <a:lnTo>
                    <a:pt x="1392" y="480"/>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87073" name="Freeform 40"/>
            <p:cNvSpPr/>
            <p:nvPr/>
          </p:nvSpPr>
          <p:spPr>
            <a:xfrm>
              <a:off x="768" y="1926"/>
              <a:ext cx="4068" cy="1752"/>
            </a:xfrm>
            <a:custGeom>
              <a:avLst/>
              <a:gdLst>
                <a:gd name="txL" fmla="*/ 0 w 4068"/>
                <a:gd name="txT" fmla="*/ 0 h 1752"/>
                <a:gd name="txR" fmla="*/ 4068 w 4068"/>
                <a:gd name="txB" fmla="*/ 1752 h 1752"/>
              </a:gdLst>
              <a:ahLst/>
              <a:cxnLst>
                <a:cxn ang="0">
                  <a:pos x="0" y="0"/>
                </a:cxn>
                <a:cxn ang="0">
                  <a:pos x="0" y="1752"/>
                </a:cxn>
                <a:cxn ang="0">
                  <a:pos x="4068" y="1752"/>
                </a:cxn>
              </a:cxnLst>
              <a:rect l="txL" t="txT" r="txR" b="txB"/>
              <a:pathLst>
                <a:path w="4068" h="1752">
                  <a:moveTo>
                    <a:pt x="0" y="0"/>
                  </a:moveTo>
                  <a:lnTo>
                    <a:pt x="0" y="1752"/>
                  </a:lnTo>
                  <a:lnTo>
                    <a:pt x="4068" y="1752"/>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87074" name="Line 41"/>
            <p:cNvSpPr/>
            <p:nvPr/>
          </p:nvSpPr>
          <p:spPr>
            <a:xfrm>
              <a:off x="2292" y="3018"/>
              <a:ext cx="0" cy="672"/>
            </a:xfrm>
            <a:prstGeom prst="line">
              <a:avLst/>
            </a:prstGeom>
            <a:ln w="19050" cap="flat" cmpd="sng">
              <a:solidFill>
                <a:srgbClr val="3333FF"/>
              </a:solidFill>
              <a:prstDash val="solid"/>
              <a:headEnd type="none" w="med" len="med"/>
              <a:tailEnd type="none" w="sm" len="lg"/>
            </a:ln>
          </p:spPr>
        </p:sp>
        <p:sp>
          <p:nvSpPr>
            <p:cNvPr id="87075" name="Freeform 42"/>
            <p:cNvSpPr/>
            <p:nvPr/>
          </p:nvSpPr>
          <p:spPr>
            <a:xfrm>
              <a:off x="2148" y="2298"/>
              <a:ext cx="2676" cy="228"/>
            </a:xfrm>
            <a:custGeom>
              <a:avLst/>
              <a:gdLst>
                <a:gd name="txL" fmla="*/ 0 w 2676"/>
                <a:gd name="txT" fmla="*/ 0 h 228"/>
                <a:gd name="txR" fmla="*/ 2676 w 2676"/>
                <a:gd name="txB" fmla="*/ 228 h 228"/>
              </a:gdLst>
              <a:ahLst/>
              <a:cxnLst>
                <a:cxn ang="0">
                  <a:pos x="0" y="0"/>
                </a:cxn>
                <a:cxn ang="0">
                  <a:pos x="0" y="228"/>
                </a:cxn>
                <a:cxn ang="0">
                  <a:pos x="2676" y="228"/>
                </a:cxn>
              </a:cxnLst>
              <a:rect l="txL" t="txT" r="txR" b="txB"/>
              <a:pathLst>
                <a:path w="2676" h="228">
                  <a:moveTo>
                    <a:pt x="0" y="0"/>
                  </a:moveTo>
                  <a:lnTo>
                    <a:pt x="0" y="228"/>
                  </a:lnTo>
                  <a:lnTo>
                    <a:pt x="2676" y="228"/>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87076" name="Text Box 43"/>
            <p:cNvSpPr txBox="1"/>
            <p:nvPr/>
          </p:nvSpPr>
          <p:spPr>
            <a:xfrm>
              <a:off x="4174" y="1908"/>
              <a:ext cx="279" cy="327"/>
            </a:xfrm>
            <a:prstGeom prst="rect">
              <a:avLst/>
            </a:prstGeom>
            <a:noFill/>
            <a:ln w="19050">
              <a:noFill/>
            </a:ln>
          </p:spPr>
          <p:txBody>
            <a:bodyPr wrap="none">
              <a:spAutoFit/>
            </a:bodyPr>
            <a:lstStyle/>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p>
          </p:txBody>
        </p:sp>
        <p:sp>
          <p:nvSpPr>
            <p:cNvPr id="87077" name="Text Box 44"/>
            <p:cNvSpPr txBox="1"/>
            <p:nvPr/>
          </p:nvSpPr>
          <p:spPr>
            <a:xfrm>
              <a:off x="2386" y="1908"/>
              <a:ext cx="279" cy="327"/>
            </a:xfrm>
            <a:prstGeom prst="rect">
              <a:avLst/>
            </a:prstGeom>
            <a:noFill/>
            <a:ln w="19050">
              <a:noFill/>
            </a:ln>
          </p:spPr>
          <p:txBody>
            <a:bodyPr wrap="none">
              <a:spAutoFit/>
            </a:bodyPr>
            <a:lstStyle/>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p>
          </p:txBody>
        </p:sp>
        <p:sp>
          <p:nvSpPr>
            <p:cNvPr id="87078" name="Line 45"/>
            <p:cNvSpPr/>
            <p:nvPr/>
          </p:nvSpPr>
          <p:spPr>
            <a:xfrm>
              <a:off x="3960" y="2298"/>
              <a:ext cx="0" cy="240"/>
            </a:xfrm>
            <a:prstGeom prst="line">
              <a:avLst/>
            </a:prstGeom>
            <a:ln w="19050" cap="flat" cmpd="sng">
              <a:solidFill>
                <a:srgbClr val="3333FF"/>
              </a:solidFill>
              <a:prstDash val="solid"/>
              <a:headEnd type="none" w="med" len="med"/>
              <a:tailEnd type="none" w="sm" len="lg"/>
            </a:ln>
          </p:spPr>
        </p:sp>
        <p:sp>
          <p:nvSpPr>
            <p:cNvPr id="87079" name="Freeform 46"/>
            <p:cNvSpPr/>
            <p:nvPr/>
          </p:nvSpPr>
          <p:spPr>
            <a:xfrm>
              <a:off x="2592" y="1194"/>
              <a:ext cx="1668" cy="2112"/>
            </a:xfrm>
            <a:custGeom>
              <a:avLst/>
              <a:gdLst>
                <a:gd name="txL" fmla="*/ 0 w 1668"/>
                <a:gd name="txT" fmla="*/ 0 h 2112"/>
                <a:gd name="txR" fmla="*/ 1668 w 1668"/>
                <a:gd name="txB" fmla="*/ 2112 h 2112"/>
              </a:gdLst>
              <a:ahLst/>
              <a:cxnLst>
                <a:cxn ang="0">
                  <a:pos x="0" y="1824"/>
                </a:cxn>
                <a:cxn ang="0">
                  <a:pos x="0" y="2112"/>
                </a:cxn>
                <a:cxn ang="0">
                  <a:pos x="336" y="2112"/>
                </a:cxn>
                <a:cxn ang="0">
                  <a:pos x="336" y="0"/>
                </a:cxn>
                <a:cxn ang="0">
                  <a:pos x="1668" y="0"/>
                </a:cxn>
                <a:cxn ang="0">
                  <a:pos x="1668" y="492"/>
                </a:cxn>
              </a:cxnLst>
              <a:rect l="txL" t="txT" r="txR" b="txB"/>
              <a:pathLst>
                <a:path w="1668" h="2112">
                  <a:moveTo>
                    <a:pt x="0" y="1824"/>
                  </a:moveTo>
                  <a:lnTo>
                    <a:pt x="0" y="2112"/>
                  </a:lnTo>
                  <a:lnTo>
                    <a:pt x="336" y="2112"/>
                  </a:lnTo>
                  <a:lnTo>
                    <a:pt x="336" y="0"/>
                  </a:lnTo>
                  <a:lnTo>
                    <a:pt x="1668" y="0"/>
                  </a:lnTo>
                  <a:lnTo>
                    <a:pt x="1668" y="492"/>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87080" name="Line 47"/>
            <p:cNvSpPr/>
            <p:nvPr/>
          </p:nvSpPr>
          <p:spPr>
            <a:xfrm>
              <a:off x="912" y="1026"/>
              <a:ext cx="0" cy="552"/>
            </a:xfrm>
            <a:prstGeom prst="line">
              <a:avLst/>
            </a:prstGeom>
            <a:ln w="19050" cap="flat" cmpd="sng">
              <a:solidFill>
                <a:srgbClr val="3333FF"/>
              </a:solidFill>
              <a:prstDash val="solid"/>
              <a:headEnd type="none" w="med" len="med"/>
              <a:tailEnd type="none" w="sm" len="lg"/>
            </a:ln>
          </p:spPr>
        </p:sp>
        <p:sp>
          <p:nvSpPr>
            <p:cNvPr id="87081" name="Freeform 48"/>
            <p:cNvSpPr/>
            <p:nvPr/>
          </p:nvSpPr>
          <p:spPr>
            <a:xfrm rot="-5400000" flipH="1">
              <a:off x="1584" y="1638"/>
              <a:ext cx="1860" cy="1374"/>
            </a:xfrm>
            <a:custGeom>
              <a:avLst/>
              <a:gdLst>
                <a:gd name="txL" fmla="*/ 0 w 1188"/>
                <a:gd name="txT" fmla="*/ 0 h 132"/>
                <a:gd name="txR" fmla="*/ 1188 w 1188"/>
                <a:gd name="txB" fmla="*/ 132 h 132"/>
              </a:gdLst>
              <a:ahLst/>
              <a:cxnLst>
                <a:cxn ang="0">
                  <a:pos x="0" y="0"/>
                </a:cxn>
                <a:cxn ang="0">
                  <a:pos x="0" y="14302"/>
                </a:cxn>
                <a:cxn ang="0">
                  <a:pos x="2912" y="14302"/>
                </a:cxn>
              </a:cxnLst>
              <a:rect l="txL" t="txT" r="txR" b="txB"/>
              <a:pathLst>
                <a:path w="1188" h="132">
                  <a:moveTo>
                    <a:pt x="0" y="0"/>
                  </a:moveTo>
                  <a:lnTo>
                    <a:pt x="0" y="132"/>
                  </a:lnTo>
                  <a:lnTo>
                    <a:pt x="1188" y="132"/>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87082" name="Line 49"/>
            <p:cNvSpPr/>
            <p:nvPr/>
          </p:nvSpPr>
          <p:spPr>
            <a:xfrm>
              <a:off x="4272" y="2250"/>
              <a:ext cx="0" cy="0"/>
            </a:xfrm>
            <a:prstGeom prst="line">
              <a:avLst/>
            </a:prstGeom>
            <a:ln w="19050" cap="flat" cmpd="sng">
              <a:solidFill>
                <a:srgbClr val="3333FF"/>
              </a:solidFill>
              <a:prstDash val="solid"/>
              <a:headEnd type="none" w="med" len="med"/>
              <a:tailEnd type="none" w="sm" len="lg"/>
            </a:ln>
          </p:spPr>
        </p:sp>
        <p:sp>
          <p:nvSpPr>
            <p:cNvPr id="87083" name="Line 50"/>
            <p:cNvSpPr/>
            <p:nvPr/>
          </p:nvSpPr>
          <p:spPr>
            <a:xfrm>
              <a:off x="2472" y="2238"/>
              <a:ext cx="0" cy="432"/>
            </a:xfrm>
            <a:prstGeom prst="line">
              <a:avLst/>
            </a:prstGeom>
            <a:ln w="19050" cap="flat" cmpd="sng">
              <a:solidFill>
                <a:srgbClr val="3333FF"/>
              </a:solidFill>
              <a:prstDash val="solid"/>
              <a:headEnd type="none" w="med" len="med"/>
              <a:tailEnd type="none" w="sm" len="lg"/>
            </a:ln>
          </p:spPr>
        </p:sp>
        <p:sp>
          <p:nvSpPr>
            <p:cNvPr id="87084" name="Oval 51"/>
            <p:cNvSpPr/>
            <p:nvPr/>
          </p:nvSpPr>
          <p:spPr>
            <a:xfrm>
              <a:off x="4426" y="3640"/>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7085" name="Line 52"/>
            <p:cNvSpPr/>
            <p:nvPr/>
          </p:nvSpPr>
          <p:spPr>
            <a:xfrm flipV="1">
              <a:off x="1836" y="1404"/>
              <a:ext cx="0" cy="192"/>
            </a:xfrm>
            <a:prstGeom prst="line">
              <a:avLst/>
            </a:prstGeom>
            <a:ln w="9525" cap="flat" cmpd="sng">
              <a:solidFill>
                <a:srgbClr val="3333FF"/>
              </a:solidFill>
              <a:prstDash val="solid"/>
              <a:headEnd type="none" w="med" len="med"/>
              <a:tailEnd type="none" w="sm" len="lg"/>
            </a:ln>
          </p:spPr>
        </p:sp>
        <p:sp>
          <p:nvSpPr>
            <p:cNvPr id="87086" name="Line 53"/>
            <p:cNvSpPr/>
            <p:nvPr/>
          </p:nvSpPr>
          <p:spPr>
            <a:xfrm flipV="1">
              <a:off x="3612" y="1428"/>
              <a:ext cx="0" cy="180"/>
            </a:xfrm>
            <a:prstGeom prst="line">
              <a:avLst/>
            </a:prstGeom>
            <a:ln w="9525" cap="flat" cmpd="sng">
              <a:solidFill>
                <a:srgbClr val="3333FF"/>
              </a:solidFill>
              <a:prstDash val="solid"/>
              <a:headEnd type="none" w="med" len="med"/>
              <a:tailEnd type="none" w="sm" len="lg"/>
            </a:ln>
          </p:spPr>
        </p:sp>
        <p:sp>
          <p:nvSpPr>
            <p:cNvPr id="87087" name="Text Box 54"/>
            <p:cNvSpPr txBox="1"/>
            <p:nvPr/>
          </p:nvSpPr>
          <p:spPr>
            <a:xfrm>
              <a:off x="4061" y="2683"/>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lstStyle/>
            <a:p>
              <a:pPr algn="ctr"/>
              <a:r>
                <a:rPr lang="en-US" altLang="zh-CN" sz="2800" dirty="0">
                  <a:latin typeface="Times New Roman" panose="02020603050405020304" pitchFamily="18" charset="0"/>
                  <a:sym typeface="Symbol" panose="05050102010706020507" pitchFamily="18" charset="2"/>
                </a:rPr>
                <a:t>&amp;</a:t>
              </a:r>
            </a:p>
          </p:txBody>
        </p:sp>
        <p:sp>
          <p:nvSpPr>
            <p:cNvPr id="87088" name="Line 55"/>
            <p:cNvSpPr/>
            <p:nvPr/>
          </p:nvSpPr>
          <p:spPr>
            <a:xfrm>
              <a:off x="4329" y="2232"/>
              <a:ext cx="0" cy="432"/>
            </a:xfrm>
            <a:prstGeom prst="line">
              <a:avLst/>
            </a:prstGeom>
            <a:ln w="19050" cap="flat" cmpd="sng">
              <a:solidFill>
                <a:srgbClr val="0000FF"/>
              </a:solidFill>
              <a:prstDash val="solid"/>
              <a:headEnd type="none" w="med" len="med"/>
              <a:tailEnd type="none" w="sm" len="lg"/>
            </a:ln>
          </p:spPr>
        </p:sp>
        <p:sp>
          <p:nvSpPr>
            <p:cNvPr id="87089" name="Line 56"/>
            <p:cNvSpPr/>
            <p:nvPr/>
          </p:nvSpPr>
          <p:spPr>
            <a:xfrm>
              <a:off x="4464" y="3015"/>
              <a:ext cx="0" cy="657"/>
            </a:xfrm>
            <a:prstGeom prst="line">
              <a:avLst/>
            </a:prstGeom>
            <a:ln w="19050" cap="flat" cmpd="sng">
              <a:solidFill>
                <a:srgbClr val="0000FF"/>
              </a:solidFill>
              <a:prstDash val="solid"/>
              <a:headEnd type="none" w="med" len="med"/>
              <a:tailEnd type="none" w="sm" len="lg"/>
            </a:ln>
          </p:spPr>
        </p:sp>
        <p:sp>
          <p:nvSpPr>
            <p:cNvPr id="87090" name="Line 57"/>
            <p:cNvSpPr/>
            <p:nvPr/>
          </p:nvSpPr>
          <p:spPr>
            <a:xfrm>
              <a:off x="3195" y="3249"/>
              <a:ext cx="990" cy="0"/>
            </a:xfrm>
            <a:prstGeom prst="line">
              <a:avLst/>
            </a:prstGeom>
            <a:ln w="19050" cap="flat" cmpd="sng">
              <a:solidFill>
                <a:srgbClr val="0000FF"/>
              </a:solidFill>
              <a:prstDash val="solid"/>
              <a:headEnd type="none" w="med" len="med"/>
              <a:tailEnd type="none" w="sm" len="lg"/>
            </a:ln>
          </p:spPr>
        </p:sp>
        <p:sp>
          <p:nvSpPr>
            <p:cNvPr id="87091" name="Line 58"/>
            <p:cNvSpPr/>
            <p:nvPr/>
          </p:nvSpPr>
          <p:spPr>
            <a:xfrm flipV="1">
              <a:off x="4194" y="3033"/>
              <a:ext cx="0" cy="216"/>
            </a:xfrm>
            <a:prstGeom prst="line">
              <a:avLst/>
            </a:prstGeom>
            <a:ln w="19050" cap="flat" cmpd="sng">
              <a:solidFill>
                <a:srgbClr val="0000FF"/>
              </a:solidFill>
              <a:prstDash val="soli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1842"/>
                                        </p:tgtEl>
                                        <p:attrNameLst>
                                          <p:attrName>style.visibility</p:attrName>
                                        </p:attrNameLst>
                                      </p:cBhvr>
                                      <p:to>
                                        <p:strVal val="visible"/>
                                      </p:to>
                                    </p:set>
                                    <p:animEffect transition="in" filter="wipe(left)">
                                      <p:cBhvr>
                                        <p:cTn id="7" dur="500"/>
                                        <p:tgtEl>
                                          <p:spTgt spid="291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2"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Text Box 2"/>
          <p:cNvSpPr txBox="1"/>
          <p:nvPr/>
        </p:nvSpPr>
        <p:spPr>
          <a:xfrm>
            <a:off x="704850" y="698500"/>
            <a:ext cx="1463675" cy="519113"/>
          </a:xfrm>
          <a:prstGeom prst="rect">
            <a:avLst/>
          </a:prstGeom>
          <a:noFill/>
          <a:ln w="19050">
            <a:noFill/>
          </a:ln>
        </p:spPr>
        <p:txBody>
          <a:bodyPr wrap="none">
            <a:spAutoFit/>
          </a:bodyPr>
          <a:lstStyle/>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分析：</a:t>
            </a:r>
          </a:p>
        </p:txBody>
      </p:sp>
      <p:sp>
        <p:nvSpPr>
          <p:cNvPr id="292867" name="Text Box 3" descr="羊皮纸"/>
          <p:cNvSpPr txBox="1"/>
          <p:nvPr/>
        </p:nvSpPr>
        <p:spPr>
          <a:xfrm>
            <a:off x="169863" y="1373188"/>
            <a:ext cx="9066212" cy="1774825"/>
          </a:xfrm>
          <a:prstGeom prst="rect">
            <a:avLst/>
          </a:prstGeom>
          <a:noFill/>
          <a:ln w="38100">
            <a:noFill/>
          </a:ln>
        </p:spPr>
        <p:txBody>
          <a:bodyPr lIns="90000" tIns="46800" rIns="90000" bIns="46800">
            <a:spAutoFit/>
          </a:bodyPr>
          <a:lstStyle/>
          <a:p>
            <a:pPr>
              <a:lnSpc>
                <a:spcPct val="130000"/>
              </a:lnSpc>
            </a:pPr>
            <a:r>
              <a:rPr lang="en-US" altLang="zh-CN" sz="2800" dirty="0">
                <a:latin typeface="Times New Roman" panose="02020603050405020304" pitchFamily="18" charset="0"/>
              </a:rPr>
              <a:t>        </a:t>
            </a:r>
            <a:r>
              <a:rPr lang="zh-CN" altLang="en-US" sz="2800" dirty="0">
                <a:latin typeface="Times New Roman" panose="02020603050405020304" pitchFamily="18" charset="0"/>
              </a:rPr>
              <a:t>由于电路有冗余状态“</a:t>
            </a:r>
            <a:r>
              <a:rPr lang="en-US" altLang="zh-CN" sz="2800" dirty="0">
                <a:latin typeface="Times New Roman" panose="02020603050405020304" pitchFamily="18" charset="0"/>
              </a:rPr>
              <a:t>11”</a:t>
            </a:r>
            <a:r>
              <a:rPr lang="zh-CN" altLang="en-US" sz="2800" dirty="0">
                <a:latin typeface="Times New Roman" panose="02020603050405020304" pitchFamily="18" charset="0"/>
              </a:rPr>
              <a:t>，一旦电路进入“</a:t>
            </a:r>
            <a:r>
              <a:rPr lang="en-US" altLang="zh-CN" sz="2800" dirty="0">
                <a:latin typeface="Times New Roman" panose="02020603050405020304" pitchFamily="18" charset="0"/>
              </a:rPr>
              <a:t>11”</a:t>
            </a:r>
            <a:r>
              <a:rPr lang="zh-CN" altLang="en-US" sz="2800" dirty="0">
                <a:latin typeface="Times New Roman" panose="02020603050405020304" pitchFamily="18" charset="0"/>
              </a:rPr>
              <a:t>状态，</a:t>
            </a:r>
          </a:p>
          <a:p>
            <a:pPr>
              <a:lnSpc>
                <a:spcPct val="130000"/>
              </a:lnSpc>
            </a:pPr>
            <a:r>
              <a:rPr lang="zh-CN" altLang="en-US" sz="2800" dirty="0">
                <a:latin typeface="Times New Roman" panose="02020603050405020304" pitchFamily="18" charset="0"/>
              </a:rPr>
              <a:t>不管输入为	</a:t>
            </a:r>
            <a:r>
              <a:rPr lang="en-US" altLang="zh-CN" sz="2800" dirty="0">
                <a:latin typeface="Times New Roman" panose="02020603050405020304" pitchFamily="18" charset="0"/>
              </a:rPr>
              <a:t>0</a:t>
            </a:r>
            <a:r>
              <a:rPr lang="zh-CN" altLang="en-US" sz="2800" dirty="0">
                <a:latin typeface="Times New Roman" panose="02020603050405020304" pitchFamily="18" charset="0"/>
              </a:rPr>
              <a:t>还是</a:t>
            </a:r>
            <a:r>
              <a:rPr lang="en-US" altLang="zh-CN" sz="2800" dirty="0">
                <a:latin typeface="Times New Roman" panose="02020603050405020304" pitchFamily="18" charset="0"/>
              </a:rPr>
              <a:t>1</a:t>
            </a:r>
            <a:r>
              <a:rPr lang="zh-CN" altLang="en-US" sz="2800" dirty="0">
                <a:latin typeface="Times New Roman" panose="02020603050405020304" pitchFamily="18" charset="0"/>
              </a:rPr>
              <a:t>，经过一个时钟周期后，电路应自动</a:t>
            </a:r>
          </a:p>
          <a:p>
            <a:pPr>
              <a:lnSpc>
                <a:spcPct val="130000"/>
              </a:lnSpc>
            </a:pPr>
            <a:r>
              <a:rPr lang="zh-CN" altLang="en-US" sz="2800" dirty="0">
                <a:latin typeface="Times New Roman" panose="02020603050405020304" pitchFamily="18" charset="0"/>
              </a:rPr>
              <a:t>进入有效状态，否则电路存在“挂起”现象。</a:t>
            </a:r>
          </a:p>
        </p:txBody>
      </p:sp>
      <p:sp>
        <p:nvSpPr>
          <p:cNvPr id="292868" name="Text Box 4" descr="羊皮纸"/>
          <p:cNvSpPr txBox="1"/>
          <p:nvPr/>
        </p:nvSpPr>
        <p:spPr>
          <a:xfrm>
            <a:off x="271463" y="3268663"/>
            <a:ext cx="8689975" cy="3425825"/>
          </a:xfrm>
          <a:prstGeom prst="rect">
            <a:avLst/>
          </a:prstGeom>
          <a:noFill/>
          <a:ln w="38100">
            <a:noFill/>
          </a:ln>
        </p:spPr>
        <p:txBody>
          <a:bodyPr wrap="none" lIns="90000" tIns="46800" rIns="90000" bIns="46800">
            <a:spAutoFit/>
          </a:bodyPr>
          <a:lstStyle/>
          <a:p>
            <a:pPr>
              <a:lnSpc>
                <a:spcPct val="130000"/>
              </a:lnSpc>
            </a:pPr>
            <a:r>
              <a:rPr lang="zh-CN" altLang="en-US" sz="2800" dirty="0">
                <a:latin typeface="Times New Roman" panose="02020603050405020304" pitchFamily="18" charset="0"/>
              </a:rPr>
              <a:t>分析方法为：</a:t>
            </a:r>
          </a:p>
          <a:p>
            <a:pPr>
              <a:lnSpc>
                <a:spcPct val="130000"/>
              </a:lnSpc>
            </a:pPr>
            <a:r>
              <a:rPr lang="zh-CN" altLang="en-US" sz="2800" dirty="0">
                <a:latin typeface="Times New Roman" panose="02020603050405020304" pitchFamily="18" charset="0"/>
              </a:rPr>
              <a:t>        确定无效状态的次态，由于无效状态的次态为</a:t>
            </a:r>
            <a:r>
              <a:rPr lang="en-US" altLang="zh-CN" sz="2800" dirty="0">
                <a:latin typeface="Times New Roman" panose="02020603050405020304" pitchFamily="18" charset="0"/>
              </a:rPr>
              <a:t>d</a:t>
            </a:r>
            <a:r>
              <a:rPr lang="zh-CN" altLang="en-US" sz="2800" dirty="0">
                <a:latin typeface="Times New Roman" panose="02020603050405020304" pitchFamily="18" charset="0"/>
              </a:rPr>
              <a:t>，</a:t>
            </a:r>
          </a:p>
          <a:p>
            <a:pPr>
              <a:lnSpc>
                <a:spcPct val="130000"/>
              </a:lnSpc>
            </a:pPr>
            <a:r>
              <a:rPr lang="zh-CN" altLang="en-US" sz="2800" dirty="0">
                <a:latin typeface="Times New Roman" panose="02020603050405020304" pitchFamily="18" charset="0"/>
              </a:rPr>
              <a:t>所以在化简的卡诺图中，被卡诺圈圈起的</a:t>
            </a:r>
            <a:r>
              <a:rPr lang="en-US" altLang="zh-CN" sz="2800" dirty="0">
                <a:latin typeface="Times New Roman" panose="02020603050405020304" pitchFamily="18" charset="0"/>
              </a:rPr>
              <a:t>d</a:t>
            </a:r>
            <a:r>
              <a:rPr lang="zh-CN" altLang="en-US" sz="2800" dirty="0">
                <a:latin typeface="Times New Roman" panose="02020603050405020304" pitchFamily="18" charset="0"/>
              </a:rPr>
              <a:t>为</a:t>
            </a:r>
            <a:r>
              <a:rPr lang="en-US" altLang="zh-CN" sz="2800" dirty="0">
                <a:latin typeface="Times New Roman" panose="02020603050405020304" pitchFamily="18" charset="0"/>
              </a:rPr>
              <a:t>1</a:t>
            </a:r>
            <a:r>
              <a:rPr lang="zh-CN" altLang="en-US" sz="2800" dirty="0">
                <a:latin typeface="Times New Roman" panose="02020603050405020304" pitchFamily="18" charset="0"/>
              </a:rPr>
              <a:t>，没有被</a:t>
            </a:r>
          </a:p>
          <a:p>
            <a:pPr>
              <a:lnSpc>
                <a:spcPct val="130000"/>
              </a:lnSpc>
            </a:pPr>
            <a:r>
              <a:rPr lang="zh-CN" altLang="en-US" sz="2800" dirty="0">
                <a:latin typeface="Times New Roman" panose="02020603050405020304" pitchFamily="18" charset="0"/>
              </a:rPr>
              <a:t>卡诺圈圈起的</a:t>
            </a:r>
            <a:r>
              <a:rPr lang="en-US" altLang="zh-CN" sz="2800" dirty="0">
                <a:latin typeface="Times New Roman" panose="02020603050405020304" pitchFamily="18" charset="0"/>
              </a:rPr>
              <a:t>d</a:t>
            </a:r>
            <a:r>
              <a:rPr lang="zh-CN" altLang="en-US" sz="2800" dirty="0">
                <a:latin typeface="Times New Roman" panose="02020603050405020304" pitchFamily="18" charset="0"/>
              </a:rPr>
              <a:t>为</a:t>
            </a:r>
            <a:r>
              <a:rPr lang="en-US" altLang="zh-CN" sz="2800" dirty="0">
                <a:latin typeface="Times New Roman" panose="02020603050405020304" pitchFamily="18" charset="0"/>
              </a:rPr>
              <a:t>0</a:t>
            </a:r>
            <a:r>
              <a:rPr lang="zh-CN" altLang="en-US" sz="2800" dirty="0">
                <a:latin typeface="Times New Roman" panose="02020603050405020304" pitchFamily="18" charset="0"/>
              </a:rPr>
              <a:t>。然后判断无效状态的次态是否为有</a:t>
            </a:r>
          </a:p>
          <a:p>
            <a:pPr>
              <a:lnSpc>
                <a:spcPct val="130000"/>
              </a:lnSpc>
            </a:pPr>
            <a:r>
              <a:rPr lang="zh-CN" altLang="en-US" sz="2800" dirty="0">
                <a:latin typeface="Times New Roman" panose="02020603050405020304" pitchFamily="18" charset="0"/>
              </a:rPr>
              <a:t>效状态或是否存在“挂起”现象。</a:t>
            </a:r>
          </a:p>
          <a:p>
            <a:pPr>
              <a:lnSpc>
                <a:spcPct val="130000"/>
              </a:lnSpc>
            </a:pP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2866"/>
                                        </p:tgtEl>
                                        <p:attrNameLst>
                                          <p:attrName>style.visibility</p:attrName>
                                        </p:attrNameLst>
                                      </p:cBhvr>
                                      <p:to>
                                        <p:strVal val="visible"/>
                                      </p:to>
                                    </p:set>
                                    <p:animEffect transition="in" filter="wipe(left)">
                                      <p:cBhvr>
                                        <p:cTn id="7" dur="500"/>
                                        <p:tgtEl>
                                          <p:spTgt spid="2928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2867"/>
                                        </p:tgtEl>
                                        <p:attrNameLst>
                                          <p:attrName>style.visibility</p:attrName>
                                        </p:attrNameLst>
                                      </p:cBhvr>
                                      <p:to>
                                        <p:strVal val="visible"/>
                                      </p:to>
                                    </p:set>
                                    <p:animEffect transition="in" filter="wipe(left)">
                                      <p:cBhvr>
                                        <p:cTn id="12" dur="500"/>
                                        <p:tgtEl>
                                          <p:spTgt spid="2928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2868"/>
                                        </p:tgtEl>
                                        <p:attrNameLst>
                                          <p:attrName>style.visibility</p:attrName>
                                        </p:attrNameLst>
                                      </p:cBhvr>
                                      <p:to>
                                        <p:strVal val="visible"/>
                                      </p:to>
                                    </p:set>
                                    <p:animEffect transition="in" filter="wipe(left)">
                                      <p:cBhvr>
                                        <p:cTn id="17" dur="500"/>
                                        <p:tgtEl>
                                          <p:spTgt spid="292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6" grpId="0"/>
      <p:bldP spid="292867" grpId="0"/>
      <p:bldP spid="292868"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9100" y="800100"/>
            <a:ext cx="3709988" cy="1690688"/>
            <a:chOff x="264" y="828"/>
            <a:chExt cx="2337" cy="1065"/>
          </a:xfrm>
        </p:grpSpPr>
        <p:sp>
          <p:nvSpPr>
            <p:cNvPr id="89215" name="Text Box 3"/>
            <p:cNvSpPr txBox="1"/>
            <p:nvPr/>
          </p:nvSpPr>
          <p:spPr>
            <a:xfrm>
              <a:off x="507" y="828"/>
              <a:ext cx="521" cy="327"/>
            </a:xfrm>
            <a:prstGeom prst="rect">
              <a:avLst/>
            </a:prstGeom>
            <a:noFill/>
            <a:ln w="19050">
              <a:noFill/>
            </a:ln>
          </p:spPr>
          <p:txBody>
            <a:bodyPr>
              <a:spAutoFit/>
            </a:bodyPr>
            <a:lstStyle/>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p>
          </p:txBody>
        </p:sp>
        <p:sp>
          <p:nvSpPr>
            <p:cNvPr id="89216" name="Text Box 4"/>
            <p:cNvSpPr txBox="1"/>
            <p:nvPr/>
          </p:nvSpPr>
          <p:spPr>
            <a:xfrm>
              <a:off x="842" y="121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9217" name="Text Box 5"/>
            <p:cNvSpPr txBox="1"/>
            <p:nvPr/>
          </p:nvSpPr>
          <p:spPr>
            <a:xfrm>
              <a:off x="1346" y="121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9218" name="Text Box 6"/>
            <p:cNvSpPr txBox="1"/>
            <p:nvPr/>
          </p:nvSpPr>
          <p:spPr>
            <a:xfrm>
              <a:off x="1337" y="1566"/>
              <a:ext cx="228" cy="327"/>
            </a:xfrm>
            <a:prstGeom prst="rect">
              <a:avLst/>
            </a:prstGeom>
            <a:noFill/>
            <a:ln w="19050">
              <a:noFill/>
            </a:ln>
          </p:spPr>
          <p:txBody>
            <a:bodyPr wrap="none">
              <a:spAutoFit/>
            </a:bodyPr>
            <a:lstStyle/>
            <a:p>
              <a:r>
                <a:rPr lang="en-US" altLang="zh-CN" sz="2800" dirty="0">
                  <a:solidFill>
                    <a:srgbClr val="FF3300"/>
                  </a:solidFill>
                  <a:latin typeface="Times New Roman" panose="02020603050405020304" pitchFamily="18" charset="0"/>
                </a:rPr>
                <a:t>d</a:t>
              </a:r>
            </a:p>
          </p:txBody>
        </p:sp>
        <p:sp>
          <p:nvSpPr>
            <p:cNvPr id="89219" name="Text Box 7"/>
            <p:cNvSpPr txBox="1"/>
            <p:nvPr/>
          </p:nvSpPr>
          <p:spPr>
            <a:xfrm>
              <a:off x="842" y="156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9220" name="Text Box 8"/>
            <p:cNvSpPr txBox="1"/>
            <p:nvPr/>
          </p:nvSpPr>
          <p:spPr>
            <a:xfrm>
              <a:off x="820" y="900"/>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89221" name="Text Box 9"/>
            <p:cNvSpPr txBox="1"/>
            <p:nvPr/>
          </p:nvSpPr>
          <p:spPr>
            <a:xfrm>
              <a:off x="1322" y="900"/>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89222" name="Text Box 10"/>
            <p:cNvSpPr txBox="1"/>
            <p:nvPr/>
          </p:nvSpPr>
          <p:spPr>
            <a:xfrm>
              <a:off x="458" y="121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9223" name="Text Box 11"/>
            <p:cNvSpPr txBox="1"/>
            <p:nvPr/>
          </p:nvSpPr>
          <p:spPr>
            <a:xfrm>
              <a:off x="477" y="156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9224" name="Line 12"/>
            <p:cNvSpPr/>
            <p:nvPr/>
          </p:nvSpPr>
          <p:spPr>
            <a:xfrm>
              <a:off x="365" y="948"/>
              <a:ext cx="342" cy="233"/>
            </a:xfrm>
            <a:prstGeom prst="line">
              <a:avLst/>
            </a:prstGeom>
            <a:ln w="38100" cap="flat" cmpd="sng">
              <a:solidFill>
                <a:srgbClr val="3333FF"/>
              </a:solidFill>
              <a:prstDash val="solid"/>
              <a:headEnd type="none" w="med" len="med"/>
              <a:tailEnd type="none" w="sm" len="lg"/>
            </a:ln>
          </p:spPr>
        </p:sp>
        <p:sp>
          <p:nvSpPr>
            <p:cNvPr id="89225" name="Text Box 13"/>
            <p:cNvSpPr txBox="1"/>
            <p:nvPr/>
          </p:nvSpPr>
          <p:spPr>
            <a:xfrm>
              <a:off x="328" y="957"/>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grpSp>
          <p:nvGrpSpPr>
            <p:cNvPr id="89226" name="Group 14"/>
            <p:cNvGrpSpPr/>
            <p:nvPr/>
          </p:nvGrpSpPr>
          <p:grpSpPr>
            <a:xfrm>
              <a:off x="697" y="1174"/>
              <a:ext cx="1904" cy="648"/>
              <a:chOff x="2652" y="1704"/>
              <a:chExt cx="2400" cy="1200"/>
            </a:xfrm>
          </p:grpSpPr>
          <p:grpSp>
            <p:nvGrpSpPr>
              <p:cNvPr id="89235" name="Group 15"/>
              <p:cNvGrpSpPr/>
              <p:nvPr/>
            </p:nvGrpSpPr>
            <p:grpSpPr>
              <a:xfrm>
                <a:off x="2652" y="1704"/>
                <a:ext cx="1200" cy="1200"/>
                <a:chOff x="1272" y="1896"/>
                <a:chExt cx="1200" cy="1200"/>
              </a:xfrm>
            </p:grpSpPr>
            <p:sp>
              <p:nvSpPr>
                <p:cNvPr id="89241" name="Rectangle 16"/>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242" name="Rectangle 17"/>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243" name="Rectangle 18"/>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244" name="Rectangle 19"/>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89236" name="Group 20"/>
              <p:cNvGrpSpPr/>
              <p:nvPr/>
            </p:nvGrpSpPr>
            <p:grpSpPr>
              <a:xfrm>
                <a:off x="3852" y="1704"/>
                <a:ext cx="1200" cy="1200"/>
                <a:chOff x="1272" y="1896"/>
                <a:chExt cx="1200" cy="1200"/>
              </a:xfrm>
            </p:grpSpPr>
            <p:sp>
              <p:nvSpPr>
                <p:cNvPr id="89237" name="Rectangle 21"/>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238" name="Rectangle 22"/>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239" name="Rectangle 23"/>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240" name="Rectangle 24"/>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sp>
          <p:nvSpPr>
            <p:cNvPr id="89227" name="Text Box 25"/>
            <p:cNvSpPr txBox="1"/>
            <p:nvPr/>
          </p:nvSpPr>
          <p:spPr>
            <a:xfrm>
              <a:off x="1751" y="907"/>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89228" name="Text Box 26"/>
            <p:cNvSpPr txBox="1"/>
            <p:nvPr/>
          </p:nvSpPr>
          <p:spPr>
            <a:xfrm>
              <a:off x="2186" y="907"/>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89229" name="Text Box 27"/>
            <p:cNvSpPr txBox="1"/>
            <p:nvPr/>
          </p:nvSpPr>
          <p:spPr>
            <a:xfrm>
              <a:off x="1812" y="1209"/>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9230" name="Text Box 28"/>
            <p:cNvSpPr txBox="1"/>
            <p:nvPr/>
          </p:nvSpPr>
          <p:spPr>
            <a:xfrm>
              <a:off x="2242" y="1209"/>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9231" name="Text Box 29"/>
            <p:cNvSpPr txBox="1"/>
            <p:nvPr/>
          </p:nvSpPr>
          <p:spPr>
            <a:xfrm>
              <a:off x="1821" y="1566"/>
              <a:ext cx="228" cy="327"/>
            </a:xfrm>
            <a:prstGeom prst="rect">
              <a:avLst/>
            </a:prstGeom>
            <a:noFill/>
            <a:ln w="19050">
              <a:noFill/>
            </a:ln>
          </p:spPr>
          <p:txBody>
            <a:bodyPr wrap="none">
              <a:spAutoFit/>
            </a:bodyPr>
            <a:lstStyle/>
            <a:p>
              <a:r>
                <a:rPr lang="en-US" altLang="zh-CN" sz="2800" dirty="0">
                  <a:solidFill>
                    <a:srgbClr val="FF3300"/>
                  </a:solidFill>
                  <a:latin typeface="Times New Roman" panose="02020603050405020304" pitchFamily="18" charset="0"/>
                </a:rPr>
                <a:t>d</a:t>
              </a:r>
            </a:p>
          </p:txBody>
        </p:sp>
        <p:sp>
          <p:nvSpPr>
            <p:cNvPr id="89232" name="Text Box 30"/>
            <p:cNvSpPr txBox="1"/>
            <p:nvPr/>
          </p:nvSpPr>
          <p:spPr>
            <a:xfrm>
              <a:off x="2270" y="1559"/>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9233" name="Text Box 31"/>
            <p:cNvSpPr txBox="1"/>
            <p:nvPr/>
          </p:nvSpPr>
          <p:spPr>
            <a:xfrm>
              <a:off x="264" y="1372"/>
              <a:ext cx="279" cy="327"/>
            </a:xfrm>
            <a:prstGeom prst="rect">
              <a:avLst/>
            </a:prstGeom>
            <a:noFill/>
            <a:ln w="19050">
              <a:noFill/>
            </a:ln>
          </p:spPr>
          <p:txBody>
            <a:bodyPr wrap="none">
              <a:spAutoFit/>
            </a:bodyPr>
            <a:lstStyle/>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p>
          </p:txBody>
        </p:sp>
        <p:sp>
          <p:nvSpPr>
            <p:cNvPr id="89234" name="AutoShape 32"/>
            <p:cNvSpPr/>
            <p:nvPr/>
          </p:nvSpPr>
          <p:spPr>
            <a:xfrm>
              <a:off x="1790" y="1641"/>
              <a:ext cx="752" cy="155"/>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6" name="Group 33"/>
          <p:cNvGrpSpPr/>
          <p:nvPr/>
        </p:nvGrpSpPr>
        <p:grpSpPr>
          <a:xfrm>
            <a:off x="4868863" y="768350"/>
            <a:ext cx="3709987" cy="1690688"/>
            <a:chOff x="3115" y="832"/>
            <a:chExt cx="2337" cy="1065"/>
          </a:xfrm>
        </p:grpSpPr>
        <p:sp>
          <p:nvSpPr>
            <p:cNvPr id="89185" name="Text Box 34"/>
            <p:cNvSpPr txBox="1"/>
            <p:nvPr/>
          </p:nvSpPr>
          <p:spPr>
            <a:xfrm>
              <a:off x="3358" y="832"/>
              <a:ext cx="521" cy="327"/>
            </a:xfrm>
            <a:prstGeom prst="rect">
              <a:avLst/>
            </a:prstGeom>
            <a:noFill/>
            <a:ln w="19050">
              <a:noFill/>
            </a:ln>
          </p:spPr>
          <p:txBody>
            <a:bodyPr>
              <a:spAutoFit/>
            </a:bodyPr>
            <a:lstStyle/>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p>
          </p:txBody>
        </p:sp>
        <p:sp>
          <p:nvSpPr>
            <p:cNvPr id="89186" name="Text Box 35"/>
            <p:cNvSpPr txBox="1"/>
            <p:nvPr/>
          </p:nvSpPr>
          <p:spPr>
            <a:xfrm>
              <a:off x="3693" y="122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9187" name="Text Box 36"/>
            <p:cNvSpPr txBox="1"/>
            <p:nvPr/>
          </p:nvSpPr>
          <p:spPr>
            <a:xfrm>
              <a:off x="4197" y="122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9188" name="Text Box 37"/>
            <p:cNvSpPr txBox="1"/>
            <p:nvPr/>
          </p:nvSpPr>
          <p:spPr>
            <a:xfrm>
              <a:off x="4188" y="1570"/>
              <a:ext cx="228" cy="327"/>
            </a:xfrm>
            <a:prstGeom prst="rect">
              <a:avLst/>
            </a:prstGeom>
            <a:noFill/>
            <a:ln w="19050">
              <a:noFill/>
            </a:ln>
          </p:spPr>
          <p:txBody>
            <a:bodyPr wrap="none">
              <a:spAutoFit/>
            </a:bodyPr>
            <a:lstStyle/>
            <a:p>
              <a:r>
                <a:rPr lang="en-US" altLang="zh-CN" sz="2800" dirty="0">
                  <a:solidFill>
                    <a:srgbClr val="FF3300"/>
                  </a:solidFill>
                  <a:latin typeface="Times New Roman" panose="02020603050405020304" pitchFamily="18" charset="0"/>
                </a:rPr>
                <a:t>d</a:t>
              </a:r>
            </a:p>
          </p:txBody>
        </p:sp>
        <p:sp>
          <p:nvSpPr>
            <p:cNvPr id="89189" name="Text Box 38"/>
            <p:cNvSpPr txBox="1"/>
            <p:nvPr/>
          </p:nvSpPr>
          <p:spPr>
            <a:xfrm>
              <a:off x="3693" y="157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9190" name="Text Box 39"/>
            <p:cNvSpPr txBox="1"/>
            <p:nvPr/>
          </p:nvSpPr>
          <p:spPr>
            <a:xfrm>
              <a:off x="3671" y="904"/>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89191" name="Text Box 40"/>
            <p:cNvSpPr txBox="1"/>
            <p:nvPr/>
          </p:nvSpPr>
          <p:spPr>
            <a:xfrm>
              <a:off x="4173" y="904"/>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89192" name="Text Box 41"/>
            <p:cNvSpPr txBox="1"/>
            <p:nvPr/>
          </p:nvSpPr>
          <p:spPr>
            <a:xfrm>
              <a:off x="3309" y="1220"/>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9193" name="Text Box 42"/>
            <p:cNvSpPr txBox="1"/>
            <p:nvPr/>
          </p:nvSpPr>
          <p:spPr>
            <a:xfrm>
              <a:off x="3328" y="1564"/>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9194" name="Line 43"/>
            <p:cNvSpPr/>
            <p:nvPr/>
          </p:nvSpPr>
          <p:spPr>
            <a:xfrm>
              <a:off x="3216" y="952"/>
              <a:ext cx="342" cy="233"/>
            </a:xfrm>
            <a:prstGeom prst="line">
              <a:avLst/>
            </a:prstGeom>
            <a:ln w="38100" cap="flat" cmpd="sng">
              <a:solidFill>
                <a:srgbClr val="3333FF"/>
              </a:solidFill>
              <a:prstDash val="solid"/>
              <a:headEnd type="none" w="med" len="med"/>
              <a:tailEnd type="none" w="sm" len="lg"/>
            </a:ln>
          </p:spPr>
        </p:sp>
        <p:sp>
          <p:nvSpPr>
            <p:cNvPr id="89195" name="Text Box 44"/>
            <p:cNvSpPr txBox="1"/>
            <p:nvPr/>
          </p:nvSpPr>
          <p:spPr>
            <a:xfrm>
              <a:off x="3179" y="961"/>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grpSp>
          <p:nvGrpSpPr>
            <p:cNvPr id="89196" name="Group 45"/>
            <p:cNvGrpSpPr/>
            <p:nvPr/>
          </p:nvGrpSpPr>
          <p:grpSpPr>
            <a:xfrm>
              <a:off x="3548" y="1178"/>
              <a:ext cx="1904" cy="648"/>
              <a:chOff x="2652" y="1704"/>
              <a:chExt cx="2400" cy="1200"/>
            </a:xfrm>
          </p:grpSpPr>
          <p:grpSp>
            <p:nvGrpSpPr>
              <p:cNvPr id="89205" name="Group 46"/>
              <p:cNvGrpSpPr/>
              <p:nvPr/>
            </p:nvGrpSpPr>
            <p:grpSpPr>
              <a:xfrm>
                <a:off x="2652" y="1704"/>
                <a:ext cx="1200" cy="1200"/>
                <a:chOff x="1272" y="1896"/>
                <a:chExt cx="1200" cy="1200"/>
              </a:xfrm>
            </p:grpSpPr>
            <p:sp>
              <p:nvSpPr>
                <p:cNvPr id="89211" name="Rectangle 4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212" name="Rectangle 4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213" name="Rectangle 4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214" name="Rectangle 5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89206" name="Group 51"/>
              <p:cNvGrpSpPr/>
              <p:nvPr/>
            </p:nvGrpSpPr>
            <p:grpSpPr>
              <a:xfrm>
                <a:off x="3852" y="1704"/>
                <a:ext cx="1200" cy="1200"/>
                <a:chOff x="1272" y="1896"/>
                <a:chExt cx="1200" cy="1200"/>
              </a:xfrm>
            </p:grpSpPr>
            <p:sp>
              <p:nvSpPr>
                <p:cNvPr id="89207" name="Rectangle 5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208" name="Rectangle 5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209" name="Rectangle 5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210" name="Rectangle 5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sp>
          <p:nvSpPr>
            <p:cNvPr id="89197" name="Text Box 56"/>
            <p:cNvSpPr txBox="1"/>
            <p:nvPr/>
          </p:nvSpPr>
          <p:spPr>
            <a:xfrm>
              <a:off x="4602" y="911"/>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89198" name="Text Box 57"/>
            <p:cNvSpPr txBox="1"/>
            <p:nvPr/>
          </p:nvSpPr>
          <p:spPr>
            <a:xfrm>
              <a:off x="5037" y="911"/>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89199" name="Text Box 58"/>
            <p:cNvSpPr txBox="1"/>
            <p:nvPr/>
          </p:nvSpPr>
          <p:spPr>
            <a:xfrm>
              <a:off x="4663" y="1213"/>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9200" name="Text Box 59"/>
            <p:cNvSpPr txBox="1"/>
            <p:nvPr/>
          </p:nvSpPr>
          <p:spPr>
            <a:xfrm>
              <a:off x="5093" y="1213"/>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9201" name="Text Box 60"/>
            <p:cNvSpPr txBox="1"/>
            <p:nvPr/>
          </p:nvSpPr>
          <p:spPr>
            <a:xfrm>
              <a:off x="4672" y="1570"/>
              <a:ext cx="228" cy="327"/>
            </a:xfrm>
            <a:prstGeom prst="rect">
              <a:avLst/>
            </a:prstGeom>
            <a:noFill/>
            <a:ln w="19050">
              <a:noFill/>
            </a:ln>
          </p:spPr>
          <p:txBody>
            <a:bodyPr wrap="none">
              <a:spAutoFit/>
            </a:bodyPr>
            <a:lstStyle/>
            <a:p>
              <a:r>
                <a:rPr lang="en-US" altLang="zh-CN" sz="2800" dirty="0">
                  <a:solidFill>
                    <a:srgbClr val="FF3300"/>
                  </a:solidFill>
                  <a:latin typeface="Times New Roman" panose="02020603050405020304" pitchFamily="18" charset="0"/>
                </a:rPr>
                <a:t>d</a:t>
              </a:r>
            </a:p>
          </p:txBody>
        </p:sp>
        <p:sp>
          <p:nvSpPr>
            <p:cNvPr id="89202" name="Text Box 61"/>
            <p:cNvSpPr txBox="1"/>
            <p:nvPr/>
          </p:nvSpPr>
          <p:spPr>
            <a:xfrm>
              <a:off x="5121" y="1563"/>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9203" name="Text Box 62"/>
            <p:cNvSpPr txBox="1"/>
            <p:nvPr/>
          </p:nvSpPr>
          <p:spPr>
            <a:xfrm>
              <a:off x="3115" y="1376"/>
              <a:ext cx="354" cy="327"/>
            </a:xfrm>
            <a:prstGeom prst="rect">
              <a:avLst/>
            </a:prstGeom>
            <a:noFill/>
            <a:ln w="19050">
              <a:noFill/>
            </a:ln>
          </p:spPr>
          <p:txBody>
            <a:bodyPr wrap="none">
              <a:spAutoFit/>
            </a:bodyPr>
            <a:lstStyle/>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p>
          </p:txBody>
        </p:sp>
        <p:sp>
          <p:nvSpPr>
            <p:cNvPr id="89204" name="AutoShape 63"/>
            <p:cNvSpPr/>
            <p:nvPr/>
          </p:nvSpPr>
          <p:spPr>
            <a:xfrm>
              <a:off x="3690" y="1261"/>
              <a:ext cx="752" cy="551"/>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10" name="组合 157"/>
          <p:cNvGrpSpPr/>
          <p:nvPr/>
        </p:nvGrpSpPr>
        <p:grpSpPr>
          <a:xfrm>
            <a:off x="419100" y="2797175"/>
            <a:ext cx="3709988" cy="1690688"/>
            <a:chOff x="419100" y="2797175"/>
            <a:chExt cx="3709988" cy="1690688"/>
          </a:xfrm>
        </p:grpSpPr>
        <p:sp>
          <p:nvSpPr>
            <p:cNvPr id="89154" name="Text Box 64"/>
            <p:cNvSpPr txBox="1"/>
            <p:nvPr/>
          </p:nvSpPr>
          <p:spPr>
            <a:xfrm>
              <a:off x="804863" y="2797175"/>
              <a:ext cx="827087" cy="519113"/>
            </a:xfrm>
            <a:prstGeom prst="rect">
              <a:avLst/>
            </a:prstGeom>
            <a:noFill/>
            <a:ln w="19050">
              <a:noFill/>
            </a:ln>
          </p:spPr>
          <p:txBody>
            <a:bodyPr>
              <a:spAutoFit/>
            </a:bodyPr>
            <a:lstStyle/>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p>
          </p:txBody>
        </p:sp>
        <p:grpSp>
          <p:nvGrpSpPr>
            <p:cNvPr id="89155" name="组合 156"/>
            <p:cNvGrpSpPr/>
            <p:nvPr/>
          </p:nvGrpSpPr>
          <p:grpSpPr>
            <a:xfrm>
              <a:off x="419100" y="2911475"/>
              <a:ext cx="3709988" cy="1576388"/>
              <a:chOff x="419100" y="2911475"/>
              <a:chExt cx="3709988" cy="1576388"/>
            </a:xfrm>
          </p:grpSpPr>
          <p:sp>
            <p:nvSpPr>
              <p:cNvPr id="89156" name="Text Box 65"/>
              <p:cNvSpPr txBox="1"/>
              <p:nvPr/>
            </p:nvSpPr>
            <p:spPr>
              <a:xfrm>
                <a:off x="1336675" y="3413125"/>
                <a:ext cx="361950" cy="519113"/>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9157" name="Text Box 66"/>
              <p:cNvSpPr txBox="1"/>
              <p:nvPr/>
            </p:nvSpPr>
            <p:spPr>
              <a:xfrm>
                <a:off x="2136775" y="3413125"/>
                <a:ext cx="361950" cy="519113"/>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9158" name="Text Box 67"/>
              <p:cNvSpPr txBox="1"/>
              <p:nvPr/>
            </p:nvSpPr>
            <p:spPr>
              <a:xfrm>
                <a:off x="2122488" y="3968750"/>
                <a:ext cx="361950" cy="519113"/>
              </a:xfrm>
              <a:prstGeom prst="rect">
                <a:avLst/>
              </a:prstGeom>
              <a:noFill/>
              <a:ln w="19050">
                <a:noFill/>
              </a:ln>
            </p:spPr>
            <p:txBody>
              <a:bodyPr wrap="none">
                <a:spAutoFit/>
              </a:bodyPr>
              <a:lstStyle/>
              <a:p>
                <a:r>
                  <a:rPr lang="en-US" altLang="zh-CN" sz="2800" dirty="0">
                    <a:solidFill>
                      <a:srgbClr val="FF3300"/>
                    </a:solidFill>
                    <a:latin typeface="Times New Roman" panose="02020603050405020304" pitchFamily="18" charset="0"/>
                  </a:rPr>
                  <a:t>d</a:t>
                </a:r>
              </a:p>
            </p:txBody>
          </p:sp>
          <p:sp>
            <p:nvSpPr>
              <p:cNvPr id="89159" name="Text Box 68"/>
              <p:cNvSpPr txBox="1"/>
              <p:nvPr/>
            </p:nvSpPr>
            <p:spPr>
              <a:xfrm>
                <a:off x="1336675" y="3968750"/>
                <a:ext cx="361950" cy="519113"/>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9160" name="Text Box 69"/>
              <p:cNvSpPr txBox="1"/>
              <p:nvPr/>
            </p:nvSpPr>
            <p:spPr>
              <a:xfrm>
                <a:off x="1301750" y="2911475"/>
                <a:ext cx="539750" cy="519113"/>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89161" name="Text Box 70"/>
              <p:cNvSpPr txBox="1"/>
              <p:nvPr/>
            </p:nvSpPr>
            <p:spPr>
              <a:xfrm>
                <a:off x="2098675" y="2911475"/>
                <a:ext cx="539750" cy="519113"/>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89162" name="Text Box 71"/>
              <p:cNvSpPr txBox="1"/>
              <p:nvPr/>
            </p:nvSpPr>
            <p:spPr>
              <a:xfrm>
                <a:off x="727075" y="3413125"/>
                <a:ext cx="361950" cy="519113"/>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9163" name="Text Box 72"/>
              <p:cNvSpPr txBox="1"/>
              <p:nvPr/>
            </p:nvSpPr>
            <p:spPr>
              <a:xfrm>
                <a:off x="757238" y="3959225"/>
                <a:ext cx="361950" cy="519113"/>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9164" name="Line 73"/>
              <p:cNvSpPr/>
              <p:nvPr/>
            </p:nvSpPr>
            <p:spPr>
              <a:xfrm>
                <a:off x="579438" y="2987675"/>
                <a:ext cx="542925" cy="369888"/>
              </a:xfrm>
              <a:prstGeom prst="line">
                <a:avLst/>
              </a:prstGeom>
              <a:ln w="38100" cap="flat" cmpd="sng">
                <a:solidFill>
                  <a:srgbClr val="3333FF"/>
                </a:solidFill>
                <a:prstDash val="solid"/>
                <a:headEnd type="none" w="med" len="med"/>
                <a:tailEnd type="none" w="sm" len="lg"/>
              </a:ln>
            </p:spPr>
          </p:sp>
          <p:sp>
            <p:nvSpPr>
              <p:cNvPr id="89165" name="Text Box 74"/>
              <p:cNvSpPr txBox="1"/>
              <p:nvPr/>
            </p:nvSpPr>
            <p:spPr>
              <a:xfrm>
                <a:off x="520700" y="3001963"/>
                <a:ext cx="482600" cy="519112"/>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grpSp>
            <p:nvGrpSpPr>
              <p:cNvPr id="89166" name="Group 75"/>
              <p:cNvGrpSpPr/>
              <p:nvPr/>
            </p:nvGrpSpPr>
            <p:grpSpPr>
              <a:xfrm>
                <a:off x="1106488" y="3346450"/>
                <a:ext cx="3022600" cy="1141413"/>
                <a:chOff x="2652" y="1704"/>
                <a:chExt cx="2400" cy="1200"/>
              </a:xfrm>
            </p:grpSpPr>
            <p:grpSp>
              <p:nvGrpSpPr>
                <p:cNvPr id="89175" name="Group 76"/>
                <p:cNvGrpSpPr/>
                <p:nvPr/>
              </p:nvGrpSpPr>
              <p:grpSpPr>
                <a:xfrm>
                  <a:off x="2652" y="1704"/>
                  <a:ext cx="1200" cy="1200"/>
                  <a:chOff x="1272" y="1896"/>
                  <a:chExt cx="1200" cy="1200"/>
                </a:xfrm>
              </p:grpSpPr>
              <p:sp>
                <p:nvSpPr>
                  <p:cNvPr id="89181" name="Rectangle 7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182" name="Rectangle 7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183" name="Rectangle 7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184" name="Rectangle 8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89176" name="Group 81"/>
                <p:cNvGrpSpPr/>
                <p:nvPr/>
              </p:nvGrpSpPr>
              <p:grpSpPr>
                <a:xfrm>
                  <a:off x="3852" y="1704"/>
                  <a:ext cx="1200" cy="1200"/>
                  <a:chOff x="1272" y="1896"/>
                  <a:chExt cx="1200" cy="1200"/>
                </a:xfrm>
              </p:grpSpPr>
              <p:sp>
                <p:nvSpPr>
                  <p:cNvPr id="89177" name="Rectangle 8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178" name="Rectangle 8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179" name="Rectangle 8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180" name="Rectangle 8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sp>
            <p:nvSpPr>
              <p:cNvPr id="89167" name="Text Box 86"/>
              <p:cNvSpPr txBox="1"/>
              <p:nvPr/>
            </p:nvSpPr>
            <p:spPr>
              <a:xfrm>
                <a:off x="2779713" y="2922588"/>
                <a:ext cx="539750" cy="519112"/>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89168" name="Text Box 87"/>
              <p:cNvSpPr txBox="1"/>
              <p:nvPr/>
            </p:nvSpPr>
            <p:spPr>
              <a:xfrm>
                <a:off x="3470275" y="2922588"/>
                <a:ext cx="539750" cy="519112"/>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89169" name="Text Box 88"/>
              <p:cNvSpPr txBox="1"/>
              <p:nvPr/>
            </p:nvSpPr>
            <p:spPr>
              <a:xfrm>
                <a:off x="2876550" y="3402013"/>
                <a:ext cx="361950" cy="519112"/>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9170" name="Text Box 89"/>
              <p:cNvSpPr txBox="1"/>
              <p:nvPr/>
            </p:nvSpPr>
            <p:spPr>
              <a:xfrm>
                <a:off x="3559175" y="3402013"/>
                <a:ext cx="361950" cy="519112"/>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9171" name="Text Box 90"/>
              <p:cNvSpPr txBox="1"/>
              <p:nvPr/>
            </p:nvSpPr>
            <p:spPr>
              <a:xfrm>
                <a:off x="2890838" y="3968750"/>
                <a:ext cx="361950" cy="519113"/>
              </a:xfrm>
              <a:prstGeom prst="rect">
                <a:avLst/>
              </a:prstGeom>
              <a:noFill/>
              <a:ln w="19050">
                <a:noFill/>
              </a:ln>
            </p:spPr>
            <p:txBody>
              <a:bodyPr wrap="none">
                <a:spAutoFit/>
              </a:bodyPr>
              <a:lstStyle/>
              <a:p>
                <a:r>
                  <a:rPr lang="en-US" altLang="zh-CN" sz="2800" dirty="0">
                    <a:solidFill>
                      <a:srgbClr val="FF3300"/>
                    </a:solidFill>
                    <a:latin typeface="Times New Roman" panose="02020603050405020304" pitchFamily="18" charset="0"/>
                  </a:rPr>
                  <a:t>d</a:t>
                </a:r>
              </a:p>
            </p:txBody>
          </p:sp>
          <p:sp>
            <p:nvSpPr>
              <p:cNvPr id="89172" name="Text Box 91"/>
              <p:cNvSpPr txBox="1"/>
              <p:nvPr/>
            </p:nvSpPr>
            <p:spPr>
              <a:xfrm>
                <a:off x="3603625" y="3957638"/>
                <a:ext cx="361950" cy="519112"/>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9173" name="Text Box 92"/>
              <p:cNvSpPr txBox="1"/>
              <p:nvPr/>
            </p:nvSpPr>
            <p:spPr>
              <a:xfrm>
                <a:off x="419100" y="3660775"/>
                <a:ext cx="442913" cy="519113"/>
              </a:xfrm>
              <a:prstGeom prst="rect">
                <a:avLst/>
              </a:prstGeom>
              <a:noFill/>
              <a:ln w="19050">
                <a:noFill/>
              </a:ln>
            </p:spPr>
            <p:txBody>
              <a:bodyPr wrap="none">
                <a:spAutoFit/>
              </a:bodyPr>
              <a:lstStyle/>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p>
            </p:txBody>
          </p:sp>
          <p:sp>
            <p:nvSpPr>
              <p:cNvPr id="89174" name="AutoShape 93"/>
              <p:cNvSpPr/>
              <p:nvPr/>
            </p:nvSpPr>
            <p:spPr>
              <a:xfrm>
                <a:off x="3522663" y="3497263"/>
                <a:ext cx="479425" cy="990600"/>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grpSp>
        <p:nvGrpSpPr>
          <p:cNvPr id="15" name="组合 155"/>
          <p:cNvGrpSpPr/>
          <p:nvPr/>
        </p:nvGrpSpPr>
        <p:grpSpPr>
          <a:xfrm>
            <a:off x="4957763" y="2835275"/>
            <a:ext cx="3709987" cy="1690688"/>
            <a:chOff x="4957763" y="2835275"/>
            <a:chExt cx="3709987" cy="1690688"/>
          </a:xfrm>
        </p:grpSpPr>
        <p:sp>
          <p:nvSpPr>
            <p:cNvPr id="89125" name="Text Box 94"/>
            <p:cNvSpPr txBox="1"/>
            <p:nvPr/>
          </p:nvSpPr>
          <p:spPr>
            <a:xfrm>
              <a:off x="5343525" y="2835275"/>
              <a:ext cx="827088" cy="519113"/>
            </a:xfrm>
            <a:prstGeom prst="rect">
              <a:avLst/>
            </a:prstGeom>
            <a:noFill/>
            <a:ln w="19050">
              <a:noFill/>
            </a:ln>
          </p:spPr>
          <p:txBody>
            <a:bodyPr>
              <a:spAutoFit/>
            </a:bodyPr>
            <a:lstStyle/>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p>
          </p:txBody>
        </p:sp>
        <p:sp>
          <p:nvSpPr>
            <p:cNvPr id="89126" name="Text Box 95"/>
            <p:cNvSpPr txBox="1"/>
            <p:nvPr/>
          </p:nvSpPr>
          <p:spPr>
            <a:xfrm>
              <a:off x="5875338" y="3451225"/>
              <a:ext cx="361950" cy="519113"/>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9127" name="Text Box 96"/>
            <p:cNvSpPr txBox="1"/>
            <p:nvPr/>
          </p:nvSpPr>
          <p:spPr>
            <a:xfrm>
              <a:off x="6675438" y="3451225"/>
              <a:ext cx="361950" cy="519113"/>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9128" name="Text Box 97"/>
            <p:cNvSpPr txBox="1"/>
            <p:nvPr/>
          </p:nvSpPr>
          <p:spPr>
            <a:xfrm>
              <a:off x="6661150" y="4006850"/>
              <a:ext cx="361950" cy="519113"/>
            </a:xfrm>
            <a:prstGeom prst="rect">
              <a:avLst/>
            </a:prstGeom>
            <a:noFill/>
            <a:ln w="19050">
              <a:noFill/>
            </a:ln>
          </p:spPr>
          <p:txBody>
            <a:bodyPr wrap="none">
              <a:spAutoFit/>
            </a:bodyPr>
            <a:lstStyle/>
            <a:p>
              <a:r>
                <a:rPr lang="en-US" altLang="zh-CN" sz="2800" dirty="0">
                  <a:solidFill>
                    <a:srgbClr val="FF3300"/>
                  </a:solidFill>
                  <a:latin typeface="Times New Roman" panose="02020603050405020304" pitchFamily="18" charset="0"/>
                </a:rPr>
                <a:t>d</a:t>
              </a:r>
            </a:p>
          </p:txBody>
        </p:sp>
        <p:sp>
          <p:nvSpPr>
            <p:cNvPr id="89129" name="Text Box 98"/>
            <p:cNvSpPr txBox="1"/>
            <p:nvPr/>
          </p:nvSpPr>
          <p:spPr>
            <a:xfrm>
              <a:off x="5875338" y="4006850"/>
              <a:ext cx="361950" cy="519113"/>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9130" name="Text Box 99"/>
            <p:cNvSpPr txBox="1"/>
            <p:nvPr/>
          </p:nvSpPr>
          <p:spPr>
            <a:xfrm>
              <a:off x="5840413" y="2949575"/>
              <a:ext cx="539750" cy="519113"/>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89131" name="Text Box 100"/>
            <p:cNvSpPr txBox="1"/>
            <p:nvPr/>
          </p:nvSpPr>
          <p:spPr>
            <a:xfrm>
              <a:off x="6637338" y="2949575"/>
              <a:ext cx="539750" cy="519113"/>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89132" name="Text Box 101"/>
            <p:cNvSpPr txBox="1"/>
            <p:nvPr/>
          </p:nvSpPr>
          <p:spPr>
            <a:xfrm>
              <a:off x="5265738" y="3451225"/>
              <a:ext cx="361950" cy="519113"/>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9133" name="Text Box 102"/>
            <p:cNvSpPr txBox="1"/>
            <p:nvPr/>
          </p:nvSpPr>
          <p:spPr>
            <a:xfrm>
              <a:off x="5295900" y="3997325"/>
              <a:ext cx="361950" cy="519113"/>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9134" name="Line 103"/>
            <p:cNvSpPr/>
            <p:nvPr/>
          </p:nvSpPr>
          <p:spPr>
            <a:xfrm>
              <a:off x="5118100" y="3025775"/>
              <a:ext cx="542925" cy="369888"/>
            </a:xfrm>
            <a:prstGeom prst="line">
              <a:avLst/>
            </a:prstGeom>
            <a:ln w="38100" cap="flat" cmpd="sng">
              <a:solidFill>
                <a:srgbClr val="3333FF"/>
              </a:solidFill>
              <a:prstDash val="solid"/>
              <a:headEnd type="none" w="med" len="med"/>
              <a:tailEnd type="none" w="sm" len="lg"/>
            </a:ln>
          </p:spPr>
        </p:sp>
        <p:sp>
          <p:nvSpPr>
            <p:cNvPr id="89135" name="Text Box 104"/>
            <p:cNvSpPr txBox="1"/>
            <p:nvPr/>
          </p:nvSpPr>
          <p:spPr>
            <a:xfrm>
              <a:off x="5059363" y="3040063"/>
              <a:ext cx="482600" cy="519112"/>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grpSp>
          <p:nvGrpSpPr>
            <p:cNvPr id="89136" name="Group 105"/>
            <p:cNvGrpSpPr/>
            <p:nvPr/>
          </p:nvGrpSpPr>
          <p:grpSpPr>
            <a:xfrm>
              <a:off x="5645150" y="3384550"/>
              <a:ext cx="1511300" cy="1028700"/>
              <a:chOff x="1272" y="1896"/>
              <a:chExt cx="1200" cy="1200"/>
            </a:xfrm>
          </p:grpSpPr>
          <p:sp>
            <p:nvSpPr>
              <p:cNvPr id="89150" name="Rectangle 106"/>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151" name="Rectangle 107"/>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152" name="Rectangle 108"/>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153" name="Rectangle 109"/>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89137" name="Group 110"/>
            <p:cNvGrpSpPr/>
            <p:nvPr/>
          </p:nvGrpSpPr>
          <p:grpSpPr>
            <a:xfrm>
              <a:off x="7156450" y="3384550"/>
              <a:ext cx="1511300" cy="1028700"/>
              <a:chOff x="1272" y="1896"/>
              <a:chExt cx="1200" cy="1200"/>
            </a:xfrm>
          </p:grpSpPr>
          <p:sp>
            <p:nvSpPr>
              <p:cNvPr id="89146" name="Rectangle 111"/>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147" name="Rectangle 112"/>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148" name="Rectangle 113"/>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149" name="Rectangle 114"/>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sp>
          <p:nvSpPr>
            <p:cNvPr id="89138" name="Text Box 115"/>
            <p:cNvSpPr txBox="1"/>
            <p:nvPr/>
          </p:nvSpPr>
          <p:spPr>
            <a:xfrm>
              <a:off x="7318375" y="2960688"/>
              <a:ext cx="539750" cy="519112"/>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89139" name="Text Box 116"/>
            <p:cNvSpPr txBox="1"/>
            <p:nvPr/>
          </p:nvSpPr>
          <p:spPr>
            <a:xfrm>
              <a:off x="8008938" y="2960688"/>
              <a:ext cx="539750" cy="519112"/>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89140" name="Text Box 117"/>
            <p:cNvSpPr txBox="1"/>
            <p:nvPr/>
          </p:nvSpPr>
          <p:spPr>
            <a:xfrm>
              <a:off x="7415213" y="3440113"/>
              <a:ext cx="361950" cy="519112"/>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9141" name="Text Box 118"/>
            <p:cNvSpPr txBox="1"/>
            <p:nvPr/>
          </p:nvSpPr>
          <p:spPr>
            <a:xfrm>
              <a:off x="8097838" y="3440113"/>
              <a:ext cx="361950" cy="519112"/>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89142" name="Text Box 119"/>
            <p:cNvSpPr txBox="1"/>
            <p:nvPr/>
          </p:nvSpPr>
          <p:spPr>
            <a:xfrm>
              <a:off x="7429500" y="4006850"/>
              <a:ext cx="361950" cy="519113"/>
            </a:xfrm>
            <a:prstGeom prst="rect">
              <a:avLst/>
            </a:prstGeom>
            <a:noFill/>
            <a:ln w="19050">
              <a:noFill/>
            </a:ln>
          </p:spPr>
          <p:txBody>
            <a:bodyPr wrap="none">
              <a:spAutoFit/>
            </a:bodyPr>
            <a:lstStyle/>
            <a:p>
              <a:r>
                <a:rPr lang="en-US" altLang="zh-CN" sz="2800" dirty="0">
                  <a:solidFill>
                    <a:srgbClr val="FF3300"/>
                  </a:solidFill>
                  <a:latin typeface="Times New Roman" panose="02020603050405020304" pitchFamily="18" charset="0"/>
                </a:rPr>
                <a:t>d</a:t>
              </a:r>
            </a:p>
          </p:txBody>
        </p:sp>
        <p:sp>
          <p:nvSpPr>
            <p:cNvPr id="89143" name="Text Box 120"/>
            <p:cNvSpPr txBox="1"/>
            <p:nvPr/>
          </p:nvSpPr>
          <p:spPr>
            <a:xfrm>
              <a:off x="8142288" y="3995738"/>
              <a:ext cx="361950" cy="519112"/>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9144" name="Text Box 121"/>
            <p:cNvSpPr txBox="1"/>
            <p:nvPr/>
          </p:nvSpPr>
          <p:spPr>
            <a:xfrm>
              <a:off x="4957763" y="3698875"/>
              <a:ext cx="561975" cy="519113"/>
            </a:xfrm>
            <a:prstGeom prst="rect">
              <a:avLst/>
            </a:prstGeom>
            <a:noFill/>
            <a:ln w="19050">
              <a:noFill/>
            </a:ln>
          </p:spPr>
          <p:txBody>
            <a:bodyPr wrap="none">
              <a:spAutoFit/>
            </a:bodyPr>
            <a:lstStyle/>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p>
          </p:txBody>
        </p:sp>
        <p:sp>
          <p:nvSpPr>
            <p:cNvPr id="89145" name="AutoShape 122"/>
            <p:cNvSpPr/>
            <p:nvPr/>
          </p:nvSpPr>
          <p:spPr>
            <a:xfrm>
              <a:off x="5781675" y="3535363"/>
              <a:ext cx="2746375" cy="836612"/>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18" name="Group 123"/>
          <p:cNvGrpSpPr/>
          <p:nvPr/>
        </p:nvGrpSpPr>
        <p:grpSpPr>
          <a:xfrm>
            <a:off x="2693988" y="4830763"/>
            <a:ext cx="3709987" cy="1690687"/>
            <a:chOff x="264" y="3163"/>
            <a:chExt cx="2337" cy="1065"/>
          </a:xfrm>
        </p:grpSpPr>
        <p:sp>
          <p:nvSpPr>
            <p:cNvPr id="89095" name="Text Box 124"/>
            <p:cNvSpPr txBox="1"/>
            <p:nvPr/>
          </p:nvSpPr>
          <p:spPr>
            <a:xfrm>
              <a:off x="507" y="3163"/>
              <a:ext cx="521" cy="327"/>
            </a:xfrm>
            <a:prstGeom prst="rect">
              <a:avLst/>
            </a:prstGeom>
            <a:noFill/>
            <a:ln w="19050">
              <a:noFill/>
            </a:ln>
          </p:spPr>
          <p:txBody>
            <a:bodyPr>
              <a:spAutoFit/>
            </a:bodyPr>
            <a:lstStyle/>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p>
          </p:txBody>
        </p:sp>
        <p:sp>
          <p:nvSpPr>
            <p:cNvPr id="89096" name="Text Box 125"/>
            <p:cNvSpPr txBox="1"/>
            <p:nvPr/>
          </p:nvSpPr>
          <p:spPr>
            <a:xfrm>
              <a:off x="842" y="355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9097" name="Text Box 126"/>
            <p:cNvSpPr txBox="1"/>
            <p:nvPr/>
          </p:nvSpPr>
          <p:spPr>
            <a:xfrm>
              <a:off x="1346" y="355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9098" name="Text Box 127"/>
            <p:cNvSpPr txBox="1"/>
            <p:nvPr/>
          </p:nvSpPr>
          <p:spPr>
            <a:xfrm>
              <a:off x="1337" y="3901"/>
              <a:ext cx="228" cy="327"/>
            </a:xfrm>
            <a:prstGeom prst="rect">
              <a:avLst/>
            </a:prstGeom>
            <a:noFill/>
            <a:ln w="19050">
              <a:noFill/>
            </a:ln>
          </p:spPr>
          <p:txBody>
            <a:bodyPr wrap="none">
              <a:spAutoFit/>
            </a:bodyPr>
            <a:lstStyle/>
            <a:p>
              <a:r>
                <a:rPr lang="en-US" altLang="zh-CN" sz="2800" dirty="0">
                  <a:solidFill>
                    <a:srgbClr val="FF3300"/>
                  </a:solidFill>
                  <a:latin typeface="Times New Roman" panose="02020603050405020304" pitchFamily="18" charset="0"/>
                </a:rPr>
                <a:t>d</a:t>
              </a:r>
            </a:p>
          </p:txBody>
        </p:sp>
        <p:sp>
          <p:nvSpPr>
            <p:cNvPr id="89099" name="Text Box 128"/>
            <p:cNvSpPr txBox="1"/>
            <p:nvPr/>
          </p:nvSpPr>
          <p:spPr>
            <a:xfrm>
              <a:off x="842" y="390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9100" name="Text Box 129"/>
            <p:cNvSpPr txBox="1"/>
            <p:nvPr/>
          </p:nvSpPr>
          <p:spPr>
            <a:xfrm>
              <a:off x="820" y="3235"/>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89101" name="Text Box 130"/>
            <p:cNvSpPr txBox="1"/>
            <p:nvPr/>
          </p:nvSpPr>
          <p:spPr>
            <a:xfrm>
              <a:off x="1322" y="3235"/>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89102" name="Text Box 131"/>
            <p:cNvSpPr txBox="1"/>
            <p:nvPr/>
          </p:nvSpPr>
          <p:spPr>
            <a:xfrm>
              <a:off x="458" y="3551"/>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9103" name="Text Box 132"/>
            <p:cNvSpPr txBox="1"/>
            <p:nvPr/>
          </p:nvSpPr>
          <p:spPr>
            <a:xfrm>
              <a:off x="477" y="3895"/>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9104" name="Line 133"/>
            <p:cNvSpPr/>
            <p:nvPr/>
          </p:nvSpPr>
          <p:spPr>
            <a:xfrm>
              <a:off x="365" y="3283"/>
              <a:ext cx="342" cy="233"/>
            </a:xfrm>
            <a:prstGeom prst="line">
              <a:avLst/>
            </a:prstGeom>
            <a:ln w="38100" cap="flat" cmpd="sng">
              <a:solidFill>
                <a:srgbClr val="3333FF"/>
              </a:solidFill>
              <a:prstDash val="solid"/>
              <a:headEnd type="none" w="med" len="med"/>
              <a:tailEnd type="none" w="sm" len="lg"/>
            </a:ln>
          </p:spPr>
        </p:sp>
        <p:sp>
          <p:nvSpPr>
            <p:cNvPr id="89105" name="Text Box 134"/>
            <p:cNvSpPr txBox="1"/>
            <p:nvPr/>
          </p:nvSpPr>
          <p:spPr>
            <a:xfrm>
              <a:off x="328" y="3292"/>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grpSp>
          <p:nvGrpSpPr>
            <p:cNvPr id="89106" name="Group 135"/>
            <p:cNvGrpSpPr/>
            <p:nvPr/>
          </p:nvGrpSpPr>
          <p:grpSpPr>
            <a:xfrm>
              <a:off x="721" y="3509"/>
              <a:ext cx="1880" cy="719"/>
              <a:chOff x="2652" y="1704"/>
              <a:chExt cx="2400" cy="1200"/>
            </a:xfrm>
          </p:grpSpPr>
          <p:grpSp>
            <p:nvGrpSpPr>
              <p:cNvPr id="89115" name="Group 136"/>
              <p:cNvGrpSpPr/>
              <p:nvPr/>
            </p:nvGrpSpPr>
            <p:grpSpPr>
              <a:xfrm>
                <a:off x="2652" y="1704"/>
                <a:ext cx="1200" cy="1200"/>
                <a:chOff x="1272" y="1896"/>
                <a:chExt cx="1200" cy="1200"/>
              </a:xfrm>
            </p:grpSpPr>
            <p:sp>
              <p:nvSpPr>
                <p:cNvPr id="89121" name="Rectangle 13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122" name="Rectangle 13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123" name="Rectangle 13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124" name="Rectangle 14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89116" name="Group 141"/>
              <p:cNvGrpSpPr/>
              <p:nvPr/>
            </p:nvGrpSpPr>
            <p:grpSpPr>
              <a:xfrm>
                <a:off x="3852" y="1704"/>
                <a:ext cx="1200" cy="1200"/>
                <a:chOff x="1272" y="1896"/>
                <a:chExt cx="1200" cy="1200"/>
              </a:xfrm>
            </p:grpSpPr>
            <p:sp>
              <p:nvSpPr>
                <p:cNvPr id="89117" name="Rectangle 14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118" name="Rectangle 14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119" name="Rectangle 14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89120" name="Rectangle 14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sp>
          <p:nvSpPr>
            <p:cNvPr id="89107" name="Text Box 146"/>
            <p:cNvSpPr txBox="1"/>
            <p:nvPr/>
          </p:nvSpPr>
          <p:spPr>
            <a:xfrm>
              <a:off x="1751" y="3242"/>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89108" name="Text Box 147"/>
            <p:cNvSpPr txBox="1"/>
            <p:nvPr/>
          </p:nvSpPr>
          <p:spPr>
            <a:xfrm>
              <a:off x="2186" y="3242"/>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89109" name="Text Box 148"/>
            <p:cNvSpPr txBox="1"/>
            <p:nvPr/>
          </p:nvSpPr>
          <p:spPr>
            <a:xfrm>
              <a:off x="1812" y="3544"/>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89110" name="Text Box 149"/>
            <p:cNvSpPr txBox="1"/>
            <p:nvPr/>
          </p:nvSpPr>
          <p:spPr>
            <a:xfrm>
              <a:off x="2242" y="3544"/>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9111" name="Text Box 150"/>
            <p:cNvSpPr txBox="1"/>
            <p:nvPr/>
          </p:nvSpPr>
          <p:spPr>
            <a:xfrm>
              <a:off x="1821" y="3901"/>
              <a:ext cx="228" cy="327"/>
            </a:xfrm>
            <a:prstGeom prst="rect">
              <a:avLst/>
            </a:prstGeom>
            <a:noFill/>
            <a:ln w="19050">
              <a:noFill/>
            </a:ln>
          </p:spPr>
          <p:txBody>
            <a:bodyPr wrap="none">
              <a:spAutoFit/>
            </a:bodyPr>
            <a:lstStyle/>
            <a:p>
              <a:r>
                <a:rPr lang="en-US" altLang="zh-CN" sz="2800" dirty="0">
                  <a:solidFill>
                    <a:srgbClr val="FF3300"/>
                  </a:solidFill>
                  <a:latin typeface="Times New Roman" panose="02020603050405020304" pitchFamily="18" charset="0"/>
                </a:rPr>
                <a:t>d</a:t>
              </a:r>
            </a:p>
          </p:txBody>
        </p:sp>
        <p:sp>
          <p:nvSpPr>
            <p:cNvPr id="89112" name="Text Box 151"/>
            <p:cNvSpPr txBox="1"/>
            <p:nvPr/>
          </p:nvSpPr>
          <p:spPr>
            <a:xfrm>
              <a:off x="2270" y="3894"/>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89113" name="Text Box 152"/>
            <p:cNvSpPr txBox="1"/>
            <p:nvPr/>
          </p:nvSpPr>
          <p:spPr>
            <a:xfrm>
              <a:off x="264" y="3707"/>
              <a:ext cx="253" cy="327"/>
            </a:xfrm>
            <a:prstGeom prst="rect">
              <a:avLst/>
            </a:prstGeom>
            <a:noFill/>
            <a:ln w="19050">
              <a:noFill/>
            </a:ln>
          </p:spPr>
          <p:txBody>
            <a:bodyPr wrap="none">
              <a:spAutoFit/>
            </a:bodyPr>
            <a:lstStyle/>
            <a:p>
              <a:r>
                <a:rPr lang="en-US" altLang="zh-CN" sz="2800" dirty="0">
                  <a:latin typeface="Times New Roman" panose="02020603050405020304" pitchFamily="18" charset="0"/>
                </a:rPr>
                <a:t>Z</a:t>
              </a:r>
            </a:p>
          </p:txBody>
        </p:sp>
        <p:sp>
          <p:nvSpPr>
            <p:cNvPr id="89114" name="AutoShape 153"/>
            <p:cNvSpPr/>
            <p:nvPr/>
          </p:nvSpPr>
          <p:spPr>
            <a:xfrm>
              <a:off x="1769" y="3568"/>
              <a:ext cx="325" cy="624"/>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linds(horizontal)">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blinds(horizontal)">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p:cTn id="29" dur="500" fill="hold"/>
                                        <p:tgtEl>
                                          <p:spTgt spid="18"/>
                                        </p:tgtEl>
                                        <p:attrNameLst>
                                          <p:attrName>ppt_w</p:attrName>
                                        </p:attrNameLst>
                                      </p:cBhvr>
                                      <p:tavLst>
                                        <p:tav tm="0">
                                          <p:val>
                                            <p:fltVal val="0"/>
                                          </p:val>
                                        </p:tav>
                                        <p:tav tm="100000">
                                          <p:val>
                                            <p:strVal val="#ppt_w"/>
                                          </p:val>
                                        </p:tav>
                                      </p:tavLst>
                                    </p:anim>
                                    <p:anim calcmode="lin" valueType="num">
                                      <p:cBhvr>
                                        <p:cTn id="30" dur="5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73063" y="444500"/>
            <a:ext cx="8324850" cy="4633913"/>
            <a:chOff x="307" y="1294"/>
            <a:chExt cx="5244" cy="2919"/>
          </a:xfrm>
        </p:grpSpPr>
        <p:sp>
          <p:nvSpPr>
            <p:cNvPr id="90149" name="Line 3"/>
            <p:cNvSpPr/>
            <p:nvPr/>
          </p:nvSpPr>
          <p:spPr>
            <a:xfrm>
              <a:off x="319" y="1307"/>
              <a:ext cx="5220" cy="0"/>
            </a:xfrm>
            <a:prstGeom prst="line">
              <a:avLst/>
            </a:prstGeom>
            <a:ln w="38100" cap="flat" cmpd="sng">
              <a:solidFill>
                <a:schemeClr val="tx1"/>
              </a:solidFill>
              <a:prstDash val="solid"/>
              <a:headEnd type="none" w="med" len="med"/>
              <a:tailEnd type="none" w="sm" len="lg"/>
            </a:ln>
          </p:spPr>
        </p:sp>
        <p:sp>
          <p:nvSpPr>
            <p:cNvPr id="90150" name="Line 4"/>
            <p:cNvSpPr/>
            <p:nvPr/>
          </p:nvSpPr>
          <p:spPr>
            <a:xfrm>
              <a:off x="307" y="4200"/>
              <a:ext cx="5244" cy="0"/>
            </a:xfrm>
            <a:prstGeom prst="line">
              <a:avLst/>
            </a:prstGeom>
            <a:ln w="38100" cap="flat" cmpd="sng">
              <a:solidFill>
                <a:schemeClr val="tx1"/>
              </a:solidFill>
              <a:prstDash val="solid"/>
              <a:headEnd type="none" w="med" len="med"/>
              <a:tailEnd type="none" w="sm" len="lg"/>
            </a:ln>
          </p:spPr>
        </p:sp>
        <p:sp>
          <p:nvSpPr>
            <p:cNvPr id="90151" name="Line 5"/>
            <p:cNvSpPr/>
            <p:nvPr/>
          </p:nvSpPr>
          <p:spPr>
            <a:xfrm>
              <a:off x="1039" y="1307"/>
              <a:ext cx="0" cy="2880"/>
            </a:xfrm>
            <a:prstGeom prst="line">
              <a:avLst/>
            </a:prstGeom>
            <a:ln w="19050" cap="flat" cmpd="sng">
              <a:solidFill>
                <a:schemeClr val="tx1"/>
              </a:solidFill>
              <a:prstDash val="solid"/>
              <a:headEnd type="none" w="med" len="med"/>
              <a:tailEnd type="none" w="sm" len="lg"/>
            </a:ln>
          </p:spPr>
        </p:sp>
        <p:sp>
          <p:nvSpPr>
            <p:cNvPr id="90152" name="Line 6"/>
            <p:cNvSpPr/>
            <p:nvPr/>
          </p:nvSpPr>
          <p:spPr>
            <a:xfrm>
              <a:off x="2239" y="1294"/>
              <a:ext cx="0" cy="2919"/>
            </a:xfrm>
            <a:prstGeom prst="line">
              <a:avLst/>
            </a:prstGeom>
            <a:ln w="19050" cap="flat" cmpd="sng">
              <a:solidFill>
                <a:schemeClr val="tx1"/>
              </a:solidFill>
              <a:prstDash val="solid"/>
              <a:headEnd type="none" w="med" len="med"/>
              <a:tailEnd type="none" w="sm" len="lg"/>
            </a:ln>
          </p:spPr>
        </p:sp>
        <p:sp>
          <p:nvSpPr>
            <p:cNvPr id="90153" name="Line 7"/>
            <p:cNvSpPr/>
            <p:nvPr/>
          </p:nvSpPr>
          <p:spPr>
            <a:xfrm>
              <a:off x="307" y="1946"/>
              <a:ext cx="5244" cy="0"/>
            </a:xfrm>
            <a:prstGeom prst="line">
              <a:avLst/>
            </a:prstGeom>
            <a:ln w="12700" cap="flat" cmpd="sng">
              <a:solidFill>
                <a:schemeClr val="tx1"/>
              </a:solidFill>
              <a:prstDash val="solid"/>
              <a:headEnd type="none" w="med" len="med"/>
              <a:tailEnd type="none" w="sm" len="lg"/>
            </a:ln>
          </p:spPr>
        </p:sp>
        <p:sp>
          <p:nvSpPr>
            <p:cNvPr id="90154" name="Text Box 8"/>
            <p:cNvSpPr txBox="1"/>
            <p:nvPr/>
          </p:nvSpPr>
          <p:spPr>
            <a:xfrm>
              <a:off x="1161" y="1335"/>
              <a:ext cx="916" cy="596"/>
            </a:xfrm>
            <a:prstGeom prst="rect">
              <a:avLst/>
            </a:prstGeom>
            <a:noFill/>
            <a:ln w="19050">
              <a:noFill/>
            </a:ln>
          </p:spPr>
          <p:txBody>
            <a:bodyPr>
              <a:spAutoFit/>
            </a:bodyPr>
            <a:lstStyle/>
            <a:p>
              <a:r>
                <a:rPr lang="zh-CN" altLang="zh-CN" sz="2800" dirty="0">
                  <a:latin typeface="Times New Roman" panose="02020603050405020304" pitchFamily="18" charset="0"/>
                </a:rPr>
                <a:t>现	态</a:t>
              </a:r>
            </a:p>
            <a:p>
              <a:r>
                <a:rPr lang="zh-CN" altLang="zh-CN" sz="2800" dirty="0">
                  <a:latin typeface="Times New Roman" panose="02020603050405020304" pitchFamily="18" charset="0"/>
                </a:rPr>
                <a:t>  </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p>
          </p:txBody>
        </p:sp>
        <p:sp>
          <p:nvSpPr>
            <p:cNvPr id="90155" name="Text Box 9"/>
            <p:cNvSpPr txBox="1"/>
            <p:nvPr/>
          </p:nvSpPr>
          <p:spPr>
            <a:xfrm>
              <a:off x="2274" y="1325"/>
              <a:ext cx="1121" cy="596"/>
            </a:xfrm>
            <a:prstGeom prst="rect">
              <a:avLst/>
            </a:prstGeom>
            <a:noFill/>
            <a:ln w="19050">
              <a:noFill/>
            </a:ln>
          </p:spPr>
          <p:txBody>
            <a:bodyPr wrap="none">
              <a:spAutoFit/>
            </a:bodyPr>
            <a:lstStyle/>
            <a:p>
              <a:pPr algn="ctr"/>
              <a:r>
                <a:rPr lang="zh-CN" altLang="zh-CN" sz="2800" dirty="0">
                  <a:latin typeface="Times New Roman" panose="02020603050405020304" pitchFamily="18" charset="0"/>
                </a:rPr>
                <a:t>次     态</a:t>
              </a:r>
            </a:p>
            <a:p>
              <a:pPr algn="ct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p>
          </p:txBody>
        </p:sp>
        <p:sp>
          <p:nvSpPr>
            <p:cNvPr id="90156" name="Text Box 10"/>
            <p:cNvSpPr txBox="1"/>
            <p:nvPr/>
          </p:nvSpPr>
          <p:spPr>
            <a:xfrm>
              <a:off x="1293" y="1954"/>
              <a:ext cx="648" cy="2210"/>
            </a:xfrm>
            <a:prstGeom prst="rect">
              <a:avLst/>
            </a:prstGeom>
            <a:noFill/>
            <a:ln w="19050">
              <a:noFill/>
            </a:ln>
          </p:spPr>
          <p:txBody>
            <a:bodyPr wrap="none">
              <a:spAutoFit/>
            </a:bodyPr>
            <a:lstStyle/>
            <a:p>
              <a:pPr defTabSz="666750"/>
              <a:r>
                <a:rPr lang="en-US" altLang="zh-CN" sz="2800" dirty="0">
                  <a:latin typeface="Times New Roman" panose="02020603050405020304" pitchFamily="18" charset="0"/>
                </a:rPr>
                <a:t>0	0</a:t>
              </a:r>
            </a:p>
            <a:p>
              <a:pPr defTabSz="666750"/>
              <a:r>
                <a:rPr lang="en-US" altLang="zh-CN" sz="2800" dirty="0">
                  <a:latin typeface="Times New Roman" panose="02020603050405020304" pitchFamily="18" charset="0"/>
                </a:rPr>
                <a:t>0	1</a:t>
              </a:r>
            </a:p>
            <a:p>
              <a:pPr defTabSz="666750"/>
              <a:r>
                <a:rPr lang="en-US" altLang="zh-CN" sz="2800" dirty="0">
                  <a:latin typeface="Times New Roman" panose="02020603050405020304" pitchFamily="18" charset="0"/>
                </a:rPr>
                <a:t>1	0</a:t>
              </a:r>
            </a:p>
            <a:p>
              <a:pPr defTabSz="666750"/>
              <a:r>
                <a:rPr lang="en-US" altLang="zh-CN" sz="2800" dirty="0">
                  <a:latin typeface="Times New Roman" panose="02020603050405020304" pitchFamily="18" charset="0"/>
                </a:rPr>
                <a:t>1	1</a:t>
              </a:r>
            </a:p>
            <a:p>
              <a:pPr defTabSz="666750"/>
              <a:r>
                <a:rPr lang="en-US" altLang="zh-CN" sz="2800" dirty="0">
                  <a:latin typeface="Times New Roman" panose="02020603050405020304" pitchFamily="18" charset="0"/>
                </a:rPr>
                <a:t>0	0</a:t>
              </a:r>
            </a:p>
            <a:p>
              <a:pPr defTabSz="666750"/>
              <a:r>
                <a:rPr lang="en-US" altLang="zh-CN" sz="2800" dirty="0">
                  <a:latin typeface="Times New Roman" panose="02020603050405020304" pitchFamily="18" charset="0"/>
                </a:rPr>
                <a:t>0	1</a:t>
              </a:r>
            </a:p>
            <a:p>
              <a:pPr defTabSz="666750"/>
              <a:r>
                <a:rPr lang="en-US" altLang="zh-CN" sz="2800" dirty="0">
                  <a:latin typeface="Times New Roman" panose="02020603050405020304" pitchFamily="18" charset="0"/>
                </a:rPr>
                <a:t>1	0</a:t>
              </a:r>
            </a:p>
            <a:p>
              <a:pPr defTabSz="666750"/>
              <a:r>
                <a:rPr lang="en-US" altLang="zh-CN" sz="2800" dirty="0">
                  <a:latin typeface="Times New Roman" panose="02020603050405020304" pitchFamily="18" charset="0"/>
                </a:rPr>
                <a:t>1	1</a:t>
              </a:r>
              <a:endParaRPr lang="en-US" altLang="zh-CN" sz="2800" baseline="-25000" dirty="0">
                <a:latin typeface="Times New Roman" panose="02020603050405020304" pitchFamily="18" charset="0"/>
              </a:endParaRPr>
            </a:p>
          </p:txBody>
        </p:sp>
        <p:sp>
          <p:nvSpPr>
            <p:cNvPr id="90157" name="Rectangle 11"/>
            <p:cNvSpPr/>
            <p:nvPr/>
          </p:nvSpPr>
          <p:spPr>
            <a:xfrm>
              <a:off x="317" y="1349"/>
              <a:ext cx="620" cy="596"/>
            </a:xfrm>
            <a:prstGeom prst="rect">
              <a:avLst/>
            </a:prstGeom>
            <a:noFill/>
            <a:ln w="19050">
              <a:noFill/>
            </a:ln>
          </p:spPr>
          <p:txBody>
            <a:bodyPr wrap="none">
              <a:spAutoFit/>
            </a:bodyPr>
            <a:lstStyle/>
            <a:p>
              <a:pPr algn="ctr"/>
              <a:r>
                <a:rPr lang="zh-CN" altLang="en-US" sz="2800" dirty="0">
                  <a:latin typeface="Times New Roman" panose="02020603050405020304" pitchFamily="18" charset="0"/>
                </a:rPr>
                <a:t>输 入</a:t>
              </a:r>
            </a:p>
            <a:p>
              <a:pPr algn="ctr"/>
              <a:r>
                <a:rPr lang="en-US" altLang="zh-CN" sz="2800" dirty="0">
                  <a:latin typeface="Times New Roman" panose="02020603050405020304" pitchFamily="18" charset="0"/>
                </a:rPr>
                <a:t>x</a:t>
              </a:r>
            </a:p>
          </p:txBody>
        </p:sp>
        <p:sp>
          <p:nvSpPr>
            <p:cNvPr id="90158" name="Rectangle 12"/>
            <p:cNvSpPr/>
            <p:nvPr/>
          </p:nvSpPr>
          <p:spPr>
            <a:xfrm>
              <a:off x="3457" y="1335"/>
              <a:ext cx="1276" cy="596"/>
            </a:xfrm>
            <a:prstGeom prst="rect">
              <a:avLst/>
            </a:prstGeom>
            <a:noFill/>
            <a:ln w="19050">
              <a:noFill/>
            </a:ln>
          </p:spPr>
          <p:txBody>
            <a:bodyPr>
              <a:spAutoFit/>
            </a:bodyPr>
            <a:lstStyle/>
            <a:p>
              <a:pPr algn="ctr"/>
              <a:r>
                <a:rPr lang="zh-CN" altLang="en-US" sz="2800" dirty="0">
                  <a:latin typeface="Times New Roman" panose="02020603050405020304" pitchFamily="18" charset="0"/>
                </a:rPr>
                <a:t>激励函数</a:t>
              </a:r>
            </a:p>
            <a:p>
              <a:pPr algn="ct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2  </a:t>
              </a:r>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r>
                <a:rPr lang="en-US" altLang="zh-CN" sz="2800" dirty="0">
                  <a:latin typeface="Times New Roman" panose="02020603050405020304" pitchFamily="18" charset="0"/>
                </a:rPr>
                <a:t>  K</a:t>
              </a:r>
              <a:r>
                <a:rPr lang="en-US" altLang="zh-CN" sz="2800" baseline="-25000" dirty="0">
                  <a:latin typeface="Times New Roman" panose="02020603050405020304" pitchFamily="18" charset="0"/>
                </a:rPr>
                <a:t>1</a:t>
              </a:r>
            </a:p>
          </p:txBody>
        </p:sp>
        <p:sp>
          <p:nvSpPr>
            <p:cNvPr id="90159" name="Line 13"/>
            <p:cNvSpPr/>
            <p:nvPr/>
          </p:nvSpPr>
          <p:spPr>
            <a:xfrm>
              <a:off x="3391" y="1307"/>
              <a:ext cx="0" cy="2883"/>
            </a:xfrm>
            <a:prstGeom prst="line">
              <a:avLst/>
            </a:prstGeom>
            <a:ln w="19050" cap="flat" cmpd="sng">
              <a:solidFill>
                <a:schemeClr val="tx1"/>
              </a:solidFill>
              <a:prstDash val="solid"/>
              <a:headEnd type="none" w="med" len="med"/>
              <a:tailEnd type="none" w="sm" len="lg"/>
            </a:ln>
          </p:spPr>
        </p:sp>
        <p:sp>
          <p:nvSpPr>
            <p:cNvPr id="90160" name="Text Box 14"/>
            <p:cNvSpPr txBox="1"/>
            <p:nvPr/>
          </p:nvSpPr>
          <p:spPr>
            <a:xfrm>
              <a:off x="2403" y="1954"/>
              <a:ext cx="708" cy="2210"/>
            </a:xfrm>
            <a:prstGeom prst="rect">
              <a:avLst/>
            </a:prstGeom>
            <a:noFill/>
            <a:ln w="19050">
              <a:noFill/>
            </a:ln>
          </p:spPr>
          <p:txBody>
            <a:bodyPr wrap="none">
              <a:spAutoFit/>
            </a:bodyPr>
            <a:lstStyle/>
            <a:p>
              <a:pPr defTabSz="762000"/>
              <a:r>
                <a:rPr lang="en-US" altLang="zh-CN" sz="2800" dirty="0">
                  <a:latin typeface="Times New Roman" panose="02020603050405020304" pitchFamily="18" charset="0"/>
                </a:rPr>
                <a:t>0	0</a:t>
              </a:r>
            </a:p>
            <a:p>
              <a:pPr defTabSz="762000"/>
              <a:r>
                <a:rPr lang="en-US" altLang="zh-CN" sz="2800" dirty="0">
                  <a:latin typeface="Times New Roman" panose="02020603050405020304" pitchFamily="18" charset="0"/>
                </a:rPr>
                <a:t>0	0</a:t>
              </a:r>
            </a:p>
            <a:p>
              <a:pPr defTabSz="762000"/>
              <a:r>
                <a:rPr lang="en-US" altLang="zh-CN" sz="2800" dirty="0">
                  <a:latin typeface="Times New Roman" panose="02020603050405020304" pitchFamily="18" charset="0"/>
                </a:rPr>
                <a:t>0	0</a:t>
              </a:r>
            </a:p>
            <a:p>
              <a:pPr defTabSz="762000"/>
              <a:r>
                <a:rPr lang="en-US" altLang="zh-CN" sz="2800" dirty="0">
                  <a:solidFill>
                    <a:srgbClr val="3333FF"/>
                  </a:solidFill>
                  <a:latin typeface="Times New Roman" panose="02020603050405020304" pitchFamily="18" charset="0"/>
                </a:rPr>
                <a:t>0</a:t>
              </a:r>
              <a:r>
                <a:rPr lang="en-US" altLang="zh-CN" sz="2800" dirty="0">
                  <a:latin typeface="Times New Roman" panose="02020603050405020304" pitchFamily="18" charset="0"/>
                </a:rPr>
                <a:t>	</a:t>
              </a:r>
              <a:r>
                <a:rPr lang="en-US" altLang="zh-CN" sz="2800" dirty="0">
                  <a:solidFill>
                    <a:srgbClr val="3333FF"/>
                  </a:solidFill>
                  <a:latin typeface="Times New Roman" panose="02020603050405020304" pitchFamily="18" charset="0"/>
                </a:rPr>
                <a:t>0</a:t>
              </a:r>
            </a:p>
            <a:p>
              <a:pPr defTabSz="762000"/>
              <a:r>
                <a:rPr lang="en-US" altLang="zh-CN" sz="2800" dirty="0">
                  <a:latin typeface="Times New Roman" panose="02020603050405020304" pitchFamily="18" charset="0"/>
                </a:rPr>
                <a:t>0	1</a:t>
              </a:r>
            </a:p>
            <a:p>
              <a:pPr defTabSz="762000"/>
              <a:r>
                <a:rPr lang="en-US" altLang="zh-CN" sz="2800" dirty="0">
                  <a:latin typeface="Times New Roman" panose="02020603050405020304" pitchFamily="18" charset="0"/>
                </a:rPr>
                <a:t>1	0</a:t>
              </a:r>
            </a:p>
            <a:p>
              <a:pPr defTabSz="762000"/>
              <a:r>
                <a:rPr lang="en-US" altLang="zh-CN" sz="2800" dirty="0">
                  <a:latin typeface="Times New Roman" panose="02020603050405020304" pitchFamily="18" charset="0"/>
                </a:rPr>
                <a:t>1	0</a:t>
              </a:r>
            </a:p>
            <a:p>
              <a:pPr defTabSz="762000"/>
              <a:r>
                <a:rPr lang="en-US" altLang="zh-CN" sz="2800" dirty="0">
                  <a:solidFill>
                    <a:srgbClr val="3333FF"/>
                  </a:solidFill>
                  <a:latin typeface="Times New Roman" panose="02020603050405020304" pitchFamily="18" charset="0"/>
                </a:rPr>
                <a:t>1</a:t>
              </a:r>
              <a:r>
                <a:rPr lang="en-US" altLang="zh-CN" sz="2800" dirty="0">
                  <a:latin typeface="Times New Roman" panose="02020603050405020304" pitchFamily="18" charset="0"/>
                </a:rPr>
                <a:t>	</a:t>
              </a:r>
              <a:r>
                <a:rPr lang="en-US" altLang="zh-CN" sz="2800" dirty="0">
                  <a:solidFill>
                    <a:srgbClr val="3333FF"/>
                  </a:solidFill>
                  <a:latin typeface="Times New Roman" panose="02020603050405020304" pitchFamily="18" charset="0"/>
                </a:rPr>
                <a:t>0</a:t>
              </a:r>
              <a:endParaRPr lang="en-US" altLang="zh-CN" sz="2800" baseline="-25000" dirty="0">
                <a:solidFill>
                  <a:srgbClr val="3333FF"/>
                </a:solidFill>
                <a:latin typeface="Times New Roman" panose="02020603050405020304" pitchFamily="18" charset="0"/>
              </a:endParaRPr>
            </a:p>
          </p:txBody>
        </p:sp>
        <p:sp>
          <p:nvSpPr>
            <p:cNvPr id="90161" name="Text Box 15"/>
            <p:cNvSpPr txBox="1"/>
            <p:nvPr/>
          </p:nvSpPr>
          <p:spPr>
            <a:xfrm>
              <a:off x="3489" y="1954"/>
              <a:ext cx="1128" cy="2210"/>
            </a:xfrm>
            <a:prstGeom prst="rect">
              <a:avLst/>
            </a:prstGeom>
            <a:noFill/>
            <a:ln w="19050">
              <a:noFill/>
            </a:ln>
          </p:spPr>
          <p:txBody>
            <a:bodyPr wrap="none">
              <a:spAutoFit/>
            </a:bodyPr>
            <a:lstStyle/>
            <a:p>
              <a:pPr defTabSz="476250"/>
              <a:r>
                <a:rPr lang="en-US" altLang="zh-CN" sz="2800" dirty="0">
                  <a:latin typeface="Times New Roman" panose="02020603050405020304" pitchFamily="18" charset="0"/>
                </a:rPr>
                <a:t>0	d	0	d</a:t>
              </a:r>
            </a:p>
            <a:p>
              <a:pPr defTabSz="476250"/>
              <a:r>
                <a:rPr lang="en-US" altLang="zh-CN" sz="2800" dirty="0">
                  <a:latin typeface="Times New Roman" panose="02020603050405020304" pitchFamily="18" charset="0"/>
                </a:rPr>
                <a:t>0	d	d	1</a:t>
              </a:r>
            </a:p>
            <a:p>
              <a:pPr defTabSz="476250"/>
              <a:r>
                <a:rPr lang="en-US" altLang="zh-CN" sz="2800" dirty="0">
                  <a:latin typeface="Times New Roman" panose="02020603050405020304" pitchFamily="18" charset="0"/>
                </a:rPr>
                <a:t>d	1	d	1</a:t>
              </a:r>
            </a:p>
            <a:p>
              <a:pPr defTabSz="476250"/>
              <a:r>
                <a:rPr lang="en-US" altLang="zh-CN" sz="2800" dirty="0">
                  <a:solidFill>
                    <a:srgbClr val="FF3300"/>
                  </a:solidFill>
                  <a:latin typeface="Times New Roman" panose="02020603050405020304" pitchFamily="18" charset="0"/>
                </a:rPr>
                <a:t>0</a:t>
              </a:r>
              <a:r>
                <a:rPr lang="en-US" altLang="zh-CN" sz="2800" dirty="0">
                  <a:latin typeface="Times New Roman" panose="02020603050405020304" pitchFamily="18" charset="0"/>
                </a:rPr>
                <a:t>	</a:t>
              </a:r>
              <a:r>
                <a:rPr lang="en-US" altLang="zh-CN" sz="2800" dirty="0">
                  <a:solidFill>
                    <a:srgbClr val="FF3300"/>
                  </a:solidFill>
                  <a:latin typeface="Times New Roman" panose="02020603050405020304" pitchFamily="18" charset="0"/>
                </a:rPr>
                <a:t>1</a:t>
              </a:r>
              <a:r>
                <a:rPr lang="en-US" altLang="zh-CN" sz="2800" dirty="0">
                  <a:latin typeface="Times New Roman" panose="02020603050405020304" pitchFamily="18" charset="0"/>
                </a:rPr>
                <a:t>	</a:t>
              </a:r>
              <a:r>
                <a:rPr lang="en-US" altLang="zh-CN" sz="2800" dirty="0">
                  <a:solidFill>
                    <a:srgbClr val="FF3300"/>
                  </a:solidFill>
                  <a:latin typeface="Times New Roman" panose="02020603050405020304" pitchFamily="18" charset="0"/>
                </a:rPr>
                <a:t>0</a:t>
              </a:r>
              <a:r>
                <a:rPr lang="en-US" altLang="zh-CN" sz="2800" dirty="0">
                  <a:latin typeface="Times New Roman" panose="02020603050405020304" pitchFamily="18" charset="0"/>
                </a:rPr>
                <a:t>	</a:t>
              </a:r>
              <a:r>
                <a:rPr lang="en-US" altLang="zh-CN" sz="2800" dirty="0">
                  <a:solidFill>
                    <a:srgbClr val="FF3300"/>
                  </a:solidFill>
                  <a:latin typeface="Times New Roman" panose="02020603050405020304" pitchFamily="18" charset="0"/>
                </a:rPr>
                <a:t>1</a:t>
              </a:r>
            </a:p>
            <a:p>
              <a:pPr defTabSz="476250"/>
              <a:r>
                <a:rPr lang="en-US" altLang="zh-CN" sz="2800" dirty="0">
                  <a:latin typeface="Times New Roman" panose="02020603050405020304" pitchFamily="18" charset="0"/>
                </a:rPr>
                <a:t>0	d	1	d</a:t>
              </a:r>
            </a:p>
            <a:p>
              <a:pPr defTabSz="476250"/>
              <a:r>
                <a:rPr lang="en-US" altLang="zh-CN" sz="2800" dirty="0">
                  <a:latin typeface="Times New Roman" panose="02020603050405020304" pitchFamily="18" charset="0"/>
                </a:rPr>
                <a:t>1	d	d	0</a:t>
              </a:r>
            </a:p>
            <a:p>
              <a:pPr defTabSz="476250"/>
              <a:r>
                <a:rPr lang="en-US" altLang="zh-CN" sz="2800" dirty="0">
                  <a:latin typeface="Times New Roman" panose="02020603050405020304" pitchFamily="18" charset="0"/>
                </a:rPr>
                <a:t>d	0	d	0</a:t>
              </a:r>
            </a:p>
            <a:p>
              <a:pPr defTabSz="476250"/>
              <a:r>
                <a:rPr lang="en-US" altLang="zh-CN" sz="2800" dirty="0">
                  <a:solidFill>
                    <a:srgbClr val="FF3300"/>
                  </a:solidFill>
                  <a:latin typeface="Times New Roman" panose="02020603050405020304" pitchFamily="18" charset="0"/>
                </a:rPr>
                <a:t>1</a:t>
              </a:r>
              <a:r>
                <a:rPr lang="en-US" altLang="zh-CN" sz="2800" dirty="0">
                  <a:latin typeface="Times New Roman" panose="02020603050405020304" pitchFamily="18" charset="0"/>
                </a:rPr>
                <a:t>	</a:t>
              </a:r>
              <a:r>
                <a:rPr lang="en-US" altLang="zh-CN" sz="2800" dirty="0">
                  <a:solidFill>
                    <a:srgbClr val="FF3300"/>
                  </a:solidFill>
                  <a:latin typeface="Times New Roman" panose="02020603050405020304" pitchFamily="18" charset="0"/>
                </a:rPr>
                <a:t>0</a:t>
              </a:r>
              <a:r>
                <a:rPr lang="en-US" altLang="zh-CN" sz="2800" dirty="0">
                  <a:latin typeface="Times New Roman" panose="02020603050405020304" pitchFamily="18" charset="0"/>
                </a:rPr>
                <a:t>	</a:t>
              </a:r>
              <a:r>
                <a:rPr lang="en-US" altLang="zh-CN" sz="2800" dirty="0">
                  <a:solidFill>
                    <a:srgbClr val="FF3300"/>
                  </a:solidFill>
                  <a:latin typeface="Times New Roman" panose="02020603050405020304" pitchFamily="18" charset="0"/>
                </a:rPr>
                <a:t>0</a:t>
              </a:r>
              <a:r>
                <a:rPr lang="en-US" altLang="zh-CN" sz="2800" dirty="0">
                  <a:latin typeface="Times New Roman" panose="02020603050405020304" pitchFamily="18" charset="0"/>
                </a:rPr>
                <a:t>	</a:t>
              </a:r>
              <a:r>
                <a:rPr lang="en-US" altLang="zh-CN" sz="2800" dirty="0">
                  <a:solidFill>
                    <a:srgbClr val="FF3300"/>
                  </a:solidFill>
                  <a:latin typeface="Times New Roman" panose="02020603050405020304" pitchFamily="18" charset="0"/>
                </a:rPr>
                <a:t>1</a:t>
              </a:r>
              <a:endParaRPr lang="en-US" altLang="zh-CN" sz="2800" baseline="-25000" dirty="0">
                <a:solidFill>
                  <a:srgbClr val="FF3300"/>
                </a:solidFill>
                <a:latin typeface="Times New Roman" panose="02020603050405020304" pitchFamily="18" charset="0"/>
              </a:endParaRPr>
            </a:p>
          </p:txBody>
        </p:sp>
        <p:sp>
          <p:nvSpPr>
            <p:cNvPr id="90162" name="Text Box 16"/>
            <p:cNvSpPr txBox="1"/>
            <p:nvPr/>
          </p:nvSpPr>
          <p:spPr>
            <a:xfrm>
              <a:off x="483" y="1954"/>
              <a:ext cx="228" cy="2210"/>
            </a:xfrm>
            <a:prstGeom prst="rect">
              <a:avLst/>
            </a:prstGeom>
            <a:noFill/>
            <a:ln w="19050">
              <a:noFill/>
            </a:ln>
          </p:spPr>
          <p:txBody>
            <a:bodyPr wrap="none">
              <a:spAutoFit/>
            </a:bodyPr>
            <a:lstStyle/>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1</a:t>
              </a:r>
            </a:p>
            <a:p>
              <a:pPr algn="ctr" defTabSz="666750"/>
              <a:r>
                <a:rPr lang="en-US" altLang="zh-CN" sz="2800" dirty="0">
                  <a:latin typeface="Times New Roman" panose="02020603050405020304" pitchFamily="18" charset="0"/>
                </a:rPr>
                <a:t>1</a:t>
              </a:r>
            </a:p>
            <a:p>
              <a:pPr algn="ctr" defTabSz="666750"/>
              <a:r>
                <a:rPr lang="en-US" altLang="zh-CN" sz="2800" dirty="0">
                  <a:latin typeface="Times New Roman" panose="02020603050405020304" pitchFamily="18" charset="0"/>
                </a:rPr>
                <a:t>1</a:t>
              </a:r>
            </a:p>
            <a:p>
              <a:pPr algn="ctr" defTabSz="666750"/>
              <a:r>
                <a:rPr lang="en-US" altLang="zh-CN" sz="2800" dirty="0">
                  <a:latin typeface="Times New Roman" panose="02020603050405020304" pitchFamily="18" charset="0"/>
                </a:rPr>
                <a:t>1</a:t>
              </a:r>
              <a:endParaRPr lang="en-US" altLang="zh-CN" sz="2800" baseline="-25000" dirty="0">
                <a:latin typeface="Times New Roman" panose="02020603050405020304" pitchFamily="18" charset="0"/>
              </a:endParaRPr>
            </a:p>
          </p:txBody>
        </p:sp>
        <p:sp>
          <p:nvSpPr>
            <p:cNvPr id="90163" name="Line 17"/>
            <p:cNvSpPr/>
            <p:nvPr/>
          </p:nvSpPr>
          <p:spPr>
            <a:xfrm>
              <a:off x="4747" y="1318"/>
              <a:ext cx="0" cy="2883"/>
            </a:xfrm>
            <a:prstGeom prst="line">
              <a:avLst/>
            </a:prstGeom>
            <a:ln w="19050" cap="flat" cmpd="sng">
              <a:solidFill>
                <a:schemeClr val="tx1"/>
              </a:solidFill>
              <a:prstDash val="solid"/>
              <a:headEnd type="none" w="med" len="med"/>
              <a:tailEnd type="none" w="sm" len="lg"/>
            </a:ln>
          </p:spPr>
        </p:sp>
        <p:sp>
          <p:nvSpPr>
            <p:cNvPr id="90164" name="Rectangle 18"/>
            <p:cNvSpPr/>
            <p:nvPr/>
          </p:nvSpPr>
          <p:spPr>
            <a:xfrm>
              <a:off x="4865" y="1349"/>
              <a:ext cx="620" cy="596"/>
            </a:xfrm>
            <a:prstGeom prst="rect">
              <a:avLst/>
            </a:prstGeom>
            <a:noFill/>
            <a:ln w="19050">
              <a:noFill/>
            </a:ln>
          </p:spPr>
          <p:txBody>
            <a:bodyPr wrap="none">
              <a:spAutoFit/>
            </a:bodyPr>
            <a:lstStyle/>
            <a:p>
              <a:pPr algn="ctr"/>
              <a:r>
                <a:rPr lang="zh-CN" altLang="en-US" sz="2800" dirty="0">
                  <a:latin typeface="Times New Roman" panose="02020603050405020304" pitchFamily="18" charset="0"/>
                </a:rPr>
                <a:t>输 出</a:t>
              </a:r>
            </a:p>
            <a:p>
              <a:pPr algn="ctr"/>
              <a:r>
                <a:rPr lang="en-US" altLang="zh-CN" sz="2800" dirty="0">
                  <a:latin typeface="Times New Roman" panose="02020603050405020304" pitchFamily="18" charset="0"/>
                </a:rPr>
                <a:t>Z</a:t>
              </a:r>
            </a:p>
          </p:txBody>
        </p:sp>
        <p:sp>
          <p:nvSpPr>
            <p:cNvPr id="90165" name="Text Box 19"/>
            <p:cNvSpPr txBox="1"/>
            <p:nvPr/>
          </p:nvSpPr>
          <p:spPr>
            <a:xfrm>
              <a:off x="5067" y="1954"/>
              <a:ext cx="228" cy="2210"/>
            </a:xfrm>
            <a:prstGeom prst="rect">
              <a:avLst/>
            </a:prstGeom>
            <a:noFill/>
            <a:ln w="19050">
              <a:noFill/>
            </a:ln>
          </p:spPr>
          <p:txBody>
            <a:bodyPr wrap="none">
              <a:spAutoFit/>
            </a:bodyPr>
            <a:lstStyle/>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solidFill>
                    <a:srgbClr val="FF3300"/>
                  </a:solidFill>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0</a:t>
              </a:r>
            </a:p>
            <a:p>
              <a:pPr algn="ctr" defTabSz="666750"/>
              <a:r>
                <a:rPr lang="en-US" altLang="zh-CN" sz="2800" dirty="0">
                  <a:latin typeface="Times New Roman" panose="02020603050405020304" pitchFamily="18" charset="0"/>
                </a:rPr>
                <a:t>1</a:t>
              </a:r>
            </a:p>
            <a:p>
              <a:pPr algn="ctr" defTabSz="666750"/>
              <a:r>
                <a:rPr lang="en-US" altLang="zh-CN" sz="2800" dirty="0">
                  <a:solidFill>
                    <a:srgbClr val="FF3300"/>
                  </a:solidFill>
                  <a:latin typeface="Times New Roman" panose="02020603050405020304" pitchFamily="18" charset="0"/>
                </a:rPr>
                <a:t>1</a:t>
              </a:r>
              <a:endParaRPr lang="en-US" altLang="zh-CN" sz="2800" baseline="-25000" dirty="0">
                <a:solidFill>
                  <a:srgbClr val="FF3300"/>
                </a:solidFill>
                <a:latin typeface="Times New Roman" panose="02020603050405020304" pitchFamily="18" charset="0"/>
              </a:endParaRPr>
            </a:p>
          </p:txBody>
        </p:sp>
      </p:grpSp>
      <p:grpSp>
        <p:nvGrpSpPr>
          <p:cNvPr id="3" name="Group 20"/>
          <p:cNvGrpSpPr/>
          <p:nvPr/>
        </p:nvGrpSpPr>
        <p:grpSpPr>
          <a:xfrm>
            <a:off x="476250" y="4981575"/>
            <a:ext cx="3709988" cy="1690688"/>
            <a:chOff x="264" y="3255"/>
            <a:chExt cx="2337" cy="1065"/>
          </a:xfrm>
        </p:grpSpPr>
        <p:sp>
          <p:nvSpPr>
            <p:cNvPr id="90119" name="Text Box 21"/>
            <p:cNvSpPr txBox="1"/>
            <p:nvPr/>
          </p:nvSpPr>
          <p:spPr>
            <a:xfrm>
              <a:off x="507" y="3255"/>
              <a:ext cx="521" cy="327"/>
            </a:xfrm>
            <a:prstGeom prst="rect">
              <a:avLst/>
            </a:prstGeom>
            <a:noFill/>
            <a:ln w="19050">
              <a:noFill/>
            </a:ln>
          </p:spPr>
          <p:txBody>
            <a:bodyPr>
              <a:spAutoFit/>
            </a:bodyPr>
            <a:lstStyle/>
            <a:p>
              <a:r>
                <a:rPr lang="en-US" altLang="zh-CN" sz="2800" dirty="0">
                  <a:latin typeface="Times New Roman" panose="02020603050405020304" pitchFamily="18" charset="0"/>
                </a:rPr>
                <a:t>xy</a:t>
              </a:r>
              <a:r>
                <a:rPr lang="en-US" altLang="zh-CN" sz="2800" baseline="-25000" dirty="0">
                  <a:latin typeface="Times New Roman" panose="02020603050405020304" pitchFamily="18" charset="0"/>
                </a:rPr>
                <a:t>2</a:t>
              </a:r>
            </a:p>
          </p:txBody>
        </p:sp>
        <p:sp>
          <p:nvSpPr>
            <p:cNvPr id="90120" name="Text Box 22"/>
            <p:cNvSpPr txBox="1"/>
            <p:nvPr/>
          </p:nvSpPr>
          <p:spPr>
            <a:xfrm>
              <a:off x="842" y="3643"/>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90121" name="Text Box 23"/>
            <p:cNvSpPr txBox="1"/>
            <p:nvPr/>
          </p:nvSpPr>
          <p:spPr>
            <a:xfrm>
              <a:off x="1346" y="3643"/>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90122" name="Text Box 24"/>
            <p:cNvSpPr txBox="1"/>
            <p:nvPr/>
          </p:nvSpPr>
          <p:spPr>
            <a:xfrm>
              <a:off x="1337" y="3993"/>
              <a:ext cx="228" cy="327"/>
            </a:xfrm>
            <a:prstGeom prst="rect">
              <a:avLst/>
            </a:prstGeom>
            <a:noFill/>
            <a:ln w="19050">
              <a:noFill/>
            </a:ln>
          </p:spPr>
          <p:txBody>
            <a:bodyPr wrap="none">
              <a:spAutoFit/>
            </a:bodyPr>
            <a:lstStyle/>
            <a:p>
              <a:r>
                <a:rPr lang="en-US" altLang="zh-CN" sz="2800" dirty="0">
                  <a:solidFill>
                    <a:srgbClr val="FF3300"/>
                  </a:solidFill>
                  <a:latin typeface="Times New Roman" panose="02020603050405020304" pitchFamily="18" charset="0"/>
                </a:rPr>
                <a:t>d</a:t>
              </a:r>
            </a:p>
          </p:txBody>
        </p:sp>
        <p:sp>
          <p:nvSpPr>
            <p:cNvPr id="90123" name="Text Box 25"/>
            <p:cNvSpPr txBox="1"/>
            <p:nvPr/>
          </p:nvSpPr>
          <p:spPr>
            <a:xfrm>
              <a:off x="842" y="3993"/>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90124" name="Text Box 26"/>
            <p:cNvSpPr txBox="1"/>
            <p:nvPr/>
          </p:nvSpPr>
          <p:spPr>
            <a:xfrm>
              <a:off x="820" y="3327"/>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90125" name="Text Box 27"/>
            <p:cNvSpPr txBox="1"/>
            <p:nvPr/>
          </p:nvSpPr>
          <p:spPr>
            <a:xfrm>
              <a:off x="1322" y="3327"/>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90126" name="Text Box 28"/>
            <p:cNvSpPr txBox="1"/>
            <p:nvPr/>
          </p:nvSpPr>
          <p:spPr>
            <a:xfrm>
              <a:off x="458" y="3643"/>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90127" name="Text Box 29"/>
            <p:cNvSpPr txBox="1"/>
            <p:nvPr/>
          </p:nvSpPr>
          <p:spPr>
            <a:xfrm>
              <a:off x="477" y="3987"/>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90128" name="Line 30"/>
            <p:cNvSpPr/>
            <p:nvPr/>
          </p:nvSpPr>
          <p:spPr>
            <a:xfrm>
              <a:off x="365" y="3375"/>
              <a:ext cx="342" cy="233"/>
            </a:xfrm>
            <a:prstGeom prst="line">
              <a:avLst/>
            </a:prstGeom>
            <a:ln w="38100" cap="flat" cmpd="sng">
              <a:solidFill>
                <a:srgbClr val="3333FF"/>
              </a:solidFill>
              <a:prstDash val="solid"/>
              <a:headEnd type="none" w="med" len="med"/>
              <a:tailEnd type="none" w="sm" len="lg"/>
            </a:ln>
          </p:spPr>
        </p:sp>
        <p:sp>
          <p:nvSpPr>
            <p:cNvPr id="90129" name="Text Box 31"/>
            <p:cNvSpPr txBox="1"/>
            <p:nvPr/>
          </p:nvSpPr>
          <p:spPr>
            <a:xfrm>
              <a:off x="328" y="3384"/>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grpSp>
          <p:nvGrpSpPr>
            <p:cNvPr id="90130" name="Group 32"/>
            <p:cNvGrpSpPr/>
            <p:nvPr/>
          </p:nvGrpSpPr>
          <p:grpSpPr>
            <a:xfrm>
              <a:off x="721" y="3601"/>
              <a:ext cx="1880" cy="719"/>
              <a:chOff x="2652" y="1704"/>
              <a:chExt cx="2400" cy="1200"/>
            </a:xfrm>
          </p:grpSpPr>
          <p:grpSp>
            <p:nvGrpSpPr>
              <p:cNvPr id="90139" name="Group 33"/>
              <p:cNvGrpSpPr/>
              <p:nvPr/>
            </p:nvGrpSpPr>
            <p:grpSpPr>
              <a:xfrm>
                <a:off x="2652" y="1704"/>
                <a:ext cx="1200" cy="1200"/>
                <a:chOff x="1272" y="1896"/>
                <a:chExt cx="1200" cy="1200"/>
              </a:xfrm>
            </p:grpSpPr>
            <p:sp>
              <p:nvSpPr>
                <p:cNvPr id="90145" name="Rectangle 34"/>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0146" name="Rectangle 35"/>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0147" name="Rectangle 36"/>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0148" name="Rectangle 37"/>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90140" name="Group 38"/>
              <p:cNvGrpSpPr/>
              <p:nvPr/>
            </p:nvGrpSpPr>
            <p:grpSpPr>
              <a:xfrm>
                <a:off x="3852" y="1704"/>
                <a:ext cx="1200" cy="1200"/>
                <a:chOff x="1272" y="1896"/>
                <a:chExt cx="1200" cy="1200"/>
              </a:xfrm>
            </p:grpSpPr>
            <p:sp>
              <p:nvSpPr>
                <p:cNvPr id="90141" name="Rectangle 39"/>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0142" name="Rectangle 40"/>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0143" name="Rectangle 41"/>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0144" name="Rectangle 42"/>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sp>
          <p:nvSpPr>
            <p:cNvPr id="90131" name="Text Box 43"/>
            <p:cNvSpPr txBox="1"/>
            <p:nvPr/>
          </p:nvSpPr>
          <p:spPr>
            <a:xfrm>
              <a:off x="1751" y="3334"/>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90132" name="Text Box 44"/>
            <p:cNvSpPr txBox="1"/>
            <p:nvPr/>
          </p:nvSpPr>
          <p:spPr>
            <a:xfrm>
              <a:off x="2186" y="3334"/>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90133" name="Text Box 45"/>
            <p:cNvSpPr txBox="1"/>
            <p:nvPr/>
          </p:nvSpPr>
          <p:spPr>
            <a:xfrm>
              <a:off x="1812" y="363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90134" name="Text Box 46"/>
            <p:cNvSpPr txBox="1"/>
            <p:nvPr/>
          </p:nvSpPr>
          <p:spPr>
            <a:xfrm>
              <a:off x="2242" y="363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90135" name="Text Box 47"/>
            <p:cNvSpPr txBox="1"/>
            <p:nvPr/>
          </p:nvSpPr>
          <p:spPr>
            <a:xfrm>
              <a:off x="1821" y="3993"/>
              <a:ext cx="228" cy="327"/>
            </a:xfrm>
            <a:prstGeom prst="rect">
              <a:avLst/>
            </a:prstGeom>
            <a:noFill/>
            <a:ln w="19050">
              <a:noFill/>
            </a:ln>
          </p:spPr>
          <p:txBody>
            <a:bodyPr wrap="none">
              <a:spAutoFit/>
            </a:bodyPr>
            <a:lstStyle/>
            <a:p>
              <a:r>
                <a:rPr lang="en-US" altLang="zh-CN" sz="2800" dirty="0">
                  <a:solidFill>
                    <a:srgbClr val="FF3300"/>
                  </a:solidFill>
                  <a:latin typeface="Times New Roman" panose="02020603050405020304" pitchFamily="18" charset="0"/>
                </a:rPr>
                <a:t>d</a:t>
              </a:r>
            </a:p>
          </p:txBody>
        </p:sp>
        <p:sp>
          <p:nvSpPr>
            <p:cNvPr id="90136" name="Text Box 48"/>
            <p:cNvSpPr txBox="1"/>
            <p:nvPr/>
          </p:nvSpPr>
          <p:spPr>
            <a:xfrm>
              <a:off x="2270" y="3986"/>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90137" name="Text Box 49"/>
            <p:cNvSpPr txBox="1"/>
            <p:nvPr/>
          </p:nvSpPr>
          <p:spPr>
            <a:xfrm>
              <a:off x="264" y="3799"/>
              <a:ext cx="253" cy="327"/>
            </a:xfrm>
            <a:prstGeom prst="rect">
              <a:avLst/>
            </a:prstGeom>
            <a:noFill/>
            <a:ln w="19050">
              <a:noFill/>
            </a:ln>
          </p:spPr>
          <p:txBody>
            <a:bodyPr wrap="none">
              <a:spAutoFit/>
            </a:bodyPr>
            <a:lstStyle/>
            <a:p>
              <a:r>
                <a:rPr lang="en-US" altLang="zh-CN" sz="2800" dirty="0">
                  <a:latin typeface="Times New Roman" panose="02020603050405020304" pitchFamily="18" charset="0"/>
                </a:rPr>
                <a:t>Z</a:t>
              </a:r>
            </a:p>
          </p:txBody>
        </p:sp>
        <p:sp>
          <p:nvSpPr>
            <p:cNvPr id="90138" name="AutoShape 50"/>
            <p:cNvSpPr/>
            <p:nvPr/>
          </p:nvSpPr>
          <p:spPr>
            <a:xfrm>
              <a:off x="1754" y="3675"/>
              <a:ext cx="325" cy="264"/>
            </a:xfrm>
            <a:prstGeom prst="roundRect">
              <a:avLst>
                <a:gd name="adj" fmla="val 16667"/>
              </a:avLst>
            </a:prstGeom>
            <a:no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7" name="Group 51"/>
          <p:cNvGrpSpPr/>
          <p:nvPr/>
        </p:nvGrpSpPr>
        <p:grpSpPr>
          <a:xfrm>
            <a:off x="5475288" y="5689600"/>
            <a:ext cx="1311275" cy="433388"/>
            <a:chOff x="3449" y="3584"/>
            <a:chExt cx="826" cy="273"/>
          </a:xfrm>
        </p:grpSpPr>
        <p:sp>
          <p:nvSpPr>
            <p:cNvPr id="90117" name="Rectangle 52" descr="羊皮纸"/>
            <p:cNvSpPr/>
            <p:nvPr/>
          </p:nvSpPr>
          <p:spPr>
            <a:xfrm>
              <a:off x="3449" y="3584"/>
              <a:ext cx="826" cy="273"/>
            </a:xfrm>
            <a:prstGeom prst="rect">
              <a:avLst/>
            </a:prstGeom>
            <a:noFill/>
            <a:ln w="38100">
              <a:noFill/>
            </a:ln>
          </p:spPr>
          <p:txBody>
            <a:bodyPr wrap="none" lIns="90000" tIns="46800" rIns="90000" bIns="46800">
              <a:spAutoFit/>
            </a:bodyPr>
            <a:lstStyle/>
            <a:p>
              <a:pPr>
                <a:lnSpc>
                  <a:spcPct val="80000"/>
                </a:lnSpc>
              </a:pPr>
              <a:r>
                <a:rPr lang="en-US" altLang="zh-CN" sz="2800" dirty="0">
                  <a:latin typeface="Times New Roman" panose="02020603050405020304" pitchFamily="18" charset="0"/>
                </a:rPr>
                <a:t>Z=</a:t>
              </a:r>
              <a:r>
                <a:rPr lang="en-US" altLang="zh-CN" sz="2800" i="1" dirty="0">
                  <a:latin typeface="Times New Roman" panose="02020603050405020304" pitchFamily="18" charset="0"/>
                </a:rPr>
                <a:t>xy</a:t>
              </a:r>
              <a:r>
                <a:rPr lang="en-US" altLang="zh-CN" sz="2800" baseline="-25000" dirty="0">
                  <a:latin typeface="Times New Roman" panose="02020603050405020304" pitchFamily="18" charset="0"/>
                </a:rPr>
                <a:t>1</a:t>
              </a:r>
              <a:r>
                <a:rPr lang="en-US" altLang="zh-CN" sz="2800" i="1" dirty="0">
                  <a:latin typeface="Times New Roman" panose="02020603050405020304" pitchFamily="18" charset="0"/>
                </a:rPr>
                <a:t>y</a:t>
              </a:r>
              <a:r>
                <a:rPr lang="en-US" altLang="zh-CN" sz="2800" baseline="-25000" dirty="0">
                  <a:latin typeface="Times New Roman" panose="02020603050405020304" pitchFamily="18" charset="0"/>
                </a:rPr>
                <a:t>2</a:t>
              </a:r>
            </a:p>
          </p:txBody>
        </p:sp>
        <p:sp>
          <p:nvSpPr>
            <p:cNvPr id="90118" name="Line 53"/>
            <p:cNvSpPr/>
            <p:nvPr/>
          </p:nvSpPr>
          <p:spPr>
            <a:xfrm>
              <a:off x="3861" y="3618"/>
              <a:ext cx="117" cy="0"/>
            </a:xfrm>
            <a:prstGeom prst="line">
              <a:avLst/>
            </a:prstGeom>
            <a:ln w="19050" cap="flat" cmpd="sng">
              <a:solidFill>
                <a:srgbClr val="0000FF"/>
              </a:solidFill>
              <a:prstDash val="soli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horizontal)">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681538" y="1511300"/>
            <a:ext cx="4298950" cy="4221163"/>
            <a:chOff x="2949" y="1180"/>
            <a:chExt cx="2708" cy="2659"/>
          </a:xfrm>
        </p:grpSpPr>
        <p:grpSp>
          <p:nvGrpSpPr>
            <p:cNvPr id="91162" name="Group 3"/>
            <p:cNvGrpSpPr/>
            <p:nvPr/>
          </p:nvGrpSpPr>
          <p:grpSpPr>
            <a:xfrm>
              <a:off x="2949" y="1180"/>
              <a:ext cx="2708" cy="2659"/>
              <a:chOff x="2708" y="1160"/>
              <a:chExt cx="2719" cy="2659"/>
            </a:xfrm>
          </p:grpSpPr>
          <p:sp>
            <p:nvSpPr>
              <p:cNvPr id="91164" name="Line 4"/>
              <p:cNvSpPr/>
              <p:nvPr/>
            </p:nvSpPr>
            <p:spPr>
              <a:xfrm>
                <a:off x="2708" y="1160"/>
                <a:ext cx="2719" cy="1"/>
              </a:xfrm>
              <a:prstGeom prst="line">
                <a:avLst/>
              </a:prstGeom>
              <a:ln w="38100" cap="flat" cmpd="sng">
                <a:solidFill>
                  <a:schemeClr val="tx1"/>
                </a:solidFill>
                <a:prstDash val="solid"/>
                <a:headEnd type="none" w="med" len="med"/>
                <a:tailEnd type="none" w="sm" len="lg"/>
              </a:ln>
            </p:spPr>
          </p:sp>
          <p:sp>
            <p:nvSpPr>
              <p:cNvPr id="91165" name="Line 5"/>
              <p:cNvSpPr/>
              <p:nvPr/>
            </p:nvSpPr>
            <p:spPr>
              <a:xfrm>
                <a:off x="2708" y="3818"/>
                <a:ext cx="2719" cy="1"/>
              </a:xfrm>
              <a:prstGeom prst="line">
                <a:avLst/>
              </a:prstGeom>
              <a:ln w="38100" cap="flat" cmpd="sng">
                <a:solidFill>
                  <a:schemeClr val="tx1"/>
                </a:solidFill>
                <a:prstDash val="solid"/>
                <a:headEnd type="none" w="med" len="med"/>
                <a:tailEnd type="none" w="sm" len="lg"/>
              </a:ln>
            </p:spPr>
          </p:sp>
          <p:sp>
            <p:nvSpPr>
              <p:cNvPr id="91166" name="Line 6"/>
              <p:cNvSpPr/>
              <p:nvPr/>
            </p:nvSpPr>
            <p:spPr>
              <a:xfrm>
                <a:off x="3400" y="1160"/>
                <a:ext cx="0" cy="2641"/>
              </a:xfrm>
              <a:prstGeom prst="line">
                <a:avLst/>
              </a:prstGeom>
              <a:ln w="19050" cap="flat" cmpd="sng">
                <a:solidFill>
                  <a:schemeClr val="tx1"/>
                </a:solidFill>
                <a:prstDash val="solid"/>
                <a:headEnd type="none" w="med" len="med"/>
                <a:tailEnd type="none" w="sm" len="lg"/>
              </a:ln>
            </p:spPr>
          </p:sp>
          <p:sp>
            <p:nvSpPr>
              <p:cNvPr id="91167" name="Line 7"/>
              <p:cNvSpPr/>
              <p:nvPr/>
            </p:nvSpPr>
            <p:spPr>
              <a:xfrm>
                <a:off x="4389" y="1842"/>
                <a:ext cx="0" cy="1977"/>
              </a:xfrm>
              <a:prstGeom prst="line">
                <a:avLst/>
              </a:prstGeom>
              <a:ln w="19050" cap="flat" cmpd="sng">
                <a:solidFill>
                  <a:schemeClr val="tx1"/>
                </a:solidFill>
                <a:prstDash val="solid"/>
                <a:headEnd type="none" w="med" len="med"/>
                <a:tailEnd type="none" w="sm" len="lg"/>
              </a:ln>
            </p:spPr>
          </p:sp>
          <p:sp>
            <p:nvSpPr>
              <p:cNvPr id="91168" name="Line 8"/>
              <p:cNvSpPr/>
              <p:nvPr/>
            </p:nvSpPr>
            <p:spPr>
              <a:xfrm>
                <a:off x="3420" y="1828"/>
                <a:ext cx="2007" cy="1"/>
              </a:xfrm>
              <a:prstGeom prst="line">
                <a:avLst/>
              </a:prstGeom>
              <a:ln w="12700" cap="flat" cmpd="sng">
                <a:solidFill>
                  <a:schemeClr val="tx1"/>
                </a:solidFill>
                <a:prstDash val="solid"/>
                <a:headEnd type="none" w="med" len="med"/>
                <a:tailEnd type="none" w="sm" len="lg"/>
              </a:ln>
            </p:spPr>
          </p:sp>
          <p:sp>
            <p:nvSpPr>
              <p:cNvPr id="91169" name="Line 9"/>
              <p:cNvSpPr/>
              <p:nvPr/>
            </p:nvSpPr>
            <p:spPr>
              <a:xfrm>
                <a:off x="2708" y="2454"/>
                <a:ext cx="2719" cy="1"/>
              </a:xfrm>
              <a:prstGeom prst="line">
                <a:avLst/>
              </a:prstGeom>
              <a:ln w="12700" cap="flat" cmpd="sng">
                <a:solidFill>
                  <a:schemeClr val="tx1"/>
                </a:solidFill>
                <a:prstDash val="solid"/>
                <a:headEnd type="none" w="med" len="med"/>
                <a:tailEnd type="none" w="sm" len="lg"/>
              </a:ln>
            </p:spPr>
          </p:sp>
          <p:sp>
            <p:nvSpPr>
              <p:cNvPr id="91170" name="Text Box 10"/>
              <p:cNvSpPr txBox="1"/>
              <p:nvPr/>
            </p:nvSpPr>
            <p:spPr>
              <a:xfrm>
                <a:off x="2776" y="1249"/>
                <a:ext cx="565" cy="1270"/>
              </a:xfrm>
              <a:prstGeom prst="rect">
                <a:avLst/>
              </a:prstGeom>
              <a:noFill/>
              <a:ln w="19050">
                <a:noFill/>
              </a:ln>
            </p:spPr>
            <p:txBody>
              <a:bodyPr>
                <a:spAutoFit/>
              </a:bodyPr>
              <a:lstStyle/>
              <a:p>
                <a:pPr>
                  <a:lnSpc>
                    <a:spcPct val="150000"/>
                  </a:lnSpc>
                </a:pPr>
                <a:r>
                  <a:rPr lang="zh-CN" altLang="zh-CN" sz="2800" dirty="0">
                    <a:latin typeface="Times New Roman" panose="02020603050405020304" pitchFamily="18" charset="0"/>
                  </a:rPr>
                  <a:t>现态</a:t>
                </a:r>
              </a:p>
              <a:p>
                <a:pPr>
                  <a:lnSpc>
                    <a:spcPct val="150000"/>
                  </a:lnSpc>
                </a:pP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dirty="0">
                    <a:latin typeface="Times New Roman" panose="02020603050405020304" pitchFamily="18" charset="0"/>
                  </a:rPr>
                  <a:t> y</a:t>
                </a:r>
                <a:r>
                  <a:rPr lang="en-US" altLang="zh-CN" sz="2800" baseline="-25000" dirty="0">
                    <a:latin typeface="Times New Roman" panose="02020603050405020304" pitchFamily="18" charset="0"/>
                  </a:rPr>
                  <a:t>1</a:t>
                </a:r>
              </a:p>
            </p:txBody>
          </p:sp>
          <p:sp>
            <p:nvSpPr>
              <p:cNvPr id="91171" name="Text Box 11"/>
              <p:cNvSpPr txBox="1"/>
              <p:nvPr/>
            </p:nvSpPr>
            <p:spPr>
              <a:xfrm>
                <a:off x="3717" y="1957"/>
                <a:ext cx="455"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91172" name="Text Box 12"/>
              <p:cNvSpPr txBox="1"/>
              <p:nvPr/>
            </p:nvSpPr>
            <p:spPr>
              <a:xfrm>
                <a:off x="4763" y="1957"/>
                <a:ext cx="455"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91173" name="Text Box 13"/>
              <p:cNvSpPr txBox="1"/>
              <p:nvPr/>
            </p:nvSpPr>
            <p:spPr>
              <a:xfrm>
                <a:off x="2783" y="2503"/>
                <a:ext cx="518" cy="1242"/>
              </a:xfrm>
              <a:prstGeom prst="rect">
                <a:avLst/>
              </a:prstGeom>
              <a:noFill/>
              <a:ln w="19050">
                <a:noFill/>
              </a:ln>
            </p:spPr>
            <p:txBody>
              <a:bodyPr wrap="none">
                <a:spAutoFit/>
              </a:bodyPr>
              <a:lstStyle/>
              <a:p>
                <a:pPr marL="457200" indent="-457200" algn="ctr" defTabSz="666750">
                  <a:lnSpc>
                    <a:spcPct val="110000"/>
                  </a:lnSpc>
                  <a:buNone/>
                </a:pPr>
                <a:r>
                  <a:rPr lang="en-US" altLang="zh-CN" sz="2800" dirty="0">
                    <a:latin typeface="Times New Roman" panose="02020603050405020304" pitchFamily="18" charset="0"/>
                  </a:rPr>
                  <a:t>0	0</a:t>
                </a:r>
              </a:p>
              <a:p>
                <a:pPr marL="457200" indent="-457200" algn="ctr" defTabSz="666750">
                  <a:lnSpc>
                    <a:spcPct val="110000"/>
                  </a:lnSpc>
                  <a:buNone/>
                </a:pPr>
                <a:r>
                  <a:rPr lang="en-US" altLang="zh-CN" sz="2800" dirty="0">
                    <a:latin typeface="Times New Roman" panose="02020603050405020304" pitchFamily="18" charset="0"/>
                  </a:rPr>
                  <a:t>0	1</a:t>
                </a:r>
              </a:p>
              <a:p>
                <a:pPr marL="457200" indent="-457200" algn="ctr" defTabSz="666750">
                  <a:lnSpc>
                    <a:spcPct val="110000"/>
                  </a:lnSpc>
                  <a:buAutoNum type="arabicPlain"/>
                </a:pPr>
                <a:r>
                  <a:rPr lang="en-US" altLang="zh-CN" sz="2800" dirty="0">
                    <a:solidFill>
                      <a:srgbClr val="FF3300"/>
                    </a:solidFill>
                    <a:latin typeface="Times New Roman" panose="02020603050405020304" pitchFamily="18" charset="0"/>
                  </a:rPr>
                  <a:t>1</a:t>
                </a:r>
              </a:p>
              <a:p>
                <a:pPr marL="457200" indent="-457200" algn="ctr" defTabSz="666750">
                  <a:lnSpc>
                    <a:spcPct val="110000"/>
                  </a:lnSpc>
                  <a:buNone/>
                </a:pPr>
                <a:r>
                  <a:rPr lang="en-US" altLang="zh-CN" sz="2800" dirty="0">
                    <a:latin typeface="Times New Roman" panose="02020603050405020304" pitchFamily="18" charset="0"/>
                  </a:rPr>
                  <a:t>1   0</a:t>
                </a:r>
                <a:endParaRPr lang="en-US" altLang="zh-CN" sz="2800" baseline="-25000" dirty="0">
                  <a:latin typeface="Times New Roman" panose="02020603050405020304" pitchFamily="18" charset="0"/>
                </a:endParaRPr>
              </a:p>
            </p:txBody>
          </p:sp>
          <p:sp>
            <p:nvSpPr>
              <p:cNvPr id="91174" name="Text Box 14"/>
              <p:cNvSpPr txBox="1"/>
              <p:nvPr/>
            </p:nvSpPr>
            <p:spPr>
              <a:xfrm>
                <a:off x="3702" y="2510"/>
                <a:ext cx="516" cy="1242"/>
              </a:xfrm>
              <a:prstGeom prst="rect">
                <a:avLst/>
              </a:prstGeom>
              <a:noFill/>
              <a:ln w="19050">
                <a:noFill/>
              </a:ln>
            </p:spPr>
            <p:txBody>
              <a:bodyPr wrap="none">
                <a:spAutoFit/>
              </a:bodyPr>
              <a:lstStyle/>
              <a:p>
                <a:pPr>
                  <a:lnSpc>
                    <a:spcPct val="11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00/0</a:t>
                </a:r>
                <a:endParaRPr lang="en-US" altLang="zh-CN" sz="2800" baseline="-25000" dirty="0">
                  <a:latin typeface="Times New Roman" panose="02020603050405020304" pitchFamily="18" charset="0"/>
                </a:endParaRPr>
              </a:p>
              <a:p>
                <a:pPr>
                  <a:lnSpc>
                    <a:spcPct val="110000"/>
                  </a:lnSpc>
                </a:pPr>
                <a:r>
                  <a:rPr lang="en-US" altLang="zh-CN" sz="2800" dirty="0">
                    <a:solidFill>
                      <a:srgbClr val="FF3300"/>
                    </a:solidFill>
                    <a:latin typeface="Times New Roman" panose="02020603050405020304" pitchFamily="18" charset="0"/>
                  </a:rPr>
                  <a:t>00/0</a:t>
                </a:r>
              </a:p>
              <a:p>
                <a:pPr>
                  <a:lnSpc>
                    <a:spcPct val="110000"/>
                  </a:lnSpc>
                </a:pPr>
                <a:r>
                  <a:rPr lang="en-US" altLang="zh-CN" sz="2800" dirty="0">
                    <a:latin typeface="Times New Roman" panose="02020603050405020304" pitchFamily="18" charset="0"/>
                  </a:rPr>
                  <a:t>00/0</a:t>
                </a:r>
              </a:p>
            </p:txBody>
          </p:sp>
          <p:sp>
            <p:nvSpPr>
              <p:cNvPr id="91175" name="Text Box 15"/>
              <p:cNvSpPr txBox="1"/>
              <p:nvPr/>
            </p:nvSpPr>
            <p:spPr>
              <a:xfrm>
                <a:off x="4731" y="2538"/>
                <a:ext cx="516" cy="1215"/>
              </a:xfrm>
              <a:prstGeom prst="rect">
                <a:avLst/>
              </a:prstGeom>
              <a:noFill/>
              <a:ln w="19050">
                <a:noFill/>
              </a:ln>
            </p:spPr>
            <p:txBody>
              <a:bodyPr wrap="none">
                <a:spAutoFit/>
              </a:bodyPr>
              <a:lstStyle/>
              <a:p>
                <a:r>
                  <a:rPr lang="en-US" altLang="zh-CN" sz="2800" dirty="0">
                    <a:latin typeface="Times New Roman" panose="02020603050405020304" pitchFamily="18" charset="0"/>
                  </a:rPr>
                  <a:t>01/0</a:t>
                </a:r>
                <a:endParaRPr lang="en-US" altLang="zh-CN" sz="2800" baseline="-25000" dirty="0">
                  <a:latin typeface="Times New Roman" panose="02020603050405020304" pitchFamily="18" charset="0"/>
                </a:endParaRPr>
              </a:p>
              <a:p>
                <a:pPr>
                  <a:lnSpc>
                    <a:spcPct val="110000"/>
                  </a:lnSpc>
                </a:pPr>
                <a:r>
                  <a:rPr lang="en-US" altLang="zh-CN" sz="2800" dirty="0">
                    <a:latin typeface="Times New Roman" panose="02020603050405020304" pitchFamily="18" charset="0"/>
                  </a:rPr>
                  <a:t>10/0</a:t>
                </a:r>
                <a:endParaRPr lang="en-US" altLang="zh-CN" sz="2800" baseline="-25000" dirty="0">
                  <a:latin typeface="Times New Roman" panose="02020603050405020304" pitchFamily="18" charset="0"/>
                </a:endParaRPr>
              </a:p>
              <a:p>
                <a:pPr>
                  <a:lnSpc>
                    <a:spcPct val="110000"/>
                  </a:lnSpc>
                </a:pPr>
                <a:r>
                  <a:rPr lang="en-US" altLang="zh-CN" sz="2800" dirty="0">
                    <a:solidFill>
                      <a:srgbClr val="FF3300"/>
                    </a:solidFill>
                    <a:latin typeface="Times New Roman" panose="02020603050405020304" pitchFamily="18" charset="0"/>
                  </a:rPr>
                  <a:t>10/0</a:t>
                </a:r>
              </a:p>
              <a:p>
                <a:pPr>
                  <a:lnSpc>
                    <a:spcPct val="110000"/>
                  </a:lnSpc>
                </a:pPr>
                <a:r>
                  <a:rPr lang="en-US" altLang="zh-CN" sz="2800" dirty="0">
                    <a:latin typeface="Times New Roman" panose="02020603050405020304" pitchFamily="18" charset="0"/>
                  </a:rPr>
                  <a:t>10/1</a:t>
                </a:r>
              </a:p>
            </p:txBody>
          </p:sp>
        </p:grpSp>
        <p:sp>
          <p:nvSpPr>
            <p:cNvPr id="91163" name="Text Box 16"/>
            <p:cNvSpPr txBox="1"/>
            <p:nvPr/>
          </p:nvSpPr>
          <p:spPr>
            <a:xfrm>
              <a:off x="3626" y="1306"/>
              <a:ext cx="1843"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r>
                <a:rPr lang="en-US" altLang="zh-CN" sz="2800" baseline="30000" dirty="0">
                  <a:latin typeface="Times New Roman" panose="02020603050405020304" pitchFamily="18" charset="0"/>
                </a:rPr>
                <a:t>(</a:t>
              </a:r>
              <a:r>
                <a:rPr lang="en-US" altLang="zh-CN" sz="2800" i="1" baseline="30000" dirty="0">
                  <a:latin typeface="Times New Roman" panose="02020603050405020304" pitchFamily="18" charset="0"/>
                </a:rPr>
                <a:t>n</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/Z</a:t>
              </a:r>
            </a:p>
          </p:txBody>
        </p:sp>
      </p:grpSp>
      <p:grpSp>
        <p:nvGrpSpPr>
          <p:cNvPr id="4" name="Group 17"/>
          <p:cNvGrpSpPr/>
          <p:nvPr/>
        </p:nvGrpSpPr>
        <p:grpSpPr>
          <a:xfrm>
            <a:off x="85725" y="1489075"/>
            <a:ext cx="4668838" cy="4157663"/>
            <a:chOff x="54" y="938"/>
            <a:chExt cx="2941" cy="2619"/>
          </a:xfrm>
        </p:grpSpPr>
        <p:sp>
          <p:nvSpPr>
            <p:cNvPr id="91140" name="Text Box 18"/>
            <p:cNvSpPr txBox="1"/>
            <p:nvPr/>
          </p:nvSpPr>
          <p:spPr>
            <a:xfrm>
              <a:off x="2428" y="2015"/>
              <a:ext cx="228" cy="327"/>
            </a:xfrm>
            <a:prstGeom prst="rect">
              <a:avLst/>
            </a:prstGeom>
            <a:noFill/>
            <a:ln w="38100">
              <a:noFill/>
            </a:ln>
          </p:spPr>
          <p:txBody>
            <a:bodyPr wrap="none">
              <a:spAutoFit/>
            </a:bodyPr>
            <a:lstStyle/>
            <a:p>
              <a:r>
                <a:rPr lang="en-US" altLang="zh-CN" sz="2800" dirty="0">
                  <a:latin typeface="Times New Roman" panose="02020603050405020304" pitchFamily="18" charset="0"/>
                </a:rPr>
                <a:t>0</a:t>
              </a:r>
            </a:p>
          </p:txBody>
        </p:sp>
        <p:sp>
          <p:nvSpPr>
            <p:cNvPr id="91141" name="Oval 19"/>
            <p:cNvSpPr/>
            <p:nvPr/>
          </p:nvSpPr>
          <p:spPr>
            <a:xfrm>
              <a:off x="402" y="1992"/>
              <a:ext cx="532"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dirty="0">
                  <a:latin typeface="Times New Roman" panose="02020603050405020304" pitchFamily="18" charset="0"/>
                </a:rPr>
                <a:t>00</a:t>
              </a:r>
              <a:endParaRPr lang="en-US" altLang="zh-CN" sz="2800" i="1" baseline="-25000" dirty="0">
                <a:latin typeface="Times New Roman" panose="02020603050405020304" pitchFamily="18" charset="0"/>
              </a:endParaRPr>
            </a:p>
          </p:txBody>
        </p:sp>
        <p:sp>
          <p:nvSpPr>
            <p:cNvPr id="91142" name="Text Box 20"/>
            <p:cNvSpPr txBox="1"/>
            <p:nvPr/>
          </p:nvSpPr>
          <p:spPr>
            <a:xfrm flipH="1" flipV="1">
              <a:off x="167" y="1570"/>
              <a:ext cx="435" cy="327"/>
            </a:xfrm>
            <a:prstGeom prst="rect">
              <a:avLst/>
            </a:prstGeom>
            <a:noFill/>
            <a:ln w="38100">
              <a:noFill/>
            </a:ln>
          </p:spPr>
          <p:txBody>
            <a:bodyPr>
              <a:spAutoFit/>
            </a:bodyPr>
            <a:lstStyle/>
            <a:p>
              <a:r>
                <a:rPr lang="en-US" altLang="zh-CN" sz="2800" dirty="0">
                  <a:latin typeface="Times New Roman" panose="02020603050405020304" pitchFamily="18" charset="0"/>
                </a:rPr>
                <a:t>0/0</a:t>
              </a:r>
            </a:p>
          </p:txBody>
        </p:sp>
        <p:sp>
          <p:nvSpPr>
            <p:cNvPr id="91143" name="Freeform 21"/>
            <p:cNvSpPr/>
            <p:nvPr/>
          </p:nvSpPr>
          <p:spPr>
            <a:xfrm rot="-1137942">
              <a:off x="54" y="1953"/>
              <a:ext cx="481" cy="568"/>
            </a:xfrm>
            <a:custGeom>
              <a:avLst/>
              <a:gdLst>
                <a:gd name="txL" fmla="*/ 0 w 436"/>
                <a:gd name="txT" fmla="*/ 0 h 467"/>
                <a:gd name="txR" fmla="*/ 436 w 436"/>
                <a:gd name="txB" fmla="*/ 467 h 467"/>
              </a:gdLst>
              <a:ahLst/>
              <a:cxnLst>
                <a:cxn ang="0">
                  <a:pos x="351" y="691"/>
                </a:cxn>
                <a:cxn ang="0">
                  <a:pos x="146" y="636"/>
                </a:cxn>
                <a:cxn ang="0">
                  <a:pos x="22" y="495"/>
                </a:cxn>
                <a:cxn ang="0">
                  <a:pos x="17" y="263"/>
                </a:cxn>
                <a:cxn ang="0">
                  <a:pos x="103" y="103"/>
                </a:cxn>
                <a:cxn ang="0">
                  <a:pos x="263" y="15"/>
                </a:cxn>
                <a:cxn ang="0">
                  <a:pos x="351" y="15"/>
                </a:cxn>
                <a:cxn ang="0">
                  <a:pos x="470" y="62"/>
                </a:cxn>
                <a:cxn ang="0">
                  <a:pos x="531" y="187"/>
                </a:cxn>
              </a:cxnLst>
              <a:rect l="txL" t="txT" r="txR" b="txB"/>
              <a:pathLst>
                <a:path w="436" h="467">
                  <a:moveTo>
                    <a:pt x="288" y="467"/>
                  </a:moveTo>
                  <a:cubicBezTo>
                    <a:pt x="260" y="461"/>
                    <a:pt x="165" y="452"/>
                    <a:pt x="120" y="430"/>
                  </a:cubicBezTo>
                  <a:cubicBezTo>
                    <a:pt x="75" y="408"/>
                    <a:pt x="36" y="377"/>
                    <a:pt x="18" y="335"/>
                  </a:cubicBezTo>
                  <a:cubicBezTo>
                    <a:pt x="0" y="293"/>
                    <a:pt x="3" y="222"/>
                    <a:pt x="14" y="178"/>
                  </a:cubicBezTo>
                  <a:cubicBezTo>
                    <a:pt x="25" y="134"/>
                    <a:pt x="50" y="98"/>
                    <a:pt x="84" y="70"/>
                  </a:cubicBezTo>
                  <a:cubicBezTo>
                    <a:pt x="118" y="42"/>
                    <a:pt x="182" y="20"/>
                    <a:pt x="216" y="10"/>
                  </a:cubicBezTo>
                  <a:cubicBezTo>
                    <a:pt x="250" y="0"/>
                    <a:pt x="260" y="5"/>
                    <a:pt x="288" y="10"/>
                  </a:cubicBezTo>
                  <a:cubicBezTo>
                    <a:pt x="316" y="15"/>
                    <a:pt x="361" y="23"/>
                    <a:pt x="386" y="42"/>
                  </a:cubicBezTo>
                  <a:cubicBezTo>
                    <a:pt x="411" y="61"/>
                    <a:pt x="425" y="111"/>
                    <a:pt x="436" y="127"/>
                  </a:cubicBezTo>
                </a:path>
              </a:pathLst>
            </a:custGeom>
            <a:noFill/>
            <a:ln w="38100" cap="flat" cmpd="sng">
              <a:solidFill>
                <a:srgbClr val="3333FF">
                  <a:alpha val="100000"/>
                </a:srgbClr>
              </a:solidFill>
              <a:prstDash val="solid"/>
              <a:round/>
              <a:headEnd type="none" w="med" len="med"/>
              <a:tailEnd type="triangle" w="med" len="med"/>
            </a:ln>
          </p:spPr>
          <p:txBody>
            <a:bodyPr/>
            <a:lstStyle/>
            <a:p>
              <a:endParaRPr lang="zh-CN" altLang="en-US" sz="2800"/>
            </a:p>
          </p:txBody>
        </p:sp>
        <p:sp>
          <p:nvSpPr>
            <p:cNvPr id="91144" name="Line 22"/>
            <p:cNvSpPr/>
            <p:nvPr/>
          </p:nvSpPr>
          <p:spPr>
            <a:xfrm flipH="1" flipV="1">
              <a:off x="774" y="2496"/>
              <a:ext cx="617" cy="624"/>
            </a:xfrm>
            <a:prstGeom prst="line">
              <a:avLst/>
            </a:prstGeom>
            <a:ln w="38100" cap="flat" cmpd="sng">
              <a:solidFill>
                <a:srgbClr val="FF3300"/>
              </a:solidFill>
              <a:prstDash val="solid"/>
              <a:headEnd type="none" w="med" len="med"/>
              <a:tailEnd type="triangle" w="sm" len="lg"/>
            </a:ln>
          </p:spPr>
        </p:sp>
        <p:sp>
          <p:nvSpPr>
            <p:cNvPr id="91145" name="Text Box 23"/>
            <p:cNvSpPr txBox="1"/>
            <p:nvPr/>
          </p:nvSpPr>
          <p:spPr>
            <a:xfrm flipH="1" flipV="1">
              <a:off x="703" y="2731"/>
              <a:ext cx="435" cy="327"/>
            </a:xfrm>
            <a:prstGeom prst="rect">
              <a:avLst/>
            </a:prstGeom>
            <a:noFill/>
            <a:ln w="38100">
              <a:noFill/>
            </a:ln>
          </p:spPr>
          <p:txBody>
            <a:bodyPr>
              <a:spAutoFit/>
            </a:bodyPr>
            <a:lstStyle/>
            <a:p>
              <a:r>
                <a:rPr lang="en-US" altLang="zh-CN" sz="2800" dirty="0">
                  <a:solidFill>
                    <a:srgbClr val="FF3300"/>
                  </a:solidFill>
                  <a:latin typeface="Times New Roman" panose="02020603050405020304" pitchFamily="18" charset="0"/>
                </a:rPr>
                <a:t>0/0</a:t>
              </a:r>
            </a:p>
          </p:txBody>
        </p:sp>
        <p:sp>
          <p:nvSpPr>
            <p:cNvPr id="91146" name="Line 24"/>
            <p:cNvSpPr/>
            <p:nvPr/>
          </p:nvSpPr>
          <p:spPr>
            <a:xfrm flipH="1">
              <a:off x="928" y="2268"/>
              <a:ext cx="1496" cy="0"/>
            </a:xfrm>
            <a:prstGeom prst="line">
              <a:avLst/>
            </a:prstGeom>
            <a:ln w="38100" cap="flat" cmpd="sng">
              <a:solidFill>
                <a:srgbClr val="3333FF"/>
              </a:solidFill>
              <a:prstDash val="solid"/>
              <a:headEnd type="none" w="med" len="med"/>
              <a:tailEnd type="triangle" w="sm" len="lg"/>
            </a:ln>
          </p:spPr>
        </p:sp>
        <p:sp>
          <p:nvSpPr>
            <p:cNvPr id="91147" name="Text Box 25"/>
            <p:cNvSpPr txBox="1"/>
            <p:nvPr/>
          </p:nvSpPr>
          <p:spPr>
            <a:xfrm flipH="1" flipV="1">
              <a:off x="1483" y="2225"/>
              <a:ext cx="435" cy="327"/>
            </a:xfrm>
            <a:prstGeom prst="rect">
              <a:avLst/>
            </a:prstGeom>
            <a:noFill/>
            <a:ln w="38100">
              <a:noFill/>
            </a:ln>
          </p:spPr>
          <p:txBody>
            <a:bodyPr>
              <a:spAutoFit/>
            </a:bodyPr>
            <a:lstStyle/>
            <a:p>
              <a:r>
                <a:rPr lang="en-US" altLang="zh-CN" sz="2800" dirty="0">
                  <a:latin typeface="Times New Roman" panose="02020603050405020304" pitchFamily="18" charset="0"/>
                </a:rPr>
                <a:t>0/0</a:t>
              </a:r>
            </a:p>
          </p:txBody>
        </p:sp>
        <p:sp>
          <p:nvSpPr>
            <p:cNvPr id="91148" name="Freeform 26"/>
            <p:cNvSpPr/>
            <p:nvPr/>
          </p:nvSpPr>
          <p:spPr>
            <a:xfrm>
              <a:off x="881" y="1416"/>
              <a:ext cx="593" cy="684"/>
            </a:xfrm>
            <a:custGeom>
              <a:avLst/>
              <a:gdLst>
                <a:gd name="txL" fmla="*/ 0 w 600"/>
                <a:gd name="txT" fmla="*/ 0 h 684"/>
                <a:gd name="txR" fmla="*/ 600 w 600"/>
                <a:gd name="txB" fmla="*/ 684 h 684"/>
              </a:gdLst>
              <a:ahLst/>
              <a:cxnLst>
                <a:cxn ang="0">
                  <a:pos x="586" y="0"/>
                </a:cxn>
                <a:cxn ang="0">
                  <a:pos x="422" y="432"/>
                </a:cxn>
                <a:cxn ang="0">
                  <a:pos x="0" y="684"/>
                </a:cxn>
              </a:cxnLst>
              <a:rect l="txL" t="txT" r="txR" b="txB"/>
              <a:pathLst>
                <a:path w="600" h="684">
                  <a:moveTo>
                    <a:pt x="600" y="0"/>
                  </a:moveTo>
                  <a:cubicBezTo>
                    <a:pt x="566" y="159"/>
                    <a:pt x="532" y="318"/>
                    <a:pt x="432" y="432"/>
                  </a:cubicBezTo>
                  <a:cubicBezTo>
                    <a:pt x="332" y="546"/>
                    <a:pt x="70" y="644"/>
                    <a:pt x="0" y="684"/>
                  </a:cubicBezTo>
                </a:path>
              </a:pathLst>
            </a:custGeom>
            <a:noFill/>
            <a:ln w="38100" cap="flat" cmpd="sng">
              <a:solidFill>
                <a:srgbClr val="3333FF">
                  <a:alpha val="100000"/>
                </a:srgbClr>
              </a:solidFill>
              <a:prstDash val="solid"/>
              <a:round/>
              <a:headEnd type="none" w="med" len="med"/>
              <a:tailEnd type="triangle" w="med" len="med"/>
            </a:ln>
          </p:spPr>
          <p:txBody>
            <a:bodyPr/>
            <a:lstStyle/>
            <a:p>
              <a:endParaRPr lang="zh-CN" altLang="en-US" sz="2800"/>
            </a:p>
          </p:txBody>
        </p:sp>
        <p:sp>
          <p:nvSpPr>
            <p:cNvPr id="91149" name="Text Box 27"/>
            <p:cNvSpPr txBox="1"/>
            <p:nvPr/>
          </p:nvSpPr>
          <p:spPr>
            <a:xfrm flipH="1" flipV="1">
              <a:off x="1330" y="1637"/>
              <a:ext cx="435" cy="327"/>
            </a:xfrm>
            <a:prstGeom prst="rect">
              <a:avLst/>
            </a:prstGeom>
            <a:noFill/>
            <a:ln w="38100">
              <a:noFill/>
            </a:ln>
          </p:spPr>
          <p:txBody>
            <a:bodyPr>
              <a:spAutoFit/>
            </a:bodyPr>
            <a:lstStyle/>
            <a:p>
              <a:r>
                <a:rPr lang="en-US" altLang="zh-CN" sz="2800" dirty="0">
                  <a:latin typeface="Times New Roman" panose="02020603050405020304" pitchFamily="18" charset="0"/>
                </a:rPr>
                <a:t>0/0</a:t>
              </a:r>
            </a:p>
          </p:txBody>
        </p:sp>
        <p:sp>
          <p:nvSpPr>
            <p:cNvPr id="91150" name="Oval 28"/>
            <p:cNvSpPr/>
            <p:nvPr/>
          </p:nvSpPr>
          <p:spPr>
            <a:xfrm>
              <a:off x="1399" y="938"/>
              <a:ext cx="532"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dirty="0">
                  <a:latin typeface="Times New Roman" panose="02020603050405020304" pitchFamily="18" charset="0"/>
                </a:rPr>
                <a:t>01</a:t>
              </a:r>
            </a:p>
          </p:txBody>
        </p:sp>
        <p:grpSp>
          <p:nvGrpSpPr>
            <p:cNvPr id="91151" name="Group 29"/>
            <p:cNvGrpSpPr/>
            <p:nvPr/>
          </p:nvGrpSpPr>
          <p:grpSpPr>
            <a:xfrm>
              <a:off x="568" y="1284"/>
              <a:ext cx="823" cy="684"/>
              <a:chOff x="1880" y="1416"/>
              <a:chExt cx="832" cy="684"/>
            </a:xfrm>
          </p:grpSpPr>
          <p:sp>
            <p:nvSpPr>
              <p:cNvPr id="91160" name="Freeform 30"/>
              <p:cNvSpPr/>
              <p:nvPr/>
            </p:nvSpPr>
            <p:spPr>
              <a:xfrm>
                <a:off x="1980" y="1416"/>
                <a:ext cx="732" cy="684"/>
              </a:xfrm>
              <a:custGeom>
                <a:avLst/>
                <a:gdLst>
                  <a:gd name="txL" fmla="*/ 0 w 744"/>
                  <a:gd name="txT" fmla="*/ 0 h 876"/>
                  <a:gd name="txR" fmla="*/ 744 w 744"/>
                  <a:gd name="txB" fmla="*/ 876 h 876"/>
                </a:gdLst>
                <a:ahLst/>
                <a:cxnLst>
                  <a:cxn ang="0">
                    <a:pos x="0" y="534"/>
                  </a:cxn>
                  <a:cxn ang="0">
                    <a:pos x="244" y="205"/>
                  </a:cxn>
                  <a:cxn ang="0">
                    <a:pos x="720" y="0"/>
                  </a:cxn>
                </a:cxnLst>
                <a:rect l="txL" t="txT" r="txR" b="txB"/>
                <a:pathLst>
                  <a:path w="744" h="876">
                    <a:moveTo>
                      <a:pt x="0" y="876"/>
                    </a:moveTo>
                    <a:cubicBezTo>
                      <a:pt x="42" y="786"/>
                      <a:pt x="128" y="482"/>
                      <a:pt x="252" y="336"/>
                    </a:cubicBezTo>
                    <a:cubicBezTo>
                      <a:pt x="376" y="190"/>
                      <a:pt x="642" y="70"/>
                      <a:pt x="744" y="0"/>
                    </a:cubicBezTo>
                  </a:path>
                </a:pathLst>
              </a:custGeom>
              <a:noFill/>
              <a:ln w="38100" cap="flat" cmpd="sng">
                <a:solidFill>
                  <a:srgbClr val="3333FF">
                    <a:alpha val="100000"/>
                  </a:srgbClr>
                </a:solidFill>
                <a:prstDash val="solid"/>
                <a:round/>
                <a:headEnd type="none" w="med" len="med"/>
                <a:tailEnd type="triangle" w="med" len="med"/>
              </a:ln>
            </p:spPr>
            <p:txBody>
              <a:bodyPr/>
              <a:lstStyle/>
              <a:p>
                <a:endParaRPr lang="zh-CN" altLang="en-US" sz="2800"/>
              </a:p>
            </p:txBody>
          </p:sp>
          <p:sp>
            <p:nvSpPr>
              <p:cNvPr id="91161" name="Text Box 31"/>
              <p:cNvSpPr txBox="1"/>
              <p:nvPr/>
            </p:nvSpPr>
            <p:spPr>
              <a:xfrm flipH="1">
                <a:off x="1880" y="1436"/>
                <a:ext cx="536" cy="327"/>
              </a:xfrm>
              <a:prstGeom prst="rect">
                <a:avLst/>
              </a:prstGeom>
              <a:noFill/>
              <a:ln w="38100">
                <a:noFill/>
              </a:ln>
            </p:spPr>
            <p:txBody>
              <a:bodyPr>
                <a:spAutoFit/>
              </a:bodyPr>
              <a:lstStyle/>
              <a:p>
                <a:r>
                  <a:rPr lang="en-US" altLang="zh-CN" sz="2800" dirty="0">
                    <a:latin typeface="Times New Roman" panose="02020603050405020304" pitchFamily="18" charset="0"/>
                  </a:rPr>
                  <a:t>1/0</a:t>
                </a:r>
              </a:p>
            </p:txBody>
          </p:sp>
        </p:grpSp>
        <p:sp>
          <p:nvSpPr>
            <p:cNvPr id="91152" name="Oval 32"/>
            <p:cNvSpPr/>
            <p:nvPr/>
          </p:nvSpPr>
          <p:spPr>
            <a:xfrm>
              <a:off x="1399" y="2918"/>
              <a:ext cx="532" cy="538"/>
            </a:xfrm>
            <a:prstGeom prst="ellipse">
              <a:avLst/>
            </a:prstGeom>
            <a:solidFill>
              <a:srgbClr val="E2FEED"/>
            </a:solidFill>
            <a:ln w="38100" cap="flat" cmpd="sng">
              <a:solidFill>
                <a:srgbClr val="FF3300"/>
              </a:solidFill>
              <a:prstDash val="solid"/>
              <a:headEnd type="none" w="med" len="med"/>
              <a:tailEnd type="none" w="med" len="med"/>
            </a:ln>
          </p:spPr>
          <p:txBody>
            <a:bodyPr wrap="none" anchor="ctr" anchorCtr="0"/>
            <a:lstStyle/>
            <a:p>
              <a:pPr algn="ctr"/>
              <a:r>
                <a:rPr lang="en-US" altLang="zh-CN" sz="2800" dirty="0">
                  <a:solidFill>
                    <a:srgbClr val="FF3300"/>
                  </a:solidFill>
                  <a:latin typeface="Times New Roman" panose="02020603050405020304" pitchFamily="18" charset="0"/>
                </a:rPr>
                <a:t>11</a:t>
              </a:r>
              <a:endParaRPr lang="en-US" altLang="zh-CN" sz="2800" i="1" baseline="-25000" dirty="0">
                <a:solidFill>
                  <a:srgbClr val="FF3300"/>
                </a:solidFill>
                <a:latin typeface="Times New Roman" panose="02020603050405020304" pitchFamily="18" charset="0"/>
              </a:endParaRPr>
            </a:p>
          </p:txBody>
        </p:sp>
        <p:sp>
          <p:nvSpPr>
            <p:cNvPr id="91153" name="Line 33"/>
            <p:cNvSpPr/>
            <p:nvPr/>
          </p:nvSpPr>
          <p:spPr>
            <a:xfrm rot="5400000" flipH="1" flipV="1">
              <a:off x="1937" y="2496"/>
              <a:ext cx="594" cy="600"/>
            </a:xfrm>
            <a:prstGeom prst="line">
              <a:avLst/>
            </a:prstGeom>
            <a:ln w="38100" cap="flat" cmpd="sng">
              <a:solidFill>
                <a:srgbClr val="FF3300"/>
              </a:solidFill>
              <a:prstDash val="solid"/>
              <a:headEnd type="none" w="med" len="med"/>
              <a:tailEnd type="triangle" w="sm" len="lg"/>
            </a:ln>
          </p:spPr>
        </p:sp>
        <p:sp>
          <p:nvSpPr>
            <p:cNvPr id="91154" name="Text Box 34"/>
            <p:cNvSpPr txBox="1"/>
            <p:nvPr/>
          </p:nvSpPr>
          <p:spPr>
            <a:xfrm flipH="1">
              <a:off x="2171" y="2708"/>
              <a:ext cx="530" cy="327"/>
            </a:xfrm>
            <a:prstGeom prst="rect">
              <a:avLst/>
            </a:prstGeom>
            <a:noFill/>
            <a:ln w="38100">
              <a:noFill/>
            </a:ln>
          </p:spPr>
          <p:txBody>
            <a:bodyPr>
              <a:spAutoFit/>
            </a:bodyPr>
            <a:lstStyle/>
            <a:p>
              <a:r>
                <a:rPr lang="en-US" altLang="zh-CN" sz="2800" dirty="0">
                  <a:solidFill>
                    <a:srgbClr val="FF3300"/>
                  </a:solidFill>
                  <a:latin typeface="Times New Roman" panose="02020603050405020304" pitchFamily="18" charset="0"/>
                </a:rPr>
                <a:t>1/0</a:t>
              </a:r>
            </a:p>
          </p:txBody>
        </p:sp>
        <p:sp>
          <p:nvSpPr>
            <p:cNvPr id="91155" name="Freeform 35"/>
            <p:cNvSpPr/>
            <p:nvPr/>
          </p:nvSpPr>
          <p:spPr>
            <a:xfrm>
              <a:off x="2539" y="2506"/>
              <a:ext cx="415" cy="684"/>
            </a:xfrm>
            <a:custGeom>
              <a:avLst/>
              <a:gdLst>
                <a:gd name="txL" fmla="*/ 0 w 562"/>
                <a:gd name="txT" fmla="*/ 0 h 415"/>
                <a:gd name="txR" fmla="*/ 562 w 562"/>
                <a:gd name="txB" fmla="*/ 415 h 415"/>
              </a:gdLst>
              <a:ahLst/>
              <a:cxnLst>
                <a:cxn ang="0">
                  <a:pos x="277" y="25"/>
                </a:cxn>
                <a:cxn ang="0">
                  <a:pos x="306" y="470"/>
                </a:cxn>
                <a:cxn ang="0">
                  <a:pos x="273" y="880"/>
                </a:cxn>
                <a:cxn ang="0">
                  <a:pos x="179" y="1101"/>
                </a:cxn>
                <a:cxn ang="0">
                  <a:pos x="96" y="1048"/>
                </a:cxn>
                <a:cxn ang="0">
                  <a:pos x="27" y="763"/>
                </a:cxn>
                <a:cxn ang="0">
                  <a:pos x="10" y="565"/>
                </a:cxn>
                <a:cxn ang="0">
                  <a:pos x="5" y="251"/>
                </a:cxn>
                <a:cxn ang="0">
                  <a:pos x="45" y="0"/>
                </a:cxn>
              </a:cxnLst>
              <a:rect l="txL" t="txT" r="txR" b="txB"/>
              <a:pathLst>
                <a:path w="562" h="415">
                  <a:moveTo>
                    <a:pt x="508" y="9"/>
                  </a:moveTo>
                  <a:cubicBezTo>
                    <a:pt x="517" y="38"/>
                    <a:pt x="562" y="121"/>
                    <a:pt x="561" y="173"/>
                  </a:cubicBezTo>
                  <a:cubicBezTo>
                    <a:pt x="560" y="225"/>
                    <a:pt x="540" y="285"/>
                    <a:pt x="501" y="324"/>
                  </a:cubicBezTo>
                  <a:cubicBezTo>
                    <a:pt x="462" y="363"/>
                    <a:pt x="382" y="395"/>
                    <a:pt x="328" y="405"/>
                  </a:cubicBezTo>
                  <a:cubicBezTo>
                    <a:pt x="274" y="415"/>
                    <a:pt x="223" y="407"/>
                    <a:pt x="176" y="386"/>
                  </a:cubicBezTo>
                  <a:cubicBezTo>
                    <a:pt x="130" y="365"/>
                    <a:pt x="77" y="311"/>
                    <a:pt x="50" y="281"/>
                  </a:cubicBezTo>
                  <a:cubicBezTo>
                    <a:pt x="24" y="251"/>
                    <a:pt x="25" y="239"/>
                    <a:pt x="18" y="208"/>
                  </a:cubicBezTo>
                  <a:cubicBezTo>
                    <a:pt x="11" y="177"/>
                    <a:pt x="0" y="127"/>
                    <a:pt x="10" y="92"/>
                  </a:cubicBezTo>
                  <a:cubicBezTo>
                    <a:pt x="20" y="57"/>
                    <a:pt x="69" y="18"/>
                    <a:pt x="82" y="0"/>
                  </a:cubicBezTo>
                </a:path>
              </a:pathLst>
            </a:custGeom>
            <a:noFill/>
            <a:ln w="38100" cap="flat" cmpd="sng">
              <a:solidFill>
                <a:srgbClr val="3333FF">
                  <a:alpha val="100000"/>
                </a:srgbClr>
              </a:solidFill>
              <a:prstDash val="solid"/>
              <a:round/>
              <a:headEnd type="none" w="med" len="med"/>
              <a:tailEnd type="triangle" w="med" len="med"/>
            </a:ln>
          </p:spPr>
          <p:txBody>
            <a:bodyPr/>
            <a:lstStyle/>
            <a:p>
              <a:endParaRPr lang="zh-CN" altLang="en-US" sz="2800"/>
            </a:p>
          </p:txBody>
        </p:sp>
        <p:sp>
          <p:nvSpPr>
            <p:cNvPr id="91156" name="Text Box 36"/>
            <p:cNvSpPr txBox="1"/>
            <p:nvPr/>
          </p:nvSpPr>
          <p:spPr>
            <a:xfrm flipH="1">
              <a:off x="2465" y="3230"/>
              <a:ext cx="530" cy="327"/>
            </a:xfrm>
            <a:prstGeom prst="rect">
              <a:avLst/>
            </a:prstGeom>
            <a:noFill/>
            <a:ln w="38100">
              <a:noFill/>
            </a:ln>
          </p:spPr>
          <p:txBody>
            <a:bodyPr>
              <a:spAutoFit/>
            </a:bodyPr>
            <a:lstStyle/>
            <a:p>
              <a:r>
                <a:rPr lang="en-US" altLang="zh-CN" sz="2800" dirty="0">
                  <a:latin typeface="Times New Roman" panose="02020603050405020304" pitchFamily="18" charset="0"/>
                </a:rPr>
                <a:t>1/1</a:t>
              </a:r>
            </a:p>
          </p:txBody>
        </p:sp>
        <p:sp>
          <p:nvSpPr>
            <p:cNvPr id="91157" name="Oval 37"/>
            <p:cNvSpPr/>
            <p:nvPr/>
          </p:nvSpPr>
          <p:spPr>
            <a:xfrm>
              <a:off x="2433" y="1992"/>
              <a:ext cx="532" cy="538"/>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dirty="0">
                  <a:latin typeface="Times New Roman" panose="02020603050405020304" pitchFamily="18" charset="0"/>
                </a:rPr>
                <a:t>10</a:t>
              </a:r>
              <a:endParaRPr lang="en-US" altLang="zh-CN" sz="2800" i="1" baseline="-25000" dirty="0">
                <a:latin typeface="Times New Roman" panose="02020603050405020304" pitchFamily="18" charset="0"/>
              </a:endParaRPr>
            </a:p>
          </p:txBody>
        </p:sp>
        <p:sp>
          <p:nvSpPr>
            <p:cNvPr id="91158" name="Freeform 38"/>
            <p:cNvSpPr/>
            <p:nvPr/>
          </p:nvSpPr>
          <p:spPr>
            <a:xfrm>
              <a:off x="1937" y="1260"/>
              <a:ext cx="760" cy="708"/>
            </a:xfrm>
            <a:custGeom>
              <a:avLst/>
              <a:gdLst>
                <a:gd name="txL" fmla="*/ 0 w 768"/>
                <a:gd name="txT" fmla="*/ 0 h 708"/>
                <a:gd name="txR" fmla="*/ 768 w 768"/>
                <a:gd name="txB" fmla="*/ 708 h 708"/>
              </a:gdLst>
              <a:ahLst/>
              <a:cxnLst>
                <a:cxn ang="0">
                  <a:pos x="0" y="0"/>
                </a:cxn>
                <a:cxn ang="0">
                  <a:pos x="412" y="240"/>
                </a:cxn>
                <a:cxn ang="0">
                  <a:pos x="752" y="708"/>
                </a:cxn>
              </a:cxnLst>
              <a:rect l="txL" t="txT" r="txR" b="txB"/>
              <a:pathLst>
                <a:path w="768" h="708">
                  <a:moveTo>
                    <a:pt x="0" y="0"/>
                  </a:moveTo>
                  <a:cubicBezTo>
                    <a:pt x="70" y="40"/>
                    <a:pt x="292" y="122"/>
                    <a:pt x="420" y="240"/>
                  </a:cubicBezTo>
                  <a:cubicBezTo>
                    <a:pt x="548" y="358"/>
                    <a:pt x="696" y="611"/>
                    <a:pt x="768" y="708"/>
                  </a:cubicBezTo>
                </a:path>
              </a:pathLst>
            </a:custGeom>
            <a:noFill/>
            <a:ln w="38100" cap="flat" cmpd="sng">
              <a:solidFill>
                <a:srgbClr val="3333FF">
                  <a:alpha val="100000"/>
                </a:srgbClr>
              </a:solidFill>
              <a:prstDash val="solid"/>
              <a:round/>
              <a:headEnd type="none" w="med" len="med"/>
              <a:tailEnd type="triangle" w="med" len="med"/>
            </a:ln>
          </p:spPr>
          <p:txBody>
            <a:bodyPr/>
            <a:lstStyle/>
            <a:p>
              <a:endParaRPr lang="zh-CN" altLang="en-US" sz="2800"/>
            </a:p>
          </p:txBody>
        </p:sp>
        <p:sp>
          <p:nvSpPr>
            <p:cNvPr id="91159" name="Text Box 39"/>
            <p:cNvSpPr txBox="1"/>
            <p:nvPr/>
          </p:nvSpPr>
          <p:spPr>
            <a:xfrm flipH="1">
              <a:off x="2372" y="1364"/>
              <a:ext cx="531" cy="327"/>
            </a:xfrm>
            <a:prstGeom prst="rect">
              <a:avLst/>
            </a:prstGeom>
            <a:noFill/>
            <a:ln w="38100">
              <a:noFill/>
            </a:ln>
          </p:spPr>
          <p:txBody>
            <a:bodyPr>
              <a:spAutoFit/>
            </a:bodyPr>
            <a:lstStyle/>
            <a:p>
              <a:r>
                <a:rPr lang="en-US" altLang="zh-CN" sz="2800" dirty="0">
                  <a:latin typeface="Times New Roman" panose="02020603050405020304" pitchFamily="18" charset="0"/>
                </a:rPr>
                <a:t>1/0</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Text Box 2"/>
          <p:cNvSpPr txBox="1"/>
          <p:nvPr/>
        </p:nvSpPr>
        <p:spPr>
          <a:xfrm>
            <a:off x="704850" y="698500"/>
            <a:ext cx="3241675" cy="519113"/>
          </a:xfrm>
          <a:prstGeom prst="rect">
            <a:avLst/>
          </a:prstGeom>
          <a:noFill/>
          <a:ln w="19050">
            <a:noFill/>
          </a:ln>
        </p:spPr>
        <p:txBody>
          <a:bodyPr wrap="none">
            <a:spAutoFit/>
          </a:bodyPr>
          <a:lstStyle/>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修改后的电路图：</a:t>
            </a:r>
          </a:p>
        </p:txBody>
      </p:sp>
      <p:grpSp>
        <p:nvGrpSpPr>
          <p:cNvPr id="92163" name="Group 3"/>
          <p:cNvGrpSpPr/>
          <p:nvPr/>
        </p:nvGrpSpPr>
        <p:grpSpPr>
          <a:xfrm>
            <a:off x="982663" y="1463675"/>
            <a:ext cx="7189787" cy="4645025"/>
            <a:chOff x="619" y="922"/>
            <a:chExt cx="4529" cy="2926"/>
          </a:xfrm>
        </p:grpSpPr>
        <p:sp>
          <p:nvSpPr>
            <p:cNvPr id="92164" name="Rectangle 4"/>
            <p:cNvSpPr/>
            <p:nvPr/>
          </p:nvSpPr>
          <p:spPr>
            <a:xfrm>
              <a:off x="1604" y="1739"/>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2165" name="Rectangle 5"/>
            <p:cNvSpPr/>
            <p:nvPr/>
          </p:nvSpPr>
          <p:spPr>
            <a:xfrm>
              <a:off x="3395" y="1739"/>
              <a:ext cx="1000" cy="558"/>
            </a:xfrm>
            <a:prstGeom prst="rect">
              <a:avLst/>
            </a:prstGeom>
            <a:solidFill>
              <a:srgbClr val="E1FDFF"/>
            </a:solidFill>
            <a:ln w="28575"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2166" name="Freeform 6"/>
            <p:cNvSpPr/>
            <p:nvPr/>
          </p:nvSpPr>
          <p:spPr>
            <a:xfrm>
              <a:off x="3840" y="2195"/>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92167" name="Oval 7"/>
            <p:cNvSpPr/>
            <p:nvPr/>
          </p:nvSpPr>
          <p:spPr>
            <a:xfrm>
              <a:off x="3864" y="2296"/>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2168" name="Text Box 8"/>
            <p:cNvSpPr txBox="1"/>
            <p:nvPr/>
          </p:nvSpPr>
          <p:spPr>
            <a:xfrm>
              <a:off x="3415" y="1971"/>
              <a:ext cx="354" cy="327"/>
            </a:xfrm>
            <a:prstGeom prst="rect">
              <a:avLst/>
            </a:prstGeom>
            <a:noFill/>
            <a:ln w="19050">
              <a:noFill/>
            </a:ln>
          </p:spPr>
          <p:txBody>
            <a:bodyPr wrap="none">
              <a:spAutoFit/>
            </a:bodyPr>
            <a:lstStyle/>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1</a:t>
              </a:r>
            </a:p>
          </p:txBody>
        </p:sp>
        <p:sp>
          <p:nvSpPr>
            <p:cNvPr id="92169" name="Text Box 9"/>
            <p:cNvSpPr txBox="1"/>
            <p:nvPr/>
          </p:nvSpPr>
          <p:spPr>
            <a:xfrm>
              <a:off x="3772" y="1904"/>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92170" name="Text Box 10"/>
            <p:cNvSpPr txBox="1"/>
            <p:nvPr/>
          </p:nvSpPr>
          <p:spPr>
            <a:xfrm>
              <a:off x="1636" y="1971"/>
              <a:ext cx="354" cy="327"/>
            </a:xfrm>
            <a:prstGeom prst="rect">
              <a:avLst/>
            </a:prstGeom>
            <a:noFill/>
            <a:ln w="19050">
              <a:noFill/>
            </a:ln>
          </p:spPr>
          <p:txBody>
            <a:bodyPr wrap="none">
              <a:spAutoFit/>
            </a:bodyPr>
            <a:lstStyle/>
            <a:p>
              <a:r>
                <a:rPr lang="en-US" altLang="zh-CN" sz="2800" dirty="0">
                  <a:latin typeface="Times New Roman" panose="02020603050405020304" pitchFamily="18" charset="0"/>
                </a:rPr>
                <a:t>K</a:t>
              </a:r>
              <a:r>
                <a:rPr lang="en-US" altLang="zh-CN" sz="2800" baseline="-25000" dirty="0">
                  <a:latin typeface="Times New Roman" panose="02020603050405020304" pitchFamily="18" charset="0"/>
                </a:rPr>
                <a:t>2</a:t>
              </a:r>
            </a:p>
          </p:txBody>
        </p:sp>
        <p:sp>
          <p:nvSpPr>
            <p:cNvPr id="92171" name="Text Box 11"/>
            <p:cNvSpPr txBox="1"/>
            <p:nvPr/>
          </p:nvSpPr>
          <p:spPr>
            <a:xfrm>
              <a:off x="1969" y="1904"/>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92172" name="Text Box 12"/>
            <p:cNvSpPr txBox="1"/>
            <p:nvPr/>
          </p:nvSpPr>
          <p:spPr>
            <a:xfrm>
              <a:off x="2089" y="936"/>
              <a:ext cx="316" cy="327"/>
            </a:xfrm>
            <a:prstGeom prst="rect">
              <a:avLst/>
            </a:prstGeom>
            <a:noFill/>
            <a:ln w="19050">
              <a:noFill/>
            </a:ln>
          </p:spPr>
          <p:txBody>
            <a:bodyPr>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p>
          </p:txBody>
        </p:sp>
        <p:sp>
          <p:nvSpPr>
            <p:cNvPr id="92173" name="Text Box 13"/>
            <p:cNvSpPr txBox="1"/>
            <p:nvPr/>
          </p:nvSpPr>
          <p:spPr>
            <a:xfrm>
              <a:off x="4593" y="2520"/>
              <a:ext cx="390" cy="327"/>
            </a:xfrm>
            <a:prstGeom prst="rect">
              <a:avLst/>
            </a:prstGeom>
            <a:noFill/>
            <a:ln w="19050">
              <a:noFill/>
            </a:ln>
          </p:spPr>
          <p:txBody>
            <a:bodyPr wrap="none">
              <a:spAutoFit/>
            </a:bodyPr>
            <a:lstStyle/>
            <a:p>
              <a:r>
                <a:rPr lang="en-US" altLang="zh-CN" sz="2800" dirty="0">
                  <a:latin typeface="Times New Roman" panose="02020603050405020304" pitchFamily="18" charset="0"/>
                </a:rPr>
                <a:t>CP</a:t>
              </a:r>
            </a:p>
          </p:txBody>
        </p:sp>
        <p:sp>
          <p:nvSpPr>
            <p:cNvPr id="92174" name="Text Box 14"/>
            <p:cNvSpPr txBox="1"/>
            <p:nvPr/>
          </p:nvSpPr>
          <p:spPr>
            <a:xfrm>
              <a:off x="4870" y="3521"/>
              <a:ext cx="278" cy="327"/>
            </a:xfrm>
            <a:prstGeom prst="rect">
              <a:avLst/>
            </a:prstGeom>
            <a:noFill/>
            <a:ln w="19050">
              <a:noFill/>
            </a:ln>
          </p:spPr>
          <p:txBody>
            <a:bodyPr>
              <a:spAutoFit/>
            </a:bodyPr>
            <a:lstStyle/>
            <a:p>
              <a:r>
                <a:rPr lang="en-US" altLang="zh-CN" sz="2800" dirty="0">
                  <a:latin typeface="Times New Roman" panose="02020603050405020304" pitchFamily="18" charset="0"/>
                </a:rPr>
                <a:t>x</a:t>
              </a:r>
            </a:p>
          </p:txBody>
        </p:sp>
        <p:sp>
          <p:nvSpPr>
            <p:cNvPr id="92175" name="Freeform 15"/>
            <p:cNvSpPr/>
            <p:nvPr/>
          </p:nvSpPr>
          <p:spPr>
            <a:xfrm>
              <a:off x="2036" y="2195"/>
              <a:ext cx="123" cy="90"/>
            </a:xfrm>
            <a:custGeom>
              <a:avLst/>
              <a:gdLst>
                <a:gd name="txL" fmla="*/ 0 w 712"/>
                <a:gd name="txT" fmla="*/ 0 h 356"/>
                <a:gd name="txR" fmla="*/ 712 w 712"/>
                <a:gd name="txB" fmla="*/ 356 h 356"/>
              </a:gdLst>
              <a:ahLst/>
              <a:cxnLst>
                <a:cxn ang="0">
                  <a:pos x="0" y="23"/>
                </a:cxn>
                <a:cxn ang="0">
                  <a:pos x="11" y="0"/>
                </a:cxn>
                <a:cxn ang="0">
                  <a:pos x="21" y="23"/>
                </a:cxn>
              </a:cxnLst>
              <a:rect l="txL" t="txT" r="txR" b="txB"/>
              <a:pathLst>
                <a:path w="712" h="356">
                  <a:moveTo>
                    <a:pt x="0" y="356"/>
                  </a:moveTo>
                  <a:lnTo>
                    <a:pt x="356" y="0"/>
                  </a:lnTo>
                  <a:lnTo>
                    <a:pt x="712" y="356"/>
                  </a:lnTo>
                </a:path>
              </a:pathLst>
            </a:custGeom>
            <a:solidFill>
              <a:schemeClr val="bg1">
                <a:alpha val="100000"/>
              </a:schemeClr>
            </a:solidFill>
            <a:ln w="28575"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92176" name="Oval 16"/>
            <p:cNvSpPr/>
            <p:nvPr/>
          </p:nvSpPr>
          <p:spPr>
            <a:xfrm>
              <a:off x="2060" y="2296"/>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2177" name="Oval 17"/>
            <p:cNvSpPr/>
            <p:nvPr/>
          </p:nvSpPr>
          <p:spPr>
            <a:xfrm>
              <a:off x="2203" y="3703"/>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nvGrpSpPr>
            <p:cNvPr id="92178" name="Group 18"/>
            <p:cNvGrpSpPr/>
            <p:nvPr/>
          </p:nvGrpSpPr>
          <p:grpSpPr>
            <a:xfrm>
              <a:off x="3547" y="1402"/>
              <a:ext cx="304" cy="327"/>
              <a:chOff x="3166" y="1105"/>
              <a:chExt cx="304" cy="327"/>
            </a:xfrm>
          </p:grpSpPr>
          <p:sp>
            <p:nvSpPr>
              <p:cNvPr id="92217" name="Text Box 19"/>
              <p:cNvSpPr txBox="1"/>
              <p:nvPr/>
            </p:nvSpPr>
            <p:spPr>
              <a:xfrm>
                <a:off x="3166" y="1105"/>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sp>
            <p:nvSpPr>
              <p:cNvPr id="92218" name="Line 20"/>
              <p:cNvSpPr/>
              <p:nvPr/>
            </p:nvSpPr>
            <p:spPr>
              <a:xfrm>
                <a:off x="3201" y="1196"/>
                <a:ext cx="156" cy="0"/>
              </a:xfrm>
              <a:prstGeom prst="line">
                <a:avLst/>
              </a:prstGeom>
              <a:ln w="19050" cap="flat" cmpd="sng">
                <a:solidFill>
                  <a:schemeClr val="tx1"/>
                </a:solidFill>
                <a:prstDash val="solid"/>
                <a:headEnd type="none" w="med" len="med"/>
                <a:tailEnd type="none" w="sm" len="lg"/>
              </a:ln>
            </p:spPr>
          </p:sp>
        </p:grpSp>
        <p:sp>
          <p:nvSpPr>
            <p:cNvPr id="92179" name="Text Box 21"/>
            <p:cNvSpPr txBox="1"/>
            <p:nvPr/>
          </p:nvSpPr>
          <p:spPr>
            <a:xfrm>
              <a:off x="832" y="969"/>
              <a:ext cx="215" cy="327"/>
            </a:xfrm>
            <a:prstGeom prst="rect">
              <a:avLst/>
            </a:prstGeom>
            <a:noFill/>
            <a:ln w="19050">
              <a:noFill/>
            </a:ln>
          </p:spPr>
          <p:txBody>
            <a:bodyPr wrap="none">
              <a:spAutoFit/>
            </a:bodyPr>
            <a:lstStyle/>
            <a:p>
              <a:r>
                <a:rPr lang="en-US" altLang="zh-CN" sz="2800" dirty="0">
                  <a:latin typeface="Times New Roman" panose="02020603050405020304" pitchFamily="18" charset="0"/>
                </a:rPr>
                <a:t>z</a:t>
              </a:r>
            </a:p>
          </p:txBody>
        </p:sp>
        <p:sp>
          <p:nvSpPr>
            <p:cNvPr id="92180" name="Oval 22"/>
            <p:cNvSpPr/>
            <p:nvPr/>
          </p:nvSpPr>
          <p:spPr>
            <a:xfrm>
              <a:off x="3868" y="2564"/>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nvGrpSpPr>
            <p:cNvPr id="92181" name="Group 23"/>
            <p:cNvGrpSpPr/>
            <p:nvPr/>
          </p:nvGrpSpPr>
          <p:grpSpPr>
            <a:xfrm>
              <a:off x="1483" y="1366"/>
              <a:ext cx="304" cy="327"/>
              <a:chOff x="3478" y="1165"/>
              <a:chExt cx="304" cy="327"/>
            </a:xfrm>
          </p:grpSpPr>
          <p:sp>
            <p:nvSpPr>
              <p:cNvPr id="92215" name="Text Box 24"/>
              <p:cNvSpPr txBox="1"/>
              <p:nvPr/>
            </p:nvSpPr>
            <p:spPr>
              <a:xfrm>
                <a:off x="3478" y="1165"/>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p>
            </p:txBody>
          </p:sp>
          <p:sp>
            <p:nvSpPr>
              <p:cNvPr id="92216" name="Line 25"/>
              <p:cNvSpPr/>
              <p:nvPr/>
            </p:nvSpPr>
            <p:spPr>
              <a:xfrm>
                <a:off x="3513" y="1256"/>
                <a:ext cx="156" cy="0"/>
              </a:xfrm>
              <a:prstGeom prst="line">
                <a:avLst/>
              </a:prstGeom>
              <a:ln w="19050" cap="flat" cmpd="sng">
                <a:solidFill>
                  <a:schemeClr val="tx1"/>
                </a:solidFill>
                <a:prstDash val="solid"/>
                <a:headEnd type="none" w="med" len="med"/>
                <a:tailEnd type="none" w="sm" len="lg"/>
              </a:ln>
            </p:spPr>
          </p:sp>
        </p:grpSp>
        <p:sp>
          <p:nvSpPr>
            <p:cNvPr id="92182" name="Text Box 26"/>
            <p:cNvSpPr txBox="1"/>
            <p:nvPr/>
          </p:nvSpPr>
          <p:spPr>
            <a:xfrm>
              <a:off x="2143" y="2736"/>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lstStyle/>
            <a:p>
              <a:pPr algn="ctr"/>
              <a:r>
                <a:rPr lang="en-US" altLang="zh-CN" sz="2800" dirty="0">
                  <a:latin typeface="Times New Roman" panose="02020603050405020304" pitchFamily="18" charset="0"/>
                  <a:sym typeface="Symbol" panose="05050102010706020507" pitchFamily="18" charset="2"/>
                </a:rPr>
                <a:t>&amp;</a:t>
              </a:r>
            </a:p>
          </p:txBody>
        </p:sp>
        <p:sp>
          <p:nvSpPr>
            <p:cNvPr id="92183" name="Text Box 27"/>
            <p:cNvSpPr txBox="1"/>
            <p:nvPr/>
          </p:nvSpPr>
          <p:spPr>
            <a:xfrm>
              <a:off x="3991" y="922"/>
              <a:ext cx="304" cy="327"/>
            </a:xfrm>
            <a:prstGeom prst="rect">
              <a:avLst/>
            </a:prstGeom>
            <a:noFill/>
            <a:ln w="19050">
              <a:noFill/>
            </a:ln>
          </p:spPr>
          <p:txBody>
            <a:bodyPr>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sp>
          <p:nvSpPr>
            <p:cNvPr id="92184" name="Line 28"/>
            <p:cNvSpPr/>
            <p:nvPr/>
          </p:nvSpPr>
          <p:spPr>
            <a:xfrm>
              <a:off x="1809" y="2301"/>
              <a:ext cx="0" cy="1452"/>
            </a:xfrm>
            <a:prstGeom prst="line">
              <a:avLst/>
            </a:prstGeom>
            <a:ln w="19050" cap="flat" cmpd="sng">
              <a:solidFill>
                <a:srgbClr val="3333FF"/>
              </a:solidFill>
              <a:prstDash val="solid"/>
              <a:headEnd type="none" w="med" len="med"/>
              <a:tailEnd type="none" w="sm" len="lg"/>
            </a:ln>
          </p:spPr>
        </p:sp>
        <p:sp>
          <p:nvSpPr>
            <p:cNvPr id="92185" name="Oval 29"/>
            <p:cNvSpPr/>
            <p:nvPr/>
          </p:nvSpPr>
          <p:spPr>
            <a:xfrm>
              <a:off x="1740" y="1672"/>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2186" name="Oval 30"/>
            <p:cNvSpPr/>
            <p:nvPr/>
          </p:nvSpPr>
          <p:spPr>
            <a:xfrm>
              <a:off x="3530" y="1674"/>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2187" name="Oval 31"/>
            <p:cNvSpPr/>
            <p:nvPr/>
          </p:nvSpPr>
          <p:spPr>
            <a:xfrm>
              <a:off x="1776" y="3720"/>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2188" name="Text Box 32"/>
            <p:cNvSpPr txBox="1"/>
            <p:nvPr/>
          </p:nvSpPr>
          <p:spPr>
            <a:xfrm>
              <a:off x="1519" y="2736"/>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lstStyle/>
            <a:p>
              <a:pPr algn="ctr"/>
              <a:r>
                <a:rPr lang="en-US" altLang="zh-CN" sz="2800" dirty="0">
                  <a:latin typeface="Times New Roman" panose="02020603050405020304" pitchFamily="18" charset="0"/>
                </a:rPr>
                <a:t>1</a:t>
              </a:r>
            </a:p>
          </p:txBody>
        </p:sp>
        <p:sp>
          <p:nvSpPr>
            <p:cNvPr id="92189" name="Oval 33"/>
            <p:cNvSpPr/>
            <p:nvPr/>
          </p:nvSpPr>
          <p:spPr>
            <a:xfrm>
              <a:off x="1778" y="2671"/>
              <a:ext cx="66" cy="66"/>
            </a:xfrm>
            <a:prstGeom prst="ellipse">
              <a:avLst/>
            </a:prstGeom>
            <a:solidFill>
              <a:schemeClr val="bg1"/>
            </a:solidFill>
            <a:ln w="28575"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2190" name="Text Box 34"/>
            <p:cNvSpPr txBox="1"/>
            <p:nvPr/>
          </p:nvSpPr>
          <p:spPr>
            <a:xfrm>
              <a:off x="619" y="1644"/>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lstStyle/>
            <a:p>
              <a:pPr algn="ctr"/>
              <a:r>
                <a:rPr lang="en-US" altLang="zh-CN" sz="2800" dirty="0">
                  <a:latin typeface="Times New Roman" panose="02020603050405020304" pitchFamily="18" charset="0"/>
                  <a:sym typeface="Symbol" panose="05050102010706020507" pitchFamily="18" charset="2"/>
                </a:rPr>
                <a:t>&amp;</a:t>
              </a:r>
            </a:p>
          </p:txBody>
        </p:sp>
        <p:sp>
          <p:nvSpPr>
            <p:cNvPr id="92191" name="Freeform 35"/>
            <p:cNvSpPr/>
            <p:nvPr/>
          </p:nvSpPr>
          <p:spPr>
            <a:xfrm>
              <a:off x="1041" y="1257"/>
              <a:ext cx="1344" cy="1152"/>
            </a:xfrm>
            <a:custGeom>
              <a:avLst/>
              <a:gdLst>
                <a:gd name="txL" fmla="*/ 0 w 1392"/>
                <a:gd name="txT" fmla="*/ 0 h 1164"/>
                <a:gd name="txR" fmla="*/ 1392 w 1392"/>
                <a:gd name="txB" fmla="*/ 1164 h 1164"/>
              </a:gdLst>
              <a:ahLst/>
              <a:cxnLst>
                <a:cxn ang="0">
                  <a:pos x="0" y="740"/>
                </a:cxn>
                <a:cxn ang="0">
                  <a:pos x="0" y="1140"/>
                </a:cxn>
                <a:cxn ang="0">
                  <a:pos x="347" y="1140"/>
                </a:cxn>
                <a:cxn ang="0">
                  <a:pos x="347" y="0"/>
                </a:cxn>
                <a:cxn ang="0">
                  <a:pos x="1298" y="0"/>
                </a:cxn>
                <a:cxn ang="0">
                  <a:pos x="1298" y="470"/>
                </a:cxn>
              </a:cxnLst>
              <a:rect l="txL" t="txT" r="txR" b="txB"/>
              <a:pathLst>
                <a:path w="1392" h="1164">
                  <a:moveTo>
                    <a:pt x="0" y="756"/>
                  </a:moveTo>
                  <a:lnTo>
                    <a:pt x="0" y="1164"/>
                  </a:lnTo>
                  <a:lnTo>
                    <a:pt x="372" y="1164"/>
                  </a:lnTo>
                  <a:lnTo>
                    <a:pt x="372" y="0"/>
                  </a:lnTo>
                  <a:lnTo>
                    <a:pt x="1392" y="0"/>
                  </a:lnTo>
                  <a:lnTo>
                    <a:pt x="1392" y="480"/>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92192" name="Freeform 36"/>
            <p:cNvSpPr/>
            <p:nvPr/>
          </p:nvSpPr>
          <p:spPr>
            <a:xfrm>
              <a:off x="705" y="1989"/>
              <a:ext cx="4068" cy="1752"/>
            </a:xfrm>
            <a:custGeom>
              <a:avLst/>
              <a:gdLst>
                <a:gd name="txL" fmla="*/ 0 w 4068"/>
                <a:gd name="txT" fmla="*/ 0 h 1752"/>
                <a:gd name="txR" fmla="*/ 4068 w 4068"/>
                <a:gd name="txB" fmla="*/ 1752 h 1752"/>
              </a:gdLst>
              <a:ahLst/>
              <a:cxnLst>
                <a:cxn ang="0">
                  <a:pos x="0" y="0"/>
                </a:cxn>
                <a:cxn ang="0">
                  <a:pos x="0" y="1752"/>
                </a:cxn>
                <a:cxn ang="0">
                  <a:pos x="4068" y="1752"/>
                </a:cxn>
              </a:cxnLst>
              <a:rect l="txL" t="txT" r="txR" b="txB"/>
              <a:pathLst>
                <a:path w="4068" h="1752">
                  <a:moveTo>
                    <a:pt x="0" y="0"/>
                  </a:moveTo>
                  <a:lnTo>
                    <a:pt x="0" y="1752"/>
                  </a:lnTo>
                  <a:lnTo>
                    <a:pt x="4068" y="1752"/>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92193" name="Line 37"/>
            <p:cNvSpPr/>
            <p:nvPr/>
          </p:nvSpPr>
          <p:spPr>
            <a:xfrm>
              <a:off x="2229" y="3081"/>
              <a:ext cx="0" cy="672"/>
            </a:xfrm>
            <a:prstGeom prst="line">
              <a:avLst/>
            </a:prstGeom>
            <a:ln w="19050" cap="flat" cmpd="sng">
              <a:solidFill>
                <a:srgbClr val="3333FF"/>
              </a:solidFill>
              <a:prstDash val="solid"/>
              <a:headEnd type="none" w="med" len="med"/>
              <a:tailEnd type="none" w="sm" len="lg"/>
            </a:ln>
          </p:spPr>
        </p:sp>
        <p:sp>
          <p:nvSpPr>
            <p:cNvPr id="92194" name="Freeform 38"/>
            <p:cNvSpPr/>
            <p:nvPr/>
          </p:nvSpPr>
          <p:spPr>
            <a:xfrm>
              <a:off x="2085" y="2361"/>
              <a:ext cx="2676" cy="228"/>
            </a:xfrm>
            <a:custGeom>
              <a:avLst/>
              <a:gdLst>
                <a:gd name="txL" fmla="*/ 0 w 2676"/>
                <a:gd name="txT" fmla="*/ 0 h 228"/>
                <a:gd name="txR" fmla="*/ 2676 w 2676"/>
                <a:gd name="txB" fmla="*/ 228 h 228"/>
              </a:gdLst>
              <a:ahLst/>
              <a:cxnLst>
                <a:cxn ang="0">
                  <a:pos x="0" y="0"/>
                </a:cxn>
                <a:cxn ang="0">
                  <a:pos x="0" y="228"/>
                </a:cxn>
                <a:cxn ang="0">
                  <a:pos x="2676" y="228"/>
                </a:cxn>
              </a:cxnLst>
              <a:rect l="txL" t="txT" r="txR" b="txB"/>
              <a:pathLst>
                <a:path w="2676" h="228">
                  <a:moveTo>
                    <a:pt x="0" y="0"/>
                  </a:moveTo>
                  <a:lnTo>
                    <a:pt x="0" y="228"/>
                  </a:lnTo>
                  <a:lnTo>
                    <a:pt x="2676" y="228"/>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92195" name="Text Box 39"/>
            <p:cNvSpPr txBox="1"/>
            <p:nvPr/>
          </p:nvSpPr>
          <p:spPr>
            <a:xfrm>
              <a:off x="4111" y="1971"/>
              <a:ext cx="279" cy="327"/>
            </a:xfrm>
            <a:prstGeom prst="rect">
              <a:avLst/>
            </a:prstGeom>
            <a:noFill/>
            <a:ln w="19050">
              <a:noFill/>
            </a:ln>
          </p:spPr>
          <p:txBody>
            <a:bodyPr wrap="none">
              <a:spAutoFit/>
            </a:bodyPr>
            <a:lstStyle/>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1</a:t>
              </a:r>
            </a:p>
          </p:txBody>
        </p:sp>
        <p:sp>
          <p:nvSpPr>
            <p:cNvPr id="92196" name="Text Box 40"/>
            <p:cNvSpPr txBox="1"/>
            <p:nvPr/>
          </p:nvSpPr>
          <p:spPr>
            <a:xfrm>
              <a:off x="2323" y="1971"/>
              <a:ext cx="279" cy="327"/>
            </a:xfrm>
            <a:prstGeom prst="rect">
              <a:avLst/>
            </a:prstGeom>
            <a:noFill/>
            <a:ln w="19050">
              <a:noFill/>
            </a:ln>
          </p:spPr>
          <p:txBody>
            <a:bodyPr wrap="none">
              <a:spAutoFit/>
            </a:bodyPr>
            <a:lstStyle/>
            <a:p>
              <a:r>
                <a:rPr lang="en-US" altLang="zh-CN" sz="2800" dirty="0">
                  <a:latin typeface="Times New Roman" panose="02020603050405020304" pitchFamily="18" charset="0"/>
                </a:rPr>
                <a:t>J</a:t>
              </a:r>
              <a:r>
                <a:rPr lang="en-US" altLang="zh-CN" sz="2800" baseline="-25000" dirty="0">
                  <a:latin typeface="Times New Roman" panose="02020603050405020304" pitchFamily="18" charset="0"/>
                </a:rPr>
                <a:t>2</a:t>
              </a:r>
            </a:p>
          </p:txBody>
        </p:sp>
        <p:sp>
          <p:nvSpPr>
            <p:cNvPr id="92197" name="Line 41"/>
            <p:cNvSpPr/>
            <p:nvPr/>
          </p:nvSpPr>
          <p:spPr>
            <a:xfrm>
              <a:off x="3897" y="2361"/>
              <a:ext cx="0" cy="240"/>
            </a:xfrm>
            <a:prstGeom prst="line">
              <a:avLst/>
            </a:prstGeom>
            <a:ln w="19050" cap="flat" cmpd="sng">
              <a:solidFill>
                <a:srgbClr val="3333FF"/>
              </a:solidFill>
              <a:prstDash val="solid"/>
              <a:headEnd type="none" w="med" len="med"/>
              <a:tailEnd type="none" w="sm" len="lg"/>
            </a:ln>
          </p:spPr>
        </p:sp>
        <p:sp>
          <p:nvSpPr>
            <p:cNvPr id="92198" name="Freeform 42"/>
            <p:cNvSpPr/>
            <p:nvPr/>
          </p:nvSpPr>
          <p:spPr>
            <a:xfrm>
              <a:off x="2529" y="1257"/>
              <a:ext cx="1668" cy="2112"/>
            </a:xfrm>
            <a:custGeom>
              <a:avLst/>
              <a:gdLst>
                <a:gd name="txL" fmla="*/ 0 w 1668"/>
                <a:gd name="txT" fmla="*/ 0 h 2112"/>
                <a:gd name="txR" fmla="*/ 1668 w 1668"/>
                <a:gd name="txB" fmla="*/ 2112 h 2112"/>
              </a:gdLst>
              <a:ahLst/>
              <a:cxnLst>
                <a:cxn ang="0">
                  <a:pos x="0" y="1824"/>
                </a:cxn>
                <a:cxn ang="0">
                  <a:pos x="0" y="2112"/>
                </a:cxn>
                <a:cxn ang="0">
                  <a:pos x="336" y="2112"/>
                </a:cxn>
                <a:cxn ang="0">
                  <a:pos x="336" y="0"/>
                </a:cxn>
                <a:cxn ang="0">
                  <a:pos x="1668" y="0"/>
                </a:cxn>
                <a:cxn ang="0">
                  <a:pos x="1668" y="492"/>
                </a:cxn>
              </a:cxnLst>
              <a:rect l="txL" t="txT" r="txR" b="txB"/>
              <a:pathLst>
                <a:path w="1668" h="2112">
                  <a:moveTo>
                    <a:pt x="0" y="1824"/>
                  </a:moveTo>
                  <a:lnTo>
                    <a:pt x="0" y="2112"/>
                  </a:lnTo>
                  <a:lnTo>
                    <a:pt x="336" y="2112"/>
                  </a:lnTo>
                  <a:lnTo>
                    <a:pt x="336" y="0"/>
                  </a:lnTo>
                  <a:lnTo>
                    <a:pt x="1668" y="0"/>
                  </a:lnTo>
                  <a:lnTo>
                    <a:pt x="1668" y="492"/>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92199" name="Line 43"/>
            <p:cNvSpPr/>
            <p:nvPr/>
          </p:nvSpPr>
          <p:spPr>
            <a:xfrm>
              <a:off x="849" y="1089"/>
              <a:ext cx="0" cy="552"/>
            </a:xfrm>
            <a:prstGeom prst="line">
              <a:avLst/>
            </a:prstGeom>
            <a:ln w="19050" cap="flat" cmpd="sng">
              <a:solidFill>
                <a:srgbClr val="3333FF"/>
              </a:solidFill>
              <a:prstDash val="solid"/>
              <a:headEnd type="none" w="med" len="med"/>
              <a:tailEnd type="none" w="sm" len="lg"/>
            </a:ln>
          </p:spPr>
        </p:sp>
        <p:sp>
          <p:nvSpPr>
            <p:cNvPr id="92200" name="Freeform 44"/>
            <p:cNvSpPr/>
            <p:nvPr/>
          </p:nvSpPr>
          <p:spPr>
            <a:xfrm rot="-5400000" flipH="1">
              <a:off x="1521" y="1701"/>
              <a:ext cx="1860" cy="1374"/>
            </a:xfrm>
            <a:custGeom>
              <a:avLst/>
              <a:gdLst>
                <a:gd name="txL" fmla="*/ 0 w 1188"/>
                <a:gd name="txT" fmla="*/ 0 h 132"/>
                <a:gd name="txR" fmla="*/ 1188 w 1188"/>
                <a:gd name="txB" fmla="*/ 132 h 132"/>
              </a:gdLst>
              <a:ahLst/>
              <a:cxnLst>
                <a:cxn ang="0">
                  <a:pos x="0" y="0"/>
                </a:cxn>
                <a:cxn ang="0">
                  <a:pos x="0" y="14302"/>
                </a:cxn>
                <a:cxn ang="0">
                  <a:pos x="2912" y="14302"/>
                </a:cxn>
              </a:cxnLst>
              <a:rect l="txL" t="txT" r="txR" b="txB"/>
              <a:pathLst>
                <a:path w="1188" h="132">
                  <a:moveTo>
                    <a:pt x="0" y="0"/>
                  </a:moveTo>
                  <a:lnTo>
                    <a:pt x="0" y="132"/>
                  </a:lnTo>
                  <a:lnTo>
                    <a:pt x="1188" y="132"/>
                  </a:lnTo>
                </a:path>
              </a:pathLst>
            </a:custGeom>
            <a:noFill/>
            <a:ln w="19050" cap="flat" cmpd="sng">
              <a:solidFill>
                <a:srgbClr val="3333FF">
                  <a:alpha val="100000"/>
                </a:srgbClr>
              </a:solidFill>
              <a:prstDash val="solid"/>
              <a:round/>
              <a:headEnd type="none" w="med" len="med"/>
              <a:tailEnd type="none" w="sm" len="lg"/>
            </a:ln>
          </p:spPr>
          <p:txBody>
            <a:bodyPr/>
            <a:lstStyle/>
            <a:p>
              <a:endParaRPr lang="zh-CN" altLang="en-US" sz="2800"/>
            </a:p>
          </p:txBody>
        </p:sp>
        <p:sp>
          <p:nvSpPr>
            <p:cNvPr id="92201" name="Line 45"/>
            <p:cNvSpPr/>
            <p:nvPr/>
          </p:nvSpPr>
          <p:spPr>
            <a:xfrm>
              <a:off x="4209" y="2313"/>
              <a:ext cx="0" cy="0"/>
            </a:xfrm>
            <a:prstGeom prst="line">
              <a:avLst/>
            </a:prstGeom>
            <a:ln w="19050" cap="flat" cmpd="sng">
              <a:solidFill>
                <a:srgbClr val="3333FF"/>
              </a:solidFill>
              <a:prstDash val="solid"/>
              <a:headEnd type="none" w="med" len="med"/>
              <a:tailEnd type="none" w="sm" len="lg"/>
            </a:ln>
          </p:spPr>
        </p:sp>
        <p:sp>
          <p:nvSpPr>
            <p:cNvPr id="92202" name="Line 46"/>
            <p:cNvSpPr/>
            <p:nvPr/>
          </p:nvSpPr>
          <p:spPr>
            <a:xfrm>
              <a:off x="2409" y="2301"/>
              <a:ext cx="0" cy="432"/>
            </a:xfrm>
            <a:prstGeom prst="line">
              <a:avLst/>
            </a:prstGeom>
            <a:ln w="19050" cap="flat" cmpd="sng">
              <a:solidFill>
                <a:srgbClr val="3333FF"/>
              </a:solidFill>
              <a:prstDash val="solid"/>
              <a:headEnd type="none" w="med" len="med"/>
              <a:tailEnd type="none" w="sm" len="lg"/>
            </a:ln>
          </p:spPr>
        </p:sp>
        <p:sp>
          <p:nvSpPr>
            <p:cNvPr id="92203" name="Oval 47"/>
            <p:cNvSpPr/>
            <p:nvPr/>
          </p:nvSpPr>
          <p:spPr>
            <a:xfrm>
              <a:off x="4363" y="3703"/>
              <a:ext cx="66" cy="66"/>
            </a:xfrm>
            <a:prstGeom prst="ellipse">
              <a:avLst/>
            </a:prstGeom>
            <a:solidFill>
              <a:srgbClr val="3333FF"/>
            </a:solidFill>
            <a:ln w="19050" cap="flat" cmpd="sng">
              <a:solidFill>
                <a:srgbClr val="3333FF"/>
              </a:solidFill>
              <a:prstDash val="solid"/>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2204" name="Line 48"/>
            <p:cNvSpPr/>
            <p:nvPr/>
          </p:nvSpPr>
          <p:spPr>
            <a:xfrm flipV="1">
              <a:off x="1773" y="1467"/>
              <a:ext cx="0" cy="192"/>
            </a:xfrm>
            <a:prstGeom prst="line">
              <a:avLst/>
            </a:prstGeom>
            <a:ln w="9525" cap="flat" cmpd="sng">
              <a:solidFill>
                <a:srgbClr val="3333FF"/>
              </a:solidFill>
              <a:prstDash val="solid"/>
              <a:headEnd type="none" w="med" len="med"/>
              <a:tailEnd type="none" w="sm" len="lg"/>
            </a:ln>
          </p:spPr>
        </p:sp>
        <p:sp>
          <p:nvSpPr>
            <p:cNvPr id="92205" name="Line 49"/>
            <p:cNvSpPr/>
            <p:nvPr/>
          </p:nvSpPr>
          <p:spPr>
            <a:xfrm flipV="1">
              <a:off x="3558" y="1464"/>
              <a:ext cx="0" cy="207"/>
            </a:xfrm>
            <a:prstGeom prst="line">
              <a:avLst/>
            </a:prstGeom>
            <a:ln w="38100" cap="flat" cmpd="sng">
              <a:solidFill>
                <a:srgbClr val="FF0000"/>
              </a:solidFill>
              <a:prstDash val="solid"/>
              <a:headEnd type="none" w="med" len="med"/>
              <a:tailEnd type="none" w="sm" len="lg"/>
            </a:ln>
          </p:spPr>
        </p:sp>
        <p:sp>
          <p:nvSpPr>
            <p:cNvPr id="92206" name="Text Box 50"/>
            <p:cNvSpPr txBox="1"/>
            <p:nvPr/>
          </p:nvSpPr>
          <p:spPr>
            <a:xfrm>
              <a:off x="3998" y="2746"/>
              <a:ext cx="537" cy="345"/>
            </a:xfrm>
            <a:prstGeom prst="rect">
              <a:avLst/>
            </a:prstGeom>
            <a:solidFill>
              <a:srgbClr val="E1FDFF"/>
            </a:solidFill>
            <a:ln w="28575" cap="flat" cmpd="sng">
              <a:solidFill>
                <a:schemeClr val="accent2"/>
              </a:solidFill>
              <a:prstDash val="solid"/>
              <a:miter/>
              <a:headEnd type="none" w="med" len="med"/>
              <a:tailEnd type="none" w="sm" len="lg"/>
            </a:ln>
          </p:spPr>
          <p:txBody>
            <a:bodyPr>
              <a:spAutoFit/>
            </a:bodyPr>
            <a:lstStyle/>
            <a:p>
              <a:pPr algn="ctr"/>
              <a:r>
                <a:rPr lang="en-US" altLang="zh-CN" sz="2800" dirty="0">
                  <a:latin typeface="Times New Roman" panose="02020603050405020304" pitchFamily="18" charset="0"/>
                  <a:sym typeface="Symbol" panose="05050102010706020507" pitchFamily="18" charset="2"/>
                </a:rPr>
                <a:t>&amp;</a:t>
              </a:r>
            </a:p>
          </p:txBody>
        </p:sp>
        <p:sp>
          <p:nvSpPr>
            <p:cNvPr id="92207" name="Line 51"/>
            <p:cNvSpPr/>
            <p:nvPr/>
          </p:nvSpPr>
          <p:spPr>
            <a:xfrm>
              <a:off x="4266" y="2295"/>
              <a:ext cx="0" cy="432"/>
            </a:xfrm>
            <a:prstGeom prst="line">
              <a:avLst/>
            </a:prstGeom>
            <a:ln w="19050" cap="flat" cmpd="sng">
              <a:solidFill>
                <a:srgbClr val="0000FF"/>
              </a:solidFill>
              <a:prstDash val="solid"/>
              <a:headEnd type="none" w="med" len="med"/>
              <a:tailEnd type="none" w="sm" len="lg"/>
            </a:ln>
          </p:spPr>
        </p:sp>
        <p:sp>
          <p:nvSpPr>
            <p:cNvPr id="92208" name="Line 52"/>
            <p:cNvSpPr/>
            <p:nvPr/>
          </p:nvSpPr>
          <p:spPr>
            <a:xfrm>
              <a:off x="4401" y="3078"/>
              <a:ext cx="0" cy="657"/>
            </a:xfrm>
            <a:prstGeom prst="line">
              <a:avLst/>
            </a:prstGeom>
            <a:ln w="19050" cap="flat" cmpd="sng">
              <a:solidFill>
                <a:srgbClr val="0000FF"/>
              </a:solidFill>
              <a:prstDash val="solid"/>
              <a:headEnd type="none" w="med" len="med"/>
              <a:tailEnd type="none" w="sm" len="lg"/>
            </a:ln>
          </p:spPr>
        </p:sp>
        <p:sp>
          <p:nvSpPr>
            <p:cNvPr id="92209" name="Line 53"/>
            <p:cNvSpPr/>
            <p:nvPr/>
          </p:nvSpPr>
          <p:spPr>
            <a:xfrm>
              <a:off x="3132" y="3312"/>
              <a:ext cx="990" cy="0"/>
            </a:xfrm>
            <a:prstGeom prst="line">
              <a:avLst/>
            </a:prstGeom>
            <a:ln w="19050" cap="flat" cmpd="sng">
              <a:solidFill>
                <a:srgbClr val="0000FF"/>
              </a:solidFill>
              <a:prstDash val="solid"/>
              <a:headEnd type="none" w="med" len="med"/>
              <a:tailEnd type="none" w="sm" len="lg"/>
            </a:ln>
          </p:spPr>
        </p:sp>
        <p:sp>
          <p:nvSpPr>
            <p:cNvPr id="92210" name="Line 54"/>
            <p:cNvSpPr/>
            <p:nvPr/>
          </p:nvSpPr>
          <p:spPr>
            <a:xfrm flipV="1">
              <a:off x="4131" y="3096"/>
              <a:ext cx="0" cy="216"/>
            </a:xfrm>
            <a:prstGeom prst="line">
              <a:avLst/>
            </a:prstGeom>
            <a:ln w="19050" cap="flat" cmpd="sng">
              <a:solidFill>
                <a:srgbClr val="0000FF"/>
              </a:solidFill>
              <a:prstDash val="solid"/>
              <a:headEnd type="none" w="med" len="med"/>
              <a:tailEnd type="none" w="sm" len="lg"/>
            </a:ln>
          </p:spPr>
        </p:sp>
        <p:sp>
          <p:nvSpPr>
            <p:cNvPr id="92211" name="Line 55"/>
            <p:cNvSpPr/>
            <p:nvPr/>
          </p:nvSpPr>
          <p:spPr>
            <a:xfrm>
              <a:off x="864" y="1989"/>
              <a:ext cx="0" cy="1440"/>
            </a:xfrm>
            <a:prstGeom prst="line">
              <a:avLst/>
            </a:prstGeom>
            <a:ln w="38100" cap="flat" cmpd="sng">
              <a:solidFill>
                <a:srgbClr val="FF0000"/>
              </a:solidFill>
              <a:prstDash val="solid"/>
              <a:headEnd type="none" w="med" len="med"/>
              <a:tailEnd type="none" w="sm" len="lg"/>
            </a:ln>
          </p:spPr>
        </p:sp>
        <p:sp>
          <p:nvSpPr>
            <p:cNvPr id="92212" name="Line 56"/>
            <p:cNvSpPr/>
            <p:nvPr/>
          </p:nvSpPr>
          <p:spPr>
            <a:xfrm>
              <a:off x="864" y="3429"/>
              <a:ext cx="2421" cy="0"/>
            </a:xfrm>
            <a:prstGeom prst="line">
              <a:avLst/>
            </a:prstGeom>
            <a:ln w="38100" cap="flat" cmpd="sng">
              <a:solidFill>
                <a:srgbClr val="FF0000"/>
              </a:solidFill>
              <a:prstDash val="solid"/>
              <a:headEnd type="none" w="med" len="med"/>
              <a:tailEnd type="none" w="sm" len="lg"/>
            </a:ln>
          </p:spPr>
        </p:sp>
        <p:sp>
          <p:nvSpPr>
            <p:cNvPr id="92213" name="Line 57"/>
            <p:cNvSpPr/>
            <p:nvPr/>
          </p:nvSpPr>
          <p:spPr>
            <a:xfrm>
              <a:off x="3285" y="1449"/>
              <a:ext cx="0" cy="1980"/>
            </a:xfrm>
            <a:prstGeom prst="line">
              <a:avLst/>
            </a:prstGeom>
            <a:ln w="38100" cap="flat" cmpd="sng">
              <a:solidFill>
                <a:srgbClr val="FF0000"/>
              </a:solidFill>
              <a:prstDash val="solid"/>
              <a:headEnd type="none" w="med" len="med"/>
              <a:tailEnd type="none" w="sm" len="lg"/>
            </a:ln>
          </p:spPr>
        </p:sp>
        <p:sp>
          <p:nvSpPr>
            <p:cNvPr id="92214" name="Line 58"/>
            <p:cNvSpPr/>
            <p:nvPr/>
          </p:nvSpPr>
          <p:spPr>
            <a:xfrm>
              <a:off x="3285" y="1458"/>
              <a:ext cx="288" cy="0"/>
            </a:xfrm>
            <a:prstGeom prst="line">
              <a:avLst/>
            </a:prstGeom>
            <a:ln w="38100" cap="flat" cmpd="sng">
              <a:solidFill>
                <a:srgbClr val="FF0000"/>
              </a:solidFill>
              <a:prstDash val="solid"/>
              <a:headEnd type="none" w="med" len="med"/>
              <a:tailEnd type="none" w="sm" len="lg"/>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6962"/>
                                        </p:tgtEl>
                                        <p:attrNameLst>
                                          <p:attrName>style.visibility</p:attrName>
                                        </p:attrNameLst>
                                      </p:cBhvr>
                                      <p:to>
                                        <p:strVal val="visible"/>
                                      </p:to>
                                    </p:set>
                                    <p:animEffect transition="in" filter="wipe(left)">
                                      <p:cBhvr>
                                        <p:cTn id="7" dur="500"/>
                                        <p:tgtEl>
                                          <p:spTgt spid="296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2"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Text Box 2" descr="羊皮纸"/>
          <p:cNvSpPr txBox="1"/>
          <p:nvPr/>
        </p:nvSpPr>
        <p:spPr>
          <a:xfrm>
            <a:off x="257175" y="444500"/>
            <a:ext cx="8537575" cy="1800225"/>
          </a:xfrm>
          <a:prstGeom prst="rect">
            <a:avLst/>
          </a:prstGeom>
          <a:noFill/>
          <a:ln w="38100">
            <a:noFill/>
          </a:ln>
        </p:spPr>
        <p:txBody>
          <a:bodyPr wrap="none" lIns="90000" tIns="46800" rIns="90000" bIns="46800">
            <a:spAutoFit/>
          </a:bodyPr>
          <a:lstStyle/>
          <a:p>
            <a:r>
              <a:rPr lang="zh-CN" altLang="en-US" sz="2800" b="1" dirty="0">
                <a:latin typeface="Times New Roman" panose="02020603050405020304" pitchFamily="18" charset="0"/>
              </a:rPr>
              <a:t>例：</a:t>
            </a:r>
            <a:r>
              <a:rPr lang="zh-CN" altLang="en-US" sz="2800" dirty="0">
                <a:latin typeface="Times New Roman" panose="02020603050405020304" pitchFamily="18" charset="0"/>
              </a:rPr>
              <a:t>设计一个三位串行奇偶校验电路。当电路串行接</a:t>
            </a:r>
          </a:p>
          <a:p>
            <a:r>
              <a:rPr lang="zh-CN" altLang="en-US" sz="2800" dirty="0">
                <a:latin typeface="Times New Roman" panose="02020603050405020304" pitchFamily="18" charset="0"/>
              </a:rPr>
              <a:t>收了三位二进制数后，如果</a:t>
            </a:r>
            <a:r>
              <a:rPr lang="en-US" altLang="zh-CN" sz="2800" dirty="0">
                <a:latin typeface="Times New Roman" panose="02020603050405020304" pitchFamily="18" charset="0"/>
              </a:rPr>
              <a:t>1</a:t>
            </a:r>
            <a:r>
              <a:rPr lang="zh-CN" altLang="en-US" sz="2800" dirty="0">
                <a:latin typeface="Times New Roman" panose="02020603050405020304" pitchFamily="18" charset="0"/>
              </a:rPr>
              <a:t>的个数为偶数，则电路输</a:t>
            </a:r>
          </a:p>
          <a:p>
            <a:r>
              <a:rPr lang="zh-CN" altLang="en-US" sz="2800" dirty="0">
                <a:latin typeface="Times New Roman" panose="02020603050405020304" pitchFamily="18" charset="0"/>
              </a:rPr>
              <a:t>出为</a:t>
            </a:r>
            <a:r>
              <a:rPr lang="en-US" altLang="zh-CN" sz="2800" dirty="0">
                <a:latin typeface="Times New Roman" panose="02020603050405020304" pitchFamily="18" charset="0"/>
              </a:rPr>
              <a:t>1</a:t>
            </a:r>
            <a:r>
              <a:rPr lang="zh-CN" altLang="en-US" sz="2800" dirty="0">
                <a:latin typeface="Times New Roman" panose="02020603050405020304" pitchFamily="18" charset="0"/>
              </a:rPr>
              <a:t>；否则为</a:t>
            </a:r>
            <a:r>
              <a:rPr lang="en-US" altLang="zh-CN" sz="2800" dirty="0">
                <a:latin typeface="Times New Roman" panose="02020603050405020304" pitchFamily="18" charset="0"/>
              </a:rPr>
              <a:t>0</a:t>
            </a:r>
            <a:r>
              <a:rPr lang="zh-CN" altLang="en-US" sz="2800" dirty="0">
                <a:latin typeface="Times New Roman" panose="02020603050405020304" pitchFamily="18" charset="0"/>
              </a:rPr>
              <a:t>。当接收了三位二进制数后，电路返</a:t>
            </a:r>
          </a:p>
          <a:p>
            <a:r>
              <a:rPr lang="zh-CN" altLang="en-US" sz="2800" dirty="0">
                <a:latin typeface="Times New Roman" panose="02020603050405020304" pitchFamily="18" charset="0"/>
              </a:rPr>
              <a:t>回初始状态。</a:t>
            </a:r>
          </a:p>
        </p:txBody>
      </p:sp>
      <p:sp>
        <p:nvSpPr>
          <p:cNvPr id="297987" name="Text Box 3"/>
          <p:cNvSpPr txBox="1"/>
          <p:nvPr/>
        </p:nvSpPr>
        <p:spPr>
          <a:xfrm>
            <a:off x="241300" y="2112963"/>
            <a:ext cx="898525" cy="519112"/>
          </a:xfrm>
          <a:prstGeom prst="rect">
            <a:avLst/>
          </a:prstGeom>
          <a:noFill/>
          <a:ln w="19050">
            <a:noFill/>
          </a:ln>
        </p:spPr>
        <p:txBody>
          <a:bodyPr wrap="none">
            <a:spAutoFit/>
          </a:bodyPr>
          <a:lstStyle/>
          <a:p>
            <a:r>
              <a:rPr lang="zh-CN" altLang="en-US" sz="2800" b="1" dirty="0">
                <a:latin typeface="Times New Roman" panose="02020603050405020304" pitchFamily="18" charset="0"/>
              </a:rPr>
              <a:t>解：</a:t>
            </a:r>
          </a:p>
        </p:txBody>
      </p:sp>
      <p:sp>
        <p:nvSpPr>
          <p:cNvPr id="297988" name="Text Box 4"/>
          <p:cNvSpPr txBox="1"/>
          <p:nvPr/>
        </p:nvSpPr>
        <p:spPr>
          <a:xfrm>
            <a:off x="857250" y="2135188"/>
            <a:ext cx="3241675" cy="519112"/>
          </a:xfrm>
          <a:prstGeom prst="rect">
            <a:avLst/>
          </a:prstGeom>
          <a:noFill/>
          <a:ln w="19050">
            <a:noFill/>
          </a:ln>
        </p:spPr>
        <p:txBody>
          <a:bodyPr wrap="none">
            <a:spAutoFit/>
          </a:bodyPr>
          <a:lstStyle/>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作状态图和状态表</a:t>
            </a:r>
          </a:p>
        </p:txBody>
      </p:sp>
      <p:grpSp>
        <p:nvGrpSpPr>
          <p:cNvPr id="2" name="Group 5"/>
          <p:cNvGrpSpPr/>
          <p:nvPr/>
        </p:nvGrpSpPr>
        <p:grpSpPr>
          <a:xfrm>
            <a:off x="301625" y="2587625"/>
            <a:ext cx="4019550" cy="4270375"/>
            <a:chOff x="2710" y="1474"/>
            <a:chExt cx="2532" cy="2690"/>
          </a:xfrm>
        </p:grpSpPr>
        <p:sp>
          <p:nvSpPr>
            <p:cNvPr id="93204" name="Oval 6"/>
            <p:cNvSpPr/>
            <p:nvPr/>
          </p:nvSpPr>
          <p:spPr>
            <a:xfrm>
              <a:off x="3982" y="325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dirty="0">
                  <a:latin typeface="Times New Roman" panose="02020603050405020304" pitchFamily="18" charset="0"/>
                </a:rPr>
                <a:t>F</a:t>
              </a:r>
            </a:p>
          </p:txBody>
        </p:sp>
        <p:sp>
          <p:nvSpPr>
            <p:cNvPr id="93205" name="Oval 7"/>
            <p:cNvSpPr/>
            <p:nvPr/>
          </p:nvSpPr>
          <p:spPr>
            <a:xfrm>
              <a:off x="3064" y="229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dirty="0">
                  <a:latin typeface="Times New Roman" panose="02020603050405020304" pitchFamily="18" charset="0"/>
                </a:rPr>
                <a:t>B</a:t>
              </a:r>
            </a:p>
          </p:txBody>
        </p:sp>
        <p:sp>
          <p:nvSpPr>
            <p:cNvPr id="93206" name="Oval 8"/>
            <p:cNvSpPr/>
            <p:nvPr/>
          </p:nvSpPr>
          <p:spPr>
            <a:xfrm>
              <a:off x="3711" y="1474"/>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dirty="0">
                  <a:latin typeface="Times New Roman" panose="02020603050405020304" pitchFamily="18" charset="0"/>
                </a:rPr>
                <a:t>A</a:t>
              </a:r>
            </a:p>
          </p:txBody>
        </p:sp>
        <p:sp>
          <p:nvSpPr>
            <p:cNvPr id="93207" name="Line 9"/>
            <p:cNvSpPr/>
            <p:nvPr/>
          </p:nvSpPr>
          <p:spPr>
            <a:xfrm>
              <a:off x="4072" y="1834"/>
              <a:ext cx="360" cy="456"/>
            </a:xfrm>
            <a:prstGeom prst="line">
              <a:avLst/>
            </a:prstGeom>
            <a:ln w="19050" cap="flat" cmpd="sng">
              <a:solidFill>
                <a:srgbClr val="3333FF"/>
              </a:solidFill>
              <a:prstDash val="solid"/>
              <a:headEnd type="none" w="med" len="med"/>
              <a:tailEnd type="triangle" w="sm" len="lg"/>
            </a:ln>
          </p:spPr>
        </p:sp>
        <p:sp>
          <p:nvSpPr>
            <p:cNvPr id="93208" name="Line 10"/>
            <p:cNvSpPr/>
            <p:nvPr/>
          </p:nvSpPr>
          <p:spPr>
            <a:xfrm flipH="1">
              <a:off x="3352" y="1834"/>
              <a:ext cx="372" cy="456"/>
            </a:xfrm>
            <a:prstGeom prst="line">
              <a:avLst/>
            </a:prstGeom>
            <a:ln w="19050" cap="flat" cmpd="sng">
              <a:solidFill>
                <a:srgbClr val="3333FF"/>
              </a:solidFill>
              <a:prstDash val="solid"/>
              <a:headEnd type="none" w="med" len="med"/>
              <a:tailEnd type="triangle" w="sm" len="lg"/>
            </a:ln>
          </p:spPr>
        </p:sp>
        <p:sp>
          <p:nvSpPr>
            <p:cNvPr id="93209" name="Oval 11"/>
            <p:cNvSpPr/>
            <p:nvPr/>
          </p:nvSpPr>
          <p:spPr>
            <a:xfrm>
              <a:off x="4322" y="229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dirty="0">
                  <a:latin typeface="Times New Roman" panose="02020603050405020304" pitchFamily="18" charset="0"/>
                </a:rPr>
                <a:t>C</a:t>
              </a:r>
            </a:p>
          </p:txBody>
        </p:sp>
        <p:sp>
          <p:nvSpPr>
            <p:cNvPr id="93210" name="Line 12"/>
            <p:cNvSpPr/>
            <p:nvPr/>
          </p:nvSpPr>
          <p:spPr>
            <a:xfrm flipH="1">
              <a:off x="4252" y="2674"/>
              <a:ext cx="132" cy="600"/>
            </a:xfrm>
            <a:prstGeom prst="line">
              <a:avLst/>
            </a:prstGeom>
            <a:ln w="19050" cap="flat" cmpd="sng">
              <a:solidFill>
                <a:srgbClr val="3333FF"/>
              </a:solidFill>
              <a:prstDash val="solid"/>
              <a:headEnd type="none" w="med" len="med"/>
              <a:tailEnd type="triangle" w="sm" len="lg"/>
            </a:ln>
          </p:spPr>
        </p:sp>
        <p:sp>
          <p:nvSpPr>
            <p:cNvPr id="93211" name="Line 13"/>
            <p:cNvSpPr/>
            <p:nvPr/>
          </p:nvSpPr>
          <p:spPr>
            <a:xfrm>
              <a:off x="4672" y="2662"/>
              <a:ext cx="156" cy="612"/>
            </a:xfrm>
            <a:prstGeom prst="line">
              <a:avLst/>
            </a:prstGeom>
            <a:ln w="19050" cap="flat" cmpd="sng">
              <a:solidFill>
                <a:srgbClr val="3333FF"/>
              </a:solidFill>
              <a:prstDash val="solid"/>
              <a:headEnd type="none" w="med" len="med"/>
              <a:tailEnd type="triangle" w="sm" len="lg"/>
            </a:ln>
          </p:spPr>
        </p:sp>
        <p:sp>
          <p:nvSpPr>
            <p:cNvPr id="93212" name="Oval 14"/>
            <p:cNvSpPr/>
            <p:nvPr/>
          </p:nvSpPr>
          <p:spPr>
            <a:xfrm>
              <a:off x="4658" y="325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dirty="0">
                  <a:latin typeface="Times New Roman" panose="02020603050405020304" pitchFamily="18" charset="0"/>
                </a:rPr>
                <a:t>G</a:t>
              </a:r>
            </a:p>
          </p:txBody>
        </p:sp>
        <p:sp>
          <p:nvSpPr>
            <p:cNvPr id="93213" name="Text Box 15"/>
            <p:cNvSpPr txBox="1"/>
            <p:nvPr/>
          </p:nvSpPr>
          <p:spPr>
            <a:xfrm>
              <a:off x="3214" y="1845"/>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0/0</a:t>
              </a:r>
            </a:p>
          </p:txBody>
        </p:sp>
        <p:sp>
          <p:nvSpPr>
            <p:cNvPr id="93214" name="Text Box 16"/>
            <p:cNvSpPr txBox="1"/>
            <p:nvPr/>
          </p:nvSpPr>
          <p:spPr>
            <a:xfrm>
              <a:off x="3982" y="2698"/>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0/0</a:t>
              </a:r>
            </a:p>
          </p:txBody>
        </p:sp>
        <p:sp>
          <p:nvSpPr>
            <p:cNvPr id="93215" name="Text Box 17"/>
            <p:cNvSpPr txBox="1"/>
            <p:nvPr/>
          </p:nvSpPr>
          <p:spPr>
            <a:xfrm>
              <a:off x="4188" y="1845"/>
              <a:ext cx="402" cy="327"/>
            </a:xfrm>
            <a:prstGeom prst="rect">
              <a:avLst/>
            </a:prstGeom>
            <a:noFill/>
            <a:ln w="38100">
              <a:noFill/>
            </a:ln>
          </p:spPr>
          <p:txBody>
            <a:bodyPr>
              <a:spAutoFit/>
            </a:bodyPr>
            <a:lstStyle/>
            <a:p>
              <a:r>
                <a:rPr lang="en-US" altLang="zh-CN" sz="2800" dirty="0">
                  <a:latin typeface="Times New Roman" panose="02020603050405020304" pitchFamily="18" charset="0"/>
                </a:rPr>
                <a:t>1/0</a:t>
              </a:r>
            </a:p>
          </p:txBody>
        </p:sp>
        <p:sp>
          <p:nvSpPr>
            <p:cNvPr id="93216" name="Text Box 18"/>
            <p:cNvSpPr txBox="1"/>
            <p:nvPr/>
          </p:nvSpPr>
          <p:spPr>
            <a:xfrm>
              <a:off x="4668" y="2698"/>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1/0</a:t>
              </a:r>
            </a:p>
          </p:txBody>
        </p:sp>
        <p:sp>
          <p:nvSpPr>
            <p:cNvPr id="93217" name="Oval 19"/>
            <p:cNvSpPr/>
            <p:nvPr/>
          </p:nvSpPr>
          <p:spPr>
            <a:xfrm>
              <a:off x="2710" y="325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dirty="0">
                  <a:latin typeface="Times New Roman" panose="02020603050405020304" pitchFamily="18" charset="0"/>
                </a:rPr>
                <a:t>D</a:t>
              </a:r>
            </a:p>
          </p:txBody>
        </p:sp>
        <p:sp>
          <p:nvSpPr>
            <p:cNvPr id="93218" name="Line 20"/>
            <p:cNvSpPr/>
            <p:nvPr/>
          </p:nvSpPr>
          <p:spPr>
            <a:xfrm flipH="1">
              <a:off x="2980" y="2686"/>
              <a:ext cx="132" cy="600"/>
            </a:xfrm>
            <a:prstGeom prst="line">
              <a:avLst/>
            </a:prstGeom>
            <a:ln w="19050" cap="flat" cmpd="sng">
              <a:solidFill>
                <a:srgbClr val="3333FF"/>
              </a:solidFill>
              <a:prstDash val="solid"/>
              <a:headEnd type="none" w="med" len="med"/>
              <a:tailEnd type="triangle" w="sm" len="lg"/>
            </a:ln>
          </p:spPr>
        </p:sp>
        <p:sp>
          <p:nvSpPr>
            <p:cNvPr id="93219" name="Line 21"/>
            <p:cNvSpPr/>
            <p:nvPr/>
          </p:nvSpPr>
          <p:spPr>
            <a:xfrm>
              <a:off x="3400" y="2674"/>
              <a:ext cx="156" cy="612"/>
            </a:xfrm>
            <a:prstGeom prst="line">
              <a:avLst/>
            </a:prstGeom>
            <a:ln w="19050" cap="flat" cmpd="sng">
              <a:solidFill>
                <a:srgbClr val="3333FF"/>
              </a:solidFill>
              <a:prstDash val="solid"/>
              <a:headEnd type="none" w="med" len="med"/>
              <a:tailEnd type="triangle" w="sm" len="lg"/>
            </a:ln>
          </p:spPr>
        </p:sp>
        <p:sp>
          <p:nvSpPr>
            <p:cNvPr id="93220" name="Oval 22"/>
            <p:cNvSpPr/>
            <p:nvPr/>
          </p:nvSpPr>
          <p:spPr>
            <a:xfrm>
              <a:off x="3398" y="3250"/>
              <a:ext cx="394" cy="394"/>
            </a:xfrm>
            <a:prstGeom prst="ellipse">
              <a:avLst/>
            </a:prstGeom>
            <a:solidFill>
              <a:srgbClr val="E2FEED"/>
            </a:solidFill>
            <a:ln w="38100" cap="flat" cmpd="sng">
              <a:solidFill>
                <a:srgbClr val="FF00FF"/>
              </a:solidFill>
              <a:prstDash val="solid"/>
              <a:headEnd type="none" w="med" len="med"/>
              <a:tailEnd type="none" w="med" len="med"/>
            </a:ln>
          </p:spPr>
          <p:txBody>
            <a:bodyPr wrap="none" anchor="ctr" anchorCtr="0"/>
            <a:lstStyle/>
            <a:p>
              <a:pPr algn="ctr"/>
              <a:r>
                <a:rPr lang="en-US" altLang="zh-CN" sz="2800" dirty="0">
                  <a:latin typeface="Times New Roman" panose="02020603050405020304" pitchFamily="18" charset="0"/>
                </a:rPr>
                <a:t>E</a:t>
              </a:r>
            </a:p>
          </p:txBody>
        </p:sp>
        <p:sp>
          <p:nvSpPr>
            <p:cNvPr id="93221" name="Text Box 23"/>
            <p:cNvSpPr txBox="1"/>
            <p:nvPr/>
          </p:nvSpPr>
          <p:spPr>
            <a:xfrm>
              <a:off x="2710" y="2698"/>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0/0</a:t>
              </a:r>
            </a:p>
          </p:txBody>
        </p:sp>
        <p:sp>
          <p:nvSpPr>
            <p:cNvPr id="93222" name="Text Box 24"/>
            <p:cNvSpPr txBox="1"/>
            <p:nvPr/>
          </p:nvSpPr>
          <p:spPr>
            <a:xfrm>
              <a:off x="3396" y="2698"/>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1/0</a:t>
              </a:r>
            </a:p>
          </p:txBody>
        </p:sp>
        <p:sp>
          <p:nvSpPr>
            <p:cNvPr id="93223" name="Line 25"/>
            <p:cNvSpPr/>
            <p:nvPr/>
          </p:nvSpPr>
          <p:spPr>
            <a:xfrm>
              <a:off x="2880" y="3670"/>
              <a:ext cx="0" cy="492"/>
            </a:xfrm>
            <a:prstGeom prst="line">
              <a:avLst/>
            </a:prstGeom>
            <a:ln w="19050" cap="flat" cmpd="sng">
              <a:solidFill>
                <a:srgbClr val="3333FF"/>
              </a:solidFill>
              <a:prstDash val="solid"/>
              <a:headEnd type="none" w="med" len="med"/>
              <a:tailEnd type="triangle" w="sm" len="lg"/>
            </a:ln>
          </p:spPr>
        </p:sp>
        <p:sp>
          <p:nvSpPr>
            <p:cNvPr id="93224" name="Line 26"/>
            <p:cNvSpPr/>
            <p:nvPr/>
          </p:nvSpPr>
          <p:spPr>
            <a:xfrm>
              <a:off x="3588" y="3670"/>
              <a:ext cx="0" cy="492"/>
            </a:xfrm>
            <a:prstGeom prst="line">
              <a:avLst/>
            </a:prstGeom>
            <a:ln w="19050" cap="flat" cmpd="sng">
              <a:solidFill>
                <a:srgbClr val="3333FF"/>
              </a:solidFill>
              <a:prstDash val="solid"/>
              <a:headEnd type="none" w="med" len="med"/>
              <a:tailEnd type="triangle" w="sm" len="lg"/>
            </a:ln>
          </p:spPr>
        </p:sp>
        <p:sp>
          <p:nvSpPr>
            <p:cNvPr id="93225" name="Line 27"/>
            <p:cNvSpPr/>
            <p:nvPr/>
          </p:nvSpPr>
          <p:spPr>
            <a:xfrm>
              <a:off x="4152" y="3670"/>
              <a:ext cx="0" cy="492"/>
            </a:xfrm>
            <a:prstGeom prst="line">
              <a:avLst/>
            </a:prstGeom>
            <a:ln w="19050" cap="flat" cmpd="sng">
              <a:solidFill>
                <a:srgbClr val="3333FF"/>
              </a:solidFill>
              <a:prstDash val="solid"/>
              <a:headEnd type="none" w="med" len="med"/>
              <a:tailEnd type="triangle" w="sm" len="lg"/>
            </a:ln>
          </p:spPr>
        </p:sp>
        <p:sp>
          <p:nvSpPr>
            <p:cNvPr id="93226" name="Line 28"/>
            <p:cNvSpPr/>
            <p:nvPr/>
          </p:nvSpPr>
          <p:spPr>
            <a:xfrm>
              <a:off x="4836" y="3670"/>
              <a:ext cx="0" cy="492"/>
            </a:xfrm>
            <a:prstGeom prst="line">
              <a:avLst/>
            </a:prstGeom>
            <a:ln w="19050" cap="flat" cmpd="sng">
              <a:solidFill>
                <a:srgbClr val="3333FF"/>
              </a:solidFill>
              <a:prstDash val="solid"/>
              <a:headEnd type="none" w="med" len="med"/>
              <a:tailEnd type="triangle" w="sm" len="lg"/>
            </a:ln>
          </p:spPr>
        </p:sp>
        <p:sp>
          <p:nvSpPr>
            <p:cNvPr id="93227" name="Line 29"/>
            <p:cNvSpPr/>
            <p:nvPr/>
          </p:nvSpPr>
          <p:spPr>
            <a:xfrm flipV="1">
              <a:off x="5172" y="1630"/>
              <a:ext cx="0" cy="2496"/>
            </a:xfrm>
            <a:prstGeom prst="line">
              <a:avLst/>
            </a:prstGeom>
            <a:ln w="19050" cap="flat" cmpd="sng">
              <a:solidFill>
                <a:srgbClr val="3333FF"/>
              </a:solidFill>
              <a:prstDash val="solid"/>
              <a:headEnd type="none" w="med" len="med"/>
              <a:tailEnd type="triangle" w="sm" len="lg"/>
            </a:ln>
          </p:spPr>
        </p:sp>
        <p:sp>
          <p:nvSpPr>
            <p:cNvPr id="93228" name="Line 30"/>
            <p:cNvSpPr/>
            <p:nvPr/>
          </p:nvSpPr>
          <p:spPr>
            <a:xfrm>
              <a:off x="2796" y="4150"/>
              <a:ext cx="2376" cy="0"/>
            </a:xfrm>
            <a:prstGeom prst="line">
              <a:avLst/>
            </a:prstGeom>
            <a:ln w="19050" cap="flat" cmpd="sng">
              <a:solidFill>
                <a:srgbClr val="3333FF"/>
              </a:solidFill>
              <a:prstDash val="solid"/>
              <a:headEnd type="none" w="med" len="med"/>
              <a:tailEnd type="triangle" w="sm" len="lg"/>
            </a:ln>
          </p:spPr>
        </p:sp>
        <p:sp>
          <p:nvSpPr>
            <p:cNvPr id="93229" name="Text Box 31"/>
            <p:cNvSpPr txBox="1"/>
            <p:nvPr/>
          </p:nvSpPr>
          <p:spPr>
            <a:xfrm>
              <a:off x="2866" y="3634"/>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0/1</a:t>
              </a:r>
            </a:p>
          </p:txBody>
        </p:sp>
        <p:sp>
          <p:nvSpPr>
            <p:cNvPr id="93230" name="Text Box 32"/>
            <p:cNvSpPr txBox="1"/>
            <p:nvPr/>
          </p:nvSpPr>
          <p:spPr>
            <a:xfrm>
              <a:off x="2856" y="3826"/>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1/0</a:t>
              </a:r>
            </a:p>
          </p:txBody>
        </p:sp>
        <p:sp>
          <p:nvSpPr>
            <p:cNvPr id="93231" name="Text Box 33"/>
            <p:cNvSpPr txBox="1"/>
            <p:nvPr/>
          </p:nvSpPr>
          <p:spPr>
            <a:xfrm>
              <a:off x="3586" y="3634"/>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0/0</a:t>
              </a:r>
            </a:p>
          </p:txBody>
        </p:sp>
        <p:sp>
          <p:nvSpPr>
            <p:cNvPr id="93232" name="Text Box 34"/>
            <p:cNvSpPr txBox="1"/>
            <p:nvPr/>
          </p:nvSpPr>
          <p:spPr>
            <a:xfrm>
              <a:off x="3576" y="3826"/>
              <a:ext cx="402" cy="327"/>
            </a:xfrm>
            <a:prstGeom prst="rect">
              <a:avLst/>
            </a:prstGeom>
            <a:noFill/>
            <a:ln w="38100">
              <a:noFill/>
            </a:ln>
          </p:spPr>
          <p:txBody>
            <a:bodyPr wrap="none">
              <a:spAutoFit/>
            </a:bodyPr>
            <a:lstStyle/>
            <a:p>
              <a:r>
                <a:rPr lang="en-US" altLang="zh-CN" sz="2800" dirty="0">
                  <a:latin typeface="Times New Roman" panose="02020603050405020304" pitchFamily="18" charset="0"/>
                </a:rPr>
                <a:t>1/1</a:t>
              </a:r>
            </a:p>
          </p:txBody>
        </p:sp>
        <p:sp>
          <p:nvSpPr>
            <p:cNvPr id="93233" name="Text Box 35"/>
            <p:cNvSpPr txBox="1"/>
            <p:nvPr/>
          </p:nvSpPr>
          <p:spPr>
            <a:xfrm>
              <a:off x="4198" y="3657"/>
              <a:ext cx="402" cy="327"/>
            </a:xfrm>
            <a:prstGeom prst="rect">
              <a:avLst/>
            </a:prstGeom>
            <a:noFill/>
            <a:ln w="38100">
              <a:noFill/>
            </a:ln>
          </p:spPr>
          <p:txBody>
            <a:bodyPr>
              <a:spAutoFit/>
            </a:bodyPr>
            <a:lstStyle/>
            <a:p>
              <a:r>
                <a:rPr lang="en-US" altLang="zh-CN" sz="2800" dirty="0">
                  <a:latin typeface="Times New Roman" panose="02020603050405020304" pitchFamily="18" charset="0"/>
                </a:rPr>
                <a:t>0/0</a:t>
              </a:r>
            </a:p>
          </p:txBody>
        </p:sp>
        <p:sp>
          <p:nvSpPr>
            <p:cNvPr id="93234" name="Text Box 36"/>
            <p:cNvSpPr txBox="1"/>
            <p:nvPr/>
          </p:nvSpPr>
          <p:spPr>
            <a:xfrm>
              <a:off x="4188" y="3837"/>
              <a:ext cx="402" cy="327"/>
            </a:xfrm>
            <a:prstGeom prst="rect">
              <a:avLst/>
            </a:prstGeom>
            <a:noFill/>
            <a:ln w="38100">
              <a:noFill/>
            </a:ln>
          </p:spPr>
          <p:txBody>
            <a:bodyPr>
              <a:spAutoFit/>
            </a:bodyPr>
            <a:lstStyle/>
            <a:p>
              <a:r>
                <a:rPr lang="en-US" altLang="zh-CN" sz="2800" dirty="0">
                  <a:latin typeface="Times New Roman" panose="02020603050405020304" pitchFamily="18" charset="0"/>
                </a:rPr>
                <a:t>1/1</a:t>
              </a:r>
            </a:p>
          </p:txBody>
        </p:sp>
        <p:sp>
          <p:nvSpPr>
            <p:cNvPr id="93235" name="Text Box 37"/>
            <p:cNvSpPr txBox="1"/>
            <p:nvPr/>
          </p:nvSpPr>
          <p:spPr>
            <a:xfrm>
              <a:off x="4840" y="3657"/>
              <a:ext cx="402" cy="327"/>
            </a:xfrm>
            <a:prstGeom prst="rect">
              <a:avLst/>
            </a:prstGeom>
            <a:noFill/>
            <a:ln w="38100">
              <a:noFill/>
            </a:ln>
          </p:spPr>
          <p:txBody>
            <a:bodyPr>
              <a:spAutoFit/>
            </a:bodyPr>
            <a:lstStyle/>
            <a:p>
              <a:r>
                <a:rPr lang="en-US" altLang="zh-CN" sz="2800" dirty="0">
                  <a:latin typeface="Times New Roman" panose="02020603050405020304" pitchFamily="18" charset="0"/>
                </a:rPr>
                <a:t>0/1</a:t>
              </a:r>
            </a:p>
          </p:txBody>
        </p:sp>
        <p:sp>
          <p:nvSpPr>
            <p:cNvPr id="93236" name="Text Box 38"/>
            <p:cNvSpPr txBox="1"/>
            <p:nvPr/>
          </p:nvSpPr>
          <p:spPr>
            <a:xfrm>
              <a:off x="4830" y="3837"/>
              <a:ext cx="402" cy="327"/>
            </a:xfrm>
            <a:prstGeom prst="rect">
              <a:avLst/>
            </a:prstGeom>
            <a:noFill/>
            <a:ln w="38100">
              <a:noFill/>
            </a:ln>
          </p:spPr>
          <p:txBody>
            <a:bodyPr>
              <a:spAutoFit/>
            </a:bodyPr>
            <a:lstStyle/>
            <a:p>
              <a:r>
                <a:rPr lang="en-US" altLang="zh-CN" sz="2800" dirty="0">
                  <a:latin typeface="Times New Roman" panose="02020603050405020304" pitchFamily="18" charset="0"/>
                </a:rPr>
                <a:t>1/0</a:t>
              </a:r>
            </a:p>
          </p:txBody>
        </p:sp>
        <p:sp>
          <p:nvSpPr>
            <p:cNvPr id="93237" name="Line 39"/>
            <p:cNvSpPr/>
            <p:nvPr/>
          </p:nvSpPr>
          <p:spPr>
            <a:xfrm flipH="1">
              <a:off x="4104" y="1656"/>
              <a:ext cx="1068" cy="0"/>
            </a:xfrm>
            <a:prstGeom prst="line">
              <a:avLst/>
            </a:prstGeom>
            <a:ln w="9525" cap="flat" cmpd="sng">
              <a:solidFill>
                <a:srgbClr val="3333FF"/>
              </a:solidFill>
              <a:prstDash val="solid"/>
              <a:headEnd type="none" w="med" len="med"/>
              <a:tailEnd type="triangle" w="sm" len="lg"/>
            </a:ln>
          </p:spPr>
        </p:sp>
      </p:grpSp>
      <p:grpSp>
        <p:nvGrpSpPr>
          <p:cNvPr id="3" name="Group 40"/>
          <p:cNvGrpSpPr/>
          <p:nvPr/>
        </p:nvGrpSpPr>
        <p:grpSpPr>
          <a:xfrm>
            <a:off x="4684713" y="1838325"/>
            <a:ext cx="4044950" cy="4876800"/>
            <a:chOff x="2912" y="600"/>
            <a:chExt cx="2548" cy="3228"/>
          </a:xfrm>
        </p:grpSpPr>
        <p:sp>
          <p:nvSpPr>
            <p:cNvPr id="93191" name="Line 41"/>
            <p:cNvSpPr/>
            <p:nvPr/>
          </p:nvSpPr>
          <p:spPr>
            <a:xfrm>
              <a:off x="2977" y="600"/>
              <a:ext cx="2463" cy="0"/>
            </a:xfrm>
            <a:prstGeom prst="line">
              <a:avLst/>
            </a:prstGeom>
            <a:ln w="38100" cap="flat" cmpd="sng">
              <a:solidFill>
                <a:schemeClr val="tx1"/>
              </a:solidFill>
              <a:prstDash val="solid"/>
              <a:headEnd type="none" w="med" len="med"/>
              <a:tailEnd type="none" w="sm" len="lg"/>
            </a:ln>
          </p:spPr>
        </p:sp>
        <p:sp>
          <p:nvSpPr>
            <p:cNvPr id="93192" name="Line 42"/>
            <p:cNvSpPr/>
            <p:nvPr/>
          </p:nvSpPr>
          <p:spPr>
            <a:xfrm>
              <a:off x="2998" y="3814"/>
              <a:ext cx="2462" cy="0"/>
            </a:xfrm>
            <a:prstGeom prst="line">
              <a:avLst/>
            </a:prstGeom>
            <a:ln w="38100" cap="flat" cmpd="sng">
              <a:solidFill>
                <a:schemeClr val="tx1"/>
              </a:solidFill>
              <a:prstDash val="solid"/>
              <a:headEnd type="none" w="med" len="med"/>
              <a:tailEnd type="none" w="sm" len="lg"/>
            </a:ln>
          </p:spPr>
        </p:sp>
        <p:sp>
          <p:nvSpPr>
            <p:cNvPr id="93193" name="Line 43"/>
            <p:cNvSpPr/>
            <p:nvPr/>
          </p:nvSpPr>
          <p:spPr>
            <a:xfrm>
              <a:off x="3568" y="600"/>
              <a:ext cx="0" cy="3214"/>
            </a:xfrm>
            <a:prstGeom prst="line">
              <a:avLst/>
            </a:prstGeom>
            <a:ln w="19050" cap="flat" cmpd="sng">
              <a:solidFill>
                <a:schemeClr val="tx1"/>
              </a:solidFill>
              <a:prstDash val="solid"/>
              <a:headEnd type="none" w="med" len="med"/>
              <a:tailEnd type="none" w="sm" len="lg"/>
            </a:ln>
          </p:spPr>
        </p:sp>
        <p:sp>
          <p:nvSpPr>
            <p:cNvPr id="93194" name="Line 44"/>
            <p:cNvSpPr/>
            <p:nvPr/>
          </p:nvSpPr>
          <p:spPr>
            <a:xfrm>
              <a:off x="4454" y="1093"/>
              <a:ext cx="0" cy="2735"/>
            </a:xfrm>
            <a:prstGeom prst="line">
              <a:avLst/>
            </a:prstGeom>
            <a:ln w="19050" cap="flat" cmpd="sng">
              <a:solidFill>
                <a:schemeClr val="tx1"/>
              </a:solidFill>
              <a:prstDash val="solid"/>
              <a:headEnd type="none" w="med" len="med"/>
              <a:tailEnd type="none" w="sm" len="lg"/>
            </a:ln>
          </p:spPr>
        </p:sp>
        <p:sp>
          <p:nvSpPr>
            <p:cNvPr id="93195" name="Line 45"/>
            <p:cNvSpPr/>
            <p:nvPr/>
          </p:nvSpPr>
          <p:spPr>
            <a:xfrm>
              <a:off x="3568" y="1079"/>
              <a:ext cx="1865" cy="0"/>
            </a:xfrm>
            <a:prstGeom prst="line">
              <a:avLst/>
            </a:prstGeom>
            <a:ln w="12700" cap="flat" cmpd="sng">
              <a:solidFill>
                <a:schemeClr val="tx1"/>
              </a:solidFill>
              <a:prstDash val="solid"/>
              <a:headEnd type="none" w="med" len="med"/>
              <a:tailEnd type="none" w="sm" len="lg"/>
            </a:ln>
          </p:spPr>
        </p:sp>
        <p:sp>
          <p:nvSpPr>
            <p:cNvPr id="93196" name="Line 46"/>
            <p:cNvSpPr/>
            <p:nvPr/>
          </p:nvSpPr>
          <p:spPr>
            <a:xfrm>
              <a:off x="2964" y="1460"/>
              <a:ext cx="2462" cy="0"/>
            </a:xfrm>
            <a:prstGeom prst="line">
              <a:avLst/>
            </a:prstGeom>
            <a:ln w="12700" cap="flat" cmpd="sng">
              <a:solidFill>
                <a:schemeClr val="tx1"/>
              </a:solidFill>
              <a:prstDash val="solid"/>
              <a:headEnd type="none" w="med" len="med"/>
              <a:tailEnd type="none" w="sm" len="lg"/>
            </a:ln>
          </p:spPr>
        </p:sp>
        <p:sp>
          <p:nvSpPr>
            <p:cNvPr id="93197" name="Text Box 47"/>
            <p:cNvSpPr txBox="1"/>
            <p:nvPr/>
          </p:nvSpPr>
          <p:spPr>
            <a:xfrm>
              <a:off x="2912" y="860"/>
              <a:ext cx="564" cy="343"/>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93198" name="Text Box 48"/>
            <p:cNvSpPr txBox="1"/>
            <p:nvPr/>
          </p:nvSpPr>
          <p:spPr>
            <a:xfrm>
              <a:off x="3924" y="673"/>
              <a:ext cx="1074" cy="343"/>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93199" name="Text Box 49"/>
            <p:cNvSpPr txBox="1"/>
            <p:nvPr/>
          </p:nvSpPr>
          <p:spPr>
            <a:xfrm>
              <a:off x="3844" y="1058"/>
              <a:ext cx="453" cy="344"/>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93200" name="Text Box 50"/>
            <p:cNvSpPr txBox="1"/>
            <p:nvPr/>
          </p:nvSpPr>
          <p:spPr>
            <a:xfrm>
              <a:off x="4770" y="1058"/>
              <a:ext cx="453" cy="344"/>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93201" name="Text Box 51"/>
            <p:cNvSpPr txBox="1"/>
            <p:nvPr/>
          </p:nvSpPr>
          <p:spPr>
            <a:xfrm>
              <a:off x="3072" y="1509"/>
              <a:ext cx="278" cy="2039"/>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A</a:t>
              </a:r>
            </a:p>
            <a:p>
              <a:pPr algn="ctr"/>
              <a:r>
                <a:rPr lang="en-US" altLang="zh-CN" sz="2800" dirty="0">
                  <a:latin typeface="Times New Roman" panose="02020603050405020304" pitchFamily="18" charset="0"/>
                </a:rPr>
                <a:t>B</a:t>
              </a:r>
            </a:p>
            <a:p>
              <a:pPr algn="ctr"/>
              <a:r>
                <a:rPr lang="en-US" altLang="zh-CN" sz="2800" dirty="0">
                  <a:latin typeface="Times New Roman" panose="02020603050405020304" pitchFamily="18" charset="0"/>
                </a:rPr>
                <a:t>C</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E</a:t>
              </a:r>
            </a:p>
            <a:p>
              <a:pPr algn="ctr"/>
              <a:r>
                <a:rPr lang="en-US" altLang="zh-CN" sz="2800" dirty="0">
                  <a:latin typeface="Times New Roman" panose="02020603050405020304" pitchFamily="18" charset="0"/>
                </a:rPr>
                <a:t>F</a:t>
              </a:r>
            </a:p>
            <a:p>
              <a:pPr algn="ctr"/>
              <a:r>
                <a:rPr lang="en-US" altLang="zh-CN" sz="2800" dirty="0">
                  <a:latin typeface="Times New Roman" panose="02020603050405020304" pitchFamily="18" charset="0"/>
                </a:rPr>
                <a:t>G</a:t>
              </a:r>
              <a:endParaRPr lang="en-US" altLang="zh-CN" sz="2800" baseline="-25000" dirty="0">
                <a:latin typeface="Times New Roman" panose="02020603050405020304" pitchFamily="18" charset="0"/>
              </a:endParaRPr>
            </a:p>
          </p:txBody>
        </p:sp>
        <p:sp>
          <p:nvSpPr>
            <p:cNvPr id="93202" name="Text Box 52"/>
            <p:cNvSpPr txBox="1"/>
            <p:nvPr/>
          </p:nvSpPr>
          <p:spPr>
            <a:xfrm>
              <a:off x="3745" y="1509"/>
              <a:ext cx="452" cy="2039"/>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F/0</a:t>
              </a:r>
            </a:p>
            <a:p>
              <a:pPr algn="ctr"/>
              <a:r>
                <a:rPr lang="en-US" altLang="zh-CN" sz="2800" dirty="0">
                  <a:latin typeface="Times New Roman" panose="02020603050405020304" pitchFamily="18" charset="0"/>
                </a:rPr>
                <a:t>A/1</a:t>
              </a:r>
            </a:p>
            <a:p>
              <a:pPr algn="ctr"/>
              <a:r>
                <a:rPr lang="en-US" altLang="zh-CN" sz="2800" dirty="0">
                  <a:latin typeface="Times New Roman" panose="02020603050405020304" pitchFamily="18" charset="0"/>
                </a:rPr>
                <a:t>A/0</a:t>
              </a:r>
            </a:p>
            <a:p>
              <a:pPr algn="ctr"/>
              <a:r>
                <a:rPr lang="en-US" altLang="zh-CN" sz="2800" dirty="0">
                  <a:latin typeface="Times New Roman" panose="02020603050405020304" pitchFamily="18" charset="0"/>
                </a:rPr>
                <a:t>A/0</a:t>
              </a:r>
            </a:p>
            <a:p>
              <a:pPr algn="ctr"/>
              <a:r>
                <a:rPr lang="en-US" altLang="zh-CN" sz="2800" dirty="0">
                  <a:latin typeface="Times New Roman" panose="02020603050405020304" pitchFamily="18" charset="0"/>
                </a:rPr>
                <a:t>A/1</a:t>
              </a:r>
            </a:p>
          </p:txBody>
        </p:sp>
        <p:sp>
          <p:nvSpPr>
            <p:cNvPr id="93203" name="Text Box 53"/>
            <p:cNvSpPr txBox="1"/>
            <p:nvPr/>
          </p:nvSpPr>
          <p:spPr>
            <a:xfrm>
              <a:off x="4671" y="1509"/>
              <a:ext cx="452" cy="2039"/>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G/0</a:t>
              </a:r>
            </a:p>
            <a:p>
              <a:pPr algn="ctr"/>
              <a:r>
                <a:rPr lang="en-US" altLang="zh-CN" sz="2800" dirty="0">
                  <a:latin typeface="Times New Roman" panose="02020603050405020304" pitchFamily="18" charset="0"/>
                </a:rPr>
                <a:t>A/0</a:t>
              </a:r>
            </a:p>
            <a:p>
              <a:pPr algn="ctr"/>
              <a:r>
                <a:rPr lang="en-US" altLang="zh-CN" sz="2800" dirty="0">
                  <a:latin typeface="Times New Roman" panose="02020603050405020304" pitchFamily="18" charset="0"/>
                </a:rPr>
                <a:t>A/1</a:t>
              </a:r>
            </a:p>
            <a:p>
              <a:pPr algn="ctr"/>
              <a:r>
                <a:rPr lang="en-US" altLang="zh-CN" sz="2800" dirty="0">
                  <a:latin typeface="Times New Roman" panose="02020603050405020304" pitchFamily="18" charset="0"/>
                </a:rPr>
                <a:t>A/1</a:t>
              </a:r>
            </a:p>
            <a:p>
              <a:pPr algn="ctr"/>
              <a:r>
                <a:rPr lang="en-US" altLang="zh-CN" sz="2800" dirty="0">
                  <a:latin typeface="Times New Roman" panose="02020603050405020304" pitchFamily="18" charset="0"/>
                </a:rPr>
                <a:t>A/0</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986"/>
                                        </p:tgtEl>
                                        <p:attrNameLst>
                                          <p:attrName>style.visibility</p:attrName>
                                        </p:attrNameLst>
                                      </p:cBhvr>
                                      <p:to>
                                        <p:strVal val="visible"/>
                                      </p:to>
                                    </p:set>
                                    <p:animEffect transition="in" filter="wipe(left)">
                                      <p:cBhvr>
                                        <p:cTn id="7" dur="500"/>
                                        <p:tgtEl>
                                          <p:spTgt spid="29798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9798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97988"/>
                                        </p:tgtEl>
                                        <p:attrNameLst>
                                          <p:attrName>style.visibility</p:attrName>
                                        </p:attrNameLst>
                                      </p:cBhvr>
                                      <p:to>
                                        <p:strVal val="visible"/>
                                      </p:to>
                                    </p:set>
                                    <p:animEffect transition="in" filter="wipe(left)">
                                      <p:cBhvr>
                                        <p:cTn id="16" dur="500"/>
                                        <p:tgtEl>
                                          <p:spTgt spid="297988"/>
                                        </p:tgtEl>
                                      </p:cBhvr>
                                    </p:animEffect>
                                  </p:childTnLst>
                                </p:cTn>
                              </p:par>
                            </p:childTnLst>
                          </p:cTn>
                        </p:par>
                      </p:childTnLst>
                    </p:cTn>
                  </p:par>
                  <p:par>
                    <p:cTn id="17" fill="hold">
                      <p:stCondLst>
                        <p:cond delay="indefinite"/>
                      </p:stCondLst>
                      <p:childTnLst>
                        <p:par>
                          <p:cTn id="18" fill="hold">
                            <p:stCondLst>
                              <p:cond delay="0"/>
                            </p:stCondLst>
                            <p:childTnLst>
                              <p:par>
                                <p:cTn id="19" presetID="7" presetClass="entr" presetSubtype="4"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1000" fill="hold"/>
                                        <p:tgtEl>
                                          <p:spTgt spid="2"/>
                                        </p:tgtEl>
                                        <p:attrNameLst>
                                          <p:attrName>ppt_x</p:attrName>
                                        </p:attrNameLst>
                                      </p:cBhvr>
                                      <p:tavLst>
                                        <p:tav tm="0">
                                          <p:val>
                                            <p:strVal val="#ppt_x"/>
                                          </p:val>
                                        </p:tav>
                                        <p:tav tm="100000">
                                          <p:val>
                                            <p:strVal val="#ppt_x"/>
                                          </p:val>
                                        </p:tav>
                                      </p:tavLst>
                                    </p:anim>
                                    <p:anim calcmode="lin" valueType="num">
                                      <p:cBhvr additive="base">
                                        <p:cTn id="22"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 to="" calcmode="lin" valueType="num">
                                      <p:cBhvr>
                                        <p:cTn id="27" dur="1" fill="hold"/>
                                        <p:tgtEl>
                                          <p:spTgt spid="3"/>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6" grpId="0"/>
      <p:bldP spid="297987" grpId="0"/>
      <p:bldP spid="297988"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4138" y="1277938"/>
            <a:ext cx="4044950" cy="4876800"/>
            <a:chOff x="2912" y="600"/>
            <a:chExt cx="2548" cy="3228"/>
          </a:xfrm>
        </p:grpSpPr>
        <p:sp>
          <p:nvSpPr>
            <p:cNvPr id="94226" name="Line 3"/>
            <p:cNvSpPr/>
            <p:nvPr/>
          </p:nvSpPr>
          <p:spPr>
            <a:xfrm>
              <a:off x="2977" y="600"/>
              <a:ext cx="2463" cy="0"/>
            </a:xfrm>
            <a:prstGeom prst="line">
              <a:avLst/>
            </a:prstGeom>
            <a:ln w="38100" cap="flat" cmpd="sng">
              <a:solidFill>
                <a:schemeClr val="tx1"/>
              </a:solidFill>
              <a:prstDash val="solid"/>
              <a:headEnd type="none" w="med" len="med"/>
              <a:tailEnd type="none" w="sm" len="lg"/>
            </a:ln>
          </p:spPr>
        </p:sp>
        <p:sp>
          <p:nvSpPr>
            <p:cNvPr id="94227" name="Line 4"/>
            <p:cNvSpPr/>
            <p:nvPr/>
          </p:nvSpPr>
          <p:spPr>
            <a:xfrm>
              <a:off x="2998" y="3814"/>
              <a:ext cx="2462" cy="0"/>
            </a:xfrm>
            <a:prstGeom prst="line">
              <a:avLst/>
            </a:prstGeom>
            <a:ln w="38100" cap="flat" cmpd="sng">
              <a:solidFill>
                <a:schemeClr val="tx1"/>
              </a:solidFill>
              <a:prstDash val="solid"/>
              <a:headEnd type="none" w="med" len="med"/>
              <a:tailEnd type="none" w="sm" len="lg"/>
            </a:ln>
          </p:spPr>
        </p:sp>
        <p:sp>
          <p:nvSpPr>
            <p:cNvPr id="94228" name="Line 5"/>
            <p:cNvSpPr/>
            <p:nvPr/>
          </p:nvSpPr>
          <p:spPr>
            <a:xfrm>
              <a:off x="3568" y="600"/>
              <a:ext cx="0" cy="3214"/>
            </a:xfrm>
            <a:prstGeom prst="line">
              <a:avLst/>
            </a:prstGeom>
            <a:ln w="19050" cap="flat" cmpd="sng">
              <a:solidFill>
                <a:schemeClr val="tx1"/>
              </a:solidFill>
              <a:prstDash val="solid"/>
              <a:headEnd type="none" w="med" len="med"/>
              <a:tailEnd type="none" w="sm" len="lg"/>
            </a:ln>
          </p:spPr>
        </p:sp>
        <p:sp>
          <p:nvSpPr>
            <p:cNvPr id="94229" name="Line 6"/>
            <p:cNvSpPr/>
            <p:nvPr/>
          </p:nvSpPr>
          <p:spPr>
            <a:xfrm>
              <a:off x="4454" y="1093"/>
              <a:ext cx="0" cy="2735"/>
            </a:xfrm>
            <a:prstGeom prst="line">
              <a:avLst/>
            </a:prstGeom>
            <a:ln w="19050" cap="flat" cmpd="sng">
              <a:solidFill>
                <a:schemeClr val="tx1"/>
              </a:solidFill>
              <a:prstDash val="solid"/>
              <a:headEnd type="none" w="med" len="med"/>
              <a:tailEnd type="none" w="sm" len="lg"/>
            </a:ln>
          </p:spPr>
        </p:sp>
        <p:sp>
          <p:nvSpPr>
            <p:cNvPr id="94230" name="Line 7"/>
            <p:cNvSpPr/>
            <p:nvPr/>
          </p:nvSpPr>
          <p:spPr>
            <a:xfrm>
              <a:off x="3568" y="1079"/>
              <a:ext cx="1865" cy="0"/>
            </a:xfrm>
            <a:prstGeom prst="line">
              <a:avLst/>
            </a:prstGeom>
            <a:ln w="12700" cap="flat" cmpd="sng">
              <a:solidFill>
                <a:schemeClr val="tx1"/>
              </a:solidFill>
              <a:prstDash val="solid"/>
              <a:headEnd type="none" w="med" len="med"/>
              <a:tailEnd type="none" w="sm" len="lg"/>
            </a:ln>
          </p:spPr>
        </p:sp>
        <p:sp>
          <p:nvSpPr>
            <p:cNvPr id="94231" name="Line 8"/>
            <p:cNvSpPr/>
            <p:nvPr/>
          </p:nvSpPr>
          <p:spPr>
            <a:xfrm>
              <a:off x="2964" y="1460"/>
              <a:ext cx="2462" cy="0"/>
            </a:xfrm>
            <a:prstGeom prst="line">
              <a:avLst/>
            </a:prstGeom>
            <a:ln w="12700" cap="flat" cmpd="sng">
              <a:solidFill>
                <a:schemeClr val="tx1"/>
              </a:solidFill>
              <a:prstDash val="solid"/>
              <a:headEnd type="none" w="med" len="med"/>
              <a:tailEnd type="none" w="sm" len="lg"/>
            </a:ln>
          </p:spPr>
        </p:sp>
        <p:sp>
          <p:nvSpPr>
            <p:cNvPr id="94232" name="Text Box 9"/>
            <p:cNvSpPr txBox="1"/>
            <p:nvPr/>
          </p:nvSpPr>
          <p:spPr>
            <a:xfrm>
              <a:off x="2912" y="860"/>
              <a:ext cx="564" cy="343"/>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94233" name="Text Box 10"/>
            <p:cNvSpPr txBox="1"/>
            <p:nvPr/>
          </p:nvSpPr>
          <p:spPr>
            <a:xfrm>
              <a:off x="3924" y="673"/>
              <a:ext cx="1074" cy="343"/>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94234" name="Text Box 11"/>
            <p:cNvSpPr txBox="1"/>
            <p:nvPr/>
          </p:nvSpPr>
          <p:spPr>
            <a:xfrm>
              <a:off x="3844" y="1058"/>
              <a:ext cx="453" cy="344"/>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94235" name="Text Box 12"/>
            <p:cNvSpPr txBox="1"/>
            <p:nvPr/>
          </p:nvSpPr>
          <p:spPr>
            <a:xfrm>
              <a:off x="4770" y="1058"/>
              <a:ext cx="453" cy="344"/>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94236" name="Text Box 13"/>
            <p:cNvSpPr txBox="1"/>
            <p:nvPr/>
          </p:nvSpPr>
          <p:spPr>
            <a:xfrm>
              <a:off x="3072" y="1509"/>
              <a:ext cx="278" cy="2039"/>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A</a:t>
              </a:r>
            </a:p>
            <a:p>
              <a:pPr algn="ctr"/>
              <a:r>
                <a:rPr lang="en-US" altLang="zh-CN" sz="2800" dirty="0">
                  <a:latin typeface="Times New Roman" panose="02020603050405020304" pitchFamily="18" charset="0"/>
                </a:rPr>
                <a:t>B</a:t>
              </a:r>
            </a:p>
            <a:p>
              <a:pPr algn="ctr"/>
              <a:r>
                <a:rPr lang="en-US" altLang="zh-CN" sz="2800" dirty="0">
                  <a:latin typeface="Times New Roman" panose="02020603050405020304" pitchFamily="18" charset="0"/>
                </a:rPr>
                <a:t>C</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E</a:t>
              </a:r>
            </a:p>
            <a:p>
              <a:pPr algn="ctr"/>
              <a:r>
                <a:rPr lang="en-US" altLang="zh-CN" sz="2800" dirty="0">
                  <a:latin typeface="Times New Roman" panose="02020603050405020304" pitchFamily="18" charset="0"/>
                </a:rPr>
                <a:t>F</a:t>
              </a:r>
            </a:p>
            <a:p>
              <a:pPr algn="ctr"/>
              <a:r>
                <a:rPr lang="en-US" altLang="zh-CN" sz="2800" dirty="0">
                  <a:latin typeface="Times New Roman" panose="02020603050405020304" pitchFamily="18" charset="0"/>
                </a:rPr>
                <a:t>G</a:t>
              </a:r>
              <a:endParaRPr lang="en-US" altLang="zh-CN" sz="2800" baseline="-25000" dirty="0">
                <a:latin typeface="Times New Roman" panose="02020603050405020304" pitchFamily="18" charset="0"/>
              </a:endParaRPr>
            </a:p>
          </p:txBody>
        </p:sp>
        <p:sp>
          <p:nvSpPr>
            <p:cNvPr id="94237" name="Text Box 14"/>
            <p:cNvSpPr txBox="1"/>
            <p:nvPr/>
          </p:nvSpPr>
          <p:spPr>
            <a:xfrm>
              <a:off x="3745" y="1509"/>
              <a:ext cx="452" cy="2039"/>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F/0</a:t>
              </a:r>
            </a:p>
            <a:p>
              <a:pPr algn="ctr"/>
              <a:r>
                <a:rPr lang="en-US" altLang="zh-CN" sz="2800" dirty="0">
                  <a:latin typeface="Times New Roman" panose="02020603050405020304" pitchFamily="18" charset="0"/>
                </a:rPr>
                <a:t>A/1</a:t>
              </a:r>
            </a:p>
            <a:p>
              <a:pPr algn="ctr"/>
              <a:r>
                <a:rPr lang="en-US" altLang="zh-CN" sz="2800" dirty="0">
                  <a:latin typeface="Times New Roman" panose="02020603050405020304" pitchFamily="18" charset="0"/>
                </a:rPr>
                <a:t>A/0</a:t>
              </a:r>
            </a:p>
            <a:p>
              <a:pPr algn="ctr"/>
              <a:r>
                <a:rPr lang="en-US" altLang="zh-CN" sz="2800" dirty="0">
                  <a:latin typeface="Times New Roman" panose="02020603050405020304" pitchFamily="18" charset="0"/>
                </a:rPr>
                <a:t>A/0</a:t>
              </a:r>
            </a:p>
            <a:p>
              <a:pPr algn="ctr"/>
              <a:r>
                <a:rPr lang="en-US" altLang="zh-CN" sz="2800" dirty="0">
                  <a:latin typeface="Times New Roman" panose="02020603050405020304" pitchFamily="18" charset="0"/>
                </a:rPr>
                <a:t>A/1</a:t>
              </a:r>
            </a:p>
          </p:txBody>
        </p:sp>
        <p:sp>
          <p:nvSpPr>
            <p:cNvPr id="94238" name="Text Box 15"/>
            <p:cNvSpPr txBox="1"/>
            <p:nvPr/>
          </p:nvSpPr>
          <p:spPr>
            <a:xfrm>
              <a:off x="4671" y="1509"/>
              <a:ext cx="452" cy="2039"/>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G/0</a:t>
              </a:r>
            </a:p>
            <a:p>
              <a:pPr algn="ctr"/>
              <a:r>
                <a:rPr lang="en-US" altLang="zh-CN" sz="2800" dirty="0">
                  <a:latin typeface="Times New Roman" panose="02020603050405020304" pitchFamily="18" charset="0"/>
                </a:rPr>
                <a:t>A/0</a:t>
              </a:r>
            </a:p>
            <a:p>
              <a:pPr algn="ctr"/>
              <a:r>
                <a:rPr lang="en-US" altLang="zh-CN" sz="2800" dirty="0">
                  <a:latin typeface="Times New Roman" panose="02020603050405020304" pitchFamily="18" charset="0"/>
                </a:rPr>
                <a:t>A/1</a:t>
              </a:r>
            </a:p>
            <a:p>
              <a:pPr algn="ctr"/>
              <a:r>
                <a:rPr lang="en-US" altLang="zh-CN" sz="2800" dirty="0">
                  <a:latin typeface="Times New Roman" panose="02020603050405020304" pitchFamily="18" charset="0"/>
                </a:rPr>
                <a:t>A/1</a:t>
              </a:r>
            </a:p>
            <a:p>
              <a:pPr algn="ctr"/>
              <a:r>
                <a:rPr lang="en-US" altLang="zh-CN" sz="2800" dirty="0">
                  <a:latin typeface="Times New Roman" panose="02020603050405020304" pitchFamily="18" charset="0"/>
                </a:rPr>
                <a:t>A/0</a:t>
              </a:r>
            </a:p>
          </p:txBody>
        </p:sp>
      </p:grpSp>
      <p:sp>
        <p:nvSpPr>
          <p:cNvPr id="299024" name="Text Box 16"/>
          <p:cNvSpPr txBox="1"/>
          <p:nvPr/>
        </p:nvSpPr>
        <p:spPr>
          <a:xfrm>
            <a:off x="4594225" y="504825"/>
            <a:ext cx="1819275" cy="519113"/>
          </a:xfrm>
          <a:prstGeom prst="rect">
            <a:avLst/>
          </a:prstGeom>
          <a:noFill/>
          <a:ln w="19050">
            <a:noFill/>
          </a:ln>
        </p:spPr>
        <p:txBody>
          <a:bodyPr wrap="none">
            <a:spAutoFit/>
          </a:bodyPr>
          <a:lstStyle/>
          <a:p>
            <a:pPr>
              <a:buChar char="•"/>
            </a:pPr>
            <a:r>
              <a:rPr lang="en-US" altLang="zh-CN" sz="2800" dirty="0">
                <a:latin typeface="Times New Roman" panose="02020603050405020304" pitchFamily="18" charset="0"/>
                <a:sym typeface="Monotype Sorts" pitchFamily="2" charset="2"/>
              </a:rPr>
              <a:t> </a:t>
            </a:r>
            <a:r>
              <a:rPr lang="zh-CN" altLang="en-US" sz="2800" dirty="0">
                <a:latin typeface="Times New Roman" panose="02020603050405020304" pitchFamily="18" charset="0"/>
                <a:sym typeface="Monotype Sorts" pitchFamily="2" charset="2"/>
              </a:rPr>
              <a:t>状态化简</a:t>
            </a:r>
          </a:p>
        </p:txBody>
      </p:sp>
      <p:grpSp>
        <p:nvGrpSpPr>
          <p:cNvPr id="3" name="Group 17"/>
          <p:cNvGrpSpPr/>
          <p:nvPr/>
        </p:nvGrpSpPr>
        <p:grpSpPr>
          <a:xfrm>
            <a:off x="4452938" y="1931988"/>
            <a:ext cx="4083050" cy="3810000"/>
            <a:chOff x="2841" y="809"/>
            <a:chExt cx="2572" cy="2400"/>
          </a:xfrm>
        </p:grpSpPr>
        <p:sp>
          <p:nvSpPr>
            <p:cNvPr id="94213" name="Line 18"/>
            <p:cNvSpPr/>
            <p:nvPr/>
          </p:nvSpPr>
          <p:spPr>
            <a:xfrm>
              <a:off x="2906" y="809"/>
              <a:ext cx="2463" cy="0"/>
            </a:xfrm>
            <a:prstGeom prst="line">
              <a:avLst/>
            </a:prstGeom>
            <a:ln w="38100" cap="flat" cmpd="sng">
              <a:solidFill>
                <a:schemeClr val="tx1"/>
              </a:solidFill>
              <a:prstDash val="solid"/>
              <a:headEnd type="none" w="med" len="med"/>
              <a:tailEnd type="none" w="sm" len="lg"/>
            </a:ln>
          </p:spPr>
        </p:sp>
        <p:sp>
          <p:nvSpPr>
            <p:cNvPr id="94214" name="Line 19"/>
            <p:cNvSpPr/>
            <p:nvPr/>
          </p:nvSpPr>
          <p:spPr>
            <a:xfrm>
              <a:off x="2951" y="3196"/>
              <a:ext cx="2462" cy="0"/>
            </a:xfrm>
            <a:prstGeom prst="line">
              <a:avLst/>
            </a:prstGeom>
            <a:ln w="38100" cap="flat" cmpd="sng">
              <a:solidFill>
                <a:schemeClr val="tx1"/>
              </a:solidFill>
              <a:prstDash val="solid"/>
              <a:headEnd type="none" w="med" len="med"/>
              <a:tailEnd type="none" w="sm" len="lg"/>
            </a:ln>
          </p:spPr>
        </p:sp>
        <p:sp>
          <p:nvSpPr>
            <p:cNvPr id="94215" name="Line 20"/>
            <p:cNvSpPr/>
            <p:nvPr/>
          </p:nvSpPr>
          <p:spPr>
            <a:xfrm>
              <a:off x="3497" y="809"/>
              <a:ext cx="0" cy="2395"/>
            </a:xfrm>
            <a:prstGeom prst="line">
              <a:avLst/>
            </a:prstGeom>
            <a:ln w="19050" cap="flat" cmpd="sng">
              <a:solidFill>
                <a:schemeClr val="tx1"/>
              </a:solidFill>
              <a:prstDash val="solid"/>
              <a:headEnd type="none" w="med" len="med"/>
              <a:tailEnd type="none" w="sm" len="lg"/>
            </a:ln>
          </p:spPr>
        </p:sp>
        <p:sp>
          <p:nvSpPr>
            <p:cNvPr id="94216" name="Line 21"/>
            <p:cNvSpPr/>
            <p:nvPr/>
          </p:nvSpPr>
          <p:spPr>
            <a:xfrm>
              <a:off x="4383" y="1278"/>
              <a:ext cx="0" cy="1931"/>
            </a:xfrm>
            <a:prstGeom prst="line">
              <a:avLst/>
            </a:prstGeom>
            <a:ln w="19050" cap="flat" cmpd="sng">
              <a:solidFill>
                <a:schemeClr val="tx1"/>
              </a:solidFill>
              <a:prstDash val="solid"/>
              <a:headEnd type="none" w="med" len="med"/>
              <a:tailEnd type="none" w="sm" len="lg"/>
            </a:ln>
          </p:spPr>
        </p:sp>
        <p:sp>
          <p:nvSpPr>
            <p:cNvPr id="94217" name="Line 22"/>
            <p:cNvSpPr/>
            <p:nvPr/>
          </p:nvSpPr>
          <p:spPr>
            <a:xfrm>
              <a:off x="3497" y="1265"/>
              <a:ext cx="1865" cy="0"/>
            </a:xfrm>
            <a:prstGeom prst="line">
              <a:avLst/>
            </a:prstGeom>
            <a:ln w="12700" cap="flat" cmpd="sng">
              <a:solidFill>
                <a:schemeClr val="tx1"/>
              </a:solidFill>
              <a:prstDash val="solid"/>
              <a:headEnd type="none" w="med" len="med"/>
              <a:tailEnd type="none" w="sm" len="lg"/>
            </a:ln>
          </p:spPr>
        </p:sp>
        <p:sp>
          <p:nvSpPr>
            <p:cNvPr id="94218" name="Line 23"/>
            <p:cNvSpPr/>
            <p:nvPr/>
          </p:nvSpPr>
          <p:spPr>
            <a:xfrm>
              <a:off x="2893" y="1627"/>
              <a:ext cx="2462" cy="0"/>
            </a:xfrm>
            <a:prstGeom prst="line">
              <a:avLst/>
            </a:prstGeom>
            <a:ln w="12700" cap="flat" cmpd="sng">
              <a:solidFill>
                <a:schemeClr val="tx1"/>
              </a:solidFill>
              <a:prstDash val="solid"/>
              <a:headEnd type="none" w="med" len="med"/>
              <a:tailEnd type="none" w="sm" len="lg"/>
            </a:ln>
          </p:spPr>
        </p:sp>
        <p:sp>
          <p:nvSpPr>
            <p:cNvPr id="94219" name="Text Box 24"/>
            <p:cNvSpPr txBox="1"/>
            <p:nvPr/>
          </p:nvSpPr>
          <p:spPr>
            <a:xfrm>
              <a:off x="2841" y="1056"/>
              <a:ext cx="564" cy="327"/>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94220" name="Text Box 25"/>
            <p:cNvSpPr txBox="1"/>
            <p:nvPr/>
          </p:nvSpPr>
          <p:spPr>
            <a:xfrm>
              <a:off x="3853" y="878"/>
              <a:ext cx="1074"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94221" name="Text Box 26"/>
            <p:cNvSpPr txBox="1"/>
            <p:nvPr/>
          </p:nvSpPr>
          <p:spPr>
            <a:xfrm>
              <a:off x="3773" y="1245"/>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94222" name="Text Box 27"/>
            <p:cNvSpPr txBox="1"/>
            <p:nvPr/>
          </p:nvSpPr>
          <p:spPr>
            <a:xfrm>
              <a:off x="4699" y="1245"/>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94223" name="Text Box 28"/>
            <p:cNvSpPr txBox="1"/>
            <p:nvPr/>
          </p:nvSpPr>
          <p:spPr>
            <a:xfrm>
              <a:off x="3001" y="1674"/>
              <a:ext cx="278" cy="1403"/>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A</a:t>
              </a:r>
            </a:p>
            <a:p>
              <a:pPr algn="ctr"/>
              <a:r>
                <a:rPr lang="en-US" altLang="zh-CN" sz="2800" dirty="0">
                  <a:latin typeface="Times New Roman" panose="02020603050405020304" pitchFamily="18" charset="0"/>
                </a:rPr>
                <a:t>B</a:t>
              </a:r>
            </a:p>
            <a:p>
              <a:pPr algn="ctr"/>
              <a:r>
                <a:rPr lang="en-US" altLang="zh-CN" sz="2800" dirty="0">
                  <a:latin typeface="Times New Roman" panose="02020603050405020304" pitchFamily="18" charset="0"/>
                </a:rPr>
                <a:t>C</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94224" name="Text Box 29"/>
            <p:cNvSpPr txBox="1"/>
            <p:nvPr/>
          </p:nvSpPr>
          <p:spPr>
            <a:xfrm>
              <a:off x="3674" y="1674"/>
              <a:ext cx="452" cy="1403"/>
            </a:xfrm>
            <a:prstGeom prst="rect">
              <a:avLst/>
            </a:prstGeom>
            <a:noFill/>
            <a:ln w="19050">
              <a:noFill/>
            </a:ln>
          </p:spPr>
          <p:txBody>
            <a:bodyPr>
              <a:spAutoFit/>
            </a:bodyPr>
            <a:lstStyle/>
            <a:p>
              <a:pPr algn="ctr"/>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p>
            <a:p>
              <a:pPr algn="ctr"/>
              <a:r>
                <a:rPr lang="en-US" altLang="zh-CN" sz="2800" dirty="0">
                  <a:latin typeface="Times New Roman" panose="02020603050405020304" pitchFamily="18" charset="0"/>
                </a:rPr>
                <a:t>A/1</a:t>
              </a:r>
            </a:p>
            <a:p>
              <a:pPr algn="ctr"/>
              <a:r>
                <a:rPr lang="en-US" altLang="zh-CN" sz="2800" dirty="0">
                  <a:latin typeface="Times New Roman" panose="02020603050405020304" pitchFamily="18" charset="0"/>
                </a:rPr>
                <a:t>A/0</a:t>
              </a:r>
            </a:p>
          </p:txBody>
        </p:sp>
        <p:sp>
          <p:nvSpPr>
            <p:cNvPr id="94225" name="Text Box 30"/>
            <p:cNvSpPr txBox="1"/>
            <p:nvPr/>
          </p:nvSpPr>
          <p:spPr>
            <a:xfrm>
              <a:off x="4600" y="1674"/>
              <a:ext cx="452" cy="1403"/>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p>
            <a:p>
              <a:pPr algn="ctr"/>
              <a:r>
                <a:rPr lang="en-US" altLang="zh-CN" sz="2800" dirty="0">
                  <a:latin typeface="Times New Roman" panose="02020603050405020304" pitchFamily="18" charset="0"/>
                </a:rPr>
                <a:t>A/0</a:t>
              </a:r>
            </a:p>
            <a:p>
              <a:pPr algn="ctr"/>
              <a:r>
                <a:rPr lang="en-US" altLang="zh-CN" sz="2800" dirty="0">
                  <a:latin typeface="Times New Roman" panose="02020603050405020304" pitchFamily="18" charset="0"/>
                </a:rPr>
                <a:t>A/1</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9024"/>
                                        </p:tgtEl>
                                        <p:attrNameLst>
                                          <p:attrName>style.visibility</p:attrName>
                                        </p:attrNameLst>
                                      </p:cBhvr>
                                      <p:to>
                                        <p:strVal val="visible"/>
                                      </p:to>
                                    </p:set>
                                    <p:animEffect transition="in" filter="wipe(left)">
                                      <p:cBhvr>
                                        <p:cTn id="7" dur="500"/>
                                        <p:tgtEl>
                                          <p:spTgt spid="299024"/>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to="" calcmode="lin" valueType="num">
                                      <p:cBhvr>
                                        <p:cTn id="12" dur="1" fill="hold"/>
                                        <p:tgtEl>
                                          <p:spTgt spid="2"/>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24"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Text Box 2"/>
          <p:cNvSpPr txBox="1"/>
          <p:nvPr/>
        </p:nvSpPr>
        <p:spPr>
          <a:xfrm>
            <a:off x="1084263" y="1030288"/>
            <a:ext cx="2085975" cy="519112"/>
          </a:xfrm>
          <a:prstGeom prst="rect">
            <a:avLst/>
          </a:prstGeom>
          <a:noFill/>
          <a:ln w="19050">
            <a:noFill/>
          </a:ln>
        </p:spPr>
        <p:txBody>
          <a:bodyPr wrap="none">
            <a:spAutoFit/>
          </a:bodyPr>
          <a:lstStyle/>
          <a:p>
            <a:pPr>
              <a:buChar char="•"/>
            </a:pPr>
            <a:r>
              <a:rPr lang="zh-CN" altLang="en-US" sz="2800" dirty="0">
                <a:latin typeface="Times New Roman" panose="02020603050405020304" pitchFamily="18" charset="0"/>
                <a:sym typeface="Monotype Sorts" pitchFamily="2" charset="2"/>
              </a:rPr>
              <a:t>状态分配：</a:t>
            </a:r>
          </a:p>
        </p:txBody>
      </p:sp>
      <p:sp>
        <p:nvSpPr>
          <p:cNvPr id="300035" name="Text Box 3"/>
          <p:cNvSpPr txBox="1"/>
          <p:nvPr/>
        </p:nvSpPr>
        <p:spPr>
          <a:xfrm>
            <a:off x="5186363" y="839788"/>
            <a:ext cx="2905125" cy="2486025"/>
          </a:xfrm>
          <a:prstGeom prst="rect">
            <a:avLst/>
          </a:prstGeom>
          <a:noFill/>
          <a:ln w="19050">
            <a:noFill/>
          </a:ln>
        </p:spPr>
        <p:txBody>
          <a:bodyPr wrap="none">
            <a:spAutoFit/>
          </a:bodyPr>
          <a:lstStyle/>
          <a:p>
            <a:pPr>
              <a:lnSpc>
                <a:spcPct val="140000"/>
              </a:lnSpc>
              <a:buChar char="•"/>
            </a:pPr>
            <a:r>
              <a:rPr lang="en-US" altLang="zh-CN" sz="2800" dirty="0">
                <a:latin typeface="Times New Roman" panose="02020603050405020304" pitchFamily="18" charset="0"/>
              </a:rPr>
              <a:t>DE</a:t>
            </a:r>
            <a:r>
              <a:rPr lang="zh-CN" altLang="zh-CN" sz="2800" dirty="0">
                <a:latin typeface="Times New Roman" panose="02020603050405020304" pitchFamily="18" charset="0"/>
              </a:rPr>
              <a:t>应相邻</a:t>
            </a:r>
          </a:p>
          <a:p>
            <a:pPr>
              <a:lnSpc>
                <a:spcPct val="140000"/>
              </a:lnSpc>
              <a:buChar char="•"/>
            </a:pPr>
            <a:r>
              <a:rPr lang="zh-CN" altLang="zh-CN" sz="2800" dirty="0">
                <a:latin typeface="Times New Roman" panose="02020603050405020304" pitchFamily="18" charset="0"/>
              </a:rPr>
              <a:t> </a:t>
            </a:r>
            <a:r>
              <a:rPr lang="en-US" altLang="zh-CN" sz="2800" dirty="0">
                <a:latin typeface="Times New Roman" panose="02020603050405020304" pitchFamily="18" charset="0"/>
              </a:rPr>
              <a:t>BC</a:t>
            </a:r>
            <a:r>
              <a:rPr lang="zh-CN" altLang="en-US" sz="2800" dirty="0">
                <a:latin typeface="Times New Roman" panose="02020603050405020304" pitchFamily="18" charset="0"/>
              </a:rPr>
              <a:t>，</a:t>
            </a:r>
            <a:r>
              <a:rPr lang="en-US" altLang="zh-CN" sz="2800" dirty="0">
                <a:latin typeface="Times New Roman" panose="02020603050405020304" pitchFamily="18" charset="0"/>
              </a:rPr>
              <a:t>DE</a:t>
            </a:r>
            <a:r>
              <a:rPr lang="zh-CN" altLang="zh-CN" sz="2800" dirty="0">
                <a:latin typeface="Times New Roman" panose="02020603050405020304" pitchFamily="18" charset="0"/>
              </a:rPr>
              <a:t>应相邻</a:t>
            </a:r>
          </a:p>
          <a:p>
            <a:pPr>
              <a:lnSpc>
                <a:spcPct val="140000"/>
              </a:lnSpc>
              <a:buChar char="•"/>
            </a:pPr>
            <a:r>
              <a:rPr lang="zh-CN" altLang="zh-CN" sz="2800" dirty="0">
                <a:latin typeface="Times New Roman" panose="02020603050405020304" pitchFamily="18" charset="0"/>
              </a:rPr>
              <a:t> </a:t>
            </a:r>
            <a:r>
              <a:rPr lang="en-US" altLang="zh-CN" sz="2800" dirty="0">
                <a:latin typeface="Times New Roman" panose="02020603050405020304" pitchFamily="18" charset="0"/>
              </a:rPr>
              <a:t>ABC</a:t>
            </a:r>
            <a:r>
              <a:rPr lang="zh-CN" altLang="zh-CN" sz="2800" dirty="0">
                <a:latin typeface="Times New Roman" panose="02020603050405020304" pitchFamily="18" charset="0"/>
              </a:rPr>
              <a:t>应</a:t>
            </a:r>
            <a:r>
              <a:rPr lang="zh-CN" altLang="en-US" sz="2800" dirty="0">
                <a:latin typeface="Times New Roman" panose="02020603050405020304" pitchFamily="18" charset="0"/>
              </a:rPr>
              <a:t>两两</a:t>
            </a:r>
            <a:r>
              <a:rPr lang="zh-CN" altLang="zh-CN" sz="2800" dirty="0">
                <a:latin typeface="Times New Roman" panose="02020603050405020304" pitchFamily="18" charset="0"/>
              </a:rPr>
              <a:t>相邻</a:t>
            </a:r>
          </a:p>
          <a:p>
            <a:pPr>
              <a:lnSpc>
                <a:spcPct val="140000"/>
              </a:lnSpc>
              <a:buChar char="•"/>
            </a:pPr>
            <a:r>
              <a:rPr lang="zh-CN" altLang="zh-CN" sz="2800" dirty="0">
                <a:latin typeface="Times New Roman" panose="02020603050405020304" pitchFamily="18" charset="0"/>
              </a:rPr>
              <a:t> </a:t>
            </a:r>
            <a:r>
              <a:rPr lang="en-US" altLang="zh-CN" sz="2800" dirty="0">
                <a:latin typeface="Times New Roman" panose="02020603050405020304" pitchFamily="18" charset="0"/>
              </a:rPr>
              <a:t>A</a:t>
            </a:r>
            <a:r>
              <a:rPr lang="zh-CN" altLang="zh-CN" sz="2800" dirty="0">
                <a:latin typeface="Times New Roman" panose="02020603050405020304" pitchFamily="18" charset="0"/>
              </a:rPr>
              <a:t>应为逻辑0</a:t>
            </a:r>
          </a:p>
        </p:txBody>
      </p:sp>
      <p:grpSp>
        <p:nvGrpSpPr>
          <p:cNvPr id="2" name="Group 4"/>
          <p:cNvGrpSpPr/>
          <p:nvPr/>
        </p:nvGrpSpPr>
        <p:grpSpPr>
          <a:xfrm>
            <a:off x="233363" y="1912938"/>
            <a:ext cx="4083050" cy="3810000"/>
            <a:chOff x="2841" y="809"/>
            <a:chExt cx="2572" cy="2400"/>
          </a:xfrm>
        </p:grpSpPr>
        <p:sp>
          <p:nvSpPr>
            <p:cNvPr id="95263" name="Line 5"/>
            <p:cNvSpPr/>
            <p:nvPr/>
          </p:nvSpPr>
          <p:spPr>
            <a:xfrm>
              <a:off x="2906" y="809"/>
              <a:ext cx="2463" cy="0"/>
            </a:xfrm>
            <a:prstGeom prst="line">
              <a:avLst/>
            </a:prstGeom>
            <a:ln w="38100" cap="flat" cmpd="sng">
              <a:solidFill>
                <a:schemeClr val="tx1"/>
              </a:solidFill>
              <a:prstDash val="solid"/>
              <a:headEnd type="none" w="med" len="med"/>
              <a:tailEnd type="none" w="sm" len="lg"/>
            </a:ln>
          </p:spPr>
        </p:sp>
        <p:sp>
          <p:nvSpPr>
            <p:cNvPr id="95264" name="Line 6"/>
            <p:cNvSpPr/>
            <p:nvPr/>
          </p:nvSpPr>
          <p:spPr>
            <a:xfrm>
              <a:off x="2951" y="3196"/>
              <a:ext cx="2462" cy="0"/>
            </a:xfrm>
            <a:prstGeom prst="line">
              <a:avLst/>
            </a:prstGeom>
            <a:ln w="38100" cap="flat" cmpd="sng">
              <a:solidFill>
                <a:schemeClr val="tx1"/>
              </a:solidFill>
              <a:prstDash val="solid"/>
              <a:headEnd type="none" w="med" len="med"/>
              <a:tailEnd type="none" w="sm" len="lg"/>
            </a:ln>
          </p:spPr>
        </p:sp>
        <p:sp>
          <p:nvSpPr>
            <p:cNvPr id="95265" name="Line 7"/>
            <p:cNvSpPr/>
            <p:nvPr/>
          </p:nvSpPr>
          <p:spPr>
            <a:xfrm>
              <a:off x="3497" y="809"/>
              <a:ext cx="0" cy="2395"/>
            </a:xfrm>
            <a:prstGeom prst="line">
              <a:avLst/>
            </a:prstGeom>
            <a:ln w="19050" cap="flat" cmpd="sng">
              <a:solidFill>
                <a:schemeClr val="tx1"/>
              </a:solidFill>
              <a:prstDash val="solid"/>
              <a:headEnd type="none" w="med" len="med"/>
              <a:tailEnd type="none" w="sm" len="lg"/>
            </a:ln>
          </p:spPr>
        </p:sp>
        <p:sp>
          <p:nvSpPr>
            <p:cNvPr id="95266" name="Line 8"/>
            <p:cNvSpPr/>
            <p:nvPr/>
          </p:nvSpPr>
          <p:spPr>
            <a:xfrm>
              <a:off x="4383" y="1278"/>
              <a:ext cx="0" cy="1931"/>
            </a:xfrm>
            <a:prstGeom prst="line">
              <a:avLst/>
            </a:prstGeom>
            <a:ln w="19050" cap="flat" cmpd="sng">
              <a:solidFill>
                <a:schemeClr val="tx1"/>
              </a:solidFill>
              <a:prstDash val="solid"/>
              <a:headEnd type="none" w="med" len="med"/>
              <a:tailEnd type="none" w="sm" len="lg"/>
            </a:ln>
          </p:spPr>
        </p:sp>
        <p:sp>
          <p:nvSpPr>
            <p:cNvPr id="95267" name="Line 9"/>
            <p:cNvSpPr/>
            <p:nvPr/>
          </p:nvSpPr>
          <p:spPr>
            <a:xfrm>
              <a:off x="3497" y="1265"/>
              <a:ext cx="1865" cy="0"/>
            </a:xfrm>
            <a:prstGeom prst="line">
              <a:avLst/>
            </a:prstGeom>
            <a:ln w="12700" cap="flat" cmpd="sng">
              <a:solidFill>
                <a:schemeClr val="tx1"/>
              </a:solidFill>
              <a:prstDash val="solid"/>
              <a:headEnd type="none" w="med" len="med"/>
              <a:tailEnd type="none" w="sm" len="lg"/>
            </a:ln>
          </p:spPr>
        </p:sp>
        <p:sp>
          <p:nvSpPr>
            <p:cNvPr id="95268" name="Line 10"/>
            <p:cNvSpPr/>
            <p:nvPr/>
          </p:nvSpPr>
          <p:spPr>
            <a:xfrm>
              <a:off x="2893" y="1627"/>
              <a:ext cx="2462" cy="0"/>
            </a:xfrm>
            <a:prstGeom prst="line">
              <a:avLst/>
            </a:prstGeom>
            <a:ln w="12700" cap="flat" cmpd="sng">
              <a:solidFill>
                <a:schemeClr val="tx1"/>
              </a:solidFill>
              <a:prstDash val="solid"/>
              <a:headEnd type="none" w="med" len="med"/>
              <a:tailEnd type="none" w="sm" len="lg"/>
            </a:ln>
          </p:spPr>
        </p:sp>
        <p:sp>
          <p:nvSpPr>
            <p:cNvPr id="95269" name="Text Box 11"/>
            <p:cNvSpPr txBox="1"/>
            <p:nvPr/>
          </p:nvSpPr>
          <p:spPr>
            <a:xfrm>
              <a:off x="2841" y="1056"/>
              <a:ext cx="564" cy="327"/>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95270" name="Text Box 12"/>
            <p:cNvSpPr txBox="1"/>
            <p:nvPr/>
          </p:nvSpPr>
          <p:spPr>
            <a:xfrm>
              <a:off x="3853" y="878"/>
              <a:ext cx="1074"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95271" name="Text Box 13"/>
            <p:cNvSpPr txBox="1"/>
            <p:nvPr/>
          </p:nvSpPr>
          <p:spPr>
            <a:xfrm>
              <a:off x="3773" y="1245"/>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95272" name="Text Box 14"/>
            <p:cNvSpPr txBox="1"/>
            <p:nvPr/>
          </p:nvSpPr>
          <p:spPr>
            <a:xfrm>
              <a:off x="4699" y="1245"/>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95273" name="Text Box 15"/>
            <p:cNvSpPr txBox="1"/>
            <p:nvPr/>
          </p:nvSpPr>
          <p:spPr>
            <a:xfrm>
              <a:off x="3001" y="1674"/>
              <a:ext cx="278" cy="1403"/>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A</a:t>
              </a:r>
            </a:p>
            <a:p>
              <a:pPr algn="ctr"/>
              <a:r>
                <a:rPr lang="en-US" altLang="zh-CN" sz="2800" dirty="0">
                  <a:latin typeface="Times New Roman" panose="02020603050405020304" pitchFamily="18" charset="0"/>
                </a:rPr>
                <a:t>B</a:t>
              </a:r>
            </a:p>
            <a:p>
              <a:pPr algn="ctr"/>
              <a:r>
                <a:rPr lang="en-US" altLang="zh-CN" sz="2800" dirty="0">
                  <a:latin typeface="Times New Roman" panose="02020603050405020304" pitchFamily="18" charset="0"/>
                </a:rPr>
                <a:t>C</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95274" name="Text Box 16"/>
            <p:cNvSpPr txBox="1"/>
            <p:nvPr/>
          </p:nvSpPr>
          <p:spPr>
            <a:xfrm>
              <a:off x="3674" y="1674"/>
              <a:ext cx="452" cy="1403"/>
            </a:xfrm>
            <a:prstGeom prst="rect">
              <a:avLst/>
            </a:prstGeom>
            <a:noFill/>
            <a:ln w="19050">
              <a:noFill/>
            </a:ln>
          </p:spPr>
          <p:txBody>
            <a:bodyPr>
              <a:spAutoFit/>
            </a:bodyPr>
            <a:lstStyle/>
            <a:p>
              <a:pPr algn="ctr"/>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p>
            <a:p>
              <a:pPr algn="ctr"/>
              <a:r>
                <a:rPr lang="en-US" altLang="zh-CN" sz="2800" dirty="0">
                  <a:latin typeface="Times New Roman" panose="02020603050405020304" pitchFamily="18" charset="0"/>
                </a:rPr>
                <a:t>A/1</a:t>
              </a:r>
            </a:p>
            <a:p>
              <a:pPr algn="ctr"/>
              <a:r>
                <a:rPr lang="en-US" altLang="zh-CN" sz="2800" dirty="0">
                  <a:latin typeface="Times New Roman" panose="02020603050405020304" pitchFamily="18" charset="0"/>
                </a:rPr>
                <a:t>A/0</a:t>
              </a:r>
            </a:p>
          </p:txBody>
        </p:sp>
        <p:sp>
          <p:nvSpPr>
            <p:cNvPr id="95275" name="Text Box 17"/>
            <p:cNvSpPr txBox="1"/>
            <p:nvPr/>
          </p:nvSpPr>
          <p:spPr>
            <a:xfrm>
              <a:off x="4600" y="1674"/>
              <a:ext cx="452" cy="1403"/>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p>
            <a:p>
              <a:pPr algn="ctr"/>
              <a:r>
                <a:rPr lang="en-US" altLang="zh-CN" sz="2800" dirty="0">
                  <a:latin typeface="Times New Roman" panose="02020603050405020304" pitchFamily="18" charset="0"/>
                </a:rPr>
                <a:t>A/0</a:t>
              </a:r>
            </a:p>
            <a:p>
              <a:pPr algn="ctr"/>
              <a:r>
                <a:rPr lang="en-US" altLang="zh-CN" sz="2800" dirty="0">
                  <a:latin typeface="Times New Roman" panose="02020603050405020304" pitchFamily="18" charset="0"/>
                </a:rPr>
                <a:t>A/1</a:t>
              </a:r>
            </a:p>
          </p:txBody>
        </p:sp>
      </p:grpSp>
      <p:grpSp>
        <p:nvGrpSpPr>
          <p:cNvPr id="3" name="Group 18"/>
          <p:cNvGrpSpPr/>
          <p:nvPr/>
        </p:nvGrpSpPr>
        <p:grpSpPr>
          <a:xfrm>
            <a:off x="4702175" y="3736975"/>
            <a:ext cx="3608388" cy="1938338"/>
            <a:chOff x="2944" y="2354"/>
            <a:chExt cx="2273" cy="1221"/>
          </a:xfrm>
        </p:grpSpPr>
        <p:sp>
          <p:nvSpPr>
            <p:cNvPr id="95238" name="Text Box 19"/>
            <p:cNvSpPr txBox="1"/>
            <p:nvPr/>
          </p:nvSpPr>
          <p:spPr>
            <a:xfrm>
              <a:off x="3015" y="2354"/>
              <a:ext cx="641" cy="327"/>
            </a:xfrm>
            <a:prstGeom prst="rect">
              <a:avLst/>
            </a:prstGeom>
            <a:noFill/>
            <a:ln w="19050">
              <a:noFill/>
            </a:ln>
          </p:spPr>
          <p:txBody>
            <a:bodyPr>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3</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p>
          </p:txBody>
        </p:sp>
        <p:sp>
          <p:nvSpPr>
            <p:cNvPr id="95239" name="Text Box 20"/>
            <p:cNvSpPr txBox="1"/>
            <p:nvPr/>
          </p:nvSpPr>
          <p:spPr>
            <a:xfrm>
              <a:off x="3458" y="2898"/>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A</a:t>
              </a:r>
            </a:p>
          </p:txBody>
        </p:sp>
        <p:sp>
          <p:nvSpPr>
            <p:cNvPr id="95240" name="Text Box 21"/>
            <p:cNvSpPr txBox="1"/>
            <p:nvPr/>
          </p:nvSpPr>
          <p:spPr>
            <a:xfrm>
              <a:off x="3962" y="2898"/>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B</a:t>
              </a:r>
            </a:p>
          </p:txBody>
        </p:sp>
        <p:sp>
          <p:nvSpPr>
            <p:cNvPr id="95241" name="Text Box 22"/>
            <p:cNvSpPr txBox="1"/>
            <p:nvPr/>
          </p:nvSpPr>
          <p:spPr>
            <a:xfrm>
              <a:off x="3436" y="2582"/>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95242" name="Text Box 23"/>
            <p:cNvSpPr txBox="1"/>
            <p:nvPr/>
          </p:nvSpPr>
          <p:spPr>
            <a:xfrm>
              <a:off x="3938" y="2582"/>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95243" name="Text Box 24"/>
            <p:cNvSpPr txBox="1"/>
            <p:nvPr/>
          </p:nvSpPr>
          <p:spPr>
            <a:xfrm>
              <a:off x="3074" y="289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95244" name="Text Box 25"/>
            <p:cNvSpPr txBox="1"/>
            <p:nvPr/>
          </p:nvSpPr>
          <p:spPr>
            <a:xfrm>
              <a:off x="3093" y="3242"/>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95245" name="Line 26"/>
            <p:cNvSpPr/>
            <p:nvPr/>
          </p:nvSpPr>
          <p:spPr>
            <a:xfrm>
              <a:off x="2981" y="2630"/>
              <a:ext cx="342" cy="233"/>
            </a:xfrm>
            <a:prstGeom prst="line">
              <a:avLst/>
            </a:prstGeom>
            <a:ln w="38100" cap="flat" cmpd="sng">
              <a:solidFill>
                <a:srgbClr val="3333FF"/>
              </a:solidFill>
              <a:prstDash val="solid"/>
              <a:headEnd type="none" w="med" len="med"/>
              <a:tailEnd type="none" w="sm" len="lg"/>
            </a:ln>
          </p:spPr>
        </p:sp>
        <p:sp>
          <p:nvSpPr>
            <p:cNvPr id="95246" name="Text Box 27"/>
            <p:cNvSpPr txBox="1"/>
            <p:nvPr/>
          </p:nvSpPr>
          <p:spPr>
            <a:xfrm>
              <a:off x="2944" y="2639"/>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grpSp>
          <p:nvGrpSpPr>
            <p:cNvPr id="95247" name="Group 28"/>
            <p:cNvGrpSpPr/>
            <p:nvPr/>
          </p:nvGrpSpPr>
          <p:grpSpPr>
            <a:xfrm>
              <a:off x="3337" y="2856"/>
              <a:ext cx="1880" cy="719"/>
              <a:chOff x="2652" y="1704"/>
              <a:chExt cx="2400" cy="1200"/>
            </a:xfrm>
          </p:grpSpPr>
          <p:grpSp>
            <p:nvGrpSpPr>
              <p:cNvPr id="95253" name="Group 29"/>
              <p:cNvGrpSpPr/>
              <p:nvPr/>
            </p:nvGrpSpPr>
            <p:grpSpPr>
              <a:xfrm>
                <a:off x="2652" y="1704"/>
                <a:ext cx="1200" cy="1200"/>
                <a:chOff x="1272" y="1896"/>
                <a:chExt cx="1200" cy="1200"/>
              </a:xfrm>
            </p:grpSpPr>
            <p:sp>
              <p:nvSpPr>
                <p:cNvPr id="95259" name="Rectangle 30"/>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5260" name="Rectangle 31"/>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5261" name="Rectangle 32"/>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5262" name="Rectangle 33"/>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95254" name="Group 34"/>
              <p:cNvGrpSpPr/>
              <p:nvPr/>
            </p:nvGrpSpPr>
            <p:grpSpPr>
              <a:xfrm>
                <a:off x="3852" y="1704"/>
                <a:ext cx="1200" cy="1200"/>
                <a:chOff x="1272" y="1896"/>
                <a:chExt cx="1200" cy="1200"/>
              </a:xfrm>
            </p:grpSpPr>
            <p:sp>
              <p:nvSpPr>
                <p:cNvPr id="95255" name="Rectangle 35"/>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5256" name="Rectangle 36"/>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5257" name="Rectangle 37"/>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5258" name="Rectangle 38"/>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sp>
          <p:nvSpPr>
            <p:cNvPr id="95248" name="Text Box 39"/>
            <p:cNvSpPr txBox="1"/>
            <p:nvPr/>
          </p:nvSpPr>
          <p:spPr>
            <a:xfrm>
              <a:off x="4367" y="2589"/>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95249" name="Text Box 40"/>
            <p:cNvSpPr txBox="1"/>
            <p:nvPr/>
          </p:nvSpPr>
          <p:spPr>
            <a:xfrm>
              <a:off x="4802" y="2589"/>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95250" name="Text Box 41"/>
            <p:cNvSpPr txBox="1"/>
            <p:nvPr/>
          </p:nvSpPr>
          <p:spPr>
            <a:xfrm>
              <a:off x="4428" y="2891"/>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95251" name="Text Box 42"/>
            <p:cNvSpPr txBox="1"/>
            <p:nvPr/>
          </p:nvSpPr>
          <p:spPr>
            <a:xfrm>
              <a:off x="4858" y="2891"/>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95252" name="Text Box 43"/>
            <p:cNvSpPr txBox="1"/>
            <p:nvPr/>
          </p:nvSpPr>
          <p:spPr>
            <a:xfrm>
              <a:off x="4886" y="3241"/>
              <a:ext cx="253" cy="327"/>
            </a:xfrm>
            <a:prstGeom prst="rect">
              <a:avLst/>
            </a:prstGeom>
            <a:noFill/>
            <a:ln w="19050">
              <a:noFill/>
            </a:ln>
          </p:spPr>
          <p:txBody>
            <a:bodyPr wrap="none">
              <a:spAutoFit/>
            </a:bodyPr>
            <a:lstStyle/>
            <a:p>
              <a:r>
                <a:rPr lang="en-US" altLang="zh-CN" sz="2800" dirty="0">
                  <a:latin typeface="Times New Roman" panose="02020603050405020304" pitchFamily="18" charset="0"/>
                </a:rPr>
                <a:t>E</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0034"/>
                                        </p:tgtEl>
                                        <p:attrNameLst>
                                          <p:attrName>style.visibility</p:attrName>
                                        </p:attrNameLst>
                                      </p:cBhvr>
                                      <p:to>
                                        <p:strVal val="visible"/>
                                      </p:to>
                                    </p:set>
                                    <p:animEffect transition="in" filter="wipe(left)">
                                      <p:cBhvr>
                                        <p:cTn id="7" dur="500"/>
                                        <p:tgtEl>
                                          <p:spTgt spid="300034"/>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300035"/>
                                        </p:tgtEl>
                                        <p:attrNameLst>
                                          <p:attrName>style.visibility</p:attrName>
                                        </p:attrNameLst>
                                      </p:cBhvr>
                                      <p:to>
                                        <p:strVal val="visible"/>
                                      </p:to>
                                    </p:set>
                                    <p:animEffect transition="in" filter="wipe(up)">
                                      <p:cBhvr>
                                        <p:cTn id="18" dur="5000"/>
                                        <p:tgtEl>
                                          <p:spTgt spid="300035"/>
                                        </p:tgtEl>
                                      </p:cBhvr>
                                    </p:animEffect>
                                  </p:childTnLst>
                                </p:cTn>
                              </p:par>
                            </p:childTnLst>
                          </p:cTn>
                        </p:par>
                      </p:childTnLst>
                    </p:cTn>
                  </p:par>
                  <p:par>
                    <p:cTn id="19" fill="hold">
                      <p:stCondLst>
                        <p:cond delay="indefinite"/>
                      </p:stCondLst>
                      <p:childTnLst>
                        <p:par>
                          <p:cTn id="20" fill="hold">
                            <p:stCondLst>
                              <p:cond delay="0"/>
                            </p:stCondLst>
                            <p:childTnLst>
                              <p:par>
                                <p:cTn id="21" presetID="7"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1000" fill="hold"/>
                                        <p:tgtEl>
                                          <p:spTgt spid="3"/>
                                        </p:tgtEl>
                                        <p:attrNameLst>
                                          <p:attrName>ppt_x</p:attrName>
                                        </p:attrNameLst>
                                      </p:cBhvr>
                                      <p:tavLst>
                                        <p:tav tm="0">
                                          <p:val>
                                            <p:strVal val="#ppt_x"/>
                                          </p:val>
                                        </p:tav>
                                        <p:tav tm="100000">
                                          <p:val>
                                            <p:strVal val="#ppt_x"/>
                                          </p:val>
                                        </p:tav>
                                      </p:tavLst>
                                    </p:anim>
                                    <p:anim calcmode="lin" valueType="num">
                                      <p:cBhvr additive="base">
                                        <p:cTn id="24" dur="10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4" grpId="0"/>
      <p:bldP spid="300035"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538663" y="2427288"/>
            <a:ext cx="4083050" cy="3810000"/>
            <a:chOff x="2835" y="1217"/>
            <a:chExt cx="2572" cy="2400"/>
          </a:xfrm>
        </p:grpSpPr>
        <p:sp>
          <p:nvSpPr>
            <p:cNvPr id="96299" name="Line 3"/>
            <p:cNvSpPr/>
            <p:nvPr/>
          </p:nvSpPr>
          <p:spPr>
            <a:xfrm>
              <a:off x="2900" y="1217"/>
              <a:ext cx="2463" cy="0"/>
            </a:xfrm>
            <a:prstGeom prst="line">
              <a:avLst/>
            </a:prstGeom>
            <a:ln w="38100" cap="flat" cmpd="sng">
              <a:solidFill>
                <a:schemeClr val="tx1"/>
              </a:solidFill>
              <a:prstDash val="solid"/>
              <a:headEnd type="none" w="med" len="med"/>
              <a:tailEnd type="none" w="sm" len="lg"/>
            </a:ln>
          </p:spPr>
        </p:sp>
        <p:sp>
          <p:nvSpPr>
            <p:cNvPr id="96300" name="Line 4"/>
            <p:cNvSpPr/>
            <p:nvPr/>
          </p:nvSpPr>
          <p:spPr>
            <a:xfrm>
              <a:off x="2945" y="3604"/>
              <a:ext cx="2462" cy="0"/>
            </a:xfrm>
            <a:prstGeom prst="line">
              <a:avLst/>
            </a:prstGeom>
            <a:ln w="38100" cap="flat" cmpd="sng">
              <a:solidFill>
                <a:schemeClr val="tx1"/>
              </a:solidFill>
              <a:prstDash val="solid"/>
              <a:headEnd type="none" w="med" len="med"/>
              <a:tailEnd type="none" w="sm" len="lg"/>
            </a:ln>
          </p:spPr>
        </p:sp>
        <p:sp>
          <p:nvSpPr>
            <p:cNvPr id="96301" name="Line 5"/>
            <p:cNvSpPr/>
            <p:nvPr/>
          </p:nvSpPr>
          <p:spPr>
            <a:xfrm>
              <a:off x="3491" y="1217"/>
              <a:ext cx="0" cy="2395"/>
            </a:xfrm>
            <a:prstGeom prst="line">
              <a:avLst/>
            </a:prstGeom>
            <a:ln w="19050" cap="flat" cmpd="sng">
              <a:solidFill>
                <a:schemeClr val="tx1"/>
              </a:solidFill>
              <a:prstDash val="solid"/>
              <a:headEnd type="none" w="med" len="med"/>
              <a:tailEnd type="none" w="sm" len="lg"/>
            </a:ln>
          </p:spPr>
        </p:sp>
        <p:sp>
          <p:nvSpPr>
            <p:cNvPr id="96302" name="Line 6"/>
            <p:cNvSpPr/>
            <p:nvPr/>
          </p:nvSpPr>
          <p:spPr>
            <a:xfrm>
              <a:off x="4377" y="1686"/>
              <a:ext cx="0" cy="1931"/>
            </a:xfrm>
            <a:prstGeom prst="line">
              <a:avLst/>
            </a:prstGeom>
            <a:ln w="19050" cap="flat" cmpd="sng">
              <a:solidFill>
                <a:schemeClr val="tx1"/>
              </a:solidFill>
              <a:prstDash val="solid"/>
              <a:headEnd type="none" w="med" len="med"/>
              <a:tailEnd type="none" w="sm" len="lg"/>
            </a:ln>
          </p:spPr>
        </p:sp>
        <p:sp>
          <p:nvSpPr>
            <p:cNvPr id="96303" name="Line 7"/>
            <p:cNvSpPr/>
            <p:nvPr/>
          </p:nvSpPr>
          <p:spPr>
            <a:xfrm>
              <a:off x="3491" y="1673"/>
              <a:ext cx="1865" cy="0"/>
            </a:xfrm>
            <a:prstGeom prst="line">
              <a:avLst/>
            </a:prstGeom>
            <a:ln w="12700" cap="flat" cmpd="sng">
              <a:solidFill>
                <a:schemeClr val="tx1"/>
              </a:solidFill>
              <a:prstDash val="solid"/>
              <a:headEnd type="none" w="med" len="med"/>
              <a:tailEnd type="none" w="sm" len="lg"/>
            </a:ln>
          </p:spPr>
        </p:sp>
        <p:sp>
          <p:nvSpPr>
            <p:cNvPr id="96304" name="Line 8"/>
            <p:cNvSpPr/>
            <p:nvPr/>
          </p:nvSpPr>
          <p:spPr>
            <a:xfrm>
              <a:off x="2887" y="2035"/>
              <a:ext cx="2462" cy="0"/>
            </a:xfrm>
            <a:prstGeom prst="line">
              <a:avLst/>
            </a:prstGeom>
            <a:ln w="12700" cap="flat" cmpd="sng">
              <a:solidFill>
                <a:schemeClr val="tx1"/>
              </a:solidFill>
              <a:prstDash val="solid"/>
              <a:headEnd type="none" w="med" len="med"/>
              <a:tailEnd type="none" w="sm" len="lg"/>
            </a:ln>
          </p:spPr>
        </p:sp>
        <p:sp>
          <p:nvSpPr>
            <p:cNvPr id="96305" name="Text Box 9"/>
            <p:cNvSpPr txBox="1"/>
            <p:nvPr/>
          </p:nvSpPr>
          <p:spPr>
            <a:xfrm>
              <a:off x="2835" y="1510"/>
              <a:ext cx="725" cy="288"/>
            </a:xfrm>
            <a:prstGeom prst="rect">
              <a:avLst/>
            </a:prstGeom>
            <a:noFill/>
            <a:ln w="19050">
              <a:noFill/>
            </a:ln>
          </p:spPr>
          <p:txBody>
            <a:bodyPr wrap="none">
              <a:spAutoFit/>
            </a:bodyPr>
            <a:lstStyle/>
            <a:p>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1</a:t>
              </a:r>
            </a:p>
          </p:txBody>
        </p:sp>
        <p:sp>
          <p:nvSpPr>
            <p:cNvPr id="96306" name="Text Box 10"/>
            <p:cNvSpPr txBox="1"/>
            <p:nvPr/>
          </p:nvSpPr>
          <p:spPr>
            <a:xfrm>
              <a:off x="3847" y="1286"/>
              <a:ext cx="1074"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96307" name="Text Box 11"/>
            <p:cNvSpPr txBox="1"/>
            <p:nvPr/>
          </p:nvSpPr>
          <p:spPr>
            <a:xfrm>
              <a:off x="3767" y="1653"/>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96308" name="Text Box 12"/>
            <p:cNvSpPr txBox="1"/>
            <p:nvPr/>
          </p:nvSpPr>
          <p:spPr>
            <a:xfrm>
              <a:off x="4693" y="1653"/>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96309" name="Text Box 13"/>
            <p:cNvSpPr txBox="1"/>
            <p:nvPr/>
          </p:nvSpPr>
          <p:spPr>
            <a:xfrm>
              <a:off x="2908" y="2082"/>
              <a:ext cx="452" cy="1403"/>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000</a:t>
              </a:r>
            </a:p>
            <a:p>
              <a:pPr algn="ctr"/>
              <a:r>
                <a:rPr lang="en-US" altLang="zh-CN" sz="2800" dirty="0">
                  <a:latin typeface="Times New Roman" panose="02020603050405020304" pitchFamily="18" charset="0"/>
                </a:rPr>
                <a:t>010</a:t>
              </a:r>
            </a:p>
            <a:p>
              <a:pPr algn="ctr"/>
              <a:r>
                <a:rPr lang="en-US" altLang="zh-CN" sz="2800" dirty="0">
                  <a:latin typeface="Times New Roman" panose="02020603050405020304" pitchFamily="18" charset="0"/>
                </a:rPr>
                <a:t>110</a:t>
              </a:r>
            </a:p>
            <a:p>
              <a:pPr algn="ctr"/>
              <a:r>
                <a:rPr lang="en-US" altLang="zh-CN" sz="2800" dirty="0">
                  <a:latin typeface="Times New Roman" panose="02020603050405020304" pitchFamily="18" charset="0"/>
                </a:rPr>
                <a:t>100</a:t>
              </a:r>
            </a:p>
            <a:p>
              <a:pPr algn="ctr"/>
              <a:r>
                <a:rPr lang="en-US" altLang="zh-CN" sz="2800" dirty="0">
                  <a:latin typeface="Times New Roman" panose="02020603050405020304" pitchFamily="18" charset="0"/>
                </a:rPr>
                <a:t>101</a:t>
              </a:r>
              <a:endParaRPr lang="en-US" altLang="zh-CN" sz="2800" baseline="-25000" dirty="0">
                <a:latin typeface="Times New Roman" panose="02020603050405020304" pitchFamily="18" charset="0"/>
              </a:endParaRPr>
            </a:p>
          </p:txBody>
        </p:sp>
        <p:sp>
          <p:nvSpPr>
            <p:cNvPr id="96310" name="Text Box 14"/>
            <p:cNvSpPr txBox="1"/>
            <p:nvPr/>
          </p:nvSpPr>
          <p:spPr>
            <a:xfrm>
              <a:off x="3668" y="2082"/>
              <a:ext cx="644" cy="1403"/>
            </a:xfrm>
            <a:prstGeom prst="rect">
              <a:avLst/>
            </a:prstGeom>
            <a:noFill/>
            <a:ln w="19050">
              <a:noFill/>
            </a:ln>
          </p:spPr>
          <p:txBody>
            <a:bodyPr>
              <a:spAutoFit/>
            </a:bodyPr>
            <a:lstStyle/>
            <a:p>
              <a:pPr algn="ctr"/>
              <a:r>
                <a:rPr lang="en-US" altLang="zh-CN" sz="2800" dirty="0">
                  <a:latin typeface="Times New Roman" panose="02020603050405020304" pitchFamily="18" charset="0"/>
                </a:rPr>
                <a:t>010/0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100/0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101/0</a:t>
              </a:r>
            </a:p>
            <a:p>
              <a:pPr algn="ctr"/>
              <a:r>
                <a:rPr lang="en-US" altLang="zh-CN" sz="2800" dirty="0">
                  <a:latin typeface="Times New Roman" panose="02020603050405020304" pitchFamily="18" charset="0"/>
                </a:rPr>
                <a:t>000/1</a:t>
              </a:r>
            </a:p>
            <a:p>
              <a:pPr algn="ctr"/>
              <a:r>
                <a:rPr lang="en-US" altLang="zh-CN" sz="2800" dirty="0">
                  <a:latin typeface="Times New Roman" panose="02020603050405020304" pitchFamily="18" charset="0"/>
                </a:rPr>
                <a:t>000/0</a:t>
              </a:r>
            </a:p>
          </p:txBody>
        </p:sp>
        <p:sp>
          <p:nvSpPr>
            <p:cNvPr id="96311" name="Text Box 15"/>
            <p:cNvSpPr txBox="1"/>
            <p:nvPr/>
          </p:nvSpPr>
          <p:spPr>
            <a:xfrm>
              <a:off x="4534" y="2082"/>
              <a:ext cx="776" cy="1403"/>
            </a:xfrm>
            <a:prstGeom prst="rect">
              <a:avLst/>
            </a:prstGeom>
            <a:noFill/>
            <a:ln w="19050">
              <a:noFill/>
            </a:ln>
          </p:spPr>
          <p:txBody>
            <a:bodyPr>
              <a:spAutoFit/>
            </a:bodyPr>
            <a:lstStyle/>
            <a:p>
              <a:pPr algn="ctr"/>
              <a:r>
                <a:rPr lang="en-US" altLang="zh-CN" sz="2800" dirty="0">
                  <a:latin typeface="Times New Roman" panose="02020603050405020304" pitchFamily="18" charset="0"/>
                </a:rPr>
                <a:t>110/0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101/0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100/0</a:t>
              </a:r>
            </a:p>
            <a:p>
              <a:pPr algn="ctr"/>
              <a:r>
                <a:rPr lang="en-US" altLang="zh-CN" sz="2800" dirty="0">
                  <a:latin typeface="Times New Roman" panose="02020603050405020304" pitchFamily="18" charset="0"/>
                </a:rPr>
                <a:t>000/0</a:t>
              </a:r>
            </a:p>
            <a:p>
              <a:pPr algn="ctr"/>
              <a:r>
                <a:rPr lang="en-US" altLang="zh-CN" sz="2800" dirty="0">
                  <a:latin typeface="Times New Roman" panose="02020603050405020304" pitchFamily="18" charset="0"/>
                </a:rPr>
                <a:t>000/1</a:t>
              </a:r>
            </a:p>
          </p:txBody>
        </p:sp>
      </p:grpSp>
      <p:grpSp>
        <p:nvGrpSpPr>
          <p:cNvPr id="3" name="Group 16"/>
          <p:cNvGrpSpPr/>
          <p:nvPr/>
        </p:nvGrpSpPr>
        <p:grpSpPr>
          <a:xfrm>
            <a:off x="233363" y="2433638"/>
            <a:ext cx="4083050" cy="3810000"/>
            <a:chOff x="2841" y="809"/>
            <a:chExt cx="2572" cy="2400"/>
          </a:xfrm>
        </p:grpSpPr>
        <p:sp>
          <p:nvSpPr>
            <p:cNvPr id="96286" name="Line 17"/>
            <p:cNvSpPr/>
            <p:nvPr/>
          </p:nvSpPr>
          <p:spPr>
            <a:xfrm>
              <a:off x="2906" y="809"/>
              <a:ext cx="2463" cy="0"/>
            </a:xfrm>
            <a:prstGeom prst="line">
              <a:avLst/>
            </a:prstGeom>
            <a:ln w="38100" cap="flat" cmpd="sng">
              <a:solidFill>
                <a:schemeClr val="tx1"/>
              </a:solidFill>
              <a:prstDash val="solid"/>
              <a:headEnd type="none" w="med" len="med"/>
              <a:tailEnd type="none" w="sm" len="lg"/>
            </a:ln>
          </p:spPr>
        </p:sp>
        <p:sp>
          <p:nvSpPr>
            <p:cNvPr id="96287" name="Line 18"/>
            <p:cNvSpPr/>
            <p:nvPr/>
          </p:nvSpPr>
          <p:spPr>
            <a:xfrm>
              <a:off x="2951" y="3196"/>
              <a:ext cx="2462" cy="0"/>
            </a:xfrm>
            <a:prstGeom prst="line">
              <a:avLst/>
            </a:prstGeom>
            <a:ln w="38100" cap="flat" cmpd="sng">
              <a:solidFill>
                <a:schemeClr val="tx1"/>
              </a:solidFill>
              <a:prstDash val="solid"/>
              <a:headEnd type="none" w="med" len="med"/>
              <a:tailEnd type="none" w="sm" len="lg"/>
            </a:ln>
          </p:spPr>
        </p:sp>
        <p:sp>
          <p:nvSpPr>
            <p:cNvPr id="96288" name="Line 19"/>
            <p:cNvSpPr/>
            <p:nvPr/>
          </p:nvSpPr>
          <p:spPr>
            <a:xfrm>
              <a:off x="3497" y="809"/>
              <a:ext cx="0" cy="2395"/>
            </a:xfrm>
            <a:prstGeom prst="line">
              <a:avLst/>
            </a:prstGeom>
            <a:ln w="19050" cap="flat" cmpd="sng">
              <a:solidFill>
                <a:schemeClr val="tx1"/>
              </a:solidFill>
              <a:prstDash val="solid"/>
              <a:headEnd type="none" w="med" len="med"/>
              <a:tailEnd type="none" w="sm" len="lg"/>
            </a:ln>
          </p:spPr>
        </p:sp>
        <p:sp>
          <p:nvSpPr>
            <p:cNvPr id="96289" name="Line 20"/>
            <p:cNvSpPr/>
            <p:nvPr/>
          </p:nvSpPr>
          <p:spPr>
            <a:xfrm>
              <a:off x="4383" y="1278"/>
              <a:ext cx="0" cy="1931"/>
            </a:xfrm>
            <a:prstGeom prst="line">
              <a:avLst/>
            </a:prstGeom>
            <a:ln w="19050" cap="flat" cmpd="sng">
              <a:solidFill>
                <a:schemeClr val="tx1"/>
              </a:solidFill>
              <a:prstDash val="solid"/>
              <a:headEnd type="none" w="med" len="med"/>
              <a:tailEnd type="none" w="sm" len="lg"/>
            </a:ln>
          </p:spPr>
        </p:sp>
        <p:sp>
          <p:nvSpPr>
            <p:cNvPr id="96290" name="Line 21"/>
            <p:cNvSpPr/>
            <p:nvPr/>
          </p:nvSpPr>
          <p:spPr>
            <a:xfrm>
              <a:off x="3497" y="1265"/>
              <a:ext cx="1865" cy="0"/>
            </a:xfrm>
            <a:prstGeom prst="line">
              <a:avLst/>
            </a:prstGeom>
            <a:ln w="12700" cap="flat" cmpd="sng">
              <a:solidFill>
                <a:schemeClr val="tx1"/>
              </a:solidFill>
              <a:prstDash val="solid"/>
              <a:headEnd type="none" w="med" len="med"/>
              <a:tailEnd type="none" w="sm" len="lg"/>
            </a:ln>
          </p:spPr>
        </p:sp>
        <p:sp>
          <p:nvSpPr>
            <p:cNvPr id="96291" name="Line 22"/>
            <p:cNvSpPr/>
            <p:nvPr/>
          </p:nvSpPr>
          <p:spPr>
            <a:xfrm>
              <a:off x="2893" y="1627"/>
              <a:ext cx="2462" cy="0"/>
            </a:xfrm>
            <a:prstGeom prst="line">
              <a:avLst/>
            </a:prstGeom>
            <a:ln w="12700" cap="flat" cmpd="sng">
              <a:solidFill>
                <a:schemeClr val="tx1"/>
              </a:solidFill>
              <a:prstDash val="solid"/>
              <a:headEnd type="none" w="med" len="med"/>
              <a:tailEnd type="none" w="sm" len="lg"/>
            </a:ln>
          </p:spPr>
        </p:sp>
        <p:sp>
          <p:nvSpPr>
            <p:cNvPr id="96292" name="Text Box 23"/>
            <p:cNvSpPr txBox="1"/>
            <p:nvPr/>
          </p:nvSpPr>
          <p:spPr>
            <a:xfrm>
              <a:off x="2841" y="1056"/>
              <a:ext cx="564" cy="327"/>
            </a:xfrm>
            <a:prstGeom prst="rect">
              <a:avLst/>
            </a:prstGeom>
            <a:noFill/>
            <a:ln w="19050">
              <a:noFill/>
            </a:ln>
          </p:spPr>
          <p:txBody>
            <a:bodyPr wrap="none">
              <a:spAutoFit/>
            </a:bodyPr>
            <a:lstStyle/>
            <a:p>
              <a:r>
                <a:rPr lang="zh-CN" altLang="zh-CN" sz="2800" dirty="0">
                  <a:latin typeface="Times New Roman" panose="02020603050405020304" pitchFamily="18" charset="0"/>
                </a:rPr>
                <a:t>现态</a:t>
              </a:r>
            </a:p>
          </p:txBody>
        </p:sp>
        <p:sp>
          <p:nvSpPr>
            <p:cNvPr id="96293" name="Text Box 24"/>
            <p:cNvSpPr txBox="1"/>
            <p:nvPr/>
          </p:nvSpPr>
          <p:spPr>
            <a:xfrm>
              <a:off x="3853" y="878"/>
              <a:ext cx="1074" cy="327"/>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96294" name="Text Box 25"/>
            <p:cNvSpPr txBox="1"/>
            <p:nvPr/>
          </p:nvSpPr>
          <p:spPr>
            <a:xfrm>
              <a:off x="3773" y="1245"/>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96295" name="Text Box 26"/>
            <p:cNvSpPr txBox="1"/>
            <p:nvPr/>
          </p:nvSpPr>
          <p:spPr>
            <a:xfrm>
              <a:off x="4699" y="1245"/>
              <a:ext cx="453" cy="327"/>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96296" name="Text Box 27"/>
            <p:cNvSpPr txBox="1"/>
            <p:nvPr/>
          </p:nvSpPr>
          <p:spPr>
            <a:xfrm>
              <a:off x="3001" y="1674"/>
              <a:ext cx="278" cy="1403"/>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A</a:t>
              </a:r>
            </a:p>
            <a:p>
              <a:pPr algn="ctr"/>
              <a:r>
                <a:rPr lang="en-US" altLang="zh-CN" sz="2800" dirty="0">
                  <a:latin typeface="Times New Roman" panose="02020603050405020304" pitchFamily="18" charset="0"/>
                </a:rPr>
                <a:t>B</a:t>
              </a:r>
            </a:p>
            <a:p>
              <a:pPr algn="ctr"/>
              <a:r>
                <a:rPr lang="en-US" altLang="zh-CN" sz="2800" dirty="0">
                  <a:latin typeface="Times New Roman" panose="02020603050405020304" pitchFamily="18" charset="0"/>
                </a:rPr>
                <a:t>C</a:t>
              </a:r>
            </a:p>
            <a:p>
              <a:pPr algn="ctr"/>
              <a:r>
                <a:rPr lang="en-US" altLang="zh-CN" sz="2800" dirty="0">
                  <a:latin typeface="Times New Roman" panose="02020603050405020304" pitchFamily="18" charset="0"/>
                </a:rPr>
                <a:t>D</a:t>
              </a:r>
            </a:p>
            <a:p>
              <a:pPr algn="ctr"/>
              <a:r>
                <a:rPr lang="en-US" altLang="zh-CN" sz="2800" dirty="0">
                  <a:latin typeface="Times New Roman" panose="02020603050405020304" pitchFamily="18" charset="0"/>
                </a:rPr>
                <a:t>E</a:t>
              </a:r>
              <a:endParaRPr lang="en-US" altLang="zh-CN" sz="2800" baseline="-25000" dirty="0">
                <a:latin typeface="Times New Roman" panose="02020603050405020304" pitchFamily="18" charset="0"/>
              </a:endParaRPr>
            </a:p>
          </p:txBody>
        </p:sp>
        <p:sp>
          <p:nvSpPr>
            <p:cNvPr id="96297" name="Text Box 28"/>
            <p:cNvSpPr txBox="1"/>
            <p:nvPr/>
          </p:nvSpPr>
          <p:spPr>
            <a:xfrm>
              <a:off x="3674" y="1674"/>
              <a:ext cx="452" cy="1403"/>
            </a:xfrm>
            <a:prstGeom prst="rect">
              <a:avLst/>
            </a:prstGeom>
            <a:noFill/>
            <a:ln w="19050">
              <a:noFill/>
            </a:ln>
          </p:spPr>
          <p:txBody>
            <a:bodyPr>
              <a:spAutoFit/>
            </a:bodyPr>
            <a:lstStyle/>
            <a:p>
              <a:pPr algn="ctr"/>
              <a:r>
                <a:rPr lang="en-US" altLang="zh-CN" sz="2800" dirty="0">
                  <a:latin typeface="Times New Roman" panose="02020603050405020304" pitchFamily="18" charset="0"/>
                </a:rPr>
                <a:t>B/0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p>
            <a:p>
              <a:pPr algn="ctr"/>
              <a:r>
                <a:rPr lang="en-US" altLang="zh-CN" sz="2800" dirty="0">
                  <a:latin typeface="Times New Roman" panose="02020603050405020304" pitchFamily="18" charset="0"/>
                </a:rPr>
                <a:t>A/1</a:t>
              </a:r>
            </a:p>
            <a:p>
              <a:pPr algn="ctr"/>
              <a:r>
                <a:rPr lang="en-US" altLang="zh-CN" sz="2800" dirty="0">
                  <a:latin typeface="Times New Roman" panose="02020603050405020304" pitchFamily="18" charset="0"/>
                </a:rPr>
                <a:t>A/0</a:t>
              </a:r>
            </a:p>
          </p:txBody>
        </p:sp>
        <p:sp>
          <p:nvSpPr>
            <p:cNvPr id="96298" name="Text Box 29"/>
            <p:cNvSpPr txBox="1"/>
            <p:nvPr/>
          </p:nvSpPr>
          <p:spPr>
            <a:xfrm>
              <a:off x="4600" y="1674"/>
              <a:ext cx="452" cy="1403"/>
            </a:xfrm>
            <a:prstGeom prst="rect">
              <a:avLst/>
            </a:prstGeom>
            <a:noFill/>
            <a:ln w="19050">
              <a:noFill/>
            </a:ln>
          </p:spPr>
          <p:txBody>
            <a:bodyPr wrap="none">
              <a:spAutoFit/>
            </a:bodyPr>
            <a:lstStyle/>
            <a:p>
              <a:pPr algn="ctr"/>
              <a:r>
                <a:rPr lang="en-US" altLang="zh-CN" sz="2800" dirty="0">
                  <a:latin typeface="Times New Roman" panose="02020603050405020304" pitchFamily="18" charset="0"/>
                </a:rPr>
                <a:t>C/0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E/0</a:t>
              </a:r>
              <a:endParaRPr lang="en-US" altLang="zh-CN" sz="2800" baseline="-25000" dirty="0">
                <a:latin typeface="Times New Roman" panose="02020603050405020304" pitchFamily="18" charset="0"/>
              </a:endParaRPr>
            </a:p>
            <a:p>
              <a:pPr algn="ctr"/>
              <a:r>
                <a:rPr lang="en-US" altLang="zh-CN" sz="2800" dirty="0">
                  <a:latin typeface="Times New Roman" panose="02020603050405020304" pitchFamily="18" charset="0"/>
                </a:rPr>
                <a:t>D/0</a:t>
              </a:r>
            </a:p>
            <a:p>
              <a:pPr algn="ctr"/>
              <a:r>
                <a:rPr lang="en-US" altLang="zh-CN" sz="2800" dirty="0">
                  <a:latin typeface="Times New Roman" panose="02020603050405020304" pitchFamily="18" charset="0"/>
                </a:rPr>
                <a:t>A/0</a:t>
              </a:r>
            </a:p>
            <a:p>
              <a:pPr algn="ctr"/>
              <a:r>
                <a:rPr lang="en-US" altLang="zh-CN" sz="2800" dirty="0">
                  <a:latin typeface="Times New Roman" panose="02020603050405020304" pitchFamily="18" charset="0"/>
                </a:rPr>
                <a:t>A/1</a:t>
              </a:r>
            </a:p>
          </p:txBody>
        </p:sp>
      </p:grpSp>
      <p:grpSp>
        <p:nvGrpSpPr>
          <p:cNvPr id="4" name="Group 30"/>
          <p:cNvGrpSpPr/>
          <p:nvPr/>
        </p:nvGrpSpPr>
        <p:grpSpPr>
          <a:xfrm>
            <a:off x="2578100" y="247650"/>
            <a:ext cx="3608388" cy="1938338"/>
            <a:chOff x="2944" y="2354"/>
            <a:chExt cx="2273" cy="1221"/>
          </a:xfrm>
        </p:grpSpPr>
        <p:sp>
          <p:nvSpPr>
            <p:cNvPr id="96261" name="Text Box 31"/>
            <p:cNvSpPr txBox="1"/>
            <p:nvPr/>
          </p:nvSpPr>
          <p:spPr>
            <a:xfrm>
              <a:off x="3015" y="2354"/>
              <a:ext cx="641" cy="327"/>
            </a:xfrm>
            <a:prstGeom prst="rect">
              <a:avLst/>
            </a:prstGeom>
            <a:noFill/>
            <a:ln w="19050">
              <a:noFill/>
            </a:ln>
          </p:spPr>
          <p:txBody>
            <a:bodyPr>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3</a:t>
              </a:r>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2</a:t>
              </a:r>
            </a:p>
          </p:txBody>
        </p:sp>
        <p:sp>
          <p:nvSpPr>
            <p:cNvPr id="96262" name="Text Box 32"/>
            <p:cNvSpPr txBox="1"/>
            <p:nvPr/>
          </p:nvSpPr>
          <p:spPr>
            <a:xfrm>
              <a:off x="3458" y="2898"/>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A</a:t>
              </a:r>
            </a:p>
          </p:txBody>
        </p:sp>
        <p:sp>
          <p:nvSpPr>
            <p:cNvPr id="96263" name="Text Box 33"/>
            <p:cNvSpPr txBox="1"/>
            <p:nvPr/>
          </p:nvSpPr>
          <p:spPr>
            <a:xfrm>
              <a:off x="3962" y="2898"/>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B</a:t>
              </a:r>
            </a:p>
          </p:txBody>
        </p:sp>
        <p:sp>
          <p:nvSpPr>
            <p:cNvPr id="96264" name="Text Box 34"/>
            <p:cNvSpPr txBox="1"/>
            <p:nvPr/>
          </p:nvSpPr>
          <p:spPr>
            <a:xfrm>
              <a:off x="3436" y="2582"/>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00</a:t>
              </a:r>
            </a:p>
          </p:txBody>
        </p:sp>
        <p:sp>
          <p:nvSpPr>
            <p:cNvPr id="96265" name="Text Box 35"/>
            <p:cNvSpPr txBox="1"/>
            <p:nvPr/>
          </p:nvSpPr>
          <p:spPr>
            <a:xfrm>
              <a:off x="3938" y="2582"/>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01</a:t>
              </a:r>
            </a:p>
          </p:txBody>
        </p:sp>
        <p:sp>
          <p:nvSpPr>
            <p:cNvPr id="96266" name="Text Box 36"/>
            <p:cNvSpPr txBox="1"/>
            <p:nvPr/>
          </p:nvSpPr>
          <p:spPr>
            <a:xfrm>
              <a:off x="3074" y="2898"/>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0</a:t>
              </a:r>
            </a:p>
          </p:txBody>
        </p:sp>
        <p:sp>
          <p:nvSpPr>
            <p:cNvPr id="96267" name="Text Box 37"/>
            <p:cNvSpPr txBox="1"/>
            <p:nvPr/>
          </p:nvSpPr>
          <p:spPr>
            <a:xfrm>
              <a:off x="3093" y="3242"/>
              <a:ext cx="228" cy="327"/>
            </a:xfrm>
            <a:prstGeom prst="rect">
              <a:avLst/>
            </a:prstGeom>
            <a:noFill/>
            <a:ln w="19050">
              <a:noFill/>
            </a:ln>
          </p:spPr>
          <p:txBody>
            <a:bodyPr wrap="none">
              <a:spAutoFit/>
            </a:bodyPr>
            <a:lstStyle/>
            <a:p>
              <a:r>
                <a:rPr lang="en-US" altLang="zh-CN" sz="2800" dirty="0">
                  <a:latin typeface="Times New Roman" panose="02020603050405020304" pitchFamily="18" charset="0"/>
                </a:rPr>
                <a:t>1</a:t>
              </a:r>
            </a:p>
          </p:txBody>
        </p:sp>
        <p:sp>
          <p:nvSpPr>
            <p:cNvPr id="96268" name="Line 38"/>
            <p:cNvSpPr/>
            <p:nvPr/>
          </p:nvSpPr>
          <p:spPr>
            <a:xfrm>
              <a:off x="2981" y="2630"/>
              <a:ext cx="342" cy="233"/>
            </a:xfrm>
            <a:prstGeom prst="line">
              <a:avLst/>
            </a:prstGeom>
            <a:ln w="38100" cap="flat" cmpd="sng">
              <a:solidFill>
                <a:srgbClr val="3333FF"/>
              </a:solidFill>
              <a:prstDash val="solid"/>
              <a:headEnd type="none" w="med" len="med"/>
              <a:tailEnd type="none" w="sm" len="lg"/>
            </a:ln>
          </p:spPr>
        </p:sp>
        <p:sp>
          <p:nvSpPr>
            <p:cNvPr id="96269" name="Text Box 39"/>
            <p:cNvSpPr txBox="1"/>
            <p:nvPr/>
          </p:nvSpPr>
          <p:spPr>
            <a:xfrm>
              <a:off x="2944" y="2639"/>
              <a:ext cx="304" cy="327"/>
            </a:xfrm>
            <a:prstGeom prst="rect">
              <a:avLst/>
            </a:prstGeom>
            <a:noFill/>
            <a:ln w="19050">
              <a:noFill/>
            </a:ln>
          </p:spPr>
          <p:txBody>
            <a:bodyPr wrap="none">
              <a:spAutoFit/>
            </a:bodyPr>
            <a:lstStyle/>
            <a:p>
              <a:r>
                <a:rPr lang="en-US" altLang="zh-CN" sz="2800" dirty="0">
                  <a:latin typeface="Times New Roman" panose="02020603050405020304" pitchFamily="18" charset="0"/>
                </a:rPr>
                <a:t>y</a:t>
              </a:r>
              <a:r>
                <a:rPr lang="en-US" altLang="zh-CN" sz="2800" baseline="-25000" dirty="0">
                  <a:latin typeface="Times New Roman" panose="02020603050405020304" pitchFamily="18" charset="0"/>
                </a:rPr>
                <a:t>1</a:t>
              </a:r>
            </a:p>
          </p:txBody>
        </p:sp>
        <p:grpSp>
          <p:nvGrpSpPr>
            <p:cNvPr id="96270" name="Group 40"/>
            <p:cNvGrpSpPr/>
            <p:nvPr/>
          </p:nvGrpSpPr>
          <p:grpSpPr>
            <a:xfrm>
              <a:off x="3337" y="2856"/>
              <a:ext cx="1880" cy="719"/>
              <a:chOff x="2652" y="1704"/>
              <a:chExt cx="2400" cy="1200"/>
            </a:xfrm>
          </p:grpSpPr>
          <p:grpSp>
            <p:nvGrpSpPr>
              <p:cNvPr id="96276" name="Group 41"/>
              <p:cNvGrpSpPr/>
              <p:nvPr/>
            </p:nvGrpSpPr>
            <p:grpSpPr>
              <a:xfrm>
                <a:off x="2652" y="1704"/>
                <a:ext cx="1200" cy="1200"/>
                <a:chOff x="1272" y="1896"/>
                <a:chExt cx="1200" cy="1200"/>
              </a:xfrm>
            </p:grpSpPr>
            <p:sp>
              <p:nvSpPr>
                <p:cNvPr id="96282" name="Rectangle 42"/>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6283" name="Rectangle 43"/>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6284" name="Rectangle 44"/>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6285" name="Rectangle 45"/>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nvGrpSpPr>
              <p:cNvPr id="96277" name="Group 46"/>
              <p:cNvGrpSpPr/>
              <p:nvPr/>
            </p:nvGrpSpPr>
            <p:grpSpPr>
              <a:xfrm>
                <a:off x="3852" y="1704"/>
                <a:ext cx="1200" cy="1200"/>
                <a:chOff x="1272" y="1896"/>
                <a:chExt cx="1200" cy="1200"/>
              </a:xfrm>
            </p:grpSpPr>
            <p:sp>
              <p:nvSpPr>
                <p:cNvPr id="96278" name="Rectangle 47"/>
                <p:cNvSpPr/>
                <p:nvPr/>
              </p:nvSpPr>
              <p:spPr>
                <a:xfrm>
                  <a:off x="12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6279" name="Rectangle 48"/>
                <p:cNvSpPr/>
                <p:nvPr/>
              </p:nvSpPr>
              <p:spPr>
                <a:xfrm>
                  <a:off x="1872" y="18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6280" name="Rectangle 49"/>
                <p:cNvSpPr/>
                <p:nvPr/>
              </p:nvSpPr>
              <p:spPr>
                <a:xfrm>
                  <a:off x="18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sp>
              <p:nvSpPr>
                <p:cNvPr id="96281" name="Rectangle 50"/>
                <p:cNvSpPr/>
                <p:nvPr/>
              </p:nvSpPr>
              <p:spPr>
                <a:xfrm>
                  <a:off x="1272" y="2496"/>
                  <a:ext cx="600" cy="600"/>
                </a:xfrm>
                <a:prstGeom prst="rect">
                  <a:avLst/>
                </a:prstGeom>
                <a:noFill/>
                <a:ln w="38100" cap="flat" cmpd="sng">
                  <a:solidFill>
                    <a:srgbClr val="3333FF"/>
                  </a:solidFill>
                  <a:prstDash val="solid"/>
                  <a:miter/>
                  <a:headEnd type="none" w="med" len="med"/>
                  <a:tailEnd type="none" w="sm" len="lg"/>
                </a:ln>
              </p:spPr>
              <p:txBody>
                <a:bodyPr wrap="none" anchor="ctr" anchorCtr="0"/>
                <a:lstStyle/>
                <a:p>
                  <a:endParaRPr lang="zh-CN" altLang="en-US" sz="2800" dirty="0">
                    <a:latin typeface="Times New Roman" panose="02020603050405020304" pitchFamily="18" charset="0"/>
                  </a:endParaRPr>
                </a:p>
              </p:txBody>
            </p:sp>
          </p:grpSp>
        </p:grpSp>
        <p:sp>
          <p:nvSpPr>
            <p:cNvPr id="96271" name="Text Box 51"/>
            <p:cNvSpPr txBox="1"/>
            <p:nvPr/>
          </p:nvSpPr>
          <p:spPr>
            <a:xfrm>
              <a:off x="4367" y="2589"/>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11</a:t>
              </a:r>
            </a:p>
          </p:txBody>
        </p:sp>
        <p:sp>
          <p:nvSpPr>
            <p:cNvPr id="96272" name="Text Box 52"/>
            <p:cNvSpPr txBox="1"/>
            <p:nvPr/>
          </p:nvSpPr>
          <p:spPr>
            <a:xfrm>
              <a:off x="4802" y="2589"/>
              <a:ext cx="340" cy="327"/>
            </a:xfrm>
            <a:prstGeom prst="rect">
              <a:avLst/>
            </a:prstGeom>
            <a:noFill/>
            <a:ln w="19050">
              <a:noFill/>
            </a:ln>
          </p:spPr>
          <p:txBody>
            <a:bodyPr wrap="none">
              <a:spAutoFit/>
            </a:bodyPr>
            <a:lstStyle/>
            <a:p>
              <a:r>
                <a:rPr lang="en-US" altLang="zh-CN" sz="2800" dirty="0">
                  <a:latin typeface="Times New Roman" panose="02020603050405020304" pitchFamily="18" charset="0"/>
                </a:rPr>
                <a:t>10</a:t>
              </a:r>
            </a:p>
          </p:txBody>
        </p:sp>
        <p:sp>
          <p:nvSpPr>
            <p:cNvPr id="96273" name="Text Box 53"/>
            <p:cNvSpPr txBox="1"/>
            <p:nvPr/>
          </p:nvSpPr>
          <p:spPr>
            <a:xfrm>
              <a:off x="4428" y="2891"/>
              <a:ext cx="265" cy="327"/>
            </a:xfrm>
            <a:prstGeom prst="rect">
              <a:avLst/>
            </a:prstGeom>
            <a:noFill/>
            <a:ln w="19050">
              <a:noFill/>
            </a:ln>
          </p:spPr>
          <p:txBody>
            <a:bodyPr wrap="none">
              <a:spAutoFit/>
            </a:bodyPr>
            <a:lstStyle/>
            <a:p>
              <a:r>
                <a:rPr lang="en-US" altLang="zh-CN" sz="2800" dirty="0">
                  <a:latin typeface="Times New Roman" panose="02020603050405020304" pitchFamily="18" charset="0"/>
                </a:rPr>
                <a:t>C</a:t>
              </a:r>
            </a:p>
          </p:txBody>
        </p:sp>
        <p:sp>
          <p:nvSpPr>
            <p:cNvPr id="96274" name="Text Box 54"/>
            <p:cNvSpPr txBox="1"/>
            <p:nvPr/>
          </p:nvSpPr>
          <p:spPr>
            <a:xfrm>
              <a:off x="4858" y="2891"/>
              <a:ext cx="278" cy="327"/>
            </a:xfrm>
            <a:prstGeom prst="rect">
              <a:avLst/>
            </a:prstGeom>
            <a:noFill/>
            <a:ln w="19050">
              <a:noFill/>
            </a:ln>
          </p:spPr>
          <p:txBody>
            <a:bodyPr wrap="none">
              <a:spAutoFit/>
            </a:bodyPr>
            <a:lstStyle/>
            <a:p>
              <a:r>
                <a:rPr lang="en-US" altLang="zh-CN" sz="2800" dirty="0">
                  <a:latin typeface="Times New Roman" panose="02020603050405020304" pitchFamily="18" charset="0"/>
                </a:rPr>
                <a:t>D</a:t>
              </a:r>
            </a:p>
          </p:txBody>
        </p:sp>
        <p:sp>
          <p:nvSpPr>
            <p:cNvPr id="96275" name="Text Box 55"/>
            <p:cNvSpPr txBox="1"/>
            <p:nvPr/>
          </p:nvSpPr>
          <p:spPr>
            <a:xfrm>
              <a:off x="4886" y="3241"/>
              <a:ext cx="253" cy="327"/>
            </a:xfrm>
            <a:prstGeom prst="rect">
              <a:avLst/>
            </a:prstGeom>
            <a:noFill/>
            <a:ln w="19050">
              <a:noFill/>
            </a:ln>
          </p:spPr>
          <p:txBody>
            <a:bodyPr wrap="none">
              <a:spAutoFit/>
            </a:bodyPr>
            <a:lstStyle/>
            <a:p>
              <a:r>
                <a:rPr lang="en-US" altLang="zh-CN" sz="2800" dirty="0">
                  <a:latin typeface="Times New Roman" panose="02020603050405020304" pitchFamily="18" charset="0"/>
                </a:rPr>
                <a:t>E</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47850" y="1093788"/>
            <a:ext cx="5691188" cy="5638800"/>
            <a:chOff x="2835" y="1217"/>
            <a:chExt cx="2572" cy="2400"/>
          </a:xfrm>
        </p:grpSpPr>
        <p:sp>
          <p:nvSpPr>
            <p:cNvPr id="97283" name="Line 3"/>
            <p:cNvSpPr/>
            <p:nvPr/>
          </p:nvSpPr>
          <p:spPr>
            <a:xfrm>
              <a:off x="2900" y="1217"/>
              <a:ext cx="2463" cy="0"/>
            </a:xfrm>
            <a:prstGeom prst="line">
              <a:avLst/>
            </a:prstGeom>
            <a:ln w="38100" cap="flat" cmpd="sng">
              <a:solidFill>
                <a:schemeClr val="tx1"/>
              </a:solidFill>
              <a:prstDash val="solid"/>
              <a:headEnd type="none" w="med" len="med"/>
              <a:tailEnd type="none" w="sm" len="lg"/>
            </a:ln>
          </p:spPr>
        </p:sp>
        <p:sp>
          <p:nvSpPr>
            <p:cNvPr id="97284" name="Line 4"/>
            <p:cNvSpPr/>
            <p:nvPr/>
          </p:nvSpPr>
          <p:spPr>
            <a:xfrm>
              <a:off x="2945" y="3604"/>
              <a:ext cx="2462" cy="0"/>
            </a:xfrm>
            <a:prstGeom prst="line">
              <a:avLst/>
            </a:prstGeom>
            <a:ln w="38100" cap="flat" cmpd="sng">
              <a:solidFill>
                <a:schemeClr val="tx1"/>
              </a:solidFill>
              <a:prstDash val="solid"/>
              <a:headEnd type="none" w="med" len="med"/>
              <a:tailEnd type="none" w="sm" len="lg"/>
            </a:ln>
          </p:spPr>
        </p:sp>
        <p:sp>
          <p:nvSpPr>
            <p:cNvPr id="97285" name="Line 5"/>
            <p:cNvSpPr/>
            <p:nvPr/>
          </p:nvSpPr>
          <p:spPr>
            <a:xfrm>
              <a:off x="3491" y="1217"/>
              <a:ext cx="0" cy="2395"/>
            </a:xfrm>
            <a:prstGeom prst="line">
              <a:avLst/>
            </a:prstGeom>
            <a:ln w="19050" cap="flat" cmpd="sng">
              <a:solidFill>
                <a:schemeClr val="tx1"/>
              </a:solidFill>
              <a:prstDash val="solid"/>
              <a:headEnd type="none" w="med" len="med"/>
              <a:tailEnd type="none" w="sm" len="lg"/>
            </a:ln>
          </p:spPr>
        </p:sp>
        <p:sp>
          <p:nvSpPr>
            <p:cNvPr id="97286" name="Line 6"/>
            <p:cNvSpPr/>
            <p:nvPr/>
          </p:nvSpPr>
          <p:spPr>
            <a:xfrm>
              <a:off x="4377" y="1686"/>
              <a:ext cx="0" cy="1931"/>
            </a:xfrm>
            <a:prstGeom prst="line">
              <a:avLst/>
            </a:prstGeom>
            <a:ln w="19050" cap="flat" cmpd="sng">
              <a:solidFill>
                <a:schemeClr val="tx1"/>
              </a:solidFill>
              <a:prstDash val="solid"/>
              <a:headEnd type="none" w="med" len="med"/>
              <a:tailEnd type="none" w="sm" len="lg"/>
            </a:ln>
          </p:spPr>
        </p:sp>
        <p:sp>
          <p:nvSpPr>
            <p:cNvPr id="97287" name="Line 7"/>
            <p:cNvSpPr/>
            <p:nvPr/>
          </p:nvSpPr>
          <p:spPr>
            <a:xfrm>
              <a:off x="3491" y="1673"/>
              <a:ext cx="1865" cy="0"/>
            </a:xfrm>
            <a:prstGeom prst="line">
              <a:avLst/>
            </a:prstGeom>
            <a:ln w="12700" cap="flat" cmpd="sng">
              <a:solidFill>
                <a:schemeClr val="tx1"/>
              </a:solidFill>
              <a:prstDash val="solid"/>
              <a:headEnd type="none" w="med" len="med"/>
              <a:tailEnd type="none" w="sm" len="lg"/>
            </a:ln>
          </p:spPr>
        </p:sp>
        <p:sp>
          <p:nvSpPr>
            <p:cNvPr id="97288" name="Line 8"/>
            <p:cNvSpPr/>
            <p:nvPr/>
          </p:nvSpPr>
          <p:spPr>
            <a:xfrm>
              <a:off x="2887" y="2035"/>
              <a:ext cx="2462" cy="0"/>
            </a:xfrm>
            <a:prstGeom prst="line">
              <a:avLst/>
            </a:prstGeom>
            <a:ln w="12700" cap="flat" cmpd="sng">
              <a:solidFill>
                <a:schemeClr val="tx1"/>
              </a:solidFill>
              <a:prstDash val="solid"/>
              <a:headEnd type="none" w="med" len="med"/>
              <a:tailEnd type="none" w="sm" len="lg"/>
            </a:ln>
          </p:spPr>
        </p:sp>
        <p:sp>
          <p:nvSpPr>
            <p:cNvPr id="97289" name="Text Box 9"/>
            <p:cNvSpPr txBox="1"/>
            <p:nvPr/>
          </p:nvSpPr>
          <p:spPr>
            <a:xfrm>
              <a:off x="2835" y="1510"/>
              <a:ext cx="520" cy="195"/>
            </a:xfrm>
            <a:prstGeom prst="rect">
              <a:avLst/>
            </a:prstGeom>
            <a:noFill/>
            <a:ln w="19050">
              <a:noFill/>
            </a:ln>
          </p:spPr>
          <p:txBody>
            <a:bodyPr wrap="none">
              <a:spAutoFit/>
            </a:bodyPr>
            <a:lstStyle/>
            <a:p>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1</a:t>
              </a:r>
            </a:p>
          </p:txBody>
        </p:sp>
        <p:sp>
          <p:nvSpPr>
            <p:cNvPr id="97290" name="Text Box 10"/>
            <p:cNvSpPr txBox="1"/>
            <p:nvPr/>
          </p:nvSpPr>
          <p:spPr>
            <a:xfrm>
              <a:off x="3847" y="1286"/>
              <a:ext cx="771" cy="221"/>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97291" name="Text Box 11"/>
            <p:cNvSpPr txBox="1"/>
            <p:nvPr/>
          </p:nvSpPr>
          <p:spPr>
            <a:xfrm>
              <a:off x="3767" y="1653"/>
              <a:ext cx="325" cy="221"/>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97292" name="Text Box 12"/>
            <p:cNvSpPr txBox="1"/>
            <p:nvPr/>
          </p:nvSpPr>
          <p:spPr>
            <a:xfrm>
              <a:off x="4693" y="1653"/>
              <a:ext cx="325" cy="221"/>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97293" name="Text Box 13"/>
            <p:cNvSpPr txBox="1"/>
            <p:nvPr/>
          </p:nvSpPr>
          <p:spPr>
            <a:xfrm>
              <a:off x="2931" y="2082"/>
              <a:ext cx="405" cy="1494"/>
            </a:xfrm>
            <a:prstGeom prst="rect">
              <a:avLst/>
            </a:prstGeom>
            <a:noFill/>
            <a:ln w="19050">
              <a:noFill/>
            </a:ln>
          </p:spPr>
          <p:txBody>
            <a:bodyPr>
              <a:spAutoFit/>
            </a:bodyPr>
            <a:lstStyle/>
            <a:p>
              <a:pPr algn="ctr"/>
              <a:r>
                <a:rPr lang="en-US" altLang="zh-CN" sz="2800" dirty="0">
                  <a:latin typeface="Times New Roman" panose="02020603050405020304" pitchFamily="18" charset="0"/>
                </a:rPr>
                <a:t>000</a:t>
              </a:r>
            </a:p>
            <a:p>
              <a:pPr algn="ctr"/>
              <a:r>
                <a:rPr lang="en-US" altLang="zh-CN" sz="2800" dirty="0">
                  <a:solidFill>
                    <a:srgbClr val="FF3300"/>
                  </a:solidFill>
                  <a:latin typeface="Times New Roman" panose="02020603050405020304" pitchFamily="18" charset="0"/>
                </a:rPr>
                <a:t>001</a:t>
              </a:r>
            </a:p>
            <a:p>
              <a:pPr algn="ctr"/>
              <a:r>
                <a:rPr lang="en-US" altLang="zh-CN" sz="2800" dirty="0">
                  <a:latin typeface="Times New Roman" panose="02020603050405020304" pitchFamily="18" charset="0"/>
                </a:rPr>
                <a:t>010</a:t>
              </a:r>
            </a:p>
            <a:p>
              <a:pPr algn="ctr"/>
              <a:r>
                <a:rPr lang="en-US" altLang="zh-CN" sz="2800" dirty="0">
                  <a:solidFill>
                    <a:srgbClr val="FF3300"/>
                  </a:solidFill>
                  <a:latin typeface="Times New Roman" panose="02020603050405020304" pitchFamily="18" charset="0"/>
                </a:rPr>
                <a:t>011</a:t>
              </a:r>
            </a:p>
            <a:p>
              <a:pPr algn="ctr"/>
              <a:r>
                <a:rPr lang="en-US" altLang="zh-CN" sz="2800" dirty="0">
                  <a:latin typeface="Times New Roman" panose="02020603050405020304" pitchFamily="18" charset="0"/>
                </a:rPr>
                <a:t>100</a:t>
              </a:r>
              <a:endParaRPr lang="en-US" altLang="zh-CN" sz="28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 101 </a:t>
              </a:r>
            </a:p>
            <a:p>
              <a:pPr algn="ctr"/>
              <a:r>
                <a:rPr lang="en-US" altLang="zh-CN" sz="2800" dirty="0">
                  <a:latin typeface="Times New Roman" panose="02020603050405020304" pitchFamily="18" charset="0"/>
                </a:rPr>
                <a:t>110</a:t>
              </a:r>
            </a:p>
            <a:p>
              <a:pPr algn="ctr"/>
              <a:r>
                <a:rPr lang="en-US" altLang="zh-CN" sz="2800" dirty="0">
                  <a:solidFill>
                    <a:srgbClr val="FF3300"/>
                  </a:solidFill>
                  <a:latin typeface="Times New Roman" panose="02020603050405020304" pitchFamily="18" charset="0"/>
                </a:rPr>
                <a:t>111</a:t>
              </a:r>
            </a:p>
          </p:txBody>
        </p:sp>
        <p:sp>
          <p:nvSpPr>
            <p:cNvPr id="97294" name="Text Box 14"/>
            <p:cNvSpPr txBox="1"/>
            <p:nvPr/>
          </p:nvSpPr>
          <p:spPr>
            <a:xfrm>
              <a:off x="3668" y="2082"/>
              <a:ext cx="644" cy="1494"/>
            </a:xfrm>
            <a:prstGeom prst="rect">
              <a:avLst/>
            </a:prstGeom>
            <a:noFill/>
            <a:ln w="19050">
              <a:noFill/>
            </a:ln>
          </p:spPr>
          <p:txBody>
            <a:bodyPr>
              <a:spAutoFit/>
            </a:bodyPr>
            <a:lstStyle/>
            <a:p>
              <a:pPr algn="ctr"/>
              <a:r>
                <a:rPr lang="en-US" altLang="zh-CN" sz="2800" dirty="0">
                  <a:latin typeface="Times New Roman" panose="02020603050405020304" pitchFamily="18" charset="0"/>
                </a:rPr>
                <a:t>010/0</a:t>
              </a:r>
            </a:p>
            <a:p>
              <a:pPr algn="ctr"/>
              <a:r>
                <a:rPr lang="en-US" altLang="zh-CN" sz="2800" dirty="0">
                  <a:solidFill>
                    <a:srgbClr val="FF3300"/>
                  </a:solidFill>
                  <a:latin typeface="Times New Roman" panose="02020603050405020304" pitchFamily="18" charset="0"/>
                </a:rPr>
                <a:t>ddd/d</a:t>
              </a:r>
              <a:endParaRPr lang="en-US" altLang="zh-CN" sz="2800" baseline="-250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100/0</a:t>
              </a:r>
            </a:p>
            <a:p>
              <a:pPr algn="ctr"/>
              <a:r>
                <a:rPr lang="en-US" altLang="zh-CN" sz="2800" dirty="0">
                  <a:solidFill>
                    <a:srgbClr val="FF3300"/>
                  </a:solidFill>
                  <a:latin typeface="Times New Roman" panose="02020603050405020304" pitchFamily="18" charset="0"/>
                </a:rPr>
                <a:t>ddd/d</a:t>
              </a:r>
              <a:endParaRPr lang="en-US" altLang="zh-CN" sz="2800" baseline="-250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000/1 000/0 101/0</a:t>
              </a:r>
            </a:p>
            <a:p>
              <a:pPr algn="ctr"/>
              <a:r>
                <a:rPr lang="en-US" altLang="zh-CN" sz="2800" dirty="0">
                  <a:solidFill>
                    <a:srgbClr val="FF3300"/>
                  </a:solidFill>
                  <a:latin typeface="Times New Roman" panose="02020603050405020304" pitchFamily="18" charset="0"/>
                </a:rPr>
                <a:t>ddd/d</a:t>
              </a:r>
            </a:p>
          </p:txBody>
        </p:sp>
        <p:sp>
          <p:nvSpPr>
            <p:cNvPr id="97295" name="Text Box 15"/>
            <p:cNvSpPr txBox="1"/>
            <p:nvPr/>
          </p:nvSpPr>
          <p:spPr>
            <a:xfrm>
              <a:off x="4534" y="2082"/>
              <a:ext cx="776" cy="1493"/>
            </a:xfrm>
            <a:prstGeom prst="rect">
              <a:avLst/>
            </a:prstGeom>
            <a:noFill/>
            <a:ln w="19050">
              <a:noFill/>
            </a:ln>
          </p:spPr>
          <p:txBody>
            <a:bodyPr>
              <a:spAutoFit/>
            </a:bodyPr>
            <a:lstStyle/>
            <a:p>
              <a:pPr algn="ctr"/>
              <a:r>
                <a:rPr lang="en-US" altLang="zh-CN" sz="2800" dirty="0">
                  <a:latin typeface="Times New Roman" panose="02020603050405020304" pitchFamily="18" charset="0"/>
                </a:rPr>
                <a:t>110/0</a:t>
              </a:r>
            </a:p>
            <a:p>
              <a:pPr algn="ctr"/>
              <a:r>
                <a:rPr lang="en-US" altLang="zh-CN" sz="2800" dirty="0">
                  <a:solidFill>
                    <a:srgbClr val="FF3300"/>
                  </a:solidFill>
                  <a:latin typeface="Times New Roman" panose="02020603050405020304" pitchFamily="18" charset="0"/>
                </a:rPr>
                <a:t>ddd/d</a:t>
              </a:r>
              <a:endParaRPr lang="en-US" altLang="zh-CN" sz="2800" baseline="-250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101/0</a:t>
              </a:r>
            </a:p>
            <a:p>
              <a:pPr algn="ctr"/>
              <a:r>
                <a:rPr lang="en-US" altLang="zh-CN" sz="2800" dirty="0">
                  <a:solidFill>
                    <a:srgbClr val="FF3300"/>
                  </a:solidFill>
                  <a:latin typeface="Times New Roman" panose="02020603050405020304" pitchFamily="18" charset="0"/>
                </a:rPr>
                <a:t>ddd/d</a:t>
              </a:r>
              <a:endParaRPr lang="en-US" altLang="zh-CN" sz="2800" baseline="-250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000/0</a:t>
              </a:r>
            </a:p>
            <a:p>
              <a:pPr algn="ctr"/>
              <a:r>
                <a:rPr lang="en-US" altLang="zh-CN" sz="2800" dirty="0">
                  <a:latin typeface="Times New Roman" panose="02020603050405020304" pitchFamily="18" charset="0"/>
                </a:rPr>
                <a:t>000/1 100/0</a:t>
              </a:r>
            </a:p>
            <a:p>
              <a:pPr algn="ctr"/>
              <a:r>
                <a:rPr lang="en-US" altLang="zh-CN" sz="2800" dirty="0">
                  <a:solidFill>
                    <a:srgbClr val="FF3300"/>
                  </a:solidFill>
                  <a:latin typeface="Times New Roman" panose="02020603050405020304" pitchFamily="18" charset="0"/>
                </a:rPr>
                <a:t>ddd/d</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718175" y="346075"/>
            <a:ext cx="3425825" cy="3462338"/>
            <a:chOff x="3602" y="218"/>
            <a:chExt cx="2158" cy="2181"/>
          </a:xfrm>
        </p:grpSpPr>
        <p:sp>
          <p:nvSpPr>
            <p:cNvPr id="98423" name="AutoShape 3"/>
            <p:cNvSpPr/>
            <p:nvPr/>
          </p:nvSpPr>
          <p:spPr>
            <a:xfrm>
              <a:off x="5382" y="704"/>
              <a:ext cx="330" cy="576"/>
            </a:xfrm>
            <a:prstGeom prst="leftBracket">
              <a:avLst>
                <a:gd name="adj" fmla="val 14545"/>
              </a:avLst>
            </a:prstGeom>
            <a:solidFill>
              <a:srgbClr val="CCFFFF">
                <a:alpha val="49019"/>
              </a:srgbClr>
            </a:solidFill>
            <a:ln w="9525" cap="flat" cmpd="sng">
              <a:solidFill>
                <a:srgbClr val="FF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98424" name="Text Box 4" descr="羊皮纸"/>
            <p:cNvSpPr txBox="1"/>
            <p:nvPr/>
          </p:nvSpPr>
          <p:spPr>
            <a:xfrm>
              <a:off x="5425" y="1020"/>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d</a:t>
              </a:r>
            </a:p>
          </p:txBody>
        </p:sp>
        <p:sp>
          <p:nvSpPr>
            <p:cNvPr id="98425" name="AutoShape 5"/>
            <p:cNvSpPr/>
            <p:nvPr/>
          </p:nvSpPr>
          <p:spPr>
            <a:xfrm>
              <a:off x="4116" y="704"/>
              <a:ext cx="393" cy="576"/>
            </a:xfrm>
            <a:prstGeom prst="rightBracket">
              <a:avLst>
                <a:gd name="adj" fmla="val 12213"/>
              </a:avLst>
            </a:prstGeom>
            <a:solidFill>
              <a:srgbClr val="CCFFFF">
                <a:alpha val="52940"/>
              </a:srgbClr>
            </a:solidFill>
            <a:ln w="9525" cap="flat" cmpd="sng">
              <a:solidFill>
                <a:srgbClr val="FF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98426" name="Line 6"/>
            <p:cNvSpPr/>
            <p:nvPr/>
          </p:nvSpPr>
          <p:spPr>
            <a:xfrm>
              <a:off x="4113" y="972"/>
              <a:ext cx="1629" cy="0"/>
            </a:xfrm>
            <a:prstGeom prst="line">
              <a:avLst/>
            </a:prstGeom>
            <a:ln w="28575" cap="flat" cmpd="sng">
              <a:solidFill>
                <a:srgbClr val="3333FF"/>
              </a:solidFill>
              <a:prstDash val="solid"/>
              <a:headEnd type="none" w="med" len="med"/>
              <a:tailEnd type="none" w="med" len="med"/>
            </a:ln>
          </p:spPr>
        </p:sp>
        <p:sp>
          <p:nvSpPr>
            <p:cNvPr id="98427" name="Text Box 7"/>
            <p:cNvSpPr txBox="1"/>
            <p:nvPr/>
          </p:nvSpPr>
          <p:spPr>
            <a:xfrm>
              <a:off x="4156" y="358"/>
              <a:ext cx="1604"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00     01     11     10</a:t>
              </a:r>
            </a:p>
          </p:txBody>
        </p:sp>
        <p:sp>
          <p:nvSpPr>
            <p:cNvPr id="98428" name="Text Box 8"/>
            <p:cNvSpPr txBox="1"/>
            <p:nvPr/>
          </p:nvSpPr>
          <p:spPr>
            <a:xfrm>
              <a:off x="3773" y="537"/>
              <a:ext cx="339" cy="1530"/>
            </a:xfrm>
            <a:prstGeom prst="rect">
              <a:avLst/>
            </a:prstGeom>
            <a:noFill/>
            <a:ln w="9525">
              <a:noFill/>
            </a:ln>
          </p:spPr>
          <p:txBody>
            <a:bodyPr>
              <a:spAutoFit/>
            </a:bodyPr>
            <a:lstStyle/>
            <a:p>
              <a:pPr>
                <a:lnSpc>
                  <a:spcPct val="160000"/>
                </a:lnSpc>
              </a:pPr>
              <a:r>
                <a:rPr lang="en-US" altLang="zh-CN" sz="2400" dirty="0">
                  <a:latin typeface="Times New Roman" panose="02020603050405020304" pitchFamily="18" charset="0"/>
                </a:rPr>
                <a:t>00</a:t>
              </a:r>
            </a:p>
            <a:p>
              <a:pPr>
                <a:lnSpc>
                  <a:spcPct val="160000"/>
                </a:lnSpc>
              </a:pPr>
              <a:r>
                <a:rPr lang="en-US" altLang="zh-CN" sz="2400" dirty="0">
                  <a:latin typeface="Times New Roman" panose="02020603050405020304" pitchFamily="18" charset="0"/>
                </a:rPr>
                <a:t>01</a:t>
              </a:r>
            </a:p>
            <a:p>
              <a:pPr>
                <a:lnSpc>
                  <a:spcPct val="160000"/>
                </a:lnSpc>
              </a:pPr>
              <a:r>
                <a:rPr lang="en-US" altLang="zh-CN" sz="2400" dirty="0">
                  <a:latin typeface="Times New Roman" panose="02020603050405020304" pitchFamily="18" charset="0"/>
                </a:rPr>
                <a:t>11</a:t>
              </a:r>
            </a:p>
            <a:p>
              <a:pPr>
                <a:lnSpc>
                  <a:spcPct val="160000"/>
                </a:lnSpc>
              </a:pPr>
              <a:r>
                <a:rPr lang="en-US" altLang="zh-CN" sz="2400" dirty="0">
                  <a:latin typeface="Times New Roman" panose="02020603050405020304" pitchFamily="18" charset="0"/>
                </a:rPr>
                <a:t>10</a:t>
              </a:r>
            </a:p>
          </p:txBody>
        </p:sp>
        <p:sp>
          <p:nvSpPr>
            <p:cNvPr id="98429" name="Text Box 9"/>
            <p:cNvSpPr txBox="1"/>
            <p:nvPr/>
          </p:nvSpPr>
          <p:spPr>
            <a:xfrm>
              <a:off x="3863" y="218"/>
              <a:ext cx="390" cy="327"/>
            </a:xfrm>
            <a:prstGeom prst="rect">
              <a:avLst/>
            </a:prstGeom>
            <a:noFill/>
            <a:ln w="9525">
              <a:noFill/>
            </a:ln>
          </p:spPr>
          <p:txBody>
            <a:bodyPr wrap="none">
              <a:spAutoFit/>
            </a:bodyPr>
            <a:lstStyle/>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p>
          </p:txBody>
        </p:sp>
        <p:sp>
          <p:nvSpPr>
            <p:cNvPr id="98430" name="Text Box 10"/>
            <p:cNvSpPr txBox="1"/>
            <p:nvPr/>
          </p:nvSpPr>
          <p:spPr>
            <a:xfrm>
              <a:off x="3602" y="340"/>
              <a:ext cx="466"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p>
          </p:txBody>
        </p:sp>
        <p:grpSp>
          <p:nvGrpSpPr>
            <p:cNvPr id="98431" name="Group 11"/>
            <p:cNvGrpSpPr/>
            <p:nvPr/>
          </p:nvGrpSpPr>
          <p:grpSpPr>
            <a:xfrm>
              <a:off x="4095" y="593"/>
              <a:ext cx="1635" cy="1495"/>
              <a:chOff x="520" y="702"/>
              <a:chExt cx="1281" cy="1403"/>
            </a:xfrm>
          </p:grpSpPr>
          <p:sp>
            <p:nvSpPr>
              <p:cNvPr id="98451" name="Rectangle 12"/>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grpSp>
            <p:nvGrpSpPr>
              <p:cNvPr id="98452" name="Group 13"/>
              <p:cNvGrpSpPr/>
              <p:nvPr/>
            </p:nvGrpSpPr>
            <p:grpSpPr>
              <a:xfrm>
                <a:off x="858" y="702"/>
                <a:ext cx="645" cy="1403"/>
                <a:chOff x="858" y="702"/>
                <a:chExt cx="645" cy="1380"/>
              </a:xfrm>
            </p:grpSpPr>
            <p:sp>
              <p:nvSpPr>
                <p:cNvPr id="98453" name="Line 14"/>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98454" name="Line 15"/>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98455" name="Line 16"/>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98432" name="Line 17"/>
            <p:cNvSpPr/>
            <p:nvPr/>
          </p:nvSpPr>
          <p:spPr>
            <a:xfrm>
              <a:off x="4113" y="1343"/>
              <a:ext cx="1629" cy="0"/>
            </a:xfrm>
            <a:prstGeom prst="line">
              <a:avLst/>
            </a:prstGeom>
            <a:ln w="28575" cap="flat" cmpd="sng">
              <a:solidFill>
                <a:srgbClr val="3333FF"/>
              </a:solidFill>
              <a:prstDash val="solid"/>
              <a:headEnd type="none" w="med" len="med"/>
              <a:tailEnd type="none" w="med" len="med"/>
            </a:ln>
          </p:spPr>
        </p:sp>
        <p:sp>
          <p:nvSpPr>
            <p:cNvPr id="98433" name="Line 18"/>
            <p:cNvSpPr/>
            <p:nvPr/>
          </p:nvSpPr>
          <p:spPr>
            <a:xfrm>
              <a:off x="4096" y="1757"/>
              <a:ext cx="1629" cy="0"/>
            </a:xfrm>
            <a:prstGeom prst="line">
              <a:avLst/>
            </a:prstGeom>
            <a:ln w="28575" cap="flat" cmpd="sng">
              <a:solidFill>
                <a:srgbClr val="3333FF"/>
              </a:solidFill>
              <a:prstDash val="solid"/>
              <a:headEnd type="none" w="med" len="med"/>
              <a:tailEnd type="none" w="med" len="med"/>
            </a:ln>
          </p:spPr>
        </p:sp>
        <p:sp>
          <p:nvSpPr>
            <p:cNvPr id="98434" name="Rectangle 19"/>
            <p:cNvSpPr/>
            <p:nvPr/>
          </p:nvSpPr>
          <p:spPr>
            <a:xfrm>
              <a:off x="4672" y="1761"/>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98435" name="Rectangle 20"/>
            <p:cNvSpPr/>
            <p:nvPr/>
          </p:nvSpPr>
          <p:spPr>
            <a:xfrm>
              <a:off x="4218" y="1760"/>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98436" name="Rectangle 21"/>
            <p:cNvSpPr/>
            <p:nvPr/>
          </p:nvSpPr>
          <p:spPr>
            <a:xfrm>
              <a:off x="4626" y="1422"/>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d</a:t>
              </a:r>
            </a:p>
          </p:txBody>
        </p:sp>
        <p:sp>
          <p:nvSpPr>
            <p:cNvPr id="98437" name="Rectangle 22"/>
            <p:cNvSpPr/>
            <p:nvPr/>
          </p:nvSpPr>
          <p:spPr>
            <a:xfrm>
              <a:off x="4185" y="1422"/>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d</a:t>
              </a:r>
            </a:p>
          </p:txBody>
        </p:sp>
        <p:sp>
          <p:nvSpPr>
            <p:cNvPr id="98438" name="Text Box 23"/>
            <p:cNvSpPr txBox="1"/>
            <p:nvPr/>
          </p:nvSpPr>
          <p:spPr>
            <a:xfrm>
              <a:off x="5036" y="610"/>
              <a:ext cx="221" cy="327"/>
            </a:xfrm>
            <a:prstGeom prst="rect">
              <a:avLst/>
            </a:prstGeom>
            <a:noFill/>
            <a:ln w="9525">
              <a:noFill/>
            </a:ln>
          </p:spPr>
          <p:txBody>
            <a:bodyPr>
              <a:spAutoFit/>
            </a:bodyPr>
            <a:lstStyle/>
            <a:p>
              <a:r>
                <a:rPr lang="en-US" altLang="zh-CN" sz="2800" dirty="0">
                  <a:latin typeface="Times New Roman" panose="02020603050405020304" pitchFamily="18" charset="0"/>
                </a:rPr>
                <a:t>0</a:t>
              </a:r>
            </a:p>
          </p:txBody>
        </p:sp>
        <p:sp>
          <p:nvSpPr>
            <p:cNvPr id="98439" name="Rectangle 24"/>
            <p:cNvSpPr/>
            <p:nvPr/>
          </p:nvSpPr>
          <p:spPr>
            <a:xfrm>
              <a:off x="4634" y="1038"/>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98440" name="Rectangle 25"/>
            <p:cNvSpPr/>
            <p:nvPr/>
          </p:nvSpPr>
          <p:spPr>
            <a:xfrm>
              <a:off x="4203" y="1038"/>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d</a:t>
              </a:r>
            </a:p>
          </p:txBody>
        </p:sp>
        <p:sp>
          <p:nvSpPr>
            <p:cNvPr id="98441" name="Text Box 26"/>
            <p:cNvSpPr txBox="1"/>
            <p:nvPr/>
          </p:nvSpPr>
          <p:spPr>
            <a:xfrm>
              <a:off x="5036" y="1038"/>
              <a:ext cx="325" cy="327"/>
            </a:xfrm>
            <a:prstGeom prst="rect">
              <a:avLst/>
            </a:prstGeom>
            <a:noFill/>
            <a:ln w="9525">
              <a:noFill/>
            </a:ln>
          </p:spPr>
          <p:txBody>
            <a:bodyPr>
              <a:spAutoFit/>
            </a:bodyPr>
            <a:lstStyle/>
            <a:p>
              <a:r>
                <a:rPr lang="en-US" altLang="zh-CN" sz="2800" dirty="0">
                  <a:latin typeface="Times New Roman" panose="02020603050405020304" pitchFamily="18" charset="0"/>
                </a:rPr>
                <a:t>0</a:t>
              </a:r>
            </a:p>
          </p:txBody>
        </p:sp>
        <p:sp>
          <p:nvSpPr>
            <p:cNvPr id="98442" name="Line 27"/>
            <p:cNvSpPr/>
            <p:nvPr/>
          </p:nvSpPr>
          <p:spPr>
            <a:xfrm>
              <a:off x="3808" y="322"/>
              <a:ext cx="285" cy="284"/>
            </a:xfrm>
            <a:prstGeom prst="line">
              <a:avLst/>
            </a:prstGeom>
            <a:ln w="28575" cap="flat" cmpd="sng">
              <a:solidFill>
                <a:srgbClr val="3333FF"/>
              </a:solidFill>
              <a:prstDash val="solid"/>
              <a:headEnd type="none" w="med" len="med"/>
              <a:tailEnd type="none" w="med" len="med"/>
            </a:ln>
          </p:spPr>
        </p:sp>
        <p:sp>
          <p:nvSpPr>
            <p:cNvPr id="98443" name="Text Box 28" descr="羊皮纸"/>
            <p:cNvSpPr txBox="1"/>
            <p:nvPr/>
          </p:nvSpPr>
          <p:spPr>
            <a:xfrm>
              <a:off x="4619" y="2072"/>
              <a:ext cx="352" cy="327"/>
            </a:xfrm>
            <a:prstGeom prst="rect">
              <a:avLst/>
            </a:prstGeom>
            <a:noFill/>
            <a:ln w="38100">
              <a:noFill/>
            </a:ln>
          </p:spPr>
          <p:txBody>
            <a:bodyPr wrap="none" lIns="90000" tIns="46800" rIns="90000" bIns="46800">
              <a:spAutoFit/>
            </a:bodyPr>
            <a:lstStyle/>
            <a:p>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2</a:t>
              </a:r>
            </a:p>
          </p:txBody>
        </p:sp>
        <p:sp>
          <p:nvSpPr>
            <p:cNvPr id="98444" name="Text Box 29" descr="羊皮纸"/>
            <p:cNvSpPr txBox="1"/>
            <p:nvPr/>
          </p:nvSpPr>
          <p:spPr>
            <a:xfrm>
              <a:off x="4212" y="617"/>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1</a:t>
              </a:r>
            </a:p>
          </p:txBody>
        </p:sp>
        <p:sp>
          <p:nvSpPr>
            <p:cNvPr id="98445" name="Text Box 30" descr="羊皮纸"/>
            <p:cNvSpPr txBox="1"/>
            <p:nvPr/>
          </p:nvSpPr>
          <p:spPr>
            <a:xfrm>
              <a:off x="4630" y="617"/>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98446" name="Text Box 31" descr="羊皮纸"/>
            <p:cNvSpPr txBox="1"/>
            <p:nvPr/>
          </p:nvSpPr>
          <p:spPr>
            <a:xfrm>
              <a:off x="5445" y="628"/>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1</a:t>
              </a:r>
            </a:p>
          </p:txBody>
        </p:sp>
        <p:sp>
          <p:nvSpPr>
            <p:cNvPr id="98447" name="Text Box 32" descr="羊皮纸"/>
            <p:cNvSpPr txBox="1"/>
            <p:nvPr/>
          </p:nvSpPr>
          <p:spPr>
            <a:xfrm>
              <a:off x="5017" y="1423"/>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d</a:t>
              </a:r>
            </a:p>
          </p:txBody>
        </p:sp>
        <p:sp>
          <p:nvSpPr>
            <p:cNvPr id="98448" name="Text Box 33" descr="羊皮纸"/>
            <p:cNvSpPr txBox="1"/>
            <p:nvPr/>
          </p:nvSpPr>
          <p:spPr>
            <a:xfrm>
              <a:off x="5422" y="1423"/>
              <a:ext cx="158" cy="327"/>
            </a:xfrm>
            <a:prstGeom prst="rect">
              <a:avLst/>
            </a:prstGeom>
            <a:noFill/>
            <a:ln w="38100">
              <a:noFill/>
            </a:ln>
          </p:spPr>
          <p:txBody>
            <a:bodyPr lIns="90000" tIns="46800" rIns="90000" bIns="46800">
              <a:spAutoFit/>
            </a:bodyPr>
            <a:lstStyle/>
            <a:p>
              <a:r>
                <a:rPr lang="en-US" altLang="zh-CN" sz="2800" dirty="0">
                  <a:latin typeface="Times New Roman" panose="02020603050405020304" pitchFamily="18" charset="0"/>
                </a:rPr>
                <a:t>d</a:t>
              </a:r>
            </a:p>
          </p:txBody>
        </p:sp>
        <p:sp>
          <p:nvSpPr>
            <p:cNvPr id="98449" name="Text Box 34" descr="羊皮纸"/>
            <p:cNvSpPr txBox="1"/>
            <p:nvPr/>
          </p:nvSpPr>
          <p:spPr>
            <a:xfrm>
              <a:off x="5050" y="1770"/>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98450" name="Text Box 35" descr="羊皮纸"/>
            <p:cNvSpPr txBox="1"/>
            <p:nvPr/>
          </p:nvSpPr>
          <p:spPr>
            <a:xfrm>
              <a:off x="5436" y="1758"/>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grpSp>
      <p:grpSp>
        <p:nvGrpSpPr>
          <p:cNvPr id="5" name="Group 36"/>
          <p:cNvGrpSpPr/>
          <p:nvPr/>
        </p:nvGrpSpPr>
        <p:grpSpPr>
          <a:xfrm>
            <a:off x="2290763" y="396875"/>
            <a:ext cx="3425825" cy="3462338"/>
            <a:chOff x="363" y="202"/>
            <a:chExt cx="2158" cy="2181"/>
          </a:xfrm>
        </p:grpSpPr>
        <p:sp>
          <p:nvSpPr>
            <p:cNvPr id="98390" name="AutoShape 37"/>
            <p:cNvSpPr/>
            <p:nvPr/>
          </p:nvSpPr>
          <p:spPr>
            <a:xfrm>
              <a:off x="892" y="1405"/>
              <a:ext cx="1543" cy="635"/>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sp>
          <p:nvSpPr>
            <p:cNvPr id="98391" name="AutoShape 38"/>
            <p:cNvSpPr/>
            <p:nvPr/>
          </p:nvSpPr>
          <p:spPr>
            <a:xfrm>
              <a:off x="2139" y="621"/>
              <a:ext cx="334" cy="1384"/>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sp>
          <p:nvSpPr>
            <p:cNvPr id="98392" name="Line 39"/>
            <p:cNvSpPr/>
            <p:nvPr/>
          </p:nvSpPr>
          <p:spPr>
            <a:xfrm>
              <a:off x="874" y="956"/>
              <a:ext cx="1629" cy="0"/>
            </a:xfrm>
            <a:prstGeom prst="line">
              <a:avLst/>
            </a:prstGeom>
            <a:ln w="28575" cap="flat" cmpd="sng">
              <a:solidFill>
                <a:srgbClr val="3333FF"/>
              </a:solidFill>
              <a:prstDash val="solid"/>
              <a:headEnd type="none" w="med" len="med"/>
              <a:tailEnd type="none" w="med" len="med"/>
            </a:ln>
          </p:spPr>
        </p:sp>
        <p:sp>
          <p:nvSpPr>
            <p:cNvPr id="98393" name="Text Box 40"/>
            <p:cNvSpPr txBox="1"/>
            <p:nvPr/>
          </p:nvSpPr>
          <p:spPr>
            <a:xfrm>
              <a:off x="917" y="342"/>
              <a:ext cx="1604"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00     01     11     10</a:t>
              </a:r>
            </a:p>
          </p:txBody>
        </p:sp>
        <p:sp>
          <p:nvSpPr>
            <p:cNvPr id="98394" name="Text Box 41"/>
            <p:cNvSpPr txBox="1"/>
            <p:nvPr/>
          </p:nvSpPr>
          <p:spPr>
            <a:xfrm>
              <a:off x="534" y="521"/>
              <a:ext cx="339" cy="1530"/>
            </a:xfrm>
            <a:prstGeom prst="rect">
              <a:avLst/>
            </a:prstGeom>
            <a:noFill/>
            <a:ln w="9525">
              <a:noFill/>
            </a:ln>
          </p:spPr>
          <p:txBody>
            <a:bodyPr>
              <a:spAutoFit/>
            </a:bodyPr>
            <a:lstStyle/>
            <a:p>
              <a:pPr>
                <a:lnSpc>
                  <a:spcPct val="160000"/>
                </a:lnSpc>
              </a:pPr>
              <a:r>
                <a:rPr lang="en-US" altLang="zh-CN" sz="2400" dirty="0">
                  <a:latin typeface="Times New Roman" panose="02020603050405020304" pitchFamily="18" charset="0"/>
                </a:rPr>
                <a:t>00</a:t>
              </a:r>
            </a:p>
            <a:p>
              <a:pPr>
                <a:lnSpc>
                  <a:spcPct val="160000"/>
                </a:lnSpc>
              </a:pPr>
              <a:r>
                <a:rPr lang="en-US" altLang="zh-CN" sz="2400" dirty="0">
                  <a:latin typeface="Times New Roman" panose="02020603050405020304" pitchFamily="18" charset="0"/>
                </a:rPr>
                <a:t>01</a:t>
              </a:r>
            </a:p>
            <a:p>
              <a:pPr>
                <a:lnSpc>
                  <a:spcPct val="160000"/>
                </a:lnSpc>
              </a:pPr>
              <a:r>
                <a:rPr lang="en-US" altLang="zh-CN" sz="2400" dirty="0">
                  <a:latin typeface="Times New Roman" panose="02020603050405020304" pitchFamily="18" charset="0"/>
                </a:rPr>
                <a:t>11</a:t>
              </a:r>
            </a:p>
            <a:p>
              <a:pPr>
                <a:lnSpc>
                  <a:spcPct val="160000"/>
                </a:lnSpc>
              </a:pPr>
              <a:r>
                <a:rPr lang="en-US" altLang="zh-CN" sz="2400" dirty="0">
                  <a:latin typeface="Times New Roman" panose="02020603050405020304" pitchFamily="18" charset="0"/>
                </a:rPr>
                <a:t>10</a:t>
              </a:r>
            </a:p>
          </p:txBody>
        </p:sp>
        <p:sp>
          <p:nvSpPr>
            <p:cNvPr id="98395" name="Text Box 42"/>
            <p:cNvSpPr txBox="1"/>
            <p:nvPr/>
          </p:nvSpPr>
          <p:spPr>
            <a:xfrm>
              <a:off x="624" y="202"/>
              <a:ext cx="390" cy="327"/>
            </a:xfrm>
            <a:prstGeom prst="rect">
              <a:avLst/>
            </a:prstGeom>
            <a:noFill/>
            <a:ln w="9525">
              <a:noFill/>
            </a:ln>
          </p:spPr>
          <p:txBody>
            <a:bodyPr wrap="none">
              <a:spAutoFit/>
            </a:bodyPr>
            <a:lstStyle/>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p>
          </p:txBody>
        </p:sp>
        <p:sp>
          <p:nvSpPr>
            <p:cNvPr id="98396" name="Text Box 43"/>
            <p:cNvSpPr txBox="1"/>
            <p:nvPr/>
          </p:nvSpPr>
          <p:spPr>
            <a:xfrm>
              <a:off x="363" y="324"/>
              <a:ext cx="466"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p>
          </p:txBody>
        </p:sp>
        <p:grpSp>
          <p:nvGrpSpPr>
            <p:cNvPr id="98397" name="Group 44"/>
            <p:cNvGrpSpPr/>
            <p:nvPr/>
          </p:nvGrpSpPr>
          <p:grpSpPr>
            <a:xfrm>
              <a:off x="856" y="577"/>
              <a:ext cx="1635" cy="1495"/>
              <a:chOff x="520" y="702"/>
              <a:chExt cx="1281" cy="1403"/>
            </a:xfrm>
          </p:grpSpPr>
          <p:sp>
            <p:nvSpPr>
              <p:cNvPr id="98418" name="Rectangle 45"/>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grpSp>
            <p:nvGrpSpPr>
              <p:cNvPr id="98419" name="Group 46"/>
              <p:cNvGrpSpPr/>
              <p:nvPr/>
            </p:nvGrpSpPr>
            <p:grpSpPr>
              <a:xfrm>
                <a:off x="858" y="702"/>
                <a:ext cx="645" cy="1403"/>
                <a:chOff x="858" y="702"/>
                <a:chExt cx="645" cy="1380"/>
              </a:xfrm>
            </p:grpSpPr>
            <p:sp>
              <p:nvSpPr>
                <p:cNvPr id="98420" name="Line 47"/>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98421" name="Line 48"/>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98422" name="Line 49"/>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98398" name="Line 50"/>
            <p:cNvSpPr/>
            <p:nvPr/>
          </p:nvSpPr>
          <p:spPr>
            <a:xfrm>
              <a:off x="874" y="1327"/>
              <a:ext cx="1629" cy="0"/>
            </a:xfrm>
            <a:prstGeom prst="line">
              <a:avLst/>
            </a:prstGeom>
            <a:ln w="28575" cap="flat" cmpd="sng">
              <a:solidFill>
                <a:srgbClr val="3333FF"/>
              </a:solidFill>
              <a:prstDash val="solid"/>
              <a:headEnd type="none" w="med" len="med"/>
              <a:tailEnd type="none" w="med" len="med"/>
            </a:ln>
          </p:spPr>
        </p:sp>
        <p:sp>
          <p:nvSpPr>
            <p:cNvPr id="98399" name="Line 51"/>
            <p:cNvSpPr/>
            <p:nvPr/>
          </p:nvSpPr>
          <p:spPr>
            <a:xfrm>
              <a:off x="857" y="1741"/>
              <a:ext cx="1629" cy="0"/>
            </a:xfrm>
            <a:prstGeom prst="line">
              <a:avLst/>
            </a:prstGeom>
            <a:ln w="28575" cap="flat" cmpd="sng">
              <a:solidFill>
                <a:srgbClr val="3333FF"/>
              </a:solidFill>
              <a:prstDash val="solid"/>
              <a:headEnd type="none" w="med" len="med"/>
              <a:tailEnd type="none" w="med" len="med"/>
            </a:ln>
          </p:spPr>
        </p:sp>
        <p:sp>
          <p:nvSpPr>
            <p:cNvPr id="98400" name="Rectangle 52"/>
            <p:cNvSpPr/>
            <p:nvPr/>
          </p:nvSpPr>
          <p:spPr>
            <a:xfrm>
              <a:off x="1433" y="1745"/>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1</a:t>
              </a:r>
            </a:p>
          </p:txBody>
        </p:sp>
        <p:sp>
          <p:nvSpPr>
            <p:cNvPr id="98401" name="Rectangle 53"/>
            <p:cNvSpPr/>
            <p:nvPr/>
          </p:nvSpPr>
          <p:spPr>
            <a:xfrm>
              <a:off x="979" y="1744"/>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1</a:t>
              </a:r>
            </a:p>
          </p:txBody>
        </p:sp>
        <p:sp>
          <p:nvSpPr>
            <p:cNvPr id="98402" name="Rectangle 54"/>
            <p:cNvSpPr/>
            <p:nvPr/>
          </p:nvSpPr>
          <p:spPr>
            <a:xfrm>
              <a:off x="1387" y="1406"/>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d</a:t>
              </a:r>
            </a:p>
          </p:txBody>
        </p:sp>
        <p:sp>
          <p:nvSpPr>
            <p:cNvPr id="98403" name="Rectangle 55"/>
            <p:cNvSpPr/>
            <p:nvPr/>
          </p:nvSpPr>
          <p:spPr>
            <a:xfrm>
              <a:off x="946" y="1406"/>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d</a:t>
              </a:r>
            </a:p>
          </p:txBody>
        </p:sp>
        <p:sp>
          <p:nvSpPr>
            <p:cNvPr id="98404" name="Text Box 56"/>
            <p:cNvSpPr txBox="1"/>
            <p:nvPr/>
          </p:nvSpPr>
          <p:spPr>
            <a:xfrm>
              <a:off x="1797" y="594"/>
              <a:ext cx="221" cy="327"/>
            </a:xfrm>
            <a:prstGeom prst="rect">
              <a:avLst/>
            </a:prstGeom>
            <a:noFill/>
            <a:ln w="9525">
              <a:noFill/>
            </a:ln>
          </p:spPr>
          <p:txBody>
            <a:bodyPr>
              <a:spAutoFit/>
            </a:bodyPr>
            <a:lstStyle/>
            <a:p>
              <a:r>
                <a:rPr lang="en-US" altLang="zh-CN" sz="2800" dirty="0">
                  <a:latin typeface="Times New Roman" panose="02020603050405020304" pitchFamily="18" charset="0"/>
                </a:rPr>
                <a:t>0</a:t>
              </a:r>
            </a:p>
          </p:txBody>
        </p:sp>
        <p:sp>
          <p:nvSpPr>
            <p:cNvPr id="98405" name="Rectangle 57"/>
            <p:cNvSpPr/>
            <p:nvPr/>
          </p:nvSpPr>
          <p:spPr>
            <a:xfrm>
              <a:off x="1395" y="1022"/>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98406" name="Rectangle 58"/>
            <p:cNvSpPr/>
            <p:nvPr/>
          </p:nvSpPr>
          <p:spPr>
            <a:xfrm>
              <a:off x="964" y="1022"/>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d</a:t>
              </a:r>
            </a:p>
          </p:txBody>
        </p:sp>
        <p:sp>
          <p:nvSpPr>
            <p:cNvPr id="98407" name="Text Box 59"/>
            <p:cNvSpPr txBox="1"/>
            <p:nvPr/>
          </p:nvSpPr>
          <p:spPr>
            <a:xfrm>
              <a:off x="1797" y="1022"/>
              <a:ext cx="325" cy="327"/>
            </a:xfrm>
            <a:prstGeom prst="rect">
              <a:avLst/>
            </a:prstGeom>
            <a:noFill/>
            <a:ln w="9525">
              <a:noFill/>
            </a:ln>
          </p:spPr>
          <p:txBody>
            <a:bodyPr>
              <a:spAutoFit/>
            </a:bodyPr>
            <a:lstStyle/>
            <a:p>
              <a:r>
                <a:rPr lang="en-US" altLang="zh-CN" sz="2800" dirty="0">
                  <a:latin typeface="Times New Roman" panose="02020603050405020304" pitchFamily="18" charset="0"/>
                </a:rPr>
                <a:t>0</a:t>
              </a:r>
            </a:p>
          </p:txBody>
        </p:sp>
        <p:sp>
          <p:nvSpPr>
            <p:cNvPr id="98408" name="Line 60"/>
            <p:cNvSpPr/>
            <p:nvPr/>
          </p:nvSpPr>
          <p:spPr>
            <a:xfrm>
              <a:off x="569" y="306"/>
              <a:ext cx="285" cy="284"/>
            </a:xfrm>
            <a:prstGeom prst="line">
              <a:avLst/>
            </a:prstGeom>
            <a:ln w="28575" cap="flat" cmpd="sng">
              <a:solidFill>
                <a:srgbClr val="3333FF"/>
              </a:solidFill>
              <a:prstDash val="solid"/>
              <a:headEnd type="none" w="med" len="med"/>
              <a:tailEnd type="none" w="med" len="med"/>
            </a:ln>
          </p:spPr>
        </p:sp>
        <p:sp>
          <p:nvSpPr>
            <p:cNvPr id="98409" name="Text Box 61" descr="羊皮纸"/>
            <p:cNvSpPr txBox="1"/>
            <p:nvPr/>
          </p:nvSpPr>
          <p:spPr>
            <a:xfrm>
              <a:off x="1380" y="2056"/>
              <a:ext cx="352" cy="327"/>
            </a:xfrm>
            <a:prstGeom prst="rect">
              <a:avLst/>
            </a:prstGeom>
            <a:noFill/>
            <a:ln w="38100">
              <a:noFill/>
            </a:ln>
          </p:spPr>
          <p:txBody>
            <a:bodyPr wrap="none" lIns="90000" tIns="46800" rIns="90000" bIns="46800">
              <a:spAutoFit/>
            </a:bodyPr>
            <a:lstStyle/>
            <a:p>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3</a:t>
              </a:r>
            </a:p>
          </p:txBody>
        </p:sp>
        <p:sp>
          <p:nvSpPr>
            <p:cNvPr id="98410" name="Text Box 62" descr="羊皮纸"/>
            <p:cNvSpPr txBox="1"/>
            <p:nvPr/>
          </p:nvSpPr>
          <p:spPr>
            <a:xfrm>
              <a:off x="973" y="601"/>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98411" name="Text Box 63" descr="羊皮纸"/>
            <p:cNvSpPr txBox="1"/>
            <p:nvPr/>
          </p:nvSpPr>
          <p:spPr>
            <a:xfrm>
              <a:off x="1391" y="601"/>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98412" name="Text Box 64" descr="羊皮纸"/>
            <p:cNvSpPr txBox="1"/>
            <p:nvPr/>
          </p:nvSpPr>
          <p:spPr>
            <a:xfrm>
              <a:off x="2206" y="612"/>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1</a:t>
              </a:r>
            </a:p>
          </p:txBody>
        </p:sp>
        <p:sp>
          <p:nvSpPr>
            <p:cNvPr id="98413" name="Text Box 65" descr="羊皮纸"/>
            <p:cNvSpPr txBox="1"/>
            <p:nvPr/>
          </p:nvSpPr>
          <p:spPr>
            <a:xfrm>
              <a:off x="2186" y="1004"/>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d</a:t>
              </a:r>
            </a:p>
          </p:txBody>
        </p:sp>
        <p:sp>
          <p:nvSpPr>
            <p:cNvPr id="98414" name="Text Box 66" descr="羊皮纸"/>
            <p:cNvSpPr txBox="1"/>
            <p:nvPr/>
          </p:nvSpPr>
          <p:spPr>
            <a:xfrm>
              <a:off x="1778" y="1407"/>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d</a:t>
              </a:r>
            </a:p>
          </p:txBody>
        </p:sp>
        <p:sp>
          <p:nvSpPr>
            <p:cNvPr id="98415" name="Text Box 67" descr="羊皮纸"/>
            <p:cNvSpPr txBox="1"/>
            <p:nvPr/>
          </p:nvSpPr>
          <p:spPr>
            <a:xfrm>
              <a:off x="2183" y="1407"/>
              <a:ext cx="158" cy="327"/>
            </a:xfrm>
            <a:prstGeom prst="rect">
              <a:avLst/>
            </a:prstGeom>
            <a:noFill/>
            <a:ln w="38100">
              <a:noFill/>
            </a:ln>
          </p:spPr>
          <p:txBody>
            <a:bodyPr lIns="90000" tIns="46800" rIns="90000" bIns="46800">
              <a:spAutoFit/>
            </a:bodyPr>
            <a:lstStyle/>
            <a:p>
              <a:r>
                <a:rPr lang="en-US" altLang="zh-CN" sz="2800" dirty="0">
                  <a:latin typeface="Times New Roman" panose="02020603050405020304" pitchFamily="18" charset="0"/>
                </a:rPr>
                <a:t>d</a:t>
              </a:r>
            </a:p>
          </p:txBody>
        </p:sp>
        <p:sp>
          <p:nvSpPr>
            <p:cNvPr id="98416" name="Text Box 68" descr="羊皮纸"/>
            <p:cNvSpPr txBox="1"/>
            <p:nvPr/>
          </p:nvSpPr>
          <p:spPr>
            <a:xfrm>
              <a:off x="1811" y="1754"/>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1</a:t>
              </a:r>
            </a:p>
          </p:txBody>
        </p:sp>
        <p:sp>
          <p:nvSpPr>
            <p:cNvPr id="98417" name="Text Box 69" descr="羊皮纸"/>
            <p:cNvSpPr txBox="1"/>
            <p:nvPr/>
          </p:nvSpPr>
          <p:spPr>
            <a:xfrm>
              <a:off x="2197" y="1742"/>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1</a:t>
              </a:r>
            </a:p>
          </p:txBody>
        </p:sp>
      </p:grpSp>
      <p:grpSp>
        <p:nvGrpSpPr>
          <p:cNvPr id="8" name="Group 70"/>
          <p:cNvGrpSpPr/>
          <p:nvPr/>
        </p:nvGrpSpPr>
        <p:grpSpPr>
          <a:xfrm>
            <a:off x="2295525" y="3395663"/>
            <a:ext cx="3425825" cy="3462337"/>
            <a:chOff x="354" y="2139"/>
            <a:chExt cx="2158" cy="2181"/>
          </a:xfrm>
        </p:grpSpPr>
        <p:sp>
          <p:nvSpPr>
            <p:cNvPr id="98357" name="AutoShape 71"/>
            <p:cNvSpPr/>
            <p:nvPr/>
          </p:nvSpPr>
          <p:spPr>
            <a:xfrm>
              <a:off x="1343" y="3355"/>
              <a:ext cx="316" cy="609"/>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sp>
          <p:nvSpPr>
            <p:cNvPr id="98358" name="AutoShape 72"/>
            <p:cNvSpPr/>
            <p:nvPr/>
          </p:nvSpPr>
          <p:spPr>
            <a:xfrm>
              <a:off x="2130" y="3339"/>
              <a:ext cx="334" cy="603"/>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sp>
          <p:nvSpPr>
            <p:cNvPr id="98359" name="Line 73"/>
            <p:cNvSpPr/>
            <p:nvPr/>
          </p:nvSpPr>
          <p:spPr>
            <a:xfrm>
              <a:off x="865" y="2893"/>
              <a:ext cx="1629" cy="0"/>
            </a:xfrm>
            <a:prstGeom prst="line">
              <a:avLst/>
            </a:prstGeom>
            <a:ln w="28575" cap="flat" cmpd="sng">
              <a:solidFill>
                <a:srgbClr val="3333FF"/>
              </a:solidFill>
              <a:prstDash val="solid"/>
              <a:headEnd type="none" w="med" len="med"/>
              <a:tailEnd type="none" w="med" len="med"/>
            </a:ln>
          </p:spPr>
        </p:sp>
        <p:sp>
          <p:nvSpPr>
            <p:cNvPr id="98360" name="Text Box 74"/>
            <p:cNvSpPr txBox="1"/>
            <p:nvPr/>
          </p:nvSpPr>
          <p:spPr>
            <a:xfrm>
              <a:off x="908" y="2279"/>
              <a:ext cx="1604"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00     01     11     10</a:t>
              </a:r>
            </a:p>
          </p:txBody>
        </p:sp>
        <p:sp>
          <p:nvSpPr>
            <p:cNvPr id="98361" name="Text Box 75"/>
            <p:cNvSpPr txBox="1"/>
            <p:nvPr/>
          </p:nvSpPr>
          <p:spPr>
            <a:xfrm>
              <a:off x="525" y="2458"/>
              <a:ext cx="339" cy="1530"/>
            </a:xfrm>
            <a:prstGeom prst="rect">
              <a:avLst/>
            </a:prstGeom>
            <a:noFill/>
            <a:ln w="9525">
              <a:noFill/>
            </a:ln>
          </p:spPr>
          <p:txBody>
            <a:bodyPr>
              <a:spAutoFit/>
            </a:bodyPr>
            <a:lstStyle/>
            <a:p>
              <a:pPr>
                <a:lnSpc>
                  <a:spcPct val="160000"/>
                </a:lnSpc>
              </a:pPr>
              <a:r>
                <a:rPr lang="en-US" altLang="zh-CN" sz="2400" dirty="0">
                  <a:latin typeface="Times New Roman" panose="02020603050405020304" pitchFamily="18" charset="0"/>
                </a:rPr>
                <a:t>00</a:t>
              </a:r>
            </a:p>
            <a:p>
              <a:pPr>
                <a:lnSpc>
                  <a:spcPct val="160000"/>
                </a:lnSpc>
              </a:pPr>
              <a:r>
                <a:rPr lang="en-US" altLang="zh-CN" sz="2400" dirty="0">
                  <a:latin typeface="Times New Roman" panose="02020603050405020304" pitchFamily="18" charset="0"/>
                </a:rPr>
                <a:t>01</a:t>
              </a:r>
            </a:p>
            <a:p>
              <a:pPr>
                <a:lnSpc>
                  <a:spcPct val="160000"/>
                </a:lnSpc>
              </a:pPr>
              <a:r>
                <a:rPr lang="en-US" altLang="zh-CN" sz="2400" dirty="0">
                  <a:latin typeface="Times New Roman" panose="02020603050405020304" pitchFamily="18" charset="0"/>
                </a:rPr>
                <a:t>11</a:t>
              </a:r>
            </a:p>
            <a:p>
              <a:pPr>
                <a:lnSpc>
                  <a:spcPct val="160000"/>
                </a:lnSpc>
              </a:pPr>
              <a:r>
                <a:rPr lang="en-US" altLang="zh-CN" sz="2400" dirty="0">
                  <a:latin typeface="Times New Roman" panose="02020603050405020304" pitchFamily="18" charset="0"/>
                </a:rPr>
                <a:t>10</a:t>
              </a:r>
            </a:p>
          </p:txBody>
        </p:sp>
        <p:sp>
          <p:nvSpPr>
            <p:cNvPr id="98362" name="Text Box 76"/>
            <p:cNvSpPr txBox="1"/>
            <p:nvPr/>
          </p:nvSpPr>
          <p:spPr>
            <a:xfrm>
              <a:off x="615" y="2139"/>
              <a:ext cx="390" cy="327"/>
            </a:xfrm>
            <a:prstGeom prst="rect">
              <a:avLst/>
            </a:prstGeom>
            <a:noFill/>
            <a:ln w="9525">
              <a:noFill/>
            </a:ln>
          </p:spPr>
          <p:txBody>
            <a:bodyPr wrap="none">
              <a:spAutoFit/>
            </a:bodyPr>
            <a:lstStyle/>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p>
          </p:txBody>
        </p:sp>
        <p:sp>
          <p:nvSpPr>
            <p:cNvPr id="98363" name="Text Box 77"/>
            <p:cNvSpPr txBox="1"/>
            <p:nvPr/>
          </p:nvSpPr>
          <p:spPr>
            <a:xfrm>
              <a:off x="354" y="2261"/>
              <a:ext cx="466"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p>
          </p:txBody>
        </p:sp>
        <p:grpSp>
          <p:nvGrpSpPr>
            <p:cNvPr id="98364" name="Group 78"/>
            <p:cNvGrpSpPr/>
            <p:nvPr/>
          </p:nvGrpSpPr>
          <p:grpSpPr>
            <a:xfrm>
              <a:off x="847" y="2514"/>
              <a:ext cx="1635" cy="1495"/>
              <a:chOff x="520" y="702"/>
              <a:chExt cx="1281" cy="1403"/>
            </a:xfrm>
          </p:grpSpPr>
          <p:sp>
            <p:nvSpPr>
              <p:cNvPr id="98385" name="Rectangle 79"/>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grpSp>
            <p:nvGrpSpPr>
              <p:cNvPr id="98386" name="Group 80"/>
              <p:cNvGrpSpPr/>
              <p:nvPr/>
            </p:nvGrpSpPr>
            <p:grpSpPr>
              <a:xfrm>
                <a:off x="858" y="702"/>
                <a:ext cx="645" cy="1403"/>
                <a:chOff x="858" y="702"/>
                <a:chExt cx="645" cy="1380"/>
              </a:xfrm>
            </p:grpSpPr>
            <p:sp>
              <p:nvSpPr>
                <p:cNvPr id="98387" name="Line 81"/>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98388" name="Line 82"/>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98389" name="Line 83"/>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98365" name="Line 84"/>
            <p:cNvSpPr/>
            <p:nvPr/>
          </p:nvSpPr>
          <p:spPr>
            <a:xfrm>
              <a:off x="865" y="3264"/>
              <a:ext cx="1629" cy="0"/>
            </a:xfrm>
            <a:prstGeom prst="line">
              <a:avLst/>
            </a:prstGeom>
            <a:ln w="28575" cap="flat" cmpd="sng">
              <a:solidFill>
                <a:srgbClr val="3333FF"/>
              </a:solidFill>
              <a:prstDash val="solid"/>
              <a:headEnd type="none" w="med" len="med"/>
              <a:tailEnd type="none" w="med" len="med"/>
            </a:ln>
          </p:spPr>
        </p:sp>
        <p:sp>
          <p:nvSpPr>
            <p:cNvPr id="98366" name="Line 85"/>
            <p:cNvSpPr/>
            <p:nvPr/>
          </p:nvSpPr>
          <p:spPr>
            <a:xfrm>
              <a:off x="848" y="3678"/>
              <a:ext cx="1629" cy="0"/>
            </a:xfrm>
            <a:prstGeom prst="line">
              <a:avLst/>
            </a:prstGeom>
            <a:ln w="28575" cap="flat" cmpd="sng">
              <a:solidFill>
                <a:srgbClr val="3333FF"/>
              </a:solidFill>
              <a:prstDash val="solid"/>
              <a:headEnd type="none" w="med" len="med"/>
              <a:tailEnd type="none" w="med" len="med"/>
            </a:ln>
          </p:spPr>
        </p:sp>
        <p:sp>
          <p:nvSpPr>
            <p:cNvPr id="98367" name="Rectangle 86"/>
            <p:cNvSpPr/>
            <p:nvPr/>
          </p:nvSpPr>
          <p:spPr>
            <a:xfrm>
              <a:off x="1424" y="3682"/>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1</a:t>
              </a:r>
            </a:p>
          </p:txBody>
        </p:sp>
        <p:sp>
          <p:nvSpPr>
            <p:cNvPr id="98368" name="Rectangle 87"/>
            <p:cNvSpPr/>
            <p:nvPr/>
          </p:nvSpPr>
          <p:spPr>
            <a:xfrm>
              <a:off x="970" y="3681"/>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98369" name="Rectangle 88"/>
            <p:cNvSpPr/>
            <p:nvPr/>
          </p:nvSpPr>
          <p:spPr>
            <a:xfrm>
              <a:off x="1378" y="3343"/>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d</a:t>
              </a:r>
            </a:p>
          </p:txBody>
        </p:sp>
        <p:sp>
          <p:nvSpPr>
            <p:cNvPr id="98370" name="Rectangle 89"/>
            <p:cNvSpPr/>
            <p:nvPr/>
          </p:nvSpPr>
          <p:spPr>
            <a:xfrm>
              <a:off x="937" y="3343"/>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d</a:t>
              </a:r>
            </a:p>
          </p:txBody>
        </p:sp>
        <p:sp>
          <p:nvSpPr>
            <p:cNvPr id="98371" name="Text Box 90"/>
            <p:cNvSpPr txBox="1"/>
            <p:nvPr/>
          </p:nvSpPr>
          <p:spPr>
            <a:xfrm>
              <a:off x="1788" y="2531"/>
              <a:ext cx="221" cy="327"/>
            </a:xfrm>
            <a:prstGeom prst="rect">
              <a:avLst/>
            </a:prstGeom>
            <a:noFill/>
            <a:ln w="9525">
              <a:noFill/>
            </a:ln>
          </p:spPr>
          <p:txBody>
            <a:bodyPr>
              <a:spAutoFit/>
            </a:bodyPr>
            <a:lstStyle/>
            <a:p>
              <a:r>
                <a:rPr lang="en-US" altLang="zh-CN" sz="2800" dirty="0">
                  <a:latin typeface="Times New Roman" panose="02020603050405020304" pitchFamily="18" charset="0"/>
                </a:rPr>
                <a:t>0</a:t>
              </a:r>
            </a:p>
          </p:txBody>
        </p:sp>
        <p:sp>
          <p:nvSpPr>
            <p:cNvPr id="98372" name="Rectangle 91"/>
            <p:cNvSpPr/>
            <p:nvPr/>
          </p:nvSpPr>
          <p:spPr>
            <a:xfrm>
              <a:off x="1386" y="2959"/>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98373" name="Rectangle 92"/>
            <p:cNvSpPr/>
            <p:nvPr/>
          </p:nvSpPr>
          <p:spPr>
            <a:xfrm>
              <a:off x="955" y="2959"/>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d</a:t>
              </a:r>
            </a:p>
          </p:txBody>
        </p:sp>
        <p:sp>
          <p:nvSpPr>
            <p:cNvPr id="98374" name="Text Box 93"/>
            <p:cNvSpPr txBox="1"/>
            <p:nvPr/>
          </p:nvSpPr>
          <p:spPr>
            <a:xfrm>
              <a:off x="1788" y="2959"/>
              <a:ext cx="325" cy="327"/>
            </a:xfrm>
            <a:prstGeom prst="rect">
              <a:avLst/>
            </a:prstGeom>
            <a:noFill/>
            <a:ln w="9525">
              <a:noFill/>
            </a:ln>
          </p:spPr>
          <p:txBody>
            <a:bodyPr>
              <a:spAutoFit/>
            </a:bodyPr>
            <a:lstStyle/>
            <a:p>
              <a:r>
                <a:rPr lang="en-US" altLang="zh-CN" sz="2800" dirty="0">
                  <a:latin typeface="Times New Roman" panose="02020603050405020304" pitchFamily="18" charset="0"/>
                </a:rPr>
                <a:t>0</a:t>
              </a:r>
            </a:p>
          </p:txBody>
        </p:sp>
        <p:sp>
          <p:nvSpPr>
            <p:cNvPr id="98375" name="Line 94"/>
            <p:cNvSpPr/>
            <p:nvPr/>
          </p:nvSpPr>
          <p:spPr>
            <a:xfrm>
              <a:off x="560" y="2243"/>
              <a:ext cx="285" cy="284"/>
            </a:xfrm>
            <a:prstGeom prst="line">
              <a:avLst/>
            </a:prstGeom>
            <a:ln w="28575" cap="flat" cmpd="sng">
              <a:solidFill>
                <a:srgbClr val="3333FF"/>
              </a:solidFill>
              <a:prstDash val="solid"/>
              <a:headEnd type="none" w="med" len="med"/>
              <a:tailEnd type="none" w="med" len="med"/>
            </a:ln>
          </p:spPr>
        </p:sp>
        <p:sp>
          <p:nvSpPr>
            <p:cNvPr id="98376" name="Text Box 95" descr="羊皮纸"/>
            <p:cNvSpPr txBox="1"/>
            <p:nvPr/>
          </p:nvSpPr>
          <p:spPr>
            <a:xfrm>
              <a:off x="1371" y="3993"/>
              <a:ext cx="352" cy="327"/>
            </a:xfrm>
            <a:prstGeom prst="rect">
              <a:avLst/>
            </a:prstGeom>
            <a:noFill/>
            <a:ln w="38100">
              <a:noFill/>
            </a:ln>
          </p:spPr>
          <p:txBody>
            <a:bodyPr wrap="none" lIns="90000" tIns="46800" rIns="90000" bIns="46800">
              <a:spAutoFit/>
            </a:bodyPr>
            <a:lstStyle/>
            <a:p>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1</a:t>
              </a:r>
            </a:p>
          </p:txBody>
        </p:sp>
        <p:sp>
          <p:nvSpPr>
            <p:cNvPr id="98377" name="Text Box 96" descr="羊皮纸"/>
            <p:cNvSpPr txBox="1"/>
            <p:nvPr/>
          </p:nvSpPr>
          <p:spPr>
            <a:xfrm>
              <a:off x="964" y="2538"/>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98378" name="Text Box 97" descr="羊皮纸"/>
            <p:cNvSpPr txBox="1"/>
            <p:nvPr/>
          </p:nvSpPr>
          <p:spPr>
            <a:xfrm>
              <a:off x="1382" y="2538"/>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98379" name="Text Box 98" descr="羊皮纸"/>
            <p:cNvSpPr txBox="1"/>
            <p:nvPr/>
          </p:nvSpPr>
          <p:spPr>
            <a:xfrm>
              <a:off x="2197" y="2549"/>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98380" name="Text Box 99" descr="羊皮纸"/>
            <p:cNvSpPr txBox="1"/>
            <p:nvPr/>
          </p:nvSpPr>
          <p:spPr>
            <a:xfrm>
              <a:off x="2177" y="2941"/>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d</a:t>
              </a:r>
            </a:p>
          </p:txBody>
        </p:sp>
        <p:sp>
          <p:nvSpPr>
            <p:cNvPr id="98381" name="Text Box 100" descr="羊皮纸"/>
            <p:cNvSpPr txBox="1"/>
            <p:nvPr/>
          </p:nvSpPr>
          <p:spPr>
            <a:xfrm>
              <a:off x="1769" y="3344"/>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d</a:t>
              </a:r>
            </a:p>
          </p:txBody>
        </p:sp>
        <p:sp>
          <p:nvSpPr>
            <p:cNvPr id="98382" name="Text Box 101" descr="羊皮纸"/>
            <p:cNvSpPr txBox="1"/>
            <p:nvPr/>
          </p:nvSpPr>
          <p:spPr>
            <a:xfrm>
              <a:off x="2174" y="3344"/>
              <a:ext cx="158" cy="327"/>
            </a:xfrm>
            <a:prstGeom prst="rect">
              <a:avLst/>
            </a:prstGeom>
            <a:noFill/>
            <a:ln w="38100">
              <a:noFill/>
            </a:ln>
          </p:spPr>
          <p:txBody>
            <a:bodyPr lIns="90000" tIns="46800" rIns="90000" bIns="46800">
              <a:spAutoFit/>
            </a:bodyPr>
            <a:lstStyle/>
            <a:p>
              <a:r>
                <a:rPr lang="en-US" altLang="zh-CN" sz="2800" dirty="0">
                  <a:latin typeface="Times New Roman" panose="02020603050405020304" pitchFamily="18" charset="0"/>
                </a:rPr>
                <a:t>d</a:t>
              </a:r>
            </a:p>
          </p:txBody>
        </p:sp>
        <p:sp>
          <p:nvSpPr>
            <p:cNvPr id="98383" name="Text Box 102" descr="羊皮纸"/>
            <p:cNvSpPr txBox="1"/>
            <p:nvPr/>
          </p:nvSpPr>
          <p:spPr>
            <a:xfrm>
              <a:off x="1802" y="3691"/>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98384" name="Text Box 103" descr="羊皮纸"/>
            <p:cNvSpPr txBox="1"/>
            <p:nvPr/>
          </p:nvSpPr>
          <p:spPr>
            <a:xfrm>
              <a:off x="2188" y="3679"/>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1</a:t>
              </a:r>
            </a:p>
          </p:txBody>
        </p:sp>
      </p:grpSp>
      <p:grpSp>
        <p:nvGrpSpPr>
          <p:cNvPr id="11" name="Group 104"/>
          <p:cNvGrpSpPr/>
          <p:nvPr/>
        </p:nvGrpSpPr>
        <p:grpSpPr>
          <a:xfrm>
            <a:off x="5718175" y="3395663"/>
            <a:ext cx="3425825" cy="3462337"/>
            <a:chOff x="2827" y="2139"/>
            <a:chExt cx="2158" cy="2181"/>
          </a:xfrm>
        </p:grpSpPr>
        <p:sp>
          <p:nvSpPr>
            <p:cNvPr id="98324" name="Oval 105"/>
            <p:cNvSpPr/>
            <p:nvPr/>
          </p:nvSpPr>
          <p:spPr>
            <a:xfrm>
              <a:off x="3804" y="2536"/>
              <a:ext cx="305" cy="332"/>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sp>
          <p:nvSpPr>
            <p:cNvPr id="98325" name="AutoShape 106"/>
            <p:cNvSpPr/>
            <p:nvPr/>
          </p:nvSpPr>
          <p:spPr>
            <a:xfrm>
              <a:off x="4219" y="2966"/>
              <a:ext cx="718" cy="707"/>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sp>
          <p:nvSpPr>
            <p:cNvPr id="98326" name="Line 107"/>
            <p:cNvSpPr/>
            <p:nvPr/>
          </p:nvSpPr>
          <p:spPr>
            <a:xfrm>
              <a:off x="3338" y="2893"/>
              <a:ext cx="1629" cy="0"/>
            </a:xfrm>
            <a:prstGeom prst="line">
              <a:avLst/>
            </a:prstGeom>
            <a:ln w="28575" cap="flat" cmpd="sng">
              <a:solidFill>
                <a:srgbClr val="3333FF"/>
              </a:solidFill>
              <a:prstDash val="solid"/>
              <a:headEnd type="none" w="med" len="med"/>
              <a:tailEnd type="none" w="med" len="med"/>
            </a:ln>
          </p:spPr>
        </p:sp>
        <p:sp>
          <p:nvSpPr>
            <p:cNvPr id="98327" name="Text Box 108"/>
            <p:cNvSpPr txBox="1"/>
            <p:nvPr/>
          </p:nvSpPr>
          <p:spPr>
            <a:xfrm>
              <a:off x="3381" y="2279"/>
              <a:ext cx="1604"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00     01     11     10</a:t>
              </a:r>
            </a:p>
          </p:txBody>
        </p:sp>
        <p:sp>
          <p:nvSpPr>
            <p:cNvPr id="98328" name="Text Box 109"/>
            <p:cNvSpPr txBox="1"/>
            <p:nvPr/>
          </p:nvSpPr>
          <p:spPr>
            <a:xfrm>
              <a:off x="2998" y="2458"/>
              <a:ext cx="339" cy="1530"/>
            </a:xfrm>
            <a:prstGeom prst="rect">
              <a:avLst/>
            </a:prstGeom>
            <a:noFill/>
            <a:ln w="9525">
              <a:noFill/>
            </a:ln>
          </p:spPr>
          <p:txBody>
            <a:bodyPr>
              <a:spAutoFit/>
            </a:bodyPr>
            <a:lstStyle/>
            <a:p>
              <a:pPr>
                <a:lnSpc>
                  <a:spcPct val="160000"/>
                </a:lnSpc>
              </a:pPr>
              <a:r>
                <a:rPr lang="en-US" altLang="zh-CN" sz="2400" dirty="0">
                  <a:latin typeface="Times New Roman" panose="02020603050405020304" pitchFamily="18" charset="0"/>
                </a:rPr>
                <a:t>00</a:t>
              </a:r>
            </a:p>
            <a:p>
              <a:pPr>
                <a:lnSpc>
                  <a:spcPct val="160000"/>
                </a:lnSpc>
              </a:pPr>
              <a:r>
                <a:rPr lang="en-US" altLang="zh-CN" sz="2400" dirty="0">
                  <a:latin typeface="Times New Roman" panose="02020603050405020304" pitchFamily="18" charset="0"/>
                </a:rPr>
                <a:t>01</a:t>
              </a:r>
            </a:p>
            <a:p>
              <a:pPr>
                <a:lnSpc>
                  <a:spcPct val="160000"/>
                </a:lnSpc>
              </a:pPr>
              <a:r>
                <a:rPr lang="en-US" altLang="zh-CN" sz="2400" dirty="0">
                  <a:latin typeface="Times New Roman" panose="02020603050405020304" pitchFamily="18" charset="0"/>
                </a:rPr>
                <a:t>11</a:t>
              </a:r>
            </a:p>
            <a:p>
              <a:pPr>
                <a:lnSpc>
                  <a:spcPct val="160000"/>
                </a:lnSpc>
              </a:pPr>
              <a:r>
                <a:rPr lang="en-US" altLang="zh-CN" sz="2400" dirty="0">
                  <a:latin typeface="Times New Roman" panose="02020603050405020304" pitchFamily="18" charset="0"/>
                </a:rPr>
                <a:t>10</a:t>
              </a:r>
            </a:p>
          </p:txBody>
        </p:sp>
        <p:sp>
          <p:nvSpPr>
            <p:cNvPr id="98329" name="Text Box 110"/>
            <p:cNvSpPr txBox="1"/>
            <p:nvPr/>
          </p:nvSpPr>
          <p:spPr>
            <a:xfrm>
              <a:off x="3088" y="2139"/>
              <a:ext cx="390" cy="327"/>
            </a:xfrm>
            <a:prstGeom prst="rect">
              <a:avLst/>
            </a:prstGeom>
            <a:noFill/>
            <a:ln w="9525">
              <a:noFill/>
            </a:ln>
          </p:spPr>
          <p:txBody>
            <a:bodyPr wrap="none">
              <a:spAutoFit/>
            </a:bodyPr>
            <a:lstStyle/>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p>
          </p:txBody>
        </p:sp>
        <p:sp>
          <p:nvSpPr>
            <p:cNvPr id="98330" name="Text Box 111"/>
            <p:cNvSpPr txBox="1"/>
            <p:nvPr/>
          </p:nvSpPr>
          <p:spPr>
            <a:xfrm>
              <a:off x="2827" y="2261"/>
              <a:ext cx="466"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p>
          </p:txBody>
        </p:sp>
        <p:grpSp>
          <p:nvGrpSpPr>
            <p:cNvPr id="98331" name="Group 112"/>
            <p:cNvGrpSpPr/>
            <p:nvPr/>
          </p:nvGrpSpPr>
          <p:grpSpPr>
            <a:xfrm>
              <a:off x="3320" y="2514"/>
              <a:ext cx="1635" cy="1495"/>
              <a:chOff x="520" y="702"/>
              <a:chExt cx="1281" cy="1403"/>
            </a:xfrm>
          </p:grpSpPr>
          <p:sp>
            <p:nvSpPr>
              <p:cNvPr id="98352" name="Rectangle 113"/>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grpSp>
            <p:nvGrpSpPr>
              <p:cNvPr id="98353" name="Group 114"/>
              <p:cNvGrpSpPr/>
              <p:nvPr/>
            </p:nvGrpSpPr>
            <p:grpSpPr>
              <a:xfrm>
                <a:off x="858" y="702"/>
                <a:ext cx="645" cy="1403"/>
                <a:chOff x="858" y="702"/>
                <a:chExt cx="645" cy="1380"/>
              </a:xfrm>
            </p:grpSpPr>
            <p:sp>
              <p:nvSpPr>
                <p:cNvPr id="98354" name="Line 115"/>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98355" name="Line 116"/>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98356" name="Line 117"/>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98332" name="Line 118"/>
            <p:cNvSpPr/>
            <p:nvPr/>
          </p:nvSpPr>
          <p:spPr>
            <a:xfrm>
              <a:off x="3338" y="3264"/>
              <a:ext cx="1629" cy="0"/>
            </a:xfrm>
            <a:prstGeom prst="line">
              <a:avLst/>
            </a:prstGeom>
            <a:ln w="28575" cap="flat" cmpd="sng">
              <a:solidFill>
                <a:srgbClr val="3333FF"/>
              </a:solidFill>
              <a:prstDash val="solid"/>
              <a:headEnd type="none" w="med" len="med"/>
              <a:tailEnd type="none" w="med" len="med"/>
            </a:ln>
          </p:spPr>
        </p:sp>
        <p:sp>
          <p:nvSpPr>
            <p:cNvPr id="98333" name="Line 119"/>
            <p:cNvSpPr/>
            <p:nvPr/>
          </p:nvSpPr>
          <p:spPr>
            <a:xfrm>
              <a:off x="3321" y="3678"/>
              <a:ext cx="1629" cy="0"/>
            </a:xfrm>
            <a:prstGeom prst="line">
              <a:avLst/>
            </a:prstGeom>
            <a:ln w="28575" cap="flat" cmpd="sng">
              <a:solidFill>
                <a:srgbClr val="3333FF"/>
              </a:solidFill>
              <a:prstDash val="solid"/>
              <a:headEnd type="none" w="med" len="med"/>
              <a:tailEnd type="none" w="med" len="med"/>
            </a:ln>
          </p:spPr>
        </p:sp>
        <p:sp>
          <p:nvSpPr>
            <p:cNvPr id="98334" name="Rectangle 120"/>
            <p:cNvSpPr/>
            <p:nvPr/>
          </p:nvSpPr>
          <p:spPr>
            <a:xfrm>
              <a:off x="3897" y="3682"/>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98335" name="Rectangle 121"/>
            <p:cNvSpPr/>
            <p:nvPr/>
          </p:nvSpPr>
          <p:spPr>
            <a:xfrm>
              <a:off x="3443" y="3681"/>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98336" name="Rectangle 122"/>
            <p:cNvSpPr/>
            <p:nvPr/>
          </p:nvSpPr>
          <p:spPr>
            <a:xfrm>
              <a:off x="3851" y="3343"/>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d</a:t>
              </a:r>
            </a:p>
          </p:txBody>
        </p:sp>
        <p:sp>
          <p:nvSpPr>
            <p:cNvPr id="98337" name="Rectangle 123"/>
            <p:cNvSpPr/>
            <p:nvPr/>
          </p:nvSpPr>
          <p:spPr>
            <a:xfrm>
              <a:off x="3410" y="3343"/>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d</a:t>
              </a:r>
            </a:p>
          </p:txBody>
        </p:sp>
        <p:sp>
          <p:nvSpPr>
            <p:cNvPr id="98338" name="Text Box 124"/>
            <p:cNvSpPr txBox="1"/>
            <p:nvPr/>
          </p:nvSpPr>
          <p:spPr>
            <a:xfrm>
              <a:off x="4261" y="2531"/>
              <a:ext cx="221" cy="327"/>
            </a:xfrm>
            <a:prstGeom prst="rect">
              <a:avLst/>
            </a:prstGeom>
            <a:noFill/>
            <a:ln w="9525">
              <a:noFill/>
            </a:ln>
          </p:spPr>
          <p:txBody>
            <a:bodyPr>
              <a:spAutoFit/>
            </a:bodyPr>
            <a:lstStyle/>
            <a:p>
              <a:r>
                <a:rPr lang="en-US" altLang="zh-CN" sz="2800" dirty="0">
                  <a:latin typeface="Times New Roman" panose="02020603050405020304" pitchFamily="18" charset="0"/>
                </a:rPr>
                <a:t>0</a:t>
              </a:r>
            </a:p>
          </p:txBody>
        </p:sp>
        <p:sp>
          <p:nvSpPr>
            <p:cNvPr id="98339" name="Rectangle 125"/>
            <p:cNvSpPr/>
            <p:nvPr/>
          </p:nvSpPr>
          <p:spPr>
            <a:xfrm>
              <a:off x="3859" y="2959"/>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98340" name="Rectangle 126"/>
            <p:cNvSpPr/>
            <p:nvPr/>
          </p:nvSpPr>
          <p:spPr>
            <a:xfrm>
              <a:off x="3428" y="2959"/>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d</a:t>
              </a:r>
            </a:p>
          </p:txBody>
        </p:sp>
        <p:sp>
          <p:nvSpPr>
            <p:cNvPr id="98341" name="Text Box 127"/>
            <p:cNvSpPr txBox="1"/>
            <p:nvPr/>
          </p:nvSpPr>
          <p:spPr>
            <a:xfrm>
              <a:off x="4261" y="2959"/>
              <a:ext cx="325" cy="327"/>
            </a:xfrm>
            <a:prstGeom prst="rect">
              <a:avLst/>
            </a:prstGeom>
            <a:noFill/>
            <a:ln w="9525">
              <a:noFill/>
            </a:ln>
          </p:spPr>
          <p:txBody>
            <a:bodyPr>
              <a:spAutoFit/>
            </a:bodyPr>
            <a:lstStyle/>
            <a:p>
              <a:r>
                <a:rPr lang="en-US" altLang="zh-CN" sz="2800" dirty="0">
                  <a:latin typeface="Times New Roman" panose="02020603050405020304" pitchFamily="18" charset="0"/>
                </a:rPr>
                <a:t>1</a:t>
              </a:r>
            </a:p>
          </p:txBody>
        </p:sp>
        <p:sp>
          <p:nvSpPr>
            <p:cNvPr id="98342" name="Line 128"/>
            <p:cNvSpPr/>
            <p:nvPr/>
          </p:nvSpPr>
          <p:spPr>
            <a:xfrm>
              <a:off x="3033" y="2243"/>
              <a:ext cx="285" cy="284"/>
            </a:xfrm>
            <a:prstGeom prst="line">
              <a:avLst/>
            </a:prstGeom>
            <a:ln w="28575" cap="flat" cmpd="sng">
              <a:solidFill>
                <a:srgbClr val="3333FF"/>
              </a:solidFill>
              <a:prstDash val="solid"/>
              <a:headEnd type="none" w="med" len="med"/>
              <a:tailEnd type="none" w="med" len="med"/>
            </a:ln>
          </p:spPr>
        </p:sp>
        <p:sp>
          <p:nvSpPr>
            <p:cNvPr id="98343" name="Text Box 129" descr="羊皮纸"/>
            <p:cNvSpPr txBox="1"/>
            <p:nvPr/>
          </p:nvSpPr>
          <p:spPr>
            <a:xfrm>
              <a:off x="3844" y="3993"/>
              <a:ext cx="239" cy="327"/>
            </a:xfrm>
            <a:prstGeom prst="rect">
              <a:avLst/>
            </a:prstGeom>
            <a:noFill/>
            <a:ln w="38100">
              <a:noFill/>
            </a:ln>
          </p:spPr>
          <p:txBody>
            <a:bodyPr wrap="none" lIns="90000" tIns="46800" rIns="90000" bIns="46800">
              <a:spAutoFit/>
            </a:bodyPr>
            <a:lstStyle/>
            <a:p>
              <a:r>
                <a:rPr lang="en-US" altLang="zh-CN" sz="2800" i="1" dirty="0">
                  <a:latin typeface="Times New Roman" panose="02020603050405020304" pitchFamily="18" charset="0"/>
                </a:rPr>
                <a:t>Z</a:t>
              </a:r>
              <a:endParaRPr lang="en-US" altLang="zh-CN" sz="2800" i="1" baseline="-25000" dirty="0">
                <a:latin typeface="Times New Roman" panose="02020603050405020304" pitchFamily="18" charset="0"/>
              </a:endParaRPr>
            </a:p>
          </p:txBody>
        </p:sp>
        <p:sp>
          <p:nvSpPr>
            <p:cNvPr id="98344" name="Text Box 130" descr="羊皮纸"/>
            <p:cNvSpPr txBox="1"/>
            <p:nvPr/>
          </p:nvSpPr>
          <p:spPr>
            <a:xfrm>
              <a:off x="3437" y="2538"/>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98345" name="Text Box 131" descr="羊皮纸"/>
            <p:cNvSpPr txBox="1"/>
            <p:nvPr/>
          </p:nvSpPr>
          <p:spPr>
            <a:xfrm>
              <a:off x="3855" y="2538"/>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1</a:t>
              </a:r>
            </a:p>
          </p:txBody>
        </p:sp>
        <p:sp>
          <p:nvSpPr>
            <p:cNvPr id="98346" name="Text Box 132" descr="羊皮纸"/>
            <p:cNvSpPr txBox="1"/>
            <p:nvPr/>
          </p:nvSpPr>
          <p:spPr>
            <a:xfrm>
              <a:off x="4670" y="2549"/>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98347" name="Text Box 133" descr="羊皮纸"/>
            <p:cNvSpPr txBox="1"/>
            <p:nvPr/>
          </p:nvSpPr>
          <p:spPr>
            <a:xfrm>
              <a:off x="4650" y="2941"/>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d</a:t>
              </a:r>
            </a:p>
          </p:txBody>
        </p:sp>
        <p:sp>
          <p:nvSpPr>
            <p:cNvPr id="98348" name="Text Box 134" descr="羊皮纸"/>
            <p:cNvSpPr txBox="1"/>
            <p:nvPr/>
          </p:nvSpPr>
          <p:spPr>
            <a:xfrm>
              <a:off x="4242" y="3344"/>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d</a:t>
              </a:r>
            </a:p>
          </p:txBody>
        </p:sp>
        <p:sp>
          <p:nvSpPr>
            <p:cNvPr id="98349" name="Text Box 135" descr="羊皮纸"/>
            <p:cNvSpPr txBox="1"/>
            <p:nvPr/>
          </p:nvSpPr>
          <p:spPr>
            <a:xfrm>
              <a:off x="4647" y="3344"/>
              <a:ext cx="158" cy="327"/>
            </a:xfrm>
            <a:prstGeom prst="rect">
              <a:avLst/>
            </a:prstGeom>
            <a:noFill/>
            <a:ln w="38100">
              <a:noFill/>
            </a:ln>
          </p:spPr>
          <p:txBody>
            <a:bodyPr lIns="90000" tIns="46800" rIns="90000" bIns="46800">
              <a:spAutoFit/>
            </a:bodyPr>
            <a:lstStyle/>
            <a:p>
              <a:r>
                <a:rPr lang="en-US" altLang="zh-CN" sz="2800" dirty="0">
                  <a:latin typeface="Times New Roman" panose="02020603050405020304" pitchFamily="18" charset="0"/>
                </a:rPr>
                <a:t>d</a:t>
              </a:r>
            </a:p>
          </p:txBody>
        </p:sp>
        <p:sp>
          <p:nvSpPr>
            <p:cNvPr id="98350" name="Text Box 136" descr="羊皮纸"/>
            <p:cNvSpPr txBox="1"/>
            <p:nvPr/>
          </p:nvSpPr>
          <p:spPr>
            <a:xfrm>
              <a:off x="4275" y="3691"/>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98351" name="Text Box 137" descr="羊皮纸"/>
            <p:cNvSpPr txBox="1"/>
            <p:nvPr/>
          </p:nvSpPr>
          <p:spPr>
            <a:xfrm>
              <a:off x="4661" y="3679"/>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grpSp>
      <p:grpSp>
        <p:nvGrpSpPr>
          <p:cNvPr id="14" name="Group 138"/>
          <p:cNvGrpSpPr/>
          <p:nvPr/>
        </p:nvGrpSpPr>
        <p:grpSpPr>
          <a:xfrm>
            <a:off x="-95250" y="1684338"/>
            <a:ext cx="2714625" cy="3917950"/>
            <a:chOff x="780" y="797"/>
            <a:chExt cx="1710" cy="2468"/>
          </a:xfrm>
        </p:grpSpPr>
        <p:sp>
          <p:nvSpPr>
            <p:cNvPr id="98311" name="Line 139"/>
            <p:cNvSpPr/>
            <p:nvPr/>
          </p:nvSpPr>
          <p:spPr>
            <a:xfrm>
              <a:off x="838" y="797"/>
              <a:ext cx="1627" cy="0"/>
            </a:xfrm>
            <a:prstGeom prst="line">
              <a:avLst/>
            </a:prstGeom>
            <a:ln w="38100" cap="flat" cmpd="sng">
              <a:solidFill>
                <a:schemeClr val="tx1"/>
              </a:solidFill>
              <a:prstDash val="solid"/>
              <a:headEnd type="none" w="med" len="med"/>
              <a:tailEnd type="none" w="sm" len="lg"/>
            </a:ln>
          </p:spPr>
        </p:sp>
        <p:sp>
          <p:nvSpPr>
            <p:cNvPr id="98312" name="Line 140"/>
            <p:cNvSpPr/>
            <p:nvPr/>
          </p:nvSpPr>
          <p:spPr>
            <a:xfrm>
              <a:off x="879" y="3251"/>
              <a:ext cx="1542" cy="0"/>
            </a:xfrm>
            <a:prstGeom prst="line">
              <a:avLst/>
            </a:prstGeom>
            <a:ln w="38100" cap="flat" cmpd="sng">
              <a:solidFill>
                <a:schemeClr val="tx1"/>
              </a:solidFill>
              <a:prstDash val="solid"/>
              <a:headEnd type="none" w="med" len="med"/>
              <a:tailEnd type="none" w="sm" len="lg"/>
            </a:ln>
          </p:spPr>
        </p:sp>
        <p:sp>
          <p:nvSpPr>
            <p:cNvPr id="98313" name="Line 141"/>
            <p:cNvSpPr/>
            <p:nvPr/>
          </p:nvSpPr>
          <p:spPr>
            <a:xfrm>
              <a:off x="1370" y="797"/>
              <a:ext cx="0" cy="2462"/>
            </a:xfrm>
            <a:prstGeom prst="line">
              <a:avLst/>
            </a:prstGeom>
            <a:ln w="19050" cap="flat" cmpd="sng">
              <a:solidFill>
                <a:schemeClr val="tx1"/>
              </a:solidFill>
              <a:prstDash val="solid"/>
              <a:headEnd type="none" w="med" len="med"/>
              <a:tailEnd type="none" w="sm" len="lg"/>
            </a:ln>
          </p:spPr>
        </p:sp>
        <p:sp>
          <p:nvSpPr>
            <p:cNvPr id="98314" name="Line 142"/>
            <p:cNvSpPr/>
            <p:nvPr/>
          </p:nvSpPr>
          <p:spPr>
            <a:xfrm>
              <a:off x="1879" y="1279"/>
              <a:ext cx="0" cy="1986"/>
            </a:xfrm>
            <a:prstGeom prst="line">
              <a:avLst/>
            </a:prstGeom>
            <a:ln w="19050" cap="flat" cmpd="sng">
              <a:solidFill>
                <a:schemeClr val="tx1"/>
              </a:solidFill>
              <a:prstDash val="solid"/>
              <a:headEnd type="none" w="med" len="med"/>
              <a:tailEnd type="none" w="sm" len="lg"/>
            </a:ln>
          </p:spPr>
        </p:sp>
        <p:sp>
          <p:nvSpPr>
            <p:cNvPr id="98315" name="Line 143"/>
            <p:cNvSpPr/>
            <p:nvPr/>
          </p:nvSpPr>
          <p:spPr>
            <a:xfrm>
              <a:off x="1370" y="1266"/>
              <a:ext cx="1053" cy="0"/>
            </a:xfrm>
            <a:prstGeom prst="line">
              <a:avLst/>
            </a:prstGeom>
            <a:ln w="12700" cap="flat" cmpd="sng">
              <a:solidFill>
                <a:schemeClr val="tx1"/>
              </a:solidFill>
              <a:prstDash val="solid"/>
              <a:headEnd type="none" w="med" len="med"/>
              <a:tailEnd type="none" w="sm" len="lg"/>
            </a:ln>
          </p:spPr>
        </p:sp>
        <p:sp>
          <p:nvSpPr>
            <p:cNvPr id="98316" name="Line 144"/>
            <p:cNvSpPr/>
            <p:nvPr/>
          </p:nvSpPr>
          <p:spPr>
            <a:xfrm>
              <a:off x="827" y="1638"/>
              <a:ext cx="1602" cy="0"/>
            </a:xfrm>
            <a:prstGeom prst="line">
              <a:avLst/>
            </a:prstGeom>
            <a:ln w="12700" cap="flat" cmpd="sng">
              <a:solidFill>
                <a:schemeClr val="tx1"/>
              </a:solidFill>
              <a:prstDash val="solid"/>
              <a:headEnd type="none" w="med" len="med"/>
              <a:tailEnd type="none" w="sm" len="lg"/>
            </a:ln>
          </p:spPr>
        </p:sp>
        <p:sp>
          <p:nvSpPr>
            <p:cNvPr id="98317" name="Text Box 145"/>
            <p:cNvSpPr txBox="1"/>
            <p:nvPr/>
          </p:nvSpPr>
          <p:spPr>
            <a:xfrm>
              <a:off x="780" y="1128"/>
              <a:ext cx="620" cy="250"/>
            </a:xfrm>
            <a:prstGeom prst="rect">
              <a:avLst/>
            </a:prstGeom>
            <a:noFill/>
            <a:ln w="19050">
              <a:noFill/>
            </a:ln>
          </p:spPr>
          <p:txBody>
            <a:bodyPr wrap="none">
              <a:spAutoFit/>
            </a:bodyPr>
            <a:lstStyle/>
            <a:p>
              <a:r>
                <a:rPr lang="en-US" altLang="zh-CN" sz="2000" b="1" dirty="0">
                  <a:latin typeface="Times New Roman" panose="02020603050405020304" pitchFamily="18" charset="0"/>
                </a:rPr>
                <a:t>Y</a:t>
              </a:r>
              <a:r>
                <a:rPr lang="en-US" altLang="zh-CN" sz="2000" b="1" baseline="-25000" dirty="0">
                  <a:latin typeface="Times New Roman" panose="02020603050405020304" pitchFamily="18" charset="0"/>
                </a:rPr>
                <a:t>3</a:t>
              </a:r>
              <a:r>
                <a:rPr lang="en-US" altLang="zh-CN" sz="2000" b="1" dirty="0">
                  <a:latin typeface="Times New Roman" panose="02020603050405020304" pitchFamily="18" charset="0"/>
                </a:rPr>
                <a:t>Y</a:t>
              </a:r>
              <a:r>
                <a:rPr lang="en-US" altLang="zh-CN" sz="2000" b="1" baseline="-25000" dirty="0">
                  <a:latin typeface="Times New Roman" panose="02020603050405020304" pitchFamily="18" charset="0"/>
                </a:rPr>
                <a:t>2</a:t>
              </a:r>
              <a:r>
                <a:rPr lang="en-US" altLang="zh-CN" sz="2000" b="1" dirty="0">
                  <a:latin typeface="Times New Roman" panose="02020603050405020304" pitchFamily="18" charset="0"/>
                </a:rPr>
                <a:t>Y</a:t>
              </a:r>
              <a:r>
                <a:rPr lang="en-US" altLang="zh-CN" sz="2000" b="1" baseline="-25000" dirty="0">
                  <a:latin typeface="Times New Roman" panose="02020603050405020304" pitchFamily="18" charset="0"/>
                </a:rPr>
                <a:t>1</a:t>
              </a:r>
            </a:p>
          </p:txBody>
        </p:sp>
        <p:sp>
          <p:nvSpPr>
            <p:cNvPr id="98318" name="Text Box 146"/>
            <p:cNvSpPr txBox="1"/>
            <p:nvPr/>
          </p:nvSpPr>
          <p:spPr>
            <a:xfrm>
              <a:off x="1690" y="928"/>
              <a:ext cx="800" cy="250"/>
            </a:xfrm>
            <a:prstGeom prst="rect">
              <a:avLst/>
            </a:prstGeom>
            <a:noFill/>
            <a:ln w="19050">
              <a:noFill/>
            </a:ln>
          </p:spPr>
          <p:txBody>
            <a:bodyPr wrap="none">
              <a:spAutoFit/>
            </a:bodyPr>
            <a:lstStyle/>
            <a:p>
              <a:r>
                <a:rPr lang="zh-CN" altLang="en-US" sz="2000" b="1" dirty="0">
                  <a:latin typeface="Times New Roman" panose="02020603050405020304" pitchFamily="18" charset="0"/>
                </a:rPr>
                <a:t>次态</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输出</a:t>
              </a:r>
            </a:p>
          </p:txBody>
        </p:sp>
        <p:sp>
          <p:nvSpPr>
            <p:cNvPr id="98319" name="Text Box 147"/>
            <p:cNvSpPr txBox="1"/>
            <p:nvPr/>
          </p:nvSpPr>
          <p:spPr>
            <a:xfrm>
              <a:off x="1426" y="1342"/>
              <a:ext cx="357" cy="250"/>
            </a:xfrm>
            <a:prstGeom prst="rect">
              <a:avLst/>
            </a:prstGeom>
            <a:noFill/>
            <a:ln w="19050">
              <a:noFill/>
            </a:ln>
          </p:spPr>
          <p:txBody>
            <a:bodyPr wrap="none">
              <a:spAutoFit/>
            </a:bodyPr>
            <a:lstStyle/>
            <a:p>
              <a:r>
                <a:rPr lang="en-US" altLang="zh-CN" sz="2000" i="1" dirty="0">
                  <a:latin typeface="Times New Roman" panose="02020603050405020304" pitchFamily="18" charset="0"/>
                </a:rPr>
                <a:t>x</a:t>
              </a:r>
              <a:r>
                <a:rPr lang="en-US" altLang="zh-CN" sz="2000" dirty="0">
                  <a:latin typeface="Times New Roman" panose="02020603050405020304" pitchFamily="18" charset="0"/>
                </a:rPr>
                <a:t>=0</a:t>
              </a:r>
            </a:p>
          </p:txBody>
        </p:sp>
        <p:sp>
          <p:nvSpPr>
            <p:cNvPr id="98320" name="Text Box 148"/>
            <p:cNvSpPr txBox="1"/>
            <p:nvPr/>
          </p:nvSpPr>
          <p:spPr>
            <a:xfrm>
              <a:off x="1958" y="1306"/>
              <a:ext cx="357" cy="250"/>
            </a:xfrm>
            <a:prstGeom prst="rect">
              <a:avLst/>
            </a:prstGeom>
            <a:noFill/>
            <a:ln w="19050">
              <a:noFill/>
            </a:ln>
          </p:spPr>
          <p:txBody>
            <a:bodyPr>
              <a:spAutoFit/>
            </a:bodyPr>
            <a:lstStyle/>
            <a:p>
              <a:r>
                <a:rPr lang="en-US" altLang="zh-CN" sz="2000" i="1" dirty="0">
                  <a:latin typeface="Times New Roman" panose="02020603050405020304" pitchFamily="18" charset="0"/>
                </a:rPr>
                <a:t>x</a:t>
              </a:r>
              <a:r>
                <a:rPr lang="en-US" altLang="zh-CN" sz="2000" dirty="0">
                  <a:latin typeface="Times New Roman" panose="02020603050405020304" pitchFamily="18" charset="0"/>
                </a:rPr>
                <a:t>=1</a:t>
              </a:r>
            </a:p>
          </p:txBody>
        </p:sp>
        <p:sp>
          <p:nvSpPr>
            <p:cNvPr id="98321" name="Text Box 149"/>
            <p:cNvSpPr txBox="1"/>
            <p:nvPr/>
          </p:nvSpPr>
          <p:spPr>
            <a:xfrm>
              <a:off x="986" y="1638"/>
              <a:ext cx="365" cy="1594"/>
            </a:xfrm>
            <a:prstGeom prst="rect">
              <a:avLst/>
            </a:prstGeom>
            <a:noFill/>
            <a:ln w="19050">
              <a:noFill/>
            </a:ln>
          </p:spPr>
          <p:txBody>
            <a:bodyPr>
              <a:spAutoFit/>
            </a:bodyPr>
            <a:lstStyle/>
            <a:p>
              <a:pPr algn="ctr"/>
              <a:r>
                <a:rPr lang="en-US" altLang="zh-CN" sz="2000" b="1" dirty="0">
                  <a:latin typeface="Times New Roman" panose="02020603050405020304" pitchFamily="18" charset="0"/>
                </a:rPr>
                <a:t>000</a:t>
              </a:r>
            </a:p>
            <a:p>
              <a:pPr algn="ctr"/>
              <a:r>
                <a:rPr lang="en-US" altLang="zh-CN" sz="2000" b="1" dirty="0">
                  <a:solidFill>
                    <a:srgbClr val="FF3300"/>
                  </a:solidFill>
                  <a:latin typeface="Times New Roman" panose="02020603050405020304" pitchFamily="18" charset="0"/>
                </a:rPr>
                <a:t>001</a:t>
              </a:r>
            </a:p>
            <a:p>
              <a:pPr algn="ctr"/>
              <a:r>
                <a:rPr lang="en-US" altLang="zh-CN" sz="2000" b="1" dirty="0">
                  <a:latin typeface="Times New Roman" panose="02020603050405020304" pitchFamily="18" charset="0"/>
                </a:rPr>
                <a:t>010</a:t>
              </a:r>
            </a:p>
            <a:p>
              <a:pPr algn="ctr"/>
              <a:r>
                <a:rPr lang="en-US" altLang="zh-CN" sz="2000" b="1" dirty="0">
                  <a:solidFill>
                    <a:srgbClr val="FF3300"/>
                  </a:solidFill>
                  <a:latin typeface="Times New Roman" panose="02020603050405020304" pitchFamily="18" charset="0"/>
                </a:rPr>
                <a:t>011</a:t>
              </a:r>
            </a:p>
            <a:p>
              <a:pPr algn="ctr"/>
              <a:r>
                <a:rPr lang="en-US" altLang="zh-CN" sz="2000" b="1" dirty="0">
                  <a:latin typeface="Times New Roman" panose="02020603050405020304" pitchFamily="18" charset="0"/>
                </a:rPr>
                <a:t>100</a:t>
              </a:r>
              <a:endParaRPr lang="en-US" altLang="zh-CN" sz="2000" b="1" dirty="0">
                <a:solidFill>
                  <a:srgbClr val="FF3300"/>
                </a:solidFill>
                <a:latin typeface="Times New Roman" panose="02020603050405020304" pitchFamily="18" charset="0"/>
              </a:endParaRPr>
            </a:p>
            <a:p>
              <a:pPr algn="ctr"/>
              <a:r>
                <a:rPr lang="en-US" altLang="zh-CN" sz="2000" b="1" dirty="0">
                  <a:latin typeface="Times New Roman" panose="02020603050405020304" pitchFamily="18" charset="0"/>
                </a:rPr>
                <a:t>101 </a:t>
              </a:r>
            </a:p>
            <a:p>
              <a:pPr algn="ctr"/>
              <a:r>
                <a:rPr lang="en-US" altLang="zh-CN" sz="2000" b="1" dirty="0">
                  <a:latin typeface="Times New Roman" panose="02020603050405020304" pitchFamily="18" charset="0"/>
                </a:rPr>
                <a:t>110</a:t>
              </a:r>
            </a:p>
            <a:p>
              <a:pPr algn="ctr"/>
              <a:r>
                <a:rPr lang="en-US" altLang="zh-CN" sz="2000" b="1" dirty="0">
                  <a:solidFill>
                    <a:srgbClr val="FF3300"/>
                  </a:solidFill>
                  <a:latin typeface="Times New Roman" panose="02020603050405020304" pitchFamily="18" charset="0"/>
                </a:rPr>
                <a:t>111</a:t>
              </a:r>
            </a:p>
          </p:txBody>
        </p:sp>
        <p:sp>
          <p:nvSpPr>
            <p:cNvPr id="98322" name="Text Box 150"/>
            <p:cNvSpPr txBox="1"/>
            <p:nvPr/>
          </p:nvSpPr>
          <p:spPr>
            <a:xfrm>
              <a:off x="1349" y="1638"/>
              <a:ext cx="579" cy="1594"/>
            </a:xfrm>
            <a:prstGeom prst="rect">
              <a:avLst/>
            </a:prstGeom>
            <a:noFill/>
            <a:ln w="19050">
              <a:noFill/>
            </a:ln>
          </p:spPr>
          <p:txBody>
            <a:bodyPr>
              <a:spAutoFit/>
            </a:bodyPr>
            <a:lstStyle/>
            <a:p>
              <a:pPr algn="ctr"/>
              <a:r>
                <a:rPr lang="en-US" altLang="zh-CN" sz="2000" b="1" dirty="0">
                  <a:latin typeface="Times New Roman" panose="02020603050405020304" pitchFamily="18" charset="0"/>
                </a:rPr>
                <a:t>010/0</a:t>
              </a:r>
            </a:p>
            <a:p>
              <a:pPr algn="ctr"/>
              <a:r>
                <a:rPr lang="en-US" altLang="zh-CN" sz="2000" b="1" dirty="0">
                  <a:solidFill>
                    <a:srgbClr val="FF3300"/>
                  </a:solidFill>
                  <a:latin typeface="Times New Roman" panose="02020603050405020304" pitchFamily="18" charset="0"/>
                </a:rPr>
                <a:t>ddd/d</a:t>
              </a:r>
              <a:endParaRPr lang="en-US" altLang="zh-CN" sz="2000" b="1" baseline="-25000" dirty="0">
                <a:solidFill>
                  <a:srgbClr val="FF3300"/>
                </a:solidFill>
                <a:latin typeface="Times New Roman" panose="02020603050405020304" pitchFamily="18" charset="0"/>
              </a:endParaRPr>
            </a:p>
            <a:p>
              <a:pPr algn="ctr"/>
              <a:r>
                <a:rPr lang="en-US" altLang="zh-CN" sz="2000" b="1" dirty="0">
                  <a:latin typeface="Times New Roman" panose="02020603050405020304" pitchFamily="18" charset="0"/>
                </a:rPr>
                <a:t>100/0</a:t>
              </a:r>
            </a:p>
            <a:p>
              <a:pPr algn="ctr"/>
              <a:r>
                <a:rPr lang="en-US" altLang="zh-CN" sz="2000" b="1" dirty="0">
                  <a:solidFill>
                    <a:srgbClr val="FF3300"/>
                  </a:solidFill>
                  <a:latin typeface="Times New Roman" panose="02020603050405020304" pitchFamily="18" charset="0"/>
                </a:rPr>
                <a:t>ddd/d</a:t>
              </a:r>
              <a:endParaRPr lang="en-US" altLang="zh-CN" sz="2000" b="1" baseline="-25000" dirty="0">
                <a:solidFill>
                  <a:srgbClr val="FF3300"/>
                </a:solidFill>
                <a:latin typeface="Times New Roman" panose="02020603050405020304" pitchFamily="18" charset="0"/>
              </a:endParaRPr>
            </a:p>
            <a:p>
              <a:pPr algn="ctr"/>
              <a:r>
                <a:rPr lang="en-US" altLang="zh-CN" sz="2000" b="1" dirty="0">
                  <a:latin typeface="Times New Roman" panose="02020603050405020304" pitchFamily="18" charset="0"/>
                </a:rPr>
                <a:t>000/1 000/0 101/0</a:t>
              </a:r>
            </a:p>
            <a:p>
              <a:pPr algn="ctr"/>
              <a:r>
                <a:rPr lang="en-US" altLang="zh-CN" sz="2000" b="1" dirty="0">
                  <a:solidFill>
                    <a:srgbClr val="FF3300"/>
                  </a:solidFill>
                  <a:latin typeface="Times New Roman" panose="02020603050405020304" pitchFamily="18" charset="0"/>
                </a:rPr>
                <a:t>ddd/d</a:t>
              </a:r>
            </a:p>
          </p:txBody>
        </p:sp>
        <p:sp>
          <p:nvSpPr>
            <p:cNvPr id="98323" name="Text Box 151"/>
            <p:cNvSpPr txBox="1"/>
            <p:nvPr/>
          </p:nvSpPr>
          <p:spPr>
            <a:xfrm>
              <a:off x="1768" y="1638"/>
              <a:ext cx="698" cy="1594"/>
            </a:xfrm>
            <a:prstGeom prst="rect">
              <a:avLst/>
            </a:prstGeom>
            <a:noFill/>
            <a:ln w="19050">
              <a:noFill/>
            </a:ln>
          </p:spPr>
          <p:txBody>
            <a:bodyPr>
              <a:spAutoFit/>
            </a:bodyPr>
            <a:lstStyle/>
            <a:p>
              <a:pPr algn="ctr"/>
              <a:r>
                <a:rPr lang="en-US" altLang="zh-CN" sz="2000" b="1" dirty="0">
                  <a:latin typeface="Times New Roman" panose="02020603050405020304" pitchFamily="18" charset="0"/>
                </a:rPr>
                <a:t>110/0</a:t>
              </a:r>
            </a:p>
            <a:p>
              <a:pPr algn="ctr"/>
              <a:r>
                <a:rPr lang="en-US" altLang="zh-CN" sz="2000" b="1" dirty="0">
                  <a:solidFill>
                    <a:srgbClr val="FF3300"/>
                  </a:solidFill>
                  <a:latin typeface="Times New Roman" panose="02020603050405020304" pitchFamily="18" charset="0"/>
                </a:rPr>
                <a:t>ddd/d</a:t>
              </a:r>
              <a:endParaRPr lang="en-US" altLang="zh-CN" sz="2000" b="1" baseline="-25000" dirty="0">
                <a:solidFill>
                  <a:srgbClr val="FF3300"/>
                </a:solidFill>
                <a:latin typeface="Times New Roman" panose="02020603050405020304" pitchFamily="18" charset="0"/>
              </a:endParaRPr>
            </a:p>
            <a:p>
              <a:pPr algn="ctr"/>
              <a:r>
                <a:rPr lang="en-US" altLang="zh-CN" sz="2000" b="1" dirty="0">
                  <a:latin typeface="Times New Roman" panose="02020603050405020304" pitchFamily="18" charset="0"/>
                </a:rPr>
                <a:t>101/0</a:t>
              </a:r>
            </a:p>
            <a:p>
              <a:pPr algn="ctr"/>
              <a:r>
                <a:rPr lang="en-US" altLang="zh-CN" sz="2000" b="1" dirty="0">
                  <a:solidFill>
                    <a:srgbClr val="FF3300"/>
                  </a:solidFill>
                  <a:latin typeface="Times New Roman" panose="02020603050405020304" pitchFamily="18" charset="0"/>
                </a:rPr>
                <a:t>ddd/d</a:t>
              </a:r>
              <a:endParaRPr lang="en-US" altLang="zh-CN" sz="2000" b="1" baseline="-25000" dirty="0">
                <a:solidFill>
                  <a:srgbClr val="FF3300"/>
                </a:solidFill>
                <a:latin typeface="Times New Roman" panose="02020603050405020304" pitchFamily="18" charset="0"/>
              </a:endParaRPr>
            </a:p>
            <a:p>
              <a:pPr algn="ctr"/>
              <a:r>
                <a:rPr lang="en-US" altLang="zh-CN" sz="2000" b="1" dirty="0">
                  <a:latin typeface="Times New Roman" panose="02020603050405020304" pitchFamily="18" charset="0"/>
                </a:rPr>
                <a:t>000/0</a:t>
              </a:r>
            </a:p>
            <a:p>
              <a:pPr algn="ctr"/>
              <a:r>
                <a:rPr lang="en-US" altLang="zh-CN" sz="2000" b="1" dirty="0">
                  <a:latin typeface="Times New Roman" panose="02020603050405020304" pitchFamily="18" charset="0"/>
                </a:rPr>
                <a:t>000/1</a:t>
              </a:r>
            </a:p>
            <a:p>
              <a:pPr algn="ctr"/>
              <a:r>
                <a:rPr lang="en-US" altLang="zh-CN" sz="2000" b="1" dirty="0">
                  <a:latin typeface="Times New Roman" panose="02020603050405020304" pitchFamily="18" charset="0"/>
                </a:rPr>
                <a:t> 100/0</a:t>
              </a:r>
            </a:p>
            <a:p>
              <a:pPr algn="ctr"/>
              <a:r>
                <a:rPr lang="en-US" altLang="zh-CN" sz="2000" b="1" dirty="0">
                  <a:solidFill>
                    <a:srgbClr val="FF3300"/>
                  </a:solidFill>
                  <a:latin typeface="Times New Roman" panose="02020603050405020304" pitchFamily="18" charset="0"/>
                </a:rPr>
                <a:t>ddd/d</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000" fill="hold"/>
                                        <p:tgtEl>
                                          <p:spTgt spid="14"/>
                                        </p:tgtEl>
                                        <p:attrNameLst>
                                          <p:attrName>ppt_x</p:attrName>
                                        </p:attrNameLst>
                                      </p:cBhvr>
                                      <p:tavLst>
                                        <p:tav tm="0">
                                          <p:val>
                                            <p:strVal val="#ppt_x"/>
                                          </p:val>
                                        </p:tav>
                                        <p:tav tm="100000">
                                          <p:val>
                                            <p:strVal val="#ppt_x"/>
                                          </p:val>
                                        </p:tav>
                                      </p:tavLst>
                                    </p:anim>
                                    <p:anim calcmode="lin" valueType="num">
                                      <p:cBhvr additive="base">
                                        <p:cTn id="8" dur="10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500" fill="hold"/>
                                        <p:tgtEl>
                                          <p:spTgt spid="8"/>
                                        </p:tgtEl>
                                        <p:attrNameLst>
                                          <p:attrName>ppt_w</p:attrName>
                                        </p:attrNameLst>
                                      </p:cBhvr>
                                      <p:tavLst>
                                        <p:tav tm="0">
                                          <p:val>
                                            <p:fltVal val="0"/>
                                          </p:val>
                                        </p:tav>
                                        <p:tav tm="100000">
                                          <p:val>
                                            <p:strVal val="#ppt_w"/>
                                          </p:val>
                                        </p:tav>
                                      </p:tavLst>
                                    </p:anim>
                                    <p:anim calcmode="lin" valueType="num">
                                      <p:cBhvr>
                                        <p:cTn id="25"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p:cTn id="30" dur="500" fill="hold"/>
                                        <p:tgtEl>
                                          <p:spTgt spid="11"/>
                                        </p:tgtEl>
                                        <p:attrNameLst>
                                          <p:attrName>ppt_w</p:attrName>
                                        </p:attrNameLst>
                                      </p:cBhvr>
                                      <p:tavLst>
                                        <p:tav tm="0">
                                          <p:val>
                                            <p:fltVal val="0"/>
                                          </p:val>
                                        </p:tav>
                                        <p:tav tm="100000">
                                          <p:val>
                                            <p:strVal val="#ppt_w"/>
                                          </p:val>
                                        </p:tav>
                                      </p:tavLst>
                                    </p:anim>
                                    <p:anim calcmode="lin" valueType="num">
                                      <p:cBhvr>
                                        <p:cTn id="31"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Line 2"/>
          <p:cNvSpPr/>
          <p:nvPr/>
        </p:nvSpPr>
        <p:spPr>
          <a:xfrm>
            <a:off x="6026150" y="6883400"/>
            <a:ext cx="190500" cy="0"/>
          </a:xfrm>
          <a:prstGeom prst="line">
            <a:avLst/>
          </a:prstGeom>
          <a:ln w="38100" cap="flat" cmpd="sng">
            <a:solidFill>
              <a:schemeClr val="tx1"/>
            </a:solidFill>
            <a:prstDash val="solid"/>
            <a:headEnd type="none" w="med" len="med"/>
            <a:tailEnd type="none" w="sm" len="lg"/>
          </a:ln>
        </p:spPr>
      </p:sp>
      <p:grpSp>
        <p:nvGrpSpPr>
          <p:cNvPr id="2" name="Group 3"/>
          <p:cNvGrpSpPr/>
          <p:nvPr/>
        </p:nvGrpSpPr>
        <p:grpSpPr>
          <a:xfrm>
            <a:off x="2705100" y="1881188"/>
            <a:ext cx="2749550" cy="3298825"/>
            <a:chOff x="879" y="413"/>
            <a:chExt cx="1732" cy="2078"/>
          </a:xfrm>
        </p:grpSpPr>
        <p:sp>
          <p:nvSpPr>
            <p:cNvPr id="99334" name="Text Box 4" descr="羊皮纸"/>
            <p:cNvSpPr txBox="1"/>
            <p:nvPr/>
          </p:nvSpPr>
          <p:spPr>
            <a:xfrm>
              <a:off x="879" y="413"/>
              <a:ext cx="1732" cy="2078"/>
            </a:xfrm>
            <a:prstGeom prst="rect">
              <a:avLst/>
            </a:prstGeom>
            <a:noFill/>
            <a:ln w="38100">
              <a:noFill/>
            </a:ln>
          </p:spPr>
          <p:txBody>
            <a:bodyPr wrap="none" lIns="90000" tIns="46800" rIns="90000" bIns="46800">
              <a:spAutoFit/>
            </a:bodyPr>
            <a:lstStyle/>
            <a:p>
              <a:pPr>
                <a:lnSpc>
                  <a:spcPct val="150000"/>
                </a:lnSpc>
              </a:pPr>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p>
            <a:p>
              <a:pPr>
                <a:lnSpc>
                  <a:spcPct val="150000"/>
                </a:lnSpc>
              </a:pPr>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p>
            <a:p>
              <a:pPr>
                <a:lnSpc>
                  <a:spcPct val="150000"/>
                </a:lnSpc>
              </a:pPr>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1</a:t>
              </a:r>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p>
            <a:p>
              <a:pPr>
                <a:lnSpc>
                  <a:spcPct val="150000"/>
                </a:lnSpc>
              </a:pPr>
              <a:r>
                <a:rPr lang="en-US" altLang="zh-CN" sz="2800" i="1" dirty="0">
                  <a:latin typeface="Times New Roman" panose="02020603050405020304" pitchFamily="18" charset="0"/>
                </a:rPr>
                <a:t>    =Y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(X</a:t>
              </a:r>
              <a:r>
                <a:rPr lang="en-US" altLang="zh-CN" sz="2800" i="1" dirty="0">
                  <a:latin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a:t>
              </a:r>
            </a:p>
            <a:p>
              <a:pPr>
                <a:lnSpc>
                  <a:spcPct val="150000"/>
                </a:lnSpc>
              </a:pPr>
              <a:r>
                <a:rPr lang="en-US" altLang="zh-CN" sz="2800" i="1" dirty="0">
                  <a:latin typeface="Times New Roman" panose="02020603050405020304" pitchFamily="18" charset="0"/>
                </a:rPr>
                <a:t>  Z=XY</a:t>
              </a:r>
              <a:r>
                <a:rPr lang="en-US" altLang="zh-CN" sz="2800" i="1" baseline="-25000" dirty="0">
                  <a:latin typeface="Times New Roman" panose="02020603050405020304" pitchFamily="18" charset="0"/>
                </a:rPr>
                <a:t>1</a:t>
              </a:r>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p>
          </p:txBody>
        </p:sp>
        <p:sp>
          <p:nvSpPr>
            <p:cNvPr id="99335" name="Line 5"/>
            <p:cNvSpPr/>
            <p:nvPr/>
          </p:nvSpPr>
          <p:spPr>
            <a:xfrm>
              <a:off x="1860" y="576"/>
              <a:ext cx="120" cy="0"/>
            </a:xfrm>
            <a:prstGeom prst="line">
              <a:avLst/>
            </a:prstGeom>
            <a:ln w="38100" cap="flat" cmpd="sng">
              <a:solidFill>
                <a:schemeClr val="tx1"/>
              </a:solidFill>
              <a:prstDash val="solid"/>
              <a:headEnd type="none" w="med" len="med"/>
              <a:tailEnd type="none" w="sm" len="lg"/>
            </a:ln>
          </p:spPr>
        </p:sp>
        <p:sp>
          <p:nvSpPr>
            <p:cNvPr id="99336" name="Line 6"/>
            <p:cNvSpPr/>
            <p:nvPr/>
          </p:nvSpPr>
          <p:spPr>
            <a:xfrm>
              <a:off x="1360" y="976"/>
              <a:ext cx="120" cy="0"/>
            </a:xfrm>
            <a:prstGeom prst="line">
              <a:avLst/>
            </a:prstGeom>
            <a:ln w="38100" cap="flat" cmpd="sng">
              <a:solidFill>
                <a:schemeClr val="tx1"/>
              </a:solidFill>
              <a:prstDash val="solid"/>
              <a:headEnd type="none" w="med" len="med"/>
              <a:tailEnd type="none" w="sm" len="lg"/>
            </a:ln>
          </p:spPr>
        </p:sp>
        <p:sp>
          <p:nvSpPr>
            <p:cNvPr id="99337" name="Line 7"/>
            <p:cNvSpPr/>
            <p:nvPr/>
          </p:nvSpPr>
          <p:spPr>
            <a:xfrm>
              <a:off x="1580" y="968"/>
              <a:ext cx="120" cy="0"/>
            </a:xfrm>
            <a:prstGeom prst="line">
              <a:avLst/>
            </a:prstGeom>
            <a:ln w="38100" cap="flat" cmpd="sng">
              <a:solidFill>
                <a:schemeClr val="tx1"/>
              </a:solidFill>
              <a:prstDash val="solid"/>
              <a:headEnd type="none" w="med" len="med"/>
              <a:tailEnd type="none" w="sm" len="lg"/>
            </a:ln>
          </p:spPr>
        </p:sp>
        <p:sp>
          <p:nvSpPr>
            <p:cNvPr id="99338" name="Line 8"/>
            <p:cNvSpPr/>
            <p:nvPr/>
          </p:nvSpPr>
          <p:spPr>
            <a:xfrm>
              <a:off x="1380" y="1380"/>
              <a:ext cx="120" cy="0"/>
            </a:xfrm>
            <a:prstGeom prst="line">
              <a:avLst/>
            </a:prstGeom>
            <a:ln w="38100" cap="flat" cmpd="sng">
              <a:solidFill>
                <a:schemeClr val="tx1"/>
              </a:solidFill>
              <a:prstDash val="solid"/>
              <a:headEnd type="none" w="med" len="med"/>
              <a:tailEnd type="none" w="sm" len="lg"/>
            </a:ln>
          </p:spPr>
        </p:sp>
        <p:sp>
          <p:nvSpPr>
            <p:cNvPr id="99339" name="Line 9"/>
            <p:cNvSpPr/>
            <p:nvPr/>
          </p:nvSpPr>
          <p:spPr>
            <a:xfrm>
              <a:off x="2178" y="1372"/>
              <a:ext cx="120" cy="0"/>
            </a:xfrm>
            <a:prstGeom prst="line">
              <a:avLst/>
            </a:prstGeom>
            <a:ln w="38100" cap="flat" cmpd="sng">
              <a:solidFill>
                <a:schemeClr val="tx1"/>
              </a:solidFill>
              <a:prstDash val="solid"/>
              <a:headEnd type="none" w="med" len="med"/>
              <a:tailEnd type="none" w="sm" len="lg"/>
            </a:ln>
          </p:spPr>
        </p:sp>
        <p:sp>
          <p:nvSpPr>
            <p:cNvPr id="99340" name="Line 10"/>
            <p:cNvSpPr/>
            <p:nvPr/>
          </p:nvSpPr>
          <p:spPr>
            <a:xfrm>
              <a:off x="1868" y="2177"/>
              <a:ext cx="120" cy="0"/>
            </a:xfrm>
            <a:prstGeom prst="line">
              <a:avLst/>
            </a:prstGeom>
            <a:ln w="38100" cap="flat" cmpd="sng">
              <a:solidFill>
                <a:schemeClr val="tx1"/>
              </a:solidFill>
              <a:prstDash val="solid"/>
              <a:headEnd type="none" w="med" len="med"/>
              <a:tailEnd type="none" w="sm" len="lg"/>
            </a:ln>
          </p:spPr>
        </p:sp>
        <p:sp>
          <p:nvSpPr>
            <p:cNvPr id="99341" name="Line 11"/>
            <p:cNvSpPr/>
            <p:nvPr/>
          </p:nvSpPr>
          <p:spPr>
            <a:xfrm>
              <a:off x="2388" y="2172"/>
              <a:ext cx="120" cy="0"/>
            </a:xfrm>
            <a:prstGeom prst="line">
              <a:avLst/>
            </a:prstGeom>
            <a:ln w="38100" cap="flat" cmpd="sng">
              <a:solidFill>
                <a:schemeClr val="tx1"/>
              </a:solidFill>
              <a:prstDash val="solid"/>
              <a:headEnd type="none" w="med" len="med"/>
              <a:tailEnd type="none" w="sm" len="lg"/>
            </a:ln>
          </p:spPr>
        </p:sp>
        <p:sp>
          <p:nvSpPr>
            <p:cNvPr id="99342" name="Line 12"/>
            <p:cNvSpPr/>
            <p:nvPr/>
          </p:nvSpPr>
          <p:spPr>
            <a:xfrm>
              <a:off x="2190" y="2172"/>
              <a:ext cx="120" cy="0"/>
            </a:xfrm>
            <a:prstGeom prst="line">
              <a:avLst/>
            </a:prstGeom>
            <a:ln w="38100" cap="flat" cmpd="sng">
              <a:solidFill>
                <a:schemeClr val="tx1"/>
              </a:solidFill>
              <a:prstDash val="solid"/>
              <a:headEnd type="none" w="med" len="med"/>
              <a:tailEnd type="none" w="sm" len="lg"/>
            </a:ln>
          </p:spPr>
        </p:sp>
      </p:grpSp>
      <p:sp>
        <p:nvSpPr>
          <p:cNvPr id="304141" name="Text Box 13"/>
          <p:cNvSpPr txBox="1"/>
          <p:nvPr/>
        </p:nvSpPr>
        <p:spPr>
          <a:xfrm>
            <a:off x="309563" y="841375"/>
            <a:ext cx="7334250" cy="604838"/>
          </a:xfrm>
          <a:prstGeom prst="rect">
            <a:avLst/>
          </a:prstGeom>
          <a:noFill/>
          <a:ln w="19050">
            <a:noFill/>
          </a:ln>
        </p:spPr>
        <p:txBody>
          <a:bodyPr>
            <a:spAutoFit/>
          </a:bodyPr>
          <a:lstStyle/>
          <a:p>
            <a:pPr marL="381000" indent="-381000">
              <a:lnSpc>
                <a:spcPct val="120000"/>
              </a:lnSpc>
              <a:spcBef>
                <a:spcPct val="50000"/>
              </a:spcBef>
              <a:buChar char="•"/>
            </a:pPr>
            <a:r>
              <a:rPr lang="zh-CN" altLang="en-US" sz="2800" dirty="0">
                <a:latin typeface="Times New Roman" panose="02020603050405020304" pitchFamily="18" charset="0"/>
                <a:sym typeface="Monotype Sorts" pitchFamily="2" charset="2"/>
              </a:rPr>
              <a:t>列出激励函数和输出函数表达式：	</a:t>
            </a:r>
          </a:p>
        </p:txBody>
      </p:sp>
      <p:sp>
        <p:nvSpPr>
          <p:cNvPr id="304142" name="Text Box 14" descr="羊皮纸"/>
          <p:cNvSpPr txBox="1"/>
          <p:nvPr/>
        </p:nvSpPr>
        <p:spPr>
          <a:xfrm>
            <a:off x="720725" y="5510213"/>
            <a:ext cx="4216400" cy="519112"/>
          </a:xfrm>
          <a:prstGeom prst="rect">
            <a:avLst/>
          </a:prstGeom>
          <a:noFill/>
          <a:ln w="38100">
            <a:noFill/>
          </a:ln>
        </p:spPr>
        <p:txBody>
          <a:bodyPr wrap="none" lIns="90000" tIns="46800" rIns="90000" bIns="46800">
            <a:spAutoFit/>
          </a:bodyPr>
          <a:lstStyle/>
          <a:p>
            <a:pPr>
              <a:buChar char="•"/>
            </a:pPr>
            <a:r>
              <a:rPr lang="zh-CN" altLang="en-US" sz="2800" dirty="0">
                <a:latin typeface="Times New Roman" panose="02020603050405020304" pitchFamily="18" charset="0"/>
              </a:rPr>
              <a:t>画逻辑电路图：（略）。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4141"/>
                                        </p:tgtEl>
                                        <p:attrNameLst>
                                          <p:attrName>style.visibility</p:attrName>
                                        </p:attrNameLst>
                                      </p:cBhvr>
                                      <p:to>
                                        <p:strVal val="visible"/>
                                      </p:to>
                                    </p:set>
                                    <p:animEffect transition="in" filter="wipe(left)">
                                      <p:cBhvr>
                                        <p:cTn id="7" dur="500"/>
                                        <p:tgtEl>
                                          <p:spTgt spid="3041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4142"/>
                                        </p:tgtEl>
                                        <p:attrNameLst>
                                          <p:attrName>style.visibility</p:attrName>
                                        </p:attrNameLst>
                                      </p:cBhvr>
                                      <p:to>
                                        <p:strVal val="visible"/>
                                      </p:to>
                                    </p:set>
                                    <p:animEffect transition="in" filter="wipe(left)">
                                      <p:cBhvr>
                                        <p:cTn id="17" dur="500"/>
                                        <p:tgtEl>
                                          <p:spTgt spid="304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41" grpId="0"/>
      <p:bldP spid="304142"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71563" y="320675"/>
            <a:ext cx="3425825" cy="3462338"/>
            <a:chOff x="363" y="202"/>
            <a:chExt cx="2158" cy="2181"/>
          </a:xfrm>
        </p:grpSpPr>
        <p:sp>
          <p:nvSpPr>
            <p:cNvPr id="100458" name="AutoShape 3"/>
            <p:cNvSpPr/>
            <p:nvPr/>
          </p:nvSpPr>
          <p:spPr>
            <a:xfrm>
              <a:off x="892" y="1405"/>
              <a:ext cx="1543" cy="635"/>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sp>
          <p:nvSpPr>
            <p:cNvPr id="100459" name="AutoShape 4"/>
            <p:cNvSpPr/>
            <p:nvPr/>
          </p:nvSpPr>
          <p:spPr>
            <a:xfrm>
              <a:off x="2139" y="621"/>
              <a:ext cx="334" cy="1384"/>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sp>
          <p:nvSpPr>
            <p:cNvPr id="100460" name="Line 5"/>
            <p:cNvSpPr/>
            <p:nvPr/>
          </p:nvSpPr>
          <p:spPr>
            <a:xfrm>
              <a:off x="874" y="956"/>
              <a:ext cx="1629" cy="0"/>
            </a:xfrm>
            <a:prstGeom prst="line">
              <a:avLst/>
            </a:prstGeom>
            <a:ln w="28575" cap="flat" cmpd="sng">
              <a:solidFill>
                <a:srgbClr val="3333FF"/>
              </a:solidFill>
              <a:prstDash val="solid"/>
              <a:headEnd type="none" w="med" len="med"/>
              <a:tailEnd type="none" w="med" len="med"/>
            </a:ln>
          </p:spPr>
        </p:sp>
        <p:sp>
          <p:nvSpPr>
            <p:cNvPr id="100461" name="Text Box 6"/>
            <p:cNvSpPr txBox="1"/>
            <p:nvPr/>
          </p:nvSpPr>
          <p:spPr>
            <a:xfrm>
              <a:off x="917" y="342"/>
              <a:ext cx="1604"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00     01     11     10</a:t>
              </a:r>
            </a:p>
          </p:txBody>
        </p:sp>
        <p:sp>
          <p:nvSpPr>
            <p:cNvPr id="100462" name="Text Box 7"/>
            <p:cNvSpPr txBox="1"/>
            <p:nvPr/>
          </p:nvSpPr>
          <p:spPr>
            <a:xfrm>
              <a:off x="534" y="521"/>
              <a:ext cx="339" cy="1530"/>
            </a:xfrm>
            <a:prstGeom prst="rect">
              <a:avLst/>
            </a:prstGeom>
            <a:noFill/>
            <a:ln w="9525">
              <a:noFill/>
            </a:ln>
          </p:spPr>
          <p:txBody>
            <a:bodyPr>
              <a:spAutoFit/>
            </a:bodyPr>
            <a:lstStyle/>
            <a:p>
              <a:pPr>
                <a:lnSpc>
                  <a:spcPct val="160000"/>
                </a:lnSpc>
              </a:pPr>
              <a:r>
                <a:rPr lang="en-US" altLang="zh-CN" sz="2400" dirty="0">
                  <a:latin typeface="Times New Roman" panose="02020603050405020304" pitchFamily="18" charset="0"/>
                </a:rPr>
                <a:t>00</a:t>
              </a:r>
            </a:p>
            <a:p>
              <a:pPr>
                <a:lnSpc>
                  <a:spcPct val="160000"/>
                </a:lnSpc>
              </a:pPr>
              <a:r>
                <a:rPr lang="en-US" altLang="zh-CN" sz="2400" dirty="0">
                  <a:latin typeface="Times New Roman" panose="02020603050405020304" pitchFamily="18" charset="0"/>
                </a:rPr>
                <a:t>01</a:t>
              </a:r>
            </a:p>
            <a:p>
              <a:pPr>
                <a:lnSpc>
                  <a:spcPct val="160000"/>
                </a:lnSpc>
              </a:pPr>
              <a:r>
                <a:rPr lang="en-US" altLang="zh-CN" sz="2400" dirty="0">
                  <a:latin typeface="Times New Roman" panose="02020603050405020304" pitchFamily="18" charset="0"/>
                </a:rPr>
                <a:t>11</a:t>
              </a:r>
            </a:p>
            <a:p>
              <a:pPr>
                <a:lnSpc>
                  <a:spcPct val="160000"/>
                </a:lnSpc>
              </a:pPr>
              <a:r>
                <a:rPr lang="en-US" altLang="zh-CN" sz="2400" dirty="0">
                  <a:latin typeface="Times New Roman" panose="02020603050405020304" pitchFamily="18" charset="0"/>
                </a:rPr>
                <a:t>10</a:t>
              </a:r>
            </a:p>
          </p:txBody>
        </p:sp>
        <p:sp>
          <p:nvSpPr>
            <p:cNvPr id="100463" name="Text Box 8"/>
            <p:cNvSpPr txBox="1"/>
            <p:nvPr/>
          </p:nvSpPr>
          <p:spPr>
            <a:xfrm>
              <a:off x="624" y="202"/>
              <a:ext cx="390" cy="327"/>
            </a:xfrm>
            <a:prstGeom prst="rect">
              <a:avLst/>
            </a:prstGeom>
            <a:noFill/>
            <a:ln w="9525">
              <a:noFill/>
            </a:ln>
          </p:spPr>
          <p:txBody>
            <a:bodyPr wrap="none">
              <a:spAutoFit/>
            </a:bodyPr>
            <a:lstStyle/>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p>
          </p:txBody>
        </p:sp>
        <p:sp>
          <p:nvSpPr>
            <p:cNvPr id="100464" name="Text Box 9"/>
            <p:cNvSpPr txBox="1"/>
            <p:nvPr/>
          </p:nvSpPr>
          <p:spPr>
            <a:xfrm>
              <a:off x="363" y="324"/>
              <a:ext cx="466"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p>
          </p:txBody>
        </p:sp>
        <p:grpSp>
          <p:nvGrpSpPr>
            <p:cNvPr id="100465" name="Group 10"/>
            <p:cNvGrpSpPr/>
            <p:nvPr/>
          </p:nvGrpSpPr>
          <p:grpSpPr>
            <a:xfrm>
              <a:off x="856" y="577"/>
              <a:ext cx="1635" cy="1495"/>
              <a:chOff x="520" y="702"/>
              <a:chExt cx="1281" cy="1403"/>
            </a:xfrm>
          </p:grpSpPr>
          <p:sp>
            <p:nvSpPr>
              <p:cNvPr id="100486" name="Rectangle 11"/>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grpSp>
            <p:nvGrpSpPr>
              <p:cNvPr id="100487" name="Group 12"/>
              <p:cNvGrpSpPr/>
              <p:nvPr/>
            </p:nvGrpSpPr>
            <p:grpSpPr>
              <a:xfrm>
                <a:off x="858" y="702"/>
                <a:ext cx="645" cy="1403"/>
                <a:chOff x="858" y="702"/>
                <a:chExt cx="645" cy="1380"/>
              </a:xfrm>
            </p:grpSpPr>
            <p:sp>
              <p:nvSpPr>
                <p:cNvPr id="100488" name="Line 13"/>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100489" name="Line 14"/>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100490" name="Line 15"/>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100466" name="Line 16"/>
            <p:cNvSpPr/>
            <p:nvPr/>
          </p:nvSpPr>
          <p:spPr>
            <a:xfrm>
              <a:off x="874" y="1327"/>
              <a:ext cx="1629" cy="0"/>
            </a:xfrm>
            <a:prstGeom prst="line">
              <a:avLst/>
            </a:prstGeom>
            <a:ln w="28575" cap="flat" cmpd="sng">
              <a:solidFill>
                <a:srgbClr val="3333FF"/>
              </a:solidFill>
              <a:prstDash val="solid"/>
              <a:headEnd type="none" w="med" len="med"/>
              <a:tailEnd type="none" w="med" len="med"/>
            </a:ln>
          </p:spPr>
        </p:sp>
        <p:sp>
          <p:nvSpPr>
            <p:cNvPr id="100467" name="Line 17"/>
            <p:cNvSpPr/>
            <p:nvPr/>
          </p:nvSpPr>
          <p:spPr>
            <a:xfrm>
              <a:off x="857" y="1741"/>
              <a:ext cx="1629" cy="0"/>
            </a:xfrm>
            <a:prstGeom prst="line">
              <a:avLst/>
            </a:prstGeom>
            <a:ln w="28575" cap="flat" cmpd="sng">
              <a:solidFill>
                <a:srgbClr val="3333FF"/>
              </a:solidFill>
              <a:prstDash val="solid"/>
              <a:headEnd type="none" w="med" len="med"/>
              <a:tailEnd type="none" w="med" len="med"/>
            </a:ln>
          </p:spPr>
        </p:sp>
        <p:sp>
          <p:nvSpPr>
            <p:cNvPr id="100468" name="Rectangle 18"/>
            <p:cNvSpPr/>
            <p:nvPr/>
          </p:nvSpPr>
          <p:spPr>
            <a:xfrm>
              <a:off x="1433" y="1745"/>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1</a:t>
              </a:r>
            </a:p>
          </p:txBody>
        </p:sp>
        <p:sp>
          <p:nvSpPr>
            <p:cNvPr id="100469" name="Rectangle 19"/>
            <p:cNvSpPr/>
            <p:nvPr/>
          </p:nvSpPr>
          <p:spPr>
            <a:xfrm>
              <a:off x="979" y="1744"/>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1</a:t>
              </a:r>
            </a:p>
          </p:txBody>
        </p:sp>
        <p:sp>
          <p:nvSpPr>
            <p:cNvPr id="100470" name="Rectangle 20"/>
            <p:cNvSpPr/>
            <p:nvPr/>
          </p:nvSpPr>
          <p:spPr>
            <a:xfrm>
              <a:off x="1387" y="1406"/>
              <a:ext cx="228" cy="327"/>
            </a:xfrm>
            <a:prstGeom prst="rect">
              <a:avLst/>
            </a:prstGeom>
            <a:noFill/>
            <a:ln w="9525">
              <a:noFill/>
            </a:ln>
          </p:spPr>
          <p:txBody>
            <a:bodyPr wrap="none">
              <a:spAutoFit/>
            </a:bodyPr>
            <a:lstStyle/>
            <a:p>
              <a:r>
                <a:rPr lang="en-US" altLang="zh-CN" sz="2800" dirty="0">
                  <a:solidFill>
                    <a:srgbClr val="FF3300"/>
                  </a:solidFill>
                  <a:latin typeface="Times New Roman" panose="02020603050405020304" pitchFamily="18" charset="0"/>
                </a:rPr>
                <a:t>1</a:t>
              </a:r>
            </a:p>
          </p:txBody>
        </p:sp>
        <p:sp>
          <p:nvSpPr>
            <p:cNvPr id="100471" name="Rectangle 21"/>
            <p:cNvSpPr/>
            <p:nvPr/>
          </p:nvSpPr>
          <p:spPr>
            <a:xfrm>
              <a:off x="946" y="1406"/>
              <a:ext cx="228" cy="327"/>
            </a:xfrm>
            <a:prstGeom prst="rect">
              <a:avLst/>
            </a:prstGeom>
            <a:noFill/>
            <a:ln w="9525">
              <a:noFill/>
            </a:ln>
          </p:spPr>
          <p:txBody>
            <a:bodyPr wrap="none">
              <a:spAutoFit/>
            </a:bodyPr>
            <a:lstStyle/>
            <a:p>
              <a:r>
                <a:rPr lang="en-US" altLang="zh-CN" sz="2800" dirty="0">
                  <a:solidFill>
                    <a:srgbClr val="FF3300"/>
                  </a:solidFill>
                  <a:latin typeface="Times New Roman" panose="02020603050405020304" pitchFamily="18" charset="0"/>
                </a:rPr>
                <a:t>1</a:t>
              </a:r>
            </a:p>
          </p:txBody>
        </p:sp>
        <p:sp>
          <p:nvSpPr>
            <p:cNvPr id="100472" name="Text Box 22"/>
            <p:cNvSpPr txBox="1"/>
            <p:nvPr/>
          </p:nvSpPr>
          <p:spPr>
            <a:xfrm>
              <a:off x="1797" y="594"/>
              <a:ext cx="221" cy="327"/>
            </a:xfrm>
            <a:prstGeom prst="rect">
              <a:avLst/>
            </a:prstGeom>
            <a:noFill/>
            <a:ln w="9525">
              <a:noFill/>
            </a:ln>
          </p:spPr>
          <p:txBody>
            <a:bodyPr>
              <a:spAutoFit/>
            </a:bodyPr>
            <a:lstStyle/>
            <a:p>
              <a:r>
                <a:rPr lang="en-US" altLang="zh-CN" sz="2800" dirty="0">
                  <a:latin typeface="Times New Roman" panose="02020603050405020304" pitchFamily="18" charset="0"/>
                </a:rPr>
                <a:t>0</a:t>
              </a:r>
            </a:p>
          </p:txBody>
        </p:sp>
        <p:sp>
          <p:nvSpPr>
            <p:cNvPr id="100473" name="Rectangle 23"/>
            <p:cNvSpPr/>
            <p:nvPr/>
          </p:nvSpPr>
          <p:spPr>
            <a:xfrm>
              <a:off x="1395" y="1022"/>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100474" name="Rectangle 24"/>
            <p:cNvSpPr/>
            <p:nvPr/>
          </p:nvSpPr>
          <p:spPr>
            <a:xfrm>
              <a:off x="964" y="1022"/>
              <a:ext cx="228" cy="327"/>
            </a:xfrm>
            <a:prstGeom prst="rect">
              <a:avLst/>
            </a:prstGeom>
            <a:noFill/>
            <a:ln w="9525">
              <a:noFill/>
            </a:ln>
          </p:spPr>
          <p:txBody>
            <a:bodyPr wrap="none">
              <a:spAutoFit/>
            </a:bodyPr>
            <a:lstStyle/>
            <a:p>
              <a:r>
                <a:rPr lang="en-US" altLang="zh-CN" sz="2800" dirty="0">
                  <a:solidFill>
                    <a:srgbClr val="FF3300"/>
                  </a:solidFill>
                  <a:latin typeface="Times New Roman" panose="02020603050405020304" pitchFamily="18" charset="0"/>
                </a:rPr>
                <a:t>0</a:t>
              </a:r>
            </a:p>
          </p:txBody>
        </p:sp>
        <p:sp>
          <p:nvSpPr>
            <p:cNvPr id="100475" name="Text Box 25"/>
            <p:cNvSpPr txBox="1"/>
            <p:nvPr/>
          </p:nvSpPr>
          <p:spPr>
            <a:xfrm>
              <a:off x="1797" y="1022"/>
              <a:ext cx="325" cy="327"/>
            </a:xfrm>
            <a:prstGeom prst="rect">
              <a:avLst/>
            </a:prstGeom>
            <a:noFill/>
            <a:ln w="9525">
              <a:noFill/>
            </a:ln>
          </p:spPr>
          <p:txBody>
            <a:bodyPr>
              <a:spAutoFit/>
            </a:bodyPr>
            <a:lstStyle/>
            <a:p>
              <a:r>
                <a:rPr lang="en-US" altLang="zh-CN" sz="2800" dirty="0">
                  <a:latin typeface="Times New Roman" panose="02020603050405020304" pitchFamily="18" charset="0"/>
                </a:rPr>
                <a:t>0</a:t>
              </a:r>
            </a:p>
          </p:txBody>
        </p:sp>
        <p:sp>
          <p:nvSpPr>
            <p:cNvPr id="100476" name="Line 26"/>
            <p:cNvSpPr/>
            <p:nvPr/>
          </p:nvSpPr>
          <p:spPr>
            <a:xfrm>
              <a:off x="569" y="306"/>
              <a:ext cx="285" cy="284"/>
            </a:xfrm>
            <a:prstGeom prst="line">
              <a:avLst/>
            </a:prstGeom>
            <a:ln w="28575" cap="flat" cmpd="sng">
              <a:solidFill>
                <a:srgbClr val="3333FF"/>
              </a:solidFill>
              <a:prstDash val="solid"/>
              <a:headEnd type="none" w="med" len="med"/>
              <a:tailEnd type="none" w="med" len="med"/>
            </a:ln>
          </p:spPr>
        </p:sp>
        <p:sp>
          <p:nvSpPr>
            <p:cNvPr id="100477" name="Text Box 27" descr="羊皮纸"/>
            <p:cNvSpPr txBox="1"/>
            <p:nvPr/>
          </p:nvSpPr>
          <p:spPr>
            <a:xfrm>
              <a:off x="1380" y="2056"/>
              <a:ext cx="352" cy="327"/>
            </a:xfrm>
            <a:prstGeom prst="rect">
              <a:avLst/>
            </a:prstGeom>
            <a:noFill/>
            <a:ln w="38100">
              <a:noFill/>
            </a:ln>
          </p:spPr>
          <p:txBody>
            <a:bodyPr wrap="none" lIns="90000" tIns="46800" rIns="90000" bIns="46800">
              <a:spAutoFit/>
            </a:bodyPr>
            <a:lstStyle/>
            <a:p>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3</a:t>
              </a:r>
            </a:p>
          </p:txBody>
        </p:sp>
        <p:sp>
          <p:nvSpPr>
            <p:cNvPr id="100478" name="Text Box 28" descr="羊皮纸"/>
            <p:cNvSpPr txBox="1"/>
            <p:nvPr/>
          </p:nvSpPr>
          <p:spPr>
            <a:xfrm>
              <a:off x="973" y="601"/>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100479" name="Text Box 29" descr="羊皮纸"/>
            <p:cNvSpPr txBox="1"/>
            <p:nvPr/>
          </p:nvSpPr>
          <p:spPr>
            <a:xfrm>
              <a:off x="1391" y="601"/>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100480" name="Text Box 30" descr="羊皮纸"/>
            <p:cNvSpPr txBox="1"/>
            <p:nvPr/>
          </p:nvSpPr>
          <p:spPr>
            <a:xfrm>
              <a:off x="2206" y="612"/>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1</a:t>
              </a:r>
            </a:p>
          </p:txBody>
        </p:sp>
        <p:sp>
          <p:nvSpPr>
            <p:cNvPr id="100481" name="Text Box 31" descr="羊皮纸"/>
            <p:cNvSpPr txBox="1"/>
            <p:nvPr/>
          </p:nvSpPr>
          <p:spPr>
            <a:xfrm>
              <a:off x="2186" y="1004"/>
              <a:ext cx="226" cy="327"/>
            </a:xfrm>
            <a:prstGeom prst="rect">
              <a:avLst/>
            </a:prstGeom>
            <a:noFill/>
            <a:ln w="38100">
              <a:noFill/>
            </a:ln>
          </p:spPr>
          <p:txBody>
            <a:bodyPr wrap="none" lIns="90000" tIns="46800" rIns="90000" bIns="46800">
              <a:spAutoFit/>
            </a:bodyPr>
            <a:lstStyle/>
            <a:p>
              <a:r>
                <a:rPr lang="en-US" altLang="zh-CN" sz="2800" dirty="0">
                  <a:solidFill>
                    <a:srgbClr val="FF3300"/>
                  </a:solidFill>
                  <a:latin typeface="Times New Roman" panose="02020603050405020304" pitchFamily="18" charset="0"/>
                </a:rPr>
                <a:t>1</a:t>
              </a:r>
            </a:p>
          </p:txBody>
        </p:sp>
        <p:sp>
          <p:nvSpPr>
            <p:cNvPr id="100482" name="Text Box 32" descr="羊皮纸"/>
            <p:cNvSpPr txBox="1"/>
            <p:nvPr/>
          </p:nvSpPr>
          <p:spPr>
            <a:xfrm>
              <a:off x="1778" y="1407"/>
              <a:ext cx="226" cy="327"/>
            </a:xfrm>
            <a:prstGeom prst="rect">
              <a:avLst/>
            </a:prstGeom>
            <a:noFill/>
            <a:ln w="38100">
              <a:noFill/>
            </a:ln>
          </p:spPr>
          <p:txBody>
            <a:bodyPr wrap="none" lIns="90000" tIns="46800" rIns="90000" bIns="46800">
              <a:spAutoFit/>
            </a:bodyPr>
            <a:lstStyle/>
            <a:p>
              <a:r>
                <a:rPr lang="en-US" altLang="zh-CN" sz="2800" dirty="0">
                  <a:solidFill>
                    <a:srgbClr val="FF3300"/>
                  </a:solidFill>
                  <a:latin typeface="Times New Roman" panose="02020603050405020304" pitchFamily="18" charset="0"/>
                </a:rPr>
                <a:t>1</a:t>
              </a:r>
            </a:p>
          </p:txBody>
        </p:sp>
        <p:sp>
          <p:nvSpPr>
            <p:cNvPr id="100483" name="Text Box 33" descr="羊皮纸"/>
            <p:cNvSpPr txBox="1"/>
            <p:nvPr/>
          </p:nvSpPr>
          <p:spPr>
            <a:xfrm>
              <a:off x="2183" y="1407"/>
              <a:ext cx="158" cy="327"/>
            </a:xfrm>
            <a:prstGeom prst="rect">
              <a:avLst/>
            </a:prstGeom>
            <a:noFill/>
            <a:ln w="38100">
              <a:noFill/>
            </a:ln>
          </p:spPr>
          <p:txBody>
            <a:bodyPr lIns="90000" tIns="46800" rIns="90000" bIns="46800">
              <a:spAutoFit/>
            </a:bodyPr>
            <a:lstStyle/>
            <a:p>
              <a:r>
                <a:rPr lang="en-US" altLang="zh-CN" sz="2800" dirty="0">
                  <a:solidFill>
                    <a:srgbClr val="FF3300"/>
                  </a:solidFill>
                  <a:latin typeface="Times New Roman" panose="02020603050405020304" pitchFamily="18" charset="0"/>
                </a:rPr>
                <a:t>1</a:t>
              </a:r>
            </a:p>
          </p:txBody>
        </p:sp>
        <p:sp>
          <p:nvSpPr>
            <p:cNvPr id="100484" name="Text Box 34" descr="羊皮纸"/>
            <p:cNvSpPr txBox="1"/>
            <p:nvPr/>
          </p:nvSpPr>
          <p:spPr>
            <a:xfrm>
              <a:off x="1811" y="1754"/>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1</a:t>
              </a:r>
            </a:p>
          </p:txBody>
        </p:sp>
        <p:sp>
          <p:nvSpPr>
            <p:cNvPr id="100485" name="Text Box 35" descr="羊皮纸"/>
            <p:cNvSpPr txBox="1"/>
            <p:nvPr/>
          </p:nvSpPr>
          <p:spPr>
            <a:xfrm>
              <a:off x="2197" y="1742"/>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1</a:t>
              </a:r>
            </a:p>
          </p:txBody>
        </p:sp>
      </p:grpSp>
      <p:grpSp>
        <p:nvGrpSpPr>
          <p:cNvPr id="5" name="Group 36"/>
          <p:cNvGrpSpPr/>
          <p:nvPr/>
        </p:nvGrpSpPr>
        <p:grpSpPr>
          <a:xfrm>
            <a:off x="1057275" y="3395663"/>
            <a:ext cx="3425825" cy="3462337"/>
            <a:chOff x="354" y="2139"/>
            <a:chExt cx="2158" cy="2181"/>
          </a:xfrm>
        </p:grpSpPr>
        <p:sp>
          <p:nvSpPr>
            <p:cNvPr id="100425" name="AutoShape 37"/>
            <p:cNvSpPr/>
            <p:nvPr/>
          </p:nvSpPr>
          <p:spPr>
            <a:xfrm>
              <a:off x="1343" y="3355"/>
              <a:ext cx="316" cy="609"/>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sp>
          <p:nvSpPr>
            <p:cNvPr id="100426" name="AutoShape 38"/>
            <p:cNvSpPr/>
            <p:nvPr/>
          </p:nvSpPr>
          <p:spPr>
            <a:xfrm>
              <a:off x="2130" y="3339"/>
              <a:ext cx="334" cy="603"/>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sp>
          <p:nvSpPr>
            <p:cNvPr id="100427" name="Line 39"/>
            <p:cNvSpPr/>
            <p:nvPr/>
          </p:nvSpPr>
          <p:spPr>
            <a:xfrm>
              <a:off x="865" y="2893"/>
              <a:ext cx="1629" cy="0"/>
            </a:xfrm>
            <a:prstGeom prst="line">
              <a:avLst/>
            </a:prstGeom>
            <a:ln w="28575" cap="flat" cmpd="sng">
              <a:solidFill>
                <a:srgbClr val="3333FF"/>
              </a:solidFill>
              <a:prstDash val="solid"/>
              <a:headEnd type="none" w="med" len="med"/>
              <a:tailEnd type="none" w="med" len="med"/>
            </a:ln>
          </p:spPr>
        </p:sp>
        <p:sp>
          <p:nvSpPr>
            <p:cNvPr id="100428" name="Text Box 40"/>
            <p:cNvSpPr txBox="1"/>
            <p:nvPr/>
          </p:nvSpPr>
          <p:spPr>
            <a:xfrm>
              <a:off x="908" y="2279"/>
              <a:ext cx="1604"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00     01     11     10</a:t>
              </a:r>
            </a:p>
          </p:txBody>
        </p:sp>
        <p:sp>
          <p:nvSpPr>
            <p:cNvPr id="100429" name="Text Box 41"/>
            <p:cNvSpPr txBox="1"/>
            <p:nvPr/>
          </p:nvSpPr>
          <p:spPr>
            <a:xfrm>
              <a:off x="525" y="2458"/>
              <a:ext cx="339" cy="1530"/>
            </a:xfrm>
            <a:prstGeom prst="rect">
              <a:avLst/>
            </a:prstGeom>
            <a:noFill/>
            <a:ln w="9525">
              <a:noFill/>
            </a:ln>
          </p:spPr>
          <p:txBody>
            <a:bodyPr>
              <a:spAutoFit/>
            </a:bodyPr>
            <a:lstStyle/>
            <a:p>
              <a:pPr>
                <a:lnSpc>
                  <a:spcPct val="160000"/>
                </a:lnSpc>
              </a:pPr>
              <a:r>
                <a:rPr lang="en-US" altLang="zh-CN" sz="2400" dirty="0">
                  <a:latin typeface="Times New Roman" panose="02020603050405020304" pitchFamily="18" charset="0"/>
                </a:rPr>
                <a:t>00</a:t>
              </a:r>
            </a:p>
            <a:p>
              <a:pPr>
                <a:lnSpc>
                  <a:spcPct val="160000"/>
                </a:lnSpc>
              </a:pPr>
              <a:r>
                <a:rPr lang="en-US" altLang="zh-CN" sz="2400" dirty="0">
                  <a:latin typeface="Times New Roman" panose="02020603050405020304" pitchFamily="18" charset="0"/>
                </a:rPr>
                <a:t>01</a:t>
              </a:r>
            </a:p>
            <a:p>
              <a:pPr>
                <a:lnSpc>
                  <a:spcPct val="160000"/>
                </a:lnSpc>
              </a:pPr>
              <a:r>
                <a:rPr lang="en-US" altLang="zh-CN" sz="2400" dirty="0">
                  <a:latin typeface="Times New Roman" panose="02020603050405020304" pitchFamily="18" charset="0"/>
                </a:rPr>
                <a:t>11</a:t>
              </a:r>
            </a:p>
            <a:p>
              <a:pPr>
                <a:lnSpc>
                  <a:spcPct val="160000"/>
                </a:lnSpc>
              </a:pPr>
              <a:r>
                <a:rPr lang="en-US" altLang="zh-CN" sz="2400" dirty="0">
                  <a:latin typeface="Times New Roman" panose="02020603050405020304" pitchFamily="18" charset="0"/>
                </a:rPr>
                <a:t>10</a:t>
              </a:r>
            </a:p>
          </p:txBody>
        </p:sp>
        <p:sp>
          <p:nvSpPr>
            <p:cNvPr id="100430" name="Text Box 42"/>
            <p:cNvSpPr txBox="1"/>
            <p:nvPr/>
          </p:nvSpPr>
          <p:spPr>
            <a:xfrm>
              <a:off x="615" y="2139"/>
              <a:ext cx="390" cy="327"/>
            </a:xfrm>
            <a:prstGeom prst="rect">
              <a:avLst/>
            </a:prstGeom>
            <a:noFill/>
            <a:ln w="9525">
              <a:noFill/>
            </a:ln>
          </p:spPr>
          <p:txBody>
            <a:bodyPr wrap="none">
              <a:spAutoFit/>
            </a:bodyPr>
            <a:lstStyle/>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p>
          </p:txBody>
        </p:sp>
        <p:sp>
          <p:nvSpPr>
            <p:cNvPr id="100431" name="Text Box 43"/>
            <p:cNvSpPr txBox="1"/>
            <p:nvPr/>
          </p:nvSpPr>
          <p:spPr>
            <a:xfrm>
              <a:off x="354" y="2261"/>
              <a:ext cx="466"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p>
          </p:txBody>
        </p:sp>
        <p:grpSp>
          <p:nvGrpSpPr>
            <p:cNvPr id="100432" name="Group 44"/>
            <p:cNvGrpSpPr/>
            <p:nvPr/>
          </p:nvGrpSpPr>
          <p:grpSpPr>
            <a:xfrm>
              <a:off x="847" y="2514"/>
              <a:ext cx="1635" cy="1495"/>
              <a:chOff x="520" y="702"/>
              <a:chExt cx="1281" cy="1403"/>
            </a:xfrm>
          </p:grpSpPr>
          <p:sp>
            <p:nvSpPr>
              <p:cNvPr id="100453" name="Rectangle 45"/>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grpSp>
            <p:nvGrpSpPr>
              <p:cNvPr id="100454" name="Group 46"/>
              <p:cNvGrpSpPr/>
              <p:nvPr/>
            </p:nvGrpSpPr>
            <p:grpSpPr>
              <a:xfrm>
                <a:off x="858" y="702"/>
                <a:ext cx="645" cy="1403"/>
                <a:chOff x="858" y="702"/>
                <a:chExt cx="645" cy="1380"/>
              </a:xfrm>
            </p:grpSpPr>
            <p:sp>
              <p:nvSpPr>
                <p:cNvPr id="100455" name="Line 47"/>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100456" name="Line 48"/>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100457" name="Line 49"/>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100433" name="Line 50"/>
            <p:cNvSpPr/>
            <p:nvPr/>
          </p:nvSpPr>
          <p:spPr>
            <a:xfrm>
              <a:off x="865" y="3264"/>
              <a:ext cx="1629" cy="0"/>
            </a:xfrm>
            <a:prstGeom prst="line">
              <a:avLst/>
            </a:prstGeom>
            <a:ln w="28575" cap="flat" cmpd="sng">
              <a:solidFill>
                <a:srgbClr val="3333FF"/>
              </a:solidFill>
              <a:prstDash val="solid"/>
              <a:headEnd type="none" w="med" len="med"/>
              <a:tailEnd type="none" w="med" len="med"/>
            </a:ln>
          </p:spPr>
        </p:sp>
        <p:sp>
          <p:nvSpPr>
            <p:cNvPr id="100434" name="Line 51"/>
            <p:cNvSpPr/>
            <p:nvPr/>
          </p:nvSpPr>
          <p:spPr>
            <a:xfrm>
              <a:off x="848" y="3678"/>
              <a:ext cx="1629" cy="0"/>
            </a:xfrm>
            <a:prstGeom prst="line">
              <a:avLst/>
            </a:prstGeom>
            <a:ln w="28575" cap="flat" cmpd="sng">
              <a:solidFill>
                <a:srgbClr val="3333FF"/>
              </a:solidFill>
              <a:prstDash val="solid"/>
              <a:headEnd type="none" w="med" len="med"/>
              <a:tailEnd type="none" w="med" len="med"/>
            </a:ln>
          </p:spPr>
        </p:sp>
        <p:sp>
          <p:nvSpPr>
            <p:cNvPr id="100435" name="Rectangle 52"/>
            <p:cNvSpPr/>
            <p:nvPr/>
          </p:nvSpPr>
          <p:spPr>
            <a:xfrm>
              <a:off x="1424" y="3682"/>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1</a:t>
              </a:r>
            </a:p>
          </p:txBody>
        </p:sp>
        <p:sp>
          <p:nvSpPr>
            <p:cNvPr id="100436" name="Rectangle 53"/>
            <p:cNvSpPr/>
            <p:nvPr/>
          </p:nvSpPr>
          <p:spPr>
            <a:xfrm>
              <a:off x="970" y="3681"/>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100437" name="Rectangle 54"/>
            <p:cNvSpPr/>
            <p:nvPr/>
          </p:nvSpPr>
          <p:spPr>
            <a:xfrm>
              <a:off x="1378" y="3343"/>
              <a:ext cx="228" cy="327"/>
            </a:xfrm>
            <a:prstGeom prst="rect">
              <a:avLst/>
            </a:prstGeom>
            <a:noFill/>
            <a:ln w="9525">
              <a:noFill/>
            </a:ln>
          </p:spPr>
          <p:txBody>
            <a:bodyPr wrap="none">
              <a:spAutoFit/>
            </a:bodyPr>
            <a:lstStyle/>
            <a:p>
              <a:r>
                <a:rPr lang="en-US" altLang="zh-CN" sz="2800" dirty="0">
                  <a:solidFill>
                    <a:srgbClr val="FF3300"/>
                  </a:solidFill>
                  <a:latin typeface="Times New Roman" panose="02020603050405020304" pitchFamily="18" charset="0"/>
                </a:rPr>
                <a:t>1</a:t>
              </a:r>
            </a:p>
          </p:txBody>
        </p:sp>
        <p:sp>
          <p:nvSpPr>
            <p:cNvPr id="100438" name="Rectangle 55"/>
            <p:cNvSpPr/>
            <p:nvPr/>
          </p:nvSpPr>
          <p:spPr>
            <a:xfrm>
              <a:off x="937" y="3343"/>
              <a:ext cx="228" cy="327"/>
            </a:xfrm>
            <a:prstGeom prst="rect">
              <a:avLst/>
            </a:prstGeom>
            <a:noFill/>
            <a:ln w="9525">
              <a:noFill/>
            </a:ln>
          </p:spPr>
          <p:txBody>
            <a:bodyPr wrap="none">
              <a:spAutoFit/>
            </a:bodyPr>
            <a:lstStyle/>
            <a:p>
              <a:r>
                <a:rPr lang="en-US" altLang="zh-CN" sz="2800" dirty="0">
                  <a:solidFill>
                    <a:srgbClr val="FF3300"/>
                  </a:solidFill>
                  <a:latin typeface="Times New Roman" panose="02020603050405020304" pitchFamily="18" charset="0"/>
                </a:rPr>
                <a:t>0</a:t>
              </a:r>
            </a:p>
          </p:txBody>
        </p:sp>
        <p:sp>
          <p:nvSpPr>
            <p:cNvPr id="100439" name="Text Box 56"/>
            <p:cNvSpPr txBox="1"/>
            <p:nvPr/>
          </p:nvSpPr>
          <p:spPr>
            <a:xfrm>
              <a:off x="1788" y="2531"/>
              <a:ext cx="221" cy="327"/>
            </a:xfrm>
            <a:prstGeom prst="rect">
              <a:avLst/>
            </a:prstGeom>
            <a:noFill/>
            <a:ln w="9525">
              <a:noFill/>
            </a:ln>
          </p:spPr>
          <p:txBody>
            <a:bodyPr>
              <a:spAutoFit/>
            </a:bodyPr>
            <a:lstStyle/>
            <a:p>
              <a:r>
                <a:rPr lang="en-US" altLang="zh-CN" sz="2800" dirty="0">
                  <a:latin typeface="Times New Roman" panose="02020603050405020304" pitchFamily="18" charset="0"/>
                </a:rPr>
                <a:t>0</a:t>
              </a:r>
            </a:p>
          </p:txBody>
        </p:sp>
        <p:sp>
          <p:nvSpPr>
            <p:cNvPr id="100440" name="Rectangle 57"/>
            <p:cNvSpPr/>
            <p:nvPr/>
          </p:nvSpPr>
          <p:spPr>
            <a:xfrm>
              <a:off x="1386" y="2959"/>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100441" name="Rectangle 58"/>
            <p:cNvSpPr/>
            <p:nvPr/>
          </p:nvSpPr>
          <p:spPr>
            <a:xfrm>
              <a:off x="955" y="2959"/>
              <a:ext cx="228" cy="327"/>
            </a:xfrm>
            <a:prstGeom prst="rect">
              <a:avLst/>
            </a:prstGeom>
            <a:noFill/>
            <a:ln w="9525">
              <a:noFill/>
            </a:ln>
          </p:spPr>
          <p:txBody>
            <a:bodyPr wrap="none">
              <a:spAutoFit/>
            </a:bodyPr>
            <a:lstStyle/>
            <a:p>
              <a:r>
                <a:rPr lang="en-US" altLang="zh-CN" sz="2800" dirty="0">
                  <a:solidFill>
                    <a:srgbClr val="FF3300"/>
                  </a:solidFill>
                  <a:latin typeface="Times New Roman" panose="02020603050405020304" pitchFamily="18" charset="0"/>
                </a:rPr>
                <a:t>0</a:t>
              </a:r>
            </a:p>
          </p:txBody>
        </p:sp>
        <p:sp>
          <p:nvSpPr>
            <p:cNvPr id="100442" name="Text Box 59"/>
            <p:cNvSpPr txBox="1"/>
            <p:nvPr/>
          </p:nvSpPr>
          <p:spPr>
            <a:xfrm>
              <a:off x="1788" y="2959"/>
              <a:ext cx="325" cy="327"/>
            </a:xfrm>
            <a:prstGeom prst="rect">
              <a:avLst/>
            </a:prstGeom>
            <a:noFill/>
            <a:ln w="9525">
              <a:noFill/>
            </a:ln>
          </p:spPr>
          <p:txBody>
            <a:bodyPr>
              <a:spAutoFit/>
            </a:bodyPr>
            <a:lstStyle/>
            <a:p>
              <a:r>
                <a:rPr lang="en-US" altLang="zh-CN" sz="2800" dirty="0">
                  <a:latin typeface="Times New Roman" panose="02020603050405020304" pitchFamily="18" charset="0"/>
                </a:rPr>
                <a:t>0</a:t>
              </a:r>
            </a:p>
          </p:txBody>
        </p:sp>
        <p:sp>
          <p:nvSpPr>
            <p:cNvPr id="100443" name="Line 60"/>
            <p:cNvSpPr/>
            <p:nvPr/>
          </p:nvSpPr>
          <p:spPr>
            <a:xfrm>
              <a:off x="560" y="2243"/>
              <a:ext cx="285" cy="284"/>
            </a:xfrm>
            <a:prstGeom prst="line">
              <a:avLst/>
            </a:prstGeom>
            <a:ln w="28575" cap="flat" cmpd="sng">
              <a:solidFill>
                <a:srgbClr val="3333FF"/>
              </a:solidFill>
              <a:prstDash val="solid"/>
              <a:headEnd type="none" w="med" len="med"/>
              <a:tailEnd type="none" w="med" len="med"/>
            </a:ln>
          </p:spPr>
        </p:sp>
        <p:sp>
          <p:nvSpPr>
            <p:cNvPr id="100444" name="Text Box 61" descr="羊皮纸"/>
            <p:cNvSpPr txBox="1"/>
            <p:nvPr/>
          </p:nvSpPr>
          <p:spPr>
            <a:xfrm>
              <a:off x="1371" y="3993"/>
              <a:ext cx="352" cy="327"/>
            </a:xfrm>
            <a:prstGeom prst="rect">
              <a:avLst/>
            </a:prstGeom>
            <a:noFill/>
            <a:ln w="38100">
              <a:noFill/>
            </a:ln>
          </p:spPr>
          <p:txBody>
            <a:bodyPr wrap="none" lIns="90000" tIns="46800" rIns="90000" bIns="46800">
              <a:spAutoFit/>
            </a:bodyPr>
            <a:lstStyle/>
            <a:p>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1</a:t>
              </a:r>
            </a:p>
          </p:txBody>
        </p:sp>
        <p:sp>
          <p:nvSpPr>
            <p:cNvPr id="100445" name="Text Box 62" descr="羊皮纸"/>
            <p:cNvSpPr txBox="1"/>
            <p:nvPr/>
          </p:nvSpPr>
          <p:spPr>
            <a:xfrm>
              <a:off x="964" y="2538"/>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100446" name="Text Box 63" descr="羊皮纸"/>
            <p:cNvSpPr txBox="1"/>
            <p:nvPr/>
          </p:nvSpPr>
          <p:spPr>
            <a:xfrm>
              <a:off x="1382" y="2538"/>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100447" name="Text Box 64" descr="羊皮纸"/>
            <p:cNvSpPr txBox="1"/>
            <p:nvPr/>
          </p:nvSpPr>
          <p:spPr>
            <a:xfrm>
              <a:off x="2197" y="2549"/>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100448" name="Text Box 65" descr="羊皮纸"/>
            <p:cNvSpPr txBox="1"/>
            <p:nvPr/>
          </p:nvSpPr>
          <p:spPr>
            <a:xfrm>
              <a:off x="2177" y="2941"/>
              <a:ext cx="226" cy="327"/>
            </a:xfrm>
            <a:prstGeom prst="rect">
              <a:avLst/>
            </a:prstGeom>
            <a:noFill/>
            <a:ln w="38100">
              <a:noFill/>
            </a:ln>
          </p:spPr>
          <p:txBody>
            <a:bodyPr wrap="none" lIns="90000" tIns="46800" rIns="90000" bIns="46800">
              <a:spAutoFit/>
            </a:bodyPr>
            <a:lstStyle/>
            <a:p>
              <a:r>
                <a:rPr lang="en-US" altLang="zh-CN" sz="2800" dirty="0">
                  <a:solidFill>
                    <a:srgbClr val="FF3300"/>
                  </a:solidFill>
                  <a:latin typeface="Times New Roman" panose="02020603050405020304" pitchFamily="18" charset="0"/>
                </a:rPr>
                <a:t>0</a:t>
              </a:r>
            </a:p>
          </p:txBody>
        </p:sp>
        <p:sp>
          <p:nvSpPr>
            <p:cNvPr id="100449" name="Text Box 66" descr="羊皮纸"/>
            <p:cNvSpPr txBox="1"/>
            <p:nvPr/>
          </p:nvSpPr>
          <p:spPr>
            <a:xfrm>
              <a:off x="1769" y="3344"/>
              <a:ext cx="226" cy="327"/>
            </a:xfrm>
            <a:prstGeom prst="rect">
              <a:avLst/>
            </a:prstGeom>
            <a:noFill/>
            <a:ln w="38100">
              <a:noFill/>
            </a:ln>
          </p:spPr>
          <p:txBody>
            <a:bodyPr wrap="none" lIns="90000" tIns="46800" rIns="90000" bIns="46800">
              <a:spAutoFit/>
            </a:bodyPr>
            <a:lstStyle/>
            <a:p>
              <a:r>
                <a:rPr lang="en-US" altLang="zh-CN" sz="2800" dirty="0">
                  <a:solidFill>
                    <a:srgbClr val="FF3300"/>
                  </a:solidFill>
                  <a:latin typeface="Times New Roman" panose="02020603050405020304" pitchFamily="18" charset="0"/>
                </a:rPr>
                <a:t>0</a:t>
              </a:r>
            </a:p>
          </p:txBody>
        </p:sp>
        <p:sp>
          <p:nvSpPr>
            <p:cNvPr id="100450" name="Text Box 67" descr="羊皮纸"/>
            <p:cNvSpPr txBox="1"/>
            <p:nvPr/>
          </p:nvSpPr>
          <p:spPr>
            <a:xfrm>
              <a:off x="2174" y="3344"/>
              <a:ext cx="158" cy="327"/>
            </a:xfrm>
            <a:prstGeom prst="rect">
              <a:avLst/>
            </a:prstGeom>
            <a:noFill/>
            <a:ln w="38100">
              <a:noFill/>
            </a:ln>
          </p:spPr>
          <p:txBody>
            <a:bodyPr lIns="90000" tIns="46800" rIns="90000" bIns="46800">
              <a:spAutoFit/>
            </a:bodyPr>
            <a:lstStyle/>
            <a:p>
              <a:r>
                <a:rPr lang="en-US" altLang="zh-CN" sz="2800" dirty="0">
                  <a:solidFill>
                    <a:srgbClr val="FF3300"/>
                  </a:solidFill>
                  <a:latin typeface="Times New Roman" panose="02020603050405020304" pitchFamily="18" charset="0"/>
                </a:rPr>
                <a:t>1</a:t>
              </a:r>
            </a:p>
          </p:txBody>
        </p:sp>
        <p:sp>
          <p:nvSpPr>
            <p:cNvPr id="100451" name="Text Box 68" descr="羊皮纸"/>
            <p:cNvSpPr txBox="1"/>
            <p:nvPr/>
          </p:nvSpPr>
          <p:spPr>
            <a:xfrm>
              <a:off x="1802" y="3691"/>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100452" name="Text Box 69" descr="羊皮纸"/>
            <p:cNvSpPr txBox="1"/>
            <p:nvPr/>
          </p:nvSpPr>
          <p:spPr>
            <a:xfrm>
              <a:off x="2188" y="3679"/>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1</a:t>
              </a:r>
            </a:p>
          </p:txBody>
        </p:sp>
      </p:grpSp>
      <p:grpSp>
        <p:nvGrpSpPr>
          <p:cNvPr id="8" name="Group 70"/>
          <p:cNvGrpSpPr/>
          <p:nvPr/>
        </p:nvGrpSpPr>
        <p:grpSpPr>
          <a:xfrm>
            <a:off x="4964113" y="346075"/>
            <a:ext cx="3425825" cy="3462338"/>
            <a:chOff x="2815" y="218"/>
            <a:chExt cx="2158" cy="2181"/>
          </a:xfrm>
        </p:grpSpPr>
        <p:sp>
          <p:nvSpPr>
            <p:cNvPr id="100392" name="AutoShape 71"/>
            <p:cNvSpPr/>
            <p:nvPr/>
          </p:nvSpPr>
          <p:spPr>
            <a:xfrm>
              <a:off x="4595" y="704"/>
              <a:ext cx="330" cy="576"/>
            </a:xfrm>
            <a:prstGeom prst="leftBracket">
              <a:avLst>
                <a:gd name="adj" fmla="val 14545"/>
              </a:avLst>
            </a:prstGeom>
            <a:solidFill>
              <a:srgbClr val="CCFFFF">
                <a:alpha val="49019"/>
              </a:srgbClr>
            </a:solidFill>
            <a:ln w="9525" cap="flat" cmpd="sng">
              <a:solidFill>
                <a:srgbClr val="FF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0393" name="AutoShape 72"/>
            <p:cNvSpPr/>
            <p:nvPr/>
          </p:nvSpPr>
          <p:spPr>
            <a:xfrm>
              <a:off x="3329" y="704"/>
              <a:ext cx="393" cy="576"/>
            </a:xfrm>
            <a:prstGeom prst="rightBracket">
              <a:avLst>
                <a:gd name="adj" fmla="val 12213"/>
              </a:avLst>
            </a:prstGeom>
            <a:solidFill>
              <a:srgbClr val="CCFFFF">
                <a:alpha val="52940"/>
              </a:srgbClr>
            </a:solidFill>
            <a:ln w="9525" cap="flat" cmpd="sng">
              <a:solidFill>
                <a:srgbClr val="FF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0394" name="Line 73"/>
            <p:cNvSpPr/>
            <p:nvPr/>
          </p:nvSpPr>
          <p:spPr>
            <a:xfrm>
              <a:off x="3326" y="972"/>
              <a:ext cx="1629" cy="0"/>
            </a:xfrm>
            <a:prstGeom prst="line">
              <a:avLst/>
            </a:prstGeom>
            <a:ln w="28575" cap="flat" cmpd="sng">
              <a:solidFill>
                <a:srgbClr val="3333FF"/>
              </a:solidFill>
              <a:prstDash val="solid"/>
              <a:headEnd type="none" w="med" len="med"/>
              <a:tailEnd type="none" w="med" len="med"/>
            </a:ln>
          </p:spPr>
        </p:sp>
        <p:sp>
          <p:nvSpPr>
            <p:cNvPr id="100395" name="Text Box 74"/>
            <p:cNvSpPr txBox="1"/>
            <p:nvPr/>
          </p:nvSpPr>
          <p:spPr>
            <a:xfrm>
              <a:off x="3369" y="358"/>
              <a:ext cx="1604"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00     01     11     10</a:t>
              </a:r>
            </a:p>
          </p:txBody>
        </p:sp>
        <p:sp>
          <p:nvSpPr>
            <p:cNvPr id="100396" name="Text Box 75"/>
            <p:cNvSpPr txBox="1"/>
            <p:nvPr/>
          </p:nvSpPr>
          <p:spPr>
            <a:xfrm>
              <a:off x="2986" y="537"/>
              <a:ext cx="339" cy="1530"/>
            </a:xfrm>
            <a:prstGeom prst="rect">
              <a:avLst/>
            </a:prstGeom>
            <a:noFill/>
            <a:ln w="9525">
              <a:noFill/>
            </a:ln>
          </p:spPr>
          <p:txBody>
            <a:bodyPr>
              <a:spAutoFit/>
            </a:bodyPr>
            <a:lstStyle/>
            <a:p>
              <a:pPr>
                <a:lnSpc>
                  <a:spcPct val="160000"/>
                </a:lnSpc>
              </a:pPr>
              <a:r>
                <a:rPr lang="en-US" altLang="zh-CN" sz="2400" dirty="0">
                  <a:latin typeface="Times New Roman" panose="02020603050405020304" pitchFamily="18" charset="0"/>
                </a:rPr>
                <a:t>00</a:t>
              </a:r>
            </a:p>
            <a:p>
              <a:pPr>
                <a:lnSpc>
                  <a:spcPct val="160000"/>
                </a:lnSpc>
              </a:pPr>
              <a:r>
                <a:rPr lang="en-US" altLang="zh-CN" sz="2400" dirty="0">
                  <a:latin typeface="Times New Roman" panose="02020603050405020304" pitchFamily="18" charset="0"/>
                </a:rPr>
                <a:t>01</a:t>
              </a:r>
            </a:p>
            <a:p>
              <a:pPr>
                <a:lnSpc>
                  <a:spcPct val="160000"/>
                </a:lnSpc>
              </a:pPr>
              <a:r>
                <a:rPr lang="en-US" altLang="zh-CN" sz="2400" dirty="0">
                  <a:latin typeface="Times New Roman" panose="02020603050405020304" pitchFamily="18" charset="0"/>
                </a:rPr>
                <a:t>11</a:t>
              </a:r>
            </a:p>
            <a:p>
              <a:pPr>
                <a:lnSpc>
                  <a:spcPct val="160000"/>
                </a:lnSpc>
              </a:pPr>
              <a:r>
                <a:rPr lang="en-US" altLang="zh-CN" sz="2400" dirty="0">
                  <a:latin typeface="Times New Roman" panose="02020603050405020304" pitchFamily="18" charset="0"/>
                </a:rPr>
                <a:t>10</a:t>
              </a:r>
            </a:p>
          </p:txBody>
        </p:sp>
        <p:sp>
          <p:nvSpPr>
            <p:cNvPr id="100397" name="Text Box 76"/>
            <p:cNvSpPr txBox="1"/>
            <p:nvPr/>
          </p:nvSpPr>
          <p:spPr>
            <a:xfrm>
              <a:off x="3076" y="218"/>
              <a:ext cx="390" cy="327"/>
            </a:xfrm>
            <a:prstGeom prst="rect">
              <a:avLst/>
            </a:prstGeom>
            <a:noFill/>
            <a:ln w="9525">
              <a:noFill/>
            </a:ln>
          </p:spPr>
          <p:txBody>
            <a:bodyPr wrap="none">
              <a:spAutoFit/>
            </a:bodyPr>
            <a:lstStyle/>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p>
          </p:txBody>
        </p:sp>
        <p:sp>
          <p:nvSpPr>
            <p:cNvPr id="100398" name="Text Box 77"/>
            <p:cNvSpPr txBox="1"/>
            <p:nvPr/>
          </p:nvSpPr>
          <p:spPr>
            <a:xfrm>
              <a:off x="2815" y="340"/>
              <a:ext cx="466"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p>
          </p:txBody>
        </p:sp>
        <p:grpSp>
          <p:nvGrpSpPr>
            <p:cNvPr id="100399" name="Group 78"/>
            <p:cNvGrpSpPr/>
            <p:nvPr/>
          </p:nvGrpSpPr>
          <p:grpSpPr>
            <a:xfrm>
              <a:off x="3308" y="593"/>
              <a:ext cx="1635" cy="1495"/>
              <a:chOff x="520" y="702"/>
              <a:chExt cx="1281" cy="1403"/>
            </a:xfrm>
          </p:grpSpPr>
          <p:sp>
            <p:nvSpPr>
              <p:cNvPr id="100420" name="Rectangle 79"/>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grpSp>
            <p:nvGrpSpPr>
              <p:cNvPr id="100421" name="Group 80"/>
              <p:cNvGrpSpPr/>
              <p:nvPr/>
            </p:nvGrpSpPr>
            <p:grpSpPr>
              <a:xfrm>
                <a:off x="858" y="702"/>
                <a:ext cx="645" cy="1403"/>
                <a:chOff x="858" y="702"/>
                <a:chExt cx="645" cy="1380"/>
              </a:xfrm>
            </p:grpSpPr>
            <p:sp>
              <p:nvSpPr>
                <p:cNvPr id="100422" name="Line 81"/>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100423" name="Line 82"/>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100424" name="Line 83"/>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100400" name="Line 84"/>
            <p:cNvSpPr/>
            <p:nvPr/>
          </p:nvSpPr>
          <p:spPr>
            <a:xfrm>
              <a:off x="3326" y="1343"/>
              <a:ext cx="1629" cy="0"/>
            </a:xfrm>
            <a:prstGeom prst="line">
              <a:avLst/>
            </a:prstGeom>
            <a:ln w="28575" cap="flat" cmpd="sng">
              <a:solidFill>
                <a:srgbClr val="3333FF"/>
              </a:solidFill>
              <a:prstDash val="solid"/>
              <a:headEnd type="none" w="med" len="med"/>
              <a:tailEnd type="none" w="med" len="med"/>
            </a:ln>
          </p:spPr>
        </p:sp>
        <p:sp>
          <p:nvSpPr>
            <p:cNvPr id="100401" name="Line 85"/>
            <p:cNvSpPr/>
            <p:nvPr/>
          </p:nvSpPr>
          <p:spPr>
            <a:xfrm>
              <a:off x="3309" y="1757"/>
              <a:ext cx="1629" cy="0"/>
            </a:xfrm>
            <a:prstGeom prst="line">
              <a:avLst/>
            </a:prstGeom>
            <a:ln w="28575" cap="flat" cmpd="sng">
              <a:solidFill>
                <a:srgbClr val="3333FF"/>
              </a:solidFill>
              <a:prstDash val="solid"/>
              <a:headEnd type="none" w="med" len="med"/>
              <a:tailEnd type="none" w="med" len="med"/>
            </a:ln>
          </p:spPr>
        </p:sp>
        <p:sp>
          <p:nvSpPr>
            <p:cNvPr id="100402" name="Rectangle 86"/>
            <p:cNvSpPr/>
            <p:nvPr/>
          </p:nvSpPr>
          <p:spPr>
            <a:xfrm>
              <a:off x="3885" y="1761"/>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100403" name="Rectangle 87"/>
            <p:cNvSpPr/>
            <p:nvPr/>
          </p:nvSpPr>
          <p:spPr>
            <a:xfrm>
              <a:off x="3431" y="1760"/>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100404" name="Rectangle 88"/>
            <p:cNvSpPr/>
            <p:nvPr/>
          </p:nvSpPr>
          <p:spPr>
            <a:xfrm>
              <a:off x="3839" y="1422"/>
              <a:ext cx="228" cy="327"/>
            </a:xfrm>
            <a:prstGeom prst="rect">
              <a:avLst/>
            </a:prstGeom>
            <a:noFill/>
            <a:ln w="9525">
              <a:noFill/>
            </a:ln>
          </p:spPr>
          <p:txBody>
            <a:bodyPr wrap="none">
              <a:spAutoFit/>
            </a:bodyPr>
            <a:lstStyle/>
            <a:p>
              <a:r>
                <a:rPr lang="en-US" altLang="zh-CN" sz="2800" dirty="0">
                  <a:solidFill>
                    <a:srgbClr val="FF3300"/>
                  </a:solidFill>
                  <a:latin typeface="Times New Roman" panose="02020603050405020304" pitchFamily="18" charset="0"/>
                </a:rPr>
                <a:t>0</a:t>
              </a:r>
            </a:p>
          </p:txBody>
        </p:sp>
        <p:sp>
          <p:nvSpPr>
            <p:cNvPr id="100405" name="Rectangle 89"/>
            <p:cNvSpPr/>
            <p:nvPr/>
          </p:nvSpPr>
          <p:spPr>
            <a:xfrm>
              <a:off x="3398" y="1422"/>
              <a:ext cx="228" cy="327"/>
            </a:xfrm>
            <a:prstGeom prst="rect">
              <a:avLst/>
            </a:prstGeom>
            <a:noFill/>
            <a:ln w="9525">
              <a:noFill/>
            </a:ln>
          </p:spPr>
          <p:txBody>
            <a:bodyPr wrap="none">
              <a:spAutoFit/>
            </a:bodyPr>
            <a:lstStyle/>
            <a:p>
              <a:r>
                <a:rPr lang="en-US" altLang="zh-CN" sz="2800" dirty="0">
                  <a:solidFill>
                    <a:srgbClr val="FF3300"/>
                  </a:solidFill>
                  <a:latin typeface="Times New Roman" panose="02020603050405020304" pitchFamily="18" charset="0"/>
                </a:rPr>
                <a:t>0</a:t>
              </a:r>
            </a:p>
          </p:txBody>
        </p:sp>
        <p:sp>
          <p:nvSpPr>
            <p:cNvPr id="100406" name="Text Box 90"/>
            <p:cNvSpPr txBox="1"/>
            <p:nvPr/>
          </p:nvSpPr>
          <p:spPr>
            <a:xfrm>
              <a:off x="4249" y="610"/>
              <a:ext cx="221" cy="327"/>
            </a:xfrm>
            <a:prstGeom prst="rect">
              <a:avLst/>
            </a:prstGeom>
            <a:noFill/>
            <a:ln w="9525">
              <a:noFill/>
            </a:ln>
          </p:spPr>
          <p:txBody>
            <a:bodyPr>
              <a:spAutoFit/>
            </a:bodyPr>
            <a:lstStyle/>
            <a:p>
              <a:r>
                <a:rPr lang="en-US" altLang="zh-CN" sz="2800" dirty="0">
                  <a:latin typeface="Times New Roman" panose="02020603050405020304" pitchFamily="18" charset="0"/>
                </a:rPr>
                <a:t>0</a:t>
              </a:r>
            </a:p>
          </p:txBody>
        </p:sp>
        <p:sp>
          <p:nvSpPr>
            <p:cNvPr id="100407" name="Rectangle 91"/>
            <p:cNvSpPr/>
            <p:nvPr/>
          </p:nvSpPr>
          <p:spPr>
            <a:xfrm>
              <a:off x="3847" y="1038"/>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100408" name="Rectangle 92"/>
            <p:cNvSpPr/>
            <p:nvPr/>
          </p:nvSpPr>
          <p:spPr>
            <a:xfrm>
              <a:off x="3416" y="1038"/>
              <a:ext cx="228" cy="327"/>
            </a:xfrm>
            <a:prstGeom prst="rect">
              <a:avLst/>
            </a:prstGeom>
            <a:noFill/>
            <a:ln w="9525">
              <a:noFill/>
            </a:ln>
          </p:spPr>
          <p:txBody>
            <a:bodyPr wrap="none">
              <a:spAutoFit/>
            </a:bodyPr>
            <a:lstStyle/>
            <a:p>
              <a:r>
                <a:rPr lang="en-US" altLang="zh-CN" sz="2800" dirty="0">
                  <a:solidFill>
                    <a:srgbClr val="FF3300"/>
                  </a:solidFill>
                  <a:latin typeface="Times New Roman" panose="02020603050405020304" pitchFamily="18" charset="0"/>
                </a:rPr>
                <a:t>1</a:t>
              </a:r>
            </a:p>
          </p:txBody>
        </p:sp>
        <p:sp>
          <p:nvSpPr>
            <p:cNvPr id="100409" name="Text Box 93"/>
            <p:cNvSpPr txBox="1"/>
            <p:nvPr/>
          </p:nvSpPr>
          <p:spPr>
            <a:xfrm>
              <a:off x="4249" y="1038"/>
              <a:ext cx="325" cy="327"/>
            </a:xfrm>
            <a:prstGeom prst="rect">
              <a:avLst/>
            </a:prstGeom>
            <a:noFill/>
            <a:ln w="9525">
              <a:noFill/>
            </a:ln>
          </p:spPr>
          <p:txBody>
            <a:bodyPr>
              <a:spAutoFit/>
            </a:bodyPr>
            <a:lstStyle/>
            <a:p>
              <a:r>
                <a:rPr lang="en-US" altLang="zh-CN" sz="2800" dirty="0">
                  <a:latin typeface="Times New Roman" panose="02020603050405020304" pitchFamily="18" charset="0"/>
                </a:rPr>
                <a:t>0</a:t>
              </a:r>
            </a:p>
          </p:txBody>
        </p:sp>
        <p:sp>
          <p:nvSpPr>
            <p:cNvPr id="100410" name="Line 94"/>
            <p:cNvSpPr/>
            <p:nvPr/>
          </p:nvSpPr>
          <p:spPr>
            <a:xfrm>
              <a:off x="3021" y="322"/>
              <a:ext cx="285" cy="284"/>
            </a:xfrm>
            <a:prstGeom prst="line">
              <a:avLst/>
            </a:prstGeom>
            <a:ln w="28575" cap="flat" cmpd="sng">
              <a:solidFill>
                <a:srgbClr val="3333FF"/>
              </a:solidFill>
              <a:prstDash val="solid"/>
              <a:headEnd type="none" w="med" len="med"/>
              <a:tailEnd type="none" w="med" len="med"/>
            </a:ln>
          </p:spPr>
        </p:sp>
        <p:sp>
          <p:nvSpPr>
            <p:cNvPr id="100411" name="Text Box 95" descr="羊皮纸"/>
            <p:cNvSpPr txBox="1"/>
            <p:nvPr/>
          </p:nvSpPr>
          <p:spPr>
            <a:xfrm>
              <a:off x="3832" y="2072"/>
              <a:ext cx="352" cy="327"/>
            </a:xfrm>
            <a:prstGeom prst="rect">
              <a:avLst/>
            </a:prstGeom>
            <a:noFill/>
            <a:ln w="38100">
              <a:noFill/>
            </a:ln>
          </p:spPr>
          <p:txBody>
            <a:bodyPr wrap="none" lIns="90000" tIns="46800" rIns="90000" bIns="46800">
              <a:spAutoFit/>
            </a:bodyPr>
            <a:lstStyle/>
            <a:p>
              <a:r>
                <a:rPr lang="en-US" altLang="zh-CN" sz="2800" i="1" dirty="0">
                  <a:latin typeface="Times New Roman" panose="02020603050405020304" pitchFamily="18" charset="0"/>
                </a:rPr>
                <a:t>D</a:t>
              </a:r>
              <a:r>
                <a:rPr lang="en-US" altLang="zh-CN" sz="2800" i="1" baseline="-25000" dirty="0">
                  <a:latin typeface="Times New Roman" panose="02020603050405020304" pitchFamily="18" charset="0"/>
                </a:rPr>
                <a:t>2</a:t>
              </a:r>
            </a:p>
          </p:txBody>
        </p:sp>
        <p:sp>
          <p:nvSpPr>
            <p:cNvPr id="100412" name="Text Box 96" descr="羊皮纸"/>
            <p:cNvSpPr txBox="1"/>
            <p:nvPr/>
          </p:nvSpPr>
          <p:spPr>
            <a:xfrm>
              <a:off x="3425" y="617"/>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1</a:t>
              </a:r>
            </a:p>
          </p:txBody>
        </p:sp>
        <p:sp>
          <p:nvSpPr>
            <p:cNvPr id="100413" name="Text Box 97" descr="羊皮纸"/>
            <p:cNvSpPr txBox="1"/>
            <p:nvPr/>
          </p:nvSpPr>
          <p:spPr>
            <a:xfrm>
              <a:off x="3843" y="617"/>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100414" name="Text Box 98" descr="羊皮纸"/>
            <p:cNvSpPr txBox="1"/>
            <p:nvPr/>
          </p:nvSpPr>
          <p:spPr>
            <a:xfrm>
              <a:off x="4658" y="628"/>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1</a:t>
              </a:r>
            </a:p>
          </p:txBody>
        </p:sp>
        <p:sp>
          <p:nvSpPr>
            <p:cNvPr id="100415" name="Text Box 99" descr="羊皮纸"/>
            <p:cNvSpPr txBox="1"/>
            <p:nvPr/>
          </p:nvSpPr>
          <p:spPr>
            <a:xfrm>
              <a:off x="4638" y="1020"/>
              <a:ext cx="226" cy="327"/>
            </a:xfrm>
            <a:prstGeom prst="rect">
              <a:avLst/>
            </a:prstGeom>
            <a:noFill/>
            <a:ln w="38100">
              <a:noFill/>
            </a:ln>
          </p:spPr>
          <p:txBody>
            <a:bodyPr wrap="none" lIns="90000" tIns="46800" rIns="90000" bIns="46800">
              <a:spAutoFit/>
            </a:bodyPr>
            <a:lstStyle/>
            <a:p>
              <a:r>
                <a:rPr lang="en-US" altLang="zh-CN" sz="2800" dirty="0">
                  <a:solidFill>
                    <a:srgbClr val="FF3300"/>
                  </a:solidFill>
                  <a:latin typeface="Times New Roman" panose="02020603050405020304" pitchFamily="18" charset="0"/>
                </a:rPr>
                <a:t>1</a:t>
              </a:r>
            </a:p>
          </p:txBody>
        </p:sp>
        <p:sp>
          <p:nvSpPr>
            <p:cNvPr id="100416" name="Text Box 100" descr="羊皮纸"/>
            <p:cNvSpPr txBox="1"/>
            <p:nvPr/>
          </p:nvSpPr>
          <p:spPr>
            <a:xfrm>
              <a:off x="4230" y="1423"/>
              <a:ext cx="226" cy="327"/>
            </a:xfrm>
            <a:prstGeom prst="rect">
              <a:avLst/>
            </a:prstGeom>
            <a:noFill/>
            <a:ln w="38100">
              <a:noFill/>
            </a:ln>
          </p:spPr>
          <p:txBody>
            <a:bodyPr wrap="none" lIns="90000" tIns="46800" rIns="90000" bIns="46800">
              <a:spAutoFit/>
            </a:bodyPr>
            <a:lstStyle/>
            <a:p>
              <a:r>
                <a:rPr lang="en-US" altLang="zh-CN" sz="2800" dirty="0">
                  <a:solidFill>
                    <a:srgbClr val="FF3300"/>
                  </a:solidFill>
                  <a:latin typeface="Times New Roman" panose="02020603050405020304" pitchFamily="18" charset="0"/>
                </a:rPr>
                <a:t>0</a:t>
              </a:r>
            </a:p>
          </p:txBody>
        </p:sp>
        <p:sp>
          <p:nvSpPr>
            <p:cNvPr id="100417" name="Text Box 101" descr="羊皮纸"/>
            <p:cNvSpPr txBox="1"/>
            <p:nvPr/>
          </p:nvSpPr>
          <p:spPr>
            <a:xfrm>
              <a:off x="4635" y="1423"/>
              <a:ext cx="158" cy="327"/>
            </a:xfrm>
            <a:prstGeom prst="rect">
              <a:avLst/>
            </a:prstGeom>
            <a:noFill/>
            <a:ln w="38100">
              <a:noFill/>
            </a:ln>
          </p:spPr>
          <p:txBody>
            <a:bodyPr lIns="90000" tIns="46800" rIns="90000" bIns="46800">
              <a:spAutoFit/>
            </a:bodyPr>
            <a:lstStyle/>
            <a:p>
              <a:r>
                <a:rPr lang="en-US" altLang="zh-CN" sz="2800" dirty="0">
                  <a:solidFill>
                    <a:srgbClr val="FF3300"/>
                  </a:solidFill>
                  <a:latin typeface="Times New Roman" panose="02020603050405020304" pitchFamily="18" charset="0"/>
                </a:rPr>
                <a:t>0</a:t>
              </a:r>
            </a:p>
          </p:txBody>
        </p:sp>
        <p:sp>
          <p:nvSpPr>
            <p:cNvPr id="100418" name="Text Box 102" descr="羊皮纸"/>
            <p:cNvSpPr txBox="1"/>
            <p:nvPr/>
          </p:nvSpPr>
          <p:spPr>
            <a:xfrm>
              <a:off x="4263" y="1770"/>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100419" name="Text Box 103" descr="羊皮纸"/>
            <p:cNvSpPr txBox="1"/>
            <p:nvPr/>
          </p:nvSpPr>
          <p:spPr>
            <a:xfrm>
              <a:off x="4649" y="1758"/>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grpSp>
      <p:grpSp>
        <p:nvGrpSpPr>
          <p:cNvPr id="11" name="Group 104"/>
          <p:cNvGrpSpPr/>
          <p:nvPr/>
        </p:nvGrpSpPr>
        <p:grpSpPr>
          <a:xfrm>
            <a:off x="4983163" y="3395663"/>
            <a:ext cx="3425825" cy="3462337"/>
            <a:chOff x="2827" y="2139"/>
            <a:chExt cx="2158" cy="2181"/>
          </a:xfrm>
        </p:grpSpPr>
        <p:sp>
          <p:nvSpPr>
            <p:cNvPr id="100359" name="Oval 105"/>
            <p:cNvSpPr/>
            <p:nvPr/>
          </p:nvSpPr>
          <p:spPr>
            <a:xfrm>
              <a:off x="3804" y="2536"/>
              <a:ext cx="305" cy="332"/>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sp>
          <p:nvSpPr>
            <p:cNvPr id="100360" name="AutoShape 106"/>
            <p:cNvSpPr/>
            <p:nvPr/>
          </p:nvSpPr>
          <p:spPr>
            <a:xfrm>
              <a:off x="4219" y="2966"/>
              <a:ext cx="718" cy="707"/>
            </a:xfrm>
            <a:prstGeom prst="roundRect">
              <a:avLst>
                <a:gd name="adj" fmla="val 16667"/>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sp>
          <p:nvSpPr>
            <p:cNvPr id="100361" name="Line 107"/>
            <p:cNvSpPr/>
            <p:nvPr/>
          </p:nvSpPr>
          <p:spPr>
            <a:xfrm>
              <a:off x="3338" y="2893"/>
              <a:ext cx="1629" cy="0"/>
            </a:xfrm>
            <a:prstGeom prst="line">
              <a:avLst/>
            </a:prstGeom>
            <a:ln w="28575" cap="flat" cmpd="sng">
              <a:solidFill>
                <a:srgbClr val="3333FF"/>
              </a:solidFill>
              <a:prstDash val="solid"/>
              <a:headEnd type="none" w="med" len="med"/>
              <a:tailEnd type="none" w="med" len="med"/>
            </a:ln>
          </p:spPr>
        </p:sp>
        <p:sp>
          <p:nvSpPr>
            <p:cNvPr id="100362" name="Text Box 108"/>
            <p:cNvSpPr txBox="1"/>
            <p:nvPr/>
          </p:nvSpPr>
          <p:spPr>
            <a:xfrm>
              <a:off x="3381" y="2279"/>
              <a:ext cx="1604"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00     01     11     10</a:t>
              </a:r>
            </a:p>
          </p:txBody>
        </p:sp>
        <p:sp>
          <p:nvSpPr>
            <p:cNvPr id="100363" name="Text Box 109"/>
            <p:cNvSpPr txBox="1"/>
            <p:nvPr/>
          </p:nvSpPr>
          <p:spPr>
            <a:xfrm>
              <a:off x="2998" y="2458"/>
              <a:ext cx="339" cy="1530"/>
            </a:xfrm>
            <a:prstGeom prst="rect">
              <a:avLst/>
            </a:prstGeom>
            <a:noFill/>
            <a:ln w="9525">
              <a:noFill/>
            </a:ln>
          </p:spPr>
          <p:txBody>
            <a:bodyPr>
              <a:spAutoFit/>
            </a:bodyPr>
            <a:lstStyle/>
            <a:p>
              <a:pPr>
                <a:lnSpc>
                  <a:spcPct val="160000"/>
                </a:lnSpc>
              </a:pPr>
              <a:r>
                <a:rPr lang="en-US" altLang="zh-CN" sz="2400" dirty="0">
                  <a:latin typeface="Times New Roman" panose="02020603050405020304" pitchFamily="18" charset="0"/>
                </a:rPr>
                <a:t>00</a:t>
              </a:r>
            </a:p>
            <a:p>
              <a:pPr>
                <a:lnSpc>
                  <a:spcPct val="160000"/>
                </a:lnSpc>
              </a:pPr>
              <a:r>
                <a:rPr lang="en-US" altLang="zh-CN" sz="2400" dirty="0">
                  <a:latin typeface="Times New Roman" panose="02020603050405020304" pitchFamily="18" charset="0"/>
                </a:rPr>
                <a:t>01</a:t>
              </a:r>
            </a:p>
            <a:p>
              <a:pPr>
                <a:lnSpc>
                  <a:spcPct val="160000"/>
                </a:lnSpc>
              </a:pPr>
              <a:r>
                <a:rPr lang="en-US" altLang="zh-CN" sz="2400" dirty="0">
                  <a:latin typeface="Times New Roman" panose="02020603050405020304" pitchFamily="18" charset="0"/>
                </a:rPr>
                <a:t>11</a:t>
              </a:r>
            </a:p>
            <a:p>
              <a:pPr>
                <a:lnSpc>
                  <a:spcPct val="160000"/>
                </a:lnSpc>
              </a:pPr>
              <a:r>
                <a:rPr lang="en-US" altLang="zh-CN" sz="2400" dirty="0">
                  <a:latin typeface="Times New Roman" panose="02020603050405020304" pitchFamily="18" charset="0"/>
                </a:rPr>
                <a:t>10</a:t>
              </a:r>
            </a:p>
          </p:txBody>
        </p:sp>
        <p:sp>
          <p:nvSpPr>
            <p:cNvPr id="100364" name="Text Box 110"/>
            <p:cNvSpPr txBox="1"/>
            <p:nvPr/>
          </p:nvSpPr>
          <p:spPr>
            <a:xfrm>
              <a:off x="3088" y="2139"/>
              <a:ext cx="390" cy="327"/>
            </a:xfrm>
            <a:prstGeom prst="rect">
              <a:avLst/>
            </a:prstGeom>
            <a:noFill/>
            <a:ln w="9525">
              <a:noFill/>
            </a:ln>
          </p:spPr>
          <p:txBody>
            <a:bodyPr wrap="none">
              <a:spAutoFit/>
            </a:bodyPr>
            <a:lstStyle/>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p>
          </p:txBody>
        </p:sp>
        <p:sp>
          <p:nvSpPr>
            <p:cNvPr id="100365" name="Text Box 111"/>
            <p:cNvSpPr txBox="1"/>
            <p:nvPr/>
          </p:nvSpPr>
          <p:spPr>
            <a:xfrm>
              <a:off x="2827" y="2261"/>
              <a:ext cx="466"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p>
          </p:txBody>
        </p:sp>
        <p:grpSp>
          <p:nvGrpSpPr>
            <p:cNvPr id="100366" name="Group 112"/>
            <p:cNvGrpSpPr/>
            <p:nvPr/>
          </p:nvGrpSpPr>
          <p:grpSpPr>
            <a:xfrm>
              <a:off x="3320" y="2514"/>
              <a:ext cx="1635" cy="1495"/>
              <a:chOff x="520" y="702"/>
              <a:chExt cx="1281" cy="1403"/>
            </a:xfrm>
          </p:grpSpPr>
          <p:sp>
            <p:nvSpPr>
              <p:cNvPr id="100387" name="Rectangle 113"/>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grpSp>
            <p:nvGrpSpPr>
              <p:cNvPr id="100388" name="Group 114"/>
              <p:cNvGrpSpPr/>
              <p:nvPr/>
            </p:nvGrpSpPr>
            <p:grpSpPr>
              <a:xfrm>
                <a:off x="858" y="702"/>
                <a:ext cx="645" cy="1403"/>
                <a:chOff x="858" y="702"/>
                <a:chExt cx="645" cy="1380"/>
              </a:xfrm>
            </p:grpSpPr>
            <p:sp>
              <p:nvSpPr>
                <p:cNvPr id="100389" name="Line 115"/>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100390" name="Line 116"/>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100391" name="Line 117"/>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100367" name="Line 118"/>
            <p:cNvSpPr/>
            <p:nvPr/>
          </p:nvSpPr>
          <p:spPr>
            <a:xfrm>
              <a:off x="3338" y="3264"/>
              <a:ext cx="1629" cy="0"/>
            </a:xfrm>
            <a:prstGeom prst="line">
              <a:avLst/>
            </a:prstGeom>
            <a:ln w="28575" cap="flat" cmpd="sng">
              <a:solidFill>
                <a:srgbClr val="3333FF"/>
              </a:solidFill>
              <a:prstDash val="solid"/>
              <a:headEnd type="none" w="med" len="med"/>
              <a:tailEnd type="none" w="med" len="med"/>
            </a:ln>
          </p:spPr>
        </p:sp>
        <p:sp>
          <p:nvSpPr>
            <p:cNvPr id="100368" name="Line 119"/>
            <p:cNvSpPr/>
            <p:nvPr/>
          </p:nvSpPr>
          <p:spPr>
            <a:xfrm>
              <a:off x="3321" y="3678"/>
              <a:ext cx="1629" cy="0"/>
            </a:xfrm>
            <a:prstGeom prst="line">
              <a:avLst/>
            </a:prstGeom>
            <a:ln w="28575" cap="flat" cmpd="sng">
              <a:solidFill>
                <a:srgbClr val="3333FF"/>
              </a:solidFill>
              <a:prstDash val="solid"/>
              <a:headEnd type="none" w="med" len="med"/>
              <a:tailEnd type="none" w="med" len="med"/>
            </a:ln>
          </p:spPr>
        </p:sp>
        <p:sp>
          <p:nvSpPr>
            <p:cNvPr id="100369" name="Rectangle 120"/>
            <p:cNvSpPr/>
            <p:nvPr/>
          </p:nvSpPr>
          <p:spPr>
            <a:xfrm>
              <a:off x="3897" y="3682"/>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100370" name="Rectangle 121"/>
            <p:cNvSpPr/>
            <p:nvPr/>
          </p:nvSpPr>
          <p:spPr>
            <a:xfrm>
              <a:off x="3443" y="3681"/>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100371" name="Rectangle 122"/>
            <p:cNvSpPr/>
            <p:nvPr/>
          </p:nvSpPr>
          <p:spPr>
            <a:xfrm>
              <a:off x="3851" y="3343"/>
              <a:ext cx="228" cy="327"/>
            </a:xfrm>
            <a:prstGeom prst="rect">
              <a:avLst/>
            </a:prstGeom>
            <a:noFill/>
            <a:ln w="9525">
              <a:noFill/>
            </a:ln>
          </p:spPr>
          <p:txBody>
            <a:bodyPr wrap="none">
              <a:spAutoFit/>
            </a:bodyPr>
            <a:lstStyle/>
            <a:p>
              <a:r>
                <a:rPr lang="en-US" altLang="zh-CN" sz="2800" dirty="0">
                  <a:solidFill>
                    <a:srgbClr val="FF3300"/>
                  </a:solidFill>
                  <a:latin typeface="Times New Roman" panose="02020603050405020304" pitchFamily="18" charset="0"/>
                </a:rPr>
                <a:t>0</a:t>
              </a:r>
            </a:p>
          </p:txBody>
        </p:sp>
        <p:sp>
          <p:nvSpPr>
            <p:cNvPr id="100372" name="Rectangle 123"/>
            <p:cNvSpPr/>
            <p:nvPr/>
          </p:nvSpPr>
          <p:spPr>
            <a:xfrm>
              <a:off x="3410" y="3343"/>
              <a:ext cx="228" cy="327"/>
            </a:xfrm>
            <a:prstGeom prst="rect">
              <a:avLst/>
            </a:prstGeom>
            <a:noFill/>
            <a:ln w="9525">
              <a:noFill/>
            </a:ln>
          </p:spPr>
          <p:txBody>
            <a:bodyPr wrap="none">
              <a:spAutoFit/>
            </a:bodyPr>
            <a:lstStyle/>
            <a:p>
              <a:r>
                <a:rPr lang="en-US" altLang="zh-CN" sz="2800" dirty="0">
                  <a:solidFill>
                    <a:srgbClr val="FF3300"/>
                  </a:solidFill>
                  <a:latin typeface="Times New Roman" panose="02020603050405020304" pitchFamily="18" charset="0"/>
                </a:rPr>
                <a:t>0</a:t>
              </a:r>
            </a:p>
          </p:txBody>
        </p:sp>
        <p:sp>
          <p:nvSpPr>
            <p:cNvPr id="100373" name="Text Box 124"/>
            <p:cNvSpPr txBox="1"/>
            <p:nvPr/>
          </p:nvSpPr>
          <p:spPr>
            <a:xfrm>
              <a:off x="4261" y="2531"/>
              <a:ext cx="221" cy="327"/>
            </a:xfrm>
            <a:prstGeom prst="rect">
              <a:avLst/>
            </a:prstGeom>
            <a:noFill/>
            <a:ln w="9525">
              <a:noFill/>
            </a:ln>
          </p:spPr>
          <p:txBody>
            <a:bodyPr>
              <a:spAutoFit/>
            </a:bodyPr>
            <a:lstStyle/>
            <a:p>
              <a:r>
                <a:rPr lang="en-US" altLang="zh-CN" sz="2800" dirty="0">
                  <a:latin typeface="Times New Roman" panose="02020603050405020304" pitchFamily="18" charset="0"/>
                </a:rPr>
                <a:t>0</a:t>
              </a:r>
            </a:p>
          </p:txBody>
        </p:sp>
        <p:sp>
          <p:nvSpPr>
            <p:cNvPr id="100374" name="Rectangle 125"/>
            <p:cNvSpPr/>
            <p:nvPr/>
          </p:nvSpPr>
          <p:spPr>
            <a:xfrm>
              <a:off x="3859" y="2959"/>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100375" name="Rectangle 126"/>
            <p:cNvSpPr/>
            <p:nvPr/>
          </p:nvSpPr>
          <p:spPr>
            <a:xfrm>
              <a:off x="3428" y="2959"/>
              <a:ext cx="228" cy="327"/>
            </a:xfrm>
            <a:prstGeom prst="rect">
              <a:avLst/>
            </a:prstGeom>
            <a:noFill/>
            <a:ln w="9525">
              <a:noFill/>
            </a:ln>
          </p:spPr>
          <p:txBody>
            <a:bodyPr wrap="none">
              <a:spAutoFit/>
            </a:bodyPr>
            <a:lstStyle/>
            <a:p>
              <a:r>
                <a:rPr lang="en-US" altLang="zh-CN" sz="2800" dirty="0">
                  <a:solidFill>
                    <a:srgbClr val="FF3300"/>
                  </a:solidFill>
                  <a:latin typeface="Times New Roman" panose="02020603050405020304" pitchFamily="18" charset="0"/>
                </a:rPr>
                <a:t>0</a:t>
              </a:r>
            </a:p>
          </p:txBody>
        </p:sp>
        <p:sp>
          <p:nvSpPr>
            <p:cNvPr id="100376" name="Text Box 127"/>
            <p:cNvSpPr txBox="1"/>
            <p:nvPr/>
          </p:nvSpPr>
          <p:spPr>
            <a:xfrm>
              <a:off x="4261" y="2959"/>
              <a:ext cx="325" cy="327"/>
            </a:xfrm>
            <a:prstGeom prst="rect">
              <a:avLst/>
            </a:prstGeom>
            <a:noFill/>
            <a:ln w="9525">
              <a:noFill/>
            </a:ln>
          </p:spPr>
          <p:txBody>
            <a:bodyPr>
              <a:spAutoFit/>
            </a:bodyPr>
            <a:lstStyle/>
            <a:p>
              <a:r>
                <a:rPr lang="en-US" altLang="zh-CN" sz="2800" dirty="0">
                  <a:latin typeface="Times New Roman" panose="02020603050405020304" pitchFamily="18" charset="0"/>
                </a:rPr>
                <a:t>1</a:t>
              </a:r>
            </a:p>
          </p:txBody>
        </p:sp>
        <p:sp>
          <p:nvSpPr>
            <p:cNvPr id="100377" name="Line 128"/>
            <p:cNvSpPr/>
            <p:nvPr/>
          </p:nvSpPr>
          <p:spPr>
            <a:xfrm>
              <a:off x="3033" y="2243"/>
              <a:ext cx="285" cy="284"/>
            </a:xfrm>
            <a:prstGeom prst="line">
              <a:avLst/>
            </a:prstGeom>
            <a:ln w="28575" cap="flat" cmpd="sng">
              <a:solidFill>
                <a:srgbClr val="3333FF"/>
              </a:solidFill>
              <a:prstDash val="solid"/>
              <a:headEnd type="none" w="med" len="med"/>
              <a:tailEnd type="none" w="med" len="med"/>
            </a:ln>
          </p:spPr>
        </p:sp>
        <p:sp>
          <p:nvSpPr>
            <p:cNvPr id="100378" name="Text Box 129" descr="羊皮纸"/>
            <p:cNvSpPr txBox="1"/>
            <p:nvPr/>
          </p:nvSpPr>
          <p:spPr>
            <a:xfrm>
              <a:off x="3844" y="3993"/>
              <a:ext cx="239" cy="327"/>
            </a:xfrm>
            <a:prstGeom prst="rect">
              <a:avLst/>
            </a:prstGeom>
            <a:noFill/>
            <a:ln w="38100">
              <a:noFill/>
            </a:ln>
          </p:spPr>
          <p:txBody>
            <a:bodyPr wrap="none" lIns="90000" tIns="46800" rIns="90000" bIns="46800">
              <a:spAutoFit/>
            </a:bodyPr>
            <a:lstStyle/>
            <a:p>
              <a:r>
                <a:rPr lang="en-US" altLang="zh-CN" sz="2800" i="1" dirty="0">
                  <a:latin typeface="Times New Roman" panose="02020603050405020304" pitchFamily="18" charset="0"/>
                </a:rPr>
                <a:t>Z</a:t>
              </a:r>
              <a:endParaRPr lang="en-US" altLang="zh-CN" sz="2800" i="1" baseline="-25000" dirty="0">
                <a:latin typeface="Times New Roman" panose="02020603050405020304" pitchFamily="18" charset="0"/>
              </a:endParaRPr>
            </a:p>
          </p:txBody>
        </p:sp>
        <p:sp>
          <p:nvSpPr>
            <p:cNvPr id="100379" name="Text Box 130" descr="羊皮纸"/>
            <p:cNvSpPr txBox="1"/>
            <p:nvPr/>
          </p:nvSpPr>
          <p:spPr>
            <a:xfrm>
              <a:off x="3437" y="2538"/>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100380" name="Text Box 131" descr="羊皮纸"/>
            <p:cNvSpPr txBox="1"/>
            <p:nvPr/>
          </p:nvSpPr>
          <p:spPr>
            <a:xfrm>
              <a:off x="3855" y="2538"/>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1</a:t>
              </a:r>
            </a:p>
          </p:txBody>
        </p:sp>
        <p:sp>
          <p:nvSpPr>
            <p:cNvPr id="100381" name="Text Box 132" descr="羊皮纸"/>
            <p:cNvSpPr txBox="1"/>
            <p:nvPr/>
          </p:nvSpPr>
          <p:spPr>
            <a:xfrm>
              <a:off x="4670" y="2549"/>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100382" name="Text Box 133" descr="羊皮纸"/>
            <p:cNvSpPr txBox="1"/>
            <p:nvPr/>
          </p:nvSpPr>
          <p:spPr>
            <a:xfrm>
              <a:off x="4650" y="2941"/>
              <a:ext cx="226" cy="327"/>
            </a:xfrm>
            <a:prstGeom prst="rect">
              <a:avLst/>
            </a:prstGeom>
            <a:noFill/>
            <a:ln w="38100">
              <a:noFill/>
            </a:ln>
          </p:spPr>
          <p:txBody>
            <a:bodyPr wrap="none" lIns="90000" tIns="46800" rIns="90000" bIns="46800">
              <a:spAutoFit/>
            </a:bodyPr>
            <a:lstStyle/>
            <a:p>
              <a:r>
                <a:rPr lang="en-US" altLang="zh-CN" sz="2800" dirty="0">
                  <a:solidFill>
                    <a:srgbClr val="FF3300"/>
                  </a:solidFill>
                  <a:latin typeface="Times New Roman" panose="02020603050405020304" pitchFamily="18" charset="0"/>
                </a:rPr>
                <a:t>1</a:t>
              </a:r>
            </a:p>
          </p:txBody>
        </p:sp>
        <p:sp>
          <p:nvSpPr>
            <p:cNvPr id="100383" name="Text Box 134" descr="羊皮纸"/>
            <p:cNvSpPr txBox="1"/>
            <p:nvPr/>
          </p:nvSpPr>
          <p:spPr>
            <a:xfrm>
              <a:off x="4242" y="3344"/>
              <a:ext cx="226" cy="327"/>
            </a:xfrm>
            <a:prstGeom prst="rect">
              <a:avLst/>
            </a:prstGeom>
            <a:noFill/>
            <a:ln w="38100">
              <a:noFill/>
            </a:ln>
          </p:spPr>
          <p:txBody>
            <a:bodyPr wrap="none" lIns="90000" tIns="46800" rIns="90000" bIns="46800">
              <a:spAutoFit/>
            </a:bodyPr>
            <a:lstStyle/>
            <a:p>
              <a:r>
                <a:rPr lang="en-US" altLang="zh-CN" sz="2800" dirty="0">
                  <a:solidFill>
                    <a:srgbClr val="FF3300"/>
                  </a:solidFill>
                  <a:latin typeface="Times New Roman" panose="02020603050405020304" pitchFamily="18" charset="0"/>
                </a:rPr>
                <a:t>1</a:t>
              </a:r>
            </a:p>
          </p:txBody>
        </p:sp>
        <p:sp>
          <p:nvSpPr>
            <p:cNvPr id="100384" name="Text Box 135" descr="羊皮纸"/>
            <p:cNvSpPr txBox="1"/>
            <p:nvPr/>
          </p:nvSpPr>
          <p:spPr>
            <a:xfrm>
              <a:off x="4647" y="3344"/>
              <a:ext cx="158" cy="327"/>
            </a:xfrm>
            <a:prstGeom prst="rect">
              <a:avLst/>
            </a:prstGeom>
            <a:noFill/>
            <a:ln w="38100">
              <a:noFill/>
            </a:ln>
          </p:spPr>
          <p:txBody>
            <a:bodyPr lIns="90000" tIns="46800" rIns="90000" bIns="46800">
              <a:spAutoFit/>
            </a:bodyPr>
            <a:lstStyle/>
            <a:p>
              <a:r>
                <a:rPr lang="en-US" altLang="zh-CN" sz="2800" dirty="0">
                  <a:solidFill>
                    <a:srgbClr val="FF3300"/>
                  </a:solidFill>
                  <a:latin typeface="Times New Roman" panose="02020603050405020304" pitchFamily="18" charset="0"/>
                </a:rPr>
                <a:t>1</a:t>
              </a:r>
            </a:p>
          </p:txBody>
        </p:sp>
        <p:sp>
          <p:nvSpPr>
            <p:cNvPr id="100385" name="Text Box 136" descr="羊皮纸"/>
            <p:cNvSpPr txBox="1"/>
            <p:nvPr/>
          </p:nvSpPr>
          <p:spPr>
            <a:xfrm>
              <a:off x="4275" y="3691"/>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100386" name="Text Box 137" descr="羊皮纸"/>
            <p:cNvSpPr txBox="1"/>
            <p:nvPr/>
          </p:nvSpPr>
          <p:spPr>
            <a:xfrm>
              <a:off x="4661" y="3679"/>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grpSp>
      <p:sp>
        <p:nvSpPr>
          <p:cNvPr id="100358" name="Text Box 138" descr="羊皮纸"/>
          <p:cNvSpPr txBox="1"/>
          <p:nvPr/>
        </p:nvSpPr>
        <p:spPr>
          <a:xfrm>
            <a:off x="190500" y="444500"/>
            <a:ext cx="1247775" cy="519113"/>
          </a:xfrm>
          <a:prstGeom prst="rect">
            <a:avLst/>
          </a:prstGeom>
          <a:noFill/>
          <a:ln w="38100">
            <a:noFill/>
          </a:ln>
        </p:spPr>
        <p:txBody>
          <a:bodyPr wrap="none" lIns="90000" tIns="46800" rIns="90000" bIns="46800">
            <a:spAutoFit/>
          </a:bodyPr>
          <a:lstStyle/>
          <a:p>
            <a:r>
              <a:rPr lang="zh-CN" altLang="en-US" sz="2800" dirty="0">
                <a:latin typeface="Times New Roman" panose="02020603050405020304" pitchFamily="18" charset="0"/>
              </a:rPr>
              <a:t>分析：</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09750" y="922338"/>
            <a:ext cx="5691188" cy="5638800"/>
            <a:chOff x="2835" y="1217"/>
            <a:chExt cx="2572" cy="2400"/>
          </a:xfrm>
        </p:grpSpPr>
        <p:sp>
          <p:nvSpPr>
            <p:cNvPr id="101379" name="Line 3"/>
            <p:cNvSpPr/>
            <p:nvPr/>
          </p:nvSpPr>
          <p:spPr>
            <a:xfrm>
              <a:off x="2900" y="1217"/>
              <a:ext cx="2463" cy="0"/>
            </a:xfrm>
            <a:prstGeom prst="line">
              <a:avLst/>
            </a:prstGeom>
            <a:ln w="38100" cap="flat" cmpd="sng">
              <a:solidFill>
                <a:schemeClr val="tx1"/>
              </a:solidFill>
              <a:prstDash val="solid"/>
              <a:headEnd type="none" w="med" len="med"/>
              <a:tailEnd type="none" w="sm" len="lg"/>
            </a:ln>
          </p:spPr>
        </p:sp>
        <p:sp>
          <p:nvSpPr>
            <p:cNvPr id="101380" name="Line 4"/>
            <p:cNvSpPr/>
            <p:nvPr/>
          </p:nvSpPr>
          <p:spPr>
            <a:xfrm>
              <a:off x="2945" y="3604"/>
              <a:ext cx="2462" cy="0"/>
            </a:xfrm>
            <a:prstGeom prst="line">
              <a:avLst/>
            </a:prstGeom>
            <a:ln w="38100" cap="flat" cmpd="sng">
              <a:solidFill>
                <a:schemeClr val="tx1"/>
              </a:solidFill>
              <a:prstDash val="solid"/>
              <a:headEnd type="none" w="med" len="med"/>
              <a:tailEnd type="none" w="sm" len="lg"/>
            </a:ln>
          </p:spPr>
        </p:sp>
        <p:sp>
          <p:nvSpPr>
            <p:cNvPr id="101381" name="Line 5"/>
            <p:cNvSpPr/>
            <p:nvPr/>
          </p:nvSpPr>
          <p:spPr>
            <a:xfrm>
              <a:off x="3491" y="1217"/>
              <a:ext cx="0" cy="2395"/>
            </a:xfrm>
            <a:prstGeom prst="line">
              <a:avLst/>
            </a:prstGeom>
            <a:ln w="19050" cap="flat" cmpd="sng">
              <a:solidFill>
                <a:schemeClr val="tx1"/>
              </a:solidFill>
              <a:prstDash val="solid"/>
              <a:headEnd type="none" w="med" len="med"/>
              <a:tailEnd type="none" w="sm" len="lg"/>
            </a:ln>
          </p:spPr>
        </p:sp>
        <p:sp>
          <p:nvSpPr>
            <p:cNvPr id="101382" name="Line 6"/>
            <p:cNvSpPr/>
            <p:nvPr/>
          </p:nvSpPr>
          <p:spPr>
            <a:xfrm>
              <a:off x="4377" y="1686"/>
              <a:ext cx="0" cy="1931"/>
            </a:xfrm>
            <a:prstGeom prst="line">
              <a:avLst/>
            </a:prstGeom>
            <a:ln w="19050" cap="flat" cmpd="sng">
              <a:solidFill>
                <a:schemeClr val="tx1"/>
              </a:solidFill>
              <a:prstDash val="solid"/>
              <a:headEnd type="none" w="med" len="med"/>
              <a:tailEnd type="none" w="sm" len="lg"/>
            </a:ln>
          </p:spPr>
        </p:sp>
        <p:sp>
          <p:nvSpPr>
            <p:cNvPr id="101383" name="Line 7"/>
            <p:cNvSpPr/>
            <p:nvPr/>
          </p:nvSpPr>
          <p:spPr>
            <a:xfrm>
              <a:off x="3491" y="1673"/>
              <a:ext cx="1865" cy="0"/>
            </a:xfrm>
            <a:prstGeom prst="line">
              <a:avLst/>
            </a:prstGeom>
            <a:ln w="12700" cap="flat" cmpd="sng">
              <a:solidFill>
                <a:schemeClr val="tx1"/>
              </a:solidFill>
              <a:prstDash val="solid"/>
              <a:headEnd type="none" w="med" len="med"/>
              <a:tailEnd type="none" w="sm" len="lg"/>
            </a:ln>
          </p:spPr>
        </p:sp>
        <p:sp>
          <p:nvSpPr>
            <p:cNvPr id="101384" name="Line 8"/>
            <p:cNvSpPr/>
            <p:nvPr/>
          </p:nvSpPr>
          <p:spPr>
            <a:xfrm>
              <a:off x="2887" y="2035"/>
              <a:ext cx="2462" cy="0"/>
            </a:xfrm>
            <a:prstGeom prst="line">
              <a:avLst/>
            </a:prstGeom>
            <a:ln w="12700" cap="flat" cmpd="sng">
              <a:solidFill>
                <a:schemeClr val="tx1"/>
              </a:solidFill>
              <a:prstDash val="solid"/>
              <a:headEnd type="none" w="med" len="med"/>
              <a:tailEnd type="none" w="sm" len="lg"/>
            </a:ln>
          </p:spPr>
        </p:sp>
        <p:sp>
          <p:nvSpPr>
            <p:cNvPr id="101385" name="Text Box 9"/>
            <p:cNvSpPr txBox="1"/>
            <p:nvPr/>
          </p:nvSpPr>
          <p:spPr>
            <a:xfrm>
              <a:off x="2835" y="1510"/>
              <a:ext cx="520" cy="195"/>
            </a:xfrm>
            <a:prstGeom prst="rect">
              <a:avLst/>
            </a:prstGeom>
            <a:noFill/>
            <a:ln w="19050">
              <a:noFill/>
            </a:ln>
          </p:spPr>
          <p:txBody>
            <a:bodyPr wrap="none">
              <a:spAutoFit/>
            </a:bodyPr>
            <a:lstStyle/>
            <a:p>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3</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dirty="0">
                  <a:latin typeface="Times New Roman" panose="02020603050405020304" pitchFamily="18" charset="0"/>
                </a:rPr>
                <a:t>Y</a:t>
              </a:r>
              <a:r>
                <a:rPr lang="en-US" altLang="zh-CN" sz="2400" baseline="-25000" dirty="0">
                  <a:latin typeface="Times New Roman" panose="02020603050405020304" pitchFamily="18" charset="0"/>
                </a:rPr>
                <a:t>1</a:t>
              </a:r>
            </a:p>
          </p:txBody>
        </p:sp>
        <p:sp>
          <p:nvSpPr>
            <p:cNvPr id="101386" name="Text Box 10"/>
            <p:cNvSpPr txBox="1"/>
            <p:nvPr/>
          </p:nvSpPr>
          <p:spPr>
            <a:xfrm>
              <a:off x="3847" y="1286"/>
              <a:ext cx="771" cy="221"/>
            </a:xfrm>
            <a:prstGeom prst="rect">
              <a:avLst/>
            </a:prstGeom>
            <a:noFill/>
            <a:ln w="19050">
              <a:noFill/>
            </a:ln>
          </p:spPr>
          <p:txBody>
            <a:bodyPr wrap="none">
              <a:spAutoFit/>
            </a:bodyPr>
            <a:lstStyle/>
            <a:p>
              <a:r>
                <a:rPr lang="zh-CN" altLang="en-US" sz="2800" dirty="0">
                  <a:latin typeface="Times New Roman" panose="02020603050405020304" pitchFamily="18" charset="0"/>
                </a:rPr>
                <a:t>次态</a:t>
              </a:r>
              <a:r>
                <a:rPr lang="en-US" altLang="zh-CN" sz="2800" dirty="0">
                  <a:latin typeface="Times New Roman" panose="02020603050405020304" pitchFamily="18" charset="0"/>
                </a:rPr>
                <a:t>/</a:t>
              </a:r>
              <a:r>
                <a:rPr lang="zh-CN" altLang="en-US" sz="2800" dirty="0">
                  <a:latin typeface="Times New Roman" panose="02020603050405020304" pitchFamily="18" charset="0"/>
                </a:rPr>
                <a:t>输出</a:t>
              </a:r>
            </a:p>
          </p:txBody>
        </p:sp>
        <p:sp>
          <p:nvSpPr>
            <p:cNvPr id="101387" name="Text Box 11"/>
            <p:cNvSpPr txBox="1"/>
            <p:nvPr/>
          </p:nvSpPr>
          <p:spPr>
            <a:xfrm>
              <a:off x="3767" y="1653"/>
              <a:ext cx="325" cy="221"/>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=0</a:t>
              </a:r>
            </a:p>
          </p:txBody>
        </p:sp>
        <p:sp>
          <p:nvSpPr>
            <p:cNvPr id="101388" name="Text Box 12"/>
            <p:cNvSpPr txBox="1"/>
            <p:nvPr/>
          </p:nvSpPr>
          <p:spPr>
            <a:xfrm>
              <a:off x="4693" y="1653"/>
              <a:ext cx="325" cy="221"/>
            </a:xfrm>
            <a:prstGeom prst="rect">
              <a:avLst/>
            </a:prstGeom>
            <a:noFill/>
            <a:ln w="19050">
              <a:noFill/>
            </a:ln>
          </p:spPr>
          <p:txBody>
            <a:bodyPr wrap="none">
              <a:spAutoFit/>
            </a:bodyPr>
            <a:lstStyle/>
            <a:p>
              <a:r>
                <a:rPr lang="en-US" altLang="zh-CN" sz="2800" i="1" dirty="0">
                  <a:latin typeface="Times New Roman" panose="02020603050405020304" pitchFamily="18" charset="0"/>
                </a:rPr>
                <a:t>x</a:t>
              </a:r>
              <a:r>
                <a:rPr lang="en-US" altLang="zh-CN" sz="2800" dirty="0">
                  <a:latin typeface="Times New Roman" panose="02020603050405020304" pitchFamily="18" charset="0"/>
                </a:rPr>
                <a:t>=1</a:t>
              </a:r>
            </a:p>
          </p:txBody>
        </p:sp>
        <p:sp>
          <p:nvSpPr>
            <p:cNvPr id="101389" name="Text Box 13"/>
            <p:cNvSpPr txBox="1"/>
            <p:nvPr/>
          </p:nvSpPr>
          <p:spPr>
            <a:xfrm>
              <a:off x="2931" y="2082"/>
              <a:ext cx="405" cy="1494"/>
            </a:xfrm>
            <a:prstGeom prst="rect">
              <a:avLst/>
            </a:prstGeom>
            <a:noFill/>
            <a:ln w="19050">
              <a:noFill/>
            </a:ln>
          </p:spPr>
          <p:txBody>
            <a:bodyPr>
              <a:spAutoFit/>
            </a:bodyPr>
            <a:lstStyle/>
            <a:p>
              <a:pPr algn="ctr"/>
              <a:r>
                <a:rPr lang="en-US" altLang="zh-CN" sz="2800" dirty="0">
                  <a:latin typeface="Times New Roman" panose="02020603050405020304" pitchFamily="18" charset="0"/>
                </a:rPr>
                <a:t>000</a:t>
              </a:r>
            </a:p>
            <a:p>
              <a:pPr algn="ctr"/>
              <a:r>
                <a:rPr lang="en-US" altLang="zh-CN" sz="2800" dirty="0">
                  <a:solidFill>
                    <a:srgbClr val="FF3300"/>
                  </a:solidFill>
                  <a:latin typeface="Times New Roman" panose="02020603050405020304" pitchFamily="18" charset="0"/>
                </a:rPr>
                <a:t>001</a:t>
              </a:r>
            </a:p>
            <a:p>
              <a:pPr algn="ctr"/>
              <a:r>
                <a:rPr lang="en-US" altLang="zh-CN" sz="2800" dirty="0">
                  <a:latin typeface="Times New Roman" panose="02020603050405020304" pitchFamily="18" charset="0"/>
                </a:rPr>
                <a:t>010</a:t>
              </a:r>
            </a:p>
            <a:p>
              <a:pPr algn="ctr"/>
              <a:r>
                <a:rPr lang="en-US" altLang="zh-CN" sz="2800" dirty="0">
                  <a:solidFill>
                    <a:srgbClr val="FF3300"/>
                  </a:solidFill>
                  <a:latin typeface="Times New Roman" panose="02020603050405020304" pitchFamily="18" charset="0"/>
                </a:rPr>
                <a:t>011</a:t>
              </a:r>
            </a:p>
            <a:p>
              <a:pPr algn="ctr"/>
              <a:r>
                <a:rPr lang="en-US" altLang="zh-CN" sz="2800" dirty="0">
                  <a:latin typeface="Times New Roman" panose="02020603050405020304" pitchFamily="18" charset="0"/>
                </a:rPr>
                <a:t>100</a:t>
              </a:r>
              <a:endParaRPr lang="en-US" altLang="zh-CN" sz="28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 101 </a:t>
              </a:r>
            </a:p>
            <a:p>
              <a:pPr algn="ctr"/>
              <a:r>
                <a:rPr lang="en-US" altLang="zh-CN" sz="2800" dirty="0">
                  <a:latin typeface="Times New Roman" panose="02020603050405020304" pitchFamily="18" charset="0"/>
                </a:rPr>
                <a:t>110</a:t>
              </a:r>
            </a:p>
            <a:p>
              <a:pPr algn="ctr"/>
              <a:r>
                <a:rPr lang="en-US" altLang="zh-CN" sz="2800" dirty="0">
                  <a:solidFill>
                    <a:srgbClr val="FF3300"/>
                  </a:solidFill>
                  <a:latin typeface="Times New Roman" panose="02020603050405020304" pitchFamily="18" charset="0"/>
                </a:rPr>
                <a:t>111</a:t>
              </a:r>
            </a:p>
          </p:txBody>
        </p:sp>
        <p:sp>
          <p:nvSpPr>
            <p:cNvPr id="101390" name="Text Box 14"/>
            <p:cNvSpPr txBox="1"/>
            <p:nvPr/>
          </p:nvSpPr>
          <p:spPr>
            <a:xfrm>
              <a:off x="3668" y="2082"/>
              <a:ext cx="644" cy="1494"/>
            </a:xfrm>
            <a:prstGeom prst="rect">
              <a:avLst/>
            </a:prstGeom>
            <a:noFill/>
            <a:ln w="19050">
              <a:noFill/>
            </a:ln>
          </p:spPr>
          <p:txBody>
            <a:bodyPr>
              <a:spAutoFit/>
            </a:bodyPr>
            <a:lstStyle/>
            <a:p>
              <a:pPr algn="ctr"/>
              <a:r>
                <a:rPr lang="en-US" altLang="zh-CN" sz="2800" dirty="0">
                  <a:latin typeface="Times New Roman" panose="02020603050405020304" pitchFamily="18" charset="0"/>
                </a:rPr>
                <a:t>010/0</a:t>
              </a:r>
            </a:p>
            <a:p>
              <a:pPr algn="ctr"/>
              <a:r>
                <a:rPr lang="en-US" altLang="zh-CN" sz="2800" dirty="0">
                  <a:solidFill>
                    <a:srgbClr val="FF3300"/>
                  </a:solidFill>
                  <a:latin typeface="Times New Roman" panose="02020603050405020304" pitchFamily="18" charset="0"/>
                </a:rPr>
                <a:t>010/0</a:t>
              </a:r>
              <a:endParaRPr lang="en-US" altLang="zh-CN" sz="2800" baseline="-250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100/0</a:t>
              </a:r>
            </a:p>
            <a:p>
              <a:pPr algn="ctr"/>
              <a:r>
                <a:rPr lang="en-US" altLang="zh-CN" sz="2800" dirty="0">
                  <a:solidFill>
                    <a:srgbClr val="FF3300"/>
                  </a:solidFill>
                  <a:latin typeface="Times New Roman" panose="02020603050405020304" pitchFamily="18" charset="0"/>
                </a:rPr>
                <a:t>100/0</a:t>
              </a:r>
              <a:endParaRPr lang="en-US" altLang="zh-CN" sz="2800" baseline="-25000" dirty="0">
                <a:solidFill>
                  <a:srgbClr val="FF3300"/>
                </a:solidFill>
                <a:latin typeface="Times New Roman" panose="02020603050405020304" pitchFamily="18" charset="0"/>
              </a:endParaRPr>
            </a:p>
            <a:p>
              <a:pPr algn="ctr"/>
              <a:r>
                <a:rPr lang="en-US" altLang="zh-CN" sz="2800" dirty="0">
                  <a:latin typeface="Times New Roman" panose="02020603050405020304" pitchFamily="18" charset="0"/>
                </a:rPr>
                <a:t>000/1 000/0 101/0</a:t>
              </a:r>
            </a:p>
            <a:p>
              <a:pPr algn="ctr"/>
              <a:r>
                <a:rPr lang="en-US" altLang="zh-CN" sz="2800" dirty="0">
                  <a:solidFill>
                    <a:srgbClr val="FF3300"/>
                  </a:solidFill>
                  <a:latin typeface="Times New Roman" panose="02020603050405020304" pitchFamily="18" charset="0"/>
                </a:rPr>
                <a:t>101/0</a:t>
              </a:r>
            </a:p>
          </p:txBody>
        </p:sp>
        <p:sp>
          <p:nvSpPr>
            <p:cNvPr id="101391" name="Text Box 15"/>
            <p:cNvSpPr txBox="1"/>
            <p:nvPr/>
          </p:nvSpPr>
          <p:spPr>
            <a:xfrm>
              <a:off x="4534" y="2082"/>
              <a:ext cx="776" cy="1493"/>
            </a:xfrm>
            <a:prstGeom prst="rect">
              <a:avLst/>
            </a:prstGeom>
            <a:noFill/>
            <a:ln w="19050">
              <a:noFill/>
            </a:ln>
          </p:spPr>
          <p:txBody>
            <a:bodyPr>
              <a:spAutoFit/>
            </a:bodyPr>
            <a:lstStyle/>
            <a:p>
              <a:pPr algn="ctr"/>
              <a:r>
                <a:rPr lang="en-US" altLang="zh-CN" sz="2800" dirty="0">
                  <a:latin typeface="Times New Roman" panose="02020603050405020304" pitchFamily="18" charset="0"/>
                </a:rPr>
                <a:t>110/0</a:t>
              </a:r>
            </a:p>
            <a:p>
              <a:pPr algn="ctr"/>
              <a:r>
                <a:rPr lang="en-US" altLang="zh-CN" sz="2800" dirty="0">
                  <a:solidFill>
                    <a:srgbClr val="FF3300"/>
                  </a:solidFill>
                  <a:latin typeface="Times New Roman" panose="02020603050405020304" pitchFamily="18" charset="0"/>
                </a:rPr>
                <a:t>110/</a:t>
              </a:r>
              <a:r>
                <a:rPr lang="en-US" altLang="zh-CN" sz="2800" dirty="0">
                  <a:solidFill>
                    <a:srgbClr val="3333FF"/>
                  </a:solidFill>
                  <a:latin typeface="Times New Roman" panose="02020603050405020304" pitchFamily="18" charset="0"/>
                </a:rPr>
                <a:t>1</a:t>
              </a:r>
              <a:endParaRPr lang="en-US" altLang="zh-CN" sz="2800" baseline="-25000" dirty="0">
                <a:solidFill>
                  <a:srgbClr val="3333FF"/>
                </a:solidFill>
                <a:latin typeface="Times New Roman" panose="02020603050405020304" pitchFamily="18" charset="0"/>
              </a:endParaRPr>
            </a:p>
            <a:p>
              <a:pPr algn="ctr"/>
              <a:r>
                <a:rPr lang="en-US" altLang="zh-CN" sz="2800" dirty="0">
                  <a:latin typeface="Times New Roman" panose="02020603050405020304" pitchFamily="18" charset="0"/>
                </a:rPr>
                <a:t>101/0</a:t>
              </a:r>
            </a:p>
            <a:p>
              <a:pPr algn="ctr"/>
              <a:r>
                <a:rPr lang="en-US" altLang="zh-CN" sz="2800" dirty="0">
                  <a:solidFill>
                    <a:srgbClr val="FF3300"/>
                  </a:solidFill>
                  <a:latin typeface="Times New Roman" panose="02020603050405020304" pitchFamily="18" charset="0"/>
                </a:rPr>
                <a:t>101/</a:t>
              </a:r>
              <a:r>
                <a:rPr lang="en-US" altLang="zh-CN" sz="2800" dirty="0">
                  <a:solidFill>
                    <a:srgbClr val="3333FF"/>
                  </a:solidFill>
                  <a:latin typeface="Times New Roman" panose="02020603050405020304" pitchFamily="18" charset="0"/>
                </a:rPr>
                <a:t>1</a:t>
              </a:r>
              <a:endParaRPr lang="en-US" altLang="zh-CN" sz="2800" baseline="-25000" dirty="0">
                <a:solidFill>
                  <a:srgbClr val="3333FF"/>
                </a:solidFill>
                <a:latin typeface="Times New Roman" panose="02020603050405020304" pitchFamily="18" charset="0"/>
              </a:endParaRPr>
            </a:p>
            <a:p>
              <a:pPr algn="ctr"/>
              <a:r>
                <a:rPr lang="en-US" altLang="zh-CN" sz="2800" dirty="0">
                  <a:latin typeface="Times New Roman" panose="02020603050405020304" pitchFamily="18" charset="0"/>
                </a:rPr>
                <a:t>000/0</a:t>
              </a:r>
            </a:p>
            <a:p>
              <a:pPr algn="ctr"/>
              <a:r>
                <a:rPr lang="en-US" altLang="zh-CN" sz="2800" dirty="0">
                  <a:latin typeface="Times New Roman" panose="02020603050405020304" pitchFamily="18" charset="0"/>
                </a:rPr>
                <a:t>000/1 100/0</a:t>
              </a:r>
            </a:p>
            <a:p>
              <a:pPr algn="ctr"/>
              <a:r>
                <a:rPr lang="en-US" altLang="zh-CN" sz="2800" dirty="0">
                  <a:solidFill>
                    <a:srgbClr val="FF3300"/>
                  </a:solidFill>
                  <a:latin typeface="Times New Roman" panose="02020603050405020304" pitchFamily="18" charset="0"/>
                </a:rPr>
                <a:t>100/</a:t>
              </a:r>
              <a:r>
                <a:rPr lang="en-US" altLang="zh-CN" sz="2800" dirty="0">
                  <a:solidFill>
                    <a:srgbClr val="3333FF"/>
                  </a:solidFill>
                  <a:latin typeface="Times New Roman" panose="02020603050405020304" pitchFamily="18" charset="0"/>
                </a:rPr>
                <a:t>1</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373313" y="728663"/>
            <a:ext cx="3425825" cy="3462337"/>
            <a:chOff x="1495" y="459"/>
            <a:chExt cx="2158" cy="2181"/>
          </a:xfrm>
        </p:grpSpPr>
        <p:sp>
          <p:nvSpPr>
            <p:cNvPr id="102410" name="Oval 3"/>
            <p:cNvSpPr/>
            <p:nvPr/>
          </p:nvSpPr>
          <p:spPr>
            <a:xfrm>
              <a:off x="2872" y="1244"/>
              <a:ext cx="305" cy="332"/>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grpSp>
          <p:nvGrpSpPr>
            <p:cNvPr id="102411" name="Group 4"/>
            <p:cNvGrpSpPr/>
            <p:nvPr/>
          </p:nvGrpSpPr>
          <p:grpSpPr>
            <a:xfrm>
              <a:off x="1495" y="459"/>
              <a:ext cx="2158" cy="2181"/>
              <a:chOff x="1495" y="459"/>
              <a:chExt cx="2158" cy="2181"/>
            </a:xfrm>
          </p:grpSpPr>
          <p:sp>
            <p:nvSpPr>
              <p:cNvPr id="102412" name="Oval 5"/>
              <p:cNvSpPr/>
              <p:nvPr/>
            </p:nvSpPr>
            <p:spPr>
              <a:xfrm>
                <a:off x="2472" y="856"/>
                <a:ext cx="305" cy="332"/>
              </a:xfrm>
              <a:prstGeom prst="ellipse">
                <a:avLst/>
              </a:prstGeom>
              <a:solidFill>
                <a:srgbClr val="CCFFFF">
                  <a:alpha val="50195"/>
                </a:srgbClr>
              </a:solidFill>
              <a:ln w="9525" cap="flat" cmpd="sng">
                <a:solidFill>
                  <a:srgbClr val="FF00FF"/>
                </a:solidFill>
                <a:prstDash val="solid"/>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sp>
            <p:nvSpPr>
              <p:cNvPr id="102413" name="Line 6"/>
              <p:cNvSpPr/>
              <p:nvPr/>
            </p:nvSpPr>
            <p:spPr>
              <a:xfrm>
                <a:off x="2006" y="1213"/>
                <a:ext cx="1629" cy="0"/>
              </a:xfrm>
              <a:prstGeom prst="line">
                <a:avLst/>
              </a:prstGeom>
              <a:ln w="28575" cap="flat" cmpd="sng">
                <a:solidFill>
                  <a:srgbClr val="3333FF"/>
                </a:solidFill>
                <a:prstDash val="solid"/>
                <a:headEnd type="none" w="med" len="med"/>
                <a:tailEnd type="none" w="med" len="med"/>
              </a:ln>
            </p:spPr>
          </p:sp>
          <p:sp>
            <p:nvSpPr>
              <p:cNvPr id="102414" name="Text Box 7"/>
              <p:cNvSpPr txBox="1"/>
              <p:nvPr/>
            </p:nvSpPr>
            <p:spPr>
              <a:xfrm>
                <a:off x="2049" y="599"/>
                <a:ext cx="1604" cy="288"/>
              </a:xfrm>
              <a:prstGeom prst="rect">
                <a:avLst/>
              </a:prstGeom>
              <a:noFill/>
              <a:ln w="9525">
                <a:noFill/>
              </a:ln>
            </p:spPr>
            <p:txBody>
              <a:bodyPr wrap="none">
                <a:spAutoFit/>
              </a:bodyPr>
              <a:lstStyle/>
              <a:p>
                <a:pPr algn="ctr"/>
                <a:r>
                  <a:rPr lang="en-US" altLang="zh-CN" sz="2400" dirty="0">
                    <a:latin typeface="Times New Roman" panose="02020603050405020304" pitchFamily="18" charset="0"/>
                  </a:rPr>
                  <a:t>00     01     11     10</a:t>
                </a:r>
              </a:p>
            </p:txBody>
          </p:sp>
          <p:sp>
            <p:nvSpPr>
              <p:cNvPr id="102415" name="Text Box 8"/>
              <p:cNvSpPr txBox="1"/>
              <p:nvPr/>
            </p:nvSpPr>
            <p:spPr>
              <a:xfrm>
                <a:off x="1666" y="778"/>
                <a:ext cx="339" cy="1530"/>
              </a:xfrm>
              <a:prstGeom prst="rect">
                <a:avLst/>
              </a:prstGeom>
              <a:noFill/>
              <a:ln w="9525">
                <a:noFill/>
              </a:ln>
            </p:spPr>
            <p:txBody>
              <a:bodyPr>
                <a:spAutoFit/>
              </a:bodyPr>
              <a:lstStyle/>
              <a:p>
                <a:pPr>
                  <a:lnSpc>
                    <a:spcPct val="160000"/>
                  </a:lnSpc>
                </a:pPr>
                <a:r>
                  <a:rPr lang="en-US" altLang="zh-CN" sz="2400" dirty="0">
                    <a:latin typeface="Times New Roman" panose="02020603050405020304" pitchFamily="18" charset="0"/>
                  </a:rPr>
                  <a:t>00</a:t>
                </a:r>
              </a:p>
              <a:p>
                <a:pPr>
                  <a:lnSpc>
                    <a:spcPct val="160000"/>
                  </a:lnSpc>
                </a:pPr>
                <a:r>
                  <a:rPr lang="en-US" altLang="zh-CN" sz="2400" dirty="0">
                    <a:latin typeface="Times New Roman" panose="02020603050405020304" pitchFamily="18" charset="0"/>
                  </a:rPr>
                  <a:t>01</a:t>
                </a:r>
              </a:p>
              <a:p>
                <a:pPr>
                  <a:lnSpc>
                    <a:spcPct val="160000"/>
                  </a:lnSpc>
                </a:pPr>
                <a:r>
                  <a:rPr lang="en-US" altLang="zh-CN" sz="2400" dirty="0">
                    <a:latin typeface="Times New Roman" panose="02020603050405020304" pitchFamily="18" charset="0"/>
                  </a:rPr>
                  <a:t>11</a:t>
                </a:r>
              </a:p>
              <a:p>
                <a:pPr>
                  <a:lnSpc>
                    <a:spcPct val="160000"/>
                  </a:lnSpc>
                </a:pPr>
                <a:r>
                  <a:rPr lang="en-US" altLang="zh-CN" sz="2400" dirty="0">
                    <a:latin typeface="Times New Roman" panose="02020603050405020304" pitchFamily="18" charset="0"/>
                  </a:rPr>
                  <a:t>10</a:t>
                </a:r>
              </a:p>
            </p:txBody>
          </p:sp>
          <p:sp>
            <p:nvSpPr>
              <p:cNvPr id="102416" name="Text Box 9"/>
              <p:cNvSpPr txBox="1"/>
              <p:nvPr/>
            </p:nvSpPr>
            <p:spPr>
              <a:xfrm>
                <a:off x="1756" y="459"/>
                <a:ext cx="390" cy="327"/>
              </a:xfrm>
              <a:prstGeom prst="rect">
                <a:avLst/>
              </a:prstGeom>
              <a:noFill/>
              <a:ln w="9525">
                <a:noFill/>
              </a:ln>
            </p:spPr>
            <p:txBody>
              <a:bodyPr wrap="none">
                <a:spAutoFit/>
              </a:bodyPr>
              <a:lstStyle/>
              <a:p>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p>
            </p:txBody>
          </p:sp>
          <p:sp>
            <p:nvSpPr>
              <p:cNvPr id="102417" name="Text Box 10"/>
              <p:cNvSpPr txBox="1"/>
              <p:nvPr/>
            </p:nvSpPr>
            <p:spPr>
              <a:xfrm>
                <a:off x="1495" y="581"/>
                <a:ext cx="466" cy="327"/>
              </a:xfrm>
              <a:prstGeom prst="rect">
                <a:avLst/>
              </a:prstGeom>
              <a:noFill/>
              <a:ln w="9525">
                <a:noFill/>
              </a:ln>
            </p:spPr>
            <p:txBody>
              <a:bodyPr wrap="none">
                <a:spAutoFit/>
              </a:bodyPr>
              <a:lstStyle/>
              <a:p>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p>
            </p:txBody>
          </p:sp>
          <p:grpSp>
            <p:nvGrpSpPr>
              <p:cNvPr id="102418" name="Group 11"/>
              <p:cNvGrpSpPr/>
              <p:nvPr/>
            </p:nvGrpSpPr>
            <p:grpSpPr>
              <a:xfrm>
                <a:off x="1988" y="834"/>
                <a:ext cx="1635" cy="1495"/>
                <a:chOff x="520" y="702"/>
                <a:chExt cx="1281" cy="1403"/>
              </a:xfrm>
            </p:grpSpPr>
            <p:sp>
              <p:nvSpPr>
                <p:cNvPr id="102439" name="Rectangle 12"/>
                <p:cNvSpPr/>
                <p:nvPr/>
              </p:nvSpPr>
              <p:spPr>
                <a:xfrm>
                  <a:off x="520" y="702"/>
                  <a:ext cx="1281" cy="1400"/>
                </a:xfrm>
                <a:prstGeom prst="rect">
                  <a:avLst/>
                </a:prstGeom>
                <a:noFill/>
                <a:ln w="28575" cap="flat" cmpd="sng">
                  <a:solidFill>
                    <a:srgbClr val="3333FF"/>
                  </a:solidFill>
                  <a:prstDash val="solid"/>
                  <a:miter/>
                  <a:headEnd type="none" w="med" len="med"/>
                  <a:tailEnd type="none" w="med" len="med"/>
                </a:ln>
              </p:spPr>
              <p:txBody>
                <a:bodyPr wrap="none" anchor="ctr" anchorCtr="0"/>
                <a:lstStyle/>
                <a:p>
                  <a:endParaRPr lang="zh-CN" altLang="en-US" sz="2800" dirty="0">
                    <a:latin typeface="Times New Roman" panose="02020603050405020304" pitchFamily="18" charset="0"/>
                  </a:endParaRPr>
                </a:p>
              </p:txBody>
            </p:sp>
            <p:grpSp>
              <p:nvGrpSpPr>
                <p:cNvPr id="102440" name="Group 13"/>
                <p:cNvGrpSpPr/>
                <p:nvPr/>
              </p:nvGrpSpPr>
              <p:grpSpPr>
                <a:xfrm>
                  <a:off x="858" y="702"/>
                  <a:ext cx="645" cy="1403"/>
                  <a:chOff x="858" y="702"/>
                  <a:chExt cx="645" cy="1380"/>
                </a:xfrm>
              </p:grpSpPr>
              <p:sp>
                <p:nvSpPr>
                  <p:cNvPr id="102441" name="Line 14"/>
                  <p:cNvSpPr/>
                  <p:nvPr/>
                </p:nvSpPr>
                <p:spPr>
                  <a:xfrm>
                    <a:off x="858" y="703"/>
                    <a:ext cx="0" cy="1379"/>
                  </a:xfrm>
                  <a:prstGeom prst="line">
                    <a:avLst/>
                  </a:prstGeom>
                  <a:ln w="28575" cap="flat" cmpd="sng">
                    <a:solidFill>
                      <a:srgbClr val="3333FF"/>
                    </a:solidFill>
                    <a:prstDash val="solid"/>
                    <a:headEnd type="none" w="med" len="med"/>
                    <a:tailEnd type="none" w="med" len="med"/>
                  </a:ln>
                </p:spPr>
              </p:sp>
              <p:sp>
                <p:nvSpPr>
                  <p:cNvPr id="102442" name="Line 15"/>
                  <p:cNvSpPr/>
                  <p:nvPr/>
                </p:nvSpPr>
                <p:spPr>
                  <a:xfrm>
                    <a:off x="1170" y="703"/>
                    <a:ext cx="0" cy="1379"/>
                  </a:xfrm>
                  <a:prstGeom prst="line">
                    <a:avLst/>
                  </a:prstGeom>
                  <a:ln w="28575" cap="flat" cmpd="sng">
                    <a:solidFill>
                      <a:srgbClr val="3333FF"/>
                    </a:solidFill>
                    <a:prstDash val="solid"/>
                    <a:headEnd type="none" w="med" len="med"/>
                    <a:tailEnd type="none" w="med" len="med"/>
                  </a:ln>
                </p:spPr>
              </p:sp>
              <p:sp>
                <p:nvSpPr>
                  <p:cNvPr id="102443" name="Line 16"/>
                  <p:cNvSpPr/>
                  <p:nvPr/>
                </p:nvSpPr>
                <p:spPr>
                  <a:xfrm>
                    <a:off x="1503" y="702"/>
                    <a:ext cx="0" cy="1379"/>
                  </a:xfrm>
                  <a:prstGeom prst="line">
                    <a:avLst/>
                  </a:prstGeom>
                  <a:ln w="28575" cap="flat" cmpd="sng">
                    <a:solidFill>
                      <a:srgbClr val="3333FF"/>
                    </a:solidFill>
                    <a:prstDash val="solid"/>
                    <a:headEnd type="none" w="med" len="med"/>
                    <a:tailEnd type="none" w="med" len="med"/>
                  </a:ln>
                </p:spPr>
              </p:sp>
            </p:grpSp>
          </p:grpSp>
          <p:sp>
            <p:nvSpPr>
              <p:cNvPr id="102419" name="Line 17"/>
              <p:cNvSpPr/>
              <p:nvPr/>
            </p:nvSpPr>
            <p:spPr>
              <a:xfrm>
                <a:off x="2006" y="1584"/>
                <a:ext cx="1629" cy="0"/>
              </a:xfrm>
              <a:prstGeom prst="line">
                <a:avLst/>
              </a:prstGeom>
              <a:ln w="28575" cap="flat" cmpd="sng">
                <a:solidFill>
                  <a:srgbClr val="3333FF"/>
                </a:solidFill>
                <a:prstDash val="solid"/>
                <a:headEnd type="none" w="med" len="med"/>
                <a:tailEnd type="none" w="med" len="med"/>
              </a:ln>
            </p:spPr>
          </p:sp>
          <p:sp>
            <p:nvSpPr>
              <p:cNvPr id="102420" name="Line 18"/>
              <p:cNvSpPr/>
              <p:nvPr/>
            </p:nvSpPr>
            <p:spPr>
              <a:xfrm>
                <a:off x="1989" y="1998"/>
                <a:ext cx="1629" cy="0"/>
              </a:xfrm>
              <a:prstGeom prst="line">
                <a:avLst/>
              </a:prstGeom>
              <a:ln w="28575" cap="flat" cmpd="sng">
                <a:solidFill>
                  <a:srgbClr val="3333FF"/>
                </a:solidFill>
                <a:prstDash val="solid"/>
                <a:headEnd type="none" w="med" len="med"/>
                <a:tailEnd type="none" w="med" len="med"/>
              </a:ln>
            </p:spPr>
          </p:sp>
          <p:sp>
            <p:nvSpPr>
              <p:cNvPr id="102421" name="Rectangle 19"/>
              <p:cNvSpPr/>
              <p:nvPr/>
            </p:nvSpPr>
            <p:spPr>
              <a:xfrm>
                <a:off x="2565" y="2002"/>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102422" name="Rectangle 20"/>
              <p:cNvSpPr/>
              <p:nvPr/>
            </p:nvSpPr>
            <p:spPr>
              <a:xfrm>
                <a:off x="2111" y="2001"/>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102423" name="Rectangle 21"/>
              <p:cNvSpPr/>
              <p:nvPr/>
            </p:nvSpPr>
            <p:spPr>
              <a:xfrm>
                <a:off x="2519" y="1663"/>
                <a:ext cx="228" cy="327"/>
              </a:xfrm>
              <a:prstGeom prst="rect">
                <a:avLst/>
              </a:prstGeom>
              <a:noFill/>
              <a:ln w="9525">
                <a:noFill/>
              </a:ln>
            </p:spPr>
            <p:txBody>
              <a:bodyPr wrap="none">
                <a:spAutoFit/>
              </a:bodyPr>
              <a:lstStyle/>
              <a:p>
                <a:r>
                  <a:rPr lang="en-US" altLang="zh-CN" sz="2800" dirty="0">
                    <a:solidFill>
                      <a:srgbClr val="FF3300"/>
                    </a:solidFill>
                    <a:latin typeface="Times New Roman" panose="02020603050405020304" pitchFamily="18" charset="0"/>
                  </a:rPr>
                  <a:t>0</a:t>
                </a:r>
              </a:p>
            </p:txBody>
          </p:sp>
          <p:sp>
            <p:nvSpPr>
              <p:cNvPr id="102424" name="Rectangle 22"/>
              <p:cNvSpPr/>
              <p:nvPr/>
            </p:nvSpPr>
            <p:spPr>
              <a:xfrm>
                <a:off x="2078" y="1663"/>
                <a:ext cx="228" cy="327"/>
              </a:xfrm>
              <a:prstGeom prst="rect">
                <a:avLst/>
              </a:prstGeom>
              <a:noFill/>
              <a:ln w="9525">
                <a:noFill/>
              </a:ln>
            </p:spPr>
            <p:txBody>
              <a:bodyPr wrap="none">
                <a:spAutoFit/>
              </a:bodyPr>
              <a:lstStyle/>
              <a:p>
                <a:r>
                  <a:rPr lang="en-US" altLang="zh-CN" sz="2800" dirty="0">
                    <a:solidFill>
                      <a:srgbClr val="FF3300"/>
                    </a:solidFill>
                    <a:latin typeface="Times New Roman" panose="02020603050405020304" pitchFamily="18" charset="0"/>
                  </a:rPr>
                  <a:t>0</a:t>
                </a:r>
              </a:p>
            </p:txBody>
          </p:sp>
          <p:sp>
            <p:nvSpPr>
              <p:cNvPr id="102425" name="Text Box 23"/>
              <p:cNvSpPr txBox="1"/>
              <p:nvPr/>
            </p:nvSpPr>
            <p:spPr>
              <a:xfrm>
                <a:off x="2929" y="851"/>
                <a:ext cx="221" cy="327"/>
              </a:xfrm>
              <a:prstGeom prst="rect">
                <a:avLst/>
              </a:prstGeom>
              <a:noFill/>
              <a:ln w="9525">
                <a:noFill/>
              </a:ln>
            </p:spPr>
            <p:txBody>
              <a:bodyPr>
                <a:spAutoFit/>
              </a:bodyPr>
              <a:lstStyle/>
              <a:p>
                <a:r>
                  <a:rPr lang="en-US" altLang="zh-CN" sz="2800" dirty="0">
                    <a:latin typeface="Times New Roman" panose="02020603050405020304" pitchFamily="18" charset="0"/>
                  </a:rPr>
                  <a:t>0</a:t>
                </a:r>
              </a:p>
            </p:txBody>
          </p:sp>
          <p:sp>
            <p:nvSpPr>
              <p:cNvPr id="102426" name="Rectangle 24"/>
              <p:cNvSpPr/>
              <p:nvPr/>
            </p:nvSpPr>
            <p:spPr>
              <a:xfrm>
                <a:off x="2527" y="1279"/>
                <a:ext cx="228" cy="327"/>
              </a:xfrm>
              <a:prstGeom prst="rect">
                <a:avLst/>
              </a:prstGeom>
              <a:noFill/>
              <a:ln w="9525">
                <a:noFill/>
              </a:ln>
            </p:spPr>
            <p:txBody>
              <a:bodyPr wrap="none">
                <a:spAutoFit/>
              </a:bodyPr>
              <a:lstStyle/>
              <a:p>
                <a:r>
                  <a:rPr lang="en-US" altLang="zh-CN" sz="2800" dirty="0">
                    <a:latin typeface="Times New Roman" panose="02020603050405020304" pitchFamily="18" charset="0"/>
                  </a:rPr>
                  <a:t>0</a:t>
                </a:r>
              </a:p>
            </p:txBody>
          </p:sp>
          <p:sp>
            <p:nvSpPr>
              <p:cNvPr id="102427" name="Rectangle 25"/>
              <p:cNvSpPr/>
              <p:nvPr/>
            </p:nvSpPr>
            <p:spPr>
              <a:xfrm>
                <a:off x="2096" y="1279"/>
                <a:ext cx="228" cy="327"/>
              </a:xfrm>
              <a:prstGeom prst="rect">
                <a:avLst/>
              </a:prstGeom>
              <a:noFill/>
              <a:ln w="9525">
                <a:noFill/>
              </a:ln>
            </p:spPr>
            <p:txBody>
              <a:bodyPr wrap="none">
                <a:spAutoFit/>
              </a:bodyPr>
              <a:lstStyle/>
              <a:p>
                <a:r>
                  <a:rPr lang="en-US" altLang="zh-CN" sz="2800" dirty="0">
                    <a:solidFill>
                      <a:srgbClr val="FF3300"/>
                    </a:solidFill>
                    <a:latin typeface="Times New Roman" panose="02020603050405020304" pitchFamily="18" charset="0"/>
                  </a:rPr>
                  <a:t>0</a:t>
                </a:r>
              </a:p>
            </p:txBody>
          </p:sp>
          <p:sp>
            <p:nvSpPr>
              <p:cNvPr id="102428" name="Text Box 26"/>
              <p:cNvSpPr txBox="1"/>
              <p:nvPr/>
            </p:nvSpPr>
            <p:spPr>
              <a:xfrm>
                <a:off x="2929" y="1279"/>
                <a:ext cx="325" cy="327"/>
              </a:xfrm>
              <a:prstGeom prst="rect">
                <a:avLst/>
              </a:prstGeom>
              <a:noFill/>
              <a:ln w="9525">
                <a:noFill/>
              </a:ln>
            </p:spPr>
            <p:txBody>
              <a:bodyPr>
                <a:spAutoFit/>
              </a:bodyPr>
              <a:lstStyle/>
              <a:p>
                <a:r>
                  <a:rPr lang="en-US" altLang="zh-CN" sz="2800" dirty="0">
                    <a:latin typeface="Times New Roman" panose="02020603050405020304" pitchFamily="18" charset="0"/>
                  </a:rPr>
                  <a:t>1</a:t>
                </a:r>
              </a:p>
            </p:txBody>
          </p:sp>
          <p:sp>
            <p:nvSpPr>
              <p:cNvPr id="102429" name="Line 27"/>
              <p:cNvSpPr/>
              <p:nvPr/>
            </p:nvSpPr>
            <p:spPr>
              <a:xfrm>
                <a:off x="1701" y="563"/>
                <a:ext cx="285" cy="284"/>
              </a:xfrm>
              <a:prstGeom prst="line">
                <a:avLst/>
              </a:prstGeom>
              <a:ln w="28575" cap="flat" cmpd="sng">
                <a:solidFill>
                  <a:srgbClr val="3333FF"/>
                </a:solidFill>
                <a:prstDash val="solid"/>
                <a:headEnd type="none" w="med" len="med"/>
                <a:tailEnd type="none" w="med" len="med"/>
              </a:ln>
            </p:spPr>
          </p:sp>
          <p:sp>
            <p:nvSpPr>
              <p:cNvPr id="102430" name="Text Box 28" descr="羊皮纸"/>
              <p:cNvSpPr txBox="1"/>
              <p:nvPr/>
            </p:nvSpPr>
            <p:spPr>
              <a:xfrm>
                <a:off x="2512" y="2313"/>
                <a:ext cx="239" cy="327"/>
              </a:xfrm>
              <a:prstGeom prst="rect">
                <a:avLst/>
              </a:prstGeom>
              <a:noFill/>
              <a:ln w="38100">
                <a:noFill/>
              </a:ln>
            </p:spPr>
            <p:txBody>
              <a:bodyPr wrap="none" lIns="90000" tIns="46800" rIns="90000" bIns="46800">
                <a:spAutoFit/>
              </a:bodyPr>
              <a:lstStyle/>
              <a:p>
                <a:r>
                  <a:rPr lang="en-US" altLang="zh-CN" sz="2800" i="1" dirty="0">
                    <a:latin typeface="Times New Roman" panose="02020603050405020304" pitchFamily="18" charset="0"/>
                  </a:rPr>
                  <a:t>Z</a:t>
                </a:r>
                <a:endParaRPr lang="en-US" altLang="zh-CN" sz="2800" i="1" baseline="-25000" dirty="0">
                  <a:latin typeface="Times New Roman" panose="02020603050405020304" pitchFamily="18" charset="0"/>
                </a:endParaRPr>
              </a:p>
            </p:txBody>
          </p:sp>
          <p:sp>
            <p:nvSpPr>
              <p:cNvPr id="102431" name="Text Box 29" descr="羊皮纸"/>
              <p:cNvSpPr txBox="1"/>
              <p:nvPr/>
            </p:nvSpPr>
            <p:spPr>
              <a:xfrm>
                <a:off x="2105" y="858"/>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102432" name="Text Box 30" descr="羊皮纸"/>
              <p:cNvSpPr txBox="1"/>
              <p:nvPr/>
            </p:nvSpPr>
            <p:spPr>
              <a:xfrm>
                <a:off x="2523" y="858"/>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1</a:t>
                </a:r>
              </a:p>
            </p:txBody>
          </p:sp>
          <p:sp>
            <p:nvSpPr>
              <p:cNvPr id="102433" name="Text Box 31" descr="羊皮纸"/>
              <p:cNvSpPr txBox="1"/>
              <p:nvPr/>
            </p:nvSpPr>
            <p:spPr>
              <a:xfrm>
                <a:off x="3338" y="869"/>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102434" name="Text Box 32" descr="羊皮纸"/>
              <p:cNvSpPr txBox="1"/>
              <p:nvPr/>
            </p:nvSpPr>
            <p:spPr>
              <a:xfrm>
                <a:off x="3318" y="1261"/>
                <a:ext cx="226" cy="327"/>
              </a:xfrm>
              <a:prstGeom prst="rect">
                <a:avLst/>
              </a:prstGeom>
              <a:noFill/>
              <a:ln w="38100">
                <a:noFill/>
              </a:ln>
            </p:spPr>
            <p:txBody>
              <a:bodyPr wrap="none" lIns="90000" tIns="46800" rIns="90000" bIns="46800">
                <a:spAutoFit/>
              </a:bodyPr>
              <a:lstStyle/>
              <a:p>
                <a:r>
                  <a:rPr lang="en-US" altLang="zh-CN" sz="2800" dirty="0">
                    <a:solidFill>
                      <a:srgbClr val="FF3300"/>
                    </a:solidFill>
                    <a:latin typeface="Times New Roman" panose="02020603050405020304" pitchFamily="18" charset="0"/>
                  </a:rPr>
                  <a:t>0</a:t>
                </a:r>
              </a:p>
            </p:txBody>
          </p:sp>
          <p:sp>
            <p:nvSpPr>
              <p:cNvPr id="102435" name="Text Box 33" descr="羊皮纸"/>
              <p:cNvSpPr txBox="1"/>
              <p:nvPr/>
            </p:nvSpPr>
            <p:spPr>
              <a:xfrm>
                <a:off x="2910" y="1664"/>
                <a:ext cx="226" cy="327"/>
              </a:xfrm>
              <a:prstGeom prst="rect">
                <a:avLst/>
              </a:prstGeom>
              <a:noFill/>
              <a:ln w="38100">
                <a:noFill/>
              </a:ln>
            </p:spPr>
            <p:txBody>
              <a:bodyPr wrap="none" lIns="90000" tIns="46800" rIns="90000" bIns="46800">
                <a:spAutoFit/>
              </a:bodyPr>
              <a:lstStyle/>
              <a:p>
                <a:r>
                  <a:rPr lang="en-US" altLang="zh-CN" sz="2800" dirty="0">
                    <a:solidFill>
                      <a:srgbClr val="FF3300"/>
                    </a:solidFill>
                    <a:latin typeface="Times New Roman" panose="02020603050405020304" pitchFamily="18" charset="0"/>
                  </a:rPr>
                  <a:t>0</a:t>
                </a:r>
              </a:p>
            </p:txBody>
          </p:sp>
          <p:sp>
            <p:nvSpPr>
              <p:cNvPr id="102436" name="Text Box 34" descr="羊皮纸"/>
              <p:cNvSpPr txBox="1"/>
              <p:nvPr/>
            </p:nvSpPr>
            <p:spPr>
              <a:xfrm>
                <a:off x="3315" y="1664"/>
                <a:ext cx="158" cy="327"/>
              </a:xfrm>
              <a:prstGeom prst="rect">
                <a:avLst/>
              </a:prstGeom>
              <a:noFill/>
              <a:ln w="38100">
                <a:noFill/>
              </a:ln>
            </p:spPr>
            <p:txBody>
              <a:bodyPr lIns="90000" tIns="46800" rIns="90000" bIns="46800">
                <a:spAutoFit/>
              </a:bodyPr>
              <a:lstStyle/>
              <a:p>
                <a:r>
                  <a:rPr lang="en-US" altLang="zh-CN" sz="2800" dirty="0">
                    <a:solidFill>
                      <a:srgbClr val="FF3300"/>
                    </a:solidFill>
                    <a:latin typeface="Times New Roman" panose="02020603050405020304" pitchFamily="18" charset="0"/>
                  </a:rPr>
                  <a:t>0</a:t>
                </a:r>
              </a:p>
            </p:txBody>
          </p:sp>
          <p:sp>
            <p:nvSpPr>
              <p:cNvPr id="102437" name="Text Box 35" descr="羊皮纸"/>
              <p:cNvSpPr txBox="1"/>
              <p:nvPr/>
            </p:nvSpPr>
            <p:spPr>
              <a:xfrm>
                <a:off x="2943" y="2011"/>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sp>
            <p:nvSpPr>
              <p:cNvPr id="102438" name="Text Box 36" descr="羊皮纸"/>
              <p:cNvSpPr txBox="1"/>
              <p:nvPr/>
            </p:nvSpPr>
            <p:spPr>
              <a:xfrm>
                <a:off x="3329" y="1999"/>
                <a:ext cx="226" cy="327"/>
              </a:xfrm>
              <a:prstGeom prst="rect">
                <a:avLst/>
              </a:prstGeom>
              <a:noFill/>
              <a:ln w="38100">
                <a:noFill/>
              </a:ln>
            </p:spPr>
            <p:txBody>
              <a:bodyPr wrap="none" lIns="90000" tIns="46800" rIns="90000" bIns="46800">
                <a:spAutoFit/>
              </a:bodyPr>
              <a:lstStyle/>
              <a:p>
                <a:r>
                  <a:rPr lang="en-US" altLang="zh-CN" sz="2800" dirty="0">
                    <a:latin typeface="Times New Roman" panose="02020603050405020304" pitchFamily="18" charset="0"/>
                  </a:rPr>
                  <a:t>0</a:t>
                </a:r>
              </a:p>
            </p:txBody>
          </p:sp>
        </p:grpSp>
      </p:grpSp>
      <p:grpSp>
        <p:nvGrpSpPr>
          <p:cNvPr id="6" name="Group 37"/>
          <p:cNvGrpSpPr/>
          <p:nvPr/>
        </p:nvGrpSpPr>
        <p:grpSpPr>
          <a:xfrm>
            <a:off x="2754313" y="4281488"/>
            <a:ext cx="3208337" cy="733425"/>
            <a:chOff x="1915" y="2985"/>
            <a:chExt cx="2021" cy="462"/>
          </a:xfrm>
        </p:grpSpPr>
        <p:sp>
          <p:nvSpPr>
            <p:cNvPr id="102405" name="Rectangle 38" descr="羊皮纸"/>
            <p:cNvSpPr/>
            <p:nvPr/>
          </p:nvSpPr>
          <p:spPr>
            <a:xfrm>
              <a:off x="1915" y="2985"/>
              <a:ext cx="2021" cy="462"/>
            </a:xfrm>
            <a:prstGeom prst="rect">
              <a:avLst/>
            </a:prstGeom>
            <a:noFill/>
            <a:ln w="38100">
              <a:noFill/>
            </a:ln>
          </p:spPr>
          <p:txBody>
            <a:bodyPr wrap="none" lIns="90000" tIns="46800" rIns="90000" bIns="46800">
              <a:spAutoFit/>
            </a:bodyPr>
            <a:lstStyle/>
            <a:p>
              <a:pPr>
                <a:lnSpc>
                  <a:spcPct val="150000"/>
                </a:lnSpc>
              </a:pPr>
              <a:r>
                <a:rPr lang="en-US" altLang="zh-CN" sz="2800" i="1" dirty="0">
                  <a:latin typeface="Times New Roman" panose="02020603050405020304" pitchFamily="18" charset="0"/>
                </a:rPr>
                <a:t>Z=XY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r>
                <a:rPr lang="en-US" altLang="zh-CN" sz="2800" i="1" dirty="0">
                  <a:latin typeface="Times New Roman" panose="02020603050405020304" pitchFamily="18" charset="0"/>
                </a:rPr>
                <a:t>+XY</a:t>
              </a:r>
              <a:r>
                <a:rPr lang="en-US" altLang="zh-CN" sz="2800" i="1" baseline="-25000" dirty="0">
                  <a:latin typeface="Times New Roman" panose="02020603050405020304" pitchFamily="18" charset="0"/>
                </a:rPr>
                <a:t>3</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2</a:t>
              </a:r>
              <a:r>
                <a:rPr lang="en-US" altLang="zh-CN" sz="2800" i="1" dirty="0">
                  <a:latin typeface="Times New Roman" panose="02020603050405020304" pitchFamily="18" charset="0"/>
                </a:rPr>
                <a:t>Y</a:t>
              </a:r>
              <a:r>
                <a:rPr lang="en-US" altLang="zh-CN" sz="2800" i="1" baseline="-25000" dirty="0">
                  <a:latin typeface="Times New Roman" panose="02020603050405020304" pitchFamily="18" charset="0"/>
                </a:rPr>
                <a:t>1</a:t>
              </a:r>
            </a:p>
          </p:txBody>
        </p:sp>
        <p:sp>
          <p:nvSpPr>
            <p:cNvPr id="102406" name="Line 39"/>
            <p:cNvSpPr/>
            <p:nvPr/>
          </p:nvSpPr>
          <p:spPr>
            <a:xfrm>
              <a:off x="3504" y="3132"/>
              <a:ext cx="108" cy="0"/>
            </a:xfrm>
            <a:prstGeom prst="line">
              <a:avLst/>
            </a:prstGeom>
            <a:ln w="38100" cap="flat" cmpd="sng">
              <a:solidFill>
                <a:schemeClr val="tx1"/>
              </a:solidFill>
              <a:prstDash val="solid"/>
              <a:headEnd type="none" w="med" len="med"/>
              <a:tailEnd type="none" w="sm" len="lg"/>
            </a:ln>
          </p:spPr>
        </p:sp>
        <p:sp>
          <p:nvSpPr>
            <p:cNvPr id="102407" name="Line 40"/>
            <p:cNvSpPr/>
            <p:nvPr/>
          </p:nvSpPr>
          <p:spPr>
            <a:xfrm>
              <a:off x="2824" y="3136"/>
              <a:ext cx="108" cy="0"/>
            </a:xfrm>
            <a:prstGeom prst="line">
              <a:avLst/>
            </a:prstGeom>
            <a:ln w="38100" cap="flat" cmpd="sng">
              <a:solidFill>
                <a:schemeClr val="tx1"/>
              </a:solidFill>
              <a:prstDash val="solid"/>
              <a:headEnd type="none" w="med" len="med"/>
              <a:tailEnd type="none" w="sm" len="lg"/>
            </a:ln>
          </p:spPr>
        </p:sp>
        <p:sp>
          <p:nvSpPr>
            <p:cNvPr id="102408" name="Line 41"/>
            <p:cNvSpPr/>
            <p:nvPr/>
          </p:nvSpPr>
          <p:spPr>
            <a:xfrm>
              <a:off x="2624" y="3140"/>
              <a:ext cx="108" cy="0"/>
            </a:xfrm>
            <a:prstGeom prst="line">
              <a:avLst/>
            </a:prstGeom>
            <a:ln w="38100" cap="flat" cmpd="sng">
              <a:solidFill>
                <a:schemeClr val="tx1"/>
              </a:solidFill>
              <a:prstDash val="solid"/>
              <a:headEnd type="none" w="med" len="med"/>
              <a:tailEnd type="none" w="sm" len="lg"/>
            </a:ln>
          </p:spPr>
        </p:sp>
        <p:sp>
          <p:nvSpPr>
            <p:cNvPr id="102409" name="Line 42"/>
            <p:cNvSpPr/>
            <p:nvPr/>
          </p:nvSpPr>
          <p:spPr>
            <a:xfrm>
              <a:off x="2292" y="3144"/>
              <a:ext cx="108" cy="0"/>
            </a:xfrm>
            <a:prstGeom prst="line">
              <a:avLst/>
            </a:prstGeom>
            <a:ln w="38100" cap="flat" cmpd="sng">
              <a:solidFill>
                <a:schemeClr val="tx1"/>
              </a:solidFill>
              <a:prstDash val="solid"/>
              <a:headEnd type="none" w="med" len="med"/>
              <a:tailEnd type="none" w="sm" len="lg"/>
            </a:ln>
          </p:spPr>
        </p:sp>
      </p:grpSp>
      <p:sp>
        <p:nvSpPr>
          <p:cNvPr id="307243" name="Text Box 43" descr="羊皮纸"/>
          <p:cNvSpPr txBox="1"/>
          <p:nvPr/>
        </p:nvSpPr>
        <p:spPr>
          <a:xfrm>
            <a:off x="720725" y="5510213"/>
            <a:ext cx="5514975" cy="519112"/>
          </a:xfrm>
          <a:prstGeom prst="rect">
            <a:avLst/>
          </a:prstGeom>
          <a:noFill/>
          <a:ln w="38100">
            <a:noFill/>
          </a:ln>
        </p:spPr>
        <p:txBody>
          <a:bodyPr wrap="none" lIns="90000" tIns="46800" rIns="90000" bIns="46800">
            <a:spAutoFit/>
          </a:bodyPr>
          <a:lstStyle/>
          <a:p>
            <a:r>
              <a:rPr lang="zh-CN" altLang="en-US" sz="2800" dirty="0">
                <a:latin typeface="Times New Roman" panose="02020603050405020304" pitchFamily="18" charset="0"/>
              </a:rPr>
              <a:t>修改后的画逻辑电路图：（略）。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07243"/>
                                        </p:tgtEl>
                                        <p:attrNameLst>
                                          <p:attrName>style.visibility</p:attrName>
                                        </p:attrNameLst>
                                      </p:cBhvr>
                                      <p:to>
                                        <p:strVal val="visible"/>
                                      </p:to>
                                    </p:set>
                                    <p:animEffect transition="in" filter="wipe(left)">
                                      <p:cBhvr>
                                        <p:cTn id="18" dur="500"/>
                                        <p:tgtEl>
                                          <p:spTgt spid="307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3" grpId="0"/>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8226" name="Group 2"/>
          <p:cNvGraphicFramePr>
            <a:graphicFrameLocks noGrp="1"/>
          </p:cNvGraphicFramePr>
          <p:nvPr/>
        </p:nvGraphicFramePr>
        <p:xfrm>
          <a:off x="490538" y="2144713"/>
          <a:ext cx="8255000" cy="4440238"/>
        </p:xfrm>
        <a:graphic>
          <a:graphicData uri="http://schemas.openxmlformats.org/drawingml/2006/table">
            <a:tbl>
              <a:tblPr/>
              <a:tblGrid>
                <a:gridCol w="3859212">
                  <a:extLst>
                    <a:ext uri="{9D8B030D-6E8A-4147-A177-3AD203B41FA5}">
                      <a16:colId xmlns:a16="http://schemas.microsoft.com/office/drawing/2014/main" val="20000"/>
                    </a:ext>
                  </a:extLst>
                </a:gridCol>
                <a:gridCol w="4395788">
                  <a:extLst>
                    <a:ext uri="{9D8B030D-6E8A-4147-A177-3AD203B41FA5}">
                      <a16:colId xmlns:a16="http://schemas.microsoft.com/office/drawing/2014/main" val="20001"/>
                    </a:ext>
                  </a:extLst>
                </a:gridCol>
              </a:tblGrid>
              <a:tr h="5984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horzOverflow="overflow">
                    <a:lnL cap="flat">
                      <a:noFill/>
                    </a:lnL>
                    <a:lnR w="12700" cap="flat" cmpd="sng" algn="ctr">
                      <a:solidFill>
                        <a:srgbClr val="3333FF"/>
                      </a:solidFill>
                      <a:prstDash val="solid"/>
                      <a:round/>
                      <a:headEnd type="none" w="med" len="med"/>
                      <a:tailEnd type="none" w="sm" len="lg"/>
                    </a:lnR>
                    <a:lnT w="38100" cap="flat" cmpd="sng" algn="ctr">
                      <a:solidFill>
                        <a:schemeClr val="tx1"/>
                      </a:solidFill>
                      <a:prstDash val="solid"/>
                      <a:round/>
                      <a:headEnd type="none" w="med" len="med"/>
                      <a:tailEnd type="none" w="sm" len="lg"/>
                    </a:lnT>
                    <a:lnB w="12700" cap="flat" cmpd="sng" algn="ctr">
                      <a:solidFill>
                        <a:srgbClr val="3333FF"/>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horzOverflow="overflow">
                    <a:lnL w="12700" cap="flat" cmpd="sng" algn="ctr">
                      <a:solidFill>
                        <a:srgbClr val="3333FF"/>
                      </a:solidFill>
                      <a:prstDash val="solid"/>
                      <a:round/>
                      <a:headEnd type="none" w="med" len="med"/>
                      <a:tailEnd type="none" w="sm" len="lg"/>
                    </a:lnL>
                    <a:lnR cap="flat">
                      <a:noFill/>
                    </a:lnR>
                    <a:lnT w="38100" cap="flat" cmpd="sng" algn="ctr">
                      <a:solidFill>
                        <a:schemeClr val="tx1"/>
                      </a:solidFill>
                      <a:prstDash val="solid"/>
                      <a:round/>
                      <a:headEnd type="none" w="med" len="med"/>
                      <a:tailEnd type="none" w="sm" len="lg"/>
                    </a:lnT>
                    <a:lnB w="12700" cap="flat" cmpd="sng" algn="ctr">
                      <a:solidFill>
                        <a:srgbClr val="3333FF"/>
                      </a:solidFill>
                      <a:prstDash val="solid"/>
                      <a:round/>
                      <a:headEnd type="none" w="med" len="med"/>
                      <a:tailEnd type="none" w="sm" len="lg"/>
                    </a:lnB>
                    <a:lnTlToBr>
                      <a:noFill/>
                    </a:lnTlToBr>
                    <a:lnBlToTr>
                      <a:noFill/>
                    </a:lnBlToTr>
                    <a:noFill/>
                  </a:tcPr>
                </a:tc>
                <a:extLst>
                  <a:ext uri="{0D108BD9-81ED-4DB2-BD59-A6C34878D82A}">
                    <a16:rowId xmlns:a16="http://schemas.microsoft.com/office/drawing/2014/main" val="10000"/>
                  </a:ext>
                </a:extLst>
              </a:tr>
              <a:tr h="384174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0      0      0      0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0      0      0      1</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0      0      1      0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0      0      1      1</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0      1      0      0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0      1      0      1</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0      1      1      0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0      1      1      1</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1      0      0      0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1      0      0      1</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cap="flat">
                      <a:noFill/>
                    </a:lnL>
                    <a:lnR w="12700" cap="flat" cmpd="sng" algn="ctr">
                      <a:solidFill>
                        <a:srgbClr val="3333FF"/>
                      </a:solidFill>
                      <a:prstDash val="solid"/>
                      <a:round/>
                      <a:headEnd type="none" w="med" len="med"/>
                      <a:tailEnd type="none" w="sm" len="lg"/>
                    </a:lnR>
                    <a:lnT w="12700" cap="flat" cmpd="sng" algn="ctr">
                      <a:solidFill>
                        <a:srgbClr val="3333FF"/>
                      </a:solidFill>
                      <a:prstDash val="solid"/>
                      <a:round/>
                      <a:headEnd type="none" w="med" len="med"/>
                      <a:tailEnd type="none" w="sm" len="lg"/>
                    </a:lnT>
                    <a:lnB w="381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0      0      0      1</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0      0      1      0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0      0      1      1</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0      1      0      0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0      1      0      1</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0      1      1      0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0      1      1      1</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1      0      0      0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1      0      0      1</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0      0      0      0</a:t>
                      </a:r>
                      <a:endPar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3333FF"/>
                      </a:solidFill>
                      <a:prstDash val="solid"/>
                      <a:round/>
                      <a:headEnd type="none" w="med" len="med"/>
                      <a:tailEnd type="none" w="sm" len="lg"/>
                    </a:lnL>
                    <a:lnR cap="flat">
                      <a:noFill/>
                    </a:lnR>
                    <a:lnT w="12700" cap="flat" cmpd="sng" algn="ctr">
                      <a:solidFill>
                        <a:srgbClr val="3333FF"/>
                      </a:solidFill>
                      <a:prstDash val="solid"/>
                      <a:round/>
                      <a:headEnd type="none" w="med" len="med"/>
                      <a:tailEnd type="none" w="sm" len="lg"/>
                    </a:lnT>
                    <a:lnB w="38100" cap="flat" cmpd="sng" algn="ctr">
                      <a:solidFill>
                        <a:schemeClr val="tx1"/>
                      </a:solidFill>
                      <a:prstDash val="solid"/>
                      <a:round/>
                      <a:headEnd type="none" w="med" len="med"/>
                      <a:tailEnd type="none" w="sm" len="lg"/>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139" name="Rectangle 15" descr="羊皮纸"/>
          <p:cNvSpPr/>
          <p:nvPr/>
        </p:nvSpPr>
        <p:spPr>
          <a:xfrm>
            <a:off x="298450" y="795338"/>
            <a:ext cx="8628063" cy="519112"/>
          </a:xfrm>
          <a:prstGeom prst="rect">
            <a:avLst/>
          </a:prstGeom>
          <a:noFill/>
          <a:ln w="38100">
            <a:noFill/>
          </a:ln>
        </p:spPr>
        <p:txBody>
          <a:bodyPr wrap="none" lIns="90000" tIns="46800" rIns="90000" bIns="46800" anchor="ctr" anchorCtr="0">
            <a:spAutoFit/>
          </a:bodyPr>
          <a:lstStyle/>
          <a:p>
            <a:r>
              <a:rPr lang="zh-CN" altLang="en-US" sz="2800" b="1" dirty="0">
                <a:latin typeface="Times New Roman" panose="02020603050405020304" pitchFamily="18" charset="0"/>
              </a:rPr>
              <a:t>例</a:t>
            </a:r>
            <a:r>
              <a:rPr lang="en-US" altLang="zh-CN" sz="2800" b="1" dirty="0">
                <a:latin typeface="Times New Roman" panose="02020603050405020304" pitchFamily="18" charset="0"/>
              </a:rPr>
              <a:t>:</a:t>
            </a:r>
            <a:r>
              <a:rPr lang="en-US" altLang="zh-CN" sz="2800" dirty="0">
                <a:latin typeface="Times New Roman" panose="02020603050405020304" pitchFamily="18" charset="0"/>
              </a:rPr>
              <a:t> </a:t>
            </a:r>
            <a:r>
              <a:rPr lang="zh-CN" altLang="en-US" sz="2800" dirty="0">
                <a:latin typeface="Times New Roman" panose="02020603050405020304" pitchFamily="18" charset="0"/>
              </a:rPr>
              <a:t>用</a:t>
            </a:r>
            <a:r>
              <a:rPr lang="en-US" altLang="zh-CN" sz="2800" dirty="0">
                <a:latin typeface="Times New Roman" panose="02020603050405020304" pitchFamily="18" charset="0"/>
              </a:rPr>
              <a:t>JK</a:t>
            </a:r>
            <a:r>
              <a:rPr lang="zh-CN" altLang="en-US" sz="2800" dirty="0">
                <a:latin typeface="Times New Roman" panose="02020603050405020304" pitchFamily="18" charset="0"/>
              </a:rPr>
              <a:t>触发器，设计一个</a:t>
            </a:r>
            <a:r>
              <a:rPr lang="en-US" altLang="zh-CN" sz="2800" dirty="0">
                <a:latin typeface="Times New Roman" panose="02020603050405020304" pitchFamily="18" charset="0"/>
              </a:rPr>
              <a:t>8421BCD</a:t>
            </a:r>
            <a:r>
              <a:rPr lang="zh-CN" altLang="en-US" sz="2800" dirty="0">
                <a:latin typeface="Times New Roman" panose="02020603050405020304" pitchFamily="18" charset="0"/>
              </a:rPr>
              <a:t>码十进制计数器。</a:t>
            </a:r>
          </a:p>
        </p:txBody>
      </p:sp>
      <p:sp>
        <p:nvSpPr>
          <p:cNvPr id="308240" name="Rectangle 16" descr="羊皮纸"/>
          <p:cNvSpPr/>
          <p:nvPr/>
        </p:nvSpPr>
        <p:spPr>
          <a:xfrm>
            <a:off x="614363" y="1458913"/>
            <a:ext cx="6851650" cy="519112"/>
          </a:xfrm>
          <a:prstGeom prst="rect">
            <a:avLst/>
          </a:prstGeom>
          <a:noFill/>
          <a:ln w="38100">
            <a:noFill/>
          </a:ln>
        </p:spPr>
        <p:txBody>
          <a:bodyPr wrap="none" lIns="90000" tIns="46800" rIns="90000" bIns="46800" anchor="ctr" anchorCtr="0">
            <a:spAutoFit/>
          </a:bodyPr>
          <a:lstStyle/>
          <a:p>
            <a:r>
              <a:rPr lang="zh-CN" altLang="en-US" sz="2800" b="1" dirty="0">
                <a:latin typeface="Times New Roman" panose="02020603050405020304" pitchFamily="18" charset="0"/>
              </a:rPr>
              <a:t>解：</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）建立原始状态图和原始状态表。 </a:t>
            </a:r>
          </a:p>
        </p:txBody>
      </p:sp>
      <p:graphicFrame>
        <p:nvGraphicFramePr>
          <p:cNvPr id="308241" name="Object 17"/>
          <p:cNvGraphicFramePr>
            <a:graphicFrameLocks noChangeAspect="1"/>
          </p:cNvGraphicFramePr>
          <p:nvPr/>
        </p:nvGraphicFramePr>
        <p:xfrm>
          <a:off x="1373188" y="2263775"/>
          <a:ext cx="327025" cy="395288"/>
        </p:xfrm>
        <a:graphic>
          <a:graphicData uri="http://schemas.openxmlformats.org/presentationml/2006/ole">
            <mc:AlternateContent xmlns:mc="http://schemas.openxmlformats.org/markup-compatibility/2006">
              <mc:Choice xmlns:v="urn:schemas-microsoft-com:vml" Requires="v">
                <p:oleObj r:id="rId2" imgW="177800" imgH="215900" progId="Equation.3">
                  <p:embed/>
                </p:oleObj>
              </mc:Choice>
              <mc:Fallback>
                <p:oleObj r:id="rId2" imgW="177800" imgH="215900" progId="Equation.3">
                  <p:embed/>
                  <p:pic>
                    <p:nvPicPr>
                      <p:cNvPr id="0" name="图片 3086"/>
                      <p:cNvPicPr/>
                      <p:nvPr/>
                    </p:nvPicPr>
                    <p:blipFill>
                      <a:blip r:embed="rId3"/>
                      <a:stretch>
                        <a:fillRect/>
                      </a:stretch>
                    </p:blipFill>
                    <p:spPr>
                      <a:xfrm>
                        <a:off x="1373188" y="2263775"/>
                        <a:ext cx="327025" cy="395288"/>
                      </a:xfrm>
                      <a:prstGeom prst="rect">
                        <a:avLst/>
                      </a:prstGeom>
                      <a:noFill/>
                      <a:ln w="38100">
                        <a:noFill/>
                        <a:miter/>
                      </a:ln>
                    </p:spPr>
                  </p:pic>
                </p:oleObj>
              </mc:Fallback>
            </mc:AlternateContent>
          </a:graphicData>
        </a:graphic>
      </p:graphicFrame>
      <p:graphicFrame>
        <p:nvGraphicFramePr>
          <p:cNvPr id="308242" name="Object 18"/>
          <p:cNvGraphicFramePr>
            <a:graphicFrameLocks noChangeAspect="1"/>
          </p:cNvGraphicFramePr>
          <p:nvPr/>
        </p:nvGraphicFramePr>
        <p:xfrm>
          <a:off x="2003425" y="2220913"/>
          <a:ext cx="315913" cy="439737"/>
        </p:xfrm>
        <a:graphic>
          <a:graphicData uri="http://schemas.openxmlformats.org/presentationml/2006/ole">
            <mc:AlternateContent xmlns:mc="http://schemas.openxmlformats.org/markup-compatibility/2006">
              <mc:Choice xmlns:v="urn:schemas-microsoft-com:vml" Requires="v">
                <p:oleObj r:id="rId4" imgW="177800" imgH="215900" progId="Equation.3">
                  <p:embed/>
                </p:oleObj>
              </mc:Choice>
              <mc:Fallback>
                <p:oleObj r:id="rId4" imgW="177800" imgH="215900" progId="Equation.3">
                  <p:embed/>
                  <p:pic>
                    <p:nvPicPr>
                      <p:cNvPr id="0" name="图片 3085"/>
                      <p:cNvPicPr/>
                      <p:nvPr/>
                    </p:nvPicPr>
                    <p:blipFill>
                      <a:blip r:embed="rId5"/>
                      <a:stretch>
                        <a:fillRect/>
                      </a:stretch>
                    </p:blipFill>
                    <p:spPr>
                      <a:xfrm>
                        <a:off x="2003425" y="2220913"/>
                        <a:ext cx="315913" cy="439737"/>
                      </a:xfrm>
                      <a:prstGeom prst="rect">
                        <a:avLst/>
                      </a:prstGeom>
                      <a:noFill/>
                      <a:ln w="38100">
                        <a:noFill/>
                        <a:miter/>
                      </a:ln>
                    </p:spPr>
                  </p:pic>
                </p:oleObj>
              </mc:Fallback>
            </mc:AlternateContent>
          </a:graphicData>
        </a:graphic>
      </p:graphicFrame>
      <p:graphicFrame>
        <p:nvGraphicFramePr>
          <p:cNvPr id="308243" name="Object 19"/>
          <p:cNvGraphicFramePr>
            <a:graphicFrameLocks noChangeAspect="1"/>
          </p:cNvGraphicFramePr>
          <p:nvPr/>
        </p:nvGraphicFramePr>
        <p:xfrm>
          <a:off x="2611438" y="2235200"/>
          <a:ext cx="328612" cy="427038"/>
        </p:xfrm>
        <a:graphic>
          <a:graphicData uri="http://schemas.openxmlformats.org/presentationml/2006/ole">
            <mc:AlternateContent xmlns:mc="http://schemas.openxmlformats.org/markup-compatibility/2006">
              <mc:Choice xmlns:v="urn:schemas-microsoft-com:vml" Requires="v">
                <p:oleObj r:id="rId6" imgW="177800" imgH="215900" progId="Equation.3">
                  <p:embed/>
                </p:oleObj>
              </mc:Choice>
              <mc:Fallback>
                <p:oleObj r:id="rId6" imgW="177800" imgH="215900" progId="Equation.3">
                  <p:embed/>
                  <p:pic>
                    <p:nvPicPr>
                      <p:cNvPr id="0" name="图片 3089"/>
                      <p:cNvPicPr/>
                      <p:nvPr/>
                    </p:nvPicPr>
                    <p:blipFill>
                      <a:blip r:embed="rId7"/>
                      <a:stretch>
                        <a:fillRect/>
                      </a:stretch>
                    </p:blipFill>
                    <p:spPr>
                      <a:xfrm>
                        <a:off x="2611438" y="2235200"/>
                        <a:ext cx="328612" cy="427038"/>
                      </a:xfrm>
                      <a:prstGeom prst="rect">
                        <a:avLst/>
                      </a:prstGeom>
                      <a:noFill/>
                      <a:ln w="38100">
                        <a:noFill/>
                        <a:miter/>
                      </a:ln>
                    </p:spPr>
                  </p:pic>
                </p:oleObj>
              </mc:Fallback>
            </mc:AlternateContent>
          </a:graphicData>
        </a:graphic>
      </p:graphicFrame>
      <p:graphicFrame>
        <p:nvGraphicFramePr>
          <p:cNvPr id="308244" name="Object 20"/>
          <p:cNvGraphicFramePr>
            <a:graphicFrameLocks noChangeAspect="1"/>
          </p:cNvGraphicFramePr>
          <p:nvPr/>
        </p:nvGraphicFramePr>
        <p:xfrm>
          <a:off x="3130550" y="2249488"/>
          <a:ext cx="349250" cy="423862"/>
        </p:xfrm>
        <a:graphic>
          <a:graphicData uri="http://schemas.openxmlformats.org/presentationml/2006/ole">
            <mc:AlternateContent xmlns:mc="http://schemas.openxmlformats.org/markup-compatibility/2006">
              <mc:Choice xmlns:v="urn:schemas-microsoft-com:vml" Requires="v">
                <p:oleObj r:id="rId8" imgW="177800" imgH="215900" progId="Equation.3">
                  <p:embed/>
                </p:oleObj>
              </mc:Choice>
              <mc:Fallback>
                <p:oleObj r:id="rId8" imgW="177800" imgH="215900" progId="Equation.3">
                  <p:embed/>
                  <p:pic>
                    <p:nvPicPr>
                      <p:cNvPr id="0" name="图片 3082"/>
                      <p:cNvPicPr/>
                      <p:nvPr/>
                    </p:nvPicPr>
                    <p:blipFill>
                      <a:blip r:embed="rId9"/>
                      <a:stretch>
                        <a:fillRect/>
                      </a:stretch>
                    </p:blipFill>
                    <p:spPr>
                      <a:xfrm>
                        <a:off x="3130550" y="2249488"/>
                        <a:ext cx="349250" cy="423862"/>
                      </a:xfrm>
                      <a:prstGeom prst="rect">
                        <a:avLst/>
                      </a:prstGeom>
                      <a:noFill/>
                      <a:ln w="38100">
                        <a:noFill/>
                        <a:miter/>
                      </a:ln>
                    </p:spPr>
                  </p:pic>
                </p:oleObj>
              </mc:Fallback>
            </mc:AlternateContent>
          </a:graphicData>
        </a:graphic>
      </p:graphicFrame>
      <p:graphicFrame>
        <p:nvGraphicFramePr>
          <p:cNvPr id="308245" name="Object 21"/>
          <p:cNvGraphicFramePr>
            <a:graphicFrameLocks noChangeAspect="1"/>
          </p:cNvGraphicFramePr>
          <p:nvPr/>
        </p:nvGraphicFramePr>
        <p:xfrm>
          <a:off x="5461000" y="2206625"/>
          <a:ext cx="465138" cy="382588"/>
        </p:xfrm>
        <a:graphic>
          <a:graphicData uri="http://schemas.openxmlformats.org/presentationml/2006/ole">
            <mc:AlternateContent xmlns:mc="http://schemas.openxmlformats.org/markup-compatibility/2006">
              <mc:Choice xmlns:v="urn:schemas-microsoft-com:vml" Requires="v">
                <p:oleObj r:id="rId10" imgW="266065" imgH="215900" progId="Equation.3">
                  <p:embed/>
                </p:oleObj>
              </mc:Choice>
              <mc:Fallback>
                <p:oleObj r:id="rId10" imgW="266065" imgH="215900" progId="Equation.3">
                  <p:embed/>
                  <p:pic>
                    <p:nvPicPr>
                      <p:cNvPr id="0" name="图片 3087"/>
                      <p:cNvPicPr/>
                      <p:nvPr/>
                    </p:nvPicPr>
                    <p:blipFill>
                      <a:blip r:embed="rId11"/>
                      <a:stretch>
                        <a:fillRect/>
                      </a:stretch>
                    </p:blipFill>
                    <p:spPr>
                      <a:xfrm>
                        <a:off x="5461000" y="2206625"/>
                        <a:ext cx="465138" cy="382588"/>
                      </a:xfrm>
                      <a:prstGeom prst="rect">
                        <a:avLst/>
                      </a:prstGeom>
                      <a:noFill/>
                      <a:ln w="38100">
                        <a:noFill/>
                        <a:miter/>
                      </a:ln>
                    </p:spPr>
                  </p:pic>
                </p:oleObj>
              </mc:Fallback>
            </mc:AlternateContent>
          </a:graphicData>
        </a:graphic>
      </p:graphicFrame>
      <p:graphicFrame>
        <p:nvGraphicFramePr>
          <p:cNvPr id="308246" name="Object 22"/>
          <p:cNvGraphicFramePr>
            <a:graphicFrameLocks noChangeAspect="1"/>
          </p:cNvGraphicFramePr>
          <p:nvPr/>
        </p:nvGraphicFramePr>
        <p:xfrm>
          <a:off x="6080125" y="2222500"/>
          <a:ext cx="463550" cy="381000"/>
        </p:xfrm>
        <a:graphic>
          <a:graphicData uri="http://schemas.openxmlformats.org/presentationml/2006/ole">
            <mc:AlternateContent xmlns:mc="http://schemas.openxmlformats.org/markup-compatibility/2006">
              <mc:Choice xmlns:v="urn:schemas-microsoft-com:vml" Requires="v">
                <p:oleObj r:id="rId12" imgW="266065" imgH="215900" progId="Equation.3">
                  <p:embed/>
                </p:oleObj>
              </mc:Choice>
              <mc:Fallback>
                <p:oleObj r:id="rId12" imgW="266065" imgH="215900" progId="Equation.3">
                  <p:embed/>
                  <p:pic>
                    <p:nvPicPr>
                      <p:cNvPr id="0" name="图片 3083"/>
                      <p:cNvPicPr/>
                      <p:nvPr/>
                    </p:nvPicPr>
                    <p:blipFill>
                      <a:blip r:embed="rId13"/>
                      <a:stretch>
                        <a:fillRect/>
                      </a:stretch>
                    </p:blipFill>
                    <p:spPr>
                      <a:xfrm>
                        <a:off x="6080125" y="2222500"/>
                        <a:ext cx="463550" cy="381000"/>
                      </a:xfrm>
                      <a:prstGeom prst="rect">
                        <a:avLst/>
                      </a:prstGeom>
                      <a:noFill/>
                      <a:ln w="38100">
                        <a:noFill/>
                        <a:miter/>
                      </a:ln>
                    </p:spPr>
                  </p:pic>
                </p:oleObj>
              </mc:Fallback>
            </mc:AlternateContent>
          </a:graphicData>
        </a:graphic>
      </p:graphicFrame>
      <p:graphicFrame>
        <p:nvGraphicFramePr>
          <p:cNvPr id="308247" name="Object 23"/>
          <p:cNvGraphicFramePr>
            <a:graphicFrameLocks noChangeAspect="1"/>
          </p:cNvGraphicFramePr>
          <p:nvPr/>
        </p:nvGraphicFramePr>
        <p:xfrm>
          <a:off x="6697663" y="2224088"/>
          <a:ext cx="465137" cy="423862"/>
        </p:xfrm>
        <a:graphic>
          <a:graphicData uri="http://schemas.openxmlformats.org/presentationml/2006/ole">
            <mc:AlternateContent xmlns:mc="http://schemas.openxmlformats.org/markup-compatibility/2006">
              <mc:Choice xmlns:v="urn:schemas-microsoft-com:vml" Requires="v">
                <p:oleObj r:id="rId14" imgW="266065" imgH="215900" progId="Equation.3">
                  <p:embed/>
                </p:oleObj>
              </mc:Choice>
              <mc:Fallback>
                <p:oleObj r:id="rId14" imgW="266065" imgH="215900" progId="Equation.3">
                  <p:embed/>
                  <p:pic>
                    <p:nvPicPr>
                      <p:cNvPr id="0" name="图片 3088"/>
                      <p:cNvPicPr/>
                      <p:nvPr/>
                    </p:nvPicPr>
                    <p:blipFill>
                      <a:blip r:embed="rId15"/>
                      <a:stretch>
                        <a:fillRect/>
                      </a:stretch>
                    </p:blipFill>
                    <p:spPr>
                      <a:xfrm>
                        <a:off x="6697663" y="2224088"/>
                        <a:ext cx="465137" cy="423862"/>
                      </a:xfrm>
                      <a:prstGeom prst="rect">
                        <a:avLst/>
                      </a:prstGeom>
                      <a:noFill/>
                      <a:ln w="38100">
                        <a:noFill/>
                        <a:miter/>
                      </a:ln>
                    </p:spPr>
                  </p:pic>
                </p:oleObj>
              </mc:Fallback>
            </mc:AlternateContent>
          </a:graphicData>
        </a:graphic>
      </p:graphicFrame>
      <p:graphicFrame>
        <p:nvGraphicFramePr>
          <p:cNvPr id="308248" name="Object 24"/>
          <p:cNvGraphicFramePr>
            <a:graphicFrameLocks noChangeAspect="1"/>
          </p:cNvGraphicFramePr>
          <p:nvPr/>
        </p:nvGraphicFramePr>
        <p:xfrm>
          <a:off x="7302500" y="2219325"/>
          <a:ext cx="482600" cy="396875"/>
        </p:xfrm>
        <a:graphic>
          <a:graphicData uri="http://schemas.openxmlformats.org/presentationml/2006/ole">
            <mc:AlternateContent xmlns:mc="http://schemas.openxmlformats.org/markup-compatibility/2006">
              <mc:Choice xmlns:v="urn:schemas-microsoft-com:vml" Requires="v">
                <p:oleObj r:id="rId16" imgW="266065" imgH="215900" progId="Equation.3">
                  <p:embed/>
                </p:oleObj>
              </mc:Choice>
              <mc:Fallback>
                <p:oleObj r:id="rId16" imgW="266065" imgH="215900" progId="Equation.3">
                  <p:embed/>
                  <p:pic>
                    <p:nvPicPr>
                      <p:cNvPr id="0" name="图片 3084"/>
                      <p:cNvPicPr/>
                      <p:nvPr/>
                    </p:nvPicPr>
                    <p:blipFill>
                      <a:blip r:embed="rId17"/>
                      <a:stretch>
                        <a:fillRect/>
                      </a:stretch>
                    </p:blipFill>
                    <p:spPr>
                      <a:xfrm>
                        <a:off x="7302500" y="2219325"/>
                        <a:ext cx="482600" cy="396875"/>
                      </a:xfrm>
                      <a:prstGeom prst="rect">
                        <a:avLst/>
                      </a:prstGeom>
                      <a:noFill/>
                      <a:ln w="38100">
                        <a:noFill/>
                        <a:miter/>
                      </a:ln>
                    </p:spPr>
                  </p:pic>
                </p:oleObj>
              </mc:Fallback>
            </mc:AlternateContent>
          </a:graphicData>
        </a:graphic>
      </p:graphicFrame>
      <p:sp>
        <p:nvSpPr>
          <p:cNvPr id="308249" name="Rectangle 25" descr="羊皮纸"/>
          <p:cNvSpPr/>
          <p:nvPr/>
        </p:nvSpPr>
        <p:spPr>
          <a:xfrm>
            <a:off x="2082800" y="2327275"/>
            <a:ext cx="295275" cy="228600"/>
          </a:xfrm>
          <a:prstGeom prst="rect">
            <a:avLst/>
          </a:prstGeom>
          <a:noFill/>
          <a:ln w="38100">
            <a:noFill/>
          </a:ln>
        </p:spPr>
        <p:txBody>
          <a:bodyPr wrap="none" lIns="90000" tIns="46800" rIns="90000" bIns="46800" anchor="ctr" anchorCtr="0">
            <a:spAutoFit/>
          </a:bodyPr>
          <a:lstStyle/>
          <a:p>
            <a:pPr algn="ctr"/>
            <a:r>
              <a:rPr lang="en-US" altLang="zh-CN" sz="900" dirty="0">
                <a:solidFill>
                  <a:srgbClr val="000000"/>
                </a:solidFill>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82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824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824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824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824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824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824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824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824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824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82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40" grpId="0"/>
      <p:bldP spid="308249" grpId="0"/>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426" name="表格 103425"/>
          <p:cNvGraphicFramePr/>
          <p:nvPr/>
        </p:nvGraphicFramePr>
        <p:xfrm>
          <a:off x="5149850" y="3935413"/>
          <a:ext cx="2573338" cy="1992313"/>
        </p:xfrm>
        <a:graphic>
          <a:graphicData uri="http://schemas.openxmlformats.org/drawingml/2006/table">
            <a:tbl>
              <a:tblPr/>
              <a:tblGrid>
                <a:gridCol w="514350">
                  <a:extLst>
                    <a:ext uri="{9D8B030D-6E8A-4147-A177-3AD203B41FA5}">
                      <a16:colId xmlns:a16="http://schemas.microsoft.com/office/drawing/2014/main" val="20000"/>
                    </a:ext>
                  </a:extLst>
                </a:gridCol>
                <a:gridCol w="515938">
                  <a:extLst>
                    <a:ext uri="{9D8B030D-6E8A-4147-A177-3AD203B41FA5}">
                      <a16:colId xmlns:a16="http://schemas.microsoft.com/office/drawing/2014/main" val="20001"/>
                    </a:ext>
                  </a:extLst>
                </a:gridCol>
                <a:gridCol w="512762">
                  <a:extLst>
                    <a:ext uri="{9D8B030D-6E8A-4147-A177-3AD203B41FA5}">
                      <a16:colId xmlns:a16="http://schemas.microsoft.com/office/drawing/2014/main" val="20002"/>
                    </a:ext>
                  </a:extLst>
                </a:gridCol>
                <a:gridCol w="515938">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03463" name="表格 103462"/>
          <p:cNvGraphicFramePr/>
          <p:nvPr/>
        </p:nvGraphicFramePr>
        <p:xfrm>
          <a:off x="985838" y="3962400"/>
          <a:ext cx="2573338" cy="1992313"/>
        </p:xfrm>
        <a:graphic>
          <a:graphicData uri="http://schemas.openxmlformats.org/drawingml/2006/table">
            <a:tbl>
              <a:tblPr/>
              <a:tblGrid>
                <a:gridCol w="514350">
                  <a:extLst>
                    <a:ext uri="{9D8B030D-6E8A-4147-A177-3AD203B41FA5}">
                      <a16:colId xmlns:a16="http://schemas.microsoft.com/office/drawing/2014/main" val="20000"/>
                    </a:ext>
                  </a:extLst>
                </a:gridCol>
                <a:gridCol w="515938">
                  <a:extLst>
                    <a:ext uri="{9D8B030D-6E8A-4147-A177-3AD203B41FA5}">
                      <a16:colId xmlns:a16="http://schemas.microsoft.com/office/drawing/2014/main" val="20001"/>
                    </a:ext>
                  </a:extLst>
                </a:gridCol>
                <a:gridCol w="512762">
                  <a:extLst>
                    <a:ext uri="{9D8B030D-6E8A-4147-A177-3AD203B41FA5}">
                      <a16:colId xmlns:a16="http://schemas.microsoft.com/office/drawing/2014/main" val="20002"/>
                    </a:ext>
                  </a:extLst>
                </a:gridCol>
                <a:gridCol w="515938">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03500" name="表格 103499"/>
          <p:cNvGraphicFramePr/>
          <p:nvPr/>
        </p:nvGraphicFramePr>
        <p:xfrm>
          <a:off x="5122863" y="1276350"/>
          <a:ext cx="2573338" cy="1992313"/>
        </p:xfrm>
        <a:graphic>
          <a:graphicData uri="http://schemas.openxmlformats.org/drawingml/2006/table">
            <a:tbl>
              <a:tblPr/>
              <a:tblGrid>
                <a:gridCol w="514350">
                  <a:extLst>
                    <a:ext uri="{9D8B030D-6E8A-4147-A177-3AD203B41FA5}">
                      <a16:colId xmlns:a16="http://schemas.microsoft.com/office/drawing/2014/main" val="20000"/>
                    </a:ext>
                  </a:extLst>
                </a:gridCol>
                <a:gridCol w="515938">
                  <a:extLst>
                    <a:ext uri="{9D8B030D-6E8A-4147-A177-3AD203B41FA5}">
                      <a16:colId xmlns:a16="http://schemas.microsoft.com/office/drawing/2014/main" val="20001"/>
                    </a:ext>
                  </a:extLst>
                </a:gridCol>
                <a:gridCol w="512762">
                  <a:extLst>
                    <a:ext uri="{9D8B030D-6E8A-4147-A177-3AD203B41FA5}">
                      <a16:colId xmlns:a16="http://schemas.microsoft.com/office/drawing/2014/main" val="20002"/>
                    </a:ext>
                  </a:extLst>
                </a:gridCol>
                <a:gridCol w="515938">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3537" name="Oval 149" descr="羊皮纸"/>
          <p:cNvSpPr/>
          <p:nvPr/>
        </p:nvSpPr>
        <p:spPr>
          <a:xfrm>
            <a:off x="1874838" y="2403475"/>
            <a:ext cx="393700" cy="366713"/>
          </a:xfrm>
          <a:prstGeom prst="ellipse">
            <a:avLst/>
          </a:prstGeom>
          <a:blipFill rotWithShape="1">
            <a:blip r:embed="rId2"/>
          </a:blip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3538" name="Rectangle 150" descr="羊皮纸"/>
          <p:cNvSpPr/>
          <p:nvPr/>
        </p:nvSpPr>
        <p:spPr>
          <a:xfrm>
            <a:off x="1698625" y="461963"/>
            <a:ext cx="5070475" cy="519112"/>
          </a:xfrm>
          <a:prstGeom prst="rect">
            <a:avLst/>
          </a:prstGeom>
          <a:noFill/>
          <a:ln w="38100">
            <a:noFill/>
          </a:ln>
        </p:spPr>
        <p:txBody>
          <a:bodyPr wrap="none" lIns="90000" tIns="46800" rIns="90000" bIns="46800" anchor="ctr" anchorCtr="0">
            <a:spAutoFit/>
          </a:bodyPr>
          <a:lstStyle/>
          <a:p>
            <a:r>
              <a:rPr lang="zh-CN" altLang="en-US" sz="2800" dirty="0">
                <a:latin typeface="Times New Roman" panose="02020603050405020304" pitchFamily="18" charset="0"/>
              </a:rPr>
              <a:t>（</a:t>
            </a:r>
            <a:r>
              <a:rPr lang="en-US" altLang="zh-CN" sz="2800" dirty="0">
                <a:latin typeface="Times New Roman" panose="02020603050405020304" pitchFamily="18" charset="0"/>
              </a:rPr>
              <a:t>2</a:t>
            </a:r>
            <a:r>
              <a:rPr lang="zh-CN" altLang="en-US" sz="2800" dirty="0">
                <a:latin typeface="Times New Roman" panose="02020603050405020304" pitchFamily="18" charset="0"/>
              </a:rPr>
              <a:t>）求输出函数和激励函数。 </a:t>
            </a:r>
          </a:p>
        </p:txBody>
      </p:sp>
      <p:sp>
        <p:nvSpPr>
          <p:cNvPr id="103539" name="Rectangle 151" descr="羊皮纸"/>
          <p:cNvSpPr/>
          <p:nvPr/>
        </p:nvSpPr>
        <p:spPr>
          <a:xfrm>
            <a:off x="3840163" y="962025"/>
            <a:ext cx="307975" cy="244475"/>
          </a:xfrm>
          <a:prstGeom prst="rect">
            <a:avLst/>
          </a:prstGeom>
          <a:noFill/>
          <a:ln w="38100">
            <a:noFill/>
          </a:ln>
        </p:spPr>
        <p:txBody>
          <a:bodyPr wrap="none" lIns="90000" tIns="46800" rIns="90000" bIns="46800">
            <a:spAutoFit/>
          </a:bodyPr>
          <a:lstStyle/>
          <a:p>
            <a:pPr algn="just"/>
            <a:r>
              <a:rPr lang="en-US" altLang="zh-CN" sz="10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03540" name="Rectangle 152" descr="羊皮纸"/>
          <p:cNvSpPr/>
          <p:nvPr/>
        </p:nvSpPr>
        <p:spPr>
          <a:xfrm>
            <a:off x="3840163" y="962025"/>
            <a:ext cx="438150" cy="228600"/>
          </a:xfrm>
          <a:prstGeom prst="rect">
            <a:avLst/>
          </a:prstGeom>
          <a:noFill/>
          <a:ln w="38100">
            <a:noFill/>
          </a:ln>
        </p:spPr>
        <p:txBody>
          <a:bodyPr wrap="none" lIns="90000" tIns="46800" rIns="90000" bIns="46800">
            <a:spAutoFit/>
          </a:bodyPr>
          <a:lstStyle/>
          <a:p>
            <a:pPr algn="just"/>
            <a:r>
              <a:rPr lang="en-US" altLang="zh-CN" sz="900" dirty="0">
                <a:latin typeface="Times New Roman" panose="02020603050405020304" pitchFamily="18" charset="0"/>
              </a:rPr>
              <a:t>         </a:t>
            </a:r>
            <a:endParaRPr lang="en-US" altLang="zh-CN" sz="2400" dirty="0">
              <a:latin typeface="Times New Roman" panose="02020603050405020304" pitchFamily="18" charset="0"/>
            </a:endParaRPr>
          </a:p>
        </p:txBody>
      </p:sp>
      <p:graphicFrame>
        <p:nvGraphicFramePr>
          <p:cNvPr id="103541" name="内容占位符 103540"/>
          <p:cNvGraphicFramePr>
            <a:graphicFrameLocks noGrp="1"/>
          </p:cNvGraphicFramePr>
          <p:nvPr>
            <p:ph/>
          </p:nvPr>
        </p:nvGraphicFramePr>
        <p:xfrm>
          <a:off x="784225" y="1200150"/>
          <a:ext cx="2573338" cy="1992313"/>
        </p:xfrm>
        <a:graphic>
          <a:graphicData uri="http://schemas.openxmlformats.org/drawingml/2006/table">
            <a:tbl>
              <a:tblPr/>
              <a:tblGrid>
                <a:gridCol w="514350">
                  <a:extLst>
                    <a:ext uri="{9D8B030D-6E8A-4147-A177-3AD203B41FA5}">
                      <a16:colId xmlns:a16="http://schemas.microsoft.com/office/drawing/2014/main" val="20000"/>
                    </a:ext>
                  </a:extLst>
                </a:gridCol>
                <a:gridCol w="515938">
                  <a:extLst>
                    <a:ext uri="{9D8B030D-6E8A-4147-A177-3AD203B41FA5}">
                      <a16:colId xmlns:a16="http://schemas.microsoft.com/office/drawing/2014/main" val="20001"/>
                    </a:ext>
                  </a:extLst>
                </a:gridCol>
                <a:gridCol w="512762">
                  <a:extLst>
                    <a:ext uri="{9D8B030D-6E8A-4147-A177-3AD203B41FA5}">
                      <a16:colId xmlns:a16="http://schemas.microsoft.com/office/drawing/2014/main" val="20002"/>
                    </a:ext>
                  </a:extLst>
                </a:gridCol>
                <a:gridCol w="515938">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3578" name="Text Box 202" descr="羊皮纸"/>
          <p:cNvSpPr txBox="1"/>
          <p:nvPr/>
        </p:nvSpPr>
        <p:spPr>
          <a:xfrm>
            <a:off x="785813" y="942975"/>
            <a:ext cx="714375" cy="396875"/>
          </a:xfrm>
          <a:prstGeom prst="rect">
            <a:avLst/>
          </a:prstGeom>
          <a:noFill/>
          <a:ln w="38100">
            <a:noFill/>
          </a:ln>
        </p:spPr>
        <p:txBody>
          <a:bodyPr wrap="none" lIns="90000" tIns="46800" rIns="90000" bIns="46800">
            <a:spAutoFit/>
          </a:bodyPr>
          <a:lstStyle/>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p>
        </p:txBody>
      </p:sp>
      <p:sp>
        <p:nvSpPr>
          <p:cNvPr id="103579" name="Text Box 203" descr="羊皮纸"/>
          <p:cNvSpPr txBox="1"/>
          <p:nvPr/>
        </p:nvSpPr>
        <p:spPr>
          <a:xfrm>
            <a:off x="522288" y="1314450"/>
            <a:ext cx="714375" cy="396875"/>
          </a:xfrm>
          <a:prstGeom prst="rect">
            <a:avLst/>
          </a:prstGeom>
          <a:noFill/>
          <a:ln w="38100">
            <a:noFill/>
          </a:ln>
        </p:spPr>
        <p:txBody>
          <a:bodyPr wrap="none" lIns="90000" tIns="46800" rIns="90000" bIns="46800">
            <a:spAutoFit/>
          </a:bodyPr>
          <a:lstStyle/>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p>
        </p:txBody>
      </p:sp>
      <p:sp>
        <p:nvSpPr>
          <p:cNvPr id="103580" name="AutoShape 204"/>
          <p:cNvSpPr/>
          <p:nvPr/>
        </p:nvSpPr>
        <p:spPr>
          <a:xfrm rot="5264593">
            <a:off x="2628900" y="1257300"/>
            <a:ext cx="398463" cy="982663"/>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3581" name="AutoShape 205"/>
          <p:cNvSpPr/>
          <p:nvPr/>
        </p:nvSpPr>
        <p:spPr>
          <a:xfrm rot="-5400000">
            <a:off x="2632075" y="2554288"/>
            <a:ext cx="398463" cy="969962"/>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3582" name="Text Box 206" descr="羊皮纸"/>
          <p:cNvSpPr txBox="1"/>
          <p:nvPr/>
        </p:nvSpPr>
        <p:spPr>
          <a:xfrm>
            <a:off x="1797050" y="3200400"/>
            <a:ext cx="820738" cy="457200"/>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3</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p>
        </p:txBody>
      </p:sp>
      <p:sp>
        <p:nvSpPr>
          <p:cNvPr id="103583" name="Text Box 207" descr="羊皮纸"/>
          <p:cNvSpPr txBox="1"/>
          <p:nvPr/>
        </p:nvSpPr>
        <p:spPr>
          <a:xfrm>
            <a:off x="5151438" y="3678238"/>
            <a:ext cx="714375" cy="396875"/>
          </a:xfrm>
          <a:prstGeom prst="rect">
            <a:avLst/>
          </a:prstGeom>
          <a:noFill/>
          <a:ln w="38100">
            <a:noFill/>
          </a:ln>
        </p:spPr>
        <p:txBody>
          <a:bodyPr wrap="none" lIns="90000" tIns="46800" rIns="90000" bIns="46800">
            <a:spAutoFit/>
          </a:bodyPr>
          <a:lstStyle/>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p>
        </p:txBody>
      </p:sp>
      <p:sp>
        <p:nvSpPr>
          <p:cNvPr id="103584" name="Text Box 208" descr="羊皮纸"/>
          <p:cNvSpPr txBox="1"/>
          <p:nvPr/>
        </p:nvSpPr>
        <p:spPr>
          <a:xfrm>
            <a:off x="4887913" y="4049713"/>
            <a:ext cx="714375" cy="396875"/>
          </a:xfrm>
          <a:prstGeom prst="rect">
            <a:avLst/>
          </a:prstGeom>
          <a:noFill/>
          <a:ln w="38100">
            <a:noFill/>
          </a:ln>
        </p:spPr>
        <p:txBody>
          <a:bodyPr wrap="none" lIns="90000" tIns="46800" rIns="90000" bIns="46800">
            <a:spAutoFit/>
          </a:bodyPr>
          <a:lstStyle/>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p>
        </p:txBody>
      </p:sp>
      <p:sp>
        <p:nvSpPr>
          <p:cNvPr id="103585" name="AutoShape 209"/>
          <p:cNvSpPr/>
          <p:nvPr/>
        </p:nvSpPr>
        <p:spPr>
          <a:xfrm rot="5400000">
            <a:off x="6519863" y="3513138"/>
            <a:ext cx="358775" cy="1966912"/>
          </a:xfrm>
          <a:prstGeom prst="rightBracket">
            <a:avLst>
              <a:gd name="adj" fmla="val 98579"/>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3586" name="AutoShape 210"/>
          <p:cNvSpPr/>
          <p:nvPr/>
        </p:nvSpPr>
        <p:spPr>
          <a:xfrm rot="-5400000">
            <a:off x="6505575" y="4768850"/>
            <a:ext cx="398463" cy="1982788"/>
          </a:xfrm>
          <a:prstGeom prst="rightBracket">
            <a:avLst>
              <a:gd name="adj" fmla="val 98392"/>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3587" name="Text Box 211" descr="羊皮纸"/>
          <p:cNvSpPr txBox="1"/>
          <p:nvPr/>
        </p:nvSpPr>
        <p:spPr>
          <a:xfrm>
            <a:off x="6162675" y="5935663"/>
            <a:ext cx="820738" cy="457200"/>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0</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p>
        </p:txBody>
      </p:sp>
      <p:sp>
        <p:nvSpPr>
          <p:cNvPr id="103588" name="Oval 212"/>
          <p:cNvSpPr/>
          <p:nvPr/>
        </p:nvSpPr>
        <p:spPr>
          <a:xfrm>
            <a:off x="6172200" y="1677988"/>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3589" name="Text Box 213" descr="羊皮纸"/>
          <p:cNvSpPr txBox="1"/>
          <p:nvPr/>
        </p:nvSpPr>
        <p:spPr>
          <a:xfrm>
            <a:off x="5124450" y="1019175"/>
            <a:ext cx="714375" cy="396875"/>
          </a:xfrm>
          <a:prstGeom prst="rect">
            <a:avLst/>
          </a:prstGeom>
          <a:noFill/>
          <a:ln w="38100">
            <a:noFill/>
          </a:ln>
        </p:spPr>
        <p:txBody>
          <a:bodyPr wrap="none" lIns="90000" tIns="46800" rIns="90000" bIns="46800">
            <a:spAutoFit/>
          </a:bodyPr>
          <a:lstStyle/>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p>
        </p:txBody>
      </p:sp>
      <p:sp>
        <p:nvSpPr>
          <p:cNvPr id="103590" name="Text Box 214" descr="羊皮纸"/>
          <p:cNvSpPr txBox="1"/>
          <p:nvPr/>
        </p:nvSpPr>
        <p:spPr>
          <a:xfrm>
            <a:off x="4860925" y="1390650"/>
            <a:ext cx="714375" cy="396875"/>
          </a:xfrm>
          <a:prstGeom prst="rect">
            <a:avLst/>
          </a:prstGeom>
          <a:noFill/>
          <a:ln w="38100">
            <a:noFill/>
          </a:ln>
        </p:spPr>
        <p:txBody>
          <a:bodyPr wrap="none" lIns="90000" tIns="46800" rIns="90000" bIns="46800">
            <a:spAutoFit/>
          </a:bodyPr>
          <a:lstStyle/>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p>
        </p:txBody>
      </p:sp>
      <p:sp>
        <p:nvSpPr>
          <p:cNvPr id="103591" name="AutoShape 215"/>
          <p:cNvSpPr/>
          <p:nvPr/>
        </p:nvSpPr>
        <p:spPr>
          <a:xfrm rot="10654596">
            <a:off x="7277100" y="2473325"/>
            <a:ext cx="357188" cy="363538"/>
          </a:xfrm>
          <a:prstGeom prst="rightBracket">
            <a:avLst>
              <a:gd name="adj" fmla="val 35259"/>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3592" name="AutoShape 216"/>
          <p:cNvSpPr/>
          <p:nvPr/>
        </p:nvSpPr>
        <p:spPr>
          <a:xfrm rot="-5400000">
            <a:off x="6505575" y="2616200"/>
            <a:ext cx="398463" cy="969963"/>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3593" name="Text Box 217" descr="羊皮纸"/>
          <p:cNvSpPr txBox="1"/>
          <p:nvPr/>
        </p:nvSpPr>
        <p:spPr>
          <a:xfrm>
            <a:off x="6135688" y="3276600"/>
            <a:ext cx="820737" cy="457200"/>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2</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p>
        </p:txBody>
      </p:sp>
      <p:sp>
        <p:nvSpPr>
          <p:cNvPr id="103594" name="Oval 218"/>
          <p:cNvSpPr/>
          <p:nvPr/>
        </p:nvSpPr>
        <p:spPr>
          <a:xfrm>
            <a:off x="1500188" y="4770438"/>
            <a:ext cx="1027112" cy="366712"/>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3595" name="Text Box 219" descr="羊皮纸"/>
          <p:cNvSpPr txBox="1"/>
          <p:nvPr/>
        </p:nvSpPr>
        <p:spPr>
          <a:xfrm>
            <a:off x="987425" y="3705225"/>
            <a:ext cx="714375" cy="396875"/>
          </a:xfrm>
          <a:prstGeom prst="rect">
            <a:avLst/>
          </a:prstGeom>
          <a:noFill/>
          <a:ln w="38100">
            <a:noFill/>
          </a:ln>
        </p:spPr>
        <p:txBody>
          <a:bodyPr wrap="none" lIns="90000" tIns="46800" rIns="90000" bIns="46800">
            <a:spAutoFit/>
          </a:bodyPr>
          <a:lstStyle/>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p>
        </p:txBody>
      </p:sp>
      <p:sp>
        <p:nvSpPr>
          <p:cNvPr id="103596" name="Text Box 220" descr="羊皮纸"/>
          <p:cNvSpPr txBox="1"/>
          <p:nvPr/>
        </p:nvSpPr>
        <p:spPr>
          <a:xfrm>
            <a:off x="723900" y="4076700"/>
            <a:ext cx="714375" cy="396875"/>
          </a:xfrm>
          <a:prstGeom prst="rect">
            <a:avLst/>
          </a:prstGeom>
          <a:noFill/>
          <a:ln w="38100">
            <a:noFill/>
          </a:ln>
        </p:spPr>
        <p:txBody>
          <a:bodyPr wrap="none" lIns="90000" tIns="46800" rIns="90000" bIns="46800">
            <a:spAutoFit/>
          </a:bodyPr>
          <a:lstStyle/>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p>
        </p:txBody>
      </p:sp>
      <p:sp>
        <p:nvSpPr>
          <p:cNvPr id="103597" name="Text Box 221" descr="羊皮纸"/>
          <p:cNvSpPr txBox="1"/>
          <p:nvPr/>
        </p:nvSpPr>
        <p:spPr>
          <a:xfrm>
            <a:off x="1998663" y="5962650"/>
            <a:ext cx="820737" cy="457200"/>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1</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p>
        </p:txBody>
      </p:sp>
      <p:sp>
        <p:nvSpPr>
          <p:cNvPr id="103598" name="AutoShape 222"/>
          <p:cNvSpPr/>
          <p:nvPr/>
        </p:nvSpPr>
        <p:spPr>
          <a:xfrm rot="5264593">
            <a:off x="6480175" y="1336675"/>
            <a:ext cx="398463" cy="982663"/>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3599" name="AutoShape 223"/>
          <p:cNvSpPr/>
          <p:nvPr/>
        </p:nvSpPr>
        <p:spPr>
          <a:xfrm>
            <a:off x="5678488" y="2490788"/>
            <a:ext cx="357187" cy="363537"/>
          </a:xfrm>
          <a:prstGeom prst="rightBracket">
            <a:avLst>
              <a:gd name="adj" fmla="val 35259"/>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3600" name="Oval 224"/>
          <p:cNvSpPr/>
          <p:nvPr/>
        </p:nvSpPr>
        <p:spPr>
          <a:xfrm>
            <a:off x="1504950" y="5549900"/>
            <a:ext cx="2054225" cy="3937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Tree>
  </p:cSld>
  <p:clrMapOvr>
    <a:masterClrMapping/>
  </p:clrMapOvr>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6" name="Object 2"/>
          <p:cNvGraphicFramePr>
            <a:graphicFrameLocks noGrp="1" noChangeAspect="1"/>
          </p:cNvGraphicFramePr>
          <p:nvPr>
            <p:ph sz="quarter" idx="1"/>
          </p:nvPr>
        </p:nvGraphicFramePr>
        <p:xfrm>
          <a:off x="744538" y="860425"/>
          <a:ext cx="4337050" cy="698500"/>
        </p:xfrm>
        <a:graphic>
          <a:graphicData uri="http://schemas.openxmlformats.org/presentationml/2006/ole">
            <mc:AlternateContent xmlns:mc="http://schemas.openxmlformats.org/markup-compatibility/2006">
              <mc:Choice xmlns:v="urn:schemas-microsoft-com:vml" Requires="v">
                <p:oleObj r:id="rId2" imgW="1574800" imgH="254000" progId="Equation.3">
                  <p:embed/>
                </p:oleObj>
              </mc:Choice>
              <mc:Fallback>
                <p:oleObj r:id="rId2" imgW="1574800" imgH="254000" progId="Equation.3">
                  <p:embed/>
                  <p:pic>
                    <p:nvPicPr>
                      <p:cNvPr id="0" name="图片 3093"/>
                      <p:cNvPicPr/>
                      <p:nvPr/>
                    </p:nvPicPr>
                    <p:blipFill>
                      <a:blip r:embed="rId3"/>
                      <a:srcRect/>
                      <a:stretch>
                        <a:fillRect/>
                      </a:stretch>
                    </p:blipFill>
                    <p:spPr>
                      <a:xfrm>
                        <a:off x="744538" y="860425"/>
                        <a:ext cx="4337050" cy="698500"/>
                      </a:xfrm>
                      <a:prstGeom prst="rect">
                        <a:avLst/>
                      </a:prstGeom>
                      <a:noFill/>
                      <a:ln w="38100">
                        <a:miter/>
                      </a:ln>
                    </p:spPr>
                  </p:pic>
                </p:oleObj>
              </mc:Fallback>
            </mc:AlternateContent>
          </a:graphicData>
        </a:graphic>
      </p:graphicFrame>
      <p:graphicFrame>
        <p:nvGraphicFramePr>
          <p:cNvPr id="6147" name="Object 3"/>
          <p:cNvGraphicFramePr>
            <a:graphicFrameLocks noGrp="1" noChangeAspect="1"/>
          </p:cNvGraphicFramePr>
          <p:nvPr>
            <p:ph sz="quarter" idx="2"/>
          </p:nvPr>
        </p:nvGraphicFramePr>
        <p:xfrm>
          <a:off x="730250" y="1492250"/>
          <a:ext cx="5108575" cy="698500"/>
        </p:xfrm>
        <a:graphic>
          <a:graphicData uri="http://schemas.openxmlformats.org/presentationml/2006/ole">
            <mc:AlternateContent xmlns:mc="http://schemas.openxmlformats.org/markup-compatibility/2006">
              <mc:Choice xmlns:v="urn:schemas-microsoft-com:vml" Requires="v">
                <p:oleObj r:id="rId4" imgW="1854200" imgH="254000" progId="Equation.3">
                  <p:embed/>
                </p:oleObj>
              </mc:Choice>
              <mc:Fallback>
                <p:oleObj r:id="rId4" imgW="1854200" imgH="254000" progId="Equation.3">
                  <p:embed/>
                  <p:pic>
                    <p:nvPicPr>
                      <p:cNvPr id="0" name="图片 3090"/>
                      <p:cNvPicPr/>
                      <p:nvPr/>
                    </p:nvPicPr>
                    <p:blipFill>
                      <a:blip r:embed="rId5"/>
                      <a:srcRect/>
                      <a:stretch>
                        <a:fillRect/>
                      </a:stretch>
                    </p:blipFill>
                    <p:spPr>
                      <a:xfrm>
                        <a:off x="730250" y="1492250"/>
                        <a:ext cx="5108575" cy="698500"/>
                      </a:xfrm>
                      <a:prstGeom prst="rect">
                        <a:avLst/>
                      </a:prstGeom>
                      <a:noFill/>
                      <a:ln w="38100">
                        <a:miter/>
                      </a:ln>
                    </p:spPr>
                  </p:pic>
                </p:oleObj>
              </mc:Fallback>
            </mc:AlternateContent>
          </a:graphicData>
        </a:graphic>
      </p:graphicFrame>
      <p:graphicFrame>
        <p:nvGraphicFramePr>
          <p:cNvPr id="6148" name="Object 4"/>
          <p:cNvGraphicFramePr>
            <a:graphicFrameLocks noGrp="1" noChangeAspect="1"/>
          </p:cNvGraphicFramePr>
          <p:nvPr>
            <p:ph sz="quarter" idx="3"/>
          </p:nvPr>
        </p:nvGraphicFramePr>
        <p:xfrm>
          <a:off x="771525" y="2149475"/>
          <a:ext cx="3883025" cy="698500"/>
        </p:xfrm>
        <a:graphic>
          <a:graphicData uri="http://schemas.openxmlformats.org/presentationml/2006/ole">
            <mc:AlternateContent xmlns:mc="http://schemas.openxmlformats.org/markup-compatibility/2006">
              <mc:Choice xmlns:v="urn:schemas-microsoft-com:vml" Requires="v">
                <p:oleObj r:id="rId6" imgW="1409065" imgH="254000" progId="Equation.3">
                  <p:embed/>
                </p:oleObj>
              </mc:Choice>
              <mc:Fallback>
                <p:oleObj r:id="rId6" imgW="1409065" imgH="254000" progId="Equation.3">
                  <p:embed/>
                  <p:pic>
                    <p:nvPicPr>
                      <p:cNvPr id="0" name="图片 3096"/>
                      <p:cNvPicPr/>
                      <p:nvPr/>
                    </p:nvPicPr>
                    <p:blipFill>
                      <a:blip r:embed="rId7"/>
                      <a:srcRect/>
                      <a:stretch>
                        <a:fillRect/>
                      </a:stretch>
                    </p:blipFill>
                    <p:spPr>
                      <a:xfrm>
                        <a:off x="771525" y="2149475"/>
                        <a:ext cx="3883025" cy="698500"/>
                      </a:xfrm>
                      <a:prstGeom prst="rect">
                        <a:avLst/>
                      </a:prstGeom>
                      <a:noFill/>
                      <a:ln w="38100">
                        <a:miter/>
                      </a:ln>
                    </p:spPr>
                  </p:pic>
                </p:oleObj>
              </mc:Fallback>
            </mc:AlternateContent>
          </a:graphicData>
        </a:graphic>
      </p:graphicFrame>
      <p:graphicFrame>
        <p:nvGraphicFramePr>
          <p:cNvPr id="6149" name="Object 5"/>
          <p:cNvGraphicFramePr>
            <a:graphicFrameLocks noGrp="1" noChangeAspect="1"/>
          </p:cNvGraphicFramePr>
          <p:nvPr>
            <p:ph sz="quarter" idx="4"/>
          </p:nvPr>
        </p:nvGraphicFramePr>
        <p:xfrm>
          <a:off x="752475" y="2822575"/>
          <a:ext cx="1819275" cy="698500"/>
        </p:xfrm>
        <a:graphic>
          <a:graphicData uri="http://schemas.openxmlformats.org/presentationml/2006/ole">
            <mc:AlternateContent xmlns:mc="http://schemas.openxmlformats.org/markup-compatibility/2006">
              <mc:Choice xmlns:v="urn:schemas-microsoft-com:vml" Requires="v">
                <p:oleObj r:id="rId8" imgW="660400" imgH="254000" progId="Equation.3">
                  <p:embed/>
                </p:oleObj>
              </mc:Choice>
              <mc:Fallback>
                <p:oleObj r:id="rId8" imgW="660400" imgH="254000" progId="Equation.3">
                  <p:embed/>
                  <p:pic>
                    <p:nvPicPr>
                      <p:cNvPr id="0" name="图片 3094"/>
                      <p:cNvPicPr/>
                      <p:nvPr/>
                    </p:nvPicPr>
                    <p:blipFill>
                      <a:blip r:embed="rId9"/>
                      <a:srcRect/>
                      <a:stretch>
                        <a:fillRect/>
                      </a:stretch>
                    </p:blipFill>
                    <p:spPr>
                      <a:xfrm>
                        <a:off x="752475" y="2822575"/>
                        <a:ext cx="1819275" cy="698500"/>
                      </a:xfrm>
                      <a:prstGeom prst="rect">
                        <a:avLst/>
                      </a:prstGeom>
                      <a:noFill/>
                      <a:ln w="38100">
                        <a:miter/>
                      </a:ln>
                    </p:spPr>
                  </p:pic>
                </p:oleObj>
              </mc:Fallback>
            </mc:AlternateContent>
          </a:graphicData>
        </a:graphic>
      </p:graphicFrame>
      <p:graphicFrame>
        <p:nvGraphicFramePr>
          <p:cNvPr id="6150" name="Object 6"/>
          <p:cNvGraphicFramePr>
            <a:graphicFrameLocks noChangeAspect="1"/>
          </p:cNvGraphicFramePr>
          <p:nvPr/>
        </p:nvGraphicFramePr>
        <p:xfrm>
          <a:off x="806450" y="4011613"/>
          <a:ext cx="4611688" cy="658812"/>
        </p:xfrm>
        <a:graphic>
          <a:graphicData uri="http://schemas.openxmlformats.org/presentationml/2006/ole">
            <mc:AlternateContent xmlns:mc="http://schemas.openxmlformats.org/markup-compatibility/2006">
              <mc:Choice xmlns:v="urn:schemas-microsoft-com:vml" Requires="v">
                <p:oleObj r:id="rId10" imgW="1600200" imgH="228600" progId="Equation.3">
                  <p:embed/>
                </p:oleObj>
              </mc:Choice>
              <mc:Fallback>
                <p:oleObj r:id="rId10" imgW="1600200" imgH="228600" progId="Equation.3">
                  <p:embed/>
                  <p:pic>
                    <p:nvPicPr>
                      <p:cNvPr id="0" name="图片 3091"/>
                      <p:cNvPicPr/>
                      <p:nvPr/>
                    </p:nvPicPr>
                    <p:blipFill>
                      <a:blip r:embed="rId11"/>
                      <a:stretch>
                        <a:fillRect/>
                      </a:stretch>
                    </p:blipFill>
                    <p:spPr>
                      <a:xfrm>
                        <a:off x="806450" y="4011613"/>
                        <a:ext cx="4611688" cy="658812"/>
                      </a:xfrm>
                      <a:prstGeom prst="rect">
                        <a:avLst/>
                      </a:prstGeom>
                      <a:noFill/>
                      <a:ln w="38100">
                        <a:noFill/>
                        <a:miter/>
                      </a:ln>
                    </p:spPr>
                  </p:pic>
                </p:oleObj>
              </mc:Fallback>
            </mc:AlternateContent>
          </a:graphicData>
        </a:graphic>
      </p:graphicFrame>
      <p:graphicFrame>
        <p:nvGraphicFramePr>
          <p:cNvPr id="6151" name="Object 7"/>
          <p:cNvGraphicFramePr>
            <a:graphicFrameLocks noChangeAspect="1"/>
          </p:cNvGraphicFramePr>
          <p:nvPr/>
        </p:nvGraphicFramePr>
        <p:xfrm>
          <a:off x="806450" y="4594225"/>
          <a:ext cx="6405563" cy="804863"/>
        </p:xfrm>
        <a:graphic>
          <a:graphicData uri="http://schemas.openxmlformats.org/presentationml/2006/ole">
            <mc:AlternateContent xmlns:mc="http://schemas.openxmlformats.org/markup-compatibility/2006">
              <mc:Choice xmlns:v="urn:schemas-microsoft-com:vml" Requires="v">
                <p:oleObj r:id="rId12" imgW="2222500" imgH="279400" progId="Equation.3">
                  <p:embed/>
                </p:oleObj>
              </mc:Choice>
              <mc:Fallback>
                <p:oleObj r:id="rId12" imgW="2222500" imgH="279400" progId="Equation.3">
                  <p:embed/>
                  <p:pic>
                    <p:nvPicPr>
                      <p:cNvPr id="0" name="图片 3092"/>
                      <p:cNvPicPr/>
                      <p:nvPr/>
                    </p:nvPicPr>
                    <p:blipFill>
                      <a:blip r:embed="rId13"/>
                      <a:stretch>
                        <a:fillRect/>
                      </a:stretch>
                    </p:blipFill>
                    <p:spPr>
                      <a:xfrm>
                        <a:off x="806450" y="4594225"/>
                        <a:ext cx="6405563" cy="804863"/>
                      </a:xfrm>
                      <a:prstGeom prst="rect">
                        <a:avLst/>
                      </a:prstGeom>
                      <a:noFill/>
                      <a:ln w="38100">
                        <a:noFill/>
                        <a:miter/>
                      </a:ln>
                    </p:spPr>
                  </p:pic>
                </p:oleObj>
              </mc:Fallback>
            </mc:AlternateContent>
          </a:graphicData>
        </a:graphic>
      </p:graphicFrame>
      <p:graphicFrame>
        <p:nvGraphicFramePr>
          <p:cNvPr id="6152" name="Object 8"/>
          <p:cNvGraphicFramePr>
            <a:graphicFrameLocks noChangeAspect="1"/>
          </p:cNvGraphicFramePr>
          <p:nvPr/>
        </p:nvGraphicFramePr>
        <p:xfrm>
          <a:off x="820738" y="5311775"/>
          <a:ext cx="4176712" cy="733425"/>
        </p:xfrm>
        <a:graphic>
          <a:graphicData uri="http://schemas.openxmlformats.org/presentationml/2006/ole">
            <mc:AlternateContent xmlns:mc="http://schemas.openxmlformats.org/markup-compatibility/2006">
              <mc:Choice xmlns:v="urn:schemas-microsoft-com:vml" Requires="v">
                <p:oleObj r:id="rId14" imgW="1447165" imgH="254000" progId="Equation.3">
                  <p:embed/>
                </p:oleObj>
              </mc:Choice>
              <mc:Fallback>
                <p:oleObj r:id="rId14" imgW="1447165" imgH="254000" progId="Equation.3">
                  <p:embed/>
                  <p:pic>
                    <p:nvPicPr>
                      <p:cNvPr id="0" name="图片 3095"/>
                      <p:cNvPicPr/>
                      <p:nvPr/>
                    </p:nvPicPr>
                    <p:blipFill>
                      <a:blip r:embed="rId15"/>
                      <a:stretch>
                        <a:fillRect/>
                      </a:stretch>
                    </p:blipFill>
                    <p:spPr>
                      <a:xfrm>
                        <a:off x="820738" y="5311775"/>
                        <a:ext cx="4176712" cy="733425"/>
                      </a:xfrm>
                      <a:prstGeom prst="rect">
                        <a:avLst/>
                      </a:prstGeom>
                      <a:noFill/>
                      <a:ln w="38100">
                        <a:noFill/>
                        <a:miter/>
                      </a:ln>
                    </p:spPr>
                  </p:pic>
                </p:oleObj>
              </mc:Fallback>
            </mc:AlternateContent>
          </a:graphicData>
        </a:graphic>
      </p:graphicFrame>
      <p:graphicFrame>
        <p:nvGraphicFramePr>
          <p:cNvPr id="6153" name="Object 9"/>
          <p:cNvGraphicFramePr>
            <a:graphicFrameLocks noChangeAspect="1"/>
          </p:cNvGraphicFramePr>
          <p:nvPr/>
        </p:nvGraphicFramePr>
        <p:xfrm>
          <a:off x="806450" y="6054725"/>
          <a:ext cx="3184525" cy="658813"/>
        </p:xfrm>
        <a:graphic>
          <a:graphicData uri="http://schemas.openxmlformats.org/presentationml/2006/ole">
            <mc:AlternateContent xmlns:mc="http://schemas.openxmlformats.org/markup-compatibility/2006">
              <mc:Choice xmlns:v="urn:schemas-microsoft-com:vml" Requires="v">
                <p:oleObj r:id="rId16" imgW="1104900" imgH="228600" progId="Equation.3">
                  <p:embed/>
                </p:oleObj>
              </mc:Choice>
              <mc:Fallback>
                <p:oleObj r:id="rId16" imgW="1104900" imgH="228600" progId="Equation.3">
                  <p:embed/>
                  <p:pic>
                    <p:nvPicPr>
                      <p:cNvPr id="0" name="图片 3097"/>
                      <p:cNvPicPr/>
                      <p:nvPr/>
                    </p:nvPicPr>
                    <p:blipFill>
                      <a:blip r:embed="rId17"/>
                      <a:stretch>
                        <a:fillRect/>
                      </a:stretch>
                    </p:blipFill>
                    <p:spPr>
                      <a:xfrm>
                        <a:off x="806450" y="6054725"/>
                        <a:ext cx="3184525" cy="658813"/>
                      </a:xfrm>
                      <a:prstGeom prst="rect">
                        <a:avLst/>
                      </a:prstGeom>
                      <a:noFill/>
                      <a:ln w="38100">
                        <a:noFill/>
                        <a:miter/>
                      </a:ln>
                    </p:spPr>
                  </p:pic>
                </p:oleObj>
              </mc:Fallback>
            </mc:AlternateContent>
          </a:graphicData>
        </a:graphic>
      </p:graphicFrame>
      <p:sp>
        <p:nvSpPr>
          <p:cNvPr id="6154" name="Text Box 10" descr="羊皮纸"/>
          <p:cNvSpPr txBox="1"/>
          <p:nvPr/>
        </p:nvSpPr>
        <p:spPr>
          <a:xfrm>
            <a:off x="555625" y="373063"/>
            <a:ext cx="2314575" cy="519112"/>
          </a:xfrm>
          <a:prstGeom prst="rect">
            <a:avLst/>
          </a:prstGeom>
          <a:noFill/>
          <a:ln w="38100">
            <a:noFill/>
          </a:ln>
        </p:spPr>
        <p:txBody>
          <a:bodyPr wrap="none" lIns="90000" tIns="46800" rIns="90000" bIns="46800">
            <a:spAutoFit/>
          </a:bodyPr>
          <a:lstStyle/>
          <a:p>
            <a:r>
              <a:rPr lang="zh-CN" altLang="en-US" sz="2800" dirty="0">
                <a:latin typeface="Times New Roman" panose="02020603050405020304" pitchFamily="18" charset="0"/>
              </a:rPr>
              <a:t>特征方程组：</a:t>
            </a:r>
          </a:p>
        </p:txBody>
      </p:sp>
      <p:sp>
        <p:nvSpPr>
          <p:cNvPr id="6155" name="Text Box 11" descr="羊皮纸"/>
          <p:cNvSpPr txBox="1"/>
          <p:nvPr/>
        </p:nvSpPr>
        <p:spPr>
          <a:xfrm>
            <a:off x="627063" y="3441700"/>
            <a:ext cx="1958975" cy="519113"/>
          </a:xfrm>
          <a:prstGeom prst="rect">
            <a:avLst/>
          </a:prstGeom>
          <a:noFill/>
          <a:ln w="38100">
            <a:noFill/>
          </a:ln>
        </p:spPr>
        <p:txBody>
          <a:bodyPr wrap="none" lIns="90000" tIns="46800" rIns="90000" bIns="46800">
            <a:spAutoFit/>
          </a:bodyPr>
          <a:lstStyle/>
          <a:p>
            <a:r>
              <a:rPr lang="zh-CN" altLang="en-US" sz="2800" dirty="0">
                <a:latin typeface="Times New Roman" panose="02020603050405020304" pitchFamily="18" charset="0"/>
              </a:rPr>
              <a:t>激励函数：</a:t>
            </a:r>
          </a:p>
        </p:txBody>
      </p:sp>
    </p:spTree>
  </p:cSld>
  <p:clrMapOvr>
    <a:masterClrMapping/>
  </p:clrMapOvr>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450" name="表格 104449"/>
          <p:cNvGraphicFramePr/>
          <p:nvPr/>
        </p:nvGraphicFramePr>
        <p:xfrm>
          <a:off x="5149850" y="3706813"/>
          <a:ext cx="2573338" cy="1992313"/>
        </p:xfrm>
        <a:graphic>
          <a:graphicData uri="http://schemas.openxmlformats.org/drawingml/2006/table">
            <a:tbl>
              <a:tblPr/>
              <a:tblGrid>
                <a:gridCol w="514350">
                  <a:extLst>
                    <a:ext uri="{9D8B030D-6E8A-4147-A177-3AD203B41FA5}">
                      <a16:colId xmlns:a16="http://schemas.microsoft.com/office/drawing/2014/main" val="20000"/>
                    </a:ext>
                  </a:extLst>
                </a:gridCol>
                <a:gridCol w="515938">
                  <a:extLst>
                    <a:ext uri="{9D8B030D-6E8A-4147-A177-3AD203B41FA5}">
                      <a16:colId xmlns:a16="http://schemas.microsoft.com/office/drawing/2014/main" val="20001"/>
                    </a:ext>
                  </a:extLst>
                </a:gridCol>
                <a:gridCol w="512762">
                  <a:extLst>
                    <a:ext uri="{9D8B030D-6E8A-4147-A177-3AD203B41FA5}">
                      <a16:colId xmlns:a16="http://schemas.microsoft.com/office/drawing/2014/main" val="20002"/>
                    </a:ext>
                  </a:extLst>
                </a:gridCol>
                <a:gridCol w="515938">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04487" name="表格 104486"/>
          <p:cNvGraphicFramePr/>
          <p:nvPr/>
        </p:nvGraphicFramePr>
        <p:xfrm>
          <a:off x="985838" y="3733800"/>
          <a:ext cx="2573338" cy="1992313"/>
        </p:xfrm>
        <a:graphic>
          <a:graphicData uri="http://schemas.openxmlformats.org/drawingml/2006/table">
            <a:tbl>
              <a:tblPr/>
              <a:tblGrid>
                <a:gridCol w="514350">
                  <a:extLst>
                    <a:ext uri="{9D8B030D-6E8A-4147-A177-3AD203B41FA5}">
                      <a16:colId xmlns:a16="http://schemas.microsoft.com/office/drawing/2014/main" val="20000"/>
                    </a:ext>
                  </a:extLst>
                </a:gridCol>
                <a:gridCol w="515938">
                  <a:extLst>
                    <a:ext uri="{9D8B030D-6E8A-4147-A177-3AD203B41FA5}">
                      <a16:colId xmlns:a16="http://schemas.microsoft.com/office/drawing/2014/main" val="20001"/>
                    </a:ext>
                  </a:extLst>
                </a:gridCol>
                <a:gridCol w="512762">
                  <a:extLst>
                    <a:ext uri="{9D8B030D-6E8A-4147-A177-3AD203B41FA5}">
                      <a16:colId xmlns:a16="http://schemas.microsoft.com/office/drawing/2014/main" val="20002"/>
                    </a:ext>
                  </a:extLst>
                </a:gridCol>
                <a:gridCol w="515938">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04524" name="表格 104523"/>
          <p:cNvGraphicFramePr/>
          <p:nvPr/>
        </p:nvGraphicFramePr>
        <p:xfrm>
          <a:off x="5122863" y="1047750"/>
          <a:ext cx="2573338" cy="1992313"/>
        </p:xfrm>
        <a:graphic>
          <a:graphicData uri="http://schemas.openxmlformats.org/drawingml/2006/table">
            <a:tbl>
              <a:tblPr/>
              <a:tblGrid>
                <a:gridCol w="514350">
                  <a:extLst>
                    <a:ext uri="{9D8B030D-6E8A-4147-A177-3AD203B41FA5}">
                      <a16:colId xmlns:a16="http://schemas.microsoft.com/office/drawing/2014/main" val="20000"/>
                    </a:ext>
                  </a:extLst>
                </a:gridCol>
                <a:gridCol w="515938">
                  <a:extLst>
                    <a:ext uri="{9D8B030D-6E8A-4147-A177-3AD203B41FA5}">
                      <a16:colId xmlns:a16="http://schemas.microsoft.com/office/drawing/2014/main" val="20001"/>
                    </a:ext>
                  </a:extLst>
                </a:gridCol>
                <a:gridCol w="512762">
                  <a:extLst>
                    <a:ext uri="{9D8B030D-6E8A-4147-A177-3AD203B41FA5}">
                      <a16:colId xmlns:a16="http://schemas.microsoft.com/office/drawing/2014/main" val="20002"/>
                    </a:ext>
                  </a:extLst>
                </a:gridCol>
                <a:gridCol w="515938">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4561" name="Oval 149" descr="羊皮纸"/>
          <p:cNvSpPr/>
          <p:nvPr/>
        </p:nvSpPr>
        <p:spPr>
          <a:xfrm>
            <a:off x="1874838" y="2174875"/>
            <a:ext cx="393700" cy="366713"/>
          </a:xfrm>
          <a:prstGeom prst="ellipse">
            <a:avLst/>
          </a:prstGeom>
          <a:blipFill rotWithShape="1">
            <a:blip r:embed="rId2"/>
          </a:blip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4562" name="Rectangle 150" descr="羊皮纸"/>
          <p:cNvSpPr/>
          <p:nvPr/>
        </p:nvSpPr>
        <p:spPr>
          <a:xfrm>
            <a:off x="3840163" y="733425"/>
            <a:ext cx="307975" cy="244475"/>
          </a:xfrm>
          <a:prstGeom prst="rect">
            <a:avLst/>
          </a:prstGeom>
          <a:noFill/>
          <a:ln w="38100">
            <a:noFill/>
          </a:ln>
        </p:spPr>
        <p:txBody>
          <a:bodyPr wrap="none" lIns="90000" tIns="46800" rIns="90000" bIns="46800">
            <a:spAutoFit/>
          </a:bodyPr>
          <a:lstStyle/>
          <a:p>
            <a:pPr algn="just"/>
            <a:r>
              <a:rPr lang="en-US" altLang="zh-CN" sz="10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04563" name="Rectangle 151" descr="羊皮纸"/>
          <p:cNvSpPr/>
          <p:nvPr/>
        </p:nvSpPr>
        <p:spPr>
          <a:xfrm>
            <a:off x="3840163" y="733425"/>
            <a:ext cx="438150" cy="228600"/>
          </a:xfrm>
          <a:prstGeom prst="rect">
            <a:avLst/>
          </a:prstGeom>
          <a:noFill/>
          <a:ln w="38100">
            <a:noFill/>
          </a:ln>
        </p:spPr>
        <p:txBody>
          <a:bodyPr wrap="none" lIns="90000" tIns="46800" rIns="90000" bIns="46800">
            <a:spAutoFit/>
          </a:bodyPr>
          <a:lstStyle/>
          <a:p>
            <a:pPr algn="just"/>
            <a:r>
              <a:rPr lang="en-US" altLang="zh-CN" sz="900" dirty="0">
                <a:latin typeface="Times New Roman" panose="02020603050405020304" pitchFamily="18" charset="0"/>
              </a:rPr>
              <a:t>         </a:t>
            </a:r>
            <a:endParaRPr lang="en-US" altLang="zh-CN" sz="2400" dirty="0">
              <a:latin typeface="Times New Roman" panose="02020603050405020304" pitchFamily="18" charset="0"/>
            </a:endParaRPr>
          </a:p>
        </p:txBody>
      </p:sp>
      <p:graphicFrame>
        <p:nvGraphicFramePr>
          <p:cNvPr id="104564" name="内容占位符 104563"/>
          <p:cNvGraphicFramePr>
            <a:graphicFrameLocks noGrp="1"/>
          </p:cNvGraphicFramePr>
          <p:nvPr>
            <p:ph/>
          </p:nvPr>
        </p:nvGraphicFramePr>
        <p:xfrm>
          <a:off x="784225" y="971550"/>
          <a:ext cx="2573338" cy="1992313"/>
        </p:xfrm>
        <a:graphic>
          <a:graphicData uri="http://schemas.openxmlformats.org/drawingml/2006/table">
            <a:tbl>
              <a:tblPr/>
              <a:tblGrid>
                <a:gridCol w="514350">
                  <a:extLst>
                    <a:ext uri="{9D8B030D-6E8A-4147-A177-3AD203B41FA5}">
                      <a16:colId xmlns:a16="http://schemas.microsoft.com/office/drawing/2014/main" val="20000"/>
                    </a:ext>
                  </a:extLst>
                </a:gridCol>
                <a:gridCol w="515938">
                  <a:extLst>
                    <a:ext uri="{9D8B030D-6E8A-4147-A177-3AD203B41FA5}">
                      <a16:colId xmlns:a16="http://schemas.microsoft.com/office/drawing/2014/main" val="20001"/>
                    </a:ext>
                  </a:extLst>
                </a:gridCol>
                <a:gridCol w="512762">
                  <a:extLst>
                    <a:ext uri="{9D8B030D-6E8A-4147-A177-3AD203B41FA5}">
                      <a16:colId xmlns:a16="http://schemas.microsoft.com/office/drawing/2014/main" val="20002"/>
                    </a:ext>
                  </a:extLst>
                </a:gridCol>
                <a:gridCol w="515938">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i="1" dirty="0">
                          <a:solidFill>
                            <a:srgbClr val="FF3300"/>
                          </a:solidFill>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4601" name="Text Box 201" descr="羊皮纸"/>
          <p:cNvSpPr txBox="1"/>
          <p:nvPr/>
        </p:nvSpPr>
        <p:spPr>
          <a:xfrm>
            <a:off x="785813" y="714375"/>
            <a:ext cx="714375" cy="396875"/>
          </a:xfrm>
          <a:prstGeom prst="rect">
            <a:avLst/>
          </a:prstGeom>
          <a:noFill/>
          <a:ln w="38100">
            <a:noFill/>
          </a:ln>
        </p:spPr>
        <p:txBody>
          <a:bodyPr wrap="none" lIns="90000" tIns="46800" rIns="90000" bIns="46800">
            <a:spAutoFit/>
          </a:bodyPr>
          <a:lstStyle/>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p>
        </p:txBody>
      </p:sp>
      <p:sp>
        <p:nvSpPr>
          <p:cNvPr id="104602" name="Text Box 202" descr="羊皮纸"/>
          <p:cNvSpPr txBox="1"/>
          <p:nvPr/>
        </p:nvSpPr>
        <p:spPr>
          <a:xfrm>
            <a:off x="522288" y="1085850"/>
            <a:ext cx="714375" cy="396875"/>
          </a:xfrm>
          <a:prstGeom prst="rect">
            <a:avLst/>
          </a:prstGeom>
          <a:noFill/>
          <a:ln w="38100">
            <a:noFill/>
          </a:ln>
        </p:spPr>
        <p:txBody>
          <a:bodyPr wrap="none" lIns="90000" tIns="46800" rIns="90000" bIns="46800">
            <a:spAutoFit/>
          </a:bodyPr>
          <a:lstStyle/>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p>
        </p:txBody>
      </p:sp>
      <p:sp>
        <p:nvSpPr>
          <p:cNvPr id="104603" name="AutoShape 203"/>
          <p:cNvSpPr/>
          <p:nvPr/>
        </p:nvSpPr>
        <p:spPr>
          <a:xfrm rot="5264593">
            <a:off x="2628900" y="1028700"/>
            <a:ext cx="398463" cy="982663"/>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4604" name="AutoShape 204"/>
          <p:cNvSpPr/>
          <p:nvPr/>
        </p:nvSpPr>
        <p:spPr>
          <a:xfrm rot="-5400000">
            <a:off x="2632075" y="2325688"/>
            <a:ext cx="398463" cy="969962"/>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4605" name="Text Box 205" descr="羊皮纸"/>
          <p:cNvSpPr txBox="1"/>
          <p:nvPr/>
        </p:nvSpPr>
        <p:spPr>
          <a:xfrm>
            <a:off x="1797050" y="2971800"/>
            <a:ext cx="820738" cy="457200"/>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3</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p>
        </p:txBody>
      </p:sp>
      <p:sp>
        <p:nvSpPr>
          <p:cNvPr id="104606" name="Text Box 206" descr="羊皮纸"/>
          <p:cNvSpPr txBox="1"/>
          <p:nvPr/>
        </p:nvSpPr>
        <p:spPr>
          <a:xfrm>
            <a:off x="5151438" y="3449638"/>
            <a:ext cx="714375" cy="396875"/>
          </a:xfrm>
          <a:prstGeom prst="rect">
            <a:avLst/>
          </a:prstGeom>
          <a:noFill/>
          <a:ln w="38100">
            <a:noFill/>
          </a:ln>
        </p:spPr>
        <p:txBody>
          <a:bodyPr wrap="none" lIns="90000" tIns="46800" rIns="90000" bIns="46800">
            <a:spAutoFit/>
          </a:bodyPr>
          <a:lstStyle/>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p>
        </p:txBody>
      </p:sp>
      <p:sp>
        <p:nvSpPr>
          <p:cNvPr id="104607" name="Text Box 207" descr="羊皮纸"/>
          <p:cNvSpPr txBox="1"/>
          <p:nvPr/>
        </p:nvSpPr>
        <p:spPr>
          <a:xfrm>
            <a:off x="4887913" y="3821113"/>
            <a:ext cx="714375" cy="396875"/>
          </a:xfrm>
          <a:prstGeom prst="rect">
            <a:avLst/>
          </a:prstGeom>
          <a:noFill/>
          <a:ln w="38100">
            <a:noFill/>
          </a:ln>
        </p:spPr>
        <p:txBody>
          <a:bodyPr wrap="none" lIns="90000" tIns="46800" rIns="90000" bIns="46800">
            <a:spAutoFit/>
          </a:bodyPr>
          <a:lstStyle/>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p>
        </p:txBody>
      </p:sp>
      <p:sp>
        <p:nvSpPr>
          <p:cNvPr id="104608" name="AutoShape 208"/>
          <p:cNvSpPr/>
          <p:nvPr/>
        </p:nvSpPr>
        <p:spPr>
          <a:xfrm rot="5400000">
            <a:off x="6519863" y="3284538"/>
            <a:ext cx="358775" cy="1966912"/>
          </a:xfrm>
          <a:prstGeom prst="rightBracket">
            <a:avLst>
              <a:gd name="adj" fmla="val 98579"/>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4609" name="AutoShape 209"/>
          <p:cNvSpPr/>
          <p:nvPr/>
        </p:nvSpPr>
        <p:spPr>
          <a:xfrm rot="-5400000">
            <a:off x="6505575" y="4540250"/>
            <a:ext cx="398463" cy="1982788"/>
          </a:xfrm>
          <a:prstGeom prst="rightBracket">
            <a:avLst>
              <a:gd name="adj" fmla="val 98392"/>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4610" name="Text Box 210" descr="羊皮纸"/>
          <p:cNvSpPr txBox="1"/>
          <p:nvPr/>
        </p:nvSpPr>
        <p:spPr>
          <a:xfrm>
            <a:off x="6162675" y="5707063"/>
            <a:ext cx="820738" cy="457200"/>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0</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p>
        </p:txBody>
      </p:sp>
      <p:sp>
        <p:nvSpPr>
          <p:cNvPr id="104611" name="Oval 211"/>
          <p:cNvSpPr/>
          <p:nvPr/>
        </p:nvSpPr>
        <p:spPr>
          <a:xfrm>
            <a:off x="6172200" y="1449388"/>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4612" name="Text Box 212" descr="羊皮纸"/>
          <p:cNvSpPr txBox="1"/>
          <p:nvPr/>
        </p:nvSpPr>
        <p:spPr>
          <a:xfrm>
            <a:off x="5124450" y="790575"/>
            <a:ext cx="714375" cy="396875"/>
          </a:xfrm>
          <a:prstGeom prst="rect">
            <a:avLst/>
          </a:prstGeom>
          <a:noFill/>
          <a:ln w="38100">
            <a:noFill/>
          </a:ln>
        </p:spPr>
        <p:txBody>
          <a:bodyPr wrap="none" lIns="90000" tIns="46800" rIns="90000" bIns="46800">
            <a:spAutoFit/>
          </a:bodyPr>
          <a:lstStyle/>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p>
        </p:txBody>
      </p:sp>
      <p:sp>
        <p:nvSpPr>
          <p:cNvPr id="104613" name="Text Box 213" descr="羊皮纸"/>
          <p:cNvSpPr txBox="1"/>
          <p:nvPr/>
        </p:nvSpPr>
        <p:spPr>
          <a:xfrm>
            <a:off x="4860925" y="1162050"/>
            <a:ext cx="714375" cy="396875"/>
          </a:xfrm>
          <a:prstGeom prst="rect">
            <a:avLst/>
          </a:prstGeom>
          <a:noFill/>
          <a:ln w="38100">
            <a:noFill/>
          </a:ln>
        </p:spPr>
        <p:txBody>
          <a:bodyPr wrap="none" lIns="90000" tIns="46800" rIns="90000" bIns="46800">
            <a:spAutoFit/>
          </a:bodyPr>
          <a:lstStyle/>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p>
        </p:txBody>
      </p:sp>
      <p:sp>
        <p:nvSpPr>
          <p:cNvPr id="104614" name="AutoShape 214"/>
          <p:cNvSpPr/>
          <p:nvPr/>
        </p:nvSpPr>
        <p:spPr>
          <a:xfrm rot="10654596">
            <a:off x="7277100" y="2244725"/>
            <a:ext cx="357188" cy="363538"/>
          </a:xfrm>
          <a:prstGeom prst="rightBracket">
            <a:avLst>
              <a:gd name="adj" fmla="val 35259"/>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4615" name="AutoShape 215"/>
          <p:cNvSpPr/>
          <p:nvPr/>
        </p:nvSpPr>
        <p:spPr>
          <a:xfrm rot="-5400000">
            <a:off x="6505575" y="2387600"/>
            <a:ext cx="398463" cy="969963"/>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4616" name="Text Box 216" descr="羊皮纸"/>
          <p:cNvSpPr txBox="1"/>
          <p:nvPr/>
        </p:nvSpPr>
        <p:spPr>
          <a:xfrm>
            <a:off x="6135688" y="3048000"/>
            <a:ext cx="820737" cy="457200"/>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2</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p>
        </p:txBody>
      </p:sp>
      <p:sp>
        <p:nvSpPr>
          <p:cNvPr id="104617" name="Oval 217"/>
          <p:cNvSpPr/>
          <p:nvPr/>
        </p:nvSpPr>
        <p:spPr>
          <a:xfrm>
            <a:off x="1500188" y="4541838"/>
            <a:ext cx="1027112" cy="366712"/>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4618" name="Text Box 218" descr="羊皮纸"/>
          <p:cNvSpPr txBox="1"/>
          <p:nvPr/>
        </p:nvSpPr>
        <p:spPr>
          <a:xfrm>
            <a:off x="987425" y="3476625"/>
            <a:ext cx="714375" cy="396875"/>
          </a:xfrm>
          <a:prstGeom prst="rect">
            <a:avLst/>
          </a:prstGeom>
          <a:noFill/>
          <a:ln w="38100">
            <a:noFill/>
          </a:ln>
        </p:spPr>
        <p:txBody>
          <a:bodyPr wrap="none" lIns="90000" tIns="46800" rIns="90000" bIns="46800">
            <a:spAutoFit/>
          </a:bodyPr>
          <a:lstStyle/>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2</a:t>
            </a:r>
          </a:p>
        </p:txBody>
      </p:sp>
      <p:sp>
        <p:nvSpPr>
          <p:cNvPr id="104619" name="Text Box 219" descr="羊皮纸"/>
          <p:cNvSpPr txBox="1"/>
          <p:nvPr/>
        </p:nvSpPr>
        <p:spPr>
          <a:xfrm>
            <a:off x="723900" y="3848100"/>
            <a:ext cx="714375" cy="396875"/>
          </a:xfrm>
          <a:prstGeom prst="rect">
            <a:avLst/>
          </a:prstGeom>
          <a:noFill/>
          <a:ln w="38100">
            <a:noFill/>
          </a:ln>
        </p:spPr>
        <p:txBody>
          <a:bodyPr wrap="none" lIns="90000" tIns="46800" rIns="90000" bIns="46800">
            <a:spAutoFit/>
          </a:bodyPr>
          <a:lstStyle/>
          <a:p>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dirty="0">
                <a:latin typeface="Times New Roman" panose="02020603050405020304" pitchFamily="18" charset="0"/>
              </a:rPr>
              <a:t>Q</a:t>
            </a:r>
            <a:r>
              <a:rPr lang="en-US" altLang="zh-CN" sz="2000" baseline="-25000" dirty="0">
                <a:latin typeface="Times New Roman" panose="02020603050405020304" pitchFamily="18" charset="0"/>
              </a:rPr>
              <a:t>0</a:t>
            </a:r>
          </a:p>
        </p:txBody>
      </p:sp>
      <p:sp>
        <p:nvSpPr>
          <p:cNvPr id="104620" name="Text Box 220" descr="羊皮纸"/>
          <p:cNvSpPr txBox="1"/>
          <p:nvPr/>
        </p:nvSpPr>
        <p:spPr>
          <a:xfrm>
            <a:off x="1998663" y="5734050"/>
            <a:ext cx="820737" cy="457200"/>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Q</a:t>
            </a:r>
            <a:r>
              <a:rPr lang="en-US" altLang="zh-CN" sz="2400" baseline="-25000" dirty="0">
                <a:latin typeface="Times New Roman" panose="02020603050405020304" pitchFamily="18" charset="0"/>
              </a:rPr>
              <a:t>1</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p>
        </p:txBody>
      </p:sp>
      <p:sp>
        <p:nvSpPr>
          <p:cNvPr id="104621" name="AutoShape 221"/>
          <p:cNvSpPr/>
          <p:nvPr/>
        </p:nvSpPr>
        <p:spPr>
          <a:xfrm rot="5264593">
            <a:off x="6480175" y="1108075"/>
            <a:ext cx="398463" cy="982663"/>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4622" name="AutoShape 222"/>
          <p:cNvSpPr/>
          <p:nvPr/>
        </p:nvSpPr>
        <p:spPr>
          <a:xfrm>
            <a:off x="5678488" y="2262188"/>
            <a:ext cx="357187" cy="363537"/>
          </a:xfrm>
          <a:prstGeom prst="rightBracket">
            <a:avLst>
              <a:gd name="adj" fmla="val 35259"/>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4623" name="Oval 223"/>
          <p:cNvSpPr/>
          <p:nvPr/>
        </p:nvSpPr>
        <p:spPr>
          <a:xfrm>
            <a:off x="1504950" y="5321300"/>
            <a:ext cx="2054225" cy="3937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4624" name="Rectangle 224"/>
          <p:cNvSpPr/>
          <p:nvPr/>
        </p:nvSpPr>
        <p:spPr>
          <a:xfrm>
            <a:off x="1457325" y="6035675"/>
            <a:ext cx="5957888" cy="822325"/>
          </a:xfrm>
          <a:prstGeom prst="rect">
            <a:avLst/>
          </a:prstGeom>
          <a:noFill/>
          <a:ln w="19050">
            <a:noFill/>
          </a:ln>
        </p:spPr>
        <p:txBody>
          <a:bodyPr lIns="90000" tIns="46800" rIns="90000" bIns="46800">
            <a:spAutoFit/>
          </a:bodyPr>
          <a:lstStyle/>
          <a:p>
            <a:pPr algn="ctr"/>
            <a:r>
              <a:rPr lang="en-US" altLang="zh-CN" sz="2400" dirty="0">
                <a:solidFill>
                  <a:srgbClr val="FF3300"/>
                </a:solidFill>
                <a:latin typeface="Times New Roman" panose="02020603050405020304" pitchFamily="18" charset="0"/>
              </a:rPr>
              <a:t>1010→1011      1011→0100        1100→1101</a:t>
            </a:r>
          </a:p>
          <a:p>
            <a:pPr algn="ctr"/>
            <a:r>
              <a:rPr lang="en-US" altLang="zh-CN" sz="2400" dirty="0">
                <a:solidFill>
                  <a:srgbClr val="FF3300"/>
                </a:solidFill>
                <a:latin typeface="Times New Roman" panose="02020603050405020304" pitchFamily="18" charset="0"/>
              </a:rPr>
              <a:t>1101→0100      1110→1111        1111→0000</a:t>
            </a:r>
          </a:p>
        </p:txBody>
      </p:sp>
      <p:sp>
        <p:nvSpPr>
          <p:cNvPr id="104625" name="Rectangle 225" descr="羊皮纸"/>
          <p:cNvSpPr/>
          <p:nvPr/>
        </p:nvSpPr>
        <p:spPr>
          <a:xfrm>
            <a:off x="2247900" y="400050"/>
            <a:ext cx="3292475" cy="519113"/>
          </a:xfrm>
          <a:prstGeom prst="rect">
            <a:avLst/>
          </a:prstGeom>
          <a:noFill/>
          <a:ln w="38100">
            <a:noFill/>
          </a:ln>
        </p:spPr>
        <p:txBody>
          <a:bodyPr wrap="none" lIns="90000" tIns="46800" rIns="90000" bIns="46800" anchor="ctr" anchorCtr="0">
            <a:spAutoFit/>
          </a:bodyPr>
          <a:lstStyle/>
          <a:p>
            <a:r>
              <a:rPr lang="zh-CN" altLang="en-US" sz="2800" dirty="0">
                <a:latin typeface="Times New Roman" panose="02020603050405020304" pitchFamily="18" charset="0"/>
              </a:rPr>
              <a:t>（</a:t>
            </a:r>
            <a:r>
              <a:rPr lang="en-US" altLang="zh-CN" sz="2800" dirty="0">
                <a:latin typeface="Times New Roman" panose="02020603050405020304" pitchFamily="18" charset="0"/>
              </a:rPr>
              <a:t>3</a:t>
            </a:r>
            <a:r>
              <a:rPr lang="zh-CN" altLang="en-US" sz="2800" dirty="0">
                <a:latin typeface="Times New Roman" panose="02020603050405020304" pitchFamily="18" charset="0"/>
              </a:rPr>
              <a:t>）自启动检查。 </a:t>
            </a:r>
          </a:p>
        </p:txBody>
      </p:sp>
    </p:spTree>
  </p:cSld>
  <p:clrMapOvr>
    <a:masterClrMapping/>
  </p:clrMapOv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5474" name="Group 2"/>
          <p:cNvGrpSpPr/>
          <p:nvPr/>
        </p:nvGrpSpPr>
        <p:grpSpPr>
          <a:xfrm>
            <a:off x="285750" y="4019550"/>
            <a:ext cx="8328025" cy="2503488"/>
            <a:chOff x="2440" y="10088"/>
            <a:chExt cx="6555" cy="1965"/>
          </a:xfrm>
        </p:grpSpPr>
        <p:grpSp>
          <p:nvGrpSpPr>
            <p:cNvPr id="105476" name="Group 3"/>
            <p:cNvGrpSpPr/>
            <p:nvPr/>
          </p:nvGrpSpPr>
          <p:grpSpPr>
            <a:xfrm>
              <a:off x="2440" y="10088"/>
              <a:ext cx="6555" cy="1674"/>
              <a:chOff x="2440" y="8832"/>
              <a:chExt cx="6555" cy="1674"/>
            </a:xfrm>
          </p:grpSpPr>
          <p:sp>
            <p:nvSpPr>
              <p:cNvPr id="105478" name="Oval 4"/>
              <p:cNvSpPr/>
              <p:nvPr/>
            </p:nvSpPr>
            <p:spPr>
              <a:xfrm>
                <a:off x="2440" y="8832"/>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14</a:t>
                </a:r>
                <a:endParaRPr lang="en-US" altLang="zh-CN" sz="5400" dirty="0">
                  <a:latin typeface="Times New Roman" panose="02020603050405020304" pitchFamily="18" charset="0"/>
                </a:endParaRPr>
              </a:p>
            </p:txBody>
          </p:sp>
          <p:sp>
            <p:nvSpPr>
              <p:cNvPr id="105479" name="Oval 5"/>
              <p:cNvSpPr/>
              <p:nvPr/>
            </p:nvSpPr>
            <p:spPr>
              <a:xfrm>
                <a:off x="3910" y="9321"/>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105480" name="Oval 6"/>
              <p:cNvSpPr/>
              <p:nvPr/>
            </p:nvSpPr>
            <p:spPr>
              <a:xfrm>
                <a:off x="4675" y="930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105481" name="Oval 7"/>
              <p:cNvSpPr/>
              <p:nvPr/>
            </p:nvSpPr>
            <p:spPr>
              <a:xfrm>
                <a:off x="5455" y="9321"/>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2</a:t>
                </a:r>
                <a:endParaRPr lang="en-US" altLang="zh-CN" sz="5400" dirty="0">
                  <a:latin typeface="Times New Roman" panose="02020603050405020304" pitchFamily="18" charset="0"/>
                </a:endParaRPr>
              </a:p>
            </p:txBody>
          </p:sp>
          <p:sp>
            <p:nvSpPr>
              <p:cNvPr id="105482" name="Oval 8"/>
              <p:cNvSpPr/>
              <p:nvPr/>
            </p:nvSpPr>
            <p:spPr>
              <a:xfrm>
                <a:off x="3220" y="8832"/>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15</a:t>
                </a:r>
                <a:endParaRPr lang="en-US" altLang="zh-CN" sz="5400" dirty="0">
                  <a:latin typeface="Times New Roman" panose="02020603050405020304" pitchFamily="18" charset="0"/>
                </a:endParaRPr>
              </a:p>
            </p:txBody>
          </p:sp>
          <p:sp>
            <p:nvSpPr>
              <p:cNvPr id="105483" name="Oval 9"/>
              <p:cNvSpPr/>
              <p:nvPr/>
            </p:nvSpPr>
            <p:spPr>
              <a:xfrm>
                <a:off x="7045" y="930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4</a:t>
                </a:r>
                <a:endParaRPr lang="en-US" altLang="zh-CN" sz="5400" dirty="0">
                  <a:latin typeface="Times New Roman" panose="02020603050405020304" pitchFamily="18" charset="0"/>
                </a:endParaRPr>
              </a:p>
            </p:txBody>
          </p:sp>
          <p:sp>
            <p:nvSpPr>
              <p:cNvPr id="105484" name="Oval 10"/>
              <p:cNvSpPr/>
              <p:nvPr/>
            </p:nvSpPr>
            <p:spPr>
              <a:xfrm>
                <a:off x="6235" y="930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3</a:t>
                </a:r>
                <a:endParaRPr lang="en-US" altLang="zh-CN" sz="5400" dirty="0">
                  <a:latin typeface="Times New Roman" panose="02020603050405020304" pitchFamily="18" charset="0"/>
                </a:endParaRPr>
              </a:p>
            </p:txBody>
          </p:sp>
          <p:sp>
            <p:nvSpPr>
              <p:cNvPr id="105485" name="Line 11"/>
              <p:cNvSpPr/>
              <p:nvPr/>
            </p:nvSpPr>
            <p:spPr>
              <a:xfrm>
                <a:off x="4330" y="9546"/>
                <a:ext cx="360" cy="0"/>
              </a:xfrm>
              <a:prstGeom prst="line">
                <a:avLst/>
              </a:prstGeom>
              <a:ln w="9525" cap="flat" cmpd="sng">
                <a:solidFill>
                  <a:srgbClr val="0000FF"/>
                </a:solidFill>
                <a:prstDash val="solid"/>
                <a:headEnd type="none" w="med" len="med"/>
                <a:tailEnd type="triangle" w="sm" len="lg"/>
              </a:ln>
            </p:spPr>
          </p:sp>
          <p:sp>
            <p:nvSpPr>
              <p:cNvPr id="105486" name="Line 12"/>
              <p:cNvSpPr/>
              <p:nvPr/>
            </p:nvSpPr>
            <p:spPr>
              <a:xfrm>
                <a:off x="5095" y="9537"/>
                <a:ext cx="360" cy="0"/>
              </a:xfrm>
              <a:prstGeom prst="line">
                <a:avLst/>
              </a:prstGeom>
              <a:ln w="9525" cap="flat" cmpd="sng">
                <a:solidFill>
                  <a:srgbClr val="0000FF"/>
                </a:solidFill>
                <a:prstDash val="solid"/>
                <a:headEnd type="none" w="med" len="med"/>
                <a:tailEnd type="triangle" w="sm" len="lg"/>
              </a:ln>
            </p:spPr>
          </p:sp>
          <p:sp>
            <p:nvSpPr>
              <p:cNvPr id="105487" name="Line 13"/>
              <p:cNvSpPr/>
              <p:nvPr/>
            </p:nvSpPr>
            <p:spPr>
              <a:xfrm>
                <a:off x="5875" y="9528"/>
                <a:ext cx="360" cy="0"/>
              </a:xfrm>
              <a:prstGeom prst="line">
                <a:avLst/>
              </a:prstGeom>
              <a:ln w="9525" cap="flat" cmpd="sng">
                <a:solidFill>
                  <a:srgbClr val="0000FF"/>
                </a:solidFill>
                <a:prstDash val="solid"/>
                <a:headEnd type="none" w="med" len="med"/>
                <a:tailEnd type="triangle" w="sm" len="lg"/>
              </a:ln>
            </p:spPr>
          </p:sp>
          <p:sp>
            <p:nvSpPr>
              <p:cNvPr id="105488" name="Line 14"/>
              <p:cNvSpPr/>
              <p:nvPr/>
            </p:nvSpPr>
            <p:spPr>
              <a:xfrm>
                <a:off x="6670" y="9522"/>
                <a:ext cx="360" cy="0"/>
              </a:xfrm>
              <a:prstGeom prst="line">
                <a:avLst/>
              </a:prstGeom>
              <a:ln w="9525" cap="flat" cmpd="sng">
                <a:solidFill>
                  <a:srgbClr val="0000FF"/>
                </a:solidFill>
                <a:prstDash val="solid"/>
                <a:headEnd type="none" w="med" len="med"/>
                <a:tailEnd type="triangle" w="sm" len="lg"/>
              </a:ln>
            </p:spPr>
          </p:sp>
          <p:sp>
            <p:nvSpPr>
              <p:cNvPr id="105489" name="Oval 15"/>
              <p:cNvSpPr/>
              <p:nvPr/>
            </p:nvSpPr>
            <p:spPr>
              <a:xfrm>
                <a:off x="8545" y="8853"/>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10</a:t>
                </a:r>
                <a:endParaRPr lang="en-US" altLang="zh-CN" sz="5400" dirty="0">
                  <a:latin typeface="Times New Roman" panose="02020603050405020304" pitchFamily="18" charset="0"/>
                </a:endParaRPr>
              </a:p>
            </p:txBody>
          </p:sp>
          <p:sp>
            <p:nvSpPr>
              <p:cNvPr id="105490" name="Oval 16"/>
              <p:cNvSpPr/>
              <p:nvPr/>
            </p:nvSpPr>
            <p:spPr>
              <a:xfrm>
                <a:off x="7735" y="8853"/>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11</a:t>
                </a:r>
                <a:endParaRPr lang="en-US" altLang="zh-CN" sz="5400" dirty="0">
                  <a:latin typeface="Times New Roman" panose="02020603050405020304" pitchFamily="18" charset="0"/>
                </a:endParaRPr>
              </a:p>
            </p:txBody>
          </p:sp>
          <p:sp>
            <p:nvSpPr>
              <p:cNvPr id="105491" name="Oval 17"/>
              <p:cNvSpPr/>
              <p:nvPr/>
            </p:nvSpPr>
            <p:spPr>
              <a:xfrm>
                <a:off x="8575" y="960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12</a:t>
                </a:r>
                <a:endParaRPr lang="en-US" altLang="zh-CN" sz="5400" dirty="0">
                  <a:latin typeface="Times New Roman" panose="02020603050405020304" pitchFamily="18" charset="0"/>
                </a:endParaRPr>
              </a:p>
            </p:txBody>
          </p:sp>
          <p:sp>
            <p:nvSpPr>
              <p:cNvPr id="105492" name="Oval 18"/>
              <p:cNvSpPr/>
              <p:nvPr/>
            </p:nvSpPr>
            <p:spPr>
              <a:xfrm>
                <a:off x="7765" y="960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13</a:t>
                </a:r>
                <a:endParaRPr lang="en-US" altLang="zh-CN" sz="5400" dirty="0">
                  <a:latin typeface="Times New Roman" panose="02020603050405020304" pitchFamily="18" charset="0"/>
                </a:endParaRPr>
              </a:p>
            </p:txBody>
          </p:sp>
          <p:sp>
            <p:nvSpPr>
              <p:cNvPr id="105493" name="Line 19"/>
              <p:cNvSpPr/>
              <p:nvPr/>
            </p:nvSpPr>
            <p:spPr>
              <a:xfrm flipH="1">
                <a:off x="8140" y="9072"/>
                <a:ext cx="394" cy="0"/>
              </a:xfrm>
              <a:prstGeom prst="line">
                <a:avLst/>
              </a:prstGeom>
              <a:ln w="9525" cap="flat" cmpd="sng">
                <a:solidFill>
                  <a:srgbClr val="0000FF"/>
                </a:solidFill>
                <a:prstDash val="solid"/>
                <a:headEnd type="none" w="med" len="med"/>
                <a:tailEnd type="triangle" w="sm" len="lg"/>
              </a:ln>
            </p:spPr>
          </p:sp>
          <p:sp>
            <p:nvSpPr>
              <p:cNvPr id="105494" name="Line 20"/>
              <p:cNvSpPr/>
              <p:nvPr/>
            </p:nvSpPr>
            <p:spPr>
              <a:xfrm flipH="1">
                <a:off x="8185" y="9825"/>
                <a:ext cx="395" cy="0"/>
              </a:xfrm>
              <a:prstGeom prst="line">
                <a:avLst/>
              </a:prstGeom>
              <a:ln w="9525" cap="flat" cmpd="sng">
                <a:solidFill>
                  <a:srgbClr val="0000FF"/>
                </a:solidFill>
                <a:prstDash val="solid"/>
                <a:headEnd type="none" w="med" len="med"/>
                <a:tailEnd type="triangle" w="sm" len="lg"/>
              </a:ln>
            </p:spPr>
          </p:sp>
          <p:sp>
            <p:nvSpPr>
              <p:cNvPr id="105495" name="Oval 21"/>
              <p:cNvSpPr/>
              <p:nvPr/>
            </p:nvSpPr>
            <p:spPr>
              <a:xfrm>
                <a:off x="3910" y="1008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9</a:t>
                </a:r>
                <a:endParaRPr lang="en-US" altLang="zh-CN" sz="5400" dirty="0">
                  <a:latin typeface="Times New Roman" panose="02020603050405020304" pitchFamily="18" charset="0"/>
                </a:endParaRPr>
              </a:p>
            </p:txBody>
          </p:sp>
          <p:sp>
            <p:nvSpPr>
              <p:cNvPr id="105496" name="Oval 22"/>
              <p:cNvSpPr/>
              <p:nvPr/>
            </p:nvSpPr>
            <p:spPr>
              <a:xfrm>
                <a:off x="4675" y="10071"/>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8</a:t>
                </a:r>
                <a:endParaRPr lang="en-US" altLang="zh-CN" sz="5400" dirty="0">
                  <a:latin typeface="Times New Roman" panose="02020603050405020304" pitchFamily="18" charset="0"/>
                </a:endParaRPr>
              </a:p>
            </p:txBody>
          </p:sp>
          <p:sp>
            <p:nvSpPr>
              <p:cNvPr id="105497" name="Oval 23"/>
              <p:cNvSpPr/>
              <p:nvPr/>
            </p:nvSpPr>
            <p:spPr>
              <a:xfrm>
                <a:off x="5455" y="10086"/>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7</a:t>
                </a:r>
                <a:endParaRPr lang="en-US" altLang="zh-CN" sz="5400" dirty="0">
                  <a:latin typeface="Times New Roman" panose="02020603050405020304" pitchFamily="18" charset="0"/>
                </a:endParaRPr>
              </a:p>
            </p:txBody>
          </p:sp>
          <p:sp>
            <p:nvSpPr>
              <p:cNvPr id="105498" name="Oval 24"/>
              <p:cNvSpPr/>
              <p:nvPr/>
            </p:nvSpPr>
            <p:spPr>
              <a:xfrm>
                <a:off x="7045" y="10071"/>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5</a:t>
                </a:r>
                <a:endParaRPr lang="en-US" altLang="zh-CN" sz="5400" dirty="0">
                  <a:latin typeface="Times New Roman" panose="02020603050405020304" pitchFamily="18" charset="0"/>
                </a:endParaRPr>
              </a:p>
            </p:txBody>
          </p:sp>
          <p:sp>
            <p:nvSpPr>
              <p:cNvPr id="105499" name="Oval 25"/>
              <p:cNvSpPr/>
              <p:nvPr/>
            </p:nvSpPr>
            <p:spPr>
              <a:xfrm>
                <a:off x="6235" y="10071"/>
                <a:ext cx="420" cy="420"/>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400" dirty="0">
                    <a:latin typeface="Times New Roman" panose="02020603050405020304" pitchFamily="18" charset="0"/>
                  </a:rPr>
                  <a:t>6</a:t>
                </a:r>
                <a:endParaRPr lang="en-US" altLang="zh-CN" sz="5400" dirty="0">
                  <a:latin typeface="Times New Roman" panose="02020603050405020304" pitchFamily="18" charset="0"/>
                </a:endParaRPr>
              </a:p>
            </p:txBody>
          </p:sp>
          <p:sp>
            <p:nvSpPr>
              <p:cNvPr id="105500" name="Line 26"/>
              <p:cNvSpPr/>
              <p:nvPr/>
            </p:nvSpPr>
            <p:spPr>
              <a:xfrm flipH="1">
                <a:off x="4309" y="10275"/>
                <a:ext cx="360" cy="0"/>
              </a:xfrm>
              <a:prstGeom prst="line">
                <a:avLst/>
              </a:prstGeom>
              <a:ln w="9525" cap="flat" cmpd="sng">
                <a:solidFill>
                  <a:srgbClr val="0000FF"/>
                </a:solidFill>
                <a:prstDash val="solid"/>
                <a:headEnd type="none" w="med" len="med"/>
                <a:tailEnd type="triangle" w="sm" len="lg"/>
              </a:ln>
            </p:spPr>
          </p:sp>
          <p:sp>
            <p:nvSpPr>
              <p:cNvPr id="105501" name="Line 27"/>
              <p:cNvSpPr/>
              <p:nvPr/>
            </p:nvSpPr>
            <p:spPr>
              <a:xfrm flipH="1">
                <a:off x="5095" y="10287"/>
                <a:ext cx="360" cy="0"/>
              </a:xfrm>
              <a:prstGeom prst="line">
                <a:avLst/>
              </a:prstGeom>
              <a:ln w="9525" cap="flat" cmpd="sng">
                <a:solidFill>
                  <a:srgbClr val="0000FF"/>
                </a:solidFill>
                <a:prstDash val="solid"/>
                <a:headEnd type="none" w="med" len="med"/>
                <a:tailEnd type="triangle" w="sm" len="lg"/>
              </a:ln>
            </p:spPr>
          </p:sp>
          <p:sp>
            <p:nvSpPr>
              <p:cNvPr id="105502" name="Line 28"/>
              <p:cNvSpPr/>
              <p:nvPr/>
            </p:nvSpPr>
            <p:spPr>
              <a:xfrm flipH="1">
                <a:off x="5860" y="10287"/>
                <a:ext cx="360" cy="0"/>
              </a:xfrm>
              <a:prstGeom prst="line">
                <a:avLst/>
              </a:prstGeom>
              <a:ln w="9525" cap="flat" cmpd="sng">
                <a:solidFill>
                  <a:srgbClr val="0000FF"/>
                </a:solidFill>
                <a:prstDash val="solid"/>
                <a:headEnd type="none" w="med" len="med"/>
                <a:tailEnd type="triangle" w="sm" len="lg"/>
              </a:ln>
            </p:spPr>
          </p:sp>
          <p:sp>
            <p:nvSpPr>
              <p:cNvPr id="105503" name="Line 29"/>
              <p:cNvSpPr/>
              <p:nvPr/>
            </p:nvSpPr>
            <p:spPr>
              <a:xfrm flipH="1">
                <a:off x="6662" y="10288"/>
                <a:ext cx="360" cy="0"/>
              </a:xfrm>
              <a:prstGeom prst="line">
                <a:avLst/>
              </a:prstGeom>
              <a:ln w="9525" cap="flat" cmpd="sng">
                <a:solidFill>
                  <a:srgbClr val="0000FF"/>
                </a:solidFill>
                <a:prstDash val="solid"/>
                <a:headEnd type="none" w="med" len="med"/>
                <a:tailEnd type="triangle" w="sm" len="lg"/>
              </a:ln>
            </p:spPr>
          </p:sp>
          <p:sp>
            <p:nvSpPr>
              <p:cNvPr id="105504" name="Line 30"/>
              <p:cNvSpPr/>
              <p:nvPr/>
            </p:nvSpPr>
            <p:spPr>
              <a:xfrm>
                <a:off x="2875" y="9066"/>
                <a:ext cx="360" cy="0"/>
              </a:xfrm>
              <a:prstGeom prst="line">
                <a:avLst/>
              </a:prstGeom>
              <a:ln w="9525" cap="flat" cmpd="sng">
                <a:solidFill>
                  <a:srgbClr val="0000FF"/>
                </a:solidFill>
                <a:prstDash val="solid"/>
                <a:headEnd type="none" w="med" len="med"/>
                <a:tailEnd type="triangle" w="sm" len="lg"/>
              </a:ln>
            </p:spPr>
          </p:sp>
          <p:sp>
            <p:nvSpPr>
              <p:cNvPr id="105505" name="Line 31"/>
              <p:cNvSpPr/>
              <p:nvPr/>
            </p:nvSpPr>
            <p:spPr>
              <a:xfrm>
                <a:off x="3580" y="9183"/>
                <a:ext cx="360" cy="302"/>
              </a:xfrm>
              <a:prstGeom prst="line">
                <a:avLst/>
              </a:prstGeom>
              <a:ln w="9525" cap="flat" cmpd="sng">
                <a:solidFill>
                  <a:srgbClr val="0000FF"/>
                </a:solidFill>
                <a:prstDash val="solid"/>
                <a:headEnd type="none" w="med" len="med"/>
                <a:tailEnd type="triangle" w="sm" len="lg"/>
              </a:ln>
            </p:spPr>
          </p:sp>
          <p:sp>
            <p:nvSpPr>
              <p:cNvPr id="105506" name="Line 32"/>
              <p:cNvSpPr/>
              <p:nvPr/>
            </p:nvSpPr>
            <p:spPr>
              <a:xfrm flipH="1">
                <a:off x="7465" y="9210"/>
                <a:ext cx="306" cy="255"/>
              </a:xfrm>
              <a:prstGeom prst="line">
                <a:avLst/>
              </a:prstGeom>
              <a:ln w="9525" cap="flat" cmpd="sng">
                <a:solidFill>
                  <a:srgbClr val="0000FF"/>
                </a:solidFill>
                <a:prstDash val="solid"/>
                <a:headEnd type="none" w="med" len="med"/>
                <a:tailEnd type="triangle" w="sm" len="lg"/>
              </a:ln>
            </p:spPr>
          </p:sp>
          <p:sp>
            <p:nvSpPr>
              <p:cNvPr id="105507" name="Line 33"/>
              <p:cNvSpPr/>
              <p:nvPr/>
            </p:nvSpPr>
            <p:spPr>
              <a:xfrm flipH="1" flipV="1">
                <a:off x="7450" y="9591"/>
                <a:ext cx="306" cy="255"/>
              </a:xfrm>
              <a:prstGeom prst="line">
                <a:avLst/>
              </a:prstGeom>
              <a:ln w="9525" cap="flat" cmpd="sng">
                <a:solidFill>
                  <a:srgbClr val="0000FF"/>
                </a:solidFill>
                <a:prstDash val="solid"/>
                <a:headEnd type="none" w="med" len="med"/>
                <a:tailEnd type="triangle" w="sm" len="lg"/>
              </a:ln>
            </p:spPr>
          </p:sp>
          <p:sp>
            <p:nvSpPr>
              <p:cNvPr id="105508" name="Line 34"/>
              <p:cNvSpPr/>
              <p:nvPr/>
            </p:nvSpPr>
            <p:spPr>
              <a:xfrm>
                <a:off x="7258" y="9729"/>
                <a:ext cx="0" cy="369"/>
              </a:xfrm>
              <a:prstGeom prst="line">
                <a:avLst/>
              </a:prstGeom>
              <a:ln w="9525" cap="flat" cmpd="sng">
                <a:solidFill>
                  <a:srgbClr val="0000FF"/>
                </a:solidFill>
                <a:prstDash val="solid"/>
                <a:headEnd type="none" w="med" len="med"/>
                <a:tailEnd type="triangle" w="sm" len="lg"/>
              </a:ln>
            </p:spPr>
          </p:sp>
          <p:sp>
            <p:nvSpPr>
              <p:cNvPr id="105509" name="Line 35"/>
              <p:cNvSpPr/>
              <p:nvPr/>
            </p:nvSpPr>
            <p:spPr>
              <a:xfrm flipV="1">
                <a:off x="4120" y="9714"/>
                <a:ext cx="0" cy="369"/>
              </a:xfrm>
              <a:prstGeom prst="line">
                <a:avLst/>
              </a:prstGeom>
              <a:ln w="9525" cap="flat" cmpd="sng">
                <a:solidFill>
                  <a:srgbClr val="0000FF"/>
                </a:solidFill>
                <a:prstDash val="solid"/>
                <a:headEnd type="none" w="med" len="med"/>
                <a:tailEnd type="triangle" w="sm" len="lg"/>
              </a:ln>
            </p:spPr>
          </p:sp>
        </p:grpSp>
        <p:sp>
          <p:nvSpPr>
            <p:cNvPr id="105477" name="Text Box 36"/>
            <p:cNvSpPr txBox="1"/>
            <p:nvPr/>
          </p:nvSpPr>
          <p:spPr>
            <a:xfrm>
              <a:off x="4908" y="11741"/>
              <a:ext cx="1544" cy="312"/>
            </a:xfrm>
            <a:prstGeom prst="rect">
              <a:avLst/>
            </a:prstGeom>
            <a:noFill/>
            <a:ln w="9525">
              <a:noFill/>
            </a:ln>
          </p:spPr>
          <p:txBody>
            <a:bodyPr wrap="none">
              <a:spAutoFit/>
            </a:bodyPr>
            <a:lstStyle/>
            <a:p>
              <a:pPr algn="ctr"/>
              <a:r>
                <a:rPr lang="zh-CN" altLang="en-US" sz="2000" dirty="0">
                  <a:solidFill>
                    <a:srgbClr val="000000"/>
                  </a:solidFill>
                  <a:latin typeface="Times New Roman" panose="02020603050405020304" pitchFamily="18" charset="0"/>
                </a:rPr>
                <a:t>状态转移关系图</a:t>
              </a:r>
              <a:endParaRPr lang="zh-CN" altLang="en-US" sz="5400" dirty="0">
                <a:latin typeface="Times New Roman" panose="02020603050405020304" pitchFamily="18" charset="0"/>
              </a:endParaRPr>
            </a:p>
          </p:txBody>
        </p:sp>
      </p:grpSp>
      <p:sp>
        <p:nvSpPr>
          <p:cNvPr id="105475" name="Rectangle 37" descr="羊皮纸"/>
          <p:cNvSpPr/>
          <p:nvPr/>
        </p:nvSpPr>
        <p:spPr>
          <a:xfrm>
            <a:off x="0" y="809625"/>
            <a:ext cx="9144000" cy="2654300"/>
          </a:xfrm>
          <a:prstGeom prst="rect">
            <a:avLst/>
          </a:prstGeom>
          <a:noFill/>
          <a:ln w="38100">
            <a:noFill/>
          </a:ln>
        </p:spPr>
        <p:txBody>
          <a:bodyPr lIns="90000" tIns="46800" rIns="90000" bIns="46800" anchor="ctr" anchorCtr="0">
            <a:spAutoFit/>
          </a:bodyPr>
          <a:lstStyle/>
          <a:p>
            <a:pPr indent="1076325"/>
            <a:r>
              <a:rPr lang="zh-CN" altLang="en-US" sz="2800" dirty="0">
                <a:latin typeface="Times New Roman" panose="02020603050405020304" pitchFamily="18" charset="0"/>
              </a:rPr>
              <a:t>为使电路不至于出现挂起现象，需要检查不在计数循环中的状态的转移关系。共有</a:t>
            </a:r>
            <a:r>
              <a:rPr lang="en-US" altLang="zh-CN" sz="2800" dirty="0">
                <a:latin typeface="Times New Roman" panose="02020603050405020304" pitchFamily="18" charset="0"/>
              </a:rPr>
              <a:t>6</a:t>
            </a:r>
            <a:r>
              <a:rPr lang="zh-CN" altLang="en-US" sz="2800" dirty="0">
                <a:latin typeface="Times New Roman" panose="02020603050405020304" pitchFamily="18" charset="0"/>
              </a:rPr>
              <a:t>个未使用的状态。凡在化简时被圈入的任意项，其取值为</a:t>
            </a:r>
            <a:r>
              <a:rPr lang="en-US" altLang="zh-CN" sz="2800" dirty="0">
                <a:latin typeface="Times New Roman" panose="02020603050405020304" pitchFamily="18" charset="0"/>
              </a:rPr>
              <a:t>1</a:t>
            </a:r>
            <a:r>
              <a:rPr lang="zh-CN" altLang="en-US" sz="2800" dirty="0">
                <a:latin typeface="Times New Roman" panose="02020603050405020304" pitchFamily="18" charset="0"/>
              </a:rPr>
              <a:t>，没有被圈入的任意项取值为</a:t>
            </a:r>
            <a:r>
              <a:rPr lang="en-US" altLang="zh-CN" sz="2800" dirty="0">
                <a:latin typeface="Times New Roman" panose="02020603050405020304" pitchFamily="18" charset="0"/>
              </a:rPr>
              <a:t>0</a:t>
            </a:r>
            <a:r>
              <a:rPr lang="zh-CN" altLang="en-US" sz="2800" dirty="0">
                <a:latin typeface="Times New Roman" panose="02020603050405020304" pitchFamily="18" charset="0"/>
              </a:rPr>
              <a:t>。从而得到这</a:t>
            </a:r>
            <a:r>
              <a:rPr lang="en-US" altLang="zh-CN" sz="2800" dirty="0">
                <a:latin typeface="Times New Roman" panose="02020603050405020304" pitchFamily="18" charset="0"/>
              </a:rPr>
              <a:t>6</a:t>
            </a:r>
            <a:r>
              <a:rPr lang="zh-CN" altLang="en-US" sz="2800" dirty="0">
                <a:latin typeface="Times New Roman" panose="02020603050405020304" pitchFamily="18" charset="0"/>
              </a:rPr>
              <a:t>个未使用状态的次态为：</a:t>
            </a:r>
          </a:p>
          <a:p>
            <a:pPr indent="1076325"/>
            <a:r>
              <a:rPr lang="en-US" altLang="zh-CN" sz="2800" dirty="0">
                <a:latin typeface="Times New Roman" panose="02020603050405020304" pitchFamily="18" charset="0"/>
              </a:rPr>
              <a:t>1010→1011      1011→0100        1100→1101</a:t>
            </a:r>
          </a:p>
          <a:p>
            <a:pPr indent="1076325"/>
            <a:r>
              <a:rPr lang="en-US" altLang="zh-CN" sz="2800" dirty="0">
                <a:latin typeface="Times New Roman" panose="02020603050405020304" pitchFamily="18" charset="0"/>
              </a:rPr>
              <a:t>1101→0100      1110→1111        1111→0000</a:t>
            </a:r>
          </a:p>
        </p:txBody>
      </p:sp>
    </p:spTree>
  </p:cSld>
  <p:clrMapOvr>
    <a:masterClrMapping/>
  </p:clrMapOvr>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74" name="Group 2"/>
          <p:cNvGrpSpPr/>
          <p:nvPr/>
        </p:nvGrpSpPr>
        <p:grpSpPr>
          <a:xfrm>
            <a:off x="490538" y="1616075"/>
            <a:ext cx="7908925" cy="2409825"/>
            <a:chOff x="302" y="1512"/>
            <a:chExt cx="4982" cy="1518"/>
          </a:xfrm>
        </p:grpSpPr>
        <p:sp>
          <p:nvSpPr>
            <p:cNvPr id="7176" name="Rectangle 3"/>
            <p:cNvSpPr/>
            <p:nvPr/>
          </p:nvSpPr>
          <p:spPr>
            <a:xfrm>
              <a:off x="302" y="2769"/>
              <a:ext cx="184" cy="261"/>
            </a:xfrm>
            <a:prstGeom prst="rect">
              <a:avLst/>
            </a:prstGeom>
            <a:noFill/>
            <a:ln w="9525">
              <a:noFill/>
            </a:ln>
          </p:spPr>
          <p:txBody>
            <a:bodyPr lIns="0" tIns="0" rIns="0" bIns="0"/>
            <a:lstStyle/>
            <a:p>
              <a:pPr algn="just"/>
              <a:r>
                <a:rPr lang="en-US" altLang="zh-CN" sz="1600" i="1" dirty="0">
                  <a:latin typeface="Times New Roman" panose="02020603050405020304" pitchFamily="18" charset="0"/>
                </a:rPr>
                <a:t>CP</a:t>
              </a:r>
              <a:endParaRPr lang="en-US" altLang="zh-CN" sz="4400" dirty="0">
                <a:latin typeface="Times New Roman" panose="02020603050405020304" pitchFamily="18" charset="0"/>
              </a:endParaRPr>
            </a:p>
          </p:txBody>
        </p:sp>
        <p:sp>
          <p:nvSpPr>
            <p:cNvPr id="7177" name="Rectangle 4"/>
            <p:cNvSpPr/>
            <p:nvPr/>
          </p:nvSpPr>
          <p:spPr>
            <a:xfrm>
              <a:off x="2756" y="1884"/>
              <a:ext cx="185" cy="262"/>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endParaRPr lang="en-US" altLang="zh-CN" sz="5400" dirty="0">
                <a:latin typeface="Times New Roman" panose="02020603050405020304" pitchFamily="18" charset="0"/>
              </a:endParaRPr>
            </a:p>
          </p:txBody>
        </p:sp>
        <p:sp>
          <p:nvSpPr>
            <p:cNvPr id="7178" name="Rectangle 5"/>
            <p:cNvSpPr/>
            <p:nvPr/>
          </p:nvSpPr>
          <p:spPr>
            <a:xfrm>
              <a:off x="3978" y="1891"/>
              <a:ext cx="184" cy="261"/>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endParaRPr lang="en-US" altLang="zh-CN" sz="5400" dirty="0">
                <a:latin typeface="Times New Roman" panose="02020603050405020304" pitchFamily="18" charset="0"/>
              </a:endParaRPr>
            </a:p>
          </p:txBody>
        </p:sp>
        <p:sp>
          <p:nvSpPr>
            <p:cNvPr id="7179" name="Rectangle 6"/>
            <p:cNvSpPr/>
            <p:nvPr/>
          </p:nvSpPr>
          <p:spPr>
            <a:xfrm>
              <a:off x="5100" y="1851"/>
              <a:ext cx="184" cy="262"/>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endParaRPr lang="en-US" altLang="zh-CN" sz="5400" dirty="0">
                <a:latin typeface="Times New Roman" panose="02020603050405020304" pitchFamily="18" charset="0"/>
              </a:endParaRPr>
            </a:p>
          </p:txBody>
        </p:sp>
        <p:sp>
          <p:nvSpPr>
            <p:cNvPr id="7180" name="Rectangle 7"/>
            <p:cNvSpPr/>
            <p:nvPr/>
          </p:nvSpPr>
          <p:spPr>
            <a:xfrm>
              <a:off x="1579" y="1866"/>
              <a:ext cx="185" cy="261"/>
            </a:xfrm>
            <a:prstGeom prst="rect">
              <a:avLst/>
            </a:prstGeom>
            <a:noFill/>
            <a:ln w="9525">
              <a:noFill/>
            </a:ln>
          </p:spPr>
          <p:txBody>
            <a:bodyPr lIns="0" tIns="0" rIns="0" bIns="0"/>
            <a:lstStyle/>
            <a:p>
              <a:pPr algn="just"/>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0</a:t>
              </a:r>
              <a:endParaRPr lang="en-US" altLang="zh-CN" sz="5400" dirty="0">
                <a:latin typeface="Times New Roman" panose="02020603050405020304" pitchFamily="18" charset="0"/>
              </a:endParaRPr>
            </a:p>
          </p:txBody>
        </p:sp>
        <p:sp>
          <p:nvSpPr>
            <p:cNvPr id="7181" name="Oval 8"/>
            <p:cNvSpPr/>
            <p:nvPr/>
          </p:nvSpPr>
          <p:spPr>
            <a:xfrm>
              <a:off x="1558" y="2558"/>
              <a:ext cx="42" cy="42"/>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7182" name="Oval 9"/>
            <p:cNvSpPr/>
            <p:nvPr/>
          </p:nvSpPr>
          <p:spPr>
            <a:xfrm>
              <a:off x="825" y="2898"/>
              <a:ext cx="43" cy="42"/>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7183" name="Oval 10"/>
            <p:cNvSpPr/>
            <p:nvPr/>
          </p:nvSpPr>
          <p:spPr>
            <a:xfrm>
              <a:off x="3195" y="2901"/>
              <a:ext cx="42" cy="41"/>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7184" name="Oval 11"/>
            <p:cNvSpPr/>
            <p:nvPr/>
          </p:nvSpPr>
          <p:spPr>
            <a:xfrm>
              <a:off x="1979" y="2901"/>
              <a:ext cx="42" cy="41"/>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7185" name="Rectangle 12"/>
            <p:cNvSpPr/>
            <p:nvPr/>
          </p:nvSpPr>
          <p:spPr>
            <a:xfrm>
              <a:off x="1013" y="1952"/>
              <a:ext cx="544" cy="72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just">
                <a:lnSpc>
                  <a:spcPct val="96000"/>
                </a:lnSpc>
              </a:pPr>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0</a:t>
              </a:r>
              <a:endParaRPr lang="en-US" altLang="zh-CN" sz="2400" i="1" dirty="0">
                <a:latin typeface="Times New Roman" panose="02020603050405020304" pitchFamily="18" charset="0"/>
              </a:endParaRPr>
            </a:p>
            <a:p>
              <a:pPr algn="just"/>
              <a:r>
                <a:rPr lang="en-US" altLang="zh-CN" sz="2400" i="1" dirty="0">
                  <a:latin typeface="Times New Roman" panose="02020603050405020304" pitchFamily="18" charset="0"/>
                </a:rPr>
                <a:t> C</a:t>
              </a:r>
              <a:endParaRPr lang="en-US" altLang="zh-CN" sz="2400" dirty="0">
                <a:latin typeface="Times New Roman" panose="02020603050405020304" pitchFamily="18" charset="0"/>
              </a:endParaRPr>
            </a:p>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0</a:t>
              </a:r>
              <a:endParaRPr lang="en-US" altLang="zh-CN" sz="2400" i="1" dirty="0">
                <a:latin typeface="Times New Roman" panose="02020603050405020304" pitchFamily="18" charset="0"/>
              </a:endParaRPr>
            </a:p>
            <a:p>
              <a:pPr algn="ctr">
                <a:lnSpc>
                  <a:spcPct val="96000"/>
                </a:lnSpc>
              </a:pPr>
              <a:endParaRPr lang="en-US" altLang="zh-CN" sz="2400" dirty="0">
                <a:latin typeface="Times New Roman" panose="02020603050405020304" pitchFamily="18" charset="0"/>
              </a:endParaRPr>
            </a:p>
            <a:p>
              <a:endParaRPr lang="en-US" altLang="zh-CN" sz="6000" dirty="0">
                <a:latin typeface="Times New Roman" panose="02020603050405020304" pitchFamily="18" charset="0"/>
              </a:endParaRPr>
            </a:p>
          </p:txBody>
        </p:sp>
        <p:sp>
          <p:nvSpPr>
            <p:cNvPr id="7186" name="Rectangle 13"/>
            <p:cNvSpPr/>
            <p:nvPr/>
          </p:nvSpPr>
          <p:spPr>
            <a:xfrm>
              <a:off x="2190" y="1977"/>
              <a:ext cx="544" cy="728"/>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just">
                <a:lnSpc>
                  <a:spcPct val="96000"/>
                </a:lnSpc>
              </a:pPr>
              <a:r>
                <a:rPr lang="en-US" altLang="zh-CN" sz="2400" dirty="0">
                  <a:latin typeface="Times New Roman" panose="02020603050405020304" pitchFamily="18" charset="0"/>
                </a:rPr>
                <a:t>&amp;</a:t>
              </a:r>
              <a:r>
                <a:rPr lang="en-US" altLang="zh-CN" sz="2400" dirty="0">
                  <a:latin typeface="宋体" panose="02010600030101010101" pitchFamily="2" charset="-122"/>
                </a:rPr>
                <a:t>  </a:t>
              </a:r>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1</a:t>
              </a:r>
              <a:endParaRPr lang="en-US" altLang="zh-CN" sz="2400" i="1" dirty="0">
                <a:latin typeface="Times New Roman" panose="02020603050405020304" pitchFamily="18" charset="0"/>
              </a:endParaRPr>
            </a:p>
            <a:p>
              <a:pPr algn="just"/>
              <a:r>
                <a:rPr lang="en-US" altLang="zh-CN" sz="2400" i="1" dirty="0">
                  <a:latin typeface="Times New Roman" panose="02020603050405020304" pitchFamily="18" charset="0"/>
                </a:rPr>
                <a:t> C</a:t>
              </a:r>
              <a:endParaRPr lang="en-US" altLang="zh-CN" sz="2400" dirty="0">
                <a:latin typeface="Times New Roman" panose="02020603050405020304" pitchFamily="18" charset="0"/>
              </a:endParaRPr>
            </a:p>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7187" name="Rectangle 14"/>
            <p:cNvSpPr/>
            <p:nvPr/>
          </p:nvSpPr>
          <p:spPr>
            <a:xfrm>
              <a:off x="3378" y="1963"/>
              <a:ext cx="544" cy="72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just">
                <a:lnSpc>
                  <a:spcPct val="96000"/>
                </a:lnSpc>
              </a:pPr>
              <a:r>
                <a:rPr lang="en-US" altLang="zh-CN" sz="2400" dirty="0">
                  <a:latin typeface="Times New Roman" panose="02020603050405020304" pitchFamily="18" charset="0"/>
                </a:rPr>
                <a:t>&amp;  </a:t>
              </a:r>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2</a:t>
              </a:r>
              <a:endParaRPr lang="en-US" altLang="zh-CN" sz="2400" i="1" dirty="0">
                <a:latin typeface="Times New Roman" panose="02020603050405020304" pitchFamily="18" charset="0"/>
              </a:endParaRPr>
            </a:p>
            <a:p>
              <a:pPr algn="just"/>
              <a:r>
                <a:rPr lang="en-US" altLang="zh-CN" sz="2400" i="1" dirty="0">
                  <a:latin typeface="Times New Roman" panose="02020603050405020304" pitchFamily="18" charset="0"/>
                </a:rPr>
                <a:t> C</a:t>
              </a:r>
              <a:endParaRPr lang="en-US" altLang="zh-CN" sz="2400" dirty="0">
                <a:latin typeface="Times New Roman" panose="02020603050405020304" pitchFamily="18" charset="0"/>
              </a:endParaRPr>
            </a:p>
            <a:p>
              <a:pPr algn="just"/>
              <a:r>
                <a:rPr lang="en-US" altLang="zh-CN" sz="2400" dirty="0">
                  <a:latin typeface="Times New Roman" panose="02020603050405020304" pitchFamily="18" charset="0"/>
                </a:rPr>
                <a:t>&amp;  </a:t>
              </a:r>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2</a:t>
              </a:r>
              <a:endParaRPr lang="en-US" altLang="zh-CN" sz="2400" i="1" dirty="0">
                <a:latin typeface="Times New Roman" panose="02020603050405020304" pitchFamily="18" charset="0"/>
              </a:endParaRPr>
            </a:p>
            <a:p>
              <a:pPr algn="just">
                <a:lnSpc>
                  <a:spcPct val="96000"/>
                </a:lnSpc>
              </a:pPr>
              <a:endParaRPr lang="en-US" altLang="zh-CN" sz="2400" dirty="0">
                <a:latin typeface="Times New Roman" panose="02020603050405020304" pitchFamily="18" charset="0"/>
              </a:endParaRPr>
            </a:p>
            <a:p>
              <a:endParaRPr lang="en-US" altLang="zh-CN" sz="6000" dirty="0">
                <a:latin typeface="Times New Roman" panose="02020603050405020304" pitchFamily="18" charset="0"/>
              </a:endParaRPr>
            </a:p>
          </p:txBody>
        </p:sp>
        <p:sp>
          <p:nvSpPr>
            <p:cNvPr id="7188" name="Line 15"/>
            <p:cNvSpPr/>
            <p:nvPr/>
          </p:nvSpPr>
          <p:spPr>
            <a:xfrm>
              <a:off x="2001" y="2334"/>
              <a:ext cx="133" cy="0"/>
            </a:xfrm>
            <a:prstGeom prst="line">
              <a:avLst/>
            </a:prstGeom>
            <a:ln w="9525" cap="flat" cmpd="sng">
              <a:solidFill>
                <a:srgbClr val="0000FF"/>
              </a:solidFill>
              <a:prstDash val="solid"/>
              <a:headEnd type="none" w="med" len="med"/>
              <a:tailEnd type="none" w="med" len="med"/>
            </a:ln>
          </p:spPr>
        </p:sp>
        <p:sp>
          <p:nvSpPr>
            <p:cNvPr id="7189" name="Oval 16"/>
            <p:cNvSpPr/>
            <p:nvPr/>
          </p:nvSpPr>
          <p:spPr>
            <a:xfrm>
              <a:off x="979" y="2285"/>
              <a:ext cx="43" cy="41"/>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7190" name="Line 17"/>
            <p:cNvSpPr/>
            <p:nvPr/>
          </p:nvSpPr>
          <p:spPr>
            <a:xfrm>
              <a:off x="2745" y="2124"/>
              <a:ext cx="622" cy="0"/>
            </a:xfrm>
            <a:prstGeom prst="line">
              <a:avLst/>
            </a:prstGeom>
            <a:ln w="9525" cap="flat" cmpd="sng">
              <a:solidFill>
                <a:srgbClr val="0000FF"/>
              </a:solidFill>
              <a:prstDash val="solid"/>
              <a:headEnd type="none" w="med" len="med"/>
              <a:tailEnd type="none" w="med" len="med"/>
            </a:ln>
          </p:spPr>
        </p:sp>
        <p:sp>
          <p:nvSpPr>
            <p:cNvPr id="7191" name="Oval 18"/>
            <p:cNvSpPr/>
            <p:nvPr/>
          </p:nvSpPr>
          <p:spPr>
            <a:xfrm>
              <a:off x="2146" y="2319"/>
              <a:ext cx="42" cy="42"/>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7192" name="Line 19"/>
            <p:cNvSpPr/>
            <p:nvPr/>
          </p:nvSpPr>
          <p:spPr>
            <a:xfrm>
              <a:off x="3934" y="2159"/>
              <a:ext cx="616" cy="0"/>
            </a:xfrm>
            <a:prstGeom prst="line">
              <a:avLst/>
            </a:prstGeom>
            <a:ln w="9525" cap="flat" cmpd="sng">
              <a:solidFill>
                <a:srgbClr val="0000FF"/>
              </a:solidFill>
              <a:prstDash val="solid"/>
              <a:headEnd type="none" w="med" len="med"/>
              <a:tailEnd type="none" w="med" len="med"/>
            </a:ln>
          </p:spPr>
        </p:sp>
        <p:sp>
          <p:nvSpPr>
            <p:cNvPr id="7193" name="Line 20"/>
            <p:cNvSpPr/>
            <p:nvPr/>
          </p:nvSpPr>
          <p:spPr>
            <a:xfrm>
              <a:off x="5133" y="2578"/>
              <a:ext cx="133" cy="0"/>
            </a:xfrm>
            <a:prstGeom prst="line">
              <a:avLst/>
            </a:prstGeom>
            <a:ln w="9525" cap="flat" cmpd="sng">
              <a:solidFill>
                <a:srgbClr val="0000FF"/>
              </a:solidFill>
              <a:prstDash val="solid"/>
              <a:headEnd type="none" w="med" len="med"/>
              <a:tailEnd type="none" w="med" len="med"/>
            </a:ln>
          </p:spPr>
        </p:sp>
        <p:sp>
          <p:nvSpPr>
            <p:cNvPr id="7194" name="Line 21"/>
            <p:cNvSpPr/>
            <p:nvPr/>
          </p:nvSpPr>
          <p:spPr>
            <a:xfrm>
              <a:off x="1570" y="2132"/>
              <a:ext cx="617" cy="0"/>
            </a:xfrm>
            <a:prstGeom prst="line">
              <a:avLst/>
            </a:prstGeom>
            <a:ln w="9525" cap="flat" cmpd="sng">
              <a:solidFill>
                <a:srgbClr val="0000FF"/>
              </a:solidFill>
              <a:prstDash val="solid"/>
              <a:headEnd type="none" w="med" len="med"/>
              <a:tailEnd type="none" w="med" len="med"/>
            </a:ln>
          </p:spPr>
        </p:sp>
        <p:sp>
          <p:nvSpPr>
            <p:cNvPr id="7195" name="Line 22"/>
            <p:cNvSpPr/>
            <p:nvPr/>
          </p:nvSpPr>
          <p:spPr>
            <a:xfrm>
              <a:off x="3038" y="1803"/>
              <a:ext cx="1089" cy="0"/>
            </a:xfrm>
            <a:prstGeom prst="line">
              <a:avLst/>
            </a:prstGeom>
            <a:ln w="9525" cap="flat" cmpd="sng">
              <a:solidFill>
                <a:srgbClr val="0000FF"/>
              </a:solidFill>
              <a:prstDash val="solid"/>
              <a:headEnd type="none" w="med" len="med"/>
              <a:tailEnd type="none" w="med" len="med"/>
            </a:ln>
          </p:spPr>
        </p:sp>
        <p:sp>
          <p:nvSpPr>
            <p:cNvPr id="7196" name="Line 23"/>
            <p:cNvSpPr/>
            <p:nvPr/>
          </p:nvSpPr>
          <p:spPr>
            <a:xfrm flipH="1">
              <a:off x="4133" y="1800"/>
              <a:ext cx="0" cy="288"/>
            </a:xfrm>
            <a:prstGeom prst="line">
              <a:avLst/>
            </a:prstGeom>
            <a:ln w="9525" cap="flat" cmpd="sng">
              <a:solidFill>
                <a:srgbClr val="0000FF"/>
              </a:solidFill>
              <a:prstDash val="solid"/>
              <a:headEnd type="none" w="med" len="med"/>
              <a:tailEnd type="none" w="med" len="med"/>
            </a:ln>
          </p:spPr>
        </p:sp>
        <p:sp>
          <p:nvSpPr>
            <p:cNvPr id="7197" name="Line 24"/>
            <p:cNvSpPr/>
            <p:nvPr/>
          </p:nvSpPr>
          <p:spPr>
            <a:xfrm>
              <a:off x="4389" y="2325"/>
              <a:ext cx="133" cy="0"/>
            </a:xfrm>
            <a:prstGeom prst="line">
              <a:avLst/>
            </a:prstGeom>
            <a:ln w="9525" cap="flat" cmpd="sng">
              <a:solidFill>
                <a:srgbClr val="0000FF"/>
              </a:solidFill>
              <a:prstDash val="solid"/>
              <a:headEnd type="none" w="med" len="med"/>
              <a:tailEnd type="none" w="med" len="med"/>
            </a:ln>
          </p:spPr>
        </p:sp>
        <p:sp>
          <p:nvSpPr>
            <p:cNvPr id="7198" name="Line 25"/>
            <p:cNvSpPr/>
            <p:nvPr/>
          </p:nvSpPr>
          <p:spPr>
            <a:xfrm flipH="1">
              <a:off x="4389" y="2330"/>
              <a:ext cx="0" cy="581"/>
            </a:xfrm>
            <a:prstGeom prst="line">
              <a:avLst/>
            </a:prstGeom>
            <a:ln w="9525" cap="flat" cmpd="sng">
              <a:solidFill>
                <a:srgbClr val="0000FF"/>
              </a:solidFill>
              <a:prstDash val="solid"/>
              <a:headEnd type="none" w="med" len="med"/>
              <a:tailEnd type="none" w="med" len="med"/>
            </a:ln>
          </p:spPr>
        </p:sp>
        <p:sp>
          <p:nvSpPr>
            <p:cNvPr id="7199" name="Line 26"/>
            <p:cNvSpPr/>
            <p:nvPr/>
          </p:nvSpPr>
          <p:spPr>
            <a:xfrm flipH="1">
              <a:off x="591" y="2920"/>
              <a:ext cx="3798" cy="0"/>
            </a:xfrm>
            <a:prstGeom prst="line">
              <a:avLst/>
            </a:prstGeom>
            <a:ln w="9525" cap="flat" cmpd="sng">
              <a:solidFill>
                <a:srgbClr val="0000FF"/>
              </a:solidFill>
              <a:prstDash val="solid"/>
              <a:headEnd type="none" w="med" len="med"/>
              <a:tailEnd type="none" w="med" len="med"/>
            </a:ln>
          </p:spPr>
        </p:sp>
        <p:sp>
          <p:nvSpPr>
            <p:cNvPr id="7200" name="Line 27"/>
            <p:cNvSpPr/>
            <p:nvPr/>
          </p:nvSpPr>
          <p:spPr>
            <a:xfrm flipV="1">
              <a:off x="845" y="2301"/>
              <a:ext cx="0" cy="602"/>
            </a:xfrm>
            <a:prstGeom prst="line">
              <a:avLst/>
            </a:prstGeom>
            <a:ln w="9525" cap="flat" cmpd="sng">
              <a:solidFill>
                <a:srgbClr val="0000FF"/>
              </a:solidFill>
              <a:prstDash val="solid"/>
              <a:headEnd type="none" w="med" len="med"/>
              <a:tailEnd type="none" w="med" len="med"/>
            </a:ln>
          </p:spPr>
        </p:sp>
        <p:sp>
          <p:nvSpPr>
            <p:cNvPr id="7201" name="Line 28"/>
            <p:cNvSpPr/>
            <p:nvPr/>
          </p:nvSpPr>
          <p:spPr>
            <a:xfrm flipH="1">
              <a:off x="846" y="2301"/>
              <a:ext cx="133" cy="0"/>
            </a:xfrm>
            <a:prstGeom prst="line">
              <a:avLst/>
            </a:prstGeom>
            <a:ln w="9525" cap="flat" cmpd="sng">
              <a:solidFill>
                <a:srgbClr val="0000FF"/>
              </a:solidFill>
              <a:prstDash val="solid"/>
              <a:headEnd type="none" w="med" len="med"/>
              <a:tailEnd type="none" w="med" len="med"/>
            </a:ln>
          </p:spPr>
        </p:sp>
        <p:sp>
          <p:nvSpPr>
            <p:cNvPr id="7202" name="Line 29"/>
            <p:cNvSpPr/>
            <p:nvPr/>
          </p:nvSpPr>
          <p:spPr>
            <a:xfrm>
              <a:off x="2001" y="2339"/>
              <a:ext cx="0" cy="572"/>
            </a:xfrm>
            <a:prstGeom prst="line">
              <a:avLst/>
            </a:prstGeom>
            <a:ln w="9525" cap="flat" cmpd="sng">
              <a:solidFill>
                <a:srgbClr val="0000FF"/>
              </a:solidFill>
              <a:prstDash val="solid"/>
              <a:headEnd type="none" w="med" len="med"/>
              <a:tailEnd type="none" w="med" len="med"/>
            </a:ln>
          </p:spPr>
        </p:sp>
        <p:sp>
          <p:nvSpPr>
            <p:cNvPr id="7203" name="Freeform 30"/>
            <p:cNvSpPr/>
            <p:nvPr/>
          </p:nvSpPr>
          <p:spPr>
            <a:xfrm flipH="1" flipV="1">
              <a:off x="3378" y="2433"/>
              <a:ext cx="214" cy="244"/>
            </a:xfrm>
            <a:custGeom>
              <a:avLst/>
              <a:gdLst>
                <a:gd name="txL" fmla="*/ 0 w 345"/>
                <a:gd name="txT" fmla="*/ 0 h 390"/>
                <a:gd name="txR" fmla="*/ 345 w 345"/>
                <a:gd name="txB" fmla="*/ 390 h 390"/>
              </a:gdLst>
              <a:ahLst/>
              <a:cxnLst>
                <a:cxn ang="0">
                  <a:pos x="0" y="0"/>
                </a:cxn>
                <a:cxn ang="0">
                  <a:pos x="0" y="153"/>
                </a:cxn>
                <a:cxn ang="0">
                  <a:pos x="133" y="153"/>
                </a:cxn>
              </a:cxnLst>
              <a:rect l="txL" t="txT" r="txR" b="txB"/>
              <a:pathLst>
                <a:path w="345" h="390">
                  <a:moveTo>
                    <a:pt x="0" y="0"/>
                  </a:moveTo>
                  <a:lnTo>
                    <a:pt x="0" y="390"/>
                  </a:lnTo>
                  <a:lnTo>
                    <a:pt x="345" y="390"/>
                  </a:lnTo>
                </a:path>
              </a:pathLst>
            </a:custGeom>
            <a:noFill/>
            <a:ln w="9525" cap="flat" cmpd="sng">
              <a:solidFill>
                <a:srgbClr val="0000FF">
                  <a:alpha val="100000"/>
                </a:srgbClr>
              </a:solidFill>
              <a:prstDash val="solid"/>
              <a:round/>
              <a:headEnd type="none" w="med" len="med"/>
              <a:tailEnd type="none" w="med" len="med"/>
            </a:ln>
          </p:spPr>
          <p:txBody>
            <a:bodyPr/>
            <a:lstStyle/>
            <a:p>
              <a:endParaRPr lang="zh-CN" altLang="en-US" sz="2800"/>
            </a:p>
          </p:txBody>
        </p:sp>
        <p:sp>
          <p:nvSpPr>
            <p:cNvPr id="7204" name="Freeform 31"/>
            <p:cNvSpPr/>
            <p:nvPr/>
          </p:nvSpPr>
          <p:spPr>
            <a:xfrm rot="-10800000" flipV="1">
              <a:off x="2201" y="1981"/>
              <a:ext cx="214" cy="244"/>
            </a:xfrm>
            <a:custGeom>
              <a:avLst/>
              <a:gdLst>
                <a:gd name="txL" fmla="*/ 0 w 345"/>
                <a:gd name="txT" fmla="*/ 0 h 390"/>
                <a:gd name="txR" fmla="*/ 345 w 345"/>
                <a:gd name="txB" fmla="*/ 390 h 390"/>
              </a:gdLst>
              <a:ahLst/>
              <a:cxnLst>
                <a:cxn ang="0">
                  <a:pos x="0" y="0"/>
                </a:cxn>
                <a:cxn ang="0">
                  <a:pos x="0" y="153"/>
                </a:cxn>
                <a:cxn ang="0">
                  <a:pos x="133" y="153"/>
                </a:cxn>
              </a:cxnLst>
              <a:rect l="txL" t="txT" r="txR" b="txB"/>
              <a:pathLst>
                <a:path w="345" h="390">
                  <a:moveTo>
                    <a:pt x="0" y="0"/>
                  </a:moveTo>
                  <a:lnTo>
                    <a:pt x="0" y="390"/>
                  </a:lnTo>
                  <a:lnTo>
                    <a:pt x="345" y="390"/>
                  </a:lnTo>
                </a:path>
              </a:pathLst>
            </a:custGeom>
            <a:noFill/>
            <a:ln w="9525" cap="flat" cmpd="sng">
              <a:solidFill>
                <a:srgbClr val="0000FF">
                  <a:alpha val="100000"/>
                </a:srgbClr>
              </a:solidFill>
              <a:prstDash val="solid"/>
              <a:round/>
              <a:headEnd type="none" w="med" len="med"/>
              <a:tailEnd type="none" w="med" len="med"/>
            </a:ln>
          </p:spPr>
          <p:txBody>
            <a:bodyPr/>
            <a:lstStyle/>
            <a:p>
              <a:endParaRPr lang="zh-CN" altLang="en-US" sz="2800"/>
            </a:p>
          </p:txBody>
        </p:sp>
        <p:sp>
          <p:nvSpPr>
            <p:cNvPr id="7205" name="Freeform 32"/>
            <p:cNvSpPr/>
            <p:nvPr/>
          </p:nvSpPr>
          <p:spPr>
            <a:xfrm rot="-10800000" flipV="1">
              <a:off x="3389" y="1961"/>
              <a:ext cx="214" cy="245"/>
            </a:xfrm>
            <a:custGeom>
              <a:avLst/>
              <a:gdLst>
                <a:gd name="txL" fmla="*/ 0 w 345"/>
                <a:gd name="txT" fmla="*/ 0 h 390"/>
                <a:gd name="txR" fmla="*/ 345 w 345"/>
                <a:gd name="txB" fmla="*/ 390 h 390"/>
              </a:gdLst>
              <a:ahLst/>
              <a:cxnLst>
                <a:cxn ang="0">
                  <a:pos x="0" y="0"/>
                </a:cxn>
                <a:cxn ang="0">
                  <a:pos x="0" y="154"/>
                </a:cxn>
                <a:cxn ang="0">
                  <a:pos x="133" y="154"/>
                </a:cxn>
              </a:cxnLst>
              <a:rect l="txL" t="txT" r="txR" b="txB"/>
              <a:pathLst>
                <a:path w="345" h="390">
                  <a:moveTo>
                    <a:pt x="0" y="0"/>
                  </a:moveTo>
                  <a:lnTo>
                    <a:pt x="0" y="390"/>
                  </a:lnTo>
                  <a:lnTo>
                    <a:pt x="345" y="390"/>
                  </a:lnTo>
                </a:path>
              </a:pathLst>
            </a:custGeom>
            <a:noFill/>
            <a:ln w="9525" cap="flat" cmpd="sng">
              <a:solidFill>
                <a:srgbClr val="0000FF">
                  <a:alpha val="100000"/>
                </a:srgbClr>
              </a:solidFill>
              <a:prstDash val="solid"/>
              <a:round/>
              <a:headEnd type="none" w="med" len="med"/>
              <a:tailEnd type="none" w="med" len="med"/>
            </a:ln>
          </p:spPr>
          <p:txBody>
            <a:bodyPr/>
            <a:lstStyle/>
            <a:p>
              <a:endParaRPr lang="zh-CN" altLang="en-US" sz="2800"/>
            </a:p>
          </p:txBody>
        </p:sp>
        <p:sp>
          <p:nvSpPr>
            <p:cNvPr id="7206" name="Oval 33"/>
            <p:cNvSpPr/>
            <p:nvPr/>
          </p:nvSpPr>
          <p:spPr>
            <a:xfrm>
              <a:off x="5093" y="2558"/>
              <a:ext cx="42" cy="42"/>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7207" name="Line 34"/>
            <p:cNvSpPr/>
            <p:nvPr/>
          </p:nvSpPr>
          <p:spPr>
            <a:xfrm flipH="1">
              <a:off x="4289" y="2591"/>
              <a:ext cx="269" cy="0"/>
            </a:xfrm>
            <a:prstGeom prst="line">
              <a:avLst/>
            </a:prstGeom>
            <a:ln w="9525" cap="flat" cmpd="sng">
              <a:solidFill>
                <a:srgbClr val="0000FF"/>
              </a:solidFill>
              <a:prstDash val="solid"/>
              <a:headEnd type="none" w="med" len="med"/>
              <a:tailEnd type="none" w="med" len="med"/>
            </a:ln>
          </p:spPr>
        </p:sp>
        <p:sp>
          <p:nvSpPr>
            <p:cNvPr id="7208" name="Line 35"/>
            <p:cNvSpPr/>
            <p:nvPr/>
          </p:nvSpPr>
          <p:spPr>
            <a:xfrm flipV="1">
              <a:off x="4289" y="1667"/>
              <a:ext cx="0" cy="913"/>
            </a:xfrm>
            <a:prstGeom prst="line">
              <a:avLst/>
            </a:prstGeom>
            <a:ln w="9525" cap="flat" cmpd="sng">
              <a:solidFill>
                <a:srgbClr val="0000FF"/>
              </a:solidFill>
              <a:prstDash val="solid"/>
              <a:headEnd type="none" w="med" len="med"/>
              <a:tailEnd type="none" w="med" len="med"/>
            </a:ln>
          </p:spPr>
        </p:sp>
        <p:sp>
          <p:nvSpPr>
            <p:cNvPr id="7209" name="Line 36"/>
            <p:cNvSpPr/>
            <p:nvPr/>
          </p:nvSpPr>
          <p:spPr>
            <a:xfrm flipH="1">
              <a:off x="4145" y="2086"/>
              <a:ext cx="399" cy="0"/>
            </a:xfrm>
            <a:prstGeom prst="line">
              <a:avLst/>
            </a:prstGeom>
            <a:ln w="9525" cap="flat" cmpd="sng">
              <a:solidFill>
                <a:srgbClr val="0000FF"/>
              </a:solidFill>
              <a:prstDash val="solid"/>
              <a:headEnd type="none" w="med" len="med"/>
              <a:tailEnd type="none" w="med" len="med"/>
            </a:ln>
          </p:spPr>
        </p:sp>
        <p:sp>
          <p:nvSpPr>
            <p:cNvPr id="7210" name="Line 37"/>
            <p:cNvSpPr/>
            <p:nvPr/>
          </p:nvSpPr>
          <p:spPr>
            <a:xfrm flipH="1">
              <a:off x="4289" y="2020"/>
              <a:ext cx="266" cy="0"/>
            </a:xfrm>
            <a:prstGeom prst="line">
              <a:avLst/>
            </a:prstGeom>
            <a:ln w="9525" cap="flat" cmpd="sng">
              <a:solidFill>
                <a:srgbClr val="0000FF"/>
              </a:solidFill>
              <a:prstDash val="solid"/>
              <a:headEnd type="none" w="med" len="med"/>
              <a:tailEnd type="none" w="med" len="med"/>
            </a:ln>
          </p:spPr>
        </p:sp>
        <p:sp>
          <p:nvSpPr>
            <p:cNvPr id="7211" name="Line 38"/>
            <p:cNvSpPr/>
            <p:nvPr/>
          </p:nvSpPr>
          <p:spPr>
            <a:xfrm flipH="1">
              <a:off x="1790" y="1658"/>
              <a:ext cx="2500" cy="0"/>
            </a:xfrm>
            <a:prstGeom prst="line">
              <a:avLst/>
            </a:prstGeom>
            <a:ln w="9525" cap="flat" cmpd="sng">
              <a:solidFill>
                <a:srgbClr val="0000FF"/>
              </a:solidFill>
              <a:prstDash val="solid"/>
              <a:headEnd type="none" w="med" len="med"/>
              <a:tailEnd type="none" w="med" len="med"/>
            </a:ln>
          </p:spPr>
        </p:sp>
        <p:sp>
          <p:nvSpPr>
            <p:cNvPr id="7212" name="Line 39"/>
            <p:cNvSpPr/>
            <p:nvPr/>
          </p:nvSpPr>
          <p:spPr>
            <a:xfrm flipH="1" flipV="1">
              <a:off x="5265" y="1522"/>
              <a:ext cx="0" cy="1054"/>
            </a:xfrm>
            <a:prstGeom prst="line">
              <a:avLst/>
            </a:prstGeom>
            <a:ln w="9525" cap="flat" cmpd="sng">
              <a:solidFill>
                <a:srgbClr val="0000FF"/>
              </a:solidFill>
              <a:prstDash val="solid"/>
              <a:headEnd type="none" w="med" len="med"/>
              <a:tailEnd type="none" w="med" len="med"/>
            </a:ln>
          </p:spPr>
        </p:sp>
        <p:sp>
          <p:nvSpPr>
            <p:cNvPr id="7213" name="Line 40"/>
            <p:cNvSpPr/>
            <p:nvPr/>
          </p:nvSpPr>
          <p:spPr>
            <a:xfrm flipH="1">
              <a:off x="2045" y="1512"/>
              <a:ext cx="3221" cy="2"/>
            </a:xfrm>
            <a:prstGeom prst="line">
              <a:avLst/>
            </a:prstGeom>
            <a:ln w="9525" cap="flat" cmpd="sng">
              <a:solidFill>
                <a:srgbClr val="0000FF"/>
              </a:solidFill>
              <a:prstDash val="solid"/>
              <a:headEnd type="none" w="med" len="med"/>
              <a:tailEnd type="none" w="med" len="med"/>
            </a:ln>
          </p:spPr>
        </p:sp>
        <p:sp>
          <p:nvSpPr>
            <p:cNvPr id="7214" name="Line 41"/>
            <p:cNvSpPr/>
            <p:nvPr/>
          </p:nvSpPr>
          <p:spPr>
            <a:xfrm flipH="1">
              <a:off x="3047" y="2602"/>
              <a:ext cx="326" cy="0"/>
            </a:xfrm>
            <a:prstGeom prst="line">
              <a:avLst/>
            </a:prstGeom>
            <a:ln w="9525" cap="flat" cmpd="sng">
              <a:solidFill>
                <a:srgbClr val="0000FF"/>
              </a:solidFill>
              <a:prstDash val="solid"/>
              <a:headEnd type="none" w="med" len="med"/>
              <a:tailEnd type="none" w="med" len="med"/>
            </a:ln>
          </p:spPr>
        </p:sp>
        <p:sp>
          <p:nvSpPr>
            <p:cNvPr id="7215" name="Line 42"/>
            <p:cNvSpPr/>
            <p:nvPr/>
          </p:nvSpPr>
          <p:spPr>
            <a:xfrm>
              <a:off x="3045" y="1803"/>
              <a:ext cx="0" cy="800"/>
            </a:xfrm>
            <a:prstGeom prst="line">
              <a:avLst/>
            </a:prstGeom>
            <a:ln w="9525" cap="flat" cmpd="sng">
              <a:solidFill>
                <a:srgbClr val="0000FF"/>
              </a:solidFill>
              <a:prstDash val="solid"/>
              <a:headEnd type="none" w="med" len="med"/>
              <a:tailEnd type="none" w="med" len="med"/>
            </a:ln>
          </p:spPr>
        </p:sp>
        <p:sp>
          <p:nvSpPr>
            <p:cNvPr id="7216" name="Line 43"/>
            <p:cNvSpPr/>
            <p:nvPr/>
          </p:nvSpPr>
          <p:spPr>
            <a:xfrm>
              <a:off x="3212" y="2319"/>
              <a:ext cx="133" cy="0"/>
            </a:xfrm>
            <a:prstGeom prst="line">
              <a:avLst/>
            </a:prstGeom>
            <a:ln w="9525" cap="flat" cmpd="sng">
              <a:solidFill>
                <a:srgbClr val="0000FF"/>
              </a:solidFill>
              <a:prstDash val="solid"/>
              <a:headEnd type="none" w="med" len="med"/>
              <a:tailEnd type="none" w="med" len="med"/>
            </a:ln>
          </p:spPr>
        </p:sp>
        <p:sp>
          <p:nvSpPr>
            <p:cNvPr id="7217" name="Line 44"/>
            <p:cNvSpPr/>
            <p:nvPr/>
          </p:nvSpPr>
          <p:spPr>
            <a:xfrm>
              <a:off x="3212" y="2324"/>
              <a:ext cx="0" cy="571"/>
            </a:xfrm>
            <a:prstGeom prst="line">
              <a:avLst/>
            </a:prstGeom>
            <a:ln w="9525" cap="flat" cmpd="sng">
              <a:solidFill>
                <a:srgbClr val="0000FF"/>
              </a:solidFill>
              <a:prstDash val="solid"/>
              <a:headEnd type="none" w="med" len="med"/>
              <a:tailEnd type="none" w="med" len="med"/>
            </a:ln>
          </p:spPr>
        </p:sp>
        <p:sp>
          <p:nvSpPr>
            <p:cNvPr id="7218" name="Line 45"/>
            <p:cNvSpPr/>
            <p:nvPr/>
          </p:nvSpPr>
          <p:spPr>
            <a:xfrm flipH="1">
              <a:off x="2956" y="2488"/>
              <a:ext cx="407" cy="0"/>
            </a:xfrm>
            <a:prstGeom prst="line">
              <a:avLst/>
            </a:prstGeom>
            <a:ln w="9525" cap="flat" cmpd="sng">
              <a:solidFill>
                <a:srgbClr val="0000FF"/>
              </a:solidFill>
              <a:prstDash val="solid"/>
              <a:headEnd type="none" w="med" len="med"/>
              <a:tailEnd type="none" w="med" len="med"/>
            </a:ln>
          </p:spPr>
        </p:sp>
        <p:sp>
          <p:nvSpPr>
            <p:cNvPr id="7219" name="Line 46"/>
            <p:cNvSpPr/>
            <p:nvPr/>
          </p:nvSpPr>
          <p:spPr>
            <a:xfrm>
              <a:off x="2956" y="1678"/>
              <a:ext cx="0" cy="799"/>
            </a:xfrm>
            <a:prstGeom prst="line">
              <a:avLst/>
            </a:prstGeom>
            <a:ln w="9525" cap="flat" cmpd="sng">
              <a:solidFill>
                <a:srgbClr val="0000FF"/>
              </a:solidFill>
              <a:prstDash val="solid"/>
              <a:headEnd type="none" w="med" len="med"/>
              <a:tailEnd type="none" w="med" len="med"/>
            </a:ln>
          </p:spPr>
        </p:sp>
        <p:sp>
          <p:nvSpPr>
            <p:cNvPr id="7220" name="Line 47"/>
            <p:cNvSpPr/>
            <p:nvPr/>
          </p:nvSpPr>
          <p:spPr>
            <a:xfrm flipH="1">
              <a:off x="1790" y="2617"/>
              <a:ext cx="400" cy="0"/>
            </a:xfrm>
            <a:prstGeom prst="line">
              <a:avLst/>
            </a:prstGeom>
            <a:ln w="9525" cap="flat" cmpd="sng">
              <a:solidFill>
                <a:srgbClr val="0000FF"/>
              </a:solidFill>
              <a:prstDash val="solid"/>
              <a:headEnd type="none" w="med" len="med"/>
              <a:tailEnd type="none" w="med" len="med"/>
            </a:ln>
          </p:spPr>
        </p:sp>
        <p:sp>
          <p:nvSpPr>
            <p:cNvPr id="7221" name="Line 48"/>
            <p:cNvSpPr/>
            <p:nvPr/>
          </p:nvSpPr>
          <p:spPr>
            <a:xfrm flipV="1">
              <a:off x="1788" y="1656"/>
              <a:ext cx="0" cy="954"/>
            </a:xfrm>
            <a:prstGeom prst="line">
              <a:avLst/>
            </a:prstGeom>
            <a:ln w="9525" cap="flat" cmpd="sng">
              <a:solidFill>
                <a:srgbClr val="0000FF"/>
              </a:solidFill>
              <a:prstDash val="solid"/>
              <a:headEnd type="none" w="med" len="med"/>
              <a:tailEnd type="none" w="med" len="med"/>
            </a:ln>
          </p:spPr>
        </p:sp>
        <p:sp>
          <p:nvSpPr>
            <p:cNvPr id="7222" name="Line 49"/>
            <p:cNvSpPr/>
            <p:nvPr/>
          </p:nvSpPr>
          <p:spPr>
            <a:xfrm>
              <a:off x="2046" y="2031"/>
              <a:ext cx="133" cy="0"/>
            </a:xfrm>
            <a:prstGeom prst="line">
              <a:avLst/>
            </a:prstGeom>
            <a:ln w="9525" cap="flat" cmpd="sng">
              <a:solidFill>
                <a:srgbClr val="0000FF"/>
              </a:solidFill>
              <a:prstDash val="solid"/>
              <a:headEnd type="none" w="med" len="med"/>
              <a:tailEnd type="none" w="med" len="med"/>
            </a:ln>
          </p:spPr>
        </p:sp>
        <p:sp>
          <p:nvSpPr>
            <p:cNvPr id="7223" name="Line 50"/>
            <p:cNvSpPr/>
            <p:nvPr/>
          </p:nvSpPr>
          <p:spPr>
            <a:xfrm flipH="1" flipV="1">
              <a:off x="2045" y="1524"/>
              <a:ext cx="1" cy="496"/>
            </a:xfrm>
            <a:prstGeom prst="line">
              <a:avLst/>
            </a:prstGeom>
            <a:ln w="9525" cap="flat" cmpd="sng">
              <a:solidFill>
                <a:srgbClr val="0000FF"/>
              </a:solidFill>
              <a:prstDash val="solid"/>
              <a:headEnd type="none" w="med" len="med"/>
              <a:tailEnd type="none" w="med" len="med"/>
            </a:ln>
          </p:spPr>
        </p:sp>
        <p:sp>
          <p:nvSpPr>
            <p:cNvPr id="7224" name="Line 51"/>
            <p:cNvSpPr/>
            <p:nvPr/>
          </p:nvSpPr>
          <p:spPr>
            <a:xfrm>
              <a:off x="2956" y="2031"/>
              <a:ext cx="419" cy="0"/>
            </a:xfrm>
            <a:prstGeom prst="line">
              <a:avLst/>
            </a:prstGeom>
            <a:ln w="9525" cap="flat" cmpd="sng">
              <a:solidFill>
                <a:srgbClr val="0000FF"/>
              </a:solidFill>
              <a:prstDash val="solid"/>
              <a:headEnd type="none" w="med" len="med"/>
              <a:tailEnd type="none" w="med" len="med"/>
            </a:ln>
          </p:spPr>
        </p:sp>
        <p:sp>
          <p:nvSpPr>
            <p:cNvPr id="7225" name="Oval 52"/>
            <p:cNvSpPr/>
            <p:nvPr/>
          </p:nvSpPr>
          <p:spPr>
            <a:xfrm>
              <a:off x="3025" y="2101"/>
              <a:ext cx="42" cy="42"/>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7226" name="Oval 53"/>
            <p:cNvSpPr/>
            <p:nvPr/>
          </p:nvSpPr>
          <p:spPr>
            <a:xfrm>
              <a:off x="2936" y="2007"/>
              <a:ext cx="42" cy="42"/>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7227" name="Oval 54"/>
            <p:cNvSpPr/>
            <p:nvPr/>
          </p:nvSpPr>
          <p:spPr>
            <a:xfrm>
              <a:off x="2934" y="1639"/>
              <a:ext cx="42" cy="42"/>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7228" name="Oval 55"/>
            <p:cNvSpPr/>
            <p:nvPr/>
          </p:nvSpPr>
          <p:spPr>
            <a:xfrm>
              <a:off x="4269" y="1997"/>
              <a:ext cx="42" cy="42"/>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7229" name="Oval 56"/>
            <p:cNvSpPr/>
            <p:nvPr/>
          </p:nvSpPr>
          <p:spPr>
            <a:xfrm>
              <a:off x="1768" y="2115"/>
              <a:ext cx="42" cy="42"/>
            </a:xfrm>
            <a:prstGeom prst="ellipse">
              <a:avLst/>
            </a:prstGeom>
            <a:solidFill>
              <a:srgbClr val="000000"/>
            </a:solidFill>
            <a:ln w="9525" cap="flat" cmpd="sng">
              <a:solidFill>
                <a:srgbClr val="0000FF"/>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7230" name="Oval 57"/>
            <p:cNvSpPr/>
            <p:nvPr/>
          </p:nvSpPr>
          <p:spPr>
            <a:xfrm>
              <a:off x="2736" y="2591"/>
              <a:ext cx="42" cy="42"/>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7231" name="Oval 58"/>
            <p:cNvSpPr/>
            <p:nvPr/>
          </p:nvSpPr>
          <p:spPr>
            <a:xfrm>
              <a:off x="3924" y="2580"/>
              <a:ext cx="42" cy="42"/>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7232" name="Oval 59"/>
            <p:cNvSpPr/>
            <p:nvPr/>
          </p:nvSpPr>
          <p:spPr>
            <a:xfrm>
              <a:off x="4511" y="2304"/>
              <a:ext cx="42" cy="41"/>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7233" name="Oval 60"/>
            <p:cNvSpPr/>
            <p:nvPr/>
          </p:nvSpPr>
          <p:spPr>
            <a:xfrm>
              <a:off x="3334" y="2297"/>
              <a:ext cx="42" cy="42"/>
            </a:xfrm>
            <a:prstGeom prst="ellipse">
              <a:avLst/>
            </a:prstGeom>
            <a:solidFill>
              <a:srgbClr val="FFFFFF"/>
            </a:solidFill>
            <a:ln w="9525" cap="flat" cmpd="sng">
              <a:solidFill>
                <a:srgbClr val="0000FF"/>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7234" name="Rectangle 61"/>
            <p:cNvSpPr/>
            <p:nvPr/>
          </p:nvSpPr>
          <p:spPr>
            <a:xfrm>
              <a:off x="4550" y="1933"/>
              <a:ext cx="544" cy="72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just">
                <a:lnSpc>
                  <a:spcPct val="96000"/>
                </a:lnSpc>
              </a:pPr>
              <a:r>
                <a:rPr lang="en-US" altLang="zh-CN" sz="2400" dirty="0">
                  <a:latin typeface="Times New Roman" panose="02020603050405020304" pitchFamily="18" charset="0"/>
                </a:rPr>
                <a:t>&amp;  </a:t>
              </a:r>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3</a:t>
              </a:r>
              <a:endParaRPr lang="en-US" altLang="zh-CN" sz="2400" i="1" dirty="0">
                <a:latin typeface="Times New Roman" panose="02020603050405020304" pitchFamily="18" charset="0"/>
              </a:endParaRPr>
            </a:p>
            <a:p>
              <a:pPr algn="just"/>
              <a:r>
                <a:rPr lang="en-US" altLang="zh-CN" sz="2400" i="1" dirty="0">
                  <a:latin typeface="Times New Roman" panose="02020603050405020304" pitchFamily="18" charset="0"/>
                </a:rPr>
                <a:t> C</a:t>
              </a:r>
              <a:endParaRPr lang="en-US" altLang="zh-CN" sz="2400" dirty="0">
                <a:latin typeface="Times New Roman" panose="02020603050405020304" pitchFamily="18" charset="0"/>
              </a:endParaRPr>
            </a:p>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3</a:t>
              </a:r>
            </a:p>
          </p:txBody>
        </p:sp>
        <p:sp>
          <p:nvSpPr>
            <p:cNvPr id="7235" name="Freeform 62"/>
            <p:cNvSpPr/>
            <p:nvPr/>
          </p:nvSpPr>
          <p:spPr>
            <a:xfrm rot="-10800000" flipV="1">
              <a:off x="4558" y="1936"/>
              <a:ext cx="214" cy="244"/>
            </a:xfrm>
            <a:custGeom>
              <a:avLst/>
              <a:gdLst>
                <a:gd name="txL" fmla="*/ 0 w 345"/>
                <a:gd name="txT" fmla="*/ 0 h 390"/>
                <a:gd name="txR" fmla="*/ 345 w 345"/>
                <a:gd name="txB" fmla="*/ 390 h 390"/>
              </a:gdLst>
              <a:ahLst/>
              <a:cxnLst>
                <a:cxn ang="0">
                  <a:pos x="0" y="0"/>
                </a:cxn>
                <a:cxn ang="0">
                  <a:pos x="0" y="153"/>
                </a:cxn>
                <a:cxn ang="0">
                  <a:pos x="133" y="153"/>
                </a:cxn>
              </a:cxnLst>
              <a:rect l="txL" t="txT" r="txR" b="txB"/>
              <a:pathLst>
                <a:path w="345" h="390">
                  <a:moveTo>
                    <a:pt x="0" y="0"/>
                  </a:moveTo>
                  <a:lnTo>
                    <a:pt x="0" y="390"/>
                  </a:lnTo>
                  <a:lnTo>
                    <a:pt x="345" y="390"/>
                  </a:lnTo>
                </a:path>
              </a:pathLst>
            </a:custGeom>
            <a:noFill/>
            <a:ln w="9525" cap="flat" cmpd="sng">
              <a:solidFill>
                <a:srgbClr val="0000FF">
                  <a:alpha val="100000"/>
                </a:srgbClr>
              </a:solidFill>
              <a:prstDash val="solid"/>
              <a:round/>
              <a:headEnd type="none" w="med" len="med"/>
              <a:tailEnd type="none" w="med" len="med"/>
            </a:ln>
          </p:spPr>
          <p:txBody>
            <a:bodyPr/>
            <a:lstStyle/>
            <a:p>
              <a:endParaRPr lang="zh-CN" altLang="en-US" sz="2800"/>
            </a:p>
          </p:txBody>
        </p:sp>
        <p:sp>
          <p:nvSpPr>
            <p:cNvPr id="7236" name="Freeform 63"/>
            <p:cNvSpPr/>
            <p:nvPr/>
          </p:nvSpPr>
          <p:spPr>
            <a:xfrm flipH="1" flipV="1">
              <a:off x="4561" y="2268"/>
              <a:ext cx="61" cy="97"/>
            </a:xfrm>
            <a:custGeom>
              <a:avLst/>
              <a:gdLst>
                <a:gd name="txL" fmla="*/ 0 w 91"/>
                <a:gd name="txT" fmla="*/ 0 h 156"/>
                <a:gd name="txR" fmla="*/ 91 w 91"/>
                <a:gd name="txB" fmla="*/ 156 h 156"/>
              </a:gdLst>
              <a:ahLst/>
              <a:cxnLst>
                <a:cxn ang="0">
                  <a:pos x="40" y="0"/>
                </a:cxn>
                <a:cxn ang="0">
                  <a:pos x="0" y="28"/>
                </a:cxn>
                <a:cxn ang="0">
                  <a:pos x="41" y="60"/>
                </a:cxn>
              </a:cxnLst>
              <a:rect l="txL" t="txT" r="txR" b="txB"/>
              <a:pathLst>
                <a:path w="91" h="156">
                  <a:moveTo>
                    <a:pt x="90" y="0"/>
                  </a:moveTo>
                  <a:lnTo>
                    <a:pt x="0" y="72"/>
                  </a:lnTo>
                  <a:lnTo>
                    <a:pt x="91" y="156"/>
                  </a:lnTo>
                </a:path>
              </a:pathLst>
            </a:custGeom>
            <a:noFill/>
            <a:ln w="9525" cap="flat" cmpd="sng">
              <a:solidFill>
                <a:srgbClr val="0000FF">
                  <a:alpha val="100000"/>
                </a:srgbClr>
              </a:solidFill>
              <a:prstDash val="solid"/>
              <a:round/>
              <a:headEnd type="none" w="med" len="med"/>
              <a:tailEnd type="none" w="med" len="med"/>
            </a:ln>
          </p:spPr>
          <p:txBody>
            <a:bodyPr/>
            <a:lstStyle/>
            <a:p>
              <a:endParaRPr lang="zh-CN" altLang="en-US" sz="2800"/>
            </a:p>
          </p:txBody>
        </p:sp>
        <p:sp>
          <p:nvSpPr>
            <p:cNvPr id="7237" name="Freeform 64"/>
            <p:cNvSpPr/>
            <p:nvPr/>
          </p:nvSpPr>
          <p:spPr>
            <a:xfrm flipH="1" flipV="1">
              <a:off x="1013" y="2257"/>
              <a:ext cx="61" cy="96"/>
            </a:xfrm>
            <a:custGeom>
              <a:avLst/>
              <a:gdLst>
                <a:gd name="txL" fmla="*/ 0 w 91"/>
                <a:gd name="txT" fmla="*/ 0 h 156"/>
                <a:gd name="txR" fmla="*/ 91 w 91"/>
                <a:gd name="txB" fmla="*/ 156 h 156"/>
              </a:gdLst>
              <a:ahLst/>
              <a:cxnLst>
                <a:cxn ang="0">
                  <a:pos x="40" y="0"/>
                </a:cxn>
                <a:cxn ang="0">
                  <a:pos x="0" y="27"/>
                </a:cxn>
                <a:cxn ang="0">
                  <a:pos x="41" y="59"/>
                </a:cxn>
              </a:cxnLst>
              <a:rect l="txL" t="txT" r="txR" b="txB"/>
              <a:pathLst>
                <a:path w="91" h="156">
                  <a:moveTo>
                    <a:pt x="90" y="0"/>
                  </a:moveTo>
                  <a:lnTo>
                    <a:pt x="0" y="72"/>
                  </a:lnTo>
                  <a:lnTo>
                    <a:pt x="91" y="156"/>
                  </a:lnTo>
                </a:path>
              </a:pathLst>
            </a:custGeom>
            <a:noFill/>
            <a:ln w="9525" cap="flat" cmpd="sng">
              <a:solidFill>
                <a:srgbClr val="0000FF">
                  <a:alpha val="100000"/>
                </a:srgbClr>
              </a:solidFill>
              <a:prstDash val="solid"/>
              <a:round/>
              <a:headEnd type="none" w="med" len="med"/>
              <a:tailEnd type="none" w="med" len="med"/>
            </a:ln>
          </p:spPr>
          <p:txBody>
            <a:bodyPr/>
            <a:lstStyle/>
            <a:p>
              <a:endParaRPr lang="zh-CN" altLang="en-US" sz="2800"/>
            </a:p>
          </p:txBody>
        </p:sp>
        <p:sp>
          <p:nvSpPr>
            <p:cNvPr id="7238" name="Freeform 65"/>
            <p:cNvSpPr/>
            <p:nvPr/>
          </p:nvSpPr>
          <p:spPr>
            <a:xfrm flipH="1" flipV="1">
              <a:off x="2191" y="2292"/>
              <a:ext cx="62" cy="96"/>
            </a:xfrm>
            <a:custGeom>
              <a:avLst/>
              <a:gdLst>
                <a:gd name="txL" fmla="*/ 0 w 91"/>
                <a:gd name="txT" fmla="*/ 0 h 156"/>
                <a:gd name="txR" fmla="*/ 91 w 91"/>
                <a:gd name="txB" fmla="*/ 156 h 156"/>
              </a:gdLst>
              <a:ahLst/>
              <a:cxnLst>
                <a:cxn ang="0">
                  <a:pos x="42" y="0"/>
                </a:cxn>
                <a:cxn ang="0">
                  <a:pos x="0" y="27"/>
                </a:cxn>
                <a:cxn ang="0">
                  <a:pos x="42" y="59"/>
                </a:cxn>
              </a:cxnLst>
              <a:rect l="txL" t="txT" r="txR" b="txB"/>
              <a:pathLst>
                <a:path w="91" h="156">
                  <a:moveTo>
                    <a:pt x="90" y="0"/>
                  </a:moveTo>
                  <a:lnTo>
                    <a:pt x="0" y="72"/>
                  </a:lnTo>
                  <a:lnTo>
                    <a:pt x="91" y="156"/>
                  </a:lnTo>
                </a:path>
              </a:pathLst>
            </a:custGeom>
            <a:noFill/>
            <a:ln w="9525" cap="flat" cmpd="sng">
              <a:solidFill>
                <a:srgbClr val="0000FF">
                  <a:alpha val="100000"/>
                </a:srgbClr>
              </a:solidFill>
              <a:prstDash val="solid"/>
              <a:round/>
              <a:headEnd type="none" w="med" len="med"/>
              <a:tailEnd type="none" w="med" len="med"/>
            </a:ln>
          </p:spPr>
          <p:txBody>
            <a:bodyPr/>
            <a:lstStyle/>
            <a:p>
              <a:endParaRPr lang="zh-CN" altLang="en-US" sz="2800"/>
            </a:p>
          </p:txBody>
        </p:sp>
        <p:sp>
          <p:nvSpPr>
            <p:cNvPr id="7239" name="Freeform 66"/>
            <p:cNvSpPr/>
            <p:nvPr/>
          </p:nvSpPr>
          <p:spPr>
            <a:xfrm flipH="1" flipV="1">
              <a:off x="3382" y="2268"/>
              <a:ext cx="61" cy="97"/>
            </a:xfrm>
            <a:custGeom>
              <a:avLst/>
              <a:gdLst>
                <a:gd name="txL" fmla="*/ 0 w 91"/>
                <a:gd name="txT" fmla="*/ 0 h 156"/>
                <a:gd name="txR" fmla="*/ 91 w 91"/>
                <a:gd name="txB" fmla="*/ 156 h 156"/>
              </a:gdLst>
              <a:ahLst/>
              <a:cxnLst>
                <a:cxn ang="0">
                  <a:pos x="40" y="0"/>
                </a:cxn>
                <a:cxn ang="0">
                  <a:pos x="0" y="28"/>
                </a:cxn>
                <a:cxn ang="0">
                  <a:pos x="41" y="60"/>
                </a:cxn>
              </a:cxnLst>
              <a:rect l="txL" t="txT" r="txR" b="txB"/>
              <a:pathLst>
                <a:path w="91" h="156">
                  <a:moveTo>
                    <a:pt x="90" y="0"/>
                  </a:moveTo>
                  <a:lnTo>
                    <a:pt x="0" y="72"/>
                  </a:lnTo>
                  <a:lnTo>
                    <a:pt x="91" y="156"/>
                  </a:lnTo>
                </a:path>
              </a:pathLst>
            </a:custGeom>
            <a:noFill/>
            <a:ln w="9525" cap="flat" cmpd="sng">
              <a:solidFill>
                <a:srgbClr val="0000FF">
                  <a:alpha val="100000"/>
                </a:srgbClr>
              </a:solidFill>
              <a:prstDash val="solid"/>
              <a:round/>
              <a:headEnd type="none" w="med" len="med"/>
              <a:tailEnd type="none" w="med" len="med"/>
            </a:ln>
          </p:spPr>
          <p:txBody>
            <a:bodyPr/>
            <a:lstStyle/>
            <a:p>
              <a:endParaRPr lang="zh-CN" altLang="en-US" sz="2800"/>
            </a:p>
          </p:txBody>
        </p:sp>
      </p:grpSp>
      <p:sp>
        <p:nvSpPr>
          <p:cNvPr id="7175" name="Rectangle 67" descr="羊皮纸"/>
          <p:cNvSpPr/>
          <p:nvPr/>
        </p:nvSpPr>
        <p:spPr>
          <a:xfrm>
            <a:off x="600075" y="715963"/>
            <a:ext cx="2936875" cy="519112"/>
          </a:xfrm>
          <a:prstGeom prst="rect">
            <a:avLst/>
          </a:prstGeom>
          <a:noFill/>
          <a:ln w="38100">
            <a:noFill/>
          </a:ln>
        </p:spPr>
        <p:txBody>
          <a:bodyPr wrap="none" lIns="90000" tIns="46800" rIns="90000" bIns="46800" anchor="ctr" anchorCtr="0">
            <a:spAutoFit/>
          </a:bodyPr>
          <a:lstStyle/>
          <a:p>
            <a:r>
              <a:rPr lang="zh-CN" altLang="en-US" sz="2800" dirty="0">
                <a:latin typeface="Times New Roman" panose="02020603050405020304" pitchFamily="18" charset="0"/>
              </a:rPr>
              <a:t>（</a:t>
            </a:r>
            <a:r>
              <a:rPr lang="en-US" altLang="zh-CN" sz="2800" dirty="0">
                <a:latin typeface="Times New Roman" panose="02020603050405020304" pitchFamily="18" charset="0"/>
              </a:rPr>
              <a:t>4</a:t>
            </a:r>
            <a:r>
              <a:rPr lang="zh-CN" altLang="en-US" sz="2800" dirty="0">
                <a:latin typeface="Times New Roman" panose="02020603050405020304" pitchFamily="18" charset="0"/>
              </a:rPr>
              <a:t>）画逻辑图。 </a:t>
            </a:r>
          </a:p>
        </p:txBody>
      </p:sp>
      <p:graphicFrame>
        <p:nvGraphicFramePr>
          <p:cNvPr id="7170" name="Object 68"/>
          <p:cNvGraphicFramePr>
            <a:graphicFrameLocks noChangeAspect="1"/>
          </p:cNvGraphicFramePr>
          <p:nvPr/>
        </p:nvGraphicFramePr>
        <p:xfrm>
          <a:off x="806450" y="4011613"/>
          <a:ext cx="4611688" cy="658812"/>
        </p:xfrm>
        <a:graphic>
          <a:graphicData uri="http://schemas.openxmlformats.org/presentationml/2006/ole">
            <mc:AlternateContent xmlns:mc="http://schemas.openxmlformats.org/markup-compatibility/2006">
              <mc:Choice xmlns:v="urn:schemas-microsoft-com:vml" Requires="v">
                <p:oleObj r:id="rId2" imgW="1600200" imgH="228600" progId="Equation.3">
                  <p:embed/>
                </p:oleObj>
              </mc:Choice>
              <mc:Fallback>
                <p:oleObj r:id="rId2" imgW="1600200" imgH="228600" progId="Equation.3">
                  <p:embed/>
                  <p:pic>
                    <p:nvPicPr>
                      <p:cNvPr id="0" name="图片 3102"/>
                      <p:cNvPicPr/>
                      <p:nvPr/>
                    </p:nvPicPr>
                    <p:blipFill>
                      <a:blip r:embed="rId3"/>
                      <a:stretch>
                        <a:fillRect/>
                      </a:stretch>
                    </p:blipFill>
                    <p:spPr>
                      <a:xfrm>
                        <a:off x="806450" y="4011613"/>
                        <a:ext cx="4611688" cy="658812"/>
                      </a:xfrm>
                      <a:prstGeom prst="rect">
                        <a:avLst/>
                      </a:prstGeom>
                      <a:noFill/>
                      <a:ln w="38100">
                        <a:noFill/>
                        <a:miter/>
                      </a:ln>
                    </p:spPr>
                  </p:pic>
                </p:oleObj>
              </mc:Fallback>
            </mc:AlternateContent>
          </a:graphicData>
        </a:graphic>
      </p:graphicFrame>
      <p:graphicFrame>
        <p:nvGraphicFramePr>
          <p:cNvPr id="7171" name="Object 69"/>
          <p:cNvGraphicFramePr>
            <a:graphicFrameLocks noChangeAspect="1"/>
          </p:cNvGraphicFramePr>
          <p:nvPr/>
        </p:nvGraphicFramePr>
        <p:xfrm>
          <a:off x="806450" y="4594225"/>
          <a:ext cx="6405563" cy="804863"/>
        </p:xfrm>
        <a:graphic>
          <a:graphicData uri="http://schemas.openxmlformats.org/presentationml/2006/ole">
            <mc:AlternateContent xmlns:mc="http://schemas.openxmlformats.org/markup-compatibility/2006">
              <mc:Choice xmlns:v="urn:schemas-microsoft-com:vml" Requires="v">
                <p:oleObj r:id="rId4" imgW="2222500" imgH="279400" progId="Equation.3">
                  <p:embed/>
                </p:oleObj>
              </mc:Choice>
              <mc:Fallback>
                <p:oleObj r:id="rId4" imgW="2222500" imgH="279400" progId="Equation.3">
                  <p:embed/>
                  <p:pic>
                    <p:nvPicPr>
                      <p:cNvPr id="0" name="图片 3104"/>
                      <p:cNvPicPr/>
                      <p:nvPr/>
                    </p:nvPicPr>
                    <p:blipFill>
                      <a:blip r:embed="rId5"/>
                      <a:stretch>
                        <a:fillRect/>
                      </a:stretch>
                    </p:blipFill>
                    <p:spPr>
                      <a:xfrm>
                        <a:off x="806450" y="4594225"/>
                        <a:ext cx="6405563" cy="804863"/>
                      </a:xfrm>
                      <a:prstGeom prst="rect">
                        <a:avLst/>
                      </a:prstGeom>
                      <a:noFill/>
                      <a:ln w="38100">
                        <a:noFill/>
                        <a:miter/>
                      </a:ln>
                    </p:spPr>
                  </p:pic>
                </p:oleObj>
              </mc:Fallback>
            </mc:AlternateContent>
          </a:graphicData>
        </a:graphic>
      </p:graphicFrame>
      <p:graphicFrame>
        <p:nvGraphicFramePr>
          <p:cNvPr id="7172" name="Object 70"/>
          <p:cNvGraphicFramePr>
            <a:graphicFrameLocks noChangeAspect="1"/>
          </p:cNvGraphicFramePr>
          <p:nvPr/>
        </p:nvGraphicFramePr>
        <p:xfrm>
          <a:off x="820738" y="5311775"/>
          <a:ext cx="4176712" cy="733425"/>
        </p:xfrm>
        <a:graphic>
          <a:graphicData uri="http://schemas.openxmlformats.org/presentationml/2006/ole">
            <mc:AlternateContent xmlns:mc="http://schemas.openxmlformats.org/markup-compatibility/2006">
              <mc:Choice xmlns:v="urn:schemas-microsoft-com:vml" Requires="v">
                <p:oleObj r:id="rId6" imgW="1447165" imgH="254000" progId="Equation.3">
                  <p:embed/>
                </p:oleObj>
              </mc:Choice>
              <mc:Fallback>
                <p:oleObj r:id="rId6" imgW="1447165" imgH="254000" progId="Equation.3">
                  <p:embed/>
                  <p:pic>
                    <p:nvPicPr>
                      <p:cNvPr id="0" name="图片 3103"/>
                      <p:cNvPicPr/>
                      <p:nvPr/>
                    </p:nvPicPr>
                    <p:blipFill>
                      <a:blip r:embed="rId7"/>
                      <a:stretch>
                        <a:fillRect/>
                      </a:stretch>
                    </p:blipFill>
                    <p:spPr>
                      <a:xfrm>
                        <a:off x="820738" y="5311775"/>
                        <a:ext cx="4176712" cy="733425"/>
                      </a:xfrm>
                      <a:prstGeom prst="rect">
                        <a:avLst/>
                      </a:prstGeom>
                      <a:noFill/>
                      <a:ln w="38100">
                        <a:noFill/>
                        <a:miter/>
                      </a:ln>
                    </p:spPr>
                  </p:pic>
                </p:oleObj>
              </mc:Fallback>
            </mc:AlternateContent>
          </a:graphicData>
        </a:graphic>
      </p:graphicFrame>
      <p:graphicFrame>
        <p:nvGraphicFramePr>
          <p:cNvPr id="7173" name="Object 71"/>
          <p:cNvGraphicFramePr>
            <a:graphicFrameLocks noChangeAspect="1"/>
          </p:cNvGraphicFramePr>
          <p:nvPr/>
        </p:nvGraphicFramePr>
        <p:xfrm>
          <a:off x="806450" y="6054725"/>
          <a:ext cx="3184525" cy="658813"/>
        </p:xfrm>
        <a:graphic>
          <a:graphicData uri="http://schemas.openxmlformats.org/presentationml/2006/ole">
            <mc:AlternateContent xmlns:mc="http://schemas.openxmlformats.org/markup-compatibility/2006">
              <mc:Choice xmlns:v="urn:schemas-microsoft-com:vml" Requires="v">
                <p:oleObj r:id="rId8" imgW="1104900" imgH="228600" progId="Equation.3">
                  <p:embed/>
                </p:oleObj>
              </mc:Choice>
              <mc:Fallback>
                <p:oleObj r:id="rId8" imgW="1104900" imgH="228600" progId="Equation.3">
                  <p:embed/>
                  <p:pic>
                    <p:nvPicPr>
                      <p:cNvPr id="0" name="图片 3101"/>
                      <p:cNvPicPr/>
                      <p:nvPr/>
                    </p:nvPicPr>
                    <p:blipFill>
                      <a:blip r:embed="rId9"/>
                      <a:stretch>
                        <a:fillRect/>
                      </a:stretch>
                    </p:blipFill>
                    <p:spPr>
                      <a:xfrm>
                        <a:off x="806450" y="6054725"/>
                        <a:ext cx="3184525" cy="658813"/>
                      </a:xfrm>
                      <a:prstGeom prst="rect">
                        <a:avLst/>
                      </a:prstGeom>
                      <a:noFill/>
                      <a:ln w="38100">
                        <a:noFill/>
                        <a:miter/>
                      </a:ln>
                    </p:spPr>
                  </p:pic>
                </p:oleObj>
              </mc:Fallback>
            </mc:AlternateContent>
          </a:graphicData>
        </a:graphic>
      </p:graphicFrame>
    </p:spTree>
  </p:cSld>
  <p:clrMapOvr>
    <a:masterClrMapping/>
  </p:clrMapOvr>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4370" name="Group 2"/>
          <p:cNvGraphicFramePr>
            <a:graphicFrameLocks noGrp="1"/>
          </p:cNvGraphicFramePr>
          <p:nvPr/>
        </p:nvGraphicFramePr>
        <p:xfrm>
          <a:off x="1936750" y="2728913"/>
          <a:ext cx="4870450" cy="3846513"/>
        </p:xfrm>
        <a:graphic>
          <a:graphicData uri="http://schemas.openxmlformats.org/drawingml/2006/table">
            <a:tbl>
              <a:tblPr/>
              <a:tblGrid>
                <a:gridCol w="541338">
                  <a:extLst>
                    <a:ext uri="{9D8B030D-6E8A-4147-A177-3AD203B41FA5}">
                      <a16:colId xmlns:a16="http://schemas.microsoft.com/office/drawing/2014/main" val="20000"/>
                    </a:ext>
                  </a:extLst>
                </a:gridCol>
                <a:gridCol w="541337">
                  <a:extLst>
                    <a:ext uri="{9D8B030D-6E8A-4147-A177-3AD203B41FA5}">
                      <a16:colId xmlns:a16="http://schemas.microsoft.com/office/drawing/2014/main" val="20001"/>
                    </a:ext>
                  </a:extLst>
                </a:gridCol>
                <a:gridCol w="541338">
                  <a:extLst>
                    <a:ext uri="{9D8B030D-6E8A-4147-A177-3AD203B41FA5}">
                      <a16:colId xmlns:a16="http://schemas.microsoft.com/office/drawing/2014/main" val="20002"/>
                    </a:ext>
                  </a:extLst>
                </a:gridCol>
                <a:gridCol w="541337">
                  <a:extLst>
                    <a:ext uri="{9D8B030D-6E8A-4147-A177-3AD203B41FA5}">
                      <a16:colId xmlns:a16="http://schemas.microsoft.com/office/drawing/2014/main" val="20003"/>
                    </a:ext>
                  </a:extLst>
                </a:gridCol>
                <a:gridCol w="541338">
                  <a:extLst>
                    <a:ext uri="{9D8B030D-6E8A-4147-A177-3AD203B41FA5}">
                      <a16:colId xmlns:a16="http://schemas.microsoft.com/office/drawing/2014/main" val="20004"/>
                    </a:ext>
                  </a:extLst>
                </a:gridCol>
                <a:gridCol w="544512">
                  <a:extLst>
                    <a:ext uri="{9D8B030D-6E8A-4147-A177-3AD203B41FA5}">
                      <a16:colId xmlns:a16="http://schemas.microsoft.com/office/drawing/2014/main" val="20005"/>
                    </a:ext>
                  </a:extLst>
                </a:gridCol>
                <a:gridCol w="536575">
                  <a:extLst>
                    <a:ext uri="{9D8B030D-6E8A-4147-A177-3AD203B41FA5}">
                      <a16:colId xmlns:a16="http://schemas.microsoft.com/office/drawing/2014/main" val="20006"/>
                    </a:ext>
                  </a:extLst>
                </a:gridCol>
                <a:gridCol w="541338">
                  <a:extLst>
                    <a:ext uri="{9D8B030D-6E8A-4147-A177-3AD203B41FA5}">
                      <a16:colId xmlns:a16="http://schemas.microsoft.com/office/drawing/2014/main" val="20007"/>
                    </a:ext>
                  </a:extLst>
                </a:gridCol>
                <a:gridCol w="541337">
                  <a:extLst>
                    <a:ext uri="{9D8B030D-6E8A-4147-A177-3AD203B41FA5}">
                      <a16:colId xmlns:a16="http://schemas.microsoft.com/office/drawing/2014/main" val="20008"/>
                    </a:ext>
                  </a:extLst>
                </a:gridCol>
              </a:tblGrid>
              <a:tr h="916453">
                <a:tc rowSpan="2">
                  <a:txBody>
                    <a:body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4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cap="flat">
                      <a:noFill/>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a:noFill/>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4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a:noFill/>
                    </a:lnL>
                    <a:lnR w="12700" cap="flat" cmpd="sng" algn="ctr">
                      <a:solidFill>
                        <a:srgbClr val="000000"/>
                      </a:solidFill>
                      <a:prstDash val="solid"/>
                      <a:round/>
                      <a:headEnd type="none" w="med" len="med"/>
                      <a:tailEnd type="none" w="sm" len="lg"/>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gridSpan="6">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5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cap="flat">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98354">
                <a:tc vMerge="1">
                  <a:txBody>
                    <a:bodyPr/>
                    <a:lstStyle/>
                    <a:p>
                      <a:endParaRPr lang="zh-CN"/>
                    </a:p>
                  </a:txBody>
                  <a:tcPr/>
                </a:tc>
                <a:tc vMerge="1">
                  <a:txBody>
                    <a:bodyPr/>
                    <a:lstStyle/>
                    <a:p>
                      <a:endParaRPr lang="zh-CN"/>
                    </a:p>
                  </a:txBody>
                  <a:tcPr/>
                </a:tc>
                <a:tc vMerge="1">
                  <a:txBody>
                    <a:bodyPr/>
                    <a:lstStyle/>
                    <a:p>
                      <a:endParaRPr lang="zh-CN"/>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4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hMerge="1">
                  <a:txBody>
                    <a:bodyPr/>
                    <a:lstStyle/>
                    <a:p>
                      <a:endParaRPr lang="zh-CN"/>
                    </a:p>
                  </a:txBody>
                  <a:tcPr/>
                </a:tc>
                <a:tc hMerge="1">
                  <a:txBody>
                    <a:bodyPr/>
                    <a:lstStyle/>
                    <a:p>
                      <a:endParaRPr lang="zh-CN"/>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cap="flat">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2531705">
                <a:tc>
                  <a:txBody>
                    <a:bodyPr/>
                    <a:lstStyle/>
                    <a:p>
                      <a:pPr marL="0" marR="0" lvl="0" indent="0" algn="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cap="flat">
                      <a:noFill/>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a:noFill/>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a:noFill/>
                    </a:lnL>
                    <a:lnR w="12700" cap="flat" cmpd="sng" algn="ctr">
                      <a:solidFill>
                        <a:srgbClr val="000000"/>
                      </a:solidFill>
                      <a:prstDash val="solid"/>
                      <a:round/>
                      <a:headEnd type="none" w="med" len="med"/>
                      <a:tailEnd type="none" w="sm" len="lg"/>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12700" cap="flat" cmpd="sng" algn="ctr">
                      <a:solidFill>
                        <a:srgbClr val="000000"/>
                      </a:solidFill>
                      <a:prstDash val="solid"/>
                      <a:round/>
                      <a:headEnd type="none" w="med" len="med"/>
                      <a:tailEnd type="none" w="sm" len="lg"/>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a:noFill/>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4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a:noFill/>
                    </a:lnL>
                    <a:lnR w="12700" cap="flat" cmpd="sng" algn="ctr">
                      <a:solidFill>
                        <a:srgbClr val="000000"/>
                      </a:solidFill>
                      <a:prstDash val="solid"/>
                      <a:round/>
                      <a:headEnd type="none" w="med" len="med"/>
                      <a:tailEnd type="none" w="sm" len="lg"/>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w="12700" cap="flat" cmpd="sng" algn="ctr">
                      <a:solidFill>
                        <a:srgbClr val="000000"/>
                      </a:solidFill>
                      <a:prstDash val="solid"/>
                      <a:round/>
                      <a:headEnd type="none" w="med" len="med"/>
                      <a:tailEnd type="none" w="sm" len="lg"/>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a:noFill/>
                    </a:lnL>
                    <a:lnR>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4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horzOverflow="overflow">
                    <a:lnL>
                      <a:noFill/>
                    </a:lnL>
                    <a:lnR cap="flat">
                      <a:noFill/>
                    </a:lnR>
                    <a:lnT w="12700"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none" w="sm" len="lg"/>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219" name="Rectangle 30" descr="羊皮纸"/>
          <p:cNvSpPr/>
          <p:nvPr/>
        </p:nvSpPr>
        <p:spPr>
          <a:xfrm>
            <a:off x="323850" y="577850"/>
            <a:ext cx="8820150" cy="1373188"/>
          </a:xfrm>
          <a:prstGeom prst="rect">
            <a:avLst/>
          </a:prstGeom>
          <a:noFill/>
          <a:ln w="38100">
            <a:noFill/>
          </a:ln>
        </p:spPr>
        <p:txBody>
          <a:bodyPr lIns="90000" tIns="46800" rIns="90000" bIns="46800" anchor="ctr" anchorCtr="0">
            <a:spAutoFit/>
          </a:bodyPr>
          <a:lstStyle/>
          <a:p>
            <a:r>
              <a:rPr lang="zh-CN" altLang="en-US" sz="2800" b="1" dirty="0">
                <a:latin typeface="Times New Roman" panose="02020603050405020304" pitchFamily="18" charset="0"/>
              </a:rPr>
              <a:t>例</a:t>
            </a:r>
            <a:r>
              <a:rPr lang="en-US" altLang="zh-CN" sz="2800" b="1" dirty="0">
                <a:latin typeface="Times New Roman" panose="02020603050405020304" pitchFamily="18" charset="0"/>
              </a:rPr>
              <a:t>:</a:t>
            </a:r>
            <a:r>
              <a:rPr lang="en-US" altLang="zh-CN" sz="2800" dirty="0">
                <a:latin typeface="Times New Roman" panose="02020603050405020304" pitchFamily="18" charset="0"/>
              </a:rPr>
              <a:t> </a:t>
            </a:r>
            <a:r>
              <a:rPr lang="zh-CN" altLang="en-US" sz="2800" dirty="0">
                <a:latin typeface="Times New Roman" panose="02020603050405020304" pitchFamily="18" charset="0"/>
              </a:rPr>
              <a:t>设计一个三位串行输入输出移位寄存器。要求数据在移位寄存器中传输是由低位到高位依次进行的。该移位寄存器有一个输入端</a:t>
            </a:r>
            <a:r>
              <a:rPr lang="en-US" altLang="zh-CN" sz="2800" dirty="0">
                <a:latin typeface="Times New Roman" panose="02020603050405020304" pitchFamily="18" charset="0"/>
              </a:rPr>
              <a:t>X</a:t>
            </a:r>
            <a:r>
              <a:rPr lang="zh-CN" altLang="en-US" sz="2800" dirty="0">
                <a:latin typeface="Times New Roman" panose="02020603050405020304" pitchFamily="18" charset="0"/>
              </a:rPr>
              <a:t>，输出则为触发器状态输出。 </a:t>
            </a:r>
          </a:p>
        </p:txBody>
      </p:sp>
      <p:sp>
        <p:nvSpPr>
          <p:cNvPr id="8220" name="Rectangle 31" descr="羊皮纸"/>
          <p:cNvSpPr/>
          <p:nvPr/>
        </p:nvSpPr>
        <p:spPr>
          <a:xfrm>
            <a:off x="0" y="1946275"/>
            <a:ext cx="6851650" cy="519113"/>
          </a:xfrm>
          <a:prstGeom prst="rect">
            <a:avLst/>
          </a:prstGeom>
          <a:noFill/>
          <a:ln w="38100">
            <a:noFill/>
          </a:ln>
        </p:spPr>
        <p:txBody>
          <a:bodyPr wrap="none" lIns="90000" tIns="46800" rIns="90000" bIns="46800" anchor="ctr" anchorCtr="0">
            <a:spAutoFit/>
          </a:bodyPr>
          <a:lstStyle/>
          <a:p>
            <a:r>
              <a:rPr lang="zh-CN" altLang="en-US" sz="2800" b="1" dirty="0">
                <a:latin typeface="Times New Roman" panose="02020603050405020304" pitchFamily="18" charset="0"/>
              </a:rPr>
              <a:t>解：</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）建立原始状态图和原始状态表。 </a:t>
            </a:r>
          </a:p>
        </p:txBody>
      </p:sp>
      <p:graphicFrame>
        <p:nvGraphicFramePr>
          <p:cNvPr id="8194" name="Object 32"/>
          <p:cNvGraphicFramePr>
            <a:graphicFrameLocks noChangeAspect="1"/>
          </p:cNvGraphicFramePr>
          <p:nvPr/>
        </p:nvGraphicFramePr>
        <p:xfrm>
          <a:off x="5070475" y="2939574"/>
          <a:ext cx="698500" cy="491490"/>
        </p:xfrm>
        <a:graphic>
          <a:graphicData uri="http://schemas.openxmlformats.org/presentationml/2006/ole">
            <mc:AlternateContent xmlns:mc="http://schemas.openxmlformats.org/markup-compatibility/2006">
              <mc:Choice xmlns:v="urn:schemas-microsoft-com:vml" Requires="v">
                <p:oleObj r:id="rId2" imgW="342900" imgH="241300" progId="Equation.3">
                  <p:embed/>
                </p:oleObj>
              </mc:Choice>
              <mc:Fallback>
                <p:oleObj r:id="rId2" imgW="342900" imgH="241300" progId="Equation.3">
                  <p:embed/>
                  <p:pic>
                    <p:nvPicPr>
                      <p:cNvPr id="0" name="图片 3098"/>
                      <p:cNvPicPr/>
                      <p:nvPr/>
                    </p:nvPicPr>
                    <p:blipFill>
                      <a:blip r:embed="rId3"/>
                      <a:stretch>
                        <a:fillRect/>
                      </a:stretch>
                    </p:blipFill>
                    <p:spPr>
                      <a:xfrm>
                        <a:off x="5070475" y="2939574"/>
                        <a:ext cx="698500" cy="491490"/>
                      </a:xfrm>
                      <a:prstGeom prst="rect">
                        <a:avLst/>
                      </a:prstGeom>
                      <a:noFill/>
                      <a:ln w="38100">
                        <a:noFill/>
                        <a:miter/>
                      </a:ln>
                    </p:spPr>
                  </p:pic>
                </p:oleObj>
              </mc:Fallback>
            </mc:AlternateContent>
          </a:graphicData>
        </a:graphic>
      </p:graphicFrame>
      <p:graphicFrame>
        <p:nvGraphicFramePr>
          <p:cNvPr id="8195" name="Object 33"/>
          <p:cNvGraphicFramePr>
            <a:graphicFrameLocks noChangeAspect="1"/>
          </p:cNvGraphicFramePr>
          <p:nvPr/>
        </p:nvGraphicFramePr>
        <p:xfrm>
          <a:off x="4489450" y="2952750"/>
          <a:ext cx="698500" cy="465138"/>
        </p:xfrm>
        <a:graphic>
          <a:graphicData uri="http://schemas.openxmlformats.org/presentationml/2006/ole">
            <mc:AlternateContent xmlns:mc="http://schemas.openxmlformats.org/markup-compatibility/2006">
              <mc:Choice xmlns:v="urn:schemas-microsoft-com:vml" Requires="v">
                <p:oleObj r:id="rId4" imgW="342900" imgH="228600" progId="Equation.3">
                  <p:embed/>
                </p:oleObj>
              </mc:Choice>
              <mc:Fallback>
                <p:oleObj r:id="rId4" imgW="342900" imgH="228600" progId="Equation.3">
                  <p:embed/>
                  <p:pic>
                    <p:nvPicPr>
                      <p:cNvPr id="0" name="图片 3100"/>
                      <p:cNvPicPr/>
                      <p:nvPr/>
                    </p:nvPicPr>
                    <p:blipFill>
                      <a:blip r:embed="rId5"/>
                      <a:stretch>
                        <a:fillRect/>
                      </a:stretch>
                    </p:blipFill>
                    <p:spPr>
                      <a:xfrm>
                        <a:off x="4489450" y="2952750"/>
                        <a:ext cx="698500" cy="465138"/>
                      </a:xfrm>
                      <a:prstGeom prst="rect">
                        <a:avLst/>
                      </a:prstGeom>
                      <a:noFill/>
                      <a:ln w="38100">
                        <a:noFill/>
                        <a:miter/>
                      </a:ln>
                    </p:spPr>
                  </p:pic>
                </p:oleObj>
              </mc:Fallback>
            </mc:AlternateContent>
          </a:graphicData>
        </a:graphic>
      </p:graphicFrame>
      <p:graphicFrame>
        <p:nvGraphicFramePr>
          <p:cNvPr id="8196" name="Object 34"/>
          <p:cNvGraphicFramePr>
            <a:graphicFrameLocks noChangeAspect="1"/>
          </p:cNvGraphicFramePr>
          <p:nvPr/>
        </p:nvGraphicFramePr>
        <p:xfrm>
          <a:off x="3870325" y="2964974"/>
          <a:ext cx="698500" cy="466090"/>
        </p:xfrm>
        <a:graphic>
          <a:graphicData uri="http://schemas.openxmlformats.org/presentationml/2006/ole">
            <mc:AlternateContent xmlns:mc="http://schemas.openxmlformats.org/markup-compatibility/2006">
              <mc:Choice xmlns:v="urn:schemas-microsoft-com:vml" Requires="v">
                <p:oleObj r:id="rId6" imgW="342900" imgH="228600" progId="Equation.3">
                  <p:embed/>
                </p:oleObj>
              </mc:Choice>
              <mc:Fallback>
                <p:oleObj r:id="rId6" imgW="342900" imgH="228600" progId="Equation.3">
                  <p:embed/>
                  <p:pic>
                    <p:nvPicPr>
                      <p:cNvPr id="0" name="图片 3099"/>
                      <p:cNvPicPr/>
                      <p:nvPr/>
                    </p:nvPicPr>
                    <p:blipFill>
                      <a:blip r:embed="rId7"/>
                      <a:stretch>
                        <a:fillRect/>
                      </a:stretch>
                    </p:blipFill>
                    <p:spPr>
                      <a:xfrm>
                        <a:off x="3870325" y="2964974"/>
                        <a:ext cx="698500" cy="466090"/>
                      </a:xfrm>
                      <a:prstGeom prst="rect">
                        <a:avLst/>
                      </a:prstGeom>
                      <a:noFill/>
                      <a:ln w="38100">
                        <a:noFill/>
                        <a:miter/>
                      </a:ln>
                    </p:spPr>
                  </p:pic>
                </p:oleObj>
              </mc:Fallback>
            </mc:AlternateContent>
          </a:graphicData>
        </a:graphic>
      </p:graphicFrame>
      <p:sp>
        <p:nvSpPr>
          <p:cNvPr id="8221" name="Rectangle 35" descr="羊皮纸"/>
          <p:cNvSpPr/>
          <p:nvPr/>
        </p:nvSpPr>
        <p:spPr>
          <a:xfrm>
            <a:off x="1068388" y="2463800"/>
            <a:ext cx="3246437" cy="0"/>
          </a:xfrm>
          <a:prstGeom prst="rect">
            <a:avLst/>
          </a:prstGeom>
          <a:noFill/>
          <a:ln w="38100">
            <a:noFill/>
          </a:ln>
        </p:spPr>
        <p:txBody>
          <a:bodyPr wrap="none" lIns="90000" tIns="46800" rIns="90000" bIns="46800" anchor="ctr" anchorCtr="0">
            <a:spAutoFit/>
          </a:bodyPr>
          <a:lstStyle/>
          <a:p>
            <a:endParaRPr lang="zh-CN" altLang="en-US" sz="2800" dirty="0">
              <a:latin typeface="Times New Roman" panose="02020603050405020304" pitchFamily="18" charset="0"/>
            </a:endParaRPr>
          </a:p>
        </p:txBody>
      </p:sp>
      <p:sp>
        <p:nvSpPr>
          <p:cNvPr id="8222" name="Rectangle 36" descr="羊皮纸"/>
          <p:cNvSpPr/>
          <p:nvPr/>
        </p:nvSpPr>
        <p:spPr>
          <a:xfrm>
            <a:off x="1068388" y="2463800"/>
            <a:ext cx="3246437" cy="0"/>
          </a:xfrm>
          <a:prstGeom prst="rect">
            <a:avLst/>
          </a:prstGeom>
          <a:noFill/>
          <a:ln w="38100">
            <a:noFill/>
          </a:ln>
        </p:spPr>
        <p:txBody>
          <a:bodyPr wrap="none" lIns="90000" tIns="46800" rIns="90000" bIns="46800" anchor="ctr" anchorCtr="0">
            <a:spAutoFit/>
          </a:bodyPr>
          <a:lstStyle/>
          <a:p>
            <a:endParaRPr lang="zh-CN" altLang="en-US" sz="2800" dirty="0">
              <a:latin typeface="Times New Roman" panose="02020603050405020304" pitchFamily="18" charset="0"/>
            </a:endParaRPr>
          </a:p>
        </p:txBody>
      </p:sp>
      <p:sp>
        <p:nvSpPr>
          <p:cNvPr id="8223" name="Rectangle 37" descr="羊皮纸"/>
          <p:cNvSpPr/>
          <p:nvPr/>
        </p:nvSpPr>
        <p:spPr>
          <a:xfrm>
            <a:off x="2586038" y="2349500"/>
            <a:ext cx="209550" cy="228600"/>
          </a:xfrm>
          <a:prstGeom prst="rect">
            <a:avLst/>
          </a:prstGeom>
          <a:noFill/>
          <a:ln w="38100">
            <a:noFill/>
          </a:ln>
        </p:spPr>
        <p:txBody>
          <a:bodyPr wrap="none" lIns="90000" tIns="46800" rIns="90000" bIns="46800" anchor="ctr" anchorCtr="0">
            <a:spAutoFit/>
          </a:bodyPr>
          <a:lstStyle/>
          <a:p>
            <a:pPr algn="ctr"/>
            <a:r>
              <a:rPr lang="en-US" altLang="zh-CN" sz="9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endParaRPr>
          </a:p>
        </p:txBody>
      </p:sp>
      <p:sp>
        <p:nvSpPr>
          <p:cNvPr id="8224" name="Line 38"/>
          <p:cNvSpPr/>
          <p:nvPr/>
        </p:nvSpPr>
        <p:spPr>
          <a:xfrm>
            <a:off x="3233738" y="2479675"/>
            <a:ext cx="0" cy="0"/>
          </a:xfrm>
          <a:prstGeom prst="line">
            <a:avLst/>
          </a:prstGeom>
          <a:ln w="12700" cap="rnd" cmpd="sng">
            <a:solidFill>
              <a:srgbClr val="000000"/>
            </a:solidFill>
            <a:prstDash val="solid"/>
            <a:headEnd type="none" w="med" len="med"/>
            <a:tailEnd type="none" w="sm" len="lg"/>
          </a:ln>
        </p:spPr>
      </p:sp>
    </p:spTree>
  </p:cSld>
  <p:clrMapOvr>
    <a:masterClrMapping/>
  </p:clrMapOvr>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6498" name="表格 106497"/>
          <p:cNvGraphicFramePr/>
          <p:nvPr/>
        </p:nvGraphicFramePr>
        <p:xfrm>
          <a:off x="5149850" y="4135438"/>
          <a:ext cx="2573338" cy="1992313"/>
        </p:xfrm>
        <a:graphic>
          <a:graphicData uri="http://schemas.openxmlformats.org/drawingml/2006/table">
            <a:tbl>
              <a:tblPr/>
              <a:tblGrid>
                <a:gridCol w="514350">
                  <a:extLst>
                    <a:ext uri="{9D8B030D-6E8A-4147-A177-3AD203B41FA5}">
                      <a16:colId xmlns:a16="http://schemas.microsoft.com/office/drawing/2014/main" val="20000"/>
                    </a:ext>
                  </a:extLst>
                </a:gridCol>
                <a:gridCol w="515938">
                  <a:extLst>
                    <a:ext uri="{9D8B030D-6E8A-4147-A177-3AD203B41FA5}">
                      <a16:colId xmlns:a16="http://schemas.microsoft.com/office/drawing/2014/main" val="20001"/>
                    </a:ext>
                  </a:extLst>
                </a:gridCol>
                <a:gridCol w="512762">
                  <a:extLst>
                    <a:ext uri="{9D8B030D-6E8A-4147-A177-3AD203B41FA5}">
                      <a16:colId xmlns:a16="http://schemas.microsoft.com/office/drawing/2014/main" val="20002"/>
                    </a:ext>
                  </a:extLst>
                </a:gridCol>
                <a:gridCol w="515938">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06535" name="表格 106534"/>
          <p:cNvGraphicFramePr/>
          <p:nvPr/>
        </p:nvGraphicFramePr>
        <p:xfrm>
          <a:off x="985838" y="4162425"/>
          <a:ext cx="2573338" cy="1992313"/>
        </p:xfrm>
        <a:graphic>
          <a:graphicData uri="http://schemas.openxmlformats.org/drawingml/2006/table">
            <a:tbl>
              <a:tblPr/>
              <a:tblGrid>
                <a:gridCol w="514350">
                  <a:extLst>
                    <a:ext uri="{9D8B030D-6E8A-4147-A177-3AD203B41FA5}">
                      <a16:colId xmlns:a16="http://schemas.microsoft.com/office/drawing/2014/main" val="20000"/>
                    </a:ext>
                  </a:extLst>
                </a:gridCol>
                <a:gridCol w="515938">
                  <a:extLst>
                    <a:ext uri="{9D8B030D-6E8A-4147-A177-3AD203B41FA5}">
                      <a16:colId xmlns:a16="http://schemas.microsoft.com/office/drawing/2014/main" val="20001"/>
                    </a:ext>
                  </a:extLst>
                </a:gridCol>
                <a:gridCol w="512762">
                  <a:extLst>
                    <a:ext uri="{9D8B030D-6E8A-4147-A177-3AD203B41FA5}">
                      <a16:colId xmlns:a16="http://schemas.microsoft.com/office/drawing/2014/main" val="20002"/>
                    </a:ext>
                  </a:extLst>
                </a:gridCol>
                <a:gridCol w="515938">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06572" name="表格 106571"/>
          <p:cNvGraphicFramePr/>
          <p:nvPr/>
        </p:nvGraphicFramePr>
        <p:xfrm>
          <a:off x="2940050" y="1476375"/>
          <a:ext cx="2573338" cy="1992313"/>
        </p:xfrm>
        <a:graphic>
          <a:graphicData uri="http://schemas.openxmlformats.org/drawingml/2006/table">
            <a:tbl>
              <a:tblPr/>
              <a:tblGrid>
                <a:gridCol w="514350">
                  <a:extLst>
                    <a:ext uri="{9D8B030D-6E8A-4147-A177-3AD203B41FA5}">
                      <a16:colId xmlns:a16="http://schemas.microsoft.com/office/drawing/2014/main" val="20000"/>
                    </a:ext>
                  </a:extLst>
                </a:gridCol>
                <a:gridCol w="515938">
                  <a:extLst>
                    <a:ext uri="{9D8B030D-6E8A-4147-A177-3AD203B41FA5}">
                      <a16:colId xmlns:a16="http://schemas.microsoft.com/office/drawing/2014/main" val="20001"/>
                    </a:ext>
                  </a:extLst>
                </a:gridCol>
                <a:gridCol w="512762">
                  <a:extLst>
                    <a:ext uri="{9D8B030D-6E8A-4147-A177-3AD203B41FA5}">
                      <a16:colId xmlns:a16="http://schemas.microsoft.com/office/drawing/2014/main" val="20002"/>
                    </a:ext>
                  </a:extLst>
                </a:gridCol>
                <a:gridCol w="515938">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20000"/>
                        </a:spcBef>
                        <a:buClr>
                          <a:schemeClr val="bg2"/>
                        </a:buClr>
                        <a:buSzPct val="75000"/>
                        <a:buFont typeface="Wingdings" panose="05000000000000000000" pitchFamily="2" charset="2"/>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spcBef>
                          <a:spcPct val="20000"/>
                        </a:spcBef>
                        <a:buClr>
                          <a:schemeClr val="bg2"/>
                        </a:buClr>
                        <a:buSzPct val="75000"/>
                        <a:buFont typeface="Wingdings" panose="05000000000000000000" pitchFamily="2" charset="2"/>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6609" name="Rectangle 149" descr="羊皮纸"/>
          <p:cNvSpPr/>
          <p:nvPr/>
        </p:nvSpPr>
        <p:spPr>
          <a:xfrm>
            <a:off x="841375" y="619125"/>
            <a:ext cx="5070475" cy="519113"/>
          </a:xfrm>
          <a:prstGeom prst="rect">
            <a:avLst/>
          </a:prstGeom>
          <a:noFill/>
          <a:ln w="38100">
            <a:noFill/>
          </a:ln>
        </p:spPr>
        <p:txBody>
          <a:bodyPr wrap="none" lIns="90000" tIns="46800" rIns="90000" bIns="46800" anchor="ctr" anchorCtr="0">
            <a:spAutoFit/>
          </a:bodyPr>
          <a:lstStyle/>
          <a:p>
            <a:r>
              <a:rPr lang="zh-CN" altLang="en-US" sz="2800" dirty="0">
                <a:latin typeface="Times New Roman" panose="02020603050405020304" pitchFamily="18" charset="0"/>
              </a:rPr>
              <a:t>（</a:t>
            </a:r>
            <a:r>
              <a:rPr lang="en-US" altLang="zh-CN" sz="2800" dirty="0">
                <a:latin typeface="Times New Roman" panose="02020603050405020304" pitchFamily="18" charset="0"/>
              </a:rPr>
              <a:t>2</a:t>
            </a:r>
            <a:r>
              <a:rPr lang="zh-CN" altLang="en-US" sz="2800" dirty="0">
                <a:latin typeface="Times New Roman" panose="02020603050405020304" pitchFamily="18" charset="0"/>
              </a:rPr>
              <a:t>）求输出函数和激励函数。 </a:t>
            </a:r>
          </a:p>
        </p:txBody>
      </p:sp>
      <p:sp>
        <p:nvSpPr>
          <p:cNvPr id="106610" name="Rectangle 150" descr="羊皮纸"/>
          <p:cNvSpPr/>
          <p:nvPr/>
        </p:nvSpPr>
        <p:spPr>
          <a:xfrm>
            <a:off x="3840163" y="1208088"/>
            <a:ext cx="1465262" cy="0"/>
          </a:xfrm>
          <a:prstGeom prst="rect">
            <a:avLst/>
          </a:prstGeom>
          <a:noFill/>
          <a:ln w="38100">
            <a:noFill/>
          </a:ln>
        </p:spPr>
        <p:txBody>
          <a:bodyPr wrap="none" lIns="90000" tIns="46800" rIns="90000" bIns="46800">
            <a:spAutoFit/>
          </a:bodyPr>
          <a:lstStyle/>
          <a:p>
            <a:pPr algn="just"/>
            <a:r>
              <a:rPr lang="en-US" altLang="zh-CN" sz="10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06611" name="Rectangle 151" descr="羊皮纸"/>
          <p:cNvSpPr/>
          <p:nvPr/>
        </p:nvSpPr>
        <p:spPr>
          <a:xfrm>
            <a:off x="3840163" y="1208088"/>
            <a:ext cx="1465262" cy="0"/>
          </a:xfrm>
          <a:prstGeom prst="rect">
            <a:avLst/>
          </a:prstGeom>
          <a:noFill/>
          <a:ln w="38100">
            <a:noFill/>
          </a:ln>
        </p:spPr>
        <p:txBody>
          <a:bodyPr wrap="none" lIns="90000" tIns="46800" rIns="90000" bIns="46800">
            <a:spAutoFit/>
          </a:bodyPr>
          <a:lstStyle/>
          <a:p>
            <a:pPr algn="just"/>
            <a:r>
              <a:rPr lang="en-US" altLang="zh-CN" sz="9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06612" name="Text Box 152" descr="羊皮纸"/>
          <p:cNvSpPr txBox="1"/>
          <p:nvPr/>
        </p:nvSpPr>
        <p:spPr>
          <a:xfrm>
            <a:off x="5151438" y="3878263"/>
            <a:ext cx="488950" cy="396875"/>
          </a:xfrm>
          <a:prstGeom prst="rect">
            <a:avLst/>
          </a:prstGeom>
          <a:noFill/>
          <a:ln w="38100">
            <a:noFill/>
          </a:ln>
        </p:spPr>
        <p:txBody>
          <a:bodyPr wrap="none" lIns="90000" tIns="46800" rIns="90000" bIns="46800">
            <a:spAutoFit/>
          </a:bodyPr>
          <a:lstStyle/>
          <a:p>
            <a:r>
              <a:rPr lang="en-US" altLang="zh-CN" sz="2000" i="1" dirty="0">
                <a:latin typeface="Times New Roman" panose="02020603050405020304" pitchFamily="18" charset="0"/>
              </a:rPr>
              <a:t>xy</a:t>
            </a:r>
            <a:r>
              <a:rPr lang="en-US" altLang="zh-CN" sz="2000" baseline="-25000" dirty="0">
                <a:latin typeface="Times New Roman" panose="02020603050405020304" pitchFamily="18" charset="0"/>
              </a:rPr>
              <a:t>2</a:t>
            </a:r>
          </a:p>
        </p:txBody>
      </p:sp>
      <p:sp>
        <p:nvSpPr>
          <p:cNvPr id="106613" name="Text Box 153" descr="羊皮纸"/>
          <p:cNvSpPr txBox="1"/>
          <p:nvPr/>
        </p:nvSpPr>
        <p:spPr>
          <a:xfrm>
            <a:off x="4887913" y="4249738"/>
            <a:ext cx="571500" cy="396875"/>
          </a:xfrm>
          <a:prstGeom prst="rect">
            <a:avLst/>
          </a:prstGeom>
          <a:noFill/>
          <a:ln w="38100">
            <a:noFill/>
          </a:ln>
        </p:spPr>
        <p:txBody>
          <a:bodyPr wrap="none" lIns="90000" tIns="46800" rIns="90000" bIns="46800">
            <a:spAutoFit/>
          </a:bodyPr>
          <a:lstStyle/>
          <a:p>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0</a:t>
            </a:r>
          </a:p>
        </p:txBody>
      </p:sp>
      <p:sp>
        <p:nvSpPr>
          <p:cNvPr id="106614" name="Text Box 154" descr="羊皮纸"/>
          <p:cNvSpPr txBox="1"/>
          <p:nvPr/>
        </p:nvSpPr>
        <p:spPr>
          <a:xfrm>
            <a:off x="6162675" y="6135688"/>
            <a:ext cx="735013" cy="457200"/>
          </a:xfrm>
          <a:prstGeom prst="rect">
            <a:avLst/>
          </a:prstGeom>
          <a:noFill/>
          <a:ln w="38100">
            <a:noFill/>
          </a:ln>
        </p:spPr>
        <p:txBody>
          <a:bodyPr wrap="none" lIns="90000" tIns="46800" rIns="90000" bIns="46800">
            <a:spAutoFit/>
          </a:bodyPr>
          <a:lstStyle/>
          <a:p>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0</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p>
        </p:txBody>
      </p:sp>
      <p:sp>
        <p:nvSpPr>
          <p:cNvPr id="106615" name="Oval 155"/>
          <p:cNvSpPr/>
          <p:nvPr/>
        </p:nvSpPr>
        <p:spPr>
          <a:xfrm>
            <a:off x="3975100" y="2690813"/>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6616" name="Text Box 156" descr="羊皮纸"/>
          <p:cNvSpPr txBox="1"/>
          <p:nvPr/>
        </p:nvSpPr>
        <p:spPr>
          <a:xfrm>
            <a:off x="2941638" y="1219200"/>
            <a:ext cx="488950" cy="396875"/>
          </a:xfrm>
          <a:prstGeom prst="rect">
            <a:avLst/>
          </a:prstGeom>
          <a:noFill/>
          <a:ln w="38100">
            <a:noFill/>
          </a:ln>
        </p:spPr>
        <p:txBody>
          <a:bodyPr wrap="none" lIns="90000" tIns="46800" rIns="90000" bIns="46800">
            <a:spAutoFit/>
          </a:bodyPr>
          <a:lstStyle/>
          <a:p>
            <a:r>
              <a:rPr lang="en-US" altLang="zh-CN" sz="2000" i="1" dirty="0">
                <a:latin typeface="Times New Roman" panose="02020603050405020304" pitchFamily="18" charset="0"/>
              </a:rPr>
              <a:t>xy</a:t>
            </a:r>
            <a:r>
              <a:rPr lang="en-US" altLang="zh-CN" sz="2000" baseline="-25000" dirty="0">
                <a:latin typeface="Times New Roman" panose="02020603050405020304" pitchFamily="18" charset="0"/>
              </a:rPr>
              <a:t>2</a:t>
            </a:r>
          </a:p>
        </p:txBody>
      </p:sp>
      <p:sp>
        <p:nvSpPr>
          <p:cNvPr id="106617" name="Text Box 157" descr="羊皮纸"/>
          <p:cNvSpPr txBox="1"/>
          <p:nvPr/>
        </p:nvSpPr>
        <p:spPr>
          <a:xfrm>
            <a:off x="2678113" y="1590675"/>
            <a:ext cx="571500" cy="396875"/>
          </a:xfrm>
          <a:prstGeom prst="rect">
            <a:avLst/>
          </a:prstGeom>
          <a:noFill/>
          <a:ln w="38100">
            <a:noFill/>
          </a:ln>
        </p:spPr>
        <p:txBody>
          <a:bodyPr wrap="none" lIns="90000" tIns="46800" rIns="90000" bIns="46800">
            <a:spAutoFit/>
          </a:bodyPr>
          <a:lstStyle/>
          <a:p>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0</a:t>
            </a:r>
          </a:p>
        </p:txBody>
      </p:sp>
      <p:sp>
        <p:nvSpPr>
          <p:cNvPr id="106618" name="AutoShape 158"/>
          <p:cNvSpPr/>
          <p:nvPr/>
        </p:nvSpPr>
        <p:spPr>
          <a:xfrm rot="10654596">
            <a:off x="5056188" y="2671763"/>
            <a:ext cx="401637" cy="731837"/>
          </a:xfrm>
          <a:prstGeom prst="rightBracket">
            <a:avLst>
              <a:gd name="adj" fmla="val 45485"/>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6619" name="AutoShape 159"/>
          <p:cNvSpPr/>
          <p:nvPr/>
        </p:nvSpPr>
        <p:spPr>
          <a:xfrm rot="-5400000">
            <a:off x="6992938" y="5486400"/>
            <a:ext cx="398462" cy="969963"/>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6620" name="Text Box 160" descr="羊皮纸"/>
          <p:cNvSpPr txBox="1"/>
          <p:nvPr/>
        </p:nvSpPr>
        <p:spPr>
          <a:xfrm>
            <a:off x="3952875" y="3476625"/>
            <a:ext cx="735013" cy="457200"/>
          </a:xfrm>
          <a:prstGeom prst="rect">
            <a:avLst/>
          </a:prstGeom>
          <a:noFill/>
          <a:ln w="38100">
            <a:noFill/>
          </a:ln>
        </p:spPr>
        <p:txBody>
          <a:bodyPr wrap="none" lIns="90000" tIns="46800" rIns="90000" bIns="46800">
            <a:spAutoFit/>
          </a:bodyPr>
          <a:lstStyle/>
          <a:p>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2</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p>
        </p:txBody>
      </p:sp>
      <p:sp>
        <p:nvSpPr>
          <p:cNvPr id="106621" name="Oval 161"/>
          <p:cNvSpPr/>
          <p:nvPr/>
        </p:nvSpPr>
        <p:spPr>
          <a:xfrm>
            <a:off x="1500188" y="4970463"/>
            <a:ext cx="2074862" cy="366712"/>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6622" name="Text Box 162" descr="羊皮纸"/>
          <p:cNvSpPr txBox="1"/>
          <p:nvPr/>
        </p:nvSpPr>
        <p:spPr>
          <a:xfrm>
            <a:off x="987425" y="3905250"/>
            <a:ext cx="488950" cy="396875"/>
          </a:xfrm>
          <a:prstGeom prst="rect">
            <a:avLst/>
          </a:prstGeom>
          <a:noFill/>
          <a:ln w="38100">
            <a:noFill/>
          </a:ln>
        </p:spPr>
        <p:txBody>
          <a:bodyPr wrap="none" lIns="90000" tIns="46800" rIns="90000" bIns="46800">
            <a:spAutoFit/>
          </a:bodyPr>
          <a:lstStyle/>
          <a:p>
            <a:r>
              <a:rPr lang="en-US" altLang="zh-CN" sz="2000" i="1" dirty="0">
                <a:latin typeface="Times New Roman" panose="02020603050405020304" pitchFamily="18" charset="0"/>
              </a:rPr>
              <a:t>xy</a:t>
            </a:r>
            <a:r>
              <a:rPr lang="en-US" altLang="zh-CN" sz="2000" baseline="-25000" dirty="0">
                <a:latin typeface="Times New Roman" panose="02020603050405020304" pitchFamily="18" charset="0"/>
              </a:rPr>
              <a:t>2</a:t>
            </a:r>
          </a:p>
        </p:txBody>
      </p:sp>
      <p:sp>
        <p:nvSpPr>
          <p:cNvPr id="106623" name="Text Box 163" descr="羊皮纸"/>
          <p:cNvSpPr txBox="1"/>
          <p:nvPr/>
        </p:nvSpPr>
        <p:spPr>
          <a:xfrm>
            <a:off x="723900" y="4276725"/>
            <a:ext cx="571500" cy="396875"/>
          </a:xfrm>
          <a:prstGeom prst="rect">
            <a:avLst/>
          </a:prstGeom>
          <a:noFill/>
          <a:ln w="38100">
            <a:noFill/>
          </a:ln>
        </p:spPr>
        <p:txBody>
          <a:bodyPr wrap="none" lIns="90000" tIns="46800" rIns="90000" bIns="46800">
            <a:spAutoFit/>
          </a:bodyPr>
          <a:lstStyle/>
          <a:p>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y</a:t>
            </a:r>
            <a:r>
              <a:rPr lang="en-US" altLang="zh-CN" sz="2000" baseline="-25000" dirty="0">
                <a:latin typeface="Times New Roman" panose="02020603050405020304" pitchFamily="18" charset="0"/>
              </a:rPr>
              <a:t>0</a:t>
            </a:r>
          </a:p>
        </p:txBody>
      </p:sp>
      <p:sp>
        <p:nvSpPr>
          <p:cNvPr id="106624" name="Text Box 164" descr="羊皮纸"/>
          <p:cNvSpPr txBox="1"/>
          <p:nvPr/>
        </p:nvSpPr>
        <p:spPr>
          <a:xfrm>
            <a:off x="1998663" y="6162675"/>
            <a:ext cx="735012" cy="457200"/>
          </a:xfrm>
          <a:prstGeom prst="rect">
            <a:avLst/>
          </a:prstGeom>
          <a:noFill/>
          <a:ln w="38100">
            <a:noFill/>
          </a:ln>
        </p:spPr>
        <p:txBody>
          <a:bodyPr wrap="none" lIns="90000" tIns="46800" rIns="90000" bIns="46800">
            <a:spAutoFit/>
          </a:bodyPr>
          <a:lstStyle/>
          <a:p>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1</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p>
        </p:txBody>
      </p:sp>
      <p:sp>
        <p:nvSpPr>
          <p:cNvPr id="106625" name="AutoShape 165"/>
          <p:cNvSpPr/>
          <p:nvPr/>
        </p:nvSpPr>
        <p:spPr>
          <a:xfrm rot="5400000">
            <a:off x="6981825" y="4189413"/>
            <a:ext cx="398463" cy="982662"/>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6626" name="AutoShape 166"/>
          <p:cNvSpPr/>
          <p:nvPr/>
        </p:nvSpPr>
        <p:spPr>
          <a:xfrm>
            <a:off x="3495675" y="2690813"/>
            <a:ext cx="415925" cy="717550"/>
          </a:xfrm>
          <a:prstGeom prst="rightBracket">
            <a:avLst>
              <a:gd name="adj" fmla="val 45805"/>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6627" name="Oval 167"/>
          <p:cNvSpPr/>
          <p:nvPr/>
        </p:nvSpPr>
        <p:spPr>
          <a:xfrm>
            <a:off x="1503363" y="5353050"/>
            <a:ext cx="2054225" cy="3937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06628" name="Oval 168"/>
          <p:cNvSpPr/>
          <p:nvPr/>
        </p:nvSpPr>
        <p:spPr>
          <a:xfrm>
            <a:off x="6697663" y="4941888"/>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Tree>
  </p:cSld>
  <p:clrMapOvr>
    <a:masterClrMapping/>
  </p:clrMapOvr>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2"/>
          <p:cNvGraphicFramePr>
            <a:graphicFrameLocks noGrp="1" noChangeAspect="1"/>
          </p:cNvGraphicFramePr>
          <p:nvPr>
            <p:ph sz="quarter" idx="1"/>
          </p:nvPr>
        </p:nvGraphicFramePr>
        <p:xfrm>
          <a:off x="1306513" y="860425"/>
          <a:ext cx="3213100" cy="698500"/>
        </p:xfrm>
        <a:graphic>
          <a:graphicData uri="http://schemas.openxmlformats.org/presentationml/2006/ole">
            <mc:AlternateContent xmlns:mc="http://schemas.openxmlformats.org/markup-compatibility/2006">
              <mc:Choice xmlns:v="urn:schemas-microsoft-com:vml" Requires="v">
                <p:oleObj r:id="rId2" imgW="1167765" imgH="254000" progId="Equation.3">
                  <p:embed/>
                </p:oleObj>
              </mc:Choice>
              <mc:Fallback>
                <p:oleObj r:id="rId2" imgW="1167765" imgH="254000" progId="Equation.3">
                  <p:embed/>
                  <p:pic>
                    <p:nvPicPr>
                      <p:cNvPr id="0" name="图片 3105"/>
                      <p:cNvPicPr/>
                      <p:nvPr/>
                    </p:nvPicPr>
                    <p:blipFill>
                      <a:blip r:embed="rId3"/>
                      <a:srcRect/>
                      <a:stretch>
                        <a:fillRect/>
                      </a:stretch>
                    </p:blipFill>
                    <p:spPr>
                      <a:xfrm>
                        <a:off x="1306513" y="860425"/>
                        <a:ext cx="3213100" cy="698500"/>
                      </a:xfrm>
                      <a:prstGeom prst="rect">
                        <a:avLst/>
                      </a:prstGeom>
                      <a:noFill/>
                      <a:ln w="38100">
                        <a:miter/>
                      </a:ln>
                    </p:spPr>
                  </p:pic>
                </p:oleObj>
              </mc:Fallback>
            </mc:AlternateContent>
          </a:graphicData>
        </a:graphic>
      </p:graphicFrame>
      <p:graphicFrame>
        <p:nvGraphicFramePr>
          <p:cNvPr id="9219" name="Object 3"/>
          <p:cNvGraphicFramePr>
            <a:graphicFrameLocks noGrp="1" noChangeAspect="1"/>
          </p:cNvGraphicFramePr>
          <p:nvPr>
            <p:ph sz="quarter" idx="3"/>
          </p:nvPr>
        </p:nvGraphicFramePr>
        <p:xfrm>
          <a:off x="1303338" y="1589088"/>
          <a:ext cx="3143250" cy="698500"/>
        </p:xfrm>
        <a:graphic>
          <a:graphicData uri="http://schemas.openxmlformats.org/presentationml/2006/ole">
            <mc:AlternateContent xmlns:mc="http://schemas.openxmlformats.org/markup-compatibility/2006">
              <mc:Choice xmlns:v="urn:schemas-microsoft-com:vml" Requires="v">
                <p:oleObj r:id="rId4" imgW="1143000" imgH="254000" progId="Equation.3">
                  <p:embed/>
                </p:oleObj>
              </mc:Choice>
              <mc:Fallback>
                <p:oleObj r:id="rId4" imgW="1143000" imgH="254000" progId="Equation.3">
                  <p:embed/>
                  <p:pic>
                    <p:nvPicPr>
                      <p:cNvPr id="0" name="图片 3110"/>
                      <p:cNvPicPr/>
                      <p:nvPr/>
                    </p:nvPicPr>
                    <p:blipFill>
                      <a:blip r:embed="rId5"/>
                      <a:srcRect/>
                      <a:stretch>
                        <a:fillRect/>
                      </a:stretch>
                    </p:blipFill>
                    <p:spPr>
                      <a:xfrm>
                        <a:off x="1303338" y="1589088"/>
                        <a:ext cx="3143250" cy="698500"/>
                      </a:xfrm>
                      <a:prstGeom prst="rect">
                        <a:avLst/>
                      </a:prstGeom>
                      <a:noFill/>
                      <a:ln w="38100">
                        <a:miter/>
                      </a:ln>
                    </p:spPr>
                  </p:pic>
                </p:oleObj>
              </mc:Fallback>
            </mc:AlternateContent>
          </a:graphicData>
        </a:graphic>
      </p:graphicFrame>
      <p:graphicFrame>
        <p:nvGraphicFramePr>
          <p:cNvPr id="9220" name="Object 4"/>
          <p:cNvGraphicFramePr>
            <a:graphicFrameLocks noGrp="1" noChangeAspect="1"/>
          </p:cNvGraphicFramePr>
          <p:nvPr>
            <p:ph sz="quarter" idx="4"/>
          </p:nvPr>
        </p:nvGraphicFramePr>
        <p:xfrm>
          <a:off x="1223963" y="2305050"/>
          <a:ext cx="2984500" cy="719138"/>
        </p:xfrm>
        <a:graphic>
          <a:graphicData uri="http://schemas.openxmlformats.org/presentationml/2006/ole">
            <mc:AlternateContent xmlns:mc="http://schemas.openxmlformats.org/markup-compatibility/2006">
              <mc:Choice xmlns:v="urn:schemas-microsoft-com:vml" Requires="v">
                <p:oleObj r:id="rId6" imgW="1054100" imgH="254000" progId="Equation.3">
                  <p:embed/>
                </p:oleObj>
              </mc:Choice>
              <mc:Fallback>
                <p:oleObj r:id="rId6" imgW="1054100" imgH="254000" progId="Equation.3">
                  <p:embed/>
                  <p:pic>
                    <p:nvPicPr>
                      <p:cNvPr id="0" name="图片 3108"/>
                      <p:cNvPicPr/>
                      <p:nvPr/>
                    </p:nvPicPr>
                    <p:blipFill>
                      <a:blip r:embed="rId7"/>
                      <a:srcRect/>
                      <a:stretch>
                        <a:fillRect/>
                      </a:stretch>
                    </p:blipFill>
                    <p:spPr>
                      <a:xfrm>
                        <a:off x="1223963" y="2305050"/>
                        <a:ext cx="2984500" cy="719138"/>
                      </a:xfrm>
                      <a:prstGeom prst="rect">
                        <a:avLst/>
                      </a:prstGeom>
                      <a:noFill/>
                      <a:ln w="38100">
                        <a:miter/>
                      </a:ln>
                    </p:spPr>
                  </p:pic>
                </p:oleObj>
              </mc:Fallback>
            </mc:AlternateContent>
          </a:graphicData>
        </a:graphic>
      </p:graphicFrame>
      <p:graphicFrame>
        <p:nvGraphicFramePr>
          <p:cNvPr id="9221" name="Object 5"/>
          <p:cNvGraphicFramePr>
            <a:graphicFrameLocks noChangeAspect="1"/>
          </p:cNvGraphicFramePr>
          <p:nvPr/>
        </p:nvGraphicFramePr>
        <p:xfrm>
          <a:off x="1160463" y="4032250"/>
          <a:ext cx="3660775" cy="731838"/>
        </p:xfrm>
        <a:graphic>
          <a:graphicData uri="http://schemas.openxmlformats.org/presentationml/2006/ole">
            <mc:AlternateContent xmlns:mc="http://schemas.openxmlformats.org/markup-compatibility/2006">
              <mc:Choice xmlns:v="urn:schemas-microsoft-com:vml" Requires="v">
                <p:oleObj r:id="rId8" imgW="1269365" imgH="254000" progId="Equation.3">
                  <p:embed/>
                </p:oleObj>
              </mc:Choice>
              <mc:Fallback>
                <p:oleObj r:id="rId8" imgW="1269365" imgH="254000" progId="Equation.3">
                  <p:embed/>
                  <p:pic>
                    <p:nvPicPr>
                      <p:cNvPr id="0" name="图片 3107"/>
                      <p:cNvPicPr/>
                      <p:nvPr/>
                    </p:nvPicPr>
                    <p:blipFill>
                      <a:blip r:embed="rId9"/>
                      <a:stretch>
                        <a:fillRect/>
                      </a:stretch>
                    </p:blipFill>
                    <p:spPr>
                      <a:xfrm>
                        <a:off x="1160463" y="4032250"/>
                        <a:ext cx="3660775" cy="731838"/>
                      </a:xfrm>
                      <a:prstGeom prst="rect">
                        <a:avLst/>
                      </a:prstGeom>
                      <a:noFill/>
                      <a:ln w="38100">
                        <a:noFill/>
                        <a:miter/>
                      </a:ln>
                    </p:spPr>
                  </p:pic>
                </p:oleObj>
              </mc:Fallback>
            </mc:AlternateContent>
          </a:graphicData>
        </a:graphic>
      </p:graphicFrame>
      <p:graphicFrame>
        <p:nvGraphicFramePr>
          <p:cNvPr id="9222" name="Object 6"/>
          <p:cNvGraphicFramePr>
            <a:graphicFrameLocks noChangeAspect="1"/>
          </p:cNvGraphicFramePr>
          <p:nvPr/>
        </p:nvGraphicFramePr>
        <p:xfrm>
          <a:off x="1182688" y="4683125"/>
          <a:ext cx="3627437" cy="733425"/>
        </p:xfrm>
        <a:graphic>
          <a:graphicData uri="http://schemas.openxmlformats.org/presentationml/2006/ole">
            <mc:AlternateContent xmlns:mc="http://schemas.openxmlformats.org/markup-compatibility/2006">
              <mc:Choice xmlns:v="urn:schemas-microsoft-com:vml" Requires="v">
                <p:oleObj r:id="rId10" imgW="1256665" imgH="254000" progId="Equation.3">
                  <p:embed/>
                </p:oleObj>
              </mc:Choice>
              <mc:Fallback>
                <p:oleObj r:id="rId10" imgW="1256665" imgH="254000" progId="Equation.3">
                  <p:embed/>
                  <p:pic>
                    <p:nvPicPr>
                      <p:cNvPr id="0" name="图片 3106"/>
                      <p:cNvPicPr/>
                      <p:nvPr/>
                    </p:nvPicPr>
                    <p:blipFill>
                      <a:blip r:embed="rId11"/>
                      <a:stretch>
                        <a:fillRect/>
                      </a:stretch>
                    </p:blipFill>
                    <p:spPr>
                      <a:xfrm>
                        <a:off x="1182688" y="4683125"/>
                        <a:ext cx="3627437" cy="733425"/>
                      </a:xfrm>
                      <a:prstGeom prst="rect">
                        <a:avLst/>
                      </a:prstGeom>
                      <a:noFill/>
                      <a:ln w="38100">
                        <a:noFill/>
                        <a:miter/>
                      </a:ln>
                    </p:spPr>
                  </p:pic>
                </p:oleObj>
              </mc:Fallback>
            </mc:AlternateContent>
          </a:graphicData>
        </a:graphic>
      </p:graphicFrame>
      <p:graphicFrame>
        <p:nvGraphicFramePr>
          <p:cNvPr id="9223" name="Object 7"/>
          <p:cNvGraphicFramePr>
            <a:graphicFrameLocks noChangeAspect="1"/>
          </p:cNvGraphicFramePr>
          <p:nvPr/>
        </p:nvGraphicFramePr>
        <p:xfrm>
          <a:off x="1143000" y="5345113"/>
          <a:ext cx="3367088" cy="731837"/>
        </p:xfrm>
        <a:graphic>
          <a:graphicData uri="http://schemas.openxmlformats.org/presentationml/2006/ole">
            <mc:AlternateContent xmlns:mc="http://schemas.openxmlformats.org/markup-compatibility/2006">
              <mc:Choice xmlns:v="urn:schemas-microsoft-com:vml" Requires="v">
                <p:oleObj r:id="rId12" imgW="1167765" imgH="254000" progId="Equation.3">
                  <p:embed/>
                </p:oleObj>
              </mc:Choice>
              <mc:Fallback>
                <p:oleObj r:id="rId12" imgW="1167765" imgH="254000" progId="Equation.3">
                  <p:embed/>
                  <p:pic>
                    <p:nvPicPr>
                      <p:cNvPr id="0" name="图片 3109"/>
                      <p:cNvPicPr/>
                      <p:nvPr/>
                    </p:nvPicPr>
                    <p:blipFill>
                      <a:blip r:embed="rId13"/>
                      <a:stretch>
                        <a:fillRect/>
                      </a:stretch>
                    </p:blipFill>
                    <p:spPr>
                      <a:xfrm>
                        <a:off x="1143000" y="5345113"/>
                        <a:ext cx="3367088" cy="731837"/>
                      </a:xfrm>
                      <a:prstGeom prst="rect">
                        <a:avLst/>
                      </a:prstGeom>
                      <a:noFill/>
                      <a:ln w="38100">
                        <a:noFill/>
                        <a:miter/>
                      </a:ln>
                    </p:spPr>
                  </p:pic>
                </p:oleObj>
              </mc:Fallback>
            </mc:AlternateContent>
          </a:graphicData>
        </a:graphic>
      </p:graphicFrame>
      <p:sp>
        <p:nvSpPr>
          <p:cNvPr id="9224" name="Text Box 8" descr="羊皮纸"/>
          <p:cNvSpPr txBox="1"/>
          <p:nvPr/>
        </p:nvSpPr>
        <p:spPr>
          <a:xfrm>
            <a:off x="555625" y="373063"/>
            <a:ext cx="2314575" cy="519112"/>
          </a:xfrm>
          <a:prstGeom prst="rect">
            <a:avLst/>
          </a:prstGeom>
          <a:noFill/>
          <a:ln w="38100">
            <a:noFill/>
          </a:ln>
        </p:spPr>
        <p:txBody>
          <a:bodyPr wrap="none" lIns="90000" tIns="46800" rIns="90000" bIns="46800">
            <a:spAutoFit/>
          </a:bodyPr>
          <a:lstStyle/>
          <a:p>
            <a:r>
              <a:rPr lang="zh-CN" altLang="en-US" sz="2800" dirty="0">
                <a:latin typeface="Times New Roman" panose="02020603050405020304" pitchFamily="18" charset="0"/>
              </a:rPr>
              <a:t>特征方程组：</a:t>
            </a:r>
          </a:p>
        </p:txBody>
      </p:sp>
      <p:sp>
        <p:nvSpPr>
          <p:cNvPr id="9225" name="Text Box 9" descr="羊皮纸"/>
          <p:cNvSpPr txBox="1"/>
          <p:nvPr/>
        </p:nvSpPr>
        <p:spPr>
          <a:xfrm>
            <a:off x="627063" y="3441700"/>
            <a:ext cx="1958975" cy="519113"/>
          </a:xfrm>
          <a:prstGeom prst="rect">
            <a:avLst/>
          </a:prstGeom>
          <a:noFill/>
          <a:ln w="38100">
            <a:noFill/>
          </a:ln>
        </p:spPr>
        <p:txBody>
          <a:bodyPr wrap="none" lIns="90000" tIns="46800" rIns="90000" bIns="46800">
            <a:spAutoFit/>
          </a:bodyPr>
          <a:lstStyle/>
          <a:p>
            <a:r>
              <a:rPr lang="zh-CN" altLang="en-US" sz="2800" dirty="0">
                <a:latin typeface="Times New Roman" panose="02020603050405020304" pitchFamily="18" charset="0"/>
              </a:rPr>
              <a:t>激励函数：</a:t>
            </a:r>
          </a:p>
        </p:txBody>
      </p:sp>
    </p:spTree>
  </p:cSld>
  <p:clrMapOvr>
    <a:masterClrMapping/>
  </p:clrMapOvr>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2" descr="羊皮纸"/>
          <p:cNvSpPr/>
          <p:nvPr/>
        </p:nvSpPr>
        <p:spPr>
          <a:xfrm>
            <a:off x="585788" y="1144588"/>
            <a:ext cx="2936875" cy="519112"/>
          </a:xfrm>
          <a:prstGeom prst="rect">
            <a:avLst/>
          </a:prstGeom>
          <a:noFill/>
          <a:ln w="38100">
            <a:noFill/>
          </a:ln>
        </p:spPr>
        <p:txBody>
          <a:bodyPr wrap="none" lIns="90000" tIns="46800" rIns="90000" bIns="46800" anchor="ctr" anchorCtr="0">
            <a:spAutoFit/>
          </a:bodyPr>
          <a:lstStyle/>
          <a:p>
            <a:r>
              <a:rPr lang="zh-CN" altLang="en-US" sz="2800" dirty="0">
                <a:latin typeface="Times New Roman" panose="02020603050405020304" pitchFamily="18" charset="0"/>
              </a:rPr>
              <a:t>（</a:t>
            </a:r>
            <a:r>
              <a:rPr lang="en-US" altLang="zh-CN" sz="2800" dirty="0">
                <a:latin typeface="Times New Roman" panose="02020603050405020304" pitchFamily="18" charset="0"/>
              </a:rPr>
              <a:t>4</a:t>
            </a:r>
            <a:r>
              <a:rPr lang="zh-CN" altLang="en-US" sz="2800" dirty="0">
                <a:latin typeface="Times New Roman" panose="02020603050405020304" pitchFamily="18" charset="0"/>
              </a:rPr>
              <a:t>）画逻辑图。 </a:t>
            </a:r>
          </a:p>
        </p:txBody>
      </p:sp>
      <p:grpSp>
        <p:nvGrpSpPr>
          <p:cNvPr id="10246" name="Group 3"/>
          <p:cNvGrpSpPr/>
          <p:nvPr/>
        </p:nvGrpSpPr>
        <p:grpSpPr>
          <a:xfrm>
            <a:off x="301625" y="1614488"/>
            <a:ext cx="8474075" cy="1854200"/>
            <a:chOff x="2126" y="4469"/>
            <a:chExt cx="5610" cy="1215"/>
          </a:xfrm>
        </p:grpSpPr>
        <p:sp>
          <p:nvSpPr>
            <p:cNvPr id="10247" name="Rectangle 4"/>
            <p:cNvSpPr/>
            <p:nvPr/>
          </p:nvSpPr>
          <p:spPr>
            <a:xfrm>
              <a:off x="3408" y="4680"/>
              <a:ext cx="636" cy="804"/>
            </a:xfrm>
            <a:prstGeom prst="rect">
              <a:avLst/>
            </a:prstGeom>
            <a:solidFill>
              <a:srgbClr val="CCFFCC"/>
            </a:solidFill>
            <a:ln w="9525" cap="flat" cmpd="sng">
              <a:solidFill>
                <a:srgbClr val="0000FF"/>
              </a:solidFill>
              <a:prstDash val="solid"/>
              <a:miter/>
              <a:headEnd type="none" w="med" len="med"/>
              <a:tailEnd type="none" w="med" len="med"/>
            </a:ln>
          </p:spPr>
          <p:txBody>
            <a:bodyPr/>
            <a:lstStyle/>
            <a:p>
              <a:endParaRPr lang="zh-CN" altLang="en-US" sz="2800" dirty="0">
                <a:latin typeface="Times New Roman" panose="02020603050405020304" pitchFamily="18" charset="0"/>
              </a:endParaRPr>
            </a:p>
          </p:txBody>
        </p:sp>
        <p:sp>
          <p:nvSpPr>
            <p:cNvPr id="10248" name="Text Box 5"/>
            <p:cNvSpPr txBox="1"/>
            <p:nvPr/>
          </p:nvSpPr>
          <p:spPr>
            <a:xfrm>
              <a:off x="3468" y="4692"/>
              <a:ext cx="264" cy="348"/>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0</a:t>
              </a:r>
              <a:endParaRPr lang="en-US" altLang="zh-CN" sz="6000" dirty="0">
                <a:latin typeface="Times New Roman" panose="02020603050405020304" pitchFamily="18" charset="0"/>
              </a:endParaRPr>
            </a:p>
          </p:txBody>
        </p:sp>
        <p:sp>
          <p:nvSpPr>
            <p:cNvPr id="10249" name="Text Box 6"/>
            <p:cNvSpPr txBox="1"/>
            <p:nvPr/>
          </p:nvSpPr>
          <p:spPr>
            <a:xfrm>
              <a:off x="3468" y="5184"/>
              <a:ext cx="264" cy="348"/>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0</a:t>
              </a:r>
              <a:endParaRPr lang="en-US" altLang="zh-CN" sz="6000" dirty="0">
                <a:latin typeface="Times New Roman" panose="02020603050405020304" pitchFamily="18" charset="0"/>
              </a:endParaRPr>
            </a:p>
          </p:txBody>
        </p:sp>
        <p:sp>
          <p:nvSpPr>
            <p:cNvPr id="10250" name="Text Box 7"/>
            <p:cNvSpPr txBox="1"/>
            <p:nvPr/>
          </p:nvSpPr>
          <p:spPr>
            <a:xfrm>
              <a:off x="3564" y="4944"/>
              <a:ext cx="264" cy="348"/>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C</a:t>
              </a:r>
              <a:endParaRPr lang="en-US" altLang="zh-CN" sz="6000" dirty="0">
                <a:latin typeface="Times New Roman" panose="02020603050405020304" pitchFamily="18" charset="0"/>
              </a:endParaRPr>
            </a:p>
          </p:txBody>
        </p:sp>
        <p:sp>
          <p:nvSpPr>
            <p:cNvPr id="10251" name="Text Box 8"/>
            <p:cNvSpPr txBox="1"/>
            <p:nvPr/>
          </p:nvSpPr>
          <p:spPr>
            <a:xfrm>
              <a:off x="3804" y="5004"/>
              <a:ext cx="264" cy="564"/>
            </a:xfrm>
            <a:prstGeom prst="rect">
              <a:avLst/>
            </a:prstGeom>
            <a:noFill/>
            <a:ln w="9525">
              <a:noFill/>
            </a:ln>
          </p:spPr>
          <p:txBody>
            <a:bodyPr lIns="0" tIns="0" rIns="0" bIns="0"/>
            <a:lstStyle/>
            <a:p>
              <a:pPr algn="just"/>
              <a:endParaRPr lang="zh-CN" altLang="zh-CN" sz="6000" dirty="0">
                <a:latin typeface="Times New Roman" panose="02020603050405020304" pitchFamily="18" charset="0"/>
              </a:endParaRPr>
            </a:p>
          </p:txBody>
        </p:sp>
        <p:sp>
          <p:nvSpPr>
            <p:cNvPr id="10252" name="AutoShape 9"/>
            <p:cNvSpPr/>
            <p:nvPr/>
          </p:nvSpPr>
          <p:spPr>
            <a:xfrm rot="5400000">
              <a:off x="3353" y="5056"/>
              <a:ext cx="261" cy="144"/>
            </a:xfrm>
            <a:prstGeom prst="triangle">
              <a:avLst>
                <a:gd name="adj" fmla="val 50000"/>
              </a:avLst>
            </a:prstGeom>
            <a:solidFill>
              <a:srgbClr val="FFFFFF"/>
            </a:solidFill>
            <a:ln w="9525" cap="flat" cmpd="sng">
              <a:solidFill>
                <a:srgbClr val="000000"/>
              </a:solidFill>
              <a:prstDash val="solid"/>
              <a:miter/>
              <a:headEnd type="none" w="med" len="med"/>
              <a:tailEnd type="none" w="med" len="med"/>
            </a:ln>
          </p:spPr>
          <p:txBody>
            <a:bodyPr/>
            <a:lstStyle/>
            <a:p>
              <a:endParaRPr lang="zh-CN" altLang="en-US" sz="2800" dirty="0">
                <a:latin typeface="Times New Roman" panose="02020603050405020304" pitchFamily="18" charset="0"/>
              </a:endParaRPr>
            </a:p>
          </p:txBody>
        </p:sp>
        <p:sp>
          <p:nvSpPr>
            <p:cNvPr id="10253" name="Text Box 10"/>
            <p:cNvSpPr txBox="1"/>
            <p:nvPr/>
          </p:nvSpPr>
          <p:spPr>
            <a:xfrm>
              <a:off x="3828" y="4680"/>
              <a:ext cx="264" cy="348"/>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0</a:t>
              </a:r>
              <a:endParaRPr lang="en-US" altLang="zh-CN" sz="6000" dirty="0">
                <a:latin typeface="Times New Roman" panose="02020603050405020304" pitchFamily="18" charset="0"/>
              </a:endParaRPr>
            </a:p>
          </p:txBody>
        </p:sp>
        <p:sp>
          <p:nvSpPr>
            <p:cNvPr id="10254" name="Oval 11"/>
            <p:cNvSpPr/>
            <p:nvPr/>
          </p:nvSpPr>
          <p:spPr>
            <a:xfrm>
              <a:off x="3312" y="5076"/>
              <a:ext cx="88" cy="93"/>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0255" name="Line 12"/>
            <p:cNvSpPr/>
            <p:nvPr/>
          </p:nvSpPr>
          <p:spPr>
            <a:xfrm>
              <a:off x="3140" y="5124"/>
              <a:ext cx="180" cy="0"/>
            </a:xfrm>
            <a:prstGeom prst="line">
              <a:avLst/>
            </a:prstGeom>
            <a:ln w="9525" cap="flat" cmpd="sng">
              <a:solidFill>
                <a:srgbClr val="000000"/>
              </a:solidFill>
              <a:prstDash val="solid"/>
              <a:headEnd type="none" w="med" len="med"/>
              <a:tailEnd type="none" w="med" len="med"/>
            </a:ln>
          </p:spPr>
        </p:sp>
        <p:sp>
          <p:nvSpPr>
            <p:cNvPr id="10256" name="Line 13"/>
            <p:cNvSpPr/>
            <p:nvPr/>
          </p:nvSpPr>
          <p:spPr>
            <a:xfrm flipH="1">
              <a:off x="2228" y="4848"/>
              <a:ext cx="1180" cy="0"/>
            </a:xfrm>
            <a:prstGeom prst="line">
              <a:avLst/>
            </a:prstGeom>
            <a:ln w="9525" cap="flat" cmpd="sng">
              <a:solidFill>
                <a:srgbClr val="000000"/>
              </a:solidFill>
              <a:prstDash val="solid"/>
              <a:headEnd type="none" w="med" len="med"/>
              <a:tailEnd type="none" w="med" len="med"/>
            </a:ln>
          </p:spPr>
        </p:sp>
        <p:sp>
          <p:nvSpPr>
            <p:cNvPr id="10257" name="Line 14"/>
            <p:cNvSpPr/>
            <p:nvPr/>
          </p:nvSpPr>
          <p:spPr>
            <a:xfrm flipH="1">
              <a:off x="2964" y="5376"/>
              <a:ext cx="444" cy="0"/>
            </a:xfrm>
            <a:prstGeom prst="line">
              <a:avLst/>
            </a:prstGeom>
            <a:ln w="9525" cap="flat" cmpd="sng">
              <a:solidFill>
                <a:srgbClr val="000000"/>
              </a:solidFill>
              <a:prstDash val="solid"/>
              <a:headEnd type="none" w="med" len="med"/>
              <a:tailEnd type="none" w="med" len="med"/>
            </a:ln>
          </p:spPr>
        </p:sp>
        <p:sp>
          <p:nvSpPr>
            <p:cNvPr id="10258" name="Rectangle 15"/>
            <p:cNvSpPr/>
            <p:nvPr/>
          </p:nvSpPr>
          <p:spPr>
            <a:xfrm>
              <a:off x="5010" y="4680"/>
              <a:ext cx="636" cy="804"/>
            </a:xfrm>
            <a:prstGeom prst="rect">
              <a:avLst/>
            </a:prstGeom>
            <a:solidFill>
              <a:srgbClr val="CCFFCC"/>
            </a:solidFill>
            <a:ln w="9525" cap="flat" cmpd="sng">
              <a:solidFill>
                <a:srgbClr val="0000FF"/>
              </a:solidFill>
              <a:prstDash val="solid"/>
              <a:miter/>
              <a:headEnd type="none" w="med" len="med"/>
              <a:tailEnd type="none" w="med" len="med"/>
            </a:ln>
          </p:spPr>
          <p:txBody>
            <a:bodyPr/>
            <a:lstStyle/>
            <a:p>
              <a:endParaRPr lang="zh-CN" altLang="en-US" sz="2800" dirty="0">
                <a:latin typeface="Times New Roman" panose="02020603050405020304" pitchFamily="18" charset="0"/>
              </a:endParaRPr>
            </a:p>
          </p:txBody>
        </p:sp>
        <p:sp>
          <p:nvSpPr>
            <p:cNvPr id="10259" name="Text Box 16"/>
            <p:cNvSpPr txBox="1"/>
            <p:nvPr/>
          </p:nvSpPr>
          <p:spPr>
            <a:xfrm>
              <a:off x="5070" y="4692"/>
              <a:ext cx="264" cy="348"/>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10260" name="Text Box 17"/>
            <p:cNvSpPr txBox="1"/>
            <p:nvPr/>
          </p:nvSpPr>
          <p:spPr>
            <a:xfrm>
              <a:off x="5070" y="5184"/>
              <a:ext cx="264" cy="348"/>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10261" name="Text Box 18"/>
            <p:cNvSpPr txBox="1"/>
            <p:nvPr/>
          </p:nvSpPr>
          <p:spPr>
            <a:xfrm>
              <a:off x="5166" y="4944"/>
              <a:ext cx="264" cy="348"/>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C</a:t>
              </a:r>
              <a:endParaRPr lang="en-US" altLang="zh-CN" sz="6000" dirty="0">
                <a:latin typeface="Times New Roman" panose="02020603050405020304" pitchFamily="18" charset="0"/>
              </a:endParaRPr>
            </a:p>
          </p:txBody>
        </p:sp>
        <p:sp>
          <p:nvSpPr>
            <p:cNvPr id="10262" name="Text Box 19"/>
            <p:cNvSpPr txBox="1"/>
            <p:nvPr/>
          </p:nvSpPr>
          <p:spPr>
            <a:xfrm>
              <a:off x="5406" y="5004"/>
              <a:ext cx="264" cy="564"/>
            </a:xfrm>
            <a:prstGeom prst="rect">
              <a:avLst/>
            </a:prstGeom>
            <a:noFill/>
            <a:ln w="9525">
              <a:noFill/>
            </a:ln>
          </p:spPr>
          <p:txBody>
            <a:bodyPr lIns="0" tIns="0" rIns="0" bIns="0"/>
            <a:lstStyle/>
            <a:p>
              <a:pPr algn="just"/>
              <a:endParaRPr lang="zh-CN" altLang="zh-CN" sz="6000" dirty="0">
                <a:latin typeface="Times New Roman" panose="02020603050405020304" pitchFamily="18" charset="0"/>
              </a:endParaRPr>
            </a:p>
          </p:txBody>
        </p:sp>
        <p:sp>
          <p:nvSpPr>
            <p:cNvPr id="10263" name="AutoShape 20"/>
            <p:cNvSpPr/>
            <p:nvPr/>
          </p:nvSpPr>
          <p:spPr>
            <a:xfrm rot="5400000">
              <a:off x="4955" y="5056"/>
              <a:ext cx="261" cy="144"/>
            </a:xfrm>
            <a:prstGeom prst="triangle">
              <a:avLst>
                <a:gd name="adj" fmla="val 50000"/>
              </a:avLst>
            </a:prstGeom>
            <a:solidFill>
              <a:srgbClr val="FFFFFF"/>
            </a:solidFill>
            <a:ln w="9525" cap="flat" cmpd="sng">
              <a:solidFill>
                <a:srgbClr val="000000"/>
              </a:solidFill>
              <a:prstDash val="solid"/>
              <a:miter/>
              <a:headEnd type="none" w="med" len="med"/>
              <a:tailEnd type="none" w="med" len="med"/>
            </a:ln>
          </p:spPr>
          <p:txBody>
            <a:bodyPr/>
            <a:lstStyle/>
            <a:p>
              <a:endParaRPr lang="zh-CN" altLang="en-US" sz="2800" dirty="0">
                <a:latin typeface="Times New Roman" panose="02020603050405020304" pitchFamily="18" charset="0"/>
              </a:endParaRPr>
            </a:p>
          </p:txBody>
        </p:sp>
        <p:sp>
          <p:nvSpPr>
            <p:cNvPr id="10264" name="Text Box 21"/>
            <p:cNvSpPr txBox="1"/>
            <p:nvPr/>
          </p:nvSpPr>
          <p:spPr>
            <a:xfrm>
              <a:off x="5430" y="4680"/>
              <a:ext cx="264" cy="348"/>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10265" name="Oval 22"/>
            <p:cNvSpPr/>
            <p:nvPr/>
          </p:nvSpPr>
          <p:spPr>
            <a:xfrm>
              <a:off x="4914" y="5076"/>
              <a:ext cx="88" cy="93"/>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0266" name="Line 23"/>
            <p:cNvSpPr/>
            <p:nvPr/>
          </p:nvSpPr>
          <p:spPr>
            <a:xfrm>
              <a:off x="4742" y="5124"/>
              <a:ext cx="180" cy="0"/>
            </a:xfrm>
            <a:prstGeom prst="line">
              <a:avLst/>
            </a:prstGeom>
            <a:ln w="9525" cap="flat" cmpd="sng">
              <a:solidFill>
                <a:srgbClr val="000000"/>
              </a:solidFill>
              <a:prstDash val="solid"/>
              <a:headEnd type="none" w="med" len="med"/>
              <a:tailEnd type="none" w="med" len="med"/>
            </a:ln>
          </p:spPr>
        </p:sp>
        <p:sp>
          <p:nvSpPr>
            <p:cNvPr id="10267" name="Line 24"/>
            <p:cNvSpPr/>
            <p:nvPr/>
          </p:nvSpPr>
          <p:spPr>
            <a:xfrm flipH="1">
              <a:off x="4046" y="4848"/>
              <a:ext cx="964" cy="0"/>
            </a:xfrm>
            <a:prstGeom prst="line">
              <a:avLst/>
            </a:prstGeom>
            <a:ln w="9525" cap="flat" cmpd="sng">
              <a:solidFill>
                <a:srgbClr val="000000"/>
              </a:solidFill>
              <a:prstDash val="solid"/>
              <a:headEnd type="none" w="med" len="med"/>
              <a:tailEnd type="none" w="med" len="med"/>
            </a:ln>
          </p:spPr>
        </p:sp>
        <p:sp>
          <p:nvSpPr>
            <p:cNvPr id="10268" name="Line 25"/>
            <p:cNvSpPr/>
            <p:nvPr/>
          </p:nvSpPr>
          <p:spPr>
            <a:xfrm flipH="1" flipV="1">
              <a:off x="4098" y="5376"/>
              <a:ext cx="912" cy="0"/>
            </a:xfrm>
            <a:prstGeom prst="line">
              <a:avLst/>
            </a:prstGeom>
            <a:ln w="9525" cap="flat" cmpd="sng">
              <a:solidFill>
                <a:srgbClr val="000000"/>
              </a:solidFill>
              <a:prstDash val="solid"/>
              <a:headEnd type="none" w="med" len="med"/>
              <a:tailEnd type="none" w="med" len="med"/>
            </a:ln>
          </p:spPr>
        </p:sp>
        <p:sp>
          <p:nvSpPr>
            <p:cNvPr id="10269" name="Rectangle 26"/>
            <p:cNvSpPr/>
            <p:nvPr/>
          </p:nvSpPr>
          <p:spPr>
            <a:xfrm>
              <a:off x="6612" y="4680"/>
              <a:ext cx="636" cy="804"/>
            </a:xfrm>
            <a:prstGeom prst="rect">
              <a:avLst/>
            </a:prstGeom>
            <a:solidFill>
              <a:srgbClr val="CCFFCC"/>
            </a:solidFill>
            <a:ln w="9525" cap="flat" cmpd="sng">
              <a:solidFill>
                <a:srgbClr val="0000FF"/>
              </a:solidFill>
              <a:prstDash val="solid"/>
              <a:miter/>
              <a:headEnd type="none" w="med" len="med"/>
              <a:tailEnd type="none" w="med" len="med"/>
            </a:ln>
          </p:spPr>
          <p:txBody>
            <a:bodyPr/>
            <a:lstStyle/>
            <a:p>
              <a:endParaRPr lang="zh-CN" altLang="en-US" sz="2800" dirty="0">
                <a:latin typeface="Times New Roman" panose="02020603050405020304" pitchFamily="18" charset="0"/>
              </a:endParaRPr>
            </a:p>
          </p:txBody>
        </p:sp>
        <p:sp>
          <p:nvSpPr>
            <p:cNvPr id="10270" name="Text Box 27"/>
            <p:cNvSpPr txBox="1"/>
            <p:nvPr/>
          </p:nvSpPr>
          <p:spPr>
            <a:xfrm>
              <a:off x="6672" y="4692"/>
              <a:ext cx="264" cy="348"/>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J</a:t>
              </a:r>
              <a:r>
                <a:rPr lang="en-US" altLang="zh-CN" sz="2400" baseline="-25000" dirty="0">
                  <a:latin typeface="Times New Roman" panose="02020603050405020304" pitchFamily="18" charset="0"/>
                </a:rPr>
                <a:t>2</a:t>
              </a:r>
              <a:endParaRPr lang="en-US" altLang="zh-CN" sz="6000" dirty="0">
                <a:latin typeface="Times New Roman" panose="02020603050405020304" pitchFamily="18" charset="0"/>
              </a:endParaRPr>
            </a:p>
          </p:txBody>
        </p:sp>
        <p:sp>
          <p:nvSpPr>
            <p:cNvPr id="10271" name="Text Box 28"/>
            <p:cNvSpPr txBox="1"/>
            <p:nvPr/>
          </p:nvSpPr>
          <p:spPr>
            <a:xfrm>
              <a:off x="6672" y="5184"/>
              <a:ext cx="264" cy="348"/>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K</a:t>
              </a:r>
              <a:r>
                <a:rPr lang="en-US" altLang="zh-CN" sz="2400" baseline="-25000" dirty="0">
                  <a:latin typeface="Times New Roman" panose="02020603050405020304" pitchFamily="18" charset="0"/>
                </a:rPr>
                <a:t>2</a:t>
              </a:r>
              <a:endParaRPr lang="en-US" altLang="zh-CN" sz="6000" dirty="0">
                <a:latin typeface="Times New Roman" panose="02020603050405020304" pitchFamily="18" charset="0"/>
              </a:endParaRPr>
            </a:p>
          </p:txBody>
        </p:sp>
        <p:sp>
          <p:nvSpPr>
            <p:cNvPr id="10272" name="Text Box 29"/>
            <p:cNvSpPr txBox="1"/>
            <p:nvPr/>
          </p:nvSpPr>
          <p:spPr>
            <a:xfrm>
              <a:off x="6768" y="4944"/>
              <a:ext cx="264" cy="348"/>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C</a:t>
              </a:r>
              <a:endParaRPr lang="en-US" altLang="zh-CN" sz="6000" dirty="0">
                <a:latin typeface="Times New Roman" panose="02020603050405020304" pitchFamily="18" charset="0"/>
              </a:endParaRPr>
            </a:p>
          </p:txBody>
        </p:sp>
        <p:sp>
          <p:nvSpPr>
            <p:cNvPr id="10273" name="Text Box 30"/>
            <p:cNvSpPr txBox="1"/>
            <p:nvPr/>
          </p:nvSpPr>
          <p:spPr>
            <a:xfrm>
              <a:off x="7008" y="5004"/>
              <a:ext cx="264" cy="564"/>
            </a:xfrm>
            <a:prstGeom prst="rect">
              <a:avLst/>
            </a:prstGeom>
            <a:noFill/>
            <a:ln w="9525">
              <a:noFill/>
            </a:ln>
          </p:spPr>
          <p:txBody>
            <a:bodyPr lIns="0" tIns="0" rIns="0" bIns="0"/>
            <a:lstStyle/>
            <a:p>
              <a:pPr algn="just"/>
              <a:endParaRPr lang="zh-CN" altLang="zh-CN" sz="6000" dirty="0">
                <a:latin typeface="Times New Roman" panose="02020603050405020304" pitchFamily="18" charset="0"/>
              </a:endParaRPr>
            </a:p>
          </p:txBody>
        </p:sp>
        <p:sp>
          <p:nvSpPr>
            <p:cNvPr id="10274" name="AutoShape 31"/>
            <p:cNvSpPr/>
            <p:nvPr/>
          </p:nvSpPr>
          <p:spPr>
            <a:xfrm rot="5400000">
              <a:off x="6557" y="5056"/>
              <a:ext cx="261" cy="144"/>
            </a:xfrm>
            <a:prstGeom prst="triangle">
              <a:avLst>
                <a:gd name="adj" fmla="val 50000"/>
              </a:avLst>
            </a:prstGeom>
            <a:solidFill>
              <a:srgbClr val="FFFFFF"/>
            </a:solidFill>
            <a:ln w="9525" cap="flat" cmpd="sng">
              <a:solidFill>
                <a:srgbClr val="000000"/>
              </a:solidFill>
              <a:prstDash val="solid"/>
              <a:miter/>
              <a:headEnd type="none" w="med" len="med"/>
              <a:tailEnd type="none" w="med" len="med"/>
            </a:ln>
          </p:spPr>
          <p:txBody>
            <a:bodyPr/>
            <a:lstStyle/>
            <a:p>
              <a:endParaRPr lang="zh-CN" altLang="en-US" sz="2800" dirty="0">
                <a:latin typeface="Times New Roman" panose="02020603050405020304" pitchFamily="18" charset="0"/>
              </a:endParaRPr>
            </a:p>
          </p:txBody>
        </p:sp>
        <p:sp>
          <p:nvSpPr>
            <p:cNvPr id="10275" name="Text Box 32"/>
            <p:cNvSpPr txBox="1"/>
            <p:nvPr/>
          </p:nvSpPr>
          <p:spPr>
            <a:xfrm>
              <a:off x="7032" y="4680"/>
              <a:ext cx="264" cy="348"/>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2</a:t>
              </a:r>
              <a:endParaRPr lang="en-US" altLang="zh-CN" sz="6000" dirty="0">
                <a:latin typeface="Times New Roman" panose="02020603050405020304" pitchFamily="18" charset="0"/>
              </a:endParaRPr>
            </a:p>
          </p:txBody>
        </p:sp>
        <p:sp>
          <p:nvSpPr>
            <p:cNvPr id="10276" name="Oval 33"/>
            <p:cNvSpPr/>
            <p:nvPr/>
          </p:nvSpPr>
          <p:spPr>
            <a:xfrm>
              <a:off x="6516" y="5076"/>
              <a:ext cx="88" cy="93"/>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0277" name="Oval 34"/>
            <p:cNvSpPr/>
            <p:nvPr/>
          </p:nvSpPr>
          <p:spPr>
            <a:xfrm>
              <a:off x="7260" y="5308"/>
              <a:ext cx="104" cy="111"/>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0278" name="Line 35"/>
            <p:cNvSpPr/>
            <p:nvPr/>
          </p:nvSpPr>
          <p:spPr>
            <a:xfrm>
              <a:off x="6344" y="5124"/>
              <a:ext cx="180" cy="0"/>
            </a:xfrm>
            <a:prstGeom prst="line">
              <a:avLst/>
            </a:prstGeom>
            <a:ln w="9525" cap="flat" cmpd="sng">
              <a:solidFill>
                <a:srgbClr val="000000"/>
              </a:solidFill>
              <a:prstDash val="solid"/>
              <a:headEnd type="none" w="med" len="med"/>
              <a:tailEnd type="none" w="med" len="med"/>
            </a:ln>
          </p:spPr>
        </p:sp>
        <p:sp>
          <p:nvSpPr>
            <p:cNvPr id="10279" name="Line 36"/>
            <p:cNvSpPr/>
            <p:nvPr/>
          </p:nvSpPr>
          <p:spPr>
            <a:xfrm flipH="1">
              <a:off x="5648" y="4848"/>
              <a:ext cx="964" cy="0"/>
            </a:xfrm>
            <a:prstGeom prst="line">
              <a:avLst/>
            </a:prstGeom>
            <a:ln w="9525" cap="flat" cmpd="sng">
              <a:solidFill>
                <a:srgbClr val="000000"/>
              </a:solidFill>
              <a:prstDash val="solid"/>
              <a:headEnd type="none" w="med" len="med"/>
              <a:tailEnd type="none" w="med" len="med"/>
            </a:ln>
          </p:spPr>
        </p:sp>
        <p:sp>
          <p:nvSpPr>
            <p:cNvPr id="10280" name="Line 37"/>
            <p:cNvSpPr/>
            <p:nvPr/>
          </p:nvSpPr>
          <p:spPr>
            <a:xfrm flipH="1">
              <a:off x="5736" y="5376"/>
              <a:ext cx="876" cy="0"/>
            </a:xfrm>
            <a:prstGeom prst="line">
              <a:avLst/>
            </a:prstGeom>
            <a:ln w="9525" cap="flat" cmpd="sng">
              <a:solidFill>
                <a:srgbClr val="000000"/>
              </a:solidFill>
              <a:prstDash val="solid"/>
              <a:headEnd type="none" w="med" len="med"/>
              <a:tailEnd type="none" w="med" len="med"/>
            </a:ln>
          </p:spPr>
        </p:sp>
        <p:sp>
          <p:nvSpPr>
            <p:cNvPr id="10281" name="Oval 38"/>
            <p:cNvSpPr/>
            <p:nvPr/>
          </p:nvSpPr>
          <p:spPr>
            <a:xfrm>
              <a:off x="5658" y="5316"/>
              <a:ext cx="104" cy="111"/>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0282" name="Oval 39"/>
            <p:cNvSpPr/>
            <p:nvPr/>
          </p:nvSpPr>
          <p:spPr>
            <a:xfrm>
              <a:off x="4056" y="5316"/>
              <a:ext cx="104" cy="111"/>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0283" name="Line 40"/>
            <p:cNvSpPr/>
            <p:nvPr/>
          </p:nvSpPr>
          <p:spPr>
            <a:xfrm>
              <a:off x="7248" y="4848"/>
              <a:ext cx="488" cy="0"/>
            </a:xfrm>
            <a:prstGeom prst="line">
              <a:avLst/>
            </a:prstGeom>
            <a:ln w="9525" cap="flat" cmpd="sng">
              <a:solidFill>
                <a:srgbClr val="000000"/>
              </a:solidFill>
              <a:prstDash val="solid"/>
              <a:headEnd type="none" w="med" len="med"/>
              <a:tailEnd type="none" w="med" len="med"/>
            </a:ln>
          </p:spPr>
        </p:sp>
        <p:sp>
          <p:nvSpPr>
            <p:cNvPr id="10284" name="Line 41"/>
            <p:cNvSpPr/>
            <p:nvPr/>
          </p:nvSpPr>
          <p:spPr>
            <a:xfrm>
              <a:off x="3128" y="5121"/>
              <a:ext cx="0" cy="543"/>
            </a:xfrm>
            <a:prstGeom prst="line">
              <a:avLst/>
            </a:prstGeom>
            <a:ln w="9525" cap="flat" cmpd="sng">
              <a:solidFill>
                <a:srgbClr val="000000"/>
              </a:solidFill>
              <a:prstDash val="solid"/>
              <a:headEnd type="none" w="med" len="med"/>
              <a:tailEnd type="none" w="med" len="med"/>
            </a:ln>
          </p:spPr>
        </p:sp>
        <p:sp>
          <p:nvSpPr>
            <p:cNvPr id="10285" name="Line 42"/>
            <p:cNvSpPr/>
            <p:nvPr/>
          </p:nvSpPr>
          <p:spPr>
            <a:xfrm>
              <a:off x="6344" y="5130"/>
              <a:ext cx="0" cy="543"/>
            </a:xfrm>
            <a:prstGeom prst="line">
              <a:avLst/>
            </a:prstGeom>
            <a:ln w="9525" cap="flat" cmpd="sng">
              <a:solidFill>
                <a:srgbClr val="000000"/>
              </a:solidFill>
              <a:prstDash val="solid"/>
              <a:headEnd type="none" w="med" len="med"/>
              <a:tailEnd type="none" w="med" len="med"/>
            </a:ln>
          </p:spPr>
        </p:sp>
        <p:sp>
          <p:nvSpPr>
            <p:cNvPr id="10286" name="Line 43"/>
            <p:cNvSpPr/>
            <p:nvPr/>
          </p:nvSpPr>
          <p:spPr>
            <a:xfrm>
              <a:off x="4728" y="5121"/>
              <a:ext cx="0" cy="543"/>
            </a:xfrm>
            <a:prstGeom prst="line">
              <a:avLst/>
            </a:prstGeom>
            <a:ln w="9525" cap="flat" cmpd="sng">
              <a:solidFill>
                <a:srgbClr val="000000"/>
              </a:solidFill>
              <a:prstDash val="solid"/>
              <a:headEnd type="none" w="med" len="med"/>
              <a:tailEnd type="none" w="med" len="med"/>
            </a:ln>
          </p:spPr>
        </p:sp>
        <p:sp>
          <p:nvSpPr>
            <p:cNvPr id="10287" name="Line 44"/>
            <p:cNvSpPr/>
            <p:nvPr/>
          </p:nvSpPr>
          <p:spPr>
            <a:xfrm>
              <a:off x="2224" y="5664"/>
              <a:ext cx="4120" cy="0"/>
            </a:xfrm>
            <a:prstGeom prst="line">
              <a:avLst/>
            </a:prstGeom>
            <a:ln w="9525" cap="flat" cmpd="sng">
              <a:solidFill>
                <a:srgbClr val="000000"/>
              </a:solidFill>
              <a:prstDash val="solid"/>
              <a:headEnd type="none" w="med" len="med"/>
              <a:tailEnd type="none" w="med" len="med"/>
            </a:ln>
          </p:spPr>
        </p:sp>
        <p:sp>
          <p:nvSpPr>
            <p:cNvPr id="10288" name="Oval 45"/>
            <p:cNvSpPr/>
            <p:nvPr/>
          </p:nvSpPr>
          <p:spPr>
            <a:xfrm>
              <a:off x="2384" y="4830"/>
              <a:ext cx="40" cy="51"/>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0289" name="Oval 46"/>
            <p:cNvSpPr/>
            <p:nvPr/>
          </p:nvSpPr>
          <p:spPr>
            <a:xfrm>
              <a:off x="3104" y="5624"/>
              <a:ext cx="40" cy="51"/>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0290" name="Oval 47"/>
            <p:cNvSpPr/>
            <p:nvPr/>
          </p:nvSpPr>
          <p:spPr>
            <a:xfrm>
              <a:off x="4704" y="5633"/>
              <a:ext cx="40" cy="51"/>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0291" name="Text Box 48"/>
            <p:cNvSpPr txBox="1"/>
            <p:nvPr/>
          </p:nvSpPr>
          <p:spPr>
            <a:xfrm>
              <a:off x="4262" y="4497"/>
              <a:ext cx="264" cy="326"/>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0</a:t>
              </a:r>
              <a:endParaRPr lang="en-US" altLang="zh-CN" sz="6000" dirty="0">
                <a:latin typeface="Times New Roman" panose="02020603050405020304" pitchFamily="18" charset="0"/>
              </a:endParaRPr>
            </a:p>
          </p:txBody>
        </p:sp>
        <p:sp>
          <p:nvSpPr>
            <p:cNvPr id="10292" name="Text Box 49"/>
            <p:cNvSpPr txBox="1"/>
            <p:nvPr/>
          </p:nvSpPr>
          <p:spPr>
            <a:xfrm>
              <a:off x="5814" y="4469"/>
              <a:ext cx="264" cy="348"/>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10293" name="Text Box 50"/>
            <p:cNvSpPr txBox="1"/>
            <p:nvPr/>
          </p:nvSpPr>
          <p:spPr>
            <a:xfrm>
              <a:off x="7382" y="4469"/>
              <a:ext cx="264" cy="348"/>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y</a:t>
              </a:r>
              <a:r>
                <a:rPr lang="en-US" altLang="zh-CN" sz="2400" baseline="-25000" dirty="0">
                  <a:latin typeface="Times New Roman" panose="02020603050405020304" pitchFamily="18" charset="0"/>
                </a:rPr>
                <a:t>2</a:t>
              </a:r>
              <a:endParaRPr lang="en-US" altLang="zh-CN" sz="6000" dirty="0">
                <a:latin typeface="Times New Roman" panose="02020603050405020304" pitchFamily="18" charset="0"/>
              </a:endParaRPr>
            </a:p>
          </p:txBody>
        </p:sp>
        <p:sp>
          <p:nvSpPr>
            <p:cNvPr id="10294" name="Text Box 51"/>
            <p:cNvSpPr txBox="1"/>
            <p:nvPr/>
          </p:nvSpPr>
          <p:spPr>
            <a:xfrm>
              <a:off x="2696" y="5208"/>
              <a:ext cx="160" cy="369"/>
            </a:xfrm>
            <a:prstGeom prst="rect">
              <a:avLst/>
            </a:prstGeom>
            <a:solidFill>
              <a:srgbClr val="CCFFFF"/>
            </a:solidFill>
            <a:ln w="9525" cap="flat" cmpd="sng">
              <a:solidFill>
                <a:srgbClr val="0000FF"/>
              </a:solidFill>
              <a:prstDash val="solid"/>
              <a:miter/>
              <a:headEnd type="none" w="med" len="med"/>
              <a:tailEnd type="none" w="med" len="med"/>
            </a:ln>
          </p:spPr>
          <p:txBody>
            <a:bodyPr lIns="0" tIns="0" rIns="0" bIns="0"/>
            <a:lstStyle/>
            <a:p>
              <a:pPr algn="ctr"/>
              <a:r>
                <a:rPr lang="en-US" altLang="zh-CN" sz="2400" dirty="0">
                  <a:latin typeface="Times New Roman" panose="02020603050405020304" pitchFamily="18" charset="0"/>
                </a:rPr>
                <a:t>1</a:t>
              </a:r>
              <a:endParaRPr lang="en-US" altLang="zh-CN" sz="6000" dirty="0">
                <a:latin typeface="Times New Roman" panose="02020603050405020304" pitchFamily="18" charset="0"/>
              </a:endParaRPr>
            </a:p>
          </p:txBody>
        </p:sp>
        <p:sp>
          <p:nvSpPr>
            <p:cNvPr id="10295" name="Oval 52"/>
            <p:cNvSpPr/>
            <p:nvPr/>
          </p:nvSpPr>
          <p:spPr>
            <a:xfrm>
              <a:off x="2856" y="5322"/>
              <a:ext cx="104" cy="111"/>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cxnSp>
          <p:nvCxnSpPr>
            <p:cNvPr id="10296" name="AutoShape 53"/>
            <p:cNvCxnSpPr/>
            <p:nvPr/>
          </p:nvCxnSpPr>
          <p:spPr>
            <a:xfrm rot="5400000" flipH="1">
              <a:off x="2287" y="4976"/>
              <a:ext cx="522" cy="296"/>
            </a:xfrm>
            <a:prstGeom prst="bentConnector3">
              <a:avLst>
                <a:gd name="adj1" fmla="val 4019"/>
              </a:avLst>
            </a:prstGeom>
            <a:ln w="9525" cap="flat" cmpd="sng">
              <a:solidFill>
                <a:srgbClr val="000000"/>
              </a:solidFill>
              <a:prstDash val="solid"/>
              <a:miter/>
              <a:headEnd type="none" w="med" len="med"/>
              <a:tailEnd type="none" w="med" len="med"/>
            </a:ln>
          </p:spPr>
        </p:cxnSp>
        <p:sp>
          <p:nvSpPr>
            <p:cNvPr id="10297" name="Text Box 54"/>
            <p:cNvSpPr txBox="1"/>
            <p:nvPr/>
          </p:nvSpPr>
          <p:spPr>
            <a:xfrm>
              <a:off x="2126" y="5328"/>
              <a:ext cx="264" cy="326"/>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CP</a:t>
              </a:r>
              <a:endParaRPr lang="en-US" altLang="zh-CN" sz="6000" dirty="0">
                <a:latin typeface="Times New Roman" panose="02020603050405020304" pitchFamily="18" charset="0"/>
              </a:endParaRPr>
            </a:p>
          </p:txBody>
        </p:sp>
        <p:sp>
          <p:nvSpPr>
            <p:cNvPr id="10298" name="Text Box 55"/>
            <p:cNvSpPr txBox="1"/>
            <p:nvPr/>
          </p:nvSpPr>
          <p:spPr>
            <a:xfrm>
              <a:off x="2166" y="4482"/>
              <a:ext cx="264" cy="326"/>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x</a:t>
              </a:r>
              <a:endParaRPr lang="en-US" altLang="zh-CN" sz="6000" dirty="0">
                <a:latin typeface="Times New Roman" panose="02020603050405020304" pitchFamily="18" charset="0"/>
              </a:endParaRPr>
            </a:p>
          </p:txBody>
        </p:sp>
      </p:grpSp>
      <p:graphicFrame>
        <p:nvGraphicFramePr>
          <p:cNvPr id="10242" name="Object 56"/>
          <p:cNvGraphicFramePr>
            <a:graphicFrameLocks noChangeAspect="1"/>
          </p:cNvGraphicFramePr>
          <p:nvPr/>
        </p:nvGraphicFramePr>
        <p:xfrm>
          <a:off x="1160463" y="4032250"/>
          <a:ext cx="3660775" cy="731838"/>
        </p:xfrm>
        <a:graphic>
          <a:graphicData uri="http://schemas.openxmlformats.org/presentationml/2006/ole">
            <mc:AlternateContent xmlns:mc="http://schemas.openxmlformats.org/markup-compatibility/2006">
              <mc:Choice xmlns:v="urn:schemas-microsoft-com:vml" Requires="v">
                <p:oleObj r:id="rId2" imgW="1269365" imgH="254000" progId="Equation.3">
                  <p:embed/>
                </p:oleObj>
              </mc:Choice>
              <mc:Fallback>
                <p:oleObj r:id="rId2" imgW="1269365" imgH="254000" progId="Equation.3">
                  <p:embed/>
                  <p:pic>
                    <p:nvPicPr>
                      <p:cNvPr id="0" name="图片 3111"/>
                      <p:cNvPicPr/>
                      <p:nvPr/>
                    </p:nvPicPr>
                    <p:blipFill>
                      <a:blip r:embed="rId3"/>
                      <a:stretch>
                        <a:fillRect/>
                      </a:stretch>
                    </p:blipFill>
                    <p:spPr>
                      <a:xfrm>
                        <a:off x="1160463" y="4032250"/>
                        <a:ext cx="3660775" cy="731838"/>
                      </a:xfrm>
                      <a:prstGeom prst="rect">
                        <a:avLst/>
                      </a:prstGeom>
                      <a:noFill/>
                      <a:ln w="38100">
                        <a:noFill/>
                        <a:miter/>
                      </a:ln>
                    </p:spPr>
                  </p:pic>
                </p:oleObj>
              </mc:Fallback>
            </mc:AlternateContent>
          </a:graphicData>
        </a:graphic>
      </p:graphicFrame>
      <p:graphicFrame>
        <p:nvGraphicFramePr>
          <p:cNvPr id="10243" name="Object 57"/>
          <p:cNvGraphicFramePr>
            <a:graphicFrameLocks noChangeAspect="1"/>
          </p:cNvGraphicFramePr>
          <p:nvPr/>
        </p:nvGraphicFramePr>
        <p:xfrm>
          <a:off x="1182688" y="4683125"/>
          <a:ext cx="3627437" cy="733425"/>
        </p:xfrm>
        <a:graphic>
          <a:graphicData uri="http://schemas.openxmlformats.org/presentationml/2006/ole">
            <mc:AlternateContent xmlns:mc="http://schemas.openxmlformats.org/markup-compatibility/2006">
              <mc:Choice xmlns:v="urn:schemas-microsoft-com:vml" Requires="v">
                <p:oleObj r:id="rId4" imgW="1256665" imgH="254000" progId="Equation.3">
                  <p:embed/>
                </p:oleObj>
              </mc:Choice>
              <mc:Fallback>
                <p:oleObj r:id="rId4" imgW="1256665" imgH="254000" progId="Equation.3">
                  <p:embed/>
                  <p:pic>
                    <p:nvPicPr>
                      <p:cNvPr id="0" name="图片 3118"/>
                      <p:cNvPicPr/>
                      <p:nvPr/>
                    </p:nvPicPr>
                    <p:blipFill>
                      <a:blip r:embed="rId5"/>
                      <a:stretch>
                        <a:fillRect/>
                      </a:stretch>
                    </p:blipFill>
                    <p:spPr>
                      <a:xfrm>
                        <a:off x="1182688" y="4683125"/>
                        <a:ext cx="3627437" cy="733425"/>
                      </a:xfrm>
                      <a:prstGeom prst="rect">
                        <a:avLst/>
                      </a:prstGeom>
                      <a:noFill/>
                      <a:ln w="38100">
                        <a:noFill/>
                        <a:miter/>
                      </a:ln>
                    </p:spPr>
                  </p:pic>
                </p:oleObj>
              </mc:Fallback>
            </mc:AlternateContent>
          </a:graphicData>
        </a:graphic>
      </p:graphicFrame>
      <p:graphicFrame>
        <p:nvGraphicFramePr>
          <p:cNvPr id="10244" name="Object 58"/>
          <p:cNvGraphicFramePr>
            <a:graphicFrameLocks noChangeAspect="1"/>
          </p:cNvGraphicFramePr>
          <p:nvPr/>
        </p:nvGraphicFramePr>
        <p:xfrm>
          <a:off x="1143000" y="5345113"/>
          <a:ext cx="3367088" cy="731837"/>
        </p:xfrm>
        <a:graphic>
          <a:graphicData uri="http://schemas.openxmlformats.org/presentationml/2006/ole">
            <mc:AlternateContent xmlns:mc="http://schemas.openxmlformats.org/markup-compatibility/2006">
              <mc:Choice xmlns:v="urn:schemas-microsoft-com:vml" Requires="v">
                <p:oleObj r:id="rId6" imgW="1167765" imgH="254000" progId="Equation.3">
                  <p:embed/>
                </p:oleObj>
              </mc:Choice>
              <mc:Fallback>
                <p:oleObj r:id="rId6" imgW="1167765" imgH="254000" progId="Equation.3">
                  <p:embed/>
                  <p:pic>
                    <p:nvPicPr>
                      <p:cNvPr id="0" name="图片 3115"/>
                      <p:cNvPicPr/>
                      <p:nvPr/>
                    </p:nvPicPr>
                    <p:blipFill>
                      <a:blip r:embed="rId7"/>
                      <a:stretch>
                        <a:fillRect/>
                      </a:stretch>
                    </p:blipFill>
                    <p:spPr>
                      <a:xfrm>
                        <a:off x="1143000" y="5345113"/>
                        <a:ext cx="3367088" cy="731837"/>
                      </a:xfrm>
                      <a:prstGeom prst="rect">
                        <a:avLst/>
                      </a:prstGeom>
                      <a:noFill/>
                      <a:ln w="38100">
                        <a:noFill/>
                        <a:miter/>
                      </a:ln>
                    </p:spPr>
                  </p:pic>
                </p:oleObj>
              </mc:Fallback>
            </mc:AlternateContent>
          </a:graphicData>
        </a:graphic>
      </p:graphicFrame>
    </p:spTree>
  </p:cSld>
  <p:clrMapOvr>
    <a:masterClrMapping/>
  </p:clrMapOvr>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descr="羊皮纸"/>
          <p:cNvSpPr/>
          <p:nvPr/>
        </p:nvSpPr>
        <p:spPr>
          <a:xfrm>
            <a:off x="0" y="635000"/>
            <a:ext cx="9144000" cy="519113"/>
          </a:xfrm>
          <a:prstGeom prst="rect">
            <a:avLst/>
          </a:prstGeom>
          <a:noFill/>
          <a:ln w="38100">
            <a:noFill/>
          </a:ln>
        </p:spPr>
        <p:txBody>
          <a:bodyPr lIns="90000" tIns="46800" rIns="90000" bIns="46800" anchor="ctr" anchorCtr="0">
            <a:spAutoFit/>
          </a:bodyPr>
          <a:lstStyle/>
          <a:p>
            <a:r>
              <a:rPr lang="zh-CN" altLang="en-US" sz="2800" b="1" dirty="0">
                <a:latin typeface="Times New Roman" panose="02020603050405020304" pitchFamily="18" charset="0"/>
              </a:rPr>
              <a:t>例</a:t>
            </a:r>
            <a:r>
              <a:rPr lang="en-US" altLang="zh-CN" sz="2800" b="1" dirty="0">
                <a:latin typeface="Times New Roman" panose="02020603050405020304" pitchFamily="18" charset="0"/>
              </a:rPr>
              <a:t>:</a:t>
            </a:r>
            <a:r>
              <a:rPr lang="zh-CN" altLang="en-US" sz="2800" dirty="0">
                <a:latin typeface="Times New Roman" panose="02020603050405020304" pitchFamily="18" charset="0"/>
              </a:rPr>
              <a:t>设计一序列信号发生器，产生序列</a:t>
            </a:r>
            <a:r>
              <a:rPr lang="en-US" altLang="zh-CN" sz="2800" dirty="0">
                <a:latin typeface="Times New Roman" panose="02020603050405020304" pitchFamily="18" charset="0"/>
              </a:rPr>
              <a:t>1010010100……</a:t>
            </a:r>
            <a:r>
              <a:rPr lang="zh-CN" altLang="en-US" sz="2800" dirty="0">
                <a:latin typeface="Times New Roman" panose="02020603050405020304" pitchFamily="18" charset="0"/>
              </a:rPr>
              <a:t>。 </a:t>
            </a:r>
          </a:p>
        </p:txBody>
      </p:sp>
      <p:sp>
        <p:nvSpPr>
          <p:cNvPr id="107523" name="Rectangle 3" descr="羊皮纸"/>
          <p:cNvSpPr/>
          <p:nvPr/>
        </p:nvSpPr>
        <p:spPr>
          <a:xfrm>
            <a:off x="1068388" y="2463800"/>
            <a:ext cx="3246437" cy="0"/>
          </a:xfrm>
          <a:prstGeom prst="rect">
            <a:avLst/>
          </a:prstGeom>
          <a:noFill/>
          <a:ln w="38100">
            <a:noFill/>
          </a:ln>
        </p:spPr>
        <p:txBody>
          <a:bodyPr wrap="none" lIns="90000" tIns="46800" rIns="90000" bIns="46800" anchor="ctr" anchorCtr="0">
            <a:spAutoFit/>
          </a:bodyPr>
          <a:lstStyle/>
          <a:p>
            <a:endParaRPr lang="zh-CN" altLang="en-US" sz="2800" dirty="0">
              <a:latin typeface="Times New Roman" panose="02020603050405020304" pitchFamily="18" charset="0"/>
            </a:endParaRPr>
          </a:p>
        </p:txBody>
      </p:sp>
      <p:sp>
        <p:nvSpPr>
          <p:cNvPr id="107524" name="Rectangle 4" descr="羊皮纸"/>
          <p:cNvSpPr/>
          <p:nvPr/>
        </p:nvSpPr>
        <p:spPr>
          <a:xfrm>
            <a:off x="1068388" y="2463800"/>
            <a:ext cx="3246437" cy="0"/>
          </a:xfrm>
          <a:prstGeom prst="rect">
            <a:avLst/>
          </a:prstGeom>
          <a:noFill/>
          <a:ln w="38100">
            <a:noFill/>
          </a:ln>
        </p:spPr>
        <p:txBody>
          <a:bodyPr wrap="none" lIns="90000" tIns="46800" rIns="90000" bIns="46800" anchor="ctr" anchorCtr="0">
            <a:spAutoFit/>
          </a:bodyPr>
          <a:lstStyle/>
          <a:p>
            <a:endParaRPr lang="zh-CN" altLang="en-US" sz="2800" dirty="0">
              <a:latin typeface="Times New Roman" panose="02020603050405020304" pitchFamily="18" charset="0"/>
            </a:endParaRPr>
          </a:p>
        </p:txBody>
      </p:sp>
      <p:sp>
        <p:nvSpPr>
          <p:cNvPr id="107525" name="Rectangle 5" descr="羊皮纸"/>
          <p:cNvSpPr/>
          <p:nvPr/>
        </p:nvSpPr>
        <p:spPr>
          <a:xfrm>
            <a:off x="2586038" y="2349500"/>
            <a:ext cx="209550" cy="228600"/>
          </a:xfrm>
          <a:prstGeom prst="rect">
            <a:avLst/>
          </a:prstGeom>
          <a:noFill/>
          <a:ln w="38100">
            <a:noFill/>
          </a:ln>
        </p:spPr>
        <p:txBody>
          <a:bodyPr wrap="none" lIns="90000" tIns="46800" rIns="90000" bIns="46800" anchor="ctr" anchorCtr="0">
            <a:spAutoFit/>
          </a:bodyPr>
          <a:lstStyle/>
          <a:p>
            <a:pPr algn="ctr"/>
            <a:r>
              <a:rPr lang="en-US" altLang="zh-CN" sz="9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endParaRPr>
          </a:p>
        </p:txBody>
      </p:sp>
      <p:sp>
        <p:nvSpPr>
          <p:cNvPr id="107526" name="Line 6"/>
          <p:cNvSpPr/>
          <p:nvPr/>
        </p:nvSpPr>
        <p:spPr>
          <a:xfrm>
            <a:off x="3233738" y="2479675"/>
            <a:ext cx="0" cy="0"/>
          </a:xfrm>
          <a:prstGeom prst="line">
            <a:avLst/>
          </a:prstGeom>
          <a:ln w="12700" cap="rnd" cmpd="sng">
            <a:solidFill>
              <a:srgbClr val="000000"/>
            </a:solidFill>
            <a:prstDash val="solid"/>
            <a:headEnd type="none" w="med" len="med"/>
            <a:tailEnd type="none" w="sm" len="lg"/>
          </a:ln>
        </p:spPr>
      </p:sp>
      <p:sp>
        <p:nvSpPr>
          <p:cNvPr id="107527" name="Rectangle 7" descr="羊皮纸"/>
          <p:cNvSpPr/>
          <p:nvPr/>
        </p:nvSpPr>
        <p:spPr>
          <a:xfrm>
            <a:off x="311150" y="1157288"/>
            <a:ext cx="8596313" cy="1373187"/>
          </a:xfrm>
          <a:prstGeom prst="rect">
            <a:avLst/>
          </a:prstGeom>
          <a:noFill/>
          <a:ln w="38100">
            <a:noFill/>
          </a:ln>
        </p:spPr>
        <p:txBody>
          <a:bodyPr lIns="90000" tIns="46800" rIns="90000" bIns="46800" anchor="ctr" anchorCtr="0">
            <a:spAutoFit/>
          </a:bodyPr>
          <a:lstStyle/>
          <a:p>
            <a:r>
              <a:rPr lang="en-US" altLang="zh-CN" sz="2800" dirty="0">
                <a:latin typeface="Times New Roman" panose="02020603050405020304" pitchFamily="18" charset="0"/>
              </a:rPr>
              <a:t>        </a:t>
            </a:r>
            <a:r>
              <a:rPr lang="zh-CN" altLang="en-US" sz="2800" dirty="0">
                <a:latin typeface="Times New Roman" panose="02020603050405020304" pitchFamily="18" charset="0"/>
              </a:rPr>
              <a:t>序列信号发生器就是用来产生序列电位和序列脉冲的逻辑部件。按其结构来分，序列信号发生器可分为计数型和移位型两种。 </a:t>
            </a:r>
          </a:p>
        </p:txBody>
      </p:sp>
      <p:sp>
        <p:nvSpPr>
          <p:cNvPr id="107528" name="Rectangle 8" descr="羊皮纸"/>
          <p:cNvSpPr/>
          <p:nvPr/>
        </p:nvSpPr>
        <p:spPr>
          <a:xfrm>
            <a:off x="225425" y="2495550"/>
            <a:ext cx="8712200" cy="4362450"/>
          </a:xfrm>
          <a:prstGeom prst="rect">
            <a:avLst/>
          </a:prstGeom>
          <a:noFill/>
          <a:ln w="38100">
            <a:noFill/>
          </a:ln>
        </p:spPr>
        <p:txBody>
          <a:bodyPr lIns="90000" tIns="46800" rIns="90000" bIns="46800" anchor="ctr" anchorCtr="0">
            <a:spAutoFit/>
          </a:bodyPr>
          <a:lstStyle/>
          <a:p>
            <a:pPr indent="276225"/>
            <a:r>
              <a:rPr lang="en-US" altLang="zh-CN" sz="2800" dirty="0">
                <a:latin typeface="Times New Roman" panose="02020603050405020304" pitchFamily="18" charset="0"/>
              </a:rPr>
              <a:t>        </a:t>
            </a:r>
            <a:r>
              <a:rPr lang="zh-CN" altLang="en-US" sz="2800" dirty="0">
                <a:latin typeface="Times New Roman" panose="02020603050405020304" pitchFamily="18" charset="0"/>
              </a:rPr>
              <a:t>计数型序列信号发生器由计数器和组合电路来构成。计数器相当于组合电路的输入源，决定序列信号的长度，组合电路则在这个输入源的作用下产生序列信号。这时，计数器的输出可以供给几个组合电路，产生几种长度相同但是序列内容不同的序列信号。</a:t>
            </a:r>
          </a:p>
          <a:p>
            <a:pPr indent="276225"/>
            <a:r>
              <a:rPr lang="zh-CN" altLang="en-US" sz="2800" b="1" dirty="0">
                <a:solidFill>
                  <a:schemeClr val="bg2"/>
                </a:solidFill>
                <a:latin typeface="Times New Roman" panose="02020603050405020304" pitchFamily="18" charset="0"/>
              </a:rPr>
              <a:t>计数型序列信号发生器的设计方法：</a:t>
            </a:r>
          </a:p>
          <a:p>
            <a:pPr indent="276225"/>
            <a:r>
              <a:rPr lang="en-US" altLang="zh-CN" sz="2800" dirty="0">
                <a:latin typeface="Times New Roman" panose="02020603050405020304" pitchFamily="18" charset="0"/>
              </a:rPr>
              <a:t>1</a:t>
            </a:r>
            <a:r>
              <a:rPr lang="zh-CN" altLang="en-US" sz="2800" dirty="0">
                <a:latin typeface="Times New Roman" panose="02020603050405020304" pitchFamily="18" charset="0"/>
              </a:rPr>
              <a:t>、根据序列长度</a:t>
            </a:r>
            <a:r>
              <a:rPr lang="en-US" altLang="zh-CN" sz="2800" i="1" dirty="0">
                <a:latin typeface="Times New Roman" panose="02020603050405020304" pitchFamily="18" charset="0"/>
              </a:rPr>
              <a:t>M</a:t>
            </a:r>
            <a:r>
              <a:rPr lang="zh-CN" altLang="en-US" sz="2800" dirty="0">
                <a:latin typeface="Times New Roman" panose="02020603050405020304" pitchFamily="18" charset="0"/>
              </a:rPr>
              <a:t>确定触发器位数</a:t>
            </a:r>
            <a:r>
              <a:rPr lang="en-US" altLang="zh-CN" sz="2800" i="1" dirty="0">
                <a:latin typeface="Times New Roman" panose="02020603050405020304" pitchFamily="18" charset="0"/>
              </a:rPr>
              <a:t>k</a:t>
            </a:r>
            <a:r>
              <a:rPr lang="zh-CN" altLang="en-US" sz="2800" i="1" dirty="0">
                <a:latin typeface="Times New Roman" panose="02020603050405020304" pitchFamily="18" charset="0"/>
              </a:rPr>
              <a:t>，</a:t>
            </a:r>
            <a:r>
              <a:rPr lang="en-US" altLang="zh-CN" sz="2800" dirty="0">
                <a:latin typeface="Times New Roman" panose="02020603050405020304" pitchFamily="18" charset="0"/>
              </a:rPr>
              <a:t>2</a:t>
            </a:r>
            <a:r>
              <a:rPr lang="en-US" altLang="zh-CN" sz="2800" i="1" baseline="30000" dirty="0">
                <a:latin typeface="Times New Roman" panose="02020603050405020304" pitchFamily="18" charset="0"/>
              </a:rPr>
              <a:t>k</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&lt;</a:t>
            </a:r>
            <a:r>
              <a:rPr lang="en-US" altLang="zh-CN" sz="2800" i="1" dirty="0">
                <a:latin typeface="Times New Roman" panose="02020603050405020304" pitchFamily="18" charset="0"/>
              </a:rPr>
              <a:t>M</a:t>
            </a:r>
            <a:r>
              <a:rPr lang="en-US" altLang="zh-CN" sz="2800" dirty="0">
                <a:latin typeface="Times New Roman" panose="02020603050405020304" pitchFamily="18" charset="0"/>
              </a:rPr>
              <a:t>≤2</a:t>
            </a:r>
            <a:r>
              <a:rPr lang="en-US" altLang="zh-CN" sz="2800" i="1" baseline="30000" dirty="0">
                <a:latin typeface="Times New Roman" panose="02020603050405020304" pitchFamily="18" charset="0"/>
              </a:rPr>
              <a:t>k</a:t>
            </a:r>
            <a:r>
              <a:rPr lang="zh-CN" altLang="en-US" sz="2800" dirty="0">
                <a:latin typeface="Times New Roman" panose="02020603050405020304" pitchFamily="18" charset="0"/>
              </a:rPr>
              <a:t>；</a:t>
            </a:r>
          </a:p>
          <a:p>
            <a:pPr indent="276225"/>
            <a:r>
              <a:rPr lang="en-US" altLang="zh-CN" sz="2800" dirty="0">
                <a:latin typeface="Times New Roman" panose="02020603050405020304" pitchFamily="18" charset="0"/>
              </a:rPr>
              <a:t>2</a:t>
            </a:r>
            <a:r>
              <a:rPr lang="zh-CN" altLang="en-US" sz="2800" dirty="0">
                <a:latin typeface="Times New Roman" panose="02020603050405020304" pitchFamily="18" charset="0"/>
              </a:rPr>
              <a:t>、列状态表，状态表中输出要根据序列信号的要求来确定，有</a:t>
            </a:r>
            <a:r>
              <a:rPr lang="en-US" altLang="zh-CN" sz="2800" i="1" dirty="0">
                <a:latin typeface="Times New Roman" panose="02020603050405020304" pitchFamily="18" charset="0"/>
              </a:rPr>
              <a:t>n</a:t>
            </a:r>
            <a:r>
              <a:rPr lang="zh-CN" altLang="en-US" sz="2800" dirty="0">
                <a:latin typeface="Times New Roman" panose="02020603050405020304" pitchFamily="18" charset="0"/>
              </a:rPr>
              <a:t>个序列信号就列</a:t>
            </a:r>
            <a:r>
              <a:rPr lang="en-US" altLang="zh-CN" sz="2800" i="1" dirty="0">
                <a:latin typeface="Times New Roman" panose="02020603050405020304" pitchFamily="18" charset="0"/>
              </a:rPr>
              <a:t>n</a:t>
            </a:r>
            <a:r>
              <a:rPr lang="zh-CN" altLang="en-US" sz="2800" dirty="0">
                <a:latin typeface="Times New Roman" panose="02020603050405020304" pitchFamily="18" charset="0"/>
              </a:rPr>
              <a:t>个输出；</a:t>
            </a:r>
          </a:p>
          <a:p>
            <a:pPr indent="276225"/>
            <a:r>
              <a:rPr lang="en-US" altLang="zh-CN" sz="2800" dirty="0">
                <a:latin typeface="Times New Roman" panose="02020603050405020304" pitchFamily="18" charset="0"/>
              </a:rPr>
              <a:t>3</a:t>
            </a:r>
            <a:r>
              <a:rPr lang="zh-CN" altLang="en-US" sz="2800" dirty="0">
                <a:latin typeface="Times New Roman" panose="02020603050405020304" pitchFamily="18" charset="0"/>
              </a:rPr>
              <a:t>、根据求得的激励函数和输出函数画出逻辑图。</a:t>
            </a:r>
          </a:p>
        </p:txBody>
      </p:sp>
    </p:spTree>
  </p:cSld>
  <p:clrMapOvr>
    <a:masterClrMapping/>
  </p:clrMapOvr>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descr="羊皮纸"/>
          <p:cNvSpPr/>
          <p:nvPr/>
        </p:nvSpPr>
        <p:spPr>
          <a:xfrm>
            <a:off x="0" y="555625"/>
            <a:ext cx="9144000" cy="6070600"/>
          </a:xfrm>
          <a:prstGeom prst="rect">
            <a:avLst/>
          </a:prstGeom>
          <a:noFill/>
          <a:ln w="38100">
            <a:noFill/>
          </a:ln>
        </p:spPr>
        <p:txBody>
          <a:bodyPr lIns="90000" tIns="46800" rIns="90000" bIns="46800" anchor="ctr" anchorCtr="0">
            <a:spAutoFit/>
          </a:bodyPr>
          <a:lstStyle/>
          <a:p>
            <a:pPr indent="266700"/>
            <a:r>
              <a:rPr lang="zh-CN" altLang="en-US" sz="2800" b="1" dirty="0">
                <a:solidFill>
                  <a:schemeClr val="bg2"/>
                </a:solidFill>
                <a:latin typeface="Times New Roman" panose="02020603050405020304" pitchFamily="18" charset="0"/>
              </a:rPr>
              <a:t>移位型序列信号发生器的设计步骤：</a:t>
            </a:r>
          </a:p>
          <a:p>
            <a:pPr indent="266700"/>
            <a:r>
              <a:rPr lang="zh-CN" altLang="en-US" sz="2800" dirty="0">
                <a:latin typeface="Times New Roman" panose="02020603050405020304" pitchFamily="18" charset="0"/>
              </a:rPr>
              <a:t>①根据给定序列信号的长度</a:t>
            </a:r>
            <a:r>
              <a:rPr lang="en-US" altLang="zh-CN" sz="2800" i="1" dirty="0">
                <a:latin typeface="Times New Roman" panose="02020603050405020304" pitchFamily="18" charset="0"/>
              </a:rPr>
              <a:t>M</a:t>
            </a:r>
            <a:r>
              <a:rPr lang="zh-CN" altLang="en-US" sz="2800" dirty="0">
                <a:latin typeface="Times New Roman" panose="02020603050405020304" pitchFamily="18" charset="0"/>
              </a:rPr>
              <a:t>，由</a:t>
            </a:r>
            <a:r>
              <a:rPr lang="en-US" altLang="zh-CN" sz="2800" dirty="0">
                <a:latin typeface="Times New Roman" panose="02020603050405020304" pitchFamily="18" charset="0"/>
              </a:rPr>
              <a:t>2</a:t>
            </a:r>
            <a:r>
              <a:rPr lang="en-US" altLang="zh-CN" sz="2800" i="1" baseline="30000" dirty="0">
                <a:latin typeface="Times New Roman" panose="02020603050405020304" pitchFamily="18" charset="0"/>
              </a:rPr>
              <a:t>k</a:t>
            </a:r>
            <a:r>
              <a:rPr lang="en-US" altLang="zh-CN" sz="2800" baseline="30000" dirty="0">
                <a:latin typeface="Times New Roman" panose="02020603050405020304" pitchFamily="18" charset="0"/>
              </a:rPr>
              <a:t>-1</a:t>
            </a:r>
            <a:r>
              <a:rPr lang="en-US" altLang="zh-CN" sz="2800" dirty="0">
                <a:latin typeface="Times New Roman" panose="02020603050405020304" pitchFamily="18" charset="0"/>
              </a:rPr>
              <a:t>&lt;</a:t>
            </a:r>
            <a:r>
              <a:rPr lang="en-US" altLang="zh-CN" sz="2800" i="1" dirty="0">
                <a:latin typeface="Times New Roman" panose="02020603050405020304" pitchFamily="18" charset="0"/>
              </a:rPr>
              <a:t>M</a:t>
            </a:r>
            <a:r>
              <a:rPr lang="en-US" altLang="zh-CN" sz="2800" dirty="0">
                <a:latin typeface="Times New Roman" panose="02020603050405020304" pitchFamily="18" charset="0"/>
              </a:rPr>
              <a:t>≤2</a:t>
            </a:r>
            <a:r>
              <a:rPr lang="en-US" altLang="zh-CN" sz="2800" i="1" baseline="30000" dirty="0">
                <a:latin typeface="Times New Roman" panose="02020603050405020304" pitchFamily="18" charset="0"/>
              </a:rPr>
              <a:t>k</a:t>
            </a:r>
            <a:r>
              <a:rPr lang="zh-CN" altLang="en-US" sz="2800" dirty="0">
                <a:latin typeface="Times New Roman" panose="02020603050405020304" pitchFamily="18" charset="0"/>
              </a:rPr>
              <a:t>决定所需最少的触发器数目</a:t>
            </a:r>
            <a:r>
              <a:rPr lang="en-US" altLang="zh-CN" sz="2800" i="1" dirty="0">
                <a:latin typeface="Times New Roman" panose="02020603050405020304" pitchFamily="18" charset="0"/>
              </a:rPr>
              <a:t>k</a:t>
            </a:r>
            <a:r>
              <a:rPr lang="zh-CN" altLang="en-US" sz="2800" dirty="0">
                <a:latin typeface="Times New Roman" panose="02020603050405020304" pitchFamily="18" charset="0"/>
              </a:rPr>
              <a:t>。</a:t>
            </a:r>
          </a:p>
          <a:p>
            <a:pPr indent="266700"/>
            <a:r>
              <a:rPr lang="zh-CN" altLang="en-US" sz="2800" dirty="0">
                <a:latin typeface="Times New Roman" panose="02020603050405020304" pitchFamily="18" charset="0"/>
              </a:rPr>
              <a:t>②验证并确定实际需要的触发器数目</a:t>
            </a:r>
            <a:r>
              <a:rPr lang="en-US" altLang="zh-CN" sz="2800" i="1" dirty="0">
                <a:latin typeface="Times New Roman" panose="02020603050405020304" pitchFamily="18" charset="0"/>
              </a:rPr>
              <a:t>k</a:t>
            </a:r>
            <a:r>
              <a:rPr lang="zh-CN" altLang="en-US" sz="2800" dirty="0">
                <a:latin typeface="Times New Roman" panose="02020603050405020304" pitchFamily="18" charset="0"/>
              </a:rPr>
              <a:t>。对给定的序列信号每</a:t>
            </a:r>
            <a:r>
              <a:rPr lang="en-US" altLang="zh-CN" sz="2800" i="1" dirty="0">
                <a:latin typeface="Times New Roman" panose="02020603050405020304" pitchFamily="18" charset="0"/>
              </a:rPr>
              <a:t>k</a:t>
            </a:r>
            <a:r>
              <a:rPr lang="zh-CN" altLang="en-US" sz="2800" dirty="0">
                <a:latin typeface="Times New Roman" panose="02020603050405020304" pitchFamily="18" charset="0"/>
              </a:rPr>
              <a:t>位分为一组，选定一组后，向前移一位，按</a:t>
            </a:r>
            <a:r>
              <a:rPr lang="en-US" altLang="zh-CN" sz="2800" i="1" dirty="0">
                <a:latin typeface="Times New Roman" panose="02020603050405020304" pitchFamily="18" charset="0"/>
              </a:rPr>
              <a:t>k</a:t>
            </a:r>
            <a:r>
              <a:rPr lang="zh-CN" altLang="en-US" sz="2800" dirty="0">
                <a:latin typeface="Times New Roman" panose="02020603050405020304" pitchFamily="18" charset="0"/>
              </a:rPr>
              <a:t>位再取一组，总共取</a:t>
            </a:r>
            <a:r>
              <a:rPr lang="en-US" altLang="zh-CN" sz="2800" i="1" dirty="0">
                <a:latin typeface="Times New Roman" panose="02020603050405020304" pitchFamily="18" charset="0"/>
              </a:rPr>
              <a:t>M</a:t>
            </a:r>
            <a:r>
              <a:rPr lang="zh-CN" altLang="en-US" sz="2800" dirty="0">
                <a:latin typeface="Times New Roman" panose="02020603050405020304" pitchFamily="18" charset="0"/>
              </a:rPr>
              <a:t>组。如果这</a:t>
            </a:r>
            <a:r>
              <a:rPr lang="en-US" altLang="zh-CN" sz="2800" i="1" dirty="0">
                <a:latin typeface="Times New Roman" panose="02020603050405020304" pitchFamily="18" charset="0"/>
              </a:rPr>
              <a:t>M</a:t>
            </a:r>
            <a:r>
              <a:rPr lang="zh-CN" altLang="en-US" sz="2800" dirty="0">
                <a:latin typeface="Times New Roman" panose="02020603050405020304" pitchFamily="18" charset="0"/>
              </a:rPr>
              <a:t>组数字，都不重复，就可以使用已经选择的</a:t>
            </a:r>
            <a:r>
              <a:rPr lang="en-US" altLang="zh-CN" sz="2800" i="1" dirty="0">
                <a:latin typeface="Times New Roman" panose="02020603050405020304" pitchFamily="18" charset="0"/>
              </a:rPr>
              <a:t>k</a:t>
            </a:r>
            <a:r>
              <a:rPr lang="zh-CN" altLang="en-US" sz="2800" dirty="0">
                <a:latin typeface="Times New Roman" panose="02020603050405020304" pitchFamily="18" charset="0"/>
              </a:rPr>
              <a:t>；否则，就使</a:t>
            </a:r>
            <a:r>
              <a:rPr lang="en-US" altLang="zh-CN" sz="2800" i="1" dirty="0">
                <a:latin typeface="Times New Roman" panose="02020603050405020304" pitchFamily="18" charset="0"/>
              </a:rPr>
              <a:t>k</a:t>
            </a:r>
            <a:r>
              <a:rPr lang="en-US" altLang="zh-CN" sz="2800" dirty="0">
                <a:latin typeface="Times New Roman" panose="02020603050405020304" pitchFamily="18" charset="0"/>
              </a:rPr>
              <a:t>=</a:t>
            </a:r>
            <a:r>
              <a:rPr lang="en-US" altLang="zh-CN" sz="2800" i="1" dirty="0">
                <a:latin typeface="Times New Roman" panose="02020603050405020304" pitchFamily="18" charset="0"/>
              </a:rPr>
              <a:t>k</a:t>
            </a:r>
            <a:r>
              <a:rPr lang="en-US" altLang="zh-CN" sz="2800" dirty="0">
                <a:latin typeface="Times New Roman" panose="02020603050405020304" pitchFamily="18" charset="0"/>
              </a:rPr>
              <a:t>+1</a:t>
            </a:r>
            <a:r>
              <a:rPr lang="zh-CN" altLang="en-US" sz="2800" dirty="0">
                <a:latin typeface="Times New Roman" panose="02020603050405020304" pitchFamily="18" charset="0"/>
              </a:rPr>
              <a:t>。再重复以上的过程，直到</a:t>
            </a:r>
            <a:r>
              <a:rPr lang="en-US" altLang="zh-CN" sz="2800" i="1" dirty="0">
                <a:latin typeface="Times New Roman" panose="02020603050405020304" pitchFamily="18" charset="0"/>
              </a:rPr>
              <a:t>M</a:t>
            </a:r>
            <a:r>
              <a:rPr lang="zh-CN" altLang="en-US" sz="2800" dirty="0">
                <a:latin typeface="Times New Roman" panose="02020603050405020304" pitchFamily="18" charset="0"/>
              </a:rPr>
              <a:t>组数字不再重复时，</a:t>
            </a:r>
            <a:r>
              <a:rPr lang="en-US" altLang="zh-CN" sz="2800" i="1" dirty="0">
                <a:latin typeface="Times New Roman" panose="02020603050405020304" pitchFamily="18" charset="0"/>
              </a:rPr>
              <a:t>k</a:t>
            </a:r>
            <a:r>
              <a:rPr lang="zh-CN" altLang="en-US" sz="2800" dirty="0">
                <a:latin typeface="Times New Roman" panose="02020603050405020304" pitchFamily="18" charset="0"/>
              </a:rPr>
              <a:t>值就可以确定下来。</a:t>
            </a:r>
          </a:p>
          <a:p>
            <a:pPr indent="266700"/>
            <a:r>
              <a:rPr lang="zh-CN" altLang="en-US" sz="2800" dirty="0">
                <a:latin typeface="Times New Roman" panose="02020603050405020304" pitchFamily="18" charset="0"/>
              </a:rPr>
              <a:t>③最后得到的</a:t>
            </a:r>
            <a:r>
              <a:rPr lang="en-US" altLang="zh-CN" sz="2800" i="1" dirty="0">
                <a:latin typeface="Times New Roman" panose="02020603050405020304" pitchFamily="18" charset="0"/>
              </a:rPr>
              <a:t>M</a:t>
            </a:r>
            <a:r>
              <a:rPr lang="zh-CN" altLang="en-US" sz="2800" dirty="0">
                <a:latin typeface="Times New Roman" panose="02020603050405020304" pitchFamily="18" charset="0"/>
              </a:rPr>
              <a:t>组数字，就是序列信号发生器的状态转移关系，将它们依次排列，得到序列信号发生器的状态转移表。状态转移表的右边是该状态下反馈信号。</a:t>
            </a:r>
          </a:p>
          <a:p>
            <a:pPr indent="266700"/>
            <a:r>
              <a:rPr lang="zh-CN" altLang="en-US" sz="2800" dirty="0">
                <a:latin typeface="Times New Roman" panose="02020603050405020304" pitchFamily="18" charset="0"/>
              </a:rPr>
              <a:t>④由状态转移表求反馈函数。</a:t>
            </a:r>
          </a:p>
          <a:p>
            <a:pPr indent="266700"/>
            <a:r>
              <a:rPr lang="zh-CN" altLang="en-US" sz="2800" dirty="0">
                <a:latin typeface="Times New Roman" panose="02020603050405020304" pitchFamily="18" charset="0"/>
              </a:rPr>
              <a:t>⑤检查未使用状态的转移关系，以满足自启动的要求。</a:t>
            </a:r>
          </a:p>
          <a:p>
            <a:pPr indent="266700"/>
            <a:r>
              <a:rPr lang="zh-CN" altLang="en-US" sz="2800" dirty="0">
                <a:latin typeface="Times New Roman" panose="02020603050405020304" pitchFamily="18" charset="0"/>
              </a:rPr>
              <a:t>⑥画逻辑图。</a:t>
            </a:r>
          </a:p>
        </p:txBody>
      </p:sp>
    </p:spTree>
  </p:cSld>
  <p:clrMapOvr>
    <a:masterClrMapping/>
  </p:clrMapOvr>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2"/>
          <p:cNvSpPr txBox="1"/>
          <p:nvPr/>
        </p:nvSpPr>
        <p:spPr>
          <a:xfrm>
            <a:off x="2549525" y="5357813"/>
            <a:ext cx="4527550" cy="457200"/>
          </a:xfrm>
          <a:prstGeom prst="rect">
            <a:avLst/>
          </a:prstGeom>
          <a:noFill/>
          <a:ln w="9525">
            <a:noFill/>
          </a:ln>
        </p:spPr>
        <p:txBody>
          <a:bodyPr wrap="none">
            <a:spAutoFit/>
          </a:bodyPr>
          <a:lstStyle/>
          <a:p>
            <a:r>
              <a:rPr lang="zh-CN" altLang="en-US" sz="2400" b="1" dirty="0">
                <a:latin typeface="Times New Roman" panose="02020603050405020304" pitchFamily="18" charset="0"/>
              </a:rPr>
              <a:t>反馈移位型序列信号发生器框图 </a:t>
            </a:r>
          </a:p>
        </p:txBody>
      </p:sp>
      <p:graphicFrame>
        <p:nvGraphicFramePr>
          <p:cNvPr id="11266" name="Object 3"/>
          <p:cNvGraphicFramePr>
            <a:graphicFrameLocks noChangeAspect="1"/>
          </p:cNvGraphicFramePr>
          <p:nvPr/>
        </p:nvGraphicFramePr>
        <p:xfrm>
          <a:off x="1989138" y="1098550"/>
          <a:ext cx="5181600" cy="4089400"/>
        </p:xfrm>
        <a:graphic>
          <a:graphicData uri="http://schemas.openxmlformats.org/presentationml/2006/ole">
            <mc:AlternateContent xmlns:mc="http://schemas.openxmlformats.org/markup-compatibility/2006">
              <mc:Choice xmlns:v="urn:schemas-microsoft-com:vml" Requires="v">
                <p:oleObj r:id="rId2" imgW="2800350" imgH="2214880" progId="Visio.Drawing.11">
                  <p:embed/>
                </p:oleObj>
              </mc:Choice>
              <mc:Fallback>
                <p:oleObj r:id="rId2" imgW="2800350" imgH="2214880" progId="Visio.Drawing.11">
                  <p:embed/>
                  <p:pic>
                    <p:nvPicPr>
                      <p:cNvPr id="0" name="图片 3112"/>
                      <p:cNvPicPr/>
                      <p:nvPr/>
                    </p:nvPicPr>
                    <p:blipFill>
                      <a:blip r:embed="rId3"/>
                      <a:stretch>
                        <a:fillRect/>
                      </a:stretch>
                    </p:blipFill>
                    <p:spPr>
                      <a:xfrm>
                        <a:off x="1989138" y="1098550"/>
                        <a:ext cx="5181600" cy="4089400"/>
                      </a:xfrm>
                      <a:prstGeom prst="rect">
                        <a:avLst/>
                      </a:prstGeom>
                      <a:noFill/>
                      <a:ln w="38100">
                        <a:noFill/>
                        <a:miter/>
                      </a:ln>
                    </p:spPr>
                  </p:pic>
                </p:oleObj>
              </mc:Fallback>
            </mc:AlternateContent>
          </a:graphicData>
        </a:graphic>
      </p:graphicFrame>
    </p:spTree>
  </p:cSld>
  <p:clrMapOvr>
    <a:masterClrMapping/>
  </p:clrMapOvr>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descr="羊皮纸"/>
          <p:cNvSpPr/>
          <p:nvPr/>
        </p:nvSpPr>
        <p:spPr>
          <a:xfrm>
            <a:off x="0" y="628650"/>
            <a:ext cx="9144000" cy="946150"/>
          </a:xfrm>
          <a:prstGeom prst="rect">
            <a:avLst/>
          </a:prstGeom>
          <a:noFill/>
          <a:ln w="38100">
            <a:noFill/>
          </a:ln>
        </p:spPr>
        <p:txBody>
          <a:bodyPr lIns="90000" tIns="46800" rIns="90000" bIns="46800" anchor="ctr" anchorCtr="0">
            <a:spAutoFit/>
          </a:bodyPr>
          <a:lstStyle/>
          <a:p>
            <a:r>
              <a:rPr lang="en-US" altLang="zh-CN" sz="2800" dirty="0">
                <a:latin typeface="Times New Roman" panose="02020603050405020304" pitchFamily="18" charset="0"/>
              </a:rPr>
              <a:t>        </a:t>
            </a:r>
            <a:r>
              <a:rPr lang="zh-CN" altLang="en-US" sz="2800" dirty="0">
                <a:latin typeface="Times New Roman" panose="02020603050405020304" pitchFamily="18" charset="0"/>
              </a:rPr>
              <a:t>利用移位型序列信号发生器的设计方法对本例进行设计，触发器选用</a:t>
            </a:r>
            <a:r>
              <a:rPr lang="en-US" altLang="zh-CN" sz="2800" dirty="0">
                <a:latin typeface="Times New Roman" panose="02020603050405020304" pitchFamily="18" charset="0"/>
              </a:rPr>
              <a:t>D</a:t>
            </a:r>
            <a:r>
              <a:rPr lang="zh-CN" altLang="en-US" sz="2800" dirty="0">
                <a:latin typeface="Times New Roman" panose="02020603050405020304" pitchFamily="18" charset="0"/>
              </a:rPr>
              <a:t>触发器。</a:t>
            </a:r>
          </a:p>
        </p:txBody>
      </p:sp>
      <p:sp>
        <p:nvSpPr>
          <p:cNvPr id="109571" name="Rectangle 3" descr="羊皮纸"/>
          <p:cNvSpPr/>
          <p:nvPr/>
        </p:nvSpPr>
        <p:spPr>
          <a:xfrm>
            <a:off x="501650" y="1852613"/>
            <a:ext cx="8201025" cy="3935412"/>
          </a:xfrm>
          <a:prstGeom prst="rect">
            <a:avLst/>
          </a:prstGeom>
          <a:noFill/>
          <a:ln w="38100">
            <a:noFill/>
          </a:ln>
        </p:spPr>
        <p:txBody>
          <a:bodyPr lIns="90000" tIns="46800" rIns="90000" bIns="46800" anchor="ctr" anchorCtr="0">
            <a:spAutoFit/>
          </a:bodyPr>
          <a:lstStyle/>
          <a:p>
            <a:r>
              <a:rPr lang="zh-CN" altLang="en-US" sz="2800" b="1" dirty="0">
                <a:latin typeface="Times New Roman" panose="02020603050405020304" pitchFamily="18" charset="0"/>
              </a:rPr>
              <a:t>解：</a:t>
            </a:r>
          </a:p>
          <a:p>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）本例序列长度是</a:t>
            </a:r>
            <a:r>
              <a:rPr lang="en-US" altLang="zh-CN" sz="2800" dirty="0">
                <a:latin typeface="Times New Roman" panose="02020603050405020304" pitchFamily="18" charset="0"/>
              </a:rPr>
              <a:t>5</a:t>
            </a:r>
            <a:r>
              <a:rPr lang="zh-CN" altLang="en-US" sz="2800" dirty="0">
                <a:latin typeface="Times New Roman" panose="02020603050405020304" pitchFamily="18" charset="0"/>
              </a:rPr>
              <a:t>（</a:t>
            </a:r>
            <a:r>
              <a:rPr lang="en-US" altLang="zh-CN" sz="2800" dirty="0">
                <a:latin typeface="Times New Roman" panose="02020603050405020304" pitchFamily="18" charset="0"/>
              </a:rPr>
              <a:t>10100</a:t>
            </a:r>
            <a:r>
              <a:rPr lang="zh-CN" altLang="en-US" sz="2800" dirty="0">
                <a:latin typeface="Times New Roman" panose="02020603050405020304" pitchFamily="18" charset="0"/>
              </a:rPr>
              <a:t>），最小触发器数目是</a:t>
            </a:r>
            <a:r>
              <a:rPr lang="en-US" altLang="zh-CN" sz="2800" dirty="0">
                <a:latin typeface="Times New Roman" panose="02020603050405020304" pitchFamily="18" charset="0"/>
              </a:rPr>
              <a:t>3</a:t>
            </a:r>
            <a:r>
              <a:rPr lang="zh-CN" altLang="en-US" sz="2800" dirty="0">
                <a:latin typeface="Times New Roman" panose="02020603050405020304" pitchFamily="18" charset="0"/>
              </a:rPr>
              <a:t>。</a:t>
            </a:r>
          </a:p>
          <a:p>
            <a:r>
              <a:rPr lang="zh-CN" altLang="en-US" sz="2800" dirty="0">
                <a:latin typeface="Times New Roman" panose="02020603050405020304" pitchFamily="18" charset="0"/>
              </a:rPr>
              <a:t>（</a:t>
            </a:r>
            <a:r>
              <a:rPr lang="en-US" altLang="zh-CN" sz="2800" dirty="0">
                <a:latin typeface="Times New Roman" panose="02020603050405020304" pitchFamily="18" charset="0"/>
              </a:rPr>
              <a:t>2</a:t>
            </a:r>
            <a:r>
              <a:rPr lang="zh-CN" altLang="en-US" sz="2800" dirty="0">
                <a:latin typeface="Times New Roman" panose="02020603050405020304" pitchFamily="18" charset="0"/>
              </a:rPr>
              <a:t>）对序列信号每</a:t>
            </a:r>
            <a:r>
              <a:rPr lang="en-US" altLang="zh-CN" sz="2800" dirty="0">
                <a:latin typeface="Times New Roman" panose="02020603050405020304" pitchFamily="18" charset="0"/>
              </a:rPr>
              <a:t>3</a:t>
            </a:r>
            <a:r>
              <a:rPr lang="zh-CN" altLang="en-US" sz="2800" dirty="0">
                <a:latin typeface="Times New Roman" panose="02020603050405020304" pitchFamily="18" charset="0"/>
              </a:rPr>
              <a:t>位一组取信号，每取一组移一位，共取</a:t>
            </a:r>
            <a:r>
              <a:rPr lang="en-US" altLang="zh-CN" sz="2800" dirty="0">
                <a:latin typeface="Times New Roman" panose="02020603050405020304" pitchFamily="18" charset="0"/>
              </a:rPr>
              <a:t>5</a:t>
            </a:r>
            <a:r>
              <a:rPr lang="zh-CN" altLang="en-US" sz="2800" dirty="0">
                <a:latin typeface="Times New Roman" panose="02020603050405020304" pitchFamily="18" charset="0"/>
              </a:rPr>
              <a:t>组：</a:t>
            </a:r>
            <a:r>
              <a:rPr lang="en-US" altLang="zh-CN" sz="2800" dirty="0">
                <a:latin typeface="Times New Roman" panose="02020603050405020304" pitchFamily="18" charset="0"/>
              </a:rPr>
              <a:t>101</a:t>
            </a:r>
            <a:r>
              <a:rPr lang="zh-CN" altLang="en-US" sz="2800" dirty="0">
                <a:latin typeface="Times New Roman" panose="02020603050405020304" pitchFamily="18" charset="0"/>
              </a:rPr>
              <a:t>、</a:t>
            </a:r>
            <a:r>
              <a:rPr lang="en-US" altLang="zh-CN" sz="2800" dirty="0">
                <a:latin typeface="Times New Roman" panose="02020603050405020304" pitchFamily="18" charset="0"/>
              </a:rPr>
              <a:t>010</a:t>
            </a:r>
            <a:r>
              <a:rPr lang="zh-CN" altLang="en-US" sz="2800" dirty="0">
                <a:latin typeface="Times New Roman" panose="02020603050405020304" pitchFamily="18" charset="0"/>
              </a:rPr>
              <a:t>、</a:t>
            </a:r>
            <a:r>
              <a:rPr lang="en-US" altLang="zh-CN" sz="2800" dirty="0">
                <a:latin typeface="Times New Roman" panose="02020603050405020304" pitchFamily="18" charset="0"/>
              </a:rPr>
              <a:t>100</a:t>
            </a:r>
            <a:r>
              <a:rPr lang="zh-CN" altLang="en-US" sz="2800" dirty="0">
                <a:latin typeface="Times New Roman" panose="02020603050405020304" pitchFamily="18" charset="0"/>
              </a:rPr>
              <a:t>、</a:t>
            </a:r>
            <a:r>
              <a:rPr lang="en-US" altLang="zh-CN" sz="2800" dirty="0">
                <a:latin typeface="Times New Roman" panose="02020603050405020304" pitchFamily="18" charset="0"/>
              </a:rPr>
              <a:t>001</a:t>
            </a:r>
            <a:r>
              <a:rPr lang="zh-CN" altLang="en-US" sz="2800" dirty="0">
                <a:latin typeface="Times New Roman" panose="02020603050405020304" pitchFamily="18" charset="0"/>
              </a:rPr>
              <a:t>、</a:t>
            </a:r>
            <a:r>
              <a:rPr lang="en-US" altLang="zh-CN" sz="2800" dirty="0">
                <a:latin typeface="Times New Roman" panose="02020603050405020304" pitchFamily="18" charset="0"/>
              </a:rPr>
              <a:t>010</a:t>
            </a:r>
            <a:r>
              <a:rPr lang="zh-CN" altLang="en-US" sz="2800" dirty="0">
                <a:latin typeface="Times New Roman" panose="02020603050405020304" pitchFamily="18" charset="0"/>
              </a:rPr>
              <a:t>。出现了两次</a:t>
            </a:r>
            <a:r>
              <a:rPr lang="en-US" altLang="zh-CN" sz="2800" dirty="0">
                <a:latin typeface="Times New Roman" panose="02020603050405020304" pitchFamily="18" charset="0"/>
              </a:rPr>
              <a:t>010</a:t>
            </a:r>
            <a:r>
              <a:rPr lang="zh-CN" altLang="en-US" sz="2800" dirty="0">
                <a:latin typeface="Times New Roman" panose="02020603050405020304" pitchFamily="18" charset="0"/>
              </a:rPr>
              <a:t>。说明</a:t>
            </a:r>
            <a:r>
              <a:rPr lang="en-US" altLang="zh-CN" sz="2800" i="1" dirty="0">
                <a:latin typeface="Times New Roman" panose="02020603050405020304" pitchFamily="18" charset="0"/>
              </a:rPr>
              <a:t>k</a:t>
            </a:r>
            <a:r>
              <a:rPr lang="zh-CN" altLang="en-US" sz="2800" dirty="0">
                <a:latin typeface="Times New Roman" panose="02020603050405020304" pitchFamily="18" charset="0"/>
              </a:rPr>
              <a:t>＝</a:t>
            </a:r>
            <a:r>
              <a:rPr lang="en-US" altLang="zh-CN" sz="2800" dirty="0">
                <a:latin typeface="Times New Roman" panose="02020603050405020304" pitchFamily="18" charset="0"/>
              </a:rPr>
              <a:t>3</a:t>
            </a:r>
            <a:r>
              <a:rPr lang="zh-CN" altLang="en-US" sz="2800" dirty="0">
                <a:latin typeface="Times New Roman" panose="02020603050405020304" pitchFamily="18" charset="0"/>
              </a:rPr>
              <a:t>不能满足设计要求。再取</a:t>
            </a:r>
            <a:r>
              <a:rPr lang="en-US" altLang="zh-CN" sz="2800" i="1" dirty="0">
                <a:latin typeface="Times New Roman" panose="02020603050405020304" pitchFamily="18" charset="0"/>
              </a:rPr>
              <a:t>k</a:t>
            </a:r>
            <a:r>
              <a:rPr lang="zh-CN" altLang="en-US" sz="2800" dirty="0">
                <a:latin typeface="Times New Roman" panose="02020603050405020304" pitchFamily="18" charset="0"/>
              </a:rPr>
              <a:t>＝</a:t>
            </a:r>
            <a:r>
              <a:rPr lang="en-US" altLang="zh-CN" sz="2800" dirty="0">
                <a:latin typeface="Times New Roman" panose="02020603050405020304" pitchFamily="18" charset="0"/>
              </a:rPr>
              <a:t>4</a:t>
            </a:r>
            <a:r>
              <a:rPr lang="zh-CN" altLang="en-US" sz="2800" dirty="0">
                <a:latin typeface="Times New Roman" panose="02020603050405020304" pitchFamily="18" charset="0"/>
              </a:rPr>
              <a:t>。重新按</a:t>
            </a:r>
            <a:r>
              <a:rPr lang="en-US" altLang="zh-CN" sz="2800" dirty="0">
                <a:latin typeface="Times New Roman" panose="02020603050405020304" pitchFamily="18" charset="0"/>
              </a:rPr>
              <a:t>4</a:t>
            </a:r>
            <a:r>
              <a:rPr lang="zh-CN" altLang="en-US" sz="2800" dirty="0">
                <a:latin typeface="Times New Roman" panose="02020603050405020304" pitchFamily="18" charset="0"/>
              </a:rPr>
              <a:t>位一组信号，也取</a:t>
            </a:r>
            <a:r>
              <a:rPr lang="en-US" altLang="zh-CN" sz="2800" dirty="0">
                <a:latin typeface="Times New Roman" panose="02020603050405020304" pitchFamily="18" charset="0"/>
              </a:rPr>
              <a:t>5</a:t>
            </a:r>
            <a:r>
              <a:rPr lang="zh-CN" altLang="en-US" sz="2800" dirty="0">
                <a:latin typeface="Times New Roman" panose="02020603050405020304" pitchFamily="18" charset="0"/>
              </a:rPr>
              <a:t>组：</a:t>
            </a:r>
            <a:r>
              <a:rPr lang="en-US" altLang="zh-CN" sz="2800" dirty="0">
                <a:latin typeface="Times New Roman" panose="02020603050405020304" pitchFamily="18" charset="0"/>
              </a:rPr>
              <a:t>1010</a:t>
            </a:r>
            <a:r>
              <a:rPr lang="zh-CN" altLang="en-US" sz="2800" dirty="0">
                <a:latin typeface="Times New Roman" panose="02020603050405020304" pitchFamily="18" charset="0"/>
              </a:rPr>
              <a:t>、</a:t>
            </a:r>
            <a:r>
              <a:rPr lang="en-US" altLang="zh-CN" sz="2800" dirty="0">
                <a:latin typeface="Times New Roman" panose="02020603050405020304" pitchFamily="18" charset="0"/>
              </a:rPr>
              <a:t>0100</a:t>
            </a:r>
            <a:r>
              <a:rPr lang="zh-CN" altLang="en-US" sz="2800" dirty="0">
                <a:latin typeface="Times New Roman" panose="02020603050405020304" pitchFamily="18" charset="0"/>
              </a:rPr>
              <a:t>、</a:t>
            </a:r>
            <a:r>
              <a:rPr lang="en-US" altLang="zh-CN" sz="2800" dirty="0">
                <a:latin typeface="Times New Roman" panose="02020603050405020304" pitchFamily="18" charset="0"/>
              </a:rPr>
              <a:t>1001</a:t>
            </a:r>
            <a:r>
              <a:rPr lang="zh-CN" altLang="en-US" sz="2800" dirty="0">
                <a:latin typeface="Times New Roman" panose="02020603050405020304" pitchFamily="18" charset="0"/>
              </a:rPr>
              <a:t>、</a:t>
            </a:r>
            <a:r>
              <a:rPr lang="en-US" altLang="zh-CN" sz="2800" dirty="0">
                <a:latin typeface="Times New Roman" panose="02020603050405020304" pitchFamily="18" charset="0"/>
              </a:rPr>
              <a:t>0010</a:t>
            </a:r>
            <a:r>
              <a:rPr lang="zh-CN" altLang="en-US" sz="2800" dirty="0">
                <a:latin typeface="Times New Roman" panose="02020603050405020304" pitchFamily="18" charset="0"/>
              </a:rPr>
              <a:t>、</a:t>
            </a:r>
            <a:r>
              <a:rPr lang="en-US" altLang="zh-CN" sz="2800" dirty="0">
                <a:latin typeface="Times New Roman" panose="02020603050405020304" pitchFamily="18" charset="0"/>
              </a:rPr>
              <a:t>0101</a:t>
            </a:r>
            <a:r>
              <a:rPr lang="zh-CN" altLang="en-US" sz="2800" dirty="0">
                <a:latin typeface="Times New Roman" panose="02020603050405020304" pitchFamily="18" charset="0"/>
              </a:rPr>
              <a:t>。没有重复，确定</a:t>
            </a:r>
            <a:r>
              <a:rPr lang="en-US" altLang="zh-CN" sz="2800" i="1" dirty="0">
                <a:latin typeface="Times New Roman" panose="02020603050405020304" pitchFamily="18" charset="0"/>
              </a:rPr>
              <a:t>k</a:t>
            </a:r>
            <a:r>
              <a:rPr lang="zh-CN" altLang="en-US" sz="2800" dirty="0">
                <a:latin typeface="Times New Roman" panose="02020603050405020304" pitchFamily="18" charset="0"/>
              </a:rPr>
              <a:t>＝</a:t>
            </a:r>
            <a:r>
              <a:rPr lang="en-US" altLang="zh-CN" sz="2800" dirty="0">
                <a:latin typeface="Times New Roman" panose="02020603050405020304" pitchFamily="18" charset="0"/>
              </a:rPr>
              <a:t>4</a:t>
            </a:r>
            <a:r>
              <a:rPr lang="zh-CN" altLang="en-US" sz="2800" dirty="0">
                <a:latin typeface="Times New Roman" panose="02020603050405020304" pitchFamily="18" charset="0"/>
              </a:rPr>
              <a:t>。</a:t>
            </a:r>
          </a:p>
          <a:p>
            <a:endParaRPr lang="zh-CN" altLang="en-US" sz="2800" dirty="0">
              <a:latin typeface="Times New Roman" panose="02020603050405020304" pitchFamily="18" charset="0"/>
            </a:endParaRPr>
          </a:p>
        </p:txBody>
      </p:sp>
      <p:sp>
        <p:nvSpPr>
          <p:cNvPr id="109572" name="Rectangle 4" descr="羊皮纸"/>
          <p:cNvSpPr/>
          <p:nvPr/>
        </p:nvSpPr>
        <p:spPr>
          <a:xfrm>
            <a:off x="2586038" y="2349500"/>
            <a:ext cx="209550" cy="228600"/>
          </a:xfrm>
          <a:prstGeom prst="rect">
            <a:avLst/>
          </a:prstGeom>
          <a:noFill/>
          <a:ln w="38100">
            <a:noFill/>
          </a:ln>
        </p:spPr>
        <p:txBody>
          <a:bodyPr wrap="none" lIns="90000" tIns="46800" rIns="90000" bIns="46800" anchor="ctr" anchorCtr="0">
            <a:spAutoFit/>
          </a:bodyPr>
          <a:lstStyle/>
          <a:p>
            <a:pPr algn="ctr"/>
            <a:r>
              <a:rPr lang="en-US" altLang="zh-CN" sz="9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endParaRPr>
          </a:p>
        </p:txBody>
      </p:sp>
      <p:sp>
        <p:nvSpPr>
          <p:cNvPr id="109573" name="Line 5"/>
          <p:cNvSpPr/>
          <p:nvPr/>
        </p:nvSpPr>
        <p:spPr>
          <a:xfrm>
            <a:off x="3233738" y="2479675"/>
            <a:ext cx="0" cy="0"/>
          </a:xfrm>
          <a:prstGeom prst="line">
            <a:avLst/>
          </a:prstGeom>
          <a:ln w="12700" cap="rnd" cmpd="sng">
            <a:solidFill>
              <a:srgbClr val="000000"/>
            </a:solidFill>
            <a:prstDash val="solid"/>
            <a:headEnd type="none" w="med" len="med"/>
            <a:tailEnd type="none" w="sm" len="lg"/>
          </a:ln>
        </p:spPr>
      </p:sp>
    </p:spTree>
  </p:cSld>
  <p:clrMapOvr>
    <a:masterClrMapping/>
  </p:clrMapOvr>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2562" name="Group 2"/>
          <p:cNvGraphicFramePr>
            <a:graphicFrameLocks noGrp="1"/>
          </p:cNvGraphicFramePr>
          <p:nvPr/>
        </p:nvGraphicFramePr>
        <p:xfrm>
          <a:off x="387350" y="1868488"/>
          <a:ext cx="3887788" cy="2565400"/>
        </p:xfrm>
        <a:graphic>
          <a:graphicData uri="http://schemas.openxmlformats.org/drawingml/2006/table">
            <a:tbl>
              <a:tblPr/>
              <a:tblGrid>
                <a:gridCol w="2566988">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1099766">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6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0000" marR="90000" marT="46814" marB="46814" anchor="ctr" horzOverflow="overflow">
                    <a:lnL cap="flat">
                      <a:noFill/>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18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14" marB="46814" anchor="ctr"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extLst>
                  <a:ext uri="{0D108BD9-81ED-4DB2-BD59-A6C34878D82A}">
                    <a16:rowId xmlns:a16="http://schemas.microsoft.com/office/drawing/2014/main" val="10000"/>
                  </a:ext>
                </a:extLst>
              </a:tr>
              <a:tr h="1465634">
                <a:tc>
                  <a:txBody>
                    <a:bodyPr/>
                    <a:lstStyle/>
                    <a:p>
                      <a:pPr marL="0" marR="0" lvl="0" indent="5715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1     0     1     0</a:t>
                      </a:r>
                      <a:endPar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5715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0     1     0     0</a:t>
                      </a:r>
                      <a:endPar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5715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1     0     0     1</a:t>
                      </a:r>
                      <a:endPar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5715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0     0     1     0</a:t>
                      </a:r>
                      <a:endPar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5715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0     1     0     1</a:t>
                      </a:r>
                      <a:endParaRPr kumimoji="1" lang="en-US" altLang="zh-CN" sz="6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14" marB="46814" anchor="ctr" horzOverflow="overflow">
                    <a:lnL cap="flat">
                      <a:noFill/>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14" marB="46814" anchor="ctr"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2290" name="Object 15"/>
          <p:cNvGraphicFramePr>
            <a:graphicFrameLocks noChangeAspect="1"/>
          </p:cNvGraphicFramePr>
          <p:nvPr/>
        </p:nvGraphicFramePr>
        <p:xfrm>
          <a:off x="554038" y="2106613"/>
          <a:ext cx="527050" cy="638175"/>
        </p:xfrm>
        <a:graphic>
          <a:graphicData uri="http://schemas.openxmlformats.org/presentationml/2006/ole">
            <mc:AlternateContent xmlns:mc="http://schemas.openxmlformats.org/markup-compatibility/2006">
              <mc:Choice xmlns:v="urn:schemas-microsoft-com:vml" Requires="v">
                <p:oleObj r:id="rId2" imgW="177800" imgH="215900" progId="Equation.3">
                  <p:embed/>
                </p:oleObj>
              </mc:Choice>
              <mc:Fallback>
                <p:oleObj r:id="rId2" imgW="177800" imgH="215900" progId="Equation.3">
                  <p:embed/>
                  <p:pic>
                    <p:nvPicPr>
                      <p:cNvPr id="0" name="图片 3113"/>
                      <p:cNvPicPr/>
                      <p:nvPr/>
                    </p:nvPicPr>
                    <p:blipFill>
                      <a:blip r:embed="rId3"/>
                      <a:stretch>
                        <a:fillRect/>
                      </a:stretch>
                    </p:blipFill>
                    <p:spPr>
                      <a:xfrm>
                        <a:off x="554038" y="2106613"/>
                        <a:ext cx="527050" cy="638175"/>
                      </a:xfrm>
                      <a:prstGeom prst="rect">
                        <a:avLst/>
                      </a:prstGeom>
                      <a:noFill/>
                      <a:ln w="38100">
                        <a:noFill/>
                        <a:miter/>
                      </a:ln>
                    </p:spPr>
                  </p:pic>
                </p:oleObj>
              </mc:Fallback>
            </mc:AlternateContent>
          </a:graphicData>
        </a:graphic>
      </p:graphicFrame>
      <p:graphicFrame>
        <p:nvGraphicFramePr>
          <p:cNvPr id="12291" name="Object 16"/>
          <p:cNvGraphicFramePr>
            <a:graphicFrameLocks noChangeAspect="1"/>
          </p:cNvGraphicFramePr>
          <p:nvPr/>
        </p:nvGraphicFramePr>
        <p:xfrm>
          <a:off x="1131888" y="2109788"/>
          <a:ext cx="527050" cy="638175"/>
        </p:xfrm>
        <a:graphic>
          <a:graphicData uri="http://schemas.openxmlformats.org/presentationml/2006/ole">
            <mc:AlternateContent xmlns:mc="http://schemas.openxmlformats.org/markup-compatibility/2006">
              <mc:Choice xmlns:v="urn:schemas-microsoft-com:vml" Requires="v">
                <p:oleObj r:id="rId4" imgW="177800" imgH="215900" progId="Equation.3">
                  <p:embed/>
                </p:oleObj>
              </mc:Choice>
              <mc:Fallback>
                <p:oleObj r:id="rId4" imgW="177800" imgH="215900" progId="Equation.3">
                  <p:embed/>
                  <p:pic>
                    <p:nvPicPr>
                      <p:cNvPr id="0" name="图片 3114"/>
                      <p:cNvPicPr/>
                      <p:nvPr/>
                    </p:nvPicPr>
                    <p:blipFill>
                      <a:blip r:embed="rId5"/>
                      <a:stretch>
                        <a:fillRect/>
                      </a:stretch>
                    </p:blipFill>
                    <p:spPr>
                      <a:xfrm>
                        <a:off x="1131888" y="2109788"/>
                        <a:ext cx="527050" cy="638175"/>
                      </a:xfrm>
                      <a:prstGeom prst="rect">
                        <a:avLst/>
                      </a:prstGeom>
                      <a:noFill/>
                      <a:ln w="38100">
                        <a:noFill/>
                        <a:miter/>
                      </a:ln>
                    </p:spPr>
                  </p:pic>
                </p:oleObj>
              </mc:Fallback>
            </mc:AlternateContent>
          </a:graphicData>
        </a:graphic>
      </p:graphicFrame>
      <p:graphicFrame>
        <p:nvGraphicFramePr>
          <p:cNvPr id="12292" name="Object 17"/>
          <p:cNvGraphicFramePr>
            <a:graphicFrameLocks noChangeAspect="1"/>
          </p:cNvGraphicFramePr>
          <p:nvPr/>
        </p:nvGraphicFramePr>
        <p:xfrm>
          <a:off x="1708150" y="2095500"/>
          <a:ext cx="527050" cy="638175"/>
        </p:xfrm>
        <a:graphic>
          <a:graphicData uri="http://schemas.openxmlformats.org/presentationml/2006/ole">
            <mc:AlternateContent xmlns:mc="http://schemas.openxmlformats.org/markup-compatibility/2006">
              <mc:Choice xmlns:v="urn:schemas-microsoft-com:vml" Requires="v">
                <p:oleObj r:id="rId6" imgW="177800" imgH="215900" progId="Equation.3">
                  <p:embed/>
                </p:oleObj>
              </mc:Choice>
              <mc:Fallback>
                <p:oleObj r:id="rId6" imgW="177800" imgH="215900" progId="Equation.3">
                  <p:embed/>
                  <p:pic>
                    <p:nvPicPr>
                      <p:cNvPr id="0" name="图片 3116"/>
                      <p:cNvPicPr/>
                      <p:nvPr/>
                    </p:nvPicPr>
                    <p:blipFill>
                      <a:blip r:embed="rId7"/>
                      <a:stretch>
                        <a:fillRect/>
                      </a:stretch>
                    </p:blipFill>
                    <p:spPr>
                      <a:xfrm>
                        <a:off x="1708150" y="2095500"/>
                        <a:ext cx="527050" cy="638175"/>
                      </a:xfrm>
                      <a:prstGeom prst="rect">
                        <a:avLst/>
                      </a:prstGeom>
                      <a:noFill/>
                      <a:ln w="38100">
                        <a:noFill/>
                        <a:miter/>
                      </a:ln>
                    </p:spPr>
                  </p:pic>
                </p:oleObj>
              </mc:Fallback>
            </mc:AlternateContent>
          </a:graphicData>
        </a:graphic>
      </p:graphicFrame>
      <p:graphicFrame>
        <p:nvGraphicFramePr>
          <p:cNvPr id="12293" name="Object 18"/>
          <p:cNvGraphicFramePr>
            <a:graphicFrameLocks noChangeAspect="1"/>
          </p:cNvGraphicFramePr>
          <p:nvPr/>
        </p:nvGraphicFramePr>
        <p:xfrm>
          <a:off x="2341563" y="2079625"/>
          <a:ext cx="527050" cy="638175"/>
        </p:xfrm>
        <a:graphic>
          <a:graphicData uri="http://schemas.openxmlformats.org/presentationml/2006/ole">
            <mc:AlternateContent xmlns:mc="http://schemas.openxmlformats.org/markup-compatibility/2006">
              <mc:Choice xmlns:v="urn:schemas-microsoft-com:vml" Requires="v">
                <p:oleObj r:id="rId8" imgW="177800" imgH="215900" progId="Equation.3">
                  <p:embed/>
                </p:oleObj>
              </mc:Choice>
              <mc:Fallback>
                <p:oleObj r:id="rId8" imgW="177800" imgH="215900" progId="Equation.3">
                  <p:embed/>
                  <p:pic>
                    <p:nvPicPr>
                      <p:cNvPr id="0" name="图片 3117"/>
                      <p:cNvPicPr/>
                      <p:nvPr/>
                    </p:nvPicPr>
                    <p:blipFill>
                      <a:blip r:embed="rId9"/>
                      <a:stretch>
                        <a:fillRect/>
                      </a:stretch>
                    </p:blipFill>
                    <p:spPr>
                      <a:xfrm>
                        <a:off x="2341563" y="2079625"/>
                        <a:ext cx="527050" cy="638175"/>
                      </a:xfrm>
                      <a:prstGeom prst="rect">
                        <a:avLst/>
                      </a:prstGeom>
                      <a:noFill/>
                      <a:ln w="38100">
                        <a:noFill/>
                        <a:miter/>
                      </a:ln>
                    </p:spPr>
                  </p:pic>
                </p:oleObj>
              </mc:Fallback>
            </mc:AlternateContent>
          </a:graphicData>
        </a:graphic>
      </p:graphicFrame>
      <p:sp>
        <p:nvSpPr>
          <p:cNvPr id="12304" name="Rectangle 19" descr="羊皮纸"/>
          <p:cNvSpPr/>
          <p:nvPr/>
        </p:nvSpPr>
        <p:spPr>
          <a:xfrm>
            <a:off x="200025" y="777875"/>
            <a:ext cx="4524375" cy="641350"/>
          </a:xfrm>
          <a:prstGeom prst="rect">
            <a:avLst/>
          </a:prstGeom>
          <a:noFill/>
          <a:ln w="38100">
            <a:noFill/>
          </a:ln>
        </p:spPr>
        <p:txBody>
          <a:bodyPr wrap="none" lIns="90000" tIns="46800" rIns="90000" bIns="46800">
            <a:spAutoFit/>
          </a:bodyPr>
          <a:lstStyle/>
          <a:p>
            <a:r>
              <a:rPr lang="zh-CN" altLang="en-US" sz="3600" dirty="0">
                <a:latin typeface="Times New Roman" panose="02020603050405020304" pitchFamily="18" charset="0"/>
              </a:rPr>
              <a:t>（</a:t>
            </a:r>
            <a:r>
              <a:rPr lang="en-US" altLang="zh-CN" sz="3600" dirty="0">
                <a:latin typeface="Times New Roman" panose="02020603050405020304" pitchFamily="18" charset="0"/>
              </a:rPr>
              <a:t>3</a:t>
            </a:r>
            <a:r>
              <a:rPr lang="zh-CN" altLang="en-US" sz="3600" dirty="0">
                <a:latin typeface="Times New Roman" panose="02020603050405020304" pitchFamily="18" charset="0"/>
              </a:rPr>
              <a:t>）列状态转移表。</a:t>
            </a:r>
          </a:p>
        </p:txBody>
      </p:sp>
      <p:sp>
        <p:nvSpPr>
          <p:cNvPr id="12305" name="Rectangle 20" descr="羊皮纸"/>
          <p:cNvSpPr/>
          <p:nvPr/>
        </p:nvSpPr>
        <p:spPr>
          <a:xfrm>
            <a:off x="4629150" y="833438"/>
            <a:ext cx="4068763" cy="579437"/>
          </a:xfrm>
          <a:prstGeom prst="rect">
            <a:avLst/>
          </a:prstGeom>
          <a:noFill/>
          <a:ln w="38100">
            <a:noFill/>
          </a:ln>
        </p:spPr>
        <p:txBody>
          <a:bodyPr lIns="90000" tIns="46800" rIns="90000" bIns="46800" anchor="ctr" anchorCtr="0">
            <a:spAutoFit/>
          </a:bodyPr>
          <a:lstStyle/>
          <a:p>
            <a:r>
              <a:rPr lang="zh-CN" altLang="en-US" sz="3200" dirty="0">
                <a:solidFill>
                  <a:srgbClr val="000000"/>
                </a:solidFill>
                <a:latin typeface="Times New Roman" panose="02020603050405020304" pitchFamily="18" charset="0"/>
              </a:rPr>
              <a:t>（</a:t>
            </a:r>
            <a:r>
              <a:rPr lang="en-US" altLang="zh-CN" sz="3200" dirty="0">
                <a:solidFill>
                  <a:srgbClr val="000000"/>
                </a:solidFill>
                <a:latin typeface="Times New Roman" panose="02020603050405020304" pitchFamily="18" charset="0"/>
              </a:rPr>
              <a:t>4</a:t>
            </a:r>
            <a:r>
              <a:rPr lang="zh-CN" altLang="en-US" sz="3200" dirty="0">
                <a:solidFill>
                  <a:srgbClr val="000000"/>
                </a:solidFill>
                <a:latin typeface="Times New Roman" panose="02020603050405020304" pitchFamily="18" charset="0"/>
              </a:rPr>
              <a:t>）作</a:t>
            </a:r>
            <a:r>
              <a:rPr lang="en-US" altLang="zh-CN" sz="3200" i="1" dirty="0">
                <a:solidFill>
                  <a:srgbClr val="000000"/>
                </a:solidFill>
                <a:latin typeface="Times New Roman" panose="02020603050405020304" pitchFamily="18" charset="0"/>
              </a:rPr>
              <a:t>D</a:t>
            </a:r>
            <a:r>
              <a:rPr lang="en-US" altLang="zh-CN" sz="3200" baseline="-30000" dirty="0">
                <a:solidFill>
                  <a:srgbClr val="000000"/>
                </a:solidFill>
                <a:latin typeface="Times New Roman" panose="02020603050405020304" pitchFamily="18" charset="0"/>
              </a:rPr>
              <a:t>0</a:t>
            </a:r>
            <a:r>
              <a:rPr lang="zh-CN" altLang="en-US" sz="3200" dirty="0">
                <a:solidFill>
                  <a:srgbClr val="000000"/>
                </a:solidFill>
                <a:latin typeface="Times New Roman" panose="02020603050405020304" pitchFamily="18" charset="0"/>
              </a:rPr>
              <a:t>的卡诺图</a:t>
            </a:r>
            <a:endParaRPr lang="zh-CN" altLang="en-US" sz="6000" dirty="0">
              <a:latin typeface="Times New Roman" panose="02020603050405020304" pitchFamily="18" charset="0"/>
            </a:endParaRPr>
          </a:p>
        </p:txBody>
      </p:sp>
      <p:graphicFrame>
        <p:nvGraphicFramePr>
          <p:cNvPr id="12294" name="Object 21"/>
          <p:cNvGraphicFramePr>
            <a:graphicFrameLocks noChangeAspect="1"/>
          </p:cNvGraphicFramePr>
          <p:nvPr/>
        </p:nvGraphicFramePr>
        <p:xfrm>
          <a:off x="5046663" y="5283200"/>
          <a:ext cx="1954212" cy="650875"/>
        </p:xfrm>
        <a:graphic>
          <a:graphicData uri="http://schemas.openxmlformats.org/presentationml/2006/ole">
            <mc:AlternateContent xmlns:mc="http://schemas.openxmlformats.org/markup-compatibility/2006">
              <mc:Choice xmlns:v="urn:schemas-microsoft-com:vml" Requires="v">
                <p:oleObj r:id="rId10" imgW="685800" imgH="228600" progId="Equation.3">
                  <p:embed/>
                </p:oleObj>
              </mc:Choice>
              <mc:Fallback>
                <p:oleObj r:id="rId10" imgW="685800" imgH="228600" progId="Equation.3">
                  <p:embed/>
                  <p:pic>
                    <p:nvPicPr>
                      <p:cNvPr id="0" name="图片 3119"/>
                      <p:cNvPicPr/>
                      <p:nvPr/>
                    </p:nvPicPr>
                    <p:blipFill>
                      <a:blip r:embed="rId11"/>
                      <a:stretch>
                        <a:fillRect/>
                      </a:stretch>
                    </p:blipFill>
                    <p:spPr>
                      <a:xfrm>
                        <a:off x="5046663" y="5283200"/>
                        <a:ext cx="1954212" cy="650875"/>
                      </a:xfrm>
                      <a:prstGeom prst="rect">
                        <a:avLst/>
                      </a:prstGeom>
                      <a:noFill/>
                      <a:ln w="38100">
                        <a:noFill/>
                        <a:miter/>
                      </a:ln>
                    </p:spPr>
                  </p:pic>
                </p:oleObj>
              </mc:Fallback>
            </mc:AlternateContent>
          </a:graphicData>
        </a:graphic>
      </p:graphicFrame>
      <p:sp>
        <p:nvSpPr>
          <p:cNvPr id="12306" name="Rectangle 22" descr="羊皮纸"/>
          <p:cNvSpPr/>
          <p:nvPr/>
        </p:nvSpPr>
        <p:spPr>
          <a:xfrm>
            <a:off x="4573588" y="4568825"/>
            <a:ext cx="3225800" cy="641350"/>
          </a:xfrm>
          <a:prstGeom prst="rect">
            <a:avLst/>
          </a:prstGeom>
          <a:noFill/>
          <a:ln w="38100">
            <a:noFill/>
          </a:ln>
        </p:spPr>
        <p:txBody>
          <a:bodyPr wrap="none" lIns="90000" tIns="46800" rIns="90000" bIns="46800">
            <a:spAutoFit/>
          </a:bodyPr>
          <a:lstStyle/>
          <a:p>
            <a:r>
              <a:rPr lang="en-US" altLang="zh-CN" sz="3600" i="1" dirty="0">
                <a:solidFill>
                  <a:srgbClr val="000000"/>
                </a:solidFill>
                <a:latin typeface="Times New Roman" panose="02020603050405020304" pitchFamily="18" charset="0"/>
              </a:rPr>
              <a:t>D</a:t>
            </a:r>
            <a:r>
              <a:rPr lang="en-US" altLang="zh-CN" sz="3600" baseline="-25000" dirty="0">
                <a:solidFill>
                  <a:srgbClr val="000000"/>
                </a:solidFill>
                <a:latin typeface="Times New Roman" panose="02020603050405020304" pitchFamily="18" charset="0"/>
              </a:rPr>
              <a:t>0</a:t>
            </a:r>
            <a:r>
              <a:rPr lang="zh-CN" altLang="en-US" sz="3600" dirty="0">
                <a:solidFill>
                  <a:srgbClr val="000000"/>
                </a:solidFill>
                <a:latin typeface="Times New Roman" panose="02020603050405020304" pitchFamily="18" charset="0"/>
              </a:rPr>
              <a:t>的表达式：</a:t>
            </a:r>
          </a:p>
        </p:txBody>
      </p:sp>
      <p:graphicFrame>
        <p:nvGraphicFramePr>
          <p:cNvPr id="12307" name="表格 12306"/>
          <p:cNvGraphicFramePr/>
          <p:nvPr/>
        </p:nvGraphicFramePr>
        <p:xfrm>
          <a:off x="5513388" y="1903413"/>
          <a:ext cx="2573338" cy="1992313"/>
        </p:xfrm>
        <a:graphic>
          <a:graphicData uri="http://schemas.openxmlformats.org/drawingml/2006/table">
            <a:tbl>
              <a:tblPr/>
              <a:tblGrid>
                <a:gridCol w="514350">
                  <a:extLst>
                    <a:ext uri="{9D8B030D-6E8A-4147-A177-3AD203B41FA5}">
                      <a16:colId xmlns:a16="http://schemas.microsoft.com/office/drawing/2014/main" val="20000"/>
                    </a:ext>
                  </a:extLst>
                </a:gridCol>
                <a:gridCol w="515938">
                  <a:extLst>
                    <a:ext uri="{9D8B030D-6E8A-4147-A177-3AD203B41FA5}">
                      <a16:colId xmlns:a16="http://schemas.microsoft.com/office/drawing/2014/main" val="20001"/>
                    </a:ext>
                  </a:extLst>
                </a:gridCol>
                <a:gridCol w="512762">
                  <a:extLst>
                    <a:ext uri="{9D8B030D-6E8A-4147-A177-3AD203B41FA5}">
                      <a16:colId xmlns:a16="http://schemas.microsoft.com/office/drawing/2014/main" val="20002"/>
                    </a:ext>
                  </a:extLst>
                </a:gridCol>
                <a:gridCol w="515938">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2344" name="Text Box 72" descr="羊皮纸"/>
          <p:cNvSpPr txBox="1"/>
          <p:nvPr/>
        </p:nvSpPr>
        <p:spPr>
          <a:xfrm>
            <a:off x="5514975" y="1646238"/>
            <a:ext cx="714375" cy="396875"/>
          </a:xfrm>
          <a:prstGeom prst="rect">
            <a:avLst/>
          </a:prstGeom>
          <a:noFill/>
          <a:ln w="38100">
            <a:noFill/>
          </a:ln>
        </p:spPr>
        <p:txBody>
          <a:bodyPr wrap="none" lIns="90000" tIns="46800" rIns="90000" bIns="46800">
            <a:spAutoFit/>
          </a:bodyPr>
          <a:lstStyle/>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p>
        </p:txBody>
      </p:sp>
      <p:sp>
        <p:nvSpPr>
          <p:cNvPr id="12345" name="Text Box 73" descr="羊皮纸"/>
          <p:cNvSpPr txBox="1"/>
          <p:nvPr/>
        </p:nvSpPr>
        <p:spPr>
          <a:xfrm>
            <a:off x="5251450" y="2017713"/>
            <a:ext cx="714375" cy="396875"/>
          </a:xfrm>
          <a:prstGeom prst="rect">
            <a:avLst/>
          </a:prstGeom>
          <a:noFill/>
          <a:ln w="38100">
            <a:noFill/>
          </a:ln>
        </p:spPr>
        <p:txBody>
          <a:bodyPr wrap="none" lIns="90000" tIns="46800" rIns="90000" bIns="46800">
            <a:spAutoFit/>
          </a:bodyPr>
          <a:lstStyle/>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0</a:t>
            </a:r>
          </a:p>
        </p:txBody>
      </p:sp>
      <p:sp>
        <p:nvSpPr>
          <p:cNvPr id="12346" name="AutoShape 74"/>
          <p:cNvSpPr/>
          <p:nvPr/>
        </p:nvSpPr>
        <p:spPr>
          <a:xfrm rot="-5400000">
            <a:off x="6383338" y="3224213"/>
            <a:ext cx="398462" cy="969962"/>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2347" name="AutoShape 75"/>
          <p:cNvSpPr/>
          <p:nvPr/>
        </p:nvSpPr>
        <p:spPr>
          <a:xfrm rot="5400000">
            <a:off x="6326188" y="1957388"/>
            <a:ext cx="398462" cy="982662"/>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Tree>
  </p:cSld>
  <p:clrMapOvr>
    <a:masterClrMapping/>
  </p:clrMapOvr>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descr="羊皮纸"/>
          <p:cNvSpPr/>
          <p:nvPr/>
        </p:nvSpPr>
        <p:spPr>
          <a:xfrm>
            <a:off x="0" y="569913"/>
            <a:ext cx="9144000" cy="2227262"/>
          </a:xfrm>
          <a:prstGeom prst="rect">
            <a:avLst/>
          </a:prstGeom>
          <a:noFill/>
          <a:ln w="38100">
            <a:noFill/>
          </a:ln>
        </p:spPr>
        <p:txBody>
          <a:bodyPr lIns="90000" tIns="46800" rIns="90000" bIns="46800" anchor="ctr" anchorCtr="0">
            <a:spAutoFit/>
          </a:bodyPr>
          <a:lstStyle/>
          <a:p>
            <a:r>
              <a:rPr lang="zh-CN" altLang="en-US" sz="3200" dirty="0">
                <a:solidFill>
                  <a:srgbClr val="000000"/>
                </a:solidFill>
                <a:latin typeface="Times New Roman" panose="02020603050405020304" pitchFamily="18" charset="0"/>
                <a:cs typeface="Times New Roman" panose="02020603050405020304" pitchFamily="18" charset="0"/>
              </a:rPr>
              <a:t>（</a:t>
            </a:r>
            <a:r>
              <a:rPr lang="en-US" altLang="zh-CN" sz="3200" dirty="0">
                <a:solidFill>
                  <a:srgbClr val="000000"/>
                </a:solidFill>
                <a:latin typeface="Times New Roman" panose="02020603050405020304" pitchFamily="18" charset="0"/>
              </a:rPr>
              <a:t>5</a:t>
            </a:r>
            <a:r>
              <a:rPr lang="zh-CN" altLang="en-US" sz="3200" dirty="0">
                <a:solidFill>
                  <a:srgbClr val="000000"/>
                </a:solidFill>
                <a:latin typeface="Times New Roman" panose="02020603050405020304" pitchFamily="18" charset="0"/>
                <a:cs typeface="Times New Roman" panose="02020603050405020304" pitchFamily="18" charset="0"/>
              </a:rPr>
              <a:t>）检查自启动。卡诺图中，没有被圈入的格的</a:t>
            </a:r>
            <a:r>
              <a:rPr lang="en-US" altLang="zh-CN" sz="3200" i="1" dirty="0">
                <a:solidFill>
                  <a:srgbClr val="000000"/>
                </a:solidFill>
                <a:latin typeface="Times New Roman" panose="02020603050405020304" pitchFamily="18" charset="0"/>
              </a:rPr>
              <a:t>D</a:t>
            </a:r>
            <a:r>
              <a:rPr lang="en-US" altLang="zh-CN" sz="3200" baseline="-30000" dirty="0">
                <a:solidFill>
                  <a:srgbClr val="000000"/>
                </a:solidFill>
                <a:latin typeface="Times New Roman" panose="02020603050405020304" pitchFamily="18" charset="0"/>
              </a:rPr>
              <a:t>0</a:t>
            </a:r>
            <a:r>
              <a:rPr lang="zh-CN" altLang="en-US" sz="3200" dirty="0">
                <a:solidFill>
                  <a:srgbClr val="000000"/>
                </a:solidFill>
                <a:latin typeface="Times New Roman" panose="02020603050405020304" pitchFamily="18" charset="0"/>
                <a:cs typeface="Times New Roman" panose="02020603050405020304" pitchFamily="18" charset="0"/>
              </a:rPr>
              <a:t>值都是</a:t>
            </a:r>
            <a:r>
              <a:rPr lang="en-US" altLang="zh-CN" sz="3200" dirty="0">
                <a:solidFill>
                  <a:srgbClr val="000000"/>
                </a:solidFill>
                <a:latin typeface="Times New Roman" panose="02020603050405020304" pitchFamily="18" charset="0"/>
              </a:rPr>
              <a:t>0</a:t>
            </a:r>
            <a:r>
              <a:rPr lang="zh-CN" altLang="en-US" sz="3200" dirty="0">
                <a:solidFill>
                  <a:srgbClr val="000000"/>
                </a:solidFill>
                <a:latin typeface="Times New Roman" panose="02020603050405020304" pitchFamily="18" charset="0"/>
                <a:cs typeface="Times New Roman" panose="02020603050405020304" pitchFamily="18" charset="0"/>
              </a:rPr>
              <a:t>，从而可以确定未使用状态的次态。</a:t>
            </a:r>
            <a:r>
              <a:rPr lang="zh-CN" altLang="en-US" sz="3600" dirty="0">
                <a:latin typeface="Times New Roman" panose="02020603050405020304" pitchFamily="18" charset="0"/>
              </a:rPr>
              <a:t>确定所有状态的转移关系后，画出状态转移关系图。可以看出电路可以自启动。</a:t>
            </a:r>
          </a:p>
        </p:txBody>
      </p:sp>
      <p:sp>
        <p:nvSpPr>
          <p:cNvPr id="110595" name="Rectangle 3" descr="羊皮纸"/>
          <p:cNvSpPr/>
          <p:nvPr/>
        </p:nvSpPr>
        <p:spPr>
          <a:xfrm>
            <a:off x="0" y="3192463"/>
            <a:ext cx="9144000" cy="0"/>
          </a:xfrm>
          <a:prstGeom prst="rect">
            <a:avLst/>
          </a:prstGeom>
          <a:noFill/>
          <a:ln w="38100">
            <a:noFill/>
          </a:ln>
        </p:spPr>
        <p:txBody>
          <a:bodyPr wrap="none" lIns="90000" tIns="46800" rIns="90000" bIns="46800" anchor="ctr" anchorCtr="0">
            <a:spAutoFit/>
          </a:bodyPr>
          <a:lstStyle/>
          <a:p>
            <a:endParaRPr lang="zh-CN" altLang="en-US" sz="2800" dirty="0">
              <a:latin typeface="Times New Roman" panose="02020603050405020304" pitchFamily="18" charset="0"/>
            </a:endParaRPr>
          </a:p>
        </p:txBody>
      </p:sp>
      <p:sp>
        <p:nvSpPr>
          <p:cNvPr id="110596" name="Rectangle 4" descr="羊皮纸"/>
          <p:cNvSpPr/>
          <p:nvPr/>
        </p:nvSpPr>
        <p:spPr>
          <a:xfrm>
            <a:off x="0" y="3649663"/>
            <a:ext cx="9144000" cy="0"/>
          </a:xfrm>
          <a:prstGeom prst="rect">
            <a:avLst/>
          </a:prstGeom>
          <a:noFill/>
          <a:ln w="38100">
            <a:noFill/>
          </a:ln>
        </p:spPr>
        <p:txBody>
          <a:bodyPr wrap="none" lIns="90000" tIns="46800" rIns="90000" bIns="46800" anchor="ctr" anchorCtr="0">
            <a:spAutoFit/>
          </a:bodyPr>
          <a:lstStyle/>
          <a:p>
            <a:endParaRPr lang="zh-CN" altLang="en-US" sz="2800" dirty="0">
              <a:latin typeface="Times New Roman" panose="02020603050405020304" pitchFamily="18" charset="0"/>
            </a:endParaRPr>
          </a:p>
        </p:txBody>
      </p:sp>
      <p:grpSp>
        <p:nvGrpSpPr>
          <p:cNvPr id="110597" name="Group 5"/>
          <p:cNvGrpSpPr/>
          <p:nvPr/>
        </p:nvGrpSpPr>
        <p:grpSpPr>
          <a:xfrm>
            <a:off x="2643188" y="2984500"/>
            <a:ext cx="6291262" cy="3551238"/>
            <a:chOff x="3330" y="5718"/>
            <a:chExt cx="5601" cy="3315"/>
          </a:xfrm>
        </p:grpSpPr>
        <p:sp>
          <p:nvSpPr>
            <p:cNvPr id="110639" name="Oval 6"/>
            <p:cNvSpPr/>
            <p:nvPr/>
          </p:nvSpPr>
          <p:spPr>
            <a:xfrm>
              <a:off x="4860" y="6276"/>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6</a:t>
              </a:r>
              <a:endParaRPr lang="en-US" altLang="zh-CN" sz="6600" dirty="0">
                <a:latin typeface="Times New Roman" panose="02020603050405020304" pitchFamily="18" charset="0"/>
              </a:endParaRPr>
            </a:p>
          </p:txBody>
        </p:sp>
        <p:sp>
          <p:nvSpPr>
            <p:cNvPr id="110640" name="Oval 7"/>
            <p:cNvSpPr/>
            <p:nvPr/>
          </p:nvSpPr>
          <p:spPr>
            <a:xfrm>
              <a:off x="5895" y="6246"/>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13</a:t>
              </a:r>
              <a:endParaRPr lang="en-US" altLang="zh-CN" sz="6600" dirty="0">
                <a:latin typeface="Times New Roman" panose="02020603050405020304" pitchFamily="18" charset="0"/>
              </a:endParaRPr>
            </a:p>
          </p:txBody>
        </p:sp>
        <p:sp>
          <p:nvSpPr>
            <p:cNvPr id="110641" name="Oval 8"/>
            <p:cNvSpPr/>
            <p:nvPr/>
          </p:nvSpPr>
          <p:spPr>
            <a:xfrm>
              <a:off x="6930" y="6261"/>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10</a:t>
              </a:r>
              <a:endParaRPr lang="en-US" altLang="zh-CN" sz="6600" dirty="0">
                <a:latin typeface="Times New Roman" panose="02020603050405020304" pitchFamily="18" charset="0"/>
              </a:endParaRPr>
            </a:p>
          </p:txBody>
        </p:sp>
        <p:sp>
          <p:nvSpPr>
            <p:cNvPr id="110642" name="Line 9"/>
            <p:cNvSpPr/>
            <p:nvPr/>
          </p:nvSpPr>
          <p:spPr>
            <a:xfrm>
              <a:off x="5325" y="6507"/>
              <a:ext cx="540" cy="0"/>
            </a:xfrm>
            <a:prstGeom prst="line">
              <a:avLst/>
            </a:prstGeom>
            <a:ln w="9525" cap="flat" cmpd="sng">
              <a:solidFill>
                <a:srgbClr val="0000FF"/>
              </a:solidFill>
              <a:prstDash val="solid"/>
              <a:headEnd type="none" w="med" len="med"/>
              <a:tailEnd type="triangle" w="sm" len="lg"/>
            </a:ln>
          </p:spPr>
        </p:sp>
        <p:sp>
          <p:nvSpPr>
            <p:cNvPr id="110643" name="Oval 10"/>
            <p:cNvSpPr/>
            <p:nvPr/>
          </p:nvSpPr>
          <p:spPr>
            <a:xfrm>
              <a:off x="4065" y="6738"/>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11</a:t>
              </a:r>
              <a:endParaRPr lang="en-US" altLang="zh-CN" sz="6600" dirty="0">
                <a:latin typeface="Times New Roman" panose="02020603050405020304" pitchFamily="18" charset="0"/>
              </a:endParaRPr>
            </a:p>
          </p:txBody>
        </p:sp>
        <p:sp>
          <p:nvSpPr>
            <p:cNvPr id="110644" name="Oval 11"/>
            <p:cNvSpPr/>
            <p:nvPr/>
          </p:nvSpPr>
          <p:spPr>
            <a:xfrm>
              <a:off x="4035" y="5817"/>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3</a:t>
              </a:r>
              <a:endParaRPr lang="en-US" altLang="zh-CN" sz="6600" dirty="0">
                <a:latin typeface="Times New Roman" panose="02020603050405020304" pitchFamily="18" charset="0"/>
              </a:endParaRPr>
            </a:p>
          </p:txBody>
        </p:sp>
        <p:sp>
          <p:nvSpPr>
            <p:cNvPr id="110645" name="Oval 12"/>
            <p:cNvSpPr/>
            <p:nvPr/>
          </p:nvSpPr>
          <p:spPr>
            <a:xfrm>
              <a:off x="8250" y="7113"/>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2</a:t>
              </a:r>
              <a:endParaRPr lang="en-US" altLang="zh-CN" sz="6600" dirty="0">
                <a:latin typeface="Times New Roman" panose="02020603050405020304" pitchFamily="18" charset="0"/>
              </a:endParaRPr>
            </a:p>
          </p:txBody>
        </p:sp>
        <p:sp>
          <p:nvSpPr>
            <p:cNvPr id="110646" name="Oval 13"/>
            <p:cNvSpPr/>
            <p:nvPr/>
          </p:nvSpPr>
          <p:spPr>
            <a:xfrm>
              <a:off x="7200" y="7116"/>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5</a:t>
              </a:r>
              <a:endParaRPr lang="en-US" altLang="zh-CN" sz="6600" dirty="0">
                <a:latin typeface="Times New Roman" panose="02020603050405020304" pitchFamily="18" charset="0"/>
              </a:endParaRPr>
            </a:p>
          </p:txBody>
        </p:sp>
        <p:sp>
          <p:nvSpPr>
            <p:cNvPr id="110647" name="Oval 14"/>
            <p:cNvSpPr/>
            <p:nvPr/>
          </p:nvSpPr>
          <p:spPr>
            <a:xfrm>
              <a:off x="8460" y="6276"/>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9</a:t>
              </a:r>
              <a:endParaRPr lang="en-US" altLang="zh-CN" sz="6600" dirty="0">
                <a:latin typeface="Times New Roman" panose="02020603050405020304" pitchFamily="18" charset="0"/>
              </a:endParaRPr>
            </a:p>
          </p:txBody>
        </p:sp>
        <p:sp>
          <p:nvSpPr>
            <p:cNvPr id="110648" name="Oval 15"/>
            <p:cNvSpPr/>
            <p:nvPr/>
          </p:nvSpPr>
          <p:spPr>
            <a:xfrm>
              <a:off x="7680" y="5718"/>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4</a:t>
              </a:r>
              <a:endParaRPr lang="en-US" altLang="zh-CN" sz="6600" dirty="0">
                <a:latin typeface="Times New Roman" panose="02020603050405020304" pitchFamily="18" charset="0"/>
              </a:endParaRPr>
            </a:p>
          </p:txBody>
        </p:sp>
        <p:sp>
          <p:nvSpPr>
            <p:cNvPr id="110649" name="Line 16"/>
            <p:cNvSpPr/>
            <p:nvPr/>
          </p:nvSpPr>
          <p:spPr>
            <a:xfrm>
              <a:off x="6375" y="6507"/>
              <a:ext cx="540" cy="0"/>
            </a:xfrm>
            <a:prstGeom prst="line">
              <a:avLst/>
            </a:prstGeom>
            <a:ln w="9525" cap="flat" cmpd="sng">
              <a:solidFill>
                <a:srgbClr val="0000FF"/>
              </a:solidFill>
              <a:prstDash val="solid"/>
              <a:headEnd type="none" w="med" len="med"/>
              <a:tailEnd type="triangle" w="sm" len="lg"/>
            </a:ln>
          </p:spPr>
        </p:sp>
        <p:sp>
          <p:nvSpPr>
            <p:cNvPr id="110650" name="Line 17"/>
            <p:cNvSpPr/>
            <p:nvPr/>
          </p:nvSpPr>
          <p:spPr>
            <a:xfrm flipV="1">
              <a:off x="7365" y="6069"/>
              <a:ext cx="360" cy="312"/>
            </a:xfrm>
            <a:prstGeom prst="line">
              <a:avLst/>
            </a:prstGeom>
            <a:ln w="9525" cap="flat" cmpd="sng">
              <a:solidFill>
                <a:srgbClr val="0000FF"/>
              </a:solidFill>
              <a:prstDash val="solid"/>
              <a:headEnd type="none" w="med" len="med"/>
              <a:tailEnd type="triangle" w="sm" len="lg"/>
            </a:ln>
          </p:spPr>
        </p:sp>
        <p:sp>
          <p:nvSpPr>
            <p:cNvPr id="110651" name="Line 18"/>
            <p:cNvSpPr/>
            <p:nvPr/>
          </p:nvSpPr>
          <p:spPr>
            <a:xfrm>
              <a:off x="8130" y="6093"/>
              <a:ext cx="360" cy="312"/>
            </a:xfrm>
            <a:prstGeom prst="line">
              <a:avLst/>
            </a:prstGeom>
            <a:ln w="9525" cap="flat" cmpd="sng">
              <a:solidFill>
                <a:srgbClr val="0000FF"/>
              </a:solidFill>
              <a:prstDash val="solid"/>
              <a:headEnd type="none" w="med" len="med"/>
              <a:tailEnd type="triangle" w="sm" len="lg"/>
            </a:ln>
          </p:spPr>
        </p:sp>
        <p:sp>
          <p:nvSpPr>
            <p:cNvPr id="110652" name="Line 19"/>
            <p:cNvSpPr/>
            <p:nvPr/>
          </p:nvSpPr>
          <p:spPr>
            <a:xfrm rot="-4408530" flipV="1">
              <a:off x="7131" y="6753"/>
              <a:ext cx="360" cy="312"/>
            </a:xfrm>
            <a:prstGeom prst="line">
              <a:avLst/>
            </a:prstGeom>
            <a:ln w="9525" cap="flat" cmpd="sng">
              <a:solidFill>
                <a:srgbClr val="0000FF"/>
              </a:solidFill>
              <a:prstDash val="solid"/>
              <a:headEnd type="none" w="med" len="med"/>
              <a:tailEnd type="triangle" w="sm" len="lg"/>
            </a:ln>
          </p:spPr>
        </p:sp>
        <p:sp>
          <p:nvSpPr>
            <p:cNvPr id="110653" name="Line 20"/>
            <p:cNvSpPr/>
            <p:nvPr/>
          </p:nvSpPr>
          <p:spPr>
            <a:xfrm>
              <a:off x="7680" y="7332"/>
              <a:ext cx="540" cy="0"/>
            </a:xfrm>
            <a:prstGeom prst="line">
              <a:avLst/>
            </a:prstGeom>
            <a:ln w="9525" cap="flat" cmpd="sng">
              <a:solidFill>
                <a:srgbClr val="0000FF"/>
              </a:solidFill>
              <a:prstDash val="solid"/>
              <a:headEnd type="triangle" w="sm" len="lg"/>
              <a:tailEnd type="none" w="sm" len="lg"/>
            </a:ln>
          </p:spPr>
        </p:sp>
        <p:sp>
          <p:nvSpPr>
            <p:cNvPr id="110654" name="Line 21"/>
            <p:cNvSpPr/>
            <p:nvPr/>
          </p:nvSpPr>
          <p:spPr>
            <a:xfrm rot="4408530">
              <a:off x="8451" y="6792"/>
              <a:ext cx="360" cy="312"/>
            </a:xfrm>
            <a:prstGeom prst="line">
              <a:avLst/>
            </a:prstGeom>
            <a:ln w="9525" cap="flat" cmpd="sng">
              <a:solidFill>
                <a:srgbClr val="0000FF"/>
              </a:solidFill>
              <a:prstDash val="solid"/>
              <a:headEnd type="none" w="med" len="med"/>
              <a:tailEnd type="triangle" w="sm" len="lg"/>
            </a:ln>
          </p:spPr>
        </p:sp>
        <p:sp>
          <p:nvSpPr>
            <p:cNvPr id="110655" name="Line 22"/>
            <p:cNvSpPr/>
            <p:nvPr/>
          </p:nvSpPr>
          <p:spPr>
            <a:xfrm flipV="1">
              <a:off x="4530" y="6588"/>
              <a:ext cx="360" cy="312"/>
            </a:xfrm>
            <a:prstGeom prst="line">
              <a:avLst/>
            </a:prstGeom>
            <a:ln w="9525" cap="flat" cmpd="sng">
              <a:solidFill>
                <a:srgbClr val="0000FF"/>
              </a:solidFill>
              <a:prstDash val="solid"/>
              <a:headEnd type="none" w="med" len="med"/>
              <a:tailEnd type="triangle" w="sm" len="lg"/>
            </a:ln>
          </p:spPr>
        </p:sp>
        <p:sp>
          <p:nvSpPr>
            <p:cNvPr id="110656" name="Line 23"/>
            <p:cNvSpPr/>
            <p:nvPr/>
          </p:nvSpPr>
          <p:spPr>
            <a:xfrm>
              <a:off x="4530" y="6069"/>
              <a:ext cx="360" cy="312"/>
            </a:xfrm>
            <a:prstGeom prst="line">
              <a:avLst/>
            </a:prstGeom>
            <a:ln w="9525" cap="flat" cmpd="sng">
              <a:solidFill>
                <a:srgbClr val="0000FF"/>
              </a:solidFill>
              <a:prstDash val="solid"/>
              <a:headEnd type="none" w="med" len="med"/>
              <a:tailEnd type="triangle" w="sm" len="lg"/>
            </a:ln>
          </p:spPr>
        </p:sp>
        <p:sp>
          <p:nvSpPr>
            <p:cNvPr id="110657" name="Oval 24"/>
            <p:cNvSpPr/>
            <p:nvPr/>
          </p:nvSpPr>
          <p:spPr>
            <a:xfrm>
              <a:off x="4155" y="8103"/>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14</a:t>
              </a:r>
              <a:endParaRPr lang="en-US" altLang="zh-CN" sz="6600" dirty="0">
                <a:latin typeface="Times New Roman" panose="02020603050405020304" pitchFamily="18" charset="0"/>
              </a:endParaRPr>
            </a:p>
          </p:txBody>
        </p:sp>
        <p:sp>
          <p:nvSpPr>
            <p:cNvPr id="110658" name="Oval 25"/>
            <p:cNvSpPr/>
            <p:nvPr/>
          </p:nvSpPr>
          <p:spPr>
            <a:xfrm>
              <a:off x="5190" y="8073"/>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12</a:t>
              </a:r>
              <a:endParaRPr lang="en-US" altLang="zh-CN" sz="6600" dirty="0">
                <a:latin typeface="Times New Roman" panose="02020603050405020304" pitchFamily="18" charset="0"/>
              </a:endParaRPr>
            </a:p>
          </p:txBody>
        </p:sp>
        <p:sp>
          <p:nvSpPr>
            <p:cNvPr id="110659" name="Oval 26"/>
            <p:cNvSpPr/>
            <p:nvPr/>
          </p:nvSpPr>
          <p:spPr>
            <a:xfrm>
              <a:off x="6225" y="8088"/>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8</a:t>
              </a:r>
              <a:endParaRPr lang="en-US" altLang="zh-CN" sz="6600" dirty="0">
                <a:latin typeface="Times New Roman" panose="02020603050405020304" pitchFamily="18" charset="0"/>
              </a:endParaRPr>
            </a:p>
          </p:txBody>
        </p:sp>
        <p:sp>
          <p:nvSpPr>
            <p:cNvPr id="110660" name="Line 27"/>
            <p:cNvSpPr/>
            <p:nvPr/>
          </p:nvSpPr>
          <p:spPr>
            <a:xfrm>
              <a:off x="4620" y="8334"/>
              <a:ext cx="540" cy="0"/>
            </a:xfrm>
            <a:prstGeom prst="line">
              <a:avLst/>
            </a:prstGeom>
            <a:ln w="9525" cap="flat" cmpd="sng">
              <a:solidFill>
                <a:srgbClr val="0000FF"/>
              </a:solidFill>
              <a:prstDash val="solid"/>
              <a:headEnd type="none" w="med" len="med"/>
              <a:tailEnd type="triangle" w="sm" len="lg"/>
            </a:ln>
          </p:spPr>
        </p:sp>
        <p:sp>
          <p:nvSpPr>
            <p:cNvPr id="110661" name="Oval 28"/>
            <p:cNvSpPr/>
            <p:nvPr/>
          </p:nvSpPr>
          <p:spPr>
            <a:xfrm>
              <a:off x="3360" y="8565"/>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7</a:t>
              </a:r>
              <a:endParaRPr lang="en-US" altLang="zh-CN" sz="6600" dirty="0">
                <a:latin typeface="Times New Roman" panose="02020603050405020304" pitchFamily="18" charset="0"/>
              </a:endParaRPr>
            </a:p>
          </p:txBody>
        </p:sp>
        <p:sp>
          <p:nvSpPr>
            <p:cNvPr id="110662" name="Oval 29"/>
            <p:cNvSpPr/>
            <p:nvPr/>
          </p:nvSpPr>
          <p:spPr>
            <a:xfrm>
              <a:off x="3330" y="7644"/>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15</a:t>
              </a:r>
              <a:endParaRPr lang="en-US" altLang="zh-CN" sz="6600" dirty="0">
                <a:latin typeface="Times New Roman" panose="02020603050405020304" pitchFamily="18" charset="0"/>
              </a:endParaRPr>
            </a:p>
          </p:txBody>
        </p:sp>
        <p:sp>
          <p:nvSpPr>
            <p:cNvPr id="110663" name="Line 30"/>
            <p:cNvSpPr/>
            <p:nvPr/>
          </p:nvSpPr>
          <p:spPr>
            <a:xfrm>
              <a:off x="5670" y="8334"/>
              <a:ext cx="540" cy="0"/>
            </a:xfrm>
            <a:prstGeom prst="line">
              <a:avLst/>
            </a:prstGeom>
            <a:ln w="9525" cap="flat" cmpd="sng">
              <a:solidFill>
                <a:srgbClr val="0000FF"/>
              </a:solidFill>
              <a:prstDash val="solid"/>
              <a:headEnd type="none" w="med" len="med"/>
              <a:tailEnd type="triangle" w="sm" len="lg"/>
            </a:ln>
          </p:spPr>
        </p:sp>
        <p:sp>
          <p:nvSpPr>
            <p:cNvPr id="110664" name="Line 31"/>
            <p:cNvSpPr/>
            <p:nvPr/>
          </p:nvSpPr>
          <p:spPr>
            <a:xfrm flipV="1">
              <a:off x="3825" y="8415"/>
              <a:ext cx="360" cy="312"/>
            </a:xfrm>
            <a:prstGeom prst="line">
              <a:avLst/>
            </a:prstGeom>
            <a:ln w="9525" cap="flat" cmpd="sng">
              <a:solidFill>
                <a:srgbClr val="0000FF"/>
              </a:solidFill>
              <a:prstDash val="solid"/>
              <a:headEnd type="none" w="med" len="med"/>
              <a:tailEnd type="triangle" w="sm" len="lg"/>
            </a:ln>
          </p:spPr>
        </p:sp>
        <p:sp>
          <p:nvSpPr>
            <p:cNvPr id="110665" name="Line 32"/>
            <p:cNvSpPr/>
            <p:nvPr/>
          </p:nvSpPr>
          <p:spPr>
            <a:xfrm>
              <a:off x="3825" y="7896"/>
              <a:ext cx="360" cy="312"/>
            </a:xfrm>
            <a:prstGeom prst="line">
              <a:avLst/>
            </a:prstGeom>
            <a:ln w="9525" cap="flat" cmpd="sng">
              <a:solidFill>
                <a:srgbClr val="0000FF"/>
              </a:solidFill>
              <a:prstDash val="solid"/>
              <a:headEnd type="none" w="med" len="med"/>
              <a:tailEnd type="triangle" w="sm" len="lg"/>
            </a:ln>
          </p:spPr>
        </p:sp>
        <p:sp>
          <p:nvSpPr>
            <p:cNvPr id="110666" name="Oval 33"/>
            <p:cNvSpPr/>
            <p:nvPr/>
          </p:nvSpPr>
          <p:spPr>
            <a:xfrm>
              <a:off x="7230" y="8079"/>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0</a:t>
              </a:r>
              <a:endParaRPr lang="en-US" altLang="zh-CN" sz="6600" dirty="0">
                <a:latin typeface="Times New Roman" panose="02020603050405020304" pitchFamily="18" charset="0"/>
              </a:endParaRPr>
            </a:p>
          </p:txBody>
        </p:sp>
        <p:sp>
          <p:nvSpPr>
            <p:cNvPr id="110667" name="Oval 34"/>
            <p:cNvSpPr/>
            <p:nvPr/>
          </p:nvSpPr>
          <p:spPr>
            <a:xfrm>
              <a:off x="8265" y="8094"/>
              <a:ext cx="471" cy="468"/>
            </a:xfrm>
            <a:prstGeom prst="ellipse">
              <a:avLst/>
            </a:prstGeom>
            <a:solidFill>
              <a:srgbClr val="CCFFFF"/>
            </a:solidFill>
            <a:ln w="9525" cap="flat" cmpd="sng">
              <a:solidFill>
                <a:srgbClr val="0000FF"/>
              </a:solidFill>
              <a:prstDash val="solid"/>
              <a:headEnd type="none" w="med" len="med"/>
              <a:tailEnd type="none" w="med" len="med"/>
            </a:ln>
          </p:spPr>
          <p:txBody>
            <a:bodyPr lIns="0" tIns="0" rIns="0" bIns="0"/>
            <a:lstStyle/>
            <a:p>
              <a:pPr algn="ctr"/>
              <a:r>
                <a:rPr lang="en-US" altLang="zh-CN" sz="2000" dirty="0">
                  <a:latin typeface="Times New Roman" panose="02020603050405020304" pitchFamily="18" charset="0"/>
                </a:rPr>
                <a:t>1</a:t>
              </a:r>
              <a:endParaRPr lang="en-US" altLang="zh-CN" sz="6600" dirty="0">
                <a:latin typeface="Times New Roman" panose="02020603050405020304" pitchFamily="18" charset="0"/>
              </a:endParaRPr>
            </a:p>
          </p:txBody>
        </p:sp>
        <p:sp>
          <p:nvSpPr>
            <p:cNvPr id="110668" name="Line 35"/>
            <p:cNvSpPr/>
            <p:nvPr/>
          </p:nvSpPr>
          <p:spPr>
            <a:xfrm>
              <a:off x="7710" y="8340"/>
              <a:ext cx="540" cy="0"/>
            </a:xfrm>
            <a:prstGeom prst="line">
              <a:avLst/>
            </a:prstGeom>
            <a:ln w="9525" cap="flat" cmpd="sng">
              <a:solidFill>
                <a:srgbClr val="0000FF"/>
              </a:solidFill>
              <a:prstDash val="solid"/>
              <a:headEnd type="none" w="med" len="med"/>
              <a:tailEnd type="triangle" w="sm" len="lg"/>
            </a:ln>
          </p:spPr>
        </p:sp>
        <p:sp>
          <p:nvSpPr>
            <p:cNvPr id="110669" name="Line 36"/>
            <p:cNvSpPr/>
            <p:nvPr/>
          </p:nvSpPr>
          <p:spPr>
            <a:xfrm>
              <a:off x="6705" y="8325"/>
              <a:ext cx="540" cy="0"/>
            </a:xfrm>
            <a:prstGeom prst="line">
              <a:avLst/>
            </a:prstGeom>
            <a:ln w="9525" cap="flat" cmpd="sng">
              <a:solidFill>
                <a:srgbClr val="0000FF"/>
              </a:solidFill>
              <a:prstDash val="solid"/>
              <a:headEnd type="none" w="med" len="med"/>
              <a:tailEnd type="triangle" w="sm" len="lg"/>
            </a:ln>
          </p:spPr>
        </p:sp>
        <p:sp>
          <p:nvSpPr>
            <p:cNvPr id="110670" name="Line 37"/>
            <p:cNvSpPr/>
            <p:nvPr/>
          </p:nvSpPr>
          <p:spPr>
            <a:xfrm>
              <a:off x="8490" y="7569"/>
              <a:ext cx="0" cy="539"/>
            </a:xfrm>
            <a:prstGeom prst="line">
              <a:avLst/>
            </a:prstGeom>
            <a:ln w="9525" cap="flat" cmpd="sng">
              <a:solidFill>
                <a:srgbClr val="0000FF"/>
              </a:solidFill>
              <a:prstDash val="solid"/>
              <a:headEnd type="triangle" w="sm" len="lg"/>
              <a:tailEnd type="none" w="sm" len="lg"/>
            </a:ln>
          </p:spPr>
        </p:sp>
      </p:grpSp>
      <p:graphicFrame>
        <p:nvGraphicFramePr>
          <p:cNvPr id="110598" name="表格 110597"/>
          <p:cNvGraphicFramePr/>
          <p:nvPr/>
        </p:nvGraphicFramePr>
        <p:xfrm>
          <a:off x="439738" y="2992438"/>
          <a:ext cx="2573338" cy="1992313"/>
        </p:xfrm>
        <a:graphic>
          <a:graphicData uri="http://schemas.openxmlformats.org/drawingml/2006/table">
            <a:tbl>
              <a:tblPr/>
              <a:tblGrid>
                <a:gridCol w="514350">
                  <a:extLst>
                    <a:ext uri="{9D8B030D-6E8A-4147-A177-3AD203B41FA5}">
                      <a16:colId xmlns:a16="http://schemas.microsoft.com/office/drawing/2014/main" val="20000"/>
                    </a:ext>
                  </a:extLst>
                </a:gridCol>
                <a:gridCol w="515938">
                  <a:extLst>
                    <a:ext uri="{9D8B030D-6E8A-4147-A177-3AD203B41FA5}">
                      <a16:colId xmlns:a16="http://schemas.microsoft.com/office/drawing/2014/main" val="20001"/>
                    </a:ext>
                  </a:extLst>
                </a:gridCol>
                <a:gridCol w="512762">
                  <a:extLst>
                    <a:ext uri="{9D8B030D-6E8A-4147-A177-3AD203B41FA5}">
                      <a16:colId xmlns:a16="http://schemas.microsoft.com/office/drawing/2014/main" val="20002"/>
                    </a:ext>
                  </a:extLst>
                </a:gridCol>
                <a:gridCol w="515938">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10635" name="Text Box 87" descr="羊皮纸"/>
          <p:cNvSpPr txBox="1"/>
          <p:nvPr/>
        </p:nvSpPr>
        <p:spPr>
          <a:xfrm>
            <a:off x="441325" y="2735263"/>
            <a:ext cx="714375" cy="396875"/>
          </a:xfrm>
          <a:prstGeom prst="rect">
            <a:avLst/>
          </a:prstGeom>
          <a:noFill/>
          <a:ln w="38100">
            <a:noFill/>
          </a:ln>
        </p:spPr>
        <p:txBody>
          <a:bodyPr wrap="none" lIns="90000" tIns="46800" rIns="90000" bIns="46800">
            <a:spAutoFit/>
          </a:bodyPr>
          <a:lstStyle/>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3</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p>
        </p:txBody>
      </p:sp>
      <p:sp>
        <p:nvSpPr>
          <p:cNvPr id="110636" name="Text Box 88" descr="羊皮纸"/>
          <p:cNvSpPr txBox="1"/>
          <p:nvPr/>
        </p:nvSpPr>
        <p:spPr>
          <a:xfrm>
            <a:off x="177800" y="3106738"/>
            <a:ext cx="714375" cy="396875"/>
          </a:xfrm>
          <a:prstGeom prst="rect">
            <a:avLst/>
          </a:prstGeom>
          <a:noFill/>
          <a:ln w="38100">
            <a:noFill/>
          </a:ln>
        </p:spPr>
        <p:txBody>
          <a:bodyPr wrap="none" lIns="90000" tIns="46800" rIns="90000" bIns="46800">
            <a:spAutoFit/>
          </a:bodyPr>
          <a:lstStyle/>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0</a:t>
            </a:r>
          </a:p>
        </p:txBody>
      </p:sp>
      <p:sp>
        <p:nvSpPr>
          <p:cNvPr id="110637" name="AutoShape 89"/>
          <p:cNvSpPr/>
          <p:nvPr/>
        </p:nvSpPr>
        <p:spPr>
          <a:xfrm rot="-5400000">
            <a:off x="1309688" y="4313238"/>
            <a:ext cx="398462" cy="969962"/>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10638" name="AutoShape 90"/>
          <p:cNvSpPr/>
          <p:nvPr/>
        </p:nvSpPr>
        <p:spPr>
          <a:xfrm rot="5400000">
            <a:off x="1252538" y="3046413"/>
            <a:ext cx="398462" cy="982662"/>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Tree>
  </p:cSld>
  <p:clrMapOvr>
    <a:masterClrMapping/>
  </p:clrMapOvr>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descr="羊皮纸"/>
          <p:cNvSpPr/>
          <p:nvPr/>
        </p:nvSpPr>
        <p:spPr>
          <a:xfrm>
            <a:off x="585788" y="1144588"/>
            <a:ext cx="2936875" cy="519112"/>
          </a:xfrm>
          <a:prstGeom prst="rect">
            <a:avLst/>
          </a:prstGeom>
          <a:noFill/>
          <a:ln w="38100">
            <a:noFill/>
          </a:ln>
        </p:spPr>
        <p:txBody>
          <a:bodyPr wrap="none" lIns="90000" tIns="46800" rIns="90000" bIns="46800" anchor="ctr" anchorCtr="0">
            <a:spAutoFit/>
          </a:bodyPr>
          <a:lstStyle/>
          <a:p>
            <a:r>
              <a:rPr lang="zh-CN" altLang="en-US" sz="2800" dirty="0">
                <a:latin typeface="Times New Roman" panose="02020603050405020304" pitchFamily="18" charset="0"/>
              </a:rPr>
              <a:t>（</a:t>
            </a:r>
            <a:r>
              <a:rPr lang="en-US" altLang="zh-CN" sz="2800" dirty="0">
                <a:latin typeface="Times New Roman" panose="02020603050405020304" pitchFamily="18" charset="0"/>
              </a:rPr>
              <a:t>6</a:t>
            </a:r>
            <a:r>
              <a:rPr lang="zh-CN" altLang="en-US" sz="2800" dirty="0">
                <a:latin typeface="Times New Roman" panose="02020603050405020304" pitchFamily="18" charset="0"/>
              </a:rPr>
              <a:t>）画逻辑图。 </a:t>
            </a:r>
          </a:p>
        </p:txBody>
      </p:sp>
      <p:grpSp>
        <p:nvGrpSpPr>
          <p:cNvPr id="13317" name="Group 3"/>
          <p:cNvGrpSpPr/>
          <p:nvPr/>
        </p:nvGrpSpPr>
        <p:grpSpPr>
          <a:xfrm>
            <a:off x="912813" y="2184400"/>
            <a:ext cx="6850062" cy="2543175"/>
            <a:chOff x="3364" y="2181"/>
            <a:chExt cx="5235" cy="1731"/>
          </a:xfrm>
        </p:grpSpPr>
        <p:sp>
          <p:nvSpPr>
            <p:cNvPr id="13318" name="Rectangle 4"/>
            <p:cNvSpPr/>
            <p:nvPr/>
          </p:nvSpPr>
          <p:spPr>
            <a:xfrm>
              <a:off x="3364" y="3600"/>
              <a:ext cx="435" cy="312"/>
            </a:xfrm>
            <a:prstGeom prst="rect">
              <a:avLst/>
            </a:prstGeom>
            <a:noFill/>
            <a:ln w="9525">
              <a:noFill/>
            </a:ln>
          </p:spPr>
          <p:txBody>
            <a:bodyPr lIns="0" tIns="0" rIns="0" bIns="0"/>
            <a:lstStyle/>
            <a:p>
              <a:pPr algn="just">
                <a:lnSpc>
                  <a:spcPct val="96000"/>
                </a:lnSpc>
              </a:pPr>
              <a:r>
                <a:rPr lang="en-US" altLang="zh-CN" sz="2400" i="1" dirty="0">
                  <a:latin typeface="Times New Roman" panose="02020603050405020304" pitchFamily="18" charset="0"/>
                </a:rPr>
                <a:t>CP</a:t>
              </a:r>
              <a:endParaRPr lang="en-US" altLang="zh-CN" sz="7200" dirty="0">
                <a:latin typeface="Times New Roman" panose="02020603050405020304" pitchFamily="18" charset="0"/>
              </a:endParaRPr>
            </a:p>
          </p:txBody>
        </p:sp>
        <p:sp>
          <p:nvSpPr>
            <p:cNvPr id="13319" name="Rectangle 5"/>
            <p:cNvSpPr/>
            <p:nvPr/>
          </p:nvSpPr>
          <p:spPr>
            <a:xfrm>
              <a:off x="6104" y="2481"/>
              <a:ext cx="360" cy="312"/>
            </a:xfrm>
            <a:prstGeom prst="rect">
              <a:avLst/>
            </a:prstGeom>
            <a:noFill/>
            <a:ln w="9525">
              <a:noFill/>
            </a:ln>
          </p:spPr>
          <p:txBody>
            <a:bodyPr lIns="0" tIns="0" rIns="0" bIns="0"/>
            <a:lstStyle/>
            <a:p>
              <a:pPr algn="just">
                <a:lnSpc>
                  <a:spcPct val="96000"/>
                </a:lnSpc>
              </a:pP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1</a:t>
              </a:r>
              <a:endParaRPr lang="en-US" altLang="zh-CN" sz="7200" dirty="0">
                <a:latin typeface="Times New Roman" panose="02020603050405020304" pitchFamily="18" charset="0"/>
              </a:endParaRPr>
            </a:p>
          </p:txBody>
        </p:sp>
        <p:sp>
          <p:nvSpPr>
            <p:cNvPr id="13320" name="Rectangle 6"/>
            <p:cNvSpPr/>
            <p:nvPr/>
          </p:nvSpPr>
          <p:spPr>
            <a:xfrm>
              <a:off x="7248" y="2493"/>
              <a:ext cx="360" cy="312"/>
            </a:xfrm>
            <a:prstGeom prst="rect">
              <a:avLst/>
            </a:prstGeom>
            <a:noFill/>
            <a:ln w="9525">
              <a:noFill/>
            </a:ln>
          </p:spPr>
          <p:txBody>
            <a:bodyPr lIns="0" tIns="0" rIns="0" bIns="0"/>
            <a:lstStyle/>
            <a:p>
              <a:pPr algn="just">
                <a:lnSpc>
                  <a:spcPct val="96000"/>
                </a:lnSpc>
              </a:pP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2</a:t>
              </a:r>
              <a:endParaRPr lang="en-US" altLang="zh-CN" sz="7200" dirty="0">
                <a:latin typeface="Times New Roman" panose="02020603050405020304" pitchFamily="18" charset="0"/>
              </a:endParaRPr>
            </a:p>
          </p:txBody>
        </p:sp>
        <p:sp>
          <p:nvSpPr>
            <p:cNvPr id="13321" name="Rectangle 7"/>
            <p:cNvSpPr/>
            <p:nvPr/>
          </p:nvSpPr>
          <p:spPr>
            <a:xfrm>
              <a:off x="5056" y="2469"/>
              <a:ext cx="261" cy="468"/>
            </a:xfrm>
            <a:prstGeom prst="rect">
              <a:avLst/>
            </a:prstGeom>
            <a:noFill/>
            <a:ln w="9525">
              <a:noFill/>
            </a:ln>
          </p:spPr>
          <p:txBody>
            <a:bodyPr lIns="0" tIns="0" rIns="0" bIns="0"/>
            <a:lstStyle/>
            <a:p>
              <a:pPr algn="just">
                <a:lnSpc>
                  <a:spcPct val="96000"/>
                </a:lnSpc>
              </a:pPr>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0</a:t>
              </a:r>
              <a:endParaRPr lang="en-US" altLang="zh-CN" sz="7200" dirty="0">
                <a:latin typeface="Times New Roman" panose="02020603050405020304" pitchFamily="18" charset="0"/>
              </a:endParaRPr>
            </a:p>
          </p:txBody>
        </p:sp>
        <p:sp>
          <p:nvSpPr>
            <p:cNvPr id="13322" name="Line 8"/>
            <p:cNvSpPr/>
            <p:nvPr/>
          </p:nvSpPr>
          <p:spPr>
            <a:xfrm>
              <a:off x="4024" y="2664"/>
              <a:ext cx="180" cy="0"/>
            </a:xfrm>
            <a:prstGeom prst="line">
              <a:avLst/>
            </a:prstGeom>
            <a:ln w="9525" cap="flat" cmpd="sng">
              <a:solidFill>
                <a:srgbClr val="000000"/>
              </a:solidFill>
              <a:prstDash val="solid"/>
              <a:headEnd type="none" w="med" len="med"/>
              <a:tailEnd type="none" w="med" len="med"/>
            </a:ln>
          </p:spPr>
        </p:sp>
        <p:sp>
          <p:nvSpPr>
            <p:cNvPr id="13323" name="Line 9"/>
            <p:cNvSpPr/>
            <p:nvPr/>
          </p:nvSpPr>
          <p:spPr>
            <a:xfrm>
              <a:off x="3904" y="2739"/>
              <a:ext cx="295" cy="0"/>
            </a:xfrm>
            <a:prstGeom prst="line">
              <a:avLst/>
            </a:prstGeom>
            <a:ln w="9525" cap="flat" cmpd="sng">
              <a:solidFill>
                <a:srgbClr val="000000"/>
              </a:solidFill>
              <a:prstDash val="solid"/>
              <a:headEnd type="none" w="med" len="med"/>
              <a:tailEnd type="none" w="med" len="med"/>
            </a:ln>
          </p:spPr>
        </p:sp>
        <p:sp>
          <p:nvSpPr>
            <p:cNvPr id="13324" name="Line 10"/>
            <p:cNvSpPr/>
            <p:nvPr/>
          </p:nvSpPr>
          <p:spPr>
            <a:xfrm>
              <a:off x="4819" y="3159"/>
              <a:ext cx="180" cy="0"/>
            </a:xfrm>
            <a:prstGeom prst="line">
              <a:avLst/>
            </a:prstGeom>
            <a:ln w="9525" cap="flat" cmpd="sng">
              <a:solidFill>
                <a:srgbClr val="000000"/>
              </a:solidFill>
              <a:prstDash val="solid"/>
              <a:headEnd type="none" w="med" len="med"/>
              <a:tailEnd type="none" w="med" len="med"/>
            </a:ln>
          </p:spPr>
        </p:sp>
        <p:sp>
          <p:nvSpPr>
            <p:cNvPr id="13325" name="Oval 11"/>
            <p:cNvSpPr/>
            <p:nvPr/>
          </p:nvSpPr>
          <p:spPr>
            <a:xfrm>
              <a:off x="3964" y="3711"/>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3326" name="Line 12"/>
            <p:cNvSpPr/>
            <p:nvPr/>
          </p:nvSpPr>
          <p:spPr>
            <a:xfrm flipV="1">
              <a:off x="3738" y="3738"/>
              <a:ext cx="3838" cy="0"/>
            </a:xfrm>
            <a:prstGeom prst="line">
              <a:avLst/>
            </a:prstGeom>
            <a:ln w="9525" cap="flat" cmpd="sng">
              <a:solidFill>
                <a:srgbClr val="000000"/>
              </a:solidFill>
              <a:prstDash val="solid"/>
              <a:headEnd type="none" w="med" len="med"/>
              <a:tailEnd type="none" w="med" len="med"/>
            </a:ln>
          </p:spPr>
        </p:sp>
        <p:sp>
          <p:nvSpPr>
            <p:cNvPr id="13327" name="Line 13"/>
            <p:cNvSpPr/>
            <p:nvPr/>
          </p:nvSpPr>
          <p:spPr>
            <a:xfrm flipH="1">
              <a:off x="3910" y="2181"/>
              <a:ext cx="4634" cy="0"/>
            </a:xfrm>
            <a:prstGeom prst="line">
              <a:avLst/>
            </a:prstGeom>
            <a:ln w="9525" cap="flat" cmpd="sng">
              <a:solidFill>
                <a:srgbClr val="000000"/>
              </a:solidFill>
              <a:prstDash val="solid"/>
              <a:headEnd type="none" w="med" len="med"/>
              <a:tailEnd type="none" w="med" len="med"/>
            </a:ln>
          </p:spPr>
        </p:sp>
        <p:sp>
          <p:nvSpPr>
            <p:cNvPr id="13328" name="Line 14"/>
            <p:cNvSpPr/>
            <p:nvPr/>
          </p:nvSpPr>
          <p:spPr>
            <a:xfrm flipH="1">
              <a:off x="4009" y="2433"/>
              <a:ext cx="0" cy="221"/>
            </a:xfrm>
            <a:prstGeom prst="line">
              <a:avLst/>
            </a:prstGeom>
            <a:ln w="9525" cap="flat" cmpd="sng">
              <a:solidFill>
                <a:srgbClr val="000000"/>
              </a:solidFill>
              <a:prstDash val="solid"/>
              <a:headEnd type="none" w="med" len="med"/>
              <a:tailEnd type="none" w="med" len="med"/>
            </a:ln>
          </p:spPr>
        </p:sp>
        <p:sp>
          <p:nvSpPr>
            <p:cNvPr id="13329" name="Line 15"/>
            <p:cNvSpPr/>
            <p:nvPr/>
          </p:nvSpPr>
          <p:spPr>
            <a:xfrm flipV="1">
              <a:off x="4998" y="2412"/>
              <a:ext cx="1" cy="741"/>
            </a:xfrm>
            <a:prstGeom prst="line">
              <a:avLst/>
            </a:prstGeom>
            <a:ln w="9525" cap="flat" cmpd="sng">
              <a:solidFill>
                <a:srgbClr val="000000"/>
              </a:solidFill>
              <a:prstDash val="solid"/>
              <a:headEnd type="none" w="med" len="med"/>
              <a:tailEnd type="none" w="med" len="med"/>
            </a:ln>
          </p:spPr>
        </p:sp>
        <p:sp>
          <p:nvSpPr>
            <p:cNvPr id="13330" name="Line 16"/>
            <p:cNvSpPr/>
            <p:nvPr/>
          </p:nvSpPr>
          <p:spPr>
            <a:xfrm flipH="1">
              <a:off x="4009" y="2418"/>
              <a:ext cx="986" cy="0"/>
            </a:xfrm>
            <a:prstGeom prst="line">
              <a:avLst/>
            </a:prstGeom>
            <a:ln w="9525" cap="flat" cmpd="sng">
              <a:solidFill>
                <a:srgbClr val="000000"/>
              </a:solidFill>
              <a:prstDash val="solid"/>
              <a:headEnd type="none" w="med" len="med"/>
              <a:tailEnd type="none" w="med" len="med"/>
            </a:ln>
          </p:spPr>
        </p:sp>
        <p:sp>
          <p:nvSpPr>
            <p:cNvPr id="13331" name="Line 17"/>
            <p:cNvSpPr/>
            <p:nvPr/>
          </p:nvSpPr>
          <p:spPr>
            <a:xfrm flipV="1">
              <a:off x="3904" y="2187"/>
              <a:ext cx="0" cy="548"/>
            </a:xfrm>
            <a:prstGeom prst="line">
              <a:avLst/>
            </a:prstGeom>
            <a:ln w="9525" cap="flat" cmpd="sng">
              <a:solidFill>
                <a:srgbClr val="000000"/>
              </a:solidFill>
              <a:prstDash val="solid"/>
              <a:headEnd type="none" w="med" len="med"/>
              <a:tailEnd type="none" w="med" len="med"/>
            </a:ln>
          </p:spPr>
        </p:sp>
        <p:sp>
          <p:nvSpPr>
            <p:cNvPr id="13332" name="Line 18"/>
            <p:cNvSpPr/>
            <p:nvPr/>
          </p:nvSpPr>
          <p:spPr>
            <a:xfrm flipV="1">
              <a:off x="8554" y="2187"/>
              <a:ext cx="0" cy="1020"/>
            </a:xfrm>
            <a:prstGeom prst="line">
              <a:avLst/>
            </a:prstGeom>
            <a:ln w="9525" cap="flat" cmpd="sng">
              <a:solidFill>
                <a:srgbClr val="000000"/>
              </a:solidFill>
              <a:prstDash val="solid"/>
              <a:headEnd type="none" w="med" len="med"/>
              <a:tailEnd type="none" w="med" len="med"/>
            </a:ln>
          </p:spPr>
        </p:sp>
        <p:sp>
          <p:nvSpPr>
            <p:cNvPr id="13333" name="Rectangle 19"/>
            <p:cNvSpPr/>
            <p:nvPr/>
          </p:nvSpPr>
          <p:spPr>
            <a:xfrm>
              <a:off x="5404" y="2583"/>
              <a:ext cx="600" cy="780"/>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lstStyle/>
            <a:p>
              <a:pPr algn="just">
                <a:lnSpc>
                  <a:spcPct val="96000"/>
                </a:lnSpc>
              </a:pPr>
              <a:r>
                <a:rPr lang="en-US" altLang="zh-CN" sz="2400" i="1" dirty="0">
                  <a:latin typeface="Times New Roman" panose="02020603050405020304" pitchFamily="18" charset="0"/>
                </a:rPr>
                <a:t>D</a:t>
              </a:r>
            </a:p>
            <a:p>
              <a:pPr algn="just">
                <a:lnSpc>
                  <a:spcPct val="96000"/>
                </a:lnSpc>
              </a:pPr>
              <a:r>
                <a:rPr lang="en-US" altLang="zh-CN" sz="2400" dirty="0">
                  <a:latin typeface="Times New Roman" panose="02020603050405020304" pitchFamily="18" charset="0"/>
                </a:rPr>
                <a:t> </a:t>
              </a:r>
            </a:p>
            <a:p>
              <a:pPr algn="just">
                <a:lnSpc>
                  <a:spcPct val="96000"/>
                </a:lnSpc>
              </a:pPr>
              <a:r>
                <a:rPr lang="en-US" altLang="zh-CN" sz="2400" i="1" dirty="0">
                  <a:latin typeface="Times New Roman" panose="02020603050405020304" pitchFamily="18" charset="0"/>
                </a:rPr>
                <a:t> C</a:t>
              </a:r>
              <a:endParaRPr lang="en-US" altLang="zh-CN" sz="7200" dirty="0">
                <a:latin typeface="Times New Roman" panose="02020603050405020304" pitchFamily="18" charset="0"/>
              </a:endParaRPr>
            </a:p>
          </p:txBody>
        </p:sp>
        <p:sp>
          <p:nvSpPr>
            <p:cNvPr id="13334" name="Freeform 20"/>
            <p:cNvSpPr/>
            <p:nvPr/>
          </p:nvSpPr>
          <p:spPr>
            <a:xfrm>
              <a:off x="5419" y="3149"/>
              <a:ext cx="62" cy="102"/>
            </a:xfrm>
            <a:custGeom>
              <a:avLst/>
              <a:gdLst>
                <a:gd name="txL" fmla="*/ 0 w 120"/>
                <a:gd name="txT" fmla="*/ 0 h 156"/>
                <a:gd name="txR" fmla="*/ 120 w 120"/>
                <a:gd name="txB" fmla="*/ 156 h 156"/>
              </a:gdLst>
              <a:ahLst/>
              <a:cxnLst>
                <a:cxn ang="0">
                  <a:pos x="0" y="0"/>
                </a:cxn>
                <a:cxn ang="0">
                  <a:pos x="32" y="27"/>
                </a:cxn>
                <a:cxn ang="0">
                  <a:pos x="1" y="67"/>
                </a:cxn>
              </a:cxnLst>
              <a:rect l="txL" t="txT" r="txR" b="txB"/>
              <a:pathLst>
                <a:path w="120" h="156">
                  <a:moveTo>
                    <a:pt x="0" y="0"/>
                  </a:moveTo>
                  <a:lnTo>
                    <a:pt x="120" y="63"/>
                  </a:lnTo>
                  <a:lnTo>
                    <a:pt x="1" y="156"/>
                  </a:lnTo>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sz="2800"/>
            </a:p>
          </p:txBody>
        </p:sp>
        <p:sp>
          <p:nvSpPr>
            <p:cNvPr id="13335" name="Oval 21"/>
            <p:cNvSpPr/>
            <p:nvPr/>
          </p:nvSpPr>
          <p:spPr>
            <a:xfrm>
              <a:off x="6022" y="3168"/>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3336" name="Rectangle 22"/>
            <p:cNvSpPr/>
            <p:nvPr/>
          </p:nvSpPr>
          <p:spPr>
            <a:xfrm>
              <a:off x="6574" y="2589"/>
              <a:ext cx="600" cy="780"/>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lstStyle/>
            <a:p>
              <a:pPr algn="just">
                <a:lnSpc>
                  <a:spcPct val="96000"/>
                </a:lnSpc>
              </a:pPr>
              <a:r>
                <a:rPr lang="en-US" altLang="zh-CN" sz="2400" i="1" dirty="0">
                  <a:latin typeface="Times New Roman" panose="02020603050405020304" pitchFamily="18" charset="0"/>
                </a:rPr>
                <a:t>D</a:t>
              </a:r>
            </a:p>
            <a:p>
              <a:pPr algn="just">
                <a:lnSpc>
                  <a:spcPct val="96000"/>
                </a:lnSpc>
              </a:pPr>
              <a:r>
                <a:rPr lang="en-US" altLang="zh-CN" sz="2400" dirty="0">
                  <a:latin typeface="Times New Roman" panose="02020603050405020304" pitchFamily="18" charset="0"/>
                </a:rPr>
                <a:t> </a:t>
              </a:r>
            </a:p>
            <a:p>
              <a:pPr algn="just">
                <a:lnSpc>
                  <a:spcPct val="96000"/>
                </a:lnSpc>
              </a:pPr>
              <a:r>
                <a:rPr lang="en-US" altLang="zh-CN" sz="2400" i="1" dirty="0">
                  <a:latin typeface="Times New Roman" panose="02020603050405020304" pitchFamily="18" charset="0"/>
                </a:rPr>
                <a:t> C</a:t>
              </a:r>
              <a:endParaRPr lang="en-US" altLang="zh-CN" sz="2400" dirty="0">
                <a:latin typeface="Times New Roman" panose="02020603050405020304" pitchFamily="18" charset="0"/>
              </a:endParaRPr>
            </a:p>
            <a:p>
              <a:pPr algn="just">
                <a:lnSpc>
                  <a:spcPct val="96000"/>
                </a:lnSpc>
              </a:pPr>
              <a:r>
                <a:rPr lang="en-US" altLang="zh-CN" sz="2400" dirty="0">
                  <a:latin typeface="Times New Roman" panose="02020603050405020304" pitchFamily="18" charset="0"/>
                </a:rPr>
                <a:t> </a:t>
              </a:r>
            </a:p>
          </p:txBody>
        </p:sp>
        <p:sp>
          <p:nvSpPr>
            <p:cNvPr id="13337" name="Freeform 23"/>
            <p:cNvSpPr/>
            <p:nvPr/>
          </p:nvSpPr>
          <p:spPr>
            <a:xfrm>
              <a:off x="6589" y="3155"/>
              <a:ext cx="62" cy="102"/>
            </a:xfrm>
            <a:custGeom>
              <a:avLst/>
              <a:gdLst>
                <a:gd name="txL" fmla="*/ 0 w 120"/>
                <a:gd name="txT" fmla="*/ 0 h 156"/>
                <a:gd name="txR" fmla="*/ 120 w 120"/>
                <a:gd name="txB" fmla="*/ 156 h 156"/>
              </a:gdLst>
              <a:ahLst/>
              <a:cxnLst>
                <a:cxn ang="0">
                  <a:pos x="0" y="0"/>
                </a:cxn>
                <a:cxn ang="0">
                  <a:pos x="32" y="27"/>
                </a:cxn>
                <a:cxn ang="0">
                  <a:pos x="1" y="67"/>
                </a:cxn>
              </a:cxnLst>
              <a:rect l="txL" t="txT" r="txR" b="txB"/>
              <a:pathLst>
                <a:path w="120" h="156">
                  <a:moveTo>
                    <a:pt x="0" y="0"/>
                  </a:moveTo>
                  <a:lnTo>
                    <a:pt x="120" y="63"/>
                  </a:lnTo>
                  <a:lnTo>
                    <a:pt x="1" y="156"/>
                  </a:lnTo>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sz="2800"/>
            </a:p>
          </p:txBody>
        </p:sp>
        <p:sp>
          <p:nvSpPr>
            <p:cNvPr id="13338" name="Line 24"/>
            <p:cNvSpPr/>
            <p:nvPr/>
          </p:nvSpPr>
          <p:spPr>
            <a:xfrm>
              <a:off x="6004" y="2775"/>
              <a:ext cx="578" cy="0"/>
            </a:xfrm>
            <a:prstGeom prst="line">
              <a:avLst/>
            </a:prstGeom>
            <a:ln w="9525" cap="flat" cmpd="sng">
              <a:solidFill>
                <a:srgbClr val="000000"/>
              </a:solidFill>
              <a:prstDash val="solid"/>
              <a:headEnd type="none" w="med" len="med"/>
              <a:tailEnd type="none" w="med" len="med"/>
            </a:ln>
          </p:spPr>
        </p:sp>
        <p:sp>
          <p:nvSpPr>
            <p:cNvPr id="13339" name="Line 25"/>
            <p:cNvSpPr/>
            <p:nvPr/>
          </p:nvSpPr>
          <p:spPr>
            <a:xfrm>
              <a:off x="6394" y="3198"/>
              <a:ext cx="180" cy="0"/>
            </a:xfrm>
            <a:prstGeom prst="line">
              <a:avLst/>
            </a:prstGeom>
            <a:ln w="9525" cap="flat" cmpd="sng">
              <a:solidFill>
                <a:srgbClr val="000000"/>
              </a:solidFill>
              <a:prstDash val="solid"/>
              <a:headEnd type="none" w="med" len="med"/>
              <a:tailEnd type="none" w="med" len="med"/>
            </a:ln>
          </p:spPr>
        </p:sp>
        <p:sp>
          <p:nvSpPr>
            <p:cNvPr id="13340" name="Oval 26"/>
            <p:cNvSpPr/>
            <p:nvPr/>
          </p:nvSpPr>
          <p:spPr>
            <a:xfrm>
              <a:off x="7177" y="3174"/>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3341" name="Line 27"/>
            <p:cNvSpPr/>
            <p:nvPr/>
          </p:nvSpPr>
          <p:spPr>
            <a:xfrm>
              <a:off x="6394" y="3204"/>
              <a:ext cx="0" cy="527"/>
            </a:xfrm>
            <a:prstGeom prst="line">
              <a:avLst/>
            </a:prstGeom>
            <a:ln w="9525" cap="flat" cmpd="sng">
              <a:solidFill>
                <a:srgbClr val="000000"/>
              </a:solidFill>
              <a:prstDash val="solid"/>
              <a:headEnd type="none" w="med" len="med"/>
              <a:tailEnd type="none" w="med" len="med"/>
            </a:ln>
          </p:spPr>
        </p:sp>
        <p:sp>
          <p:nvSpPr>
            <p:cNvPr id="13342" name="Rectangle 28"/>
            <p:cNvSpPr/>
            <p:nvPr/>
          </p:nvSpPr>
          <p:spPr>
            <a:xfrm>
              <a:off x="7759" y="2604"/>
              <a:ext cx="600" cy="780"/>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lstStyle/>
            <a:p>
              <a:pPr algn="just">
                <a:lnSpc>
                  <a:spcPct val="96000"/>
                </a:lnSpc>
              </a:pPr>
              <a:r>
                <a:rPr lang="en-US" altLang="zh-CN" sz="2400" i="1" dirty="0">
                  <a:latin typeface="Times New Roman" panose="02020603050405020304" pitchFamily="18" charset="0"/>
                </a:rPr>
                <a:t>D</a:t>
              </a:r>
            </a:p>
            <a:p>
              <a:pPr algn="just">
                <a:lnSpc>
                  <a:spcPct val="96000"/>
                </a:lnSpc>
              </a:pPr>
              <a:r>
                <a:rPr lang="en-US" altLang="zh-CN" sz="2400" dirty="0">
                  <a:latin typeface="Times New Roman" panose="02020603050405020304" pitchFamily="18" charset="0"/>
                </a:rPr>
                <a:t> </a:t>
              </a:r>
            </a:p>
            <a:p>
              <a:pPr algn="just">
                <a:lnSpc>
                  <a:spcPct val="96000"/>
                </a:lnSpc>
              </a:pPr>
              <a:r>
                <a:rPr lang="en-US" altLang="zh-CN" sz="2400" i="1" dirty="0">
                  <a:latin typeface="Times New Roman" panose="02020603050405020304" pitchFamily="18" charset="0"/>
                </a:rPr>
                <a:t> C</a:t>
              </a:r>
              <a:endParaRPr lang="en-US" altLang="zh-CN" sz="7200" dirty="0">
                <a:latin typeface="Times New Roman" panose="02020603050405020304" pitchFamily="18" charset="0"/>
              </a:endParaRPr>
            </a:p>
          </p:txBody>
        </p:sp>
        <p:sp>
          <p:nvSpPr>
            <p:cNvPr id="13343" name="Freeform 29"/>
            <p:cNvSpPr/>
            <p:nvPr/>
          </p:nvSpPr>
          <p:spPr>
            <a:xfrm>
              <a:off x="7774" y="3162"/>
              <a:ext cx="62" cy="102"/>
            </a:xfrm>
            <a:custGeom>
              <a:avLst/>
              <a:gdLst>
                <a:gd name="txL" fmla="*/ 0 w 120"/>
                <a:gd name="txT" fmla="*/ 0 h 156"/>
                <a:gd name="txR" fmla="*/ 120 w 120"/>
                <a:gd name="txB" fmla="*/ 156 h 156"/>
              </a:gdLst>
              <a:ahLst/>
              <a:cxnLst>
                <a:cxn ang="0">
                  <a:pos x="0" y="0"/>
                </a:cxn>
                <a:cxn ang="0">
                  <a:pos x="32" y="27"/>
                </a:cxn>
                <a:cxn ang="0">
                  <a:pos x="1" y="67"/>
                </a:cxn>
              </a:cxnLst>
              <a:rect l="txL" t="txT" r="txR" b="txB"/>
              <a:pathLst>
                <a:path w="120" h="156">
                  <a:moveTo>
                    <a:pt x="0" y="0"/>
                  </a:moveTo>
                  <a:lnTo>
                    <a:pt x="120" y="63"/>
                  </a:lnTo>
                  <a:lnTo>
                    <a:pt x="1" y="156"/>
                  </a:lnTo>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sz="2800"/>
            </a:p>
          </p:txBody>
        </p:sp>
        <p:sp>
          <p:nvSpPr>
            <p:cNvPr id="13344" name="Line 30"/>
            <p:cNvSpPr/>
            <p:nvPr/>
          </p:nvSpPr>
          <p:spPr>
            <a:xfrm>
              <a:off x="7189" y="2790"/>
              <a:ext cx="578" cy="0"/>
            </a:xfrm>
            <a:prstGeom prst="line">
              <a:avLst/>
            </a:prstGeom>
            <a:ln w="9525" cap="flat" cmpd="sng">
              <a:solidFill>
                <a:srgbClr val="000000"/>
              </a:solidFill>
              <a:prstDash val="solid"/>
              <a:headEnd type="none" w="med" len="med"/>
              <a:tailEnd type="none" w="med" len="med"/>
            </a:ln>
          </p:spPr>
        </p:sp>
        <p:sp>
          <p:nvSpPr>
            <p:cNvPr id="13345" name="Line 31"/>
            <p:cNvSpPr/>
            <p:nvPr/>
          </p:nvSpPr>
          <p:spPr>
            <a:xfrm>
              <a:off x="7579" y="3213"/>
              <a:ext cx="180" cy="0"/>
            </a:xfrm>
            <a:prstGeom prst="line">
              <a:avLst/>
            </a:prstGeom>
            <a:ln w="9525" cap="flat" cmpd="sng">
              <a:solidFill>
                <a:srgbClr val="000000"/>
              </a:solidFill>
              <a:prstDash val="solid"/>
              <a:headEnd type="none" w="med" len="med"/>
              <a:tailEnd type="none" w="med" len="med"/>
            </a:ln>
          </p:spPr>
        </p:sp>
        <p:sp>
          <p:nvSpPr>
            <p:cNvPr id="13346" name="Line 32"/>
            <p:cNvSpPr/>
            <p:nvPr/>
          </p:nvSpPr>
          <p:spPr>
            <a:xfrm>
              <a:off x="8374" y="3210"/>
              <a:ext cx="180" cy="0"/>
            </a:xfrm>
            <a:prstGeom prst="line">
              <a:avLst/>
            </a:prstGeom>
            <a:ln w="9525" cap="flat" cmpd="sng">
              <a:solidFill>
                <a:srgbClr val="000000"/>
              </a:solidFill>
              <a:prstDash val="solid"/>
              <a:headEnd type="none" w="med" len="med"/>
              <a:tailEnd type="none" w="med" len="med"/>
            </a:ln>
          </p:spPr>
        </p:sp>
        <p:sp>
          <p:nvSpPr>
            <p:cNvPr id="13347" name="Oval 33"/>
            <p:cNvSpPr/>
            <p:nvPr/>
          </p:nvSpPr>
          <p:spPr>
            <a:xfrm>
              <a:off x="8362" y="3189"/>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3348" name="Line 34"/>
            <p:cNvSpPr/>
            <p:nvPr/>
          </p:nvSpPr>
          <p:spPr>
            <a:xfrm>
              <a:off x="7579" y="3219"/>
              <a:ext cx="0" cy="527"/>
            </a:xfrm>
            <a:prstGeom prst="line">
              <a:avLst/>
            </a:prstGeom>
            <a:ln w="9525" cap="flat" cmpd="sng">
              <a:solidFill>
                <a:srgbClr val="000000"/>
              </a:solidFill>
              <a:prstDash val="solid"/>
              <a:headEnd type="none" w="med" len="med"/>
              <a:tailEnd type="none" w="med" len="med"/>
            </a:ln>
          </p:spPr>
        </p:sp>
        <p:sp>
          <p:nvSpPr>
            <p:cNvPr id="13349" name="Rectangle 35"/>
            <p:cNvSpPr/>
            <p:nvPr/>
          </p:nvSpPr>
          <p:spPr>
            <a:xfrm>
              <a:off x="4186" y="2586"/>
              <a:ext cx="600" cy="780"/>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lstStyle/>
            <a:p>
              <a:pPr algn="just">
                <a:lnSpc>
                  <a:spcPct val="96000"/>
                </a:lnSpc>
              </a:pPr>
              <a:r>
                <a:rPr lang="en-US" altLang="zh-CN" sz="2400" dirty="0">
                  <a:latin typeface="Times New Roman" panose="02020603050405020304" pitchFamily="18" charset="0"/>
                </a:rPr>
                <a:t>&amp; </a:t>
              </a:r>
              <a:r>
                <a:rPr lang="en-US" altLang="zh-CN" sz="2400" i="1" dirty="0">
                  <a:latin typeface="Times New Roman" panose="02020603050405020304" pitchFamily="18" charset="0"/>
                </a:rPr>
                <a:t>D</a:t>
              </a:r>
            </a:p>
            <a:p>
              <a:pPr algn="just">
                <a:lnSpc>
                  <a:spcPct val="96000"/>
                </a:lnSpc>
              </a:pPr>
              <a:r>
                <a:rPr lang="en-US" altLang="zh-CN" sz="2400" dirty="0">
                  <a:latin typeface="Times New Roman" panose="02020603050405020304" pitchFamily="18" charset="0"/>
                </a:rPr>
                <a:t> </a:t>
              </a:r>
            </a:p>
            <a:p>
              <a:pPr algn="just">
                <a:lnSpc>
                  <a:spcPct val="96000"/>
                </a:lnSpc>
              </a:pPr>
              <a:r>
                <a:rPr lang="en-US" altLang="zh-CN" sz="2400" i="1" dirty="0">
                  <a:latin typeface="Times New Roman" panose="02020603050405020304" pitchFamily="18" charset="0"/>
                </a:rPr>
                <a:t> C</a:t>
              </a:r>
            </a:p>
            <a:p>
              <a:pPr algn="just">
                <a:lnSpc>
                  <a:spcPct val="96000"/>
                </a:lnSpc>
              </a:pPr>
              <a:r>
                <a:rPr lang="en-US" altLang="zh-CN" sz="2400" dirty="0">
                  <a:latin typeface="Times New Roman" panose="02020603050405020304" pitchFamily="18" charset="0"/>
                </a:rPr>
                <a:t> </a:t>
              </a:r>
            </a:p>
            <a:p>
              <a:pPr algn="just">
                <a:lnSpc>
                  <a:spcPct val="96000"/>
                </a:lnSpc>
              </a:pPr>
              <a:endParaRPr lang="en-US" altLang="zh-CN" sz="7200" dirty="0">
                <a:latin typeface="Times New Roman" panose="02020603050405020304" pitchFamily="18" charset="0"/>
              </a:endParaRPr>
            </a:p>
          </p:txBody>
        </p:sp>
        <p:sp>
          <p:nvSpPr>
            <p:cNvPr id="13350" name="Freeform 36"/>
            <p:cNvSpPr/>
            <p:nvPr/>
          </p:nvSpPr>
          <p:spPr>
            <a:xfrm>
              <a:off x="4200" y="3145"/>
              <a:ext cx="62" cy="102"/>
            </a:xfrm>
            <a:custGeom>
              <a:avLst/>
              <a:gdLst>
                <a:gd name="txL" fmla="*/ 0 w 120"/>
                <a:gd name="txT" fmla="*/ 0 h 156"/>
                <a:gd name="txR" fmla="*/ 120 w 120"/>
                <a:gd name="txB" fmla="*/ 156 h 156"/>
              </a:gdLst>
              <a:ahLst/>
              <a:cxnLst>
                <a:cxn ang="0">
                  <a:pos x="0" y="0"/>
                </a:cxn>
                <a:cxn ang="0">
                  <a:pos x="32" y="27"/>
                </a:cxn>
                <a:cxn ang="0">
                  <a:pos x="1" y="67"/>
                </a:cxn>
              </a:cxnLst>
              <a:rect l="txL" t="txT" r="txR" b="txB"/>
              <a:pathLst>
                <a:path w="120" h="156">
                  <a:moveTo>
                    <a:pt x="0" y="0"/>
                  </a:moveTo>
                  <a:lnTo>
                    <a:pt x="120" y="63"/>
                  </a:lnTo>
                  <a:lnTo>
                    <a:pt x="1" y="156"/>
                  </a:lnTo>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sz="2800"/>
            </a:p>
          </p:txBody>
        </p:sp>
        <p:sp>
          <p:nvSpPr>
            <p:cNvPr id="13351" name="Line 37"/>
            <p:cNvSpPr/>
            <p:nvPr/>
          </p:nvSpPr>
          <p:spPr>
            <a:xfrm>
              <a:off x="3991" y="3195"/>
              <a:ext cx="180" cy="0"/>
            </a:xfrm>
            <a:prstGeom prst="line">
              <a:avLst/>
            </a:prstGeom>
            <a:ln w="9525" cap="flat" cmpd="sng">
              <a:solidFill>
                <a:srgbClr val="000000"/>
              </a:solidFill>
              <a:prstDash val="solid"/>
              <a:headEnd type="none" w="med" len="med"/>
              <a:tailEnd type="none" w="med" len="med"/>
            </a:ln>
          </p:spPr>
        </p:sp>
        <p:sp>
          <p:nvSpPr>
            <p:cNvPr id="13352" name="Oval 38"/>
            <p:cNvSpPr/>
            <p:nvPr/>
          </p:nvSpPr>
          <p:spPr>
            <a:xfrm>
              <a:off x="4789" y="3126"/>
              <a:ext cx="57" cy="57"/>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3353" name="Line 39"/>
            <p:cNvSpPr/>
            <p:nvPr/>
          </p:nvSpPr>
          <p:spPr>
            <a:xfrm>
              <a:off x="3991" y="3201"/>
              <a:ext cx="0" cy="527"/>
            </a:xfrm>
            <a:prstGeom prst="line">
              <a:avLst/>
            </a:prstGeom>
            <a:ln w="9525" cap="flat" cmpd="sng">
              <a:solidFill>
                <a:srgbClr val="000000"/>
              </a:solidFill>
              <a:prstDash val="solid"/>
              <a:headEnd type="none" w="med" len="med"/>
              <a:tailEnd type="none" w="med" len="med"/>
            </a:ln>
          </p:spPr>
        </p:sp>
        <p:sp>
          <p:nvSpPr>
            <p:cNvPr id="13354" name="Line 40"/>
            <p:cNvSpPr/>
            <p:nvPr/>
          </p:nvSpPr>
          <p:spPr>
            <a:xfrm>
              <a:off x="4793" y="2757"/>
              <a:ext cx="609" cy="0"/>
            </a:xfrm>
            <a:prstGeom prst="line">
              <a:avLst/>
            </a:prstGeom>
            <a:ln w="9525" cap="flat" cmpd="sng">
              <a:solidFill>
                <a:srgbClr val="000000"/>
              </a:solidFill>
              <a:prstDash val="solid"/>
              <a:headEnd type="none" w="med" len="med"/>
              <a:tailEnd type="none" w="med" len="med"/>
            </a:ln>
          </p:spPr>
        </p:sp>
        <p:sp>
          <p:nvSpPr>
            <p:cNvPr id="13355" name="Line 41"/>
            <p:cNvSpPr/>
            <p:nvPr/>
          </p:nvSpPr>
          <p:spPr>
            <a:xfrm>
              <a:off x="5228" y="3195"/>
              <a:ext cx="180" cy="0"/>
            </a:xfrm>
            <a:prstGeom prst="line">
              <a:avLst/>
            </a:prstGeom>
            <a:ln w="9525" cap="flat" cmpd="sng">
              <a:solidFill>
                <a:srgbClr val="000000"/>
              </a:solidFill>
              <a:prstDash val="solid"/>
              <a:headEnd type="none" w="med" len="med"/>
              <a:tailEnd type="none" w="med" len="med"/>
            </a:ln>
          </p:spPr>
        </p:sp>
        <p:sp>
          <p:nvSpPr>
            <p:cNvPr id="13356" name="Line 42"/>
            <p:cNvSpPr/>
            <p:nvPr/>
          </p:nvSpPr>
          <p:spPr>
            <a:xfrm>
              <a:off x="5228" y="3201"/>
              <a:ext cx="0" cy="527"/>
            </a:xfrm>
            <a:prstGeom prst="line">
              <a:avLst/>
            </a:prstGeom>
            <a:ln w="9525" cap="flat" cmpd="sng">
              <a:solidFill>
                <a:srgbClr val="000000"/>
              </a:solidFill>
              <a:prstDash val="solid"/>
              <a:headEnd type="none" w="med" len="med"/>
              <a:tailEnd type="none" w="med" len="med"/>
            </a:ln>
          </p:spPr>
        </p:sp>
        <p:sp>
          <p:nvSpPr>
            <p:cNvPr id="13357" name="Freeform 43"/>
            <p:cNvSpPr/>
            <p:nvPr/>
          </p:nvSpPr>
          <p:spPr>
            <a:xfrm>
              <a:off x="4186" y="2592"/>
              <a:ext cx="254" cy="270"/>
            </a:xfrm>
            <a:custGeom>
              <a:avLst/>
              <a:gdLst>
                <a:gd name="txL" fmla="*/ 0 w 254"/>
                <a:gd name="txT" fmla="*/ 0 h 270"/>
                <a:gd name="txR" fmla="*/ 254 w 254"/>
                <a:gd name="txB" fmla="*/ 270 h 270"/>
              </a:gdLst>
              <a:ahLst/>
              <a:cxnLst>
                <a:cxn ang="0">
                  <a:pos x="254" y="0"/>
                </a:cxn>
                <a:cxn ang="0">
                  <a:pos x="254" y="270"/>
                </a:cxn>
                <a:cxn ang="0">
                  <a:pos x="0" y="270"/>
                </a:cxn>
              </a:cxnLst>
              <a:rect l="txL" t="txT" r="txR" b="txB"/>
              <a:pathLst>
                <a:path w="254" h="270">
                  <a:moveTo>
                    <a:pt x="254" y="0"/>
                  </a:moveTo>
                  <a:lnTo>
                    <a:pt x="254" y="270"/>
                  </a:lnTo>
                  <a:lnTo>
                    <a:pt x="0" y="270"/>
                  </a:lnTo>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sz="2800"/>
            </a:p>
          </p:txBody>
        </p:sp>
        <p:sp>
          <p:nvSpPr>
            <p:cNvPr id="13358" name="Oval 44"/>
            <p:cNvSpPr/>
            <p:nvPr/>
          </p:nvSpPr>
          <p:spPr>
            <a:xfrm>
              <a:off x="6363" y="3705"/>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3359" name="Oval 45"/>
            <p:cNvSpPr/>
            <p:nvPr/>
          </p:nvSpPr>
          <p:spPr>
            <a:xfrm>
              <a:off x="5202" y="3711"/>
              <a:ext cx="57" cy="57"/>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graphicFrame>
          <p:nvGraphicFramePr>
            <p:cNvPr id="13315" name="Object 46"/>
            <p:cNvGraphicFramePr>
              <a:graphicFrameLocks noChangeAspect="1"/>
            </p:cNvGraphicFramePr>
            <p:nvPr/>
          </p:nvGraphicFramePr>
          <p:xfrm>
            <a:off x="8344" y="2835"/>
            <a:ext cx="255" cy="315"/>
          </p:xfrm>
          <a:graphic>
            <a:graphicData uri="http://schemas.openxmlformats.org/presentationml/2006/ole">
              <mc:AlternateContent xmlns:mc="http://schemas.openxmlformats.org/markup-compatibility/2006">
                <mc:Choice xmlns:v="urn:schemas-microsoft-com:vml" Requires="v">
                  <p:oleObj r:id="rId2" imgW="190500" imgH="241300" progId="Equation.3">
                    <p:embed/>
                  </p:oleObj>
                </mc:Choice>
                <mc:Fallback>
                  <p:oleObj r:id="rId2" imgW="190500" imgH="241300" progId="Equation.3">
                    <p:embed/>
                    <p:pic>
                      <p:nvPicPr>
                        <p:cNvPr id="0" name="图片 3121"/>
                        <p:cNvPicPr/>
                        <p:nvPr/>
                      </p:nvPicPr>
                      <p:blipFill>
                        <a:blip r:embed="rId3"/>
                        <a:stretch>
                          <a:fillRect/>
                        </a:stretch>
                      </p:blipFill>
                      <p:spPr>
                        <a:xfrm>
                          <a:off x="8344" y="2835"/>
                          <a:ext cx="255" cy="315"/>
                        </a:xfrm>
                        <a:prstGeom prst="rect">
                          <a:avLst/>
                        </a:prstGeom>
                        <a:noFill/>
                        <a:ln w="38100">
                          <a:noFill/>
                          <a:miter/>
                        </a:ln>
                      </p:spPr>
                    </p:pic>
                  </p:oleObj>
                </mc:Fallback>
              </mc:AlternateContent>
            </a:graphicData>
          </a:graphic>
        </p:graphicFrame>
      </p:grpSp>
      <p:graphicFrame>
        <p:nvGraphicFramePr>
          <p:cNvPr id="13314" name="Object 47"/>
          <p:cNvGraphicFramePr>
            <a:graphicFrameLocks noGrp="1" noChangeAspect="1"/>
          </p:cNvGraphicFramePr>
          <p:nvPr>
            <p:ph/>
          </p:nvPr>
        </p:nvGraphicFramePr>
        <p:xfrm>
          <a:off x="3975100" y="1177925"/>
          <a:ext cx="1443038" cy="481013"/>
        </p:xfrm>
        <a:graphic>
          <a:graphicData uri="http://schemas.openxmlformats.org/presentationml/2006/ole">
            <mc:AlternateContent xmlns:mc="http://schemas.openxmlformats.org/markup-compatibility/2006">
              <mc:Choice xmlns:v="urn:schemas-microsoft-com:vml" Requires="v">
                <p:oleObj r:id="rId4" imgW="685800" imgH="228600" progId="Equation.3">
                  <p:embed/>
                </p:oleObj>
              </mc:Choice>
              <mc:Fallback>
                <p:oleObj r:id="rId4" imgW="685800" imgH="228600" progId="Equation.3">
                  <p:embed/>
                  <p:pic>
                    <p:nvPicPr>
                      <p:cNvPr id="0" name="图片 3120"/>
                      <p:cNvPicPr/>
                      <p:nvPr/>
                    </p:nvPicPr>
                    <p:blipFill>
                      <a:blip r:embed="rId5"/>
                      <a:srcRect/>
                      <a:stretch>
                        <a:fillRect/>
                      </a:stretch>
                    </p:blipFill>
                    <p:spPr>
                      <a:xfrm>
                        <a:off x="3975100" y="1177925"/>
                        <a:ext cx="1443038" cy="481013"/>
                      </a:xfrm>
                      <a:prstGeom prst="rect">
                        <a:avLst/>
                      </a:prstGeom>
                      <a:noFill/>
                      <a:ln w="38100">
                        <a:miter/>
                      </a:ln>
                    </p:spPr>
                  </p:pic>
                </p:oleObj>
              </mc:Fallback>
            </mc:AlternateContent>
          </a:graphicData>
        </a:graphic>
      </p:graphicFrame>
    </p:spTree>
  </p:cSld>
  <p:clrMapOvr>
    <a:masterClrMapping/>
  </p:clrMapOvr>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descr="羊皮纸"/>
          <p:cNvSpPr/>
          <p:nvPr/>
        </p:nvSpPr>
        <p:spPr>
          <a:xfrm>
            <a:off x="-4584700" y="2781300"/>
            <a:ext cx="9144000" cy="0"/>
          </a:xfrm>
          <a:prstGeom prst="rect">
            <a:avLst/>
          </a:prstGeom>
          <a:noFill/>
          <a:ln w="38100">
            <a:noFill/>
          </a:ln>
        </p:spPr>
        <p:txBody>
          <a:bodyPr wrap="none" lIns="90000" tIns="46800" rIns="90000" bIns="46800" anchor="ctr" anchorCtr="0">
            <a:spAutoFit/>
          </a:bodyPr>
          <a:lstStyle/>
          <a:p>
            <a:endParaRPr lang="zh-CN" altLang="en-US" sz="2800" dirty="0">
              <a:latin typeface="Times New Roman" panose="02020603050405020304" pitchFamily="18" charset="0"/>
            </a:endParaRPr>
          </a:p>
        </p:txBody>
      </p:sp>
      <p:sp>
        <p:nvSpPr>
          <p:cNvPr id="111619" name="Rectangle 3" descr="羊皮纸"/>
          <p:cNvSpPr/>
          <p:nvPr/>
        </p:nvSpPr>
        <p:spPr>
          <a:xfrm>
            <a:off x="206375" y="588963"/>
            <a:ext cx="8688388" cy="3935412"/>
          </a:xfrm>
          <a:prstGeom prst="rect">
            <a:avLst/>
          </a:prstGeom>
          <a:noFill/>
          <a:ln w="38100">
            <a:noFill/>
          </a:ln>
        </p:spPr>
        <p:txBody>
          <a:bodyPr lIns="90000" tIns="46800" rIns="90000" bIns="46800" anchor="ctr" anchorCtr="0">
            <a:spAutoFit/>
          </a:bodyPr>
          <a:lstStyle/>
          <a:p>
            <a:r>
              <a:rPr lang="zh-CN" altLang="en-US" sz="2800" b="1" dirty="0">
                <a:solidFill>
                  <a:srgbClr val="000000"/>
                </a:solidFill>
                <a:latin typeface="Times New Roman" panose="02020603050405020304" pitchFamily="18" charset="0"/>
              </a:rPr>
              <a:t>例</a:t>
            </a:r>
            <a:r>
              <a:rPr lang="en-US" altLang="zh-CN" sz="2800" b="1" dirty="0">
                <a:solidFill>
                  <a:srgbClr val="000000"/>
                </a:solidFill>
                <a:latin typeface="Times New Roman" panose="02020603050405020304" pitchFamily="18" charset="0"/>
              </a:rPr>
              <a:t>:</a:t>
            </a:r>
            <a:r>
              <a:rPr lang="zh-CN" altLang="en-US" sz="2800" dirty="0">
                <a:latin typeface="Times New Roman" panose="02020603050405020304" pitchFamily="18" charset="0"/>
              </a:rPr>
              <a:t>设计一个公路和铁路交叉路口交通控制电路，如下图所示。在</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和</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2</a:t>
            </a:r>
            <a:r>
              <a:rPr lang="zh-CN" altLang="en-US" sz="2800" dirty="0">
                <a:latin typeface="Times New Roman" panose="02020603050405020304" pitchFamily="18" charset="0"/>
              </a:rPr>
              <a:t>点设置两个压敏器件，当它承受火车的压力时，产生逻辑电平</a:t>
            </a:r>
            <a:r>
              <a:rPr lang="en-US" altLang="zh-CN" sz="2800" dirty="0">
                <a:latin typeface="Times New Roman" panose="02020603050405020304" pitchFamily="18" charset="0"/>
              </a:rPr>
              <a:t>1</a:t>
            </a:r>
            <a:r>
              <a:rPr lang="zh-CN" altLang="en-US" sz="2800" dirty="0">
                <a:latin typeface="Times New Roman" panose="02020603050405020304" pitchFamily="18" charset="0"/>
              </a:rPr>
              <a:t>，否则为</a:t>
            </a:r>
            <a:r>
              <a:rPr lang="en-US" altLang="zh-CN" sz="2800" dirty="0">
                <a:latin typeface="Times New Roman" panose="02020603050405020304" pitchFamily="18" charset="0"/>
              </a:rPr>
              <a:t>0</a:t>
            </a:r>
            <a:r>
              <a:rPr lang="zh-CN" altLang="en-US" sz="2800" dirty="0">
                <a:latin typeface="Times New Roman" panose="02020603050405020304" pitchFamily="18" charset="0"/>
              </a:rPr>
              <a:t>。为保证同一列火车不会同时压在两上压敏元件上，假设</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和</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2­</a:t>
            </a:r>
            <a:r>
              <a:rPr lang="zh-CN" altLang="en-US" sz="2800" dirty="0">
                <a:latin typeface="Times New Roman" panose="02020603050405020304" pitchFamily="18" charset="0"/>
              </a:rPr>
              <a:t>点相距较远。</a:t>
            </a:r>
            <a:r>
              <a:rPr lang="zh-CN" altLang="en-US" sz="2800" i="1" dirty="0">
                <a:latin typeface="Times New Roman" panose="02020603050405020304" pitchFamily="18" charset="0"/>
              </a:rPr>
              <a:t> </a:t>
            </a:r>
            <a:r>
              <a:rPr lang="en-US" altLang="zh-CN" sz="2800" i="1" dirty="0">
                <a:latin typeface="Times New Roman" panose="02020603050405020304" pitchFamily="18" charset="0"/>
              </a:rPr>
              <a:t>A</a:t>
            </a:r>
            <a:r>
              <a:rPr lang="zh-CN" altLang="en-US" sz="2800" dirty="0">
                <a:latin typeface="Times New Roman" panose="02020603050405020304" pitchFamily="18" charset="0"/>
              </a:rPr>
              <a:t>，</a:t>
            </a:r>
            <a:r>
              <a:rPr lang="en-US" altLang="zh-CN" sz="2800" i="1" dirty="0">
                <a:latin typeface="Times New Roman" panose="02020603050405020304" pitchFamily="18" charset="0"/>
              </a:rPr>
              <a:t>B</a:t>
            </a:r>
            <a:r>
              <a:rPr lang="zh-CN" altLang="en-US" sz="2800" dirty="0">
                <a:latin typeface="Times New Roman" panose="02020603050405020304" pitchFamily="18" charset="0"/>
              </a:rPr>
              <a:t>是两个栅门，要求火车任何部分位于</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2</a:t>
            </a:r>
            <a:r>
              <a:rPr lang="zh-CN" altLang="en-US" sz="2800" dirty="0">
                <a:latin typeface="Times New Roman" panose="02020603050405020304" pitchFamily="18" charset="0"/>
              </a:rPr>
              <a:t>之间时，栅门</a:t>
            </a:r>
            <a:r>
              <a:rPr lang="en-US" altLang="zh-CN" sz="2800" i="1" dirty="0">
                <a:latin typeface="Times New Roman" panose="02020603050405020304" pitchFamily="18" charset="0"/>
              </a:rPr>
              <a:t>A</a:t>
            </a:r>
            <a:r>
              <a:rPr lang="zh-CN" altLang="en-US" sz="2800" dirty="0">
                <a:latin typeface="Times New Roman" panose="02020603050405020304" pitchFamily="18" charset="0"/>
              </a:rPr>
              <a:t>，</a:t>
            </a:r>
            <a:r>
              <a:rPr lang="en-US" altLang="zh-CN" sz="2800" i="1" dirty="0">
                <a:latin typeface="Times New Roman" panose="02020603050405020304" pitchFamily="18" charset="0"/>
              </a:rPr>
              <a:t>B</a:t>
            </a:r>
            <a:r>
              <a:rPr lang="zh-CN" altLang="en-US" sz="2800" dirty="0">
                <a:latin typeface="Times New Roman" panose="02020603050405020304" pitchFamily="18" charset="0"/>
              </a:rPr>
              <a:t>应同时关闭，否则栅门同时打开。压敏器件</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a:t>
            </a:r>
            <a:r>
              <a:rPr lang="en-US" altLang="zh-CN" sz="2800" i="1" dirty="0">
                <a:latin typeface="Times New Roman" panose="02020603050405020304" pitchFamily="18" charset="0"/>
              </a:rPr>
              <a:t>P</a:t>
            </a:r>
            <a:r>
              <a:rPr lang="en-US" altLang="zh-CN" sz="2800" baseline="-30000" dirty="0">
                <a:latin typeface="Times New Roman" panose="02020603050405020304" pitchFamily="18" charset="0"/>
              </a:rPr>
              <a:t>2</a:t>
            </a:r>
            <a:r>
              <a:rPr lang="zh-CN" altLang="en-US" sz="2800" dirty="0">
                <a:latin typeface="Times New Roman" panose="02020603050405020304" pitchFamily="18" charset="0"/>
              </a:rPr>
              <a:t>的输出用</a:t>
            </a:r>
            <a:r>
              <a:rPr lang="en-US" altLang="zh-CN" sz="2800" i="1" dirty="0">
                <a:latin typeface="Times New Roman" panose="02020603050405020304" pitchFamily="18" charset="0"/>
              </a:rPr>
              <a:t>x</a:t>
            </a:r>
            <a:r>
              <a:rPr lang="en-US" altLang="zh-CN" sz="2800" baseline="-30000" dirty="0">
                <a:latin typeface="Times New Roman" panose="02020603050405020304" pitchFamily="18" charset="0"/>
              </a:rPr>
              <a:t>1</a:t>
            </a:r>
            <a:r>
              <a:rPr lang="zh-CN" altLang="en-US" sz="2800" dirty="0">
                <a:latin typeface="Times New Roman" panose="02020603050405020304" pitchFamily="18" charset="0"/>
              </a:rPr>
              <a:t>，</a:t>
            </a:r>
            <a:r>
              <a:rPr lang="en-US" altLang="zh-CN" sz="2800" i="1" dirty="0">
                <a:latin typeface="Times New Roman" panose="02020603050405020304" pitchFamily="18" charset="0"/>
              </a:rPr>
              <a:t>x</a:t>
            </a:r>
            <a:r>
              <a:rPr lang="en-US" altLang="zh-CN" sz="2800" baseline="-30000" dirty="0">
                <a:latin typeface="Times New Roman" panose="02020603050405020304" pitchFamily="18" charset="0"/>
              </a:rPr>
              <a:t>2</a:t>
            </a:r>
            <a:r>
              <a:rPr lang="zh-CN" altLang="en-US" sz="2800" dirty="0">
                <a:latin typeface="Times New Roman" panose="02020603050405020304" pitchFamily="18" charset="0"/>
              </a:rPr>
              <a:t>表示，它控制一电路，使其输出为</a:t>
            </a:r>
            <a:r>
              <a:rPr lang="en-US" altLang="zh-CN" sz="2800" i="1" dirty="0">
                <a:latin typeface="Times New Roman" panose="02020603050405020304" pitchFamily="18" charset="0"/>
              </a:rPr>
              <a:t>Z</a:t>
            </a:r>
            <a:r>
              <a:rPr lang="zh-CN" altLang="en-US" sz="2800" dirty="0">
                <a:latin typeface="Times New Roman" panose="02020603050405020304" pitchFamily="18" charset="0"/>
              </a:rPr>
              <a:t>，当</a:t>
            </a:r>
            <a:r>
              <a:rPr lang="en-US" altLang="zh-CN" sz="2800" i="1" dirty="0">
                <a:latin typeface="Times New Roman" panose="02020603050405020304" pitchFamily="18" charset="0"/>
              </a:rPr>
              <a:t>Z</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，栅门</a:t>
            </a:r>
            <a:r>
              <a:rPr lang="en-US" altLang="zh-CN" sz="2800" i="1" dirty="0">
                <a:latin typeface="Times New Roman" panose="02020603050405020304" pitchFamily="18" charset="0"/>
              </a:rPr>
              <a:t>A</a:t>
            </a:r>
            <a:r>
              <a:rPr lang="zh-CN" altLang="en-US" sz="2800" dirty="0">
                <a:latin typeface="Times New Roman" panose="02020603050405020304" pitchFamily="18" charset="0"/>
              </a:rPr>
              <a:t>，</a:t>
            </a:r>
            <a:r>
              <a:rPr lang="en-US" altLang="zh-CN" sz="2800" i="1" dirty="0">
                <a:latin typeface="Times New Roman" panose="02020603050405020304" pitchFamily="18" charset="0"/>
              </a:rPr>
              <a:t>B</a:t>
            </a:r>
            <a:r>
              <a:rPr lang="zh-CN" altLang="en-US" sz="2800" dirty="0">
                <a:latin typeface="Times New Roman" panose="02020603050405020304" pitchFamily="18" charset="0"/>
              </a:rPr>
              <a:t>关闭；当</a:t>
            </a:r>
            <a:r>
              <a:rPr lang="en-US" altLang="zh-CN" sz="2800" i="1" dirty="0">
                <a:latin typeface="Times New Roman" panose="02020603050405020304" pitchFamily="18" charset="0"/>
              </a:rPr>
              <a:t>Z</a:t>
            </a:r>
            <a:r>
              <a:rPr lang="zh-CN" altLang="en-US" sz="2800" dirty="0">
                <a:latin typeface="Times New Roman" panose="02020603050405020304" pitchFamily="18" charset="0"/>
              </a:rPr>
              <a:t>＝</a:t>
            </a:r>
            <a:r>
              <a:rPr lang="en-US" altLang="zh-CN" sz="2800" dirty="0">
                <a:latin typeface="Times New Roman" panose="02020603050405020304" pitchFamily="18" charset="0"/>
              </a:rPr>
              <a:t>0</a:t>
            </a:r>
            <a:r>
              <a:rPr lang="zh-CN" altLang="en-US" sz="2800" dirty="0">
                <a:latin typeface="Times New Roman" panose="02020603050405020304" pitchFamily="18" charset="0"/>
              </a:rPr>
              <a:t>，栅门</a:t>
            </a:r>
            <a:r>
              <a:rPr lang="en-US" altLang="zh-CN" sz="2800" i="1" dirty="0">
                <a:latin typeface="Times New Roman" panose="02020603050405020304" pitchFamily="18" charset="0"/>
              </a:rPr>
              <a:t>A</a:t>
            </a:r>
            <a:r>
              <a:rPr lang="zh-CN" altLang="en-US" sz="2800" dirty="0">
                <a:latin typeface="Times New Roman" panose="02020603050405020304" pitchFamily="18" charset="0"/>
              </a:rPr>
              <a:t>，</a:t>
            </a:r>
            <a:r>
              <a:rPr lang="en-US" altLang="zh-CN" sz="2800" i="1" dirty="0">
                <a:latin typeface="Times New Roman" panose="02020603050405020304" pitchFamily="18" charset="0"/>
              </a:rPr>
              <a:t>B</a:t>
            </a:r>
            <a:r>
              <a:rPr lang="zh-CN" altLang="en-US" sz="2800" dirty="0">
                <a:latin typeface="Times New Roman" panose="02020603050405020304" pitchFamily="18" charset="0"/>
              </a:rPr>
              <a:t>打开。</a:t>
            </a:r>
          </a:p>
        </p:txBody>
      </p:sp>
      <p:sp>
        <p:nvSpPr>
          <p:cNvPr id="111620" name="Rectangle 4"/>
          <p:cNvSpPr/>
          <p:nvPr/>
        </p:nvSpPr>
        <p:spPr>
          <a:xfrm>
            <a:off x="4083050" y="4437063"/>
            <a:ext cx="757238" cy="442912"/>
          </a:xfrm>
          <a:prstGeom prst="rect">
            <a:avLst/>
          </a:prstGeom>
          <a:noFill/>
          <a:ln w="9525">
            <a:noFill/>
          </a:ln>
        </p:spPr>
        <p:txBody>
          <a:bodyPr lIns="0" tIns="0" rIns="0" bIns="0"/>
          <a:lstStyle/>
          <a:p>
            <a:pPr algn="just"/>
            <a:r>
              <a:rPr lang="zh-CN" altLang="en-US" sz="2400" dirty="0">
                <a:latin typeface="Times New Roman" panose="02020603050405020304" pitchFamily="18" charset="0"/>
              </a:rPr>
              <a:t>公路</a:t>
            </a:r>
            <a:endParaRPr lang="zh-CN" altLang="en-US" sz="7200" dirty="0">
              <a:latin typeface="Times New Roman" panose="02020603050405020304" pitchFamily="18" charset="0"/>
            </a:endParaRPr>
          </a:p>
        </p:txBody>
      </p:sp>
      <p:sp>
        <p:nvSpPr>
          <p:cNvPr id="111621" name="Rectangle 5"/>
          <p:cNvSpPr/>
          <p:nvPr/>
        </p:nvSpPr>
        <p:spPr>
          <a:xfrm>
            <a:off x="2935288" y="5597525"/>
            <a:ext cx="349250" cy="442913"/>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B</a:t>
            </a:r>
            <a:endParaRPr lang="en-US" altLang="zh-CN" sz="7200" dirty="0">
              <a:latin typeface="Times New Roman" panose="02020603050405020304" pitchFamily="18" charset="0"/>
            </a:endParaRPr>
          </a:p>
        </p:txBody>
      </p:sp>
      <p:sp>
        <p:nvSpPr>
          <p:cNvPr id="111622" name="Rectangle 6"/>
          <p:cNvSpPr/>
          <p:nvPr/>
        </p:nvSpPr>
        <p:spPr>
          <a:xfrm>
            <a:off x="1876425" y="4768850"/>
            <a:ext cx="349250" cy="442913"/>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P</a:t>
            </a:r>
            <a:r>
              <a:rPr lang="en-US" altLang="zh-CN" sz="2400" baseline="-25000" dirty="0">
                <a:latin typeface="Times New Roman" panose="02020603050405020304" pitchFamily="18" charset="0"/>
              </a:rPr>
              <a:t>1</a:t>
            </a:r>
            <a:endParaRPr lang="en-US" altLang="zh-CN" sz="7200" dirty="0">
              <a:latin typeface="Times New Roman" panose="02020603050405020304" pitchFamily="18" charset="0"/>
            </a:endParaRPr>
          </a:p>
        </p:txBody>
      </p:sp>
      <p:sp>
        <p:nvSpPr>
          <p:cNvPr id="111623" name="Line 7"/>
          <p:cNvSpPr/>
          <p:nvPr/>
        </p:nvSpPr>
        <p:spPr>
          <a:xfrm>
            <a:off x="3830638" y="4586288"/>
            <a:ext cx="0" cy="1547812"/>
          </a:xfrm>
          <a:prstGeom prst="line">
            <a:avLst/>
          </a:prstGeom>
          <a:ln w="9525" cap="flat" cmpd="sng">
            <a:solidFill>
              <a:srgbClr val="000000"/>
            </a:solidFill>
            <a:prstDash val="solid"/>
            <a:headEnd type="none" w="med" len="med"/>
            <a:tailEnd type="none" w="med" len="med"/>
          </a:ln>
        </p:spPr>
      </p:sp>
      <p:sp>
        <p:nvSpPr>
          <p:cNvPr id="111624" name="Line 8"/>
          <p:cNvSpPr/>
          <p:nvPr/>
        </p:nvSpPr>
        <p:spPr>
          <a:xfrm>
            <a:off x="4840288" y="4549775"/>
            <a:ext cx="0" cy="1546225"/>
          </a:xfrm>
          <a:prstGeom prst="line">
            <a:avLst/>
          </a:prstGeom>
          <a:ln w="9525" cap="flat" cmpd="sng">
            <a:solidFill>
              <a:srgbClr val="000000"/>
            </a:solidFill>
            <a:prstDash val="solid"/>
            <a:headEnd type="none" w="med" len="med"/>
            <a:tailEnd type="none" w="med" len="med"/>
          </a:ln>
        </p:spPr>
      </p:sp>
      <p:sp>
        <p:nvSpPr>
          <p:cNvPr id="111625" name="Line 9"/>
          <p:cNvSpPr/>
          <p:nvPr/>
        </p:nvSpPr>
        <p:spPr>
          <a:xfrm>
            <a:off x="3289300" y="4824413"/>
            <a:ext cx="2032000" cy="0"/>
          </a:xfrm>
          <a:prstGeom prst="line">
            <a:avLst/>
          </a:prstGeom>
          <a:ln w="9525" cap="flat" cmpd="sng">
            <a:solidFill>
              <a:srgbClr val="000000"/>
            </a:solidFill>
            <a:prstDash val="lgDash"/>
            <a:headEnd type="none" w="med" len="med"/>
            <a:tailEnd type="none" w="med" len="med"/>
          </a:ln>
        </p:spPr>
      </p:sp>
      <p:sp>
        <p:nvSpPr>
          <p:cNvPr id="111626" name="Line 10"/>
          <p:cNvSpPr/>
          <p:nvPr/>
        </p:nvSpPr>
        <p:spPr>
          <a:xfrm>
            <a:off x="3305175" y="5829300"/>
            <a:ext cx="2033588" cy="0"/>
          </a:xfrm>
          <a:prstGeom prst="line">
            <a:avLst/>
          </a:prstGeom>
          <a:ln w="9525" cap="flat" cmpd="sng">
            <a:solidFill>
              <a:srgbClr val="000000"/>
            </a:solidFill>
            <a:prstDash val="lgDash"/>
            <a:headEnd type="none" w="med" len="med"/>
            <a:tailEnd type="none" w="med" len="med"/>
          </a:ln>
        </p:spPr>
      </p:sp>
      <p:sp>
        <p:nvSpPr>
          <p:cNvPr id="111627" name="Oval 11"/>
          <p:cNvSpPr/>
          <p:nvPr/>
        </p:nvSpPr>
        <p:spPr>
          <a:xfrm>
            <a:off x="3263900" y="5799138"/>
            <a:ext cx="79375" cy="69850"/>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11628" name="Oval 12"/>
          <p:cNvSpPr/>
          <p:nvPr/>
        </p:nvSpPr>
        <p:spPr>
          <a:xfrm>
            <a:off x="5302250" y="4799013"/>
            <a:ext cx="79375" cy="69850"/>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11629" name="Rectangle 13"/>
          <p:cNvSpPr/>
          <p:nvPr/>
        </p:nvSpPr>
        <p:spPr>
          <a:xfrm>
            <a:off x="7005638" y="4805363"/>
            <a:ext cx="347662" cy="442912"/>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P</a:t>
            </a:r>
            <a:r>
              <a:rPr lang="en-US" altLang="zh-CN" sz="2400" baseline="-25000" dirty="0">
                <a:latin typeface="Times New Roman" panose="02020603050405020304" pitchFamily="18" charset="0"/>
              </a:rPr>
              <a:t>2</a:t>
            </a:r>
            <a:endParaRPr lang="en-US" altLang="zh-CN" sz="7200" dirty="0">
              <a:latin typeface="Times New Roman" panose="02020603050405020304" pitchFamily="18" charset="0"/>
            </a:endParaRPr>
          </a:p>
        </p:txBody>
      </p:sp>
      <p:sp>
        <p:nvSpPr>
          <p:cNvPr id="111630" name="Rectangle 14"/>
          <p:cNvSpPr/>
          <p:nvPr/>
        </p:nvSpPr>
        <p:spPr>
          <a:xfrm>
            <a:off x="5407025" y="4605338"/>
            <a:ext cx="349250" cy="442912"/>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A</a:t>
            </a:r>
            <a:endParaRPr lang="en-US" altLang="zh-CN" sz="7200" dirty="0">
              <a:latin typeface="Times New Roman" panose="02020603050405020304" pitchFamily="18" charset="0"/>
            </a:endParaRPr>
          </a:p>
        </p:txBody>
      </p:sp>
      <p:sp>
        <p:nvSpPr>
          <p:cNvPr id="111631" name="Rectangle 15"/>
          <p:cNvSpPr/>
          <p:nvPr/>
        </p:nvSpPr>
        <p:spPr>
          <a:xfrm>
            <a:off x="1485900" y="5691188"/>
            <a:ext cx="347663" cy="442912"/>
          </a:xfrm>
          <a:prstGeom prst="rect">
            <a:avLst/>
          </a:prstGeom>
          <a:noFill/>
          <a:ln w="9525">
            <a:noFill/>
          </a:ln>
        </p:spPr>
        <p:txBody>
          <a:bodyPr lIns="0" tIns="0" rIns="0" bIns="0"/>
          <a:lstStyle/>
          <a:p>
            <a:pPr algn="just"/>
            <a:r>
              <a:rPr lang="zh-CN" altLang="en-US" sz="2400" dirty="0">
                <a:latin typeface="Times New Roman" panose="02020603050405020304" pitchFamily="18" charset="0"/>
              </a:rPr>
              <a:t>西</a:t>
            </a:r>
            <a:endParaRPr lang="zh-CN" altLang="en-US" sz="7200" dirty="0">
              <a:latin typeface="Times New Roman" panose="02020603050405020304" pitchFamily="18" charset="0"/>
            </a:endParaRPr>
          </a:p>
        </p:txBody>
      </p:sp>
      <p:sp>
        <p:nvSpPr>
          <p:cNvPr id="111632" name="Rectangle 16"/>
          <p:cNvSpPr/>
          <p:nvPr/>
        </p:nvSpPr>
        <p:spPr>
          <a:xfrm>
            <a:off x="6689725" y="5643563"/>
            <a:ext cx="349250" cy="441325"/>
          </a:xfrm>
          <a:prstGeom prst="rect">
            <a:avLst/>
          </a:prstGeom>
          <a:noFill/>
          <a:ln w="9525">
            <a:noFill/>
          </a:ln>
        </p:spPr>
        <p:txBody>
          <a:bodyPr lIns="0" tIns="0" rIns="0" bIns="0"/>
          <a:lstStyle/>
          <a:p>
            <a:pPr algn="just"/>
            <a:r>
              <a:rPr lang="zh-CN" altLang="en-US" sz="2400" dirty="0">
                <a:latin typeface="Times New Roman" panose="02020603050405020304" pitchFamily="18" charset="0"/>
              </a:rPr>
              <a:t>东</a:t>
            </a:r>
            <a:endParaRPr lang="zh-CN" altLang="en-US" sz="7200" dirty="0">
              <a:latin typeface="Times New Roman" panose="02020603050405020304" pitchFamily="18" charset="0"/>
            </a:endParaRPr>
          </a:p>
        </p:txBody>
      </p:sp>
      <p:graphicFrame>
        <p:nvGraphicFramePr>
          <p:cNvPr id="325649" name="Group 17"/>
          <p:cNvGraphicFramePr>
            <a:graphicFrameLocks noGrp="1"/>
          </p:cNvGraphicFramePr>
          <p:nvPr/>
        </p:nvGraphicFramePr>
        <p:xfrm>
          <a:off x="354013" y="5221288"/>
          <a:ext cx="8229600" cy="215900"/>
        </p:xfrm>
        <a:graphic>
          <a:graphicData uri="http://schemas.openxmlformats.org/drawingml/2006/table">
            <a:tbl>
              <a:tblPr/>
              <a:tblGrid>
                <a:gridCol w="1028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gridCol w="1028700">
                  <a:extLst>
                    <a:ext uri="{9D8B030D-6E8A-4147-A177-3AD203B41FA5}">
                      <a16:colId xmlns:a16="http://schemas.microsoft.com/office/drawing/2014/main" val="20005"/>
                    </a:ext>
                  </a:extLst>
                </a:gridCol>
                <a:gridCol w="1028700">
                  <a:extLst>
                    <a:ext uri="{9D8B030D-6E8A-4147-A177-3AD203B41FA5}">
                      <a16:colId xmlns:a16="http://schemas.microsoft.com/office/drawing/2014/main" val="20006"/>
                    </a:ext>
                  </a:extLst>
                </a:gridCol>
                <a:gridCol w="1028700">
                  <a:extLst>
                    <a:ext uri="{9D8B030D-6E8A-4147-A177-3AD203B41FA5}">
                      <a16:colId xmlns:a16="http://schemas.microsoft.com/office/drawing/2014/main" val="20007"/>
                    </a:ext>
                  </a:extLst>
                </a:gridCol>
              </a:tblGrid>
              <a:tr h="215900">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extLst>
                  <a:ext uri="{0D108BD9-81ED-4DB2-BD59-A6C34878D82A}">
                    <a16:rowId xmlns:a16="http://schemas.microsoft.com/office/drawing/2014/main" val="10000"/>
                  </a:ext>
                </a:extLst>
              </a:tr>
            </a:tbl>
          </a:graphicData>
        </a:graphic>
      </p:graphicFrame>
    </p:spTree>
  </p:cSld>
  <p:clrMapOvr>
    <a:masterClrMapping/>
  </p:clrMapOvr>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descr="羊皮纸"/>
          <p:cNvSpPr/>
          <p:nvPr/>
        </p:nvSpPr>
        <p:spPr>
          <a:xfrm>
            <a:off x="542925" y="387350"/>
            <a:ext cx="6048375" cy="519113"/>
          </a:xfrm>
          <a:prstGeom prst="rect">
            <a:avLst/>
          </a:prstGeom>
          <a:noFill/>
          <a:ln w="38100">
            <a:noFill/>
          </a:ln>
        </p:spPr>
        <p:txBody>
          <a:bodyPr wrap="none" lIns="90000" tIns="46800" rIns="90000" bIns="46800" anchor="ctr" anchorCtr="0">
            <a:spAutoFit/>
          </a:bodyPr>
          <a:lstStyle/>
          <a:p>
            <a:r>
              <a:rPr lang="zh-CN" altLang="en-US" sz="2800" b="1" dirty="0">
                <a:latin typeface="Times New Roman" panose="02020603050405020304" pitchFamily="18" charset="0"/>
              </a:rPr>
              <a:t>解：</a:t>
            </a:r>
            <a:r>
              <a:rPr lang="zh-CN" altLang="en-US" sz="2800" dirty="0">
                <a:latin typeface="Times New Roman" panose="02020603050405020304" pitchFamily="18" charset="0"/>
              </a:rPr>
              <a:t>（</a:t>
            </a:r>
            <a:r>
              <a:rPr lang="en-US" altLang="zh-CN" sz="2800" dirty="0">
                <a:latin typeface="Times New Roman" panose="02020603050405020304" pitchFamily="18" charset="0"/>
              </a:rPr>
              <a:t>1</a:t>
            </a:r>
            <a:r>
              <a:rPr lang="zh-CN" altLang="en-US" sz="2800" dirty="0">
                <a:latin typeface="Times New Roman" panose="02020603050405020304" pitchFamily="18" charset="0"/>
              </a:rPr>
              <a:t>）建立原始状态图、状态表。</a:t>
            </a:r>
          </a:p>
        </p:txBody>
      </p:sp>
      <p:sp>
        <p:nvSpPr>
          <p:cNvPr id="112643" name="Rectangle 3" descr="羊皮纸"/>
          <p:cNvSpPr/>
          <p:nvPr/>
        </p:nvSpPr>
        <p:spPr>
          <a:xfrm>
            <a:off x="0" y="2536825"/>
            <a:ext cx="9144000" cy="3743325"/>
          </a:xfrm>
          <a:prstGeom prst="rect">
            <a:avLst/>
          </a:prstGeom>
          <a:noFill/>
          <a:ln w="38100">
            <a:noFill/>
          </a:ln>
        </p:spPr>
        <p:txBody>
          <a:bodyPr lIns="90000" tIns="46800" rIns="90000" bIns="46800" anchor="ctr" anchorCtr="0">
            <a:spAutoFit/>
          </a:bodyPr>
          <a:lstStyle/>
          <a:p>
            <a:pPr indent="266700"/>
            <a:r>
              <a:rPr lang="en-US" altLang="zh-CN" sz="2400" dirty="0">
                <a:latin typeface="Times New Roman" panose="02020603050405020304" pitchFamily="18" charset="0"/>
              </a:rPr>
              <a:t>①</a:t>
            </a:r>
            <a:r>
              <a:rPr lang="zh-CN" altLang="en-US" sz="2400" dirty="0">
                <a:latin typeface="Times New Roman" panose="02020603050405020304" pitchFamily="18" charset="0"/>
              </a:rPr>
              <a:t>火车尚未到来，这时</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00</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p>
          <a:p>
            <a:pPr indent="266700"/>
            <a:r>
              <a:rPr lang="zh-CN" altLang="en-US" sz="2400" dirty="0">
                <a:latin typeface="Times New Roman" panose="02020603050405020304" pitchFamily="18" charset="0"/>
              </a:rPr>
              <a:t>②火车由西向东行驶，并压在</a:t>
            </a:r>
            <a:r>
              <a:rPr lang="en-US" altLang="zh-CN" sz="2400" i="1" dirty="0">
                <a:latin typeface="Times New Roman" panose="02020603050405020304" pitchFamily="18" charset="0"/>
              </a:rPr>
              <a:t>P</a:t>
            </a:r>
            <a:r>
              <a:rPr lang="en-US" altLang="zh-CN" sz="2400" dirty="0">
                <a:latin typeface="Times New Roman" panose="02020603050405020304" pitchFamily="18" charset="0"/>
              </a:rPr>
              <a:t>1</a:t>
            </a:r>
            <a:r>
              <a:rPr lang="zh-CN" altLang="en-US" sz="2400" dirty="0">
                <a:latin typeface="Times New Roman" panose="02020603050405020304" pitchFamily="18" charset="0"/>
              </a:rPr>
              <a:t>上，这时</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10</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p>
          <a:p>
            <a:pPr indent="266700"/>
            <a:r>
              <a:rPr lang="zh-CN" altLang="en-US" sz="2400" dirty="0">
                <a:latin typeface="Times New Roman" panose="02020603050405020304" pitchFamily="18" charset="0"/>
              </a:rPr>
              <a:t>③火车继续行驶且位于</a:t>
            </a:r>
            <a:r>
              <a:rPr lang="en-US" altLang="zh-CN" sz="2400" i="1" dirty="0">
                <a:latin typeface="Times New Roman" panose="02020603050405020304" pitchFamily="18" charset="0"/>
              </a:rPr>
              <a:t>P</a:t>
            </a:r>
            <a:r>
              <a:rPr lang="en-US" altLang="zh-CN" sz="2400" dirty="0">
                <a:latin typeface="Times New Roman" panose="02020603050405020304" pitchFamily="18" charset="0"/>
              </a:rPr>
              <a:t>1</a:t>
            </a:r>
            <a:r>
              <a:rPr lang="zh-CN" altLang="en-US" sz="2400" dirty="0">
                <a:latin typeface="Times New Roman" panose="02020603050405020304" pitchFamily="18" charset="0"/>
              </a:rPr>
              <a:t>和</a:t>
            </a:r>
            <a:r>
              <a:rPr lang="en-US" altLang="zh-CN" sz="2400" i="1" dirty="0">
                <a:latin typeface="Times New Roman" panose="02020603050405020304" pitchFamily="18" charset="0"/>
              </a:rPr>
              <a:t>P</a:t>
            </a:r>
            <a:r>
              <a:rPr lang="en-US" altLang="zh-CN" sz="2400" dirty="0">
                <a:latin typeface="Times New Roman" panose="02020603050405020304" pitchFamily="18" charset="0"/>
              </a:rPr>
              <a:t>2</a:t>
            </a:r>
            <a:r>
              <a:rPr lang="zh-CN" altLang="en-US" sz="2400" dirty="0">
                <a:latin typeface="Times New Roman" panose="02020603050405020304" pitchFamily="18" charset="0"/>
              </a:rPr>
              <a:t>之间，这时</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00</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p>
          <a:p>
            <a:pPr indent="266700"/>
            <a:r>
              <a:rPr lang="zh-CN" altLang="en-US" sz="2400" dirty="0">
                <a:latin typeface="Times New Roman" panose="02020603050405020304" pitchFamily="18" charset="0"/>
              </a:rPr>
              <a:t>④火车仍继续行驶，且压在</a:t>
            </a:r>
            <a:r>
              <a:rPr lang="en-US" altLang="zh-CN" sz="2400" i="1" dirty="0">
                <a:latin typeface="Times New Roman" panose="02020603050405020304" pitchFamily="18" charset="0"/>
              </a:rPr>
              <a:t>P</a:t>
            </a:r>
            <a:r>
              <a:rPr lang="en-US" altLang="zh-CN" sz="2400" dirty="0">
                <a:latin typeface="Times New Roman" panose="02020603050405020304" pitchFamily="18" charset="0"/>
              </a:rPr>
              <a:t>2</a:t>
            </a:r>
            <a:r>
              <a:rPr lang="zh-CN" altLang="en-US" sz="2400" dirty="0">
                <a:latin typeface="Times New Roman" panose="02020603050405020304" pitchFamily="18" charset="0"/>
              </a:rPr>
              <a:t>上。这时</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01</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p>
          <a:p>
            <a:pPr indent="266700"/>
            <a:r>
              <a:rPr lang="zh-CN" altLang="en-US" sz="2400" dirty="0">
                <a:latin typeface="Times New Roman" panose="02020603050405020304" pitchFamily="18" charset="0"/>
              </a:rPr>
              <a:t>当火车离开</a:t>
            </a:r>
            <a:r>
              <a:rPr lang="en-US" altLang="zh-CN" sz="2400" i="1" dirty="0">
                <a:latin typeface="Times New Roman" panose="02020603050405020304" pitchFamily="18" charset="0"/>
              </a:rPr>
              <a:t>P</a:t>
            </a:r>
            <a:r>
              <a:rPr lang="en-US" altLang="zh-CN" sz="2400" dirty="0">
                <a:latin typeface="Times New Roman" panose="02020603050405020304" pitchFamily="18" charset="0"/>
              </a:rPr>
              <a:t>2</a:t>
            </a:r>
            <a:r>
              <a:rPr lang="zh-CN" altLang="en-US" sz="2400" dirty="0">
                <a:latin typeface="Times New Roman" panose="02020603050405020304" pitchFamily="18" charset="0"/>
              </a:rPr>
              <a:t>后，这时</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00</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p>
          <a:p>
            <a:pPr indent="266700"/>
            <a:r>
              <a:rPr lang="zh-CN" altLang="en-US" sz="2400" dirty="0">
                <a:latin typeface="Times New Roman" panose="02020603050405020304" pitchFamily="18" charset="0"/>
              </a:rPr>
              <a:t>同理当火车由东向西行驶时，情况如下：</a:t>
            </a:r>
          </a:p>
          <a:p>
            <a:pPr indent="266700"/>
            <a:r>
              <a:rPr lang="zh-CN" altLang="en-US" sz="2400" dirty="0">
                <a:latin typeface="Times New Roman" panose="02020603050405020304" pitchFamily="18" charset="0"/>
              </a:rPr>
              <a:t>⑤输入</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01</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p>
          <a:p>
            <a:pPr indent="266700"/>
            <a:r>
              <a:rPr lang="zh-CN" altLang="en-US" sz="2400" dirty="0">
                <a:latin typeface="Times New Roman" panose="02020603050405020304" pitchFamily="18" charset="0"/>
              </a:rPr>
              <a:t>⑥输入</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00</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p>
          <a:p>
            <a:pPr indent="266700"/>
            <a:r>
              <a:rPr lang="zh-CN" altLang="en-US" sz="2400" dirty="0">
                <a:latin typeface="Times New Roman" panose="02020603050405020304" pitchFamily="18" charset="0"/>
              </a:rPr>
              <a:t>⑦输入</a:t>
            </a:r>
            <a:r>
              <a:rPr lang="en-US" altLang="zh-CN" sz="2400" i="1" dirty="0">
                <a:latin typeface="Times New Roman" panose="02020603050405020304" pitchFamily="18" charset="0"/>
              </a:rPr>
              <a:t>x</a:t>
            </a:r>
            <a:r>
              <a:rPr lang="en-US" altLang="zh-CN" sz="2400" dirty="0">
                <a:latin typeface="Times New Roman" panose="02020603050405020304" pitchFamily="18" charset="0"/>
              </a:rPr>
              <a:t>1</a:t>
            </a:r>
            <a:r>
              <a:rPr lang="en-US" altLang="zh-CN" sz="2400" i="1" dirty="0">
                <a:latin typeface="Times New Roman" panose="02020603050405020304" pitchFamily="18" charset="0"/>
              </a:rPr>
              <a:t>x</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10</a:t>
            </a:r>
            <a:r>
              <a:rPr lang="zh-CN" altLang="en-US" sz="2400" dirty="0">
                <a:latin typeface="Times New Roman" panose="02020603050405020304" pitchFamily="18" charset="0"/>
              </a:rPr>
              <a:t>，输出</a:t>
            </a:r>
            <a:r>
              <a:rPr lang="en-US" altLang="zh-CN" sz="2400" i="1" dirty="0">
                <a:latin typeface="Times New Roman" panose="02020603050405020304" pitchFamily="18" charset="0"/>
              </a:rPr>
              <a:t>Z</a:t>
            </a: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p>
          <a:p>
            <a:pPr indent="266700"/>
            <a:r>
              <a:rPr lang="zh-CN" altLang="en-US" sz="2400" dirty="0">
                <a:latin typeface="Times New Roman" panose="02020603050405020304" pitchFamily="18" charset="0"/>
              </a:rPr>
              <a:t>该电路共有</a:t>
            </a:r>
            <a:r>
              <a:rPr lang="en-US" altLang="zh-CN" sz="2400" dirty="0">
                <a:latin typeface="Times New Roman" panose="02020603050405020304" pitchFamily="18" charset="0"/>
              </a:rPr>
              <a:t>7</a:t>
            </a:r>
            <a:r>
              <a:rPr lang="zh-CN" altLang="en-US" sz="2400" dirty="0">
                <a:latin typeface="Times New Roman" panose="02020603050405020304" pitchFamily="18" charset="0"/>
              </a:rPr>
              <a:t>个状态，分别用</a:t>
            </a:r>
            <a:r>
              <a:rPr lang="en-US" altLang="zh-CN" sz="2400" i="1" dirty="0">
                <a:latin typeface="Times New Roman" panose="02020603050405020304" pitchFamily="18" charset="0"/>
              </a:rPr>
              <a:t>S</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2</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3</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4</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5</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6</a:t>
            </a:r>
            <a:r>
              <a:rPr lang="zh-CN" altLang="en-US" sz="2400" dirty="0">
                <a:latin typeface="Times New Roman" panose="02020603050405020304" pitchFamily="18" charset="0"/>
              </a:rPr>
              <a:t>，</a:t>
            </a:r>
            <a:r>
              <a:rPr lang="en-US" altLang="zh-CN" sz="2400" i="1" dirty="0">
                <a:latin typeface="Times New Roman" panose="02020603050405020304" pitchFamily="18" charset="0"/>
              </a:rPr>
              <a:t>S</a:t>
            </a:r>
            <a:r>
              <a:rPr lang="en-US" altLang="zh-CN" sz="2400" dirty="0">
                <a:latin typeface="Times New Roman" panose="02020603050405020304" pitchFamily="18" charset="0"/>
              </a:rPr>
              <a:t>7</a:t>
            </a:r>
            <a:r>
              <a:rPr lang="zh-CN" altLang="en-US" sz="2400" dirty="0">
                <a:latin typeface="Times New Roman" panose="02020603050405020304" pitchFamily="18" charset="0"/>
              </a:rPr>
              <a:t>表示。</a:t>
            </a:r>
          </a:p>
        </p:txBody>
      </p:sp>
      <p:sp>
        <p:nvSpPr>
          <p:cNvPr id="112644" name="Rectangle 4"/>
          <p:cNvSpPr/>
          <p:nvPr/>
        </p:nvSpPr>
        <p:spPr>
          <a:xfrm>
            <a:off x="3984625" y="835025"/>
            <a:ext cx="757238" cy="442913"/>
          </a:xfrm>
          <a:prstGeom prst="rect">
            <a:avLst/>
          </a:prstGeom>
          <a:noFill/>
          <a:ln w="9525">
            <a:noFill/>
          </a:ln>
        </p:spPr>
        <p:txBody>
          <a:bodyPr lIns="0" tIns="0" rIns="0" bIns="0"/>
          <a:lstStyle/>
          <a:p>
            <a:pPr algn="just"/>
            <a:r>
              <a:rPr lang="zh-CN" altLang="en-US" sz="2400" dirty="0">
                <a:latin typeface="Times New Roman" panose="02020603050405020304" pitchFamily="18" charset="0"/>
              </a:rPr>
              <a:t>公路</a:t>
            </a:r>
            <a:endParaRPr lang="zh-CN" altLang="en-US" sz="7200" dirty="0">
              <a:latin typeface="Times New Roman" panose="02020603050405020304" pitchFamily="18" charset="0"/>
            </a:endParaRPr>
          </a:p>
        </p:txBody>
      </p:sp>
      <p:sp>
        <p:nvSpPr>
          <p:cNvPr id="112645" name="Rectangle 5"/>
          <p:cNvSpPr/>
          <p:nvPr/>
        </p:nvSpPr>
        <p:spPr>
          <a:xfrm>
            <a:off x="2836863" y="1995488"/>
            <a:ext cx="349250" cy="442912"/>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B</a:t>
            </a:r>
            <a:endParaRPr lang="en-US" altLang="zh-CN" sz="7200" dirty="0">
              <a:latin typeface="Times New Roman" panose="02020603050405020304" pitchFamily="18" charset="0"/>
            </a:endParaRPr>
          </a:p>
        </p:txBody>
      </p:sp>
      <p:sp>
        <p:nvSpPr>
          <p:cNvPr id="112646" name="Rectangle 6"/>
          <p:cNvSpPr/>
          <p:nvPr/>
        </p:nvSpPr>
        <p:spPr>
          <a:xfrm>
            <a:off x="1778000" y="1166813"/>
            <a:ext cx="349250" cy="442912"/>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P</a:t>
            </a:r>
            <a:r>
              <a:rPr lang="en-US" altLang="zh-CN" sz="2400" baseline="-25000" dirty="0">
                <a:latin typeface="Times New Roman" panose="02020603050405020304" pitchFamily="18" charset="0"/>
              </a:rPr>
              <a:t>1</a:t>
            </a:r>
            <a:endParaRPr lang="en-US" altLang="zh-CN" sz="7200" dirty="0">
              <a:latin typeface="Times New Roman" panose="02020603050405020304" pitchFamily="18" charset="0"/>
            </a:endParaRPr>
          </a:p>
        </p:txBody>
      </p:sp>
      <p:sp>
        <p:nvSpPr>
          <p:cNvPr id="112647" name="Line 7"/>
          <p:cNvSpPr/>
          <p:nvPr/>
        </p:nvSpPr>
        <p:spPr>
          <a:xfrm>
            <a:off x="3732213" y="984250"/>
            <a:ext cx="0" cy="1547813"/>
          </a:xfrm>
          <a:prstGeom prst="line">
            <a:avLst/>
          </a:prstGeom>
          <a:ln w="9525" cap="flat" cmpd="sng">
            <a:solidFill>
              <a:srgbClr val="000000"/>
            </a:solidFill>
            <a:prstDash val="solid"/>
            <a:headEnd type="none" w="med" len="med"/>
            <a:tailEnd type="none" w="med" len="med"/>
          </a:ln>
        </p:spPr>
      </p:sp>
      <p:sp>
        <p:nvSpPr>
          <p:cNvPr id="112648" name="Line 8"/>
          <p:cNvSpPr/>
          <p:nvPr/>
        </p:nvSpPr>
        <p:spPr>
          <a:xfrm>
            <a:off x="4741863" y="947738"/>
            <a:ext cx="0" cy="1546225"/>
          </a:xfrm>
          <a:prstGeom prst="line">
            <a:avLst/>
          </a:prstGeom>
          <a:ln w="9525" cap="flat" cmpd="sng">
            <a:solidFill>
              <a:srgbClr val="000000"/>
            </a:solidFill>
            <a:prstDash val="solid"/>
            <a:headEnd type="none" w="med" len="med"/>
            <a:tailEnd type="none" w="med" len="med"/>
          </a:ln>
        </p:spPr>
      </p:sp>
      <p:sp>
        <p:nvSpPr>
          <p:cNvPr id="112649" name="Line 9"/>
          <p:cNvSpPr/>
          <p:nvPr/>
        </p:nvSpPr>
        <p:spPr>
          <a:xfrm>
            <a:off x="3190875" y="1222375"/>
            <a:ext cx="2032000" cy="0"/>
          </a:xfrm>
          <a:prstGeom prst="line">
            <a:avLst/>
          </a:prstGeom>
          <a:ln w="9525" cap="flat" cmpd="sng">
            <a:solidFill>
              <a:srgbClr val="000000"/>
            </a:solidFill>
            <a:prstDash val="lgDash"/>
            <a:headEnd type="none" w="med" len="med"/>
            <a:tailEnd type="none" w="med" len="med"/>
          </a:ln>
        </p:spPr>
      </p:sp>
      <p:sp>
        <p:nvSpPr>
          <p:cNvPr id="112650" name="Line 10"/>
          <p:cNvSpPr/>
          <p:nvPr/>
        </p:nvSpPr>
        <p:spPr>
          <a:xfrm>
            <a:off x="3206750" y="2227263"/>
            <a:ext cx="2033588" cy="0"/>
          </a:xfrm>
          <a:prstGeom prst="line">
            <a:avLst/>
          </a:prstGeom>
          <a:ln w="9525" cap="flat" cmpd="sng">
            <a:solidFill>
              <a:srgbClr val="000000"/>
            </a:solidFill>
            <a:prstDash val="lgDash"/>
            <a:headEnd type="none" w="med" len="med"/>
            <a:tailEnd type="none" w="med" len="med"/>
          </a:ln>
        </p:spPr>
      </p:sp>
      <p:sp>
        <p:nvSpPr>
          <p:cNvPr id="112651" name="Oval 11"/>
          <p:cNvSpPr/>
          <p:nvPr/>
        </p:nvSpPr>
        <p:spPr>
          <a:xfrm>
            <a:off x="3165475" y="2197100"/>
            <a:ext cx="79375" cy="69850"/>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12652" name="Oval 12"/>
          <p:cNvSpPr/>
          <p:nvPr/>
        </p:nvSpPr>
        <p:spPr>
          <a:xfrm>
            <a:off x="5203825" y="1196975"/>
            <a:ext cx="79375" cy="69850"/>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12653" name="Rectangle 13"/>
          <p:cNvSpPr/>
          <p:nvPr/>
        </p:nvSpPr>
        <p:spPr>
          <a:xfrm>
            <a:off x="6907213" y="1203325"/>
            <a:ext cx="347662" cy="442913"/>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P</a:t>
            </a:r>
            <a:r>
              <a:rPr lang="en-US" altLang="zh-CN" sz="2400" baseline="-25000" dirty="0">
                <a:latin typeface="Times New Roman" panose="02020603050405020304" pitchFamily="18" charset="0"/>
              </a:rPr>
              <a:t>2</a:t>
            </a:r>
            <a:endParaRPr lang="en-US" altLang="zh-CN" sz="7200" dirty="0">
              <a:latin typeface="Times New Roman" panose="02020603050405020304" pitchFamily="18" charset="0"/>
            </a:endParaRPr>
          </a:p>
        </p:txBody>
      </p:sp>
      <p:sp>
        <p:nvSpPr>
          <p:cNvPr id="112654" name="Rectangle 14"/>
          <p:cNvSpPr/>
          <p:nvPr/>
        </p:nvSpPr>
        <p:spPr>
          <a:xfrm>
            <a:off x="5308600" y="1003300"/>
            <a:ext cx="349250" cy="442913"/>
          </a:xfrm>
          <a:prstGeom prst="rect">
            <a:avLst/>
          </a:prstGeom>
          <a:noFill/>
          <a:ln w="9525">
            <a:noFill/>
          </a:ln>
        </p:spPr>
        <p:txBody>
          <a:bodyPr lIns="0" tIns="0" rIns="0" bIns="0"/>
          <a:lstStyle/>
          <a:p>
            <a:pPr algn="just"/>
            <a:r>
              <a:rPr lang="en-US" altLang="zh-CN" sz="2400" i="1" dirty="0">
                <a:latin typeface="Times New Roman" panose="02020603050405020304" pitchFamily="18" charset="0"/>
              </a:rPr>
              <a:t>A</a:t>
            </a:r>
            <a:endParaRPr lang="en-US" altLang="zh-CN" sz="7200" dirty="0">
              <a:latin typeface="Times New Roman" panose="02020603050405020304" pitchFamily="18" charset="0"/>
            </a:endParaRPr>
          </a:p>
        </p:txBody>
      </p:sp>
      <p:sp>
        <p:nvSpPr>
          <p:cNvPr id="112655" name="Rectangle 15"/>
          <p:cNvSpPr/>
          <p:nvPr/>
        </p:nvSpPr>
        <p:spPr>
          <a:xfrm>
            <a:off x="1387475" y="2089150"/>
            <a:ext cx="347663" cy="442913"/>
          </a:xfrm>
          <a:prstGeom prst="rect">
            <a:avLst/>
          </a:prstGeom>
          <a:noFill/>
          <a:ln w="9525">
            <a:noFill/>
          </a:ln>
        </p:spPr>
        <p:txBody>
          <a:bodyPr lIns="0" tIns="0" rIns="0" bIns="0"/>
          <a:lstStyle/>
          <a:p>
            <a:pPr algn="just"/>
            <a:r>
              <a:rPr lang="zh-CN" altLang="en-US" sz="2400" dirty="0">
                <a:latin typeface="Times New Roman" panose="02020603050405020304" pitchFamily="18" charset="0"/>
              </a:rPr>
              <a:t>西</a:t>
            </a:r>
            <a:endParaRPr lang="zh-CN" altLang="en-US" sz="7200" dirty="0">
              <a:latin typeface="Times New Roman" panose="02020603050405020304" pitchFamily="18" charset="0"/>
            </a:endParaRPr>
          </a:p>
        </p:txBody>
      </p:sp>
      <p:sp>
        <p:nvSpPr>
          <p:cNvPr id="112656" name="Rectangle 16"/>
          <p:cNvSpPr/>
          <p:nvPr/>
        </p:nvSpPr>
        <p:spPr>
          <a:xfrm>
            <a:off x="6591300" y="2041525"/>
            <a:ext cx="349250" cy="441325"/>
          </a:xfrm>
          <a:prstGeom prst="rect">
            <a:avLst/>
          </a:prstGeom>
          <a:noFill/>
          <a:ln w="9525">
            <a:noFill/>
          </a:ln>
        </p:spPr>
        <p:txBody>
          <a:bodyPr lIns="0" tIns="0" rIns="0" bIns="0"/>
          <a:lstStyle/>
          <a:p>
            <a:pPr algn="just"/>
            <a:r>
              <a:rPr lang="zh-CN" altLang="en-US" sz="2400" dirty="0">
                <a:latin typeface="Times New Roman" panose="02020603050405020304" pitchFamily="18" charset="0"/>
              </a:rPr>
              <a:t>东</a:t>
            </a:r>
            <a:endParaRPr lang="zh-CN" altLang="en-US" sz="7200" dirty="0">
              <a:latin typeface="Times New Roman" panose="02020603050405020304" pitchFamily="18" charset="0"/>
            </a:endParaRPr>
          </a:p>
        </p:txBody>
      </p:sp>
      <p:graphicFrame>
        <p:nvGraphicFramePr>
          <p:cNvPr id="326673" name="Group 17"/>
          <p:cNvGraphicFramePr>
            <a:graphicFrameLocks noGrp="1"/>
          </p:cNvGraphicFramePr>
          <p:nvPr/>
        </p:nvGraphicFramePr>
        <p:xfrm>
          <a:off x="255588" y="1619250"/>
          <a:ext cx="8229600" cy="215900"/>
        </p:xfrm>
        <a:graphic>
          <a:graphicData uri="http://schemas.openxmlformats.org/drawingml/2006/table">
            <a:tbl>
              <a:tblPr/>
              <a:tblGrid>
                <a:gridCol w="1028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gridCol w="1028700">
                  <a:extLst>
                    <a:ext uri="{9D8B030D-6E8A-4147-A177-3AD203B41FA5}">
                      <a16:colId xmlns:a16="http://schemas.microsoft.com/office/drawing/2014/main" val="20005"/>
                    </a:ext>
                  </a:extLst>
                </a:gridCol>
                <a:gridCol w="1028700">
                  <a:extLst>
                    <a:ext uri="{9D8B030D-6E8A-4147-A177-3AD203B41FA5}">
                      <a16:colId xmlns:a16="http://schemas.microsoft.com/office/drawing/2014/main" val="20006"/>
                    </a:ext>
                  </a:extLst>
                </a:gridCol>
                <a:gridCol w="1028700">
                  <a:extLst>
                    <a:ext uri="{9D8B030D-6E8A-4147-A177-3AD203B41FA5}">
                      <a16:colId xmlns:a16="http://schemas.microsoft.com/office/drawing/2014/main" val="20007"/>
                    </a:ext>
                  </a:extLst>
                </a:gridCol>
              </a:tblGrid>
              <a:tr h="215900">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83" marB="46883" horzOverflow="overflow">
                    <a:lnL w="12700"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chemeClr val="tx1"/>
                    </a:solidFill>
                  </a:tcPr>
                </a:tc>
                <a:extLst>
                  <a:ext uri="{0D108BD9-81ED-4DB2-BD59-A6C34878D82A}">
                    <a16:rowId xmlns:a16="http://schemas.microsoft.com/office/drawing/2014/main" val="10000"/>
                  </a:ext>
                </a:extLst>
              </a:tr>
            </a:tbl>
          </a:graphicData>
        </a:graphic>
      </p:graphicFrame>
    </p:spTree>
  </p:cSld>
  <p:clrMapOvr>
    <a:masterClrMapping/>
  </p:clrMapOvr>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3666" name="Group 2"/>
          <p:cNvGrpSpPr/>
          <p:nvPr/>
        </p:nvGrpSpPr>
        <p:grpSpPr>
          <a:xfrm>
            <a:off x="503238" y="709613"/>
            <a:ext cx="7870825" cy="5216525"/>
            <a:chOff x="2998" y="1479"/>
            <a:chExt cx="5149" cy="3483"/>
          </a:xfrm>
        </p:grpSpPr>
        <p:sp>
          <p:nvSpPr>
            <p:cNvPr id="113669" name="Rectangle 3"/>
            <p:cNvSpPr/>
            <p:nvPr/>
          </p:nvSpPr>
          <p:spPr>
            <a:xfrm>
              <a:off x="6197" y="2431"/>
              <a:ext cx="360" cy="397"/>
            </a:xfrm>
            <a:prstGeom prst="rect">
              <a:avLst/>
            </a:prstGeom>
            <a:noFill/>
            <a:ln w="9525">
              <a:noFill/>
            </a:ln>
          </p:spPr>
          <p:txBody>
            <a:bodyPr lIns="0" tIns="0" rIns="0" bIns="0"/>
            <a:lstStyle/>
            <a:p>
              <a:pPr algn="just"/>
              <a:r>
                <a:rPr lang="en-US" altLang="zh-CN" sz="2400" dirty="0">
                  <a:latin typeface="Times New Roman" panose="02020603050405020304" pitchFamily="18" charset="0"/>
                </a:rPr>
                <a:t>01/1</a:t>
              </a:r>
              <a:endParaRPr lang="en-US" altLang="zh-CN" sz="7200" dirty="0">
                <a:latin typeface="Times New Roman" panose="02020603050405020304" pitchFamily="18" charset="0"/>
              </a:endParaRPr>
            </a:p>
          </p:txBody>
        </p:sp>
        <p:sp>
          <p:nvSpPr>
            <p:cNvPr id="113670" name="Rectangle 4"/>
            <p:cNvSpPr/>
            <p:nvPr/>
          </p:nvSpPr>
          <p:spPr>
            <a:xfrm>
              <a:off x="5117" y="3588"/>
              <a:ext cx="360" cy="397"/>
            </a:xfrm>
            <a:prstGeom prst="rect">
              <a:avLst/>
            </a:prstGeom>
            <a:noFill/>
            <a:ln w="9525">
              <a:noFill/>
            </a:ln>
          </p:spPr>
          <p:txBody>
            <a:bodyPr lIns="0" tIns="0" rIns="0" bIns="0"/>
            <a:lstStyle/>
            <a:p>
              <a:pPr algn="just"/>
              <a:r>
                <a:rPr lang="en-US" altLang="zh-CN" sz="2400" dirty="0">
                  <a:latin typeface="Times New Roman" panose="02020603050405020304" pitchFamily="18" charset="0"/>
                </a:rPr>
                <a:t>00/0</a:t>
              </a:r>
              <a:endParaRPr lang="en-US" altLang="zh-CN" sz="7200" dirty="0">
                <a:latin typeface="Times New Roman" panose="02020603050405020304" pitchFamily="18" charset="0"/>
              </a:endParaRPr>
            </a:p>
          </p:txBody>
        </p:sp>
        <p:sp>
          <p:nvSpPr>
            <p:cNvPr id="113671" name="Rectangle 5"/>
            <p:cNvSpPr/>
            <p:nvPr/>
          </p:nvSpPr>
          <p:spPr>
            <a:xfrm>
              <a:off x="3017" y="3290"/>
              <a:ext cx="360" cy="397"/>
            </a:xfrm>
            <a:prstGeom prst="rect">
              <a:avLst/>
            </a:prstGeom>
            <a:noFill/>
            <a:ln w="9525">
              <a:noFill/>
            </a:ln>
          </p:spPr>
          <p:txBody>
            <a:bodyPr lIns="0" tIns="0" rIns="0" bIns="0"/>
            <a:lstStyle/>
            <a:p>
              <a:pPr algn="just"/>
              <a:r>
                <a:rPr lang="en-US" altLang="zh-CN" sz="2400" dirty="0">
                  <a:latin typeface="Times New Roman" panose="02020603050405020304" pitchFamily="18" charset="0"/>
                </a:rPr>
                <a:t>00/1</a:t>
              </a:r>
              <a:endParaRPr lang="en-US" altLang="zh-CN" sz="7200" dirty="0">
                <a:latin typeface="Times New Roman" panose="02020603050405020304" pitchFamily="18" charset="0"/>
              </a:endParaRPr>
            </a:p>
          </p:txBody>
        </p:sp>
        <p:sp>
          <p:nvSpPr>
            <p:cNvPr id="113672" name="Rectangle 6"/>
            <p:cNvSpPr/>
            <p:nvPr/>
          </p:nvSpPr>
          <p:spPr>
            <a:xfrm>
              <a:off x="7787" y="3325"/>
              <a:ext cx="360" cy="397"/>
            </a:xfrm>
            <a:prstGeom prst="rect">
              <a:avLst/>
            </a:prstGeom>
            <a:noFill/>
            <a:ln w="9525">
              <a:noFill/>
            </a:ln>
          </p:spPr>
          <p:txBody>
            <a:bodyPr lIns="0" tIns="0" rIns="0" bIns="0"/>
            <a:lstStyle/>
            <a:p>
              <a:pPr algn="just"/>
              <a:r>
                <a:rPr lang="en-US" altLang="zh-CN" sz="2400" dirty="0">
                  <a:latin typeface="Times New Roman" panose="02020603050405020304" pitchFamily="18" charset="0"/>
                </a:rPr>
                <a:t>00/1</a:t>
              </a:r>
              <a:endParaRPr lang="en-US" altLang="zh-CN" sz="7200" dirty="0">
                <a:latin typeface="Times New Roman" panose="02020603050405020304" pitchFamily="18" charset="0"/>
              </a:endParaRPr>
            </a:p>
          </p:txBody>
        </p:sp>
        <p:sp>
          <p:nvSpPr>
            <p:cNvPr id="113673" name="Rectangle 7"/>
            <p:cNvSpPr/>
            <p:nvPr/>
          </p:nvSpPr>
          <p:spPr>
            <a:xfrm>
              <a:off x="7187" y="2344"/>
              <a:ext cx="360" cy="397"/>
            </a:xfrm>
            <a:prstGeom prst="rect">
              <a:avLst/>
            </a:prstGeom>
            <a:noFill/>
            <a:ln w="9525">
              <a:noFill/>
            </a:ln>
          </p:spPr>
          <p:txBody>
            <a:bodyPr lIns="0" tIns="0" rIns="0" bIns="0"/>
            <a:lstStyle/>
            <a:p>
              <a:pPr algn="just"/>
              <a:r>
                <a:rPr lang="en-US" altLang="zh-CN" sz="2000" dirty="0">
                  <a:latin typeface="Times New Roman" panose="02020603050405020304" pitchFamily="18" charset="0"/>
                </a:rPr>
                <a:t>00/1</a:t>
              </a:r>
              <a:endParaRPr lang="en-US" altLang="zh-CN" sz="6600" dirty="0">
                <a:latin typeface="Times New Roman" panose="02020603050405020304" pitchFamily="18" charset="0"/>
              </a:endParaRPr>
            </a:p>
          </p:txBody>
        </p:sp>
        <p:sp>
          <p:nvSpPr>
            <p:cNvPr id="113674" name="Rectangle 8"/>
            <p:cNvSpPr/>
            <p:nvPr/>
          </p:nvSpPr>
          <p:spPr>
            <a:xfrm>
              <a:off x="4862" y="4474"/>
              <a:ext cx="360" cy="397"/>
            </a:xfrm>
            <a:prstGeom prst="rect">
              <a:avLst/>
            </a:prstGeom>
            <a:noFill/>
            <a:ln w="9525">
              <a:noFill/>
            </a:ln>
          </p:spPr>
          <p:txBody>
            <a:bodyPr lIns="0" tIns="0" rIns="0" bIns="0"/>
            <a:lstStyle/>
            <a:p>
              <a:pPr algn="just"/>
              <a:r>
                <a:rPr lang="en-US" altLang="zh-CN" sz="2400" dirty="0">
                  <a:latin typeface="Times New Roman" panose="02020603050405020304" pitchFamily="18" charset="0"/>
                </a:rPr>
                <a:t>01/1</a:t>
              </a:r>
              <a:endParaRPr lang="en-US" altLang="zh-CN" sz="7200" dirty="0">
                <a:latin typeface="Times New Roman" panose="02020603050405020304" pitchFamily="18" charset="0"/>
              </a:endParaRPr>
            </a:p>
          </p:txBody>
        </p:sp>
        <p:sp>
          <p:nvSpPr>
            <p:cNvPr id="113675" name="Rectangle 9"/>
            <p:cNvSpPr/>
            <p:nvPr/>
          </p:nvSpPr>
          <p:spPr>
            <a:xfrm>
              <a:off x="5672" y="3583"/>
              <a:ext cx="360" cy="397"/>
            </a:xfrm>
            <a:prstGeom prst="rect">
              <a:avLst/>
            </a:prstGeom>
            <a:noFill/>
            <a:ln w="9525">
              <a:noFill/>
            </a:ln>
          </p:spPr>
          <p:txBody>
            <a:bodyPr lIns="0" tIns="0" rIns="0" bIns="0"/>
            <a:lstStyle/>
            <a:p>
              <a:pPr algn="just"/>
              <a:r>
                <a:rPr lang="en-US" altLang="zh-CN" sz="2000" dirty="0">
                  <a:latin typeface="Times New Roman" panose="02020603050405020304" pitchFamily="18" charset="0"/>
                </a:rPr>
                <a:t>00/0</a:t>
              </a:r>
              <a:endParaRPr lang="en-US" altLang="zh-CN" sz="6600" dirty="0">
                <a:latin typeface="Times New Roman" panose="02020603050405020304" pitchFamily="18" charset="0"/>
              </a:endParaRPr>
            </a:p>
          </p:txBody>
        </p:sp>
        <p:sp>
          <p:nvSpPr>
            <p:cNvPr id="113676" name="Rectangle 10"/>
            <p:cNvSpPr/>
            <p:nvPr/>
          </p:nvSpPr>
          <p:spPr>
            <a:xfrm>
              <a:off x="4532" y="2400"/>
              <a:ext cx="360" cy="397"/>
            </a:xfrm>
            <a:prstGeom prst="rect">
              <a:avLst/>
            </a:prstGeom>
            <a:noFill/>
            <a:ln w="9525">
              <a:noFill/>
            </a:ln>
          </p:spPr>
          <p:txBody>
            <a:bodyPr lIns="0" tIns="0" rIns="0" bIns="0"/>
            <a:lstStyle/>
            <a:p>
              <a:pPr algn="just"/>
              <a:r>
                <a:rPr lang="en-US" altLang="zh-CN" sz="2400" dirty="0">
                  <a:latin typeface="Times New Roman" panose="02020603050405020304" pitchFamily="18" charset="0"/>
                </a:rPr>
                <a:t>10/1</a:t>
              </a:r>
              <a:endParaRPr lang="en-US" altLang="zh-CN" sz="7200" dirty="0">
                <a:latin typeface="Times New Roman" panose="02020603050405020304" pitchFamily="18" charset="0"/>
              </a:endParaRPr>
            </a:p>
          </p:txBody>
        </p:sp>
        <p:sp>
          <p:nvSpPr>
            <p:cNvPr id="113677" name="Rectangle 11"/>
            <p:cNvSpPr/>
            <p:nvPr/>
          </p:nvSpPr>
          <p:spPr>
            <a:xfrm>
              <a:off x="5387" y="2088"/>
              <a:ext cx="360" cy="397"/>
            </a:xfrm>
            <a:prstGeom prst="rect">
              <a:avLst/>
            </a:prstGeom>
            <a:noFill/>
            <a:ln w="9525">
              <a:noFill/>
            </a:ln>
          </p:spPr>
          <p:txBody>
            <a:bodyPr lIns="0" tIns="0" rIns="0" bIns="0"/>
            <a:lstStyle/>
            <a:p>
              <a:pPr algn="just"/>
              <a:r>
                <a:rPr lang="en-US" altLang="zh-CN" sz="2400" dirty="0">
                  <a:latin typeface="Times New Roman" panose="02020603050405020304" pitchFamily="18" charset="0"/>
                </a:rPr>
                <a:t>00/0</a:t>
              </a:r>
              <a:endParaRPr lang="en-US" altLang="zh-CN" sz="7200" dirty="0">
                <a:latin typeface="Times New Roman" panose="02020603050405020304" pitchFamily="18" charset="0"/>
              </a:endParaRPr>
            </a:p>
          </p:txBody>
        </p:sp>
        <p:sp>
          <p:nvSpPr>
            <p:cNvPr id="113678" name="Rectangle 12"/>
            <p:cNvSpPr/>
            <p:nvPr/>
          </p:nvSpPr>
          <p:spPr>
            <a:xfrm>
              <a:off x="4892" y="1479"/>
              <a:ext cx="360" cy="397"/>
            </a:xfrm>
            <a:prstGeom prst="rect">
              <a:avLst/>
            </a:prstGeom>
            <a:noFill/>
            <a:ln w="9525">
              <a:noFill/>
            </a:ln>
          </p:spPr>
          <p:txBody>
            <a:bodyPr lIns="0" tIns="0" rIns="0" bIns="0"/>
            <a:lstStyle/>
            <a:p>
              <a:pPr algn="just"/>
              <a:r>
                <a:rPr lang="en-US" altLang="zh-CN" sz="2000" dirty="0">
                  <a:latin typeface="Times New Roman" panose="02020603050405020304" pitchFamily="18" charset="0"/>
                </a:rPr>
                <a:t>10/1</a:t>
              </a:r>
              <a:endParaRPr lang="en-US" altLang="zh-CN" sz="6600" dirty="0">
                <a:latin typeface="Times New Roman" panose="02020603050405020304" pitchFamily="18" charset="0"/>
              </a:endParaRPr>
            </a:p>
          </p:txBody>
        </p:sp>
        <p:sp>
          <p:nvSpPr>
            <p:cNvPr id="113679" name="Rectangle 13"/>
            <p:cNvSpPr/>
            <p:nvPr/>
          </p:nvSpPr>
          <p:spPr>
            <a:xfrm>
              <a:off x="3662" y="3556"/>
              <a:ext cx="360" cy="397"/>
            </a:xfrm>
            <a:prstGeom prst="rect">
              <a:avLst/>
            </a:prstGeom>
            <a:noFill/>
            <a:ln w="9525">
              <a:noFill/>
            </a:ln>
          </p:spPr>
          <p:txBody>
            <a:bodyPr lIns="0" tIns="0" rIns="0" bIns="0"/>
            <a:lstStyle/>
            <a:p>
              <a:pPr algn="just"/>
              <a:r>
                <a:rPr lang="en-US" altLang="zh-CN" sz="2400" dirty="0">
                  <a:latin typeface="Times New Roman" panose="02020603050405020304" pitchFamily="18" charset="0"/>
                </a:rPr>
                <a:t>01/1</a:t>
              </a:r>
              <a:endParaRPr lang="en-US" altLang="zh-CN" sz="7200" dirty="0">
                <a:latin typeface="Times New Roman" panose="02020603050405020304" pitchFamily="18" charset="0"/>
              </a:endParaRPr>
            </a:p>
          </p:txBody>
        </p:sp>
        <p:sp>
          <p:nvSpPr>
            <p:cNvPr id="113680" name="Rectangle 14"/>
            <p:cNvSpPr/>
            <p:nvPr/>
          </p:nvSpPr>
          <p:spPr>
            <a:xfrm>
              <a:off x="3662" y="2299"/>
              <a:ext cx="360" cy="397"/>
            </a:xfrm>
            <a:prstGeom prst="rect">
              <a:avLst/>
            </a:prstGeom>
            <a:noFill/>
            <a:ln w="9525">
              <a:noFill/>
            </a:ln>
          </p:spPr>
          <p:txBody>
            <a:bodyPr lIns="0" tIns="0" rIns="0" bIns="0"/>
            <a:lstStyle/>
            <a:p>
              <a:pPr algn="just"/>
              <a:r>
                <a:rPr lang="en-US" altLang="zh-CN" sz="2400" dirty="0">
                  <a:latin typeface="Times New Roman" panose="02020603050405020304" pitchFamily="18" charset="0"/>
                </a:rPr>
                <a:t>00/1</a:t>
              </a:r>
              <a:endParaRPr lang="en-US" altLang="zh-CN" sz="7200" dirty="0">
                <a:latin typeface="Times New Roman" panose="02020603050405020304" pitchFamily="18" charset="0"/>
              </a:endParaRPr>
            </a:p>
          </p:txBody>
        </p:sp>
        <p:sp>
          <p:nvSpPr>
            <p:cNvPr id="113681" name="Oval 15"/>
            <p:cNvSpPr/>
            <p:nvPr/>
          </p:nvSpPr>
          <p:spPr>
            <a:xfrm>
              <a:off x="3302" y="2776"/>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lstStyle/>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3</a:t>
              </a:r>
              <a:endParaRPr lang="en-US" altLang="zh-CN" sz="2800" dirty="0">
                <a:latin typeface="Times New Roman" panose="02020603050405020304" pitchFamily="18" charset="0"/>
              </a:endParaRPr>
            </a:p>
            <a:p>
              <a:endParaRPr lang="en-US" altLang="zh-CN" sz="2800" dirty="0">
                <a:latin typeface="Times New Roman" panose="02020603050405020304" pitchFamily="18" charset="0"/>
              </a:endParaRPr>
            </a:p>
          </p:txBody>
        </p:sp>
        <p:sp>
          <p:nvSpPr>
            <p:cNvPr id="113682" name="Oval 16"/>
            <p:cNvSpPr/>
            <p:nvPr/>
          </p:nvSpPr>
          <p:spPr>
            <a:xfrm>
              <a:off x="5267" y="2816"/>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lstStyle/>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1</a:t>
              </a:r>
              <a:endParaRPr lang="en-US" altLang="zh-CN" sz="2800" dirty="0">
                <a:latin typeface="Times New Roman" panose="02020603050405020304" pitchFamily="18" charset="0"/>
              </a:endParaRPr>
            </a:p>
            <a:p>
              <a:endParaRPr lang="en-US" altLang="zh-CN" sz="2800" dirty="0">
                <a:latin typeface="Times New Roman" panose="02020603050405020304" pitchFamily="18" charset="0"/>
              </a:endParaRPr>
            </a:p>
          </p:txBody>
        </p:sp>
        <p:sp>
          <p:nvSpPr>
            <p:cNvPr id="113683" name="Line 17"/>
            <p:cNvSpPr/>
            <p:nvPr/>
          </p:nvSpPr>
          <p:spPr>
            <a:xfrm flipV="1">
              <a:off x="3777" y="2240"/>
              <a:ext cx="540" cy="641"/>
            </a:xfrm>
            <a:prstGeom prst="line">
              <a:avLst/>
            </a:prstGeom>
            <a:ln w="9525" cap="flat" cmpd="sng">
              <a:solidFill>
                <a:srgbClr val="000000"/>
              </a:solidFill>
              <a:prstDash val="solid"/>
              <a:headEnd type="triangle" w="sm" len="lg"/>
              <a:tailEnd type="none" w="sm" len="lg"/>
            </a:ln>
          </p:spPr>
        </p:sp>
        <p:sp>
          <p:nvSpPr>
            <p:cNvPr id="113684" name="Line 18"/>
            <p:cNvSpPr/>
            <p:nvPr/>
          </p:nvSpPr>
          <p:spPr>
            <a:xfrm>
              <a:off x="3677" y="3280"/>
              <a:ext cx="720" cy="726"/>
            </a:xfrm>
            <a:prstGeom prst="line">
              <a:avLst/>
            </a:prstGeom>
            <a:ln w="9525" cap="flat" cmpd="sng">
              <a:solidFill>
                <a:srgbClr val="000000"/>
              </a:solidFill>
              <a:prstDash val="solid"/>
              <a:headEnd type="none" w="med" len="med"/>
              <a:tailEnd type="triangle" w="sm" len="lg"/>
            </a:ln>
          </p:spPr>
        </p:sp>
        <p:sp>
          <p:nvSpPr>
            <p:cNvPr id="113685" name="Arc 19"/>
            <p:cNvSpPr/>
            <p:nvPr/>
          </p:nvSpPr>
          <p:spPr>
            <a:xfrm>
              <a:off x="4307" y="1549"/>
              <a:ext cx="540" cy="465"/>
            </a:xfrm>
            <a:custGeom>
              <a:avLst/>
              <a:gdLst>
                <a:gd name="txL" fmla="*/ 0 w 43200"/>
                <a:gd name="txT" fmla="*/ 0 h 43200"/>
                <a:gd name="txR" fmla="*/ 43200 w 43200"/>
                <a:gd name="txB" fmla="*/ 43200 h 43200"/>
              </a:gdLst>
              <a:ahLst/>
              <a:cxnLst>
                <a:cxn ang="0">
                  <a:pos x="0" y="0"/>
                </a:cxn>
                <a:cxn ang="0">
                  <a:pos x="0" y="0"/>
                </a:cxn>
                <a:cxn ang="0">
                  <a:pos x="0" y="0"/>
                </a:cxn>
              </a:cxnLst>
              <a:rect l="txL" t="txT" r="txR" b="txB"/>
              <a:pathLst>
                <a:path w="43200" h="43200" fill="none">
                  <a:moveTo>
                    <a:pt x="22905" y="43160"/>
                  </a:moveTo>
                  <a:cubicBezTo>
                    <a:pt x="22471" y="43186"/>
                    <a:pt x="22035" y="43199"/>
                    <a:pt x="21600" y="43200"/>
                  </a:cubicBezTo>
                  <a:cubicBezTo>
                    <a:pt x="9670" y="43200"/>
                    <a:pt x="0" y="33529"/>
                    <a:pt x="0" y="21600"/>
                  </a:cubicBezTo>
                  <a:cubicBezTo>
                    <a:pt x="0" y="9670"/>
                    <a:pt x="9670" y="0"/>
                    <a:pt x="21600" y="0"/>
                  </a:cubicBezTo>
                  <a:cubicBezTo>
                    <a:pt x="33529" y="0"/>
                    <a:pt x="43200" y="9670"/>
                    <a:pt x="43200" y="21600"/>
                  </a:cubicBezTo>
                  <a:cubicBezTo>
                    <a:pt x="43200" y="27169"/>
                    <a:pt x="41048" y="32523"/>
                    <a:pt x="37195" y="36545"/>
                  </a:cubicBezTo>
                </a:path>
                <a:path w="43200" h="43200" stroke="0">
                  <a:moveTo>
                    <a:pt x="22905" y="43160"/>
                  </a:moveTo>
                  <a:cubicBezTo>
                    <a:pt x="22471" y="43186"/>
                    <a:pt x="22035" y="43199"/>
                    <a:pt x="21600" y="43200"/>
                  </a:cubicBezTo>
                  <a:cubicBezTo>
                    <a:pt x="9670" y="43200"/>
                    <a:pt x="0" y="33529"/>
                    <a:pt x="0" y="21600"/>
                  </a:cubicBezTo>
                  <a:cubicBezTo>
                    <a:pt x="0" y="9670"/>
                    <a:pt x="9670" y="0"/>
                    <a:pt x="21600" y="0"/>
                  </a:cubicBezTo>
                  <a:cubicBezTo>
                    <a:pt x="33529" y="0"/>
                    <a:pt x="43200" y="9670"/>
                    <a:pt x="43200" y="21600"/>
                  </a:cubicBezTo>
                  <a:cubicBezTo>
                    <a:pt x="43200" y="27169"/>
                    <a:pt x="41048" y="32523"/>
                    <a:pt x="37195" y="36545"/>
                  </a:cubicBezTo>
                  <a:lnTo>
                    <a:pt x="21600" y="21600"/>
                  </a:lnTo>
                  <a:lnTo>
                    <a:pt x="22905" y="43160"/>
                  </a:lnTo>
                  <a:close/>
                </a:path>
              </a:pathLst>
            </a:custGeom>
            <a:noFill/>
            <a:ln w="9525" cap="flat" cmpd="sng">
              <a:solidFill>
                <a:srgbClr val="000000">
                  <a:alpha val="100000"/>
                </a:srgbClr>
              </a:solidFill>
              <a:prstDash val="solid"/>
              <a:round/>
              <a:headEnd type="none" w="med" len="med"/>
              <a:tailEnd type="triangle" w="sm" len="lg"/>
            </a:ln>
          </p:spPr>
          <p:txBody>
            <a:bodyPr/>
            <a:lstStyle/>
            <a:p>
              <a:endParaRPr lang="zh-CN" altLang="en-US" sz="2800"/>
            </a:p>
          </p:txBody>
        </p:sp>
        <p:sp>
          <p:nvSpPr>
            <p:cNvPr id="113686" name="Oval 20"/>
            <p:cNvSpPr/>
            <p:nvPr/>
          </p:nvSpPr>
          <p:spPr>
            <a:xfrm>
              <a:off x="4307" y="1861"/>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lstStyle/>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2</a:t>
              </a:r>
              <a:endParaRPr lang="en-US" altLang="zh-CN" sz="2800" dirty="0">
                <a:latin typeface="Times New Roman" panose="02020603050405020304" pitchFamily="18" charset="0"/>
              </a:endParaRPr>
            </a:p>
            <a:p>
              <a:endParaRPr lang="en-US" altLang="zh-CN" sz="2800" dirty="0">
                <a:latin typeface="Times New Roman" panose="02020603050405020304" pitchFamily="18" charset="0"/>
              </a:endParaRPr>
            </a:p>
          </p:txBody>
        </p:sp>
        <p:sp>
          <p:nvSpPr>
            <p:cNvPr id="113687" name="Arc 21"/>
            <p:cNvSpPr/>
            <p:nvPr/>
          </p:nvSpPr>
          <p:spPr>
            <a:xfrm rot="-7331868" flipV="1">
              <a:off x="4240" y="4185"/>
              <a:ext cx="536" cy="601"/>
            </a:xfrm>
            <a:custGeom>
              <a:avLst/>
              <a:gdLst>
                <a:gd name="txL" fmla="*/ 0 w 43200"/>
                <a:gd name="txT" fmla="*/ 0 h 43200"/>
                <a:gd name="txR" fmla="*/ 43200 w 43200"/>
                <a:gd name="txB" fmla="*/ 43200 h 43200"/>
              </a:gdLst>
              <a:ahLst/>
              <a:cxnLst>
                <a:cxn ang="0">
                  <a:pos x="0" y="0"/>
                </a:cxn>
                <a:cxn ang="0">
                  <a:pos x="0" y="0"/>
                </a:cxn>
                <a:cxn ang="0">
                  <a:pos x="0" y="0"/>
                </a:cxn>
              </a:cxnLst>
              <a:rect l="txL" t="txT" r="txR" b="txB"/>
              <a:pathLst>
                <a:path w="43200" h="43200" fill="none">
                  <a:moveTo>
                    <a:pt x="21599" y="0"/>
                  </a:moveTo>
                  <a:cubicBezTo>
                    <a:pt x="33529" y="0"/>
                    <a:pt x="43200" y="9670"/>
                    <a:pt x="43200" y="21600"/>
                  </a:cubicBezTo>
                  <a:cubicBezTo>
                    <a:pt x="43200" y="33529"/>
                    <a:pt x="33529" y="43200"/>
                    <a:pt x="21600" y="43200"/>
                  </a:cubicBezTo>
                  <a:cubicBezTo>
                    <a:pt x="9670" y="43200"/>
                    <a:pt x="0" y="33529"/>
                    <a:pt x="0" y="21600"/>
                  </a:cubicBezTo>
                  <a:cubicBezTo>
                    <a:pt x="-1" y="10757"/>
                    <a:pt x="8037" y="1595"/>
                    <a:pt x="18787" y="183"/>
                  </a:cubicBezTo>
                </a:path>
                <a:path w="43200" h="43200" stroke="0">
                  <a:moveTo>
                    <a:pt x="21599" y="0"/>
                  </a:moveTo>
                  <a:cubicBezTo>
                    <a:pt x="33529" y="0"/>
                    <a:pt x="43200" y="9670"/>
                    <a:pt x="43200" y="21600"/>
                  </a:cubicBezTo>
                  <a:cubicBezTo>
                    <a:pt x="43200" y="33529"/>
                    <a:pt x="33529" y="43200"/>
                    <a:pt x="21600" y="43200"/>
                  </a:cubicBezTo>
                  <a:cubicBezTo>
                    <a:pt x="9670" y="43200"/>
                    <a:pt x="0" y="33529"/>
                    <a:pt x="0" y="21600"/>
                  </a:cubicBezTo>
                  <a:cubicBezTo>
                    <a:pt x="-1" y="10757"/>
                    <a:pt x="8037" y="1595"/>
                    <a:pt x="18787" y="183"/>
                  </a:cubicBezTo>
                  <a:lnTo>
                    <a:pt x="21600" y="21600"/>
                  </a:lnTo>
                  <a:lnTo>
                    <a:pt x="21599" y="0"/>
                  </a:lnTo>
                  <a:close/>
                </a:path>
              </a:pathLst>
            </a:custGeom>
            <a:noFill/>
            <a:ln w="9525" cap="flat" cmpd="sng">
              <a:solidFill>
                <a:srgbClr val="000000">
                  <a:alpha val="100000"/>
                </a:srgbClr>
              </a:solidFill>
              <a:prstDash val="solid"/>
              <a:round/>
              <a:headEnd type="none" w="med" len="med"/>
              <a:tailEnd type="triangle" w="sm" len="lg"/>
            </a:ln>
          </p:spPr>
          <p:txBody>
            <a:bodyPr/>
            <a:lstStyle/>
            <a:p>
              <a:endParaRPr lang="zh-CN" altLang="en-US" sz="2800"/>
            </a:p>
          </p:txBody>
        </p:sp>
        <p:sp>
          <p:nvSpPr>
            <p:cNvPr id="113688" name="Oval 22"/>
            <p:cNvSpPr/>
            <p:nvPr/>
          </p:nvSpPr>
          <p:spPr>
            <a:xfrm>
              <a:off x="4292" y="3922"/>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lstStyle/>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4</a:t>
              </a:r>
              <a:endParaRPr lang="en-US" altLang="zh-CN" sz="2800" dirty="0">
                <a:latin typeface="Times New Roman" panose="02020603050405020304" pitchFamily="18" charset="0"/>
              </a:endParaRPr>
            </a:p>
            <a:p>
              <a:endParaRPr lang="en-US" altLang="zh-CN" sz="2800" dirty="0">
                <a:latin typeface="Times New Roman" panose="02020603050405020304" pitchFamily="18" charset="0"/>
              </a:endParaRPr>
            </a:p>
          </p:txBody>
        </p:sp>
        <p:sp>
          <p:nvSpPr>
            <p:cNvPr id="113689" name="Line 23"/>
            <p:cNvSpPr/>
            <p:nvPr/>
          </p:nvSpPr>
          <p:spPr>
            <a:xfrm flipV="1">
              <a:off x="4774" y="3307"/>
              <a:ext cx="663" cy="726"/>
            </a:xfrm>
            <a:prstGeom prst="line">
              <a:avLst/>
            </a:prstGeom>
            <a:ln w="9525" cap="flat" cmpd="sng">
              <a:solidFill>
                <a:srgbClr val="000000"/>
              </a:solidFill>
              <a:prstDash val="solid"/>
              <a:headEnd type="none" w="med" len="med"/>
              <a:tailEnd type="triangle" w="sm" len="lg"/>
            </a:ln>
          </p:spPr>
        </p:sp>
        <p:sp>
          <p:nvSpPr>
            <p:cNvPr id="113690" name="Line 24"/>
            <p:cNvSpPr/>
            <p:nvPr/>
          </p:nvSpPr>
          <p:spPr>
            <a:xfrm flipH="1" flipV="1">
              <a:off x="4820" y="2214"/>
              <a:ext cx="539" cy="641"/>
            </a:xfrm>
            <a:prstGeom prst="line">
              <a:avLst/>
            </a:prstGeom>
            <a:ln w="9525" cap="flat" cmpd="sng">
              <a:solidFill>
                <a:srgbClr val="000000"/>
              </a:solidFill>
              <a:prstDash val="solid"/>
              <a:headEnd type="none" w="med" len="med"/>
              <a:tailEnd type="triangle" w="sm" len="lg"/>
            </a:ln>
          </p:spPr>
        </p:sp>
        <p:sp>
          <p:nvSpPr>
            <p:cNvPr id="113691" name="Oval 25"/>
            <p:cNvSpPr/>
            <p:nvPr/>
          </p:nvSpPr>
          <p:spPr>
            <a:xfrm>
              <a:off x="7262" y="2862"/>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lstStyle/>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6</a:t>
              </a:r>
              <a:endParaRPr lang="en-US" altLang="zh-CN" sz="2800" dirty="0">
                <a:latin typeface="Times New Roman" panose="02020603050405020304" pitchFamily="18" charset="0"/>
              </a:endParaRPr>
            </a:p>
            <a:p>
              <a:endParaRPr lang="en-US" altLang="zh-CN" sz="2800" dirty="0">
                <a:latin typeface="Times New Roman" panose="02020603050405020304" pitchFamily="18" charset="0"/>
              </a:endParaRPr>
            </a:p>
          </p:txBody>
        </p:sp>
        <p:sp>
          <p:nvSpPr>
            <p:cNvPr id="113692" name="Line 26"/>
            <p:cNvSpPr/>
            <p:nvPr/>
          </p:nvSpPr>
          <p:spPr>
            <a:xfrm flipV="1">
              <a:off x="5777" y="2270"/>
              <a:ext cx="540" cy="641"/>
            </a:xfrm>
            <a:prstGeom prst="line">
              <a:avLst/>
            </a:prstGeom>
            <a:ln w="9525" cap="flat" cmpd="sng">
              <a:solidFill>
                <a:srgbClr val="000000"/>
              </a:solidFill>
              <a:prstDash val="solid"/>
              <a:headEnd type="none" w="med" len="med"/>
              <a:tailEnd type="triangle" w="sm" len="lg"/>
            </a:ln>
          </p:spPr>
        </p:sp>
        <p:sp>
          <p:nvSpPr>
            <p:cNvPr id="113693" name="Line 27"/>
            <p:cNvSpPr/>
            <p:nvPr/>
          </p:nvSpPr>
          <p:spPr>
            <a:xfrm>
              <a:off x="5672" y="3326"/>
              <a:ext cx="720" cy="726"/>
            </a:xfrm>
            <a:prstGeom prst="line">
              <a:avLst/>
            </a:prstGeom>
            <a:ln w="9525" cap="flat" cmpd="sng">
              <a:solidFill>
                <a:srgbClr val="000000"/>
              </a:solidFill>
              <a:prstDash val="solid"/>
              <a:headEnd type="triangle" w="sm" len="lg"/>
              <a:tailEnd type="none" w="sm" len="lg"/>
            </a:ln>
          </p:spPr>
        </p:sp>
        <p:sp>
          <p:nvSpPr>
            <p:cNvPr id="113694" name="Arc 28"/>
            <p:cNvSpPr/>
            <p:nvPr/>
          </p:nvSpPr>
          <p:spPr>
            <a:xfrm>
              <a:off x="6302" y="1595"/>
              <a:ext cx="540" cy="465"/>
            </a:xfrm>
            <a:custGeom>
              <a:avLst/>
              <a:gdLst>
                <a:gd name="txL" fmla="*/ 0 w 43200"/>
                <a:gd name="txT" fmla="*/ 0 h 43200"/>
                <a:gd name="txR" fmla="*/ 43200 w 43200"/>
                <a:gd name="txB" fmla="*/ 43200 h 43200"/>
              </a:gdLst>
              <a:ahLst/>
              <a:cxnLst>
                <a:cxn ang="0">
                  <a:pos x="0" y="0"/>
                </a:cxn>
                <a:cxn ang="0">
                  <a:pos x="0" y="0"/>
                </a:cxn>
                <a:cxn ang="0">
                  <a:pos x="0" y="0"/>
                </a:cxn>
              </a:cxnLst>
              <a:rect l="txL" t="txT" r="txR" b="txB"/>
              <a:pathLst>
                <a:path w="43200" h="43200" fill="none">
                  <a:moveTo>
                    <a:pt x="22905" y="43160"/>
                  </a:moveTo>
                  <a:cubicBezTo>
                    <a:pt x="22471" y="43186"/>
                    <a:pt x="22035" y="43199"/>
                    <a:pt x="21600" y="43200"/>
                  </a:cubicBezTo>
                  <a:cubicBezTo>
                    <a:pt x="9670" y="43200"/>
                    <a:pt x="0" y="33529"/>
                    <a:pt x="0" y="21600"/>
                  </a:cubicBezTo>
                  <a:cubicBezTo>
                    <a:pt x="0" y="9670"/>
                    <a:pt x="9670" y="0"/>
                    <a:pt x="21600" y="0"/>
                  </a:cubicBezTo>
                  <a:cubicBezTo>
                    <a:pt x="33529" y="0"/>
                    <a:pt x="43200" y="9670"/>
                    <a:pt x="43200" y="21600"/>
                  </a:cubicBezTo>
                  <a:cubicBezTo>
                    <a:pt x="43200" y="27169"/>
                    <a:pt x="41048" y="32523"/>
                    <a:pt x="37195" y="36545"/>
                  </a:cubicBezTo>
                </a:path>
                <a:path w="43200" h="43200" stroke="0">
                  <a:moveTo>
                    <a:pt x="22905" y="43160"/>
                  </a:moveTo>
                  <a:cubicBezTo>
                    <a:pt x="22471" y="43186"/>
                    <a:pt x="22035" y="43199"/>
                    <a:pt x="21600" y="43200"/>
                  </a:cubicBezTo>
                  <a:cubicBezTo>
                    <a:pt x="9670" y="43200"/>
                    <a:pt x="0" y="33529"/>
                    <a:pt x="0" y="21600"/>
                  </a:cubicBezTo>
                  <a:cubicBezTo>
                    <a:pt x="0" y="9670"/>
                    <a:pt x="9670" y="0"/>
                    <a:pt x="21600" y="0"/>
                  </a:cubicBezTo>
                  <a:cubicBezTo>
                    <a:pt x="33529" y="0"/>
                    <a:pt x="43200" y="9670"/>
                    <a:pt x="43200" y="21600"/>
                  </a:cubicBezTo>
                  <a:cubicBezTo>
                    <a:pt x="43200" y="27169"/>
                    <a:pt x="41048" y="32523"/>
                    <a:pt x="37195" y="36545"/>
                  </a:cubicBezTo>
                  <a:lnTo>
                    <a:pt x="21600" y="21600"/>
                  </a:lnTo>
                  <a:lnTo>
                    <a:pt x="22905" y="43160"/>
                  </a:lnTo>
                  <a:close/>
                </a:path>
              </a:pathLst>
            </a:custGeom>
            <a:noFill/>
            <a:ln w="9525" cap="flat" cmpd="sng">
              <a:solidFill>
                <a:srgbClr val="000000">
                  <a:alpha val="100000"/>
                </a:srgbClr>
              </a:solidFill>
              <a:prstDash val="solid"/>
              <a:round/>
              <a:headEnd type="none" w="med" len="med"/>
              <a:tailEnd type="triangle" w="sm" len="lg"/>
            </a:ln>
          </p:spPr>
          <p:txBody>
            <a:bodyPr/>
            <a:lstStyle/>
            <a:p>
              <a:endParaRPr lang="zh-CN" altLang="en-US" sz="2800"/>
            </a:p>
          </p:txBody>
        </p:sp>
        <p:sp>
          <p:nvSpPr>
            <p:cNvPr id="113695" name="Oval 29"/>
            <p:cNvSpPr/>
            <p:nvPr/>
          </p:nvSpPr>
          <p:spPr>
            <a:xfrm>
              <a:off x="6302" y="1907"/>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lstStyle/>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5</a:t>
              </a:r>
              <a:endParaRPr lang="en-US" altLang="zh-CN" sz="2800" dirty="0">
                <a:latin typeface="Times New Roman" panose="02020603050405020304" pitchFamily="18" charset="0"/>
              </a:endParaRPr>
            </a:p>
            <a:p>
              <a:endParaRPr lang="en-US" altLang="zh-CN" sz="2800" dirty="0">
                <a:latin typeface="Times New Roman" panose="02020603050405020304" pitchFamily="18" charset="0"/>
              </a:endParaRPr>
            </a:p>
          </p:txBody>
        </p:sp>
        <p:sp>
          <p:nvSpPr>
            <p:cNvPr id="113696" name="Arc 30"/>
            <p:cNvSpPr/>
            <p:nvPr/>
          </p:nvSpPr>
          <p:spPr>
            <a:xfrm rot="-7331868" flipV="1">
              <a:off x="6235" y="4231"/>
              <a:ext cx="536" cy="601"/>
            </a:xfrm>
            <a:custGeom>
              <a:avLst/>
              <a:gdLst>
                <a:gd name="txL" fmla="*/ 0 w 43200"/>
                <a:gd name="txT" fmla="*/ 0 h 43200"/>
                <a:gd name="txR" fmla="*/ 43200 w 43200"/>
                <a:gd name="txB" fmla="*/ 43200 h 43200"/>
              </a:gdLst>
              <a:ahLst/>
              <a:cxnLst>
                <a:cxn ang="0">
                  <a:pos x="0" y="0"/>
                </a:cxn>
                <a:cxn ang="0">
                  <a:pos x="0" y="0"/>
                </a:cxn>
                <a:cxn ang="0">
                  <a:pos x="0" y="0"/>
                </a:cxn>
              </a:cxnLst>
              <a:rect l="txL" t="txT" r="txR" b="txB"/>
              <a:pathLst>
                <a:path w="43200" h="43200" fill="none">
                  <a:moveTo>
                    <a:pt x="21599" y="0"/>
                  </a:moveTo>
                  <a:cubicBezTo>
                    <a:pt x="33529" y="0"/>
                    <a:pt x="43200" y="9670"/>
                    <a:pt x="43200" y="21600"/>
                  </a:cubicBezTo>
                  <a:cubicBezTo>
                    <a:pt x="43200" y="33529"/>
                    <a:pt x="33529" y="43200"/>
                    <a:pt x="21600" y="43200"/>
                  </a:cubicBezTo>
                  <a:cubicBezTo>
                    <a:pt x="9670" y="43200"/>
                    <a:pt x="0" y="33529"/>
                    <a:pt x="0" y="21600"/>
                  </a:cubicBezTo>
                  <a:cubicBezTo>
                    <a:pt x="-1" y="10757"/>
                    <a:pt x="8037" y="1595"/>
                    <a:pt x="18787" y="183"/>
                  </a:cubicBezTo>
                </a:path>
                <a:path w="43200" h="43200" stroke="0">
                  <a:moveTo>
                    <a:pt x="21599" y="0"/>
                  </a:moveTo>
                  <a:cubicBezTo>
                    <a:pt x="33529" y="0"/>
                    <a:pt x="43200" y="9670"/>
                    <a:pt x="43200" y="21600"/>
                  </a:cubicBezTo>
                  <a:cubicBezTo>
                    <a:pt x="43200" y="33529"/>
                    <a:pt x="33529" y="43200"/>
                    <a:pt x="21600" y="43200"/>
                  </a:cubicBezTo>
                  <a:cubicBezTo>
                    <a:pt x="9670" y="43200"/>
                    <a:pt x="0" y="33529"/>
                    <a:pt x="0" y="21600"/>
                  </a:cubicBezTo>
                  <a:cubicBezTo>
                    <a:pt x="-1" y="10757"/>
                    <a:pt x="8037" y="1595"/>
                    <a:pt x="18787" y="183"/>
                  </a:cubicBezTo>
                  <a:lnTo>
                    <a:pt x="21600" y="21600"/>
                  </a:lnTo>
                  <a:lnTo>
                    <a:pt x="21599" y="0"/>
                  </a:lnTo>
                  <a:close/>
                </a:path>
              </a:pathLst>
            </a:custGeom>
            <a:noFill/>
            <a:ln w="9525" cap="flat" cmpd="sng">
              <a:solidFill>
                <a:srgbClr val="000000">
                  <a:alpha val="100000"/>
                </a:srgbClr>
              </a:solidFill>
              <a:prstDash val="solid"/>
              <a:round/>
              <a:headEnd type="none" w="med" len="med"/>
              <a:tailEnd type="triangle" w="sm" len="lg"/>
            </a:ln>
          </p:spPr>
          <p:txBody>
            <a:bodyPr/>
            <a:lstStyle/>
            <a:p>
              <a:endParaRPr lang="zh-CN" altLang="en-US" sz="2800"/>
            </a:p>
          </p:txBody>
        </p:sp>
        <p:sp>
          <p:nvSpPr>
            <p:cNvPr id="113697" name="Line 31"/>
            <p:cNvSpPr/>
            <p:nvPr/>
          </p:nvSpPr>
          <p:spPr>
            <a:xfrm flipV="1">
              <a:off x="6721" y="3353"/>
              <a:ext cx="663" cy="726"/>
            </a:xfrm>
            <a:prstGeom prst="line">
              <a:avLst/>
            </a:prstGeom>
            <a:ln w="9525" cap="flat" cmpd="sng">
              <a:solidFill>
                <a:srgbClr val="000000"/>
              </a:solidFill>
              <a:prstDash val="solid"/>
              <a:headEnd type="triangle" w="sm" len="lg"/>
              <a:tailEnd type="none" w="sm" len="lg"/>
            </a:ln>
          </p:spPr>
        </p:sp>
        <p:sp>
          <p:nvSpPr>
            <p:cNvPr id="113698" name="Line 32"/>
            <p:cNvSpPr/>
            <p:nvPr/>
          </p:nvSpPr>
          <p:spPr>
            <a:xfrm flipH="1" flipV="1">
              <a:off x="6812" y="2292"/>
              <a:ext cx="539" cy="641"/>
            </a:xfrm>
            <a:prstGeom prst="line">
              <a:avLst/>
            </a:prstGeom>
            <a:ln w="9525" cap="flat" cmpd="sng">
              <a:solidFill>
                <a:srgbClr val="000000"/>
              </a:solidFill>
              <a:prstDash val="solid"/>
              <a:headEnd type="triangle" w="sm" len="lg"/>
              <a:tailEnd type="none" w="sm" len="lg"/>
            </a:ln>
          </p:spPr>
        </p:sp>
        <p:sp>
          <p:nvSpPr>
            <p:cNvPr id="113699" name="Oval 33"/>
            <p:cNvSpPr/>
            <p:nvPr/>
          </p:nvSpPr>
          <p:spPr>
            <a:xfrm>
              <a:off x="6272" y="4003"/>
              <a:ext cx="540" cy="539"/>
            </a:xfrm>
            <a:prstGeom prst="ellipse">
              <a:avLst/>
            </a:prstGeom>
            <a:solidFill>
              <a:srgbClr val="CCFFCC"/>
            </a:solidFill>
            <a:ln w="9525" cap="flat" cmpd="sng">
              <a:solidFill>
                <a:srgbClr val="0000FF"/>
              </a:solidFill>
              <a:prstDash val="solid"/>
              <a:headEnd type="none" w="med" len="med"/>
              <a:tailEnd type="none" w="med" len="med"/>
            </a:ln>
          </p:spPr>
          <p:txBody>
            <a:bodyPr lIns="0" rIns="0"/>
            <a:lstStyle/>
            <a:p>
              <a:pPr algn="ctr"/>
              <a:r>
                <a:rPr lang="en-US" altLang="zh-CN" sz="2800" i="1" dirty="0">
                  <a:latin typeface="Times New Roman" panose="02020603050405020304" pitchFamily="18" charset="0"/>
                </a:rPr>
                <a:t>S</a:t>
              </a:r>
              <a:r>
                <a:rPr lang="en-US" altLang="zh-CN" sz="2800" baseline="-25000" dirty="0">
                  <a:latin typeface="Times New Roman" panose="02020603050405020304" pitchFamily="18" charset="0"/>
                </a:rPr>
                <a:t>7</a:t>
              </a:r>
            </a:p>
          </p:txBody>
        </p:sp>
        <p:sp>
          <p:nvSpPr>
            <p:cNvPr id="113700" name="Arc 34"/>
            <p:cNvSpPr/>
            <p:nvPr/>
          </p:nvSpPr>
          <p:spPr>
            <a:xfrm rot="-5400000">
              <a:off x="2931" y="2835"/>
              <a:ext cx="540" cy="406"/>
            </a:xfrm>
            <a:custGeom>
              <a:avLst/>
              <a:gdLst>
                <a:gd name="txL" fmla="*/ 0 w 43200"/>
                <a:gd name="txT" fmla="*/ 0 h 37710"/>
                <a:gd name="txR" fmla="*/ 43200 w 43200"/>
                <a:gd name="txB" fmla="*/ 37710 h 37710"/>
              </a:gdLst>
              <a:ahLst/>
              <a:cxnLst>
                <a:cxn ang="0">
                  <a:pos x="0" y="0"/>
                </a:cxn>
                <a:cxn ang="0">
                  <a:pos x="0" y="0"/>
                </a:cxn>
                <a:cxn ang="0">
                  <a:pos x="0" y="0"/>
                </a:cxn>
              </a:cxnLst>
              <a:rect l="txL" t="txT" r="txR" b="txB"/>
              <a:pathLst>
                <a:path w="43200" h="37710" fill="none">
                  <a:moveTo>
                    <a:pt x="7211" y="37709"/>
                  </a:moveTo>
                  <a:cubicBezTo>
                    <a:pt x="2623" y="33611"/>
                    <a:pt x="0" y="27751"/>
                    <a:pt x="0" y="21600"/>
                  </a:cubicBezTo>
                  <a:cubicBezTo>
                    <a:pt x="0" y="9670"/>
                    <a:pt x="9670" y="0"/>
                    <a:pt x="21600" y="0"/>
                  </a:cubicBezTo>
                  <a:cubicBezTo>
                    <a:pt x="33529" y="0"/>
                    <a:pt x="43200" y="9670"/>
                    <a:pt x="43200" y="21600"/>
                  </a:cubicBezTo>
                  <a:cubicBezTo>
                    <a:pt x="43200" y="27139"/>
                    <a:pt x="41071" y="32467"/>
                    <a:pt x="37255" y="36482"/>
                  </a:cubicBezTo>
                </a:path>
                <a:path w="43200" h="37710" stroke="0">
                  <a:moveTo>
                    <a:pt x="7211" y="37709"/>
                  </a:moveTo>
                  <a:cubicBezTo>
                    <a:pt x="2623" y="33611"/>
                    <a:pt x="0" y="27751"/>
                    <a:pt x="0" y="21600"/>
                  </a:cubicBezTo>
                  <a:cubicBezTo>
                    <a:pt x="0" y="9670"/>
                    <a:pt x="9670" y="0"/>
                    <a:pt x="21600" y="0"/>
                  </a:cubicBezTo>
                  <a:cubicBezTo>
                    <a:pt x="33529" y="0"/>
                    <a:pt x="43200" y="9670"/>
                    <a:pt x="43200" y="21600"/>
                  </a:cubicBezTo>
                  <a:cubicBezTo>
                    <a:pt x="43200" y="27139"/>
                    <a:pt x="41071" y="32467"/>
                    <a:pt x="37255" y="36482"/>
                  </a:cubicBezTo>
                  <a:lnTo>
                    <a:pt x="21600" y="21600"/>
                  </a:lnTo>
                  <a:lnTo>
                    <a:pt x="7211" y="37709"/>
                  </a:lnTo>
                  <a:close/>
                </a:path>
              </a:pathLst>
            </a:custGeom>
            <a:noFill/>
            <a:ln w="9525" cap="flat" cmpd="sng">
              <a:solidFill>
                <a:srgbClr val="000000">
                  <a:alpha val="100000"/>
                </a:srgbClr>
              </a:solidFill>
              <a:prstDash val="solid"/>
              <a:round/>
              <a:headEnd type="triangle" w="sm" len="lg"/>
              <a:tailEnd type="none" w="lg" len="lg"/>
            </a:ln>
          </p:spPr>
          <p:txBody>
            <a:bodyPr/>
            <a:lstStyle/>
            <a:p>
              <a:endParaRPr lang="zh-CN" altLang="en-US" sz="2800"/>
            </a:p>
          </p:txBody>
        </p:sp>
        <p:sp>
          <p:nvSpPr>
            <p:cNvPr id="113701" name="Arc 35"/>
            <p:cNvSpPr/>
            <p:nvPr/>
          </p:nvSpPr>
          <p:spPr>
            <a:xfrm rot="4787726">
              <a:off x="7644" y="2848"/>
              <a:ext cx="540" cy="406"/>
            </a:xfrm>
            <a:custGeom>
              <a:avLst/>
              <a:gdLst>
                <a:gd name="txL" fmla="*/ 0 w 43200"/>
                <a:gd name="txT" fmla="*/ 0 h 37710"/>
                <a:gd name="txR" fmla="*/ 43200 w 43200"/>
                <a:gd name="txB" fmla="*/ 37710 h 37710"/>
              </a:gdLst>
              <a:ahLst/>
              <a:cxnLst>
                <a:cxn ang="0">
                  <a:pos x="0" y="0"/>
                </a:cxn>
                <a:cxn ang="0">
                  <a:pos x="0" y="0"/>
                </a:cxn>
                <a:cxn ang="0">
                  <a:pos x="0" y="0"/>
                </a:cxn>
              </a:cxnLst>
              <a:rect l="txL" t="txT" r="txR" b="txB"/>
              <a:pathLst>
                <a:path w="43200" h="37710" fill="none">
                  <a:moveTo>
                    <a:pt x="7211" y="37709"/>
                  </a:moveTo>
                  <a:cubicBezTo>
                    <a:pt x="2623" y="33611"/>
                    <a:pt x="0" y="27751"/>
                    <a:pt x="0" y="21600"/>
                  </a:cubicBezTo>
                  <a:cubicBezTo>
                    <a:pt x="0" y="9670"/>
                    <a:pt x="9670" y="0"/>
                    <a:pt x="21600" y="0"/>
                  </a:cubicBezTo>
                  <a:cubicBezTo>
                    <a:pt x="33529" y="0"/>
                    <a:pt x="43200" y="9670"/>
                    <a:pt x="43200" y="21600"/>
                  </a:cubicBezTo>
                  <a:cubicBezTo>
                    <a:pt x="43200" y="27139"/>
                    <a:pt x="41071" y="32467"/>
                    <a:pt x="37255" y="36482"/>
                  </a:cubicBezTo>
                </a:path>
                <a:path w="43200" h="37710" stroke="0">
                  <a:moveTo>
                    <a:pt x="7211" y="37709"/>
                  </a:moveTo>
                  <a:cubicBezTo>
                    <a:pt x="2623" y="33611"/>
                    <a:pt x="0" y="27751"/>
                    <a:pt x="0" y="21600"/>
                  </a:cubicBezTo>
                  <a:cubicBezTo>
                    <a:pt x="0" y="9670"/>
                    <a:pt x="9670" y="0"/>
                    <a:pt x="21600" y="0"/>
                  </a:cubicBezTo>
                  <a:cubicBezTo>
                    <a:pt x="33529" y="0"/>
                    <a:pt x="43200" y="9670"/>
                    <a:pt x="43200" y="21600"/>
                  </a:cubicBezTo>
                  <a:cubicBezTo>
                    <a:pt x="43200" y="27139"/>
                    <a:pt x="41071" y="32467"/>
                    <a:pt x="37255" y="36482"/>
                  </a:cubicBezTo>
                  <a:lnTo>
                    <a:pt x="21600" y="21600"/>
                  </a:lnTo>
                  <a:lnTo>
                    <a:pt x="7211" y="37709"/>
                  </a:lnTo>
                  <a:close/>
                </a:path>
              </a:pathLst>
            </a:custGeom>
            <a:noFill/>
            <a:ln w="9525" cap="flat" cmpd="sng">
              <a:solidFill>
                <a:srgbClr val="000000">
                  <a:alpha val="100000"/>
                </a:srgbClr>
              </a:solidFill>
              <a:prstDash val="solid"/>
              <a:round/>
              <a:headEnd type="none" w="lg" len="med"/>
              <a:tailEnd type="triangle" w="sm" len="lg"/>
            </a:ln>
          </p:spPr>
          <p:txBody>
            <a:bodyPr/>
            <a:lstStyle/>
            <a:p>
              <a:endParaRPr lang="zh-CN" altLang="en-US" sz="2800"/>
            </a:p>
          </p:txBody>
        </p:sp>
        <p:sp>
          <p:nvSpPr>
            <p:cNvPr id="113702" name="Arc 36"/>
            <p:cNvSpPr/>
            <p:nvPr/>
          </p:nvSpPr>
          <p:spPr>
            <a:xfrm>
              <a:off x="5366" y="2352"/>
              <a:ext cx="376" cy="494"/>
            </a:xfrm>
            <a:custGeom>
              <a:avLst/>
              <a:gdLst>
                <a:gd name="txL" fmla="*/ 0 w 43200"/>
                <a:gd name="txT" fmla="*/ 0 h 39056"/>
                <a:gd name="txR" fmla="*/ 43200 w 43200"/>
                <a:gd name="txB" fmla="*/ 39056 h 39056"/>
              </a:gdLst>
              <a:ahLst/>
              <a:cxnLst>
                <a:cxn ang="0">
                  <a:pos x="0" y="0"/>
                </a:cxn>
                <a:cxn ang="0">
                  <a:pos x="0" y="0"/>
                </a:cxn>
                <a:cxn ang="0">
                  <a:pos x="0" y="0"/>
                </a:cxn>
              </a:cxnLst>
              <a:rect l="txL" t="txT" r="txR" b="txB"/>
              <a:pathLst>
                <a:path w="43200" h="39056" fill="none">
                  <a:moveTo>
                    <a:pt x="7097" y="37606"/>
                  </a:moveTo>
                  <a:cubicBezTo>
                    <a:pt x="2577" y="33512"/>
                    <a:pt x="0" y="27698"/>
                    <a:pt x="0" y="21600"/>
                  </a:cubicBezTo>
                  <a:cubicBezTo>
                    <a:pt x="0" y="9670"/>
                    <a:pt x="9670" y="0"/>
                    <a:pt x="21600" y="0"/>
                  </a:cubicBezTo>
                  <a:cubicBezTo>
                    <a:pt x="33529" y="0"/>
                    <a:pt x="43200" y="9670"/>
                    <a:pt x="43200" y="21600"/>
                  </a:cubicBezTo>
                  <a:cubicBezTo>
                    <a:pt x="43200" y="28503"/>
                    <a:pt x="39900" y="34990"/>
                    <a:pt x="34321" y="39055"/>
                  </a:cubicBezTo>
                </a:path>
                <a:path w="43200" h="39056" stroke="0">
                  <a:moveTo>
                    <a:pt x="7097" y="37606"/>
                  </a:moveTo>
                  <a:cubicBezTo>
                    <a:pt x="2577" y="33512"/>
                    <a:pt x="0" y="27698"/>
                    <a:pt x="0" y="21600"/>
                  </a:cubicBezTo>
                  <a:cubicBezTo>
                    <a:pt x="0" y="9670"/>
                    <a:pt x="9670" y="0"/>
                    <a:pt x="21600" y="0"/>
                  </a:cubicBezTo>
                  <a:cubicBezTo>
                    <a:pt x="33529" y="0"/>
                    <a:pt x="43200" y="9670"/>
                    <a:pt x="43200" y="21600"/>
                  </a:cubicBezTo>
                  <a:cubicBezTo>
                    <a:pt x="43200" y="28503"/>
                    <a:pt x="39900" y="34990"/>
                    <a:pt x="34321" y="39055"/>
                  </a:cubicBezTo>
                  <a:lnTo>
                    <a:pt x="21600" y="21600"/>
                  </a:lnTo>
                  <a:lnTo>
                    <a:pt x="7097" y="37606"/>
                  </a:lnTo>
                  <a:close/>
                </a:path>
              </a:pathLst>
            </a:custGeom>
            <a:noFill/>
            <a:ln w="9525" cap="flat" cmpd="sng">
              <a:solidFill>
                <a:srgbClr val="000000">
                  <a:alpha val="100000"/>
                </a:srgbClr>
              </a:solidFill>
              <a:prstDash val="solid"/>
              <a:round/>
              <a:headEnd type="none" w="med" len="med"/>
              <a:tailEnd type="triangle" w="sm" len="lg"/>
            </a:ln>
          </p:spPr>
          <p:txBody>
            <a:bodyPr/>
            <a:lstStyle/>
            <a:p>
              <a:endParaRPr lang="zh-CN" altLang="en-US" sz="2800"/>
            </a:p>
          </p:txBody>
        </p:sp>
        <p:sp>
          <p:nvSpPr>
            <p:cNvPr id="113703" name="Rectangle 37"/>
            <p:cNvSpPr/>
            <p:nvPr/>
          </p:nvSpPr>
          <p:spPr>
            <a:xfrm>
              <a:off x="6827" y="4565"/>
              <a:ext cx="360" cy="397"/>
            </a:xfrm>
            <a:prstGeom prst="rect">
              <a:avLst/>
            </a:prstGeom>
            <a:noFill/>
            <a:ln w="9525">
              <a:noFill/>
            </a:ln>
          </p:spPr>
          <p:txBody>
            <a:bodyPr lIns="0" tIns="0" rIns="0" bIns="0"/>
            <a:lstStyle/>
            <a:p>
              <a:pPr algn="just"/>
              <a:r>
                <a:rPr lang="en-US" altLang="zh-CN" sz="2400" dirty="0">
                  <a:latin typeface="Times New Roman" panose="02020603050405020304" pitchFamily="18" charset="0"/>
                </a:rPr>
                <a:t>10/1</a:t>
              </a:r>
              <a:endParaRPr lang="en-US" altLang="zh-CN" sz="7200" dirty="0">
                <a:latin typeface="Times New Roman" panose="02020603050405020304" pitchFamily="18" charset="0"/>
              </a:endParaRPr>
            </a:p>
          </p:txBody>
        </p:sp>
        <p:sp>
          <p:nvSpPr>
            <p:cNvPr id="113704" name="Rectangle 38"/>
            <p:cNvSpPr/>
            <p:nvPr/>
          </p:nvSpPr>
          <p:spPr>
            <a:xfrm>
              <a:off x="6977" y="3809"/>
              <a:ext cx="360" cy="397"/>
            </a:xfrm>
            <a:prstGeom prst="rect">
              <a:avLst/>
            </a:prstGeom>
            <a:noFill/>
            <a:ln w="9525">
              <a:noFill/>
            </a:ln>
          </p:spPr>
          <p:txBody>
            <a:bodyPr lIns="0" tIns="0" rIns="0" bIns="0"/>
            <a:lstStyle/>
            <a:p>
              <a:pPr algn="just"/>
              <a:r>
                <a:rPr lang="en-US" altLang="zh-CN" sz="2400" dirty="0">
                  <a:latin typeface="Times New Roman" panose="02020603050405020304" pitchFamily="18" charset="0"/>
                </a:rPr>
                <a:t>10/1</a:t>
              </a:r>
              <a:endParaRPr lang="en-US" altLang="zh-CN" sz="7200" dirty="0">
                <a:latin typeface="Times New Roman" panose="02020603050405020304" pitchFamily="18" charset="0"/>
              </a:endParaRPr>
            </a:p>
          </p:txBody>
        </p:sp>
        <p:sp>
          <p:nvSpPr>
            <p:cNvPr id="113705" name="Rectangle 39"/>
            <p:cNvSpPr/>
            <p:nvPr/>
          </p:nvSpPr>
          <p:spPr>
            <a:xfrm>
              <a:off x="6902" y="1585"/>
              <a:ext cx="360" cy="397"/>
            </a:xfrm>
            <a:prstGeom prst="rect">
              <a:avLst/>
            </a:prstGeom>
            <a:noFill/>
            <a:ln w="9525">
              <a:noFill/>
            </a:ln>
          </p:spPr>
          <p:txBody>
            <a:bodyPr lIns="0" tIns="0" rIns="0" bIns="0"/>
            <a:lstStyle/>
            <a:p>
              <a:pPr algn="just"/>
              <a:r>
                <a:rPr lang="en-US" altLang="zh-CN" sz="2400" dirty="0">
                  <a:latin typeface="Times New Roman" panose="02020603050405020304" pitchFamily="18" charset="0"/>
                </a:rPr>
                <a:t>01/1</a:t>
              </a:r>
              <a:endParaRPr lang="en-US" altLang="zh-CN" sz="7200" dirty="0">
                <a:latin typeface="Times New Roman" panose="02020603050405020304" pitchFamily="18" charset="0"/>
              </a:endParaRPr>
            </a:p>
          </p:txBody>
        </p:sp>
      </p:grpSp>
      <p:sp>
        <p:nvSpPr>
          <p:cNvPr id="113667" name="Text Box 40"/>
          <p:cNvSpPr txBox="1"/>
          <p:nvPr/>
        </p:nvSpPr>
        <p:spPr>
          <a:xfrm>
            <a:off x="3497263" y="5881688"/>
            <a:ext cx="1962150" cy="519112"/>
          </a:xfrm>
          <a:prstGeom prst="rect">
            <a:avLst/>
          </a:prstGeom>
          <a:noFill/>
          <a:ln w="9525">
            <a:noFill/>
          </a:ln>
        </p:spPr>
        <p:txBody>
          <a:bodyPr wrap="none">
            <a:spAutoFit/>
          </a:bodyPr>
          <a:lstStyle/>
          <a:p>
            <a:pPr algn="ctr"/>
            <a:r>
              <a:rPr lang="zh-CN" altLang="en-US" sz="2800" dirty="0">
                <a:latin typeface="Times New Roman" panose="02020603050405020304" pitchFamily="18" charset="0"/>
              </a:rPr>
              <a:t>原始状态图</a:t>
            </a:r>
          </a:p>
        </p:txBody>
      </p:sp>
      <p:sp>
        <p:nvSpPr>
          <p:cNvPr id="113668" name="Text Box 41" descr="羊皮纸"/>
          <p:cNvSpPr txBox="1"/>
          <p:nvPr/>
        </p:nvSpPr>
        <p:spPr>
          <a:xfrm>
            <a:off x="655638" y="5441950"/>
            <a:ext cx="1196975" cy="822325"/>
          </a:xfrm>
          <a:prstGeom prst="rect">
            <a:avLst/>
          </a:prstGeom>
          <a:noFill/>
          <a:ln w="38100">
            <a:noFill/>
          </a:ln>
        </p:spPr>
        <p:txBody>
          <a:bodyPr wrap="none" lIns="90000" tIns="46800" rIns="90000" bIns="46800">
            <a:spAutoFit/>
          </a:bodyPr>
          <a:lstStyle/>
          <a:p>
            <a:r>
              <a:rPr lang="en-US" altLang="zh-CN" sz="2400" dirty="0">
                <a:latin typeface="Times New Roman" panose="02020603050405020304" pitchFamily="18" charset="0"/>
              </a:rPr>
              <a:t>X1X2/Z</a:t>
            </a:r>
          </a:p>
          <a:p>
            <a:r>
              <a:rPr lang="en-US" altLang="zh-CN" sz="2400" dirty="0">
                <a:latin typeface="Times New Roman" panose="02020603050405020304" pitchFamily="18" charset="0"/>
              </a:rPr>
              <a:t>P1P2/Z</a:t>
            </a:r>
          </a:p>
        </p:txBody>
      </p:sp>
    </p:spTree>
  </p:cSld>
  <p:clrMapOvr>
    <a:masterClrMapping/>
  </p:clrMapOvr>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8706" name="Group 2"/>
          <p:cNvGraphicFramePr>
            <a:graphicFrameLocks noGrp="1"/>
          </p:cNvGraphicFramePr>
          <p:nvPr>
            <p:ph idx="1"/>
          </p:nvPr>
        </p:nvGraphicFramePr>
        <p:xfrm>
          <a:off x="398463" y="1135063"/>
          <a:ext cx="8229600" cy="5464175"/>
        </p:xfrm>
        <a:graphic>
          <a:graphicData uri="http://schemas.openxmlformats.org/drawingml/2006/table">
            <a:tbl>
              <a:tblPr/>
              <a:tblGrid>
                <a:gridCol w="2120900">
                  <a:extLst>
                    <a:ext uri="{9D8B030D-6E8A-4147-A177-3AD203B41FA5}">
                      <a16:colId xmlns:a16="http://schemas.microsoft.com/office/drawing/2014/main" val="20000"/>
                    </a:ext>
                  </a:extLst>
                </a:gridCol>
                <a:gridCol w="1312862">
                  <a:extLst>
                    <a:ext uri="{9D8B030D-6E8A-4147-A177-3AD203B41FA5}">
                      <a16:colId xmlns:a16="http://schemas.microsoft.com/office/drawing/2014/main" val="20001"/>
                    </a:ext>
                  </a:extLst>
                </a:gridCol>
                <a:gridCol w="1581150">
                  <a:extLst>
                    <a:ext uri="{9D8B030D-6E8A-4147-A177-3AD203B41FA5}">
                      <a16:colId xmlns:a16="http://schemas.microsoft.com/office/drawing/2014/main" val="20002"/>
                    </a:ext>
                  </a:extLst>
                </a:gridCol>
                <a:gridCol w="1606550">
                  <a:extLst>
                    <a:ext uri="{9D8B030D-6E8A-4147-A177-3AD203B41FA5}">
                      <a16:colId xmlns:a16="http://schemas.microsoft.com/office/drawing/2014/main" val="20003"/>
                    </a:ext>
                  </a:extLst>
                </a:gridCol>
                <a:gridCol w="1608138">
                  <a:extLst>
                    <a:ext uri="{9D8B030D-6E8A-4147-A177-3AD203B41FA5}">
                      <a16:colId xmlns:a16="http://schemas.microsoft.com/office/drawing/2014/main" val="20004"/>
                    </a:ext>
                  </a:extLst>
                </a:gridCol>
              </a:tblGrid>
              <a:tr h="753984">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现态</a:t>
                      </a:r>
                      <a:endParaRPr kumimoji="1" lang="zh-CN" altLang="en-US"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DF5EB"/>
                    </a:solid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次态</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输出</a:t>
                      </a:r>
                      <a:endParaRPr kumimoji="1" lang="zh-CN" altLang="en-US"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DF5EB"/>
                    </a:solid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1203199">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DF5E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DF5E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DF5EB"/>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DF5EB"/>
                    </a:solidFill>
                  </a:tcPr>
                </a:tc>
                <a:extLst>
                  <a:ext uri="{0D108BD9-81ED-4DB2-BD59-A6C34878D82A}">
                    <a16:rowId xmlns:a16="http://schemas.microsoft.com/office/drawing/2014/main" val="10001"/>
                  </a:ext>
                </a:extLst>
              </a:tr>
              <a:tr h="350699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6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36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3600" b="0" i="0"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3600" b="0" i="0"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3600" b="0" i="0"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en-US" altLang="zh-CN" sz="6600" b="0" i="0" u="none" strike="noStrike" cap="none" normalizeH="0" baseline="0">
                        <a:ln>
                          <a:noFill/>
                        </a:ln>
                        <a:solidFill>
                          <a:srgbClr val="3333FF"/>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381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1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sz="32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sz="32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0"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6</a:t>
                      </a:r>
                      <a:r>
                        <a:rPr kumimoji="1" lang="en-US" altLang="zh-CN" sz="3200" b="0" i="0"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6</a:t>
                      </a:r>
                      <a:r>
                        <a:rPr kumimoji="1" lang="en-US" altLang="zh-CN" sz="3200" b="0" i="0"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0"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6600" b="0" i="0" u="none" strike="noStrike" cap="none" normalizeH="0" baseline="0">
                        <a:ln>
                          <a:noFill/>
                        </a:ln>
                        <a:solidFill>
                          <a:srgbClr val="3333FF"/>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1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32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3200" b="0" i="0"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1" lang="en-US" altLang="zh-CN" sz="3200" b="0" i="0"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6600" b="0" i="0" u="none" strike="noStrike" cap="none" normalizeH="0" baseline="0">
                        <a:ln>
                          <a:noFill/>
                        </a:ln>
                        <a:solidFill>
                          <a:srgbClr val="3333FF"/>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1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6600" b="0" i="0" u="none" strike="noStrike" cap="none" normalizeH="0" baseline="0">
                        <a:ln>
                          <a:noFill/>
                        </a:ln>
                        <a:solidFill>
                          <a:srgbClr val="3333FF"/>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1FD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7</a:t>
                      </a:r>
                      <a:r>
                        <a:rPr kumimoji="1" lang="en-US" altLang="zh-CN" sz="3200" b="0" i="0"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rgbClr val="339933"/>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7</a:t>
                      </a:r>
                      <a:r>
                        <a:rPr kumimoji="1" lang="en-US" altLang="zh-CN" sz="3200" b="0" i="0" u="none" strike="noStrike" cap="none" normalizeH="0" baseline="0">
                          <a:ln>
                            <a:noFill/>
                          </a:ln>
                          <a:solidFill>
                            <a:srgbClr val="3333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a:ln>
                          <a:noFill/>
                        </a:ln>
                        <a:solidFill>
                          <a:srgbClr val="3333FF"/>
                        </a:solidFill>
                        <a:effectLst/>
                        <a:latin typeface="Times New Roman" panose="02020603050405020304" pitchFamily="18" charset="0"/>
                        <a:ea typeface="宋体" panose="02010600030101010101" pitchFamily="2" charset="-122"/>
                      </a:endParaRPr>
                    </a:p>
                  </a:txBody>
                  <a:tcPr marL="90000" marR="90000" marT="46795" marB="46795" anchor="ctr" horzOverflow="overflow">
                    <a:lnL w="12700" cap="flat" cmpd="sng" algn="ctr">
                      <a:solidFill>
                        <a:srgbClr val="000000"/>
                      </a:solidFill>
                      <a:prstDash val="solid"/>
                      <a:round/>
                      <a:headEnd type="none" w="med" len="med"/>
                      <a:tailEnd type="none" w="sm" len="lg"/>
                    </a:lnL>
                    <a:lnR w="381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solidFill>
                      <a:srgbClr val="E1FDFF"/>
                    </a:solidFill>
                  </a:tcPr>
                </a:tc>
                <a:extLst>
                  <a:ext uri="{0D108BD9-81ED-4DB2-BD59-A6C34878D82A}">
                    <a16:rowId xmlns:a16="http://schemas.microsoft.com/office/drawing/2014/main" val="10002"/>
                  </a:ext>
                </a:extLst>
              </a:tr>
            </a:tbl>
          </a:graphicData>
        </a:graphic>
      </p:graphicFrame>
      <p:sp>
        <p:nvSpPr>
          <p:cNvPr id="114713" name="Text Box 25"/>
          <p:cNvSpPr txBox="1"/>
          <p:nvPr/>
        </p:nvSpPr>
        <p:spPr>
          <a:xfrm>
            <a:off x="3257550" y="522288"/>
            <a:ext cx="1962150" cy="519112"/>
          </a:xfrm>
          <a:prstGeom prst="rect">
            <a:avLst/>
          </a:prstGeom>
          <a:noFill/>
          <a:ln w="9525">
            <a:noFill/>
          </a:ln>
        </p:spPr>
        <p:txBody>
          <a:bodyPr wrap="none">
            <a:spAutoFit/>
          </a:bodyPr>
          <a:lstStyle/>
          <a:p>
            <a:pPr algn="ctr"/>
            <a:r>
              <a:rPr lang="zh-CN" altLang="en-US" sz="2800" dirty="0">
                <a:latin typeface="Times New Roman" panose="02020603050405020304" pitchFamily="18" charset="0"/>
              </a:rPr>
              <a:t>原始状态表</a:t>
            </a:r>
          </a:p>
        </p:txBody>
      </p:sp>
    </p:spTree>
  </p:cSld>
  <p:clrMapOvr>
    <a:masterClrMapping/>
  </p:clrMapOvr>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descr="羊皮纸"/>
          <p:cNvSpPr/>
          <p:nvPr/>
        </p:nvSpPr>
        <p:spPr>
          <a:xfrm>
            <a:off x="0" y="447675"/>
            <a:ext cx="9144000" cy="1800225"/>
          </a:xfrm>
          <a:prstGeom prst="rect">
            <a:avLst/>
          </a:prstGeom>
          <a:noFill/>
          <a:ln w="38100">
            <a:noFill/>
          </a:ln>
        </p:spPr>
        <p:txBody>
          <a:bodyPr lIns="90000" tIns="46800" rIns="90000" bIns="46800" anchor="ctr" anchorCtr="0">
            <a:spAutoFit/>
          </a:bodyPr>
          <a:lstStyle/>
          <a:p>
            <a:r>
              <a:rPr lang="zh-CN" altLang="en-US" sz="2800" dirty="0">
                <a:latin typeface="Times New Roman" panose="02020603050405020304" pitchFamily="18" charset="0"/>
              </a:rPr>
              <a:t>（</a:t>
            </a:r>
            <a:r>
              <a:rPr lang="en-US" altLang="zh-CN" sz="2800" dirty="0">
                <a:latin typeface="Times New Roman" panose="02020603050405020304" pitchFamily="18" charset="0"/>
              </a:rPr>
              <a:t>2</a:t>
            </a:r>
            <a:r>
              <a:rPr lang="zh-CN" altLang="en-US" sz="2800" dirty="0">
                <a:latin typeface="Times New Roman" panose="02020603050405020304" pitchFamily="18" charset="0"/>
              </a:rPr>
              <a:t>）状态化简。表中状态和输出都存在无关项，这是一个不完全给定的状态表，可利用相容的概念进行化简。由表可见，</a:t>
            </a:r>
            <a:r>
              <a:rPr lang="en-US" altLang="zh-CN" sz="2800" i="1" dirty="0">
                <a:latin typeface="Times New Roman" panose="02020603050405020304" pitchFamily="18" charset="0"/>
              </a:rPr>
              <a:t>S</a:t>
            </a:r>
            <a:r>
              <a:rPr lang="en-US" altLang="zh-CN" sz="2800" dirty="0">
                <a:latin typeface="Times New Roman" panose="02020603050405020304" pitchFamily="18" charset="0"/>
              </a:rPr>
              <a:t>2</a:t>
            </a:r>
            <a:r>
              <a:rPr lang="zh-CN" altLang="en-US" sz="2800" dirty="0">
                <a:latin typeface="Times New Roman" panose="02020603050405020304" pitchFamily="18" charset="0"/>
              </a:rPr>
              <a:t>和</a:t>
            </a:r>
            <a:r>
              <a:rPr lang="en-US" altLang="zh-CN" sz="2800" i="1" dirty="0">
                <a:latin typeface="Times New Roman" panose="02020603050405020304" pitchFamily="18" charset="0"/>
              </a:rPr>
              <a:t>S</a:t>
            </a:r>
            <a:r>
              <a:rPr lang="en-US" altLang="zh-CN" sz="2800" dirty="0">
                <a:latin typeface="Times New Roman" panose="02020603050405020304" pitchFamily="18" charset="0"/>
              </a:rPr>
              <a:t>3</a:t>
            </a:r>
            <a:r>
              <a:rPr lang="zh-CN" altLang="en-US" sz="2800" dirty="0">
                <a:latin typeface="Times New Roman" panose="02020603050405020304" pitchFamily="18" charset="0"/>
              </a:rPr>
              <a:t>，</a:t>
            </a:r>
            <a:r>
              <a:rPr lang="en-US" altLang="zh-CN" sz="2800" i="1" dirty="0">
                <a:latin typeface="Times New Roman" panose="02020603050405020304" pitchFamily="18" charset="0"/>
              </a:rPr>
              <a:t>S</a:t>
            </a:r>
            <a:r>
              <a:rPr lang="en-US" altLang="zh-CN" sz="2800" dirty="0">
                <a:latin typeface="Times New Roman" panose="02020603050405020304" pitchFamily="18" charset="0"/>
              </a:rPr>
              <a:t>4</a:t>
            </a:r>
            <a:r>
              <a:rPr lang="zh-CN" altLang="en-US" sz="2800" dirty="0">
                <a:latin typeface="Times New Roman" panose="02020603050405020304" pitchFamily="18" charset="0"/>
              </a:rPr>
              <a:t>和</a:t>
            </a:r>
            <a:r>
              <a:rPr lang="en-US" altLang="zh-CN" sz="2800" i="1" dirty="0">
                <a:latin typeface="Times New Roman" panose="02020603050405020304" pitchFamily="18" charset="0"/>
              </a:rPr>
              <a:t>S</a:t>
            </a:r>
            <a:r>
              <a:rPr lang="en-US" altLang="zh-CN" sz="2800" dirty="0">
                <a:latin typeface="Times New Roman" panose="02020603050405020304" pitchFamily="18" charset="0"/>
              </a:rPr>
              <a:t>7</a:t>
            </a:r>
            <a:r>
              <a:rPr lang="zh-CN" altLang="en-US" sz="2800" dirty="0">
                <a:latin typeface="Times New Roman" panose="02020603050405020304" pitchFamily="18" charset="0"/>
              </a:rPr>
              <a:t>，</a:t>
            </a:r>
            <a:r>
              <a:rPr lang="en-US" altLang="zh-CN" sz="2800" i="1" dirty="0">
                <a:latin typeface="Times New Roman" panose="02020603050405020304" pitchFamily="18" charset="0"/>
              </a:rPr>
              <a:t>S</a:t>
            </a:r>
            <a:r>
              <a:rPr lang="en-US" altLang="zh-CN" sz="2800" dirty="0">
                <a:latin typeface="Times New Roman" panose="02020603050405020304" pitchFamily="18" charset="0"/>
              </a:rPr>
              <a:t>5</a:t>
            </a:r>
            <a:r>
              <a:rPr lang="zh-CN" altLang="en-US" sz="2800" dirty="0">
                <a:latin typeface="Times New Roman" panose="02020603050405020304" pitchFamily="18" charset="0"/>
              </a:rPr>
              <a:t>和</a:t>
            </a:r>
            <a:r>
              <a:rPr lang="en-US" altLang="zh-CN" sz="2800" i="1" dirty="0">
                <a:latin typeface="Times New Roman" panose="02020603050405020304" pitchFamily="18" charset="0"/>
              </a:rPr>
              <a:t>S</a:t>
            </a:r>
            <a:r>
              <a:rPr lang="en-US" altLang="zh-CN" sz="2800" dirty="0">
                <a:latin typeface="Times New Roman" panose="02020603050405020304" pitchFamily="18" charset="0"/>
              </a:rPr>
              <a:t>6</a:t>
            </a:r>
            <a:r>
              <a:rPr lang="zh-CN" altLang="en-US" sz="2800" dirty="0">
                <a:latin typeface="Times New Roman" panose="02020603050405020304" pitchFamily="18" charset="0"/>
              </a:rPr>
              <a:t>是</a:t>
            </a:r>
            <a:r>
              <a:rPr lang="zh-CN" altLang="en-US" sz="2800" dirty="0">
                <a:solidFill>
                  <a:srgbClr val="FF3300"/>
                </a:solidFill>
                <a:latin typeface="Times New Roman" panose="02020603050405020304" pitchFamily="18" charset="0"/>
              </a:rPr>
              <a:t>相容</a:t>
            </a:r>
            <a:r>
              <a:rPr lang="zh-CN" altLang="en-US" sz="2800" dirty="0">
                <a:latin typeface="Times New Roman" panose="02020603050405020304" pitchFamily="18" charset="0"/>
              </a:rPr>
              <a:t>状态，可以合并。这样就得出最小化状态表如下表所示。</a:t>
            </a:r>
          </a:p>
        </p:txBody>
      </p:sp>
      <p:graphicFrame>
        <p:nvGraphicFramePr>
          <p:cNvPr id="329731" name="Group 3"/>
          <p:cNvGraphicFramePr>
            <a:graphicFrameLocks noGrp="1"/>
          </p:cNvGraphicFramePr>
          <p:nvPr>
            <p:ph idx="1"/>
          </p:nvPr>
        </p:nvGraphicFramePr>
        <p:xfrm>
          <a:off x="457200" y="2478088"/>
          <a:ext cx="8229600" cy="3933825"/>
        </p:xfrm>
        <a:graphic>
          <a:graphicData uri="http://schemas.openxmlformats.org/drawingml/2006/table">
            <a:tbl>
              <a:tblPr/>
              <a:tblGrid>
                <a:gridCol w="1300163">
                  <a:extLst>
                    <a:ext uri="{9D8B030D-6E8A-4147-A177-3AD203B41FA5}">
                      <a16:colId xmlns:a16="http://schemas.microsoft.com/office/drawing/2014/main" val="20000"/>
                    </a:ext>
                  </a:extLst>
                </a:gridCol>
                <a:gridCol w="1895475">
                  <a:extLst>
                    <a:ext uri="{9D8B030D-6E8A-4147-A177-3AD203B41FA5}">
                      <a16:colId xmlns:a16="http://schemas.microsoft.com/office/drawing/2014/main" val="20001"/>
                    </a:ext>
                  </a:extLst>
                </a:gridCol>
                <a:gridCol w="1641475">
                  <a:extLst>
                    <a:ext uri="{9D8B030D-6E8A-4147-A177-3AD203B41FA5}">
                      <a16:colId xmlns:a16="http://schemas.microsoft.com/office/drawing/2014/main" val="20002"/>
                    </a:ext>
                  </a:extLst>
                </a:gridCol>
                <a:gridCol w="1481137">
                  <a:extLst>
                    <a:ext uri="{9D8B030D-6E8A-4147-A177-3AD203B41FA5}">
                      <a16:colId xmlns:a16="http://schemas.microsoft.com/office/drawing/2014/main" val="20003"/>
                    </a:ext>
                  </a:extLst>
                </a:gridCol>
                <a:gridCol w="1911350">
                  <a:extLst>
                    <a:ext uri="{9D8B030D-6E8A-4147-A177-3AD203B41FA5}">
                      <a16:colId xmlns:a16="http://schemas.microsoft.com/office/drawing/2014/main" val="20004"/>
                    </a:ext>
                  </a:extLst>
                </a:gridCol>
              </a:tblGrid>
              <a:tr h="727145">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现态</a:t>
                      </a:r>
                      <a:endParaRPr kumimoji="1" lang="zh-CN" altLang="en-US"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horzOverflow="overflow">
                    <a:lnL cap="flat">
                      <a:noFill/>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次态</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输出</a:t>
                      </a:r>
                      <a:endParaRPr kumimoji="1" lang="zh-CN" altLang="en-US"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1162162">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extLst>
                  <a:ext uri="{0D108BD9-81ED-4DB2-BD59-A6C34878D82A}">
                    <a16:rowId xmlns:a16="http://schemas.microsoft.com/office/drawing/2014/main" val="10001"/>
                  </a:ext>
                </a:extLst>
              </a:tr>
              <a:tr h="2044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horzOverflow="overflow">
                    <a:lnL cap="flat">
                      <a:noFill/>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a:ln>
                          <a:noFill/>
                        </a:ln>
                        <a:solidFill>
                          <a:srgbClr val="FF3300"/>
                        </a:solidFill>
                        <a:effectLst/>
                        <a:latin typeface="Times New Roman" panose="02020603050405020304" pitchFamily="18" charset="0"/>
                        <a:ea typeface="宋体" panose="02010600030101010101" pitchFamily="2" charset="-122"/>
                      </a:endParaRPr>
                    </a:p>
                  </a:txBody>
                  <a:tcPr marL="90000" marR="90000" marT="46805" marB="46805"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2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1" lang="en-US" altLang="zh-CN" sz="32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3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6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descr="羊皮纸"/>
          <p:cNvSpPr/>
          <p:nvPr/>
        </p:nvSpPr>
        <p:spPr>
          <a:xfrm>
            <a:off x="0" y="441325"/>
            <a:ext cx="9144000" cy="1373188"/>
          </a:xfrm>
          <a:prstGeom prst="rect">
            <a:avLst/>
          </a:prstGeom>
          <a:noFill/>
          <a:ln w="38100">
            <a:noFill/>
          </a:ln>
        </p:spPr>
        <p:txBody>
          <a:bodyPr lIns="90000" tIns="46800" rIns="90000" bIns="46800" anchor="ctr" anchorCtr="0">
            <a:spAutoFit/>
          </a:bodyPr>
          <a:lstStyle/>
          <a:p>
            <a:r>
              <a:rPr lang="zh-CN" altLang="en-US" sz="2800" dirty="0">
                <a:latin typeface="Times New Roman" panose="02020603050405020304" pitchFamily="18" charset="0"/>
              </a:rPr>
              <a:t>（</a:t>
            </a:r>
            <a:r>
              <a:rPr lang="en-US" altLang="zh-CN" sz="2800" dirty="0">
                <a:latin typeface="Times New Roman" panose="02020603050405020304" pitchFamily="18" charset="0"/>
              </a:rPr>
              <a:t>3</a:t>
            </a:r>
            <a:r>
              <a:rPr lang="zh-CN" altLang="en-US" sz="2800" dirty="0">
                <a:latin typeface="Times New Roman" panose="02020603050405020304" pitchFamily="18" charset="0"/>
              </a:rPr>
              <a:t>）状态分配。由以上分析可知本电路有</a:t>
            </a:r>
            <a:r>
              <a:rPr lang="en-US" altLang="zh-CN" sz="2800" dirty="0">
                <a:latin typeface="Times New Roman" panose="02020603050405020304" pitchFamily="18" charset="0"/>
              </a:rPr>
              <a:t>4</a:t>
            </a:r>
            <a:r>
              <a:rPr lang="zh-CN" altLang="en-US" sz="2800" dirty="0">
                <a:latin typeface="Times New Roman" panose="02020603050405020304" pitchFamily="18" charset="0"/>
              </a:rPr>
              <a:t>个状态，所以触发器个数</a:t>
            </a:r>
            <a:r>
              <a:rPr lang="en-US" altLang="zh-CN" sz="2800" i="1" dirty="0">
                <a:latin typeface="Times New Roman" panose="02020603050405020304" pitchFamily="18" charset="0"/>
              </a:rPr>
              <a:t>n</a:t>
            </a:r>
            <a:r>
              <a:rPr lang="zh-CN" altLang="en-US" sz="2800" dirty="0">
                <a:latin typeface="Times New Roman" panose="02020603050405020304" pitchFamily="18" charset="0"/>
              </a:rPr>
              <a:t>＝</a:t>
            </a:r>
            <a:r>
              <a:rPr lang="en-US" altLang="zh-CN" sz="2800" dirty="0">
                <a:latin typeface="Times New Roman" panose="02020603050405020304" pitchFamily="18" charset="0"/>
              </a:rPr>
              <a:t>2</a:t>
            </a:r>
            <a:r>
              <a:rPr lang="zh-CN" altLang="en-US" sz="2800" dirty="0">
                <a:latin typeface="Times New Roman" panose="02020603050405020304" pitchFamily="18" charset="0"/>
              </a:rPr>
              <a:t>，状态分配为</a:t>
            </a:r>
            <a:r>
              <a:rPr lang="en-US" altLang="zh-CN" sz="2800" i="1" dirty="0">
                <a:latin typeface="Times New Roman" panose="02020603050405020304" pitchFamily="18" charset="0"/>
              </a:rPr>
              <a:t>S</a:t>
            </a:r>
            <a:r>
              <a:rPr lang="en-US" altLang="zh-CN" sz="2800" dirty="0">
                <a:latin typeface="Times New Roman" panose="02020603050405020304" pitchFamily="18" charset="0"/>
              </a:rPr>
              <a:t>1</a:t>
            </a:r>
            <a:r>
              <a:rPr lang="zh-CN" altLang="en-US" sz="2800" dirty="0">
                <a:latin typeface="Times New Roman" panose="02020603050405020304" pitchFamily="18" charset="0"/>
              </a:rPr>
              <a:t>＝</a:t>
            </a:r>
            <a:r>
              <a:rPr lang="en-US" altLang="zh-CN" sz="2800" dirty="0">
                <a:latin typeface="Times New Roman" panose="02020603050405020304" pitchFamily="18" charset="0"/>
              </a:rPr>
              <a:t>00</a:t>
            </a:r>
            <a:r>
              <a:rPr lang="zh-CN" altLang="en-US" sz="2800" dirty="0">
                <a:latin typeface="Times New Roman" panose="02020603050405020304" pitchFamily="18" charset="0"/>
              </a:rPr>
              <a:t>，</a:t>
            </a:r>
            <a:r>
              <a:rPr lang="en-US" altLang="zh-CN" sz="2800" i="1" dirty="0">
                <a:latin typeface="Times New Roman" panose="02020603050405020304" pitchFamily="18" charset="0"/>
              </a:rPr>
              <a:t>S</a:t>
            </a:r>
            <a:r>
              <a:rPr lang="en-US" altLang="zh-CN" sz="2800" dirty="0">
                <a:latin typeface="Times New Roman" panose="02020603050405020304" pitchFamily="18" charset="0"/>
              </a:rPr>
              <a:t>2</a:t>
            </a:r>
            <a:r>
              <a:rPr lang="zh-CN" altLang="en-US" sz="2800" dirty="0">
                <a:latin typeface="Times New Roman" panose="02020603050405020304" pitchFamily="18" charset="0"/>
              </a:rPr>
              <a:t>＝</a:t>
            </a:r>
            <a:r>
              <a:rPr lang="en-US" altLang="zh-CN" sz="2800" dirty="0">
                <a:latin typeface="Times New Roman" panose="02020603050405020304" pitchFamily="18" charset="0"/>
              </a:rPr>
              <a:t>01</a:t>
            </a:r>
            <a:r>
              <a:rPr lang="zh-CN" altLang="en-US" sz="2800" dirty="0">
                <a:latin typeface="Times New Roman" panose="02020603050405020304" pitchFamily="18" charset="0"/>
              </a:rPr>
              <a:t>，</a:t>
            </a:r>
            <a:r>
              <a:rPr lang="en-US" altLang="zh-CN" sz="2800" i="1" dirty="0">
                <a:latin typeface="Times New Roman" panose="02020603050405020304" pitchFamily="18" charset="0"/>
              </a:rPr>
              <a:t>S</a:t>
            </a:r>
            <a:r>
              <a:rPr lang="en-US" altLang="zh-CN" sz="2800" dirty="0">
                <a:latin typeface="Times New Roman" panose="02020603050405020304" pitchFamily="18" charset="0"/>
              </a:rPr>
              <a:t>4</a:t>
            </a:r>
            <a:r>
              <a:rPr lang="zh-CN" altLang="en-US" sz="2800" dirty="0">
                <a:latin typeface="Times New Roman" panose="02020603050405020304" pitchFamily="18" charset="0"/>
              </a:rPr>
              <a:t>＝</a:t>
            </a:r>
            <a:r>
              <a:rPr lang="en-US" altLang="zh-CN" sz="2800" dirty="0">
                <a:latin typeface="Times New Roman" panose="02020603050405020304" pitchFamily="18" charset="0"/>
              </a:rPr>
              <a:t>11</a:t>
            </a:r>
            <a:r>
              <a:rPr lang="zh-CN" altLang="en-US" sz="2800" dirty="0">
                <a:latin typeface="Times New Roman" panose="02020603050405020304" pitchFamily="18" charset="0"/>
              </a:rPr>
              <a:t>，</a:t>
            </a:r>
            <a:r>
              <a:rPr lang="en-US" altLang="zh-CN" sz="2800" i="1" dirty="0">
                <a:latin typeface="Times New Roman" panose="02020603050405020304" pitchFamily="18" charset="0"/>
              </a:rPr>
              <a:t>S</a:t>
            </a:r>
            <a:r>
              <a:rPr lang="en-US" altLang="zh-CN" sz="2800" dirty="0">
                <a:latin typeface="Times New Roman" panose="02020603050405020304" pitchFamily="18" charset="0"/>
              </a:rPr>
              <a:t>5</a:t>
            </a:r>
            <a:r>
              <a:rPr lang="zh-CN" altLang="en-US" sz="2800" dirty="0">
                <a:latin typeface="Times New Roman" panose="02020603050405020304" pitchFamily="18" charset="0"/>
              </a:rPr>
              <a:t>＝</a:t>
            </a:r>
            <a:r>
              <a:rPr lang="en-US" altLang="zh-CN" sz="2800" dirty="0">
                <a:latin typeface="Times New Roman" panose="02020603050405020304" pitchFamily="18" charset="0"/>
              </a:rPr>
              <a:t>10</a:t>
            </a:r>
            <a:r>
              <a:rPr lang="zh-CN" altLang="en-US" sz="2800" dirty="0">
                <a:latin typeface="Times New Roman" panose="02020603050405020304" pitchFamily="18" charset="0"/>
              </a:rPr>
              <a:t>。 </a:t>
            </a:r>
          </a:p>
        </p:txBody>
      </p:sp>
      <p:graphicFrame>
        <p:nvGraphicFramePr>
          <p:cNvPr id="330755" name="Group 3"/>
          <p:cNvGraphicFramePr>
            <a:graphicFrameLocks noGrp="1"/>
          </p:cNvGraphicFramePr>
          <p:nvPr>
            <p:ph idx="1"/>
          </p:nvPr>
        </p:nvGraphicFramePr>
        <p:xfrm>
          <a:off x="530225" y="2111375"/>
          <a:ext cx="8229600" cy="4556125"/>
        </p:xfrm>
        <a:graphic>
          <a:graphicData uri="http://schemas.openxmlformats.org/drawingml/2006/table">
            <a:tbl>
              <a:tblPr/>
              <a:tblGrid>
                <a:gridCol w="1414463">
                  <a:extLst>
                    <a:ext uri="{9D8B030D-6E8A-4147-A177-3AD203B41FA5}">
                      <a16:colId xmlns:a16="http://schemas.microsoft.com/office/drawing/2014/main" val="20000"/>
                    </a:ext>
                  </a:extLst>
                </a:gridCol>
                <a:gridCol w="1797050">
                  <a:extLst>
                    <a:ext uri="{9D8B030D-6E8A-4147-A177-3AD203B41FA5}">
                      <a16:colId xmlns:a16="http://schemas.microsoft.com/office/drawing/2014/main" val="20001"/>
                    </a:ext>
                  </a:extLst>
                </a:gridCol>
                <a:gridCol w="1643062">
                  <a:extLst>
                    <a:ext uri="{9D8B030D-6E8A-4147-A177-3AD203B41FA5}">
                      <a16:colId xmlns:a16="http://schemas.microsoft.com/office/drawing/2014/main" val="20002"/>
                    </a:ext>
                  </a:extLst>
                </a:gridCol>
                <a:gridCol w="1620838">
                  <a:extLst>
                    <a:ext uri="{9D8B030D-6E8A-4147-A177-3AD203B41FA5}">
                      <a16:colId xmlns:a16="http://schemas.microsoft.com/office/drawing/2014/main" val="20003"/>
                    </a:ext>
                  </a:extLst>
                </a:gridCol>
                <a:gridCol w="1754187">
                  <a:extLst>
                    <a:ext uri="{9D8B030D-6E8A-4147-A177-3AD203B41FA5}">
                      <a16:colId xmlns:a16="http://schemas.microsoft.com/office/drawing/2014/main" val="20004"/>
                    </a:ext>
                  </a:extLst>
                </a:gridCol>
              </a:tblGrid>
              <a:tr h="846138">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7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cap="flat">
                      <a:noFill/>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3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600" b="0" i="1"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sz="3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Q</a:t>
                      </a:r>
                      <a:r>
                        <a:rPr kumimoji="1" lang="en-US" altLang="zh-CN" sz="3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1"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sz="3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Z</a:t>
                      </a:r>
                      <a:endParaRPr kumimoji="1" lang="en-US" altLang="zh-CN" sz="7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1349375">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a:t>
                      </a:r>
                      <a:endParaRPr kumimoji="1" lang="en-US" altLang="zh-CN" sz="7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1" lang="en-US" altLang="zh-CN" sz="7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1" lang="en-US" altLang="zh-CN" sz="7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36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7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extLst>
                  <a:ext uri="{0D108BD9-81ED-4DB2-BD59-A6C34878D82A}">
                    <a16:rowId xmlns:a16="http://schemas.microsoft.com/office/drawing/2014/main" val="10001"/>
                  </a:ext>
                </a:extLst>
              </a:tr>
              <a:tr h="236061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a:t>
                      </a:r>
                      <a:endParaRPr kumimoji="1" lang="en-US" altLang="zh-CN" sz="4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a:t>
                      </a:r>
                      <a:endParaRPr kumimoji="1" lang="en-US" altLang="zh-CN" sz="4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1" lang="en-US" altLang="zh-CN" sz="4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7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horzOverflow="overflow">
                    <a:lnL cap="flat">
                      <a:noFill/>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00/0</a:t>
                      </a:r>
                      <a:endParaRPr kumimoji="1" lang="en-US" altLang="zh-CN" sz="4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01/1</a:t>
                      </a:r>
                      <a:endParaRPr kumimoji="1" lang="en-US" altLang="zh-CN" sz="4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00/0</a:t>
                      </a:r>
                      <a:endParaRPr kumimoji="1" lang="en-US" altLang="zh-CN" sz="4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10/1</a:t>
                      </a:r>
                      <a:endParaRPr kumimoji="1" lang="en-US" altLang="zh-CN" sz="7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10/1</a:t>
                      </a:r>
                      <a:endParaRPr kumimoji="1" lang="en-US" altLang="zh-CN" sz="4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a:t>
                      </a:r>
                      <a:endParaRPr kumimoji="1" lang="en-US" altLang="zh-CN" sz="4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a:t>
                      </a:r>
                      <a:endParaRPr kumimoji="1" lang="en-US" altLang="zh-CN" sz="4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10/1</a:t>
                      </a:r>
                      <a:endParaRPr kumimoji="1" lang="en-US" altLang="zh-CN" sz="7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4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4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4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36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7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horzOverflow="overflow">
                    <a:lnL w="12700" cap="flat" cmpd="sng" algn="ctr">
                      <a:solidFill>
                        <a:srgbClr val="000000"/>
                      </a:solidFill>
                      <a:prstDash val="solid"/>
                      <a:round/>
                      <a:headEnd type="none" w="med" len="med"/>
                      <a:tailEnd type="none" w="sm" len="lg"/>
                    </a:lnL>
                    <a:lnR w="12700" cap="flat" cmpd="sng" algn="ctr">
                      <a:solidFill>
                        <a:srgbClr val="000000"/>
                      </a:solidFill>
                      <a:prstDash val="solid"/>
                      <a:round/>
                      <a:headEnd type="none" w="med" len="med"/>
                      <a:tailEnd type="none" w="sm" len="lg"/>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01/1</a:t>
                      </a:r>
                      <a:endParaRPr kumimoji="1" lang="en-US" altLang="zh-CN" sz="4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01/1</a:t>
                      </a:r>
                      <a:endParaRPr kumimoji="1" lang="en-US" altLang="zh-CN" sz="4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a:t>
                      </a:r>
                      <a:endParaRPr kumimoji="1" lang="en-US" altLang="zh-CN" sz="4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1" lang="en-US" altLang="zh-CN" sz="3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a:t>
                      </a:r>
                      <a:endParaRPr kumimoji="1" lang="en-US" altLang="zh-CN" sz="7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horzOverflow="overflow">
                    <a:lnL w="12700" cap="flat" cmpd="sng" algn="ctr">
                      <a:solidFill>
                        <a:srgbClr val="000000"/>
                      </a:solidFill>
                      <a:prstDash val="solid"/>
                      <a:round/>
                      <a:headEnd type="none" w="med" len="med"/>
                      <a:tailEnd type="none" w="sm" len="lg"/>
                    </a:lnL>
                    <a:lnR cap="flat">
                      <a:noFill/>
                    </a:lnR>
                    <a:lnT w="12700" cap="flat" cmpd="sng" algn="ctr">
                      <a:solidFill>
                        <a:srgbClr val="000000"/>
                      </a:solidFill>
                      <a:prstDash val="solid"/>
                      <a:round/>
                      <a:headEnd type="none" w="med" len="med"/>
                      <a:tailEnd type="none" w="sm" len="lg"/>
                    </a:lnT>
                    <a:lnB w="12700" cap="flat" cmpd="sng" algn="ctr">
                      <a:solidFill>
                        <a:srgbClr val="000000"/>
                      </a:solidFill>
                      <a:prstDash val="solid"/>
                      <a:round/>
                      <a:headEnd type="none" w="med" len="med"/>
                      <a:tailEnd type="none" w="sm" len="lg"/>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16759" name="Rectangle 28" descr="羊皮纸"/>
          <p:cNvSpPr/>
          <p:nvPr/>
        </p:nvSpPr>
        <p:spPr>
          <a:xfrm>
            <a:off x="2786063" y="1531938"/>
            <a:ext cx="3484562" cy="519112"/>
          </a:xfrm>
          <a:prstGeom prst="rect">
            <a:avLst/>
          </a:prstGeom>
          <a:noFill/>
          <a:ln w="38100">
            <a:noFill/>
          </a:ln>
        </p:spPr>
        <p:txBody>
          <a:bodyPr wrap="none" lIns="90000" tIns="46800" rIns="90000" bIns="46800" anchor="ctr" anchorCtr="0">
            <a:spAutoFit/>
          </a:bodyPr>
          <a:lstStyle/>
          <a:p>
            <a:r>
              <a:rPr lang="zh-CN" altLang="en-US" sz="2800" b="1" dirty="0">
                <a:latin typeface="Times New Roman" panose="02020603050405020304" pitchFamily="18" charset="0"/>
              </a:rPr>
              <a:t>最小化二进制状态表</a:t>
            </a:r>
            <a:r>
              <a:rPr lang="zh-CN" altLang="en-US" sz="2800" dirty="0">
                <a:latin typeface="Times New Roman" panose="02020603050405020304" pitchFamily="18" charset="0"/>
              </a:rPr>
              <a:t> </a:t>
            </a:r>
          </a:p>
        </p:txBody>
      </p:sp>
    </p:spTree>
  </p:cSld>
  <p:clrMapOvr>
    <a:masterClrMapping/>
  </p:clrMapOvr>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descr="羊皮纸"/>
          <p:cNvSpPr/>
          <p:nvPr/>
        </p:nvSpPr>
        <p:spPr>
          <a:xfrm>
            <a:off x="0" y="447675"/>
            <a:ext cx="9144000" cy="946150"/>
          </a:xfrm>
          <a:prstGeom prst="rect">
            <a:avLst/>
          </a:prstGeom>
          <a:noFill/>
          <a:ln w="38100">
            <a:noFill/>
          </a:ln>
        </p:spPr>
        <p:txBody>
          <a:bodyPr lIns="90000" tIns="46800" rIns="90000" bIns="46800" anchor="ctr" anchorCtr="0">
            <a:spAutoFit/>
          </a:bodyPr>
          <a:lstStyle/>
          <a:p>
            <a:r>
              <a:rPr lang="zh-CN" altLang="en-US" sz="2800" dirty="0">
                <a:latin typeface="Times New Roman" panose="02020603050405020304" pitchFamily="18" charset="0"/>
              </a:rPr>
              <a:t>（</a:t>
            </a:r>
            <a:r>
              <a:rPr lang="en-US" altLang="zh-CN" sz="2800" dirty="0">
                <a:latin typeface="Times New Roman" panose="02020603050405020304" pitchFamily="18" charset="0"/>
              </a:rPr>
              <a:t>4</a:t>
            </a:r>
            <a:r>
              <a:rPr lang="zh-CN" altLang="en-US" sz="2800" dirty="0">
                <a:latin typeface="Times New Roman" panose="02020603050405020304" pitchFamily="18" charset="0"/>
              </a:rPr>
              <a:t>）选择触发器类型，确定其激励函数和输出函数</a:t>
            </a:r>
            <a:r>
              <a:rPr lang="en-US" altLang="zh-CN" sz="2800" i="1" dirty="0">
                <a:latin typeface="Times New Roman" panose="02020603050405020304" pitchFamily="18" charset="0"/>
              </a:rPr>
              <a:t>Z</a:t>
            </a:r>
            <a:r>
              <a:rPr lang="zh-CN" altLang="en-US" sz="2800" dirty="0">
                <a:latin typeface="Times New Roman" panose="02020603050405020304" pitchFamily="18" charset="0"/>
              </a:rPr>
              <a:t>。画出两个触发器的次态卡诺图及输出</a:t>
            </a:r>
            <a:r>
              <a:rPr lang="en-US" altLang="zh-CN" sz="2800" i="1" dirty="0">
                <a:latin typeface="Times New Roman" panose="02020603050405020304" pitchFamily="18" charset="0"/>
              </a:rPr>
              <a:t>Z</a:t>
            </a:r>
            <a:r>
              <a:rPr lang="zh-CN" altLang="en-US" sz="2800" dirty="0">
                <a:latin typeface="Times New Roman" panose="02020603050405020304" pitchFamily="18" charset="0"/>
              </a:rPr>
              <a:t>的卡诺图。</a:t>
            </a:r>
          </a:p>
        </p:txBody>
      </p:sp>
      <p:graphicFrame>
        <p:nvGraphicFramePr>
          <p:cNvPr id="117763" name="表格 117762"/>
          <p:cNvGraphicFramePr/>
          <p:nvPr/>
        </p:nvGraphicFramePr>
        <p:xfrm>
          <a:off x="5365750" y="4351338"/>
          <a:ext cx="2573338" cy="1992313"/>
        </p:xfrm>
        <a:graphic>
          <a:graphicData uri="http://schemas.openxmlformats.org/drawingml/2006/table">
            <a:tbl>
              <a:tblPr/>
              <a:tblGrid>
                <a:gridCol w="514350">
                  <a:extLst>
                    <a:ext uri="{9D8B030D-6E8A-4147-A177-3AD203B41FA5}">
                      <a16:colId xmlns:a16="http://schemas.microsoft.com/office/drawing/2014/main" val="20000"/>
                    </a:ext>
                  </a:extLst>
                </a:gridCol>
                <a:gridCol w="515938">
                  <a:extLst>
                    <a:ext uri="{9D8B030D-6E8A-4147-A177-3AD203B41FA5}">
                      <a16:colId xmlns:a16="http://schemas.microsoft.com/office/drawing/2014/main" val="20001"/>
                    </a:ext>
                  </a:extLst>
                </a:gridCol>
                <a:gridCol w="512762">
                  <a:extLst>
                    <a:ext uri="{9D8B030D-6E8A-4147-A177-3AD203B41FA5}">
                      <a16:colId xmlns:a16="http://schemas.microsoft.com/office/drawing/2014/main" val="20002"/>
                    </a:ext>
                  </a:extLst>
                </a:gridCol>
                <a:gridCol w="515938">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17800" name="表格 117799"/>
          <p:cNvGraphicFramePr/>
          <p:nvPr/>
        </p:nvGraphicFramePr>
        <p:xfrm>
          <a:off x="1201738" y="4378325"/>
          <a:ext cx="2573338" cy="1992313"/>
        </p:xfrm>
        <a:graphic>
          <a:graphicData uri="http://schemas.openxmlformats.org/drawingml/2006/table">
            <a:tbl>
              <a:tblPr/>
              <a:tblGrid>
                <a:gridCol w="514350">
                  <a:extLst>
                    <a:ext uri="{9D8B030D-6E8A-4147-A177-3AD203B41FA5}">
                      <a16:colId xmlns:a16="http://schemas.microsoft.com/office/drawing/2014/main" val="20000"/>
                    </a:ext>
                  </a:extLst>
                </a:gridCol>
                <a:gridCol w="515938">
                  <a:extLst>
                    <a:ext uri="{9D8B030D-6E8A-4147-A177-3AD203B41FA5}">
                      <a16:colId xmlns:a16="http://schemas.microsoft.com/office/drawing/2014/main" val="20001"/>
                    </a:ext>
                  </a:extLst>
                </a:gridCol>
                <a:gridCol w="512762">
                  <a:extLst>
                    <a:ext uri="{9D8B030D-6E8A-4147-A177-3AD203B41FA5}">
                      <a16:colId xmlns:a16="http://schemas.microsoft.com/office/drawing/2014/main" val="20002"/>
                    </a:ext>
                  </a:extLst>
                </a:gridCol>
                <a:gridCol w="515938">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17837" name="表格 117836"/>
          <p:cNvGraphicFramePr/>
          <p:nvPr/>
        </p:nvGraphicFramePr>
        <p:xfrm>
          <a:off x="3155950" y="1692275"/>
          <a:ext cx="2573338" cy="1992313"/>
        </p:xfrm>
        <a:graphic>
          <a:graphicData uri="http://schemas.openxmlformats.org/drawingml/2006/table">
            <a:tbl>
              <a:tblPr/>
              <a:tblGrid>
                <a:gridCol w="514350">
                  <a:extLst>
                    <a:ext uri="{9D8B030D-6E8A-4147-A177-3AD203B41FA5}">
                      <a16:colId xmlns:a16="http://schemas.microsoft.com/office/drawing/2014/main" val="20000"/>
                    </a:ext>
                  </a:extLst>
                </a:gridCol>
                <a:gridCol w="515938">
                  <a:extLst>
                    <a:ext uri="{9D8B030D-6E8A-4147-A177-3AD203B41FA5}">
                      <a16:colId xmlns:a16="http://schemas.microsoft.com/office/drawing/2014/main" val="20001"/>
                    </a:ext>
                  </a:extLst>
                </a:gridCol>
                <a:gridCol w="512762">
                  <a:extLst>
                    <a:ext uri="{9D8B030D-6E8A-4147-A177-3AD203B41FA5}">
                      <a16:colId xmlns:a16="http://schemas.microsoft.com/office/drawing/2014/main" val="20002"/>
                    </a:ext>
                  </a:extLst>
                </a:gridCol>
                <a:gridCol w="515938">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tblGrid>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buNone/>
                      </a:pPr>
                      <a:endParaRPr lang="zh-CN" altLang="zh-CN" sz="1000" dirty="0">
                        <a:latin typeface="Times New Roman" panose="02020603050405020304" pitchFamily="18" charset="0"/>
                      </a:endParaRPr>
                    </a:p>
                  </a:txBody>
                  <a:tcPr marL="90000" marR="90000" marT="46800" marB="46800">
                    <a:lnL>
                      <a:noFill/>
                    </a:lnL>
                    <a:lnR>
                      <a:noFill/>
                    </a:lnR>
                    <a:lnT>
                      <a:noFill/>
                    </a:lnT>
                    <a:lnB>
                      <a:noFill/>
                    </a:lnB>
                    <a:lnTlToBr w="12700" cap="flat" cmpd="sng">
                      <a:solidFill>
                        <a:schemeClr val="tx1"/>
                      </a:solidFill>
                      <a:prstDash val="solid"/>
                      <a:headEnd type="none" w="med" len="med"/>
                      <a:tailEnd type="none" w="med" len="med"/>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p>
                  </a:txBody>
                  <a:tcPr marL="90000" marR="90000" marT="46800" marB="46800">
                    <a:lnL>
                      <a:noFill/>
                    </a:lnL>
                    <a:lnR>
                      <a:noFill/>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01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11</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0</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r>
                        <a:rPr lang="en-US" altLang="zh-CN" sz="2000" dirty="0">
                          <a:latin typeface="Arial" panose="020B0604020202020204" pitchFamily="34" charset="0"/>
                        </a:rPr>
                        <a:t>10</a:t>
                      </a:r>
                    </a:p>
                  </a:txBody>
                  <a:tcPr marL="90000" marR="90000" marT="46800" marB="46800">
                    <a:lnL>
                      <a:noFill/>
                    </a:lnL>
                    <a:lnR w="12700" cap="flat" cmpd="sng">
                      <a:solidFill>
                        <a:schemeClr val="tx1"/>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i="1" dirty="0">
                          <a:latin typeface="Arial" panose="020B0604020202020204" pitchFamily="34" charset="0"/>
                        </a:rPr>
                        <a:t>d</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None/>
                      </a:pPr>
                      <a:r>
                        <a:rPr lang="en-US" altLang="zh-CN" sz="2000" dirty="0">
                          <a:latin typeface="Arial" panose="020B0604020202020204" pitchFamily="34" charset="0"/>
                        </a:rPr>
                        <a:t>1</a:t>
                      </a:r>
                    </a:p>
                  </a:txBody>
                  <a:tcPr marL="90000" marR="9000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17874" name="Rectangle 150" descr="羊皮纸"/>
          <p:cNvSpPr/>
          <p:nvPr/>
        </p:nvSpPr>
        <p:spPr>
          <a:xfrm>
            <a:off x="4056063" y="1423988"/>
            <a:ext cx="1465262" cy="0"/>
          </a:xfrm>
          <a:prstGeom prst="rect">
            <a:avLst/>
          </a:prstGeom>
          <a:noFill/>
          <a:ln w="38100">
            <a:noFill/>
          </a:ln>
        </p:spPr>
        <p:txBody>
          <a:bodyPr wrap="none" lIns="90000" tIns="46800" rIns="90000" bIns="46800">
            <a:spAutoFit/>
          </a:bodyPr>
          <a:lstStyle/>
          <a:p>
            <a:pPr algn="just"/>
            <a:r>
              <a:rPr lang="en-US" altLang="zh-CN" sz="10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17875" name="Rectangle 151" descr="羊皮纸"/>
          <p:cNvSpPr/>
          <p:nvPr/>
        </p:nvSpPr>
        <p:spPr>
          <a:xfrm>
            <a:off x="4056063" y="1423988"/>
            <a:ext cx="1465262" cy="0"/>
          </a:xfrm>
          <a:prstGeom prst="rect">
            <a:avLst/>
          </a:prstGeom>
          <a:noFill/>
          <a:ln w="38100">
            <a:noFill/>
          </a:ln>
        </p:spPr>
        <p:txBody>
          <a:bodyPr wrap="none" lIns="90000" tIns="46800" rIns="90000" bIns="46800">
            <a:spAutoFit/>
          </a:bodyPr>
          <a:lstStyle/>
          <a:p>
            <a:pPr algn="just"/>
            <a:r>
              <a:rPr lang="en-US" altLang="zh-CN" sz="9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17876" name="Text Box 152" descr="羊皮纸"/>
          <p:cNvSpPr txBox="1"/>
          <p:nvPr/>
        </p:nvSpPr>
        <p:spPr>
          <a:xfrm>
            <a:off x="5367338" y="4094163"/>
            <a:ext cx="571500" cy="396875"/>
          </a:xfrm>
          <a:prstGeom prst="rect">
            <a:avLst/>
          </a:prstGeom>
          <a:noFill/>
          <a:ln w="38100">
            <a:noFill/>
          </a:ln>
        </p:spPr>
        <p:txBody>
          <a:bodyPr wrap="none" lIns="90000" tIns="46800" rIns="90000" bIns="46800">
            <a:spAutoFit/>
          </a:bodyPr>
          <a:lstStyle/>
          <a:p>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2</a:t>
            </a:r>
          </a:p>
        </p:txBody>
      </p:sp>
      <p:sp>
        <p:nvSpPr>
          <p:cNvPr id="117877" name="Text Box 153" descr="羊皮纸"/>
          <p:cNvSpPr txBox="1"/>
          <p:nvPr/>
        </p:nvSpPr>
        <p:spPr>
          <a:xfrm>
            <a:off x="5103813" y="4465638"/>
            <a:ext cx="714375" cy="396875"/>
          </a:xfrm>
          <a:prstGeom prst="rect">
            <a:avLst/>
          </a:prstGeom>
          <a:noFill/>
          <a:ln w="38100">
            <a:noFill/>
          </a:ln>
        </p:spPr>
        <p:txBody>
          <a:bodyPr wrap="none" lIns="90000" tIns="46800" rIns="90000" bIns="46800">
            <a:spAutoFit/>
          </a:bodyPr>
          <a:lstStyle/>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p>
        </p:txBody>
      </p:sp>
      <p:sp>
        <p:nvSpPr>
          <p:cNvPr id="117878" name="Text Box 154" descr="羊皮纸"/>
          <p:cNvSpPr txBox="1"/>
          <p:nvPr/>
        </p:nvSpPr>
        <p:spPr>
          <a:xfrm>
            <a:off x="6378575" y="6351588"/>
            <a:ext cx="350838" cy="457200"/>
          </a:xfrm>
          <a:prstGeom prst="rect">
            <a:avLst/>
          </a:prstGeom>
          <a:noFill/>
          <a:ln w="38100">
            <a:noFill/>
          </a:ln>
        </p:spPr>
        <p:txBody>
          <a:bodyPr wrap="none" lIns="90000" tIns="46800" rIns="90000" bIns="46800">
            <a:spAutoFit/>
          </a:bodyPr>
          <a:lstStyle/>
          <a:p>
            <a:r>
              <a:rPr lang="en-US" altLang="zh-CN" sz="2400" i="1" dirty="0">
                <a:latin typeface="Times New Roman" panose="02020603050405020304" pitchFamily="18" charset="0"/>
              </a:rPr>
              <a:t>Z</a:t>
            </a:r>
            <a:endParaRPr lang="en-US" altLang="zh-CN" sz="2400" baseline="30000" dirty="0">
              <a:latin typeface="Times New Roman" panose="02020603050405020304" pitchFamily="18" charset="0"/>
            </a:endParaRPr>
          </a:p>
        </p:txBody>
      </p:sp>
      <p:sp>
        <p:nvSpPr>
          <p:cNvPr id="117879" name="Oval 155"/>
          <p:cNvSpPr/>
          <p:nvPr/>
        </p:nvSpPr>
        <p:spPr>
          <a:xfrm>
            <a:off x="4191000" y="2906713"/>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17880" name="Text Box 156" descr="羊皮纸"/>
          <p:cNvSpPr txBox="1"/>
          <p:nvPr/>
        </p:nvSpPr>
        <p:spPr>
          <a:xfrm>
            <a:off x="3157538" y="1435100"/>
            <a:ext cx="571500" cy="396875"/>
          </a:xfrm>
          <a:prstGeom prst="rect">
            <a:avLst/>
          </a:prstGeom>
          <a:noFill/>
          <a:ln w="38100">
            <a:noFill/>
          </a:ln>
        </p:spPr>
        <p:txBody>
          <a:bodyPr wrap="none" lIns="90000" tIns="46800" rIns="90000" bIns="46800">
            <a:spAutoFit/>
          </a:bodyPr>
          <a:lstStyle/>
          <a:p>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2</a:t>
            </a:r>
          </a:p>
        </p:txBody>
      </p:sp>
      <p:sp>
        <p:nvSpPr>
          <p:cNvPr id="117881" name="Text Box 157" descr="羊皮纸"/>
          <p:cNvSpPr txBox="1"/>
          <p:nvPr/>
        </p:nvSpPr>
        <p:spPr>
          <a:xfrm>
            <a:off x="2894013" y="1806575"/>
            <a:ext cx="714375" cy="396875"/>
          </a:xfrm>
          <a:prstGeom prst="rect">
            <a:avLst/>
          </a:prstGeom>
          <a:noFill/>
          <a:ln w="38100">
            <a:noFill/>
          </a:ln>
        </p:spPr>
        <p:txBody>
          <a:bodyPr wrap="none" lIns="90000" tIns="46800" rIns="90000" bIns="46800">
            <a:spAutoFit/>
          </a:bodyPr>
          <a:lstStyle/>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p>
        </p:txBody>
      </p:sp>
      <p:sp>
        <p:nvSpPr>
          <p:cNvPr id="117882" name="Text Box 158" descr="羊皮纸"/>
          <p:cNvSpPr txBox="1"/>
          <p:nvPr/>
        </p:nvSpPr>
        <p:spPr>
          <a:xfrm>
            <a:off x="4168775" y="3692525"/>
            <a:ext cx="820738" cy="457200"/>
          </a:xfrm>
          <a:prstGeom prst="rect">
            <a:avLst/>
          </a:prstGeom>
          <a:noFill/>
          <a:ln w="38100">
            <a:noFill/>
          </a:ln>
        </p:spPr>
        <p:txBody>
          <a:bodyPr wrap="none" lIns="90000" tIns="46800" rIns="90000" bIns="46800">
            <a:spAutoFit/>
          </a:bodyPr>
          <a:lstStyle/>
          <a:p>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2</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p>
        </p:txBody>
      </p:sp>
      <p:sp>
        <p:nvSpPr>
          <p:cNvPr id="117883" name="Oval 159"/>
          <p:cNvSpPr/>
          <p:nvPr/>
        </p:nvSpPr>
        <p:spPr>
          <a:xfrm>
            <a:off x="1716088" y="5186363"/>
            <a:ext cx="2074862" cy="366712"/>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17884" name="Text Box 160" descr="羊皮纸"/>
          <p:cNvSpPr txBox="1"/>
          <p:nvPr/>
        </p:nvSpPr>
        <p:spPr>
          <a:xfrm>
            <a:off x="1203325" y="4121150"/>
            <a:ext cx="571500" cy="396875"/>
          </a:xfrm>
          <a:prstGeom prst="rect">
            <a:avLst/>
          </a:prstGeom>
          <a:noFill/>
          <a:ln w="38100">
            <a:noFill/>
          </a:ln>
        </p:spPr>
        <p:txBody>
          <a:bodyPr wrap="none" lIns="90000" tIns="46800" rIns="90000" bIns="46800">
            <a:spAutoFit/>
          </a:bodyPr>
          <a:lstStyle/>
          <a:p>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1</a:t>
            </a:r>
            <a:r>
              <a:rPr lang="en-US" altLang="zh-CN" sz="2000" i="1" dirty="0">
                <a:latin typeface="Times New Roman" panose="02020603050405020304" pitchFamily="18" charset="0"/>
              </a:rPr>
              <a:t>x</a:t>
            </a:r>
            <a:r>
              <a:rPr lang="en-US" altLang="zh-CN" sz="2000" baseline="-25000" dirty="0">
                <a:latin typeface="Times New Roman" panose="02020603050405020304" pitchFamily="18" charset="0"/>
              </a:rPr>
              <a:t>2</a:t>
            </a:r>
          </a:p>
        </p:txBody>
      </p:sp>
      <p:sp>
        <p:nvSpPr>
          <p:cNvPr id="117885" name="Text Box 161" descr="羊皮纸"/>
          <p:cNvSpPr txBox="1"/>
          <p:nvPr/>
        </p:nvSpPr>
        <p:spPr>
          <a:xfrm>
            <a:off x="939800" y="4492625"/>
            <a:ext cx="714375" cy="396875"/>
          </a:xfrm>
          <a:prstGeom prst="rect">
            <a:avLst/>
          </a:prstGeom>
          <a:noFill/>
          <a:ln w="38100">
            <a:noFill/>
          </a:ln>
        </p:spPr>
        <p:txBody>
          <a:bodyPr wrap="none" lIns="90000" tIns="46800" rIns="90000" bIns="46800">
            <a:spAutoFit/>
          </a:bodyPr>
          <a:lstStyle/>
          <a:p>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2</a:t>
            </a:r>
            <a:r>
              <a:rPr lang="en-US" altLang="zh-CN" sz="2000" i="1" dirty="0">
                <a:latin typeface="Times New Roman" panose="02020603050405020304" pitchFamily="18" charset="0"/>
              </a:rPr>
              <a:t>Q</a:t>
            </a:r>
            <a:r>
              <a:rPr lang="en-US" altLang="zh-CN" sz="2000" baseline="-25000" dirty="0">
                <a:latin typeface="Times New Roman" panose="02020603050405020304" pitchFamily="18" charset="0"/>
              </a:rPr>
              <a:t>1</a:t>
            </a:r>
          </a:p>
        </p:txBody>
      </p:sp>
      <p:sp>
        <p:nvSpPr>
          <p:cNvPr id="117886" name="Text Box 162" descr="羊皮纸"/>
          <p:cNvSpPr txBox="1"/>
          <p:nvPr/>
        </p:nvSpPr>
        <p:spPr>
          <a:xfrm>
            <a:off x="2214563" y="6378575"/>
            <a:ext cx="820737" cy="457200"/>
          </a:xfrm>
          <a:prstGeom prst="rect">
            <a:avLst/>
          </a:prstGeom>
          <a:noFill/>
          <a:ln w="38100">
            <a:noFill/>
          </a:ln>
        </p:spPr>
        <p:txBody>
          <a:bodyPr wrap="none" lIns="90000" tIns="46800" rIns="90000" bIns="46800">
            <a:spAutoFit/>
          </a:bodyPr>
          <a:lstStyle/>
          <a:p>
            <a:r>
              <a:rPr lang="en-US" altLang="zh-CN" sz="2400" i="1" dirty="0">
                <a:latin typeface="Times New Roman" panose="02020603050405020304" pitchFamily="18" charset="0"/>
              </a:rPr>
              <a:t>Q</a:t>
            </a:r>
            <a:r>
              <a:rPr lang="en-US" altLang="zh-CN" sz="2400" baseline="-25000" dirty="0">
                <a:latin typeface="Times New Roman" panose="02020603050405020304" pitchFamily="18" charset="0"/>
              </a:rPr>
              <a:t>1</a:t>
            </a:r>
            <a:r>
              <a:rPr lang="en-US" altLang="zh-CN" sz="2400" i="1" baseline="30000" dirty="0">
                <a:latin typeface="Times New Roman" panose="02020603050405020304" pitchFamily="18" charset="0"/>
              </a:rPr>
              <a:t>n</a:t>
            </a:r>
            <a:r>
              <a:rPr lang="en-US" altLang="zh-CN" sz="2400" baseline="30000" dirty="0">
                <a:latin typeface="Times New Roman" panose="02020603050405020304" pitchFamily="18" charset="0"/>
              </a:rPr>
              <a:t>+1</a:t>
            </a:r>
          </a:p>
        </p:txBody>
      </p:sp>
      <p:sp>
        <p:nvSpPr>
          <p:cNvPr id="117887" name="Oval 163"/>
          <p:cNvSpPr/>
          <p:nvPr/>
        </p:nvSpPr>
        <p:spPr>
          <a:xfrm>
            <a:off x="2265363" y="5170488"/>
            <a:ext cx="1035050" cy="792162"/>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17888" name="Oval 164"/>
          <p:cNvSpPr/>
          <p:nvPr/>
        </p:nvSpPr>
        <p:spPr>
          <a:xfrm>
            <a:off x="6397625" y="4745038"/>
            <a:ext cx="1000125" cy="15875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17889" name="Oval 165"/>
          <p:cNvSpPr/>
          <p:nvPr/>
        </p:nvSpPr>
        <p:spPr>
          <a:xfrm>
            <a:off x="4186238" y="2090738"/>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17890" name="Oval 166"/>
          <p:cNvSpPr/>
          <p:nvPr/>
        </p:nvSpPr>
        <p:spPr>
          <a:xfrm>
            <a:off x="4716463" y="2916238"/>
            <a:ext cx="1000125" cy="7620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17891" name="Oval 167"/>
          <p:cNvSpPr/>
          <p:nvPr/>
        </p:nvSpPr>
        <p:spPr>
          <a:xfrm>
            <a:off x="3684588" y="3298825"/>
            <a:ext cx="2017712" cy="334963"/>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17892" name="Oval 168"/>
          <p:cNvSpPr/>
          <p:nvPr/>
        </p:nvSpPr>
        <p:spPr>
          <a:xfrm>
            <a:off x="2746375" y="5165725"/>
            <a:ext cx="1035050" cy="792163"/>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17893" name="AutoShape 169"/>
          <p:cNvSpPr/>
          <p:nvPr/>
        </p:nvSpPr>
        <p:spPr>
          <a:xfrm rot="5400000">
            <a:off x="3048000" y="4443413"/>
            <a:ext cx="398463" cy="982662"/>
          </a:xfrm>
          <a:prstGeom prst="rightBracket">
            <a:avLst>
              <a:gd name="adj" fmla="val 85435"/>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17894" name="AutoShape 170"/>
          <p:cNvSpPr/>
          <p:nvPr/>
        </p:nvSpPr>
        <p:spPr>
          <a:xfrm rot="-5400000">
            <a:off x="3073400" y="5711825"/>
            <a:ext cx="398463" cy="969963"/>
          </a:xfrm>
          <a:prstGeom prst="rightBracket">
            <a:avLst>
              <a:gd name="adj" fmla="val 84331"/>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17895" name="Oval 171"/>
          <p:cNvSpPr/>
          <p:nvPr/>
        </p:nvSpPr>
        <p:spPr>
          <a:xfrm>
            <a:off x="5838825" y="5946775"/>
            <a:ext cx="2074863" cy="366713"/>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17896" name="Oval 172"/>
          <p:cNvSpPr/>
          <p:nvPr/>
        </p:nvSpPr>
        <p:spPr>
          <a:xfrm>
            <a:off x="5849938" y="5160963"/>
            <a:ext cx="2074862" cy="366712"/>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17897" name="Oval 173"/>
          <p:cNvSpPr/>
          <p:nvPr/>
        </p:nvSpPr>
        <p:spPr>
          <a:xfrm>
            <a:off x="6923088" y="4754563"/>
            <a:ext cx="1000125" cy="1587500"/>
          </a:xfrm>
          <a:prstGeom prst="ellipse">
            <a:avLst/>
          </a:prstGeom>
          <a:noFill/>
          <a:ln w="38100" cap="flat" cmpd="sng">
            <a:solidFill>
              <a:srgbClr val="0000FF"/>
            </a:solidFill>
            <a:prstDash val="solid"/>
            <a:headEnd type="none" w="med" len="med"/>
            <a:tailEnd type="none" w="sm" len="lg"/>
          </a:ln>
        </p:spPr>
        <p:txBody>
          <a:bodyPr lIns="90000" tIns="46800" rIns="90000" bIns="46800" anchor="ctr" anchorCtr="0">
            <a:spAutoFit/>
          </a:bodyPr>
          <a:lstStyle/>
          <a:p>
            <a:endParaRPr lang="zh-CN" altLang="en-US" sz="2800" dirty="0">
              <a:latin typeface="Times New Roman" panose="02020603050405020304" pitchFamily="18" charset="0"/>
            </a:endParaRPr>
          </a:p>
        </p:txBody>
      </p:sp>
      <p:sp>
        <p:nvSpPr>
          <p:cNvPr id="117898" name="Line 174"/>
          <p:cNvSpPr/>
          <p:nvPr/>
        </p:nvSpPr>
        <p:spPr>
          <a:xfrm>
            <a:off x="2587625" y="2870200"/>
            <a:ext cx="4248150" cy="0"/>
          </a:xfrm>
          <a:prstGeom prst="line">
            <a:avLst/>
          </a:prstGeom>
          <a:ln w="38100" cap="flat" cmpd="sng">
            <a:solidFill>
              <a:srgbClr val="FF0000"/>
            </a:solidFill>
            <a:prstDash val="sysDot"/>
            <a:headEnd type="none" w="med" len="med"/>
            <a:tailEnd type="none" w="sm" len="lg"/>
          </a:ln>
        </p:spPr>
      </p:sp>
      <p:sp>
        <p:nvSpPr>
          <p:cNvPr id="117899" name="Line 175"/>
          <p:cNvSpPr/>
          <p:nvPr/>
        </p:nvSpPr>
        <p:spPr>
          <a:xfrm>
            <a:off x="665163" y="5969000"/>
            <a:ext cx="4248150" cy="0"/>
          </a:xfrm>
          <a:prstGeom prst="line">
            <a:avLst/>
          </a:prstGeom>
          <a:ln w="38100" cap="flat" cmpd="sng">
            <a:solidFill>
              <a:srgbClr val="FF0000"/>
            </a:solidFill>
            <a:prstDash val="sysDot"/>
            <a:headEnd type="none" w="med" len="med"/>
            <a:tailEnd type="none" w="sm" len="lg"/>
          </a:ln>
        </p:spPr>
      </p:sp>
      <p:sp>
        <p:nvSpPr>
          <p:cNvPr id="117900" name="Line 176"/>
          <p:cNvSpPr/>
          <p:nvPr/>
        </p:nvSpPr>
        <p:spPr>
          <a:xfrm>
            <a:off x="642938" y="5159375"/>
            <a:ext cx="4248150" cy="0"/>
          </a:xfrm>
          <a:prstGeom prst="line">
            <a:avLst/>
          </a:prstGeom>
          <a:ln w="38100" cap="flat" cmpd="sng">
            <a:solidFill>
              <a:srgbClr val="FF0000"/>
            </a:solidFill>
            <a:prstDash val="sysDot"/>
            <a:headEnd type="none" w="med" len="med"/>
            <a:tailEnd type="none" w="sm" len="lg"/>
          </a:ln>
        </p:spPr>
      </p:sp>
    </p:spTree>
  </p:cSld>
  <p:clrMapOvr>
    <a:masterClrMapping/>
  </p:clrMapOvr>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8" name="Object 2"/>
          <p:cNvGraphicFramePr>
            <a:graphicFrameLocks noGrp="1" noChangeAspect="1"/>
          </p:cNvGraphicFramePr>
          <p:nvPr>
            <p:ph sz="half" idx="1"/>
          </p:nvPr>
        </p:nvGraphicFramePr>
        <p:xfrm>
          <a:off x="1273175" y="1068388"/>
          <a:ext cx="4335463" cy="577850"/>
        </p:xfrm>
        <a:graphic>
          <a:graphicData uri="http://schemas.openxmlformats.org/presentationml/2006/ole">
            <mc:AlternateContent xmlns:mc="http://schemas.openxmlformats.org/markup-compatibility/2006">
              <mc:Choice xmlns:v="urn:schemas-microsoft-com:vml" Requires="v">
                <p:oleObj r:id="rId2" imgW="1905000" imgH="254000" progId="Equation.3">
                  <p:embed/>
                </p:oleObj>
              </mc:Choice>
              <mc:Fallback>
                <p:oleObj r:id="rId2" imgW="1905000" imgH="254000" progId="Equation.3">
                  <p:embed/>
                  <p:pic>
                    <p:nvPicPr>
                      <p:cNvPr id="0" name="图片 3123"/>
                      <p:cNvPicPr/>
                      <p:nvPr/>
                    </p:nvPicPr>
                    <p:blipFill>
                      <a:blip r:embed="rId3"/>
                      <a:srcRect/>
                      <a:stretch>
                        <a:fillRect/>
                      </a:stretch>
                    </p:blipFill>
                    <p:spPr>
                      <a:xfrm>
                        <a:off x="1273175" y="1068388"/>
                        <a:ext cx="4335463" cy="577850"/>
                      </a:xfrm>
                      <a:prstGeom prst="rect">
                        <a:avLst/>
                      </a:prstGeom>
                      <a:noFill/>
                      <a:ln w="38100">
                        <a:miter/>
                      </a:ln>
                    </p:spPr>
                  </p:pic>
                </p:oleObj>
              </mc:Fallback>
            </mc:AlternateContent>
          </a:graphicData>
        </a:graphic>
      </p:graphicFrame>
      <p:sp>
        <p:nvSpPr>
          <p:cNvPr id="14343" name="Text Box 3" descr="羊皮纸"/>
          <p:cNvSpPr txBox="1"/>
          <p:nvPr/>
        </p:nvSpPr>
        <p:spPr>
          <a:xfrm>
            <a:off x="555625" y="373063"/>
            <a:ext cx="2314575" cy="519112"/>
          </a:xfrm>
          <a:prstGeom prst="rect">
            <a:avLst/>
          </a:prstGeom>
          <a:noFill/>
          <a:ln w="38100">
            <a:noFill/>
          </a:ln>
        </p:spPr>
        <p:txBody>
          <a:bodyPr wrap="none" lIns="90000" tIns="46800" rIns="90000" bIns="46800">
            <a:spAutoFit/>
          </a:bodyPr>
          <a:lstStyle/>
          <a:p>
            <a:r>
              <a:rPr lang="zh-CN" altLang="en-US" sz="2800" dirty="0">
                <a:latin typeface="Times New Roman" panose="02020603050405020304" pitchFamily="18" charset="0"/>
              </a:rPr>
              <a:t>特征方程组：</a:t>
            </a:r>
          </a:p>
        </p:txBody>
      </p:sp>
      <p:sp>
        <p:nvSpPr>
          <p:cNvPr id="14344" name="Text Box 4" descr="羊皮纸"/>
          <p:cNvSpPr txBox="1"/>
          <p:nvPr/>
        </p:nvSpPr>
        <p:spPr>
          <a:xfrm>
            <a:off x="760413" y="2763838"/>
            <a:ext cx="1958975" cy="519112"/>
          </a:xfrm>
          <a:prstGeom prst="rect">
            <a:avLst/>
          </a:prstGeom>
          <a:noFill/>
          <a:ln w="38100">
            <a:noFill/>
          </a:ln>
        </p:spPr>
        <p:txBody>
          <a:bodyPr wrap="none" lIns="90000" tIns="46800" rIns="90000" bIns="46800">
            <a:spAutoFit/>
          </a:bodyPr>
          <a:lstStyle/>
          <a:p>
            <a:r>
              <a:rPr lang="zh-CN" altLang="en-US" sz="2800" dirty="0">
                <a:latin typeface="Times New Roman" panose="02020603050405020304" pitchFamily="18" charset="0"/>
              </a:rPr>
              <a:t>激励函数：</a:t>
            </a:r>
          </a:p>
        </p:txBody>
      </p:sp>
      <p:graphicFrame>
        <p:nvGraphicFramePr>
          <p:cNvPr id="14339" name="Object 5"/>
          <p:cNvGraphicFramePr>
            <a:graphicFrameLocks noGrp="1" noChangeAspect="1"/>
          </p:cNvGraphicFramePr>
          <p:nvPr>
            <p:ph sz="half" idx="2"/>
          </p:nvPr>
        </p:nvGraphicFramePr>
        <p:xfrm>
          <a:off x="1293813" y="2120900"/>
          <a:ext cx="4246562" cy="496888"/>
        </p:xfrm>
        <a:graphic>
          <a:graphicData uri="http://schemas.openxmlformats.org/presentationml/2006/ole">
            <mc:AlternateContent xmlns:mc="http://schemas.openxmlformats.org/markup-compatibility/2006">
              <mc:Choice xmlns:v="urn:schemas-microsoft-com:vml" Requires="v">
                <p:oleObj r:id="rId4" imgW="1866265" imgH="254000" progId="Equation.3">
                  <p:embed/>
                </p:oleObj>
              </mc:Choice>
              <mc:Fallback>
                <p:oleObj r:id="rId4" imgW="1866265" imgH="254000" progId="Equation.3">
                  <p:embed/>
                  <p:pic>
                    <p:nvPicPr>
                      <p:cNvPr id="0" name="图片 3122"/>
                      <p:cNvPicPr/>
                      <p:nvPr/>
                    </p:nvPicPr>
                    <p:blipFill>
                      <a:blip r:embed="rId5"/>
                      <a:srcRect/>
                      <a:stretch>
                        <a:fillRect/>
                      </a:stretch>
                    </p:blipFill>
                    <p:spPr>
                      <a:xfrm>
                        <a:off x="1293813" y="2120900"/>
                        <a:ext cx="4246562" cy="496888"/>
                      </a:xfrm>
                      <a:prstGeom prst="rect">
                        <a:avLst/>
                      </a:prstGeom>
                      <a:noFill/>
                      <a:ln w="38100">
                        <a:miter/>
                      </a:ln>
                    </p:spPr>
                  </p:pic>
                </p:oleObj>
              </mc:Fallback>
            </mc:AlternateContent>
          </a:graphicData>
        </a:graphic>
      </p:graphicFrame>
      <p:sp>
        <p:nvSpPr>
          <p:cNvPr id="14345" name="Rectangle 6" descr="羊皮纸"/>
          <p:cNvSpPr/>
          <p:nvPr/>
        </p:nvSpPr>
        <p:spPr>
          <a:xfrm>
            <a:off x="0" y="3219450"/>
            <a:ext cx="9144000" cy="0"/>
          </a:xfrm>
          <a:prstGeom prst="rect">
            <a:avLst/>
          </a:prstGeom>
          <a:noFill/>
          <a:ln w="38100">
            <a:noFill/>
          </a:ln>
        </p:spPr>
        <p:txBody>
          <a:bodyPr wrap="none" lIns="90000" tIns="46800" rIns="90000" bIns="46800" anchor="ctr" anchorCtr="0">
            <a:spAutoFit/>
          </a:bodyPr>
          <a:lstStyle/>
          <a:p>
            <a:endParaRPr lang="zh-CN" altLang="en-US" sz="2800" dirty="0">
              <a:latin typeface="Times New Roman" panose="02020603050405020304" pitchFamily="18" charset="0"/>
            </a:endParaRPr>
          </a:p>
        </p:txBody>
      </p:sp>
      <p:graphicFrame>
        <p:nvGraphicFramePr>
          <p:cNvPr id="14340" name="Object 7"/>
          <p:cNvGraphicFramePr>
            <a:graphicFrameLocks noChangeAspect="1"/>
          </p:cNvGraphicFramePr>
          <p:nvPr/>
        </p:nvGraphicFramePr>
        <p:xfrm>
          <a:off x="974725" y="3616325"/>
          <a:ext cx="2205038" cy="1141413"/>
        </p:xfrm>
        <a:graphic>
          <a:graphicData uri="http://schemas.openxmlformats.org/presentationml/2006/ole">
            <mc:AlternateContent xmlns:mc="http://schemas.openxmlformats.org/markup-compatibility/2006">
              <mc:Choice xmlns:v="urn:schemas-microsoft-com:vml" Requires="v">
                <p:oleObj r:id="rId6" imgW="812165" imgH="419100" progId="Equation.3">
                  <p:embed/>
                </p:oleObj>
              </mc:Choice>
              <mc:Fallback>
                <p:oleObj r:id="rId6" imgW="812165" imgH="419100" progId="Equation.3">
                  <p:embed/>
                  <p:pic>
                    <p:nvPicPr>
                      <p:cNvPr id="0" name="图片 3125"/>
                      <p:cNvPicPr/>
                      <p:nvPr/>
                    </p:nvPicPr>
                    <p:blipFill>
                      <a:blip r:embed="rId7"/>
                      <a:stretch>
                        <a:fillRect/>
                      </a:stretch>
                    </p:blipFill>
                    <p:spPr>
                      <a:xfrm>
                        <a:off x="974725" y="3616325"/>
                        <a:ext cx="2205038" cy="1141413"/>
                      </a:xfrm>
                      <a:prstGeom prst="rect">
                        <a:avLst/>
                      </a:prstGeom>
                      <a:noFill/>
                      <a:ln w="38100">
                        <a:noFill/>
                        <a:miter/>
                      </a:ln>
                    </p:spPr>
                  </p:pic>
                </p:oleObj>
              </mc:Fallback>
            </mc:AlternateContent>
          </a:graphicData>
        </a:graphic>
      </p:graphicFrame>
      <p:graphicFrame>
        <p:nvGraphicFramePr>
          <p:cNvPr id="14341" name="Object 8"/>
          <p:cNvGraphicFramePr>
            <a:graphicFrameLocks noChangeAspect="1"/>
          </p:cNvGraphicFramePr>
          <p:nvPr/>
        </p:nvGraphicFramePr>
        <p:xfrm>
          <a:off x="4011613" y="3648075"/>
          <a:ext cx="2081212" cy="1077913"/>
        </p:xfrm>
        <a:graphic>
          <a:graphicData uri="http://schemas.openxmlformats.org/presentationml/2006/ole">
            <mc:AlternateContent xmlns:mc="http://schemas.openxmlformats.org/markup-compatibility/2006">
              <mc:Choice xmlns:v="urn:schemas-microsoft-com:vml" Requires="v">
                <p:oleObj r:id="rId8" imgW="812165" imgH="419100" progId="Equation.3">
                  <p:embed/>
                </p:oleObj>
              </mc:Choice>
              <mc:Fallback>
                <p:oleObj r:id="rId8" imgW="812165" imgH="419100" progId="Equation.3">
                  <p:embed/>
                  <p:pic>
                    <p:nvPicPr>
                      <p:cNvPr id="0" name="图片 3124"/>
                      <p:cNvPicPr/>
                      <p:nvPr/>
                    </p:nvPicPr>
                    <p:blipFill>
                      <a:blip r:embed="rId9"/>
                      <a:stretch>
                        <a:fillRect/>
                      </a:stretch>
                    </p:blipFill>
                    <p:spPr>
                      <a:xfrm>
                        <a:off x="4011613" y="3648075"/>
                        <a:ext cx="2081212" cy="1077913"/>
                      </a:xfrm>
                      <a:prstGeom prst="rect">
                        <a:avLst/>
                      </a:prstGeom>
                      <a:noFill/>
                      <a:ln w="38100">
                        <a:noFill/>
                        <a:miter/>
                      </a:ln>
                    </p:spPr>
                  </p:pic>
                </p:oleObj>
              </mc:Fallback>
            </mc:AlternateContent>
          </a:graphicData>
        </a:graphic>
      </p:graphicFrame>
      <p:sp>
        <p:nvSpPr>
          <p:cNvPr id="14346" name="Text Box 9" descr="羊皮纸"/>
          <p:cNvSpPr txBox="1"/>
          <p:nvPr/>
        </p:nvSpPr>
        <p:spPr>
          <a:xfrm>
            <a:off x="725488" y="5059363"/>
            <a:ext cx="1958975" cy="519112"/>
          </a:xfrm>
          <a:prstGeom prst="rect">
            <a:avLst/>
          </a:prstGeom>
          <a:noFill/>
          <a:ln w="38100">
            <a:noFill/>
          </a:ln>
        </p:spPr>
        <p:txBody>
          <a:bodyPr wrap="none" lIns="90000" tIns="46800" rIns="90000" bIns="46800">
            <a:spAutoFit/>
          </a:bodyPr>
          <a:lstStyle/>
          <a:p>
            <a:r>
              <a:rPr lang="zh-CN" altLang="en-US" sz="2800" dirty="0">
                <a:latin typeface="Times New Roman" panose="02020603050405020304" pitchFamily="18" charset="0"/>
              </a:rPr>
              <a:t>输出函数：</a:t>
            </a:r>
          </a:p>
        </p:txBody>
      </p:sp>
      <p:sp>
        <p:nvSpPr>
          <p:cNvPr id="14347" name="Rectangle 10" descr="羊皮纸"/>
          <p:cNvSpPr/>
          <p:nvPr/>
        </p:nvSpPr>
        <p:spPr>
          <a:xfrm>
            <a:off x="0" y="3333750"/>
            <a:ext cx="9144000" cy="0"/>
          </a:xfrm>
          <a:prstGeom prst="rect">
            <a:avLst/>
          </a:prstGeom>
          <a:noFill/>
          <a:ln w="38100">
            <a:noFill/>
          </a:ln>
        </p:spPr>
        <p:txBody>
          <a:bodyPr wrap="none" lIns="90000" tIns="46800" rIns="90000" bIns="46800" anchor="ctr" anchorCtr="0">
            <a:spAutoFit/>
          </a:bodyPr>
          <a:lstStyle/>
          <a:p>
            <a:endParaRPr lang="zh-CN" altLang="en-US" sz="2800" dirty="0">
              <a:latin typeface="Times New Roman" panose="02020603050405020304" pitchFamily="18" charset="0"/>
            </a:endParaRPr>
          </a:p>
        </p:txBody>
      </p:sp>
      <p:graphicFrame>
        <p:nvGraphicFramePr>
          <p:cNvPr id="14342" name="Object 11"/>
          <p:cNvGraphicFramePr>
            <a:graphicFrameLocks noChangeAspect="1"/>
          </p:cNvGraphicFramePr>
          <p:nvPr/>
        </p:nvGraphicFramePr>
        <p:xfrm>
          <a:off x="1165225" y="5842000"/>
          <a:ext cx="3600450" cy="514350"/>
        </p:xfrm>
        <a:graphic>
          <a:graphicData uri="http://schemas.openxmlformats.org/presentationml/2006/ole">
            <mc:AlternateContent xmlns:mc="http://schemas.openxmlformats.org/markup-compatibility/2006">
              <mc:Choice xmlns:v="urn:schemas-microsoft-com:vml" Requires="v">
                <p:oleObj r:id="rId10" imgW="1269365" imgH="190500" progId="Equation.3">
                  <p:embed/>
                </p:oleObj>
              </mc:Choice>
              <mc:Fallback>
                <p:oleObj r:id="rId10" imgW="1269365" imgH="190500" progId="Equation.3">
                  <p:embed/>
                  <p:pic>
                    <p:nvPicPr>
                      <p:cNvPr id="0" name="图片 3126"/>
                      <p:cNvPicPr/>
                      <p:nvPr/>
                    </p:nvPicPr>
                    <p:blipFill>
                      <a:blip r:embed="rId11"/>
                      <a:stretch>
                        <a:fillRect/>
                      </a:stretch>
                    </p:blipFill>
                    <p:spPr>
                      <a:xfrm>
                        <a:off x="1165225" y="5842000"/>
                        <a:ext cx="3600450" cy="514350"/>
                      </a:xfrm>
                      <a:prstGeom prst="rect">
                        <a:avLst/>
                      </a:prstGeom>
                      <a:noFill/>
                      <a:ln w="38100">
                        <a:noFill/>
                        <a:miter/>
                      </a:ln>
                    </p:spPr>
                  </p:pic>
                </p:oleObj>
              </mc:Fallback>
            </mc:AlternateContent>
          </a:graphicData>
        </a:graphic>
      </p:graphicFrame>
    </p:spTree>
  </p:cSld>
  <p:clrMapOvr>
    <a:masterClrMapping/>
  </p:clrMapOvr>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2" descr="羊皮纸"/>
          <p:cNvSpPr/>
          <p:nvPr/>
        </p:nvSpPr>
        <p:spPr>
          <a:xfrm>
            <a:off x="387350" y="671513"/>
            <a:ext cx="8210550" cy="946150"/>
          </a:xfrm>
          <a:prstGeom prst="rect">
            <a:avLst/>
          </a:prstGeom>
          <a:noFill/>
          <a:ln w="38100">
            <a:noFill/>
          </a:ln>
        </p:spPr>
        <p:txBody>
          <a:bodyPr lIns="90000" tIns="46800" rIns="90000" bIns="46800" anchor="ctr" anchorCtr="0">
            <a:spAutoFit/>
          </a:bodyPr>
          <a:lstStyle/>
          <a:p>
            <a:r>
              <a:rPr lang="zh-CN" altLang="en-US" sz="2800" dirty="0">
                <a:latin typeface="Times New Roman" panose="02020603050405020304" pitchFamily="18" charset="0"/>
              </a:rPr>
              <a:t>（</a:t>
            </a:r>
            <a:r>
              <a:rPr lang="en-US" altLang="zh-CN" sz="2800" dirty="0">
                <a:latin typeface="Times New Roman" panose="02020603050405020304" pitchFamily="18" charset="0"/>
              </a:rPr>
              <a:t>5</a:t>
            </a:r>
            <a:r>
              <a:rPr lang="zh-CN" altLang="en-US" sz="2800" dirty="0">
                <a:latin typeface="Times New Roman" panose="02020603050405020304" pitchFamily="18" charset="0"/>
              </a:rPr>
              <a:t>）画出逻辑电路图。根据上述激励函数和输出方程画出逻辑电路图。 </a:t>
            </a:r>
          </a:p>
        </p:txBody>
      </p:sp>
      <p:grpSp>
        <p:nvGrpSpPr>
          <p:cNvPr id="15366" name="Group 3"/>
          <p:cNvGrpSpPr/>
          <p:nvPr/>
        </p:nvGrpSpPr>
        <p:grpSpPr>
          <a:xfrm>
            <a:off x="914400" y="3352800"/>
            <a:ext cx="7612063" cy="3209925"/>
            <a:chOff x="2844" y="10875"/>
            <a:chExt cx="6552" cy="2817"/>
          </a:xfrm>
        </p:grpSpPr>
        <p:sp>
          <p:nvSpPr>
            <p:cNvPr id="15367" name="Rectangle 4"/>
            <p:cNvSpPr/>
            <p:nvPr/>
          </p:nvSpPr>
          <p:spPr>
            <a:xfrm>
              <a:off x="4428" y="11820"/>
              <a:ext cx="280" cy="318"/>
            </a:xfrm>
            <a:prstGeom prst="rect">
              <a:avLst/>
            </a:prstGeom>
            <a:noFill/>
            <a:ln w="9525">
              <a:noFill/>
            </a:ln>
          </p:spPr>
          <p:txBody>
            <a:bodyPr lIns="0" tIns="0" rIns="0" bIns="0"/>
            <a:lstStyle/>
            <a:p>
              <a:pPr algn="just"/>
              <a:r>
                <a:rPr lang="en-US" altLang="zh-CN" sz="1400" i="1" dirty="0">
                  <a:latin typeface="Times New Roman" panose="02020603050405020304" pitchFamily="18" charset="0"/>
                </a:rPr>
                <a:t>Q</a:t>
              </a:r>
              <a:r>
                <a:rPr lang="en-US" altLang="zh-CN" sz="1400" baseline="-25000" dirty="0">
                  <a:latin typeface="Times New Roman" panose="02020603050405020304" pitchFamily="18" charset="0"/>
                </a:rPr>
                <a:t>2</a:t>
              </a:r>
              <a:endParaRPr lang="en-US" altLang="zh-CN" sz="4000" dirty="0">
                <a:latin typeface="Times New Roman" panose="02020603050405020304" pitchFamily="18" charset="0"/>
              </a:endParaRPr>
            </a:p>
          </p:txBody>
        </p:sp>
        <p:sp>
          <p:nvSpPr>
            <p:cNvPr id="15368" name="Rectangle 5"/>
            <p:cNvSpPr/>
            <p:nvPr/>
          </p:nvSpPr>
          <p:spPr>
            <a:xfrm>
              <a:off x="9103" y="11102"/>
              <a:ext cx="293" cy="367"/>
            </a:xfrm>
            <a:prstGeom prst="rect">
              <a:avLst/>
            </a:prstGeom>
            <a:noFill/>
            <a:ln w="9525">
              <a:noFill/>
            </a:ln>
          </p:spPr>
          <p:txBody>
            <a:bodyPr lIns="0" tIns="0" rIns="0" bIns="0"/>
            <a:lstStyle/>
            <a:p>
              <a:pPr algn="just"/>
              <a:r>
                <a:rPr lang="en-US" altLang="zh-CN" sz="1800" i="1" dirty="0">
                  <a:latin typeface="Times New Roman" panose="02020603050405020304" pitchFamily="18" charset="0"/>
                </a:rPr>
                <a:t>Z</a:t>
              </a:r>
              <a:endParaRPr lang="en-US" altLang="zh-CN" sz="4800" dirty="0">
                <a:latin typeface="Times New Roman" panose="02020603050405020304" pitchFamily="18" charset="0"/>
              </a:endParaRPr>
            </a:p>
          </p:txBody>
        </p:sp>
        <p:sp>
          <p:nvSpPr>
            <p:cNvPr id="15369" name="Rectangle 6"/>
            <p:cNvSpPr/>
            <p:nvPr/>
          </p:nvSpPr>
          <p:spPr>
            <a:xfrm>
              <a:off x="2878" y="11108"/>
              <a:ext cx="268" cy="397"/>
            </a:xfrm>
            <a:prstGeom prst="rect">
              <a:avLst/>
            </a:prstGeom>
            <a:noFill/>
            <a:ln w="9525">
              <a:noFill/>
            </a:ln>
          </p:spPr>
          <p:txBody>
            <a:bodyPr lIns="0" tIns="0" rIns="0" bIns="0"/>
            <a:lstStyle/>
            <a:p>
              <a:pPr algn="just"/>
              <a:r>
                <a:rPr lang="en-US" altLang="zh-CN" sz="1800" i="1" dirty="0">
                  <a:latin typeface="Times New Roman" panose="02020603050405020304" pitchFamily="18" charset="0"/>
                </a:rPr>
                <a:t>x</a:t>
              </a:r>
              <a:r>
                <a:rPr lang="en-US" altLang="zh-CN" sz="1800" baseline="-25000" dirty="0">
                  <a:latin typeface="Times New Roman" panose="02020603050405020304" pitchFamily="18" charset="0"/>
                </a:rPr>
                <a:t>2</a:t>
              </a:r>
              <a:endParaRPr lang="en-US" altLang="zh-CN" sz="4800" dirty="0">
                <a:latin typeface="Times New Roman" panose="02020603050405020304" pitchFamily="18" charset="0"/>
              </a:endParaRPr>
            </a:p>
          </p:txBody>
        </p:sp>
        <p:sp>
          <p:nvSpPr>
            <p:cNvPr id="15370" name="Rectangle 7"/>
            <p:cNvSpPr/>
            <p:nvPr/>
          </p:nvSpPr>
          <p:spPr>
            <a:xfrm>
              <a:off x="2888" y="10875"/>
              <a:ext cx="269" cy="303"/>
            </a:xfrm>
            <a:prstGeom prst="rect">
              <a:avLst/>
            </a:prstGeom>
            <a:noFill/>
            <a:ln w="9525">
              <a:noFill/>
            </a:ln>
          </p:spPr>
          <p:txBody>
            <a:bodyPr lIns="0" tIns="0" rIns="0" bIns="0"/>
            <a:lstStyle/>
            <a:p>
              <a:pPr algn="just"/>
              <a:r>
                <a:rPr lang="en-US" altLang="zh-CN" sz="1800" i="1" dirty="0">
                  <a:latin typeface="Times New Roman" panose="02020603050405020304" pitchFamily="18" charset="0"/>
                </a:rPr>
                <a:t>x</a:t>
              </a:r>
              <a:r>
                <a:rPr lang="en-US" altLang="zh-CN" sz="1800" baseline="-25000" dirty="0">
                  <a:latin typeface="Times New Roman" panose="02020603050405020304" pitchFamily="18" charset="0"/>
                </a:rPr>
                <a:t>1</a:t>
              </a:r>
              <a:endParaRPr lang="en-US" altLang="zh-CN" sz="4800" dirty="0">
                <a:latin typeface="Times New Roman" panose="02020603050405020304" pitchFamily="18" charset="0"/>
              </a:endParaRPr>
            </a:p>
          </p:txBody>
        </p:sp>
        <p:sp>
          <p:nvSpPr>
            <p:cNvPr id="15371" name="Rectangle 8"/>
            <p:cNvSpPr/>
            <p:nvPr/>
          </p:nvSpPr>
          <p:spPr>
            <a:xfrm>
              <a:off x="7072" y="11784"/>
              <a:ext cx="269" cy="336"/>
            </a:xfrm>
            <a:prstGeom prst="rect">
              <a:avLst/>
            </a:prstGeom>
            <a:noFill/>
            <a:ln w="9525">
              <a:noFill/>
            </a:ln>
          </p:spPr>
          <p:txBody>
            <a:bodyPr lIns="0" tIns="0" rIns="0" bIns="0"/>
            <a:lstStyle/>
            <a:p>
              <a:pPr algn="just"/>
              <a:r>
                <a:rPr lang="en-US" altLang="zh-CN" sz="1400" i="1" dirty="0">
                  <a:latin typeface="Times New Roman" panose="02020603050405020304" pitchFamily="18" charset="0"/>
                </a:rPr>
                <a:t>Q</a:t>
              </a:r>
              <a:r>
                <a:rPr lang="en-US" altLang="zh-CN" sz="1400" baseline="-25000" dirty="0">
                  <a:latin typeface="Times New Roman" panose="02020603050405020304" pitchFamily="18" charset="0"/>
                </a:rPr>
                <a:t>1</a:t>
              </a:r>
              <a:endParaRPr lang="en-US" altLang="zh-CN" sz="4000" dirty="0">
                <a:latin typeface="Times New Roman" panose="02020603050405020304" pitchFamily="18" charset="0"/>
              </a:endParaRPr>
            </a:p>
          </p:txBody>
        </p:sp>
        <p:sp>
          <p:nvSpPr>
            <p:cNvPr id="15372" name="Rectangle 9"/>
            <p:cNvSpPr/>
            <p:nvPr/>
          </p:nvSpPr>
          <p:spPr>
            <a:xfrm>
              <a:off x="2844" y="13423"/>
              <a:ext cx="268" cy="269"/>
            </a:xfrm>
            <a:prstGeom prst="rect">
              <a:avLst/>
            </a:prstGeom>
            <a:noFill/>
            <a:ln w="9525">
              <a:noFill/>
            </a:ln>
          </p:spPr>
          <p:txBody>
            <a:bodyPr lIns="0" tIns="0" rIns="0" bIns="0"/>
            <a:lstStyle/>
            <a:p>
              <a:pPr algn="just"/>
              <a:r>
                <a:rPr lang="en-US" altLang="zh-CN" sz="1200" i="1" dirty="0">
                  <a:latin typeface="Times New Roman" panose="02020603050405020304" pitchFamily="18" charset="0"/>
                </a:rPr>
                <a:t>CP</a:t>
              </a:r>
              <a:endParaRPr lang="en-US" altLang="zh-CN" sz="3600" dirty="0">
                <a:latin typeface="Times New Roman" panose="02020603050405020304" pitchFamily="18" charset="0"/>
              </a:endParaRPr>
            </a:p>
          </p:txBody>
        </p:sp>
        <p:sp>
          <p:nvSpPr>
            <p:cNvPr id="15373" name="Rectangle 10"/>
            <p:cNvSpPr/>
            <p:nvPr/>
          </p:nvSpPr>
          <p:spPr>
            <a:xfrm>
              <a:off x="6718" y="12126"/>
              <a:ext cx="1344" cy="752"/>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lstStyle/>
            <a:p>
              <a:pPr algn="just">
                <a:lnSpc>
                  <a:spcPct val="96000"/>
                </a:lnSpc>
              </a:pPr>
              <a:r>
                <a:rPr lang="en-US" altLang="zh-CN" sz="1800" dirty="0">
                  <a:latin typeface="Times New Roman" panose="02020603050405020304" pitchFamily="18" charset="0"/>
                </a:rPr>
                <a:t>  </a:t>
              </a:r>
            </a:p>
            <a:p>
              <a:pPr algn="just">
                <a:lnSpc>
                  <a:spcPct val="96000"/>
                </a:lnSpc>
              </a:pPr>
              <a:r>
                <a:rPr lang="en-US" altLang="zh-CN" sz="1800" dirty="0">
                  <a:latin typeface="Times New Roman" panose="02020603050405020304" pitchFamily="18" charset="0"/>
                </a:rPr>
                <a:t>                      </a:t>
              </a:r>
              <a:r>
                <a:rPr lang="en-US" altLang="zh-CN" sz="1600" i="1" dirty="0">
                  <a:latin typeface="Times New Roman" panose="02020603050405020304" pitchFamily="18" charset="0"/>
                </a:rPr>
                <a:t>K</a:t>
              </a:r>
              <a:r>
                <a:rPr lang="en-US" altLang="zh-CN" sz="1600" baseline="-25000" dirty="0">
                  <a:latin typeface="Times New Roman" panose="02020603050405020304" pitchFamily="18" charset="0"/>
                </a:rPr>
                <a:t>1</a:t>
              </a:r>
            </a:p>
            <a:p>
              <a:pPr algn="just">
                <a:lnSpc>
                  <a:spcPct val="96000"/>
                </a:lnSpc>
              </a:pPr>
              <a:r>
                <a:rPr lang="en-US" altLang="zh-CN" sz="1800" dirty="0">
                  <a:latin typeface="Times New Roman" panose="02020603050405020304" pitchFamily="18" charset="0"/>
                </a:rPr>
                <a:t>  </a:t>
              </a:r>
              <a:r>
                <a:rPr lang="en-US" altLang="zh-CN" sz="1600" i="1" dirty="0">
                  <a:latin typeface="Times New Roman" panose="02020603050405020304" pitchFamily="18" charset="0"/>
                </a:rPr>
                <a:t>J</a:t>
              </a:r>
              <a:r>
                <a:rPr lang="en-US" altLang="zh-CN" sz="1600" baseline="-25000" dirty="0">
                  <a:latin typeface="Times New Roman" panose="02020603050405020304" pitchFamily="18" charset="0"/>
                </a:rPr>
                <a:t>1</a:t>
              </a:r>
              <a:r>
                <a:rPr lang="en-US" altLang="zh-CN" sz="1600" dirty="0">
                  <a:latin typeface="Times New Roman" panose="02020603050405020304" pitchFamily="18" charset="0"/>
                </a:rPr>
                <a:t>  </a:t>
              </a:r>
              <a:r>
                <a:rPr lang="en-US" altLang="zh-CN" sz="1800" dirty="0">
                  <a:latin typeface="Times New Roman" panose="02020603050405020304" pitchFamily="18" charset="0"/>
                </a:rPr>
                <a:t>                 </a:t>
              </a:r>
              <a:r>
                <a:rPr lang="en-US" altLang="zh-CN" sz="1600" dirty="0">
                  <a:latin typeface="Times New Roman" panose="02020603050405020304" pitchFamily="18" charset="0"/>
                </a:rPr>
                <a:t>&amp;</a:t>
              </a:r>
              <a:endParaRPr lang="en-US" altLang="zh-CN" sz="4400" dirty="0">
                <a:latin typeface="Times New Roman" panose="02020603050405020304" pitchFamily="18" charset="0"/>
              </a:endParaRPr>
            </a:p>
          </p:txBody>
        </p:sp>
        <p:sp>
          <p:nvSpPr>
            <p:cNvPr id="15374" name="Freeform 11"/>
            <p:cNvSpPr/>
            <p:nvPr/>
          </p:nvSpPr>
          <p:spPr>
            <a:xfrm>
              <a:off x="7804" y="12657"/>
              <a:ext cx="269" cy="215"/>
            </a:xfrm>
            <a:custGeom>
              <a:avLst/>
              <a:gdLst>
                <a:gd name="txL" fmla="*/ 0 w 570"/>
                <a:gd name="txT" fmla="*/ 0 h 480"/>
                <a:gd name="txR" fmla="*/ 570 w 570"/>
                <a:gd name="txB" fmla="*/ 480 h 480"/>
              </a:gdLst>
              <a:ahLst/>
              <a:cxnLst>
                <a:cxn ang="0">
                  <a:pos x="127" y="1"/>
                </a:cxn>
                <a:cxn ang="0">
                  <a:pos x="0" y="0"/>
                </a:cxn>
                <a:cxn ang="0">
                  <a:pos x="0" y="96"/>
                </a:cxn>
              </a:cxnLst>
              <a:rect l="txL" t="txT" r="txR" b="txB"/>
              <a:pathLst>
                <a:path w="570" h="480">
                  <a:moveTo>
                    <a:pt x="570" y="6"/>
                  </a:moveTo>
                  <a:lnTo>
                    <a:pt x="0" y="0"/>
                  </a:lnTo>
                  <a:lnTo>
                    <a:pt x="0" y="480"/>
                  </a:lnTo>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sz="2800"/>
            </a:p>
          </p:txBody>
        </p:sp>
        <p:sp>
          <p:nvSpPr>
            <p:cNvPr id="15375" name="Line 12"/>
            <p:cNvSpPr/>
            <p:nvPr/>
          </p:nvSpPr>
          <p:spPr>
            <a:xfrm>
              <a:off x="7379" y="12909"/>
              <a:ext cx="0" cy="636"/>
            </a:xfrm>
            <a:prstGeom prst="line">
              <a:avLst/>
            </a:prstGeom>
            <a:ln w="9525" cap="flat" cmpd="sng">
              <a:solidFill>
                <a:srgbClr val="000000"/>
              </a:solidFill>
              <a:prstDash val="solid"/>
              <a:headEnd type="none" w="med" len="med"/>
              <a:tailEnd type="none" w="med" len="med"/>
            </a:ln>
          </p:spPr>
        </p:sp>
        <p:sp>
          <p:nvSpPr>
            <p:cNvPr id="15376" name="Rectangle 13"/>
            <p:cNvSpPr/>
            <p:nvPr/>
          </p:nvSpPr>
          <p:spPr>
            <a:xfrm>
              <a:off x="4344" y="12143"/>
              <a:ext cx="1344" cy="751"/>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lstStyle/>
            <a:p>
              <a:pPr>
                <a:lnSpc>
                  <a:spcPct val="96000"/>
                </a:lnSpc>
              </a:pPr>
              <a:r>
                <a:rPr lang="en-US" altLang="zh-CN" sz="1800" dirty="0">
                  <a:latin typeface="Times New Roman" panose="02020603050405020304" pitchFamily="18" charset="0"/>
                </a:rPr>
                <a:t>          </a:t>
              </a:r>
            </a:p>
            <a:p>
              <a:pPr>
                <a:lnSpc>
                  <a:spcPct val="96000"/>
                </a:lnSpc>
              </a:pPr>
              <a:r>
                <a:rPr lang="en-US" altLang="zh-CN" sz="1800" dirty="0">
                  <a:latin typeface="Times New Roman" panose="02020603050405020304" pitchFamily="18" charset="0"/>
                </a:rPr>
                <a:t>                     </a:t>
              </a:r>
              <a:r>
                <a:rPr lang="en-US" altLang="zh-CN" sz="1600" i="1" dirty="0">
                  <a:latin typeface="Times New Roman" panose="02020603050405020304" pitchFamily="18" charset="0"/>
                </a:rPr>
                <a:t>K</a:t>
              </a:r>
              <a:r>
                <a:rPr lang="en-US" altLang="zh-CN" sz="1600" baseline="-25000" dirty="0">
                  <a:latin typeface="Times New Roman" panose="02020603050405020304" pitchFamily="18" charset="0"/>
                </a:rPr>
                <a:t>2</a:t>
              </a:r>
            </a:p>
            <a:p>
              <a:pPr algn="just">
                <a:lnSpc>
                  <a:spcPct val="96000"/>
                </a:lnSpc>
              </a:pPr>
              <a:r>
                <a:rPr lang="en-US" altLang="zh-CN" sz="1800" dirty="0">
                  <a:latin typeface="Times New Roman" panose="02020603050405020304" pitchFamily="18" charset="0"/>
                </a:rPr>
                <a:t>  </a:t>
              </a:r>
              <a:r>
                <a:rPr lang="en-US" altLang="zh-CN" sz="1600" i="1" dirty="0">
                  <a:latin typeface="Times New Roman" panose="02020603050405020304" pitchFamily="18" charset="0"/>
                </a:rPr>
                <a:t>J</a:t>
              </a:r>
              <a:r>
                <a:rPr lang="en-US" altLang="zh-CN" sz="1600" baseline="-25000" dirty="0">
                  <a:latin typeface="Times New Roman" panose="02020603050405020304" pitchFamily="18" charset="0"/>
                </a:rPr>
                <a:t>2</a:t>
              </a:r>
              <a:r>
                <a:rPr lang="en-US" altLang="zh-CN" sz="1600" dirty="0">
                  <a:latin typeface="Times New Roman" panose="02020603050405020304" pitchFamily="18" charset="0"/>
                </a:rPr>
                <a:t>                    &amp;</a:t>
              </a:r>
              <a:endParaRPr lang="en-US" altLang="zh-CN" sz="4400" dirty="0">
                <a:latin typeface="Times New Roman" panose="02020603050405020304" pitchFamily="18" charset="0"/>
              </a:endParaRPr>
            </a:p>
          </p:txBody>
        </p:sp>
        <p:sp>
          <p:nvSpPr>
            <p:cNvPr id="15377" name="Freeform 14"/>
            <p:cNvSpPr/>
            <p:nvPr/>
          </p:nvSpPr>
          <p:spPr>
            <a:xfrm>
              <a:off x="5431" y="12673"/>
              <a:ext cx="268" cy="215"/>
            </a:xfrm>
            <a:custGeom>
              <a:avLst/>
              <a:gdLst>
                <a:gd name="txL" fmla="*/ 0 w 570"/>
                <a:gd name="txT" fmla="*/ 0 h 480"/>
                <a:gd name="txR" fmla="*/ 570 w 570"/>
                <a:gd name="txB" fmla="*/ 480 h 480"/>
              </a:gdLst>
              <a:ahLst/>
              <a:cxnLst>
                <a:cxn ang="0">
                  <a:pos x="126" y="1"/>
                </a:cxn>
                <a:cxn ang="0">
                  <a:pos x="0" y="0"/>
                </a:cxn>
                <a:cxn ang="0">
                  <a:pos x="0" y="96"/>
                </a:cxn>
              </a:cxnLst>
              <a:rect l="txL" t="txT" r="txR" b="txB"/>
              <a:pathLst>
                <a:path w="570" h="480">
                  <a:moveTo>
                    <a:pt x="570" y="6"/>
                  </a:moveTo>
                  <a:lnTo>
                    <a:pt x="0" y="0"/>
                  </a:lnTo>
                  <a:lnTo>
                    <a:pt x="0" y="480"/>
                  </a:lnTo>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sz="2800"/>
            </a:p>
          </p:txBody>
        </p:sp>
        <p:sp>
          <p:nvSpPr>
            <p:cNvPr id="15378" name="Freeform 15"/>
            <p:cNvSpPr/>
            <p:nvPr/>
          </p:nvSpPr>
          <p:spPr>
            <a:xfrm>
              <a:off x="4934" y="12784"/>
              <a:ext cx="155" cy="114"/>
            </a:xfrm>
            <a:custGeom>
              <a:avLst/>
              <a:gdLst>
                <a:gd name="txL" fmla="*/ 0 w 180"/>
                <a:gd name="txT" fmla="*/ 0 h 139"/>
                <a:gd name="txR" fmla="*/ 180 w 180"/>
                <a:gd name="txB" fmla="*/ 139 h 139"/>
              </a:gdLst>
              <a:ahLst/>
              <a:cxnLst>
                <a:cxn ang="0">
                  <a:pos x="0" y="93"/>
                </a:cxn>
                <a:cxn ang="0">
                  <a:pos x="56" y="0"/>
                </a:cxn>
                <a:cxn ang="0">
                  <a:pos x="133" y="93"/>
                </a:cxn>
              </a:cxnLst>
              <a:rect l="txL" t="txT" r="txR" b="txB"/>
              <a:pathLst>
                <a:path w="180" h="139">
                  <a:moveTo>
                    <a:pt x="0" y="138"/>
                  </a:moveTo>
                  <a:lnTo>
                    <a:pt x="75" y="0"/>
                  </a:lnTo>
                  <a:lnTo>
                    <a:pt x="180" y="139"/>
                  </a:lnTo>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sz="2800"/>
            </a:p>
          </p:txBody>
        </p:sp>
        <p:sp>
          <p:nvSpPr>
            <p:cNvPr id="15379" name="Line 16"/>
            <p:cNvSpPr/>
            <p:nvPr/>
          </p:nvSpPr>
          <p:spPr>
            <a:xfrm>
              <a:off x="5005" y="12897"/>
              <a:ext cx="0" cy="636"/>
            </a:xfrm>
            <a:prstGeom prst="line">
              <a:avLst/>
            </a:prstGeom>
            <a:ln w="9525" cap="flat" cmpd="sng">
              <a:solidFill>
                <a:srgbClr val="000000"/>
              </a:solidFill>
              <a:prstDash val="solid"/>
              <a:headEnd type="none" w="med" len="med"/>
              <a:tailEnd type="none" w="med" len="med"/>
            </a:ln>
          </p:spPr>
        </p:sp>
        <p:sp>
          <p:nvSpPr>
            <p:cNvPr id="15380" name="Oval 17"/>
            <p:cNvSpPr/>
            <p:nvPr/>
          </p:nvSpPr>
          <p:spPr>
            <a:xfrm>
              <a:off x="4970" y="12903"/>
              <a:ext cx="74" cy="8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5381" name="Line 18"/>
            <p:cNvSpPr/>
            <p:nvPr/>
          </p:nvSpPr>
          <p:spPr>
            <a:xfrm flipV="1">
              <a:off x="6990" y="11911"/>
              <a:ext cx="0" cy="215"/>
            </a:xfrm>
            <a:prstGeom prst="line">
              <a:avLst/>
            </a:prstGeom>
            <a:ln w="9525" cap="flat" cmpd="sng">
              <a:solidFill>
                <a:srgbClr val="000000"/>
              </a:solidFill>
              <a:prstDash val="solid"/>
              <a:headEnd type="none" w="med" len="med"/>
              <a:tailEnd type="none" w="med" len="med"/>
            </a:ln>
          </p:spPr>
        </p:sp>
        <p:sp>
          <p:nvSpPr>
            <p:cNvPr id="15382" name="Line 19"/>
            <p:cNvSpPr/>
            <p:nvPr/>
          </p:nvSpPr>
          <p:spPr>
            <a:xfrm>
              <a:off x="6888" y="12878"/>
              <a:ext cx="0" cy="215"/>
            </a:xfrm>
            <a:prstGeom prst="line">
              <a:avLst/>
            </a:prstGeom>
            <a:ln w="9525" cap="flat" cmpd="sng">
              <a:solidFill>
                <a:srgbClr val="000000"/>
              </a:solidFill>
              <a:prstDash val="solid"/>
              <a:headEnd type="none" w="med" len="med"/>
              <a:tailEnd type="none" w="med" len="med"/>
            </a:ln>
          </p:spPr>
        </p:sp>
        <p:sp>
          <p:nvSpPr>
            <p:cNvPr id="15383" name="Line 20"/>
            <p:cNvSpPr/>
            <p:nvPr/>
          </p:nvSpPr>
          <p:spPr>
            <a:xfrm>
              <a:off x="7860" y="12888"/>
              <a:ext cx="0" cy="293"/>
            </a:xfrm>
            <a:prstGeom prst="line">
              <a:avLst/>
            </a:prstGeom>
            <a:ln w="9525" cap="flat" cmpd="sng">
              <a:solidFill>
                <a:srgbClr val="000000"/>
              </a:solidFill>
              <a:prstDash val="solid"/>
              <a:headEnd type="none" w="med" len="med"/>
              <a:tailEnd type="none" w="med" len="med"/>
            </a:ln>
          </p:spPr>
        </p:sp>
        <p:sp>
          <p:nvSpPr>
            <p:cNvPr id="15384" name="Line 21"/>
            <p:cNvSpPr/>
            <p:nvPr/>
          </p:nvSpPr>
          <p:spPr>
            <a:xfrm flipH="1">
              <a:off x="6537" y="13186"/>
              <a:ext cx="1320" cy="0"/>
            </a:xfrm>
            <a:prstGeom prst="line">
              <a:avLst/>
            </a:prstGeom>
            <a:ln w="9525" cap="flat" cmpd="sng">
              <a:solidFill>
                <a:srgbClr val="000000"/>
              </a:solidFill>
              <a:prstDash val="solid"/>
              <a:headEnd type="none" w="med" len="med"/>
              <a:tailEnd type="none" w="med" len="med"/>
            </a:ln>
          </p:spPr>
        </p:sp>
        <p:sp>
          <p:nvSpPr>
            <p:cNvPr id="15385" name="Line 22"/>
            <p:cNvSpPr/>
            <p:nvPr/>
          </p:nvSpPr>
          <p:spPr>
            <a:xfrm flipH="1" flipV="1">
              <a:off x="4188" y="13089"/>
              <a:ext cx="2698" cy="0"/>
            </a:xfrm>
            <a:prstGeom prst="line">
              <a:avLst/>
            </a:prstGeom>
            <a:ln w="9525" cap="flat" cmpd="sng">
              <a:solidFill>
                <a:srgbClr val="000000"/>
              </a:solidFill>
              <a:prstDash val="solid"/>
              <a:headEnd type="none" w="med" len="med"/>
              <a:tailEnd type="none" w="med" len="med"/>
            </a:ln>
          </p:spPr>
        </p:sp>
        <p:sp>
          <p:nvSpPr>
            <p:cNvPr id="15386" name="Line 23"/>
            <p:cNvSpPr/>
            <p:nvPr/>
          </p:nvSpPr>
          <p:spPr>
            <a:xfrm>
              <a:off x="7939" y="12878"/>
              <a:ext cx="0" cy="402"/>
            </a:xfrm>
            <a:prstGeom prst="line">
              <a:avLst/>
            </a:prstGeom>
            <a:ln w="9525" cap="flat" cmpd="sng">
              <a:solidFill>
                <a:srgbClr val="000000"/>
              </a:solidFill>
              <a:prstDash val="solid"/>
              <a:headEnd type="none" w="med" len="med"/>
              <a:tailEnd type="none" w="med" len="med"/>
            </a:ln>
          </p:spPr>
        </p:sp>
        <p:sp>
          <p:nvSpPr>
            <p:cNvPr id="15387" name="Line 24"/>
            <p:cNvSpPr/>
            <p:nvPr/>
          </p:nvSpPr>
          <p:spPr>
            <a:xfrm flipH="1" flipV="1">
              <a:off x="3751" y="13283"/>
              <a:ext cx="4198" cy="0"/>
            </a:xfrm>
            <a:prstGeom prst="line">
              <a:avLst/>
            </a:prstGeom>
            <a:ln w="9525" cap="flat" cmpd="sng">
              <a:solidFill>
                <a:srgbClr val="000000"/>
              </a:solidFill>
              <a:prstDash val="solid"/>
              <a:headEnd type="none" w="med" len="med"/>
              <a:tailEnd type="none" w="med" len="med"/>
            </a:ln>
          </p:spPr>
        </p:sp>
        <p:sp>
          <p:nvSpPr>
            <p:cNvPr id="15388" name="Line 25"/>
            <p:cNvSpPr/>
            <p:nvPr/>
          </p:nvSpPr>
          <p:spPr>
            <a:xfrm>
              <a:off x="8006" y="12878"/>
              <a:ext cx="0" cy="507"/>
            </a:xfrm>
            <a:prstGeom prst="line">
              <a:avLst/>
            </a:prstGeom>
            <a:ln w="9525" cap="flat" cmpd="sng">
              <a:solidFill>
                <a:srgbClr val="000000"/>
              </a:solidFill>
              <a:prstDash val="solid"/>
              <a:headEnd type="none" w="med" len="med"/>
              <a:tailEnd type="none" w="med" len="med"/>
            </a:ln>
          </p:spPr>
        </p:sp>
        <p:sp>
          <p:nvSpPr>
            <p:cNvPr id="15389" name="Line 26"/>
            <p:cNvSpPr/>
            <p:nvPr/>
          </p:nvSpPr>
          <p:spPr>
            <a:xfrm flipH="1">
              <a:off x="3357" y="13388"/>
              <a:ext cx="4647" cy="0"/>
            </a:xfrm>
            <a:prstGeom prst="line">
              <a:avLst/>
            </a:prstGeom>
            <a:ln w="9525" cap="flat" cmpd="sng">
              <a:solidFill>
                <a:srgbClr val="000000"/>
              </a:solidFill>
              <a:prstDash val="solid"/>
              <a:headEnd type="none" w="med" len="med"/>
              <a:tailEnd type="none" w="med" len="med"/>
            </a:ln>
          </p:spPr>
        </p:sp>
        <p:sp>
          <p:nvSpPr>
            <p:cNvPr id="15390" name="Line 27"/>
            <p:cNvSpPr/>
            <p:nvPr/>
          </p:nvSpPr>
          <p:spPr>
            <a:xfrm>
              <a:off x="5621" y="12888"/>
              <a:ext cx="0" cy="108"/>
            </a:xfrm>
            <a:prstGeom prst="line">
              <a:avLst/>
            </a:prstGeom>
            <a:ln w="9525" cap="flat" cmpd="sng">
              <a:solidFill>
                <a:srgbClr val="000000"/>
              </a:solidFill>
              <a:prstDash val="solid"/>
              <a:headEnd type="none" w="med" len="med"/>
              <a:tailEnd type="none" w="med" len="med"/>
            </a:ln>
          </p:spPr>
        </p:sp>
        <p:sp>
          <p:nvSpPr>
            <p:cNvPr id="15391" name="Line 28"/>
            <p:cNvSpPr/>
            <p:nvPr/>
          </p:nvSpPr>
          <p:spPr>
            <a:xfrm>
              <a:off x="5621" y="12996"/>
              <a:ext cx="537" cy="0"/>
            </a:xfrm>
            <a:prstGeom prst="line">
              <a:avLst/>
            </a:prstGeom>
            <a:ln w="9525" cap="flat" cmpd="sng">
              <a:solidFill>
                <a:srgbClr val="000000"/>
              </a:solidFill>
              <a:prstDash val="solid"/>
              <a:headEnd type="none" w="med" len="med"/>
              <a:tailEnd type="none" w="med" len="med"/>
            </a:ln>
          </p:spPr>
        </p:sp>
        <p:sp>
          <p:nvSpPr>
            <p:cNvPr id="15392" name="Line 29"/>
            <p:cNvSpPr/>
            <p:nvPr/>
          </p:nvSpPr>
          <p:spPr>
            <a:xfrm flipV="1">
              <a:off x="6170" y="12029"/>
              <a:ext cx="0" cy="967"/>
            </a:xfrm>
            <a:prstGeom prst="line">
              <a:avLst/>
            </a:prstGeom>
            <a:ln w="9525" cap="flat" cmpd="sng">
              <a:solidFill>
                <a:srgbClr val="000000"/>
              </a:solidFill>
              <a:prstDash val="solid"/>
              <a:headEnd type="none" w="med" len="med"/>
              <a:tailEnd type="none" w="med" len="med"/>
            </a:ln>
          </p:spPr>
        </p:sp>
        <p:sp>
          <p:nvSpPr>
            <p:cNvPr id="15393" name="Line 30"/>
            <p:cNvSpPr/>
            <p:nvPr/>
          </p:nvSpPr>
          <p:spPr>
            <a:xfrm>
              <a:off x="6181" y="12029"/>
              <a:ext cx="537" cy="0"/>
            </a:xfrm>
            <a:prstGeom prst="line">
              <a:avLst/>
            </a:prstGeom>
            <a:ln w="9525" cap="flat" cmpd="sng">
              <a:solidFill>
                <a:srgbClr val="000000"/>
              </a:solidFill>
              <a:prstDash val="solid"/>
              <a:headEnd type="none" w="med" len="med"/>
              <a:tailEnd type="none" w="med" len="med"/>
            </a:ln>
          </p:spPr>
        </p:sp>
        <p:sp>
          <p:nvSpPr>
            <p:cNvPr id="15394" name="Line 31"/>
            <p:cNvSpPr/>
            <p:nvPr/>
          </p:nvSpPr>
          <p:spPr>
            <a:xfrm flipV="1">
              <a:off x="6707" y="11707"/>
              <a:ext cx="0" cy="322"/>
            </a:xfrm>
            <a:prstGeom prst="line">
              <a:avLst/>
            </a:prstGeom>
            <a:ln w="9525" cap="flat" cmpd="sng">
              <a:solidFill>
                <a:srgbClr val="000000"/>
              </a:solidFill>
              <a:prstDash val="solid"/>
              <a:headEnd type="none" w="med" len="med"/>
              <a:tailEnd type="none" w="med" len="med"/>
            </a:ln>
          </p:spPr>
        </p:sp>
        <p:sp>
          <p:nvSpPr>
            <p:cNvPr id="15395" name="Line 32"/>
            <p:cNvSpPr/>
            <p:nvPr/>
          </p:nvSpPr>
          <p:spPr>
            <a:xfrm flipH="1">
              <a:off x="6718" y="11907"/>
              <a:ext cx="269" cy="0"/>
            </a:xfrm>
            <a:prstGeom prst="line">
              <a:avLst/>
            </a:prstGeom>
            <a:ln w="9525" cap="flat" cmpd="sng">
              <a:solidFill>
                <a:srgbClr val="000000"/>
              </a:solidFill>
              <a:prstDash val="solid"/>
              <a:headEnd type="none" w="med" len="med"/>
              <a:tailEnd type="none" w="med" len="med"/>
            </a:ln>
          </p:spPr>
        </p:sp>
        <p:sp>
          <p:nvSpPr>
            <p:cNvPr id="15396" name="Rectangle 33"/>
            <p:cNvSpPr/>
            <p:nvPr/>
          </p:nvSpPr>
          <p:spPr>
            <a:xfrm>
              <a:off x="6405" y="11482"/>
              <a:ext cx="403" cy="215"/>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lstStyle/>
            <a:p>
              <a:pPr algn="ctr">
                <a:lnSpc>
                  <a:spcPct val="80000"/>
                </a:lnSpc>
              </a:pPr>
              <a:r>
                <a:rPr lang="zh-CN" altLang="en-US" sz="1400" dirty="0">
                  <a:latin typeface="Times New Roman" panose="02020603050405020304" pitchFamily="18" charset="0"/>
                </a:rPr>
                <a:t>＝</a:t>
              </a:r>
              <a:r>
                <a:rPr lang="en-US" altLang="zh-CN" sz="1400" dirty="0">
                  <a:latin typeface="Times New Roman" panose="02020603050405020304" pitchFamily="18" charset="0"/>
                </a:rPr>
                <a:t>1</a:t>
              </a:r>
              <a:endParaRPr lang="en-US" altLang="zh-CN" sz="4000" dirty="0">
                <a:latin typeface="Times New Roman" panose="02020603050405020304" pitchFamily="18" charset="0"/>
              </a:endParaRPr>
            </a:p>
          </p:txBody>
        </p:sp>
        <p:sp>
          <p:nvSpPr>
            <p:cNvPr id="15397" name="Line 34"/>
            <p:cNvSpPr/>
            <p:nvPr/>
          </p:nvSpPr>
          <p:spPr>
            <a:xfrm>
              <a:off x="6517" y="11697"/>
              <a:ext cx="0" cy="1494"/>
            </a:xfrm>
            <a:prstGeom prst="line">
              <a:avLst/>
            </a:prstGeom>
            <a:ln w="9525" cap="flat" cmpd="sng">
              <a:solidFill>
                <a:srgbClr val="000000"/>
              </a:solidFill>
              <a:prstDash val="solid"/>
              <a:headEnd type="none" w="med" len="med"/>
              <a:tailEnd type="none" w="med" len="med"/>
            </a:ln>
          </p:spPr>
        </p:sp>
        <p:sp>
          <p:nvSpPr>
            <p:cNvPr id="15398" name="Line 35"/>
            <p:cNvSpPr/>
            <p:nvPr/>
          </p:nvSpPr>
          <p:spPr>
            <a:xfrm>
              <a:off x="4725" y="11914"/>
              <a:ext cx="0" cy="234"/>
            </a:xfrm>
            <a:prstGeom prst="line">
              <a:avLst/>
            </a:prstGeom>
            <a:ln w="9525" cap="flat" cmpd="sng">
              <a:solidFill>
                <a:srgbClr val="000000"/>
              </a:solidFill>
              <a:prstDash val="solid"/>
              <a:headEnd type="none" w="med" len="med"/>
              <a:tailEnd type="none" w="med" len="med"/>
            </a:ln>
          </p:spPr>
        </p:sp>
        <p:sp>
          <p:nvSpPr>
            <p:cNvPr id="15399" name="Line 36"/>
            <p:cNvSpPr/>
            <p:nvPr/>
          </p:nvSpPr>
          <p:spPr>
            <a:xfrm flipH="1">
              <a:off x="4727" y="11911"/>
              <a:ext cx="1790" cy="0"/>
            </a:xfrm>
            <a:prstGeom prst="line">
              <a:avLst/>
            </a:prstGeom>
            <a:ln w="9525" cap="flat" cmpd="sng">
              <a:solidFill>
                <a:srgbClr val="000000"/>
              </a:solidFill>
              <a:prstDash val="solid"/>
              <a:headEnd type="none" w="med" len="med"/>
              <a:tailEnd type="none" w="med" len="med"/>
            </a:ln>
          </p:spPr>
        </p:sp>
        <p:sp>
          <p:nvSpPr>
            <p:cNvPr id="15400" name="Oval 37"/>
            <p:cNvSpPr/>
            <p:nvPr/>
          </p:nvSpPr>
          <p:spPr>
            <a:xfrm>
              <a:off x="6685" y="11887"/>
              <a:ext cx="42" cy="39"/>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5401" name="Oval 38"/>
            <p:cNvSpPr/>
            <p:nvPr/>
          </p:nvSpPr>
          <p:spPr>
            <a:xfrm>
              <a:off x="6498" y="11891"/>
              <a:ext cx="42" cy="39"/>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5402" name="Line 39"/>
            <p:cNvSpPr/>
            <p:nvPr/>
          </p:nvSpPr>
          <p:spPr>
            <a:xfrm>
              <a:off x="6606" y="11374"/>
              <a:ext cx="0" cy="108"/>
            </a:xfrm>
            <a:prstGeom prst="line">
              <a:avLst/>
            </a:prstGeom>
            <a:ln w="9525" cap="flat" cmpd="sng">
              <a:solidFill>
                <a:srgbClr val="000000"/>
              </a:solidFill>
              <a:prstDash val="solid"/>
              <a:headEnd type="none" w="med" len="med"/>
              <a:tailEnd type="none" w="med" len="med"/>
            </a:ln>
          </p:spPr>
        </p:sp>
        <p:sp>
          <p:nvSpPr>
            <p:cNvPr id="15403" name="Line 40"/>
            <p:cNvSpPr/>
            <p:nvPr/>
          </p:nvSpPr>
          <p:spPr>
            <a:xfrm flipV="1">
              <a:off x="6606" y="11370"/>
              <a:ext cx="1896" cy="0"/>
            </a:xfrm>
            <a:prstGeom prst="line">
              <a:avLst/>
            </a:prstGeom>
            <a:ln w="9525" cap="flat" cmpd="sng">
              <a:solidFill>
                <a:srgbClr val="000000"/>
              </a:solidFill>
              <a:prstDash val="solid"/>
              <a:headEnd type="none" w="med" len="med"/>
              <a:tailEnd type="none" w="med" len="med"/>
            </a:ln>
          </p:spPr>
        </p:sp>
        <p:sp>
          <p:nvSpPr>
            <p:cNvPr id="15404" name="Rectangle 41"/>
            <p:cNvSpPr/>
            <p:nvPr/>
          </p:nvSpPr>
          <p:spPr>
            <a:xfrm>
              <a:off x="8513" y="11040"/>
              <a:ext cx="269" cy="429"/>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lstStyle/>
            <a:p>
              <a:pPr algn="just"/>
              <a:r>
                <a:rPr lang="en-US" altLang="zh-CN" sz="900" dirty="0">
                  <a:latin typeface="宋体" panose="02010600030101010101" pitchFamily="2" charset="-122"/>
                </a:rPr>
                <a:t>≥</a:t>
              </a:r>
              <a:r>
                <a:rPr lang="en-US" altLang="zh-CN" sz="1200" dirty="0">
                  <a:latin typeface="Times New Roman" panose="02020603050405020304" pitchFamily="18" charset="0"/>
                </a:rPr>
                <a:t>1</a:t>
              </a:r>
              <a:endParaRPr lang="en-US" altLang="zh-CN" sz="3600" dirty="0">
                <a:latin typeface="Times New Roman" panose="02020603050405020304" pitchFamily="18" charset="0"/>
              </a:endParaRPr>
            </a:p>
          </p:txBody>
        </p:sp>
        <p:sp>
          <p:nvSpPr>
            <p:cNvPr id="15405" name="Line 42"/>
            <p:cNvSpPr/>
            <p:nvPr/>
          </p:nvSpPr>
          <p:spPr>
            <a:xfrm flipH="1" flipV="1">
              <a:off x="3113" y="11242"/>
              <a:ext cx="5397" cy="0"/>
            </a:xfrm>
            <a:prstGeom prst="line">
              <a:avLst/>
            </a:prstGeom>
            <a:ln w="9525" cap="flat" cmpd="sng">
              <a:solidFill>
                <a:srgbClr val="000000"/>
              </a:solidFill>
              <a:prstDash val="solid"/>
              <a:headEnd type="none" w="med" len="med"/>
              <a:tailEnd type="none" w="med" len="med"/>
            </a:ln>
          </p:spPr>
        </p:sp>
        <p:sp>
          <p:nvSpPr>
            <p:cNvPr id="15406" name="Line 43"/>
            <p:cNvSpPr/>
            <p:nvPr/>
          </p:nvSpPr>
          <p:spPr>
            <a:xfrm flipH="1" flipV="1">
              <a:off x="3113" y="11124"/>
              <a:ext cx="5397" cy="0"/>
            </a:xfrm>
            <a:prstGeom prst="line">
              <a:avLst/>
            </a:prstGeom>
            <a:ln w="9525" cap="flat" cmpd="sng">
              <a:solidFill>
                <a:srgbClr val="000000"/>
              </a:solidFill>
              <a:prstDash val="solid"/>
              <a:headEnd type="none" w="med" len="med"/>
              <a:tailEnd type="none" w="med" len="med"/>
            </a:ln>
          </p:spPr>
        </p:sp>
        <p:sp>
          <p:nvSpPr>
            <p:cNvPr id="15407" name="Line 44"/>
            <p:cNvSpPr/>
            <p:nvPr/>
          </p:nvSpPr>
          <p:spPr>
            <a:xfrm>
              <a:off x="8790" y="11250"/>
              <a:ext cx="268" cy="0"/>
            </a:xfrm>
            <a:prstGeom prst="line">
              <a:avLst/>
            </a:prstGeom>
            <a:ln w="9525" cap="flat" cmpd="sng">
              <a:solidFill>
                <a:srgbClr val="000000"/>
              </a:solidFill>
              <a:prstDash val="solid"/>
              <a:headEnd type="none" w="med" len="med"/>
              <a:tailEnd type="none" w="med" len="med"/>
            </a:ln>
          </p:spPr>
        </p:sp>
        <p:sp>
          <p:nvSpPr>
            <p:cNvPr id="15408" name="Oval 45"/>
            <p:cNvSpPr/>
            <p:nvPr/>
          </p:nvSpPr>
          <p:spPr>
            <a:xfrm>
              <a:off x="4168" y="11098"/>
              <a:ext cx="43" cy="39"/>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5409" name="Line 46"/>
            <p:cNvSpPr/>
            <p:nvPr/>
          </p:nvSpPr>
          <p:spPr>
            <a:xfrm>
              <a:off x="5554" y="12888"/>
              <a:ext cx="0" cy="363"/>
            </a:xfrm>
            <a:prstGeom prst="line">
              <a:avLst/>
            </a:prstGeom>
            <a:ln w="9525" cap="flat" cmpd="sng">
              <a:solidFill>
                <a:srgbClr val="000000"/>
              </a:solidFill>
              <a:prstDash val="solid"/>
              <a:headEnd type="none" w="med" len="med"/>
              <a:tailEnd type="none" w="med" len="med"/>
            </a:ln>
          </p:spPr>
        </p:sp>
        <p:sp>
          <p:nvSpPr>
            <p:cNvPr id="15410" name="Line 47"/>
            <p:cNvSpPr/>
            <p:nvPr/>
          </p:nvSpPr>
          <p:spPr>
            <a:xfrm flipH="1">
              <a:off x="5475" y="12899"/>
              <a:ext cx="0" cy="460"/>
            </a:xfrm>
            <a:prstGeom prst="line">
              <a:avLst/>
            </a:prstGeom>
            <a:ln w="9525" cap="flat" cmpd="sng">
              <a:solidFill>
                <a:srgbClr val="000000"/>
              </a:solidFill>
              <a:prstDash val="solid"/>
              <a:headEnd type="none" w="med" len="med"/>
              <a:tailEnd type="none" w="med" len="med"/>
            </a:ln>
          </p:spPr>
        </p:sp>
        <p:sp>
          <p:nvSpPr>
            <p:cNvPr id="15411" name="Line 48"/>
            <p:cNvSpPr/>
            <p:nvPr/>
          </p:nvSpPr>
          <p:spPr>
            <a:xfrm flipH="1" flipV="1">
              <a:off x="3113" y="13535"/>
              <a:ext cx="4266" cy="0"/>
            </a:xfrm>
            <a:prstGeom prst="line">
              <a:avLst/>
            </a:prstGeom>
            <a:ln w="9525" cap="flat" cmpd="sng">
              <a:solidFill>
                <a:srgbClr val="000000"/>
              </a:solidFill>
              <a:prstDash val="solid"/>
              <a:headEnd type="none" w="med" len="med"/>
              <a:tailEnd type="none" w="med" len="med"/>
            </a:ln>
          </p:spPr>
        </p:sp>
        <p:sp>
          <p:nvSpPr>
            <p:cNvPr id="15412" name="Oval 49"/>
            <p:cNvSpPr/>
            <p:nvPr/>
          </p:nvSpPr>
          <p:spPr>
            <a:xfrm>
              <a:off x="5535" y="13258"/>
              <a:ext cx="42" cy="39"/>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5413" name="Oval 50"/>
            <p:cNvSpPr/>
            <p:nvPr/>
          </p:nvSpPr>
          <p:spPr>
            <a:xfrm>
              <a:off x="5456" y="13365"/>
              <a:ext cx="43" cy="40"/>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5414" name="Oval 51"/>
            <p:cNvSpPr/>
            <p:nvPr/>
          </p:nvSpPr>
          <p:spPr>
            <a:xfrm>
              <a:off x="4986" y="13518"/>
              <a:ext cx="42" cy="39"/>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5415" name="Line 52"/>
            <p:cNvSpPr/>
            <p:nvPr/>
          </p:nvSpPr>
          <p:spPr>
            <a:xfrm flipV="1">
              <a:off x="4188" y="11118"/>
              <a:ext cx="0" cy="1967"/>
            </a:xfrm>
            <a:prstGeom prst="line">
              <a:avLst/>
            </a:prstGeom>
            <a:ln w="9525" cap="flat" cmpd="sng">
              <a:solidFill>
                <a:srgbClr val="000000"/>
              </a:solidFill>
              <a:prstDash val="solid"/>
              <a:headEnd type="none" w="med" len="med"/>
              <a:tailEnd type="none" w="med" len="med"/>
            </a:ln>
          </p:spPr>
        </p:sp>
        <p:sp>
          <p:nvSpPr>
            <p:cNvPr id="15416" name="Line 53"/>
            <p:cNvSpPr/>
            <p:nvPr/>
          </p:nvSpPr>
          <p:spPr>
            <a:xfrm>
              <a:off x="4524" y="12899"/>
              <a:ext cx="0" cy="273"/>
            </a:xfrm>
            <a:prstGeom prst="line">
              <a:avLst/>
            </a:prstGeom>
            <a:ln w="9525" cap="flat" cmpd="sng">
              <a:solidFill>
                <a:srgbClr val="000000"/>
              </a:solidFill>
              <a:prstDash val="solid"/>
              <a:headEnd type="none" w="med" len="med"/>
              <a:tailEnd type="none" w="med" len="med"/>
            </a:ln>
          </p:spPr>
        </p:sp>
        <p:sp>
          <p:nvSpPr>
            <p:cNvPr id="15417" name="Line 54"/>
            <p:cNvSpPr/>
            <p:nvPr/>
          </p:nvSpPr>
          <p:spPr>
            <a:xfrm flipH="1">
              <a:off x="4044" y="13175"/>
              <a:ext cx="476" cy="1"/>
            </a:xfrm>
            <a:prstGeom prst="line">
              <a:avLst/>
            </a:prstGeom>
            <a:ln w="9525" cap="flat" cmpd="sng">
              <a:solidFill>
                <a:srgbClr val="000000"/>
              </a:solidFill>
              <a:prstDash val="solid"/>
              <a:headEnd type="none" w="med" len="med"/>
              <a:tailEnd type="none" w="med" len="med"/>
            </a:ln>
          </p:spPr>
        </p:sp>
        <p:sp>
          <p:nvSpPr>
            <p:cNvPr id="15418" name="Line 55"/>
            <p:cNvSpPr/>
            <p:nvPr/>
          </p:nvSpPr>
          <p:spPr>
            <a:xfrm flipV="1">
              <a:off x="4053" y="11242"/>
              <a:ext cx="0" cy="1933"/>
            </a:xfrm>
            <a:prstGeom prst="line">
              <a:avLst/>
            </a:prstGeom>
            <a:ln w="9525" cap="flat" cmpd="sng">
              <a:solidFill>
                <a:srgbClr val="000000"/>
              </a:solidFill>
              <a:prstDash val="solid"/>
              <a:headEnd type="none" w="med" len="med"/>
              <a:tailEnd type="none" w="med" len="med"/>
            </a:ln>
          </p:spPr>
        </p:sp>
        <p:sp>
          <p:nvSpPr>
            <p:cNvPr id="15419" name="Oval 56"/>
            <p:cNvSpPr/>
            <p:nvPr/>
          </p:nvSpPr>
          <p:spPr>
            <a:xfrm>
              <a:off x="4033" y="11218"/>
              <a:ext cx="43" cy="39"/>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5420" name="Oval 57"/>
            <p:cNvSpPr/>
            <p:nvPr/>
          </p:nvSpPr>
          <p:spPr>
            <a:xfrm>
              <a:off x="3729" y="11104"/>
              <a:ext cx="42" cy="39"/>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5421" name="Oval 58"/>
            <p:cNvSpPr/>
            <p:nvPr/>
          </p:nvSpPr>
          <p:spPr>
            <a:xfrm>
              <a:off x="3332" y="11222"/>
              <a:ext cx="42" cy="39"/>
            </a:xfrm>
            <a:prstGeom prst="ellipse">
              <a:avLst/>
            </a:prstGeom>
            <a:solidFill>
              <a:srgbClr val="000000"/>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5422" name="Rectangle 59"/>
            <p:cNvSpPr/>
            <p:nvPr/>
          </p:nvSpPr>
          <p:spPr>
            <a:xfrm>
              <a:off x="3580" y="11474"/>
              <a:ext cx="338" cy="187"/>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lstStyle/>
            <a:p>
              <a:pPr algn="ctr"/>
              <a:r>
                <a:rPr lang="en-US" altLang="zh-CN" sz="1400" dirty="0">
                  <a:latin typeface="Times New Roman" panose="02020603050405020304" pitchFamily="18" charset="0"/>
                </a:rPr>
                <a:t>1</a:t>
              </a:r>
              <a:endParaRPr lang="en-US" altLang="zh-CN" sz="4000" dirty="0">
                <a:latin typeface="Times New Roman" panose="02020603050405020304" pitchFamily="18" charset="0"/>
              </a:endParaRPr>
            </a:p>
          </p:txBody>
        </p:sp>
        <p:sp>
          <p:nvSpPr>
            <p:cNvPr id="15423" name="Line 60"/>
            <p:cNvSpPr/>
            <p:nvPr/>
          </p:nvSpPr>
          <p:spPr>
            <a:xfrm flipV="1">
              <a:off x="3750" y="11116"/>
              <a:ext cx="1" cy="357"/>
            </a:xfrm>
            <a:prstGeom prst="line">
              <a:avLst/>
            </a:prstGeom>
            <a:ln w="9525" cap="flat" cmpd="sng">
              <a:solidFill>
                <a:srgbClr val="000000"/>
              </a:solidFill>
              <a:prstDash val="solid"/>
              <a:headEnd type="none" w="med" len="med"/>
              <a:tailEnd type="none" w="med" len="med"/>
            </a:ln>
          </p:spPr>
        </p:sp>
        <p:sp>
          <p:nvSpPr>
            <p:cNvPr id="15424" name="Line 61"/>
            <p:cNvSpPr/>
            <p:nvPr/>
          </p:nvSpPr>
          <p:spPr>
            <a:xfrm flipH="1" flipV="1">
              <a:off x="3350" y="11250"/>
              <a:ext cx="0" cy="234"/>
            </a:xfrm>
            <a:prstGeom prst="line">
              <a:avLst/>
            </a:prstGeom>
            <a:ln w="9525" cap="flat" cmpd="sng">
              <a:solidFill>
                <a:srgbClr val="000000"/>
              </a:solidFill>
              <a:prstDash val="solid"/>
              <a:headEnd type="none" w="med" len="med"/>
              <a:tailEnd type="none" w="med" len="med"/>
            </a:ln>
          </p:spPr>
        </p:sp>
        <p:sp>
          <p:nvSpPr>
            <p:cNvPr id="15425" name="Oval 62"/>
            <p:cNvSpPr/>
            <p:nvPr/>
          </p:nvSpPr>
          <p:spPr>
            <a:xfrm>
              <a:off x="3726" y="11663"/>
              <a:ext cx="50" cy="5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5426" name="Line 63"/>
            <p:cNvSpPr/>
            <p:nvPr/>
          </p:nvSpPr>
          <p:spPr>
            <a:xfrm>
              <a:off x="3751" y="11717"/>
              <a:ext cx="0" cy="1553"/>
            </a:xfrm>
            <a:prstGeom prst="line">
              <a:avLst/>
            </a:prstGeom>
            <a:ln w="9525" cap="flat" cmpd="sng">
              <a:solidFill>
                <a:srgbClr val="000000"/>
              </a:solidFill>
              <a:prstDash val="solid"/>
              <a:headEnd type="none" w="med" len="med"/>
              <a:tailEnd type="none" w="med" len="med"/>
            </a:ln>
          </p:spPr>
        </p:sp>
        <p:sp>
          <p:nvSpPr>
            <p:cNvPr id="15427" name="Line 64"/>
            <p:cNvSpPr/>
            <p:nvPr/>
          </p:nvSpPr>
          <p:spPr>
            <a:xfrm>
              <a:off x="3348" y="11728"/>
              <a:ext cx="0" cy="1658"/>
            </a:xfrm>
            <a:prstGeom prst="line">
              <a:avLst/>
            </a:prstGeom>
            <a:ln w="9525" cap="flat" cmpd="sng">
              <a:solidFill>
                <a:srgbClr val="000000"/>
              </a:solidFill>
              <a:prstDash val="solid"/>
              <a:headEnd type="none" w="med" len="med"/>
              <a:tailEnd type="none" w="med" len="med"/>
            </a:ln>
          </p:spPr>
        </p:sp>
        <p:sp>
          <p:nvSpPr>
            <p:cNvPr id="15428" name="Freeform 65"/>
            <p:cNvSpPr/>
            <p:nvPr/>
          </p:nvSpPr>
          <p:spPr>
            <a:xfrm>
              <a:off x="7310" y="12761"/>
              <a:ext cx="155" cy="114"/>
            </a:xfrm>
            <a:custGeom>
              <a:avLst/>
              <a:gdLst>
                <a:gd name="txL" fmla="*/ 0 w 180"/>
                <a:gd name="txT" fmla="*/ 0 h 139"/>
                <a:gd name="txR" fmla="*/ 180 w 180"/>
                <a:gd name="txB" fmla="*/ 139 h 139"/>
              </a:gdLst>
              <a:ahLst/>
              <a:cxnLst>
                <a:cxn ang="0">
                  <a:pos x="0" y="93"/>
                </a:cxn>
                <a:cxn ang="0">
                  <a:pos x="56" y="0"/>
                </a:cxn>
                <a:cxn ang="0">
                  <a:pos x="133" y="93"/>
                </a:cxn>
              </a:cxnLst>
              <a:rect l="txL" t="txT" r="txR" b="txB"/>
              <a:pathLst>
                <a:path w="180" h="139">
                  <a:moveTo>
                    <a:pt x="0" y="138"/>
                  </a:moveTo>
                  <a:lnTo>
                    <a:pt x="75" y="0"/>
                  </a:lnTo>
                  <a:lnTo>
                    <a:pt x="180" y="139"/>
                  </a:lnTo>
                </a:path>
              </a:pathLst>
            </a:custGeom>
            <a:noFill/>
            <a:ln w="9525" cap="flat" cmpd="sng">
              <a:solidFill>
                <a:srgbClr val="000000">
                  <a:alpha val="100000"/>
                </a:srgbClr>
              </a:solidFill>
              <a:prstDash val="solid"/>
              <a:round/>
              <a:headEnd type="none" w="med" len="med"/>
              <a:tailEnd type="none" w="med" len="med"/>
            </a:ln>
          </p:spPr>
          <p:txBody>
            <a:bodyPr/>
            <a:lstStyle/>
            <a:p>
              <a:endParaRPr lang="zh-CN" altLang="en-US" sz="2800"/>
            </a:p>
          </p:txBody>
        </p:sp>
        <p:sp>
          <p:nvSpPr>
            <p:cNvPr id="15429" name="Oval 66"/>
            <p:cNvSpPr/>
            <p:nvPr/>
          </p:nvSpPr>
          <p:spPr>
            <a:xfrm>
              <a:off x="7346" y="12870"/>
              <a:ext cx="74" cy="8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5430" name="Rectangle 67"/>
            <p:cNvSpPr/>
            <p:nvPr/>
          </p:nvSpPr>
          <p:spPr>
            <a:xfrm>
              <a:off x="3180" y="11480"/>
              <a:ext cx="338" cy="187"/>
            </a:xfrm>
            <a:prstGeom prst="rect">
              <a:avLst/>
            </a:prstGeom>
            <a:solidFill>
              <a:srgbClr val="CCFFCC"/>
            </a:solidFill>
            <a:ln w="9525" cap="flat" cmpd="sng">
              <a:solidFill>
                <a:srgbClr val="0000FF"/>
              </a:solidFill>
              <a:prstDash val="solid"/>
              <a:miter/>
              <a:headEnd type="none" w="med" len="med"/>
              <a:tailEnd type="none" w="med" len="med"/>
            </a:ln>
          </p:spPr>
          <p:txBody>
            <a:bodyPr lIns="0" tIns="0" rIns="0" bIns="0"/>
            <a:lstStyle/>
            <a:p>
              <a:pPr algn="ctr"/>
              <a:r>
                <a:rPr lang="en-US" altLang="zh-CN" sz="1400" dirty="0">
                  <a:latin typeface="Times New Roman" panose="02020603050405020304" pitchFamily="18" charset="0"/>
                </a:rPr>
                <a:t>1</a:t>
              </a:r>
              <a:endParaRPr lang="en-US" altLang="zh-CN" sz="4000" dirty="0">
                <a:latin typeface="Times New Roman" panose="02020603050405020304" pitchFamily="18" charset="0"/>
              </a:endParaRPr>
            </a:p>
          </p:txBody>
        </p:sp>
        <p:sp>
          <p:nvSpPr>
            <p:cNvPr id="15431" name="Oval 68"/>
            <p:cNvSpPr/>
            <p:nvPr/>
          </p:nvSpPr>
          <p:spPr>
            <a:xfrm>
              <a:off x="3326" y="11669"/>
              <a:ext cx="50" cy="5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5432" name="Oval 69"/>
            <p:cNvSpPr/>
            <p:nvPr/>
          </p:nvSpPr>
          <p:spPr>
            <a:xfrm>
              <a:off x="7666" y="12039"/>
              <a:ext cx="74" cy="8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sp>
          <p:nvSpPr>
            <p:cNvPr id="15433" name="Oval 70"/>
            <p:cNvSpPr/>
            <p:nvPr/>
          </p:nvSpPr>
          <p:spPr>
            <a:xfrm>
              <a:off x="5274" y="12063"/>
              <a:ext cx="74" cy="8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2800" dirty="0">
                <a:latin typeface="Times New Roman" panose="02020603050405020304" pitchFamily="18" charset="0"/>
              </a:endParaRPr>
            </a:p>
          </p:txBody>
        </p:sp>
      </p:grpSp>
      <p:graphicFrame>
        <p:nvGraphicFramePr>
          <p:cNvPr id="15362" name="Object 71"/>
          <p:cNvGraphicFramePr>
            <a:graphicFrameLocks noChangeAspect="1"/>
          </p:cNvGraphicFramePr>
          <p:nvPr/>
        </p:nvGraphicFramePr>
        <p:xfrm>
          <a:off x="990600" y="1524000"/>
          <a:ext cx="2205038" cy="1141413"/>
        </p:xfrm>
        <a:graphic>
          <a:graphicData uri="http://schemas.openxmlformats.org/presentationml/2006/ole">
            <mc:AlternateContent xmlns:mc="http://schemas.openxmlformats.org/markup-compatibility/2006">
              <mc:Choice xmlns:v="urn:schemas-microsoft-com:vml" Requires="v">
                <p:oleObj r:id="rId2" imgW="812165" imgH="419100" progId="Equation.3">
                  <p:embed/>
                </p:oleObj>
              </mc:Choice>
              <mc:Fallback>
                <p:oleObj r:id="rId2" imgW="812165" imgH="419100" progId="Equation.3">
                  <p:embed/>
                  <p:pic>
                    <p:nvPicPr>
                      <p:cNvPr id="0" name="图片 3127"/>
                      <p:cNvPicPr/>
                      <p:nvPr/>
                    </p:nvPicPr>
                    <p:blipFill>
                      <a:blip r:embed="rId3"/>
                      <a:stretch>
                        <a:fillRect/>
                      </a:stretch>
                    </p:blipFill>
                    <p:spPr>
                      <a:xfrm>
                        <a:off x="990600" y="1524000"/>
                        <a:ext cx="2205038" cy="1141413"/>
                      </a:xfrm>
                      <a:prstGeom prst="rect">
                        <a:avLst/>
                      </a:prstGeom>
                      <a:noFill/>
                      <a:ln w="38100">
                        <a:noFill/>
                        <a:miter/>
                      </a:ln>
                    </p:spPr>
                  </p:pic>
                </p:oleObj>
              </mc:Fallback>
            </mc:AlternateContent>
          </a:graphicData>
        </a:graphic>
      </p:graphicFrame>
      <p:graphicFrame>
        <p:nvGraphicFramePr>
          <p:cNvPr id="15363" name="Object 72"/>
          <p:cNvGraphicFramePr>
            <a:graphicFrameLocks noChangeAspect="1"/>
          </p:cNvGraphicFramePr>
          <p:nvPr/>
        </p:nvGraphicFramePr>
        <p:xfrm>
          <a:off x="4027488" y="1555750"/>
          <a:ext cx="2081212" cy="1077913"/>
        </p:xfrm>
        <a:graphic>
          <a:graphicData uri="http://schemas.openxmlformats.org/presentationml/2006/ole">
            <mc:AlternateContent xmlns:mc="http://schemas.openxmlformats.org/markup-compatibility/2006">
              <mc:Choice xmlns:v="urn:schemas-microsoft-com:vml" Requires="v">
                <p:oleObj r:id="rId4" imgW="812165" imgH="419100" progId="Equation.3">
                  <p:embed/>
                </p:oleObj>
              </mc:Choice>
              <mc:Fallback>
                <p:oleObj r:id="rId4" imgW="812165" imgH="419100" progId="Equation.3">
                  <p:embed/>
                  <p:pic>
                    <p:nvPicPr>
                      <p:cNvPr id="0" name="图片 3129"/>
                      <p:cNvPicPr/>
                      <p:nvPr/>
                    </p:nvPicPr>
                    <p:blipFill>
                      <a:blip r:embed="rId5"/>
                      <a:stretch>
                        <a:fillRect/>
                      </a:stretch>
                    </p:blipFill>
                    <p:spPr>
                      <a:xfrm>
                        <a:off x="4027488" y="1555750"/>
                        <a:ext cx="2081212" cy="1077913"/>
                      </a:xfrm>
                      <a:prstGeom prst="rect">
                        <a:avLst/>
                      </a:prstGeom>
                      <a:noFill/>
                      <a:ln w="38100">
                        <a:noFill/>
                        <a:miter/>
                      </a:ln>
                    </p:spPr>
                  </p:pic>
                </p:oleObj>
              </mc:Fallback>
            </mc:AlternateContent>
          </a:graphicData>
        </a:graphic>
      </p:graphicFrame>
      <p:graphicFrame>
        <p:nvGraphicFramePr>
          <p:cNvPr id="15364" name="Object 73"/>
          <p:cNvGraphicFramePr>
            <a:graphicFrameLocks noChangeAspect="1"/>
          </p:cNvGraphicFramePr>
          <p:nvPr/>
        </p:nvGraphicFramePr>
        <p:xfrm>
          <a:off x="1219200" y="2895600"/>
          <a:ext cx="3600450" cy="514350"/>
        </p:xfrm>
        <a:graphic>
          <a:graphicData uri="http://schemas.openxmlformats.org/presentationml/2006/ole">
            <mc:AlternateContent xmlns:mc="http://schemas.openxmlformats.org/markup-compatibility/2006">
              <mc:Choice xmlns:v="urn:schemas-microsoft-com:vml" Requires="v">
                <p:oleObj r:id="rId6" imgW="1269365" imgH="190500" progId="Equation.3">
                  <p:embed/>
                </p:oleObj>
              </mc:Choice>
              <mc:Fallback>
                <p:oleObj r:id="rId6" imgW="1269365" imgH="190500" progId="Equation.3">
                  <p:embed/>
                  <p:pic>
                    <p:nvPicPr>
                      <p:cNvPr id="0" name="图片 3128"/>
                      <p:cNvPicPr/>
                      <p:nvPr/>
                    </p:nvPicPr>
                    <p:blipFill>
                      <a:blip r:embed="rId7"/>
                      <a:stretch>
                        <a:fillRect/>
                      </a:stretch>
                    </p:blipFill>
                    <p:spPr>
                      <a:xfrm>
                        <a:off x="1219200" y="2895600"/>
                        <a:ext cx="3600450" cy="514350"/>
                      </a:xfrm>
                      <a:prstGeom prst="rect">
                        <a:avLst/>
                      </a:prstGeom>
                      <a:noFill/>
                      <a:ln w="38100">
                        <a:noFill/>
                        <a:miter/>
                      </a:ln>
                    </p:spPr>
                  </p:pic>
                </p:oleObj>
              </mc:Fallback>
            </mc:AlternateContent>
          </a:graphicData>
        </a:graphic>
      </p:graphicFrame>
    </p:spTree>
  </p:cSld>
  <p:clrMapOvr>
    <a:masterClrMapping/>
  </p:clrMapOvr>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450850" y="720725"/>
            <a:ext cx="2019300" cy="645160"/>
          </a:xfrm>
          <a:prstGeom prst="rect">
            <a:avLst/>
          </a:prstGeom>
          <a:noFill/>
          <a:ln w="9525">
            <a:noFill/>
            <a:miter lim="800000"/>
          </a:ln>
          <a:effectLst/>
        </p:spPr>
        <p:txBody>
          <a:bodyPr wrap="none">
            <a:spAutoFit/>
          </a:bodyPr>
          <a:lstStyle/>
          <a:p>
            <a:pPr marR="0" defTabSz="914400" fontAlgn="base">
              <a:buClrTx/>
              <a:buSzTx/>
              <a:buFontTx/>
              <a:buNone/>
              <a:defRPr/>
            </a:pPr>
            <a:r>
              <a:rPr kumimoji="1" lang="zh-CN" altLang="en-US" sz="3600" b="1" kern="1200" cap="none" spc="0" normalizeH="0" baseline="0" noProof="0" dirty="0">
                <a:solidFill>
                  <a:srgbClr val="FF33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本章小结</a:t>
            </a:r>
          </a:p>
        </p:txBody>
      </p:sp>
      <p:sp>
        <p:nvSpPr>
          <p:cNvPr id="3" name="文本框 2"/>
          <p:cNvSpPr txBox="1"/>
          <p:nvPr/>
        </p:nvSpPr>
        <p:spPr>
          <a:xfrm>
            <a:off x="1049020" y="1477010"/>
            <a:ext cx="7247255" cy="2695575"/>
          </a:xfrm>
          <a:prstGeom prst="rect">
            <a:avLst/>
          </a:prstGeom>
        </p:spPr>
        <p:txBody>
          <a:bodyPr>
            <a:noAutofit/>
          </a:bodyPr>
          <a:lstStyle/>
          <a:p>
            <a:pPr marL="0" indent="266700" algn="just" defTabSz="266700">
              <a:spcBef>
                <a:spcPct val="0"/>
              </a:spcBef>
              <a:spcAft>
                <a:spcPct val="0"/>
              </a:spcAft>
            </a:pPr>
            <a:r>
              <a:rPr lang="en-US" altLang="zh-CN" sz="2800">
                <a:latin typeface="宋体" panose="02010600030101010101" pitchFamily="2" charset="-122"/>
                <a:ea typeface="宋体" panose="02010600030101010101" pitchFamily="2" charset="-122"/>
              </a:rPr>
              <a:t>   </a:t>
            </a:r>
            <a:r>
              <a:rPr lang="zh-CN" altLang="en-US" sz="2800">
                <a:latin typeface="宋体" panose="02010600030101010101" pitchFamily="2" charset="-122"/>
                <a:ea typeface="宋体" panose="02010600030101010101" pitchFamily="2" charset="-122"/>
              </a:rPr>
              <a:t>本章在介绍时序电路的特点和表示方法的基础上，重点介绍同步时序电路的分析和设计方法，特别是对同步时序逻辑电路设计过程中的原始状态图和原始状态表的建立方法、完全给定状态表和不完全给定状态表的化简方法、状态分配进行了详细的介绍。并对典型的时序电路如数码寄存器、移位寄存器、二进制计数器、十进制计数器进行了分析和介绍，并给出了典型的同步时序逻辑电路设计举例。</a:t>
            </a:r>
          </a:p>
        </p:txBody>
      </p:sp>
    </p:spTree>
  </p:cSld>
  <p:clrMapOvr>
    <a:masterClrMapping/>
  </p:clrMapOvr>
  <p:transition spd="med">
    <p:zoom/>
  </p:transition>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153.75000000000006,&quot;left&quot;:98,&quot;top&quot;:364.62503937007875,&quot;width&quot;:573.12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153.75000000000006,&quot;left&quot;:98,&quot;top&quot;:364.62503937007875,&quot;width&quot;:573.12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153.75000000000006,&quot;left&quot;:98,&quot;top&quot;:364.62503937007875,&quot;width&quot;:573.12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153.75000000000006,&quot;left&quot;:98,&quot;top&quot;:364.62503937007875,&quot;width&quot;:573.12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153.75000000000006,&quot;left&quot;:98,&quot;top&quot;:364.62503937007875,&quot;width&quot;:573.12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153.77496062992128,&quot;left&quot;:98,&quot;top&quot;:364.62503937007875,&quot;width&quot;:573.12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153.77496062992128,&quot;left&quot;:98,&quot;top&quot;:364.62503937007875,&quot;width&quot;:573.12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153.77496062992128,&quot;left&quot;:98,&quot;top&quot;:364.62503937007875,&quot;width&quot;:573.12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153.77496062992128,&quot;left&quot;:98,&quot;top&quot;:364.62503937007875,&quot;width&quot;:573.12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153.77496062992128,&quot;left&quot;:98,&quot;top&quot;:364.62503937007875,&quot;width&quot;:573.12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153.77496062992128,&quot;left&quot;:98,&quot;top&quot;:364.62503937007875,&quot;width&quot;:573.12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153.77496062992128,&quot;left&quot;:98,&quot;top&quot;:364.62503937007875,&quot;width&quot;:573.12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153.77496062992128,&quot;left&quot;:98,&quot;top&quot;:364.62503937007875,&quot;width&quot;:573.12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153.77496062992128,&quot;left&quot;:98,&quot;top&quot;:364.62503937007875,&quot;width&quot;:573.12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153.77496062992128,&quot;left&quot;:98,&quot;top&quot;:364.62503937007875,&quot;width&quot;:573.12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153.77496062992128,&quot;left&quot;:98,&quot;top&quot;:364.62503937007875,&quot;width&quot;:573.12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153.77496062992128,&quot;left&quot;:98,&quot;top&quot;:364.62503937007875,&quot;width&quot;:573.12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153.77496062992128,&quot;left&quot;:98,&quot;top&quot;:364.62503937007875,&quot;width&quot;:573.12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153.77496062992128,&quot;left&quot;:98,&quot;top&quot;:364.62503937007875,&quot;width&quot;:573.12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1">
          <a:blip xmlns:r="http://schemas.openxmlformats.org/officeDocument/2006/relationships" r:embed="rId1"/>
          <a:srcRect/>
          <a:tile tx="0" ty="0" sx="100000" sy="100000" flip="none" algn="tl"/>
        </a:blipFill>
        <a:ln w="38100" cap="flat" cmpd="sng" algn="ctr">
          <a:noFill/>
          <a:prstDash val="solid"/>
          <a:round/>
          <a:headEnd type="none" w="med" len="med"/>
          <a:tailEnd type="none" w="sm" len="lg"/>
        </a:ln>
      </a:spPr>
      <a:bodyPr vert="horz" wrap="none" lIns="90000" tIns="46800" rIns="90000" bIns="46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blipFill dpi="0" rotWithShape="1">
          <a:blip xmlns:r="http://schemas.openxmlformats.org/officeDocument/2006/relationships" r:embed="rId1"/>
          <a:srcRect/>
          <a:tile tx="0" ty="0" sx="100000" sy="100000" flip="none" algn="tl"/>
        </a:blipFill>
        <a:ln w="38100" cap="flat" cmpd="sng" algn="ctr">
          <a:noFill/>
          <a:prstDash val="solid"/>
          <a:round/>
          <a:headEnd type="none" w="med" len="med"/>
          <a:tailEnd type="none" w="sm" len="lg"/>
        </a:ln>
      </a:spPr>
      <a:bodyPr vert="horz" wrap="none" lIns="90000" tIns="46800" rIns="90000" bIns="46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1">
          <a:blip xmlns:r="http://schemas.openxmlformats.org/officeDocument/2006/relationships" r:embed="rId1"/>
          <a:srcRect/>
          <a:tile tx="0" ty="0" sx="100000" sy="100000" flip="none" algn="tl"/>
        </a:blipFill>
        <a:ln w="38100" cap="flat" cmpd="sng" algn="ctr">
          <a:noFill/>
          <a:prstDash val="solid"/>
          <a:round/>
          <a:headEnd type="none" w="med" len="med"/>
          <a:tailEnd type="none" w="sm" len="lg"/>
        </a:ln>
      </a:spPr>
      <a:bodyPr vert="horz" wrap="none" lIns="90000" tIns="46800" rIns="90000" bIns="46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blipFill dpi="0" rotWithShape="1">
          <a:blip xmlns:r="http://schemas.openxmlformats.org/officeDocument/2006/relationships" r:embed="rId1"/>
          <a:srcRect/>
          <a:tile tx="0" ty="0" sx="100000" sy="100000" flip="none" algn="tl"/>
        </a:blipFill>
        <a:ln w="38100" cap="flat" cmpd="sng" algn="ctr">
          <a:noFill/>
          <a:prstDash val="solid"/>
          <a:round/>
          <a:headEnd type="none" w="med" len="med"/>
          <a:tailEnd type="none" w="sm" len="lg"/>
        </a:ln>
      </a:spPr>
      <a:bodyPr vert="horz" wrap="none" lIns="90000" tIns="46800" rIns="90000" bIns="46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15335</Words>
  <Application>Microsoft Office PowerPoint</Application>
  <PresentationFormat>全屏显示(4:3)</PresentationFormat>
  <Paragraphs>4792</Paragraphs>
  <Slides>197</Slides>
  <Notes>1</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3</vt:i4>
      </vt:variant>
      <vt:variant>
        <vt:lpstr>幻灯片标题</vt:lpstr>
      </vt:variant>
      <vt:variant>
        <vt:i4>197</vt:i4>
      </vt:variant>
    </vt:vector>
  </HeadingPairs>
  <TitlesOfParts>
    <vt:vector size="213" baseType="lpstr">
      <vt:lpstr>仿宋_GB2312</vt:lpstr>
      <vt:lpstr>华文楷体</vt:lpstr>
      <vt:lpstr>华文新魏</vt:lpstr>
      <vt:lpstr>楷体_GB2312</vt:lpstr>
      <vt:lpstr>宋体</vt:lpstr>
      <vt:lpstr>Arial</vt:lpstr>
      <vt:lpstr>Arial Black</vt:lpstr>
      <vt:lpstr>Calibri</vt:lpstr>
      <vt:lpstr>Courier New</vt:lpstr>
      <vt:lpstr>Times New Roman</vt:lpstr>
      <vt:lpstr>Wingdings</vt:lpstr>
      <vt:lpstr>Pixel</vt:lpstr>
      <vt:lpstr>1_Pixel</vt:lpstr>
      <vt:lpstr>Visio.Drawing.4</vt:lpstr>
      <vt:lpstr>Equation.3</vt:lpstr>
      <vt:lpstr>Visio.Drawing.11</vt:lpstr>
      <vt:lpstr>PowerPoint 演示文稿</vt:lpstr>
      <vt:lpstr>PowerPoint 演示文稿</vt:lpstr>
      <vt:lpstr>PowerPoint 演示文稿</vt:lpstr>
      <vt:lpstr>PowerPoint 演示文稿</vt:lpstr>
      <vt:lpstr>2.时序逻辑电路的分类: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vt:lpstr>
      <vt:lpstr>PowerPoint 演示文稿</vt:lpstr>
      <vt:lpstr>PowerPoint 演示文稿</vt:lpstr>
      <vt:lpstr>PowerPoint 演示文稿</vt:lpstr>
      <vt:lpstr>PowerPoint 演示文稿</vt:lpstr>
      <vt:lpstr>PowerPoint 演示文稿</vt:lpstr>
      <vt:lpst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教师</dc:creator>
  <cp:lastModifiedBy>chuanbo Gao</cp:lastModifiedBy>
  <cp:revision>370</cp:revision>
  <cp:lastPrinted>1999-10-15T03:06:00Z</cp:lastPrinted>
  <dcterms:created xsi:type="dcterms:W3CDTF">1999-10-11T00:54:00Z</dcterms:created>
  <dcterms:modified xsi:type="dcterms:W3CDTF">2026-05-25T01:26:51Z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8A2AE04DAE924E56B6B7AED123610D9E_13</vt:lpwstr>
  </property>
  <property fmtid="{D5CDD505-2E9C-101B-9397-08002B2CF9AE}" pid="3" name="KSOProductBuildVer">
    <vt:lpwstr>2052-12.8.2.18205</vt:lpwstr>
  </property>
</Properties>
</file>