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wmf" ContentType="image/x-w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handoutMasterIdLst>
    <p:handoutMasterId r:id="rId32"/>
  </p:handoutMasterIdLst>
  <p:sldIdLst>
    <p:sldId id="410" r:id="rId3"/>
    <p:sldId id="257" r:id="rId4"/>
    <p:sldId id="389" r:id="rId5"/>
    <p:sldId id="391" r:id="rId6"/>
    <p:sldId id="304" r:id="rId7"/>
    <p:sldId id="392" r:id="rId8"/>
    <p:sldId id="325" r:id="rId9"/>
    <p:sldId id="326" r:id="rId10"/>
    <p:sldId id="399" r:id="rId11"/>
    <p:sldId id="329" r:id="rId12"/>
    <p:sldId id="417" r:id="rId13"/>
    <p:sldId id="436" r:id="rId14"/>
    <p:sldId id="419" r:id="rId15"/>
    <p:sldId id="420" r:id="rId16"/>
    <p:sldId id="421" r:id="rId17"/>
    <p:sldId id="451" r:id="rId18"/>
    <p:sldId id="453" r:id="rId19"/>
    <p:sldId id="454" r:id="rId20"/>
    <p:sldId id="455" r:id="rId21"/>
    <p:sldId id="411" r:id="rId22"/>
    <p:sldId id="412" r:id="rId23"/>
    <p:sldId id="413" r:id="rId24"/>
    <p:sldId id="414" r:id="rId25"/>
    <p:sldId id="415" r:id="rId26"/>
    <p:sldId id="416" r:id="rId27"/>
    <p:sldId id="456" r:id="rId28"/>
    <p:sldId id="457" r:id="rId29"/>
    <p:sldId id="460" r:id="rId30"/>
    <p:sldId id="459" r:id="rId31"/>
  </p:sldIdLst>
  <p:sldSz cx="9144000" cy="6858000" type="screen4x3"/>
  <p:notesSz cx="6663055" cy="9872980"/>
  <p:custDataLst>
    <p:tags r:id="rId36"/>
  </p:custDataLst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0" userDrawn="1">
          <p15:clr>
            <a:srgbClr val="A4A3A4"/>
          </p15:clr>
        </p15:guide>
        <p15:guide id="2" pos="568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EF"/>
    <a:srgbClr val="339933"/>
    <a:srgbClr val="FF3300"/>
    <a:srgbClr val="3333FF"/>
    <a:srgbClr val="E1FDFF"/>
    <a:srgbClr val="FF00FF"/>
    <a:srgbClr val="CC3300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975"/>
    <p:restoredTop sz="94660"/>
  </p:normalViewPr>
  <p:slideViewPr>
    <p:cSldViewPr snapToGrid="0" showGuides="1">
      <p:cViewPr varScale="1">
        <p:scale>
          <a:sx n="108" d="100"/>
          <a:sy n="108" d="100"/>
        </p:scale>
        <p:origin x="1686" y="102"/>
      </p:cViewPr>
      <p:guideLst>
        <p:guide orient="horz"/>
        <p:guide pos="5687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6" Type="http://schemas.openxmlformats.org/officeDocument/2006/relationships/tags" Target="tags/tag1.xml"/><Relationship Id="rId35" Type="http://schemas.openxmlformats.org/officeDocument/2006/relationships/tableStyles" Target="tableStyles.xml"/><Relationship Id="rId34" Type="http://schemas.openxmlformats.org/officeDocument/2006/relationships/viewProps" Target="viewProps.xml"/><Relationship Id="rId33" Type="http://schemas.openxmlformats.org/officeDocument/2006/relationships/presProps" Target="presProps.xml"/><Relationship Id="rId32" Type="http://schemas.openxmlformats.org/officeDocument/2006/relationships/handoutMaster" Target="handoutMasters/handoutMaster1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6.wmf"/><Relationship Id="rId1" Type="http://schemas.openxmlformats.org/officeDocument/2006/relationships/image" Target="../media/image5.wmf"/></Relationships>
</file>

<file path=ppt/drawings/_rels/vmlDrawing3.vml.rels><?xml version="1.0" encoding="UTF-8" standalone="yes"?>
<Relationships xmlns="http://schemas.openxmlformats.org/package/2006/relationships"><Relationship Id="rId7" Type="http://schemas.openxmlformats.org/officeDocument/2006/relationships/image" Target="../media/image13.wmf"/><Relationship Id="rId6" Type="http://schemas.openxmlformats.org/officeDocument/2006/relationships/image" Target="../media/image12.wmf"/><Relationship Id="rId5" Type="http://schemas.openxmlformats.org/officeDocument/2006/relationships/image" Target="../media/image11.wmf"/><Relationship Id="rId4" Type="http://schemas.openxmlformats.org/officeDocument/2006/relationships/image" Target="../media/image10.wmf"/><Relationship Id="rId3" Type="http://schemas.openxmlformats.org/officeDocument/2006/relationships/image" Target="../media/image9.wmf"/><Relationship Id="rId2" Type="http://schemas.openxmlformats.org/officeDocument/2006/relationships/image" Target="../media/image8.wmf"/><Relationship Id="rId1" Type="http://schemas.openxmlformats.org/officeDocument/2006/relationships/image" Target="../media/image7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16.wmf"/><Relationship Id="rId1" Type="http://schemas.openxmlformats.org/officeDocument/2006/relationships/image" Target="../media/image15.wmf"/></Relationships>
</file>

<file path=ppt/drawings/_rels/vmlDrawing6.vml.rels><?xml version="1.0" encoding="UTF-8" standalone="yes"?>
<Relationships xmlns="http://schemas.openxmlformats.org/package/2006/relationships"><Relationship Id="rId5" Type="http://schemas.openxmlformats.org/officeDocument/2006/relationships/image" Target="../media/image21.wmf"/><Relationship Id="rId4" Type="http://schemas.openxmlformats.org/officeDocument/2006/relationships/image" Target="../media/image20.wmf"/><Relationship Id="rId3" Type="http://schemas.openxmlformats.org/officeDocument/2006/relationships/image" Target="../media/image19.wmf"/><Relationship Id="rId2" Type="http://schemas.openxmlformats.org/officeDocument/2006/relationships/image" Target="../media/image18.wmf"/><Relationship Id="rId1" Type="http://schemas.openxmlformats.org/officeDocument/2006/relationships/image" Target="../media/image17.wmf"/></Relationships>
</file>

<file path=ppt/drawings/_rels/vmlDrawing7.vml.rels><?xml version="1.0" encoding="UTF-8" standalone="yes"?>
<Relationships xmlns="http://schemas.openxmlformats.org/package/2006/relationships"><Relationship Id="rId6" Type="http://schemas.openxmlformats.org/officeDocument/2006/relationships/image" Target="../media/image17.wmf"/><Relationship Id="rId5" Type="http://schemas.openxmlformats.org/officeDocument/2006/relationships/image" Target="../media/image25.wmf"/><Relationship Id="rId4" Type="http://schemas.openxmlformats.org/officeDocument/2006/relationships/image" Target="../media/image18.wmf"/><Relationship Id="rId3" Type="http://schemas.openxmlformats.org/officeDocument/2006/relationships/image" Target="../media/image24.wmf"/><Relationship Id="rId2" Type="http://schemas.openxmlformats.org/officeDocument/2006/relationships/image" Target="../media/image23.wmf"/><Relationship Id="rId1" Type="http://schemas.openxmlformats.org/officeDocument/2006/relationships/image" Target="../media/image22.wmf"/></Relationships>
</file>

<file path=ppt/drawings/_rels/vmlDrawing8.vml.rels><?xml version="1.0" encoding="UTF-8" standalone="yes"?>
<Relationships xmlns="http://schemas.openxmlformats.org/package/2006/relationships"><Relationship Id="rId6" Type="http://schemas.openxmlformats.org/officeDocument/2006/relationships/image" Target="../media/image31.wmf"/><Relationship Id="rId5" Type="http://schemas.openxmlformats.org/officeDocument/2006/relationships/image" Target="../media/image30.wmf"/><Relationship Id="rId4" Type="http://schemas.openxmlformats.org/officeDocument/2006/relationships/image" Target="../media/image29.wmf"/><Relationship Id="rId3" Type="http://schemas.openxmlformats.org/officeDocument/2006/relationships/image" Target="../media/image28.wmf"/><Relationship Id="rId2" Type="http://schemas.openxmlformats.org/officeDocument/2006/relationships/image" Target="../media/image27.wmf"/><Relationship Id="rId1" Type="http://schemas.openxmlformats.org/officeDocument/2006/relationships/image" Target="../media/image26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99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95600" cy="457200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kumimoji="1" sz="1200" smtClean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10000" y="0"/>
            <a:ext cx="2819400" cy="457200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kumimoji="1" sz="1200" smtClean="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94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372600"/>
            <a:ext cx="2895600" cy="533400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kumimoji="1" sz="1200" smtClean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94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10000" y="9372600"/>
            <a:ext cx="2819400" cy="533400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 noProof="1" dirty="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F9CAC82-4C80-4053-8F85-94C04A13D056}" type="slidenum">
              <a:rPr kumimoji="0" lang="en-US" altLang="zh-CN" sz="1200" b="0" i="0" u="none" strike="noStrike" kern="1200" cap="none" spc="0" normalizeH="0" baseline="0" noProof="1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blipFill rotWithShape="0">
          <a:blip r:embed="rId2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Group 2"/>
          <p:cNvGrpSpPr/>
          <p:nvPr/>
        </p:nvGrpSpPr>
        <p:grpSpPr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2056" name="Rectangle 3"/>
            <p:cNvSpPr/>
            <p:nvPr/>
          </p:nvSpPr>
          <p:spPr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 wrap="none" anchor="ctr" anchorCtr="0"/>
            <a:p>
              <a:pPr lvl="0" algn="ctr" eaLnBrk="1" hangingPunct="1">
                <a:buNone/>
              </a:pPr>
              <a:endParaRPr lang="zh-CN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2057" name="Rectangle 4"/>
            <p:cNvSpPr/>
            <p:nvPr/>
          </p:nvSpPr>
          <p:spPr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 w="9525">
              <a:noFill/>
            </a:ln>
          </p:spPr>
          <p:txBody>
            <a:bodyPr/>
            <a:p>
              <a:pPr lvl="0" eaLnBrk="1" hangingPunct="1">
                <a:buNone/>
              </a:pPr>
              <a:endParaRPr lang="zh-CN" altLang="zh-CN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2058" name="Group 5"/>
            <p:cNvGrpSpPr/>
            <p:nvPr/>
          </p:nvGrpSpPr>
          <p:grpSpPr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2059" name="Rectangle 6"/>
              <p:cNvSpPr/>
              <p:nvPr/>
            </p:nvSpPr>
            <p:spPr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</a:ln>
            </p:spPr>
            <p:txBody>
              <a:bodyPr/>
              <a:p>
                <a:pPr lvl="0" eaLnBrk="1" hangingPunct="1">
                  <a:buNone/>
                </a:pPr>
                <a:endParaRPr lang="zh-CN" altLang="zh-CN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060" name="Rectangle 7"/>
              <p:cNvSpPr/>
              <p:nvPr/>
            </p:nvSpPr>
            <p:spPr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</a:ln>
            </p:spPr>
            <p:txBody>
              <a:bodyPr/>
              <a:p>
                <a:pPr lvl="0" eaLnBrk="1" hangingPunct="1">
                  <a:buNone/>
                </a:pPr>
                <a:endParaRPr lang="zh-CN" altLang="zh-CN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061" name="Rectangle 8"/>
              <p:cNvSpPr/>
              <p:nvPr/>
            </p:nvSpPr>
            <p:spPr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</a:ln>
            </p:spPr>
            <p:txBody>
              <a:bodyPr/>
              <a:p>
                <a:pPr lvl="0" eaLnBrk="1" hangingPunct="1">
                  <a:buNone/>
                </a:pPr>
                <a:endParaRPr lang="zh-CN" altLang="zh-CN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062" name="Rectangle 9"/>
              <p:cNvSpPr/>
              <p:nvPr/>
            </p:nvSpPr>
            <p:spPr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</a:ln>
            </p:spPr>
            <p:txBody>
              <a:bodyPr/>
              <a:p>
                <a:pPr lvl="0" eaLnBrk="1" hangingPunct="1">
                  <a:buNone/>
                </a:pPr>
                <a:endParaRPr lang="zh-CN" altLang="zh-CN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063" name="Rectangle 10"/>
              <p:cNvSpPr/>
              <p:nvPr/>
            </p:nvSpPr>
            <p:spPr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</a:ln>
            </p:spPr>
            <p:txBody>
              <a:bodyPr/>
              <a:p>
                <a:pPr lvl="0" eaLnBrk="1" hangingPunct="1">
                  <a:buNone/>
                </a:pPr>
                <a:endParaRPr lang="zh-CN" altLang="zh-CN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064" name="Rectangle 11"/>
              <p:cNvSpPr/>
              <p:nvPr/>
            </p:nvSpPr>
            <p:spPr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</a:ln>
            </p:spPr>
            <p:txBody>
              <a:bodyPr/>
              <a:p>
                <a:pPr lvl="0" eaLnBrk="1" hangingPunct="1">
                  <a:buNone/>
                </a:pPr>
                <a:endParaRPr lang="zh-CN" altLang="zh-CN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065" name="Rectangle 12"/>
              <p:cNvSpPr/>
              <p:nvPr/>
            </p:nvSpPr>
            <p:spPr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</a:ln>
            </p:spPr>
            <p:txBody>
              <a:bodyPr/>
              <a:p>
                <a:pPr lvl="0" eaLnBrk="1" hangingPunct="1">
                  <a:buNone/>
                </a:pPr>
                <a:endParaRPr lang="zh-CN" altLang="zh-CN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066" name="Rectangle 13"/>
              <p:cNvSpPr/>
              <p:nvPr/>
            </p:nvSpPr>
            <p:spPr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</a:ln>
            </p:spPr>
            <p:txBody>
              <a:bodyPr/>
              <a:p>
                <a:pPr lvl="0" eaLnBrk="1" hangingPunct="1">
                  <a:buNone/>
                </a:pPr>
                <a:endParaRPr lang="zh-CN" altLang="zh-CN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067" name="Rectangle 14"/>
              <p:cNvSpPr/>
              <p:nvPr/>
            </p:nvSpPr>
            <p:spPr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</a:ln>
            </p:spPr>
            <p:txBody>
              <a:bodyPr/>
              <a:p>
                <a:pPr lvl="0" eaLnBrk="1" hangingPunct="1">
                  <a:buNone/>
                </a:pPr>
                <a:endParaRPr lang="zh-CN" altLang="zh-CN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068" name="Rectangle 15"/>
              <p:cNvSpPr/>
              <p:nvPr/>
            </p:nvSpPr>
            <p:spPr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</a:ln>
            </p:spPr>
            <p:txBody>
              <a:bodyPr/>
              <a:p>
                <a:pPr lvl="0" eaLnBrk="1" hangingPunct="1">
                  <a:buNone/>
                </a:pPr>
                <a:endParaRPr lang="zh-CN" altLang="zh-CN" dirty="0">
                  <a:latin typeface="Times New Roman" panose="02020603050405020304" pitchFamily="18" charset="0"/>
                </a:endParaRPr>
              </a:p>
            </p:txBody>
          </p:sp>
        </p:grpSp>
      </p:grpSp>
      <p:sp>
        <p:nvSpPr>
          <p:cNvPr id="166931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</p:spPr>
        <p:txBody>
          <a:bodyPr/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166932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3400"/>
            </a:lvl1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31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 smtClean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2" name="Rectangle 1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 smtClean="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3" name="Rectangle 1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C292854-9EC9-4F0A-812C-C481F4C9EB70}" type="slidenum">
              <a:rPr kumimoji="0" lang="en-US" altLang="zh-CN" sz="1200" b="0" i="0" u="none" strike="noStrike" kern="1200" cap="none" spc="0" normalizeH="0" baseline="0" noProof="1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anose="020B0A040201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anose="020B0A040201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15823B0-AEF8-477D-9BD7-30877E5D8789}" type="slidenum">
              <a:rPr kumimoji="0" lang="en-US" altLang="zh-CN" sz="1200" b="0" i="0" u="none" strike="noStrike" kern="1200" cap="none" spc="0" normalizeH="0" baseline="0" noProof="1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anose="020B0A040201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15823B0-AEF8-477D-9BD7-30877E5D8789}" type="slidenum">
              <a:rPr kumimoji="0" lang="en-US" altLang="zh-CN" sz="1200" b="0" i="0" u="none" strike="noStrike" kern="1200" cap="none" spc="0" normalizeH="0" baseline="0" noProof="1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anose="020B0A040201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15823B0-AEF8-477D-9BD7-30877E5D8789}" type="slidenum">
              <a:rPr kumimoji="0" lang="en-US" altLang="zh-CN" sz="1200" b="0" i="0" u="none" strike="noStrike" kern="1200" cap="none" spc="0" normalizeH="0" baseline="0" noProof="1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anose="020B0A040201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15823B0-AEF8-477D-9BD7-30877E5D8789}" type="slidenum">
              <a:rPr kumimoji="0" lang="en-US" altLang="zh-CN" sz="1200" b="0" i="0" u="none" strike="noStrike" kern="1200" cap="none" spc="0" normalizeH="0" baseline="0" noProof="1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anose="020B0A040201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日期占位符 8"/>
          <p:cNvSpPr>
            <a:spLocks noGrp="1"/>
          </p:cNvSpPr>
          <p:nvPr>
            <p:ph type="dt" sz="half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15823B0-AEF8-477D-9BD7-30877E5D8789}" type="slidenum">
              <a:rPr kumimoji="0" lang="en-US" altLang="zh-CN" sz="1200" b="0" i="0" u="none" strike="noStrike" kern="1200" cap="none" spc="0" normalizeH="0" baseline="0" noProof="1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anose="020B0A040201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占位符 1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15823B0-AEF8-477D-9BD7-30877E5D8789}" type="slidenum">
              <a:rPr kumimoji="0" lang="en-US" altLang="zh-CN" sz="1200" b="0" i="0" u="none" strike="noStrike" kern="1200" cap="none" spc="0" normalizeH="0" baseline="0" noProof="1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anose="020B0A040201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15823B0-AEF8-477D-9BD7-30877E5D8789}" type="slidenum">
              <a:rPr kumimoji="0" lang="en-US" altLang="zh-CN" sz="1200" b="0" i="0" u="none" strike="noStrike" kern="1200" cap="none" spc="0" normalizeH="0" baseline="0" noProof="1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anose="020B0A040201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15823B0-AEF8-477D-9BD7-30877E5D8789}" type="slidenum">
              <a:rPr kumimoji="0" lang="en-US" altLang="zh-CN" sz="1200" b="0" i="0" u="none" strike="noStrike" kern="1200" cap="none" spc="0" normalizeH="0" baseline="0" noProof="1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anose="020B0A040201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15823B0-AEF8-477D-9BD7-30877E5D8789}" type="slidenum">
              <a:rPr kumimoji="0" lang="en-US" altLang="zh-CN" sz="1200" b="0" i="0" u="none" strike="noStrike" kern="1200" cap="none" spc="0" normalizeH="0" baseline="0" noProof="1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anose="020B0A040201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5410200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5410200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15823B0-AEF8-477D-9BD7-30877E5D8789}" type="slidenum">
              <a:rPr kumimoji="0" lang="en-US" altLang="zh-CN" sz="1200" b="0" i="0" u="none" strike="noStrike" kern="1200" cap="none" spc="0" normalizeH="0" baseline="0" noProof="1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anose="020B0A040201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2"/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165890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>
              <a:defRPr sz="1200" smtClean="0">
                <a:latin typeface="+mn-lt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5891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 noProof="1" dirty="0">
                <a:latin typeface="Arial Black" panose="020B0A040201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15823B0-AEF8-477D-9BD7-30877E5D8789}" type="slidenum">
              <a:rPr kumimoji="0" lang="en-US" altLang="zh-CN" sz="1200" b="0" i="0" u="none" strike="noStrike" kern="1200" cap="none" spc="0" normalizeH="0" baseline="0" noProof="1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anose="020B0A040201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1028" name="Group 4"/>
          <p:cNvGrpSpPr/>
          <p:nvPr/>
        </p:nvGrpSpPr>
        <p:grpSpPr>
          <a:xfrm>
            <a:off x="0" y="0"/>
            <a:ext cx="9144000" cy="546100"/>
            <a:chOff x="0" y="0"/>
            <a:chExt cx="5760" cy="344"/>
          </a:xfrm>
        </p:grpSpPr>
        <p:sp>
          <p:nvSpPr>
            <p:cNvPr id="1032" name="Rectangle 5"/>
            <p:cNvSpPr/>
            <p:nvPr/>
          </p:nvSpPr>
          <p:spPr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 wrap="none" anchor="ctr" anchorCtr="0"/>
            <a:p>
              <a:pPr lvl="0" algn="ctr" eaLnBrk="1" hangingPunct="1">
                <a:buNone/>
              </a:pPr>
              <a:endParaRPr lang="zh-CN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1033" name="Rectangle 6"/>
            <p:cNvSpPr/>
            <p:nvPr/>
          </p:nvSpPr>
          <p:spPr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pPr lvl="0" eaLnBrk="1" hangingPunct="1">
                <a:buNone/>
              </a:pPr>
              <a:endParaRPr lang="zh-CN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1034" name="Rectangle 7"/>
            <p:cNvSpPr/>
            <p:nvPr/>
          </p:nvSpPr>
          <p:spPr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 w="9525">
              <a:noFill/>
            </a:ln>
          </p:spPr>
          <p:txBody>
            <a:bodyPr/>
            <a:p>
              <a:pPr lvl="0" eaLnBrk="1" hangingPunct="1">
                <a:buNone/>
              </a:pPr>
              <a:endParaRPr lang="zh-CN" altLang="zh-CN" sz="1800" dirty="0">
                <a:solidFill>
                  <a:schemeClr val="hlink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035" name="Rectangle 8"/>
            <p:cNvSpPr/>
            <p:nvPr/>
          </p:nvSpPr>
          <p:spPr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 w="9525">
              <a:noFill/>
            </a:ln>
          </p:spPr>
          <p:txBody>
            <a:bodyPr/>
            <a:p>
              <a:pPr lvl="0" eaLnBrk="1" hangingPunct="1">
                <a:buNone/>
              </a:pPr>
              <a:endParaRPr lang="zh-CN" altLang="zh-CN" sz="1800" dirty="0">
                <a:solidFill>
                  <a:schemeClr val="hlink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036" name="Rectangle 9"/>
            <p:cNvSpPr/>
            <p:nvPr/>
          </p:nvSpPr>
          <p:spPr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 w="9525">
              <a:noFill/>
            </a:ln>
          </p:spPr>
          <p:txBody>
            <a:bodyPr/>
            <a:p>
              <a:pPr lvl="0" eaLnBrk="1" hangingPunct="1">
                <a:buNone/>
              </a:pPr>
              <a:endParaRPr lang="zh-CN" altLang="zh-CN" sz="1800" dirty="0">
                <a:solidFill>
                  <a:schemeClr val="accent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037" name="Rectangle 10"/>
            <p:cNvSpPr/>
            <p:nvPr/>
          </p:nvSpPr>
          <p:spPr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 w="9525">
              <a:noFill/>
            </a:ln>
          </p:spPr>
          <p:txBody>
            <a:bodyPr/>
            <a:p>
              <a:pPr lvl="0" eaLnBrk="1" hangingPunct="1">
                <a:buNone/>
              </a:pPr>
              <a:endParaRPr lang="zh-CN" altLang="zh-CN" sz="1800" dirty="0">
                <a:solidFill>
                  <a:schemeClr val="hlink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038" name="Rectangle 11"/>
            <p:cNvSpPr/>
            <p:nvPr/>
          </p:nvSpPr>
          <p:spPr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 w="9525">
              <a:noFill/>
            </a:ln>
          </p:spPr>
          <p:txBody>
            <a:bodyPr/>
            <a:p>
              <a:pPr lvl="0" eaLnBrk="1" hangingPunct="1">
                <a:buNone/>
              </a:pPr>
              <a:endParaRPr lang="zh-CN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1039" name="Rectangle 12"/>
            <p:cNvSpPr/>
            <p:nvPr/>
          </p:nvSpPr>
          <p:spPr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 w="9525">
              <a:noFill/>
            </a:ln>
          </p:spPr>
          <p:txBody>
            <a:bodyPr/>
            <a:p>
              <a:pPr lvl="0" eaLnBrk="1" hangingPunct="1">
                <a:buNone/>
              </a:pPr>
              <a:endParaRPr lang="zh-CN" altLang="zh-CN" sz="1800" dirty="0">
                <a:solidFill>
                  <a:schemeClr val="accent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040" name="Rectangle 13"/>
            <p:cNvSpPr/>
            <p:nvPr/>
          </p:nvSpPr>
          <p:spPr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 w="9525">
              <a:noFill/>
            </a:ln>
          </p:spPr>
          <p:txBody>
            <a:bodyPr/>
            <a:p>
              <a:pPr lvl="0" eaLnBrk="1" hangingPunct="1">
                <a:buNone/>
              </a:pPr>
              <a:endParaRPr lang="zh-CN" altLang="zh-CN" sz="1800" dirty="0">
                <a:solidFill>
                  <a:schemeClr val="accent2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1029" name="Rectangle 14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30" name="Rectangle 15"/>
          <p:cNvSpPr>
            <a:spLocks noGrp="1"/>
          </p:cNvSpPr>
          <p:nvPr>
            <p:ph type="body"/>
          </p:nvPr>
        </p:nvSpPr>
        <p:spPr>
          <a:xfrm>
            <a:off x="457200" y="1981200"/>
            <a:ext cx="8229600" cy="38862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65904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200" smtClean="0">
                <a:latin typeface="+mn-lt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¨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¨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1.vml"/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1.jpeg"/><Relationship Id="rId4" Type="http://schemas.openxmlformats.org/officeDocument/2006/relationships/image" Target="../media/image3.wmf"/><Relationship Id="rId3" Type="http://schemas.openxmlformats.org/officeDocument/2006/relationships/oleObject" Target="../embeddings/oleObject2.bin"/><Relationship Id="rId2" Type="http://schemas.openxmlformats.org/officeDocument/2006/relationships/image" Target="../media/image2.wmf"/><Relationship Id="rId1" Type="http://schemas.openxmlformats.org/officeDocument/2006/relationships/oleObject" Target="../embeddings/oleObject1.bin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1" Type="http://schemas.openxmlformats.org/officeDocument/2006/relationships/image" Target="../media/image1.jpe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2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6.wmf"/><Relationship Id="rId3" Type="http://schemas.openxmlformats.org/officeDocument/2006/relationships/oleObject" Target="../embeddings/oleObject4.bin"/><Relationship Id="rId2" Type="http://schemas.openxmlformats.org/officeDocument/2006/relationships/image" Target="../media/image5.wmf"/><Relationship Id="rId1" Type="http://schemas.openxmlformats.org/officeDocument/2006/relationships/oleObject" Target="../embeddings/oleObject3.bin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9.bin"/><Relationship Id="rId8" Type="http://schemas.openxmlformats.org/officeDocument/2006/relationships/image" Target="../media/image10.wmf"/><Relationship Id="rId7" Type="http://schemas.openxmlformats.org/officeDocument/2006/relationships/oleObject" Target="../embeddings/oleObject8.bin"/><Relationship Id="rId6" Type="http://schemas.openxmlformats.org/officeDocument/2006/relationships/image" Target="../media/image9.wmf"/><Relationship Id="rId5" Type="http://schemas.openxmlformats.org/officeDocument/2006/relationships/oleObject" Target="../embeddings/oleObject7.bin"/><Relationship Id="rId4" Type="http://schemas.openxmlformats.org/officeDocument/2006/relationships/image" Target="../media/image8.wmf"/><Relationship Id="rId3" Type="http://schemas.openxmlformats.org/officeDocument/2006/relationships/oleObject" Target="../embeddings/oleObject6.bin"/><Relationship Id="rId2" Type="http://schemas.openxmlformats.org/officeDocument/2006/relationships/image" Target="../media/image7.wmf"/><Relationship Id="rId16" Type="http://schemas.openxmlformats.org/officeDocument/2006/relationships/vmlDrawing" Target="../drawings/vmlDrawing3.vml"/><Relationship Id="rId15" Type="http://schemas.openxmlformats.org/officeDocument/2006/relationships/slideLayout" Target="../slideLayouts/slideLayout2.xml"/><Relationship Id="rId14" Type="http://schemas.openxmlformats.org/officeDocument/2006/relationships/image" Target="../media/image13.wmf"/><Relationship Id="rId13" Type="http://schemas.openxmlformats.org/officeDocument/2006/relationships/oleObject" Target="../embeddings/oleObject11.bin"/><Relationship Id="rId12" Type="http://schemas.openxmlformats.org/officeDocument/2006/relationships/image" Target="../media/image12.wmf"/><Relationship Id="rId11" Type="http://schemas.openxmlformats.org/officeDocument/2006/relationships/oleObject" Target="../embeddings/oleObject10.bin"/><Relationship Id="rId10" Type="http://schemas.openxmlformats.org/officeDocument/2006/relationships/image" Target="../media/image11.wmf"/><Relationship Id="rId1" Type="http://schemas.openxmlformats.org/officeDocument/2006/relationships/oleObject" Target="../embeddings/oleObject5.bin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4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4.wmf"/><Relationship Id="rId1" Type="http://schemas.openxmlformats.org/officeDocument/2006/relationships/oleObject" Target="../embeddings/oleObject12.bin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5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6.wmf"/><Relationship Id="rId3" Type="http://schemas.openxmlformats.org/officeDocument/2006/relationships/oleObject" Target="../embeddings/oleObject14.bin"/><Relationship Id="rId2" Type="http://schemas.openxmlformats.org/officeDocument/2006/relationships/image" Target="../media/image15.wmf"/><Relationship Id="rId1" Type="http://schemas.openxmlformats.org/officeDocument/2006/relationships/oleObject" Target="../embeddings/oleObject13.bin"/></Relationships>
</file>

<file path=ppt/slides/_rels/slide27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9.bin"/><Relationship Id="rId8" Type="http://schemas.openxmlformats.org/officeDocument/2006/relationships/image" Target="../media/image20.wmf"/><Relationship Id="rId7" Type="http://schemas.openxmlformats.org/officeDocument/2006/relationships/oleObject" Target="../embeddings/oleObject18.bin"/><Relationship Id="rId6" Type="http://schemas.openxmlformats.org/officeDocument/2006/relationships/image" Target="../media/image19.wmf"/><Relationship Id="rId5" Type="http://schemas.openxmlformats.org/officeDocument/2006/relationships/oleObject" Target="../embeddings/oleObject17.bin"/><Relationship Id="rId4" Type="http://schemas.openxmlformats.org/officeDocument/2006/relationships/image" Target="../media/image18.wmf"/><Relationship Id="rId3" Type="http://schemas.openxmlformats.org/officeDocument/2006/relationships/oleObject" Target="../embeddings/oleObject16.bin"/><Relationship Id="rId2" Type="http://schemas.openxmlformats.org/officeDocument/2006/relationships/image" Target="../media/image17.wmf"/><Relationship Id="rId14" Type="http://schemas.openxmlformats.org/officeDocument/2006/relationships/vmlDrawing" Target="../drawings/vmlDrawing6.vml"/><Relationship Id="rId13" Type="http://schemas.openxmlformats.org/officeDocument/2006/relationships/slideLayout" Target="../slideLayouts/slideLayout2.xml"/><Relationship Id="rId12" Type="http://schemas.openxmlformats.org/officeDocument/2006/relationships/oleObject" Target="../embeddings/oleObject21.bin"/><Relationship Id="rId11" Type="http://schemas.openxmlformats.org/officeDocument/2006/relationships/oleObject" Target="../embeddings/oleObject20.bin"/><Relationship Id="rId10" Type="http://schemas.openxmlformats.org/officeDocument/2006/relationships/image" Target="../media/image21.wmf"/><Relationship Id="rId1" Type="http://schemas.openxmlformats.org/officeDocument/2006/relationships/oleObject" Target="../embeddings/oleObject15.bin"/></Relationships>
</file>

<file path=ppt/slides/_rels/slide2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6.bin"/><Relationship Id="rId8" Type="http://schemas.openxmlformats.org/officeDocument/2006/relationships/image" Target="../media/image18.wmf"/><Relationship Id="rId7" Type="http://schemas.openxmlformats.org/officeDocument/2006/relationships/oleObject" Target="../embeddings/oleObject25.bin"/><Relationship Id="rId6" Type="http://schemas.openxmlformats.org/officeDocument/2006/relationships/image" Target="../media/image24.wmf"/><Relationship Id="rId5" Type="http://schemas.openxmlformats.org/officeDocument/2006/relationships/oleObject" Target="../embeddings/oleObject24.bin"/><Relationship Id="rId4" Type="http://schemas.openxmlformats.org/officeDocument/2006/relationships/image" Target="../media/image23.wmf"/><Relationship Id="rId3" Type="http://schemas.openxmlformats.org/officeDocument/2006/relationships/oleObject" Target="../embeddings/oleObject23.bin"/><Relationship Id="rId2" Type="http://schemas.openxmlformats.org/officeDocument/2006/relationships/image" Target="../media/image22.wmf"/><Relationship Id="rId15" Type="http://schemas.openxmlformats.org/officeDocument/2006/relationships/vmlDrawing" Target="../drawings/vmlDrawing7.vml"/><Relationship Id="rId14" Type="http://schemas.openxmlformats.org/officeDocument/2006/relationships/slideLayout" Target="../slideLayouts/slideLayout2.xml"/><Relationship Id="rId13" Type="http://schemas.openxmlformats.org/officeDocument/2006/relationships/image" Target="../media/image1.jpeg"/><Relationship Id="rId12" Type="http://schemas.openxmlformats.org/officeDocument/2006/relationships/image" Target="../media/image17.wmf"/><Relationship Id="rId11" Type="http://schemas.openxmlformats.org/officeDocument/2006/relationships/oleObject" Target="../embeddings/oleObject27.bin"/><Relationship Id="rId10" Type="http://schemas.openxmlformats.org/officeDocument/2006/relationships/image" Target="../media/image25.wmf"/><Relationship Id="rId1" Type="http://schemas.openxmlformats.org/officeDocument/2006/relationships/oleObject" Target="../embeddings/oleObject22.bin"/></Relationships>
</file>

<file path=ppt/slides/_rels/slide29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2.bin"/><Relationship Id="rId8" Type="http://schemas.openxmlformats.org/officeDocument/2006/relationships/image" Target="../media/image29.wmf"/><Relationship Id="rId7" Type="http://schemas.openxmlformats.org/officeDocument/2006/relationships/oleObject" Target="../embeddings/oleObject31.bin"/><Relationship Id="rId6" Type="http://schemas.openxmlformats.org/officeDocument/2006/relationships/image" Target="../media/image28.wmf"/><Relationship Id="rId5" Type="http://schemas.openxmlformats.org/officeDocument/2006/relationships/oleObject" Target="../embeddings/oleObject30.bin"/><Relationship Id="rId4" Type="http://schemas.openxmlformats.org/officeDocument/2006/relationships/image" Target="../media/image27.wmf"/><Relationship Id="rId3" Type="http://schemas.openxmlformats.org/officeDocument/2006/relationships/oleObject" Target="../embeddings/oleObject29.bin"/><Relationship Id="rId2" Type="http://schemas.openxmlformats.org/officeDocument/2006/relationships/image" Target="../media/image26.wmf"/><Relationship Id="rId14" Type="http://schemas.openxmlformats.org/officeDocument/2006/relationships/vmlDrawing" Target="../drawings/vmlDrawing8.vml"/><Relationship Id="rId13" Type="http://schemas.openxmlformats.org/officeDocument/2006/relationships/slideLayout" Target="../slideLayouts/slideLayout2.xml"/><Relationship Id="rId12" Type="http://schemas.openxmlformats.org/officeDocument/2006/relationships/image" Target="../media/image31.wmf"/><Relationship Id="rId11" Type="http://schemas.openxmlformats.org/officeDocument/2006/relationships/oleObject" Target="../embeddings/oleObject33.bin"/><Relationship Id="rId10" Type="http://schemas.openxmlformats.org/officeDocument/2006/relationships/image" Target="../media/image30.wmf"/><Relationship Id="rId1" Type="http://schemas.openxmlformats.org/officeDocument/2006/relationships/oleObject" Target="../embeddings/oleObject28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8" name="Text Box 6"/>
          <p:cNvSpPr txBox="1"/>
          <p:nvPr/>
        </p:nvSpPr>
        <p:spPr>
          <a:xfrm>
            <a:off x="615950" y="2413635"/>
            <a:ext cx="8239125" cy="1425575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noAutofit/>
          </a:bodyPr>
          <a:p>
            <a:pPr eaLnBrk="1" hangingPunct="1"/>
            <a:r>
              <a:rPr lang="zh-CN" altLang="en-US" sz="5400" b="1" dirty="0">
                <a:solidFill>
                  <a:srgbClr val="3333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第八章</a:t>
            </a:r>
            <a:r>
              <a:rPr lang="en-US" altLang="zh-CN" sz="5400" b="1" dirty="0">
                <a:solidFill>
                  <a:srgbClr val="3333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zh-CN" altLang="en-US" sz="5400" b="1" dirty="0">
                <a:solidFill>
                  <a:srgbClr val="3333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异步时序逻辑电路</a:t>
            </a:r>
            <a:endParaRPr lang="zh-CN" altLang="en-US" sz="5400" b="1" dirty="0">
              <a:solidFill>
                <a:srgbClr val="3333FF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4" name="Text Box 2"/>
          <p:cNvSpPr txBox="1">
            <a:spLocks noChangeArrowheads="1"/>
          </p:cNvSpPr>
          <p:nvPr/>
        </p:nvSpPr>
        <p:spPr bwMode="auto">
          <a:xfrm>
            <a:off x="633413" y="728663"/>
            <a:ext cx="5873750" cy="5794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1" lang="zh-CN" altLang="zh-CN" sz="3200" b="1" kern="1200" cap="none" spc="0" normalizeH="0" baseline="0" noProof="0">
                <a:solidFill>
                  <a:srgbClr val="33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异步</a:t>
            </a:r>
            <a:r>
              <a:rPr kumimoji="1" lang="zh-CN" altLang="en-US" sz="3200" b="1" kern="1200" cap="none" spc="0" normalizeH="0" baseline="0" noProof="0">
                <a:solidFill>
                  <a:srgbClr val="33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时序逻辑电路的特点及模型</a:t>
            </a:r>
            <a:endParaRPr kumimoji="1" lang="zh-CN" altLang="en-US" sz="3200" b="1" kern="1200" cap="none" spc="0" normalizeH="0" baseline="0" noProof="0">
              <a:solidFill>
                <a:srgbClr val="339933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7" name="Text Box 5"/>
          <p:cNvSpPr txBox="1"/>
          <p:nvPr/>
        </p:nvSpPr>
        <p:spPr>
          <a:xfrm>
            <a:off x="704850" y="1676400"/>
            <a:ext cx="7734300" cy="519113"/>
          </a:xfrm>
          <a:prstGeom prst="rect">
            <a:avLst/>
          </a:prstGeom>
          <a:noFill/>
          <a:ln w="19050">
            <a:noFill/>
          </a:ln>
        </p:spPr>
        <p:txBody>
          <a:bodyPr>
            <a:spAutoFit/>
          </a:bodyPr>
          <a:p>
            <a:pPr marL="381000" indent="-381000"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rgbClr val="3333FF"/>
                </a:solidFill>
                <a:latin typeface="Times New Roman" panose="02020603050405020304" pitchFamily="18" charset="0"/>
              </a:rPr>
              <a:t>	1. </a:t>
            </a:r>
            <a:r>
              <a:rPr lang="zh-CN" altLang="en-US" sz="2800" b="1" dirty="0">
                <a:solidFill>
                  <a:srgbClr val="3333FF"/>
                </a:solidFill>
                <a:latin typeface="Times New Roman" panose="02020603050405020304" pitchFamily="18" charset="0"/>
              </a:rPr>
              <a:t>同步时序逻辑电路的特点</a:t>
            </a:r>
            <a:endParaRPr lang="zh-CN" altLang="en-US" sz="2800" dirty="0">
              <a:latin typeface="Times New Roman" panose="02020603050405020304" pitchFamily="18" charset="0"/>
              <a:sym typeface="Monotype Sorts" pitchFamily="2" charset="2"/>
            </a:endParaRPr>
          </a:p>
        </p:txBody>
      </p:sp>
      <p:sp>
        <p:nvSpPr>
          <p:cNvPr id="3078" name="Rectangle 6"/>
          <p:cNvSpPr/>
          <p:nvPr/>
        </p:nvSpPr>
        <p:spPr>
          <a:xfrm>
            <a:off x="704850" y="2335213"/>
            <a:ext cx="7793038" cy="1289050"/>
          </a:xfrm>
          <a:prstGeom prst="rect">
            <a:avLst/>
          </a:prstGeom>
          <a:noFill/>
          <a:ln w="19050">
            <a:noFill/>
          </a:ln>
        </p:spPr>
        <p:txBody>
          <a:bodyPr>
            <a:spAutoFit/>
          </a:bodyPr>
          <a:p>
            <a:pPr defTabSz="285750" eaLnBrk="1" hangingPunct="1">
              <a:lnSpc>
                <a:spcPct val="140000"/>
              </a:lnSpc>
              <a:buChar char="•"/>
            </a:pPr>
            <a:r>
              <a:rPr lang="zh-CN" altLang="en-US" sz="2800" dirty="0">
                <a:latin typeface="Times New Roman" panose="02020603050405020304" pitchFamily="18" charset="0"/>
                <a:sym typeface="Monotype Sorts" pitchFamily="2" charset="2"/>
              </a:rPr>
              <a:t>各触发器的时钟端全部连接在一起，并接在系	统时钟端；</a:t>
            </a:r>
            <a:endParaRPr lang="zh-CN" altLang="en-US" sz="2800" dirty="0">
              <a:latin typeface="Times New Roman" panose="02020603050405020304" pitchFamily="18" charset="0"/>
              <a:sym typeface="Monotype Sorts" pitchFamily="2" charset="2"/>
            </a:endParaRPr>
          </a:p>
        </p:txBody>
      </p:sp>
      <p:sp>
        <p:nvSpPr>
          <p:cNvPr id="3079" name="Rectangle 7"/>
          <p:cNvSpPr/>
          <p:nvPr/>
        </p:nvSpPr>
        <p:spPr>
          <a:xfrm>
            <a:off x="704850" y="3763963"/>
            <a:ext cx="7391400" cy="519112"/>
          </a:xfrm>
          <a:prstGeom prst="rect">
            <a:avLst/>
          </a:prstGeom>
          <a:noFill/>
          <a:ln w="19050">
            <a:noFill/>
          </a:ln>
        </p:spPr>
        <p:txBody>
          <a:bodyPr wrap="none">
            <a:spAutoFit/>
          </a:bodyPr>
          <a:p>
            <a:pPr eaLnBrk="1" hangingPunct="1">
              <a:buChar char="•"/>
            </a:pPr>
            <a:r>
              <a:rPr lang="zh-CN" altLang="en-US" sz="2800" dirty="0">
                <a:latin typeface="Times New Roman" panose="02020603050405020304" pitchFamily="18" charset="0"/>
                <a:sym typeface="Monotype Sorts" pitchFamily="2" charset="2"/>
              </a:rPr>
              <a:t>只有当时钟脉冲到来时，电路的状态才能改变</a:t>
            </a:r>
            <a:r>
              <a:rPr lang="en-US" altLang="zh-CN" sz="2800" dirty="0">
                <a:latin typeface="Times New Roman" panose="02020603050405020304" pitchFamily="18" charset="0"/>
                <a:sym typeface="Monotype Sorts" pitchFamily="2" charset="2"/>
              </a:rPr>
              <a:t>;</a:t>
            </a:r>
            <a:endParaRPr lang="en-US" altLang="zh-CN" sz="2800" dirty="0">
              <a:latin typeface="Times New Roman" panose="02020603050405020304" pitchFamily="18" charset="0"/>
              <a:sym typeface="Monotype Sorts" pitchFamily="2" charset="2"/>
            </a:endParaRPr>
          </a:p>
        </p:txBody>
      </p:sp>
      <p:sp>
        <p:nvSpPr>
          <p:cNvPr id="3080" name="Rectangle 8"/>
          <p:cNvSpPr/>
          <p:nvPr/>
        </p:nvSpPr>
        <p:spPr>
          <a:xfrm>
            <a:off x="704850" y="4422775"/>
            <a:ext cx="7804150" cy="1203325"/>
          </a:xfrm>
          <a:prstGeom prst="rect">
            <a:avLst/>
          </a:prstGeom>
          <a:noFill/>
          <a:ln w="19050">
            <a:noFill/>
          </a:ln>
        </p:spPr>
        <p:txBody>
          <a:bodyPr>
            <a:spAutoFit/>
          </a:bodyPr>
          <a:p>
            <a:pPr algn="just" defTabSz="285750" eaLnBrk="1" hangingPunct="1">
              <a:lnSpc>
                <a:spcPct val="130000"/>
              </a:lnSpc>
              <a:spcBef>
                <a:spcPct val="50000"/>
              </a:spcBef>
              <a:buChar char="•"/>
            </a:pPr>
            <a:r>
              <a:rPr lang="zh-CN" altLang="en-US" sz="2800" dirty="0">
                <a:latin typeface="Times New Roman" panose="02020603050405020304" pitchFamily="18" charset="0"/>
                <a:sym typeface="Monotype Sorts" pitchFamily="2" charset="2"/>
              </a:rPr>
              <a:t>改变后的状态将一直保持到下一个时钟脉冲			的到来，此时无论外部输入</a:t>
            </a:r>
            <a:r>
              <a:rPr lang="en-US" altLang="zh-CN" sz="2800" i="1" dirty="0">
                <a:latin typeface="Times New Roman" panose="02020603050405020304" pitchFamily="18" charset="0"/>
                <a:sym typeface="Monotype Sorts" pitchFamily="2" charset="2"/>
              </a:rPr>
              <a:t>x</a:t>
            </a:r>
            <a:r>
              <a:rPr lang="zh-CN" altLang="zh-CN" sz="2800" dirty="0">
                <a:latin typeface="Times New Roman" panose="02020603050405020304" pitchFamily="18" charset="0"/>
                <a:sym typeface="Monotype Sorts" pitchFamily="2" charset="2"/>
              </a:rPr>
              <a:t>有无变化；</a:t>
            </a:r>
            <a:endParaRPr lang="zh-CN" altLang="en-US" sz="2800" dirty="0">
              <a:latin typeface="Times New Roman" panose="02020603050405020304" pitchFamily="18" charset="0"/>
              <a:sym typeface="Monotype Sorts" pitchFamily="2" charset="2"/>
            </a:endParaRPr>
          </a:p>
        </p:txBody>
      </p:sp>
      <p:sp>
        <p:nvSpPr>
          <p:cNvPr id="3081" name="Rectangle 9"/>
          <p:cNvSpPr/>
          <p:nvPr/>
        </p:nvSpPr>
        <p:spPr>
          <a:xfrm>
            <a:off x="704850" y="5767388"/>
            <a:ext cx="7818438" cy="519112"/>
          </a:xfrm>
          <a:prstGeom prst="rect">
            <a:avLst/>
          </a:prstGeom>
          <a:noFill/>
          <a:ln w="19050">
            <a:noFill/>
          </a:ln>
        </p:spPr>
        <p:txBody>
          <a:bodyPr>
            <a:spAutoFit/>
          </a:bodyPr>
          <a:p>
            <a:pPr eaLnBrk="1" hangingPunct="1">
              <a:buChar char="•"/>
            </a:pPr>
            <a:r>
              <a:rPr lang="zh-CN" altLang="en-US" sz="2800" dirty="0">
                <a:latin typeface="Times New Roman" panose="02020603050405020304" pitchFamily="18" charset="0"/>
                <a:sym typeface="Monotype Sorts" pitchFamily="2" charset="2"/>
              </a:rPr>
              <a:t>状态表中的每个状态都是稳定的。</a:t>
            </a:r>
            <a:endParaRPr lang="zh-CN" altLang="en-US" sz="2800" dirty="0">
              <a:latin typeface="Times New Roman" panose="02020603050405020304" pitchFamily="18" charset="0"/>
              <a:sym typeface="Monotype Sorts" pitchFamily="2" charset="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3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0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30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30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4" grpId="0"/>
      <p:bldP spid="3077" grpId="0"/>
      <p:bldP spid="3078" grpId="0"/>
      <p:bldP spid="3079" grpId="0"/>
      <p:bldP spid="3080" grpId="0"/>
      <p:bldP spid="308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1315" name="Text Box 3"/>
          <p:cNvSpPr txBox="1"/>
          <p:nvPr/>
        </p:nvSpPr>
        <p:spPr>
          <a:xfrm>
            <a:off x="495300" y="800100"/>
            <a:ext cx="8001000" cy="774700"/>
          </a:xfrm>
          <a:prstGeom prst="rect">
            <a:avLst/>
          </a:prstGeom>
          <a:noFill/>
          <a:ln w="19050">
            <a:noFill/>
          </a:ln>
        </p:spPr>
        <p:txBody>
          <a:bodyPr>
            <a:spAutoFit/>
          </a:bodyPr>
          <a:p>
            <a:pPr marL="381000" indent="-381000" algn="just" eaLnBrk="1" hangingPunct="1">
              <a:lnSpc>
                <a:spcPct val="160000"/>
              </a:lnSpc>
              <a:spcBef>
                <a:spcPct val="50000"/>
              </a:spcBef>
            </a:pPr>
            <a:r>
              <a:rPr lang="en-US" altLang="zh-CN" sz="2800" b="1" dirty="0">
                <a:solidFill>
                  <a:srgbClr val="3333FF"/>
                </a:solidFill>
                <a:latin typeface="Times New Roman" panose="02020603050405020304" pitchFamily="18" charset="0"/>
              </a:rPr>
              <a:t>	2. </a:t>
            </a:r>
            <a:r>
              <a:rPr lang="zh-CN" altLang="en-US" sz="2800" b="1" dirty="0">
                <a:solidFill>
                  <a:srgbClr val="3333FF"/>
                </a:solidFill>
                <a:latin typeface="Times New Roman" panose="02020603050405020304" pitchFamily="18" charset="0"/>
              </a:rPr>
              <a:t>异步时序逻辑电路的特点</a:t>
            </a:r>
            <a:endParaRPr lang="zh-CN" altLang="en-US" sz="2800" dirty="0">
              <a:latin typeface="Times New Roman" panose="02020603050405020304" pitchFamily="18" charset="0"/>
              <a:sym typeface="Monotype Sorts" pitchFamily="2" charset="2"/>
            </a:endParaRPr>
          </a:p>
        </p:txBody>
      </p:sp>
      <p:sp>
        <p:nvSpPr>
          <p:cNvPr id="141316" name="Rectangle 4"/>
          <p:cNvSpPr/>
          <p:nvPr/>
        </p:nvSpPr>
        <p:spPr>
          <a:xfrm>
            <a:off x="666750" y="1789113"/>
            <a:ext cx="7961313" cy="1374775"/>
          </a:xfrm>
          <a:prstGeom prst="rect">
            <a:avLst/>
          </a:prstGeom>
          <a:noFill/>
          <a:ln w="19050">
            <a:noFill/>
          </a:ln>
        </p:spPr>
        <p:txBody>
          <a:bodyPr>
            <a:spAutoFit/>
          </a:bodyPr>
          <a:p>
            <a:pPr marL="381000" indent="-381000" eaLnBrk="1" hangingPunct="1">
              <a:lnSpc>
                <a:spcPct val="150000"/>
              </a:lnSpc>
              <a:buChar char="•"/>
            </a:pPr>
            <a:r>
              <a:rPr lang="zh-CN" altLang="en-US" sz="2800" dirty="0">
                <a:latin typeface="Times New Roman" panose="02020603050405020304" pitchFamily="18" charset="0"/>
                <a:sym typeface="Monotype Sorts" pitchFamily="2" charset="2"/>
              </a:rPr>
              <a:t>电路中除可以使用带时钟的触发器外，还可以使用不带时钟的触发器和延迟元件作为存储元件；</a:t>
            </a:r>
            <a:endParaRPr lang="zh-CN" altLang="en-US" sz="2800" dirty="0">
              <a:latin typeface="Times New Roman" panose="02020603050405020304" pitchFamily="18" charset="0"/>
              <a:sym typeface="Monotype Sorts" pitchFamily="2" charset="2"/>
            </a:endParaRPr>
          </a:p>
        </p:txBody>
      </p:sp>
      <p:sp>
        <p:nvSpPr>
          <p:cNvPr id="141317" name="Rectangle 5"/>
          <p:cNvSpPr/>
          <p:nvPr/>
        </p:nvSpPr>
        <p:spPr>
          <a:xfrm>
            <a:off x="647700" y="3790950"/>
            <a:ext cx="7958138" cy="519113"/>
          </a:xfrm>
          <a:prstGeom prst="rect">
            <a:avLst/>
          </a:prstGeom>
          <a:noFill/>
          <a:ln w="19050">
            <a:noFill/>
          </a:ln>
        </p:spPr>
        <p:txBody>
          <a:bodyPr>
            <a:spAutoFit/>
          </a:bodyPr>
          <a:p>
            <a:pPr eaLnBrk="1" hangingPunct="1">
              <a:buChar char="•"/>
            </a:pPr>
            <a:r>
              <a:rPr lang="zh-CN" altLang="en-US" sz="2800" dirty="0">
                <a:latin typeface="Times New Roman" panose="02020603050405020304" pitchFamily="18" charset="0"/>
                <a:sym typeface="Monotype Sorts" pitchFamily="2" charset="2"/>
              </a:rPr>
              <a:t>电路中没有统一的时钟； </a:t>
            </a:r>
            <a:endParaRPr lang="zh-CN" altLang="en-US" sz="2800" dirty="0">
              <a:latin typeface="Times New Roman" panose="02020603050405020304" pitchFamily="18" charset="0"/>
              <a:sym typeface="Monotype Sorts" pitchFamily="2" charset="2"/>
            </a:endParaRPr>
          </a:p>
        </p:txBody>
      </p:sp>
      <p:sp>
        <p:nvSpPr>
          <p:cNvPr id="141318" name="Rectangle 6"/>
          <p:cNvSpPr/>
          <p:nvPr/>
        </p:nvSpPr>
        <p:spPr>
          <a:xfrm>
            <a:off x="666750" y="4587875"/>
            <a:ext cx="7989888" cy="519113"/>
          </a:xfrm>
          <a:prstGeom prst="rect">
            <a:avLst/>
          </a:prstGeom>
          <a:noFill/>
          <a:ln w="19050">
            <a:noFill/>
          </a:ln>
        </p:spPr>
        <p:txBody>
          <a:bodyPr>
            <a:spAutoFit/>
          </a:bodyPr>
          <a:p>
            <a:pPr eaLnBrk="1" hangingPunct="1">
              <a:buChar char="•"/>
            </a:pPr>
            <a:r>
              <a:rPr lang="zh-CN" altLang="en-US" sz="2800" dirty="0">
                <a:latin typeface="Times New Roman" panose="02020603050405020304" pitchFamily="18" charset="0"/>
                <a:sym typeface="Monotype Sorts" pitchFamily="2" charset="2"/>
              </a:rPr>
              <a:t>电路状态的改变由外部输入的变化直接引起。</a:t>
            </a:r>
            <a:endParaRPr lang="zh-CN" altLang="en-US" sz="2800" dirty="0">
              <a:latin typeface="Times New Roman" panose="02020603050405020304" pitchFamily="18" charset="0"/>
              <a:sym typeface="Monotype Sorts" pitchFamily="2" charset="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1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1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1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1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1315" grpId="0"/>
      <p:bldP spid="141316" grpId="0"/>
      <p:bldP spid="141317" grpId="0"/>
      <p:bldP spid="14131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" name="Group 3178"/>
          <p:cNvGrpSpPr/>
          <p:nvPr/>
        </p:nvGrpSpPr>
        <p:grpSpPr>
          <a:xfrm>
            <a:off x="365125" y="1887538"/>
            <a:ext cx="4103688" cy="4657725"/>
            <a:chOff x="278" y="757"/>
            <a:chExt cx="2585" cy="2934"/>
          </a:xfrm>
        </p:grpSpPr>
        <p:sp>
          <p:nvSpPr>
            <p:cNvPr id="7204" name="Rectangle 3074"/>
            <p:cNvSpPr/>
            <p:nvPr/>
          </p:nvSpPr>
          <p:spPr>
            <a:xfrm>
              <a:off x="1125" y="914"/>
              <a:ext cx="881" cy="957"/>
            </a:xfrm>
            <a:prstGeom prst="rect">
              <a:avLst/>
            </a:prstGeom>
            <a:solidFill>
              <a:srgbClr val="E1FDFF"/>
            </a:solidFill>
            <a:ln w="38100" cap="flat" cmpd="sng">
              <a:solidFill>
                <a:srgbClr val="3333FF"/>
              </a:solidFill>
              <a:prstDash val="solid"/>
              <a:miter/>
              <a:headEnd type="none" w="med" len="med"/>
              <a:tailEnd type="none" w="sm" len="lg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7205" name="Text Box 3075"/>
            <p:cNvSpPr txBox="1"/>
            <p:nvPr/>
          </p:nvSpPr>
          <p:spPr>
            <a:xfrm>
              <a:off x="1278" y="1049"/>
              <a:ext cx="620" cy="731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p>
              <a:pPr algn="ctr" eaLnBrk="1" hangingPunct="1"/>
              <a:r>
                <a:rPr lang="zh-CN" altLang="en-US" sz="2800" dirty="0">
                  <a:latin typeface="Times New Roman" panose="02020603050405020304" pitchFamily="18" charset="0"/>
                </a:rPr>
                <a:t>组 合</a:t>
              </a:r>
              <a:endParaRPr lang="zh-CN" altLang="en-US" sz="2800" dirty="0">
                <a:latin typeface="Times New Roman" panose="02020603050405020304" pitchFamily="18" charset="0"/>
              </a:endParaRPr>
            </a:p>
            <a:p>
              <a:pPr algn="ctr" eaLnBrk="1" hangingPunct="1">
                <a:lnSpc>
                  <a:spcPct val="150000"/>
                </a:lnSpc>
              </a:pPr>
              <a:r>
                <a:rPr lang="zh-CN" altLang="en-US" sz="2800" dirty="0">
                  <a:latin typeface="Times New Roman" panose="02020603050405020304" pitchFamily="18" charset="0"/>
                </a:rPr>
                <a:t>逻 辑</a:t>
              </a:r>
              <a:endParaRPr lang="zh-CN" altLang="en-US" sz="2800" dirty="0">
                <a:latin typeface="Times New Roman" panose="02020603050405020304" pitchFamily="18" charset="0"/>
              </a:endParaRPr>
            </a:p>
          </p:txBody>
        </p:sp>
        <p:sp>
          <p:nvSpPr>
            <p:cNvPr id="7206" name="Rectangle 3077"/>
            <p:cNvSpPr/>
            <p:nvPr/>
          </p:nvSpPr>
          <p:spPr>
            <a:xfrm>
              <a:off x="1125" y="2396"/>
              <a:ext cx="892" cy="397"/>
            </a:xfrm>
            <a:prstGeom prst="rect">
              <a:avLst/>
            </a:prstGeom>
            <a:solidFill>
              <a:srgbClr val="E1FDFF"/>
            </a:solidFill>
            <a:ln w="38100" cap="flat" cmpd="sng">
              <a:solidFill>
                <a:srgbClr val="3333FF"/>
              </a:solidFill>
              <a:prstDash val="solid"/>
              <a:miter/>
              <a:headEnd type="none" w="med" len="med"/>
              <a:tailEnd type="none" w="sm" len="lg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7207" name="Text Box 3079"/>
            <p:cNvSpPr txBox="1"/>
            <p:nvPr/>
          </p:nvSpPr>
          <p:spPr>
            <a:xfrm>
              <a:off x="1226" y="2412"/>
              <a:ext cx="776" cy="327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800" dirty="0">
                  <a:latin typeface="Times New Roman" panose="02020603050405020304" pitchFamily="18" charset="0"/>
                </a:rPr>
                <a:t>触发器</a:t>
              </a:r>
              <a:endParaRPr lang="zh-CN" altLang="en-US" sz="2800" dirty="0">
                <a:latin typeface="Times New Roman" panose="02020603050405020304" pitchFamily="18" charset="0"/>
              </a:endParaRPr>
            </a:p>
          </p:txBody>
        </p:sp>
        <p:sp>
          <p:nvSpPr>
            <p:cNvPr id="7208" name="Rectangle 3080"/>
            <p:cNvSpPr/>
            <p:nvPr/>
          </p:nvSpPr>
          <p:spPr>
            <a:xfrm>
              <a:off x="1125" y="3143"/>
              <a:ext cx="892" cy="396"/>
            </a:xfrm>
            <a:prstGeom prst="rect">
              <a:avLst/>
            </a:prstGeom>
            <a:solidFill>
              <a:srgbClr val="E1FDFF"/>
            </a:solidFill>
            <a:ln w="38100" cap="flat" cmpd="sng">
              <a:solidFill>
                <a:srgbClr val="3333FF"/>
              </a:solidFill>
              <a:prstDash val="solid"/>
              <a:miter/>
              <a:headEnd type="none" w="med" len="med"/>
              <a:tailEnd type="none" w="sm" len="lg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7209" name="Text Box 3081"/>
            <p:cNvSpPr txBox="1"/>
            <p:nvPr/>
          </p:nvSpPr>
          <p:spPr>
            <a:xfrm>
              <a:off x="1248" y="3158"/>
              <a:ext cx="776" cy="327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800" dirty="0">
                  <a:latin typeface="Times New Roman" panose="02020603050405020304" pitchFamily="18" charset="0"/>
                </a:rPr>
                <a:t>触发器</a:t>
              </a:r>
              <a:endParaRPr lang="zh-CN" altLang="en-US" sz="2800" dirty="0">
                <a:latin typeface="Times New Roman" panose="02020603050405020304" pitchFamily="18" charset="0"/>
              </a:endParaRPr>
            </a:p>
          </p:txBody>
        </p:sp>
        <p:sp>
          <p:nvSpPr>
            <p:cNvPr id="7210" name="Freeform 3082"/>
            <p:cNvSpPr/>
            <p:nvPr/>
          </p:nvSpPr>
          <p:spPr>
            <a:xfrm>
              <a:off x="783" y="1743"/>
              <a:ext cx="342" cy="875"/>
            </a:xfrm>
            <a:custGeom>
              <a:avLst/>
              <a:gdLst/>
              <a:ahLst/>
              <a:cxnLst>
                <a:cxn ang="0">
                  <a:pos x="342" y="875"/>
                </a:cxn>
                <a:cxn ang="0">
                  <a:pos x="0" y="875"/>
                </a:cxn>
                <a:cxn ang="0">
                  <a:pos x="0" y="0"/>
                </a:cxn>
                <a:cxn ang="0">
                  <a:pos x="342" y="0"/>
                </a:cxn>
              </a:cxnLst>
              <a:pathLst>
                <a:path w="372" h="900">
                  <a:moveTo>
                    <a:pt x="372" y="900"/>
                  </a:moveTo>
                  <a:lnTo>
                    <a:pt x="0" y="900"/>
                  </a:lnTo>
                  <a:lnTo>
                    <a:pt x="0" y="0"/>
                  </a:lnTo>
                  <a:lnTo>
                    <a:pt x="372" y="0"/>
                  </a:lnTo>
                </a:path>
              </a:pathLst>
            </a:custGeom>
            <a:noFill/>
            <a:ln w="19050" cap="flat" cmpd="sng">
              <a:solidFill>
                <a:srgbClr val="3333FF">
                  <a:alpha val="100000"/>
                </a:srgbClr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7211" name="Freeform 3083"/>
            <p:cNvSpPr/>
            <p:nvPr/>
          </p:nvSpPr>
          <p:spPr>
            <a:xfrm>
              <a:off x="497" y="1509"/>
              <a:ext cx="606" cy="1820"/>
            </a:xfrm>
            <a:custGeom>
              <a:avLst/>
              <a:gdLst/>
              <a:ahLst/>
              <a:cxnLst>
                <a:cxn ang="0">
                  <a:pos x="606" y="1820"/>
                </a:cxn>
                <a:cxn ang="0">
                  <a:pos x="0" y="1820"/>
                </a:cxn>
                <a:cxn ang="0">
                  <a:pos x="0" y="0"/>
                </a:cxn>
                <a:cxn ang="0">
                  <a:pos x="606" y="0"/>
                </a:cxn>
              </a:cxnLst>
              <a:pathLst>
                <a:path w="372" h="900">
                  <a:moveTo>
                    <a:pt x="372" y="900"/>
                  </a:moveTo>
                  <a:lnTo>
                    <a:pt x="0" y="900"/>
                  </a:lnTo>
                  <a:lnTo>
                    <a:pt x="0" y="0"/>
                  </a:lnTo>
                  <a:lnTo>
                    <a:pt x="372" y="0"/>
                  </a:lnTo>
                </a:path>
              </a:pathLst>
            </a:custGeom>
            <a:noFill/>
            <a:ln w="19050" cap="flat" cmpd="sng">
              <a:solidFill>
                <a:srgbClr val="3333FF">
                  <a:alpha val="100000"/>
                </a:srgbClr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7212" name="Freeform 3085"/>
            <p:cNvSpPr/>
            <p:nvPr/>
          </p:nvSpPr>
          <p:spPr>
            <a:xfrm>
              <a:off x="2017" y="1719"/>
              <a:ext cx="254" cy="84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54" y="0"/>
                </a:cxn>
                <a:cxn ang="0">
                  <a:pos x="254" y="840"/>
                </a:cxn>
                <a:cxn ang="0">
                  <a:pos x="0" y="840"/>
                </a:cxn>
              </a:cxnLst>
              <a:pathLst>
                <a:path w="276" h="864">
                  <a:moveTo>
                    <a:pt x="0" y="0"/>
                  </a:moveTo>
                  <a:lnTo>
                    <a:pt x="276" y="0"/>
                  </a:lnTo>
                  <a:lnTo>
                    <a:pt x="276" y="864"/>
                  </a:lnTo>
                  <a:lnTo>
                    <a:pt x="0" y="864"/>
                  </a:lnTo>
                </a:path>
              </a:pathLst>
            </a:custGeom>
            <a:noFill/>
            <a:ln w="19050" cap="flat" cmpd="sng">
              <a:solidFill>
                <a:srgbClr val="3333FF">
                  <a:alpha val="100000"/>
                </a:srgbClr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7213" name="Freeform 3087"/>
            <p:cNvSpPr/>
            <p:nvPr/>
          </p:nvSpPr>
          <p:spPr>
            <a:xfrm>
              <a:off x="2006" y="1509"/>
              <a:ext cx="551" cy="183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51" y="0"/>
                </a:cxn>
                <a:cxn ang="0">
                  <a:pos x="551" y="1832"/>
                </a:cxn>
                <a:cxn ang="0">
                  <a:pos x="13" y="1832"/>
                </a:cxn>
              </a:cxnLst>
              <a:pathLst>
                <a:path w="492" h="2220">
                  <a:moveTo>
                    <a:pt x="0" y="0"/>
                  </a:moveTo>
                  <a:lnTo>
                    <a:pt x="492" y="0"/>
                  </a:lnTo>
                  <a:lnTo>
                    <a:pt x="492" y="2220"/>
                  </a:lnTo>
                  <a:lnTo>
                    <a:pt x="12" y="2220"/>
                  </a:lnTo>
                </a:path>
              </a:pathLst>
            </a:custGeom>
            <a:noFill/>
            <a:ln w="19050" cap="flat" cmpd="sng">
              <a:solidFill>
                <a:srgbClr val="3333FF">
                  <a:alpha val="100000"/>
                </a:srgbClr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7214" name="Rectangle 3088"/>
            <p:cNvSpPr/>
            <p:nvPr/>
          </p:nvSpPr>
          <p:spPr>
            <a:xfrm>
              <a:off x="1003" y="2279"/>
              <a:ext cx="1158" cy="1412"/>
            </a:xfrm>
            <a:prstGeom prst="rect">
              <a:avLst/>
            </a:prstGeom>
            <a:noFill/>
            <a:ln w="19050" cap="flat" cmpd="sng">
              <a:solidFill>
                <a:srgbClr val="3333FF"/>
              </a:solidFill>
              <a:prstDash val="sysDot"/>
              <a:miter/>
              <a:headEnd type="none" w="med" len="med"/>
              <a:tailEnd type="none" w="sm" len="lg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7215" name="Line 3090"/>
            <p:cNvSpPr/>
            <p:nvPr/>
          </p:nvSpPr>
          <p:spPr>
            <a:xfrm>
              <a:off x="1543" y="2816"/>
              <a:ext cx="0" cy="338"/>
            </a:xfrm>
            <a:prstGeom prst="line">
              <a:avLst/>
            </a:prstGeom>
            <a:ln w="19050" cap="flat" cmpd="sng">
              <a:solidFill>
                <a:srgbClr val="3333FF"/>
              </a:solidFill>
              <a:prstDash val="sysDot"/>
              <a:headEnd type="none" w="med" len="med"/>
              <a:tailEnd type="none" w="sm" len="lg"/>
            </a:ln>
          </p:spPr>
        </p:sp>
        <p:sp>
          <p:nvSpPr>
            <p:cNvPr id="7216" name="Line 3091"/>
            <p:cNvSpPr/>
            <p:nvPr/>
          </p:nvSpPr>
          <p:spPr>
            <a:xfrm>
              <a:off x="2304" y="2139"/>
              <a:ext cx="242" cy="0"/>
            </a:xfrm>
            <a:prstGeom prst="line">
              <a:avLst/>
            </a:prstGeom>
            <a:ln w="19050" cap="flat" cmpd="sng">
              <a:solidFill>
                <a:srgbClr val="3333FF"/>
              </a:solidFill>
              <a:prstDash val="sysDot"/>
              <a:headEnd type="none" w="med" len="med"/>
              <a:tailEnd type="none" w="sm" len="lg"/>
            </a:ln>
          </p:spPr>
        </p:sp>
        <p:sp>
          <p:nvSpPr>
            <p:cNvPr id="7217" name="Line 3092"/>
            <p:cNvSpPr/>
            <p:nvPr/>
          </p:nvSpPr>
          <p:spPr>
            <a:xfrm>
              <a:off x="530" y="2139"/>
              <a:ext cx="242" cy="0"/>
            </a:xfrm>
            <a:prstGeom prst="line">
              <a:avLst/>
            </a:prstGeom>
            <a:ln w="19050" cap="flat" cmpd="sng">
              <a:solidFill>
                <a:srgbClr val="3333FF"/>
              </a:solidFill>
              <a:prstDash val="sysDot"/>
              <a:headEnd type="none" w="med" len="med"/>
              <a:tailEnd type="none" w="sm" len="lg"/>
            </a:ln>
          </p:spPr>
        </p:sp>
        <p:sp>
          <p:nvSpPr>
            <p:cNvPr id="7218" name="Line 3095"/>
            <p:cNvSpPr/>
            <p:nvPr/>
          </p:nvSpPr>
          <p:spPr>
            <a:xfrm>
              <a:off x="2006" y="1288"/>
              <a:ext cx="595" cy="0"/>
            </a:xfrm>
            <a:prstGeom prst="line">
              <a:avLst/>
            </a:prstGeom>
            <a:ln w="19050" cap="flat" cmpd="sng">
              <a:solidFill>
                <a:srgbClr val="3333FF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7219" name="Line 3096"/>
            <p:cNvSpPr/>
            <p:nvPr/>
          </p:nvSpPr>
          <p:spPr>
            <a:xfrm>
              <a:off x="2006" y="1043"/>
              <a:ext cx="595" cy="0"/>
            </a:xfrm>
            <a:prstGeom prst="line">
              <a:avLst/>
            </a:prstGeom>
            <a:ln w="19050" cap="flat" cmpd="sng">
              <a:solidFill>
                <a:srgbClr val="3333FF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7220" name="Line 3097"/>
            <p:cNvSpPr/>
            <p:nvPr/>
          </p:nvSpPr>
          <p:spPr>
            <a:xfrm>
              <a:off x="2282" y="1054"/>
              <a:ext cx="0" cy="234"/>
            </a:xfrm>
            <a:prstGeom prst="line">
              <a:avLst/>
            </a:prstGeom>
            <a:ln w="19050" cap="flat" cmpd="sng">
              <a:solidFill>
                <a:srgbClr val="3333FF"/>
              </a:solidFill>
              <a:prstDash val="sysDot"/>
              <a:headEnd type="none" w="med" len="med"/>
              <a:tailEnd type="none" w="sm" len="lg"/>
            </a:ln>
          </p:spPr>
        </p:sp>
        <p:sp>
          <p:nvSpPr>
            <p:cNvPr id="7221" name="Line 3098"/>
            <p:cNvSpPr/>
            <p:nvPr/>
          </p:nvSpPr>
          <p:spPr>
            <a:xfrm>
              <a:off x="508" y="1054"/>
              <a:ext cx="606" cy="0"/>
            </a:xfrm>
            <a:prstGeom prst="line">
              <a:avLst/>
            </a:prstGeom>
            <a:ln w="19050" cap="flat" cmpd="sng">
              <a:solidFill>
                <a:srgbClr val="3333FF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7222" name="Line 3099"/>
            <p:cNvSpPr/>
            <p:nvPr/>
          </p:nvSpPr>
          <p:spPr>
            <a:xfrm>
              <a:off x="497" y="1299"/>
              <a:ext cx="606" cy="0"/>
            </a:xfrm>
            <a:prstGeom prst="line">
              <a:avLst/>
            </a:prstGeom>
            <a:ln w="19050" cap="flat" cmpd="sng">
              <a:solidFill>
                <a:srgbClr val="3333FF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7223" name="Line 3100"/>
            <p:cNvSpPr/>
            <p:nvPr/>
          </p:nvSpPr>
          <p:spPr>
            <a:xfrm>
              <a:off x="849" y="1066"/>
              <a:ext cx="0" cy="233"/>
            </a:xfrm>
            <a:prstGeom prst="line">
              <a:avLst/>
            </a:prstGeom>
            <a:ln w="19050" cap="flat" cmpd="sng">
              <a:solidFill>
                <a:srgbClr val="3333FF"/>
              </a:solidFill>
              <a:prstDash val="sysDot"/>
              <a:headEnd type="none" w="med" len="med"/>
              <a:tailEnd type="none" w="sm" len="lg"/>
            </a:ln>
          </p:spPr>
        </p:sp>
        <p:sp>
          <p:nvSpPr>
            <p:cNvPr id="7224" name="Text Box 3101"/>
            <p:cNvSpPr txBox="1"/>
            <p:nvPr/>
          </p:nvSpPr>
          <p:spPr>
            <a:xfrm>
              <a:off x="498" y="757"/>
              <a:ext cx="304" cy="327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x</a:t>
              </a:r>
              <a:r>
                <a:rPr lang="en-US" altLang="zh-CN" sz="2800" baseline="-25000" dirty="0">
                  <a:latin typeface="Times New Roman" panose="02020603050405020304" pitchFamily="18" charset="0"/>
                </a:rPr>
                <a:t>1</a:t>
              </a:r>
              <a:endParaRPr lang="en-US" altLang="zh-CN" sz="2800" dirty="0">
                <a:latin typeface="Times New Roman" panose="02020603050405020304" pitchFamily="18" charset="0"/>
              </a:endParaRPr>
            </a:p>
          </p:txBody>
        </p:sp>
        <p:sp>
          <p:nvSpPr>
            <p:cNvPr id="7225" name="Text Box 3102"/>
            <p:cNvSpPr txBox="1"/>
            <p:nvPr/>
          </p:nvSpPr>
          <p:spPr>
            <a:xfrm>
              <a:off x="2261" y="757"/>
              <a:ext cx="329" cy="327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Z</a:t>
              </a:r>
              <a:r>
                <a:rPr lang="en-US" altLang="zh-CN" sz="2800" baseline="-25000" dirty="0">
                  <a:latin typeface="Times New Roman" panose="02020603050405020304" pitchFamily="18" charset="0"/>
                </a:rPr>
                <a:t>1</a:t>
              </a:r>
              <a:endParaRPr lang="en-US" altLang="zh-CN" sz="2800" dirty="0">
                <a:latin typeface="Times New Roman" panose="02020603050405020304" pitchFamily="18" charset="0"/>
              </a:endParaRPr>
            </a:p>
          </p:txBody>
        </p:sp>
        <p:sp>
          <p:nvSpPr>
            <p:cNvPr id="7226" name="Text Box 3103"/>
            <p:cNvSpPr txBox="1"/>
            <p:nvPr/>
          </p:nvSpPr>
          <p:spPr>
            <a:xfrm>
              <a:off x="774" y="1702"/>
              <a:ext cx="304" cy="327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y</a:t>
              </a:r>
              <a:r>
                <a:rPr lang="en-US" altLang="zh-CN" sz="2800" baseline="-25000" dirty="0">
                  <a:latin typeface="Times New Roman" panose="02020603050405020304" pitchFamily="18" charset="0"/>
                </a:rPr>
                <a:t>1</a:t>
              </a:r>
              <a:endParaRPr lang="en-US" altLang="zh-CN" sz="2800" dirty="0">
                <a:latin typeface="Times New Roman" panose="02020603050405020304" pitchFamily="18" charset="0"/>
              </a:endParaRPr>
            </a:p>
          </p:txBody>
        </p:sp>
        <p:sp>
          <p:nvSpPr>
            <p:cNvPr id="7227" name="Text Box 3104"/>
            <p:cNvSpPr txBox="1"/>
            <p:nvPr/>
          </p:nvSpPr>
          <p:spPr>
            <a:xfrm>
              <a:off x="1984" y="1772"/>
              <a:ext cx="354" cy="327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Y</a:t>
              </a:r>
              <a:r>
                <a:rPr lang="en-US" altLang="zh-CN" sz="2800" baseline="-25000" dirty="0">
                  <a:latin typeface="Times New Roman" panose="02020603050405020304" pitchFamily="18" charset="0"/>
                </a:rPr>
                <a:t>1</a:t>
              </a:r>
              <a:endParaRPr lang="en-US" altLang="zh-CN" sz="2800" dirty="0">
                <a:latin typeface="Times New Roman" panose="02020603050405020304" pitchFamily="18" charset="0"/>
              </a:endParaRPr>
            </a:p>
          </p:txBody>
        </p:sp>
        <p:sp>
          <p:nvSpPr>
            <p:cNvPr id="7228" name="Text Box 3105"/>
            <p:cNvSpPr txBox="1"/>
            <p:nvPr/>
          </p:nvSpPr>
          <p:spPr>
            <a:xfrm>
              <a:off x="2526" y="1760"/>
              <a:ext cx="337" cy="327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Y</a:t>
              </a:r>
              <a:r>
                <a:rPr lang="en-US" altLang="zh-CN" sz="2800" i="1" baseline="-25000" dirty="0">
                  <a:latin typeface="Times New Roman" panose="02020603050405020304" pitchFamily="18" charset="0"/>
                </a:rPr>
                <a:t>r</a:t>
              </a:r>
              <a:endParaRPr lang="en-US" altLang="zh-CN" sz="2800" dirty="0">
                <a:latin typeface="Times New Roman" panose="02020603050405020304" pitchFamily="18" charset="0"/>
              </a:endParaRPr>
            </a:p>
          </p:txBody>
        </p:sp>
        <p:sp>
          <p:nvSpPr>
            <p:cNvPr id="7229" name="Text Box 3106"/>
            <p:cNvSpPr txBox="1"/>
            <p:nvPr/>
          </p:nvSpPr>
          <p:spPr>
            <a:xfrm>
              <a:off x="278" y="1714"/>
              <a:ext cx="287" cy="327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y</a:t>
              </a:r>
              <a:r>
                <a:rPr lang="en-US" altLang="zh-CN" sz="2800" i="1" baseline="-25000" dirty="0">
                  <a:latin typeface="Times New Roman" panose="02020603050405020304" pitchFamily="18" charset="0"/>
                </a:rPr>
                <a:t>r</a:t>
              </a:r>
              <a:endParaRPr lang="en-US" altLang="zh-CN" sz="2800" dirty="0">
                <a:latin typeface="Times New Roman" panose="02020603050405020304" pitchFamily="18" charset="0"/>
              </a:endParaRPr>
            </a:p>
          </p:txBody>
        </p:sp>
        <p:sp>
          <p:nvSpPr>
            <p:cNvPr id="7230" name="Text Box 3107"/>
            <p:cNvSpPr txBox="1"/>
            <p:nvPr/>
          </p:nvSpPr>
          <p:spPr>
            <a:xfrm>
              <a:off x="465" y="1212"/>
              <a:ext cx="304" cy="327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x</a:t>
              </a:r>
              <a:r>
                <a:rPr lang="en-US" altLang="zh-CN" sz="2800" i="1" baseline="-25000" dirty="0">
                  <a:latin typeface="Times New Roman" panose="02020603050405020304" pitchFamily="18" charset="0"/>
                </a:rPr>
                <a:t>n</a:t>
              </a:r>
              <a:endParaRPr lang="en-US" altLang="zh-CN" sz="2800" dirty="0">
                <a:latin typeface="Times New Roman" panose="02020603050405020304" pitchFamily="18" charset="0"/>
              </a:endParaRPr>
            </a:p>
          </p:txBody>
        </p:sp>
        <p:sp>
          <p:nvSpPr>
            <p:cNvPr id="7231" name="Text Box 3108"/>
            <p:cNvSpPr txBox="1"/>
            <p:nvPr/>
          </p:nvSpPr>
          <p:spPr>
            <a:xfrm>
              <a:off x="2273" y="1212"/>
              <a:ext cx="363" cy="327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Z</a:t>
              </a:r>
              <a:r>
                <a:rPr lang="en-US" altLang="zh-CN" sz="2800" i="1" baseline="-25000" dirty="0">
                  <a:latin typeface="Times New Roman" panose="02020603050405020304" pitchFamily="18" charset="0"/>
                </a:rPr>
                <a:t>m</a:t>
              </a:r>
              <a:endParaRPr lang="en-US" altLang="zh-CN" sz="2800" dirty="0">
                <a:latin typeface="Times New Roman" panose="02020603050405020304" pitchFamily="18" charset="0"/>
              </a:endParaRPr>
            </a:p>
          </p:txBody>
        </p:sp>
        <p:sp>
          <p:nvSpPr>
            <p:cNvPr id="7232" name="Text Box 3109"/>
            <p:cNvSpPr txBox="1"/>
            <p:nvPr/>
          </p:nvSpPr>
          <p:spPr>
            <a:xfrm>
              <a:off x="1115" y="1980"/>
              <a:ext cx="1004" cy="327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800" dirty="0">
                  <a:latin typeface="Times New Roman" panose="02020603050405020304" pitchFamily="18" charset="0"/>
                </a:rPr>
                <a:t>存储电路</a:t>
              </a:r>
              <a:endParaRPr lang="zh-CN" altLang="en-US" sz="2800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" name="Group 3182"/>
          <p:cNvGrpSpPr/>
          <p:nvPr/>
        </p:nvGrpSpPr>
        <p:grpSpPr>
          <a:xfrm>
            <a:off x="4537075" y="1827213"/>
            <a:ext cx="4103688" cy="5030787"/>
            <a:chOff x="2858" y="1151"/>
            <a:chExt cx="2585" cy="3169"/>
          </a:xfrm>
        </p:grpSpPr>
        <p:sp>
          <p:nvSpPr>
            <p:cNvPr id="7173" name="Rectangle 3143"/>
            <p:cNvSpPr/>
            <p:nvPr/>
          </p:nvSpPr>
          <p:spPr>
            <a:xfrm>
              <a:off x="3705" y="1318"/>
              <a:ext cx="881" cy="1015"/>
            </a:xfrm>
            <a:prstGeom prst="rect">
              <a:avLst/>
            </a:prstGeom>
            <a:solidFill>
              <a:srgbClr val="E1FDFF"/>
            </a:solidFill>
            <a:ln w="38100" cap="flat" cmpd="sng">
              <a:solidFill>
                <a:srgbClr val="3333FF"/>
              </a:solidFill>
              <a:prstDash val="solid"/>
              <a:miter/>
              <a:headEnd type="none" w="med" len="med"/>
              <a:tailEnd type="none" w="sm" len="lg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7174" name="Text Box 3144"/>
            <p:cNvSpPr txBox="1"/>
            <p:nvPr/>
          </p:nvSpPr>
          <p:spPr>
            <a:xfrm>
              <a:off x="3858" y="1461"/>
              <a:ext cx="620" cy="731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p>
              <a:pPr algn="ctr" eaLnBrk="1" hangingPunct="1"/>
              <a:r>
                <a:rPr lang="zh-CN" altLang="en-US" sz="2800" dirty="0">
                  <a:latin typeface="Times New Roman" panose="02020603050405020304" pitchFamily="18" charset="0"/>
                </a:rPr>
                <a:t>组 合</a:t>
              </a:r>
              <a:endParaRPr lang="zh-CN" altLang="en-US" sz="2800" dirty="0">
                <a:latin typeface="Times New Roman" panose="02020603050405020304" pitchFamily="18" charset="0"/>
              </a:endParaRPr>
            </a:p>
            <a:p>
              <a:pPr algn="ctr" eaLnBrk="1" hangingPunct="1">
                <a:lnSpc>
                  <a:spcPct val="150000"/>
                </a:lnSpc>
              </a:pPr>
              <a:r>
                <a:rPr lang="zh-CN" altLang="en-US" sz="2800" dirty="0">
                  <a:latin typeface="Times New Roman" panose="02020603050405020304" pitchFamily="18" charset="0"/>
                </a:rPr>
                <a:t>逻 辑</a:t>
              </a:r>
              <a:endParaRPr lang="zh-CN" altLang="en-US" sz="2800" dirty="0">
                <a:latin typeface="Times New Roman" panose="02020603050405020304" pitchFamily="18" charset="0"/>
              </a:endParaRPr>
            </a:p>
          </p:txBody>
        </p:sp>
        <p:sp>
          <p:nvSpPr>
            <p:cNvPr id="7175" name="Rectangle 3145"/>
            <p:cNvSpPr/>
            <p:nvPr/>
          </p:nvSpPr>
          <p:spPr>
            <a:xfrm>
              <a:off x="3705" y="3023"/>
              <a:ext cx="892" cy="421"/>
            </a:xfrm>
            <a:prstGeom prst="rect">
              <a:avLst/>
            </a:prstGeom>
            <a:solidFill>
              <a:srgbClr val="E1FDFF"/>
            </a:solidFill>
            <a:ln w="38100" cap="flat" cmpd="sng">
              <a:solidFill>
                <a:srgbClr val="3333FF"/>
              </a:solidFill>
              <a:prstDash val="solid"/>
              <a:miter/>
              <a:headEnd type="none" w="med" len="med"/>
              <a:tailEnd type="none" w="sm" len="lg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7176" name="Text Box 3146"/>
            <p:cNvSpPr txBox="1"/>
            <p:nvPr/>
          </p:nvSpPr>
          <p:spPr>
            <a:xfrm>
              <a:off x="3650" y="3052"/>
              <a:ext cx="1012" cy="327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800" dirty="0">
                  <a:latin typeface="Times New Roman" panose="02020603050405020304" pitchFamily="18" charset="0"/>
                </a:rPr>
                <a:t>延迟元件</a:t>
              </a:r>
              <a:endParaRPr lang="zh-CN" altLang="en-US" sz="2800" dirty="0">
                <a:latin typeface="Times New Roman" panose="02020603050405020304" pitchFamily="18" charset="0"/>
              </a:endParaRPr>
            </a:p>
          </p:txBody>
        </p:sp>
        <p:sp>
          <p:nvSpPr>
            <p:cNvPr id="7177" name="Rectangle 3147"/>
            <p:cNvSpPr/>
            <p:nvPr/>
          </p:nvSpPr>
          <p:spPr>
            <a:xfrm>
              <a:off x="3705" y="3683"/>
              <a:ext cx="892" cy="421"/>
            </a:xfrm>
            <a:prstGeom prst="rect">
              <a:avLst/>
            </a:prstGeom>
            <a:solidFill>
              <a:srgbClr val="E1FDFF"/>
            </a:solidFill>
            <a:ln w="38100" cap="flat" cmpd="sng">
              <a:solidFill>
                <a:srgbClr val="3333FF"/>
              </a:solidFill>
              <a:prstDash val="solid"/>
              <a:miter/>
              <a:headEnd type="none" w="med" len="med"/>
              <a:tailEnd type="none" w="sm" len="lg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7178" name="Freeform 3149"/>
            <p:cNvSpPr/>
            <p:nvPr/>
          </p:nvSpPr>
          <p:spPr>
            <a:xfrm>
              <a:off x="3363" y="2197"/>
              <a:ext cx="342" cy="1073"/>
            </a:xfrm>
            <a:custGeom>
              <a:avLst/>
              <a:gdLst/>
              <a:ahLst/>
              <a:cxnLst>
                <a:cxn ang="0">
                  <a:pos x="342" y="1073"/>
                </a:cxn>
                <a:cxn ang="0">
                  <a:pos x="0" y="1073"/>
                </a:cxn>
                <a:cxn ang="0">
                  <a:pos x="0" y="0"/>
                </a:cxn>
                <a:cxn ang="0">
                  <a:pos x="342" y="0"/>
                </a:cxn>
              </a:cxnLst>
              <a:pathLst>
                <a:path w="372" h="900">
                  <a:moveTo>
                    <a:pt x="372" y="900"/>
                  </a:moveTo>
                  <a:lnTo>
                    <a:pt x="0" y="900"/>
                  </a:lnTo>
                  <a:lnTo>
                    <a:pt x="0" y="0"/>
                  </a:lnTo>
                  <a:lnTo>
                    <a:pt x="372" y="0"/>
                  </a:lnTo>
                </a:path>
              </a:pathLst>
            </a:custGeom>
            <a:noFill/>
            <a:ln w="19050" cap="flat" cmpd="sng">
              <a:solidFill>
                <a:srgbClr val="3333FF">
                  <a:alpha val="100000"/>
                </a:srgbClr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7179" name="Freeform 3150"/>
            <p:cNvSpPr/>
            <p:nvPr/>
          </p:nvSpPr>
          <p:spPr>
            <a:xfrm>
              <a:off x="3077" y="1949"/>
              <a:ext cx="606" cy="1932"/>
            </a:xfrm>
            <a:custGeom>
              <a:avLst/>
              <a:gdLst/>
              <a:ahLst/>
              <a:cxnLst>
                <a:cxn ang="0">
                  <a:pos x="606" y="1932"/>
                </a:cxn>
                <a:cxn ang="0">
                  <a:pos x="0" y="1932"/>
                </a:cxn>
                <a:cxn ang="0">
                  <a:pos x="0" y="0"/>
                </a:cxn>
                <a:cxn ang="0">
                  <a:pos x="606" y="0"/>
                </a:cxn>
              </a:cxnLst>
              <a:pathLst>
                <a:path w="372" h="900">
                  <a:moveTo>
                    <a:pt x="372" y="900"/>
                  </a:moveTo>
                  <a:lnTo>
                    <a:pt x="0" y="900"/>
                  </a:lnTo>
                  <a:lnTo>
                    <a:pt x="0" y="0"/>
                  </a:lnTo>
                  <a:lnTo>
                    <a:pt x="372" y="0"/>
                  </a:lnTo>
                </a:path>
              </a:pathLst>
            </a:custGeom>
            <a:noFill/>
            <a:ln w="19050" cap="flat" cmpd="sng">
              <a:solidFill>
                <a:srgbClr val="3333FF">
                  <a:alpha val="100000"/>
                </a:srgbClr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7180" name="Freeform 3151"/>
            <p:cNvSpPr/>
            <p:nvPr/>
          </p:nvSpPr>
          <p:spPr>
            <a:xfrm>
              <a:off x="4597" y="2172"/>
              <a:ext cx="266" cy="109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66" y="0"/>
                </a:cxn>
                <a:cxn ang="0">
                  <a:pos x="266" y="1096"/>
                </a:cxn>
                <a:cxn ang="0">
                  <a:pos x="0" y="1096"/>
                </a:cxn>
              </a:cxnLst>
              <a:pathLst>
                <a:path w="276" h="864">
                  <a:moveTo>
                    <a:pt x="0" y="0"/>
                  </a:moveTo>
                  <a:lnTo>
                    <a:pt x="276" y="0"/>
                  </a:lnTo>
                  <a:lnTo>
                    <a:pt x="276" y="864"/>
                  </a:lnTo>
                  <a:lnTo>
                    <a:pt x="0" y="864"/>
                  </a:lnTo>
                </a:path>
              </a:pathLst>
            </a:custGeom>
            <a:noFill/>
            <a:ln w="19050" cap="flat" cmpd="sng">
              <a:solidFill>
                <a:srgbClr val="3333FF">
                  <a:alpha val="100000"/>
                </a:srgbClr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7181" name="Freeform 3152"/>
            <p:cNvSpPr/>
            <p:nvPr/>
          </p:nvSpPr>
          <p:spPr>
            <a:xfrm>
              <a:off x="4586" y="1949"/>
              <a:ext cx="551" cy="1945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51" y="0"/>
                </a:cxn>
                <a:cxn ang="0">
                  <a:pos x="551" y="1945"/>
                </a:cxn>
                <a:cxn ang="0">
                  <a:pos x="13" y="1945"/>
                </a:cxn>
              </a:cxnLst>
              <a:pathLst>
                <a:path w="492" h="2220">
                  <a:moveTo>
                    <a:pt x="0" y="0"/>
                  </a:moveTo>
                  <a:lnTo>
                    <a:pt x="492" y="0"/>
                  </a:lnTo>
                  <a:lnTo>
                    <a:pt x="492" y="2220"/>
                  </a:lnTo>
                  <a:lnTo>
                    <a:pt x="12" y="2220"/>
                  </a:lnTo>
                </a:path>
              </a:pathLst>
            </a:custGeom>
            <a:noFill/>
            <a:ln w="19050" cap="flat" cmpd="sng">
              <a:solidFill>
                <a:srgbClr val="3333FF">
                  <a:alpha val="100000"/>
                </a:srgbClr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7182" name="Rectangle 3153"/>
            <p:cNvSpPr/>
            <p:nvPr/>
          </p:nvSpPr>
          <p:spPr>
            <a:xfrm>
              <a:off x="3583" y="2850"/>
              <a:ext cx="1158" cy="1451"/>
            </a:xfrm>
            <a:prstGeom prst="rect">
              <a:avLst/>
            </a:prstGeom>
            <a:noFill/>
            <a:ln w="19050" cap="flat" cmpd="sng">
              <a:solidFill>
                <a:srgbClr val="3333FF"/>
              </a:solidFill>
              <a:prstDash val="sysDot"/>
              <a:miter/>
              <a:headEnd type="none" w="med" len="med"/>
              <a:tailEnd type="none" w="sm" len="lg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7183" name="Line 3154"/>
            <p:cNvSpPr/>
            <p:nvPr/>
          </p:nvSpPr>
          <p:spPr>
            <a:xfrm>
              <a:off x="4123" y="3480"/>
              <a:ext cx="0" cy="215"/>
            </a:xfrm>
            <a:prstGeom prst="line">
              <a:avLst/>
            </a:prstGeom>
            <a:ln w="19050" cap="flat" cmpd="sng">
              <a:solidFill>
                <a:srgbClr val="3333FF"/>
              </a:solidFill>
              <a:prstDash val="sysDot"/>
              <a:headEnd type="none" w="med" len="med"/>
              <a:tailEnd type="none" w="sm" len="lg"/>
            </a:ln>
          </p:spPr>
        </p:sp>
        <p:sp>
          <p:nvSpPr>
            <p:cNvPr id="7184" name="Line 3155"/>
            <p:cNvSpPr/>
            <p:nvPr/>
          </p:nvSpPr>
          <p:spPr>
            <a:xfrm>
              <a:off x="4884" y="2618"/>
              <a:ext cx="242" cy="0"/>
            </a:xfrm>
            <a:prstGeom prst="line">
              <a:avLst/>
            </a:prstGeom>
            <a:ln w="19050" cap="flat" cmpd="sng">
              <a:solidFill>
                <a:srgbClr val="3333FF"/>
              </a:solidFill>
              <a:prstDash val="sysDot"/>
              <a:headEnd type="none" w="med" len="med"/>
              <a:tailEnd type="none" w="sm" len="lg"/>
            </a:ln>
          </p:spPr>
        </p:sp>
        <p:sp>
          <p:nvSpPr>
            <p:cNvPr id="7185" name="Line 3156"/>
            <p:cNvSpPr/>
            <p:nvPr/>
          </p:nvSpPr>
          <p:spPr>
            <a:xfrm>
              <a:off x="3110" y="2618"/>
              <a:ext cx="242" cy="0"/>
            </a:xfrm>
            <a:prstGeom prst="line">
              <a:avLst/>
            </a:prstGeom>
            <a:ln w="19050" cap="flat" cmpd="sng">
              <a:solidFill>
                <a:srgbClr val="3333FF"/>
              </a:solidFill>
              <a:prstDash val="sysDot"/>
              <a:headEnd type="none" w="med" len="med"/>
              <a:tailEnd type="none" w="sm" len="lg"/>
            </a:ln>
          </p:spPr>
        </p:sp>
        <p:sp>
          <p:nvSpPr>
            <p:cNvPr id="7186" name="Line 3157"/>
            <p:cNvSpPr/>
            <p:nvPr/>
          </p:nvSpPr>
          <p:spPr>
            <a:xfrm>
              <a:off x="4586" y="1715"/>
              <a:ext cx="595" cy="0"/>
            </a:xfrm>
            <a:prstGeom prst="line">
              <a:avLst/>
            </a:prstGeom>
            <a:ln w="19050" cap="flat" cmpd="sng">
              <a:solidFill>
                <a:srgbClr val="3333FF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7187" name="Line 3158"/>
            <p:cNvSpPr/>
            <p:nvPr/>
          </p:nvSpPr>
          <p:spPr>
            <a:xfrm>
              <a:off x="4586" y="1455"/>
              <a:ext cx="595" cy="0"/>
            </a:xfrm>
            <a:prstGeom prst="line">
              <a:avLst/>
            </a:prstGeom>
            <a:ln w="19050" cap="flat" cmpd="sng">
              <a:solidFill>
                <a:srgbClr val="3333FF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7188" name="Line 3159"/>
            <p:cNvSpPr/>
            <p:nvPr/>
          </p:nvSpPr>
          <p:spPr>
            <a:xfrm>
              <a:off x="4862" y="1466"/>
              <a:ext cx="0" cy="249"/>
            </a:xfrm>
            <a:prstGeom prst="line">
              <a:avLst/>
            </a:prstGeom>
            <a:ln w="19050" cap="flat" cmpd="sng">
              <a:solidFill>
                <a:srgbClr val="3333FF"/>
              </a:solidFill>
              <a:prstDash val="sysDot"/>
              <a:headEnd type="none" w="med" len="med"/>
              <a:tailEnd type="none" w="sm" len="lg"/>
            </a:ln>
          </p:spPr>
        </p:sp>
        <p:sp>
          <p:nvSpPr>
            <p:cNvPr id="7189" name="Line 3160"/>
            <p:cNvSpPr/>
            <p:nvPr/>
          </p:nvSpPr>
          <p:spPr>
            <a:xfrm>
              <a:off x="3088" y="1466"/>
              <a:ext cx="606" cy="0"/>
            </a:xfrm>
            <a:prstGeom prst="line">
              <a:avLst/>
            </a:prstGeom>
            <a:ln w="19050" cap="flat" cmpd="sng">
              <a:solidFill>
                <a:srgbClr val="3333FF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7190" name="Line 3161"/>
            <p:cNvSpPr/>
            <p:nvPr/>
          </p:nvSpPr>
          <p:spPr>
            <a:xfrm>
              <a:off x="3077" y="1726"/>
              <a:ext cx="606" cy="0"/>
            </a:xfrm>
            <a:prstGeom prst="line">
              <a:avLst/>
            </a:prstGeom>
            <a:ln w="19050" cap="flat" cmpd="sng">
              <a:solidFill>
                <a:srgbClr val="3333FF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7191" name="Line 3162"/>
            <p:cNvSpPr/>
            <p:nvPr/>
          </p:nvSpPr>
          <p:spPr>
            <a:xfrm>
              <a:off x="3429" y="1479"/>
              <a:ext cx="0" cy="247"/>
            </a:xfrm>
            <a:prstGeom prst="line">
              <a:avLst/>
            </a:prstGeom>
            <a:ln w="19050" cap="flat" cmpd="sng">
              <a:solidFill>
                <a:srgbClr val="3333FF"/>
              </a:solidFill>
              <a:prstDash val="sysDot"/>
              <a:headEnd type="none" w="med" len="med"/>
              <a:tailEnd type="none" w="sm" len="lg"/>
            </a:ln>
          </p:spPr>
        </p:sp>
        <p:sp>
          <p:nvSpPr>
            <p:cNvPr id="7192" name="Text Box 3163"/>
            <p:cNvSpPr txBox="1"/>
            <p:nvPr/>
          </p:nvSpPr>
          <p:spPr>
            <a:xfrm>
              <a:off x="3078" y="1151"/>
              <a:ext cx="304" cy="327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x</a:t>
              </a:r>
              <a:r>
                <a:rPr lang="en-US" altLang="zh-CN" sz="2800" baseline="-25000" dirty="0">
                  <a:latin typeface="Times New Roman" panose="02020603050405020304" pitchFamily="18" charset="0"/>
                </a:rPr>
                <a:t>1</a:t>
              </a:r>
              <a:endParaRPr lang="en-US" altLang="zh-CN" sz="2800" dirty="0">
                <a:latin typeface="Times New Roman" panose="02020603050405020304" pitchFamily="18" charset="0"/>
              </a:endParaRPr>
            </a:p>
          </p:txBody>
        </p:sp>
        <p:sp>
          <p:nvSpPr>
            <p:cNvPr id="7193" name="Text Box 3164"/>
            <p:cNvSpPr txBox="1"/>
            <p:nvPr/>
          </p:nvSpPr>
          <p:spPr>
            <a:xfrm>
              <a:off x="4841" y="1151"/>
              <a:ext cx="329" cy="327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Z</a:t>
              </a:r>
              <a:r>
                <a:rPr lang="en-US" altLang="zh-CN" sz="2800" baseline="-25000" dirty="0">
                  <a:latin typeface="Times New Roman" panose="02020603050405020304" pitchFamily="18" charset="0"/>
                </a:rPr>
                <a:t>1</a:t>
              </a:r>
              <a:endParaRPr lang="en-US" altLang="zh-CN" sz="2800" dirty="0">
                <a:latin typeface="Times New Roman" panose="02020603050405020304" pitchFamily="18" charset="0"/>
              </a:endParaRPr>
            </a:p>
          </p:txBody>
        </p:sp>
        <p:sp>
          <p:nvSpPr>
            <p:cNvPr id="7194" name="Text Box 3165"/>
            <p:cNvSpPr txBox="1"/>
            <p:nvPr/>
          </p:nvSpPr>
          <p:spPr>
            <a:xfrm>
              <a:off x="3354" y="2154"/>
              <a:ext cx="304" cy="327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y</a:t>
              </a:r>
              <a:r>
                <a:rPr lang="en-US" altLang="zh-CN" sz="2800" baseline="-25000" dirty="0">
                  <a:latin typeface="Times New Roman" panose="02020603050405020304" pitchFamily="18" charset="0"/>
                </a:rPr>
                <a:t>1</a:t>
              </a:r>
              <a:endParaRPr lang="en-US" altLang="zh-CN" sz="2800" dirty="0">
                <a:latin typeface="Times New Roman" panose="02020603050405020304" pitchFamily="18" charset="0"/>
              </a:endParaRPr>
            </a:p>
          </p:txBody>
        </p:sp>
        <p:sp>
          <p:nvSpPr>
            <p:cNvPr id="7195" name="Text Box 3166"/>
            <p:cNvSpPr txBox="1"/>
            <p:nvPr/>
          </p:nvSpPr>
          <p:spPr>
            <a:xfrm>
              <a:off x="4564" y="2228"/>
              <a:ext cx="354" cy="327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Y</a:t>
              </a:r>
              <a:r>
                <a:rPr lang="en-US" altLang="zh-CN" sz="2800" baseline="-25000" dirty="0">
                  <a:latin typeface="Times New Roman" panose="02020603050405020304" pitchFamily="18" charset="0"/>
                </a:rPr>
                <a:t>1</a:t>
              </a:r>
              <a:endParaRPr lang="en-US" altLang="zh-CN" sz="2800" dirty="0">
                <a:latin typeface="Times New Roman" panose="02020603050405020304" pitchFamily="18" charset="0"/>
              </a:endParaRPr>
            </a:p>
          </p:txBody>
        </p:sp>
        <p:sp>
          <p:nvSpPr>
            <p:cNvPr id="7196" name="Text Box 3167"/>
            <p:cNvSpPr txBox="1"/>
            <p:nvPr/>
          </p:nvSpPr>
          <p:spPr>
            <a:xfrm>
              <a:off x="5106" y="2216"/>
              <a:ext cx="337" cy="327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Y</a:t>
              </a:r>
              <a:r>
                <a:rPr lang="en-US" altLang="zh-CN" sz="2800" i="1" baseline="-25000" dirty="0">
                  <a:latin typeface="Times New Roman" panose="02020603050405020304" pitchFamily="18" charset="0"/>
                </a:rPr>
                <a:t>r</a:t>
              </a:r>
              <a:endParaRPr lang="en-US" altLang="zh-CN" sz="2800" dirty="0">
                <a:latin typeface="Times New Roman" panose="02020603050405020304" pitchFamily="18" charset="0"/>
              </a:endParaRPr>
            </a:p>
          </p:txBody>
        </p:sp>
        <p:sp>
          <p:nvSpPr>
            <p:cNvPr id="7197" name="Text Box 3168"/>
            <p:cNvSpPr txBox="1"/>
            <p:nvPr/>
          </p:nvSpPr>
          <p:spPr>
            <a:xfrm>
              <a:off x="2858" y="2167"/>
              <a:ext cx="287" cy="327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y</a:t>
              </a:r>
              <a:r>
                <a:rPr lang="en-US" altLang="zh-CN" sz="2800" i="1" baseline="-25000" dirty="0">
                  <a:latin typeface="Times New Roman" panose="02020603050405020304" pitchFamily="18" charset="0"/>
                </a:rPr>
                <a:t>r</a:t>
              </a:r>
              <a:endParaRPr lang="en-US" altLang="zh-CN" sz="2800" dirty="0">
                <a:latin typeface="Times New Roman" panose="02020603050405020304" pitchFamily="18" charset="0"/>
              </a:endParaRPr>
            </a:p>
          </p:txBody>
        </p:sp>
        <p:sp>
          <p:nvSpPr>
            <p:cNvPr id="7198" name="Text Box 3169"/>
            <p:cNvSpPr txBox="1"/>
            <p:nvPr/>
          </p:nvSpPr>
          <p:spPr>
            <a:xfrm>
              <a:off x="3045" y="1634"/>
              <a:ext cx="304" cy="327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x</a:t>
              </a:r>
              <a:r>
                <a:rPr lang="en-US" altLang="zh-CN" sz="2800" i="1" baseline="-25000" dirty="0">
                  <a:latin typeface="Times New Roman" panose="02020603050405020304" pitchFamily="18" charset="0"/>
                </a:rPr>
                <a:t>n</a:t>
              </a:r>
              <a:endParaRPr lang="en-US" altLang="zh-CN" sz="2800" dirty="0">
                <a:latin typeface="Times New Roman" panose="02020603050405020304" pitchFamily="18" charset="0"/>
              </a:endParaRPr>
            </a:p>
          </p:txBody>
        </p:sp>
        <p:sp>
          <p:nvSpPr>
            <p:cNvPr id="7199" name="Text Box 3170"/>
            <p:cNvSpPr txBox="1"/>
            <p:nvPr/>
          </p:nvSpPr>
          <p:spPr>
            <a:xfrm>
              <a:off x="4853" y="1634"/>
              <a:ext cx="363" cy="327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Z</a:t>
              </a:r>
              <a:r>
                <a:rPr lang="en-US" altLang="zh-CN" sz="2800" i="1" baseline="-25000" dirty="0">
                  <a:latin typeface="Times New Roman" panose="02020603050405020304" pitchFamily="18" charset="0"/>
                </a:rPr>
                <a:t>m</a:t>
              </a:r>
              <a:endParaRPr lang="en-US" altLang="zh-CN" sz="2800" dirty="0">
                <a:latin typeface="Times New Roman" panose="02020603050405020304" pitchFamily="18" charset="0"/>
              </a:endParaRPr>
            </a:p>
          </p:txBody>
        </p:sp>
        <p:sp>
          <p:nvSpPr>
            <p:cNvPr id="7200" name="Text Box 3171"/>
            <p:cNvSpPr txBox="1"/>
            <p:nvPr/>
          </p:nvSpPr>
          <p:spPr>
            <a:xfrm>
              <a:off x="3683" y="2557"/>
              <a:ext cx="1012" cy="327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800" dirty="0">
                  <a:latin typeface="Times New Roman" panose="02020603050405020304" pitchFamily="18" charset="0"/>
                </a:rPr>
                <a:t>存储电路</a:t>
              </a:r>
              <a:endParaRPr lang="zh-CN" altLang="en-US" sz="2800" dirty="0">
                <a:latin typeface="Times New Roman" panose="02020603050405020304" pitchFamily="18" charset="0"/>
              </a:endParaRPr>
            </a:p>
          </p:txBody>
        </p:sp>
        <p:sp>
          <p:nvSpPr>
            <p:cNvPr id="7201" name="Rectangle 3172"/>
            <p:cNvSpPr/>
            <p:nvPr/>
          </p:nvSpPr>
          <p:spPr>
            <a:xfrm>
              <a:off x="3662" y="3671"/>
              <a:ext cx="1012" cy="327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800" dirty="0">
                  <a:latin typeface="Times New Roman" panose="02020603050405020304" pitchFamily="18" charset="0"/>
                </a:rPr>
                <a:t>延迟元件</a:t>
              </a:r>
              <a:endParaRPr lang="zh-CN" altLang="en-US" sz="2800" dirty="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7202" name="Object 3175"/>
            <p:cNvGraphicFramePr/>
            <p:nvPr/>
          </p:nvGraphicFramePr>
          <p:xfrm>
            <a:off x="3988" y="2829"/>
            <a:ext cx="314" cy="26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7" name="" r:id="rId1" imgW="253365" imgH="215900" progId="Equation.3">
                    <p:embed/>
                  </p:oleObj>
                </mc:Choice>
                <mc:Fallback>
                  <p:oleObj name="" r:id="rId1" imgW="253365" imgH="215900" progId="Equation.3">
                    <p:embed/>
                    <p:pic>
                      <p:nvPicPr>
                        <p:cNvPr id="0" name="图片 3076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3988" y="2829"/>
                          <a:ext cx="314" cy="26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203" name="Object 3176"/>
            <p:cNvGraphicFramePr/>
            <p:nvPr/>
          </p:nvGraphicFramePr>
          <p:xfrm>
            <a:off x="3996" y="4077"/>
            <a:ext cx="301" cy="2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6" name="" r:id="rId3" imgW="266065" imgH="215900" progId="Equation.3">
                    <p:embed/>
                  </p:oleObj>
                </mc:Choice>
                <mc:Fallback>
                  <p:oleObj name="" r:id="rId3" imgW="266065" imgH="215900" progId="Equation.3">
                    <p:embed/>
                    <p:pic>
                      <p:nvPicPr>
                        <p:cNvPr id="0" name="图片 3075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3996" y="4077"/>
                          <a:ext cx="301" cy="24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43469" name="Text Box 3181" descr="羊皮纸"/>
          <p:cNvSpPr txBox="1"/>
          <p:nvPr/>
        </p:nvSpPr>
        <p:spPr>
          <a:xfrm>
            <a:off x="647700" y="419100"/>
            <a:ext cx="7543800" cy="1501775"/>
          </a:xfrm>
          <a:prstGeom prst="rect">
            <a:avLst/>
          </a:prstGeom>
          <a:blipFill rotWithShape="1">
            <a:blip r:embed="rId5"/>
          </a:blipFill>
          <a:ln w="19050">
            <a:noFill/>
          </a:ln>
        </p:spPr>
        <p:txBody>
          <a:bodyPr>
            <a:spAutoFit/>
          </a:bodyPr>
          <a:p>
            <a:pPr eaLnBrk="1" hangingPunct="1">
              <a:lnSpc>
                <a:spcPct val="110000"/>
              </a:lnSpc>
              <a:spcBef>
                <a:spcPct val="50000"/>
              </a:spcBef>
            </a:pPr>
            <a:r>
              <a:rPr lang="en-US" altLang="zh-CN" sz="2800" dirty="0">
                <a:latin typeface="Times New Roman" panose="02020603050405020304" pitchFamily="18" charset="0"/>
              </a:rPr>
              <a:t>	</a:t>
            </a:r>
            <a:r>
              <a:rPr lang="zh-CN" altLang="en-US" sz="2800" dirty="0">
                <a:latin typeface="Times New Roman" panose="02020603050405020304" pitchFamily="18" charset="0"/>
              </a:rPr>
              <a:t>根据外部输入是脉冲信号还是电平信号，可将异步时序逻辑电路分为脉冲异步时序电路和电平异步时序电路。</a:t>
            </a:r>
            <a:endParaRPr lang="zh-CN" altLang="en-US" sz="28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3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46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3254" name="Text Box 6"/>
          <p:cNvSpPr txBox="1"/>
          <p:nvPr/>
        </p:nvSpPr>
        <p:spPr>
          <a:xfrm>
            <a:off x="581025" y="1204913"/>
            <a:ext cx="7791450" cy="647700"/>
          </a:xfrm>
          <a:prstGeom prst="rect">
            <a:avLst/>
          </a:prstGeom>
          <a:noFill/>
          <a:ln w="19050">
            <a:noFill/>
          </a:ln>
        </p:spPr>
        <p:txBody>
          <a:bodyPr>
            <a:spAutoFit/>
          </a:bodyPr>
          <a:p>
            <a:pPr indent="762000" algn="just" eaLnBrk="1" hangingPunct="1">
              <a:lnSpc>
                <a:spcPct val="130000"/>
              </a:lnSpc>
              <a:spcBef>
                <a:spcPct val="50000"/>
              </a:spcBef>
            </a:pPr>
            <a:r>
              <a:rPr lang="zh-CN" altLang="en-US" sz="2800" b="1" dirty="0">
                <a:solidFill>
                  <a:srgbClr val="3333FF"/>
                </a:solidFill>
                <a:latin typeface="Times New Roman" panose="02020603050405020304" pitchFamily="18" charset="0"/>
              </a:rPr>
              <a:t>对输入脉冲信号的两点限制：</a:t>
            </a:r>
            <a:endParaRPr lang="zh-CN" altLang="en-US" sz="2800" dirty="0">
              <a:latin typeface="Times New Roman" panose="02020603050405020304" pitchFamily="18" charset="0"/>
            </a:endParaRPr>
          </a:p>
        </p:txBody>
      </p:sp>
      <p:sp>
        <p:nvSpPr>
          <p:cNvPr id="53256" name="Text Box 8"/>
          <p:cNvSpPr txBox="1"/>
          <p:nvPr/>
        </p:nvSpPr>
        <p:spPr>
          <a:xfrm>
            <a:off x="466725" y="1852613"/>
            <a:ext cx="7791450" cy="2528887"/>
          </a:xfrm>
          <a:prstGeom prst="rect">
            <a:avLst/>
          </a:prstGeom>
          <a:noFill/>
          <a:ln w="19050">
            <a:noFill/>
          </a:ln>
        </p:spPr>
        <p:txBody>
          <a:bodyPr>
            <a:spAutoFit/>
          </a:bodyPr>
          <a:p>
            <a:pPr algn="just" defTabSz="381000" eaLnBrk="1" hangingPunct="1">
              <a:lnSpc>
                <a:spcPct val="130000"/>
              </a:lnSpc>
              <a:spcBef>
                <a:spcPct val="50000"/>
              </a:spcBef>
              <a:buChar char="•"/>
            </a:pPr>
            <a:r>
              <a:rPr lang="en-US" altLang="zh-CN" sz="2800" dirty="0">
                <a:latin typeface="Times New Roman" panose="02020603050405020304" pitchFamily="18" charset="0"/>
              </a:rPr>
              <a:t>  </a:t>
            </a:r>
            <a:r>
              <a:rPr lang="zh-CN" altLang="en-US" sz="2800" dirty="0">
                <a:latin typeface="Times New Roman" panose="02020603050405020304" pitchFamily="18" charset="0"/>
              </a:rPr>
              <a:t>在两个或两个以上的输入线上不允许同时出现	脉冲信号；</a:t>
            </a:r>
            <a:endParaRPr lang="zh-CN" altLang="en-US" sz="2800" dirty="0">
              <a:latin typeface="Times New Roman" panose="02020603050405020304" pitchFamily="18" charset="0"/>
            </a:endParaRPr>
          </a:p>
          <a:p>
            <a:pPr algn="just" defTabSz="381000" eaLnBrk="1" hangingPunct="1">
              <a:lnSpc>
                <a:spcPct val="130000"/>
              </a:lnSpc>
              <a:spcBef>
                <a:spcPct val="50000"/>
              </a:spcBef>
              <a:buChar char="•"/>
            </a:pPr>
            <a:r>
              <a:rPr lang="zh-CN" altLang="en-US" sz="2800" dirty="0">
                <a:latin typeface="Times New Roman" panose="02020603050405020304" pitchFamily="18" charset="0"/>
              </a:rPr>
              <a:t> 第二个输入脉冲的到达，必须在第一个输入脉	冲所引起的整个电路响应结束之后。</a:t>
            </a:r>
            <a:endParaRPr lang="zh-CN" altLang="en-US" sz="2800" dirty="0">
              <a:latin typeface="Times New Roman" panose="02020603050405020304" pitchFamily="18" charset="0"/>
            </a:endParaRPr>
          </a:p>
        </p:txBody>
      </p:sp>
      <p:sp>
        <p:nvSpPr>
          <p:cNvPr id="53259" name="Text Box 11"/>
          <p:cNvSpPr txBox="1">
            <a:spLocks noChangeArrowheads="1"/>
          </p:cNvSpPr>
          <p:nvPr/>
        </p:nvSpPr>
        <p:spPr bwMode="auto">
          <a:xfrm>
            <a:off x="649288" y="627063"/>
            <a:ext cx="6100445" cy="5835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1" lang="en-US" altLang="zh-CN" sz="3200" b="1" kern="1200" cap="none" spc="0" normalizeH="0" baseline="0" noProof="0">
                <a:solidFill>
                  <a:srgbClr val="33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8.1 </a:t>
            </a:r>
            <a:r>
              <a:rPr kumimoji="1" lang="zh-CN" altLang="zh-CN" sz="3200" b="1" kern="1200" cap="none" spc="0" normalizeH="0" baseline="0" noProof="0">
                <a:solidFill>
                  <a:srgbClr val="33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脉冲异步时序逻辑电路的分析</a:t>
            </a:r>
            <a:endParaRPr kumimoji="1" lang="zh-CN" altLang="en-US" sz="3200" b="1" kern="1200" cap="none" spc="0" normalizeH="0" baseline="0" noProof="0">
              <a:solidFill>
                <a:srgbClr val="339933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3260" name="Text Box 12" descr="羊皮纸"/>
          <p:cNvSpPr txBox="1"/>
          <p:nvPr/>
        </p:nvSpPr>
        <p:spPr>
          <a:xfrm>
            <a:off x="508000" y="4332288"/>
            <a:ext cx="7791450" cy="2525712"/>
          </a:xfrm>
          <a:prstGeom prst="rect">
            <a:avLst/>
          </a:prstGeom>
          <a:blipFill rotWithShape="1">
            <a:blip r:embed="rId1"/>
          </a:blipFill>
          <a:ln w="19050">
            <a:noFill/>
          </a:ln>
        </p:spPr>
        <p:txBody>
          <a:bodyPr>
            <a:spAutoFit/>
          </a:bodyPr>
          <a:p>
            <a:pPr indent="762000" algn="just" eaLnBrk="1" hangingPunct="1">
              <a:lnSpc>
                <a:spcPct val="190000"/>
              </a:lnSpc>
              <a:spcBef>
                <a:spcPct val="50000"/>
              </a:spcBef>
            </a:pPr>
            <a:r>
              <a:rPr lang="zh-CN" altLang="en-US" sz="2800" dirty="0">
                <a:latin typeface="Times New Roman" panose="02020603050405020304" pitchFamily="18" charset="0"/>
              </a:rPr>
              <a:t>分析方法基本上与同步时序逻辑电路相似，只是要注意触发器时钟端的输入情况。在同步时序电路中，时钟端的输入仅为“  时间”。</a:t>
            </a:r>
            <a:endParaRPr lang="zh-CN" altLang="en-US" sz="28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3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3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32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32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53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254" grpId="0"/>
      <p:bldP spid="53256" grpId="0"/>
      <p:bldP spid="53259" grpId="0" bldLvl="0" animBg="1"/>
      <p:bldP spid="5326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4386" name="Text Box 2"/>
          <p:cNvSpPr txBox="1"/>
          <p:nvPr/>
        </p:nvSpPr>
        <p:spPr>
          <a:xfrm>
            <a:off x="876300" y="914400"/>
            <a:ext cx="4419600" cy="519113"/>
          </a:xfrm>
          <a:prstGeom prst="rect">
            <a:avLst/>
          </a:prstGeom>
          <a:noFill/>
          <a:ln w="19050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latin typeface="Times New Roman" panose="02020603050405020304" pitchFamily="18" charset="0"/>
              </a:rPr>
              <a:t>分析步骤如下</a:t>
            </a:r>
            <a:r>
              <a:rPr lang="zh-CN" altLang="en-US" sz="2800" dirty="0">
                <a:latin typeface="Times New Roman" panose="02020603050405020304" pitchFamily="18" charset="0"/>
              </a:rPr>
              <a:t>：</a:t>
            </a:r>
            <a:endParaRPr lang="zh-CN" altLang="en-US" sz="2800" dirty="0">
              <a:latin typeface="Times New Roman" panose="02020603050405020304" pitchFamily="18" charset="0"/>
            </a:endParaRPr>
          </a:p>
        </p:txBody>
      </p:sp>
      <p:sp>
        <p:nvSpPr>
          <p:cNvPr id="144387" name="Rectangle 3"/>
          <p:cNvSpPr/>
          <p:nvPr/>
        </p:nvSpPr>
        <p:spPr>
          <a:xfrm>
            <a:off x="708025" y="1552575"/>
            <a:ext cx="7019925" cy="519113"/>
          </a:xfrm>
          <a:prstGeom prst="rect">
            <a:avLst/>
          </a:prstGeom>
          <a:noFill/>
          <a:ln w="19050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800" dirty="0">
                <a:latin typeface="Times New Roman" panose="02020603050405020304" pitchFamily="18" charset="0"/>
              </a:rPr>
              <a:t>(1) </a:t>
            </a:r>
            <a:r>
              <a:rPr lang="zh-CN" altLang="en-US" sz="2800" dirty="0">
                <a:latin typeface="Times New Roman" panose="02020603050405020304" pitchFamily="18" charset="0"/>
              </a:rPr>
              <a:t>写出电路的输出函数和激励函数表达式。</a:t>
            </a:r>
            <a:endParaRPr lang="zh-CN" altLang="en-US" sz="2800" dirty="0">
              <a:latin typeface="Times New Roman" panose="02020603050405020304" pitchFamily="18" charset="0"/>
            </a:endParaRPr>
          </a:p>
        </p:txBody>
      </p:sp>
      <p:sp>
        <p:nvSpPr>
          <p:cNvPr id="144388" name="Rectangle 4"/>
          <p:cNvSpPr/>
          <p:nvPr/>
        </p:nvSpPr>
        <p:spPr>
          <a:xfrm>
            <a:off x="708025" y="2162175"/>
            <a:ext cx="8067675" cy="519113"/>
          </a:xfrm>
          <a:prstGeom prst="rect">
            <a:avLst/>
          </a:prstGeom>
          <a:noFill/>
          <a:ln w="19050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800" dirty="0">
                <a:latin typeface="Times New Roman" panose="02020603050405020304" pitchFamily="18" charset="0"/>
              </a:rPr>
              <a:t>(2)</a:t>
            </a:r>
            <a:r>
              <a:rPr lang="zh-CN" altLang="en-US" sz="2800" dirty="0">
                <a:latin typeface="Times New Roman" panose="02020603050405020304" pitchFamily="18" charset="0"/>
              </a:rPr>
              <a:t>列出电路的状态转移真值表或写出次态方程组。</a:t>
            </a:r>
            <a:endParaRPr lang="zh-CN" altLang="en-US" sz="2800" dirty="0">
              <a:latin typeface="Times New Roman" panose="02020603050405020304" pitchFamily="18" charset="0"/>
            </a:endParaRPr>
          </a:p>
        </p:txBody>
      </p:sp>
      <p:sp>
        <p:nvSpPr>
          <p:cNvPr id="144389" name="Rectangle 5"/>
          <p:cNvSpPr/>
          <p:nvPr/>
        </p:nvSpPr>
        <p:spPr>
          <a:xfrm>
            <a:off x="708025" y="2733675"/>
            <a:ext cx="3883025" cy="519113"/>
          </a:xfrm>
          <a:prstGeom prst="rect">
            <a:avLst/>
          </a:prstGeom>
          <a:noFill/>
          <a:ln w="19050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800" dirty="0">
                <a:latin typeface="Times New Roman" panose="02020603050405020304" pitchFamily="18" charset="0"/>
              </a:rPr>
              <a:t>(3) </a:t>
            </a:r>
            <a:r>
              <a:rPr lang="zh-CN" altLang="en-US" sz="2800" dirty="0">
                <a:latin typeface="Times New Roman" panose="02020603050405020304" pitchFamily="18" charset="0"/>
              </a:rPr>
              <a:t>作状态表和状态图。</a:t>
            </a:r>
            <a:endParaRPr lang="zh-CN" altLang="en-US" sz="2800" dirty="0">
              <a:latin typeface="Times New Roman" panose="02020603050405020304" pitchFamily="18" charset="0"/>
            </a:endParaRPr>
          </a:p>
        </p:txBody>
      </p:sp>
      <p:sp>
        <p:nvSpPr>
          <p:cNvPr id="144390" name="Rectangle 6"/>
          <p:cNvSpPr/>
          <p:nvPr/>
        </p:nvSpPr>
        <p:spPr>
          <a:xfrm>
            <a:off x="708025" y="3324225"/>
            <a:ext cx="7426325" cy="519113"/>
          </a:xfrm>
          <a:prstGeom prst="rect">
            <a:avLst/>
          </a:prstGeom>
          <a:noFill/>
          <a:ln w="19050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800" dirty="0">
                <a:latin typeface="Times New Roman" panose="02020603050405020304" pitchFamily="18" charset="0"/>
              </a:rPr>
              <a:t>(4) </a:t>
            </a:r>
            <a:r>
              <a:rPr lang="zh-CN" altLang="en-US" sz="2800" dirty="0">
                <a:latin typeface="Times New Roman" panose="02020603050405020304" pitchFamily="18" charset="0"/>
              </a:rPr>
              <a:t>画出时间图和用文字描述电路的逻辑功能。</a:t>
            </a:r>
            <a:endParaRPr lang="zh-CN" altLang="en-US" sz="2800" dirty="0">
              <a:latin typeface="Times New Roman" panose="02020603050405020304" pitchFamily="18" charset="0"/>
            </a:endParaRPr>
          </a:p>
        </p:txBody>
      </p:sp>
      <p:sp>
        <p:nvSpPr>
          <p:cNvPr id="144391" name="Text Box 7"/>
          <p:cNvSpPr txBox="1"/>
          <p:nvPr/>
        </p:nvSpPr>
        <p:spPr>
          <a:xfrm>
            <a:off x="723900" y="3943350"/>
            <a:ext cx="7772400" cy="2314575"/>
          </a:xfrm>
          <a:prstGeom prst="rect">
            <a:avLst/>
          </a:prstGeom>
          <a:noFill/>
          <a:ln w="19050">
            <a:noFill/>
          </a:ln>
        </p:spPr>
        <p:txBody>
          <a:bodyPr>
            <a:spAutoFit/>
          </a:bodyPr>
          <a:p>
            <a:pPr algn="just" eaLnBrk="1" hangingPunct="1">
              <a:lnSpc>
                <a:spcPct val="130000"/>
              </a:lnSpc>
              <a:spcBef>
                <a:spcPct val="50000"/>
              </a:spcBef>
            </a:pPr>
            <a:r>
              <a:rPr lang="en-US" altLang="zh-CN" sz="2800" dirty="0">
                <a:latin typeface="Times New Roman" panose="02020603050405020304" pitchFamily="18" charset="0"/>
              </a:rPr>
              <a:t>	</a:t>
            </a:r>
            <a:r>
              <a:rPr lang="zh-CN" altLang="en-US" sz="2800" dirty="0">
                <a:latin typeface="Times New Roman" panose="02020603050405020304" pitchFamily="18" charset="0"/>
              </a:rPr>
              <a:t>从分析步骤来看，异步时序电路的分析与同步时序电路分析相同，但是每一步实施时又有所不同。下面通过例子介绍脉冲异步时序电路的分析方法。</a:t>
            </a:r>
            <a:endParaRPr lang="zh-CN" altLang="en-US" sz="28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4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4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4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4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44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44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4386" grpId="0"/>
      <p:bldP spid="144387" grpId="0"/>
      <p:bldP spid="144388" grpId="0"/>
      <p:bldP spid="144389" grpId="0"/>
      <p:bldP spid="144390" grpId="0"/>
      <p:bldP spid="14439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4755" name="Text Box 3"/>
          <p:cNvSpPr txBox="1"/>
          <p:nvPr/>
        </p:nvSpPr>
        <p:spPr>
          <a:xfrm>
            <a:off x="898525" y="787400"/>
            <a:ext cx="6931025" cy="519113"/>
          </a:xfrm>
          <a:prstGeom prst="rect">
            <a:avLst/>
          </a:prstGeom>
          <a:noFill/>
          <a:ln w="19050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800" b="1" dirty="0">
                <a:latin typeface="Times New Roman" panose="02020603050405020304" pitchFamily="18" charset="0"/>
              </a:rPr>
              <a:t>例</a:t>
            </a:r>
            <a:r>
              <a:rPr lang="zh-CN" altLang="en-US" sz="2800" dirty="0">
                <a:latin typeface="Times New Roman" panose="02020603050405020304" pitchFamily="18" charset="0"/>
              </a:rPr>
              <a:t>：分析下图所示的脉冲异步时序逻辑电路</a:t>
            </a:r>
            <a:endParaRPr lang="zh-CN" altLang="en-US" sz="2800" dirty="0">
              <a:latin typeface="Times New Roman" panose="02020603050405020304" pitchFamily="18" charset="0"/>
            </a:endParaRPr>
          </a:p>
        </p:txBody>
      </p:sp>
      <p:grpSp>
        <p:nvGrpSpPr>
          <p:cNvPr id="2" name="Group 143"/>
          <p:cNvGrpSpPr/>
          <p:nvPr/>
        </p:nvGrpSpPr>
        <p:grpSpPr>
          <a:xfrm>
            <a:off x="1960563" y="1314450"/>
            <a:ext cx="4906962" cy="5164138"/>
            <a:chOff x="1235" y="828"/>
            <a:chExt cx="3091" cy="3253"/>
          </a:xfrm>
        </p:grpSpPr>
        <p:sp>
          <p:nvSpPr>
            <p:cNvPr id="10244" name="Text Box 29"/>
            <p:cNvSpPr txBox="1"/>
            <p:nvPr/>
          </p:nvSpPr>
          <p:spPr>
            <a:xfrm>
              <a:off x="3499" y="828"/>
              <a:ext cx="215" cy="327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z</a:t>
              </a:r>
              <a:endParaRPr lang="en-US" altLang="zh-CN" sz="2800" dirty="0">
                <a:latin typeface="Times New Roman" panose="02020603050405020304" pitchFamily="18" charset="0"/>
              </a:endParaRPr>
            </a:p>
          </p:txBody>
        </p:sp>
        <p:sp>
          <p:nvSpPr>
            <p:cNvPr id="10245" name="Text Box 22"/>
            <p:cNvSpPr txBox="1"/>
            <p:nvPr/>
          </p:nvSpPr>
          <p:spPr>
            <a:xfrm>
              <a:off x="2952" y="2232"/>
              <a:ext cx="304" cy="327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x</a:t>
              </a:r>
              <a:r>
                <a:rPr lang="en-US" altLang="zh-CN" sz="2800" baseline="-25000" dirty="0">
                  <a:latin typeface="Times New Roman" panose="02020603050405020304" pitchFamily="18" charset="0"/>
                </a:rPr>
                <a:t>2</a:t>
              </a:r>
              <a:endParaRPr lang="en-US" altLang="zh-CN" sz="2800" dirty="0">
                <a:latin typeface="Times New Roman" panose="02020603050405020304" pitchFamily="18" charset="0"/>
              </a:endParaRPr>
            </a:p>
          </p:txBody>
        </p:sp>
        <p:sp>
          <p:nvSpPr>
            <p:cNvPr id="10246" name="Text Box 23"/>
            <p:cNvSpPr txBox="1"/>
            <p:nvPr/>
          </p:nvSpPr>
          <p:spPr>
            <a:xfrm>
              <a:off x="1946" y="3739"/>
              <a:ext cx="338" cy="32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p>
              <a:pPr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x</a:t>
              </a:r>
              <a:endParaRPr lang="en-US" altLang="zh-CN" sz="2800" dirty="0">
                <a:latin typeface="Times New Roman" panose="02020603050405020304" pitchFamily="18" charset="0"/>
              </a:endParaRPr>
            </a:p>
          </p:txBody>
        </p:sp>
        <p:sp>
          <p:nvSpPr>
            <p:cNvPr id="10247" name="Oval 24"/>
            <p:cNvSpPr/>
            <p:nvPr/>
          </p:nvSpPr>
          <p:spPr>
            <a:xfrm>
              <a:off x="2199" y="3884"/>
              <a:ext cx="66" cy="66"/>
            </a:xfrm>
            <a:prstGeom prst="ellipse">
              <a:avLst/>
            </a:prstGeom>
            <a:solidFill>
              <a:srgbClr val="3333FF"/>
            </a:solidFill>
            <a:ln w="19050" cap="flat" cmpd="sng">
              <a:solidFill>
                <a:srgbClr val="3333FF"/>
              </a:solidFill>
              <a:prstDash val="solid"/>
              <a:headEnd type="none" w="med" len="med"/>
              <a:tailEnd type="none" w="sm" len="lg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10248" name="Oval 25"/>
            <p:cNvSpPr/>
            <p:nvPr/>
          </p:nvSpPr>
          <p:spPr>
            <a:xfrm>
              <a:off x="2686" y="2828"/>
              <a:ext cx="66" cy="66"/>
            </a:xfrm>
            <a:prstGeom prst="ellipse">
              <a:avLst/>
            </a:prstGeom>
            <a:solidFill>
              <a:srgbClr val="3333FF"/>
            </a:solidFill>
            <a:ln w="19050" cap="flat" cmpd="sng">
              <a:solidFill>
                <a:srgbClr val="3333FF"/>
              </a:solidFill>
              <a:prstDash val="solid"/>
              <a:headEnd type="none" w="med" len="med"/>
              <a:tailEnd type="none" w="sm" len="lg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10249" name="Group 71"/>
            <p:cNvGrpSpPr/>
            <p:nvPr/>
          </p:nvGrpSpPr>
          <p:grpSpPr>
            <a:xfrm>
              <a:off x="1631" y="1953"/>
              <a:ext cx="1000" cy="623"/>
              <a:chOff x="2342" y="2685"/>
              <a:chExt cx="1000" cy="623"/>
            </a:xfrm>
          </p:grpSpPr>
          <p:sp>
            <p:nvSpPr>
              <p:cNvPr id="10294" name="Rectangle 46"/>
              <p:cNvSpPr/>
              <p:nvPr/>
            </p:nvSpPr>
            <p:spPr>
              <a:xfrm>
                <a:off x="2342" y="2750"/>
                <a:ext cx="1000" cy="558"/>
              </a:xfrm>
              <a:prstGeom prst="rect">
                <a:avLst/>
              </a:prstGeom>
              <a:solidFill>
                <a:srgbClr val="E1FDFF"/>
              </a:solidFill>
              <a:ln w="38100" cap="flat" cmpd="sng">
                <a:solidFill>
                  <a:srgbClr val="3333FF"/>
                </a:solidFill>
                <a:prstDash val="solid"/>
                <a:miter/>
                <a:headEnd type="none" w="med" len="med"/>
                <a:tailEnd type="none" w="sm" len="lg"/>
              </a:ln>
            </p:spPr>
            <p:txBody>
              <a:bodyPr wrap="none" anchor="ctr" anchorCtr="0"/>
              <a:p>
                <a:pPr eaLnBrk="1" hangingPunct="1"/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295" name="Oval 51"/>
              <p:cNvSpPr/>
              <p:nvPr/>
            </p:nvSpPr>
            <p:spPr>
              <a:xfrm>
                <a:off x="3137" y="2685"/>
                <a:ext cx="66" cy="66"/>
              </a:xfrm>
              <a:prstGeom prst="ellipse">
                <a:avLst/>
              </a:prstGeom>
              <a:solidFill>
                <a:schemeClr val="bg1"/>
              </a:solidFill>
              <a:ln w="38100" cap="flat" cmpd="sng">
                <a:solidFill>
                  <a:srgbClr val="3333FF"/>
                </a:solidFill>
                <a:prstDash val="solid"/>
                <a:headEnd type="none" w="med" len="med"/>
                <a:tailEnd type="none" w="sm" len="lg"/>
              </a:ln>
            </p:spPr>
            <p:txBody>
              <a:bodyPr wrap="none" anchor="ctr" anchorCtr="0"/>
              <a:p>
                <a:pPr eaLnBrk="1" hangingPunct="1"/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10250" name="Text Box 49"/>
            <p:cNvSpPr txBox="1"/>
            <p:nvPr/>
          </p:nvSpPr>
          <p:spPr>
            <a:xfrm>
              <a:off x="1736" y="2190"/>
              <a:ext cx="466" cy="327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CP</a:t>
              </a:r>
              <a:r>
                <a:rPr lang="en-US" altLang="zh-CN" sz="2800" baseline="-25000" dirty="0">
                  <a:latin typeface="Times New Roman" panose="02020603050405020304" pitchFamily="18" charset="0"/>
                </a:rPr>
                <a:t>2</a:t>
              </a:r>
              <a:endParaRPr lang="en-US" altLang="zh-CN" sz="2800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10251" name="Text Box 52"/>
            <p:cNvSpPr txBox="1"/>
            <p:nvPr/>
          </p:nvSpPr>
          <p:spPr>
            <a:xfrm>
              <a:off x="2183" y="2190"/>
              <a:ext cx="354" cy="327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D</a:t>
              </a:r>
              <a:r>
                <a:rPr lang="en-US" altLang="zh-CN" sz="2800" baseline="-25000" dirty="0">
                  <a:latin typeface="Times New Roman" panose="02020603050405020304" pitchFamily="18" charset="0"/>
                </a:rPr>
                <a:t>2</a:t>
              </a:r>
              <a:endParaRPr lang="en-US" altLang="zh-CN" sz="2800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10252" name="Line 60"/>
            <p:cNvSpPr/>
            <p:nvPr/>
          </p:nvSpPr>
          <p:spPr>
            <a:xfrm flipV="1">
              <a:off x="3416" y="948"/>
              <a:ext cx="0" cy="204"/>
            </a:xfrm>
            <a:prstGeom prst="line">
              <a:avLst/>
            </a:prstGeom>
            <a:ln w="19050" cap="flat" cmpd="sng">
              <a:solidFill>
                <a:srgbClr val="3333FF"/>
              </a:solidFill>
              <a:prstDash val="solid"/>
              <a:headEnd type="none" w="med" len="med"/>
              <a:tailEnd type="none" w="sm" len="lg"/>
            </a:ln>
          </p:spPr>
        </p:sp>
        <p:sp>
          <p:nvSpPr>
            <p:cNvPr id="10253" name="Text Box 63"/>
            <p:cNvSpPr txBox="1"/>
            <p:nvPr/>
          </p:nvSpPr>
          <p:spPr>
            <a:xfrm>
              <a:off x="3010" y="1167"/>
              <a:ext cx="801" cy="351"/>
            </a:xfrm>
            <a:prstGeom prst="rect">
              <a:avLst/>
            </a:prstGeom>
            <a:solidFill>
              <a:srgbClr val="E1FDFF"/>
            </a:solidFill>
            <a:ln w="38100" cap="flat" cmpd="sng">
              <a:solidFill>
                <a:schemeClr val="accent2"/>
              </a:solidFill>
              <a:prstDash val="solid"/>
              <a:miter/>
              <a:headEnd type="none" w="med" len="med"/>
              <a:tailEnd type="none" w="sm" len="lg"/>
            </a:ln>
          </p:spPr>
          <p:txBody>
            <a:bodyPr>
              <a:spAutoFit/>
            </a:bodyPr>
            <a:p>
              <a:pPr algn="ctr" eaLnBrk="1" hangingPunct="1"/>
              <a:r>
                <a:rPr lang="en-US" altLang="zh-CN" sz="2800" dirty="0">
                  <a:latin typeface="Times New Roman" panose="02020603050405020304" pitchFamily="18" charset="0"/>
                  <a:sym typeface="Symbol" panose="05050102010706020507" pitchFamily="18" charset="2"/>
                </a:rPr>
                <a:t>&amp;</a:t>
              </a:r>
              <a:endParaRPr lang="en-US" altLang="zh-CN" sz="2800" dirty="0">
                <a:latin typeface="Times New Roman" panose="02020603050405020304" pitchFamily="18" charset="0"/>
              </a:endParaRPr>
            </a:p>
          </p:txBody>
        </p:sp>
        <p:sp>
          <p:nvSpPr>
            <p:cNvPr id="10254" name="Text Box 73"/>
            <p:cNvSpPr txBox="1"/>
            <p:nvPr/>
          </p:nvSpPr>
          <p:spPr>
            <a:xfrm>
              <a:off x="1642" y="3255"/>
              <a:ext cx="801" cy="351"/>
            </a:xfrm>
            <a:prstGeom prst="rect">
              <a:avLst/>
            </a:prstGeom>
            <a:solidFill>
              <a:srgbClr val="E1FDFF"/>
            </a:solidFill>
            <a:ln w="38100" cap="flat" cmpd="sng">
              <a:solidFill>
                <a:schemeClr val="accent2"/>
              </a:solidFill>
              <a:prstDash val="solid"/>
              <a:miter/>
              <a:headEnd type="none" w="med" len="med"/>
              <a:tailEnd type="none" w="sm" len="lg"/>
            </a:ln>
          </p:spPr>
          <p:txBody>
            <a:bodyPr>
              <a:spAutoFit/>
            </a:bodyPr>
            <a:p>
              <a:pPr algn="ctr" eaLnBrk="1" hangingPunct="1"/>
              <a:r>
                <a:rPr lang="en-US" altLang="zh-CN" sz="2800" dirty="0">
                  <a:latin typeface="Times New Roman" panose="02020603050405020304" pitchFamily="18" charset="0"/>
                  <a:sym typeface="Symbol" panose="05050102010706020507" pitchFamily="18" charset="2"/>
                </a:rPr>
                <a:t>&amp;</a:t>
              </a:r>
              <a:endParaRPr lang="en-US" altLang="zh-CN" sz="2800" dirty="0">
                <a:latin typeface="Times New Roman" panose="02020603050405020304" pitchFamily="18" charset="0"/>
              </a:endParaRPr>
            </a:p>
          </p:txBody>
        </p:sp>
        <p:sp>
          <p:nvSpPr>
            <p:cNvPr id="10255" name="Line 84"/>
            <p:cNvSpPr/>
            <p:nvPr/>
          </p:nvSpPr>
          <p:spPr>
            <a:xfrm>
              <a:off x="2232" y="3613"/>
              <a:ext cx="0" cy="468"/>
            </a:xfrm>
            <a:prstGeom prst="line">
              <a:avLst/>
            </a:prstGeom>
            <a:ln w="19050" cap="flat" cmpd="sng">
              <a:solidFill>
                <a:srgbClr val="3333FF"/>
              </a:solidFill>
              <a:prstDash val="solid"/>
              <a:headEnd type="none" w="med" len="med"/>
              <a:tailEnd type="none" w="sm" len="lg"/>
            </a:ln>
          </p:spPr>
        </p:sp>
        <p:sp>
          <p:nvSpPr>
            <p:cNvPr id="10256" name="Line 88"/>
            <p:cNvSpPr/>
            <p:nvPr/>
          </p:nvSpPr>
          <p:spPr>
            <a:xfrm flipH="1" flipV="1">
              <a:off x="3162" y="1506"/>
              <a:ext cx="0" cy="514"/>
            </a:xfrm>
            <a:prstGeom prst="line">
              <a:avLst/>
            </a:prstGeom>
            <a:ln w="19050" cap="flat" cmpd="sng">
              <a:solidFill>
                <a:srgbClr val="3333FF"/>
              </a:solidFill>
              <a:prstDash val="solid"/>
              <a:headEnd type="none" w="med" len="med"/>
              <a:tailEnd type="none" w="sm" len="lg"/>
            </a:ln>
          </p:spPr>
        </p:sp>
        <p:sp>
          <p:nvSpPr>
            <p:cNvPr id="10257" name="Text Box 95"/>
            <p:cNvSpPr txBox="1"/>
            <p:nvPr/>
          </p:nvSpPr>
          <p:spPr>
            <a:xfrm>
              <a:off x="2823" y="1680"/>
              <a:ext cx="304" cy="327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y</a:t>
              </a:r>
              <a:r>
                <a:rPr lang="en-US" altLang="zh-CN" sz="2800" baseline="-25000" dirty="0">
                  <a:latin typeface="Times New Roman" panose="02020603050405020304" pitchFamily="18" charset="0"/>
                </a:rPr>
                <a:t>1</a:t>
              </a:r>
              <a:endParaRPr lang="en-US" altLang="zh-CN" sz="2800" baseline="-25000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10258" name="Group 98"/>
            <p:cNvGrpSpPr/>
            <p:nvPr/>
          </p:nvGrpSpPr>
          <p:grpSpPr>
            <a:xfrm>
              <a:off x="2139" y="1713"/>
              <a:ext cx="304" cy="327"/>
              <a:chOff x="2844" y="1707"/>
              <a:chExt cx="304" cy="327"/>
            </a:xfrm>
          </p:grpSpPr>
          <p:sp>
            <p:nvSpPr>
              <p:cNvPr id="10292" name="Text Box 96"/>
              <p:cNvSpPr txBox="1"/>
              <p:nvPr/>
            </p:nvSpPr>
            <p:spPr>
              <a:xfrm>
                <a:off x="2844" y="1707"/>
                <a:ext cx="304" cy="327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none">
                <a:spAutoFit/>
              </a:bodyPr>
              <a:p>
                <a:pPr eaLnBrk="1" hangingPunct="1"/>
                <a:r>
                  <a:rPr lang="en-US" altLang="zh-CN" sz="2800" dirty="0">
                    <a:latin typeface="Times New Roman" panose="02020603050405020304" pitchFamily="18" charset="0"/>
                  </a:rPr>
                  <a:t>y</a:t>
                </a:r>
                <a:r>
                  <a:rPr lang="en-US" altLang="zh-CN" sz="2800" baseline="-25000" dirty="0">
                    <a:latin typeface="Times New Roman" panose="02020603050405020304" pitchFamily="18" charset="0"/>
                  </a:rPr>
                  <a:t>2</a:t>
                </a:r>
                <a:endParaRPr lang="en-US" altLang="zh-CN" sz="2800" baseline="-25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293" name="Line 97"/>
              <p:cNvSpPr/>
              <p:nvPr/>
            </p:nvSpPr>
            <p:spPr>
              <a:xfrm>
                <a:off x="2904" y="1800"/>
                <a:ext cx="96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sm" len="lg"/>
              </a:ln>
            </p:spPr>
          </p:sp>
        </p:grpSp>
        <p:grpSp>
          <p:nvGrpSpPr>
            <p:cNvPr id="10259" name="Group 102"/>
            <p:cNvGrpSpPr/>
            <p:nvPr/>
          </p:nvGrpSpPr>
          <p:grpSpPr>
            <a:xfrm>
              <a:off x="2870" y="1950"/>
              <a:ext cx="1000" cy="623"/>
              <a:chOff x="2342" y="2685"/>
              <a:chExt cx="1000" cy="623"/>
            </a:xfrm>
          </p:grpSpPr>
          <p:sp>
            <p:nvSpPr>
              <p:cNvPr id="10290" name="Rectangle 103"/>
              <p:cNvSpPr/>
              <p:nvPr/>
            </p:nvSpPr>
            <p:spPr>
              <a:xfrm>
                <a:off x="2342" y="2750"/>
                <a:ext cx="1000" cy="558"/>
              </a:xfrm>
              <a:prstGeom prst="rect">
                <a:avLst/>
              </a:prstGeom>
              <a:solidFill>
                <a:srgbClr val="E1FDFF"/>
              </a:solidFill>
              <a:ln w="38100" cap="flat" cmpd="sng">
                <a:solidFill>
                  <a:srgbClr val="3333FF"/>
                </a:solidFill>
                <a:prstDash val="solid"/>
                <a:miter/>
                <a:headEnd type="none" w="med" len="med"/>
                <a:tailEnd type="none" w="sm" len="lg"/>
              </a:ln>
            </p:spPr>
            <p:txBody>
              <a:bodyPr wrap="none" anchor="ctr" anchorCtr="0"/>
              <a:p>
                <a:pPr eaLnBrk="1" hangingPunct="1"/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291" name="Oval 104"/>
              <p:cNvSpPr/>
              <p:nvPr/>
            </p:nvSpPr>
            <p:spPr>
              <a:xfrm>
                <a:off x="3137" y="2685"/>
                <a:ext cx="66" cy="66"/>
              </a:xfrm>
              <a:prstGeom prst="ellipse">
                <a:avLst/>
              </a:prstGeom>
              <a:solidFill>
                <a:schemeClr val="bg1"/>
              </a:solidFill>
              <a:ln w="38100" cap="flat" cmpd="sng">
                <a:solidFill>
                  <a:srgbClr val="3333FF"/>
                </a:solidFill>
                <a:prstDash val="solid"/>
                <a:headEnd type="none" w="med" len="med"/>
                <a:tailEnd type="none" w="sm" len="lg"/>
              </a:ln>
            </p:spPr>
            <p:txBody>
              <a:bodyPr wrap="none" anchor="ctr" anchorCtr="0"/>
              <a:p>
                <a:pPr eaLnBrk="1" hangingPunct="1"/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10260" name="Line 105"/>
            <p:cNvSpPr/>
            <p:nvPr/>
          </p:nvSpPr>
          <p:spPr>
            <a:xfrm>
              <a:off x="1926" y="2579"/>
              <a:ext cx="6" cy="678"/>
            </a:xfrm>
            <a:prstGeom prst="line">
              <a:avLst/>
            </a:prstGeom>
            <a:ln w="19050" cap="flat" cmpd="sng">
              <a:solidFill>
                <a:srgbClr val="3333FF"/>
              </a:solidFill>
              <a:prstDash val="solid"/>
              <a:headEnd type="none" w="med" len="med"/>
              <a:tailEnd type="none" w="sm" len="lg"/>
            </a:ln>
          </p:spPr>
        </p:sp>
        <p:sp>
          <p:nvSpPr>
            <p:cNvPr id="10261" name="Line 110"/>
            <p:cNvSpPr/>
            <p:nvPr/>
          </p:nvSpPr>
          <p:spPr>
            <a:xfrm>
              <a:off x="2221" y="3930"/>
              <a:ext cx="864" cy="0"/>
            </a:xfrm>
            <a:prstGeom prst="line">
              <a:avLst/>
            </a:prstGeom>
            <a:ln w="19050" cap="flat" cmpd="sng">
              <a:solidFill>
                <a:srgbClr val="3333FF"/>
              </a:solidFill>
              <a:prstDash val="solid"/>
              <a:headEnd type="none" w="med" len="med"/>
              <a:tailEnd type="none" w="sm" len="lg"/>
            </a:ln>
          </p:spPr>
        </p:sp>
        <p:sp>
          <p:nvSpPr>
            <p:cNvPr id="10262" name="Line 111"/>
            <p:cNvSpPr/>
            <p:nvPr/>
          </p:nvSpPr>
          <p:spPr>
            <a:xfrm flipH="1" flipV="1">
              <a:off x="3072" y="2573"/>
              <a:ext cx="6" cy="1357"/>
            </a:xfrm>
            <a:prstGeom prst="line">
              <a:avLst/>
            </a:prstGeom>
            <a:ln w="19050" cap="flat" cmpd="sng">
              <a:solidFill>
                <a:srgbClr val="3333FF"/>
              </a:solidFill>
              <a:prstDash val="solid"/>
              <a:headEnd type="none" w="med" len="med"/>
              <a:tailEnd type="none" w="sm" len="lg"/>
            </a:ln>
          </p:spPr>
        </p:sp>
        <p:sp>
          <p:nvSpPr>
            <p:cNvPr id="10263" name="Line 112"/>
            <p:cNvSpPr/>
            <p:nvPr/>
          </p:nvSpPr>
          <p:spPr>
            <a:xfrm>
              <a:off x="3078" y="3929"/>
              <a:ext cx="1242" cy="0"/>
            </a:xfrm>
            <a:prstGeom prst="line">
              <a:avLst/>
            </a:prstGeom>
            <a:ln w="19050" cap="flat" cmpd="sng">
              <a:solidFill>
                <a:srgbClr val="3333FF"/>
              </a:solidFill>
              <a:prstDash val="solid"/>
              <a:headEnd type="none" w="med" len="med"/>
              <a:tailEnd type="none" w="sm" len="lg"/>
            </a:ln>
          </p:spPr>
        </p:sp>
        <p:sp>
          <p:nvSpPr>
            <p:cNvPr id="10264" name="Line 113"/>
            <p:cNvSpPr/>
            <p:nvPr/>
          </p:nvSpPr>
          <p:spPr>
            <a:xfrm flipV="1">
              <a:off x="4320" y="1715"/>
              <a:ext cx="6" cy="2215"/>
            </a:xfrm>
            <a:prstGeom prst="line">
              <a:avLst/>
            </a:prstGeom>
            <a:ln w="19050" cap="flat" cmpd="sng">
              <a:solidFill>
                <a:srgbClr val="3333FF"/>
              </a:solidFill>
              <a:prstDash val="solid"/>
              <a:headEnd type="none" w="med" len="med"/>
              <a:tailEnd type="none" w="sm" len="lg"/>
            </a:ln>
          </p:spPr>
        </p:sp>
        <p:sp>
          <p:nvSpPr>
            <p:cNvPr id="10265" name="Line 114"/>
            <p:cNvSpPr/>
            <p:nvPr/>
          </p:nvSpPr>
          <p:spPr>
            <a:xfrm flipH="1">
              <a:off x="3643" y="1722"/>
              <a:ext cx="683" cy="0"/>
            </a:xfrm>
            <a:prstGeom prst="line">
              <a:avLst/>
            </a:prstGeom>
            <a:ln w="19050" cap="flat" cmpd="sng">
              <a:solidFill>
                <a:srgbClr val="3333FF"/>
              </a:solidFill>
              <a:prstDash val="solid"/>
              <a:headEnd type="none" w="med" len="med"/>
              <a:tailEnd type="none" w="sm" len="lg"/>
            </a:ln>
          </p:spPr>
        </p:sp>
        <p:sp>
          <p:nvSpPr>
            <p:cNvPr id="10266" name="Line 115"/>
            <p:cNvSpPr/>
            <p:nvPr/>
          </p:nvSpPr>
          <p:spPr>
            <a:xfrm flipH="1" flipV="1">
              <a:off x="3648" y="1517"/>
              <a:ext cx="6" cy="205"/>
            </a:xfrm>
            <a:prstGeom prst="line">
              <a:avLst/>
            </a:prstGeom>
            <a:ln w="19050" cap="flat" cmpd="sng">
              <a:solidFill>
                <a:srgbClr val="3333FF"/>
              </a:solidFill>
              <a:prstDash val="solid"/>
              <a:headEnd type="none" w="med" len="med"/>
              <a:tailEnd type="none" w="sm" len="lg"/>
            </a:ln>
          </p:spPr>
        </p:sp>
        <p:sp>
          <p:nvSpPr>
            <p:cNvPr id="10267" name="Line 117"/>
            <p:cNvSpPr/>
            <p:nvPr/>
          </p:nvSpPr>
          <p:spPr>
            <a:xfrm flipV="1">
              <a:off x="2458" y="1850"/>
              <a:ext cx="0" cy="108"/>
            </a:xfrm>
            <a:prstGeom prst="line">
              <a:avLst/>
            </a:prstGeom>
            <a:ln w="19050" cap="flat" cmpd="sng">
              <a:solidFill>
                <a:srgbClr val="3333FF"/>
              </a:solidFill>
              <a:prstDash val="solid"/>
              <a:headEnd type="none" w="med" len="med"/>
              <a:tailEnd type="none" w="sm" len="lg"/>
            </a:ln>
          </p:spPr>
        </p:sp>
        <p:sp>
          <p:nvSpPr>
            <p:cNvPr id="10268" name="Line 118"/>
            <p:cNvSpPr/>
            <p:nvPr/>
          </p:nvSpPr>
          <p:spPr>
            <a:xfrm>
              <a:off x="2458" y="1850"/>
              <a:ext cx="268" cy="0"/>
            </a:xfrm>
            <a:prstGeom prst="line">
              <a:avLst/>
            </a:prstGeom>
            <a:ln w="19050" cap="flat" cmpd="sng">
              <a:solidFill>
                <a:srgbClr val="3333FF"/>
              </a:solidFill>
              <a:prstDash val="solid"/>
              <a:headEnd type="none" w="med" len="med"/>
              <a:tailEnd type="none" w="sm" len="lg"/>
            </a:ln>
          </p:spPr>
        </p:sp>
        <p:sp>
          <p:nvSpPr>
            <p:cNvPr id="10269" name="Line 119"/>
            <p:cNvSpPr/>
            <p:nvPr/>
          </p:nvSpPr>
          <p:spPr>
            <a:xfrm>
              <a:off x="2726" y="1850"/>
              <a:ext cx="0" cy="1017"/>
            </a:xfrm>
            <a:prstGeom prst="line">
              <a:avLst/>
            </a:prstGeom>
            <a:ln w="19050" cap="flat" cmpd="sng">
              <a:solidFill>
                <a:srgbClr val="3333FF"/>
              </a:solidFill>
              <a:prstDash val="solid"/>
              <a:headEnd type="none" w="med" len="med"/>
              <a:tailEnd type="none" w="sm" len="lg"/>
            </a:ln>
          </p:spPr>
        </p:sp>
        <p:sp>
          <p:nvSpPr>
            <p:cNvPr id="10270" name="Line 120"/>
            <p:cNvSpPr/>
            <p:nvPr/>
          </p:nvSpPr>
          <p:spPr>
            <a:xfrm>
              <a:off x="2375" y="2874"/>
              <a:ext cx="1248" cy="0"/>
            </a:xfrm>
            <a:prstGeom prst="line">
              <a:avLst/>
            </a:prstGeom>
            <a:ln w="19050" cap="flat" cmpd="sng">
              <a:solidFill>
                <a:srgbClr val="3333FF"/>
              </a:solidFill>
              <a:prstDash val="solid"/>
              <a:headEnd type="none" w="med" len="med"/>
              <a:tailEnd type="none" w="sm" len="lg"/>
            </a:ln>
          </p:spPr>
        </p:sp>
        <p:sp>
          <p:nvSpPr>
            <p:cNvPr id="10271" name="Line 121"/>
            <p:cNvSpPr/>
            <p:nvPr/>
          </p:nvSpPr>
          <p:spPr>
            <a:xfrm flipH="1" flipV="1">
              <a:off x="2381" y="2573"/>
              <a:ext cx="6" cy="301"/>
            </a:xfrm>
            <a:prstGeom prst="line">
              <a:avLst/>
            </a:prstGeom>
            <a:ln w="19050" cap="flat" cmpd="sng">
              <a:solidFill>
                <a:srgbClr val="3333FF"/>
              </a:solidFill>
              <a:prstDash val="solid"/>
              <a:headEnd type="none" w="med" len="med"/>
              <a:tailEnd type="none" w="sm" len="lg"/>
            </a:ln>
          </p:spPr>
        </p:sp>
        <p:sp>
          <p:nvSpPr>
            <p:cNvPr id="10272" name="Line 122"/>
            <p:cNvSpPr/>
            <p:nvPr/>
          </p:nvSpPr>
          <p:spPr>
            <a:xfrm flipV="1">
              <a:off x="3610" y="2566"/>
              <a:ext cx="0" cy="308"/>
            </a:xfrm>
            <a:prstGeom prst="line">
              <a:avLst/>
            </a:prstGeom>
            <a:ln w="19050" cap="flat" cmpd="sng">
              <a:solidFill>
                <a:srgbClr val="3333FF"/>
              </a:solidFill>
              <a:prstDash val="solid"/>
              <a:headEnd type="none" w="med" len="med"/>
              <a:tailEnd type="none" w="sm" len="lg"/>
            </a:ln>
          </p:spPr>
        </p:sp>
        <p:sp>
          <p:nvSpPr>
            <p:cNvPr id="10273" name="Oval 124"/>
            <p:cNvSpPr/>
            <p:nvPr/>
          </p:nvSpPr>
          <p:spPr>
            <a:xfrm>
              <a:off x="3029" y="3886"/>
              <a:ext cx="66" cy="66"/>
            </a:xfrm>
            <a:prstGeom prst="ellipse">
              <a:avLst/>
            </a:prstGeom>
            <a:solidFill>
              <a:srgbClr val="3333FF"/>
            </a:solidFill>
            <a:ln w="19050" cap="flat" cmpd="sng">
              <a:solidFill>
                <a:srgbClr val="3333FF"/>
              </a:solidFill>
              <a:prstDash val="solid"/>
              <a:headEnd type="none" w="med" len="med"/>
              <a:tailEnd type="none" w="sm" len="lg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10274" name="Line 125"/>
            <p:cNvSpPr/>
            <p:nvPr/>
          </p:nvSpPr>
          <p:spPr>
            <a:xfrm flipH="1">
              <a:off x="1248" y="1670"/>
              <a:ext cx="1907" cy="0"/>
            </a:xfrm>
            <a:prstGeom prst="line">
              <a:avLst/>
            </a:prstGeom>
            <a:ln w="19050" cap="flat" cmpd="sng">
              <a:solidFill>
                <a:srgbClr val="3333FF"/>
              </a:solidFill>
              <a:prstDash val="solid"/>
              <a:headEnd type="none" w="med" len="med"/>
              <a:tailEnd type="none" w="sm" len="lg"/>
            </a:ln>
          </p:spPr>
        </p:sp>
        <p:sp>
          <p:nvSpPr>
            <p:cNvPr id="10275" name="Line 126"/>
            <p:cNvSpPr/>
            <p:nvPr/>
          </p:nvSpPr>
          <p:spPr>
            <a:xfrm>
              <a:off x="1242" y="1670"/>
              <a:ext cx="0" cy="2279"/>
            </a:xfrm>
            <a:prstGeom prst="line">
              <a:avLst/>
            </a:prstGeom>
            <a:ln w="19050" cap="flat" cmpd="sng">
              <a:solidFill>
                <a:srgbClr val="3333FF"/>
              </a:solidFill>
              <a:prstDash val="solid"/>
              <a:headEnd type="none" w="med" len="med"/>
              <a:tailEnd type="none" w="sm" len="lg"/>
            </a:ln>
          </p:spPr>
        </p:sp>
        <p:sp>
          <p:nvSpPr>
            <p:cNvPr id="10276" name="Line 127"/>
            <p:cNvSpPr/>
            <p:nvPr/>
          </p:nvSpPr>
          <p:spPr>
            <a:xfrm>
              <a:off x="1235" y="3942"/>
              <a:ext cx="557" cy="0"/>
            </a:xfrm>
            <a:prstGeom prst="line">
              <a:avLst/>
            </a:prstGeom>
            <a:ln w="19050" cap="flat" cmpd="sng">
              <a:solidFill>
                <a:srgbClr val="3333FF"/>
              </a:solidFill>
              <a:prstDash val="solid"/>
              <a:headEnd type="none" w="med" len="med"/>
              <a:tailEnd type="none" w="sm" len="lg"/>
            </a:ln>
          </p:spPr>
        </p:sp>
        <p:sp>
          <p:nvSpPr>
            <p:cNvPr id="10277" name="Line 128"/>
            <p:cNvSpPr/>
            <p:nvPr/>
          </p:nvSpPr>
          <p:spPr>
            <a:xfrm flipV="1">
              <a:off x="1786" y="3610"/>
              <a:ext cx="0" cy="332"/>
            </a:xfrm>
            <a:prstGeom prst="line">
              <a:avLst/>
            </a:prstGeom>
            <a:ln w="19050" cap="flat" cmpd="sng">
              <a:solidFill>
                <a:srgbClr val="3333FF"/>
              </a:solidFill>
              <a:prstDash val="solid"/>
              <a:headEnd type="none" w="med" len="med"/>
              <a:tailEnd type="none" w="sm" len="lg"/>
            </a:ln>
          </p:spPr>
        </p:sp>
        <p:sp>
          <p:nvSpPr>
            <p:cNvPr id="10278" name="Oval 129"/>
            <p:cNvSpPr/>
            <p:nvPr/>
          </p:nvSpPr>
          <p:spPr>
            <a:xfrm>
              <a:off x="3123" y="1633"/>
              <a:ext cx="66" cy="66"/>
            </a:xfrm>
            <a:prstGeom prst="ellipse">
              <a:avLst/>
            </a:prstGeom>
            <a:solidFill>
              <a:srgbClr val="3333FF"/>
            </a:solidFill>
            <a:ln w="19050" cap="flat" cmpd="sng">
              <a:solidFill>
                <a:srgbClr val="3333FF"/>
              </a:solidFill>
              <a:prstDash val="solid"/>
              <a:headEnd type="none" w="med" len="med"/>
              <a:tailEnd type="none" w="sm" len="lg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10279" name="Line 130"/>
            <p:cNvSpPr/>
            <p:nvPr/>
          </p:nvSpPr>
          <p:spPr>
            <a:xfrm flipH="1" flipV="1">
              <a:off x="1856" y="1754"/>
              <a:ext cx="6" cy="256"/>
            </a:xfrm>
            <a:prstGeom prst="line">
              <a:avLst/>
            </a:prstGeom>
            <a:ln w="19050" cap="flat" cmpd="sng">
              <a:solidFill>
                <a:srgbClr val="3333FF"/>
              </a:solidFill>
              <a:prstDash val="solid"/>
              <a:headEnd type="none" w="med" len="med"/>
              <a:tailEnd type="none" w="sm" len="lg"/>
            </a:ln>
          </p:spPr>
        </p:sp>
        <p:sp>
          <p:nvSpPr>
            <p:cNvPr id="10280" name="Line 131"/>
            <p:cNvSpPr/>
            <p:nvPr/>
          </p:nvSpPr>
          <p:spPr>
            <a:xfrm>
              <a:off x="1856" y="1754"/>
              <a:ext cx="1530" cy="0"/>
            </a:xfrm>
            <a:prstGeom prst="line">
              <a:avLst/>
            </a:prstGeom>
            <a:ln w="19050" cap="flat" cmpd="sng">
              <a:solidFill>
                <a:srgbClr val="3333FF"/>
              </a:solidFill>
              <a:prstDash val="solid"/>
              <a:headEnd type="none" w="med" len="med"/>
              <a:tailEnd type="none" w="sm" len="lg"/>
            </a:ln>
          </p:spPr>
        </p:sp>
        <p:sp>
          <p:nvSpPr>
            <p:cNvPr id="10281" name="Line 132"/>
            <p:cNvSpPr/>
            <p:nvPr/>
          </p:nvSpPr>
          <p:spPr>
            <a:xfrm flipV="1">
              <a:off x="3386" y="1510"/>
              <a:ext cx="0" cy="244"/>
            </a:xfrm>
            <a:prstGeom prst="line">
              <a:avLst/>
            </a:prstGeom>
            <a:ln w="19050" cap="flat" cmpd="sng">
              <a:solidFill>
                <a:srgbClr val="3333FF"/>
              </a:solidFill>
              <a:prstDash val="solid"/>
              <a:headEnd type="none" w="med" len="med"/>
              <a:tailEnd type="none" w="sm" len="lg"/>
            </a:ln>
          </p:spPr>
        </p:sp>
        <p:sp>
          <p:nvSpPr>
            <p:cNvPr id="10282" name="Text Box 133"/>
            <p:cNvSpPr txBox="1"/>
            <p:nvPr/>
          </p:nvSpPr>
          <p:spPr>
            <a:xfrm>
              <a:off x="2890" y="2223"/>
              <a:ext cx="466" cy="327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CP</a:t>
              </a:r>
              <a:r>
                <a:rPr lang="en-US" altLang="zh-CN" sz="2800" baseline="-25000" dirty="0">
                  <a:latin typeface="Times New Roman" panose="02020603050405020304" pitchFamily="18" charset="0"/>
                </a:rPr>
                <a:t>1</a:t>
              </a:r>
              <a:endParaRPr lang="en-US" altLang="zh-CN" sz="2800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10283" name="Text Box 134"/>
            <p:cNvSpPr txBox="1"/>
            <p:nvPr/>
          </p:nvSpPr>
          <p:spPr>
            <a:xfrm>
              <a:off x="3426" y="2217"/>
              <a:ext cx="354" cy="327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D</a:t>
              </a:r>
              <a:r>
                <a:rPr lang="en-US" altLang="zh-CN" sz="2800" baseline="-25000" dirty="0">
                  <a:latin typeface="Times New Roman" panose="02020603050405020304" pitchFamily="18" charset="0"/>
                </a:rPr>
                <a:t>1</a:t>
              </a:r>
              <a:endParaRPr lang="en-US" altLang="zh-CN" sz="2800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10284" name="Oval 137"/>
            <p:cNvSpPr/>
            <p:nvPr/>
          </p:nvSpPr>
          <p:spPr>
            <a:xfrm>
              <a:off x="3039" y="2572"/>
              <a:ext cx="66" cy="66"/>
            </a:xfrm>
            <a:prstGeom prst="ellipse">
              <a:avLst/>
            </a:prstGeom>
            <a:solidFill>
              <a:schemeClr val="bg1"/>
            </a:solidFill>
            <a:ln w="38100" cap="flat" cmpd="sng">
              <a:solidFill>
                <a:srgbClr val="3333FF"/>
              </a:solidFill>
              <a:prstDash val="solid"/>
              <a:headEnd type="none" w="med" len="med"/>
              <a:tailEnd type="none" w="sm" len="lg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10285" name="Oval 138"/>
            <p:cNvSpPr/>
            <p:nvPr/>
          </p:nvSpPr>
          <p:spPr>
            <a:xfrm>
              <a:off x="1895" y="2587"/>
              <a:ext cx="66" cy="66"/>
            </a:xfrm>
            <a:prstGeom prst="ellipse">
              <a:avLst/>
            </a:prstGeom>
            <a:solidFill>
              <a:schemeClr val="bg1"/>
            </a:solidFill>
            <a:ln w="38100" cap="flat" cmpd="sng">
              <a:solidFill>
                <a:srgbClr val="3333FF"/>
              </a:solidFill>
              <a:prstDash val="solid"/>
              <a:headEnd type="none" w="med" len="med"/>
              <a:tailEnd type="none" w="sm" len="lg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10286" name="Line 139"/>
            <p:cNvSpPr/>
            <p:nvPr/>
          </p:nvSpPr>
          <p:spPr>
            <a:xfrm flipH="1">
              <a:off x="1830" y="2451"/>
              <a:ext cx="96" cy="122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sm" len="lg"/>
            </a:ln>
          </p:spPr>
        </p:sp>
        <p:sp>
          <p:nvSpPr>
            <p:cNvPr id="10287" name="Line 140"/>
            <p:cNvSpPr/>
            <p:nvPr/>
          </p:nvSpPr>
          <p:spPr>
            <a:xfrm>
              <a:off x="1939" y="2451"/>
              <a:ext cx="96" cy="135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sm" len="lg"/>
            </a:ln>
          </p:spPr>
        </p:sp>
        <p:sp>
          <p:nvSpPr>
            <p:cNvPr id="10288" name="Line 141"/>
            <p:cNvSpPr/>
            <p:nvPr/>
          </p:nvSpPr>
          <p:spPr>
            <a:xfrm flipH="1">
              <a:off x="2970" y="2477"/>
              <a:ext cx="102" cy="102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sm" len="lg"/>
            </a:ln>
          </p:spPr>
        </p:sp>
        <p:sp>
          <p:nvSpPr>
            <p:cNvPr id="10289" name="Line 142"/>
            <p:cNvSpPr/>
            <p:nvPr/>
          </p:nvSpPr>
          <p:spPr>
            <a:xfrm>
              <a:off x="3078" y="2477"/>
              <a:ext cx="96" cy="102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sm" len="lg"/>
            </a:ln>
          </p:spPr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4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75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5778" name="Text Box 2"/>
          <p:cNvSpPr txBox="1"/>
          <p:nvPr/>
        </p:nvSpPr>
        <p:spPr>
          <a:xfrm>
            <a:off x="1374775" y="1168400"/>
            <a:ext cx="898525" cy="519113"/>
          </a:xfrm>
          <a:prstGeom prst="rect">
            <a:avLst/>
          </a:prstGeom>
          <a:noFill/>
          <a:ln w="19050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800" b="1" dirty="0">
                <a:latin typeface="Times New Roman" panose="02020603050405020304" pitchFamily="18" charset="0"/>
              </a:rPr>
              <a:t>解：</a:t>
            </a:r>
            <a:endParaRPr lang="zh-CN" altLang="en-US" sz="2800" dirty="0">
              <a:latin typeface="Times New Roman" panose="02020603050405020304" pitchFamily="18" charset="0"/>
            </a:endParaRPr>
          </a:p>
        </p:txBody>
      </p:sp>
      <p:sp>
        <p:nvSpPr>
          <p:cNvPr id="75779" name="Text Box 3"/>
          <p:cNvSpPr txBox="1"/>
          <p:nvPr/>
        </p:nvSpPr>
        <p:spPr>
          <a:xfrm>
            <a:off x="1774825" y="1816100"/>
            <a:ext cx="5286375" cy="519113"/>
          </a:xfrm>
          <a:prstGeom prst="rect">
            <a:avLst/>
          </a:prstGeom>
          <a:noFill/>
          <a:ln w="19050">
            <a:noFill/>
          </a:ln>
        </p:spPr>
        <p:txBody>
          <a:bodyPr wrap="none">
            <a:spAutoFit/>
          </a:bodyPr>
          <a:p>
            <a:pPr eaLnBrk="1" hangingPunct="1">
              <a:buChar char="•"/>
            </a:pPr>
            <a:r>
              <a:rPr lang="zh-CN" altLang="en-US" sz="2800" dirty="0">
                <a:latin typeface="Times New Roman" panose="02020603050405020304" pitchFamily="18" charset="0"/>
                <a:sym typeface="Monotype Sorts" pitchFamily="2" charset="2"/>
              </a:rPr>
              <a:t>写出输出函数和激励函数表达式</a:t>
            </a:r>
            <a:endParaRPr lang="zh-CN" altLang="en-US" sz="2800" dirty="0">
              <a:latin typeface="Times New Roman" panose="02020603050405020304" pitchFamily="18" charset="0"/>
            </a:endParaRPr>
          </a:p>
        </p:txBody>
      </p:sp>
      <p:grpSp>
        <p:nvGrpSpPr>
          <p:cNvPr id="2" name="Group 24"/>
          <p:cNvGrpSpPr/>
          <p:nvPr/>
        </p:nvGrpSpPr>
        <p:grpSpPr>
          <a:xfrm>
            <a:off x="2441575" y="2276475"/>
            <a:ext cx="1908175" cy="3505200"/>
            <a:chOff x="1538" y="1434"/>
            <a:chExt cx="1202" cy="2208"/>
          </a:xfrm>
        </p:grpSpPr>
        <p:sp>
          <p:nvSpPr>
            <p:cNvPr id="11269" name="Text Box 7"/>
            <p:cNvSpPr txBox="1"/>
            <p:nvPr/>
          </p:nvSpPr>
          <p:spPr>
            <a:xfrm>
              <a:off x="1538" y="1434"/>
              <a:ext cx="1202" cy="2208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p>
              <a:pPr marL="95250" indent="-95250" defTabSz="381000" eaLnBrk="1" hangingPunct="1">
                <a:lnSpc>
                  <a:spcPct val="160000"/>
                </a:lnSpc>
                <a:tabLst>
                  <a:tab pos="285750" algn="l"/>
                </a:tabLst>
              </a:pPr>
              <a:r>
                <a:rPr lang="en-US" altLang="zh-CN" sz="2800" dirty="0">
                  <a:latin typeface="Times New Roman" panose="02020603050405020304" pitchFamily="18" charset="0"/>
                </a:rPr>
                <a:t>Z=xy</a:t>
              </a:r>
              <a:r>
                <a:rPr lang="en-US" altLang="zh-CN" sz="2800" baseline="-25000" dirty="0">
                  <a:latin typeface="Times New Roman" panose="02020603050405020304" pitchFamily="18" charset="0"/>
                </a:rPr>
                <a:t>2</a:t>
              </a:r>
              <a:r>
                <a:rPr lang="en-US" altLang="zh-CN" sz="2800" dirty="0">
                  <a:latin typeface="Times New Roman" panose="02020603050405020304" pitchFamily="18" charset="0"/>
                </a:rPr>
                <a:t>y</a:t>
              </a:r>
              <a:r>
                <a:rPr lang="en-US" altLang="zh-CN" sz="2800" baseline="-25000" dirty="0">
                  <a:latin typeface="Times New Roman" panose="02020603050405020304" pitchFamily="18" charset="0"/>
                </a:rPr>
                <a:t>1</a:t>
              </a:r>
              <a:endParaRPr lang="en-US" altLang="zh-CN" sz="2800" baseline="-25000" dirty="0">
                <a:latin typeface="Times New Roman" panose="02020603050405020304" pitchFamily="18" charset="0"/>
              </a:endParaRPr>
            </a:p>
            <a:p>
              <a:pPr marL="95250" indent="-95250" defTabSz="381000" eaLnBrk="1" hangingPunct="1">
                <a:lnSpc>
                  <a:spcPct val="160000"/>
                </a:lnSpc>
                <a:tabLst>
                  <a:tab pos="285750" algn="l"/>
                </a:tabLst>
              </a:pPr>
              <a:r>
                <a:rPr lang="en-US" altLang="zh-CN" sz="2800" dirty="0">
                  <a:latin typeface="Times New Roman" panose="02020603050405020304" pitchFamily="18" charset="0"/>
                </a:rPr>
                <a:t>D</a:t>
              </a:r>
              <a:r>
                <a:rPr lang="en-US" altLang="zh-CN" sz="2800" baseline="-25000" dirty="0">
                  <a:latin typeface="Times New Roman" panose="02020603050405020304" pitchFamily="18" charset="0"/>
                </a:rPr>
                <a:t>2</a:t>
              </a:r>
              <a:r>
                <a:rPr lang="en-US" altLang="zh-CN" sz="2800" dirty="0">
                  <a:latin typeface="Times New Roman" panose="02020603050405020304" pitchFamily="18" charset="0"/>
                </a:rPr>
                <a:t>=y</a:t>
              </a:r>
              <a:r>
                <a:rPr lang="en-US" altLang="zh-CN" sz="2800" baseline="-25000" dirty="0">
                  <a:latin typeface="Times New Roman" panose="02020603050405020304" pitchFamily="18" charset="0"/>
                </a:rPr>
                <a:t>2</a:t>
              </a:r>
              <a:endParaRPr lang="en-US" altLang="zh-CN" sz="2800" dirty="0">
                <a:latin typeface="Times New Roman" panose="02020603050405020304" pitchFamily="18" charset="0"/>
              </a:endParaRPr>
            </a:p>
            <a:p>
              <a:pPr marL="95250" indent="-95250" defTabSz="381000" eaLnBrk="1" hangingPunct="1">
                <a:lnSpc>
                  <a:spcPct val="160000"/>
                </a:lnSpc>
                <a:tabLst>
                  <a:tab pos="285750" algn="l"/>
                </a:tabLst>
              </a:pPr>
              <a:r>
                <a:rPr lang="en-US" altLang="zh-CN" sz="2800" dirty="0">
                  <a:latin typeface="Times New Roman" panose="02020603050405020304" pitchFamily="18" charset="0"/>
                </a:rPr>
                <a:t>CP</a:t>
              </a:r>
              <a:r>
                <a:rPr lang="en-US" altLang="zh-CN" sz="2800" baseline="-25000" dirty="0">
                  <a:latin typeface="Times New Roman" panose="02020603050405020304" pitchFamily="18" charset="0"/>
                </a:rPr>
                <a:t>2</a:t>
              </a:r>
              <a:r>
                <a:rPr lang="en-US" altLang="zh-CN" sz="2800" dirty="0">
                  <a:latin typeface="Times New Roman" panose="02020603050405020304" pitchFamily="18" charset="0"/>
                </a:rPr>
                <a:t>=xy</a:t>
              </a:r>
              <a:r>
                <a:rPr lang="en-US" altLang="zh-CN" sz="2800" baseline="-25000" dirty="0">
                  <a:latin typeface="Times New Roman" panose="02020603050405020304" pitchFamily="18" charset="0"/>
                </a:rPr>
                <a:t>1</a:t>
              </a:r>
              <a:endParaRPr lang="en-US" altLang="zh-CN" sz="2800" baseline="-25000" dirty="0">
                <a:latin typeface="Times New Roman" panose="02020603050405020304" pitchFamily="18" charset="0"/>
              </a:endParaRPr>
            </a:p>
            <a:p>
              <a:pPr marL="95250" indent="-95250" defTabSz="381000" eaLnBrk="1" hangingPunct="1">
                <a:lnSpc>
                  <a:spcPct val="160000"/>
                </a:lnSpc>
                <a:tabLst>
                  <a:tab pos="285750" algn="l"/>
                </a:tabLst>
              </a:pPr>
              <a:r>
                <a:rPr lang="en-US" altLang="zh-CN" sz="2800" dirty="0">
                  <a:latin typeface="Times New Roman" panose="02020603050405020304" pitchFamily="18" charset="0"/>
                </a:rPr>
                <a:t>D</a:t>
              </a:r>
              <a:r>
                <a:rPr lang="en-US" altLang="zh-CN" sz="2800" baseline="-25000" dirty="0">
                  <a:latin typeface="Times New Roman" panose="02020603050405020304" pitchFamily="18" charset="0"/>
                </a:rPr>
                <a:t>1</a:t>
              </a:r>
              <a:r>
                <a:rPr lang="en-US" altLang="zh-CN" sz="2800" dirty="0">
                  <a:latin typeface="Times New Roman" panose="02020603050405020304" pitchFamily="18" charset="0"/>
                </a:rPr>
                <a:t>=y</a:t>
              </a:r>
              <a:r>
                <a:rPr lang="en-US" altLang="zh-CN" sz="2800" baseline="-25000" dirty="0">
                  <a:latin typeface="Times New Roman" panose="02020603050405020304" pitchFamily="18" charset="0"/>
                </a:rPr>
                <a:t>2</a:t>
              </a:r>
              <a:endParaRPr lang="en-US" altLang="zh-CN" sz="2800" dirty="0">
                <a:latin typeface="Times New Roman" panose="02020603050405020304" pitchFamily="18" charset="0"/>
              </a:endParaRPr>
            </a:p>
            <a:p>
              <a:pPr marL="95250" indent="-95250" defTabSz="381000" eaLnBrk="1" hangingPunct="1">
                <a:lnSpc>
                  <a:spcPct val="160000"/>
                </a:lnSpc>
                <a:tabLst>
                  <a:tab pos="285750" algn="l"/>
                </a:tabLst>
              </a:pPr>
              <a:r>
                <a:rPr lang="en-US" altLang="zh-CN" sz="2800" dirty="0">
                  <a:latin typeface="Times New Roman" panose="02020603050405020304" pitchFamily="18" charset="0"/>
                </a:rPr>
                <a:t>CP</a:t>
              </a:r>
              <a:r>
                <a:rPr lang="en-US" altLang="zh-CN" sz="2800" baseline="-25000" dirty="0">
                  <a:latin typeface="Times New Roman" panose="02020603050405020304" pitchFamily="18" charset="0"/>
                </a:rPr>
                <a:t>1</a:t>
              </a:r>
              <a:r>
                <a:rPr lang="en-US" altLang="zh-CN" sz="2800" dirty="0">
                  <a:latin typeface="Times New Roman" panose="02020603050405020304" pitchFamily="18" charset="0"/>
                </a:rPr>
                <a:t>=x</a:t>
              </a:r>
              <a:endParaRPr lang="en-US" altLang="zh-CN" sz="2800" dirty="0">
                <a:latin typeface="Times New Roman" panose="02020603050405020304" pitchFamily="18" charset="0"/>
              </a:endParaRPr>
            </a:p>
          </p:txBody>
        </p:sp>
        <p:sp>
          <p:nvSpPr>
            <p:cNvPr id="11270" name="Line 19"/>
            <p:cNvSpPr/>
            <p:nvPr/>
          </p:nvSpPr>
          <p:spPr>
            <a:xfrm>
              <a:off x="1940" y="2069"/>
              <a:ext cx="156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sm" len="lg"/>
            </a:ln>
          </p:spPr>
        </p:sp>
        <p:sp>
          <p:nvSpPr>
            <p:cNvPr id="11271" name="Line 23"/>
            <p:cNvSpPr/>
            <p:nvPr/>
          </p:nvSpPr>
          <p:spPr>
            <a:xfrm>
              <a:off x="1936" y="2940"/>
              <a:ext cx="156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sm" len="lg"/>
            </a:ln>
          </p:spPr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57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778" grpId="0"/>
      <p:bldP spid="7577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" name="Group 66"/>
          <p:cNvGrpSpPr/>
          <p:nvPr/>
        </p:nvGrpSpPr>
        <p:grpSpPr>
          <a:xfrm>
            <a:off x="314325" y="3595688"/>
            <a:ext cx="8324850" cy="3038475"/>
            <a:chOff x="281" y="363"/>
            <a:chExt cx="5244" cy="1914"/>
          </a:xfrm>
        </p:grpSpPr>
        <p:sp>
          <p:nvSpPr>
            <p:cNvPr id="12296" name="Line 3"/>
            <p:cNvSpPr/>
            <p:nvPr/>
          </p:nvSpPr>
          <p:spPr>
            <a:xfrm>
              <a:off x="293" y="387"/>
              <a:ext cx="5220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sm" len="lg"/>
            </a:ln>
          </p:spPr>
        </p:sp>
        <p:sp>
          <p:nvSpPr>
            <p:cNvPr id="12297" name="Line 7"/>
            <p:cNvSpPr/>
            <p:nvPr/>
          </p:nvSpPr>
          <p:spPr>
            <a:xfrm>
              <a:off x="281" y="1012"/>
              <a:ext cx="5244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sm" len="lg"/>
            </a:ln>
          </p:spPr>
        </p:sp>
        <p:sp>
          <p:nvSpPr>
            <p:cNvPr id="12298" name="Text Box 8"/>
            <p:cNvSpPr txBox="1"/>
            <p:nvPr/>
          </p:nvSpPr>
          <p:spPr>
            <a:xfrm>
              <a:off x="1387" y="427"/>
              <a:ext cx="916" cy="596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p>
              <a:pPr eaLnBrk="1" hangingPunct="1"/>
              <a:r>
                <a:rPr lang="zh-CN" altLang="zh-CN" sz="2800" dirty="0">
                  <a:latin typeface="Times New Roman" panose="02020603050405020304" pitchFamily="18" charset="0"/>
                </a:rPr>
                <a:t>现	态</a:t>
              </a:r>
              <a:endParaRPr lang="zh-CN" altLang="zh-CN" sz="2800" dirty="0">
                <a:latin typeface="Times New Roman" panose="02020603050405020304" pitchFamily="18" charset="0"/>
              </a:endParaRPr>
            </a:p>
            <a:p>
              <a:pPr algn="ctr"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y</a:t>
              </a:r>
              <a:r>
                <a:rPr lang="en-US" altLang="zh-CN" sz="2800" baseline="-25000" dirty="0">
                  <a:latin typeface="Times New Roman" panose="02020603050405020304" pitchFamily="18" charset="0"/>
                </a:rPr>
                <a:t>2</a:t>
              </a:r>
              <a:r>
                <a:rPr lang="en-US" altLang="zh-CN" sz="2800" dirty="0">
                  <a:latin typeface="Times New Roman" panose="02020603050405020304" pitchFamily="18" charset="0"/>
                </a:rPr>
                <a:t>    y</a:t>
              </a:r>
              <a:r>
                <a:rPr lang="en-US" altLang="zh-CN" sz="2800" baseline="-25000" dirty="0">
                  <a:latin typeface="Times New Roman" panose="02020603050405020304" pitchFamily="18" charset="0"/>
                </a:rPr>
                <a:t>1</a:t>
              </a:r>
              <a:endParaRPr lang="en-US" altLang="zh-CN" sz="2800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12299" name="Text Box 10"/>
            <p:cNvSpPr txBox="1"/>
            <p:nvPr/>
          </p:nvSpPr>
          <p:spPr>
            <a:xfrm>
              <a:off x="1505" y="1069"/>
              <a:ext cx="228" cy="1134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p>
              <a:pPr algn="ctr" defTabSz="666750"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0</a:t>
              </a:r>
              <a:endParaRPr lang="en-US" altLang="zh-CN" sz="2800" dirty="0">
                <a:latin typeface="Times New Roman" panose="02020603050405020304" pitchFamily="18" charset="0"/>
              </a:endParaRPr>
            </a:p>
            <a:p>
              <a:pPr algn="ctr" defTabSz="666750"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0</a:t>
              </a:r>
              <a:endParaRPr lang="en-US" altLang="zh-CN" sz="2800" dirty="0">
                <a:latin typeface="Times New Roman" panose="02020603050405020304" pitchFamily="18" charset="0"/>
              </a:endParaRPr>
            </a:p>
            <a:p>
              <a:pPr algn="ctr" defTabSz="666750"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1</a:t>
              </a:r>
              <a:endParaRPr lang="en-US" altLang="zh-CN" sz="2800" dirty="0">
                <a:latin typeface="Times New Roman" panose="02020603050405020304" pitchFamily="18" charset="0"/>
              </a:endParaRPr>
            </a:p>
            <a:p>
              <a:pPr algn="ctr" defTabSz="666750"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1</a:t>
              </a:r>
              <a:endParaRPr lang="en-US" altLang="zh-CN" sz="2800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12300" name="Rectangle 11"/>
            <p:cNvSpPr/>
            <p:nvPr/>
          </p:nvSpPr>
          <p:spPr>
            <a:xfrm>
              <a:off x="495" y="427"/>
              <a:ext cx="620" cy="596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p>
              <a:pPr algn="ctr" defTabSz="762000" eaLnBrk="1" hangingPunct="1"/>
              <a:r>
                <a:rPr lang="zh-CN" altLang="en-US" sz="2800" dirty="0">
                  <a:latin typeface="Times New Roman" panose="02020603050405020304" pitchFamily="18" charset="0"/>
                </a:rPr>
                <a:t>输 入</a:t>
              </a:r>
              <a:endParaRPr lang="zh-CN" altLang="en-US" sz="2800" dirty="0">
                <a:latin typeface="Times New Roman" panose="02020603050405020304" pitchFamily="18" charset="0"/>
              </a:endParaRPr>
            </a:p>
            <a:p>
              <a:pPr algn="ctr" defTabSz="762000" eaLnBrk="1" hangingPunct="1"/>
              <a:r>
                <a:rPr lang="zh-CN" altLang="en-US" sz="2800" dirty="0">
                  <a:latin typeface="Times New Roman" panose="02020603050405020304" pitchFamily="18" charset="0"/>
                </a:rPr>
                <a:t>   </a:t>
              </a:r>
              <a:r>
                <a:rPr lang="en-US" altLang="zh-CN" sz="2800" dirty="0">
                  <a:latin typeface="Times New Roman" panose="02020603050405020304" pitchFamily="18" charset="0"/>
                </a:rPr>
                <a:t>x</a:t>
              </a:r>
              <a:r>
                <a:rPr lang="en-US" altLang="zh-CN" sz="2800" baseline="-25000" dirty="0">
                  <a:latin typeface="Times New Roman" panose="02020603050405020304" pitchFamily="18" charset="0"/>
                </a:rPr>
                <a:t> 	</a:t>
              </a:r>
              <a:endParaRPr lang="en-US" altLang="zh-CN" sz="2800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12301" name="Text Box 9"/>
            <p:cNvSpPr txBox="1"/>
            <p:nvPr/>
          </p:nvSpPr>
          <p:spPr>
            <a:xfrm>
              <a:off x="3547" y="427"/>
              <a:ext cx="1210" cy="596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p>
              <a:pPr algn="ctr" eaLnBrk="1" hangingPunct="1"/>
              <a:r>
                <a:rPr lang="zh-CN" altLang="zh-CN" sz="2800" dirty="0">
                  <a:latin typeface="Times New Roman" panose="02020603050405020304" pitchFamily="18" charset="0"/>
                </a:rPr>
                <a:t>次     态</a:t>
              </a:r>
              <a:endParaRPr lang="zh-CN" altLang="zh-CN" sz="2800" dirty="0">
                <a:latin typeface="Times New Roman" panose="02020603050405020304" pitchFamily="18" charset="0"/>
              </a:endParaRPr>
            </a:p>
            <a:p>
              <a:pPr algn="ctr"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y</a:t>
              </a:r>
              <a:r>
                <a:rPr lang="en-US" altLang="zh-CN" sz="2800" baseline="-25000" dirty="0">
                  <a:latin typeface="Times New Roman" panose="02020603050405020304" pitchFamily="18" charset="0"/>
                </a:rPr>
                <a:t>2</a:t>
              </a:r>
              <a:r>
                <a:rPr lang="en-US" altLang="zh-CN" sz="2800" baseline="30000" dirty="0">
                  <a:latin typeface="Times New Roman" panose="02020603050405020304" pitchFamily="18" charset="0"/>
                </a:rPr>
                <a:t>(</a:t>
              </a:r>
              <a:r>
                <a:rPr lang="en-US" altLang="zh-CN" sz="2800" i="1" baseline="30000" dirty="0">
                  <a:latin typeface="Times New Roman" panose="02020603050405020304" pitchFamily="18" charset="0"/>
                </a:rPr>
                <a:t>n</a:t>
              </a:r>
              <a:r>
                <a:rPr lang="en-US" altLang="zh-CN" sz="2800" baseline="30000" dirty="0">
                  <a:latin typeface="Times New Roman" panose="02020603050405020304" pitchFamily="18" charset="0"/>
                </a:rPr>
                <a:t>+1) </a:t>
              </a:r>
              <a:r>
                <a:rPr lang="en-US" altLang="zh-CN" sz="2800" dirty="0">
                  <a:latin typeface="Times New Roman" panose="02020603050405020304" pitchFamily="18" charset="0"/>
                </a:rPr>
                <a:t>y</a:t>
              </a:r>
              <a:r>
                <a:rPr lang="en-US" altLang="zh-CN" sz="2800" baseline="-25000" dirty="0">
                  <a:latin typeface="Times New Roman" panose="02020603050405020304" pitchFamily="18" charset="0"/>
                </a:rPr>
                <a:t>1</a:t>
              </a:r>
              <a:r>
                <a:rPr lang="en-US" altLang="zh-CN" sz="2800" baseline="30000" dirty="0">
                  <a:latin typeface="Times New Roman" panose="02020603050405020304" pitchFamily="18" charset="0"/>
                </a:rPr>
                <a:t>(</a:t>
              </a:r>
              <a:r>
                <a:rPr lang="en-US" altLang="zh-CN" sz="2800" i="1" baseline="30000" dirty="0">
                  <a:latin typeface="Times New Roman" panose="02020603050405020304" pitchFamily="18" charset="0"/>
                </a:rPr>
                <a:t>n</a:t>
              </a:r>
              <a:r>
                <a:rPr lang="en-US" altLang="zh-CN" sz="2800" baseline="30000" dirty="0">
                  <a:latin typeface="Times New Roman" panose="02020603050405020304" pitchFamily="18" charset="0"/>
                </a:rPr>
                <a:t>+1)</a:t>
              </a:r>
              <a:endParaRPr lang="en-US" altLang="zh-CN" sz="2800" baseline="30000" dirty="0">
                <a:latin typeface="Times New Roman" panose="02020603050405020304" pitchFamily="18" charset="0"/>
              </a:endParaRPr>
            </a:p>
          </p:txBody>
        </p:sp>
        <p:sp>
          <p:nvSpPr>
            <p:cNvPr id="12302" name="Text Box 14"/>
            <p:cNvSpPr txBox="1"/>
            <p:nvPr/>
          </p:nvSpPr>
          <p:spPr>
            <a:xfrm>
              <a:off x="3778" y="1099"/>
              <a:ext cx="228" cy="1134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p>
              <a:pPr algn="ctr" defTabSz="762000"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0</a:t>
              </a:r>
              <a:endParaRPr lang="en-US" altLang="zh-CN" sz="2800" dirty="0">
                <a:latin typeface="Times New Roman" panose="02020603050405020304" pitchFamily="18" charset="0"/>
              </a:endParaRPr>
            </a:p>
            <a:p>
              <a:pPr algn="ctr" defTabSz="762000"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1</a:t>
              </a:r>
              <a:endParaRPr lang="en-US" altLang="zh-CN" sz="2800" dirty="0">
                <a:latin typeface="Times New Roman" panose="02020603050405020304" pitchFamily="18" charset="0"/>
              </a:endParaRPr>
            </a:p>
            <a:p>
              <a:pPr algn="ctr" defTabSz="762000"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1</a:t>
              </a:r>
              <a:endParaRPr lang="en-US" altLang="zh-CN" sz="2800" dirty="0">
                <a:latin typeface="Times New Roman" panose="02020603050405020304" pitchFamily="18" charset="0"/>
              </a:endParaRPr>
            </a:p>
            <a:p>
              <a:pPr algn="ctr" defTabSz="762000"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0</a:t>
              </a:r>
              <a:endParaRPr lang="en-US" altLang="zh-CN" sz="2800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12303" name="Line 4"/>
            <p:cNvSpPr/>
            <p:nvPr/>
          </p:nvSpPr>
          <p:spPr>
            <a:xfrm>
              <a:off x="281" y="2268"/>
              <a:ext cx="5244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sm" len="lg"/>
            </a:ln>
          </p:spPr>
        </p:sp>
        <p:sp>
          <p:nvSpPr>
            <p:cNvPr id="12304" name="Line 5"/>
            <p:cNvSpPr/>
            <p:nvPr/>
          </p:nvSpPr>
          <p:spPr>
            <a:xfrm>
              <a:off x="1265" y="380"/>
              <a:ext cx="0" cy="188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sm" len="lg"/>
            </a:ln>
          </p:spPr>
        </p:sp>
        <p:sp>
          <p:nvSpPr>
            <p:cNvPr id="12305" name="Line 6"/>
            <p:cNvSpPr/>
            <p:nvPr/>
          </p:nvSpPr>
          <p:spPr>
            <a:xfrm>
              <a:off x="2345" y="371"/>
              <a:ext cx="0" cy="1906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sm" len="lg"/>
            </a:ln>
          </p:spPr>
        </p:sp>
        <p:sp>
          <p:nvSpPr>
            <p:cNvPr id="12306" name="Line 13"/>
            <p:cNvSpPr/>
            <p:nvPr/>
          </p:nvSpPr>
          <p:spPr>
            <a:xfrm>
              <a:off x="3605" y="363"/>
              <a:ext cx="0" cy="1894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sm" len="lg"/>
            </a:ln>
          </p:spPr>
        </p:sp>
        <p:sp>
          <p:nvSpPr>
            <p:cNvPr id="12307" name="Line 17"/>
            <p:cNvSpPr/>
            <p:nvPr/>
          </p:nvSpPr>
          <p:spPr>
            <a:xfrm>
              <a:off x="4721" y="386"/>
              <a:ext cx="0" cy="1883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sm" len="lg"/>
            </a:ln>
          </p:spPr>
        </p:sp>
        <p:sp>
          <p:nvSpPr>
            <p:cNvPr id="12308" name="Rectangle 18"/>
            <p:cNvSpPr/>
            <p:nvPr/>
          </p:nvSpPr>
          <p:spPr>
            <a:xfrm>
              <a:off x="4839" y="427"/>
              <a:ext cx="620" cy="596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p>
              <a:pPr algn="ctr" eaLnBrk="1" hangingPunct="1"/>
              <a:r>
                <a:rPr lang="zh-CN" altLang="en-US" sz="2800" dirty="0">
                  <a:latin typeface="Times New Roman" panose="02020603050405020304" pitchFamily="18" charset="0"/>
                </a:rPr>
                <a:t>输 出</a:t>
              </a:r>
              <a:endParaRPr lang="zh-CN" altLang="en-US" sz="2800" dirty="0">
                <a:latin typeface="Times New Roman" panose="02020603050405020304" pitchFamily="18" charset="0"/>
              </a:endParaRPr>
            </a:p>
            <a:p>
              <a:pPr algn="ctr"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Z</a:t>
              </a:r>
              <a:endParaRPr lang="en-US" altLang="zh-CN" sz="2800" dirty="0">
                <a:latin typeface="Times New Roman" panose="02020603050405020304" pitchFamily="18" charset="0"/>
              </a:endParaRPr>
            </a:p>
          </p:txBody>
        </p:sp>
        <p:sp>
          <p:nvSpPr>
            <p:cNvPr id="12309" name="Text Box 19"/>
            <p:cNvSpPr txBox="1"/>
            <p:nvPr/>
          </p:nvSpPr>
          <p:spPr>
            <a:xfrm>
              <a:off x="5041" y="1095"/>
              <a:ext cx="228" cy="1134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p>
              <a:pPr algn="ctr" defTabSz="666750"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0</a:t>
              </a:r>
              <a:endParaRPr lang="en-US" altLang="zh-CN" sz="2800" dirty="0">
                <a:latin typeface="Times New Roman" panose="02020603050405020304" pitchFamily="18" charset="0"/>
              </a:endParaRPr>
            </a:p>
            <a:p>
              <a:pPr algn="ctr" defTabSz="666750"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0</a:t>
              </a:r>
              <a:endParaRPr lang="en-US" altLang="zh-CN" sz="2800" dirty="0">
                <a:latin typeface="Times New Roman" panose="02020603050405020304" pitchFamily="18" charset="0"/>
              </a:endParaRPr>
            </a:p>
            <a:p>
              <a:pPr algn="ctr" defTabSz="666750"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0</a:t>
              </a:r>
              <a:endParaRPr lang="en-US" altLang="zh-CN" sz="2800" dirty="0">
                <a:latin typeface="Times New Roman" panose="02020603050405020304" pitchFamily="18" charset="0"/>
              </a:endParaRPr>
            </a:p>
            <a:p>
              <a:pPr algn="ctr" defTabSz="666750"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1</a:t>
              </a:r>
              <a:endParaRPr lang="en-US" altLang="zh-CN" sz="2800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12310" name="Rectangle 12"/>
            <p:cNvSpPr/>
            <p:nvPr/>
          </p:nvSpPr>
          <p:spPr>
            <a:xfrm>
              <a:off x="2303" y="427"/>
              <a:ext cx="1372" cy="596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p>
              <a:pPr algn="ctr" eaLnBrk="1" hangingPunct="1"/>
              <a:r>
                <a:rPr lang="zh-CN" altLang="en-US" sz="2800" dirty="0">
                  <a:latin typeface="Times New Roman" panose="02020603050405020304" pitchFamily="18" charset="0"/>
                </a:rPr>
                <a:t>激励函数</a:t>
              </a:r>
              <a:endParaRPr lang="zh-CN" altLang="en-US" sz="2800" dirty="0">
                <a:latin typeface="Times New Roman" panose="02020603050405020304" pitchFamily="18" charset="0"/>
              </a:endParaRPr>
            </a:p>
            <a:p>
              <a:pPr algn="ctr"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CP</a:t>
              </a:r>
              <a:r>
                <a:rPr lang="en-US" altLang="zh-CN" sz="2800" baseline="-25000" dirty="0">
                  <a:latin typeface="Times New Roman" panose="02020603050405020304" pitchFamily="18" charset="0"/>
                </a:rPr>
                <a:t>2</a:t>
              </a:r>
              <a:r>
                <a:rPr lang="en-US" altLang="zh-CN" sz="2800" dirty="0">
                  <a:latin typeface="Times New Roman" panose="02020603050405020304" pitchFamily="18" charset="0"/>
                </a:rPr>
                <a:t>D</a:t>
              </a:r>
              <a:r>
                <a:rPr lang="en-US" altLang="zh-CN" sz="2800" baseline="-25000" dirty="0">
                  <a:latin typeface="Times New Roman" panose="02020603050405020304" pitchFamily="18" charset="0"/>
                </a:rPr>
                <a:t>2</a:t>
              </a:r>
              <a:r>
                <a:rPr lang="en-US" altLang="zh-CN" sz="2800" dirty="0">
                  <a:latin typeface="Times New Roman" panose="02020603050405020304" pitchFamily="18" charset="0"/>
                </a:rPr>
                <a:t>CP</a:t>
              </a:r>
              <a:r>
                <a:rPr lang="en-US" altLang="zh-CN" sz="2800" baseline="-25000" dirty="0">
                  <a:latin typeface="Times New Roman" panose="02020603050405020304" pitchFamily="18" charset="0"/>
                </a:rPr>
                <a:t>1</a:t>
              </a:r>
              <a:r>
                <a:rPr lang="en-US" altLang="zh-CN" sz="2800" dirty="0">
                  <a:latin typeface="Times New Roman" panose="02020603050405020304" pitchFamily="18" charset="0"/>
                </a:rPr>
                <a:t>D</a:t>
              </a:r>
              <a:r>
                <a:rPr lang="en-US" altLang="zh-CN" sz="2800" baseline="-25000" dirty="0">
                  <a:latin typeface="Times New Roman" panose="02020603050405020304" pitchFamily="18" charset="0"/>
                </a:rPr>
                <a:t>1</a:t>
              </a:r>
              <a:endParaRPr lang="en-US" altLang="zh-CN" sz="2800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12311" name="Rectangle 23"/>
            <p:cNvSpPr/>
            <p:nvPr/>
          </p:nvSpPr>
          <p:spPr>
            <a:xfrm>
              <a:off x="691" y="1095"/>
              <a:ext cx="228" cy="1134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p>
              <a:pPr algn="ctr" defTabSz="762000"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1</a:t>
              </a:r>
              <a:endParaRPr lang="en-US" altLang="zh-CN" sz="2800" dirty="0">
                <a:latin typeface="Times New Roman" panose="02020603050405020304" pitchFamily="18" charset="0"/>
              </a:endParaRPr>
            </a:p>
            <a:p>
              <a:pPr algn="ctr" defTabSz="762000"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1</a:t>
              </a:r>
              <a:endParaRPr lang="en-US" altLang="zh-CN" sz="2800" dirty="0">
                <a:latin typeface="Times New Roman" panose="02020603050405020304" pitchFamily="18" charset="0"/>
              </a:endParaRPr>
            </a:p>
            <a:p>
              <a:pPr algn="ctr" defTabSz="762000"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1</a:t>
              </a:r>
              <a:endParaRPr lang="en-US" altLang="zh-CN" sz="2800" dirty="0">
                <a:latin typeface="Times New Roman" panose="02020603050405020304" pitchFamily="18" charset="0"/>
              </a:endParaRPr>
            </a:p>
            <a:p>
              <a:pPr algn="ctr" defTabSz="762000"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1</a:t>
              </a:r>
              <a:endParaRPr lang="en-US" altLang="zh-CN" sz="2800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12312" name="Text Box 60"/>
            <p:cNvSpPr txBox="1"/>
            <p:nvPr/>
          </p:nvSpPr>
          <p:spPr>
            <a:xfrm>
              <a:off x="1897" y="1070"/>
              <a:ext cx="228" cy="1134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p>
              <a:pPr algn="ctr" defTabSz="666750"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0</a:t>
              </a:r>
              <a:endParaRPr lang="en-US" altLang="zh-CN" sz="2800" dirty="0">
                <a:latin typeface="Times New Roman" panose="02020603050405020304" pitchFamily="18" charset="0"/>
              </a:endParaRPr>
            </a:p>
            <a:p>
              <a:pPr algn="ctr" defTabSz="666750"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1</a:t>
              </a:r>
              <a:endParaRPr lang="en-US" altLang="zh-CN" sz="2800" dirty="0">
                <a:latin typeface="Times New Roman" panose="02020603050405020304" pitchFamily="18" charset="0"/>
              </a:endParaRPr>
            </a:p>
            <a:p>
              <a:pPr algn="ctr" defTabSz="666750"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0</a:t>
              </a:r>
              <a:endParaRPr lang="en-US" altLang="zh-CN" sz="2800" dirty="0">
                <a:latin typeface="Times New Roman" panose="02020603050405020304" pitchFamily="18" charset="0"/>
              </a:endParaRPr>
            </a:p>
            <a:p>
              <a:pPr algn="ctr" defTabSz="666750"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1</a:t>
              </a:r>
              <a:endParaRPr lang="en-US" altLang="zh-CN" sz="2800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12313" name="Text Box 61"/>
            <p:cNvSpPr txBox="1"/>
            <p:nvPr/>
          </p:nvSpPr>
          <p:spPr>
            <a:xfrm>
              <a:off x="4231" y="1083"/>
              <a:ext cx="228" cy="1134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p>
              <a:pPr algn="ctr" defTabSz="762000"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1</a:t>
              </a:r>
              <a:endParaRPr lang="en-US" altLang="zh-CN" sz="2800" dirty="0">
                <a:latin typeface="Times New Roman" panose="02020603050405020304" pitchFamily="18" charset="0"/>
              </a:endParaRPr>
            </a:p>
            <a:p>
              <a:pPr algn="ctr" defTabSz="762000"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1</a:t>
              </a:r>
              <a:endParaRPr lang="en-US" altLang="zh-CN" sz="2800" dirty="0">
                <a:latin typeface="Times New Roman" panose="02020603050405020304" pitchFamily="18" charset="0"/>
              </a:endParaRPr>
            </a:p>
            <a:p>
              <a:pPr algn="ctr" defTabSz="762000"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0</a:t>
              </a:r>
              <a:endParaRPr lang="en-US" altLang="zh-CN" sz="2800" dirty="0">
                <a:latin typeface="Times New Roman" panose="02020603050405020304" pitchFamily="18" charset="0"/>
              </a:endParaRPr>
            </a:p>
            <a:p>
              <a:pPr algn="ctr" defTabSz="762000"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0</a:t>
              </a:r>
              <a:endParaRPr lang="en-US" altLang="zh-CN" sz="2800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12314" name="Text Box 62"/>
            <p:cNvSpPr txBox="1"/>
            <p:nvPr/>
          </p:nvSpPr>
          <p:spPr>
            <a:xfrm>
              <a:off x="3236" y="1081"/>
              <a:ext cx="228" cy="1134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p>
              <a:pPr algn="ctr" defTabSz="762000"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1</a:t>
              </a:r>
              <a:endParaRPr lang="en-US" altLang="zh-CN" sz="2800" dirty="0">
                <a:latin typeface="Times New Roman" panose="02020603050405020304" pitchFamily="18" charset="0"/>
              </a:endParaRPr>
            </a:p>
            <a:p>
              <a:pPr algn="ctr" defTabSz="762000"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1</a:t>
              </a:r>
              <a:endParaRPr lang="en-US" altLang="zh-CN" sz="2800" dirty="0">
                <a:latin typeface="Times New Roman" panose="02020603050405020304" pitchFamily="18" charset="0"/>
              </a:endParaRPr>
            </a:p>
            <a:p>
              <a:pPr algn="ctr" defTabSz="762000"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0</a:t>
              </a:r>
              <a:endParaRPr lang="en-US" altLang="zh-CN" sz="2800" dirty="0">
                <a:latin typeface="Times New Roman" panose="02020603050405020304" pitchFamily="18" charset="0"/>
              </a:endParaRPr>
            </a:p>
            <a:p>
              <a:pPr algn="ctr" defTabSz="762000"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0</a:t>
              </a:r>
              <a:endParaRPr lang="en-US" altLang="zh-CN" sz="2800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12315" name="Text Box 63"/>
            <p:cNvSpPr txBox="1"/>
            <p:nvPr/>
          </p:nvSpPr>
          <p:spPr>
            <a:xfrm>
              <a:off x="2975" y="1073"/>
              <a:ext cx="228" cy="1134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p>
              <a:pPr algn="ctr" defTabSz="762000"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1</a:t>
              </a:r>
              <a:endParaRPr lang="en-US" altLang="zh-CN" sz="2800" dirty="0">
                <a:latin typeface="Times New Roman" panose="02020603050405020304" pitchFamily="18" charset="0"/>
              </a:endParaRPr>
            </a:p>
            <a:p>
              <a:pPr algn="ctr" defTabSz="762000"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1</a:t>
              </a:r>
              <a:endParaRPr lang="en-US" altLang="zh-CN" sz="2800" dirty="0">
                <a:latin typeface="Times New Roman" panose="02020603050405020304" pitchFamily="18" charset="0"/>
              </a:endParaRPr>
            </a:p>
            <a:p>
              <a:pPr algn="ctr" defTabSz="762000"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1</a:t>
              </a:r>
              <a:endParaRPr lang="en-US" altLang="zh-CN" sz="2800" dirty="0">
                <a:latin typeface="Times New Roman" panose="02020603050405020304" pitchFamily="18" charset="0"/>
              </a:endParaRPr>
            </a:p>
            <a:p>
              <a:pPr algn="ctr" defTabSz="762000"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1</a:t>
              </a:r>
              <a:endParaRPr lang="en-US" altLang="zh-CN" sz="2800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12316" name="Text Box 64"/>
            <p:cNvSpPr txBox="1"/>
            <p:nvPr/>
          </p:nvSpPr>
          <p:spPr>
            <a:xfrm>
              <a:off x="2707" y="1073"/>
              <a:ext cx="228" cy="1134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p>
              <a:pPr algn="ctr" defTabSz="762000"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1</a:t>
              </a:r>
              <a:endParaRPr lang="en-US" altLang="zh-CN" sz="2800" dirty="0">
                <a:latin typeface="Times New Roman" panose="02020603050405020304" pitchFamily="18" charset="0"/>
              </a:endParaRPr>
            </a:p>
            <a:p>
              <a:pPr algn="ctr" defTabSz="762000"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1</a:t>
              </a:r>
              <a:endParaRPr lang="en-US" altLang="zh-CN" sz="2800" dirty="0">
                <a:latin typeface="Times New Roman" panose="02020603050405020304" pitchFamily="18" charset="0"/>
              </a:endParaRPr>
            </a:p>
            <a:p>
              <a:pPr algn="ctr" defTabSz="762000"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0</a:t>
              </a:r>
              <a:endParaRPr lang="en-US" altLang="zh-CN" sz="2800" dirty="0">
                <a:latin typeface="Times New Roman" panose="02020603050405020304" pitchFamily="18" charset="0"/>
              </a:endParaRPr>
            </a:p>
            <a:p>
              <a:pPr algn="ctr" defTabSz="762000"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0</a:t>
              </a:r>
              <a:endParaRPr lang="en-US" altLang="zh-CN" sz="2800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12317" name="Text Box 65"/>
            <p:cNvSpPr txBox="1"/>
            <p:nvPr/>
          </p:nvSpPr>
          <p:spPr>
            <a:xfrm>
              <a:off x="2415" y="1084"/>
              <a:ext cx="228" cy="1134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p>
              <a:pPr algn="ctr" defTabSz="762000"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0</a:t>
              </a:r>
              <a:endParaRPr lang="en-US" altLang="zh-CN" sz="2800" dirty="0">
                <a:latin typeface="Times New Roman" panose="02020603050405020304" pitchFamily="18" charset="0"/>
              </a:endParaRPr>
            </a:p>
            <a:p>
              <a:pPr algn="ctr" defTabSz="762000"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1</a:t>
              </a:r>
              <a:endParaRPr lang="en-US" altLang="zh-CN" sz="2800" dirty="0">
                <a:latin typeface="Times New Roman" panose="02020603050405020304" pitchFamily="18" charset="0"/>
              </a:endParaRPr>
            </a:p>
            <a:p>
              <a:pPr algn="ctr" defTabSz="762000"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0</a:t>
              </a:r>
              <a:endParaRPr lang="en-US" altLang="zh-CN" sz="2800" dirty="0">
                <a:latin typeface="Times New Roman" panose="02020603050405020304" pitchFamily="18" charset="0"/>
              </a:endParaRPr>
            </a:p>
            <a:p>
              <a:pPr algn="ctr" defTabSz="762000"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1</a:t>
              </a:r>
              <a:endParaRPr lang="en-US" altLang="zh-CN" sz="2800" baseline="-25000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151619" name="Text Box 67"/>
          <p:cNvSpPr txBox="1"/>
          <p:nvPr/>
        </p:nvSpPr>
        <p:spPr>
          <a:xfrm>
            <a:off x="747713" y="582613"/>
            <a:ext cx="3579812" cy="647700"/>
          </a:xfrm>
          <a:prstGeom prst="rect">
            <a:avLst/>
          </a:prstGeom>
          <a:noFill/>
          <a:ln w="19050">
            <a:noFill/>
          </a:ln>
        </p:spPr>
        <p:txBody>
          <a:bodyPr>
            <a:spAutoFit/>
          </a:bodyPr>
          <a:p>
            <a:pPr defTabSz="2095500" eaLnBrk="1" hangingPunct="1">
              <a:lnSpc>
                <a:spcPct val="130000"/>
              </a:lnSpc>
              <a:buChar char="•"/>
            </a:pPr>
            <a:r>
              <a:rPr lang="zh-CN" altLang="en-US" sz="2800" dirty="0">
                <a:latin typeface="Times New Roman" panose="02020603050405020304" pitchFamily="18" charset="0"/>
                <a:sym typeface="Monotype Sorts" pitchFamily="2" charset="2"/>
              </a:rPr>
              <a:t>作状态转移真值表</a:t>
            </a:r>
            <a:r>
              <a:rPr lang="en-US" altLang="zh-CN" sz="2800" dirty="0">
                <a:latin typeface="Times New Roman" panose="02020603050405020304" pitchFamily="18" charset="0"/>
                <a:sym typeface="Monotype Sorts" pitchFamily="2" charset="2"/>
              </a:rPr>
              <a:t>:</a:t>
            </a:r>
            <a:endParaRPr lang="en-US" altLang="zh-CN" sz="2800" dirty="0">
              <a:latin typeface="Times New Roman" panose="02020603050405020304" pitchFamily="18" charset="0"/>
            </a:endParaRPr>
          </a:p>
        </p:txBody>
      </p:sp>
      <p:grpSp>
        <p:nvGrpSpPr>
          <p:cNvPr id="3" name="Group 68"/>
          <p:cNvGrpSpPr/>
          <p:nvPr/>
        </p:nvGrpSpPr>
        <p:grpSpPr>
          <a:xfrm>
            <a:off x="4535488" y="130175"/>
            <a:ext cx="1908175" cy="3505200"/>
            <a:chOff x="1538" y="1434"/>
            <a:chExt cx="1202" cy="2273"/>
          </a:xfrm>
        </p:grpSpPr>
        <p:sp>
          <p:nvSpPr>
            <p:cNvPr id="12293" name="Text Box 69"/>
            <p:cNvSpPr txBox="1"/>
            <p:nvPr/>
          </p:nvSpPr>
          <p:spPr>
            <a:xfrm>
              <a:off x="1538" y="1434"/>
              <a:ext cx="1202" cy="2273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p>
              <a:pPr marL="95250" indent="-95250" defTabSz="381000" eaLnBrk="1" hangingPunct="1">
                <a:lnSpc>
                  <a:spcPct val="160000"/>
                </a:lnSpc>
                <a:tabLst>
                  <a:tab pos="285750" algn="l"/>
                </a:tabLst>
              </a:pPr>
              <a:r>
                <a:rPr lang="en-US" altLang="zh-CN" sz="2800" dirty="0">
                  <a:latin typeface="Times New Roman" panose="02020603050405020304" pitchFamily="18" charset="0"/>
                </a:rPr>
                <a:t>Z=xy</a:t>
              </a:r>
              <a:r>
                <a:rPr lang="en-US" altLang="zh-CN" sz="2800" baseline="-25000" dirty="0">
                  <a:latin typeface="Times New Roman" panose="02020603050405020304" pitchFamily="18" charset="0"/>
                </a:rPr>
                <a:t>2</a:t>
              </a:r>
              <a:r>
                <a:rPr lang="en-US" altLang="zh-CN" sz="2800" dirty="0">
                  <a:latin typeface="Times New Roman" panose="02020603050405020304" pitchFamily="18" charset="0"/>
                </a:rPr>
                <a:t>y</a:t>
              </a:r>
              <a:r>
                <a:rPr lang="en-US" altLang="zh-CN" sz="2800" baseline="-25000" dirty="0">
                  <a:latin typeface="Times New Roman" panose="02020603050405020304" pitchFamily="18" charset="0"/>
                </a:rPr>
                <a:t>1</a:t>
              </a:r>
              <a:endParaRPr lang="en-US" altLang="zh-CN" sz="2800" baseline="-25000" dirty="0">
                <a:latin typeface="Times New Roman" panose="02020603050405020304" pitchFamily="18" charset="0"/>
              </a:endParaRPr>
            </a:p>
            <a:p>
              <a:pPr marL="95250" indent="-95250" defTabSz="381000" eaLnBrk="1" hangingPunct="1">
                <a:lnSpc>
                  <a:spcPct val="160000"/>
                </a:lnSpc>
                <a:tabLst>
                  <a:tab pos="285750" algn="l"/>
                </a:tabLst>
              </a:pPr>
              <a:r>
                <a:rPr lang="en-US" altLang="zh-CN" sz="2800" dirty="0">
                  <a:latin typeface="Times New Roman" panose="02020603050405020304" pitchFamily="18" charset="0"/>
                </a:rPr>
                <a:t>D</a:t>
              </a:r>
              <a:r>
                <a:rPr lang="en-US" altLang="zh-CN" sz="2800" baseline="-25000" dirty="0">
                  <a:latin typeface="Times New Roman" panose="02020603050405020304" pitchFamily="18" charset="0"/>
                </a:rPr>
                <a:t>2</a:t>
              </a:r>
              <a:r>
                <a:rPr lang="en-US" altLang="zh-CN" sz="2800" dirty="0">
                  <a:latin typeface="Times New Roman" panose="02020603050405020304" pitchFamily="18" charset="0"/>
                </a:rPr>
                <a:t>=y</a:t>
              </a:r>
              <a:r>
                <a:rPr lang="en-US" altLang="zh-CN" sz="2800" baseline="-25000" dirty="0">
                  <a:latin typeface="Times New Roman" panose="02020603050405020304" pitchFamily="18" charset="0"/>
                </a:rPr>
                <a:t>2</a:t>
              </a:r>
              <a:endParaRPr lang="en-US" altLang="zh-CN" sz="2800" dirty="0">
                <a:latin typeface="Times New Roman" panose="02020603050405020304" pitchFamily="18" charset="0"/>
              </a:endParaRPr>
            </a:p>
            <a:p>
              <a:pPr marL="95250" indent="-95250" defTabSz="381000" eaLnBrk="1" hangingPunct="1">
                <a:lnSpc>
                  <a:spcPct val="160000"/>
                </a:lnSpc>
                <a:tabLst>
                  <a:tab pos="285750" algn="l"/>
                </a:tabLst>
              </a:pPr>
              <a:r>
                <a:rPr lang="en-US" altLang="zh-CN" sz="2800" dirty="0">
                  <a:latin typeface="Times New Roman" panose="02020603050405020304" pitchFamily="18" charset="0"/>
                </a:rPr>
                <a:t>CP</a:t>
              </a:r>
              <a:r>
                <a:rPr lang="en-US" altLang="zh-CN" sz="2800" baseline="-25000" dirty="0">
                  <a:latin typeface="Times New Roman" panose="02020603050405020304" pitchFamily="18" charset="0"/>
                </a:rPr>
                <a:t>2</a:t>
              </a:r>
              <a:r>
                <a:rPr lang="en-US" altLang="zh-CN" sz="2800" dirty="0">
                  <a:latin typeface="Times New Roman" panose="02020603050405020304" pitchFamily="18" charset="0"/>
                </a:rPr>
                <a:t>=xy</a:t>
              </a:r>
              <a:r>
                <a:rPr lang="en-US" altLang="zh-CN" sz="2800" baseline="-25000" dirty="0">
                  <a:latin typeface="Times New Roman" panose="02020603050405020304" pitchFamily="18" charset="0"/>
                </a:rPr>
                <a:t>1</a:t>
              </a:r>
              <a:endParaRPr lang="en-US" altLang="zh-CN" sz="2800" baseline="-25000" dirty="0">
                <a:latin typeface="Times New Roman" panose="02020603050405020304" pitchFamily="18" charset="0"/>
              </a:endParaRPr>
            </a:p>
            <a:p>
              <a:pPr marL="95250" indent="-95250" defTabSz="381000" eaLnBrk="1" hangingPunct="1">
                <a:lnSpc>
                  <a:spcPct val="160000"/>
                </a:lnSpc>
                <a:tabLst>
                  <a:tab pos="285750" algn="l"/>
                </a:tabLst>
              </a:pPr>
              <a:r>
                <a:rPr lang="en-US" altLang="zh-CN" sz="2800" dirty="0">
                  <a:latin typeface="Times New Roman" panose="02020603050405020304" pitchFamily="18" charset="0"/>
                </a:rPr>
                <a:t>D</a:t>
              </a:r>
              <a:r>
                <a:rPr lang="en-US" altLang="zh-CN" sz="2800" baseline="-25000" dirty="0">
                  <a:latin typeface="Times New Roman" panose="02020603050405020304" pitchFamily="18" charset="0"/>
                </a:rPr>
                <a:t>1</a:t>
              </a:r>
              <a:r>
                <a:rPr lang="en-US" altLang="zh-CN" sz="2800" dirty="0">
                  <a:latin typeface="Times New Roman" panose="02020603050405020304" pitchFamily="18" charset="0"/>
                </a:rPr>
                <a:t>=y</a:t>
              </a:r>
              <a:r>
                <a:rPr lang="en-US" altLang="zh-CN" sz="2800" baseline="-25000" dirty="0">
                  <a:latin typeface="Times New Roman" panose="02020603050405020304" pitchFamily="18" charset="0"/>
                </a:rPr>
                <a:t>2</a:t>
              </a:r>
              <a:endParaRPr lang="en-US" altLang="zh-CN" sz="2800" dirty="0">
                <a:latin typeface="Times New Roman" panose="02020603050405020304" pitchFamily="18" charset="0"/>
              </a:endParaRPr>
            </a:p>
            <a:p>
              <a:pPr marL="95250" indent="-95250" defTabSz="381000" eaLnBrk="1" hangingPunct="1">
                <a:lnSpc>
                  <a:spcPct val="160000"/>
                </a:lnSpc>
                <a:tabLst>
                  <a:tab pos="285750" algn="l"/>
                </a:tabLst>
              </a:pPr>
              <a:r>
                <a:rPr lang="en-US" altLang="zh-CN" sz="2800" dirty="0">
                  <a:latin typeface="Times New Roman" panose="02020603050405020304" pitchFamily="18" charset="0"/>
                </a:rPr>
                <a:t>CP</a:t>
              </a:r>
              <a:r>
                <a:rPr lang="en-US" altLang="zh-CN" sz="2800" baseline="-25000" dirty="0">
                  <a:latin typeface="Times New Roman" panose="02020603050405020304" pitchFamily="18" charset="0"/>
                </a:rPr>
                <a:t>1</a:t>
              </a:r>
              <a:r>
                <a:rPr lang="en-US" altLang="zh-CN" sz="2800" dirty="0">
                  <a:latin typeface="Times New Roman" panose="02020603050405020304" pitchFamily="18" charset="0"/>
                </a:rPr>
                <a:t>=x</a:t>
              </a:r>
              <a:endParaRPr lang="en-US" altLang="zh-CN" sz="2800" dirty="0">
                <a:latin typeface="Times New Roman" panose="02020603050405020304" pitchFamily="18" charset="0"/>
              </a:endParaRPr>
            </a:p>
          </p:txBody>
        </p:sp>
        <p:sp>
          <p:nvSpPr>
            <p:cNvPr id="12294" name="Line 70"/>
            <p:cNvSpPr/>
            <p:nvPr/>
          </p:nvSpPr>
          <p:spPr>
            <a:xfrm>
              <a:off x="1940" y="2069"/>
              <a:ext cx="156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sm" len="lg"/>
            </a:ln>
          </p:spPr>
        </p:sp>
        <p:sp>
          <p:nvSpPr>
            <p:cNvPr id="12295" name="Line 71"/>
            <p:cNvSpPr/>
            <p:nvPr/>
          </p:nvSpPr>
          <p:spPr>
            <a:xfrm>
              <a:off x="1936" y="2940"/>
              <a:ext cx="156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sm" len="lg"/>
            </a:ln>
          </p:spPr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16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161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8949" name="Text Box 101"/>
          <p:cNvSpPr txBox="1"/>
          <p:nvPr/>
        </p:nvSpPr>
        <p:spPr>
          <a:xfrm>
            <a:off x="612775" y="628650"/>
            <a:ext cx="7627938" cy="1203325"/>
          </a:xfrm>
          <a:prstGeom prst="rect">
            <a:avLst/>
          </a:prstGeom>
          <a:noFill/>
          <a:ln w="19050">
            <a:noFill/>
          </a:ln>
        </p:spPr>
        <p:txBody>
          <a:bodyPr>
            <a:spAutoFit/>
          </a:bodyPr>
          <a:p>
            <a:pPr marL="381000" indent="-381000" algn="just" eaLnBrk="1" hangingPunct="1">
              <a:lnSpc>
                <a:spcPct val="130000"/>
              </a:lnSpc>
              <a:buChar char="•"/>
            </a:pPr>
            <a:r>
              <a:rPr lang="zh-CN" altLang="en-US" sz="2800" dirty="0">
                <a:latin typeface="Times New Roman" panose="02020603050405020304" pitchFamily="18" charset="0"/>
                <a:sym typeface="Monotype Sorts" pitchFamily="2" charset="2"/>
              </a:rPr>
              <a:t>作状态表和状态图</a:t>
            </a:r>
            <a:r>
              <a:rPr lang="en-US" altLang="zh-CN" sz="2800" dirty="0">
                <a:latin typeface="Times New Roman" panose="02020603050405020304" pitchFamily="18" charset="0"/>
                <a:sym typeface="Monotype Sorts" pitchFamily="2" charset="2"/>
              </a:rPr>
              <a:t>:</a:t>
            </a:r>
            <a:endParaRPr lang="en-US" altLang="zh-CN" sz="2800" dirty="0">
              <a:latin typeface="Times New Roman" panose="02020603050405020304" pitchFamily="18" charset="0"/>
              <a:sym typeface="Monotype Sorts" pitchFamily="2" charset="2"/>
            </a:endParaRPr>
          </a:p>
          <a:p>
            <a:pPr marL="381000" indent="-381000" algn="just" eaLnBrk="1" hangingPunct="1">
              <a:lnSpc>
                <a:spcPct val="130000"/>
              </a:lnSpc>
            </a:pPr>
            <a:r>
              <a:rPr lang="en-US" altLang="zh-CN" sz="2800" dirty="0">
                <a:latin typeface="Times New Roman" panose="02020603050405020304" pitchFamily="18" charset="0"/>
                <a:sym typeface="Monotype Sorts" pitchFamily="2" charset="2"/>
              </a:rPr>
              <a:t>	</a:t>
            </a:r>
            <a:r>
              <a:rPr lang="zh-CN" altLang="en-US" sz="2800" dirty="0">
                <a:latin typeface="Times New Roman" panose="02020603050405020304" pitchFamily="18" charset="0"/>
                <a:sym typeface="Monotype Sorts" pitchFamily="2" charset="2"/>
              </a:rPr>
              <a:t>根据转移真值表可作出状态图</a:t>
            </a:r>
            <a:r>
              <a:rPr lang="en-US" altLang="zh-CN" sz="2800" dirty="0">
                <a:latin typeface="Times New Roman" panose="02020603050405020304" pitchFamily="18" charset="0"/>
                <a:sym typeface="Monotype Sorts" pitchFamily="2" charset="2"/>
              </a:rPr>
              <a:t>.</a:t>
            </a:r>
            <a:endParaRPr lang="en-US" altLang="zh-CN" sz="2800" dirty="0">
              <a:latin typeface="Times New Roman" panose="02020603050405020304" pitchFamily="18" charset="0"/>
            </a:endParaRPr>
          </a:p>
        </p:txBody>
      </p:sp>
      <p:grpSp>
        <p:nvGrpSpPr>
          <p:cNvPr id="2" name="Group 158"/>
          <p:cNvGrpSpPr/>
          <p:nvPr/>
        </p:nvGrpSpPr>
        <p:grpSpPr>
          <a:xfrm>
            <a:off x="1276350" y="1571625"/>
            <a:ext cx="5734050" cy="3752850"/>
            <a:chOff x="855" y="1246"/>
            <a:chExt cx="3612" cy="2364"/>
          </a:xfrm>
        </p:grpSpPr>
        <p:sp>
          <p:nvSpPr>
            <p:cNvPr id="13318" name="Oval 128"/>
            <p:cNvSpPr/>
            <p:nvPr/>
          </p:nvSpPr>
          <p:spPr>
            <a:xfrm>
              <a:off x="3155" y="3031"/>
              <a:ext cx="480" cy="480"/>
            </a:xfrm>
            <a:prstGeom prst="ellipse">
              <a:avLst/>
            </a:prstGeom>
            <a:solidFill>
              <a:srgbClr val="E1FDFF"/>
            </a:solidFill>
            <a:ln w="19050" cap="flat" cmpd="sng">
              <a:solidFill>
                <a:srgbClr val="FF00FF"/>
              </a:solidFill>
              <a:prstDash val="solid"/>
              <a:headEnd type="none" w="med" len="med"/>
              <a:tailEnd type="none" w="sm" len="lg"/>
            </a:ln>
          </p:spPr>
          <p:txBody>
            <a:bodyPr wrap="none" anchor="ctr" anchorCtr="0"/>
            <a:p>
              <a:pPr algn="ctr"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11</a:t>
              </a:r>
              <a:endParaRPr lang="en-US" altLang="zh-CN" sz="2800" dirty="0">
                <a:latin typeface="Times New Roman" panose="02020603050405020304" pitchFamily="18" charset="0"/>
              </a:endParaRPr>
            </a:p>
          </p:txBody>
        </p:sp>
        <p:sp>
          <p:nvSpPr>
            <p:cNvPr id="13319" name="Oval 129"/>
            <p:cNvSpPr/>
            <p:nvPr/>
          </p:nvSpPr>
          <p:spPr>
            <a:xfrm>
              <a:off x="1675" y="1616"/>
              <a:ext cx="480" cy="480"/>
            </a:xfrm>
            <a:prstGeom prst="ellipse">
              <a:avLst/>
            </a:prstGeom>
            <a:solidFill>
              <a:srgbClr val="E1FDFF"/>
            </a:solidFill>
            <a:ln w="19050" cap="flat" cmpd="sng">
              <a:solidFill>
                <a:srgbClr val="FF00FF"/>
              </a:solidFill>
              <a:prstDash val="solid"/>
              <a:headEnd type="none" w="med" len="med"/>
              <a:tailEnd type="none" w="sm" len="lg"/>
            </a:ln>
          </p:spPr>
          <p:txBody>
            <a:bodyPr wrap="none" anchor="ctr" anchorCtr="0"/>
            <a:p>
              <a:pPr algn="ctr"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00</a:t>
              </a:r>
              <a:endParaRPr lang="en-US" altLang="zh-CN" sz="2800" dirty="0">
                <a:latin typeface="Times New Roman" panose="02020603050405020304" pitchFamily="18" charset="0"/>
              </a:endParaRPr>
            </a:p>
          </p:txBody>
        </p:sp>
        <p:sp>
          <p:nvSpPr>
            <p:cNvPr id="13320" name="Text Box 133"/>
            <p:cNvSpPr txBox="1"/>
            <p:nvPr/>
          </p:nvSpPr>
          <p:spPr>
            <a:xfrm>
              <a:off x="855" y="1645"/>
              <a:ext cx="402" cy="327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0/0</a:t>
              </a:r>
              <a:endParaRPr lang="en-US" altLang="zh-CN" sz="2800" dirty="0">
                <a:latin typeface="Times New Roman" panose="02020603050405020304" pitchFamily="18" charset="0"/>
              </a:endParaRPr>
            </a:p>
          </p:txBody>
        </p:sp>
        <p:sp>
          <p:nvSpPr>
            <p:cNvPr id="13321" name="Text Box 134"/>
            <p:cNvSpPr txBox="1"/>
            <p:nvPr/>
          </p:nvSpPr>
          <p:spPr>
            <a:xfrm>
              <a:off x="4065" y="1246"/>
              <a:ext cx="402" cy="327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0/0</a:t>
              </a:r>
              <a:endParaRPr lang="en-US" altLang="zh-CN" sz="2800" dirty="0">
                <a:latin typeface="Times New Roman" panose="02020603050405020304" pitchFamily="18" charset="0"/>
              </a:endParaRPr>
            </a:p>
          </p:txBody>
        </p:sp>
        <p:sp>
          <p:nvSpPr>
            <p:cNvPr id="13322" name="Text Box 135"/>
            <p:cNvSpPr txBox="1"/>
            <p:nvPr/>
          </p:nvSpPr>
          <p:spPr>
            <a:xfrm>
              <a:off x="966" y="3283"/>
              <a:ext cx="402" cy="327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0/0</a:t>
              </a:r>
              <a:endParaRPr lang="en-US" altLang="zh-CN" sz="2800" dirty="0">
                <a:latin typeface="Times New Roman" panose="02020603050405020304" pitchFamily="18" charset="0"/>
              </a:endParaRPr>
            </a:p>
          </p:txBody>
        </p:sp>
        <p:sp>
          <p:nvSpPr>
            <p:cNvPr id="13323" name="Text Box 136"/>
            <p:cNvSpPr txBox="1"/>
            <p:nvPr/>
          </p:nvSpPr>
          <p:spPr>
            <a:xfrm>
              <a:off x="2528" y="1473"/>
              <a:ext cx="402" cy="327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1/0</a:t>
              </a:r>
              <a:endParaRPr lang="en-US" altLang="zh-CN" sz="2800" dirty="0">
                <a:latin typeface="Times New Roman" panose="02020603050405020304" pitchFamily="18" charset="0"/>
              </a:endParaRPr>
            </a:p>
          </p:txBody>
        </p:sp>
        <p:sp>
          <p:nvSpPr>
            <p:cNvPr id="13324" name="Freeform 139"/>
            <p:cNvSpPr/>
            <p:nvPr/>
          </p:nvSpPr>
          <p:spPr>
            <a:xfrm rot="-10501359">
              <a:off x="1362" y="3029"/>
              <a:ext cx="418" cy="504"/>
            </a:xfrm>
            <a:custGeom>
              <a:avLst/>
              <a:gdLst/>
              <a:ahLst/>
              <a:cxnLst>
                <a:cxn ang="0">
                  <a:pos x="0" y="77"/>
                </a:cxn>
                <a:cxn ang="0">
                  <a:pos x="160" y="3"/>
                </a:cxn>
                <a:cxn ang="0">
                  <a:pos x="374" y="98"/>
                </a:cxn>
                <a:cxn ang="0">
                  <a:pos x="386" y="386"/>
                </a:cxn>
                <a:cxn ang="0">
                  <a:pos x="182" y="494"/>
                </a:cxn>
                <a:cxn ang="0">
                  <a:pos x="43" y="449"/>
                </a:cxn>
              </a:cxnLst>
              <a:pathLst>
                <a:path w="418" h="504">
                  <a:moveTo>
                    <a:pt x="0" y="77"/>
                  </a:moveTo>
                  <a:cubicBezTo>
                    <a:pt x="50" y="41"/>
                    <a:pt x="98" y="0"/>
                    <a:pt x="160" y="3"/>
                  </a:cubicBezTo>
                  <a:cubicBezTo>
                    <a:pt x="222" y="6"/>
                    <a:pt x="336" y="34"/>
                    <a:pt x="374" y="98"/>
                  </a:cubicBezTo>
                  <a:cubicBezTo>
                    <a:pt x="412" y="162"/>
                    <a:pt x="418" y="320"/>
                    <a:pt x="386" y="386"/>
                  </a:cubicBezTo>
                  <a:cubicBezTo>
                    <a:pt x="354" y="452"/>
                    <a:pt x="239" y="484"/>
                    <a:pt x="182" y="494"/>
                  </a:cubicBezTo>
                  <a:cubicBezTo>
                    <a:pt x="125" y="504"/>
                    <a:pt x="72" y="458"/>
                    <a:pt x="43" y="449"/>
                  </a:cubicBezTo>
                </a:path>
              </a:pathLst>
            </a:custGeom>
            <a:noFill/>
            <a:ln w="38100" cap="flat" cmpd="sng">
              <a:solidFill>
                <a:srgbClr val="3333FF">
                  <a:alpha val="100000"/>
                </a:srgbClr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3325" name="Oval 145"/>
            <p:cNvSpPr/>
            <p:nvPr/>
          </p:nvSpPr>
          <p:spPr>
            <a:xfrm>
              <a:off x="3210" y="1637"/>
              <a:ext cx="480" cy="480"/>
            </a:xfrm>
            <a:prstGeom prst="ellipse">
              <a:avLst/>
            </a:prstGeom>
            <a:solidFill>
              <a:srgbClr val="E1FDFF"/>
            </a:solidFill>
            <a:ln w="19050" cap="flat" cmpd="sng">
              <a:solidFill>
                <a:srgbClr val="FF00FF"/>
              </a:solidFill>
              <a:prstDash val="solid"/>
              <a:headEnd type="none" w="med" len="med"/>
              <a:tailEnd type="none" w="sm" len="lg"/>
            </a:ln>
          </p:spPr>
          <p:txBody>
            <a:bodyPr wrap="none" anchor="ctr" anchorCtr="0"/>
            <a:p>
              <a:pPr algn="ctr"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01</a:t>
              </a:r>
              <a:endParaRPr lang="en-US" altLang="zh-CN" sz="2800" dirty="0">
                <a:latin typeface="Times New Roman" panose="02020603050405020304" pitchFamily="18" charset="0"/>
              </a:endParaRPr>
            </a:p>
          </p:txBody>
        </p:sp>
        <p:sp>
          <p:nvSpPr>
            <p:cNvPr id="13326" name="Oval 146"/>
            <p:cNvSpPr/>
            <p:nvPr/>
          </p:nvSpPr>
          <p:spPr>
            <a:xfrm>
              <a:off x="1676" y="3048"/>
              <a:ext cx="480" cy="480"/>
            </a:xfrm>
            <a:prstGeom prst="ellipse">
              <a:avLst/>
            </a:prstGeom>
            <a:solidFill>
              <a:srgbClr val="E1FDFF"/>
            </a:solidFill>
            <a:ln w="19050" cap="flat" cmpd="sng">
              <a:solidFill>
                <a:srgbClr val="FF00FF"/>
              </a:solidFill>
              <a:prstDash val="solid"/>
              <a:headEnd type="none" w="med" len="med"/>
              <a:tailEnd type="none" w="sm" len="lg"/>
            </a:ln>
          </p:spPr>
          <p:txBody>
            <a:bodyPr wrap="none" anchor="ctr" anchorCtr="0"/>
            <a:p>
              <a:pPr algn="ctr"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10</a:t>
              </a:r>
              <a:endParaRPr lang="en-US" altLang="zh-CN" sz="2800" dirty="0">
                <a:latin typeface="Times New Roman" panose="02020603050405020304" pitchFamily="18" charset="0"/>
              </a:endParaRPr>
            </a:p>
          </p:txBody>
        </p:sp>
        <p:sp>
          <p:nvSpPr>
            <p:cNvPr id="13327" name="Line 147"/>
            <p:cNvSpPr/>
            <p:nvPr/>
          </p:nvSpPr>
          <p:spPr>
            <a:xfrm flipH="1" flipV="1">
              <a:off x="2080" y="2022"/>
              <a:ext cx="1126" cy="1120"/>
            </a:xfrm>
            <a:prstGeom prst="line">
              <a:avLst/>
            </a:prstGeom>
            <a:ln w="38100" cap="flat" cmpd="sng">
              <a:solidFill>
                <a:srgbClr val="3333FF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13328" name="Line 149"/>
            <p:cNvSpPr/>
            <p:nvPr/>
          </p:nvSpPr>
          <p:spPr>
            <a:xfrm>
              <a:off x="2157" y="1856"/>
              <a:ext cx="1056" cy="6"/>
            </a:xfrm>
            <a:prstGeom prst="line">
              <a:avLst/>
            </a:prstGeom>
            <a:ln w="38100" cap="flat" cmpd="sng">
              <a:solidFill>
                <a:srgbClr val="3333FF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13329" name="Line 150"/>
            <p:cNvSpPr/>
            <p:nvPr/>
          </p:nvSpPr>
          <p:spPr>
            <a:xfrm>
              <a:off x="3450" y="2118"/>
              <a:ext cx="0" cy="916"/>
            </a:xfrm>
            <a:prstGeom prst="line">
              <a:avLst/>
            </a:prstGeom>
            <a:ln w="38100" cap="flat" cmpd="sng">
              <a:solidFill>
                <a:srgbClr val="3333FF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13330" name="Freeform 151"/>
            <p:cNvSpPr/>
            <p:nvPr/>
          </p:nvSpPr>
          <p:spPr>
            <a:xfrm>
              <a:off x="3630" y="1597"/>
              <a:ext cx="418" cy="504"/>
            </a:xfrm>
            <a:custGeom>
              <a:avLst/>
              <a:gdLst/>
              <a:ahLst/>
              <a:cxnLst>
                <a:cxn ang="0">
                  <a:pos x="0" y="77"/>
                </a:cxn>
                <a:cxn ang="0">
                  <a:pos x="160" y="3"/>
                </a:cxn>
                <a:cxn ang="0">
                  <a:pos x="374" y="98"/>
                </a:cxn>
                <a:cxn ang="0">
                  <a:pos x="386" y="386"/>
                </a:cxn>
                <a:cxn ang="0">
                  <a:pos x="182" y="494"/>
                </a:cxn>
                <a:cxn ang="0">
                  <a:pos x="43" y="449"/>
                </a:cxn>
              </a:cxnLst>
              <a:pathLst>
                <a:path w="418" h="504">
                  <a:moveTo>
                    <a:pt x="0" y="77"/>
                  </a:moveTo>
                  <a:cubicBezTo>
                    <a:pt x="50" y="41"/>
                    <a:pt x="98" y="0"/>
                    <a:pt x="160" y="3"/>
                  </a:cubicBezTo>
                  <a:cubicBezTo>
                    <a:pt x="222" y="6"/>
                    <a:pt x="336" y="34"/>
                    <a:pt x="374" y="98"/>
                  </a:cubicBezTo>
                  <a:cubicBezTo>
                    <a:pt x="412" y="162"/>
                    <a:pt x="418" y="320"/>
                    <a:pt x="386" y="386"/>
                  </a:cubicBezTo>
                  <a:cubicBezTo>
                    <a:pt x="354" y="452"/>
                    <a:pt x="239" y="484"/>
                    <a:pt x="182" y="494"/>
                  </a:cubicBezTo>
                  <a:cubicBezTo>
                    <a:pt x="125" y="504"/>
                    <a:pt x="72" y="458"/>
                    <a:pt x="43" y="449"/>
                  </a:cubicBezTo>
                </a:path>
              </a:pathLst>
            </a:custGeom>
            <a:noFill/>
            <a:ln w="38100" cap="flat" cmpd="sng">
              <a:solidFill>
                <a:srgbClr val="3333FF">
                  <a:alpha val="100000"/>
                </a:srgbClr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3331" name="Freeform 152"/>
            <p:cNvSpPr/>
            <p:nvPr/>
          </p:nvSpPr>
          <p:spPr>
            <a:xfrm>
              <a:off x="3529" y="2956"/>
              <a:ext cx="418" cy="504"/>
            </a:xfrm>
            <a:custGeom>
              <a:avLst/>
              <a:gdLst/>
              <a:ahLst/>
              <a:cxnLst>
                <a:cxn ang="0">
                  <a:pos x="0" y="77"/>
                </a:cxn>
                <a:cxn ang="0">
                  <a:pos x="160" y="3"/>
                </a:cxn>
                <a:cxn ang="0">
                  <a:pos x="374" y="98"/>
                </a:cxn>
                <a:cxn ang="0">
                  <a:pos x="386" y="386"/>
                </a:cxn>
                <a:cxn ang="0">
                  <a:pos x="182" y="494"/>
                </a:cxn>
                <a:cxn ang="0">
                  <a:pos x="43" y="449"/>
                </a:cxn>
              </a:cxnLst>
              <a:pathLst>
                <a:path w="418" h="504">
                  <a:moveTo>
                    <a:pt x="0" y="77"/>
                  </a:moveTo>
                  <a:cubicBezTo>
                    <a:pt x="50" y="41"/>
                    <a:pt x="98" y="0"/>
                    <a:pt x="160" y="3"/>
                  </a:cubicBezTo>
                  <a:cubicBezTo>
                    <a:pt x="222" y="6"/>
                    <a:pt x="336" y="34"/>
                    <a:pt x="374" y="98"/>
                  </a:cubicBezTo>
                  <a:cubicBezTo>
                    <a:pt x="412" y="162"/>
                    <a:pt x="418" y="320"/>
                    <a:pt x="386" y="386"/>
                  </a:cubicBezTo>
                  <a:cubicBezTo>
                    <a:pt x="354" y="452"/>
                    <a:pt x="239" y="484"/>
                    <a:pt x="182" y="494"/>
                  </a:cubicBezTo>
                  <a:cubicBezTo>
                    <a:pt x="125" y="504"/>
                    <a:pt x="72" y="458"/>
                    <a:pt x="43" y="449"/>
                  </a:cubicBezTo>
                </a:path>
              </a:pathLst>
            </a:custGeom>
            <a:noFill/>
            <a:ln w="38100" cap="flat" cmpd="sng">
              <a:solidFill>
                <a:srgbClr val="3333FF">
                  <a:alpha val="100000"/>
                </a:srgbClr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3332" name="Freeform 153"/>
            <p:cNvSpPr/>
            <p:nvPr/>
          </p:nvSpPr>
          <p:spPr>
            <a:xfrm rot="-10501359">
              <a:off x="1325" y="1636"/>
              <a:ext cx="418" cy="504"/>
            </a:xfrm>
            <a:custGeom>
              <a:avLst/>
              <a:gdLst/>
              <a:ahLst/>
              <a:cxnLst>
                <a:cxn ang="0">
                  <a:pos x="0" y="77"/>
                </a:cxn>
                <a:cxn ang="0">
                  <a:pos x="160" y="3"/>
                </a:cxn>
                <a:cxn ang="0">
                  <a:pos x="374" y="98"/>
                </a:cxn>
                <a:cxn ang="0">
                  <a:pos x="386" y="386"/>
                </a:cxn>
                <a:cxn ang="0">
                  <a:pos x="182" y="494"/>
                </a:cxn>
                <a:cxn ang="0">
                  <a:pos x="43" y="449"/>
                </a:cxn>
              </a:cxnLst>
              <a:pathLst>
                <a:path w="418" h="504">
                  <a:moveTo>
                    <a:pt x="0" y="77"/>
                  </a:moveTo>
                  <a:cubicBezTo>
                    <a:pt x="50" y="41"/>
                    <a:pt x="98" y="0"/>
                    <a:pt x="160" y="3"/>
                  </a:cubicBezTo>
                  <a:cubicBezTo>
                    <a:pt x="222" y="6"/>
                    <a:pt x="336" y="34"/>
                    <a:pt x="374" y="98"/>
                  </a:cubicBezTo>
                  <a:cubicBezTo>
                    <a:pt x="412" y="162"/>
                    <a:pt x="418" y="320"/>
                    <a:pt x="386" y="386"/>
                  </a:cubicBezTo>
                  <a:cubicBezTo>
                    <a:pt x="354" y="452"/>
                    <a:pt x="239" y="484"/>
                    <a:pt x="182" y="494"/>
                  </a:cubicBezTo>
                  <a:cubicBezTo>
                    <a:pt x="125" y="504"/>
                    <a:pt x="72" y="458"/>
                    <a:pt x="43" y="449"/>
                  </a:cubicBezTo>
                </a:path>
              </a:pathLst>
            </a:custGeom>
            <a:noFill/>
            <a:ln w="38100" cap="flat" cmpd="sng">
              <a:solidFill>
                <a:srgbClr val="3333FF">
                  <a:alpha val="100000"/>
                </a:srgbClr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3333" name="Text Box 154"/>
            <p:cNvSpPr txBox="1"/>
            <p:nvPr/>
          </p:nvSpPr>
          <p:spPr>
            <a:xfrm>
              <a:off x="4008" y="3073"/>
              <a:ext cx="402" cy="327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0/0</a:t>
              </a:r>
              <a:endParaRPr lang="en-US" altLang="zh-CN" sz="2800" dirty="0">
                <a:latin typeface="Times New Roman" panose="02020603050405020304" pitchFamily="18" charset="0"/>
              </a:endParaRPr>
            </a:p>
          </p:txBody>
        </p:sp>
        <p:sp>
          <p:nvSpPr>
            <p:cNvPr id="13334" name="Text Box 155"/>
            <p:cNvSpPr txBox="1"/>
            <p:nvPr/>
          </p:nvSpPr>
          <p:spPr>
            <a:xfrm>
              <a:off x="3516" y="2409"/>
              <a:ext cx="402" cy="327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1/0</a:t>
              </a:r>
              <a:endParaRPr lang="en-US" altLang="zh-CN" sz="2800" dirty="0">
                <a:latin typeface="Times New Roman" panose="02020603050405020304" pitchFamily="18" charset="0"/>
              </a:endParaRPr>
            </a:p>
          </p:txBody>
        </p:sp>
        <p:sp>
          <p:nvSpPr>
            <p:cNvPr id="13335" name="Text Box 156"/>
            <p:cNvSpPr txBox="1"/>
            <p:nvPr/>
          </p:nvSpPr>
          <p:spPr>
            <a:xfrm>
              <a:off x="2577" y="2224"/>
              <a:ext cx="402" cy="327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1/1</a:t>
              </a:r>
              <a:endParaRPr lang="en-US" altLang="zh-CN" sz="2800" dirty="0">
                <a:latin typeface="Times New Roman" panose="02020603050405020304" pitchFamily="18" charset="0"/>
              </a:endParaRPr>
            </a:p>
          </p:txBody>
        </p:sp>
        <p:sp>
          <p:nvSpPr>
            <p:cNvPr id="13336" name="Text Box 157"/>
            <p:cNvSpPr txBox="1"/>
            <p:nvPr/>
          </p:nvSpPr>
          <p:spPr>
            <a:xfrm>
              <a:off x="961" y="2778"/>
              <a:ext cx="402" cy="327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1/0</a:t>
              </a:r>
              <a:endParaRPr lang="en-US" altLang="zh-CN" sz="2800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79007" name="Text Box 159"/>
          <p:cNvSpPr txBox="1"/>
          <p:nvPr/>
        </p:nvSpPr>
        <p:spPr>
          <a:xfrm>
            <a:off x="733425" y="5367338"/>
            <a:ext cx="4911725" cy="519112"/>
          </a:xfrm>
          <a:prstGeom prst="rect">
            <a:avLst/>
          </a:prstGeom>
          <a:noFill/>
          <a:ln w="19050">
            <a:noFill/>
          </a:ln>
        </p:spPr>
        <p:txBody>
          <a:bodyPr wrap="none">
            <a:spAutoFit/>
          </a:bodyPr>
          <a:p>
            <a:pPr eaLnBrk="1" hangingPunct="1">
              <a:buChar char="•"/>
            </a:pPr>
            <a:r>
              <a:rPr lang="zh-CN" altLang="en-US" sz="2800" dirty="0">
                <a:latin typeface="Times New Roman" panose="02020603050405020304" pitchFamily="18" charset="0"/>
                <a:sym typeface="Monotype Sorts" pitchFamily="2" charset="2"/>
              </a:rPr>
              <a:t>画时间图和说明电路功能</a:t>
            </a:r>
            <a:r>
              <a:rPr lang="en-US" altLang="zh-CN" sz="2800" dirty="0">
                <a:latin typeface="Times New Roman" panose="02020603050405020304" pitchFamily="18" charset="0"/>
                <a:sym typeface="Monotype Sorts" pitchFamily="2" charset="2"/>
              </a:rPr>
              <a:t>:(</a:t>
            </a:r>
            <a:r>
              <a:rPr lang="zh-CN" altLang="en-US" sz="2800" dirty="0">
                <a:latin typeface="Times New Roman" panose="02020603050405020304" pitchFamily="18" charset="0"/>
                <a:sym typeface="Monotype Sorts" pitchFamily="2" charset="2"/>
              </a:rPr>
              <a:t>略</a:t>
            </a:r>
            <a:r>
              <a:rPr lang="en-US" altLang="zh-CN" sz="2800" dirty="0">
                <a:latin typeface="Times New Roman" panose="02020603050405020304" pitchFamily="18" charset="0"/>
                <a:sym typeface="Monotype Sorts" pitchFamily="2" charset="2"/>
              </a:rPr>
              <a:t>)</a:t>
            </a:r>
            <a:endParaRPr lang="en-US" altLang="zh-CN" sz="2800" dirty="0">
              <a:latin typeface="Times New Roman" panose="02020603050405020304" pitchFamily="18" charset="0"/>
            </a:endParaRPr>
          </a:p>
        </p:txBody>
      </p:sp>
      <p:sp>
        <p:nvSpPr>
          <p:cNvPr id="79008" name="Text Box 160" descr="羊皮纸"/>
          <p:cNvSpPr txBox="1"/>
          <p:nvPr/>
        </p:nvSpPr>
        <p:spPr>
          <a:xfrm>
            <a:off x="1181100" y="5899150"/>
            <a:ext cx="7874000" cy="690563"/>
          </a:xfrm>
          <a:prstGeom prst="rect">
            <a:avLst/>
          </a:prstGeom>
          <a:blipFill rotWithShape="1">
            <a:blip r:embed="rId1"/>
          </a:blipFill>
          <a:ln w="19050">
            <a:noFill/>
          </a:ln>
        </p:spPr>
        <p:txBody>
          <a:bodyPr>
            <a:spAutoFit/>
          </a:bodyPr>
          <a:p>
            <a:pPr algn="just" defTabSz="762000" eaLnBrk="1" hangingPunct="1">
              <a:lnSpc>
                <a:spcPct val="140000"/>
              </a:lnSpc>
            </a:pPr>
            <a:r>
              <a:rPr lang="en-US" altLang="zh-CN" sz="2800" dirty="0">
                <a:latin typeface="Times New Roman" panose="02020603050405020304" pitchFamily="18" charset="0"/>
              </a:rPr>
              <a:t>	</a:t>
            </a:r>
            <a:r>
              <a:rPr lang="zh-CN" altLang="en-US" sz="2800" dirty="0">
                <a:latin typeface="Times New Roman" panose="02020603050405020304" pitchFamily="18" charset="0"/>
              </a:rPr>
              <a:t>该电路是一个三进制计数器</a:t>
            </a:r>
            <a:r>
              <a:rPr lang="en-US" altLang="zh-CN" sz="2800" dirty="0">
                <a:latin typeface="Times New Roman" panose="02020603050405020304" pitchFamily="18" charset="0"/>
              </a:rPr>
              <a:t>.</a:t>
            </a:r>
            <a:endParaRPr lang="en-US" altLang="zh-CN" sz="28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89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90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90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949" grpId="0"/>
      <p:bldP spid="79007" grpId="0"/>
      <p:bldP spid="7900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7154" name="Text Box 2"/>
          <p:cNvSpPr txBox="1"/>
          <p:nvPr/>
        </p:nvSpPr>
        <p:spPr>
          <a:xfrm>
            <a:off x="898525" y="787400"/>
            <a:ext cx="6931025" cy="519113"/>
          </a:xfrm>
          <a:prstGeom prst="rect">
            <a:avLst/>
          </a:prstGeom>
          <a:noFill/>
          <a:ln w="19050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800" b="1" dirty="0">
                <a:latin typeface="Times New Roman" panose="02020603050405020304" pitchFamily="18" charset="0"/>
              </a:rPr>
              <a:t>例</a:t>
            </a:r>
            <a:r>
              <a:rPr lang="zh-CN" altLang="en-US" sz="2800" dirty="0">
                <a:latin typeface="Times New Roman" panose="02020603050405020304" pitchFamily="18" charset="0"/>
              </a:rPr>
              <a:t>：分析下图所示的脉冲异步时序逻辑电路</a:t>
            </a:r>
            <a:endParaRPr lang="zh-CN" altLang="en-US" sz="2800" dirty="0">
              <a:latin typeface="Times New Roman" panose="02020603050405020304" pitchFamily="18" charset="0"/>
            </a:endParaRPr>
          </a:p>
        </p:txBody>
      </p:sp>
      <p:grpSp>
        <p:nvGrpSpPr>
          <p:cNvPr id="2" name="Group 30"/>
          <p:cNvGrpSpPr/>
          <p:nvPr/>
        </p:nvGrpSpPr>
        <p:grpSpPr>
          <a:xfrm>
            <a:off x="1905000" y="1314450"/>
            <a:ext cx="4933950" cy="5143500"/>
            <a:chOff x="1200" y="828"/>
            <a:chExt cx="3108" cy="3240"/>
          </a:xfrm>
        </p:grpSpPr>
        <p:sp>
          <p:nvSpPr>
            <p:cNvPr id="14340" name="Text Box 3"/>
            <p:cNvSpPr txBox="1"/>
            <p:nvPr/>
          </p:nvSpPr>
          <p:spPr>
            <a:xfrm>
              <a:off x="3499" y="828"/>
              <a:ext cx="215" cy="327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z</a:t>
              </a:r>
              <a:endParaRPr lang="en-US" altLang="zh-CN" sz="2800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14341" name="Group 4"/>
            <p:cNvGrpSpPr/>
            <p:nvPr/>
          </p:nvGrpSpPr>
          <p:grpSpPr>
            <a:xfrm>
              <a:off x="1200" y="948"/>
              <a:ext cx="3108" cy="3120"/>
              <a:chOff x="1200" y="948"/>
              <a:chExt cx="3108" cy="3120"/>
            </a:xfrm>
          </p:grpSpPr>
          <p:sp>
            <p:nvSpPr>
              <p:cNvPr id="14342" name="Text Box 5"/>
              <p:cNvSpPr txBox="1"/>
              <p:nvPr/>
            </p:nvSpPr>
            <p:spPr>
              <a:xfrm>
                <a:off x="2184" y="3723"/>
                <a:ext cx="304" cy="327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none">
                <a:spAutoFit/>
              </a:bodyPr>
              <a:p>
                <a:pPr eaLnBrk="1" hangingPunct="1"/>
                <a:r>
                  <a:rPr lang="en-US" altLang="zh-CN" sz="2800" dirty="0">
                    <a:latin typeface="Times New Roman" panose="02020603050405020304" pitchFamily="18" charset="0"/>
                  </a:rPr>
                  <a:t>x</a:t>
                </a:r>
                <a:r>
                  <a:rPr lang="en-US" altLang="zh-CN" sz="2800" baseline="-25000" dirty="0">
                    <a:latin typeface="Times New Roman" panose="02020603050405020304" pitchFamily="18" charset="0"/>
                  </a:rPr>
                  <a:t>2</a:t>
                </a:r>
                <a:endParaRPr lang="en-US" altLang="zh-CN" sz="28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4343" name="Text Box 6"/>
              <p:cNvSpPr txBox="1"/>
              <p:nvPr/>
            </p:nvSpPr>
            <p:spPr>
              <a:xfrm>
                <a:off x="3034" y="3707"/>
                <a:ext cx="338" cy="327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p>
                <a:pPr eaLnBrk="1" hangingPunct="1"/>
                <a:r>
                  <a:rPr lang="en-US" altLang="zh-CN" sz="2800" dirty="0">
                    <a:latin typeface="Times New Roman" panose="02020603050405020304" pitchFamily="18" charset="0"/>
                  </a:rPr>
                  <a:t>x</a:t>
                </a:r>
                <a:r>
                  <a:rPr lang="en-US" altLang="zh-CN" sz="2800" baseline="-25000" dirty="0">
                    <a:latin typeface="Times New Roman" panose="02020603050405020304" pitchFamily="18" charset="0"/>
                  </a:rPr>
                  <a:t>1</a:t>
                </a:r>
                <a:endParaRPr lang="en-US" altLang="zh-CN" sz="28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4344" name="Oval 7"/>
              <p:cNvSpPr/>
              <p:nvPr/>
            </p:nvSpPr>
            <p:spPr>
              <a:xfrm>
                <a:off x="3255" y="3879"/>
                <a:ext cx="66" cy="66"/>
              </a:xfrm>
              <a:prstGeom prst="ellipse">
                <a:avLst/>
              </a:prstGeom>
              <a:solidFill>
                <a:srgbClr val="3333FF"/>
              </a:solidFill>
              <a:ln w="19050" cap="flat" cmpd="sng">
                <a:solidFill>
                  <a:srgbClr val="3333FF"/>
                </a:solidFill>
                <a:prstDash val="solid"/>
                <a:headEnd type="none" w="med" len="med"/>
                <a:tailEnd type="none" w="sm" len="lg"/>
              </a:ln>
            </p:spPr>
            <p:txBody>
              <a:bodyPr wrap="none" anchor="ctr" anchorCtr="0"/>
              <a:p>
                <a:pPr eaLnBrk="1" hangingPunct="1"/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4345" name="Oval 8"/>
              <p:cNvSpPr/>
              <p:nvPr/>
            </p:nvSpPr>
            <p:spPr>
              <a:xfrm>
                <a:off x="2494" y="1726"/>
                <a:ext cx="66" cy="66"/>
              </a:xfrm>
              <a:prstGeom prst="ellipse">
                <a:avLst/>
              </a:prstGeom>
              <a:solidFill>
                <a:srgbClr val="3333FF"/>
              </a:solidFill>
              <a:ln w="19050" cap="flat" cmpd="sng">
                <a:solidFill>
                  <a:srgbClr val="3333FF"/>
                </a:solidFill>
                <a:prstDash val="solid"/>
                <a:headEnd type="none" w="med" len="med"/>
                <a:tailEnd type="none" w="sm" len="lg"/>
              </a:ln>
            </p:spPr>
            <p:txBody>
              <a:bodyPr wrap="none" anchor="ctr" anchorCtr="0"/>
              <a:p>
                <a:pPr eaLnBrk="1" hangingPunct="1"/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14346" name="Group 9"/>
              <p:cNvGrpSpPr/>
              <p:nvPr/>
            </p:nvGrpSpPr>
            <p:grpSpPr>
              <a:xfrm>
                <a:off x="2258" y="1953"/>
                <a:ext cx="1000" cy="623"/>
                <a:chOff x="2342" y="2685"/>
                <a:chExt cx="1000" cy="623"/>
              </a:xfrm>
            </p:grpSpPr>
            <p:sp>
              <p:nvSpPr>
                <p:cNvPr id="14365" name="Rectangle 10"/>
                <p:cNvSpPr/>
                <p:nvPr/>
              </p:nvSpPr>
              <p:spPr>
                <a:xfrm>
                  <a:off x="2342" y="2750"/>
                  <a:ext cx="1000" cy="558"/>
                </a:xfrm>
                <a:prstGeom prst="rect">
                  <a:avLst/>
                </a:prstGeom>
                <a:solidFill>
                  <a:srgbClr val="E1FDFF"/>
                </a:solidFill>
                <a:ln w="38100" cap="flat" cmpd="sng">
                  <a:solidFill>
                    <a:srgbClr val="3333FF"/>
                  </a:solidFill>
                  <a:prstDash val="solid"/>
                  <a:miter/>
                  <a:headEnd type="none" w="med" len="med"/>
                  <a:tailEnd type="none" w="sm" len="lg"/>
                </a:ln>
              </p:spPr>
              <p:txBody>
                <a:bodyPr wrap="none" anchor="ctr" anchorCtr="0"/>
                <a:p>
                  <a:pPr eaLnBrk="1" hangingPunct="1"/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4366" name="Oval 11"/>
                <p:cNvSpPr/>
                <p:nvPr/>
              </p:nvSpPr>
              <p:spPr>
                <a:xfrm>
                  <a:off x="3137" y="2685"/>
                  <a:ext cx="66" cy="66"/>
                </a:xfrm>
                <a:prstGeom prst="ellipse">
                  <a:avLst/>
                </a:prstGeom>
                <a:solidFill>
                  <a:schemeClr val="bg1"/>
                </a:solidFill>
                <a:ln w="38100" cap="flat" cmpd="sng">
                  <a:solidFill>
                    <a:srgbClr val="3333FF"/>
                  </a:solidFill>
                  <a:prstDash val="solid"/>
                  <a:headEnd type="none" w="med" len="med"/>
                  <a:tailEnd type="none" w="sm" len="lg"/>
                </a:ln>
              </p:spPr>
              <p:txBody>
                <a:bodyPr wrap="none" anchor="ctr" anchorCtr="0"/>
                <a:p>
                  <a:pPr eaLnBrk="1" hangingPunct="1"/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14347" name="Text Box 12"/>
              <p:cNvSpPr txBox="1"/>
              <p:nvPr/>
            </p:nvSpPr>
            <p:spPr>
              <a:xfrm>
                <a:off x="2290" y="2286"/>
                <a:ext cx="265" cy="327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none">
                <a:spAutoFit/>
              </a:bodyPr>
              <a:p>
                <a:pPr eaLnBrk="1" hangingPunct="1"/>
                <a:r>
                  <a:rPr lang="en-US" altLang="zh-CN" sz="2800" dirty="0">
                    <a:latin typeface="Times New Roman" panose="02020603050405020304" pitchFamily="18" charset="0"/>
                  </a:rPr>
                  <a:t>R</a:t>
                </a:r>
                <a:endParaRPr lang="en-US" altLang="zh-CN" sz="28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4348" name="Text Box 13"/>
              <p:cNvSpPr txBox="1"/>
              <p:nvPr/>
            </p:nvSpPr>
            <p:spPr>
              <a:xfrm>
                <a:off x="2974" y="2286"/>
                <a:ext cx="241" cy="327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none">
                <a:spAutoFit/>
              </a:bodyPr>
              <a:p>
                <a:pPr eaLnBrk="1" hangingPunct="1"/>
                <a:r>
                  <a:rPr lang="en-US" altLang="zh-CN" sz="2800" dirty="0">
                    <a:latin typeface="Times New Roman" panose="02020603050405020304" pitchFamily="18" charset="0"/>
                  </a:rPr>
                  <a:t>S</a:t>
                </a:r>
                <a:endParaRPr lang="en-US" altLang="zh-CN" sz="28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4349" name="Line 14"/>
              <p:cNvSpPr/>
              <p:nvPr/>
            </p:nvSpPr>
            <p:spPr>
              <a:xfrm flipV="1">
                <a:off x="3492" y="948"/>
                <a:ext cx="0" cy="204"/>
              </a:xfrm>
              <a:prstGeom prst="line">
                <a:avLst/>
              </a:prstGeom>
              <a:ln w="19050" cap="flat" cmpd="sng">
                <a:solidFill>
                  <a:srgbClr val="3333FF"/>
                </a:solidFill>
                <a:prstDash val="solid"/>
                <a:headEnd type="none" w="med" len="med"/>
                <a:tailEnd type="none" w="sm" len="lg"/>
              </a:ln>
            </p:spPr>
          </p:sp>
          <p:sp>
            <p:nvSpPr>
              <p:cNvPr id="14350" name="Text Box 15"/>
              <p:cNvSpPr txBox="1"/>
              <p:nvPr/>
            </p:nvSpPr>
            <p:spPr>
              <a:xfrm>
                <a:off x="3010" y="1167"/>
                <a:ext cx="801" cy="351"/>
              </a:xfrm>
              <a:prstGeom prst="rect">
                <a:avLst/>
              </a:prstGeom>
              <a:solidFill>
                <a:srgbClr val="E1FDFF"/>
              </a:solidFill>
              <a:ln w="38100" cap="flat" cmpd="sng">
                <a:solidFill>
                  <a:schemeClr val="accent2"/>
                </a:solidFill>
                <a:prstDash val="solid"/>
                <a:miter/>
                <a:headEnd type="none" w="med" len="med"/>
                <a:tailEnd type="none" w="sm" len="lg"/>
              </a:ln>
            </p:spPr>
            <p:txBody>
              <a:bodyPr>
                <a:spAutoFit/>
              </a:bodyPr>
              <a:p>
                <a:pPr algn="ctr" eaLnBrk="1" hangingPunct="1"/>
                <a:r>
                  <a:rPr lang="en-US" altLang="zh-CN" sz="2800" dirty="0">
                    <a:latin typeface="Times New Roman" panose="02020603050405020304" pitchFamily="18" charset="0"/>
                    <a:sym typeface="Symbol" panose="05050102010706020507" pitchFamily="18" charset="2"/>
                  </a:rPr>
                  <a:t>&amp;</a:t>
                </a:r>
                <a:endParaRPr lang="en-US" altLang="zh-CN" sz="28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4351" name="Text Box 16"/>
              <p:cNvSpPr txBox="1"/>
              <p:nvPr/>
            </p:nvSpPr>
            <p:spPr>
              <a:xfrm>
                <a:off x="1642" y="3255"/>
                <a:ext cx="801" cy="351"/>
              </a:xfrm>
              <a:prstGeom prst="rect">
                <a:avLst/>
              </a:prstGeom>
              <a:solidFill>
                <a:srgbClr val="E1FDFF"/>
              </a:solidFill>
              <a:ln w="38100" cap="flat" cmpd="sng">
                <a:solidFill>
                  <a:schemeClr val="accent2"/>
                </a:solidFill>
                <a:prstDash val="solid"/>
                <a:miter/>
                <a:headEnd type="none" w="med" len="med"/>
                <a:tailEnd type="none" w="sm" len="lg"/>
              </a:ln>
            </p:spPr>
            <p:txBody>
              <a:bodyPr>
                <a:spAutoFit/>
              </a:bodyPr>
              <a:p>
                <a:pPr algn="ctr" eaLnBrk="1" hangingPunct="1"/>
                <a:r>
                  <a:rPr lang="en-US" altLang="zh-CN" sz="2800" dirty="0">
                    <a:latin typeface="Times New Roman" panose="02020603050405020304" pitchFamily="18" charset="0"/>
                    <a:sym typeface="Symbol" panose="05050102010706020507" pitchFamily="18" charset="2"/>
                  </a:rPr>
                  <a:t>&amp;</a:t>
                </a:r>
                <a:endParaRPr lang="en-US" altLang="zh-CN" sz="28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4352" name="Text Box 17"/>
              <p:cNvSpPr txBox="1"/>
              <p:nvPr/>
            </p:nvSpPr>
            <p:spPr>
              <a:xfrm>
                <a:off x="3046" y="3255"/>
                <a:ext cx="801" cy="351"/>
              </a:xfrm>
              <a:prstGeom prst="rect">
                <a:avLst/>
              </a:prstGeom>
              <a:solidFill>
                <a:srgbClr val="E1FDFF"/>
              </a:solidFill>
              <a:ln w="38100" cap="flat" cmpd="sng">
                <a:solidFill>
                  <a:schemeClr val="accent2"/>
                </a:solidFill>
                <a:prstDash val="solid"/>
                <a:miter/>
                <a:headEnd type="none" w="med" len="med"/>
                <a:tailEnd type="none" w="sm" len="lg"/>
              </a:ln>
            </p:spPr>
            <p:txBody>
              <a:bodyPr>
                <a:spAutoFit/>
              </a:bodyPr>
              <a:p>
                <a:pPr algn="ctr" eaLnBrk="1" hangingPunct="1"/>
                <a:r>
                  <a:rPr lang="en-US" altLang="zh-CN" sz="2800" dirty="0">
                    <a:latin typeface="Times New Roman" panose="02020603050405020304" pitchFamily="18" charset="0"/>
                    <a:sym typeface="Symbol" panose="05050102010706020507" pitchFamily="18" charset="2"/>
                  </a:rPr>
                  <a:t>&amp;</a:t>
                </a:r>
                <a:endParaRPr lang="en-US" altLang="zh-CN" sz="28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4353" name="Freeform 18"/>
              <p:cNvSpPr/>
              <p:nvPr/>
            </p:nvSpPr>
            <p:spPr>
              <a:xfrm>
                <a:off x="2136" y="2580"/>
                <a:ext cx="420" cy="672"/>
              </a:xfrm>
              <a:custGeom>
                <a:avLst/>
                <a:gdLst/>
                <a:ahLst/>
                <a:cxnLst>
                  <a:cxn ang="0">
                    <a:pos x="420" y="0"/>
                  </a:cxn>
                  <a:cxn ang="0">
                    <a:pos x="420" y="264"/>
                  </a:cxn>
                  <a:cxn ang="0">
                    <a:pos x="0" y="264"/>
                  </a:cxn>
                  <a:cxn ang="0">
                    <a:pos x="0" y="672"/>
                  </a:cxn>
                </a:cxnLst>
                <a:pathLst>
                  <a:path w="420" h="672">
                    <a:moveTo>
                      <a:pt x="420" y="0"/>
                    </a:moveTo>
                    <a:lnTo>
                      <a:pt x="420" y="264"/>
                    </a:lnTo>
                    <a:lnTo>
                      <a:pt x="0" y="264"/>
                    </a:lnTo>
                    <a:lnTo>
                      <a:pt x="0" y="672"/>
                    </a:lnTo>
                  </a:path>
                </a:pathLst>
              </a:custGeom>
              <a:noFill/>
              <a:ln w="19050" cap="flat" cmpd="sng">
                <a:solidFill>
                  <a:srgbClr val="3333FF">
                    <a:alpha val="100000"/>
                  </a:srgbClr>
                </a:solidFill>
                <a:prstDash val="solid"/>
                <a:round/>
                <a:headEnd type="none" w="med" len="med"/>
                <a:tailEnd type="none" w="sm" len="lg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4354" name="Freeform 19"/>
              <p:cNvSpPr/>
              <p:nvPr/>
            </p:nvSpPr>
            <p:spPr>
              <a:xfrm rot="-10800000" flipV="1">
                <a:off x="2964" y="2580"/>
                <a:ext cx="420" cy="672"/>
              </a:xfrm>
              <a:custGeom>
                <a:avLst/>
                <a:gdLst/>
                <a:ahLst/>
                <a:cxnLst>
                  <a:cxn ang="0">
                    <a:pos x="420" y="0"/>
                  </a:cxn>
                  <a:cxn ang="0">
                    <a:pos x="420" y="264"/>
                  </a:cxn>
                  <a:cxn ang="0">
                    <a:pos x="0" y="264"/>
                  </a:cxn>
                  <a:cxn ang="0">
                    <a:pos x="0" y="672"/>
                  </a:cxn>
                </a:cxnLst>
                <a:pathLst>
                  <a:path w="420" h="672">
                    <a:moveTo>
                      <a:pt x="420" y="0"/>
                    </a:moveTo>
                    <a:lnTo>
                      <a:pt x="420" y="264"/>
                    </a:lnTo>
                    <a:lnTo>
                      <a:pt x="0" y="264"/>
                    </a:lnTo>
                    <a:lnTo>
                      <a:pt x="0" y="672"/>
                    </a:lnTo>
                  </a:path>
                </a:pathLst>
              </a:custGeom>
              <a:noFill/>
              <a:ln w="19050" cap="flat" cmpd="sng">
                <a:solidFill>
                  <a:srgbClr val="3333FF">
                    <a:alpha val="100000"/>
                  </a:srgbClr>
                </a:solidFill>
                <a:prstDash val="solid"/>
                <a:round/>
                <a:headEnd type="none" w="med" len="med"/>
                <a:tailEnd type="none" w="sm" len="lg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4355" name="Freeform 20"/>
              <p:cNvSpPr/>
              <p:nvPr/>
            </p:nvSpPr>
            <p:spPr>
              <a:xfrm>
                <a:off x="3300" y="1512"/>
                <a:ext cx="1008" cy="2412"/>
              </a:xfrm>
              <a:custGeom>
                <a:avLst/>
                <a:gdLst/>
                <a:ahLst/>
                <a:cxnLst>
                  <a:cxn ang="0">
                    <a:pos x="285" y="0"/>
                  </a:cxn>
                  <a:cxn ang="0">
                    <a:pos x="285" y="239"/>
                  </a:cxn>
                  <a:cxn ang="0">
                    <a:pos x="1008" y="239"/>
                  </a:cxn>
                  <a:cxn ang="0">
                    <a:pos x="1008" y="2412"/>
                  </a:cxn>
                  <a:cxn ang="0">
                    <a:pos x="0" y="2412"/>
                  </a:cxn>
                </a:cxnLst>
                <a:pathLst>
                  <a:path w="1104" h="2304">
                    <a:moveTo>
                      <a:pt x="312" y="0"/>
                    </a:moveTo>
                    <a:lnTo>
                      <a:pt x="312" y="228"/>
                    </a:lnTo>
                    <a:lnTo>
                      <a:pt x="1104" y="228"/>
                    </a:lnTo>
                    <a:lnTo>
                      <a:pt x="1104" y="2304"/>
                    </a:lnTo>
                    <a:lnTo>
                      <a:pt x="0" y="2304"/>
                    </a:lnTo>
                  </a:path>
                </a:pathLst>
              </a:custGeom>
              <a:noFill/>
              <a:ln w="19050" cap="flat" cmpd="sng">
                <a:solidFill>
                  <a:srgbClr val="3333FF">
                    <a:alpha val="100000"/>
                  </a:srgbClr>
                </a:solidFill>
                <a:prstDash val="solid"/>
                <a:round/>
                <a:headEnd type="none" w="med" len="med"/>
                <a:tailEnd type="none" w="sm" len="lg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4356" name="Line 21"/>
              <p:cNvSpPr/>
              <p:nvPr/>
            </p:nvSpPr>
            <p:spPr>
              <a:xfrm>
                <a:off x="3288" y="3600"/>
                <a:ext cx="0" cy="468"/>
              </a:xfrm>
              <a:prstGeom prst="line">
                <a:avLst/>
              </a:prstGeom>
              <a:ln w="19050" cap="flat" cmpd="sng">
                <a:solidFill>
                  <a:srgbClr val="3333FF"/>
                </a:solidFill>
                <a:prstDash val="solid"/>
                <a:headEnd type="none" w="med" len="med"/>
                <a:tailEnd type="none" w="sm" len="lg"/>
              </a:ln>
            </p:spPr>
          </p:sp>
          <p:sp>
            <p:nvSpPr>
              <p:cNvPr id="14357" name="Freeform 22"/>
              <p:cNvSpPr/>
              <p:nvPr/>
            </p:nvSpPr>
            <p:spPr>
              <a:xfrm>
                <a:off x="1200" y="1512"/>
                <a:ext cx="2052" cy="2268"/>
              </a:xfrm>
              <a:custGeom>
                <a:avLst/>
                <a:gdLst/>
                <a:ahLst/>
                <a:cxnLst>
                  <a:cxn ang="0">
                    <a:pos x="2052" y="0"/>
                  </a:cxn>
                  <a:cxn ang="0">
                    <a:pos x="2052" y="240"/>
                  </a:cxn>
                  <a:cxn ang="0">
                    <a:pos x="0" y="240"/>
                  </a:cxn>
                  <a:cxn ang="0">
                    <a:pos x="0" y="2268"/>
                  </a:cxn>
                  <a:cxn ang="0">
                    <a:pos x="624" y="2268"/>
                  </a:cxn>
                  <a:cxn ang="0">
                    <a:pos x="624" y="2088"/>
                  </a:cxn>
                </a:cxnLst>
                <a:pathLst>
                  <a:path w="2052" h="2268">
                    <a:moveTo>
                      <a:pt x="2052" y="0"/>
                    </a:moveTo>
                    <a:cubicBezTo>
                      <a:pt x="2052" y="80"/>
                      <a:pt x="2052" y="160"/>
                      <a:pt x="2052" y="240"/>
                    </a:cubicBezTo>
                    <a:lnTo>
                      <a:pt x="0" y="240"/>
                    </a:lnTo>
                    <a:lnTo>
                      <a:pt x="0" y="2268"/>
                    </a:lnTo>
                    <a:lnTo>
                      <a:pt x="624" y="2268"/>
                    </a:lnTo>
                    <a:lnTo>
                      <a:pt x="624" y="2088"/>
                    </a:lnTo>
                  </a:path>
                </a:pathLst>
              </a:custGeom>
              <a:noFill/>
              <a:ln w="19050" cap="flat" cmpd="sng">
                <a:solidFill>
                  <a:srgbClr val="3333FF">
                    <a:alpha val="100000"/>
                  </a:srgbClr>
                </a:solidFill>
                <a:prstDash val="solid"/>
                <a:round/>
                <a:headEnd type="none" w="med" len="med"/>
                <a:tailEnd type="none" w="sm" len="lg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4358" name="Line 23"/>
              <p:cNvSpPr/>
              <p:nvPr/>
            </p:nvSpPr>
            <p:spPr>
              <a:xfrm flipV="1">
                <a:off x="2520" y="1740"/>
                <a:ext cx="0" cy="264"/>
              </a:xfrm>
              <a:prstGeom prst="line">
                <a:avLst/>
              </a:prstGeom>
              <a:ln w="19050" cap="flat" cmpd="sng">
                <a:solidFill>
                  <a:srgbClr val="3333FF"/>
                </a:solidFill>
                <a:prstDash val="solid"/>
                <a:headEnd type="none" w="med" len="med"/>
                <a:tailEnd type="none" w="sm" len="lg"/>
              </a:ln>
            </p:spPr>
          </p:sp>
          <p:sp>
            <p:nvSpPr>
              <p:cNvPr id="14359" name="Line 24"/>
              <p:cNvSpPr/>
              <p:nvPr/>
            </p:nvSpPr>
            <p:spPr>
              <a:xfrm>
                <a:off x="2208" y="3600"/>
                <a:ext cx="0" cy="360"/>
              </a:xfrm>
              <a:prstGeom prst="line">
                <a:avLst/>
              </a:prstGeom>
              <a:ln w="19050" cap="flat" cmpd="sng">
                <a:solidFill>
                  <a:srgbClr val="3333FF"/>
                </a:solidFill>
                <a:prstDash val="solid"/>
                <a:headEnd type="none" w="med" len="med"/>
                <a:tailEnd type="none" w="sm" len="lg"/>
              </a:ln>
            </p:spPr>
          </p:sp>
          <p:sp>
            <p:nvSpPr>
              <p:cNvPr id="14360" name="Freeform 25"/>
              <p:cNvSpPr/>
              <p:nvPr/>
            </p:nvSpPr>
            <p:spPr>
              <a:xfrm>
                <a:off x="3072" y="1824"/>
                <a:ext cx="972" cy="1932"/>
              </a:xfrm>
              <a:custGeom>
                <a:avLst/>
                <a:gdLst/>
                <a:ahLst/>
                <a:cxnLst>
                  <a:cxn ang="0">
                    <a:pos x="0" y="120"/>
                  </a:cxn>
                  <a:cxn ang="0">
                    <a:pos x="0" y="0"/>
                  </a:cxn>
                  <a:cxn ang="0">
                    <a:pos x="972" y="0"/>
                  </a:cxn>
                  <a:cxn ang="0">
                    <a:pos x="972" y="1932"/>
                  </a:cxn>
                  <a:cxn ang="0">
                    <a:pos x="564" y="1932"/>
                  </a:cxn>
                  <a:cxn ang="0">
                    <a:pos x="564" y="1776"/>
                  </a:cxn>
                </a:cxnLst>
                <a:pathLst>
                  <a:path w="972" h="1932">
                    <a:moveTo>
                      <a:pt x="0" y="120"/>
                    </a:moveTo>
                    <a:lnTo>
                      <a:pt x="0" y="0"/>
                    </a:lnTo>
                    <a:lnTo>
                      <a:pt x="972" y="0"/>
                    </a:lnTo>
                    <a:lnTo>
                      <a:pt x="972" y="1932"/>
                    </a:lnTo>
                    <a:lnTo>
                      <a:pt x="564" y="1932"/>
                    </a:lnTo>
                    <a:lnTo>
                      <a:pt x="564" y="1776"/>
                    </a:lnTo>
                  </a:path>
                </a:pathLst>
              </a:custGeom>
              <a:noFill/>
              <a:ln w="19050" cap="flat" cmpd="sng">
                <a:solidFill>
                  <a:srgbClr val="3333FF">
                    <a:alpha val="100000"/>
                  </a:srgbClr>
                </a:solidFill>
                <a:prstDash val="solid"/>
                <a:round/>
                <a:headEnd type="none" w="med" len="med"/>
                <a:tailEnd type="none" w="sm" len="lg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4361" name="Text Box 26"/>
              <p:cNvSpPr txBox="1"/>
              <p:nvPr/>
            </p:nvSpPr>
            <p:spPr>
              <a:xfrm>
                <a:off x="2256" y="1743"/>
                <a:ext cx="228" cy="327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none">
                <a:spAutoFit/>
              </a:bodyPr>
              <a:p>
                <a:pPr eaLnBrk="1" hangingPunct="1"/>
                <a:r>
                  <a:rPr lang="en-US" altLang="zh-CN" sz="2800" dirty="0">
                    <a:latin typeface="Times New Roman" panose="02020603050405020304" pitchFamily="18" charset="0"/>
                  </a:rPr>
                  <a:t>y</a:t>
                </a:r>
                <a:endParaRPr lang="en-US" altLang="zh-CN" sz="2800" dirty="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14362" name="Group 27"/>
              <p:cNvGrpSpPr/>
              <p:nvPr/>
            </p:nvGrpSpPr>
            <p:grpSpPr>
              <a:xfrm>
                <a:off x="2844" y="1707"/>
                <a:ext cx="228" cy="327"/>
                <a:chOff x="2844" y="1707"/>
                <a:chExt cx="228" cy="327"/>
              </a:xfrm>
            </p:grpSpPr>
            <p:sp>
              <p:nvSpPr>
                <p:cNvPr id="14363" name="Text Box 28"/>
                <p:cNvSpPr txBox="1"/>
                <p:nvPr/>
              </p:nvSpPr>
              <p:spPr>
                <a:xfrm>
                  <a:off x="2844" y="1707"/>
                  <a:ext cx="228" cy="327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txBody>
                <a:bodyPr wrap="none">
                  <a:spAutoFit/>
                </a:bodyPr>
                <a:p>
                  <a:pPr eaLnBrk="1" hangingPunct="1"/>
                  <a:r>
                    <a:rPr lang="en-US" altLang="zh-CN" sz="2800" dirty="0">
                      <a:latin typeface="Times New Roman" panose="02020603050405020304" pitchFamily="18" charset="0"/>
                    </a:rPr>
                    <a:t>y</a:t>
                  </a:r>
                  <a:endParaRPr lang="en-US" altLang="zh-CN" sz="28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4364" name="Line 29"/>
                <p:cNvSpPr/>
                <p:nvPr/>
              </p:nvSpPr>
              <p:spPr>
                <a:xfrm>
                  <a:off x="2904" y="1800"/>
                  <a:ext cx="96" cy="0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sm" len="lg"/>
                </a:ln>
              </p:spPr>
            </p:sp>
          </p:grpSp>
        </p:grp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7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715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2" name="Text Box 2"/>
          <p:cNvSpPr txBox="1"/>
          <p:nvPr/>
        </p:nvSpPr>
        <p:spPr>
          <a:xfrm>
            <a:off x="1755775" y="4676775"/>
            <a:ext cx="3579813" cy="647700"/>
          </a:xfrm>
          <a:prstGeom prst="rect">
            <a:avLst/>
          </a:prstGeom>
          <a:noFill/>
          <a:ln w="19050">
            <a:noFill/>
          </a:ln>
        </p:spPr>
        <p:txBody>
          <a:bodyPr>
            <a:spAutoFit/>
          </a:bodyPr>
          <a:p>
            <a:pPr defTabSz="2095500" eaLnBrk="1" hangingPunct="1">
              <a:lnSpc>
                <a:spcPct val="130000"/>
              </a:lnSpc>
              <a:buChar char="•"/>
            </a:pPr>
            <a:r>
              <a:rPr lang="zh-CN" altLang="en-US" sz="2800" dirty="0">
                <a:latin typeface="Times New Roman" panose="02020603050405020304" pitchFamily="18" charset="0"/>
                <a:sym typeface="Monotype Sorts" pitchFamily="2" charset="2"/>
              </a:rPr>
              <a:t>作状态转移真值表</a:t>
            </a:r>
            <a:endParaRPr lang="zh-CN" altLang="en-US" sz="2800" dirty="0">
              <a:latin typeface="Times New Roman" panose="02020603050405020304" pitchFamily="18" charset="0"/>
            </a:endParaRPr>
          </a:p>
        </p:txBody>
      </p:sp>
      <p:grpSp>
        <p:nvGrpSpPr>
          <p:cNvPr id="15363" name="Group 3"/>
          <p:cNvGrpSpPr/>
          <p:nvPr/>
        </p:nvGrpSpPr>
        <p:grpSpPr>
          <a:xfrm>
            <a:off x="1374775" y="1168400"/>
            <a:ext cx="5667375" cy="3248025"/>
            <a:chOff x="614" y="544"/>
            <a:chExt cx="3570" cy="2046"/>
          </a:xfrm>
        </p:grpSpPr>
        <p:sp>
          <p:nvSpPr>
            <p:cNvPr id="15364" name="Text Box 4"/>
            <p:cNvSpPr txBox="1"/>
            <p:nvPr/>
          </p:nvSpPr>
          <p:spPr>
            <a:xfrm>
              <a:off x="614" y="544"/>
              <a:ext cx="568" cy="327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800" b="1" dirty="0">
                  <a:latin typeface="Times New Roman" panose="02020603050405020304" pitchFamily="18" charset="0"/>
                </a:rPr>
                <a:t>解：</a:t>
              </a:r>
              <a:endParaRPr lang="zh-CN" altLang="en-US" sz="2800" dirty="0">
                <a:latin typeface="Times New Roman" panose="02020603050405020304" pitchFamily="18" charset="0"/>
              </a:endParaRPr>
            </a:p>
          </p:txBody>
        </p:sp>
        <p:sp>
          <p:nvSpPr>
            <p:cNvPr id="15365" name="Text Box 5"/>
            <p:cNvSpPr txBox="1"/>
            <p:nvPr/>
          </p:nvSpPr>
          <p:spPr>
            <a:xfrm>
              <a:off x="866" y="952"/>
              <a:ext cx="3318" cy="327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p>
              <a:pPr eaLnBrk="1" hangingPunct="1">
                <a:buChar char="•"/>
              </a:pPr>
              <a:r>
                <a:rPr lang="zh-CN" altLang="en-US" sz="2800" dirty="0">
                  <a:latin typeface="Times New Roman" panose="02020603050405020304" pitchFamily="18" charset="0"/>
                  <a:sym typeface="Monotype Sorts" pitchFamily="2" charset="2"/>
                </a:rPr>
                <a:t>写出输出函数和激励函数表达式</a:t>
              </a:r>
              <a:endParaRPr lang="zh-CN" altLang="en-US" sz="2800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15366" name="Group 6"/>
            <p:cNvGrpSpPr/>
            <p:nvPr/>
          </p:nvGrpSpPr>
          <p:grpSpPr>
            <a:xfrm>
              <a:off x="1286" y="1242"/>
              <a:ext cx="1202" cy="1348"/>
              <a:chOff x="1082" y="1086"/>
              <a:chExt cx="1202" cy="1348"/>
            </a:xfrm>
          </p:grpSpPr>
          <p:sp>
            <p:nvSpPr>
              <p:cNvPr id="15367" name="Text Box 7"/>
              <p:cNvSpPr txBox="1"/>
              <p:nvPr/>
            </p:nvSpPr>
            <p:spPr>
              <a:xfrm>
                <a:off x="1082" y="1086"/>
                <a:ext cx="1202" cy="1348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p>
                <a:pPr marL="95250" indent="-95250" defTabSz="381000" eaLnBrk="1" hangingPunct="1">
                  <a:lnSpc>
                    <a:spcPct val="160000"/>
                  </a:lnSpc>
                  <a:tabLst>
                    <a:tab pos="285750" algn="l"/>
                  </a:tabLst>
                </a:pPr>
                <a:r>
                  <a:rPr lang="en-US" altLang="zh-CN" sz="2800" dirty="0">
                    <a:latin typeface="Times New Roman" panose="02020603050405020304" pitchFamily="18" charset="0"/>
                  </a:rPr>
                  <a:t>Z=x</a:t>
                </a:r>
                <a:r>
                  <a:rPr lang="en-US" altLang="zh-CN" sz="2800" baseline="-25000" dirty="0">
                    <a:latin typeface="Times New Roman" panose="02020603050405020304" pitchFamily="18" charset="0"/>
                  </a:rPr>
                  <a:t>1</a:t>
                </a:r>
                <a:r>
                  <a:rPr lang="en-US" altLang="zh-CN" sz="2800" dirty="0">
                    <a:latin typeface="Times New Roman" panose="02020603050405020304" pitchFamily="18" charset="0"/>
                  </a:rPr>
                  <a:t>y</a:t>
                </a:r>
                <a:endParaRPr lang="en-US" altLang="zh-CN" sz="2800" dirty="0">
                  <a:latin typeface="Times New Roman" panose="02020603050405020304" pitchFamily="18" charset="0"/>
                </a:endParaRPr>
              </a:p>
              <a:p>
                <a:pPr marL="95250" indent="-95250" defTabSz="381000" eaLnBrk="1" hangingPunct="1">
                  <a:lnSpc>
                    <a:spcPct val="160000"/>
                  </a:lnSpc>
                  <a:tabLst>
                    <a:tab pos="285750" algn="l"/>
                  </a:tabLst>
                </a:pPr>
                <a:r>
                  <a:rPr lang="en-US" altLang="zh-CN" sz="2800" dirty="0">
                    <a:latin typeface="Times New Roman" panose="02020603050405020304" pitchFamily="18" charset="0"/>
                  </a:rPr>
                  <a:t>S=x</a:t>
                </a:r>
                <a:r>
                  <a:rPr lang="en-US" altLang="zh-CN" sz="2800" baseline="-25000" dirty="0">
                    <a:latin typeface="Times New Roman" panose="02020603050405020304" pitchFamily="18" charset="0"/>
                  </a:rPr>
                  <a:t>1</a:t>
                </a:r>
                <a:r>
                  <a:rPr lang="en-US" altLang="zh-CN" sz="2800" dirty="0">
                    <a:latin typeface="Times New Roman" panose="02020603050405020304" pitchFamily="18" charset="0"/>
                  </a:rPr>
                  <a:t>y</a:t>
                </a:r>
                <a:endParaRPr lang="en-US" altLang="zh-CN" sz="2800" dirty="0">
                  <a:latin typeface="Times New Roman" panose="02020603050405020304" pitchFamily="18" charset="0"/>
                </a:endParaRPr>
              </a:p>
              <a:p>
                <a:pPr marL="95250" indent="-95250" defTabSz="381000" eaLnBrk="1" hangingPunct="1">
                  <a:lnSpc>
                    <a:spcPct val="160000"/>
                  </a:lnSpc>
                  <a:tabLst>
                    <a:tab pos="285750" algn="l"/>
                  </a:tabLst>
                </a:pPr>
                <a:r>
                  <a:rPr lang="en-US" altLang="zh-CN" sz="2800" dirty="0">
                    <a:latin typeface="Times New Roman" panose="02020603050405020304" pitchFamily="18" charset="0"/>
                  </a:rPr>
                  <a:t>R=x</a:t>
                </a:r>
                <a:r>
                  <a:rPr lang="en-US" altLang="zh-CN" sz="2800" baseline="-25000" dirty="0">
                    <a:latin typeface="Times New Roman" panose="02020603050405020304" pitchFamily="18" charset="0"/>
                  </a:rPr>
                  <a:t>2</a:t>
                </a:r>
                <a:r>
                  <a:rPr lang="en-US" altLang="zh-CN" sz="2800" dirty="0">
                    <a:latin typeface="Times New Roman" panose="02020603050405020304" pitchFamily="18" charset="0"/>
                  </a:rPr>
                  <a:t>y</a:t>
                </a:r>
                <a:endParaRPr lang="en-US" altLang="zh-CN" sz="28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368" name="Line 8"/>
              <p:cNvSpPr/>
              <p:nvPr/>
            </p:nvSpPr>
            <p:spPr>
              <a:xfrm>
                <a:off x="1560" y="1740"/>
                <a:ext cx="156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sm" len="lg"/>
              </a:ln>
            </p:spPr>
          </p:sp>
        </p:grpSp>
      </p:grp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" name="Group 2"/>
          <p:cNvGrpSpPr/>
          <p:nvPr/>
        </p:nvGrpSpPr>
        <p:grpSpPr>
          <a:xfrm>
            <a:off x="457200" y="3236913"/>
            <a:ext cx="8324850" cy="3109912"/>
            <a:chOff x="276" y="731"/>
            <a:chExt cx="5244" cy="1959"/>
          </a:xfrm>
        </p:grpSpPr>
        <p:sp>
          <p:nvSpPr>
            <p:cNvPr id="16400" name="Line 3"/>
            <p:cNvSpPr/>
            <p:nvPr/>
          </p:nvSpPr>
          <p:spPr>
            <a:xfrm>
              <a:off x="288" y="756"/>
              <a:ext cx="5220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sm" len="lg"/>
            </a:ln>
          </p:spPr>
        </p:sp>
        <p:sp>
          <p:nvSpPr>
            <p:cNvPr id="16401" name="Line 4"/>
            <p:cNvSpPr/>
            <p:nvPr/>
          </p:nvSpPr>
          <p:spPr>
            <a:xfrm>
              <a:off x="276" y="1395"/>
              <a:ext cx="5244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sm" len="lg"/>
            </a:ln>
          </p:spPr>
        </p:sp>
        <p:sp>
          <p:nvSpPr>
            <p:cNvPr id="16402" name="Text Box 5"/>
            <p:cNvSpPr txBox="1"/>
            <p:nvPr/>
          </p:nvSpPr>
          <p:spPr>
            <a:xfrm>
              <a:off x="1382" y="796"/>
              <a:ext cx="916" cy="596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p>
              <a:pPr eaLnBrk="1" hangingPunct="1"/>
              <a:r>
                <a:rPr lang="zh-CN" altLang="zh-CN" sz="2800" dirty="0">
                  <a:latin typeface="Times New Roman" panose="02020603050405020304" pitchFamily="18" charset="0"/>
                </a:rPr>
                <a:t>现	态</a:t>
              </a:r>
              <a:endParaRPr lang="zh-CN" altLang="zh-CN" sz="2800" dirty="0">
                <a:latin typeface="Times New Roman" panose="02020603050405020304" pitchFamily="18" charset="0"/>
              </a:endParaRPr>
            </a:p>
            <a:p>
              <a:pPr algn="ctr"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y</a:t>
              </a:r>
              <a:endParaRPr lang="en-US" altLang="zh-CN" sz="2800" dirty="0">
                <a:latin typeface="Times New Roman" panose="02020603050405020304" pitchFamily="18" charset="0"/>
              </a:endParaRPr>
            </a:p>
          </p:txBody>
        </p:sp>
        <p:sp>
          <p:nvSpPr>
            <p:cNvPr id="16403" name="Text Box 6"/>
            <p:cNvSpPr txBox="1"/>
            <p:nvPr/>
          </p:nvSpPr>
          <p:spPr>
            <a:xfrm>
              <a:off x="1724" y="1480"/>
              <a:ext cx="228" cy="1134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p>
              <a:pPr algn="ctr" defTabSz="666750"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0</a:t>
              </a:r>
              <a:endParaRPr lang="en-US" altLang="zh-CN" sz="2800" dirty="0">
                <a:latin typeface="Times New Roman" panose="02020603050405020304" pitchFamily="18" charset="0"/>
              </a:endParaRPr>
            </a:p>
            <a:p>
              <a:pPr algn="ctr" defTabSz="666750"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1</a:t>
              </a:r>
              <a:endParaRPr lang="en-US" altLang="zh-CN" sz="2800" dirty="0">
                <a:latin typeface="Times New Roman" panose="02020603050405020304" pitchFamily="18" charset="0"/>
              </a:endParaRPr>
            </a:p>
            <a:p>
              <a:pPr algn="ctr" defTabSz="666750"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0</a:t>
              </a:r>
              <a:endParaRPr lang="en-US" altLang="zh-CN" sz="2800" dirty="0">
                <a:latin typeface="Times New Roman" panose="02020603050405020304" pitchFamily="18" charset="0"/>
              </a:endParaRPr>
            </a:p>
            <a:p>
              <a:pPr algn="ctr" defTabSz="666750"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1</a:t>
              </a:r>
              <a:endParaRPr lang="en-US" altLang="zh-CN" sz="2800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16404" name="Rectangle 7"/>
            <p:cNvSpPr/>
            <p:nvPr/>
          </p:nvSpPr>
          <p:spPr>
            <a:xfrm>
              <a:off x="408" y="796"/>
              <a:ext cx="784" cy="596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p>
              <a:pPr algn="ctr" defTabSz="762000" eaLnBrk="1" hangingPunct="1"/>
              <a:r>
                <a:rPr lang="zh-CN" altLang="en-US" sz="2800" dirty="0">
                  <a:latin typeface="Times New Roman" panose="02020603050405020304" pitchFamily="18" charset="0"/>
                </a:rPr>
                <a:t>输 入</a:t>
              </a:r>
              <a:endParaRPr lang="zh-CN" altLang="en-US" sz="2800" dirty="0">
                <a:latin typeface="Times New Roman" panose="02020603050405020304" pitchFamily="18" charset="0"/>
              </a:endParaRPr>
            </a:p>
            <a:p>
              <a:pPr algn="ctr" defTabSz="762000"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x</a:t>
              </a:r>
              <a:r>
                <a:rPr lang="en-US" altLang="zh-CN" sz="2800" baseline="-25000" dirty="0">
                  <a:latin typeface="Times New Roman" panose="02020603050405020304" pitchFamily="18" charset="0"/>
                </a:rPr>
                <a:t>1 	</a:t>
              </a:r>
              <a:r>
                <a:rPr lang="en-US" altLang="zh-CN" sz="2800" dirty="0">
                  <a:latin typeface="Times New Roman" panose="02020603050405020304" pitchFamily="18" charset="0"/>
                </a:rPr>
                <a:t>x</a:t>
              </a:r>
              <a:r>
                <a:rPr lang="en-US" altLang="zh-CN" sz="2800" baseline="-25000" dirty="0">
                  <a:latin typeface="Times New Roman" panose="02020603050405020304" pitchFamily="18" charset="0"/>
                </a:rPr>
                <a:t>2</a:t>
              </a:r>
              <a:endParaRPr lang="en-US" altLang="zh-CN" sz="2800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16405" name="Text Box 8"/>
            <p:cNvSpPr txBox="1"/>
            <p:nvPr/>
          </p:nvSpPr>
          <p:spPr>
            <a:xfrm>
              <a:off x="3727" y="796"/>
              <a:ext cx="840" cy="596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p>
              <a:pPr algn="ctr" eaLnBrk="1" hangingPunct="1"/>
              <a:r>
                <a:rPr lang="zh-CN" altLang="zh-CN" sz="2800" dirty="0">
                  <a:latin typeface="Times New Roman" panose="02020603050405020304" pitchFamily="18" charset="0"/>
                </a:rPr>
                <a:t>次     态</a:t>
              </a:r>
              <a:endParaRPr lang="zh-CN" altLang="zh-CN" sz="2800" dirty="0">
                <a:latin typeface="Times New Roman" panose="02020603050405020304" pitchFamily="18" charset="0"/>
              </a:endParaRPr>
            </a:p>
            <a:p>
              <a:pPr algn="ctr"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y</a:t>
              </a:r>
              <a:r>
                <a:rPr lang="en-US" altLang="zh-CN" sz="2800" baseline="30000" dirty="0">
                  <a:latin typeface="Times New Roman" panose="02020603050405020304" pitchFamily="18" charset="0"/>
                </a:rPr>
                <a:t>(</a:t>
              </a:r>
              <a:r>
                <a:rPr lang="en-US" altLang="zh-CN" sz="2800" i="1" baseline="30000" dirty="0">
                  <a:latin typeface="Times New Roman" panose="02020603050405020304" pitchFamily="18" charset="0"/>
                </a:rPr>
                <a:t>n</a:t>
              </a:r>
              <a:r>
                <a:rPr lang="en-US" altLang="zh-CN" sz="2800" baseline="30000" dirty="0">
                  <a:latin typeface="Times New Roman" panose="02020603050405020304" pitchFamily="18" charset="0"/>
                </a:rPr>
                <a:t>+1)</a:t>
              </a:r>
              <a:endParaRPr lang="en-US" altLang="zh-CN" sz="2800" dirty="0">
                <a:latin typeface="Times New Roman" panose="02020603050405020304" pitchFamily="18" charset="0"/>
              </a:endParaRPr>
            </a:p>
          </p:txBody>
        </p:sp>
        <p:sp>
          <p:nvSpPr>
            <p:cNvPr id="16406" name="Text Box 9"/>
            <p:cNvSpPr txBox="1"/>
            <p:nvPr/>
          </p:nvSpPr>
          <p:spPr>
            <a:xfrm>
              <a:off x="3956" y="1480"/>
              <a:ext cx="228" cy="1134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p>
              <a:pPr algn="ctr" defTabSz="762000"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1</a:t>
              </a:r>
              <a:endParaRPr lang="en-US" altLang="zh-CN" sz="2800" dirty="0">
                <a:latin typeface="Times New Roman" panose="02020603050405020304" pitchFamily="18" charset="0"/>
              </a:endParaRPr>
            </a:p>
            <a:p>
              <a:pPr algn="ctr" defTabSz="762000"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1</a:t>
              </a:r>
              <a:endParaRPr lang="en-US" altLang="zh-CN" sz="2800" dirty="0">
                <a:latin typeface="Times New Roman" panose="02020603050405020304" pitchFamily="18" charset="0"/>
              </a:endParaRPr>
            </a:p>
            <a:p>
              <a:pPr algn="ctr" defTabSz="762000"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0</a:t>
              </a:r>
              <a:endParaRPr lang="en-US" altLang="zh-CN" sz="2800" dirty="0">
                <a:latin typeface="Times New Roman" panose="02020603050405020304" pitchFamily="18" charset="0"/>
              </a:endParaRPr>
            </a:p>
            <a:p>
              <a:pPr algn="ctr" defTabSz="762000"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0</a:t>
              </a:r>
              <a:endParaRPr lang="en-US" altLang="zh-CN" sz="2800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16407" name="Line 10"/>
            <p:cNvSpPr/>
            <p:nvPr/>
          </p:nvSpPr>
          <p:spPr>
            <a:xfrm>
              <a:off x="276" y="2681"/>
              <a:ext cx="5244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sm" len="lg"/>
            </a:ln>
          </p:spPr>
        </p:sp>
        <p:sp>
          <p:nvSpPr>
            <p:cNvPr id="16408" name="Line 11"/>
            <p:cNvSpPr/>
            <p:nvPr/>
          </p:nvSpPr>
          <p:spPr>
            <a:xfrm>
              <a:off x="1260" y="748"/>
              <a:ext cx="0" cy="1925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sm" len="lg"/>
            </a:ln>
          </p:spPr>
        </p:sp>
        <p:sp>
          <p:nvSpPr>
            <p:cNvPr id="16409" name="Line 12"/>
            <p:cNvSpPr/>
            <p:nvPr/>
          </p:nvSpPr>
          <p:spPr>
            <a:xfrm>
              <a:off x="2340" y="739"/>
              <a:ext cx="0" cy="1951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sm" len="lg"/>
            </a:ln>
          </p:spPr>
        </p:sp>
        <p:sp>
          <p:nvSpPr>
            <p:cNvPr id="16410" name="Line 13"/>
            <p:cNvSpPr/>
            <p:nvPr/>
          </p:nvSpPr>
          <p:spPr>
            <a:xfrm>
              <a:off x="3600" y="731"/>
              <a:ext cx="0" cy="1939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sm" len="lg"/>
            </a:ln>
          </p:spPr>
        </p:sp>
        <p:sp>
          <p:nvSpPr>
            <p:cNvPr id="16411" name="Line 14"/>
            <p:cNvSpPr/>
            <p:nvPr/>
          </p:nvSpPr>
          <p:spPr>
            <a:xfrm>
              <a:off x="4716" y="755"/>
              <a:ext cx="0" cy="1927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sm" len="lg"/>
            </a:ln>
          </p:spPr>
        </p:sp>
        <p:sp>
          <p:nvSpPr>
            <p:cNvPr id="16412" name="Rectangle 15"/>
            <p:cNvSpPr/>
            <p:nvPr/>
          </p:nvSpPr>
          <p:spPr>
            <a:xfrm>
              <a:off x="4834" y="796"/>
              <a:ext cx="620" cy="596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p>
              <a:pPr algn="ctr" eaLnBrk="1" hangingPunct="1"/>
              <a:r>
                <a:rPr lang="zh-CN" altLang="en-US" sz="2800" dirty="0">
                  <a:latin typeface="Times New Roman" panose="02020603050405020304" pitchFamily="18" charset="0"/>
                </a:rPr>
                <a:t>输 出</a:t>
              </a:r>
              <a:endParaRPr lang="zh-CN" altLang="en-US" sz="2800" dirty="0">
                <a:latin typeface="Times New Roman" panose="02020603050405020304" pitchFamily="18" charset="0"/>
              </a:endParaRPr>
            </a:p>
            <a:p>
              <a:pPr algn="ctr"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Z</a:t>
              </a:r>
              <a:endParaRPr lang="en-US" altLang="zh-CN" sz="2800" dirty="0">
                <a:latin typeface="Times New Roman" panose="02020603050405020304" pitchFamily="18" charset="0"/>
              </a:endParaRPr>
            </a:p>
          </p:txBody>
        </p:sp>
        <p:sp>
          <p:nvSpPr>
            <p:cNvPr id="16413" name="Text Box 16"/>
            <p:cNvSpPr txBox="1"/>
            <p:nvPr/>
          </p:nvSpPr>
          <p:spPr>
            <a:xfrm>
              <a:off x="5036" y="1480"/>
              <a:ext cx="228" cy="1134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p>
              <a:pPr algn="ctr" defTabSz="666750"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0</a:t>
              </a:r>
              <a:endParaRPr lang="en-US" altLang="zh-CN" sz="2800" dirty="0">
                <a:latin typeface="Times New Roman" panose="02020603050405020304" pitchFamily="18" charset="0"/>
              </a:endParaRPr>
            </a:p>
            <a:p>
              <a:pPr algn="ctr" defTabSz="666750"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1</a:t>
              </a:r>
              <a:endParaRPr lang="en-US" altLang="zh-CN" sz="2800" dirty="0">
                <a:latin typeface="Times New Roman" panose="02020603050405020304" pitchFamily="18" charset="0"/>
              </a:endParaRPr>
            </a:p>
            <a:p>
              <a:pPr algn="ctr" defTabSz="666750"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0</a:t>
              </a:r>
              <a:endParaRPr lang="en-US" altLang="zh-CN" sz="2800" dirty="0">
                <a:latin typeface="Times New Roman" panose="02020603050405020304" pitchFamily="18" charset="0"/>
              </a:endParaRPr>
            </a:p>
            <a:p>
              <a:pPr algn="ctr" defTabSz="666750"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0</a:t>
              </a:r>
              <a:endParaRPr lang="en-US" altLang="zh-CN" sz="2800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16414" name="Rectangle 17"/>
            <p:cNvSpPr/>
            <p:nvPr/>
          </p:nvSpPr>
          <p:spPr>
            <a:xfrm>
              <a:off x="2370" y="796"/>
              <a:ext cx="1276" cy="596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p>
              <a:pPr algn="ctr" eaLnBrk="1" hangingPunct="1"/>
              <a:r>
                <a:rPr lang="zh-CN" altLang="en-US" sz="2800" dirty="0">
                  <a:latin typeface="Times New Roman" panose="02020603050405020304" pitchFamily="18" charset="0"/>
                </a:rPr>
                <a:t>激励函数</a:t>
              </a:r>
              <a:endParaRPr lang="zh-CN" altLang="en-US" sz="2800" dirty="0">
                <a:latin typeface="Times New Roman" panose="02020603050405020304" pitchFamily="18" charset="0"/>
              </a:endParaRPr>
            </a:p>
            <a:p>
              <a:pPr algn="ctr"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R	S</a:t>
              </a:r>
              <a:endParaRPr lang="en-US" altLang="zh-CN" sz="2800" dirty="0">
                <a:latin typeface="Times New Roman" panose="02020603050405020304" pitchFamily="18" charset="0"/>
              </a:endParaRPr>
            </a:p>
          </p:txBody>
        </p:sp>
        <p:sp>
          <p:nvSpPr>
            <p:cNvPr id="16415" name="Rectangle 18"/>
            <p:cNvSpPr/>
            <p:nvPr/>
          </p:nvSpPr>
          <p:spPr>
            <a:xfrm>
              <a:off x="2526" y="1480"/>
              <a:ext cx="964" cy="1134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p>
              <a:pPr algn="ctr"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0	1</a:t>
              </a:r>
              <a:endParaRPr lang="en-US" altLang="zh-CN" sz="2800" dirty="0">
                <a:latin typeface="Times New Roman" panose="02020603050405020304" pitchFamily="18" charset="0"/>
              </a:endParaRPr>
            </a:p>
            <a:p>
              <a:pPr algn="ctr"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0	0</a:t>
              </a:r>
              <a:endParaRPr lang="en-US" altLang="zh-CN" sz="2800" dirty="0">
                <a:latin typeface="Times New Roman" panose="02020603050405020304" pitchFamily="18" charset="0"/>
              </a:endParaRPr>
            </a:p>
            <a:p>
              <a:pPr algn="ctr"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0	0</a:t>
              </a:r>
              <a:endParaRPr lang="en-US" altLang="zh-CN" sz="2800" dirty="0">
                <a:latin typeface="Times New Roman" panose="02020603050405020304" pitchFamily="18" charset="0"/>
              </a:endParaRPr>
            </a:p>
            <a:p>
              <a:pPr algn="ctr"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1	0</a:t>
              </a:r>
              <a:endParaRPr lang="en-US" altLang="zh-CN" sz="2800" dirty="0">
                <a:latin typeface="Times New Roman" panose="02020603050405020304" pitchFamily="18" charset="0"/>
              </a:endParaRPr>
            </a:p>
          </p:txBody>
        </p:sp>
        <p:sp>
          <p:nvSpPr>
            <p:cNvPr id="16416" name="Rectangle 19"/>
            <p:cNvSpPr/>
            <p:nvPr/>
          </p:nvSpPr>
          <p:spPr>
            <a:xfrm>
              <a:off x="446" y="1480"/>
              <a:ext cx="708" cy="1134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p>
              <a:pPr algn="ctr" defTabSz="762000"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1	0</a:t>
              </a:r>
              <a:endParaRPr lang="en-US" altLang="zh-CN" sz="2800" dirty="0">
                <a:latin typeface="Times New Roman" panose="02020603050405020304" pitchFamily="18" charset="0"/>
              </a:endParaRPr>
            </a:p>
            <a:p>
              <a:pPr algn="ctr" defTabSz="762000"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1	0</a:t>
              </a:r>
              <a:endParaRPr lang="en-US" altLang="zh-CN" sz="2800" dirty="0">
                <a:latin typeface="Times New Roman" panose="02020603050405020304" pitchFamily="18" charset="0"/>
              </a:endParaRPr>
            </a:p>
            <a:p>
              <a:pPr algn="ctr" defTabSz="762000"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0	1</a:t>
              </a:r>
              <a:endParaRPr lang="en-US" altLang="zh-CN" sz="2800" dirty="0">
                <a:latin typeface="Times New Roman" panose="02020603050405020304" pitchFamily="18" charset="0"/>
              </a:endParaRPr>
            </a:p>
            <a:p>
              <a:pPr algn="ctr" defTabSz="762000"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0	1</a:t>
              </a:r>
              <a:endParaRPr lang="en-US" altLang="zh-CN" sz="2800" baseline="-25000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179220" name="Text Box 20" descr="羊皮纸"/>
          <p:cNvSpPr txBox="1"/>
          <p:nvPr/>
        </p:nvSpPr>
        <p:spPr>
          <a:xfrm>
            <a:off x="5657850" y="628650"/>
            <a:ext cx="3200400" cy="2016125"/>
          </a:xfrm>
          <a:prstGeom prst="rect">
            <a:avLst/>
          </a:prstGeom>
          <a:blipFill rotWithShape="1">
            <a:blip r:embed="rId1"/>
          </a:blipFill>
          <a:ln w="19050">
            <a:noFill/>
          </a:ln>
        </p:spPr>
        <p:txBody>
          <a:bodyPr>
            <a:spAutoFit/>
          </a:bodyPr>
          <a:p>
            <a:pPr algn="just" eaLnBrk="1" hangingPunct="1">
              <a:lnSpc>
                <a:spcPct val="150000"/>
              </a:lnSpc>
              <a:spcBef>
                <a:spcPct val="50000"/>
              </a:spcBef>
            </a:pP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</a:rPr>
              <a:t>注意转移真值表中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solidFill>
                  <a:srgbClr val="FF000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</a:rPr>
              <a:t>,x</a:t>
            </a:r>
            <a:r>
              <a:rPr lang="en-US" altLang="zh-CN" sz="2800" baseline="-25000" dirty="0">
                <a:solidFill>
                  <a:srgbClr val="FF0000"/>
                </a:solidFill>
                <a:latin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FF0000"/>
                </a:solidFill>
                <a:latin typeface="Times New Roman" panose="02020603050405020304" pitchFamily="18" charset="0"/>
              </a:rPr>
              <a:t>取值的意义和组合情况。</a:t>
            </a:r>
            <a:endParaRPr lang="zh-CN" altLang="en-US" sz="2800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3" name="Group 21"/>
          <p:cNvGrpSpPr/>
          <p:nvPr/>
        </p:nvGrpSpPr>
        <p:grpSpPr>
          <a:xfrm>
            <a:off x="1009650" y="819150"/>
            <a:ext cx="3314700" cy="2286000"/>
            <a:chOff x="756" y="492"/>
            <a:chExt cx="2088" cy="1440"/>
          </a:xfrm>
        </p:grpSpPr>
        <p:sp>
          <p:nvSpPr>
            <p:cNvPr id="16392" name="Line 22"/>
            <p:cNvSpPr/>
            <p:nvPr/>
          </p:nvSpPr>
          <p:spPr>
            <a:xfrm>
              <a:off x="756" y="501"/>
              <a:ext cx="2088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sm" len="lg"/>
            </a:ln>
          </p:spPr>
        </p:sp>
        <p:sp>
          <p:nvSpPr>
            <p:cNvPr id="16393" name="Line 23"/>
            <p:cNvSpPr/>
            <p:nvPr/>
          </p:nvSpPr>
          <p:spPr>
            <a:xfrm>
              <a:off x="756" y="1901"/>
              <a:ext cx="2088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sm" len="lg"/>
            </a:ln>
          </p:spPr>
        </p:sp>
        <p:sp>
          <p:nvSpPr>
            <p:cNvPr id="16394" name="Line 24"/>
            <p:cNvSpPr/>
            <p:nvPr/>
          </p:nvSpPr>
          <p:spPr>
            <a:xfrm>
              <a:off x="756" y="795"/>
              <a:ext cx="208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sm" len="lg"/>
            </a:ln>
          </p:spPr>
        </p:sp>
        <p:sp>
          <p:nvSpPr>
            <p:cNvPr id="16395" name="Line 25"/>
            <p:cNvSpPr/>
            <p:nvPr/>
          </p:nvSpPr>
          <p:spPr>
            <a:xfrm>
              <a:off x="1812" y="492"/>
              <a:ext cx="0" cy="1409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sm" len="lg"/>
            </a:ln>
          </p:spPr>
        </p:sp>
        <p:sp>
          <p:nvSpPr>
            <p:cNvPr id="16396" name="Text Box 26"/>
            <p:cNvSpPr txBox="1"/>
            <p:nvPr/>
          </p:nvSpPr>
          <p:spPr>
            <a:xfrm>
              <a:off x="938" y="517"/>
              <a:ext cx="643" cy="288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p>
              <a:pPr defTabSz="857250" eaLnBrk="1" hangingPunct="1">
                <a:tabLst>
                  <a:tab pos="666750" algn="l"/>
                </a:tabLst>
              </a:pPr>
              <a:r>
                <a:rPr lang="en-US" altLang="zh-CN" b="1" dirty="0">
                  <a:latin typeface="Times New Roman" panose="02020603050405020304" pitchFamily="18" charset="0"/>
                </a:rPr>
                <a:t>R	S</a:t>
              </a:r>
              <a:endParaRPr lang="en-US" altLang="zh-CN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6397" name="Text Box 27"/>
            <p:cNvSpPr txBox="1"/>
            <p:nvPr/>
          </p:nvSpPr>
          <p:spPr>
            <a:xfrm>
              <a:off x="938" y="758"/>
              <a:ext cx="656" cy="1162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p>
              <a:pPr defTabSz="857250" eaLnBrk="1" hangingPunct="1">
                <a:lnSpc>
                  <a:spcPct val="120000"/>
                </a:lnSpc>
                <a:tabLst>
                  <a:tab pos="666750" algn="l"/>
                </a:tabLst>
              </a:pPr>
              <a:r>
                <a:rPr lang="en-US" altLang="zh-CN" b="1" dirty="0">
                  <a:latin typeface="Times New Roman" panose="02020603050405020304" pitchFamily="18" charset="0"/>
                </a:rPr>
                <a:t>0	0	</a:t>
              </a:r>
              <a:endParaRPr lang="en-US" altLang="zh-CN" b="1" dirty="0">
                <a:latin typeface="Times New Roman" panose="02020603050405020304" pitchFamily="18" charset="0"/>
              </a:endParaRPr>
            </a:p>
            <a:p>
              <a:pPr defTabSz="857250" eaLnBrk="1" hangingPunct="1">
                <a:lnSpc>
                  <a:spcPct val="120000"/>
                </a:lnSpc>
                <a:tabLst>
                  <a:tab pos="666750" algn="l"/>
                </a:tabLst>
              </a:pPr>
              <a:r>
                <a:rPr lang="en-US" altLang="zh-CN" b="1" dirty="0">
                  <a:latin typeface="Times New Roman" panose="02020603050405020304" pitchFamily="18" charset="0"/>
                </a:rPr>
                <a:t>0	1</a:t>
              </a:r>
              <a:endParaRPr lang="en-US" altLang="zh-CN" b="1" dirty="0">
                <a:latin typeface="Times New Roman" panose="02020603050405020304" pitchFamily="18" charset="0"/>
              </a:endParaRPr>
            </a:p>
            <a:p>
              <a:pPr defTabSz="857250" eaLnBrk="1" hangingPunct="1">
                <a:lnSpc>
                  <a:spcPct val="120000"/>
                </a:lnSpc>
                <a:tabLst>
                  <a:tab pos="666750" algn="l"/>
                </a:tabLst>
              </a:pPr>
              <a:r>
                <a:rPr lang="en-US" altLang="zh-CN" b="1" dirty="0">
                  <a:latin typeface="Times New Roman" panose="02020603050405020304" pitchFamily="18" charset="0"/>
                </a:rPr>
                <a:t>1	0</a:t>
              </a:r>
              <a:endParaRPr lang="en-US" altLang="zh-CN" b="1" dirty="0">
                <a:latin typeface="Times New Roman" panose="02020603050405020304" pitchFamily="18" charset="0"/>
              </a:endParaRPr>
            </a:p>
            <a:p>
              <a:pPr defTabSz="857250" eaLnBrk="1" hangingPunct="1">
                <a:lnSpc>
                  <a:spcPct val="120000"/>
                </a:lnSpc>
                <a:tabLst>
                  <a:tab pos="666750" algn="l"/>
                </a:tabLst>
              </a:pPr>
              <a:r>
                <a:rPr lang="en-US" altLang="zh-CN" b="1" dirty="0">
                  <a:latin typeface="Times New Roman" panose="02020603050405020304" pitchFamily="18" charset="0"/>
                </a:rPr>
                <a:t>1	1</a:t>
              </a:r>
              <a:endParaRPr lang="en-US" altLang="zh-CN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6398" name="Text Box 28"/>
            <p:cNvSpPr txBox="1"/>
            <p:nvPr/>
          </p:nvSpPr>
          <p:spPr>
            <a:xfrm>
              <a:off x="2030" y="505"/>
              <a:ext cx="559" cy="288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b="1" dirty="0">
                  <a:latin typeface="Times New Roman" panose="02020603050405020304" pitchFamily="18" charset="0"/>
                </a:rPr>
                <a:t>Q</a:t>
              </a:r>
              <a:r>
                <a:rPr lang="en-US" altLang="zh-CN" b="1" baseline="30000" dirty="0">
                  <a:latin typeface="Times New Roman" panose="02020603050405020304" pitchFamily="18" charset="0"/>
                </a:rPr>
                <a:t>(</a:t>
              </a:r>
              <a:r>
                <a:rPr lang="en-US" altLang="zh-CN" b="1" i="1" baseline="30000" dirty="0">
                  <a:latin typeface="Times New Roman" panose="02020603050405020304" pitchFamily="18" charset="0"/>
                </a:rPr>
                <a:t>n</a:t>
              </a:r>
              <a:r>
                <a:rPr lang="en-US" altLang="zh-CN" b="1" baseline="30000" dirty="0">
                  <a:latin typeface="Times New Roman" panose="02020603050405020304" pitchFamily="18" charset="0"/>
                </a:rPr>
                <a:t>+1)</a:t>
              </a:r>
              <a:endParaRPr lang="en-US" altLang="zh-CN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6399" name="Text Box 29"/>
            <p:cNvSpPr txBox="1"/>
            <p:nvPr/>
          </p:nvSpPr>
          <p:spPr>
            <a:xfrm>
              <a:off x="2047" y="770"/>
              <a:ext cx="422" cy="1162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p>
              <a:pPr algn="ctr" eaLnBrk="1" hangingPunct="1">
                <a:lnSpc>
                  <a:spcPct val="120000"/>
                </a:lnSpc>
              </a:pPr>
              <a:r>
                <a:rPr lang="en-US" altLang="zh-CN" b="1" dirty="0">
                  <a:latin typeface="Times New Roman" panose="02020603050405020304" pitchFamily="18" charset="0"/>
                </a:rPr>
                <a:t>Q</a:t>
              </a:r>
              <a:r>
                <a:rPr lang="en-US" altLang="zh-CN" b="1" baseline="30000" dirty="0">
                  <a:latin typeface="Times New Roman" panose="02020603050405020304" pitchFamily="18" charset="0"/>
                </a:rPr>
                <a:t>(</a:t>
              </a:r>
              <a:r>
                <a:rPr lang="en-US" altLang="zh-CN" b="1" i="1" baseline="30000" dirty="0">
                  <a:latin typeface="Times New Roman" panose="02020603050405020304" pitchFamily="18" charset="0"/>
                </a:rPr>
                <a:t>n</a:t>
              </a:r>
              <a:r>
                <a:rPr lang="en-US" altLang="zh-CN" b="1" baseline="30000" dirty="0">
                  <a:latin typeface="Times New Roman" panose="02020603050405020304" pitchFamily="18" charset="0"/>
                </a:rPr>
                <a:t>)</a:t>
              </a:r>
              <a:endParaRPr lang="en-US" altLang="zh-CN" b="1" dirty="0">
                <a:latin typeface="Times New Roman" panose="02020603050405020304" pitchFamily="18" charset="0"/>
              </a:endParaRPr>
            </a:p>
            <a:p>
              <a:pPr algn="ctr" eaLnBrk="1" hangingPunct="1">
                <a:lnSpc>
                  <a:spcPct val="120000"/>
                </a:lnSpc>
              </a:pPr>
              <a:r>
                <a:rPr lang="en-US" altLang="zh-CN" b="1" dirty="0">
                  <a:latin typeface="Times New Roman" panose="02020603050405020304" pitchFamily="18" charset="0"/>
                </a:rPr>
                <a:t>1</a:t>
              </a:r>
              <a:endParaRPr lang="en-US" altLang="zh-CN" b="1" dirty="0">
                <a:latin typeface="Times New Roman" panose="02020603050405020304" pitchFamily="18" charset="0"/>
              </a:endParaRPr>
            </a:p>
            <a:p>
              <a:pPr algn="ctr" eaLnBrk="1" hangingPunct="1">
                <a:lnSpc>
                  <a:spcPct val="120000"/>
                </a:lnSpc>
              </a:pPr>
              <a:r>
                <a:rPr lang="en-US" altLang="zh-CN" b="1" dirty="0">
                  <a:latin typeface="Times New Roman" panose="02020603050405020304" pitchFamily="18" charset="0"/>
                </a:rPr>
                <a:t>0</a:t>
              </a:r>
              <a:endParaRPr lang="en-US" altLang="zh-CN" b="1" dirty="0">
                <a:latin typeface="Times New Roman" panose="02020603050405020304" pitchFamily="18" charset="0"/>
              </a:endParaRPr>
            </a:p>
            <a:p>
              <a:pPr algn="ctr" eaLnBrk="1" hangingPunct="1">
                <a:lnSpc>
                  <a:spcPct val="120000"/>
                </a:lnSpc>
              </a:pPr>
              <a:r>
                <a:rPr lang="en-US" altLang="zh-CN" b="1" dirty="0">
                  <a:latin typeface="Times New Roman" panose="02020603050405020304" pitchFamily="18" charset="0"/>
                </a:rPr>
                <a:t>d</a:t>
              </a:r>
              <a:endParaRPr lang="en-US" altLang="zh-CN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4" name="Group 36"/>
          <p:cNvGrpSpPr/>
          <p:nvPr/>
        </p:nvGrpSpPr>
        <p:grpSpPr>
          <a:xfrm>
            <a:off x="4476750" y="776288"/>
            <a:ext cx="1162050" cy="1552575"/>
            <a:chOff x="2820" y="489"/>
            <a:chExt cx="732" cy="978"/>
          </a:xfrm>
        </p:grpSpPr>
        <p:sp>
          <p:nvSpPr>
            <p:cNvPr id="16390" name="Rectangle 33"/>
            <p:cNvSpPr/>
            <p:nvPr/>
          </p:nvSpPr>
          <p:spPr>
            <a:xfrm>
              <a:off x="2820" y="489"/>
              <a:ext cx="732" cy="978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dirty="0">
                  <a:latin typeface="Times New Roman" panose="02020603050405020304" pitchFamily="18" charset="0"/>
                </a:rPr>
                <a:t>Z=x</a:t>
              </a:r>
              <a:r>
                <a:rPr lang="en-US" altLang="zh-CN" baseline="-25000" dirty="0">
                  <a:latin typeface="Times New Roman" panose="02020603050405020304" pitchFamily="18" charset="0"/>
                </a:rPr>
                <a:t>1</a:t>
              </a:r>
              <a:r>
                <a:rPr lang="en-US" altLang="zh-CN" dirty="0">
                  <a:latin typeface="Times New Roman" panose="02020603050405020304" pitchFamily="18" charset="0"/>
                </a:rPr>
                <a:t>y</a:t>
              </a:r>
              <a:endParaRPr lang="en-US" altLang="zh-CN" dirty="0">
                <a:latin typeface="Times New Roman" panose="02020603050405020304" pitchFamily="18" charset="0"/>
              </a:endParaRPr>
            </a:p>
            <a:p>
              <a:pPr eaLnBrk="1" hangingPunct="1">
                <a:spcBef>
                  <a:spcPct val="50000"/>
                </a:spcBef>
              </a:pPr>
              <a:r>
                <a:rPr lang="en-US" altLang="zh-CN" dirty="0">
                  <a:latin typeface="Times New Roman" panose="02020603050405020304" pitchFamily="18" charset="0"/>
                </a:rPr>
                <a:t>S=x</a:t>
              </a:r>
              <a:r>
                <a:rPr lang="en-US" altLang="zh-CN" baseline="-25000" dirty="0">
                  <a:latin typeface="Times New Roman" panose="02020603050405020304" pitchFamily="18" charset="0"/>
                </a:rPr>
                <a:t>1</a:t>
              </a:r>
              <a:r>
                <a:rPr lang="en-US" altLang="zh-CN" dirty="0">
                  <a:latin typeface="Times New Roman" panose="02020603050405020304" pitchFamily="18" charset="0"/>
                </a:rPr>
                <a:t>y</a:t>
              </a:r>
              <a:endParaRPr lang="en-US" altLang="zh-CN" dirty="0">
                <a:latin typeface="Times New Roman" panose="02020603050405020304" pitchFamily="18" charset="0"/>
              </a:endParaRPr>
            </a:p>
            <a:p>
              <a:pPr eaLnBrk="1" hangingPunct="1">
                <a:spcBef>
                  <a:spcPct val="50000"/>
                </a:spcBef>
              </a:pPr>
              <a:r>
                <a:rPr lang="en-US" altLang="zh-CN" dirty="0">
                  <a:latin typeface="Times New Roman" panose="02020603050405020304" pitchFamily="18" charset="0"/>
                </a:rPr>
                <a:t>R=x</a:t>
              </a:r>
              <a:r>
                <a:rPr lang="en-US" altLang="zh-CN" baseline="-25000" dirty="0">
                  <a:latin typeface="Times New Roman" panose="02020603050405020304" pitchFamily="18" charset="0"/>
                </a:rPr>
                <a:t>2</a:t>
              </a:r>
              <a:r>
                <a:rPr lang="en-US" altLang="zh-CN" dirty="0">
                  <a:latin typeface="Times New Roman" panose="02020603050405020304" pitchFamily="18" charset="0"/>
                </a:rPr>
                <a:t>y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16391" name="Line 34"/>
            <p:cNvSpPr/>
            <p:nvPr/>
          </p:nvSpPr>
          <p:spPr>
            <a:xfrm>
              <a:off x="3240" y="924"/>
              <a:ext cx="96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sm" len="lg"/>
            </a:ln>
          </p:spPr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3" dur="2000"/>
                                        <p:tgtEl>
                                          <p:spTgt spid="179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9220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0226" name="Text Box 2"/>
          <p:cNvSpPr txBox="1"/>
          <p:nvPr/>
        </p:nvSpPr>
        <p:spPr>
          <a:xfrm>
            <a:off x="612775" y="628650"/>
            <a:ext cx="7627938" cy="1203325"/>
          </a:xfrm>
          <a:prstGeom prst="rect">
            <a:avLst/>
          </a:prstGeom>
          <a:noFill/>
          <a:ln w="19050">
            <a:noFill/>
          </a:ln>
        </p:spPr>
        <p:txBody>
          <a:bodyPr>
            <a:spAutoFit/>
          </a:bodyPr>
          <a:p>
            <a:pPr marL="381000" indent="-381000" algn="just" eaLnBrk="1" hangingPunct="1">
              <a:lnSpc>
                <a:spcPct val="130000"/>
              </a:lnSpc>
              <a:buChar char="•"/>
            </a:pPr>
            <a:r>
              <a:rPr lang="zh-CN" altLang="en-US" sz="2800" dirty="0">
                <a:latin typeface="Times New Roman" panose="02020603050405020304" pitchFamily="18" charset="0"/>
                <a:sym typeface="Monotype Sorts" pitchFamily="2" charset="2"/>
              </a:rPr>
              <a:t>作状态表和状态图</a:t>
            </a:r>
            <a:endParaRPr lang="zh-CN" altLang="en-US" sz="2800" dirty="0">
              <a:latin typeface="Times New Roman" panose="02020603050405020304" pitchFamily="18" charset="0"/>
              <a:sym typeface="Monotype Sorts" pitchFamily="2" charset="2"/>
            </a:endParaRPr>
          </a:p>
          <a:p>
            <a:pPr marL="381000" indent="-381000" algn="just" eaLnBrk="1" hangingPunct="1">
              <a:lnSpc>
                <a:spcPct val="130000"/>
              </a:lnSpc>
            </a:pPr>
            <a:r>
              <a:rPr lang="zh-CN" altLang="en-US" sz="2800" dirty="0">
                <a:latin typeface="Times New Roman" panose="02020603050405020304" pitchFamily="18" charset="0"/>
                <a:sym typeface="Monotype Sorts" pitchFamily="2" charset="2"/>
              </a:rPr>
              <a:t>	根据转移真值表可作出下列状态表和状态图</a:t>
            </a:r>
            <a:endParaRPr lang="zh-CN" altLang="en-US" sz="2800" dirty="0">
              <a:latin typeface="Times New Roman" panose="02020603050405020304" pitchFamily="18" charset="0"/>
            </a:endParaRPr>
          </a:p>
        </p:txBody>
      </p:sp>
      <p:grpSp>
        <p:nvGrpSpPr>
          <p:cNvPr id="2" name="Group 3"/>
          <p:cNvGrpSpPr/>
          <p:nvPr/>
        </p:nvGrpSpPr>
        <p:grpSpPr>
          <a:xfrm>
            <a:off x="685800" y="2057400"/>
            <a:ext cx="5178425" cy="2312988"/>
            <a:chOff x="1236" y="1512"/>
            <a:chExt cx="3262" cy="1457"/>
          </a:xfrm>
        </p:grpSpPr>
        <p:sp>
          <p:nvSpPr>
            <p:cNvPr id="17423" name="Text Box 4"/>
            <p:cNvSpPr txBox="1"/>
            <p:nvPr/>
          </p:nvSpPr>
          <p:spPr>
            <a:xfrm>
              <a:off x="1310" y="1580"/>
              <a:ext cx="676" cy="596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p>
              <a:pPr algn="ctr" eaLnBrk="1" hangingPunct="1"/>
              <a:r>
                <a:rPr lang="zh-CN" altLang="zh-CN" sz="2800" dirty="0">
                  <a:latin typeface="Times New Roman" panose="02020603050405020304" pitchFamily="18" charset="0"/>
                </a:rPr>
                <a:t>现  态</a:t>
              </a:r>
              <a:endParaRPr lang="zh-CN" altLang="zh-CN" sz="2800" dirty="0">
                <a:latin typeface="Times New Roman" panose="02020603050405020304" pitchFamily="18" charset="0"/>
              </a:endParaRPr>
            </a:p>
            <a:p>
              <a:pPr algn="ctr"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y</a:t>
              </a:r>
              <a:endParaRPr lang="en-US" altLang="zh-CN" sz="2800" dirty="0">
                <a:latin typeface="Times New Roman" panose="02020603050405020304" pitchFamily="18" charset="0"/>
              </a:endParaRPr>
            </a:p>
          </p:txBody>
        </p:sp>
        <p:sp>
          <p:nvSpPr>
            <p:cNvPr id="17424" name="Text Box 5"/>
            <p:cNvSpPr txBox="1"/>
            <p:nvPr/>
          </p:nvSpPr>
          <p:spPr>
            <a:xfrm>
              <a:off x="2090" y="1543"/>
              <a:ext cx="1960" cy="32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p>
              <a:pPr eaLnBrk="1" hangingPunct="1"/>
              <a:r>
                <a:rPr lang="zh-CN" altLang="en-US" sz="2800" dirty="0">
                  <a:latin typeface="Times New Roman" panose="02020603050405020304" pitchFamily="18" charset="0"/>
                </a:rPr>
                <a:t>次 态</a:t>
              </a:r>
              <a:r>
                <a:rPr lang="en-US" altLang="zh-CN" sz="2800" dirty="0">
                  <a:latin typeface="Times New Roman" panose="02020603050405020304" pitchFamily="18" charset="0"/>
                </a:rPr>
                <a:t>/</a:t>
              </a:r>
              <a:r>
                <a:rPr lang="zh-CN" altLang="en-US" sz="2800" dirty="0">
                  <a:latin typeface="Times New Roman" panose="02020603050405020304" pitchFamily="18" charset="0"/>
                </a:rPr>
                <a:t>输出</a:t>
              </a:r>
              <a:r>
                <a:rPr lang="en-US" altLang="zh-CN" sz="2800" dirty="0">
                  <a:latin typeface="Times New Roman" panose="02020603050405020304" pitchFamily="18" charset="0"/>
                </a:rPr>
                <a:t>(y</a:t>
              </a:r>
              <a:r>
                <a:rPr lang="en-US" altLang="zh-CN" sz="2800" baseline="30000" dirty="0">
                  <a:latin typeface="Times New Roman" panose="02020603050405020304" pitchFamily="18" charset="0"/>
                </a:rPr>
                <a:t>(</a:t>
              </a:r>
              <a:r>
                <a:rPr lang="en-US" altLang="zh-CN" sz="2800" i="1" baseline="30000" dirty="0">
                  <a:latin typeface="Times New Roman" panose="02020603050405020304" pitchFamily="18" charset="0"/>
                </a:rPr>
                <a:t>n</a:t>
              </a:r>
              <a:r>
                <a:rPr lang="en-US" altLang="zh-CN" sz="2800" baseline="30000" dirty="0">
                  <a:latin typeface="Times New Roman" panose="02020603050405020304" pitchFamily="18" charset="0"/>
                </a:rPr>
                <a:t>+1</a:t>
              </a:r>
              <a:r>
                <a:rPr lang="en-US" altLang="zh-CN" sz="2800" dirty="0">
                  <a:latin typeface="Times New Roman" panose="02020603050405020304" pitchFamily="18" charset="0"/>
                </a:rPr>
                <a:t>)/Z)</a:t>
              </a:r>
              <a:endParaRPr lang="en-US" altLang="zh-CN" sz="2800" dirty="0">
                <a:latin typeface="Times New Roman" panose="02020603050405020304" pitchFamily="18" charset="0"/>
              </a:endParaRPr>
            </a:p>
          </p:txBody>
        </p:sp>
        <p:sp>
          <p:nvSpPr>
            <p:cNvPr id="17425" name="Text Box 6"/>
            <p:cNvSpPr txBox="1"/>
            <p:nvPr/>
          </p:nvSpPr>
          <p:spPr>
            <a:xfrm>
              <a:off x="2486" y="1860"/>
              <a:ext cx="291" cy="327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800" i="1" dirty="0">
                  <a:latin typeface="Times New Roman" panose="02020603050405020304" pitchFamily="18" charset="0"/>
                </a:rPr>
                <a:t>x</a:t>
              </a:r>
              <a:r>
                <a:rPr lang="en-US" altLang="zh-CN" sz="2800" i="1" baseline="-25000" dirty="0">
                  <a:latin typeface="Times New Roman" panose="02020603050405020304" pitchFamily="18" charset="0"/>
                </a:rPr>
                <a:t>1</a:t>
              </a:r>
              <a:endParaRPr lang="en-US" altLang="zh-CN" sz="2800" dirty="0">
                <a:latin typeface="Times New Roman" panose="02020603050405020304" pitchFamily="18" charset="0"/>
              </a:endParaRPr>
            </a:p>
          </p:txBody>
        </p:sp>
        <p:sp>
          <p:nvSpPr>
            <p:cNvPr id="17426" name="Text Box 7"/>
            <p:cNvSpPr txBox="1"/>
            <p:nvPr/>
          </p:nvSpPr>
          <p:spPr>
            <a:xfrm>
              <a:off x="1467" y="2275"/>
              <a:ext cx="228" cy="596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p>
              <a:pPr algn="ctr"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0</a:t>
              </a:r>
              <a:endParaRPr lang="en-US" altLang="zh-CN" sz="2800" dirty="0">
                <a:latin typeface="Times New Roman" panose="02020603050405020304" pitchFamily="18" charset="0"/>
              </a:endParaRPr>
            </a:p>
            <a:p>
              <a:pPr algn="ctr"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1</a:t>
              </a:r>
              <a:endParaRPr lang="en-US" altLang="zh-CN" sz="2800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17427" name="Text Box 8"/>
            <p:cNvSpPr txBox="1"/>
            <p:nvPr/>
          </p:nvSpPr>
          <p:spPr>
            <a:xfrm>
              <a:off x="2364" y="2275"/>
              <a:ext cx="402" cy="596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p>
              <a:pPr algn="ctr"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1/0</a:t>
              </a:r>
              <a:endParaRPr lang="en-US" altLang="zh-CN" sz="2800" dirty="0">
                <a:latin typeface="Times New Roman" panose="02020603050405020304" pitchFamily="18" charset="0"/>
              </a:endParaRPr>
            </a:p>
            <a:p>
              <a:pPr algn="ctr"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1/1</a:t>
              </a:r>
              <a:endParaRPr lang="en-US" altLang="zh-CN" sz="2800" dirty="0">
                <a:latin typeface="Times New Roman" panose="02020603050405020304" pitchFamily="18" charset="0"/>
              </a:endParaRPr>
            </a:p>
          </p:txBody>
        </p:sp>
        <p:sp>
          <p:nvSpPr>
            <p:cNvPr id="17428" name="Rectangle 9"/>
            <p:cNvSpPr/>
            <p:nvPr/>
          </p:nvSpPr>
          <p:spPr>
            <a:xfrm>
              <a:off x="4382" y="1746"/>
              <a:ext cx="116" cy="327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p>
              <a:pPr eaLnBrk="1" hangingPunct="1"/>
              <a:endParaRPr lang="zh-CN" altLang="zh-CN" sz="2800" dirty="0">
                <a:latin typeface="Times New Roman" panose="02020603050405020304" pitchFamily="18" charset="0"/>
              </a:endParaRPr>
            </a:p>
          </p:txBody>
        </p:sp>
        <p:sp>
          <p:nvSpPr>
            <p:cNvPr id="17429" name="Text Box 10"/>
            <p:cNvSpPr txBox="1"/>
            <p:nvPr/>
          </p:nvSpPr>
          <p:spPr>
            <a:xfrm>
              <a:off x="3422" y="1860"/>
              <a:ext cx="291" cy="327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800" i="1" dirty="0">
                  <a:latin typeface="Times New Roman" panose="02020603050405020304" pitchFamily="18" charset="0"/>
                </a:rPr>
                <a:t>x</a:t>
              </a:r>
              <a:r>
                <a:rPr lang="en-US" altLang="zh-CN" sz="2800" i="1" baseline="-25000" dirty="0">
                  <a:latin typeface="Times New Roman" panose="02020603050405020304" pitchFamily="18" charset="0"/>
                </a:rPr>
                <a:t>2</a:t>
              </a:r>
              <a:endParaRPr lang="en-US" altLang="zh-CN" sz="2800" dirty="0">
                <a:latin typeface="Times New Roman" panose="02020603050405020304" pitchFamily="18" charset="0"/>
              </a:endParaRPr>
            </a:p>
          </p:txBody>
        </p:sp>
        <p:sp>
          <p:nvSpPr>
            <p:cNvPr id="17430" name="Line 11"/>
            <p:cNvSpPr/>
            <p:nvPr/>
          </p:nvSpPr>
          <p:spPr>
            <a:xfrm>
              <a:off x="2064" y="1524"/>
              <a:ext cx="0" cy="1445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sm" len="lg"/>
            </a:ln>
          </p:spPr>
        </p:sp>
        <p:sp>
          <p:nvSpPr>
            <p:cNvPr id="17431" name="Line 12"/>
            <p:cNvSpPr/>
            <p:nvPr/>
          </p:nvSpPr>
          <p:spPr>
            <a:xfrm>
              <a:off x="3024" y="1889"/>
              <a:ext cx="0" cy="1067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sm" len="lg"/>
            </a:ln>
          </p:spPr>
        </p:sp>
        <p:sp>
          <p:nvSpPr>
            <p:cNvPr id="17432" name="Line 13"/>
            <p:cNvSpPr/>
            <p:nvPr/>
          </p:nvSpPr>
          <p:spPr>
            <a:xfrm>
              <a:off x="1251" y="1512"/>
              <a:ext cx="2771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sm" len="lg"/>
            </a:ln>
          </p:spPr>
        </p:sp>
        <p:sp>
          <p:nvSpPr>
            <p:cNvPr id="17433" name="Line 14"/>
            <p:cNvSpPr/>
            <p:nvPr/>
          </p:nvSpPr>
          <p:spPr>
            <a:xfrm>
              <a:off x="1274" y="2951"/>
              <a:ext cx="2770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sm" len="lg"/>
            </a:ln>
          </p:spPr>
        </p:sp>
        <p:sp>
          <p:nvSpPr>
            <p:cNvPr id="17434" name="Line 15"/>
            <p:cNvSpPr/>
            <p:nvPr/>
          </p:nvSpPr>
          <p:spPr>
            <a:xfrm>
              <a:off x="2082" y="1869"/>
              <a:ext cx="1924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sm" len="lg"/>
            </a:ln>
          </p:spPr>
        </p:sp>
        <p:sp>
          <p:nvSpPr>
            <p:cNvPr id="17435" name="Line 16"/>
            <p:cNvSpPr/>
            <p:nvPr/>
          </p:nvSpPr>
          <p:spPr>
            <a:xfrm>
              <a:off x="1236" y="2193"/>
              <a:ext cx="2770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sm" len="lg"/>
            </a:ln>
          </p:spPr>
        </p:sp>
        <p:sp>
          <p:nvSpPr>
            <p:cNvPr id="17436" name="Text Box 17"/>
            <p:cNvSpPr txBox="1"/>
            <p:nvPr/>
          </p:nvSpPr>
          <p:spPr>
            <a:xfrm>
              <a:off x="3312" y="2271"/>
              <a:ext cx="402" cy="596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p>
              <a:pPr algn="ctr"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0/0</a:t>
              </a:r>
              <a:endParaRPr lang="en-US" altLang="zh-CN" sz="2800" dirty="0">
                <a:latin typeface="Times New Roman" panose="02020603050405020304" pitchFamily="18" charset="0"/>
              </a:endParaRPr>
            </a:p>
            <a:p>
              <a:pPr algn="ctr"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0/0</a:t>
              </a:r>
              <a:endParaRPr lang="en-US" altLang="zh-CN" sz="2800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" name="Group 18"/>
          <p:cNvGrpSpPr/>
          <p:nvPr/>
        </p:nvGrpSpPr>
        <p:grpSpPr>
          <a:xfrm>
            <a:off x="3108325" y="4676775"/>
            <a:ext cx="5133975" cy="1681163"/>
            <a:chOff x="2006" y="2838"/>
            <a:chExt cx="3234" cy="1059"/>
          </a:xfrm>
        </p:grpSpPr>
        <p:sp>
          <p:nvSpPr>
            <p:cNvPr id="17413" name="Oval 19"/>
            <p:cNvSpPr/>
            <p:nvPr/>
          </p:nvSpPr>
          <p:spPr>
            <a:xfrm>
              <a:off x="4428" y="3192"/>
              <a:ext cx="480" cy="480"/>
            </a:xfrm>
            <a:prstGeom prst="ellipse">
              <a:avLst/>
            </a:prstGeom>
            <a:solidFill>
              <a:srgbClr val="E1FDFF"/>
            </a:solidFill>
            <a:ln w="19050" cap="flat" cmpd="sng">
              <a:solidFill>
                <a:srgbClr val="FF00FF"/>
              </a:solidFill>
              <a:prstDash val="solid"/>
              <a:headEnd type="none" w="med" len="med"/>
              <a:tailEnd type="none" w="sm" len="lg"/>
            </a:ln>
          </p:spPr>
          <p:txBody>
            <a:bodyPr wrap="none" anchor="ctr" anchorCtr="0"/>
            <a:p>
              <a:pPr algn="ctr"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1</a:t>
              </a:r>
              <a:endParaRPr lang="en-US" altLang="zh-CN" sz="2800" dirty="0">
                <a:latin typeface="Times New Roman" panose="02020603050405020304" pitchFamily="18" charset="0"/>
              </a:endParaRPr>
            </a:p>
          </p:txBody>
        </p:sp>
        <p:sp>
          <p:nvSpPr>
            <p:cNvPr id="17414" name="Oval 20"/>
            <p:cNvSpPr/>
            <p:nvPr/>
          </p:nvSpPr>
          <p:spPr>
            <a:xfrm>
              <a:off x="2760" y="3192"/>
              <a:ext cx="480" cy="480"/>
            </a:xfrm>
            <a:prstGeom prst="ellipse">
              <a:avLst/>
            </a:prstGeom>
            <a:solidFill>
              <a:srgbClr val="E1FDFF"/>
            </a:solidFill>
            <a:ln w="19050" cap="flat" cmpd="sng">
              <a:solidFill>
                <a:srgbClr val="FF00FF"/>
              </a:solidFill>
              <a:prstDash val="solid"/>
              <a:headEnd type="none" w="med" len="med"/>
              <a:tailEnd type="none" w="sm" len="lg"/>
            </a:ln>
          </p:spPr>
          <p:txBody>
            <a:bodyPr wrap="none" anchor="ctr" anchorCtr="0"/>
            <a:p>
              <a:pPr algn="ctr"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0</a:t>
              </a:r>
              <a:endParaRPr lang="en-US" altLang="zh-CN" sz="2800" dirty="0">
                <a:latin typeface="Times New Roman" panose="02020603050405020304" pitchFamily="18" charset="0"/>
              </a:endParaRPr>
            </a:p>
          </p:txBody>
        </p:sp>
        <p:sp>
          <p:nvSpPr>
            <p:cNvPr id="17415" name="Freeform 21"/>
            <p:cNvSpPr/>
            <p:nvPr/>
          </p:nvSpPr>
          <p:spPr>
            <a:xfrm>
              <a:off x="3204" y="3148"/>
              <a:ext cx="1248" cy="152"/>
            </a:xfrm>
            <a:custGeom>
              <a:avLst/>
              <a:gdLst/>
              <a:ahLst/>
              <a:cxnLst>
                <a:cxn ang="0">
                  <a:pos x="0" y="152"/>
                </a:cxn>
                <a:cxn ang="0">
                  <a:pos x="516" y="20"/>
                </a:cxn>
                <a:cxn ang="0">
                  <a:pos x="876" y="32"/>
                </a:cxn>
                <a:cxn ang="0">
                  <a:pos x="1248" y="152"/>
                </a:cxn>
              </a:cxnLst>
              <a:pathLst>
                <a:path w="1248" h="152">
                  <a:moveTo>
                    <a:pt x="0" y="152"/>
                  </a:moveTo>
                  <a:cubicBezTo>
                    <a:pt x="185" y="96"/>
                    <a:pt x="370" y="40"/>
                    <a:pt x="516" y="20"/>
                  </a:cubicBezTo>
                  <a:cubicBezTo>
                    <a:pt x="662" y="0"/>
                    <a:pt x="754" y="10"/>
                    <a:pt x="876" y="32"/>
                  </a:cubicBezTo>
                  <a:cubicBezTo>
                    <a:pt x="998" y="54"/>
                    <a:pt x="1123" y="103"/>
                    <a:pt x="1248" y="152"/>
                  </a:cubicBezTo>
                </a:path>
              </a:pathLst>
            </a:custGeom>
            <a:noFill/>
            <a:ln w="38100" cap="flat" cmpd="sng">
              <a:solidFill>
                <a:srgbClr val="3333FF">
                  <a:alpha val="100000"/>
                </a:srgbClr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7416" name="Freeform 22"/>
            <p:cNvSpPr/>
            <p:nvPr/>
          </p:nvSpPr>
          <p:spPr>
            <a:xfrm>
              <a:off x="3252" y="3492"/>
              <a:ext cx="1176" cy="174"/>
            </a:xfrm>
            <a:custGeom>
              <a:avLst/>
              <a:gdLst/>
              <a:ahLst/>
              <a:cxnLst>
                <a:cxn ang="0">
                  <a:pos x="0" y="24"/>
                </a:cxn>
                <a:cxn ang="0">
                  <a:pos x="444" y="156"/>
                </a:cxn>
                <a:cxn ang="0">
                  <a:pos x="900" y="132"/>
                </a:cxn>
                <a:cxn ang="0">
                  <a:pos x="1176" y="0"/>
                </a:cxn>
              </a:cxnLst>
              <a:pathLst>
                <a:path w="1176" h="174">
                  <a:moveTo>
                    <a:pt x="0" y="24"/>
                  </a:moveTo>
                  <a:cubicBezTo>
                    <a:pt x="147" y="81"/>
                    <a:pt x="294" y="138"/>
                    <a:pt x="444" y="156"/>
                  </a:cubicBezTo>
                  <a:cubicBezTo>
                    <a:pt x="594" y="174"/>
                    <a:pt x="778" y="158"/>
                    <a:pt x="900" y="132"/>
                  </a:cubicBezTo>
                  <a:cubicBezTo>
                    <a:pt x="1022" y="106"/>
                    <a:pt x="1099" y="53"/>
                    <a:pt x="1176" y="0"/>
                  </a:cubicBezTo>
                </a:path>
              </a:pathLst>
            </a:custGeom>
            <a:noFill/>
            <a:ln w="38100" cap="flat" cmpd="sng">
              <a:solidFill>
                <a:srgbClr val="3333FF">
                  <a:alpha val="100000"/>
                </a:srgbClr>
              </a:solidFill>
              <a:prstDash val="solid"/>
              <a:round/>
              <a:headEnd type="triangle" w="med" len="med"/>
              <a:tailEnd type="none" w="sm" len="lg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7417" name="Freeform 23"/>
            <p:cNvSpPr/>
            <p:nvPr/>
          </p:nvSpPr>
          <p:spPr>
            <a:xfrm>
              <a:off x="4822" y="3178"/>
              <a:ext cx="418" cy="504"/>
            </a:xfrm>
            <a:custGeom>
              <a:avLst/>
              <a:gdLst/>
              <a:ahLst/>
              <a:cxnLst>
                <a:cxn ang="0">
                  <a:pos x="0" y="77"/>
                </a:cxn>
                <a:cxn ang="0">
                  <a:pos x="160" y="3"/>
                </a:cxn>
                <a:cxn ang="0">
                  <a:pos x="374" y="98"/>
                </a:cxn>
                <a:cxn ang="0">
                  <a:pos x="386" y="386"/>
                </a:cxn>
                <a:cxn ang="0">
                  <a:pos x="182" y="494"/>
                </a:cxn>
                <a:cxn ang="0">
                  <a:pos x="43" y="449"/>
                </a:cxn>
              </a:cxnLst>
              <a:pathLst>
                <a:path w="418" h="504">
                  <a:moveTo>
                    <a:pt x="0" y="77"/>
                  </a:moveTo>
                  <a:cubicBezTo>
                    <a:pt x="50" y="41"/>
                    <a:pt x="98" y="0"/>
                    <a:pt x="160" y="3"/>
                  </a:cubicBezTo>
                  <a:cubicBezTo>
                    <a:pt x="222" y="6"/>
                    <a:pt x="336" y="34"/>
                    <a:pt x="374" y="98"/>
                  </a:cubicBezTo>
                  <a:cubicBezTo>
                    <a:pt x="412" y="162"/>
                    <a:pt x="418" y="320"/>
                    <a:pt x="386" y="386"/>
                  </a:cubicBezTo>
                  <a:cubicBezTo>
                    <a:pt x="354" y="452"/>
                    <a:pt x="239" y="484"/>
                    <a:pt x="182" y="494"/>
                  </a:cubicBezTo>
                  <a:cubicBezTo>
                    <a:pt x="125" y="504"/>
                    <a:pt x="72" y="458"/>
                    <a:pt x="43" y="449"/>
                  </a:cubicBezTo>
                </a:path>
              </a:pathLst>
            </a:custGeom>
            <a:noFill/>
            <a:ln w="38100" cap="flat" cmpd="sng">
              <a:solidFill>
                <a:srgbClr val="3333FF">
                  <a:alpha val="100000"/>
                </a:srgbClr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7418" name="Text Box 24"/>
            <p:cNvSpPr txBox="1"/>
            <p:nvPr/>
          </p:nvSpPr>
          <p:spPr>
            <a:xfrm>
              <a:off x="3662" y="2862"/>
              <a:ext cx="465" cy="327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800" i="1" dirty="0">
                  <a:latin typeface="Times New Roman" panose="02020603050405020304" pitchFamily="18" charset="0"/>
                </a:rPr>
                <a:t>x</a:t>
              </a:r>
              <a:r>
                <a:rPr lang="en-US" altLang="zh-CN" sz="2800" baseline="-25000" dirty="0">
                  <a:latin typeface="Times New Roman" panose="02020603050405020304" pitchFamily="18" charset="0"/>
                </a:rPr>
                <a:t>1</a:t>
              </a:r>
              <a:r>
                <a:rPr lang="en-US" altLang="zh-CN" sz="2800" dirty="0">
                  <a:latin typeface="Times New Roman" panose="02020603050405020304" pitchFamily="18" charset="0"/>
                </a:rPr>
                <a:t>/0</a:t>
              </a:r>
              <a:endParaRPr lang="en-US" altLang="zh-CN" sz="2800" dirty="0">
                <a:latin typeface="Times New Roman" panose="02020603050405020304" pitchFamily="18" charset="0"/>
              </a:endParaRPr>
            </a:p>
          </p:txBody>
        </p:sp>
        <p:sp>
          <p:nvSpPr>
            <p:cNvPr id="17419" name="Text Box 25"/>
            <p:cNvSpPr txBox="1"/>
            <p:nvPr/>
          </p:nvSpPr>
          <p:spPr>
            <a:xfrm>
              <a:off x="3698" y="3570"/>
              <a:ext cx="465" cy="327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800" i="1" dirty="0">
                  <a:latin typeface="Times New Roman" panose="02020603050405020304" pitchFamily="18" charset="0"/>
                </a:rPr>
                <a:t>x</a:t>
              </a:r>
              <a:r>
                <a:rPr lang="en-US" altLang="zh-CN" sz="2800" baseline="-25000" dirty="0">
                  <a:latin typeface="Times New Roman" panose="02020603050405020304" pitchFamily="18" charset="0"/>
                </a:rPr>
                <a:t>2</a:t>
              </a:r>
              <a:r>
                <a:rPr lang="en-US" altLang="zh-CN" sz="2800" dirty="0">
                  <a:latin typeface="Times New Roman" panose="02020603050405020304" pitchFamily="18" charset="0"/>
                </a:rPr>
                <a:t>/0</a:t>
              </a:r>
              <a:endParaRPr lang="en-US" altLang="zh-CN" sz="2800" dirty="0">
                <a:latin typeface="Times New Roman" panose="02020603050405020304" pitchFamily="18" charset="0"/>
              </a:endParaRPr>
            </a:p>
          </p:txBody>
        </p:sp>
        <p:sp>
          <p:nvSpPr>
            <p:cNvPr id="17420" name="Text Box 26"/>
            <p:cNvSpPr txBox="1"/>
            <p:nvPr/>
          </p:nvSpPr>
          <p:spPr>
            <a:xfrm>
              <a:off x="2006" y="3258"/>
              <a:ext cx="465" cy="327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800" i="1" dirty="0">
                  <a:latin typeface="Times New Roman" panose="02020603050405020304" pitchFamily="18" charset="0"/>
                </a:rPr>
                <a:t>x</a:t>
              </a:r>
              <a:r>
                <a:rPr lang="en-US" altLang="zh-CN" sz="2800" baseline="-25000" dirty="0">
                  <a:latin typeface="Times New Roman" panose="02020603050405020304" pitchFamily="18" charset="0"/>
                </a:rPr>
                <a:t>2</a:t>
              </a:r>
              <a:r>
                <a:rPr lang="en-US" altLang="zh-CN" sz="2800" dirty="0">
                  <a:latin typeface="Times New Roman" panose="02020603050405020304" pitchFamily="18" charset="0"/>
                </a:rPr>
                <a:t>/0</a:t>
              </a:r>
              <a:endParaRPr lang="en-US" altLang="zh-CN" sz="2800" dirty="0">
                <a:latin typeface="Times New Roman" panose="02020603050405020304" pitchFamily="18" charset="0"/>
              </a:endParaRPr>
            </a:p>
          </p:txBody>
        </p:sp>
        <p:sp>
          <p:nvSpPr>
            <p:cNvPr id="17421" name="Text Box 27"/>
            <p:cNvSpPr txBox="1"/>
            <p:nvPr/>
          </p:nvSpPr>
          <p:spPr>
            <a:xfrm>
              <a:off x="4766" y="2838"/>
              <a:ext cx="465" cy="327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800" i="1" dirty="0">
                  <a:latin typeface="Times New Roman" panose="02020603050405020304" pitchFamily="18" charset="0"/>
                </a:rPr>
                <a:t>x</a:t>
              </a:r>
              <a:r>
                <a:rPr lang="en-US" altLang="zh-CN" sz="2800" baseline="-25000" dirty="0">
                  <a:latin typeface="Times New Roman" panose="02020603050405020304" pitchFamily="18" charset="0"/>
                </a:rPr>
                <a:t>1</a:t>
              </a:r>
              <a:r>
                <a:rPr lang="en-US" altLang="zh-CN" sz="2800" dirty="0">
                  <a:latin typeface="Times New Roman" panose="02020603050405020304" pitchFamily="18" charset="0"/>
                </a:rPr>
                <a:t>/1</a:t>
              </a:r>
              <a:endParaRPr lang="en-US" altLang="zh-CN" sz="2800" dirty="0">
                <a:latin typeface="Times New Roman" panose="02020603050405020304" pitchFamily="18" charset="0"/>
              </a:endParaRPr>
            </a:p>
          </p:txBody>
        </p:sp>
        <p:sp>
          <p:nvSpPr>
            <p:cNvPr id="17422" name="Freeform 28"/>
            <p:cNvSpPr/>
            <p:nvPr/>
          </p:nvSpPr>
          <p:spPr>
            <a:xfrm rot="-10501359">
              <a:off x="2434" y="3190"/>
              <a:ext cx="418" cy="504"/>
            </a:xfrm>
            <a:custGeom>
              <a:avLst/>
              <a:gdLst/>
              <a:ahLst/>
              <a:cxnLst>
                <a:cxn ang="0">
                  <a:pos x="0" y="77"/>
                </a:cxn>
                <a:cxn ang="0">
                  <a:pos x="160" y="3"/>
                </a:cxn>
                <a:cxn ang="0">
                  <a:pos x="374" y="98"/>
                </a:cxn>
                <a:cxn ang="0">
                  <a:pos x="386" y="386"/>
                </a:cxn>
                <a:cxn ang="0">
                  <a:pos x="182" y="494"/>
                </a:cxn>
                <a:cxn ang="0">
                  <a:pos x="43" y="449"/>
                </a:cxn>
              </a:cxnLst>
              <a:pathLst>
                <a:path w="418" h="504">
                  <a:moveTo>
                    <a:pt x="0" y="77"/>
                  </a:moveTo>
                  <a:cubicBezTo>
                    <a:pt x="50" y="41"/>
                    <a:pt x="98" y="0"/>
                    <a:pt x="160" y="3"/>
                  </a:cubicBezTo>
                  <a:cubicBezTo>
                    <a:pt x="222" y="6"/>
                    <a:pt x="336" y="34"/>
                    <a:pt x="374" y="98"/>
                  </a:cubicBezTo>
                  <a:cubicBezTo>
                    <a:pt x="412" y="162"/>
                    <a:pt x="418" y="320"/>
                    <a:pt x="386" y="386"/>
                  </a:cubicBezTo>
                  <a:cubicBezTo>
                    <a:pt x="354" y="452"/>
                    <a:pt x="239" y="484"/>
                    <a:pt x="182" y="494"/>
                  </a:cubicBezTo>
                  <a:cubicBezTo>
                    <a:pt x="125" y="504"/>
                    <a:pt x="72" y="458"/>
                    <a:pt x="43" y="449"/>
                  </a:cubicBezTo>
                </a:path>
              </a:pathLst>
            </a:custGeom>
            <a:noFill/>
            <a:ln w="38100" cap="flat" cmpd="sng">
              <a:solidFill>
                <a:srgbClr val="3333FF">
                  <a:alpha val="100000"/>
                </a:srgbClr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p>
              <a:endParaRPr lang="zh-CN" altLang="en-US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0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022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1250" name="Text Box 2"/>
          <p:cNvSpPr txBox="1"/>
          <p:nvPr/>
        </p:nvSpPr>
        <p:spPr>
          <a:xfrm>
            <a:off x="280988" y="725488"/>
            <a:ext cx="4219575" cy="519112"/>
          </a:xfrm>
          <a:prstGeom prst="rect">
            <a:avLst/>
          </a:prstGeom>
          <a:noFill/>
          <a:ln w="19050">
            <a:noFill/>
          </a:ln>
        </p:spPr>
        <p:txBody>
          <a:bodyPr wrap="none">
            <a:spAutoFit/>
          </a:bodyPr>
          <a:p>
            <a:pPr eaLnBrk="1" hangingPunct="1">
              <a:buChar char="•"/>
            </a:pPr>
            <a:r>
              <a:rPr lang="zh-CN" altLang="en-US" sz="2800" dirty="0">
                <a:latin typeface="Times New Roman" panose="02020603050405020304" pitchFamily="18" charset="0"/>
                <a:sym typeface="Monotype Sorts" pitchFamily="2" charset="2"/>
              </a:rPr>
              <a:t>画时间图和说明电路功能</a:t>
            </a:r>
            <a:endParaRPr lang="zh-CN" altLang="en-US" sz="2800" dirty="0">
              <a:latin typeface="Times New Roman" panose="02020603050405020304" pitchFamily="18" charset="0"/>
            </a:endParaRPr>
          </a:p>
        </p:txBody>
      </p:sp>
      <p:sp>
        <p:nvSpPr>
          <p:cNvPr id="18435" name="Text Box 16"/>
          <p:cNvSpPr txBox="1"/>
          <p:nvPr/>
        </p:nvSpPr>
        <p:spPr>
          <a:xfrm>
            <a:off x="971550" y="4895850"/>
            <a:ext cx="7239000" cy="519113"/>
          </a:xfrm>
          <a:prstGeom prst="rect">
            <a:avLst/>
          </a:prstGeom>
          <a:noFill/>
          <a:ln w="19050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endParaRPr lang="zh-CN" altLang="zh-CN" sz="2800" dirty="0">
              <a:latin typeface="Times New Roman" panose="02020603050405020304" pitchFamily="18" charset="0"/>
            </a:endParaRPr>
          </a:p>
        </p:txBody>
      </p:sp>
      <p:sp>
        <p:nvSpPr>
          <p:cNvPr id="181265" name="Text Box 17" descr="羊皮纸"/>
          <p:cNvSpPr txBox="1"/>
          <p:nvPr/>
        </p:nvSpPr>
        <p:spPr>
          <a:xfrm>
            <a:off x="727075" y="4333875"/>
            <a:ext cx="7874000" cy="1887538"/>
          </a:xfrm>
          <a:prstGeom prst="rect">
            <a:avLst/>
          </a:prstGeom>
          <a:blipFill rotWithShape="1">
            <a:blip r:embed="rId1"/>
          </a:blipFill>
          <a:ln w="19050">
            <a:noFill/>
          </a:ln>
        </p:spPr>
        <p:txBody>
          <a:bodyPr>
            <a:spAutoFit/>
          </a:bodyPr>
          <a:p>
            <a:pPr algn="just" defTabSz="762000" eaLnBrk="1" hangingPunct="1">
              <a:lnSpc>
                <a:spcPct val="140000"/>
              </a:lnSpc>
            </a:pPr>
            <a:r>
              <a:rPr lang="en-US" altLang="zh-CN" sz="2800" dirty="0">
                <a:latin typeface="Times New Roman" panose="02020603050405020304" pitchFamily="18" charset="0"/>
              </a:rPr>
              <a:t>	</a:t>
            </a:r>
            <a:r>
              <a:rPr lang="zh-CN" altLang="en-US" sz="2800" dirty="0">
                <a:latin typeface="Times New Roman" panose="02020603050405020304" pitchFamily="18" charset="0"/>
              </a:rPr>
              <a:t>该电路当连续输入两个或多个</a:t>
            </a:r>
            <a:r>
              <a:rPr lang="en-US" altLang="zh-CN" sz="2800" dirty="0">
                <a:latin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latin typeface="Times New Roman" panose="02020603050405020304" pitchFamily="18" charset="0"/>
              </a:rPr>
              <a:t>1</a:t>
            </a:r>
            <a:r>
              <a:rPr lang="zh-CN" altLang="zh-CN" sz="2800" dirty="0">
                <a:latin typeface="Times New Roman" panose="02020603050405020304" pitchFamily="18" charset="0"/>
              </a:rPr>
              <a:t>脉冲时，输出一个或多个脉冲，其它情况下输出为0。它是一个</a:t>
            </a:r>
            <a:r>
              <a:rPr lang="en-US" altLang="zh-CN" sz="2800" dirty="0">
                <a:latin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latin typeface="Times New Roman" panose="02020603050405020304" pitchFamily="18" charset="0"/>
              </a:rPr>
              <a:t>1</a:t>
            </a:r>
            <a:r>
              <a:rPr lang="zh-CN" altLang="zh-CN" sz="2800" dirty="0">
                <a:latin typeface="Times New Roman" panose="02020603050405020304" pitchFamily="18" charset="0"/>
              </a:rPr>
              <a:t>脉冲检测器。</a:t>
            </a:r>
            <a:endParaRPr lang="zh-CN" altLang="en-US" sz="2800" dirty="0">
              <a:latin typeface="Times New Roman" panose="02020603050405020304" pitchFamily="18" charset="0"/>
            </a:endParaRPr>
          </a:p>
        </p:txBody>
      </p:sp>
      <p:grpSp>
        <p:nvGrpSpPr>
          <p:cNvPr id="2" name="Group 31"/>
          <p:cNvGrpSpPr/>
          <p:nvPr/>
        </p:nvGrpSpPr>
        <p:grpSpPr>
          <a:xfrm>
            <a:off x="1416050" y="1749425"/>
            <a:ext cx="6096000" cy="2489200"/>
            <a:chOff x="892" y="1102"/>
            <a:chExt cx="3840" cy="1568"/>
          </a:xfrm>
        </p:grpSpPr>
        <p:pic>
          <p:nvPicPr>
            <p:cNvPr id="18449" name="Picture 3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92" y="1102"/>
              <a:ext cx="3840" cy="1536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8450" name="Line 25"/>
            <p:cNvSpPr/>
            <p:nvPr/>
          </p:nvSpPr>
          <p:spPr>
            <a:xfrm>
              <a:off x="1613" y="1194"/>
              <a:ext cx="0" cy="1440"/>
            </a:xfrm>
            <a:prstGeom prst="line">
              <a:avLst/>
            </a:prstGeom>
            <a:ln w="19050" cap="rnd" cmpd="sng">
              <a:solidFill>
                <a:schemeClr val="tx1"/>
              </a:solidFill>
              <a:prstDash val="sysDot"/>
              <a:headEnd type="none" w="med" len="med"/>
              <a:tailEnd type="none" w="lg" len="lg"/>
            </a:ln>
          </p:spPr>
        </p:sp>
        <p:sp>
          <p:nvSpPr>
            <p:cNvPr id="18451" name="Line 26"/>
            <p:cNvSpPr/>
            <p:nvPr/>
          </p:nvSpPr>
          <p:spPr>
            <a:xfrm>
              <a:off x="2383" y="1192"/>
              <a:ext cx="0" cy="1440"/>
            </a:xfrm>
            <a:prstGeom prst="line">
              <a:avLst/>
            </a:prstGeom>
            <a:ln w="19050" cap="rnd" cmpd="sng">
              <a:solidFill>
                <a:schemeClr val="tx1"/>
              </a:solidFill>
              <a:prstDash val="sysDot"/>
              <a:headEnd type="none" w="med" len="med"/>
              <a:tailEnd type="none" w="lg" len="lg"/>
            </a:ln>
          </p:spPr>
        </p:sp>
        <p:sp>
          <p:nvSpPr>
            <p:cNvPr id="18452" name="Line 27"/>
            <p:cNvSpPr/>
            <p:nvPr/>
          </p:nvSpPr>
          <p:spPr>
            <a:xfrm>
              <a:off x="2806" y="1182"/>
              <a:ext cx="0" cy="1440"/>
            </a:xfrm>
            <a:prstGeom prst="line">
              <a:avLst/>
            </a:prstGeom>
            <a:ln w="19050" cap="rnd" cmpd="sng">
              <a:solidFill>
                <a:schemeClr val="tx1"/>
              </a:solidFill>
              <a:prstDash val="sysDot"/>
              <a:headEnd type="none" w="med" len="med"/>
              <a:tailEnd type="none" w="lg" len="lg"/>
            </a:ln>
          </p:spPr>
        </p:sp>
        <p:sp>
          <p:nvSpPr>
            <p:cNvPr id="18453" name="Line 28"/>
            <p:cNvSpPr/>
            <p:nvPr/>
          </p:nvSpPr>
          <p:spPr>
            <a:xfrm>
              <a:off x="3660" y="1211"/>
              <a:ext cx="0" cy="1440"/>
            </a:xfrm>
            <a:prstGeom prst="line">
              <a:avLst/>
            </a:prstGeom>
            <a:ln w="19050" cap="rnd" cmpd="sng">
              <a:solidFill>
                <a:schemeClr val="tx1"/>
              </a:solidFill>
              <a:prstDash val="sysDot"/>
              <a:headEnd type="none" w="med" len="med"/>
              <a:tailEnd type="none" w="lg" len="lg"/>
            </a:ln>
          </p:spPr>
        </p:sp>
        <p:sp>
          <p:nvSpPr>
            <p:cNvPr id="18454" name="Line 29"/>
            <p:cNvSpPr/>
            <p:nvPr/>
          </p:nvSpPr>
          <p:spPr>
            <a:xfrm>
              <a:off x="3900" y="1230"/>
              <a:ext cx="0" cy="1440"/>
            </a:xfrm>
            <a:prstGeom prst="line">
              <a:avLst/>
            </a:prstGeom>
            <a:ln w="19050" cap="rnd" cmpd="sng">
              <a:solidFill>
                <a:schemeClr val="tx1"/>
              </a:solidFill>
              <a:prstDash val="sysDot"/>
              <a:headEnd type="none" w="med" len="med"/>
              <a:tailEnd type="none" w="lg" len="lg"/>
            </a:ln>
          </p:spPr>
        </p:sp>
      </p:grpSp>
      <p:grpSp>
        <p:nvGrpSpPr>
          <p:cNvPr id="3" name="Group 32"/>
          <p:cNvGrpSpPr/>
          <p:nvPr/>
        </p:nvGrpSpPr>
        <p:grpSpPr>
          <a:xfrm>
            <a:off x="4465638" y="177800"/>
            <a:ext cx="4678362" cy="1490663"/>
            <a:chOff x="2006" y="2838"/>
            <a:chExt cx="3277" cy="1122"/>
          </a:xfrm>
        </p:grpSpPr>
        <p:sp>
          <p:nvSpPr>
            <p:cNvPr id="18439" name="Oval 33"/>
            <p:cNvSpPr/>
            <p:nvPr/>
          </p:nvSpPr>
          <p:spPr>
            <a:xfrm>
              <a:off x="4428" y="3192"/>
              <a:ext cx="480" cy="480"/>
            </a:xfrm>
            <a:prstGeom prst="ellipse">
              <a:avLst/>
            </a:prstGeom>
            <a:solidFill>
              <a:srgbClr val="E1FDFF"/>
            </a:solidFill>
            <a:ln w="19050" cap="flat" cmpd="sng">
              <a:solidFill>
                <a:srgbClr val="FF00FF"/>
              </a:solidFill>
              <a:prstDash val="solid"/>
              <a:headEnd type="none" w="med" len="med"/>
              <a:tailEnd type="none" w="sm" len="lg"/>
            </a:ln>
          </p:spPr>
          <p:txBody>
            <a:bodyPr wrap="none" anchor="ctr" anchorCtr="0"/>
            <a:p>
              <a:pPr algn="ctr"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1</a:t>
              </a:r>
              <a:endParaRPr lang="en-US" altLang="zh-CN" sz="2800" dirty="0">
                <a:latin typeface="Times New Roman" panose="02020603050405020304" pitchFamily="18" charset="0"/>
              </a:endParaRPr>
            </a:p>
          </p:txBody>
        </p:sp>
        <p:sp>
          <p:nvSpPr>
            <p:cNvPr id="18440" name="Oval 34"/>
            <p:cNvSpPr/>
            <p:nvPr/>
          </p:nvSpPr>
          <p:spPr>
            <a:xfrm>
              <a:off x="2760" y="3192"/>
              <a:ext cx="480" cy="480"/>
            </a:xfrm>
            <a:prstGeom prst="ellipse">
              <a:avLst/>
            </a:prstGeom>
            <a:solidFill>
              <a:srgbClr val="E1FDFF"/>
            </a:solidFill>
            <a:ln w="19050" cap="flat" cmpd="sng">
              <a:solidFill>
                <a:srgbClr val="FF00FF"/>
              </a:solidFill>
              <a:prstDash val="solid"/>
              <a:headEnd type="none" w="med" len="med"/>
              <a:tailEnd type="none" w="sm" len="lg"/>
            </a:ln>
          </p:spPr>
          <p:txBody>
            <a:bodyPr wrap="none" anchor="ctr" anchorCtr="0"/>
            <a:p>
              <a:pPr algn="ctr"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0</a:t>
              </a:r>
              <a:endParaRPr lang="en-US" altLang="zh-CN" sz="2800" dirty="0">
                <a:latin typeface="Times New Roman" panose="02020603050405020304" pitchFamily="18" charset="0"/>
              </a:endParaRPr>
            </a:p>
          </p:txBody>
        </p:sp>
        <p:sp>
          <p:nvSpPr>
            <p:cNvPr id="18441" name="Freeform 35"/>
            <p:cNvSpPr/>
            <p:nvPr/>
          </p:nvSpPr>
          <p:spPr>
            <a:xfrm>
              <a:off x="3204" y="3148"/>
              <a:ext cx="1248" cy="152"/>
            </a:xfrm>
            <a:custGeom>
              <a:avLst/>
              <a:gdLst/>
              <a:ahLst/>
              <a:cxnLst>
                <a:cxn ang="0">
                  <a:pos x="0" y="152"/>
                </a:cxn>
                <a:cxn ang="0">
                  <a:pos x="516" y="20"/>
                </a:cxn>
                <a:cxn ang="0">
                  <a:pos x="876" y="32"/>
                </a:cxn>
                <a:cxn ang="0">
                  <a:pos x="1248" y="152"/>
                </a:cxn>
              </a:cxnLst>
              <a:pathLst>
                <a:path w="1248" h="152">
                  <a:moveTo>
                    <a:pt x="0" y="152"/>
                  </a:moveTo>
                  <a:cubicBezTo>
                    <a:pt x="185" y="96"/>
                    <a:pt x="370" y="40"/>
                    <a:pt x="516" y="20"/>
                  </a:cubicBezTo>
                  <a:cubicBezTo>
                    <a:pt x="662" y="0"/>
                    <a:pt x="754" y="10"/>
                    <a:pt x="876" y="32"/>
                  </a:cubicBezTo>
                  <a:cubicBezTo>
                    <a:pt x="998" y="54"/>
                    <a:pt x="1123" y="103"/>
                    <a:pt x="1248" y="152"/>
                  </a:cubicBezTo>
                </a:path>
              </a:pathLst>
            </a:custGeom>
            <a:noFill/>
            <a:ln w="38100" cap="flat" cmpd="sng">
              <a:solidFill>
                <a:srgbClr val="3333FF">
                  <a:alpha val="100000"/>
                </a:srgbClr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8442" name="Freeform 36"/>
            <p:cNvSpPr/>
            <p:nvPr/>
          </p:nvSpPr>
          <p:spPr>
            <a:xfrm>
              <a:off x="3252" y="3492"/>
              <a:ext cx="1176" cy="174"/>
            </a:xfrm>
            <a:custGeom>
              <a:avLst/>
              <a:gdLst/>
              <a:ahLst/>
              <a:cxnLst>
                <a:cxn ang="0">
                  <a:pos x="0" y="24"/>
                </a:cxn>
                <a:cxn ang="0">
                  <a:pos x="444" y="156"/>
                </a:cxn>
                <a:cxn ang="0">
                  <a:pos x="900" y="132"/>
                </a:cxn>
                <a:cxn ang="0">
                  <a:pos x="1176" y="0"/>
                </a:cxn>
              </a:cxnLst>
              <a:pathLst>
                <a:path w="1176" h="174">
                  <a:moveTo>
                    <a:pt x="0" y="24"/>
                  </a:moveTo>
                  <a:cubicBezTo>
                    <a:pt x="147" y="81"/>
                    <a:pt x="294" y="138"/>
                    <a:pt x="444" y="156"/>
                  </a:cubicBezTo>
                  <a:cubicBezTo>
                    <a:pt x="594" y="174"/>
                    <a:pt x="778" y="158"/>
                    <a:pt x="900" y="132"/>
                  </a:cubicBezTo>
                  <a:cubicBezTo>
                    <a:pt x="1022" y="106"/>
                    <a:pt x="1099" y="53"/>
                    <a:pt x="1176" y="0"/>
                  </a:cubicBezTo>
                </a:path>
              </a:pathLst>
            </a:custGeom>
            <a:noFill/>
            <a:ln w="38100" cap="flat" cmpd="sng">
              <a:solidFill>
                <a:srgbClr val="3333FF">
                  <a:alpha val="100000"/>
                </a:srgbClr>
              </a:solidFill>
              <a:prstDash val="solid"/>
              <a:round/>
              <a:headEnd type="triangle" w="med" len="med"/>
              <a:tailEnd type="none" w="sm" len="lg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8443" name="Freeform 37"/>
            <p:cNvSpPr/>
            <p:nvPr/>
          </p:nvSpPr>
          <p:spPr>
            <a:xfrm>
              <a:off x="4822" y="3178"/>
              <a:ext cx="418" cy="504"/>
            </a:xfrm>
            <a:custGeom>
              <a:avLst/>
              <a:gdLst/>
              <a:ahLst/>
              <a:cxnLst>
                <a:cxn ang="0">
                  <a:pos x="0" y="77"/>
                </a:cxn>
                <a:cxn ang="0">
                  <a:pos x="160" y="3"/>
                </a:cxn>
                <a:cxn ang="0">
                  <a:pos x="374" y="98"/>
                </a:cxn>
                <a:cxn ang="0">
                  <a:pos x="386" y="386"/>
                </a:cxn>
                <a:cxn ang="0">
                  <a:pos x="182" y="494"/>
                </a:cxn>
                <a:cxn ang="0">
                  <a:pos x="43" y="449"/>
                </a:cxn>
              </a:cxnLst>
              <a:pathLst>
                <a:path w="418" h="504">
                  <a:moveTo>
                    <a:pt x="0" y="77"/>
                  </a:moveTo>
                  <a:cubicBezTo>
                    <a:pt x="50" y="41"/>
                    <a:pt x="98" y="0"/>
                    <a:pt x="160" y="3"/>
                  </a:cubicBezTo>
                  <a:cubicBezTo>
                    <a:pt x="222" y="6"/>
                    <a:pt x="336" y="34"/>
                    <a:pt x="374" y="98"/>
                  </a:cubicBezTo>
                  <a:cubicBezTo>
                    <a:pt x="412" y="162"/>
                    <a:pt x="418" y="320"/>
                    <a:pt x="386" y="386"/>
                  </a:cubicBezTo>
                  <a:cubicBezTo>
                    <a:pt x="354" y="452"/>
                    <a:pt x="239" y="484"/>
                    <a:pt x="182" y="494"/>
                  </a:cubicBezTo>
                  <a:cubicBezTo>
                    <a:pt x="125" y="504"/>
                    <a:pt x="72" y="458"/>
                    <a:pt x="43" y="449"/>
                  </a:cubicBezTo>
                </a:path>
              </a:pathLst>
            </a:custGeom>
            <a:noFill/>
            <a:ln w="38100" cap="flat" cmpd="sng">
              <a:solidFill>
                <a:srgbClr val="3333FF">
                  <a:alpha val="100000"/>
                </a:srgbClr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8444" name="Text Box 38"/>
            <p:cNvSpPr txBox="1"/>
            <p:nvPr/>
          </p:nvSpPr>
          <p:spPr>
            <a:xfrm>
              <a:off x="3662" y="2862"/>
              <a:ext cx="517" cy="391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800" i="1" dirty="0">
                  <a:latin typeface="Times New Roman" panose="02020603050405020304" pitchFamily="18" charset="0"/>
                </a:rPr>
                <a:t>x</a:t>
              </a:r>
              <a:r>
                <a:rPr lang="en-US" altLang="zh-CN" sz="2800" baseline="-25000" dirty="0">
                  <a:latin typeface="Times New Roman" panose="02020603050405020304" pitchFamily="18" charset="0"/>
                </a:rPr>
                <a:t>1</a:t>
              </a:r>
              <a:r>
                <a:rPr lang="en-US" altLang="zh-CN" sz="2800" dirty="0">
                  <a:latin typeface="Times New Roman" panose="02020603050405020304" pitchFamily="18" charset="0"/>
                </a:rPr>
                <a:t>/0</a:t>
              </a:r>
              <a:endParaRPr lang="en-US" altLang="zh-CN" sz="2800" dirty="0">
                <a:latin typeface="Times New Roman" panose="02020603050405020304" pitchFamily="18" charset="0"/>
              </a:endParaRPr>
            </a:p>
          </p:txBody>
        </p:sp>
        <p:sp>
          <p:nvSpPr>
            <p:cNvPr id="18445" name="Text Box 39"/>
            <p:cNvSpPr txBox="1"/>
            <p:nvPr/>
          </p:nvSpPr>
          <p:spPr>
            <a:xfrm>
              <a:off x="3698" y="3569"/>
              <a:ext cx="518" cy="391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800" i="1" dirty="0">
                  <a:latin typeface="Times New Roman" panose="02020603050405020304" pitchFamily="18" charset="0"/>
                </a:rPr>
                <a:t>x</a:t>
              </a:r>
              <a:r>
                <a:rPr lang="en-US" altLang="zh-CN" sz="2800" baseline="-25000" dirty="0">
                  <a:latin typeface="Times New Roman" panose="02020603050405020304" pitchFamily="18" charset="0"/>
                </a:rPr>
                <a:t>2</a:t>
              </a:r>
              <a:r>
                <a:rPr lang="en-US" altLang="zh-CN" sz="2800" dirty="0">
                  <a:latin typeface="Times New Roman" panose="02020603050405020304" pitchFamily="18" charset="0"/>
                </a:rPr>
                <a:t>/0</a:t>
              </a:r>
              <a:endParaRPr lang="en-US" altLang="zh-CN" sz="2800" dirty="0">
                <a:latin typeface="Times New Roman" panose="02020603050405020304" pitchFamily="18" charset="0"/>
              </a:endParaRPr>
            </a:p>
          </p:txBody>
        </p:sp>
        <p:sp>
          <p:nvSpPr>
            <p:cNvPr id="18446" name="Text Box 40"/>
            <p:cNvSpPr txBox="1"/>
            <p:nvPr/>
          </p:nvSpPr>
          <p:spPr>
            <a:xfrm>
              <a:off x="2006" y="3258"/>
              <a:ext cx="517" cy="390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800" i="1" dirty="0">
                  <a:latin typeface="Times New Roman" panose="02020603050405020304" pitchFamily="18" charset="0"/>
                </a:rPr>
                <a:t>x</a:t>
              </a:r>
              <a:r>
                <a:rPr lang="en-US" altLang="zh-CN" sz="2800" baseline="-25000" dirty="0">
                  <a:latin typeface="Times New Roman" panose="02020603050405020304" pitchFamily="18" charset="0"/>
                </a:rPr>
                <a:t>2</a:t>
              </a:r>
              <a:r>
                <a:rPr lang="en-US" altLang="zh-CN" sz="2800" dirty="0">
                  <a:latin typeface="Times New Roman" panose="02020603050405020304" pitchFamily="18" charset="0"/>
                </a:rPr>
                <a:t>/0</a:t>
              </a:r>
              <a:endParaRPr lang="en-US" altLang="zh-CN" sz="2800" dirty="0">
                <a:latin typeface="Times New Roman" panose="02020603050405020304" pitchFamily="18" charset="0"/>
              </a:endParaRPr>
            </a:p>
          </p:txBody>
        </p:sp>
        <p:sp>
          <p:nvSpPr>
            <p:cNvPr id="18447" name="Text Box 41"/>
            <p:cNvSpPr txBox="1"/>
            <p:nvPr/>
          </p:nvSpPr>
          <p:spPr>
            <a:xfrm>
              <a:off x="4766" y="2838"/>
              <a:ext cx="517" cy="391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800" i="1" dirty="0">
                  <a:latin typeface="Times New Roman" panose="02020603050405020304" pitchFamily="18" charset="0"/>
                </a:rPr>
                <a:t>x</a:t>
              </a:r>
              <a:r>
                <a:rPr lang="en-US" altLang="zh-CN" sz="2800" baseline="-25000" dirty="0">
                  <a:latin typeface="Times New Roman" panose="02020603050405020304" pitchFamily="18" charset="0"/>
                </a:rPr>
                <a:t>1</a:t>
              </a:r>
              <a:r>
                <a:rPr lang="en-US" altLang="zh-CN" sz="2800" dirty="0">
                  <a:latin typeface="Times New Roman" panose="02020603050405020304" pitchFamily="18" charset="0"/>
                </a:rPr>
                <a:t>/1</a:t>
              </a:r>
              <a:endParaRPr lang="en-US" altLang="zh-CN" sz="2800" dirty="0">
                <a:latin typeface="Times New Roman" panose="02020603050405020304" pitchFamily="18" charset="0"/>
              </a:endParaRPr>
            </a:p>
          </p:txBody>
        </p:sp>
        <p:sp>
          <p:nvSpPr>
            <p:cNvPr id="18448" name="Freeform 42"/>
            <p:cNvSpPr/>
            <p:nvPr/>
          </p:nvSpPr>
          <p:spPr>
            <a:xfrm rot="-10501359">
              <a:off x="2434" y="3190"/>
              <a:ext cx="418" cy="504"/>
            </a:xfrm>
            <a:custGeom>
              <a:avLst/>
              <a:gdLst/>
              <a:ahLst/>
              <a:cxnLst>
                <a:cxn ang="0">
                  <a:pos x="0" y="77"/>
                </a:cxn>
                <a:cxn ang="0">
                  <a:pos x="160" y="3"/>
                </a:cxn>
                <a:cxn ang="0">
                  <a:pos x="374" y="98"/>
                </a:cxn>
                <a:cxn ang="0">
                  <a:pos x="386" y="386"/>
                </a:cxn>
                <a:cxn ang="0">
                  <a:pos x="182" y="494"/>
                </a:cxn>
                <a:cxn ang="0">
                  <a:pos x="43" y="449"/>
                </a:cxn>
              </a:cxnLst>
              <a:pathLst>
                <a:path w="418" h="504">
                  <a:moveTo>
                    <a:pt x="0" y="77"/>
                  </a:moveTo>
                  <a:cubicBezTo>
                    <a:pt x="50" y="41"/>
                    <a:pt x="98" y="0"/>
                    <a:pt x="160" y="3"/>
                  </a:cubicBezTo>
                  <a:cubicBezTo>
                    <a:pt x="222" y="6"/>
                    <a:pt x="336" y="34"/>
                    <a:pt x="374" y="98"/>
                  </a:cubicBezTo>
                  <a:cubicBezTo>
                    <a:pt x="412" y="162"/>
                    <a:pt x="418" y="320"/>
                    <a:pt x="386" y="386"/>
                  </a:cubicBezTo>
                  <a:cubicBezTo>
                    <a:pt x="354" y="452"/>
                    <a:pt x="239" y="484"/>
                    <a:pt x="182" y="494"/>
                  </a:cubicBezTo>
                  <a:cubicBezTo>
                    <a:pt x="125" y="504"/>
                    <a:pt x="72" y="458"/>
                    <a:pt x="43" y="449"/>
                  </a:cubicBezTo>
                </a:path>
              </a:pathLst>
            </a:custGeom>
            <a:noFill/>
            <a:ln w="38100" cap="flat" cmpd="sng">
              <a:solidFill>
                <a:srgbClr val="3333FF">
                  <a:alpha val="100000"/>
                </a:srgbClr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p>
              <a:endParaRPr lang="zh-CN" altLang="en-US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1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81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1250" grpId="0"/>
      <p:bldP spid="18126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8" name="Rectangle 4"/>
          <p:cNvSpPr/>
          <p:nvPr/>
        </p:nvSpPr>
        <p:spPr>
          <a:xfrm>
            <a:off x="0" y="677863"/>
            <a:ext cx="9226550" cy="579437"/>
          </a:xfrm>
          <a:prstGeom prst="rect">
            <a:avLst/>
          </a:prstGeom>
          <a:noFill/>
          <a:ln w="19050">
            <a:noFill/>
          </a:ln>
        </p:spPr>
        <p:txBody>
          <a:bodyPr wrap="none" anchor="ctr" anchorCtr="0">
            <a:spAutoFit/>
          </a:bodyPr>
          <a:p>
            <a:pPr eaLnBrk="1" hangingPunct="1"/>
            <a:r>
              <a:rPr lang="zh-CN" altLang="en-US" sz="3200" dirty="0">
                <a:latin typeface="Times New Roman" panose="02020603050405020304" pitchFamily="18" charset="0"/>
              </a:rPr>
              <a:t>例：试分析下图所示的脉冲型异步时序逻辑电路。 </a:t>
            </a:r>
            <a:endParaRPr lang="zh-CN" altLang="en-US" sz="3200" dirty="0">
              <a:latin typeface="Times New Roman" panose="02020603050405020304" pitchFamily="18" charset="0"/>
            </a:endParaRPr>
          </a:p>
        </p:txBody>
      </p:sp>
      <p:sp>
        <p:nvSpPr>
          <p:cNvPr id="19459" name="Rectangle 8"/>
          <p:cNvSpPr/>
          <p:nvPr/>
        </p:nvSpPr>
        <p:spPr>
          <a:xfrm>
            <a:off x="0" y="2867025"/>
            <a:ext cx="831850" cy="769938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 algn="ctr" eaLnBrk="1" hangingPunct="1"/>
            <a:r>
              <a:rPr lang="en-US" altLang="zh-CN" sz="3600" i="1" dirty="0">
                <a:latin typeface="Times New Roman" panose="02020603050405020304" pitchFamily="18" charset="0"/>
              </a:rPr>
              <a:t>X</a:t>
            </a:r>
            <a:endParaRPr lang="en-US" altLang="zh-CN" sz="7200" dirty="0">
              <a:latin typeface="Times New Roman" panose="02020603050405020304" pitchFamily="18" charset="0"/>
            </a:endParaRPr>
          </a:p>
        </p:txBody>
      </p:sp>
      <p:sp>
        <p:nvSpPr>
          <p:cNvPr id="19460" name="Text Box 45"/>
          <p:cNvSpPr txBox="1"/>
          <p:nvPr/>
        </p:nvSpPr>
        <p:spPr>
          <a:xfrm>
            <a:off x="3779838" y="5670550"/>
            <a:ext cx="184150" cy="11874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algn="ctr" eaLnBrk="1" hangingPunct="1"/>
            <a:endParaRPr lang="zh-CN" altLang="zh-CN" sz="7200" dirty="0">
              <a:latin typeface="Times New Roman" panose="02020603050405020304" pitchFamily="18" charset="0"/>
            </a:endParaRPr>
          </a:p>
        </p:txBody>
      </p:sp>
      <p:grpSp>
        <p:nvGrpSpPr>
          <p:cNvPr id="19461" name="Group 56"/>
          <p:cNvGrpSpPr/>
          <p:nvPr/>
        </p:nvGrpSpPr>
        <p:grpSpPr>
          <a:xfrm>
            <a:off x="738188" y="1890713"/>
            <a:ext cx="8151812" cy="3733800"/>
            <a:chOff x="465" y="1191"/>
            <a:chExt cx="5135" cy="2352"/>
          </a:xfrm>
        </p:grpSpPr>
        <p:sp>
          <p:nvSpPr>
            <p:cNvPr id="19462" name="Rectangle 6"/>
            <p:cNvSpPr/>
            <p:nvPr/>
          </p:nvSpPr>
          <p:spPr>
            <a:xfrm>
              <a:off x="5193" y="1542"/>
              <a:ext cx="407" cy="323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/>
            <a:p>
              <a:pPr algn="ctr" eaLnBrk="1" hangingPunct="1">
                <a:lnSpc>
                  <a:spcPct val="96000"/>
                </a:lnSpc>
              </a:pPr>
              <a:r>
                <a:rPr lang="en-US" altLang="zh-CN" sz="3600" i="1" dirty="0">
                  <a:latin typeface="Times New Roman" panose="02020603050405020304" pitchFamily="18" charset="0"/>
                </a:rPr>
                <a:t>Z</a:t>
              </a:r>
              <a:endParaRPr lang="en-US" altLang="zh-CN" sz="7200" dirty="0">
                <a:latin typeface="Times New Roman" panose="02020603050405020304" pitchFamily="18" charset="0"/>
              </a:endParaRPr>
            </a:p>
          </p:txBody>
        </p:sp>
        <p:sp>
          <p:nvSpPr>
            <p:cNvPr id="19463" name="Rectangle 7"/>
            <p:cNvSpPr/>
            <p:nvPr/>
          </p:nvSpPr>
          <p:spPr>
            <a:xfrm>
              <a:off x="1853" y="1398"/>
              <a:ext cx="407" cy="406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/>
            <a:p>
              <a:pPr algn="ctr" eaLnBrk="1" hangingPunct="1">
                <a:lnSpc>
                  <a:spcPct val="96000"/>
                </a:lnSpc>
              </a:pPr>
              <a:r>
                <a:rPr lang="en-US" altLang="zh-CN" sz="2800" i="1" dirty="0">
                  <a:latin typeface="Times New Roman" panose="02020603050405020304" pitchFamily="18" charset="0"/>
                </a:rPr>
                <a:t>Q</a:t>
              </a:r>
              <a:r>
                <a:rPr lang="en-US" altLang="zh-CN" sz="2800" baseline="-25000" dirty="0">
                  <a:latin typeface="Times New Roman" panose="02020603050405020304" pitchFamily="18" charset="0"/>
                </a:rPr>
                <a:t>0</a:t>
              </a:r>
              <a:endParaRPr lang="en-US" altLang="zh-CN" sz="6000" dirty="0">
                <a:latin typeface="Times New Roman" panose="02020603050405020304" pitchFamily="18" charset="0"/>
              </a:endParaRPr>
            </a:p>
          </p:txBody>
        </p:sp>
        <p:sp>
          <p:nvSpPr>
            <p:cNvPr id="19464" name="Rectangle 9"/>
            <p:cNvSpPr/>
            <p:nvPr/>
          </p:nvSpPr>
          <p:spPr>
            <a:xfrm>
              <a:off x="1233" y="1507"/>
              <a:ext cx="702" cy="1073"/>
            </a:xfrm>
            <a:prstGeom prst="rect">
              <a:avLst/>
            </a:prstGeom>
            <a:solidFill>
              <a:srgbClr val="CCFFFF"/>
            </a:solidFill>
            <a:ln w="9525" cap="flat" cmpd="sng">
              <a:solidFill>
                <a:srgbClr val="0000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tIns="0" bIns="0"/>
            <a:p>
              <a:pPr algn="just" eaLnBrk="1" hangingPunct="1"/>
              <a:r>
                <a:rPr lang="en-US" altLang="zh-CN" sz="3600" i="1" dirty="0">
                  <a:latin typeface="Times New Roman" panose="02020603050405020304" pitchFamily="18" charset="0"/>
                </a:rPr>
                <a:t>J</a:t>
              </a:r>
              <a:r>
                <a:rPr lang="en-US" altLang="zh-CN" sz="3600" baseline="-25000" dirty="0">
                  <a:latin typeface="Times New Roman" panose="02020603050405020304" pitchFamily="18" charset="0"/>
                </a:rPr>
                <a:t>0</a:t>
              </a:r>
              <a:endParaRPr lang="en-US" altLang="zh-CN" sz="3600" dirty="0">
                <a:latin typeface="Times New Roman" panose="02020603050405020304" pitchFamily="18" charset="0"/>
              </a:endParaRPr>
            </a:p>
            <a:p>
              <a:pPr algn="just" eaLnBrk="1" hangingPunct="1"/>
              <a:r>
                <a:rPr lang="en-US" altLang="zh-CN" sz="3600" i="1" dirty="0">
                  <a:latin typeface="Times New Roman" panose="02020603050405020304" pitchFamily="18" charset="0"/>
                </a:rPr>
                <a:t> CP</a:t>
              </a:r>
              <a:r>
                <a:rPr lang="en-US" altLang="zh-CN" sz="3600" baseline="-25000" dirty="0">
                  <a:latin typeface="Times New Roman" panose="02020603050405020304" pitchFamily="18" charset="0"/>
                </a:rPr>
                <a:t>0</a:t>
              </a:r>
              <a:endParaRPr lang="en-US" altLang="zh-CN" sz="3600" dirty="0">
                <a:latin typeface="Times New Roman" panose="02020603050405020304" pitchFamily="18" charset="0"/>
              </a:endParaRPr>
            </a:p>
            <a:p>
              <a:pPr algn="just" eaLnBrk="1" hangingPunct="1"/>
              <a:r>
                <a:rPr lang="en-US" altLang="zh-CN" sz="3600" i="1" dirty="0">
                  <a:latin typeface="Times New Roman" panose="02020603050405020304" pitchFamily="18" charset="0"/>
                </a:rPr>
                <a:t>K</a:t>
              </a:r>
              <a:r>
                <a:rPr lang="en-US" altLang="zh-CN" sz="3600" baseline="-25000" dirty="0">
                  <a:latin typeface="Times New Roman" panose="02020603050405020304" pitchFamily="18" charset="0"/>
                </a:rPr>
                <a:t>0</a:t>
              </a:r>
              <a:endParaRPr lang="en-US" altLang="zh-CN" sz="7200" dirty="0">
                <a:latin typeface="Times New Roman" panose="02020603050405020304" pitchFamily="18" charset="0"/>
              </a:endParaRPr>
            </a:p>
          </p:txBody>
        </p:sp>
        <p:sp>
          <p:nvSpPr>
            <p:cNvPr id="19465" name="Freeform 10"/>
            <p:cNvSpPr/>
            <p:nvPr/>
          </p:nvSpPr>
          <p:spPr>
            <a:xfrm>
              <a:off x="1246" y="2016"/>
              <a:ext cx="121" cy="9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21" y="48"/>
                </a:cxn>
                <a:cxn ang="0">
                  <a:pos x="1" y="98"/>
                </a:cxn>
              </a:cxnLst>
              <a:pathLst>
                <a:path w="240" h="312">
                  <a:moveTo>
                    <a:pt x="0" y="0"/>
                  </a:moveTo>
                  <a:lnTo>
                    <a:pt x="240" y="153"/>
                  </a:lnTo>
                  <a:lnTo>
                    <a:pt x="1" y="312"/>
                  </a:lnTo>
                </a:path>
              </a:pathLst>
            </a:custGeom>
            <a:noFill/>
            <a:ln w="9525" cap="flat" cmpd="sng">
              <a:solidFill>
                <a:srgbClr val="0000FF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9466" name="Oval 11"/>
            <p:cNvSpPr/>
            <p:nvPr/>
          </p:nvSpPr>
          <p:spPr>
            <a:xfrm>
              <a:off x="1175" y="2037"/>
              <a:ext cx="56" cy="65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19467" name="Line 12"/>
            <p:cNvSpPr/>
            <p:nvPr/>
          </p:nvSpPr>
          <p:spPr>
            <a:xfrm>
              <a:off x="465" y="2068"/>
              <a:ext cx="699" cy="0"/>
            </a:xfrm>
            <a:prstGeom prst="line">
              <a:avLst/>
            </a:prstGeom>
            <a:ln w="9525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9468" name="Oval 13"/>
            <p:cNvSpPr/>
            <p:nvPr/>
          </p:nvSpPr>
          <p:spPr>
            <a:xfrm>
              <a:off x="1937" y="2419"/>
              <a:ext cx="56" cy="65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19469" name="Rectangle 14"/>
            <p:cNvSpPr/>
            <p:nvPr/>
          </p:nvSpPr>
          <p:spPr>
            <a:xfrm>
              <a:off x="3692" y="1525"/>
              <a:ext cx="701" cy="1072"/>
            </a:xfrm>
            <a:prstGeom prst="rect">
              <a:avLst/>
            </a:prstGeom>
            <a:solidFill>
              <a:srgbClr val="CCFFFF"/>
            </a:solidFill>
            <a:ln w="9525" cap="flat" cmpd="sng">
              <a:solidFill>
                <a:srgbClr val="0000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tIns="0" bIns="0"/>
            <a:p>
              <a:pPr algn="just" eaLnBrk="1" hangingPunct="1"/>
              <a:r>
                <a:rPr lang="en-US" altLang="zh-CN" sz="3600" i="1" dirty="0">
                  <a:latin typeface="Times New Roman" panose="02020603050405020304" pitchFamily="18" charset="0"/>
                </a:rPr>
                <a:t>J</a:t>
              </a:r>
              <a:r>
                <a:rPr lang="en-US" altLang="zh-CN" sz="3600" baseline="-25000" dirty="0">
                  <a:latin typeface="Times New Roman" panose="02020603050405020304" pitchFamily="18" charset="0"/>
                </a:rPr>
                <a:t>1</a:t>
              </a:r>
              <a:endParaRPr lang="en-US" altLang="zh-CN" sz="3600" dirty="0">
                <a:latin typeface="Times New Roman" panose="02020603050405020304" pitchFamily="18" charset="0"/>
              </a:endParaRPr>
            </a:p>
            <a:p>
              <a:pPr algn="just" eaLnBrk="1" hangingPunct="1"/>
              <a:r>
                <a:rPr lang="en-US" altLang="zh-CN" sz="3600" i="1" dirty="0">
                  <a:latin typeface="Times New Roman" panose="02020603050405020304" pitchFamily="18" charset="0"/>
                </a:rPr>
                <a:t> CP</a:t>
              </a:r>
              <a:r>
                <a:rPr lang="en-US" altLang="zh-CN" sz="3600" baseline="-25000" dirty="0">
                  <a:latin typeface="Times New Roman" panose="02020603050405020304" pitchFamily="18" charset="0"/>
                </a:rPr>
                <a:t>1</a:t>
              </a:r>
              <a:endParaRPr lang="en-US" altLang="zh-CN" sz="3600" dirty="0">
                <a:latin typeface="Times New Roman" panose="02020603050405020304" pitchFamily="18" charset="0"/>
              </a:endParaRPr>
            </a:p>
            <a:p>
              <a:pPr algn="just" eaLnBrk="1" hangingPunct="1"/>
              <a:r>
                <a:rPr lang="en-US" altLang="zh-CN" sz="3600" i="1" dirty="0">
                  <a:latin typeface="Times New Roman" panose="02020603050405020304" pitchFamily="18" charset="0"/>
                </a:rPr>
                <a:t>K</a:t>
              </a:r>
              <a:r>
                <a:rPr lang="en-US" altLang="zh-CN" sz="3600" baseline="-25000" dirty="0">
                  <a:latin typeface="Times New Roman" panose="02020603050405020304" pitchFamily="18" charset="0"/>
                </a:rPr>
                <a:t>1</a:t>
              </a:r>
              <a:endParaRPr lang="en-US" altLang="zh-CN" sz="7200" dirty="0">
                <a:latin typeface="Times New Roman" panose="02020603050405020304" pitchFamily="18" charset="0"/>
              </a:endParaRPr>
            </a:p>
          </p:txBody>
        </p:sp>
        <p:sp>
          <p:nvSpPr>
            <p:cNvPr id="19470" name="Freeform 15"/>
            <p:cNvSpPr/>
            <p:nvPr/>
          </p:nvSpPr>
          <p:spPr>
            <a:xfrm>
              <a:off x="3704" y="2033"/>
              <a:ext cx="121" cy="9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21" y="48"/>
                </a:cxn>
                <a:cxn ang="0">
                  <a:pos x="1" y="98"/>
                </a:cxn>
              </a:cxnLst>
              <a:pathLst>
                <a:path w="240" h="312">
                  <a:moveTo>
                    <a:pt x="0" y="0"/>
                  </a:moveTo>
                  <a:lnTo>
                    <a:pt x="240" y="153"/>
                  </a:lnTo>
                  <a:lnTo>
                    <a:pt x="1" y="312"/>
                  </a:lnTo>
                </a:path>
              </a:pathLst>
            </a:custGeom>
            <a:noFill/>
            <a:ln w="9525" cap="flat" cmpd="sng">
              <a:solidFill>
                <a:srgbClr val="0000FF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9471" name="Oval 16"/>
            <p:cNvSpPr/>
            <p:nvPr/>
          </p:nvSpPr>
          <p:spPr>
            <a:xfrm>
              <a:off x="3633" y="2040"/>
              <a:ext cx="56" cy="66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19472" name="Line 17"/>
            <p:cNvSpPr/>
            <p:nvPr/>
          </p:nvSpPr>
          <p:spPr>
            <a:xfrm flipV="1">
              <a:off x="3487" y="2068"/>
              <a:ext cx="134" cy="0"/>
            </a:xfrm>
            <a:prstGeom prst="line">
              <a:avLst/>
            </a:prstGeom>
            <a:ln w="9525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9473" name="Oval 18"/>
            <p:cNvSpPr/>
            <p:nvPr/>
          </p:nvSpPr>
          <p:spPr>
            <a:xfrm>
              <a:off x="4396" y="2419"/>
              <a:ext cx="55" cy="65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19474" name="Line 19"/>
            <p:cNvSpPr/>
            <p:nvPr/>
          </p:nvSpPr>
          <p:spPr>
            <a:xfrm flipH="1">
              <a:off x="873" y="1686"/>
              <a:ext cx="349" cy="0"/>
            </a:xfrm>
            <a:prstGeom prst="line">
              <a:avLst/>
            </a:prstGeom>
            <a:ln w="9525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9475" name="Line 20"/>
            <p:cNvSpPr/>
            <p:nvPr/>
          </p:nvSpPr>
          <p:spPr>
            <a:xfrm flipV="1">
              <a:off x="873" y="1201"/>
              <a:ext cx="0" cy="475"/>
            </a:xfrm>
            <a:prstGeom prst="line">
              <a:avLst/>
            </a:prstGeom>
            <a:ln w="9525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9476" name="Line 21"/>
            <p:cNvSpPr/>
            <p:nvPr/>
          </p:nvSpPr>
          <p:spPr>
            <a:xfrm>
              <a:off x="873" y="1191"/>
              <a:ext cx="3760" cy="0"/>
            </a:xfrm>
            <a:prstGeom prst="line">
              <a:avLst/>
            </a:prstGeom>
            <a:ln w="9525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9477" name="Line 22"/>
            <p:cNvSpPr/>
            <p:nvPr/>
          </p:nvSpPr>
          <p:spPr>
            <a:xfrm>
              <a:off x="4393" y="1703"/>
              <a:ext cx="872" cy="0"/>
            </a:xfrm>
            <a:prstGeom prst="line">
              <a:avLst/>
            </a:prstGeom>
            <a:ln w="9525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9478" name="Line 23"/>
            <p:cNvSpPr/>
            <p:nvPr/>
          </p:nvSpPr>
          <p:spPr>
            <a:xfrm>
              <a:off x="4465" y="2453"/>
              <a:ext cx="175" cy="0"/>
            </a:xfrm>
            <a:prstGeom prst="line">
              <a:avLst/>
            </a:prstGeom>
            <a:ln w="9525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9479" name="Line 24"/>
            <p:cNvSpPr/>
            <p:nvPr/>
          </p:nvSpPr>
          <p:spPr>
            <a:xfrm>
              <a:off x="4643" y="1191"/>
              <a:ext cx="0" cy="1254"/>
            </a:xfrm>
            <a:prstGeom prst="line">
              <a:avLst/>
            </a:prstGeom>
            <a:ln w="9525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9480" name="Line 25"/>
            <p:cNvSpPr/>
            <p:nvPr/>
          </p:nvSpPr>
          <p:spPr>
            <a:xfrm>
              <a:off x="2123" y="2453"/>
              <a:ext cx="159" cy="0"/>
            </a:xfrm>
            <a:prstGeom prst="line">
              <a:avLst/>
            </a:prstGeom>
            <a:ln w="9525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9481" name="Line 26"/>
            <p:cNvSpPr/>
            <p:nvPr/>
          </p:nvSpPr>
          <p:spPr>
            <a:xfrm>
              <a:off x="2108" y="2707"/>
              <a:ext cx="0" cy="368"/>
            </a:xfrm>
            <a:prstGeom prst="line">
              <a:avLst/>
            </a:prstGeom>
            <a:ln w="9525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19482" name="Group 27"/>
            <p:cNvGrpSpPr/>
            <p:nvPr/>
          </p:nvGrpSpPr>
          <p:grpSpPr>
            <a:xfrm>
              <a:off x="2961" y="2604"/>
              <a:ext cx="408" cy="495"/>
              <a:chOff x="5492" y="9768"/>
              <a:chExt cx="420" cy="432"/>
            </a:xfrm>
          </p:grpSpPr>
          <p:sp>
            <p:nvSpPr>
              <p:cNvPr id="19506" name="Rectangle 28"/>
              <p:cNvSpPr/>
              <p:nvPr/>
            </p:nvSpPr>
            <p:spPr>
              <a:xfrm>
                <a:off x="5492" y="9768"/>
                <a:ext cx="360" cy="432"/>
              </a:xfrm>
              <a:prstGeom prst="rect">
                <a:avLst/>
              </a:prstGeom>
              <a:solidFill>
                <a:srgbClr val="CCFFFF"/>
              </a:solidFill>
              <a:ln w="9525" cap="flat" cmpd="sng">
                <a:solidFill>
                  <a:srgbClr val="0000FF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0" tIns="0" rIns="0" bIns="0"/>
              <a:p>
                <a:pPr algn="ctr" eaLnBrk="1" hangingPunct="1"/>
                <a:r>
                  <a:rPr lang="en-US" altLang="zh-CN" sz="3600" dirty="0">
                    <a:latin typeface="Times New Roman" panose="02020603050405020304" pitchFamily="18" charset="0"/>
                  </a:rPr>
                  <a:t>&amp;</a:t>
                </a:r>
                <a:endParaRPr lang="en-US" altLang="zh-CN" sz="72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9507" name="Oval 29"/>
              <p:cNvSpPr/>
              <p:nvPr/>
            </p:nvSpPr>
            <p:spPr>
              <a:xfrm>
                <a:off x="5855" y="9939"/>
                <a:ext cx="57" cy="57"/>
              </a:xfrm>
              <a:prstGeom prst="ellipse">
                <a:avLst/>
              </a:prstGeom>
              <a:solidFill>
                <a:srgbClr val="FFFFFF"/>
              </a:solidFill>
              <a:ln w="9525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p>
                <a:pPr eaLnBrk="1" hangingPunct="1"/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19483" name="Line 30"/>
            <p:cNvSpPr/>
            <p:nvPr/>
          </p:nvSpPr>
          <p:spPr>
            <a:xfrm>
              <a:off x="2120" y="2700"/>
              <a:ext cx="174" cy="0"/>
            </a:xfrm>
            <a:prstGeom prst="line">
              <a:avLst/>
            </a:prstGeom>
            <a:ln w="9525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9484" name="Line 31"/>
            <p:cNvSpPr/>
            <p:nvPr/>
          </p:nvSpPr>
          <p:spPr>
            <a:xfrm>
              <a:off x="3481" y="2082"/>
              <a:ext cx="0" cy="742"/>
            </a:xfrm>
            <a:prstGeom prst="line">
              <a:avLst/>
            </a:prstGeom>
            <a:ln w="9525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19485" name="Group 32"/>
            <p:cNvGrpSpPr/>
            <p:nvPr/>
          </p:nvGrpSpPr>
          <p:grpSpPr>
            <a:xfrm>
              <a:off x="2288" y="2958"/>
              <a:ext cx="411" cy="496"/>
              <a:chOff x="4667" y="10641"/>
              <a:chExt cx="423" cy="432"/>
            </a:xfrm>
          </p:grpSpPr>
          <p:sp>
            <p:nvSpPr>
              <p:cNvPr id="19504" name="Rectangle 33"/>
              <p:cNvSpPr/>
              <p:nvPr/>
            </p:nvSpPr>
            <p:spPr>
              <a:xfrm>
                <a:off x="4667" y="10641"/>
                <a:ext cx="360" cy="432"/>
              </a:xfrm>
              <a:prstGeom prst="rect">
                <a:avLst/>
              </a:prstGeom>
              <a:solidFill>
                <a:srgbClr val="CCFFFF"/>
              </a:solidFill>
              <a:ln w="9525" cap="flat" cmpd="sng">
                <a:solidFill>
                  <a:srgbClr val="0000FF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0" tIns="0" rIns="0" bIns="0"/>
              <a:p>
                <a:pPr algn="ctr" eaLnBrk="1" hangingPunct="1"/>
                <a:r>
                  <a:rPr lang="en-US" altLang="zh-CN" sz="3600" dirty="0">
                    <a:latin typeface="Times New Roman" panose="02020603050405020304" pitchFamily="18" charset="0"/>
                  </a:rPr>
                  <a:t>&amp;</a:t>
                </a:r>
                <a:endParaRPr lang="en-US" altLang="zh-CN" sz="72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9505" name="Oval 34"/>
              <p:cNvSpPr/>
              <p:nvPr/>
            </p:nvSpPr>
            <p:spPr>
              <a:xfrm>
                <a:off x="5033" y="10833"/>
                <a:ext cx="57" cy="57"/>
              </a:xfrm>
              <a:prstGeom prst="ellipse">
                <a:avLst/>
              </a:prstGeom>
              <a:solidFill>
                <a:srgbClr val="FFFFFF"/>
              </a:solidFill>
              <a:ln w="9525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p>
                <a:pPr eaLnBrk="1" hangingPunct="1"/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19486" name="Line 35"/>
            <p:cNvSpPr/>
            <p:nvPr/>
          </p:nvSpPr>
          <p:spPr>
            <a:xfrm>
              <a:off x="3375" y="2838"/>
              <a:ext cx="104" cy="0"/>
            </a:xfrm>
            <a:prstGeom prst="line">
              <a:avLst/>
            </a:prstGeom>
            <a:ln w="9525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9487" name="Line 36"/>
            <p:cNvSpPr/>
            <p:nvPr/>
          </p:nvSpPr>
          <p:spPr>
            <a:xfrm flipH="1">
              <a:off x="800" y="3075"/>
              <a:ext cx="1473" cy="0"/>
            </a:xfrm>
            <a:prstGeom prst="line">
              <a:avLst/>
            </a:prstGeom>
            <a:ln w="9525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9488" name="Line 37"/>
            <p:cNvSpPr/>
            <p:nvPr/>
          </p:nvSpPr>
          <p:spPr>
            <a:xfrm flipH="1">
              <a:off x="787" y="2078"/>
              <a:ext cx="1" cy="1004"/>
            </a:xfrm>
            <a:prstGeom prst="line">
              <a:avLst/>
            </a:prstGeom>
            <a:ln w="9525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9489" name="Line 38"/>
            <p:cNvSpPr/>
            <p:nvPr/>
          </p:nvSpPr>
          <p:spPr>
            <a:xfrm>
              <a:off x="2079" y="3319"/>
              <a:ext cx="198" cy="0"/>
            </a:xfrm>
            <a:prstGeom prst="line">
              <a:avLst/>
            </a:prstGeom>
            <a:ln w="9525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9490" name="Line 39"/>
            <p:cNvSpPr/>
            <p:nvPr/>
          </p:nvSpPr>
          <p:spPr>
            <a:xfrm>
              <a:off x="2079" y="3337"/>
              <a:ext cx="0" cy="192"/>
            </a:xfrm>
            <a:prstGeom prst="line">
              <a:avLst/>
            </a:prstGeom>
            <a:ln w="9525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9491" name="Line 40"/>
            <p:cNvSpPr/>
            <p:nvPr/>
          </p:nvSpPr>
          <p:spPr>
            <a:xfrm>
              <a:off x="2079" y="3543"/>
              <a:ext cx="2834" cy="0"/>
            </a:xfrm>
            <a:prstGeom prst="line">
              <a:avLst/>
            </a:prstGeom>
            <a:ln w="9525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9492" name="Line 41"/>
            <p:cNvSpPr/>
            <p:nvPr/>
          </p:nvSpPr>
          <p:spPr>
            <a:xfrm>
              <a:off x="4902" y="1721"/>
              <a:ext cx="0" cy="1818"/>
            </a:xfrm>
            <a:prstGeom prst="line">
              <a:avLst/>
            </a:prstGeom>
            <a:ln w="9525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9493" name="Oval 42"/>
            <p:cNvSpPr/>
            <p:nvPr/>
          </p:nvSpPr>
          <p:spPr>
            <a:xfrm>
              <a:off x="765" y="2037"/>
              <a:ext cx="55" cy="65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19494" name="Oval 43"/>
            <p:cNvSpPr/>
            <p:nvPr/>
          </p:nvSpPr>
          <p:spPr>
            <a:xfrm>
              <a:off x="4873" y="1676"/>
              <a:ext cx="55" cy="65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19495" name="Rectangle 44"/>
            <p:cNvSpPr/>
            <p:nvPr/>
          </p:nvSpPr>
          <p:spPr>
            <a:xfrm>
              <a:off x="4320" y="1388"/>
              <a:ext cx="407" cy="406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/>
            <a:p>
              <a:pPr algn="ctr" eaLnBrk="1" hangingPunct="1">
                <a:lnSpc>
                  <a:spcPct val="96000"/>
                </a:lnSpc>
              </a:pPr>
              <a:r>
                <a:rPr lang="en-US" altLang="zh-CN" sz="2800" i="1" dirty="0">
                  <a:latin typeface="Times New Roman" panose="02020603050405020304" pitchFamily="18" charset="0"/>
                </a:rPr>
                <a:t>Q</a:t>
              </a:r>
              <a:r>
                <a:rPr lang="en-US" altLang="zh-CN" sz="2800" baseline="-25000" dirty="0">
                  <a:latin typeface="Times New Roman" panose="02020603050405020304" pitchFamily="18" charset="0"/>
                </a:rPr>
                <a:t>1</a:t>
              </a:r>
              <a:endParaRPr lang="en-US" altLang="zh-CN" sz="6000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19496" name="Group 46"/>
            <p:cNvGrpSpPr/>
            <p:nvPr/>
          </p:nvGrpSpPr>
          <p:grpSpPr>
            <a:xfrm>
              <a:off x="2298" y="2329"/>
              <a:ext cx="407" cy="495"/>
              <a:chOff x="5492" y="9768"/>
              <a:chExt cx="420" cy="432"/>
            </a:xfrm>
          </p:grpSpPr>
          <p:sp>
            <p:nvSpPr>
              <p:cNvPr id="19502" name="Rectangle 47"/>
              <p:cNvSpPr/>
              <p:nvPr/>
            </p:nvSpPr>
            <p:spPr>
              <a:xfrm>
                <a:off x="5492" y="9768"/>
                <a:ext cx="360" cy="432"/>
              </a:xfrm>
              <a:prstGeom prst="rect">
                <a:avLst/>
              </a:prstGeom>
              <a:solidFill>
                <a:srgbClr val="CCFFFF"/>
              </a:solidFill>
              <a:ln w="9525" cap="flat" cmpd="sng">
                <a:solidFill>
                  <a:srgbClr val="0000FF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0" tIns="0" rIns="0" bIns="0"/>
              <a:p>
                <a:pPr algn="ctr" eaLnBrk="1" hangingPunct="1"/>
                <a:r>
                  <a:rPr lang="en-US" altLang="zh-CN" sz="3600" dirty="0">
                    <a:latin typeface="Times New Roman" panose="02020603050405020304" pitchFamily="18" charset="0"/>
                  </a:rPr>
                  <a:t>&amp;</a:t>
                </a:r>
                <a:endParaRPr lang="en-US" altLang="zh-CN" sz="72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9503" name="Oval 48"/>
              <p:cNvSpPr/>
              <p:nvPr/>
            </p:nvSpPr>
            <p:spPr>
              <a:xfrm>
                <a:off x="5855" y="9939"/>
                <a:ext cx="57" cy="57"/>
              </a:xfrm>
              <a:prstGeom prst="ellipse">
                <a:avLst/>
              </a:prstGeom>
              <a:solidFill>
                <a:srgbClr val="FFFFFF"/>
              </a:solidFill>
              <a:ln w="9525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p>
                <a:pPr eaLnBrk="1" hangingPunct="1"/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19497" name="Oval 49"/>
            <p:cNvSpPr/>
            <p:nvPr/>
          </p:nvSpPr>
          <p:spPr>
            <a:xfrm>
              <a:off x="2079" y="3055"/>
              <a:ext cx="55" cy="65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cxnSp>
          <p:nvCxnSpPr>
            <p:cNvPr id="19498" name="AutoShape 50"/>
            <p:cNvCxnSpPr/>
            <p:nvPr/>
          </p:nvCxnSpPr>
          <p:spPr>
            <a:xfrm>
              <a:off x="2698" y="2563"/>
              <a:ext cx="256" cy="206"/>
            </a:xfrm>
            <a:prstGeom prst="bentConnector3">
              <a:avLst>
                <a:gd name="adj1" fmla="val 50000"/>
              </a:avLst>
            </a:prstGeom>
            <a:ln w="9525" cap="flat" cmpd="sng">
              <a:solidFill>
                <a:srgbClr val="0000FF"/>
              </a:solidFill>
              <a:prstDash val="solid"/>
              <a:miter/>
              <a:headEnd type="none" w="med" len="med"/>
              <a:tailEnd type="none" w="med" len="med"/>
            </a:ln>
          </p:spPr>
        </p:cxnSp>
        <p:cxnSp>
          <p:nvCxnSpPr>
            <p:cNvPr id="19499" name="AutoShape 51"/>
            <p:cNvCxnSpPr/>
            <p:nvPr/>
          </p:nvCxnSpPr>
          <p:spPr>
            <a:xfrm flipV="1">
              <a:off x="2698" y="3003"/>
              <a:ext cx="256" cy="206"/>
            </a:xfrm>
            <a:prstGeom prst="bentConnector3">
              <a:avLst>
                <a:gd name="adj1" fmla="val 50000"/>
              </a:avLst>
            </a:prstGeom>
            <a:ln w="9525" cap="flat" cmpd="sng">
              <a:solidFill>
                <a:srgbClr val="0000FF"/>
              </a:solidFill>
              <a:prstDash val="solid"/>
              <a:miter/>
              <a:headEnd type="none" w="med" len="med"/>
              <a:tailEnd type="none" w="med" len="med"/>
            </a:ln>
          </p:spPr>
        </p:cxnSp>
        <p:sp>
          <p:nvSpPr>
            <p:cNvPr id="19500" name="Line 54"/>
            <p:cNvSpPr/>
            <p:nvPr/>
          </p:nvSpPr>
          <p:spPr>
            <a:xfrm flipH="1">
              <a:off x="2123" y="1808"/>
              <a:ext cx="1" cy="642"/>
            </a:xfrm>
            <a:prstGeom prst="line">
              <a:avLst/>
            </a:prstGeom>
            <a:ln w="9525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9501" name="Line 55"/>
            <p:cNvSpPr/>
            <p:nvPr/>
          </p:nvSpPr>
          <p:spPr>
            <a:xfrm>
              <a:off x="1921" y="1802"/>
              <a:ext cx="204" cy="0"/>
            </a:xfrm>
            <a:prstGeom prst="line">
              <a:avLst/>
            </a:prstGeom>
            <a:ln w="9525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</p:grp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20482" name="Object 5"/>
          <p:cNvGraphicFramePr/>
          <p:nvPr/>
        </p:nvGraphicFramePr>
        <p:xfrm>
          <a:off x="3613150" y="2276475"/>
          <a:ext cx="414338" cy="500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1" name="" r:id="rId1" imgW="177800" imgH="215900" progId="Equation.3">
                  <p:embed/>
                </p:oleObj>
              </mc:Choice>
              <mc:Fallback>
                <p:oleObj name="" r:id="rId1" imgW="177800" imgH="215900" progId="Equation.3">
                  <p:embed/>
                  <p:pic>
                    <p:nvPicPr>
                      <p:cNvPr id="0" name="图片 3100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613150" y="2276475"/>
                        <a:ext cx="414338" cy="5000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3" name="Object 4"/>
          <p:cNvGraphicFramePr/>
          <p:nvPr/>
        </p:nvGraphicFramePr>
        <p:xfrm>
          <a:off x="3884613" y="4351338"/>
          <a:ext cx="3327400" cy="620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2" name="" r:id="rId3" imgW="1384300" imgH="254000" progId="Equation.3">
                  <p:embed/>
                </p:oleObj>
              </mc:Choice>
              <mc:Fallback>
                <p:oleObj name="" r:id="rId3" imgW="1384300" imgH="254000" progId="Equation.3">
                  <p:embed/>
                  <p:pic>
                    <p:nvPicPr>
                      <p:cNvPr id="0" name="图片 310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884613" y="4351338"/>
                        <a:ext cx="3327400" cy="6207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84" name="Rectangle 53"/>
          <p:cNvSpPr/>
          <p:nvPr/>
        </p:nvSpPr>
        <p:spPr>
          <a:xfrm>
            <a:off x="0" y="2336800"/>
            <a:ext cx="9144000" cy="0"/>
          </a:xfrm>
          <a:prstGeom prst="rect">
            <a:avLst/>
          </a:prstGeom>
          <a:noFill/>
          <a:ln w="19050">
            <a:noFill/>
          </a:ln>
        </p:spPr>
        <p:txBody>
          <a:bodyPr wrap="none" anchor="ctr" anchorCtr="0">
            <a:spAutoFit/>
          </a:bodyPr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0485" name="Rectangle 64"/>
          <p:cNvSpPr/>
          <p:nvPr/>
        </p:nvSpPr>
        <p:spPr>
          <a:xfrm>
            <a:off x="1282700" y="503238"/>
            <a:ext cx="5699125" cy="2227262"/>
          </a:xfrm>
          <a:prstGeom prst="rect">
            <a:avLst/>
          </a:prstGeom>
          <a:noFill/>
          <a:ln w="19050">
            <a:noFill/>
          </a:ln>
        </p:spPr>
        <p:txBody>
          <a:bodyPr wrap="none" anchor="ctr" anchorCtr="0">
            <a:spAutoFit/>
          </a:bodyPr>
          <a:p>
            <a:pPr indent="1598930" eaLnBrk="1" hangingPunct="1"/>
            <a:endParaRPr lang="en-US" altLang="zh-CN" sz="2800" dirty="0">
              <a:latin typeface="Times New Roman" panose="02020603050405020304" pitchFamily="18" charset="0"/>
            </a:endParaRPr>
          </a:p>
          <a:p>
            <a:pPr indent="1598930"/>
            <a:br>
              <a:rPr lang="en-US" altLang="zh-CN" sz="2800" dirty="0">
                <a:latin typeface="Times New Roman" panose="02020603050405020304" pitchFamily="18" charset="0"/>
              </a:rPr>
            </a:b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解：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（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）求输出函数和控制函数：</a:t>
            </a:r>
            <a:endParaRPr lang="zh-CN" altLang="en-US" sz="2900" dirty="0">
              <a:latin typeface="Times New Roman" panose="02020603050405020304" pitchFamily="18" charset="0"/>
            </a:endParaRPr>
          </a:p>
          <a:p>
            <a:pPr indent="1598930"/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Z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＝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Q</a:t>
            </a:r>
            <a:r>
              <a:rPr lang="en-US" altLang="zh-CN" sz="2800" baseline="-30000" dirty="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endParaRPr lang="en-US" altLang="zh-CN" sz="2900" dirty="0">
              <a:latin typeface="Times New Roman" panose="02020603050405020304" pitchFamily="18" charset="0"/>
            </a:endParaRPr>
          </a:p>
          <a:p>
            <a:pPr indent="1598930"/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J</a:t>
            </a:r>
            <a:r>
              <a:rPr lang="en-US" altLang="zh-CN" sz="2800" baseline="-30000" dirty="0">
                <a:solidFill>
                  <a:srgbClr val="000000"/>
                </a:solidFill>
                <a:latin typeface="Times New Roman" panose="02020603050405020304" pitchFamily="18" charset="0"/>
              </a:rPr>
              <a:t>0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＝</a:t>
            </a:r>
            <a:endParaRPr lang="zh-CN" altLang="en-US" sz="5400" dirty="0">
              <a:latin typeface="Times New Roman" panose="02020603050405020304" pitchFamily="18" charset="0"/>
            </a:endParaRPr>
          </a:p>
        </p:txBody>
      </p:sp>
      <p:sp>
        <p:nvSpPr>
          <p:cNvPr id="20486" name="Rectangle 65"/>
          <p:cNvSpPr/>
          <p:nvPr/>
        </p:nvSpPr>
        <p:spPr>
          <a:xfrm>
            <a:off x="1270000" y="2760663"/>
            <a:ext cx="2941638" cy="2227262"/>
          </a:xfrm>
          <a:prstGeom prst="rect">
            <a:avLst/>
          </a:prstGeom>
          <a:noFill/>
          <a:ln w="19050">
            <a:noFill/>
          </a:ln>
        </p:spPr>
        <p:txBody>
          <a:bodyPr wrap="none" anchor="ctr" anchorCtr="0">
            <a:spAutoFit/>
          </a:bodyPr>
          <a:p>
            <a:pPr indent="1609725" eaLnBrk="1" hangingPunct="1"/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K</a:t>
            </a:r>
            <a:r>
              <a:rPr lang="en-US" altLang="zh-CN" sz="2800" baseline="-30000" dirty="0">
                <a:solidFill>
                  <a:srgbClr val="000000"/>
                </a:solidFill>
                <a:latin typeface="Times New Roman" panose="02020603050405020304" pitchFamily="18" charset="0"/>
              </a:rPr>
              <a:t>0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＝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endParaRPr lang="en-US" altLang="zh-CN" sz="2900" dirty="0">
              <a:latin typeface="Times New Roman" panose="02020603050405020304" pitchFamily="18" charset="0"/>
            </a:endParaRPr>
          </a:p>
          <a:p>
            <a:pPr indent="1609725"/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J</a:t>
            </a:r>
            <a:r>
              <a:rPr lang="en-US" altLang="zh-CN" sz="2800" i="1" baseline="-30000" dirty="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＝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endParaRPr lang="en-US" altLang="zh-CN" sz="2900" dirty="0">
              <a:latin typeface="Times New Roman" panose="02020603050405020304" pitchFamily="18" charset="0"/>
            </a:endParaRPr>
          </a:p>
          <a:p>
            <a:pPr indent="1609725"/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K</a:t>
            </a:r>
            <a:r>
              <a:rPr lang="en-US" altLang="zh-CN" sz="2800" baseline="-30000" dirty="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＝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endParaRPr lang="en-US" altLang="zh-CN" sz="2900" dirty="0">
              <a:latin typeface="Times New Roman" panose="02020603050405020304" pitchFamily="18" charset="0"/>
            </a:endParaRPr>
          </a:p>
          <a:p>
            <a:pPr indent="1609725"/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CP</a:t>
            </a:r>
            <a:r>
              <a:rPr lang="en-US" altLang="zh-CN" sz="2800" baseline="-30000" dirty="0">
                <a:solidFill>
                  <a:srgbClr val="000000"/>
                </a:solidFill>
                <a:latin typeface="Times New Roman" panose="02020603050405020304" pitchFamily="18" charset="0"/>
              </a:rPr>
              <a:t>0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＝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X</a:t>
            </a:r>
            <a:endParaRPr lang="en-US" altLang="zh-CN" sz="2900" dirty="0">
              <a:latin typeface="Times New Roman" panose="02020603050405020304" pitchFamily="18" charset="0"/>
            </a:endParaRPr>
          </a:p>
          <a:p>
            <a:pPr indent="1609725"/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CP</a:t>
            </a:r>
            <a:r>
              <a:rPr lang="en-US" altLang="zh-CN" sz="2800" baseline="-30000" dirty="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＝</a:t>
            </a:r>
            <a:endParaRPr lang="zh-CN" altLang="en-US" sz="54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339031" name="Group 87"/>
          <p:cNvGraphicFramePr>
            <a:graphicFrameLocks noGrp="1"/>
          </p:cNvGraphicFramePr>
          <p:nvPr/>
        </p:nvGraphicFramePr>
        <p:xfrm>
          <a:off x="5176838" y="4178300"/>
          <a:ext cx="3116263" cy="2570163"/>
        </p:xfrm>
        <a:graphic>
          <a:graphicData uri="http://schemas.openxmlformats.org/drawingml/2006/table">
            <a:tbl>
              <a:tblPr/>
              <a:tblGrid>
                <a:gridCol w="973137"/>
                <a:gridCol w="484188"/>
                <a:gridCol w="550862"/>
                <a:gridCol w="1108075"/>
              </a:tblGrid>
              <a:tr h="384175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输    入</a:t>
                      </a:r>
                      <a:endParaRPr kumimoji="1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输    出</a:t>
                      </a:r>
                      <a:endParaRPr kumimoji="1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</a:tr>
              <a:tr h="8699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0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Q</a:t>
                      </a:r>
                      <a:r>
                        <a:rPr kumimoji="1" lang="en-US" altLang="zh-CN" sz="1600" b="0" i="0" u="none" strike="noStrike" cap="none" normalizeH="0" baseline="-30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</a:t>
                      </a:r>
                      <a:r>
                        <a:rPr kumimoji="1" lang="en-US" altLang="zh-CN" sz="1600" b="0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Q</a:t>
                      </a:r>
                      <a:r>
                        <a:rPr kumimoji="1" lang="en-US" altLang="zh-CN" sz="1600" b="0" i="0" u="none" strike="noStrike" cap="none" normalizeH="0" baseline="-30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cap="flat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0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</a:t>
                      </a:r>
                      <a:endParaRPr kumimoji="1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0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Z</a:t>
                      </a:r>
                      <a:endParaRPr kumimoji="1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316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0    0</a:t>
                      </a:r>
                      <a:endParaRPr kumimoji="1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0    1</a:t>
                      </a:r>
                      <a:endParaRPr kumimoji="1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1    0</a:t>
                      </a:r>
                      <a:endParaRPr kumimoji="1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1    1</a:t>
                      </a:r>
                      <a:endParaRPr kumimoji="1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0     1</a:t>
                      </a:r>
                      <a:endParaRPr kumimoji="1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1     0</a:t>
                      </a:r>
                      <a:endParaRPr kumimoji="1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0     0</a:t>
                      </a:r>
                      <a:endParaRPr kumimoji="1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0     0</a:t>
                      </a:r>
                      <a:endParaRPr kumimoji="1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38952" name="Rectangle 8"/>
          <p:cNvSpPr/>
          <p:nvPr/>
        </p:nvSpPr>
        <p:spPr>
          <a:xfrm>
            <a:off x="0" y="1787525"/>
            <a:ext cx="7785100" cy="457200"/>
          </a:xfrm>
          <a:prstGeom prst="rect">
            <a:avLst/>
          </a:prstGeom>
          <a:noFill/>
          <a:ln w="19050">
            <a:noFill/>
          </a:ln>
        </p:spPr>
        <p:txBody>
          <a:bodyPr anchor="ctr" anchorCtr="0">
            <a:spAutoFit/>
          </a:bodyPr>
          <a:p>
            <a:pPr indent="278130" eaLnBrk="1" hangingPunct="1"/>
            <a:r>
              <a:rPr lang="zh-CN" altLang="en-US" dirty="0">
                <a:latin typeface="Times New Roman" panose="02020603050405020304" pitchFamily="18" charset="0"/>
              </a:rPr>
              <a:t>将</a:t>
            </a:r>
            <a:r>
              <a:rPr lang="en-US" altLang="zh-CN" i="1" dirty="0">
                <a:latin typeface="Times New Roman" panose="02020603050405020304" pitchFamily="18" charset="0"/>
              </a:rPr>
              <a:t>J</a:t>
            </a:r>
            <a:r>
              <a:rPr lang="en-US" altLang="zh-CN" i="1" baseline="-30000" dirty="0">
                <a:latin typeface="Times New Roman" panose="02020603050405020304" pitchFamily="18" charset="0"/>
              </a:rPr>
              <a:t>i</a:t>
            </a:r>
            <a:r>
              <a:rPr lang="zh-CN" altLang="en-US" i="1" dirty="0">
                <a:latin typeface="Times New Roman" panose="02020603050405020304" pitchFamily="18" charset="0"/>
              </a:rPr>
              <a:t>、</a:t>
            </a:r>
            <a:r>
              <a:rPr lang="en-US" altLang="zh-CN" i="1" dirty="0">
                <a:latin typeface="Times New Roman" panose="02020603050405020304" pitchFamily="18" charset="0"/>
              </a:rPr>
              <a:t>K</a:t>
            </a:r>
            <a:r>
              <a:rPr lang="en-US" altLang="zh-CN" i="1" baseline="-30000" dirty="0">
                <a:latin typeface="Times New Roman" panose="02020603050405020304" pitchFamily="18" charset="0"/>
              </a:rPr>
              <a:t>i</a:t>
            </a:r>
            <a:r>
              <a:rPr lang="zh-CN" altLang="en-US" dirty="0">
                <a:latin typeface="Times New Roman" panose="02020603050405020304" pitchFamily="18" charset="0"/>
              </a:rPr>
              <a:t>带入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JK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触发器的特征方程中，可求得：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338950" name="Object 6"/>
          <p:cNvGraphicFramePr/>
          <p:nvPr/>
        </p:nvGraphicFramePr>
        <p:xfrm>
          <a:off x="398463" y="1192213"/>
          <a:ext cx="4575175" cy="588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7" name="" r:id="rId1" imgW="2197100" imgH="279400" progId="Equation.3">
                  <p:embed/>
                </p:oleObj>
              </mc:Choice>
              <mc:Fallback>
                <p:oleObj name="" r:id="rId1" imgW="2197100" imgH="279400" progId="Equation.3">
                  <p:embed/>
                  <p:pic>
                    <p:nvPicPr>
                      <p:cNvPr id="0" name="图片 309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98463" y="1192213"/>
                        <a:ext cx="4575175" cy="5889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949" name="Object 5"/>
          <p:cNvGraphicFramePr/>
          <p:nvPr/>
        </p:nvGraphicFramePr>
        <p:xfrm>
          <a:off x="831850" y="2252663"/>
          <a:ext cx="6699250" cy="577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9" name="" r:id="rId3" imgW="2981960" imgH="254000" progId="Equation.3">
                  <p:embed/>
                </p:oleObj>
              </mc:Choice>
              <mc:Fallback>
                <p:oleObj name="" r:id="rId3" imgW="2981960" imgH="254000" progId="Equation.3">
                  <p:embed/>
                  <p:pic>
                    <p:nvPicPr>
                      <p:cNvPr id="0" name="图片 309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31850" y="2252663"/>
                        <a:ext cx="6699250" cy="5778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948" name="Object 4"/>
          <p:cNvGraphicFramePr/>
          <p:nvPr/>
        </p:nvGraphicFramePr>
        <p:xfrm>
          <a:off x="800100" y="2836863"/>
          <a:ext cx="7108825" cy="603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0" name="" r:id="rId5" imgW="3340100" imgH="279400" progId="Equation.3">
                  <p:embed/>
                </p:oleObj>
              </mc:Choice>
              <mc:Fallback>
                <p:oleObj name="" r:id="rId5" imgW="3340100" imgH="279400" progId="Equation.3">
                  <p:embed/>
                  <p:pic>
                    <p:nvPicPr>
                      <p:cNvPr id="0" name="图片 3099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800100" y="2836863"/>
                        <a:ext cx="7108825" cy="6032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8951" name="Rectangle 7"/>
          <p:cNvSpPr/>
          <p:nvPr/>
        </p:nvSpPr>
        <p:spPr>
          <a:xfrm>
            <a:off x="0" y="401638"/>
            <a:ext cx="7507288" cy="822325"/>
          </a:xfrm>
          <a:prstGeom prst="rect">
            <a:avLst/>
          </a:prstGeom>
          <a:noFill/>
          <a:ln w="19050">
            <a:noFill/>
          </a:ln>
        </p:spPr>
        <p:txBody>
          <a:bodyPr wrap="none" anchor="ctr" anchorCtr="0">
            <a:spAutoFit/>
          </a:bodyPr>
          <a:p>
            <a:pPr indent="278130" eaLnBrk="1" hangingPunct="1"/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（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）求次态方程组：</a:t>
            </a:r>
            <a:endParaRPr lang="zh-CN" altLang="en-US" dirty="0">
              <a:latin typeface="Times New Roman" panose="02020603050405020304" pitchFamily="18" charset="0"/>
            </a:endParaRPr>
          </a:p>
          <a:p>
            <a:pPr indent="278130"/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脉冲型异步时序逻辑电路的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JK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触发器的特征方程为：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1529" name="Rectangle 9"/>
          <p:cNvSpPr/>
          <p:nvPr/>
        </p:nvSpPr>
        <p:spPr>
          <a:xfrm>
            <a:off x="-2262187" y="5892800"/>
            <a:ext cx="461962" cy="457200"/>
          </a:xfrm>
          <a:prstGeom prst="rect">
            <a:avLst/>
          </a:prstGeom>
          <a:noFill/>
          <a:ln w="19050">
            <a:noFill/>
          </a:ln>
        </p:spPr>
        <p:txBody>
          <a:bodyPr wrap="none" anchor="ctr" anchorCtr="0">
            <a:spAutoFit/>
          </a:bodyPr>
          <a:p>
            <a:pPr indent="278130" eaLnBrk="1" hangingPunct="1"/>
            <a:endParaRPr lang="zh-CN" altLang="zh-CN" dirty="0">
              <a:latin typeface="Times New Roman" panose="02020603050405020304" pitchFamily="18" charset="0"/>
            </a:endParaRPr>
          </a:p>
        </p:txBody>
      </p:sp>
      <p:sp>
        <p:nvSpPr>
          <p:cNvPr id="338954" name="Rectangle 10"/>
          <p:cNvSpPr/>
          <p:nvPr/>
        </p:nvSpPr>
        <p:spPr>
          <a:xfrm>
            <a:off x="3413125" y="3400425"/>
            <a:ext cx="5159375" cy="822325"/>
          </a:xfrm>
          <a:prstGeom prst="rect">
            <a:avLst/>
          </a:prstGeom>
          <a:noFill/>
          <a:ln w="19050">
            <a:noFill/>
          </a:ln>
        </p:spPr>
        <p:txBody>
          <a:bodyPr anchor="ctr" anchorCtr="0">
            <a:spAutoFit/>
          </a:bodyPr>
          <a:p>
            <a:pPr indent="276225" eaLnBrk="1" hangingPunct="1"/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由次态方程组，可以求得状态转移真值表：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338956" name="Object 12"/>
          <p:cNvGraphicFramePr/>
          <p:nvPr/>
        </p:nvGraphicFramePr>
        <p:xfrm>
          <a:off x="7277100" y="4833938"/>
          <a:ext cx="481013" cy="395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3" name="" r:id="rId7" imgW="266065" imgH="215900" progId="Equation.3">
                  <p:embed/>
                </p:oleObj>
              </mc:Choice>
              <mc:Fallback>
                <p:oleObj name="" r:id="rId7" imgW="266065" imgH="215900" progId="Equation.3">
                  <p:embed/>
                  <p:pic>
                    <p:nvPicPr>
                      <p:cNvPr id="0" name="图片 3102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277100" y="4833938"/>
                        <a:ext cx="481013" cy="3952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955" name="Object 11"/>
          <p:cNvGraphicFramePr/>
          <p:nvPr/>
        </p:nvGraphicFramePr>
        <p:xfrm>
          <a:off x="7781925" y="4833938"/>
          <a:ext cx="500063" cy="411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4" name="" r:id="rId9" imgW="266065" imgH="215900" progId="Equation.3">
                  <p:embed/>
                </p:oleObj>
              </mc:Choice>
              <mc:Fallback>
                <p:oleObj name="" r:id="rId9" imgW="266065" imgH="215900" progId="Equation.3">
                  <p:embed/>
                  <p:pic>
                    <p:nvPicPr>
                      <p:cNvPr id="0" name="图片 3103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7781925" y="4833938"/>
                        <a:ext cx="500063" cy="4111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33" name="Rectangle 18"/>
          <p:cNvSpPr/>
          <p:nvPr/>
        </p:nvSpPr>
        <p:spPr>
          <a:xfrm>
            <a:off x="1639888" y="2311400"/>
            <a:ext cx="919162" cy="0"/>
          </a:xfrm>
          <a:prstGeom prst="rect">
            <a:avLst/>
          </a:prstGeom>
          <a:noFill/>
          <a:ln w="19050">
            <a:noFill/>
          </a:ln>
        </p:spPr>
        <p:txBody>
          <a:bodyPr wrap="none">
            <a:spAutoFit/>
          </a:bodyPr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1534" name="Rectangle 19"/>
          <p:cNvSpPr/>
          <p:nvPr/>
        </p:nvSpPr>
        <p:spPr>
          <a:xfrm>
            <a:off x="1930400" y="2265363"/>
            <a:ext cx="336550" cy="457200"/>
          </a:xfrm>
          <a:prstGeom prst="rect">
            <a:avLst/>
          </a:prstGeom>
          <a:noFill/>
          <a:ln w="19050">
            <a:noFill/>
          </a:ln>
        </p:spPr>
        <p:txBody>
          <a:bodyPr wrap="none">
            <a:spAutoFit/>
          </a:bodyPr>
          <a:p>
            <a:pPr algn="ctr" eaLnBrk="1" hangingPunct="1"/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  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339027" name="Rectangle 83"/>
          <p:cNvSpPr/>
          <p:nvPr/>
        </p:nvSpPr>
        <p:spPr>
          <a:xfrm>
            <a:off x="336550" y="3751263"/>
            <a:ext cx="5159375" cy="457200"/>
          </a:xfrm>
          <a:prstGeom prst="rect">
            <a:avLst/>
          </a:prstGeom>
          <a:noFill/>
          <a:ln w="19050">
            <a:noFill/>
          </a:ln>
        </p:spPr>
        <p:txBody>
          <a:bodyPr anchor="ctr" anchorCtr="0">
            <a:spAutoFit/>
          </a:bodyPr>
          <a:p>
            <a:pPr indent="276225" eaLnBrk="1" hangingPunct="1"/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因为考虑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X=1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：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339028" name="Object 84"/>
          <p:cNvGraphicFramePr/>
          <p:nvPr/>
        </p:nvGraphicFramePr>
        <p:xfrm>
          <a:off x="739775" y="4419600"/>
          <a:ext cx="1738313" cy="577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6" name="" r:id="rId11" imgW="774065" imgH="254000" progId="Equation.3">
                  <p:embed/>
                </p:oleObj>
              </mc:Choice>
              <mc:Fallback>
                <p:oleObj name="" r:id="rId11" imgW="774065" imgH="254000" progId="Equation.3">
                  <p:embed/>
                  <p:pic>
                    <p:nvPicPr>
                      <p:cNvPr id="0" name="图片 3095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739775" y="4419600"/>
                        <a:ext cx="1738313" cy="5778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9029" name="Object 85"/>
          <p:cNvGraphicFramePr/>
          <p:nvPr/>
        </p:nvGraphicFramePr>
        <p:xfrm>
          <a:off x="720725" y="5229225"/>
          <a:ext cx="1728788" cy="54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5" name="" r:id="rId13" imgW="812165" imgH="254000" progId="Equation.3">
                  <p:embed/>
                </p:oleObj>
              </mc:Choice>
              <mc:Fallback>
                <p:oleObj name="" r:id="rId13" imgW="812165" imgH="254000" progId="Equation.3">
                  <p:embed/>
                  <p:pic>
                    <p:nvPicPr>
                      <p:cNvPr id="0" name="图片 3094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720725" y="5229225"/>
                        <a:ext cx="1728788" cy="5492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389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389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389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389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389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39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39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339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3389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3390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3389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3389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8952" grpId="0"/>
      <p:bldP spid="338951" grpId="0"/>
      <p:bldP spid="338954" grpId="0"/>
      <p:bldP spid="339027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30" name="Rectangle 4"/>
          <p:cNvSpPr/>
          <p:nvPr/>
        </p:nvSpPr>
        <p:spPr>
          <a:xfrm>
            <a:off x="677863" y="441325"/>
            <a:ext cx="4194175" cy="519113"/>
          </a:xfrm>
          <a:prstGeom prst="rect">
            <a:avLst/>
          </a:prstGeom>
          <a:noFill/>
          <a:ln w="19050">
            <a:noFill/>
          </a:ln>
        </p:spPr>
        <p:txBody>
          <a:bodyPr wrap="none" anchor="ctr" anchorCtr="0">
            <a:spAutoFit/>
          </a:bodyPr>
          <a:p>
            <a:pPr eaLnBrk="1" hangingPunct="1"/>
            <a:r>
              <a:rPr lang="zh-CN" altLang="en-US" sz="2800" dirty="0">
                <a:latin typeface="Times New Roman" panose="02020603050405020304" pitchFamily="18" charset="0"/>
              </a:rPr>
              <a:t>（</a:t>
            </a:r>
            <a:r>
              <a:rPr lang="en-US" altLang="zh-CN" sz="2800" dirty="0">
                <a:latin typeface="Times New Roman" panose="02020603050405020304" pitchFamily="18" charset="0"/>
              </a:rPr>
              <a:t>3</a:t>
            </a:r>
            <a:r>
              <a:rPr lang="zh-CN" altLang="en-US" sz="2800" dirty="0">
                <a:latin typeface="Times New Roman" panose="02020603050405020304" pitchFamily="18" charset="0"/>
              </a:rPr>
              <a:t>）作状态表和状态图</a:t>
            </a:r>
            <a:endParaRPr lang="zh-CN" altLang="en-US" sz="2800" dirty="0">
              <a:latin typeface="Times New Roman" panose="02020603050405020304" pitchFamily="18" charset="0"/>
            </a:endParaRPr>
          </a:p>
        </p:txBody>
      </p:sp>
      <p:graphicFrame>
        <p:nvGraphicFramePr>
          <p:cNvPr id="22531" name="Object 5"/>
          <p:cNvGraphicFramePr/>
          <p:nvPr/>
        </p:nvGraphicFramePr>
        <p:xfrm>
          <a:off x="1698625" y="1997075"/>
          <a:ext cx="1681163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8" name="" r:id="rId1" imgW="736600" imgH="228600" progId="Equation.3">
                  <p:embed/>
                </p:oleObj>
              </mc:Choice>
              <mc:Fallback>
                <p:oleObj name="" r:id="rId1" imgW="736600" imgH="228600" progId="Equation.3">
                  <p:embed/>
                  <p:pic>
                    <p:nvPicPr>
                      <p:cNvPr id="0" name="图片 309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698625" y="1997075"/>
                        <a:ext cx="1681163" cy="5238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0090" name="Group 122"/>
          <p:cNvGraphicFramePr>
            <a:graphicFrameLocks noGrp="1"/>
          </p:cNvGraphicFramePr>
          <p:nvPr/>
        </p:nvGraphicFramePr>
        <p:xfrm>
          <a:off x="311150" y="1733550"/>
          <a:ext cx="3506788" cy="3292475"/>
        </p:xfrm>
        <a:graphic>
          <a:graphicData uri="http://schemas.openxmlformats.org/drawingml/2006/table">
            <a:tbl>
              <a:tblPr/>
              <a:tblGrid>
                <a:gridCol w="900113"/>
                <a:gridCol w="1262062"/>
                <a:gridCol w="1344613"/>
              </a:tblGrid>
              <a:tr h="1006034"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Q</a:t>
                      </a:r>
                      <a:r>
                        <a:rPr kumimoji="1" lang="en-US" altLang="zh-CN" sz="2400" b="0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1" lang="en-US" altLang="zh-CN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Q</a:t>
                      </a:r>
                      <a:r>
                        <a:rPr kumimoji="1" lang="en-US" altLang="zh-CN" sz="2400" b="0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5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9" marB="45729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zh-CN" sz="6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9" marB="45729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</a:tr>
              <a:tr h="457288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GB" altLang="zh-CN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</a:t>
                      </a:r>
                      <a:r>
                        <a:rPr kumimoji="1" lang="en-GB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=0</a:t>
                      </a:r>
                      <a:endParaRPr kumimoji="1" lang="en-GB" altLang="zh-CN" sz="5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9" marB="45729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GB" altLang="zh-CN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</a:t>
                      </a:r>
                      <a:r>
                        <a:rPr kumimoji="1" lang="en-GB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=1</a:t>
                      </a:r>
                      <a:endParaRPr kumimoji="1" lang="en-GB" altLang="zh-CN" sz="5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9" marB="45729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2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GB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00</a:t>
                      </a:r>
                      <a:endParaRPr kumimoji="1" lang="en-GB" altLang="zh-CN" sz="5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9" marB="45729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GB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00/0</a:t>
                      </a:r>
                      <a:endParaRPr kumimoji="1" lang="en-GB" altLang="zh-CN" sz="5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9" marB="45729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GB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01/0</a:t>
                      </a:r>
                      <a:endParaRPr kumimoji="1" lang="en-GB" altLang="zh-CN" sz="5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9" marB="45729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2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GB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01</a:t>
                      </a:r>
                      <a:endParaRPr kumimoji="1" lang="en-GB" altLang="zh-CN" sz="5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9" marB="45729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GB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01/0</a:t>
                      </a:r>
                      <a:endParaRPr kumimoji="1" lang="en-GB" altLang="zh-CN" sz="5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9" marB="45729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GB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10/0</a:t>
                      </a:r>
                      <a:endParaRPr kumimoji="1" lang="en-GB" altLang="zh-CN" sz="5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9" marB="45729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2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GB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11</a:t>
                      </a:r>
                      <a:endParaRPr kumimoji="1" lang="en-GB" altLang="zh-CN" sz="5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9" marB="45729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GB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11/0</a:t>
                      </a:r>
                      <a:endParaRPr kumimoji="1" lang="en-GB" altLang="zh-CN" sz="5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9" marB="45729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GB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00/1</a:t>
                      </a:r>
                      <a:endParaRPr kumimoji="1" lang="en-GB" altLang="zh-CN" sz="5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9" marB="45729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2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GB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</a:t>
                      </a:r>
                      <a:endParaRPr kumimoji="1" lang="en-GB" altLang="zh-CN" sz="5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9" marB="45729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GB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10/0</a:t>
                      </a:r>
                      <a:endParaRPr kumimoji="1" lang="en-GB" altLang="zh-CN" sz="5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9" marB="45729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GB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00/1</a:t>
                      </a:r>
                      <a:endParaRPr kumimoji="1" lang="en-GB" altLang="zh-CN" sz="5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9" marB="45729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pSp>
        <p:nvGrpSpPr>
          <p:cNvPr id="22561" name="Group 124"/>
          <p:cNvGrpSpPr/>
          <p:nvPr/>
        </p:nvGrpSpPr>
        <p:grpSpPr>
          <a:xfrm>
            <a:off x="4640263" y="1587500"/>
            <a:ext cx="3576637" cy="3524250"/>
            <a:chOff x="3240" y="12963"/>
            <a:chExt cx="2355" cy="2355"/>
          </a:xfrm>
        </p:grpSpPr>
        <p:sp>
          <p:nvSpPr>
            <p:cNvPr id="22563" name="Rectangle 125"/>
            <p:cNvSpPr/>
            <p:nvPr/>
          </p:nvSpPr>
          <p:spPr>
            <a:xfrm>
              <a:off x="5382" y="13950"/>
              <a:ext cx="183" cy="312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/>
            <a:p>
              <a:pPr algn="just" eaLnBrk="1" hangingPunct="1"/>
              <a:r>
                <a:rPr lang="en-US" altLang="zh-CN" dirty="0">
                  <a:latin typeface="Times New Roman" panose="02020603050405020304" pitchFamily="18" charset="0"/>
                </a:rPr>
                <a:t>1</a:t>
              </a:r>
              <a:endParaRPr lang="en-US" altLang="zh-CN" sz="5400" dirty="0">
                <a:latin typeface="Times New Roman" panose="02020603050405020304" pitchFamily="18" charset="0"/>
              </a:endParaRPr>
            </a:p>
          </p:txBody>
        </p:sp>
        <p:sp>
          <p:nvSpPr>
            <p:cNvPr id="22564" name="Rectangle 126"/>
            <p:cNvSpPr/>
            <p:nvPr/>
          </p:nvSpPr>
          <p:spPr>
            <a:xfrm>
              <a:off x="4497" y="13935"/>
              <a:ext cx="183" cy="312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/>
            <a:p>
              <a:pPr algn="just" eaLnBrk="1" hangingPunct="1"/>
              <a:r>
                <a:rPr lang="en-US" altLang="zh-CN" dirty="0">
                  <a:latin typeface="Times New Roman" panose="02020603050405020304" pitchFamily="18" charset="0"/>
                </a:rPr>
                <a:t>1</a:t>
              </a:r>
              <a:endParaRPr lang="en-US" altLang="zh-CN" sz="5400" dirty="0">
                <a:latin typeface="Times New Roman" panose="02020603050405020304" pitchFamily="18" charset="0"/>
              </a:endParaRPr>
            </a:p>
          </p:txBody>
        </p:sp>
        <p:sp>
          <p:nvSpPr>
            <p:cNvPr id="22565" name="Rectangle 127"/>
            <p:cNvSpPr/>
            <p:nvPr/>
          </p:nvSpPr>
          <p:spPr>
            <a:xfrm>
              <a:off x="4227" y="12963"/>
              <a:ext cx="183" cy="312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/>
            <a:p>
              <a:pPr algn="just" eaLnBrk="1" hangingPunct="1"/>
              <a:r>
                <a:rPr lang="en-US" altLang="zh-CN" dirty="0">
                  <a:latin typeface="Times New Roman" panose="02020603050405020304" pitchFamily="18" charset="0"/>
                </a:rPr>
                <a:t>1</a:t>
              </a:r>
              <a:endParaRPr lang="en-US" altLang="zh-CN" sz="5400" dirty="0">
                <a:latin typeface="Times New Roman" panose="02020603050405020304" pitchFamily="18" charset="0"/>
              </a:endParaRPr>
            </a:p>
          </p:txBody>
        </p:sp>
        <p:sp>
          <p:nvSpPr>
            <p:cNvPr id="22566" name="Rectangle 128"/>
            <p:cNvSpPr/>
            <p:nvPr/>
          </p:nvSpPr>
          <p:spPr>
            <a:xfrm>
              <a:off x="3345" y="13941"/>
              <a:ext cx="183" cy="312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/>
            <a:p>
              <a:pPr algn="just" eaLnBrk="1" hangingPunct="1"/>
              <a:r>
                <a:rPr lang="en-US" altLang="zh-CN" dirty="0">
                  <a:latin typeface="Times New Roman" panose="02020603050405020304" pitchFamily="18" charset="0"/>
                </a:rPr>
                <a:t>1</a:t>
              </a:r>
              <a:endParaRPr lang="en-US" altLang="zh-CN" sz="5400" dirty="0">
                <a:latin typeface="Times New Roman" panose="02020603050405020304" pitchFamily="18" charset="0"/>
              </a:endParaRPr>
            </a:p>
          </p:txBody>
        </p:sp>
        <p:sp>
          <p:nvSpPr>
            <p:cNvPr id="22567" name="Oval 129"/>
            <p:cNvSpPr/>
            <p:nvPr/>
          </p:nvSpPr>
          <p:spPr>
            <a:xfrm>
              <a:off x="3240" y="12984"/>
              <a:ext cx="540" cy="539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  <p:txBody>
            <a:bodyPr lIns="0" rIns="0"/>
            <a:p>
              <a:pPr algn="ctr" eaLnBrk="1" hangingPunct="1"/>
              <a:r>
                <a:rPr lang="en-US" altLang="zh-CN" dirty="0">
                  <a:latin typeface="Times New Roman" panose="02020603050405020304" pitchFamily="18" charset="0"/>
                </a:rPr>
                <a:t>00/0</a:t>
              </a:r>
              <a:endParaRPr lang="en-US" altLang="zh-CN" sz="5400" dirty="0">
                <a:latin typeface="Times New Roman" panose="02020603050405020304" pitchFamily="18" charset="0"/>
              </a:endParaRPr>
            </a:p>
          </p:txBody>
        </p:sp>
        <p:sp>
          <p:nvSpPr>
            <p:cNvPr id="22568" name="Oval 130"/>
            <p:cNvSpPr/>
            <p:nvPr/>
          </p:nvSpPr>
          <p:spPr>
            <a:xfrm>
              <a:off x="5025" y="12988"/>
              <a:ext cx="540" cy="539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  <p:txBody>
            <a:bodyPr lIns="0" rIns="0"/>
            <a:p>
              <a:pPr algn="ctr" eaLnBrk="1" hangingPunct="1"/>
              <a:r>
                <a:rPr lang="en-US" altLang="zh-CN" dirty="0">
                  <a:latin typeface="Times New Roman" panose="02020603050405020304" pitchFamily="18" charset="0"/>
                </a:rPr>
                <a:t>01/0</a:t>
              </a:r>
              <a:endParaRPr lang="en-US" altLang="zh-CN" sz="5400" dirty="0">
                <a:latin typeface="Times New Roman" panose="02020603050405020304" pitchFamily="18" charset="0"/>
              </a:endParaRPr>
            </a:p>
          </p:txBody>
        </p:sp>
        <p:sp>
          <p:nvSpPr>
            <p:cNvPr id="22569" name="Line 131"/>
            <p:cNvSpPr/>
            <p:nvPr/>
          </p:nvSpPr>
          <p:spPr>
            <a:xfrm>
              <a:off x="3780" y="13281"/>
              <a:ext cx="1260" cy="0"/>
            </a:xfrm>
            <a:prstGeom prst="line">
              <a:avLst/>
            </a:prstGeom>
            <a:ln w="9525" cap="flat" cmpd="sng">
              <a:solidFill>
                <a:srgbClr val="0000FF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22570" name="Oval 132"/>
            <p:cNvSpPr/>
            <p:nvPr/>
          </p:nvSpPr>
          <p:spPr>
            <a:xfrm>
              <a:off x="3240" y="14775"/>
              <a:ext cx="540" cy="539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  <p:txBody>
            <a:bodyPr lIns="0" rIns="0"/>
            <a:p>
              <a:pPr algn="ctr" eaLnBrk="1" hangingPunct="1"/>
              <a:r>
                <a:rPr lang="en-US" altLang="zh-CN" dirty="0">
                  <a:latin typeface="Times New Roman" panose="02020603050405020304" pitchFamily="18" charset="0"/>
                </a:rPr>
                <a:t>11/1</a:t>
              </a:r>
              <a:endParaRPr lang="en-US" altLang="zh-CN" sz="5400" dirty="0">
                <a:latin typeface="Times New Roman" panose="02020603050405020304" pitchFamily="18" charset="0"/>
              </a:endParaRPr>
            </a:p>
          </p:txBody>
        </p:sp>
        <p:sp>
          <p:nvSpPr>
            <p:cNvPr id="22571" name="Oval 133"/>
            <p:cNvSpPr/>
            <p:nvPr/>
          </p:nvSpPr>
          <p:spPr>
            <a:xfrm>
              <a:off x="5055" y="14779"/>
              <a:ext cx="540" cy="539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  <p:txBody>
            <a:bodyPr lIns="0" rIns="0"/>
            <a:p>
              <a:pPr algn="ctr" eaLnBrk="1" hangingPunct="1"/>
              <a:r>
                <a:rPr lang="en-US" altLang="zh-CN" dirty="0">
                  <a:latin typeface="Times New Roman" panose="02020603050405020304" pitchFamily="18" charset="0"/>
                </a:rPr>
                <a:t>10/1</a:t>
              </a:r>
              <a:endParaRPr lang="en-US" altLang="zh-CN" sz="5400" dirty="0">
                <a:latin typeface="Times New Roman" panose="02020603050405020304" pitchFamily="18" charset="0"/>
              </a:endParaRPr>
            </a:p>
          </p:txBody>
        </p:sp>
        <p:sp>
          <p:nvSpPr>
            <p:cNvPr id="22572" name="Line 134"/>
            <p:cNvSpPr/>
            <p:nvPr/>
          </p:nvSpPr>
          <p:spPr>
            <a:xfrm flipV="1">
              <a:off x="3510" y="13512"/>
              <a:ext cx="0" cy="1259"/>
            </a:xfrm>
            <a:prstGeom prst="line">
              <a:avLst/>
            </a:prstGeom>
            <a:ln w="9525" cap="flat" cmpd="sng">
              <a:solidFill>
                <a:srgbClr val="0000FF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22573" name="Line 135"/>
            <p:cNvSpPr/>
            <p:nvPr/>
          </p:nvSpPr>
          <p:spPr>
            <a:xfrm flipH="1">
              <a:off x="5310" y="13527"/>
              <a:ext cx="0" cy="1259"/>
            </a:xfrm>
            <a:prstGeom prst="line">
              <a:avLst/>
            </a:prstGeom>
            <a:ln w="9525" cap="flat" cmpd="sng">
              <a:solidFill>
                <a:srgbClr val="0000FF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22574" name="Line 136"/>
            <p:cNvSpPr/>
            <p:nvPr/>
          </p:nvSpPr>
          <p:spPr>
            <a:xfrm flipH="1" flipV="1">
              <a:off x="3675" y="13452"/>
              <a:ext cx="1440" cy="1404"/>
            </a:xfrm>
            <a:prstGeom prst="line">
              <a:avLst/>
            </a:prstGeom>
            <a:ln w="9525" cap="flat" cmpd="sng">
              <a:solidFill>
                <a:srgbClr val="0000FF"/>
              </a:solidFill>
              <a:prstDash val="solid"/>
              <a:headEnd type="none" w="med" len="med"/>
              <a:tailEnd type="triangle" w="sm" len="lg"/>
            </a:ln>
          </p:spPr>
        </p:sp>
      </p:grpSp>
      <p:sp>
        <p:nvSpPr>
          <p:cNvPr id="22562" name="Rectangle 139"/>
          <p:cNvSpPr/>
          <p:nvPr/>
        </p:nvSpPr>
        <p:spPr>
          <a:xfrm>
            <a:off x="207963" y="5511800"/>
            <a:ext cx="8626475" cy="822325"/>
          </a:xfrm>
          <a:prstGeom prst="rect">
            <a:avLst/>
          </a:prstGeom>
          <a:noFill/>
          <a:ln w="19050">
            <a:noFill/>
          </a:ln>
        </p:spPr>
        <p:txBody>
          <a:bodyPr anchor="ctr" anchorCtr="0">
            <a:spAutoFit/>
          </a:bodyPr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4</a:t>
            </a:r>
            <a:r>
              <a:rPr lang="zh-CN" altLang="en-US" dirty="0">
                <a:latin typeface="Times New Roman" panose="02020603050405020304" pitchFamily="18" charset="0"/>
              </a:rPr>
              <a:t>）功能描述</a:t>
            </a:r>
            <a:endParaRPr lang="zh-CN" altLang="en-US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由上述分析可知，</a:t>
            </a:r>
            <a:r>
              <a:rPr lang="en-US" altLang="zh-CN" dirty="0">
                <a:latin typeface="Times New Roman" panose="02020603050405020304" pitchFamily="18" charset="0"/>
              </a:rPr>
              <a:t>MOD3</a:t>
            </a:r>
            <a:r>
              <a:rPr lang="zh-CN" altLang="en-US" dirty="0">
                <a:latin typeface="Times New Roman" panose="02020603050405020304" pitchFamily="18" charset="0"/>
              </a:rPr>
              <a:t>异步二进制计数器。 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1010" name="Text Box 2"/>
          <p:cNvSpPr txBox="1"/>
          <p:nvPr/>
        </p:nvSpPr>
        <p:spPr>
          <a:xfrm>
            <a:off x="803275" y="920750"/>
            <a:ext cx="6219825" cy="519113"/>
          </a:xfrm>
          <a:prstGeom prst="rect">
            <a:avLst/>
          </a:prstGeom>
          <a:noFill/>
          <a:ln w="19050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800" b="1" dirty="0">
                <a:latin typeface="Times New Roman" panose="02020603050405020304" pitchFamily="18" charset="0"/>
              </a:rPr>
              <a:t>例</a:t>
            </a:r>
            <a:r>
              <a:rPr lang="zh-CN" altLang="en-US" sz="2800" dirty="0">
                <a:latin typeface="Times New Roman" panose="02020603050405020304" pitchFamily="18" charset="0"/>
              </a:rPr>
              <a:t>：分析下图所示的脉冲异步时序电路</a:t>
            </a:r>
            <a:endParaRPr lang="zh-CN" altLang="en-US" sz="2800" dirty="0">
              <a:latin typeface="Times New Roman" panose="02020603050405020304" pitchFamily="18" charset="0"/>
            </a:endParaRPr>
          </a:p>
        </p:txBody>
      </p:sp>
      <p:grpSp>
        <p:nvGrpSpPr>
          <p:cNvPr id="2" name="Group 3"/>
          <p:cNvGrpSpPr/>
          <p:nvPr/>
        </p:nvGrpSpPr>
        <p:grpSpPr>
          <a:xfrm>
            <a:off x="498475" y="1924050"/>
            <a:ext cx="7673975" cy="4194175"/>
            <a:chOff x="314" y="1212"/>
            <a:chExt cx="4834" cy="2642"/>
          </a:xfrm>
        </p:grpSpPr>
        <p:sp>
          <p:nvSpPr>
            <p:cNvPr id="23556" name="Text Box 4"/>
            <p:cNvSpPr txBox="1"/>
            <p:nvPr/>
          </p:nvSpPr>
          <p:spPr>
            <a:xfrm>
              <a:off x="2712" y="3447"/>
              <a:ext cx="466" cy="327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CP</a:t>
              </a:r>
              <a:r>
                <a:rPr lang="en-US" altLang="zh-CN" sz="2800" baseline="-25000" dirty="0">
                  <a:latin typeface="Times New Roman" panose="02020603050405020304" pitchFamily="18" charset="0"/>
                </a:rPr>
                <a:t>2</a:t>
              </a:r>
              <a:endParaRPr lang="en-US" altLang="zh-CN" sz="2800" dirty="0">
                <a:latin typeface="Times New Roman" panose="02020603050405020304" pitchFamily="18" charset="0"/>
              </a:endParaRPr>
            </a:p>
          </p:txBody>
        </p:sp>
        <p:sp>
          <p:nvSpPr>
            <p:cNvPr id="23557" name="Text Box 5"/>
            <p:cNvSpPr txBox="1"/>
            <p:nvPr/>
          </p:nvSpPr>
          <p:spPr>
            <a:xfrm>
              <a:off x="4378" y="3527"/>
              <a:ext cx="770" cy="32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p>
              <a:pPr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x(CP</a:t>
              </a:r>
              <a:r>
                <a:rPr lang="en-US" altLang="zh-CN" sz="2800" baseline="-25000" dirty="0">
                  <a:latin typeface="Times New Roman" panose="02020603050405020304" pitchFamily="18" charset="0"/>
                </a:rPr>
                <a:t>1</a:t>
              </a:r>
              <a:r>
                <a:rPr lang="en-US" altLang="zh-CN" sz="2800" dirty="0">
                  <a:latin typeface="Times New Roman" panose="02020603050405020304" pitchFamily="18" charset="0"/>
                </a:rPr>
                <a:t>)</a:t>
              </a:r>
              <a:endParaRPr lang="en-US" altLang="zh-CN" sz="2800" dirty="0">
                <a:latin typeface="Times New Roman" panose="02020603050405020304" pitchFamily="18" charset="0"/>
              </a:endParaRPr>
            </a:p>
          </p:txBody>
        </p:sp>
        <p:sp>
          <p:nvSpPr>
            <p:cNvPr id="23558" name="Oval 6"/>
            <p:cNvSpPr/>
            <p:nvPr/>
          </p:nvSpPr>
          <p:spPr>
            <a:xfrm>
              <a:off x="3543" y="2379"/>
              <a:ext cx="66" cy="66"/>
            </a:xfrm>
            <a:prstGeom prst="ellipse">
              <a:avLst/>
            </a:prstGeom>
            <a:solidFill>
              <a:srgbClr val="3333FF"/>
            </a:solidFill>
            <a:ln w="19050" cap="flat" cmpd="sng">
              <a:solidFill>
                <a:srgbClr val="3333FF"/>
              </a:solidFill>
              <a:prstDash val="solid"/>
              <a:headEnd type="none" w="med" len="med"/>
              <a:tailEnd type="none" w="sm" len="lg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3559" name="Oval 7"/>
            <p:cNvSpPr/>
            <p:nvPr/>
          </p:nvSpPr>
          <p:spPr>
            <a:xfrm>
              <a:off x="2482" y="2422"/>
              <a:ext cx="66" cy="66"/>
            </a:xfrm>
            <a:prstGeom prst="ellipse">
              <a:avLst/>
            </a:prstGeom>
            <a:solidFill>
              <a:srgbClr val="3333FF"/>
            </a:solidFill>
            <a:ln w="19050" cap="flat" cmpd="sng">
              <a:solidFill>
                <a:srgbClr val="3333FF"/>
              </a:solidFill>
              <a:prstDash val="solid"/>
              <a:headEnd type="none" w="med" len="med"/>
              <a:tailEnd type="none" w="sm" len="lg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23560" name="Group 8"/>
            <p:cNvGrpSpPr/>
            <p:nvPr/>
          </p:nvGrpSpPr>
          <p:grpSpPr>
            <a:xfrm>
              <a:off x="4054" y="2341"/>
              <a:ext cx="354" cy="327"/>
              <a:chOff x="4750" y="1153"/>
              <a:chExt cx="354" cy="327"/>
            </a:xfrm>
          </p:grpSpPr>
          <p:sp>
            <p:nvSpPr>
              <p:cNvPr id="23620" name="Text Box 9"/>
              <p:cNvSpPr txBox="1"/>
              <p:nvPr/>
            </p:nvSpPr>
            <p:spPr>
              <a:xfrm>
                <a:off x="4750" y="1153"/>
                <a:ext cx="354" cy="327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none">
                <a:spAutoFit/>
              </a:bodyPr>
              <a:p>
                <a:pPr eaLnBrk="1" hangingPunct="1"/>
                <a:r>
                  <a:rPr lang="en-US" altLang="zh-CN" sz="2800" dirty="0">
                    <a:latin typeface="Times New Roman" panose="02020603050405020304" pitchFamily="18" charset="0"/>
                  </a:rPr>
                  <a:t>Q</a:t>
                </a:r>
                <a:r>
                  <a:rPr lang="en-US" altLang="zh-CN" sz="2800" baseline="-25000" dirty="0">
                    <a:latin typeface="Times New Roman" panose="02020603050405020304" pitchFamily="18" charset="0"/>
                  </a:rPr>
                  <a:t>1</a:t>
                </a:r>
                <a:endParaRPr lang="en-US" altLang="zh-CN" sz="28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3621" name="Line 10"/>
              <p:cNvSpPr/>
              <p:nvPr/>
            </p:nvSpPr>
            <p:spPr>
              <a:xfrm>
                <a:off x="4809" y="1232"/>
                <a:ext cx="156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sm" len="lg"/>
              </a:ln>
            </p:spPr>
          </p:sp>
        </p:grpSp>
        <p:sp>
          <p:nvSpPr>
            <p:cNvPr id="23561" name="Text Box 11"/>
            <p:cNvSpPr txBox="1"/>
            <p:nvPr/>
          </p:nvSpPr>
          <p:spPr>
            <a:xfrm>
              <a:off x="2839" y="1212"/>
              <a:ext cx="215" cy="327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z</a:t>
              </a:r>
              <a:endParaRPr lang="en-US" altLang="zh-CN" sz="2800" dirty="0">
                <a:latin typeface="Times New Roman" panose="02020603050405020304" pitchFamily="18" charset="0"/>
              </a:endParaRPr>
            </a:p>
          </p:txBody>
        </p:sp>
        <p:sp>
          <p:nvSpPr>
            <p:cNvPr id="23562" name="Oval 12"/>
            <p:cNvSpPr/>
            <p:nvPr/>
          </p:nvSpPr>
          <p:spPr>
            <a:xfrm>
              <a:off x="4363" y="3551"/>
              <a:ext cx="66" cy="66"/>
            </a:xfrm>
            <a:prstGeom prst="ellipse">
              <a:avLst/>
            </a:prstGeom>
            <a:solidFill>
              <a:srgbClr val="3333FF"/>
            </a:solidFill>
            <a:ln w="19050" cap="flat" cmpd="sng">
              <a:solidFill>
                <a:srgbClr val="3333FF"/>
              </a:solidFill>
              <a:prstDash val="solid"/>
              <a:headEnd type="none" w="med" len="med"/>
              <a:tailEnd type="none" w="sm" len="lg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23563" name="Group 13"/>
            <p:cNvGrpSpPr/>
            <p:nvPr/>
          </p:nvGrpSpPr>
          <p:grpSpPr>
            <a:xfrm>
              <a:off x="779" y="2623"/>
              <a:ext cx="1000" cy="690"/>
              <a:chOff x="1691" y="1711"/>
              <a:chExt cx="1000" cy="690"/>
            </a:xfrm>
          </p:grpSpPr>
          <p:sp>
            <p:nvSpPr>
              <p:cNvPr id="23613" name="Rectangle 14"/>
              <p:cNvSpPr/>
              <p:nvPr/>
            </p:nvSpPr>
            <p:spPr>
              <a:xfrm>
                <a:off x="1691" y="1778"/>
                <a:ext cx="1000" cy="558"/>
              </a:xfrm>
              <a:prstGeom prst="rect">
                <a:avLst/>
              </a:prstGeom>
              <a:solidFill>
                <a:srgbClr val="E1FDFF"/>
              </a:solidFill>
              <a:ln w="28575" cap="flat" cmpd="sng">
                <a:solidFill>
                  <a:srgbClr val="3333FF"/>
                </a:solidFill>
                <a:prstDash val="solid"/>
                <a:miter/>
                <a:headEnd type="none" w="med" len="med"/>
                <a:tailEnd type="none" w="sm" len="lg"/>
              </a:ln>
            </p:spPr>
            <p:txBody>
              <a:bodyPr wrap="none" anchor="ctr" anchorCtr="0"/>
              <a:p>
                <a:pPr eaLnBrk="1" hangingPunct="1"/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3614" name="Text Box 15"/>
              <p:cNvSpPr txBox="1"/>
              <p:nvPr/>
            </p:nvSpPr>
            <p:spPr>
              <a:xfrm>
                <a:off x="1723" y="2010"/>
                <a:ext cx="354" cy="327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none">
                <a:spAutoFit/>
              </a:bodyPr>
              <a:p>
                <a:pPr eaLnBrk="1" hangingPunct="1"/>
                <a:r>
                  <a:rPr lang="en-US" altLang="zh-CN" sz="2800" dirty="0">
                    <a:latin typeface="Times New Roman" panose="02020603050405020304" pitchFamily="18" charset="0"/>
                  </a:rPr>
                  <a:t>K</a:t>
                </a:r>
                <a:r>
                  <a:rPr lang="en-US" altLang="zh-CN" sz="2800" baseline="-25000" dirty="0">
                    <a:latin typeface="Times New Roman" panose="02020603050405020304" pitchFamily="18" charset="0"/>
                  </a:rPr>
                  <a:t>3</a:t>
                </a:r>
                <a:endParaRPr lang="en-US" altLang="zh-CN" sz="28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3615" name="Text Box 16"/>
              <p:cNvSpPr txBox="1"/>
              <p:nvPr/>
            </p:nvSpPr>
            <p:spPr>
              <a:xfrm>
                <a:off x="2056" y="1943"/>
                <a:ext cx="265" cy="327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none">
                <a:spAutoFit/>
              </a:bodyPr>
              <a:p>
                <a:pPr eaLnBrk="1" hangingPunct="1"/>
                <a:r>
                  <a:rPr lang="en-US" altLang="zh-CN" sz="2800" dirty="0">
                    <a:latin typeface="Times New Roman" panose="02020603050405020304" pitchFamily="18" charset="0"/>
                  </a:rPr>
                  <a:t>C</a:t>
                </a:r>
                <a:endParaRPr lang="en-US" altLang="zh-CN" sz="28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3616" name="Freeform 17"/>
              <p:cNvSpPr/>
              <p:nvPr/>
            </p:nvSpPr>
            <p:spPr>
              <a:xfrm>
                <a:off x="2123" y="2234"/>
                <a:ext cx="123" cy="90"/>
              </a:xfrm>
              <a:custGeom>
                <a:avLst/>
                <a:gdLst/>
                <a:ahLst/>
                <a:cxnLst>
                  <a:cxn ang="0">
                    <a:pos x="0" y="90"/>
                  </a:cxn>
                  <a:cxn ang="0">
                    <a:pos x="62" y="0"/>
                  </a:cxn>
                  <a:cxn ang="0">
                    <a:pos x="123" y="90"/>
                  </a:cxn>
                </a:cxnLst>
                <a:pathLst>
                  <a:path w="712" h="356">
                    <a:moveTo>
                      <a:pt x="0" y="356"/>
                    </a:moveTo>
                    <a:lnTo>
                      <a:pt x="356" y="0"/>
                    </a:lnTo>
                    <a:lnTo>
                      <a:pt x="712" y="356"/>
                    </a:lnTo>
                  </a:path>
                </a:pathLst>
              </a:custGeom>
              <a:solidFill>
                <a:schemeClr val="bg1">
                  <a:alpha val="100000"/>
                </a:schemeClr>
              </a:solidFill>
              <a:ln w="28575" cap="flat" cmpd="sng">
                <a:solidFill>
                  <a:srgbClr val="3333FF">
                    <a:alpha val="100000"/>
                  </a:srgbClr>
                </a:solidFill>
                <a:prstDash val="solid"/>
                <a:round/>
                <a:headEnd type="none" w="med" len="med"/>
                <a:tailEnd type="none" w="sm" len="lg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3617" name="Oval 18"/>
              <p:cNvSpPr/>
              <p:nvPr/>
            </p:nvSpPr>
            <p:spPr>
              <a:xfrm>
                <a:off x="2147" y="2335"/>
                <a:ext cx="66" cy="66"/>
              </a:xfrm>
              <a:prstGeom prst="ellipse">
                <a:avLst/>
              </a:prstGeom>
              <a:solidFill>
                <a:schemeClr val="bg1"/>
              </a:solidFill>
              <a:ln w="28575" cap="flat" cmpd="sng">
                <a:solidFill>
                  <a:srgbClr val="3333FF"/>
                </a:solidFill>
                <a:prstDash val="solid"/>
                <a:headEnd type="none" w="med" len="med"/>
                <a:tailEnd type="none" w="sm" len="lg"/>
              </a:ln>
            </p:spPr>
            <p:txBody>
              <a:bodyPr wrap="none" anchor="ctr" anchorCtr="0"/>
              <a:p>
                <a:pPr eaLnBrk="1" hangingPunct="1"/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3618" name="Oval 19"/>
              <p:cNvSpPr/>
              <p:nvPr/>
            </p:nvSpPr>
            <p:spPr>
              <a:xfrm>
                <a:off x="1827" y="1711"/>
                <a:ext cx="66" cy="66"/>
              </a:xfrm>
              <a:prstGeom prst="ellipse">
                <a:avLst/>
              </a:prstGeom>
              <a:solidFill>
                <a:schemeClr val="bg1"/>
              </a:solidFill>
              <a:ln w="28575" cap="flat" cmpd="sng">
                <a:solidFill>
                  <a:srgbClr val="3333FF"/>
                </a:solidFill>
                <a:prstDash val="solid"/>
                <a:headEnd type="none" w="med" len="med"/>
                <a:tailEnd type="none" w="sm" len="lg"/>
              </a:ln>
            </p:spPr>
            <p:txBody>
              <a:bodyPr wrap="none" anchor="ctr" anchorCtr="0"/>
              <a:p>
                <a:pPr eaLnBrk="1" hangingPunct="1"/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3619" name="Text Box 20"/>
              <p:cNvSpPr txBox="1"/>
              <p:nvPr/>
            </p:nvSpPr>
            <p:spPr>
              <a:xfrm>
                <a:off x="2410" y="2010"/>
                <a:ext cx="279" cy="327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none">
                <a:spAutoFit/>
              </a:bodyPr>
              <a:p>
                <a:pPr eaLnBrk="1" hangingPunct="1"/>
                <a:r>
                  <a:rPr lang="en-US" altLang="zh-CN" sz="2800" dirty="0">
                    <a:latin typeface="Times New Roman" panose="02020603050405020304" pitchFamily="18" charset="0"/>
                  </a:rPr>
                  <a:t>J</a:t>
                </a:r>
                <a:r>
                  <a:rPr lang="en-US" altLang="zh-CN" sz="2800" baseline="-25000" dirty="0">
                    <a:latin typeface="Times New Roman" panose="02020603050405020304" pitchFamily="18" charset="0"/>
                  </a:rPr>
                  <a:t>3</a:t>
                </a:r>
                <a:endParaRPr lang="en-US" altLang="zh-CN" sz="2800" dirty="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23564" name="Rectangle 21"/>
            <p:cNvSpPr/>
            <p:nvPr/>
          </p:nvSpPr>
          <p:spPr>
            <a:xfrm>
              <a:off x="3890" y="2690"/>
              <a:ext cx="1000" cy="558"/>
            </a:xfrm>
            <a:prstGeom prst="rect">
              <a:avLst/>
            </a:prstGeom>
            <a:solidFill>
              <a:srgbClr val="E1FDFF"/>
            </a:solidFill>
            <a:ln w="28575" cap="flat" cmpd="sng">
              <a:solidFill>
                <a:srgbClr val="3333FF"/>
              </a:solidFill>
              <a:prstDash val="solid"/>
              <a:miter/>
              <a:headEnd type="none" w="med" len="med"/>
              <a:tailEnd type="none" w="sm" len="lg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3565" name="Freeform 22"/>
            <p:cNvSpPr/>
            <p:nvPr/>
          </p:nvSpPr>
          <p:spPr>
            <a:xfrm>
              <a:off x="4335" y="3146"/>
              <a:ext cx="123" cy="90"/>
            </a:xfrm>
            <a:custGeom>
              <a:avLst/>
              <a:gdLst/>
              <a:ahLst/>
              <a:cxnLst>
                <a:cxn ang="0">
                  <a:pos x="0" y="90"/>
                </a:cxn>
                <a:cxn ang="0">
                  <a:pos x="62" y="0"/>
                </a:cxn>
                <a:cxn ang="0">
                  <a:pos x="123" y="90"/>
                </a:cxn>
              </a:cxnLst>
              <a:pathLst>
                <a:path w="712" h="356">
                  <a:moveTo>
                    <a:pt x="0" y="356"/>
                  </a:moveTo>
                  <a:lnTo>
                    <a:pt x="356" y="0"/>
                  </a:lnTo>
                  <a:lnTo>
                    <a:pt x="712" y="356"/>
                  </a:lnTo>
                </a:path>
              </a:pathLst>
            </a:custGeom>
            <a:solidFill>
              <a:schemeClr val="bg1">
                <a:alpha val="100000"/>
              </a:schemeClr>
            </a:solidFill>
            <a:ln w="28575" cap="flat" cmpd="sng">
              <a:solidFill>
                <a:srgbClr val="3333FF">
                  <a:alpha val="100000"/>
                </a:srgbClr>
              </a:solidFill>
              <a:prstDash val="solid"/>
              <a:round/>
              <a:headEnd type="none" w="med" len="med"/>
              <a:tailEnd type="none" w="sm" len="lg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3566" name="Oval 23"/>
            <p:cNvSpPr/>
            <p:nvPr/>
          </p:nvSpPr>
          <p:spPr>
            <a:xfrm>
              <a:off x="4359" y="3247"/>
              <a:ext cx="66" cy="66"/>
            </a:xfrm>
            <a:prstGeom prst="ellipse">
              <a:avLst/>
            </a:prstGeom>
            <a:solidFill>
              <a:schemeClr val="bg1"/>
            </a:solidFill>
            <a:ln w="28575" cap="flat" cmpd="sng">
              <a:solidFill>
                <a:srgbClr val="3333FF"/>
              </a:solidFill>
              <a:prstDash val="solid"/>
              <a:headEnd type="none" w="med" len="med"/>
              <a:tailEnd type="none" w="sm" len="lg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3567" name="Text Box 24"/>
            <p:cNvSpPr txBox="1"/>
            <p:nvPr/>
          </p:nvSpPr>
          <p:spPr>
            <a:xfrm>
              <a:off x="3910" y="2922"/>
              <a:ext cx="354" cy="327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K</a:t>
              </a:r>
              <a:r>
                <a:rPr lang="en-US" altLang="zh-CN" sz="2800" baseline="-25000" dirty="0">
                  <a:latin typeface="Times New Roman" panose="02020603050405020304" pitchFamily="18" charset="0"/>
                </a:rPr>
                <a:t>1</a:t>
              </a:r>
              <a:endParaRPr lang="en-US" altLang="zh-CN" sz="2800" dirty="0">
                <a:latin typeface="Times New Roman" panose="02020603050405020304" pitchFamily="18" charset="0"/>
              </a:endParaRPr>
            </a:p>
          </p:txBody>
        </p:sp>
        <p:sp>
          <p:nvSpPr>
            <p:cNvPr id="23568" name="Text Box 25"/>
            <p:cNvSpPr txBox="1"/>
            <p:nvPr/>
          </p:nvSpPr>
          <p:spPr>
            <a:xfrm>
              <a:off x="4267" y="2855"/>
              <a:ext cx="265" cy="327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C</a:t>
              </a:r>
              <a:endParaRPr lang="en-US" altLang="zh-CN" sz="2800" dirty="0">
                <a:latin typeface="Times New Roman" panose="02020603050405020304" pitchFamily="18" charset="0"/>
              </a:endParaRPr>
            </a:p>
          </p:txBody>
        </p:sp>
        <p:sp>
          <p:nvSpPr>
            <p:cNvPr id="23569" name="Text Box 26"/>
            <p:cNvSpPr txBox="1"/>
            <p:nvPr/>
          </p:nvSpPr>
          <p:spPr>
            <a:xfrm>
              <a:off x="4606" y="2922"/>
              <a:ext cx="279" cy="327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J</a:t>
              </a:r>
              <a:r>
                <a:rPr lang="en-US" altLang="zh-CN" sz="2800" baseline="-25000" dirty="0">
                  <a:latin typeface="Times New Roman" panose="02020603050405020304" pitchFamily="18" charset="0"/>
                </a:rPr>
                <a:t>1</a:t>
              </a:r>
              <a:endParaRPr lang="en-US" altLang="zh-CN" sz="2800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23570" name="Group 27"/>
            <p:cNvGrpSpPr/>
            <p:nvPr/>
          </p:nvGrpSpPr>
          <p:grpSpPr>
            <a:xfrm>
              <a:off x="2342" y="2625"/>
              <a:ext cx="1000" cy="688"/>
              <a:chOff x="3482" y="1713"/>
              <a:chExt cx="1000" cy="688"/>
            </a:xfrm>
          </p:grpSpPr>
          <p:sp>
            <p:nvSpPr>
              <p:cNvPr id="23606" name="Rectangle 28"/>
              <p:cNvSpPr/>
              <p:nvPr/>
            </p:nvSpPr>
            <p:spPr>
              <a:xfrm>
                <a:off x="3482" y="1778"/>
                <a:ext cx="1000" cy="558"/>
              </a:xfrm>
              <a:prstGeom prst="rect">
                <a:avLst/>
              </a:prstGeom>
              <a:solidFill>
                <a:srgbClr val="E1FDFF"/>
              </a:solidFill>
              <a:ln w="28575" cap="flat" cmpd="sng">
                <a:solidFill>
                  <a:srgbClr val="3333FF"/>
                </a:solidFill>
                <a:prstDash val="solid"/>
                <a:miter/>
                <a:headEnd type="none" w="med" len="med"/>
                <a:tailEnd type="none" w="sm" len="lg"/>
              </a:ln>
            </p:spPr>
            <p:txBody>
              <a:bodyPr wrap="none" anchor="ctr" anchorCtr="0"/>
              <a:p>
                <a:pPr eaLnBrk="1" hangingPunct="1"/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3607" name="Freeform 29"/>
              <p:cNvSpPr/>
              <p:nvPr/>
            </p:nvSpPr>
            <p:spPr>
              <a:xfrm>
                <a:off x="3927" y="2234"/>
                <a:ext cx="123" cy="90"/>
              </a:xfrm>
              <a:custGeom>
                <a:avLst/>
                <a:gdLst/>
                <a:ahLst/>
                <a:cxnLst>
                  <a:cxn ang="0">
                    <a:pos x="0" y="90"/>
                  </a:cxn>
                  <a:cxn ang="0">
                    <a:pos x="62" y="0"/>
                  </a:cxn>
                  <a:cxn ang="0">
                    <a:pos x="123" y="90"/>
                  </a:cxn>
                </a:cxnLst>
                <a:pathLst>
                  <a:path w="712" h="356">
                    <a:moveTo>
                      <a:pt x="0" y="356"/>
                    </a:moveTo>
                    <a:lnTo>
                      <a:pt x="356" y="0"/>
                    </a:lnTo>
                    <a:lnTo>
                      <a:pt x="712" y="356"/>
                    </a:lnTo>
                  </a:path>
                </a:pathLst>
              </a:custGeom>
              <a:solidFill>
                <a:schemeClr val="bg1">
                  <a:alpha val="100000"/>
                </a:schemeClr>
              </a:solidFill>
              <a:ln w="28575" cap="flat" cmpd="sng">
                <a:solidFill>
                  <a:srgbClr val="3333FF">
                    <a:alpha val="100000"/>
                  </a:srgbClr>
                </a:solidFill>
                <a:prstDash val="solid"/>
                <a:round/>
                <a:headEnd type="none" w="med" len="med"/>
                <a:tailEnd type="none" w="sm" len="lg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3608" name="Oval 30"/>
              <p:cNvSpPr/>
              <p:nvPr/>
            </p:nvSpPr>
            <p:spPr>
              <a:xfrm>
                <a:off x="3951" y="2335"/>
                <a:ext cx="66" cy="66"/>
              </a:xfrm>
              <a:prstGeom prst="ellipse">
                <a:avLst/>
              </a:prstGeom>
              <a:solidFill>
                <a:schemeClr val="bg1"/>
              </a:solidFill>
              <a:ln w="28575" cap="flat" cmpd="sng">
                <a:solidFill>
                  <a:srgbClr val="3333FF"/>
                </a:solidFill>
                <a:prstDash val="solid"/>
                <a:headEnd type="none" w="med" len="med"/>
                <a:tailEnd type="none" w="sm" len="lg"/>
              </a:ln>
            </p:spPr>
            <p:txBody>
              <a:bodyPr wrap="none" anchor="ctr" anchorCtr="0"/>
              <a:p>
                <a:pPr eaLnBrk="1" hangingPunct="1"/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3609" name="Text Box 31"/>
              <p:cNvSpPr txBox="1"/>
              <p:nvPr/>
            </p:nvSpPr>
            <p:spPr>
              <a:xfrm>
                <a:off x="3502" y="2010"/>
                <a:ext cx="354" cy="327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none">
                <a:spAutoFit/>
              </a:bodyPr>
              <a:p>
                <a:pPr eaLnBrk="1" hangingPunct="1"/>
                <a:r>
                  <a:rPr lang="en-US" altLang="zh-CN" sz="2800" dirty="0">
                    <a:latin typeface="Times New Roman" panose="02020603050405020304" pitchFamily="18" charset="0"/>
                  </a:rPr>
                  <a:t>K</a:t>
                </a:r>
                <a:r>
                  <a:rPr lang="en-US" altLang="zh-CN" sz="2800" baseline="-25000" dirty="0">
                    <a:latin typeface="Times New Roman" panose="02020603050405020304" pitchFamily="18" charset="0"/>
                  </a:rPr>
                  <a:t>2</a:t>
                </a:r>
                <a:endParaRPr lang="en-US" altLang="zh-CN" sz="28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3610" name="Text Box 32"/>
              <p:cNvSpPr txBox="1"/>
              <p:nvPr/>
            </p:nvSpPr>
            <p:spPr>
              <a:xfrm>
                <a:off x="3859" y="1943"/>
                <a:ext cx="265" cy="327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none">
                <a:spAutoFit/>
              </a:bodyPr>
              <a:p>
                <a:pPr eaLnBrk="1" hangingPunct="1"/>
                <a:r>
                  <a:rPr lang="en-US" altLang="zh-CN" sz="2800" dirty="0">
                    <a:latin typeface="Times New Roman" panose="02020603050405020304" pitchFamily="18" charset="0"/>
                  </a:rPr>
                  <a:t>C</a:t>
                </a:r>
                <a:endParaRPr lang="en-US" altLang="zh-CN" sz="28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3611" name="Oval 33"/>
              <p:cNvSpPr/>
              <p:nvPr/>
            </p:nvSpPr>
            <p:spPr>
              <a:xfrm>
                <a:off x="3617" y="1713"/>
                <a:ext cx="66" cy="66"/>
              </a:xfrm>
              <a:prstGeom prst="ellipse">
                <a:avLst/>
              </a:prstGeom>
              <a:solidFill>
                <a:schemeClr val="bg1"/>
              </a:solidFill>
              <a:ln w="28575" cap="flat" cmpd="sng">
                <a:solidFill>
                  <a:srgbClr val="3333FF"/>
                </a:solidFill>
                <a:prstDash val="solid"/>
                <a:headEnd type="none" w="med" len="med"/>
                <a:tailEnd type="none" w="sm" len="lg"/>
              </a:ln>
            </p:spPr>
            <p:txBody>
              <a:bodyPr wrap="none" anchor="ctr" anchorCtr="0"/>
              <a:p>
                <a:pPr eaLnBrk="1" hangingPunct="1"/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3612" name="Text Box 34"/>
              <p:cNvSpPr txBox="1"/>
              <p:nvPr/>
            </p:nvSpPr>
            <p:spPr>
              <a:xfrm>
                <a:off x="4198" y="2010"/>
                <a:ext cx="279" cy="327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none">
                <a:spAutoFit/>
              </a:bodyPr>
              <a:p>
                <a:pPr eaLnBrk="1" hangingPunct="1"/>
                <a:r>
                  <a:rPr lang="en-US" altLang="zh-CN" sz="2800" dirty="0">
                    <a:latin typeface="Times New Roman" panose="02020603050405020304" pitchFamily="18" charset="0"/>
                  </a:rPr>
                  <a:t>J</a:t>
                </a:r>
                <a:r>
                  <a:rPr lang="en-US" altLang="zh-CN" sz="2800" baseline="-25000" dirty="0">
                    <a:latin typeface="Times New Roman" panose="02020603050405020304" pitchFamily="18" charset="0"/>
                  </a:rPr>
                  <a:t>2</a:t>
                </a:r>
                <a:endParaRPr lang="en-US" altLang="zh-CN" sz="2800" dirty="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23571" name="Freeform 35"/>
            <p:cNvSpPr/>
            <p:nvPr/>
          </p:nvSpPr>
          <p:spPr>
            <a:xfrm>
              <a:off x="1260" y="2052"/>
              <a:ext cx="1416" cy="1452"/>
            </a:xfrm>
            <a:custGeom>
              <a:avLst/>
              <a:gdLst/>
              <a:ahLst/>
              <a:cxnLst>
                <a:cxn ang="0">
                  <a:pos x="0" y="1272"/>
                </a:cxn>
                <a:cxn ang="0">
                  <a:pos x="0" y="1452"/>
                </a:cxn>
                <a:cxn ang="0">
                  <a:pos x="780" y="1452"/>
                </a:cxn>
                <a:cxn ang="0">
                  <a:pos x="780" y="396"/>
                </a:cxn>
                <a:cxn ang="0">
                  <a:pos x="1416" y="396"/>
                </a:cxn>
                <a:cxn ang="0">
                  <a:pos x="1416" y="0"/>
                </a:cxn>
              </a:cxnLst>
              <a:pathLst>
                <a:path w="1416" h="1452">
                  <a:moveTo>
                    <a:pt x="0" y="1272"/>
                  </a:moveTo>
                  <a:lnTo>
                    <a:pt x="0" y="1452"/>
                  </a:lnTo>
                  <a:lnTo>
                    <a:pt x="780" y="1452"/>
                  </a:lnTo>
                  <a:lnTo>
                    <a:pt x="780" y="396"/>
                  </a:lnTo>
                  <a:lnTo>
                    <a:pt x="1416" y="396"/>
                  </a:lnTo>
                  <a:lnTo>
                    <a:pt x="1416" y="0"/>
                  </a:lnTo>
                </a:path>
              </a:pathLst>
            </a:custGeom>
            <a:noFill/>
            <a:ln w="19050" cap="flat" cmpd="sng">
              <a:solidFill>
                <a:srgbClr val="3333FF">
                  <a:alpha val="100000"/>
                </a:srgbClr>
              </a:solidFill>
              <a:prstDash val="solid"/>
              <a:round/>
              <a:headEnd type="none" w="med" len="med"/>
              <a:tailEnd type="none" w="sm" len="lg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3572" name="Freeform 36"/>
            <p:cNvSpPr/>
            <p:nvPr/>
          </p:nvSpPr>
          <p:spPr>
            <a:xfrm>
              <a:off x="2844" y="2376"/>
              <a:ext cx="732" cy="1152"/>
            </a:xfrm>
            <a:custGeom>
              <a:avLst/>
              <a:gdLst/>
              <a:ahLst/>
              <a:cxnLst>
                <a:cxn ang="0">
                  <a:pos x="0" y="947"/>
                </a:cxn>
                <a:cxn ang="0">
                  <a:pos x="0" y="1152"/>
                </a:cxn>
                <a:cxn ang="0">
                  <a:pos x="732" y="1152"/>
                </a:cxn>
                <a:cxn ang="0">
                  <a:pos x="732" y="0"/>
                </a:cxn>
              </a:cxnLst>
              <a:pathLst>
                <a:path w="732" h="1080">
                  <a:moveTo>
                    <a:pt x="0" y="888"/>
                  </a:moveTo>
                  <a:lnTo>
                    <a:pt x="0" y="1080"/>
                  </a:lnTo>
                  <a:lnTo>
                    <a:pt x="732" y="1080"/>
                  </a:lnTo>
                  <a:lnTo>
                    <a:pt x="732" y="0"/>
                  </a:lnTo>
                </a:path>
              </a:pathLst>
            </a:custGeom>
            <a:noFill/>
            <a:ln w="19050" cap="flat" cmpd="sng">
              <a:solidFill>
                <a:srgbClr val="3333FF">
                  <a:alpha val="100000"/>
                </a:srgbClr>
              </a:solidFill>
              <a:prstDash val="solid"/>
              <a:round/>
              <a:headEnd type="none" w="med" len="med"/>
              <a:tailEnd type="none" w="sm" len="lg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3573" name="Freeform 37"/>
            <p:cNvSpPr/>
            <p:nvPr/>
          </p:nvSpPr>
          <p:spPr>
            <a:xfrm>
              <a:off x="3024" y="2064"/>
              <a:ext cx="1032" cy="600"/>
            </a:xfrm>
            <a:custGeom>
              <a:avLst/>
              <a:gdLst/>
              <a:ahLst/>
              <a:cxnLst>
                <a:cxn ang="0">
                  <a:pos x="1032" y="600"/>
                </a:cxn>
                <a:cxn ang="0">
                  <a:pos x="1032" y="365"/>
                </a:cxn>
                <a:cxn ang="0">
                  <a:pos x="0" y="365"/>
                </a:cxn>
                <a:cxn ang="0">
                  <a:pos x="0" y="0"/>
                </a:cxn>
              </a:cxnLst>
              <a:pathLst>
                <a:path w="1020" h="552">
                  <a:moveTo>
                    <a:pt x="1020" y="552"/>
                  </a:moveTo>
                  <a:lnTo>
                    <a:pt x="1020" y="336"/>
                  </a:lnTo>
                  <a:lnTo>
                    <a:pt x="0" y="336"/>
                  </a:ln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rgbClr val="3333FF">
                  <a:alpha val="100000"/>
                </a:srgbClr>
              </a:solidFill>
              <a:prstDash val="solid"/>
              <a:round/>
              <a:headEnd type="none" w="med" len="med"/>
              <a:tailEnd type="none" w="sm" len="lg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3574" name="Line 38"/>
            <p:cNvSpPr/>
            <p:nvPr/>
          </p:nvSpPr>
          <p:spPr>
            <a:xfrm>
              <a:off x="4392" y="3312"/>
              <a:ext cx="0" cy="420"/>
            </a:xfrm>
            <a:prstGeom prst="line">
              <a:avLst/>
            </a:prstGeom>
            <a:ln w="19050" cap="flat" cmpd="sng">
              <a:solidFill>
                <a:srgbClr val="3333FF"/>
              </a:solidFill>
              <a:prstDash val="solid"/>
              <a:headEnd type="none" w="med" len="med"/>
              <a:tailEnd type="none" w="sm" len="lg"/>
            </a:ln>
          </p:spPr>
        </p:sp>
        <p:sp>
          <p:nvSpPr>
            <p:cNvPr id="23575" name="Freeform 39"/>
            <p:cNvSpPr/>
            <p:nvPr/>
          </p:nvSpPr>
          <p:spPr>
            <a:xfrm>
              <a:off x="3180" y="2064"/>
              <a:ext cx="1860" cy="151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39"/>
                </a:cxn>
                <a:cxn ang="0">
                  <a:pos x="1860" y="239"/>
                </a:cxn>
                <a:cxn ang="0">
                  <a:pos x="1860" y="1512"/>
                </a:cxn>
                <a:cxn ang="0">
                  <a:pos x="1216" y="1512"/>
                </a:cxn>
              </a:cxnLst>
              <a:pathLst>
                <a:path w="1872" h="1368">
                  <a:moveTo>
                    <a:pt x="0" y="0"/>
                  </a:moveTo>
                  <a:lnTo>
                    <a:pt x="0" y="216"/>
                  </a:lnTo>
                  <a:lnTo>
                    <a:pt x="1872" y="216"/>
                  </a:lnTo>
                  <a:lnTo>
                    <a:pt x="1872" y="1368"/>
                  </a:lnTo>
                  <a:lnTo>
                    <a:pt x="1224" y="1368"/>
                  </a:lnTo>
                </a:path>
              </a:pathLst>
            </a:custGeom>
            <a:noFill/>
            <a:ln w="19050" cap="flat" cmpd="sng">
              <a:solidFill>
                <a:srgbClr val="3333FF">
                  <a:alpha val="100000"/>
                </a:srgbClr>
              </a:solidFill>
              <a:prstDash val="solid"/>
              <a:round/>
              <a:headEnd type="none" w="med" len="med"/>
              <a:tailEnd type="none" w="sm" len="lg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3576" name="Freeform 40"/>
            <p:cNvSpPr/>
            <p:nvPr/>
          </p:nvSpPr>
          <p:spPr>
            <a:xfrm>
              <a:off x="948" y="2040"/>
              <a:ext cx="1536" cy="588"/>
            </a:xfrm>
            <a:custGeom>
              <a:avLst/>
              <a:gdLst/>
              <a:ahLst/>
              <a:cxnLst>
                <a:cxn ang="0">
                  <a:pos x="0" y="588"/>
                </a:cxn>
                <a:cxn ang="0">
                  <a:pos x="0" y="263"/>
                </a:cxn>
                <a:cxn ang="0">
                  <a:pos x="1536" y="263"/>
                </a:cxn>
                <a:cxn ang="0">
                  <a:pos x="1536" y="0"/>
                </a:cxn>
              </a:cxnLst>
              <a:pathLst>
                <a:path w="1488" h="564">
                  <a:moveTo>
                    <a:pt x="0" y="564"/>
                  </a:moveTo>
                  <a:lnTo>
                    <a:pt x="0" y="252"/>
                  </a:lnTo>
                  <a:lnTo>
                    <a:pt x="1488" y="252"/>
                  </a:lnTo>
                  <a:lnTo>
                    <a:pt x="1488" y="0"/>
                  </a:lnTo>
                </a:path>
              </a:pathLst>
            </a:custGeom>
            <a:noFill/>
            <a:ln w="19050" cap="flat" cmpd="sng">
              <a:solidFill>
                <a:srgbClr val="3333FF">
                  <a:alpha val="100000"/>
                </a:srgbClr>
              </a:solidFill>
              <a:prstDash val="solid"/>
              <a:round/>
              <a:headEnd type="none" w="med" len="med"/>
              <a:tailEnd type="none" w="sm" len="lg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3577" name="Line 41"/>
            <p:cNvSpPr/>
            <p:nvPr/>
          </p:nvSpPr>
          <p:spPr>
            <a:xfrm>
              <a:off x="2508" y="2448"/>
              <a:ext cx="0" cy="180"/>
            </a:xfrm>
            <a:prstGeom prst="line">
              <a:avLst/>
            </a:prstGeom>
            <a:ln w="19050" cap="flat" cmpd="sng">
              <a:solidFill>
                <a:srgbClr val="3333FF"/>
              </a:solidFill>
              <a:prstDash val="solid"/>
              <a:headEnd type="none" w="med" len="med"/>
              <a:tailEnd type="none" w="sm" len="lg"/>
            </a:ln>
          </p:spPr>
        </p:sp>
        <p:sp>
          <p:nvSpPr>
            <p:cNvPr id="23578" name="Line 42"/>
            <p:cNvSpPr/>
            <p:nvPr/>
          </p:nvSpPr>
          <p:spPr>
            <a:xfrm flipV="1">
              <a:off x="2832" y="1272"/>
              <a:ext cx="0" cy="432"/>
            </a:xfrm>
            <a:prstGeom prst="line">
              <a:avLst/>
            </a:prstGeom>
            <a:ln w="19050" cap="flat" cmpd="sng">
              <a:solidFill>
                <a:srgbClr val="3333FF"/>
              </a:solidFill>
              <a:prstDash val="solid"/>
              <a:headEnd type="none" w="med" len="med"/>
              <a:tailEnd type="none" w="sm" len="lg"/>
            </a:ln>
          </p:spPr>
        </p:sp>
        <p:sp>
          <p:nvSpPr>
            <p:cNvPr id="23579" name="Text Box 43"/>
            <p:cNvSpPr txBox="1"/>
            <p:nvPr/>
          </p:nvSpPr>
          <p:spPr>
            <a:xfrm>
              <a:off x="1140" y="3471"/>
              <a:ext cx="466" cy="327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CP</a:t>
              </a:r>
              <a:r>
                <a:rPr lang="en-US" altLang="zh-CN" sz="2800" baseline="-25000" dirty="0">
                  <a:latin typeface="Times New Roman" panose="02020603050405020304" pitchFamily="18" charset="0"/>
                </a:rPr>
                <a:t>3</a:t>
              </a:r>
              <a:endParaRPr lang="en-US" altLang="zh-CN" sz="2800" dirty="0">
                <a:latin typeface="Times New Roman" panose="02020603050405020304" pitchFamily="18" charset="0"/>
              </a:endParaRPr>
            </a:p>
          </p:txBody>
        </p:sp>
        <p:sp>
          <p:nvSpPr>
            <p:cNvPr id="23580" name="Oval 44"/>
            <p:cNvSpPr/>
            <p:nvPr/>
          </p:nvSpPr>
          <p:spPr>
            <a:xfrm>
              <a:off x="4025" y="2625"/>
              <a:ext cx="66" cy="66"/>
            </a:xfrm>
            <a:prstGeom prst="ellipse">
              <a:avLst/>
            </a:prstGeom>
            <a:solidFill>
              <a:schemeClr val="bg1"/>
            </a:solidFill>
            <a:ln w="28575" cap="flat" cmpd="sng">
              <a:solidFill>
                <a:srgbClr val="3333FF"/>
              </a:solidFill>
              <a:prstDash val="solid"/>
              <a:headEnd type="none" w="med" len="med"/>
              <a:tailEnd type="none" w="sm" len="lg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3581" name="Text Box 45"/>
            <p:cNvSpPr txBox="1"/>
            <p:nvPr/>
          </p:nvSpPr>
          <p:spPr>
            <a:xfrm>
              <a:off x="2350" y="1719"/>
              <a:ext cx="957" cy="345"/>
            </a:xfrm>
            <a:prstGeom prst="rect">
              <a:avLst/>
            </a:prstGeom>
            <a:solidFill>
              <a:srgbClr val="E1FDFF"/>
            </a:solidFill>
            <a:ln w="28575" cap="flat" cmpd="sng">
              <a:solidFill>
                <a:schemeClr val="accent2"/>
              </a:solidFill>
              <a:prstDash val="solid"/>
              <a:miter/>
              <a:headEnd type="none" w="med" len="med"/>
              <a:tailEnd type="none" w="sm" len="lg"/>
            </a:ln>
          </p:spPr>
          <p:txBody>
            <a:bodyPr>
              <a:spAutoFit/>
            </a:bodyPr>
            <a:p>
              <a:pPr algn="ctr" eaLnBrk="1" hangingPunct="1"/>
              <a:r>
                <a:rPr lang="en-US" altLang="zh-CN" sz="2800" dirty="0">
                  <a:latin typeface="Times New Roman" panose="02020603050405020304" pitchFamily="18" charset="0"/>
                  <a:sym typeface="Symbol" panose="05050102010706020507" pitchFamily="18" charset="2"/>
                </a:rPr>
                <a:t>&amp;</a:t>
              </a:r>
              <a:endParaRPr lang="en-US" altLang="zh-CN" sz="2800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23582" name="Group 46"/>
            <p:cNvGrpSpPr/>
            <p:nvPr/>
          </p:nvGrpSpPr>
          <p:grpSpPr>
            <a:xfrm>
              <a:off x="2626" y="2353"/>
              <a:ext cx="354" cy="327"/>
              <a:chOff x="4750" y="1153"/>
              <a:chExt cx="354" cy="327"/>
            </a:xfrm>
          </p:grpSpPr>
          <p:sp>
            <p:nvSpPr>
              <p:cNvPr id="23604" name="Text Box 47"/>
              <p:cNvSpPr txBox="1"/>
              <p:nvPr/>
            </p:nvSpPr>
            <p:spPr>
              <a:xfrm>
                <a:off x="4750" y="1153"/>
                <a:ext cx="354" cy="327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none">
                <a:spAutoFit/>
              </a:bodyPr>
              <a:p>
                <a:pPr eaLnBrk="1" hangingPunct="1"/>
                <a:r>
                  <a:rPr lang="en-US" altLang="zh-CN" sz="2800" dirty="0">
                    <a:latin typeface="Times New Roman" panose="02020603050405020304" pitchFamily="18" charset="0"/>
                  </a:rPr>
                  <a:t>Q</a:t>
                </a:r>
                <a:r>
                  <a:rPr lang="en-US" altLang="zh-CN" sz="2800" baseline="-25000" dirty="0">
                    <a:latin typeface="Times New Roman" panose="02020603050405020304" pitchFamily="18" charset="0"/>
                  </a:rPr>
                  <a:t>2</a:t>
                </a:r>
                <a:endParaRPr lang="en-US" altLang="zh-CN" sz="28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3605" name="Line 48"/>
              <p:cNvSpPr/>
              <p:nvPr/>
            </p:nvSpPr>
            <p:spPr>
              <a:xfrm>
                <a:off x="4809" y="1232"/>
                <a:ext cx="156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sm" len="lg"/>
              </a:ln>
            </p:spPr>
          </p:sp>
        </p:grpSp>
        <p:grpSp>
          <p:nvGrpSpPr>
            <p:cNvPr id="23583" name="Group 49"/>
            <p:cNvGrpSpPr/>
            <p:nvPr/>
          </p:nvGrpSpPr>
          <p:grpSpPr>
            <a:xfrm>
              <a:off x="994" y="2341"/>
              <a:ext cx="354" cy="327"/>
              <a:chOff x="4750" y="1153"/>
              <a:chExt cx="354" cy="327"/>
            </a:xfrm>
          </p:grpSpPr>
          <p:sp>
            <p:nvSpPr>
              <p:cNvPr id="23602" name="Text Box 50"/>
              <p:cNvSpPr txBox="1"/>
              <p:nvPr/>
            </p:nvSpPr>
            <p:spPr>
              <a:xfrm>
                <a:off x="4750" y="1153"/>
                <a:ext cx="354" cy="327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none">
                <a:spAutoFit/>
              </a:bodyPr>
              <a:p>
                <a:pPr eaLnBrk="1" hangingPunct="1"/>
                <a:r>
                  <a:rPr lang="en-US" altLang="zh-CN" sz="2800" dirty="0">
                    <a:latin typeface="Times New Roman" panose="02020603050405020304" pitchFamily="18" charset="0"/>
                  </a:rPr>
                  <a:t>Q</a:t>
                </a:r>
                <a:r>
                  <a:rPr lang="en-US" altLang="zh-CN" sz="2800" baseline="-25000" dirty="0">
                    <a:latin typeface="Times New Roman" panose="02020603050405020304" pitchFamily="18" charset="0"/>
                  </a:rPr>
                  <a:t>3</a:t>
                </a:r>
                <a:endParaRPr lang="en-US" altLang="zh-CN" sz="28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3603" name="Line 51"/>
              <p:cNvSpPr/>
              <p:nvPr/>
            </p:nvSpPr>
            <p:spPr>
              <a:xfrm>
                <a:off x="4809" y="1232"/>
                <a:ext cx="156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sm" len="lg"/>
              </a:ln>
            </p:spPr>
          </p:sp>
        </p:grpSp>
        <p:sp>
          <p:nvSpPr>
            <p:cNvPr id="23584" name="Line 52"/>
            <p:cNvSpPr/>
            <p:nvPr/>
          </p:nvSpPr>
          <p:spPr>
            <a:xfrm>
              <a:off x="588" y="3396"/>
              <a:ext cx="4152" cy="0"/>
            </a:xfrm>
            <a:prstGeom prst="line">
              <a:avLst/>
            </a:prstGeom>
            <a:ln w="19050" cap="flat" cmpd="sng">
              <a:solidFill>
                <a:srgbClr val="3333FF"/>
              </a:solidFill>
              <a:prstDash val="solid"/>
              <a:headEnd type="none" w="med" len="med"/>
              <a:tailEnd type="none" w="sm" len="lg"/>
            </a:ln>
          </p:spPr>
        </p:sp>
        <p:sp>
          <p:nvSpPr>
            <p:cNvPr id="23585" name="Line 53"/>
            <p:cNvSpPr/>
            <p:nvPr/>
          </p:nvSpPr>
          <p:spPr>
            <a:xfrm>
              <a:off x="4728" y="3252"/>
              <a:ext cx="0" cy="156"/>
            </a:xfrm>
            <a:prstGeom prst="line">
              <a:avLst/>
            </a:prstGeom>
            <a:ln w="19050" cap="flat" cmpd="sng">
              <a:solidFill>
                <a:srgbClr val="3333FF"/>
              </a:solidFill>
              <a:prstDash val="solid"/>
              <a:headEnd type="none" w="med" len="med"/>
              <a:tailEnd type="none" w="sm" len="lg"/>
            </a:ln>
          </p:spPr>
        </p:sp>
        <p:sp>
          <p:nvSpPr>
            <p:cNvPr id="23586" name="Line 54"/>
            <p:cNvSpPr/>
            <p:nvPr/>
          </p:nvSpPr>
          <p:spPr>
            <a:xfrm>
              <a:off x="4044" y="3252"/>
              <a:ext cx="0" cy="156"/>
            </a:xfrm>
            <a:prstGeom prst="line">
              <a:avLst/>
            </a:prstGeom>
            <a:ln w="19050" cap="flat" cmpd="sng">
              <a:solidFill>
                <a:srgbClr val="3333FF"/>
              </a:solidFill>
              <a:prstDash val="solid"/>
              <a:headEnd type="none" w="med" len="med"/>
              <a:tailEnd type="none" w="sm" len="lg"/>
            </a:ln>
          </p:spPr>
        </p:sp>
        <p:sp>
          <p:nvSpPr>
            <p:cNvPr id="23587" name="Line 55"/>
            <p:cNvSpPr/>
            <p:nvPr/>
          </p:nvSpPr>
          <p:spPr>
            <a:xfrm>
              <a:off x="3180" y="3252"/>
              <a:ext cx="0" cy="144"/>
            </a:xfrm>
            <a:prstGeom prst="line">
              <a:avLst/>
            </a:prstGeom>
            <a:ln w="19050" cap="flat" cmpd="sng">
              <a:solidFill>
                <a:srgbClr val="3333FF"/>
              </a:solidFill>
              <a:prstDash val="solid"/>
              <a:headEnd type="none" w="med" len="med"/>
              <a:tailEnd type="none" w="sm" len="lg"/>
            </a:ln>
          </p:spPr>
        </p:sp>
        <p:sp>
          <p:nvSpPr>
            <p:cNvPr id="23588" name="Line 56"/>
            <p:cNvSpPr/>
            <p:nvPr/>
          </p:nvSpPr>
          <p:spPr>
            <a:xfrm>
              <a:off x="2520" y="3252"/>
              <a:ext cx="0" cy="144"/>
            </a:xfrm>
            <a:prstGeom prst="line">
              <a:avLst/>
            </a:prstGeom>
            <a:ln w="19050" cap="flat" cmpd="sng">
              <a:solidFill>
                <a:srgbClr val="3333FF"/>
              </a:solidFill>
              <a:prstDash val="solid"/>
              <a:headEnd type="none" w="med" len="med"/>
              <a:tailEnd type="none" w="sm" len="lg"/>
            </a:ln>
          </p:spPr>
        </p:sp>
        <p:sp>
          <p:nvSpPr>
            <p:cNvPr id="23589" name="Line 57"/>
            <p:cNvSpPr/>
            <p:nvPr/>
          </p:nvSpPr>
          <p:spPr>
            <a:xfrm>
              <a:off x="1620" y="3252"/>
              <a:ext cx="0" cy="144"/>
            </a:xfrm>
            <a:prstGeom prst="line">
              <a:avLst/>
            </a:prstGeom>
            <a:ln w="19050" cap="flat" cmpd="sng">
              <a:solidFill>
                <a:srgbClr val="3333FF"/>
              </a:solidFill>
              <a:prstDash val="solid"/>
              <a:headEnd type="none" w="med" len="med"/>
              <a:tailEnd type="none" w="sm" len="lg"/>
            </a:ln>
          </p:spPr>
        </p:sp>
        <p:sp>
          <p:nvSpPr>
            <p:cNvPr id="23590" name="Line 58"/>
            <p:cNvSpPr/>
            <p:nvPr/>
          </p:nvSpPr>
          <p:spPr>
            <a:xfrm>
              <a:off x="936" y="3252"/>
              <a:ext cx="0" cy="144"/>
            </a:xfrm>
            <a:prstGeom prst="line">
              <a:avLst/>
            </a:prstGeom>
            <a:ln w="19050" cap="flat" cmpd="sng">
              <a:solidFill>
                <a:srgbClr val="3333FF"/>
              </a:solidFill>
              <a:prstDash val="solid"/>
              <a:headEnd type="none" w="med" len="med"/>
              <a:tailEnd type="none" w="sm" len="lg"/>
            </a:ln>
          </p:spPr>
        </p:sp>
        <p:sp>
          <p:nvSpPr>
            <p:cNvPr id="23591" name="Freeform 59"/>
            <p:cNvSpPr/>
            <p:nvPr/>
          </p:nvSpPr>
          <p:spPr>
            <a:xfrm>
              <a:off x="3180" y="2064"/>
              <a:ext cx="1860" cy="151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39"/>
                </a:cxn>
                <a:cxn ang="0">
                  <a:pos x="1860" y="239"/>
                </a:cxn>
                <a:cxn ang="0">
                  <a:pos x="1860" y="1512"/>
                </a:cxn>
                <a:cxn ang="0">
                  <a:pos x="1216" y="1512"/>
                </a:cxn>
              </a:cxnLst>
              <a:pathLst>
                <a:path w="1872" h="1368">
                  <a:moveTo>
                    <a:pt x="0" y="0"/>
                  </a:moveTo>
                  <a:lnTo>
                    <a:pt x="0" y="216"/>
                  </a:lnTo>
                  <a:lnTo>
                    <a:pt x="1872" y="216"/>
                  </a:lnTo>
                  <a:lnTo>
                    <a:pt x="1872" y="1368"/>
                  </a:lnTo>
                  <a:lnTo>
                    <a:pt x="1224" y="1368"/>
                  </a:lnTo>
                </a:path>
              </a:pathLst>
            </a:custGeom>
            <a:noFill/>
            <a:ln w="19050" cap="flat" cmpd="sng">
              <a:solidFill>
                <a:srgbClr val="3333FF">
                  <a:alpha val="100000"/>
                </a:srgbClr>
              </a:solidFill>
              <a:prstDash val="solid"/>
              <a:round/>
              <a:headEnd type="none" w="med" len="med"/>
              <a:tailEnd type="none" w="sm" len="lg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3592" name="Freeform 60"/>
            <p:cNvSpPr/>
            <p:nvPr/>
          </p:nvSpPr>
          <p:spPr>
            <a:xfrm>
              <a:off x="3024" y="2064"/>
              <a:ext cx="1032" cy="600"/>
            </a:xfrm>
            <a:custGeom>
              <a:avLst/>
              <a:gdLst/>
              <a:ahLst/>
              <a:cxnLst>
                <a:cxn ang="0">
                  <a:pos x="1032" y="600"/>
                </a:cxn>
                <a:cxn ang="0">
                  <a:pos x="1032" y="365"/>
                </a:cxn>
                <a:cxn ang="0">
                  <a:pos x="0" y="365"/>
                </a:cxn>
                <a:cxn ang="0">
                  <a:pos x="0" y="0"/>
                </a:cxn>
              </a:cxnLst>
              <a:pathLst>
                <a:path w="1020" h="552">
                  <a:moveTo>
                    <a:pt x="1020" y="552"/>
                  </a:moveTo>
                  <a:lnTo>
                    <a:pt x="1020" y="336"/>
                  </a:lnTo>
                  <a:lnTo>
                    <a:pt x="0" y="336"/>
                  </a:ln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rgbClr val="3333FF">
                  <a:alpha val="100000"/>
                </a:srgbClr>
              </a:solidFill>
              <a:prstDash val="solid"/>
              <a:round/>
              <a:headEnd type="none" w="med" len="med"/>
              <a:tailEnd type="none" w="sm" len="lg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3593" name="Oval 61"/>
            <p:cNvSpPr/>
            <p:nvPr/>
          </p:nvSpPr>
          <p:spPr>
            <a:xfrm>
              <a:off x="3543" y="2379"/>
              <a:ext cx="66" cy="66"/>
            </a:xfrm>
            <a:prstGeom prst="ellipse">
              <a:avLst/>
            </a:prstGeom>
            <a:solidFill>
              <a:srgbClr val="3333FF"/>
            </a:solidFill>
            <a:ln w="19050" cap="flat" cmpd="sng">
              <a:solidFill>
                <a:srgbClr val="3333FF"/>
              </a:solidFill>
              <a:prstDash val="solid"/>
              <a:headEnd type="none" w="med" len="med"/>
              <a:tailEnd type="none" w="sm" len="lg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3594" name="Freeform 62"/>
            <p:cNvSpPr/>
            <p:nvPr/>
          </p:nvSpPr>
          <p:spPr>
            <a:xfrm>
              <a:off x="3024" y="2064"/>
              <a:ext cx="1032" cy="600"/>
            </a:xfrm>
            <a:custGeom>
              <a:avLst/>
              <a:gdLst/>
              <a:ahLst/>
              <a:cxnLst>
                <a:cxn ang="0">
                  <a:pos x="1032" y="600"/>
                </a:cxn>
                <a:cxn ang="0">
                  <a:pos x="1032" y="365"/>
                </a:cxn>
                <a:cxn ang="0">
                  <a:pos x="0" y="365"/>
                </a:cxn>
                <a:cxn ang="0">
                  <a:pos x="0" y="0"/>
                </a:cxn>
              </a:cxnLst>
              <a:pathLst>
                <a:path w="1020" h="552">
                  <a:moveTo>
                    <a:pt x="1020" y="552"/>
                  </a:moveTo>
                  <a:lnTo>
                    <a:pt x="1020" y="336"/>
                  </a:lnTo>
                  <a:lnTo>
                    <a:pt x="0" y="336"/>
                  </a:ln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rgbClr val="3333FF">
                  <a:alpha val="100000"/>
                </a:srgbClr>
              </a:solidFill>
              <a:prstDash val="solid"/>
              <a:round/>
              <a:headEnd type="none" w="med" len="med"/>
              <a:tailEnd type="none" w="sm" len="lg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3595" name="Oval 63"/>
            <p:cNvSpPr/>
            <p:nvPr/>
          </p:nvSpPr>
          <p:spPr>
            <a:xfrm>
              <a:off x="4692" y="3360"/>
              <a:ext cx="72" cy="72"/>
            </a:xfrm>
            <a:prstGeom prst="ellipse">
              <a:avLst/>
            </a:prstGeom>
            <a:solidFill>
              <a:srgbClr val="3333FF"/>
            </a:solidFill>
            <a:ln w="19050" cap="flat" cmpd="sng">
              <a:solidFill>
                <a:srgbClr val="3333FF"/>
              </a:solidFill>
              <a:prstDash val="solid"/>
              <a:headEnd type="none" w="med" len="med"/>
              <a:tailEnd type="none" w="sm" len="lg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3596" name="Oval 64"/>
            <p:cNvSpPr/>
            <p:nvPr/>
          </p:nvSpPr>
          <p:spPr>
            <a:xfrm>
              <a:off x="4008" y="3360"/>
              <a:ext cx="72" cy="72"/>
            </a:xfrm>
            <a:prstGeom prst="ellipse">
              <a:avLst/>
            </a:prstGeom>
            <a:solidFill>
              <a:srgbClr val="3333FF"/>
            </a:solidFill>
            <a:ln w="19050" cap="flat" cmpd="sng">
              <a:solidFill>
                <a:srgbClr val="3333FF"/>
              </a:solidFill>
              <a:prstDash val="solid"/>
              <a:headEnd type="none" w="med" len="med"/>
              <a:tailEnd type="none" w="sm" len="lg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3597" name="Oval 65"/>
            <p:cNvSpPr/>
            <p:nvPr/>
          </p:nvSpPr>
          <p:spPr>
            <a:xfrm>
              <a:off x="3156" y="3360"/>
              <a:ext cx="72" cy="72"/>
            </a:xfrm>
            <a:prstGeom prst="ellipse">
              <a:avLst/>
            </a:prstGeom>
            <a:solidFill>
              <a:srgbClr val="3333FF"/>
            </a:solidFill>
            <a:ln w="19050" cap="flat" cmpd="sng">
              <a:solidFill>
                <a:srgbClr val="3333FF"/>
              </a:solidFill>
              <a:prstDash val="solid"/>
              <a:headEnd type="none" w="med" len="med"/>
              <a:tailEnd type="none" w="sm" len="lg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3598" name="Oval 66"/>
            <p:cNvSpPr/>
            <p:nvPr/>
          </p:nvSpPr>
          <p:spPr>
            <a:xfrm>
              <a:off x="2484" y="3360"/>
              <a:ext cx="72" cy="72"/>
            </a:xfrm>
            <a:prstGeom prst="ellipse">
              <a:avLst/>
            </a:prstGeom>
            <a:solidFill>
              <a:srgbClr val="3333FF"/>
            </a:solidFill>
            <a:ln w="19050" cap="flat" cmpd="sng">
              <a:solidFill>
                <a:srgbClr val="3333FF"/>
              </a:solidFill>
              <a:prstDash val="solid"/>
              <a:headEnd type="none" w="med" len="med"/>
              <a:tailEnd type="none" w="sm" len="lg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3599" name="Oval 67"/>
            <p:cNvSpPr/>
            <p:nvPr/>
          </p:nvSpPr>
          <p:spPr>
            <a:xfrm>
              <a:off x="1572" y="3360"/>
              <a:ext cx="72" cy="72"/>
            </a:xfrm>
            <a:prstGeom prst="ellipse">
              <a:avLst/>
            </a:prstGeom>
            <a:solidFill>
              <a:srgbClr val="3333FF"/>
            </a:solidFill>
            <a:ln w="19050" cap="flat" cmpd="sng">
              <a:solidFill>
                <a:srgbClr val="3333FF"/>
              </a:solidFill>
              <a:prstDash val="solid"/>
              <a:headEnd type="none" w="med" len="med"/>
              <a:tailEnd type="none" w="sm" len="lg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3600" name="Oval 68"/>
            <p:cNvSpPr/>
            <p:nvPr/>
          </p:nvSpPr>
          <p:spPr>
            <a:xfrm>
              <a:off x="888" y="3360"/>
              <a:ext cx="72" cy="72"/>
            </a:xfrm>
            <a:prstGeom prst="ellipse">
              <a:avLst/>
            </a:prstGeom>
            <a:solidFill>
              <a:srgbClr val="3333FF"/>
            </a:solidFill>
            <a:ln w="19050" cap="flat" cmpd="sng">
              <a:solidFill>
                <a:srgbClr val="3333FF"/>
              </a:solidFill>
              <a:prstDash val="solid"/>
              <a:headEnd type="none" w="med" len="med"/>
              <a:tailEnd type="none" w="sm" len="lg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3601" name="Text Box 69"/>
            <p:cNvSpPr txBox="1"/>
            <p:nvPr/>
          </p:nvSpPr>
          <p:spPr>
            <a:xfrm>
              <a:off x="314" y="3366"/>
              <a:ext cx="538" cy="327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“  1”</a:t>
              </a:r>
              <a:endParaRPr lang="en-US" altLang="zh-CN" sz="2800" dirty="0"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1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1010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2034" name="Text Box 2"/>
          <p:cNvSpPr txBox="1"/>
          <p:nvPr/>
        </p:nvSpPr>
        <p:spPr>
          <a:xfrm>
            <a:off x="1069975" y="1206500"/>
            <a:ext cx="901700" cy="519113"/>
          </a:xfrm>
          <a:prstGeom prst="rect">
            <a:avLst/>
          </a:prstGeom>
          <a:noFill/>
          <a:ln w="19050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800" b="1" dirty="0">
                <a:latin typeface="Times New Roman" panose="02020603050405020304" pitchFamily="18" charset="0"/>
              </a:rPr>
              <a:t>解：</a:t>
            </a:r>
            <a:endParaRPr lang="zh-CN" altLang="en-US" sz="2800" dirty="0">
              <a:latin typeface="Times New Roman" panose="02020603050405020304" pitchFamily="18" charset="0"/>
            </a:endParaRPr>
          </a:p>
        </p:txBody>
      </p:sp>
      <p:sp>
        <p:nvSpPr>
          <p:cNvPr id="172035" name="Text Box 3"/>
          <p:cNvSpPr txBox="1"/>
          <p:nvPr/>
        </p:nvSpPr>
        <p:spPr>
          <a:xfrm>
            <a:off x="1431925" y="1739900"/>
            <a:ext cx="5267325" cy="519113"/>
          </a:xfrm>
          <a:prstGeom prst="rect">
            <a:avLst/>
          </a:prstGeom>
          <a:noFill/>
          <a:ln w="19050">
            <a:noFill/>
          </a:ln>
        </p:spPr>
        <p:txBody>
          <a:bodyPr wrap="none">
            <a:spAutoFit/>
          </a:bodyPr>
          <a:p>
            <a:pPr eaLnBrk="1" hangingPunct="1">
              <a:buChar char="•"/>
            </a:pPr>
            <a:r>
              <a:rPr lang="zh-CN" altLang="en-US" sz="2800" dirty="0">
                <a:latin typeface="Times New Roman" panose="02020603050405020304" pitchFamily="18" charset="0"/>
                <a:sym typeface="Monotype Sorts" pitchFamily="2" charset="2"/>
              </a:rPr>
              <a:t>写出输出函数和激励函数表达式</a:t>
            </a:r>
            <a:endParaRPr lang="zh-CN" altLang="en-US" sz="2800" dirty="0">
              <a:latin typeface="Times New Roman" panose="02020603050405020304" pitchFamily="18" charset="0"/>
            </a:endParaRPr>
          </a:p>
        </p:txBody>
      </p:sp>
      <p:sp>
        <p:nvSpPr>
          <p:cNvPr id="172036" name="Text Box 4"/>
          <p:cNvSpPr txBox="1"/>
          <p:nvPr/>
        </p:nvSpPr>
        <p:spPr>
          <a:xfrm>
            <a:off x="1317625" y="5067300"/>
            <a:ext cx="7148513" cy="647700"/>
          </a:xfrm>
          <a:prstGeom prst="rect">
            <a:avLst/>
          </a:prstGeom>
          <a:noFill/>
          <a:ln w="19050">
            <a:noFill/>
          </a:ln>
        </p:spPr>
        <p:txBody>
          <a:bodyPr>
            <a:spAutoFit/>
          </a:bodyPr>
          <a:p>
            <a:pPr marL="381000" indent="-381000" eaLnBrk="1" hangingPunct="1">
              <a:lnSpc>
                <a:spcPct val="130000"/>
              </a:lnSpc>
            </a:pP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sym typeface="Monotype Sorts" pitchFamily="2" charset="2"/>
              </a:rPr>
              <a:t>注意各触发器的跳变时刻</a:t>
            </a:r>
            <a:endParaRPr lang="zh-CN" altLang="en-US" sz="2800" dirty="0">
              <a:latin typeface="Times New Roman" panose="02020603050405020304" pitchFamily="18" charset="0"/>
              <a:sym typeface="Monotype Sorts" pitchFamily="2" charset="2"/>
            </a:endParaRPr>
          </a:p>
        </p:txBody>
      </p:sp>
      <p:grpSp>
        <p:nvGrpSpPr>
          <p:cNvPr id="2" name="Group 5"/>
          <p:cNvGrpSpPr/>
          <p:nvPr/>
        </p:nvGrpSpPr>
        <p:grpSpPr>
          <a:xfrm>
            <a:off x="1508125" y="2362200"/>
            <a:ext cx="6961188" cy="2486025"/>
            <a:chOff x="638" y="1272"/>
            <a:chExt cx="4385" cy="1566"/>
          </a:xfrm>
        </p:grpSpPr>
        <p:sp>
          <p:nvSpPr>
            <p:cNvPr id="24582" name="Text Box 6"/>
            <p:cNvSpPr txBox="1"/>
            <p:nvPr/>
          </p:nvSpPr>
          <p:spPr>
            <a:xfrm>
              <a:off x="638" y="1272"/>
              <a:ext cx="4385" cy="1566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p>
              <a:pPr marL="381000" indent="-381000" eaLnBrk="1" hangingPunct="1">
                <a:lnSpc>
                  <a:spcPct val="140000"/>
                </a:lnSpc>
              </a:pPr>
              <a:r>
                <a:rPr lang="en-US" altLang="zh-CN" sz="2800" dirty="0">
                  <a:latin typeface="Times New Roman" panose="02020603050405020304" pitchFamily="18" charset="0"/>
                  <a:sym typeface="Monotype Sorts" pitchFamily="2" charset="2"/>
                </a:rPr>
                <a:t>Z</a:t>
              </a:r>
              <a:r>
                <a:rPr lang="zh-CN" altLang="en-US" sz="2800" dirty="0">
                  <a:latin typeface="Times New Roman" panose="02020603050405020304" pitchFamily="18" charset="0"/>
                  <a:sym typeface="Monotype Sorts" pitchFamily="2" charset="2"/>
                </a:rPr>
                <a:t>＝ </a:t>
              </a:r>
              <a:r>
                <a:rPr lang="en-US" altLang="zh-CN" sz="2800" dirty="0">
                  <a:latin typeface="Times New Roman" panose="02020603050405020304" pitchFamily="18" charset="0"/>
                </a:rPr>
                <a:t>Q</a:t>
              </a:r>
              <a:r>
                <a:rPr lang="en-US" altLang="zh-CN" sz="2800" baseline="-25000" dirty="0">
                  <a:latin typeface="Times New Roman" panose="02020603050405020304" pitchFamily="18" charset="0"/>
                </a:rPr>
                <a:t>1</a:t>
              </a:r>
              <a:r>
                <a:rPr lang="en-US" altLang="zh-CN" sz="2800" dirty="0">
                  <a:latin typeface="Times New Roman" panose="02020603050405020304" pitchFamily="18" charset="0"/>
                  <a:sym typeface="Monotype Sorts" pitchFamily="2" charset="2"/>
                </a:rPr>
                <a:t> </a:t>
              </a:r>
              <a:r>
                <a:rPr lang="en-US" altLang="zh-CN" sz="2800" dirty="0">
                  <a:latin typeface="Times New Roman" panose="02020603050405020304" pitchFamily="18" charset="0"/>
                </a:rPr>
                <a:t>Q</a:t>
              </a:r>
              <a:r>
                <a:rPr lang="en-US" altLang="zh-CN" sz="2800" baseline="-25000" dirty="0">
                  <a:latin typeface="Times New Roman" panose="02020603050405020304" pitchFamily="18" charset="0"/>
                </a:rPr>
                <a:t>2 </a:t>
              </a:r>
              <a:r>
                <a:rPr lang="en-US" altLang="zh-CN" sz="2800" dirty="0">
                  <a:latin typeface="Times New Roman" panose="02020603050405020304" pitchFamily="18" charset="0"/>
                </a:rPr>
                <a:t>Q</a:t>
              </a:r>
              <a:r>
                <a:rPr lang="en-US" altLang="zh-CN" sz="2800" baseline="-25000" dirty="0">
                  <a:latin typeface="Times New Roman" panose="02020603050405020304" pitchFamily="18" charset="0"/>
                </a:rPr>
                <a:t>3 </a:t>
              </a:r>
              <a:r>
                <a:rPr lang="en-US" altLang="zh-CN" sz="2800" i="1" dirty="0">
                  <a:latin typeface="Times New Roman" panose="02020603050405020304" pitchFamily="18" charset="0"/>
                </a:rPr>
                <a:t>x</a:t>
              </a:r>
              <a:endParaRPr lang="en-US" altLang="zh-CN" sz="2800" i="1" dirty="0">
                <a:latin typeface="Times New Roman" panose="02020603050405020304" pitchFamily="18" charset="0"/>
              </a:endParaRPr>
            </a:p>
            <a:p>
              <a:pPr marL="381000" indent="-381000" eaLnBrk="1" hangingPunct="1">
                <a:lnSpc>
                  <a:spcPct val="140000"/>
                </a:lnSpc>
              </a:pPr>
              <a:r>
                <a:rPr lang="en-US" altLang="zh-CN" sz="2800" dirty="0">
                  <a:latin typeface="Times New Roman" panose="02020603050405020304" pitchFamily="18" charset="0"/>
                </a:rPr>
                <a:t>J</a:t>
              </a:r>
              <a:r>
                <a:rPr lang="en-US" altLang="zh-CN" sz="2800" baseline="-25000" dirty="0">
                  <a:latin typeface="Times New Roman" panose="02020603050405020304" pitchFamily="18" charset="0"/>
                </a:rPr>
                <a:t>1</a:t>
              </a:r>
              <a:r>
                <a:rPr lang="en-US" altLang="zh-CN" sz="2800" dirty="0">
                  <a:latin typeface="Times New Roman" panose="02020603050405020304" pitchFamily="18" charset="0"/>
                </a:rPr>
                <a:t>=K</a:t>
              </a:r>
              <a:r>
                <a:rPr lang="en-US" altLang="zh-CN" sz="2800" baseline="-25000" dirty="0">
                  <a:latin typeface="Times New Roman" panose="02020603050405020304" pitchFamily="18" charset="0"/>
                </a:rPr>
                <a:t>1</a:t>
              </a:r>
              <a:r>
                <a:rPr lang="en-US" altLang="zh-CN" sz="2800" dirty="0">
                  <a:latin typeface="Times New Roman" panose="02020603050405020304" pitchFamily="18" charset="0"/>
                </a:rPr>
                <a:t>=1,	CP</a:t>
              </a:r>
              <a:r>
                <a:rPr lang="en-US" altLang="zh-CN" sz="2800" baseline="-25000" dirty="0">
                  <a:latin typeface="Times New Roman" panose="02020603050405020304" pitchFamily="18" charset="0"/>
                </a:rPr>
                <a:t>1</a:t>
              </a:r>
              <a:r>
                <a:rPr lang="en-US" altLang="zh-CN" sz="2800" dirty="0">
                  <a:latin typeface="Times New Roman" panose="02020603050405020304" pitchFamily="18" charset="0"/>
                </a:rPr>
                <a:t>=</a:t>
              </a:r>
              <a:r>
                <a:rPr lang="en-US" altLang="zh-CN" sz="2800" i="1" dirty="0">
                  <a:latin typeface="Times New Roman" panose="02020603050405020304" pitchFamily="18" charset="0"/>
                </a:rPr>
                <a:t>x</a:t>
              </a:r>
              <a:endParaRPr lang="en-US" altLang="zh-CN" sz="2800" dirty="0">
                <a:latin typeface="Times New Roman" panose="02020603050405020304" pitchFamily="18" charset="0"/>
              </a:endParaRPr>
            </a:p>
            <a:p>
              <a:pPr marL="381000" indent="-381000" eaLnBrk="1" hangingPunct="1">
                <a:lnSpc>
                  <a:spcPct val="140000"/>
                </a:lnSpc>
              </a:pPr>
              <a:r>
                <a:rPr lang="en-US" altLang="zh-CN" sz="2800" dirty="0">
                  <a:latin typeface="Times New Roman" panose="02020603050405020304" pitchFamily="18" charset="0"/>
                </a:rPr>
                <a:t>J</a:t>
              </a:r>
              <a:r>
                <a:rPr lang="en-US" altLang="zh-CN" sz="2800" baseline="-25000" dirty="0">
                  <a:latin typeface="Times New Roman" panose="02020603050405020304" pitchFamily="18" charset="0"/>
                </a:rPr>
                <a:t>2</a:t>
              </a:r>
              <a:r>
                <a:rPr lang="en-US" altLang="zh-CN" sz="2800" dirty="0">
                  <a:latin typeface="Times New Roman" panose="02020603050405020304" pitchFamily="18" charset="0"/>
                </a:rPr>
                <a:t>=K</a:t>
              </a:r>
              <a:r>
                <a:rPr lang="en-US" altLang="zh-CN" sz="2800" baseline="-25000" dirty="0">
                  <a:latin typeface="Times New Roman" panose="02020603050405020304" pitchFamily="18" charset="0"/>
                </a:rPr>
                <a:t>2</a:t>
              </a:r>
              <a:r>
                <a:rPr lang="en-US" altLang="zh-CN" sz="2800" dirty="0">
                  <a:latin typeface="Times New Roman" panose="02020603050405020304" pitchFamily="18" charset="0"/>
                </a:rPr>
                <a:t>=1,	CP</a:t>
              </a:r>
              <a:r>
                <a:rPr lang="en-US" altLang="zh-CN" sz="2800" baseline="-25000" dirty="0">
                  <a:latin typeface="Times New Roman" panose="02020603050405020304" pitchFamily="18" charset="0"/>
                </a:rPr>
                <a:t>2</a:t>
              </a:r>
              <a:r>
                <a:rPr lang="en-US" altLang="zh-CN" sz="2800" dirty="0">
                  <a:latin typeface="Times New Roman" panose="02020603050405020304" pitchFamily="18" charset="0"/>
                </a:rPr>
                <a:t>= Q</a:t>
              </a:r>
              <a:r>
                <a:rPr lang="en-US" altLang="zh-CN" sz="2800" baseline="-25000" dirty="0">
                  <a:latin typeface="Times New Roman" panose="02020603050405020304" pitchFamily="18" charset="0"/>
                </a:rPr>
                <a:t>1</a:t>
              </a:r>
              <a:endParaRPr lang="en-US" altLang="zh-CN" sz="2800" dirty="0">
                <a:latin typeface="Times New Roman" panose="02020603050405020304" pitchFamily="18" charset="0"/>
              </a:endParaRPr>
            </a:p>
            <a:p>
              <a:pPr marL="381000" indent="-381000" eaLnBrk="1" hangingPunct="1">
                <a:lnSpc>
                  <a:spcPct val="140000"/>
                </a:lnSpc>
              </a:pPr>
              <a:r>
                <a:rPr lang="en-US" altLang="zh-CN" sz="2800" dirty="0">
                  <a:latin typeface="Times New Roman" panose="02020603050405020304" pitchFamily="18" charset="0"/>
                </a:rPr>
                <a:t>J</a:t>
              </a:r>
              <a:r>
                <a:rPr lang="en-US" altLang="zh-CN" sz="2800" baseline="-25000" dirty="0">
                  <a:latin typeface="Times New Roman" panose="02020603050405020304" pitchFamily="18" charset="0"/>
                </a:rPr>
                <a:t>3</a:t>
              </a:r>
              <a:r>
                <a:rPr lang="en-US" altLang="zh-CN" sz="2800" dirty="0">
                  <a:latin typeface="Times New Roman" panose="02020603050405020304" pitchFamily="18" charset="0"/>
                </a:rPr>
                <a:t>=K</a:t>
              </a:r>
              <a:r>
                <a:rPr lang="en-US" altLang="zh-CN" sz="2800" baseline="-25000" dirty="0">
                  <a:latin typeface="Times New Roman" panose="02020603050405020304" pitchFamily="18" charset="0"/>
                </a:rPr>
                <a:t>3</a:t>
              </a:r>
              <a:r>
                <a:rPr lang="en-US" altLang="zh-CN" sz="2800" dirty="0">
                  <a:latin typeface="Times New Roman" panose="02020603050405020304" pitchFamily="18" charset="0"/>
                </a:rPr>
                <a:t>=1,	CP</a:t>
              </a:r>
              <a:r>
                <a:rPr lang="en-US" altLang="zh-CN" sz="2800" baseline="-25000" dirty="0">
                  <a:latin typeface="Times New Roman" panose="02020603050405020304" pitchFamily="18" charset="0"/>
                </a:rPr>
                <a:t>3</a:t>
              </a:r>
              <a:r>
                <a:rPr lang="en-US" altLang="zh-CN" sz="2800" dirty="0">
                  <a:latin typeface="Times New Roman" panose="02020603050405020304" pitchFamily="18" charset="0"/>
                </a:rPr>
                <a:t>= Q</a:t>
              </a:r>
              <a:r>
                <a:rPr lang="en-US" altLang="zh-CN" sz="2800" baseline="-25000" dirty="0">
                  <a:latin typeface="Times New Roman" panose="02020603050405020304" pitchFamily="18" charset="0"/>
                </a:rPr>
                <a:t>2</a:t>
              </a:r>
              <a:endParaRPr lang="en-US" altLang="zh-CN" sz="2800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24583" name="Line 7"/>
            <p:cNvSpPr/>
            <p:nvPr/>
          </p:nvSpPr>
          <p:spPr>
            <a:xfrm>
              <a:off x="1140" y="1416"/>
              <a:ext cx="12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sm" len="lg"/>
            </a:ln>
          </p:spPr>
        </p:sp>
        <p:sp>
          <p:nvSpPr>
            <p:cNvPr id="24584" name="Line 8"/>
            <p:cNvSpPr/>
            <p:nvPr/>
          </p:nvSpPr>
          <p:spPr>
            <a:xfrm>
              <a:off x="1416" y="1416"/>
              <a:ext cx="12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sm" len="lg"/>
            </a:ln>
          </p:spPr>
        </p:sp>
        <p:sp>
          <p:nvSpPr>
            <p:cNvPr id="24585" name="Line 9"/>
            <p:cNvSpPr/>
            <p:nvPr/>
          </p:nvSpPr>
          <p:spPr>
            <a:xfrm>
              <a:off x="1692" y="1416"/>
              <a:ext cx="12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sm" len="lg"/>
            </a:ln>
          </p:spPr>
        </p:sp>
        <p:sp>
          <p:nvSpPr>
            <p:cNvPr id="24586" name="Line 10"/>
            <p:cNvSpPr/>
            <p:nvPr/>
          </p:nvSpPr>
          <p:spPr>
            <a:xfrm>
              <a:off x="2388" y="2172"/>
              <a:ext cx="12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sm" len="lg"/>
            </a:ln>
          </p:spPr>
        </p:sp>
        <p:sp>
          <p:nvSpPr>
            <p:cNvPr id="24587" name="Line 11"/>
            <p:cNvSpPr/>
            <p:nvPr/>
          </p:nvSpPr>
          <p:spPr>
            <a:xfrm>
              <a:off x="2400" y="2544"/>
              <a:ext cx="12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sm" len="lg"/>
            </a:ln>
          </p:spPr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72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72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2034" grpId="0"/>
      <p:bldP spid="172035" grpId="0"/>
      <p:bldP spid="17203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3059" name="Text Box 3"/>
          <p:cNvSpPr txBox="1"/>
          <p:nvPr/>
        </p:nvSpPr>
        <p:spPr>
          <a:xfrm>
            <a:off x="0" y="3505200"/>
            <a:ext cx="4138613" cy="2870200"/>
          </a:xfrm>
          <a:prstGeom prst="rect">
            <a:avLst/>
          </a:prstGeom>
          <a:noFill/>
          <a:ln w="19050">
            <a:noFill/>
          </a:ln>
        </p:spPr>
        <p:txBody>
          <a:bodyPr>
            <a:spAutoFit/>
          </a:bodyPr>
          <a:p>
            <a:pPr marL="381000" indent="-381000" algn="just" eaLnBrk="1" hangingPunct="1">
              <a:lnSpc>
                <a:spcPct val="130000"/>
              </a:lnSpc>
            </a:pPr>
            <a:r>
              <a:rPr lang="en-US" altLang="zh-CN" sz="2800" dirty="0">
                <a:latin typeface="Times New Roman" panose="02020603050405020304" pitchFamily="18" charset="0"/>
                <a:sym typeface="Monotype Sorts" pitchFamily="2" charset="2"/>
              </a:rPr>
              <a:t>    </a:t>
            </a:r>
            <a:r>
              <a:rPr lang="zh-CN" altLang="en-US" sz="2800" dirty="0">
                <a:latin typeface="Times New Roman" panose="02020603050405020304" pitchFamily="18" charset="0"/>
                <a:sym typeface="Monotype Sorts" pitchFamily="2" charset="2"/>
              </a:rPr>
              <a:t>该式表明当</a:t>
            </a:r>
            <a:r>
              <a:rPr lang="en-US" altLang="zh-CN" sz="2800" dirty="0">
                <a:latin typeface="Times New Roman" panose="02020603050405020304" pitchFamily="18" charset="0"/>
                <a:sym typeface="Monotype Sorts" pitchFamily="2" charset="2"/>
              </a:rPr>
              <a:t>CP</a:t>
            </a:r>
            <a:r>
              <a:rPr lang="zh-CN" altLang="zh-CN" sz="2800" dirty="0">
                <a:latin typeface="Times New Roman" panose="02020603050405020304" pitchFamily="18" charset="0"/>
                <a:sym typeface="Monotype Sorts" pitchFamily="2" charset="2"/>
              </a:rPr>
              <a:t>为逻辑1时，触发器的状态才能发生变化，而只有当时钟出现有效跳变时，</a:t>
            </a:r>
            <a:r>
              <a:rPr lang="en-US" altLang="zh-CN" sz="2800" dirty="0">
                <a:latin typeface="Times New Roman" panose="02020603050405020304" pitchFamily="18" charset="0"/>
                <a:sym typeface="Monotype Sorts" pitchFamily="2" charset="2"/>
              </a:rPr>
              <a:t>CP</a:t>
            </a:r>
            <a:r>
              <a:rPr lang="zh-CN" altLang="zh-CN" sz="2800" dirty="0">
                <a:latin typeface="Times New Roman" panose="02020603050405020304" pitchFamily="18" charset="0"/>
                <a:sym typeface="Monotype Sorts" pitchFamily="2" charset="2"/>
              </a:rPr>
              <a:t>才为逻辑1。</a:t>
            </a:r>
            <a:endParaRPr lang="zh-CN" altLang="en-US" sz="2800" dirty="0">
              <a:latin typeface="Times New Roman" panose="02020603050405020304" pitchFamily="18" charset="0"/>
              <a:sym typeface="Monotype Sorts" pitchFamily="2" charset="2"/>
            </a:endParaRPr>
          </a:p>
        </p:txBody>
      </p:sp>
      <p:sp>
        <p:nvSpPr>
          <p:cNvPr id="173058" name="Text Box 2"/>
          <p:cNvSpPr txBox="1"/>
          <p:nvPr/>
        </p:nvSpPr>
        <p:spPr>
          <a:xfrm>
            <a:off x="258763" y="1019175"/>
            <a:ext cx="4081462" cy="647700"/>
          </a:xfrm>
          <a:prstGeom prst="rect">
            <a:avLst/>
          </a:prstGeom>
          <a:noFill/>
          <a:ln w="19050">
            <a:noFill/>
          </a:ln>
        </p:spPr>
        <p:txBody>
          <a:bodyPr>
            <a:spAutoFit/>
          </a:bodyPr>
          <a:p>
            <a:pPr marL="381000" indent="-381000" algn="just" eaLnBrk="1" hangingPunct="1">
              <a:lnSpc>
                <a:spcPct val="130000"/>
              </a:lnSpc>
              <a:buChar char="•"/>
            </a:pPr>
            <a:r>
              <a:rPr lang="zh-CN" altLang="en-US" sz="2800" dirty="0">
                <a:latin typeface="Times New Roman" panose="02020603050405020304" pitchFamily="18" charset="0"/>
                <a:sym typeface="Monotype Sorts" pitchFamily="2" charset="2"/>
              </a:rPr>
              <a:t>写出电路的状态方程	</a:t>
            </a:r>
            <a:endParaRPr lang="zh-CN" altLang="en-US" sz="2800" dirty="0">
              <a:latin typeface="Times New Roman" panose="02020603050405020304" pitchFamily="18" charset="0"/>
            </a:endParaRPr>
          </a:p>
        </p:txBody>
      </p:sp>
      <p:grpSp>
        <p:nvGrpSpPr>
          <p:cNvPr id="2" name="Group 11"/>
          <p:cNvGrpSpPr/>
          <p:nvPr/>
        </p:nvGrpSpPr>
        <p:grpSpPr>
          <a:xfrm>
            <a:off x="0" y="1873250"/>
            <a:ext cx="4360863" cy="1333500"/>
            <a:chOff x="911" y="1453"/>
            <a:chExt cx="2747" cy="840"/>
          </a:xfrm>
        </p:grpSpPr>
        <p:sp>
          <p:nvSpPr>
            <p:cNvPr id="25614" name="Rectangle 4" descr="羊皮纸"/>
            <p:cNvSpPr/>
            <p:nvPr/>
          </p:nvSpPr>
          <p:spPr>
            <a:xfrm>
              <a:off x="1117" y="1897"/>
              <a:ext cx="2541" cy="396"/>
            </a:xfrm>
            <a:prstGeom prst="rect">
              <a:avLst/>
            </a:prstGeom>
            <a:blipFill rotWithShape="1">
              <a:blip r:embed="rId1"/>
            </a:blipFill>
            <a:ln w="19050">
              <a:noFill/>
            </a:ln>
          </p:spPr>
          <p:txBody>
            <a:bodyPr>
              <a:spAutoFit/>
            </a:bodyPr>
            <a:p>
              <a:pPr algn="just" eaLnBrk="1" hangingPunct="1">
                <a:lnSpc>
                  <a:spcPct val="140000"/>
                </a:lnSpc>
              </a:pPr>
              <a:r>
                <a:rPr lang="en-US" altLang="zh-CN" sz="2800" dirty="0">
                  <a:latin typeface="Times New Roman" panose="02020603050405020304" pitchFamily="18" charset="0"/>
                  <a:sym typeface="Monotype Sorts" pitchFamily="2" charset="2"/>
                </a:rPr>
                <a:t>Q</a:t>
              </a:r>
              <a:r>
                <a:rPr lang="en-US" altLang="zh-CN" sz="2800" baseline="30000" dirty="0">
                  <a:latin typeface="Times New Roman" panose="02020603050405020304" pitchFamily="18" charset="0"/>
                  <a:sym typeface="Monotype Sorts" pitchFamily="2" charset="2"/>
                </a:rPr>
                <a:t>(n+1)</a:t>
              </a:r>
              <a:r>
                <a:rPr lang="en-US" altLang="zh-CN" sz="2800" dirty="0">
                  <a:latin typeface="Times New Roman" panose="02020603050405020304" pitchFamily="18" charset="0"/>
                  <a:sym typeface="Monotype Sorts" pitchFamily="2" charset="2"/>
                </a:rPr>
                <a:t>=(JQ+KQ)CP+QCP</a:t>
              </a:r>
              <a:endParaRPr lang="en-US" altLang="zh-CN" sz="2800" dirty="0">
                <a:latin typeface="Times New Roman" panose="02020603050405020304" pitchFamily="18" charset="0"/>
                <a:sym typeface="Monotype Sorts" pitchFamily="2" charset="2"/>
              </a:endParaRPr>
            </a:p>
          </p:txBody>
        </p:sp>
        <p:sp>
          <p:nvSpPr>
            <p:cNvPr id="25615" name="Line 5"/>
            <p:cNvSpPr/>
            <p:nvPr/>
          </p:nvSpPr>
          <p:spPr>
            <a:xfrm>
              <a:off x="1984" y="2023"/>
              <a:ext cx="18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sm" len="lg"/>
            </a:ln>
          </p:spPr>
        </p:sp>
        <p:sp>
          <p:nvSpPr>
            <p:cNvPr id="25616" name="Line 6"/>
            <p:cNvSpPr/>
            <p:nvPr/>
          </p:nvSpPr>
          <p:spPr>
            <a:xfrm>
              <a:off x="2220" y="2023"/>
              <a:ext cx="18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sm" len="lg"/>
            </a:ln>
          </p:spPr>
        </p:sp>
        <p:sp>
          <p:nvSpPr>
            <p:cNvPr id="25617" name="Rectangle 10"/>
            <p:cNvSpPr/>
            <p:nvPr/>
          </p:nvSpPr>
          <p:spPr>
            <a:xfrm>
              <a:off x="911" y="1453"/>
              <a:ext cx="2605" cy="408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p>
              <a:pPr eaLnBrk="1" hangingPunct="1">
                <a:lnSpc>
                  <a:spcPct val="130000"/>
                </a:lnSpc>
              </a:pPr>
              <a:r>
                <a:rPr lang="en-US" altLang="zh-CN" sz="2800" dirty="0">
                  <a:latin typeface="Times New Roman" panose="02020603050405020304" pitchFamily="18" charset="0"/>
                  <a:sym typeface="Monotype Sorts" pitchFamily="2" charset="2"/>
                </a:rPr>
                <a:t>J</a:t>
              </a:r>
              <a:r>
                <a:rPr lang="zh-CN" altLang="en-US" sz="2800" dirty="0">
                  <a:latin typeface="Times New Roman" panose="02020603050405020304" pitchFamily="18" charset="0"/>
                  <a:sym typeface="Monotype Sorts" pitchFamily="2" charset="2"/>
                </a:rPr>
                <a:t>－</a:t>
              </a:r>
              <a:r>
                <a:rPr lang="en-US" altLang="zh-CN" sz="2800" dirty="0">
                  <a:latin typeface="Times New Roman" panose="02020603050405020304" pitchFamily="18" charset="0"/>
                  <a:sym typeface="Monotype Sorts" pitchFamily="2" charset="2"/>
                </a:rPr>
                <a:t>K</a:t>
              </a:r>
              <a:r>
                <a:rPr lang="zh-CN" altLang="zh-CN" sz="2800" dirty="0">
                  <a:latin typeface="Times New Roman" panose="02020603050405020304" pitchFamily="18" charset="0"/>
                  <a:sym typeface="Monotype Sorts" pitchFamily="2" charset="2"/>
                </a:rPr>
                <a:t>触发器的次态方程为</a:t>
              </a:r>
              <a:endParaRPr lang="zh-CN" altLang="zh-CN" sz="2800" dirty="0">
                <a:latin typeface="Times New Roman" panose="02020603050405020304" pitchFamily="18" charset="0"/>
                <a:sym typeface="Monotype Sorts" pitchFamily="2" charset="2"/>
              </a:endParaRPr>
            </a:p>
          </p:txBody>
        </p:sp>
      </p:grpSp>
      <p:grpSp>
        <p:nvGrpSpPr>
          <p:cNvPr id="3" name="Group 19"/>
          <p:cNvGrpSpPr/>
          <p:nvPr/>
        </p:nvGrpSpPr>
        <p:grpSpPr>
          <a:xfrm>
            <a:off x="4645025" y="2468563"/>
            <a:ext cx="4498975" cy="2486025"/>
            <a:chOff x="2926" y="646"/>
            <a:chExt cx="2834" cy="1566"/>
          </a:xfrm>
        </p:grpSpPr>
        <p:sp>
          <p:nvSpPr>
            <p:cNvPr id="25608" name="Text Box 13"/>
            <p:cNvSpPr txBox="1"/>
            <p:nvPr/>
          </p:nvSpPr>
          <p:spPr>
            <a:xfrm>
              <a:off x="2926" y="646"/>
              <a:ext cx="2834" cy="1566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p>
              <a:pPr marL="381000" indent="-381000" eaLnBrk="1" hangingPunct="1">
                <a:lnSpc>
                  <a:spcPct val="140000"/>
                </a:lnSpc>
              </a:pPr>
              <a:r>
                <a:rPr lang="en-US" altLang="zh-CN" sz="2800" dirty="0">
                  <a:latin typeface="Times New Roman" panose="02020603050405020304" pitchFamily="18" charset="0"/>
                  <a:sym typeface="Monotype Sorts" pitchFamily="2" charset="2"/>
                </a:rPr>
                <a:t>Z</a:t>
              </a:r>
              <a:r>
                <a:rPr lang="zh-CN" altLang="en-US" sz="2800" dirty="0">
                  <a:latin typeface="Times New Roman" panose="02020603050405020304" pitchFamily="18" charset="0"/>
                  <a:sym typeface="Monotype Sorts" pitchFamily="2" charset="2"/>
                </a:rPr>
                <a:t>＝ </a:t>
              </a:r>
              <a:r>
                <a:rPr lang="en-US" altLang="zh-CN" sz="2800" dirty="0">
                  <a:latin typeface="Times New Roman" panose="02020603050405020304" pitchFamily="18" charset="0"/>
                </a:rPr>
                <a:t>Q</a:t>
              </a:r>
              <a:r>
                <a:rPr lang="en-US" altLang="zh-CN" sz="2800" baseline="-25000" dirty="0">
                  <a:latin typeface="Times New Roman" panose="02020603050405020304" pitchFamily="18" charset="0"/>
                </a:rPr>
                <a:t>1</a:t>
              </a:r>
              <a:r>
                <a:rPr lang="en-US" altLang="zh-CN" sz="2800" dirty="0">
                  <a:latin typeface="Times New Roman" panose="02020603050405020304" pitchFamily="18" charset="0"/>
                  <a:sym typeface="Monotype Sorts" pitchFamily="2" charset="2"/>
                </a:rPr>
                <a:t> </a:t>
              </a:r>
              <a:r>
                <a:rPr lang="en-US" altLang="zh-CN" sz="2800" dirty="0">
                  <a:latin typeface="Times New Roman" panose="02020603050405020304" pitchFamily="18" charset="0"/>
                </a:rPr>
                <a:t>Q</a:t>
              </a:r>
              <a:r>
                <a:rPr lang="en-US" altLang="zh-CN" sz="2800" baseline="-25000" dirty="0">
                  <a:latin typeface="Times New Roman" panose="02020603050405020304" pitchFamily="18" charset="0"/>
                </a:rPr>
                <a:t>2 </a:t>
              </a:r>
              <a:r>
                <a:rPr lang="en-US" altLang="zh-CN" sz="2800" dirty="0">
                  <a:latin typeface="Times New Roman" panose="02020603050405020304" pitchFamily="18" charset="0"/>
                </a:rPr>
                <a:t>Q</a:t>
              </a:r>
              <a:r>
                <a:rPr lang="en-US" altLang="zh-CN" sz="2800" baseline="-25000" dirty="0">
                  <a:latin typeface="Times New Roman" panose="02020603050405020304" pitchFamily="18" charset="0"/>
                </a:rPr>
                <a:t>3 </a:t>
              </a:r>
              <a:r>
                <a:rPr lang="en-US" altLang="zh-CN" sz="2800" i="1" dirty="0">
                  <a:latin typeface="Times New Roman" panose="02020603050405020304" pitchFamily="18" charset="0"/>
                </a:rPr>
                <a:t>x</a:t>
              </a:r>
              <a:endParaRPr lang="en-US" altLang="zh-CN" sz="2800" i="1" dirty="0">
                <a:latin typeface="Times New Roman" panose="02020603050405020304" pitchFamily="18" charset="0"/>
              </a:endParaRPr>
            </a:p>
            <a:p>
              <a:pPr marL="381000" indent="-381000" eaLnBrk="1" hangingPunct="1">
                <a:lnSpc>
                  <a:spcPct val="140000"/>
                </a:lnSpc>
              </a:pPr>
              <a:r>
                <a:rPr lang="en-US" altLang="zh-CN" sz="2800" dirty="0">
                  <a:latin typeface="Times New Roman" panose="02020603050405020304" pitchFamily="18" charset="0"/>
                </a:rPr>
                <a:t>J</a:t>
              </a:r>
              <a:r>
                <a:rPr lang="en-US" altLang="zh-CN" sz="2800" baseline="-25000" dirty="0">
                  <a:latin typeface="Times New Roman" panose="02020603050405020304" pitchFamily="18" charset="0"/>
                </a:rPr>
                <a:t>1</a:t>
              </a:r>
              <a:r>
                <a:rPr lang="en-US" altLang="zh-CN" sz="2800" dirty="0">
                  <a:latin typeface="Times New Roman" panose="02020603050405020304" pitchFamily="18" charset="0"/>
                </a:rPr>
                <a:t>=K</a:t>
              </a:r>
              <a:r>
                <a:rPr lang="en-US" altLang="zh-CN" sz="2800" baseline="-25000" dirty="0">
                  <a:latin typeface="Times New Roman" panose="02020603050405020304" pitchFamily="18" charset="0"/>
                </a:rPr>
                <a:t>1</a:t>
              </a:r>
              <a:r>
                <a:rPr lang="en-US" altLang="zh-CN" sz="2800" dirty="0">
                  <a:latin typeface="Times New Roman" panose="02020603050405020304" pitchFamily="18" charset="0"/>
                </a:rPr>
                <a:t>=1,	CP</a:t>
              </a:r>
              <a:r>
                <a:rPr lang="en-US" altLang="zh-CN" sz="2800" baseline="-25000" dirty="0">
                  <a:latin typeface="Times New Roman" panose="02020603050405020304" pitchFamily="18" charset="0"/>
                </a:rPr>
                <a:t>1</a:t>
              </a:r>
              <a:r>
                <a:rPr lang="en-US" altLang="zh-CN" sz="2800" dirty="0">
                  <a:latin typeface="Times New Roman" panose="02020603050405020304" pitchFamily="18" charset="0"/>
                </a:rPr>
                <a:t>=</a:t>
              </a:r>
              <a:r>
                <a:rPr lang="en-US" altLang="zh-CN" sz="2800" i="1" dirty="0">
                  <a:latin typeface="Times New Roman" panose="02020603050405020304" pitchFamily="18" charset="0"/>
                </a:rPr>
                <a:t>x</a:t>
              </a:r>
              <a:endParaRPr lang="en-US" altLang="zh-CN" sz="2800" dirty="0">
                <a:latin typeface="Times New Roman" panose="02020603050405020304" pitchFamily="18" charset="0"/>
              </a:endParaRPr>
            </a:p>
            <a:p>
              <a:pPr marL="381000" indent="-381000" eaLnBrk="1" hangingPunct="1">
                <a:lnSpc>
                  <a:spcPct val="140000"/>
                </a:lnSpc>
              </a:pPr>
              <a:r>
                <a:rPr lang="en-US" altLang="zh-CN" sz="2800" dirty="0">
                  <a:latin typeface="Times New Roman" panose="02020603050405020304" pitchFamily="18" charset="0"/>
                </a:rPr>
                <a:t>J</a:t>
              </a:r>
              <a:r>
                <a:rPr lang="en-US" altLang="zh-CN" sz="2800" baseline="-25000" dirty="0">
                  <a:latin typeface="Times New Roman" panose="02020603050405020304" pitchFamily="18" charset="0"/>
                </a:rPr>
                <a:t>2</a:t>
              </a:r>
              <a:r>
                <a:rPr lang="en-US" altLang="zh-CN" sz="2800" dirty="0">
                  <a:latin typeface="Times New Roman" panose="02020603050405020304" pitchFamily="18" charset="0"/>
                </a:rPr>
                <a:t>=K</a:t>
              </a:r>
              <a:r>
                <a:rPr lang="en-US" altLang="zh-CN" sz="2800" baseline="-25000" dirty="0">
                  <a:latin typeface="Times New Roman" panose="02020603050405020304" pitchFamily="18" charset="0"/>
                </a:rPr>
                <a:t>2</a:t>
              </a:r>
              <a:r>
                <a:rPr lang="en-US" altLang="zh-CN" sz="2800" dirty="0">
                  <a:latin typeface="Times New Roman" panose="02020603050405020304" pitchFamily="18" charset="0"/>
                </a:rPr>
                <a:t>=1,	CP</a:t>
              </a:r>
              <a:r>
                <a:rPr lang="en-US" altLang="zh-CN" sz="2800" baseline="-25000" dirty="0">
                  <a:latin typeface="Times New Roman" panose="02020603050405020304" pitchFamily="18" charset="0"/>
                </a:rPr>
                <a:t>2</a:t>
              </a:r>
              <a:r>
                <a:rPr lang="en-US" altLang="zh-CN" sz="2800" dirty="0">
                  <a:latin typeface="Times New Roman" panose="02020603050405020304" pitchFamily="18" charset="0"/>
                </a:rPr>
                <a:t>= Q</a:t>
              </a:r>
              <a:r>
                <a:rPr lang="en-US" altLang="zh-CN" sz="2800" baseline="-25000" dirty="0">
                  <a:latin typeface="Times New Roman" panose="02020603050405020304" pitchFamily="18" charset="0"/>
                </a:rPr>
                <a:t>1</a:t>
              </a:r>
              <a:r>
                <a:rPr lang="en-US" altLang="zh-CN" sz="2800" dirty="0">
                  <a:latin typeface="Times New Roman" panose="02020603050405020304" pitchFamily="18" charset="0"/>
                </a:rPr>
                <a:t>Q</a:t>
              </a:r>
              <a:r>
                <a:rPr lang="en-US" altLang="zh-CN" sz="2800" baseline="-25000" dirty="0">
                  <a:latin typeface="Times New Roman" panose="02020603050405020304" pitchFamily="18" charset="0"/>
                </a:rPr>
                <a:t>1</a:t>
              </a:r>
              <a:r>
                <a:rPr lang="en-US" altLang="zh-CN" sz="2800" baseline="30000" dirty="0">
                  <a:latin typeface="Times New Roman" panose="02020603050405020304" pitchFamily="18" charset="0"/>
                </a:rPr>
                <a:t>n+1</a:t>
              </a:r>
              <a:endParaRPr lang="en-US" altLang="zh-CN" sz="2800" baseline="30000" dirty="0">
                <a:latin typeface="Times New Roman" panose="02020603050405020304" pitchFamily="18" charset="0"/>
              </a:endParaRPr>
            </a:p>
            <a:p>
              <a:pPr marL="381000" indent="-381000" eaLnBrk="1" hangingPunct="1">
                <a:lnSpc>
                  <a:spcPct val="140000"/>
                </a:lnSpc>
              </a:pPr>
              <a:r>
                <a:rPr lang="en-US" altLang="zh-CN" sz="2800" dirty="0">
                  <a:latin typeface="Times New Roman" panose="02020603050405020304" pitchFamily="18" charset="0"/>
                </a:rPr>
                <a:t>J</a:t>
              </a:r>
              <a:r>
                <a:rPr lang="en-US" altLang="zh-CN" sz="2800" baseline="-25000" dirty="0">
                  <a:latin typeface="Times New Roman" panose="02020603050405020304" pitchFamily="18" charset="0"/>
                </a:rPr>
                <a:t>3</a:t>
              </a:r>
              <a:r>
                <a:rPr lang="en-US" altLang="zh-CN" sz="2800" dirty="0">
                  <a:latin typeface="Times New Roman" panose="02020603050405020304" pitchFamily="18" charset="0"/>
                </a:rPr>
                <a:t>=K</a:t>
              </a:r>
              <a:r>
                <a:rPr lang="en-US" altLang="zh-CN" sz="2800" baseline="-25000" dirty="0">
                  <a:latin typeface="Times New Roman" panose="02020603050405020304" pitchFamily="18" charset="0"/>
                </a:rPr>
                <a:t>3</a:t>
              </a:r>
              <a:r>
                <a:rPr lang="en-US" altLang="zh-CN" sz="2800" dirty="0">
                  <a:latin typeface="Times New Roman" panose="02020603050405020304" pitchFamily="18" charset="0"/>
                </a:rPr>
                <a:t>=1,	CP</a:t>
              </a:r>
              <a:r>
                <a:rPr lang="en-US" altLang="zh-CN" sz="2800" baseline="-25000" dirty="0">
                  <a:latin typeface="Times New Roman" panose="02020603050405020304" pitchFamily="18" charset="0"/>
                </a:rPr>
                <a:t>3</a:t>
              </a:r>
              <a:r>
                <a:rPr lang="en-US" altLang="zh-CN" sz="2800" dirty="0">
                  <a:latin typeface="Times New Roman" panose="02020603050405020304" pitchFamily="18" charset="0"/>
                </a:rPr>
                <a:t>= Q</a:t>
              </a:r>
              <a:r>
                <a:rPr lang="en-US" altLang="zh-CN" sz="2800" baseline="-25000" dirty="0">
                  <a:latin typeface="Times New Roman" panose="02020603050405020304" pitchFamily="18" charset="0"/>
                </a:rPr>
                <a:t>2</a:t>
              </a:r>
              <a:r>
                <a:rPr lang="en-US" altLang="zh-CN" sz="2800" dirty="0">
                  <a:latin typeface="Times New Roman" panose="02020603050405020304" pitchFamily="18" charset="0"/>
                </a:rPr>
                <a:t> Q</a:t>
              </a:r>
              <a:r>
                <a:rPr lang="en-US" altLang="zh-CN" sz="2800" baseline="-25000" dirty="0">
                  <a:latin typeface="Times New Roman" panose="02020603050405020304" pitchFamily="18" charset="0"/>
                </a:rPr>
                <a:t>2</a:t>
              </a:r>
              <a:r>
                <a:rPr lang="en-US" altLang="zh-CN" sz="2800" baseline="30000" dirty="0">
                  <a:latin typeface="Times New Roman" panose="02020603050405020304" pitchFamily="18" charset="0"/>
                </a:rPr>
                <a:t>n+1</a:t>
              </a:r>
              <a:endParaRPr lang="en-US" altLang="zh-CN" sz="2800" baseline="30000" dirty="0">
                <a:latin typeface="Times New Roman" panose="02020603050405020304" pitchFamily="18" charset="0"/>
              </a:endParaRPr>
            </a:p>
          </p:txBody>
        </p:sp>
        <p:sp>
          <p:nvSpPr>
            <p:cNvPr id="25609" name="Line 14"/>
            <p:cNvSpPr/>
            <p:nvPr/>
          </p:nvSpPr>
          <p:spPr>
            <a:xfrm>
              <a:off x="3428" y="790"/>
              <a:ext cx="12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sm" len="lg"/>
            </a:ln>
          </p:spPr>
        </p:sp>
        <p:sp>
          <p:nvSpPr>
            <p:cNvPr id="25610" name="Line 15"/>
            <p:cNvSpPr/>
            <p:nvPr/>
          </p:nvSpPr>
          <p:spPr>
            <a:xfrm>
              <a:off x="3704" y="790"/>
              <a:ext cx="12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sm" len="lg"/>
            </a:ln>
          </p:spPr>
        </p:sp>
        <p:sp>
          <p:nvSpPr>
            <p:cNvPr id="25611" name="Line 16"/>
            <p:cNvSpPr/>
            <p:nvPr/>
          </p:nvSpPr>
          <p:spPr>
            <a:xfrm>
              <a:off x="3980" y="790"/>
              <a:ext cx="12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sm" len="lg"/>
            </a:ln>
          </p:spPr>
        </p:sp>
        <p:sp>
          <p:nvSpPr>
            <p:cNvPr id="25612" name="Line 17"/>
            <p:cNvSpPr/>
            <p:nvPr/>
          </p:nvSpPr>
          <p:spPr>
            <a:xfrm>
              <a:off x="4676" y="1546"/>
              <a:ext cx="12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sm" len="lg"/>
            </a:ln>
          </p:spPr>
        </p:sp>
        <p:sp>
          <p:nvSpPr>
            <p:cNvPr id="25613" name="Line 18"/>
            <p:cNvSpPr/>
            <p:nvPr/>
          </p:nvSpPr>
          <p:spPr>
            <a:xfrm>
              <a:off x="4688" y="1918"/>
              <a:ext cx="12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sm" len="lg"/>
            </a:ln>
          </p:spPr>
        </p:sp>
      </p:grpSp>
      <p:sp>
        <p:nvSpPr>
          <p:cNvPr id="25606" name="Line 6"/>
          <p:cNvSpPr/>
          <p:nvPr/>
        </p:nvSpPr>
        <p:spPr>
          <a:xfrm>
            <a:off x="3721100" y="2749550"/>
            <a:ext cx="285750" cy="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sm" len="lg"/>
          </a:ln>
        </p:spPr>
      </p:sp>
      <p:sp>
        <p:nvSpPr>
          <p:cNvPr id="19" name="Text Box 3"/>
          <p:cNvSpPr txBox="1"/>
          <p:nvPr/>
        </p:nvSpPr>
        <p:spPr>
          <a:xfrm>
            <a:off x="4543425" y="857250"/>
            <a:ext cx="4138613" cy="1152525"/>
          </a:xfrm>
          <a:prstGeom prst="rect">
            <a:avLst/>
          </a:prstGeom>
          <a:noFill/>
          <a:ln w="19050">
            <a:noFill/>
          </a:ln>
        </p:spPr>
        <p:txBody>
          <a:bodyPr>
            <a:spAutoFit/>
          </a:bodyPr>
          <a:p>
            <a:pPr marL="381000" indent="-381000" algn="just" eaLnBrk="1" hangingPunct="1">
              <a:lnSpc>
                <a:spcPct val="130000"/>
              </a:lnSpc>
            </a:pPr>
            <a:r>
              <a:rPr lang="en-US" altLang="zh-CN" dirty="0">
                <a:latin typeface="Times New Roman" panose="02020603050405020304" pitchFamily="18" charset="0"/>
                <a:sym typeface="Monotype Sorts" pitchFamily="2" charset="2"/>
              </a:rPr>
              <a:t>     </a:t>
            </a:r>
            <a:r>
              <a:rPr lang="zh-CN" altLang="en-US" sz="2800" dirty="0">
                <a:latin typeface="Times New Roman" panose="02020603050405020304" pitchFamily="18" charset="0"/>
                <a:sym typeface="Monotype Sorts" pitchFamily="2" charset="2"/>
              </a:rPr>
              <a:t>设</a:t>
            </a:r>
            <a:r>
              <a:rPr lang="en-US" altLang="zh-CN" sz="2800" dirty="0">
                <a:latin typeface="Times New Roman" panose="02020603050405020304" pitchFamily="18" charset="0"/>
                <a:sym typeface="Monotype Sorts" pitchFamily="2" charset="2"/>
              </a:rPr>
              <a:t>J-K</a:t>
            </a:r>
            <a:r>
              <a:rPr lang="zh-CN" altLang="en-US" sz="2800" dirty="0">
                <a:latin typeface="Times New Roman" panose="02020603050405020304" pitchFamily="18" charset="0"/>
                <a:sym typeface="Monotype Sorts" pitchFamily="2" charset="2"/>
              </a:rPr>
              <a:t>触发器下降沿触发，则有效跳变为</a:t>
            </a:r>
            <a:r>
              <a:rPr lang="en-US" altLang="zh-CN" sz="2800" dirty="0">
                <a:latin typeface="Times New Roman" panose="02020603050405020304" pitchFamily="18" charset="0"/>
                <a:sym typeface="Monotype Sorts" pitchFamily="2" charset="2"/>
              </a:rPr>
              <a:t>1-&gt;0</a:t>
            </a:r>
            <a:r>
              <a:rPr lang="zh-CN" altLang="zh-CN" sz="2800" dirty="0">
                <a:latin typeface="Times New Roman" panose="02020603050405020304" pitchFamily="18" charset="0"/>
                <a:sym typeface="Monotype Sorts" pitchFamily="2" charset="2"/>
              </a:rPr>
              <a:t>。</a:t>
            </a:r>
            <a:endParaRPr lang="zh-CN" altLang="en-US" sz="2800" dirty="0">
              <a:latin typeface="Times New Roman" panose="02020603050405020304" pitchFamily="18" charset="0"/>
              <a:sym typeface="Monotype Sorts" pitchFamily="2" charset="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3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730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3059" grpId="0"/>
      <p:bldP spid="173058" grpId="0"/>
      <p:bldP spid="19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082" name="Text Box 2"/>
          <p:cNvSpPr txBox="1"/>
          <p:nvPr/>
        </p:nvSpPr>
        <p:spPr>
          <a:xfrm>
            <a:off x="593725" y="619125"/>
            <a:ext cx="7994650" cy="860425"/>
          </a:xfrm>
          <a:prstGeom prst="rect">
            <a:avLst/>
          </a:prstGeom>
          <a:noFill/>
          <a:ln w="19050">
            <a:noFill/>
          </a:ln>
        </p:spPr>
        <p:txBody>
          <a:bodyPr>
            <a:spAutoFit/>
          </a:bodyPr>
          <a:p>
            <a:pPr eaLnBrk="1" hangingPunct="1">
              <a:lnSpc>
                <a:spcPct val="180000"/>
              </a:lnSpc>
            </a:pPr>
            <a:r>
              <a:rPr lang="zh-CN" altLang="en-US" sz="2800" dirty="0">
                <a:latin typeface="Times New Roman" panose="02020603050405020304" pitchFamily="18" charset="0"/>
              </a:rPr>
              <a:t>将</a:t>
            </a:r>
            <a:r>
              <a:rPr lang="en-US" altLang="zh-CN" sz="2800" dirty="0">
                <a:latin typeface="Times New Roman" panose="02020603050405020304" pitchFamily="18" charset="0"/>
              </a:rPr>
              <a:t>3</a:t>
            </a:r>
            <a:r>
              <a:rPr lang="zh-CN" altLang="en-US" sz="2800" dirty="0">
                <a:latin typeface="Times New Roman" panose="02020603050405020304" pitchFamily="18" charset="0"/>
              </a:rPr>
              <a:t>个触发器的激励函数代入触发器的次态方程	</a:t>
            </a:r>
            <a:endParaRPr lang="zh-CN" altLang="en-US" sz="2800" dirty="0">
              <a:latin typeface="Times New Roman" panose="02020603050405020304" pitchFamily="18" charset="0"/>
            </a:endParaRPr>
          </a:p>
        </p:txBody>
      </p:sp>
      <p:sp>
        <p:nvSpPr>
          <p:cNvPr id="174097" name="Text Box 17"/>
          <p:cNvSpPr txBox="1"/>
          <p:nvPr/>
        </p:nvSpPr>
        <p:spPr>
          <a:xfrm>
            <a:off x="625475" y="3879850"/>
            <a:ext cx="8097838" cy="2486025"/>
          </a:xfrm>
          <a:prstGeom prst="rect">
            <a:avLst/>
          </a:prstGeom>
          <a:noFill/>
          <a:ln w="19050">
            <a:noFill/>
          </a:ln>
        </p:spPr>
        <p:txBody>
          <a:bodyPr>
            <a:spAutoFit/>
          </a:bodyPr>
          <a:p>
            <a:pPr marL="381000" indent="-381000" eaLnBrk="1" hangingPunct="1">
              <a:lnSpc>
                <a:spcPct val="140000"/>
              </a:lnSpc>
              <a:buChar char="•"/>
            </a:pPr>
            <a:r>
              <a:rPr lang="zh-CN" altLang="en-US" sz="2800" dirty="0">
                <a:latin typeface="Times New Roman" panose="02020603050405020304" pitchFamily="18" charset="0"/>
                <a:sym typeface="Monotype Sorts" pitchFamily="2" charset="2"/>
              </a:rPr>
              <a:t>作状态表和状态图</a:t>
            </a:r>
            <a:endParaRPr lang="zh-CN" altLang="en-US" sz="2800" dirty="0">
              <a:latin typeface="Times New Roman" panose="02020603050405020304" pitchFamily="18" charset="0"/>
              <a:sym typeface="Monotype Sorts" pitchFamily="2" charset="2"/>
            </a:endParaRPr>
          </a:p>
          <a:p>
            <a:pPr marL="381000" indent="-381000" eaLnBrk="1" hangingPunct="1">
              <a:lnSpc>
                <a:spcPct val="140000"/>
              </a:lnSpc>
            </a:pPr>
            <a:r>
              <a:rPr lang="zh-CN" altLang="en-US" sz="2800" dirty="0">
                <a:latin typeface="Times New Roman" panose="02020603050405020304" pitchFamily="18" charset="0"/>
                <a:sym typeface="Monotype Sorts" pitchFamily="2" charset="2"/>
              </a:rPr>
              <a:t>            高位触发器次态不仅与触发器的现态有关，而且与触发器的次态有关。在填写状态时，通常要由低位向高位依次填写。</a:t>
            </a:r>
            <a:endParaRPr lang="zh-CN" altLang="en-US" sz="2800" dirty="0">
              <a:latin typeface="Times New Roman" panose="02020603050405020304" pitchFamily="18" charset="0"/>
              <a:sym typeface="Monotype Sorts" pitchFamily="2" charset="2"/>
            </a:endParaRPr>
          </a:p>
        </p:txBody>
      </p:sp>
      <p:grpSp>
        <p:nvGrpSpPr>
          <p:cNvPr id="2" name="Group 31"/>
          <p:cNvGrpSpPr/>
          <p:nvPr/>
        </p:nvGrpSpPr>
        <p:grpSpPr>
          <a:xfrm>
            <a:off x="557213" y="1512888"/>
            <a:ext cx="8586787" cy="2268537"/>
            <a:chOff x="351" y="953"/>
            <a:chExt cx="5409" cy="1429"/>
          </a:xfrm>
        </p:grpSpPr>
        <p:sp>
          <p:nvSpPr>
            <p:cNvPr id="26634" name="Rectangle 4"/>
            <p:cNvSpPr/>
            <p:nvPr/>
          </p:nvSpPr>
          <p:spPr>
            <a:xfrm>
              <a:off x="351" y="953"/>
              <a:ext cx="5409" cy="1429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p>
              <a:pPr eaLnBrk="1" hangingPunct="1">
                <a:lnSpc>
                  <a:spcPct val="170000"/>
                </a:lnSpc>
              </a:pPr>
              <a:r>
                <a:rPr lang="en-US" altLang="zh-CN" sz="2800" dirty="0">
                  <a:latin typeface="Times New Roman" panose="02020603050405020304" pitchFamily="18" charset="0"/>
                  <a:sym typeface="Monotype Sorts" pitchFamily="2" charset="2"/>
                </a:rPr>
                <a:t>Q</a:t>
              </a:r>
              <a:r>
                <a:rPr lang="en-US" altLang="zh-CN" sz="2800" baseline="-25000" dirty="0">
                  <a:latin typeface="Times New Roman" panose="02020603050405020304" pitchFamily="18" charset="0"/>
                  <a:sym typeface="Monotype Sorts" pitchFamily="2" charset="2"/>
                </a:rPr>
                <a:t>1</a:t>
              </a:r>
              <a:r>
                <a:rPr lang="en-US" altLang="zh-CN" sz="2800" baseline="30000" dirty="0">
                  <a:latin typeface="Times New Roman" panose="02020603050405020304" pitchFamily="18" charset="0"/>
                  <a:sym typeface="Monotype Sorts" pitchFamily="2" charset="2"/>
                </a:rPr>
                <a:t>(n+1)</a:t>
              </a:r>
              <a:r>
                <a:rPr lang="en-US" altLang="zh-CN" sz="2800" dirty="0">
                  <a:latin typeface="Times New Roman" panose="02020603050405020304" pitchFamily="18" charset="0"/>
                  <a:sym typeface="Monotype Sorts" pitchFamily="2" charset="2"/>
                </a:rPr>
                <a:t>=(J</a:t>
              </a:r>
              <a:r>
                <a:rPr lang="en-US" altLang="zh-CN" sz="2800" baseline="-25000" dirty="0">
                  <a:latin typeface="Times New Roman" panose="02020603050405020304" pitchFamily="18" charset="0"/>
                  <a:sym typeface="Monotype Sorts" pitchFamily="2" charset="2"/>
                </a:rPr>
                <a:t>1</a:t>
              </a:r>
              <a:r>
                <a:rPr lang="en-US" altLang="zh-CN" sz="2800" dirty="0">
                  <a:latin typeface="Times New Roman" panose="02020603050405020304" pitchFamily="18" charset="0"/>
                  <a:sym typeface="Monotype Sorts" pitchFamily="2" charset="2"/>
                </a:rPr>
                <a:t>Q</a:t>
              </a:r>
              <a:r>
                <a:rPr lang="en-US" altLang="zh-CN" sz="2800" baseline="-25000" dirty="0">
                  <a:latin typeface="Times New Roman" panose="02020603050405020304" pitchFamily="18" charset="0"/>
                  <a:sym typeface="Monotype Sorts" pitchFamily="2" charset="2"/>
                </a:rPr>
                <a:t>1</a:t>
              </a:r>
              <a:r>
                <a:rPr lang="en-US" altLang="zh-CN" sz="2800" dirty="0">
                  <a:latin typeface="Times New Roman" panose="02020603050405020304" pitchFamily="18" charset="0"/>
                  <a:sym typeface="Monotype Sorts" pitchFamily="2" charset="2"/>
                </a:rPr>
                <a:t>+K</a:t>
              </a:r>
              <a:r>
                <a:rPr lang="en-US" altLang="zh-CN" sz="2800" baseline="-25000" dirty="0">
                  <a:latin typeface="Times New Roman" panose="02020603050405020304" pitchFamily="18" charset="0"/>
                  <a:sym typeface="Monotype Sorts" pitchFamily="2" charset="2"/>
                </a:rPr>
                <a:t>1</a:t>
              </a:r>
              <a:r>
                <a:rPr lang="en-US" altLang="zh-CN" sz="2800" dirty="0">
                  <a:latin typeface="Times New Roman" panose="02020603050405020304" pitchFamily="18" charset="0"/>
                  <a:sym typeface="Monotype Sorts" pitchFamily="2" charset="2"/>
                </a:rPr>
                <a:t>Q</a:t>
              </a:r>
              <a:r>
                <a:rPr lang="en-US" altLang="zh-CN" sz="2800" baseline="-25000" dirty="0">
                  <a:latin typeface="Times New Roman" panose="02020603050405020304" pitchFamily="18" charset="0"/>
                  <a:sym typeface="Monotype Sorts" pitchFamily="2" charset="2"/>
                </a:rPr>
                <a:t>1</a:t>
              </a:r>
              <a:r>
                <a:rPr lang="en-US" altLang="zh-CN" sz="2800" dirty="0">
                  <a:latin typeface="Times New Roman" panose="02020603050405020304" pitchFamily="18" charset="0"/>
                  <a:sym typeface="Monotype Sorts" pitchFamily="2" charset="2"/>
                </a:rPr>
                <a:t>)CP+Q</a:t>
              </a:r>
              <a:r>
                <a:rPr lang="en-US" altLang="zh-CN" sz="2800" baseline="-25000" dirty="0">
                  <a:latin typeface="Times New Roman" panose="02020603050405020304" pitchFamily="18" charset="0"/>
                  <a:sym typeface="Monotype Sorts" pitchFamily="2" charset="2"/>
                </a:rPr>
                <a:t>1</a:t>
              </a:r>
              <a:r>
                <a:rPr lang="en-US" altLang="zh-CN" sz="2800" dirty="0">
                  <a:latin typeface="Times New Roman" panose="02020603050405020304" pitchFamily="18" charset="0"/>
                  <a:sym typeface="Monotype Sorts" pitchFamily="2" charset="2"/>
                </a:rPr>
                <a:t>CP</a:t>
              </a:r>
              <a:r>
                <a:rPr lang="zh-CN" altLang="en-US" sz="2800" dirty="0">
                  <a:latin typeface="Times New Roman" panose="02020603050405020304" pitchFamily="18" charset="0"/>
                  <a:sym typeface="Monotype Sorts" pitchFamily="2" charset="2"/>
                </a:rPr>
                <a:t>＝</a:t>
              </a:r>
              <a:r>
                <a:rPr lang="en-US" altLang="zh-CN" sz="2800" dirty="0">
                  <a:latin typeface="Times New Roman" panose="02020603050405020304" pitchFamily="18" charset="0"/>
                  <a:sym typeface="Monotype Sorts" pitchFamily="2" charset="2"/>
                </a:rPr>
                <a:t>Q</a:t>
              </a:r>
              <a:r>
                <a:rPr lang="en-US" altLang="zh-CN" sz="2800" baseline="-25000" dirty="0">
                  <a:latin typeface="Times New Roman" panose="02020603050405020304" pitchFamily="18" charset="0"/>
                  <a:sym typeface="Monotype Sorts" pitchFamily="2" charset="2"/>
                </a:rPr>
                <a:t>1   </a:t>
              </a:r>
              <a:r>
                <a:rPr lang="en-US" altLang="zh-CN" sz="2800" i="1" dirty="0">
                  <a:latin typeface="Times New Roman" panose="02020603050405020304" pitchFamily="18" charset="0"/>
                  <a:sym typeface="Monotype Sorts" pitchFamily="2" charset="2"/>
                </a:rPr>
                <a:t>x+</a:t>
              </a:r>
              <a:r>
                <a:rPr lang="en-US" altLang="zh-CN" sz="2800" dirty="0">
                  <a:latin typeface="Times New Roman" panose="02020603050405020304" pitchFamily="18" charset="0"/>
                  <a:sym typeface="Monotype Sorts" pitchFamily="2" charset="2"/>
                </a:rPr>
                <a:t> Q</a:t>
              </a:r>
              <a:r>
                <a:rPr lang="en-US" altLang="zh-CN" sz="2800" baseline="-25000" dirty="0">
                  <a:latin typeface="Times New Roman" panose="02020603050405020304" pitchFamily="18" charset="0"/>
                  <a:sym typeface="Monotype Sorts" pitchFamily="2" charset="2"/>
                </a:rPr>
                <a:t>1   </a:t>
              </a:r>
              <a:r>
                <a:rPr lang="en-US" altLang="zh-CN" sz="2800" i="1" dirty="0">
                  <a:latin typeface="Times New Roman" panose="02020603050405020304" pitchFamily="18" charset="0"/>
                  <a:sym typeface="Monotype Sorts" pitchFamily="2" charset="2"/>
                </a:rPr>
                <a:t>x</a:t>
              </a:r>
              <a:endParaRPr lang="en-US" altLang="zh-CN" sz="2800" i="1" dirty="0">
                <a:latin typeface="Times New Roman" panose="02020603050405020304" pitchFamily="18" charset="0"/>
                <a:sym typeface="Monotype Sorts" pitchFamily="2" charset="2"/>
              </a:endParaRPr>
            </a:p>
            <a:p>
              <a:pPr eaLnBrk="1" hangingPunct="1">
                <a:lnSpc>
                  <a:spcPct val="170000"/>
                </a:lnSpc>
              </a:pPr>
              <a:r>
                <a:rPr lang="en-US" altLang="zh-CN" sz="2800" dirty="0">
                  <a:latin typeface="Times New Roman" panose="02020603050405020304" pitchFamily="18" charset="0"/>
                  <a:sym typeface="Monotype Sorts" pitchFamily="2" charset="2"/>
                </a:rPr>
                <a:t>Q</a:t>
              </a:r>
              <a:r>
                <a:rPr lang="en-US" altLang="zh-CN" sz="2800" baseline="-25000" dirty="0">
                  <a:latin typeface="Times New Roman" panose="02020603050405020304" pitchFamily="18" charset="0"/>
                  <a:sym typeface="Monotype Sorts" pitchFamily="2" charset="2"/>
                </a:rPr>
                <a:t>2</a:t>
              </a:r>
              <a:r>
                <a:rPr lang="en-US" altLang="zh-CN" sz="2800" baseline="30000" dirty="0">
                  <a:latin typeface="Times New Roman" panose="02020603050405020304" pitchFamily="18" charset="0"/>
                  <a:sym typeface="Monotype Sorts" pitchFamily="2" charset="2"/>
                </a:rPr>
                <a:t>(n+1)</a:t>
              </a:r>
              <a:r>
                <a:rPr lang="en-US" altLang="zh-CN" sz="2800" dirty="0">
                  <a:latin typeface="Times New Roman" panose="02020603050405020304" pitchFamily="18" charset="0"/>
                  <a:sym typeface="Monotype Sorts" pitchFamily="2" charset="2"/>
                </a:rPr>
                <a:t>=(J</a:t>
              </a:r>
              <a:r>
                <a:rPr lang="en-US" altLang="zh-CN" sz="2800" baseline="-25000" dirty="0">
                  <a:latin typeface="Times New Roman" panose="02020603050405020304" pitchFamily="18" charset="0"/>
                  <a:sym typeface="Monotype Sorts" pitchFamily="2" charset="2"/>
                </a:rPr>
                <a:t>2</a:t>
              </a:r>
              <a:r>
                <a:rPr lang="en-US" altLang="zh-CN" sz="2800" dirty="0">
                  <a:latin typeface="Times New Roman" panose="02020603050405020304" pitchFamily="18" charset="0"/>
                  <a:sym typeface="Monotype Sorts" pitchFamily="2" charset="2"/>
                </a:rPr>
                <a:t>Q</a:t>
              </a:r>
              <a:r>
                <a:rPr lang="en-US" altLang="zh-CN" sz="2800" baseline="-25000" dirty="0">
                  <a:latin typeface="Times New Roman" panose="02020603050405020304" pitchFamily="18" charset="0"/>
                  <a:sym typeface="Monotype Sorts" pitchFamily="2" charset="2"/>
                </a:rPr>
                <a:t>2</a:t>
              </a:r>
              <a:r>
                <a:rPr lang="en-US" altLang="zh-CN" sz="2800" dirty="0">
                  <a:latin typeface="Times New Roman" panose="02020603050405020304" pitchFamily="18" charset="0"/>
                  <a:sym typeface="Monotype Sorts" pitchFamily="2" charset="2"/>
                </a:rPr>
                <a:t>+K</a:t>
              </a:r>
              <a:r>
                <a:rPr lang="en-US" altLang="zh-CN" sz="2800" baseline="-25000" dirty="0">
                  <a:latin typeface="Times New Roman" panose="02020603050405020304" pitchFamily="18" charset="0"/>
                  <a:sym typeface="Monotype Sorts" pitchFamily="2" charset="2"/>
                </a:rPr>
                <a:t>2</a:t>
              </a:r>
              <a:r>
                <a:rPr lang="en-US" altLang="zh-CN" sz="2800" dirty="0">
                  <a:latin typeface="Times New Roman" panose="02020603050405020304" pitchFamily="18" charset="0"/>
                  <a:sym typeface="Monotype Sorts" pitchFamily="2" charset="2"/>
                </a:rPr>
                <a:t>Q</a:t>
              </a:r>
              <a:r>
                <a:rPr lang="en-US" altLang="zh-CN" sz="2800" baseline="-25000" dirty="0">
                  <a:latin typeface="Times New Roman" panose="02020603050405020304" pitchFamily="18" charset="0"/>
                  <a:sym typeface="Monotype Sorts" pitchFamily="2" charset="2"/>
                </a:rPr>
                <a:t>2</a:t>
              </a:r>
              <a:r>
                <a:rPr lang="en-US" altLang="zh-CN" sz="2800" dirty="0">
                  <a:latin typeface="Times New Roman" panose="02020603050405020304" pitchFamily="18" charset="0"/>
                  <a:sym typeface="Monotype Sorts" pitchFamily="2" charset="2"/>
                </a:rPr>
                <a:t>)CP+Q</a:t>
              </a:r>
              <a:r>
                <a:rPr lang="en-US" altLang="zh-CN" sz="2800" baseline="-25000" dirty="0">
                  <a:latin typeface="Times New Roman" panose="02020603050405020304" pitchFamily="18" charset="0"/>
                  <a:sym typeface="Monotype Sorts" pitchFamily="2" charset="2"/>
                </a:rPr>
                <a:t>2</a:t>
              </a:r>
              <a:r>
                <a:rPr lang="en-US" altLang="zh-CN" sz="2800" dirty="0">
                  <a:latin typeface="Times New Roman" panose="02020603050405020304" pitchFamily="18" charset="0"/>
                  <a:sym typeface="Monotype Sorts" pitchFamily="2" charset="2"/>
                </a:rPr>
                <a:t>CP</a:t>
              </a:r>
              <a:r>
                <a:rPr lang="zh-CN" altLang="en-US" sz="2800" dirty="0">
                  <a:latin typeface="Times New Roman" panose="02020603050405020304" pitchFamily="18" charset="0"/>
                  <a:sym typeface="Monotype Sorts" pitchFamily="2" charset="2"/>
                </a:rPr>
                <a:t>＝</a:t>
              </a:r>
              <a:r>
                <a:rPr lang="en-US" altLang="zh-CN" sz="2800" dirty="0">
                  <a:latin typeface="Times New Roman" panose="02020603050405020304" pitchFamily="18" charset="0"/>
                  <a:sym typeface="Monotype Sorts" pitchFamily="2" charset="2"/>
                </a:rPr>
                <a:t>Q</a:t>
              </a:r>
              <a:r>
                <a:rPr lang="en-US" altLang="zh-CN" sz="2800" baseline="-25000" dirty="0">
                  <a:latin typeface="Times New Roman" panose="02020603050405020304" pitchFamily="18" charset="0"/>
                  <a:sym typeface="Monotype Sorts" pitchFamily="2" charset="2"/>
                </a:rPr>
                <a:t>2  </a:t>
              </a:r>
              <a:r>
                <a:rPr lang="en-US" altLang="zh-CN" sz="2800" dirty="0">
                  <a:latin typeface="Times New Roman" panose="02020603050405020304" pitchFamily="18" charset="0"/>
                  <a:sym typeface="Monotype Sorts" pitchFamily="2" charset="2"/>
                </a:rPr>
                <a:t>Q</a:t>
              </a:r>
              <a:r>
                <a:rPr lang="en-US" altLang="zh-CN" sz="2800" baseline="-25000" dirty="0">
                  <a:latin typeface="Times New Roman" panose="02020603050405020304" pitchFamily="18" charset="0"/>
                  <a:sym typeface="Monotype Sorts" pitchFamily="2" charset="2"/>
                </a:rPr>
                <a:t>1</a:t>
              </a:r>
              <a:r>
                <a:rPr lang="en-US" altLang="zh-CN" sz="2800" dirty="0">
                  <a:latin typeface="Times New Roman" panose="02020603050405020304" pitchFamily="18" charset="0"/>
                  <a:sym typeface="Monotype Sorts" pitchFamily="2" charset="2"/>
                </a:rPr>
                <a:t>Q</a:t>
              </a:r>
              <a:r>
                <a:rPr lang="en-US" altLang="zh-CN" sz="2800" baseline="-25000" dirty="0">
                  <a:latin typeface="Times New Roman" panose="02020603050405020304" pitchFamily="18" charset="0"/>
                  <a:sym typeface="Monotype Sorts" pitchFamily="2" charset="2"/>
                </a:rPr>
                <a:t>1</a:t>
              </a:r>
              <a:r>
                <a:rPr lang="en-US" altLang="zh-CN" sz="2800" baseline="30000" dirty="0">
                  <a:latin typeface="Times New Roman" panose="02020603050405020304" pitchFamily="18" charset="0"/>
                  <a:sym typeface="Monotype Sorts" pitchFamily="2" charset="2"/>
                </a:rPr>
                <a:t>n+1</a:t>
              </a:r>
              <a:r>
                <a:rPr lang="en-US" altLang="zh-CN" sz="2800" dirty="0">
                  <a:latin typeface="Times New Roman" panose="02020603050405020304" pitchFamily="18" charset="0"/>
                  <a:sym typeface="Monotype Sorts" pitchFamily="2" charset="2"/>
                </a:rPr>
                <a:t> </a:t>
              </a:r>
              <a:r>
                <a:rPr lang="en-US" altLang="zh-CN" sz="2800" baseline="-25000" dirty="0">
                  <a:latin typeface="Times New Roman" panose="02020603050405020304" pitchFamily="18" charset="0"/>
                  <a:sym typeface="Monotype Sorts" pitchFamily="2" charset="2"/>
                </a:rPr>
                <a:t>+</a:t>
              </a:r>
              <a:r>
                <a:rPr lang="en-US" altLang="zh-CN" sz="2800" dirty="0">
                  <a:latin typeface="Times New Roman" panose="02020603050405020304" pitchFamily="18" charset="0"/>
                  <a:sym typeface="Monotype Sorts" pitchFamily="2" charset="2"/>
                </a:rPr>
                <a:t>Q</a:t>
              </a:r>
              <a:r>
                <a:rPr lang="en-US" altLang="zh-CN" sz="2800" baseline="-25000" dirty="0">
                  <a:latin typeface="Times New Roman" panose="02020603050405020304" pitchFamily="18" charset="0"/>
                  <a:sym typeface="Monotype Sorts" pitchFamily="2" charset="2"/>
                </a:rPr>
                <a:t>2</a:t>
              </a:r>
              <a:r>
                <a:rPr lang="en-US" altLang="zh-CN" sz="2800" dirty="0">
                  <a:latin typeface="Times New Roman" panose="02020603050405020304" pitchFamily="18" charset="0"/>
                  <a:sym typeface="Monotype Sorts" pitchFamily="2" charset="2"/>
                </a:rPr>
                <a:t> Q</a:t>
              </a:r>
              <a:r>
                <a:rPr lang="en-US" altLang="zh-CN" sz="2800" baseline="-25000" dirty="0">
                  <a:latin typeface="Times New Roman" panose="02020603050405020304" pitchFamily="18" charset="0"/>
                  <a:sym typeface="Monotype Sorts" pitchFamily="2" charset="2"/>
                </a:rPr>
                <a:t>1</a:t>
              </a:r>
              <a:r>
                <a:rPr lang="en-US" altLang="zh-CN" sz="2800" dirty="0">
                  <a:latin typeface="Times New Roman" panose="02020603050405020304" pitchFamily="18" charset="0"/>
                  <a:sym typeface="Monotype Sorts" pitchFamily="2" charset="2"/>
                </a:rPr>
                <a:t>Q</a:t>
              </a:r>
              <a:r>
                <a:rPr lang="en-US" altLang="zh-CN" sz="2800" baseline="-25000" dirty="0">
                  <a:latin typeface="Times New Roman" panose="02020603050405020304" pitchFamily="18" charset="0"/>
                  <a:sym typeface="Monotype Sorts" pitchFamily="2" charset="2"/>
                </a:rPr>
                <a:t>1</a:t>
              </a:r>
              <a:r>
                <a:rPr lang="en-US" altLang="zh-CN" sz="2800" baseline="30000" dirty="0">
                  <a:latin typeface="Times New Roman" panose="02020603050405020304" pitchFamily="18" charset="0"/>
                  <a:sym typeface="Monotype Sorts" pitchFamily="2" charset="2"/>
                </a:rPr>
                <a:t>n+1</a:t>
              </a:r>
              <a:endParaRPr lang="en-US" altLang="zh-CN" sz="2800" baseline="30000" dirty="0">
                <a:latin typeface="Times New Roman" panose="02020603050405020304" pitchFamily="18" charset="0"/>
                <a:sym typeface="Monotype Sorts" pitchFamily="2" charset="2"/>
              </a:endParaRPr>
            </a:p>
            <a:p>
              <a:pPr eaLnBrk="1" hangingPunct="1">
                <a:lnSpc>
                  <a:spcPct val="170000"/>
                </a:lnSpc>
              </a:pPr>
              <a:r>
                <a:rPr lang="en-US" altLang="zh-CN" sz="2800" dirty="0">
                  <a:latin typeface="Times New Roman" panose="02020603050405020304" pitchFamily="18" charset="0"/>
                  <a:sym typeface="Monotype Sorts" pitchFamily="2" charset="2"/>
                </a:rPr>
                <a:t> Q</a:t>
              </a:r>
              <a:r>
                <a:rPr lang="en-US" altLang="zh-CN" sz="2800" baseline="-25000" dirty="0">
                  <a:latin typeface="Times New Roman" panose="02020603050405020304" pitchFamily="18" charset="0"/>
                  <a:sym typeface="Monotype Sorts" pitchFamily="2" charset="2"/>
                </a:rPr>
                <a:t>3</a:t>
              </a:r>
              <a:r>
                <a:rPr lang="en-US" altLang="zh-CN" sz="2800" baseline="30000" dirty="0">
                  <a:latin typeface="Times New Roman" panose="02020603050405020304" pitchFamily="18" charset="0"/>
                  <a:sym typeface="Monotype Sorts" pitchFamily="2" charset="2"/>
                </a:rPr>
                <a:t>(n+1)</a:t>
              </a:r>
              <a:r>
                <a:rPr lang="en-US" altLang="zh-CN" sz="2800" dirty="0">
                  <a:latin typeface="Times New Roman" panose="02020603050405020304" pitchFamily="18" charset="0"/>
                  <a:sym typeface="Monotype Sorts" pitchFamily="2" charset="2"/>
                </a:rPr>
                <a:t>=(J</a:t>
              </a:r>
              <a:r>
                <a:rPr lang="en-US" altLang="zh-CN" sz="2800" baseline="-25000" dirty="0">
                  <a:latin typeface="Times New Roman" panose="02020603050405020304" pitchFamily="18" charset="0"/>
                  <a:sym typeface="Monotype Sorts" pitchFamily="2" charset="2"/>
                </a:rPr>
                <a:t>3</a:t>
              </a:r>
              <a:r>
                <a:rPr lang="en-US" altLang="zh-CN" sz="2800" dirty="0">
                  <a:latin typeface="Times New Roman" panose="02020603050405020304" pitchFamily="18" charset="0"/>
                  <a:sym typeface="Monotype Sorts" pitchFamily="2" charset="2"/>
                </a:rPr>
                <a:t>Q</a:t>
              </a:r>
              <a:r>
                <a:rPr lang="en-US" altLang="zh-CN" sz="2800" baseline="-25000" dirty="0">
                  <a:latin typeface="Times New Roman" panose="02020603050405020304" pitchFamily="18" charset="0"/>
                  <a:sym typeface="Monotype Sorts" pitchFamily="2" charset="2"/>
                </a:rPr>
                <a:t>3</a:t>
              </a:r>
              <a:r>
                <a:rPr lang="en-US" altLang="zh-CN" sz="2800" dirty="0">
                  <a:latin typeface="Times New Roman" panose="02020603050405020304" pitchFamily="18" charset="0"/>
                  <a:sym typeface="Monotype Sorts" pitchFamily="2" charset="2"/>
                </a:rPr>
                <a:t>+K</a:t>
              </a:r>
              <a:r>
                <a:rPr lang="en-US" altLang="zh-CN" sz="2800" baseline="-25000" dirty="0">
                  <a:latin typeface="Times New Roman" panose="02020603050405020304" pitchFamily="18" charset="0"/>
                  <a:sym typeface="Monotype Sorts" pitchFamily="2" charset="2"/>
                </a:rPr>
                <a:t>3</a:t>
              </a:r>
              <a:r>
                <a:rPr lang="en-US" altLang="zh-CN" sz="2800" dirty="0">
                  <a:latin typeface="Times New Roman" panose="02020603050405020304" pitchFamily="18" charset="0"/>
                  <a:sym typeface="Monotype Sorts" pitchFamily="2" charset="2"/>
                </a:rPr>
                <a:t>Q</a:t>
              </a:r>
              <a:r>
                <a:rPr lang="en-US" altLang="zh-CN" sz="2800" baseline="-25000" dirty="0">
                  <a:latin typeface="Times New Roman" panose="02020603050405020304" pitchFamily="18" charset="0"/>
                  <a:sym typeface="Monotype Sorts" pitchFamily="2" charset="2"/>
                </a:rPr>
                <a:t>3</a:t>
              </a:r>
              <a:r>
                <a:rPr lang="en-US" altLang="zh-CN" sz="2800" dirty="0">
                  <a:latin typeface="Times New Roman" panose="02020603050405020304" pitchFamily="18" charset="0"/>
                  <a:sym typeface="Monotype Sorts" pitchFamily="2" charset="2"/>
                </a:rPr>
                <a:t>)CP+Q</a:t>
              </a:r>
              <a:r>
                <a:rPr lang="en-US" altLang="zh-CN" sz="2800" baseline="-25000" dirty="0">
                  <a:latin typeface="Times New Roman" panose="02020603050405020304" pitchFamily="18" charset="0"/>
                  <a:sym typeface="Monotype Sorts" pitchFamily="2" charset="2"/>
                </a:rPr>
                <a:t>3</a:t>
              </a:r>
              <a:r>
                <a:rPr lang="en-US" altLang="zh-CN" sz="2800" dirty="0">
                  <a:latin typeface="Times New Roman" panose="02020603050405020304" pitchFamily="18" charset="0"/>
                  <a:sym typeface="Monotype Sorts" pitchFamily="2" charset="2"/>
                </a:rPr>
                <a:t>CP</a:t>
              </a:r>
              <a:r>
                <a:rPr lang="zh-CN" altLang="en-US" sz="2800" dirty="0">
                  <a:latin typeface="Times New Roman" panose="02020603050405020304" pitchFamily="18" charset="0"/>
                  <a:sym typeface="Monotype Sorts" pitchFamily="2" charset="2"/>
                </a:rPr>
                <a:t>＝</a:t>
              </a:r>
              <a:r>
                <a:rPr lang="en-US" altLang="zh-CN" sz="2800" dirty="0">
                  <a:latin typeface="Times New Roman" panose="02020603050405020304" pitchFamily="18" charset="0"/>
                  <a:sym typeface="Monotype Sorts" pitchFamily="2" charset="2"/>
                </a:rPr>
                <a:t>Q</a:t>
              </a:r>
              <a:r>
                <a:rPr lang="en-US" altLang="zh-CN" sz="2800" baseline="-25000" dirty="0">
                  <a:latin typeface="Times New Roman" panose="02020603050405020304" pitchFamily="18" charset="0"/>
                  <a:sym typeface="Monotype Sorts" pitchFamily="2" charset="2"/>
                </a:rPr>
                <a:t>3  </a:t>
              </a:r>
              <a:r>
                <a:rPr lang="en-US" altLang="zh-CN" sz="2800" dirty="0">
                  <a:latin typeface="Times New Roman" panose="02020603050405020304" pitchFamily="18" charset="0"/>
                  <a:sym typeface="Monotype Sorts" pitchFamily="2" charset="2"/>
                </a:rPr>
                <a:t>Q</a:t>
              </a:r>
              <a:r>
                <a:rPr lang="en-US" altLang="zh-CN" sz="2800" baseline="-25000" dirty="0">
                  <a:latin typeface="Times New Roman" panose="02020603050405020304" pitchFamily="18" charset="0"/>
                  <a:sym typeface="Monotype Sorts" pitchFamily="2" charset="2"/>
                </a:rPr>
                <a:t>2</a:t>
              </a:r>
              <a:r>
                <a:rPr lang="en-US" altLang="zh-CN" sz="2800" dirty="0">
                  <a:latin typeface="Times New Roman" panose="02020603050405020304" pitchFamily="18" charset="0"/>
                  <a:sym typeface="Monotype Sorts" pitchFamily="2" charset="2"/>
                </a:rPr>
                <a:t>Q</a:t>
              </a:r>
              <a:r>
                <a:rPr lang="en-US" altLang="zh-CN" sz="2800" baseline="-25000" dirty="0">
                  <a:latin typeface="Times New Roman" panose="02020603050405020304" pitchFamily="18" charset="0"/>
                  <a:sym typeface="Monotype Sorts" pitchFamily="2" charset="2"/>
                </a:rPr>
                <a:t>2</a:t>
              </a:r>
              <a:r>
                <a:rPr lang="en-US" altLang="zh-CN" sz="2800" baseline="30000" dirty="0">
                  <a:latin typeface="Times New Roman" panose="02020603050405020304" pitchFamily="18" charset="0"/>
                  <a:sym typeface="Monotype Sorts" pitchFamily="2" charset="2"/>
                </a:rPr>
                <a:t>n+1</a:t>
              </a:r>
              <a:r>
                <a:rPr lang="en-US" altLang="zh-CN" sz="2800" baseline="-25000" dirty="0">
                  <a:latin typeface="Times New Roman" panose="02020603050405020304" pitchFamily="18" charset="0"/>
                  <a:sym typeface="Monotype Sorts" pitchFamily="2" charset="2"/>
                </a:rPr>
                <a:t> +</a:t>
              </a:r>
              <a:r>
                <a:rPr lang="en-US" altLang="zh-CN" sz="2800" dirty="0">
                  <a:latin typeface="Times New Roman" panose="02020603050405020304" pitchFamily="18" charset="0"/>
                  <a:sym typeface="Monotype Sorts" pitchFamily="2" charset="2"/>
                </a:rPr>
                <a:t>Q</a:t>
              </a:r>
              <a:r>
                <a:rPr lang="en-US" altLang="zh-CN" sz="2800" baseline="-25000" dirty="0">
                  <a:latin typeface="Times New Roman" panose="02020603050405020304" pitchFamily="18" charset="0"/>
                  <a:sym typeface="Monotype Sorts" pitchFamily="2" charset="2"/>
                </a:rPr>
                <a:t>3</a:t>
              </a:r>
              <a:r>
                <a:rPr lang="en-US" altLang="zh-CN" sz="2800" dirty="0">
                  <a:latin typeface="Times New Roman" panose="02020603050405020304" pitchFamily="18" charset="0"/>
                  <a:sym typeface="Monotype Sorts" pitchFamily="2" charset="2"/>
                </a:rPr>
                <a:t> Q</a:t>
              </a:r>
              <a:r>
                <a:rPr lang="en-US" altLang="zh-CN" sz="2800" baseline="-25000" dirty="0">
                  <a:latin typeface="Times New Roman" panose="02020603050405020304" pitchFamily="18" charset="0"/>
                  <a:sym typeface="Monotype Sorts" pitchFamily="2" charset="2"/>
                </a:rPr>
                <a:t>2</a:t>
              </a:r>
              <a:r>
                <a:rPr lang="en-US" altLang="zh-CN" sz="2800" dirty="0">
                  <a:latin typeface="Times New Roman" panose="02020603050405020304" pitchFamily="18" charset="0"/>
                  <a:sym typeface="Monotype Sorts" pitchFamily="2" charset="2"/>
                </a:rPr>
                <a:t>Q</a:t>
              </a:r>
              <a:r>
                <a:rPr lang="en-US" altLang="zh-CN" sz="2800" baseline="-25000" dirty="0">
                  <a:latin typeface="Times New Roman" panose="02020603050405020304" pitchFamily="18" charset="0"/>
                  <a:sym typeface="Monotype Sorts" pitchFamily="2" charset="2"/>
                </a:rPr>
                <a:t>2</a:t>
              </a:r>
              <a:r>
                <a:rPr lang="en-US" altLang="zh-CN" sz="2800" baseline="30000" dirty="0">
                  <a:latin typeface="Times New Roman" panose="02020603050405020304" pitchFamily="18" charset="0"/>
                  <a:sym typeface="Monotype Sorts" pitchFamily="2" charset="2"/>
                </a:rPr>
                <a:t>n+1</a:t>
              </a:r>
              <a:endParaRPr lang="en-US" altLang="zh-CN" sz="2800" baseline="30000" dirty="0">
                <a:latin typeface="Times New Roman" panose="02020603050405020304" pitchFamily="18" charset="0"/>
                <a:sym typeface="Monotype Sorts" pitchFamily="2" charset="2"/>
              </a:endParaRPr>
            </a:p>
          </p:txBody>
        </p:sp>
        <p:sp>
          <p:nvSpPr>
            <p:cNvPr id="26635" name="Line 6"/>
            <p:cNvSpPr/>
            <p:nvPr/>
          </p:nvSpPr>
          <p:spPr>
            <a:xfrm>
              <a:off x="1705" y="1158"/>
              <a:ext cx="13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sm" len="lg"/>
            </a:ln>
          </p:spPr>
        </p:sp>
        <p:sp>
          <p:nvSpPr>
            <p:cNvPr id="26636" name="Line 7"/>
            <p:cNvSpPr/>
            <p:nvPr/>
          </p:nvSpPr>
          <p:spPr>
            <a:xfrm>
              <a:off x="1381" y="1149"/>
              <a:ext cx="13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sm" len="lg"/>
            </a:ln>
          </p:spPr>
        </p:sp>
        <p:sp>
          <p:nvSpPr>
            <p:cNvPr id="26637" name="Line 8"/>
            <p:cNvSpPr/>
            <p:nvPr/>
          </p:nvSpPr>
          <p:spPr>
            <a:xfrm>
              <a:off x="3421" y="1165"/>
              <a:ext cx="13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sm" len="lg"/>
            </a:ln>
          </p:spPr>
        </p:sp>
        <p:sp>
          <p:nvSpPr>
            <p:cNvPr id="26638" name="Line 9"/>
            <p:cNvSpPr/>
            <p:nvPr/>
          </p:nvSpPr>
          <p:spPr>
            <a:xfrm>
              <a:off x="3720" y="1607"/>
              <a:ext cx="13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sm" len="lg"/>
            </a:ln>
          </p:spPr>
        </p:sp>
        <p:sp>
          <p:nvSpPr>
            <p:cNvPr id="26639" name="Line 10"/>
            <p:cNvSpPr/>
            <p:nvPr/>
          </p:nvSpPr>
          <p:spPr>
            <a:xfrm>
              <a:off x="3413" y="1607"/>
              <a:ext cx="13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sm" len="lg"/>
            </a:ln>
          </p:spPr>
        </p:sp>
        <p:sp>
          <p:nvSpPr>
            <p:cNvPr id="26640" name="Line 11"/>
            <p:cNvSpPr/>
            <p:nvPr/>
          </p:nvSpPr>
          <p:spPr>
            <a:xfrm>
              <a:off x="3767" y="2051"/>
              <a:ext cx="13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sm" len="lg"/>
            </a:ln>
          </p:spPr>
        </p:sp>
        <p:sp>
          <p:nvSpPr>
            <p:cNvPr id="26641" name="Line 12"/>
            <p:cNvSpPr/>
            <p:nvPr/>
          </p:nvSpPr>
          <p:spPr>
            <a:xfrm>
              <a:off x="3497" y="2053"/>
              <a:ext cx="13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sm" len="lg"/>
            </a:ln>
          </p:spPr>
        </p:sp>
        <p:sp>
          <p:nvSpPr>
            <p:cNvPr id="26642" name="Line 13"/>
            <p:cNvSpPr/>
            <p:nvPr/>
          </p:nvSpPr>
          <p:spPr>
            <a:xfrm>
              <a:off x="1717" y="1601"/>
              <a:ext cx="13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sm" len="lg"/>
            </a:ln>
          </p:spPr>
        </p:sp>
        <p:sp>
          <p:nvSpPr>
            <p:cNvPr id="26643" name="Line 14"/>
            <p:cNvSpPr/>
            <p:nvPr/>
          </p:nvSpPr>
          <p:spPr>
            <a:xfrm>
              <a:off x="1753" y="2075"/>
              <a:ext cx="13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sm" len="lg"/>
            </a:ln>
          </p:spPr>
        </p:sp>
        <p:sp>
          <p:nvSpPr>
            <p:cNvPr id="26644" name="Line 15"/>
            <p:cNvSpPr/>
            <p:nvPr/>
          </p:nvSpPr>
          <p:spPr>
            <a:xfrm>
              <a:off x="1431" y="2072"/>
              <a:ext cx="13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sm" len="lg"/>
            </a:ln>
          </p:spPr>
        </p:sp>
        <p:sp>
          <p:nvSpPr>
            <p:cNvPr id="26645" name="Line 16"/>
            <p:cNvSpPr/>
            <p:nvPr/>
          </p:nvSpPr>
          <p:spPr>
            <a:xfrm>
              <a:off x="1369" y="1601"/>
              <a:ext cx="13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sm" len="lg"/>
            </a:ln>
          </p:spPr>
        </p:sp>
        <p:sp>
          <p:nvSpPr>
            <p:cNvPr id="26646" name="Line 20"/>
            <p:cNvSpPr/>
            <p:nvPr/>
          </p:nvSpPr>
          <p:spPr>
            <a:xfrm>
              <a:off x="2975" y="1144"/>
              <a:ext cx="165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lg" len="lg"/>
            </a:ln>
          </p:spPr>
        </p:sp>
        <p:sp>
          <p:nvSpPr>
            <p:cNvPr id="26647" name="Line 21"/>
            <p:cNvSpPr/>
            <p:nvPr/>
          </p:nvSpPr>
          <p:spPr>
            <a:xfrm>
              <a:off x="2951" y="1609"/>
              <a:ext cx="189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lg" len="lg"/>
            </a:ln>
          </p:spPr>
        </p:sp>
        <p:sp>
          <p:nvSpPr>
            <p:cNvPr id="26648" name="Line 22"/>
            <p:cNvSpPr/>
            <p:nvPr/>
          </p:nvSpPr>
          <p:spPr>
            <a:xfrm>
              <a:off x="2998" y="2067"/>
              <a:ext cx="157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lg" len="lg"/>
            </a:ln>
          </p:spPr>
        </p:sp>
      </p:grpSp>
      <p:sp>
        <p:nvSpPr>
          <p:cNvPr id="26629" name="Line 8"/>
          <p:cNvSpPr/>
          <p:nvPr/>
        </p:nvSpPr>
        <p:spPr>
          <a:xfrm>
            <a:off x="6904038" y="1878013"/>
            <a:ext cx="209550" cy="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sm" len="lg"/>
          </a:ln>
        </p:spPr>
      </p:sp>
      <p:sp>
        <p:nvSpPr>
          <p:cNvPr id="26630" name="Line 9"/>
          <p:cNvSpPr/>
          <p:nvPr/>
        </p:nvSpPr>
        <p:spPr>
          <a:xfrm>
            <a:off x="7672388" y="2533650"/>
            <a:ext cx="209550" cy="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sm" len="lg"/>
          </a:ln>
        </p:spPr>
      </p:sp>
      <p:sp>
        <p:nvSpPr>
          <p:cNvPr id="26631" name="Line 9"/>
          <p:cNvSpPr/>
          <p:nvPr/>
        </p:nvSpPr>
        <p:spPr>
          <a:xfrm>
            <a:off x="7661275" y="2443163"/>
            <a:ext cx="1042988" cy="635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sm" len="lg"/>
          </a:ln>
        </p:spPr>
      </p:sp>
      <p:sp>
        <p:nvSpPr>
          <p:cNvPr id="26632" name="Line 9"/>
          <p:cNvSpPr/>
          <p:nvPr/>
        </p:nvSpPr>
        <p:spPr>
          <a:xfrm>
            <a:off x="7756525" y="3240088"/>
            <a:ext cx="209550" cy="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sm" len="lg"/>
          </a:ln>
        </p:spPr>
      </p:sp>
      <p:sp>
        <p:nvSpPr>
          <p:cNvPr id="26633" name="Line 9"/>
          <p:cNvSpPr/>
          <p:nvPr/>
        </p:nvSpPr>
        <p:spPr>
          <a:xfrm>
            <a:off x="7745413" y="3149600"/>
            <a:ext cx="1042987" cy="635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sm" len="lg"/>
          </a:ln>
        </p:spPr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40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740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082" grpId="0"/>
      <p:bldP spid="174097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" name="Group 44"/>
          <p:cNvGrpSpPr/>
          <p:nvPr/>
        </p:nvGrpSpPr>
        <p:grpSpPr>
          <a:xfrm>
            <a:off x="366713" y="2743200"/>
            <a:ext cx="8324850" cy="4114800"/>
            <a:chOff x="216" y="194"/>
            <a:chExt cx="5244" cy="2592"/>
          </a:xfrm>
        </p:grpSpPr>
        <p:sp>
          <p:nvSpPr>
            <p:cNvPr id="27684" name="Text Box 2"/>
            <p:cNvSpPr txBox="1"/>
            <p:nvPr/>
          </p:nvSpPr>
          <p:spPr>
            <a:xfrm>
              <a:off x="1142" y="194"/>
              <a:ext cx="1228" cy="518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p>
              <a:pPr algn="ctr" defTabSz="666750" eaLnBrk="1" hangingPunct="1">
                <a:tabLst>
                  <a:tab pos="95250" algn="l"/>
                </a:tabLst>
              </a:pPr>
              <a:r>
                <a:rPr lang="zh-CN" altLang="zh-CN" dirty="0">
                  <a:latin typeface="Times New Roman" panose="02020603050405020304" pitchFamily="18" charset="0"/>
                </a:rPr>
                <a:t>现	态</a:t>
              </a:r>
              <a:endParaRPr lang="zh-CN" altLang="zh-CN" dirty="0">
                <a:latin typeface="Times New Roman" panose="02020603050405020304" pitchFamily="18" charset="0"/>
              </a:endParaRPr>
            </a:p>
            <a:p>
              <a:pPr defTabSz="666750" eaLnBrk="1" hangingPunct="1">
                <a:tabLst>
                  <a:tab pos="95250" algn="l"/>
                </a:tabLst>
              </a:pPr>
              <a:r>
                <a:rPr lang="en-US" altLang="zh-CN" dirty="0">
                  <a:latin typeface="Times New Roman" panose="02020603050405020304" pitchFamily="18" charset="0"/>
                </a:rPr>
                <a:t>Q</a:t>
              </a:r>
              <a:r>
                <a:rPr lang="en-US" altLang="zh-CN" baseline="-25000" dirty="0">
                  <a:latin typeface="Times New Roman" panose="02020603050405020304" pitchFamily="18" charset="0"/>
                </a:rPr>
                <a:t>3</a:t>
              </a:r>
              <a:r>
                <a:rPr lang="en-US" altLang="zh-CN" dirty="0">
                  <a:latin typeface="Times New Roman" panose="02020603050405020304" pitchFamily="18" charset="0"/>
                </a:rPr>
                <a:t>    Q</a:t>
              </a:r>
              <a:r>
                <a:rPr lang="en-US" altLang="zh-CN" baseline="-25000" dirty="0">
                  <a:latin typeface="Times New Roman" panose="02020603050405020304" pitchFamily="18" charset="0"/>
                </a:rPr>
                <a:t>2</a:t>
              </a:r>
              <a:r>
                <a:rPr lang="en-US" altLang="zh-CN" dirty="0">
                  <a:latin typeface="Times New Roman" panose="02020603050405020304" pitchFamily="18" charset="0"/>
                </a:rPr>
                <a:t>   Q</a:t>
              </a:r>
              <a:r>
                <a:rPr lang="en-US" altLang="zh-CN" baseline="-25000" dirty="0">
                  <a:latin typeface="Times New Roman" panose="02020603050405020304" pitchFamily="18" charset="0"/>
                </a:rPr>
                <a:t>1</a:t>
              </a:r>
              <a:endParaRPr lang="en-US" altLang="zh-CN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27685" name="Text Box 3"/>
            <p:cNvSpPr txBox="1"/>
            <p:nvPr/>
          </p:nvSpPr>
          <p:spPr>
            <a:xfrm>
              <a:off x="2640" y="217"/>
              <a:ext cx="1647" cy="518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p>
              <a:pPr algn="ctr" eaLnBrk="1" hangingPunct="1"/>
              <a:r>
                <a:rPr lang="zh-CN" altLang="zh-CN" dirty="0">
                  <a:latin typeface="Times New Roman" panose="02020603050405020304" pitchFamily="18" charset="0"/>
                </a:rPr>
                <a:t>次     态</a:t>
              </a:r>
              <a:endParaRPr lang="zh-CN" altLang="zh-CN" dirty="0">
                <a:latin typeface="Times New Roman" panose="02020603050405020304" pitchFamily="18" charset="0"/>
              </a:endParaRPr>
            </a:p>
            <a:p>
              <a:pPr algn="ctr" eaLnBrk="1" hangingPunct="1"/>
              <a:r>
                <a:rPr lang="en-US" altLang="zh-CN" dirty="0">
                  <a:latin typeface="Times New Roman" panose="02020603050405020304" pitchFamily="18" charset="0"/>
                </a:rPr>
                <a:t>Q</a:t>
              </a:r>
              <a:r>
                <a:rPr lang="en-US" altLang="zh-CN" baseline="-25000" dirty="0">
                  <a:latin typeface="Times New Roman" panose="02020603050405020304" pitchFamily="18" charset="0"/>
                </a:rPr>
                <a:t>3</a:t>
              </a:r>
              <a:r>
                <a:rPr lang="en-US" altLang="zh-CN" baseline="30000" dirty="0">
                  <a:latin typeface="Times New Roman" panose="02020603050405020304" pitchFamily="18" charset="0"/>
                </a:rPr>
                <a:t>(</a:t>
              </a:r>
              <a:r>
                <a:rPr lang="en-US" altLang="zh-CN" i="1" baseline="30000" dirty="0">
                  <a:latin typeface="Times New Roman" panose="02020603050405020304" pitchFamily="18" charset="0"/>
                </a:rPr>
                <a:t>n</a:t>
              </a:r>
              <a:r>
                <a:rPr lang="en-US" altLang="zh-CN" baseline="30000" dirty="0">
                  <a:latin typeface="Times New Roman" panose="02020603050405020304" pitchFamily="18" charset="0"/>
                </a:rPr>
                <a:t>+1) </a:t>
              </a:r>
              <a:r>
                <a:rPr lang="en-US" altLang="zh-CN" dirty="0">
                  <a:latin typeface="Times New Roman" panose="02020603050405020304" pitchFamily="18" charset="0"/>
                </a:rPr>
                <a:t>Q</a:t>
              </a:r>
              <a:r>
                <a:rPr lang="en-US" altLang="zh-CN" baseline="-25000" dirty="0">
                  <a:latin typeface="Times New Roman" panose="02020603050405020304" pitchFamily="18" charset="0"/>
                </a:rPr>
                <a:t>2</a:t>
              </a:r>
              <a:r>
                <a:rPr lang="en-US" altLang="zh-CN" baseline="30000" dirty="0">
                  <a:latin typeface="Times New Roman" panose="02020603050405020304" pitchFamily="18" charset="0"/>
                </a:rPr>
                <a:t>(</a:t>
              </a:r>
              <a:r>
                <a:rPr lang="en-US" altLang="zh-CN" i="1" baseline="30000" dirty="0">
                  <a:latin typeface="Times New Roman" panose="02020603050405020304" pitchFamily="18" charset="0"/>
                </a:rPr>
                <a:t>n</a:t>
              </a:r>
              <a:r>
                <a:rPr lang="en-US" altLang="zh-CN" baseline="30000" dirty="0">
                  <a:latin typeface="Times New Roman" panose="02020603050405020304" pitchFamily="18" charset="0"/>
                </a:rPr>
                <a:t>+1) </a:t>
              </a:r>
              <a:r>
                <a:rPr lang="en-US" altLang="zh-CN" dirty="0">
                  <a:latin typeface="Times New Roman" panose="02020603050405020304" pitchFamily="18" charset="0"/>
                </a:rPr>
                <a:t>Q</a:t>
              </a:r>
              <a:r>
                <a:rPr lang="en-US" altLang="zh-CN" baseline="-25000" dirty="0">
                  <a:latin typeface="Times New Roman" panose="02020603050405020304" pitchFamily="18" charset="0"/>
                </a:rPr>
                <a:t>1</a:t>
              </a:r>
              <a:r>
                <a:rPr lang="en-US" altLang="zh-CN" baseline="30000" dirty="0">
                  <a:latin typeface="Times New Roman" panose="02020603050405020304" pitchFamily="18" charset="0"/>
                </a:rPr>
                <a:t>(</a:t>
              </a:r>
              <a:r>
                <a:rPr lang="en-US" altLang="zh-CN" i="1" baseline="30000" dirty="0">
                  <a:latin typeface="Times New Roman" panose="02020603050405020304" pitchFamily="18" charset="0"/>
                </a:rPr>
                <a:t>n</a:t>
              </a:r>
              <a:r>
                <a:rPr lang="en-US" altLang="zh-CN" baseline="30000" dirty="0">
                  <a:latin typeface="Times New Roman" panose="02020603050405020304" pitchFamily="18" charset="0"/>
                </a:rPr>
                <a:t>+1)</a:t>
              </a:r>
              <a:endParaRPr lang="en-US" altLang="zh-CN" baseline="30000" dirty="0">
                <a:latin typeface="Times New Roman" panose="02020603050405020304" pitchFamily="18" charset="0"/>
              </a:endParaRPr>
            </a:p>
          </p:txBody>
        </p:sp>
        <p:sp>
          <p:nvSpPr>
            <p:cNvPr id="27686" name="Text Box 4"/>
            <p:cNvSpPr txBox="1"/>
            <p:nvPr/>
          </p:nvSpPr>
          <p:spPr>
            <a:xfrm>
              <a:off x="1178" y="820"/>
              <a:ext cx="1052" cy="1898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p>
              <a:pPr defTabSz="666750" eaLnBrk="1" hangingPunct="1"/>
              <a:r>
                <a:rPr lang="en-US" altLang="zh-CN" dirty="0">
                  <a:latin typeface="Times New Roman" panose="02020603050405020304" pitchFamily="18" charset="0"/>
                </a:rPr>
                <a:t>0	0	0</a:t>
              </a:r>
              <a:endParaRPr lang="en-US" altLang="zh-CN" dirty="0">
                <a:latin typeface="Times New Roman" panose="02020603050405020304" pitchFamily="18" charset="0"/>
              </a:endParaRPr>
            </a:p>
            <a:p>
              <a:pPr defTabSz="666750" eaLnBrk="1" hangingPunct="1"/>
              <a:r>
                <a:rPr lang="en-US" altLang="zh-CN" dirty="0">
                  <a:latin typeface="Times New Roman" panose="02020603050405020304" pitchFamily="18" charset="0"/>
                </a:rPr>
                <a:t>0	0	1</a:t>
              </a:r>
              <a:endParaRPr lang="en-US" altLang="zh-CN" dirty="0">
                <a:latin typeface="Times New Roman" panose="02020603050405020304" pitchFamily="18" charset="0"/>
              </a:endParaRPr>
            </a:p>
            <a:p>
              <a:pPr defTabSz="666750" eaLnBrk="1" hangingPunct="1"/>
              <a:r>
                <a:rPr lang="en-US" altLang="zh-CN" dirty="0">
                  <a:latin typeface="Times New Roman" panose="02020603050405020304" pitchFamily="18" charset="0"/>
                </a:rPr>
                <a:t>0	1	0</a:t>
              </a:r>
              <a:endParaRPr lang="en-US" altLang="zh-CN" dirty="0">
                <a:latin typeface="Times New Roman" panose="02020603050405020304" pitchFamily="18" charset="0"/>
              </a:endParaRPr>
            </a:p>
            <a:p>
              <a:pPr defTabSz="666750" eaLnBrk="1" hangingPunct="1"/>
              <a:r>
                <a:rPr lang="en-US" altLang="zh-CN" dirty="0">
                  <a:latin typeface="Times New Roman" panose="02020603050405020304" pitchFamily="18" charset="0"/>
                </a:rPr>
                <a:t>0	1	1</a:t>
              </a:r>
              <a:endParaRPr lang="en-US" altLang="zh-CN" dirty="0">
                <a:latin typeface="Times New Roman" panose="02020603050405020304" pitchFamily="18" charset="0"/>
              </a:endParaRPr>
            </a:p>
            <a:p>
              <a:pPr defTabSz="666750" eaLnBrk="1" hangingPunct="1"/>
              <a:r>
                <a:rPr lang="en-US" altLang="zh-CN" dirty="0">
                  <a:latin typeface="Times New Roman" panose="02020603050405020304" pitchFamily="18" charset="0"/>
                </a:rPr>
                <a:t>1	0	0</a:t>
              </a:r>
              <a:endParaRPr lang="en-US" altLang="zh-CN" dirty="0">
                <a:latin typeface="Times New Roman" panose="02020603050405020304" pitchFamily="18" charset="0"/>
              </a:endParaRPr>
            </a:p>
            <a:p>
              <a:pPr defTabSz="666750" eaLnBrk="1" hangingPunct="1"/>
              <a:r>
                <a:rPr lang="en-US" altLang="zh-CN" dirty="0">
                  <a:latin typeface="Times New Roman" panose="02020603050405020304" pitchFamily="18" charset="0"/>
                </a:rPr>
                <a:t>1	0	1</a:t>
              </a:r>
              <a:endParaRPr lang="en-US" altLang="zh-CN" dirty="0">
                <a:latin typeface="Times New Roman" panose="02020603050405020304" pitchFamily="18" charset="0"/>
              </a:endParaRPr>
            </a:p>
            <a:p>
              <a:pPr defTabSz="666750" eaLnBrk="1" hangingPunct="1"/>
              <a:r>
                <a:rPr lang="en-US" altLang="zh-CN" dirty="0">
                  <a:latin typeface="Times New Roman" panose="02020603050405020304" pitchFamily="18" charset="0"/>
                </a:rPr>
                <a:t>1	1	0</a:t>
              </a:r>
              <a:endParaRPr lang="en-US" altLang="zh-CN" dirty="0">
                <a:latin typeface="Times New Roman" panose="02020603050405020304" pitchFamily="18" charset="0"/>
              </a:endParaRPr>
            </a:p>
            <a:p>
              <a:pPr defTabSz="666750" eaLnBrk="1" hangingPunct="1"/>
              <a:r>
                <a:rPr lang="en-US" altLang="zh-CN" dirty="0">
                  <a:latin typeface="Times New Roman" panose="02020603050405020304" pitchFamily="18" charset="0"/>
                </a:rPr>
                <a:t>1	1	1</a:t>
              </a:r>
              <a:endParaRPr lang="en-US" altLang="zh-CN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27687" name="Rectangle 5"/>
            <p:cNvSpPr/>
            <p:nvPr/>
          </p:nvSpPr>
          <p:spPr>
            <a:xfrm>
              <a:off x="466" y="240"/>
              <a:ext cx="548" cy="518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p>
              <a:pPr algn="ctr" eaLnBrk="1" hangingPunct="1"/>
              <a:r>
                <a:rPr lang="zh-CN" altLang="en-US" dirty="0">
                  <a:latin typeface="Times New Roman" panose="02020603050405020304" pitchFamily="18" charset="0"/>
                </a:rPr>
                <a:t>输 入</a:t>
              </a:r>
              <a:endParaRPr lang="zh-CN" altLang="en-US" dirty="0">
                <a:latin typeface="Times New Roman" panose="02020603050405020304" pitchFamily="18" charset="0"/>
              </a:endParaRPr>
            </a:p>
            <a:p>
              <a:pPr algn="ctr" eaLnBrk="1" hangingPunct="1"/>
              <a:r>
                <a:rPr lang="en-US" altLang="zh-CN" dirty="0">
                  <a:latin typeface="Times New Roman" panose="02020603050405020304" pitchFamily="18" charset="0"/>
                </a:rPr>
                <a:t>x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27688" name="Text Box 6"/>
            <p:cNvSpPr txBox="1"/>
            <p:nvPr/>
          </p:nvSpPr>
          <p:spPr>
            <a:xfrm>
              <a:off x="2612" y="776"/>
              <a:ext cx="1608" cy="1898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p>
              <a:pPr defTabSz="952500" eaLnBrk="1" hangingPunct="1">
                <a:tabLst>
                  <a:tab pos="952500" algn="l"/>
                </a:tabLst>
              </a:pPr>
              <a:r>
                <a:rPr lang="en-US" altLang="zh-CN" dirty="0">
                  <a:latin typeface="Times New Roman" panose="02020603050405020304" pitchFamily="18" charset="0"/>
                </a:rPr>
                <a:t>1	1	1</a:t>
              </a:r>
              <a:endParaRPr lang="en-US" altLang="zh-CN" dirty="0">
                <a:latin typeface="Times New Roman" panose="02020603050405020304" pitchFamily="18" charset="0"/>
              </a:endParaRPr>
            </a:p>
            <a:p>
              <a:pPr defTabSz="952500" eaLnBrk="1" hangingPunct="1">
                <a:tabLst>
                  <a:tab pos="952500" algn="l"/>
                </a:tabLst>
              </a:pPr>
              <a:r>
                <a:rPr lang="en-US" altLang="zh-CN" dirty="0">
                  <a:latin typeface="Times New Roman" panose="02020603050405020304" pitchFamily="18" charset="0"/>
                </a:rPr>
                <a:t>0	0	0</a:t>
              </a:r>
              <a:endParaRPr lang="en-US" altLang="zh-CN" dirty="0">
                <a:latin typeface="Times New Roman" panose="02020603050405020304" pitchFamily="18" charset="0"/>
              </a:endParaRPr>
            </a:p>
            <a:p>
              <a:pPr defTabSz="952500" eaLnBrk="1" hangingPunct="1">
                <a:tabLst>
                  <a:tab pos="952500" algn="l"/>
                </a:tabLst>
              </a:pPr>
              <a:r>
                <a:rPr lang="en-US" altLang="zh-CN" dirty="0">
                  <a:latin typeface="Times New Roman" panose="02020603050405020304" pitchFamily="18" charset="0"/>
                </a:rPr>
                <a:t>0	0	1</a:t>
              </a:r>
              <a:endParaRPr lang="en-US" altLang="zh-CN" dirty="0">
                <a:latin typeface="Times New Roman" panose="02020603050405020304" pitchFamily="18" charset="0"/>
              </a:endParaRPr>
            </a:p>
            <a:p>
              <a:pPr defTabSz="952500" eaLnBrk="1" hangingPunct="1">
                <a:tabLst>
                  <a:tab pos="952500" algn="l"/>
                </a:tabLst>
              </a:pPr>
              <a:r>
                <a:rPr lang="en-US" altLang="zh-CN" dirty="0">
                  <a:latin typeface="Times New Roman" panose="02020603050405020304" pitchFamily="18" charset="0"/>
                </a:rPr>
                <a:t>0	1	0</a:t>
              </a:r>
              <a:endParaRPr lang="en-US" altLang="zh-CN" dirty="0">
                <a:latin typeface="Times New Roman" panose="02020603050405020304" pitchFamily="18" charset="0"/>
              </a:endParaRPr>
            </a:p>
            <a:p>
              <a:pPr defTabSz="952500" eaLnBrk="1" hangingPunct="1">
                <a:tabLst>
                  <a:tab pos="952500" algn="l"/>
                </a:tabLst>
              </a:pPr>
              <a:r>
                <a:rPr lang="en-US" altLang="zh-CN" dirty="0">
                  <a:latin typeface="Times New Roman" panose="02020603050405020304" pitchFamily="18" charset="0"/>
                </a:rPr>
                <a:t>0	1	1</a:t>
              </a:r>
              <a:endParaRPr lang="en-US" altLang="zh-CN" dirty="0">
                <a:latin typeface="Times New Roman" panose="02020603050405020304" pitchFamily="18" charset="0"/>
              </a:endParaRPr>
            </a:p>
            <a:p>
              <a:pPr defTabSz="952500" eaLnBrk="1" hangingPunct="1">
                <a:tabLst>
                  <a:tab pos="952500" algn="l"/>
                </a:tabLst>
              </a:pPr>
              <a:r>
                <a:rPr lang="en-US" altLang="zh-CN" dirty="0">
                  <a:latin typeface="Times New Roman" panose="02020603050405020304" pitchFamily="18" charset="0"/>
                </a:rPr>
                <a:t>1	0	0</a:t>
              </a:r>
              <a:endParaRPr lang="en-US" altLang="zh-CN" dirty="0">
                <a:latin typeface="Times New Roman" panose="02020603050405020304" pitchFamily="18" charset="0"/>
              </a:endParaRPr>
            </a:p>
            <a:p>
              <a:pPr defTabSz="952500" eaLnBrk="1" hangingPunct="1">
                <a:tabLst>
                  <a:tab pos="952500" algn="l"/>
                </a:tabLst>
              </a:pPr>
              <a:r>
                <a:rPr lang="en-US" altLang="zh-CN" dirty="0">
                  <a:latin typeface="Times New Roman" panose="02020603050405020304" pitchFamily="18" charset="0"/>
                </a:rPr>
                <a:t>1	0	1</a:t>
              </a:r>
              <a:endParaRPr lang="en-US" altLang="zh-CN" dirty="0">
                <a:latin typeface="Times New Roman" panose="02020603050405020304" pitchFamily="18" charset="0"/>
              </a:endParaRPr>
            </a:p>
            <a:p>
              <a:pPr defTabSz="952500" eaLnBrk="1" hangingPunct="1">
                <a:tabLst>
                  <a:tab pos="952500" algn="l"/>
                </a:tabLst>
              </a:pPr>
              <a:r>
                <a:rPr lang="en-US" altLang="zh-CN" dirty="0">
                  <a:latin typeface="Times New Roman" panose="02020603050405020304" pitchFamily="18" charset="0"/>
                </a:rPr>
                <a:t>1	1	0</a:t>
              </a:r>
              <a:endParaRPr lang="en-US" altLang="zh-CN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27689" name="Text Box 7"/>
            <p:cNvSpPr txBox="1"/>
            <p:nvPr/>
          </p:nvSpPr>
          <p:spPr>
            <a:xfrm>
              <a:off x="604" y="820"/>
              <a:ext cx="212" cy="1898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p>
              <a:pPr algn="ctr" defTabSz="666750" eaLnBrk="1" hangingPunct="1"/>
              <a:r>
                <a:rPr lang="en-US" altLang="zh-CN" dirty="0">
                  <a:latin typeface="Times New Roman" panose="02020603050405020304" pitchFamily="18" charset="0"/>
                </a:rPr>
                <a:t>1</a:t>
              </a:r>
              <a:endParaRPr lang="en-US" altLang="zh-CN" dirty="0">
                <a:latin typeface="Times New Roman" panose="02020603050405020304" pitchFamily="18" charset="0"/>
              </a:endParaRPr>
            </a:p>
            <a:p>
              <a:pPr algn="ctr" defTabSz="666750" eaLnBrk="1" hangingPunct="1"/>
              <a:r>
                <a:rPr lang="en-US" altLang="zh-CN" dirty="0">
                  <a:latin typeface="Times New Roman" panose="02020603050405020304" pitchFamily="18" charset="0"/>
                </a:rPr>
                <a:t>1</a:t>
              </a:r>
              <a:endParaRPr lang="en-US" altLang="zh-CN" dirty="0">
                <a:latin typeface="Times New Roman" panose="02020603050405020304" pitchFamily="18" charset="0"/>
              </a:endParaRPr>
            </a:p>
            <a:p>
              <a:pPr algn="ctr" defTabSz="666750" eaLnBrk="1" hangingPunct="1"/>
              <a:r>
                <a:rPr lang="en-US" altLang="zh-CN" dirty="0">
                  <a:latin typeface="Times New Roman" panose="02020603050405020304" pitchFamily="18" charset="0"/>
                </a:rPr>
                <a:t>1</a:t>
              </a:r>
              <a:endParaRPr lang="en-US" altLang="zh-CN" dirty="0">
                <a:latin typeface="Times New Roman" panose="02020603050405020304" pitchFamily="18" charset="0"/>
              </a:endParaRPr>
            </a:p>
            <a:p>
              <a:pPr algn="ctr" defTabSz="666750" eaLnBrk="1" hangingPunct="1"/>
              <a:r>
                <a:rPr lang="en-US" altLang="zh-CN" dirty="0">
                  <a:latin typeface="Times New Roman" panose="02020603050405020304" pitchFamily="18" charset="0"/>
                </a:rPr>
                <a:t>1</a:t>
              </a:r>
              <a:endParaRPr lang="en-US" altLang="zh-CN" dirty="0">
                <a:latin typeface="Times New Roman" panose="02020603050405020304" pitchFamily="18" charset="0"/>
              </a:endParaRPr>
            </a:p>
            <a:p>
              <a:pPr algn="ctr" defTabSz="666750" eaLnBrk="1" hangingPunct="1"/>
              <a:r>
                <a:rPr lang="en-US" altLang="zh-CN" dirty="0">
                  <a:latin typeface="Times New Roman" panose="02020603050405020304" pitchFamily="18" charset="0"/>
                </a:rPr>
                <a:t>1</a:t>
              </a:r>
              <a:endParaRPr lang="en-US" altLang="zh-CN" dirty="0">
                <a:latin typeface="Times New Roman" panose="02020603050405020304" pitchFamily="18" charset="0"/>
              </a:endParaRPr>
            </a:p>
            <a:p>
              <a:pPr algn="ctr" defTabSz="666750" eaLnBrk="1" hangingPunct="1"/>
              <a:r>
                <a:rPr lang="en-US" altLang="zh-CN" dirty="0">
                  <a:latin typeface="Times New Roman" panose="02020603050405020304" pitchFamily="18" charset="0"/>
                </a:rPr>
                <a:t>1</a:t>
              </a:r>
              <a:endParaRPr lang="en-US" altLang="zh-CN" dirty="0">
                <a:latin typeface="Times New Roman" panose="02020603050405020304" pitchFamily="18" charset="0"/>
              </a:endParaRPr>
            </a:p>
            <a:p>
              <a:pPr algn="ctr" defTabSz="666750" eaLnBrk="1" hangingPunct="1"/>
              <a:r>
                <a:rPr lang="en-US" altLang="zh-CN" dirty="0">
                  <a:latin typeface="Times New Roman" panose="02020603050405020304" pitchFamily="18" charset="0"/>
                </a:rPr>
                <a:t>1</a:t>
              </a:r>
              <a:endParaRPr lang="en-US" altLang="zh-CN" dirty="0">
                <a:latin typeface="Times New Roman" panose="02020603050405020304" pitchFamily="18" charset="0"/>
              </a:endParaRPr>
            </a:p>
            <a:p>
              <a:pPr algn="ctr" defTabSz="666750" eaLnBrk="1" hangingPunct="1"/>
              <a:r>
                <a:rPr lang="en-US" altLang="zh-CN" dirty="0">
                  <a:latin typeface="Times New Roman" panose="02020603050405020304" pitchFamily="18" charset="0"/>
                </a:rPr>
                <a:t>1</a:t>
              </a:r>
              <a:endParaRPr lang="en-US" altLang="zh-CN" baseline="-25000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27690" name="Group 8"/>
            <p:cNvGrpSpPr/>
            <p:nvPr/>
          </p:nvGrpSpPr>
          <p:grpSpPr>
            <a:xfrm>
              <a:off x="216" y="227"/>
              <a:ext cx="5244" cy="2559"/>
              <a:chOff x="288" y="1271"/>
              <a:chExt cx="5244" cy="2799"/>
            </a:xfrm>
          </p:grpSpPr>
          <p:sp>
            <p:nvSpPr>
              <p:cNvPr id="27693" name="Line 9"/>
              <p:cNvSpPr/>
              <p:nvPr/>
            </p:nvSpPr>
            <p:spPr>
              <a:xfrm>
                <a:off x="300" y="1283"/>
                <a:ext cx="5220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sm" len="lg"/>
              </a:ln>
            </p:spPr>
          </p:sp>
          <p:sp>
            <p:nvSpPr>
              <p:cNvPr id="27694" name="Line 10"/>
              <p:cNvSpPr/>
              <p:nvPr/>
            </p:nvSpPr>
            <p:spPr>
              <a:xfrm>
                <a:off x="288" y="4058"/>
                <a:ext cx="5244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sm" len="lg"/>
              </a:ln>
            </p:spPr>
          </p:sp>
          <p:sp>
            <p:nvSpPr>
              <p:cNvPr id="27695" name="Line 11"/>
              <p:cNvSpPr/>
              <p:nvPr/>
            </p:nvSpPr>
            <p:spPr>
              <a:xfrm>
                <a:off x="1140" y="1283"/>
                <a:ext cx="0" cy="2762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sm" len="lg"/>
              </a:ln>
            </p:spPr>
          </p:sp>
          <p:sp>
            <p:nvSpPr>
              <p:cNvPr id="27696" name="Line 12"/>
              <p:cNvSpPr/>
              <p:nvPr/>
            </p:nvSpPr>
            <p:spPr>
              <a:xfrm>
                <a:off x="2556" y="1271"/>
                <a:ext cx="0" cy="2799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sm" len="lg"/>
              </a:ln>
            </p:spPr>
          </p:sp>
          <p:sp>
            <p:nvSpPr>
              <p:cNvPr id="27697" name="Line 13"/>
              <p:cNvSpPr/>
              <p:nvPr/>
            </p:nvSpPr>
            <p:spPr>
              <a:xfrm>
                <a:off x="288" y="1896"/>
                <a:ext cx="5244" cy="0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sm" len="lg"/>
              </a:ln>
            </p:spPr>
          </p:sp>
          <p:sp>
            <p:nvSpPr>
              <p:cNvPr id="27698" name="Line 14"/>
              <p:cNvSpPr/>
              <p:nvPr/>
            </p:nvSpPr>
            <p:spPr>
              <a:xfrm>
                <a:off x="4524" y="1294"/>
                <a:ext cx="0" cy="2764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sm" len="lg"/>
              </a:ln>
            </p:spPr>
          </p:sp>
        </p:grpSp>
        <p:sp>
          <p:nvSpPr>
            <p:cNvPr id="27691" name="Rectangle 15"/>
            <p:cNvSpPr/>
            <p:nvPr/>
          </p:nvSpPr>
          <p:spPr>
            <a:xfrm>
              <a:off x="4594" y="240"/>
              <a:ext cx="548" cy="518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p>
              <a:pPr algn="ctr" eaLnBrk="1" hangingPunct="1"/>
              <a:r>
                <a:rPr lang="zh-CN" altLang="en-US" dirty="0">
                  <a:latin typeface="Times New Roman" panose="02020603050405020304" pitchFamily="18" charset="0"/>
                </a:rPr>
                <a:t>输 出</a:t>
              </a:r>
              <a:endParaRPr lang="zh-CN" altLang="en-US" dirty="0">
                <a:latin typeface="Times New Roman" panose="02020603050405020304" pitchFamily="18" charset="0"/>
              </a:endParaRPr>
            </a:p>
            <a:p>
              <a:pPr algn="ctr" eaLnBrk="1" hangingPunct="1"/>
              <a:r>
                <a:rPr lang="en-US" altLang="zh-CN" dirty="0">
                  <a:latin typeface="Times New Roman" panose="02020603050405020304" pitchFamily="18" charset="0"/>
                </a:rPr>
                <a:t>Z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27692" name="Text Box 16"/>
            <p:cNvSpPr txBox="1"/>
            <p:nvPr/>
          </p:nvSpPr>
          <p:spPr>
            <a:xfrm>
              <a:off x="4768" y="820"/>
              <a:ext cx="212" cy="1898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p>
              <a:pPr algn="ctr" defTabSz="666750" eaLnBrk="1" hangingPunct="1"/>
              <a:r>
                <a:rPr lang="en-US" altLang="zh-CN" dirty="0">
                  <a:latin typeface="Times New Roman" panose="02020603050405020304" pitchFamily="18" charset="0"/>
                </a:rPr>
                <a:t>1</a:t>
              </a:r>
              <a:endParaRPr lang="en-US" altLang="zh-CN" dirty="0">
                <a:latin typeface="Times New Roman" panose="02020603050405020304" pitchFamily="18" charset="0"/>
              </a:endParaRPr>
            </a:p>
            <a:p>
              <a:pPr algn="ctr" defTabSz="666750" eaLnBrk="1" hangingPunct="1"/>
              <a:r>
                <a:rPr lang="en-US" altLang="zh-CN" dirty="0">
                  <a:latin typeface="Times New Roman" panose="02020603050405020304" pitchFamily="18" charset="0"/>
                </a:rPr>
                <a:t>0</a:t>
              </a:r>
              <a:endParaRPr lang="en-US" altLang="zh-CN" dirty="0">
                <a:latin typeface="Times New Roman" panose="02020603050405020304" pitchFamily="18" charset="0"/>
              </a:endParaRPr>
            </a:p>
            <a:p>
              <a:pPr algn="ctr" defTabSz="666750" eaLnBrk="1" hangingPunct="1"/>
              <a:r>
                <a:rPr lang="en-US" altLang="zh-CN" dirty="0">
                  <a:latin typeface="Times New Roman" panose="02020603050405020304" pitchFamily="18" charset="0"/>
                </a:rPr>
                <a:t>0</a:t>
              </a:r>
              <a:endParaRPr lang="en-US" altLang="zh-CN" dirty="0">
                <a:latin typeface="Times New Roman" panose="02020603050405020304" pitchFamily="18" charset="0"/>
              </a:endParaRPr>
            </a:p>
            <a:p>
              <a:pPr algn="ctr" defTabSz="666750" eaLnBrk="1" hangingPunct="1"/>
              <a:r>
                <a:rPr lang="en-US" altLang="zh-CN" dirty="0">
                  <a:latin typeface="Times New Roman" panose="02020603050405020304" pitchFamily="18" charset="0"/>
                </a:rPr>
                <a:t>0</a:t>
              </a:r>
              <a:endParaRPr lang="en-US" altLang="zh-CN" dirty="0">
                <a:latin typeface="Times New Roman" panose="02020603050405020304" pitchFamily="18" charset="0"/>
              </a:endParaRPr>
            </a:p>
            <a:p>
              <a:pPr algn="ctr" defTabSz="666750" eaLnBrk="1" hangingPunct="1"/>
              <a:r>
                <a:rPr lang="en-US" altLang="zh-CN" dirty="0">
                  <a:latin typeface="Times New Roman" panose="02020603050405020304" pitchFamily="18" charset="0"/>
                </a:rPr>
                <a:t>0</a:t>
              </a:r>
              <a:endParaRPr lang="en-US" altLang="zh-CN" dirty="0">
                <a:latin typeface="Times New Roman" panose="02020603050405020304" pitchFamily="18" charset="0"/>
              </a:endParaRPr>
            </a:p>
            <a:p>
              <a:pPr algn="ctr" defTabSz="666750" eaLnBrk="1" hangingPunct="1"/>
              <a:r>
                <a:rPr lang="en-US" altLang="zh-CN" dirty="0">
                  <a:latin typeface="Times New Roman" panose="02020603050405020304" pitchFamily="18" charset="0"/>
                </a:rPr>
                <a:t>0</a:t>
              </a:r>
              <a:endParaRPr lang="en-US" altLang="zh-CN" dirty="0">
                <a:latin typeface="Times New Roman" panose="02020603050405020304" pitchFamily="18" charset="0"/>
              </a:endParaRPr>
            </a:p>
            <a:p>
              <a:pPr algn="ctr" defTabSz="666750" eaLnBrk="1" hangingPunct="1"/>
              <a:r>
                <a:rPr lang="en-US" altLang="zh-CN" dirty="0">
                  <a:latin typeface="Times New Roman" panose="02020603050405020304" pitchFamily="18" charset="0"/>
                </a:rPr>
                <a:t>0</a:t>
              </a:r>
              <a:endParaRPr lang="en-US" altLang="zh-CN" dirty="0">
                <a:latin typeface="Times New Roman" panose="02020603050405020304" pitchFamily="18" charset="0"/>
              </a:endParaRPr>
            </a:p>
            <a:p>
              <a:pPr algn="ctr" defTabSz="666750" eaLnBrk="1" hangingPunct="1"/>
              <a:r>
                <a:rPr lang="en-US" altLang="zh-CN" dirty="0">
                  <a:latin typeface="Times New Roman" panose="02020603050405020304" pitchFamily="18" charset="0"/>
                </a:rPr>
                <a:t>0</a:t>
              </a:r>
              <a:endParaRPr lang="en-US" altLang="zh-CN" baseline="-25000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4" name="Group 17"/>
          <p:cNvGrpSpPr/>
          <p:nvPr/>
        </p:nvGrpSpPr>
        <p:grpSpPr>
          <a:xfrm>
            <a:off x="3248025" y="0"/>
            <a:ext cx="5578475" cy="2233613"/>
            <a:chOff x="1206" y="2642"/>
            <a:chExt cx="3514" cy="1407"/>
          </a:xfrm>
        </p:grpSpPr>
        <p:sp>
          <p:nvSpPr>
            <p:cNvPr id="27660" name="Oval 18"/>
            <p:cNvSpPr/>
            <p:nvPr/>
          </p:nvSpPr>
          <p:spPr>
            <a:xfrm>
              <a:off x="1330" y="2736"/>
              <a:ext cx="457" cy="332"/>
            </a:xfrm>
            <a:prstGeom prst="ellipse">
              <a:avLst/>
            </a:prstGeom>
            <a:solidFill>
              <a:srgbClr val="E2FEED"/>
            </a:solidFill>
            <a:ln w="38100" cap="flat" cmpd="sng">
              <a:solidFill>
                <a:srgbClr val="FF00FF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000</a:t>
              </a:r>
              <a:endParaRPr lang="en-US" altLang="zh-CN" sz="2800" i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27661" name="Oval 19"/>
            <p:cNvSpPr/>
            <p:nvPr/>
          </p:nvSpPr>
          <p:spPr>
            <a:xfrm>
              <a:off x="2265" y="2736"/>
              <a:ext cx="458" cy="332"/>
            </a:xfrm>
            <a:prstGeom prst="ellipse">
              <a:avLst/>
            </a:prstGeom>
            <a:solidFill>
              <a:srgbClr val="E2FEED"/>
            </a:solidFill>
            <a:ln w="38100" cap="flat" cmpd="sng">
              <a:solidFill>
                <a:srgbClr val="FF00FF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111</a:t>
              </a:r>
              <a:endParaRPr lang="en-US" altLang="zh-CN" sz="2800" i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27662" name="Oval 20"/>
            <p:cNvSpPr/>
            <p:nvPr/>
          </p:nvSpPr>
          <p:spPr>
            <a:xfrm>
              <a:off x="4137" y="2736"/>
              <a:ext cx="457" cy="332"/>
            </a:xfrm>
            <a:prstGeom prst="ellipse">
              <a:avLst/>
            </a:prstGeom>
            <a:solidFill>
              <a:srgbClr val="E2FEED"/>
            </a:solidFill>
            <a:ln w="38100" cap="flat" cmpd="sng">
              <a:solidFill>
                <a:srgbClr val="FF00FF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101</a:t>
              </a:r>
              <a:endParaRPr lang="en-US" altLang="zh-CN" sz="2800" i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27663" name="Text Box 21"/>
            <p:cNvSpPr txBox="1"/>
            <p:nvPr/>
          </p:nvSpPr>
          <p:spPr>
            <a:xfrm>
              <a:off x="1839" y="3720"/>
              <a:ext cx="870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1/0</a:t>
              </a:r>
              <a:endParaRPr lang="en-US" altLang="zh-CN" sz="2800" dirty="0">
                <a:latin typeface="Times New Roman" panose="02020603050405020304" pitchFamily="18" charset="0"/>
              </a:endParaRPr>
            </a:p>
          </p:txBody>
        </p:sp>
        <p:sp>
          <p:nvSpPr>
            <p:cNvPr id="27664" name="Text Box 22"/>
            <p:cNvSpPr txBox="1"/>
            <p:nvPr/>
          </p:nvSpPr>
          <p:spPr>
            <a:xfrm>
              <a:off x="1206" y="3256"/>
              <a:ext cx="402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1/0</a:t>
              </a:r>
              <a:endParaRPr lang="en-US" altLang="zh-CN" sz="2800" dirty="0">
                <a:latin typeface="Times New Roman" panose="02020603050405020304" pitchFamily="18" charset="0"/>
              </a:endParaRPr>
            </a:p>
          </p:txBody>
        </p:sp>
        <p:sp>
          <p:nvSpPr>
            <p:cNvPr id="27665" name="Text Box 23"/>
            <p:cNvSpPr txBox="1"/>
            <p:nvPr/>
          </p:nvSpPr>
          <p:spPr>
            <a:xfrm>
              <a:off x="3727" y="3722"/>
              <a:ext cx="402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1/0</a:t>
              </a:r>
              <a:endParaRPr lang="en-US" altLang="zh-CN" sz="2800" dirty="0">
                <a:latin typeface="Times New Roman" panose="02020603050405020304" pitchFamily="18" charset="0"/>
              </a:endParaRPr>
            </a:p>
          </p:txBody>
        </p:sp>
        <p:sp>
          <p:nvSpPr>
            <p:cNvPr id="27666" name="Oval 24"/>
            <p:cNvSpPr/>
            <p:nvPr/>
          </p:nvSpPr>
          <p:spPr>
            <a:xfrm>
              <a:off x="3201" y="2736"/>
              <a:ext cx="458" cy="332"/>
            </a:xfrm>
            <a:prstGeom prst="ellipse">
              <a:avLst/>
            </a:prstGeom>
            <a:solidFill>
              <a:srgbClr val="E2FEED"/>
            </a:solidFill>
            <a:ln w="38100" cap="flat" cmpd="sng">
              <a:solidFill>
                <a:srgbClr val="FF00FF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110</a:t>
              </a:r>
              <a:endParaRPr lang="en-US" altLang="zh-CN" sz="2800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27667" name="Text Box 25"/>
            <p:cNvSpPr txBox="1"/>
            <p:nvPr/>
          </p:nvSpPr>
          <p:spPr>
            <a:xfrm>
              <a:off x="2748" y="3715"/>
              <a:ext cx="402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1/0</a:t>
              </a:r>
              <a:endParaRPr lang="en-US" altLang="zh-CN" sz="2800" dirty="0">
                <a:latin typeface="Times New Roman" panose="02020603050405020304" pitchFamily="18" charset="0"/>
              </a:endParaRPr>
            </a:p>
          </p:txBody>
        </p:sp>
        <p:sp>
          <p:nvSpPr>
            <p:cNvPr id="27668" name="Oval 26"/>
            <p:cNvSpPr/>
            <p:nvPr/>
          </p:nvSpPr>
          <p:spPr>
            <a:xfrm>
              <a:off x="1330" y="3594"/>
              <a:ext cx="457" cy="332"/>
            </a:xfrm>
            <a:prstGeom prst="ellipse">
              <a:avLst/>
            </a:prstGeom>
            <a:solidFill>
              <a:srgbClr val="E2FEED"/>
            </a:solidFill>
            <a:ln w="38100" cap="flat" cmpd="sng">
              <a:solidFill>
                <a:srgbClr val="FF00FF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001</a:t>
              </a:r>
              <a:endParaRPr lang="en-US" altLang="zh-CN" sz="2800" i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27669" name="Oval 27"/>
            <p:cNvSpPr/>
            <p:nvPr/>
          </p:nvSpPr>
          <p:spPr>
            <a:xfrm>
              <a:off x="2265" y="3594"/>
              <a:ext cx="458" cy="332"/>
            </a:xfrm>
            <a:prstGeom prst="ellipse">
              <a:avLst/>
            </a:prstGeom>
            <a:solidFill>
              <a:srgbClr val="E2FEED"/>
            </a:solidFill>
            <a:ln w="38100" cap="flat" cmpd="sng">
              <a:solidFill>
                <a:srgbClr val="FF00FF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010</a:t>
              </a:r>
              <a:endParaRPr lang="en-US" altLang="zh-CN" sz="2800" i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27670" name="Oval 28"/>
            <p:cNvSpPr/>
            <p:nvPr/>
          </p:nvSpPr>
          <p:spPr>
            <a:xfrm>
              <a:off x="4137" y="3594"/>
              <a:ext cx="457" cy="332"/>
            </a:xfrm>
            <a:prstGeom prst="ellipse">
              <a:avLst/>
            </a:prstGeom>
            <a:solidFill>
              <a:srgbClr val="E2FEED"/>
            </a:solidFill>
            <a:ln w="38100" cap="flat" cmpd="sng">
              <a:solidFill>
                <a:srgbClr val="FF00FF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100</a:t>
              </a:r>
              <a:endParaRPr lang="en-US" altLang="zh-CN" sz="2800" i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27671" name="Oval 29"/>
            <p:cNvSpPr/>
            <p:nvPr/>
          </p:nvSpPr>
          <p:spPr>
            <a:xfrm>
              <a:off x="3201" y="3594"/>
              <a:ext cx="458" cy="332"/>
            </a:xfrm>
            <a:prstGeom prst="ellipse">
              <a:avLst/>
            </a:prstGeom>
            <a:solidFill>
              <a:srgbClr val="E2FEED"/>
            </a:solidFill>
            <a:ln w="38100" cap="flat" cmpd="sng">
              <a:solidFill>
                <a:srgbClr val="FF00FF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011</a:t>
              </a:r>
              <a:endParaRPr lang="en-US" altLang="zh-CN" sz="2800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27672" name="Line 30"/>
            <p:cNvSpPr/>
            <p:nvPr/>
          </p:nvSpPr>
          <p:spPr>
            <a:xfrm>
              <a:off x="1792" y="2899"/>
              <a:ext cx="449" cy="0"/>
            </a:xfrm>
            <a:prstGeom prst="line">
              <a:avLst/>
            </a:prstGeom>
            <a:ln w="19050" cap="flat" cmpd="sng">
              <a:solidFill>
                <a:srgbClr val="3333FF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27673" name="Line 31"/>
            <p:cNvSpPr/>
            <p:nvPr/>
          </p:nvSpPr>
          <p:spPr>
            <a:xfrm>
              <a:off x="2741" y="2899"/>
              <a:ext cx="449" cy="0"/>
            </a:xfrm>
            <a:prstGeom prst="line">
              <a:avLst/>
            </a:prstGeom>
            <a:ln w="19050" cap="flat" cmpd="sng">
              <a:solidFill>
                <a:srgbClr val="3333FF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27674" name="Line 32"/>
            <p:cNvSpPr/>
            <p:nvPr/>
          </p:nvSpPr>
          <p:spPr>
            <a:xfrm>
              <a:off x="3690" y="2899"/>
              <a:ext cx="449" cy="0"/>
            </a:xfrm>
            <a:prstGeom prst="line">
              <a:avLst/>
            </a:prstGeom>
            <a:ln w="19050" cap="flat" cmpd="sng">
              <a:solidFill>
                <a:srgbClr val="3333FF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27675" name="Line 33"/>
            <p:cNvSpPr/>
            <p:nvPr/>
          </p:nvSpPr>
          <p:spPr>
            <a:xfrm>
              <a:off x="3690" y="3757"/>
              <a:ext cx="449" cy="0"/>
            </a:xfrm>
            <a:prstGeom prst="line">
              <a:avLst/>
            </a:prstGeom>
            <a:ln w="19050" cap="flat" cmpd="sng">
              <a:solidFill>
                <a:srgbClr val="3333FF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27676" name="Line 34"/>
            <p:cNvSpPr/>
            <p:nvPr/>
          </p:nvSpPr>
          <p:spPr>
            <a:xfrm>
              <a:off x="2755" y="3769"/>
              <a:ext cx="449" cy="0"/>
            </a:xfrm>
            <a:prstGeom prst="line">
              <a:avLst/>
            </a:prstGeom>
            <a:ln w="19050" cap="flat" cmpd="sng">
              <a:solidFill>
                <a:srgbClr val="3333FF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27677" name="Line 35"/>
            <p:cNvSpPr/>
            <p:nvPr/>
          </p:nvSpPr>
          <p:spPr>
            <a:xfrm>
              <a:off x="1812" y="3757"/>
              <a:ext cx="449" cy="0"/>
            </a:xfrm>
            <a:prstGeom prst="line">
              <a:avLst/>
            </a:prstGeom>
            <a:ln w="19050" cap="flat" cmpd="sng">
              <a:solidFill>
                <a:srgbClr val="3333FF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27678" name="Line 36"/>
            <p:cNvSpPr/>
            <p:nvPr/>
          </p:nvSpPr>
          <p:spPr>
            <a:xfrm flipV="1">
              <a:off x="1557" y="3077"/>
              <a:ext cx="0" cy="503"/>
            </a:xfrm>
            <a:prstGeom prst="line">
              <a:avLst/>
            </a:prstGeom>
            <a:ln w="19050" cap="flat" cmpd="sng">
              <a:solidFill>
                <a:srgbClr val="3333FF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27679" name="Line 37"/>
            <p:cNvSpPr/>
            <p:nvPr/>
          </p:nvSpPr>
          <p:spPr>
            <a:xfrm flipV="1">
              <a:off x="4364" y="3069"/>
              <a:ext cx="0" cy="504"/>
            </a:xfrm>
            <a:prstGeom prst="line">
              <a:avLst/>
            </a:prstGeom>
            <a:ln w="19050" cap="flat" cmpd="sng">
              <a:solidFill>
                <a:srgbClr val="3333FF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27680" name="Text Box 38"/>
            <p:cNvSpPr txBox="1"/>
            <p:nvPr/>
          </p:nvSpPr>
          <p:spPr>
            <a:xfrm>
              <a:off x="1803" y="2649"/>
              <a:ext cx="666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1/0</a:t>
              </a:r>
              <a:endParaRPr lang="en-US" altLang="zh-CN" sz="2800" dirty="0">
                <a:latin typeface="Times New Roman" panose="02020603050405020304" pitchFamily="18" charset="0"/>
              </a:endParaRPr>
            </a:p>
          </p:txBody>
        </p:sp>
        <p:sp>
          <p:nvSpPr>
            <p:cNvPr id="27681" name="Text Box 39"/>
            <p:cNvSpPr txBox="1"/>
            <p:nvPr/>
          </p:nvSpPr>
          <p:spPr>
            <a:xfrm>
              <a:off x="3715" y="2651"/>
              <a:ext cx="402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1/0</a:t>
              </a:r>
              <a:endParaRPr lang="en-US" altLang="zh-CN" sz="2800" dirty="0">
                <a:latin typeface="Times New Roman" panose="02020603050405020304" pitchFamily="18" charset="0"/>
              </a:endParaRPr>
            </a:p>
          </p:txBody>
        </p:sp>
        <p:sp>
          <p:nvSpPr>
            <p:cNvPr id="27682" name="Text Box 40"/>
            <p:cNvSpPr txBox="1"/>
            <p:nvPr/>
          </p:nvSpPr>
          <p:spPr>
            <a:xfrm>
              <a:off x="2736" y="2642"/>
              <a:ext cx="402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1/0</a:t>
              </a:r>
              <a:endParaRPr lang="en-US" altLang="zh-CN" sz="2800" dirty="0">
                <a:latin typeface="Times New Roman" panose="02020603050405020304" pitchFamily="18" charset="0"/>
              </a:endParaRPr>
            </a:p>
          </p:txBody>
        </p:sp>
        <p:sp>
          <p:nvSpPr>
            <p:cNvPr id="27683" name="Text Box 41"/>
            <p:cNvSpPr txBox="1"/>
            <p:nvPr/>
          </p:nvSpPr>
          <p:spPr>
            <a:xfrm>
              <a:off x="4318" y="3234"/>
              <a:ext cx="402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1/0</a:t>
              </a:r>
              <a:endParaRPr lang="en-US" altLang="zh-CN" sz="2800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27652" name="Group 65"/>
          <p:cNvGrpSpPr/>
          <p:nvPr/>
        </p:nvGrpSpPr>
        <p:grpSpPr>
          <a:xfrm>
            <a:off x="0" y="398463"/>
            <a:ext cx="5465763" cy="2287587"/>
            <a:chOff x="0" y="251"/>
            <a:chExt cx="3443" cy="1441"/>
          </a:xfrm>
        </p:grpSpPr>
        <p:sp>
          <p:nvSpPr>
            <p:cNvPr id="27653" name="Rectangle 47"/>
            <p:cNvSpPr/>
            <p:nvPr/>
          </p:nvSpPr>
          <p:spPr>
            <a:xfrm>
              <a:off x="0" y="251"/>
              <a:ext cx="3443" cy="1441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p>
              <a:pPr eaLnBrk="1" hangingPunct="1">
                <a:lnSpc>
                  <a:spcPct val="170000"/>
                </a:lnSpc>
              </a:pPr>
              <a:r>
                <a:rPr lang="en-US" altLang="zh-CN" sz="2800" dirty="0">
                  <a:latin typeface="Times New Roman" panose="02020603050405020304" pitchFamily="18" charset="0"/>
                  <a:sym typeface="Monotype Sorts" pitchFamily="2" charset="2"/>
                </a:rPr>
                <a:t>Q</a:t>
              </a:r>
              <a:r>
                <a:rPr lang="en-US" altLang="zh-CN" sz="2800" baseline="-25000" dirty="0">
                  <a:latin typeface="Times New Roman" panose="02020603050405020304" pitchFamily="18" charset="0"/>
                  <a:sym typeface="Monotype Sorts" pitchFamily="2" charset="2"/>
                </a:rPr>
                <a:t>1</a:t>
              </a:r>
              <a:r>
                <a:rPr lang="en-US" altLang="zh-CN" sz="2800" baseline="30000" dirty="0">
                  <a:latin typeface="Times New Roman" panose="02020603050405020304" pitchFamily="18" charset="0"/>
                  <a:sym typeface="Monotype Sorts" pitchFamily="2" charset="2"/>
                </a:rPr>
                <a:t>(n+1)</a:t>
              </a:r>
              <a:r>
                <a:rPr lang="zh-CN" altLang="en-US" sz="2800" dirty="0">
                  <a:latin typeface="Times New Roman" panose="02020603050405020304" pitchFamily="18" charset="0"/>
                  <a:sym typeface="Monotype Sorts" pitchFamily="2" charset="2"/>
                </a:rPr>
                <a:t>＝</a:t>
              </a:r>
              <a:r>
                <a:rPr lang="en-US" altLang="zh-CN" sz="2800" dirty="0">
                  <a:latin typeface="Times New Roman" panose="02020603050405020304" pitchFamily="18" charset="0"/>
                  <a:sym typeface="Monotype Sorts" pitchFamily="2" charset="2"/>
                </a:rPr>
                <a:t>Q</a:t>
              </a:r>
              <a:r>
                <a:rPr lang="en-US" altLang="zh-CN" sz="2800" baseline="-25000" dirty="0">
                  <a:latin typeface="Times New Roman" panose="02020603050405020304" pitchFamily="18" charset="0"/>
                  <a:sym typeface="Monotype Sorts" pitchFamily="2" charset="2"/>
                </a:rPr>
                <a:t>1 </a:t>
              </a:r>
              <a:r>
                <a:rPr lang="en-US" altLang="zh-CN" i="1" dirty="0">
                  <a:latin typeface="Times New Roman" panose="02020603050405020304" pitchFamily="18" charset="0"/>
                  <a:sym typeface="Monotype Sorts" pitchFamily="2" charset="2"/>
                </a:rPr>
                <a:t>x</a:t>
              </a:r>
              <a:r>
                <a:rPr lang="en-US" altLang="zh-CN" sz="2800" baseline="-25000" dirty="0">
                  <a:latin typeface="Times New Roman" panose="02020603050405020304" pitchFamily="18" charset="0"/>
                  <a:sym typeface="Monotype Sorts" pitchFamily="2" charset="2"/>
                </a:rPr>
                <a:t> </a:t>
              </a:r>
              <a:endParaRPr lang="en-US" altLang="zh-CN" sz="2800" i="1" dirty="0">
                <a:latin typeface="Times New Roman" panose="02020603050405020304" pitchFamily="18" charset="0"/>
                <a:sym typeface="Monotype Sorts" pitchFamily="2" charset="2"/>
              </a:endParaRPr>
            </a:p>
            <a:p>
              <a:pPr eaLnBrk="1" hangingPunct="1">
                <a:lnSpc>
                  <a:spcPct val="170000"/>
                </a:lnSpc>
              </a:pPr>
              <a:r>
                <a:rPr lang="en-US" altLang="zh-CN" sz="2800" dirty="0">
                  <a:latin typeface="Times New Roman" panose="02020603050405020304" pitchFamily="18" charset="0"/>
                  <a:sym typeface="Monotype Sorts" pitchFamily="2" charset="2"/>
                </a:rPr>
                <a:t>Q</a:t>
              </a:r>
              <a:r>
                <a:rPr lang="en-US" altLang="zh-CN" sz="2800" baseline="-25000" dirty="0">
                  <a:latin typeface="Times New Roman" panose="02020603050405020304" pitchFamily="18" charset="0"/>
                  <a:sym typeface="Monotype Sorts" pitchFamily="2" charset="2"/>
                </a:rPr>
                <a:t>2</a:t>
              </a:r>
              <a:r>
                <a:rPr lang="en-US" altLang="zh-CN" sz="2800" baseline="30000" dirty="0">
                  <a:latin typeface="Times New Roman" panose="02020603050405020304" pitchFamily="18" charset="0"/>
                  <a:sym typeface="Monotype Sorts" pitchFamily="2" charset="2"/>
                </a:rPr>
                <a:t>(n+1)</a:t>
              </a:r>
              <a:r>
                <a:rPr lang="zh-CN" altLang="en-US" sz="2800" dirty="0">
                  <a:latin typeface="Times New Roman" panose="02020603050405020304" pitchFamily="18" charset="0"/>
                  <a:sym typeface="Monotype Sorts" pitchFamily="2" charset="2"/>
                </a:rPr>
                <a:t>＝</a:t>
              </a:r>
              <a:r>
                <a:rPr lang="en-US" altLang="zh-CN" sz="2800" dirty="0">
                  <a:latin typeface="Times New Roman" panose="02020603050405020304" pitchFamily="18" charset="0"/>
                  <a:sym typeface="Monotype Sorts" pitchFamily="2" charset="2"/>
                </a:rPr>
                <a:t>Q</a:t>
              </a:r>
              <a:r>
                <a:rPr lang="en-US" altLang="zh-CN" sz="2800" baseline="-25000" dirty="0">
                  <a:latin typeface="Times New Roman" panose="02020603050405020304" pitchFamily="18" charset="0"/>
                  <a:sym typeface="Monotype Sorts" pitchFamily="2" charset="2"/>
                </a:rPr>
                <a:t>2  </a:t>
              </a:r>
              <a:r>
                <a:rPr lang="en-US" altLang="zh-CN" sz="2800" dirty="0">
                  <a:latin typeface="Times New Roman" panose="02020603050405020304" pitchFamily="18" charset="0"/>
                  <a:sym typeface="Monotype Sorts" pitchFamily="2" charset="2"/>
                </a:rPr>
                <a:t>Q</a:t>
              </a:r>
              <a:r>
                <a:rPr lang="en-US" altLang="zh-CN" sz="2800" baseline="-25000" dirty="0">
                  <a:latin typeface="Times New Roman" panose="02020603050405020304" pitchFamily="18" charset="0"/>
                  <a:sym typeface="Monotype Sorts" pitchFamily="2" charset="2"/>
                </a:rPr>
                <a:t>1</a:t>
              </a:r>
              <a:r>
                <a:rPr lang="en-US" altLang="zh-CN" sz="2800" dirty="0">
                  <a:latin typeface="Times New Roman" panose="02020603050405020304" pitchFamily="18" charset="0"/>
                  <a:sym typeface="Monotype Sorts" pitchFamily="2" charset="2"/>
                </a:rPr>
                <a:t>+Q</a:t>
              </a:r>
              <a:r>
                <a:rPr lang="en-US" altLang="zh-CN" sz="2800" baseline="-25000" dirty="0">
                  <a:latin typeface="Times New Roman" panose="02020603050405020304" pitchFamily="18" charset="0"/>
                  <a:sym typeface="Monotype Sorts" pitchFamily="2" charset="2"/>
                </a:rPr>
                <a:t>2</a:t>
              </a:r>
              <a:r>
                <a:rPr lang="en-US" altLang="zh-CN" sz="2800" dirty="0">
                  <a:latin typeface="Times New Roman" panose="02020603050405020304" pitchFamily="18" charset="0"/>
                  <a:sym typeface="Monotype Sorts" pitchFamily="2" charset="2"/>
                </a:rPr>
                <a:t>Q</a:t>
              </a:r>
              <a:r>
                <a:rPr lang="en-US" altLang="zh-CN" sz="2800" baseline="-25000" dirty="0">
                  <a:latin typeface="Times New Roman" panose="02020603050405020304" pitchFamily="18" charset="0"/>
                  <a:sym typeface="Monotype Sorts" pitchFamily="2" charset="2"/>
                </a:rPr>
                <a:t>1</a:t>
              </a:r>
              <a:endParaRPr lang="en-US" altLang="zh-CN" sz="2800" baseline="-25000" dirty="0">
                <a:latin typeface="Times New Roman" panose="02020603050405020304" pitchFamily="18" charset="0"/>
                <a:sym typeface="Monotype Sorts" pitchFamily="2" charset="2"/>
              </a:endParaRPr>
            </a:p>
            <a:p>
              <a:pPr eaLnBrk="1" hangingPunct="1">
                <a:lnSpc>
                  <a:spcPct val="170000"/>
                </a:lnSpc>
              </a:pPr>
              <a:r>
                <a:rPr lang="en-US" altLang="zh-CN" sz="2800" dirty="0">
                  <a:latin typeface="Times New Roman" panose="02020603050405020304" pitchFamily="18" charset="0"/>
                  <a:sym typeface="Monotype Sorts" pitchFamily="2" charset="2"/>
                </a:rPr>
                <a:t>Q</a:t>
              </a:r>
              <a:r>
                <a:rPr lang="en-US" altLang="zh-CN" sz="2800" baseline="-25000" dirty="0">
                  <a:latin typeface="Times New Roman" panose="02020603050405020304" pitchFamily="18" charset="0"/>
                  <a:sym typeface="Monotype Sorts" pitchFamily="2" charset="2"/>
                </a:rPr>
                <a:t>3</a:t>
              </a:r>
              <a:r>
                <a:rPr lang="en-US" altLang="zh-CN" sz="2800" baseline="30000" dirty="0">
                  <a:latin typeface="Times New Roman" panose="02020603050405020304" pitchFamily="18" charset="0"/>
                  <a:sym typeface="Monotype Sorts" pitchFamily="2" charset="2"/>
                </a:rPr>
                <a:t>(n+1)</a:t>
              </a:r>
              <a:r>
                <a:rPr lang="zh-CN" altLang="en-US" sz="2800" dirty="0">
                  <a:latin typeface="Times New Roman" panose="02020603050405020304" pitchFamily="18" charset="0"/>
                  <a:sym typeface="Monotype Sorts" pitchFamily="2" charset="2"/>
                </a:rPr>
                <a:t>＝</a:t>
              </a:r>
              <a:r>
                <a:rPr lang="en-US" altLang="zh-CN" sz="2800" dirty="0">
                  <a:latin typeface="Times New Roman" panose="02020603050405020304" pitchFamily="18" charset="0"/>
                  <a:sym typeface="Monotype Sorts" pitchFamily="2" charset="2"/>
                </a:rPr>
                <a:t>Q</a:t>
              </a:r>
              <a:r>
                <a:rPr lang="en-US" altLang="zh-CN" sz="2800" baseline="-25000" dirty="0">
                  <a:latin typeface="Times New Roman" panose="02020603050405020304" pitchFamily="18" charset="0"/>
                  <a:sym typeface="Monotype Sorts" pitchFamily="2" charset="2"/>
                </a:rPr>
                <a:t>3  </a:t>
              </a:r>
              <a:r>
                <a:rPr lang="en-US" altLang="zh-CN" sz="2800" dirty="0">
                  <a:latin typeface="Times New Roman" panose="02020603050405020304" pitchFamily="18" charset="0"/>
                  <a:sym typeface="Monotype Sorts" pitchFamily="2" charset="2"/>
                </a:rPr>
                <a:t>Q</a:t>
              </a:r>
              <a:r>
                <a:rPr lang="en-US" altLang="zh-CN" sz="2800" baseline="-25000" dirty="0">
                  <a:latin typeface="Times New Roman" panose="02020603050405020304" pitchFamily="18" charset="0"/>
                  <a:sym typeface="Monotype Sorts" pitchFamily="2" charset="2"/>
                </a:rPr>
                <a:t>2</a:t>
              </a:r>
              <a:r>
                <a:rPr lang="en-US" altLang="zh-CN" sz="2800" dirty="0">
                  <a:latin typeface="Times New Roman" panose="02020603050405020304" pitchFamily="18" charset="0"/>
                  <a:sym typeface="Monotype Sorts" pitchFamily="2" charset="2"/>
                </a:rPr>
                <a:t>Q</a:t>
              </a:r>
              <a:r>
                <a:rPr lang="en-US" altLang="zh-CN" sz="2800" baseline="-25000" dirty="0">
                  <a:latin typeface="Times New Roman" panose="02020603050405020304" pitchFamily="18" charset="0"/>
                  <a:sym typeface="Monotype Sorts" pitchFamily="2" charset="2"/>
                </a:rPr>
                <a:t>1</a:t>
              </a:r>
              <a:r>
                <a:rPr lang="en-US" altLang="zh-CN" sz="2800" dirty="0">
                  <a:latin typeface="Times New Roman" panose="02020603050405020304" pitchFamily="18" charset="0"/>
                  <a:sym typeface="Monotype Sorts" pitchFamily="2" charset="2"/>
                </a:rPr>
                <a:t>+Q</a:t>
              </a:r>
              <a:r>
                <a:rPr lang="en-US" altLang="zh-CN" sz="2800" baseline="-25000" dirty="0">
                  <a:latin typeface="Times New Roman" panose="02020603050405020304" pitchFamily="18" charset="0"/>
                  <a:sym typeface="Monotype Sorts" pitchFamily="2" charset="2"/>
                </a:rPr>
                <a:t>3</a:t>
              </a:r>
              <a:r>
                <a:rPr lang="en-US" altLang="zh-CN" sz="2800" dirty="0">
                  <a:latin typeface="Times New Roman" panose="02020603050405020304" pitchFamily="18" charset="0"/>
                  <a:sym typeface="Monotype Sorts" pitchFamily="2" charset="2"/>
                </a:rPr>
                <a:t>Q</a:t>
              </a:r>
              <a:r>
                <a:rPr lang="en-US" altLang="zh-CN" sz="2800" baseline="-25000" dirty="0">
                  <a:latin typeface="Times New Roman" panose="02020603050405020304" pitchFamily="18" charset="0"/>
                  <a:sym typeface="Monotype Sorts" pitchFamily="2" charset="2"/>
                </a:rPr>
                <a:t>1</a:t>
              </a:r>
              <a:r>
                <a:rPr lang="en-US" altLang="zh-CN" sz="2800" dirty="0">
                  <a:latin typeface="Times New Roman" panose="02020603050405020304" pitchFamily="18" charset="0"/>
                  <a:sym typeface="Monotype Sorts" pitchFamily="2" charset="2"/>
                </a:rPr>
                <a:t>+Q</a:t>
              </a:r>
              <a:r>
                <a:rPr lang="en-US" altLang="zh-CN" sz="2800" baseline="-25000" dirty="0">
                  <a:latin typeface="Times New Roman" panose="02020603050405020304" pitchFamily="18" charset="0"/>
                  <a:sym typeface="Monotype Sorts" pitchFamily="2" charset="2"/>
                </a:rPr>
                <a:t>3</a:t>
              </a:r>
              <a:r>
                <a:rPr lang="en-US" altLang="zh-CN" sz="2800" dirty="0">
                  <a:latin typeface="Times New Roman" panose="02020603050405020304" pitchFamily="18" charset="0"/>
                  <a:sym typeface="Monotype Sorts" pitchFamily="2" charset="2"/>
                </a:rPr>
                <a:t>Q</a:t>
              </a:r>
              <a:r>
                <a:rPr lang="en-US" altLang="zh-CN" sz="2800" baseline="-25000" dirty="0">
                  <a:latin typeface="Times New Roman" panose="02020603050405020304" pitchFamily="18" charset="0"/>
                  <a:sym typeface="Monotype Sorts" pitchFamily="2" charset="2"/>
                </a:rPr>
                <a:t>2</a:t>
              </a:r>
              <a:endParaRPr lang="en-US" altLang="zh-CN" sz="2800" baseline="-25000" dirty="0">
                <a:latin typeface="Times New Roman" panose="02020603050405020304" pitchFamily="18" charset="0"/>
                <a:sym typeface="Monotype Sorts" pitchFamily="2" charset="2"/>
              </a:endParaRPr>
            </a:p>
          </p:txBody>
        </p:sp>
        <p:sp>
          <p:nvSpPr>
            <p:cNvPr id="27654" name="Line 51"/>
            <p:cNvSpPr/>
            <p:nvPr/>
          </p:nvSpPr>
          <p:spPr>
            <a:xfrm>
              <a:off x="870" y="467"/>
              <a:ext cx="132" cy="1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sm" len="lg"/>
            </a:ln>
          </p:spPr>
        </p:sp>
        <p:sp>
          <p:nvSpPr>
            <p:cNvPr id="27655" name="Line 56"/>
            <p:cNvSpPr/>
            <p:nvPr/>
          </p:nvSpPr>
          <p:spPr>
            <a:xfrm>
              <a:off x="1166" y="927"/>
              <a:ext cx="132" cy="1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sm" len="lg"/>
            </a:ln>
          </p:spPr>
        </p:sp>
        <p:sp>
          <p:nvSpPr>
            <p:cNvPr id="27656" name="Line 57"/>
            <p:cNvSpPr/>
            <p:nvPr/>
          </p:nvSpPr>
          <p:spPr>
            <a:xfrm>
              <a:off x="1178" y="1377"/>
              <a:ext cx="132" cy="1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sm" len="lg"/>
            </a:ln>
          </p:spPr>
        </p:sp>
        <p:sp>
          <p:nvSpPr>
            <p:cNvPr id="27657" name="Line 58"/>
            <p:cNvSpPr/>
            <p:nvPr/>
          </p:nvSpPr>
          <p:spPr>
            <a:xfrm>
              <a:off x="874" y="1377"/>
              <a:ext cx="132" cy="1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sm" len="lg"/>
            </a:ln>
          </p:spPr>
        </p:sp>
        <p:sp>
          <p:nvSpPr>
            <p:cNvPr id="27658" name="Line 59"/>
            <p:cNvSpPr/>
            <p:nvPr/>
          </p:nvSpPr>
          <p:spPr>
            <a:xfrm>
              <a:off x="866" y="927"/>
              <a:ext cx="132" cy="1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sm" len="lg"/>
            </a:ln>
          </p:spPr>
        </p:sp>
        <p:sp>
          <p:nvSpPr>
            <p:cNvPr id="27659" name="Line 63"/>
            <p:cNvSpPr/>
            <p:nvPr/>
          </p:nvSpPr>
          <p:spPr>
            <a:xfrm>
              <a:off x="1412" y="1373"/>
              <a:ext cx="119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lg" len="lg"/>
            </a:ln>
          </p:spPr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6130" name="Text Box 2"/>
          <p:cNvSpPr txBox="1"/>
          <p:nvPr/>
        </p:nvSpPr>
        <p:spPr>
          <a:xfrm>
            <a:off x="612775" y="742950"/>
            <a:ext cx="8024813" cy="1758950"/>
          </a:xfrm>
          <a:prstGeom prst="rect">
            <a:avLst/>
          </a:prstGeom>
          <a:noFill/>
          <a:ln w="19050">
            <a:noFill/>
          </a:ln>
        </p:spPr>
        <p:txBody>
          <a:bodyPr>
            <a:spAutoFit/>
          </a:bodyPr>
          <a:p>
            <a:pPr defTabSz="381000" eaLnBrk="1" hangingPunct="1">
              <a:lnSpc>
                <a:spcPct val="130000"/>
              </a:lnSpc>
              <a:buChar char="•"/>
            </a:pPr>
            <a:r>
              <a:rPr lang="zh-CN" altLang="en-US" sz="2800" dirty="0">
                <a:latin typeface="Times New Roman" panose="02020603050405020304" pitchFamily="18" charset="0"/>
                <a:sym typeface="Monotype Sorts" pitchFamily="2" charset="2"/>
              </a:rPr>
              <a:t>画出时间图和说明电路功能</a:t>
            </a:r>
            <a:endParaRPr lang="zh-CN" altLang="en-US" sz="2800" dirty="0">
              <a:latin typeface="Times New Roman" panose="02020603050405020304" pitchFamily="18" charset="0"/>
              <a:sym typeface="Monotype Sorts" pitchFamily="2" charset="2"/>
            </a:endParaRPr>
          </a:p>
          <a:p>
            <a:pPr defTabSz="381000" eaLnBrk="1" hangingPunct="1">
              <a:lnSpc>
                <a:spcPct val="130000"/>
              </a:lnSpc>
            </a:pPr>
            <a:r>
              <a:rPr lang="zh-CN" altLang="en-US" sz="2800" dirty="0">
                <a:latin typeface="Times New Roman" panose="02020603050405020304" pitchFamily="18" charset="0"/>
                <a:sym typeface="Monotype Sorts" pitchFamily="2" charset="2"/>
              </a:rPr>
              <a:t>	由状态图可知：该电路是一个八进制减</a:t>
            </a:r>
            <a:r>
              <a:rPr lang="en-US" altLang="zh-CN" sz="2800" dirty="0">
                <a:latin typeface="Times New Roman" panose="02020603050405020304" pitchFamily="18" charset="0"/>
                <a:sym typeface="Monotype Sorts" pitchFamily="2" charset="2"/>
              </a:rPr>
              <a:t>1</a:t>
            </a:r>
            <a:r>
              <a:rPr lang="zh-CN" altLang="en-US" sz="2800" dirty="0">
                <a:latin typeface="Times New Roman" panose="02020603050405020304" pitchFamily="18" charset="0"/>
                <a:sym typeface="Monotype Sorts" pitchFamily="2" charset="2"/>
              </a:rPr>
              <a:t>计数器，输出是借位信号。	</a:t>
            </a:r>
            <a:endParaRPr lang="zh-CN" altLang="en-US" sz="2800" dirty="0">
              <a:latin typeface="Times New Roman" panose="02020603050405020304" pitchFamily="18" charset="0"/>
              <a:sym typeface="Monotype Sorts" pitchFamily="2" charset="2"/>
            </a:endParaRPr>
          </a:p>
        </p:txBody>
      </p:sp>
      <p:grpSp>
        <p:nvGrpSpPr>
          <p:cNvPr id="2" name="Group 27"/>
          <p:cNvGrpSpPr/>
          <p:nvPr/>
        </p:nvGrpSpPr>
        <p:grpSpPr>
          <a:xfrm>
            <a:off x="860425" y="3019425"/>
            <a:ext cx="6745288" cy="3357563"/>
            <a:chOff x="542" y="1902"/>
            <a:chExt cx="4249" cy="2115"/>
          </a:xfrm>
        </p:grpSpPr>
        <p:grpSp>
          <p:nvGrpSpPr>
            <p:cNvPr id="28676" name="Group 3"/>
            <p:cNvGrpSpPr/>
            <p:nvPr/>
          </p:nvGrpSpPr>
          <p:grpSpPr>
            <a:xfrm>
              <a:off x="616" y="1902"/>
              <a:ext cx="4134" cy="562"/>
              <a:chOff x="616" y="1902"/>
              <a:chExt cx="4134" cy="562"/>
            </a:xfrm>
          </p:grpSpPr>
          <p:sp>
            <p:nvSpPr>
              <p:cNvPr id="28689" name="Freeform 4"/>
              <p:cNvSpPr/>
              <p:nvPr/>
            </p:nvSpPr>
            <p:spPr>
              <a:xfrm>
                <a:off x="876" y="2182"/>
                <a:ext cx="3874" cy="208"/>
              </a:xfrm>
              <a:custGeom>
                <a:avLst/>
                <a:gdLst/>
                <a:ahLst/>
                <a:cxnLst>
                  <a:cxn ang="0">
                    <a:pos x="0" y="208"/>
                  </a:cxn>
                  <a:cxn ang="0">
                    <a:pos x="280" y="208"/>
                  </a:cxn>
                  <a:cxn ang="0">
                    <a:pos x="280" y="0"/>
                  </a:cxn>
                  <a:cxn ang="0">
                    <a:pos x="434" y="0"/>
                  </a:cxn>
                  <a:cxn ang="0">
                    <a:pos x="434" y="208"/>
                  </a:cxn>
                  <a:cxn ang="0">
                    <a:pos x="743" y="208"/>
                  </a:cxn>
                  <a:cxn ang="0">
                    <a:pos x="743" y="0"/>
                  </a:cxn>
                  <a:cxn ang="0">
                    <a:pos x="898" y="0"/>
                  </a:cxn>
                  <a:cxn ang="0">
                    <a:pos x="898" y="208"/>
                  </a:cxn>
                  <a:cxn ang="0">
                    <a:pos x="1208" y="208"/>
                  </a:cxn>
                  <a:cxn ang="0">
                    <a:pos x="1208" y="0"/>
                  </a:cxn>
                  <a:cxn ang="0">
                    <a:pos x="1362" y="0"/>
                  </a:cxn>
                  <a:cxn ang="0">
                    <a:pos x="1362" y="208"/>
                  </a:cxn>
                  <a:cxn ang="0">
                    <a:pos x="1671" y="208"/>
                  </a:cxn>
                  <a:cxn ang="0">
                    <a:pos x="1671" y="0"/>
                  </a:cxn>
                  <a:cxn ang="0">
                    <a:pos x="1826" y="0"/>
                  </a:cxn>
                  <a:cxn ang="0">
                    <a:pos x="1826" y="208"/>
                  </a:cxn>
                  <a:cxn ang="0">
                    <a:pos x="2125" y="208"/>
                  </a:cxn>
                  <a:cxn ang="0">
                    <a:pos x="2125" y="0"/>
                  </a:cxn>
                  <a:cxn ang="0">
                    <a:pos x="2280" y="0"/>
                  </a:cxn>
                  <a:cxn ang="0">
                    <a:pos x="2280" y="208"/>
                  </a:cxn>
                  <a:cxn ang="0">
                    <a:pos x="2589" y="208"/>
                  </a:cxn>
                  <a:cxn ang="0">
                    <a:pos x="2589" y="0"/>
                  </a:cxn>
                  <a:cxn ang="0">
                    <a:pos x="2743" y="0"/>
                  </a:cxn>
                  <a:cxn ang="0">
                    <a:pos x="2743" y="208"/>
                  </a:cxn>
                  <a:cxn ang="0">
                    <a:pos x="3052" y="208"/>
                  </a:cxn>
                  <a:cxn ang="0">
                    <a:pos x="3052" y="0"/>
                  </a:cxn>
                  <a:cxn ang="0">
                    <a:pos x="3207" y="0"/>
                  </a:cxn>
                  <a:cxn ang="0">
                    <a:pos x="3207" y="208"/>
                  </a:cxn>
                  <a:cxn ang="0">
                    <a:pos x="3516" y="208"/>
                  </a:cxn>
                  <a:cxn ang="0">
                    <a:pos x="3516" y="0"/>
                  </a:cxn>
                  <a:cxn ang="0">
                    <a:pos x="3670" y="0"/>
                  </a:cxn>
                  <a:cxn ang="0">
                    <a:pos x="3670" y="208"/>
                  </a:cxn>
                  <a:cxn ang="0">
                    <a:pos x="3874" y="208"/>
                  </a:cxn>
                </a:cxnLst>
                <a:pathLst>
                  <a:path w="4148" h="289">
                    <a:moveTo>
                      <a:pt x="0" y="289"/>
                    </a:moveTo>
                    <a:lnTo>
                      <a:pt x="300" y="289"/>
                    </a:lnTo>
                    <a:lnTo>
                      <a:pt x="300" y="0"/>
                    </a:lnTo>
                    <a:lnTo>
                      <a:pt x="465" y="0"/>
                    </a:lnTo>
                    <a:lnTo>
                      <a:pt x="465" y="289"/>
                    </a:lnTo>
                    <a:lnTo>
                      <a:pt x="796" y="289"/>
                    </a:lnTo>
                    <a:lnTo>
                      <a:pt x="796" y="0"/>
                    </a:lnTo>
                    <a:lnTo>
                      <a:pt x="962" y="0"/>
                    </a:lnTo>
                    <a:lnTo>
                      <a:pt x="962" y="289"/>
                    </a:lnTo>
                    <a:lnTo>
                      <a:pt x="1293" y="289"/>
                    </a:lnTo>
                    <a:lnTo>
                      <a:pt x="1293" y="0"/>
                    </a:lnTo>
                    <a:lnTo>
                      <a:pt x="1458" y="0"/>
                    </a:lnTo>
                    <a:lnTo>
                      <a:pt x="1458" y="289"/>
                    </a:lnTo>
                    <a:lnTo>
                      <a:pt x="1789" y="289"/>
                    </a:lnTo>
                    <a:lnTo>
                      <a:pt x="1789" y="0"/>
                    </a:lnTo>
                    <a:lnTo>
                      <a:pt x="1955" y="0"/>
                    </a:lnTo>
                    <a:lnTo>
                      <a:pt x="1955" y="289"/>
                    </a:lnTo>
                    <a:lnTo>
                      <a:pt x="2275" y="289"/>
                    </a:lnTo>
                    <a:lnTo>
                      <a:pt x="2275" y="0"/>
                    </a:lnTo>
                    <a:lnTo>
                      <a:pt x="2441" y="0"/>
                    </a:lnTo>
                    <a:lnTo>
                      <a:pt x="2441" y="289"/>
                    </a:lnTo>
                    <a:lnTo>
                      <a:pt x="2772" y="289"/>
                    </a:lnTo>
                    <a:lnTo>
                      <a:pt x="2772" y="0"/>
                    </a:lnTo>
                    <a:lnTo>
                      <a:pt x="2937" y="0"/>
                    </a:lnTo>
                    <a:lnTo>
                      <a:pt x="2937" y="289"/>
                    </a:lnTo>
                    <a:lnTo>
                      <a:pt x="3268" y="289"/>
                    </a:lnTo>
                    <a:lnTo>
                      <a:pt x="3268" y="0"/>
                    </a:lnTo>
                    <a:lnTo>
                      <a:pt x="3434" y="0"/>
                    </a:lnTo>
                    <a:lnTo>
                      <a:pt x="3434" y="289"/>
                    </a:lnTo>
                    <a:lnTo>
                      <a:pt x="3765" y="289"/>
                    </a:lnTo>
                    <a:lnTo>
                      <a:pt x="3765" y="0"/>
                    </a:lnTo>
                    <a:lnTo>
                      <a:pt x="3930" y="0"/>
                    </a:lnTo>
                    <a:lnTo>
                      <a:pt x="3930" y="289"/>
                    </a:lnTo>
                    <a:lnTo>
                      <a:pt x="4148" y="289"/>
                    </a:lnTo>
                  </a:path>
                </a:pathLst>
              </a:custGeom>
              <a:noFill/>
              <a:ln w="38100" cap="flat" cmpd="sng">
                <a:solidFill>
                  <a:srgbClr val="3333FF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8690" name="Text Box 5"/>
              <p:cNvSpPr txBox="1"/>
              <p:nvPr/>
            </p:nvSpPr>
            <p:spPr>
              <a:xfrm>
                <a:off x="616" y="2199"/>
                <a:ext cx="212" cy="265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>
                <a:spAutoFit/>
              </a:bodyPr>
              <a:p>
                <a:pPr eaLnBrk="1" hangingPunct="1">
                  <a:lnSpc>
                    <a:spcPct val="90000"/>
                  </a:lnSpc>
                </a:pPr>
                <a:r>
                  <a:rPr lang="en-US" altLang="zh-CN" dirty="0">
                    <a:latin typeface="Times New Roman" panose="02020603050405020304" pitchFamily="18" charset="0"/>
                  </a:rPr>
                  <a:t>x</a:t>
                </a:r>
                <a:endParaRPr lang="en-US" altLang="zh-CN" dirty="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28691" name="Group 6"/>
              <p:cNvGrpSpPr/>
              <p:nvPr/>
            </p:nvGrpSpPr>
            <p:grpSpPr>
              <a:xfrm>
                <a:off x="1154" y="1902"/>
                <a:ext cx="3384" cy="327"/>
                <a:chOff x="1154" y="1902"/>
                <a:chExt cx="3384" cy="327"/>
              </a:xfrm>
            </p:grpSpPr>
            <p:sp>
              <p:nvSpPr>
                <p:cNvPr id="28692" name="Text Box 7"/>
                <p:cNvSpPr txBox="1"/>
                <p:nvPr/>
              </p:nvSpPr>
              <p:spPr>
                <a:xfrm>
                  <a:off x="1154" y="1902"/>
                  <a:ext cx="228" cy="327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txBody>
                <a:bodyPr wrap="none">
                  <a:spAutoFit/>
                </a:bodyPr>
                <a:p>
                  <a:pPr eaLnBrk="1" hangingPunct="1"/>
                  <a:r>
                    <a:rPr lang="en-US" altLang="zh-CN" sz="2800" dirty="0">
                      <a:latin typeface="Times New Roman" panose="02020603050405020304" pitchFamily="18" charset="0"/>
                    </a:rPr>
                    <a:t>1</a:t>
                  </a:r>
                  <a:endParaRPr lang="en-US" altLang="zh-CN" sz="28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8693" name="Text Box 8"/>
                <p:cNvSpPr txBox="1"/>
                <p:nvPr/>
              </p:nvSpPr>
              <p:spPr>
                <a:xfrm>
                  <a:off x="1610" y="1902"/>
                  <a:ext cx="228" cy="327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txBody>
                <a:bodyPr wrap="none">
                  <a:spAutoFit/>
                </a:bodyPr>
                <a:p>
                  <a:pPr eaLnBrk="1" hangingPunct="1"/>
                  <a:r>
                    <a:rPr lang="en-US" altLang="zh-CN" sz="2800" dirty="0">
                      <a:latin typeface="Times New Roman" panose="02020603050405020304" pitchFamily="18" charset="0"/>
                    </a:rPr>
                    <a:t>2</a:t>
                  </a:r>
                  <a:endParaRPr lang="en-US" altLang="zh-CN" sz="28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8694" name="Text Box 9"/>
                <p:cNvSpPr txBox="1"/>
                <p:nvPr/>
              </p:nvSpPr>
              <p:spPr>
                <a:xfrm>
                  <a:off x="2042" y="1902"/>
                  <a:ext cx="228" cy="327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txBody>
                <a:bodyPr wrap="none">
                  <a:spAutoFit/>
                </a:bodyPr>
                <a:p>
                  <a:pPr eaLnBrk="1" hangingPunct="1"/>
                  <a:r>
                    <a:rPr lang="en-US" altLang="zh-CN" sz="2800" dirty="0">
                      <a:latin typeface="Times New Roman" panose="02020603050405020304" pitchFamily="18" charset="0"/>
                    </a:rPr>
                    <a:t>3</a:t>
                  </a:r>
                  <a:endParaRPr lang="en-US" altLang="zh-CN" sz="28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8695" name="Text Box 10"/>
                <p:cNvSpPr txBox="1"/>
                <p:nvPr/>
              </p:nvSpPr>
              <p:spPr>
                <a:xfrm>
                  <a:off x="2498" y="1902"/>
                  <a:ext cx="228" cy="327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txBody>
                <a:bodyPr wrap="none">
                  <a:spAutoFit/>
                </a:bodyPr>
                <a:p>
                  <a:pPr eaLnBrk="1" hangingPunct="1"/>
                  <a:r>
                    <a:rPr lang="en-US" altLang="zh-CN" sz="2800" dirty="0">
                      <a:latin typeface="Times New Roman" panose="02020603050405020304" pitchFamily="18" charset="0"/>
                    </a:rPr>
                    <a:t>4</a:t>
                  </a:r>
                  <a:endParaRPr lang="en-US" altLang="zh-CN" sz="28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8696" name="Text Box 11"/>
                <p:cNvSpPr txBox="1"/>
                <p:nvPr/>
              </p:nvSpPr>
              <p:spPr>
                <a:xfrm>
                  <a:off x="2942" y="1902"/>
                  <a:ext cx="228" cy="327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txBody>
                <a:bodyPr wrap="none">
                  <a:spAutoFit/>
                </a:bodyPr>
                <a:p>
                  <a:pPr eaLnBrk="1" hangingPunct="1"/>
                  <a:r>
                    <a:rPr lang="en-US" altLang="zh-CN" sz="2800" dirty="0">
                      <a:latin typeface="Times New Roman" panose="02020603050405020304" pitchFamily="18" charset="0"/>
                    </a:rPr>
                    <a:t>5</a:t>
                  </a:r>
                  <a:endParaRPr lang="en-US" altLang="zh-CN" sz="28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8697" name="Text Box 12"/>
                <p:cNvSpPr txBox="1"/>
                <p:nvPr/>
              </p:nvSpPr>
              <p:spPr>
                <a:xfrm>
                  <a:off x="3398" y="1902"/>
                  <a:ext cx="228" cy="327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txBody>
                <a:bodyPr wrap="none">
                  <a:spAutoFit/>
                </a:bodyPr>
                <a:p>
                  <a:pPr eaLnBrk="1" hangingPunct="1"/>
                  <a:r>
                    <a:rPr lang="en-US" altLang="zh-CN" sz="2800" dirty="0">
                      <a:latin typeface="Times New Roman" panose="02020603050405020304" pitchFamily="18" charset="0"/>
                    </a:rPr>
                    <a:t>6</a:t>
                  </a:r>
                  <a:endParaRPr lang="en-US" altLang="zh-CN" sz="28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8698" name="Text Box 13"/>
                <p:cNvSpPr txBox="1"/>
                <p:nvPr/>
              </p:nvSpPr>
              <p:spPr>
                <a:xfrm>
                  <a:off x="3842" y="1902"/>
                  <a:ext cx="228" cy="327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txBody>
                <a:bodyPr wrap="none">
                  <a:spAutoFit/>
                </a:bodyPr>
                <a:p>
                  <a:pPr eaLnBrk="1" hangingPunct="1"/>
                  <a:r>
                    <a:rPr lang="en-US" altLang="zh-CN" sz="2800" dirty="0">
                      <a:latin typeface="Times New Roman" panose="02020603050405020304" pitchFamily="18" charset="0"/>
                    </a:rPr>
                    <a:t>7</a:t>
                  </a:r>
                  <a:endParaRPr lang="en-US" altLang="zh-CN" sz="28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8699" name="Text Box 14"/>
                <p:cNvSpPr txBox="1"/>
                <p:nvPr/>
              </p:nvSpPr>
              <p:spPr>
                <a:xfrm>
                  <a:off x="4310" y="1902"/>
                  <a:ext cx="228" cy="327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txBody>
                <a:bodyPr wrap="none">
                  <a:spAutoFit/>
                </a:bodyPr>
                <a:p>
                  <a:pPr eaLnBrk="1" hangingPunct="1"/>
                  <a:r>
                    <a:rPr lang="en-US" altLang="zh-CN" sz="2800" dirty="0">
                      <a:latin typeface="Times New Roman" panose="02020603050405020304" pitchFamily="18" charset="0"/>
                    </a:rPr>
                    <a:t>8</a:t>
                  </a:r>
                  <a:endParaRPr lang="en-US" altLang="zh-CN" sz="2800" dirty="0">
                    <a:latin typeface="Times New Roman" panose="02020603050405020304" pitchFamily="18" charset="0"/>
                  </a:endParaRPr>
                </a:p>
              </p:txBody>
            </p:sp>
          </p:grpSp>
        </p:grpSp>
        <p:grpSp>
          <p:nvGrpSpPr>
            <p:cNvPr id="28677" name="Group 15"/>
            <p:cNvGrpSpPr/>
            <p:nvPr/>
          </p:nvGrpSpPr>
          <p:grpSpPr>
            <a:xfrm>
              <a:off x="542" y="2502"/>
              <a:ext cx="4249" cy="327"/>
              <a:chOff x="542" y="2502"/>
              <a:chExt cx="4249" cy="327"/>
            </a:xfrm>
          </p:grpSpPr>
          <p:sp>
            <p:nvSpPr>
              <p:cNvPr id="28687" name="Freeform 16"/>
              <p:cNvSpPr/>
              <p:nvPr/>
            </p:nvSpPr>
            <p:spPr>
              <a:xfrm>
                <a:off x="882" y="2532"/>
                <a:ext cx="3909" cy="232"/>
              </a:xfrm>
              <a:custGeom>
                <a:avLst/>
                <a:gdLst/>
                <a:ahLst/>
                <a:cxnLst>
                  <a:cxn ang="0">
                    <a:pos x="0" y="225"/>
                  </a:cxn>
                  <a:cxn ang="0">
                    <a:pos x="418" y="232"/>
                  </a:cxn>
                  <a:cxn ang="0">
                    <a:pos x="417" y="10"/>
                  </a:cxn>
                  <a:cxn ang="0">
                    <a:pos x="913" y="0"/>
                  </a:cxn>
                  <a:cxn ang="0">
                    <a:pos x="918" y="228"/>
                  </a:cxn>
                  <a:cxn ang="0">
                    <a:pos x="1364" y="225"/>
                  </a:cxn>
                  <a:cxn ang="0">
                    <a:pos x="1364" y="11"/>
                  </a:cxn>
                  <a:cxn ang="0">
                    <a:pos x="1822" y="19"/>
                  </a:cxn>
                  <a:cxn ang="0">
                    <a:pos x="1822" y="225"/>
                  </a:cxn>
                  <a:cxn ang="0">
                    <a:pos x="2307" y="217"/>
                  </a:cxn>
                  <a:cxn ang="0">
                    <a:pos x="2307" y="11"/>
                  </a:cxn>
                  <a:cxn ang="0">
                    <a:pos x="2774" y="11"/>
                  </a:cxn>
                  <a:cxn ang="0">
                    <a:pos x="2774" y="217"/>
                  </a:cxn>
                  <a:cxn ang="0">
                    <a:pos x="3227" y="214"/>
                  </a:cxn>
                  <a:cxn ang="0">
                    <a:pos x="3227" y="5"/>
                  </a:cxn>
                  <a:cxn ang="0">
                    <a:pos x="3680" y="4"/>
                  </a:cxn>
                  <a:cxn ang="0">
                    <a:pos x="3680" y="225"/>
                  </a:cxn>
                  <a:cxn ang="0">
                    <a:pos x="3909" y="232"/>
                  </a:cxn>
                  <a:cxn ang="0">
                    <a:pos x="3909" y="225"/>
                  </a:cxn>
                </a:cxnLst>
                <a:pathLst>
                  <a:path w="3909" h="232">
                    <a:moveTo>
                      <a:pt x="0" y="225"/>
                    </a:moveTo>
                    <a:lnTo>
                      <a:pt x="418" y="232"/>
                    </a:lnTo>
                    <a:lnTo>
                      <a:pt x="417" y="10"/>
                    </a:lnTo>
                    <a:lnTo>
                      <a:pt x="913" y="0"/>
                    </a:lnTo>
                    <a:lnTo>
                      <a:pt x="918" y="228"/>
                    </a:lnTo>
                    <a:lnTo>
                      <a:pt x="1364" y="225"/>
                    </a:lnTo>
                    <a:lnTo>
                      <a:pt x="1364" y="11"/>
                    </a:lnTo>
                    <a:lnTo>
                      <a:pt x="1822" y="19"/>
                    </a:lnTo>
                    <a:lnTo>
                      <a:pt x="1822" y="225"/>
                    </a:lnTo>
                    <a:lnTo>
                      <a:pt x="2307" y="217"/>
                    </a:lnTo>
                    <a:lnTo>
                      <a:pt x="2307" y="11"/>
                    </a:lnTo>
                    <a:lnTo>
                      <a:pt x="2774" y="11"/>
                    </a:lnTo>
                    <a:lnTo>
                      <a:pt x="2774" y="217"/>
                    </a:lnTo>
                    <a:lnTo>
                      <a:pt x="3227" y="214"/>
                    </a:lnTo>
                    <a:lnTo>
                      <a:pt x="3227" y="5"/>
                    </a:lnTo>
                    <a:lnTo>
                      <a:pt x="3680" y="4"/>
                    </a:lnTo>
                    <a:lnTo>
                      <a:pt x="3680" y="225"/>
                    </a:lnTo>
                    <a:lnTo>
                      <a:pt x="3909" y="232"/>
                    </a:lnTo>
                    <a:lnTo>
                      <a:pt x="3909" y="225"/>
                    </a:lnTo>
                  </a:path>
                </a:pathLst>
              </a:custGeom>
              <a:noFill/>
              <a:ln w="38100" cap="flat" cmpd="sng">
                <a:solidFill>
                  <a:srgbClr val="3333FF">
                    <a:alpha val="100000"/>
                  </a:srgbClr>
                </a:solidFill>
                <a:prstDash val="solid"/>
                <a:round/>
                <a:headEnd type="none" w="med" len="med"/>
                <a:tailEnd type="none" w="sm" len="lg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8688" name="Text Box 17"/>
              <p:cNvSpPr txBox="1"/>
              <p:nvPr/>
            </p:nvSpPr>
            <p:spPr>
              <a:xfrm>
                <a:off x="542" y="2502"/>
                <a:ext cx="354" cy="327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none">
                <a:spAutoFit/>
              </a:bodyPr>
              <a:p>
                <a:pPr eaLnBrk="1" hangingPunct="1"/>
                <a:r>
                  <a:rPr lang="en-US" altLang="zh-CN" sz="2800" dirty="0">
                    <a:latin typeface="Times New Roman" panose="02020603050405020304" pitchFamily="18" charset="0"/>
                  </a:rPr>
                  <a:t>Q</a:t>
                </a:r>
                <a:r>
                  <a:rPr lang="en-US" altLang="zh-CN" sz="2800" baseline="-25000" dirty="0">
                    <a:latin typeface="Times New Roman" panose="02020603050405020304" pitchFamily="18" charset="0"/>
                  </a:rPr>
                  <a:t>1</a:t>
                </a:r>
                <a:endParaRPr lang="en-US" altLang="zh-CN" sz="2800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28678" name="Group 18"/>
            <p:cNvGrpSpPr/>
            <p:nvPr/>
          </p:nvGrpSpPr>
          <p:grpSpPr>
            <a:xfrm>
              <a:off x="542" y="2898"/>
              <a:ext cx="4210" cy="327"/>
              <a:chOff x="542" y="2898"/>
              <a:chExt cx="4210" cy="327"/>
            </a:xfrm>
          </p:grpSpPr>
          <p:sp>
            <p:nvSpPr>
              <p:cNvPr id="28685" name="Freeform 19"/>
              <p:cNvSpPr/>
              <p:nvPr/>
            </p:nvSpPr>
            <p:spPr>
              <a:xfrm>
                <a:off x="876" y="2964"/>
                <a:ext cx="3876" cy="218"/>
              </a:xfrm>
              <a:custGeom>
                <a:avLst/>
                <a:gdLst/>
                <a:ahLst/>
                <a:cxnLst>
                  <a:cxn ang="0">
                    <a:pos x="0" y="181"/>
                  </a:cxn>
                  <a:cxn ang="0">
                    <a:pos x="433" y="191"/>
                  </a:cxn>
                  <a:cxn ang="0">
                    <a:pos x="433" y="9"/>
                  </a:cxn>
                  <a:cxn ang="0">
                    <a:pos x="1387" y="0"/>
                  </a:cxn>
                  <a:cxn ang="0">
                    <a:pos x="1387" y="218"/>
                  </a:cxn>
                  <a:cxn ang="0">
                    <a:pos x="2315" y="218"/>
                  </a:cxn>
                  <a:cxn ang="0">
                    <a:pos x="2315" y="9"/>
                  </a:cxn>
                  <a:cxn ang="0">
                    <a:pos x="3269" y="0"/>
                  </a:cxn>
                  <a:cxn ang="0">
                    <a:pos x="3269" y="209"/>
                  </a:cxn>
                  <a:cxn ang="0">
                    <a:pos x="3876" y="217"/>
                  </a:cxn>
                </a:cxnLst>
                <a:pathLst>
                  <a:path w="3876" h="218">
                    <a:moveTo>
                      <a:pt x="0" y="181"/>
                    </a:moveTo>
                    <a:lnTo>
                      <a:pt x="433" y="191"/>
                    </a:lnTo>
                    <a:lnTo>
                      <a:pt x="433" y="9"/>
                    </a:lnTo>
                    <a:lnTo>
                      <a:pt x="1387" y="0"/>
                    </a:lnTo>
                    <a:lnTo>
                      <a:pt x="1387" y="218"/>
                    </a:lnTo>
                    <a:lnTo>
                      <a:pt x="2315" y="218"/>
                    </a:lnTo>
                    <a:lnTo>
                      <a:pt x="2315" y="9"/>
                    </a:lnTo>
                    <a:lnTo>
                      <a:pt x="3269" y="0"/>
                    </a:lnTo>
                    <a:lnTo>
                      <a:pt x="3269" y="209"/>
                    </a:lnTo>
                    <a:lnTo>
                      <a:pt x="3876" y="217"/>
                    </a:lnTo>
                  </a:path>
                </a:pathLst>
              </a:custGeom>
              <a:noFill/>
              <a:ln w="38100" cap="flat" cmpd="sng">
                <a:solidFill>
                  <a:srgbClr val="3333FF">
                    <a:alpha val="100000"/>
                  </a:srgbClr>
                </a:solidFill>
                <a:prstDash val="solid"/>
                <a:round/>
                <a:headEnd type="none" w="med" len="med"/>
                <a:tailEnd type="none" w="sm" len="lg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8686" name="Text Box 20"/>
              <p:cNvSpPr txBox="1"/>
              <p:nvPr/>
            </p:nvSpPr>
            <p:spPr>
              <a:xfrm>
                <a:off x="542" y="2898"/>
                <a:ext cx="354" cy="327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none">
                <a:spAutoFit/>
              </a:bodyPr>
              <a:p>
                <a:pPr eaLnBrk="1" hangingPunct="1"/>
                <a:r>
                  <a:rPr lang="en-US" altLang="zh-CN" sz="2800" dirty="0">
                    <a:latin typeface="Times New Roman" panose="02020603050405020304" pitchFamily="18" charset="0"/>
                  </a:rPr>
                  <a:t>Q</a:t>
                </a:r>
                <a:r>
                  <a:rPr lang="en-US" altLang="zh-CN" sz="2800" baseline="-25000" dirty="0">
                    <a:latin typeface="Times New Roman" panose="02020603050405020304" pitchFamily="18" charset="0"/>
                  </a:rPr>
                  <a:t>2</a:t>
                </a:r>
                <a:endParaRPr lang="en-US" altLang="zh-CN" sz="2800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28679" name="Group 21"/>
            <p:cNvGrpSpPr/>
            <p:nvPr/>
          </p:nvGrpSpPr>
          <p:grpSpPr>
            <a:xfrm>
              <a:off x="542" y="3282"/>
              <a:ext cx="4222" cy="327"/>
              <a:chOff x="542" y="3282"/>
              <a:chExt cx="4222" cy="327"/>
            </a:xfrm>
          </p:grpSpPr>
          <p:sp>
            <p:nvSpPr>
              <p:cNvPr id="28683" name="Freeform 22"/>
              <p:cNvSpPr/>
              <p:nvPr/>
            </p:nvSpPr>
            <p:spPr>
              <a:xfrm>
                <a:off x="876" y="3355"/>
                <a:ext cx="3888" cy="209"/>
              </a:xfrm>
              <a:custGeom>
                <a:avLst/>
                <a:gdLst/>
                <a:ahLst/>
                <a:cxnLst>
                  <a:cxn ang="0">
                    <a:pos x="0" y="180"/>
                  </a:cxn>
                  <a:cxn ang="0">
                    <a:pos x="415" y="191"/>
                  </a:cxn>
                  <a:cxn ang="0">
                    <a:pos x="415" y="0"/>
                  </a:cxn>
                  <a:cxn ang="0">
                    <a:pos x="2315" y="0"/>
                  </a:cxn>
                  <a:cxn ang="0">
                    <a:pos x="2315" y="209"/>
                  </a:cxn>
                  <a:cxn ang="0">
                    <a:pos x="3888" y="203"/>
                  </a:cxn>
                </a:cxnLst>
                <a:pathLst>
                  <a:path w="3888" h="209">
                    <a:moveTo>
                      <a:pt x="0" y="180"/>
                    </a:moveTo>
                    <a:lnTo>
                      <a:pt x="415" y="191"/>
                    </a:lnTo>
                    <a:lnTo>
                      <a:pt x="415" y="0"/>
                    </a:lnTo>
                    <a:lnTo>
                      <a:pt x="2315" y="0"/>
                    </a:lnTo>
                    <a:lnTo>
                      <a:pt x="2315" y="209"/>
                    </a:lnTo>
                    <a:lnTo>
                      <a:pt x="3888" y="203"/>
                    </a:lnTo>
                  </a:path>
                </a:pathLst>
              </a:custGeom>
              <a:noFill/>
              <a:ln w="38100" cap="flat" cmpd="sng">
                <a:solidFill>
                  <a:srgbClr val="3333FF">
                    <a:alpha val="100000"/>
                  </a:srgbClr>
                </a:solidFill>
                <a:prstDash val="solid"/>
                <a:round/>
                <a:headEnd type="none" w="med" len="med"/>
                <a:tailEnd type="none" w="sm" len="lg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8684" name="Text Box 23"/>
              <p:cNvSpPr txBox="1"/>
              <p:nvPr/>
            </p:nvSpPr>
            <p:spPr>
              <a:xfrm>
                <a:off x="542" y="3282"/>
                <a:ext cx="354" cy="327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none">
                <a:spAutoFit/>
              </a:bodyPr>
              <a:p>
                <a:pPr eaLnBrk="1" hangingPunct="1"/>
                <a:r>
                  <a:rPr lang="en-US" altLang="zh-CN" sz="2800" dirty="0">
                    <a:latin typeface="Times New Roman" panose="02020603050405020304" pitchFamily="18" charset="0"/>
                  </a:rPr>
                  <a:t>Q</a:t>
                </a:r>
                <a:r>
                  <a:rPr lang="en-US" altLang="zh-CN" sz="2800" baseline="-25000" dirty="0">
                    <a:latin typeface="Times New Roman" panose="02020603050405020304" pitchFamily="18" charset="0"/>
                  </a:rPr>
                  <a:t>3</a:t>
                </a:r>
                <a:endParaRPr lang="en-US" altLang="zh-CN" sz="2800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28680" name="Group 24"/>
            <p:cNvGrpSpPr/>
            <p:nvPr/>
          </p:nvGrpSpPr>
          <p:grpSpPr>
            <a:xfrm>
              <a:off x="542" y="3690"/>
              <a:ext cx="4210" cy="327"/>
              <a:chOff x="542" y="3690"/>
              <a:chExt cx="4210" cy="327"/>
            </a:xfrm>
          </p:grpSpPr>
          <p:sp>
            <p:nvSpPr>
              <p:cNvPr id="28681" name="Freeform 25"/>
              <p:cNvSpPr/>
              <p:nvPr/>
            </p:nvSpPr>
            <p:spPr>
              <a:xfrm>
                <a:off x="876" y="3744"/>
                <a:ext cx="3876" cy="210"/>
              </a:xfrm>
              <a:custGeom>
                <a:avLst/>
                <a:gdLst/>
                <a:ahLst/>
                <a:cxnLst>
                  <a:cxn ang="0">
                    <a:pos x="0" y="198"/>
                  </a:cxn>
                  <a:cxn ang="0">
                    <a:pos x="268" y="198"/>
                  </a:cxn>
                  <a:cxn ang="0">
                    <a:pos x="268" y="0"/>
                  </a:cxn>
                  <a:cxn ang="0">
                    <a:pos x="427" y="0"/>
                  </a:cxn>
                  <a:cxn ang="0">
                    <a:pos x="427" y="210"/>
                  </a:cxn>
                  <a:cxn ang="0">
                    <a:pos x="3876" y="210"/>
                  </a:cxn>
                </a:cxnLst>
                <a:pathLst>
                  <a:path w="3816" h="204">
                    <a:moveTo>
                      <a:pt x="0" y="192"/>
                    </a:moveTo>
                    <a:lnTo>
                      <a:pt x="264" y="192"/>
                    </a:lnTo>
                    <a:lnTo>
                      <a:pt x="264" y="0"/>
                    </a:lnTo>
                    <a:lnTo>
                      <a:pt x="420" y="0"/>
                    </a:lnTo>
                    <a:lnTo>
                      <a:pt x="420" y="204"/>
                    </a:lnTo>
                    <a:lnTo>
                      <a:pt x="3816" y="204"/>
                    </a:lnTo>
                  </a:path>
                </a:pathLst>
              </a:custGeom>
              <a:noFill/>
              <a:ln w="38100" cap="flat" cmpd="sng">
                <a:solidFill>
                  <a:srgbClr val="3333FF">
                    <a:alpha val="100000"/>
                  </a:srgbClr>
                </a:solidFill>
                <a:prstDash val="solid"/>
                <a:round/>
                <a:headEnd type="none" w="med" len="med"/>
                <a:tailEnd type="none" w="sm" len="lg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8682" name="Text Box 26"/>
              <p:cNvSpPr txBox="1"/>
              <p:nvPr/>
            </p:nvSpPr>
            <p:spPr>
              <a:xfrm>
                <a:off x="542" y="3690"/>
                <a:ext cx="253" cy="327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none">
                <a:spAutoFit/>
              </a:bodyPr>
              <a:p>
                <a:pPr eaLnBrk="1" hangingPunct="1"/>
                <a:r>
                  <a:rPr lang="en-US" altLang="zh-CN" sz="2800" dirty="0">
                    <a:latin typeface="Times New Roman" panose="02020603050405020304" pitchFamily="18" charset="0"/>
                  </a:rPr>
                  <a:t>Z</a:t>
                </a:r>
                <a:endParaRPr lang="en-US" altLang="zh-CN" sz="2800" dirty="0">
                  <a:latin typeface="Times New Roman" panose="02020603050405020304" pitchFamily="18" charset="0"/>
                </a:endParaRPr>
              </a:p>
            </p:txBody>
          </p:sp>
        </p:grp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6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6130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698" name="Rectangle 4"/>
          <p:cNvSpPr/>
          <p:nvPr/>
        </p:nvSpPr>
        <p:spPr>
          <a:xfrm>
            <a:off x="0" y="987425"/>
            <a:ext cx="8823325" cy="579438"/>
          </a:xfrm>
          <a:prstGeom prst="rect">
            <a:avLst/>
          </a:prstGeom>
          <a:noFill/>
          <a:ln w="19050">
            <a:noFill/>
          </a:ln>
        </p:spPr>
        <p:txBody>
          <a:bodyPr wrap="none" anchor="ctr" anchorCtr="0">
            <a:spAutoFit/>
          </a:bodyPr>
          <a:p>
            <a:pPr eaLnBrk="1" hangingPunct="1"/>
            <a:r>
              <a:rPr lang="zh-CN" altLang="en-US" sz="3200" b="1" dirty="0">
                <a:latin typeface="Times New Roman" panose="02020603050405020304" pitchFamily="18" charset="0"/>
              </a:rPr>
              <a:t>例：</a:t>
            </a:r>
            <a:r>
              <a:rPr lang="zh-CN" altLang="en-US" sz="3200" dirty="0">
                <a:latin typeface="Times New Roman" panose="02020603050405020304" pitchFamily="18" charset="0"/>
              </a:rPr>
              <a:t>分析下图所示的脉冲型异步时序逻辑电路。 </a:t>
            </a:r>
            <a:endParaRPr lang="zh-CN" altLang="en-US" sz="3200" dirty="0">
              <a:latin typeface="Times New Roman" panose="02020603050405020304" pitchFamily="18" charset="0"/>
            </a:endParaRPr>
          </a:p>
        </p:txBody>
      </p:sp>
      <p:grpSp>
        <p:nvGrpSpPr>
          <p:cNvPr id="29699" name="Group 69"/>
          <p:cNvGrpSpPr/>
          <p:nvPr/>
        </p:nvGrpSpPr>
        <p:grpSpPr>
          <a:xfrm>
            <a:off x="0" y="2274888"/>
            <a:ext cx="9144000" cy="2517775"/>
            <a:chOff x="0" y="1350"/>
            <a:chExt cx="5760" cy="1586"/>
          </a:xfrm>
        </p:grpSpPr>
        <p:sp>
          <p:nvSpPr>
            <p:cNvPr id="29700" name="Text Box 6"/>
            <p:cNvSpPr txBox="1"/>
            <p:nvPr/>
          </p:nvSpPr>
          <p:spPr>
            <a:xfrm>
              <a:off x="0" y="2010"/>
              <a:ext cx="711" cy="34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 eaLnBrk="1" hangingPunct="1"/>
              <a:r>
                <a:rPr lang="en-US" altLang="zh-CN" dirty="0">
                  <a:latin typeface="Times New Roman" panose="02020603050405020304" pitchFamily="18" charset="0"/>
                </a:rPr>
                <a:t>“1”</a:t>
              </a:r>
              <a:endParaRPr lang="en-US" altLang="zh-CN" sz="5400" dirty="0">
                <a:latin typeface="Times New Roman" panose="02020603050405020304" pitchFamily="18" charset="0"/>
              </a:endParaRPr>
            </a:p>
          </p:txBody>
        </p:sp>
        <p:sp>
          <p:nvSpPr>
            <p:cNvPr id="29701" name="Rectangle 7"/>
            <p:cNvSpPr/>
            <p:nvPr/>
          </p:nvSpPr>
          <p:spPr>
            <a:xfrm>
              <a:off x="1724" y="1558"/>
              <a:ext cx="362" cy="275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/>
            <a:p>
              <a:pPr algn="just" eaLnBrk="1" hangingPunct="1">
                <a:lnSpc>
                  <a:spcPct val="96000"/>
                </a:lnSpc>
              </a:pPr>
              <a:r>
                <a:rPr lang="en-US" altLang="zh-CN" i="1" dirty="0">
                  <a:latin typeface="Times New Roman" panose="02020603050405020304" pitchFamily="18" charset="0"/>
                </a:rPr>
                <a:t>Q</a:t>
              </a:r>
              <a:r>
                <a:rPr lang="en-US" altLang="zh-CN" baseline="-25000" dirty="0">
                  <a:latin typeface="Times New Roman" panose="02020603050405020304" pitchFamily="18" charset="0"/>
                </a:rPr>
                <a:t>0</a:t>
              </a:r>
              <a:endParaRPr lang="en-US" altLang="zh-CN" sz="5400" dirty="0">
                <a:latin typeface="Times New Roman" panose="02020603050405020304" pitchFamily="18" charset="0"/>
              </a:endParaRPr>
            </a:p>
          </p:txBody>
        </p:sp>
        <p:sp>
          <p:nvSpPr>
            <p:cNvPr id="29702" name="Rectangle 8"/>
            <p:cNvSpPr/>
            <p:nvPr/>
          </p:nvSpPr>
          <p:spPr>
            <a:xfrm>
              <a:off x="5498" y="1587"/>
              <a:ext cx="262" cy="413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/>
            <a:p>
              <a:pPr algn="just" eaLnBrk="1" hangingPunct="1">
                <a:lnSpc>
                  <a:spcPct val="96000"/>
                </a:lnSpc>
              </a:pPr>
              <a:r>
                <a:rPr lang="en-US" altLang="zh-CN" i="1" dirty="0">
                  <a:latin typeface="Times New Roman" panose="02020603050405020304" pitchFamily="18" charset="0"/>
                </a:rPr>
                <a:t>Q</a:t>
              </a:r>
              <a:r>
                <a:rPr lang="en-US" altLang="zh-CN" baseline="-25000" dirty="0">
                  <a:latin typeface="Times New Roman" panose="02020603050405020304" pitchFamily="18" charset="0"/>
                </a:rPr>
                <a:t>2</a:t>
              </a:r>
              <a:endParaRPr lang="en-US" altLang="zh-CN" sz="5400" dirty="0">
                <a:latin typeface="Times New Roman" panose="02020603050405020304" pitchFamily="18" charset="0"/>
              </a:endParaRPr>
            </a:p>
          </p:txBody>
        </p:sp>
        <p:sp>
          <p:nvSpPr>
            <p:cNvPr id="29703" name="Line 9"/>
            <p:cNvSpPr/>
            <p:nvPr/>
          </p:nvSpPr>
          <p:spPr>
            <a:xfrm>
              <a:off x="747" y="1846"/>
              <a:ext cx="296" cy="0"/>
            </a:xfrm>
            <a:prstGeom prst="line">
              <a:avLst/>
            </a:prstGeom>
            <a:ln w="9525" cap="flat" cmpd="sng">
              <a:solidFill>
                <a:srgbClr val="3333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704" name="Line 10"/>
            <p:cNvSpPr/>
            <p:nvPr/>
          </p:nvSpPr>
          <p:spPr>
            <a:xfrm>
              <a:off x="1656" y="1833"/>
              <a:ext cx="205" cy="0"/>
            </a:xfrm>
            <a:prstGeom prst="line">
              <a:avLst/>
            </a:prstGeom>
            <a:ln w="9525" cap="flat" cmpd="sng">
              <a:solidFill>
                <a:srgbClr val="3333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705" name="Line 11"/>
            <p:cNvSpPr/>
            <p:nvPr/>
          </p:nvSpPr>
          <p:spPr>
            <a:xfrm flipH="1">
              <a:off x="749" y="1354"/>
              <a:ext cx="4656" cy="0"/>
            </a:xfrm>
            <a:prstGeom prst="line">
              <a:avLst/>
            </a:prstGeom>
            <a:ln w="9525" cap="flat" cmpd="sng">
              <a:solidFill>
                <a:srgbClr val="3333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706" name="Line 12"/>
            <p:cNvSpPr/>
            <p:nvPr/>
          </p:nvSpPr>
          <p:spPr>
            <a:xfrm flipV="1">
              <a:off x="747" y="1358"/>
              <a:ext cx="0" cy="476"/>
            </a:xfrm>
            <a:prstGeom prst="line">
              <a:avLst/>
            </a:prstGeom>
            <a:ln w="9525" cap="flat" cmpd="sng">
              <a:solidFill>
                <a:srgbClr val="3333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707" name="Line 13"/>
            <p:cNvSpPr/>
            <p:nvPr/>
          </p:nvSpPr>
          <p:spPr>
            <a:xfrm flipV="1">
              <a:off x="5414" y="1350"/>
              <a:ext cx="0" cy="900"/>
            </a:xfrm>
            <a:prstGeom prst="line">
              <a:avLst/>
            </a:prstGeom>
            <a:ln w="9525" cap="flat" cmpd="sng">
              <a:solidFill>
                <a:srgbClr val="3333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708" name="Rectangle 14"/>
            <p:cNvSpPr/>
            <p:nvPr/>
          </p:nvSpPr>
          <p:spPr>
            <a:xfrm>
              <a:off x="2252" y="1709"/>
              <a:ext cx="602" cy="688"/>
            </a:xfrm>
            <a:prstGeom prst="rect">
              <a:avLst/>
            </a:prstGeom>
            <a:solidFill>
              <a:srgbClr val="CCFFCC"/>
            </a:solidFill>
            <a:ln w="9525" cap="flat" cmpd="sng">
              <a:solidFill>
                <a:srgbClr val="3333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tIns="0" rIns="0" bIns="0"/>
            <a:p>
              <a:pPr algn="just" eaLnBrk="1" hangingPunct="1">
                <a:lnSpc>
                  <a:spcPct val="96000"/>
                </a:lnSpc>
              </a:pPr>
              <a:r>
                <a:rPr lang="en-US" altLang="zh-CN" i="1" dirty="0">
                  <a:latin typeface="宋体" panose="02010600030101010101" pitchFamily="2" charset="-122"/>
                </a:rPr>
                <a:t>J</a:t>
              </a:r>
              <a:r>
                <a:rPr lang="en-US" altLang="zh-CN" baseline="-25000" dirty="0">
                  <a:latin typeface="Times New Roman" panose="02020603050405020304" pitchFamily="18" charset="0"/>
                </a:rPr>
                <a:t>1</a:t>
              </a:r>
              <a:endParaRPr lang="en-US" altLang="zh-CN" i="1" dirty="0">
                <a:latin typeface="宋体" panose="02010600030101010101" pitchFamily="2" charset="-122"/>
              </a:endParaRPr>
            </a:p>
            <a:p>
              <a:pPr algn="just" eaLnBrk="1" hangingPunct="1">
                <a:lnSpc>
                  <a:spcPct val="96000"/>
                </a:lnSpc>
              </a:pPr>
              <a:r>
                <a:rPr lang="en-US" altLang="zh-CN" dirty="0">
                  <a:latin typeface="Times New Roman" panose="02020603050405020304" pitchFamily="18" charset="0"/>
                </a:rPr>
                <a:t> </a:t>
              </a:r>
              <a:r>
                <a:rPr lang="en-US" altLang="zh-CN" i="1" dirty="0">
                  <a:latin typeface="Times New Roman" panose="02020603050405020304" pitchFamily="18" charset="0"/>
                </a:rPr>
                <a:t>CP</a:t>
              </a:r>
              <a:r>
                <a:rPr lang="en-US" altLang="zh-CN" baseline="-25000" dirty="0">
                  <a:latin typeface="Times New Roman" panose="02020603050405020304" pitchFamily="18" charset="0"/>
                </a:rPr>
                <a:t>1</a:t>
              </a:r>
              <a:endParaRPr lang="en-US" altLang="zh-CN" dirty="0">
                <a:latin typeface="Times New Roman" panose="02020603050405020304" pitchFamily="18" charset="0"/>
              </a:endParaRPr>
            </a:p>
            <a:p>
              <a:pPr algn="just" eaLnBrk="1" hangingPunct="1">
                <a:lnSpc>
                  <a:spcPct val="96000"/>
                </a:lnSpc>
              </a:pPr>
              <a:r>
                <a:rPr lang="en-US" altLang="zh-CN" i="1" dirty="0">
                  <a:latin typeface="Times New Roman" panose="02020603050405020304" pitchFamily="18" charset="0"/>
                </a:rPr>
                <a:t>K</a:t>
              </a:r>
              <a:r>
                <a:rPr lang="en-US" altLang="zh-CN" baseline="-25000" dirty="0">
                  <a:latin typeface="Times New Roman" panose="02020603050405020304" pitchFamily="18" charset="0"/>
                </a:rPr>
                <a:t>1</a:t>
              </a:r>
              <a:endParaRPr lang="en-US" altLang="zh-CN" sz="5400" dirty="0">
                <a:latin typeface="Times New Roman" panose="02020603050405020304" pitchFamily="18" charset="0"/>
              </a:endParaRPr>
            </a:p>
          </p:txBody>
        </p:sp>
        <p:sp>
          <p:nvSpPr>
            <p:cNvPr id="29709" name="Freeform 15"/>
            <p:cNvSpPr/>
            <p:nvPr/>
          </p:nvSpPr>
          <p:spPr>
            <a:xfrm>
              <a:off x="2267" y="2010"/>
              <a:ext cx="62" cy="9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62" y="36"/>
                </a:cxn>
                <a:cxn ang="0">
                  <a:pos x="1" y="90"/>
                </a:cxn>
              </a:cxnLst>
              <a:pathLst>
                <a:path w="120" h="156">
                  <a:moveTo>
                    <a:pt x="0" y="0"/>
                  </a:moveTo>
                  <a:lnTo>
                    <a:pt x="120" y="63"/>
                  </a:lnTo>
                  <a:lnTo>
                    <a:pt x="1" y="156"/>
                  </a:lnTo>
                </a:path>
              </a:pathLst>
            </a:custGeom>
            <a:noFill/>
            <a:ln w="9525" cap="flat" cmpd="sng">
              <a:solidFill>
                <a:srgbClr val="3333FF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9710" name="Oval 16"/>
            <p:cNvSpPr/>
            <p:nvPr/>
          </p:nvSpPr>
          <p:spPr>
            <a:xfrm>
              <a:off x="2192" y="2037"/>
              <a:ext cx="57" cy="5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3333FF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9711" name="Line 17"/>
            <p:cNvSpPr/>
            <p:nvPr/>
          </p:nvSpPr>
          <p:spPr>
            <a:xfrm flipV="1">
              <a:off x="3101" y="1984"/>
              <a:ext cx="994" cy="0"/>
            </a:xfrm>
            <a:prstGeom prst="line">
              <a:avLst/>
            </a:prstGeom>
            <a:ln w="9525" cap="flat" cmpd="sng">
              <a:solidFill>
                <a:srgbClr val="3333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712" name="Line 18"/>
            <p:cNvSpPr/>
            <p:nvPr/>
          </p:nvSpPr>
          <p:spPr>
            <a:xfrm>
              <a:off x="3276" y="2304"/>
              <a:ext cx="181" cy="0"/>
            </a:xfrm>
            <a:prstGeom prst="line">
              <a:avLst/>
            </a:prstGeom>
            <a:ln w="9525" cap="flat" cmpd="sng">
              <a:solidFill>
                <a:srgbClr val="3333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713" name="Oval 19"/>
            <p:cNvSpPr/>
            <p:nvPr/>
          </p:nvSpPr>
          <p:spPr>
            <a:xfrm>
              <a:off x="4276" y="2034"/>
              <a:ext cx="57" cy="5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3333FF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9714" name="Rectangle 21"/>
            <p:cNvSpPr/>
            <p:nvPr/>
          </p:nvSpPr>
          <p:spPr>
            <a:xfrm>
              <a:off x="4616" y="1727"/>
              <a:ext cx="602" cy="688"/>
            </a:xfrm>
            <a:prstGeom prst="rect">
              <a:avLst/>
            </a:prstGeom>
            <a:solidFill>
              <a:srgbClr val="CCFFCC"/>
            </a:solidFill>
            <a:ln w="9525" cap="flat" cmpd="sng">
              <a:solidFill>
                <a:srgbClr val="3333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tIns="0" rIns="0" bIns="0"/>
            <a:p>
              <a:pPr algn="just" eaLnBrk="1" hangingPunct="1">
                <a:lnSpc>
                  <a:spcPct val="96000"/>
                </a:lnSpc>
              </a:pPr>
              <a:r>
                <a:rPr lang="en-US" altLang="zh-CN" i="1" dirty="0">
                  <a:latin typeface="宋体" panose="02010600030101010101" pitchFamily="2" charset="-122"/>
                </a:rPr>
                <a:t>J</a:t>
              </a:r>
              <a:r>
                <a:rPr lang="en-US" altLang="zh-CN" baseline="-25000" dirty="0">
                  <a:latin typeface="Times New Roman" panose="02020603050405020304" pitchFamily="18" charset="0"/>
                </a:rPr>
                <a:t>2</a:t>
              </a:r>
              <a:endParaRPr lang="en-US" altLang="zh-CN" i="1" dirty="0">
                <a:latin typeface="宋体" panose="02010600030101010101" pitchFamily="2" charset="-122"/>
              </a:endParaRPr>
            </a:p>
            <a:p>
              <a:pPr algn="just" eaLnBrk="1" hangingPunct="1">
                <a:lnSpc>
                  <a:spcPct val="96000"/>
                </a:lnSpc>
              </a:pPr>
              <a:r>
                <a:rPr lang="en-US" altLang="zh-CN" dirty="0">
                  <a:latin typeface="Times New Roman" panose="02020603050405020304" pitchFamily="18" charset="0"/>
                </a:rPr>
                <a:t> </a:t>
              </a:r>
              <a:r>
                <a:rPr lang="en-US" altLang="zh-CN" i="1" dirty="0">
                  <a:latin typeface="Times New Roman" panose="02020603050405020304" pitchFamily="18" charset="0"/>
                </a:rPr>
                <a:t>CP</a:t>
              </a:r>
              <a:r>
                <a:rPr lang="en-US" altLang="zh-CN" baseline="-25000" dirty="0">
                  <a:latin typeface="Times New Roman" panose="02020603050405020304" pitchFamily="18" charset="0"/>
                </a:rPr>
                <a:t>2</a:t>
              </a:r>
              <a:endParaRPr lang="en-US" altLang="zh-CN" dirty="0">
                <a:latin typeface="Times New Roman" panose="02020603050405020304" pitchFamily="18" charset="0"/>
              </a:endParaRPr>
            </a:p>
            <a:p>
              <a:pPr algn="just" eaLnBrk="1" hangingPunct="1">
                <a:lnSpc>
                  <a:spcPct val="96000"/>
                </a:lnSpc>
              </a:pPr>
              <a:r>
                <a:rPr lang="en-US" altLang="zh-CN" i="1" dirty="0">
                  <a:latin typeface="Times New Roman" panose="02020603050405020304" pitchFamily="18" charset="0"/>
                </a:rPr>
                <a:t>K</a:t>
              </a:r>
              <a:r>
                <a:rPr lang="en-US" altLang="zh-CN" baseline="-25000" dirty="0">
                  <a:latin typeface="Times New Roman" panose="02020603050405020304" pitchFamily="18" charset="0"/>
                </a:rPr>
                <a:t>2</a:t>
              </a:r>
              <a:endParaRPr lang="en-US" altLang="zh-CN" sz="5400" dirty="0">
                <a:latin typeface="Times New Roman" panose="02020603050405020304" pitchFamily="18" charset="0"/>
              </a:endParaRPr>
            </a:p>
          </p:txBody>
        </p:sp>
        <p:sp>
          <p:nvSpPr>
            <p:cNvPr id="29715" name="Freeform 22"/>
            <p:cNvSpPr/>
            <p:nvPr/>
          </p:nvSpPr>
          <p:spPr>
            <a:xfrm>
              <a:off x="4631" y="2015"/>
              <a:ext cx="62" cy="9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62" y="36"/>
                </a:cxn>
                <a:cxn ang="0">
                  <a:pos x="1" y="90"/>
                </a:cxn>
              </a:cxnLst>
              <a:pathLst>
                <a:path w="120" h="156">
                  <a:moveTo>
                    <a:pt x="0" y="0"/>
                  </a:moveTo>
                  <a:lnTo>
                    <a:pt x="120" y="63"/>
                  </a:lnTo>
                  <a:lnTo>
                    <a:pt x="1" y="156"/>
                  </a:lnTo>
                </a:path>
              </a:pathLst>
            </a:custGeom>
            <a:noFill/>
            <a:ln w="9525" cap="flat" cmpd="sng">
              <a:solidFill>
                <a:srgbClr val="3333FF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9716" name="Line 23"/>
            <p:cNvSpPr/>
            <p:nvPr/>
          </p:nvSpPr>
          <p:spPr>
            <a:xfrm>
              <a:off x="5233" y="2262"/>
              <a:ext cx="181" cy="0"/>
            </a:xfrm>
            <a:prstGeom prst="line">
              <a:avLst/>
            </a:prstGeom>
            <a:ln w="9525" cap="flat" cmpd="sng">
              <a:solidFill>
                <a:srgbClr val="3333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717" name="Oval 24"/>
            <p:cNvSpPr/>
            <p:nvPr/>
          </p:nvSpPr>
          <p:spPr>
            <a:xfrm>
              <a:off x="5221" y="2232"/>
              <a:ext cx="57" cy="51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3333FF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9718" name="Rectangle 25"/>
            <p:cNvSpPr/>
            <p:nvPr/>
          </p:nvSpPr>
          <p:spPr>
            <a:xfrm>
              <a:off x="1030" y="1711"/>
              <a:ext cx="602" cy="688"/>
            </a:xfrm>
            <a:prstGeom prst="rect">
              <a:avLst/>
            </a:prstGeom>
            <a:solidFill>
              <a:srgbClr val="CCFFCC"/>
            </a:solidFill>
            <a:ln w="9525" cap="flat" cmpd="sng">
              <a:solidFill>
                <a:srgbClr val="3333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tIns="0" rIns="0" bIns="0"/>
            <a:p>
              <a:pPr algn="just" eaLnBrk="1" hangingPunct="1">
                <a:lnSpc>
                  <a:spcPct val="96000"/>
                </a:lnSpc>
              </a:pPr>
              <a:r>
                <a:rPr lang="en-US" altLang="zh-CN" i="1" dirty="0">
                  <a:latin typeface="Times New Roman" panose="02020603050405020304" pitchFamily="18" charset="0"/>
                </a:rPr>
                <a:t>J</a:t>
              </a:r>
              <a:r>
                <a:rPr lang="en-US" altLang="zh-CN" baseline="-25000" dirty="0">
                  <a:latin typeface="Times New Roman" panose="02020603050405020304" pitchFamily="18" charset="0"/>
                </a:rPr>
                <a:t>0</a:t>
              </a:r>
              <a:endParaRPr lang="en-US" altLang="zh-CN" i="1" dirty="0">
                <a:latin typeface="Times New Roman" panose="02020603050405020304" pitchFamily="18" charset="0"/>
              </a:endParaRPr>
            </a:p>
            <a:p>
              <a:pPr algn="just" eaLnBrk="1" hangingPunct="1">
                <a:lnSpc>
                  <a:spcPct val="96000"/>
                </a:lnSpc>
              </a:pPr>
              <a:r>
                <a:rPr lang="en-US" altLang="zh-CN" dirty="0">
                  <a:latin typeface="Times New Roman" panose="02020603050405020304" pitchFamily="18" charset="0"/>
                </a:rPr>
                <a:t> </a:t>
              </a:r>
              <a:r>
                <a:rPr lang="en-US" altLang="zh-CN" i="1" dirty="0">
                  <a:latin typeface="Times New Roman" panose="02020603050405020304" pitchFamily="18" charset="0"/>
                </a:rPr>
                <a:t>CP</a:t>
              </a:r>
              <a:r>
                <a:rPr lang="en-US" altLang="zh-CN" baseline="-25000" dirty="0">
                  <a:latin typeface="Times New Roman" panose="02020603050405020304" pitchFamily="18" charset="0"/>
                </a:rPr>
                <a:t>0</a:t>
              </a:r>
              <a:endParaRPr lang="en-US" altLang="zh-CN" i="1" dirty="0">
                <a:latin typeface="Times New Roman" panose="02020603050405020304" pitchFamily="18" charset="0"/>
              </a:endParaRPr>
            </a:p>
            <a:p>
              <a:pPr algn="just" eaLnBrk="1" hangingPunct="1">
                <a:lnSpc>
                  <a:spcPct val="96000"/>
                </a:lnSpc>
              </a:pPr>
              <a:r>
                <a:rPr lang="en-US" altLang="zh-CN" i="1" dirty="0">
                  <a:latin typeface="Times New Roman" panose="02020603050405020304" pitchFamily="18" charset="0"/>
                </a:rPr>
                <a:t>K</a:t>
              </a:r>
              <a:r>
                <a:rPr lang="en-US" altLang="zh-CN" baseline="-25000" dirty="0">
                  <a:latin typeface="Times New Roman" panose="02020603050405020304" pitchFamily="18" charset="0"/>
                </a:rPr>
                <a:t>0</a:t>
              </a:r>
              <a:endParaRPr lang="en-US" altLang="zh-CN" sz="5400" dirty="0">
                <a:latin typeface="Times New Roman" panose="02020603050405020304" pitchFamily="18" charset="0"/>
              </a:endParaRPr>
            </a:p>
          </p:txBody>
        </p:sp>
        <p:sp>
          <p:nvSpPr>
            <p:cNvPr id="29719" name="Freeform 26"/>
            <p:cNvSpPr/>
            <p:nvPr/>
          </p:nvSpPr>
          <p:spPr>
            <a:xfrm>
              <a:off x="1045" y="2015"/>
              <a:ext cx="62" cy="9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62" y="36"/>
                </a:cxn>
                <a:cxn ang="0">
                  <a:pos x="1" y="90"/>
                </a:cxn>
              </a:cxnLst>
              <a:pathLst>
                <a:path w="120" h="156">
                  <a:moveTo>
                    <a:pt x="0" y="0"/>
                  </a:moveTo>
                  <a:lnTo>
                    <a:pt x="120" y="63"/>
                  </a:lnTo>
                  <a:lnTo>
                    <a:pt x="1" y="156"/>
                  </a:lnTo>
                </a:path>
              </a:pathLst>
            </a:custGeom>
            <a:noFill/>
            <a:ln w="9525" cap="flat" cmpd="sng">
              <a:solidFill>
                <a:srgbClr val="3333FF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9720" name="Line 27"/>
            <p:cNvSpPr/>
            <p:nvPr/>
          </p:nvSpPr>
          <p:spPr>
            <a:xfrm>
              <a:off x="506" y="2248"/>
              <a:ext cx="524" cy="0"/>
            </a:xfrm>
            <a:prstGeom prst="line">
              <a:avLst/>
            </a:prstGeom>
            <a:ln w="9525" cap="flat" cmpd="sng">
              <a:solidFill>
                <a:srgbClr val="3333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721" name="Line 28"/>
            <p:cNvSpPr/>
            <p:nvPr/>
          </p:nvSpPr>
          <p:spPr>
            <a:xfrm>
              <a:off x="653" y="2254"/>
              <a:ext cx="0" cy="464"/>
            </a:xfrm>
            <a:prstGeom prst="line">
              <a:avLst/>
            </a:prstGeom>
            <a:ln w="9525" cap="flat" cmpd="sng">
              <a:solidFill>
                <a:srgbClr val="3333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722" name="Line 29"/>
            <p:cNvSpPr/>
            <p:nvPr/>
          </p:nvSpPr>
          <p:spPr>
            <a:xfrm>
              <a:off x="1861" y="1838"/>
              <a:ext cx="0" cy="215"/>
            </a:xfrm>
            <a:prstGeom prst="line">
              <a:avLst/>
            </a:prstGeom>
            <a:ln w="9525" cap="flat" cmpd="sng">
              <a:solidFill>
                <a:srgbClr val="3333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723" name="Line 30"/>
            <p:cNvSpPr/>
            <p:nvPr/>
          </p:nvSpPr>
          <p:spPr>
            <a:xfrm>
              <a:off x="1876" y="2055"/>
              <a:ext cx="307" cy="0"/>
            </a:xfrm>
            <a:prstGeom prst="line">
              <a:avLst/>
            </a:prstGeom>
            <a:ln w="9525" cap="flat" cmpd="sng">
              <a:solidFill>
                <a:srgbClr val="3333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724" name="Oval 31"/>
            <p:cNvSpPr/>
            <p:nvPr/>
          </p:nvSpPr>
          <p:spPr>
            <a:xfrm>
              <a:off x="1635" y="2238"/>
              <a:ext cx="57" cy="5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3333FF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9725" name="Oval 32"/>
            <p:cNvSpPr/>
            <p:nvPr/>
          </p:nvSpPr>
          <p:spPr>
            <a:xfrm>
              <a:off x="961" y="2031"/>
              <a:ext cx="57" cy="51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3333FF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9726" name="Oval 33"/>
            <p:cNvSpPr/>
            <p:nvPr/>
          </p:nvSpPr>
          <p:spPr>
            <a:xfrm>
              <a:off x="2872" y="2217"/>
              <a:ext cx="58" cy="5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3333FF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9727" name="Oval 34"/>
            <p:cNvSpPr/>
            <p:nvPr/>
          </p:nvSpPr>
          <p:spPr>
            <a:xfrm>
              <a:off x="4556" y="2026"/>
              <a:ext cx="57" cy="5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3333FF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9728" name="Line 35"/>
            <p:cNvSpPr/>
            <p:nvPr/>
          </p:nvSpPr>
          <p:spPr>
            <a:xfrm flipH="1">
              <a:off x="4345" y="2055"/>
              <a:ext cx="218" cy="0"/>
            </a:xfrm>
            <a:prstGeom prst="line">
              <a:avLst/>
            </a:prstGeom>
            <a:ln w="9525" cap="flat" cmpd="sng">
              <a:solidFill>
                <a:srgbClr val="3333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729" name="Rectangle 36"/>
            <p:cNvSpPr/>
            <p:nvPr/>
          </p:nvSpPr>
          <p:spPr>
            <a:xfrm>
              <a:off x="4089" y="1928"/>
              <a:ext cx="181" cy="275"/>
            </a:xfrm>
            <a:prstGeom prst="rect">
              <a:avLst/>
            </a:prstGeom>
            <a:solidFill>
              <a:srgbClr val="CCFFCC"/>
            </a:solidFill>
            <a:ln w="9525" cap="flat" cmpd="sng">
              <a:solidFill>
                <a:srgbClr val="3333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tIns="0" rIns="0"/>
            <a:p>
              <a:pPr algn="ctr" eaLnBrk="1" hangingPunct="1"/>
              <a:r>
                <a:rPr lang="en-US" altLang="zh-CN" dirty="0">
                  <a:latin typeface="Times New Roman" panose="02020603050405020304" pitchFamily="18" charset="0"/>
                </a:rPr>
                <a:t>&amp;</a:t>
              </a:r>
              <a:endParaRPr lang="en-US" altLang="zh-CN" sz="5400" dirty="0">
                <a:latin typeface="Times New Roman" panose="02020603050405020304" pitchFamily="18" charset="0"/>
              </a:endParaRPr>
            </a:p>
          </p:txBody>
        </p:sp>
        <p:sp>
          <p:nvSpPr>
            <p:cNvPr id="29730" name="Line 37"/>
            <p:cNvSpPr/>
            <p:nvPr/>
          </p:nvSpPr>
          <p:spPr>
            <a:xfrm>
              <a:off x="3908" y="2108"/>
              <a:ext cx="181" cy="0"/>
            </a:xfrm>
            <a:prstGeom prst="line">
              <a:avLst/>
            </a:prstGeom>
            <a:ln w="9525" cap="flat" cmpd="sng">
              <a:solidFill>
                <a:srgbClr val="3333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731" name="Line 38"/>
            <p:cNvSpPr/>
            <p:nvPr/>
          </p:nvSpPr>
          <p:spPr>
            <a:xfrm flipH="1">
              <a:off x="3910" y="2108"/>
              <a:ext cx="1" cy="122"/>
            </a:xfrm>
            <a:prstGeom prst="line">
              <a:avLst/>
            </a:prstGeom>
            <a:ln w="9525" cap="flat" cmpd="sng">
              <a:solidFill>
                <a:srgbClr val="3333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732" name="Line 39"/>
            <p:cNvSpPr/>
            <p:nvPr/>
          </p:nvSpPr>
          <p:spPr>
            <a:xfrm flipH="1">
              <a:off x="3716" y="2227"/>
              <a:ext cx="180" cy="0"/>
            </a:xfrm>
            <a:prstGeom prst="line">
              <a:avLst/>
            </a:prstGeom>
            <a:ln w="9525" cap="flat" cmpd="sng">
              <a:solidFill>
                <a:srgbClr val="3333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733" name="Oval 40"/>
            <p:cNvSpPr/>
            <p:nvPr/>
          </p:nvSpPr>
          <p:spPr>
            <a:xfrm>
              <a:off x="3658" y="2203"/>
              <a:ext cx="58" cy="51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3333FF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9734" name="Rectangle 41"/>
            <p:cNvSpPr/>
            <p:nvPr/>
          </p:nvSpPr>
          <p:spPr>
            <a:xfrm>
              <a:off x="3472" y="2095"/>
              <a:ext cx="180" cy="275"/>
            </a:xfrm>
            <a:prstGeom prst="rect">
              <a:avLst/>
            </a:prstGeom>
            <a:solidFill>
              <a:srgbClr val="CCFFCC"/>
            </a:solidFill>
            <a:ln w="9525" cap="flat" cmpd="sng">
              <a:solidFill>
                <a:srgbClr val="3333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tIns="0" rIns="0"/>
            <a:p>
              <a:pPr algn="ctr" eaLnBrk="1" hangingPunct="1"/>
              <a:r>
                <a:rPr lang="en-US" altLang="zh-CN" dirty="0">
                  <a:latin typeface="Times New Roman" panose="02020603050405020304" pitchFamily="18" charset="0"/>
                </a:rPr>
                <a:t>&amp;</a:t>
              </a:r>
              <a:endParaRPr lang="en-US" altLang="zh-CN" sz="5400" dirty="0">
                <a:latin typeface="Times New Roman" panose="02020603050405020304" pitchFamily="18" charset="0"/>
              </a:endParaRPr>
            </a:p>
          </p:txBody>
        </p:sp>
        <p:sp>
          <p:nvSpPr>
            <p:cNvPr id="29735" name="Line 42"/>
            <p:cNvSpPr/>
            <p:nvPr/>
          </p:nvSpPr>
          <p:spPr>
            <a:xfrm>
              <a:off x="2915" y="2232"/>
              <a:ext cx="180" cy="0"/>
            </a:xfrm>
            <a:prstGeom prst="line">
              <a:avLst/>
            </a:prstGeom>
            <a:ln w="9525" cap="flat" cmpd="sng">
              <a:solidFill>
                <a:srgbClr val="3333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736" name="Line 43"/>
            <p:cNvSpPr/>
            <p:nvPr/>
          </p:nvSpPr>
          <p:spPr>
            <a:xfrm>
              <a:off x="3104" y="1997"/>
              <a:ext cx="0" cy="225"/>
            </a:xfrm>
            <a:prstGeom prst="line">
              <a:avLst/>
            </a:prstGeom>
            <a:ln w="9525" cap="flat" cmpd="sng">
              <a:solidFill>
                <a:srgbClr val="3333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737" name="Line 44"/>
            <p:cNvSpPr/>
            <p:nvPr/>
          </p:nvSpPr>
          <p:spPr>
            <a:xfrm flipH="1">
              <a:off x="3276" y="2180"/>
              <a:ext cx="181" cy="0"/>
            </a:xfrm>
            <a:prstGeom prst="line">
              <a:avLst/>
            </a:prstGeom>
            <a:ln w="9525" cap="flat" cmpd="sng">
              <a:solidFill>
                <a:srgbClr val="3333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738" name="Line 45"/>
            <p:cNvSpPr/>
            <p:nvPr/>
          </p:nvSpPr>
          <p:spPr>
            <a:xfrm flipV="1">
              <a:off x="3276" y="1492"/>
              <a:ext cx="0" cy="688"/>
            </a:xfrm>
            <a:prstGeom prst="line">
              <a:avLst/>
            </a:prstGeom>
            <a:ln w="9525" cap="flat" cmpd="sng">
              <a:solidFill>
                <a:srgbClr val="3333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739" name="Line 46"/>
            <p:cNvSpPr/>
            <p:nvPr/>
          </p:nvSpPr>
          <p:spPr>
            <a:xfrm>
              <a:off x="3276" y="1492"/>
              <a:ext cx="2071" cy="0"/>
            </a:xfrm>
            <a:prstGeom prst="line">
              <a:avLst/>
            </a:prstGeom>
            <a:ln w="9525" cap="flat" cmpd="sng">
              <a:solidFill>
                <a:srgbClr val="3333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740" name="Line 47"/>
            <p:cNvSpPr/>
            <p:nvPr/>
          </p:nvSpPr>
          <p:spPr>
            <a:xfrm flipH="1">
              <a:off x="5350" y="1492"/>
              <a:ext cx="1" cy="396"/>
            </a:xfrm>
            <a:prstGeom prst="line">
              <a:avLst/>
            </a:prstGeom>
            <a:ln w="9525" cap="flat" cmpd="sng">
              <a:solidFill>
                <a:srgbClr val="3333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741" name="Line 48"/>
            <p:cNvSpPr/>
            <p:nvPr/>
          </p:nvSpPr>
          <p:spPr>
            <a:xfrm>
              <a:off x="5218" y="1878"/>
              <a:ext cx="125" cy="0"/>
            </a:xfrm>
            <a:prstGeom prst="line">
              <a:avLst/>
            </a:prstGeom>
            <a:ln w="9525" cap="flat" cmpd="sng">
              <a:solidFill>
                <a:srgbClr val="3333FF"/>
              </a:solidFill>
              <a:prstDash val="solid"/>
              <a:headEnd type="none" w="med" len="med"/>
              <a:tailEnd type="none" w="med" len="med"/>
            </a:ln>
          </p:spPr>
        </p:sp>
        <p:graphicFrame>
          <p:nvGraphicFramePr>
            <p:cNvPr id="29742" name="Object 49"/>
            <p:cNvGraphicFramePr>
              <a:graphicFrameLocks noChangeAspect="1"/>
            </p:cNvGraphicFramePr>
            <p:nvPr/>
          </p:nvGraphicFramePr>
          <p:xfrm>
            <a:off x="2878" y="1931"/>
            <a:ext cx="241" cy="2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7" name="" r:id="rId1" imgW="177800" imgH="227965" progId="Equation.3">
                    <p:embed/>
                  </p:oleObj>
                </mc:Choice>
                <mc:Fallback>
                  <p:oleObj name="" r:id="rId1" imgW="177800" imgH="227965" progId="Equation.3">
                    <p:embed/>
                    <p:pic>
                      <p:nvPicPr>
                        <p:cNvPr id="0" name="图片 3076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2878" y="1931"/>
                          <a:ext cx="241" cy="27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743" name="Object 50"/>
            <p:cNvGraphicFramePr>
              <a:graphicFrameLocks noChangeAspect="1"/>
            </p:cNvGraphicFramePr>
            <p:nvPr/>
          </p:nvGraphicFramePr>
          <p:xfrm>
            <a:off x="5500" y="2092"/>
            <a:ext cx="256" cy="2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6" name="" r:id="rId3" imgW="203200" imgH="228600" progId="Equation.3">
                    <p:embed/>
                  </p:oleObj>
                </mc:Choice>
                <mc:Fallback>
                  <p:oleObj name="" r:id="rId3" imgW="203200" imgH="228600" progId="Equation.3">
                    <p:embed/>
                    <p:pic>
                      <p:nvPicPr>
                        <p:cNvPr id="0" name="图片 3075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5500" y="2092"/>
                          <a:ext cx="256" cy="27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9744" name="Oval 52"/>
            <p:cNvSpPr/>
            <p:nvPr/>
          </p:nvSpPr>
          <p:spPr>
            <a:xfrm>
              <a:off x="626" y="2222"/>
              <a:ext cx="61" cy="53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3333FF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9745" name="Line 53"/>
            <p:cNvSpPr/>
            <p:nvPr/>
          </p:nvSpPr>
          <p:spPr>
            <a:xfrm flipH="1">
              <a:off x="385" y="2053"/>
              <a:ext cx="566" cy="0"/>
            </a:xfrm>
            <a:prstGeom prst="line">
              <a:avLst/>
            </a:prstGeom>
            <a:ln w="9525" cap="flat" cmpd="sng">
              <a:solidFill>
                <a:srgbClr val="3333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746" name="Text Box 54"/>
            <p:cNvSpPr txBox="1"/>
            <p:nvPr/>
          </p:nvSpPr>
          <p:spPr>
            <a:xfrm>
              <a:off x="96" y="1693"/>
              <a:ext cx="554" cy="34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 eaLnBrk="1" hangingPunct="1"/>
              <a:r>
                <a:rPr lang="en-US" altLang="zh-CN" i="1" dirty="0">
                  <a:latin typeface="Times New Roman" panose="02020603050405020304" pitchFamily="18" charset="0"/>
                </a:rPr>
                <a:t>CP</a:t>
              </a:r>
              <a:endParaRPr lang="en-US" altLang="zh-CN" sz="5400" dirty="0">
                <a:latin typeface="Times New Roman" panose="02020603050405020304" pitchFamily="18" charset="0"/>
              </a:endParaRPr>
            </a:p>
          </p:txBody>
        </p:sp>
        <p:sp>
          <p:nvSpPr>
            <p:cNvPr id="29747" name="Line 55"/>
            <p:cNvSpPr/>
            <p:nvPr/>
          </p:nvSpPr>
          <p:spPr>
            <a:xfrm>
              <a:off x="4396" y="1862"/>
              <a:ext cx="0" cy="857"/>
            </a:xfrm>
            <a:prstGeom prst="line">
              <a:avLst/>
            </a:prstGeom>
            <a:ln w="9525" cap="flat" cmpd="sng">
              <a:solidFill>
                <a:srgbClr val="3333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748" name="Line 56"/>
            <p:cNvSpPr/>
            <p:nvPr/>
          </p:nvSpPr>
          <p:spPr>
            <a:xfrm>
              <a:off x="650" y="2719"/>
              <a:ext cx="3734" cy="0"/>
            </a:xfrm>
            <a:prstGeom prst="line">
              <a:avLst/>
            </a:prstGeom>
            <a:ln w="9525" cap="flat" cmpd="sng">
              <a:solidFill>
                <a:srgbClr val="3333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749" name="Line 57"/>
            <p:cNvSpPr/>
            <p:nvPr/>
          </p:nvSpPr>
          <p:spPr>
            <a:xfrm>
              <a:off x="4396" y="1862"/>
              <a:ext cx="229" cy="0"/>
            </a:xfrm>
            <a:prstGeom prst="line">
              <a:avLst/>
            </a:prstGeom>
            <a:ln w="9525" cap="flat" cmpd="sng">
              <a:solidFill>
                <a:srgbClr val="3333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750" name="Line 58"/>
            <p:cNvSpPr/>
            <p:nvPr/>
          </p:nvSpPr>
          <p:spPr>
            <a:xfrm>
              <a:off x="4396" y="2285"/>
              <a:ext cx="229" cy="0"/>
            </a:xfrm>
            <a:prstGeom prst="line">
              <a:avLst/>
            </a:prstGeom>
            <a:ln w="9525" cap="flat" cmpd="sng">
              <a:solidFill>
                <a:srgbClr val="3333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751" name="Oval 59"/>
            <p:cNvSpPr/>
            <p:nvPr/>
          </p:nvSpPr>
          <p:spPr>
            <a:xfrm>
              <a:off x="4372" y="2264"/>
              <a:ext cx="60" cy="53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3333FF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9752" name="Oval 60"/>
            <p:cNvSpPr/>
            <p:nvPr/>
          </p:nvSpPr>
          <p:spPr>
            <a:xfrm>
              <a:off x="771" y="2019"/>
              <a:ext cx="60" cy="53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3333FF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9753" name="Line 61"/>
            <p:cNvSpPr/>
            <p:nvPr/>
          </p:nvSpPr>
          <p:spPr>
            <a:xfrm>
              <a:off x="2023" y="1873"/>
              <a:ext cx="0" cy="857"/>
            </a:xfrm>
            <a:prstGeom prst="line">
              <a:avLst/>
            </a:prstGeom>
            <a:ln w="9525" cap="flat" cmpd="sng">
              <a:solidFill>
                <a:srgbClr val="3333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754" name="Line 62"/>
            <p:cNvSpPr/>
            <p:nvPr/>
          </p:nvSpPr>
          <p:spPr>
            <a:xfrm>
              <a:off x="2023" y="1873"/>
              <a:ext cx="229" cy="0"/>
            </a:xfrm>
            <a:prstGeom prst="line">
              <a:avLst/>
            </a:prstGeom>
            <a:ln w="9525" cap="flat" cmpd="sng">
              <a:solidFill>
                <a:srgbClr val="3333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755" name="Line 63"/>
            <p:cNvSpPr/>
            <p:nvPr/>
          </p:nvSpPr>
          <p:spPr>
            <a:xfrm>
              <a:off x="2023" y="2296"/>
              <a:ext cx="229" cy="0"/>
            </a:xfrm>
            <a:prstGeom prst="line">
              <a:avLst/>
            </a:prstGeom>
            <a:ln w="9525" cap="flat" cmpd="sng">
              <a:solidFill>
                <a:srgbClr val="3333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756" name="Oval 64"/>
            <p:cNvSpPr/>
            <p:nvPr/>
          </p:nvSpPr>
          <p:spPr>
            <a:xfrm>
              <a:off x="1999" y="2275"/>
              <a:ext cx="61" cy="53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3333FF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9757" name="Oval 65"/>
            <p:cNvSpPr/>
            <p:nvPr/>
          </p:nvSpPr>
          <p:spPr>
            <a:xfrm>
              <a:off x="1987" y="2698"/>
              <a:ext cx="60" cy="53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3333FF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9758" name="Line 66"/>
            <p:cNvSpPr/>
            <p:nvPr/>
          </p:nvSpPr>
          <p:spPr>
            <a:xfrm>
              <a:off x="799" y="2044"/>
              <a:ext cx="0" cy="892"/>
            </a:xfrm>
            <a:prstGeom prst="line">
              <a:avLst/>
            </a:prstGeom>
            <a:ln w="19050" cap="flat" cmpd="sng">
              <a:solidFill>
                <a:srgbClr val="3333FF"/>
              </a:solidFill>
              <a:prstDash val="solid"/>
              <a:headEnd type="none" w="med" len="med"/>
              <a:tailEnd type="none" w="lg" len="lg"/>
            </a:ln>
          </p:spPr>
        </p:sp>
        <p:sp>
          <p:nvSpPr>
            <p:cNvPr id="29759" name="Line 67"/>
            <p:cNvSpPr/>
            <p:nvPr/>
          </p:nvSpPr>
          <p:spPr>
            <a:xfrm>
              <a:off x="799" y="2936"/>
              <a:ext cx="2480" cy="0"/>
            </a:xfrm>
            <a:prstGeom prst="line">
              <a:avLst/>
            </a:prstGeom>
            <a:ln w="19050" cap="flat" cmpd="sng">
              <a:solidFill>
                <a:srgbClr val="3333FF"/>
              </a:solidFill>
              <a:prstDash val="solid"/>
              <a:headEnd type="none" w="med" len="med"/>
              <a:tailEnd type="none" w="lg" len="lg"/>
            </a:ln>
          </p:spPr>
        </p:sp>
        <p:sp>
          <p:nvSpPr>
            <p:cNvPr id="29760" name="Line 68"/>
            <p:cNvSpPr/>
            <p:nvPr/>
          </p:nvSpPr>
          <p:spPr>
            <a:xfrm>
              <a:off x="3279" y="2304"/>
              <a:ext cx="0" cy="632"/>
            </a:xfrm>
            <a:prstGeom prst="line">
              <a:avLst/>
            </a:prstGeom>
            <a:ln w="19050" cap="flat" cmpd="sng">
              <a:solidFill>
                <a:srgbClr val="3333FF"/>
              </a:solidFill>
              <a:prstDash val="solid"/>
              <a:headEnd type="none" w="med" len="med"/>
              <a:tailEnd type="none" w="lg" len="lg"/>
            </a:ln>
          </p:spPr>
        </p:sp>
      </p:grpSp>
    </p:spTree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30" name="Rectangle 13"/>
          <p:cNvSpPr/>
          <p:nvPr/>
        </p:nvSpPr>
        <p:spPr>
          <a:xfrm>
            <a:off x="4644708" y="4718050"/>
            <a:ext cx="1984375" cy="457200"/>
          </a:xfrm>
          <a:prstGeom prst="rect">
            <a:avLst/>
          </a:prstGeom>
          <a:noFill/>
          <a:ln w="19050">
            <a:noFill/>
          </a:ln>
        </p:spPr>
        <p:txBody>
          <a:bodyPr wrap="none" anchor="ctr" anchorCtr="0">
            <a:spAutoFit/>
          </a:bodyPr>
          <a:p>
            <a:pPr eaLnBrk="1" hangingPunct="1"/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，也来自在</a:t>
            </a:r>
            <a:endParaRPr lang="zh-CN" altLang="en-US" sz="4800" dirty="0">
              <a:latin typeface="Times New Roman" panose="02020603050405020304" pitchFamily="18" charset="0"/>
            </a:endParaRPr>
          </a:p>
        </p:txBody>
      </p:sp>
      <p:sp>
        <p:nvSpPr>
          <p:cNvPr id="30722" name="Rectangle 12"/>
          <p:cNvSpPr/>
          <p:nvPr/>
        </p:nvSpPr>
        <p:spPr>
          <a:xfrm>
            <a:off x="660400" y="3987800"/>
            <a:ext cx="4117975" cy="1187450"/>
          </a:xfrm>
          <a:prstGeom prst="rect">
            <a:avLst/>
          </a:prstGeom>
          <a:noFill/>
          <a:ln w="19050">
            <a:noFill/>
          </a:ln>
        </p:spPr>
        <p:txBody>
          <a:bodyPr wrap="none" anchor="ctr" anchorCtr="0">
            <a:spAutoFit/>
          </a:bodyPr>
          <a:p>
            <a:pPr indent="276225" eaLnBrk="1" hangingPunct="1"/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对</a:t>
            </a:r>
            <a:r>
              <a:rPr lang="en-US" altLang="zh-CN" i="1" dirty="0">
                <a:solidFill>
                  <a:srgbClr val="000000"/>
                </a:solidFill>
                <a:latin typeface="Times New Roman" panose="02020603050405020304" pitchFamily="18" charset="0"/>
              </a:rPr>
              <a:t>Q</a:t>
            </a:r>
            <a:r>
              <a:rPr lang="en-US" altLang="zh-CN" baseline="-30000" dirty="0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：    </a:t>
            </a:r>
            <a:r>
              <a:rPr lang="en-US" altLang="zh-CN" i="1" dirty="0">
                <a:solidFill>
                  <a:srgbClr val="000000"/>
                </a:solidFill>
                <a:latin typeface="Times New Roman" panose="02020603050405020304" pitchFamily="18" charset="0"/>
              </a:rPr>
              <a:t>J</a:t>
            </a:r>
            <a:r>
              <a:rPr lang="en-US" altLang="zh-CN" baseline="-30000" dirty="0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=1         </a:t>
            </a:r>
            <a:endParaRPr lang="en-US" altLang="zh-CN" sz="2500" dirty="0">
              <a:latin typeface="Times New Roman" panose="02020603050405020304" pitchFamily="18" charset="0"/>
            </a:endParaRPr>
          </a:p>
          <a:p>
            <a:pPr indent="276225"/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                </a:t>
            </a:r>
            <a:r>
              <a:rPr lang="en-US" altLang="zh-CN" i="1" dirty="0">
                <a:solidFill>
                  <a:srgbClr val="000000"/>
                </a:solidFill>
                <a:latin typeface="Times New Roman" panose="02020603050405020304" pitchFamily="18" charset="0"/>
              </a:rPr>
              <a:t>K</a:t>
            </a:r>
            <a:r>
              <a:rPr lang="en-US" altLang="zh-CN" baseline="-30000" dirty="0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=1</a:t>
            </a:r>
            <a:endParaRPr lang="en-US" altLang="zh-CN" sz="2500" dirty="0">
              <a:latin typeface="Times New Roman" panose="02020603050405020304" pitchFamily="18" charset="0"/>
            </a:endParaRPr>
          </a:p>
          <a:p>
            <a:pPr indent="276225"/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触发器的时钟既来自前级的</a:t>
            </a:r>
            <a:endParaRPr lang="zh-CN" altLang="en-US" sz="4800" dirty="0">
              <a:latin typeface="Times New Roman" panose="02020603050405020304" pitchFamily="18" charset="0"/>
            </a:endParaRPr>
          </a:p>
        </p:txBody>
      </p:sp>
      <p:sp>
        <p:nvSpPr>
          <p:cNvPr id="30723" name="Rectangle 11"/>
          <p:cNvSpPr/>
          <p:nvPr/>
        </p:nvSpPr>
        <p:spPr>
          <a:xfrm>
            <a:off x="544513" y="2019300"/>
            <a:ext cx="6442075" cy="1917700"/>
          </a:xfrm>
          <a:prstGeom prst="rect">
            <a:avLst/>
          </a:prstGeom>
          <a:noFill/>
          <a:ln w="19050">
            <a:noFill/>
          </a:ln>
        </p:spPr>
        <p:txBody>
          <a:bodyPr wrap="none" anchor="ctr" anchorCtr="0">
            <a:spAutoFit/>
          </a:bodyPr>
          <a:p>
            <a:pPr indent="276225" eaLnBrk="1" hangingPunct="1"/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               </a:t>
            </a:r>
            <a:r>
              <a:rPr lang="en-US" altLang="zh-CN" i="1" dirty="0">
                <a:solidFill>
                  <a:srgbClr val="000000"/>
                </a:solidFill>
                <a:latin typeface="Times New Roman" panose="02020603050405020304" pitchFamily="18" charset="0"/>
              </a:rPr>
              <a:t>K</a:t>
            </a:r>
            <a:r>
              <a:rPr lang="en-US" altLang="zh-CN" baseline="-30000" dirty="0">
                <a:solidFill>
                  <a:srgbClr val="000000"/>
                </a:solidFill>
                <a:latin typeface="Times New Roman" panose="02020603050405020304" pitchFamily="18" charset="0"/>
              </a:rPr>
              <a:t>0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＝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endParaRPr lang="en-US" altLang="zh-CN" sz="2500" dirty="0">
              <a:latin typeface="Times New Roman" panose="02020603050405020304" pitchFamily="18" charset="0"/>
            </a:endParaRPr>
          </a:p>
          <a:p>
            <a:pPr indent="276225"/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触发器的时钟就是外部时钟，所以</a:t>
            </a:r>
            <a:r>
              <a:rPr lang="en-US" altLang="zh-CN" i="1" dirty="0">
                <a:solidFill>
                  <a:srgbClr val="000000"/>
                </a:solidFill>
                <a:latin typeface="Times New Roman" panose="02020603050405020304" pitchFamily="18" charset="0"/>
              </a:rPr>
              <a:t>CP</a:t>
            </a:r>
            <a:r>
              <a:rPr lang="en-US" altLang="zh-CN" baseline="-30000" dirty="0">
                <a:solidFill>
                  <a:srgbClr val="000000"/>
                </a:solidFill>
                <a:latin typeface="Times New Roman" panose="02020603050405020304" pitchFamily="18" charset="0"/>
              </a:rPr>
              <a:t>0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=</a:t>
            </a:r>
            <a:r>
              <a:rPr lang="en-US" altLang="zh-CN" i="1" dirty="0">
                <a:solidFill>
                  <a:srgbClr val="000000"/>
                </a:solidFill>
                <a:latin typeface="Times New Roman" panose="02020603050405020304" pitchFamily="18" charset="0"/>
              </a:rPr>
              <a:t>CP=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endParaRPr lang="en-US" altLang="zh-CN" sz="2500" dirty="0">
              <a:latin typeface="Times New Roman" panose="02020603050405020304" pitchFamily="18" charset="0"/>
            </a:endParaRPr>
          </a:p>
          <a:p>
            <a:pPr indent="276225"/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对</a:t>
            </a:r>
            <a:r>
              <a:rPr lang="en-US" altLang="zh-CN" i="1" dirty="0">
                <a:solidFill>
                  <a:srgbClr val="000000"/>
                </a:solidFill>
                <a:latin typeface="Times New Roman" panose="02020603050405020304" pitchFamily="18" charset="0"/>
              </a:rPr>
              <a:t>Q</a:t>
            </a:r>
            <a:r>
              <a:rPr lang="en-US" altLang="zh-CN" baseline="-30000" dirty="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：    </a:t>
            </a:r>
            <a:r>
              <a:rPr lang="en-US" altLang="zh-CN" i="1" dirty="0">
                <a:solidFill>
                  <a:srgbClr val="000000"/>
                </a:solidFill>
                <a:latin typeface="Times New Roman" panose="02020603050405020304" pitchFamily="18" charset="0"/>
              </a:rPr>
              <a:t>J</a:t>
            </a:r>
            <a:r>
              <a:rPr lang="en-US" altLang="zh-CN" baseline="-30000" dirty="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=1 </a:t>
            </a:r>
            <a:endParaRPr lang="en-US" altLang="zh-CN" sz="2500" dirty="0">
              <a:latin typeface="Times New Roman" panose="02020603050405020304" pitchFamily="18" charset="0"/>
            </a:endParaRPr>
          </a:p>
          <a:p>
            <a:pPr indent="276225"/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                </a:t>
            </a:r>
            <a:r>
              <a:rPr lang="en-US" altLang="zh-CN" i="1" dirty="0">
                <a:solidFill>
                  <a:srgbClr val="000000"/>
                </a:solidFill>
                <a:latin typeface="Times New Roman" panose="02020603050405020304" pitchFamily="18" charset="0"/>
              </a:rPr>
              <a:t>K</a:t>
            </a:r>
            <a:r>
              <a:rPr lang="en-US" altLang="zh-CN" baseline="-30000" dirty="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=1</a:t>
            </a:r>
            <a:endParaRPr lang="en-US" altLang="zh-CN" sz="2500" dirty="0">
              <a:latin typeface="Times New Roman" panose="02020603050405020304" pitchFamily="18" charset="0"/>
            </a:endParaRPr>
          </a:p>
          <a:p>
            <a:pPr indent="276225"/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触发器的时钟来自前级触发器的输出，所以</a:t>
            </a:r>
            <a:endParaRPr lang="zh-CN" altLang="en-US" sz="4800" dirty="0">
              <a:latin typeface="Times New Roman" panose="02020603050405020304" pitchFamily="18" charset="0"/>
            </a:endParaRPr>
          </a:p>
        </p:txBody>
      </p:sp>
      <p:graphicFrame>
        <p:nvGraphicFramePr>
          <p:cNvPr id="30724" name="Object 9"/>
          <p:cNvGraphicFramePr/>
          <p:nvPr/>
        </p:nvGraphicFramePr>
        <p:xfrm>
          <a:off x="1901825" y="1489075"/>
          <a:ext cx="107315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7" name="" r:id="rId1" imgW="495300" imgH="228600" progId="Equation.3">
                  <p:embed/>
                </p:oleObj>
              </mc:Choice>
              <mc:Fallback>
                <p:oleObj name="" r:id="rId1" imgW="495300" imgH="228600" progId="Equation.3">
                  <p:embed/>
                  <p:pic>
                    <p:nvPicPr>
                      <p:cNvPr id="0" name="图片 308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901825" y="1489075"/>
                        <a:ext cx="1073150" cy="495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25" name="Object 8"/>
          <p:cNvGraphicFramePr/>
          <p:nvPr/>
        </p:nvGraphicFramePr>
        <p:xfrm>
          <a:off x="6799263" y="3486150"/>
          <a:ext cx="2344737" cy="465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4" name="" r:id="rId3" imgW="1155700" imgH="228600" progId="Equation.3">
                  <p:embed/>
                </p:oleObj>
              </mc:Choice>
              <mc:Fallback>
                <p:oleObj name="" r:id="rId3" imgW="1155700" imgH="228600" progId="Equation.3">
                  <p:embed/>
                  <p:pic>
                    <p:nvPicPr>
                      <p:cNvPr id="0" name="图片 308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799263" y="3486150"/>
                        <a:ext cx="2344737" cy="4651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26" name="Object 7"/>
          <p:cNvGraphicFramePr/>
          <p:nvPr/>
        </p:nvGraphicFramePr>
        <p:xfrm>
          <a:off x="4717415" y="4717733"/>
          <a:ext cx="396875" cy="414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5" name="" r:id="rId5" imgW="215900" imgH="228600" progId="Equation.3">
                  <p:embed/>
                </p:oleObj>
              </mc:Choice>
              <mc:Fallback>
                <p:oleObj name="" r:id="rId5" imgW="215900" imgH="228600" progId="Equation.3">
                  <p:embed/>
                  <p:pic>
                    <p:nvPicPr>
                      <p:cNvPr id="0" name="图片 3084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717415" y="4717733"/>
                        <a:ext cx="396875" cy="4143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27" name="Object 6"/>
          <p:cNvGraphicFramePr/>
          <p:nvPr/>
        </p:nvGraphicFramePr>
        <p:xfrm>
          <a:off x="6338570" y="4668520"/>
          <a:ext cx="404813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" r:id="rId7" imgW="203200" imgH="228600" progId="Equation.3">
                  <p:embed/>
                </p:oleObj>
              </mc:Choice>
              <mc:Fallback>
                <p:oleObj name="" r:id="rId7" imgW="203200" imgH="228600" progId="Equation.3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338570" y="4668520"/>
                        <a:ext cx="404813" cy="4635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28" name="Object 5"/>
          <p:cNvGraphicFramePr/>
          <p:nvPr/>
        </p:nvGraphicFramePr>
        <p:xfrm>
          <a:off x="1218406" y="5235417"/>
          <a:ext cx="5924550" cy="7258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8" name="" r:id="rId9" imgW="2451100" imgH="304800" progId="Equation.DSMT4">
                  <p:embed/>
                </p:oleObj>
              </mc:Choice>
              <mc:Fallback>
                <p:oleObj name="" r:id="rId9" imgW="2451100" imgH="304800" progId="Equation.DSMT4">
                  <p:embed/>
                  <p:pic>
                    <p:nvPicPr>
                      <p:cNvPr id="0" name="图片 3087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218406" y="5235417"/>
                        <a:ext cx="5924550" cy="72580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29" name="Rectangle 10"/>
          <p:cNvSpPr/>
          <p:nvPr/>
        </p:nvSpPr>
        <p:spPr>
          <a:xfrm>
            <a:off x="528638" y="968375"/>
            <a:ext cx="5449887" cy="822325"/>
          </a:xfrm>
          <a:prstGeom prst="rect">
            <a:avLst/>
          </a:prstGeom>
          <a:noFill/>
          <a:ln w="19050">
            <a:noFill/>
          </a:ln>
        </p:spPr>
        <p:txBody>
          <a:bodyPr wrap="none" anchor="ctr" anchorCtr="0">
            <a:spAutoFit/>
          </a:bodyPr>
          <a:p>
            <a:pPr indent="276225" eaLnBrk="1" hangingPunct="1"/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</a:rPr>
              <a:t>解：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（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）求输出函数和控制函数：</a:t>
            </a:r>
            <a:endParaRPr lang="zh-CN" altLang="en-US" sz="2500" dirty="0">
              <a:latin typeface="Times New Roman" panose="02020603050405020304" pitchFamily="18" charset="0"/>
            </a:endParaRPr>
          </a:p>
          <a:p>
            <a:pPr indent="276225"/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对</a:t>
            </a:r>
            <a:r>
              <a:rPr lang="en-US" altLang="zh-CN" i="1" dirty="0">
                <a:solidFill>
                  <a:srgbClr val="000000"/>
                </a:solidFill>
                <a:latin typeface="Times New Roman" panose="02020603050405020304" pitchFamily="18" charset="0"/>
              </a:rPr>
              <a:t>Q</a:t>
            </a:r>
            <a:r>
              <a:rPr lang="en-US" altLang="zh-CN" baseline="-30000" dirty="0">
                <a:solidFill>
                  <a:srgbClr val="000000"/>
                </a:solidFill>
                <a:latin typeface="Times New Roman" panose="02020603050405020304" pitchFamily="18" charset="0"/>
              </a:rPr>
              <a:t>0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：        </a:t>
            </a:r>
            <a:endParaRPr lang="zh-CN" altLang="en-US" sz="4800" dirty="0">
              <a:latin typeface="Times New Roman" panose="02020603050405020304" pitchFamily="18" charset="0"/>
            </a:endParaRPr>
          </a:p>
        </p:txBody>
      </p:sp>
      <p:sp>
        <p:nvSpPr>
          <p:cNvPr id="30731" name="Text Box 16"/>
          <p:cNvSpPr txBox="1"/>
          <p:nvPr/>
        </p:nvSpPr>
        <p:spPr>
          <a:xfrm>
            <a:off x="7046913" y="4718050"/>
            <a:ext cx="2097087" cy="457200"/>
          </a:xfrm>
          <a:prstGeom prst="rect">
            <a:avLst/>
          </a:prstGeom>
          <a:noFill/>
          <a:ln w="19050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控制下的</a:t>
            </a:r>
            <a:r>
              <a:rPr lang="en-US" altLang="zh-CN" i="1" dirty="0">
                <a:latin typeface="Times New Roman" panose="02020603050405020304" pitchFamily="18" charset="0"/>
              </a:rPr>
              <a:t>CP</a:t>
            </a:r>
            <a:r>
              <a:rPr lang="zh-CN" altLang="en-US" dirty="0">
                <a:latin typeface="Times New Roman" panose="02020603050405020304" pitchFamily="18" charset="0"/>
              </a:rPr>
              <a:t>。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2" name="Object 7"/>
          <p:cNvGraphicFramePr/>
          <p:nvPr/>
        </p:nvGraphicFramePr>
        <p:xfrm>
          <a:off x="6743700" y="4717733"/>
          <a:ext cx="396875" cy="414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11" imgW="215900" imgH="228600" progId="Equation.3">
                  <p:embed/>
                </p:oleObj>
              </mc:Choice>
              <mc:Fallback>
                <p:oleObj name="" r:id="rId11" imgW="215900" imgH="228600" progId="Equation.3">
                  <p:embed/>
                  <p:pic>
                    <p:nvPicPr>
                      <p:cNvPr id="0" name="图片 3084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743700" y="4717733"/>
                        <a:ext cx="396875" cy="4143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7"/>
          <p:cNvGraphicFramePr/>
          <p:nvPr/>
        </p:nvGraphicFramePr>
        <p:xfrm>
          <a:off x="3982720" y="5423218"/>
          <a:ext cx="396875" cy="414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" r:id="rId12" imgW="215900" imgH="228600" progId="Equation.3">
                  <p:embed/>
                </p:oleObj>
              </mc:Choice>
              <mc:Fallback>
                <p:oleObj name="" r:id="rId12" imgW="215900" imgH="228600" progId="Equation.3">
                  <p:embed/>
                  <p:pic>
                    <p:nvPicPr>
                      <p:cNvPr id="0" name="图片 3084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982720" y="5423218"/>
                        <a:ext cx="396875" cy="4143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31746" name="Object 2"/>
          <p:cNvGraphicFramePr/>
          <p:nvPr/>
        </p:nvGraphicFramePr>
        <p:xfrm>
          <a:off x="671513" y="4229100"/>
          <a:ext cx="6389687" cy="709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" name="" r:id="rId1" imgW="2171065" imgH="241300" progId="Equation.3">
                  <p:embed/>
                </p:oleObj>
              </mc:Choice>
              <mc:Fallback>
                <p:oleObj name="" r:id="rId1" imgW="2171065" imgH="241300" progId="Equation.3">
                  <p:embed/>
                  <p:pic>
                    <p:nvPicPr>
                      <p:cNvPr id="0" name="图片 307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71513" y="4229100"/>
                        <a:ext cx="6389687" cy="7096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47" name="Object 3"/>
          <p:cNvGraphicFramePr/>
          <p:nvPr/>
        </p:nvGraphicFramePr>
        <p:xfrm>
          <a:off x="712788" y="4865688"/>
          <a:ext cx="7489825" cy="746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0" name="" r:id="rId3" imgW="2550795" imgH="254000" progId="Equation.3">
                  <p:embed/>
                </p:oleObj>
              </mc:Choice>
              <mc:Fallback>
                <p:oleObj name="" r:id="rId3" imgW="2550795" imgH="254000" progId="Equation.3">
                  <p:embed/>
                  <p:pic>
                    <p:nvPicPr>
                      <p:cNvPr id="0" name="图片 3079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12788" y="4865688"/>
                        <a:ext cx="7489825" cy="7461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48" name="Object 4"/>
          <p:cNvGraphicFramePr/>
          <p:nvPr/>
        </p:nvGraphicFramePr>
        <p:xfrm>
          <a:off x="577850" y="5700713"/>
          <a:ext cx="7989888" cy="547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1" name="" r:id="rId5" imgW="2804160" imgH="254000" progId="Equation.DSMT4">
                  <p:embed/>
                </p:oleObj>
              </mc:Choice>
              <mc:Fallback>
                <p:oleObj name="" r:id="rId5" imgW="2804160" imgH="254000" progId="Equation.DSMT4">
                  <p:embed/>
                  <p:pic>
                    <p:nvPicPr>
                      <p:cNvPr id="0" name="图片 3080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77850" y="5700713"/>
                        <a:ext cx="7989888" cy="5476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49" name="Rectangle 5"/>
          <p:cNvSpPr/>
          <p:nvPr/>
        </p:nvSpPr>
        <p:spPr>
          <a:xfrm>
            <a:off x="323850" y="1062038"/>
            <a:ext cx="6134100" cy="457200"/>
          </a:xfrm>
          <a:prstGeom prst="rect">
            <a:avLst/>
          </a:prstGeom>
          <a:noFill/>
          <a:ln w="19050">
            <a:noFill/>
          </a:ln>
        </p:spPr>
        <p:txBody>
          <a:bodyPr wrap="none" anchor="ctr" anchorCtr="0">
            <a:spAutoFit/>
          </a:bodyPr>
          <a:p>
            <a:pPr indent="276225" eaLnBrk="1" hangingPunct="1"/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（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）从触发器</a:t>
            </a:r>
            <a:r>
              <a:rPr lang="en-US" altLang="zh-CN" i="1" dirty="0">
                <a:solidFill>
                  <a:srgbClr val="000000"/>
                </a:solidFill>
                <a:latin typeface="Times New Roman" panose="02020603050405020304" pitchFamily="18" charset="0"/>
              </a:rPr>
              <a:t>Q</a:t>
            </a:r>
            <a:r>
              <a:rPr lang="en-US" altLang="zh-CN" baseline="-30000" dirty="0">
                <a:solidFill>
                  <a:srgbClr val="000000"/>
                </a:solidFill>
                <a:latin typeface="Times New Roman" panose="02020603050405020304" pitchFamily="18" charset="0"/>
              </a:rPr>
              <a:t>0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到</a:t>
            </a:r>
            <a:r>
              <a:rPr lang="en-US" altLang="zh-CN" i="1" dirty="0">
                <a:solidFill>
                  <a:srgbClr val="000000"/>
                </a:solidFill>
                <a:latin typeface="Times New Roman" panose="02020603050405020304" pitchFamily="18" charset="0"/>
              </a:rPr>
              <a:t>Q</a:t>
            </a:r>
            <a:r>
              <a:rPr lang="en-US" altLang="zh-CN" baseline="-30000" dirty="0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依次写出次态方程：</a:t>
            </a:r>
            <a:endParaRPr lang="zh-CN" altLang="en-US" sz="4800" dirty="0">
              <a:latin typeface="Times New Roman" panose="02020603050405020304" pitchFamily="18" charset="0"/>
            </a:endParaRPr>
          </a:p>
        </p:txBody>
      </p:sp>
      <p:sp>
        <p:nvSpPr>
          <p:cNvPr id="31750" name="Rectangle 6"/>
          <p:cNvSpPr/>
          <p:nvPr/>
        </p:nvSpPr>
        <p:spPr>
          <a:xfrm>
            <a:off x="0" y="3848100"/>
            <a:ext cx="9144000" cy="0"/>
          </a:xfrm>
          <a:prstGeom prst="rect">
            <a:avLst/>
          </a:prstGeom>
          <a:noFill/>
          <a:ln w="19050">
            <a:noFill/>
          </a:ln>
        </p:spPr>
        <p:txBody>
          <a:bodyPr wrap="none" anchor="ctr" anchorCtr="0">
            <a:spAutoFit/>
          </a:bodyPr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31751" name="Object 7"/>
          <p:cNvGraphicFramePr/>
          <p:nvPr/>
        </p:nvGraphicFramePr>
        <p:xfrm>
          <a:off x="855663" y="2884488"/>
          <a:ext cx="2865437" cy="568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2" name="" r:id="rId7" imgW="1155700" imgH="228600" progId="Equation.3">
                  <p:embed/>
                </p:oleObj>
              </mc:Choice>
              <mc:Fallback>
                <p:oleObj name="" r:id="rId7" imgW="1155700" imgH="228600" progId="Equation.3">
                  <p:embed/>
                  <p:pic>
                    <p:nvPicPr>
                      <p:cNvPr id="0" name="图片 3081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855663" y="2884488"/>
                        <a:ext cx="2865437" cy="5683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52" name="Object 8"/>
          <p:cNvGraphicFramePr/>
          <p:nvPr/>
        </p:nvGraphicFramePr>
        <p:xfrm>
          <a:off x="573088" y="3333750"/>
          <a:ext cx="5918200" cy="725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3" name="" r:id="rId9" imgW="2449195" imgH="304800" progId="Equation.DSMT4">
                  <p:embed/>
                </p:oleObj>
              </mc:Choice>
              <mc:Fallback>
                <p:oleObj name="" r:id="rId9" imgW="2449195" imgH="304800" progId="Equation.DSMT4">
                  <p:embed/>
                  <p:pic>
                    <p:nvPicPr>
                      <p:cNvPr id="0" name="图片 3082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73088" y="3333750"/>
                        <a:ext cx="5918200" cy="7254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53" name="Rectangle 9"/>
          <p:cNvSpPr/>
          <p:nvPr/>
        </p:nvSpPr>
        <p:spPr>
          <a:xfrm>
            <a:off x="814388" y="2398713"/>
            <a:ext cx="1830387" cy="519112"/>
          </a:xfrm>
          <a:prstGeom prst="rect">
            <a:avLst/>
          </a:prstGeom>
          <a:noFill/>
          <a:ln w="19050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CP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0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=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CP=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endParaRPr lang="en-US" altLang="zh-CN" sz="280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31754" name="Object 10"/>
          <p:cNvGraphicFramePr/>
          <p:nvPr/>
        </p:nvGraphicFramePr>
        <p:xfrm>
          <a:off x="1177925" y="1666875"/>
          <a:ext cx="107315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6" name="" r:id="rId11" imgW="495300" imgH="228600" progId="Equation.3">
                  <p:embed/>
                </p:oleObj>
              </mc:Choice>
              <mc:Fallback>
                <p:oleObj name="" r:id="rId11" imgW="495300" imgH="228600" progId="Equation.3">
                  <p:embed/>
                  <p:pic>
                    <p:nvPicPr>
                      <p:cNvPr id="0" name="图片 3085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177925" y="1666875"/>
                        <a:ext cx="1073150" cy="495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55" name="Rectangle 11"/>
          <p:cNvSpPr/>
          <p:nvPr/>
        </p:nvSpPr>
        <p:spPr>
          <a:xfrm>
            <a:off x="2540000" y="1695450"/>
            <a:ext cx="2714625" cy="457200"/>
          </a:xfrm>
          <a:prstGeom prst="rect">
            <a:avLst/>
          </a:prstGeom>
          <a:noFill/>
          <a:ln w="19050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i="1" dirty="0">
                <a:solidFill>
                  <a:srgbClr val="000000"/>
                </a:solidFill>
                <a:latin typeface="Times New Roman" panose="02020603050405020304" pitchFamily="18" charset="0"/>
              </a:rPr>
              <a:t>K</a:t>
            </a:r>
            <a:r>
              <a:rPr lang="en-US" altLang="zh-CN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0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=</a:t>
            </a:r>
            <a:r>
              <a:rPr lang="en-US" altLang="zh-CN" i="1" dirty="0">
                <a:solidFill>
                  <a:srgbClr val="000000"/>
                </a:solidFill>
                <a:latin typeface="Times New Roman" panose="02020603050405020304" pitchFamily="18" charset="0"/>
              </a:rPr>
              <a:t>J</a:t>
            </a:r>
            <a:r>
              <a:rPr lang="en-US" altLang="zh-CN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=</a:t>
            </a:r>
            <a:r>
              <a:rPr lang="en-US" altLang="zh-CN" i="1" dirty="0">
                <a:solidFill>
                  <a:srgbClr val="000000"/>
                </a:solidFill>
                <a:latin typeface="Times New Roman" panose="02020603050405020304" pitchFamily="18" charset="0"/>
              </a:rPr>
              <a:t>K</a:t>
            </a:r>
            <a:r>
              <a:rPr lang="en-US" altLang="zh-CN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=</a:t>
            </a:r>
            <a:r>
              <a:rPr lang="en-US" altLang="zh-CN" i="1" dirty="0">
                <a:solidFill>
                  <a:srgbClr val="000000"/>
                </a:solidFill>
                <a:latin typeface="Times New Roman" panose="02020603050405020304" pitchFamily="18" charset="0"/>
              </a:rPr>
              <a:t>J</a:t>
            </a:r>
            <a:r>
              <a:rPr lang="en-US" altLang="zh-CN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=</a:t>
            </a:r>
            <a:r>
              <a:rPr lang="en-US" altLang="zh-CN" i="1" dirty="0">
                <a:solidFill>
                  <a:srgbClr val="000000"/>
                </a:solidFill>
                <a:latin typeface="Times New Roman" panose="02020603050405020304" pitchFamily="18" charset="0"/>
              </a:rPr>
              <a:t>K</a:t>
            </a:r>
            <a:r>
              <a:rPr lang="en-US" altLang="zh-CN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＝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endParaRPr lang="en-US" altLang="zh-CN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31756" name="Group 12"/>
          <p:cNvGrpSpPr/>
          <p:nvPr/>
        </p:nvGrpSpPr>
        <p:grpSpPr>
          <a:xfrm>
            <a:off x="3349625" y="2078038"/>
            <a:ext cx="5110163" cy="1395412"/>
            <a:chOff x="2110" y="1309"/>
            <a:chExt cx="3219" cy="879"/>
          </a:xfrm>
        </p:grpSpPr>
        <p:grpSp>
          <p:nvGrpSpPr>
            <p:cNvPr id="31757" name="Group 13"/>
            <p:cNvGrpSpPr/>
            <p:nvPr/>
          </p:nvGrpSpPr>
          <p:grpSpPr>
            <a:xfrm>
              <a:off x="2110" y="1309"/>
              <a:ext cx="3219" cy="879"/>
              <a:chOff x="911" y="1453"/>
              <a:chExt cx="3219" cy="879"/>
            </a:xfrm>
          </p:grpSpPr>
          <p:sp>
            <p:nvSpPr>
              <p:cNvPr id="31759" name="Rectangle 14" descr="羊皮纸"/>
              <p:cNvSpPr/>
              <p:nvPr/>
            </p:nvSpPr>
            <p:spPr>
              <a:xfrm>
                <a:off x="1653" y="1897"/>
                <a:ext cx="2477" cy="435"/>
              </a:xfrm>
              <a:prstGeom prst="rect">
                <a:avLst/>
              </a:prstGeom>
              <a:blipFill rotWithShape="1">
                <a:blip r:embed="rId13"/>
              </a:blipFill>
              <a:ln w="19050">
                <a:noFill/>
              </a:ln>
            </p:spPr>
            <p:txBody>
              <a:bodyPr wrap="none">
                <a:spAutoFit/>
              </a:bodyPr>
              <a:p>
                <a:pPr algn="just" eaLnBrk="1" hangingPunct="1">
                  <a:lnSpc>
                    <a:spcPct val="140000"/>
                  </a:lnSpc>
                </a:pPr>
                <a:r>
                  <a:rPr lang="en-US" altLang="zh-CN" sz="2800" i="1" dirty="0">
                    <a:solidFill>
                      <a:srgbClr val="FF3300"/>
                    </a:solidFill>
                    <a:latin typeface="Times New Roman" panose="02020603050405020304" pitchFamily="18" charset="0"/>
                    <a:sym typeface="Monotype Sorts" pitchFamily="2" charset="2"/>
                  </a:rPr>
                  <a:t>Q</a:t>
                </a:r>
                <a:r>
                  <a:rPr lang="en-US" altLang="zh-CN" sz="2800" baseline="30000" dirty="0">
                    <a:solidFill>
                      <a:srgbClr val="FF3300"/>
                    </a:solidFill>
                    <a:latin typeface="Times New Roman" panose="02020603050405020304" pitchFamily="18" charset="0"/>
                    <a:sym typeface="Monotype Sorts" pitchFamily="2" charset="2"/>
                  </a:rPr>
                  <a:t>(</a:t>
                </a:r>
                <a:r>
                  <a:rPr lang="en-US" altLang="zh-CN" sz="2800" i="1" baseline="30000" dirty="0">
                    <a:solidFill>
                      <a:srgbClr val="FF3300"/>
                    </a:solidFill>
                    <a:latin typeface="Times New Roman" panose="02020603050405020304" pitchFamily="18" charset="0"/>
                    <a:sym typeface="Monotype Sorts" pitchFamily="2" charset="2"/>
                  </a:rPr>
                  <a:t>n</a:t>
                </a:r>
                <a:r>
                  <a:rPr lang="en-US" altLang="zh-CN" sz="2800" baseline="30000" dirty="0">
                    <a:solidFill>
                      <a:srgbClr val="FF3300"/>
                    </a:solidFill>
                    <a:latin typeface="Times New Roman" panose="02020603050405020304" pitchFamily="18" charset="0"/>
                    <a:sym typeface="Monotype Sorts" pitchFamily="2" charset="2"/>
                  </a:rPr>
                  <a:t>+1)</a:t>
                </a:r>
                <a:r>
                  <a:rPr lang="en-US" altLang="zh-CN" sz="2800" dirty="0">
                    <a:solidFill>
                      <a:srgbClr val="FF3300"/>
                    </a:solidFill>
                    <a:latin typeface="Times New Roman" panose="02020603050405020304" pitchFamily="18" charset="0"/>
                    <a:sym typeface="Monotype Sorts" pitchFamily="2" charset="2"/>
                  </a:rPr>
                  <a:t>=(</a:t>
                </a:r>
                <a:r>
                  <a:rPr lang="en-US" altLang="zh-CN" sz="2800" i="1" dirty="0">
                    <a:solidFill>
                      <a:srgbClr val="FF3300"/>
                    </a:solidFill>
                    <a:latin typeface="Times New Roman" panose="02020603050405020304" pitchFamily="18" charset="0"/>
                    <a:sym typeface="Monotype Sorts" pitchFamily="2" charset="2"/>
                  </a:rPr>
                  <a:t>JQ</a:t>
                </a:r>
                <a:r>
                  <a:rPr lang="en-US" altLang="zh-CN" sz="2800" dirty="0">
                    <a:solidFill>
                      <a:srgbClr val="FF3300"/>
                    </a:solidFill>
                    <a:latin typeface="Times New Roman" panose="02020603050405020304" pitchFamily="18" charset="0"/>
                    <a:sym typeface="Monotype Sorts" pitchFamily="2" charset="2"/>
                  </a:rPr>
                  <a:t>+</a:t>
                </a:r>
                <a:r>
                  <a:rPr lang="en-US" altLang="zh-CN" sz="2800" i="1" dirty="0">
                    <a:solidFill>
                      <a:srgbClr val="FF3300"/>
                    </a:solidFill>
                    <a:latin typeface="Times New Roman" panose="02020603050405020304" pitchFamily="18" charset="0"/>
                    <a:sym typeface="Monotype Sorts" pitchFamily="2" charset="2"/>
                  </a:rPr>
                  <a:t>KQ</a:t>
                </a:r>
                <a:r>
                  <a:rPr lang="en-US" altLang="zh-CN" sz="2800" dirty="0">
                    <a:solidFill>
                      <a:srgbClr val="FF3300"/>
                    </a:solidFill>
                    <a:latin typeface="Times New Roman" panose="02020603050405020304" pitchFamily="18" charset="0"/>
                    <a:sym typeface="Monotype Sorts" pitchFamily="2" charset="2"/>
                  </a:rPr>
                  <a:t>)</a:t>
                </a:r>
                <a:r>
                  <a:rPr lang="en-US" altLang="zh-CN" sz="2800" i="1" dirty="0">
                    <a:solidFill>
                      <a:srgbClr val="FF3300"/>
                    </a:solidFill>
                    <a:latin typeface="Times New Roman" panose="02020603050405020304" pitchFamily="18" charset="0"/>
                    <a:sym typeface="Monotype Sorts" pitchFamily="2" charset="2"/>
                  </a:rPr>
                  <a:t>CP+QCP</a:t>
                </a:r>
                <a:endParaRPr lang="en-US" altLang="zh-CN" sz="2800" i="1" dirty="0">
                  <a:solidFill>
                    <a:srgbClr val="FF3300"/>
                  </a:solidFill>
                  <a:latin typeface="Times New Roman" panose="02020603050405020304" pitchFamily="18" charset="0"/>
                  <a:sym typeface="Monotype Sorts" pitchFamily="2" charset="2"/>
                </a:endParaRPr>
              </a:p>
            </p:txBody>
          </p:sp>
          <p:sp>
            <p:nvSpPr>
              <p:cNvPr id="31760" name="Line 15"/>
              <p:cNvSpPr/>
              <p:nvPr/>
            </p:nvSpPr>
            <p:spPr>
              <a:xfrm>
                <a:off x="2496" y="2016"/>
                <a:ext cx="180" cy="0"/>
              </a:xfrm>
              <a:prstGeom prst="line">
                <a:avLst/>
              </a:prstGeom>
              <a:ln w="19050" cap="flat" cmpd="sng">
                <a:solidFill>
                  <a:srgbClr val="FF0000"/>
                </a:solidFill>
                <a:prstDash val="solid"/>
                <a:headEnd type="none" w="med" len="med"/>
                <a:tailEnd type="none" w="sm" len="lg"/>
              </a:ln>
            </p:spPr>
          </p:sp>
          <p:sp>
            <p:nvSpPr>
              <p:cNvPr id="31761" name="Line 16"/>
              <p:cNvSpPr/>
              <p:nvPr/>
            </p:nvSpPr>
            <p:spPr>
              <a:xfrm>
                <a:off x="2789" y="2016"/>
                <a:ext cx="180" cy="0"/>
              </a:xfrm>
              <a:prstGeom prst="line">
                <a:avLst/>
              </a:prstGeom>
              <a:ln w="19050" cap="flat" cmpd="sng">
                <a:solidFill>
                  <a:srgbClr val="FF0000"/>
                </a:solidFill>
                <a:prstDash val="solid"/>
                <a:headEnd type="none" w="med" len="med"/>
                <a:tailEnd type="none" w="sm" len="lg"/>
              </a:ln>
            </p:spPr>
          </p:sp>
          <p:sp>
            <p:nvSpPr>
              <p:cNvPr id="31762" name="Rectangle 17"/>
              <p:cNvSpPr/>
              <p:nvPr/>
            </p:nvSpPr>
            <p:spPr>
              <a:xfrm>
                <a:off x="911" y="1453"/>
                <a:ext cx="2605" cy="408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none">
                <a:spAutoFit/>
              </a:bodyPr>
              <a:p>
                <a:pPr eaLnBrk="1" hangingPunct="1">
                  <a:lnSpc>
                    <a:spcPct val="130000"/>
                  </a:lnSpc>
                </a:pPr>
                <a:r>
                  <a:rPr lang="en-US" altLang="zh-CN" sz="2800" dirty="0">
                    <a:solidFill>
                      <a:srgbClr val="FF3300"/>
                    </a:solidFill>
                    <a:latin typeface="Times New Roman" panose="02020603050405020304" pitchFamily="18" charset="0"/>
                    <a:sym typeface="Monotype Sorts" pitchFamily="2" charset="2"/>
                  </a:rPr>
                  <a:t>J</a:t>
                </a:r>
                <a:r>
                  <a:rPr lang="zh-CN" altLang="en-US" sz="2800" dirty="0">
                    <a:solidFill>
                      <a:srgbClr val="FF3300"/>
                    </a:solidFill>
                    <a:latin typeface="Times New Roman" panose="02020603050405020304" pitchFamily="18" charset="0"/>
                    <a:sym typeface="Monotype Sorts" pitchFamily="2" charset="2"/>
                  </a:rPr>
                  <a:t>－</a:t>
                </a:r>
                <a:r>
                  <a:rPr lang="en-US" altLang="zh-CN" sz="2800" dirty="0">
                    <a:solidFill>
                      <a:srgbClr val="FF3300"/>
                    </a:solidFill>
                    <a:latin typeface="Times New Roman" panose="02020603050405020304" pitchFamily="18" charset="0"/>
                    <a:sym typeface="Monotype Sorts" pitchFamily="2" charset="2"/>
                  </a:rPr>
                  <a:t>K</a:t>
                </a:r>
                <a:r>
                  <a:rPr lang="zh-CN" altLang="zh-CN" sz="2800" dirty="0">
                    <a:solidFill>
                      <a:srgbClr val="FF3300"/>
                    </a:solidFill>
                    <a:latin typeface="Times New Roman" panose="02020603050405020304" pitchFamily="18" charset="0"/>
                    <a:sym typeface="Monotype Sorts" pitchFamily="2" charset="2"/>
                  </a:rPr>
                  <a:t>触发器的次态方程为</a:t>
                </a:r>
                <a:endParaRPr lang="zh-CN" altLang="zh-CN" sz="2800" dirty="0">
                  <a:solidFill>
                    <a:srgbClr val="FF3300"/>
                  </a:solidFill>
                  <a:latin typeface="Times New Roman" panose="02020603050405020304" pitchFamily="18" charset="0"/>
                  <a:sym typeface="Monotype Sorts" pitchFamily="2" charset="2"/>
                </a:endParaRPr>
              </a:p>
            </p:txBody>
          </p:sp>
        </p:grpSp>
        <p:sp>
          <p:nvSpPr>
            <p:cNvPr id="31758" name="Line 18"/>
            <p:cNvSpPr/>
            <p:nvPr/>
          </p:nvSpPr>
          <p:spPr>
            <a:xfrm>
              <a:off x="5017" y="1876"/>
              <a:ext cx="223" cy="0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none" w="lg" len="lg"/>
            </a:ln>
          </p:spPr>
        </p:sp>
      </p:grpSp>
    </p:spTree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346222" name="Group 110"/>
          <p:cNvGraphicFramePr>
            <a:graphicFrameLocks noGrp="1"/>
          </p:cNvGraphicFramePr>
          <p:nvPr/>
        </p:nvGraphicFramePr>
        <p:xfrm>
          <a:off x="666750" y="1997075"/>
          <a:ext cx="3683000" cy="3597275"/>
        </p:xfrm>
        <a:graphic>
          <a:graphicData uri="http://schemas.openxmlformats.org/drawingml/2006/table">
            <a:tbl>
              <a:tblPr/>
              <a:tblGrid>
                <a:gridCol w="1716088"/>
                <a:gridCol w="1966912"/>
              </a:tblGrid>
              <a:tr h="57922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zh-CN" sz="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8" marB="45728" horzOverflow="overflow">
                    <a:lnL cap="flat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zh-CN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8" marB="45728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18053">
                <a:tc>
                  <a:txBody>
                    <a:bodyPr/>
                    <a:lstStyle/>
                    <a:p>
                      <a:pPr marL="0" marR="0" lvl="0" indent="571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0     0     0 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571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0     0     1 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571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0     1     0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571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0     1     1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571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1     0     0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571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1     0     1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571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1     1     0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571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1     1     1</a:t>
                      </a:r>
                      <a:endParaRPr kumimoji="1" lang="en-US" altLang="zh-CN" sz="5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8" marB="45728" horzOverflow="overflow">
                    <a:lnL cap="flat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571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0     0     1</a:t>
                      </a:r>
                      <a:endParaRPr kumimoji="1" lang="en-US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571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0     1     0</a:t>
                      </a:r>
                      <a:endParaRPr kumimoji="1" lang="en-US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571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0     1     1</a:t>
                      </a:r>
                      <a:endParaRPr kumimoji="1" lang="en-US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571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1     0     0</a:t>
                      </a:r>
                      <a:endParaRPr kumimoji="1" lang="en-US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571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0     0     0</a:t>
                      </a:r>
                      <a:endParaRPr kumimoji="1" lang="en-US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571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0     1     0</a:t>
                      </a:r>
                      <a:endParaRPr kumimoji="1" lang="en-US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571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1     1     0</a:t>
                      </a:r>
                      <a:endParaRPr kumimoji="1" lang="en-US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571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0     0     0</a:t>
                      </a:r>
                      <a:endParaRPr kumimoji="1" lang="en-US" altLang="zh-CN" sz="5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8" marB="45728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2779" name="Rectangle 4"/>
          <p:cNvSpPr/>
          <p:nvPr/>
        </p:nvSpPr>
        <p:spPr>
          <a:xfrm>
            <a:off x="0" y="658813"/>
            <a:ext cx="8896350" cy="822325"/>
          </a:xfrm>
          <a:prstGeom prst="rect">
            <a:avLst/>
          </a:prstGeom>
          <a:noFill/>
          <a:ln w="19050">
            <a:noFill/>
          </a:ln>
        </p:spPr>
        <p:txBody>
          <a:bodyPr anchor="ctr" anchorCtr="0">
            <a:spAutoFit/>
          </a:bodyPr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（</a:t>
            </a:r>
            <a:r>
              <a:rPr lang="en-US" altLang="zh-CN" dirty="0">
                <a:latin typeface="Times New Roman" panose="02020603050405020304" pitchFamily="18" charset="0"/>
              </a:rPr>
              <a:t>3</a:t>
            </a:r>
            <a:r>
              <a:rPr lang="zh-CN" altLang="en-US" dirty="0">
                <a:latin typeface="Times New Roman" panose="02020603050405020304" pitchFamily="18" charset="0"/>
              </a:rPr>
              <a:t>）根据得到的触发器次态方程，作状态转移关系表，由状态转移关系表作出状态图。 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32780" name="Object 10"/>
          <p:cNvGraphicFramePr/>
          <p:nvPr/>
        </p:nvGraphicFramePr>
        <p:xfrm>
          <a:off x="754063" y="2057400"/>
          <a:ext cx="382587" cy="461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2" name="" r:id="rId1" imgW="177800" imgH="215900" progId="Equation.3">
                  <p:embed/>
                </p:oleObj>
              </mc:Choice>
              <mc:Fallback>
                <p:oleObj name="" r:id="rId1" imgW="177800" imgH="215900" progId="Equation.3">
                  <p:embed/>
                  <p:pic>
                    <p:nvPicPr>
                      <p:cNvPr id="0" name="图片 3091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754063" y="2057400"/>
                        <a:ext cx="382587" cy="4619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81" name="Object 9"/>
          <p:cNvGraphicFramePr/>
          <p:nvPr/>
        </p:nvGraphicFramePr>
        <p:xfrm>
          <a:off x="1284288" y="2055813"/>
          <a:ext cx="382587" cy="461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1" name="" r:id="rId3" imgW="177800" imgH="215900" progId="Equation.3">
                  <p:embed/>
                </p:oleObj>
              </mc:Choice>
              <mc:Fallback>
                <p:oleObj name="" r:id="rId3" imgW="177800" imgH="215900" progId="Equation.3">
                  <p:embed/>
                  <p:pic>
                    <p:nvPicPr>
                      <p:cNvPr id="0" name="图片 3090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284288" y="2055813"/>
                        <a:ext cx="382587" cy="4619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82" name="Object 8"/>
          <p:cNvGraphicFramePr/>
          <p:nvPr/>
        </p:nvGraphicFramePr>
        <p:xfrm>
          <a:off x="1800225" y="2070100"/>
          <a:ext cx="382588" cy="461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0" name="" r:id="rId5" imgW="177800" imgH="215900" progId="Equation.3">
                  <p:embed/>
                </p:oleObj>
              </mc:Choice>
              <mc:Fallback>
                <p:oleObj name="" r:id="rId5" imgW="177800" imgH="215900" progId="Equation.3">
                  <p:embed/>
                  <p:pic>
                    <p:nvPicPr>
                      <p:cNvPr id="0" name="图片 3089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800225" y="2070100"/>
                        <a:ext cx="382588" cy="4619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83" name="Object 7"/>
          <p:cNvGraphicFramePr/>
          <p:nvPr/>
        </p:nvGraphicFramePr>
        <p:xfrm>
          <a:off x="2460625" y="2039938"/>
          <a:ext cx="561975" cy="461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9" name="" r:id="rId7" imgW="266065" imgH="215900" progId="Equation.3">
                  <p:embed/>
                </p:oleObj>
              </mc:Choice>
              <mc:Fallback>
                <p:oleObj name="" r:id="rId7" imgW="266065" imgH="215900" progId="Equation.3">
                  <p:embed/>
                  <p:pic>
                    <p:nvPicPr>
                      <p:cNvPr id="0" name="图片 3088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460625" y="2039938"/>
                        <a:ext cx="561975" cy="4619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84" name="Object 6"/>
          <p:cNvGraphicFramePr/>
          <p:nvPr/>
        </p:nvGraphicFramePr>
        <p:xfrm>
          <a:off x="2932113" y="2039938"/>
          <a:ext cx="561975" cy="461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4" name="" r:id="rId9" imgW="266065" imgH="215900" progId="Equation.3">
                  <p:embed/>
                </p:oleObj>
              </mc:Choice>
              <mc:Fallback>
                <p:oleObj name="" r:id="rId9" imgW="266065" imgH="215900" progId="Equation.3">
                  <p:embed/>
                  <p:pic>
                    <p:nvPicPr>
                      <p:cNvPr id="0" name="图片 3093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932113" y="2039938"/>
                        <a:ext cx="561975" cy="4619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85" name="Object 5"/>
          <p:cNvGraphicFramePr/>
          <p:nvPr/>
        </p:nvGraphicFramePr>
        <p:xfrm>
          <a:off x="3432175" y="2054225"/>
          <a:ext cx="561975" cy="461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3" name="" r:id="rId11" imgW="266065" imgH="215900" progId="Equation.3">
                  <p:embed/>
                </p:oleObj>
              </mc:Choice>
              <mc:Fallback>
                <p:oleObj name="" r:id="rId11" imgW="266065" imgH="215900" progId="Equation.3">
                  <p:embed/>
                  <p:pic>
                    <p:nvPicPr>
                      <p:cNvPr id="0" name="图片 3092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432175" y="2054225"/>
                        <a:ext cx="561975" cy="4619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2786" name="Group 112"/>
          <p:cNvGrpSpPr/>
          <p:nvPr/>
        </p:nvGrpSpPr>
        <p:grpSpPr>
          <a:xfrm>
            <a:off x="5111750" y="2578100"/>
            <a:ext cx="3138488" cy="3151188"/>
            <a:chOff x="3220" y="1624"/>
            <a:chExt cx="1977" cy="1985"/>
          </a:xfrm>
        </p:grpSpPr>
        <p:sp>
          <p:nvSpPr>
            <p:cNvPr id="32787" name="Oval 54"/>
            <p:cNvSpPr/>
            <p:nvPr/>
          </p:nvSpPr>
          <p:spPr>
            <a:xfrm>
              <a:off x="4759" y="2948"/>
              <a:ext cx="342" cy="331"/>
            </a:xfrm>
            <a:prstGeom prst="ellipse">
              <a:avLst/>
            </a:prstGeom>
            <a:solidFill>
              <a:srgbClr val="CCFFFF"/>
            </a:solidFill>
            <a:ln w="9525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  <p:txBody>
            <a:bodyPr lIns="0" tIns="0" rIns="0" bIns="0"/>
            <a:p>
              <a:pPr algn="ctr" eaLnBrk="1" hangingPunct="1"/>
              <a:r>
                <a:rPr lang="en-US" altLang="zh-CN" dirty="0">
                  <a:latin typeface="Times New Roman" panose="02020603050405020304" pitchFamily="18" charset="0"/>
                </a:rPr>
                <a:t>6</a:t>
              </a:r>
              <a:endParaRPr lang="en-US" altLang="zh-CN" sz="5400" dirty="0">
                <a:latin typeface="Times New Roman" panose="02020603050405020304" pitchFamily="18" charset="0"/>
              </a:endParaRPr>
            </a:p>
          </p:txBody>
        </p:sp>
        <p:sp>
          <p:nvSpPr>
            <p:cNvPr id="32788" name="Oval 55"/>
            <p:cNvSpPr/>
            <p:nvPr/>
          </p:nvSpPr>
          <p:spPr>
            <a:xfrm>
              <a:off x="4519" y="1624"/>
              <a:ext cx="342" cy="331"/>
            </a:xfrm>
            <a:prstGeom prst="ellipse">
              <a:avLst/>
            </a:prstGeom>
            <a:solidFill>
              <a:srgbClr val="CCFFFF"/>
            </a:solidFill>
            <a:ln w="9525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  <p:txBody>
            <a:bodyPr lIns="0" tIns="0" rIns="0" bIns="0"/>
            <a:p>
              <a:pPr algn="ctr" eaLnBrk="1" hangingPunct="1"/>
              <a:r>
                <a:rPr lang="en-US" altLang="zh-CN" dirty="0">
                  <a:latin typeface="Times New Roman" panose="02020603050405020304" pitchFamily="18" charset="0"/>
                </a:rPr>
                <a:t>7</a:t>
              </a:r>
              <a:endParaRPr lang="en-US" altLang="zh-CN" sz="5400" dirty="0">
                <a:latin typeface="Times New Roman" panose="02020603050405020304" pitchFamily="18" charset="0"/>
              </a:endParaRPr>
            </a:p>
          </p:txBody>
        </p:sp>
        <p:sp>
          <p:nvSpPr>
            <p:cNvPr id="32789" name="Oval 56"/>
            <p:cNvSpPr/>
            <p:nvPr/>
          </p:nvSpPr>
          <p:spPr>
            <a:xfrm>
              <a:off x="3220" y="2068"/>
              <a:ext cx="342" cy="331"/>
            </a:xfrm>
            <a:prstGeom prst="ellipse">
              <a:avLst/>
            </a:prstGeom>
            <a:solidFill>
              <a:srgbClr val="CCFFFF"/>
            </a:solidFill>
            <a:ln w="9525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  <p:txBody>
            <a:bodyPr lIns="0" tIns="0" rIns="0" bIns="0"/>
            <a:p>
              <a:pPr algn="ctr" eaLnBrk="1" hangingPunct="1"/>
              <a:r>
                <a:rPr lang="en-US" altLang="zh-CN" dirty="0">
                  <a:latin typeface="Times New Roman" panose="02020603050405020304" pitchFamily="18" charset="0"/>
                </a:rPr>
                <a:t>4</a:t>
              </a:r>
              <a:endParaRPr lang="en-US" altLang="zh-CN" sz="5400" dirty="0">
                <a:latin typeface="Times New Roman" panose="02020603050405020304" pitchFamily="18" charset="0"/>
              </a:endParaRPr>
            </a:p>
          </p:txBody>
        </p:sp>
        <p:sp>
          <p:nvSpPr>
            <p:cNvPr id="32790" name="Oval 57"/>
            <p:cNvSpPr/>
            <p:nvPr/>
          </p:nvSpPr>
          <p:spPr>
            <a:xfrm>
              <a:off x="4179" y="2671"/>
              <a:ext cx="342" cy="331"/>
            </a:xfrm>
            <a:prstGeom prst="ellipse">
              <a:avLst/>
            </a:prstGeom>
            <a:solidFill>
              <a:srgbClr val="CCFFFF"/>
            </a:solidFill>
            <a:ln w="9525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  <p:txBody>
            <a:bodyPr lIns="0" tIns="0" rIns="0" bIns="0"/>
            <a:p>
              <a:pPr algn="ctr" eaLnBrk="1" hangingPunct="1"/>
              <a:r>
                <a:rPr lang="en-US" altLang="zh-CN" dirty="0">
                  <a:latin typeface="Times New Roman" panose="02020603050405020304" pitchFamily="18" charset="0"/>
                </a:rPr>
                <a:t>2</a:t>
              </a:r>
              <a:endParaRPr lang="en-US" altLang="zh-CN" sz="5400" dirty="0">
                <a:latin typeface="Times New Roman" panose="02020603050405020304" pitchFamily="18" charset="0"/>
              </a:endParaRPr>
            </a:p>
          </p:txBody>
        </p:sp>
        <p:sp>
          <p:nvSpPr>
            <p:cNvPr id="32791" name="Oval 58"/>
            <p:cNvSpPr/>
            <p:nvPr/>
          </p:nvSpPr>
          <p:spPr>
            <a:xfrm>
              <a:off x="3416" y="2673"/>
              <a:ext cx="342" cy="331"/>
            </a:xfrm>
            <a:prstGeom prst="ellipse">
              <a:avLst/>
            </a:prstGeom>
            <a:solidFill>
              <a:srgbClr val="CCFFFF"/>
            </a:solidFill>
            <a:ln w="9525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  <p:txBody>
            <a:bodyPr lIns="0" tIns="0" rIns="0" bIns="0"/>
            <a:p>
              <a:pPr algn="ctr" eaLnBrk="1" hangingPunct="1"/>
              <a:r>
                <a:rPr lang="en-US" altLang="zh-CN" dirty="0">
                  <a:latin typeface="Times New Roman" panose="02020603050405020304" pitchFamily="18" charset="0"/>
                </a:rPr>
                <a:t>3</a:t>
              </a:r>
              <a:endParaRPr lang="en-US" altLang="zh-CN" sz="5400" dirty="0">
                <a:latin typeface="Times New Roman" panose="02020603050405020304" pitchFamily="18" charset="0"/>
              </a:endParaRPr>
            </a:p>
          </p:txBody>
        </p:sp>
        <p:sp>
          <p:nvSpPr>
            <p:cNvPr id="32792" name="Oval 59"/>
            <p:cNvSpPr/>
            <p:nvPr/>
          </p:nvSpPr>
          <p:spPr>
            <a:xfrm>
              <a:off x="4332" y="2078"/>
              <a:ext cx="342" cy="332"/>
            </a:xfrm>
            <a:prstGeom prst="ellipse">
              <a:avLst/>
            </a:prstGeom>
            <a:solidFill>
              <a:srgbClr val="CCFFFF"/>
            </a:solidFill>
            <a:ln w="9525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  <p:txBody>
            <a:bodyPr lIns="0" tIns="0" rIns="0" bIns="0"/>
            <a:p>
              <a:pPr algn="ctr" eaLnBrk="1" hangingPunct="1"/>
              <a:r>
                <a:rPr lang="en-US" altLang="zh-CN" dirty="0">
                  <a:latin typeface="Times New Roman" panose="02020603050405020304" pitchFamily="18" charset="0"/>
                </a:rPr>
                <a:t>1</a:t>
              </a:r>
              <a:endParaRPr lang="en-US" altLang="zh-CN" sz="5400" dirty="0">
                <a:latin typeface="Times New Roman" panose="02020603050405020304" pitchFamily="18" charset="0"/>
              </a:endParaRPr>
            </a:p>
          </p:txBody>
        </p:sp>
        <p:sp>
          <p:nvSpPr>
            <p:cNvPr id="32793" name="Oval 60"/>
            <p:cNvSpPr/>
            <p:nvPr/>
          </p:nvSpPr>
          <p:spPr>
            <a:xfrm>
              <a:off x="3765" y="1683"/>
              <a:ext cx="342" cy="332"/>
            </a:xfrm>
            <a:prstGeom prst="ellipse">
              <a:avLst/>
            </a:prstGeom>
            <a:solidFill>
              <a:srgbClr val="CCFFFF"/>
            </a:solidFill>
            <a:ln w="9525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  <p:txBody>
            <a:bodyPr lIns="0" tIns="0" rIns="0" bIns="0"/>
            <a:p>
              <a:pPr algn="ctr" eaLnBrk="1" hangingPunct="1"/>
              <a:r>
                <a:rPr lang="en-US" altLang="zh-CN" dirty="0">
                  <a:latin typeface="Times New Roman" panose="02020603050405020304" pitchFamily="18" charset="0"/>
                </a:rPr>
                <a:t>0</a:t>
              </a:r>
              <a:endParaRPr lang="en-US" altLang="zh-CN" sz="5400" dirty="0">
                <a:latin typeface="Times New Roman" panose="02020603050405020304" pitchFamily="18" charset="0"/>
              </a:endParaRPr>
            </a:p>
          </p:txBody>
        </p:sp>
        <p:sp>
          <p:nvSpPr>
            <p:cNvPr id="32794" name="Line 61"/>
            <p:cNvSpPr/>
            <p:nvPr/>
          </p:nvSpPr>
          <p:spPr>
            <a:xfrm rot="10800000">
              <a:off x="4104" y="1811"/>
              <a:ext cx="393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32795" name="Line 62"/>
            <p:cNvSpPr/>
            <p:nvPr/>
          </p:nvSpPr>
          <p:spPr>
            <a:xfrm flipV="1">
              <a:off x="3536" y="1932"/>
              <a:ext cx="262" cy="221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32796" name="Line 63"/>
            <p:cNvSpPr/>
            <p:nvPr/>
          </p:nvSpPr>
          <p:spPr>
            <a:xfrm>
              <a:off x="4092" y="1949"/>
              <a:ext cx="262" cy="221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32797" name="Line 64"/>
            <p:cNvSpPr/>
            <p:nvPr/>
          </p:nvSpPr>
          <p:spPr>
            <a:xfrm rot="-4408530" flipV="1">
              <a:off x="3368" y="2412"/>
              <a:ext cx="255" cy="227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32798" name="Line 65"/>
            <p:cNvSpPr/>
            <p:nvPr/>
          </p:nvSpPr>
          <p:spPr>
            <a:xfrm>
              <a:off x="3765" y="2826"/>
              <a:ext cx="39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triangle" w="sm" len="lg"/>
              <a:tailEnd type="none" w="sm" len="lg"/>
            </a:ln>
          </p:spPr>
        </p:sp>
        <p:sp>
          <p:nvSpPr>
            <p:cNvPr id="32799" name="Line 66"/>
            <p:cNvSpPr/>
            <p:nvPr/>
          </p:nvSpPr>
          <p:spPr>
            <a:xfrm rot="4408530">
              <a:off x="4327" y="2440"/>
              <a:ext cx="255" cy="226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32800" name="Oval 67"/>
            <p:cNvSpPr/>
            <p:nvPr/>
          </p:nvSpPr>
          <p:spPr>
            <a:xfrm>
              <a:off x="4768" y="2515"/>
              <a:ext cx="342" cy="331"/>
            </a:xfrm>
            <a:prstGeom prst="ellipse">
              <a:avLst/>
            </a:prstGeom>
            <a:solidFill>
              <a:srgbClr val="CCFFFF"/>
            </a:solidFill>
            <a:ln w="9525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  <p:txBody>
            <a:bodyPr lIns="0" tIns="0" rIns="0" bIns="0"/>
            <a:p>
              <a:pPr algn="ctr" eaLnBrk="1" hangingPunct="1"/>
              <a:r>
                <a:rPr lang="en-US" altLang="zh-CN" dirty="0">
                  <a:latin typeface="Times New Roman" panose="02020603050405020304" pitchFamily="18" charset="0"/>
                </a:rPr>
                <a:t>5</a:t>
              </a:r>
              <a:endParaRPr lang="en-US" altLang="zh-CN" sz="5400" dirty="0">
                <a:latin typeface="Times New Roman" panose="02020603050405020304" pitchFamily="18" charset="0"/>
              </a:endParaRPr>
            </a:p>
          </p:txBody>
        </p:sp>
        <p:sp>
          <p:nvSpPr>
            <p:cNvPr id="32801" name="Line 69"/>
            <p:cNvSpPr/>
            <p:nvPr/>
          </p:nvSpPr>
          <p:spPr>
            <a:xfrm rot="5400000">
              <a:off x="4565" y="2618"/>
              <a:ext cx="145" cy="261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32802" name="Arc 111"/>
            <p:cNvSpPr/>
            <p:nvPr/>
          </p:nvSpPr>
          <p:spPr>
            <a:xfrm rot="-326289">
              <a:off x="4787" y="3209"/>
              <a:ext cx="410" cy="400"/>
            </a:xfrm>
            <a:custGeom>
              <a:avLst/>
              <a:gdLst/>
              <a:ahLst/>
              <a:cxnLst>
                <a:cxn ang="0">
                  <a:pos x="309" y="0"/>
                </a:cxn>
                <a:cxn ang="0">
                  <a:pos x="410" y="185"/>
                </a:cxn>
                <a:cxn ang="0">
                  <a:pos x="205" y="400"/>
                </a:cxn>
                <a:cxn ang="0">
                  <a:pos x="0" y="185"/>
                </a:cxn>
                <a:cxn ang="0">
                  <a:pos x="59" y="35"/>
                </a:cxn>
                <a:cxn ang="0">
                  <a:pos x="309" y="0"/>
                </a:cxn>
                <a:cxn ang="0">
                  <a:pos x="410" y="185"/>
                </a:cxn>
                <a:cxn ang="0">
                  <a:pos x="205" y="400"/>
                </a:cxn>
                <a:cxn ang="0">
                  <a:pos x="0" y="185"/>
                </a:cxn>
                <a:cxn ang="0">
                  <a:pos x="59" y="35"/>
                </a:cxn>
                <a:cxn ang="0">
                  <a:pos x="205" y="185"/>
                </a:cxn>
              </a:cxnLst>
              <a:pathLst>
                <a:path w="43200" h="40191" fill="none">
                  <a:moveTo>
                    <a:pt x="32597" y="-1"/>
                  </a:moveTo>
                  <a:cubicBezTo>
                    <a:pt x="39168" y="3887"/>
                    <a:pt x="43200" y="10955"/>
                    <a:pt x="43200" y="18591"/>
                  </a:cubicBezTo>
                  <a:cubicBezTo>
                    <a:pt x="43200" y="30520"/>
                    <a:pt x="33529" y="40191"/>
                    <a:pt x="21600" y="40191"/>
                  </a:cubicBezTo>
                  <a:cubicBezTo>
                    <a:pt x="9670" y="40191"/>
                    <a:pt x="0" y="30520"/>
                    <a:pt x="0" y="18591"/>
                  </a:cubicBezTo>
                  <a:cubicBezTo>
                    <a:pt x="-1" y="12941"/>
                    <a:pt x="2213" y="7517"/>
                    <a:pt x="6164" y="3480"/>
                  </a:cubicBezTo>
                </a:path>
                <a:path w="43200" h="40191" stroke="0">
                  <a:moveTo>
                    <a:pt x="32597" y="-1"/>
                  </a:moveTo>
                  <a:cubicBezTo>
                    <a:pt x="39168" y="3887"/>
                    <a:pt x="43200" y="10955"/>
                    <a:pt x="43200" y="18591"/>
                  </a:cubicBezTo>
                  <a:cubicBezTo>
                    <a:pt x="43200" y="30520"/>
                    <a:pt x="33529" y="40191"/>
                    <a:pt x="21600" y="40191"/>
                  </a:cubicBezTo>
                  <a:cubicBezTo>
                    <a:pt x="9670" y="40191"/>
                    <a:pt x="0" y="30520"/>
                    <a:pt x="0" y="18591"/>
                  </a:cubicBezTo>
                  <a:cubicBezTo>
                    <a:pt x="-1" y="12941"/>
                    <a:pt x="2213" y="7517"/>
                    <a:pt x="6164" y="3480"/>
                  </a:cubicBezTo>
                  <a:lnTo>
                    <a:pt x="21600" y="18591"/>
                  </a:lnTo>
                  <a:lnTo>
                    <a:pt x="32597" y="-1"/>
                  </a:lnTo>
                  <a:close/>
                </a:path>
              </a:pathLst>
            </a:custGeom>
            <a:noFill/>
            <a:ln w="1905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triangle" w="sm" len="lg"/>
              <a:tailEnd type="none" w="lg" len="lg"/>
            </a:ln>
          </p:spPr>
          <p:txBody>
            <a:bodyPr/>
            <a:p>
              <a:endParaRPr lang="zh-CN" altLang="en-US"/>
            </a:p>
          </p:txBody>
        </p:sp>
      </p:grpSp>
    </p:spTree>
  </p:cSld>
  <p:clrMapOvr>
    <a:masterClrMapping/>
  </p:clrMapOvr>
  <p:transition/>
</p:sld>
</file>

<file path=ppt/tags/tag1.xml><?xml version="1.0" encoding="utf-8"?>
<p:tagLst xmlns:p="http://schemas.openxmlformats.org/presentationml/2006/main">
  <p:tag name="commondata" val="eyJoZGlkIjoiNzEyYTQ1ZTkxNzgyMjUxNmZmODI5MjdiYTcxOGE3YWEifQ=="/>
</p:tagLst>
</file>

<file path=ppt/theme/theme1.xml><?xml version="1.0" encoding="utf-8"?>
<a:theme xmlns:a="http://schemas.openxmlformats.org/drawingml/2006/main" name="Pixel">
  <a:themeElements>
    <a:clrScheme name="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Pixel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9050" cap="flat" cmpd="sng" algn="ctr">
          <a:solidFill>
            <a:schemeClr val="tx1"/>
          </a:solidFill>
          <a:prstDash val="solid"/>
          <a:round/>
          <a:headEnd type="none" w="med" len="med"/>
          <a:tailEnd type="none" w="lg" len="lg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9050" cap="flat" cmpd="sng" algn="ctr">
          <a:solidFill>
            <a:schemeClr val="tx1"/>
          </a:solidFill>
          <a:prstDash val="solid"/>
          <a:round/>
          <a:headEnd type="none" w="med" len="med"/>
          <a:tailEnd type="none" w="lg" len="lg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Pixel</Template>
  <TotalTime>0</TotalTime>
  <Words>3197</Words>
  <Application>WPS 演示</Application>
  <PresentationFormat>全屏显示(4:3)</PresentationFormat>
  <Paragraphs>781</Paragraphs>
  <Slides>29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33</vt:i4>
      </vt:variant>
      <vt:variant>
        <vt:lpstr>幻灯片标题</vt:lpstr>
      </vt:variant>
      <vt:variant>
        <vt:i4>29</vt:i4>
      </vt:variant>
    </vt:vector>
  </HeadingPairs>
  <TitlesOfParts>
    <vt:vector size="75" baseType="lpstr">
      <vt:lpstr>Arial</vt:lpstr>
      <vt:lpstr>宋体</vt:lpstr>
      <vt:lpstr>Wingdings</vt:lpstr>
      <vt:lpstr>Times New Roman</vt:lpstr>
      <vt:lpstr>Arial Black</vt:lpstr>
      <vt:lpstr>华文新魏</vt:lpstr>
      <vt:lpstr>Monotype Sorts</vt:lpstr>
      <vt:lpstr>Wingdings</vt:lpstr>
      <vt:lpstr>Symbol</vt:lpstr>
      <vt:lpstr>微软雅黑</vt:lpstr>
      <vt:lpstr>Arial Unicode MS</vt:lpstr>
      <vt:lpstr>Calibri</vt:lpstr>
      <vt:lpstr>Pixel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Equation.3</vt:lpstr>
      <vt:lpstr>Equation.3</vt:lpstr>
      <vt:lpstr>Equation.3</vt:lpstr>
      <vt:lpstr>Equation.3</vt:lpstr>
      <vt:lpstr>Equation.3</vt:lpstr>
      <vt:lpstr>Equation.DSMT4</vt:lpstr>
      <vt:lpstr>Equation.3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没有幻灯片标题</dc:title>
  <dc:creator/>
  <cp:lastModifiedBy>WPS</cp:lastModifiedBy>
  <cp:revision>486</cp:revision>
  <cp:lastPrinted>1999-10-15T03:06:00Z</cp:lastPrinted>
  <dcterms:created xsi:type="dcterms:W3CDTF">1999-10-11T00:54:00Z</dcterms:created>
  <dcterms:modified xsi:type="dcterms:W3CDTF">2025-11-20T07:25:18Z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B64E5F1BD1A1435CB88577795D946F5B_13</vt:lpwstr>
  </property>
  <property fmtid="{D5CDD505-2E9C-101B-9397-08002B2CF9AE}" pid="3" name="KSOProductBuildVer">
    <vt:lpwstr>2052-12.8.2.18205</vt:lpwstr>
  </property>
</Properties>
</file>