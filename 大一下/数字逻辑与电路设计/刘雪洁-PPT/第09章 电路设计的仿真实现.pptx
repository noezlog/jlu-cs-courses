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38"/>
  </p:notesMasterIdLst>
  <p:handoutMasterIdLst>
    <p:handoutMasterId r:id="rId39"/>
  </p:handoutMasterIdLst>
  <p:sldIdLst>
    <p:sldId id="314" r:id="rId4"/>
    <p:sldId id="300" r:id="rId5"/>
    <p:sldId id="261" r:id="rId6"/>
    <p:sldId id="396" r:id="rId7"/>
    <p:sldId id="412" r:id="rId8"/>
    <p:sldId id="413" r:id="rId9"/>
    <p:sldId id="415" r:id="rId10"/>
    <p:sldId id="405" r:id="rId11"/>
    <p:sldId id="406" r:id="rId12"/>
    <p:sldId id="424" r:id="rId13"/>
    <p:sldId id="425" r:id="rId14"/>
    <p:sldId id="426" r:id="rId15"/>
    <p:sldId id="407" r:id="rId16"/>
    <p:sldId id="427" r:id="rId17"/>
    <p:sldId id="409" r:id="rId18"/>
    <p:sldId id="416" r:id="rId19"/>
    <p:sldId id="408" r:id="rId20"/>
    <p:sldId id="429" r:id="rId21"/>
    <p:sldId id="428" r:id="rId22"/>
    <p:sldId id="410" r:id="rId23"/>
    <p:sldId id="417" r:id="rId24"/>
    <p:sldId id="418" r:id="rId25"/>
    <p:sldId id="419" r:id="rId26"/>
    <p:sldId id="420" r:id="rId27"/>
    <p:sldId id="421" r:id="rId28"/>
    <p:sldId id="422" r:id="rId29"/>
    <p:sldId id="430" r:id="rId30"/>
    <p:sldId id="431" r:id="rId31"/>
    <p:sldId id="411" r:id="rId32"/>
    <p:sldId id="423" r:id="rId33"/>
    <p:sldId id="432" r:id="rId34"/>
    <p:sldId id="433" r:id="rId35"/>
    <p:sldId id="434" r:id="rId36"/>
    <p:sldId id="436" r:id="rId37"/>
  </p:sldIdLst>
  <p:sldSz cx="9144000" cy="6858000" type="screen4x3"/>
  <p:notesSz cx="6858000" cy="9144000"/>
  <p:custDataLst>
    <p:tags r:id="rId43"/>
  </p:custDataLst>
  <p:defaultTex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a:srgbClr val="FF00FF"/>
    <a:srgbClr val="FF3300"/>
    <a:srgbClr val="FFCC66"/>
    <a:srgbClr val="6B03E9"/>
    <a:srgbClr val="CC6600"/>
    <a:srgbClr val="CC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53"/>
    <p:restoredTop sz="90588"/>
  </p:normalViewPr>
  <p:slideViewPr>
    <p:cSldViewPr snapToGrid="0" showGuides="1">
      <p:cViewPr varScale="1">
        <p:scale>
          <a:sx n="73" d="100"/>
          <a:sy n="73" d="100"/>
        </p:scale>
        <p:origin x="1500" y="66"/>
      </p:cViewPr>
      <p:guideLst>
        <p:guide orient="horz" pos="2160"/>
        <p:guide pos="284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gs" Target="tags/tag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handoutMaster" Target="handoutMasters/handoutMaster1.xml"/><Relationship Id="rId38" Type="http://schemas.openxmlformats.org/officeDocument/2006/relationships/notesMaster" Target="notesMasters/notes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页眉占位符 57345"/>
          <p:cNvSpPr>
            <a:spLocks noGrp="1"/>
          </p:cNvSpPr>
          <p:nvPr>
            <p:ph type="hdr" sz="quarter"/>
          </p:nvPr>
        </p:nvSpPr>
        <p:spPr>
          <a:xfrm>
            <a:off x="0" y="0"/>
            <a:ext cx="2971800" cy="457200"/>
          </a:xfrm>
          <a:prstGeom prst="rect">
            <a:avLst/>
          </a:prstGeom>
          <a:noFill/>
          <a:ln w="9525">
            <a:noFill/>
          </a:ln>
        </p:spPr>
        <p:txBody>
          <a:bodyPr/>
          <a:lstStyle>
            <a:lvl1pPr eaLnBrk="1" fontAlgn="ctr" hangingPunct="1">
              <a:defRPr sz="1200" noProof="1"/>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47" name="日期占位符 57346"/>
          <p:cNvSpPr>
            <a:spLocks noGrp="1"/>
          </p:cNvSpPr>
          <p:nvPr>
            <p:ph type="dt" sz="quarter" idx="1"/>
          </p:nvPr>
        </p:nvSpPr>
        <p:spPr>
          <a:xfrm>
            <a:off x="3886200" y="0"/>
            <a:ext cx="2971800" cy="457200"/>
          </a:xfrm>
          <a:prstGeom prst="rect">
            <a:avLst/>
          </a:prstGeom>
          <a:noFill/>
          <a:ln w="9525">
            <a:noFill/>
          </a:ln>
        </p:spPr>
        <p:txBody>
          <a:bodyPr/>
          <a:lstStyle>
            <a:lvl1pPr algn="r" eaLnBrk="1" fontAlgn="ctr" hangingPunct="1">
              <a:defRPr sz="1200" noProof="1"/>
            </a:lvl1pPr>
          </a:lstStyle>
          <a:p>
            <a:pPr marL="0" marR="0" lvl="0" indent="0" algn="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48" name="页脚占位符 57347"/>
          <p:cNvSpPr>
            <a:spLocks noGrp="1"/>
          </p:cNvSpPr>
          <p:nvPr>
            <p:ph type="ftr" sz="quarter" idx="2"/>
          </p:nvPr>
        </p:nvSpPr>
        <p:spPr>
          <a:xfrm>
            <a:off x="0" y="8686800"/>
            <a:ext cx="2971800" cy="457200"/>
          </a:xfrm>
          <a:prstGeom prst="rect">
            <a:avLst/>
          </a:prstGeom>
          <a:noFill/>
          <a:ln w="9525">
            <a:noFill/>
          </a:ln>
        </p:spPr>
        <p:txBody>
          <a:bodyPr anchor="b"/>
          <a:lstStyle>
            <a:lvl1pPr eaLnBrk="1" fontAlgn="ctr" hangingPunct="1">
              <a:defRPr sz="1200" noProof="1"/>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49" name="灯片编号占位符 57348"/>
          <p:cNvSpPr>
            <a:spLocks noGrp="1"/>
          </p:cNvSpPr>
          <p:nvPr>
            <p:ph type="sldNum" sz="quarter" idx="3"/>
          </p:nvPr>
        </p:nvSpPr>
        <p:spPr>
          <a:xfrm>
            <a:off x="3886200" y="8686800"/>
            <a:ext cx="2971800" cy="457200"/>
          </a:xfrm>
          <a:prstGeom prst="rect">
            <a:avLst/>
          </a:prstGeom>
          <a:noFill/>
          <a:ln w="9525">
            <a:noFill/>
          </a:ln>
        </p:spPr>
        <p:txBody>
          <a:bodyPr vert="horz" wrap="square" lIns="91440" tIns="45720" rIns="91440" bIns="45720" numCol="1" anchor="b" anchorCtr="0" compatLnSpc="1"/>
          <a:lstStyle>
            <a:lvl1pPr algn="r" eaLnBrk="1" fontAlgn="ctr" hangingPunct="1">
              <a:defRPr sz="1200"/>
            </a:lvl1pPr>
          </a:lstStyle>
          <a:p>
            <a:pPr marL="0" marR="0" lvl="0" indent="0" algn="r" defTabSz="914400" rtl="0" eaLnBrk="1" fontAlgn="ctr" latinLnBrk="0" hangingPunct="1">
              <a:lnSpc>
                <a:spcPct val="100000"/>
              </a:lnSpc>
              <a:spcBef>
                <a:spcPct val="0"/>
              </a:spcBef>
              <a:spcAft>
                <a:spcPct val="0"/>
              </a:spcAft>
              <a:buClrTx/>
              <a:buSzTx/>
              <a:buFontTx/>
              <a:buNone/>
              <a:defRPr/>
            </a:pPr>
            <a:fld id="{D82CB29C-D392-4F37-88AE-D3B81DB287FF}"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2050" name="组合 70657"/>
          <p:cNvGrpSpPr/>
          <p:nvPr/>
        </p:nvGrpSpPr>
        <p:grpSpPr>
          <a:xfrm>
            <a:off x="0" y="0"/>
            <a:ext cx="9144000" cy="6858000"/>
            <a:chOff x="0" y="0"/>
            <a:chExt cx="5760" cy="4320"/>
          </a:xfrm>
        </p:grpSpPr>
        <p:sp>
          <p:nvSpPr>
            <p:cNvPr id="18" name="矩形 70658"/>
            <p:cNvSpPr>
              <a:spLocks noChangeArrowheads="1"/>
            </p:cNvSpPr>
            <p:nvPr/>
          </p:nvSpPr>
          <p:spPr bwMode="auto">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矩形 70659"/>
            <p:cNvSpPr>
              <a:spLocks noChangeArrowheads="1"/>
            </p:cNvSpPr>
            <p:nvPr/>
          </p:nvSpPr>
          <p:spPr bwMode="auto">
            <a:xfrm>
              <a:off x="1081" y="1065"/>
              <a:ext cx="4679" cy="1596"/>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8" name="组合 70660"/>
            <p:cNvGrpSpPr/>
            <p:nvPr/>
          </p:nvGrpSpPr>
          <p:grpSpPr>
            <a:xfrm>
              <a:off x="0" y="672"/>
              <a:ext cx="1806" cy="1989"/>
              <a:chOff x="0" y="672"/>
              <a:chExt cx="1806" cy="1989"/>
            </a:xfrm>
          </p:grpSpPr>
          <p:sp>
            <p:nvSpPr>
              <p:cNvPr id="21" name="矩形 70661"/>
              <p:cNvSpPr>
                <a:spLocks noChangeArrowheads="1"/>
              </p:cNvSpPr>
              <p:nvPr/>
            </p:nvSpPr>
            <p:spPr bwMode="auto">
              <a:xfrm>
                <a:off x="361" y="2257"/>
                <a:ext cx="363" cy="404"/>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矩形 70662"/>
              <p:cNvSpPr>
                <a:spLocks noChangeArrowheads="1"/>
              </p:cNvSpPr>
              <p:nvPr/>
            </p:nvSpPr>
            <p:spPr bwMode="auto">
              <a:xfrm>
                <a:off x="1081" y="1065"/>
                <a:ext cx="362" cy="405"/>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矩形 70663"/>
              <p:cNvSpPr>
                <a:spLocks noChangeArrowheads="1"/>
              </p:cNvSpPr>
              <p:nvPr/>
            </p:nvSpPr>
            <p:spPr bwMode="auto">
              <a:xfrm>
                <a:off x="1437" y="672"/>
                <a:ext cx="369" cy="400"/>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矩形 70664"/>
              <p:cNvSpPr>
                <a:spLocks noChangeArrowheads="1"/>
              </p:cNvSpPr>
              <p:nvPr/>
            </p:nvSpPr>
            <p:spPr bwMode="auto">
              <a:xfrm>
                <a:off x="719" y="2257"/>
                <a:ext cx="368" cy="404"/>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矩形 70665"/>
              <p:cNvSpPr>
                <a:spLocks noChangeArrowheads="1"/>
              </p:cNvSpPr>
              <p:nvPr/>
            </p:nvSpPr>
            <p:spPr bwMode="auto">
              <a:xfrm>
                <a:off x="1437" y="1065"/>
                <a:ext cx="369" cy="405"/>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矩形 70666"/>
              <p:cNvSpPr>
                <a:spLocks noChangeArrowheads="1"/>
              </p:cNvSpPr>
              <p:nvPr/>
            </p:nvSpPr>
            <p:spPr bwMode="auto">
              <a:xfrm>
                <a:off x="719" y="1464"/>
                <a:ext cx="368" cy="399"/>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矩形 70667"/>
              <p:cNvSpPr>
                <a:spLocks noChangeArrowheads="1"/>
              </p:cNvSpPr>
              <p:nvPr/>
            </p:nvSpPr>
            <p:spPr bwMode="auto">
              <a:xfrm>
                <a:off x="0" y="1464"/>
                <a:ext cx="367" cy="399"/>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矩形 70668"/>
              <p:cNvSpPr>
                <a:spLocks noChangeArrowheads="1"/>
              </p:cNvSpPr>
              <p:nvPr/>
            </p:nvSpPr>
            <p:spPr bwMode="auto">
              <a:xfrm>
                <a:off x="1081" y="1464"/>
                <a:ext cx="362" cy="399"/>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矩形 70669"/>
              <p:cNvSpPr>
                <a:spLocks noChangeArrowheads="1"/>
              </p:cNvSpPr>
              <p:nvPr/>
            </p:nvSpPr>
            <p:spPr bwMode="auto">
              <a:xfrm>
                <a:off x="361" y="1857"/>
                <a:ext cx="363" cy="406"/>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矩形 70670"/>
              <p:cNvSpPr>
                <a:spLocks noChangeArrowheads="1"/>
              </p:cNvSpPr>
              <p:nvPr/>
            </p:nvSpPr>
            <p:spPr bwMode="auto">
              <a:xfrm>
                <a:off x="719" y="1857"/>
                <a:ext cx="368" cy="406"/>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70675" name="标题 70674"/>
          <p:cNvSpPr>
            <a:spLocks noGrp="1"/>
          </p:cNvSpPr>
          <p:nvPr>
            <p:ph type="ctrTitle"/>
          </p:nvPr>
        </p:nvSpPr>
        <p:spPr>
          <a:xfrm>
            <a:off x="2971800" y="1828800"/>
            <a:ext cx="6019800" cy="2209800"/>
          </a:xfrm>
          <a:prstGeom prst="rect">
            <a:avLst/>
          </a:prstGeom>
          <a:noFill/>
          <a:ln w="9525">
            <a:noFill/>
          </a:ln>
        </p:spPr>
        <p:txBody>
          <a:bodyPr/>
          <a:lstStyle>
            <a:lvl1pPr lvl="0">
              <a:buClrTx/>
              <a:buSzTx/>
              <a:buFontTx/>
              <a:defRPr sz="5000">
                <a:solidFill>
                  <a:srgbClr val="FFFFFF"/>
                </a:solidFill>
              </a:defRPr>
            </a:lvl1pPr>
          </a:lstStyle>
          <a:p>
            <a:pPr lvl="0"/>
            <a:r>
              <a:rPr lang="zh-CN" altLang="en-US" noProof="1"/>
              <a:t>单击此处编辑母版标题样式</a:t>
            </a:r>
            <a:endParaRPr lang="zh-CN" altLang="en-US" noProof="1"/>
          </a:p>
        </p:txBody>
      </p:sp>
      <p:sp>
        <p:nvSpPr>
          <p:cNvPr id="70676" name="副标题 70675"/>
          <p:cNvSpPr>
            <a:spLocks noGrp="1"/>
          </p:cNvSpPr>
          <p:nvPr>
            <p:ph type="subTitle" idx="1"/>
          </p:nvPr>
        </p:nvSpPr>
        <p:spPr>
          <a:xfrm>
            <a:off x="2971800" y="4267200"/>
            <a:ext cx="6019800" cy="1752600"/>
          </a:xfrm>
          <a:prstGeom prst="rect">
            <a:avLst/>
          </a:prstGeom>
          <a:noFill/>
          <a:ln w="9525">
            <a:noFill/>
          </a:ln>
        </p:spPr>
        <p:txBody>
          <a:bodyPr/>
          <a:lstStyle>
            <a:lvl1pPr marL="0" lvl="0" indent="0">
              <a:buClr>
                <a:schemeClr val="bg2"/>
              </a:buClr>
              <a:buSzPct val="75000"/>
              <a:buFont typeface="Wingdings" panose="05000000000000000000" pitchFamily="2" charset="2"/>
              <a:buNone/>
              <a:defRPr sz="3400"/>
            </a:lvl1pPr>
            <a:lvl2pPr marL="457200" lvl="1" indent="0" algn="ctr">
              <a:buClr>
                <a:schemeClr val="accent2"/>
              </a:buClr>
              <a:buSzPct val="80000"/>
              <a:buFont typeface="Wingdings" panose="05000000000000000000" pitchFamily="2" charset="2"/>
              <a:buNone/>
              <a:defRPr sz="3400"/>
            </a:lvl2pPr>
            <a:lvl3pPr marL="914400" lvl="2" indent="0" algn="ctr">
              <a:buClr>
                <a:schemeClr val="bg2"/>
              </a:buClr>
              <a:buSzPct val="65000"/>
              <a:buFont typeface="Wingdings" panose="05000000000000000000" pitchFamily="2" charset="2"/>
              <a:buNone/>
              <a:defRPr sz="3400"/>
            </a:lvl3pPr>
            <a:lvl4pPr marL="1371600" lvl="3" indent="0" algn="ctr">
              <a:buClr>
                <a:schemeClr val="accent2"/>
              </a:buClr>
              <a:buSzPct val="70000"/>
              <a:buFont typeface="Wingdings" panose="05000000000000000000" pitchFamily="2" charset="2"/>
              <a:buNone/>
              <a:defRPr sz="3400"/>
            </a:lvl4pPr>
            <a:lvl5pPr marL="1828800" lvl="4" indent="0" algn="ctr">
              <a:buClr>
                <a:schemeClr val="bg2"/>
              </a:buClr>
              <a:buSzTx/>
              <a:buFont typeface="Wingdings" panose="05000000000000000000" pitchFamily="2" charset="2"/>
              <a:buNone/>
              <a:defRPr sz="3400"/>
            </a:lvl5pPr>
          </a:lstStyle>
          <a:p>
            <a:pPr lvl="0"/>
            <a:r>
              <a:rPr lang="zh-CN" altLang="en-US" noProof="1"/>
              <a:t>单击此处编辑母版副标题样式</a:t>
            </a:r>
            <a:endParaRPr lang="zh-CN" altLang="en-US" noProof="1"/>
          </a:p>
        </p:txBody>
      </p:sp>
      <p:sp>
        <p:nvSpPr>
          <p:cNvPr id="31" name="日期占位符 70671"/>
          <p:cNvSpPr>
            <a:spLocks noGrp="1"/>
          </p:cNvSpPr>
          <p:nvPr>
            <p:ph type="dt" sz="half" idx="2"/>
          </p:nvPr>
        </p:nvSpPr>
        <p:spPr>
          <a:xfrm>
            <a:off x="457200" y="6248400"/>
            <a:ext cx="2133600" cy="457200"/>
          </a:xfrm>
          <a:prstGeom prst="rect">
            <a:avLst/>
          </a:prstGeom>
        </p:spPr>
        <p:txBody>
          <a:bodyPr anchor="b"/>
          <a:lstStyle>
            <a:lvl1pPr>
              <a:defRPr sz="1200">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页脚占位符 70672"/>
          <p:cNvSpPr>
            <a:spLocks noGrp="1"/>
          </p:cNvSpPr>
          <p:nvPr>
            <p:ph type="ftr" sz="quarter" idx="3"/>
          </p:nvPr>
        </p:nvSpPr>
        <p:spPr>
          <a:xfrm>
            <a:off x="3124200" y="6248400"/>
            <a:ext cx="2895600" cy="457200"/>
          </a:xfrm>
          <a:prstGeom prst="rect">
            <a:avLst/>
          </a:prstGeom>
        </p:spPr>
        <p:txBody>
          <a:bodyPr anchor="b"/>
          <a:lstStyle>
            <a:lvl1pPr algn="ctr">
              <a:defRPr sz="1200">
                <a:latin typeface="Arial" panose="020B0604020202020204" pitchFamily="34" charset="0"/>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灯片编号占位符 70673"/>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8069E72E-F178-4835-8A80-96EDD07E39DF}"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EE4558E-A4B4-458A-B0ED-514C3114B7A5}"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6C798D9-C678-4351-A963-9E65F31BA36A}"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981200"/>
            <a:ext cx="4032504" cy="3886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54296" y="1981200"/>
            <a:ext cx="4032504" cy="3886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7C2C81FA-3A2B-4A26-A9BB-5235867AD32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6"/>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7"/>
          <p:cNvSpPr>
            <a:spLocks noGrp="1"/>
          </p:cNvSpPr>
          <p:nvPr>
            <p:ph type="ftr" sz="quarter" idx="1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8"/>
          <p:cNvSpPr>
            <a:spLocks noGrp="1"/>
          </p:cNvSpPr>
          <p:nvPr>
            <p:ph type="sldNum" sz="quarter" idx="1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EEE03105-6064-418B-9DD3-2ACB10FB8C60}"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日期占位符 2"/>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3"/>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4"/>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0EC5906-132F-44BC-A293-2DA15A192E65}"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日期占位符 3"/>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958A653E-9CD4-4FEC-9D1E-68D8DC5FE5FC}"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061793E9-2ECE-4C9E-8518-8115D5BFBCD6}"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3210E67-0F50-46E1-85B9-6D9DDBCEE00F}"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blipFill rotWithShape="0">
          <a:blip r:embed="rId2"/>
        </a:blip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457200"/>
            <a:ext cx="6052930" cy="5410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08CFF8F2-8025-4A39-9B20-7DB13B4CE536}"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页脚占位符 2"/>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6286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6286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日期占位符 8"/>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页脚占位符 5"/>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日期占位符 7"/>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36866"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36874"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706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7067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transition spd="med">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8" name="日期占位符 7"/>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7" Type="http://schemas.openxmlformats.org/officeDocument/2006/relationships/theme" Target="../theme/theme2.xml"/><Relationship Id="rId16" Type="http://schemas.openxmlformats.org/officeDocument/2006/relationships/image" Target="../media/image1.jpeg"/><Relationship Id="rId15" Type="http://schemas.openxmlformats.org/officeDocument/2006/relationships/slideLayout" Target="../slideLayouts/slideLayout29.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a:xfrm>
          <a:off x="0" y="0"/>
          <a:ext cx="0" cy="0"/>
          <a:chOff x="0" y="0"/>
          <a:chExt cx="0" cy="0"/>
        </a:xfrm>
      </p:grpSpPr>
      <p:sp>
        <p:nvSpPr>
          <p:cNvPr id="69634" name="页脚占位符 69633"/>
          <p:cNvSpPr>
            <a:spLocks noGrp="1"/>
          </p:cNvSpPr>
          <p:nvPr>
            <p:ph type="ftr" sz="quarter" idx="3"/>
          </p:nvPr>
        </p:nvSpPr>
        <p:spPr>
          <a:xfrm>
            <a:off x="3124200" y="6248400"/>
            <a:ext cx="2895600" cy="457200"/>
          </a:xfrm>
          <a:prstGeom prst="rect">
            <a:avLst/>
          </a:prstGeom>
          <a:noFill/>
          <a:ln w="9525">
            <a:noFill/>
          </a:ln>
        </p:spPr>
        <p:txBody>
          <a:bodyPr anchor="b"/>
          <a:lstStyle>
            <a:lvl1pPr algn="ctr" eaLnBrk="1" fontAlgn="ctr" hangingPunct="1">
              <a:defRPr sz="1200" noProof="1">
                <a:latin typeface="Arial" panose="020B0604020202020204" pitchFamily="34" charset="0"/>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635" name="灯片编号占位符 69634"/>
          <p:cNvSpPr>
            <a:spLocks noGrp="1"/>
          </p:cNvSpPr>
          <p:nvPr>
            <p:ph type="sldNum" sz="quarter" idx="4"/>
          </p:nvPr>
        </p:nvSpPr>
        <p:spPr>
          <a:xfrm>
            <a:off x="6553200" y="6248400"/>
            <a:ext cx="2133600" cy="457200"/>
          </a:xfrm>
          <a:prstGeom prst="rect">
            <a:avLst/>
          </a:prstGeom>
          <a:noFill/>
          <a:ln w="9525">
            <a:noFill/>
          </a:ln>
        </p:spPr>
        <p:txBody>
          <a:bodyPr vert="horz" wrap="square" lIns="91440" tIns="45720" rIns="91440" bIns="45720" numCol="1" anchor="b" anchorCtr="0" compatLnSpc="1"/>
          <a:lstStyle>
            <a:lvl1pPr algn="r" eaLnBrk="1" fontAlgn="ctr" hangingPunct="1">
              <a:defRPr sz="1200">
                <a:latin typeface="Arial Black" panose="020B0A04020102020204" pitchFamily="34" charset="0"/>
              </a:defRPr>
            </a:lvl1p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28" name="组合 69635"/>
          <p:cNvGrpSpPr/>
          <p:nvPr/>
        </p:nvGrpSpPr>
        <p:grpSpPr>
          <a:xfrm>
            <a:off x="0" y="0"/>
            <a:ext cx="9144000" cy="546100"/>
            <a:chOff x="0" y="0"/>
            <a:chExt cx="5760" cy="344"/>
          </a:xfrm>
        </p:grpSpPr>
        <p:sp>
          <p:nvSpPr>
            <p:cNvPr id="1032" name="矩形 69636"/>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矩形 69637"/>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矩形 69638"/>
            <p:cNvSpPr>
              <a:spLocks noChangeArrowheads="1"/>
            </p:cNvSpPr>
            <p:nvPr/>
          </p:nvSpPr>
          <p:spPr bwMode="auto">
            <a:xfrm>
              <a:off x="258" y="85"/>
              <a:ext cx="87" cy="89"/>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矩形 69639"/>
            <p:cNvSpPr>
              <a:spLocks noChangeArrowheads="1"/>
            </p:cNvSpPr>
            <p:nvPr/>
          </p:nvSpPr>
          <p:spPr bwMode="auto">
            <a:xfrm>
              <a:off x="345" y="0"/>
              <a:ext cx="88" cy="87"/>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矩形 69640"/>
            <p:cNvSpPr>
              <a:spLocks noChangeArrowheads="1"/>
            </p:cNvSpPr>
            <p:nvPr/>
          </p:nvSpPr>
          <p:spPr bwMode="auto">
            <a:xfrm>
              <a:off x="345" y="85"/>
              <a:ext cx="88" cy="89"/>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矩形 69641"/>
            <p:cNvSpPr>
              <a:spLocks noChangeArrowheads="1"/>
            </p:cNvSpPr>
            <p:nvPr/>
          </p:nvSpPr>
          <p:spPr bwMode="auto">
            <a:xfrm>
              <a:off x="173" y="173"/>
              <a:ext cx="86" cy="87"/>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矩形 69642"/>
            <p:cNvSpPr>
              <a:spLocks noChangeArrowheads="1"/>
            </p:cNvSpPr>
            <p:nvPr/>
          </p:nvSpPr>
          <p:spPr bwMode="auto">
            <a:xfrm>
              <a:off x="83" y="86"/>
              <a:ext cx="89" cy="87"/>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矩形 69643"/>
            <p:cNvSpPr>
              <a:spLocks noChangeArrowheads="1"/>
            </p:cNvSpPr>
            <p:nvPr/>
          </p:nvSpPr>
          <p:spPr bwMode="auto">
            <a:xfrm>
              <a:off x="258" y="171"/>
              <a:ext cx="87" cy="87"/>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矩形 69644"/>
            <p:cNvSpPr>
              <a:spLocks noChangeArrowheads="1"/>
            </p:cNvSpPr>
            <p:nvPr/>
          </p:nvSpPr>
          <p:spPr bwMode="auto">
            <a:xfrm>
              <a:off x="173" y="258"/>
              <a:ext cx="86" cy="86"/>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9" name="标题 69645"/>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30" name="文本占位符 69646"/>
          <p:cNvSpPr>
            <a:spLocks noGrp="1"/>
          </p:cNvSpPr>
          <p:nvPr>
            <p:ph type="body"/>
          </p:nvPr>
        </p:nvSpPr>
        <p:spPr>
          <a:xfrm>
            <a:off x="457200" y="1981200"/>
            <a:ext cx="822960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9648" name="日期占位符 69647"/>
          <p:cNvSpPr>
            <a:spLocks noGrp="1"/>
          </p:cNvSpPr>
          <p:nvPr>
            <p:ph type="dt" sz="half" idx="2"/>
          </p:nvPr>
        </p:nvSpPr>
        <p:spPr>
          <a:xfrm>
            <a:off x="457200" y="6245225"/>
            <a:ext cx="2133600" cy="476250"/>
          </a:xfrm>
          <a:prstGeom prst="rect">
            <a:avLst/>
          </a:prstGeom>
          <a:noFill/>
          <a:ln w="9525">
            <a:noFill/>
          </a:ln>
        </p:spPr>
        <p:txBody>
          <a:bodyPr anchor="b"/>
          <a:lstStyle>
            <a:lvl1pPr eaLnBrk="1" fontAlgn="ctr" hangingPunct="1">
              <a:defRPr sz="1200" noProof="1">
                <a:latin typeface="Arial" panose="020B0604020202020204" pitchFamily="34"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zoom/>
  </p:transition>
  <p:hf sldNum="0" hdr="0" ftr="0" dt="0"/>
  <p:txStyles>
    <p:titleStyle>
      <a:lvl1pPr algn="l" rtl="0" eaLnBrk="0" fontAlgn="base" hangingPunct="0">
        <a:spcBef>
          <a:spcPct val="0"/>
        </a:spcBef>
        <a:spcAft>
          <a:spcPct val="0"/>
        </a:spcAft>
        <a:defRPr sz="4400" kern="12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6"/>
        </a:blip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fontAlgn="base">
              <a:defRPr sz="12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963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fontAlgn="base">
              <a:defRPr sz="1200">
                <a:latin typeface="Arial Black" panose="020B0A04020102020204" pitchFamily="34" charset="0"/>
              </a:defRPr>
            </a:lvl1p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grpSp>
        <p:nvGrpSpPr>
          <p:cNvPr id="35844" name="Group 4"/>
          <p:cNvGrpSpPr/>
          <p:nvPr/>
        </p:nvGrpSpPr>
        <p:grpSpPr>
          <a:xfrm>
            <a:off x="0" y="0"/>
            <a:ext cx="9144000" cy="546100"/>
            <a:chOff x="0" y="0"/>
            <a:chExt cx="5760" cy="344"/>
          </a:xfrm>
        </p:grpSpPr>
        <p:sp>
          <p:nvSpPr>
            <p:cNvPr id="69637"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8"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9"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69640"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69641"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69642"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69643"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44"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69645"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35845"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35846"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964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fontAlgn="base">
              <a:defRPr sz="12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p:transition spd="med">
    <p:zoom/>
  </p:transition>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7.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19.png"/><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22.png"/><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27.png"/><Relationship Id="rId1"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29.jpeg"/><Relationship Id="rId1" Type="http://schemas.openxmlformats.org/officeDocument/2006/relationships/image" Target="../media/image28.jpeg"/></Relationships>
</file>

<file path=ppt/slides/_rels/slide3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1.xml"/><Relationship Id="rId3" Type="http://schemas.openxmlformats.org/officeDocument/2006/relationships/image" Target="../media/image31.png"/><Relationship Id="rId2" Type="http://schemas.openxmlformats.org/officeDocument/2006/relationships/image" Target="../media/image30.wmf"/><Relationship Id="rId1"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1.xml"/><Relationship Id="rId3" Type="http://schemas.openxmlformats.org/officeDocument/2006/relationships/image" Target="../media/image34.png"/><Relationship Id="rId2" Type="http://schemas.openxmlformats.org/officeDocument/2006/relationships/image" Target="../media/image33.wmf"/><Relationship Id="rId1" Type="http://schemas.openxmlformats.org/officeDocument/2006/relationships/oleObject" Target="../embeddings/oleObject2.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文本框 65538"/>
          <p:cNvSpPr txBox="1"/>
          <p:nvPr/>
        </p:nvSpPr>
        <p:spPr>
          <a:xfrm>
            <a:off x="174625" y="2166620"/>
            <a:ext cx="8637270" cy="1938020"/>
          </a:xfrm>
          <a:prstGeom prst="rect">
            <a:avLst/>
          </a:prstGeom>
          <a:noFill/>
          <a:ln w="9525">
            <a:noFill/>
          </a:ln>
        </p:spPr>
        <p:txBody>
          <a:bodyPr wrap="square">
            <a:spAutoFit/>
          </a:bodyPr>
          <a:lstStyle/>
          <a:p>
            <a:pPr marR="0" algn="ctr" defTabSz="914400" eaLnBrk="1" hangingPunct="1">
              <a:buClrTx/>
              <a:buSzTx/>
              <a:buFontTx/>
              <a:buNone/>
              <a:defRPr/>
            </a:pPr>
            <a:r>
              <a:rPr kumimoji="0" lang="zh-CN" altLang="en-US" sz="6000" b="1" kern="1200" cap="none" spc="0" normalizeH="0" baseline="0" noProof="1" smtClean="0">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rPr>
              <a:t>第九章 </a:t>
            </a:r>
            <a:endParaRPr kumimoji="0" lang="zh-CN" altLang="en-US" sz="6000" b="1" kern="1200" cap="none" spc="0" normalizeH="0" baseline="0" noProof="1" smtClean="0">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endParaRPr>
          </a:p>
          <a:p>
            <a:pPr marR="0" algn="ctr" defTabSz="914400" eaLnBrk="1" hangingPunct="1">
              <a:buClrTx/>
              <a:buSzTx/>
              <a:buFontTx/>
              <a:buNone/>
              <a:defRPr/>
            </a:pPr>
            <a:r>
              <a:rPr kumimoji="0" lang="zh-CN" altLang="en-US" sz="6000" b="1" kern="1200" cap="none" spc="0" normalizeH="0" baseline="0" noProof="1" smtClean="0">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rPr>
              <a:t>电路设计的仿真实现</a:t>
            </a:r>
            <a:endParaRPr kumimoji="0" lang="zh-CN" altLang="en-US" sz="6000" b="1" kern="1200" cap="none" spc="0" normalizeH="0" baseline="0" noProof="1">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endParaRP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739775" y="1312863"/>
            <a:ext cx="7496175" cy="3203954"/>
          </a:xfrm>
          <a:prstGeom prst="rect">
            <a:avLst/>
          </a:prstGeom>
          <a:noFill/>
          <a:ln w="9525">
            <a:noFill/>
            <a:miter lim="800000"/>
          </a:ln>
          <a:effectLst/>
        </p:spPr>
        <p:txBody>
          <a:bodyPr>
            <a:spAutoFit/>
          </a:bodyPr>
          <a:lstStyle/>
          <a:p>
            <a:pPr marL="285750" marR="0" lvl="0" indent="-285750" algn="l" defTabSz="914400" rtl="0" eaLnBrk="1" fontAlgn="base" latinLnBrk="0" hangingPunct="1">
              <a:lnSpc>
                <a:spcPct val="120000"/>
              </a:lnSpc>
              <a:spcBef>
                <a:spcPct val="50000"/>
              </a:spcBef>
              <a:spcAft>
                <a:spcPct val="0"/>
              </a:spcAft>
              <a:buClrTx/>
              <a:buSzTx/>
              <a:buFontTx/>
              <a:buNone/>
              <a:defRPr/>
            </a:pPr>
            <a:r>
              <a:rPr kumimoji="1" lang="zh-CN" altLang="en-US" sz="3200" b="1" i="0" u="none" strike="noStrike" kern="1200" cap="none" spc="0" normalizeH="0" baseline="0" noProof="0" dirty="0">
                <a:ln>
                  <a:noFill/>
                </a:ln>
                <a:solidFill>
                  <a:srgbClr val="6B03E9"/>
                </a:solidFill>
                <a:effectLst>
                  <a:outerShdw blurRad="38100" dist="38100" dir="2700000" algn="tl">
                    <a:srgbClr val="000000"/>
                  </a:outerShdw>
                </a:effectLst>
                <a:uLnTx/>
                <a:uFillTx/>
                <a:latin typeface="Times New Roman" panose="02020603050405020304" pitchFamily="18" charset="0"/>
                <a:ea typeface="华文宋体" panose="02010600040101010101" pitchFamily="2" charset="-122"/>
                <a:cs typeface="+mn-cs"/>
              </a:rPr>
              <a:t>学习要求：</a:t>
            </a:r>
            <a:endParaRPr kumimoji="1" lang="zh-CN" altLang="en-US" sz="3200" b="0" i="0" u="none" strike="noStrike" kern="1200" cap="none" spc="0" normalizeH="0" baseline="0" noProof="0" dirty="0">
              <a:ln>
                <a:noFill/>
              </a:ln>
              <a:solidFill>
                <a:srgbClr val="6B03E9"/>
              </a:solidFill>
              <a:effectLst/>
              <a:uLnTx/>
              <a:uFillTx/>
              <a:latin typeface="Times New Roman" panose="02020603050405020304" pitchFamily="18" charset="0"/>
              <a:ea typeface="华文宋体" panose="02010600040101010101" pitchFamily="2" charset="-122"/>
              <a:cs typeface="+mn-cs"/>
            </a:endParaRPr>
          </a:p>
          <a:p>
            <a:pPr marL="285750" lvl="0" indent="-285750" eaLnBrk="1" hangingPunct="1">
              <a:lnSpc>
                <a:spcPct val="120000"/>
              </a:lnSpc>
              <a:spcBef>
                <a:spcPct val="50000"/>
              </a:spcBef>
              <a:buFontTx/>
              <a:buChar char="•"/>
              <a:defRPr/>
            </a:pPr>
            <a:r>
              <a:rPr kumimoji="1" lang="zh-CN" altLang="en-US" sz="2600" b="1" dirty="0">
                <a:solidFill>
                  <a:srgbClr val="000000"/>
                </a:solidFill>
              </a:rPr>
              <a:t>以</a:t>
            </a:r>
            <a:r>
              <a:rPr kumimoji="1" lang="en-US" altLang="zh-CN" sz="2600" b="1" dirty="0" err="1">
                <a:solidFill>
                  <a:srgbClr val="000000"/>
                </a:solidFill>
              </a:rPr>
              <a:t>Logisim</a:t>
            </a:r>
            <a:r>
              <a:rPr kumimoji="1" lang="zh-CN" altLang="en-US" sz="2600" b="1" dirty="0">
                <a:solidFill>
                  <a:srgbClr val="000000"/>
                </a:solidFill>
              </a:rPr>
              <a:t>为工具，通过对数字电路进行仿真，直观感受电路图中各组件的</a:t>
            </a:r>
            <a:r>
              <a:rPr kumimoji="1" lang="zh-CN" altLang="en-US" sz="2600" b="1" dirty="0" smtClean="0">
                <a:solidFill>
                  <a:srgbClr val="000000"/>
                </a:solidFill>
              </a:rPr>
              <a:t>工作过程</a:t>
            </a:r>
            <a:r>
              <a:rPr kumimoji="1"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285750" indent="-285750" eaLnBrk="1" hangingPunct="1">
              <a:lnSpc>
                <a:spcPct val="120000"/>
              </a:lnSpc>
              <a:spcBef>
                <a:spcPct val="50000"/>
              </a:spcBef>
              <a:buFontTx/>
              <a:buChar char="•"/>
              <a:defRPr/>
            </a:pPr>
            <a:r>
              <a:rPr kumimoji="1" lang="zh-CN" altLang="en-US" sz="2600" b="1" dirty="0">
                <a:solidFill>
                  <a:srgbClr val="000000"/>
                </a:solidFill>
              </a:rPr>
              <a:t>认识</a:t>
            </a:r>
            <a:r>
              <a:rPr kumimoji="1" lang="zh-CN" altLang="en-US" sz="2600" b="1" dirty="0" smtClean="0">
                <a:solidFill>
                  <a:srgbClr val="000000"/>
                </a:solidFill>
              </a:rPr>
              <a:t>电路图</a:t>
            </a:r>
            <a:r>
              <a:rPr kumimoji="1" lang="zh-CN" altLang="en-US" sz="2600" b="1" dirty="0">
                <a:solidFill>
                  <a:srgbClr val="000000"/>
                </a:solidFill>
              </a:rPr>
              <a:t>，理解电路</a:t>
            </a:r>
            <a:r>
              <a:rPr kumimoji="1" lang="zh-CN" altLang="en-US" sz="2600" b="1" dirty="0" smtClean="0">
                <a:solidFill>
                  <a:srgbClr val="000000"/>
                </a:solidFill>
              </a:rPr>
              <a:t>设计方法；</a:t>
            </a:r>
            <a:endParaRPr kumimoji="1" lang="en-US" altLang="zh-CN" sz="2600" b="1" dirty="0">
              <a:solidFill>
                <a:srgbClr val="000000"/>
              </a:solidFill>
            </a:endParaRPr>
          </a:p>
          <a:p>
            <a:pPr marR="0" lvl="0" algn="l" defTabSz="914400" rtl="0" eaLnBrk="1" fontAlgn="base" latinLnBrk="0" hangingPunct="1">
              <a:lnSpc>
                <a:spcPct val="120000"/>
              </a:lnSpc>
              <a:spcBef>
                <a:spcPct val="50000"/>
              </a:spcBef>
              <a:spcAft>
                <a:spcPct val="0"/>
              </a:spcAft>
              <a:buClrTx/>
              <a:buSzTx/>
              <a:defRPr/>
            </a:pPr>
            <a:endPar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p:cTn id="7" dur="500" fill="hold"/>
                                        <p:tgtEl>
                                          <p:spTgt spid="48130"/>
                                        </p:tgtEl>
                                        <p:attrNameLst>
                                          <p:attrName>ppt_w</p:attrName>
                                        </p:attrNameLst>
                                      </p:cBhvr>
                                      <p:tavLst>
                                        <p:tav tm="0">
                                          <p:val>
                                            <p:fltVal val="0"/>
                                          </p:val>
                                        </p:tav>
                                        <p:tav tm="100000">
                                          <p:val>
                                            <p:strVal val="#ppt_w"/>
                                          </p:val>
                                        </p:tav>
                                      </p:tavLst>
                                    </p:anim>
                                    <p:anim calcmode="lin" valueType="num">
                                      <p:cBhvr>
                                        <p:cTn id="8" dur="500" fill="hold"/>
                                        <p:tgtEl>
                                          <p:spTgt spid="48130"/>
                                        </p:tgtEl>
                                        <p:attrNameLst>
                                          <p:attrName>ppt_h</p:attrName>
                                        </p:attrNameLst>
                                      </p:cBhvr>
                                      <p:tavLst>
                                        <p:tav tm="0">
                                          <p:val>
                                            <p:fltVal val="0"/>
                                          </p:val>
                                        </p:tav>
                                        <p:tav tm="100000">
                                          <p:val>
                                            <p:strVal val="#ppt_h"/>
                                          </p:val>
                                        </p:tav>
                                      </p:tavLst>
                                    </p:anim>
                                    <p:anim calcmode="lin" valueType="num">
                                      <p:cBhvr>
                                        <p:cTn id="9" dur="500" fill="hold"/>
                                        <p:tgtEl>
                                          <p:spTgt spid="48130"/>
                                        </p:tgtEl>
                                        <p:attrNameLst>
                                          <p:attrName>ppt_x</p:attrName>
                                        </p:attrNameLst>
                                      </p:cBhvr>
                                      <p:tavLst>
                                        <p:tav tm="0">
                                          <p:val>
                                            <p:fltVal val="0.5"/>
                                          </p:val>
                                        </p:tav>
                                        <p:tav tm="100000">
                                          <p:val>
                                            <p:strVal val="#ppt_x"/>
                                          </p:val>
                                        </p:tav>
                                      </p:tavLst>
                                    </p:anim>
                                    <p:anim calcmode="lin" valueType="num">
                                      <p:cBhvr>
                                        <p:cTn id="10" dur="500" fill="hold"/>
                                        <p:tgtEl>
                                          <p:spTgt spid="4813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871713"/>
          </a:xfrm>
          <a:prstGeom prst="rect">
            <a:avLst/>
          </a:prstGeom>
          <a:noFill/>
          <a:ln w="9525">
            <a:noFill/>
            <a:miter lim="800000"/>
          </a:ln>
          <a:effectLst/>
        </p:spPr>
        <p:txBody>
          <a:bodyPr>
            <a:spAutoFit/>
          </a:bodyPr>
          <a:lstStyle/>
          <a:p>
            <a:pPr lvl="0" eaLnBrk="1" hangingPunct="1">
              <a:lnSpc>
                <a:spcPct val="110000"/>
              </a:lnSpc>
              <a:spcBef>
                <a:spcPct val="10000"/>
              </a:spcBef>
              <a:spcAft>
                <a:spcPct val="10000"/>
              </a:spcAft>
              <a:defRPr/>
            </a:pPr>
            <a:r>
              <a:rPr kumimoji="1" lang="en-US" altLang="zh-CN" sz="2400" b="1" dirty="0" err="1">
                <a:solidFill>
                  <a:srgbClr val="000000"/>
                </a:solidFill>
              </a:rPr>
              <a:t>Logisim</a:t>
            </a:r>
            <a:r>
              <a:rPr kumimoji="1" lang="zh-CN" altLang="en-US" sz="2400" b="1" dirty="0">
                <a:solidFill>
                  <a:srgbClr val="000000"/>
                </a:solidFill>
              </a:rPr>
              <a:t>是一款电路设计的开源软件，最初的进行软件的开发是设计一款</a:t>
            </a:r>
            <a:r>
              <a:rPr kumimoji="1" lang="en-US" altLang="zh-CN" sz="2400" b="1" dirty="0">
                <a:solidFill>
                  <a:srgbClr val="000000"/>
                </a:solidFill>
              </a:rPr>
              <a:t>Unix</a:t>
            </a:r>
            <a:r>
              <a:rPr kumimoji="1" lang="zh-CN" altLang="en-US" sz="2400" b="1" dirty="0">
                <a:solidFill>
                  <a:srgbClr val="000000"/>
                </a:solidFill>
              </a:rPr>
              <a:t>兼容系统中模拟逻辑电路的模拟器。</a:t>
            </a:r>
            <a:endParaRPr kumimoji="1" lang="zh-CN" altLang="en-US" sz="2400" b="1" dirty="0">
              <a:solidFill>
                <a:srgbClr val="000000"/>
              </a:solidFill>
            </a:endParaRPr>
          </a:p>
        </p:txBody>
      </p:sp>
      <p:pic>
        <p:nvPicPr>
          <p:cNvPr id="4" name="图片 3"/>
          <p:cNvPicPr/>
          <p:nvPr/>
        </p:nvPicPr>
        <p:blipFill>
          <a:blip r:embed="rId1" cstate="print"/>
          <a:srcRect l="42854" t="18911" r="27835" b="43574"/>
          <a:stretch>
            <a:fillRect/>
          </a:stretch>
        </p:blipFill>
        <p:spPr>
          <a:xfrm>
            <a:off x="1867988" y="2086151"/>
            <a:ext cx="5123543" cy="4170958"/>
          </a:xfrm>
          <a:prstGeom prst="rect">
            <a:avLst/>
          </a:prstGeom>
          <a:noFill/>
          <a:ln>
            <a:noFill/>
          </a:ln>
        </p:spPr>
      </p:pic>
      <p:sp>
        <p:nvSpPr>
          <p:cNvPr id="3" name="矩形 2"/>
          <p:cNvSpPr/>
          <p:nvPr/>
        </p:nvSpPr>
        <p:spPr>
          <a:xfrm>
            <a:off x="3363658" y="6184910"/>
            <a:ext cx="2159566" cy="307777"/>
          </a:xfrm>
          <a:prstGeom prst="rect">
            <a:avLst/>
          </a:prstGeom>
        </p:spPr>
        <p:txBody>
          <a:bodyPr wrap="none">
            <a:spAutoFit/>
          </a:bodyPr>
          <a:lstStyle/>
          <a:p>
            <a:r>
              <a:rPr lang="zh-CN" altLang="en-US" sz="1400" b="1" dirty="0">
                <a:latin typeface="+mn-ea"/>
                <a:ea typeface="+mn-ea"/>
              </a:rPr>
              <a:t>图</a:t>
            </a:r>
            <a:r>
              <a:rPr lang="en-US" altLang="zh-CN" sz="1400" b="1" dirty="0">
                <a:latin typeface="+mn-ea"/>
                <a:ea typeface="+mn-ea"/>
              </a:rPr>
              <a:t>9.1  </a:t>
            </a:r>
            <a:r>
              <a:rPr lang="en-US" altLang="zh-CN" sz="1400" b="1" dirty="0" err="1">
                <a:latin typeface="+mn-ea"/>
                <a:ea typeface="+mn-ea"/>
              </a:rPr>
              <a:t>Logisim</a:t>
            </a:r>
            <a:r>
              <a:rPr lang="zh-CN" altLang="en-US" sz="1400" b="1" dirty="0">
                <a:latin typeface="+mn-ea"/>
                <a:ea typeface="+mn-ea"/>
              </a:rPr>
              <a:t>运行界面</a:t>
            </a:r>
            <a:endParaRPr lang="zh-CN" altLang="en-US" sz="1400" b="1" dirty="0">
              <a:latin typeface="+mn-ea"/>
              <a:ea typeface="+mn-ea"/>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.2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组件</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561975" y="1214755"/>
            <a:ext cx="3862070" cy="3949065"/>
          </a:xfrm>
          <a:prstGeom prst="rect">
            <a:avLst/>
          </a:prstGeom>
          <a:noFill/>
          <a:ln w="9525">
            <a:noFill/>
            <a:miter lim="800000"/>
          </a:ln>
          <a:effectLst/>
        </p:spPr>
        <p:txBody>
          <a:bodyPr wrap="square">
            <a:no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b="1" dirty="0" smtClean="0">
                <a:solidFill>
                  <a:srgbClr val="CC6600"/>
                </a:solidFill>
                <a:effectLst>
                  <a:outerShdw blurRad="38100" dist="38100" dir="2700000" algn="tl">
                    <a:srgbClr val="000000"/>
                  </a:outerShdw>
                </a:effectLst>
              </a:rPr>
              <a:t>9</a:t>
            </a: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.2.1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布线</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ct val="10000"/>
              </a:spcBef>
              <a:spcAft>
                <a:spcPct val="10000"/>
              </a:spcAft>
              <a:defRPr/>
            </a:pPr>
            <a:r>
              <a:rPr kumimoji="1" lang="zh-CN" altLang="en-US" sz="2400" b="1" dirty="0" smtClean="0">
                <a:solidFill>
                  <a:srgbClr val="000000"/>
                </a:solidFill>
              </a:rPr>
              <a:t>布线</a:t>
            </a:r>
            <a:r>
              <a:rPr kumimoji="1" lang="zh-CN" altLang="en-US" sz="2400" b="1" dirty="0">
                <a:solidFill>
                  <a:srgbClr val="000000"/>
                </a:solidFill>
              </a:rPr>
              <a:t>组件中包含连线所需的各种元件，组合电路和时序逻辑电路中常用的组件主要有：分线器、引脚、探头、隧道、时钟等</a:t>
            </a:r>
            <a:r>
              <a:rPr kumimoji="1" lang="zh-CN" altLang="en-US" sz="2400" b="1" dirty="0" smtClean="0">
                <a:solidFill>
                  <a:srgbClr val="000000"/>
                </a:solidFill>
              </a:rPr>
              <a:t>。</a:t>
            </a:r>
            <a:endParaRPr kumimoji="1" lang="en-US" altLang="zh-CN" sz="2400" b="1" dirty="0">
              <a:solidFill>
                <a:srgbClr val="000000"/>
              </a:solidFill>
            </a:endParaRPr>
          </a:p>
        </p:txBody>
      </p:sp>
      <p:pic>
        <p:nvPicPr>
          <p:cNvPr id="2050" name="图片 13"/>
          <p:cNvPicPr>
            <a:picLocks noChangeAspect="1" noChangeArrowheads="1"/>
          </p:cNvPicPr>
          <p:nvPr/>
        </p:nvPicPr>
        <p:blipFill>
          <a:blip r:embed="rId1">
            <a:extLst>
              <a:ext uri="{28A0092B-C50C-407E-A947-70E740481C1C}">
                <a14:useLocalDpi xmlns:a14="http://schemas.microsoft.com/office/drawing/2010/main" val="0"/>
              </a:ext>
            </a:extLst>
          </a:blip>
          <a:srcRect l="-1218" t="10629" r="81795" b="38641"/>
          <a:stretch>
            <a:fillRect/>
          </a:stretch>
        </p:blipFill>
        <p:spPr bwMode="auto">
          <a:xfrm>
            <a:off x="4950460" y="1664970"/>
            <a:ext cx="3620770" cy="45599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.2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组件</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2283702"/>
          </a:xfrm>
          <a:prstGeom prst="rect">
            <a:avLst/>
          </a:prstGeom>
          <a:noFill/>
          <a:ln w="9525">
            <a:noFill/>
            <a:miter lim="800000"/>
          </a:ln>
          <a:effectLst/>
        </p:spPr>
        <p:txBody>
          <a:bodyPr wrap="square">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9.2.1</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布线</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r>
              <a:rPr lang="en-US" altLang="zh-CN" sz="2000" b="1" dirty="0" smtClean="0"/>
              <a:t>1</a:t>
            </a:r>
            <a:r>
              <a:rPr lang="en-US" altLang="zh-CN" sz="2000" b="1" dirty="0"/>
              <a:t>.</a:t>
            </a:r>
            <a:r>
              <a:rPr lang="zh-CN" altLang="zh-CN" sz="2000" b="1" dirty="0"/>
              <a:t>分线器（</a:t>
            </a:r>
            <a:r>
              <a:rPr lang="en-US" altLang="zh-CN" sz="2000" b="1" dirty="0"/>
              <a:t>Splitter</a:t>
            </a:r>
            <a:r>
              <a:rPr lang="zh-CN" altLang="zh-CN" sz="2000" b="1" dirty="0"/>
              <a:t>）</a:t>
            </a:r>
            <a:endParaRPr lang="zh-CN" altLang="zh-CN" sz="2000" b="1" dirty="0"/>
          </a:p>
          <a:p>
            <a:r>
              <a:rPr lang="zh-CN" altLang="zh-CN" sz="2000" b="1" dirty="0"/>
              <a:t>分线器主要用于不同位宽数据的合并和分割。一些场景中，需要将某线路传递的多位数据中的一部分用于下一级电路中作为输入；或者在某些场景中，将不同线路上的数据按照一定规则合并成为更多位数的数据。</a:t>
            </a:r>
            <a:endParaRPr lang="zh-CN" altLang="zh-CN" sz="2000" b="1" dirty="0"/>
          </a:p>
          <a:p>
            <a:pPr lvl="0" eaLnBrk="1" hangingPunct="1">
              <a:lnSpc>
                <a:spcPct val="110000"/>
              </a:lnSpc>
              <a:spcBef>
                <a:spcPct val="10000"/>
              </a:spcBef>
              <a:spcAft>
                <a:spcPct val="10000"/>
              </a:spcAft>
              <a:defRPr/>
            </a:pPr>
            <a:endParaRPr kumimoji="1" lang="en-US" altLang="zh-CN" sz="2400" b="1" dirty="0">
              <a:solidFill>
                <a:srgbClr val="000000"/>
              </a:solidFill>
            </a:endParaRPr>
          </a:p>
        </p:txBody>
      </p:sp>
      <p:pic>
        <p:nvPicPr>
          <p:cNvPr id="2049" name="图片 16"/>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l="28986" t="13673" r="25380" b="41705"/>
          <a:stretch>
            <a:fillRect/>
          </a:stretch>
        </p:blipFill>
        <p:spPr bwMode="auto">
          <a:xfrm>
            <a:off x="2388434" y="3310567"/>
            <a:ext cx="4923539" cy="270893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3444949" y="222663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3444949" y="507461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228600" algn="ctr"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172">
                                            <p:txEl>
                                              <p:pRg st="2" end="2"/>
                                            </p:txEl>
                                          </p:spTgt>
                                        </p:tgtEl>
                                        <p:attrNameLst>
                                          <p:attrName>style.visibility</p:attrName>
                                        </p:attrNameLst>
                                      </p:cBhvr>
                                      <p:to>
                                        <p:strVal val="visible"/>
                                      </p:to>
                                    </p:set>
                                    <p:animEffect transition="in" filter="blinds(horizontal)">
                                      <p:cBhvr>
                                        <p:cTn id="23" dur="500"/>
                                        <p:tgtEl>
                                          <p:spTgt spid="71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.2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组件</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361507" y="1214438"/>
            <a:ext cx="8782494" cy="4074962"/>
          </a:xfrm>
          <a:prstGeom prst="rect">
            <a:avLst/>
          </a:prstGeom>
          <a:noFill/>
          <a:ln w="9525">
            <a:noFill/>
            <a:miter lim="800000"/>
          </a:ln>
          <a:effectLst/>
        </p:spPr>
        <p:txBody>
          <a:bodyPr wrap="square">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9.2.1</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布线</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r>
              <a:rPr kumimoji="1" lang="en-US" altLang="zh-CN" sz="2400" b="1" dirty="0">
                <a:solidFill>
                  <a:srgbClr val="000000"/>
                </a:solidFill>
              </a:rPr>
              <a:t>2.</a:t>
            </a:r>
            <a:r>
              <a:rPr kumimoji="1" lang="zh-CN" altLang="en-US" sz="2400" b="1" dirty="0">
                <a:solidFill>
                  <a:srgbClr val="000000"/>
                </a:solidFill>
              </a:rPr>
              <a:t>引脚（</a:t>
            </a:r>
            <a:r>
              <a:rPr kumimoji="1" lang="en-US" altLang="zh-CN" sz="2400" b="1" dirty="0">
                <a:solidFill>
                  <a:srgbClr val="000000"/>
                </a:solidFill>
              </a:rPr>
              <a:t>Pin</a:t>
            </a:r>
            <a:r>
              <a:rPr kumimoji="1" lang="zh-CN" altLang="en-US" sz="2400" b="1" dirty="0">
                <a:solidFill>
                  <a:srgbClr val="000000"/>
                </a:solidFill>
              </a:rPr>
              <a:t>）</a:t>
            </a:r>
            <a:endParaRPr kumimoji="1" lang="en-US" altLang="zh-CN" sz="2400" b="1" dirty="0">
              <a:solidFill>
                <a:srgbClr val="000000"/>
              </a:solidFill>
            </a:endParaRPr>
          </a:p>
          <a:p>
            <a:r>
              <a:rPr lang="zh-CN" altLang="zh-CN" sz="2000" b="1" dirty="0"/>
              <a:t>信号的输入输出都称为引脚</a:t>
            </a:r>
            <a:r>
              <a:rPr lang="zh-CN" altLang="zh-CN" sz="2000" b="1" dirty="0" smtClean="0"/>
              <a:t>，</a:t>
            </a:r>
            <a:r>
              <a:rPr lang="en-US" altLang="zh-CN" sz="2000" b="1" dirty="0"/>
              <a:t> </a:t>
            </a:r>
            <a:r>
              <a:rPr lang="en-US" altLang="zh-CN" sz="2000" b="1" dirty="0" smtClean="0"/>
              <a:t>      </a:t>
            </a:r>
            <a:r>
              <a:rPr lang="zh-CN" altLang="zh-CN" sz="2000" b="1" dirty="0" smtClean="0"/>
              <a:t>通过</a:t>
            </a:r>
            <a:r>
              <a:rPr lang="zh-CN" altLang="zh-CN" sz="2000" b="1" dirty="0"/>
              <a:t>对属性的修改可以改变该引脚是输入还是输出以及方向、是否三态门、数据位宽等。外观也能通过属性参数的设置，改变为箭头形状或经典</a:t>
            </a:r>
            <a:r>
              <a:rPr lang="en-US" altLang="zh-CN" sz="2000" b="1" dirty="0" err="1"/>
              <a:t>Logisim</a:t>
            </a:r>
            <a:r>
              <a:rPr lang="zh-CN" altLang="zh-CN" sz="2000" b="1" dirty="0"/>
              <a:t>的方形。一个完整的电路设计中，输入和输出信号使用错误，无法产生正确的输入</a:t>
            </a:r>
            <a:r>
              <a:rPr lang="en-US" altLang="zh-CN" sz="2000" b="1" dirty="0"/>
              <a:t>/</a:t>
            </a:r>
            <a:r>
              <a:rPr lang="zh-CN" altLang="zh-CN" sz="2000" b="1" dirty="0"/>
              <a:t>输出信号。</a:t>
            </a:r>
            <a:endParaRPr lang="zh-CN" altLang="zh-CN" sz="2000" b="1" dirty="0"/>
          </a:p>
          <a:p>
            <a:pPr lvl="0" eaLnBrk="1" hangingPunct="1">
              <a:lnSpc>
                <a:spcPct val="110000"/>
              </a:lnSpc>
              <a:spcBef>
                <a:spcPct val="10000"/>
              </a:spcBef>
              <a:spcAft>
                <a:spcPct val="10000"/>
              </a:spcAft>
              <a:defRPr/>
            </a:pPr>
            <a:r>
              <a:rPr kumimoji="1" lang="en-US" altLang="zh-CN" sz="2400" b="1" dirty="0" smtClean="0">
                <a:solidFill>
                  <a:srgbClr val="000000"/>
                </a:solidFill>
              </a:rPr>
              <a:t>3.</a:t>
            </a:r>
            <a:r>
              <a:rPr kumimoji="1" lang="zh-CN" altLang="en-US" sz="2400" b="1" dirty="0">
                <a:solidFill>
                  <a:srgbClr val="000000"/>
                </a:solidFill>
              </a:rPr>
              <a:t>探头（</a:t>
            </a:r>
            <a:r>
              <a:rPr kumimoji="1" lang="en-US" altLang="zh-CN" sz="2400" b="1" dirty="0">
                <a:solidFill>
                  <a:srgbClr val="000000"/>
                </a:solidFill>
              </a:rPr>
              <a:t>Probe</a:t>
            </a:r>
            <a:r>
              <a:rPr kumimoji="1" lang="zh-CN" altLang="en-US" sz="2400" b="1" dirty="0" smtClean="0">
                <a:solidFill>
                  <a:srgbClr val="000000"/>
                </a:solidFill>
              </a:rPr>
              <a:t>）</a:t>
            </a:r>
            <a:endParaRPr kumimoji="1" lang="en-US" altLang="zh-CN" sz="2400" b="1" dirty="0" smtClean="0">
              <a:solidFill>
                <a:srgbClr val="000000"/>
              </a:solidFill>
            </a:endParaRPr>
          </a:p>
          <a:p>
            <a:pPr lvl="0" eaLnBrk="1" hangingPunct="1">
              <a:lnSpc>
                <a:spcPct val="110000"/>
              </a:lnSpc>
              <a:spcBef>
                <a:spcPct val="10000"/>
              </a:spcBef>
              <a:spcAft>
                <a:spcPct val="10000"/>
              </a:spcAft>
              <a:defRPr/>
            </a:pPr>
            <a:r>
              <a:rPr lang="zh-CN" altLang="en-US" sz="2000" b="1" dirty="0"/>
              <a:t>探头可以想象是一个插入电路的信号探测器，通过小窗口随时监测线路上信号的变化。一般用于多位信号的线路监测。探头的实时显示能够观察线路上的数值，在调试</a:t>
            </a:r>
            <a:r>
              <a:rPr lang="en-US" altLang="zh-CN" sz="2000" b="1" dirty="0" err="1"/>
              <a:t>Logisim</a:t>
            </a:r>
            <a:r>
              <a:rPr lang="zh-CN" altLang="en-US" sz="2000" b="1" dirty="0"/>
              <a:t>电路过程中，适当加入探头，能够沿线路查看信号出现的问题。</a:t>
            </a:r>
            <a:endParaRPr lang="en-US" altLang="zh-CN" sz="2000" b="1" dirty="0"/>
          </a:p>
        </p:txBody>
      </p:sp>
      <p:sp>
        <p:nvSpPr>
          <p:cNvPr id="2" name="Rectangle 3"/>
          <p:cNvSpPr>
            <a:spLocks noChangeArrowheads="1"/>
          </p:cNvSpPr>
          <p:nvPr/>
        </p:nvSpPr>
        <p:spPr bwMode="auto">
          <a:xfrm>
            <a:off x="3444949" y="222663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3444949" y="507461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228600" algn="ctr"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pic>
        <p:nvPicPr>
          <p:cNvPr id="16" name="图片 15"/>
          <p:cNvPicPr/>
          <p:nvPr/>
        </p:nvPicPr>
        <p:blipFill>
          <a:blip r:embed="rId1" cstate="print">
            <a:clrChange>
              <a:clrFrom>
                <a:srgbClr val="FFFFFF">
                  <a:alpha val="100000"/>
                </a:srgbClr>
              </a:clrFrom>
              <a:clrTo>
                <a:srgbClr val="FFFFFF">
                  <a:alpha val="100000"/>
                  <a:alpha val="0"/>
                </a:srgbClr>
              </a:clrTo>
            </a:clrChange>
          </a:blip>
          <a:srcRect l="29853" t="7887" r="27273" b="57094"/>
          <a:stretch>
            <a:fillRect/>
          </a:stretch>
        </p:blipFill>
        <p:spPr>
          <a:xfrm>
            <a:off x="4740592" y="4779502"/>
            <a:ext cx="3347131" cy="1652141"/>
          </a:xfrm>
          <a:prstGeom prst="rect">
            <a:avLst/>
          </a:prstGeom>
          <a:noFill/>
          <a:ln>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172">
                                            <p:txEl>
                                              <p:pRg st="2" end="2"/>
                                            </p:txEl>
                                          </p:spTgt>
                                        </p:tgtEl>
                                        <p:attrNameLst>
                                          <p:attrName>style.visibility</p:attrName>
                                        </p:attrNameLst>
                                      </p:cBhvr>
                                      <p:to>
                                        <p:strVal val="visible"/>
                                      </p:to>
                                    </p:set>
                                    <p:animEffect transition="in" filter="blinds(horizontal)">
                                      <p:cBhvr>
                                        <p:cTn id="23" dur="500"/>
                                        <p:tgtEl>
                                          <p:spTgt spid="717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172">
                                            <p:txEl>
                                              <p:pRg st="3" end="3"/>
                                            </p:txEl>
                                          </p:spTgt>
                                        </p:tgtEl>
                                        <p:attrNameLst>
                                          <p:attrName>style.visibility</p:attrName>
                                        </p:attrNameLst>
                                      </p:cBhvr>
                                      <p:to>
                                        <p:strVal val="visible"/>
                                      </p:to>
                                    </p:set>
                                    <p:animEffect transition="in" filter="blinds(horizontal)">
                                      <p:cBhvr>
                                        <p:cTn id="28" dur="500"/>
                                        <p:tgtEl>
                                          <p:spTgt spid="717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172">
                                            <p:txEl>
                                              <p:pRg st="4" end="4"/>
                                            </p:txEl>
                                          </p:spTgt>
                                        </p:tgtEl>
                                        <p:attrNameLst>
                                          <p:attrName>style.visibility</p:attrName>
                                        </p:attrNameLst>
                                      </p:cBhvr>
                                      <p:to>
                                        <p:strVal val="visible"/>
                                      </p:to>
                                    </p:set>
                                    <p:animEffect transition="in" filter="blinds(horizontal)">
                                      <p:cBhvr>
                                        <p:cTn id="33" dur="500"/>
                                        <p:tgtEl>
                                          <p:spTgt spid="717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.2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组件</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361507" y="1214438"/>
            <a:ext cx="8782494" cy="4271939"/>
          </a:xfrm>
          <a:prstGeom prst="rect">
            <a:avLst/>
          </a:prstGeom>
          <a:noFill/>
          <a:ln w="9525">
            <a:noFill/>
            <a:miter lim="800000"/>
          </a:ln>
          <a:effectLst/>
        </p:spPr>
        <p:txBody>
          <a:bodyPr wrap="square">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9.2.1</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布线</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r>
              <a:rPr kumimoji="1" lang="en-US" altLang="zh-CN" b="1" dirty="0">
                <a:solidFill>
                  <a:srgbClr val="000000"/>
                </a:solidFill>
              </a:rPr>
              <a:t>4.</a:t>
            </a:r>
            <a:r>
              <a:rPr kumimoji="1" lang="zh-CN" altLang="en-US" sz="2400" b="1" dirty="0">
                <a:solidFill>
                  <a:srgbClr val="000000"/>
                </a:solidFill>
              </a:rPr>
              <a:t>隧道（</a:t>
            </a:r>
            <a:r>
              <a:rPr kumimoji="1" lang="en-US" altLang="zh-CN" sz="2400" b="1" dirty="0">
                <a:solidFill>
                  <a:srgbClr val="000000"/>
                </a:solidFill>
              </a:rPr>
              <a:t>Tunnel</a:t>
            </a:r>
            <a:r>
              <a:rPr kumimoji="1" lang="zh-CN" altLang="en-US" sz="2400" b="1" dirty="0">
                <a:solidFill>
                  <a:srgbClr val="000000"/>
                </a:solidFill>
              </a:rPr>
              <a:t>）</a:t>
            </a:r>
            <a:endParaRPr kumimoji="1" lang="en-US" altLang="zh-CN" sz="2400" b="1" dirty="0">
              <a:solidFill>
                <a:srgbClr val="000000"/>
              </a:solidFill>
            </a:endParaRPr>
          </a:p>
          <a:p>
            <a:r>
              <a:rPr lang="zh-CN" altLang="en-US" sz="2400" b="1" dirty="0"/>
              <a:t>隧道是为解决复杂电路设计中连线过多而设计的，并没有相应的真实器件。通过隧道组件，将两个不同位置的部件连接起来，减少了电线穿越过多元件，造成设计图的可读性较差。</a:t>
            </a:r>
            <a:endParaRPr lang="en-US" altLang="zh-CN" sz="2400" b="1" dirty="0"/>
          </a:p>
          <a:p>
            <a:endParaRPr lang="en-US" altLang="zh-CN" sz="2400" b="1" dirty="0"/>
          </a:p>
          <a:p>
            <a:endParaRPr lang="en-US" altLang="zh-CN" sz="2400" b="1" dirty="0"/>
          </a:p>
          <a:p>
            <a:endParaRPr lang="en-US" altLang="zh-CN" sz="2400" b="1" dirty="0"/>
          </a:p>
          <a:p>
            <a:r>
              <a:rPr kumimoji="1" lang="en-US" altLang="zh-CN" sz="2000" b="1" dirty="0" smtClean="0">
                <a:solidFill>
                  <a:srgbClr val="000000"/>
                </a:solidFill>
              </a:rPr>
              <a:t>5</a:t>
            </a:r>
            <a:r>
              <a:rPr kumimoji="1" lang="en-US" altLang="zh-CN" sz="2000" b="1" dirty="0">
                <a:solidFill>
                  <a:srgbClr val="000000"/>
                </a:solidFill>
              </a:rPr>
              <a:t>.</a:t>
            </a:r>
            <a:r>
              <a:rPr kumimoji="1" lang="zh-CN" altLang="en-US" sz="2000" b="1" dirty="0">
                <a:solidFill>
                  <a:srgbClr val="000000"/>
                </a:solidFill>
              </a:rPr>
              <a:t>时钟（</a:t>
            </a:r>
            <a:r>
              <a:rPr kumimoji="1" lang="en-US" altLang="zh-CN" sz="2000" b="1" dirty="0">
                <a:solidFill>
                  <a:srgbClr val="000000"/>
                </a:solidFill>
              </a:rPr>
              <a:t>Clock</a:t>
            </a:r>
            <a:r>
              <a:rPr kumimoji="1" lang="zh-CN" altLang="en-US" sz="2000" b="1" dirty="0">
                <a:solidFill>
                  <a:srgbClr val="000000"/>
                </a:solidFill>
              </a:rPr>
              <a:t>）</a:t>
            </a:r>
            <a:endParaRPr kumimoji="1" lang="en-US" altLang="zh-CN" sz="2000" b="1" dirty="0">
              <a:solidFill>
                <a:srgbClr val="000000"/>
              </a:solidFill>
            </a:endParaRPr>
          </a:p>
          <a:p>
            <a:pPr lvl="0" eaLnBrk="1" hangingPunct="1">
              <a:lnSpc>
                <a:spcPct val="110000"/>
              </a:lnSpc>
              <a:spcBef>
                <a:spcPct val="10000"/>
              </a:spcBef>
              <a:spcAft>
                <a:spcPct val="10000"/>
              </a:spcAft>
              <a:defRPr/>
            </a:pPr>
            <a:r>
              <a:rPr lang="zh-CN" altLang="en-US" sz="2000" b="1" dirty="0"/>
              <a:t>时钟信号主要用于时序电路的设计中，在线路上产生一系列有规律的</a:t>
            </a:r>
            <a:r>
              <a:rPr lang="en-US" altLang="zh-CN" sz="2000" b="1" dirty="0"/>
              <a:t>0-1</a:t>
            </a:r>
            <a:r>
              <a:rPr lang="zh-CN" altLang="en-US" sz="2000" b="1" dirty="0"/>
              <a:t>输出，为时序电路提供同步或异步的仿真模拟信号。</a:t>
            </a:r>
            <a:endParaRPr lang="en-US" altLang="zh-CN" sz="2000" b="1" dirty="0"/>
          </a:p>
        </p:txBody>
      </p:sp>
      <p:pic>
        <p:nvPicPr>
          <p:cNvPr id="11" name="图片 10" descr="隧道演示"/>
          <p:cNvPicPr/>
          <p:nvPr/>
        </p:nvPicPr>
        <p:blipFill>
          <a:blip r:embed="rId1" cstate="print"/>
          <a:stretch>
            <a:fillRect/>
          </a:stretch>
        </p:blipFill>
        <p:spPr>
          <a:xfrm>
            <a:off x="4007990" y="3293724"/>
            <a:ext cx="2854733" cy="1168990"/>
          </a:xfrm>
          <a:prstGeom prst="rect">
            <a:avLst/>
          </a:prstGeom>
        </p:spPr>
      </p:pic>
      <p:pic>
        <p:nvPicPr>
          <p:cNvPr id="12" name="图片 22"/>
          <p:cNvPicPr>
            <a:picLocks noChangeAspect="1" noChangeArrowheads="1"/>
          </p:cNvPicPr>
          <p:nvPr/>
        </p:nvPicPr>
        <p:blipFill>
          <a:blip r:embed="rId2">
            <a:extLst>
              <a:ext uri="{28A0092B-C50C-407E-A947-70E740481C1C}">
                <a14:useLocalDpi xmlns:a14="http://schemas.microsoft.com/office/drawing/2010/main" val="0"/>
              </a:ext>
            </a:extLst>
          </a:blip>
          <a:srcRect t="54971" r="75006" b="18237"/>
          <a:stretch>
            <a:fillRect/>
          </a:stretch>
        </p:blipFill>
        <p:spPr bwMode="auto">
          <a:xfrm>
            <a:off x="5709920" y="5107940"/>
            <a:ext cx="2748915" cy="16586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.2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组件</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1865126"/>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b="1" dirty="0" smtClean="0">
                <a:solidFill>
                  <a:srgbClr val="CC6600"/>
                </a:solidFill>
                <a:effectLst>
                  <a:outerShdw blurRad="38100" dist="38100" dir="2700000" algn="tl">
                    <a:srgbClr val="000000"/>
                  </a:outerShdw>
                </a:effectLst>
              </a:rPr>
              <a:t>9</a:t>
            </a: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.2.2 </a:t>
            </a:r>
            <a:r>
              <a:rPr kumimoji="1" lang="zh-CN" altLang="en-US" b="1" dirty="0">
                <a:solidFill>
                  <a:srgbClr val="CC6600"/>
                </a:solidFill>
                <a:effectLst>
                  <a:outerShdw blurRad="38100" dist="38100" dir="2700000" algn="tl">
                    <a:srgbClr val="000000"/>
                  </a:outerShdw>
                </a:effectLst>
              </a:rPr>
              <a:t>逻辑</a:t>
            </a:r>
            <a:r>
              <a:rPr kumimoji="1" lang="zh-CN" altLang="en-US" b="1" dirty="0" smtClean="0">
                <a:solidFill>
                  <a:srgbClr val="CC6600"/>
                </a:solidFill>
                <a:effectLst>
                  <a:outerShdw blurRad="38100" dist="38100" dir="2700000" algn="tl">
                    <a:srgbClr val="000000"/>
                  </a:outerShdw>
                </a:effectLst>
              </a:rPr>
              <a:t>门组件</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ct val="10000"/>
              </a:spcBef>
              <a:spcAft>
                <a:spcPct val="10000"/>
              </a:spcAft>
              <a:defRPr/>
            </a:pPr>
            <a:r>
              <a:rPr kumimoji="1" lang="zh-CN" altLang="en-US" sz="2400" b="1" dirty="0">
                <a:solidFill>
                  <a:srgbClr val="000000"/>
                </a:solidFill>
              </a:rPr>
              <a:t>        </a:t>
            </a:r>
            <a:r>
              <a:rPr kumimoji="1" lang="zh-CN" altLang="en-US" sz="2400" b="1" dirty="0" smtClean="0">
                <a:solidFill>
                  <a:srgbClr val="000000"/>
                </a:solidFill>
              </a:rPr>
              <a:t>数字</a:t>
            </a:r>
            <a:r>
              <a:rPr kumimoji="1" lang="zh-CN" altLang="en-US" sz="2400" b="1" dirty="0">
                <a:solidFill>
                  <a:srgbClr val="000000"/>
                </a:solidFill>
              </a:rPr>
              <a:t>逻辑电路中的基础门电路只有“与门”“或门”和“非门”三种，按照目前电子元件的种类，</a:t>
            </a:r>
            <a:r>
              <a:rPr kumimoji="1" lang="en-US" altLang="zh-CN" sz="2400" b="1" dirty="0" err="1">
                <a:solidFill>
                  <a:srgbClr val="000000"/>
                </a:solidFill>
              </a:rPr>
              <a:t>Logisim</a:t>
            </a:r>
            <a:r>
              <a:rPr kumimoji="1" lang="zh-CN" altLang="en-US" sz="2400" b="1" dirty="0">
                <a:solidFill>
                  <a:srgbClr val="000000"/>
                </a:solidFill>
              </a:rPr>
              <a:t>增加了与非门、或非门、异或门等逻辑门组件</a:t>
            </a:r>
            <a:r>
              <a:rPr kumimoji="1" lang="zh-CN" altLang="en-US" sz="2400" b="1" dirty="0" smtClean="0">
                <a:solidFill>
                  <a:srgbClr val="000000"/>
                </a:solidFill>
              </a:rPr>
              <a:t>，</a:t>
            </a:r>
            <a:r>
              <a:rPr kumimoji="1" lang="zh-CN" altLang="en-US" sz="2400" b="1" dirty="0">
                <a:solidFill>
                  <a:srgbClr val="000000"/>
                </a:solidFill>
              </a:rPr>
              <a:t>如图所示</a:t>
            </a:r>
            <a:r>
              <a:rPr kumimoji="1" lang="zh-CN" altLang="en-US" sz="2400" b="1" dirty="0" smtClean="0">
                <a:solidFill>
                  <a:srgbClr val="000000"/>
                </a:solidFill>
              </a:rPr>
              <a:t>。</a:t>
            </a:r>
            <a:endParaRPr kumimoji="1" lang="en-US" altLang="zh-CN" sz="2400" b="1" dirty="0">
              <a:solidFill>
                <a:srgbClr val="000000"/>
              </a:solidFill>
            </a:endParaRPr>
          </a:p>
        </p:txBody>
      </p:sp>
      <p:pic>
        <p:nvPicPr>
          <p:cNvPr id="4" name="图片 3"/>
          <p:cNvPicPr/>
          <p:nvPr/>
        </p:nvPicPr>
        <p:blipFill>
          <a:blip r:embed="rId1" cstate="print"/>
          <a:srcRect r="74451" b="44878"/>
          <a:stretch>
            <a:fillRect/>
          </a:stretch>
        </p:blipFill>
        <p:spPr>
          <a:xfrm>
            <a:off x="2943384" y="3079564"/>
            <a:ext cx="3201670" cy="3561034"/>
          </a:xfrm>
          <a:prstGeom prst="rect">
            <a:avLst/>
          </a:prstGeom>
          <a:noFill/>
          <a:ln>
            <a:noFill/>
          </a:ln>
        </p:spPr>
      </p:pic>
      <p:sp>
        <p:nvSpPr>
          <p:cNvPr id="5" name="矩形 4"/>
          <p:cNvSpPr/>
          <p:nvPr/>
        </p:nvSpPr>
        <p:spPr>
          <a:xfrm>
            <a:off x="3532909" y="6648994"/>
            <a:ext cx="825867" cy="246221"/>
          </a:xfrm>
          <a:prstGeom prst="rect">
            <a:avLst/>
          </a:prstGeom>
        </p:spPr>
        <p:txBody>
          <a:bodyPr wrap="none">
            <a:spAutoFit/>
          </a:bodyPr>
          <a:lstStyle/>
          <a:p>
            <a:r>
              <a:rPr lang="zh-CN" altLang="zh-CN" sz="1000" b="1" kern="100" dirty="0" smtClean="0">
                <a:cs typeface="Times New Roman" panose="02020603050405020304" pitchFamily="18" charset="0"/>
              </a:rPr>
              <a:t>复用器组件</a:t>
            </a:r>
            <a:endParaRPr lang="zh-CN" altLang="en-US" sz="10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.2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组件</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930" y="1214755"/>
            <a:ext cx="4602480" cy="4701540"/>
          </a:xfrm>
          <a:prstGeom prst="rect">
            <a:avLst/>
          </a:prstGeom>
          <a:noFill/>
          <a:ln w="9525">
            <a:noFill/>
            <a:miter lim="800000"/>
          </a:ln>
          <a:effectLst/>
        </p:spPr>
        <p:txBody>
          <a:bodyPr>
            <a:no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b="1" dirty="0" smtClean="0">
                <a:solidFill>
                  <a:srgbClr val="CC6600"/>
                </a:solidFill>
                <a:effectLst>
                  <a:outerShdw blurRad="38100" dist="38100" dir="2700000" algn="tl">
                    <a:srgbClr val="000000"/>
                  </a:outerShdw>
                </a:effectLst>
              </a:rPr>
              <a:t>9</a:t>
            </a: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.2.3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其他</a:t>
            </a:r>
            <a:r>
              <a:rPr kumimoji="1" lang="zh-CN" altLang="en-US" b="1" dirty="0" smtClean="0">
                <a:solidFill>
                  <a:srgbClr val="CC6600"/>
                </a:solidFill>
                <a:effectLst>
                  <a:outerShdw blurRad="38100" dist="38100" dir="2700000" algn="tl">
                    <a:srgbClr val="000000"/>
                  </a:outerShdw>
                </a:effectLst>
              </a:rPr>
              <a:t>组件</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ct val="10000"/>
              </a:spcBef>
              <a:spcAft>
                <a:spcPct val="10000"/>
              </a:spcAft>
              <a:defRPr/>
            </a:pPr>
            <a:r>
              <a:rPr kumimoji="1" lang="zh-CN" altLang="en-US" sz="2400" b="1" dirty="0" smtClean="0">
                <a:solidFill>
                  <a:srgbClr val="000000"/>
                </a:solidFill>
              </a:rPr>
              <a:t>       </a:t>
            </a:r>
            <a:r>
              <a:rPr kumimoji="1" lang="en-US" altLang="zh-CN" sz="2400" b="1" dirty="0" err="1" smtClean="0">
                <a:solidFill>
                  <a:srgbClr val="000000"/>
                </a:solidFill>
              </a:rPr>
              <a:t>Logisim</a:t>
            </a:r>
            <a:r>
              <a:rPr kumimoji="1" lang="zh-CN" altLang="en-US" sz="2400" b="1" dirty="0">
                <a:solidFill>
                  <a:srgbClr val="000000"/>
                </a:solidFill>
              </a:rPr>
              <a:t>中组件库提供的可用器件很多，按照目前电子元件的种类，</a:t>
            </a:r>
            <a:r>
              <a:rPr kumimoji="1" lang="en-US" altLang="zh-CN" sz="2400" b="1" dirty="0" err="1">
                <a:solidFill>
                  <a:srgbClr val="000000"/>
                </a:solidFill>
              </a:rPr>
              <a:t>Logisim</a:t>
            </a:r>
            <a:r>
              <a:rPr kumimoji="1" lang="zh-CN" altLang="en-US" sz="2400" b="1" dirty="0">
                <a:solidFill>
                  <a:srgbClr val="000000"/>
                </a:solidFill>
              </a:rPr>
              <a:t>将其他元件分类集成到左侧的组件库中供用户使用。</a:t>
            </a:r>
            <a:r>
              <a:rPr kumimoji="1" lang="zh-CN" altLang="en-US" sz="2400" b="1" dirty="0" smtClean="0">
                <a:solidFill>
                  <a:srgbClr val="000000"/>
                </a:solidFill>
              </a:rPr>
              <a:t>图所</a:t>
            </a:r>
            <a:r>
              <a:rPr kumimoji="1" lang="zh-CN" altLang="en-US" sz="2400" b="1" dirty="0">
                <a:solidFill>
                  <a:srgbClr val="000000"/>
                </a:solidFill>
              </a:rPr>
              <a:t>示是复用器组件，其中的多路复用器、译码器、优先编码器都是组合逻辑电路中的常见组件</a:t>
            </a:r>
            <a:r>
              <a:rPr kumimoji="1" lang="zh-CN" altLang="en-US" sz="2400" b="1" dirty="0" smtClean="0">
                <a:solidFill>
                  <a:srgbClr val="000000"/>
                </a:solidFill>
              </a:rPr>
              <a:t>。</a:t>
            </a:r>
            <a:endParaRPr kumimoji="1" lang="en-US" altLang="zh-CN" sz="2400" b="1" dirty="0" smtClean="0">
              <a:solidFill>
                <a:srgbClr val="000000"/>
              </a:solidFill>
            </a:endParaRPr>
          </a:p>
        </p:txBody>
      </p:sp>
      <p:pic>
        <p:nvPicPr>
          <p:cNvPr id="4" name="图片 3"/>
          <p:cNvPicPr/>
          <p:nvPr/>
        </p:nvPicPr>
        <p:blipFill>
          <a:blip r:embed="rId1" cstate="print"/>
          <a:srcRect b="5632"/>
          <a:stretch>
            <a:fillRect/>
          </a:stretch>
        </p:blipFill>
        <p:spPr>
          <a:xfrm>
            <a:off x="5635987" y="1960063"/>
            <a:ext cx="2748643" cy="3387816"/>
          </a:xfrm>
          <a:prstGeom prst="rect">
            <a:avLst/>
          </a:prstGeom>
          <a:noFill/>
          <a:ln>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.2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组件</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930" y="1214755"/>
            <a:ext cx="5098415" cy="4484370"/>
          </a:xfrm>
          <a:prstGeom prst="rect">
            <a:avLst/>
          </a:prstGeom>
          <a:noFill/>
          <a:ln w="9525">
            <a:noFill/>
            <a:miter lim="800000"/>
          </a:ln>
          <a:effectLst/>
        </p:spPr>
        <p:txBody>
          <a:bodyPr wrap="square">
            <a:no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b="1" dirty="0" smtClean="0">
                <a:solidFill>
                  <a:srgbClr val="CC6600"/>
                </a:solidFill>
                <a:effectLst>
                  <a:outerShdw blurRad="38100" dist="38100" dir="2700000" algn="tl">
                    <a:srgbClr val="000000"/>
                  </a:outerShdw>
                </a:effectLst>
              </a:rPr>
              <a:t>9</a:t>
            </a: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.2.3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其他</a:t>
            </a:r>
            <a:r>
              <a:rPr kumimoji="1" lang="zh-CN" altLang="en-US" b="1" dirty="0" smtClean="0">
                <a:solidFill>
                  <a:srgbClr val="CC6600"/>
                </a:solidFill>
                <a:effectLst>
                  <a:outerShdw blurRad="38100" dist="38100" dir="2700000" algn="tl">
                    <a:srgbClr val="000000"/>
                  </a:outerShdw>
                </a:effectLst>
              </a:rPr>
              <a:t>组件</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ct val="10000"/>
              </a:spcBef>
              <a:spcAft>
                <a:spcPct val="10000"/>
              </a:spcAft>
              <a:defRPr/>
            </a:pPr>
            <a:r>
              <a:rPr kumimoji="1" lang="zh-CN" altLang="en-US" sz="2400" b="1" dirty="0" smtClean="0">
                <a:solidFill>
                  <a:srgbClr val="000000"/>
                </a:solidFill>
              </a:rPr>
              <a:t>       算术</a:t>
            </a:r>
            <a:r>
              <a:rPr kumimoji="1" lang="zh-CN" altLang="en-US" sz="2400" b="1" dirty="0">
                <a:solidFill>
                  <a:srgbClr val="000000"/>
                </a:solidFill>
              </a:rPr>
              <a:t>组件中的组件主要完成各种运算器的模拟实现。如：加</a:t>
            </a:r>
            <a:r>
              <a:rPr kumimoji="1" lang="en-US" altLang="zh-CN" sz="2400" b="1" dirty="0">
                <a:solidFill>
                  <a:srgbClr val="000000"/>
                </a:solidFill>
              </a:rPr>
              <a:t>/</a:t>
            </a:r>
            <a:r>
              <a:rPr kumimoji="1" lang="zh-CN" altLang="en-US" sz="2400" b="1" dirty="0">
                <a:solidFill>
                  <a:srgbClr val="000000"/>
                </a:solidFill>
              </a:rPr>
              <a:t>减法器、比较器、移位器等也是组合逻辑电路中常见的组件，这些组件的使用方法和基本门电路类似，在</a:t>
            </a:r>
            <a:r>
              <a:rPr kumimoji="1" lang="en-US" altLang="zh-CN" sz="2400" b="1" dirty="0" err="1">
                <a:solidFill>
                  <a:srgbClr val="000000"/>
                </a:solidFill>
              </a:rPr>
              <a:t>Logisim</a:t>
            </a:r>
            <a:r>
              <a:rPr kumimoji="1" lang="zh-CN" altLang="en-US" sz="2400" b="1" dirty="0">
                <a:solidFill>
                  <a:srgbClr val="000000"/>
                </a:solidFill>
              </a:rPr>
              <a:t>中已经定义了输入、输出和控制端口，只需要摆放到合适的位置，进行适当连线即</a:t>
            </a:r>
            <a:r>
              <a:rPr kumimoji="1" lang="zh-CN" altLang="en-US" sz="2400" b="1" dirty="0" smtClean="0">
                <a:solidFill>
                  <a:srgbClr val="000000"/>
                </a:solidFill>
              </a:rPr>
              <a:t>可。</a:t>
            </a:r>
            <a:endParaRPr kumimoji="1" lang="en-US" altLang="zh-CN" sz="2400" b="1" dirty="0" smtClean="0">
              <a:solidFill>
                <a:srgbClr val="000000"/>
              </a:solidFill>
            </a:endParaRPr>
          </a:p>
        </p:txBody>
      </p:sp>
      <p:pic>
        <p:nvPicPr>
          <p:cNvPr id="5" name="图片 4"/>
          <p:cNvPicPr/>
          <p:nvPr/>
        </p:nvPicPr>
        <p:blipFill>
          <a:blip r:embed="rId1" cstate="print"/>
          <a:stretch>
            <a:fillRect/>
          </a:stretch>
        </p:blipFill>
        <p:spPr>
          <a:xfrm>
            <a:off x="5932170" y="2322831"/>
            <a:ext cx="2685913" cy="3108959"/>
          </a:xfrm>
          <a:prstGeom prst="rect">
            <a:avLst/>
          </a:prstGeom>
          <a:noFill/>
          <a:ln>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.2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组件</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5" name="Text Box 4"/>
          <p:cNvSpPr txBox="1">
            <a:spLocks noChangeArrowheads="1"/>
          </p:cNvSpPr>
          <p:nvPr/>
        </p:nvSpPr>
        <p:spPr bwMode="auto">
          <a:xfrm>
            <a:off x="709930" y="1214755"/>
            <a:ext cx="5191760" cy="4782185"/>
          </a:xfrm>
          <a:prstGeom prst="rect">
            <a:avLst/>
          </a:prstGeom>
          <a:noFill/>
          <a:ln w="9525">
            <a:noFill/>
            <a:miter lim="800000"/>
          </a:ln>
          <a:effectLst/>
        </p:spPr>
        <p:txBody>
          <a:bodyPr wrap="square">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b="1" dirty="0" smtClean="0">
                <a:solidFill>
                  <a:srgbClr val="CC6600"/>
                </a:solidFill>
                <a:effectLst>
                  <a:outerShdw blurRad="38100" dist="38100" dir="2700000" algn="tl">
                    <a:srgbClr val="000000"/>
                  </a:outerShdw>
                </a:effectLst>
              </a:rPr>
              <a:t>9</a:t>
            </a: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.2.3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其他</a:t>
            </a:r>
            <a:r>
              <a:rPr kumimoji="1" lang="zh-CN" altLang="en-US" b="1" dirty="0" smtClean="0">
                <a:solidFill>
                  <a:srgbClr val="CC6600"/>
                </a:solidFill>
                <a:effectLst>
                  <a:outerShdw blurRad="38100" dist="38100" dir="2700000" algn="tl">
                    <a:srgbClr val="000000"/>
                  </a:outerShdw>
                </a:effectLst>
              </a:rPr>
              <a:t>组件</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ct val="10000"/>
              </a:spcBef>
              <a:spcAft>
                <a:spcPct val="10000"/>
              </a:spcAft>
              <a:defRPr/>
            </a:pPr>
            <a:r>
              <a:rPr kumimoji="1" lang="zh-CN" altLang="en-US" sz="2400" b="1" dirty="0" smtClean="0">
                <a:solidFill>
                  <a:srgbClr val="000000"/>
                </a:solidFill>
              </a:rPr>
              <a:t>        在</a:t>
            </a:r>
            <a:r>
              <a:rPr kumimoji="1" lang="zh-CN" altLang="en-US" sz="2400" b="1" dirty="0">
                <a:solidFill>
                  <a:srgbClr val="000000"/>
                </a:solidFill>
              </a:rPr>
              <a:t>内存和输入输出目录下，存放了绘制时序逻辑电路和更复杂电路所需的相关组件</a:t>
            </a:r>
            <a:r>
              <a:rPr kumimoji="1" lang="zh-CN" altLang="en-US" sz="2400" b="1" dirty="0" smtClean="0">
                <a:solidFill>
                  <a:srgbClr val="000000"/>
                </a:solidFill>
              </a:rPr>
              <a:t>。</a:t>
            </a:r>
            <a:r>
              <a:rPr kumimoji="1" lang="zh-CN" altLang="en-US" sz="2400" b="1" dirty="0">
                <a:solidFill>
                  <a:srgbClr val="000000"/>
                </a:solidFill>
              </a:rPr>
              <a:t>内存中包含四种基本触发器和寄存器、计数器、移位寄存器、</a:t>
            </a:r>
            <a:r>
              <a:rPr kumimoji="1" lang="en-US" altLang="zh-CN" sz="2400" b="1" dirty="0">
                <a:solidFill>
                  <a:srgbClr val="000000"/>
                </a:solidFill>
              </a:rPr>
              <a:t>RAM</a:t>
            </a:r>
            <a:r>
              <a:rPr kumimoji="1" lang="zh-CN" altLang="en-US" sz="2400" b="1" dirty="0">
                <a:solidFill>
                  <a:srgbClr val="000000"/>
                </a:solidFill>
              </a:rPr>
              <a:t>和</a:t>
            </a:r>
            <a:r>
              <a:rPr kumimoji="1" lang="en-US" altLang="zh-CN" sz="2400" b="1" dirty="0">
                <a:solidFill>
                  <a:srgbClr val="000000"/>
                </a:solidFill>
              </a:rPr>
              <a:t>ROM</a:t>
            </a:r>
            <a:r>
              <a:rPr kumimoji="1" lang="zh-CN" altLang="en-US" sz="2400" b="1" dirty="0">
                <a:solidFill>
                  <a:srgbClr val="000000"/>
                </a:solidFill>
              </a:rPr>
              <a:t>等，在时序逻辑电路中这些都是常见的组件。</a:t>
            </a:r>
            <a:endParaRPr kumimoji="1" lang="zh-CN" altLang="en-US"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a:t>
            </a:r>
            <a:r>
              <a:rPr kumimoji="1" lang="zh-CN" altLang="en-US" sz="2400" b="1" dirty="0">
                <a:solidFill>
                  <a:srgbClr val="000000"/>
                </a:solidFill>
              </a:rPr>
              <a:t>输入</a:t>
            </a:r>
            <a:r>
              <a:rPr kumimoji="1" lang="en-US" altLang="zh-CN" sz="2400" b="1" dirty="0">
                <a:solidFill>
                  <a:srgbClr val="000000"/>
                </a:solidFill>
              </a:rPr>
              <a:t>/</a:t>
            </a:r>
            <a:r>
              <a:rPr kumimoji="1" lang="zh-CN" altLang="en-US" sz="2400" b="1" dirty="0">
                <a:solidFill>
                  <a:srgbClr val="000000"/>
                </a:solidFill>
              </a:rPr>
              <a:t>输出目录中，包含外接控制组件，如：按钮、键盘、</a:t>
            </a:r>
            <a:r>
              <a:rPr kumimoji="1" lang="en-US" altLang="zh-CN" sz="2400" b="1" dirty="0">
                <a:solidFill>
                  <a:srgbClr val="000000"/>
                </a:solidFill>
              </a:rPr>
              <a:t>Led</a:t>
            </a:r>
            <a:r>
              <a:rPr kumimoji="1" lang="zh-CN" altLang="en-US" sz="2400" b="1" dirty="0">
                <a:solidFill>
                  <a:srgbClr val="000000"/>
                </a:solidFill>
              </a:rPr>
              <a:t>灯、</a:t>
            </a:r>
            <a:r>
              <a:rPr kumimoji="1" lang="en-US" altLang="zh-CN" sz="2400" b="1" dirty="0">
                <a:solidFill>
                  <a:srgbClr val="000000"/>
                </a:solidFill>
              </a:rPr>
              <a:t>7</a:t>
            </a:r>
            <a:r>
              <a:rPr kumimoji="1" lang="zh-CN" altLang="en-US" sz="2400" b="1" dirty="0">
                <a:solidFill>
                  <a:srgbClr val="000000"/>
                </a:solidFill>
              </a:rPr>
              <a:t>段数码管等输入</a:t>
            </a:r>
            <a:r>
              <a:rPr kumimoji="1" lang="en-US" altLang="zh-CN" sz="2400" b="1" dirty="0">
                <a:solidFill>
                  <a:srgbClr val="000000"/>
                </a:solidFill>
              </a:rPr>
              <a:t>/</a:t>
            </a:r>
            <a:r>
              <a:rPr kumimoji="1" lang="zh-CN" altLang="en-US" sz="2400" b="1" dirty="0">
                <a:solidFill>
                  <a:srgbClr val="000000"/>
                </a:solidFill>
              </a:rPr>
              <a:t>输出的部件，设计人员根据需要选用。</a:t>
            </a:r>
            <a:endParaRPr kumimoji="1" lang="zh-CN" altLang="en-US" sz="2400" b="1" dirty="0">
              <a:solidFill>
                <a:srgbClr val="000000"/>
              </a:solidFill>
            </a:endParaRPr>
          </a:p>
        </p:txBody>
      </p:sp>
      <p:pic>
        <p:nvPicPr>
          <p:cNvPr id="6" name="图片 5"/>
          <p:cNvPicPr/>
          <p:nvPr/>
        </p:nvPicPr>
        <p:blipFill>
          <a:blip r:embed="rId1" cstate="print"/>
          <a:stretch>
            <a:fillRect/>
          </a:stretch>
        </p:blipFill>
        <p:spPr>
          <a:xfrm>
            <a:off x="6386875" y="857477"/>
            <a:ext cx="2380615" cy="2027555"/>
          </a:xfrm>
          <a:prstGeom prst="rect">
            <a:avLst/>
          </a:prstGeom>
          <a:noFill/>
          <a:ln>
            <a:noFill/>
          </a:ln>
        </p:spPr>
      </p:pic>
      <p:pic>
        <p:nvPicPr>
          <p:cNvPr id="7" name="图片 6"/>
          <p:cNvPicPr/>
          <p:nvPr/>
        </p:nvPicPr>
        <p:blipFill>
          <a:blip r:embed="rId2" cstate="print"/>
          <a:stretch>
            <a:fillRect/>
          </a:stretch>
        </p:blipFill>
        <p:spPr>
          <a:xfrm>
            <a:off x="6309360" y="3429000"/>
            <a:ext cx="2338705" cy="2498090"/>
          </a:xfrm>
          <a:prstGeom prst="rect">
            <a:avLst/>
          </a:prstGeom>
          <a:noFill/>
          <a:ln>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378823" y="3200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p:cNvGrpSpPr/>
          <p:nvPr/>
        </p:nvGrpSpPr>
        <p:grpSpPr>
          <a:xfrm>
            <a:off x="1781627" y="3307071"/>
            <a:ext cx="6369595" cy="2762783"/>
            <a:chOff x="2498" y="100619"/>
            <a:chExt cx="8144" cy="3682"/>
          </a:xfrm>
          <a:effectLst/>
        </p:grpSpPr>
        <p:pic>
          <p:nvPicPr>
            <p:cNvPr id="6" name="图片 5"/>
            <p:cNvPicPr>
              <a:picLocks noChangeAspect="1"/>
            </p:cNvPicPr>
            <p:nvPr/>
          </p:nvPicPr>
          <p:blipFill>
            <a:blip r:embed="rId1"/>
            <a:stretch>
              <a:fillRect/>
            </a:stretch>
          </p:blipFill>
          <p:spPr>
            <a:xfrm>
              <a:off x="2498" y="100647"/>
              <a:ext cx="2609" cy="3654"/>
            </a:xfrm>
            <a:prstGeom prst="rect">
              <a:avLst/>
            </a:prstGeom>
            <a:noFill/>
            <a:ln>
              <a:noFill/>
            </a:ln>
            <a:effectLst/>
          </p:spPr>
        </p:pic>
        <p:pic>
          <p:nvPicPr>
            <p:cNvPr id="7" name="图片 6"/>
            <p:cNvPicPr>
              <a:picLocks noChangeAspect="1"/>
            </p:cNvPicPr>
            <p:nvPr/>
          </p:nvPicPr>
          <p:blipFill>
            <a:blip r:embed="rId2"/>
            <a:stretch>
              <a:fillRect/>
            </a:stretch>
          </p:blipFill>
          <p:spPr>
            <a:xfrm>
              <a:off x="5379" y="100619"/>
              <a:ext cx="2420" cy="3632"/>
            </a:xfrm>
            <a:prstGeom prst="rect">
              <a:avLst/>
            </a:prstGeom>
            <a:noFill/>
            <a:ln>
              <a:noFill/>
            </a:ln>
            <a:effectLst/>
          </p:spPr>
        </p:pic>
        <p:pic>
          <p:nvPicPr>
            <p:cNvPr id="8" name="图片 7" descr="1712372234139"/>
            <p:cNvPicPr>
              <a:picLocks noChangeAspect="1"/>
            </p:cNvPicPr>
            <p:nvPr/>
          </p:nvPicPr>
          <p:blipFill>
            <a:blip r:embed="rId3"/>
            <a:stretch>
              <a:fillRect/>
            </a:stretch>
          </p:blipFill>
          <p:spPr>
            <a:xfrm>
              <a:off x="8082" y="100756"/>
              <a:ext cx="2560" cy="3473"/>
            </a:xfrm>
            <a:prstGeom prst="rect">
              <a:avLst/>
            </a:prstGeom>
            <a:noFill/>
            <a:ln>
              <a:noFill/>
            </a:ln>
            <a:effectLst/>
          </p:spPr>
        </p:pic>
      </p:grpSp>
      <p:sp>
        <p:nvSpPr>
          <p:cNvPr id="1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lvl="0" eaLnBrk="1" hangingPunct="1">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.2  </a:t>
            </a:r>
            <a:r>
              <a:rPr kumimoji="1" lang="en-US" altLang="zh-CN" sz="3200" b="1" dirty="0" err="1"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Logisim</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组件</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11" name="Text Box 4"/>
          <p:cNvSpPr txBox="1">
            <a:spLocks noChangeArrowheads="1"/>
          </p:cNvSpPr>
          <p:nvPr/>
        </p:nvSpPr>
        <p:spPr bwMode="auto">
          <a:xfrm>
            <a:off x="709613" y="1214438"/>
            <a:ext cx="7669213" cy="213596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b="1" dirty="0" smtClean="0">
                <a:solidFill>
                  <a:srgbClr val="CC6600"/>
                </a:solidFill>
                <a:effectLst>
                  <a:outerShdw blurRad="38100" dist="38100" dir="2700000" algn="tl">
                    <a:srgbClr val="000000"/>
                  </a:outerShdw>
                </a:effectLst>
              </a:rPr>
              <a:t>9</a:t>
            </a: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.2.3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其他</a:t>
            </a:r>
            <a:r>
              <a:rPr kumimoji="1" lang="zh-CN" altLang="en-US" b="1" dirty="0" smtClean="0">
                <a:solidFill>
                  <a:srgbClr val="CC6600"/>
                </a:solidFill>
                <a:effectLst>
                  <a:outerShdw blurRad="38100" dist="38100" dir="2700000" algn="tl">
                    <a:srgbClr val="000000"/>
                  </a:outerShdw>
                </a:effectLst>
              </a:rPr>
              <a:t>组件</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eaLnBrk="1" hangingPunct="1">
              <a:lnSpc>
                <a:spcPct val="110000"/>
              </a:lnSpc>
              <a:spcBef>
                <a:spcPct val="10000"/>
              </a:spcBef>
              <a:spcAft>
                <a:spcPct val="10000"/>
              </a:spcAft>
              <a:defRPr/>
            </a:pPr>
            <a:r>
              <a:rPr lang="zh-CN" altLang="en-US" sz="2400" dirty="0" smtClean="0"/>
              <a:t>        </a:t>
            </a:r>
            <a:r>
              <a:rPr lang="zh-CN" altLang="en-US" sz="2000" b="1" dirty="0" smtClean="0"/>
              <a:t>以上</a:t>
            </a:r>
            <a:r>
              <a:rPr lang="zh-CN" altLang="en-US" sz="2000" b="1" dirty="0"/>
              <a:t>的组件已能够满足基本电路设计的需要，如：组合逻辑电路和同</a:t>
            </a:r>
            <a:r>
              <a:rPr lang="en-US" altLang="zh-CN" sz="2000" b="1" dirty="0"/>
              <a:t>/</a:t>
            </a:r>
            <a:r>
              <a:rPr lang="zh-CN" altLang="en-US" sz="2000" b="1" dirty="0"/>
              <a:t>异步时序逻辑电路设计，在实际设计的时候，可能涉及到使用</a:t>
            </a:r>
            <a:r>
              <a:rPr lang="en-US" altLang="zh-CN" sz="2000" b="1" dirty="0"/>
              <a:t>TTL</a:t>
            </a:r>
            <a:r>
              <a:rPr lang="zh-CN" altLang="en-US" sz="2000" b="1" dirty="0"/>
              <a:t>或其他电子器件，</a:t>
            </a:r>
            <a:r>
              <a:rPr lang="en-US" altLang="zh-CN" sz="2000" b="1" dirty="0" err="1"/>
              <a:t>Logisim</a:t>
            </a:r>
            <a:r>
              <a:rPr lang="zh-CN" altLang="en-US" sz="2000" b="1" dirty="0"/>
              <a:t>中也集成了这些器件的库，见</a:t>
            </a:r>
            <a:r>
              <a:rPr lang="zh-CN" altLang="en-US" sz="2000" b="1" dirty="0" smtClean="0"/>
              <a:t>图所</a:t>
            </a:r>
            <a:r>
              <a:rPr lang="zh-CN" altLang="en-US" sz="2000" b="1" dirty="0"/>
              <a:t>示</a:t>
            </a:r>
            <a:r>
              <a:rPr lang="zh-CN" altLang="en-US" sz="2400" dirty="0" smtClean="0"/>
              <a:t>。</a:t>
            </a:r>
            <a:endParaRPr lang="zh-CN" altLang="en-US"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blinds(horizontal)">
                                      <p:cBhvr>
                                        <p:cTn id="13"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.3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noProof="0"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简单应用</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6630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9.3.1 </a:t>
            </a:r>
            <a:r>
              <a:rPr kumimoji="1" lang="en-US" altLang="zh-CN" sz="2800" b="1" i="0" u="none" strike="noStrike" kern="1200" cap="none" spc="0" normalizeH="0" baseline="0" noProof="0" dirty="0" err="1"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Logisim</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库文件</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313509" y="1780747"/>
            <a:ext cx="8830491" cy="4787464"/>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400" b="1" dirty="0" smtClean="0"/>
              <a:t>        </a:t>
            </a:r>
            <a:r>
              <a:rPr kumimoji="1" lang="en-US" altLang="zh-CN" sz="2400" b="1" dirty="0" err="1" smtClean="0"/>
              <a:t>Logisim</a:t>
            </a:r>
            <a:r>
              <a:rPr kumimoji="1" lang="zh-CN" altLang="en-US" sz="2400" b="1" dirty="0"/>
              <a:t>采用所见即所得的方法帮助人们完成电路设计，一个完整的电路是由每一个单独部件连接组成，</a:t>
            </a:r>
            <a:r>
              <a:rPr kumimoji="1" lang="en-US" altLang="zh-CN" sz="2400" b="1" dirty="0" err="1"/>
              <a:t>Logisim</a:t>
            </a:r>
            <a:r>
              <a:rPr kumimoji="1" lang="zh-CN" altLang="en-US" sz="2400" b="1" dirty="0"/>
              <a:t>仿真也用这种方式，将已有的设计电路作为一个部件添加到更复杂的电路中，成为组件之一。</a:t>
            </a:r>
            <a:endParaRPr kumimoji="1" lang="zh-CN" altLang="en-US" sz="2400" b="1" dirty="0"/>
          </a:p>
          <a:p>
            <a:pPr lvl="0" eaLnBrk="1" hangingPunct="1">
              <a:lnSpc>
                <a:spcPct val="110000"/>
              </a:lnSpc>
              <a:spcBef>
                <a:spcPts val="290"/>
              </a:spcBef>
              <a:spcAft>
                <a:spcPct val="10000"/>
              </a:spcAft>
              <a:defRPr/>
            </a:pPr>
            <a:r>
              <a:rPr kumimoji="1" lang="zh-CN" altLang="en-US" sz="2400" b="1" dirty="0" smtClean="0"/>
              <a:t>        菜单</a:t>
            </a:r>
            <a:r>
              <a:rPr kumimoji="1" lang="zh-CN" altLang="en-US" sz="2400" b="1" dirty="0"/>
              <a:t>中选择“项目（</a:t>
            </a:r>
            <a:r>
              <a:rPr kumimoji="1" lang="en-US" altLang="zh-CN" sz="2400" b="1" dirty="0"/>
              <a:t>Project</a:t>
            </a:r>
            <a:r>
              <a:rPr kumimoji="1" lang="zh-CN" altLang="en-US" sz="2400" b="1" dirty="0"/>
              <a:t>）”</a:t>
            </a:r>
            <a:r>
              <a:rPr kumimoji="1" lang="en-US" altLang="zh-CN" sz="2400" b="1" dirty="0"/>
              <a:t>—“</a:t>
            </a:r>
            <a:r>
              <a:rPr kumimoji="1" lang="zh-CN" altLang="en-US" sz="2400" b="1" dirty="0"/>
              <a:t>加载库（</a:t>
            </a:r>
            <a:r>
              <a:rPr kumimoji="1" lang="en-US" altLang="zh-CN" sz="2400" b="1" dirty="0"/>
              <a:t>Load Library</a:t>
            </a:r>
            <a:r>
              <a:rPr kumimoji="1" lang="zh-CN" altLang="en-US" sz="2400" b="1" dirty="0"/>
              <a:t>）”</a:t>
            </a:r>
            <a:r>
              <a:rPr kumimoji="1" lang="en-US" altLang="zh-CN" sz="2400" b="1" dirty="0"/>
              <a:t>—“</a:t>
            </a:r>
            <a:r>
              <a:rPr kumimoji="1" lang="en-US" altLang="zh-CN" sz="2400" b="1" dirty="0" err="1"/>
              <a:t>Logisim</a:t>
            </a:r>
            <a:r>
              <a:rPr kumimoji="1" lang="zh-CN" altLang="en-US" sz="2400" b="1" dirty="0"/>
              <a:t>进化库（</a:t>
            </a:r>
            <a:r>
              <a:rPr kumimoji="1" lang="en-US" altLang="zh-CN" sz="2400" b="1" dirty="0" err="1"/>
              <a:t>Logisim</a:t>
            </a:r>
            <a:r>
              <a:rPr kumimoji="1" lang="en-US" altLang="zh-CN" sz="2400" b="1" dirty="0"/>
              <a:t>- evolution Library</a:t>
            </a:r>
            <a:r>
              <a:rPr kumimoji="1" lang="zh-CN" altLang="en-US" sz="2400" b="1" dirty="0"/>
              <a:t>）”</a:t>
            </a:r>
            <a:r>
              <a:rPr kumimoji="1" lang="zh-CN" altLang="en-US" sz="2400" b="1" dirty="0" smtClean="0"/>
              <a:t>。    在</a:t>
            </a:r>
            <a:r>
              <a:rPr kumimoji="1" lang="zh-CN" altLang="en-US" sz="2400" b="1" dirty="0"/>
              <a:t>弹出的加载文件对话框中，选择电脑已经编辑好的库文件，或下载的库文件目录，选择相应的文件。</a:t>
            </a:r>
            <a:endParaRPr kumimoji="1" lang="zh-CN" altLang="en-US" sz="2400" b="1" dirty="0"/>
          </a:p>
          <a:p>
            <a:pPr lvl="0" eaLnBrk="1" hangingPunct="1">
              <a:lnSpc>
                <a:spcPct val="110000"/>
              </a:lnSpc>
              <a:spcBef>
                <a:spcPts val="290"/>
              </a:spcBef>
              <a:spcAft>
                <a:spcPct val="10000"/>
              </a:spcAft>
              <a:defRPr/>
            </a:pPr>
            <a:r>
              <a:rPr kumimoji="1" lang="zh-CN" altLang="en-US" sz="2400" b="1" dirty="0" smtClean="0"/>
              <a:t>         完成</a:t>
            </a:r>
            <a:r>
              <a:rPr kumimoji="1" lang="zh-CN" altLang="en-US" sz="2400" b="1" dirty="0"/>
              <a:t>后，在电路文件下方会出现已加载的电路图名称。这时候就可以将这个部件当作一个图形在主电路图上放置了。</a:t>
            </a:r>
            <a:endParaRPr kumimoji="1" lang="zh-CN" altLang="en-US" sz="2400" b="1" dirty="0"/>
          </a:p>
          <a:p>
            <a:pPr lvl="0" eaLnBrk="1" hangingPunct="1">
              <a:lnSpc>
                <a:spcPct val="110000"/>
              </a:lnSpc>
              <a:spcBef>
                <a:spcPts val="290"/>
              </a:spcBef>
              <a:spcAft>
                <a:spcPct val="10000"/>
              </a:spcAft>
              <a:defRPr/>
            </a:pPr>
            <a:r>
              <a:rPr kumimoji="1" lang="zh-CN" altLang="en-US" sz="2400" b="1" dirty="0" smtClean="0"/>
              <a:t>         选择</a:t>
            </a:r>
            <a:r>
              <a:rPr kumimoji="1" lang="zh-CN" altLang="en-US" sz="2400" b="1" dirty="0"/>
              <a:t>库文件，能够重新加载子电路的电路图，继续编辑。</a:t>
            </a:r>
            <a:endParaRPr kumimoji="1" lang="zh-CN" altLang="en-US" sz="2400" b="1" dirty="0"/>
          </a:p>
        </p:txBody>
      </p:sp>
    </p:spTree>
  </p:cSld>
  <p:clrMapOvr>
    <a:masterClrMapping/>
  </p:clrMapOvr>
  <p:transition spd="med">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.3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noProof="0"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简单应用</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6630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9.3.1 </a:t>
            </a:r>
            <a:r>
              <a:rPr kumimoji="1" lang="en-US" altLang="zh-CN" sz="2800" b="1" i="0" u="none" strike="noStrike" kern="1200" cap="none" spc="0" normalizeH="0" baseline="0" noProof="0" dirty="0" err="1"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Logisim</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库文件</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313509" y="1780747"/>
            <a:ext cx="8830491" cy="465448"/>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zh-CN" altLang="en-US" sz="2400" b="1" dirty="0" smtClean="0"/>
              <a:t>选择</a:t>
            </a:r>
            <a:r>
              <a:rPr kumimoji="1" lang="zh-CN" altLang="en-US" sz="2400" b="1" dirty="0"/>
              <a:t>库文件，能够重新加载子电路的电路图，继续编辑。</a:t>
            </a:r>
            <a:endParaRPr kumimoji="1" lang="zh-CN" altLang="en-US" sz="2400" b="1" dirty="0"/>
          </a:p>
        </p:txBody>
      </p:sp>
      <p:pic>
        <p:nvPicPr>
          <p:cNvPr id="5" name="图片 4" descr="1712399368052"/>
          <p:cNvPicPr/>
          <p:nvPr/>
        </p:nvPicPr>
        <p:blipFill>
          <a:blip r:embed="rId1" cstate="print"/>
          <a:stretch>
            <a:fillRect/>
          </a:stretch>
        </p:blipFill>
        <p:spPr>
          <a:xfrm>
            <a:off x="1267097" y="2488564"/>
            <a:ext cx="4940345" cy="3428909"/>
          </a:xfrm>
          <a:prstGeom prst="rect">
            <a:avLst/>
          </a:prstGeom>
        </p:spPr>
      </p:pic>
    </p:spTree>
  </p:cSld>
  <p:clrMapOvr>
    <a:masterClrMapping/>
  </p:clrMapOvr>
  <p:transition spd="med">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.3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noProof="0"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简单应用</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6630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9.3.2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电路的仿真实现</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15339" y="1742018"/>
            <a:ext cx="7850016" cy="2605329"/>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400" b="1" dirty="0"/>
              <a:t> </a:t>
            </a:r>
            <a:r>
              <a:rPr kumimoji="1" lang="en-US" altLang="zh-CN" sz="2400" b="1" dirty="0" smtClean="0"/>
              <a:t>      </a:t>
            </a:r>
            <a:r>
              <a:rPr kumimoji="1" lang="zh-CN" altLang="en-US" sz="2400" b="1" dirty="0" smtClean="0"/>
              <a:t>组合逻辑电路</a:t>
            </a:r>
            <a:r>
              <a:rPr kumimoji="1" lang="zh-CN" altLang="en-US" sz="2400" b="1" dirty="0"/>
              <a:t>可以通过对门电路的摆放和连接完成整个电路的绘制，也可以通过在真值表中输入相应的最小项，由系统自动生成电路。</a:t>
            </a:r>
            <a:endParaRPr kumimoji="1" lang="zh-CN" altLang="en-US" sz="2400" b="1" dirty="0"/>
          </a:p>
          <a:p>
            <a:pPr lvl="0" eaLnBrk="1" hangingPunct="1">
              <a:lnSpc>
                <a:spcPct val="110000"/>
              </a:lnSpc>
              <a:spcBef>
                <a:spcPts val="290"/>
              </a:spcBef>
              <a:spcAft>
                <a:spcPct val="10000"/>
              </a:spcAft>
              <a:defRPr/>
            </a:pPr>
            <a:r>
              <a:rPr kumimoji="1" lang="zh-CN" altLang="en-US" sz="2400" b="1" dirty="0" smtClean="0"/>
              <a:t>        对于</a:t>
            </a:r>
            <a:r>
              <a:rPr kumimoji="1" lang="zh-CN" altLang="en-US" sz="2400" b="1" dirty="0"/>
              <a:t>时序逻辑电路来说，</a:t>
            </a:r>
            <a:r>
              <a:rPr kumimoji="1" lang="en-US" altLang="zh-CN" sz="2400" b="1" dirty="0" err="1"/>
              <a:t>Logisim</a:t>
            </a:r>
            <a:r>
              <a:rPr kumimoji="1" lang="zh-CN" altLang="en-US" sz="2400" b="1" dirty="0"/>
              <a:t>能在软件中模拟出电路的信号、波形、电路随时钟的变化情况等一系列动态内容，用</a:t>
            </a:r>
            <a:r>
              <a:rPr kumimoji="1" lang="en-US" altLang="zh-CN" sz="2400" b="1" dirty="0" err="1"/>
              <a:t>Logisim</a:t>
            </a:r>
            <a:r>
              <a:rPr kumimoji="1" lang="zh-CN" altLang="en-US" sz="2400" b="1" dirty="0"/>
              <a:t>的模拟工具来查看电路的动态模拟</a:t>
            </a:r>
            <a:r>
              <a:rPr kumimoji="1" lang="zh-CN" altLang="en-US" sz="2400" b="1" dirty="0" smtClean="0"/>
              <a:t>。</a:t>
            </a:r>
            <a:endParaRPr kumimoji="1" lang="zh-CN" altLang="en-US" sz="2400" b="1" dirty="0"/>
          </a:p>
        </p:txBody>
      </p:sp>
      <p:sp>
        <p:nvSpPr>
          <p:cNvPr id="6" name="Text Box 2"/>
          <p:cNvSpPr txBox="1">
            <a:spLocks noChangeArrowheads="1"/>
          </p:cNvSpPr>
          <p:nvPr/>
        </p:nvSpPr>
        <p:spPr bwMode="auto">
          <a:xfrm>
            <a:off x="0" y="477475"/>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.3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noProof="0"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简单应用</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Tree>
  </p:cSld>
  <p:clrMapOvr>
    <a:masterClrMapping/>
  </p:clrMapOvr>
  <p:transition spd="med">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17579" y="1829351"/>
            <a:ext cx="8464731" cy="2246769"/>
          </a:xfrm>
          <a:prstGeom prst="rect">
            <a:avLst/>
          </a:prstGeom>
        </p:spPr>
        <p:txBody>
          <a:bodyPr wrap="square">
            <a:spAutoFit/>
          </a:bodyPr>
          <a:lstStyle/>
          <a:p>
            <a:pPr algn="just"/>
            <a:r>
              <a:rPr lang="zh-CN" altLang="en-US" sz="2000" dirty="0" smtClean="0"/>
              <a:t>        </a:t>
            </a:r>
            <a:r>
              <a:rPr lang="zh-CN" altLang="en-US" sz="2000" b="1" dirty="0" smtClean="0"/>
              <a:t>首先</a:t>
            </a:r>
            <a:r>
              <a:rPr lang="zh-CN" altLang="en-US" sz="2000" b="1" dirty="0"/>
              <a:t>选择一个本书中的基础例题进行说明。按照例</a:t>
            </a:r>
            <a:r>
              <a:rPr lang="en-US" altLang="zh-CN" sz="2000" b="1" dirty="0"/>
              <a:t>7-19</a:t>
            </a:r>
            <a:r>
              <a:rPr lang="zh-CN" altLang="en-US" sz="2000" b="1" dirty="0"/>
              <a:t>绘制的电路图见</a:t>
            </a:r>
            <a:r>
              <a:rPr lang="zh-CN" altLang="en-US" sz="2000" b="1" dirty="0" smtClean="0"/>
              <a:t>图</a:t>
            </a:r>
            <a:r>
              <a:rPr lang="zh-CN" altLang="en-US" sz="2000" b="1" dirty="0"/>
              <a:t>所示</a:t>
            </a:r>
            <a:r>
              <a:rPr lang="zh-CN" altLang="en-US" sz="2000" b="1" dirty="0" smtClean="0"/>
              <a:t>。</a:t>
            </a:r>
            <a:r>
              <a:rPr lang="zh-CN" altLang="en-US" sz="2000" b="1" dirty="0"/>
              <a:t>显然，电路中用</a:t>
            </a:r>
            <a:r>
              <a:rPr lang="en-US" altLang="zh-CN" sz="2000" b="1" dirty="0"/>
              <a:t>3</a:t>
            </a:r>
            <a:r>
              <a:rPr lang="zh-CN" altLang="en-US" sz="2000" b="1" dirty="0"/>
              <a:t>个</a:t>
            </a:r>
            <a:r>
              <a:rPr lang="en-US" altLang="zh-CN" sz="2000" b="1" dirty="0"/>
              <a:t>D</a:t>
            </a:r>
            <a:r>
              <a:rPr lang="zh-CN" altLang="en-US" sz="2000" b="1" dirty="0"/>
              <a:t>触发器和一个与门完成一个同步时序逻辑电路的绘制。电路的分析已经在第七章进行详细阐述，这里不再赘述</a:t>
            </a:r>
            <a:r>
              <a:rPr lang="zh-CN" altLang="en-US" sz="2000" b="1" dirty="0" smtClean="0"/>
              <a:t>。</a:t>
            </a:r>
            <a:endParaRPr lang="zh-CN" altLang="en-US" sz="2000" b="1" dirty="0"/>
          </a:p>
          <a:p>
            <a:pPr algn="just"/>
            <a:r>
              <a:rPr lang="zh-CN" altLang="en-US" sz="2000" b="1" dirty="0" smtClean="0"/>
              <a:t>        通过</a:t>
            </a:r>
            <a:r>
              <a:rPr lang="zh-CN" altLang="en-US" sz="2000" b="1" dirty="0"/>
              <a:t>将电路绘制在“画布”上，并操控电路实时显示。我们能够在</a:t>
            </a:r>
            <a:r>
              <a:rPr lang="en-US" altLang="zh-CN" sz="2000" b="1" dirty="0" err="1"/>
              <a:t>Logisim</a:t>
            </a:r>
            <a:r>
              <a:rPr lang="zh-CN" altLang="en-US" sz="2000" b="1" dirty="0"/>
              <a:t>中看到电路的运行，验证电路分析的正确性。</a:t>
            </a:r>
            <a:endParaRPr lang="zh-CN" altLang="en-US" sz="2000" b="1" dirty="0"/>
          </a:p>
          <a:p>
            <a:pPr algn="just"/>
            <a:r>
              <a:rPr lang="zh-CN" altLang="en-US" sz="2000" b="1" dirty="0"/>
              <a:t>如果面对的是组合电路，就是根据绘制出的电路图，找到相应的真值表，对照真值表查看相关逻辑的描述是否符合设计要求</a:t>
            </a:r>
            <a:r>
              <a:rPr lang="zh-CN" altLang="en-US" sz="2000" b="1" dirty="0" smtClean="0"/>
              <a:t>。</a:t>
            </a:r>
            <a:endParaRPr lang="zh-CN" altLang="en-US" sz="2000" b="1" dirty="0"/>
          </a:p>
        </p:txBody>
      </p:sp>
      <p:sp>
        <p:nvSpPr>
          <p:cNvPr id="6" name="Text Box 2"/>
          <p:cNvSpPr txBox="1">
            <a:spLocks noChangeArrowheads="1"/>
          </p:cNvSpPr>
          <p:nvPr/>
        </p:nvSpPr>
        <p:spPr bwMode="auto">
          <a:xfrm>
            <a:off x="0" y="477475"/>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.3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noProof="0"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简单应用</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 name="Text Box 4"/>
          <p:cNvSpPr txBox="1">
            <a:spLocks noChangeArrowheads="1"/>
          </p:cNvSpPr>
          <p:nvPr/>
        </p:nvSpPr>
        <p:spPr bwMode="auto">
          <a:xfrm>
            <a:off x="715339" y="1162646"/>
            <a:ext cx="7669213" cy="56630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9.3.2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电路的仿真实现</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10" name="Rectangle 8"/>
          <p:cNvSpPr>
            <a:spLocks noChangeArrowheads="1"/>
          </p:cNvSpPr>
          <p:nvPr/>
        </p:nvSpPr>
        <p:spPr bwMode="auto">
          <a:xfrm>
            <a:off x="966652" y="414092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6151" name="图片 13322" descr="17124151667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57070" y="4245610"/>
            <a:ext cx="4756785" cy="20745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77475"/>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3" name="Text Box 4"/>
          <p:cNvSpPr txBox="1">
            <a:spLocks noChangeArrowheads="1"/>
          </p:cNvSpPr>
          <p:nvPr/>
        </p:nvSpPr>
        <p:spPr bwMode="auto">
          <a:xfrm>
            <a:off x="528387" y="1245629"/>
            <a:ext cx="8053910" cy="4230389"/>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400" b="1" dirty="0" smtClean="0"/>
              <a:t>         </a:t>
            </a:r>
            <a:r>
              <a:rPr kumimoji="1" lang="en-US" altLang="zh-CN" sz="2400" b="1" dirty="0" err="1" smtClean="0"/>
              <a:t>Logisim</a:t>
            </a:r>
            <a:r>
              <a:rPr kumimoji="1" lang="zh-CN" altLang="en-US" sz="2400" b="1" dirty="0"/>
              <a:t>应用于很多领域的原始设计中，如计算机科学、电子工程和通信工程等。在</a:t>
            </a:r>
            <a:r>
              <a:rPr kumimoji="1" lang="en-US" altLang="zh-CN" sz="2400" b="1" dirty="0"/>
              <a:t>v</a:t>
            </a:r>
            <a:r>
              <a:rPr kumimoji="1" lang="zh-CN" altLang="en-US" sz="2400" b="1" dirty="0"/>
              <a:t>计算机科学领域，</a:t>
            </a:r>
            <a:r>
              <a:rPr kumimoji="1" lang="en-US" altLang="zh-CN" sz="2400" b="1" dirty="0" err="1"/>
              <a:t>Logisim</a:t>
            </a:r>
            <a:r>
              <a:rPr kumimoji="1" lang="zh-CN" altLang="en-US" sz="2400" b="1" dirty="0"/>
              <a:t>用于设计和分析电子计算机的逻辑电路，如：</a:t>
            </a:r>
            <a:r>
              <a:rPr kumimoji="1" lang="en-US" altLang="zh-CN" sz="2400" b="1" dirty="0"/>
              <a:t>CPU</a:t>
            </a:r>
            <a:r>
              <a:rPr kumimoji="1" lang="zh-CN" altLang="en-US" sz="2400" b="1" dirty="0"/>
              <a:t>、寄存器、运算器等。电子工程领域，</a:t>
            </a:r>
            <a:r>
              <a:rPr kumimoji="1" lang="en-US" altLang="zh-CN" sz="2400" b="1" dirty="0" err="1"/>
              <a:t>Logisim</a:t>
            </a:r>
            <a:r>
              <a:rPr kumimoji="1" lang="zh-CN" altLang="en-US" sz="2400" b="1" dirty="0"/>
              <a:t>用于设计和分析电子设备的逻辑电路，如：数字钟、计算器和智能家居设备等。在通信工程领域，</a:t>
            </a:r>
            <a:r>
              <a:rPr kumimoji="1" lang="en-US" altLang="zh-CN" sz="2400" b="1" dirty="0" err="1"/>
              <a:t>Logisim</a:t>
            </a:r>
            <a:r>
              <a:rPr kumimoji="1" lang="zh-CN" altLang="en-US" sz="2400" b="1" dirty="0"/>
              <a:t>用于设计和分析通信设备的逻辑电路，如：</a:t>
            </a:r>
            <a:r>
              <a:rPr kumimoji="1" lang="en-US" altLang="zh-CN" sz="2400" b="1" dirty="0"/>
              <a:t>modem</a:t>
            </a:r>
            <a:r>
              <a:rPr kumimoji="1" lang="zh-CN" altLang="en-US" sz="2400" b="1" dirty="0"/>
              <a:t>、中继器和路由器等。</a:t>
            </a:r>
            <a:endParaRPr kumimoji="1" lang="zh-CN" altLang="en-US" sz="2400" b="1" dirty="0"/>
          </a:p>
          <a:p>
            <a:pPr lvl="0" eaLnBrk="1" hangingPunct="1">
              <a:lnSpc>
                <a:spcPct val="110000"/>
              </a:lnSpc>
              <a:spcBef>
                <a:spcPts val="290"/>
              </a:spcBef>
              <a:spcAft>
                <a:spcPct val="10000"/>
              </a:spcAft>
              <a:defRPr/>
            </a:pPr>
            <a:r>
              <a:rPr kumimoji="1" lang="zh-CN" altLang="en-US" sz="2400" b="1" dirty="0" smtClean="0"/>
              <a:t>         数字</a:t>
            </a:r>
            <a:r>
              <a:rPr kumimoji="1" lang="zh-CN" altLang="en-US" sz="2400" b="1" dirty="0"/>
              <a:t>逻辑基础设计中，涉及到的组件和内容主要集中在基础门电路的组合电路和时序逻辑电路的设计方面，这里主要介绍采用</a:t>
            </a:r>
            <a:r>
              <a:rPr kumimoji="1" lang="en-US" altLang="zh-CN" sz="2400" b="1" dirty="0" err="1"/>
              <a:t>Logisim</a:t>
            </a:r>
            <a:r>
              <a:rPr kumimoji="1" lang="zh-CN" altLang="en-US" sz="2400" b="1" dirty="0"/>
              <a:t>进行电路分析和设计的基础方法</a:t>
            </a:r>
            <a:r>
              <a:rPr kumimoji="1" lang="zh-CN" altLang="en-US" sz="2400" b="1" dirty="0" smtClean="0"/>
              <a:t>。</a:t>
            </a:r>
            <a:endParaRPr kumimoji="1" lang="zh-CN" altLang="en-US" sz="2400" b="1" dirty="0"/>
          </a:p>
        </p:txBody>
      </p:sp>
    </p:spTree>
  </p:cSld>
  <p:clrMapOvr>
    <a:masterClrMapping/>
  </p:clrMapOvr>
  <p:transition spd="med">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2"/>
          <p:cNvSpPr>
            <a:spLocks noChangeArrowheads="1"/>
          </p:cNvSpPr>
          <p:nvPr/>
        </p:nvSpPr>
        <p:spPr bwMode="auto">
          <a:xfrm>
            <a:off x="854069" y="1873071"/>
            <a:ext cx="771720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a:tabLst>
                <a:tab pos="2628900" algn="ctr"/>
              </a:tabLst>
              <a:defRPr>
                <a:solidFill>
                  <a:schemeClr val="tx1"/>
                </a:solidFill>
                <a:latin typeface="Arial" panose="020B0604020202020204" pitchFamily="34" charset="0"/>
              </a:defRPr>
            </a:lvl1pPr>
            <a:lvl2pPr>
              <a:tabLst>
                <a:tab pos="2628900" algn="ctr"/>
              </a:tabLst>
              <a:defRPr>
                <a:solidFill>
                  <a:schemeClr val="tx1"/>
                </a:solidFill>
                <a:latin typeface="Arial" panose="020B0604020202020204" pitchFamily="34" charset="0"/>
              </a:defRPr>
            </a:lvl2pPr>
            <a:lvl3pPr>
              <a:tabLst>
                <a:tab pos="2628900" algn="ctr"/>
              </a:tabLst>
              <a:defRPr>
                <a:solidFill>
                  <a:schemeClr val="tx1"/>
                </a:solidFill>
                <a:latin typeface="Arial" panose="020B0604020202020204" pitchFamily="34" charset="0"/>
              </a:defRPr>
            </a:lvl3pPr>
            <a:lvl4pPr>
              <a:tabLst>
                <a:tab pos="2628900" algn="ctr"/>
              </a:tabLst>
              <a:defRPr>
                <a:solidFill>
                  <a:schemeClr val="tx1"/>
                </a:solidFill>
                <a:latin typeface="Arial" panose="020B0604020202020204" pitchFamily="34" charset="0"/>
              </a:defRPr>
            </a:lvl4pPr>
            <a:lvl5pPr>
              <a:tabLst>
                <a:tab pos="2628900" algn="ctr"/>
              </a:tabLst>
              <a:defRPr>
                <a:solidFill>
                  <a:schemeClr val="tx1"/>
                </a:solidFill>
                <a:latin typeface="Arial" panose="020B0604020202020204" pitchFamily="34" charset="0"/>
              </a:defRPr>
            </a:lvl5pPr>
            <a:lvl6pPr>
              <a:tabLst>
                <a:tab pos="2628900" algn="ctr"/>
              </a:tabLst>
              <a:defRPr>
                <a:solidFill>
                  <a:schemeClr val="tx1"/>
                </a:solidFill>
                <a:latin typeface="Arial" panose="020B0604020202020204" pitchFamily="34" charset="0"/>
              </a:defRPr>
            </a:lvl6pPr>
            <a:lvl7pPr>
              <a:tabLst>
                <a:tab pos="2628900" algn="ctr"/>
              </a:tabLst>
              <a:defRPr>
                <a:solidFill>
                  <a:schemeClr val="tx1"/>
                </a:solidFill>
                <a:latin typeface="Arial" panose="020B0604020202020204" pitchFamily="34" charset="0"/>
              </a:defRPr>
            </a:lvl7pPr>
            <a:lvl8pPr>
              <a:tabLst>
                <a:tab pos="2628900" algn="ctr"/>
              </a:tabLst>
              <a:defRPr>
                <a:solidFill>
                  <a:schemeClr val="tx1"/>
                </a:solidFill>
                <a:latin typeface="Arial" panose="020B0604020202020204" pitchFamily="34" charset="0"/>
              </a:defRPr>
            </a:lvl8pPr>
            <a:lvl9pPr>
              <a:tabLst>
                <a:tab pos="2628900" algn="ctr"/>
              </a:tabLst>
              <a:defRPr>
                <a:solidFill>
                  <a:schemeClr val="tx1"/>
                </a:solidFill>
                <a:latin typeface="Arial" panose="020B0604020202020204" pitchFamily="34" charset="0"/>
              </a:defRPr>
            </a:lvl9pPr>
          </a:lstStyle>
          <a:p>
            <a:pPr marL="0" marR="0" lvl="0" indent="266700" algn="just" defTabSz="914400" rtl="0" eaLnBrk="0" fontAlgn="base" latinLnBrk="0" hangingPunct="0">
              <a:lnSpc>
                <a:spcPct val="100000"/>
              </a:lnSpc>
              <a:spcBef>
                <a:spcPct val="0"/>
              </a:spcBef>
              <a:spcAft>
                <a:spcPct val="0"/>
              </a:spcAft>
              <a:buClrTx/>
              <a:buSzTx/>
              <a:buFontTx/>
              <a:buNone/>
              <a:tabLst>
                <a:tab pos="2628900" algn="ctr"/>
              </a:tabLst>
            </a:pPr>
            <a:r>
              <a:rPr kumimoji="0" lang="en-US" altLang="zh-CN"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Logisim</a:t>
            </a:r>
            <a:r>
              <a:rPr kumimoji="0" lang="zh-CN"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的操作相对简单，这里我们将从简单到复杂逐步学习硬件设计的内容。根据之前学习组合电路和时序电路设计的内容，我们从组合逻辑电路从门电路开始，通过例题开始使用</a:t>
            </a:r>
            <a:r>
              <a:rPr kumimoji="0" lang="en-US" altLang="zh-CN"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Logsim</a:t>
            </a:r>
            <a:r>
              <a:rPr kumimoji="0" lang="zh-CN"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进行电路仿真绘制和使用。</a:t>
            </a:r>
            <a:endParaRPr kumimoji="0" lang="zh-CN" altLang="en-US" sz="2000" b="1" i="0" u="none" strike="noStrike" cap="none" normalizeH="0" baseline="0" dirty="0" smtClean="0">
              <a:ln>
                <a:noFill/>
              </a:ln>
              <a:solidFill>
                <a:schemeClr val="tx1"/>
              </a:solidFill>
              <a:effectLst/>
            </a:endParaRPr>
          </a:p>
        </p:txBody>
      </p:sp>
      <p:grpSp>
        <p:nvGrpSpPr>
          <p:cNvPr id="3" name="组合 2"/>
          <p:cNvGrpSpPr/>
          <p:nvPr/>
        </p:nvGrpSpPr>
        <p:grpSpPr>
          <a:xfrm>
            <a:off x="2444115" y="4342765"/>
            <a:ext cx="5457825" cy="1710690"/>
            <a:chOff x="4267" y="76220"/>
            <a:chExt cx="4500" cy="1862"/>
          </a:xfrm>
          <a:effectLst/>
        </p:grpSpPr>
        <p:sp>
          <p:nvSpPr>
            <p:cNvPr id="4" name="矩形 3"/>
            <p:cNvSpPr/>
            <p:nvPr/>
          </p:nvSpPr>
          <p:spPr>
            <a:xfrm>
              <a:off x="5235" y="76546"/>
              <a:ext cx="314" cy="413"/>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P</a:t>
              </a:r>
              <a:r>
                <a:rPr lang="en-US" sz="900" kern="100" baseline="-25000">
                  <a:effectLst/>
                  <a:latin typeface="Times New Roman" panose="02020603050405020304" pitchFamily="18" charset="0"/>
                  <a:ea typeface="宋体" panose="02010600030101010101" pitchFamily="2" charset="-122"/>
                </a:rPr>
                <a:t>1</a:t>
              </a:r>
              <a:endParaRPr lang="zh-CN" sz="1050" kern="100">
                <a:effectLst/>
                <a:latin typeface="Times New Roman" panose="02020603050405020304" pitchFamily="18" charset="0"/>
                <a:ea typeface="宋体" panose="02010600030101010101" pitchFamily="2" charset="-122"/>
              </a:endParaRPr>
            </a:p>
          </p:txBody>
        </p:sp>
        <p:grpSp>
          <p:nvGrpSpPr>
            <p:cNvPr id="5" name="组合 4"/>
            <p:cNvGrpSpPr/>
            <p:nvPr/>
          </p:nvGrpSpPr>
          <p:grpSpPr>
            <a:xfrm>
              <a:off x="4267" y="76220"/>
              <a:ext cx="4500" cy="1862"/>
              <a:chOff x="4267" y="76220"/>
              <a:chExt cx="4500" cy="1862"/>
            </a:xfrm>
            <a:effectLst/>
          </p:grpSpPr>
          <p:grpSp>
            <p:nvGrpSpPr>
              <p:cNvPr id="6" name="组合 5"/>
              <p:cNvGrpSpPr/>
              <p:nvPr/>
            </p:nvGrpSpPr>
            <p:grpSpPr>
              <a:xfrm>
                <a:off x="4267" y="76220"/>
                <a:ext cx="4500" cy="1862"/>
                <a:chOff x="4267" y="76220"/>
                <a:chExt cx="4500" cy="1862"/>
              </a:xfrm>
              <a:effectLst/>
            </p:grpSpPr>
            <p:sp>
              <p:nvSpPr>
                <p:cNvPr id="8" name="矩形 7"/>
                <p:cNvSpPr/>
                <p:nvPr/>
              </p:nvSpPr>
              <p:spPr>
                <a:xfrm>
                  <a:off x="6852" y="76220"/>
                  <a:ext cx="360" cy="496"/>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P</a:t>
                  </a:r>
                  <a:r>
                    <a:rPr lang="en-US" sz="900" kern="100" baseline="-25000">
                      <a:effectLst/>
                      <a:latin typeface="Times New Roman" panose="02020603050405020304" pitchFamily="18" charset="0"/>
                      <a:ea typeface="宋体" panose="02010600030101010101" pitchFamily="2" charset="-122"/>
                    </a:rPr>
                    <a:t>2</a:t>
                  </a:r>
                  <a:endParaRPr lang="zh-CN" sz="1050" kern="100">
                    <a:effectLst/>
                    <a:latin typeface="Times New Roman" panose="02020603050405020304" pitchFamily="18" charset="0"/>
                    <a:ea typeface="宋体" panose="02010600030101010101" pitchFamily="2" charset="-122"/>
                  </a:endParaRPr>
                </a:p>
              </p:txBody>
            </p:sp>
            <p:grpSp>
              <p:nvGrpSpPr>
                <p:cNvPr id="10" name="组合 9"/>
                <p:cNvGrpSpPr/>
                <p:nvPr/>
              </p:nvGrpSpPr>
              <p:grpSpPr>
                <a:xfrm rot="0">
                  <a:off x="4267" y="76348"/>
                  <a:ext cx="4500" cy="1734"/>
                  <a:chOff x="3975" y="7584"/>
                  <a:chExt cx="4500" cy="1734"/>
                </a:xfrm>
                <a:effectLst/>
              </p:grpSpPr>
              <p:sp>
                <p:nvSpPr>
                  <p:cNvPr id="12" name="椭圆 11"/>
                  <p:cNvSpPr/>
                  <p:nvPr/>
                </p:nvSpPr>
                <p:spPr>
                  <a:xfrm>
                    <a:off x="4467" y="8250"/>
                    <a:ext cx="57" cy="57"/>
                  </a:xfrm>
                  <a:prstGeom prst="ellipse">
                    <a:avLst/>
                  </a:prstGeom>
                  <a:solidFill>
                    <a:srgbClr val="000000"/>
                  </a:solidFill>
                  <a:ln w="9525" cap="flat" cmpd="sng">
                    <a:solidFill>
                      <a:srgbClr val="000000"/>
                    </a:solidFill>
                    <a:prstDash val="solid"/>
                    <a:headEnd type="none" w="med" len="med"/>
                    <a:tailEnd type="none" w="med" len="med"/>
                  </a:ln>
                  <a:effectLst/>
                </p:spPr>
                <p:txBody>
                  <a:bodyPr upright="1"/>
                  <a:lstStyle/>
                  <a:p>
                    <a:endParaRPr lang="zh-CN" altLang="en-US"/>
                  </a:p>
                </p:txBody>
              </p:sp>
              <p:sp>
                <p:nvSpPr>
                  <p:cNvPr id="13" name="矩形 12"/>
                  <p:cNvSpPr/>
                  <p:nvPr/>
                </p:nvSpPr>
                <p:spPr>
                  <a:xfrm>
                    <a:off x="6540" y="9006"/>
                    <a:ext cx="360" cy="312"/>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P</a:t>
                    </a:r>
                    <a:r>
                      <a:rPr lang="en-US" sz="900" kern="100" baseline="-25000">
                        <a:effectLst/>
                        <a:latin typeface="Times New Roman" panose="02020603050405020304" pitchFamily="18" charset="0"/>
                        <a:ea typeface="宋体" panose="02010600030101010101" pitchFamily="2" charset="-122"/>
                      </a:rPr>
                      <a:t>3</a:t>
                    </a:r>
                    <a:endParaRPr lang="zh-CN" sz="1050" kern="100">
                      <a:effectLst/>
                      <a:latin typeface="Times New Roman" panose="02020603050405020304" pitchFamily="18" charset="0"/>
                      <a:ea typeface="宋体" panose="02010600030101010101" pitchFamily="2" charset="-122"/>
                    </a:endParaRPr>
                  </a:p>
                </p:txBody>
              </p:sp>
              <p:sp>
                <p:nvSpPr>
                  <p:cNvPr id="14" name="矩形 13"/>
                  <p:cNvSpPr/>
                  <p:nvPr/>
                </p:nvSpPr>
                <p:spPr>
                  <a:xfrm>
                    <a:off x="3990" y="8361"/>
                    <a:ext cx="360" cy="312"/>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B</a:t>
                    </a:r>
                    <a:endParaRPr lang="zh-CN" sz="1050" kern="100">
                      <a:effectLst/>
                      <a:latin typeface="Times New Roman" panose="02020603050405020304" pitchFamily="18" charset="0"/>
                      <a:ea typeface="宋体" panose="02010600030101010101" pitchFamily="2" charset="-122"/>
                    </a:endParaRPr>
                  </a:p>
                </p:txBody>
              </p:sp>
              <p:sp>
                <p:nvSpPr>
                  <p:cNvPr id="15" name="矩形 14"/>
                  <p:cNvSpPr/>
                  <p:nvPr/>
                </p:nvSpPr>
                <p:spPr>
                  <a:xfrm>
                    <a:off x="3975" y="8094"/>
                    <a:ext cx="360" cy="312"/>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A</a:t>
                    </a:r>
                    <a:endParaRPr lang="zh-CN" sz="1050" kern="100">
                      <a:effectLst/>
                      <a:latin typeface="Times New Roman" panose="02020603050405020304" pitchFamily="18" charset="0"/>
                      <a:ea typeface="宋体" panose="02010600030101010101" pitchFamily="2" charset="-122"/>
                    </a:endParaRPr>
                  </a:p>
                </p:txBody>
              </p:sp>
              <p:sp>
                <p:nvSpPr>
                  <p:cNvPr id="16" name="矩形 15"/>
                  <p:cNvSpPr/>
                  <p:nvPr/>
                </p:nvSpPr>
                <p:spPr>
                  <a:xfrm>
                    <a:off x="5835" y="7584"/>
                    <a:ext cx="540" cy="468"/>
                  </a:xfrm>
                  <a:prstGeom prst="rect">
                    <a:avLst/>
                  </a:prstGeom>
                  <a:solidFill>
                    <a:srgbClr val="FFFFFF"/>
                  </a:solidFill>
                  <a:ln w="9525" cap="flat" cmpd="sng">
                    <a:solidFill>
                      <a:srgbClr val="000000"/>
                    </a:solidFill>
                    <a:prstDash val="solid"/>
                    <a:miter/>
                    <a:headEnd type="none" w="med" len="med"/>
                    <a:tailEnd type="none" w="med" len="med"/>
                  </a:ln>
                  <a:effectLst/>
                </p:spPr>
                <p:txBody>
                  <a:bodyPr lIns="0" tIns="45720" rIns="0" bIns="45720" upright="1"/>
                  <a:lstStyle/>
                  <a:p>
                    <a:pPr indent="57150" algn="just">
                      <a:spcAft>
                        <a:spcPts val="0"/>
                      </a:spcAft>
                    </a:pPr>
                    <a:r>
                      <a:rPr lang="en-US" sz="900" kern="100">
                        <a:effectLst/>
                        <a:latin typeface="宋体" panose="02010600030101010101" pitchFamily="2" charset="-122"/>
                        <a:ea typeface="宋体" panose="02010600030101010101" pitchFamily="2" charset="-122"/>
                      </a:rPr>
                      <a:t>≥</a:t>
                    </a:r>
                    <a:r>
                      <a:rPr lang="en-US" sz="900" kern="100">
                        <a:effectLst/>
                        <a:latin typeface="Times New Roman" panose="02020603050405020304" pitchFamily="18" charset="0"/>
                        <a:ea typeface="宋体" panose="02010600030101010101" pitchFamily="2" charset="-122"/>
                      </a:rPr>
                      <a:t>1</a:t>
                    </a:r>
                    <a:endParaRPr lang="zh-CN" sz="1050" kern="100">
                      <a:effectLst/>
                      <a:latin typeface="Times New Roman" panose="02020603050405020304" pitchFamily="18" charset="0"/>
                      <a:ea typeface="宋体" panose="02010600030101010101" pitchFamily="2" charset="-122"/>
                    </a:endParaRPr>
                  </a:p>
                </p:txBody>
              </p:sp>
              <p:sp>
                <p:nvSpPr>
                  <p:cNvPr id="17" name="矩形 16"/>
                  <p:cNvSpPr/>
                  <p:nvPr/>
                </p:nvSpPr>
                <p:spPr>
                  <a:xfrm>
                    <a:off x="5850" y="8757"/>
                    <a:ext cx="540" cy="468"/>
                  </a:xfrm>
                  <a:prstGeom prst="rect">
                    <a:avLst/>
                  </a:prstGeom>
                  <a:solidFill>
                    <a:srgbClr val="FFFFFF"/>
                  </a:solidFill>
                  <a:ln w="9525" cap="flat" cmpd="sng">
                    <a:solidFill>
                      <a:srgbClr val="000000"/>
                    </a:solidFill>
                    <a:prstDash val="solid"/>
                    <a:miter/>
                    <a:headEnd type="none" w="med" len="med"/>
                    <a:tailEnd type="none" w="med" len="med"/>
                  </a:ln>
                  <a:effectLst/>
                </p:spPr>
                <p:txBody>
                  <a:bodyPr lIns="0" tIns="45720" rIns="0" bIns="45720" upright="1"/>
                  <a:lstStyle/>
                  <a:p>
                    <a:pPr indent="57150" algn="just">
                      <a:spcAft>
                        <a:spcPts val="0"/>
                      </a:spcAft>
                    </a:pPr>
                    <a:r>
                      <a:rPr lang="en-US" sz="900" kern="100">
                        <a:effectLst/>
                        <a:latin typeface="宋体" panose="02010600030101010101" pitchFamily="2" charset="-122"/>
                        <a:ea typeface="宋体" panose="02010600030101010101" pitchFamily="2" charset="-122"/>
                      </a:rPr>
                      <a:t>≥</a:t>
                    </a:r>
                    <a:r>
                      <a:rPr lang="en-US" sz="900" kern="100">
                        <a:effectLst/>
                        <a:latin typeface="Times New Roman" panose="02020603050405020304" pitchFamily="18" charset="0"/>
                        <a:ea typeface="宋体" panose="02010600030101010101" pitchFamily="2" charset="-122"/>
                      </a:rPr>
                      <a:t>1</a:t>
                    </a:r>
                    <a:endParaRPr lang="zh-CN" sz="1050" kern="100">
                      <a:effectLst/>
                      <a:latin typeface="Times New Roman" panose="02020603050405020304" pitchFamily="18" charset="0"/>
                      <a:ea typeface="宋体" panose="02010600030101010101" pitchFamily="2" charset="-122"/>
                    </a:endParaRPr>
                  </a:p>
                </p:txBody>
              </p:sp>
              <p:sp>
                <p:nvSpPr>
                  <p:cNvPr id="18" name="矩形 17"/>
                  <p:cNvSpPr/>
                  <p:nvPr/>
                </p:nvSpPr>
                <p:spPr>
                  <a:xfrm>
                    <a:off x="7095" y="8169"/>
                    <a:ext cx="540" cy="468"/>
                  </a:xfrm>
                  <a:prstGeom prst="rect">
                    <a:avLst/>
                  </a:prstGeom>
                  <a:solidFill>
                    <a:srgbClr val="FFFFFF"/>
                  </a:solidFill>
                  <a:ln w="9525" cap="flat" cmpd="sng">
                    <a:solidFill>
                      <a:srgbClr val="000000"/>
                    </a:solidFill>
                    <a:prstDash val="solid"/>
                    <a:miter/>
                    <a:headEnd type="none" w="med" len="med"/>
                    <a:tailEnd type="none" w="med" len="med"/>
                  </a:ln>
                  <a:effectLst/>
                </p:spPr>
                <p:txBody>
                  <a:bodyPr lIns="0" tIns="45720" rIns="0" bIns="45720" upright="1"/>
                  <a:lstStyle/>
                  <a:p>
                    <a:pPr indent="57150" algn="just">
                      <a:spcAft>
                        <a:spcPts val="0"/>
                      </a:spcAft>
                    </a:pPr>
                    <a:r>
                      <a:rPr lang="en-US" sz="900" kern="100">
                        <a:effectLst/>
                        <a:latin typeface="宋体" panose="02010600030101010101" pitchFamily="2" charset="-122"/>
                        <a:ea typeface="宋体" panose="02010600030101010101" pitchFamily="2" charset="-122"/>
                      </a:rPr>
                      <a:t>≥</a:t>
                    </a:r>
                    <a:r>
                      <a:rPr lang="en-US" sz="900" kern="100">
                        <a:effectLst/>
                        <a:latin typeface="Times New Roman" panose="02020603050405020304" pitchFamily="18" charset="0"/>
                        <a:ea typeface="宋体" panose="02010600030101010101" pitchFamily="2" charset="-122"/>
                      </a:rPr>
                      <a:t>1</a:t>
                    </a:r>
                    <a:endParaRPr lang="zh-CN" sz="1050" kern="100">
                      <a:effectLst/>
                      <a:latin typeface="Times New Roman" panose="02020603050405020304" pitchFamily="18" charset="0"/>
                      <a:ea typeface="宋体" panose="02010600030101010101" pitchFamily="2" charset="-122"/>
                    </a:endParaRPr>
                  </a:p>
                </p:txBody>
              </p:sp>
              <p:sp>
                <p:nvSpPr>
                  <p:cNvPr id="19" name="矩形 18"/>
                  <p:cNvSpPr/>
                  <p:nvPr/>
                </p:nvSpPr>
                <p:spPr>
                  <a:xfrm>
                    <a:off x="4761" y="8130"/>
                    <a:ext cx="540" cy="468"/>
                  </a:xfrm>
                  <a:prstGeom prst="rect">
                    <a:avLst/>
                  </a:prstGeom>
                  <a:solidFill>
                    <a:srgbClr val="FFFFFF"/>
                  </a:solidFill>
                  <a:ln w="9525" cap="flat" cmpd="sng">
                    <a:solidFill>
                      <a:srgbClr val="000000"/>
                    </a:solidFill>
                    <a:prstDash val="solid"/>
                    <a:miter/>
                    <a:headEnd type="none" w="med" len="med"/>
                    <a:tailEnd type="none" w="med" len="med"/>
                  </a:ln>
                  <a:effectLst/>
                </p:spPr>
                <p:txBody>
                  <a:bodyPr lIns="0" tIns="45720" rIns="0" bIns="45720" upright="1"/>
                  <a:lstStyle/>
                  <a:p>
                    <a:pPr indent="57150" algn="just">
                      <a:spcAft>
                        <a:spcPts val="0"/>
                      </a:spcAft>
                    </a:pPr>
                    <a:r>
                      <a:rPr lang="en-US" sz="900" kern="100">
                        <a:effectLst/>
                        <a:latin typeface="宋体" panose="02010600030101010101" pitchFamily="2" charset="-122"/>
                        <a:ea typeface="宋体" panose="02010600030101010101" pitchFamily="2" charset="-122"/>
                      </a:rPr>
                      <a:t>≥</a:t>
                    </a:r>
                    <a:r>
                      <a:rPr lang="en-US" sz="900" kern="100">
                        <a:effectLst/>
                        <a:latin typeface="Times New Roman" panose="02020603050405020304" pitchFamily="18" charset="0"/>
                        <a:ea typeface="宋体" panose="02010600030101010101" pitchFamily="2" charset="-122"/>
                      </a:rPr>
                      <a:t>1</a:t>
                    </a:r>
                    <a:endParaRPr lang="zh-CN" sz="1050" kern="100">
                      <a:effectLst/>
                      <a:latin typeface="Times New Roman" panose="02020603050405020304" pitchFamily="18" charset="0"/>
                      <a:ea typeface="宋体" panose="02010600030101010101" pitchFamily="2" charset="-122"/>
                    </a:endParaRPr>
                  </a:p>
                </p:txBody>
              </p:sp>
              <p:cxnSp>
                <p:nvCxnSpPr>
                  <p:cNvPr id="20" name="直接连接符 19"/>
                  <p:cNvCxnSpPr/>
                  <p:nvPr/>
                </p:nvCxnSpPr>
                <p:spPr>
                  <a:xfrm>
                    <a:off x="5595" y="7926"/>
                    <a:ext cx="238" cy="0"/>
                  </a:xfrm>
                  <a:prstGeom prst="line">
                    <a:avLst/>
                  </a:prstGeom>
                  <a:ln w="9525" cap="flat" cmpd="sng">
                    <a:solidFill>
                      <a:srgbClr val="000000"/>
                    </a:solidFill>
                    <a:prstDash val="solid"/>
                    <a:headEnd type="none" w="med" len="med"/>
                    <a:tailEnd type="none" w="med" len="med"/>
                  </a:ln>
                  <a:effectLst/>
                </p:spPr>
              </p:cxnSp>
              <p:cxnSp>
                <p:nvCxnSpPr>
                  <p:cNvPr id="21" name="直接连接符 20"/>
                  <p:cNvCxnSpPr/>
                  <p:nvPr/>
                </p:nvCxnSpPr>
                <p:spPr>
                  <a:xfrm>
                    <a:off x="5592" y="8874"/>
                    <a:ext cx="256" cy="0"/>
                  </a:xfrm>
                  <a:prstGeom prst="line">
                    <a:avLst/>
                  </a:prstGeom>
                  <a:ln w="9525" cap="flat" cmpd="sng">
                    <a:solidFill>
                      <a:srgbClr val="000000"/>
                    </a:solidFill>
                    <a:prstDash val="solid"/>
                    <a:headEnd type="none" w="med" len="med"/>
                    <a:tailEnd type="none" w="med" len="med"/>
                  </a:ln>
                  <a:effectLst/>
                </p:spPr>
              </p:cxnSp>
              <p:cxnSp>
                <p:nvCxnSpPr>
                  <p:cNvPr id="22" name="直接连接符 21"/>
                  <p:cNvCxnSpPr/>
                  <p:nvPr/>
                </p:nvCxnSpPr>
                <p:spPr>
                  <a:xfrm>
                    <a:off x="5595" y="7923"/>
                    <a:ext cx="0" cy="936"/>
                  </a:xfrm>
                  <a:prstGeom prst="line">
                    <a:avLst/>
                  </a:prstGeom>
                  <a:ln w="9525" cap="flat" cmpd="sng">
                    <a:solidFill>
                      <a:srgbClr val="000000"/>
                    </a:solidFill>
                    <a:prstDash val="solid"/>
                    <a:headEnd type="none" w="med" len="med"/>
                    <a:tailEnd type="none" w="med" len="med"/>
                  </a:ln>
                  <a:effectLst/>
                </p:spPr>
              </p:cxnSp>
              <p:cxnSp>
                <p:nvCxnSpPr>
                  <p:cNvPr id="23" name="直接连接符 22"/>
                  <p:cNvCxnSpPr/>
                  <p:nvPr/>
                </p:nvCxnSpPr>
                <p:spPr>
                  <a:xfrm flipH="1">
                    <a:off x="5385" y="8361"/>
                    <a:ext cx="193" cy="0"/>
                  </a:xfrm>
                  <a:prstGeom prst="line">
                    <a:avLst/>
                  </a:prstGeom>
                  <a:ln w="9525" cap="flat" cmpd="sng">
                    <a:solidFill>
                      <a:srgbClr val="000000"/>
                    </a:solidFill>
                    <a:prstDash val="solid"/>
                    <a:headEnd type="none" w="med" len="med"/>
                    <a:tailEnd type="none" w="med" len="med"/>
                  </a:ln>
                  <a:effectLst/>
                </p:spPr>
              </p:cxnSp>
              <p:sp>
                <p:nvSpPr>
                  <p:cNvPr id="24" name="椭圆 23"/>
                  <p:cNvSpPr/>
                  <p:nvPr/>
                </p:nvSpPr>
                <p:spPr>
                  <a:xfrm>
                    <a:off x="6382" y="7707"/>
                    <a:ext cx="113" cy="113"/>
                  </a:xfrm>
                  <a:prstGeom prst="ellipse">
                    <a:avLst/>
                  </a:prstGeom>
                  <a:solidFill>
                    <a:srgbClr val="FFFFFF"/>
                  </a:solidFill>
                  <a:ln w="9525" cap="flat" cmpd="sng">
                    <a:solidFill>
                      <a:srgbClr val="000000"/>
                    </a:solidFill>
                    <a:prstDash val="solid"/>
                    <a:headEnd type="none" w="med" len="med"/>
                    <a:tailEnd type="none" w="med" len="med"/>
                  </a:ln>
                  <a:effectLst/>
                </p:spPr>
                <p:txBody>
                  <a:bodyPr upright="1"/>
                  <a:lstStyle/>
                  <a:p>
                    <a:endParaRPr lang="zh-CN" altLang="en-US"/>
                  </a:p>
                </p:txBody>
              </p:sp>
              <p:sp>
                <p:nvSpPr>
                  <p:cNvPr id="25" name="椭圆 24"/>
                  <p:cNvSpPr/>
                  <p:nvPr/>
                </p:nvSpPr>
                <p:spPr>
                  <a:xfrm>
                    <a:off x="6396" y="8934"/>
                    <a:ext cx="113" cy="113"/>
                  </a:xfrm>
                  <a:prstGeom prst="ellipse">
                    <a:avLst/>
                  </a:prstGeom>
                  <a:solidFill>
                    <a:srgbClr val="FFFFFF"/>
                  </a:solidFill>
                  <a:ln w="9525" cap="flat" cmpd="sng">
                    <a:solidFill>
                      <a:srgbClr val="000000"/>
                    </a:solidFill>
                    <a:prstDash val="solid"/>
                    <a:headEnd type="none" w="med" len="med"/>
                    <a:tailEnd type="none" w="med" len="med"/>
                  </a:ln>
                  <a:effectLst/>
                </p:spPr>
                <p:txBody>
                  <a:bodyPr upright="1"/>
                  <a:lstStyle/>
                  <a:p>
                    <a:endParaRPr lang="zh-CN" altLang="en-US"/>
                  </a:p>
                </p:txBody>
              </p:sp>
              <p:sp>
                <p:nvSpPr>
                  <p:cNvPr id="26" name="椭圆 25"/>
                  <p:cNvSpPr/>
                  <p:nvPr/>
                </p:nvSpPr>
                <p:spPr>
                  <a:xfrm>
                    <a:off x="7641" y="8361"/>
                    <a:ext cx="113" cy="113"/>
                  </a:xfrm>
                  <a:prstGeom prst="ellipse">
                    <a:avLst/>
                  </a:prstGeom>
                  <a:solidFill>
                    <a:srgbClr val="FFFFFF"/>
                  </a:solidFill>
                  <a:ln w="9525" cap="flat" cmpd="sng">
                    <a:solidFill>
                      <a:srgbClr val="000000"/>
                    </a:solidFill>
                    <a:prstDash val="solid"/>
                    <a:headEnd type="none" w="med" len="med"/>
                    <a:tailEnd type="none" w="med" len="med"/>
                  </a:ln>
                  <a:effectLst/>
                </p:spPr>
                <p:txBody>
                  <a:bodyPr upright="1"/>
                  <a:lstStyle/>
                  <a:p>
                    <a:endParaRPr lang="zh-CN" altLang="en-US"/>
                  </a:p>
                </p:txBody>
              </p:sp>
              <p:sp>
                <p:nvSpPr>
                  <p:cNvPr id="27" name="椭圆 26"/>
                  <p:cNvSpPr/>
                  <p:nvPr/>
                </p:nvSpPr>
                <p:spPr>
                  <a:xfrm>
                    <a:off x="5562" y="8325"/>
                    <a:ext cx="57" cy="57"/>
                  </a:xfrm>
                  <a:prstGeom prst="ellipse">
                    <a:avLst/>
                  </a:prstGeom>
                  <a:solidFill>
                    <a:srgbClr val="000000"/>
                  </a:solidFill>
                  <a:ln w="9525" cap="flat" cmpd="sng">
                    <a:solidFill>
                      <a:srgbClr val="000000"/>
                    </a:solidFill>
                    <a:prstDash val="solid"/>
                    <a:headEnd type="none" w="med" len="med"/>
                    <a:tailEnd type="none" w="med" len="med"/>
                  </a:ln>
                  <a:effectLst/>
                </p:spPr>
                <p:txBody>
                  <a:bodyPr upright="1"/>
                  <a:lstStyle/>
                  <a:p>
                    <a:endParaRPr lang="zh-CN" altLang="en-US"/>
                  </a:p>
                </p:txBody>
              </p:sp>
              <p:sp>
                <p:nvSpPr>
                  <p:cNvPr id="28" name="椭圆 27"/>
                  <p:cNvSpPr/>
                  <p:nvPr/>
                </p:nvSpPr>
                <p:spPr>
                  <a:xfrm>
                    <a:off x="4464" y="8430"/>
                    <a:ext cx="57" cy="57"/>
                  </a:xfrm>
                  <a:prstGeom prst="ellipse">
                    <a:avLst/>
                  </a:prstGeom>
                  <a:solidFill>
                    <a:srgbClr val="000000"/>
                  </a:solidFill>
                  <a:ln w="9525" cap="flat" cmpd="sng">
                    <a:solidFill>
                      <a:srgbClr val="000000"/>
                    </a:solidFill>
                    <a:prstDash val="solid"/>
                    <a:headEnd type="none" w="med" len="med"/>
                    <a:tailEnd type="none" w="med" len="med"/>
                  </a:ln>
                  <a:effectLst/>
                </p:spPr>
                <p:txBody>
                  <a:bodyPr upright="1"/>
                  <a:lstStyle/>
                  <a:p>
                    <a:endParaRPr lang="zh-CN" altLang="en-US"/>
                  </a:p>
                </p:txBody>
              </p:sp>
              <p:cxnSp>
                <p:nvCxnSpPr>
                  <p:cNvPr id="29" name="直接连接符 28"/>
                  <p:cNvCxnSpPr/>
                  <p:nvPr/>
                </p:nvCxnSpPr>
                <p:spPr>
                  <a:xfrm>
                    <a:off x="4215" y="8280"/>
                    <a:ext cx="540" cy="0"/>
                  </a:xfrm>
                  <a:prstGeom prst="line">
                    <a:avLst/>
                  </a:prstGeom>
                  <a:ln w="9525" cap="flat" cmpd="sng">
                    <a:solidFill>
                      <a:srgbClr val="000000"/>
                    </a:solidFill>
                    <a:prstDash val="solid"/>
                    <a:headEnd type="none" w="med" len="med"/>
                    <a:tailEnd type="none" w="med" len="med"/>
                  </a:ln>
                  <a:effectLst/>
                </p:spPr>
              </p:cxnSp>
              <p:cxnSp>
                <p:nvCxnSpPr>
                  <p:cNvPr id="30" name="直接连接符 29"/>
                  <p:cNvCxnSpPr/>
                  <p:nvPr/>
                </p:nvCxnSpPr>
                <p:spPr>
                  <a:xfrm>
                    <a:off x="4215" y="8460"/>
                    <a:ext cx="540" cy="0"/>
                  </a:xfrm>
                  <a:prstGeom prst="line">
                    <a:avLst/>
                  </a:prstGeom>
                  <a:ln w="9525" cap="flat" cmpd="sng">
                    <a:solidFill>
                      <a:srgbClr val="000000"/>
                    </a:solidFill>
                    <a:prstDash val="solid"/>
                    <a:headEnd type="none" w="med" len="med"/>
                    <a:tailEnd type="none" w="med" len="med"/>
                  </a:ln>
                  <a:effectLst/>
                </p:spPr>
              </p:cxnSp>
              <p:cxnSp>
                <p:nvCxnSpPr>
                  <p:cNvPr id="31" name="直接连接符 30"/>
                  <p:cNvCxnSpPr/>
                  <p:nvPr/>
                </p:nvCxnSpPr>
                <p:spPr>
                  <a:xfrm>
                    <a:off x="4497" y="8487"/>
                    <a:ext cx="0" cy="612"/>
                  </a:xfrm>
                  <a:prstGeom prst="line">
                    <a:avLst/>
                  </a:prstGeom>
                  <a:ln w="9525" cap="flat" cmpd="sng">
                    <a:solidFill>
                      <a:srgbClr val="000000"/>
                    </a:solidFill>
                    <a:prstDash val="solid"/>
                    <a:headEnd type="none" w="med" len="med"/>
                    <a:tailEnd type="none" w="med" len="med"/>
                  </a:ln>
                  <a:effectLst/>
                </p:spPr>
              </p:cxnSp>
              <p:cxnSp>
                <p:nvCxnSpPr>
                  <p:cNvPr id="32" name="直接连接符 31"/>
                  <p:cNvCxnSpPr/>
                  <p:nvPr/>
                </p:nvCxnSpPr>
                <p:spPr>
                  <a:xfrm>
                    <a:off x="4496" y="9102"/>
                    <a:ext cx="1349" cy="3"/>
                  </a:xfrm>
                  <a:prstGeom prst="line">
                    <a:avLst/>
                  </a:prstGeom>
                  <a:ln w="9525" cap="flat" cmpd="sng">
                    <a:solidFill>
                      <a:srgbClr val="000000"/>
                    </a:solidFill>
                    <a:prstDash val="solid"/>
                    <a:headEnd type="none" w="med" len="med"/>
                    <a:tailEnd type="none" w="med" len="med"/>
                  </a:ln>
                  <a:effectLst/>
                </p:spPr>
              </p:cxnSp>
              <p:cxnSp>
                <p:nvCxnSpPr>
                  <p:cNvPr id="33" name="直接连接符 32"/>
                  <p:cNvCxnSpPr/>
                  <p:nvPr/>
                </p:nvCxnSpPr>
                <p:spPr>
                  <a:xfrm>
                    <a:off x="4500" y="7662"/>
                    <a:ext cx="0" cy="612"/>
                  </a:xfrm>
                  <a:prstGeom prst="line">
                    <a:avLst/>
                  </a:prstGeom>
                  <a:ln w="9525" cap="flat" cmpd="sng">
                    <a:solidFill>
                      <a:srgbClr val="000000"/>
                    </a:solidFill>
                    <a:prstDash val="solid"/>
                    <a:headEnd type="none" w="med" len="med"/>
                    <a:tailEnd type="none" w="med" len="med"/>
                  </a:ln>
                  <a:effectLst/>
                </p:spPr>
              </p:cxnSp>
              <p:cxnSp>
                <p:nvCxnSpPr>
                  <p:cNvPr id="34" name="直接连接符 33"/>
                  <p:cNvCxnSpPr/>
                  <p:nvPr/>
                </p:nvCxnSpPr>
                <p:spPr>
                  <a:xfrm>
                    <a:off x="4500" y="7656"/>
                    <a:ext cx="1333" cy="3"/>
                  </a:xfrm>
                  <a:prstGeom prst="line">
                    <a:avLst/>
                  </a:prstGeom>
                  <a:ln w="9525" cap="flat" cmpd="sng">
                    <a:solidFill>
                      <a:srgbClr val="000000"/>
                    </a:solidFill>
                    <a:prstDash val="solid"/>
                    <a:headEnd type="none" w="med" len="med"/>
                    <a:tailEnd type="none" w="med" len="med"/>
                  </a:ln>
                  <a:effectLst/>
                </p:spPr>
              </p:cxnSp>
              <p:cxnSp>
                <p:nvCxnSpPr>
                  <p:cNvPr id="35" name="直接连接符 34"/>
                  <p:cNvCxnSpPr/>
                  <p:nvPr/>
                </p:nvCxnSpPr>
                <p:spPr>
                  <a:xfrm>
                    <a:off x="6516" y="8982"/>
                    <a:ext cx="210" cy="3"/>
                  </a:xfrm>
                  <a:prstGeom prst="line">
                    <a:avLst/>
                  </a:prstGeom>
                  <a:ln w="9525" cap="flat" cmpd="sng">
                    <a:solidFill>
                      <a:srgbClr val="000000"/>
                    </a:solidFill>
                    <a:prstDash val="solid"/>
                    <a:headEnd type="none" w="med" len="med"/>
                    <a:tailEnd type="none" w="med" len="med"/>
                  </a:ln>
                  <a:effectLst/>
                </p:spPr>
              </p:cxnSp>
              <p:cxnSp>
                <p:nvCxnSpPr>
                  <p:cNvPr id="36" name="直接连接符 35"/>
                  <p:cNvCxnSpPr/>
                  <p:nvPr/>
                </p:nvCxnSpPr>
                <p:spPr>
                  <a:xfrm flipV="1">
                    <a:off x="6495" y="7764"/>
                    <a:ext cx="217" cy="3"/>
                  </a:xfrm>
                  <a:prstGeom prst="line">
                    <a:avLst/>
                  </a:prstGeom>
                  <a:ln w="9525" cap="flat" cmpd="sng">
                    <a:solidFill>
                      <a:srgbClr val="000000"/>
                    </a:solidFill>
                    <a:prstDash val="solid"/>
                    <a:headEnd type="none" w="med" len="med"/>
                    <a:tailEnd type="none" w="med" len="med"/>
                  </a:ln>
                  <a:effectLst/>
                </p:spPr>
              </p:cxnSp>
              <p:cxnSp>
                <p:nvCxnSpPr>
                  <p:cNvPr id="37" name="直接连接符 36"/>
                  <p:cNvCxnSpPr/>
                  <p:nvPr/>
                </p:nvCxnSpPr>
                <p:spPr>
                  <a:xfrm>
                    <a:off x="6720" y="7767"/>
                    <a:ext cx="0" cy="527"/>
                  </a:xfrm>
                  <a:prstGeom prst="line">
                    <a:avLst/>
                  </a:prstGeom>
                  <a:ln w="9525" cap="flat" cmpd="sng">
                    <a:solidFill>
                      <a:srgbClr val="000000"/>
                    </a:solidFill>
                    <a:prstDash val="solid"/>
                    <a:headEnd type="none" w="med" len="med"/>
                    <a:tailEnd type="none" w="med" len="med"/>
                  </a:ln>
                  <a:effectLst/>
                </p:spPr>
              </p:cxnSp>
              <p:cxnSp>
                <p:nvCxnSpPr>
                  <p:cNvPr id="38" name="直接连接符 37"/>
                  <p:cNvCxnSpPr/>
                  <p:nvPr/>
                </p:nvCxnSpPr>
                <p:spPr>
                  <a:xfrm flipH="1">
                    <a:off x="6734" y="8493"/>
                    <a:ext cx="1" cy="492"/>
                  </a:xfrm>
                  <a:prstGeom prst="line">
                    <a:avLst/>
                  </a:prstGeom>
                  <a:ln w="9525" cap="flat" cmpd="sng">
                    <a:solidFill>
                      <a:srgbClr val="000000"/>
                    </a:solidFill>
                    <a:prstDash val="solid"/>
                    <a:headEnd type="none" w="med" len="med"/>
                    <a:tailEnd type="none" w="med" len="med"/>
                  </a:ln>
                  <a:effectLst/>
                </p:spPr>
              </p:cxnSp>
              <p:cxnSp>
                <p:nvCxnSpPr>
                  <p:cNvPr id="39" name="直接连接符 38"/>
                  <p:cNvCxnSpPr/>
                  <p:nvPr/>
                </p:nvCxnSpPr>
                <p:spPr>
                  <a:xfrm>
                    <a:off x="6720" y="8286"/>
                    <a:ext cx="360" cy="0"/>
                  </a:xfrm>
                  <a:prstGeom prst="line">
                    <a:avLst/>
                  </a:prstGeom>
                  <a:ln w="9525" cap="flat" cmpd="sng">
                    <a:solidFill>
                      <a:srgbClr val="000000"/>
                    </a:solidFill>
                    <a:prstDash val="solid"/>
                    <a:headEnd type="none" w="med" len="med"/>
                    <a:tailEnd type="none" w="med" len="med"/>
                  </a:ln>
                  <a:effectLst/>
                </p:spPr>
              </p:cxnSp>
              <p:cxnSp>
                <p:nvCxnSpPr>
                  <p:cNvPr id="40" name="直接连接符 39"/>
                  <p:cNvCxnSpPr/>
                  <p:nvPr/>
                </p:nvCxnSpPr>
                <p:spPr>
                  <a:xfrm>
                    <a:off x="6738" y="8490"/>
                    <a:ext cx="360" cy="0"/>
                  </a:xfrm>
                  <a:prstGeom prst="line">
                    <a:avLst/>
                  </a:prstGeom>
                  <a:ln w="9525" cap="flat" cmpd="sng">
                    <a:solidFill>
                      <a:srgbClr val="000000"/>
                    </a:solidFill>
                    <a:prstDash val="solid"/>
                    <a:headEnd type="none" w="med" len="med"/>
                    <a:tailEnd type="none" w="med" len="med"/>
                  </a:ln>
                  <a:effectLst/>
                </p:spPr>
              </p:cxnSp>
              <p:cxnSp>
                <p:nvCxnSpPr>
                  <p:cNvPr id="41" name="直接连接符 40"/>
                  <p:cNvCxnSpPr/>
                  <p:nvPr/>
                </p:nvCxnSpPr>
                <p:spPr>
                  <a:xfrm>
                    <a:off x="7752" y="8415"/>
                    <a:ext cx="360" cy="0"/>
                  </a:xfrm>
                  <a:prstGeom prst="line">
                    <a:avLst/>
                  </a:prstGeom>
                  <a:ln w="9525" cap="flat" cmpd="sng">
                    <a:solidFill>
                      <a:srgbClr val="000000"/>
                    </a:solidFill>
                    <a:prstDash val="solid"/>
                    <a:headEnd type="none" w="med" len="med"/>
                    <a:tailEnd type="none" w="med" len="med"/>
                  </a:ln>
                  <a:effectLst/>
                </p:spPr>
              </p:cxnSp>
              <p:sp>
                <p:nvSpPr>
                  <p:cNvPr id="42" name="矩形 41"/>
                  <p:cNvSpPr/>
                  <p:nvPr/>
                </p:nvSpPr>
                <p:spPr>
                  <a:xfrm>
                    <a:off x="8115" y="8265"/>
                    <a:ext cx="360" cy="312"/>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F</a:t>
                    </a:r>
                    <a:endParaRPr lang="zh-CN" sz="1050" kern="100">
                      <a:effectLst/>
                      <a:latin typeface="Times New Roman" panose="02020603050405020304" pitchFamily="18" charset="0"/>
                      <a:ea typeface="宋体" panose="02010600030101010101" pitchFamily="2" charset="-122"/>
                    </a:endParaRPr>
                  </a:p>
                </p:txBody>
              </p:sp>
              <p:sp>
                <p:nvSpPr>
                  <p:cNvPr id="43" name="椭圆 42"/>
                  <p:cNvSpPr/>
                  <p:nvPr/>
                </p:nvSpPr>
                <p:spPr>
                  <a:xfrm>
                    <a:off x="5304" y="8304"/>
                    <a:ext cx="113" cy="113"/>
                  </a:xfrm>
                  <a:prstGeom prst="ellipse">
                    <a:avLst/>
                  </a:prstGeom>
                  <a:solidFill>
                    <a:srgbClr val="FFFFFF"/>
                  </a:solidFill>
                  <a:ln w="9525" cap="flat" cmpd="sng">
                    <a:solidFill>
                      <a:srgbClr val="000000"/>
                    </a:solidFill>
                    <a:prstDash val="solid"/>
                    <a:headEnd type="none" w="med" len="med"/>
                    <a:tailEnd type="none" w="med" len="med"/>
                  </a:ln>
                  <a:effectLst/>
                </p:spPr>
                <p:txBody>
                  <a:bodyPr upright="1"/>
                  <a:lstStyle/>
                  <a:p>
                    <a:endParaRPr lang="zh-CN" altLang="en-US"/>
                  </a:p>
                </p:txBody>
              </p:sp>
            </p:grpSp>
          </p:grpSp>
          <p:sp>
            <p:nvSpPr>
              <p:cNvPr id="7" name="矩形 6"/>
              <p:cNvSpPr/>
              <p:nvPr/>
            </p:nvSpPr>
            <p:spPr>
              <a:xfrm>
                <a:off x="7598" y="77488"/>
                <a:ext cx="360" cy="312"/>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P</a:t>
                </a:r>
                <a:r>
                  <a:rPr lang="en-US" sz="900" kern="100" baseline="-25000">
                    <a:effectLst/>
                    <a:latin typeface="Times New Roman" panose="02020603050405020304" pitchFamily="18" charset="0"/>
                    <a:ea typeface="宋体" panose="02010600030101010101" pitchFamily="2" charset="-122"/>
                  </a:rPr>
                  <a:t>4</a:t>
                </a:r>
                <a:endParaRPr lang="zh-CN" sz="1050" kern="100">
                  <a:effectLst/>
                  <a:latin typeface="Times New Roman" panose="02020603050405020304" pitchFamily="18" charset="0"/>
                  <a:ea typeface="宋体" panose="02010600030101010101" pitchFamily="2" charset="-122"/>
                </a:endParaRPr>
              </a:p>
            </p:txBody>
          </p:sp>
        </p:grpSp>
      </p:grpSp>
      <p:sp>
        <p:nvSpPr>
          <p:cNvPr id="45" name="Text Box 2"/>
          <p:cNvSpPr txBox="1">
            <a:spLocks noChangeArrowheads="1"/>
          </p:cNvSpPr>
          <p:nvPr/>
        </p:nvSpPr>
        <p:spPr bwMode="auto">
          <a:xfrm>
            <a:off x="0" y="477475"/>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6" name="Text Box 4"/>
          <p:cNvSpPr txBox="1">
            <a:spLocks noChangeArrowheads="1"/>
          </p:cNvSpPr>
          <p:nvPr/>
        </p:nvSpPr>
        <p:spPr bwMode="auto">
          <a:xfrm>
            <a:off x="709613" y="1201375"/>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9.4.1 </a:t>
            </a:r>
            <a:r>
              <a:rPr kumimoji="1" lang="zh-CN" altLang="en-US" b="1" dirty="0" smtClean="0">
                <a:solidFill>
                  <a:srgbClr val="CC6600"/>
                </a:solidFill>
                <a:effectLst>
                  <a:outerShdw blurRad="38100" dist="38100" dir="2700000" algn="tl">
                    <a:srgbClr val="000000"/>
                  </a:outerShdw>
                </a:effectLst>
              </a:rPr>
              <a:t>组合逻辑电路</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7" name="矩形 46"/>
          <p:cNvSpPr/>
          <p:nvPr/>
        </p:nvSpPr>
        <p:spPr>
          <a:xfrm>
            <a:off x="791928" y="3219801"/>
            <a:ext cx="7779342" cy="953135"/>
          </a:xfrm>
          <a:prstGeom prst="rect">
            <a:avLst/>
          </a:prstGeom>
        </p:spPr>
        <p:txBody>
          <a:bodyPr wrap="square">
            <a:spAutoFit/>
          </a:bodyPr>
          <a:lstStyle/>
          <a:p>
            <a:pPr lvl="0" indent="266700">
              <a:tabLst>
                <a:tab pos="2628900" algn="ctr"/>
              </a:tabLst>
            </a:pPr>
            <a:r>
              <a:rPr lang="en-US" altLang="zh-CN" dirty="0">
                <a:cs typeface="Times New Roman" panose="02020603050405020304" pitchFamily="18" charset="0"/>
              </a:rPr>
              <a:t>【</a:t>
            </a:r>
            <a:r>
              <a:rPr lang="zh-CN" altLang="en-US" dirty="0">
                <a:cs typeface="Times New Roman" panose="02020603050405020304" pitchFamily="18" charset="0"/>
              </a:rPr>
              <a:t>例</a:t>
            </a:r>
            <a:r>
              <a:rPr lang="en-US" altLang="zh-CN" dirty="0">
                <a:cs typeface="Times New Roman" panose="02020603050405020304" pitchFamily="18" charset="0"/>
              </a:rPr>
              <a:t>1】</a:t>
            </a:r>
            <a:r>
              <a:rPr lang="zh-CN" altLang="en-US" dirty="0">
                <a:cs typeface="Times New Roman" panose="02020603050405020304" pitchFamily="18" charset="0"/>
              </a:rPr>
              <a:t>基础电路绘制与分析：用</a:t>
            </a:r>
            <a:r>
              <a:rPr lang="en-US" altLang="zh-CN" dirty="0" err="1">
                <a:cs typeface="Times New Roman" panose="02020603050405020304" pitchFamily="18" charset="0"/>
              </a:rPr>
              <a:t>Logisim</a:t>
            </a:r>
            <a:r>
              <a:rPr lang="zh-CN" altLang="en-US" dirty="0">
                <a:cs typeface="Times New Roman" panose="02020603050405020304" pitchFamily="18" charset="0"/>
              </a:rPr>
              <a:t>分析以下电路的功能。</a:t>
            </a:r>
            <a:endParaRPr lang="zh-CN" altLang="en-US" dirty="0"/>
          </a:p>
        </p:txBody>
      </p:sp>
    </p:spTree>
  </p:cSld>
  <p:clrMapOvr>
    <a:masterClrMapping/>
  </p:clrMapOvr>
  <p:transition spd="med">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图片 7"/>
          <p:cNvPicPr>
            <a:picLocks noChangeAspect="1" noChangeArrowheads="1"/>
          </p:cNvPicPr>
          <p:nvPr/>
        </p:nvPicPr>
        <p:blipFill>
          <a:blip r:embed="rId1">
            <a:extLst>
              <a:ext uri="{28A0092B-C50C-407E-A947-70E740481C1C}">
                <a14:useLocalDpi xmlns:a14="http://schemas.microsoft.com/office/drawing/2010/main" val="0"/>
              </a:ext>
            </a:extLst>
          </a:blip>
          <a:srcRect l="29105" t="24883" r="31660" b="60608"/>
          <a:stretch>
            <a:fillRect/>
          </a:stretch>
        </p:blipFill>
        <p:spPr bwMode="auto">
          <a:xfrm>
            <a:off x="1053465" y="4428490"/>
            <a:ext cx="3920490" cy="1697990"/>
          </a:xfrm>
          <a:prstGeom prst="rect">
            <a:avLst/>
          </a:prstGeom>
          <a:noFill/>
          <a:extLst>
            <a:ext uri="{909E8E84-426E-40DD-AFC4-6F175D3DCCD1}">
              <a14:hiddenFill xmlns:a14="http://schemas.microsoft.com/office/drawing/2010/main">
                <a:solidFill>
                  <a:srgbClr val="FFFFFF"/>
                </a:solidFill>
              </a14:hiddenFill>
            </a:ext>
          </a:extLst>
        </p:spPr>
      </p:pic>
      <p:pic>
        <p:nvPicPr>
          <p:cNvPr id="14337" name="图片 9"/>
          <p:cNvPicPr>
            <a:picLocks noChangeAspect="1" noChangeArrowheads="1"/>
          </p:cNvPicPr>
          <p:nvPr/>
        </p:nvPicPr>
        <p:blipFill>
          <a:blip r:embed="rId2">
            <a:extLst>
              <a:ext uri="{28A0092B-C50C-407E-A947-70E740481C1C}">
                <a14:useLocalDpi xmlns:a14="http://schemas.microsoft.com/office/drawing/2010/main" val="0"/>
              </a:ext>
            </a:extLst>
          </a:blip>
          <a:srcRect l="32285" t="9473" r="33347" b="49136"/>
          <a:stretch>
            <a:fillRect/>
          </a:stretch>
        </p:blipFill>
        <p:spPr bwMode="auto">
          <a:xfrm>
            <a:off x="5147945" y="4117975"/>
            <a:ext cx="3023235" cy="22218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491966" y="1810503"/>
            <a:ext cx="8342947" cy="230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8600">
              <a:tabLst>
                <a:tab pos="2628900" algn="ctr"/>
              </a:tabLst>
              <a:defRPr>
                <a:solidFill>
                  <a:schemeClr val="tx1"/>
                </a:solidFill>
                <a:latin typeface="Arial" panose="020B0604020202020204" pitchFamily="34" charset="0"/>
              </a:defRPr>
            </a:lvl1pPr>
            <a:lvl2pPr>
              <a:tabLst>
                <a:tab pos="2628900" algn="ctr"/>
              </a:tabLst>
              <a:defRPr>
                <a:solidFill>
                  <a:schemeClr val="tx1"/>
                </a:solidFill>
                <a:latin typeface="Arial" panose="020B0604020202020204" pitchFamily="34" charset="0"/>
              </a:defRPr>
            </a:lvl2pPr>
            <a:lvl3pPr>
              <a:tabLst>
                <a:tab pos="2628900" algn="ctr"/>
              </a:tabLst>
              <a:defRPr>
                <a:solidFill>
                  <a:schemeClr val="tx1"/>
                </a:solidFill>
                <a:latin typeface="Arial" panose="020B0604020202020204" pitchFamily="34" charset="0"/>
              </a:defRPr>
            </a:lvl3pPr>
            <a:lvl4pPr>
              <a:tabLst>
                <a:tab pos="2628900" algn="ctr"/>
              </a:tabLst>
              <a:defRPr>
                <a:solidFill>
                  <a:schemeClr val="tx1"/>
                </a:solidFill>
                <a:latin typeface="Arial" panose="020B0604020202020204" pitchFamily="34" charset="0"/>
              </a:defRPr>
            </a:lvl4pPr>
            <a:lvl5pPr>
              <a:tabLst>
                <a:tab pos="2628900" algn="ctr"/>
              </a:tabLst>
              <a:defRPr>
                <a:solidFill>
                  <a:schemeClr val="tx1"/>
                </a:solidFill>
                <a:latin typeface="Arial" panose="020B0604020202020204" pitchFamily="34" charset="0"/>
              </a:defRPr>
            </a:lvl5pPr>
            <a:lvl6pPr>
              <a:tabLst>
                <a:tab pos="2628900" algn="ctr"/>
              </a:tabLst>
              <a:defRPr>
                <a:solidFill>
                  <a:schemeClr val="tx1"/>
                </a:solidFill>
                <a:latin typeface="Arial" panose="020B0604020202020204" pitchFamily="34" charset="0"/>
              </a:defRPr>
            </a:lvl6pPr>
            <a:lvl7pPr>
              <a:tabLst>
                <a:tab pos="2628900" algn="ctr"/>
              </a:tabLst>
              <a:defRPr>
                <a:solidFill>
                  <a:schemeClr val="tx1"/>
                </a:solidFill>
                <a:latin typeface="Arial" panose="020B0604020202020204" pitchFamily="34" charset="0"/>
              </a:defRPr>
            </a:lvl7pPr>
            <a:lvl8pPr>
              <a:tabLst>
                <a:tab pos="2628900" algn="ctr"/>
              </a:tabLst>
              <a:defRPr>
                <a:solidFill>
                  <a:schemeClr val="tx1"/>
                </a:solidFill>
                <a:latin typeface="Arial" panose="020B0604020202020204" pitchFamily="34" charset="0"/>
              </a:defRPr>
            </a:lvl8pPr>
            <a:lvl9pPr>
              <a:tabLst>
                <a:tab pos="2628900" algn="ctr"/>
              </a:tabLs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zh-CN"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【例</a:t>
            </a: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冒险与险象的观察：</a:t>
            </a:r>
            <a:endParaRPr kumimoji="0" lang="zh-CN" altLang="en-US" sz="1800" b="0" i="0" u="none" strike="noStrike" cap="none" normalizeH="0" baseline="0" dirty="0" smtClean="0">
              <a:ln>
                <a:noFill/>
              </a:ln>
              <a:solidFill>
                <a:schemeClr val="tx1"/>
              </a:solidFill>
              <a:effectLst/>
            </a:endParaRPr>
          </a:p>
          <a:p>
            <a:pPr marL="0" marR="0" lvl="0" indent="228600" algn="l" defTabSz="914400" rtl="0" eaLnBrk="0" fontAlgn="base" latinLnBrk="0" hangingPunct="0">
              <a:lnSpc>
                <a:spcPct val="100000"/>
              </a:lnSpc>
              <a:spcBef>
                <a:spcPct val="0"/>
              </a:spcBef>
              <a:spcAft>
                <a:spcPct val="0"/>
              </a:spcAft>
              <a:buClrTx/>
              <a:buSzTx/>
              <a:buFontTx/>
              <a:buNone/>
              <a:tabLst>
                <a:tab pos="2628900" algn="ctr"/>
              </a:tabLst>
            </a:pPr>
            <a:r>
              <a:rPr kumimoji="0" lang="zh-CN"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因为</a:t>
            </a:r>
            <a:r>
              <a:rPr kumimoji="0" lang="en-US" altLang="zh-CN"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Logisim</a:t>
            </a:r>
            <a:r>
              <a:rPr kumimoji="0" lang="zh-CN"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的仿真特点，可以直观查看信号在线路上的传递过程，一些在纸面上不容易理解的内容，可以通过仿真观察现象。</a:t>
            </a:r>
            <a:endParaRPr kumimoji="0" lang="zh-CN" altLang="en-US" sz="2000" b="1" i="0" u="none" strike="noStrike" cap="none" normalizeH="0" baseline="0" dirty="0" smtClean="0">
              <a:ln>
                <a:noFill/>
              </a:ln>
              <a:solidFill>
                <a:schemeClr val="tx1"/>
              </a:solidFill>
              <a:effectLst/>
            </a:endParaRPr>
          </a:p>
          <a:p>
            <a:pPr marL="0" marR="0" lvl="0" indent="228600" algn="l" defTabSz="914400" rtl="0" eaLnBrk="0" fontAlgn="base" latinLnBrk="0" hangingPunct="0">
              <a:lnSpc>
                <a:spcPct val="100000"/>
              </a:lnSpc>
              <a:spcBef>
                <a:spcPct val="0"/>
              </a:spcBef>
              <a:spcAft>
                <a:spcPct val="0"/>
              </a:spcAft>
              <a:buClrTx/>
              <a:buSzTx/>
              <a:buFontTx/>
              <a:buNone/>
              <a:tabLst>
                <a:tab pos="2628900" algn="ctr"/>
              </a:tabLst>
            </a:pPr>
            <a:r>
              <a:rPr kumimoji="0" lang="zh-CN"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冒险与险象是数字电路中常会出现的现象，例如：由于电路延迟造成输出上短暂错误的现象。在</a:t>
            </a:r>
            <a:r>
              <a:rPr kumimoji="0" lang="en-US" altLang="zh-CN"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Logisim</a:t>
            </a:r>
            <a:r>
              <a:rPr kumimoji="0" lang="zh-CN"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中绘制</a:t>
            </a:r>
            <a:r>
              <a:rPr kumimoji="0" lang="en-US" altLang="zh-CN"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a:t>
            </a:r>
            <a:r>
              <a:rPr kumimoji="0" lang="zh-CN"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信号经过不同路径到达某个门电路，能直观地观察到冒险与险象出现的险象，见图。</a:t>
            </a:r>
            <a:endParaRPr kumimoji="0" lang="zh-CN" altLang="en-US" sz="2000" b="1" i="0" u="none" strike="noStrike" cap="none" normalizeH="0" baseline="0" dirty="0" smtClean="0">
              <a:ln>
                <a:noFill/>
              </a:ln>
              <a:solidFill>
                <a:schemeClr val="tx1"/>
              </a:solidFill>
              <a:effectLst/>
            </a:endParaRPr>
          </a:p>
          <a:p>
            <a:pPr marL="0" marR="0" lvl="0" indent="228600" algn="l" defTabSz="914400" rtl="0" eaLnBrk="0" fontAlgn="base" latinLnBrk="0" hangingPunct="0">
              <a:lnSpc>
                <a:spcPct val="100000"/>
              </a:lnSpc>
              <a:spcBef>
                <a:spcPct val="0"/>
              </a:spcBef>
              <a:spcAft>
                <a:spcPct val="0"/>
              </a:spcAft>
              <a:buClrTx/>
              <a:buSzTx/>
              <a:buFontTx/>
              <a:buNone/>
              <a:tabLst>
                <a:tab pos="2628900" algn="ctr"/>
              </a:tabLst>
            </a:pPr>
            <a:endParaRPr kumimoji="0" lang="zh-CN" altLang="en-US" sz="2000" b="0" i="0" u="none" strike="noStrike" cap="none" normalizeH="0" baseline="0" dirty="0" smtClean="0">
              <a:ln>
                <a:noFill/>
              </a:ln>
              <a:solidFill>
                <a:schemeClr val="tx1"/>
              </a:solidFill>
              <a:effectLst/>
              <a:latin typeface="Arial" panose="020B0604020202020204" pitchFamily="34" charset="0"/>
            </a:endParaRPr>
          </a:p>
        </p:txBody>
      </p:sp>
      <p:sp>
        <p:nvSpPr>
          <p:cNvPr id="3" name="Rectangle 4"/>
          <p:cNvSpPr>
            <a:spLocks noChangeArrowheads="1"/>
          </p:cNvSpPr>
          <p:nvPr/>
        </p:nvSpPr>
        <p:spPr bwMode="auto">
          <a:xfrm>
            <a:off x="91440" y="443030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2286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
        <p:nvSpPr>
          <p:cNvPr id="7"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8"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9.4.1 </a:t>
            </a:r>
            <a:r>
              <a:rPr kumimoji="1" lang="zh-CN" altLang="en-US" b="1" dirty="0" smtClean="0">
                <a:solidFill>
                  <a:srgbClr val="CC6600"/>
                </a:solidFill>
                <a:effectLst>
                  <a:outerShdw blurRad="38100" dist="38100" dir="2700000" algn="tl">
                    <a:srgbClr val="000000"/>
                  </a:outerShdw>
                </a:effectLst>
              </a:rPr>
              <a:t>组合逻辑电路</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9.4.2 </a:t>
            </a:r>
            <a:r>
              <a:rPr kumimoji="1" lang="zh-CN" altLang="en-US" b="1" dirty="0" smtClean="0">
                <a:solidFill>
                  <a:srgbClr val="CC6600"/>
                </a:solidFill>
                <a:effectLst>
                  <a:outerShdw blurRad="38100" dist="38100" dir="2700000" algn="tl">
                    <a:srgbClr val="000000"/>
                  </a:outerShdw>
                </a:effectLst>
              </a:rPr>
              <a:t>组合逻辑电路设计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7850016" cy="3317875"/>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zh-CN" altLang="en-US" sz="2400" b="1" dirty="0"/>
              <a:t>在</a:t>
            </a:r>
            <a:r>
              <a:rPr kumimoji="1" lang="en-US" altLang="zh-CN" sz="2400" b="1" dirty="0" err="1"/>
              <a:t>Logisim</a:t>
            </a:r>
            <a:r>
              <a:rPr kumimoji="1" lang="zh-CN" altLang="en-US" sz="2400" b="1" dirty="0"/>
              <a:t>中不但可以进行组合逻辑电路分析，还能进行函数的设计。</a:t>
            </a:r>
            <a:endParaRPr kumimoji="1" lang="zh-CN" altLang="en-US" sz="2400" b="1" dirty="0"/>
          </a:p>
          <a:p>
            <a:pPr lvl="0" eaLnBrk="1" hangingPunct="1">
              <a:lnSpc>
                <a:spcPct val="110000"/>
              </a:lnSpc>
              <a:spcBef>
                <a:spcPts val="290"/>
              </a:spcBef>
              <a:spcAft>
                <a:spcPct val="10000"/>
              </a:spcAft>
              <a:defRPr/>
            </a:pPr>
            <a:r>
              <a:rPr kumimoji="1" lang="en-US" altLang="zh-CN" sz="2400" b="1" dirty="0"/>
              <a:t>【</a:t>
            </a:r>
            <a:r>
              <a:rPr kumimoji="1" lang="zh-CN" altLang="en-US" sz="2400" b="1" dirty="0"/>
              <a:t>例</a:t>
            </a:r>
            <a:r>
              <a:rPr kumimoji="1" lang="en-US" altLang="zh-CN" sz="2400" b="1" dirty="0"/>
              <a:t>3】</a:t>
            </a:r>
            <a:r>
              <a:rPr kumimoji="1" lang="zh-CN" altLang="en-US" sz="2400" b="1" dirty="0"/>
              <a:t>某三输出组合电路的三个输出函数是：</a:t>
            </a:r>
            <a:endParaRPr kumimoji="1" lang="zh-CN" altLang="en-US" sz="2400" b="1" dirty="0"/>
          </a:p>
          <a:p>
            <a:pPr lvl="0" eaLnBrk="1" hangingPunct="1">
              <a:lnSpc>
                <a:spcPct val="110000"/>
              </a:lnSpc>
              <a:spcBef>
                <a:spcPts val="290"/>
              </a:spcBef>
              <a:spcAft>
                <a:spcPct val="10000"/>
              </a:spcAft>
              <a:defRPr/>
            </a:pPr>
            <a:r>
              <a:rPr kumimoji="1" lang="en-US" altLang="zh-CN" sz="2400" b="1" dirty="0"/>
              <a:t>F1</a:t>
            </a:r>
            <a:r>
              <a:rPr kumimoji="1" lang="zh-CN" altLang="en-US" sz="2400" b="1" dirty="0"/>
              <a:t>（</a:t>
            </a:r>
            <a:r>
              <a:rPr kumimoji="1" lang="en-US" altLang="zh-CN" sz="2400" b="1" dirty="0"/>
              <a:t>A</a:t>
            </a:r>
            <a:r>
              <a:rPr kumimoji="1" lang="zh-CN" altLang="en-US" sz="2400" b="1" dirty="0"/>
              <a:t>，</a:t>
            </a:r>
            <a:r>
              <a:rPr kumimoji="1" lang="en-US" altLang="zh-CN" sz="2400" b="1" dirty="0"/>
              <a:t>B</a:t>
            </a:r>
            <a:r>
              <a:rPr kumimoji="1" lang="zh-CN" altLang="en-US" sz="2400" b="1" dirty="0"/>
              <a:t>，</a:t>
            </a:r>
            <a:r>
              <a:rPr kumimoji="1" lang="en-US" altLang="zh-CN" sz="2400" b="1" dirty="0"/>
              <a:t>C</a:t>
            </a:r>
            <a:r>
              <a:rPr kumimoji="1" lang="zh-CN" altLang="en-US" sz="2400" b="1" dirty="0"/>
              <a:t>）＝∑</a:t>
            </a:r>
            <a:r>
              <a:rPr kumimoji="1" lang="en-US" altLang="zh-CN" sz="2400" b="1" dirty="0"/>
              <a:t>m</a:t>
            </a:r>
            <a:r>
              <a:rPr kumimoji="1" lang="zh-CN" altLang="en-US" sz="2400" b="1" dirty="0"/>
              <a:t>（</a:t>
            </a:r>
            <a:r>
              <a:rPr kumimoji="1" lang="en-US" altLang="zh-CN" sz="2400" b="1" dirty="0"/>
              <a:t>3</a:t>
            </a:r>
            <a:r>
              <a:rPr kumimoji="1" lang="zh-CN" altLang="en-US" sz="2400" b="1" dirty="0"/>
              <a:t>，</a:t>
            </a:r>
            <a:r>
              <a:rPr kumimoji="1" lang="en-US" altLang="zh-CN" sz="2400" b="1" dirty="0"/>
              <a:t>4</a:t>
            </a:r>
            <a:r>
              <a:rPr kumimoji="1" lang="zh-CN" altLang="en-US" sz="2400" b="1" dirty="0"/>
              <a:t>，</a:t>
            </a:r>
            <a:r>
              <a:rPr kumimoji="1" lang="en-US" altLang="zh-CN" sz="2400" b="1" dirty="0"/>
              <a:t>5</a:t>
            </a:r>
            <a:r>
              <a:rPr kumimoji="1" lang="zh-CN" altLang="en-US" sz="2400" b="1" dirty="0"/>
              <a:t>，</a:t>
            </a:r>
            <a:r>
              <a:rPr kumimoji="1" lang="en-US" altLang="zh-CN" sz="2400" b="1" dirty="0"/>
              <a:t>7</a:t>
            </a:r>
            <a:r>
              <a:rPr kumimoji="1" lang="zh-CN" altLang="en-US" sz="2400" b="1" dirty="0"/>
              <a:t>）</a:t>
            </a:r>
            <a:endParaRPr kumimoji="1" lang="zh-CN" altLang="en-US" sz="2400" b="1" dirty="0"/>
          </a:p>
          <a:p>
            <a:pPr lvl="0" eaLnBrk="1" hangingPunct="1">
              <a:lnSpc>
                <a:spcPct val="110000"/>
              </a:lnSpc>
              <a:spcBef>
                <a:spcPts val="290"/>
              </a:spcBef>
              <a:spcAft>
                <a:spcPct val="10000"/>
              </a:spcAft>
              <a:defRPr/>
            </a:pPr>
            <a:r>
              <a:rPr kumimoji="1" lang="en-US" altLang="zh-CN" sz="2400" b="1" dirty="0"/>
              <a:t>F2</a:t>
            </a:r>
            <a:r>
              <a:rPr kumimoji="1" lang="zh-CN" altLang="en-US" sz="2400" b="1" dirty="0"/>
              <a:t>（</a:t>
            </a:r>
            <a:r>
              <a:rPr kumimoji="1" lang="en-US" altLang="zh-CN" sz="2400" b="1" dirty="0"/>
              <a:t>A</a:t>
            </a:r>
            <a:r>
              <a:rPr kumimoji="1" lang="zh-CN" altLang="en-US" sz="2400" b="1" dirty="0"/>
              <a:t>，</a:t>
            </a:r>
            <a:r>
              <a:rPr kumimoji="1" lang="en-US" altLang="zh-CN" sz="2400" b="1" dirty="0"/>
              <a:t>B</a:t>
            </a:r>
            <a:r>
              <a:rPr kumimoji="1" lang="zh-CN" altLang="en-US" sz="2400" b="1" dirty="0"/>
              <a:t>，</a:t>
            </a:r>
            <a:r>
              <a:rPr kumimoji="1" lang="en-US" altLang="zh-CN" sz="2400" b="1" dirty="0"/>
              <a:t>C</a:t>
            </a:r>
            <a:r>
              <a:rPr kumimoji="1" lang="zh-CN" altLang="en-US" sz="2400" b="1" dirty="0"/>
              <a:t>）＝∑</a:t>
            </a:r>
            <a:r>
              <a:rPr kumimoji="1" lang="en-US" altLang="zh-CN" sz="2400" b="1" dirty="0"/>
              <a:t>m</a:t>
            </a:r>
            <a:r>
              <a:rPr kumimoji="1" lang="zh-CN" altLang="en-US" sz="2400" b="1" dirty="0"/>
              <a:t>（</a:t>
            </a:r>
            <a:r>
              <a:rPr kumimoji="1" lang="en-US" altLang="zh-CN" sz="2400" b="1" dirty="0"/>
              <a:t>2</a:t>
            </a:r>
            <a:r>
              <a:rPr kumimoji="1" lang="zh-CN" altLang="en-US" sz="2400" b="1" dirty="0"/>
              <a:t>，</a:t>
            </a:r>
            <a:r>
              <a:rPr kumimoji="1" lang="en-US" altLang="zh-CN" sz="2400" b="1" dirty="0"/>
              <a:t>3</a:t>
            </a:r>
            <a:r>
              <a:rPr kumimoji="1" lang="zh-CN" altLang="en-US" sz="2400" b="1" dirty="0"/>
              <a:t>，</a:t>
            </a:r>
            <a:r>
              <a:rPr kumimoji="1" lang="en-US" altLang="zh-CN" sz="2400" b="1" dirty="0"/>
              <a:t>4</a:t>
            </a:r>
            <a:r>
              <a:rPr kumimoji="1" lang="zh-CN" altLang="en-US" sz="2400" b="1" dirty="0"/>
              <a:t>，</a:t>
            </a:r>
            <a:r>
              <a:rPr kumimoji="1" lang="en-US" altLang="zh-CN" sz="2400" b="1" dirty="0"/>
              <a:t>5</a:t>
            </a:r>
            <a:r>
              <a:rPr kumimoji="1" lang="zh-CN" altLang="en-US" sz="2400" b="1" dirty="0"/>
              <a:t>，</a:t>
            </a:r>
            <a:r>
              <a:rPr kumimoji="1" lang="en-US" altLang="zh-CN" sz="2400" b="1" dirty="0"/>
              <a:t>7</a:t>
            </a:r>
            <a:r>
              <a:rPr kumimoji="1" lang="zh-CN" altLang="en-US" sz="2400" b="1" dirty="0"/>
              <a:t>）</a:t>
            </a:r>
            <a:endParaRPr kumimoji="1" lang="zh-CN" altLang="en-US" sz="2400" b="1" dirty="0"/>
          </a:p>
          <a:p>
            <a:pPr lvl="0" eaLnBrk="1" hangingPunct="1">
              <a:lnSpc>
                <a:spcPct val="110000"/>
              </a:lnSpc>
              <a:spcBef>
                <a:spcPts val="290"/>
              </a:spcBef>
              <a:spcAft>
                <a:spcPct val="10000"/>
              </a:spcAft>
              <a:defRPr/>
            </a:pPr>
            <a:r>
              <a:rPr kumimoji="1" lang="en-US" altLang="zh-CN" sz="2400" b="1" dirty="0"/>
              <a:t>F3</a:t>
            </a:r>
            <a:r>
              <a:rPr kumimoji="1" lang="zh-CN" altLang="en-US" sz="2400" b="1" dirty="0"/>
              <a:t>（</a:t>
            </a:r>
            <a:r>
              <a:rPr kumimoji="1" lang="en-US" altLang="zh-CN" sz="2400" b="1" dirty="0"/>
              <a:t>A</a:t>
            </a:r>
            <a:r>
              <a:rPr kumimoji="1" lang="zh-CN" altLang="en-US" sz="2400" b="1" dirty="0"/>
              <a:t>，</a:t>
            </a:r>
            <a:r>
              <a:rPr kumimoji="1" lang="en-US" altLang="zh-CN" sz="2400" b="1" dirty="0"/>
              <a:t>B</a:t>
            </a:r>
            <a:r>
              <a:rPr kumimoji="1" lang="zh-CN" altLang="en-US" sz="2400" b="1" dirty="0"/>
              <a:t>，</a:t>
            </a:r>
            <a:r>
              <a:rPr kumimoji="1" lang="en-US" altLang="zh-CN" sz="2400" b="1" dirty="0"/>
              <a:t>C</a:t>
            </a:r>
            <a:r>
              <a:rPr kumimoji="1" lang="zh-CN" altLang="en-US" sz="2400" b="1" dirty="0"/>
              <a:t>）＝∑</a:t>
            </a:r>
            <a:r>
              <a:rPr kumimoji="1" lang="en-US" altLang="zh-CN" sz="2400" b="1" dirty="0"/>
              <a:t>m</a:t>
            </a:r>
            <a:r>
              <a:rPr kumimoji="1" lang="zh-CN" altLang="en-US" sz="2400" b="1" dirty="0"/>
              <a:t>（</a:t>
            </a:r>
            <a:r>
              <a:rPr kumimoji="1" lang="en-US" altLang="zh-CN" sz="2400" b="1" dirty="0"/>
              <a:t>0</a:t>
            </a:r>
            <a:r>
              <a:rPr kumimoji="1" lang="zh-CN" altLang="en-US" sz="2400" b="1" dirty="0"/>
              <a:t>，</a:t>
            </a:r>
            <a:r>
              <a:rPr kumimoji="1" lang="en-US" altLang="zh-CN" sz="2400" b="1" dirty="0"/>
              <a:t>1</a:t>
            </a:r>
            <a:r>
              <a:rPr kumimoji="1" lang="zh-CN" altLang="en-US" sz="2400" b="1" dirty="0"/>
              <a:t>，</a:t>
            </a:r>
            <a:r>
              <a:rPr kumimoji="1" lang="en-US" altLang="zh-CN" sz="2400" b="1" dirty="0"/>
              <a:t>3</a:t>
            </a:r>
            <a:r>
              <a:rPr kumimoji="1" lang="zh-CN" altLang="en-US" sz="2400" b="1" dirty="0"/>
              <a:t>，</a:t>
            </a:r>
            <a:r>
              <a:rPr kumimoji="1" lang="en-US" altLang="zh-CN" sz="2400" b="1" dirty="0"/>
              <a:t>6</a:t>
            </a:r>
            <a:r>
              <a:rPr kumimoji="1" lang="zh-CN" altLang="en-US" sz="2400" b="1" dirty="0"/>
              <a:t>，</a:t>
            </a:r>
            <a:r>
              <a:rPr kumimoji="1" lang="en-US" altLang="zh-CN" sz="2400" b="1" dirty="0"/>
              <a:t>7</a:t>
            </a:r>
            <a:r>
              <a:rPr kumimoji="1" lang="zh-CN" altLang="en-US" sz="2400" b="1" dirty="0"/>
              <a:t>）</a:t>
            </a:r>
            <a:endParaRPr kumimoji="1" lang="zh-CN" altLang="en-US" sz="2400" b="1" dirty="0"/>
          </a:p>
          <a:p>
            <a:pPr lvl="0" eaLnBrk="1" hangingPunct="1">
              <a:lnSpc>
                <a:spcPct val="110000"/>
              </a:lnSpc>
              <a:spcBef>
                <a:spcPts val="290"/>
              </a:spcBef>
              <a:spcAft>
                <a:spcPct val="10000"/>
              </a:spcAft>
              <a:defRPr/>
            </a:pPr>
            <a:r>
              <a:rPr kumimoji="1" lang="zh-CN" altLang="en-US" sz="2400" b="1" dirty="0"/>
              <a:t>用译码器画出该逻辑电路的电路图</a:t>
            </a:r>
            <a:r>
              <a:rPr kumimoji="1" lang="zh-CN" altLang="en-US" sz="2400" b="1" dirty="0" smtClean="0"/>
              <a:t>。</a:t>
            </a:r>
            <a:endParaRPr kumimoji="1" lang="zh-CN" altLang="en-US" sz="2400" b="1" dirty="0"/>
          </a:p>
        </p:txBody>
      </p:sp>
    </p:spTree>
  </p:cSld>
  <p:clrMapOvr>
    <a:masterClrMapping/>
  </p:clrMapOvr>
  <p:transition spd="med">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9.4.2 </a:t>
            </a:r>
            <a:r>
              <a:rPr kumimoji="1" lang="zh-CN" altLang="en-US" b="1" dirty="0" smtClean="0">
                <a:solidFill>
                  <a:srgbClr val="CC6600"/>
                </a:solidFill>
                <a:effectLst>
                  <a:outerShdw blurRad="38100" dist="38100" dir="2700000" algn="tl">
                    <a:srgbClr val="000000"/>
                  </a:outerShdw>
                </a:effectLst>
              </a:rPr>
              <a:t>组合逻辑电路设计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7850016" cy="3280065"/>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zh-CN" altLang="en-US" sz="2400" b="1" dirty="0"/>
              <a:t>在</a:t>
            </a:r>
            <a:r>
              <a:rPr kumimoji="1" lang="en-US" altLang="zh-CN" sz="2400" b="1" dirty="0" err="1"/>
              <a:t>Logisim</a:t>
            </a:r>
            <a:r>
              <a:rPr kumimoji="1" lang="zh-CN" altLang="en-US" sz="2400" b="1" dirty="0"/>
              <a:t>中不但可以进行组合逻辑电路分析，还能进行函数的设计。</a:t>
            </a:r>
            <a:endParaRPr kumimoji="1" lang="zh-CN" altLang="en-US" sz="2400" b="1" dirty="0"/>
          </a:p>
          <a:p>
            <a:pPr lvl="0" eaLnBrk="1" hangingPunct="1">
              <a:lnSpc>
                <a:spcPct val="110000"/>
              </a:lnSpc>
              <a:spcBef>
                <a:spcPts val="290"/>
              </a:spcBef>
              <a:spcAft>
                <a:spcPct val="10000"/>
              </a:spcAft>
              <a:defRPr/>
            </a:pPr>
            <a:r>
              <a:rPr kumimoji="1" lang="en-US" altLang="zh-CN" sz="2400" b="1" dirty="0"/>
              <a:t>【</a:t>
            </a:r>
            <a:r>
              <a:rPr kumimoji="1" lang="zh-CN" altLang="en-US" sz="2400" b="1" dirty="0"/>
              <a:t>例</a:t>
            </a:r>
            <a:r>
              <a:rPr kumimoji="1" lang="en-US" altLang="zh-CN" sz="2400" b="1" dirty="0"/>
              <a:t>9.3】</a:t>
            </a:r>
            <a:r>
              <a:rPr kumimoji="1" lang="zh-CN" altLang="en-US" sz="2400" b="1" dirty="0"/>
              <a:t>某三输出组合电路的三个输出函数是：</a:t>
            </a:r>
            <a:endParaRPr kumimoji="1" lang="zh-CN" altLang="en-US" sz="2400" b="1" dirty="0"/>
          </a:p>
          <a:p>
            <a:pPr lvl="0" eaLnBrk="1" hangingPunct="1">
              <a:lnSpc>
                <a:spcPct val="110000"/>
              </a:lnSpc>
              <a:spcBef>
                <a:spcPts val="290"/>
              </a:spcBef>
              <a:spcAft>
                <a:spcPct val="10000"/>
              </a:spcAft>
              <a:defRPr/>
            </a:pPr>
            <a:r>
              <a:rPr kumimoji="1" lang="en-US" altLang="zh-CN" sz="2400" b="1" dirty="0"/>
              <a:t>F1</a:t>
            </a:r>
            <a:r>
              <a:rPr kumimoji="1" lang="zh-CN" altLang="en-US" sz="2400" b="1" dirty="0"/>
              <a:t>（</a:t>
            </a:r>
            <a:r>
              <a:rPr kumimoji="1" lang="en-US" altLang="zh-CN" sz="2400" b="1" dirty="0"/>
              <a:t>A</a:t>
            </a:r>
            <a:r>
              <a:rPr kumimoji="1" lang="zh-CN" altLang="en-US" sz="2400" b="1" dirty="0"/>
              <a:t>，</a:t>
            </a:r>
            <a:r>
              <a:rPr kumimoji="1" lang="en-US" altLang="zh-CN" sz="2400" b="1" dirty="0"/>
              <a:t>B</a:t>
            </a:r>
            <a:r>
              <a:rPr kumimoji="1" lang="zh-CN" altLang="en-US" sz="2400" b="1" dirty="0"/>
              <a:t>，</a:t>
            </a:r>
            <a:r>
              <a:rPr kumimoji="1" lang="en-US" altLang="zh-CN" sz="2400" b="1" dirty="0"/>
              <a:t>C</a:t>
            </a:r>
            <a:r>
              <a:rPr kumimoji="1" lang="zh-CN" altLang="en-US" sz="2400" b="1" dirty="0"/>
              <a:t>）＝∑</a:t>
            </a:r>
            <a:r>
              <a:rPr kumimoji="1" lang="en-US" altLang="zh-CN" sz="2400" b="1" dirty="0"/>
              <a:t>m</a:t>
            </a:r>
            <a:r>
              <a:rPr kumimoji="1" lang="zh-CN" altLang="en-US" sz="2400" b="1" dirty="0"/>
              <a:t>（</a:t>
            </a:r>
            <a:r>
              <a:rPr kumimoji="1" lang="en-US" altLang="zh-CN" sz="2400" b="1" dirty="0"/>
              <a:t>3</a:t>
            </a:r>
            <a:r>
              <a:rPr kumimoji="1" lang="zh-CN" altLang="en-US" sz="2400" b="1" dirty="0"/>
              <a:t>，</a:t>
            </a:r>
            <a:r>
              <a:rPr kumimoji="1" lang="en-US" altLang="zh-CN" sz="2400" b="1" dirty="0"/>
              <a:t>4</a:t>
            </a:r>
            <a:r>
              <a:rPr kumimoji="1" lang="zh-CN" altLang="en-US" sz="2400" b="1" dirty="0"/>
              <a:t>，</a:t>
            </a:r>
            <a:r>
              <a:rPr kumimoji="1" lang="en-US" altLang="zh-CN" sz="2400" b="1" dirty="0"/>
              <a:t>5</a:t>
            </a:r>
            <a:r>
              <a:rPr kumimoji="1" lang="zh-CN" altLang="en-US" sz="2400" b="1" dirty="0"/>
              <a:t>，</a:t>
            </a:r>
            <a:r>
              <a:rPr kumimoji="1" lang="en-US" altLang="zh-CN" sz="2400" b="1" dirty="0"/>
              <a:t>7</a:t>
            </a:r>
            <a:r>
              <a:rPr kumimoji="1" lang="zh-CN" altLang="en-US" sz="2400" b="1" dirty="0"/>
              <a:t>）</a:t>
            </a:r>
            <a:endParaRPr kumimoji="1" lang="zh-CN" altLang="en-US" sz="2400" b="1" dirty="0"/>
          </a:p>
          <a:p>
            <a:pPr lvl="0" eaLnBrk="1" hangingPunct="1">
              <a:lnSpc>
                <a:spcPct val="110000"/>
              </a:lnSpc>
              <a:spcBef>
                <a:spcPts val="290"/>
              </a:spcBef>
              <a:spcAft>
                <a:spcPct val="10000"/>
              </a:spcAft>
              <a:defRPr/>
            </a:pPr>
            <a:r>
              <a:rPr kumimoji="1" lang="en-US" altLang="zh-CN" sz="2400" b="1" dirty="0"/>
              <a:t>F2</a:t>
            </a:r>
            <a:r>
              <a:rPr kumimoji="1" lang="zh-CN" altLang="en-US" sz="2400" b="1" dirty="0"/>
              <a:t>（</a:t>
            </a:r>
            <a:r>
              <a:rPr kumimoji="1" lang="en-US" altLang="zh-CN" sz="2400" b="1" dirty="0"/>
              <a:t>A</a:t>
            </a:r>
            <a:r>
              <a:rPr kumimoji="1" lang="zh-CN" altLang="en-US" sz="2400" b="1" dirty="0"/>
              <a:t>，</a:t>
            </a:r>
            <a:r>
              <a:rPr kumimoji="1" lang="en-US" altLang="zh-CN" sz="2400" b="1" dirty="0"/>
              <a:t>B</a:t>
            </a:r>
            <a:r>
              <a:rPr kumimoji="1" lang="zh-CN" altLang="en-US" sz="2400" b="1" dirty="0"/>
              <a:t>，</a:t>
            </a:r>
            <a:r>
              <a:rPr kumimoji="1" lang="en-US" altLang="zh-CN" sz="2400" b="1" dirty="0"/>
              <a:t>C</a:t>
            </a:r>
            <a:r>
              <a:rPr kumimoji="1" lang="zh-CN" altLang="en-US" sz="2400" b="1" dirty="0"/>
              <a:t>）＝∑</a:t>
            </a:r>
            <a:r>
              <a:rPr kumimoji="1" lang="en-US" altLang="zh-CN" sz="2400" b="1" dirty="0"/>
              <a:t>m</a:t>
            </a:r>
            <a:r>
              <a:rPr kumimoji="1" lang="zh-CN" altLang="en-US" sz="2400" b="1" dirty="0"/>
              <a:t>（</a:t>
            </a:r>
            <a:r>
              <a:rPr kumimoji="1" lang="en-US" altLang="zh-CN" sz="2400" b="1" dirty="0"/>
              <a:t>2</a:t>
            </a:r>
            <a:r>
              <a:rPr kumimoji="1" lang="zh-CN" altLang="en-US" sz="2400" b="1" dirty="0"/>
              <a:t>，</a:t>
            </a:r>
            <a:r>
              <a:rPr kumimoji="1" lang="en-US" altLang="zh-CN" sz="2400" b="1" dirty="0"/>
              <a:t>3</a:t>
            </a:r>
            <a:r>
              <a:rPr kumimoji="1" lang="zh-CN" altLang="en-US" sz="2400" b="1" dirty="0"/>
              <a:t>，</a:t>
            </a:r>
            <a:r>
              <a:rPr kumimoji="1" lang="en-US" altLang="zh-CN" sz="2400" b="1" dirty="0"/>
              <a:t>4</a:t>
            </a:r>
            <a:r>
              <a:rPr kumimoji="1" lang="zh-CN" altLang="en-US" sz="2400" b="1" dirty="0"/>
              <a:t>，</a:t>
            </a:r>
            <a:r>
              <a:rPr kumimoji="1" lang="en-US" altLang="zh-CN" sz="2400" b="1" dirty="0"/>
              <a:t>5</a:t>
            </a:r>
            <a:r>
              <a:rPr kumimoji="1" lang="zh-CN" altLang="en-US" sz="2400" b="1" dirty="0"/>
              <a:t>，</a:t>
            </a:r>
            <a:r>
              <a:rPr kumimoji="1" lang="en-US" altLang="zh-CN" sz="2400" b="1" dirty="0"/>
              <a:t>7</a:t>
            </a:r>
            <a:r>
              <a:rPr kumimoji="1" lang="zh-CN" altLang="en-US" sz="2400" b="1" dirty="0"/>
              <a:t>）</a:t>
            </a:r>
            <a:endParaRPr kumimoji="1" lang="zh-CN" altLang="en-US" sz="2400" b="1" dirty="0"/>
          </a:p>
          <a:p>
            <a:pPr lvl="0" eaLnBrk="1" hangingPunct="1">
              <a:lnSpc>
                <a:spcPct val="110000"/>
              </a:lnSpc>
              <a:spcBef>
                <a:spcPts val="290"/>
              </a:spcBef>
              <a:spcAft>
                <a:spcPct val="10000"/>
              </a:spcAft>
              <a:defRPr/>
            </a:pPr>
            <a:r>
              <a:rPr kumimoji="1" lang="en-US" altLang="zh-CN" sz="2400" b="1" dirty="0"/>
              <a:t>F3</a:t>
            </a:r>
            <a:r>
              <a:rPr kumimoji="1" lang="zh-CN" altLang="en-US" sz="2400" b="1" dirty="0"/>
              <a:t>（</a:t>
            </a:r>
            <a:r>
              <a:rPr kumimoji="1" lang="en-US" altLang="zh-CN" sz="2400" b="1" dirty="0"/>
              <a:t>A</a:t>
            </a:r>
            <a:r>
              <a:rPr kumimoji="1" lang="zh-CN" altLang="en-US" sz="2400" b="1" dirty="0"/>
              <a:t>，</a:t>
            </a:r>
            <a:r>
              <a:rPr kumimoji="1" lang="en-US" altLang="zh-CN" sz="2400" b="1" dirty="0"/>
              <a:t>B</a:t>
            </a:r>
            <a:r>
              <a:rPr kumimoji="1" lang="zh-CN" altLang="en-US" sz="2400" b="1" dirty="0"/>
              <a:t>，</a:t>
            </a:r>
            <a:r>
              <a:rPr kumimoji="1" lang="en-US" altLang="zh-CN" sz="2400" b="1" dirty="0"/>
              <a:t>C</a:t>
            </a:r>
            <a:r>
              <a:rPr kumimoji="1" lang="zh-CN" altLang="en-US" sz="2400" b="1" dirty="0"/>
              <a:t>）＝∑</a:t>
            </a:r>
            <a:r>
              <a:rPr kumimoji="1" lang="en-US" altLang="zh-CN" sz="2400" b="1" dirty="0"/>
              <a:t>m</a:t>
            </a:r>
            <a:r>
              <a:rPr kumimoji="1" lang="zh-CN" altLang="en-US" sz="2400" b="1" dirty="0"/>
              <a:t>（</a:t>
            </a:r>
            <a:r>
              <a:rPr kumimoji="1" lang="en-US" altLang="zh-CN" sz="2400" b="1" dirty="0"/>
              <a:t>0</a:t>
            </a:r>
            <a:r>
              <a:rPr kumimoji="1" lang="zh-CN" altLang="en-US" sz="2400" b="1" dirty="0"/>
              <a:t>，</a:t>
            </a:r>
            <a:r>
              <a:rPr kumimoji="1" lang="en-US" altLang="zh-CN" sz="2400" b="1" dirty="0"/>
              <a:t>1</a:t>
            </a:r>
            <a:r>
              <a:rPr kumimoji="1" lang="zh-CN" altLang="en-US" sz="2400" b="1" dirty="0"/>
              <a:t>，</a:t>
            </a:r>
            <a:r>
              <a:rPr kumimoji="1" lang="en-US" altLang="zh-CN" sz="2400" b="1" dirty="0"/>
              <a:t>3</a:t>
            </a:r>
            <a:r>
              <a:rPr kumimoji="1" lang="zh-CN" altLang="en-US" sz="2400" b="1" dirty="0"/>
              <a:t>，</a:t>
            </a:r>
            <a:r>
              <a:rPr kumimoji="1" lang="en-US" altLang="zh-CN" sz="2400" b="1" dirty="0"/>
              <a:t>6</a:t>
            </a:r>
            <a:r>
              <a:rPr kumimoji="1" lang="zh-CN" altLang="en-US" sz="2400" b="1" dirty="0"/>
              <a:t>，</a:t>
            </a:r>
            <a:r>
              <a:rPr kumimoji="1" lang="en-US" altLang="zh-CN" sz="2400" b="1" dirty="0"/>
              <a:t>7</a:t>
            </a:r>
            <a:r>
              <a:rPr kumimoji="1" lang="zh-CN" altLang="en-US" sz="2400" b="1" dirty="0"/>
              <a:t>）</a:t>
            </a:r>
            <a:endParaRPr kumimoji="1" lang="zh-CN" altLang="en-US" sz="2400" b="1" dirty="0"/>
          </a:p>
          <a:p>
            <a:pPr lvl="0" eaLnBrk="1" hangingPunct="1">
              <a:lnSpc>
                <a:spcPct val="110000"/>
              </a:lnSpc>
              <a:spcBef>
                <a:spcPts val="290"/>
              </a:spcBef>
              <a:spcAft>
                <a:spcPct val="10000"/>
              </a:spcAft>
              <a:defRPr/>
            </a:pPr>
            <a:r>
              <a:rPr kumimoji="1" lang="zh-CN" altLang="en-US" sz="2400" b="1" dirty="0"/>
              <a:t>用译码器画出该逻辑电路的电路图</a:t>
            </a:r>
            <a:r>
              <a:rPr kumimoji="1" lang="zh-CN" altLang="en-US" sz="2400" b="1" dirty="0" smtClean="0"/>
              <a:t>。</a:t>
            </a:r>
            <a:endParaRPr kumimoji="1" lang="zh-CN" altLang="en-US" sz="2400" b="1" dirty="0"/>
          </a:p>
        </p:txBody>
      </p:sp>
    </p:spTree>
  </p:cSld>
  <p:clrMapOvr>
    <a:masterClrMapping/>
  </p:clrMapOvr>
  <p:transition spd="med">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9.4.2 </a:t>
            </a:r>
            <a:r>
              <a:rPr kumimoji="1" lang="zh-CN" altLang="en-US" b="1" dirty="0" smtClean="0">
                <a:solidFill>
                  <a:srgbClr val="CC6600"/>
                </a:solidFill>
                <a:effectLst>
                  <a:outerShdw blurRad="38100" dist="38100" dir="2700000" algn="tl">
                    <a:srgbClr val="000000"/>
                  </a:outerShdw>
                </a:effectLst>
              </a:rPr>
              <a:t>组合逻辑电路设计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7850016" cy="3417859"/>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zh-CN" altLang="en-US" sz="2400" b="1" dirty="0"/>
              <a:t> </a:t>
            </a:r>
            <a:r>
              <a:rPr kumimoji="1" lang="zh-CN" altLang="en-US" sz="2400" b="1" dirty="0" smtClean="0"/>
              <a:t>      首先</a:t>
            </a:r>
            <a:r>
              <a:rPr kumimoji="1" lang="zh-CN" altLang="en-US" sz="2400" b="1" dirty="0"/>
              <a:t>绘制一个</a:t>
            </a:r>
            <a:r>
              <a:rPr kumimoji="1" lang="en-US" altLang="zh-CN" sz="2400" b="1" dirty="0"/>
              <a:t>3-8</a:t>
            </a:r>
            <a:r>
              <a:rPr kumimoji="1" lang="zh-CN" altLang="en-US" sz="2400" b="1" dirty="0"/>
              <a:t>线译码器。在这个译码器基础上，完成整个电路的设计，来学习分模块设计。</a:t>
            </a:r>
            <a:endParaRPr kumimoji="1" lang="zh-CN" altLang="en-US" sz="2400" b="1" dirty="0"/>
          </a:p>
          <a:p>
            <a:pPr lvl="0" eaLnBrk="1" hangingPunct="1">
              <a:lnSpc>
                <a:spcPct val="110000"/>
              </a:lnSpc>
              <a:spcBef>
                <a:spcPts val="290"/>
              </a:spcBef>
              <a:spcAft>
                <a:spcPct val="10000"/>
              </a:spcAft>
              <a:defRPr/>
            </a:pPr>
            <a:r>
              <a:rPr kumimoji="1" lang="zh-CN" altLang="en-US" sz="2400" b="1" dirty="0" smtClean="0"/>
              <a:t>       选择</a:t>
            </a:r>
            <a:r>
              <a:rPr kumimoji="1" lang="zh-CN" altLang="en-US" sz="2400" b="1" dirty="0"/>
              <a:t>“项目”</a:t>
            </a:r>
            <a:r>
              <a:rPr kumimoji="1" lang="en-US" altLang="zh-CN" sz="2400" b="1" dirty="0"/>
              <a:t>—“</a:t>
            </a:r>
            <a:r>
              <a:rPr kumimoji="1" lang="zh-CN" altLang="en-US" sz="2400" b="1" dirty="0"/>
              <a:t>添加线路”，在弹出的对话框中，输入子电路的命名，假设命名为</a:t>
            </a:r>
            <a:r>
              <a:rPr kumimoji="1" lang="en-US" altLang="zh-CN" sz="2400" b="1" dirty="0" err="1"/>
              <a:t>Subcric</a:t>
            </a:r>
            <a:r>
              <a:rPr kumimoji="1" lang="zh-CN" altLang="en-US" sz="2400" b="1" dirty="0"/>
              <a:t>（</a:t>
            </a:r>
            <a:r>
              <a:rPr kumimoji="1" lang="zh-CN" altLang="en-US" sz="2400" b="1" dirty="0" smtClean="0"/>
              <a:t>图），</a:t>
            </a:r>
            <a:r>
              <a:rPr kumimoji="1" lang="zh-CN" altLang="en-US" sz="2400" b="1" dirty="0"/>
              <a:t>此时左侧电路项目中出现两项：</a:t>
            </a:r>
            <a:r>
              <a:rPr kumimoji="1" lang="en-US" altLang="zh-CN" sz="2400" b="1" dirty="0"/>
              <a:t>main</a:t>
            </a:r>
            <a:r>
              <a:rPr kumimoji="1" lang="zh-CN" altLang="en-US" sz="2400" b="1" dirty="0"/>
              <a:t>和</a:t>
            </a:r>
            <a:r>
              <a:rPr kumimoji="1" lang="en-US" altLang="zh-CN" sz="2400" b="1" dirty="0" err="1"/>
              <a:t>Subcric</a:t>
            </a:r>
            <a:r>
              <a:rPr kumimoji="1" lang="zh-CN" altLang="en-US" sz="2400" b="1" dirty="0"/>
              <a:t>。分别表示设计图的主电路和子电路。点击</a:t>
            </a:r>
            <a:r>
              <a:rPr kumimoji="1" lang="en-US" altLang="zh-CN" sz="2400" b="1" dirty="0" err="1"/>
              <a:t>Subcric</a:t>
            </a:r>
            <a:r>
              <a:rPr kumimoji="1" lang="zh-CN" altLang="en-US" sz="2400" b="1" dirty="0"/>
              <a:t>就能在</a:t>
            </a:r>
            <a:r>
              <a:rPr kumimoji="1" lang="en-US" altLang="zh-CN" sz="2400" b="1" dirty="0"/>
              <a:t>main</a:t>
            </a:r>
            <a:r>
              <a:rPr kumimoji="1" lang="zh-CN" altLang="en-US" sz="2400" b="1" dirty="0"/>
              <a:t>的画布上出现一个新的器件，方法和其他部件使用相同。双击</a:t>
            </a:r>
            <a:r>
              <a:rPr kumimoji="1" lang="en-US" altLang="zh-CN" sz="2400" b="1" dirty="0" err="1"/>
              <a:t>Subcric</a:t>
            </a:r>
            <a:r>
              <a:rPr kumimoji="1" lang="zh-CN" altLang="en-US" sz="2400" b="1" dirty="0"/>
              <a:t>则进入子电路的编辑画面</a:t>
            </a:r>
            <a:r>
              <a:rPr kumimoji="1" lang="zh-CN" altLang="en-US" sz="2400" b="1" dirty="0" smtClean="0"/>
              <a:t>。</a:t>
            </a:r>
            <a:endParaRPr kumimoji="1" lang="zh-CN" altLang="en-US" sz="2400" b="1" dirty="0"/>
          </a:p>
        </p:txBody>
      </p:sp>
      <p:pic>
        <p:nvPicPr>
          <p:cNvPr id="5" name="图片 4"/>
          <p:cNvPicPr/>
          <p:nvPr/>
        </p:nvPicPr>
        <p:blipFill>
          <a:blip r:embed="rId1" cstate="print"/>
          <a:stretch>
            <a:fillRect/>
          </a:stretch>
        </p:blipFill>
        <p:spPr>
          <a:xfrm>
            <a:off x="5518512" y="4748484"/>
            <a:ext cx="2339340" cy="1175385"/>
          </a:xfrm>
          <a:prstGeom prst="rect">
            <a:avLst/>
          </a:prstGeom>
          <a:noFill/>
          <a:ln>
            <a:noFill/>
          </a:ln>
        </p:spPr>
      </p:pic>
    </p:spTree>
  </p:cSld>
  <p:clrMapOvr>
    <a:masterClrMapping/>
  </p:clrMapOvr>
  <p:transition spd="med">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9.4.2 </a:t>
            </a:r>
            <a:r>
              <a:rPr kumimoji="1" lang="zh-CN" altLang="en-US" b="1" dirty="0" smtClean="0">
                <a:solidFill>
                  <a:srgbClr val="CC6600"/>
                </a:solidFill>
                <a:effectLst>
                  <a:outerShdw blurRad="38100" dist="38100" dir="2700000" algn="tl">
                    <a:srgbClr val="000000"/>
                  </a:outerShdw>
                </a:effectLst>
              </a:rPr>
              <a:t>组合逻辑电路设计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7850016" cy="2605329"/>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zh-CN" altLang="en-US" sz="2400" b="1" dirty="0" smtClean="0"/>
              <a:t>       译码器</a:t>
            </a:r>
            <a:r>
              <a:rPr kumimoji="1" lang="zh-CN" altLang="en-US" sz="2400" b="1" dirty="0"/>
              <a:t>的设计方法有很多，根据前文的内容，用门电路绘制译码器。利用</a:t>
            </a:r>
            <a:r>
              <a:rPr kumimoji="1" lang="en-US" altLang="zh-CN" sz="2400" b="1" dirty="0" err="1"/>
              <a:t>Logisim</a:t>
            </a:r>
            <a:r>
              <a:rPr kumimoji="1" lang="zh-CN" altLang="en-US" sz="2400" b="1" dirty="0"/>
              <a:t>的自动生成功能来实现。门电路的绘制方法前面例题中已经详述，本题通过填写最小项的方法来自动生成一个</a:t>
            </a:r>
            <a:r>
              <a:rPr kumimoji="1" lang="en-US" altLang="zh-CN" sz="2400" b="1" dirty="0"/>
              <a:t>3-8</a:t>
            </a:r>
            <a:r>
              <a:rPr kumimoji="1" lang="zh-CN" altLang="en-US" sz="2400" b="1" dirty="0"/>
              <a:t>线译码器（不包含使能端）。</a:t>
            </a:r>
            <a:endParaRPr kumimoji="1" lang="zh-CN" altLang="en-US" sz="2400" b="1" dirty="0"/>
          </a:p>
          <a:p>
            <a:pPr lvl="0" eaLnBrk="1" hangingPunct="1">
              <a:lnSpc>
                <a:spcPct val="110000"/>
              </a:lnSpc>
              <a:spcBef>
                <a:spcPts val="290"/>
              </a:spcBef>
              <a:spcAft>
                <a:spcPct val="10000"/>
              </a:spcAft>
              <a:defRPr/>
            </a:pPr>
            <a:r>
              <a:rPr kumimoji="1" lang="zh-CN" altLang="en-US" sz="2400" b="1" dirty="0"/>
              <a:t>再次选择“项目”</a:t>
            </a:r>
            <a:r>
              <a:rPr kumimoji="1" lang="en-US" altLang="zh-CN" sz="2400" b="1" dirty="0"/>
              <a:t>—“</a:t>
            </a:r>
            <a:r>
              <a:rPr kumimoji="1" lang="zh-CN" altLang="en-US" sz="2400" b="1" dirty="0"/>
              <a:t>组合分析”，进入对话界面，首先定义输入输出的符号。见图</a:t>
            </a:r>
            <a:r>
              <a:rPr kumimoji="1" lang="en-US" altLang="zh-CN" sz="2400" b="1" dirty="0"/>
              <a:t>9.30</a:t>
            </a:r>
            <a:r>
              <a:rPr kumimoji="1" lang="zh-CN" altLang="en-US" sz="2400" b="1" dirty="0"/>
              <a:t>中的输入和输出变量。</a:t>
            </a:r>
            <a:endParaRPr kumimoji="1" lang="zh-CN" altLang="en-US" sz="2400" b="1" dirty="0"/>
          </a:p>
        </p:txBody>
      </p:sp>
      <p:pic>
        <p:nvPicPr>
          <p:cNvPr id="8194"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10343" y="4467497"/>
            <a:ext cx="2905125" cy="2095500"/>
          </a:xfrm>
          <a:prstGeom prst="rect">
            <a:avLst/>
          </a:prstGeom>
          <a:noFill/>
          <a:extLst>
            <a:ext uri="{909E8E84-426E-40DD-AFC4-6F175D3DCCD1}">
              <a14:hiddenFill xmlns:a14="http://schemas.microsoft.com/office/drawing/2010/main">
                <a:solidFill>
                  <a:srgbClr val="FFFFFF"/>
                </a:solidFill>
              </a14:hiddenFill>
            </a:ext>
          </a:extLst>
        </p:spPr>
      </p:pic>
      <p:pic>
        <p:nvPicPr>
          <p:cNvPr id="8193" name="图片 14"/>
          <p:cNvPicPr>
            <a:picLocks noChangeAspect="1" noChangeArrowheads="1"/>
          </p:cNvPicPr>
          <p:nvPr/>
        </p:nvPicPr>
        <p:blipFill>
          <a:blip r:embed="rId2">
            <a:extLst>
              <a:ext uri="{28A0092B-C50C-407E-A947-70E740481C1C}">
                <a14:useLocalDpi xmlns:a14="http://schemas.microsoft.com/office/drawing/2010/main" val="0"/>
              </a:ext>
            </a:extLst>
          </a:blip>
          <a:srcRect l="28038" r="30437" b="38872"/>
          <a:stretch>
            <a:fillRect/>
          </a:stretch>
        </p:blipFill>
        <p:spPr bwMode="auto">
          <a:xfrm>
            <a:off x="4140926" y="4555059"/>
            <a:ext cx="1724025" cy="18002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1110343" y="446749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4"/>
          <p:cNvSpPr>
            <a:spLocks noChangeArrowheads="1"/>
          </p:cNvSpPr>
          <p:nvPr/>
        </p:nvSpPr>
        <p:spPr bwMode="auto">
          <a:xfrm>
            <a:off x="1110343" y="656299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transition spd="med">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9.4.2 </a:t>
            </a:r>
            <a:r>
              <a:rPr kumimoji="1" lang="zh-CN" altLang="en-US" b="1" dirty="0" smtClean="0">
                <a:solidFill>
                  <a:srgbClr val="CC6600"/>
                </a:solidFill>
                <a:effectLst>
                  <a:outerShdw blurRad="38100" dist="38100" dir="2700000" algn="tl">
                    <a:srgbClr val="000000"/>
                  </a:outerShdw>
                </a:effectLst>
              </a:rPr>
              <a:t>组合逻辑电路设计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7850016" cy="2939266"/>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zh-CN" altLang="en-US" sz="2000" b="1" dirty="0" smtClean="0"/>
              <a:t>        设</a:t>
            </a:r>
            <a:r>
              <a:rPr kumimoji="1" lang="zh-CN" altLang="en-US" sz="2000" b="1" dirty="0"/>
              <a:t>输入端输入信号分别为</a:t>
            </a:r>
            <a:r>
              <a:rPr kumimoji="1" lang="en-US" altLang="zh-CN" sz="2000" b="1" dirty="0"/>
              <a:t>A</a:t>
            </a:r>
            <a:r>
              <a:rPr kumimoji="1" lang="zh-CN" altLang="en-US" sz="2000" b="1" dirty="0"/>
              <a:t>、</a:t>
            </a:r>
            <a:r>
              <a:rPr kumimoji="1" lang="en-US" altLang="zh-CN" sz="2000" b="1" dirty="0"/>
              <a:t>B</a:t>
            </a:r>
            <a:r>
              <a:rPr kumimoji="1" lang="zh-CN" altLang="en-US" sz="2000" b="1" dirty="0"/>
              <a:t>、</a:t>
            </a:r>
            <a:r>
              <a:rPr kumimoji="1" lang="en-US" altLang="zh-CN" sz="2000" b="1" dirty="0"/>
              <a:t>C</a:t>
            </a:r>
            <a:r>
              <a:rPr kumimoji="1" lang="zh-CN" altLang="en-US" sz="2000" b="1" dirty="0"/>
              <a:t>，输出端分别为</a:t>
            </a:r>
            <a:r>
              <a:rPr kumimoji="1" lang="en-US" altLang="zh-CN" sz="2000" b="1" dirty="0"/>
              <a:t>I0~I7</a:t>
            </a:r>
            <a:r>
              <a:rPr kumimoji="1" lang="zh-CN" altLang="en-US" sz="2000" b="1" dirty="0"/>
              <a:t>。然后进入到“表格”页面，填写输出部分的信号。表格将输入和输出分开列出，输入项中列出了</a:t>
            </a:r>
            <a:r>
              <a:rPr kumimoji="1" lang="en-US" altLang="zh-CN" sz="2000" b="1" dirty="0"/>
              <a:t>A~C</a:t>
            </a:r>
            <a:r>
              <a:rPr kumimoji="1" lang="zh-CN" altLang="en-US" sz="2000" b="1" dirty="0"/>
              <a:t>的所有组合，我们只需要在输出部分对应的位置填写最小项即可。</a:t>
            </a:r>
            <a:endParaRPr kumimoji="1" lang="zh-CN" altLang="en-US" sz="2000" b="1" dirty="0"/>
          </a:p>
          <a:p>
            <a:pPr lvl="0" eaLnBrk="1" hangingPunct="1">
              <a:lnSpc>
                <a:spcPct val="110000"/>
              </a:lnSpc>
              <a:spcBef>
                <a:spcPts val="290"/>
              </a:spcBef>
              <a:spcAft>
                <a:spcPct val="10000"/>
              </a:spcAft>
              <a:defRPr/>
            </a:pPr>
            <a:r>
              <a:rPr kumimoji="1" lang="zh-CN" altLang="en-US" sz="2000" b="1" dirty="0" smtClean="0"/>
              <a:t>       填写</a:t>
            </a:r>
            <a:r>
              <a:rPr kumimoji="1" lang="zh-CN" altLang="en-US" sz="2000" b="1" dirty="0"/>
              <a:t>的值有三种“</a:t>
            </a:r>
            <a:r>
              <a:rPr kumimoji="1" lang="en-US" altLang="zh-CN" sz="2000" b="1" dirty="0"/>
              <a:t>-”“1”</a:t>
            </a:r>
            <a:r>
              <a:rPr kumimoji="1" lang="zh-CN" altLang="en-US" sz="2000" b="1" dirty="0"/>
              <a:t>和“</a:t>
            </a:r>
            <a:r>
              <a:rPr kumimoji="1" lang="en-US" altLang="zh-CN" sz="2000" b="1" dirty="0"/>
              <a:t>0”</a:t>
            </a:r>
            <a:r>
              <a:rPr kumimoji="1" lang="zh-CN" altLang="en-US" sz="2000" b="1" dirty="0"/>
              <a:t>，显然，“</a:t>
            </a:r>
            <a:r>
              <a:rPr kumimoji="1" lang="en-US" altLang="zh-CN" sz="2000" b="1" dirty="0"/>
              <a:t>-”</a:t>
            </a:r>
            <a:r>
              <a:rPr kumimoji="1" lang="zh-CN" altLang="en-US" sz="2000" b="1" dirty="0"/>
              <a:t>表示无关最小项。这里没有无关最小项，所以将相对应的</a:t>
            </a:r>
            <a:r>
              <a:rPr kumimoji="1" lang="en-US" altLang="zh-CN" sz="2000" b="1" dirty="0"/>
              <a:t>0</a:t>
            </a:r>
            <a:r>
              <a:rPr kumimoji="1" lang="zh-CN" altLang="en-US" sz="2000" b="1" dirty="0"/>
              <a:t>和</a:t>
            </a:r>
            <a:r>
              <a:rPr kumimoji="1" lang="en-US" altLang="zh-CN" sz="2000" b="1" dirty="0"/>
              <a:t>1</a:t>
            </a:r>
            <a:r>
              <a:rPr kumimoji="1" lang="zh-CN" altLang="en-US" sz="2000" b="1" dirty="0"/>
              <a:t>填写到表格中。题目中没有涉及是负逻辑还是正逻辑，选择按照正逻辑来实现。</a:t>
            </a:r>
            <a:endParaRPr kumimoji="1" lang="zh-CN" altLang="en-US" sz="2000" b="1" dirty="0"/>
          </a:p>
          <a:p>
            <a:pPr lvl="0" eaLnBrk="1" hangingPunct="1">
              <a:lnSpc>
                <a:spcPct val="110000"/>
              </a:lnSpc>
              <a:spcBef>
                <a:spcPts val="290"/>
              </a:spcBef>
              <a:spcAft>
                <a:spcPct val="10000"/>
              </a:spcAft>
              <a:defRPr/>
            </a:pPr>
            <a:r>
              <a:rPr kumimoji="1" lang="zh-CN" altLang="en-US" sz="2000" b="1" dirty="0" smtClean="0"/>
              <a:t>        </a:t>
            </a:r>
            <a:endParaRPr kumimoji="1" lang="zh-CN" altLang="en-US" sz="2400" b="1" dirty="0"/>
          </a:p>
        </p:txBody>
      </p:sp>
      <p:sp>
        <p:nvSpPr>
          <p:cNvPr id="2" name="Rectangle 3"/>
          <p:cNvSpPr>
            <a:spLocks noChangeArrowheads="1"/>
          </p:cNvSpPr>
          <p:nvPr/>
        </p:nvSpPr>
        <p:spPr bwMode="auto">
          <a:xfrm>
            <a:off x="1110343" y="446749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4"/>
          <p:cNvSpPr>
            <a:spLocks noChangeArrowheads="1"/>
          </p:cNvSpPr>
          <p:nvPr/>
        </p:nvSpPr>
        <p:spPr bwMode="auto">
          <a:xfrm>
            <a:off x="1110343" y="656299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transition spd="med">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1" cstate="print"/>
          <a:srcRect l="28551" t="14616" r="30649" b="6044"/>
          <a:stretch>
            <a:fillRect/>
          </a:stretch>
        </p:blipFill>
        <p:spPr>
          <a:xfrm>
            <a:off x="4728754" y="1881143"/>
            <a:ext cx="3881891" cy="4139702"/>
          </a:xfrm>
          <a:prstGeom prst="rect">
            <a:avLst/>
          </a:prstGeom>
          <a:noFill/>
          <a:ln>
            <a:noFill/>
          </a:ln>
        </p:spPr>
      </p:pic>
      <p:sp>
        <p:nvSpPr>
          <p:cNvPr id="3"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9.4.2 </a:t>
            </a:r>
            <a:r>
              <a:rPr kumimoji="1" lang="zh-CN" altLang="en-US" b="1" dirty="0" smtClean="0">
                <a:solidFill>
                  <a:srgbClr val="CC6600"/>
                </a:solidFill>
                <a:effectLst>
                  <a:outerShdw blurRad="38100" dist="38100" dir="2700000" algn="tl">
                    <a:srgbClr val="000000"/>
                  </a:outerShdw>
                </a:effectLst>
              </a:rPr>
              <a:t>组合逻辑电路设计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 name="矩形 4"/>
          <p:cNvSpPr/>
          <p:nvPr/>
        </p:nvSpPr>
        <p:spPr>
          <a:xfrm>
            <a:off x="781216" y="2573475"/>
            <a:ext cx="3745064" cy="2529923"/>
          </a:xfrm>
          <a:prstGeom prst="rect">
            <a:avLst/>
          </a:prstGeom>
        </p:spPr>
        <p:txBody>
          <a:bodyPr wrap="square">
            <a:spAutoFit/>
          </a:bodyPr>
          <a:lstStyle/>
          <a:p>
            <a:pPr lvl="0" eaLnBrk="1" hangingPunct="1">
              <a:lnSpc>
                <a:spcPct val="110000"/>
              </a:lnSpc>
              <a:spcBef>
                <a:spcPts val="290"/>
              </a:spcBef>
              <a:spcAft>
                <a:spcPct val="10000"/>
              </a:spcAft>
              <a:defRPr/>
            </a:pPr>
            <a:r>
              <a:rPr kumimoji="1" lang="zh-CN" altLang="en-US" sz="1800" b="1" dirty="0" smtClean="0"/>
              <a:t>        查看</a:t>
            </a:r>
            <a:r>
              <a:rPr kumimoji="1" lang="zh-CN" altLang="en-US" sz="1800" b="1" dirty="0"/>
              <a:t>“表达式”页面中各输出项表达，每一项输出是一个最小项，按照译码器逻辑要求输入相应的值。进入“最小化”页面，点击“构建回路”。</a:t>
            </a:r>
            <a:r>
              <a:rPr kumimoji="1" lang="en-US" altLang="zh-CN" sz="1800" b="1" dirty="0" err="1"/>
              <a:t>Logisim</a:t>
            </a:r>
            <a:r>
              <a:rPr kumimoji="1" lang="zh-CN" altLang="en-US" sz="1800" b="1" dirty="0"/>
              <a:t>自动绘制出一个</a:t>
            </a:r>
            <a:r>
              <a:rPr kumimoji="1" lang="en-US" altLang="zh-CN" sz="1800" b="1" dirty="0"/>
              <a:t>3</a:t>
            </a:r>
            <a:r>
              <a:rPr kumimoji="1" lang="zh-CN" altLang="en-US" sz="1800" b="1" dirty="0"/>
              <a:t>输入、</a:t>
            </a:r>
            <a:r>
              <a:rPr kumimoji="1" lang="en-US" altLang="zh-CN" sz="1800" b="1" dirty="0"/>
              <a:t>8</a:t>
            </a:r>
            <a:r>
              <a:rPr kumimoji="1" lang="zh-CN" altLang="en-US" sz="1800" b="1" dirty="0"/>
              <a:t>输出的译码器，图所示。不特定用哪种门电路来实现的话，系统会采用基础门电路来实现。</a:t>
            </a:r>
            <a:endParaRPr kumimoji="1" lang="zh-CN" altLang="en-US" sz="2000" b="1" dirty="0"/>
          </a:p>
        </p:txBody>
      </p:sp>
      <p:sp>
        <p:nvSpPr>
          <p:cNvPr id="6" name="矩形 5"/>
          <p:cNvSpPr/>
          <p:nvPr/>
        </p:nvSpPr>
        <p:spPr>
          <a:xfrm>
            <a:off x="5500027" y="6020845"/>
            <a:ext cx="1189749" cy="276999"/>
          </a:xfrm>
          <a:prstGeom prst="rect">
            <a:avLst/>
          </a:prstGeom>
        </p:spPr>
        <p:txBody>
          <a:bodyPr wrap="none">
            <a:spAutoFit/>
          </a:bodyPr>
          <a:lstStyle/>
          <a:p>
            <a:r>
              <a:rPr lang="en-US" altLang="zh-CN" sz="1200" b="1" kern="100" dirty="0" err="1"/>
              <a:t>Subcric</a:t>
            </a:r>
            <a:r>
              <a:rPr lang="zh-CN" altLang="zh-CN" sz="1200" b="1" kern="100" dirty="0">
                <a:cs typeface="Times New Roman" panose="02020603050405020304" pitchFamily="18" charset="0"/>
              </a:rPr>
              <a:t>电路图</a:t>
            </a:r>
            <a:r>
              <a:rPr lang="zh-CN" altLang="zh-CN" sz="1200" kern="100" dirty="0">
                <a:ea typeface="Times New Roman" panose="02020603050405020304" pitchFamily="18" charset="0"/>
              </a:rPr>
              <a:t> </a:t>
            </a:r>
            <a:endParaRPr lang="zh-CN" altLang="en-US" sz="1200" dirty="0"/>
          </a:p>
        </p:txBody>
      </p:sp>
    </p:spTree>
  </p:cSld>
  <p:clrMapOvr>
    <a:masterClrMapping/>
  </p:clrMapOvr>
  <p:transition spd="med">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7566" y="1938052"/>
            <a:ext cx="4937761" cy="4524315"/>
          </a:xfrm>
          <a:prstGeom prst="rect">
            <a:avLst/>
          </a:prstGeom>
        </p:spPr>
        <p:txBody>
          <a:bodyPr wrap="square">
            <a:spAutoFit/>
          </a:bodyPr>
          <a:lstStyle/>
          <a:p>
            <a:r>
              <a:rPr lang="zh-CN" altLang="en-US" sz="1800" dirty="0" smtClean="0"/>
              <a:t>        </a:t>
            </a:r>
            <a:r>
              <a:rPr lang="zh-CN" altLang="en-US" sz="1800" b="1" dirty="0" smtClean="0"/>
              <a:t>定义</a:t>
            </a:r>
            <a:r>
              <a:rPr lang="zh-CN" altLang="en-US" sz="1800" b="1" dirty="0"/>
              <a:t>完成的子电路可以当作一个电路元件来使用。双击主电路文件名（通常是</a:t>
            </a:r>
            <a:r>
              <a:rPr lang="en-US" altLang="zh-CN" sz="1800" b="1" dirty="0"/>
              <a:t>main</a:t>
            </a:r>
            <a:r>
              <a:rPr lang="zh-CN" altLang="en-US" sz="1800" b="1" dirty="0"/>
              <a:t>），进入主电路设计画面，点击子电路，和使用其他组件方式相同，在画布上就多了一个子电路的封装模型。</a:t>
            </a:r>
            <a:endParaRPr lang="zh-CN" altLang="en-US" sz="1800" b="1" dirty="0"/>
          </a:p>
          <a:p>
            <a:r>
              <a:rPr lang="zh-CN" altLang="en-US" sz="1800" b="1" dirty="0" smtClean="0"/>
              <a:t>       子</a:t>
            </a:r>
            <a:r>
              <a:rPr lang="zh-CN" altLang="en-US" sz="1800" b="1" dirty="0"/>
              <a:t>电路中默认的外观一般以子电路真实的输入输出位置和标签为准。这里的输入在左侧上方，输出均匀分布在右侧，所以子电路封装模型的左上方也标注了相应的输入引脚，右侧也均匀排列了输出引脚</a:t>
            </a:r>
            <a:r>
              <a:rPr lang="zh-CN" altLang="en-US" sz="1800" b="1" dirty="0" smtClean="0"/>
              <a:t>。</a:t>
            </a:r>
            <a:endParaRPr lang="en-US" altLang="zh-CN" sz="1800" b="1" dirty="0" smtClean="0"/>
          </a:p>
          <a:p>
            <a:endParaRPr lang="en-US" altLang="zh-CN" sz="1800" b="1" dirty="0"/>
          </a:p>
          <a:p>
            <a:r>
              <a:rPr lang="en-US" altLang="zh-CN" sz="1800" b="1" dirty="0" smtClean="0"/>
              <a:t>       </a:t>
            </a:r>
            <a:r>
              <a:rPr lang="zh-CN" altLang="en-US" sz="1800" b="1" dirty="0" smtClean="0"/>
              <a:t>输出</a:t>
            </a:r>
            <a:r>
              <a:rPr lang="zh-CN" altLang="en-US" sz="1800" b="1" dirty="0"/>
              <a:t>函数的表达为积之和形式，说明还需要</a:t>
            </a:r>
            <a:r>
              <a:rPr lang="en-US" altLang="zh-CN" sz="1800" b="1" dirty="0"/>
              <a:t>3</a:t>
            </a:r>
            <a:r>
              <a:rPr lang="zh-CN" altLang="en-US" sz="1800" b="1" dirty="0"/>
              <a:t>个或门分别完成对应的三个输出。在主电路图中添加</a:t>
            </a:r>
            <a:r>
              <a:rPr lang="en-US" altLang="zh-CN" sz="1800" b="1" dirty="0"/>
              <a:t>3</a:t>
            </a:r>
            <a:r>
              <a:rPr lang="zh-CN" altLang="en-US" sz="1800" b="1" dirty="0"/>
              <a:t>输入信号、</a:t>
            </a:r>
            <a:r>
              <a:rPr lang="en-US" altLang="zh-CN" sz="1800" b="1" dirty="0"/>
              <a:t>3</a:t>
            </a:r>
            <a:r>
              <a:rPr lang="zh-CN" altLang="en-US" sz="1800" b="1" dirty="0"/>
              <a:t>输出信号和</a:t>
            </a:r>
            <a:r>
              <a:rPr lang="en-US" altLang="zh-CN" sz="1800" b="1" dirty="0"/>
              <a:t>3</a:t>
            </a:r>
            <a:r>
              <a:rPr lang="zh-CN" altLang="en-US" sz="1800" b="1" dirty="0"/>
              <a:t>个或门。点击或门</a:t>
            </a:r>
            <a:r>
              <a:rPr lang="zh-CN" altLang="en-US" sz="1800" b="1" dirty="0" smtClean="0"/>
              <a:t>，左下</a:t>
            </a:r>
            <a:r>
              <a:rPr lang="zh-CN" altLang="en-US" sz="1800" b="1" dirty="0"/>
              <a:t>角的属性区域修改输入信号数量，按照函数表达式，完成连</a:t>
            </a:r>
            <a:r>
              <a:rPr lang="zh-CN" altLang="en-US" sz="1800" b="1" dirty="0" smtClean="0"/>
              <a:t>线，如右图所示。</a:t>
            </a:r>
            <a:endParaRPr lang="zh-CN" altLang="en-US" sz="1800" b="1" dirty="0"/>
          </a:p>
        </p:txBody>
      </p:sp>
      <p:pic>
        <p:nvPicPr>
          <p:cNvPr id="4" name="图片 3"/>
          <p:cNvPicPr/>
          <p:nvPr/>
        </p:nvPicPr>
        <p:blipFill>
          <a:blip r:embed="rId1" cstate="print"/>
          <a:srcRect l="27442" t="17081" r="5004" b="40763"/>
          <a:stretch>
            <a:fillRect/>
          </a:stretch>
        </p:blipFill>
        <p:spPr>
          <a:xfrm>
            <a:off x="5055327" y="3802610"/>
            <a:ext cx="4088674" cy="2441756"/>
          </a:xfrm>
          <a:prstGeom prst="rect">
            <a:avLst/>
          </a:prstGeom>
          <a:noFill/>
          <a:ln>
            <a:noFill/>
          </a:ln>
        </p:spPr>
      </p:pic>
      <p:sp>
        <p:nvSpPr>
          <p:cNvPr id="5"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6"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9.4.2 </a:t>
            </a:r>
            <a:r>
              <a:rPr kumimoji="1" lang="zh-CN" altLang="en-US" b="1" dirty="0" smtClean="0">
                <a:solidFill>
                  <a:srgbClr val="CC6600"/>
                </a:solidFill>
                <a:effectLst>
                  <a:outerShdw blurRad="38100" dist="38100" dir="2700000" algn="tl">
                    <a:srgbClr val="000000"/>
                  </a:outerShdw>
                </a:effectLst>
              </a:rPr>
              <a:t>组合逻辑电路设计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7" name="矩形 6"/>
          <p:cNvSpPr/>
          <p:nvPr/>
        </p:nvSpPr>
        <p:spPr>
          <a:xfrm>
            <a:off x="4833257" y="1997524"/>
            <a:ext cx="4088674" cy="1446550"/>
          </a:xfrm>
          <a:prstGeom prst="rect">
            <a:avLst/>
          </a:prstGeom>
        </p:spPr>
        <p:txBody>
          <a:bodyPr wrap="square">
            <a:spAutoFit/>
          </a:bodyPr>
          <a:lstStyle/>
          <a:p>
            <a:r>
              <a:rPr lang="zh-CN" altLang="en-US" sz="2000" dirty="0">
                <a:solidFill>
                  <a:srgbClr val="FF0000"/>
                </a:solidFill>
              </a:rPr>
              <a:t>小提示：子电路中输入输出的标签（引脚名）非常重要，如果不标识清楚，主电路使用时就会不知道该从哪里引出信号，造成</a:t>
            </a:r>
            <a:r>
              <a:rPr lang="zh-CN" altLang="en-US" sz="2000" dirty="0" smtClean="0">
                <a:solidFill>
                  <a:srgbClr val="FF0000"/>
                </a:solidFill>
              </a:rPr>
              <a:t>混淆</a:t>
            </a:r>
            <a:r>
              <a:rPr lang="zh-CN" altLang="en-US" dirty="0" smtClean="0"/>
              <a:t>。</a:t>
            </a:r>
            <a:endParaRPr lang="zh-CN" altLang="en-US" dirty="0"/>
          </a:p>
        </p:txBody>
      </p:sp>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9.4.2 </a:t>
            </a:r>
            <a:r>
              <a:rPr kumimoji="1" lang="zh-CN" altLang="en-US" b="1" dirty="0" smtClean="0">
                <a:solidFill>
                  <a:srgbClr val="CC6600"/>
                </a:solidFill>
                <a:effectLst>
                  <a:outerShdw blurRad="38100" dist="38100" dir="2700000" algn="tl">
                    <a:srgbClr val="000000"/>
                  </a:outerShdw>
                </a:effectLst>
              </a:rPr>
              <a:t>组合逻辑电路设计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7850016" cy="902970"/>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400" b="1" dirty="0" smtClean="0"/>
              <a:t>【</a:t>
            </a:r>
            <a:r>
              <a:rPr kumimoji="1" lang="zh-CN" altLang="en-US" sz="2400" b="1" dirty="0"/>
              <a:t>例</a:t>
            </a:r>
            <a:r>
              <a:rPr kumimoji="1" lang="en-US" altLang="zh-CN" sz="2400" b="1" dirty="0"/>
              <a:t>4】</a:t>
            </a:r>
            <a:r>
              <a:rPr kumimoji="1" lang="zh-CN" altLang="en-US" sz="2400" b="1" dirty="0"/>
              <a:t>用</a:t>
            </a:r>
            <a:r>
              <a:rPr kumimoji="1" lang="en-US" altLang="zh-CN" sz="2400" b="1" dirty="0"/>
              <a:t>4</a:t>
            </a:r>
            <a:r>
              <a:rPr kumimoji="1" lang="zh-CN" altLang="en-US" sz="2400" b="1" dirty="0"/>
              <a:t>位加法器实现</a:t>
            </a:r>
            <a:r>
              <a:rPr kumimoji="1" lang="en-US" altLang="zh-CN" sz="2400" b="1" dirty="0"/>
              <a:t>8421BCD</a:t>
            </a:r>
            <a:r>
              <a:rPr kumimoji="1" lang="zh-CN" altLang="en-US" sz="2400" b="1" dirty="0"/>
              <a:t>码的十进制加法器，在</a:t>
            </a:r>
            <a:r>
              <a:rPr kumimoji="1" lang="en-US" altLang="zh-CN" sz="2400" b="1" dirty="0" err="1"/>
              <a:t>Logisim</a:t>
            </a:r>
            <a:r>
              <a:rPr kumimoji="1" lang="zh-CN" altLang="en-US" sz="2400" b="1" dirty="0"/>
              <a:t>中绘图并验证</a:t>
            </a:r>
            <a:r>
              <a:rPr kumimoji="1" lang="zh-CN" altLang="en-US" sz="2400" b="1" dirty="0" smtClean="0"/>
              <a:t>。</a:t>
            </a:r>
            <a:endParaRPr kumimoji="1" lang="zh-CN" altLang="en-US" sz="2400" b="1" dirty="0"/>
          </a:p>
        </p:txBody>
      </p:sp>
      <p:sp>
        <p:nvSpPr>
          <p:cNvPr id="2" name="矩形 1"/>
          <p:cNvSpPr/>
          <p:nvPr/>
        </p:nvSpPr>
        <p:spPr>
          <a:xfrm>
            <a:off x="619211" y="2837345"/>
            <a:ext cx="7850016" cy="1631216"/>
          </a:xfrm>
          <a:prstGeom prst="rect">
            <a:avLst/>
          </a:prstGeom>
        </p:spPr>
        <p:txBody>
          <a:bodyPr wrap="square">
            <a:spAutoFit/>
          </a:bodyPr>
          <a:lstStyle/>
          <a:p>
            <a:pPr indent="266700">
              <a:spcAft>
                <a:spcPts val="0"/>
              </a:spcAft>
              <a:tabLst>
                <a:tab pos="2628900" algn="ctr"/>
              </a:tabLst>
            </a:pPr>
            <a:r>
              <a:rPr lang="zh-CN" altLang="zh-CN" sz="2000" kern="100" dirty="0"/>
              <a:t>在例</a:t>
            </a:r>
            <a:r>
              <a:rPr lang="en-US" altLang="zh-CN" sz="2000" kern="100" dirty="0"/>
              <a:t>9.3</a:t>
            </a:r>
            <a:r>
              <a:rPr lang="zh-CN" altLang="zh-CN" sz="2000" kern="100" dirty="0"/>
              <a:t>中，已经学习了如何用子电路完成设计，这里我们尝试用已有部件来实现。查看组件库中的加法器器来实现函数功能。</a:t>
            </a:r>
            <a:endParaRPr lang="zh-CN" altLang="zh-CN" sz="2000" kern="100" dirty="0"/>
          </a:p>
          <a:p>
            <a:pPr indent="266700">
              <a:spcAft>
                <a:spcPts val="0"/>
              </a:spcAft>
              <a:tabLst>
                <a:tab pos="2628900" algn="ctr"/>
              </a:tabLst>
            </a:pPr>
            <a:r>
              <a:rPr lang="zh-CN" altLang="zh-CN" sz="2000" kern="100" dirty="0"/>
              <a:t>选择</a:t>
            </a:r>
            <a:r>
              <a:rPr lang="en-US" altLang="zh-CN" sz="2000" kern="100" dirty="0"/>
              <a:t>TTL</a:t>
            </a:r>
            <a:r>
              <a:rPr lang="zh-CN" altLang="zh-CN" sz="2000" kern="100" dirty="0"/>
              <a:t>组件中的</a:t>
            </a:r>
            <a:r>
              <a:rPr lang="en-US" altLang="zh-CN" sz="2000" kern="100" dirty="0"/>
              <a:t>74283</a:t>
            </a:r>
            <a:r>
              <a:rPr lang="zh-CN" altLang="zh-CN" sz="2000" kern="100" dirty="0"/>
              <a:t>：</a:t>
            </a:r>
            <a:r>
              <a:rPr lang="en-US" altLang="zh-CN" sz="2000" kern="100" dirty="0"/>
              <a:t>4</a:t>
            </a:r>
            <a:r>
              <a:rPr lang="zh-CN" altLang="zh-CN" sz="2000" kern="100" dirty="0"/>
              <a:t>位二进制全加器（</a:t>
            </a:r>
            <a:r>
              <a:rPr lang="en-US" altLang="zh-CN" sz="2000" kern="100" dirty="0"/>
              <a:t>4-bit binary full adder</a:t>
            </a:r>
            <a:r>
              <a:rPr lang="zh-CN" altLang="zh-CN" sz="2000" kern="100" dirty="0"/>
              <a:t>），通过修改属性</a:t>
            </a:r>
            <a:r>
              <a:rPr lang="zh-CN" altLang="zh-CN" sz="2000" kern="100" dirty="0">
                <a:solidFill>
                  <a:srgbClr val="000000"/>
                </a:solidFill>
              </a:rPr>
              <a:t>—</a:t>
            </a:r>
            <a:r>
              <a:rPr lang="zh-CN" altLang="zh-CN" sz="2000" kern="100" dirty="0"/>
              <a:t>显示内部结构的选项，查看加法器输入输出接口的位置，如</a:t>
            </a:r>
            <a:r>
              <a:rPr lang="zh-CN" altLang="zh-CN" sz="2000" kern="100" dirty="0" smtClean="0"/>
              <a:t>图所</a:t>
            </a:r>
            <a:r>
              <a:rPr lang="zh-CN" altLang="zh-CN" sz="2000" kern="100" dirty="0"/>
              <a:t>示。</a:t>
            </a:r>
            <a:endParaRPr lang="zh-CN" altLang="zh-CN" sz="2000" kern="100" dirty="0"/>
          </a:p>
        </p:txBody>
      </p:sp>
      <p:pic>
        <p:nvPicPr>
          <p:cNvPr id="6" name="图片 5"/>
          <p:cNvPicPr/>
          <p:nvPr/>
        </p:nvPicPr>
        <p:blipFill>
          <a:blip r:embed="rId1" cstate="print"/>
          <a:srcRect l="46045" t="32510" r="32337" b="53022"/>
          <a:stretch>
            <a:fillRect/>
          </a:stretch>
        </p:blipFill>
        <p:spPr>
          <a:xfrm>
            <a:off x="2487658" y="4697198"/>
            <a:ext cx="3887016" cy="1886482"/>
          </a:xfrm>
          <a:prstGeom prst="rect">
            <a:avLst/>
          </a:prstGeom>
          <a:noFill/>
          <a:ln>
            <a:noFill/>
          </a:ln>
        </p:spPr>
      </p:pic>
      <p:sp>
        <p:nvSpPr>
          <p:cNvPr id="4" name="矩形 3"/>
          <p:cNvSpPr/>
          <p:nvPr/>
        </p:nvSpPr>
        <p:spPr>
          <a:xfrm>
            <a:off x="3281694" y="6459230"/>
            <a:ext cx="1351652" cy="307777"/>
          </a:xfrm>
          <a:prstGeom prst="rect">
            <a:avLst/>
          </a:prstGeom>
        </p:spPr>
        <p:txBody>
          <a:bodyPr wrap="none">
            <a:spAutoFit/>
          </a:bodyPr>
          <a:lstStyle/>
          <a:p>
            <a:r>
              <a:rPr lang="en-US" altLang="zh-CN" sz="1400" b="1" kern="100" dirty="0"/>
              <a:t>74283</a:t>
            </a:r>
            <a:r>
              <a:rPr lang="zh-CN" altLang="zh-CN" sz="1400" b="1" kern="100" dirty="0">
                <a:cs typeface="Times New Roman" panose="02020603050405020304" pitchFamily="18" charset="0"/>
              </a:rPr>
              <a:t>内部结构</a:t>
            </a:r>
            <a:endParaRPr lang="zh-CN" altLang="en-US" sz="1400" dirty="0"/>
          </a:p>
        </p:txBody>
      </p:sp>
    </p:spTree>
  </p:cSld>
  <p:clrMapOvr>
    <a:masterClrMapping/>
  </p:clrMapOvr>
  <p:transition spd="med">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9.4.2 </a:t>
            </a:r>
            <a:r>
              <a:rPr kumimoji="1" lang="zh-CN" altLang="en-US" b="1" dirty="0" smtClean="0">
                <a:solidFill>
                  <a:srgbClr val="CC6600"/>
                </a:solidFill>
                <a:effectLst>
                  <a:outerShdw blurRad="38100" dist="38100" dir="2700000" algn="tl">
                    <a:srgbClr val="000000"/>
                  </a:outerShdw>
                </a:effectLst>
              </a:rPr>
              <a:t>组合逻辑电路设计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7850016" cy="1308735"/>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400" b="1" dirty="0"/>
              <a:t>【</a:t>
            </a:r>
            <a:r>
              <a:rPr kumimoji="1" lang="zh-CN" altLang="en-US" sz="2400" b="1" dirty="0"/>
              <a:t>例</a:t>
            </a:r>
            <a:r>
              <a:rPr kumimoji="1" lang="en-US" altLang="zh-CN" sz="2400" b="1" dirty="0"/>
              <a:t>5】</a:t>
            </a:r>
            <a:r>
              <a:rPr kumimoji="1" lang="zh-CN" altLang="en-US" sz="2400" b="1" dirty="0"/>
              <a:t>在</a:t>
            </a:r>
            <a:r>
              <a:rPr kumimoji="1" lang="en-US" altLang="zh-CN" sz="2400" b="1" dirty="0" err="1"/>
              <a:t>Logisim</a:t>
            </a:r>
            <a:r>
              <a:rPr kumimoji="1" lang="zh-CN" altLang="en-US" sz="2400" b="1" dirty="0"/>
              <a:t>中设计一个电路，输入一个</a:t>
            </a:r>
            <a:r>
              <a:rPr kumimoji="1" lang="en-US" altLang="zh-CN" sz="2400" b="1" dirty="0"/>
              <a:t>4</a:t>
            </a:r>
            <a:r>
              <a:rPr kumimoji="1" lang="zh-CN" altLang="en-US" sz="2400" b="1" dirty="0"/>
              <a:t>位</a:t>
            </a:r>
            <a:r>
              <a:rPr kumimoji="1" lang="en-US" altLang="zh-CN" sz="2400" b="1" dirty="0"/>
              <a:t>BCD</a:t>
            </a:r>
            <a:r>
              <a:rPr kumimoji="1" lang="zh-CN" altLang="en-US" sz="2400" b="1" dirty="0"/>
              <a:t>码，用</a:t>
            </a:r>
            <a:r>
              <a:rPr kumimoji="1" lang="en-US" altLang="zh-CN" sz="2400" b="1" dirty="0"/>
              <a:t>7</a:t>
            </a:r>
            <a:r>
              <a:rPr kumimoji="1" lang="zh-CN" altLang="en-US" sz="2400" b="1" dirty="0"/>
              <a:t>段式</a:t>
            </a:r>
            <a:r>
              <a:rPr kumimoji="1" lang="en-US" altLang="zh-CN" sz="2400" b="1" dirty="0"/>
              <a:t>Led</a:t>
            </a:r>
            <a:r>
              <a:rPr kumimoji="1" lang="zh-CN" altLang="en-US" sz="2400" b="1" dirty="0"/>
              <a:t>管显示该</a:t>
            </a:r>
            <a:r>
              <a:rPr kumimoji="1" lang="en-US" altLang="zh-CN" sz="2400" b="1" dirty="0"/>
              <a:t>BCD</a:t>
            </a:r>
            <a:r>
              <a:rPr kumimoji="1" lang="zh-CN" altLang="en-US" sz="2400" b="1" dirty="0"/>
              <a:t>码所表示的十进制数，冗余码不做任何显示</a:t>
            </a:r>
            <a:r>
              <a:rPr kumimoji="1" lang="zh-CN" altLang="en-US" sz="2400" b="1" dirty="0" smtClean="0"/>
              <a:t>。</a:t>
            </a:r>
            <a:endParaRPr kumimoji="1" lang="zh-CN" altLang="en-US" sz="2400" b="1" dirty="0"/>
          </a:p>
        </p:txBody>
      </p:sp>
      <p:sp>
        <p:nvSpPr>
          <p:cNvPr id="5" name="矩形 4"/>
          <p:cNvSpPr/>
          <p:nvPr/>
        </p:nvSpPr>
        <p:spPr>
          <a:xfrm>
            <a:off x="587829" y="3220577"/>
            <a:ext cx="3174274" cy="3139321"/>
          </a:xfrm>
          <a:prstGeom prst="rect">
            <a:avLst/>
          </a:prstGeom>
        </p:spPr>
        <p:txBody>
          <a:bodyPr wrap="square">
            <a:spAutoFit/>
          </a:bodyPr>
          <a:lstStyle/>
          <a:p>
            <a:pPr indent="267970">
              <a:spcAft>
                <a:spcPts val="0"/>
              </a:spcAft>
              <a:tabLst>
                <a:tab pos="2628900" algn="ctr"/>
              </a:tabLst>
            </a:pPr>
            <a:r>
              <a:rPr lang="zh-CN" altLang="zh-CN" sz="1800" b="1" kern="100" dirty="0"/>
              <a:t>解：</a:t>
            </a:r>
            <a:r>
              <a:rPr lang="zh-CN" altLang="zh-CN" sz="1800" kern="100" dirty="0"/>
              <a:t>显然，电路输入端为</a:t>
            </a:r>
            <a:r>
              <a:rPr lang="en-US" altLang="zh-CN" sz="1800" kern="100" dirty="0"/>
              <a:t>4</a:t>
            </a:r>
            <a:r>
              <a:rPr lang="zh-CN" altLang="zh-CN" sz="1800" kern="100" dirty="0"/>
              <a:t>位，输出端为</a:t>
            </a:r>
            <a:r>
              <a:rPr lang="en-US" altLang="zh-CN" sz="1800" kern="100" dirty="0"/>
              <a:t>7</a:t>
            </a:r>
            <a:r>
              <a:rPr lang="zh-CN" altLang="zh-CN" sz="1800" kern="100" dirty="0"/>
              <a:t>位。设计子电路为</a:t>
            </a:r>
            <a:r>
              <a:rPr lang="en-US" altLang="zh-CN" sz="1800" kern="100" dirty="0"/>
              <a:t>4</a:t>
            </a:r>
            <a:r>
              <a:rPr lang="zh-CN" altLang="zh-CN" sz="1800" kern="100" dirty="0"/>
              <a:t>输入、</a:t>
            </a:r>
            <a:r>
              <a:rPr lang="en-US" altLang="zh-CN" sz="1800" kern="100" dirty="0"/>
              <a:t>7</a:t>
            </a:r>
            <a:r>
              <a:rPr lang="zh-CN" altLang="zh-CN" sz="1800" kern="100" dirty="0"/>
              <a:t>输出的逻辑电路。利用</a:t>
            </a:r>
            <a:r>
              <a:rPr lang="en-US" altLang="zh-CN" sz="1800" kern="100" dirty="0" err="1"/>
              <a:t>Logisim</a:t>
            </a:r>
            <a:r>
              <a:rPr lang="zh-CN" altLang="zh-CN" sz="1800" kern="100" dirty="0"/>
              <a:t>中的“首选项”，进入真值表填写。这里需要根据</a:t>
            </a:r>
            <a:r>
              <a:rPr lang="en-US" altLang="zh-CN" sz="1800" kern="100" dirty="0"/>
              <a:t>7</a:t>
            </a:r>
            <a:r>
              <a:rPr lang="zh-CN" altLang="zh-CN" sz="1800" kern="100" dirty="0"/>
              <a:t>段数码管组件的引脚确定显示位</a:t>
            </a:r>
            <a:r>
              <a:rPr lang="en-US" altLang="zh-CN" sz="1800" kern="100" dirty="0"/>
              <a:t>a-g</a:t>
            </a:r>
            <a:r>
              <a:rPr lang="zh-CN" altLang="zh-CN" sz="1800" kern="100" dirty="0"/>
              <a:t>。</a:t>
            </a:r>
            <a:endParaRPr lang="zh-CN" altLang="zh-CN" sz="1800" kern="100" dirty="0"/>
          </a:p>
          <a:p>
            <a:pPr indent="266700">
              <a:spcAft>
                <a:spcPts val="0"/>
              </a:spcAft>
              <a:tabLst>
                <a:tab pos="2628900" algn="ctr"/>
              </a:tabLst>
            </a:pPr>
            <a:r>
              <a:rPr lang="zh-CN" altLang="zh-CN" sz="1800" kern="100" dirty="0"/>
              <a:t>根据</a:t>
            </a:r>
            <a:r>
              <a:rPr lang="en-US" altLang="zh-CN" sz="1800" kern="100" dirty="0"/>
              <a:t>a-g</a:t>
            </a:r>
            <a:r>
              <a:rPr lang="zh-CN" altLang="zh-CN" sz="1800" kern="100" dirty="0"/>
              <a:t>显示出正确数值时各引脚的值填写真值表，要求冗余码</a:t>
            </a:r>
            <a:r>
              <a:rPr lang="zh-CN" altLang="zh-CN" sz="1800" kern="100" dirty="0">
                <a:solidFill>
                  <a:srgbClr val="000000"/>
                </a:solidFill>
              </a:rPr>
              <a:t>不做</a:t>
            </a:r>
            <a:r>
              <a:rPr lang="zh-CN" altLang="zh-CN" sz="1800" kern="100" dirty="0"/>
              <a:t>任何显示，所以将冗余码输出按</a:t>
            </a:r>
            <a:r>
              <a:rPr lang="en-US" altLang="zh-CN" sz="1800" kern="100" dirty="0"/>
              <a:t>0</a:t>
            </a:r>
            <a:r>
              <a:rPr lang="zh-CN" altLang="zh-CN" sz="1800" kern="100" dirty="0"/>
              <a:t>处理。</a:t>
            </a:r>
            <a:endParaRPr lang="zh-CN" altLang="zh-CN" sz="1800" kern="100" dirty="0"/>
          </a:p>
        </p:txBody>
      </p:sp>
      <p:pic>
        <p:nvPicPr>
          <p:cNvPr id="1026" name="图片 15"/>
          <p:cNvPicPr>
            <a:picLocks noChangeAspect="1" noChangeArrowheads="1"/>
          </p:cNvPicPr>
          <p:nvPr/>
        </p:nvPicPr>
        <p:blipFill>
          <a:blip r:embed="rId1">
            <a:extLst>
              <a:ext uri="{28A0092B-C50C-407E-A947-70E740481C1C}">
                <a14:useLocalDpi xmlns:a14="http://schemas.microsoft.com/office/drawing/2010/main" val="0"/>
              </a:ext>
            </a:extLst>
          </a:blip>
          <a:srcRect l="53484" t="17145" r="29491" b="29060"/>
          <a:stretch>
            <a:fillRect/>
          </a:stretch>
        </p:blipFill>
        <p:spPr bwMode="auto">
          <a:xfrm>
            <a:off x="4096543" y="3197221"/>
            <a:ext cx="2134439" cy="2681065"/>
          </a:xfrm>
          <a:prstGeom prst="rect">
            <a:avLst/>
          </a:prstGeom>
          <a:noFill/>
          <a:extLst>
            <a:ext uri="{909E8E84-426E-40DD-AFC4-6F175D3DCCD1}">
              <a14:hiddenFill xmlns:a14="http://schemas.microsoft.com/office/drawing/2010/main">
                <a:solidFill>
                  <a:srgbClr val="FFFFFF"/>
                </a:solidFill>
              </a14:hiddenFill>
            </a:ext>
          </a:extLst>
        </p:spPr>
      </p:pic>
      <p:pic>
        <p:nvPicPr>
          <p:cNvPr id="1025" name="图片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0982" y="3325854"/>
            <a:ext cx="2709637" cy="239351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6630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9.4.3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时序逻辑电路的分析与设计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441483" y="1920453"/>
            <a:ext cx="8262916" cy="3490595"/>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400" b="1" dirty="0"/>
              <a:t>【</a:t>
            </a:r>
            <a:r>
              <a:rPr kumimoji="1" lang="zh-CN" altLang="en-US" sz="2400" b="1" dirty="0"/>
              <a:t>例</a:t>
            </a:r>
            <a:r>
              <a:rPr kumimoji="1" lang="en-US" altLang="zh-CN" sz="2400" b="1" dirty="0"/>
              <a:t>6】</a:t>
            </a:r>
            <a:r>
              <a:rPr kumimoji="1" lang="zh-CN" altLang="en-US" sz="2400" b="1" dirty="0"/>
              <a:t>在</a:t>
            </a:r>
            <a:r>
              <a:rPr kumimoji="1" lang="en-US" altLang="zh-CN" sz="2400" b="1" dirty="0" err="1"/>
              <a:t>Logisim</a:t>
            </a:r>
            <a:r>
              <a:rPr kumimoji="1" lang="zh-CN" altLang="en-US" sz="2400" b="1" dirty="0"/>
              <a:t>中模拟</a:t>
            </a:r>
            <a:r>
              <a:rPr kumimoji="1" lang="en-US" altLang="zh-CN" sz="2400" b="1" dirty="0"/>
              <a:t>RS</a:t>
            </a:r>
            <a:r>
              <a:rPr kumimoji="1" lang="zh-CN" altLang="en-US" sz="2400" b="1" dirty="0"/>
              <a:t>触发器，观察</a:t>
            </a:r>
            <a:r>
              <a:rPr kumimoji="1" lang="en-US" altLang="zh-CN" sz="2400" b="1" dirty="0"/>
              <a:t>RS</a:t>
            </a:r>
            <a:r>
              <a:rPr kumimoji="1" lang="zh-CN" altLang="en-US" sz="2400" b="1" dirty="0"/>
              <a:t>触发器信号变化情况，并正确理解“空翻”的概念。</a:t>
            </a:r>
            <a:endParaRPr kumimoji="1" lang="zh-CN" altLang="en-US" sz="2400" b="1" dirty="0"/>
          </a:p>
          <a:p>
            <a:pPr lvl="0" eaLnBrk="1" hangingPunct="1">
              <a:lnSpc>
                <a:spcPct val="110000"/>
              </a:lnSpc>
              <a:spcBef>
                <a:spcPts val="290"/>
              </a:spcBef>
              <a:spcAft>
                <a:spcPct val="10000"/>
              </a:spcAft>
              <a:defRPr/>
            </a:pPr>
            <a:endParaRPr kumimoji="1" lang="zh-CN" altLang="en-US" sz="2400" b="1" dirty="0"/>
          </a:p>
          <a:p>
            <a:pPr lvl="0" eaLnBrk="1" hangingPunct="1">
              <a:lnSpc>
                <a:spcPct val="110000"/>
              </a:lnSpc>
              <a:spcBef>
                <a:spcPts val="290"/>
              </a:spcBef>
              <a:spcAft>
                <a:spcPct val="10000"/>
              </a:spcAft>
              <a:defRPr/>
            </a:pPr>
            <a:r>
              <a:rPr kumimoji="1" lang="zh-CN" altLang="en-US" sz="2400" b="1" dirty="0" smtClean="0"/>
              <a:t>       </a:t>
            </a:r>
            <a:r>
              <a:rPr kumimoji="1" lang="zh-CN" altLang="en-US" sz="2400" dirty="0" smtClean="0"/>
              <a:t>基础</a:t>
            </a:r>
            <a:r>
              <a:rPr kumimoji="1" lang="en-US" altLang="zh-CN" sz="2400" dirty="0"/>
              <a:t>RS</a:t>
            </a:r>
            <a:r>
              <a:rPr kumimoji="1" lang="zh-CN" altLang="en-US" sz="2400" dirty="0"/>
              <a:t>触发器由</a:t>
            </a:r>
            <a:r>
              <a:rPr kumimoji="1" lang="en-US" altLang="zh-CN" sz="2400" dirty="0"/>
              <a:t>2</a:t>
            </a:r>
            <a:r>
              <a:rPr kumimoji="1" lang="zh-CN" altLang="en-US" sz="2400" dirty="0"/>
              <a:t>个与非门交叉连接实现，为了理解空翻，可以在</a:t>
            </a:r>
            <a:r>
              <a:rPr kumimoji="1" lang="en-US" altLang="zh-CN" sz="2400" dirty="0"/>
              <a:t>RS</a:t>
            </a:r>
            <a:r>
              <a:rPr kumimoji="1" lang="zh-CN" altLang="en-US" sz="2400" dirty="0"/>
              <a:t>触发器前增加两个与门电路，构成新的</a:t>
            </a:r>
            <a:r>
              <a:rPr kumimoji="1" lang="en-US" altLang="zh-CN" sz="2400" dirty="0"/>
              <a:t>RS</a:t>
            </a:r>
            <a:r>
              <a:rPr kumimoji="1" lang="zh-CN" altLang="en-US" sz="2400" dirty="0"/>
              <a:t>触发器，设</a:t>
            </a:r>
            <a:r>
              <a:rPr kumimoji="1" lang="en-US" altLang="zh-CN" sz="2400" dirty="0"/>
              <a:t>CP</a:t>
            </a:r>
            <a:r>
              <a:rPr kumimoji="1" lang="zh-CN" altLang="en-US" sz="2400" dirty="0"/>
              <a:t>为时钟信号进行“空翻”验证。这样做的好处是不用调节时钟频率，将</a:t>
            </a:r>
            <a:r>
              <a:rPr kumimoji="1" lang="en-US" altLang="zh-CN" sz="2400" dirty="0"/>
              <a:t>CP</a:t>
            </a:r>
            <a:r>
              <a:rPr kumimoji="1" lang="zh-CN" altLang="en-US" sz="2400" dirty="0"/>
              <a:t>从</a:t>
            </a:r>
            <a:r>
              <a:rPr kumimoji="1" lang="en-US" altLang="zh-CN" sz="2400" dirty="0"/>
              <a:t>0→1→0</a:t>
            </a:r>
            <a:r>
              <a:rPr kumimoji="1" lang="zh-CN" altLang="en-US" sz="2400" dirty="0"/>
              <a:t>看作是一个完整的时钟周期，观察在</a:t>
            </a:r>
            <a:r>
              <a:rPr kumimoji="1" lang="en-US" altLang="zh-CN" sz="2400" dirty="0"/>
              <a:t>CP</a:t>
            </a:r>
            <a:r>
              <a:rPr kumimoji="1" lang="zh-CN" altLang="en-US" sz="2400" dirty="0"/>
              <a:t>为</a:t>
            </a:r>
            <a:r>
              <a:rPr kumimoji="1" lang="en-US" altLang="zh-CN" sz="2400" dirty="0"/>
              <a:t>1</a:t>
            </a:r>
            <a:r>
              <a:rPr kumimoji="1" lang="zh-CN" altLang="en-US" sz="2400" dirty="0"/>
              <a:t>期间，</a:t>
            </a:r>
            <a:r>
              <a:rPr kumimoji="1" lang="en-US" altLang="zh-CN" sz="2400" dirty="0"/>
              <a:t>R</a:t>
            </a:r>
            <a:r>
              <a:rPr kumimoji="1" lang="zh-CN" altLang="en-US" sz="2400" dirty="0"/>
              <a:t>端和</a:t>
            </a:r>
            <a:r>
              <a:rPr kumimoji="1" lang="en-US" altLang="zh-CN" sz="2400" dirty="0"/>
              <a:t>S</a:t>
            </a:r>
            <a:r>
              <a:rPr kumimoji="1" lang="zh-CN" altLang="en-US" sz="2400" dirty="0"/>
              <a:t>端信号的改变，对</a:t>
            </a:r>
            <a:r>
              <a:rPr kumimoji="1" lang="en-US" altLang="zh-CN" sz="2400" dirty="0"/>
              <a:t>Q</a:t>
            </a:r>
            <a:r>
              <a:rPr kumimoji="1" lang="zh-CN" altLang="en-US" sz="2400" dirty="0"/>
              <a:t>输出的影响</a:t>
            </a:r>
            <a:r>
              <a:rPr kumimoji="1" lang="zh-CN" altLang="en-US" sz="2400" dirty="0" smtClean="0"/>
              <a:t>。</a:t>
            </a:r>
            <a:endParaRPr kumimoji="1" lang="zh-CN" altLang="en-US" sz="2400" dirty="0"/>
          </a:p>
        </p:txBody>
      </p:sp>
    </p:spTree>
  </p:cSld>
  <p:clrMapOvr>
    <a:masterClrMapping/>
  </p:clrMapOvr>
  <p:transition spd="med">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09613" y="2062668"/>
            <a:ext cx="8059783" cy="1631216"/>
          </a:xfrm>
          <a:prstGeom prst="rect">
            <a:avLst/>
          </a:prstGeom>
        </p:spPr>
        <p:txBody>
          <a:bodyPr wrap="square">
            <a:spAutoFit/>
          </a:bodyPr>
          <a:lstStyle/>
          <a:p>
            <a:r>
              <a:rPr lang="zh-CN" altLang="en-US" sz="1800" dirty="0"/>
              <a:t>从</a:t>
            </a:r>
            <a:r>
              <a:rPr lang="zh-CN" altLang="en-US" sz="1800" dirty="0" smtClean="0"/>
              <a:t>图可以</a:t>
            </a:r>
            <a:r>
              <a:rPr lang="zh-CN" altLang="en-US" sz="1800" dirty="0"/>
              <a:t>看出，当</a:t>
            </a:r>
            <a:r>
              <a:rPr lang="en-US" altLang="zh-CN" sz="1800" dirty="0"/>
              <a:t>RS</a:t>
            </a:r>
            <a:r>
              <a:rPr lang="zh-CN" altLang="en-US" sz="1800" dirty="0"/>
              <a:t>端都是</a:t>
            </a:r>
            <a:r>
              <a:rPr lang="en-US" altLang="zh-CN" sz="1800" dirty="0"/>
              <a:t>1</a:t>
            </a:r>
            <a:r>
              <a:rPr lang="zh-CN" altLang="en-US" sz="1800" dirty="0"/>
              <a:t>的时候，两个输出端</a:t>
            </a:r>
            <a:r>
              <a:rPr lang="en-US" altLang="zh-CN" sz="1800" dirty="0"/>
              <a:t>Q</a:t>
            </a:r>
            <a:r>
              <a:rPr lang="zh-CN" altLang="en-US" sz="1800" dirty="0"/>
              <a:t>和 输出值不定。按照时钟信号原则，当</a:t>
            </a:r>
            <a:r>
              <a:rPr lang="en-US" altLang="zh-CN" sz="1800" dirty="0"/>
              <a:t>CP=0</a:t>
            </a:r>
            <a:r>
              <a:rPr lang="zh-CN" altLang="en-US" sz="1800" dirty="0"/>
              <a:t>时，</a:t>
            </a:r>
            <a:r>
              <a:rPr lang="en-US" altLang="zh-CN" sz="1800" dirty="0"/>
              <a:t>RS</a:t>
            </a:r>
            <a:r>
              <a:rPr lang="zh-CN" altLang="en-US" sz="1800" dirty="0"/>
              <a:t>端信号变化不影响</a:t>
            </a:r>
            <a:r>
              <a:rPr lang="en-US" altLang="zh-CN" sz="1800" dirty="0"/>
              <a:t>Q</a:t>
            </a:r>
            <a:r>
              <a:rPr lang="zh-CN" altLang="en-US" sz="1800" dirty="0"/>
              <a:t>端输出；当</a:t>
            </a:r>
            <a:r>
              <a:rPr lang="en-US" altLang="zh-CN" sz="1800" dirty="0"/>
              <a:t>CP=1</a:t>
            </a:r>
            <a:r>
              <a:rPr lang="zh-CN" altLang="en-US" sz="1800" dirty="0"/>
              <a:t>时，</a:t>
            </a:r>
            <a:r>
              <a:rPr lang="en-US" altLang="zh-CN" sz="1800" dirty="0"/>
              <a:t>RS</a:t>
            </a:r>
            <a:r>
              <a:rPr lang="zh-CN" altLang="en-US" sz="1800" dirty="0"/>
              <a:t>端当前信号会直接改变</a:t>
            </a:r>
            <a:r>
              <a:rPr lang="en-US" altLang="zh-CN" sz="1800" dirty="0"/>
              <a:t>Q</a:t>
            </a:r>
            <a:r>
              <a:rPr lang="zh-CN" altLang="en-US" sz="1800" dirty="0"/>
              <a:t>端的输出。</a:t>
            </a:r>
            <a:endParaRPr lang="zh-CN" altLang="en-US" sz="1800" dirty="0"/>
          </a:p>
          <a:p>
            <a:endParaRPr lang="zh-CN" altLang="en-US" sz="1800" dirty="0"/>
          </a:p>
          <a:p>
            <a:r>
              <a:rPr lang="zh-CN" altLang="en-US" dirty="0"/>
              <a:t>         </a:t>
            </a:r>
            <a:endParaRPr lang="zh-CN" altLang="en-US" dirty="0"/>
          </a:p>
        </p:txBody>
      </p:sp>
      <p:sp>
        <p:nvSpPr>
          <p:cNvPr id="1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11" name="Text Box 4"/>
          <p:cNvSpPr txBox="1">
            <a:spLocks noChangeArrowheads="1"/>
          </p:cNvSpPr>
          <p:nvPr/>
        </p:nvSpPr>
        <p:spPr bwMode="auto">
          <a:xfrm>
            <a:off x="709613" y="1214438"/>
            <a:ext cx="7669213" cy="56630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9.4.3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时序逻辑电路的分析与设计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pic>
        <p:nvPicPr>
          <p:cNvPr id="9230" name="图片 13394" descr="RS触发器"/>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01870" y="3281228"/>
            <a:ext cx="3884428" cy="2246479"/>
          </a:xfrm>
          <a:prstGeom prst="rect">
            <a:avLst/>
          </a:prstGeom>
          <a:noFill/>
          <a:extLst>
            <a:ext uri="{909E8E84-426E-40DD-AFC4-6F175D3DCCD1}">
              <a14:hiddenFill xmlns:a14="http://schemas.microsoft.com/office/drawing/2010/main">
                <a:solidFill>
                  <a:srgbClr val="FFFFFF"/>
                </a:solidFill>
              </a14:hiddenFill>
            </a:ext>
          </a:extLst>
        </p:spPr>
      </p:pic>
      <p:pic>
        <p:nvPicPr>
          <p:cNvPr id="9229" name="图片 13395" descr="时钟控制"/>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059" y="3289392"/>
            <a:ext cx="3782581" cy="2238316"/>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5"/>
          <p:cNvSpPr>
            <a:spLocks noChangeArrowheads="1"/>
          </p:cNvSpPr>
          <p:nvPr/>
        </p:nvSpPr>
        <p:spPr bwMode="auto">
          <a:xfrm>
            <a:off x="457200" y="211618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6630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9.4.3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时序逻辑电路的分析与设计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496388" y="1348373"/>
            <a:ext cx="8262916" cy="980440"/>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endParaRPr kumimoji="1" lang="zh-CN" altLang="en-US" sz="2400" b="1" dirty="0"/>
          </a:p>
          <a:p>
            <a:pPr lvl="0" eaLnBrk="1" hangingPunct="1">
              <a:lnSpc>
                <a:spcPct val="110000"/>
              </a:lnSpc>
              <a:spcBef>
                <a:spcPts val="290"/>
              </a:spcBef>
              <a:spcAft>
                <a:spcPct val="10000"/>
              </a:spcAft>
              <a:defRPr/>
            </a:pPr>
            <a:r>
              <a:rPr kumimoji="1" lang="en-US" altLang="zh-CN" sz="2400" b="1" dirty="0"/>
              <a:t>【</a:t>
            </a:r>
            <a:r>
              <a:rPr kumimoji="1" lang="zh-CN" altLang="en-US" sz="2400" b="1" dirty="0"/>
              <a:t>例</a:t>
            </a:r>
            <a:r>
              <a:rPr kumimoji="1" lang="en-US" altLang="zh-CN" sz="2400" b="1" dirty="0" smtClean="0"/>
              <a:t>7】</a:t>
            </a:r>
            <a:r>
              <a:rPr kumimoji="1" lang="zh-CN" altLang="en-US" sz="2400" b="1" dirty="0"/>
              <a:t>观察</a:t>
            </a:r>
            <a:r>
              <a:rPr kumimoji="1" lang="zh-CN" altLang="en-US" sz="2400" b="1" dirty="0" smtClean="0"/>
              <a:t>图，</a:t>
            </a:r>
            <a:r>
              <a:rPr kumimoji="1" lang="zh-CN" altLang="en-US" sz="2400" b="1" dirty="0"/>
              <a:t>分析该电路的工作</a:t>
            </a:r>
            <a:r>
              <a:rPr kumimoji="1" lang="zh-CN" altLang="en-US" sz="2400" b="1" dirty="0" smtClean="0"/>
              <a:t>原理。</a:t>
            </a:r>
            <a:r>
              <a:rPr kumimoji="1" lang="zh-CN" altLang="en-US" sz="2400" b="1" dirty="0" smtClean="0"/>
              <a:t>       </a:t>
            </a:r>
            <a:endParaRPr kumimoji="1" lang="zh-CN" altLang="en-US" sz="2400" b="1" dirty="0"/>
          </a:p>
        </p:txBody>
      </p:sp>
      <p:sp>
        <p:nvSpPr>
          <p:cNvPr id="2" name="Rectangle 2"/>
          <p:cNvSpPr>
            <a:spLocks noChangeArrowheads="1"/>
          </p:cNvSpPr>
          <p:nvPr/>
        </p:nvSpPr>
        <p:spPr bwMode="auto">
          <a:xfrm>
            <a:off x="496388" y="19198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Grp="1" noChangeAspect="1"/>
          </p:cNvGraphicFramePr>
          <p:nvPr/>
        </p:nvGraphicFramePr>
        <p:xfrm>
          <a:off x="2268038" y="2295492"/>
          <a:ext cx="5170038" cy="1740931"/>
        </p:xfrm>
        <a:graphic>
          <a:graphicData uri="http://schemas.openxmlformats.org/presentationml/2006/ole">
            <mc:AlternateContent xmlns:mc="http://schemas.openxmlformats.org/markup-compatibility/2006">
              <mc:Choice xmlns:v="urn:schemas-microsoft-com:vml" Requires="v">
                <p:oleObj spid="_x0000_s2057" name="" r:id="rId1" imgW="3268980" imgH="1082040" progId="Visio.Drawing.4">
                  <p:embed/>
                </p:oleObj>
              </mc:Choice>
              <mc:Fallback>
                <p:oleObj name="" r:id="rId1" imgW="3268980" imgH="1082040" progId="Visio.Drawing.4">
                  <p:embed/>
                  <p:pic>
                    <p:nvPicPr>
                      <p:cNvPr id="0" name="Object 1"/>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038" y="2295492"/>
                        <a:ext cx="5170038" cy="1740931"/>
                      </a:xfrm>
                      <a:prstGeom prst="rect">
                        <a:avLst/>
                      </a:prstGeom>
                      <a:noFill/>
                    </p:spPr>
                  </p:pic>
                </p:oleObj>
              </mc:Fallback>
            </mc:AlternateContent>
          </a:graphicData>
        </a:graphic>
      </p:graphicFrame>
      <p:sp>
        <p:nvSpPr>
          <p:cNvPr id="5" name="Rectangle 4"/>
          <p:cNvSpPr>
            <a:spLocks noChangeArrowheads="1"/>
          </p:cNvSpPr>
          <p:nvPr/>
        </p:nvSpPr>
        <p:spPr bwMode="auto">
          <a:xfrm>
            <a:off x="320471" y="4206412"/>
            <a:ext cx="861474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8600">
              <a:tabLst>
                <a:tab pos="2628900" algn="ctr"/>
              </a:tabLst>
              <a:defRPr>
                <a:solidFill>
                  <a:schemeClr val="tx1"/>
                </a:solidFill>
                <a:latin typeface="Arial" panose="020B0604020202020204" pitchFamily="34" charset="0"/>
              </a:defRPr>
            </a:lvl1pPr>
            <a:lvl2pPr>
              <a:tabLst>
                <a:tab pos="2628900" algn="ctr"/>
              </a:tabLst>
              <a:defRPr>
                <a:solidFill>
                  <a:schemeClr val="tx1"/>
                </a:solidFill>
                <a:latin typeface="Arial" panose="020B0604020202020204" pitchFamily="34" charset="0"/>
              </a:defRPr>
            </a:lvl2pPr>
            <a:lvl3pPr>
              <a:tabLst>
                <a:tab pos="2628900" algn="ctr"/>
              </a:tabLst>
              <a:defRPr>
                <a:solidFill>
                  <a:schemeClr val="tx1"/>
                </a:solidFill>
                <a:latin typeface="Arial" panose="020B0604020202020204" pitchFamily="34" charset="0"/>
              </a:defRPr>
            </a:lvl3pPr>
            <a:lvl4pPr>
              <a:tabLst>
                <a:tab pos="2628900" algn="ctr"/>
              </a:tabLst>
              <a:defRPr>
                <a:solidFill>
                  <a:schemeClr val="tx1"/>
                </a:solidFill>
                <a:latin typeface="Arial" panose="020B0604020202020204" pitchFamily="34" charset="0"/>
              </a:defRPr>
            </a:lvl4pPr>
            <a:lvl5pPr>
              <a:tabLst>
                <a:tab pos="2628900" algn="ctr"/>
              </a:tabLst>
              <a:defRPr>
                <a:solidFill>
                  <a:schemeClr val="tx1"/>
                </a:solidFill>
                <a:latin typeface="Arial" panose="020B0604020202020204" pitchFamily="34" charset="0"/>
              </a:defRPr>
            </a:lvl5pPr>
            <a:lvl6pPr>
              <a:tabLst>
                <a:tab pos="2628900" algn="ctr"/>
              </a:tabLst>
              <a:defRPr>
                <a:solidFill>
                  <a:schemeClr val="tx1"/>
                </a:solidFill>
                <a:latin typeface="Arial" panose="020B0604020202020204" pitchFamily="34" charset="0"/>
              </a:defRPr>
            </a:lvl6pPr>
            <a:lvl7pPr>
              <a:tabLst>
                <a:tab pos="2628900" algn="ctr"/>
              </a:tabLst>
              <a:defRPr>
                <a:solidFill>
                  <a:schemeClr val="tx1"/>
                </a:solidFill>
                <a:latin typeface="Arial" panose="020B0604020202020204" pitchFamily="34" charset="0"/>
              </a:defRPr>
            </a:lvl7pPr>
            <a:lvl8pPr>
              <a:tabLst>
                <a:tab pos="2628900" algn="ctr"/>
              </a:tabLst>
              <a:defRPr>
                <a:solidFill>
                  <a:schemeClr val="tx1"/>
                </a:solidFill>
                <a:latin typeface="Arial" panose="020B0604020202020204" pitchFamily="34" charset="0"/>
              </a:defRPr>
            </a:lvl8pPr>
            <a:lvl9pPr>
              <a:tabLst>
                <a:tab pos="2628900" algn="ctr"/>
              </a:tabLs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zh-CN" altLang="zh-CN"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解：该电路由</a:t>
            </a:r>
            <a:r>
              <a:rPr kumimoji="0" lang="en-US" altLang="zh-CN"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3</a:t>
            </a:r>
            <a:r>
              <a:rPr kumimoji="0" lang="zh-CN" altLang="en-US"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个</a:t>
            </a:r>
            <a:r>
              <a:rPr kumimoji="0" lang="en-US" altLang="zh-CN"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JK</a:t>
            </a:r>
            <a:r>
              <a:rPr kumimoji="0" lang="zh-CN" altLang="en-US"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触发器和两个与门构成，将电路绘制到</a:t>
            </a:r>
            <a:r>
              <a:rPr kumimoji="0" lang="en-US" altLang="zh-CN"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Logisim</a:t>
            </a:r>
            <a:r>
              <a:rPr kumimoji="0" lang="zh-CN" altLang="en-US"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中，并接入必要的信号，见图</a:t>
            </a:r>
            <a:r>
              <a:rPr kumimoji="0" lang="en-US" altLang="zh-CN"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9.41</a:t>
            </a:r>
            <a:r>
              <a:rPr kumimoji="0" lang="zh-CN" altLang="en-US"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。在前文电路图中的元器件的引脚悬空表示高电平，</a:t>
            </a:r>
            <a:r>
              <a:rPr kumimoji="0" lang="en-US" altLang="zh-CN"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Logisim</a:t>
            </a:r>
            <a:r>
              <a:rPr kumimoji="0" lang="zh-CN" altLang="en-US"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中没有这样的默认值，需要增加一个外接电源表示接入“</a:t>
            </a:r>
            <a:r>
              <a:rPr kumimoji="0" lang="en-US" altLang="zh-CN"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1”</a:t>
            </a:r>
            <a:r>
              <a:rPr kumimoji="0" lang="zh-CN" altLang="en-US" sz="16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a:t>
            </a:r>
            <a:endParaRPr kumimoji="0" lang="zh-CN" altLang="en-US" sz="1600" b="0" i="0" u="none" strike="noStrike" cap="none" normalizeH="0" baseline="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endParaRPr kumimoji="0" lang="zh-CN" altLang="en-US" sz="1600" b="0" i="0" u="none" strike="noStrike" cap="none" normalizeH="0" baseline="0" smtClean="0">
              <a:ln>
                <a:noFill/>
              </a:ln>
              <a:solidFill>
                <a:schemeClr val="tx1"/>
              </a:solidFill>
              <a:effectLst/>
            </a:endParaRPr>
          </a:p>
        </p:txBody>
      </p:sp>
      <p:pic>
        <p:nvPicPr>
          <p:cNvPr id="2051" name="图片 4"/>
          <p:cNvPicPr>
            <a:picLocks noChangeAspect="1" noChangeArrowheads="1"/>
          </p:cNvPicPr>
          <p:nvPr/>
        </p:nvPicPr>
        <p:blipFill>
          <a:blip r:embed="rId3">
            <a:extLst>
              <a:ext uri="{28A0092B-C50C-407E-A947-70E740481C1C}">
                <a14:useLocalDpi xmlns:a14="http://schemas.microsoft.com/office/drawing/2010/main" val="0"/>
              </a:ext>
            </a:extLst>
          </a:blip>
          <a:srcRect l="29153" t="15366" r="7281" b="47256"/>
          <a:stretch>
            <a:fillRect/>
          </a:stretch>
        </p:blipFill>
        <p:spPr bwMode="auto">
          <a:xfrm>
            <a:off x="3875726" y="4836040"/>
            <a:ext cx="4798314" cy="159088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4437232" y="6322962"/>
            <a:ext cx="1569660" cy="276999"/>
          </a:xfrm>
          <a:prstGeom prst="rect">
            <a:avLst/>
          </a:prstGeom>
        </p:spPr>
        <p:txBody>
          <a:bodyPr wrap="none">
            <a:spAutoFit/>
          </a:bodyPr>
          <a:lstStyle/>
          <a:p>
            <a:r>
              <a:rPr lang="zh-CN" altLang="zh-CN" sz="1200" b="1" kern="100" dirty="0">
                <a:cs typeface="Times New Roman" panose="02020603050405020304" pitchFamily="18" charset="0"/>
              </a:rPr>
              <a:t>时序逻辑电路仿真图</a:t>
            </a:r>
            <a:endParaRPr lang="zh-CN" altLang="en-US" sz="1200" dirty="0"/>
          </a:p>
        </p:txBody>
      </p:sp>
      <p:sp>
        <p:nvSpPr>
          <p:cNvPr id="8" name="矩形 7"/>
          <p:cNvSpPr/>
          <p:nvPr/>
        </p:nvSpPr>
        <p:spPr>
          <a:xfrm>
            <a:off x="4029562" y="3990613"/>
            <a:ext cx="1313180" cy="261610"/>
          </a:xfrm>
          <a:prstGeom prst="rect">
            <a:avLst/>
          </a:prstGeom>
        </p:spPr>
        <p:txBody>
          <a:bodyPr wrap="none">
            <a:spAutoFit/>
          </a:bodyPr>
          <a:lstStyle/>
          <a:p>
            <a:r>
              <a:rPr lang="zh-CN" altLang="zh-CN" sz="1100" b="1" kern="100" dirty="0">
                <a:cs typeface="Times New Roman" panose="02020603050405020304" pitchFamily="18" charset="0"/>
              </a:rPr>
              <a:t>时序逻辑电路分析</a:t>
            </a:r>
            <a:endParaRPr lang="zh-CN" altLang="en-US" sz="1100" dirty="0"/>
          </a:p>
        </p:txBody>
      </p:sp>
    </p:spTree>
  </p:cSld>
  <p:clrMapOvr>
    <a:masterClrMapping/>
  </p:clrMapOvr>
  <p:transition spd="med">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6630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9.4.3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时序逻辑电路的分析与设计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8262916" cy="1038860"/>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400" b="1" dirty="0"/>
              <a:t>【</a:t>
            </a:r>
            <a:r>
              <a:rPr kumimoji="1" lang="zh-CN" altLang="en-US" sz="2400" b="1" dirty="0"/>
              <a:t>例</a:t>
            </a:r>
            <a:r>
              <a:rPr kumimoji="1" lang="en-US" altLang="zh-CN" sz="2400" b="1" dirty="0" smtClean="0"/>
              <a:t>8】</a:t>
            </a:r>
            <a:r>
              <a:rPr lang="zh-CN" altLang="zh-CN" dirty="0"/>
              <a:t>用</a:t>
            </a:r>
            <a:r>
              <a:rPr lang="en-US" altLang="zh-CN" dirty="0"/>
              <a:t>JK</a:t>
            </a:r>
            <a:r>
              <a:rPr lang="zh-CN" altLang="zh-CN" dirty="0"/>
              <a:t>触发器设计一个十进制循环计数器，进位输出为</a:t>
            </a:r>
            <a:r>
              <a:rPr lang="en-US" altLang="zh-CN" dirty="0"/>
              <a:t>Z</a:t>
            </a:r>
            <a:r>
              <a:rPr lang="zh-CN" altLang="zh-CN" dirty="0" smtClean="0"/>
              <a:t>。</a:t>
            </a:r>
            <a:endParaRPr lang="en-US" altLang="zh-CN" dirty="0" smtClean="0"/>
          </a:p>
        </p:txBody>
      </p:sp>
      <p:sp>
        <p:nvSpPr>
          <p:cNvPr id="2" name="矩形 1"/>
          <p:cNvSpPr/>
          <p:nvPr/>
        </p:nvSpPr>
        <p:spPr>
          <a:xfrm>
            <a:off x="737235" y="3119755"/>
            <a:ext cx="4035425" cy="2711450"/>
          </a:xfrm>
          <a:prstGeom prst="rect">
            <a:avLst/>
          </a:prstGeom>
        </p:spPr>
        <p:txBody>
          <a:bodyPr>
            <a:noAutofit/>
          </a:bodyPr>
          <a:lstStyle/>
          <a:p>
            <a:pPr indent="266700">
              <a:spcAft>
                <a:spcPts val="0"/>
              </a:spcAft>
              <a:tabLst>
                <a:tab pos="2628900" algn="ctr"/>
              </a:tabLst>
            </a:pPr>
            <a:r>
              <a:rPr lang="zh-CN" altLang="zh-CN" sz="1800" kern="100" dirty="0"/>
              <a:t>解：结合前文知识，列出计数器的状态转移表，并进行化简。</a:t>
            </a:r>
            <a:endParaRPr lang="zh-CN" altLang="zh-CN" sz="1800" kern="100" dirty="0"/>
          </a:p>
          <a:p>
            <a:pPr indent="266700">
              <a:spcAft>
                <a:spcPts val="0"/>
              </a:spcAft>
              <a:tabLst>
                <a:tab pos="2628900" algn="ctr"/>
              </a:tabLst>
            </a:pPr>
            <a:r>
              <a:rPr lang="zh-CN" altLang="zh-CN" sz="1800" kern="100" dirty="0"/>
              <a:t>列次态方程组求出</a:t>
            </a:r>
            <a:r>
              <a:rPr lang="en-US" altLang="zh-CN" sz="1800" kern="100" dirty="0"/>
              <a:t>JK</a:t>
            </a:r>
            <a:r>
              <a:rPr lang="zh-CN" altLang="zh-CN" sz="1800" kern="100" dirty="0"/>
              <a:t>端的激励函数得出</a:t>
            </a:r>
            <a:r>
              <a:rPr lang="en-US" altLang="zh-CN" sz="1800" kern="100" dirty="0"/>
              <a:t>JK</a:t>
            </a:r>
            <a:r>
              <a:rPr lang="zh-CN" altLang="zh-CN" sz="1800" kern="100" dirty="0"/>
              <a:t>的表达式以及输出</a:t>
            </a:r>
            <a:r>
              <a:rPr lang="en-US" altLang="zh-CN" sz="1800" kern="100" dirty="0"/>
              <a:t>Z</a:t>
            </a:r>
            <a:r>
              <a:rPr lang="zh-CN" altLang="zh-CN" sz="1800" kern="100" dirty="0"/>
              <a:t>的表达式。</a:t>
            </a:r>
            <a:endParaRPr lang="zh-CN" altLang="zh-CN" sz="1800" kern="100" dirty="0"/>
          </a:p>
          <a:p>
            <a:pPr indent="266700">
              <a:spcAft>
                <a:spcPts val="0"/>
              </a:spcAft>
              <a:tabLst>
                <a:tab pos="2628900" algn="ctr"/>
              </a:tabLst>
            </a:pPr>
            <a:r>
              <a:rPr lang="zh-CN" altLang="zh-CN" sz="1800" kern="100" dirty="0"/>
              <a:t>选取</a:t>
            </a:r>
            <a:r>
              <a:rPr lang="en-US" altLang="zh-CN" sz="1800" kern="100" dirty="0"/>
              <a:t>4</a:t>
            </a:r>
            <a:r>
              <a:rPr lang="zh-CN" altLang="zh-CN" sz="1800" kern="100" dirty="0"/>
              <a:t>个</a:t>
            </a:r>
            <a:r>
              <a:rPr lang="en-US" altLang="zh-CN" sz="1800" kern="100" dirty="0"/>
              <a:t>JK</a:t>
            </a:r>
            <a:r>
              <a:rPr lang="zh-CN" altLang="zh-CN" sz="1800" kern="100" dirty="0"/>
              <a:t>触发器，按照逻辑函数要求进行连线，并给出合并后的状态</a:t>
            </a:r>
            <a:r>
              <a:rPr lang="en-US" altLang="zh-CN" sz="1800" kern="100" dirty="0"/>
              <a:t>Q</a:t>
            </a:r>
            <a:r>
              <a:rPr lang="en-US" altLang="zh-CN" sz="1800" kern="100" baseline="-25000" dirty="0"/>
              <a:t>0</a:t>
            </a:r>
            <a:r>
              <a:rPr lang="en-US" altLang="zh-CN" sz="1800" kern="100" dirty="0"/>
              <a:t>Q</a:t>
            </a:r>
            <a:r>
              <a:rPr lang="en-US" altLang="zh-CN" sz="1800" kern="100" baseline="-25000" dirty="0"/>
              <a:t>1</a:t>
            </a:r>
            <a:r>
              <a:rPr lang="en-US" altLang="zh-CN" sz="1800" kern="100" dirty="0"/>
              <a:t>Q</a:t>
            </a:r>
            <a:r>
              <a:rPr lang="en-US" altLang="zh-CN" sz="1800" kern="100" baseline="-25000" dirty="0"/>
              <a:t>2</a:t>
            </a:r>
            <a:r>
              <a:rPr lang="en-US" altLang="zh-CN" sz="1800" kern="100" dirty="0"/>
              <a:t>Q</a:t>
            </a:r>
            <a:r>
              <a:rPr lang="en-US" altLang="zh-CN" sz="1800" kern="100" baseline="-25000" dirty="0"/>
              <a:t>3</a:t>
            </a:r>
            <a:r>
              <a:rPr lang="zh-CN" altLang="zh-CN" sz="1800" kern="100" dirty="0"/>
              <a:t>。改“指针”工具为“戳工具”点击模拟</a:t>
            </a:r>
            <a:r>
              <a:rPr lang="en-US" altLang="zh-CN" sz="1800" kern="100" dirty="0"/>
              <a:t>CP</a:t>
            </a:r>
            <a:r>
              <a:rPr lang="zh-CN" altLang="zh-CN" sz="1800" kern="100" dirty="0"/>
              <a:t>到来时状态的改变情况</a:t>
            </a:r>
            <a:r>
              <a:rPr lang="zh-CN" altLang="zh-CN" sz="1800" kern="100" dirty="0" smtClean="0"/>
              <a:t>。</a:t>
            </a:r>
            <a:endParaRPr lang="zh-CN" altLang="zh-CN" sz="1800" kern="100" dirty="0"/>
          </a:p>
        </p:txBody>
      </p:sp>
      <p:pic>
        <p:nvPicPr>
          <p:cNvPr id="6" name="图片 5"/>
          <p:cNvPicPr/>
          <p:nvPr/>
        </p:nvPicPr>
        <p:blipFill>
          <a:blip r:embed="rId1" cstate="print"/>
          <a:srcRect l="29057" t="17295" r="6342" b="22332"/>
          <a:stretch>
            <a:fillRect/>
          </a:stretch>
        </p:blipFill>
        <p:spPr>
          <a:xfrm>
            <a:off x="4986018" y="3047591"/>
            <a:ext cx="3690916" cy="2783795"/>
          </a:xfrm>
          <a:prstGeom prst="rect">
            <a:avLst/>
          </a:prstGeom>
          <a:noFill/>
          <a:ln>
            <a:noFill/>
          </a:ln>
        </p:spPr>
      </p:pic>
    </p:spTree>
  </p:cSld>
  <p:clrMapOvr>
    <a:masterClrMapping/>
  </p:clrMapOvr>
  <p:transition spd="med">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9</a:t>
            </a: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.4  </a:t>
            </a:r>
            <a:r>
              <a:rPr kumimoji="1" lang="en-US" altLang="zh-CN" sz="3200" b="1" i="0" u="none" strike="noStrike" kern="1200" cap="none" spc="0" normalizeH="0" baseline="0" noProof="0" dirty="0" err="1"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Logisim</a:t>
            </a:r>
            <a:r>
              <a:rPr kumimoji="1" lang="zh-CN" altLang="en-US"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电路设计</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6630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9.4.3 </a:t>
            </a:r>
            <a:r>
              <a:rPr kumimoji="1" lang="zh-CN" altLang="en-US"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时序逻辑电路的分析与设计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8262916" cy="1604645"/>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endParaRPr kumimoji="1" lang="zh-CN" altLang="en-US" sz="2400" b="1" dirty="0"/>
          </a:p>
          <a:p>
            <a:pPr eaLnBrk="1" hangingPunct="1">
              <a:lnSpc>
                <a:spcPct val="110000"/>
              </a:lnSpc>
              <a:spcBef>
                <a:spcPts val="290"/>
              </a:spcBef>
              <a:spcAft>
                <a:spcPct val="10000"/>
              </a:spcAft>
              <a:defRPr/>
            </a:pPr>
            <a:r>
              <a:rPr kumimoji="1" lang="en-US" altLang="zh-CN" sz="2400" b="1" dirty="0"/>
              <a:t>【</a:t>
            </a:r>
            <a:r>
              <a:rPr kumimoji="1" lang="zh-CN" altLang="en-US" sz="2400" b="1" dirty="0"/>
              <a:t>例</a:t>
            </a:r>
            <a:r>
              <a:rPr kumimoji="1" lang="en-US" altLang="zh-CN" sz="2400" b="1" dirty="0" smtClean="0"/>
              <a:t>9】</a:t>
            </a:r>
            <a:r>
              <a:rPr lang="zh-CN" altLang="zh-CN" dirty="0">
                <a:cs typeface="Times New Roman" panose="02020603050405020304" pitchFamily="18" charset="0"/>
              </a:rPr>
              <a:t>观察</a:t>
            </a:r>
            <a:r>
              <a:rPr lang="zh-CN" altLang="zh-CN" dirty="0" smtClean="0">
                <a:cs typeface="Times New Roman" panose="02020603050405020304" pitchFamily="18" charset="0"/>
              </a:rPr>
              <a:t>图</a:t>
            </a:r>
            <a:r>
              <a:rPr lang="zh-CN" altLang="en-US" dirty="0" smtClean="0">
                <a:cs typeface="Times New Roman" panose="02020603050405020304" pitchFamily="18" charset="0"/>
              </a:rPr>
              <a:t>分析</a:t>
            </a:r>
            <a:r>
              <a:rPr lang="zh-CN" altLang="en-US" dirty="0">
                <a:cs typeface="Times New Roman" panose="02020603050405020304" pitchFamily="18" charset="0"/>
              </a:rPr>
              <a:t>该异步时序逻辑电路的功能。</a:t>
            </a:r>
            <a:endParaRPr lang="zh-CN" altLang="en-US" sz="5400" dirty="0">
              <a:latin typeface="Arial" panose="020B0604020202020204" pitchFamily="34" charset="0"/>
            </a:endParaRPr>
          </a:p>
          <a:p>
            <a:pPr lvl="0" eaLnBrk="1" hangingPunct="1">
              <a:lnSpc>
                <a:spcPct val="110000"/>
              </a:lnSpc>
              <a:spcBef>
                <a:spcPts val="290"/>
              </a:spcBef>
              <a:spcAft>
                <a:spcPct val="10000"/>
              </a:spcAft>
              <a:defRPr/>
            </a:pPr>
            <a:endParaRPr lang="en-US" altLang="zh-CN" dirty="0" smtClean="0"/>
          </a:p>
        </p:txBody>
      </p:sp>
      <p:graphicFrame>
        <p:nvGraphicFramePr>
          <p:cNvPr id="5" name="对象 4"/>
          <p:cNvGraphicFramePr>
            <a:graphicFrameLocks noGrp="1" noChangeAspect="1"/>
          </p:cNvGraphicFramePr>
          <p:nvPr/>
        </p:nvGraphicFramePr>
        <p:xfrm>
          <a:off x="2164531" y="2543776"/>
          <a:ext cx="5175259" cy="1897595"/>
        </p:xfrm>
        <a:graphic>
          <a:graphicData uri="http://schemas.openxmlformats.org/presentationml/2006/ole">
            <mc:AlternateContent xmlns:mc="http://schemas.openxmlformats.org/markup-compatibility/2006">
              <mc:Choice xmlns:v="urn:schemas-microsoft-com:vml" Requires="v">
                <p:oleObj spid="_x0000_s3077" name="" r:id="rId1" imgW="2781300" imgH="1021080" progId="Visio.Drawing.4">
                  <p:embed/>
                </p:oleObj>
              </mc:Choice>
              <mc:Fallback>
                <p:oleObj name="" r:id="rId1" imgW="2781300" imgH="1021080" progId="Visio.Drawing.4">
                  <p:embed/>
                  <p:pic>
                    <p:nvPicPr>
                      <p:cNvPr id="0" name="Object 1"/>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4531" y="2543776"/>
                        <a:ext cx="5175259" cy="1897595"/>
                      </a:xfrm>
                      <a:prstGeom prst="rect">
                        <a:avLst/>
                      </a:prstGeom>
                      <a:noFill/>
                    </p:spPr>
                  </p:pic>
                </p:oleObj>
              </mc:Fallback>
            </mc:AlternateContent>
          </a:graphicData>
        </a:graphic>
      </p:graphicFrame>
      <p:pic>
        <p:nvPicPr>
          <p:cNvPr id="9" name="图片 8"/>
          <p:cNvPicPr/>
          <p:nvPr/>
        </p:nvPicPr>
        <p:blipFill>
          <a:blip r:embed="rId3" cstate="print"/>
          <a:srcRect l="28985" t="15152" r="21932" b="48757"/>
          <a:stretch>
            <a:fillRect/>
          </a:stretch>
        </p:blipFill>
        <p:spPr>
          <a:xfrm>
            <a:off x="4752160" y="4566376"/>
            <a:ext cx="3947703" cy="1925864"/>
          </a:xfrm>
          <a:prstGeom prst="rect">
            <a:avLst/>
          </a:prstGeom>
          <a:noFill/>
          <a:ln>
            <a:noFill/>
          </a:ln>
        </p:spPr>
      </p:pic>
      <p:sp>
        <p:nvSpPr>
          <p:cNvPr id="7" name="矩形 6"/>
          <p:cNvSpPr/>
          <p:nvPr/>
        </p:nvSpPr>
        <p:spPr>
          <a:xfrm>
            <a:off x="180160" y="4713700"/>
            <a:ext cx="4572000" cy="1631216"/>
          </a:xfrm>
          <a:prstGeom prst="rect">
            <a:avLst/>
          </a:prstGeom>
        </p:spPr>
        <p:txBody>
          <a:bodyPr>
            <a:spAutoFit/>
          </a:bodyPr>
          <a:lstStyle/>
          <a:p>
            <a:pPr indent="266700">
              <a:spcAft>
                <a:spcPts val="0"/>
              </a:spcAft>
              <a:tabLst>
                <a:tab pos="2628900" algn="ctr"/>
              </a:tabLst>
            </a:pPr>
            <a:r>
              <a:rPr lang="zh-CN" altLang="zh-CN" sz="2000" kern="100" dirty="0"/>
              <a:t>解：该电路由</a:t>
            </a:r>
            <a:r>
              <a:rPr lang="en-US" altLang="zh-CN" sz="2000" kern="100" dirty="0"/>
              <a:t>3</a:t>
            </a:r>
            <a:r>
              <a:rPr lang="zh-CN" altLang="zh-CN" sz="2000" kern="100" dirty="0"/>
              <a:t>个</a:t>
            </a:r>
            <a:r>
              <a:rPr lang="en-US" altLang="zh-CN" sz="2000" kern="100" dirty="0"/>
              <a:t>JK</a:t>
            </a:r>
            <a:r>
              <a:rPr lang="zh-CN" altLang="zh-CN" sz="2000" kern="100" dirty="0"/>
              <a:t>触发器和一个与门构成，将电路绘制到</a:t>
            </a:r>
            <a:r>
              <a:rPr lang="en-US" altLang="zh-CN" sz="2000" kern="100" dirty="0" err="1"/>
              <a:t>Logisim</a:t>
            </a:r>
            <a:r>
              <a:rPr lang="zh-CN" altLang="zh-CN" sz="2000" kern="100" dirty="0"/>
              <a:t>中，如</a:t>
            </a:r>
            <a:r>
              <a:rPr lang="zh-CN" altLang="zh-CN" sz="2000" kern="100" dirty="0" smtClean="0"/>
              <a:t>图。</a:t>
            </a:r>
            <a:r>
              <a:rPr lang="zh-CN" altLang="zh-CN" sz="2000" kern="100" dirty="0"/>
              <a:t>同样添加必要的信号，如</a:t>
            </a:r>
            <a:r>
              <a:rPr lang="en-US" altLang="zh-CN" sz="2000" kern="100" dirty="0"/>
              <a:t>3</a:t>
            </a:r>
            <a:r>
              <a:rPr lang="zh-CN" altLang="zh-CN" sz="2000" kern="100" dirty="0"/>
              <a:t>个触发器的</a:t>
            </a:r>
            <a:r>
              <a:rPr lang="en-US" altLang="zh-CN" sz="2000" kern="100" dirty="0"/>
              <a:t>JK</a:t>
            </a:r>
            <a:r>
              <a:rPr lang="zh-CN" altLang="zh-CN" sz="2000" kern="100" dirty="0"/>
              <a:t>端都按照高电平处理，在</a:t>
            </a:r>
            <a:r>
              <a:rPr lang="en-US" altLang="zh-CN" sz="2000" kern="100" dirty="0" err="1"/>
              <a:t>Logisim</a:t>
            </a:r>
            <a:r>
              <a:rPr lang="zh-CN" altLang="zh-CN" sz="2000" kern="100" dirty="0"/>
              <a:t>中添加电源。</a:t>
            </a:r>
            <a:endParaRPr lang="zh-CN" altLang="zh-CN" sz="2000" kern="100" dirty="0"/>
          </a:p>
        </p:txBody>
      </p:sp>
    </p:spTree>
  </p:cSld>
  <p:clrMapOvr>
    <a:masterClrMapping/>
  </p:clrMapOvr>
  <p:transition spd="med">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a:spLocks noChangeArrowheads="1"/>
          </p:cNvSpPr>
          <p:nvPr/>
        </p:nvSpPr>
        <p:spPr bwMode="auto">
          <a:xfrm>
            <a:off x="450850" y="720725"/>
            <a:ext cx="2019300" cy="645160"/>
          </a:xfrm>
          <a:prstGeom prst="rect">
            <a:avLst/>
          </a:prstGeom>
          <a:noFill/>
          <a:ln w="9525">
            <a:noFill/>
            <a:miter lim="800000"/>
          </a:ln>
          <a:effectLst/>
        </p:spPr>
        <p:txBody>
          <a:bodyPr wrap="none">
            <a:spAutoFit/>
          </a:bodyPr>
          <a:p>
            <a:pPr marR="0" defTabSz="914400" fontAlgn="base">
              <a:buClrTx/>
              <a:buSzTx/>
              <a:buFontTx/>
              <a:buNone/>
              <a:defRPr/>
            </a:pPr>
            <a:r>
              <a:rPr kumimoji="1" lang="zh-CN" altLang="en-US" sz="36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本章小结</a:t>
            </a:r>
            <a:endParaRPr kumimoji="1" lang="zh-CN" altLang="en-US" sz="36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 name="文本框 2"/>
          <p:cNvSpPr txBox="1"/>
          <p:nvPr/>
        </p:nvSpPr>
        <p:spPr>
          <a:xfrm>
            <a:off x="1049020" y="1477010"/>
            <a:ext cx="7247255" cy="2695575"/>
          </a:xfrm>
          <a:prstGeom prst="rect">
            <a:avLst/>
          </a:prstGeom>
        </p:spPr>
        <p:txBody>
          <a:bodyPr>
            <a:noAutofit/>
          </a:bodyPr>
          <a:p>
            <a:pPr marL="0" indent="266700" algn="just" defTabSz="266700">
              <a:spcBef>
                <a:spcPct val="0"/>
              </a:spcBef>
              <a:spcAft>
                <a:spcPct val="0"/>
              </a:spcAft>
            </a:pPr>
            <a:r>
              <a:rPr lang="en-US" altLang="zh-CN" sz="2800">
                <a:latin typeface="宋体" panose="02010600030101010101" pitchFamily="2" charset="-122"/>
                <a:ea typeface="宋体" panose="02010600030101010101" pitchFamily="2" charset="-122"/>
              </a:rPr>
              <a:t>   </a:t>
            </a:r>
            <a:r>
              <a:rPr lang="zh-CN" altLang="en-US" sz="2800">
                <a:latin typeface="宋体" panose="02010600030101010101" pitchFamily="2" charset="-122"/>
                <a:ea typeface="宋体" panose="02010600030101010101" pitchFamily="2" charset="-122"/>
              </a:rPr>
              <a:t>本章在介绍</a:t>
            </a:r>
            <a:r>
              <a:rPr lang="en-US" altLang="zh-CN" sz="2800">
                <a:latin typeface="宋体" panose="02010600030101010101" pitchFamily="2" charset="-122"/>
                <a:ea typeface="宋体" panose="02010600030101010101" pitchFamily="2" charset="-122"/>
              </a:rPr>
              <a:t>Logisim</a:t>
            </a:r>
            <a:r>
              <a:rPr lang="zh-CN" altLang="en-US" sz="2800">
                <a:latin typeface="宋体" panose="02010600030101010101" pitchFamily="2" charset="-122"/>
                <a:ea typeface="宋体" panose="02010600030101010101" pitchFamily="2" charset="-122"/>
              </a:rPr>
              <a:t>电路的仿真设计软件的特点和表示方法的基础上，重点介绍利用仿真软件提高对电路运行的直观认识。</a:t>
            </a:r>
            <a:endParaRPr lang="zh-CN" altLang="en-US" sz="28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zh-CN" altLang="en-US" sz="2800">
                <a:latin typeface="宋体" panose="02010600030101010101" pitchFamily="2" charset="-122"/>
                <a:ea typeface="宋体" panose="02010600030101010101" pitchFamily="2" charset="-122"/>
              </a:rPr>
              <a:t> </a:t>
            </a:r>
            <a:r>
              <a:rPr lang="en-US" altLang="zh-CN" sz="2800">
                <a:latin typeface="宋体" panose="02010600030101010101" pitchFamily="2" charset="-122"/>
                <a:ea typeface="宋体" panose="02010600030101010101" pitchFamily="2" charset="-122"/>
              </a:rPr>
              <a:t>  </a:t>
            </a:r>
            <a:r>
              <a:rPr lang="zh-CN" altLang="en-US" sz="2800">
                <a:latin typeface="宋体" panose="02010600030101010101" pitchFamily="2" charset="-122"/>
                <a:ea typeface="宋体" panose="02010600030101010101" pitchFamily="2" charset="-122"/>
              </a:rPr>
              <a:t>软件的应用以现场演示为主，通过给出不同类型电路的实现，给出部分典型的逻辑电路设计案例。</a:t>
            </a:r>
            <a:endParaRPr lang="zh-CN" altLang="en-US" sz="2800">
              <a:latin typeface="宋体" panose="02010600030101010101" pitchFamily="2" charset="-122"/>
              <a:ea typeface="宋体" panose="02010600030101010101" pitchFamily="2" charset="-122"/>
            </a:endParaRPr>
          </a:p>
        </p:txBody>
      </p:sp>
    </p:spTree>
  </p:cSld>
  <p:clrMapOvr>
    <a:masterClrMapping/>
  </p:clrMapOvr>
  <p:transition spd="med">
    <p:zoom/>
  </p:transition>
</p:sld>
</file>

<file path=ppt/tags/tag1.xml><?xml version="1.0" encoding="utf-8"?>
<p:tagLst xmlns:p="http://schemas.openxmlformats.org/presentationml/2006/main">
  <p:tag name="COMMONDATA" val="eyJoZGlkIjoiNzEyYTQ1ZTkxNzgyMjUxNmZmODI5MjdiYTcxOGE3YWEifQ=="/>
</p:tagLst>
</file>

<file path=ppt/theme/theme1.xml><?xml version="1.0" encoding="utf-8"?>
<a:theme xmlns:a="http://schemas.openxmlformats.org/drawingml/2006/main" name="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ctr" latinLnBrk="0" hangingPunct="1">
          <a:lnSpc>
            <a:spcPct val="100000"/>
          </a:lnSpc>
          <a:spcBef>
            <a:spcPct val="0"/>
          </a:spcBef>
          <a:spcAft>
            <a:spcPct val="0"/>
          </a:spcAft>
          <a:buClrTx/>
          <a:buSzTx/>
          <a:buFontTx/>
          <a:buNone/>
          <a:def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6125</Words>
  <Application>WPS 演示</Application>
  <PresentationFormat>全屏显示(4:3)</PresentationFormat>
  <Paragraphs>295</Paragraphs>
  <Slides>34</Slides>
  <Notes>0</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2</vt:i4>
      </vt:variant>
      <vt:variant>
        <vt:lpstr>幻灯片标题</vt:lpstr>
      </vt:variant>
      <vt:variant>
        <vt:i4>34</vt:i4>
      </vt:variant>
    </vt:vector>
  </HeadingPairs>
  <TitlesOfParts>
    <vt:vector size="49" baseType="lpstr">
      <vt:lpstr>Arial</vt:lpstr>
      <vt:lpstr>宋体</vt:lpstr>
      <vt:lpstr>Wingdings</vt:lpstr>
      <vt:lpstr>Times New Roman</vt:lpstr>
      <vt:lpstr>Arial Black</vt:lpstr>
      <vt:lpstr>华文中宋</vt:lpstr>
      <vt:lpstr>华文宋体</vt:lpstr>
      <vt:lpstr>幼圆</vt:lpstr>
      <vt:lpstr>微软雅黑</vt:lpstr>
      <vt:lpstr>Arial Unicode MS</vt:lpstr>
      <vt:lpstr>Calibri</vt:lpstr>
      <vt:lpstr>Pixel</vt:lpstr>
      <vt:lpstr>1_Pixel</vt:lpstr>
      <vt:lpstr>Visio.Drawing.4</vt:lpstr>
      <vt:lpstr>Visio.Drawing.4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dell</dc:creator>
  <cp:lastModifiedBy>wujing</cp:lastModifiedBy>
  <cp:revision>459</cp:revision>
  <cp:lastPrinted>1999-10-10T02:25:00Z</cp:lastPrinted>
  <dcterms:created xsi:type="dcterms:W3CDTF">1999-09-13T01:56:00Z</dcterms:created>
  <dcterms:modified xsi:type="dcterms:W3CDTF">2025-04-06T00:36:03Z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11FDEB2C53FE4DC8904ABFE46CA0ABAB_13</vt:lpwstr>
  </property>
</Properties>
</file>