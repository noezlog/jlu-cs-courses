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5"/>
  </p:notesMasterIdLst>
  <p:handoutMasterIdLst>
    <p:handoutMasterId r:id="rId56"/>
  </p:handoutMasterIdLst>
  <p:sldIdLst>
    <p:sldId id="314" r:id="rId4"/>
    <p:sldId id="300" r:id="rId5"/>
    <p:sldId id="405" r:id="rId6"/>
    <p:sldId id="261" r:id="rId7"/>
    <p:sldId id="406" r:id="rId8"/>
    <p:sldId id="407" r:id="rId9"/>
    <p:sldId id="408" r:id="rId10"/>
    <p:sldId id="411" r:id="rId11"/>
    <p:sldId id="412" r:id="rId12"/>
    <p:sldId id="413" r:id="rId13"/>
    <p:sldId id="414" r:id="rId14"/>
    <p:sldId id="415" r:id="rId15"/>
    <p:sldId id="416" r:id="rId16"/>
    <p:sldId id="417" r:id="rId17"/>
    <p:sldId id="418" r:id="rId18"/>
    <p:sldId id="419" r:id="rId19"/>
    <p:sldId id="420" r:id="rId20"/>
    <p:sldId id="421" r:id="rId21"/>
    <p:sldId id="422" r:id="rId22"/>
    <p:sldId id="424" r:id="rId23"/>
    <p:sldId id="423" r:id="rId24"/>
    <p:sldId id="410" r:id="rId25"/>
    <p:sldId id="425" r:id="rId26"/>
    <p:sldId id="429" r:id="rId27"/>
    <p:sldId id="430" r:id="rId28"/>
    <p:sldId id="431" r:id="rId29"/>
    <p:sldId id="432" r:id="rId30"/>
    <p:sldId id="433" r:id="rId31"/>
    <p:sldId id="434" r:id="rId32"/>
    <p:sldId id="435" r:id="rId33"/>
    <p:sldId id="436" r:id="rId34"/>
    <p:sldId id="453" r:id="rId35"/>
    <p:sldId id="437" r:id="rId36"/>
    <p:sldId id="438" r:id="rId37"/>
    <p:sldId id="439" r:id="rId38"/>
    <p:sldId id="440" r:id="rId39"/>
    <p:sldId id="441" r:id="rId40"/>
    <p:sldId id="442" r:id="rId41"/>
    <p:sldId id="443" r:id="rId42"/>
    <p:sldId id="444" r:id="rId43"/>
    <p:sldId id="445" r:id="rId44"/>
    <p:sldId id="446" r:id="rId45"/>
    <p:sldId id="447" r:id="rId46"/>
    <p:sldId id="448" r:id="rId47"/>
    <p:sldId id="449" r:id="rId48"/>
    <p:sldId id="450" r:id="rId49"/>
    <p:sldId id="451" r:id="rId50"/>
    <p:sldId id="409" r:id="rId51"/>
    <p:sldId id="426" r:id="rId52"/>
    <p:sldId id="427" r:id="rId53"/>
    <p:sldId id="428" r:id="rId54"/>
  </p:sldIdLst>
  <p:sldSz cx="9144000" cy="6858000" type="screen4x3"/>
  <p:notesSz cx="6858000" cy="9144000"/>
  <p:custDataLst>
    <p:tags r:id="rId60"/>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FF00FF"/>
    <a:srgbClr val="FF3300"/>
    <a:srgbClr val="FFCC66"/>
    <a:srgbClr val="6B03E9"/>
    <a:srgbClr val="CC6600"/>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53"/>
    <p:restoredTop sz="90588"/>
  </p:normalViewPr>
  <p:slideViewPr>
    <p:cSldViewPr snapToGrid="0" showGuides="1">
      <p:cViewPr varScale="1">
        <p:scale>
          <a:sx n="73" d="100"/>
          <a:sy n="73" d="100"/>
        </p:scale>
        <p:origin x="1500" y="66"/>
      </p:cViewPr>
      <p:guideLst>
        <p:guide orient="horz" pos="2160"/>
        <p:guide pos="282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gs" Target="tags/tag1.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notesMaster" Target="notesMasters/notesMaster1.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页眉占位符 57345"/>
          <p:cNvSpPr>
            <a:spLocks noGrp="1"/>
          </p:cNvSpPr>
          <p:nvPr>
            <p:ph type="hdr" sz="quarter"/>
          </p:nvPr>
        </p:nvSpPr>
        <p:spPr>
          <a:xfrm>
            <a:off x="0" y="0"/>
            <a:ext cx="2971800" cy="457200"/>
          </a:xfrm>
          <a:prstGeom prst="rect">
            <a:avLst/>
          </a:prstGeom>
          <a:noFill/>
          <a:ln w="9525">
            <a:noFill/>
          </a:ln>
        </p:spPr>
        <p:txBody>
          <a:bodyPr/>
          <a:lstStyle>
            <a:lvl1pPr eaLnBrk="1" fontAlgn="ctr" hangingPunct="1">
              <a:defRPr sz="1200" noProof="1"/>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7" name="日期占位符 57346"/>
          <p:cNvSpPr>
            <a:spLocks noGrp="1"/>
          </p:cNvSpPr>
          <p:nvPr>
            <p:ph type="dt" sz="quarter" idx="1"/>
          </p:nvPr>
        </p:nvSpPr>
        <p:spPr>
          <a:xfrm>
            <a:off x="3886200" y="0"/>
            <a:ext cx="2971800" cy="457200"/>
          </a:xfrm>
          <a:prstGeom prst="rect">
            <a:avLst/>
          </a:prstGeom>
          <a:noFill/>
          <a:ln w="9525">
            <a:noFill/>
          </a:ln>
        </p:spPr>
        <p:txBody>
          <a:bodyPr/>
          <a:lstStyle>
            <a:lvl1pPr algn="r" eaLnBrk="1" fontAlgn="ctr" hangingPunct="1">
              <a:defRPr sz="1200" noProof="1"/>
            </a:lvl1pPr>
          </a:lstStyle>
          <a:p>
            <a:pPr marL="0" marR="0" lvl="0" indent="0" algn="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8" name="页脚占位符 57347"/>
          <p:cNvSpPr>
            <a:spLocks noGrp="1"/>
          </p:cNvSpPr>
          <p:nvPr>
            <p:ph type="ftr" sz="quarter" idx="2"/>
          </p:nvPr>
        </p:nvSpPr>
        <p:spPr>
          <a:xfrm>
            <a:off x="0" y="8686800"/>
            <a:ext cx="2971800" cy="457200"/>
          </a:xfrm>
          <a:prstGeom prst="rect">
            <a:avLst/>
          </a:prstGeom>
          <a:noFill/>
          <a:ln w="9525">
            <a:noFill/>
          </a:ln>
        </p:spPr>
        <p:txBody>
          <a:bodyPr anchor="b"/>
          <a:lstStyle>
            <a:lvl1pPr eaLnBrk="1" fontAlgn="ctr" hangingPunct="1">
              <a:defRPr sz="1200" noProof="1"/>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9" name="灯片编号占位符 57348"/>
          <p:cNvSpPr>
            <a:spLocks noGrp="1"/>
          </p:cNvSpPr>
          <p:nvPr>
            <p:ph type="sldNum" sz="quarter" idx="3"/>
          </p:nvPr>
        </p:nvSpPr>
        <p:spPr>
          <a:xfrm>
            <a:off x="3886200" y="8686800"/>
            <a:ext cx="2971800" cy="457200"/>
          </a:xfrm>
          <a:prstGeom prst="rect">
            <a:avLst/>
          </a:prstGeom>
          <a:noFill/>
          <a:ln w="9525">
            <a:noFill/>
          </a:ln>
        </p:spPr>
        <p:txBody>
          <a:bodyPr vert="horz" wrap="square" lIns="91440" tIns="45720" rIns="91440" bIns="45720" numCol="1" anchor="b" anchorCtr="0" compatLnSpc="1"/>
          <a:lstStyle>
            <a:lvl1pPr algn="r" eaLnBrk="1" fontAlgn="ctr" hangingPunct="1">
              <a:defRPr sz="1200"/>
            </a:lvl1pPr>
          </a:lstStyle>
          <a:p>
            <a:pPr marL="0" marR="0" lvl="0" indent="0" algn="r" defTabSz="914400" rtl="0" eaLnBrk="1" fontAlgn="ctr" latinLnBrk="0" hangingPunct="1">
              <a:lnSpc>
                <a:spcPct val="100000"/>
              </a:lnSpc>
              <a:spcBef>
                <a:spcPct val="0"/>
              </a:spcBef>
              <a:spcAft>
                <a:spcPct val="0"/>
              </a:spcAft>
              <a:buClrTx/>
              <a:buSzTx/>
              <a:buFontTx/>
              <a:buNone/>
              <a:defRPr/>
            </a:pPr>
            <a:fld id="{D82CB29C-D392-4F37-88AE-D3B81DB287FF}"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2050" name="组合 70657"/>
          <p:cNvGrpSpPr/>
          <p:nvPr/>
        </p:nvGrpSpPr>
        <p:grpSpPr>
          <a:xfrm>
            <a:off x="0" y="0"/>
            <a:ext cx="9144000" cy="6858000"/>
            <a:chOff x="0" y="0"/>
            <a:chExt cx="5760" cy="4320"/>
          </a:xfrm>
        </p:grpSpPr>
        <p:sp>
          <p:nvSpPr>
            <p:cNvPr id="18" name="矩形 70658"/>
            <p:cNvSpPr>
              <a:spLocks noChangeArrowheads="1"/>
            </p:cNvSpPr>
            <p:nvPr/>
          </p:nvSpPr>
          <p:spPr bwMode="auto">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矩形 70659"/>
            <p:cNvSpPr>
              <a:spLocks noChangeArrowheads="1"/>
            </p:cNvSpPr>
            <p:nvPr/>
          </p:nvSpPr>
          <p:spPr bwMode="auto">
            <a:xfrm>
              <a:off x="1081" y="1065"/>
              <a:ext cx="4679" cy="1596"/>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8" name="组合 70660"/>
            <p:cNvGrpSpPr/>
            <p:nvPr/>
          </p:nvGrpSpPr>
          <p:grpSpPr>
            <a:xfrm>
              <a:off x="0" y="672"/>
              <a:ext cx="1806" cy="1989"/>
              <a:chOff x="0" y="672"/>
              <a:chExt cx="1806" cy="1989"/>
            </a:xfrm>
          </p:grpSpPr>
          <p:sp>
            <p:nvSpPr>
              <p:cNvPr id="21" name="矩形 70661"/>
              <p:cNvSpPr>
                <a:spLocks noChangeArrowheads="1"/>
              </p:cNvSpPr>
              <p:nvPr/>
            </p:nvSpPr>
            <p:spPr bwMode="auto">
              <a:xfrm>
                <a:off x="361" y="2257"/>
                <a:ext cx="363" cy="404"/>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矩形 70662"/>
              <p:cNvSpPr>
                <a:spLocks noChangeArrowheads="1"/>
              </p:cNvSpPr>
              <p:nvPr/>
            </p:nvSpPr>
            <p:spPr bwMode="auto">
              <a:xfrm>
                <a:off x="1081" y="1065"/>
                <a:ext cx="362" cy="405"/>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矩形 70663"/>
              <p:cNvSpPr>
                <a:spLocks noChangeArrowheads="1"/>
              </p:cNvSpPr>
              <p:nvPr/>
            </p:nvSpPr>
            <p:spPr bwMode="auto">
              <a:xfrm>
                <a:off x="1437" y="672"/>
                <a:ext cx="369" cy="400"/>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矩形 70664"/>
              <p:cNvSpPr>
                <a:spLocks noChangeArrowheads="1"/>
              </p:cNvSpPr>
              <p:nvPr/>
            </p:nvSpPr>
            <p:spPr bwMode="auto">
              <a:xfrm>
                <a:off x="719" y="2257"/>
                <a:ext cx="368" cy="404"/>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矩形 70665"/>
              <p:cNvSpPr>
                <a:spLocks noChangeArrowheads="1"/>
              </p:cNvSpPr>
              <p:nvPr/>
            </p:nvSpPr>
            <p:spPr bwMode="auto">
              <a:xfrm>
                <a:off x="1437" y="1065"/>
                <a:ext cx="369" cy="405"/>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矩形 70666"/>
              <p:cNvSpPr>
                <a:spLocks noChangeArrowheads="1"/>
              </p:cNvSpPr>
              <p:nvPr/>
            </p:nvSpPr>
            <p:spPr bwMode="auto">
              <a:xfrm>
                <a:off x="719" y="1464"/>
                <a:ext cx="368" cy="399"/>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矩形 70667"/>
              <p:cNvSpPr>
                <a:spLocks noChangeArrowheads="1"/>
              </p:cNvSpPr>
              <p:nvPr/>
            </p:nvSpPr>
            <p:spPr bwMode="auto">
              <a:xfrm>
                <a:off x="0" y="1464"/>
                <a:ext cx="367" cy="399"/>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矩形 70668"/>
              <p:cNvSpPr>
                <a:spLocks noChangeArrowheads="1"/>
              </p:cNvSpPr>
              <p:nvPr/>
            </p:nvSpPr>
            <p:spPr bwMode="auto">
              <a:xfrm>
                <a:off x="1081" y="1464"/>
                <a:ext cx="362" cy="399"/>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矩形 70669"/>
              <p:cNvSpPr>
                <a:spLocks noChangeArrowheads="1"/>
              </p:cNvSpPr>
              <p:nvPr/>
            </p:nvSpPr>
            <p:spPr bwMode="auto">
              <a:xfrm>
                <a:off x="361" y="1857"/>
                <a:ext cx="363" cy="406"/>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矩形 70670"/>
              <p:cNvSpPr>
                <a:spLocks noChangeArrowheads="1"/>
              </p:cNvSpPr>
              <p:nvPr/>
            </p:nvSpPr>
            <p:spPr bwMode="auto">
              <a:xfrm>
                <a:off x="719" y="1857"/>
                <a:ext cx="368" cy="406"/>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0675" name="标题 70674"/>
          <p:cNvSpPr>
            <a:spLocks noGrp="1"/>
          </p:cNvSpPr>
          <p:nvPr>
            <p:ph type="ctrTitle"/>
          </p:nvPr>
        </p:nvSpPr>
        <p:spPr>
          <a:xfrm>
            <a:off x="2971800" y="1828800"/>
            <a:ext cx="6019800" cy="2209800"/>
          </a:xfrm>
          <a:prstGeom prst="rect">
            <a:avLst/>
          </a:prstGeom>
          <a:noFill/>
          <a:ln w="9525">
            <a:noFill/>
          </a:ln>
        </p:spPr>
        <p:txBody>
          <a:bodyPr/>
          <a:lstStyle>
            <a:lvl1pPr lvl="0">
              <a:buClrTx/>
              <a:buSzTx/>
              <a:buFontTx/>
              <a:defRPr sz="5000">
                <a:solidFill>
                  <a:srgbClr val="FFFFFF"/>
                </a:solidFill>
              </a:defRPr>
            </a:lvl1pPr>
          </a:lstStyle>
          <a:p>
            <a:pPr lvl="0"/>
            <a:r>
              <a:rPr lang="zh-CN" altLang="en-US" noProof="1"/>
              <a:t>单击此处编辑母版标题样式</a:t>
            </a:r>
            <a:endParaRPr lang="zh-CN" altLang="en-US" noProof="1"/>
          </a:p>
        </p:txBody>
      </p:sp>
      <p:sp>
        <p:nvSpPr>
          <p:cNvPr id="70676" name="副标题 70675"/>
          <p:cNvSpPr>
            <a:spLocks noGrp="1"/>
          </p:cNvSpPr>
          <p:nvPr>
            <p:ph type="subTitle" idx="1"/>
          </p:nvPr>
        </p:nvSpPr>
        <p:spPr>
          <a:xfrm>
            <a:off x="2971800" y="4267200"/>
            <a:ext cx="6019800" cy="1752600"/>
          </a:xfrm>
          <a:prstGeom prst="rect">
            <a:avLst/>
          </a:prstGeom>
          <a:noFill/>
          <a:ln w="9525">
            <a:noFill/>
          </a:ln>
        </p:spPr>
        <p:txBody>
          <a:bodyPr/>
          <a:lstStyle>
            <a:lvl1pPr marL="0" lvl="0" indent="0">
              <a:buClr>
                <a:schemeClr val="bg2"/>
              </a:buClr>
              <a:buSzPct val="75000"/>
              <a:buFont typeface="Wingdings" panose="05000000000000000000" pitchFamily="2" charset="2"/>
              <a:buNone/>
              <a:defRPr sz="3400"/>
            </a:lvl1pPr>
            <a:lvl2pPr marL="457200" lvl="1" indent="0" algn="ctr">
              <a:buClr>
                <a:schemeClr val="accent2"/>
              </a:buClr>
              <a:buSzPct val="80000"/>
              <a:buFont typeface="Wingdings" panose="05000000000000000000" pitchFamily="2" charset="2"/>
              <a:buNone/>
              <a:defRPr sz="3400"/>
            </a:lvl2pPr>
            <a:lvl3pPr marL="914400" lvl="2" indent="0" algn="ctr">
              <a:buClr>
                <a:schemeClr val="bg2"/>
              </a:buClr>
              <a:buSzPct val="65000"/>
              <a:buFont typeface="Wingdings" panose="05000000000000000000" pitchFamily="2" charset="2"/>
              <a:buNone/>
              <a:defRPr sz="3400"/>
            </a:lvl3pPr>
            <a:lvl4pPr marL="1371600" lvl="3" indent="0" algn="ctr">
              <a:buClr>
                <a:schemeClr val="accent2"/>
              </a:buClr>
              <a:buSzPct val="70000"/>
              <a:buFont typeface="Wingdings" panose="05000000000000000000" pitchFamily="2" charset="2"/>
              <a:buNone/>
              <a:defRPr sz="3400"/>
            </a:lvl4pPr>
            <a:lvl5pPr marL="1828800" lvl="4" indent="0" algn="ctr">
              <a:buClr>
                <a:schemeClr val="bg2"/>
              </a:buClr>
              <a:buSzTx/>
              <a:buFont typeface="Wingdings" panose="05000000000000000000" pitchFamily="2" charset="2"/>
              <a:buNone/>
              <a:defRPr sz="3400"/>
            </a:lvl5pPr>
          </a:lstStyle>
          <a:p>
            <a:pPr lvl="0"/>
            <a:r>
              <a:rPr lang="zh-CN" altLang="en-US" noProof="1"/>
              <a:t>单击此处编辑母版副标题样式</a:t>
            </a:r>
            <a:endParaRPr lang="zh-CN" altLang="en-US" noProof="1"/>
          </a:p>
        </p:txBody>
      </p:sp>
      <p:sp>
        <p:nvSpPr>
          <p:cNvPr id="31" name="日期占位符 70671"/>
          <p:cNvSpPr>
            <a:spLocks noGrp="1"/>
          </p:cNvSpPr>
          <p:nvPr>
            <p:ph type="dt" sz="half" idx="2"/>
          </p:nvPr>
        </p:nvSpPr>
        <p:spPr>
          <a:xfrm>
            <a:off x="457200" y="6248400"/>
            <a:ext cx="2133600" cy="457200"/>
          </a:xfrm>
          <a:prstGeom prst="rect">
            <a:avLst/>
          </a:prstGeom>
        </p:spPr>
        <p:txBody>
          <a:bodyPr anchor="b"/>
          <a:lstStyle>
            <a:lvl1pPr>
              <a:defRPr sz="1200">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页脚占位符 70672"/>
          <p:cNvSpPr>
            <a:spLocks noGrp="1"/>
          </p:cNvSpPr>
          <p:nvPr>
            <p:ph type="ftr" sz="quarter" idx="3"/>
          </p:nvPr>
        </p:nvSpPr>
        <p:spPr>
          <a:xfrm>
            <a:off x="3124200" y="6248400"/>
            <a:ext cx="2895600" cy="457200"/>
          </a:xfrm>
          <a:prstGeom prst="rect">
            <a:avLst/>
          </a:prstGeom>
        </p:spPr>
        <p:txBody>
          <a:bodyPr anchor="b"/>
          <a:lstStyle>
            <a:lvl1pPr algn="ctr">
              <a:defRPr sz="1200">
                <a:latin typeface="Arial" panose="020B0604020202020204" pitchFamily="34" charset="0"/>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灯片编号占位符 70673"/>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8069E72E-F178-4835-8A80-96EDD07E39DF}"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EE4558E-A4B4-458A-B0ED-514C3114B7A5}"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6C798D9-C678-4351-A963-9E65F31BA36A}"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981200"/>
            <a:ext cx="4032504" cy="3886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54296" y="1981200"/>
            <a:ext cx="4032504" cy="3886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7C2C81FA-3A2B-4A26-A9BB-5235867AD32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7"/>
          <p:cNvSpPr>
            <a:spLocks noGrp="1"/>
          </p:cNvSpPr>
          <p:nvPr>
            <p:ph type="ftr" sz="quarter" idx="1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8"/>
          <p:cNvSpPr>
            <a:spLocks noGrp="1"/>
          </p:cNvSpPr>
          <p:nvPr>
            <p:ph type="sldNum" sz="quarter" idx="1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EEE03105-6064-418B-9DD3-2ACB10FB8C60}"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日期占位符 2"/>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3"/>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4"/>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0EC5906-132F-44BC-A293-2DA15A192E65}"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日期占位符 3"/>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958A653E-9CD4-4FEC-9D1E-68D8DC5FE5FC}"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61793E9-2ECE-4C9E-8518-8115D5BFBCD6}"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3210E67-0F50-46E1-85B9-6D9DDBCEE00F}"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blipFill rotWithShape="0">
          <a:blip r:embed="rId2"/>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457200"/>
            <a:ext cx="6052930" cy="5410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8CFF8F2-8025-4A39-9B20-7DB13B4CE536}"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6286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6286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日期占位符 8"/>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页脚占位符 5"/>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日期占位符 7"/>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36866"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6874"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06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7067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8" name="日期占位符 7"/>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7" Type="http://schemas.openxmlformats.org/officeDocument/2006/relationships/theme" Target="../theme/theme2.xml"/><Relationship Id="rId16" Type="http://schemas.openxmlformats.org/officeDocument/2006/relationships/image" Target="../media/image1.jpeg"/><Relationship Id="rId15" Type="http://schemas.openxmlformats.org/officeDocument/2006/relationships/slideLayout" Target="../slideLayouts/slideLayout29.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a:xfrm>
          <a:off x="0" y="0"/>
          <a:ext cx="0" cy="0"/>
          <a:chOff x="0" y="0"/>
          <a:chExt cx="0" cy="0"/>
        </a:xfrm>
      </p:grpSpPr>
      <p:sp>
        <p:nvSpPr>
          <p:cNvPr id="69634" name="页脚占位符 69633"/>
          <p:cNvSpPr>
            <a:spLocks noGrp="1"/>
          </p:cNvSpPr>
          <p:nvPr>
            <p:ph type="ftr" sz="quarter" idx="3"/>
          </p:nvPr>
        </p:nvSpPr>
        <p:spPr>
          <a:xfrm>
            <a:off x="3124200" y="6248400"/>
            <a:ext cx="2895600" cy="457200"/>
          </a:xfrm>
          <a:prstGeom prst="rect">
            <a:avLst/>
          </a:prstGeom>
          <a:noFill/>
          <a:ln w="9525">
            <a:noFill/>
          </a:ln>
        </p:spPr>
        <p:txBody>
          <a:bodyPr anchor="b"/>
          <a:lstStyle>
            <a:lvl1pPr algn="ctr" eaLnBrk="1" fontAlgn="ctr" hangingPunct="1">
              <a:defRPr sz="1200" noProof="1">
                <a:latin typeface="Arial" panose="020B0604020202020204" pitchFamily="34" charset="0"/>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635" name="灯片编号占位符 69634"/>
          <p:cNvSpPr>
            <a:spLocks noGrp="1"/>
          </p:cNvSpPr>
          <p:nvPr>
            <p:ph type="sldNum" sz="quarter" idx="4"/>
          </p:nvPr>
        </p:nvSpPr>
        <p:spPr>
          <a:xfrm>
            <a:off x="6553200" y="6248400"/>
            <a:ext cx="2133600" cy="457200"/>
          </a:xfrm>
          <a:prstGeom prst="rect">
            <a:avLst/>
          </a:prstGeom>
          <a:noFill/>
          <a:ln w="9525">
            <a:noFill/>
          </a:ln>
        </p:spPr>
        <p:txBody>
          <a:bodyPr vert="horz" wrap="square" lIns="91440" tIns="45720" rIns="91440" bIns="45720" numCol="1" anchor="b" anchorCtr="0" compatLnSpc="1"/>
          <a:lstStyle>
            <a:lvl1pPr algn="r" eaLnBrk="1" fontAlgn="ctr" hangingPunct="1">
              <a:defRPr sz="1200">
                <a:latin typeface="Arial Black" panose="020B0A04020102020204" pitchFamily="34" charset="0"/>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28" name="组合 69635"/>
          <p:cNvGrpSpPr/>
          <p:nvPr/>
        </p:nvGrpSpPr>
        <p:grpSpPr>
          <a:xfrm>
            <a:off x="0" y="0"/>
            <a:ext cx="9144000" cy="546100"/>
            <a:chOff x="0" y="0"/>
            <a:chExt cx="5760" cy="344"/>
          </a:xfrm>
        </p:grpSpPr>
        <p:sp>
          <p:nvSpPr>
            <p:cNvPr id="1032" name="矩形 69636"/>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矩形 69637"/>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矩形 69638"/>
            <p:cNvSpPr>
              <a:spLocks noChangeArrowheads="1"/>
            </p:cNvSpPr>
            <p:nvPr/>
          </p:nvSpPr>
          <p:spPr bwMode="auto">
            <a:xfrm>
              <a:off x="258" y="85"/>
              <a:ext cx="87" cy="89"/>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矩形 69639"/>
            <p:cNvSpPr>
              <a:spLocks noChangeArrowheads="1"/>
            </p:cNvSpPr>
            <p:nvPr/>
          </p:nvSpPr>
          <p:spPr bwMode="auto">
            <a:xfrm>
              <a:off x="345" y="0"/>
              <a:ext cx="88" cy="87"/>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矩形 69640"/>
            <p:cNvSpPr>
              <a:spLocks noChangeArrowheads="1"/>
            </p:cNvSpPr>
            <p:nvPr/>
          </p:nvSpPr>
          <p:spPr bwMode="auto">
            <a:xfrm>
              <a:off x="345" y="85"/>
              <a:ext cx="88" cy="89"/>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矩形 69641"/>
            <p:cNvSpPr>
              <a:spLocks noChangeArrowheads="1"/>
            </p:cNvSpPr>
            <p:nvPr/>
          </p:nvSpPr>
          <p:spPr bwMode="auto">
            <a:xfrm>
              <a:off x="173" y="173"/>
              <a:ext cx="86" cy="87"/>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矩形 69642"/>
            <p:cNvSpPr>
              <a:spLocks noChangeArrowheads="1"/>
            </p:cNvSpPr>
            <p:nvPr/>
          </p:nvSpPr>
          <p:spPr bwMode="auto">
            <a:xfrm>
              <a:off x="83" y="86"/>
              <a:ext cx="89" cy="87"/>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矩形 69643"/>
            <p:cNvSpPr>
              <a:spLocks noChangeArrowheads="1"/>
            </p:cNvSpPr>
            <p:nvPr/>
          </p:nvSpPr>
          <p:spPr bwMode="auto">
            <a:xfrm>
              <a:off x="258" y="171"/>
              <a:ext cx="87" cy="87"/>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矩形 69644"/>
            <p:cNvSpPr>
              <a:spLocks noChangeArrowheads="1"/>
            </p:cNvSpPr>
            <p:nvPr/>
          </p:nvSpPr>
          <p:spPr bwMode="auto">
            <a:xfrm>
              <a:off x="173" y="258"/>
              <a:ext cx="86" cy="86"/>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9" name="标题 69645"/>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30" name="文本占位符 69646"/>
          <p:cNvSpPr>
            <a:spLocks noGrp="1"/>
          </p:cNvSpPr>
          <p:nvPr>
            <p:ph type="body"/>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9648" name="日期占位符 69647"/>
          <p:cNvSpPr>
            <a:spLocks noGrp="1"/>
          </p:cNvSpPr>
          <p:nvPr>
            <p:ph type="dt" sz="half" idx="2"/>
          </p:nvPr>
        </p:nvSpPr>
        <p:spPr>
          <a:xfrm>
            <a:off x="457200" y="6245225"/>
            <a:ext cx="2133600" cy="476250"/>
          </a:xfrm>
          <a:prstGeom prst="rect">
            <a:avLst/>
          </a:prstGeom>
          <a:noFill/>
          <a:ln w="9525">
            <a:noFill/>
          </a:ln>
        </p:spPr>
        <p:txBody>
          <a:bodyPr anchor="b"/>
          <a:lstStyle>
            <a:lvl1pPr eaLnBrk="1" fontAlgn="ctr" hangingPunct="1">
              <a:defRPr sz="1200" noProof="1">
                <a:latin typeface="Arial" panose="020B0604020202020204" pitchFamily="34"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zoom/>
  </p:transition>
  <p:hf sldNum="0" hdr="0" ftr="0" dt="0"/>
  <p:txStyles>
    <p:titleStyle>
      <a:lvl1pPr algn="l" rtl="0" eaLnBrk="0" fontAlgn="base" hangingPunct="0">
        <a:spcBef>
          <a:spcPct val="0"/>
        </a:spcBef>
        <a:spcAft>
          <a:spcPct val="0"/>
        </a:spcAft>
        <a:defRPr sz="4400" kern="12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6"/>
        </a:blip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fontAlgn="base">
              <a:defRPr sz="12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963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fontAlgn="base">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grpSp>
        <p:nvGrpSpPr>
          <p:cNvPr id="35844" name="Group 4"/>
          <p:cNvGrpSpPr/>
          <p:nvPr/>
        </p:nvGrpSpPr>
        <p:grpSpPr>
          <a:xfrm>
            <a:off x="0" y="0"/>
            <a:ext cx="9144000" cy="546100"/>
            <a:chOff x="0" y="0"/>
            <a:chExt cx="5760" cy="344"/>
          </a:xfrm>
        </p:grpSpPr>
        <p:sp>
          <p:nvSpPr>
            <p:cNvPr id="69637"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8"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9"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0"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1"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69642"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3"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44"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69645"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35845"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35846"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964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fontAlgn="base">
              <a:defRPr sz="12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transition spd="med">
    <p:zoom/>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1.xml"/><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1.xml"/><Relationship Id="rId2" Type="http://schemas.openxmlformats.org/officeDocument/2006/relationships/image" Target="../media/image15.wmf"/><Relationship Id="rId1"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文本框 65538"/>
          <p:cNvSpPr txBox="1"/>
          <p:nvPr/>
        </p:nvSpPr>
        <p:spPr>
          <a:xfrm>
            <a:off x="240846" y="2205493"/>
            <a:ext cx="8341743" cy="1938020"/>
          </a:xfrm>
          <a:prstGeom prst="rect">
            <a:avLst/>
          </a:prstGeom>
          <a:noFill/>
          <a:ln w="9525">
            <a:noFill/>
          </a:ln>
        </p:spPr>
        <p:txBody>
          <a:bodyPr wrap="square">
            <a:spAutoFit/>
          </a:bodyPr>
          <a:lstStyle/>
          <a:p>
            <a:pPr algn="ctr" eaLnBrk="1" hangingPunct="1">
              <a:defRPr/>
            </a:pPr>
            <a:r>
              <a:rPr kumimoji="0" lang="zh-CN" altLang="en-US" sz="6000" b="1" kern="1200" cap="none" spc="0" normalizeH="0" baseline="0" noProof="1" smtClean="0">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rPr>
              <a:t>第十章 </a:t>
            </a:r>
            <a:endParaRPr kumimoji="0" lang="zh-CN" altLang="en-US" sz="6000" b="1" kern="1200" cap="none" spc="0" normalizeH="0" baseline="0" noProof="1" smtClean="0">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endParaRPr>
          </a:p>
          <a:p>
            <a:pPr algn="ctr" eaLnBrk="1" hangingPunct="1">
              <a:defRPr/>
            </a:pPr>
            <a:r>
              <a:rPr lang="en-US" altLang="zh-CN" sz="6000" b="1"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rPr>
              <a:t>Verilog</a:t>
            </a:r>
            <a:r>
              <a:rPr lang="zh-CN" altLang="en-US" sz="6000" b="1"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rPr>
              <a:t>电路</a:t>
            </a:r>
            <a:r>
              <a:rPr lang="zh-CN" altLang="en-US" sz="6000" b="1" noProof="1" smtClean="0">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rPr>
              <a:t>设计</a:t>
            </a:r>
            <a:endParaRPr kumimoji="0" lang="zh-CN" altLang="en-US" sz="6000" b="1" kern="1200" cap="none" spc="0" normalizeH="0" baseline="0"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739775" y="1312863"/>
            <a:ext cx="7496175" cy="3964162"/>
          </a:xfrm>
          <a:prstGeom prst="rect">
            <a:avLst/>
          </a:prstGeom>
          <a:noFill/>
          <a:ln w="9525">
            <a:noFill/>
            <a:miter lim="800000"/>
          </a:ln>
          <a:effectLst/>
        </p:spPr>
        <p:txBody>
          <a:bodyPr>
            <a:spAutoFit/>
          </a:bodyPr>
          <a:lstStyle/>
          <a:p>
            <a:pPr marL="285750" marR="0" lvl="0" indent="-285750" algn="l" defTabSz="914400" rtl="0" eaLnBrk="1" fontAlgn="base" latinLnBrk="0" hangingPunct="1">
              <a:lnSpc>
                <a:spcPct val="12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rgbClr val="6B03E9"/>
                </a:solidFill>
                <a:effectLst>
                  <a:outerShdw blurRad="38100" dist="38100" dir="2700000" algn="tl">
                    <a:srgbClr val="000000"/>
                  </a:outerShdw>
                </a:effectLst>
                <a:uLnTx/>
                <a:uFillTx/>
                <a:latin typeface="Times New Roman" panose="02020603050405020304" pitchFamily="18" charset="0"/>
                <a:ea typeface="华文宋体" panose="02010600040101010101" pitchFamily="2" charset="-122"/>
                <a:cs typeface="+mn-cs"/>
              </a:rPr>
              <a:t>学习要求：</a:t>
            </a:r>
            <a:endParaRPr kumimoji="1" lang="zh-CN" altLang="en-US" sz="3200" b="0" i="0" u="none" strike="noStrike" kern="1200" cap="none" spc="0" normalizeH="0" baseline="0" noProof="0" dirty="0">
              <a:ln>
                <a:noFill/>
              </a:ln>
              <a:solidFill>
                <a:srgbClr val="6B03E9"/>
              </a:solidFill>
              <a:effectLst/>
              <a:uLnTx/>
              <a:uFillTx/>
              <a:latin typeface="Times New Roman" panose="02020603050405020304" pitchFamily="18" charset="0"/>
              <a:ea typeface="华文宋体" panose="02010600040101010101" pitchFamily="2" charset="-122"/>
              <a:cs typeface="+mn-cs"/>
            </a:endParaRPr>
          </a:p>
          <a:p>
            <a:pPr marL="285750" lvl="0" indent="-285750" eaLnBrk="1" hangingPunct="1">
              <a:lnSpc>
                <a:spcPct val="120000"/>
              </a:lnSpc>
              <a:spcBef>
                <a:spcPct val="50000"/>
              </a:spcBef>
              <a:buFontTx/>
              <a:buChar char="•"/>
              <a:defRPr/>
            </a:pPr>
            <a:r>
              <a:rPr kumimoji="1" lang="zh-CN" altLang="en-US" sz="2600" b="1" dirty="0" smtClean="0">
                <a:solidFill>
                  <a:srgbClr val="000000"/>
                </a:solidFill>
              </a:rPr>
              <a:t>掌握</a:t>
            </a:r>
            <a:r>
              <a:rPr kumimoji="1" lang="en-US" altLang="zh-CN" sz="2600" b="1" dirty="0" smtClean="0">
                <a:solidFill>
                  <a:srgbClr val="000000"/>
                </a:solidFill>
              </a:rPr>
              <a:t>Verilog</a:t>
            </a:r>
            <a:r>
              <a:rPr kumimoji="1" lang="zh-CN" altLang="en-US" sz="2600" b="1" dirty="0">
                <a:solidFill>
                  <a:srgbClr val="000000"/>
                </a:solidFill>
              </a:rPr>
              <a:t>的基础知识，通过由简单到复杂的例子，逐步认识到硬件语言和软件语言编程过程中的不同之</a:t>
            </a:r>
            <a:r>
              <a:rPr kumimoji="1" lang="zh-CN" altLang="en-US" sz="2600" b="1" dirty="0" smtClean="0">
                <a:solidFill>
                  <a:srgbClr val="000000"/>
                </a:solidFill>
              </a:rPr>
              <a:t>处；</a:t>
            </a:r>
            <a:endParaRPr kumimoji="1"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285750" lvl="0" indent="-285750" eaLnBrk="1" hangingPunct="1">
              <a:lnSpc>
                <a:spcPct val="120000"/>
              </a:lnSpc>
              <a:spcBef>
                <a:spcPct val="50000"/>
              </a:spcBef>
              <a:buFontTx/>
              <a:buChar char="•"/>
              <a:defRPr/>
            </a:pPr>
            <a:r>
              <a:rPr kumimoji="1" lang="zh-CN" altLang="en-US" sz="2600" b="1" dirty="0" smtClean="0">
                <a:solidFill>
                  <a:srgbClr val="000000"/>
                </a:solidFill>
              </a:rPr>
              <a:t>体会</a:t>
            </a:r>
            <a:r>
              <a:rPr kumimoji="1" lang="zh-CN" altLang="en-US" sz="2600" b="1" dirty="0">
                <a:solidFill>
                  <a:srgbClr val="000000"/>
                </a:solidFill>
              </a:rPr>
              <a:t>硬件语言对电路的描述方法和调试方法。通过</a:t>
            </a:r>
            <a:r>
              <a:rPr kumimoji="1" lang="en-US" altLang="zh-CN" sz="2600" b="1" dirty="0" err="1">
                <a:solidFill>
                  <a:srgbClr val="000000"/>
                </a:solidFill>
              </a:rPr>
              <a:t>Modulesim</a:t>
            </a:r>
            <a:r>
              <a:rPr kumimoji="1" lang="zh-CN" altLang="en-US" sz="2600" b="1" dirty="0">
                <a:solidFill>
                  <a:srgbClr val="000000"/>
                </a:solidFill>
              </a:rPr>
              <a:t>等仿真软件的实现，直观了解硬件描述语言的设计过程</a:t>
            </a:r>
            <a:r>
              <a:rPr kumimoji="1" lang="zh-CN" altLang="en-US" sz="2600" b="1" dirty="0" smtClean="0">
                <a:solidFill>
                  <a:srgbClr val="000000"/>
                </a:solidFill>
              </a:rPr>
              <a:t>。</a:t>
            </a:r>
            <a:endPar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p:cTn id="7" dur="500" fill="hold"/>
                                        <p:tgtEl>
                                          <p:spTgt spid="48130"/>
                                        </p:tgtEl>
                                        <p:attrNameLst>
                                          <p:attrName>ppt_w</p:attrName>
                                        </p:attrNameLst>
                                      </p:cBhvr>
                                      <p:tavLst>
                                        <p:tav tm="0">
                                          <p:val>
                                            <p:fltVal val="0"/>
                                          </p:val>
                                        </p:tav>
                                        <p:tav tm="100000">
                                          <p:val>
                                            <p:strVal val="#ppt_w"/>
                                          </p:val>
                                        </p:tav>
                                      </p:tavLst>
                                    </p:anim>
                                    <p:anim calcmode="lin" valueType="num">
                                      <p:cBhvr>
                                        <p:cTn id="8" dur="500" fill="hold"/>
                                        <p:tgtEl>
                                          <p:spTgt spid="48130"/>
                                        </p:tgtEl>
                                        <p:attrNameLst>
                                          <p:attrName>ppt_h</p:attrName>
                                        </p:attrNameLst>
                                      </p:cBhvr>
                                      <p:tavLst>
                                        <p:tav tm="0">
                                          <p:val>
                                            <p:fltVal val="0"/>
                                          </p:val>
                                        </p:tav>
                                        <p:tav tm="100000">
                                          <p:val>
                                            <p:strVal val="#ppt_h"/>
                                          </p:val>
                                        </p:tav>
                                      </p:tavLst>
                                    </p:anim>
                                    <p:anim calcmode="lin" valueType="num">
                                      <p:cBhvr>
                                        <p:cTn id="9" dur="500" fill="hold"/>
                                        <p:tgtEl>
                                          <p:spTgt spid="48130"/>
                                        </p:tgtEl>
                                        <p:attrNameLst>
                                          <p:attrName>ppt_x</p:attrName>
                                        </p:attrNameLst>
                                      </p:cBhvr>
                                      <p:tavLst>
                                        <p:tav tm="0">
                                          <p:val>
                                            <p:fltVal val="0.5"/>
                                          </p:val>
                                        </p:tav>
                                        <p:tav tm="100000">
                                          <p:val>
                                            <p:strVal val="#ppt_x"/>
                                          </p:val>
                                        </p:tav>
                                      </p:tavLst>
                                    </p:anim>
                                    <p:anim calcmode="lin" valueType="num">
                                      <p:cBhvr>
                                        <p:cTn id="10" dur="500" fill="hold"/>
                                        <p:tgtEl>
                                          <p:spTgt spid="4813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10.1</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硬件语言与</a:t>
            </a: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Verilog</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307976" cy="2123658"/>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zh-CN" altLang="en-US" sz="2400" b="1" dirty="0" smtClean="0">
                <a:solidFill>
                  <a:srgbClr val="000000"/>
                </a:solidFill>
              </a:rPr>
              <a:t>        </a:t>
            </a:r>
            <a:r>
              <a:rPr kumimoji="1" lang="zh-CN" altLang="en-US" sz="2400" b="1" dirty="0" smtClean="0">
                <a:solidFill>
                  <a:srgbClr val="FF0000"/>
                </a:solidFill>
              </a:rPr>
              <a:t>硬件</a:t>
            </a:r>
            <a:r>
              <a:rPr kumimoji="1" lang="zh-CN" altLang="en-US" sz="2400" b="1" dirty="0">
                <a:solidFill>
                  <a:srgbClr val="FF0000"/>
                </a:solidFill>
              </a:rPr>
              <a:t>描述语言</a:t>
            </a:r>
            <a:r>
              <a:rPr kumimoji="1" lang="zh-CN" altLang="en-US" sz="2400" b="1" dirty="0">
                <a:solidFill>
                  <a:srgbClr val="000000"/>
                </a:solidFill>
              </a:rPr>
              <a:t>（</a:t>
            </a:r>
            <a:r>
              <a:rPr kumimoji="1" lang="en-US" altLang="zh-CN" sz="2400" b="1" dirty="0">
                <a:solidFill>
                  <a:srgbClr val="000000"/>
                </a:solidFill>
              </a:rPr>
              <a:t>Hardware Description Language, HDL</a:t>
            </a:r>
            <a:r>
              <a:rPr kumimoji="1" lang="zh-CN" altLang="en-US" sz="2400" b="1" dirty="0">
                <a:solidFill>
                  <a:srgbClr val="000000"/>
                </a:solidFill>
              </a:rPr>
              <a:t>）是用于描述电子系统硬件的行为、结构和数据流的计算机设计语言。这种语言被广泛应用于数字电路系统的设计过程中，允许设计师从抽象的顶层设计逐层到底层的具体实现，采用分层次的模块来表示复杂的数字系统</a:t>
            </a:r>
            <a:r>
              <a:rPr kumimoji="1" lang="zh-CN" altLang="en-US" sz="2400" b="1" dirty="0" smtClean="0">
                <a:solidFill>
                  <a:srgbClr val="000000"/>
                </a:solidFill>
              </a:rPr>
              <a:t>。</a:t>
            </a:r>
            <a:endPar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矩形 2"/>
          <p:cNvSpPr/>
          <p:nvPr/>
        </p:nvSpPr>
        <p:spPr>
          <a:xfrm>
            <a:off x="866367" y="3182658"/>
            <a:ext cx="8151222" cy="1569660"/>
          </a:xfrm>
          <a:prstGeom prst="rect">
            <a:avLst/>
          </a:prstGeom>
        </p:spPr>
        <p:txBody>
          <a:bodyPr wrap="square">
            <a:spAutoFit/>
          </a:bodyPr>
          <a:lstStyle/>
          <a:p>
            <a:pPr algn="just"/>
            <a:r>
              <a:rPr lang="en-US" altLang="zh-CN" sz="2000" b="1" dirty="0" smtClean="0">
                <a:solidFill>
                  <a:srgbClr val="FF0000"/>
                </a:solidFill>
                <a:latin typeface="+mn-ea"/>
                <a:ea typeface="+mn-ea"/>
              </a:rPr>
              <a:t>    </a:t>
            </a:r>
            <a:r>
              <a:rPr lang="en-US" altLang="zh-CN" sz="2400" b="1" dirty="0" smtClean="0">
                <a:solidFill>
                  <a:srgbClr val="FF0000"/>
                </a:solidFill>
                <a:latin typeface="+mn-ea"/>
                <a:ea typeface="+mn-ea"/>
              </a:rPr>
              <a:t>Verilog</a:t>
            </a:r>
            <a:r>
              <a:rPr lang="zh-CN" altLang="en-US" sz="2400" b="1" dirty="0">
                <a:latin typeface="+mn-ea"/>
                <a:ea typeface="+mn-ea"/>
              </a:rPr>
              <a:t>是</a:t>
            </a:r>
            <a:r>
              <a:rPr lang="en-US" altLang="zh-CN" sz="2400" b="1" dirty="0">
                <a:latin typeface="+mn-ea"/>
                <a:ea typeface="+mn-ea"/>
              </a:rPr>
              <a:t>Gateway</a:t>
            </a:r>
            <a:r>
              <a:rPr lang="zh-CN" altLang="en-US" sz="2400" b="1" dirty="0">
                <a:latin typeface="+mn-ea"/>
                <a:ea typeface="+mn-ea"/>
              </a:rPr>
              <a:t>设计自动化公司于</a:t>
            </a:r>
            <a:r>
              <a:rPr lang="en-US" altLang="zh-CN" sz="2400" b="1" dirty="0">
                <a:latin typeface="+mn-ea"/>
                <a:ea typeface="+mn-ea"/>
              </a:rPr>
              <a:t>1983</a:t>
            </a:r>
            <a:r>
              <a:rPr lang="zh-CN" altLang="en-US" sz="2400" b="1" dirty="0">
                <a:latin typeface="+mn-ea"/>
                <a:ea typeface="+mn-ea"/>
              </a:rPr>
              <a:t>年设计产生，后公司被</a:t>
            </a:r>
            <a:r>
              <a:rPr lang="en-US" altLang="zh-CN" sz="2400" b="1" dirty="0">
                <a:latin typeface="+mn-ea"/>
                <a:ea typeface="+mn-ea"/>
              </a:rPr>
              <a:t>Cadence</a:t>
            </a:r>
            <a:r>
              <a:rPr lang="zh-CN" altLang="en-US" sz="2400" b="1" dirty="0">
                <a:latin typeface="+mn-ea"/>
                <a:ea typeface="+mn-ea"/>
              </a:rPr>
              <a:t>公司收购。</a:t>
            </a:r>
            <a:r>
              <a:rPr lang="en-US" altLang="zh-CN" sz="2400" b="1" dirty="0">
                <a:latin typeface="+mn-ea"/>
                <a:ea typeface="+mn-ea"/>
              </a:rPr>
              <a:t>1990</a:t>
            </a:r>
            <a:r>
              <a:rPr lang="zh-CN" altLang="en-US" sz="2400" b="1" dirty="0">
                <a:latin typeface="+mn-ea"/>
                <a:ea typeface="+mn-ea"/>
              </a:rPr>
              <a:t>年，开放</a:t>
            </a:r>
            <a:r>
              <a:rPr lang="en-US" altLang="zh-CN" sz="2400" b="1" dirty="0">
                <a:latin typeface="+mn-ea"/>
                <a:ea typeface="+mn-ea"/>
              </a:rPr>
              <a:t>Verilog</a:t>
            </a:r>
            <a:r>
              <a:rPr lang="zh-CN" altLang="en-US" sz="2400" b="1" dirty="0">
                <a:latin typeface="+mn-ea"/>
                <a:ea typeface="+mn-ea"/>
              </a:rPr>
              <a:t>国际组织（即现在的</a:t>
            </a:r>
            <a:r>
              <a:rPr lang="en-US" altLang="zh-CN" sz="2400" b="1" dirty="0" err="1">
                <a:latin typeface="+mn-ea"/>
                <a:ea typeface="+mn-ea"/>
              </a:rPr>
              <a:t>Accellera</a:t>
            </a:r>
            <a:r>
              <a:rPr lang="zh-CN" altLang="en-US" sz="2400" b="1" dirty="0">
                <a:latin typeface="+mn-ea"/>
                <a:ea typeface="+mn-ea"/>
              </a:rPr>
              <a:t>）成立，</a:t>
            </a:r>
            <a:r>
              <a:rPr lang="en-US" altLang="zh-CN" sz="2400" b="1" dirty="0">
                <a:latin typeface="+mn-ea"/>
                <a:ea typeface="+mn-ea"/>
              </a:rPr>
              <a:t>Verilog</a:t>
            </a:r>
            <a:r>
              <a:rPr lang="zh-CN" altLang="en-US" sz="2400" b="1" dirty="0">
                <a:latin typeface="+mn-ea"/>
                <a:ea typeface="+mn-ea"/>
              </a:rPr>
              <a:t>面向公众领域开放</a:t>
            </a:r>
            <a:r>
              <a:rPr lang="zh-CN" altLang="en-US" sz="2400" b="1" dirty="0" smtClean="0">
                <a:latin typeface="+mn-ea"/>
                <a:ea typeface="+mn-ea"/>
              </a:rPr>
              <a:t>。目前</a:t>
            </a:r>
            <a:r>
              <a:rPr lang="zh-CN" altLang="en-US" sz="2400" b="1" dirty="0">
                <a:latin typeface="+mn-ea"/>
                <a:ea typeface="+mn-ea"/>
              </a:rPr>
              <a:t>最新版本为</a:t>
            </a:r>
            <a:r>
              <a:rPr lang="en-US" altLang="zh-CN" sz="2400" b="1" dirty="0">
                <a:latin typeface="+mn-ea"/>
                <a:ea typeface="+mn-ea"/>
              </a:rPr>
              <a:t>IEEE 1800-2017</a:t>
            </a:r>
            <a:r>
              <a:rPr lang="zh-CN" altLang="en-US" sz="2400" b="1" dirty="0">
                <a:latin typeface="+mn-ea"/>
                <a:ea typeface="+mn-ea"/>
              </a:rPr>
              <a:t>版。</a:t>
            </a:r>
            <a:endParaRPr lang="zh-CN" altLang="en-US" sz="2400" b="1" dirty="0">
              <a:latin typeface="+mn-ea"/>
              <a:ea typeface="+mn-ea"/>
            </a:endParaRPr>
          </a:p>
        </p:txBody>
      </p:sp>
      <p:sp>
        <p:nvSpPr>
          <p:cNvPr id="4" name="矩形 3"/>
          <p:cNvSpPr/>
          <p:nvPr/>
        </p:nvSpPr>
        <p:spPr>
          <a:xfrm>
            <a:off x="724784" y="4974386"/>
            <a:ext cx="8434387" cy="1200329"/>
          </a:xfrm>
          <a:prstGeom prst="rect">
            <a:avLst/>
          </a:prstGeom>
        </p:spPr>
        <p:txBody>
          <a:bodyPr wrap="square">
            <a:spAutoFit/>
          </a:bodyPr>
          <a:lstStyle/>
          <a:p>
            <a:pPr indent="266700">
              <a:spcAft>
                <a:spcPts val="0"/>
              </a:spcAft>
              <a:tabLst>
                <a:tab pos="2628900" algn="ctr"/>
              </a:tabLst>
            </a:pPr>
            <a:r>
              <a:rPr lang="en-US" altLang="zh-CN" sz="2400" b="1" u="sng" kern="100" dirty="0"/>
              <a:t>Verilog HDL</a:t>
            </a:r>
            <a:r>
              <a:rPr lang="zh-CN" altLang="zh-CN" sz="2400" b="1" u="sng" kern="100" dirty="0"/>
              <a:t>是硬件描述语言的一种</a:t>
            </a:r>
            <a:r>
              <a:rPr lang="zh-CN" altLang="zh-CN" sz="2400" b="1" kern="100" dirty="0"/>
              <a:t>，从算法级到门级再到开关级，将数字系统的多种设计层次抽象建模。被建模的数字系统能够按照层级描述，并在相同描述中进行时序建模</a:t>
            </a:r>
            <a:r>
              <a:rPr lang="zh-CN" altLang="zh-CN" sz="2400" b="1" kern="100" dirty="0" smtClean="0"/>
              <a:t>。</a:t>
            </a:r>
            <a:endParaRPr lang="zh-CN" altLang="zh-CN" sz="2400" b="1"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10.1</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硬件语言与</a:t>
            </a: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Verilog</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2677656"/>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10.1.1</a:t>
            </a:r>
            <a:r>
              <a:rPr kumimoji="1" lang="en-US" altLang="zh-CN" b="1" dirty="0">
                <a:solidFill>
                  <a:srgbClr val="CC6600"/>
                </a:solidFill>
                <a:effectLst>
                  <a:outerShdw blurRad="38100" dist="38100" dir="2700000" algn="tl">
                    <a:srgbClr val="000000"/>
                  </a:outerShdw>
                </a:effectLst>
              </a:rPr>
              <a:t> Verilog</a:t>
            </a:r>
            <a:r>
              <a:rPr kumimoji="1" lang="zh-CN" altLang="en-US" b="1" dirty="0">
                <a:solidFill>
                  <a:srgbClr val="CC6600"/>
                </a:solidFill>
                <a:effectLst>
                  <a:outerShdw blurRad="38100" dist="38100" dir="2700000" algn="tl">
                    <a:srgbClr val="000000"/>
                  </a:outerShdw>
                </a:effectLst>
              </a:rPr>
              <a:t>语法</a:t>
            </a:r>
            <a:r>
              <a:rPr kumimoji="1" lang="zh-CN" altLang="en-US" b="1" dirty="0" smtClean="0">
                <a:solidFill>
                  <a:srgbClr val="CC6600"/>
                </a:solidFill>
                <a:effectLst>
                  <a:outerShdw blurRad="38100" dist="38100" dir="2700000" algn="tl">
                    <a:srgbClr val="000000"/>
                  </a:outerShdw>
                </a:effectLst>
              </a:rPr>
              <a:t>基础</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smtClean="0">
                <a:solidFill>
                  <a:srgbClr val="000000"/>
                </a:solidFill>
              </a:rPr>
              <a:t>     </a:t>
            </a:r>
            <a:r>
              <a:rPr kumimoji="1" lang="en-US" altLang="zh-CN" sz="2400" b="1" dirty="0">
                <a:solidFill>
                  <a:srgbClr val="000000"/>
                </a:solidFill>
              </a:rPr>
              <a:t>Verilog</a:t>
            </a:r>
            <a:r>
              <a:rPr kumimoji="1" lang="zh-CN" altLang="en-US" sz="2400" b="1" dirty="0">
                <a:solidFill>
                  <a:srgbClr val="000000"/>
                </a:solidFill>
              </a:rPr>
              <a:t>的基本设计单元是“模块”（</a:t>
            </a:r>
            <a:r>
              <a:rPr kumimoji="1" lang="en-US" altLang="zh-CN" sz="2400" b="1" dirty="0">
                <a:solidFill>
                  <a:srgbClr val="000000"/>
                </a:solidFill>
              </a:rPr>
              <a:t>module</a:t>
            </a:r>
            <a:r>
              <a:rPr kumimoji="1" lang="zh-CN" altLang="en-US" sz="2400" b="1" dirty="0">
                <a:solidFill>
                  <a:srgbClr val="000000"/>
                </a:solidFill>
              </a:rPr>
              <a:t>）。模块由两部分组成的，一部分描述接口，另一部分描述逻辑功能，即定义输入与输出之间的关系。模块的定义可以转换为电路图中的模块化图形，所以这种设计模式有别于软件设计中的代码，是一种电路的逻辑表达</a:t>
            </a:r>
            <a:r>
              <a:rPr kumimoji="1" lang="zh-CN" altLang="en-US" sz="2400" b="1" dirty="0" smtClean="0">
                <a:solidFill>
                  <a:srgbClr val="000000"/>
                </a:solidFill>
              </a:rPr>
              <a:t>。</a:t>
            </a:r>
            <a:endParaRPr kumimoji="1" lang="zh-CN" altLang="en-US" sz="2400" b="1" dirty="0">
              <a:solidFill>
                <a:srgbClr val="0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10.1</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硬件语言与</a:t>
            </a: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Verilog</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2877711"/>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10.1.1</a:t>
            </a:r>
            <a:r>
              <a:rPr kumimoji="1" lang="en-US" altLang="zh-CN" b="1" dirty="0">
                <a:solidFill>
                  <a:srgbClr val="CC6600"/>
                </a:solidFill>
                <a:effectLst>
                  <a:outerShdw blurRad="38100" dist="38100" dir="2700000" algn="tl">
                    <a:srgbClr val="000000"/>
                  </a:outerShdw>
                </a:effectLst>
              </a:rPr>
              <a:t> Verilog</a:t>
            </a:r>
            <a:r>
              <a:rPr kumimoji="1" lang="zh-CN" altLang="en-US" b="1" dirty="0">
                <a:solidFill>
                  <a:srgbClr val="CC6600"/>
                </a:solidFill>
                <a:effectLst>
                  <a:outerShdw blurRad="38100" dist="38100" dir="2700000" algn="tl">
                    <a:srgbClr val="000000"/>
                  </a:outerShdw>
                </a:effectLst>
              </a:rPr>
              <a:t>语法</a:t>
            </a:r>
            <a:r>
              <a:rPr kumimoji="1" lang="zh-CN" altLang="en-US" b="1" dirty="0" smtClean="0">
                <a:solidFill>
                  <a:srgbClr val="CC6600"/>
                </a:solidFill>
                <a:effectLst>
                  <a:outerShdw blurRad="38100" dist="38100" dir="2700000" algn="tl">
                    <a:srgbClr val="000000"/>
                  </a:outerShdw>
                </a:effectLst>
              </a:rPr>
              <a:t>基础</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algn="just" eaLnBrk="1" hangingPunct="1">
              <a:lnSpc>
                <a:spcPct val="110000"/>
              </a:lnSpc>
              <a:spcBef>
                <a:spcPct val="10000"/>
              </a:spcBef>
              <a:spcAft>
                <a:spcPct val="10000"/>
              </a:spcAft>
              <a:defRPr/>
            </a:pPr>
            <a:r>
              <a:rPr kumimoji="1" lang="zh-CN" altLang="en-US" sz="2200" b="1" dirty="0" smtClean="0">
                <a:solidFill>
                  <a:srgbClr val="000000"/>
                </a:solidFill>
              </a:rPr>
              <a:t>      图右侧</a:t>
            </a:r>
            <a:r>
              <a:rPr kumimoji="1" lang="zh-CN" altLang="en-US" sz="2200" b="1" dirty="0">
                <a:solidFill>
                  <a:srgbClr val="000000"/>
                </a:solidFill>
              </a:rPr>
              <a:t>表示</a:t>
            </a:r>
            <a:r>
              <a:rPr kumimoji="1" lang="en-US" altLang="zh-CN" sz="2200" b="1" dirty="0">
                <a:solidFill>
                  <a:srgbClr val="000000"/>
                </a:solidFill>
              </a:rPr>
              <a:t>2</a:t>
            </a:r>
            <a:r>
              <a:rPr kumimoji="1" lang="zh-CN" altLang="en-US" sz="2200" b="1" dirty="0">
                <a:solidFill>
                  <a:srgbClr val="000000"/>
                </a:solidFill>
              </a:rPr>
              <a:t>输入</a:t>
            </a:r>
            <a:r>
              <a:rPr kumimoji="1" lang="en-US" altLang="zh-CN" sz="2200" b="1" dirty="0">
                <a:solidFill>
                  <a:srgbClr val="000000"/>
                </a:solidFill>
              </a:rPr>
              <a:t>2</a:t>
            </a:r>
            <a:r>
              <a:rPr kumimoji="1" lang="zh-CN" altLang="en-US" sz="2200" b="1" dirty="0">
                <a:solidFill>
                  <a:srgbClr val="000000"/>
                </a:solidFill>
              </a:rPr>
              <a:t>输出端模块。</a:t>
            </a:r>
            <a:r>
              <a:rPr kumimoji="1" lang="en-US" altLang="zh-CN" sz="2200" b="1" dirty="0">
                <a:solidFill>
                  <a:srgbClr val="000000"/>
                </a:solidFill>
              </a:rPr>
              <a:t>module</a:t>
            </a:r>
            <a:r>
              <a:rPr kumimoji="1" lang="zh-CN" altLang="en-US" sz="2200" b="1" dirty="0">
                <a:solidFill>
                  <a:srgbClr val="000000"/>
                </a:solidFill>
              </a:rPr>
              <a:t>中声明模块的输入输出，以及模块中各部分的逻辑，用</a:t>
            </a:r>
            <a:r>
              <a:rPr kumimoji="1" lang="en-US" altLang="zh-CN" sz="2200" b="1" dirty="0">
                <a:solidFill>
                  <a:srgbClr val="000000"/>
                </a:solidFill>
              </a:rPr>
              <a:t>input</a:t>
            </a:r>
            <a:r>
              <a:rPr kumimoji="1" lang="zh-CN" altLang="en-US" sz="2200" b="1" dirty="0">
                <a:solidFill>
                  <a:srgbClr val="000000"/>
                </a:solidFill>
              </a:rPr>
              <a:t>标识出输入端，</a:t>
            </a:r>
            <a:r>
              <a:rPr kumimoji="1" lang="en-US" altLang="zh-CN" sz="2200" b="1" dirty="0">
                <a:solidFill>
                  <a:srgbClr val="000000"/>
                </a:solidFill>
              </a:rPr>
              <a:t>output</a:t>
            </a:r>
            <a:r>
              <a:rPr kumimoji="1" lang="zh-CN" altLang="en-US" sz="2200" b="1" dirty="0">
                <a:solidFill>
                  <a:srgbClr val="000000"/>
                </a:solidFill>
              </a:rPr>
              <a:t>标识输出端。在模块中用</a:t>
            </a:r>
            <a:r>
              <a:rPr kumimoji="1" lang="en-US" altLang="zh-CN" sz="2200" b="1" dirty="0">
                <a:solidFill>
                  <a:srgbClr val="000000"/>
                </a:solidFill>
              </a:rPr>
              <a:t>assign</a:t>
            </a:r>
            <a:r>
              <a:rPr kumimoji="1" lang="zh-CN" altLang="en-US" sz="2200" b="1" dirty="0">
                <a:solidFill>
                  <a:srgbClr val="000000"/>
                </a:solidFill>
              </a:rPr>
              <a:t>表示其中的逻辑表达式。可以很直观地看到，图中左侧的代码部分和右侧的电路中的各部分相对应，而</a:t>
            </a:r>
            <a:r>
              <a:rPr kumimoji="1" lang="en-US" altLang="zh-CN" sz="2200" b="1" dirty="0">
                <a:solidFill>
                  <a:srgbClr val="000000"/>
                </a:solidFill>
              </a:rPr>
              <a:t>assign</a:t>
            </a:r>
            <a:r>
              <a:rPr kumimoji="1" lang="zh-CN" altLang="en-US" sz="2200" b="1" dirty="0">
                <a:solidFill>
                  <a:srgbClr val="000000"/>
                </a:solidFill>
              </a:rPr>
              <a:t>的表达式，表明了输入和输出之间的逻辑关系。逻辑表达式中的符号分别表示了“与”“或”“非”三种基本逻辑</a:t>
            </a:r>
            <a:r>
              <a:rPr kumimoji="1" lang="zh-CN" altLang="en-US" sz="2200" b="1" dirty="0" smtClean="0">
                <a:solidFill>
                  <a:srgbClr val="000000"/>
                </a:solidFill>
              </a:rPr>
              <a:t>。</a:t>
            </a:r>
            <a:endParaRPr kumimoji="1" lang="zh-CN" altLang="en-US" sz="2200" b="1" i="0" u="none" strike="noStrike" kern="1200" cap="none" spc="0" normalizeH="0" baseline="0" noProof="0" dirty="0">
              <a:ln>
                <a:noFill/>
              </a:ln>
              <a:solidFill>
                <a:srgbClr val="000000"/>
              </a:solidFill>
              <a:effectLst/>
              <a:uLnTx/>
              <a:uFillTx/>
            </a:endParaRPr>
          </a:p>
        </p:txBody>
      </p:sp>
      <p:pic>
        <p:nvPicPr>
          <p:cNvPr id="4" name="图片 3"/>
          <p:cNvPicPr/>
          <p:nvPr/>
        </p:nvPicPr>
        <p:blipFill>
          <a:blip r:embed="rId1" cstate="print"/>
          <a:srcRect l="40439" t="32083" r="19846" b="33888"/>
          <a:stretch>
            <a:fillRect/>
          </a:stretch>
        </p:blipFill>
        <p:spPr>
          <a:xfrm>
            <a:off x="2168525" y="4114165"/>
            <a:ext cx="4160520" cy="2386965"/>
          </a:xfrm>
          <a:prstGeom prst="rect">
            <a:avLst/>
          </a:prstGeom>
          <a:noFill/>
          <a:ln>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10.1</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硬件语言与</a:t>
            </a: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Verilog</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2456057"/>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10.1.2</a:t>
            </a:r>
            <a:r>
              <a:rPr kumimoji="1" lang="zh-CN" altLang="en-US" b="1" dirty="0">
                <a:solidFill>
                  <a:srgbClr val="CC6600"/>
                </a:solidFill>
                <a:effectLst>
                  <a:outerShdw blurRad="38100" dist="38100" dir="2700000" algn="tl">
                    <a:srgbClr val="000000"/>
                  </a:outerShdw>
                </a:effectLst>
              </a:rPr>
              <a:t>逻辑电路的</a:t>
            </a:r>
            <a:r>
              <a:rPr kumimoji="1" lang="zh-CN" altLang="en-US" b="1" dirty="0" smtClean="0">
                <a:solidFill>
                  <a:srgbClr val="CC6600"/>
                </a:solidFill>
                <a:effectLst>
                  <a:outerShdw blurRad="38100" dist="38100" dir="2700000" algn="tl">
                    <a:srgbClr val="000000"/>
                  </a:outerShdw>
                </a:effectLst>
              </a:rPr>
              <a:t>结构化</a:t>
            </a:r>
            <a:endParaRPr kumimoji="1" lang="en-US" altLang="zh-CN" b="1" dirty="0" smtClean="0">
              <a:solidFill>
                <a:srgbClr val="CC6600"/>
              </a:solidFill>
              <a:effectLst>
                <a:outerShdw blurRad="38100" dist="38100" dir="2700000" algn="tl">
                  <a:srgbClr val="000000"/>
                </a:outerShdw>
              </a:effectLst>
            </a:endParaRPr>
          </a:p>
          <a:p>
            <a:pPr lvl="0" indent="266700"/>
            <a:r>
              <a:rPr kumimoji="1" lang="zh-CN" altLang="en-US" sz="2200" b="1" dirty="0" smtClean="0">
                <a:solidFill>
                  <a:srgbClr val="000000"/>
                </a:solidFill>
              </a:rPr>
              <a:t>      </a:t>
            </a:r>
            <a:r>
              <a:rPr lang="zh-CN" altLang="zh-CN" sz="2400" b="1" dirty="0" smtClean="0">
                <a:cs typeface="Times New Roman" panose="02020603050405020304" pitchFamily="18" charset="0"/>
              </a:rPr>
              <a:t>逻辑表达式</a:t>
            </a:r>
            <a:r>
              <a:rPr lang="zh-CN" altLang="zh-CN" sz="2400" b="1" dirty="0">
                <a:cs typeface="Times New Roman" panose="02020603050405020304" pitchFamily="18" charset="0"/>
              </a:rPr>
              <a:t>令</a:t>
            </a:r>
            <a:r>
              <a:rPr lang="en-US" altLang="zh-CN" sz="2400" b="1" dirty="0">
                <a:cs typeface="Times New Roman" panose="02020603050405020304" pitchFamily="18" charset="0"/>
              </a:rPr>
              <a:t>Verilog</a:t>
            </a:r>
            <a:r>
              <a:rPr lang="zh-CN" altLang="en-US" sz="2400" b="1" dirty="0">
                <a:cs typeface="Times New Roman" panose="02020603050405020304" pitchFamily="18" charset="0"/>
              </a:rPr>
              <a:t>的代码编写变得更容易，如：运算符“</a:t>
            </a:r>
            <a:r>
              <a:rPr lang="en-US" altLang="zh-CN" sz="2400" b="1" dirty="0">
                <a:cs typeface="Times New Roman" panose="02020603050405020304" pitchFamily="18" charset="0"/>
              </a:rPr>
              <a:t>&amp;”</a:t>
            </a:r>
            <a:r>
              <a:rPr lang="zh-CN" altLang="en-US" sz="2400" b="1" dirty="0">
                <a:cs typeface="Times New Roman" panose="02020603050405020304" pitchFamily="18" charset="0"/>
              </a:rPr>
              <a:t>和“</a:t>
            </a:r>
            <a:r>
              <a:rPr lang="en-US" altLang="zh-CN" sz="2400" b="1" dirty="0">
                <a:cs typeface="Times New Roman" panose="02020603050405020304" pitchFamily="18" charset="0"/>
              </a:rPr>
              <a:t>|”</a:t>
            </a:r>
            <a:r>
              <a:rPr lang="zh-CN" altLang="en-US" sz="2400" b="1" dirty="0">
                <a:cs typeface="Times New Roman" panose="02020603050405020304" pitchFamily="18" charset="0"/>
              </a:rPr>
              <a:t>分别表示“与”</a:t>
            </a:r>
            <a:r>
              <a:rPr lang="zh-CN" altLang="en-US" sz="2400" b="1" dirty="0">
                <a:solidFill>
                  <a:srgbClr val="000000"/>
                </a:solidFill>
                <a:cs typeface="Times New Roman" panose="02020603050405020304" pitchFamily="18" charset="0"/>
              </a:rPr>
              <a:t>与算</a:t>
            </a:r>
            <a:r>
              <a:rPr lang="zh-CN" altLang="en-US" sz="2400" b="1" dirty="0">
                <a:cs typeface="Times New Roman" panose="02020603050405020304" pitchFamily="18" charset="0"/>
              </a:rPr>
              <a:t>和“或”运算。如图</a:t>
            </a:r>
            <a:r>
              <a:rPr lang="en-US" altLang="zh-CN" sz="2400" b="1" dirty="0">
                <a:cs typeface="Times New Roman" panose="02020603050405020304" pitchFamily="18" charset="0"/>
              </a:rPr>
              <a:t>10.2</a:t>
            </a:r>
            <a:r>
              <a:rPr lang="zh-CN" altLang="en-US" sz="2400" b="1" dirty="0">
                <a:cs typeface="Times New Roman" panose="02020603050405020304" pitchFamily="18" charset="0"/>
              </a:rPr>
              <a:t>所示的电路中包括三个输入</a:t>
            </a:r>
            <a:r>
              <a:rPr lang="en-US" altLang="zh-CN" sz="2400" b="1" i="1" dirty="0">
                <a:cs typeface="Times New Roman" panose="02020603050405020304" pitchFamily="18" charset="0"/>
              </a:rPr>
              <a:t>X1,X2,S</a:t>
            </a:r>
            <a:r>
              <a:rPr lang="zh-CN" altLang="en-US" sz="2400" b="1" dirty="0">
                <a:cs typeface="Times New Roman" panose="02020603050405020304" pitchFamily="18" charset="0"/>
              </a:rPr>
              <a:t>和一个输出</a:t>
            </a:r>
            <a:r>
              <a:rPr lang="en-US" altLang="zh-CN" sz="2400" b="1" i="1" dirty="0">
                <a:cs typeface="Times New Roman" panose="02020603050405020304" pitchFamily="18" charset="0"/>
              </a:rPr>
              <a:t>F</a:t>
            </a:r>
            <a:r>
              <a:rPr lang="zh-CN" altLang="en-US" sz="2400" b="1" dirty="0">
                <a:cs typeface="Times New Roman" panose="02020603050405020304" pitchFamily="18" charset="0"/>
              </a:rPr>
              <a:t>，可以设置中间变量，用</a:t>
            </a:r>
            <a:r>
              <a:rPr lang="en-US" altLang="zh-CN" sz="2400" b="1" dirty="0">
                <a:cs typeface="Times New Roman" panose="02020603050405020304" pitchFamily="18" charset="0"/>
              </a:rPr>
              <a:t>and or</a:t>
            </a:r>
            <a:r>
              <a:rPr lang="zh-CN" altLang="en-US" sz="2400" b="1" dirty="0">
                <a:cs typeface="Times New Roman" panose="02020603050405020304" pitchFamily="18" charset="0"/>
              </a:rPr>
              <a:t>表示逻辑门电路，实现</a:t>
            </a:r>
            <a:r>
              <a:rPr lang="en-US" altLang="zh-CN" sz="2400" b="1" dirty="0">
                <a:cs typeface="Times New Roman" panose="02020603050405020304" pitchFamily="18" charset="0"/>
              </a:rPr>
              <a:t>Verilog</a:t>
            </a:r>
            <a:r>
              <a:rPr lang="zh-CN" altLang="en-US" sz="2400" b="1" dirty="0">
                <a:cs typeface="Times New Roman" panose="02020603050405020304" pitchFamily="18" charset="0"/>
              </a:rPr>
              <a:t>代码的书写，如图</a:t>
            </a:r>
            <a:r>
              <a:rPr lang="en-US" altLang="zh-CN" sz="2400" b="1" dirty="0">
                <a:cs typeface="Times New Roman" panose="02020603050405020304" pitchFamily="18" charset="0"/>
              </a:rPr>
              <a:t>10.3</a:t>
            </a:r>
            <a:r>
              <a:rPr lang="zh-CN" altLang="en-US" sz="2400" b="1" dirty="0">
                <a:cs typeface="Times New Roman" panose="02020603050405020304" pitchFamily="18" charset="0"/>
              </a:rPr>
              <a:t>所示</a:t>
            </a:r>
            <a:r>
              <a:rPr lang="zh-CN" altLang="en-US" sz="2400" b="1" dirty="0" smtClean="0">
                <a:cs typeface="Times New Roman" panose="02020603050405020304" pitchFamily="18" charset="0"/>
              </a:rPr>
              <a:t>。</a:t>
            </a:r>
            <a:endParaRPr kumimoji="1" lang="zh-CN" altLang="en-US" sz="2200" b="1" i="0" u="none" strike="noStrike" kern="1200" cap="none" spc="0" normalizeH="0" baseline="0" noProof="0" dirty="0">
              <a:ln>
                <a:noFill/>
              </a:ln>
              <a:solidFill>
                <a:srgbClr val="000000"/>
              </a:solidFill>
              <a:effectLst/>
              <a:uLnTx/>
              <a:uFillTx/>
            </a:endParaRPr>
          </a:p>
        </p:txBody>
      </p:sp>
      <p:pic>
        <p:nvPicPr>
          <p:cNvPr id="2049" name="图片 1"/>
          <p:cNvPicPr>
            <a:picLocks noChangeAspect="1" noChangeArrowheads="1"/>
          </p:cNvPicPr>
          <p:nvPr/>
        </p:nvPicPr>
        <p:blipFill>
          <a:blip r:embed="rId1">
            <a:extLst>
              <a:ext uri="{28A0092B-C50C-407E-A947-70E740481C1C}">
                <a14:useLocalDpi xmlns:a14="http://schemas.microsoft.com/office/drawing/2010/main" val="0"/>
              </a:ext>
            </a:extLst>
          </a:blip>
          <a:srcRect l="44214" t="37376" r="29012" b="42863"/>
          <a:stretch>
            <a:fillRect/>
          </a:stretch>
        </p:blipFill>
        <p:spPr bwMode="auto">
          <a:xfrm>
            <a:off x="314888" y="3833349"/>
            <a:ext cx="4955988" cy="183353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8"/>
          <p:cNvGrpSpPr/>
          <p:nvPr/>
        </p:nvGrpSpPr>
        <p:grpSpPr>
          <a:xfrm>
            <a:off x="5421086" y="3619581"/>
            <a:ext cx="2390503" cy="2605949"/>
            <a:chOff x="-1882" y="30782"/>
            <a:chExt cx="2668" cy="2962"/>
          </a:xfrm>
          <a:effectLst/>
        </p:grpSpPr>
        <p:sp>
          <p:nvSpPr>
            <p:cNvPr id="10" name="文本框 14"/>
            <p:cNvSpPr txBox="1"/>
            <p:nvPr/>
          </p:nvSpPr>
          <p:spPr>
            <a:xfrm>
              <a:off x="-1882" y="30782"/>
              <a:ext cx="2668" cy="2962"/>
            </a:xfrm>
            <a:prstGeom prst="rect">
              <a:avLst/>
            </a:prstGeom>
            <a:solidFill>
              <a:srgbClr val="FFFFFF"/>
            </a:solidFill>
            <a:ln w="6350">
              <a:noFill/>
            </a:ln>
            <a:effectLst/>
          </p:spPr>
          <p:txBody>
            <a:bodyPr rot="0" spcFirstLastPara="0" vert="horz" wrap="square" lIns="91440" tIns="45720" rIns="91440" bIns="45720" numCol="1" spcCol="0" rtlCol="0" fromWordArt="0" anchor="t" anchorCtr="0" forceAA="0" compatLnSpc="1">
              <a:noAutofit/>
            </a:bodyPr>
            <a:lstStyle/>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105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p>
              <a:pPr algn="ctr">
                <a:spcAft>
                  <a:spcPts val="0"/>
                </a:spcAft>
              </a:pPr>
              <a:r>
                <a:rPr lang="zh-CN" sz="900" b="1" kern="100">
                  <a:effectLst/>
                  <a:latin typeface="Times New Roman" panose="02020603050405020304" pitchFamily="18" charset="0"/>
                  <a:ea typeface="宋体" panose="02010600030101010101" pitchFamily="2" charset="-122"/>
                </a:rPr>
                <a:t>图</a:t>
              </a:r>
              <a:r>
                <a:rPr lang="en-US" sz="900" b="1" kern="100">
                  <a:effectLst/>
                  <a:latin typeface="Times New Roman" panose="02020603050405020304" pitchFamily="18" charset="0"/>
                  <a:ea typeface="宋体" panose="02010600030101010101" pitchFamily="2" charset="-122"/>
                </a:rPr>
                <a:t>10.3 </a:t>
              </a:r>
              <a:r>
                <a:rPr lang="zh-CN" sz="900" b="1" kern="100">
                  <a:effectLst/>
                  <a:latin typeface="Times New Roman" panose="02020603050405020304" pitchFamily="18" charset="0"/>
                  <a:ea typeface="宋体" panose="02010600030101010101" pitchFamily="2" charset="-122"/>
                </a:rPr>
                <a:t>图</a:t>
              </a:r>
              <a:r>
                <a:rPr lang="en-US" sz="900" b="1" kern="100">
                  <a:effectLst/>
                  <a:latin typeface="Times New Roman" panose="02020603050405020304" pitchFamily="18" charset="0"/>
                  <a:ea typeface="宋体" panose="02010600030101010101" pitchFamily="2" charset="-122"/>
                </a:rPr>
                <a:t>10-2</a:t>
              </a:r>
              <a:r>
                <a:rPr lang="zh-CN" sz="900" b="1" kern="100">
                  <a:effectLst/>
                  <a:latin typeface="Times New Roman" panose="02020603050405020304" pitchFamily="18" charset="0"/>
                  <a:ea typeface="宋体" panose="02010600030101010101" pitchFamily="2" charset="-122"/>
                </a:rPr>
                <a:t>的</a:t>
              </a:r>
              <a:r>
                <a:rPr lang="en-US" sz="900" b="1" kern="100">
                  <a:effectLst/>
                  <a:latin typeface="Times New Roman" panose="02020603050405020304" pitchFamily="18" charset="0"/>
                  <a:ea typeface="宋体" panose="02010600030101010101" pitchFamily="2" charset="-122"/>
                </a:rPr>
                <a:t>Verilog</a:t>
              </a:r>
              <a:r>
                <a:rPr lang="zh-CN" sz="900" b="1" kern="100">
                  <a:effectLst/>
                  <a:latin typeface="Times New Roman" panose="02020603050405020304" pitchFamily="18" charset="0"/>
                  <a:ea typeface="宋体" panose="02010600030101010101" pitchFamily="2" charset="-122"/>
                </a:rPr>
                <a:t>代码</a:t>
              </a:r>
              <a:endParaRPr lang="zh-CN" sz="1050" kern="100">
                <a:effectLst/>
                <a:latin typeface="Times New Roman" panose="02020603050405020304" pitchFamily="18" charset="0"/>
                <a:ea typeface="宋体" panose="02010600030101010101" pitchFamily="2" charset="-122"/>
              </a:endParaRPr>
            </a:p>
          </p:txBody>
        </p:sp>
        <p:sp>
          <p:nvSpPr>
            <p:cNvPr id="11" name="文本框 15"/>
            <p:cNvSpPr txBox="1"/>
            <p:nvPr/>
          </p:nvSpPr>
          <p:spPr>
            <a:xfrm>
              <a:off x="-1698" y="30918"/>
              <a:ext cx="2344" cy="2298"/>
            </a:xfrm>
            <a:prstGeom prst="rect">
              <a:avLst/>
            </a:prstGeom>
            <a:solidFill>
              <a:srgbClr val="FFFFFF"/>
            </a:solidFill>
            <a:ln w="12700" cmpd="sng">
              <a:solidFill>
                <a:srgbClr val="000000"/>
              </a:solidFill>
              <a:prstDash val="solid"/>
            </a:ln>
            <a:effectLst/>
          </p:spPr>
          <p:txBody>
            <a:bodyPr rot="0" spcFirstLastPara="0" vert="horz" wrap="square" lIns="91440" tIns="45720" rIns="91440" bIns="45720" numCol="1" spcCol="0" rtlCol="0" fromWordArt="0" anchor="t" anchorCtr="0" forceAA="0" compatLnSpc="1">
              <a:noAutofit/>
            </a:bodyPr>
            <a:lstStyle/>
            <a:p>
              <a:pPr algn="just">
                <a:spcAft>
                  <a:spcPts val="0"/>
                </a:spcAft>
              </a:pPr>
              <a:r>
                <a:rPr lang="en-US" sz="900" i="1" kern="100" dirty="0">
                  <a:effectLst/>
                  <a:latin typeface="Times New Roman" panose="02020603050405020304" pitchFamily="18" charset="0"/>
                  <a:ea typeface="宋体" panose="02010600030101010101" pitchFamily="2" charset="-122"/>
                </a:rPr>
                <a:t>module select(X1,X2,S,F)</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input  X1,X2,S;</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output  F</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not (K,S);</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and (G,K,X1);</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and (H,K,X2);</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or (F,G,H);</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a:effectLst/>
                  <a:latin typeface="Times New Roman" panose="02020603050405020304" pitchFamily="18" charset="0"/>
                  <a:ea typeface="宋体" panose="02010600030101010101" pitchFamily="2" charset="-122"/>
                </a:rPr>
                <a:t> </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900" i="1" kern="100" dirty="0" err="1">
                  <a:effectLst/>
                  <a:latin typeface="Times New Roman" panose="02020603050405020304" pitchFamily="18" charset="0"/>
                  <a:ea typeface="宋体" panose="02010600030101010101" pitchFamily="2" charset="-122"/>
                </a:rPr>
                <a:t>endmodule</a:t>
              </a:r>
              <a:endParaRPr lang="zh-CN" sz="1050" kern="100" dirty="0">
                <a:effectLst/>
                <a:latin typeface="Times New Roman" panose="02020603050405020304" pitchFamily="18" charset="0"/>
                <a:ea typeface="宋体" panose="02010600030101010101" pitchFamily="2" charset="-122"/>
              </a:endParaRPr>
            </a:p>
            <a:p>
              <a:pPr algn="just">
                <a:spcAft>
                  <a:spcPts val="0"/>
                </a:spcAft>
              </a:pPr>
              <a:r>
                <a:rPr lang="en-US" sz="1050" kern="100" dirty="0">
                  <a:effectLst/>
                  <a:latin typeface="Times New Roman" panose="02020603050405020304" pitchFamily="18" charset="0"/>
                  <a:ea typeface="宋体" panose="02010600030101010101" pitchFamily="2" charset="-122"/>
                </a:rPr>
                <a:t> </a:t>
              </a:r>
              <a:endParaRPr lang="zh-CN" sz="1050" kern="100" dirty="0">
                <a:effectLst/>
                <a:latin typeface="Times New Roman" panose="02020603050405020304" pitchFamily="18" charset="0"/>
                <a:ea typeface="宋体" panose="0201060003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10.1</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硬件语言与</a:t>
            </a:r>
            <a:r>
              <a:rPr kumimoji="1" lang="en-US" altLang="zh-CN"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Verilog</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396105" y="1279752"/>
            <a:ext cx="8747895" cy="4708981"/>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10.1.3</a:t>
            </a:r>
            <a:r>
              <a:rPr kumimoji="1" lang="zh-CN" altLang="en-US" b="1" dirty="0">
                <a:solidFill>
                  <a:srgbClr val="CC6600"/>
                </a:solidFill>
                <a:effectLst>
                  <a:outerShdw blurRad="38100" dist="38100" dir="2700000" algn="tl">
                    <a:srgbClr val="000000"/>
                  </a:outerShdw>
                </a:effectLst>
              </a:rPr>
              <a:t>代码书写的</a:t>
            </a:r>
            <a:r>
              <a:rPr kumimoji="1" lang="zh-CN" altLang="en-US" b="1" dirty="0" smtClean="0">
                <a:solidFill>
                  <a:srgbClr val="CC6600"/>
                </a:solidFill>
                <a:effectLst>
                  <a:outerShdw blurRad="38100" dist="38100" dir="2700000" algn="tl">
                    <a:srgbClr val="000000"/>
                  </a:outerShdw>
                </a:effectLst>
              </a:rPr>
              <a:t>规则</a:t>
            </a:r>
            <a:endParaRPr kumimoji="1" lang="en-US" altLang="zh-CN" b="1" dirty="0" smtClean="0">
              <a:solidFill>
                <a:srgbClr val="CC6600"/>
              </a:solidFill>
              <a:effectLst>
                <a:outerShdw blurRad="38100" dist="38100" dir="2700000" algn="tl">
                  <a:srgbClr val="000000"/>
                </a:outerShdw>
              </a:effectLst>
            </a:endParaRPr>
          </a:p>
          <a:p>
            <a:r>
              <a:rPr lang="en-US" altLang="zh-CN" sz="2400" b="1" dirty="0" smtClean="0"/>
              <a:t>      </a:t>
            </a:r>
            <a:r>
              <a:rPr lang="zh-CN" altLang="zh-CN" sz="2400" b="1" dirty="0" smtClean="0"/>
              <a:t>学习</a:t>
            </a:r>
            <a:r>
              <a:rPr lang="en-US" altLang="zh-CN" sz="2400" b="1" dirty="0"/>
              <a:t>Verilog</a:t>
            </a:r>
            <a:r>
              <a:rPr lang="zh-CN" altLang="zh-CN" sz="2400" b="1" dirty="0"/>
              <a:t>或其他硬件描述语言，新手很容易犯的错误是将硬件表达软件化。也就是说我们会按照以往软件代码编写的习惯，定义变量和循环。基础规则例如注释方法，关键字等的规则如下：</a:t>
            </a:r>
            <a:endParaRPr lang="zh-CN" altLang="zh-CN" sz="2400" b="1" dirty="0"/>
          </a:p>
          <a:p>
            <a:r>
              <a:rPr lang="zh-CN" altLang="zh-CN" sz="2400" b="1" dirty="0"/>
              <a:t>（</a:t>
            </a:r>
            <a:r>
              <a:rPr lang="en-US" altLang="zh-CN" sz="2400" b="1" dirty="0"/>
              <a:t>1</a:t>
            </a:r>
            <a:r>
              <a:rPr lang="zh-CN" altLang="zh-CN" sz="2400" b="1" dirty="0"/>
              <a:t>）短注释用双斜线</a:t>
            </a:r>
            <a:r>
              <a:rPr lang="en-US" altLang="zh-CN" sz="2400" b="1" dirty="0"/>
              <a:t>“//”</a:t>
            </a:r>
            <a:r>
              <a:rPr lang="zh-CN" altLang="zh-CN" sz="2400" b="1" dirty="0"/>
              <a:t>分隔，</a:t>
            </a:r>
            <a:r>
              <a:rPr lang="en-US" altLang="zh-CN" sz="2400" b="1" dirty="0"/>
              <a:t>“//”</a:t>
            </a:r>
            <a:r>
              <a:rPr lang="zh-CN" altLang="zh-CN" sz="2400" b="1" dirty="0"/>
              <a:t>后的内容不参与代码执行；多行注释以</a:t>
            </a:r>
            <a:r>
              <a:rPr lang="en-US" altLang="zh-CN" sz="2400" b="1" dirty="0"/>
              <a:t>“/*”</a:t>
            </a:r>
            <a:r>
              <a:rPr lang="zh-CN" altLang="zh-CN" sz="2400" b="1" dirty="0"/>
              <a:t>和</a:t>
            </a:r>
            <a:r>
              <a:rPr lang="en-US" altLang="zh-CN" sz="2400" b="1" dirty="0"/>
              <a:t>“*/”</a:t>
            </a:r>
            <a:r>
              <a:rPr lang="zh-CN" altLang="zh-CN" sz="2400" b="1" dirty="0"/>
              <a:t>作为起始和结束；</a:t>
            </a:r>
            <a:endParaRPr lang="zh-CN" altLang="zh-CN" sz="2400" b="1" dirty="0"/>
          </a:p>
          <a:p>
            <a:r>
              <a:rPr lang="zh-CN" altLang="zh-CN" sz="2400" b="1" dirty="0"/>
              <a:t>（</a:t>
            </a:r>
            <a:r>
              <a:rPr lang="en-US" altLang="zh-CN" sz="2400" b="1" dirty="0"/>
              <a:t>2</a:t>
            </a:r>
            <a:r>
              <a:rPr lang="zh-CN" altLang="zh-CN" sz="2400" b="1" dirty="0"/>
              <a:t>）关键字必须小写，如</a:t>
            </a:r>
            <a:r>
              <a:rPr lang="en-US" altLang="zh-CN" sz="2400" b="1" dirty="0" err="1"/>
              <a:t>reg</a:t>
            </a:r>
            <a:r>
              <a:rPr lang="zh-CN" altLang="zh-CN" sz="2400" b="1" dirty="0"/>
              <a:t>、</a:t>
            </a:r>
            <a:r>
              <a:rPr lang="en-US" altLang="zh-CN" sz="2400" b="1" dirty="0"/>
              <a:t>input</a:t>
            </a:r>
            <a:r>
              <a:rPr lang="zh-CN" altLang="zh-CN" sz="2400" b="1" dirty="0"/>
              <a:t>；</a:t>
            </a:r>
            <a:endParaRPr lang="zh-CN" altLang="zh-CN" sz="2400" b="1" dirty="0"/>
          </a:p>
          <a:p>
            <a:r>
              <a:rPr lang="zh-CN" altLang="zh-CN" sz="2400" b="1" dirty="0" smtClean="0"/>
              <a:t>（</a:t>
            </a:r>
            <a:r>
              <a:rPr lang="en-US" altLang="zh-CN" sz="2400" b="1" dirty="0" smtClean="0"/>
              <a:t>3</a:t>
            </a:r>
            <a:r>
              <a:rPr lang="zh-CN" altLang="zh-CN" sz="2400" b="1" dirty="0" smtClean="0"/>
              <a:t>）</a:t>
            </a:r>
            <a:r>
              <a:rPr lang="zh-CN" altLang="zh-CN" sz="2400" b="1" dirty="0"/>
              <a:t>标识符区分大小写，开头必须是字母或下划线，如</a:t>
            </a:r>
            <a:r>
              <a:rPr lang="en-US" altLang="zh-CN" sz="2400" b="1" dirty="0"/>
              <a:t>CLK</a:t>
            </a:r>
            <a:r>
              <a:rPr lang="zh-CN" altLang="zh-CN" sz="2400" b="1" dirty="0"/>
              <a:t>、</a:t>
            </a:r>
            <a:r>
              <a:rPr lang="en-US" altLang="zh-CN" sz="2400" b="1" dirty="0" err="1"/>
              <a:t>clk</a:t>
            </a:r>
            <a:r>
              <a:rPr lang="zh-CN" altLang="zh-CN" sz="2400" b="1" dirty="0"/>
              <a:t>（两者不同）；</a:t>
            </a:r>
            <a:endParaRPr lang="zh-CN" altLang="zh-CN" sz="2400" b="1" dirty="0"/>
          </a:p>
          <a:p>
            <a:r>
              <a:rPr lang="zh-CN" altLang="zh-CN" sz="2400" b="1" dirty="0" smtClean="0"/>
              <a:t>（</a:t>
            </a:r>
            <a:r>
              <a:rPr lang="en-US" altLang="zh-CN" sz="2400" b="1" dirty="0"/>
              <a:t>4</a:t>
            </a:r>
            <a:r>
              <a:rPr lang="zh-CN" altLang="zh-CN" sz="2400" b="1" dirty="0" smtClean="0"/>
              <a:t>）</a:t>
            </a:r>
            <a:r>
              <a:rPr lang="zh-CN" altLang="zh-CN" sz="2400" b="1" dirty="0"/>
              <a:t>每条语句必须以</a:t>
            </a:r>
            <a:r>
              <a:rPr lang="en-US" altLang="zh-CN" sz="2400" b="1" dirty="0"/>
              <a:t>“</a:t>
            </a:r>
            <a:r>
              <a:rPr lang="zh-CN" altLang="zh-CN" sz="2400" b="1" dirty="0"/>
              <a:t>；</a:t>
            </a:r>
            <a:r>
              <a:rPr lang="en-US" altLang="zh-CN" sz="2400" b="1" dirty="0"/>
              <a:t>”</a:t>
            </a:r>
            <a:r>
              <a:rPr lang="zh-CN" altLang="zh-CN" sz="2400" b="1" dirty="0"/>
              <a:t>结束。</a:t>
            </a:r>
            <a:endParaRPr lang="zh-CN" altLang="zh-CN" sz="2400" b="1" dirty="0"/>
          </a:p>
          <a:p>
            <a:pPr lvl="0" eaLnBrk="1" hangingPunct="1">
              <a:lnSpc>
                <a:spcPct val="110000"/>
              </a:lnSpc>
              <a:spcBef>
                <a:spcPct val="10000"/>
              </a:spcBef>
              <a:spcAft>
                <a:spcPct val="10000"/>
              </a:spcAft>
              <a:defRPr/>
            </a:pPr>
            <a:endParaRPr kumimoji="1" lang="zh-CN" altLang="en-US" sz="2200" b="1" i="0" u="none" strike="noStrike" kern="1200" cap="none" spc="0" normalizeH="0" baseline="0" noProof="0" dirty="0">
              <a:ln>
                <a:noFill/>
              </a:ln>
              <a:solidFill>
                <a:srgbClr val="000000"/>
              </a:solidFill>
              <a:effectLst/>
              <a:uLnTx/>
              <a:uFillTx/>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animEffect transition="in" filter="blinds(horizontal)">
                                      <p:cBhvr>
                                        <p:cTn id="23" dur="500"/>
                                        <p:tgtEl>
                                          <p:spTgt spid="717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72">
                                            <p:txEl>
                                              <p:pRg st="3" end="3"/>
                                            </p:txEl>
                                          </p:spTgt>
                                        </p:tgtEl>
                                        <p:attrNameLst>
                                          <p:attrName>style.visibility</p:attrName>
                                        </p:attrNameLst>
                                      </p:cBhvr>
                                      <p:to>
                                        <p:strVal val="visible"/>
                                      </p:to>
                                    </p:set>
                                    <p:animEffect transition="in" filter="blinds(horizontal)">
                                      <p:cBhvr>
                                        <p:cTn id="28" dur="500"/>
                                        <p:tgtEl>
                                          <p:spTgt spid="717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172">
                                            <p:txEl>
                                              <p:pRg st="4" end="4"/>
                                            </p:txEl>
                                          </p:spTgt>
                                        </p:tgtEl>
                                        <p:attrNameLst>
                                          <p:attrName>style.visibility</p:attrName>
                                        </p:attrNameLst>
                                      </p:cBhvr>
                                      <p:to>
                                        <p:strVal val="visible"/>
                                      </p:to>
                                    </p:set>
                                    <p:animEffect transition="in" filter="blinds(horizontal)">
                                      <p:cBhvr>
                                        <p:cTn id="33" dur="500"/>
                                        <p:tgtEl>
                                          <p:spTgt spid="717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172">
                                            <p:txEl>
                                              <p:pRg st="5" end="5"/>
                                            </p:txEl>
                                          </p:spTgt>
                                        </p:tgtEl>
                                        <p:attrNameLst>
                                          <p:attrName>style.visibility</p:attrName>
                                        </p:attrNameLst>
                                      </p:cBhvr>
                                      <p:to>
                                        <p:strVal val="visible"/>
                                      </p:to>
                                    </p:set>
                                    <p:animEffect transition="in" filter="blinds(horizontal)">
                                      <p:cBhvr>
                                        <p:cTn id="38" dur="500"/>
                                        <p:tgtEl>
                                          <p:spTgt spid="71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442912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10.2.1</a:t>
            </a:r>
            <a:r>
              <a:rPr kumimoji="1" lang="zh-CN" altLang="en-US" b="1" dirty="0">
                <a:solidFill>
                  <a:srgbClr val="CC6600"/>
                </a:solidFill>
                <a:effectLst>
                  <a:outerShdw blurRad="38100" dist="38100" dir="2700000" algn="tl">
                    <a:srgbClr val="000000"/>
                  </a:outerShdw>
                </a:effectLst>
              </a:rPr>
              <a:t>信号的值、数字和参数</a:t>
            </a:r>
            <a:endParaRPr kumimoji="1" lang="en-US" altLang="zh-CN" b="1" dirty="0" smtClean="0">
              <a:solidFill>
                <a:srgbClr val="CC6600"/>
              </a:solidFill>
              <a:effectLst>
                <a:outerShdw blurRad="38100" dist="38100" dir="2700000" algn="tl">
                  <a:srgbClr val="000000"/>
                </a:outerShdw>
              </a:effectLst>
            </a:endParaRPr>
          </a:p>
          <a:p>
            <a:r>
              <a:rPr lang="en-US" altLang="zh-CN" sz="2400" b="1" dirty="0">
                <a:solidFill>
                  <a:srgbClr val="FF0000"/>
                </a:solidFill>
              </a:rPr>
              <a:t>1.</a:t>
            </a:r>
            <a:r>
              <a:rPr lang="zh-CN" altLang="zh-CN" sz="2400" b="1" dirty="0">
                <a:solidFill>
                  <a:srgbClr val="FF0000"/>
                </a:solidFill>
              </a:rPr>
              <a:t>信号的值</a:t>
            </a:r>
            <a:endParaRPr lang="zh-CN" altLang="zh-CN" sz="2400" b="1" dirty="0">
              <a:solidFill>
                <a:srgbClr val="FF0000"/>
              </a:solidFill>
            </a:endParaRPr>
          </a:p>
          <a:p>
            <a:r>
              <a:rPr lang="en-US" altLang="zh-CN" sz="2000" b="1" dirty="0"/>
              <a:t>Verilog</a:t>
            </a:r>
            <a:r>
              <a:rPr lang="zh-CN" altLang="zh-CN" sz="2000" b="1" dirty="0"/>
              <a:t>描述的是电路逻辑，线路上传递的数值需要先定义，单位信号的标量构成线网或变量，以及代表多位信号的矢量。信号取值可能有以下四种表示：</a:t>
            </a:r>
            <a:endParaRPr lang="zh-CN" altLang="zh-CN" sz="2000" b="1" dirty="0"/>
          </a:p>
          <a:p>
            <a:r>
              <a:rPr lang="en-US" altLang="zh-CN" sz="2000" b="1" dirty="0"/>
              <a:t>0 = </a:t>
            </a:r>
            <a:r>
              <a:rPr lang="zh-CN" altLang="zh-CN" sz="2000" b="1" dirty="0"/>
              <a:t>逻辑</a:t>
            </a:r>
            <a:r>
              <a:rPr lang="en-US" altLang="zh-CN" sz="2000" b="1" dirty="0"/>
              <a:t>0</a:t>
            </a:r>
            <a:endParaRPr lang="zh-CN" altLang="zh-CN" sz="2000" b="1" dirty="0"/>
          </a:p>
          <a:p>
            <a:r>
              <a:rPr lang="en-US" altLang="zh-CN" sz="2000" b="1" dirty="0"/>
              <a:t>1 = </a:t>
            </a:r>
            <a:r>
              <a:rPr lang="zh-CN" altLang="zh-CN" sz="2000" b="1" dirty="0"/>
              <a:t>逻辑</a:t>
            </a:r>
            <a:r>
              <a:rPr lang="en-US" altLang="zh-CN" sz="2000" b="1" dirty="0"/>
              <a:t>1</a:t>
            </a:r>
            <a:endParaRPr lang="zh-CN" altLang="zh-CN" sz="2000" b="1" dirty="0"/>
          </a:p>
          <a:p>
            <a:r>
              <a:rPr lang="en-US" altLang="zh-CN" sz="2000" b="1" dirty="0"/>
              <a:t>x = </a:t>
            </a:r>
            <a:r>
              <a:rPr lang="zh-CN" altLang="zh-CN" sz="2000" b="1" dirty="0"/>
              <a:t>未知值</a:t>
            </a:r>
            <a:endParaRPr lang="zh-CN" altLang="zh-CN" sz="2000" b="1" dirty="0"/>
          </a:p>
          <a:p>
            <a:r>
              <a:rPr lang="en-US" altLang="zh-CN" sz="2000" b="1" dirty="0"/>
              <a:t>z = </a:t>
            </a:r>
            <a:r>
              <a:rPr lang="zh-CN" altLang="zh-CN" sz="2000" b="1" dirty="0"/>
              <a:t>高阻</a:t>
            </a:r>
            <a:r>
              <a:rPr lang="zh-CN" altLang="zh-CN" sz="2000" b="1" dirty="0" smtClean="0"/>
              <a:t>态</a:t>
            </a:r>
            <a:endParaRPr lang="en-US" altLang="zh-CN" sz="2000" b="1" dirty="0" smtClean="0"/>
          </a:p>
          <a:p>
            <a:r>
              <a:rPr lang="en-US" altLang="zh-CN" sz="2400" b="1" dirty="0">
                <a:solidFill>
                  <a:srgbClr val="FF0000"/>
                </a:solidFill>
              </a:rPr>
              <a:t>2.</a:t>
            </a:r>
            <a:r>
              <a:rPr lang="zh-CN" altLang="zh-CN" sz="2400" b="1" dirty="0">
                <a:solidFill>
                  <a:srgbClr val="FF0000"/>
                </a:solidFill>
              </a:rPr>
              <a:t>信号的表示</a:t>
            </a:r>
            <a:endParaRPr lang="zh-CN" altLang="zh-CN" sz="2400" b="1" dirty="0">
              <a:solidFill>
                <a:srgbClr val="FF0000"/>
              </a:solidFill>
            </a:endParaRPr>
          </a:p>
          <a:p>
            <a:r>
              <a:rPr lang="en-US" altLang="zh-CN" sz="2000" b="1" dirty="0"/>
              <a:t>Verilog</a:t>
            </a:r>
            <a:r>
              <a:rPr lang="zh-CN" altLang="zh-CN" sz="2000" b="1" dirty="0"/>
              <a:t>采用位宽</a:t>
            </a:r>
            <a:r>
              <a:rPr lang="en-US" altLang="zh-CN" sz="2000" b="1" dirty="0"/>
              <a:t>+</a:t>
            </a:r>
            <a:r>
              <a:rPr lang="zh-CN" altLang="zh-CN" sz="2000" b="1" dirty="0"/>
              <a:t>进制的方式来表示数值。</a:t>
            </a:r>
            <a:endParaRPr lang="zh-CN" altLang="zh-CN" sz="2000" b="1" dirty="0"/>
          </a:p>
          <a:p>
            <a:r>
              <a:rPr lang="zh-CN" altLang="zh-CN" sz="2000" b="1" dirty="0"/>
              <a:t>如：</a:t>
            </a:r>
            <a:r>
              <a:rPr lang="en-US" altLang="zh-CN" sz="2000" b="1" dirty="0"/>
              <a:t>4`b1001</a:t>
            </a:r>
            <a:r>
              <a:rPr lang="zh-CN" altLang="zh-CN" sz="2000" b="1" dirty="0"/>
              <a:t>表示数据为二进制，位宽为</a:t>
            </a:r>
            <a:r>
              <a:rPr lang="en-US" altLang="zh-CN" sz="2000" b="1" dirty="0"/>
              <a:t>4 </a:t>
            </a:r>
            <a:r>
              <a:rPr lang="zh-CN" altLang="zh-CN" sz="2000" b="1" dirty="0"/>
              <a:t>的数值</a:t>
            </a:r>
            <a:r>
              <a:rPr lang="en-US" altLang="zh-CN" sz="2000" b="1" dirty="0"/>
              <a:t>1001</a:t>
            </a:r>
            <a:r>
              <a:rPr lang="zh-CN" altLang="zh-CN" sz="2000" b="1" dirty="0"/>
              <a:t>。</a:t>
            </a:r>
            <a:r>
              <a:rPr lang="en-US" altLang="zh-CN" sz="2000" b="1" dirty="0"/>
              <a:t>Verilog</a:t>
            </a:r>
            <a:r>
              <a:rPr lang="zh-CN" altLang="zh-CN" sz="2000" b="1" dirty="0"/>
              <a:t>中合法的数值表示有</a:t>
            </a:r>
            <a:r>
              <a:rPr lang="en-US" altLang="zh-CN" sz="2000" b="1" dirty="0"/>
              <a:t>4</a:t>
            </a:r>
            <a:r>
              <a:rPr lang="zh-CN" altLang="zh-CN" sz="2000" b="1" dirty="0"/>
              <a:t>种：</a:t>
            </a:r>
            <a:endParaRPr lang="zh-CN" altLang="zh-CN" sz="2000" b="1" dirty="0"/>
          </a:p>
        </p:txBody>
      </p:sp>
      <p:sp>
        <p:nvSpPr>
          <p:cNvPr id="2" name="矩形 1"/>
          <p:cNvSpPr/>
          <p:nvPr/>
        </p:nvSpPr>
        <p:spPr>
          <a:xfrm>
            <a:off x="848904" y="5582480"/>
            <a:ext cx="4572000" cy="1200329"/>
          </a:xfrm>
          <a:prstGeom prst="rect">
            <a:avLst/>
          </a:prstGeom>
        </p:spPr>
        <p:txBody>
          <a:bodyPr>
            <a:spAutoFit/>
          </a:bodyPr>
          <a:lstStyle/>
          <a:p>
            <a:pPr indent="266700" algn="just">
              <a:spcAft>
                <a:spcPts val="0"/>
              </a:spcAft>
            </a:pPr>
            <a:r>
              <a:rPr lang="zh-CN" altLang="zh-CN" sz="1800" b="1" kern="100" dirty="0"/>
              <a:t>二进制（</a:t>
            </a:r>
            <a:r>
              <a:rPr lang="en-US" altLang="zh-CN" sz="1800" b="1" kern="100" dirty="0"/>
              <a:t>`b</a:t>
            </a:r>
            <a:r>
              <a:rPr lang="zh-CN" altLang="zh-CN" sz="1800" b="1" kern="100" dirty="0"/>
              <a:t>或</a:t>
            </a:r>
            <a:r>
              <a:rPr lang="en-US" altLang="zh-CN" sz="1800" b="1" kern="100" dirty="0"/>
              <a:t>`B</a:t>
            </a:r>
            <a:r>
              <a:rPr lang="zh-CN" altLang="zh-CN" sz="1800" b="1" kern="100" dirty="0"/>
              <a:t>）</a:t>
            </a:r>
            <a:endParaRPr lang="zh-CN" altLang="zh-CN" sz="1800" b="1" kern="100" dirty="0"/>
          </a:p>
          <a:p>
            <a:pPr indent="266700" algn="just">
              <a:spcAft>
                <a:spcPts val="0"/>
              </a:spcAft>
            </a:pPr>
            <a:r>
              <a:rPr lang="zh-CN" altLang="zh-CN" sz="1800" b="1" kern="100" dirty="0"/>
              <a:t>八进制（</a:t>
            </a:r>
            <a:r>
              <a:rPr lang="en-US" altLang="zh-CN" sz="1800" b="1" kern="100" dirty="0"/>
              <a:t>`o</a:t>
            </a:r>
            <a:r>
              <a:rPr lang="zh-CN" altLang="zh-CN" sz="1800" b="1" kern="100" dirty="0"/>
              <a:t>或</a:t>
            </a:r>
            <a:r>
              <a:rPr lang="en-US" altLang="zh-CN" sz="1800" b="1" kern="100" dirty="0"/>
              <a:t>`O</a:t>
            </a:r>
            <a:r>
              <a:rPr lang="zh-CN" altLang="zh-CN" sz="1800" b="1" kern="100" dirty="0"/>
              <a:t>）</a:t>
            </a:r>
            <a:endParaRPr lang="zh-CN" altLang="zh-CN" sz="1800" b="1" kern="100" dirty="0"/>
          </a:p>
          <a:p>
            <a:pPr indent="266700" algn="just">
              <a:spcAft>
                <a:spcPts val="0"/>
              </a:spcAft>
            </a:pPr>
            <a:r>
              <a:rPr lang="zh-CN" altLang="zh-CN" sz="1800" b="1" kern="100" dirty="0"/>
              <a:t>十六进制（</a:t>
            </a:r>
            <a:r>
              <a:rPr lang="en-US" altLang="zh-CN" sz="1800" b="1" kern="100" dirty="0"/>
              <a:t>`h</a:t>
            </a:r>
            <a:r>
              <a:rPr lang="zh-CN" altLang="zh-CN" sz="1800" b="1" kern="100" dirty="0"/>
              <a:t>或</a:t>
            </a:r>
            <a:r>
              <a:rPr lang="en-US" altLang="zh-CN" sz="1800" b="1" kern="100" dirty="0"/>
              <a:t>`H</a:t>
            </a:r>
            <a:r>
              <a:rPr lang="zh-CN" altLang="zh-CN" sz="1800" b="1" kern="100" dirty="0"/>
              <a:t>）</a:t>
            </a:r>
            <a:endParaRPr lang="zh-CN" altLang="zh-CN" sz="1800" b="1" kern="100" dirty="0"/>
          </a:p>
          <a:p>
            <a:pPr indent="266700" algn="just">
              <a:spcAft>
                <a:spcPts val="0"/>
              </a:spcAft>
            </a:pPr>
            <a:r>
              <a:rPr lang="zh-CN" altLang="zh-CN" sz="1800" b="1" kern="100" dirty="0"/>
              <a:t>十进制（</a:t>
            </a:r>
            <a:r>
              <a:rPr lang="en-US" altLang="zh-CN" sz="1800" b="1" kern="100" dirty="0"/>
              <a:t>`d</a:t>
            </a:r>
            <a:r>
              <a:rPr lang="zh-CN" altLang="zh-CN" sz="1800" b="1" kern="100" dirty="0"/>
              <a:t>或</a:t>
            </a:r>
            <a:r>
              <a:rPr lang="en-US" altLang="zh-CN" sz="1800" b="1" kern="100" dirty="0"/>
              <a:t>`D</a:t>
            </a:r>
            <a:r>
              <a:rPr lang="zh-CN" altLang="zh-CN" sz="1800" b="1" kern="100" dirty="0"/>
              <a:t>）</a:t>
            </a:r>
            <a:endParaRPr lang="zh-CN" altLang="zh-CN" sz="1800" b="1"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50413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10.2.1</a:t>
            </a:r>
            <a:r>
              <a:rPr kumimoji="1" lang="zh-CN" altLang="en-US" b="1" dirty="0">
                <a:solidFill>
                  <a:srgbClr val="CC6600"/>
                </a:solidFill>
                <a:effectLst>
                  <a:outerShdw blurRad="38100" dist="38100" dir="2700000" algn="tl">
                    <a:srgbClr val="000000"/>
                  </a:outerShdw>
                </a:effectLst>
              </a:rPr>
              <a:t>信号的值、数字和参数</a:t>
            </a:r>
            <a:endParaRPr kumimoji="1" lang="en-US" altLang="zh-CN" b="1" dirty="0" smtClean="0">
              <a:solidFill>
                <a:srgbClr val="CC6600"/>
              </a:solidFill>
              <a:effectLst>
                <a:outerShdw blurRad="38100" dist="38100" dir="2700000" algn="tl">
                  <a:srgbClr val="000000"/>
                </a:outerShdw>
              </a:effectLst>
            </a:endParaRPr>
          </a:p>
          <a:p>
            <a:r>
              <a:rPr lang="en-US" altLang="zh-CN" sz="2400" b="1" dirty="0" smtClean="0">
                <a:solidFill>
                  <a:srgbClr val="FF0000"/>
                </a:solidFill>
              </a:rPr>
              <a:t>3</a:t>
            </a:r>
            <a:r>
              <a:rPr lang="en-US" altLang="zh-CN" sz="2400" b="1" dirty="0">
                <a:solidFill>
                  <a:srgbClr val="FF0000"/>
                </a:solidFill>
              </a:rPr>
              <a:t>.</a:t>
            </a:r>
            <a:r>
              <a:rPr lang="zh-CN" altLang="en-US" sz="2400" b="1" dirty="0">
                <a:solidFill>
                  <a:srgbClr val="FF0000"/>
                </a:solidFill>
              </a:rPr>
              <a:t>参数类型</a:t>
            </a:r>
            <a:endParaRPr lang="zh-CN" altLang="zh-CN" sz="2400" b="1" dirty="0" smtClean="0">
              <a:solidFill>
                <a:srgbClr val="FF0000"/>
              </a:solidFill>
            </a:endParaRPr>
          </a:p>
          <a:p>
            <a:r>
              <a:rPr lang="zh-CN" altLang="en-US" sz="2000" b="1" dirty="0"/>
              <a:t>用</a:t>
            </a:r>
            <a:r>
              <a:rPr lang="en-US" altLang="zh-CN" sz="2000" b="1" dirty="0"/>
              <a:t>define</a:t>
            </a:r>
            <a:r>
              <a:rPr lang="zh-CN" altLang="en-US" sz="2000" b="1" dirty="0"/>
              <a:t>和</a:t>
            </a:r>
            <a:r>
              <a:rPr lang="en-US" altLang="zh-CN" sz="2000" b="1" dirty="0"/>
              <a:t>parameter</a:t>
            </a:r>
            <a:r>
              <a:rPr lang="zh-CN" altLang="en-US" sz="2000" b="1" dirty="0"/>
              <a:t>、</a:t>
            </a:r>
            <a:r>
              <a:rPr lang="en-US" altLang="zh-CN" sz="2000" b="1" dirty="0" err="1"/>
              <a:t>localparam</a:t>
            </a:r>
            <a:r>
              <a:rPr lang="zh-CN" altLang="en-US" sz="2000" b="1" dirty="0"/>
              <a:t>可以定义宏和参数。与软件编程类似，参数也有其作用域。如：</a:t>
            </a:r>
            <a:r>
              <a:rPr lang="en-US" altLang="zh-CN" sz="2000" b="1" dirty="0"/>
              <a:t>parameter SIZE = 15</a:t>
            </a:r>
            <a:r>
              <a:rPr lang="zh-CN" altLang="en-US" sz="2000" b="1" dirty="0"/>
              <a:t>；表示的常量</a:t>
            </a:r>
            <a:r>
              <a:rPr lang="en-US" altLang="zh-CN" sz="2000" b="1" dirty="0"/>
              <a:t>SIZE</a:t>
            </a:r>
            <a:r>
              <a:rPr lang="zh-CN" altLang="en-US" sz="2000" b="1" dirty="0"/>
              <a:t>的作用域是</a:t>
            </a:r>
            <a:r>
              <a:rPr lang="en-US" altLang="zh-CN" sz="2000" b="1" dirty="0"/>
              <a:t>parameter</a:t>
            </a:r>
            <a:r>
              <a:rPr lang="zh-CN" altLang="en-US" sz="2000" b="1" dirty="0"/>
              <a:t>所在的模块内部，参数的传递能够跨模块进行；</a:t>
            </a:r>
            <a:r>
              <a:rPr lang="en-US" altLang="zh-CN" sz="2000" b="1" dirty="0"/>
              <a:t>define</a:t>
            </a:r>
            <a:r>
              <a:rPr lang="zh-CN" altLang="en-US" sz="2000" b="1" dirty="0"/>
              <a:t>定义的常量作用域可以跨文件，作用于整个工程；而</a:t>
            </a:r>
            <a:r>
              <a:rPr lang="en-US" altLang="zh-CN" sz="2000" b="1" dirty="0" err="1"/>
              <a:t>localparam</a:t>
            </a:r>
            <a:r>
              <a:rPr lang="zh-CN" altLang="en-US" sz="2000" b="1" dirty="0"/>
              <a:t>的作用域仅在模块内部使用。</a:t>
            </a:r>
            <a:endParaRPr lang="zh-CN" altLang="zh-CN" sz="2000" b="1" dirty="0"/>
          </a:p>
          <a:p>
            <a:r>
              <a:rPr lang="en-US" altLang="zh-CN" sz="2400" b="1" dirty="0">
                <a:solidFill>
                  <a:srgbClr val="FF0000"/>
                </a:solidFill>
              </a:rPr>
              <a:t>4.</a:t>
            </a:r>
            <a:r>
              <a:rPr lang="zh-CN" altLang="en-US" sz="2400" b="1" dirty="0">
                <a:solidFill>
                  <a:srgbClr val="FF0000"/>
                </a:solidFill>
              </a:rPr>
              <a:t>变量的</a:t>
            </a:r>
            <a:r>
              <a:rPr lang="zh-CN" altLang="en-US" sz="2400" b="1" dirty="0" smtClean="0">
                <a:solidFill>
                  <a:srgbClr val="FF0000"/>
                </a:solidFill>
              </a:rPr>
              <a:t>类型</a:t>
            </a:r>
            <a:endParaRPr lang="en-US" altLang="zh-CN" sz="2400" b="1" dirty="0" smtClean="0">
              <a:solidFill>
                <a:srgbClr val="FF0000"/>
              </a:solidFill>
            </a:endParaRPr>
          </a:p>
          <a:p>
            <a:r>
              <a:rPr lang="en-US" altLang="zh-CN" sz="2000" b="1" dirty="0"/>
              <a:t>Verilog</a:t>
            </a:r>
            <a:r>
              <a:rPr lang="zh-CN" altLang="zh-CN" sz="2000" b="1" dirty="0"/>
              <a:t>中的变量通过用户自定义给出，变量的类型多种多样，常见的类型有：线网（</a:t>
            </a:r>
            <a:r>
              <a:rPr lang="en-US" altLang="zh-CN" sz="2000" b="1" dirty="0"/>
              <a:t>wire</a:t>
            </a:r>
            <a:r>
              <a:rPr lang="zh-CN" altLang="zh-CN" sz="2000" b="1" dirty="0"/>
              <a:t>）型、寄存器（</a:t>
            </a:r>
            <a:r>
              <a:rPr lang="en-US" altLang="zh-CN" sz="2000" b="1" dirty="0" err="1"/>
              <a:t>reg</a:t>
            </a:r>
            <a:r>
              <a:rPr lang="zh-CN" altLang="zh-CN" sz="2000" b="1" dirty="0"/>
              <a:t>）型和存储器（</a:t>
            </a:r>
            <a:r>
              <a:rPr lang="en-US" altLang="zh-CN" sz="2000" b="1" dirty="0"/>
              <a:t>memory</a:t>
            </a:r>
            <a:r>
              <a:rPr lang="zh-CN" altLang="zh-CN" sz="2000" b="1" dirty="0"/>
              <a:t>）型。其中的</a:t>
            </a:r>
            <a:r>
              <a:rPr lang="en-US" altLang="zh-CN" sz="2000" b="1" dirty="0"/>
              <a:t>wire</a:t>
            </a:r>
            <a:r>
              <a:rPr lang="zh-CN" altLang="zh-CN" sz="2000" b="1" dirty="0"/>
              <a:t>和</a:t>
            </a:r>
            <a:r>
              <a:rPr lang="en-US" altLang="zh-CN" sz="2000" b="1" dirty="0" err="1"/>
              <a:t>reg</a:t>
            </a:r>
            <a:r>
              <a:rPr lang="zh-CN" altLang="zh-CN" sz="2000" b="1" dirty="0"/>
              <a:t>是基本类型，其余的变量类型可以看作是这两种类型的变种。</a:t>
            </a:r>
            <a:endParaRPr lang="zh-CN" altLang="zh-CN" sz="2000" b="1" dirty="0"/>
          </a:p>
          <a:p>
            <a:r>
              <a:rPr lang="en-US" altLang="zh-CN" sz="2000" b="1" dirty="0"/>
              <a:t>wire</a:t>
            </a:r>
            <a:r>
              <a:rPr lang="zh-CN" altLang="zh-CN" sz="2000" b="1" dirty="0"/>
              <a:t>型主要用于表示输入、输出信号以及模块间的端口连接。表达式写</a:t>
            </a:r>
            <a:r>
              <a:rPr lang="zh-CN" altLang="zh-CN" sz="2000" b="1" dirty="0" smtClean="0"/>
              <a:t>为</a:t>
            </a:r>
            <a:endParaRPr lang="zh-CN" altLang="zh-CN" sz="2000" b="1" dirty="0"/>
          </a:p>
          <a:p>
            <a:r>
              <a:rPr lang="en-US" altLang="zh-CN" sz="2000" b="1" i="1" dirty="0"/>
              <a:t>wire  a</a:t>
            </a:r>
            <a:r>
              <a:rPr lang="zh-CN" altLang="zh-CN" sz="2000" b="1" i="1" dirty="0"/>
              <a:t>；</a:t>
            </a:r>
            <a:endParaRPr lang="zh-CN" altLang="zh-CN" sz="2000" b="1" dirty="0"/>
          </a:p>
          <a:p>
            <a:r>
              <a:rPr lang="en-US" altLang="zh-CN" sz="2000" b="1" i="1" dirty="0"/>
              <a:t>wire  [7:0] a</a:t>
            </a:r>
            <a:r>
              <a:rPr lang="zh-CN" altLang="zh-CN" sz="2000" b="1" i="1" dirty="0"/>
              <a:t>；</a:t>
            </a:r>
            <a:endParaRPr lang="zh-CN" altLang="zh-CN" sz="2000" b="1" dirty="0"/>
          </a:p>
          <a:p>
            <a:endParaRPr lang="zh-CN" altLang="zh-CN" sz="20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1994392"/>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10.2.2</a:t>
            </a:r>
            <a:r>
              <a:rPr kumimoji="1" lang="zh-CN" altLang="en-US" b="1" dirty="0" smtClean="0">
                <a:solidFill>
                  <a:srgbClr val="CC6600"/>
                </a:solidFill>
                <a:effectLst>
                  <a:outerShdw blurRad="38100" dist="38100" dir="2700000" algn="tl">
                    <a:srgbClr val="000000"/>
                  </a:outerShdw>
                </a:effectLst>
              </a:rPr>
              <a:t>操作符</a:t>
            </a:r>
            <a:endParaRPr kumimoji="1" lang="en-US" altLang="zh-CN" b="1" dirty="0" smtClean="0">
              <a:solidFill>
                <a:srgbClr val="CC6600"/>
              </a:solidFill>
              <a:effectLst>
                <a:outerShdw blurRad="38100" dist="38100" dir="2700000" algn="tl">
                  <a:srgbClr val="000000"/>
                </a:outerShdw>
              </a:effectLst>
            </a:endParaRPr>
          </a:p>
          <a:p>
            <a:pPr lvl="0" algn="just" eaLnBrk="1" hangingPunct="1">
              <a:lnSpc>
                <a:spcPct val="110000"/>
              </a:lnSpc>
              <a:spcBef>
                <a:spcPct val="10000"/>
              </a:spcBef>
              <a:spcAft>
                <a:spcPct val="10000"/>
              </a:spcAft>
              <a:defRPr/>
            </a:pPr>
            <a:r>
              <a:rPr lang="en-US" altLang="zh-CN" sz="2000" b="1" dirty="0"/>
              <a:t>Verilog</a:t>
            </a:r>
            <a:r>
              <a:rPr lang="zh-CN" altLang="en-US" sz="2000" b="1" dirty="0"/>
              <a:t>中的运算是逻辑运算，所提供的操作符也用于变量的逻辑运算。表</a:t>
            </a:r>
            <a:r>
              <a:rPr lang="en-US" altLang="zh-CN" sz="2000" b="1" dirty="0"/>
              <a:t>10.1</a:t>
            </a:r>
            <a:r>
              <a:rPr lang="zh-CN" altLang="en-US" sz="2000" b="1" dirty="0"/>
              <a:t>表示了操作符的分类和各操作符的使用方法及产生结果的位数。其中</a:t>
            </a:r>
            <a:r>
              <a:rPr lang="en-US" altLang="zh-CN" sz="2000" b="1" dirty="0"/>
              <a:t>A</a:t>
            </a:r>
            <a:r>
              <a:rPr lang="zh-CN" altLang="en-US" sz="2000" b="1" dirty="0"/>
              <a:t>，</a:t>
            </a:r>
            <a:r>
              <a:rPr lang="en-US" altLang="zh-CN" sz="2000" b="1" dirty="0"/>
              <a:t>B</a:t>
            </a:r>
            <a:r>
              <a:rPr lang="zh-CN" altLang="en-US" sz="2000" b="1" dirty="0"/>
              <a:t>，</a:t>
            </a:r>
            <a:r>
              <a:rPr lang="en-US" altLang="zh-CN" sz="2000" b="1" dirty="0"/>
              <a:t>C</a:t>
            </a:r>
            <a:r>
              <a:rPr lang="zh-CN" altLang="en-US" sz="2000" b="1" dirty="0"/>
              <a:t>为三个操作数，可以是矢量，也可以是标量，</a:t>
            </a:r>
            <a:r>
              <a:rPr lang="en-US" altLang="zh-CN" sz="2000" b="1" dirty="0"/>
              <a:t>~A</a:t>
            </a:r>
            <a:r>
              <a:rPr lang="zh-CN" altLang="en-US" sz="2000" b="1" dirty="0"/>
              <a:t>表示操作符</a:t>
            </a:r>
            <a:r>
              <a:rPr lang="en-US" altLang="zh-CN" sz="2000" b="1" dirty="0"/>
              <a:t>~</a:t>
            </a:r>
            <a:r>
              <a:rPr lang="zh-CN" altLang="en-US" sz="2000" b="1" dirty="0"/>
              <a:t>是作用于变量</a:t>
            </a:r>
            <a:r>
              <a:rPr lang="en-US" altLang="zh-CN" sz="2000" b="1" dirty="0"/>
              <a:t>A</a:t>
            </a:r>
            <a:r>
              <a:rPr lang="zh-CN" altLang="en-US" sz="2000" b="1" dirty="0"/>
              <a:t>的，</a:t>
            </a:r>
            <a:r>
              <a:rPr lang="en-US" altLang="zh-CN" sz="2000" b="1" dirty="0"/>
              <a:t>L(A)</a:t>
            </a:r>
            <a:r>
              <a:rPr lang="zh-CN" altLang="en-US" sz="2000" b="1" dirty="0"/>
              <a:t>则表示其结果的长度，该结果具有和</a:t>
            </a:r>
            <a:r>
              <a:rPr lang="en-US" altLang="zh-CN" sz="2000" b="1" dirty="0"/>
              <a:t>A</a:t>
            </a:r>
            <a:r>
              <a:rPr lang="zh-CN" altLang="en-US" sz="2000" b="1" dirty="0"/>
              <a:t>相同的位数</a:t>
            </a:r>
            <a:r>
              <a:rPr lang="zh-CN" altLang="en-US" sz="2000" b="1" dirty="0" smtClean="0"/>
              <a:t>。</a:t>
            </a:r>
            <a:endParaRPr lang="zh-CN" altLang="en-US" sz="2000" b="1" dirty="0"/>
          </a:p>
        </p:txBody>
      </p:sp>
      <p:graphicFrame>
        <p:nvGraphicFramePr>
          <p:cNvPr id="5" name="表格 4"/>
          <p:cNvGraphicFramePr>
            <a:graphicFrameLocks noGrp="1"/>
          </p:cNvGraphicFramePr>
          <p:nvPr/>
        </p:nvGraphicFramePr>
        <p:xfrm>
          <a:off x="1082493" y="3717176"/>
          <a:ext cx="6833598" cy="2957678"/>
        </p:xfrm>
        <a:graphic>
          <a:graphicData uri="http://schemas.openxmlformats.org/drawingml/2006/table">
            <a:tbl>
              <a:tblPr firstRow="1" firstCol="1" bandRow="1">
                <a:tableStyleId>{5C22544A-7EE6-4342-B048-85BDC9FD1C3A}</a:tableStyleId>
              </a:tblPr>
              <a:tblGrid>
                <a:gridCol w="1363191"/>
                <a:gridCol w="3049539"/>
                <a:gridCol w="2420868"/>
              </a:tblGrid>
              <a:tr h="246473">
                <a:tc>
                  <a:txBody>
                    <a:bodyPr/>
                    <a:lstStyle/>
                    <a:p>
                      <a:pPr algn="ctr">
                        <a:spcAft>
                          <a:spcPts val="0"/>
                        </a:spcAft>
                      </a:pPr>
                      <a:r>
                        <a:rPr lang="zh-CN" sz="900" kern="100">
                          <a:effectLst/>
                        </a:rPr>
                        <a:t>分类</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900" kern="100">
                          <a:effectLst/>
                        </a:rPr>
                        <a:t>示例</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900" kern="100">
                          <a:effectLst/>
                        </a:rPr>
                        <a:t>位数</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492947">
                <a:tc>
                  <a:txBody>
                    <a:bodyPr/>
                    <a:lstStyle/>
                    <a:p>
                      <a:pPr algn="ctr">
                        <a:spcAft>
                          <a:spcPts val="0"/>
                        </a:spcAft>
                      </a:pPr>
                      <a:r>
                        <a:rPr lang="zh-CN" sz="900" kern="100">
                          <a:effectLst/>
                        </a:rPr>
                        <a:t>按位</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a:t>
                      </a:r>
                      <a:r>
                        <a:rPr lang="zh-CN" sz="900" kern="100">
                          <a:effectLst/>
                        </a:rPr>
                        <a:t>，</a:t>
                      </a:r>
                      <a:r>
                        <a:rPr lang="en-US" sz="900" kern="100">
                          <a:effectLst/>
                        </a:rPr>
                        <a:t>+A</a:t>
                      </a:r>
                      <a:r>
                        <a:rPr lang="zh-CN" sz="900" kern="100">
                          <a:effectLst/>
                        </a:rPr>
                        <a:t>，</a:t>
                      </a:r>
                      <a:r>
                        <a:rPr lang="en-US" sz="900" kern="100">
                          <a:effectLst/>
                        </a:rPr>
                        <a:t>-A</a:t>
                      </a:r>
                      <a:endParaRPr lang="zh-CN" sz="1050" kern="100">
                        <a:effectLst/>
                      </a:endParaRPr>
                    </a:p>
                    <a:p>
                      <a:pPr algn="just">
                        <a:spcAft>
                          <a:spcPts val="0"/>
                        </a:spcAft>
                      </a:pPr>
                      <a:r>
                        <a:rPr lang="en-US" sz="900" kern="100">
                          <a:effectLst/>
                        </a:rPr>
                        <a:t>A&amp;B</a:t>
                      </a:r>
                      <a:r>
                        <a:rPr lang="zh-CN" sz="900" kern="100">
                          <a:effectLst/>
                        </a:rPr>
                        <a:t>，</a:t>
                      </a:r>
                      <a:r>
                        <a:rPr lang="en-US" sz="900" kern="100">
                          <a:effectLst/>
                        </a:rPr>
                        <a:t>A|B</a:t>
                      </a:r>
                      <a:r>
                        <a:rPr lang="zh-CN" sz="900" kern="100">
                          <a:effectLst/>
                        </a:rPr>
                        <a:t>，</a:t>
                      </a:r>
                      <a:r>
                        <a:rPr lang="en-US" sz="900" kern="100">
                          <a:effectLst/>
                        </a:rPr>
                        <a:t>A~^B</a:t>
                      </a:r>
                      <a:r>
                        <a:rPr lang="zh-CN" sz="900" kern="100">
                          <a:effectLst/>
                        </a:rPr>
                        <a:t>，</a:t>
                      </a:r>
                      <a:r>
                        <a:rPr lang="en-US" sz="900" kern="100">
                          <a:effectLst/>
                        </a:rPr>
                        <a:t>A^~B</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dirty="0">
                          <a:effectLst/>
                        </a:rPr>
                        <a:t>L(A)</a:t>
                      </a:r>
                      <a:endParaRPr lang="zh-CN" sz="1050" kern="100" dirty="0">
                        <a:effectLst/>
                      </a:endParaRPr>
                    </a:p>
                    <a:p>
                      <a:pPr algn="just">
                        <a:spcAft>
                          <a:spcPts val="0"/>
                        </a:spcAft>
                      </a:pPr>
                      <a:r>
                        <a:rPr lang="en-US" sz="900" kern="100" dirty="0">
                          <a:effectLst/>
                        </a:rPr>
                        <a:t>L(A)</a:t>
                      </a:r>
                      <a:r>
                        <a:rPr lang="zh-CN" sz="900" kern="100" dirty="0">
                          <a:effectLst/>
                        </a:rPr>
                        <a:t>和</a:t>
                      </a:r>
                      <a:r>
                        <a:rPr lang="en-US" sz="900" kern="100" dirty="0">
                          <a:effectLst/>
                        </a:rPr>
                        <a:t> L(B)</a:t>
                      </a:r>
                      <a:r>
                        <a:rPr lang="zh-CN" sz="900" kern="100" dirty="0">
                          <a:effectLst/>
                        </a:rPr>
                        <a:t>中较大者</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246473">
                <a:tc>
                  <a:txBody>
                    <a:bodyPr/>
                    <a:lstStyle/>
                    <a:p>
                      <a:pPr algn="ctr">
                        <a:spcAft>
                          <a:spcPts val="0"/>
                        </a:spcAft>
                      </a:pPr>
                      <a:r>
                        <a:rPr lang="zh-CN" sz="900" kern="100">
                          <a:effectLst/>
                        </a:rPr>
                        <a:t>逻辑</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a:t>
                      </a:r>
                      <a:r>
                        <a:rPr lang="zh-CN" sz="900" kern="100">
                          <a:effectLst/>
                        </a:rPr>
                        <a:t>，</a:t>
                      </a:r>
                      <a:r>
                        <a:rPr lang="en-US" sz="900" kern="100">
                          <a:effectLst/>
                        </a:rPr>
                        <a:t>A&amp;&amp;B</a:t>
                      </a:r>
                      <a:r>
                        <a:rPr lang="zh-CN" sz="900" kern="100">
                          <a:effectLst/>
                        </a:rPr>
                        <a:t>，</a:t>
                      </a:r>
                      <a:r>
                        <a:rPr lang="en-US" sz="900" kern="100">
                          <a:effectLst/>
                        </a:rPr>
                        <a:t>A||B</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1</a:t>
                      </a:r>
                      <a:r>
                        <a:rPr lang="zh-CN" sz="900" kern="100">
                          <a:effectLst/>
                        </a:rPr>
                        <a:t>位</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246473">
                <a:tc>
                  <a:txBody>
                    <a:bodyPr/>
                    <a:lstStyle/>
                    <a:p>
                      <a:pPr algn="ctr">
                        <a:spcAft>
                          <a:spcPts val="0"/>
                        </a:spcAft>
                      </a:pPr>
                      <a:r>
                        <a:rPr lang="zh-CN" sz="900" kern="100">
                          <a:effectLst/>
                        </a:rPr>
                        <a:t>缩减</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&amp;A</a:t>
                      </a:r>
                      <a:r>
                        <a:rPr lang="zh-CN" sz="900" kern="100">
                          <a:effectLst/>
                        </a:rPr>
                        <a:t>，</a:t>
                      </a:r>
                      <a:r>
                        <a:rPr lang="en-US" sz="900" kern="100">
                          <a:effectLst/>
                        </a:rPr>
                        <a:t>~&amp;A</a:t>
                      </a:r>
                      <a:r>
                        <a:rPr lang="zh-CN" sz="900" kern="100">
                          <a:effectLst/>
                        </a:rPr>
                        <a:t>，</a:t>
                      </a:r>
                      <a:r>
                        <a:rPr lang="en-US" sz="900" kern="100">
                          <a:effectLst/>
                        </a:rPr>
                        <a:t>|A</a:t>
                      </a:r>
                      <a:r>
                        <a:rPr lang="zh-CN" sz="900" kern="100">
                          <a:effectLst/>
                        </a:rPr>
                        <a:t>，</a:t>
                      </a:r>
                      <a:r>
                        <a:rPr lang="en-US" sz="900" kern="100">
                          <a:effectLst/>
                        </a:rPr>
                        <a:t>~|A</a:t>
                      </a:r>
                      <a:r>
                        <a:rPr lang="zh-CN" sz="900" kern="100">
                          <a:effectLst/>
                        </a:rPr>
                        <a:t>，</a:t>
                      </a:r>
                      <a:r>
                        <a:rPr lang="en-US" sz="900" kern="100">
                          <a:effectLst/>
                        </a:rPr>
                        <a:t>^~A</a:t>
                      </a:r>
                      <a:r>
                        <a:rPr lang="zh-CN" sz="900" kern="100">
                          <a:effectLst/>
                        </a:rPr>
                        <a:t>，</a:t>
                      </a:r>
                      <a:r>
                        <a:rPr lang="en-US" sz="900" kern="100">
                          <a:effectLst/>
                        </a:rPr>
                        <a:t>~^A</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1</a:t>
                      </a:r>
                      <a:r>
                        <a:rPr lang="zh-CN" sz="900" kern="100">
                          <a:effectLst/>
                        </a:rPr>
                        <a:t>位</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492947">
                <a:tc>
                  <a:txBody>
                    <a:bodyPr/>
                    <a:lstStyle/>
                    <a:p>
                      <a:pPr algn="ctr">
                        <a:spcAft>
                          <a:spcPts val="0"/>
                        </a:spcAft>
                      </a:pPr>
                      <a:r>
                        <a:rPr lang="zh-CN" sz="900" kern="100">
                          <a:effectLst/>
                        </a:rPr>
                        <a:t>关系</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A==B</a:t>
                      </a:r>
                      <a:r>
                        <a:rPr lang="zh-CN" sz="900" kern="100">
                          <a:effectLst/>
                        </a:rPr>
                        <a:t>，</a:t>
                      </a:r>
                      <a:r>
                        <a:rPr lang="en-US" sz="900" kern="100">
                          <a:effectLst/>
                        </a:rPr>
                        <a:t>A!=B</a:t>
                      </a:r>
                      <a:r>
                        <a:rPr lang="zh-CN" sz="900" kern="100">
                          <a:effectLst/>
                        </a:rPr>
                        <a:t>，</a:t>
                      </a:r>
                      <a:r>
                        <a:rPr lang="en-US" sz="900" kern="100">
                          <a:effectLst/>
                        </a:rPr>
                        <a:t>A&gt;B</a:t>
                      </a:r>
                      <a:r>
                        <a:rPr lang="zh-CN" sz="900" kern="100">
                          <a:effectLst/>
                        </a:rPr>
                        <a:t>，</a:t>
                      </a:r>
                      <a:r>
                        <a:rPr lang="en-US" sz="900" kern="100">
                          <a:effectLst/>
                        </a:rPr>
                        <a:t>A&lt;B</a:t>
                      </a:r>
                      <a:endParaRPr lang="zh-CN" sz="1050" kern="100">
                        <a:effectLst/>
                      </a:endParaRPr>
                    </a:p>
                    <a:p>
                      <a:pPr algn="just">
                        <a:spcAft>
                          <a:spcPts val="0"/>
                        </a:spcAft>
                      </a:pPr>
                      <a:r>
                        <a:rPr lang="en-US" sz="900" kern="100">
                          <a:effectLst/>
                        </a:rPr>
                        <a:t>A&gt;=B</a:t>
                      </a:r>
                      <a:r>
                        <a:rPr lang="zh-CN" sz="900" kern="100">
                          <a:effectLst/>
                        </a:rPr>
                        <a:t>，</a:t>
                      </a:r>
                      <a:r>
                        <a:rPr lang="en-US" sz="900" kern="100">
                          <a:effectLst/>
                        </a:rPr>
                        <a:t>A&lt;=B</a:t>
                      </a:r>
                      <a:r>
                        <a:rPr lang="zh-CN" sz="900" kern="100">
                          <a:effectLst/>
                        </a:rPr>
                        <a:t>，</a:t>
                      </a:r>
                      <a:r>
                        <a:rPr lang="en-US" sz="900" kern="100">
                          <a:effectLst/>
                        </a:rPr>
                        <a:t>A===B</a:t>
                      </a:r>
                      <a:r>
                        <a:rPr lang="zh-CN" sz="900" kern="100">
                          <a:effectLst/>
                        </a:rPr>
                        <a:t>，</a:t>
                      </a:r>
                      <a:r>
                        <a:rPr lang="en-US" sz="900" kern="100">
                          <a:effectLst/>
                        </a:rPr>
                        <a:t>A!==B</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1</a:t>
                      </a:r>
                      <a:r>
                        <a:rPr lang="zh-CN" sz="900" kern="100">
                          <a:effectLst/>
                        </a:rPr>
                        <a:t>位</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246473">
                <a:tc>
                  <a:txBody>
                    <a:bodyPr/>
                    <a:lstStyle/>
                    <a:p>
                      <a:pPr algn="ctr">
                        <a:spcAft>
                          <a:spcPts val="0"/>
                        </a:spcAft>
                      </a:pPr>
                      <a:r>
                        <a:rPr lang="zh-CN" sz="900" kern="100">
                          <a:effectLst/>
                        </a:rPr>
                        <a:t>运算</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A+B</a:t>
                      </a:r>
                      <a:r>
                        <a:rPr lang="zh-CN" sz="900" kern="100">
                          <a:effectLst/>
                        </a:rPr>
                        <a:t>，</a:t>
                      </a:r>
                      <a:r>
                        <a:rPr lang="en-US" sz="900" kern="100">
                          <a:effectLst/>
                        </a:rPr>
                        <a:t>A-B</a:t>
                      </a:r>
                      <a:r>
                        <a:rPr lang="zh-CN" sz="900" kern="100">
                          <a:effectLst/>
                        </a:rPr>
                        <a:t>，</a:t>
                      </a:r>
                      <a:r>
                        <a:rPr lang="en-US" sz="900" kern="100">
                          <a:effectLst/>
                        </a:rPr>
                        <a:t>A*B</a:t>
                      </a:r>
                      <a:r>
                        <a:rPr lang="zh-CN" sz="900" kern="100">
                          <a:effectLst/>
                        </a:rPr>
                        <a:t>，</a:t>
                      </a:r>
                      <a:r>
                        <a:rPr lang="en-US" sz="900" kern="100">
                          <a:effectLst/>
                        </a:rPr>
                        <a:t>A/B</a:t>
                      </a:r>
                      <a:r>
                        <a:rPr lang="zh-CN" sz="900" kern="100">
                          <a:effectLst/>
                        </a:rPr>
                        <a:t>，</a:t>
                      </a:r>
                      <a:r>
                        <a:rPr lang="en-US" sz="900" kern="100">
                          <a:effectLst/>
                        </a:rPr>
                        <a:t>A%B</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L(A)</a:t>
                      </a:r>
                      <a:r>
                        <a:rPr lang="zh-CN" sz="900" kern="100">
                          <a:effectLst/>
                        </a:rPr>
                        <a:t>和</a:t>
                      </a:r>
                      <a:r>
                        <a:rPr lang="en-US" sz="900" kern="100">
                          <a:effectLst/>
                        </a:rPr>
                        <a:t>L(B)</a:t>
                      </a:r>
                      <a:r>
                        <a:rPr lang="zh-CN" sz="900" kern="100">
                          <a:effectLst/>
                        </a:rPr>
                        <a:t>中较大者</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246473">
                <a:tc>
                  <a:txBody>
                    <a:bodyPr/>
                    <a:lstStyle/>
                    <a:p>
                      <a:pPr algn="ctr">
                        <a:spcAft>
                          <a:spcPts val="0"/>
                        </a:spcAft>
                      </a:pPr>
                      <a:r>
                        <a:rPr lang="zh-CN" sz="900" kern="100">
                          <a:effectLst/>
                        </a:rPr>
                        <a:t>移位</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A&lt;&lt;B</a:t>
                      </a:r>
                      <a:r>
                        <a:rPr lang="zh-CN" sz="900" kern="100">
                          <a:effectLst/>
                        </a:rPr>
                        <a:t>，</a:t>
                      </a:r>
                      <a:r>
                        <a:rPr lang="en-US" sz="900" kern="100">
                          <a:effectLst/>
                        </a:rPr>
                        <a:t>A&gt;&gt;B</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L(A)</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246473">
                <a:tc>
                  <a:txBody>
                    <a:bodyPr/>
                    <a:lstStyle/>
                    <a:p>
                      <a:pPr algn="ctr">
                        <a:spcAft>
                          <a:spcPts val="0"/>
                        </a:spcAft>
                      </a:pPr>
                      <a:r>
                        <a:rPr lang="zh-CN" sz="900" kern="100">
                          <a:effectLst/>
                        </a:rPr>
                        <a:t>拼接</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{A,...,B}</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L(A)+...+L(B)</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246473">
                <a:tc>
                  <a:txBody>
                    <a:bodyPr/>
                    <a:lstStyle/>
                    <a:p>
                      <a:pPr algn="ctr">
                        <a:spcAft>
                          <a:spcPts val="0"/>
                        </a:spcAft>
                      </a:pPr>
                      <a:r>
                        <a:rPr lang="zh-CN" sz="900" kern="100">
                          <a:effectLst/>
                        </a:rPr>
                        <a:t>复制</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{B{A}}</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B*L(A)</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r h="246473">
                <a:tc>
                  <a:txBody>
                    <a:bodyPr/>
                    <a:lstStyle/>
                    <a:p>
                      <a:pPr algn="ctr">
                        <a:spcAft>
                          <a:spcPts val="0"/>
                        </a:spcAft>
                      </a:pPr>
                      <a:r>
                        <a:rPr lang="zh-CN" sz="900" kern="100">
                          <a:effectLst/>
                        </a:rPr>
                        <a:t>条件</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a:effectLst/>
                        </a:rPr>
                        <a:t>A</a:t>
                      </a:r>
                      <a:r>
                        <a:rPr lang="zh-CN" sz="900" kern="100">
                          <a:effectLst/>
                        </a:rPr>
                        <a:t>？</a:t>
                      </a:r>
                      <a:r>
                        <a:rPr lang="en-US" sz="900" kern="100">
                          <a:effectLst/>
                        </a:rPr>
                        <a:t>B</a:t>
                      </a:r>
                      <a:r>
                        <a:rPr lang="zh-CN" sz="900" kern="100">
                          <a:effectLst/>
                        </a:rPr>
                        <a:t>：</a:t>
                      </a:r>
                      <a:r>
                        <a:rPr lang="en-US" sz="900" kern="100">
                          <a:effectLst/>
                        </a:rPr>
                        <a:t>C</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900" kern="100" dirty="0">
                          <a:effectLst/>
                        </a:rPr>
                        <a:t>L(B)</a:t>
                      </a:r>
                      <a:r>
                        <a:rPr lang="zh-CN" sz="900" kern="100" dirty="0">
                          <a:effectLst/>
                        </a:rPr>
                        <a:t>和</a:t>
                      </a:r>
                      <a:r>
                        <a:rPr lang="en-US" sz="900" kern="100" dirty="0">
                          <a:effectLst/>
                        </a:rPr>
                        <a:t>L(C)</a:t>
                      </a:r>
                      <a:r>
                        <a:rPr lang="zh-CN" sz="900" kern="100" dirty="0">
                          <a:effectLst/>
                        </a:rPr>
                        <a:t>中较大者</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r>
            </a:tbl>
          </a:graphicData>
        </a:graphic>
      </p:graphicFrame>
      <p:sp>
        <p:nvSpPr>
          <p:cNvPr id="7" name="矩形 6"/>
          <p:cNvSpPr/>
          <p:nvPr/>
        </p:nvSpPr>
        <p:spPr>
          <a:xfrm>
            <a:off x="2885440" y="3242945"/>
            <a:ext cx="3372485" cy="440690"/>
          </a:xfrm>
          <a:prstGeom prst="rect">
            <a:avLst/>
          </a:prstGeom>
        </p:spPr>
        <p:txBody>
          <a:bodyPr wrap="square">
            <a:noAutofit/>
          </a:bodyPr>
          <a:lstStyle/>
          <a:p>
            <a:pPr lvl="0" eaLnBrk="1" hangingPunct="1">
              <a:lnSpc>
                <a:spcPct val="110000"/>
              </a:lnSpc>
              <a:spcBef>
                <a:spcPct val="10000"/>
              </a:spcBef>
              <a:spcAft>
                <a:spcPct val="10000"/>
              </a:spcAft>
              <a:defRPr/>
            </a:pPr>
            <a:r>
              <a:rPr lang="en-US" altLang="zh-CN" sz="2000" dirty="0"/>
              <a:t>Verilog</a:t>
            </a:r>
            <a:r>
              <a:rPr lang="zh-CN" altLang="en-US" sz="2000" dirty="0"/>
              <a:t>操作符与位数</a:t>
            </a:r>
            <a:endParaRPr lang="zh-CN" altLang="en-US" sz="20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3871829"/>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10.2.3</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Verilog</a:t>
            </a:r>
            <a:r>
              <a:rPr kumimoji="1" lang="zh-CN" altLang="en-US"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模块</a:t>
            </a:r>
            <a:endParaRPr kumimoji="1" lang="en-US" altLang="zh-CN" b="1" dirty="0" smtClean="0">
              <a:solidFill>
                <a:srgbClr val="CC6600"/>
              </a:solidFill>
              <a:effectLst>
                <a:outerShdw blurRad="38100" dist="38100" dir="2700000" algn="tl">
                  <a:srgbClr val="000000"/>
                </a:outerShdw>
              </a:effectLst>
            </a:endParaRPr>
          </a:p>
          <a:p>
            <a:pPr marL="342900" lvl="0" indent="-342900" algn="just" eaLnBrk="1" hangingPunct="1">
              <a:lnSpc>
                <a:spcPct val="110000"/>
              </a:lnSpc>
              <a:spcBef>
                <a:spcPct val="10000"/>
              </a:spcBef>
              <a:spcAft>
                <a:spcPct val="10000"/>
              </a:spcAft>
              <a:buFont typeface="Wingdings" panose="05000000000000000000" pitchFamily="2" charset="2"/>
              <a:buChar char="Ø"/>
              <a:defRPr/>
            </a:pPr>
            <a:r>
              <a:rPr lang="en-US" altLang="zh-CN" sz="2000" b="1" dirty="0"/>
              <a:t>Verilog</a:t>
            </a:r>
            <a:r>
              <a:rPr lang="zh-CN" altLang="en-US" sz="2000" b="1" dirty="0"/>
              <a:t>代码描述的电路或者子电路叫作模块。由</a:t>
            </a:r>
            <a:r>
              <a:rPr lang="en-US" altLang="zh-CN" sz="2000" b="1" dirty="0"/>
              <a:t>module</a:t>
            </a:r>
            <a:r>
              <a:rPr lang="zh-CN" altLang="en-US" sz="2000" b="1" dirty="0"/>
              <a:t>开始，用</a:t>
            </a:r>
            <a:r>
              <a:rPr lang="en-US" altLang="zh-CN" sz="2000" b="1" dirty="0" err="1"/>
              <a:t>endmodule</a:t>
            </a:r>
            <a:r>
              <a:rPr lang="zh-CN" altLang="en-US" sz="2000" b="1" dirty="0"/>
              <a:t>结束。输入和输出端口之间的关系用线网连接或者用</a:t>
            </a:r>
            <a:r>
              <a:rPr lang="en-US" altLang="zh-CN" sz="2000" b="1" dirty="0"/>
              <a:t>assign</a:t>
            </a:r>
            <a:r>
              <a:rPr lang="zh-CN" altLang="en-US" sz="2000" b="1" dirty="0"/>
              <a:t>表示。</a:t>
            </a:r>
            <a:endParaRPr lang="zh-CN" altLang="en-US" sz="2000" b="1" dirty="0"/>
          </a:p>
          <a:p>
            <a:pPr marL="342900" lvl="0" indent="-342900" algn="just" eaLnBrk="1" hangingPunct="1">
              <a:lnSpc>
                <a:spcPct val="110000"/>
              </a:lnSpc>
              <a:spcBef>
                <a:spcPct val="10000"/>
              </a:spcBef>
              <a:spcAft>
                <a:spcPct val="10000"/>
              </a:spcAft>
              <a:buFont typeface="Wingdings" panose="05000000000000000000" pitchFamily="2" charset="2"/>
              <a:buChar char="Ø"/>
              <a:defRPr/>
            </a:pPr>
            <a:r>
              <a:rPr lang="en-US" altLang="zh-CN" sz="2000" b="1" dirty="0"/>
              <a:t>Verilog</a:t>
            </a:r>
            <a:r>
              <a:rPr lang="zh-CN" altLang="en-US" sz="2000" b="1" dirty="0"/>
              <a:t>描述的是电路，而从</a:t>
            </a:r>
            <a:r>
              <a:rPr lang="en-US" altLang="zh-CN" sz="2000" b="1" dirty="0"/>
              <a:t>10.1</a:t>
            </a:r>
            <a:r>
              <a:rPr lang="zh-CN" altLang="en-US" sz="2000" b="1" dirty="0"/>
              <a:t>中的例题可以看出，描述同一个电路不止一种表述方法。用不同方法描述主要取决于代码清晰，结构明确。</a:t>
            </a:r>
            <a:endParaRPr lang="zh-CN" altLang="en-US" sz="2000" b="1" dirty="0"/>
          </a:p>
          <a:p>
            <a:pPr marL="342900" lvl="0" indent="-342900" algn="just" eaLnBrk="1" hangingPunct="1">
              <a:lnSpc>
                <a:spcPct val="110000"/>
              </a:lnSpc>
              <a:spcBef>
                <a:spcPct val="10000"/>
              </a:spcBef>
              <a:spcAft>
                <a:spcPct val="10000"/>
              </a:spcAft>
              <a:buFont typeface="Wingdings" panose="05000000000000000000" pitchFamily="2" charset="2"/>
              <a:buChar char="Ø"/>
              <a:defRPr/>
            </a:pPr>
            <a:r>
              <a:rPr lang="zh-CN" altLang="en-US" sz="2000" b="1" dirty="0"/>
              <a:t>模块设计完成后，需要进行实例化，在特定软件上仿真实现过程。门的实例化参照</a:t>
            </a:r>
            <a:r>
              <a:rPr lang="en-US" altLang="zh-CN" sz="2000" b="1" dirty="0"/>
              <a:t>Verilog</a:t>
            </a:r>
            <a:r>
              <a:rPr lang="zh-CN" altLang="en-US" sz="2000" b="1" dirty="0"/>
              <a:t>的门级实现代码。而在仿真过程中，我们需要关注的主要是程序的运行过程和对门电路的仿真。</a:t>
            </a:r>
            <a:endParaRPr lang="zh-CN" altLang="en-US" sz="2000" b="1" dirty="0"/>
          </a:p>
          <a:p>
            <a:pPr lvl="0" eaLnBrk="1" hangingPunct="1">
              <a:lnSpc>
                <a:spcPct val="110000"/>
              </a:lnSpc>
              <a:spcBef>
                <a:spcPct val="10000"/>
              </a:spcBef>
              <a:spcAft>
                <a:spcPct val="10000"/>
              </a:spcAft>
              <a:defRPr/>
            </a:pPr>
            <a:endParaRPr lang="zh-CN" altLang="en-US" sz="20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422885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10.2.4</a:t>
            </a:r>
            <a:r>
              <a:rPr kumimoji="1" lang="en-US" altLang="zh-CN" b="1" dirty="0">
                <a:solidFill>
                  <a:srgbClr val="CC6600"/>
                </a:solidFill>
                <a:effectLst>
                  <a:outerShdw blurRad="38100" dist="38100" dir="2700000" algn="tl">
                    <a:srgbClr val="000000"/>
                  </a:outerShdw>
                </a:effectLst>
              </a:rPr>
              <a:t>Verilog</a:t>
            </a:r>
            <a:r>
              <a:rPr kumimoji="1" lang="zh-CN" altLang="en-US" b="1" dirty="0">
                <a:solidFill>
                  <a:srgbClr val="CC6600"/>
                </a:solidFill>
                <a:effectLst>
                  <a:outerShdw blurRad="38100" dist="38100" dir="2700000" algn="tl">
                    <a:srgbClr val="000000"/>
                  </a:outerShdw>
                </a:effectLst>
              </a:rPr>
              <a:t>的并行</a:t>
            </a:r>
            <a:r>
              <a:rPr kumimoji="1" lang="zh-CN" altLang="en-US" b="1" dirty="0" smtClean="0">
                <a:solidFill>
                  <a:srgbClr val="CC6600"/>
                </a:solidFill>
                <a:effectLst>
                  <a:outerShdw blurRad="38100" dist="38100" dir="2700000" algn="tl">
                    <a:srgbClr val="000000"/>
                  </a:outerShdw>
                </a:effectLst>
              </a:rPr>
              <a:t>语句</a:t>
            </a:r>
            <a:endParaRPr kumimoji="1" lang="en-US" altLang="zh-CN" b="1" dirty="0" smtClean="0">
              <a:solidFill>
                <a:srgbClr val="CC6600"/>
              </a:solidFill>
              <a:effectLst>
                <a:outerShdw blurRad="38100" dist="38100" dir="2700000" algn="tl">
                  <a:srgbClr val="000000"/>
                </a:outerShdw>
              </a:effectLst>
            </a:endParaRPr>
          </a:p>
          <a:p>
            <a:pPr lvl="0" eaLnBrk="1" hangingPunct="1">
              <a:lnSpc>
                <a:spcPct val="110000"/>
              </a:lnSpc>
              <a:spcBef>
                <a:spcPct val="10000"/>
              </a:spcBef>
              <a:spcAft>
                <a:spcPct val="10000"/>
              </a:spcAft>
              <a:defRPr/>
            </a:pPr>
            <a:r>
              <a:rPr lang="en-US" altLang="zh-CN" sz="2400" b="1" dirty="0" smtClean="0">
                <a:solidFill>
                  <a:srgbClr val="FF0000"/>
                </a:solidFill>
              </a:rPr>
              <a:t>1.</a:t>
            </a:r>
            <a:r>
              <a:rPr lang="zh-CN" altLang="en-US" sz="2400" b="1" dirty="0" smtClean="0">
                <a:solidFill>
                  <a:srgbClr val="FF0000"/>
                </a:solidFill>
              </a:rPr>
              <a:t>连续赋值</a:t>
            </a:r>
            <a:endParaRPr lang="zh-CN" altLang="zh-CN" sz="2400" b="1" dirty="0" smtClean="0">
              <a:solidFill>
                <a:srgbClr val="FF0000"/>
              </a:solidFill>
            </a:endParaRPr>
          </a:p>
          <a:p>
            <a:r>
              <a:rPr lang="zh-CN" altLang="en-US" sz="2000" b="1" dirty="0"/>
              <a:t>门实例化进行电路结构的描述时，语句</a:t>
            </a:r>
            <a:r>
              <a:rPr lang="en-US" altLang="zh-CN" sz="2000" b="1" dirty="0"/>
              <a:t>assign</a:t>
            </a:r>
            <a:r>
              <a:rPr lang="zh-CN" altLang="en-US" sz="2000" b="1" dirty="0"/>
              <a:t>就是以连续赋值的方式对电路功能进行描述。例如：</a:t>
            </a:r>
            <a:endParaRPr lang="zh-CN" altLang="en-US" sz="2000" b="1" dirty="0"/>
          </a:p>
          <a:p>
            <a:r>
              <a:rPr lang="en-US" altLang="zh-CN" sz="2000" b="1" dirty="0"/>
              <a:t>assign </a:t>
            </a:r>
            <a:r>
              <a:rPr lang="en-US" altLang="zh-CN" sz="2000" b="1" dirty="0" err="1"/>
              <a:t>Cout</a:t>
            </a:r>
            <a:r>
              <a:rPr lang="en-US" altLang="zh-CN" sz="2000" b="1" dirty="0"/>
              <a:t> = (x &amp; y)|(x &amp; </a:t>
            </a:r>
            <a:r>
              <a:rPr lang="en-US" altLang="zh-CN" sz="2000" b="1" dirty="0" err="1"/>
              <a:t>Cin</a:t>
            </a:r>
            <a:r>
              <a:rPr lang="en-US" altLang="zh-CN" sz="2000" b="1" dirty="0"/>
              <a:t>)|(y &amp; </a:t>
            </a:r>
            <a:r>
              <a:rPr lang="en-US" altLang="zh-CN" sz="2000" b="1" dirty="0" err="1"/>
              <a:t>Cin</a:t>
            </a:r>
            <a:r>
              <a:rPr lang="en-US" altLang="zh-CN" sz="2000" b="1" dirty="0"/>
              <a:t>); </a:t>
            </a:r>
            <a:endParaRPr lang="en-US" altLang="zh-CN" sz="2000" b="1" dirty="0"/>
          </a:p>
          <a:p>
            <a:r>
              <a:rPr lang="en-US" altLang="zh-CN" sz="2000" b="1" dirty="0"/>
              <a:t>assign s = </a:t>
            </a:r>
            <a:r>
              <a:rPr lang="en-US" altLang="zh-CN" sz="2000" b="1" dirty="0" err="1"/>
              <a:t>x^y^z</a:t>
            </a:r>
            <a:r>
              <a:rPr lang="en-US" altLang="zh-CN" sz="2000" b="1" dirty="0"/>
              <a:t>;</a:t>
            </a:r>
            <a:endParaRPr lang="en-US" altLang="zh-CN" sz="2000" b="1" dirty="0"/>
          </a:p>
          <a:p>
            <a:r>
              <a:rPr lang="zh-CN" altLang="en-US" sz="2000" b="1" dirty="0"/>
              <a:t>两条语句中的输入为</a:t>
            </a:r>
            <a:r>
              <a:rPr lang="en-US" altLang="zh-CN" sz="2000" b="1" dirty="0"/>
              <a:t>x</a:t>
            </a:r>
            <a:r>
              <a:rPr lang="zh-CN" altLang="en-US" sz="2000" b="1" dirty="0"/>
              <a:t>、</a:t>
            </a:r>
            <a:r>
              <a:rPr lang="en-US" altLang="zh-CN" sz="2000" b="1" dirty="0"/>
              <a:t>y</a:t>
            </a:r>
            <a:r>
              <a:rPr lang="zh-CN" altLang="en-US" sz="2000" b="1" dirty="0"/>
              <a:t>、</a:t>
            </a:r>
            <a:r>
              <a:rPr lang="en-US" altLang="zh-CN" sz="2000" b="1" dirty="0"/>
              <a:t>z</a:t>
            </a:r>
            <a:r>
              <a:rPr lang="zh-CN" altLang="en-US" sz="2000" b="1" dirty="0"/>
              <a:t>、</a:t>
            </a:r>
            <a:r>
              <a:rPr lang="en-US" altLang="zh-CN" sz="2000" b="1" dirty="0" err="1"/>
              <a:t>Cin</a:t>
            </a:r>
            <a:r>
              <a:rPr lang="zh-CN" altLang="en-US" sz="2000" b="1" dirty="0"/>
              <a:t>等，由于语句是连续赋值的，没有先后顺序，所以这两条语句也可以合并为：</a:t>
            </a:r>
            <a:endParaRPr lang="zh-CN" altLang="en-US" sz="2000" b="1" dirty="0"/>
          </a:p>
          <a:p>
            <a:r>
              <a:rPr lang="en-US" altLang="zh-CN" sz="2000" b="1" dirty="0"/>
              <a:t>assign </a:t>
            </a:r>
            <a:r>
              <a:rPr lang="en-US" altLang="zh-CN" sz="2000" b="1" dirty="0" err="1"/>
              <a:t>Cout</a:t>
            </a:r>
            <a:r>
              <a:rPr lang="en-US" altLang="zh-CN" sz="2000" b="1" dirty="0"/>
              <a:t> = (x &amp; y)|(x &amp; </a:t>
            </a:r>
            <a:r>
              <a:rPr lang="en-US" altLang="zh-CN" sz="2000" b="1" dirty="0" err="1"/>
              <a:t>Cin</a:t>
            </a:r>
            <a:r>
              <a:rPr lang="en-US" altLang="zh-CN" sz="2000" b="1" dirty="0"/>
              <a:t>)|(y &amp; </a:t>
            </a:r>
            <a:r>
              <a:rPr lang="en-US" altLang="zh-CN" sz="2000" b="1" dirty="0" err="1"/>
              <a:t>Cin</a:t>
            </a:r>
            <a:r>
              <a:rPr lang="en-US" altLang="zh-CN" sz="2000" b="1" dirty="0"/>
              <a:t>), s = </a:t>
            </a:r>
            <a:r>
              <a:rPr lang="en-US" altLang="zh-CN" sz="2000" b="1" dirty="0" err="1"/>
              <a:t>x^y^z</a:t>
            </a:r>
            <a:r>
              <a:rPr lang="en-US" altLang="zh-CN" sz="2000" b="1" dirty="0"/>
              <a:t>;</a:t>
            </a:r>
            <a:endParaRPr lang="en-US" altLang="zh-CN" sz="2000" b="1" dirty="0"/>
          </a:p>
          <a:p>
            <a:r>
              <a:rPr lang="en-US" altLang="zh-CN" sz="2400" b="1" dirty="0" smtClean="0">
                <a:solidFill>
                  <a:srgbClr val="FF0000"/>
                </a:solidFill>
              </a:rPr>
              <a:t>2.</a:t>
            </a:r>
            <a:r>
              <a:rPr lang="zh-CN" altLang="en-US" sz="2400" b="1" dirty="0" smtClean="0">
                <a:solidFill>
                  <a:srgbClr val="FF0000"/>
                </a:solidFill>
              </a:rPr>
              <a:t>参数</a:t>
            </a:r>
            <a:r>
              <a:rPr lang="zh-CN" altLang="zh-CN" sz="2400" b="1" dirty="0">
                <a:solidFill>
                  <a:srgbClr val="FF0000"/>
                </a:solidFill>
              </a:rPr>
              <a:t>表示</a:t>
            </a:r>
            <a:endParaRPr lang="zh-CN" altLang="zh-CN" sz="2400" b="1" dirty="0">
              <a:solidFill>
                <a:srgbClr val="FF0000"/>
              </a:solidFill>
            </a:endParaRPr>
          </a:p>
          <a:p>
            <a:r>
              <a:rPr lang="zh-CN" altLang="en-US" sz="2000" b="1" dirty="0" smtClean="0"/>
              <a:t>参数</a:t>
            </a:r>
            <a:r>
              <a:rPr lang="zh-CN" altLang="en-US" sz="2000" b="1" dirty="0"/>
              <a:t>的使用是为了方便代码的书写和修改的。例如，通过引入设置位数的参数，一个</a:t>
            </a:r>
            <a:r>
              <a:rPr lang="en-US" altLang="zh-CN" sz="2000" b="1" dirty="0"/>
              <a:t>4</a:t>
            </a:r>
            <a:r>
              <a:rPr lang="zh-CN" altLang="en-US" sz="2000" b="1" dirty="0"/>
              <a:t>位加法器就能修改成为一个通用的</a:t>
            </a:r>
            <a:r>
              <a:rPr lang="en-US" altLang="zh-CN" sz="2000" b="1" dirty="0"/>
              <a:t>n</a:t>
            </a:r>
            <a:r>
              <a:rPr lang="zh-CN" altLang="en-US" sz="2000" b="1" dirty="0"/>
              <a:t>位加法器</a:t>
            </a:r>
            <a:r>
              <a:rPr lang="zh-CN" altLang="en-US" sz="2000" b="1" dirty="0" smtClean="0"/>
              <a:t>。</a:t>
            </a:r>
            <a:endParaRPr lang="zh-CN" altLang="en-US" sz="2000" b="1" dirty="0"/>
          </a:p>
        </p:txBody>
      </p:sp>
      <p:sp>
        <p:nvSpPr>
          <p:cNvPr id="3" name="文本框 13415"/>
          <p:cNvSpPr txBox="1">
            <a:spLocks noChangeArrowheads="1"/>
          </p:cNvSpPr>
          <p:nvPr/>
        </p:nvSpPr>
        <p:spPr bwMode="auto">
          <a:xfrm>
            <a:off x="1280251" y="5443288"/>
            <a:ext cx="2490788" cy="1282700"/>
          </a:xfrm>
          <a:prstGeom prst="rect">
            <a:avLst/>
          </a:prstGeom>
          <a:solidFill>
            <a:srgbClr val="FFFFFF"/>
          </a:solidFill>
          <a:ln w="6350">
            <a:solidFill>
              <a:srgbClr val="000000"/>
            </a:solid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module adder (X,Y,S,S2s)</a:t>
            </a:r>
            <a:endParaRPr kumimoji="0" lang="en-US" altLang="zh-CN"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iput [3:0] X,Y;</a:t>
            </a:r>
            <a:endParaRPr kumimoji="0" lang="en-US" altLang="zh-CN"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output [7:0]S,S2s;</a:t>
            </a:r>
            <a:endParaRPr kumimoji="0" lang="en-US" altLang="zh-CN"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assign S = X+Y,        </a:t>
            </a:r>
            <a:endParaRPr kumimoji="0" lang="en-US" altLang="zh-CN"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S2s = {{4{X[3]}},X}+{{4{Y[3]}},Y};</a:t>
            </a:r>
            <a:endParaRPr kumimoji="0" lang="en-US" altLang="zh-CN"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endmodule</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4" name="文本框 13414"/>
          <p:cNvSpPr txBox="1">
            <a:spLocks noChangeArrowheads="1"/>
          </p:cNvSpPr>
          <p:nvPr/>
        </p:nvSpPr>
        <p:spPr bwMode="auto">
          <a:xfrm>
            <a:off x="3994876" y="5457575"/>
            <a:ext cx="2740025" cy="1360488"/>
          </a:xfrm>
          <a:prstGeom prst="rect">
            <a:avLst/>
          </a:prstGeom>
          <a:solidFill>
            <a:srgbClr val="FFFFFF"/>
          </a:solidFill>
          <a:ln w="6350">
            <a:solidFill>
              <a:srgbClr val="000000"/>
            </a:solidFill>
            <a:miter lim="800000"/>
          </a:ln>
        </p:spPr>
        <p:txBody>
          <a:bodyPr vert="horz" wrap="square" lIns="91440" tIns="45720" rIns="91440" bIns="45720" numCol="1" anchor="t" anchorCtr="0" compatLnSpc="1"/>
          <a:lstStyle>
            <a:lvl1pPr indent="1143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11430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module adder (X,Y,S,S2s)</a:t>
            </a:r>
            <a:endParaRPr kumimoji="0" lang="en-US" altLang="zh-CN" sz="800" b="0" i="0" u="none" strike="noStrike" cap="none" normalizeH="0" baseline="0" smtClean="0">
              <a:ln>
                <a:noFill/>
              </a:ln>
              <a:solidFill>
                <a:schemeClr val="tx1"/>
              </a:solidFill>
              <a:effectLst/>
            </a:endParaRPr>
          </a:p>
          <a:p>
            <a:pPr marL="0" marR="0" lvl="0" indent="11430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parameter n=4;</a:t>
            </a:r>
            <a:endParaRPr kumimoji="0" lang="en-US" altLang="zh-CN" sz="800" b="0" i="0" u="none" strike="noStrike" cap="none" normalizeH="0" baseline="0" smtClean="0">
              <a:ln>
                <a:noFill/>
              </a:ln>
              <a:solidFill>
                <a:schemeClr val="tx1"/>
              </a:solidFill>
              <a:effectLst/>
            </a:endParaRPr>
          </a:p>
          <a:p>
            <a:pPr marL="0" marR="0" lvl="0" indent="11430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input [n-1:0] X,Y;</a:t>
            </a:r>
            <a:endParaRPr kumimoji="0" lang="en-US" altLang="zh-CN" sz="800" b="0" i="0" u="none" strike="noStrike" cap="none" normalizeH="0" baseline="0" smtClean="0">
              <a:ln>
                <a:noFill/>
              </a:ln>
              <a:solidFill>
                <a:schemeClr val="tx1"/>
              </a:solidFill>
              <a:effectLst/>
            </a:endParaRPr>
          </a:p>
          <a:p>
            <a:pPr marL="0" marR="0" lvl="0" indent="11430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output [2*n-1:0]S,S2s;</a:t>
            </a:r>
            <a:endParaRPr kumimoji="0" lang="en-US" altLang="zh-CN" sz="800" b="0" i="0" u="none" strike="noStrike" cap="none" normalizeH="0" baseline="0" smtClean="0">
              <a:ln>
                <a:noFill/>
              </a:ln>
              <a:solidFill>
                <a:schemeClr val="tx1"/>
              </a:solidFill>
              <a:effectLst/>
            </a:endParaRPr>
          </a:p>
          <a:p>
            <a:pPr marL="0" marR="0" lvl="0" indent="11430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assign S = X+Y,        </a:t>
            </a:r>
            <a:endParaRPr kumimoji="0" lang="en-US" altLang="zh-CN" sz="800" b="0" i="0" u="none" strike="noStrike" cap="none" normalizeH="0" baseline="0" smtClean="0">
              <a:ln>
                <a:noFill/>
              </a:ln>
              <a:solidFill>
                <a:schemeClr val="tx1"/>
              </a:solidFill>
              <a:effectLst/>
            </a:endParaRPr>
          </a:p>
          <a:p>
            <a:pPr marL="0" marR="0" lvl="0" indent="11430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S2s = {{n{X[n-1]}},X}+{{n{Y[n-1]}},Y};</a:t>
            </a:r>
            <a:endParaRPr kumimoji="0" lang="en-US" altLang="zh-CN" sz="800" b="0" i="0" u="none" strike="noStrike" cap="none" normalizeH="0" baseline="0" smtClean="0">
              <a:ln>
                <a:noFill/>
              </a:ln>
              <a:solidFill>
                <a:schemeClr val="tx1"/>
              </a:solidFill>
              <a:effectLst/>
            </a:endParaRPr>
          </a:p>
          <a:p>
            <a:pPr marL="0" marR="0" lvl="0" indent="114300" algn="l" defTabSz="914400" rtl="0" eaLnBrk="0" fontAlgn="base" latinLnBrk="0" hangingPunct="0">
              <a:lnSpc>
                <a:spcPct val="100000"/>
              </a:lnSpc>
              <a:spcBef>
                <a:spcPct val="0"/>
              </a:spcBef>
              <a:spcAft>
                <a:spcPct val="0"/>
              </a:spcAft>
              <a:buClrTx/>
              <a:buSzTx/>
              <a:buFontTx/>
              <a:buNone/>
            </a:pPr>
            <a:r>
              <a:rPr kumimoji="0" lang="en-US" altLang="zh-CN" sz="9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endmodule</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1397726" y="49400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8434387" cy="3951851"/>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10.2.5</a:t>
            </a:r>
            <a:r>
              <a:rPr kumimoji="1" lang="en-US" altLang="zh-CN" b="1" noProof="0" dirty="0">
                <a:solidFill>
                  <a:srgbClr val="CC6600"/>
                </a:solidFill>
                <a:effectLst>
                  <a:outerShdw blurRad="38100" dist="38100" dir="2700000" algn="tl">
                    <a:srgbClr val="000000"/>
                  </a:outerShdw>
                </a:effectLst>
              </a:rPr>
              <a:t> </a:t>
            </a:r>
            <a:r>
              <a:rPr kumimoji="1" lang="zh-CN" altLang="en-US" b="1" noProof="0" dirty="0" smtClean="0">
                <a:solidFill>
                  <a:srgbClr val="CC6600"/>
                </a:solidFill>
                <a:effectLst>
                  <a:outerShdw blurRad="38100" dist="38100" dir="2700000" algn="tl">
                    <a:srgbClr val="000000"/>
                  </a:outerShdw>
                </a:effectLst>
              </a:rPr>
              <a:t>过程</a:t>
            </a:r>
            <a:r>
              <a:rPr kumimoji="1" lang="zh-CN" altLang="en-US" b="1" dirty="0" smtClean="0">
                <a:solidFill>
                  <a:srgbClr val="CC6600"/>
                </a:solidFill>
                <a:effectLst>
                  <a:outerShdw blurRad="38100" dist="38100" dir="2700000" algn="tl">
                    <a:srgbClr val="000000"/>
                  </a:outerShdw>
                </a:effectLst>
              </a:rPr>
              <a:t>语句</a:t>
            </a:r>
            <a:endParaRPr kumimoji="1" lang="en-US" altLang="zh-CN" b="1" dirty="0" smtClean="0">
              <a:solidFill>
                <a:srgbClr val="CC6600"/>
              </a:solidFill>
              <a:effectLst>
                <a:outerShdw blurRad="38100" dist="38100" dir="2700000" algn="tl">
                  <a:srgbClr val="000000"/>
                </a:outerShdw>
              </a:effectLst>
            </a:endParaRPr>
          </a:p>
          <a:p>
            <a:pPr lvl="0" eaLnBrk="1" hangingPunct="1">
              <a:lnSpc>
                <a:spcPct val="110000"/>
              </a:lnSpc>
              <a:spcBef>
                <a:spcPct val="10000"/>
              </a:spcBef>
              <a:spcAft>
                <a:spcPct val="10000"/>
              </a:spcAft>
              <a:defRPr/>
            </a:pPr>
            <a:r>
              <a:rPr lang="en-US" altLang="zh-CN" sz="2400" b="1" dirty="0" smtClean="0">
                <a:solidFill>
                  <a:srgbClr val="FF0000"/>
                </a:solidFill>
              </a:rPr>
              <a:t>1.</a:t>
            </a:r>
            <a:r>
              <a:rPr lang="zh-CN" altLang="en-US" sz="2400" b="1" dirty="0">
                <a:solidFill>
                  <a:srgbClr val="FF0000"/>
                </a:solidFill>
              </a:rPr>
              <a:t>过程语句与并行</a:t>
            </a:r>
            <a:r>
              <a:rPr lang="zh-CN" altLang="en-US" sz="2400" b="1" dirty="0" smtClean="0">
                <a:solidFill>
                  <a:srgbClr val="FF0000"/>
                </a:solidFill>
              </a:rPr>
              <a:t>语句</a:t>
            </a:r>
            <a:endParaRPr lang="en-US" altLang="zh-CN" sz="2400" b="1" dirty="0" smtClean="0">
              <a:solidFill>
                <a:srgbClr val="FF0000"/>
              </a:solidFill>
            </a:endParaRPr>
          </a:p>
          <a:p>
            <a:pPr lvl="0" eaLnBrk="1" hangingPunct="1">
              <a:lnSpc>
                <a:spcPct val="110000"/>
              </a:lnSpc>
              <a:spcBef>
                <a:spcPct val="10000"/>
              </a:spcBef>
              <a:spcAft>
                <a:spcPct val="10000"/>
              </a:spcAft>
              <a:defRPr/>
            </a:pPr>
            <a:r>
              <a:rPr lang="zh-CN" altLang="en-US" sz="2000" b="1" dirty="0" smtClean="0"/>
              <a:t>       过程</a:t>
            </a:r>
            <a:r>
              <a:rPr lang="zh-CN" altLang="en-US" sz="2000" b="1" dirty="0"/>
              <a:t>语句也叫作时序语句，过程结构的语句是按照代码的顺序执行。</a:t>
            </a:r>
            <a:r>
              <a:rPr lang="en-US" altLang="zh-CN" sz="2000" b="1" dirty="0"/>
              <a:t>Verilog</a:t>
            </a:r>
            <a:r>
              <a:rPr lang="zh-CN" altLang="en-US" sz="2000" b="1" dirty="0"/>
              <a:t>中过程语句要求包含在一个</a:t>
            </a:r>
            <a:r>
              <a:rPr lang="en-US" altLang="zh-CN" sz="2000" b="1" dirty="0"/>
              <a:t>always</a:t>
            </a:r>
            <a:r>
              <a:rPr lang="zh-CN" altLang="en-US" sz="2000" b="1" dirty="0"/>
              <a:t>块中。在仿真时，</a:t>
            </a:r>
            <a:r>
              <a:rPr lang="en-US" altLang="zh-CN" sz="2000" b="1" dirty="0"/>
              <a:t>Verilog</a:t>
            </a:r>
            <a:r>
              <a:rPr lang="zh-CN" altLang="en-US" sz="2000" b="1" dirty="0"/>
              <a:t>也会采用</a:t>
            </a:r>
            <a:r>
              <a:rPr lang="en-US" altLang="zh-CN" sz="2000" b="1" dirty="0"/>
              <a:t>Initial</a:t>
            </a:r>
            <a:r>
              <a:rPr lang="zh-CN" altLang="en-US" sz="2000" b="1" dirty="0"/>
              <a:t>结构，只不过</a:t>
            </a:r>
            <a:r>
              <a:rPr lang="en-US" altLang="zh-CN" sz="2000" b="1" dirty="0"/>
              <a:t>initial</a:t>
            </a:r>
            <a:r>
              <a:rPr lang="zh-CN" altLang="en-US" sz="2000" b="1" dirty="0"/>
              <a:t>块内的语句只在仿真开始的时候运行一次。综合而言</a:t>
            </a:r>
            <a:r>
              <a:rPr lang="en-US" altLang="zh-CN" sz="2000" b="1" dirty="0"/>
              <a:t>initial</a:t>
            </a:r>
            <a:r>
              <a:rPr lang="zh-CN" altLang="en-US" sz="2000" b="1" dirty="0"/>
              <a:t>并不常用。</a:t>
            </a:r>
            <a:endParaRPr lang="zh-CN" altLang="en-US" sz="2000" b="1" dirty="0"/>
          </a:p>
          <a:p>
            <a:pPr lvl="0" eaLnBrk="1" hangingPunct="1">
              <a:lnSpc>
                <a:spcPct val="110000"/>
              </a:lnSpc>
              <a:spcBef>
                <a:spcPct val="10000"/>
              </a:spcBef>
              <a:spcAft>
                <a:spcPct val="10000"/>
              </a:spcAft>
              <a:defRPr/>
            </a:pPr>
            <a:r>
              <a:rPr lang="zh-CN" altLang="en-US" sz="2000" b="1" dirty="0" smtClean="0"/>
              <a:t>        两种</a:t>
            </a:r>
            <a:r>
              <a:rPr lang="zh-CN" altLang="en-US" sz="2000" b="1" dirty="0"/>
              <a:t>语句的执行顺序都是从</a:t>
            </a:r>
            <a:r>
              <a:rPr lang="en-US" altLang="zh-CN" sz="2000" b="1" dirty="0"/>
              <a:t>0</a:t>
            </a:r>
            <a:r>
              <a:rPr lang="zh-CN" altLang="en-US" sz="2000" b="1" dirty="0"/>
              <a:t>时刻开始执行，</a:t>
            </a:r>
            <a:r>
              <a:rPr lang="en-US" altLang="zh-CN" sz="2000" b="1" dirty="0"/>
              <a:t>initial</a:t>
            </a:r>
            <a:r>
              <a:rPr lang="zh-CN" altLang="en-US" sz="2000" b="1" dirty="0"/>
              <a:t>是单次执行，块内的语句是顺序执行，</a:t>
            </a:r>
            <a:r>
              <a:rPr lang="en-US" altLang="zh-CN" sz="2000" b="1" dirty="0"/>
              <a:t>initial</a:t>
            </a:r>
            <a:r>
              <a:rPr lang="zh-CN" altLang="en-US" sz="2000" b="1" dirty="0"/>
              <a:t>块之间的关系是并行的；</a:t>
            </a:r>
            <a:r>
              <a:rPr lang="en-US" altLang="zh-CN" sz="2000" b="1" dirty="0"/>
              <a:t>always</a:t>
            </a:r>
            <a:r>
              <a:rPr lang="zh-CN" altLang="en-US" sz="2000" b="1" dirty="0"/>
              <a:t>语句则是重复执行，多个语句之间并行执行，单个语句内顺序执行；</a:t>
            </a:r>
            <a:endParaRPr lang="zh-CN" altLang="en-US" sz="2000" b="1" dirty="0"/>
          </a:p>
          <a:p>
            <a:pPr lvl="0" eaLnBrk="1" hangingPunct="1">
              <a:lnSpc>
                <a:spcPct val="110000"/>
              </a:lnSpc>
              <a:spcBef>
                <a:spcPct val="10000"/>
              </a:spcBef>
              <a:spcAft>
                <a:spcPct val="10000"/>
              </a:spcAft>
              <a:defRPr/>
            </a:pPr>
            <a:r>
              <a:rPr lang="zh-CN" altLang="en-US" sz="2000" dirty="0"/>
              <a:t>图</a:t>
            </a:r>
            <a:r>
              <a:rPr lang="en-US" altLang="zh-CN" sz="2000" dirty="0"/>
              <a:t>10.7</a:t>
            </a:r>
            <a:r>
              <a:rPr lang="zh-CN" altLang="en-US" sz="2000" dirty="0"/>
              <a:t>表示一个简单的</a:t>
            </a:r>
            <a:r>
              <a:rPr lang="en-US" altLang="zh-CN" sz="2000" dirty="0"/>
              <a:t>always</a:t>
            </a:r>
            <a:r>
              <a:rPr lang="zh-CN" altLang="en-US" sz="2000" dirty="0"/>
              <a:t>块，块中的多条语句包含在</a:t>
            </a:r>
            <a:r>
              <a:rPr lang="en-US" altLang="zh-CN" sz="2000" dirty="0"/>
              <a:t>begin-end</a:t>
            </a:r>
            <a:r>
              <a:rPr lang="zh-CN" altLang="en-US" sz="2000" dirty="0"/>
              <a:t>中。</a:t>
            </a:r>
            <a:endParaRPr lang="zh-CN" altLang="en-US" sz="2000" dirty="0"/>
          </a:p>
        </p:txBody>
      </p:sp>
      <p:sp>
        <p:nvSpPr>
          <p:cNvPr id="5" name="Rectangle 3"/>
          <p:cNvSpPr>
            <a:spLocks noChangeArrowheads="1"/>
          </p:cNvSpPr>
          <p:nvPr/>
        </p:nvSpPr>
        <p:spPr bwMode="auto">
          <a:xfrm>
            <a:off x="1397726" y="49400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6"/>
          <p:cNvSpPr txBox="1"/>
          <p:nvPr/>
        </p:nvSpPr>
        <p:spPr>
          <a:xfrm>
            <a:off x="2544445" y="5166360"/>
            <a:ext cx="2563495" cy="1207135"/>
          </a:xfrm>
          <a:prstGeom prst="rect">
            <a:avLst/>
          </a:prstGeom>
          <a:solidFill>
            <a:srgbClr val="FFFFFF"/>
          </a:solidFill>
          <a:ln w="6350">
            <a:solidFill>
              <a:srgbClr val="000000"/>
            </a:solidFill>
          </a:ln>
          <a:effectLst/>
        </p:spPr>
        <p:txBody>
          <a:bodyPr rot="0" spcFirstLastPara="0" vert="horz" wrap="square" lIns="91440" tIns="45720" rIns="91440" bIns="45720" numCol="1" spcCol="0" rtlCol="0" fromWordArt="0" anchor="t" anchorCtr="0" forceAA="0" compatLnSpc="1">
            <a:noAutofit/>
          </a:bodyPr>
          <a:lstStyle/>
          <a:p>
            <a:pPr algn="just">
              <a:spcAft>
                <a:spcPts val="0"/>
              </a:spcAft>
            </a:pPr>
            <a:r>
              <a:rPr lang="en-US" sz="900" i="1" kern="100">
                <a:effectLst/>
                <a:latin typeface="Times New Roman" panose="02020603050405020304" pitchFamily="18" charset="0"/>
                <a:ea typeface="宋体" panose="02010600030101010101" pitchFamily="2" charset="-122"/>
              </a:rPr>
              <a:t>always @( x,y )</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i="1" kern="100">
                <a:effectLst/>
                <a:latin typeface="Times New Roman" panose="02020603050405020304" pitchFamily="18" charset="0"/>
                <a:ea typeface="宋体" panose="02010600030101010101" pitchFamily="2" charset="-122"/>
              </a:rPr>
              <a:t>begin</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i="1" kern="100">
                <a:effectLst/>
                <a:latin typeface="Times New Roman" panose="02020603050405020304" pitchFamily="18" charset="0"/>
                <a:ea typeface="宋体" panose="02010600030101010101" pitchFamily="2" charset="-122"/>
              </a:rPr>
              <a:t>  s = x^y;</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i="1" kern="100">
                <a:effectLst/>
                <a:latin typeface="Times New Roman" panose="02020603050405020304" pitchFamily="18" charset="0"/>
                <a:ea typeface="宋体" panose="02010600030101010101" pitchFamily="2" charset="-122"/>
              </a:rPr>
              <a:t>  c = x&amp;y;</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i="1" kern="100">
                <a:effectLst/>
                <a:latin typeface="Times New Roman" panose="02020603050405020304" pitchFamily="18" charset="0"/>
                <a:ea typeface="宋体" panose="02010600030101010101" pitchFamily="2" charset="-122"/>
              </a:rPr>
              <a:t>end</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kern="100">
                <a:effectLst/>
                <a:latin typeface="Times New Roman" panose="02020603050405020304" pitchFamily="18" charset="0"/>
                <a:ea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191331"/>
            <a:ext cx="8133941" cy="3748719"/>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10.2.5</a:t>
            </a:r>
            <a:r>
              <a:rPr kumimoji="1" lang="en-US" altLang="zh-CN" b="1" noProof="0" dirty="0">
                <a:solidFill>
                  <a:srgbClr val="CC6600"/>
                </a:solidFill>
                <a:effectLst>
                  <a:outerShdw blurRad="38100" dist="38100" dir="2700000" algn="tl">
                    <a:srgbClr val="000000"/>
                  </a:outerShdw>
                </a:effectLst>
              </a:rPr>
              <a:t> </a:t>
            </a:r>
            <a:r>
              <a:rPr kumimoji="1" lang="zh-CN" altLang="en-US" b="1" noProof="0" dirty="0" smtClean="0">
                <a:solidFill>
                  <a:srgbClr val="CC6600"/>
                </a:solidFill>
                <a:effectLst>
                  <a:outerShdw blurRad="38100" dist="38100" dir="2700000" algn="tl">
                    <a:srgbClr val="000000"/>
                  </a:outerShdw>
                </a:effectLst>
              </a:rPr>
              <a:t>过程</a:t>
            </a:r>
            <a:r>
              <a:rPr kumimoji="1" lang="zh-CN" altLang="en-US" b="1" dirty="0" smtClean="0">
                <a:solidFill>
                  <a:srgbClr val="CC6600"/>
                </a:solidFill>
                <a:effectLst>
                  <a:outerShdw blurRad="38100" dist="38100" dir="2700000" algn="tl">
                    <a:srgbClr val="000000"/>
                  </a:outerShdw>
                </a:effectLst>
              </a:rPr>
              <a:t>语句</a:t>
            </a:r>
            <a:endParaRPr kumimoji="1" lang="en-US" altLang="zh-CN" b="1" dirty="0" smtClean="0">
              <a:solidFill>
                <a:srgbClr val="CC6600"/>
              </a:solidFill>
              <a:effectLst>
                <a:outerShdw blurRad="38100" dist="38100" dir="2700000" algn="tl">
                  <a:srgbClr val="000000"/>
                </a:outerShdw>
              </a:effectLst>
            </a:endParaRPr>
          </a:p>
          <a:p>
            <a:r>
              <a:rPr lang="en-US" altLang="zh-CN" sz="2400" b="1" dirty="0" smtClean="0">
                <a:solidFill>
                  <a:srgbClr val="FF0000"/>
                </a:solidFill>
              </a:rPr>
              <a:t>2.</a:t>
            </a:r>
            <a:r>
              <a:rPr lang="zh-CN" altLang="zh-CN" sz="2400" b="1" dirty="0">
                <a:solidFill>
                  <a:srgbClr val="FF0000"/>
                </a:solidFill>
              </a:rPr>
              <a:t>阻塞赋值和非阻塞赋值</a:t>
            </a:r>
            <a:endParaRPr lang="zh-CN" altLang="zh-CN" sz="2400" b="1" dirty="0">
              <a:solidFill>
                <a:srgbClr val="FF0000"/>
              </a:solidFill>
            </a:endParaRPr>
          </a:p>
          <a:p>
            <a:r>
              <a:rPr lang="en-US" altLang="zh-CN" sz="2000" b="1" dirty="0" smtClean="0"/>
              <a:t>       </a:t>
            </a:r>
            <a:r>
              <a:rPr lang="zh-CN" altLang="zh-CN" sz="2000" b="1" dirty="0" smtClean="0"/>
              <a:t>阻塞</a:t>
            </a:r>
            <a:r>
              <a:rPr lang="zh-CN" altLang="zh-CN" sz="2000" b="1" dirty="0"/>
              <a:t>赋值和非阻塞赋值表明数据是在运行该语句前赋值还是运行之后赋值</a:t>
            </a:r>
            <a:r>
              <a:rPr lang="zh-CN" altLang="zh-CN" sz="2000" b="1" dirty="0" smtClean="0"/>
              <a:t>，阻塞</a:t>
            </a:r>
            <a:r>
              <a:rPr lang="zh-CN" altLang="zh-CN" sz="2000" b="1" dirty="0"/>
              <a:t>表示赋值语句在后面的语句运行之前完成赋值，例如：</a:t>
            </a:r>
            <a:endParaRPr lang="zh-CN" altLang="zh-CN" sz="2000" b="1" dirty="0"/>
          </a:p>
          <a:p>
            <a:r>
              <a:rPr lang="en-US" altLang="zh-CN" sz="2000" b="1" i="1" dirty="0"/>
              <a:t>S = X + Y;</a:t>
            </a:r>
            <a:endParaRPr lang="zh-CN" altLang="zh-CN" sz="2000" b="1" dirty="0"/>
          </a:p>
          <a:p>
            <a:r>
              <a:rPr lang="en-US" altLang="zh-CN" sz="2000" b="1" i="1" dirty="0"/>
              <a:t>A = S[0];</a:t>
            </a:r>
            <a:endParaRPr lang="zh-CN" altLang="zh-CN" sz="2000" b="1" dirty="0"/>
          </a:p>
          <a:p>
            <a:r>
              <a:rPr lang="zh-CN" altLang="zh-CN" sz="2000" b="1" dirty="0"/>
              <a:t>这两条语句顺序执行，</a:t>
            </a:r>
            <a:r>
              <a:rPr lang="en-US" altLang="zh-CN" sz="2000" b="1" dirty="0"/>
              <a:t>S</a:t>
            </a:r>
            <a:r>
              <a:rPr lang="zh-CN" altLang="zh-CN" sz="2000" b="1" dirty="0"/>
              <a:t>进行的是阻塞赋值，首先令</a:t>
            </a:r>
            <a:r>
              <a:rPr lang="en-US" altLang="zh-CN" sz="2000" b="1" dirty="0"/>
              <a:t>S</a:t>
            </a:r>
            <a:r>
              <a:rPr lang="zh-CN" altLang="zh-CN" sz="2000" b="1" dirty="0"/>
              <a:t>等于当前</a:t>
            </a:r>
            <a:r>
              <a:rPr lang="en-US" altLang="zh-CN" sz="2000" b="1" dirty="0"/>
              <a:t>X</a:t>
            </a:r>
            <a:r>
              <a:rPr lang="zh-CN" altLang="zh-CN" sz="2000" b="1" dirty="0"/>
              <a:t>和</a:t>
            </a:r>
            <a:r>
              <a:rPr lang="en-US" altLang="zh-CN" sz="2000" b="1" dirty="0"/>
              <a:t>Y</a:t>
            </a:r>
            <a:r>
              <a:rPr lang="zh-CN" altLang="zh-CN" sz="2000" b="1" dirty="0"/>
              <a:t>的和，然后运行使得</a:t>
            </a:r>
            <a:r>
              <a:rPr lang="en-US" altLang="zh-CN" sz="2000" b="1" dirty="0"/>
              <a:t>A</a:t>
            </a:r>
            <a:r>
              <a:rPr lang="zh-CN" altLang="zh-CN" sz="2000" b="1" dirty="0"/>
              <a:t>赋值为</a:t>
            </a:r>
            <a:r>
              <a:rPr lang="en-US" altLang="zh-CN" sz="2000" b="1" dirty="0"/>
              <a:t>S[0]</a:t>
            </a:r>
            <a:r>
              <a:rPr lang="zh-CN" altLang="zh-CN" sz="2000" b="1" dirty="0"/>
              <a:t>的值。</a:t>
            </a:r>
            <a:endParaRPr lang="zh-CN" altLang="zh-CN" sz="2000" b="1" dirty="0"/>
          </a:p>
          <a:p>
            <a:r>
              <a:rPr lang="zh-CN" altLang="zh-CN" sz="2000" b="1" dirty="0"/>
              <a:t>假如用非阻塞的方式进行赋值：</a:t>
            </a:r>
            <a:endParaRPr lang="zh-CN" altLang="zh-CN" sz="2000" b="1" dirty="0"/>
          </a:p>
          <a:p>
            <a:r>
              <a:rPr lang="en-US" altLang="zh-CN" sz="2000" b="1" i="1" dirty="0"/>
              <a:t>S &lt;= X+Y;</a:t>
            </a:r>
            <a:endParaRPr lang="zh-CN" altLang="zh-CN" sz="2000" b="1" dirty="0"/>
          </a:p>
          <a:p>
            <a:r>
              <a:rPr lang="en-US" altLang="zh-CN" sz="2000" b="1" i="1" dirty="0"/>
              <a:t>A&lt;=S[0</a:t>
            </a:r>
            <a:r>
              <a:rPr lang="en-US" altLang="zh-CN" sz="2000" b="1" i="1" dirty="0" smtClean="0"/>
              <a:t>];</a:t>
            </a:r>
            <a:endParaRPr lang="zh-CN" altLang="zh-CN" sz="2000" b="1" dirty="0"/>
          </a:p>
        </p:txBody>
      </p:sp>
      <p:sp>
        <p:nvSpPr>
          <p:cNvPr id="5" name="Rectangle 3"/>
          <p:cNvSpPr>
            <a:spLocks noChangeArrowheads="1"/>
          </p:cNvSpPr>
          <p:nvPr/>
        </p:nvSpPr>
        <p:spPr bwMode="auto">
          <a:xfrm>
            <a:off x="1397726" y="49400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animEffect transition="in" filter="blinds(horizontal)">
                                      <p:cBhvr>
                                        <p:cTn id="23" dur="500"/>
                                        <p:tgtEl>
                                          <p:spTgt spid="717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72">
                                            <p:txEl>
                                              <p:pRg st="3" end="3"/>
                                            </p:txEl>
                                          </p:spTgt>
                                        </p:tgtEl>
                                        <p:attrNameLst>
                                          <p:attrName>style.visibility</p:attrName>
                                        </p:attrNameLst>
                                      </p:cBhvr>
                                      <p:to>
                                        <p:strVal val="visible"/>
                                      </p:to>
                                    </p:set>
                                    <p:animEffect transition="in" filter="blinds(horizontal)">
                                      <p:cBhvr>
                                        <p:cTn id="28" dur="500"/>
                                        <p:tgtEl>
                                          <p:spTgt spid="717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172">
                                            <p:txEl>
                                              <p:pRg st="4" end="4"/>
                                            </p:txEl>
                                          </p:spTgt>
                                        </p:tgtEl>
                                        <p:attrNameLst>
                                          <p:attrName>style.visibility</p:attrName>
                                        </p:attrNameLst>
                                      </p:cBhvr>
                                      <p:to>
                                        <p:strVal val="visible"/>
                                      </p:to>
                                    </p:set>
                                    <p:animEffect transition="in" filter="blinds(horizontal)">
                                      <p:cBhvr>
                                        <p:cTn id="33" dur="500"/>
                                        <p:tgtEl>
                                          <p:spTgt spid="717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172">
                                            <p:txEl>
                                              <p:pRg st="5" end="5"/>
                                            </p:txEl>
                                          </p:spTgt>
                                        </p:tgtEl>
                                        <p:attrNameLst>
                                          <p:attrName>style.visibility</p:attrName>
                                        </p:attrNameLst>
                                      </p:cBhvr>
                                      <p:to>
                                        <p:strVal val="visible"/>
                                      </p:to>
                                    </p:set>
                                    <p:animEffect transition="in" filter="blinds(horizontal)">
                                      <p:cBhvr>
                                        <p:cTn id="38" dur="500"/>
                                        <p:tgtEl>
                                          <p:spTgt spid="717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7172">
                                            <p:txEl>
                                              <p:pRg st="6" end="6"/>
                                            </p:txEl>
                                          </p:spTgt>
                                        </p:tgtEl>
                                        <p:attrNameLst>
                                          <p:attrName>style.visibility</p:attrName>
                                        </p:attrNameLst>
                                      </p:cBhvr>
                                      <p:to>
                                        <p:strVal val="visible"/>
                                      </p:to>
                                    </p:set>
                                    <p:animEffect transition="in" filter="blinds(horizontal)">
                                      <p:cBhvr>
                                        <p:cTn id="43" dur="500"/>
                                        <p:tgtEl>
                                          <p:spTgt spid="7172">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172">
                                            <p:txEl>
                                              <p:pRg st="7" end="7"/>
                                            </p:txEl>
                                          </p:spTgt>
                                        </p:tgtEl>
                                        <p:attrNameLst>
                                          <p:attrName>style.visibility</p:attrName>
                                        </p:attrNameLst>
                                      </p:cBhvr>
                                      <p:to>
                                        <p:strVal val="visible"/>
                                      </p:to>
                                    </p:set>
                                    <p:animEffect transition="in" filter="blinds(horizontal)">
                                      <p:cBhvr>
                                        <p:cTn id="48" dur="500"/>
                                        <p:tgtEl>
                                          <p:spTgt spid="7172">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7172">
                                            <p:txEl>
                                              <p:pRg st="8" end="8"/>
                                            </p:txEl>
                                          </p:spTgt>
                                        </p:tgtEl>
                                        <p:attrNameLst>
                                          <p:attrName>style.visibility</p:attrName>
                                        </p:attrNameLst>
                                      </p:cBhvr>
                                      <p:to>
                                        <p:strVal val="visible"/>
                                      </p:to>
                                    </p:set>
                                    <p:animEffect transition="in" filter="blinds(horizontal)">
                                      <p:cBhvr>
                                        <p:cTn id="53" dur="500"/>
                                        <p:tgtEl>
                                          <p:spTgt spid="7172">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 calcmode="lin" valueType="num">
                                      <p:cBhvr additive="base">
                                        <p:cTn id="58" dur="500" fill="hold"/>
                                        <p:tgtEl>
                                          <p:spTgt spid="10"/>
                                        </p:tgtEl>
                                        <p:attrNameLst>
                                          <p:attrName>ppt_x</p:attrName>
                                        </p:attrNameLst>
                                      </p:cBhvr>
                                      <p:tavLst>
                                        <p:tav tm="0">
                                          <p:val>
                                            <p:strVal val="#ppt_x"/>
                                          </p:val>
                                        </p:tav>
                                        <p:tav tm="100000">
                                          <p:val>
                                            <p:strVal val="#ppt_x"/>
                                          </p:val>
                                        </p:tav>
                                      </p:tavLst>
                                    </p:anim>
                                    <p:anim calcmode="lin" valueType="num">
                                      <p:cBhvr additive="base">
                                        <p:cTn id="5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709613" y="1178268"/>
            <a:ext cx="8133941" cy="21482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10.2.6</a:t>
            </a:r>
            <a:r>
              <a:rPr kumimoji="1" lang="zh-CN" altLang="en-US" b="1" dirty="0">
                <a:solidFill>
                  <a:srgbClr val="CC6600"/>
                </a:solidFill>
                <a:effectLst>
                  <a:outerShdw blurRad="38100" dist="38100" dir="2700000" algn="tl">
                    <a:srgbClr val="000000"/>
                  </a:outerShdw>
                </a:effectLst>
              </a:rPr>
              <a:t>调试任务与</a:t>
            </a:r>
            <a:r>
              <a:rPr kumimoji="1" lang="en-US" altLang="zh-CN" b="1" dirty="0" err="1" smtClean="0">
                <a:solidFill>
                  <a:srgbClr val="CC6600"/>
                </a:solidFill>
                <a:effectLst>
                  <a:outerShdw blurRad="38100" dist="38100" dir="2700000" algn="tl">
                    <a:srgbClr val="000000"/>
                  </a:outerShdw>
                </a:effectLst>
              </a:rPr>
              <a:t>testbench</a:t>
            </a:r>
            <a:endParaRPr kumimoji="1" lang="en-US" altLang="zh-CN" b="1" dirty="0" smtClean="0">
              <a:solidFill>
                <a:srgbClr val="CC6600"/>
              </a:solidFill>
              <a:effectLst>
                <a:outerShdw blurRad="38100" dist="38100" dir="2700000" algn="tl">
                  <a:srgbClr val="000000"/>
                </a:outerShdw>
              </a:effectLst>
            </a:endParaRPr>
          </a:p>
          <a:p>
            <a:r>
              <a:rPr lang="zh-CN" altLang="en-US" sz="2000" b="1" dirty="0" smtClean="0"/>
              <a:t>       与</a:t>
            </a:r>
            <a:r>
              <a:rPr lang="zh-CN" altLang="en-US" sz="2000" b="1" dirty="0"/>
              <a:t>软件编程不同，</a:t>
            </a:r>
            <a:r>
              <a:rPr lang="en-US" altLang="zh-CN" sz="2000" b="1" dirty="0"/>
              <a:t>Verilog</a:t>
            </a:r>
            <a:r>
              <a:rPr lang="zh-CN" altLang="en-US" sz="2000" b="1" dirty="0"/>
              <a:t>代码编写完成后，程序的测试不是通过运行过程中实时输入相关数值来检测的。</a:t>
            </a:r>
            <a:r>
              <a:rPr lang="en-US" altLang="zh-CN" sz="2000" b="1" dirty="0"/>
              <a:t>Verilog</a:t>
            </a:r>
            <a:r>
              <a:rPr lang="zh-CN" altLang="en-US" sz="2000" b="1" dirty="0"/>
              <a:t>的测试需要通过外部激励数据来验证电路。激励信号需要通过单独编写一个文件。在</a:t>
            </a:r>
            <a:r>
              <a:rPr lang="en-US" altLang="zh-CN" sz="2000" b="1" dirty="0"/>
              <a:t>Verilog</a:t>
            </a:r>
            <a:r>
              <a:rPr lang="zh-CN" altLang="en-US" sz="2000" b="1" dirty="0"/>
              <a:t>中的</a:t>
            </a:r>
            <a:r>
              <a:rPr lang="en-US" altLang="zh-CN" sz="2000" b="1" dirty="0" err="1"/>
              <a:t>testbench</a:t>
            </a:r>
            <a:r>
              <a:rPr lang="zh-CN" altLang="en-US" sz="2000" b="1" dirty="0"/>
              <a:t>文件就是用于对</a:t>
            </a:r>
            <a:r>
              <a:rPr lang="en-US" altLang="zh-CN" sz="2000" b="1" dirty="0"/>
              <a:t>Verilog</a:t>
            </a:r>
            <a:r>
              <a:rPr lang="zh-CN" altLang="en-US" sz="2000" b="1" dirty="0"/>
              <a:t>代码进行模拟仿真测试，并检验电路设计的正确性</a:t>
            </a:r>
            <a:r>
              <a:rPr lang="zh-CN" altLang="en-US" sz="2000" b="1" dirty="0" smtClean="0"/>
              <a:t>。</a:t>
            </a:r>
            <a:endParaRPr lang="zh-CN" altLang="zh-CN" sz="2000" b="1" dirty="0"/>
          </a:p>
        </p:txBody>
      </p:sp>
      <p:sp>
        <p:nvSpPr>
          <p:cNvPr id="4" name="矩形 3"/>
          <p:cNvSpPr/>
          <p:nvPr/>
        </p:nvSpPr>
        <p:spPr>
          <a:xfrm>
            <a:off x="2710543" y="3195014"/>
            <a:ext cx="4572000" cy="3477875"/>
          </a:xfrm>
          <a:prstGeom prst="rect">
            <a:avLst/>
          </a:prstGeom>
        </p:spPr>
        <p:txBody>
          <a:bodyPr>
            <a:spAutoFit/>
          </a:bodyPr>
          <a:lstStyle/>
          <a:p>
            <a:pPr indent="266700">
              <a:spcAft>
                <a:spcPts val="0"/>
              </a:spcAft>
              <a:tabLst>
                <a:tab pos="2628900" algn="ctr"/>
              </a:tabLst>
            </a:pPr>
            <a:r>
              <a:rPr lang="zh-CN" altLang="zh-CN" sz="2000" kern="100" dirty="0"/>
              <a:t>一个完整的测试文件结构为：</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`timescale </a:t>
            </a:r>
            <a:r>
              <a:rPr lang="zh-CN" altLang="zh-CN" sz="2000" i="1" kern="100" dirty="0">
                <a:ea typeface="楷体" panose="02010609060101010101" pitchFamily="49" charset="-122"/>
              </a:rPr>
              <a:t>仿真单位</a:t>
            </a:r>
            <a:r>
              <a:rPr lang="en-US" altLang="zh-CN" sz="2000" i="1" kern="100" dirty="0">
                <a:ea typeface="楷体" panose="02010609060101010101" pitchFamily="49" charset="-122"/>
              </a:rPr>
              <a:t>/</a:t>
            </a:r>
            <a:r>
              <a:rPr lang="zh-CN" altLang="zh-CN" sz="2000" i="1" kern="100" dirty="0">
                <a:ea typeface="楷体" panose="02010609060101010101" pitchFamily="49" charset="-122"/>
              </a:rPr>
              <a:t>仿真精度</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module </a:t>
            </a:r>
            <a:r>
              <a:rPr lang="en-US" altLang="zh-CN" sz="2000" i="1" kern="100" dirty="0" err="1">
                <a:ea typeface="楷体" panose="02010609060101010101" pitchFamily="49" charset="-122"/>
              </a:rPr>
              <a:t>tb_name</a:t>
            </a:r>
            <a:r>
              <a:rPr lang="en-US" altLang="zh-CN" sz="2000" i="1" kern="100" dirty="0">
                <a:ea typeface="楷体" panose="02010609060101010101" pitchFamily="49" charset="-122"/>
              </a:rPr>
              <a:t>(); // </a:t>
            </a:r>
            <a:r>
              <a:rPr lang="zh-CN" altLang="zh-CN" sz="2000" i="1" kern="100" dirty="0">
                <a:ea typeface="楷体" panose="02010609060101010101" pitchFamily="49" charset="-122"/>
              </a:rPr>
              <a:t>建立测试模型，通常无输入，无输出</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     //</a:t>
            </a:r>
            <a:r>
              <a:rPr lang="zh-CN" altLang="zh-CN" sz="2000" i="1" kern="100" dirty="0">
                <a:ea typeface="楷体" panose="02010609060101010101" pitchFamily="49" charset="-122"/>
              </a:rPr>
              <a:t>信号或变量声明定义</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     //</a:t>
            </a:r>
            <a:r>
              <a:rPr lang="zh-CN" altLang="zh-CN" sz="2000" i="1" kern="100" dirty="0">
                <a:ea typeface="楷体" panose="02010609060101010101" pitchFamily="49" charset="-122"/>
              </a:rPr>
              <a:t>逻辑设计中输入，</a:t>
            </a:r>
            <a:r>
              <a:rPr lang="en-US" altLang="zh-CN" sz="2000" i="1" kern="100" dirty="0" err="1">
                <a:ea typeface="楷体" panose="02010609060101010101" pitchFamily="49" charset="-122"/>
              </a:rPr>
              <a:t>reg</a:t>
            </a:r>
            <a:r>
              <a:rPr lang="zh-CN" altLang="zh-CN" sz="2000" i="1" kern="100" dirty="0">
                <a:ea typeface="楷体" panose="02010609060101010101" pitchFamily="49" charset="-122"/>
              </a:rPr>
              <a:t>型</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     //</a:t>
            </a:r>
            <a:r>
              <a:rPr lang="zh-CN" altLang="zh-CN" sz="2000" i="1" kern="100" dirty="0">
                <a:ea typeface="楷体" panose="02010609060101010101" pitchFamily="49" charset="-122"/>
              </a:rPr>
              <a:t>逻辑设计中输出，</a:t>
            </a:r>
            <a:r>
              <a:rPr lang="en-US" altLang="zh-CN" sz="2000" i="1" kern="100" dirty="0">
                <a:ea typeface="楷体" panose="02010609060101010101" pitchFamily="49" charset="-122"/>
              </a:rPr>
              <a:t>wire</a:t>
            </a:r>
            <a:r>
              <a:rPr lang="zh-CN" altLang="zh-CN" sz="2000" i="1" kern="100" dirty="0">
                <a:ea typeface="楷体" panose="02010609060101010101" pitchFamily="49" charset="-122"/>
              </a:rPr>
              <a:t>型</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     //</a:t>
            </a:r>
            <a:r>
              <a:rPr lang="zh-CN" altLang="zh-CN" sz="2000" i="1" kern="100" dirty="0">
                <a:ea typeface="楷体" panose="02010609060101010101" pitchFamily="49" charset="-122"/>
              </a:rPr>
              <a:t>使用</a:t>
            </a:r>
            <a:r>
              <a:rPr lang="en-US" altLang="zh-CN" sz="2000" i="1" kern="100" dirty="0">
                <a:ea typeface="楷体" panose="02010609060101010101" pitchFamily="49" charset="-122"/>
              </a:rPr>
              <a:t>initial</a:t>
            </a:r>
            <a:r>
              <a:rPr lang="zh-CN" altLang="zh-CN" sz="2000" i="1" kern="100" dirty="0">
                <a:ea typeface="楷体" panose="02010609060101010101" pitchFamily="49" charset="-122"/>
              </a:rPr>
              <a:t>或</a:t>
            </a:r>
            <a:r>
              <a:rPr lang="en-US" altLang="zh-CN" sz="2000" i="1" kern="100" dirty="0">
                <a:ea typeface="楷体" panose="02010609060101010101" pitchFamily="49" charset="-122"/>
              </a:rPr>
              <a:t>always</a:t>
            </a:r>
            <a:r>
              <a:rPr lang="zh-CN" altLang="zh-CN" sz="2000" i="1" kern="100" dirty="0">
                <a:ea typeface="楷体" panose="02010609060101010101" pitchFamily="49" charset="-122"/>
              </a:rPr>
              <a:t>产生激励</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     //</a:t>
            </a:r>
            <a:r>
              <a:rPr lang="zh-CN" altLang="zh-CN" sz="2000" i="1" kern="100" dirty="0">
                <a:solidFill>
                  <a:srgbClr val="000000"/>
                </a:solidFill>
                <a:ea typeface="楷体" panose="02010609060101010101" pitchFamily="49" charset="-122"/>
              </a:rPr>
              <a:t>例化</a:t>
            </a:r>
            <a:r>
              <a:rPr lang="zh-CN" altLang="zh-CN" sz="2000" i="1" kern="100" dirty="0">
                <a:ea typeface="楷体" panose="02010609060101010101" pitchFamily="49" charset="-122"/>
              </a:rPr>
              <a:t>待测试模块</a:t>
            </a:r>
            <a:endParaRPr lang="zh-CN" altLang="zh-CN" sz="2000" kern="100" dirty="0"/>
          </a:p>
          <a:p>
            <a:pPr indent="266700">
              <a:spcAft>
                <a:spcPts val="0"/>
              </a:spcAft>
              <a:tabLst>
                <a:tab pos="2628900" algn="ctr"/>
              </a:tabLst>
            </a:pPr>
            <a:r>
              <a:rPr lang="en-US" altLang="zh-CN" sz="2000" i="1" kern="100" dirty="0">
                <a:ea typeface="楷体" panose="02010609060101010101" pitchFamily="49" charset="-122"/>
              </a:rPr>
              <a:t>     //</a:t>
            </a:r>
            <a:r>
              <a:rPr lang="zh-CN" altLang="zh-CN" sz="2000" i="1" kern="100" dirty="0">
                <a:ea typeface="楷体" panose="02010609060101010101" pitchFamily="49" charset="-122"/>
              </a:rPr>
              <a:t>监控和比较输出响应</a:t>
            </a:r>
            <a:endParaRPr lang="zh-CN" altLang="zh-CN" sz="2000" kern="100" dirty="0"/>
          </a:p>
          <a:p>
            <a:pPr indent="266700">
              <a:spcAft>
                <a:spcPts val="0"/>
              </a:spcAft>
              <a:tabLst>
                <a:tab pos="2628900" algn="ctr"/>
              </a:tabLst>
            </a:pPr>
            <a:r>
              <a:rPr lang="en-US" altLang="zh-CN" sz="2000" i="1" kern="100" dirty="0" err="1">
                <a:ea typeface="楷体" panose="02010609060101010101" pitchFamily="49" charset="-122"/>
              </a:rPr>
              <a:t>endmodule</a:t>
            </a:r>
            <a:endParaRPr lang="zh-CN" altLang="zh-CN" sz="2000"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blinds(horizontal)">
                                      <p:cBhvr>
                                        <p:cTn id="1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709613" y="1178268"/>
            <a:ext cx="8133941" cy="4764381"/>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10.2.7</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编译指令</a:t>
            </a:r>
            <a:endParaRPr kumimoji="1" lang="en-US" altLang="zh-CN" b="1" dirty="0" smtClean="0">
              <a:solidFill>
                <a:srgbClr val="CC6600"/>
              </a:solidFill>
              <a:effectLst>
                <a:outerShdw blurRad="38100" dist="38100" dir="2700000" algn="tl">
                  <a:srgbClr val="000000"/>
                </a:outerShdw>
              </a:effectLst>
            </a:endParaRPr>
          </a:p>
          <a:p>
            <a:pPr marL="342900" indent="-342900">
              <a:lnSpc>
                <a:spcPct val="150000"/>
              </a:lnSpc>
              <a:buFont typeface="Wingdings" panose="05000000000000000000" pitchFamily="2" charset="2"/>
              <a:buChar char="Ø"/>
            </a:pPr>
            <a:r>
              <a:rPr lang="en-US" altLang="zh-CN" sz="2000" b="1" dirty="0"/>
              <a:t>Verilog</a:t>
            </a:r>
            <a:r>
              <a:rPr lang="zh-CN" altLang="en-US" sz="2000" b="1" dirty="0"/>
              <a:t>是模块化编程语言，用于描述模块之间的电路、端口和连接规则。和数字逻辑电路类似，</a:t>
            </a:r>
            <a:r>
              <a:rPr lang="en-US" altLang="zh-CN" sz="2000" b="1" dirty="0"/>
              <a:t>Verilog</a:t>
            </a:r>
            <a:r>
              <a:rPr lang="zh-CN" altLang="en-US" sz="2000" b="1" dirty="0"/>
              <a:t>通过模块化的实现，完成门的实例化，再通过端口之间的关系，将各模块连接起来。</a:t>
            </a:r>
            <a:endParaRPr lang="zh-CN" altLang="en-US" sz="2000" b="1" dirty="0"/>
          </a:p>
          <a:p>
            <a:pPr marL="342900" indent="-342900">
              <a:lnSpc>
                <a:spcPct val="150000"/>
              </a:lnSpc>
              <a:buFont typeface="Wingdings" panose="05000000000000000000" pitchFamily="2" charset="2"/>
              <a:buChar char="Ø"/>
            </a:pPr>
            <a:r>
              <a:rPr lang="en-US" altLang="zh-CN" sz="2000" b="1" dirty="0"/>
              <a:t>Verilog</a:t>
            </a:r>
            <a:r>
              <a:rPr lang="zh-CN" altLang="en-US" sz="2000" b="1" dirty="0"/>
              <a:t>允许门任意数量的输入，但是，一些软件可能设置了对门实例化时的位数限制，在仿真时，需要设置一个门传播延迟的参数。</a:t>
            </a:r>
            <a:endParaRPr lang="zh-CN" altLang="en-US" sz="2000" b="1" dirty="0"/>
          </a:p>
          <a:p>
            <a:pPr marL="342900" indent="-342900">
              <a:lnSpc>
                <a:spcPct val="150000"/>
              </a:lnSpc>
              <a:buFont typeface="Wingdings" panose="05000000000000000000" pitchFamily="2" charset="2"/>
              <a:buChar char="Ø"/>
            </a:pPr>
            <a:r>
              <a:rPr lang="zh-CN" altLang="en-US" sz="2000" b="1" dirty="0"/>
              <a:t>对</a:t>
            </a:r>
            <a:r>
              <a:rPr lang="en-US" altLang="zh-CN" sz="2000" b="1" dirty="0"/>
              <a:t>Verilog</a:t>
            </a:r>
            <a:r>
              <a:rPr lang="zh-CN" altLang="en-US" sz="2000" b="1" dirty="0"/>
              <a:t>来说，只有通过</a:t>
            </a:r>
            <a:r>
              <a:rPr lang="en-US" altLang="zh-CN" sz="2000" b="1" dirty="0" err="1"/>
              <a:t>testbench</a:t>
            </a:r>
            <a:r>
              <a:rPr lang="zh-CN" altLang="en-US" sz="2000" b="1" dirty="0"/>
              <a:t>才能进行仿真，因此在编写代码时，一方面通过程序进行电路的编写；另一方面，在</a:t>
            </a:r>
            <a:r>
              <a:rPr lang="en-US" altLang="zh-CN" sz="2000" b="1" dirty="0" err="1"/>
              <a:t>testbench</a:t>
            </a:r>
            <a:r>
              <a:rPr lang="zh-CN" altLang="en-US" sz="2000" b="1" dirty="0"/>
              <a:t>中，通过时间精度、条件编译等的设置，完成代码的编译。编译指令不用“</a:t>
            </a:r>
            <a:r>
              <a:rPr lang="en-US" altLang="zh-CN" sz="2000" b="1" dirty="0"/>
              <a:t>;”</a:t>
            </a:r>
            <a:r>
              <a:rPr lang="zh-CN" altLang="en-US" sz="2000" b="1" dirty="0"/>
              <a:t>结尾，直接换行即可。</a:t>
            </a:r>
            <a:endParaRPr lang="zh-CN" altLang="en-US" sz="2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709613" y="1178268"/>
            <a:ext cx="8133941" cy="5275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10.2.7</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编译指令</a:t>
            </a:r>
            <a:endParaRPr kumimoji="1" lang="en-US" altLang="zh-CN" b="1" dirty="0" smtClean="0">
              <a:solidFill>
                <a:srgbClr val="CC6600"/>
              </a:solidFill>
              <a:effectLst>
                <a:outerShdw blurRad="38100" dist="38100" dir="2700000" algn="tl">
                  <a:srgbClr val="000000"/>
                </a:outerShdw>
              </a:effectLst>
            </a:endParaRPr>
          </a:p>
        </p:txBody>
      </p:sp>
      <p:sp>
        <p:nvSpPr>
          <p:cNvPr id="5" name="矩形 4"/>
          <p:cNvSpPr/>
          <p:nvPr/>
        </p:nvSpPr>
        <p:spPr>
          <a:xfrm>
            <a:off x="709613" y="1659285"/>
            <a:ext cx="8133941" cy="3539430"/>
          </a:xfrm>
          <a:prstGeom prst="rect">
            <a:avLst/>
          </a:prstGeom>
        </p:spPr>
        <p:txBody>
          <a:bodyPr wrap="square">
            <a:spAutoFit/>
          </a:bodyPr>
          <a:lstStyle/>
          <a:p>
            <a:r>
              <a:rPr lang="en-US" altLang="zh-CN" sz="2400" b="1" dirty="0">
                <a:solidFill>
                  <a:srgbClr val="FF0000"/>
                </a:solidFill>
              </a:rPr>
              <a:t>1</a:t>
            </a:r>
            <a:r>
              <a:rPr lang="en-US" altLang="zh-CN" sz="2400" b="1" dirty="0" smtClean="0">
                <a:solidFill>
                  <a:srgbClr val="FF0000"/>
                </a:solidFill>
              </a:rPr>
              <a:t>.</a:t>
            </a:r>
            <a:r>
              <a:rPr lang="zh-CN" altLang="zh-CN" sz="2400" b="1" dirty="0">
                <a:solidFill>
                  <a:srgbClr val="FF0000"/>
                </a:solidFill>
              </a:rPr>
              <a:t>宏定义编译指令</a:t>
            </a:r>
            <a:endParaRPr lang="zh-CN" altLang="zh-CN" sz="2400" b="1" dirty="0">
              <a:solidFill>
                <a:srgbClr val="FF0000"/>
              </a:solidFill>
            </a:endParaRPr>
          </a:p>
          <a:p>
            <a:r>
              <a:rPr lang="en-US" altLang="zh-CN" sz="2000" b="1" dirty="0"/>
              <a:t>`define</a:t>
            </a:r>
            <a:endParaRPr lang="zh-CN" altLang="zh-CN" sz="2000" b="1" dirty="0"/>
          </a:p>
          <a:p>
            <a:r>
              <a:rPr lang="en-US" altLang="zh-CN" sz="2000" b="1" dirty="0"/>
              <a:t>`</a:t>
            </a:r>
            <a:r>
              <a:rPr lang="en-US" altLang="zh-CN" sz="2000" b="1" dirty="0" err="1"/>
              <a:t>undef</a:t>
            </a:r>
            <a:endParaRPr lang="zh-CN" altLang="zh-CN" sz="2000" b="1" dirty="0"/>
          </a:p>
          <a:p>
            <a:r>
              <a:rPr lang="zh-CN" altLang="zh-CN" sz="2000" b="1" dirty="0"/>
              <a:t>指令用法类似参数的用法，例如：</a:t>
            </a:r>
            <a:endParaRPr lang="zh-CN" altLang="zh-CN" sz="2000" b="1" dirty="0"/>
          </a:p>
          <a:p>
            <a:r>
              <a:rPr lang="en-US" altLang="zh-CN" sz="2000" b="1" dirty="0"/>
              <a:t>`define WIDTH 7</a:t>
            </a:r>
            <a:endParaRPr lang="zh-CN" altLang="zh-CN" sz="2000" b="1" dirty="0"/>
          </a:p>
          <a:p>
            <a:r>
              <a:rPr lang="en-US" altLang="zh-CN" sz="2000" b="1" dirty="0" err="1"/>
              <a:t>reg</a:t>
            </a:r>
            <a:r>
              <a:rPr lang="en-US" altLang="zh-CN" sz="2000" b="1" dirty="0"/>
              <a:t> [ `WIDTH,0 ] data</a:t>
            </a:r>
            <a:endParaRPr lang="zh-CN" altLang="zh-CN" sz="2000" b="1" dirty="0"/>
          </a:p>
          <a:p>
            <a:r>
              <a:rPr lang="en-US" altLang="zh-CN" sz="2000" b="1" dirty="0"/>
              <a:t>...   //</a:t>
            </a:r>
            <a:r>
              <a:rPr lang="zh-CN" altLang="zh-CN" sz="2000" b="1" dirty="0"/>
              <a:t>其他命令或语句</a:t>
            </a:r>
            <a:endParaRPr lang="zh-CN" altLang="zh-CN" sz="2000" b="1" dirty="0"/>
          </a:p>
          <a:p>
            <a:r>
              <a:rPr lang="en-US" altLang="zh-CN" sz="2000" b="1" dirty="0"/>
              <a:t>`</a:t>
            </a:r>
            <a:r>
              <a:rPr lang="en-US" altLang="zh-CN" sz="2000" b="1" dirty="0" err="1"/>
              <a:t>undef</a:t>
            </a:r>
            <a:endParaRPr lang="zh-CN" altLang="zh-CN" sz="2000" b="1" dirty="0"/>
          </a:p>
          <a:p>
            <a:r>
              <a:rPr lang="zh-CN" altLang="zh-CN" sz="2000" b="1" dirty="0"/>
              <a:t>编译时，按照前面的宏定义，将代码行中的</a:t>
            </a:r>
            <a:r>
              <a:rPr lang="en-US" altLang="zh-CN" sz="2000" b="1" dirty="0"/>
              <a:t>WIDTH</a:t>
            </a:r>
            <a:r>
              <a:rPr lang="zh-CN" altLang="zh-CN" sz="2000" b="1" dirty="0"/>
              <a:t>替换为宏定义的</a:t>
            </a:r>
            <a:r>
              <a:rPr lang="en-US" altLang="zh-CN" sz="2000" b="1" dirty="0"/>
              <a:t>7</a:t>
            </a:r>
            <a:r>
              <a:rPr lang="zh-CN" altLang="zh-CN" sz="2000" b="1" dirty="0"/>
              <a:t>。在代码的另一个地方，通过</a:t>
            </a:r>
            <a:r>
              <a:rPr lang="en-US" altLang="zh-CN" sz="2000" b="1" dirty="0"/>
              <a:t>`</a:t>
            </a:r>
            <a:r>
              <a:rPr lang="en-US" altLang="zh-CN" sz="2000" b="1" dirty="0" err="1"/>
              <a:t>undef</a:t>
            </a:r>
            <a:r>
              <a:rPr lang="zh-CN" altLang="zh-CN" sz="2000" b="1" dirty="0"/>
              <a:t>取消</a:t>
            </a:r>
            <a:r>
              <a:rPr lang="en-US" altLang="zh-CN" sz="2000" b="1" dirty="0"/>
              <a:t>`define</a:t>
            </a:r>
            <a:r>
              <a:rPr lang="zh-CN" altLang="zh-CN" sz="2000" b="1" dirty="0"/>
              <a:t>所定义的宏，这样就不会在后续编译时被认为是已定义的宏。</a:t>
            </a:r>
            <a:endParaRPr lang="zh-CN" altLang="zh-CN" sz="2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709613" y="1178268"/>
            <a:ext cx="8133941" cy="5275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10.2.7</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编译指令</a:t>
            </a:r>
            <a:endParaRPr kumimoji="1" lang="en-US" altLang="zh-CN" b="1" dirty="0" smtClean="0">
              <a:solidFill>
                <a:srgbClr val="CC6600"/>
              </a:solidFill>
              <a:effectLst>
                <a:outerShdw blurRad="38100" dist="38100" dir="2700000" algn="tl">
                  <a:srgbClr val="000000"/>
                </a:outerShdw>
              </a:effectLst>
            </a:endParaRPr>
          </a:p>
        </p:txBody>
      </p:sp>
      <p:sp>
        <p:nvSpPr>
          <p:cNvPr id="5" name="矩形 4"/>
          <p:cNvSpPr/>
          <p:nvPr/>
        </p:nvSpPr>
        <p:spPr>
          <a:xfrm>
            <a:off x="709613" y="1659285"/>
            <a:ext cx="8133941" cy="4462760"/>
          </a:xfrm>
          <a:prstGeom prst="rect">
            <a:avLst/>
          </a:prstGeom>
        </p:spPr>
        <p:txBody>
          <a:bodyPr wrap="square">
            <a:spAutoFit/>
          </a:bodyPr>
          <a:lstStyle/>
          <a:p>
            <a:r>
              <a:rPr lang="en-US" altLang="zh-CN" sz="2400" b="1" dirty="0">
                <a:solidFill>
                  <a:srgbClr val="FF0000"/>
                </a:solidFill>
              </a:rPr>
              <a:t>2</a:t>
            </a:r>
            <a:r>
              <a:rPr lang="en-US" altLang="zh-CN" sz="2400" b="1" dirty="0" smtClean="0">
                <a:solidFill>
                  <a:srgbClr val="FF0000"/>
                </a:solidFill>
              </a:rPr>
              <a:t>.</a:t>
            </a:r>
            <a:r>
              <a:rPr lang="zh-CN" altLang="en-US" sz="2400" b="1" dirty="0">
                <a:solidFill>
                  <a:srgbClr val="FF0000"/>
                </a:solidFill>
              </a:rPr>
              <a:t>条件编译指令</a:t>
            </a:r>
            <a:endParaRPr lang="zh-CN" altLang="en-US" sz="2400" b="1" dirty="0">
              <a:solidFill>
                <a:srgbClr val="FF0000"/>
              </a:solidFill>
            </a:endParaRPr>
          </a:p>
          <a:p>
            <a:r>
              <a:rPr lang="en-US" altLang="zh-CN" sz="2000" b="1" dirty="0"/>
              <a:t>`</a:t>
            </a:r>
            <a:r>
              <a:rPr lang="en-US" altLang="zh-CN" sz="2000" b="1" dirty="0" err="1"/>
              <a:t>ifdef</a:t>
            </a:r>
            <a:r>
              <a:rPr lang="en-US" altLang="zh-CN" sz="2000" b="1" dirty="0"/>
              <a:t>    //</a:t>
            </a:r>
            <a:r>
              <a:rPr lang="zh-CN" altLang="en-US" sz="2000" b="1" dirty="0"/>
              <a:t>条件编译指令</a:t>
            </a:r>
            <a:endParaRPr lang="zh-CN" altLang="en-US" sz="2000" b="1" dirty="0"/>
          </a:p>
          <a:p>
            <a:r>
              <a:rPr lang="en-US" altLang="zh-CN" sz="2000" b="1" dirty="0"/>
              <a:t>`</a:t>
            </a:r>
            <a:r>
              <a:rPr lang="en-US" altLang="zh-CN" sz="2000" b="1" dirty="0" err="1"/>
              <a:t>ifndef</a:t>
            </a:r>
            <a:r>
              <a:rPr lang="en-US" altLang="zh-CN" sz="2000" b="1" dirty="0"/>
              <a:t>   //</a:t>
            </a:r>
            <a:r>
              <a:rPr lang="zh-CN" altLang="en-US" sz="2000" b="1" dirty="0"/>
              <a:t>取消条件编译</a:t>
            </a:r>
            <a:endParaRPr lang="zh-CN" altLang="en-US" sz="2000" b="1" dirty="0"/>
          </a:p>
          <a:p>
            <a:r>
              <a:rPr lang="en-US" altLang="zh-CN" sz="2000" b="1" dirty="0"/>
              <a:t>`else  	 //</a:t>
            </a:r>
            <a:r>
              <a:rPr lang="zh-CN" altLang="en-US" sz="2000" b="1" dirty="0"/>
              <a:t>分支语句</a:t>
            </a:r>
            <a:endParaRPr lang="zh-CN" altLang="en-US" sz="2000" b="1" dirty="0"/>
          </a:p>
          <a:p>
            <a:r>
              <a:rPr lang="en-US" altLang="zh-CN" sz="2000" b="1" dirty="0"/>
              <a:t>`</a:t>
            </a:r>
            <a:r>
              <a:rPr lang="en-US" altLang="zh-CN" sz="2000" b="1" dirty="0" err="1"/>
              <a:t>elsif</a:t>
            </a:r>
            <a:r>
              <a:rPr lang="en-US" altLang="zh-CN" sz="2000" b="1" dirty="0"/>
              <a:t>  	//</a:t>
            </a:r>
            <a:r>
              <a:rPr lang="zh-CN" altLang="en-US" sz="2000" b="1" dirty="0"/>
              <a:t>多级分支</a:t>
            </a:r>
            <a:endParaRPr lang="zh-CN" altLang="en-US" sz="2000" b="1" dirty="0"/>
          </a:p>
          <a:p>
            <a:r>
              <a:rPr lang="en-US" altLang="zh-CN" sz="2000" b="1" dirty="0"/>
              <a:t>`</a:t>
            </a:r>
            <a:r>
              <a:rPr lang="en-US" altLang="zh-CN" sz="2000" b="1" dirty="0" err="1"/>
              <a:t>endif</a:t>
            </a:r>
            <a:r>
              <a:rPr lang="en-US" altLang="zh-CN" sz="2000" b="1" dirty="0"/>
              <a:t>	//</a:t>
            </a:r>
            <a:r>
              <a:rPr lang="zh-CN" altLang="en-US" sz="2000" b="1" dirty="0"/>
              <a:t>结束分支</a:t>
            </a:r>
            <a:endParaRPr lang="zh-CN" altLang="en-US" sz="2000" b="1" dirty="0"/>
          </a:p>
          <a:p>
            <a:r>
              <a:rPr lang="zh-CN" altLang="en-US" sz="2000" b="1" dirty="0"/>
              <a:t>指令编译按条件编译，通过</a:t>
            </a:r>
            <a:r>
              <a:rPr lang="en-US" altLang="zh-CN" sz="2000" b="1" dirty="0"/>
              <a:t>if</a:t>
            </a:r>
            <a:r>
              <a:rPr lang="zh-CN" altLang="en-US" sz="2000" b="1" dirty="0"/>
              <a:t>前缀进行有条件编译，例如：</a:t>
            </a:r>
            <a:endParaRPr lang="zh-CN" altLang="en-US" sz="2000" b="1" dirty="0"/>
          </a:p>
          <a:p>
            <a:r>
              <a:rPr lang="en-US" altLang="zh-CN" sz="2000" b="1" dirty="0"/>
              <a:t>`define WIDTH 7</a:t>
            </a:r>
            <a:endParaRPr lang="en-US" altLang="zh-CN" sz="2000" b="1" dirty="0"/>
          </a:p>
          <a:p>
            <a:r>
              <a:rPr lang="en-US" altLang="zh-CN" sz="2000" b="1" dirty="0"/>
              <a:t>...		//</a:t>
            </a:r>
            <a:r>
              <a:rPr lang="zh-CN" altLang="en-US" sz="2000" b="1" dirty="0"/>
              <a:t>其他语句</a:t>
            </a:r>
            <a:endParaRPr lang="zh-CN" altLang="en-US" sz="2000" b="1" dirty="0"/>
          </a:p>
          <a:p>
            <a:r>
              <a:rPr lang="en-US" altLang="zh-CN" sz="2000" b="1" dirty="0"/>
              <a:t>`</a:t>
            </a:r>
            <a:r>
              <a:rPr lang="en-US" altLang="zh-CN" sz="2000" b="1" dirty="0" err="1"/>
              <a:t>ifdef</a:t>
            </a:r>
            <a:r>
              <a:rPr lang="en-US" altLang="zh-CN" sz="2000" b="1" dirty="0"/>
              <a:t>  WIDTH</a:t>
            </a:r>
            <a:endParaRPr lang="en-US" altLang="zh-CN" sz="2000" b="1" dirty="0"/>
          </a:p>
          <a:p>
            <a:r>
              <a:rPr lang="en-US" altLang="zh-CN" sz="2000" b="1" dirty="0"/>
              <a:t>    // </a:t>
            </a:r>
            <a:r>
              <a:rPr lang="zh-CN" altLang="en-US" sz="2000" b="1" dirty="0"/>
              <a:t>如果</a:t>
            </a:r>
            <a:r>
              <a:rPr lang="en-US" altLang="zh-CN" sz="2000" b="1" dirty="0"/>
              <a:t>WIDTH</a:t>
            </a:r>
            <a:r>
              <a:rPr lang="zh-CN" altLang="en-US" sz="2000" b="1" dirty="0"/>
              <a:t>已经定义，执行这里的代码</a:t>
            </a:r>
            <a:endParaRPr lang="zh-CN" altLang="en-US" sz="2000" b="1" dirty="0"/>
          </a:p>
          <a:p>
            <a:r>
              <a:rPr lang="en-US" altLang="zh-CN" sz="2000" b="1" dirty="0"/>
              <a:t>`else</a:t>
            </a:r>
            <a:endParaRPr lang="en-US" altLang="zh-CN" sz="2000" b="1" dirty="0"/>
          </a:p>
          <a:p>
            <a:r>
              <a:rPr lang="en-US" altLang="zh-CN" sz="2000" b="1" dirty="0"/>
              <a:t>    // </a:t>
            </a:r>
            <a:r>
              <a:rPr lang="zh-CN" altLang="en-US" sz="2000" b="1" dirty="0"/>
              <a:t>如果</a:t>
            </a:r>
            <a:r>
              <a:rPr lang="en-US" altLang="zh-CN" sz="2000" b="1" dirty="0"/>
              <a:t>WIDTH</a:t>
            </a:r>
            <a:r>
              <a:rPr lang="zh-CN" altLang="en-US" sz="2000" b="1" dirty="0"/>
              <a:t>没有定义，执行这里的代码</a:t>
            </a:r>
            <a:endParaRPr lang="zh-CN" altLang="en-US" sz="2000" b="1" dirty="0"/>
          </a:p>
          <a:p>
            <a:r>
              <a:rPr lang="en-US" altLang="zh-CN" sz="2000" b="1" dirty="0"/>
              <a:t>`</a:t>
            </a:r>
            <a:r>
              <a:rPr lang="en-US" altLang="zh-CN" sz="2000" b="1" dirty="0" err="1"/>
              <a:t>endif</a:t>
            </a:r>
            <a:endParaRPr lang="en-US" altLang="zh-CN" sz="2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709613" y="1178268"/>
            <a:ext cx="8133941" cy="5275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10.2.7</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编译指令</a:t>
            </a:r>
            <a:endParaRPr kumimoji="1" lang="en-US" altLang="zh-CN" b="1" dirty="0" smtClean="0">
              <a:solidFill>
                <a:srgbClr val="CC6600"/>
              </a:solidFill>
              <a:effectLst>
                <a:outerShdw blurRad="38100" dist="38100" dir="2700000" algn="tl">
                  <a:srgbClr val="000000"/>
                </a:outerShdw>
              </a:effectLst>
            </a:endParaRPr>
          </a:p>
        </p:txBody>
      </p:sp>
      <p:sp>
        <p:nvSpPr>
          <p:cNvPr id="5" name="矩形 4"/>
          <p:cNvSpPr/>
          <p:nvPr/>
        </p:nvSpPr>
        <p:spPr>
          <a:xfrm>
            <a:off x="709613" y="1659285"/>
            <a:ext cx="8133941" cy="3724096"/>
          </a:xfrm>
          <a:prstGeom prst="rect">
            <a:avLst/>
          </a:prstGeom>
        </p:spPr>
        <p:txBody>
          <a:bodyPr wrap="square">
            <a:spAutoFit/>
          </a:bodyPr>
          <a:lstStyle/>
          <a:p>
            <a:r>
              <a:rPr lang="en-US" altLang="zh-CN" sz="2400" b="1" dirty="0">
                <a:solidFill>
                  <a:srgbClr val="FF0000"/>
                </a:solidFill>
              </a:rPr>
              <a:t>3</a:t>
            </a:r>
            <a:r>
              <a:rPr lang="en-US" altLang="zh-CN" sz="2400" b="1" dirty="0" smtClean="0">
                <a:solidFill>
                  <a:srgbClr val="FF0000"/>
                </a:solidFill>
              </a:rPr>
              <a:t>.</a:t>
            </a:r>
            <a:r>
              <a:rPr lang="en-US" altLang="zh-CN" dirty="0">
                <a:solidFill>
                  <a:srgbClr val="FF0000"/>
                </a:solidFill>
              </a:rPr>
              <a:t> </a:t>
            </a:r>
            <a:r>
              <a:rPr lang="en-US" altLang="zh-CN" dirty="0" smtClean="0">
                <a:solidFill>
                  <a:srgbClr val="FF0000"/>
                </a:solidFill>
              </a:rPr>
              <a:t>`</a:t>
            </a:r>
            <a:r>
              <a:rPr lang="en-US" altLang="zh-CN" dirty="0">
                <a:solidFill>
                  <a:srgbClr val="FF0000"/>
                </a:solidFill>
              </a:rPr>
              <a:t>include</a:t>
            </a:r>
            <a:endParaRPr lang="zh-CN" altLang="zh-CN" dirty="0">
              <a:solidFill>
                <a:srgbClr val="FF0000"/>
              </a:solidFill>
            </a:endParaRPr>
          </a:p>
          <a:p>
            <a:r>
              <a:rPr lang="zh-CN" altLang="zh-CN" sz="2000" b="1" dirty="0"/>
              <a:t>用于将全局或公用头文件包含在设计文件里，文件路径可使用绝对路径或相对路径。例如：</a:t>
            </a:r>
            <a:endParaRPr lang="zh-CN" altLang="zh-CN" sz="2000" b="1" dirty="0"/>
          </a:p>
          <a:p>
            <a:r>
              <a:rPr lang="en-US" altLang="zh-CN" sz="2000" b="1" dirty="0"/>
              <a:t>`include  "filename"</a:t>
            </a:r>
            <a:endParaRPr lang="zh-CN" altLang="zh-CN" sz="2000" b="1" dirty="0"/>
          </a:p>
          <a:p>
            <a:r>
              <a:rPr lang="en-US" altLang="zh-CN" dirty="0">
                <a:solidFill>
                  <a:srgbClr val="FF0000"/>
                </a:solidFill>
              </a:rPr>
              <a:t>4.`timescale</a:t>
            </a:r>
            <a:endParaRPr lang="zh-CN" altLang="zh-CN" dirty="0">
              <a:solidFill>
                <a:srgbClr val="FF0000"/>
              </a:solidFill>
            </a:endParaRPr>
          </a:p>
          <a:p>
            <a:r>
              <a:rPr lang="zh-CN" altLang="zh-CN" sz="2000" b="1" dirty="0"/>
              <a:t>定义时间单位和时间精度，两者都是由数字和单位（</a:t>
            </a:r>
            <a:r>
              <a:rPr lang="en-US" altLang="zh-CN" sz="2000" b="1" dirty="0"/>
              <a:t>s</a:t>
            </a:r>
            <a:r>
              <a:rPr lang="zh-CN" altLang="zh-CN" sz="2000" b="1" dirty="0"/>
              <a:t>、</a:t>
            </a:r>
            <a:r>
              <a:rPr lang="en-US" altLang="zh-CN" sz="2000" b="1" dirty="0" err="1"/>
              <a:t>ms</a:t>
            </a:r>
            <a:r>
              <a:rPr lang="zh-CN" altLang="zh-CN" sz="2000" b="1" dirty="0"/>
              <a:t>、</a:t>
            </a:r>
            <a:r>
              <a:rPr lang="en-US" altLang="zh-CN" sz="2000" b="1" dirty="0"/>
              <a:t>us</a:t>
            </a:r>
            <a:r>
              <a:rPr lang="zh-CN" altLang="zh-CN" sz="2000" b="1" dirty="0"/>
              <a:t>、</a:t>
            </a:r>
            <a:r>
              <a:rPr lang="en-US" altLang="zh-CN" sz="2000" b="1" dirty="0"/>
              <a:t>ns</a:t>
            </a:r>
            <a:r>
              <a:rPr lang="zh-CN" altLang="zh-CN" sz="2000" b="1" dirty="0"/>
              <a:t>、</a:t>
            </a:r>
            <a:r>
              <a:rPr lang="en-US" altLang="zh-CN" sz="2000" b="1" dirty="0" err="1"/>
              <a:t>ps</a:t>
            </a:r>
            <a:r>
              <a:rPr lang="zh-CN" altLang="zh-CN" sz="2000" b="1" dirty="0"/>
              <a:t>、</a:t>
            </a:r>
            <a:r>
              <a:rPr lang="en-US" altLang="zh-CN" sz="2000" b="1" dirty="0"/>
              <a:t>fs</a:t>
            </a:r>
            <a:r>
              <a:rPr lang="zh-CN" altLang="zh-CN" sz="2000" b="1" dirty="0"/>
              <a:t>）组成，时间精度大小小于等于时间单位大小，如：</a:t>
            </a:r>
            <a:endParaRPr lang="zh-CN" altLang="zh-CN" sz="2000" b="1" dirty="0"/>
          </a:p>
          <a:p>
            <a:r>
              <a:rPr lang="en-US" altLang="zh-CN" sz="2000" b="1" dirty="0"/>
              <a:t>`timescale 1ns/100ps     //</a:t>
            </a:r>
            <a:r>
              <a:rPr lang="zh-CN" altLang="zh-CN" sz="2000" b="1" dirty="0"/>
              <a:t>合法</a:t>
            </a:r>
            <a:endParaRPr lang="zh-CN" altLang="zh-CN" sz="2000" b="1" dirty="0"/>
          </a:p>
          <a:p>
            <a:r>
              <a:rPr lang="en-US" altLang="zh-CN" sz="2000" b="1" dirty="0"/>
              <a:t>//`timescale 100ps/1ns   //</a:t>
            </a:r>
            <a:r>
              <a:rPr lang="zh-CN" altLang="zh-CN" sz="2000" b="1" dirty="0"/>
              <a:t>不合法</a:t>
            </a:r>
            <a:endParaRPr lang="zh-CN" altLang="zh-CN" sz="2000" b="1" dirty="0"/>
          </a:p>
          <a:p>
            <a:r>
              <a:rPr lang="en-US" altLang="zh-CN" sz="2000" b="1" dirty="0"/>
              <a:t>    </a:t>
            </a:r>
            <a:r>
              <a:rPr lang="zh-CN" altLang="zh-CN" sz="2000" b="1" dirty="0"/>
              <a:t>一般来说</a:t>
            </a:r>
            <a:r>
              <a:rPr lang="en-US" altLang="zh-CN" sz="2000" b="1" dirty="0"/>
              <a:t>`timescale</a:t>
            </a:r>
            <a:r>
              <a:rPr lang="zh-CN" altLang="zh-CN" sz="2000" b="1" dirty="0"/>
              <a:t>用于文件首行，用于确定文件测试或编译时的时间单位。一旦确定，代码中与时延或精度相关的都按照定义来执行</a:t>
            </a:r>
            <a:r>
              <a:rPr lang="zh-CN" altLang="zh-CN" sz="2000" b="1" dirty="0" smtClean="0"/>
              <a:t>。</a:t>
            </a:r>
            <a:endParaRPr lang="zh-CN" altLang="zh-CN" sz="2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709613" y="1178268"/>
            <a:ext cx="8133941" cy="5275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10.2.7</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编译指令</a:t>
            </a:r>
            <a:endParaRPr kumimoji="1" lang="en-US" altLang="zh-CN" b="1" dirty="0" smtClean="0">
              <a:solidFill>
                <a:srgbClr val="CC6600"/>
              </a:solidFill>
              <a:effectLst>
                <a:outerShdw blurRad="38100" dist="38100" dir="2700000" algn="tl">
                  <a:srgbClr val="000000"/>
                </a:outerShdw>
              </a:effectLst>
            </a:endParaRPr>
          </a:p>
        </p:txBody>
      </p:sp>
      <p:sp>
        <p:nvSpPr>
          <p:cNvPr id="5" name="矩形 4"/>
          <p:cNvSpPr/>
          <p:nvPr/>
        </p:nvSpPr>
        <p:spPr>
          <a:xfrm>
            <a:off x="709613" y="1659285"/>
            <a:ext cx="8133941" cy="4524315"/>
          </a:xfrm>
          <a:prstGeom prst="rect">
            <a:avLst/>
          </a:prstGeom>
        </p:spPr>
        <p:txBody>
          <a:bodyPr wrap="square">
            <a:spAutoFit/>
          </a:bodyPr>
          <a:lstStyle/>
          <a:p>
            <a:r>
              <a:rPr lang="en-US" altLang="zh-CN" sz="2400" b="1" dirty="0">
                <a:solidFill>
                  <a:srgbClr val="FF0000"/>
                </a:solidFill>
              </a:rPr>
              <a:t>5</a:t>
            </a:r>
            <a:r>
              <a:rPr lang="en-US" altLang="zh-CN" sz="2400" b="1" dirty="0" smtClean="0">
                <a:solidFill>
                  <a:srgbClr val="FF0000"/>
                </a:solidFill>
              </a:rPr>
              <a:t>.</a:t>
            </a:r>
            <a:r>
              <a:rPr lang="zh-CN" altLang="en-US" sz="2400" b="1" dirty="0" smtClean="0">
                <a:solidFill>
                  <a:srgbClr val="FF0000"/>
                </a:solidFill>
              </a:rPr>
              <a:t> </a:t>
            </a:r>
            <a:r>
              <a:rPr lang="en-US" altLang="zh-CN" sz="2400" b="1" dirty="0" smtClean="0">
                <a:solidFill>
                  <a:srgbClr val="FF0000"/>
                </a:solidFill>
              </a:rPr>
              <a:t>`</a:t>
            </a:r>
            <a:r>
              <a:rPr lang="en-US" altLang="zh-CN" sz="2400" b="1" dirty="0" err="1">
                <a:solidFill>
                  <a:srgbClr val="FF0000"/>
                </a:solidFill>
              </a:rPr>
              <a:t>resetall</a:t>
            </a:r>
            <a:endParaRPr lang="en-US" altLang="zh-CN" sz="2400" b="1" dirty="0">
              <a:solidFill>
                <a:srgbClr val="FF0000"/>
              </a:solidFill>
            </a:endParaRPr>
          </a:p>
          <a:p>
            <a:r>
              <a:rPr lang="zh-CN" altLang="en-US" sz="2000" b="1" dirty="0"/>
              <a:t>将所有编译指令重设为缺省值。如单独使用这个命令将缺省的数据类型默认为线网（</a:t>
            </a:r>
            <a:r>
              <a:rPr lang="en-US" altLang="zh-CN" sz="2000" b="1" dirty="0"/>
              <a:t>wire</a:t>
            </a:r>
            <a:r>
              <a:rPr lang="zh-CN" altLang="en-US" sz="2000" b="1" dirty="0"/>
              <a:t>）类型</a:t>
            </a:r>
            <a:endParaRPr lang="zh-CN" altLang="en-US" sz="2000" b="1" dirty="0"/>
          </a:p>
          <a:p>
            <a:r>
              <a:rPr lang="zh-CN" altLang="en-US" sz="2000" b="1" dirty="0"/>
              <a:t>这一编译命令与最终进行仿真实现的软件有关，如使用</a:t>
            </a:r>
            <a:r>
              <a:rPr lang="en-US" altLang="zh-CN" sz="2000" b="1" dirty="0" err="1"/>
              <a:t>Modulesim</a:t>
            </a:r>
            <a:r>
              <a:rPr lang="zh-CN" altLang="en-US" sz="2000" b="1" dirty="0"/>
              <a:t>时，采用如下代码进行编译指令的重设：</a:t>
            </a:r>
            <a:endParaRPr lang="zh-CN" altLang="en-US" sz="2000" b="1" dirty="0"/>
          </a:p>
          <a:p>
            <a:r>
              <a:rPr lang="en-US" altLang="zh-CN" sz="2000" b="1" dirty="0"/>
              <a:t>initial begin</a:t>
            </a:r>
            <a:endParaRPr lang="en-US" altLang="zh-CN" sz="2000" b="1" dirty="0"/>
          </a:p>
          <a:p>
            <a:r>
              <a:rPr lang="en-US" altLang="zh-CN" sz="2000" b="1" dirty="0"/>
              <a:t>    </a:t>
            </a:r>
            <a:r>
              <a:rPr lang="en-US" altLang="zh-CN" sz="2000" b="1" dirty="0" err="1"/>
              <a:t>clk</a:t>
            </a:r>
            <a:r>
              <a:rPr lang="en-US" altLang="zh-CN" sz="2000" b="1" dirty="0"/>
              <a:t> = 0;</a:t>
            </a:r>
            <a:endParaRPr lang="en-US" altLang="zh-CN" sz="2000" b="1" dirty="0"/>
          </a:p>
          <a:p>
            <a:r>
              <a:rPr lang="en-US" altLang="zh-CN" sz="2000" b="1" dirty="0"/>
              <a:t>    </a:t>
            </a:r>
            <a:r>
              <a:rPr lang="en-US" altLang="zh-CN" sz="2000" b="1" dirty="0" err="1"/>
              <a:t>rst_n</a:t>
            </a:r>
            <a:r>
              <a:rPr lang="en-US" altLang="zh-CN" sz="2000" b="1" dirty="0"/>
              <a:t> = 0;</a:t>
            </a:r>
            <a:endParaRPr lang="en-US" altLang="zh-CN" sz="2000" b="1" dirty="0"/>
          </a:p>
          <a:p>
            <a:r>
              <a:rPr lang="en-US" altLang="zh-CN" sz="2000" b="1" dirty="0"/>
              <a:t>    #100;</a:t>
            </a:r>
            <a:endParaRPr lang="en-US" altLang="zh-CN" sz="2000" b="1" dirty="0"/>
          </a:p>
          <a:p>
            <a:r>
              <a:rPr lang="en-US" altLang="zh-CN" sz="2000" b="1" dirty="0"/>
              <a:t>    </a:t>
            </a:r>
            <a:r>
              <a:rPr lang="en-US" altLang="zh-CN" sz="2000" b="1" dirty="0" err="1"/>
              <a:t>rst_n</a:t>
            </a:r>
            <a:r>
              <a:rPr lang="en-US" altLang="zh-CN" sz="2000" b="1" dirty="0"/>
              <a:t> = 1;</a:t>
            </a:r>
            <a:endParaRPr lang="en-US" altLang="zh-CN" sz="2000" b="1" dirty="0"/>
          </a:p>
          <a:p>
            <a:r>
              <a:rPr lang="en-US" altLang="zh-CN" sz="2000" b="1" dirty="0"/>
              <a:t>end</a:t>
            </a:r>
            <a:endParaRPr lang="en-US" altLang="zh-CN" sz="2000" b="1" dirty="0"/>
          </a:p>
          <a:p>
            <a:r>
              <a:rPr lang="en-US" altLang="zh-CN" sz="2000" b="1" dirty="0"/>
              <a:t>always #50 </a:t>
            </a:r>
            <a:r>
              <a:rPr lang="en-US" altLang="zh-CN" sz="2000" b="1" dirty="0" err="1"/>
              <a:t>clk</a:t>
            </a:r>
            <a:r>
              <a:rPr lang="en-US" altLang="zh-CN" sz="2000" b="1" dirty="0"/>
              <a:t> = ~</a:t>
            </a:r>
            <a:r>
              <a:rPr lang="en-US" altLang="zh-CN" sz="2000" b="1" dirty="0" err="1"/>
              <a:t>clk</a:t>
            </a:r>
            <a:r>
              <a:rPr lang="en-US" altLang="zh-CN" sz="2000" b="1" dirty="0"/>
              <a:t>;</a:t>
            </a:r>
            <a:endParaRPr lang="en-US" altLang="zh-CN" sz="2000" b="1" dirty="0"/>
          </a:p>
          <a:p>
            <a:r>
              <a:rPr lang="zh-CN" altLang="en-US" sz="2000" b="1" dirty="0"/>
              <a:t>这样的代码中，</a:t>
            </a:r>
            <a:r>
              <a:rPr lang="en-US" altLang="zh-CN" sz="2000" b="1" dirty="0"/>
              <a:t>initial</a:t>
            </a:r>
            <a:r>
              <a:rPr lang="zh-CN" altLang="en-US" sz="2000" b="1" dirty="0"/>
              <a:t>用于设置初始条件，</a:t>
            </a:r>
            <a:r>
              <a:rPr lang="en-US" altLang="zh-CN" sz="2000" b="1" dirty="0"/>
              <a:t>100</a:t>
            </a:r>
            <a:r>
              <a:rPr lang="zh-CN" altLang="en-US" sz="2000" b="1" dirty="0"/>
              <a:t>个时间单位后，</a:t>
            </a:r>
            <a:r>
              <a:rPr lang="en-US" altLang="zh-CN" sz="2000" b="1" dirty="0" err="1"/>
              <a:t>rst_n</a:t>
            </a:r>
            <a:r>
              <a:rPr lang="zh-CN" altLang="en-US" sz="2000" b="1" dirty="0"/>
              <a:t>复位信号置为</a:t>
            </a:r>
            <a:r>
              <a:rPr lang="en-US" altLang="zh-CN" sz="2000" b="1" dirty="0"/>
              <a:t>1</a:t>
            </a:r>
            <a:r>
              <a:rPr lang="zh-CN" altLang="en-US" sz="2000" b="1" dirty="0"/>
              <a:t>。之后在</a:t>
            </a:r>
            <a:r>
              <a:rPr lang="en-US" altLang="zh-CN" sz="2000" b="1" dirty="0"/>
              <a:t>always</a:t>
            </a:r>
            <a:r>
              <a:rPr lang="zh-CN" altLang="en-US" sz="2000" b="1" dirty="0"/>
              <a:t>块中，每</a:t>
            </a:r>
            <a:r>
              <a:rPr lang="en-US" altLang="zh-CN" sz="2000" b="1" dirty="0"/>
              <a:t>50</a:t>
            </a:r>
            <a:r>
              <a:rPr lang="zh-CN" altLang="en-US" sz="2000" b="1" dirty="0"/>
              <a:t>个时间单位改变一次</a:t>
            </a:r>
            <a:r>
              <a:rPr lang="en-US" altLang="zh-CN" sz="2000" b="1" dirty="0" err="1"/>
              <a:t>clk</a:t>
            </a:r>
            <a:r>
              <a:rPr lang="zh-CN" altLang="en-US" sz="2000" b="1" dirty="0"/>
              <a:t>的值。</a:t>
            </a:r>
            <a:endParaRPr lang="zh-CN" altLang="en-US" sz="2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477475"/>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10.2</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基础语法</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3" name="Text Box 4"/>
          <p:cNvSpPr txBox="1">
            <a:spLocks noChangeArrowheads="1"/>
          </p:cNvSpPr>
          <p:nvPr/>
        </p:nvSpPr>
        <p:spPr bwMode="auto">
          <a:xfrm>
            <a:off x="709613" y="1178268"/>
            <a:ext cx="8133941" cy="5275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10.2.7</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编译指令</a:t>
            </a:r>
            <a:endParaRPr kumimoji="1" lang="en-US" altLang="zh-CN" b="1" dirty="0" smtClean="0">
              <a:solidFill>
                <a:srgbClr val="CC6600"/>
              </a:solidFill>
              <a:effectLst>
                <a:outerShdw blurRad="38100" dist="38100" dir="2700000" algn="tl">
                  <a:srgbClr val="000000"/>
                </a:outerShdw>
              </a:effectLst>
            </a:endParaRPr>
          </a:p>
        </p:txBody>
      </p:sp>
      <p:sp>
        <p:nvSpPr>
          <p:cNvPr id="5" name="矩形 4"/>
          <p:cNvSpPr/>
          <p:nvPr/>
        </p:nvSpPr>
        <p:spPr>
          <a:xfrm>
            <a:off x="709613" y="1659285"/>
            <a:ext cx="8133941" cy="3908762"/>
          </a:xfrm>
          <a:prstGeom prst="rect">
            <a:avLst/>
          </a:prstGeom>
        </p:spPr>
        <p:txBody>
          <a:bodyPr wrap="square">
            <a:spAutoFit/>
          </a:bodyPr>
          <a:lstStyle/>
          <a:p>
            <a:r>
              <a:rPr lang="en-US" altLang="zh-CN" dirty="0" smtClean="0">
                <a:solidFill>
                  <a:srgbClr val="FF0000"/>
                </a:solidFill>
              </a:rPr>
              <a:t>6.</a:t>
            </a:r>
            <a:r>
              <a:rPr lang="zh-CN" altLang="en-US" dirty="0" smtClean="0">
                <a:solidFill>
                  <a:srgbClr val="FF0000"/>
                </a:solidFill>
              </a:rPr>
              <a:t>单元</a:t>
            </a:r>
            <a:r>
              <a:rPr lang="zh-CN" altLang="en-US" dirty="0">
                <a:solidFill>
                  <a:srgbClr val="FF0000"/>
                </a:solidFill>
              </a:rPr>
              <a:t>模块定义（</a:t>
            </a:r>
            <a:r>
              <a:rPr lang="en-US" altLang="zh-CN" dirty="0">
                <a:solidFill>
                  <a:srgbClr val="FF0000"/>
                </a:solidFill>
              </a:rPr>
              <a:t>cell</a:t>
            </a:r>
            <a:r>
              <a:rPr lang="zh-CN" altLang="en-US" dirty="0">
                <a:solidFill>
                  <a:srgbClr val="FF0000"/>
                </a:solidFill>
              </a:rPr>
              <a:t>）</a:t>
            </a:r>
            <a:endParaRPr lang="zh-CN" altLang="en-US" dirty="0">
              <a:solidFill>
                <a:srgbClr val="FF0000"/>
              </a:solidFill>
            </a:endParaRPr>
          </a:p>
          <a:p>
            <a:r>
              <a:rPr lang="en-US" altLang="zh-CN" sz="2000" b="1" dirty="0"/>
              <a:t>`</a:t>
            </a:r>
            <a:r>
              <a:rPr lang="en-US" altLang="zh-CN" sz="2000" b="1" dirty="0" err="1"/>
              <a:t>celldefine</a:t>
            </a:r>
            <a:endParaRPr lang="en-US" altLang="zh-CN" sz="2000" b="1" dirty="0"/>
          </a:p>
          <a:p>
            <a:r>
              <a:rPr lang="en-US" altLang="zh-CN" sz="2000" b="1" dirty="0"/>
              <a:t>`</a:t>
            </a:r>
            <a:r>
              <a:rPr lang="en-US" altLang="zh-CN" sz="2000" b="1" dirty="0" err="1"/>
              <a:t>endcelldefine</a:t>
            </a:r>
            <a:endParaRPr lang="en-US" altLang="zh-CN" sz="2000" b="1" dirty="0"/>
          </a:p>
          <a:p>
            <a:r>
              <a:rPr lang="zh-CN" altLang="en-US" sz="2000" b="1" dirty="0"/>
              <a:t>例如：</a:t>
            </a:r>
            <a:endParaRPr lang="zh-CN" altLang="en-US" sz="2000" b="1" dirty="0"/>
          </a:p>
          <a:p>
            <a:r>
              <a:rPr lang="en-US" altLang="zh-CN" sz="2000" b="1" dirty="0"/>
              <a:t>`</a:t>
            </a:r>
            <a:r>
              <a:rPr lang="en-US" altLang="zh-CN" sz="2000" b="1" dirty="0" err="1"/>
              <a:t>celldefine</a:t>
            </a:r>
            <a:endParaRPr lang="en-US" altLang="zh-CN" sz="2000" b="1" dirty="0"/>
          </a:p>
          <a:p>
            <a:r>
              <a:rPr lang="en-US" altLang="zh-CN" sz="2000" b="1" dirty="0"/>
              <a:t>module (</a:t>
            </a:r>
            <a:endParaRPr lang="en-US" altLang="zh-CN" sz="2000" b="1" dirty="0"/>
          </a:p>
          <a:p>
            <a:r>
              <a:rPr lang="en-US" altLang="zh-CN" sz="2000" b="1" dirty="0"/>
              <a:t>   		 input    </a:t>
            </a:r>
            <a:r>
              <a:rPr lang="en-US" altLang="zh-CN" sz="2000" b="1" dirty="0" err="1"/>
              <a:t>clk</a:t>
            </a:r>
            <a:r>
              <a:rPr lang="en-US" altLang="zh-CN" sz="2000" b="1" dirty="0"/>
              <a:t>,</a:t>
            </a:r>
            <a:endParaRPr lang="en-US" altLang="zh-CN" sz="2000" b="1" dirty="0"/>
          </a:p>
          <a:p>
            <a:r>
              <a:rPr lang="en-US" altLang="zh-CN" sz="2000" b="1" dirty="0"/>
              <a:t>   		 input    </a:t>
            </a:r>
            <a:r>
              <a:rPr lang="en-US" altLang="zh-CN" sz="2000" b="1" dirty="0" err="1"/>
              <a:t>rst</a:t>
            </a:r>
            <a:r>
              <a:rPr lang="en-US" altLang="zh-CN" sz="2000" b="1" dirty="0"/>
              <a:t>,</a:t>
            </a:r>
            <a:endParaRPr lang="en-US" altLang="zh-CN" sz="2000" b="1" dirty="0"/>
          </a:p>
          <a:p>
            <a:r>
              <a:rPr lang="en-US" altLang="zh-CN" sz="2000" b="1" dirty="0"/>
              <a:t>   		 output   A,</a:t>
            </a:r>
            <a:endParaRPr lang="en-US" altLang="zh-CN" sz="2000" b="1" dirty="0"/>
          </a:p>
          <a:p>
            <a:r>
              <a:rPr lang="en-US" altLang="zh-CN" sz="2000" b="1" dirty="0"/>
              <a:t> 		 output   B );</a:t>
            </a:r>
            <a:endParaRPr lang="en-US" altLang="zh-CN" sz="2000" b="1" dirty="0"/>
          </a:p>
          <a:p>
            <a:r>
              <a:rPr lang="en-US" altLang="zh-CN" sz="2000" b="1" dirty="0" err="1"/>
              <a:t>endmodule</a:t>
            </a:r>
            <a:endParaRPr lang="en-US" altLang="zh-CN" sz="2000" b="1" dirty="0"/>
          </a:p>
          <a:p>
            <a:r>
              <a:rPr lang="en-US" altLang="zh-CN" sz="2000" b="1" dirty="0"/>
              <a:t>`</a:t>
            </a:r>
            <a:r>
              <a:rPr lang="en-US" altLang="zh-CN" sz="2000" b="1" dirty="0" err="1"/>
              <a:t>endcelldefine</a:t>
            </a:r>
            <a:endParaRPr lang="en-US" altLang="zh-CN" sz="20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383042" y="1316920"/>
            <a:ext cx="8434387" cy="172021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pPr lvl="0" indent="266700">
              <a:tabLst>
                <a:tab pos="2628900" algn="ctr"/>
              </a:tabLst>
            </a:pPr>
            <a:r>
              <a:rPr lang="zh-CN" altLang="zh-CN" sz="2400" dirty="0">
                <a:cs typeface="Times New Roman" panose="02020603050405020304" pitchFamily="18" charset="0"/>
              </a:rPr>
              <a:t>【例</a:t>
            </a:r>
            <a:r>
              <a:rPr lang="en-US" altLang="zh-CN" sz="2400" dirty="0">
                <a:cs typeface="Times New Roman" panose="02020603050405020304" pitchFamily="18" charset="0"/>
              </a:rPr>
              <a:t>1】</a:t>
            </a:r>
            <a:r>
              <a:rPr lang="zh-CN" altLang="en-US" sz="2400" dirty="0">
                <a:cs typeface="Times New Roman" panose="02020603050405020304" pitchFamily="18" charset="0"/>
              </a:rPr>
              <a:t>用</a:t>
            </a:r>
            <a:r>
              <a:rPr lang="en-US" altLang="zh-CN" sz="2400" dirty="0">
                <a:cs typeface="Times New Roman" panose="02020603050405020304" pitchFamily="18" charset="0"/>
              </a:rPr>
              <a:t>Verilog</a:t>
            </a:r>
            <a:r>
              <a:rPr lang="zh-CN" altLang="en-US" sz="2400" dirty="0">
                <a:cs typeface="Times New Roman" panose="02020603050405020304" pitchFamily="18" charset="0"/>
              </a:rPr>
              <a:t>描述图</a:t>
            </a:r>
            <a:r>
              <a:rPr lang="en-US" altLang="zh-CN" sz="2400" dirty="0">
                <a:cs typeface="Times New Roman" panose="02020603050405020304" pitchFamily="18" charset="0"/>
              </a:rPr>
              <a:t>10-11</a:t>
            </a:r>
            <a:r>
              <a:rPr lang="zh-CN" altLang="en-US" sz="2400" dirty="0">
                <a:cs typeface="Times New Roman" panose="02020603050405020304" pitchFamily="18" charset="0"/>
              </a:rPr>
              <a:t>中的门电路。</a:t>
            </a:r>
            <a:endParaRPr lang="zh-CN" altLang="en-US" sz="1800" dirty="0"/>
          </a:p>
          <a:p>
            <a:pPr lvl="0" indent="266700">
              <a:tabLst>
                <a:tab pos="2628900" algn="ctr"/>
              </a:tabLst>
            </a:pPr>
            <a:endParaRPr lang="zh-CN" altLang="en-US" sz="4800" dirty="0">
              <a:latin typeface="Arial" panose="020B0604020202020204" pitchFamily="34" charset="0"/>
            </a:endParaRPr>
          </a:p>
        </p:txBody>
      </p:sp>
      <p:grpSp>
        <p:nvGrpSpPr>
          <p:cNvPr id="5" name="组合 4"/>
          <p:cNvGrpSpPr/>
          <p:nvPr/>
        </p:nvGrpSpPr>
        <p:grpSpPr>
          <a:xfrm>
            <a:off x="2170974" y="2354307"/>
            <a:ext cx="3668123" cy="921614"/>
            <a:chOff x="6482" y="200789"/>
            <a:chExt cx="1833" cy="604"/>
          </a:xfrm>
          <a:effectLst/>
        </p:grpSpPr>
        <p:grpSp>
          <p:nvGrpSpPr>
            <p:cNvPr id="6" name="组合 5"/>
            <p:cNvGrpSpPr/>
            <p:nvPr/>
          </p:nvGrpSpPr>
          <p:grpSpPr>
            <a:xfrm>
              <a:off x="6482" y="200845"/>
              <a:ext cx="1526" cy="548"/>
              <a:chOff x="4968" y="6695"/>
              <a:chExt cx="1526" cy="548"/>
            </a:xfrm>
            <a:effectLst/>
          </p:grpSpPr>
          <p:cxnSp>
            <p:nvCxnSpPr>
              <p:cNvPr id="8" name="直接连接符 7"/>
              <p:cNvCxnSpPr/>
              <p:nvPr/>
            </p:nvCxnSpPr>
            <p:spPr>
              <a:xfrm>
                <a:off x="5354" y="6883"/>
                <a:ext cx="293" cy="10"/>
              </a:xfrm>
              <a:prstGeom prst="line">
                <a:avLst/>
              </a:prstGeom>
              <a:ln w="9525" cap="flat" cmpd="sng">
                <a:solidFill>
                  <a:srgbClr val="000000"/>
                </a:solidFill>
                <a:prstDash val="solid"/>
                <a:headEnd type="none" w="med" len="med"/>
                <a:tailEnd type="none" w="med" len="med"/>
              </a:ln>
              <a:effectLst/>
            </p:spPr>
          </p:cxnSp>
          <p:cxnSp>
            <p:nvCxnSpPr>
              <p:cNvPr id="9" name="直接连接符 8"/>
              <p:cNvCxnSpPr/>
              <p:nvPr/>
            </p:nvCxnSpPr>
            <p:spPr>
              <a:xfrm>
                <a:off x="5352" y="7069"/>
                <a:ext cx="180" cy="0"/>
              </a:xfrm>
              <a:prstGeom prst="line">
                <a:avLst/>
              </a:prstGeom>
              <a:ln w="9525" cap="flat" cmpd="sng">
                <a:solidFill>
                  <a:srgbClr val="000000"/>
                </a:solidFill>
                <a:prstDash val="solid"/>
                <a:headEnd type="none" w="med" len="med"/>
                <a:tailEnd type="none" w="med" len="med"/>
              </a:ln>
              <a:effectLst/>
            </p:spPr>
          </p:cxnSp>
          <p:grpSp>
            <p:nvGrpSpPr>
              <p:cNvPr id="10" name="组合 9"/>
              <p:cNvGrpSpPr/>
              <p:nvPr/>
            </p:nvGrpSpPr>
            <p:grpSpPr>
              <a:xfrm>
                <a:off x="4968" y="6695"/>
                <a:ext cx="1526" cy="548"/>
                <a:chOff x="4968" y="6695"/>
                <a:chExt cx="1526" cy="548"/>
              </a:xfrm>
              <a:effectLst/>
            </p:grpSpPr>
            <p:sp>
              <p:nvSpPr>
                <p:cNvPr id="11" name="矩形 10"/>
                <p:cNvSpPr/>
                <p:nvPr/>
              </p:nvSpPr>
              <p:spPr>
                <a:xfrm>
                  <a:off x="5629" y="6775"/>
                  <a:ext cx="360" cy="468"/>
                </a:xfrm>
                <a:prstGeom prst="rect">
                  <a:avLst/>
                </a:prstGeom>
                <a:solidFill>
                  <a:srgbClr val="FFFFFF"/>
                </a:solidFill>
                <a:ln w="9525" cap="flat" cmpd="sng">
                  <a:solidFill>
                    <a:srgbClr val="000000"/>
                  </a:solidFill>
                  <a:prstDash val="solid"/>
                  <a:miter/>
                  <a:headEnd type="none" w="med" len="med"/>
                  <a:tailEnd type="none" w="med" len="med"/>
                </a:ln>
                <a:effectLst/>
              </p:spPr>
              <p:txBody>
                <a:bodyPr lIns="0" tIns="0" rIns="0" bIns="0" upright="1"/>
                <a:lstStyle/>
                <a:p>
                  <a:pPr algn="ctr">
                    <a:spcAft>
                      <a:spcPts val="0"/>
                    </a:spcAft>
                  </a:pPr>
                  <a:r>
                    <a:rPr lang="en-US" sz="900" kern="100">
                      <a:effectLst/>
                      <a:latin typeface="Times New Roman" panose="02020603050405020304" pitchFamily="18" charset="0"/>
                      <a:ea typeface="宋体" panose="02010600030101010101" pitchFamily="2" charset="-122"/>
                    </a:rPr>
                    <a:t>&amp;</a:t>
                  </a:r>
                  <a:endParaRPr lang="zh-CN" sz="1050" kern="100">
                    <a:effectLst/>
                    <a:latin typeface="Times New Roman" panose="02020603050405020304" pitchFamily="18" charset="0"/>
                    <a:ea typeface="宋体" panose="02010600030101010101" pitchFamily="2" charset="-122"/>
                  </a:endParaRPr>
                </a:p>
              </p:txBody>
            </p:sp>
            <p:sp>
              <p:nvSpPr>
                <p:cNvPr id="12" name="椭圆 11"/>
                <p:cNvSpPr/>
                <p:nvPr/>
              </p:nvSpPr>
              <p:spPr>
                <a:xfrm>
                  <a:off x="5554" y="7020"/>
                  <a:ext cx="85" cy="85"/>
                </a:xfrm>
                <a:prstGeom prst="ellipse">
                  <a:avLst/>
                </a:prstGeom>
                <a:solidFill>
                  <a:srgbClr val="FFFFFF"/>
                </a:solidFill>
                <a:ln w="9525" cap="flat" cmpd="sng">
                  <a:solidFill>
                    <a:srgbClr val="000000"/>
                  </a:solidFill>
                  <a:prstDash val="solid"/>
                  <a:headEnd type="none" w="med" len="med"/>
                  <a:tailEnd type="none" w="med" len="med"/>
                </a:ln>
                <a:effectLst/>
              </p:spPr>
              <p:txBody>
                <a:bodyPr upright="1"/>
                <a:lstStyle/>
                <a:p>
                  <a:endParaRPr lang="zh-CN" altLang="en-US"/>
                </a:p>
              </p:txBody>
            </p:sp>
            <p:cxnSp>
              <p:nvCxnSpPr>
                <p:cNvPr id="13" name="直接连接符 12"/>
                <p:cNvCxnSpPr/>
                <p:nvPr/>
              </p:nvCxnSpPr>
              <p:spPr>
                <a:xfrm flipV="1">
                  <a:off x="5994" y="7004"/>
                  <a:ext cx="501" cy="6"/>
                </a:xfrm>
                <a:prstGeom prst="line">
                  <a:avLst/>
                </a:prstGeom>
                <a:ln w="9525" cap="flat" cmpd="sng">
                  <a:solidFill>
                    <a:srgbClr val="000000"/>
                  </a:solidFill>
                  <a:prstDash val="solid"/>
                  <a:headEnd type="none" w="med" len="med"/>
                  <a:tailEnd type="none" w="med" len="med"/>
                </a:ln>
                <a:effectLst/>
              </p:spPr>
            </p:cxnSp>
            <p:sp>
              <p:nvSpPr>
                <p:cNvPr id="14" name="矩形 13"/>
                <p:cNvSpPr/>
                <p:nvPr/>
              </p:nvSpPr>
              <p:spPr>
                <a:xfrm>
                  <a:off x="4968" y="6695"/>
                  <a:ext cx="417" cy="509"/>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lnSpc>
                      <a:spcPts val="1200"/>
                    </a:lnSpc>
                    <a:spcAft>
                      <a:spcPts val="0"/>
                    </a:spcAft>
                  </a:pPr>
                  <a:r>
                    <a:rPr lang="en-US" sz="900" i="1" kern="100">
                      <a:effectLst/>
                      <a:latin typeface="Times New Roman" panose="02020603050405020304" pitchFamily="18" charset="0"/>
                      <a:ea typeface="宋体" panose="02010600030101010101" pitchFamily="2" charset="-122"/>
                    </a:rPr>
                    <a:t>in1</a:t>
                  </a:r>
                  <a:endParaRPr lang="zh-CN" sz="1050" kern="100">
                    <a:effectLst/>
                    <a:latin typeface="Times New Roman" panose="02020603050405020304" pitchFamily="18" charset="0"/>
                    <a:ea typeface="宋体" panose="02010600030101010101" pitchFamily="2" charset="-122"/>
                  </a:endParaRPr>
                </a:p>
                <a:p>
                  <a:pPr algn="just">
                    <a:lnSpc>
                      <a:spcPts val="1200"/>
                    </a:lnSpc>
                    <a:spcAft>
                      <a:spcPts val="0"/>
                    </a:spcAft>
                  </a:pPr>
                  <a:r>
                    <a:rPr lang="en-US" sz="900" i="1" kern="100">
                      <a:effectLst/>
                      <a:latin typeface="Times New Roman" panose="02020603050405020304" pitchFamily="18" charset="0"/>
                      <a:ea typeface="宋体" panose="02010600030101010101" pitchFamily="2" charset="-122"/>
                    </a:rPr>
                    <a:t>in2</a:t>
                  </a:r>
                  <a:endParaRPr lang="zh-CN" sz="1050" kern="100">
                    <a:effectLst/>
                    <a:latin typeface="Times New Roman" panose="02020603050405020304" pitchFamily="18" charset="0"/>
                    <a:ea typeface="宋体" panose="02010600030101010101" pitchFamily="2" charset="-122"/>
                  </a:endParaRPr>
                </a:p>
              </p:txBody>
            </p:sp>
          </p:grpSp>
        </p:grpSp>
        <p:sp>
          <p:nvSpPr>
            <p:cNvPr id="7" name="矩形 6"/>
            <p:cNvSpPr/>
            <p:nvPr/>
          </p:nvSpPr>
          <p:spPr>
            <a:xfrm>
              <a:off x="7843" y="200789"/>
              <a:ext cx="473"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out</a:t>
              </a:r>
              <a:endParaRPr lang="zh-CN" sz="1050" kern="100">
                <a:effectLst/>
                <a:latin typeface="Times New Roman" panose="02020603050405020304" pitchFamily="18" charset="0"/>
                <a:ea typeface="宋体" panose="02010600030101010101" pitchFamily="2" charset="-122"/>
              </a:endParaRPr>
            </a:p>
          </p:txBody>
        </p:sp>
      </p:grpSp>
      <p:sp>
        <p:nvSpPr>
          <p:cNvPr id="4" name="矩形 3"/>
          <p:cNvSpPr/>
          <p:nvPr/>
        </p:nvSpPr>
        <p:spPr>
          <a:xfrm>
            <a:off x="699267" y="3318570"/>
            <a:ext cx="7399704" cy="3293209"/>
          </a:xfrm>
          <a:prstGeom prst="rect">
            <a:avLst/>
          </a:prstGeom>
        </p:spPr>
        <p:txBody>
          <a:bodyPr wrap="square">
            <a:spAutoFit/>
          </a:bodyPr>
          <a:lstStyle/>
          <a:p>
            <a:pPr indent="266700">
              <a:spcAft>
                <a:spcPts val="0"/>
              </a:spcAft>
              <a:tabLst>
                <a:tab pos="2628900" algn="ctr"/>
              </a:tabLst>
            </a:pPr>
            <a:r>
              <a:rPr lang="zh-CN" altLang="zh-CN" sz="1600" kern="100" dirty="0"/>
              <a:t>解：分析</a:t>
            </a:r>
            <a:r>
              <a:rPr lang="zh-CN" altLang="zh-CN" sz="1600" kern="100" dirty="0" smtClean="0"/>
              <a:t>图所</a:t>
            </a:r>
            <a:r>
              <a:rPr lang="zh-CN" altLang="zh-CN" sz="1600" kern="100" dirty="0"/>
              <a:t>示的电路。电路在</a:t>
            </a:r>
            <a:r>
              <a:rPr lang="en-US" altLang="zh-CN" sz="1600" i="1" kern="100" dirty="0"/>
              <a:t>in2</a:t>
            </a:r>
            <a:r>
              <a:rPr lang="zh-CN" altLang="zh-CN" sz="1600" kern="100" dirty="0"/>
              <a:t>输入处表示这里有一个非运算，所以电路代码的书写可以用连续赋值完成，也可以通过中间变量，用“</a:t>
            </a:r>
            <a:r>
              <a:rPr lang="en-US" altLang="zh-CN" sz="1600" kern="100" dirty="0"/>
              <a:t>and</a:t>
            </a:r>
            <a:r>
              <a:rPr lang="zh-CN" altLang="zh-CN" sz="1600" kern="100" dirty="0"/>
              <a:t>”“</a:t>
            </a:r>
            <a:r>
              <a:rPr lang="en-US" altLang="zh-CN" sz="1600" kern="100" dirty="0"/>
              <a:t>or</a:t>
            </a:r>
            <a:r>
              <a:rPr lang="zh-CN" altLang="zh-CN" sz="1600" kern="100" dirty="0"/>
              <a:t>”和“</a:t>
            </a:r>
            <a:r>
              <a:rPr lang="en-US" altLang="zh-CN" sz="1600" kern="100" dirty="0"/>
              <a:t>not</a:t>
            </a:r>
            <a:r>
              <a:rPr lang="zh-CN" altLang="zh-CN" sz="1600" kern="100" dirty="0"/>
              <a:t>”的基本门级描述来实现。代码参考如下：</a:t>
            </a:r>
            <a:endParaRPr lang="zh-CN" altLang="zh-CN" sz="1600" kern="100" dirty="0"/>
          </a:p>
          <a:p>
            <a:pPr indent="266700">
              <a:spcAft>
                <a:spcPts val="0"/>
              </a:spcAft>
              <a:tabLst>
                <a:tab pos="2628900" algn="ctr"/>
              </a:tabLst>
            </a:pPr>
            <a:r>
              <a:rPr lang="en-US" altLang="zh-CN" sz="1600" i="1" kern="100" dirty="0">
                <a:ea typeface="楷体" panose="02010609060101010101" pitchFamily="49" charset="-122"/>
              </a:rPr>
              <a:t>module </a:t>
            </a:r>
            <a:r>
              <a:rPr lang="en-US" altLang="zh-CN" sz="1600" i="1" kern="100" dirty="0" err="1">
                <a:ea typeface="楷体" panose="02010609060101010101" pitchFamily="49" charset="-122"/>
              </a:rPr>
              <a:t>top_module</a:t>
            </a:r>
            <a:r>
              <a:rPr lang="en-US" altLang="zh-CN" sz="1600" i="1" kern="100" dirty="0">
                <a:ea typeface="楷体" panose="02010609060101010101" pitchFamily="49" charset="-122"/>
              </a:rPr>
              <a:t> </a:t>
            </a:r>
            <a:r>
              <a:rPr lang="en-US" altLang="zh-CN" sz="1600" i="1" kern="100" dirty="0">
                <a:solidFill>
                  <a:srgbClr val="000000"/>
                </a:solidFill>
                <a:ea typeface="楷体" panose="02010609060101010101" pitchFamily="49" charset="-122"/>
              </a:rPr>
              <a:t>(</a:t>
            </a:r>
            <a:endParaRPr lang="zh-CN" altLang="zh-CN" sz="1600" kern="100" dirty="0"/>
          </a:p>
          <a:p>
            <a:pPr indent="266700">
              <a:spcAft>
                <a:spcPts val="0"/>
              </a:spcAft>
              <a:tabLst>
                <a:tab pos="2628900" algn="ctr"/>
              </a:tabLst>
            </a:pPr>
            <a:r>
              <a:rPr lang="en-US" altLang="zh-CN" sz="1600" i="1" kern="100" dirty="0">
                <a:ea typeface="楷体" panose="02010609060101010101" pitchFamily="49" charset="-122"/>
              </a:rPr>
              <a:t>input in1,</a:t>
            </a:r>
            <a:endParaRPr lang="zh-CN" altLang="zh-CN" sz="1600" kern="100" dirty="0"/>
          </a:p>
          <a:p>
            <a:pPr indent="266700">
              <a:spcAft>
                <a:spcPts val="0"/>
              </a:spcAft>
              <a:tabLst>
                <a:tab pos="2628900" algn="ctr"/>
              </a:tabLst>
            </a:pPr>
            <a:r>
              <a:rPr lang="en-US" altLang="zh-CN" sz="1600" i="1" kern="100" dirty="0">
                <a:ea typeface="楷体" panose="02010609060101010101" pitchFamily="49" charset="-122"/>
              </a:rPr>
              <a:t>input in2,</a:t>
            </a:r>
            <a:endParaRPr lang="zh-CN" altLang="zh-CN" sz="1600" kern="100" dirty="0"/>
          </a:p>
          <a:p>
            <a:pPr indent="266700">
              <a:spcAft>
                <a:spcPts val="0"/>
              </a:spcAft>
              <a:tabLst>
                <a:tab pos="2628900" algn="ctr"/>
              </a:tabLst>
            </a:pPr>
            <a:r>
              <a:rPr lang="en-US" altLang="zh-CN" sz="1600" i="1" kern="100" dirty="0">
                <a:ea typeface="楷体" panose="02010609060101010101" pitchFamily="49" charset="-122"/>
              </a:rPr>
              <a:t>output out</a:t>
            </a:r>
            <a:r>
              <a:rPr lang="en-US" altLang="zh-CN" sz="1600" i="1" kern="100" dirty="0">
                <a:solidFill>
                  <a:srgbClr val="000000"/>
                </a:solidFill>
                <a:ea typeface="楷体" panose="02010609060101010101" pitchFamily="49" charset="-122"/>
              </a:rPr>
              <a:t>)</a:t>
            </a:r>
            <a:r>
              <a:rPr lang="en-US" altLang="zh-CN" sz="1600" i="1" kern="100" dirty="0">
                <a:ea typeface="楷体" panose="02010609060101010101" pitchFamily="49" charset="-122"/>
              </a:rPr>
              <a:t>; </a:t>
            </a:r>
            <a:endParaRPr lang="zh-CN" altLang="zh-CN" sz="1600" kern="100" dirty="0"/>
          </a:p>
          <a:p>
            <a:pPr indent="266700">
              <a:spcAft>
                <a:spcPts val="0"/>
              </a:spcAft>
              <a:tabLst>
                <a:tab pos="2628900" algn="ctr"/>
              </a:tabLst>
            </a:pPr>
            <a:r>
              <a:rPr lang="en-US" altLang="zh-CN" sz="1600" i="1" kern="100" dirty="0">
                <a:ea typeface="楷体" panose="02010609060101010101" pitchFamily="49" charset="-122"/>
              </a:rPr>
              <a:t> </a:t>
            </a:r>
            <a:endParaRPr lang="zh-CN" altLang="zh-CN" sz="1600" kern="100" dirty="0"/>
          </a:p>
          <a:p>
            <a:pPr indent="266700">
              <a:spcAft>
                <a:spcPts val="0"/>
              </a:spcAft>
              <a:tabLst>
                <a:tab pos="2628900" algn="ctr"/>
              </a:tabLst>
            </a:pPr>
            <a:r>
              <a:rPr lang="en-US" altLang="zh-CN" sz="1600" i="1" kern="100" dirty="0">
                <a:ea typeface="楷体" panose="02010609060101010101" pitchFamily="49" charset="-122"/>
              </a:rPr>
              <a:t>assign out = in1&amp;~in2;</a:t>
            </a:r>
            <a:endParaRPr lang="zh-CN" altLang="zh-CN" sz="1600" kern="100" dirty="0"/>
          </a:p>
          <a:p>
            <a:pPr indent="266700">
              <a:spcAft>
                <a:spcPts val="0"/>
              </a:spcAft>
              <a:tabLst>
                <a:tab pos="2628900" algn="ctr"/>
              </a:tabLst>
            </a:pPr>
            <a:r>
              <a:rPr lang="en-US" altLang="zh-CN" sz="1600" i="1" kern="100" dirty="0">
                <a:ea typeface="楷体" panose="02010609060101010101" pitchFamily="49" charset="-122"/>
              </a:rPr>
              <a:t> </a:t>
            </a:r>
            <a:endParaRPr lang="zh-CN" altLang="zh-CN" sz="1600" kern="100" dirty="0"/>
          </a:p>
          <a:p>
            <a:pPr indent="266700">
              <a:spcAft>
                <a:spcPts val="0"/>
              </a:spcAft>
              <a:tabLst>
                <a:tab pos="2628900" algn="ctr"/>
              </a:tabLst>
            </a:pPr>
            <a:r>
              <a:rPr lang="en-US" altLang="zh-CN" sz="1600" i="1" kern="100" dirty="0" err="1">
                <a:ea typeface="楷体" panose="02010609060101010101" pitchFamily="49" charset="-122"/>
              </a:rPr>
              <a:t>endmodule</a:t>
            </a:r>
            <a:endParaRPr lang="zh-CN" altLang="zh-CN" sz="1600" kern="100" dirty="0"/>
          </a:p>
          <a:p>
            <a:pPr indent="266700">
              <a:spcAft>
                <a:spcPts val="0"/>
              </a:spcAft>
              <a:tabLst>
                <a:tab pos="2628900" algn="ctr"/>
              </a:tabLst>
            </a:pPr>
            <a:r>
              <a:rPr lang="zh-CN" altLang="zh-CN" sz="1600" kern="100" dirty="0"/>
              <a:t>代码的实现与前文实现部分略有区别，这是</a:t>
            </a:r>
            <a:r>
              <a:rPr lang="en-US" altLang="zh-CN" sz="1600" kern="100" dirty="0"/>
              <a:t>Verilog</a:t>
            </a:r>
            <a:r>
              <a:rPr lang="zh-CN" altLang="zh-CN" sz="1600" kern="100" dirty="0"/>
              <a:t>所允许的。在变量声明时，直接对输入和输出加以区分。</a:t>
            </a:r>
            <a:endParaRPr lang="zh-CN" altLang="zh-CN" sz="1600"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340923" y="1308184"/>
            <a:ext cx="8434387" cy="178181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pPr lvl="0" indent="266700">
              <a:tabLst>
                <a:tab pos="2628900" algn="ctr"/>
              </a:tabLst>
            </a:pPr>
            <a:r>
              <a:rPr lang="zh-CN" altLang="zh-CN" sz="2400" dirty="0">
                <a:cs typeface="Times New Roman" panose="02020603050405020304" pitchFamily="18" charset="0"/>
              </a:rPr>
              <a:t>【例</a:t>
            </a:r>
            <a:r>
              <a:rPr lang="en-US" altLang="zh-CN" sz="2400" dirty="0" smtClean="0">
                <a:cs typeface="Times New Roman" panose="02020603050405020304" pitchFamily="18" charset="0"/>
              </a:rPr>
              <a:t>2】</a:t>
            </a:r>
            <a:r>
              <a:rPr lang="zh-CN" altLang="zh-CN" dirty="0"/>
              <a:t>用</a:t>
            </a:r>
            <a:r>
              <a:rPr lang="en-US" altLang="zh-CN" dirty="0"/>
              <a:t>Verilog</a:t>
            </a:r>
            <a:r>
              <a:rPr lang="zh-CN" altLang="zh-CN" dirty="0"/>
              <a:t>描述图中的多级门结构</a:t>
            </a:r>
            <a:r>
              <a:rPr lang="zh-CN" altLang="en-US" sz="2400" dirty="0" smtClean="0">
                <a:cs typeface="Times New Roman" panose="02020603050405020304" pitchFamily="18" charset="0"/>
              </a:rPr>
              <a:t>。</a:t>
            </a:r>
            <a:endParaRPr lang="zh-CN" altLang="en-US" sz="1800" dirty="0"/>
          </a:p>
          <a:p>
            <a:pPr lvl="0" indent="266700">
              <a:tabLst>
                <a:tab pos="2628900" algn="ctr"/>
              </a:tabLst>
            </a:pPr>
            <a:endParaRPr lang="zh-CN" altLang="en-US" sz="4800" dirty="0">
              <a:latin typeface="Arial" panose="020B0604020202020204" pitchFamily="34" charset="0"/>
            </a:endParaRPr>
          </a:p>
        </p:txBody>
      </p:sp>
      <p:sp>
        <p:nvSpPr>
          <p:cNvPr id="4" name="矩形 3"/>
          <p:cNvSpPr/>
          <p:nvPr/>
        </p:nvSpPr>
        <p:spPr>
          <a:xfrm>
            <a:off x="858265" y="3673720"/>
            <a:ext cx="7399704" cy="3046988"/>
          </a:xfrm>
          <a:prstGeom prst="rect">
            <a:avLst/>
          </a:prstGeom>
        </p:spPr>
        <p:txBody>
          <a:bodyPr wrap="square">
            <a:spAutoFit/>
          </a:bodyPr>
          <a:lstStyle/>
          <a:p>
            <a:pPr indent="266700">
              <a:spcAft>
                <a:spcPts val="0"/>
              </a:spcAft>
              <a:tabLst>
                <a:tab pos="2628900" algn="ctr"/>
              </a:tabLst>
            </a:pPr>
            <a:r>
              <a:rPr lang="zh-CN" altLang="en-US" sz="1600" kern="100" dirty="0"/>
              <a:t>解：如</a:t>
            </a:r>
            <a:r>
              <a:rPr lang="zh-CN" altLang="en-US" sz="1600" kern="100" dirty="0" smtClean="0"/>
              <a:t>图所</a:t>
            </a:r>
            <a:r>
              <a:rPr lang="zh-CN" altLang="en-US" sz="1600" kern="100" dirty="0"/>
              <a:t>示电路是一个多级门电路，输入端表示</a:t>
            </a:r>
            <a:r>
              <a:rPr lang="en-US" altLang="zh-CN" sz="1600" kern="100" dirty="0"/>
              <a:t>in1</a:t>
            </a:r>
            <a:r>
              <a:rPr lang="zh-CN" altLang="en-US" sz="1600" kern="100" dirty="0"/>
              <a:t>与</a:t>
            </a:r>
            <a:r>
              <a:rPr lang="en-US" altLang="zh-CN" sz="1600" kern="100" dirty="0"/>
              <a:t>in2</a:t>
            </a:r>
            <a:r>
              <a:rPr lang="zh-CN" altLang="en-US" sz="1600" kern="100" dirty="0"/>
              <a:t>端为原变量输入，做异或之后再做一次“非”运算，再与</a:t>
            </a:r>
            <a:r>
              <a:rPr lang="en-US" altLang="zh-CN" sz="1600" kern="100" dirty="0"/>
              <a:t>in3</a:t>
            </a:r>
            <a:r>
              <a:rPr lang="zh-CN" altLang="en-US" sz="1600" kern="100" dirty="0"/>
              <a:t>做一次异或输出。因此可采用直接书写输出表达式的方式写出该电路的表达式。定义可写为：</a:t>
            </a:r>
            <a:endParaRPr lang="zh-CN" altLang="en-US" sz="1600" kern="100" dirty="0"/>
          </a:p>
          <a:p>
            <a:pPr indent="266700">
              <a:spcAft>
                <a:spcPts val="0"/>
              </a:spcAft>
              <a:tabLst>
                <a:tab pos="2628900" algn="ctr"/>
              </a:tabLst>
            </a:pPr>
            <a:r>
              <a:rPr lang="en-US" altLang="zh-CN" sz="1600" kern="100" dirty="0"/>
              <a:t>module </a:t>
            </a:r>
            <a:r>
              <a:rPr lang="en-US" altLang="zh-CN" sz="1600" kern="100" dirty="0" err="1"/>
              <a:t>top_module</a:t>
            </a:r>
            <a:r>
              <a:rPr lang="en-US" altLang="zh-CN" sz="1600" kern="100" dirty="0"/>
              <a:t> (</a:t>
            </a:r>
            <a:endParaRPr lang="en-US" altLang="zh-CN" sz="1600" kern="100" dirty="0"/>
          </a:p>
          <a:p>
            <a:pPr indent="266700">
              <a:spcAft>
                <a:spcPts val="0"/>
              </a:spcAft>
              <a:tabLst>
                <a:tab pos="2628900" algn="ctr"/>
              </a:tabLst>
            </a:pPr>
            <a:r>
              <a:rPr lang="en-US" altLang="zh-CN" sz="1600" kern="100" dirty="0"/>
              <a:t>    input in1,</a:t>
            </a:r>
            <a:endParaRPr lang="en-US" altLang="zh-CN" sz="1600" kern="100" dirty="0"/>
          </a:p>
          <a:p>
            <a:pPr indent="266700">
              <a:spcAft>
                <a:spcPts val="0"/>
              </a:spcAft>
              <a:tabLst>
                <a:tab pos="2628900" algn="ctr"/>
              </a:tabLst>
            </a:pPr>
            <a:r>
              <a:rPr lang="en-US" altLang="zh-CN" sz="1600" kern="100" dirty="0"/>
              <a:t>    input in2,</a:t>
            </a:r>
            <a:endParaRPr lang="en-US" altLang="zh-CN" sz="1600" kern="100" dirty="0"/>
          </a:p>
          <a:p>
            <a:pPr indent="266700">
              <a:spcAft>
                <a:spcPts val="0"/>
              </a:spcAft>
              <a:tabLst>
                <a:tab pos="2628900" algn="ctr"/>
              </a:tabLst>
            </a:pPr>
            <a:r>
              <a:rPr lang="en-US" altLang="zh-CN" sz="1600" kern="100" dirty="0"/>
              <a:t>    input in3,</a:t>
            </a:r>
            <a:endParaRPr lang="en-US" altLang="zh-CN" sz="1600" kern="100" dirty="0"/>
          </a:p>
          <a:p>
            <a:pPr indent="266700">
              <a:spcAft>
                <a:spcPts val="0"/>
              </a:spcAft>
              <a:tabLst>
                <a:tab pos="2628900" algn="ctr"/>
              </a:tabLst>
            </a:pPr>
            <a:r>
              <a:rPr lang="en-US" altLang="zh-CN" sz="1600" kern="100" dirty="0"/>
              <a:t>    output out);</a:t>
            </a:r>
            <a:endParaRPr lang="en-US" altLang="zh-CN" sz="1600" kern="100" dirty="0"/>
          </a:p>
          <a:p>
            <a:pPr indent="266700">
              <a:spcAft>
                <a:spcPts val="0"/>
              </a:spcAft>
              <a:tabLst>
                <a:tab pos="2628900" algn="ctr"/>
              </a:tabLst>
            </a:pPr>
            <a:r>
              <a:rPr lang="en-US" altLang="zh-CN" sz="1600" kern="100" dirty="0"/>
              <a:t> wire out1;</a:t>
            </a:r>
            <a:endParaRPr lang="en-US" altLang="zh-CN" sz="1600" kern="100" dirty="0"/>
          </a:p>
          <a:p>
            <a:pPr indent="266700">
              <a:spcAft>
                <a:spcPts val="0"/>
              </a:spcAft>
              <a:tabLst>
                <a:tab pos="2628900" algn="ctr"/>
              </a:tabLst>
            </a:pPr>
            <a:r>
              <a:rPr lang="en-US" altLang="zh-CN" sz="1600" kern="100" dirty="0"/>
              <a:t>    assign out1 = ~(in1^in2);</a:t>
            </a:r>
            <a:endParaRPr lang="en-US" altLang="zh-CN" sz="1600" kern="100" dirty="0"/>
          </a:p>
          <a:p>
            <a:pPr indent="266700">
              <a:spcAft>
                <a:spcPts val="0"/>
              </a:spcAft>
              <a:tabLst>
                <a:tab pos="2628900" algn="ctr"/>
              </a:tabLst>
            </a:pPr>
            <a:r>
              <a:rPr lang="en-US" altLang="zh-CN" sz="1600" kern="100" dirty="0"/>
              <a:t>    assign out = in3^ out1;</a:t>
            </a:r>
            <a:endParaRPr lang="en-US" altLang="zh-CN" sz="1600" kern="100" dirty="0"/>
          </a:p>
          <a:p>
            <a:pPr indent="266700">
              <a:spcAft>
                <a:spcPts val="0"/>
              </a:spcAft>
              <a:tabLst>
                <a:tab pos="2628900" algn="ctr"/>
              </a:tabLst>
            </a:pPr>
            <a:r>
              <a:rPr lang="en-US" altLang="zh-CN" sz="1600" kern="100" dirty="0" err="1"/>
              <a:t>endmodule</a:t>
            </a:r>
            <a:endParaRPr lang="en-US" altLang="zh-CN" sz="1600" kern="100" dirty="0"/>
          </a:p>
        </p:txBody>
      </p:sp>
      <p:grpSp>
        <p:nvGrpSpPr>
          <p:cNvPr id="15" name="组合 14"/>
          <p:cNvGrpSpPr/>
          <p:nvPr/>
        </p:nvGrpSpPr>
        <p:grpSpPr>
          <a:xfrm>
            <a:off x="2521388" y="2446168"/>
            <a:ext cx="2899697" cy="1028552"/>
            <a:chOff x="5830" y="11478"/>
            <a:chExt cx="2799" cy="889"/>
          </a:xfrm>
          <a:effectLst/>
        </p:grpSpPr>
        <p:sp>
          <p:nvSpPr>
            <p:cNvPr id="16" name="矩形 15"/>
            <p:cNvSpPr/>
            <p:nvPr/>
          </p:nvSpPr>
          <p:spPr>
            <a:xfrm>
              <a:off x="6642" y="11608"/>
              <a:ext cx="295" cy="510"/>
            </a:xfrm>
            <a:prstGeom prst="rect">
              <a:avLst/>
            </a:prstGeom>
            <a:solidFill>
              <a:srgbClr val="FFFFFF"/>
            </a:solidFill>
            <a:ln w="9525" cap="flat" cmpd="sng">
              <a:solidFill>
                <a:srgbClr val="000000"/>
              </a:solidFill>
              <a:prstDash val="solid"/>
              <a:miter/>
              <a:headEnd type="none" w="med" len="med"/>
              <a:tailEnd type="none" w="med" len="med"/>
            </a:ln>
            <a:effectLst/>
          </p:spPr>
          <p:txBody>
            <a:bodyPr lIns="0" tIns="0" rIns="0" bIns="0" upright="1"/>
            <a:lstStyle/>
            <a:p>
              <a:pPr algn="ctr">
                <a:spcAft>
                  <a:spcPts val="0"/>
                </a:spcAft>
              </a:pPr>
              <a:r>
                <a:rPr lang="en-US" sz="900" kern="1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p:txBody>
        </p:sp>
        <p:grpSp>
          <p:nvGrpSpPr>
            <p:cNvPr id="17" name="组合 16"/>
            <p:cNvGrpSpPr/>
            <p:nvPr/>
          </p:nvGrpSpPr>
          <p:grpSpPr>
            <a:xfrm>
              <a:off x="5830" y="11478"/>
              <a:ext cx="2799" cy="889"/>
              <a:chOff x="5830" y="11478"/>
              <a:chExt cx="2799" cy="889"/>
            </a:xfrm>
            <a:effectLst/>
          </p:grpSpPr>
          <p:sp>
            <p:nvSpPr>
              <p:cNvPr id="18" name="矩形 17"/>
              <p:cNvSpPr/>
              <p:nvPr/>
            </p:nvSpPr>
            <p:spPr>
              <a:xfrm>
                <a:off x="8269" y="11832"/>
                <a:ext cx="360"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out</a:t>
                </a:r>
                <a:endParaRPr lang="zh-CN" sz="1050" kern="100">
                  <a:effectLst/>
                  <a:latin typeface="Times New Roman" panose="02020603050405020304" pitchFamily="18" charset="0"/>
                  <a:ea typeface="宋体" panose="02010600030101010101" pitchFamily="2" charset="-122"/>
                </a:endParaRPr>
              </a:p>
            </p:txBody>
          </p:sp>
          <p:grpSp>
            <p:nvGrpSpPr>
              <p:cNvPr id="19" name="组合 18"/>
              <p:cNvGrpSpPr/>
              <p:nvPr/>
            </p:nvGrpSpPr>
            <p:grpSpPr>
              <a:xfrm>
                <a:off x="5830" y="11478"/>
                <a:ext cx="2317" cy="889"/>
                <a:chOff x="5830" y="11478"/>
                <a:chExt cx="2317" cy="889"/>
              </a:xfrm>
              <a:effectLst/>
            </p:grpSpPr>
            <p:sp>
              <p:nvSpPr>
                <p:cNvPr id="20" name="矩形 19"/>
                <p:cNvSpPr/>
                <p:nvPr/>
              </p:nvSpPr>
              <p:spPr>
                <a:xfrm>
                  <a:off x="5830" y="12055"/>
                  <a:ext cx="360" cy="312"/>
                </a:xfrm>
                <a:prstGeom prst="rect">
                  <a:avLst/>
                </a:prstGeom>
                <a:solidFill>
                  <a:srgbClr val="FFFFFF"/>
                </a:solid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in3</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i="1" kern="100">
                      <a:effectLst/>
                      <a:latin typeface="Times New Roman" panose="02020603050405020304" pitchFamily="18" charset="0"/>
                      <a:ea typeface="宋体" panose="02010600030101010101" pitchFamily="2" charset="-122"/>
                    </a:rPr>
                    <a:t>in3</a:t>
                  </a:r>
                  <a:endParaRPr lang="zh-CN" sz="1050" kern="100">
                    <a:effectLst/>
                    <a:latin typeface="Times New Roman" panose="02020603050405020304" pitchFamily="18" charset="0"/>
                    <a:ea typeface="宋体" panose="02010600030101010101" pitchFamily="2" charset="-122"/>
                  </a:endParaRPr>
                </a:p>
              </p:txBody>
            </p:sp>
            <p:sp>
              <p:nvSpPr>
                <p:cNvPr id="21" name="矩形 20"/>
                <p:cNvSpPr/>
                <p:nvPr/>
              </p:nvSpPr>
              <p:spPr>
                <a:xfrm>
                  <a:off x="5840" y="11478"/>
                  <a:ext cx="360" cy="312"/>
                </a:xfrm>
                <a:prstGeom prst="rect">
                  <a:avLst/>
                </a:prstGeom>
                <a:noFill/>
                <a:ln w="9525" cap="flat" cmpd="sng">
                  <a:solidFill>
                    <a:srgbClr val="FFFFFF"/>
                  </a:solidFill>
                  <a:prstDash val="solid"/>
                  <a:miter/>
                  <a:headEnd type="none" w="med" len="med"/>
                  <a:tailEnd type="none" w="med" len="med"/>
                </a:ln>
                <a:effectLst/>
              </p:spPr>
              <p:txBody>
                <a:bodyPr lIns="0" tIns="0" rIns="0" bIns="0" upright="1"/>
                <a:lstStyle/>
                <a:p>
                  <a:pPr algn="just">
                    <a:spcAft>
                      <a:spcPts val="0"/>
                    </a:spcAft>
                  </a:pPr>
                  <a:r>
                    <a:rPr lang="en-US" sz="900" i="1" kern="100">
                      <a:effectLst/>
                      <a:latin typeface="Times New Roman" panose="02020603050405020304" pitchFamily="18" charset="0"/>
                      <a:ea typeface="宋体" panose="02010600030101010101" pitchFamily="2" charset="-122"/>
                    </a:rPr>
                    <a:t>in1</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i="1" kern="1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a:p>
                  <a:pPr algn="just">
                    <a:spcAft>
                      <a:spcPts val="0"/>
                    </a:spcAft>
                  </a:pPr>
                  <a:r>
                    <a:rPr lang="en-US" sz="900" i="1" kern="100">
                      <a:effectLst/>
                      <a:latin typeface="Times New Roman" panose="02020603050405020304" pitchFamily="18" charset="0"/>
                      <a:ea typeface="宋体" panose="02010600030101010101" pitchFamily="2" charset="-122"/>
                    </a:rPr>
                    <a:t>n1</a:t>
                  </a:r>
                  <a:endParaRPr lang="zh-CN" sz="1050" kern="100">
                    <a:effectLst/>
                    <a:latin typeface="Times New Roman" panose="02020603050405020304" pitchFamily="18" charset="0"/>
                    <a:ea typeface="宋体" panose="02010600030101010101" pitchFamily="2" charset="-122"/>
                  </a:endParaRPr>
                </a:p>
              </p:txBody>
            </p:sp>
            <p:cxnSp>
              <p:nvCxnSpPr>
                <p:cNvPr id="22" name="直接连接符 21"/>
                <p:cNvCxnSpPr/>
                <p:nvPr/>
              </p:nvCxnSpPr>
              <p:spPr>
                <a:xfrm>
                  <a:off x="6222" y="11717"/>
                  <a:ext cx="405" cy="4"/>
                </a:xfrm>
                <a:prstGeom prst="line">
                  <a:avLst/>
                </a:prstGeom>
                <a:ln w="9525" cap="flat" cmpd="sng">
                  <a:solidFill>
                    <a:srgbClr val="000000"/>
                  </a:solidFill>
                  <a:prstDash val="solid"/>
                  <a:headEnd type="none" w="med" len="med"/>
                  <a:tailEnd type="none" w="med" len="med"/>
                </a:ln>
                <a:effectLst/>
              </p:spPr>
            </p:cxnSp>
            <p:cxnSp>
              <p:nvCxnSpPr>
                <p:cNvPr id="23" name="直接连接符 22"/>
                <p:cNvCxnSpPr/>
                <p:nvPr/>
              </p:nvCxnSpPr>
              <p:spPr>
                <a:xfrm flipV="1">
                  <a:off x="6222" y="12199"/>
                  <a:ext cx="1278" cy="3"/>
                </a:xfrm>
                <a:prstGeom prst="line">
                  <a:avLst/>
                </a:prstGeom>
                <a:ln w="9525" cap="flat" cmpd="sng">
                  <a:solidFill>
                    <a:srgbClr val="000000"/>
                  </a:solidFill>
                  <a:prstDash val="solid"/>
                  <a:headEnd type="none" w="med" len="med"/>
                  <a:tailEnd type="none" w="med" len="med"/>
                </a:ln>
                <a:effectLst/>
              </p:spPr>
            </p:cxnSp>
            <p:cxnSp>
              <p:nvCxnSpPr>
                <p:cNvPr id="24" name="直接连接符 23"/>
                <p:cNvCxnSpPr/>
                <p:nvPr/>
              </p:nvCxnSpPr>
              <p:spPr>
                <a:xfrm flipV="1">
                  <a:off x="6942" y="11869"/>
                  <a:ext cx="540" cy="0"/>
                </a:xfrm>
                <a:prstGeom prst="line">
                  <a:avLst/>
                </a:prstGeom>
                <a:ln w="9525" cap="flat" cmpd="sng">
                  <a:solidFill>
                    <a:srgbClr val="000000"/>
                  </a:solidFill>
                  <a:prstDash val="solid"/>
                  <a:headEnd type="none" w="med" len="med"/>
                  <a:tailEnd type="none" w="med" len="med"/>
                </a:ln>
                <a:effectLst/>
              </p:spPr>
            </p:cxnSp>
            <p:grpSp>
              <p:nvGrpSpPr>
                <p:cNvPr id="25" name="组合 24"/>
                <p:cNvGrpSpPr/>
                <p:nvPr/>
              </p:nvGrpSpPr>
              <p:grpSpPr>
                <a:xfrm>
                  <a:off x="7479" y="11768"/>
                  <a:ext cx="668" cy="510"/>
                  <a:chOff x="7842" y="11919"/>
                  <a:chExt cx="668" cy="510"/>
                </a:xfrm>
                <a:effectLst/>
              </p:grpSpPr>
              <p:sp>
                <p:nvSpPr>
                  <p:cNvPr id="28" name="矩形 27"/>
                  <p:cNvSpPr/>
                  <p:nvPr/>
                </p:nvSpPr>
                <p:spPr>
                  <a:xfrm>
                    <a:off x="7842" y="11919"/>
                    <a:ext cx="295" cy="510"/>
                  </a:xfrm>
                  <a:prstGeom prst="rect">
                    <a:avLst/>
                  </a:prstGeom>
                  <a:solidFill>
                    <a:srgbClr val="FFFFFF"/>
                  </a:solidFill>
                  <a:ln w="9525" cap="flat" cmpd="sng">
                    <a:solidFill>
                      <a:srgbClr val="000000"/>
                    </a:solidFill>
                    <a:prstDash val="solid"/>
                    <a:miter/>
                    <a:headEnd type="none" w="med" len="med"/>
                    <a:tailEnd type="none" w="med" len="med"/>
                  </a:ln>
                  <a:effectLst/>
                </p:spPr>
                <p:txBody>
                  <a:bodyPr lIns="0" tIns="0" rIns="0" bIns="0" upright="1"/>
                  <a:lstStyle/>
                  <a:p>
                    <a:pPr algn="ctr">
                      <a:spcAft>
                        <a:spcPts val="0"/>
                      </a:spcAft>
                    </a:pPr>
                    <a:r>
                      <a:rPr lang="en-US" sz="900" kern="100">
                        <a:effectLst/>
                        <a:latin typeface="Times New Roman" panose="02020603050405020304" pitchFamily="18" charset="0"/>
                        <a:ea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p:txBody>
              </p:sp>
              <p:cxnSp>
                <p:nvCxnSpPr>
                  <p:cNvPr id="29" name="直接连接符 28"/>
                  <p:cNvCxnSpPr/>
                  <p:nvPr/>
                </p:nvCxnSpPr>
                <p:spPr>
                  <a:xfrm flipV="1">
                    <a:off x="8159" y="12183"/>
                    <a:ext cx="351" cy="0"/>
                  </a:xfrm>
                  <a:prstGeom prst="line">
                    <a:avLst/>
                  </a:prstGeom>
                  <a:ln w="9525" cap="flat" cmpd="sng">
                    <a:solidFill>
                      <a:srgbClr val="000000"/>
                    </a:solidFill>
                    <a:prstDash val="solid"/>
                    <a:headEnd type="none" w="med" len="med"/>
                    <a:tailEnd type="none" w="med" len="med"/>
                  </a:ln>
                  <a:effectLst/>
                </p:spPr>
              </p:cxnSp>
            </p:grpSp>
            <p:sp>
              <p:nvSpPr>
                <p:cNvPr id="26" name="椭圆 25"/>
                <p:cNvSpPr/>
                <p:nvPr/>
              </p:nvSpPr>
              <p:spPr>
                <a:xfrm>
                  <a:off x="6949" y="11842"/>
                  <a:ext cx="57" cy="57"/>
                </a:xfrm>
                <a:prstGeom prst="ellipse">
                  <a:avLst/>
                </a:prstGeom>
                <a:solidFill>
                  <a:srgbClr val="FFFFFF"/>
                </a:solidFill>
                <a:ln w="9525" cap="flat" cmpd="sng">
                  <a:solidFill>
                    <a:srgbClr val="000000"/>
                  </a:solidFill>
                  <a:prstDash val="solid"/>
                  <a:headEnd type="none" w="med" len="med"/>
                  <a:tailEnd type="none" w="med" len="med"/>
                </a:ln>
                <a:effectLst/>
              </p:spPr>
              <p:txBody>
                <a:bodyPr upright="1"/>
                <a:lstStyle/>
                <a:p>
                  <a:endParaRPr lang="zh-CN" altLang="en-US"/>
                </a:p>
              </p:txBody>
            </p:sp>
            <p:cxnSp>
              <p:nvCxnSpPr>
                <p:cNvPr id="27" name="直接连接符 26"/>
                <p:cNvCxnSpPr/>
                <p:nvPr/>
              </p:nvCxnSpPr>
              <p:spPr>
                <a:xfrm>
                  <a:off x="6232" y="11984"/>
                  <a:ext cx="405" cy="4"/>
                </a:xfrm>
                <a:prstGeom prst="line">
                  <a:avLst/>
                </a:prstGeom>
                <a:ln w="9525" cap="flat" cmpd="sng">
                  <a:solidFill>
                    <a:srgbClr val="000000"/>
                  </a:solidFill>
                  <a:prstDash val="solid"/>
                  <a:headEnd type="none" w="med" len="med"/>
                  <a:tailEnd type="none" w="med" len="med"/>
                </a:ln>
                <a:effectLst/>
              </p:spPr>
            </p:cxnSp>
          </p:grpSp>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3" y="1308184"/>
            <a:ext cx="8434387" cy="245935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pPr indent="266700">
              <a:tabLst>
                <a:tab pos="2628900" algn="ctr"/>
              </a:tabLst>
            </a:pPr>
            <a:r>
              <a:rPr lang="zh-CN" altLang="zh-CN" sz="2400" kern="100" dirty="0"/>
              <a:t>【例</a:t>
            </a:r>
            <a:r>
              <a:rPr lang="en-US" altLang="zh-CN" sz="2400" kern="100" dirty="0"/>
              <a:t>3</a:t>
            </a:r>
            <a:r>
              <a:rPr lang="zh-CN" altLang="zh-CN" sz="2400" kern="100" dirty="0"/>
              <a:t>】连线练习：不考虑模块内部结构，仅做一个单输入单输出的模块。其中内部行为符合一条“线”</a:t>
            </a:r>
            <a:r>
              <a:rPr lang="en-US" altLang="zh-CN" sz="2400" kern="100" dirty="0"/>
              <a:t>wire</a:t>
            </a:r>
            <a:r>
              <a:rPr lang="zh-CN" altLang="zh-CN" sz="2400" kern="100" dirty="0"/>
              <a:t>，图形示意图见</a:t>
            </a:r>
            <a:r>
              <a:rPr lang="zh-CN" altLang="zh-CN" sz="2400" kern="100" dirty="0" smtClean="0"/>
              <a:t>图。</a:t>
            </a:r>
            <a:endParaRPr lang="zh-CN" altLang="zh-CN" sz="2400" kern="100" dirty="0"/>
          </a:p>
          <a:p>
            <a:pPr lvl="0" indent="266700">
              <a:tabLst>
                <a:tab pos="2628900" algn="ctr"/>
              </a:tabLst>
            </a:pPr>
            <a:endParaRPr lang="zh-CN" altLang="en-US" sz="4800" dirty="0">
              <a:latin typeface="Arial" panose="020B0604020202020204" pitchFamily="34" charset="0"/>
            </a:endParaRPr>
          </a:p>
        </p:txBody>
      </p:sp>
      <p:pic>
        <p:nvPicPr>
          <p:cNvPr id="5" name="图片 4" descr="1567348378791046403.png"/>
          <p:cNvPicPr/>
          <p:nvPr/>
        </p:nvPicPr>
        <p:blipFill>
          <a:blip r:embed="rId1" cstate="print"/>
          <a:srcRect l="11742" r="10866" b="7584"/>
          <a:stretch>
            <a:fillRect/>
          </a:stretch>
        </p:blipFill>
        <p:spPr>
          <a:xfrm>
            <a:off x="4940340" y="2745218"/>
            <a:ext cx="3964305" cy="1600835"/>
          </a:xfrm>
          <a:prstGeom prst="rect">
            <a:avLst/>
          </a:prstGeom>
          <a:noFill/>
          <a:ln w="9525">
            <a:noFill/>
          </a:ln>
        </p:spPr>
      </p:pic>
      <p:sp>
        <p:nvSpPr>
          <p:cNvPr id="8" name="矩形 7"/>
          <p:cNvSpPr/>
          <p:nvPr/>
        </p:nvSpPr>
        <p:spPr>
          <a:xfrm>
            <a:off x="340923" y="3336629"/>
            <a:ext cx="4572000" cy="2893100"/>
          </a:xfrm>
          <a:prstGeom prst="rect">
            <a:avLst/>
          </a:prstGeom>
        </p:spPr>
        <p:txBody>
          <a:bodyPr>
            <a:spAutoFit/>
          </a:bodyPr>
          <a:lstStyle/>
          <a:p>
            <a:pPr indent="266700">
              <a:spcAft>
                <a:spcPts val="0"/>
              </a:spcAft>
            </a:pPr>
            <a:r>
              <a:rPr lang="zh-CN" altLang="zh-CN" sz="1400" kern="100" dirty="0"/>
              <a:t>解：如</a:t>
            </a:r>
            <a:r>
              <a:rPr lang="zh-CN" altLang="zh-CN" sz="1400" kern="100" dirty="0" smtClean="0"/>
              <a:t>图所</a:t>
            </a:r>
            <a:r>
              <a:rPr lang="zh-CN" altLang="zh-CN" sz="1400" kern="100" dirty="0"/>
              <a:t>示，三角部分对应模块外部的</a:t>
            </a:r>
            <a:r>
              <a:rPr lang="en-US" altLang="zh-CN" sz="1400" kern="100" dirty="0"/>
              <a:t>Verilog</a:t>
            </a:r>
            <a:r>
              <a:rPr lang="zh-CN" altLang="zh-CN" sz="1400" kern="100" dirty="0"/>
              <a:t>代码，表明外部对该模块的输入为</a:t>
            </a:r>
            <a:r>
              <a:rPr lang="en-US" altLang="zh-CN" sz="1400" kern="100" dirty="0"/>
              <a:t>input in</a:t>
            </a:r>
            <a:r>
              <a:rPr lang="zh-CN" altLang="zh-CN" sz="1400" kern="100" dirty="0"/>
              <a:t>，通过一条连线，模块输出一个</a:t>
            </a:r>
            <a:r>
              <a:rPr lang="en-US" altLang="zh-CN" sz="1400" kern="100" dirty="0"/>
              <a:t>output out</a:t>
            </a:r>
            <a:r>
              <a:rPr lang="zh-CN" altLang="zh-CN" sz="1400" kern="100" dirty="0"/>
              <a:t>给其他模块，所以需要对</a:t>
            </a:r>
            <a:r>
              <a:rPr lang="en-US" altLang="zh-CN" sz="1400" kern="100" dirty="0"/>
              <a:t>in</a:t>
            </a:r>
            <a:r>
              <a:rPr lang="zh-CN" altLang="zh-CN" sz="1400" kern="100" dirty="0"/>
              <a:t>和</a:t>
            </a:r>
            <a:r>
              <a:rPr lang="en-US" altLang="zh-CN" sz="1400" kern="100" dirty="0"/>
              <a:t>out</a:t>
            </a:r>
            <a:r>
              <a:rPr lang="zh-CN" altLang="zh-CN" sz="1400" kern="100" dirty="0"/>
              <a:t>两部分进行连接。</a:t>
            </a:r>
            <a:endParaRPr lang="zh-CN" altLang="zh-CN" sz="1400" kern="100" dirty="0"/>
          </a:p>
          <a:p>
            <a:pPr indent="266700">
              <a:spcAft>
                <a:spcPts val="0"/>
              </a:spcAft>
            </a:pPr>
            <a:r>
              <a:rPr lang="zh-CN" altLang="zh-CN" sz="1400" kern="100" dirty="0"/>
              <a:t>采用</a:t>
            </a:r>
            <a:r>
              <a:rPr lang="en-US" altLang="zh-CN" sz="1400" kern="100" dirty="0"/>
              <a:t>assign</a:t>
            </a:r>
            <a:r>
              <a:rPr lang="zh-CN" altLang="zh-CN" sz="1400" kern="100" dirty="0"/>
              <a:t>进行连续赋值，在默认情况下，该赋值表现为一条“线”连接。定义模块名和相应的输入输出，其余部分不作考虑。如：</a:t>
            </a:r>
            <a:endParaRPr lang="zh-CN" altLang="zh-CN" sz="1400" kern="100" dirty="0"/>
          </a:p>
          <a:p>
            <a:pPr indent="266700">
              <a:spcAft>
                <a:spcPts val="0"/>
              </a:spcAft>
              <a:tabLst>
                <a:tab pos="2628900" algn="ctr"/>
              </a:tabLst>
            </a:pPr>
            <a:r>
              <a:rPr lang="en-US" altLang="zh-CN" sz="1400" i="1" kern="100" dirty="0"/>
              <a:t>module </a:t>
            </a:r>
            <a:r>
              <a:rPr lang="en-US" altLang="zh-CN" sz="1400" i="1" kern="100" dirty="0" err="1"/>
              <a:t>top_module</a:t>
            </a:r>
            <a:r>
              <a:rPr lang="en-US" altLang="zh-CN" sz="1400" i="1" kern="100" dirty="0">
                <a:solidFill>
                  <a:srgbClr val="000000"/>
                </a:solidFill>
              </a:rPr>
              <a:t>(</a:t>
            </a:r>
            <a:r>
              <a:rPr lang="en-US" altLang="zh-CN" sz="1400" i="1" kern="100" dirty="0"/>
              <a:t> </a:t>
            </a:r>
            <a:endParaRPr lang="zh-CN" altLang="zh-CN" sz="1400" kern="100" dirty="0"/>
          </a:p>
          <a:p>
            <a:pPr indent="266700">
              <a:spcAft>
                <a:spcPts val="0"/>
              </a:spcAft>
              <a:tabLst>
                <a:tab pos="2628900" algn="ctr"/>
              </a:tabLst>
            </a:pPr>
            <a:r>
              <a:rPr lang="en-US" altLang="zh-CN" sz="1400" i="1" kern="100" dirty="0"/>
              <a:t>    input in, </a:t>
            </a:r>
            <a:endParaRPr lang="zh-CN" altLang="zh-CN" sz="1400" kern="100" dirty="0"/>
          </a:p>
          <a:p>
            <a:pPr indent="266700">
              <a:spcAft>
                <a:spcPts val="0"/>
              </a:spcAft>
              <a:tabLst>
                <a:tab pos="2628900" algn="ctr"/>
              </a:tabLst>
            </a:pPr>
            <a:r>
              <a:rPr lang="en-US" altLang="zh-CN" sz="1400" i="1" kern="100" dirty="0"/>
              <a:t>    output out </a:t>
            </a:r>
            <a:endParaRPr lang="zh-CN" altLang="zh-CN" sz="1400" kern="100" dirty="0"/>
          </a:p>
          <a:p>
            <a:pPr indent="266700">
              <a:spcAft>
                <a:spcPts val="0"/>
              </a:spcAft>
              <a:tabLst>
                <a:tab pos="2628900" algn="ctr"/>
              </a:tabLst>
            </a:pPr>
            <a:r>
              <a:rPr lang="en-US" altLang="zh-CN" sz="1400" i="1" kern="100" dirty="0">
                <a:solidFill>
                  <a:srgbClr val="000000"/>
                </a:solidFill>
              </a:rPr>
              <a:t>)</a:t>
            </a:r>
            <a:r>
              <a:rPr lang="en-US" altLang="zh-CN" sz="1400" i="1" kern="100" dirty="0"/>
              <a:t>;</a:t>
            </a:r>
            <a:endParaRPr lang="zh-CN" altLang="zh-CN" sz="1400" kern="100" dirty="0"/>
          </a:p>
          <a:p>
            <a:pPr indent="266700">
              <a:spcAft>
                <a:spcPts val="0"/>
              </a:spcAft>
              <a:tabLst>
                <a:tab pos="2628900" algn="ctr"/>
              </a:tabLst>
            </a:pPr>
            <a:r>
              <a:rPr lang="en-US" altLang="zh-CN" sz="1400" i="1" kern="100" dirty="0"/>
              <a:t>assign out=in;</a:t>
            </a:r>
            <a:endParaRPr lang="zh-CN" altLang="zh-CN" sz="1400" kern="100" dirty="0"/>
          </a:p>
          <a:p>
            <a:pPr indent="266700">
              <a:spcAft>
                <a:spcPts val="0"/>
              </a:spcAft>
              <a:tabLst>
                <a:tab pos="2628900" algn="ctr"/>
              </a:tabLst>
            </a:pPr>
            <a:r>
              <a:rPr lang="en-US" altLang="zh-CN" sz="1400" i="1" kern="100" dirty="0" err="1"/>
              <a:t>endmodule</a:t>
            </a:r>
            <a:endParaRPr lang="zh-CN" altLang="zh-CN" sz="1400"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blinds(horizontal)">
                                      <p:cBhvr>
                                        <p:cTn id="18"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95" y="1308100"/>
            <a:ext cx="8434070" cy="5440045"/>
          </a:xfrm>
          <a:prstGeom prst="rect">
            <a:avLst/>
          </a:prstGeom>
          <a:noFill/>
          <a:ln w="9525">
            <a:noFill/>
            <a:miter lim="800000"/>
          </a:ln>
          <a:effectLst/>
        </p:spPr>
        <p:txBody>
          <a:bodyPr wrap="square">
            <a:no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zh-CN" altLang="zh-CN" sz="2400" dirty="0"/>
              <a:t>【例</a:t>
            </a:r>
            <a:r>
              <a:rPr lang="en-US" altLang="zh-CN" sz="2400" b="1" dirty="0"/>
              <a:t>4</a:t>
            </a:r>
            <a:r>
              <a:rPr lang="zh-CN" altLang="zh-CN" sz="2400" dirty="0"/>
              <a:t>】端口反转练习：所谓端口反转，就是将所给的端口顺序反转输出，即将下面代码所描述的端口第</a:t>
            </a:r>
            <a:r>
              <a:rPr lang="en-US" altLang="zh-CN" sz="2400" dirty="0" err="1"/>
              <a:t>i</a:t>
            </a:r>
            <a:r>
              <a:rPr lang="zh-CN" altLang="zh-CN" sz="2400" dirty="0"/>
              <a:t>位端口信号输出到</a:t>
            </a:r>
            <a:r>
              <a:rPr lang="en-US" altLang="zh-CN" sz="2400" dirty="0"/>
              <a:t>7-i</a:t>
            </a:r>
            <a:r>
              <a:rPr lang="zh-CN" altLang="zh-CN" sz="2400" dirty="0"/>
              <a:t>输出位。模块定义为：</a:t>
            </a:r>
            <a:endParaRPr lang="zh-CN" altLang="zh-CN" sz="2400" dirty="0"/>
          </a:p>
          <a:p>
            <a:r>
              <a:rPr lang="en-US" altLang="zh-CN" dirty="0"/>
              <a:t>  </a:t>
            </a:r>
            <a:r>
              <a:rPr lang="en-US" altLang="zh-CN" sz="1800" i="1" dirty="0"/>
              <a:t> module </a:t>
            </a:r>
            <a:r>
              <a:rPr lang="en-US" altLang="zh-CN" sz="1800" i="1" dirty="0" err="1"/>
              <a:t>top_module</a:t>
            </a:r>
            <a:r>
              <a:rPr lang="en-US" altLang="zh-CN" sz="1800" i="1" dirty="0"/>
              <a:t>( </a:t>
            </a:r>
            <a:endParaRPr lang="zh-CN" altLang="zh-CN" sz="1800" dirty="0"/>
          </a:p>
          <a:p>
            <a:r>
              <a:rPr lang="en-US" altLang="zh-CN" sz="1800" i="1" dirty="0"/>
              <a:t>input [7:0] in,</a:t>
            </a:r>
            <a:endParaRPr lang="zh-CN" altLang="zh-CN" sz="1800" dirty="0"/>
          </a:p>
          <a:p>
            <a:r>
              <a:rPr lang="en-US" altLang="zh-CN" sz="1800" i="1" dirty="0"/>
              <a:t>output [7:0] out );</a:t>
            </a:r>
            <a:endParaRPr lang="zh-CN" altLang="zh-CN" sz="1800" dirty="0"/>
          </a:p>
          <a:p>
            <a:r>
              <a:rPr lang="zh-CN" altLang="zh-CN" sz="1800" dirty="0"/>
              <a:t>解：对于</a:t>
            </a:r>
            <a:r>
              <a:rPr lang="en-US" altLang="zh-CN" sz="1800" dirty="0"/>
              <a:t>Verilog</a:t>
            </a:r>
            <a:r>
              <a:rPr lang="zh-CN" altLang="zh-CN" sz="1800" dirty="0"/>
              <a:t>来说，输入和输出之间的关系是按照位置对应的。所以端口的反转，其实就是将端口按位置输出到对应的输出。按照位置进行对应排列即可。采用拼接或者端口输出指定位置的输入值都可以实现。如：</a:t>
            </a:r>
            <a:endParaRPr lang="zh-CN" altLang="zh-CN" sz="1800" dirty="0"/>
          </a:p>
          <a:p>
            <a:r>
              <a:rPr lang="en-US" altLang="zh-CN" sz="1800" i="1" dirty="0"/>
              <a:t>module </a:t>
            </a:r>
            <a:r>
              <a:rPr lang="en-US" altLang="zh-CN" sz="1800" i="1" dirty="0" err="1"/>
              <a:t>top_module</a:t>
            </a:r>
            <a:r>
              <a:rPr lang="en-US" altLang="zh-CN" sz="1800" i="1" dirty="0"/>
              <a:t>( </a:t>
            </a:r>
            <a:endParaRPr lang="zh-CN" altLang="zh-CN" sz="1800" dirty="0"/>
          </a:p>
          <a:p>
            <a:r>
              <a:rPr lang="en-US" altLang="zh-CN" sz="1800" i="1" dirty="0"/>
              <a:t>input [7:0] in,</a:t>
            </a:r>
            <a:endParaRPr lang="zh-CN" altLang="zh-CN" sz="1800" dirty="0"/>
          </a:p>
          <a:p>
            <a:r>
              <a:rPr lang="en-US" altLang="zh-CN" sz="1800" i="1" dirty="0"/>
              <a:t>output [7:0] out);</a:t>
            </a:r>
            <a:endParaRPr lang="zh-CN" altLang="zh-CN" sz="1800" dirty="0"/>
          </a:p>
          <a:p>
            <a:r>
              <a:rPr lang="en-US" altLang="zh-CN" sz="1800" i="1" dirty="0"/>
              <a:t>   </a:t>
            </a:r>
            <a:endParaRPr lang="zh-CN" altLang="zh-CN" sz="1800" dirty="0"/>
          </a:p>
          <a:p>
            <a:r>
              <a:rPr lang="en-US" altLang="zh-CN" sz="1800" i="1" dirty="0"/>
              <a:t>assign {out[0],out[1],out[2],out[3],out[4],out[5],out[6],out[7]} = in;</a:t>
            </a:r>
            <a:endParaRPr lang="zh-CN" altLang="zh-CN" sz="1800" dirty="0"/>
          </a:p>
          <a:p>
            <a:r>
              <a:rPr lang="en-US" altLang="zh-CN" sz="1800" i="1" dirty="0"/>
              <a:t> </a:t>
            </a:r>
            <a:endParaRPr lang="zh-CN" altLang="zh-CN" sz="1800" dirty="0"/>
          </a:p>
          <a:p>
            <a:r>
              <a:rPr lang="en-US" altLang="zh-CN" sz="1800" i="1" dirty="0" err="1"/>
              <a:t>endmodule</a:t>
            </a:r>
            <a:endParaRPr lang="zh-CN" altLang="en-US" sz="4800" dirty="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blinds(horizontal)">
                                      <p:cBhvr>
                                        <p:cTn id="18" dur="500"/>
                                        <p:tgtEl>
                                          <p:spTgt spid="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blinds(horizontal)">
                                      <p:cBhvr>
                                        <p:cTn id="23" dur="5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blinds(horizontal)">
                                      <p:cBhvr>
                                        <p:cTn id="28" dur="500"/>
                                        <p:tgtEl>
                                          <p:spTgt spid="4">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blinds(horizontal)">
                                      <p:cBhvr>
                                        <p:cTn id="33" dur="500"/>
                                        <p:tgtEl>
                                          <p:spTgt spid="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blinds(horizontal)">
                                      <p:cBhvr>
                                        <p:cTn id="38" dur="500"/>
                                        <p:tgtEl>
                                          <p:spTgt spid="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Effect transition="in" filter="blinds(horizontal)">
                                      <p:cBhvr>
                                        <p:cTn id="43" dur="500"/>
                                        <p:tgtEl>
                                          <p:spTgt spid="4">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animEffect transition="in" filter="blinds(horizontal)">
                                      <p:cBhvr>
                                        <p:cTn id="48" dur="500"/>
                                        <p:tgtEl>
                                          <p:spTgt spid="4">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animEffect transition="in" filter="blinds(horizontal)">
                                      <p:cBhvr>
                                        <p:cTn id="53" dur="500"/>
                                        <p:tgtEl>
                                          <p:spTgt spid="4">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4">
                                            <p:txEl>
                                              <p:pRg st="9" end="9"/>
                                            </p:txEl>
                                          </p:spTgt>
                                        </p:tgtEl>
                                        <p:attrNameLst>
                                          <p:attrName>style.visibility</p:attrName>
                                        </p:attrNameLst>
                                      </p:cBhvr>
                                      <p:to>
                                        <p:strVal val="visible"/>
                                      </p:to>
                                    </p:set>
                                    <p:animEffect transition="in" filter="blinds(horizontal)">
                                      <p:cBhvr>
                                        <p:cTn id="58" dur="500"/>
                                        <p:tgtEl>
                                          <p:spTgt spid="4">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animEffect transition="in" filter="blinds(horizontal)">
                                      <p:cBhvr>
                                        <p:cTn id="63" dur="500"/>
                                        <p:tgtEl>
                                          <p:spTgt spid="4">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4">
                                            <p:txEl>
                                              <p:pRg st="11" end="11"/>
                                            </p:txEl>
                                          </p:spTgt>
                                        </p:tgtEl>
                                        <p:attrNameLst>
                                          <p:attrName>style.visibility</p:attrName>
                                        </p:attrNameLst>
                                      </p:cBhvr>
                                      <p:to>
                                        <p:strVal val="visible"/>
                                      </p:to>
                                    </p:set>
                                    <p:animEffect transition="in" filter="blinds(horizontal)">
                                      <p:cBhvr>
                                        <p:cTn id="68" dur="500"/>
                                        <p:tgtEl>
                                          <p:spTgt spid="4">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Effect transition="in" filter="blinds(horizontal)">
                                      <p:cBhvr>
                                        <p:cTn id="73"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3" y="1308184"/>
            <a:ext cx="8434387" cy="461391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zh-CN" altLang="zh-CN" sz="2400" dirty="0" smtClean="0"/>
              <a:t>【</a:t>
            </a:r>
            <a:r>
              <a:rPr lang="zh-CN" altLang="zh-CN" sz="2400" dirty="0"/>
              <a:t>例</a:t>
            </a:r>
            <a:r>
              <a:rPr lang="en-US" altLang="zh-CN" sz="2400" dirty="0"/>
              <a:t>5</a:t>
            </a:r>
            <a:r>
              <a:rPr lang="zh-CN" altLang="zh-CN" sz="2400" dirty="0"/>
              <a:t>】定义一个模块用于计算输入</a:t>
            </a:r>
            <a:r>
              <a:rPr lang="en-US" altLang="zh-CN" sz="2400" dirty="0"/>
              <a:t>8</a:t>
            </a:r>
            <a:r>
              <a:rPr lang="zh-CN" altLang="zh-CN" sz="2400" dirty="0"/>
              <a:t>位的异或。输入输出分别定义为</a:t>
            </a:r>
            <a:r>
              <a:rPr lang="en-US" altLang="zh-CN" sz="2400" dirty="0"/>
              <a:t>in</a:t>
            </a:r>
            <a:r>
              <a:rPr lang="zh-CN" altLang="zh-CN" sz="2400" dirty="0"/>
              <a:t>和</a:t>
            </a:r>
            <a:r>
              <a:rPr lang="en-US" altLang="zh-CN" sz="2400" dirty="0"/>
              <a:t>parity</a:t>
            </a:r>
            <a:r>
              <a:rPr lang="zh-CN" altLang="zh-CN" sz="2400" dirty="0"/>
              <a:t>。</a:t>
            </a:r>
            <a:endParaRPr lang="zh-CN" altLang="zh-CN" sz="2400" dirty="0"/>
          </a:p>
          <a:p>
            <a:r>
              <a:rPr lang="zh-CN" altLang="zh-CN" sz="2400" dirty="0"/>
              <a:t>解：</a:t>
            </a:r>
            <a:r>
              <a:rPr lang="en-US" altLang="zh-CN" sz="2400" dirty="0"/>
              <a:t>Verilog</a:t>
            </a:r>
            <a:r>
              <a:rPr lang="zh-CN" altLang="zh-CN" sz="2400" dirty="0"/>
              <a:t>中对多位输入区分按位运算或直接运算，前文已列出相应运算符号，本题内容是输出一个值，该值产生于输入的多位信号中按位异或，因此用“</a:t>
            </a:r>
            <a:r>
              <a:rPr lang="en-US" altLang="zh-CN" sz="2400" dirty="0"/>
              <a:t>^</a:t>
            </a:r>
            <a:r>
              <a:rPr lang="zh-CN" altLang="zh-CN" sz="2400" dirty="0"/>
              <a:t>”进行按位运算即可。如：</a:t>
            </a:r>
            <a:endParaRPr lang="zh-CN" altLang="zh-CN" sz="2400" dirty="0"/>
          </a:p>
          <a:p>
            <a:r>
              <a:rPr lang="en-US" altLang="zh-CN" i="1" dirty="0"/>
              <a:t>module </a:t>
            </a:r>
            <a:r>
              <a:rPr lang="en-US" altLang="zh-CN" i="1" dirty="0" err="1"/>
              <a:t>top_module</a:t>
            </a:r>
            <a:r>
              <a:rPr lang="en-US" altLang="zh-CN" i="1" dirty="0"/>
              <a:t> (</a:t>
            </a:r>
            <a:endParaRPr lang="zh-CN" altLang="zh-CN" dirty="0"/>
          </a:p>
          <a:p>
            <a:r>
              <a:rPr lang="en-US" altLang="zh-CN" i="1" dirty="0"/>
              <a:t>    input [7:0] in,</a:t>
            </a:r>
            <a:endParaRPr lang="zh-CN" altLang="zh-CN" dirty="0"/>
          </a:p>
          <a:p>
            <a:r>
              <a:rPr lang="en-US" altLang="zh-CN" i="1" dirty="0"/>
              <a:t>    output parity); </a:t>
            </a:r>
            <a:endParaRPr lang="zh-CN" altLang="zh-CN" dirty="0"/>
          </a:p>
          <a:p>
            <a:r>
              <a:rPr lang="en-US" altLang="zh-CN" i="1" dirty="0"/>
              <a:t>    assign parity = ^in[7:0];</a:t>
            </a:r>
            <a:endParaRPr lang="zh-CN" altLang="zh-CN" dirty="0"/>
          </a:p>
          <a:p>
            <a:r>
              <a:rPr lang="en-US" altLang="zh-CN" i="1" dirty="0" err="1" smtClean="0"/>
              <a:t>endmodule</a:t>
            </a:r>
            <a:endParaRPr lang="zh-CN" altLang="zh-CN"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blinds(horizontal)">
                                      <p:cBhvr>
                                        <p:cTn id="18" dur="500"/>
                                        <p:tgtEl>
                                          <p:spTgt spid="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blinds(horizontal)">
                                      <p:cBhvr>
                                        <p:cTn id="23" dur="5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blinds(horizontal)">
                                      <p:cBhvr>
                                        <p:cTn id="28" dur="500"/>
                                        <p:tgtEl>
                                          <p:spTgt spid="4">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blinds(horizontal)">
                                      <p:cBhvr>
                                        <p:cTn id="33" dur="500"/>
                                        <p:tgtEl>
                                          <p:spTgt spid="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blinds(horizontal)">
                                      <p:cBhvr>
                                        <p:cTn id="38" dur="500"/>
                                        <p:tgtEl>
                                          <p:spTgt spid="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Effect transition="in" filter="blinds(horizontal)">
                                      <p:cBhvr>
                                        <p:cTn id="43" dur="500"/>
                                        <p:tgtEl>
                                          <p:spTgt spid="4">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animEffect transition="in" filter="blinds(horizontal)">
                                      <p:cBhvr>
                                        <p:cTn id="48"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95" y="1308100"/>
            <a:ext cx="8434070" cy="5452110"/>
          </a:xfrm>
          <a:prstGeom prst="rect">
            <a:avLst/>
          </a:prstGeom>
          <a:noFill/>
          <a:ln w="9525">
            <a:noFill/>
            <a:miter lim="800000"/>
          </a:ln>
          <a:effectLst/>
        </p:spPr>
        <p:txBody>
          <a:bodyPr wrap="square">
            <a:no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a:t>6】</a:t>
            </a:r>
            <a:r>
              <a:rPr lang="zh-CN" altLang="en-US" sz="2400" dirty="0"/>
              <a:t>定义一个模块，令其完成对两数判定相等的功能。即：若</a:t>
            </a:r>
            <a:r>
              <a:rPr lang="en-US" altLang="zh-CN" sz="2400" dirty="0"/>
              <a:t>A=B</a:t>
            </a:r>
            <a:r>
              <a:rPr lang="zh-CN" altLang="en-US" sz="2400" dirty="0"/>
              <a:t>，则输出</a:t>
            </a:r>
            <a:r>
              <a:rPr lang="en-US" altLang="zh-CN" sz="2400" dirty="0"/>
              <a:t>1</a:t>
            </a:r>
            <a:r>
              <a:rPr lang="zh-CN" altLang="en-US" sz="2400" dirty="0"/>
              <a:t>，否则输出</a:t>
            </a:r>
            <a:r>
              <a:rPr lang="en-US" altLang="zh-CN" sz="2400" dirty="0"/>
              <a:t>0</a:t>
            </a:r>
            <a:r>
              <a:rPr lang="zh-CN" altLang="en-US" sz="2400" dirty="0"/>
              <a:t>。</a:t>
            </a:r>
            <a:endParaRPr lang="zh-CN" altLang="en-US" sz="2400" dirty="0"/>
          </a:p>
          <a:p>
            <a:r>
              <a:rPr lang="zh-CN" altLang="en-US" sz="2400" dirty="0"/>
              <a:t>解：本题没有给出模块的具体定义，可自定义一个模块名用于比较。题目中也没有说明两数是多位还是</a:t>
            </a:r>
            <a:r>
              <a:rPr lang="en-US" altLang="zh-CN" sz="2400" dirty="0"/>
              <a:t>1</a:t>
            </a:r>
            <a:r>
              <a:rPr lang="zh-CN" altLang="en-US" sz="2400" dirty="0"/>
              <a:t>位的数，因此可以自定义一个参数用于对</a:t>
            </a:r>
            <a:r>
              <a:rPr lang="en-US" altLang="zh-CN" sz="2400" dirty="0"/>
              <a:t>A</a:t>
            </a:r>
            <a:r>
              <a:rPr lang="zh-CN" altLang="en-US" sz="2400" dirty="0"/>
              <a:t>的长度进行约束，也可以自行定义一个固定位宽的数用于比较。例如两个</a:t>
            </a:r>
            <a:r>
              <a:rPr lang="en-US" altLang="zh-CN" sz="2400" dirty="0"/>
              <a:t>2</a:t>
            </a:r>
            <a:r>
              <a:rPr lang="zh-CN" altLang="en-US" sz="2400" dirty="0"/>
              <a:t>位二进制数</a:t>
            </a:r>
            <a:r>
              <a:rPr lang="en-US" altLang="zh-CN" sz="2400" dirty="0"/>
              <a:t>A</a:t>
            </a:r>
            <a:r>
              <a:rPr lang="zh-CN" altLang="en-US" sz="2400" dirty="0"/>
              <a:t>和</a:t>
            </a:r>
            <a:r>
              <a:rPr lang="en-US" altLang="zh-CN" sz="2400" dirty="0"/>
              <a:t>B</a:t>
            </a:r>
            <a:r>
              <a:rPr lang="zh-CN" altLang="en-US" sz="2400" dirty="0"/>
              <a:t>，如果不采用条件语句，参照表</a:t>
            </a:r>
            <a:r>
              <a:rPr lang="en-US" altLang="zh-CN" sz="2400" dirty="0"/>
              <a:t>10-1</a:t>
            </a:r>
            <a:r>
              <a:rPr lang="zh-CN" altLang="en-US" sz="2400" dirty="0"/>
              <a:t>，采用条件运算来实现。代码可写为</a:t>
            </a:r>
            <a:r>
              <a:rPr lang="zh-CN" altLang="en-US" sz="2400" dirty="0" smtClean="0"/>
              <a:t>：</a:t>
            </a:r>
            <a:endParaRPr lang="en-US" altLang="zh-CN" sz="2400" dirty="0" smtClean="0"/>
          </a:p>
          <a:p>
            <a:r>
              <a:rPr lang="en-US" altLang="zh-CN" sz="2000" i="1" dirty="0" smtClean="0"/>
              <a:t>module </a:t>
            </a:r>
            <a:r>
              <a:rPr lang="en-US" altLang="zh-CN" sz="2000" i="1" dirty="0" err="1"/>
              <a:t>top_module</a:t>
            </a:r>
            <a:r>
              <a:rPr lang="en-US" altLang="zh-CN" sz="2000" i="1" dirty="0"/>
              <a:t> (</a:t>
            </a:r>
            <a:endParaRPr lang="zh-CN" altLang="zh-CN" sz="2000" dirty="0"/>
          </a:p>
          <a:p>
            <a:r>
              <a:rPr lang="en-US" altLang="zh-CN" sz="2000" i="1" dirty="0"/>
              <a:t>input [1:0] A, </a:t>
            </a:r>
            <a:endParaRPr lang="zh-CN" altLang="zh-CN" sz="2000" dirty="0"/>
          </a:p>
          <a:p>
            <a:r>
              <a:rPr lang="en-US" altLang="zh-CN" sz="2000" i="1" dirty="0"/>
              <a:t>input [1:0] B, </a:t>
            </a:r>
            <a:endParaRPr lang="zh-CN" altLang="zh-CN" sz="2000" dirty="0"/>
          </a:p>
          <a:p>
            <a:r>
              <a:rPr lang="en-US" altLang="zh-CN" sz="2000" i="1" dirty="0"/>
              <a:t>output f ); </a:t>
            </a:r>
            <a:endParaRPr lang="zh-CN" altLang="zh-CN" sz="2000" dirty="0"/>
          </a:p>
          <a:p>
            <a:r>
              <a:rPr lang="en-US" altLang="zh-CN" sz="2000" i="1" dirty="0"/>
              <a:t>      assign f = ((A[1]==B[1])&amp;&amp;(A[0]==B[0]))?1:0;</a:t>
            </a:r>
            <a:endParaRPr lang="zh-CN" altLang="zh-CN" sz="2000" dirty="0"/>
          </a:p>
          <a:p>
            <a:r>
              <a:rPr lang="en-US" altLang="zh-CN" sz="2000" i="1" dirty="0" err="1"/>
              <a:t>endmodule</a:t>
            </a:r>
            <a:endParaRPr lang="zh-CN" altLang="zh-CN" sz="2000" dirty="0"/>
          </a:p>
          <a:p>
            <a:endParaRPr lang="zh-CN" altLang="en-US"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3" y="1308184"/>
            <a:ext cx="8434387" cy="13512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7】</a:t>
            </a:r>
            <a:r>
              <a:rPr lang="zh-CN" altLang="en-US" sz="2400" dirty="0"/>
              <a:t>读图练习，设计一个模块来实现如图</a:t>
            </a:r>
            <a:r>
              <a:rPr lang="en-US" altLang="zh-CN" sz="2400" dirty="0"/>
              <a:t>10.14</a:t>
            </a:r>
            <a:r>
              <a:rPr lang="zh-CN" altLang="en-US" sz="2400" dirty="0"/>
              <a:t>所示</a:t>
            </a:r>
            <a:r>
              <a:rPr lang="zh-CN" altLang="en-US" sz="2400" dirty="0" smtClean="0"/>
              <a:t>波形</a:t>
            </a:r>
            <a:endParaRPr lang="zh-CN" altLang="en-US" sz="2400" dirty="0"/>
          </a:p>
          <a:p>
            <a:endParaRPr lang="zh-CN" altLang="en-US" sz="2400" dirty="0"/>
          </a:p>
        </p:txBody>
      </p:sp>
      <p:pic>
        <p:nvPicPr>
          <p:cNvPr id="5" name="图片 4" descr="1571196372296045077.png"/>
          <p:cNvPicPr/>
          <p:nvPr/>
        </p:nvPicPr>
        <p:blipFill>
          <a:blip r:embed="rId1" cstate="print"/>
          <a:srcRect l="6602"/>
          <a:stretch>
            <a:fillRect/>
          </a:stretch>
        </p:blipFill>
        <p:spPr>
          <a:xfrm>
            <a:off x="2129155" y="2285410"/>
            <a:ext cx="4337050" cy="1398905"/>
          </a:xfrm>
          <a:prstGeom prst="rect">
            <a:avLst/>
          </a:prstGeom>
          <a:noFill/>
          <a:ln w="9525">
            <a:noFill/>
          </a:ln>
        </p:spPr>
      </p:pic>
      <p:sp>
        <p:nvSpPr>
          <p:cNvPr id="2" name="矩形 1"/>
          <p:cNvSpPr/>
          <p:nvPr/>
        </p:nvSpPr>
        <p:spPr>
          <a:xfrm>
            <a:off x="375893" y="3611830"/>
            <a:ext cx="8399417" cy="2554545"/>
          </a:xfrm>
          <a:prstGeom prst="rect">
            <a:avLst/>
          </a:prstGeom>
        </p:spPr>
        <p:txBody>
          <a:bodyPr wrap="square">
            <a:spAutoFit/>
          </a:bodyPr>
          <a:lstStyle/>
          <a:p>
            <a:pPr indent="266700">
              <a:spcAft>
                <a:spcPts val="0"/>
              </a:spcAft>
            </a:pPr>
            <a:r>
              <a:rPr lang="zh-CN" altLang="zh-CN" sz="1600" kern="100" dirty="0"/>
              <a:t>解：如图所示，显然，</a:t>
            </a:r>
            <a:r>
              <a:rPr lang="en-US" altLang="zh-CN" sz="1600" i="1" kern="100" dirty="0"/>
              <a:t>x</a:t>
            </a:r>
            <a:r>
              <a:rPr lang="zh-CN" altLang="zh-CN" sz="1600" kern="100" dirty="0"/>
              <a:t>和</a:t>
            </a:r>
            <a:r>
              <a:rPr lang="en-US" altLang="zh-CN" sz="1600" i="1" kern="100" dirty="0"/>
              <a:t>y</a:t>
            </a:r>
            <a:r>
              <a:rPr lang="zh-CN" altLang="zh-CN" sz="1600" kern="100" dirty="0"/>
              <a:t>是输入信号，</a:t>
            </a:r>
            <a:r>
              <a:rPr lang="en-US" altLang="zh-CN" sz="1600" i="1" kern="100" dirty="0"/>
              <a:t>z</a:t>
            </a:r>
            <a:r>
              <a:rPr lang="zh-CN" altLang="zh-CN" sz="1600" kern="100" dirty="0"/>
              <a:t>为输出信号。</a:t>
            </a:r>
            <a:r>
              <a:rPr lang="en-US" altLang="zh-CN" sz="1600" i="1" kern="100" dirty="0"/>
              <a:t>x</a:t>
            </a:r>
            <a:r>
              <a:rPr lang="zh-CN" altLang="zh-CN" sz="1600" i="1" kern="100" dirty="0"/>
              <a:t>、</a:t>
            </a:r>
            <a:r>
              <a:rPr lang="en-US" altLang="zh-CN" sz="1600" i="1" kern="100" dirty="0"/>
              <a:t>y</a:t>
            </a:r>
            <a:r>
              <a:rPr lang="zh-CN" altLang="zh-CN" sz="1600" kern="100" dirty="0"/>
              <a:t>的信号改变能够立即改变输出信号，说明这是一个组合电路。寻找图中相应的典型值</a:t>
            </a:r>
            <a:r>
              <a:rPr lang="en-US" altLang="zh-CN" sz="1600" kern="100" dirty="0"/>
              <a:t>00</a:t>
            </a:r>
            <a:r>
              <a:rPr lang="zh-CN" altLang="zh-CN" sz="1600" kern="100" dirty="0"/>
              <a:t>、</a:t>
            </a:r>
            <a:r>
              <a:rPr lang="en-US" altLang="zh-CN" sz="1600" kern="100" dirty="0"/>
              <a:t>01</a:t>
            </a:r>
            <a:r>
              <a:rPr lang="zh-CN" altLang="zh-CN" sz="1600" kern="100" dirty="0"/>
              <a:t>、</a:t>
            </a:r>
            <a:r>
              <a:rPr lang="en-US" altLang="zh-CN" sz="1600" kern="100" dirty="0"/>
              <a:t>10</a:t>
            </a:r>
            <a:r>
              <a:rPr lang="zh-CN" altLang="zh-CN" sz="1600" kern="100" dirty="0"/>
              <a:t>、</a:t>
            </a:r>
            <a:r>
              <a:rPr lang="en-US" altLang="zh-CN" sz="1600" kern="100" dirty="0"/>
              <a:t>11</a:t>
            </a:r>
            <a:r>
              <a:rPr lang="zh-CN" altLang="zh-CN" sz="1600" kern="100" dirty="0"/>
              <a:t>，对应输出分别是</a:t>
            </a:r>
            <a:r>
              <a:rPr lang="en-US" altLang="zh-CN" sz="1600" kern="100" dirty="0"/>
              <a:t>1</a:t>
            </a:r>
            <a:r>
              <a:rPr lang="zh-CN" altLang="zh-CN" sz="1600" kern="100" dirty="0"/>
              <a:t>、</a:t>
            </a:r>
            <a:r>
              <a:rPr lang="en-US" altLang="zh-CN" sz="1600" kern="100" dirty="0"/>
              <a:t>0</a:t>
            </a:r>
            <a:r>
              <a:rPr lang="zh-CN" altLang="zh-CN" sz="1600" kern="100" dirty="0"/>
              <a:t>、</a:t>
            </a:r>
            <a:r>
              <a:rPr lang="en-US" altLang="zh-CN" sz="1600" kern="100" dirty="0"/>
              <a:t>0</a:t>
            </a:r>
            <a:r>
              <a:rPr lang="zh-CN" altLang="zh-CN" sz="1600" kern="100" dirty="0"/>
              <a:t>、</a:t>
            </a:r>
            <a:r>
              <a:rPr lang="en-US" altLang="zh-CN" sz="1600" kern="100" dirty="0"/>
              <a:t>1</a:t>
            </a:r>
            <a:r>
              <a:rPr lang="zh-CN" altLang="zh-CN" sz="1600" kern="100" dirty="0"/>
              <a:t>，说明该电路是一个典型的同或运算。</a:t>
            </a:r>
            <a:endParaRPr lang="zh-CN" altLang="zh-CN" sz="1600" kern="100" dirty="0"/>
          </a:p>
          <a:p>
            <a:pPr indent="266700">
              <a:spcAft>
                <a:spcPts val="0"/>
              </a:spcAft>
            </a:pPr>
            <a:r>
              <a:rPr lang="zh-CN" altLang="zh-CN" sz="1600" kern="100" dirty="0"/>
              <a:t>所以直接在模块中写出输出的</a:t>
            </a:r>
            <a:r>
              <a:rPr lang="zh-CN" altLang="zh-CN" sz="1600" kern="100" dirty="0">
                <a:solidFill>
                  <a:srgbClr val="000000"/>
                </a:solidFill>
              </a:rPr>
              <a:t>赋</a:t>
            </a:r>
            <a:r>
              <a:rPr lang="zh-CN" altLang="zh-CN" sz="1600" kern="100" dirty="0"/>
              <a:t>值表达，代码为：</a:t>
            </a:r>
            <a:endParaRPr lang="zh-CN" altLang="zh-CN" sz="1600" kern="100" dirty="0"/>
          </a:p>
          <a:p>
            <a:pPr indent="266700">
              <a:spcAft>
                <a:spcPts val="0"/>
              </a:spcAft>
              <a:tabLst>
                <a:tab pos="2628900" algn="ctr"/>
              </a:tabLst>
            </a:pPr>
            <a:r>
              <a:rPr lang="en-US" altLang="zh-CN" sz="1600" i="1" kern="100" dirty="0"/>
              <a:t>module </a:t>
            </a:r>
            <a:r>
              <a:rPr lang="en-US" altLang="zh-CN" sz="1600" i="1" kern="100" dirty="0" err="1"/>
              <a:t>top_module</a:t>
            </a:r>
            <a:r>
              <a:rPr lang="en-US" altLang="zh-CN" sz="1600" i="1" kern="100" dirty="0"/>
              <a:t> </a:t>
            </a:r>
            <a:r>
              <a:rPr lang="en-US" altLang="zh-CN" sz="1600" i="1" kern="100" dirty="0">
                <a:solidFill>
                  <a:srgbClr val="000000"/>
                </a:solidFill>
              </a:rPr>
              <a:t>(</a:t>
            </a:r>
            <a:r>
              <a:rPr lang="en-US" altLang="zh-CN" sz="1600" i="1" kern="100" dirty="0"/>
              <a:t> </a:t>
            </a:r>
            <a:endParaRPr lang="zh-CN" altLang="zh-CN" sz="1600" kern="100" dirty="0"/>
          </a:p>
          <a:p>
            <a:pPr indent="666750">
              <a:spcAft>
                <a:spcPts val="0"/>
              </a:spcAft>
              <a:tabLst>
                <a:tab pos="2628900" algn="ctr"/>
              </a:tabLst>
            </a:pPr>
            <a:r>
              <a:rPr lang="en-US" altLang="zh-CN" sz="1600" i="1" kern="100" dirty="0"/>
              <a:t>input x,</a:t>
            </a:r>
            <a:endParaRPr lang="zh-CN" altLang="zh-CN" sz="1600" kern="100" dirty="0"/>
          </a:p>
          <a:p>
            <a:pPr indent="666750">
              <a:spcAft>
                <a:spcPts val="0"/>
              </a:spcAft>
              <a:tabLst>
                <a:tab pos="2628900" algn="ctr"/>
              </a:tabLst>
            </a:pPr>
            <a:r>
              <a:rPr lang="en-US" altLang="zh-CN" sz="1600" i="1" kern="100" dirty="0"/>
              <a:t>input y, </a:t>
            </a:r>
            <a:endParaRPr lang="zh-CN" altLang="zh-CN" sz="1600" kern="100" dirty="0"/>
          </a:p>
          <a:p>
            <a:pPr indent="666750">
              <a:spcAft>
                <a:spcPts val="0"/>
              </a:spcAft>
              <a:tabLst>
                <a:tab pos="2628900" algn="ctr"/>
              </a:tabLst>
            </a:pPr>
            <a:r>
              <a:rPr lang="en-US" altLang="zh-CN" sz="1600" i="1" kern="100" dirty="0"/>
              <a:t>output z </a:t>
            </a:r>
            <a:r>
              <a:rPr lang="en-US" altLang="zh-CN" sz="1600" i="1" kern="100" dirty="0">
                <a:solidFill>
                  <a:srgbClr val="000000"/>
                </a:solidFill>
              </a:rPr>
              <a:t>)</a:t>
            </a:r>
            <a:r>
              <a:rPr lang="en-US" altLang="zh-CN" sz="1600" i="1" kern="100" dirty="0"/>
              <a:t>;</a:t>
            </a:r>
            <a:endParaRPr lang="zh-CN" altLang="zh-CN" sz="1600" kern="100" dirty="0"/>
          </a:p>
          <a:p>
            <a:pPr indent="266700">
              <a:spcAft>
                <a:spcPts val="0"/>
              </a:spcAft>
              <a:tabLst>
                <a:tab pos="2628900" algn="ctr"/>
              </a:tabLst>
            </a:pPr>
            <a:r>
              <a:rPr lang="en-US" altLang="zh-CN" sz="1600" i="1" kern="100" dirty="0"/>
              <a:t>      assign z = ~(</a:t>
            </a:r>
            <a:r>
              <a:rPr lang="en-US" altLang="zh-CN" sz="1600" i="1" kern="100" dirty="0" err="1"/>
              <a:t>x^y</a:t>
            </a:r>
            <a:r>
              <a:rPr lang="en-US" altLang="zh-CN" sz="1600" i="1" kern="100" dirty="0"/>
              <a:t>);</a:t>
            </a:r>
            <a:endParaRPr lang="zh-CN" altLang="zh-CN" sz="1600" kern="100" dirty="0"/>
          </a:p>
          <a:p>
            <a:pPr indent="266700">
              <a:spcAft>
                <a:spcPts val="0"/>
              </a:spcAft>
              <a:tabLst>
                <a:tab pos="2628900" algn="ctr"/>
              </a:tabLst>
            </a:pPr>
            <a:r>
              <a:rPr lang="en-US" altLang="zh-CN" sz="1600" i="1" kern="100" dirty="0" err="1"/>
              <a:t>endmodule</a:t>
            </a:r>
            <a:endParaRPr lang="zh-CN" altLang="zh-CN" sz="1600"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3" y="1308184"/>
            <a:ext cx="8434387" cy="172021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8】</a:t>
            </a:r>
            <a:r>
              <a:rPr lang="zh-CN" altLang="en-US" sz="2400" dirty="0" smtClean="0"/>
              <a:t>读</a:t>
            </a:r>
            <a:r>
              <a:rPr lang="zh-CN" altLang="en-US" sz="2400" dirty="0"/>
              <a:t>波形图，通过设计完整的模块，令模块输出波形为</a:t>
            </a:r>
            <a:r>
              <a:rPr lang="zh-CN" altLang="en-US" sz="2400" dirty="0" smtClean="0"/>
              <a:t>图所</a:t>
            </a:r>
            <a:r>
              <a:rPr lang="zh-CN" altLang="en-US" sz="2400" dirty="0"/>
              <a:t>示</a:t>
            </a:r>
            <a:endParaRPr lang="zh-CN" altLang="en-US" sz="2400" dirty="0"/>
          </a:p>
          <a:p>
            <a:endParaRPr lang="zh-CN" altLang="en-US" sz="2400" dirty="0"/>
          </a:p>
        </p:txBody>
      </p:sp>
      <p:pic>
        <p:nvPicPr>
          <p:cNvPr id="6" name="图片 5" descr="1572146962561039915.png"/>
          <p:cNvPicPr/>
          <p:nvPr/>
        </p:nvPicPr>
        <p:blipFill>
          <a:blip r:embed="rId1" cstate="print"/>
          <a:stretch>
            <a:fillRect/>
          </a:stretch>
        </p:blipFill>
        <p:spPr>
          <a:xfrm>
            <a:off x="2187982" y="2212534"/>
            <a:ext cx="3847058" cy="1399296"/>
          </a:xfrm>
          <a:prstGeom prst="rect">
            <a:avLst/>
          </a:prstGeom>
          <a:noFill/>
          <a:ln w="9525">
            <a:noFill/>
          </a:ln>
        </p:spPr>
      </p:pic>
      <p:sp>
        <p:nvSpPr>
          <p:cNvPr id="10" name="Rectangle 5"/>
          <p:cNvSpPr>
            <a:spLocks noChangeArrowheads="1"/>
          </p:cNvSpPr>
          <p:nvPr/>
        </p:nvSpPr>
        <p:spPr bwMode="auto">
          <a:xfrm>
            <a:off x="142854" y="3577867"/>
            <a:ext cx="90011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tabLst>
                <a:tab pos="2628900" algn="ctr"/>
              </a:tabLst>
              <a:defRPr>
                <a:solidFill>
                  <a:schemeClr val="tx1"/>
                </a:solidFill>
                <a:latin typeface="Arial" panose="020B0604020202020204" pitchFamily="34" charset="0"/>
              </a:defRPr>
            </a:lvl1pPr>
            <a:lvl2pPr>
              <a:tabLst>
                <a:tab pos="2628900" algn="ctr"/>
              </a:tabLst>
              <a:defRPr>
                <a:solidFill>
                  <a:schemeClr val="tx1"/>
                </a:solidFill>
                <a:latin typeface="Arial" panose="020B0604020202020204" pitchFamily="34" charset="0"/>
              </a:defRPr>
            </a:lvl2pPr>
            <a:lvl3pPr>
              <a:tabLst>
                <a:tab pos="2628900" algn="ctr"/>
              </a:tabLst>
              <a:defRPr>
                <a:solidFill>
                  <a:schemeClr val="tx1"/>
                </a:solidFill>
                <a:latin typeface="Arial" panose="020B0604020202020204" pitchFamily="34" charset="0"/>
              </a:defRPr>
            </a:lvl3pPr>
            <a:lvl4pPr>
              <a:tabLst>
                <a:tab pos="2628900" algn="ctr"/>
              </a:tabLst>
              <a:defRPr>
                <a:solidFill>
                  <a:schemeClr val="tx1"/>
                </a:solidFill>
                <a:latin typeface="Arial" panose="020B0604020202020204" pitchFamily="34" charset="0"/>
              </a:defRPr>
            </a:lvl4pPr>
            <a:lvl5pPr>
              <a:tabLst>
                <a:tab pos="2628900" algn="ctr"/>
              </a:tabLst>
              <a:defRPr>
                <a:solidFill>
                  <a:schemeClr val="tx1"/>
                </a:solidFill>
                <a:latin typeface="Arial" panose="020B0604020202020204" pitchFamily="34" charset="0"/>
              </a:defRPr>
            </a:lvl5pPr>
            <a:lvl6pPr>
              <a:tabLst>
                <a:tab pos="2628900" algn="ctr"/>
              </a:tabLst>
              <a:defRPr>
                <a:solidFill>
                  <a:schemeClr val="tx1"/>
                </a:solidFill>
                <a:latin typeface="Arial" panose="020B0604020202020204" pitchFamily="34" charset="0"/>
              </a:defRPr>
            </a:lvl6pPr>
            <a:lvl7pPr>
              <a:tabLst>
                <a:tab pos="2628900" algn="ctr"/>
              </a:tabLst>
              <a:defRPr>
                <a:solidFill>
                  <a:schemeClr val="tx1"/>
                </a:solidFill>
                <a:latin typeface="Arial" panose="020B0604020202020204" pitchFamily="34" charset="0"/>
              </a:defRPr>
            </a:lvl7pPr>
            <a:lvl8pPr>
              <a:tabLst>
                <a:tab pos="2628900" algn="ctr"/>
              </a:tabLst>
              <a:defRPr>
                <a:solidFill>
                  <a:schemeClr val="tx1"/>
                </a:solidFill>
                <a:latin typeface="Arial" panose="020B0604020202020204" pitchFamily="34" charset="0"/>
              </a:defRPr>
            </a:lvl8pPr>
            <a:lvl9pPr>
              <a:tabLst>
                <a:tab pos="2628900" algn="ctr"/>
              </a:tabLs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zh-CN" altLang="zh-CN"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解：由图</a:t>
            </a:r>
            <a:r>
              <a:rPr kumimoji="0" lang="en-US" altLang="zh-CN"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10.14</a:t>
            </a:r>
            <a:r>
              <a:rPr kumimoji="0" lang="zh-CN"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的波形可以看出</a:t>
            </a:r>
            <a:r>
              <a:rPr kumimoji="0" lang="en-US" altLang="zh-CN" sz="16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a~d</a:t>
            </a:r>
            <a:r>
              <a:rPr kumimoji="0" lang="zh-CN"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为</a:t>
            </a:r>
            <a:r>
              <a:rPr kumimoji="0" lang="en-US" altLang="zh-CN"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4</a:t>
            </a:r>
            <a:r>
              <a:rPr kumimoji="0" lang="zh-CN"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个输入，</a:t>
            </a:r>
            <a:r>
              <a:rPr kumimoji="0" lang="en-US" altLang="zh-CN"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q</a:t>
            </a:r>
            <a:r>
              <a:rPr kumimoji="0" lang="zh-CN"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为输出，输入的改变会在一个小的时延之后引起</a:t>
            </a:r>
            <a:r>
              <a:rPr kumimoji="0" lang="en-US" altLang="zh-CN"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q</a:t>
            </a:r>
            <a:r>
              <a:rPr kumimoji="0" lang="zh-CN"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值的改变，说明产生这一波形的模块是一个组合电路。</a:t>
            </a:r>
            <a:endParaRPr kumimoji="0" lang="zh-CN" altLang="en-US" sz="1600" b="0" i="0" u="none" strike="noStrike" cap="none" normalizeH="0" baseline="0" dirty="0" smtClean="0">
              <a:ln>
                <a:noFill/>
              </a:ln>
              <a:solidFill>
                <a:schemeClr val="tx1"/>
              </a:solidFill>
              <a:effectLst/>
            </a:endParaRPr>
          </a:p>
          <a:p>
            <a:r>
              <a:rPr kumimoji="0" lang="zh-CN"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查看电路典型值的对应关系和图形中的输入输出关系，完成真值表相应内容，</a:t>
            </a:r>
            <a:r>
              <a:rPr kumimoji="0" lang="zh-CN" altLang="en-US" sz="16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化简</a:t>
            </a:r>
            <a:r>
              <a:rPr kumimoji="0" lang="zh-CN"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函数，可得出该电路表示为</a:t>
            </a:r>
            <a:r>
              <a:rPr lang="zh-CN" altLang="zh-CN" sz="1200" dirty="0" smtClean="0">
                <a:latin typeface="Times New Roman" panose="02020603050405020304" pitchFamily="18" charset="0"/>
                <a:cs typeface="Times New Roman" panose="02020603050405020304" pitchFamily="18" charset="0"/>
              </a:rPr>
              <a:t>，</a:t>
            </a:r>
            <a:r>
              <a:rPr lang="en-US" altLang="zh-CN" sz="1200" dirty="0" smtClean="0">
                <a:latin typeface="Times New Roman" panose="02020603050405020304" pitchFamily="18" charset="0"/>
                <a:cs typeface="Times New Roman" panose="02020603050405020304" pitchFamily="18" charset="0"/>
              </a:rPr>
              <a:t>                                                   </a:t>
            </a:r>
            <a:r>
              <a:rPr lang="zh-CN" altLang="zh-CN" sz="1600" dirty="0" smtClean="0">
                <a:latin typeface="Times New Roman" panose="02020603050405020304" pitchFamily="18" charset="0"/>
                <a:cs typeface="Times New Roman" panose="02020603050405020304" pitchFamily="18" charset="0"/>
              </a:rPr>
              <a:t>用</a:t>
            </a:r>
            <a:r>
              <a:rPr lang="en-US" altLang="zh-CN" sz="1600" dirty="0">
                <a:latin typeface="Times New Roman" panose="02020603050405020304" pitchFamily="18" charset="0"/>
                <a:cs typeface="Times New Roman" panose="02020603050405020304" pitchFamily="18" charset="0"/>
              </a:rPr>
              <a:t>assign</a:t>
            </a:r>
            <a:r>
              <a:rPr lang="zh-CN" altLang="en-US" sz="1600" dirty="0">
                <a:latin typeface="Times New Roman" panose="02020603050405020304" pitchFamily="18" charset="0"/>
                <a:cs typeface="Times New Roman" panose="02020603050405020304" pitchFamily="18" charset="0"/>
              </a:rPr>
              <a:t>写出逻辑关系，参考代码如下：</a:t>
            </a:r>
            <a:endParaRPr lang="zh-CN" altLang="en-US" sz="1600" dirty="0"/>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endParaRPr kumimoji="0" lang="zh-CN" altLang="en-US" sz="1600" b="0" i="0" u="none" strike="noStrike" cap="none" normalizeH="0" baseline="0" dirty="0" smtClean="0">
              <a:ln>
                <a:noFill/>
              </a:ln>
              <a:solidFill>
                <a:schemeClr val="tx1"/>
              </a:solidFill>
              <a:effectLst/>
            </a:endParaRPr>
          </a:p>
        </p:txBody>
      </p:sp>
      <p:graphicFrame>
        <p:nvGraphicFramePr>
          <p:cNvPr id="11" name="对象 10"/>
          <p:cNvGraphicFramePr>
            <a:graphicFrameLocks noChangeAspect="1"/>
          </p:cNvGraphicFramePr>
          <p:nvPr/>
        </p:nvGraphicFramePr>
        <p:xfrm>
          <a:off x="1669886" y="4363794"/>
          <a:ext cx="1401951" cy="304772"/>
        </p:xfrm>
        <a:graphic>
          <a:graphicData uri="http://schemas.openxmlformats.org/presentationml/2006/ole">
            <mc:AlternateContent xmlns:mc="http://schemas.openxmlformats.org/markup-compatibility/2006">
              <mc:Choice xmlns:v="urn:schemas-microsoft-com:vml" Requires="v">
                <p:oleObj spid="_x0000_s10272" name="公式" r:id="rId2" imgW="1066800" imgH="241300" progId="Equation.3">
                  <p:embed/>
                </p:oleObj>
              </mc:Choice>
              <mc:Fallback>
                <p:oleObj name="公式" r:id="rId2" imgW="1066800" imgH="2413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886" y="4363794"/>
                        <a:ext cx="1401951" cy="304772"/>
                      </a:xfrm>
                      <a:prstGeom prst="rect">
                        <a:avLst/>
                      </a:prstGeom>
                      <a:noFill/>
                    </p:spPr>
                  </p:pic>
                </p:oleObj>
              </mc:Fallback>
            </mc:AlternateContent>
          </a:graphicData>
        </a:graphic>
      </p:graphicFrame>
      <p:sp>
        <p:nvSpPr>
          <p:cNvPr id="12" name="Rectangle 6"/>
          <p:cNvSpPr>
            <a:spLocks noChangeArrowheads="1"/>
          </p:cNvSpPr>
          <p:nvPr/>
        </p:nvSpPr>
        <p:spPr bwMode="auto">
          <a:xfrm>
            <a:off x="442128" y="4716640"/>
            <a:ext cx="233589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66700">
              <a:tabLst>
                <a:tab pos="2628900" algn="ctr"/>
              </a:tabLst>
              <a:defRPr>
                <a:solidFill>
                  <a:schemeClr val="tx1"/>
                </a:solidFill>
                <a:latin typeface="Arial" panose="020B0604020202020204" pitchFamily="34" charset="0"/>
              </a:defRPr>
            </a:lvl1pPr>
            <a:lvl2pPr>
              <a:tabLst>
                <a:tab pos="2628900" algn="ctr"/>
              </a:tabLst>
              <a:defRPr>
                <a:solidFill>
                  <a:schemeClr val="tx1"/>
                </a:solidFill>
                <a:latin typeface="Arial" panose="020B0604020202020204" pitchFamily="34" charset="0"/>
              </a:defRPr>
            </a:lvl2pPr>
            <a:lvl3pPr>
              <a:tabLst>
                <a:tab pos="2628900" algn="ctr"/>
              </a:tabLst>
              <a:defRPr>
                <a:solidFill>
                  <a:schemeClr val="tx1"/>
                </a:solidFill>
                <a:latin typeface="Arial" panose="020B0604020202020204" pitchFamily="34" charset="0"/>
              </a:defRPr>
            </a:lvl3pPr>
            <a:lvl4pPr>
              <a:tabLst>
                <a:tab pos="2628900" algn="ctr"/>
              </a:tabLst>
              <a:defRPr>
                <a:solidFill>
                  <a:schemeClr val="tx1"/>
                </a:solidFill>
                <a:latin typeface="Arial" panose="020B0604020202020204" pitchFamily="34" charset="0"/>
              </a:defRPr>
            </a:lvl4pPr>
            <a:lvl5pPr>
              <a:tabLst>
                <a:tab pos="2628900" algn="ctr"/>
              </a:tabLst>
              <a:defRPr>
                <a:solidFill>
                  <a:schemeClr val="tx1"/>
                </a:solidFill>
                <a:latin typeface="Arial" panose="020B0604020202020204" pitchFamily="34" charset="0"/>
              </a:defRPr>
            </a:lvl5pPr>
            <a:lvl6pPr>
              <a:tabLst>
                <a:tab pos="2628900" algn="ctr"/>
              </a:tabLst>
              <a:defRPr>
                <a:solidFill>
                  <a:schemeClr val="tx1"/>
                </a:solidFill>
                <a:latin typeface="Arial" panose="020B0604020202020204" pitchFamily="34" charset="0"/>
              </a:defRPr>
            </a:lvl6pPr>
            <a:lvl7pPr>
              <a:tabLst>
                <a:tab pos="2628900" algn="ctr"/>
              </a:tabLst>
              <a:defRPr>
                <a:solidFill>
                  <a:schemeClr val="tx1"/>
                </a:solidFill>
                <a:latin typeface="Arial" panose="020B0604020202020204" pitchFamily="34" charset="0"/>
              </a:defRPr>
            </a:lvl7pPr>
            <a:lvl8pPr>
              <a:tabLst>
                <a:tab pos="2628900" algn="ctr"/>
              </a:tabLst>
              <a:defRPr>
                <a:solidFill>
                  <a:schemeClr val="tx1"/>
                </a:solidFill>
                <a:latin typeface="Arial" panose="020B0604020202020204" pitchFamily="34" charset="0"/>
              </a:defRPr>
            </a:lvl8pPr>
            <a:lvl9pPr>
              <a:tabLst>
                <a:tab pos="2628900" algn="ctr"/>
              </a:tabLs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module </a:t>
            </a:r>
            <a:r>
              <a:rPr kumimoji="0" lang="en-US" altLang="zh-CN" sz="14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top_module</a:t>
            </a: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zh-CN" sz="1400" b="0" i="1"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zh-CN"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input a,</a:t>
            </a:r>
            <a:endParaRPr kumimoji="0" lang="en-US" altLang="zh-CN"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input b,</a:t>
            </a:r>
            <a:endParaRPr kumimoji="0" lang="en-US" altLang="zh-CN"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input c,</a:t>
            </a:r>
            <a:endParaRPr kumimoji="0" lang="en-US" altLang="zh-CN"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input d,</a:t>
            </a:r>
            <a:endParaRPr kumimoji="0" lang="en-US" altLang="zh-CN"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output q </a:t>
            </a:r>
            <a:r>
              <a:rPr kumimoji="0" lang="en-US" altLang="zh-CN" sz="1400" b="0" i="1"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a:t>
            </a: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altLang="zh-CN"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assign q = ~(</a:t>
            </a:r>
            <a:r>
              <a:rPr kumimoji="0" lang="en-US" altLang="zh-CN" sz="14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a^b^c^d</a:t>
            </a:r>
            <a:r>
              <a:rPr kumimoji="0" lang="en-US" altLang="zh-CN"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zh-CN"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tab pos="2628900" algn="ctr"/>
              </a:tabLst>
            </a:pPr>
            <a:r>
              <a:rPr kumimoji="0" lang="en-US" altLang="zh-CN" sz="14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endmodule</a:t>
            </a:r>
            <a:endParaRPr kumimoji="0" lang="en-US" altLang="zh-CN" sz="1400" b="0" i="0" u="none" strike="noStrike" cap="none" normalizeH="0" baseline="0" dirty="0" smtClean="0">
              <a:ln>
                <a:noFill/>
              </a:ln>
              <a:solidFill>
                <a:schemeClr val="tx1"/>
              </a:solidFill>
              <a:effectLst/>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90500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9】</a:t>
            </a:r>
            <a:r>
              <a:rPr lang="zh-CN" altLang="en-US" sz="1800" dirty="0"/>
              <a:t>测试文件练习：编写一个</a:t>
            </a:r>
            <a:r>
              <a:rPr lang="en-US" altLang="zh-CN" sz="1800" dirty="0" err="1"/>
              <a:t>testbench</a:t>
            </a:r>
            <a:r>
              <a:rPr lang="zh-CN" altLang="en-US" sz="1800" dirty="0"/>
              <a:t>，创建电路模块</a:t>
            </a:r>
            <a:r>
              <a:rPr lang="en-US" altLang="zh-CN" sz="1800" dirty="0" err="1"/>
              <a:t>dut</a:t>
            </a:r>
            <a:r>
              <a:rPr lang="zh-CN" altLang="en-US" sz="1800" dirty="0"/>
              <a:t>，并创建一个时钟信号来驱动该模块的</a:t>
            </a:r>
            <a:r>
              <a:rPr lang="en-US" altLang="zh-CN" sz="1800" dirty="0" err="1"/>
              <a:t>clk</a:t>
            </a:r>
            <a:r>
              <a:rPr lang="zh-CN" altLang="en-US" sz="1800" dirty="0"/>
              <a:t>输入，时钟周期为</a:t>
            </a:r>
            <a:r>
              <a:rPr lang="en-US" altLang="zh-CN" sz="1800" dirty="0"/>
              <a:t>10ps</a:t>
            </a:r>
            <a:r>
              <a:rPr lang="zh-CN" altLang="en-US" sz="1800" dirty="0"/>
              <a:t>。时钟高低电平占比相等。</a:t>
            </a:r>
            <a:r>
              <a:rPr lang="en-US" altLang="zh-CN" sz="1800" dirty="0"/>
              <a:t>0</a:t>
            </a:r>
            <a:r>
              <a:rPr lang="zh-CN" altLang="en-US" sz="1800" dirty="0"/>
              <a:t>时刻的时钟初始化为</a:t>
            </a:r>
            <a:r>
              <a:rPr lang="en-US" altLang="zh-CN" sz="1800" dirty="0"/>
              <a:t>0</a:t>
            </a:r>
            <a:r>
              <a:rPr lang="zh-CN" altLang="en-US" sz="1800" dirty="0"/>
              <a:t>，第一次转换为</a:t>
            </a:r>
            <a:r>
              <a:rPr lang="en-US" altLang="zh-CN" sz="1800" dirty="0"/>
              <a:t>0-&gt;1</a:t>
            </a:r>
            <a:r>
              <a:rPr lang="zh-CN" altLang="en-US" sz="1800" dirty="0"/>
              <a:t>。时钟周期循环见图</a:t>
            </a:r>
            <a:endParaRPr lang="zh-CN" altLang="en-US" sz="1800" dirty="0"/>
          </a:p>
          <a:p>
            <a:endParaRPr lang="zh-CN" altLang="en-US" sz="2400" dirty="0"/>
          </a:p>
        </p:txBody>
      </p:sp>
      <p:pic>
        <p:nvPicPr>
          <p:cNvPr id="8" name="图片 7" descr="1571196654376041402.png"/>
          <p:cNvPicPr/>
          <p:nvPr/>
        </p:nvPicPr>
        <p:blipFill>
          <a:blip r:embed="rId1" cstate="print"/>
          <a:stretch>
            <a:fillRect/>
          </a:stretch>
        </p:blipFill>
        <p:spPr>
          <a:xfrm>
            <a:off x="2207026" y="2675599"/>
            <a:ext cx="4702175" cy="756285"/>
          </a:xfrm>
          <a:prstGeom prst="rect">
            <a:avLst/>
          </a:prstGeom>
          <a:noFill/>
          <a:ln w="9525">
            <a:noFill/>
          </a:ln>
        </p:spPr>
      </p:pic>
      <p:sp>
        <p:nvSpPr>
          <p:cNvPr id="2" name="矩形 1"/>
          <p:cNvSpPr/>
          <p:nvPr/>
        </p:nvSpPr>
        <p:spPr>
          <a:xfrm>
            <a:off x="496387" y="3655250"/>
            <a:ext cx="8125099" cy="3108543"/>
          </a:xfrm>
          <a:prstGeom prst="rect">
            <a:avLst/>
          </a:prstGeom>
        </p:spPr>
        <p:txBody>
          <a:bodyPr wrap="square">
            <a:spAutoFit/>
          </a:bodyPr>
          <a:lstStyle/>
          <a:p>
            <a:pPr indent="266700">
              <a:spcAft>
                <a:spcPts val="0"/>
              </a:spcAft>
            </a:pPr>
            <a:r>
              <a:rPr lang="zh-CN" altLang="zh-CN" sz="1400" kern="100" dirty="0"/>
              <a:t>解：</a:t>
            </a:r>
            <a:r>
              <a:rPr lang="en-US" altLang="zh-CN" sz="1400" kern="100" dirty="0" err="1"/>
              <a:t>testbench</a:t>
            </a:r>
            <a:r>
              <a:rPr lang="zh-CN" altLang="zh-CN" sz="1400" kern="100" dirty="0"/>
              <a:t>首先应包含运行所定义的时间单位，本题练习仅产生时钟，不涉及运算，给出相应的模块接口定义：</a:t>
            </a:r>
            <a:endParaRPr lang="zh-CN" altLang="zh-CN" sz="1400" kern="100" dirty="0"/>
          </a:p>
          <a:p>
            <a:pPr indent="266700">
              <a:spcAft>
                <a:spcPts val="0"/>
              </a:spcAft>
              <a:tabLst>
                <a:tab pos="2628900" algn="ctr"/>
              </a:tabLst>
            </a:pPr>
            <a:r>
              <a:rPr lang="en-US" altLang="zh-CN" sz="1400" i="1" kern="100" dirty="0"/>
              <a:t>module </a:t>
            </a:r>
            <a:r>
              <a:rPr lang="en-US" altLang="zh-CN" sz="1400" i="1" kern="100" dirty="0" err="1"/>
              <a:t>dut</a:t>
            </a:r>
            <a:r>
              <a:rPr lang="en-US" altLang="zh-CN" sz="1400" i="1" kern="100" dirty="0"/>
              <a:t> ( input </a:t>
            </a:r>
            <a:r>
              <a:rPr lang="en-US" altLang="zh-CN" sz="1400" i="1" kern="100" dirty="0" err="1"/>
              <a:t>clk</a:t>
            </a:r>
            <a:r>
              <a:rPr lang="en-US" altLang="zh-CN" sz="1400" i="1" kern="100" dirty="0"/>
              <a:t> ) ;</a:t>
            </a:r>
            <a:endParaRPr lang="zh-CN" altLang="zh-CN" sz="1400" kern="100" dirty="0"/>
          </a:p>
          <a:p>
            <a:pPr indent="266700">
              <a:spcAft>
                <a:spcPts val="0"/>
              </a:spcAft>
            </a:pPr>
            <a:r>
              <a:rPr lang="zh-CN" altLang="zh-CN" sz="1400" kern="100" dirty="0"/>
              <a:t>时钟信号需要每</a:t>
            </a:r>
            <a:r>
              <a:rPr lang="en-US" altLang="zh-CN" sz="1400" kern="100" dirty="0"/>
              <a:t>5</a:t>
            </a:r>
            <a:r>
              <a:rPr lang="zh-CN" altLang="zh-CN" sz="1400" kern="100" dirty="0"/>
              <a:t>个时间单位反转一次，用寄存器类型数据</a:t>
            </a:r>
            <a:r>
              <a:rPr lang="en-US" altLang="zh-CN" sz="1400" kern="100" dirty="0" err="1"/>
              <a:t>clk</a:t>
            </a:r>
            <a:r>
              <a:rPr lang="zh-CN" altLang="zh-CN" sz="1400" kern="100" dirty="0"/>
              <a:t>并且定义参数</a:t>
            </a:r>
            <a:r>
              <a:rPr lang="en-US" altLang="zh-CN" sz="1400" i="1" kern="100" dirty="0"/>
              <a:t>CYCLE</a:t>
            </a:r>
            <a:r>
              <a:rPr lang="zh-CN" altLang="zh-CN" sz="1400" kern="100" dirty="0"/>
              <a:t>为</a:t>
            </a:r>
            <a:r>
              <a:rPr lang="en-US" altLang="zh-CN" sz="1400" kern="100" dirty="0"/>
              <a:t>10</a:t>
            </a:r>
            <a:r>
              <a:rPr lang="zh-CN" altLang="zh-CN" sz="1400" kern="100" dirty="0"/>
              <a:t>，使用</a:t>
            </a:r>
            <a:r>
              <a:rPr lang="en-US" altLang="zh-CN" sz="1400" i="1" kern="100" dirty="0"/>
              <a:t>CYCLE</a:t>
            </a:r>
            <a:r>
              <a:rPr lang="zh-CN" altLang="zh-CN" sz="1400" kern="100" dirty="0"/>
              <a:t>来构成</a:t>
            </a:r>
            <a:r>
              <a:rPr lang="en-US" altLang="zh-CN" sz="1400" kern="100" dirty="0" err="1"/>
              <a:t>dut</a:t>
            </a:r>
            <a:r>
              <a:rPr lang="zh-CN" altLang="zh-CN" sz="1400" kern="100" dirty="0"/>
              <a:t>相应</a:t>
            </a:r>
            <a:r>
              <a:rPr lang="en-US" altLang="zh-CN" sz="1400" kern="100" dirty="0" err="1"/>
              <a:t>clk</a:t>
            </a:r>
            <a:r>
              <a:rPr lang="zh-CN" altLang="zh-CN" sz="1400" kern="100" dirty="0"/>
              <a:t>项。代码为：</a:t>
            </a:r>
            <a:endParaRPr lang="zh-CN" altLang="zh-CN" sz="1400" kern="100" dirty="0"/>
          </a:p>
          <a:p>
            <a:pPr indent="266700">
              <a:spcAft>
                <a:spcPts val="0"/>
              </a:spcAft>
              <a:tabLst>
                <a:tab pos="2628900" algn="ctr"/>
              </a:tabLst>
            </a:pPr>
            <a:r>
              <a:rPr lang="en-US" altLang="zh-CN" sz="1400" kern="100" dirty="0"/>
              <a:t>`t</a:t>
            </a:r>
            <a:r>
              <a:rPr lang="en-US" altLang="zh-CN" sz="1400" i="1" kern="100" dirty="0"/>
              <a:t>imescale 1ps/1ps</a:t>
            </a:r>
            <a:endParaRPr lang="zh-CN" altLang="zh-CN" sz="1400" kern="100" dirty="0"/>
          </a:p>
          <a:p>
            <a:pPr indent="266700">
              <a:spcAft>
                <a:spcPts val="0"/>
              </a:spcAft>
              <a:tabLst>
                <a:tab pos="2628900" algn="ctr"/>
              </a:tabLst>
            </a:pPr>
            <a:r>
              <a:rPr lang="en-US" altLang="zh-CN" sz="1400" i="1" kern="100" dirty="0"/>
              <a:t>module </a:t>
            </a:r>
            <a:r>
              <a:rPr lang="en-US" altLang="zh-CN" sz="1400" i="1" kern="100" dirty="0" err="1"/>
              <a:t>top_module</a:t>
            </a:r>
            <a:r>
              <a:rPr lang="en-US" altLang="zh-CN" sz="1400" i="1" kern="100" dirty="0"/>
              <a:t>();</a:t>
            </a:r>
            <a:endParaRPr lang="zh-CN" altLang="zh-CN" sz="1400" kern="100" dirty="0"/>
          </a:p>
          <a:p>
            <a:pPr indent="266700">
              <a:spcAft>
                <a:spcPts val="0"/>
              </a:spcAft>
              <a:tabLst>
                <a:tab pos="2628900" algn="ctr"/>
              </a:tabLst>
            </a:pPr>
            <a:r>
              <a:rPr lang="en-US" altLang="zh-CN" sz="1400" i="1" kern="100" dirty="0"/>
              <a:t>    </a:t>
            </a:r>
            <a:r>
              <a:rPr lang="en-US" altLang="zh-CN" sz="1400" i="1" kern="100" dirty="0" err="1"/>
              <a:t>reg</a:t>
            </a:r>
            <a:r>
              <a:rPr lang="en-US" altLang="zh-CN" sz="1400" i="1" kern="100" dirty="0"/>
              <a:t> </a:t>
            </a:r>
            <a:r>
              <a:rPr lang="en-US" altLang="zh-CN" sz="1400" i="1" kern="100" dirty="0" err="1"/>
              <a:t>clk</a:t>
            </a:r>
            <a:r>
              <a:rPr lang="en-US" altLang="zh-CN" sz="1400" i="1" kern="100" dirty="0"/>
              <a:t>=0;</a:t>
            </a:r>
            <a:endParaRPr lang="zh-CN" altLang="zh-CN" sz="1400" kern="100" dirty="0"/>
          </a:p>
          <a:p>
            <a:pPr indent="266700">
              <a:spcAft>
                <a:spcPts val="0"/>
              </a:spcAft>
              <a:tabLst>
                <a:tab pos="2628900" algn="ctr"/>
              </a:tabLst>
            </a:pPr>
            <a:r>
              <a:rPr lang="en-US" altLang="zh-CN" sz="1400" i="1" kern="100" dirty="0"/>
              <a:t>    parameter CYCLE = 10;</a:t>
            </a:r>
            <a:endParaRPr lang="zh-CN" altLang="zh-CN" sz="1400" kern="100" dirty="0"/>
          </a:p>
          <a:p>
            <a:pPr indent="266700">
              <a:spcAft>
                <a:spcPts val="0"/>
              </a:spcAft>
              <a:tabLst>
                <a:tab pos="2628900" algn="ctr"/>
              </a:tabLst>
            </a:pPr>
            <a:r>
              <a:rPr lang="en-US" altLang="zh-CN" sz="1400" i="1" kern="100" dirty="0"/>
              <a:t>    always #(CYCLE/2) begin</a:t>
            </a:r>
            <a:endParaRPr lang="zh-CN" altLang="zh-CN" sz="1400" kern="100" dirty="0"/>
          </a:p>
          <a:p>
            <a:pPr indent="266700">
              <a:spcAft>
                <a:spcPts val="0"/>
              </a:spcAft>
              <a:tabLst>
                <a:tab pos="2628900" algn="ctr"/>
              </a:tabLst>
            </a:pPr>
            <a:r>
              <a:rPr lang="en-US" altLang="zh-CN" sz="1400" i="1" kern="100" dirty="0"/>
              <a:t>        </a:t>
            </a:r>
            <a:r>
              <a:rPr lang="en-US" altLang="zh-CN" sz="1400" i="1" kern="100" dirty="0" err="1"/>
              <a:t>clk</a:t>
            </a:r>
            <a:r>
              <a:rPr lang="en-US" altLang="zh-CN" sz="1400" i="1" kern="100" dirty="0"/>
              <a:t> = ~</a:t>
            </a:r>
            <a:r>
              <a:rPr lang="en-US" altLang="zh-CN" sz="1400" i="1" kern="100" dirty="0" err="1"/>
              <a:t>clk</a:t>
            </a:r>
            <a:r>
              <a:rPr lang="en-US" altLang="zh-CN" sz="1400" i="1" kern="100" dirty="0"/>
              <a:t>;</a:t>
            </a:r>
            <a:endParaRPr lang="zh-CN" altLang="zh-CN" sz="1400" kern="100" dirty="0"/>
          </a:p>
          <a:p>
            <a:pPr indent="266700">
              <a:spcAft>
                <a:spcPts val="0"/>
              </a:spcAft>
              <a:tabLst>
                <a:tab pos="2628900" algn="ctr"/>
              </a:tabLst>
            </a:pPr>
            <a:r>
              <a:rPr lang="en-US" altLang="zh-CN" sz="1400" i="1" kern="100" dirty="0"/>
              <a:t>    end</a:t>
            </a:r>
            <a:endParaRPr lang="zh-CN" altLang="zh-CN" sz="1400" kern="100" dirty="0"/>
          </a:p>
          <a:p>
            <a:pPr indent="266700">
              <a:spcAft>
                <a:spcPts val="0"/>
              </a:spcAft>
              <a:tabLst>
                <a:tab pos="2628900" algn="ctr"/>
              </a:tabLst>
            </a:pPr>
            <a:r>
              <a:rPr lang="en-US" altLang="zh-CN" sz="1400" i="1" kern="100" dirty="0"/>
              <a:t>    </a:t>
            </a:r>
            <a:r>
              <a:rPr lang="en-US" altLang="zh-CN" sz="1400" i="1" kern="100" dirty="0" err="1"/>
              <a:t>dut</a:t>
            </a:r>
            <a:r>
              <a:rPr lang="en-US" altLang="zh-CN" sz="1400" i="1" kern="100" dirty="0"/>
              <a:t> ins (</a:t>
            </a:r>
            <a:r>
              <a:rPr lang="en-US" altLang="zh-CN" sz="1400" i="1" kern="100" dirty="0" err="1"/>
              <a:t>clk</a:t>
            </a:r>
            <a:r>
              <a:rPr lang="en-US" altLang="zh-CN" sz="1400" i="1" kern="100" dirty="0"/>
              <a:t>);</a:t>
            </a:r>
            <a:endParaRPr lang="zh-CN" altLang="zh-CN" sz="1400" kern="100" dirty="0"/>
          </a:p>
          <a:p>
            <a:pPr indent="266700">
              <a:spcAft>
                <a:spcPts val="0"/>
              </a:spcAft>
              <a:tabLst>
                <a:tab pos="2628900" algn="ctr"/>
              </a:tabLst>
            </a:pPr>
            <a:r>
              <a:rPr lang="en-US" altLang="zh-CN" sz="1400" i="1" kern="100" dirty="0" err="1"/>
              <a:t>endmodule</a:t>
            </a:r>
            <a:endParaRPr lang="zh-CN" altLang="zh-CN" sz="1400"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578485" y="1289685"/>
            <a:ext cx="7855585" cy="135128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10】</a:t>
            </a:r>
            <a:r>
              <a:rPr lang="zh-CN" altLang="en-US" sz="2400" dirty="0"/>
              <a:t>测试文件练习：编写一个实例化与门的</a:t>
            </a:r>
            <a:r>
              <a:rPr lang="en-US" altLang="zh-CN" sz="2400" dirty="0" err="1"/>
              <a:t>testbench</a:t>
            </a:r>
            <a:r>
              <a:rPr lang="zh-CN" altLang="en-US" sz="2400" dirty="0"/>
              <a:t>，通过生成如</a:t>
            </a:r>
            <a:r>
              <a:rPr lang="zh-CN" altLang="en-US" sz="2400" dirty="0" smtClean="0"/>
              <a:t>图所</a:t>
            </a:r>
            <a:r>
              <a:rPr lang="zh-CN" altLang="en-US" sz="2400" dirty="0"/>
              <a:t>示的时序图来测试</a:t>
            </a:r>
            <a:r>
              <a:rPr lang="en-US" altLang="zh-CN" sz="2400" dirty="0"/>
              <a:t>4</a:t>
            </a:r>
            <a:r>
              <a:rPr lang="zh-CN" altLang="en-US" sz="2400" dirty="0"/>
              <a:t>个输入组合。</a:t>
            </a:r>
            <a:endParaRPr lang="zh-CN" altLang="en-US" sz="2400" dirty="0"/>
          </a:p>
        </p:txBody>
      </p:sp>
      <p:pic>
        <p:nvPicPr>
          <p:cNvPr id="6" name="图片 5" descr="1571196795791079034.png"/>
          <p:cNvPicPr/>
          <p:nvPr/>
        </p:nvPicPr>
        <p:blipFill>
          <a:blip r:embed="rId1" cstate="print"/>
          <a:srcRect t="2817"/>
          <a:stretch>
            <a:fillRect/>
          </a:stretch>
        </p:blipFill>
        <p:spPr>
          <a:xfrm>
            <a:off x="2586355" y="3042920"/>
            <a:ext cx="3574415" cy="168910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96387" y="928560"/>
            <a:ext cx="8125099" cy="5631180"/>
          </a:xfrm>
          <a:prstGeom prst="rect">
            <a:avLst/>
          </a:prstGeom>
        </p:spPr>
        <p:txBody>
          <a:bodyPr wrap="square">
            <a:spAutoFit/>
          </a:bodyPr>
          <a:p>
            <a:r>
              <a:rPr lang="zh-CN" altLang="zh-CN" sz="2000" dirty="0"/>
              <a:t>解：</a:t>
            </a:r>
            <a:r>
              <a:rPr lang="en-US" altLang="zh-CN" sz="2000" dirty="0" err="1"/>
              <a:t>testbench</a:t>
            </a:r>
            <a:r>
              <a:rPr lang="zh-CN" altLang="zh-CN" sz="2000" dirty="0"/>
              <a:t>用于产生信号来对模块进行信号测试，所以生成典型信号是</a:t>
            </a:r>
            <a:r>
              <a:rPr lang="en-US" altLang="zh-CN" sz="2000" dirty="0" err="1"/>
              <a:t>testbench</a:t>
            </a:r>
            <a:r>
              <a:rPr lang="zh-CN" altLang="zh-CN" sz="2000" dirty="0"/>
              <a:t>中的一个重要环节。信号的产生可以直接用枚举法列出不同时刻产生的信号，并连接到相应模块的输入部分。类似地，若需要连续产生，则用</a:t>
            </a:r>
            <a:r>
              <a:rPr lang="en-US" altLang="zh-CN" sz="2000" dirty="0"/>
              <a:t>always</a:t>
            </a:r>
            <a:r>
              <a:rPr lang="zh-CN" altLang="zh-CN" sz="2000" dirty="0"/>
              <a:t>来循环这一循环节，就能产生连续的循环信号。本题采用</a:t>
            </a:r>
            <a:r>
              <a:rPr lang="en-US" altLang="zh-CN" sz="2000" dirty="0"/>
              <a:t>initial</a:t>
            </a:r>
            <a:r>
              <a:rPr lang="zh-CN" altLang="zh-CN" sz="2000" dirty="0"/>
              <a:t>练习和</a:t>
            </a:r>
            <a:r>
              <a:rPr lang="en-US" altLang="zh-CN" sz="2000" dirty="0"/>
              <a:t>always</a:t>
            </a:r>
            <a:r>
              <a:rPr lang="zh-CN" altLang="zh-CN" sz="2000" dirty="0"/>
              <a:t>的不同效果，代码为：</a:t>
            </a:r>
            <a:endParaRPr lang="zh-CN" altLang="zh-CN" sz="2000" dirty="0"/>
          </a:p>
          <a:p>
            <a:r>
              <a:rPr lang="en-US" altLang="zh-CN" sz="2000" i="1" dirty="0"/>
              <a:t>`timescale 1ps/1ps</a:t>
            </a:r>
            <a:endParaRPr lang="zh-CN" altLang="zh-CN" sz="2000" dirty="0"/>
          </a:p>
          <a:p>
            <a:r>
              <a:rPr lang="en-US" altLang="zh-CN" sz="2000" i="1" dirty="0"/>
              <a:t>module </a:t>
            </a:r>
            <a:r>
              <a:rPr lang="en-US" altLang="zh-CN" sz="2000" i="1" dirty="0" err="1"/>
              <a:t>top_module</a:t>
            </a:r>
            <a:r>
              <a:rPr lang="en-US" altLang="zh-CN" sz="2000" i="1" dirty="0"/>
              <a:t>();</a:t>
            </a:r>
            <a:endParaRPr lang="zh-CN" altLang="zh-CN" sz="2000" dirty="0"/>
          </a:p>
          <a:p>
            <a:r>
              <a:rPr lang="en-US" altLang="zh-CN" sz="2000" i="1" dirty="0"/>
              <a:t>    </a:t>
            </a:r>
            <a:r>
              <a:rPr lang="en-US" altLang="zh-CN" sz="2000" i="1" dirty="0" err="1"/>
              <a:t>reg</a:t>
            </a:r>
            <a:r>
              <a:rPr lang="en-US" altLang="zh-CN" sz="2000" i="1" dirty="0"/>
              <a:t> </a:t>
            </a:r>
            <a:r>
              <a:rPr lang="en-US" altLang="zh-CN" sz="2000" i="1" dirty="0" err="1"/>
              <a:t>x,y</a:t>
            </a:r>
            <a:r>
              <a:rPr lang="en-US" altLang="zh-CN" sz="2000" i="1" dirty="0"/>
              <a:t>;</a:t>
            </a:r>
            <a:endParaRPr lang="zh-CN" altLang="zh-CN" sz="2000" dirty="0"/>
          </a:p>
          <a:p>
            <a:r>
              <a:rPr lang="en-US" altLang="zh-CN" sz="2000" i="1" dirty="0"/>
              <a:t>    wire out;</a:t>
            </a:r>
            <a:endParaRPr lang="zh-CN" altLang="zh-CN" sz="2000" dirty="0"/>
          </a:p>
          <a:p>
            <a:r>
              <a:rPr lang="en-US" altLang="zh-CN" sz="2000" i="1" dirty="0"/>
              <a:t>    initial begin</a:t>
            </a:r>
            <a:endParaRPr lang="zh-CN" altLang="zh-CN" sz="2000" dirty="0"/>
          </a:p>
          <a:p>
            <a:r>
              <a:rPr lang="en-US" altLang="zh-CN" sz="2000" i="1" dirty="0"/>
              <a:t>       #0   x=0;y=0;</a:t>
            </a:r>
            <a:endParaRPr lang="zh-CN" altLang="zh-CN" sz="2000" dirty="0"/>
          </a:p>
          <a:p>
            <a:r>
              <a:rPr lang="en-US" altLang="zh-CN" sz="2000" i="1" dirty="0"/>
              <a:t>       #10  x=0;y=1;</a:t>
            </a:r>
            <a:endParaRPr lang="zh-CN" altLang="zh-CN" sz="2000" dirty="0"/>
          </a:p>
          <a:p>
            <a:r>
              <a:rPr lang="en-US" altLang="zh-CN" sz="2000" i="1" dirty="0"/>
              <a:t>       #10  x=1;y=0;</a:t>
            </a:r>
            <a:endParaRPr lang="zh-CN" altLang="zh-CN" sz="2000" dirty="0"/>
          </a:p>
          <a:p>
            <a:r>
              <a:rPr lang="en-US" altLang="zh-CN" sz="2000" i="1" dirty="0"/>
              <a:t>       #10  x=1;y=1;</a:t>
            </a:r>
            <a:endParaRPr lang="zh-CN" altLang="zh-CN" sz="2000" dirty="0"/>
          </a:p>
          <a:p>
            <a:r>
              <a:rPr lang="en-US" altLang="zh-CN" sz="2000" i="1" dirty="0"/>
              <a:t>end</a:t>
            </a:r>
            <a:endParaRPr lang="zh-CN" altLang="zh-CN" sz="2000" dirty="0"/>
          </a:p>
          <a:p>
            <a:r>
              <a:rPr lang="en-US" altLang="zh-CN" sz="2000" i="1" dirty="0"/>
              <a:t>   </a:t>
            </a:r>
            <a:r>
              <a:rPr lang="en-US" altLang="zh-CN" sz="2000" i="1" dirty="0" err="1"/>
              <a:t>andgate</a:t>
            </a:r>
            <a:r>
              <a:rPr lang="en-US" altLang="zh-CN" sz="2000" i="1" dirty="0"/>
              <a:t> a({</a:t>
            </a:r>
            <a:r>
              <a:rPr lang="en-US" altLang="zh-CN" sz="2000" i="1" dirty="0" err="1"/>
              <a:t>x,y</a:t>
            </a:r>
            <a:r>
              <a:rPr lang="en-US" altLang="zh-CN" sz="2000" i="1" dirty="0"/>
              <a:t>},out);</a:t>
            </a:r>
            <a:endParaRPr lang="zh-CN" altLang="zh-CN" sz="2000" dirty="0"/>
          </a:p>
          <a:p>
            <a:r>
              <a:rPr lang="en-US" altLang="zh-CN" sz="2000" i="1" dirty="0" err="1"/>
              <a:t>endmodule</a:t>
            </a:r>
            <a:endParaRPr lang="zh-CN" altLang="zh-CN" sz="2000" dirty="0"/>
          </a:p>
          <a:p>
            <a:pPr indent="266700">
              <a:spcAft>
                <a:spcPts val="0"/>
              </a:spcAft>
            </a:pPr>
            <a:endParaRPr lang="zh-CN" altLang="zh-CN" sz="2000" kern="100" dirty="0"/>
          </a:p>
        </p:txBody>
      </p:sp>
    </p:spTree>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98171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11】</a:t>
            </a:r>
            <a:r>
              <a:rPr lang="zh-CN" altLang="en-US" sz="1800" dirty="0"/>
              <a:t>简单电路组合练习：实现如</a:t>
            </a:r>
            <a:r>
              <a:rPr lang="zh-CN" altLang="en-US" sz="1800" dirty="0" smtClean="0"/>
              <a:t>图所</a:t>
            </a:r>
            <a:r>
              <a:rPr lang="zh-CN" altLang="en-US" sz="1800" dirty="0"/>
              <a:t>示的简单组合电路。。</a:t>
            </a:r>
            <a:endParaRPr lang="zh-CN" altLang="en-US" sz="2400" dirty="0"/>
          </a:p>
        </p:txBody>
      </p:sp>
      <p:sp>
        <p:nvSpPr>
          <p:cNvPr id="2" name="矩形 1"/>
          <p:cNvSpPr/>
          <p:nvPr/>
        </p:nvSpPr>
        <p:spPr>
          <a:xfrm>
            <a:off x="602998" y="2257524"/>
            <a:ext cx="4729579" cy="3970318"/>
          </a:xfrm>
          <a:prstGeom prst="rect">
            <a:avLst/>
          </a:prstGeom>
        </p:spPr>
        <p:txBody>
          <a:bodyPr wrap="square">
            <a:spAutoFit/>
          </a:bodyPr>
          <a:lstStyle/>
          <a:p>
            <a:r>
              <a:rPr lang="zh-CN" altLang="zh-CN" sz="1400" dirty="0"/>
              <a:t>解：图中没有对</a:t>
            </a:r>
            <a:r>
              <a:rPr lang="en-US" altLang="zh-CN" sz="1400" i="1" dirty="0"/>
              <a:t>A1</a:t>
            </a:r>
            <a:r>
              <a:rPr lang="zh-CN" altLang="zh-CN" sz="1400" i="1" dirty="0"/>
              <a:t>、</a:t>
            </a:r>
            <a:r>
              <a:rPr lang="en-US" altLang="zh-CN" sz="1400" i="1" dirty="0"/>
              <a:t>B1</a:t>
            </a:r>
            <a:r>
              <a:rPr lang="zh-CN" altLang="zh-CN" sz="1400" i="1" dirty="0"/>
              <a:t>、</a:t>
            </a:r>
            <a:r>
              <a:rPr lang="en-US" altLang="zh-CN" sz="1400" i="1" dirty="0"/>
              <a:t>A2</a:t>
            </a:r>
            <a:r>
              <a:rPr lang="zh-CN" altLang="zh-CN" sz="1400" i="1" dirty="0"/>
              <a:t>、</a:t>
            </a:r>
            <a:r>
              <a:rPr lang="en-US" altLang="zh-CN" sz="1400" i="1" dirty="0"/>
              <a:t>B2</a:t>
            </a:r>
            <a:r>
              <a:rPr lang="zh-CN" altLang="zh-CN" sz="1400" dirty="0"/>
              <a:t>的具体模块实现定义，说明本题只关心线路的连接，通过对模块输入输出分析，仿照连线练习，定义</a:t>
            </a:r>
            <a:r>
              <a:rPr lang="en-US" altLang="zh-CN" sz="1400" dirty="0"/>
              <a:t>wire</a:t>
            </a:r>
            <a:r>
              <a:rPr lang="zh-CN" altLang="zh-CN" sz="1400" dirty="0"/>
              <a:t>类型的“线”将多个模块连接组合成新的模块。代码为：</a:t>
            </a:r>
            <a:endParaRPr lang="zh-CN" altLang="zh-CN" sz="1400" dirty="0"/>
          </a:p>
          <a:p>
            <a:r>
              <a:rPr lang="en-US" altLang="zh-CN" sz="1400" i="1" dirty="0"/>
              <a:t>module </a:t>
            </a:r>
            <a:r>
              <a:rPr lang="en-US" altLang="zh-CN" sz="1400" i="1" dirty="0" err="1"/>
              <a:t>top_module</a:t>
            </a:r>
            <a:r>
              <a:rPr lang="en-US" altLang="zh-CN" sz="1400" i="1" dirty="0"/>
              <a:t> (</a:t>
            </a:r>
            <a:endParaRPr lang="zh-CN" altLang="zh-CN" sz="1400" dirty="0"/>
          </a:p>
          <a:p>
            <a:r>
              <a:rPr lang="en-US" altLang="zh-CN" sz="1400" i="1" dirty="0"/>
              <a:t>input x, </a:t>
            </a:r>
            <a:endParaRPr lang="zh-CN" altLang="zh-CN" sz="1400" dirty="0"/>
          </a:p>
          <a:p>
            <a:r>
              <a:rPr lang="en-US" altLang="zh-CN" sz="1400" i="1" dirty="0"/>
              <a:t>input y, </a:t>
            </a:r>
            <a:endParaRPr lang="zh-CN" altLang="zh-CN" sz="1400" dirty="0"/>
          </a:p>
          <a:p>
            <a:r>
              <a:rPr lang="en-US" altLang="zh-CN" sz="1400" i="1" dirty="0"/>
              <a:t>output z);</a:t>
            </a:r>
            <a:endParaRPr lang="zh-CN" altLang="zh-CN" sz="1400" dirty="0"/>
          </a:p>
          <a:p>
            <a:r>
              <a:rPr lang="en-US" altLang="zh-CN" sz="1400" i="1" dirty="0"/>
              <a:t> </a:t>
            </a:r>
            <a:endParaRPr lang="zh-CN" altLang="zh-CN" sz="1400" dirty="0"/>
          </a:p>
          <a:p>
            <a:r>
              <a:rPr lang="en-US" altLang="zh-CN" sz="1400" i="1" dirty="0"/>
              <a:t>    wire z1,z2,z3,z4,out1,out2;//</a:t>
            </a:r>
            <a:r>
              <a:rPr lang="zh-CN" altLang="zh-CN" sz="1400" i="1" dirty="0"/>
              <a:t>定义连线</a:t>
            </a:r>
            <a:endParaRPr lang="zh-CN" altLang="zh-CN" sz="1400" dirty="0"/>
          </a:p>
          <a:p>
            <a:r>
              <a:rPr lang="en-US" altLang="zh-CN" sz="1400" i="1" dirty="0"/>
              <a:t>    A ins1(x,y,z1);//</a:t>
            </a:r>
            <a:r>
              <a:rPr lang="zh-CN" altLang="zh-CN" sz="1400" i="1" dirty="0"/>
              <a:t>输入输出定义</a:t>
            </a:r>
            <a:endParaRPr lang="zh-CN" altLang="zh-CN" sz="1400" dirty="0"/>
          </a:p>
          <a:p>
            <a:r>
              <a:rPr lang="en-US" altLang="zh-CN" sz="1400" i="1" dirty="0"/>
              <a:t>    B ins2(x,y,z2);</a:t>
            </a:r>
            <a:endParaRPr lang="zh-CN" altLang="zh-CN" sz="1400" dirty="0"/>
          </a:p>
          <a:p>
            <a:r>
              <a:rPr lang="en-US" altLang="zh-CN" sz="1400" i="1" dirty="0"/>
              <a:t>    A ins3(x,y,z3);</a:t>
            </a:r>
            <a:endParaRPr lang="zh-CN" altLang="zh-CN" sz="1400" dirty="0"/>
          </a:p>
          <a:p>
            <a:r>
              <a:rPr lang="en-US" altLang="zh-CN" sz="1400" i="1" dirty="0"/>
              <a:t>    B ins4(x,y,z4);</a:t>
            </a:r>
            <a:endParaRPr lang="zh-CN" altLang="zh-CN" sz="1400" dirty="0"/>
          </a:p>
          <a:p>
            <a:r>
              <a:rPr lang="en-US" altLang="zh-CN" sz="1400" i="1" dirty="0"/>
              <a:t>    assign out1 = z1 | z2;</a:t>
            </a:r>
            <a:endParaRPr lang="zh-CN" altLang="zh-CN" sz="1400" dirty="0"/>
          </a:p>
          <a:p>
            <a:r>
              <a:rPr lang="en-US" altLang="zh-CN" sz="1400" i="1" dirty="0"/>
              <a:t>    assign out2 = z3 &amp; z4;</a:t>
            </a:r>
            <a:endParaRPr lang="zh-CN" altLang="zh-CN" sz="1400" dirty="0"/>
          </a:p>
          <a:p>
            <a:r>
              <a:rPr lang="en-US" altLang="zh-CN" sz="1400" i="1" dirty="0"/>
              <a:t>    assign z = out1^out2;</a:t>
            </a:r>
            <a:endParaRPr lang="zh-CN" altLang="zh-CN" sz="1400" dirty="0"/>
          </a:p>
          <a:p>
            <a:r>
              <a:rPr lang="en-US" altLang="zh-CN" sz="1400" i="1" dirty="0" err="1"/>
              <a:t>endmodule</a:t>
            </a:r>
            <a:endParaRPr lang="zh-CN" altLang="zh-CN" sz="1400" dirty="0"/>
          </a:p>
        </p:txBody>
      </p:sp>
      <p:pic>
        <p:nvPicPr>
          <p:cNvPr id="7" name="图片 6" descr="1571196458096030682.png"/>
          <p:cNvPicPr/>
          <p:nvPr/>
        </p:nvPicPr>
        <p:blipFill>
          <a:blip r:embed="rId1" cstate="print"/>
          <a:stretch>
            <a:fillRect/>
          </a:stretch>
        </p:blipFill>
        <p:spPr>
          <a:xfrm>
            <a:off x="5580425" y="2092227"/>
            <a:ext cx="2947035" cy="2417445"/>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25857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12】</a:t>
            </a:r>
            <a:r>
              <a:rPr lang="zh-CN" altLang="en-US" sz="1800" dirty="0"/>
              <a:t>赋值练习：</a:t>
            </a:r>
            <a:r>
              <a:rPr lang="zh-CN" altLang="en-US" sz="1800" dirty="0" smtClean="0"/>
              <a:t>图显示</a:t>
            </a:r>
            <a:r>
              <a:rPr lang="zh-CN" altLang="en-US" sz="1800" dirty="0"/>
              <a:t>在同一模块中用</a:t>
            </a:r>
            <a:r>
              <a:rPr lang="en-US" altLang="zh-CN" sz="1800" dirty="0"/>
              <a:t>assign</a:t>
            </a:r>
            <a:r>
              <a:rPr lang="zh-CN" altLang="en-US" sz="1800" dirty="0"/>
              <a:t>和</a:t>
            </a:r>
            <a:r>
              <a:rPr lang="en-US" altLang="zh-CN" sz="1800" dirty="0" err="1"/>
              <a:t>alwaysblock</a:t>
            </a:r>
            <a:r>
              <a:rPr lang="zh-CN" altLang="en-US" sz="1800" dirty="0"/>
              <a:t>两种赋值方式实现两个信号</a:t>
            </a:r>
            <a:r>
              <a:rPr lang="en-US" altLang="zh-CN" sz="1800" dirty="0" err="1"/>
              <a:t>a.b</a:t>
            </a:r>
            <a:r>
              <a:rPr lang="zh-CN" altLang="en-US" sz="1800" dirty="0"/>
              <a:t>的与合</a:t>
            </a:r>
            <a:r>
              <a:rPr lang="zh-CN" altLang="en-US" sz="1800" dirty="0" smtClean="0"/>
              <a:t>电路。</a:t>
            </a:r>
            <a:endParaRPr lang="zh-CN" altLang="en-US" sz="2400" dirty="0"/>
          </a:p>
        </p:txBody>
      </p:sp>
      <p:sp>
        <p:nvSpPr>
          <p:cNvPr id="2" name="矩形 1"/>
          <p:cNvSpPr/>
          <p:nvPr/>
        </p:nvSpPr>
        <p:spPr>
          <a:xfrm>
            <a:off x="602998" y="2584096"/>
            <a:ext cx="4729579" cy="3970318"/>
          </a:xfrm>
          <a:prstGeom prst="rect">
            <a:avLst/>
          </a:prstGeom>
        </p:spPr>
        <p:txBody>
          <a:bodyPr wrap="square">
            <a:spAutoFit/>
          </a:bodyPr>
          <a:lstStyle/>
          <a:p>
            <a:r>
              <a:rPr lang="zh-CN" altLang="zh-CN" sz="1400" dirty="0"/>
              <a:t>解：如前文所示，同一逻辑可以用不同方法来实现。组合逻辑</a:t>
            </a:r>
            <a:r>
              <a:rPr lang="en-US" altLang="zh-CN" sz="1400" dirty="0"/>
              <a:t>always@(*)</a:t>
            </a:r>
            <a:r>
              <a:rPr lang="zh-CN" altLang="zh-CN" sz="1400" dirty="0"/>
              <a:t>和时序逻辑</a:t>
            </a:r>
            <a:r>
              <a:rPr lang="en-US" altLang="zh-CN" sz="1400" dirty="0"/>
              <a:t>always@(</a:t>
            </a:r>
            <a:r>
              <a:rPr lang="en-US" altLang="zh-CN" sz="1400" dirty="0" err="1"/>
              <a:t>postadge</a:t>
            </a:r>
            <a:r>
              <a:rPr lang="en-US" altLang="zh-CN" sz="1400" dirty="0"/>
              <a:t> </a:t>
            </a:r>
            <a:r>
              <a:rPr lang="en-US" altLang="zh-CN" sz="1400" dirty="0" err="1"/>
              <a:t>clk</a:t>
            </a:r>
            <a:r>
              <a:rPr lang="en-US" altLang="zh-CN" sz="1400" dirty="0"/>
              <a:t>)</a:t>
            </a:r>
            <a:r>
              <a:rPr lang="zh-CN" altLang="zh-CN" sz="1400" dirty="0"/>
              <a:t>是两种常用的赋值方法，</a:t>
            </a:r>
            <a:r>
              <a:rPr lang="en-US" altLang="zh-CN" sz="1400" dirty="0"/>
              <a:t>always @(*)</a:t>
            </a:r>
            <a:r>
              <a:rPr lang="zh-CN" altLang="zh-CN" sz="1400" dirty="0"/>
              <a:t>相当于赋值语句</a:t>
            </a:r>
            <a:r>
              <a:rPr lang="en-US" altLang="zh-CN" sz="1400" dirty="0"/>
              <a:t>assign</a:t>
            </a:r>
            <a:r>
              <a:rPr lang="zh-CN" altLang="zh-CN" sz="1400" dirty="0"/>
              <a:t>，采用何种方式取决于方便程度。</a:t>
            </a:r>
            <a:r>
              <a:rPr lang="en-US" altLang="zh-CN" sz="1400" dirty="0"/>
              <a:t>block</a:t>
            </a:r>
            <a:r>
              <a:rPr lang="zh-CN" altLang="zh-CN" sz="1400" dirty="0"/>
              <a:t>中还能够采用</a:t>
            </a:r>
            <a:r>
              <a:rPr lang="en-US" altLang="zh-CN" sz="1400" dirty="0"/>
              <a:t>if-else</a:t>
            </a:r>
            <a:r>
              <a:rPr lang="zh-CN" altLang="zh-CN" sz="1400" dirty="0"/>
              <a:t>等语句，但是要注意，</a:t>
            </a:r>
            <a:r>
              <a:rPr lang="en-US" altLang="zh-CN" sz="1400" dirty="0"/>
              <a:t>block</a:t>
            </a:r>
            <a:r>
              <a:rPr lang="zh-CN" altLang="zh-CN" sz="1400" dirty="0"/>
              <a:t>中不能包含连续赋值（</a:t>
            </a:r>
            <a:r>
              <a:rPr lang="en-US" altLang="zh-CN" sz="1400" dirty="0"/>
              <a:t>assign</a:t>
            </a:r>
            <a:r>
              <a:rPr lang="zh-CN" altLang="zh-CN" sz="1400" dirty="0"/>
              <a:t>）。</a:t>
            </a:r>
            <a:endParaRPr lang="zh-CN" altLang="zh-CN" sz="1400" dirty="0"/>
          </a:p>
          <a:p>
            <a:r>
              <a:rPr lang="en-US" altLang="zh-CN" sz="1400" dirty="0" err="1"/>
              <a:t>out_assign</a:t>
            </a:r>
            <a:r>
              <a:rPr lang="zh-CN" altLang="zh-CN" sz="1400" dirty="0"/>
              <a:t>赋值类型按照图</a:t>
            </a:r>
            <a:r>
              <a:rPr lang="en-US" altLang="zh-CN" sz="1400" dirty="0"/>
              <a:t>10.18</a:t>
            </a:r>
            <a:r>
              <a:rPr lang="zh-CN" altLang="zh-CN" sz="1400" dirty="0"/>
              <a:t>，要定义为</a:t>
            </a:r>
            <a:r>
              <a:rPr lang="en-US" altLang="zh-CN" sz="1400" dirty="0"/>
              <a:t>wire</a:t>
            </a:r>
            <a:r>
              <a:rPr lang="zh-CN" altLang="zh-CN" sz="1400" dirty="0"/>
              <a:t>类型，而</a:t>
            </a:r>
            <a:r>
              <a:rPr lang="en-US" altLang="zh-CN" sz="1400" dirty="0" err="1"/>
              <a:t>out_alwaysblock</a:t>
            </a:r>
            <a:r>
              <a:rPr lang="zh-CN" altLang="zh-CN" sz="1400" dirty="0"/>
              <a:t>需要定义为</a:t>
            </a:r>
            <a:r>
              <a:rPr lang="en-US" altLang="zh-CN" sz="1400" dirty="0" err="1"/>
              <a:t>reg</a:t>
            </a:r>
            <a:r>
              <a:rPr lang="zh-CN" altLang="zh-CN" sz="1400" dirty="0"/>
              <a:t>类型。模块定义和输出代码为：</a:t>
            </a:r>
            <a:endParaRPr lang="zh-CN" altLang="zh-CN" sz="1400" dirty="0"/>
          </a:p>
          <a:p>
            <a:r>
              <a:rPr lang="en-US" altLang="zh-CN" sz="1400" i="1" dirty="0"/>
              <a:t>module </a:t>
            </a:r>
            <a:r>
              <a:rPr lang="en-US" altLang="zh-CN" sz="1400" i="1" dirty="0" err="1"/>
              <a:t>top_module</a:t>
            </a:r>
            <a:r>
              <a:rPr lang="en-US" altLang="zh-CN" sz="1400" i="1" dirty="0"/>
              <a:t>(</a:t>
            </a:r>
            <a:endParaRPr lang="zh-CN" altLang="zh-CN" sz="1400" dirty="0"/>
          </a:p>
          <a:p>
            <a:r>
              <a:rPr lang="en-US" altLang="zh-CN" sz="1400" i="1" dirty="0"/>
              <a:t>    input a, </a:t>
            </a:r>
            <a:endParaRPr lang="zh-CN" altLang="zh-CN" sz="1400" dirty="0"/>
          </a:p>
          <a:p>
            <a:r>
              <a:rPr lang="en-US" altLang="zh-CN" sz="1400" i="1" dirty="0"/>
              <a:t>    input b,</a:t>
            </a:r>
            <a:endParaRPr lang="zh-CN" altLang="zh-CN" sz="1400" dirty="0"/>
          </a:p>
          <a:p>
            <a:r>
              <a:rPr lang="en-US" altLang="zh-CN" sz="1400" i="1" dirty="0"/>
              <a:t>    output wire </a:t>
            </a:r>
            <a:r>
              <a:rPr lang="en-US" altLang="zh-CN" sz="1400" i="1" dirty="0" err="1"/>
              <a:t>out_assign</a:t>
            </a:r>
            <a:r>
              <a:rPr lang="en-US" altLang="zh-CN" sz="1400" i="1" dirty="0"/>
              <a:t>,</a:t>
            </a:r>
            <a:endParaRPr lang="zh-CN" altLang="zh-CN" sz="1400" dirty="0"/>
          </a:p>
          <a:p>
            <a:r>
              <a:rPr lang="en-US" altLang="zh-CN" sz="1400" i="1" dirty="0"/>
              <a:t>    output </a:t>
            </a:r>
            <a:r>
              <a:rPr lang="en-US" altLang="zh-CN" sz="1400" i="1" dirty="0" err="1"/>
              <a:t>reg</a:t>
            </a:r>
            <a:r>
              <a:rPr lang="en-US" altLang="zh-CN" sz="1400" i="1" dirty="0"/>
              <a:t> </a:t>
            </a:r>
            <a:r>
              <a:rPr lang="en-US" altLang="zh-CN" sz="1400" i="1" dirty="0" err="1"/>
              <a:t>out_alwaysblock</a:t>
            </a:r>
            <a:r>
              <a:rPr lang="en-US" altLang="zh-CN" sz="1400" i="1" dirty="0"/>
              <a:t>);</a:t>
            </a:r>
            <a:endParaRPr lang="zh-CN" altLang="zh-CN" sz="1400" dirty="0"/>
          </a:p>
          <a:p>
            <a:r>
              <a:rPr lang="en-US" altLang="zh-CN" sz="1400" i="1" dirty="0"/>
              <a:t> </a:t>
            </a:r>
            <a:endParaRPr lang="zh-CN" altLang="zh-CN" sz="1400" dirty="0"/>
          </a:p>
          <a:p>
            <a:r>
              <a:rPr lang="en-US" altLang="zh-CN" sz="1400" i="1" dirty="0"/>
              <a:t>	assign </a:t>
            </a:r>
            <a:r>
              <a:rPr lang="en-US" altLang="zh-CN" sz="1400" i="1" dirty="0" err="1"/>
              <a:t>out_assign</a:t>
            </a:r>
            <a:r>
              <a:rPr lang="en-US" altLang="zh-CN" sz="1400" i="1" dirty="0"/>
              <a:t> = </a:t>
            </a:r>
            <a:r>
              <a:rPr lang="en-US" altLang="zh-CN" sz="1400" i="1" dirty="0" err="1"/>
              <a:t>a&amp;b</a:t>
            </a:r>
            <a:r>
              <a:rPr lang="en-US" altLang="zh-CN" sz="1400" i="1" dirty="0"/>
              <a:t>;</a:t>
            </a:r>
            <a:endParaRPr lang="zh-CN" altLang="zh-CN" sz="1400" dirty="0"/>
          </a:p>
          <a:p>
            <a:r>
              <a:rPr lang="en-US" altLang="zh-CN" sz="1400" i="1" dirty="0"/>
              <a:t>    always @(*) </a:t>
            </a:r>
            <a:r>
              <a:rPr lang="en-US" altLang="zh-CN" sz="1400" i="1" dirty="0" err="1"/>
              <a:t>out_alwaysblock</a:t>
            </a:r>
            <a:r>
              <a:rPr lang="en-US" altLang="zh-CN" sz="1400" i="1" dirty="0"/>
              <a:t> = </a:t>
            </a:r>
            <a:r>
              <a:rPr lang="en-US" altLang="zh-CN" sz="1400" i="1" dirty="0" err="1"/>
              <a:t>a&amp;b</a:t>
            </a:r>
            <a:r>
              <a:rPr lang="en-US" altLang="zh-CN" sz="1400" i="1" dirty="0"/>
              <a:t>;</a:t>
            </a:r>
            <a:endParaRPr lang="zh-CN" altLang="zh-CN" sz="1400" dirty="0"/>
          </a:p>
          <a:p>
            <a:r>
              <a:rPr lang="en-US" altLang="zh-CN" sz="1400" i="1" dirty="0" err="1"/>
              <a:t>endmodule</a:t>
            </a:r>
            <a:endParaRPr lang="zh-CN" altLang="zh-CN" sz="1400" dirty="0"/>
          </a:p>
          <a:p>
            <a:r>
              <a:rPr lang="en-US" altLang="zh-CN" sz="1400" dirty="0"/>
              <a:t> </a:t>
            </a:r>
            <a:endParaRPr lang="zh-CN" altLang="zh-CN" sz="1400" dirty="0"/>
          </a:p>
        </p:txBody>
      </p:sp>
      <p:pic>
        <p:nvPicPr>
          <p:cNvPr id="6" name="图片 5" descr="1572145367564012439.png"/>
          <p:cNvPicPr/>
          <p:nvPr/>
        </p:nvPicPr>
        <p:blipFill>
          <a:blip r:embed="rId1" cstate="print"/>
          <a:srcRect l="24063" r="23291" b="3823"/>
          <a:stretch>
            <a:fillRect/>
          </a:stretch>
        </p:blipFill>
        <p:spPr>
          <a:xfrm>
            <a:off x="5594654" y="2134779"/>
            <a:ext cx="3396615" cy="180467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25857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13】</a:t>
            </a:r>
            <a:r>
              <a:rPr lang="zh-CN" altLang="en-US" sz="1800" dirty="0"/>
              <a:t>分支语句练习；</a:t>
            </a:r>
            <a:r>
              <a:rPr lang="en-US" altLang="zh-CN" sz="1800" dirty="0"/>
              <a:t>if</a:t>
            </a:r>
            <a:r>
              <a:rPr lang="zh-CN" altLang="en-US" sz="1800" dirty="0"/>
              <a:t>语句。建立一个在</a:t>
            </a:r>
            <a:r>
              <a:rPr lang="en-US" altLang="zh-CN" sz="1800" dirty="0"/>
              <a:t>a</a:t>
            </a:r>
            <a:r>
              <a:rPr lang="zh-CN" altLang="en-US" sz="1800" dirty="0"/>
              <a:t>、</a:t>
            </a:r>
            <a:r>
              <a:rPr lang="en-US" altLang="zh-CN" sz="1800" dirty="0"/>
              <a:t>b</a:t>
            </a:r>
            <a:r>
              <a:rPr lang="zh-CN" altLang="en-US" sz="1800" dirty="0"/>
              <a:t>之间选择的</a:t>
            </a:r>
            <a:r>
              <a:rPr lang="en-US" altLang="zh-CN" sz="1800" dirty="0"/>
              <a:t>2</a:t>
            </a:r>
            <a:r>
              <a:rPr lang="zh-CN" altLang="en-US" sz="1800" dirty="0"/>
              <a:t>选</a:t>
            </a:r>
            <a:r>
              <a:rPr lang="en-US" altLang="zh-CN" sz="1800" dirty="0"/>
              <a:t>1</a:t>
            </a:r>
            <a:r>
              <a:rPr lang="zh-CN" altLang="en-US" sz="1800" dirty="0"/>
              <a:t>多路选择器，如果</a:t>
            </a:r>
            <a:r>
              <a:rPr lang="en-US" altLang="zh-CN" sz="1800" dirty="0"/>
              <a:t>sel_b1</a:t>
            </a:r>
            <a:r>
              <a:rPr lang="zh-CN" altLang="en-US" sz="1800" dirty="0"/>
              <a:t>和</a:t>
            </a:r>
            <a:r>
              <a:rPr lang="en-US" altLang="zh-CN" sz="1800" dirty="0"/>
              <a:t>sel_b2</a:t>
            </a:r>
            <a:r>
              <a:rPr lang="zh-CN" altLang="en-US" sz="1800" dirty="0"/>
              <a:t>都为真，则选择</a:t>
            </a:r>
            <a:r>
              <a:rPr lang="en-US" altLang="zh-CN" sz="1800" dirty="0"/>
              <a:t>b</a:t>
            </a:r>
            <a:r>
              <a:rPr lang="zh-CN" altLang="en-US" sz="1800" dirty="0"/>
              <a:t>，否则选择</a:t>
            </a:r>
            <a:r>
              <a:rPr lang="en-US" altLang="zh-CN" sz="1800" dirty="0"/>
              <a:t>a</a:t>
            </a:r>
            <a:r>
              <a:rPr lang="zh-CN" altLang="en-US" sz="1800" dirty="0"/>
              <a:t>，用</a:t>
            </a:r>
            <a:r>
              <a:rPr lang="en-US" altLang="zh-CN" sz="1800" dirty="0"/>
              <a:t>assign</a:t>
            </a:r>
            <a:r>
              <a:rPr lang="zh-CN" altLang="en-US" sz="1800" dirty="0"/>
              <a:t>语句和</a:t>
            </a:r>
            <a:r>
              <a:rPr lang="en-US" altLang="zh-CN" sz="1800" dirty="0"/>
              <a:t>if</a:t>
            </a:r>
            <a:r>
              <a:rPr lang="zh-CN" altLang="en-US" sz="1800" dirty="0"/>
              <a:t>各执行一次</a:t>
            </a:r>
            <a:r>
              <a:rPr lang="zh-CN" altLang="en-US" sz="1800" dirty="0" smtClean="0"/>
              <a:t>。</a:t>
            </a:r>
            <a:endParaRPr lang="zh-CN" altLang="en-US" sz="2400" dirty="0"/>
          </a:p>
        </p:txBody>
      </p:sp>
      <p:sp>
        <p:nvSpPr>
          <p:cNvPr id="2" name="矩形 1"/>
          <p:cNvSpPr/>
          <p:nvPr/>
        </p:nvSpPr>
        <p:spPr>
          <a:xfrm>
            <a:off x="772815" y="2456795"/>
            <a:ext cx="8541002" cy="4401205"/>
          </a:xfrm>
          <a:prstGeom prst="rect">
            <a:avLst/>
          </a:prstGeom>
        </p:spPr>
        <p:txBody>
          <a:bodyPr wrap="square">
            <a:spAutoFit/>
          </a:bodyPr>
          <a:lstStyle/>
          <a:p>
            <a:r>
              <a:rPr lang="zh-CN" altLang="zh-CN" sz="1400" dirty="0"/>
              <a:t>解：前文作为图例，已有</a:t>
            </a:r>
            <a:r>
              <a:rPr lang="en-US" altLang="zh-CN" sz="1400" dirty="0"/>
              <a:t>2</a:t>
            </a:r>
            <a:r>
              <a:rPr lang="zh-CN" altLang="zh-CN" sz="1400" dirty="0"/>
              <a:t>选</a:t>
            </a:r>
            <a:r>
              <a:rPr lang="en-US" altLang="zh-CN" sz="1400" dirty="0"/>
              <a:t>1</a:t>
            </a:r>
            <a:r>
              <a:rPr lang="zh-CN" altLang="zh-CN" sz="1400" dirty="0"/>
              <a:t>多路选择器实现的样例。本题采用</a:t>
            </a:r>
            <a:r>
              <a:rPr lang="en-US" altLang="zh-CN" sz="1400" dirty="0"/>
              <a:t>assign</a:t>
            </a:r>
            <a:r>
              <a:rPr lang="zh-CN" altLang="zh-CN" sz="1400" dirty="0"/>
              <a:t>和分支语句两种方式来实现，在一个模块中，分支语句嵌套实现，多条语句需要放到</a:t>
            </a:r>
            <a:r>
              <a:rPr lang="en-US" altLang="zh-CN" sz="1400" dirty="0"/>
              <a:t>begin-end</a:t>
            </a:r>
            <a:r>
              <a:rPr lang="zh-CN" altLang="zh-CN" sz="1400" dirty="0"/>
              <a:t>中来保证这部分语句是顺序执行的。代码为：</a:t>
            </a:r>
            <a:endParaRPr lang="zh-CN" altLang="zh-CN" sz="1400" dirty="0"/>
          </a:p>
          <a:p>
            <a:r>
              <a:rPr lang="en-US" altLang="zh-CN" sz="1400" i="1" dirty="0"/>
              <a:t>module </a:t>
            </a:r>
            <a:r>
              <a:rPr lang="en-US" altLang="zh-CN" sz="1400" i="1" dirty="0" err="1"/>
              <a:t>top_module</a:t>
            </a:r>
            <a:r>
              <a:rPr lang="en-US" altLang="zh-CN" sz="1400" i="1" dirty="0"/>
              <a:t>(</a:t>
            </a:r>
            <a:endParaRPr lang="zh-CN" altLang="zh-CN" sz="1400" dirty="0"/>
          </a:p>
          <a:p>
            <a:r>
              <a:rPr lang="en-US" altLang="zh-CN" sz="1400" i="1" dirty="0"/>
              <a:t>    input a,</a:t>
            </a:r>
            <a:endParaRPr lang="zh-CN" altLang="zh-CN" sz="1400" dirty="0"/>
          </a:p>
          <a:p>
            <a:r>
              <a:rPr lang="en-US" altLang="zh-CN" sz="1400" i="1" dirty="0"/>
              <a:t>    input b,</a:t>
            </a:r>
            <a:endParaRPr lang="zh-CN" altLang="zh-CN" sz="1400" dirty="0"/>
          </a:p>
          <a:p>
            <a:r>
              <a:rPr lang="en-US" altLang="zh-CN" sz="1400" i="1" dirty="0"/>
              <a:t>    input sel_b1,</a:t>
            </a:r>
            <a:endParaRPr lang="zh-CN" altLang="zh-CN" sz="1400" dirty="0"/>
          </a:p>
          <a:p>
            <a:r>
              <a:rPr lang="en-US" altLang="zh-CN" sz="1400" i="1" dirty="0"/>
              <a:t>    input sel_b2,</a:t>
            </a:r>
            <a:endParaRPr lang="zh-CN" altLang="zh-CN" sz="1400" dirty="0"/>
          </a:p>
          <a:p>
            <a:r>
              <a:rPr lang="en-US" altLang="zh-CN" sz="1400" i="1" dirty="0"/>
              <a:t>    output wire </a:t>
            </a:r>
            <a:r>
              <a:rPr lang="en-US" altLang="zh-CN" sz="1400" i="1" dirty="0" err="1"/>
              <a:t>out_assign</a:t>
            </a:r>
            <a:r>
              <a:rPr lang="en-US" altLang="zh-CN" sz="1400" i="1" dirty="0"/>
              <a:t>,</a:t>
            </a:r>
            <a:endParaRPr lang="zh-CN" altLang="zh-CN" sz="1400" dirty="0"/>
          </a:p>
          <a:p>
            <a:r>
              <a:rPr lang="en-US" altLang="zh-CN" sz="1400" i="1" dirty="0"/>
              <a:t>    output </a:t>
            </a:r>
            <a:r>
              <a:rPr lang="en-US" altLang="zh-CN" sz="1400" i="1" dirty="0" err="1"/>
              <a:t>reg</a:t>
            </a:r>
            <a:r>
              <a:rPr lang="en-US" altLang="zh-CN" sz="1400" i="1" dirty="0"/>
              <a:t> </a:t>
            </a:r>
            <a:r>
              <a:rPr lang="en-US" altLang="zh-CN" sz="1400" i="1" dirty="0" err="1"/>
              <a:t>out_always</a:t>
            </a:r>
            <a:r>
              <a:rPr lang="en-US" altLang="zh-CN" sz="1400" i="1" dirty="0"/>
              <a:t>   ); </a:t>
            </a:r>
            <a:endParaRPr lang="zh-CN" altLang="zh-CN" sz="1400" dirty="0"/>
          </a:p>
          <a:p>
            <a:r>
              <a:rPr lang="en-US" altLang="zh-CN" sz="1400" i="1" dirty="0"/>
              <a:t> </a:t>
            </a:r>
            <a:endParaRPr lang="zh-CN" altLang="zh-CN" sz="1400" dirty="0"/>
          </a:p>
          <a:p>
            <a:r>
              <a:rPr lang="en-US" altLang="zh-CN" sz="1400" i="1" dirty="0"/>
              <a:t>    assign </a:t>
            </a:r>
            <a:r>
              <a:rPr lang="en-US" altLang="zh-CN" sz="1400" i="1" dirty="0" err="1"/>
              <a:t>out_assign</a:t>
            </a:r>
            <a:r>
              <a:rPr lang="en-US" altLang="zh-CN" sz="1400" i="1" dirty="0"/>
              <a:t> = (sel_b1&amp;sel_b2)?</a:t>
            </a:r>
            <a:r>
              <a:rPr lang="en-US" altLang="zh-CN" sz="1400" i="1" dirty="0" err="1"/>
              <a:t>b:a</a:t>
            </a:r>
            <a:r>
              <a:rPr lang="en-US" altLang="zh-CN" sz="1400" i="1" dirty="0"/>
              <a:t>;</a:t>
            </a:r>
            <a:endParaRPr lang="zh-CN" altLang="zh-CN" sz="1400" dirty="0"/>
          </a:p>
          <a:p>
            <a:r>
              <a:rPr lang="en-US" altLang="zh-CN" sz="1400" i="1" dirty="0"/>
              <a:t>    always @(*) begin</a:t>
            </a:r>
            <a:endParaRPr lang="zh-CN" altLang="zh-CN" sz="1400" dirty="0"/>
          </a:p>
          <a:p>
            <a:r>
              <a:rPr lang="en-US" altLang="zh-CN" sz="1400" i="1" dirty="0"/>
              <a:t>        if(sel_b1&amp;sel_b2) begin</a:t>
            </a:r>
            <a:endParaRPr lang="zh-CN" altLang="zh-CN" sz="1400" dirty="0"/>
          </a:p>
          <a:p>
            <a:r>
              <a:rPr lang="en-US" altLang="zh-CN" sz="1400" i="1" dirty="0"/>
              <a:t>            </a:t>
            </a:r>
            <a:r>
              <a:rPr lang="en-US" altLang="zh-CN" sz="1400" i="1" dirty="0" err="1"/>
              <a:t>out_always</a:t>
            </a:r>
            <a:r>
              <a:rPr lang="en-US" altLang="zh-CN" sz="1400" i="1" dirty="0"/>
              <a:t> = b;</a:t>
            </a:r>
            <a:endParaRPr lang="zh-CN" altLang="zh-CN" sz="1400" dirty="0"/>
          </a:p>
          <a:p>
            <a:r>
              <a:rPr lang="en-US" altLang="zh-CN" sz="1400" i="1" dirty="0"/>
              <a:t>        end</a:t>
            </a:r>
            <a:endParaRPr lang="zh-CN" altLang="zh-CN" sz="1400" dirty="0"/>
          </a:p>
          <a:p>
            <a:r>
              <a:rPr lang="en-US" altLang="zh-CN" sz="1400" i="1" dirty="0"/>
              <a:t>        else begin</a:t>
            </a:r>
            <a:endParaRPr lang="zh-CN" altLang="zh-CN" sz="1400" dirty="0"/>
          </a:p>
          <a:p>
            <a:r>
              <a:rPr lang="en-US" altLang="zh-CN" sz="1400" i="1" dirty="0"/>
              <a:t>            </a:t>
            </a:r>
            <a:r>
              <a:rPr lang="en-US" altLang="zh-CN" sz="1400" i="1" dirty="0" err="1"/>
              <a:t>out_always</a:t>
            </a:r>
            <a:r>
              <a:rPr lang="en-US" altLang="zh-CN" sz="1400" i="1" dirty="0"/>
              <a:t> = a;</a:t>
            </a:r>
            <a:endParaRPr lang="zh-CN" altLang="zh-CN" sz="1400" dirty="0"/>
          </a:p>
          <a:p>
            <a:r>
              <a:rPr lang="en-US" altLang="zh-CN" sz="1400" i="1" dirty="0"/>
              <a:t>        end</a:t>
            </a:r>
            <a:endParaRPr lang="zh-CN" altLang="zh-CN" sz="1400" dirty="0"/>
          </a:p>
          <a:p>
            <a:r>
              <a:rPr lang="en-US" altLang="zh-CN" sz="1400" i="1" dirty="0"/>
              <a:t>    end</a:t>
            </a:r>
            <a:endParaRPr lang="zh-CN" altLang="zh-CN" sz="1400" dirty="0"/>
          </a:p>
          <a:p>
            <a:r>
              <a:rPr lang="en-US" altLang="zh-CN" sz="1400" i="1" dirty="0" err="1"/>
              <a:t>endmodule</a:t>
            </a:r>
            <a:endParaRPr lang="zh-CN" altLang="zh-CN" sz="1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25857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14】</a:t>
            </a:r>
            <a:r>
              <a:rPr lang="zh-CN" altLang="en-US" sz="1800" dirty="0"/>
              <a:t>分支语句</a:t>
            </a:r>
            <a:r>
              <a:rPr lang="zh-CN" altLang="en-US" sz="1800" dirty="0" smtClean="0"/>
              <a:t>练习</a:t>
            </a:r>
            <a:r>
              <a:rPr lang="en-US" altLang="zh-CN" sz="1800" dirty="0"/>
              <a:t>case</a:t>
            </a:r>
            <a:r>
              <a:rPr lang="zh-CN" altLang="en-US" sz="1800" dirty="0"/>
              <a:t>语句。创建一个</a:t>
            </a:r>
            <a:r>
              <a:rPr lang="en-US" altLang="zh-CN" sz="1800" dirty="0"/>
              <a:t>6</a:t>
            </a:r>
            <a:r>
              <a:rPr lang="zh-CN" altLang="en-US" sz="1800" dirty="0"/>
              <a:t>选</a:t>
            </a:r>
            <a:r>
              <a:rPr lang="en-US" altLang="zh-CN" sz="1800" dirty="0"/>
              <a:t>1</a:t>
            </a:r>
            <a:r>
              <a:rPr lang="zh-CN" altLang="en-US" sz="1800" dirty="0"/>
              <a:t>的多路选择器，当</a:t>
            </a:r>
            <a:r>
              <a:rPr lang="en-US" altLang="zh-CN" sz="1800" dirty="0" err="1"/>
              <a:t>sel</a:t>
            </a:r>
            <a:r>
              <a:rPr lang="zh-CN" altLang="en-US" sz="1800" dirty="0"/>
              <a:t>取值在</a:t>
            </a:r>
            <a:r>
              <a:rPr lang="en-US" altLang="zh-CN" sz="1800" dirty="0"/>
              <a:t>0-5</a:t>
            </a:r>
            <a:r>
              <a:rPr lang="zh-CN" altLang="en-US" sz="1800" dirty="0"/>
              <a:t>之间，选择相应的数据，否则输出</a:t>
            </a:r>
            <a:r>
              <a:rPr lang="en-US" altLang="zh-CN" sz="1800" dirty="0"/>
              <a:t>0</a:t>
            </a:r>
            <a:r>
              <a:rPr lang="zh-CN" altLang="en-US" sz="1800" dirty="0"/>
              <a:t>，设数据的输入和输出位宽为</a:t>
            </a:r>
            <a:r>
              <a:rPr lang="en-US" altLang="zh-CN" sz="1800" dirty="0"/>
              <a:t>4</a:t>
            </a:r>
            <a:r>
              <a:rPr lang="zh-CN" altLang="en-US" sz="1800" dirty="0"/>
              <a:t>。</a:t>
            </a:r>
            <a:endParaRPr lang="zh-CN" altLang="en-US" sz="2400" dirty="0"/>
          </a:p>
        </p:txBody>
      </p:sp>
      <p:sp>
        <p:nvSpPr>
          <p:cNvPr id="2" name="矩形 1"/>
          <p:cNvSpPr/>
          <p:nvPr/>
        </p:nvSpPr>
        <p:spPr>
          <a:xfrm>
            <a:off x="446244" y="2407411"/>
            <a:ext cx="8541002" cy="4524315"/>
          </a:xfrm>
          <a:prstGeom prst="rect">
            <a:avLst/>
          </a:prstGeom>
        </p:spPr>
        <p:txBody>
          <a:bodyPr wrap="square">
            <a:spAutoFit/>
          </a:bodyPr>
          <a:lstStyle/>
          <a:p>
            <a:r>
              <a:rPr lang="zh-CN" altLang="zh-CN" sz="1200" dirty="0"/>
              <a:t>解：</a:t>
            </a:r>
            <a:r>
              <a:rPr lang="en-US" altLang="zh-CN" sz="1200" dirty="0" err="1"/>
              <a:t>sel</a:t>
            </a:r>
            <a:r>
              <a:rPr lang="zh-CN" altLang="zh-CN" sz="1200" dirty="0"/>
              <a:t>取值在</a:t>
            </a:r>
            <a:r>
              <a:rPr lang="en-US" altLang="zh-CN" sz="1200" dirty="0"/>
              <a:t>0-5</a:t>
            </a:r>
            <a:r>
              <a:rPr lang="zh-CN" altLang="zh-CN" sz="1200" dirty="0"/>
              <a:t>之间，则用</a:t>
            </a:r>
            <a:r>
              <a:rPr lang="en-US" altLang="zh-CN" sz="1200" dirty="0"/>
              <a:t>3</a:t>
            </a:r>
            <a:r>
              <a:rPr lang="zh-CN" altLang="zh-CN" sz="1200" dirty="0"/>
              <a:t>位二进制表示为</a:t>
            </a:r>
            <a:r>
              <a:rPr lang="en-US" altLang="zh-CN" sz="1200" dirty="0"/>
              <a:t>000-101</a:t>
            </a:r>
            <a:r>
              <a:rPr lang="zh-CN" altLang="zh-CN" sz="1200" dirty="0"/>
              <a:t>，其余数据成为冗余项。数据输入位宽为</a:t>
            </a:r>
            <a:r>
              <a:rPr lang="en-US" altLang="zh-CN" sz="1200" dirty="0"/>
              <a:t>4</a:t>
            </a:r>
            <a:r>
              <a:rPr lang="zh-CN" altLang="zh-CN" sz="1200" dirty="0"/>
              <a:t>，定义</a:t>
            </a:r>
            <a:r>
              <a:rPr lang="en-US" altLang="zh-CN" sz="1200" dirty="0"/>
              <a:t>0-5</a:t>
            </a:r>
            <a:r>
              <a:rPr lang="zh-CN" altLang="zh-CN" sz="1200" dirty="0"/>
              <a:t>路的输入数据分别是</a:t>
            </a:r>
            <a:r>
              <a:rPr lang="en-US" altLang="zh-CN" sz="1200" dirty="0"/>
              <a:t>data0~data5</a:t>
            </a:r>
            <a:r>
              <a:rPr lang="zh-CN" altLang="zh-CN" sz="1200" dirty="0"/>
              <a:t>，定义模块和组合部分代码为：</a:t>
            </a:r>
            <a:endParaRPr lang="zh-CN" altLang="zh-CN" sz="1200" dirty="0"/>
          </a:p>
          <a:p>
            <a:r>
              <a:rPr lang="en-US" altLang="zh-CN" sz="1200" i="1" dirty="0"/>
              <a:t>module </a:t>
            </a:r>
            <a:r>
              <a:rPr lang="en-US" altLang="zh-CN" sz="1200" i="1" dirty="0" err="1"/>
              <a:t>top_module</a:t>
            </a:r>
            <a:r>
              <a:rPr lang="en-US" altLang="zh-CN" sz="1200" i="1" dirty="0"/>
              <a:t> ( </a:t>
            </a:r>
            <a:endParaRPr lang="zh-CN" altLang="zh-CN" sz="1200" dirty="0"/>
          </a:p>
          <a:p>
            <a:r>
              <a:rPr lang="en-US" altLang="zh-CN" sz="1200" i="1" dirty="0"/>
              <a:t>    input [2:0] </a:t>
            </a:r>
            <a:r>
              <a:rPr lang="en-US" altLang="zh-CN" sz="1200" i="1" dirty="0" err="1"/>
              <a:t>sel</a:t>
            </a:r>
            <a:r>
              <a:rPr lang="en-US" altLang="zh-CN" sz="1200" i="1" dirty="0"/>
              <a:t>, </a:t>
            </a:r>
            <a:endParaRPr lang="zh-CN" altLang="zh-CN" sz="1200" dirty="0"/>
          </a:p>
          <a:p>
            <a:r>
              <a:rPr lang="en-US" altLang="zh-CN" sz="1200" i="1" dirty="0"/>
              <a:t>    input [3:0] data0,</a:t>
            </a:r>
            <a:endParaRPr lang="zh-CN" altLang="zh-CN" sz="1200" dirty="0"/>
          </a:p>
          <a:p>
            <a:r>
              <a:rPr lang="en-US" altLang="zh-CN" sz="1200" i="1" dirty="0"/>
              <a:t>    input [3:0] data1,</a:t>
            </a:r>
            <a:endParaRPr lang="zh-CN" altLang="zh-CN" sz="1200" dirty="0"/>
          </a:p>
          <a:p>
            <a:r>
              <a:rPr lang="en-US" altLang="zh-CN" sz="1200" i="1" dirty="0"/>
              <a:t>    input [3:0] data2,</a:t>
            </a:r>
            <a:endParaRPr lang="zh-CN" altLang="zh-CN" sz="1200" dirty="0"/>
          </a:p>
          <a:p>
            <a:r>
              <a:rPr lang="en-US" altLang="zh-CN" sz="1200" i="1" dirty="0"/>
              <a:t>    input [3:0] data3,</a:t>
            </a:r>
            <a:endParaRPr lang="zh-CN" altLang="zh-CN" sz="1200" dirty="0"/>
          </a:p>
          <a:p>
            <a:r>
              <a:rPr lang="en-US" altLang="zh-CN" sz="1200" i="1" dirty="0"/>
              <a:t>    input [3:0] data4,</a:t>
            </a:r>
            <a:endParaRPr lang="zh-CN" altLang="zh-CN" sz="1200" dirty="0"/>
          </a:p>
          <a:p>
            <a:r>
              <a:rPr lang="en-US" altLang="zh-CN" sz="1200" i="1" dirty="0"/>
              <a:t>    input [3:0] data5,</a:t>
            </a:r>
            <a:endParaRPr lang="zh-CN" altLang="zh-CN" sz="1200" dirty="0"/>
          </a:p>
          <a:p>
            <a:r>
              <a:rPr lang="en-US" altLang="zh-CN" sz="1200" i="1" dirty="0"/>
              <a:t>    output </a:t>
            </a:r>
            <a:r>
              <a:rPr lang="en-US" altLang="zh-CN" sz="1200" i="1" dirty="0" err="1"/>
              <a:t>reg</a:t>
            </a:r>
            <a:r>
              <a:rPr lang="en-US" altLang="zh-CN" sz="1200" i="1" dirty="0"/>
              <a:t> [3:0] out   );//</a:t>
            </a:r>
            <a:r>
              <a:rPr lang="zh-CN" altLang="zh-CN" sz="1200" i="1" dirty="0"/>
              <a:t>模块端口定义</a:t>
            </a:r>
            <a:endParaRPr lang="zh-CN" altLang="zh-CN" sz="1200" dirty="0"/>
          </a:p>
          <a:p>
            <a:r>
              <a:rPr lang="en-US" altLang="zh-CN" sz="1200" i="1" dirty="0"/>
              <a:t> </a:t>
            </a:r>
            <a:endParaRPr lang="zh-CN" altLang="zh-CN" sz="1200" dirty="0"/>
          </a:p>
          <a:p>
            <a:r>
              <a:rPr lang="en-US" altLang="zh-CN" sz="1200" i="1" dirty="0"/>
              <a:t>    always@(*) begin  // </a:t>
            </a:r>
            <a:r>
              <a:rPr lang="zh-CN" altLang="zh-CN" sz="1200" i="1" dirty="0"/>
              <a:t>组合电路部分</a:t>
            </a:r>
            <a:endParaRPr lang="zh-CN" altLang="zh-CN" sz="1200" dirty="0"/>
          </a:p>
          <a:p>
            <a:r>
              <a:rPr lang="en-US" altLang="zh-CN" sz="1200" i="1" dirty="0"/>
              <a:t>        case(</a:t>
            </a:r>
            <a:r>
              <a:rPr lang="en-US" altLang="zh-CN" sz="1200" i="1" dirty="0" err="1"/>
              <a:t>sel</a:t>
            </a:r>
            <a:r>
              <a:rPr lang="en-US" altLang="zh-CN" sz="1200" i="1" dirty="0"/>
              <a:t>)</a:t>
            </a:r>
            <a:endParaRPr lang="zh-CN" altLang="zh-CN" sz="1200" dirty="0"/>
          </a:p>
          <a:p>
            <a:r>
              <a:rPr lang="en-US" altLang="zh-CN" sz="1200" i="1" dirty="0"/>
              <a:t>            3'b0:    out = data0;</a:t>
            </a:r>
            <a:endParaRPr lang="zh-CN" altLang="zh-CN" sz="1200" dirty="0"/>
          </a:p>
          <a:p>
            <a:r>
              <a:rPr lang="en-US" altLang="zh-CN" sz="1200" i="1" dirty="0"/>
              <a:t>            3'b001:  out = data1;</a:t>
            </a:r>
            <a:endParaRPr lang="zh-CN" altLang="zh-CN" sz="1200" dirty="0"/>
          </a:p>
          <a:p>
            <a:r>
              <a:rPr lang="en-US" altLang="zh-CN" sz="1200" i="1" dirty="0"/>
              <a:t>            3'b010:  out = data2;</a:t>
            </a:r>
            <a:endParaRPr lang="zh-CN" altLang="zh-CN" sz="1200" dirty="0"/>
          </a:p>
          <a:p>
            <a:r>
              <a:rPr lang="en-US" altLang="zh-CN" sz="1200" i="1" dirty="0"/>
              <a:t>            3'b011:  out = data3;</a:t>
            </a:r>
            <a:endParaRPr lang="zh-CN" altLang="zh-CN" sz="1200" dirty="0"/>
          </a:p>
          <a:p>
            <a:r>
              <a:rPr lang="en-US" altLang="zh-CN" sz="1200" i="1" dirty="0"/>
              <a:t>            3'b100:  out = data4;</a:t>
            </a:r>
            <a:endParaRPr lang="zh-CN" altLang="zh-CN" sz="1200" dirty="0"/>
          </a:p>
          <a:p>
            <a:r>
              <a:rPr lang="en-US" altLang="zh-CN" sz="1200" i="1" dirty="0"/>
              <a:t>            3'b101:  out = data5;</a:t>
            </a:r>
            <a:endParaRPr lang="zh-CN" altLang="zh-CN" sz="1200" dirty="0"/>
          </a:p>
          <a:p>
            <a:r>
              <a:rPr lang="en-US" altLang="zh-CN" sz="1200" i="1" dirty="0"/>
              <a:t>            default:  out[3:0] = 0;</a:t>
            </a:r>
            <a:endParaRPr lang="zh-CN" altLang="zh-CN" sz="1200" dirty="0"/>
          </a:p>
          <a:p>
            <a:r>
              <a:rPr lang="en-US" altLang="zh-CN" sz="1200" i="1" dirty="0"/>
              <a:t>        </a:t>
            </a:r>
            <a:r>
              <a:rPr lang="en-US" altLang="zh-CN" sz="1200" i="1" dirty="0" err="1"/>
              <a:t>endcase</a:t>
            </a:r>
            <a:endParaRPr lang="zh-CN" altLang="zh-CN" sz="1200" dirty="0"/>
          </a:p>
          <a:p>
            <a:r>
              <a:rPr lang="en-US" altLang="zh-CN" sz="1200" i="1" dirty="0"/>
              <a:t>    end</a:t>
            </a:r>
            <a:endParaRPr lang="zh-CN" altLang="zh-CN" sz="1200" dirty="0"/>
          </a:p>
          <a:p>
            <a:r>
              <a:rPr lang="en-US" altLang="zh-CN" sz="1200" i="1" dirty="0" err="1"/>
              <a:t>endmodule</a:t>
            </a:r>
            <a:endParaRPr lang="zh-CN" altLang="zh-CN" sz="12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0" y="1027220"/>
            <a:ext cx="8434387" cy="175133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a:t>【</a:t>
            </a:r>
            <a:r>
              <a:rPr lang="zh-CN" altLang="en-US" sz="2400" dirty="0"/>
              <a:t>例</a:t>
            </a:r>
            <a:r>
              <a:rPr lang="en-US" altLang="zh-CN" sz="2400" dirty="0" smtClean="0"/>
              <a:t>15】</a:t>
            </a:r>
            <a:r>
              <a:rPr lang="zh-CN" altLang="zh-CN" sz="1800" dirty="0"/>
              <a:t>简单编码器练习</a:t>
            </a:r>
            <a:r>
              <a:rPr lang="zh-CN" altLang="en-US" sz="1800" dirty="0" smtClean="0"/>
              <a:t>。</a:t>
            </a:r>
            <a:r>
              <a:rPr lang="zh-CN" altLang="zh-CN" sz="1800" kern="100" dirty="0"/>
              <a:t>构建一个</a:t>
            </a:r>
            <a:r>
              <a:rPr lang="en-US" altLang="zh-CN" sz="1800" kern="100" dirty="0"/>
              <a:t>4</a:t>
            </a:r>
            <a:r>
              <a:rPr lang="zh-CN" altLang="zh-CN" sz="1800" kern="100" dirty="0"/>
              <a:t>位输入的编码器模块</a:t>
            </a:r>
            <a:r>
              <a:rPr lang="en-US" altLang="zh-CN" sz="1800" kern="100" dirty="0" err="1"/>
              <a:t>top_module</a:t>
            </a:r>
            <a:r>
              <a:rPr lang="zh-CN" altLang="zh-CN" sz="1800" kern="100" dirty="0"/>
              <a:t>，当输入一个变量时，输出从右向左数第一个“</a:t>
            </a:r>
            <a:r>
              <a:rPr lang="en-US" altLang="zh-CN" sz="1800" kern="100" dirty="0"/>
              <a:t>1</a:t>
            </a:r>
            <a:r>
              <a:rPr lang="zh-CN" altLang="zh-CN" sz="1800" kern="100" dirty="0"/>
              <a:t>”出现的位置；若变量中没有</a:t>
            </a:r>
            <a:r>
              <a:rPr lang="en-US" altLang="zh-CN" sz="1800" kern="100" dirty="0"/>
              <a:t>1</a:t>
            </a:r>
            <a:r>
              <a:rPr lang="zh-CN" altLang="zh-CN" sz="1800" kern="100" dirty="0"/>
              <a:t>则输出</a:t>
            </a:r>
            <a:r>
              <a:rPr lang="en-US" altLang="zh-CN" sz="1800" kern="100" dirty="0"/>
              <a:t>0</a:t>
            </a:r>
            <a:r>
              <a:rPr lang="zh-CN" altLang="zh-CN" sz="1800" kern="100" dirty="0"/>
              <a:t>。例如：一个</a:t>
            </a:r>
            <a:r>
              <a:rPr lang="en-US" altLang="zh-CN" sz="1800" kern="100" dirty="0"/>
              <a:t>4</a:t>
            </a:r>
            <a:r>
              <a:rPr lang="zh-CN" altLang="zh-CN" sz="1800" kern="100" dirty="0"/>
              <a:t>位输入</a:t>
            </a:r>
            <a:r>
              <a:rPr lang="en-US" altLang="zh-CN" sz="1800" kern="100" dirty="0"/>
              <a:t>4'b1100</a:t>
            </a:r>
            <a:r>
              <a:rPr lang="zh-CN" altLang="zh-CN" sz="1800" kern="100" dirty="0"/>
              <a:t>，从右向左的第一个</a:t>
            </a:r>
            <a:r>
              <a:rPr lang="en-US" altLang="zh-CN" sz="1800" kern="100" dirty="0"/>
              <a:t>1</a:t>
            </a:r>
            <a:r>
              <a:rPr lang="zh-CN" altLang="zh-CN" sz="1800" kern="100" dirty="0"/>
              <a:t>位置是</a:t>
            </a:r>
            <a:r>
              <a:rPr lang="en-US" altLang="zh-CN" sz="1800" kern="100" dirty="0"/>
              <a:t>3</a:t>
            </a:r>
            <a:r>
              <a:rPr lang="zh-CN" altLang="zh-CN" sz="1800" kern="100" dirty="0"/>
              <a:t>，所以输出为</a:t>
            </a:r>
            <a:r>
              <a:rPr lang="en-US" altLang="zh-CN" sz="1800" kern="100" dirty="0"/>
              <a:t>2'd2</a:t>
            </a:r>
            <a:r>
              <a:rPr lang="zh-CN" altLang="zh-CN" sz="1800" kern="100" dirty="0"/>
              <a:t>。</a:t>
            </a:r>
            <a:endParaRPr lang="zh-CN" altLang="zh-CN" sz="1800" kern="100" dirty="0"/>
          </a:p>
          <a:p>
            <a:endParaRPr lang="zh-CN" altLang="en-US" sz="1400" dirty="0"/>
          </a:p>
        </p:txBody>
      </p:sp>
      <p:sp>
        <p:nvSpPr>
          <p:cNvPr id="5" name="矩形 4"/>
          <p:cNvSpPr/>
          <p:nvPr/>
        </p:nvSpPr>
        <p:spPr>
          <a:xfrm>
            <a:off x="2286000" y="-5234910"/>
            <a:ext cx="4572000" cy="4555093"/>
          </a:xfrm>
          <a:prstGeom prst="rect">
            <a:avLst/>
          </a:prstGeom>
        </p:spPr>
        <p:txBody>
          <a:bodyPr>
            <a:spAutoFit/>
          </a:bodyPr>
          <a:lstStyle/>
          <a:p>
            <a:pPr indent="266700">
              <a:spcAft>
                <a:spcPts val="0"/>
              </a:spcAft>
            </a:pPr>
            <a:r>
              <a:rPr lang="zh-CN" altLang="zh-CN" sz="1000" kern="100" dirty="0"/>
              <a:t>构建一个</a:t>
            </a:r>
            <a:r>
              <a:rPr lang="en-US" altLang="zh-CN" sz="1000" kern="100" dirty="0"/>
              <a:t>4</a:t>
            </a:r>
            <a:r>
              <a:rPr lang="zh-CN" altLang="zh-CN" sz="1000" kern="100" dirty="0"/>
              <a:t>位输入的编码器模块</a:t>
            </a:r>
            <a:r>
              <a:rPr lang="en-US" altLang="zh-CN" sz="1000" kern="100" dirty="0" err="1"/>
              <a:t>top_module</a:t>
            </a:r>
            <a:r>
              <a:rPr lang="zh-CN" altLang="zh-CN" sz="1000" kern="100" dirty="0"/>
              <a:t>，当输入一个变量时，输出从右向左数第一个“</a:t>
            </a:r>
            <a:r>
              <a:rPr lang="en-US" altLang="zh-CN" sz="1000" kern="100" dirty="0"/>
              <a:t>1</a:t>
            </a:r>
            <a:r>
              <a:rPr lang="zh-CN" altLang="zh-CN" sz="1000" kern="100" dirty="0"/>
              <a:t>”出现的位置；若变量中没有</a:t>
            </a:r>
            <a:r>
              <a:rPr lang="en-US" altLang="zh-CN" sz="1000" kern="100" dirty="0"/>
              <a:t>1</a:t>
            </a:r>
            <a:r>
              <a:rPr lang="zh-CN" altLang="zh-CN" sz="1000" kern="100" dirty="0"/>
              <a:t>则输出</a:t>
            </a:r>
            <a:r>
              <a:rPr lang="en-US" altLang="zh-CN" sz="1000" kern="100" dirty="0"/>
              <a:t>0</a:t>
            </a:r>
            <a:r>
              <a:rPr lang="zh-CN" altLang="zh-CN" sz="1000" kern="100" dirty="0"/>
              <a:t>。例如：一个</a:t>
            </a:r>
            <a:r>
              <a:rPr lang="en-US" altLang="zh-CN" sz="1000" kern="100" dirty="0"/>
              <a:t>4</a:t>
            </a:r>
            <a:r>
              <a:rPr lang="zh-CN" altLang="zh-CN" sz="1000" kern="100" dirty="0"/>
              <a:t>位输入</a:t>
            </a:r>
            <a:r>
              <a:rPr lang="en-US" altLang="zh-CN" sz="1000" kern="100" dirty="0"/>
              <a:t>4'b1100</a:t>
            </a:r>
            <a:r>
              <a:rPr lang="zh-CN" altLang="zh-CN" sz="1000" kern="100" dirty="0"/>
              <a:t>，从右向左的第一个</a:t>
            </a:r>
            <a:r>
              <a:rPr lang="en-US" altLang="zh-CN" sz="1000" kern="100" dirty="0"/>
              <a:t>1</a:t>
            </a:r>
            <a:r>
              <a:rPr lang="zh-CN" altLang="zh-CN" sz="1000" kern="100" dirty="0"/>
              <a:t>位置是</a:t>
            </a:r>
            <a:r>
              <a:rPr lang="en-US" altLang="zh-CN" sz="1000" kern="100" dirty="0"/>
              <a:t>3</a:t>
            </a:r>
            <a:r>
              <a:rPr lang="zh-CN" altLang="zh-CN" sz="1000" kern="100" dirty="0"/>
              <a:t>，所以输出为</a:t>
            </a:r>
            <a:r>
              <a:rPr lang="en-US" altLang="zh-CN" sz="1000" kern="100" dirty="0"/>
              <a:t>2'd2</a:t>
            </a:r>
            <a:r>
              <a:rPr lang="zh-CN" altLang="zh-CN" sz="1000" kern="100" dirty="0"/>
              <a:t>。</a:t>
            </a:r>
            <a:endParaRPr lang="zh-CN" altLang="zh-CN" sz="1000" kern="100" dirty="0"/>
          </a:p>
          <a:p>
            <a:pPr indent="266700">
              <a:spcAft>
                <a:spcPts val="0"/>
              </a:spcAft>
            </a:pPr>
            <a:r>
              <a:rPr lang="zh-CN" altLang="zh-CN" sz="1000" kern="100" dirty="0"/>
              <a:t>解：本题的编码器要求输出的是从右向左的第一个</a:t>
            </a:r>
            <a:r>
              <a:rPr lang="en-US" altLang="zh-CN" sz="1000" kern="100" dirty="0"/>
              <a:t>1</a:t>
            </a:r>
            <a:r>
              <a:rPr lang="zh-CN" altLang="zh-CN" sz="1000" kern="100" dirty="0"/>
              <a:t>，所以相当于是一个优先编码器，在前文的组合电路部分对优先编码器的真值表和逻辑函数都有阐述。而在</a:t>
            </a:r>
            <a:r>
              <a:rPr lang="en-US" altLang="zh-CN" sz="1000" kern="100" dirty="0"/>
              <a:t>Verilog</a:t>
            </a:r>
            <a:r>
              <a:rPr lang="zh-CN" altLang="zh-CN" sz="1000" kern="100" dirty="0"/>
              <a:t>中，可以采用</a:t>
            </a:r>
            <a:r>
              <a:rPr lang="en-US" altLang="zh-CN" sz="1000" kern="100" dirty="0"/>
              <a:t>case</a:t>
            </a:r>
            <a:r>
              <a:rPr lang="zh-CN" altLang="zh-CN" sz="1000" kern="100" dirty="0"/>
              <a:t>语句，将不同的分支情况列出，实现优先编码器模块。</a:t>
            </a:r>
            <a:endParaRPr lang="zh-CN" altLang="zh-CN" sz="1000" kern="100" dirty="0"/>
          </a:p>
          <a:p>
            <a:pPr indent="266700">
              <a:spcAft>
                <a:spcPts val="0"/>
              </a:spcAft>
            </a:pPr>
            <a:r>
              <a:rPr lang="en-US" altLang="zh-CN" sz="1000" i="1" kern="100" dirty="0"/>
              <a:t>module </a:t>
            </a:r>
            <a:r>
              <a:rPr lang="en-US" altLang="zh-CN" sz="1000" i="1" kern="100" dirty="0" err="1"/>
              <a:t>top_module</a:t>
            </a:r>
            <a:r>
              <a:rPr lang="en-US" altLang="zh-CN" sz="1000" i="1" kern="100" dirty="0"/>
              <a:t> </a:t>
            </a:r>
            <a:r>
              <a:rPr lang="en-US" altLang="zh-CN" sz="1000" i="1" kern="100" dirty="0">
                <a:solidFill>
                  <a:srgbClr val="000000"/>
                </a:solidFill>
              </a:rPr>
              <a:t>(</a:t>
            </a:r>
            <a:endParaRPr lang="zh-CN" altLang="zh-CN" sz="1000" kern="100" dirty="0"/>
          </a:p>
          <a:p>
            <a:pPr indent="266700">
              <a:spcAft>
                <a:spcPts val="0"/>
              </a:spcAft>
            </a:pPr>
            <a:r>
              <a:rPr lang="en-US" altLang="zh-CN" sz="1000" i="1" kern="100" dirty="0"/>
              <a:t>    input [3:0] in,</a:t>
            </a:r>
            <a:endParaRPr lang="zh-CN" altLang="zh-CN" sz="1000" kern="100" dirty="0"/>
          </a:p>
          <a:p>
            <a:pPr indent="266700">
              <a:spcAft>
                <a:spcPts val="0"/>
              </a:spcAft>
            </a:pPr>
            <a:r>
              <a:rPr lang="en-US" altLang="zh-CN" sz="1000" i="1" kern="100" dirty="0"/>
              <a:t>    output </a:t>
            </a:r>
            <a:r>
              <a:rPr lang="en-US" altLang="zh-CN" sz="1000" i="1" kern="100" dirty="0" err="1"/>
              <a:t>reg</a:t>
            </a:r>
            <a:r>
              <a:rPr lang="en-US" altLang="zh-CN" sz="1000" i="1" kern="100" dirty="0"/>
              <a:t> [1:0] out</a:t>
            </a:r>
            <a:r>
              <a:rPr lang="en-US" altLang="zh-CN" sz="1000" i="1" kern="100" dirty="0">
                <a:solidFill>
                  <a:srgbClr val="000000"/>
                </a:solidFill>
              </a:rPr>
              <a:t>)</a:t>
            </a:r>
            <a:r>
              <a:rPr lang="en-US" altLang="zh-CN" sz="1000" i="1" kern="100" dirty="0"/>
              <a:t>;</a:t>
            </a:r>
            <a:endParaRPr lang="zh-CN" altLang="zh-CN" sz="1000" kern="100" dirty="0"/>
          </a:p>
          <a:p>
            <a:pPr indent="266700">
              <a:spcAft>
                <a:spcPts val="0"/>
              </a:spcAft>
            </a:pPr>
            <a:r>
              <a:rPr lang="en-US" altLang="zh-CN" sz="1000" i="1" kern="100" dirty="0"/>
              <a:t>    always @(*) begin</a:t>
            </a:r>
            <a:endParaRPr lang="zh-CN" altLang="zh-CN" sz="1000" kern="100" dirty="0"/>
          </a:p>
          <a:p>
            <a:pPr indent="266700">
              <a:spcAft>
                <a:spcPts val="0"/>
              </a:spcAft>
            </a:pPr>
            <a:r>
              <a:rPr lang="en-US" altLang="zh-CN" sz="1000" i="1" kern="100" dirty="0"/>
              <a:t>        if (in[0] == 1'b1)</a:t>
            </a:r>
            <a:endParaRPr lang="zh-CN" altLang="zh-CN" sz="1000" kern="100" dirty="0"/>
          </a:p>
          <a:p>
            <a:pPr indent="266700">
              <a:spcAft>
                <a:spcPts val="0"/>
              </a:spcAft>
            </a:pPr>
            <a:r>
              <a:rPr lang="en-US" altLang="zh-CN" sz="1000" i="1" kern="100" dirty="0"/>
              <a:t>            out = 2'd0;</a:t>
            </a:r>
            <a:endParaRPr lang="zh-CN" altLang="zh-CN" sz="1000" kern="100" dirty="0"/>
          </a:p>
          <a:p>
            <a:pPr indent="266700">
              <a:spcAft>
                <a:spcPts val="0"/>
              </a:spcAft>
            </a:pPr>
            <a:r>
              <a:rPr lang="en-US" altLang="zh-CN" sz="1000" i="1" kern="100" dirty="0"/>
              <a:t>        else begin</a:t>
            </a:r>
            <a:endParaRPr lang="zh-CN" altLang="zh-CN" sz="1000" kern="100" dirty="0"/>
          </a:p>
          <a:p>
            <a:pPr indent="266700">
              <a:spcAft>
                <a:spcPts val="0"/>
              </a:spcAft>
            </a:pPr>
            <a:r>
              <a:rPr lang="en-US" altLang="zh-CN" sz="1000" i="1" kern="100" dirty="0"/>
              <a:t>            if(in[1] == 1'b1)</a:t>
            </a:r>
            <a:endParaRPr lang="zh-CN" altLang="zh-CN" sz="1000" kern="100" dirty="0"/>
          </a:p>
          <a:p>
            <a:pPr indent="266700">
              <a:spcAft>
                <a:spcPts val="0"/>
              </a:spcAft>
            </a:pPr>
            <a:r>
              <a:rPr lang="en-US" altLang="zh-CN" sz="1000" i="1" kern="100" dirty="0"/>
              <a:t>                out = 2'd1;</a:t>
            </a:r>
            <a:endParaRPr lang="zh-CN" altLang="zh-CN" sz="1000" kern="100" dirty="0"/>
          </a:p>
          <a:p>
            <a:pPr indent="266700">
              <a:spcAft>
                <a:spcPts val="0"/>
              </a:spcAft>
            </a:pPr>
            <a:r>
              <a:rPr lang="en-US" altLang="zh-CN" sz="1000" i="1" kern="100" dirty="0"/>
              <a:t>            else begin</a:t>
            </a:r>
            <a:endParaRPr lang="zh-CN" altLang="zh-CN" sz="1000" kern="100" dirty="0"/>
          </a:p>
          <a:p>
            <a:pPr indent="266700">
              <a:spcAft>
                <a:spcPts val="0"/>
              </a:spcAft>
            </a:pPr>
            <a:r>
              <a:rPr lang="en-US" altLang="zh-CN" sz="1000" i="1" kern="100" dirty="0"/>
              <a:t>                if(in[2] == 1'b1) </a:t>
            </a:r>
            <a:endParaRPr lang="zh-CN" altLang="zh-CN" sz="1000" kern="100" dirty="0"/>
          </a:p>
          <a:p>
            <a:pPr indent="266700">
              <a:spcAft>
                <a:spcPts val="0"/>
              </a:spcAft>
            </a:pPr>
            <a:r>
              <a:rPr lang="en-US" altLang="zh-CN" sz="1000" i="1" kern="100" dirty="0"/>
              <a:t>                    out = 2'd2;</a:t>
            </a:r>
            <a:endParaRPr lang="zh-CN" altLang="zh-CN" sz="1000" kern="100" dirty="0"/>
          </a:p>
          <a:p>
            <a:pPr indent="266700">
              <a:spcAft>
                <a:spcPts val="0"/>
              </a:spcAft>
            </a:pPr>
            <a:r>
              <a:rPr lang="en-US" altLang="zh-CN" sz="1000" i="1" kern="100" dirty="0"/>
              <a:t>                else begin</a:t>
            </a:r>
            <a:endParaRPr lang="zh-CN" altLang="zh-CN" sz="1000" kern="100" dirty="0"/>
          </a:p>
          <a:p>
            <a:pPr indent="266700">
              <a:spcAft>
                <a:spcPts val="0"/>
              </a:spcAft>
            </a:pPr>
            <a:r>
              <a:rPr lang="en-US" altLang="zh-CN" sz="1000" i="1" kern="100" dirty="0"/>
              <a:t>                    if(in[3] == 1'b1)</a:t>
            </a:r>
            <a:endParaRPr lang="zh-CN" altLang="zh-CN" sz="1000" kern="100" dirty="0"/>
          </a:p>
          <a:p>
            <a:pPr indent="266700">
              <a:spcAft>
                <a:spcPts val="0"/>
              </a:spcAft>
            </a:pPr>
            <a:r>
              <a:rPr lang="en-US" altLang="zh-CN" sz="1000" i="1" kern="100" dirty="0"/>
              <a:t>                        out = 2'd3;</a:t>
            </a:r>
            <a:endParaRPr lang="zh-CN" altLang="zh-CN" sz="1000" kern="100" dirty="0"/>
          </a:p>
          <a:p>
            <a:pPr indent="266700">
              <a:spcAft>
                <a:spcPts val="0"/>
              </a:spcAft>
            </a:pPr>
            <a:r>
              <a:rPr lang="en-US" altLang="zh-CN" sz="1000" i="1" kern="100" dirty="0"/>
              <a:t>                    else </a:t>
            </a:r>
            <a:endParaRPr lang="zh-CN" altLang="zh-CN" sz="1000" kern="100" dirty="0"/>
          </a:p>
          <a:p>
            <a:pPr indent="266700">
              <a:spcAft>
                <a:spcPts val="0"/>
              </a:spcAft>
            </a:pPr>
            <a:r>
              <a:rPr lang="en-US" altLang="zh-CN" sz="1000" i="1" kern="100" dirty="0"/>
              <a:t>                        out = 0;</a:t>
            </a:r>
            <a:endParaRPr lang="zh-CN" altLang="zh-CN" sz="1000" kern="100" dirty="0"/>
          </a:p>
          <a:p>
            <a:pPr indent="266700">
              <a:spcAft>
                <a:spcPts val="0"/>
              </a:spcAft>
            </a:pPr>
            <a:r>
              <a:rPr lang="en-US" altLang="zh-CN" sz="1000" i="1" kern="100" dirty="0"/>
              <a:t>                end</a:t>
            </a:r>
            <a:endParaRPr lang="zh-CN" altLang="zh-CN" sz="1000" kern="100" dirty="0"/>
          </a:p>
          <a:p>
            <a:pPr indent="266700">
              <a:spcAft>
                <a:spcPts val="0"/>
              </a:spcAft>
            </a:pPr>
            <a:r>
              <a:rPr lang="en-US" altLang="zh-CN" sz="1000" i="1" kern="100" dirty="0"/>
              <a:t>            end</a:t>
            </a:r>
            <a:endParaRPr lang="zh-CN" altLang="zh-CN" sz="1000" kern="100" dirty="0"/>
          </a:p>
          <a:p>
            <a:pPr indent="266700">
              <a:spcAft>
                <a:spcPts val="0"/>
              </a:spcAft>
            </a:pPr>
            <a:r>
              <a:rPr lang="en-US" altLang="zh-CN" sz="1000" i="1" kern="100" dirty="0"/>
              <a:t>        end</a:t>
            </a:r>
            <a:endParaRPr lang="zh-CN" altLang="zh-CN" sz="1000" kern="100" dirty="0"/>
          </a:p>
          <a:p>
            <a:pPr indent="266700">
              <a:spcAft>
                <a:spcPts val="0"/>
              </a:spcAft>
            </a:pPr>
            <a:r>
              <a:rPr lang="en-US" altLang="zh-CN" sz="1000" i="1" kern="100" dirty="0"/>
              <a:t>    end</a:t>
            </a:r>
            <a:endParaRPr lang="zh-CN" altLang="zh-CN" sz="1000" kern="100" dirty="0"/>
          </a:p>
          <a:p>
            <a:pPr indent="266700">
              <a:spcAft>
                <a:spcPts val="0"/>
              </a:spcAft>
            </a:pPr>
            <a:r>
              <a:rPr lang="en-US" altLang="zh-CN" sz="1000" i="1" kern="100" dirty="0" err="1"/>
              <a:t>endmodule</a:t>
            </a:r>
            <a:endParaRPr lang="zh-CN" altLang="zh-CN" sz="1000" kern="100" dirty="0"/>
          </a:p>
        </p:txBody>
      </p:sp>
      <p:sp>
        <p:nvSpPr>
          <p:cNvPr id="6" name="矩形 5"/>
          <p:cNvSpPr/>
          <p:nvPr/>
        </p:nvSpPr>
        <p:spPr>
          <a:xfrm>
            <a:off x="254314" y="2549427"/>
            <a:ext cx="8520993" cy="4154984"/>
          </a:xfrm>
          <a:prstGeom prst="rect">
            <a:avLst/>
          </a:prstGeom>
        </p:spPr>
        <p:txBody>
          <a:bodyPr wrap="square">
            <a:spAutoFit/>
          </a:bodyPr>
          <a:lstStyle/>
          <a:p>
            <a:pPr indent="266700">
              <a:spcAft>
                <a:spcPts val="0"/>
              </a:spcAft>
            </a:pPr>
            <a:r>
              <a:rPr lang="zh-CN" altLang="zh-CN" sz="1100" kern="100" dirty="0" smtClean="0"/>
              <a:t>解</a:t>
            </a:r>
            <a:r>
              <a:rPr lang="zh-CN" altLang="zh-CN" sz="1100" kern="100" dirty="0"/>
              <a:t>：本题的编码器要求输出的是从右向左的第一个</a:t>
            </a:r>
            <a:r>
              <a:rPr lang="en-US" altLang="zh-CN" sz="1100" kern="100" dirty="0"/>
              <a:t>1</a:t>
            </a:r>
            <a:r>
              <a:rPr lang="zh-CN" altLang="zh-CN" sz="1100" kern="100" dirty="0"/>
              <a:t>，所以相当于是一个优先编码器，在前文的组合电路部分对优先编码器的真值表和逻辑函数都有阐述。而在</a:t>
            </a:r>
            <a:r>
              <a:rPr lang="en-US" altLang="zh-CN" sz="1100" kern="100" dirty="0"/>
              <a:t>Verilog</a:t>
            </a:r>
            <a:r>
              <a:rPr lang="zh-CN" altLang="zh-CN" sz="1100" kern="100" dirty="0"/>
              <a:t>中，可以采用</a:t>
            </a:r>
            <a:r>
              <a:rPr lang="en-US" altLang="zh-CN" sz="1100" kern="100" dirty="0"/>
              <a:t>case</a:t>
            </a:r>
            <a:r>
              <a:rPr lang="zh-CN" altLang="zh-CN" sz="1100" kern="100" dirty="0"/>
              <a:t>语句，将不同的分支情况列出，实现优先编码器模块。</a:t>
            </a:r>
            <a:endParaRPr lang="zh-CN" altLang="zh-CN" sz="1100" kern="100" dirty="0"/>
          </a:p>
          <a:p>
            <a:pPr indent="266700">
              <a:spcAft>
                <a:spcPts val="0"/>
              </a:spcAft>
            </a:pPr>
            <a:r>
              <a:rPr lang="en-US" altLang="zh-CN" sz="1100" i="1" kern="100" dirty="0"/>
              <a:t>module </a:t>
            </a:r>
            <a:r>
              <a:rPr lang="en-US" altLang="zh-CN" sz="1100" i="1" kern="100" dirty="0" err="1"/>
              <a:t>top_module</a:t>
            </a:r>
            <a:r>
              <a:rPr lang="en-US" altLang="zh-CN" sz="1100" i="1" kern="100" dirty="0"/>
              <a:t> </a:t>
            </a:r>
            <a:r>
              <a:rPr lang="en-US" altLang="zh-CN" sz="1100" i="1" kern="100" dirty="0">
                <a:solidFill>
                  <a:srgbClr val="000000"/>
                </a:solidFill>
              </a:rPr>
              <a:t>(</a:t>
            </a:r>
            <a:endParaRPr lang="zh-CN" altLang="zh-CN" sz="1100" kern="100" dirty="0"/>
          </a:p>
          <a:p>
            <a:pPr indent="266700">
              <a:spcAft>
                <a:spcPts val="0"/>
              </a:spcAft>
            </a:pPr>
            <a:r>
              <a:rPr lang="en-US" altLang="zh-CN" sz="1100" i="1" kern="100" dirty="0"/>
              <a:t>    input [3:0] in,</a:t>
            </a:r>
            <a:endParaRPr lang="zh-CN" altLang="zh-CN" sz="1100" kern="100" dirty="0"/>
          </a:p>
          <a:p>
            <a:pPr indent="266700">
              <a:spcAft>
                <a:spcPts val="0"/>
              </a:spcAft>
            </a:pPr>
            <a:r>
              <a:rPr lang="en-US" altLang="zh-CN" sz="1100" i="1" kern="100" dirty="0"/>
              <a:t>    output </a:t>
            </a:r>
            <a:r>
              <a:rPr lang="en-US" altLang="zh-CN" sz="1100" i="1" kern="100" dirty="0" err="1"/>
              <a:t>reg</a:t>
            </a:r>
            <a:r>
              <a:rPr lang="en-US" altLang="zh-CN" sz="1100" i="1" kern="100" dirty="0"/>
              <a:t> [1:0] out</a:t>
            </a:r>
            <a:r>
              <a:rPr lang="en-US" altLang="zh-CN" sz="1100" i="1" kern="100" dirty="0">
                <a:solidFill>
                  <a:srgbClr val="000000"/>
                </a:solidFill>
              </a:rPr>
              <a:t>)</a:t>
            </a:r>
            <a:r>
              <a:rPr lang="en-US" altLang="zh-CN" sz="1100" i="1" kern="100" dirty="0"/>
              <a:t>;</a:t>
            </a:r>
            <a:endParaRPr lang="zh-CN" altLang="zh-CN" sz="1100" kern="100" dirty="0"/>
          </a:p>
          <a:p>
            <a:pPr indent="266700">
              <a:spcAft>
                <a:spcPts val="0"/>
              </a:spcAft>
            </a:pPr>
            <a:r>
              <a:rPr lang="en-US" altLang="zh-CN" sz="1100" i="1" kern="100" dirty="0"/>
              <a:t>    always @(*) begin</a:t>
            </a:r>
            <a:endParaRPr lang="zh-CN" altLang="zh-CN" sz="1100" kern="100" dirty="0"/>
          </a:p>
          <a:p>
            <a:pPr indent="266700">
              <a:spcAft>
                <a:spcPts val="0"/>
              </a:spcAft>
            </a:pPr>
            <a:r>
              <a:rPr lang="en-US" altLang="zh-CN" sz="1100" i="1" kern="100" dirty="0"/>
              <a:t>        if (in[0] == 1'b1)</a:t>
            </a:r>
            <a:endParaRPr lang="zh-CN" altLang="zh-CN" sz="1100" kern="100" dirty="0"/>
          </a:p>
          <a:p>
            <a:pPr indent="266700">
              <a:spcAft>
                <a:spcPts val="0"/>
              </a:spcAft>
            </a:pPr>
            <a:r>
              <a:rPr lang="en-US" altLang="zh-CN" sz="1100" i="1" kern="100" dirty="0"/>
              <a:t>            out = 2'd0;</a:t>
            </a:r>
            <a:endParaRPr lang="zh-CN" altLang="zh-CN" sz="1100" kern="100" dirty="0"/>
          </a:p>
          <a:p>
            <a:pPr indent="266700">
              <a:spcAft>
                <a:spcPts val="0"/>
              </a:spcAft>
            </a:pPr>
            <a:r>
              <a:rPr lang="en-US" altLang="zh-CN" sz="1100" i="1" kern="100" dirty="0"/>
              <a:t>        else begin</a:t>
            </a:r>
            <a:endParaRPr lang="zh-CN" altLang="zh-CN" sz="1100" kern="100" dirty="0"/>
          </a:p>
          <a:p>
            <a:pPr indent="266700">
              <a:spcAft>
                <a:spcPts val="0"/>
              </a:spcAft>
            </a:pPr>
            <a:r>
              <a:rPr lang="en-US" altLang="zh-CN" sz="1100" i="1" kern="100" dirty="0"/>
              <a:t>            if(in[1] == 1'b1)</a:t>
            </a:r>
            <a:endParaRPr lang="zh-CN" altLang="zh-CN" sz="1100" kern="100" dirty="0"/>
          </a:p>
          <a:p>
            <a:pPr indent="266700">
              <a:spcAft>
                <a:spcPts val="0"/>
              </a:spcAft>
            </a:pPr>
            <a:r>
              <a:rPr lang="en-US" altLang="zh-CN" sz="1100" i="1" kern="100" dirty="0"/>
              <a:t>                out = 2'd1;</a:t>
            </a:r>
            <a:endParaRPr lang="zh-CN" altLang="zh-CN" sz="1100" kern="100" dirty="0"/>
          </a:p>
          <a:p>
            <a:pPr indent="266700">
              <a:spcAft>
                <a:spcPts val="0"/>
              </a:spcAft>
            </a:pPr>
            <a:r>
              <a:rPr lang="en-US" altLang="zh-CN" sz="1100" i="1" kern="100" dirty="0"/>
              <a:t>            else begin</a:t>
            </a:r>
            <a:endParaRPr lang="zh-CN" altLang="zh-CN" sz="1100" kern="100" dirty="0"/>
          </a:p>
          <a:p>
            <a:pPr indent="266700">
              <a:spcAft>
                <a:spcPts val="0"/>
              </a:spcAft>
            </a:pPr>
            <a:r>
              <a:rPr lang="en-US" altLang="zh-CN" sz="1100" i="1" kern="100" dirty="0"/>
              <a:t>                if(in[2] == 1'b1) </a:t>
            </a:r>
            <a:endParaRPr lang="zh-CN" altLang="zh-CN" sz="1100" kern="100" dirty="0"/>
          </a:p>
          <a:p>
            <a:pPr indent="266700">
              <a:spcAft>
                <a:spcPts val="0"/>
              </a:spcAft>
            </a:pPr>
            <a:r>
              <a:rPr lang="en-US" altLang="zh-CN" sz="1100" i="1" kern="100" dirty="0"/>
              <a:t>                    out = 2'd2;</a:t>
            </a:r>
            <a:endParaRPr lang="zh-CN" altLang="zh-CN" sz="1100" kern="100" dirty="0"/>
          </a:p>
          <a:p>
            <a:pPr indent="266700">
              <a:spcAft>
                <a:spcPts val="0"/>
              </a:spcAft>
            </a:pPr>
            <a:r>
              <a:rPr lang="en-US" altLang="zh-CN" sz="1100" i="1" kern="100" dirty="0"/>
              <a:t>                else begin</a:t>
            </a:r>
            <a:endParaRPr lang="zh-CN" altLang="zh-CN" sz="1100" kern="100" dirty="0"/>
          </a:p>
          <a:p>
            <a:pPr indent="266700">
              <a:spcAft>
                <a:spcPts val="0"/>
              </a:spcAft>
            </a:pPr>
            <a:r>
              <a:rPr lang="en-US" altLang="zh-CN" sz="1100" i="1" kern="100" dirty="0"/>
              <a:t>                    if(in[3] == 1'b1)</a:t>
            </a:r>
            <a:endParaRPr lang="zh-CN" altLang="zh-CN" sz="1100" kern="100" dirty="0"/>
          </a:p>
          <a:p>
            <a:pPr indent="266700">
              <a:spcAft>
                <a:spcPts val="0"/>
              </a:spcAft>
            </a:pPr>
            <a:r>
              <a:rPr lang="en-US" altLang="zh-CN" sz="1100" i="1" kern="100" dirty="0"/>
              <a:t>                        out = 2'd3;</a:t>
            </a:r>
            <a:endParaRPr lang="zh-CN" altLang="zh-CN" sz="1100" kern="100" dirty="0"/>
          </a:p>
          <a:p>
            <a:pPr indent="266700">
              <a:spcAft>
                <a:spcPts val="0"/>
              </a:spcAft>
            </a:pPr>
            <a:r>
              <a:rPr lang="en-US" altLang="zh-CN" sz="1100" i="1" kern="100" dirty="0"/>
              <a:t>                    else </a:t>
            </a:r>
            <a:endParaRPr lang="zh-CN" altLang="zh-CN" sz="1100" kern="100" dirty="0"/>
          </a:p>
          <a:p>
            <a:pPr indent="266700">
              <a:spcAft>
                <a:spcPts val="0"/>
              </a:spcAft>
            </a:pPr>
            <a:r>
              <a:rPr lang="en-US" altLang="zh-CN" sz="1100" i="1" kern="100" dirty="0"/>
              <a:t>                        out = 0;</a:t>
            </a:r>
            <a:endParaRPr lang="zh-CN" altLang="zh-CN" sz="1100" kern="100" dirty="0"/>
          </a:p>
          <a:p>
            <a:pPr indent="266700">
              <a:spcAft>
                <a:spcPts val="0"/>
              </a:spcAft>
            </a:pPr>
            <a:r>
              <a:rPr lang="en-US" altLang="zh-CN" sz="1100" i="1" kern="100" dirty="0"/>
              <a:t>                end</a:t>
            </a:r>
            <a:endParaRPr lang="zh-CN" altLang="zh-CN" sz="1100" kern="100" dirty="0"/>
          </a:p>
          <a:p>
            <a:pPr indent="266700">
              <a:spcAft>
                <a:spcPts val="0"/>
              </a:spcAft>
            </a:pPr>
            <a:r>
              <a:rPr lang="en-US" altLang="zh-CN" sz="1100" i="1" kern="100" dirty="0"/>
              <a:t>            end</a:t>
            </a:r>
            <a:endParaRPr lang="zh-CN" altLang="zh-CN" sz="1100" kern="100" dirty="0"/>
          </a:p>
          <a:p>
            <a:pPr indent="266700">
              <a:spcAft>
                <a:spcPts val="0"/>
              </a:spcAft>
            </a:pPr>
            <a:r>
              <a:rPr lang="en-US" altLang="zh-CN" sz="1100" i="1" kern="100" dirty="0"/>
              <a:t>        end</a:t>
            </a:r>
            <a:endParaRPr lang="zh-CN" altLang="zh-CN" sz="1100" kern="100" dirty="0"/>
          </a:p>
          <a:p>
            <a:pPr indent="266700">
              <a:spcAft>
                <a:spcPts val="0"/>
              </a:spcAft>
            </a:pPr>
            <a:r>
              <a:rPr lang="en-US" altLang="zh-CN" sz="1100" i="1" kern="100" dirty="0"/>
              <a:t>    end</a:t>
            </a:r>
            <a:endParaRPr lang="zh-CN" altLang="zh-CN" sz="1100" kern="100" dirty="0"/>
          </a:p>
          <a:p>
            <a:pPr indent="266700">
              <a:spcAft>
                <a:spcPts val="0"/>
              </a:spcAft>
            </a:pPr>
            <a:r>
              <a:rPr lang="en-US" altLang="zh-CN" sz="1100" i="1" kern="100" dirty="0" err="1"/>
              <a:t>endmodule</a:t>
            </a:r>
            <a:endParaRPr lang="zh-CN" altLang="zh-CN" sz="1100"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25857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16】</a:t>
            </a:r>
            <a:r>
              <a:rPr lang="zh-CN" altLang="en-US" sz="1800" dirty="0"/>
              <a:t>组合电路练习：读</a:t>
            </a:r>
            <a:r>
              <a:rPr lang="zh-CN" altLang="en-US" sz="1800" dirty="0" smtClean="0"/>
              <a:t>图仿真</a:t>
            </a:r>
            <a:r>
              <a:rPr lang="zh-CN" altLang="en-US" sz="1800" dirty="0"/>
              <a:t>波形，确定电路的功能并实现。其中输入输出位宽为</a:t>
            </a:r>
            <a:r>
              <a:rPr lang="en-US" altLang="zh-CN" sz="1800" dirty="0"/>
              <a:t>4</a:t>
            </a:r>
            <a:r>
              <a:rPr lang="zh-CN" altLang="en-US" sz="1800" dirty="0" smtClean="0"/>
              <a:t>。</a:t>
            </a:r>
            <a:endParaRPr lang="zh-CN" altLang="en-US" sz="2400" dirty="0"/>
          </a:p>
        </p:txBody>
      </p:sp>
      <p:sp>
        <p:nvSpPr>
          <p:cNvPr id="2" name="矩形 1"/>
          <p:cNvSpPr/>
          <p:nvPr/>
        </p:nvSpPr>
        <p:spPr>
          <a:xfrm>
            <a:off x="576052" y="3439705"/>
            <a:ext cx="8199256" cy="3323987"/>
          </a:xfrm>
          <a:prstGeom prst="rect">
            <a:avLst/>
          </a:prstGeom>
        </p:spPr>
        <p:txBody>
          <a:bodyPr wrap="square">
            <a:spAutoFit/>
          </a:bodyPr>
          <a:lstStyle/>
          <a:p>
            <a:r>
              <a:rPr lang="zh-CN" altLang="zh-CN" sz="1200" dirty="0"/>
              <a:t>解：从图</a:t>
            </a:r>
            <a:r>
              <a:rPr lang="en-US" altLang="zh-CN" sz="1200" dirty="0"/>
              <a:t>10.20</a:t>
            </a:r>
            <a:r>
              <a:rPr lang="zh-CN" altLang="zh-CN" sz="1200" dirty="0"/>
              <a:t>可以看出，</a:t>
            </a:r>
            <a:r>
              <a:rPr lang="en-US" altLang="zh-CN" sz="1200" i="1" dirty="0" err="1"/>
              <a:t>a~e</a:t>
            </a:r>
            <a:r>
              <a:rPr lang="zh-CN" altLang="zh-CN" sz="1200" dirty="0"/>
              <a:t>是</a:t>
            </a:r>
            <a:r>
              <a:rPr lang="en-US" altLang="zh-CN" sz="1200" dirty="0"/>
              <a:t>5</a:t>
            </a:r>
            <a:r>
              <a:rPr lang="zh-CN" altLang="zh-CN" sz="1200" dirty="0"/>
              <a:t>个</a:t>
            </a:r>
            <a:r>
              <a:rPr lang="en-US" altLang="zh-CN" sz="1200" dirty="0"/>
              <a:t>4</a:t>
            </a:r>
            <a:r>
              <a:rPr lang="zh-CN" altLang="zh-CN" sz="1200" dirty="0"/>
              <a:t>位输入，</a:t>
            </a:r>
            <a:r>
              <a:rPr lang="en-US" altLang="zh-CN" sz="1200" i="1" dirty="0"/>
              <a:t>q</a:t>
            </a:r>
            <a:r>
              <a:rPr lang="zh-CN" altLang="zh-CN" sz="1200" dirty="0"/>
              <a:t>为输出。在图中用</a:t>
            </a:r>
            <a:r>
              <a:rPr lang="en-US" altLang="zh-CN" sz="1200" dirty="0"/>
              <a:t>0~f</a:t>
            </a:r>
            <a:r>
              <a:rPr lang="zh-CN" altLang="zh-CN" sz="1200" dirty="0"/>
              <a:t>表示</a:t>
            </a:r>
            <a:r>
              <a:rPr lang="en-US" altLang="zh-CN" sz="1200" i="1" dirty="0"/>
              <a:t>c</a:t>
            </a:r>
            <a:r>
              <a:rPr lang="zh-CN" altLang="zh-CN" sz="1200" dirty="0"/>
              <a:t>的输入值。可以看到，当输出部分在</a:t>
            </a:r>
            <a:r>
              <a:rPr lang="en-US" altLang="zh-CN" sz="1200" i="1" dirty="0"/>
              <a:t>c</a:t>
            </a:r>
            <a:r>
              <a:rPr lang="zh-CN" altLang="zh-CN" sz="1200" dirty="0"/>
              <a:t>为</a:t>
            </a:r>
            <a:r>
              <a:rPr lang="en-US" altLang="zh-CN" sz="1200" dirty="0"/>
              <a:t>0~3</a:t>
            </a:r>
            <a:r>
              <a:rPr lang="zh-CN" altLang="zh-CN" sz="1200" dirty="0"/>
              <a:t>时输出部分分别为</a:t>
            </a:r>
            <a:r>
              <a:rPr lang="en-US" altLang="zh-CN" sz="1200" dirty="0"/>
              <a:t>b</a:t>
            </a:r>
            <a:r>
              <a:rPr lang="zh-CN" altLang="zh-CN" sz="1200" dirty="0"/>
              <a:t>、</a:t>
            </a:r>
            <a:r>
              <a:rPr lang="en-US" altLang="zh-CN" sz="1200" dirty="0"/>
              <a:t>e</a:t>
            </a:r>
            <a:r>
              <a:rPr lang="zh-CN" altLang="zh-CN" sz="1200" dirty="0"/>
              <a:t>、</a:t>
            </a:r>
            <a:r>
              <a:rPr lang="en-US" altLang="zh-CN" sz="1200" dirty="0"/>
              <a:t>a</a:t>
            </a:r>
            <a:r>
              <a:rPr lang="zh-CN" altLang="zh-CN" sz="1200" dirty="0"/>
              <a:t>、</a:t>
            </a:r>
            <a:r>
              <a:rPr lang="en-US" altLang="zh-CN" sz="1200" dirty="0"/>
              <a:t>d</a:t>
            </a:r>
            <a:r>
              <a:rPr lang="zh-CN" altLang="zh-CN" sz="1200" dirty="0"/>
              <a:t>的值，其余情况输出为</a:t>
            </a:r>
            <a:r>
              <a:rPr lang="en-US" altLang="zh-CN" sz="1200" dirty="0"/>
              <a:t>f</a:t>
            </a:r>
            <a:r>
              <a:rPr lang="zh-CN" altLang="zh-CN" sz="1200" dirty="0"/>
              <a:t>。其中</a:t>
            </a:r>
            <a:r>
              <a:rPr lang="en-US" altLang="zh-CN" sz="1200" dirty="0"/>
              <a:t>f</a:t>
            </a:r>
            <a:r>
              <a:rPr lang="zh-CN" altLang="zh-CN" sz="1200" dirty="0"/>
              <a:t>没有给出相应的定义，所以有可能是一个</a:t>
            </a:r>
            <a:r>
              <a:rPr lang="en-US" altLang="zh-CN" sz="1200" dirty="0"/>
              <a:t>16</a:t>
            </a:r>
            <a:r>
              <a:rPr lang="zh-CN" altLang="zh-CN" sz="1200" dirty="0"/>
              <a:t>进制的</a:t>
            </a:r>
            <a:r>
              <a:rPr lang="en-US" altLang="zh-CN" sz="1200" dirty="0"/>
              <a:t>f</a:t>
            </a:r>
            <a:r>
              <a:rPr lang="zh-CN" altLang="zh-CN" sz="1200" dirty="0"/>
              <a:t>。</a:t>
            </a:r>
            <a:endParaRPr lang="zh-CN" altLang="zh-CN" sz="1200" dirty="0"/>
          </a:p>
          <a:p>
            <a:r>
              <a:rPr lang="zh-CN" altLang="zh-CN" sz="1200" dirty="0"/>
              <a:t>综上，波形图所示是一个组合电路模块，模块只对</a:t>
            </a:r>
            <a:r>
              <a:rPr lang="en-US" altLang="zh-CN" sz="1200" dirty="0"/>
              <a:t>c</a:t>
            </a:r>
            <a:r>
              <a:rPr lang="zh-CN" altLang="zh-CN" sz="1200" dirty="0"/>
              <a:t>的特定输入选择特定输出，采用</a:t>
            </a:r>
            <a:r>
              <a:rPr lang="en-US" altLang="zh-CN" sz="1200" dirty="0"/>
              <a:t>case</a:t>
            </a:r>
            <a:r>
              <a:rPr lang="zh-CN" altLang="zh-CN" sz="1200" dirty="0"/>
              <a:t>语句实现，用</a:t>
            </a:r>
            <a:r>
              <a:rPr lang="en-US" altLang="zh-CN" sz="1200" dirty="0"/>
              <a:t>always</a:t>
            </a:r>
            <a:r>
              <a:rPr lang="zh-CN" altLang="zh-CN" sz="1200" dirty="0"/>
              <a:t>保证</a:t>
            </a:r>
            <a:r>
              <a:rPr lang="en-US" altLang="zh-CN" sz="1200" dirty="0"/>
              <a:t>c</a:t>
            </a:r>
            <a:r>
              <a:rPr lang="zh-CN" altLang="zh-CN" sz="1200" dirty="0"/>
              <a:t>从</a:t>
            </a:r>
            <a:r>
              <a:rPr lang="en-US" altLang="zh-CN" sz="1200" dirty="0"/>
              <a:t>0~f</a:t>
            </a:r>
            <a:r>
              <a:rPr lang="zh-CN" altLang="zh-CN" sz="1200" dirty="0"/>
              <a:t>的循环。代码为：</a:t>
            </a:r>
            <a:endParaRPr lang="zh-CN" altLang="zh-CN" sz="1200" dirty="0"/>
          </a:p>
          <a:p>
            <a:r>
              <a:rPr lang="en-US" altLang="zh-CN" sz="900" i="1" dirty="0"/>
              <a:t>module </a:t>
            </a:r>
            <a:r>
              <a:rPr lang="en-US" altLang="zh-CN" sz="900" i="1" dirty="0" err="1"/>
              <a:t>top_module</a:t>
            </a:r>
            <a:r>
              <a:rPr lang="en-US" altLang="zh-CN" sz="900" i="1" dirty="0"/>
              <a:t> (</a:t>
            </a:r>
            <a:endParaRPr lang="zh-CN" altLang="zh-CN" sz="900" dirty="0"/>
          </a:p>
          <a:p>
            <a:r>
              <a:rPr lang="en-US" altLang="zh-CN" sz="900" i="1" dirty="0"/>
              <a:t>    input [3:0] a,</a:t>
            </a:r>
            <a:endParaRPr lang="zh-CN" altLang="zh-CN" sz="900" dirty="0"/>
          </a:p>
          <a:p>
            <a:r>
              <a:rPr lang="en-US" altLang="zh-CN" sz="900" i="1" dirty="0"/>
              <a:t>    input [3:0] b,</a:t>
            </a:r>
            <a:endParaRPr lang="zh-CN" altLang="zh-CN" sz="900" dirty="0"/>
          </a:p>
          <a:p>
            <a:r>
              <a:rPr lang="en-US" altLang="zh-CN" sz="900" i="1" dirty="0"/>
              <a:t>    input [3:0] c,</a:t>
            </a:r>
            <a:endParaRPr lang="zh-CN" altLang="zh-CN" sz="900" dirty="0"/>
          </a:p>
          <a:p>
            <a:r>
              <a:rPr lang="en-US" altLang="zh-CN" sz="900" i="1" dirty="0"/>
              <a:t>    input [3:0] d,</a:t>
            </a:r>
            <a:endParaRPr lang="zh-CN" altLang="zh-CN" sz="900" dirty="0"/>
          </a:p>
          <a:p>
            <a:r>
              <a:rPr lang="en-US" altLang="zh-CN" sz="900" i="1" dirty="0"/>
              <a:t>    input [3:0] e,</a:t>
            </a:r>
            <a:endParaRPr lang="zh-CN" altLang="zh-CN" sz="900" dirty="0"/>
          </a:p>
          <a:p>
            <a:r>
              <a:rPr lang="en-US" altLang="zh-CN" sz="900" i="1" dirty="0"/>
              <a:t>    output </a:t>
            </a:r>
            <a:r>
              <a:rPr lang="en-US" altLang="zh-CN" sz="900" i="1" dirty="0" err="1"/>
              <a:t>reg</a:t>
            </a:r>
            <a:r>
              <a:rPr lang="en-US" altLang="zh-CN" sz="900" i="1" dirty="0"/>
              <a:t> [3:0] q );</a:t>
            </a:r>
            <a:endParaRPr lang="zh-CN" altLang="zh-CN" sz="900" dirty="0"/>
          </a:p>
          <a:p>
            <a:r>
              <a:rPr lang="en-US" altLang="zh-CN" sz="900" i="1" dirty="0"/>
              <a:t>    always @(*) begin</a:t>
            </a:r>
            <a:endParaRPr lang="zh-CN" altLang="zh-CN" sz="900" dirty="0"/>
          </a:p>
          <a:p>
            <a:r>
              <a:rPr lang="en-US" altLang="zh-CN" sz="900" i="1" dirty="0"/>
              <a:t>        case (c) </a:t>
            </a:r>
            <a:endParaRPr lang="zh-CN" altLang="zh-CN" sz="900" dirty="0"/>
          </a:p>
          <a:p>
            <a:r>
              <a:rPr lang="en-US" altLang="zh-CN" sz="900" i="1" dirty="0"/>
              <a:t>            4'h0:  q &lt;= b; </a:t>
            </a:r>
            <a:endParaRPr lang="zh-CN" altLang="zh-CN" sz="900" dirty="0"/>
          </a:p>
          <a:p>
            <a:r>
              <a:rPr lang="en-US" altLang="zh-CN" sz="900" i="1" dirty="0"/>
              <a:t>            4'h1:  q &lt;= e; </a:t>
            </a:r>
            <a:endParaRPr lang="zh-CN" altLang="zh-CN" sz="900" dirty="0"/>
          </a:p>
          <a:p>
            <a:r>
              <a:rPr lang="en-US" altLang="zh-CN" sz="900" i="1" dirty="0"/>
              <a:t>            4'h2:  q &lt;= a;</a:t>
            </a:r>
            <a:endParaRPr lang="zh-CN" altLang="zh-CN" sz="900" dirty="0"/>
          </a:p>
          <a:p>
            <a:r>
              <a:rPr lang="en-US" altLang="zh-CN" sz="900" i="1" dirty="0"/>
              <a:t>            4'h3:  q &lt;= d;</a:t>
            </a:r>
            <a:endParaRPr lang="zh-CN" altLang="zh-CN" sz="900" dirty="0"/>
          </a:p>
          <a:p>
            <a:r>
              <a:rPr lang="en-US" altLang="zh-CN" sz="900" i="1" dirty="0"/>
              <a:t>            default: q &lt;= 4'hf;</a:t>
            </a:r>
            <a:endParaRPr lang="zh-CN" altLang="zh-CN" sz="900" dirty="0"/>
          </a:p>
          <a:p>
            <a:r>
              <a:rPr lang="en-US" altLang="zh-CN" sz="900" i="1" dirty="0"/>
              <a:t>        </a:t>
            </a:r>
            <a:r>
              <a:rPr lang="en-US" altLang="zh-CN" sz="900" i="1" dirty="0" err="1"/>
              <a:t>endcase</a:t>
            </a:r>
            <a:endParaRPr lang="zh-CN" altLang="zh-CN" sz="900" dirty="0"/>
          </a:p>
          <a:p>
            <a:r>
              <a:rPr lang="en-US" altLang="zh-CN" sz="900" i="1" dirty="0"/>
              <a:t>    end</a:t>
            </a:r>
            <a:endParaRPr lang="zh-CN" altLang="zh-CN" sz="900" dirty="0"/>
          </a:p>
          <a:p>
            <a:r>
              <a:rPr lang="en-US" altLang="zh-CN" sz="900" i="1" dirty="0" err="1"/>
              <a:t>endmodule</a:t>
            </a:r>
            <a:endParaRPr lang="zh-CN" altLang="zh-CN" sz="900" dirty="0"/>
          </a:p>
          <a:p>
            <a:endParaRPr lang="zh-CN" altLang="zh-CN" sz="900" dirty="0"/>
          </a:p>
        </p:txBody>
      </p:sp>
      <p:pic>
        <p:nvPicPr>
          <p:cNvPr id="7" name="图片 6" descr="1572147279533064647.png"/>
          <p:cNvPicPr/>
          <p:nvPr/>
        </p:nvPicPr>
        <p:blipFill>
          <a:blip r:embed="rId1" cstate="print"/>
          <a:stretch>
            <a:fillRect/>
          </a:stretch>
        </p:blipFill>
        <p:spPr>
          <a:xfrm>
            <a:off x="2294021" y="2085885"/>
            <a:ext cx="4528185" cy="135382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98171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17】</a:t>
            </a:r>
            <a:r>
              <a:rPr lang="zh-CN" altLang="en-US" sz="1800" dirty="0"/>
              <a:t>组合电路练习：</a:t>
            </a:r>
            <a:r>
              <a:rPr lang="zh-CN" altLang="en-US" sz="1800" dirty="0" smtClean="0"/>
              <a:t>读图所</a:t>
            </a:r>
            <a:r>
              <a:rPr lang="zh-CN" altLang="en-US" sz="1800" dirty="0"/>
              <a:t>示仿真波形确定电路的功能并实现。</a:t>
            </a:r>
            <a:endParaRPr lang="zh-CN" altLang="en-US" sz="2400" dirty="0"/>
          </a:p>
        </p:txBody>
      </p:sp>
      <p:sp>
        <p:nvSpPr>
          <p:cNvPr id="2" name="矩形 1"/>
          <p:cNvSpPr/>
          <p:nvPr/>
        </p:nvSpPr>
        <p:spPr>
          <a:xfrm>
            <a:off x="576052" y="3439705"/>
            <a:ext cx="8199256" cy="3647152"/>
          </a:xfrm>
          <a:prstGeom prst="rect">
            <a:avLst/>
          </a:prstGeom>
        </p:spPr>
        <p:txBody>
          <a:bodyPr wrap="square">
            <a:spAutoFit/>
          </a:bodyPr>
          <a:lstStyle/>
          <a:p>
            <a:r>
              <a:rPr lang="zh-CN" altLang="zh-CN" sz="1100" dirty="0"/>
              <a:t>解：从图</a:t>
            </a:r>
            <a:r>
              <a:rPr lang="en-US" altLang="zh-CN" sz="1100" dirty="0"/>
              <a:t>10.21</a:t>
            </a:r>
            <a:r>
              <a:rPr lang="zh-CN" altLang="zh-CN" sz="1100" dirty="0"/>
              <a:t>中可以看到这个电路只有</a:t>
            </a:r>
            <a:r>
              <a:rPr lang="en-US" altLang="zh-CN" sz="1100" dirty="0"/>
              <a:t>1</a:t>
            </a:r>
            <a:r>
              <a:rPr lang="zh-CN" altLang="zh-CN" sz="1100" dirty="0"/>
              <a:t>个输入和</a:t>
            </a:r>
            <a:r>
              <a:rPr lang="en-US" altLang="zh-CN" sz="1100" dirty="0"/>
              <a:t>1</a:t>
            </a:r>
            <a:r>
              <a:rPr lang="zh-CN" altLang="zh-CN" sz="1100" dirty="0"/>
              <a:t>个输出，没有时钟等控制信号，是一个组合电路。输入</a:t>
            </a:r>
            <a:r>
              <a:rPr lang="en-US" altLang="zh-CN" sz="1100" i="1" dirty="0"/>
              <a:t>a</a:t>
            </a:r>
            <a:r>
              <a:rPr lang="zh-CN" altLang="zh-CN" sz="1100" dirty="0"/>
              <a:t>从</a:t>
            </a:r>
            <a:r>
              <a:rPr lang="en-US" altLang="zh-CN" sz="1100" dirty="0"/>
              <a:t>0~7</a:t>
            </a:r>
            <a:r>
              <a:rPr lang="zh-CN" altLang="zh-CN" sz="1100" dirty="0"/>
              <a:t>循环，说明</a:t>
            </a:r>
            <a:r>
              <a:rPr lang="en-US" altLang="zh-CN" sz="1100" i="1" dirty="0"/>
              <a:t>a</a:t>
            </a:r>
            <a:r>
              <a:rPr lang="zh-CN" altLang="zh-CN" sz="1100" dirty="0"/>
              <a:t>是</a:t>
            </a:r>
            <a:r>
              <a:rPr lang="en-US" altLang="zh-CN" sz="1100" dirty="0"/>
              <a:t>3</a:t>
            </a:r>
            <a:r>
              <a:rPr lang="zh-CN" altLang="zh-CN" sz="1100" dirty="0"/>
              <a:t>位二进制数。输出</a:t>
            </a:r>
            <a:r>
              <a:rPr lang="en-US" altLang="zh-CN" sz="1100" i="1" dirty="0"/>
              <a:t>q</a:t>
            </a:r>
            <a:r>
              <a:rPr lang="zh-CN" altLang="zh-CN" sz="1100" dirty="0"/>
              <a:t>表现不规则，从输出数据来看，是</a:t>
            </a:r>
            <a:r>
              <a:rPr lang="en-US" altLang="zh-CN" sz="1100" dirty="0"/>
              <a:t>4</a:t>
            </a:r>
            <a:r>
              <a:rPr lang="zh-CN" altLang="zh-CN" sz="1100" dirty="0"/>
              <a:t>个</a:t>
            </a:r>
            <a:r>
              <a:rPr lang="en-US" altLang="zh-CN" sz="1100" dirty="0"/>
              <a:t>16</a:t>
            </a:r>
            <a:r>
              <a:rPr lang="zh-CN" altLang="zh-CN" sz="1100" dirty="0"/>
              <a:t>进制数表示的，所以定义</a:t>
            </a:r>
            <a:r>
              <a:rPr lang="en-US" altLang="zh-CN" sz="1100" i="1" dirty="0"/>
              <a:t>q</a:t>
            </a:r>
            <a:r>
              <a:rPr lang="zh-CN" altLang="zh-CN" sz="1100" dirty="0"/>
              <a:t>输出为</a:t>
            </a:r>
            <a:r>
              <a:rPr lang="en-US" altLang="zh-CN" sz="1100" dirty="0" err="1"/>
              <a:t>reg</a:t>
            </a:r>
            <a:r>
              <a:rPr lang="en-US" altLang="zh-CN" sz="1100" dirty="0"/>
              <a:t> [15:0]</a:t>
            </a:r>
            <a:r>
              <a:rPr lang="zh-CN" altLang="zh-CN" sz="1100" dirty="0"/>
              <a:t>。</a:t>
            </a:r>
            <a:endParaRPr lang="zh-CN" altLang="zh-CN" sz="1100" dirty="0"/>
          </a:p>
          <a:p>
            <a:r>
              <a:rPr lang="zh-CN" altLang="zh-CN" sz="1100" dirty="0"/>
              <a:t>采用类似的</a:t>
            </a:r>
            <a:r>
              <a:rPr lang="en-US" altLang="zh-CN" sz="1100" dirty="0"/>
              <a:t>case</a:t>
            </a:r>
            <a:r>
              <a:rPr lang="zh-CN" altLang="zh-CN" sz="1100" dirty="0"/>
              <a:t>语句，分别列出</a:t>
            </a:r>
            <a:r>
              <a:rPr lang="en-US" altLang="zh-CN" sz="1100" i="1" dirty="0"/>
              <a:t>a</a:t>
            </a:r>
            <a:r>
              <a:rPr lang="zh-CN" altLang="zh-CN" sz="1100" dirty="0"/>
              <a:t>为</a:t>
            </a:r>
            <a:r>
              <a:rPr lang="en-US" altLang="zh-CN" sz="1100" dirty="0"/>
              <a:t>0~7</a:t>
            </a:r>
            <a:r>
              <a:rPr lang="zh-CN" altLang="zh-CN" sz="1100" dirty="0"/>
              <a:t>的不同情况下，</a:t>
            </a:r>
            <a:r>
              <a:rPr lang="en-US" altLang="zh-CN" sz="1100" i="1" dirty="0"/>
              <a:t>q</a:t>
            </a:r>
            <a:r>
              <a:rPr lang="zh-CN" altLang="zh-CN" sz="1100" dirty="0"/>
              <a:t>的输出值，并将该语句用</a:t>
            </a:r>
            <a:r>
              <a:rPr lang="en-US" altLang="zh-CN" sz="1100" dirty="0"/>
              <a:t>always @(*)</a:t>
            </a:r>
            <a:r>
              <a:rPr lang="zh-CN" altLang="zh-CN" sz="1100" dirty="0"/>
              <a:t>构成循环。代码为：</a:t>
            </a:r>
            <a:endParaRPr lang="zh-CN" altLang="zh-CN" sz="1100" dirty="0"/>
          </a:p>
          <a:p>
            <a:r>
              <a:rPr lang="en-US" altLang="zh-CN" sz="1100" i="1" dirty="0"/>
              <a:t>module </a:t>
            </a:r>
            <a:r>
              <a:rPr lang="en-US" altLang="zh-CN" sz="1100" i="1" dirty="0" err="1"/>
              <a:t>top_module</a:t>
            </a:r>
            <a:r>
              <a:rPr lang="en-US" altLang="zh-CN" sz="1100" i="1" dirty="0"/>
              <a:t> (</a:t>
            </a:r>
            <a:endParaRPr lang="zh-CN" altLang="zh-CN" sz="1100" dirty="0"/>
          </a:p>
          <a:p>
            <a:r>
              <a:rPr lang="en-US" altLang="zh-CN" sz="1100" i="1" dirty="0"/>
              <a:t>    input [2:0] a,</a:t>
            </a:r>
            <a:endParaRPr lang="zh-CN" altLang="zh-CN" sz="1100" dirty="0"/>
          </a:p>
          <a:p>
            <a:r>
              <a:rPr lang="en-US" altLang="zh-CN" sz="1100" i="1" dirty="0"/>
              <a:t>    output </a:t>
            </a:r>
            <a:r>
              <a:rPr lang="en-US" altLang="zh-CN" sz="1100" i="1" dirty="0" err="1"/>
              <a:t>reg</a:t>
            </a:r>
            <a:r>
              <a:rPr lang="en-US" altLang="zh-CN" sz="1100" i="1" dirty="0"/>
              <a:t> [15:0] q ); </a:t>
            </a:r>
            <a:endParaRPr lang="zh-CN" altLang="zh-CN" sz="1100" dirty="0"/>
          </a:p>
          <a:p>
            <a:r>
              <a:rPr lang="en-US" altLang="zh-CN" sz="1100" i="1" dirty="0"/>
              <a:t> </a:t>
            </a:r>
            <a:endParaRPr lang="zh-CN" altLang="zh-CN" sz="1100" dirty="0"/>
          </a:p>
          <a:p>
            <a:r>
              <a:rPr lang="en-US" altLang="zh-CN" sz="1100" i="1" dirty="0"/>
              <a:t>    always @(*) begin</a:t>
            </a:r>
            <a:endParaRPr lang="zh-CN" altLang="zh-CN" sz="1100" dirty="0"/>
          </a:p>
          <a:p>
            <a:r>
              <a:rPr lang="en-US" altLang="zh-CN" sz="1100" i="1" dirty="0"/>
              <a:t>        case (a)</a:t>
            </a:r>
            <a:endParaRPr lang="zh-CN" altLang="zh-CN" sz="1100" dirty="0"/>
          </a:p>
          <a:p>
            <a:r>
              <a:rPr lang="en-US" altLang="zh-CN" sz="1100" i="1" dirty="0"/>
              <a:t>            3'd0: q &lt;= 16'h1232;</a:t>
            </a:r>
            <a:endParaRPr lang="zh-CN" altLang="zh-CN" sz="1100" dirty="0"/>
          </a:p>
          <a:p>
            <a:r>
              <a:rPr lang="en-US" altLang="zh-CN" sz="1100" i="1" dirty="0"/>
              <a:t>            3'd1: q &lt;= 16'haee0;</a:t>
            </a:r>
            <a:endParaRPr lang="zh-CN" altLang="zh-CN" sz="1100" dirty="0"/>
          </a:p>
          <a:p>
            <a:r>
              <a:rPr lang="en-US" altLang="zh-CN" sz="1100" i="1" dirty="0"/>
              <a:t>            3'd2: q &lt;= 16'h27d4;</a:t>
            </a:r>
            <a:endParaRPr lang="zh-CN" altLang="zh-CN" sz="1100" dirty="0"/>
          </a:p>
          <a:p>
            <a:r>
              <a:rPr lang="en-US" altLang="zh-CN" sz="1100" i="1" dirty="0"/>
              <a:t>            3'd3: q &lt;= 16'h5a0e;</a:t>
            </a:r>
            <a:endParaRPr lang="zh-CN" altLang="zh-CN" sz="1100" dirty="0"/>
          </a:p>
          <a:p>
            <a:r>
              <a:rPr lang="en-US" altLang="zh-CN" sz="1100" i="1" dirty="0"/>
              <a:t>            3'd4: q &lt;= 16'h2066;</a:t>
            </a:r>
            <a:endParaRPr lang="zh-CN" altLang="zh-CN" sz="1100" dirty="0"/>
          </a:p>
          <a:p>
            <a:r>
              <a:rPr lang="en-US" altLang="zh-CN" sz="1100" i="1" dirty="0"/>
              <a:t>            3'd5: q &lt;= 16'h64ce;</a:t>
            </a:r>
            <a:endParaRPr lang="zh-CN" altLang="zh-CN" sz="1100" dirty="0"/>
          </a:p>
          <a:p>
            <a:r>
              <a:rPr lang="en-US" altLang="zh-CN" sz="1100" i="1" dirty="0"/>
              <a:t>            3'd6: q &lt;= 16'hc526;</a:t>
            </a:r>
            <a:endParaRPr lang="zh-CN" altLang="zh-CN" sz="1100" dirty="0"/>
          </a:p>
          <a:p>
            <a:r>
              <a:rPr lang="en-US" altLang="zh-CN" sz="1100" i="1" dirty="0"/>
              <a:t>            3'd7: q &lt;= 16'h2f19;</a:t>
            </a:r>
            <a:endParaRPr lang="zh-CN" altLang="zh-CN" sz="1100" dirty="0"/>
          </a:p>
          <a:p>
            <a:r>
              <a:rPr lang="en-US" altLang="zh-CN" sz="1100" i="1" dirty="0"/>
              <a:t>        </a:t>
            </a:r>
            <a:r>
              <a:rPr lang="en-US" altLang="zh-CN" sz="1100" i="1" dirty="0" err="1"/>
              <a:t>endcase</a:t>
            </a:r>
            <a:endParaRPr lang="zh-CN" altLang="zh-CN" sz="1100" dirty="0"/>
          </a:p>
          <a:p>
            <a:r>
              <a:rPr lang="en-US" altLang="zh-CN" sz="1100" i="1" dirty="0"/>
              <a:t>    end</a:t>
            </a:r>
            <a:endParaRPr lang="zh-CN" altLang="zh-CN" sz="1100" dirty="0"/>
          </a:p>
          <a:p>
            <a:r>
              <a:rPr lang="en-US" altLang="zh-CN" sz="1100" i="1" dirty="0" err="1"/>
              <a:t>endmodule</a:t>
            </a:r>
            <a:endParaRPr lang="zh-CN" altLang="zh-CN" sz="1100" dirty="0"/>
          </a:p>
          <a:p>
            <a:endParaRPr lang="zh-CN" altLang="zh-CN" sz="1100" dirty="0"/>
          </a:p>
        </p:txBody>
      </p:sp>
      <p:pic>
        <p:nvPicPr>
          <p:cNvPr id="6" name="图片 5" descr="1572423861364024308.png"/>
          <p:cNvPicPr/>
          <p:nvPr/>
        </p:nvPicPr>
        <p:blipFill>
          <a:blip r:embed="rId1" cstate="print"/>
          <a:srcRect b="6010"/>
          <a:stretch>
            <a:fillRect/>
          </a:stretch>
        </p:blipFill>
        <p:spPr>
          <a:xfrm>
            <a:off x="1461452" y="2092227"/>
            <a:ext cx="5305108" cy="1347478"/>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98171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18】</a:t>
            </a:r>
            <a:r>
              <a:rPr lang="zh-CN" altLang="en-US" sz="1800" dirty="0"/>
              <a:t>时序电路练习：实现一个上升沿触发的</a:t>
            </a:r>
            <a:r>
              <a:rPr lang="en-US" altLang="zh-CN" sz="1800" dirty="0"/>
              <a:t>D</a:t>
            </a:r>
            <a:r>
              <a:rPr lang="zh-CN" altLang="en-US" sz="1800" dirty="0"/>
              <a:t>触发器。。</a:t>
            </a:r>
            <a:endParaRPr lang="zh-CN" altLang="en-US" sz="2400" dirty="0"/>
          </a:p>
        </p:txBody>
      </p:sp>
      <p:sp>
        <p:nvSpPr>
          <p:cNvPr id="2" name="矩形 1"/>
          <p:cNvSpPr/>
          <p:nvPr/>
        </p:nvSpPr>
        <p:spPr>
          <a:xfrm>
            <a:off x="458486" y="2130412"/>
            <a:ext cx="8199256" cy="3539430"/>
          </a:xfrm>
          <a:prstGeom prst="rect">
            <a:avLst/>
          </a:prstGeom>
        </p:spPr>
        <p:txBody>
          <a:bodyPr wrap="square">
            <a:spAutoFit/>
          </a:bodyPr>
          <a:lstStyle/>
          <a:p>
            <a:r>
              <a:rPr lang="zh-CN" altLang="zh-CN" sz="1600" dirty="0"/>
              <a:t>解：</a:t>
            </a:r>
            <a:r>
              <a:rPr lang="en-US" altLang="zh-CN" sz="1600" dirty="0"/>
              <a:t>D</a:t>
            </a:r>
            <a:r>
              <a:rPr lang="zh-CN" altLang="zh-CN" sz="1600" dirty="0"/>
              <a:t>触发器是一位信号进行存储的触发器，所以有两个输入：</a:t>
            </a:r>
            <a:r>
              <a:rPr lang="en-US" altLang="zh-CN" sz="1600" i="1" dirty="0"/>
              <a:t>d</a:t>
            </a:r>
            <a:r>
              <a:rPr lang="zh-CN" altLang="zh-CN" sz="1600" dirty="0"/>
              <a:t>和</a:t>
            </a:r>
            <a:r>
              <a:rPr lang="en-US" altLang="zh-CN" sz="1600" i="1" dirty="0" err="1"/>
              <a:t>dlk</a:t>
            </a:r>
            <a:r>
              <a:rPr lang="zh-CN" altLang="zh-CN" sz="1600" dirty="0"/>
              <a:t>，输出为</a:t>
            </a:r>
            <a:r>
              <a:rPr lang="en-US" altLang="zh-CN" sz="1600" i="1" dirty="0"/>
              <a:t>q</a:t>
            </a:r>
            <a:r>
              <a:rPr lang="zh-CN" altLang="zh-CN" sz="1600" dirty="0"/>
              <a:t>，由于触发器是时钟敏感器件，采用</a:t>
            </a:r>
            <a:r>
              <a:rPr lang="en-US" altLang="zh-CN" sz="1600" dirty="0"/>
              <a:t>always block</a:t>
            </a:r>
            <a:r>
              <a:rPr lang="zh-CN" altLang="zh-CN" sz="1600" dirty="0"/>
              <a:t>进行创建，将</a:t>
            </a:r>
            <a:r>
              <a:rPr lang="en-US" altLang="zh-CN" sz="1600" i="1" dirty="0" err="1"/>
              <a:t>clk</a:t>
            </a:r>
            <a:r>
              <a:rPr lang="zh-CN" altLang="zh-CN" sz="1600" dirty="0"/>
              <a:t>作为敏感条件，即当时钟到来作为触发条件。</a:t>
            </a:r>
            <a:r>
              <a:rPr lang="en-US" altLang="zh-CN" sz="1600" dirty="0"/>
              <a:t>always</a:t>
            </a:r>
            <a:r>
              <a:rPr lang="zh-CN" altLang="zh-CN" sz="1600" dirty="0"/>
              <a:t>设计中</a:t>
            </a:r>
            <a:r>
              <a:rPr lang="en-US" altLang="zh-CN" sz="1600" dirty="0"/>
              <a:t>begin...end</a:t>
            </a:r>
            <a:r>
              <a:rPr lang="zh-CN" altLang="zh-CN" sz="1600" dirty="0"/>
              <a:t>作为一个块（</a:t>
            </a:r>
            <a:r>
              <a:rPr lang="en-US" altLang="zh-CN" sz="1600" dirty="0"/>
              <a:t>block</a:t>
            </a:r>
            <a:r>
              <a:rPr lang="zh-CN" altLang="zh-CN" sz="1600" dirty="0"/>
              <a:t>），其中的赋值表示存储的信号传递，所以信号</a:t>
            </a:r>
            <a:r>
              <a:rPr lang="en-US" altLang="zh-CN" sz="1600" i="1" dirty="0"/>
              <a:t>q</a:t>
            </a:r>
            <a:r>
              <a:rPr lang="zh-CN" altLang="zh-CN" sz="1600" dirty="0"/>
              <a:t>和</a:t>
            </a:r>
            <a:r>
              <a:rPr lang="en-US" altLang="zh-CN" sz="1600" i="1" dirty="0"/>
              <a:t>d</a:t>
            </a:r>
            <a:r>
              <a:rPr lang="zh-CN" altLang="zh-CN" sz="1600" dirty="0"/>
              <a:t>采用</a:t>
            </a:r>
            <a:r>
              <a:rPr lang="en-US" altLang="zh-CN" sz="1600" dirty="0" err="1"/>
              <a:t>reg</a:t>
            </a:r>
            <a:r>
              <a:rPr lang="zh-CN" altLang="zh-CN" sz="1600" dirty="0"/>
              <a:t>类型。参考代码如下：</a:t>
            </a:r>
            <a:endParaRPr lang="zh-CN" altLang="zh-CN" sz="1600" dirty="0"/>
          </a:p>
          <a:p>
            <a:r>
              <a:rPr lang="en-US" altLang="zh-CN" sz="1600" i="1" dirty="0"/>
              <a:t>module </a:t>
            </a:r>
            <a:r>
              <a:rPr lang="en-US" altLang="zh-CN" sz="1600" i="1" dirty="0" err="1"/>
              <a:t>top_module</a:t>
            </a:r>
            <a:r>
              <a:rPr lang="en-US" altLang="zh-CN" sz="1600" i="1" dirty="0"/>
              <a:t> (</a:t>
            </a:r>
            <a:endParaRPr lang="zh-CN" altLang="zh-CN" sz="1600" dirty="0"/>
          </a:p>
          <a:p>
            <a:r>
              <a:rPr lang="en-US" altLang="zh-CN" sz="1600" i="1" dirty="0"/>
              <a:t>    input </a:t>
            </a:r>
            <a:r>
              <a:rPr lang="en-US" altLang="zh-CN" sz="1600" i="1" dirty="0" err="1"/>
              <a:t>clk</a:t>
            </a:r>
            <a:r>
              <a:rPr lang="en-US" altLang="zh-CN" sz="1600" i="1" dirty="0"/>
              <a:t>,              // </a:t>
            </a:r>
            <a:r>
              <a:rPr lang="zh-CN" altLang="zh-CN" sz="1600" i="1" dirty="0"/>
              <a:t>时钟信号（输入端）</a:t>
            </a:r>
            <a:endParaRPr lang="zh-CN" altLang="zh-CN" sz="1600" dirty="0"/>
          </a:p>
          <a:p>
            <a:r>
              <a:rPr lang="en-US" altLang="zh-CN" sz="1600" i="1" dirty="0"/>
              <a:t>    input d,               // </a:t>
            </a:r>
            <a:r>
              <a:rPr lang="zh-CN" altLang="zh-CN" sz="1600" i="1" dirty="0"/>
              <a:t>输入信号</a:t>
            </a:r>
            <a:r>
              <a:rPr lang="en-US" altLang="zh-CN" sz="1600" i="1" dirty="0"/>
              <a:t>d</a:t>
            </a:r>
            <a:endParaRPr lang="zh-CN" altLang="zh-CN" sz="1600" dirty="0"/>
          </a:p>
          <a:p>
            <a:r>
              <a:rPr lang="en-US" altLang="zh-CN" sz="1600" i="1" dirty="0"/>
              <a:t>    output </a:t>
            </a:r>
            <a:r>
              <a:rPr lang="en-US" altLang="zh-CN" sz="1600" i="1" dirty="0" err="1"/>
              <a:t>reg</a:t>
            </a:r>
            <a:r>
              <a:rPr lang="en-US" altLang="zh-CN" sz="1600" i="1" dirty="0"/>
              <a:t> q );        //</a:t>
            </a:r>
            <a:r>
              <a:rPr lang="zh-CN" altLang="zh-CN" sz="1600" i="1" dirty="0"/>
              <a:t>输出</a:t>
            </a:r>
            <a:r>
              <a:rPr lang="en-US" altLang="zh-CN" sz="1600" i="1" dirty="0"/>
              <a:t> q</a:t>
            </a:r>
            <a:r>
              <a:rPr lang="zh-CN" altLang="zh-CN" sz="1600" i="1" dirty="0"/>
              <a:t>定义类型为</a:t>
            </a:r>
            <a:r>
              <a:rPr lang="en-US" altLang="zh-CN" sz="1600" i="1" dirty="0" err="1"/>
              <a:t>reg</a:t>
            </a:r>
            <a:endParaRPr lang="zh-CN" altLang="zh-CN" sz="1600" dirty="0"/>
          </a:p>
          <a:p>
            <a:r>
              <a:rPr lang="en-US" altLang="zh-CN" sz="1600" i="1" dirty="0"/>
              <a:t>       // </a:t>
            </a:r>
            <a:r>
              <a:rPr lang="zh-CN" altLang="zh-CN" sz="1600" i="1" dirty="0"/>
              <a:t>时钟的</a:t>
            </a:r>
            <a:r>
              <a:rPr lang="en-US" altLang="zh-CN" sz="1600" i="1" dirty="0"/>
              <a:t>always </a:t>
            </a:r>
            <a:r>
              <a:rPr lang="zh-CN" altLang="zh-CN" sz="1600" i="1" dirty="0"/>
              <a:t>块用</a:t>
            </a:r>
            <a:r>
              <a:rPr lang="en-US" altLang="zh-CN" sz="1600" i="1" dirty="0"/>
              <a:t>non-blocking</a:t>
            </a:r>
            <a:r>
              <a:rPr lang="zh-CN" altLang="zh-CN" sz="1600" i="1" dirty="0"/>
              <a:t>分配 </a:t>
            </a:r>
            <a:endParaRPr lang="zh-CN" altLang="zh-CN" sz="1600" dirty="0"/>
          </a:p>
          <a:p>
            <a:r>
              <a:rPr lang="en-US" altLang="zh-CN" sz="1600" i="1" dirty="0"/>
              <a:t>    always @(</a:t>
            </a:r>
            <a:r>
              <a:rPr lang="en-US" altLang="zh-CN" sz="1600" i="1" dirty="0" err="1"/>
              <a:t>posedge</a:t>
            </a:r>
            <a:r>
              <a:rPr lang="en-US" altLang="zh-CN" sz="1600" i="1" dirty="0"/>
              <a:t> </a:t>
            </a:r>
            <a:r>
              <a:rPr lang="en-US" altLang="zh-CN" sz="1600" i="1" dirty="0" err="1"/>
              <a:t>clk</a:t>
            </a:r>
            <a:r>
              <a:rPr lang="en-US" altLang="zh-CN" sz="1600" i="1" dirty="0"/>
              <a:t>) begin   //</a:t>
            </a:r>
            <a:r>
              <a:rPr lang="zh-CN" altLang="zh-CN" sz="1600" i="1" dirty="0"/>
              <a:t>使用</a:t>
            </a:r>
            <a:r>
              <a:rPr lang="en-US" altLang="zh-CN" sz="1600" i="1" dirty="0" err="1"/>
              <a:t>clk</a:t>
            </a:r>
            <a:r>
              <a:rPr lang="zh-CN" altLang="zh-CN" sz="1600" i="1" dirty="0"/>
              <a:t>作为敏感条件</a:t>
            </a:r>
            <a:endParaRPr lang="zh-CN" altLang="zh-CN" sz="1600" dirty="0"/>
          </a:p>
          <a:p>
            <a:r>
              <a:rPr lang="en-US" altLang="zh-CN" sz="1600" i="1" dirty="0"/>
              <a:t>       q &lt;= d;       // </a:t>
            </a:r>
            <a:r>
              <a:rPr lang="zh-CN" altLang="zh-CN" sz="1600" i="1" dirty="0"/>
              <a:t>一条语句可以不用</a:t>
            </a:r>
            <a:r>
              <a:rPr lang="en-US" altLang="zh-CN" sz="1600" i="1" dirty="0"/>
              <a:t>begin-end</a:t>
            </a:r>
            <a:endParaRPr lang="zh-CN" altLang="zh-CN" sz="1600" dirty="0"/>
          </a:p>
          <a:p>
            <a:r>
              <a:rPr lang="en-US" altLang="zh-CN" sz="1600" i="1" dirty="0"/>
              <a:t>    end</a:t>
            </a:r>
            <a:endParaRPr lang="zh-CN" altLang="zh-CN" sz="1600" dirty="0"/>
          </a:p>
          <a:p>
            <a:r>
              <a:rPr lang="en-US" altLang="zh-CN" sz="1600" i="1" dirty="0" err="1"/>
              <a:t>endmodule</a:t>
            </a:r>
            <a:endParaRPr lang="zh-CN" altLang="zh-CN" sz="1600" dirty="0"/>
          </a:p>
          <a:p>
            <a:endParaRPr lang="zh-CN" altLang="zh-CN" sz="16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53606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19】</a:t>
            </a:r>
            <a:r>
              <a:rPr lang="zh-CN" altLang="en-US" sz="1800" dirty="0"/>
              <a:t>时序电路练习：</a:t>
            </a:r>
            <a:r>
              <a:rPr lang="en-US" altLang="zh-CN" sz="1800" dirty="0"/>
              <a:t>D</a:t>
            </a:r>
            <a:r>
              <a:rPr lang="zh-CN" altLang="en-US" sz="1800" dirty="0"/>
              <a:t>触发器组合</a:t>
            </a:r>
            <a:r>
              <a:rPr lang="zh-CN" altLang="en-US" sz="1800" dirty="0" smtClean="0"/>
              <a:t>。</a:t>
            </a:r>
            <a:r>
              <a:rPr lang="zh-CN" altLang="zh-CN" sz="1800" dirty="0"/>
              <a:t>创建一个</a:t>
            </a:r>
            <a:r>
              <a:rPr lang="en-US" altLang="zh-CN" sz="1800" dirty="0"/>
              <a:t>8</a:t>
            </a:r>
            <a:r>
              <a:rPr lang="zh-CN" altLang="zh-CN" sz="1800" dirty="0"/>
              <a:t>位</a:t>
            </a:r>
            <a:r>
              <a:rPr lang="en-US" altLang="zh-CN" sz="1800" dirty="0"/>
              <a:t>D</a:t>
            </a:r>
            <a:r>
              <a:rPr lang="zh-CN" altLang="zh-CN" sz="1800" dirty="0"/>
              <a:t>触发器。要求所有的</a:t>
            </a:r>
            <a:r>
              <a:rPr lang="en-US" altLang="zh-CN" sz="1800" dirty="0"/>
              <a:t>D</a:t>
            </a:r>
            <a:r>
              <a:rPr lang="zh-CN" altLang="zh-CN" sz="1800" dirty="0"/>
              <a:t>触发器均由时钟上升沿触发。</a:t>
            </a:r>
            <a:endParaRPr lang="zh-CN" altLang="zh-CN" sz="1800" dirty="0"/>
          </a:p>
          <a:p>
            <a:endParaRPr lang="zh-CN" altLang="en-US" sz="1800" dirty="0"/>
          </a:p>
        </p:txBody>
      </p:sp>
      <p:sp>
        <p:nvSpPr>
          <p:cNvPr id="2" name="矩形 1"/>
          <p:cNvSpPr/>
          <p:nvPr/>
        </p:nvSpPr>
        <p:spPr>
          <a:xfrm>
            <a:off x="458486" y="2718241"/>
            <a:ext cx="8199256" cy="3785652"/>
          </a:xfrm>
          <a:prstGeom prst="rect">
            <a:avLst/>
          </a:prstGeom>
        </p:spPr>
        <p:txBody>
          <a:bodyPr wrap="square">
            <a:spAutoFit/>
          </a:bodyPr>
          <a:lstStyle/>
          <a:p>
            <a:r>
              <a:rPr lang="zh-CN" altLang="zh-CN" sz="1600" dirty="0"/>
              <a:t>解：</a:t>
            </a:r>
            <a:r>
              <a:rPr lang="en-US" altLang="zh-CN" sz="1600" dirty="0"/>
              <a:t>D</a:t>
            </a:r>
            <a:r>
              <a:rPr lang="zh-CN" altLang="zh-CN" sz="1600" dirty="0"/>
              <a:t>触发器的构成逻辑相对简单，随着时钟到来，输出为输入的</a:t>
            </a:r>
            <a:r>
              <a:rPr lang="en-US" altLang="zh-CN" sz="1600" i="1" dirty="0"/>
              <a:t>d</a:t>
            </a:r>
            <a:r>
              <a:rPr lang="zh-CN" altLang="zh-CN" sz="1600" dirty="0"/>
              <a:t>值即可。前面章节中所接触到的</a:t>
            </a:r>
            <a:r>
              <a:rPr lang="en-US" altLang="zh-CN" sz="1600" dirty="0"/>
              <a:t>D</a:t>
            </a:r>
            <a:r>
              <a:rPr lang="zh-CN" altLang="zh-CN" sz="1600" dirty="0"/>
              <a:t>触发器都是</a:t>
            </a:r>
            <a:r>
              <a:rPr lang="en-US" altLang="zh-CN" sz="1600" dirty="0"/>
              <a:t>1</a:t>
            </a:r>
            <a:r>
              <a:rPr lang="zh-CN" altLang="zh-CN" sz="1600" dirty="0"/>
              <a:t>位的触发器，一个</a:t>
            </a:r>
            <a:r>
              <a:rPr lang="en-US" altLang="zh-CN" sz="1600" dirty="0"/>
              <a:t>8</a:t>
            </a:r>
            <a:r>
              <a:rPr lang="zh-CN" altLang="zh-CN" sz="1600" dirty="0"/>
              <a:t>位的触发器是由</a:t>
            </a:r>
            <a:r>
              <a:rPr lang="en-US" altLang="zh-CN" sz="1600" dirty="0"/>
              <a:t>8</a:t>
            </a:r>
            <a:r>
              <a:rPr lang="zh-CN" altLang="zh-CN" sz="1600" dirty="0"/>
              <a:t>个</a:t>
            </a:r>
            <a:r>
              <a:rPr lang="en-US" altLang="zh-CN" sz="1600" dirty="0"/>
              <a:t>1</a:t>
            </a:r>
            <a:r>
              <a:rPr lang="zh-CN" altLang="zh-CN" sz="1600" dirty="0"/>
              <a:t>位触发器组合而成的，在仿真描述中，只需要将</a:t>
            </a:r>
            <a:r>
              <a:rPr lang="en-US" altLang="zh-CN" sz="1600" i="1" dirty="0"/>
              <a:t>d</a:t>
            </a:r>
            <a:r>
              <a:rPr lang="zh-CN" altLang="zh-CN" sz="1600" dirty="0"/>
              <a:t>值设置为</a:t>
            </a:r>
            <a:r>
              <a:rPr lang="en-US" altLang="zh-CN" sz="1600" dirty="0"/>
              <a:t>8</a:t>
            </a:r>
            <a:r>
              <a:rPr lang="zh-CN" altLang="zh-CN" sz="1600" dirty="0"/>
              <a:t>位的，输出部分也设为</a:t>
            </a:r>
            <a:r>
              <a:rPr lang="en-US" altLang="zh-CN" sz="1600" dirty="0"/>
              <a:t>8</a:t>
            </a:r>
            <a:r>
              <a:rPr lang="zh-CN" altLang="zh-CN" sz="1600" dirty="0"/>
              <a:t>位，对应</a:t>
            </a:r>
            <a:r>
              <a:rPr lang="en-US" altLang="zh-CN" sz="1600" dirty="0"/>
              <a:t>8</a:t>
            </a:r>
            <a:r>
              <a:rPr lang="zh-CN" altLang="zh-CN" sz="1600" dirty="0"/>
              <a:t>位的</a:t>
            </a:r>
            <a:r>
              <a:rPr lang="en-US" altLang="zh-CN" sz="1600" i="1" dirty="0"/>
              <a:t>q</a:t>
            </a:r>
            <a:r>
              <a:rPr lang="zh-CN" altLang="zh-CN" sz="1600" dirty="0"/>
              <a:t>值和</a:t>
            </a:r>
            <a:r>
              <a:rPr lang="en-US" altLang="zh-CN" sz="1600" dirty="0"/>
              <a:t>8</a:t>
            </a:r>
            <a:r>
              <a:rPr lang="zh-CN" altLang="zh-CN" sz="1600" dirty="0"/>
              <a:t>位的</a:t>
            </a:r>
            <a:r>
              <a:rPr lang="en-US" altLang="zh-CN" sz="1600" i="1" dirty="0"/>
              <a:t>d</a:t>
            </a:r>
            <a:r>
              <a:rPr lang="zh-CN" altLang="zh-CN" sz="1600" dirty="0"/>
              <a:t>值之间的关系即可。</a:t>
            </a:r>
            <a:endParaRPr lang="zh-CN" altLang="zh-CN" sz="1600" dirty="0"/>
          </a:p>
          <a:p>
            <a:r>
              <a:rPr lang="zh-CN" altLang="zh-CN" sz="1600" dirty="0"/>
              <a:t>首先声明模块输入部分为</a:t>
            </a:r>
            <a:r>
              <a:rPr lang="en-US" altLang="zh-CN" sz="1600" dirty="0" err="1"/>
              <a:t>clk</a:t>
            </a:r>
            <a:r>
              <a:rPr lang="zh-CN" altLang="zh-CN" sz="1600" dirty="0"/>
              <a:t>和</a:t>
            </a:r>
            <a:r>
              <a:rPr lang="en-US" altLang="zh-CN" sz="1600" dirty="0"/>
              <a:t>8</a:t>
            </a:r>
            <a:r>
              <a:rPr lang="zh-CN" altLang="zh-CN" sz="1600" dirty="0"/>
              <a:t>位的</a:t>
            </a:r>
            <a:r>
              <a:rPr lang="en-US" altLang="zh-CN" sz="1600" i="1" dirty="0"/>
              <a:t>d</a:t>
            </a:r>
            <a:r>
              <a:rPr lang="zh-CN" altLang="zh-CN" sz="1600" dirty="0"/>
              <a:t>，输出部分为</a:t>
            </a:r>
            <a:r>
              <a:rPr lang="en-US" altLang="zh-CN" sz="1600" dirty="0"/>
              <a:t>8</a:t>
            </a:r>
            <a:r>
              <a:rPr lang="zh-CN" altLang="zh-CN" sz="1600" dirty="0"/>
              <a:t>位的</a:t>
            </a:r>
            <a:r>
              <a:rPr lang="en-US" altLang="zh-CN" sz="1600" i="1" dirty="0"/>
              <a:t>q</a:t>
            </a:r>
            <a:r>
              <a:rPr lang="zh-CN" altLang="zh-CN" sz="1600" dirty="0"/>
              <a:t>，由于所有</a:t>
            </a:r>
            <a:r>
              <a:rPr lang="en-US" altLang="zh-CN" sz="1600" dirty="0"/>
              <a:t>D</a:t>
            </a:r>
            <a:r>
              <a:rPr lang="zh-CN" altLang="zh-CN" sz="1600" dirty="0"/>
              <a:t>触发器都是时钟上升沿触发，在</a:t>
            </a:r>
            <a:r>
              <a:rPr lang="en-US" altLang="zh-CN" sz="1600" dirty="0"/>
              <a:t>always</a:t>
            </a:r>
            <a:r>
              <a:rPr lang="zh-CN" altLang="zh-CN" sz="1600" dirty="0"/>
              <a:t>敏感信息中用</a:t>
            </a:r>
            <a:r>
              <a:rPr lang="en-US" altLang="zh-CN" sz="1600" dirty="0" err="1"/>
              <a:t>posedge</a:t>
            </a:r>
            <a:r>
              <a:rPr lang="zh-CN" altLang="zh-CN" sz="1600" dirty="0"/>
              <a:t>即可。代码为：</a:t>
            </a:r>
            <a:endParaRPr lang="zh-CN" altLang="zh-CN" sz="1600" dirty="0"/>
          </a:p>
          <a:p>
            <a:r>
              <a:rPr lang="en-US" altLang="zh-CN" sz="1600" i="1" dirty="0"/>
              <a:t>module </a:t>
            </a:r>
            <a:r>
              <a:rPr lang="en-US" altLang="zh-CN" sz="1600" i="1" dirty="0" err="1"/>
              <a:t>top_module</a:t>
            </a:r>
            <a:r>
              <a:rPr lang="en-US" altLang="zh-CN" sz="1600" i="1" dirty="0"/>
              <a:t> (</a:t>
            </a:r>
            <a:endParaRPr lang="zh-CN" altLang="zh-CN" sz="1600" dirty="0"/>
          </a:p>
          <a:p>
            <a:r>
              <a:rPr lang="en-US" altLang="zh-CN" sz="1600" i="1" dirty="0"/>
              <a:t>    input </a:t>
            </a:r>
            <a:r>
              <a:rPr lang="en-US" altLang="zh-CN" sz="1600" i="1" dirty="0" err="1"/>
              <a:t>clk</a:t>
            </a:r>
            <a:r>
              <a:rPr lang="en-US" altLang="zh-CN" sz="1600" i="1" dirty="0"/>
              <a:t>,</a:t>
            </a:r>
            <a:endParaRPr lang="zh-CN" altLang="zh-CN" sz="1600" dirty="0"/>
          </a:p>
          <a:p>
            <a:r>
              <a:rPr lang="en-US" altLang="zh-CN" sz="1600" i="1" dirty="0"/>
              <a:t>    input [7:0] d,</a:t>
            </a:r>
            <a:endParaRPr lang="zh-CN" altLang="zh-CN" sz="1600" dirty="0"/>
          </a:p>
          <a:p>
            <a:r>
              <a:rPr lang="en-US" altLang="zh-CN" sz="1600" i="1" dirty="0"/>
              <a:t>    output </a:t>
            </a:r>
            <a:r>
              <a:rPr lang="en-US" altLang="zh-CN" sz="1600" i="1" dirty="0" err="1"/>
              <a:t>reg</a:t>
            </a:r>
            <a:r>
              <a:rPr lang="en-US" altLang="zh-CN" sz="1600" i="1" dirty="0"/>
              <a:t> [7:0] q);</a:t>
            </a:r>
            <a:endParaRPr lang="zh-CN" altLang="zh-CN" sz="1600" dirty="0"/>
          </a:p>
          <a:p>
            <a:r>
              <a:rPr lang="en-US" altLang="zh-CN" sz="1600" i="1" dirty="0"/>
              <a:t>    always @(</a:t>
            </a:r>
            <a:r>
              <a:rPr lang="en-US" altLang="zh-CN" sz="1600" i="1" dirty="0" err="1"/>
              <a:t>posedge</a:t>
            </a:r>
            <a:r>
              <a:rPr lang="en-US" altLang="zh-CN" sz="1600" i="1" dirty="0"/>
              <a:t> </a:t>
            </a:r>
            <a:r>
              <a:rPr lang="en-US" altLang="zh-CN" sz="1600" i="1" dirty="0" err="1"/>
              <a:t>clk</a:t>
            </a:r>
            <a:r>
              <a:rPr lang="en-US" altLang="zh-CN" sz="1600" i="1" dirty="0"/>
              <a:t>) begin</a:t>
            </a:r>
            <a:endParaRPr lang="zh-CN" altLang="zh-CN" sz="1600" dirty="0"/>
          </a:p>
          <a:p>
            <a:r>
              <a:rPr lang="en-US" altLang="zh-CN" sz="1600" i="1" dirty="0"/>
              <a:t>        q &lt;= d;</a:t>
            </a:r>
            <a:endParaRPr lang="zh-CN" altLang="zh-CN" sz="1600" dirty="0"/>
          </a:p>
          <a:p>
            <a:r>
              <a:rPr lang="en-US" altLang="zh-CN" sz="1600" i="1" dirty="0"/>
              <a:t>    end</a:t>
            </a:r>
            <a:endParaRPr lang="zh-CN" altLang="zh-CN" sz="1600" dirty="0"/>
          </a:p>
          <a:p>
            <a:r>
              <a:rPr lang="en-US" altLang="zh-CN" sz="1600" i="1" dirty="0" err="1"/>
              <a:t>endmodule</a:t>
            </a:r>
            <a:endParaRPr lang="zh-CN" altLang="zh-CN" sz="1600" dirty="0"/>
          </a:p>
          <a:p>
            <a:endParaRPr lang="zh-CN" altLang="zh-CN" sz="16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208978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20】</a:t>
            </a:r>
            <a:r>
              <a:rPr lang="zh-CN" altLang="en-US" sz="1800" dirty="0"/>
              <a:t>时序电路练习：假设目前已有一个</a:t>
            </a:r>
            <a:r>
              <a:rPr lang="en-US" altLang="zh-CN" sz="1800" dirty="0"/>
              <a:t>D</a:t>
            </a:r>
            <a:r>
              <a:rPr lang="zh-CN" altLang="en-US" sz="1800" dirty="0"/>
              <a:t>触发器模块</a:t>
            </a:r>
            <a:r>
              <a:rPr lang="en-US" altLang="zh-CN" sz="1800" dirty="0" err="1"/>
              <a:t>my_dff</a:t>
            </a:r>
            <a:r>
              <a:rPr lang="zh-CN" altLang="en-US" sz="1800" dirty="0"/>
              <a:t>，该模块具有一个</a:t>
            </a:r>
            <a:r>
              <a:rPr lang="en-US" altLang="zh-CN" sz="1800" dirty="0"/>
              <a:t>D</a:t>
            </a:r>
            <a:r>
              <a:rPr lang="zh-CN" altLang="en-US" sz="1800" dirty="0"/>
              <a:t>输入和一个时钟</a:t>
            </a:r>
            <a:r>
              <a:rPr lang="en-US" altLang="zh-CN" sz="1800" dirty="0" err="1"/>
              <a:t>clk</a:t>
            </a:r>
            <a:r>
              <a:rPr lang="zh-CN" altLang="en-US" sz="1800" dirty="0"/>
              <a:t>输入，输出为</a:t>
            </a:r>
            <a:r>
              <a:rPr lang="en-US" altLang="zh-CN" sz="1800" dirty="0"/>
              <a:t>q</a:t>
            </a:r>
            <a:r>
              <a:rPr lang="zh-CN" altLang="en-US" sz="1800" dirty="0"/>
              <a:t>，将三个</a:t>
            </a:r>
            <a:r>
              <a:rPr lang="en-US" altLang="zh-CN" sz="1800" dirty="0" err="1"/>
              <a:t>my_dff</a:t>
            </a:r>
            <a:r>
              <a:rPr lang="zh-CN" altLang="en-US" sz="1800" dirty="0"/>
              <a:t>按照如图</a:t>
            </a:r>
            <a:r>
              <a:rPr lang="en-US" altLang="zh-CN" sz="1800" dirty="0"/>
              <a:t>10-22</a:t>
            </a:r>
            <a:r>
              <a:rPr lang="zh-CN" altLang="en-US" sz="1800" dirty="0"/>
              <a:t>所示的方式串联起来，就构成了一个长度为</a:t>
            </a:r>
            <a:r>
              <a:rPr lang="en-US" altLang="zh-CN" sz="1800" dirty="0"/>
              <a:t>3</a:t>
            </a:r>
            <a:r>
              <a:rPr lang="zh-CN" altLang="en-US" sz="1800" dirty="0"/>
              <a:t>的移位寄存器。定义输入为</a:t>
            </a:r>
            <a:r>
              <a:rPr lang="en-US" altLang="zh-CN" sz="1800" dirty="0" err="1"/>
              <a:t>clk</a:t>
            </a:r>
            <a:r>
              <a:rPr lang="zh-CN" altLang="en-US" sz="1800" dirty="0"/>
              <a:t>和</a:t>
            </a:r>
            <a:r>
              <a:rPr lang="en-US" altLang="zh-CN" sz="1800" dirty="0"/>
              <a:t>d</a:t>
            </a:r>
            <a:r>
              <a:rPr lang="zh-CN" altLang="en-US" sz="1800" dirty="0"/>
              <a:t>，输出为</a:t>
            </a:r>
            <a:r>
              <a:rPr lang="en-US" altLang="zh-CN" sz="1800" dirty="0"/>
              <a:t>q</a:t>
            </a:r>
            <a:r>
              <a:rPr lang="zh-CN" altLang="en-US" sz="1800" dirty="0"/>
              <a:t>，模块名</a:t>
            </a:r>
            <a:r>
              <a:rPr lang="en-US" altLang="zh-CN" sz="1800" dirty="0" err="1"/>
              <a:t>top_module</a:t>
            </a:r>
            <a:r>
              <a:rPr lang="zh-CN" altLang="en-US" sz="1800" dirty="0"/>
              <a:t>，如何实现这样的移位寄存器。</a:t>
            </a:r>
            <a:endParaRPr lang="zh-CN" altLang="zh-CN" sz="1800" dirty="0" smtClean="0"/>
          </a:p>
          <a:p>
            <a:endParaRPr lang="zh-CN" altLang="en-US" sz="1800" dirty="0"/>
          </a:p>
        </p:txBody>
      </p:sp>
      <p:pic>
        <p:nvPicPr>
          <p:cNvPr id="5" name="图片 4" descr="1573612067687051057.png"/>
          <p:cNvPicPr/>
          <p:nvPr/>
        </p:nvPicPr>
        <p:blipFill>
          <a:blip r:embed="rId1" cstate="print"/>
          <a:srcRect l="11876" t="9521" r="12258"/>
          <a:stretch>
            <a:fillRect/>
          </a:stretch>
        </p:blipFill>
        <p:spPr>
          <a:xfrm>
            <a:off x="4676503" y="2892470"/>
            <a:ext cx="4219303" cy="1692593"/>
          </a:xfrm>
          <a:prstGeom prst="rect">
            <a:avLst/>
          </a:prstGeom>
          <a:noFill/>
          <a:ln w="9525">
            <a:noFill/>
          </a:ln>
        </p:spPr>
      </p:pic>
      <p:sp>
        <p:nvSpPr>
          <p:cNvPr id="6" name="矩形 5"/>
          <p:cNvSpPr/>
          <p:nvPr/>
        </p:nvSpPr>
        <p:spPr>
          <a:xfrm>
            <a:off x="104503" y="3246235"/>
            <a:ext cx="4572000" cy="2677656"/>
          </a:xfrm>
          <a:prstGeom prst="rect">
            <a:avLst/>
          </a:prstGeom>
        </p:spPr>
        <p:txBody>
          <a:bodyPr>
            <a:spAutoFit/>
          </a:bodyPr>
          <a:lstStyle/>
          <a:p>
            <a:pPr indent="266700" algn="just">
              <a:spcAft>
                <a:spcPts val="0"/>
              </a:spcAft>
            </a:pPr>
            <a:r>
              <a:rPr lang="zh-CN" altLang="zh-CN" sz="1200" kern="100" dirty="0"/>
              <a:t>解：首先定义模块声明，输入为</a:t>
            </a:r>
            <a:r>
              <a:rPr lang="en-US" altLang="zh-CN" sz="1200" i="1" kern="100" dirty="0" err="1"/>
              <a:t>clk</a:t>
            </a:r>
            <a:r>
              <a:rPr lang="zh-CN" altLang="zh-CN" sz="1200" kern="100" dirty="0"/>
              <a:t>和</a:t>
            </a:r>
            <a:r>
              <a:rPr lang="en-US" altLang="zh-CN" sz="1200" i="1" kern="100" dirty="0"/>
              <a:t>d</a:t>
            </a:r>
            <a:r>
              <a:rPr lang="zh-CN" altLang="zh-CN" sz="1200" kern="100" dirty="0"/>
              <a:t>，输出为</a:t>
            </a:r>
            <a:r>
              <a:rPr lang="en-US" altLang="zh-CN" sz="1200" i="1" kern="100" dirty="0"/>
              <a:t>q</a:t>
            </a:r>
            <a:r>
              <a:rPr lang="zh-CN" altLang="zh-CN" sz="1200" kern="100" dirty="0"/>
              <a:t>。定义模块间的连线</a:t>
            </a:r>
            <a:r>
              <a:rPr lang="en-US" altLang="zh-CN" sz="1200" i="1" kern="100" dirty="0"/>
              <a:t>out1</a:t>
            </a:r>
            <a:r>
              <a:rPr lang="zh-CN" altLang="zh-CN" sz="1200" kern="100" dirty="0"/>
              <a:t>和</a:t>
            </a:r>
            <a:r>
              <a:rPr lang="en-US" altLang="zh-CN" sz="1200" i="1" kern="100" dirty="0"/>
              <a:t>out2</a:t>
            </a:r>
            <a:r>
              <a:rPr lang="zh-CN" altLang="zh-CN" sz="1200" kern="100" dirty="0"/>
              <a:t>。本题不涉及对</a:t>
            </a:r>
            <a:r>
              <a:rPr lang="en-US" altLang="zh-CN" sz="1200" kern="100" dirty="0"/>
              <a:t>D</a:t>
            </a:r>
            <a:r>
              <a:rPr lang="zh-CN" altLang="zh-CN" sz="1200" kern="100" dirty="0"/>
              <a:t>触发器的实现，用已有的实例化的</a:t>
            </a:r>
            <a:r>
              <a:rPr lang="en-US" altLang="zh-CN" sz="1200" kern="100" dirty="0"/>
              <a:t>D</a:t>
            </a:r>
            <a:r>
              <a:rPr lang="zh-CN" altLang="zh-CN" sz="1200" kern="100" dirty="0"/>
              <a:t>触发器来实现移位寄存器，可以引用模块并给出输入输出。代码为：</a:t>
            </a:r>
            <a:endParaRPr lang="zh-CN" altLang="zh-CN" sz="1200" kern="100" dirty="0"/>
          </a:p>
          <a:p>
            <a:pPr indent="266700">
              <a:spcAft>
                <a:spcPts val="0"/>
              </a:spcAft>
            </a:pPr>
            <a:r>
              <a:rPr lang="en-US" altLang="zh-CN" sz="1200" i="1" kern="100" dirty="0"/>
              <a:t>module </a:t>
            </a:r>
            <a:r>
              <a:rPr lang="en-US" altLang="zh-CN" sz="1200" i="1" kern="100" dirty="0" err="1"/>
              <a:t>top_module</a:t>
            </a:r>
            <a:r>
              <a:rPr lang="en-US" altLang="zh-CN" sz="1200" i="1" kern="100" dirty="0"/>
              <a:t> </a:t>
            </a:r>
            <a:r>
              <a:rPr lang="en-US" altLang="zh-CN" sz="1200" i="1" kern="100" dirty="0">
                <a:solidFill>
                  <a:srgbClr val="000000"/>
                </a:solidFill>
              </a:rPr>
              <a:t>(</a:t>
            </a:r>
            <a:r>
              <a:rPr lang="en-US" altLang="zh-CN" sz="1200" i="1" kern="100" dirty="0"/>
              <a:t> </a:t>
            </a:r>
            <a:endParaRPr lang="zh-CN" altLang="zh-CN" sz="1200" kern="100" dirty="0"/>
          </a:p>
          <a:p>
            <a:pPr indent="266700">
              <a:spcAft>
                <a:spcPts val="0"/>
              </a:spcAft>
            </a:pPr>
            <a:r>
              <a:rPr lang="en-US" altLang="zh-CN" sz="1200" i="1" kern="100" dirty="0"/>
              <a:t>input </a:t>
            </a:r>
            <a:r>
              <a:rPr lang="en-US" altLang="zh-CN" sz="1200" i="1" kern="100" dirty="0" err="1"/>
              <a:t>clk</a:t>
            </a:r>
            <a:r>
              <a:rPr lang="en-US" altLang="zh-CN" sz="1200" i="1" kern="100" dirty="0"/>
              <a:t>, </a:t>
            </a:r>
            <a:endParaRPr lang="zh-CN" altLang="zh-CN" sz="1200" kern="100" dirty="0"/>
          </a:p>
          <a:p>
            <a:pPr indent="266700">
              <a:spcAft>
                <a:spcPts val="0"/>
              </a:spcAft>
            </a:pPr>
            <a:r>
              <a:rPr lang="en-US" altLang="zh-CN" sz="1200" i="1" kern="100" dirty="0"/>
              <a:t>input d, </a:t>
            </a:r>
            <a:endParaRPr lang="zh-CN" altLang="zh-CN" sz="1200" kern="100" dirty="0"/>
          </a:p>
          <a:p>
            <a:pPr indent="266700">
              <a:spcAft>
                <a:spcPts val="0"/>
              </a:spcAft>
            </a:pPr>
            <a:r>
              <a:rPr lang="en-US" altLang="zh-CN" sz="1200" i="1" kern="100" dirty="0"/>
              <a:t>output q </a:t>
            </a:r>
            <a:r>
              <a:rPr lang="en-US" altLang="zh-CN" sz="1200" i="1" kern="100" dirty="0">
                <a:solidFill>
                  <a:srgbClr val="000000"/>
                </a:solidFill>
              </a:rPr>
              <a:t>)</a:t>
            </a:r>
            <a:r>
              <a:rPr lang="en-US" altLang="zh-CN" sz="1200" i="1" kern="100" dirty="0"/>
              <a:t>;</a:t>
            </a:r>
            <a:endParaRPr lang="zh-CN" altLang="zh-CN" sz="1200" kern="100" dirty="0"/>
          </a:p>
          <a:p>
            <a:pPr indent="266700">
              <a:spcAft>
                <a:spcPts val="0"/>
              </a:spcAft>
            </a:pPr>
            <a:r>
              <a:rPr lang="en-US" altLang="zh-CN" sz="1200" i="1" kern="100" dirty="0"/>
              <a:t>    </a:t>
            </a:r>
            <a:endParaRPr lang="zh-CN" altLang="zh-CN" sz="1200" kern="100" dirty="0"/>
          </a:p>
          <a:p>
            <a:pPr indent="266700">
              <a:spcAft>
                <a:spcPts val="0"/>
              </a:spcAft>
            </a:pPr>
            <a:r>
              <a:rPr lang="en-US" altLang="zh-CN" sz="1200" i="1" kern="100" dirty="0"/>
              <a:t>wire out1,out2;</a:t>
            </a:r>
            <a:endParaRPr lang="zh-CN" altLang="zh-CN" sz="1200" kern="100" dirty="0"/>
          </a:p>
          <a:p>
            <a:pPr indent="266700">
              <a:spcAft>
                <a:spcPts val="0"/>
              </a:spcAft>
            </a:pPr>
            <a:r>
              <a:rPr lang="en-US" altLang="zh-CN" sz="1200" i="1" kern="100" dirty="0"/>
              <a:t>    </a:t>
            </a:r>
            <a:r>
              <a:rPr lang="en-US" altLang="zh-CN" sz="1200" i="1" kern="100" dirty="0" err="1"/>
              <a:t>my_dff</a:t>
            </a:r>
            <a:r>
              <a:rPr lang="en-US" altLang="zh-CN" sz="1200" i="1" kern="100" dirty="0"/>
              <a:t> ins1(clk,d,out1);</a:t>
            </a:r>
            <a:endParaRPr lang="zh-CN" altLang="zh-CN" sz="1200" kern="100" dirty="0"/>
          </a:p>
          <a:p>
            <a:pPr indent="266700">
              <a:spcAft>
                <a:spcPts val="0"/>
              </a:spcAft>
            </a:pPr>
            <a:r>
              <a:rPr lang="en-US" altLang="zh-CN" sz="1200" i="1" kern="100" dirty="0"/>
              <a:t>    </a:t>
            </a:r>
            <a:r>
              <a:rPr lang="en-US" altLang="zh-CN" sz="1200" i="1" kern="100" dirty="0" err="1"/>
              <a:t>my_dff</a:t>
            </a:r>
            <a:r>
              <a:rPr lang="en-US" altLang="zh-CN" sz="1200" i="1" kern="100" dirty="0"/>
              <a:t> ins2(clk,out1,out2);</a:t>
            </a:r>
            <a:endParaRPr lang="zh-CN" altLang="zh-CN" sz="1200" kern="100" dirty="0"/>
          </a:p>
          <a:p>
            <a:pPr indent="266700">
              <a:spcAft>
                <a:spcPts val="0"/>
              </a:spcAft>
            </a:pPr>
            <a:r>
              <a:rPr lang="en-US" altLang="zh-CN" sz="1200" i="1" kern="100" dirty="0"/>
              <a:t>    </a:t>
            </a:r>
            <a:r>
              <a:rPr lang="en-US" altLang="zh-CN" sz="1200" i="1" kern="100" dirty="0" err="1"/>
              <a:t>my_dff</a:t>
            </a:r>
            <a:r>
              <a:rPr lang="en-US" altLang="zh-CN" sz="1200" i="1" kern="100" dirty="0"/>
              <a:t> ins3(clk,out2,q);</a:t>
            </a:r>
            <a:endParaRPr lang="zh-CN" altLang="zh-CN" sz="1200" kern="100" dirty="0"/>
          </a:p>
          <a:p>
            <a:pPr indent="266700">
              <a:spcAft>
                <a:spcPts val="0"/>
              </a:spcAft>
            </a:pPr>
            <a:r>
              <a:rPr lang="en-US" altLang="zh-CN" sz="1200" i="1" kern="100" dirty="0" err="1"/>
              <a:t>endmodule</a:t>
            </a:r>
            <a:endParaRPr lang="zh-CN" altLang="zh-CN" sz="1200" kern="1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81292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21】</a:t>
            </a:r>
            <a:r>
              <a:rPr lang="en-US" altLang="zh-CN" sz="1800" dirty="0"/>
              <a:t>D</a:t>
            </a:r>
            <a:r>
              <a:rPr lang="zh-CN" altLang="en-US" sz="1800" dirty="0"/>
              <a:t>触发器实现</a:t>
            </a:r>
            <a:r>
              <a:rPr lang="en-US" altLang="zh-CN" sz="1800" dirty="0"/>
              <a:t>JK</a:t>
            </a:r>
            <a:r>
              <a:rPr lang="zh-CN" altLang="en-US" sz="1800" dirty="0"/>
              <a:t>触发器</a:t>
            </a:r>
            <a:r>
              <a:rPr lang="zh-CN" altLang="en-US" sz="1800" dirty="0" smtClean="0"/>
              <a:t>。触发器</a:t>
            </a:r>
            <a:r>
              <a:rPr lang="zh-CN" altLang="en-US" sz="1800" dirty="0"/>
              <a:t>之间可以互相实现，试采用</a:t>
            </a:r>
            <a:r>
              <a:rPr lang="en-US" altLang="zh-CN" sz="1800" dirty="0"/>
              <a:t>D</a:t>
            </a:r>
            <a:r>
              <a:rPr lang="zh-CN" altLang="en-US" sz="1800" dirty="0"/>
              <a:t>触发器来实现一个</a:t>
            </a:r>
            <a:r>
              <a:rPr lang="en-US" altLang="zh-CN" sz="1800" dirty="0"/>
              <a:t>JK</a:t>
            </a:r>
            <a:r>
              <a:rPr lang="zh-CN" altLang="en-US" sz="1800" dirty="0"/>
              <a:t>触发器。</a:t>
            </a:r>
            <a:r>
              <a:rPr lang="en-US" altLang="zh-CN" sz="1800" dirty="0"/>
              <a:t>JK</a:t>
            </a:r>
            <a:r>
              <a:rPr lang="zh-CN" altLang="en-US" sz="1800" dirty="0"/>
              <a:t>触发器要求上升沿有效。本例中采用真值表法实现。</a:t>
            </a:r>
            <a:endParaRPr lang="zh-CN" altLang="en-US" sz="1800" dirty="0"/>
          </a:p>
          <a:p>
            <a:endParaRPr lang="zh-CN" altLang="zh-CN" sz="1800" dirty="0" smtClean="0"/>
          </a:p>
          <a:p>
            <a:endParaRPr lang="zh-CN" altLang="en-US" sz="1800" dirty="0"/>
          </a:p>
        </p:txBody>
      </p:sp>
      <p:graphicFrame>
        <p:nvGraphicFramePr>
          <p:cNvPr id="5" name="表格 4"/>
          <p:cNvGraphicFramePr>
            <a:graphicFrameLocks noGrp="1"/>
          </p:cNvGraphicFramePr>
          <p:nvPr/>
        </p:nvGraphicFramePr>
        <p:xfrm>
          <a:off x="5133704" y="4568813"/>
          <a:ext cx="1673588" cy="1559950"/>
        </p:xfrm>
        <a:graphic>
          <a:graphicData uri="http://schemas.openxmlformats.org/drawingml/2006/table">
            <a:tbl>
              <a:tblPr firstRow="1" firstCol="1" bandRow="1">
                <a:tableStyleId>{5C22544A-7EE6-4342-B048-85BDC9FD1C3A}</a:tableStyleId>
              </a:tblPr>
              <a:tblGrid>
                <a:gridCol w="1090170"/>
                <a:gridCol w="583418"/>
              </a:tblGrid>
              <a:tr h="547746">
                <a:tc>
                  <a:txBody>
                    <a:bodyPr/>
                    <a:lstStyle/>
                    <a:p>
                      <a:pPr algn="ctr">
                        <a:spcAft>
                          <a:spcPts val="0"/>
                        </a:spcAft>
                      </a:pPr>
                      <a:r>
                        <a:rPr lang="en-US" sz="1050" kern="100" dirty="0">
                          <a:effectLst/>
                        </a:rPr>
                        <a:t>J    K</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endParaRPr lang="en-US" sz="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246927">
                <a:tc>
                  <a:txBody>
                    <a:bodyPr/>
                    <a:lstStyle/>
                    <a:p>
                      <a:pPr algn="ctr">
                        <a:spcAft>
                          <a:spcPts val="0"/>
                        </a:spcAft>
                      </a:pPr>
                      <a:r>
                        <a:rPr lang="en-US" sz="1050" kern="100">
                          <a:effectLst/>
                        </a:rPr>
                        <a:t>0    0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050" kern="100">
                          <a:effectLst/>
                        </a:rPr>
                        <a:t>old</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267504">
                <a:tc>
                  <a:txBody>
                    <a:bodyPr/>
                    <a:lstStyle/>
                    <a:p>
                      <a:pPr algn="ctr">
                        <a:spcAft>
                          <a:spcPts val="0"/>
                        </a:spcAft>
                      </a:pPr>
                      <a:r>
                        <a:rPr lang="en-US" sz="1050" kern="100">
                          <a:effectLst/>
                        </a:rPr>
                        <a:t>0    1</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050" kern="100">
                          <a:effectLst/>
                        </a:rPr>
                        <a:t>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246927">
                <a:tc>
                  <a:txBody>
                    <a:bodyPr/>
                    <a:lstStyle/>
                    <a:p>
                      <a:pPr algn="ctr">
                        <a:spcAft>
                          <a:spcPts val="0"/>
                        </a:spcAft>
                      </a:pPr>
                      <a:r>
                        <a:rPr lang="en-US" sz="1050" kern="100">
                          <a:effectLst/>
                        </a:rPr>
                        <a:t>1    0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050" kern="100">
                          <a:effectLst/>
                        </a:rPr>
                        <a:t>1</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250846">
                <a:tc>
                  <a:txBody>
                    <a:bodyPr/>
                    <a:lstStyle/>
                    <a:p>
                      <a:pPr algn="ctr">
                        <a:spcAft>
                          <a:spcPts val="0"/>
                        </a:spcAft>
                      </a:pPr>
                      <a:r>
                        <a:rPr lang="en-US" sz="1050" kern="100">
                          <a:effectLst/>
                        </a:rPr>
                        <a:t>1    1</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050" kern="100" dirty="0">
                          <a:effectLst/>
                        </a:rPr>
                        <a:t>~old</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bl>
          </a:graphicData>
        </a:graphic>
      </p:graphicFrame>
      <p:sp>
        <p:nvSpPr>
          <p:cNvPr id="6" name="Rectangle 2"/>
          <p:cNvSpPr>
            <a:spLocks noChangeArrowheads="1"/>
          </p:cNvSpPr>
          <p:nvPr/>
        </p:nvSpPr>
        <p:spPr bwMode="auto">
          <a:xfrm>
            <a:off x="340921" y="2423553"/>
            <a:ext cx="820776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pPr>
            <a:r>
              <a:rPr kumimoji="0" lang="zh-CN"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解：结合例</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10.19</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，采用</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触发器实现移位寄存器，可以看出，在</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Verilog</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中，实现方式与前文相比更为简便，只需要找到子模块之间的联系，用</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wire</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类型“连线”就能做到。</a:t>
            </a:r>
            <a:endParaRPr kumimoji="0" lang="zh-CN" altLang="en-US"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分析真值表，见表</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10.2</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所示。通常来说，</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JK</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触发器应符合输入</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00</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为保持，也就是</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Q</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输出为之前状态，用</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old</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表示；当</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JK</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为</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11</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时，触发器翻转，此时状态为</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Q</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非，也就是</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~old</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；其他两种情况下输出</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Q</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分别输出</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0</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和</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zh-CN" altLang="en-US" sz="14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因此，可以定义输入为</a:t>
            </a:r>
            <a:r>
              <a:rPr kumimoji="0" lang="en-US" altLang="zh-CN"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clk</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输出为</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Q</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，在</a:t>
            </a:r>
            <a:r>
              <a:rPr kumimoji="0" lang="en-US" altLang="zh-CN"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always</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敏感事件中用</a:t>
            </a:r>
            <a:r>
              <a:rPr kumimoji="0" lang="en-US" altLang="zh-CN"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posedge</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确定</a:t>
            </a:r>
            <a:r>
              <a:rPr kumimoji="0" lang="en-US" altLang="zh-CN"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clk</a:t>
            </a:r>
            <a:r>
              <a:rPr kumimoji="0" lang="zh-CN"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的上升沿有效。</a:t>
            </a:r>
            <a:endParaRPr kumimoji="0" lang="zh-CN" altLang="en-US" sz="1400" b="0" i="0" u="none" strike="noStrike" cap="none" normalizeH="0" baseline="0" dirty="0" smtClean="0">
              <a:ln>
                <a:noFill/>
              </a:ln>
              <a:solidFill>
                <a:schemeClr val="tx1"/>
              </a:solidFill>
              <a:effectLst/>
            </a:endParaRPr>
          </a:p>
        </p:txBody>
      </p:sp>
      <p:graphicFrame>
        <p:nvGraphicFramePr>
          <p:cNvPr id="7" name="对象 6"/>
          <p:cNvGraphicFramePr>
            <a:graphicFrameLocks noChangeAspect="1"/>
          </p:cNvGraphicFramePr>
          <p:nvPr/>
        </p:nvGraphicFramePr>
        <p:xfrm>
          <a:off x="6372499" y="4662522"/>
          <a:ext cx="276225" cy="257175"/>
        </p:xfrm>
        <a:graphic>
          <a:graphicData uri="http://schemas.openxmlformats.org/presentationml/2006/ole">
            <mc:AlternateContent xmlns:mc="http://schemas.openxmlformats.org/markup-compatibility/2006">
              <mc:Choice xmlns:v="urn:schemas-microsoft-com:vml" Requires="v">
                <p:oleObj spid="_x0000_s29707" name="公式" r:id="rId1" imgW="342900" imgH="292100" progId="Equation.3">
                  <p:embed/>
                </p:oleObj>
              </mc:Choice>
              <mc:Fallback>
                <p:oleObj name="公式" r:id="rId1" imgW="342900" imgH="292100" progId="Equation.3">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499" y="4662522"/>
                        <a:ext cx="276225" cy="257175"/>
                      </a:xfrm>
                      <a:prstGeom prst="rect">
                        <a:avLst/>
                      </a:prstGeom>
                      <a:noFill/>
                    </p:spPr>
                  </p:pic>
                </p:oleObj>
              </mc:Fallback>
            </mc:AlternateContent>
          </a:graphicData>
        </a:graphic>
      </p:graphicFrame>
      <p:sp>
        <p:nvSpPr>
          <p:cNvPr id="8" name="Rectangle 3"/>
          <p:cNvSpPr>
            <a:spLocks noChangeArrowheads="1"/>
          </p:cNvSpPr>
          <p:nvPr/>
        </p:nvSpPr>
        <p:spPr bwMode="auto">
          <a:xfrm>
            <a:off x="340921" y="3790905"/>
            <a:ext cx="221939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lvl="0"/>
            <a:r>
              <a:rPr lang="en-US" altLang="zh-CN" sz="1200" i="1" dirty="0">
                <a:latin typeface="Times New Roman" panose="02020603050405020304" pitchFamily="18" charset="0"/>
                <a:cs typeface="Times New Roman" panose="02020603050405020304" pitchFamily="18" charset="0"/>
              </a:rPr>
              <a:t>module </a:t>
            </a:r>
            <a:r>
              <a:rPr lang="en-US" altLang="zh-CN" sz="1200" i="1" dirty="0" err="1">
                <a:latin typeface="Times New Roman" panose="02020603050405020304" pitchFamily="18" charset="0"/>
                <a:cs typeface="Times New Roman" panose="02020603050405020304" pitchFamily="18" charset="0"/>
              </a:rPr>
              <a:t>top_module</a:t>
            </a:r>
            <a:r>
              <a:rPr lang="en-US" altLang="zh-CN" sz="1200" i="1" dirty="0">
                <a:latin typeface="Times New Roman" panose="02020603050405020304" pitchFamily="18" charset="0"/>
                <a:cs typeface="Times New Roman" panose="02020603050405020304" pitchFamily="18" charset="0"/>
              </a:rPr>
              <a:t> </a:t>
            </a:r>
            <a:r>
              <a:rPr lang="en-US" altLang="zh-CN" sz="1200" i="1" dirty="0">
                <a:solidFill>
                  <a:srgbClr val="000000"/>
                </a:solidFill>
                <a:latin typeface="Times New Roman" panose="02020603050405020304" pitchFamily="18" charset="0"/>
                <a:cs typeface="Times New Roman" panose="02020603050405020304" pitchFamily="18" charset="0"/>
              </a:rPr>
              <a:t>(</a:t>
            </a:r>
            <a:r>
              <a:rPr lang="en-US" altLang="zh-CN" sz="1200" i="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 </a:t>
            </a:r>
            <a:endParaRPr lang="zh-CN" altLang="en-US" sz="1200" dirty="0"/>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input </a:t>
            </a:r>
            <a:r>
              <a:rPr kumimoji="0" lang="en-US" altLang="zh-CN" sz="12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clk</a:t>
            </a: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input j,</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input k,</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output </a:t>
            </a:r>
            <a:r>
              <a:rPr kumimoji="0" lang="en-US" altLang="zh-CN" sz="12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a:t>
            </a: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a:t>
            </a:r>
            <a:r>
              <a:rPr kumimoji="0" lang="en-US" altLang="zh-CN" sz="1200" b="0" i="1"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a:t>
            </a: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wire old = Q;</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initial Q=0;</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always @(</a:t>
            </a:r>
            <a:r>
              <a:rPr kumimoji="0" lang="en-US" altLang="zh-CN" sz="12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posedge</a:t>
            </a: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zh-CN" sz="12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clk</a:t>
            </a: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begin</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if(</a:t>
            </a:r>
            <a:r>
              <a:rPr kumimoji="0" lang="en-US" altLang="zh-CN" sz="12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j^k</a:t>
            </a: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 &lt;= j;</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else </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 &lt;= j</a:t>
            </a:r>
            <a:r>
              <a:rPr kumimoji="0" lang="en-US" altLang="zh-CN" sz="1200" b="0" i="1"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a:t>
            </a:r>
            <a:r>
              <a:rPr kumimoji="0" lang="en-US" altLang="zh-CN" sz="12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old:old</a:t>
            </a: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end</a:t>
            </a:r>
            <a:endParaRPr kumimoji="0" lang="en-US"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en-US" altLang="zh-CN" sz="12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endmodule</a:t>
            </a:r>
            <a:endParaRPr kumimoji="0" lang="en-US" altLang="zh-CN" sz="1200" b="0" i="0" u="none" strike="noStrike" cap="none" normalizeH="0" baseline="0" dirty="0" smtClean="0">
              <a:ln>
                <a:noFill/>
              </a:ln>
              <a:solidFill>
                <a:schemeClr val="tx1"/>
              </a:solidFill>
              <a:effectLst/>
            </a:endParaRPr>
          </a:p>
        </p:txBody>
      </p:sp>
      <p:sp>
        <p:nvSpPr>
          <p:cNvPr id="9" name="矩形 8"/>
          <p:cNvSpPr/>
          <p:nvPr/>
        </p:nvSpPr>
        <p:spPr>
          <a:xfrm>
            <a:off x="4904206" y="4307204"/>
            <a:ext cx="1903085" cy="261610"/>
          </a:xfrm>
          <a:prstGeom prst="rect">
            <a:avLst/>
          </a:prstGeom>
        </p:spPr>
        <p:txBody>
          <a:bodyPr wrap="none">
            <a:spAutoFit/>
          </a:bodyPr>
          <a:lstStyle/>
          <a:p>
            <a:pPr lvl="0" indent="266700"/>
            <a:r>
              <a:rPr lang="zh-CN" altLang="en-US" sz="1100" b="1" dirty="0">
                <a:cs typeface="Times New Roman" panose="02020603050405020304" pitchFamily="18" charset="0"/>
              </a:rPr>
              <a:t>表</a:t>
            </a:r>
            <a:r>
              <a:rPr lang="en-US" altLang="zh-CN" sz="1100" b="1" dirty="0">
                <a:cs typeface="Times New Roman" panose="02020603050405020304" pitchFamily="18" charset="0"/>
              </a:rPr>
              <a:t>10.2 JK</a:t>
            </a:r>
            <a:r>
              <a:rPr lang="zh-CN" altLang="en-US" sz="1100" b="1" dirty="0">
                <a:cs typeface="Times New Roman" panose="02020603050405020304" pitchFamily="18" charset="0"/>
              </a:rPr>
              <a:t>触发器真值表</a:t>
            </a:r>
            <a:endParaRPr lang="zh-CN" altLang="en-US" dirty="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236664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22】</a:t>
            </a:r>
            <a:r>
              <a:rPr lang="zh-CN" altLang="en-US" sz="1800" dirty="0"/>
              <a:t>上升沿信号练习</a:t>
            </a:r>
            <a:r>
              <a:rPr lang="zh-CN" altLang="en-US" sz="1800" dirty="0" smtClean="0"/>
              <a:t>：前面</a:t>
            </a:r>
            <a:r>
              <a:rPr lang="zh-CN" altLang="en-US" sz="1800" dirty="0"/>
              <a:t>的例题里已经提到上升沿检测，对于读图写模块代码来说，需要通过图中的信号来判断是上升沿或下降沿出现信号的改变</a:t>
            </a:r>
            <a:r>
              <a:rPr lang="zh-CN" altLang="en-US" sz="1800" dirty="0" smtClean="0"/>
              <a:t>。图是</a:t>
            </a:r>
            <a:r>
              <a:rPr lang="zh-CN" altLang="en-US" sz="1800" dirty="0"/>
              <a:t>一组波形图，对应宽度为</a:t>
            </a:r>
            <a:r>
              <a:rPr lang="en-US" altLang="zh-CN" sz="1800" dirty="0"/>
              <a:t>8</a:t>
            </a:r>
            <a:r>
              <a:rPr lang="zh-CN" altLang="en-US" sz="1800" dirty="0"/>
              <a:t>位的输入，通过对其中的</a:t>
            </a:r>
            <a:r>
              <a:rPr lang="en-US" altLang="zh-CN" sz="1800" dirty="0"/>
              <a:t>in[1]</a:t>
            </a:r>
            <a:r>
              <a:rPr lang="zh-CN" altLang="en-US" sz="1800" dirty="0"/>
              <a:t>与</a:t>
            </a:r>
            <a:r>
              <a:rPr lang="en-US" altLang="zh-CN" sz="1800" dirty="0" err="1"/>
              <a:t>pedge</a:t>
            </a:r>
            <a:r>
              <a:rPr lang="en-US" altLang="zh-CN" sz="1800" dirty="0"/>
              <a:t>[1]</a:t>
            </a:r>
            <a:r>
              <a:rPr lang="zh-CN" altLang="en-US" sz="1800" dirty="0"/>
              <a:t>单独显示，观察模块数据变化规律，写出模块的实现。</a:t>
            </a:r>
            <a:endParaRPr lang="zh-CN" altLang="en-US" sz="1800" dirty="0"/>
          </a:p>
          <a:p>
            <a:r>
              <a:rPr lang="zh-CN" altLang="en-US" sz="1800" dirty="0"/>
              <a:t>其中</a:t>
            </a:r>
            <a:r>
              <a:rPr lang="en-US" altLang="zh-CN" sz="1800" dirty="0"/>
              <a:t>in</a:t>
            </a:r>
            <a:r>
              <a:rPr lang="zh-CN" altLang="en-US" sz="1800" dirty="0"/>
              <a:t>为输入信号，</a:t>
            </a:r>
            <a:r>
              <a:rPr lang="en-US" altLang="zh-CN" sz="1800" dirty="0" err="1"/>
              <a:t>pedge</a:t>
            </a:r>
            <a:r>
              <a:rPr lang="zh-CN" altLang="en-US" sz="1800" dirty="0"/>
              <a:t>为检测输出信号。</a:t>
            </a:r>
            <a:endParaRPr lang="zh-CN" altLang="en-US" sz="1800" dirty="0"/>
          </a:p>
          <a:p>
            <a:endParaRPr lang="zh-CN" altLang="en-US" sz="1800" dirty="0"/>
          </a:p>
        </p:txBody>
      </p:sp>
      <p:sp>
        <p:nvSpPr>
          <p:cNvPr id="6" name="矩形 5"/>
          <p:cNvSpPr/>
          <p:nvPr/>
        </p:nvSpPr>
        <p:spPr>
          <a:xfrm>
            <a:off x="150223" y="3515407"/>
            <a:ext cx="4572000" cy="2862322"/>
          </a:xfrm>
          <a:prstGeom prst="rect">
            <a:avLst/>
          </a:prstGeom>
        </p:spPr>
        <p:txBody>
          <a:bodyPr>
            <a:spAutoFit/>
          </a:bodyPr>
          <a:lstStyle/>
          <a:p>
            <a:r>
              <a:rPr lang="zh-CN" altLang="zh-CN" sz="1200" dirty="0"/>
              <a:t>解：如图</a:t>
            </a:r>
            <a:r>
              <a:rPr lang="en-US" altLang="zh-CN" sz="1200" dirty="0"/>
              <a:t>10.23</a:t>
            </a:r>
            <a:r>
              <a:rPr lang="zh-CN" altLang="zh-CN" sz="1200" dirty="0"/>
              <a:t>中所示，</a:t>
            </a:r>
            <a:r>
              <a:rPr lang="en-US" altLang="zh-CN" sz="1200" i="1" dirty="0"/>
              <a:t>in</a:t>
            </a:r>
            <a:r>
              <a:rPr lang="en-US" altLang="zh-CN" sz="1200" dirty="0"/>
              <a:t>[7:0]</a:t>
            </a:r>
            <a:r>
              <a:rPr lang="zh-CN" altLang="zh-CN" sz="1200" dirty="0"/>
              <a:t>是输入，当时钟在</a:t>
            </a:r>
            <a:r>
              <a:rPr lang="en-US" altLang="zh-CN" sz="1200" dirty="0"/>
              <a:t>0-1</a:t>
            </a:r>
            <a:r>
              <a:rPr lang="zh-CN" altLang="zh-CN" sz="1200" dirty="0"/>
              <a:t>的上升沿处，发生改变，此时，经过一个时钟周期检出信号</a:t>
            </a:r>
            <a:r>
              <a:rPr lang="en-US" altLang="zh-CN" sz="1200" i="1" dirty="0" err="1"/>
              <a:t>pedge</a:t>
            </a:r>
            <a:r>
              <a:rPr lang="zh-CN" altLang="zh-CN" sz="1200" dirty="0"/>
              <a:t>发生改变。</a:t>
            </a:r>
            <a:endParaRPr lang="zh-CN" altLang="zh-CN" sz="1200" dirty="0"/>
          </a:p>
          <a:p>
            <a:r>
              <a:rPr lang="zh-CN" altLang="zh-CN" sz="1200" dirty="0"/>
              <a:t>定义端口为</a:t>
            </a:r>
            <a:r>
              <a:rPr lang="en-US" altLang="zh-CN" sz="1200" dirty="0"/>
              <a:t>2</a:t>
            </a:r>
            <a:r>
              <a:rPr lang="zh-CN" altLang="zh-CN" sz="1200" dirty="0"/>
              <a:t>输入：</a:t>
            </a:r>
            <a:r>
              <a:rPr lang="en-US" altLang="zh-CN" sz="1200" i="1" dirty="0" err="1"/>
              <a:t>clk</a:t>
            </a:r>
            <a:r>
              <a:rPr lang="zh-CN" altLang="zh-CN" sz="1200" dirty="0"/>
              <a:t>和</a:t>
            </a:r>
            <a:r>
              <a:rPr lang="en-US" altLang="zh-CN" sz="1200" i="1" dirty="0"/>
              <a:t>in</a:t>
            </a:r>
            <a:r>
              <a:rPr lang="zh-CN" altLang="zh-CN" sz="1200" dirty="0"/>
              <a:t>，输出为</a:t>
            </a:r>
            <a:r>
              <a:rPr lang="en-US" altLang="zh-CN" sz="1200" i="1" dirty="0" err="1"/>
              <a:t>pedge</a:t>
            </a:r>
            <a:r>
              <a:rPr lang="zh-CN" altLang="zh-CN" sz="1200" dirty="0"/>
              <a:t>。参考代码为：</a:t>
            </a:r>
            <a:endParaRPr lang="zh-CN" altLang="zh-CN" sz="1200" dirty="0"/>
          </a:p>
          <a:p>
            <a:r>
              <a:rPr lang="en-US" altLang="zh-CN" sz="1200" i="1" dirty="0"/>
              <a:t>module </a:t>
            </a:r>
            <a:r>
              <a:rPr lang="en-US" altLang="zh-CN" sz="1200" i="1" dirty="0" err="1"/>
              <a:t>top_module</a:t>
            </a:r>
            <a:r>
              <a:rPr lang="en-US" altLang="zh-CN" sz="1200" i="1" dirty="0"/>
              <a:t>(</a:t>
            </a:r>
            <a:endParaRPr lang="zh-CN" altLang="zh-CN" sz="1200" dirty="0"/>
          </a:p>
          <a:p>
            <a:r>
              <a:rPr lang="en-US" altLang="zh-CN" sz="1200" i="1" dirty="0"/>
              <a:t>	input </a:t>
            </a:r>
            <a:r>
              <a:rPr lang="en-US" altLang="zh-CN" sz="1200" i="1" dirty="0" err="1"/>
              <a:t>clk</a:t>
            </a:r>
            <a:r>
              <a:rPr lang="en-US" altLang="zh-CN" sz="1200" i="1" dirty="0"/>
              <a:t>,</a:t>
            </a:r>
            <a:endParaRPr lang="zh-CN" altLang="zh-CN" sz="1200" dirty="0"/>
          </a:p>
          <a:p>
            <a:r>
              <a:rPr lang="en-US" altLang="zh-CN" sz="1200" i="1" dirty="0"/>
              <a:t>	input [7:0] in,</a:t>
            </a:r>
            <a:endParaRPr lang="zh-CN" altLang="zh-CN" sz="1200" dirty="0"/>
          </a:p>
          <a:p>
            <a:r>
              <a:rPr lang="en-US" altLang="zh-CN" sz="1200" dirty="0"/>
              <a:t>	</a:t>
            </a:r>
            <a:r>
              <a:rPr lang="en-US" altLang="zh-CN" sz="1200" i="1" dirty="0"/>
              <a:t>output </a:t>
            </a:r>
            <a:r>
              <a:rPr lang="en-US" altLang="zh-CN" sz="1200" i="1" dirty="0" err="1"/>
              <a:t>reg</a:t>
            </a:r>
            <a:r>
              <a:rPr lang="en-US" altLang="zh-CN" sz="1200" i="1" dirty="0"/>
              <a:t> [7:0] </a:t>
            </a:r>
            <a:r>
              <a:rPr lang="en-US" altLang="zh-CN" sz="1200" i="1" dirty="0" err="1"/>
              <a:t>pedge</a:t>
            </a:r>
            <a:r>
              <a:rPr lang="en-US" altLang="zh-CN" sz="1200" i="1" dirty="0"/>
              <a:t>);</a:t>
            </a:r>
            <a:endParaRPr lang="zh-CN" altLang="zh-CN" sz="1200" dirty="0"/>
          </a:p>
          <a:p>
            <a:r>
              <a:rPr lang="en-US" altLang="zh-CN" sz="1200" i="1" dirty="0"/>
              <a:t>	</a:t>
            </a:r>
            <a:endParaRPr lang="zh-CN" altLang="zh-CN" sz="1200" dirty="0"/>
          </a:p>
          <a:p>
            <a:r>
              <a:rPr lang="en-US" altLang="zh-CN" sz="1200" i="1" dirty="0"/>
              <a:t>	</a:t>
            </a:r>
            <a:r>
              <a:rPr lang="en-US" altLang="zh-CN" sz="1200" i="1" dirty="0" err="1"/>
              <a:t>reg</a:t>
            </a:r>
            <a:r>
              <a:rPr lang="en-US" altLang="zh-CN" sz="1200" i="1" dirty="0"/>
              <a:t> [7:0] </a:t>
            </a:r>
            <a:r>
              <a:rPr lang="en-US" altLang="zh-CN" sz="1200" i="1" dirty="0" err="1"/>
              <a:t>d_last</a:t>
            </a:r>
            <a:r>
              <a:rPr lang="en-US" altLang="zh-CN" sz="1200" i="1" dirty="0"/>
              <a:t>=0;	</a:t>
            </a:r>
            <a:endParaRPr lang="zh-CN" altLang="zh-CN" sz="1200" dirty="0"/>
          </a:p>
          <a:p>
            <a:r>
              <a:rPr lang="en-US" altLang="zh-CN" sz="1200" i="1" dirty="0"/>
              <a:t>	always @(</a:t>
            </a:r>
            <a:r>
              <a:rPr lang="en-US" altLang="zh-CN" sz="1200" i="1" dirty="0" err="1"/>
              <a:t>posedge</a:t>
            </a:r>
            <a:r>
              <a:rPr lang="en-US" altLang="zh-CN" sz="1200" i="1" dirty="0"/>
              <a:t> </a:t>
            </a:r>
            <a:r>
              <a:rPr lang="en-US" altLang="zh-CN" sz="1200" i="1" dirty="0" err="1"/>
              <a:t>clk</a:t>
            </a:r>
            <a:r>
              <a:rPr lang="en-US" altLang="zh-CN" sz="1200" i="1" dirty="0"/>
              <a:t>) begin</a:t>
            </a:r>
            <a:endParaRPr lang="zh-CN" altLang="zh-CN" sz="1200" dirty="0"/>
          </a:p>
          <a:p>
            <a:r>
              <a:rPr lang="en-US" altLang="zh-CN" sz="1200" i="1" dirty="0"/>
              <a:t>		</a:t>
            </a:r>
            <a:r>
              <a:rPr lang="en-US" altLang="zh-CN" sz="1200" i="1" dirty="0" err="1"/>
              <a:t>d_last</a:t>
            </a:r>
            <a:r>
              <a:rPr lang="en-US" altLang="zh-CN" sz="1200" i="1" dirty="0"/>
              <a:t> &lt;= in;	</a:t>
            </a:r>
            <a:endParaRPr lang="zh-CN" altLang="zh-CN" sz="1200" dirty="0"/>
          </a:p>
          <a:p>
            <a:r>
              <a:rPr lang="en-US" altLang="zh-CN" sz="1200" i="1" dirty="0"/>
              <a:t>		</a:t>
            </a:r>
            <a:r>
              <a:rPr lang="en-US" altLang="zh-CN" sz="1200" i="1" dirty="0" err="1"/>
              <a:t>pedge</a:t>
            </a:r>
            <a:r>
              <a:rPr lang="en-US" altLang="zh-CN" sz="1200" i="1" dirty="0"/>
              <a:t> &lt;= in &amp; ~</a:t>
            </a:r>
            <a:r>
              <a:rPr lang="en-US" altLang="zh-CN" sz="1200" i="1" dirty="0" err="1"/>
              <a:t>d_last</a:t>
            </a:r>
            <a:r>
              <a:rPr lang="en-US" altLang="zh-CN" sz="1200" i="1" dirty="0"/>
              <a:t>;	</a:t>
            </a:r>
            <a:endParaRPr lang="zh-CN" altLang="zh-CN" sz="1200" dirty="0"/>
          </a:p>
          <a:p>
            <a:r>
              <a:rPr lang="en-US" altLang="zh-CN" sz="1200" i="1" dirty="0"/>
              <a:t>	end	</a:t>
            </a:r>
            <a:endParaRPr lang="zh-CN" altLang="zh-CN" sz="1200" dirty="0"/>
          </a:p>
          <a:p>
            <a:r>
              <a:rPr lang="en-US" altLang="zh-CN" sz="1200" i="1" dirty="0" err="1"/>
              <a:t>endmodule</a:t>
            </a:r>
            <a:endParaRPr lang="zh-CN" altLang="zh-CN" sz="1200" dirty="0"/>
          </a:p>
          <a:p>
            <a:pPr indent="266700" algn="just">
              <a:spcAft>
                <a:spcPts val="0"/>
              </a:spcAft>
            </a:pPr>
            <a:endParaRPr lang="zh-CN" altLang="zh-CN" sz="1200" kern="100" dirty="0"/>
          </a:p>
        </p:txBody>
      </p:sp>
      <p:pic>
        <p:nvPicPr>
          <p:cNvPr id="7" name="图片 6" descr="1573613675458063975.png"/>
          <p:cNvPicPr/>
          <p:nvPr/>
        </p:nvPicPr>
        <p:blipFill>
          <a:blip r:embed="rId1" cstate="print"/>
          <a:stretch>
            <a:fillRect/>
          </a:stretch>
        </p:blipFill>
        <p:spPr>
          <a:xfrm>
            <a:off x="4767943" y="2920640"/>
            <a:ext cx="4180114" cy="119253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340921" y="1113498"/>
            <a:ext cx="8434387" cy="125857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23】</a:t>
            </a:r>
            <a:r>
              <a:rPr lang="zh-CN" altLang="en-US" sz="1800" dirty="0"/>
              <a:t>读波形图实现电路练习：读</a:t>
            </a:r>
            <a:r>
              <a:rPr lang="zh-CN" altLang="en-US" sz="1800" dirty="0" smtClean="0"/>
              <a:t>图所</a:t>
            </a:r>
            <a:r>
              <a:rPr lang="zh-CN" altLang="en-US" sz="1800" dirty="0"/>
              <a:t>示仿真波形以确定电路的功能并编码实现。</a:t>
            </a:r>
            <a:endParaRPr lang="zh-CN" altLang="en-US" sz="1800" dirty="0"/>
          </a:p>
        </p:txBody>
      </p:sp>
      <p:sp>
        <p:nvSpPr>
          <p:cNvPr id="6" name="矩形 5"/>
          <p:cNvSpPr/>
          <p:nvPr/>
        </p:nvSpPr>
        <p:spPr>
          <a:xfrm>
            <a:off x="424180" y="3032125"/>
            <a:ext cx="7374255" cy="3825875"/>
          </a:xfrm>
          <a:prstGeom prst="rect">
            <a:avLst/>
          </a:prstGeom>
        </p:spPr>
        <p:txBody>
          <a:bodyPr wrap="square">
            <a:noAutofit/>
          </a:bodyPr>
          <a:lstStyle/>
          <a:p>
            <a:r>
              <a:rPr lang="zh-CN" altLang="zh-CN" sz="2000" dirty="0"/>
              <a:t>解：由图形可知，这是一个同步时序电路，输入部分为</a:t>
            </a:r>
            <a:r>
              <a:rPr lang="en-US" altLang="zh-CN" sz="2000" i="1" dirty="0" err="1"/>
              <a:t>clk</a:t>
            </a:r>
            <a:r>
              <a:rPr lang="zh-CN" altLang="zh-CN" sz="2000" dirty="0"/>
              <a:t>和</a:t>
            </a:r>
            <a:r>
              <a:rPr lang="en-US" altLang="zh-CN" sz="2000" i="1" dirty="0"/>
              <a:t>a</a:t>
            </a:r>
            <a:r>
              <a:rPr lang="zh-CN" altLang="zh-CN" sz="2000" dirty="0"/>
              <a:t>，输出</a:t>
            </a:r>
            <a:r>
              <a:rPr lang="en-US" altLang="zh-CN" sz="2000" i="1" dirty="0"/>
              <a:t>q</a:t>
            </a:r>
            <a:r>
              <a:rPr lang="zh-CN" altLang="zh-CN" sz="2000" dirty="0"/>
              <a:t>保持与</a:t>
            </a:r>
            <a:r>
              <a:rPr lang="en-US" altLang="zh-CN" sz="2000" i="1" dirty="0"/>
              <a:t>a</a:t>
            </a:r>
            <a:r>
              <a:rPr lang="zh-CN" altLang="zh-CN" sz="2000" dirty="0"/>
              <a:t>相反的输出，在</a:t>
            </a:r>
            <a:r>
              <a:rPr lang="en-US" altLang="zh-CN" sz="2000" i="1" dirty="0"/>
              <a:t>a</a:t>
            </a:r>
            <a:r>
              <a:rPr lang="zh-CN" altLang="zh-CN" sz="2000" dirty="0"/>
              <a:t>发生跳变后一个时钟周期，</a:t>
            </a:r>
            <a:r>
              <a:rPr lang="en-US" altLang="zh-CN" sz="2000" i="1" dirty="0"/>
              <a:t>q</a:t>
            </a:r>
            <a:r>
              <a:rPr lang="zh-CN" altLang="zh-CN" sz="2000" dirty="0"/>
              <a:t>发生改变。代码为：</a:t>
            </a:r>
            <a:endParaRPr lang="zh-CN" altLang="zh-CN" sz="2000" dirty="0"/>
          </a:p>
          <a:p>
            <a:r>
              <a:rPr lang="en-US" altLang="zh-CN" sz="2000" i="1" dirty="0"/>
              <a:t>module </a:t>
            </a:r>
            <a:r>
              <a:rPr lang="en-US" altLang="zh-CN" sz="2000" i="1" dirty="0" err="1"/>
              <a:t>top_module</a:t>
            </a:r>
            <a:r>
              <a:rPr lang="en-US" altLang="zh-CN" sz="2000" i="1" dirty="0"/>
              <a:t> (</a:t>
            </a:r>
            <a:endParaRPr lang="zh-CN" altLang="zh-CN" sz="2000" dirty="0"/>
          </a:p>
          <a:p>
            <a:r>
              <a:rPr lang="en-US" altLang="zh-CN" sz="2000" i="1" dirty="0"/>
              <a:t>    input </a:t>
            </a:r>
            <a:r>
              <a:rPr lang="en-US" altLang="zh-CN" sz="2000" i="1" dirty="0" err="1"/>
              <a:t>clk</a:t>
            </a:r>
            <a:r>
              <a:rPr lang="en-US" altLang="zh-CN" sz="2000" i="1" dirty="0"/>
              <a:t>,</a:t>
            </a:r>
            <a:endParaRPr lang="zh-CN" altLang="zh-CN" sz="2000" dirty="0"/>
          </a:p>
          <a:p>
            <a:r>
              <a:rPr lang="en-US" altLang="zh-CN" sz="2000" i="1" dirty="0"/>
              <a:t>    input a,</a:t>
            </a:r>
            <a:endParaRPr lang="zh-CN" altLang="zh-CN" sz="2000" dirty="0"/>
          </a:p>
          <a:p>
            <a:r>
              <a:rPr lang="en-US" altLang="zh-CN" sz="2000" i="1" dirty="0"/>
              <a:t>    output </a:t>
            </a:r>
            <a:r>
              <a:rPr lang="en-US" altLang="zh-CN" sz="2000" i="1" dirty="0" err="1"/>
              <a:t>reg</a:t>
            </a:r>
            <a:r>
              <a:rPr lang="en-US" altLang="zh-CN" sz="2000" i="1" dirty="0"/>
              <a:t> q );</a:t>
            </a:r>
            <a:endParaRPr lang="zh-CN" altLang="zh-CN" sz="2000" dirty="0"/>
          </a:p>
          <a:p>
            <a:r>
              <a:rPr lang="en-US" altLang="zh-CN" sz="2000" i="1" dirty="0"/>
              <a:t> </a:t>
            </a:r>
            <a:endParaRPr lang="zh-CN" altLang="zh-CN" sz="2000" dirty="0"/>
          </a:p>
          <a:p>
            <a:r>
              <a:rPr lang="en-US" altLang="zh-CN" sz="2000" i="1" dirty="0"/>
              <a:t>    always @(</a:t>
            </a:r>
            <a:r>
              <a:rPr lang="en-US" altLang="zh-CN" sz="2000" i="1" dirty="0" err="1"/>
              <a:t>posedge</a:t>
            </a:r>
            <a:r>
              <a:rPr lang="en-US" altLang="zh-CN" sz="2000" i="1" dirty="0"/>
              <a:t> </a:t>
            </a:r>
            <a:r>
              <a:rPr lang="en-US" altLang="zh-CN" sz="2000" i="1" dirty="0" err="1"/>
              <a:t>clk</a:t>
            </a:r>
            <a:r>
              <a:rPr lang="en-US" altLang="zh-CN" sz="2000" i="1" dirty="0"/>
              <a:t>) begin</a:t>
            </a:r>
            <a:endParaRPr lang="zh-CN" altLang="zh-CN" sz="2000" dirty="0"/>
          </a:p>
          <a:p>
            <a:r>
              <a:rPr lang="en-US" altLang="zh-CN" sz="2000" i="1" dirty="0"/>
              <a:t>        q &lt;= !a;</a:t>
            </a:r>
            <a:endParaRPr lang="zh-CN" altLang="zh-CN" sz="2000" dirty="0"/>
          </a:p>
          <a:p>
            <a:r>
              <a:rPr lang="en-US" altLang="zh-CN" sz="2000" i="1" dirty="0"/>
              <a:t>    end</a:t>
            </a:r>
            <a:endParaRPr lang="zh-CN" altLang="zh-CN" sz="2000" dirty="0"/>
          </a:p>
          <a:p>
            <a:r>
              <a:rPr lang="en-US" altLang="zh-CN" sz="2000" i="1" dirty="0" err="1"/>
              <a:t>endmodule</a:t>
            </a:r>
            <a:endParaRPr lang="zh-CN" altLang="zh-CN" sz="2000" dirty="0"/>
          </a:p>
          <a:p>
            <a:pPr indent="266700" algn="just">
              <a:spcAft>
                <a:spcPts val="0"/>
              </a:spcAft>
            </a:pPr>
            <a:endParaRPr lang="zh-CN" altLang="zh-CN" sz="2000" kern="100" dirty="0"/>
          </a:p>
        </p:txBody>
      </p:sp>
      <p:pic>
        <p:nvPicPr>
          <p:cNvPr id="7" name="图片 6" descr="1573613971074019578.png"/>
          <p:cNvPicPr/>
          <p:nvPr/>
        </p:nvPicPr>
        <p:blipFill>
          <a:blip r:embed="rId1" cstate="print"/>
          <a:stretch>
            <a:fillRect/>
          </a:stretch>
        </p:blipFill>
        <p:spPr>
          <a:xfrm>
            <a:off x="1760855" y="2086247"/>
            <a:ext cx="4707890" cy="101346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477476"/>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424543" y="1100436"/>
            <a:ext cx="8434387" cy="125857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24】</a:t>
            </a:r>
            <a:r>
              <a:rPr lang="zh-CN" altLang="en-US" sz="1800" dirty="0"/>
              <a:t>看状态图实现电路练习：实现如</a:t>
            </a:r>
            <a:r>
              <a:rPr lang="zh-CN" altLang="en-US" sz="1800" dirty="0" smtClean="0"/>
              <a:t>图所</a:t>
            </a:r>
            <a:r>
              <a:rPr lang="zh-CN" altLang="en-US" sz="1800" dirty="0"/>
              <a:t>示的</a:t>
            </a:r>
            <a:r>
              <a:rPr lang="en-US" altLang="zh-CN" sz="1800" dirty="0"/>
              <a:t>Moore</a:t>
            </a:r>
            <a:r>
              <a:rPr lang="zh-CN" altLang="en-US" sz="1800" dirty="0"/>
              <a:t>型同步时序逻辑电路，要求增加异步复位功能，当出现</a:t>
            </a:r>
            <a:r>
              <a:rPr lang="en-US" altLang="zh-CN" sz="1800" dirty="0"/>
              <a:t>reset</a:t>
            </a:r>
            <a:r>
              <a:rPr lang="zh-CN" altLang="en-US" sz="1800" dirty="0"/>
              <a:t>信号时，所有状态回到状态</a:t>
            </a:r>
            <a:r>
              <a:rPr lang="en-US" altLang="zh-CN" sz="1800" dirty="0"/>
              <a:t>B</a:t>
            </a:r>
            <a:r>
              <a:rPr lang="zh-CN" altLang="en-US" sz="1800" dirty="0"/>
              <a:t>，此时输出为</a:t>
            </a:r>
            <a:r>
              <a:rPr lang="en-US" altLang="zh-CN" sz="1800" dirty="0"/>
              <a:t>1</a:t>
            </a:r>
            <a:r>
              <a:rPr lang="zh-CN" altLang="en-US" sz="1800" dirty="0"/>
              <a:t>。</a:t>
            </a:r>
            <a:endParaRPr lang="zh-CN" altLang="en-US" sz="1800" dirty="0"/>
          </a:p>
        </p:txBody>
      </p:sp>
      <p:sp>
        <p:nvSpPr>
          <p:cNvPr id="6" name="矩形 5"/>
          <p:cNvSpPr/>
          <p:nvPr/>
        </p:nvSpPr>
        <p:spPr>
          <a:xfrm>
            <a:off x="424815" y="2646045"/>
            <a:ext cx="4865370" cy="3692525"/>
          </a:xfrm>
          <a:prstGeom prst="rect">
            <a:avLst/>
          </a:prstGeom>
        </p:spPr>
        <p:txBody>
          <a:bodyPr wrap="square">
            <a:spAutoFit/>
          </a:bodyPr>
          <a:lstStyle/>
          <a:p>
            <a:r>
              <a:rPr lang="zh-CN" altLang="zh-CN" sz="1800" dirty="0"/>
              <a:t>解：</a:t>
            </a:r>
            <a:r>
              <a:rPr lang="zh-CN" altLang="zh-CN" sz="1800" dirty="0" smtClean="0"/>
              <a:t>图中</a:t>
            </a:r>
            <a:r>
              <a:rPr lang="zh-CN" altLang="zh-CN" sz="1800" dirty="0"/>
              <a:t>所示为</a:t>
            </a:r>
            <a:r>
              <a:rPr lang="en-US" altLang="zh-CN" sz="1800" i="1" dirty="0"/>
              <a:t>A</a:t>
            </a:r>
            <a:r>
              <a:rPr lang="zh-CN" altLang="zh-CN" sz="1800" i="1" dirty="0"/>
              <a:t>、</a:t>
            </a:r>
            <a:r>
              <a:rPr lang="en-US" altLang="zh-CN" sz="1800" i="1" dirty="0"/>
              <a:t>B</a:t>
            </a:r>
            <a:r>
              <a:rPr lang="zh-CN" altLang="zh-CN" sz="1800" dirty="0"/>
              <a:t>两状态，分别表示输出</a:t>
            </a:r>
            <a:r>
              <a:rPr lang="en-US" altLang="zh-CN" sz="1800" i="1" dirty="0"/>
              <a:t>out</a:t>
            </a:r>
            <a:r>
              <a:rPr lang="zh-CN" altLang="zh-CN" sz="1800" dirty="0"/>
              <a:t>为</a:t>
            </a:r>
            <a:r>
              <a:rPr lang="en-US" altLang="zh-CN" sz="1800" dirty="0"/>
              <a:t>0</a:t>
            </a:r>
            <a:r>
              <a:rPr lang="zh-CN" altLang="zh-CN" sz="1800" dirty="0"/>
              <a:t>和</a:t>
            </a:r>
            <a:r>
              <a:rPr lang="en-US" altLang="zh-CN" sz="1800" dirty="0"/>
              <a:t>1</a:t>
            </a:r>
            <a:r>
              <a:rPr lang="zh-CN" altLang="zh-CN" sz="1800" dirty="0"/>
              <a:t>的情况。此时状态和输出相关，是</a:t>
            </a:r>
            <a:r>
              <a:rPr lang="en-US" altLang="zh-CN" sz="1800" dirty="0"/>
              <a:t>Moore</a:t>
            </a:r>
            <a:r>
              <a:rPr lang="zh-CN" altLang="zh-CN" sz="1800" dirty="0"/>
              <a:t>型状态图。</a:t>
            </a:r>
            <a:endParaRPr lang="zh-CN" altLang="zh-CN" sz="1800" dirty="0"/>
          </a:p>
          <a:p>
            <a:r>
              <a:rPr lang="en-US" altLang="zh-CN" sz="1800" dirty="0"/>
              <a:t>        </a:t>
            </a:r>
            <a:r>
              <a:rPr lang="zh-CN" altLang="zh-CN" sz="1800" dirty="0"/>
              <a:t>按照输入时状态迁移，即输入为</a:t>
            </a:r>
            <a:r>
              <a:rPr lang="en-US" altLang="zh-CN" sz="1800" dirty="0"/>
              <a:t>1</a:t>
            </a:r>
            <a:r>
              <a:rPr lang="zh-CN" altLang="zh-CN" sz="1800" dirty="0"/>
              <a:t>时，状态保持，输入为</a:t>
            </a:r>
            <a:r>
              <a:rPr lang="en-US" altLang="zh-CN" sz="1800" dirty="0"/>
              <a:t>0</a:t>
            </a:r>
            <a:r>
              <a:rPr lang="zh-CN" altLang="zh-CN" sz="1800" dirty="0"/>
              <a:t>时，状态发生变化，</a:t>
            </a:r>
            <a:r>
              <a:rPr lang="en-US" altLang="zh-CN" sz="1800" i="1" dirty="0"/>
              <a:t>A</a:t>
            </a:r>
            <a:r>
              <a:rPr lang="zh-CN" altLang="zh-CN" sz="1800" dirty="0"/>
              <a:t>变为</a:t>
            </a:r>
            <a:r>
              <a:rPr lang="en-US" altLang="zh-CN" sz="1800" i="1" dirty="0"/>
              <a:t>B</a:t>
            </a:r>
            <a:r>
              <a:rPr lang="zh-CN" altLang="zh-CN" sz="1800" i="1" dirty="0"/>
              <a:t>，</a:t>
            </a:r>
            <a:r>
              <a:rPr lang="en-US" altLang="zh-CN" sz="1800" i="1" dirty="0"/>
              <a:t>B</a:t>
            </a:r>
            <a:r>
              <a:rPr lang="zh-CN" altLang="zh-CN" sz="1800" dirty="0"/>
              <a:t>变为</a:t>
            </a:r>
            <a:r>
              <a:rPr lang="en-US" altLang="zh-CN" sz="1800" i="1" dirty="0"/>
              <a:t>A</a:t>
            </a:r>
            <a:r>
              <a:rPr lang="zh-CN" altLang="zh-CN" sz="1800" dirty="0"/>
              <a:t>，可看出这部分转换与</a:t>
            </a:r>
            <a:r>
              <a:rPr lang="en-US" altLang="zh-CN" sz="1800" i="1" dirty="0"/>
              <a:t>in</a:t>
            </a:r>
            <a:r>
              <a:rPr lang="zh-CN" altLang="zh-CN" sz="1800" dirty="0"/>
              <a:t>的取值有关，用</a:t>
            </a:r>
            <a:r>
              <a:rPr lang="en-US" altLang="zh-CN" sz="1800" dirty="0"/>
              <a:t>case</a:t>
            </a:r>
            <a:r>
              <a:rPr lang="zh-CN" altLang="zh-CN" sz="1800" dirty="0"/>
              <a:t>语句</a:t>
            </a:r>
            <a:r>
              <a:rPr lang="en-US" altLang="zh-CN" sz="1800" dirty="0"/>
              <a:t>+</a:t>
            </a:r>
            <a:r>
              <a:rPr lang="zh-CN" altLang="zh-CN" sz="1800" dirty="0"/>
              <a:t>条件判断就能完成。</a:t>
            </a:r>
            <a:endParaRPr lang="zh-CN" altLang="zh-CN" sz="1800" dirty="0"/>
          </a:p>
          <a:p>
            <a:r>
              <a:rPr lang="en-US" altLang="zh-CN" sz="1800" dirty="0"/>
              <a:t>        </a:t>
            </a:r>
            <a:r>
              <a:rPr lang="zh-CN" altLang="zh-CN" sz="1800" dirty="0"/>
              <a:t>时钟</a:t>
            </a:r>
            <a:r>
              <a:rPr lang="en-US" altLang="zh-CN" sz="1800" i="1" dirty="0" err="1"/>
              <a:t>clk</a:t>
            </a:r>
            <a:r>
              <a:rPr lang="zh-CN" altLang="zh-CN" sz="1800" dirty="0"/>
              <a:t>和复位信号直接影响到状态，设定状态为</a:t>
            </a:r>
            <a:r>
              <a:rPr lang="en-US" altLang="zh-CN" sz="1800" dirty="0"/>
              <a:t>state</a:t>
            </a:r>
            <a:r>
              <a:rPr lang="zh-CN" altLang="zh-CN" sz="1800" dirty="0"/>
              <a:t>和</a:t>
            </a:r>
            <a:r>
              <a:rPr lang="en-US" altLang="zh-CN" sz="1800" dirty="0" err="1"/>
              <a:t>next_state</a:t>
            </a:r>
            <a:r>
              <a:rPr lang="zh-CN" altLang="zh-CN" sz="1800" dirty="0"/>
              <a:t>表示当前状态和次态。在时序部分，采用条件分支语句来描述状态信号的迁移。</a:t>
            </a:r>
            <a:endParaRPr lang="zh-CN" altLang="zh-CN" sz="1800" dirty="0"/>
          </a:p>
          <a:p>
            <a:r>
              <a:rPr lang="zh-CN" altLang="zh-CN" sz="1800" dirty="0"/>
              <a:t>合并两部分，添加必要的参数，构成完整的模块。</a:t>
            </a:r>
            <a:endParaRPr lang="zh-CN" altLang="zh-CN" sz="1800" kern="100" dirty="0"/>
          </a:p>
        </p:txBody>
      </p:sp>
      <p:pic>
        <p:nvPicPr>
          <p:cNvPr id="7" name="图片 6" descr="1575902560435032639.png"/>
          <p:cNvPicPr/>
          <p:nvPr/>
        </p:nvPicPr>
        <p:blipFill>
          <a:blip r:embed="rId1" cstate="print"/>
          <a:srcRect r="22451"/>
          <a:stretch>
            <a:fillRect/>
          </a:stretch>
        </p:blipFill>
        <p:spPr>
          <a:xfrm>
            <a:off x="5745480" y="2341880"/>
            <a:ext cx="2740025" cy="153416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0972" y="2379800"/>
            <a:ext cx="4572000" cy="4524315"/>
          </a:xfrm>
          <a:prstGeom prst="rect">
            <a:avLst/>
          </a:prstGeom>
        </p:spPr>
        <p:txBody>
          <a:bodyPr>
            <a:spAutoFit/>
          </a:bodyPr>
          <a:lstStyle/>
          <a:p>
            <a:pPr indent="266700">
              <a:spcAft>
                <a:spcPts val="0"/>
              </a:spcAft>
            </a:pPr>
            <a:r>
              <a:rPr lang="zh-CN" altLang="zh-CN" sz="1200" kern="100" dirty="0"/>
              <a:t>参考代码为：</a:t>
            </a:r>
            <a:endParaRPr lang="zh-CN" altLang="zh-CN" sz="1200" kern="100" dirty="0"/>
          </a:p>
          <a:p>
            <a:pPr indent="266700">
              <a:spcAft>
                <a:spcPts val="0"/>
              </a:spcAft>
            </a:pPr>
            <a:r>
              <a:rPr lang="en-US" altLang="zh-CN" sz="1200" i="1" kern="100" dirty="0"/>
              <a:t>module </a:t>
            </a:r>
            <a:r>
              <a:rPr lang="en-US" altLang="zh-CN" sz="1200" i="1" kern="100" dirty="0" err="1"/>
              <a:t>top_module</a:t>
            </a:r>
            <a:r>
              <a:rPr lang="en-US" altLang="zh-CN" sz="1200" i="1" kern="100" dirty="0">
                <a:solidFill>
                  <a:srgbClr val="000000"/>
                </a:solidFill>
              </a:rPr>
              <a:t>(</a:t>
            </a:r>
            <a:endParaRPr lang="zh-CN" altLang="zh-CN" sz="1200" kern="100" dirty="0"/>
          </a:p>
          <a:p>
            <a:pPr indent="266700">
              <a:spcAft>
                <a:spcPts val="0"/>
              </a:spcAft>
            </a:pPr>
            <a:r>
              <a:rPr lang="en-US" altLang="zh-CN" sz="1200" i="1" kern="100" dirty="0"/>
              <a:t>    input </a:t>
            </a:r>
            <a:r>
              <a:rPr lang="en-US" altLang="zh-CN" sz="1200" i="1" kern="100" dirty="0" err="1"/>
              <a:t>clk</a:t>
            </a:r>
            <a:r>
              <a:rPr lang="en-US" altLang="zh-CN" sz="1200" i="1" kern="100" dirty="0"/>
              <a:t>,</a:t>
            </a:r>
            <a:endParaRPr lang="zh-CN" altLang="zh-CN" sz="1200" kern="100" dirty="0"/>
          </a:p>
          <a:p>
            <a:pPr indent="266700">
              <a:spcAft>
                <a:spcPts val="0"/>
              </a:spcAft>
            </a:pPr>
            <a:r>
              <a:rPr lang="en-US" altLang="zh-CN" sz="1200" i="1" kern="100" dirty="0"/>
              <a:t>    input </a:t>
            </a:r>
            <a:r>
              <a:rPr lang="en-US" altLang="zh-CN" sz="1200" i="1" kern="100" dirty="0" err="1"/>
              <a:t>areset</a:t>
            </a:r>
            <a:r>
              <a:rPr lang="en-US" altLang="zh-CN" sz="1200" i="1" kern="100" dirty="0"/>
              <a:t>,    // </a:t>
            </a:r>
            <a:r>
              <a:rPr lang="zh-CN" altLang="zh-CN" sz="1200" i="1" kern="100" dirty="0"/>
              <a:t>异步复位信号，为</a:t>
            </a:r>
            <a:r>
              <a:rPr lang="en-US" altLang="zh-CN" sz="1200" i="1" kern="100" dirty="0"/>
              <a:t>1</a:t>
            </a:r>
            <a:r>
              <a:rPr lang="zh-CN" altLang="zh-CN" sz="1200" i="1" kern="100" dirty="0"/>
              <a:t>则状态回到</a:t>
            </a:r>
            <a:r>
              <a:rPr lang="en-US" altLang="zh-CN" sz="1200" i="1" kern="100" dirty="0"/>
              <a:t>B</a:t>
            </a:r>
            <a:endParaRPr lang="zh-CN" altLang="zh-CN" sz="1200" kern="100" dirty="0"/>
          </a:p>
          <a:p>
            <a:pPr indent="266700">
              <a:spcAft>
                <a:spcPts val="0"/>
              </a:spcAft>
            </a:pPr>
            <a:r>
              <a:rPr lang="en-US" altLang="zh-CN" sz="1200" i="1" kern="100" dirty="0"/>
              <a:t>    input in,</a:t>
            </a:r>
            <a:endParaRPr lang="zh-CN" altLang="zh-CN" sz="1200" kern="100" dirty="0"/>
          </a:p>
          <a:p>
            <a:pPr indent="266700">
              <a:spcAft>
                <a:spcPts val="0"/>
              </a:spcAft>
            </a:pPr>
            <a:r>
              <a:rPr lang="en-US" altLang="zh-CN" sz="1200" i="1" kern="100" dirty="0"/>
              <a:t>    output out</a:t>
            </a:r>
            <a:r>
              <a:rPr lang="en-US" altLang="zh-CN" sz="1200" i="1" kern="100" dirty="0" smtClean="0">
                <a:solidFill>
                  <a:srgbClr val="000000"/>
                </a:solidFill>
              </a:rPr>
              <a:t>)</a:t>
            </a:r>
            <a:r>
              <a:rPr lang="en-US" altLang="zh-CN" sz="1200" i="1" kern="100" dirty="0" smtClean="0"/>
              <a:t>;</a:t>
            </a:r>
            <a:r>
              <a:rPr lang="en-US" altLang="zh-CN" sz="1200" i="1" kern="100" dirty="0"/>
              <a:t> </a:t>
            </a:r>
            <a:endParaRPr lang="zh-CN" altLang="zh-CN" sz="1200" kern="100" dirty="0"/>
          </a:p>
          <a:p>
            <a:pPr indent="266700">
              <a:spcAft>
                <a:spcPts val="0"/>
              </a:spcAft>
            </a:pPr>
            <a:r>
              <a:rPr lang="en-US" altLang="zh-CN" sz="1200" i="1" kern="100" dirty="0"/>
              <a:t>    parameter A=0, B=1; </a:t>
            </a:r>
            <a:endParaRPr lang="zh-CN" altLang="zh-CN" sz="1200" kern="100" dirty="0"/>
          </a:p>
          <a:p>
            <a:pPr indent="266700">
              <a:spcAft>
                <a:spcPts val="0"/>
              </a:spcAft>
            </a:pPr>
            <a:r>
              <a:rPr lang="en-US" altLang="zh-CN" sz="1200" i="1" kern="100" dirty="0"/>
              <a:t>    </a:t>
            </a:r>
            <a:r>
              <a:rPr lang="en-US" altLang="zh-CN" sz="1200" i="1" kern="100" dirty="0" err="1"/>
              <a:t>reg</a:t>
            </a:r>
            <a:r>
              <a:rPr lang="en-US" altLang="zh-CN" sz="1200" i="1" kern="100" dirty="0"/>
              <a:t> state, </a:t>
            </a:r>
            <a:r>
              <a:rPr lang="en-US" altLang="zh-CN" sz="1200" i="1" kern="100" dirty="0" err="1"/>
              <a:t>next_state</a:t>
            </a:r>
            <a:r>
              <a:rPr lang="en-US" altLang="zh-CN" sz="1200" i="1" kern="100" dirty="0"/>
              <a:t>;</a:t>
            </a:r>
            <a:endParaRPr lang="zh-CN" altLang="zh-CN" sz="1200" kern="100" dirty="0"/>
          </a:p>
          <a:p>
            <a:pPr indent="266700">
              <a:spcAft>
                <a:spcPts val="0"/>
              </a:spcAft>
            </a:pPr>
            <a:r>
              <a:rPr lang="en-US" altLang="zh-CN" sz="1200" i="1" kern="100" dirty="0"/>
              <a:t> </a:t>
            </a:r>
            <a:endParaRPr lang="zh-CN" altLang="zh-CN" sz="1200" kern="100" dirty="0"/>
          </a:p>
          <a:p>
            <a:pPr indent="266700">
              <a:spcAft>
                <a:spcPts val="0"/>
              </a:spcAft>
            </a:pPr>
            <a:r>
              <a:rPr lang="en-US" altLang="zh-CN" sz="1200" i="1" kern="100" dirty="0"/>
              <a:t>    always @(*) begin    // </a:t>
            </a:r>
            <a:r>
              <a:rPr lang="zh-CN" altLang="zh-CN" sz="1200" i="1" kern="100" dirty="0"/>
              <a:t>输入引起的状态迁移</a:t>
            </a:r>
            <a:endParaRPr lang="zh-CN" altLang="zh-CN" sz="1200" kern="100" dirty="0"/>
          </a:p>
          <a:p>
            <a:pPr indent="266700">
              <a:spcAft>
                <a:spcPts val="0"/>
              </a:spcAft>
            </a:pPr>
            <a:r>
              <a:rPr lang="en-US" altLang="zh-CN" sz="1200" i="1" kern="100" dirty="0"/>
              <a:t>        case (state)</a:t>
            </a:r>
            <a:endParaRPr lang="zh-CN" altLang="zh-CN" sz="1200" kern="100" dirty="0"/>
          </a:p>
          <a:p>
            <a:pPr indent="266700">
              <a:spcAft>
                <a:spcPts val="0"/>
              </a:spcAft>
            </a:pPr>
            <a:r>
              <a:rPr lang="en-US" altLang="zh-CN" sz="1200" i="1" kern="100" dirty="0"/>
              <a:t>            A: </a:t>
            </a:r>
            <a:r>
              <a:rPr lang="en-US" altLang="zh-CN" sz="1200" i="1" kern="100" dirty="0" err="1"/>
              <a:t>next_state</a:t>
            </a:r>
            <a:r>
              <a:rPr lang="en-US" altLang="zh-CN" sz="1200" i="1" kern="100" dirty="0"/>
              <a:t> = </a:t>
            </a:r>
            <a:r>
              <a:rPr lang="en-US" altLang="zh-CN" sz="1200" i="1" kern="100" dirty="0" err="1"/>
              <a:t>in?A:B</a:t>
            </a:r>
            <a:r>
              <a:rPr lang="en-US" altLang="zh-CN" sz="1200" i="1" kern="100" dirty="0"/>
              <a:t>;</a:t>
            </a:r>
            <a:endParaRPr lang="zh-CN" altLang="zh-CN" sz="1200" kern="100" dirty="0"/>
          </a:p>
          <a:p>
            <a:pPr indent="266700">
              <a:spcAft>
                <a:spcPts val="0"/>
              </a:spcAft>
            </a:pPr>
            <a:r>
              <a:rPr lang="en-US" altLang="zh-CN" sz="1200" i="1" kern="100" dirty="0"/>
              <a:t>            B: </a:t>
            </a:r>
            <a:r>
              <a:rPr lang="en-US" altLang="zh-CN" sz="1200" i="1" kern="100" dirty="0" err="1"/>
              <a:t>next_state</a:t>
            </a:r>
            <a:r>
              <a:rPr lang="en-US" altLang="zh-CN" sz="1200" i="1" kern="100" dirty="0"/>
              <a:t> = </a:t>
            </a:r>
            <a:r>
              <a:rPr lang="en-US" altLang="zh-CN" sz="1200" i="1" kern="100" dirty="0" err="1"/>
              <a:t>in?B:A</a:t>
            </a:r>
            <a:r>
              <a:rPr lang="en-US" altLang="zh-CN" sz="1200" i="1" kern="100" dirty="0"/>
              <a:t>;</a:t>
            </a:r>
            <a:endParaRPr lang="zh-CN" altLang="zh-CN" sz="1200" kern="100" dirty="0"/>
          </a:p>
          <a:p>
            <a:pPr indent="266700">
              <a:spcAft>
                <a:spcPts val="0"/>
              </a:spcAft>
            </a:pPr>
            <a:r>
              <a:rPr lang="en-US" altLang="zh-CN" sz="1200" i="1" kern="100" dirty="0"/>
              <a:t>        </a:t>
            </a:r>
            <a:r>
              <a:rPr lang="en-US" altLang="zh-CN" sz="1200" i="1" kern="100" dirty="0" err="1"/>
              <a:t>endcase</a:t>
            </a:r>
            <a:endParaRPr lang="zh-CN" altLang="zh-CN" sz="1200" kern="100" dirty="0"/>
          </a:p>
          <a:p>
            <a:pPr indent="266700">
              <a:spcAft>
                <a:spcPts val="0"/>
              </a:spcAft>
            </a:pPr>
            <a:r>
              <a:rPr lang="en-US" altLang="zh-CN" sz="1200" i="1" kern="100" dirty="0"/>
              <a:t>    end</a:t>
            </a:r>
            <a:endParaRPr lang="zh-CN" altLang="zh-CN" sz="1200" kern="100" dirty="0"/>
          </a:p>
          <a:p>
            <a:pPr indent="266700">
              <a:spcAft>
                <a:spcPts val="0"/>
              </a:spcAft>
            </a:pPr>
            <a:r>
              <a:rPr lang="en-US" altLang="zh-CN" sz="1200" i="1" kern="100" dirty="0"/>
              <a:t> </a:t>
            </a:r>
            <a:endParaRPr lang="zh-CN" altLang="zh-CN" sz="1200" kern="100" dirty="0"/>
          </a:p>
          <a:p>
            <a:pPr indent="266700">
              <a:spcAft>
                <a:spcPts val="0"/>
              </a:spcAft>
            </a:pPr>
            <a:r>
              <a:rPr lang="en-US" altLang="zh-CN" sz="1200" i="1" kern="100" dirty="0"/>
              <a:t>    always @(</a:t>
            </a:r>
            <a:r>
              <a:rPr lang="en-US" altLang="zh-CN" sz="1200" i="1" kern="100" dirty="0" err="1"/>
              <a:t>posedge</a:t>
            </a:r>
            <a:r>
              <a:rPr lang="en-US" altLang="zh-CN" sz="1200" i="1" kern="100" dirty="0"/>
              <a:t> </a:t>
            </a:r>
            <a:r>
              <a:rPr lang="en-US" altLang="zh-CN" sz="1200" i="1" kern="100" dirty="0" err="1"/>
              <a:t>clk</a:t>
            </a:r>
            <a:r>
              <a:rPr lang="en-US" altLang="zh-CN" sz="1200" i="1" kern="100" dirty="0"/>
              <a:t>, </a:t>
            </a:r>
            <a:r>
              <a:rPr lang="en-US" altLang="zh-CN" sz="1200" i="1" kern="100" dirty="0" err="1"/>
              <a:t>posedge</a:t>
            </a:r>
            <a:r>
              <a:rPr lang="en-US" altLang="zh-CN" sz="1200" i="1" kern="100" dirty="0"/>
              <a:t> </a:t>
            </a:r>
            <a:r>
              <a:rPr lang="en-US" altLang="zh-CN" sz="1200" i="1" kern="100" dirty="0" err="1"/>
              <a:t>areset</a:t>
            </a:r>
            <a:r>
              <a:rPr lang="en-US" altLang="zh-CN" sz="1200" i="1" kern="100" dirty="0"/>
              <a:t>) begin    // </a:t>
            </a:r>
            <a:r>
              <a:rPr lang="zh-CN" altLang="zh-CN" sz="1200" i="1" kern="100" dirty="0"/>
              <a:t>时钟和复位部分</a:t>
            </a:r>
            <a:endParaRPr lang="zh-CN" altLang="zh-CN" sz="1200" kern="100" dirty="0"/>
          </a:p>
          <a:p>
            <a:pPr indent="266700">
              <a:spcAft>
                <a:spcPts val="0"/>
              </a:spcAft>
            </a:pPr>
            <a:r>
              <a:rPr lang="en-US" altLang="zh-CN" sz="1200" i="1" kern="100" dirty="0"/>
              <a:t>        if(</a:t>
            </a:r>
            <a:r>
              <a:rPr lang="en-US" altLang="zh-CN" sz="1200" i="1" kern="100" dirty="0" err="1"/>
              <a:t>areset</a:t>
            </a:r>
            <a:r>
              <a:rPr lang="en-US" altLang="zh-CN" sz="1200" i="1" kern="100" dirty="0"/>
              <a:t>) </a:t>
            </a:r>
            <a:endParaRPr lang="zh-CN" altLang="zh-CN" sz="1200" kern="100" dirty="0"/>
          </a:p>
          <a:p>
            <a:pPr indent="266700">
              <a:spcAft>
                <a:spcPts val="0"/>
              </a:spcAft>
            </a:pPr>
            <a:r>
              <a:rPr lang="en-US" altLang="zh-CN" sz="1200" i="1" kern="100" dirty="0"/>
              <a:t>            state &lt;= B;</a:t>
            </a:r>
            <a:endParaRPr lang="zh-CN" altLang="zh-CN" sz="1200" kern="100" dirty="0"/>
          </a:p>
          <a:p>
            <a:pPr indent="266700">
              <a:spcAft>
                <a:spcPts val="0"/>
              </a:spcAft>
            </a:pPr>
            <a:r>
              <a:rPr lang="en-US" altLang="zh-CN" sz="1200" i="1" kern="100" dirty="0"/>
              <a:t>        else</a:t>
            </a:r>
            <a:endParaRPr lang="zh-CN" altLang="zh-CN" sz="1200" kern="100" dirty="0"/>
          </a:p>
          <a:p>
            <a:pPr indent="266700">
              <a:spcAft>
                <a:spcPts val="0"/>
              </a:spcAft>
            </a:pPr>
            <a:r>
              <a:rPr lang="en-US" altLang="zh-CN" sz="1200" i="1" kern="100" dirty="0"/>
              <a:t>            state &lt;= </a:t>
            </a:r>
            <a:r>
              <a:rPr lang="en-US" altLang="zh-CN" sz="1200" i="1" kern="100" dirty="0" err="1"/>
              <a:t>next_state</a:t>
            </a:r>
            <a:r>
              <a:rPr lang="en-US" altLang="zh-CN" sz="1200" i="1" kern="100" dirty="0"/>
              <a:t>;</a:t>
            </a:r>
            <a:endParaRPr lang="zh-CN" altLang="zh-CN" sz="1200" kern="100" dirty="0"/>
          </a:p>
          <a:p>
            <a:pPr indent="266700">
              <a:spcAft>
                <a:spcPts val="0"/>
              </a:spcAft>
            </a:pPr>
            <a:r>
              <a:rPr lang="en-US" altLang="zh-CN" sz="1200" i="1" kern="100" dirty="0"/>
              <a:t>    end</a:t>
            </a:r>
            <a:endParaRPr lang="zh-CN" altLang="zh-CN" sz="1200" kern="100" dirty="0"/>
          </a:p>
          <a:p>
            <a:pPr indent="266700" algn="just">
              <a:spcAft>
                <a:spcPts val="0"/>
              </a:spcAft>
            </a:pPr>
            <a:r>
              <a:rPr lang="en-US" altLang="zh-CN" sz="1200" kern="100" dirty="0" err="1"/>
              <a:t>endmodule</a:t>
            </a:r>
            <a:endParaRPr lang="zh-CN" altLang="zh-CN" sz="1200" kern="100" dirty="0"/>
          </a:p>
        </p:txBody>
      </p:sp>
      <p:sp>
        <p:nvSpPr>
          <p:cNvPr id="3" name="Text Box 2"/>
          <p:cNvSpPr txBox="1">
            <a:spLocks noChangeArrowheads="1"/>
          </p:cNvSpPr>
          <p:nvPr/>
        </p:nvSpPr>
        <p:spPr bwMode="auto">
          <a:xfrm>
            <a:off x="0" y="477476"/>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4" name="Text Box 4"/>
          <p:cNvSpPr txBox="1">
            <a:spLocks noChangeArrowheads="1"/>
          </p:cNvSpPr>
          <p:nvPr/>
        </p:nvSpPr>
        <p:spPr bwMode="auto">
          <a:xfrm>
            <a:off x="424543" y="1100436"/>
            <a:ext cx="8434387" cy="125857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10.3.1</a:t>
            </a:r>
            <a:r>
              <a:rPr kumimoji="1" lang="en-US" altLang="zh-CN" sz="2800" b="1" i="0" u="none" strike="noStrike" kern="1200" cap="none" spc="0" normalizeH="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b="1" noProof="0" dirty="0">
                <a:solidFill>
                  <a:srgbClr val="CC6600"/>
                </a:solidFill>
                <a:effectLst>
                  <a:outerShdw blurRad="38100" dist="38100" dir="2700000" algn="tl">
                    <a:srgbClr val="000000"/>
                  </a:outerShdw>
                </a:effectLst>
              </a:rPr>
              <a:t>基础</a:t>
            </a:r>
            <a:r>
              <a:rPr kumimoji="1" lang="zh-CN" altLang="en-US" b="1" dirty="0" smtClean="0">
                <a:solidFill>
                  <a:srgbClr val="CC6600"/>
                </a:solidFill>
                <a:effectLst>
                  <a:outerShdw blurRad="38100" dist="38100" dir="2700000" algn="tl">
                    <a:srgbClr val="000000"/>
                  </a:outerShdw>
                </a:effectLst>
              </a:rPr>
              <a:t>练习</a:t>
            </a:r>
            <a:endParaRPr kumimoji="1" lang="en-US" altLang="zh-CN" b="1" dirty="0" smtClean="0">
              <a:solidFill>
                <a:srgbClr val="CC6600"/>
              </a:solidFill>
              <a:effectLst>
                <a:outerShdw blurRad="38100" dist="38100" dir="2700000" algn="tl">
                  <a:srgbClr val="000000"/>
                </a:outerShdw>
              </a:effectLst>
            </a:endParaRPr>
          </a:p>
          <a:p>
            <a:r>
              <a:rPr lang="en-US" altLang="zh-CN" sz="2400" dirty="0" smtClean="0"/>
              <a:t>【</a:t>
            </a:r>
            <a:r>
              <a:rPr lang="zh-CN" altLang="en-US" sz="2400" dirty="0" smtClean="0"/>
              <a:t>例</a:t>
            </a:r>
            <a:r>
              <a:rPr lang="en-US" altLang="zh-CN" sz="2400" dirty="0" smtClean="0"/>
              <a:t>24】</a:t>
            </a:r>
            <a:r>
              <a:rPr lang="zh-CN" altLang="en-US" sz="1800" dirty="0"/>
              <a:t>看状态图实现电路练习：实现如</a:t>
            </a:r>
            <a:r>
              <a:rPr lang="zh-CN" altLang="en-US" sz="1800" dirty="0" smtClean="0"/>
              <a:t>图所</a:t>
            </a:r>
            <a:r>
              <a:rPr lang="zh-CN" altLang="en-US" sz="1800" dirty="0"/>
              <a:t>示的</a:t>
            </a:r>
            <a:r>
              <a:rPr lang="en-US" altLang="zh-CN" sz="1800" dirty="0"/>
              <a:t>Moore</a:t>
            </a:r>
            <a:r>
              <a:rPr lang="zh-CN" altLang="en-US" sz="1800" dirty="0"/>
              <a:t>型同步时序逻辑电路，要求增加异步复位功能，当出现</a:t>
            </a:r>
            <a:r>
              <a:rPr lang="en-US" altLang="zh-CN" sz="1800" dirty="0"/>
              <a:t>reset</a:t>
            </a:r>
            <a:r>
              <a:rPr lang="zh-CN" altLang="en-US" sz="1800" dirty="0"/>
              <a:t>信号时，所有状态回到状态</a:t>
            </a:r>
            <a:r>
              <a:rPr lang="en-US" altLang="zh-CN" sz="1800" dirty="0"/>
              <a:t>B</a:t>
            </a:r>
            <a:r>
              <a:rPr lang="zh-CN" altLang="en-US" sz="1800" dirty="0"/>
              <a:t>，此时输出为</a:t>
            </a:r>
            <a:r>
              <a:rPr lang="en-US" altLang="zh-CN" sz="1800" dirty="0"/>
              <a:t>1</a:t>
            </a:r>
            <a:r>
              <a:rPr lang="zh-CN" altLang="en-US" sz="1800" dirty="0"/>
              <a:t>。</a:t>
            </a:r>
            <a:endParaRPr lang="zh-CN" altLang="en-US" sz="18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linds(horizontal)">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474482" y="1075313"/>
            <a:ext cx="8434387" cy="194119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10.3.2</a:t>
            </a:r>
            <a:r>
              <a:rPr kumimoji="1" lang="zh-CN" altLang="en-US" b="1" dirty="0" smtClean="0">
                <a:solidFill>
                  <a:srgbClr val="CC6600"/>
                </a:solidFill>
                <a:effectLst>
                  <a:outerShdw blurRad="38100" dist="38100" dir="2700000" algn="tl">
                    <a:srgbClr val="000000"/>
                  </a:outerShdw>
                </a:effectLst>
              </a:rPr>
              <a:t>同步</a:t>
            </a:r>
            <a:r>
              <a:rPr kumimoji="1" lang="zh-CN" altLang="en-US" b="1" dirty="0">
                <a:solidFill>
                  <a:srgbClr val="CC6600"/>
                </a:solidFill>
                <a:effectLst>
                  <a:outerShdw blurRad="38100" dist="38100" dir="2700000" algn="tl">
                    <a:srgbClr val="000000"/>
                  </a:outerShdw>
                </a:effectLst>
              </a:rPr>
              <a:t>时序逻辑综合练习</a:t>
            </a:r>
            <a:endParaRPr kumimoji="1" lang="en-US" altLang="zh-CN" b="1" dirty="0">
              <a:solidFill>
                <a:srgbClr val="CC6600"/>
              </a:solidFill>
              <a:effectLst>
                <a:outerShdw blurRad="38100" dist="38100" dir="2700000" algn="tl">
                  <a:srgbClr val="000000"/>
                </a:outerShdw>
              </a:effectLst>
            </a:endParaRPr>
          </a:p>
          <a:p>
            <a:pPr eaLnBrk="1" hangingPunct="1">
              <a:lnSpc>
                <a:spcPct val="110000"/>
              </a:lnSpc>
              <a:spcBef>
                <a:spcPct val="10000"/>
              </a:spcBef>
              <a:spcAft>
                <a:spcPct val="10000"/>
              </a:spcAft>
              <a:defRPr/>
            </a:pPr>
            <a:r>
              <a:rPr kumimoji="1" lang="zh-CN" altLang="en-US" sz="2400" b="1" dirty="0" smtClean="0">
                <a:solidFill>
                  <a:srgbClr val="000000"/>
                </a:solidFill>
              </a:rPr>
              <a:t>     </a:t>
            </a:r>
            <a:r>
              <a:rPr lang="zh-CN" altLang="zh-CN" sz="2400" dirty="0">
                <a:cs typeface="Times New Roman" panose="02020603050405020304" pitchFamily="18" charset="0"/>
              </a:rPr>
              <a:t>【例</a:t>
            </a:r>
            <a:r>
              <a:rPr lang="en-US" altLang="zh-CN" sz="2400" dirty="0">
                <a:cs typeface="Times New Roman" panose="02020603050405020304" pitchFamily="18" charset="0"/>
              </a:rPr>
              <a:t>25】</a:t>
            </a:r>
            <a:r>
              <a:rPr lang="zh-CN" altLang="en-US" sz="2400" dirty="0">
                <a:cs typeface="Times New Roman" panose="02020603050405020304" pitchFamily="18" charset="0"/>
              </a:rPr>
              <a:t>实现一个</a:t>
            </a:r>
            <a:r>
              <a:rPr lang="en-US" altLang="zh-CN" sz="2400" dirty="0">
                <a:cs typeface="Times New Roman" panose="02020603050405020304" pitchFamily="18" charset="0"/>
              </a:rPr>
              <a:t>Moore</a:t>
            </a:r>
            <a:r>
              <a:rPr lang="zh-CN" altLang="en-US" sz="2400" dirty="0">
                <a:cs typeface="Times New Roman" panose="02020603050405020304" pitchFamily="18" charset="0"/>
              </a:rPr>
              <a:t>型</a:t>
            </a:r>
            <a:r>
              <a:rPr lang="en-US" altLang="zh-CN" sz="2400" dirty="0">
                <a:cs typeface="Times New Roman" panose="02020603050405020304" pitchFamily="18" charset="0"/>
              </a:rPr>
              <a:t>1101</a:t>
            </a:r>
            <a:r>
              <a:rPr lang="zh-CN" altLang="en-US" sz="2400" dirty="0">
                <a:cs typeface="Times New Roman" panose="02020603050405020304" pitchFamily="18" charset="0"/>
              </a:rPr>
              <a:t>序列检测器。要求波形如</a:t>
            </a:r>
            <a:r>
              <a:rPr lang="zh-CN" altLang="en-US" sz="2400" dirty="0" smtClean="0">
                <a:cs typeface="Times New Roman" panose="02020603050405020304" pitchFamily="18" charset="0"/>
              </a:rPr>
              <a:t>图所</a:t>
            </a:r>
            <a:r>
              <a:rPr lang="zh-CN" altLang="en-US" sz="2400" dirty="0">
                <a:cs typeface="Times New Roman" panose="02020603050405020304" pitchFamily="18" charset="0"/>
              </a:rPr>
              <a:t>示：</a:t>
            </a:r>
            <a:endParaRPr lang="zh-CN" altLang="en-US" sz="1800" dirty="0"/>
          </a:p>
          <a:p>
            <a:pPr lvl="0" eaLnBrk="1" hangingPunct="1">
              <a:lnSpc>
                <a:spcPct val="110000"/>
              </a:lnSpc>
              <a:spcBef>
                <a:spcPct val="10000"/>
              </a:spcBef>
              <a:spcAft>
                <a:spcPct val="10000"/>
              </a:spcAft>
              <a:defRPr/>
            </a:pPr>
            <a:endParaRPr kumimoji="1" lang="zh-CN" altLang="en-US" sz="2400" b="1" dirty="0">
              <a:solidFill>
                <a:srgbClr val="000000"/>
              </a:solidFill>
            </a:endParaRPr>
          </a:p>
        </p:txBody>
      </p:sp>
      <p:pic>
        <p:nvPicPr>
          <p:cNvPr id="3073" name="图片 47" descr="1571667633164018466.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2267" y="3281770"/>
            <a:ext cx="7751597" cy="19956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64095" y="2705811"/>
            <a:ext cx="8203475" cy="3170099"/>
          </a:xfrm>
          <a:prstGeom prst="rect">
            <a:avLst/>
          </a:prstGeom>
        </p:spPr>
        <p:txBody>
          <a:bodyPr wrap="square">
            <a:spAutoFit/>
          </a:bodyPr>
          <a:lstStyle/>
          <a:p>
            <a:r>
              <a:rPr lang="zh-CN" altLang="en-US" sz="2000" b="1" dirty="0"/>
              <a:t>解：解读该图形的输入输出特征，可以看到在典型序列</a:t>
            </a:r>
            <a:r>
              <a:rPr lang="en-US" altLang="zh-CN" sz="2000" b="1" dirty="0"/>
              <a:t>1101</a:t>
            </a:r>
            <a:r>
              <a:rPr lang="zh-CN" altLang="en-US" sz="2000" b="1" dirty="0"/>
              <a:t>出现后，输出出现一个</a:t>
            </a:r>
            <a:r>
              <a:rPr lang="en-US" altLang="zh-CN" sz="2000" b="1" dirty="0"/>
              <a:t>1</a:t>
            </a:r>
            <a:r>
              <a:rPr lang="zh-CN" altLang="en-US" sz="2000" b="1" dirty="0"/>
              <a:t>；若下一个信号为</a:t>
            </a:r>
            <a:r>
              <a:rPr lang="en-US" altLang="zh-CN" sz="2000" b="1" dirty="0"/>
              <a:t>1</a:t>
            </a:r>
            <a:r>
              <a:rPr lang="zh-CN" altLang="en-US" sz="2000" b="1" dirty="0"/>
              <a:t>，则与前面的</a:t>
            </a:r>
            <a:r>
              <a:rPr lang="en-US" altLang="zh-CN" sz="2000" b="1" dirty="0"/>
              <a:t>1</a:t>
            </a:r>
            <a:r>
              <a:rPr lang="zh-CN" altLang="en-US" sz="2000" b="1" dirty="0"/>
              <a:t>，继续构成下一个典型序列</a:t>
            </a:r>
            <a:r>
              <a:rPr lang="en-US" altLang="zh-CN" sz="2000" b="1" dirty="0"/>
              <a:t>1101</a:t>
            </a:r>
            <a:r>
              <a:rPr lang="zh-CN" altLang="en-US" sz="2000" b="1" dirty="0"/>
              <a:t>中的</a:t>
            </a:r>
            <a:r>
              <a:rPr lang="en-US" altLang="zh-CN" sz="2000" b="1" dirty="0"/>
              <a:t>11</a:t>
            </a:r>
            <a:r>
              <a:rPr lang="zh-CN" altLang="en-US" sz="2000" b="1" dirty="0"/>
              <a:t>序列。</a:t>
            </a:r>
            <a:endParaRPr lang="zh-CN" altLang="en-US" sz="2000" b="1" dirty="0"/>
          </a:p>
          <a:p>
            <a:r>
              <a:rPr lang="zh-CN" altLang="en-US" sz="2000" b="1" dirty="0"/>
              <a:t>由此可以确定输入为</a:t>
            </a:r>
            <a:r>
              <a:rPr lang="en-US" altLang="zh-CN" sz="2000" b="1" dirty="0" err="1"/>
              <a:t>clk</a:t>
            </a:r>
            <a:r>
              <a:rPr lang="zh-CN" altLang="en-US" sz="2000" b="1" dirty="0"/>
              <a:t>和</a:t>
            </a:r>
            <a:r>
              <a:rPr lang="en-US" altLang="zh-CN" sz="2000" b="1" dirty="0"/>
              <a:t>din</a:t>
            </a:r>
            <a:r>
              <a:rPr lang="zh-CN" altLang="en-US" sz="2000" b="1" dirty="0"/>
              <a:t>，一般来说需要有一个复位信号，所以增加一个</a:t>
            </a:r>
            <a:r>
              <a:rPr lang="en-US" altLang="zh-CN" sz="2000" b="1" dirty="0" err="1"/>
              <a:t>clr</a:t>
            </a:r>
            <a:r>
              <a:rPr lang="zh-CN" altLang="en-US" sz="2000" b="1" dirty="0"/>
              <a:t>共同构成模块的输入端，输出即为</a:t>
            </a:r>
            <a:r>
              <a:rPr lang="en-US" altLang="zh-CN" sz="2000" b="1" dirty="0" err="1"/>
              <a:t>dout</a:t>
            </a:r>
            <a:r>
              <a:rPr lang="zh-CN" altLang="en-US" sz="2000" b="1" dirty="0"/>
              <a:t>。</a:t>
            </a:r>
            <a:endParaRPr lang="zh-CN" altLang="en-US" sz="2000" b="1" dirty="0"/>
          </a:p>
          <a:p>
            <a:r>
              <a:rPr lang="zh-CN" altLang="en-US" sz="2000" b="1" dirty="0"/>
              <a:t>图中没有给出电路的状态，按照典型序列输入顺序，状态变化由</a:t>
            </a:r>
            <a:r>
              <a:rPr lang="en-US" altLang="zh-CN" sz="2000" b="1" dirty="0"/>
              <a:t>0000</a:t>
            </a:r>
            <a:r>
              <a:rPr lang="zh-CN" altLang="en-US" sz="2000" b="1" dirty="0"/>
              <a:t>、</a:t>
            </a:r>
            <a:r>
              <a:rPr lang="en-US" altLang="zh-CN" sz="2000" b="1" dirty="0"/>
              <a:t>0001</a:t>
            </a:r>
            <a:r>
              <a:rPr lang="zh-CN" altLang="en-US" sz="2000" b="1" dirty="0"/>
              <a:t>、</a:t>
            </a:r>
            <a:r>
              <a:rPr lang="en-US" altLang="zh-CN" sz="2000" b="1" dirty="0"/>
              <a:t>0011</a:t>
            </a:r>
            <a:r>
              <a:rPr lang="zh-CN" altLang="en-US" sz="2000" b="1" dirty="0"/>
              <a:t>、</a:t>
            </a:r>
            <a:r>
              <a:rPr lang="en-US" altLang="zh-CN" sz="2000" b="1" dirty="0"/>
              <a:t>0110</a:t>
            </a:r>
            <a:r>
              <a:rPr lang="zh-CN" altLang="en-US" sz="2000" b="1" dirty="0"/>
              <a:t>和</a:t>
            </a:r>
            <a:r>
              <a:rPr lang="en-US" altLang="zh-CN" sz="2000" b="1" dirty="0"/>
              <a:t>1101</a:t>
            </a:r>
            <a:r>
              <a:rPr lang="zh-CN" altLang="en-US" sz="2000" b="1" dirty="0"/>
              <a:t>五种状态构成。而</a:t>
            </a:r>
            <a:r>
              <a:rPr lang="en-US" altLang="zh-CN" sz="2000" b="1" dirty="0"/>
              <a:t>Moore</a:t>
            </a:r>
            <a:r>
              <a:rPr lang="zh-CN" altLang="en-US" sz="2000" b="1" dirty="0"/>
              <a:t>型的序列检测器的输出要在序列完成之后得到一个输出，所以重新对</a:t>
            </a:r>
            <a:r>
              <a:rPr lang="en-US" altLang="zh-CN" sz="2000" b="1" dirty="0"/>
              <a:t>5</a:t>
            </a:r>
            <a:r>
              <a:rPr lang="zh-CN" altLang="en-US" sz="2000" b="1" dirty="0"/>
              <a:t>状态进行编码，设状态为</a:t>
            </a:r>
            <a:r>
              <a:rPr lang="en-US" altLang="zh-CN" sz="2000" b="1" dirty="0"/>
              <a:t>S0-S4</a:t>
            </a:r>
            <a:r>
              <a:rPr lang="zh-CN" altLang="en-US" sz="2000" b="1" dirty="0"/>
              <a:t>，分别赋值为</a:t>
            </a:r>
            <a:r>
              <a:rPr lang="en-US" altLang="zh-CN" sz="2000" b="1" dirty="0"/>
              <a:t>000</a:t>
            </a:r>
            <a:r>
              <a:rPr lang="zh-CN" altLang="en-US" sz="2000" b="1" dirty="0"/>
              <a:t>、</a:t>
            </a:r>
            <a:r>
              <a:rPr lang="en-US" altLang="zh-CN" sz="2000" b="1" dirty="0"/>
              <a:t>001</a:t>
            </a:r>
            <a:r>
              <a:rPr lang="zh-CN" altLang="en-US" sz="2000" b="1" dirty="0"/>
              <a:t>、</a:t>
            </a:r>
            <a:r>
              <a:rPr lang="en-US" altLang="zh-CN" sz="2000" b="1" dirty="0"/>
              <a:t>010</a:t>
            </a:r>
            <a:r>
              <a:rPr lang="zh-CN" altLang="en-US" sz="2000" b="1" dirty="0"/>
              <a:t>、</a:t>
            </a:r>
            <a:r>
              <a:rPr lang="en-US" altLang="zh-CN" sz="2000" b="1" dirty="0"/>
              <a:t>011</a:t>
            </a:r>
            <a:r>
              <a:rPr lang="zh-CN" altLang="en-US" sz="2000" b="1" dirty="0"/>
              <a:t>和</a:t>
            </a:r>
            <a:r>
              <a:rPr lang="en-US" altLang="zh-CN" sz="2000" b="1" dirty="0"/>
              <a:t>100</a:t>
            </a:r>
            <a:r>
              <a:rPr lang="zh-CN" altLang="en-US" sz="2000" b="1" dirty="0"/>
              <a:t>，其他冗余部分都令其状态回到</a:t>
            </a:r>
            <a:r>
              <a:rPr lang="en-US" altLang="zh-CN" sz="2000" b="1" dirty="0"/>
              <a:t>S0</a:t>
            </a:r>
            <a:r>
              <a:rPr lang="zh-CN" altLang="en-US" sz="2000" b="1" dirty="0"/>
              <a:t>。这部分用</a:t>
            </a:r>
            <a:r>
              <a:rPr lang="en-US" altLang="zh-CN" sz="2000" b="1" dirty="0"/>
              <a:t>case</a:t>
            </a:r>
            <a:r>
              <a:rPr lang="zh-CN" altLang="en-US" sz="2000" b="1" dirty="0"/>
              <a:t>语句来实现。</a:t>
            </a:r>
            <a:endParaRPr lang="zh-CN" altLang="en-US" sz="2000" b="1" dirty="0"/>
          </a:p>
        </p:txBody>
      </p:sp>
      <p:sp>
        <p:nvSpPr>
          <p:cNvPr id="4"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5" name="Text Box 4"/>
          <p:cNvSpPr txBox="1">
            <a:spLocks noChangeArrowheads="1"/>
          </p:cNvSpPr>
          <p:nvPr/>
        </p:nvSpPr>
        <p:spPr bwMode="auto">
          <a:xfrm>
            <a:off x="433183" y="1124349"/>
            <a:ext cx="8434387" cy="194119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10.3.2</a:t>
            </a:r>
            <a:r>
              <a:rPr kumimoji="1" lang="zh-CN" altLang="en-US" b="1" dirty="0" smtClean="0">
                <a:solidFill>
                  <a:srgbClr val="CC6600"/>
                </a:solidFill>
                <a:effectLst>
                  <a:outerShdw blurRad="38100" dist="38100" dir="2700000" algn="tl">
                    <a:srgbClr val="000000"/>
                  </a:outerShdw>
                </a:effectLst>
              </a:rPr>
              <a:t>同步</a:t>
            </a:r>
            <a:r>
              <a:rPr kumimoji="1" lang="zh-CN" altLang="en-US" b="1" dirty="0">
                <a:solidFill>
                  <a:srgbClr val="CC6600"/>
                </a:solidFill>
                <a:effectLst>
                  <a:outerShdw blurRad="38100" dist="38100" dir="2700000" algn="tl">
                    <a:srgbClr val="000000"/>
                  </a:outerShdw>
                </a:effectLst>
              </a:rPr>
              <a:t>时序逻辑综合练习</a:t>
            </a:r>
            <a:endParaRPr kumimoji="1" lang="en-US" altLang="zh-CN" b="1" dirty="0">
              <a:solidFill>
                <a:srgbClr val="CC6600"/>
              </a:solidFill>
              <a:effectLst>
                <a:outerShdw blurRad="38100" dist="38100" dir="2700000" algn="tl">
                  <a:srgbClr val="000000"/>
                </a:outerShdw>
              </a:effectLst>
            </a:endParaRPr>
          </a:p>
          <a:p>
            <a:pPr eaLnBrk="1" hangingPunct="1">
              <a:lnSpc>
                <a:spcPct val="110000"/>
              </a:lnSpc>
              <a:spcBef>
                <a:spcPct val="10000"/>
              </a:spcBef>
              <a:spcAft>
                <a:spcPct val="10000"/>
              </a:spcAft>
              <a:defRPr/>
            </a:pPr>
            <a:r>
              <a:rPr kumimoji="1" lang="zh-CN" altLang="en-US" sz="2400" b="1" dirty="0" smtClean="0">
                <a:solidFill>
                  <a:srgbClr val="000000"/>
                </a:solidFill>
              </a:rPr>
              <a:t>     </a:t>
            </a:r>
            <a:r>
              <a:rPr lang="zh-CN" altLang="zh-CN" sz="2400" dirty="0">
                <a:cs typeface="Times New Roman" panose="02020603050405020304" pitchFamily="18" charset="0"/>
              </a:rPr>
              <a:t>【例</a:t>
            </a:r>
            <a:r>
              <a:rPr lang="en-US" altLang="zh-CN" sz="2400" dirty="0">
                <a:cs typeface="Times New Roman" panose="02020603050405020304" pitchFamily="18" charset="0"/>
              </a:rPr>
              <a:t>25】</a:t>
            </a:r>
            <a:r>
              <a:rPr lang="zh-CN" altLang="en-US" sz="2400" dirty="0">
                <a:cs typeface="Times New Roman" panose="02020603050405020304" pitchFamily="18" charset="0"/>
              </a:rPr>
              <a:t>实现一个</a:t>
            </a:r>
            <a:r>
              <a:rPr lang="en-US" altLang="zh-CN" sz="2400" dirty="0">
                <a:cs typeface="Times New Roman" panose="02020603050405020304" pitchFamily="18" charset="0"/>
              </a:rPr>
              <a:t>Moore</a:t>
            </a:r>
            <a:r>
              <a:rPr lang="zh-CN" altLang="en-US" sz="2400" dirty="0">
                <a:cs typeface="Times New Roman" panose="02020603050405020304" pitchFamily="18" charset="0"/>
              </a:rPr>
              <a:t>型</a:t>
            </a:r>
            <a:r>
              <a:rPr lang="en-US" altLang="zh-CN" sz="2400" dirty="0">
                <a:cs typeface="Times New Roman" panose="02020603050405020304" pitchFamily="18" charset="0"/>
              </a:rPr>
              <a:t>1101</a:t>
            </a:r>
            <a:r>
              <a:rPr lang="zh-CN" altLang="en-US" sz="2400" dirty="0">
                <a:cs typeface="Times New Roman" panose="02020603050405020304" pitchFamily="18" charset="0"/>
              </a:rPr>
              <a:t>序列检测器。要求波形如</a:t>
            </a:r>
            <a:r>
              <a:rPr lang="zh-CN" altLang="en-US" sz="2400" dirty="0" smtClean="0">
                <a:cs typeface="Times New Roman" panose="02020603050405020304" pitchFamily="18" charset="0"/>
              </a:rPr>
              <a:t>图所</a:t>
            </a:r>
            <a:r>
              <a:rPr lang="zh-CN" altLang="en-US" sz="2400" dirty="0">
                <a:cs typeface="Times New Roman" panose="02020603050405020304" pitchFamily="18" charset="0"/>
              </a:rPr>
              <a:t>示：</a:t>
            </a:r>
            <a:endParaRPr lang="zh-CN" altLang="en-US" sz="1800" dirty="0"/>
          </a:p>
          <a:p>
            <a:pPr lvl="0" eaLnBrk="1" hangingPunct="1">
              <a:lnSpc>
                <a:spcPct val="110000"/>
              </a:lnSpc>
              <a:spcBef>
                <a:spcPct val="10000"/>
              </a:spcBef>
              <a:spcAft>
                <a:spcPct val="10000"/>
              </a:spcAft>
              <a:defRPr/>
            </a:pPr>
            <a:endParaRPr kumimoji="1" lang="zh-CN" altLang="en-US" sz="2400" b="1" dirty="0">
              <a:solidFill>
                <a:srgbClr val="0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blinds(horizontal)">
                                      <p:cBhvr>
                                        <p:cTn id="18"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64095" y="2705811"/>
            <a:ext cx="8203475" cy="2862322"/>
          </a:xfrm>
          <a:prstGeom prst="rect">
            <a:avLst/>
          </a:prstGeom>
        </p:spPr>
        <p:txBody>
          <a:bodyPr wrap="square">
            <a:spAutoFit/>
          </a:bodyPr>
          <a:lstStyle/>
          <a:p>
            <a:r>
              <a:rPr lang="zh-CN" altLang="en-US" sz="2000" b="1" dirty="0"/>
              <a:t>状态的迁移只和当前输入</a:t>
            </a:r>
            <a:r>
              <a:rPr lang="en-US" altLang="zh-CN" sz="2000" b="1" dirty="0"/>
              <a:t>din</a:t>
            </a:r>
            <a:r>
              <a:rPr lang="zh-CN" altLang="en-US" sz="2000" b="1" dirty="0"/>
              <a:t>相关，这部分逻辑不受时钟影响，所以采用</a:t>
            </a:r>
            <a:r>
              <a:rPr lang="en-US" altLang="zh-CN" sz="2000" b="1" dirty="0"/>
              <a:t>always @(*)</a:t>
            </a:r>
            <a:r>
              <a:rPr lang="zh-CN" altLang="en-US" sz="2000" b="1" dirty="0"/>
              <a:t>写为组合逻辑模块。</a:t>
            </a:r>
            <a:endParaRPr lang="zh-CN" altLang="en-US" sz="2000" b="1" dirty="0"/>
          </a:p>
          <a:p>
            <a:r>
              <a:rPr lang="zh-CN" altLang="en-US" sz="2000" b="1" dirty="0"/>
              <a:t>时序模块中设敏感信号为时钟信号和复位信号，令时钟</a:t>
            </a:r>
            <a:r>
              <a:rPr lang="en-US" altLang="zh-CN" sz="2000" b="1" dirty="0" err="1"/>
              <a:t>clr</a:t>
            </a:r>
            <a:r>
              <a:rPr lang="zh-CN" altLang="en-US" sz="2000" b="1" dirty="0"/>
              <a:t>到来时所有状态无条件回到</a:t>
            </a:r>
            <a:r>
              <a:rPr lang="en-US" altLang="zh-CN" sz="2000" b="1" dirty="0"/>
              <a:t>S0</a:t>
            </a:r>
            <a:r>
              <a:rPr lang="zh-CN" altLang="en-US" sz="2000" b="1" dirty="0"/>
              <a:t>，时钟</a:t>
            </a:r>
            <a:r>
              <a:rPr lang="en-US" altLang="zh-CN" sz="2000" b="1" dirty="0" err="1"/>
              <a:t>clr</a:t>
            </a:r>
            <a:r>
              <a:rPr lang="zh-CN" altLang="en-US" sz="2000" b="1" dirty="0"/>
              <a:t>为</a:t>
            </a:r>
            <a:r>
              <a:rPr lang="en-US" altLang="zh-CN" sz="2000" b="1" dirty="0"/>
              <a:t>0</a:t>
            </a:r>
            <a:r>
              <a:rPr lang="zh-CN" altLang="en-US" sz="2000" b="1" dirty="0"/>
              <a:t>时，将组合逻辑产生的次态传递到当前状态中。</a:t>
            </a:r>
            <a:endParaRPr lang="zh-CN" altLang="en-US" sz="2000" b="1" dirty="0"/>
          </a:p>
          <a:p>
            <a:r>
              <a:rPr lang="zh-CN" altLang="en-US" sz="2000" b="1" dirty="0"/>
              <a:t>最后再利用</a:t>
            </a:r>
            <a:r>
              <a:rPr lang="en-US" altLang="zh-CN" sz="2000" b="1" dirty="0"/>
              <a:t>always</a:t>
            </a:r>
            <a:r>
              <a:rPr lang="zh-CN" altLang="en-US" sz="2000" b="1" dirty="0"/>
              <a:t>块实现输出逻辑，当序列完成，当前状态为</a:t>
            </a:r>
            <a:r>
              <a:rPr lang="en-US" altLang="zh-CN" sz="2000" b="1" dirty="0"/>
              <a:t>S4</a:t>
            </a:r>
            <a:r>
              <a:rPr lang="zh-CN" altLang="en-US" sz="2000" b="1" dirty="0"/>
              <a:t>，即输出</a:t>
            </a:r>
            <a:r>
              <a:rPr lang="en-US" altLang="zh-CN" sz="2000" b="1" dirty="0" err="1"/>
              <a:t>dout</a:t>
            </a:r>
            <a:r>
              <a:rPr lang="en-US" altLang="zh-CN" sz="2000" b="1" dirty="0"/>
              <a:t>=1</a:t>
            </a:r>
            <a:r>
              <a:rPr lang="zh-CN" altLang="en-US" sz="2000" b="1" dirty="0"/>
              <a:t>。</a:t>
            </a:r>
            <a:endParaRPr lang="zh-CN" altLang="en-US" sz="2000" b="1" dirty="0"/>
          </a:p>
          <a:p>
            <a:endParaRPr lang="en-US" altLang="zh-CN" sz="2000" b="1" dirty="0"/>
          </a:p>
          <a:p>
            <a:endParaRPr lang="zh-CN" altLang="en-US" sz="2000" b="1" dirty="0"/>
          </a:p>
        </p:txBody>
      </p:sp>
      <p:sp>
        <p:nvSpPr>
          <p:cNvPr id="4"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5" name="Text Box 4"/>
          <p:cNvSpPr txBox="1">
            <a:spLocks noChangeArrowheads="1"/>
          </p:cNvSpPr>
          <p:nvPr/>
        </p:nvSpPr>
        <p:spPr bwMode="auto">
          <a:xfrm>
            <a:off x="433183" y="1124349"/>
            <a:ext cx="8434387" cy="1054735"/>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10.3.2</a:t>
            </a:r>
            <a:r>
              <a:rPr kumimoji="1" lang="zh-CN" altLang="en-US" b="1" dirty="0" smtClean="0">
                <a:solidFill>
                  <a:srgbClr val="CC6600"/>
                </a:solidFill>
                <a:effectLst>
                  <a:outerShdw blurRad="38100" dist="38100" dir="2700000" algn="tl">
                    <a:srgbClr val="000000"/>
                  </a:outerShdw>
                </a:effectLst>
              </a:rPr>
              <a:t>同步</a:t>
            </a:r>
            <a:r>
              <a:rPr kumimoji="1" lang="zh-CN" altLang="en-US" b="1" dirty="0">
                <a:solidFill>
                  <a:srgbClr val="CC6600"/>
                </a:solidFill>
                <a:effectLst>
                  <a:outerShdw blurRad="38100" dist="38100" dir="2700000" algn="tl">
                    <a:srgbClr val="000000"/>
                  </a:outerShdw>
                </a:effectLst>
              </a:rPr>
              <a:t>时序逻辑综合练习</a:t>
            </a:r>
            <a:endParaRPr kumimoji="1" lang="en-US" altLang="zh-CN" b="1" dirty="0">
              <a:solidFill>
                <a:srgbClr val="CC6600"/>
              </a:solidFill>
              <a:effectLst>
                <a:outerShdw blurRad="38100" dist="38100" dir="2700000" algn="tl">
                  <a:srgbClr val="000000"/>
                </a:outerShdw>
              </a:effectLst>
            </a:endParaRPr>
          </a:p>
          <a:p>
            <a:pPr eaLnBrk="1" hangingPunct="1">
              <a:lnSpc>
                <a:spcPct val="110000"/>
              </a:lnSpc>
              <a:spcBef>
                <a:spcPct val="10000"/>
              </a:spcBef>
              <a:spcAft>
                <a:spcPct val="10000"/>
              </a:spcAft>
              <a:defRPr/>
            </a:pPr>
            <a:r>
              <a:rPr kumimoji="1" lang="zh-CN" altLang="en-US" sz="2400" b="1" dirty="0" smtClean="0">
                <a:solidFill>
                  <a:srgbClr val="000000"/>
                </a:solidFill>
              </a:rPr>
              <a:t>     </a:t>
            </a:r>
            <a:r>
              <a:rPr lang="zh-CN" altLang="zh-CN" sz="2400" dirty="0">
                <a:cs typeface="Times New Roman" panose="02020603050405020304" pitchFamily="18" charset="0"/>
              </a:rPr>
              <a:t>【例</a:t>
            </a:r>
            <a:r>
              <a:rPr lang="en-US" altLang="zh-CN" sz="2400" dirty="0">
                <a:cs typeface="Times New Roman" panose="02020603050405020304" pitchFamily="18" charset="0"/>
              </a:rPr>
              <a:t>25】</a:t>
            </a:r>
            <a:r>
              <a:rPr lang="zh-CN" altLang="en-US" sz="2400" dirty="0">
                <a:cs typeface="Times New Roman" panose="02020603050405020304" pitchFamily="18" charset="0"/>
              </a:rPr>
              <a:t>实现一个</a:t>
            </a:r>
            <a:r>
              <a:rPr lang="en-US" altLang="zh-CN" sz="2400" dirty="0">
                <a:cs typeface="Times New Roman" panose="02020603050405020304" pitchFamily="18" charset="0"/>
              </a:rPr>
              <a:t>Moore</a:t>
            </a:r>
            <a:r>
              <a:rPr lang="zh-CN" altLang="en-US" sz="2400" dirty="0">
                <a:cs typeface="Times New Roman" panose="02020603050405020304" pitchFamily="18" charset="0"/>
              </a:rPr>
              <a:t>型</a:t>
            </a:r>
            <a:r>
              <a:rPr lang="en-US" altLang="zh-CN" sz="2400" dirty="0">
                <a:cs typeface="Times New Roman" panose="02020603050405020304" pitchFamily="18" charset="0"/>
              </a:rPr>
              <a:t>1101</a:t>
            </a:r>
            <a:r>
              <a:rPr lang="zh-CN" altLang="en-US" sz="2400" dirty="0">
                <a:cs typeface="Times New Roman" panose="02020603050405020304" pitchFamily="18" charset="0"/>
              </a:rPr>
              <a:t>序列</a:t>
            </a:r>
            <a:r>
              <a:rPr lang="zh-CN" altLang="en-US" sz="2400" dirty="0" smtClean="0">
                <a:cs typeface="Times New Roman" panose="02020603050405020304" pitchFamily="18" charset="0"/>
              </a:rPr>
              <a:t>检测器</a:t>
            </a:r>
            <a:endParaRPr kumimoji="1" lang="zh-CN" altLang="en-US" sz="2400" b="1" dirty="0">
              <a:solidFill>
                <a:srgbClr val="0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blinds(horizontal)">
                                      <p:cBhvr>
                                        <p:cTn id="18"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480560" y="891540"/>
            <a:ext cx="4737100" cy="5846445"/>
          </a:xfrm>
          <a:prstGeom prst="rect">
            <a:avLst/>
          </a:prstGeom>
        </p:spPr>
        <p:txBody>
          <a:bodyPr wrap="square">
            <a:spAutoFit/>
          </a:bodyPr>
          <a:lstStyle/>
          <a:p>
            <a:r>
              <a:rPr lang="en-US" altLang="zh-CN" sz="1100" b="1" dirty="0"/>
              <a:t> </a:t>
            </a:r>
            <a:endParaRPr lang="en-US" altLang="zh-CN" sz="1100" b="1" dirty="0"/>
          </a:p>
          <a:p>
            <a:r>
              <a:rPr lang="en-US" altLang="zh-CN" sz="1100" b="1" dirty="0" smtClean="0"/>
              <a:t>    always@(*)begin</a:t>
            </a:r>
            <a:endParaRPr lang="en-US" altLang="zh-CN" sz="1100" b="1" dirty="0" smtClean="0"/>
          </a:p>
          <a:p>
            <a:r>
              <a:rPr lang="en-US" altLang="zh-CN" sz="1100" b="1" dirty="0" smtClean="0"/>
              <a:t>        case(</a:t>
            </a:r>
            <a:r>
              <a:rPr lang="en-US" altLang="zh-CN" sz="1100" b="1" dirty="0" err="1" smtClean="0"/>
              <a:t>present_state</a:t>
            </a:r>
            <a:r>
              <a:rPr lang="en-US" altLang="zh-CN" sz="1100" b="1" dirty="0" smtClean="0"/>
              <a:t>)    //</a:t>
            </a:r>
            <a:r>
              <a:rPr lang="zh-CN" altLang="en-US" sz="1100" b="1" dirty="0" smtClean="0"/>
              <a:t>状态迁移逻辑</a:t>
            </a:r>
            <a:endParaRPr lang="zh-CN" altLang="en-US" sz="1100" b="1" dirty="0" smtClean="0"/>
          </a:p>
          <a:p>
            <a:r>
              <a:rPr lang="zh-CN" altLang="en-US" sz="1100" b="1" dirty="0" smtClean="0"/>
              <a:t>            </a:t>
            </a:r>
            <a:r>
              <a:rPr lang="en-US" altLang="zh-CN" sz="1100" b="1" dirty="0" smtClean="0"/>
              <a:t>S0:if(din==1)</a:t>
            </a:r>
            <a:endParaRPr lang="en-US" altLang="zh-CN" sz="1100" b="1" dirty="0" smtClean="0"/>
          </a:p>
          <a:p>
            <a:r>
              <a:rPr lang="en-US" altLang="zh-CN" sz="1100" b="1" dirty="0" smtClean="0"/>
              <a:t>                </a:t>
            </a:r>
            <a:r>
              <a:rPr lang="en-US" altLang="zh-CN" sz="1100" b="1" dirty="0" err="1" smtClean="0"/>
              <a:t>next_state</a:t>
            </a:r>
            <a:r>
              <a:rPr lang="en-US" altLang="zh-CN" sz="1100" b="1" dirty="0" smtClean="0"/>
              <a:t>&lt;=S1;</a:t>
            </a:r>
            <a:endParaRPr lang="en-US" altLang="zh-CN" sz="1100" b="1" dirty="0" smtClean="0"/>
          </a:p>
          <a:p>
            <a:r>
              <a:rPr lang="en-US" altLang="zh-CN" sz="1100" b="1" dirty="0" smtClean="0"/>
              <a:t>               else</a:t>
            </a:r>
            <a:endParaRPr lang="en-US" altLang="zh-CN" sz="1100" b="1" dirty="0" smtClean="0"/>
          </a:p>
          <a:p>
            <a:r>
              <a:rPr lang="en-US" altLang="zh-CN" sz="1100" b="1" dirty="0" smtClean="0"/>
              <a:t>                </a:t>
            </a:r>
            <a:r>
              <a:rPr lang="en-US" altLang="zh-CN" sz="1100" b="1" dirty="0" err="1" smtClean="0"/>
              <a:t>next_state</a:t>
            </a:r>
            <a:r>
              <a:rPr lang="en-US" altLang="zh-CN" sz="1100" b="1" dirty="0" smtClean="0"/>
              <a:t>&lt;=S0;</a:t>
            </a:r>
            <a:endParaRPr lang="en-US" altLang="zh-CN" sz="1100" b="1" dirty="0" smtClean="0"/>
          </a:p>
          <a:p>
            <a:r>
              <a:rPr lang="en-US" altLang="zh-CN" sz="1100" b="1" dirty="0" smtClean="0"/>
              <a:t>            S1:if(din==1)</a:t>
            </a:r>
            <a:endParaRPr lang="en-US" altLang="zh-CN" sz="1100" b="1" dirty="0" smtClean="0"/>
          </a:p>
          <a:p>
            <a:r>
              <a:rPr lang="en-US" altLang="zh-CN" sz="1100" b="1" dirty="0" smtClean="0"/>
              <a:t>                </a:t>
            </a:r>
            <a:r>
              <a:rPr lang="en-US" altLang="zh-CN" sz="1100" b="1" dirty="0" err="1" smtClean="0"/>
              <a:t>next_state</a:t>
            </a:r>
            <a:r>
              <a:rPr lang="en-US" altLang="zh-CN" sz="1100" b="1" dirty="0" smtClean="0"/>
              <a:t>&lt;=S2;</a:t>
            </a:r>
            <a:endParaRPr lang="en-US" altLang="zh-CN" sz="1100" b="1" dirty="0" smtClean="0"/>
          </a:p>
          <a:p>
            <a:r>
              <a:rPr lang="en-US" altLang="zh-CN" sz="1100" b="1" dirty="0" smtClean="0"/>
              <a:t>               else</a:t>
            </a:r>
            <a:endParaRPr lang="en-US" altLang="zh-CN" sz="1100" b="1" dirty="0" smtClean="0"/>
          </a:p>
          <a:p>
            <a:r>
              <a:rPr lang="en-US" altLang="zh-CN" sz="1100" b="1" dirty="0" smtClean="0"/>
              <a:t>                </a:t>
            </a:r>
            <a:r>
              <a:rPr lang="en-US" altLang="zh-CN" sz="1100" b="1" dirty="0" err="1" smtClean="0"/>
              <a:t>next_state</a:t>
            </a:r>
            <a:r>
              <a:rPr lang="en-US" altLang="zh-CN" sz="1100" b="1" dirty="0" smtClean="0"/>
              <a:t>&lt;=S0;</a:t>
            </a:r>
            <a:endParaRPr lang="en-US" altLang="zh-CN" sz="1100" b="1" dirty="0" smtClean="0"/>
          </a:p>
          <a:p>
            <a:r>
              <a:rPr lang="en-US" altLang="zh-CN" sz="1100" b="1" dirty="0" smtClean="0"/>
              <a:t>            S2:if(din==0)</a:t>
            </a:r>
            <a:endParaRPr lang="en-US" altLang="zh-CN" sz="1100" b="1" dirty="0" smtClean="0"/>
          </a:p>
          <a:p>
            <a:r>
              <a:rPr lang="en-US" altLang="zh-CN" sz="1100" b="1" dirty="0" smtClean="0"/>
              <a:t>                </a:t>
            </a:r>
            <a:r>
              <a:rPr lang="en-US" altLang="zh-CN" sz="1100" b="1" dirty="0" err="1" smtClean="0"/>
              <a:t>next_state</a:t>
            </a:r>
            <a:r>
              <a:rPr lang="en-US" altLang="zh-CN" sz="1100" b="1" dirty="0" smtClean="0"/>
              <a:t>&lt;=S3;</a:t>
            </a:r>
            <a:endParaRPr lang="en-US" altLang="zh-CN" sz="1100" b="1" dirty="0" smtClean="0"/>
          </a:p>
          <a:p>
            <a:r>
              <a:rPr lang="en-US" altLang="zh-CN" sz="1100" b="1" dirty="0" smtClean="0"/>
              <a:t>               else</a:t>
            </a:r>
            <a:endParaRPr lang="en-US" altLang="zh-CN" sz="1100" b="1" dirty="0" smtClean="0"/>
          </a:p>
          <a:p>
            <a:r>
              <a:rPr lang="en-US" altLang="zh-CN" sz="1100" b="1" dirty="0" smtClean="0"/>
              <a:t>                </a:t>
            </a:r>
            <a:r>
              <a:rPr lang="en-US" altLang="zh-CN" sz="1100" b="1" dirty="0" err="1" smtClean="0"/>
              <a:t>next_state</a:t>
            </a:r>
            <a:r>
              <a:rPr lang="en-US" altLang="zh-CN" sz="1100" b="1" dirty="0" smtClean="0"/>
              <a:t>&lt;=S2;</a:t>
            </a:r>
            <a:endParaRPr lang="en-US" altLang="zh-CN" sz="1100" b="1" dirty="0" smtClean="0"/>
          </a:p>
          <a:p>
            <a:r>
              <a:rPr lang="en-US" altLang="zh-CN" sz="1100" b="1" dirty="0" smtClean="0"/>
              <a:t>            S3:if(din==1)</a:t>
            </a:r>
            <a:endParaRPr lang="en-US" altLang="zh-CN" sz="1100" b="1" dirty="0" smtClean="0"/>
          </a:p>
          <a:p>
            <a:r>
              <a:rPr lang="en-US" altLang="zh-CN" sz="1100" b="1" dirty="0" smtClean="0"/>
              <a:t>                </a:t>
            </a:r>
            <a:r>
              <a:rPr lang="en-US" altLang="zh-CN" sz="1100" b="1" dirty="0" err="1" smtClean="0"/>
              <a:t>next_state</a:t>
            </a:r>
            <a:r>
              <a:rPr lang="en-US" altLang="zh-CN" sz="1100" b="1" dirty="0" smtClean="0"/>
              <a:t>&lt;=S4;</a:t>
            </a:r>
            <a:endParaRPr lang="en-US" altLang="zh-CN" sz="1100" b="1" dirty="0" smtClean="0"/>
          </a:p>
          <a:p>
            <a:r>
              <a:rPr lang="en-US" altLang="zh-CN" sz="1100" b="1" dirty="0" smtClean="0"/>
              <a:t>               else</a:t>
            </a:r>
            <a:endParaRPr lang="en-US" altLang="zh-CN" sz="1100" b="1" dirty="0" smtClean="0"/>
          </a:p>
          <a:p>
            <a:r>
              <a:rPr lang="en-US" altLang="zh-CN" sz="1100" b="1" dirty="0" smtClean="0"/>
              <a:t>                </a:t>
            </a:r>
            <a:r>
              <a:rPr lang="en-US" altLang="zh-CN" sz="1100" b="1" dirty="0" err="1" smtClean="0"/>
              <a:t>next_state</a:t>
            </a:r>
            <a:r>
              <a:rPr lang="en-US" altLang="zh-CN" sz="1100" b="1" dirty="0" smtClean="0"/>
              <a:t>&lt;=S0;</a:t>
            </a:r>
            <a:endParaRPr lang="en-US" altLang="zh-CN" sz="1100" b="1" dirty="0" smtClean="0"/>
          </a:p>
          <a:p>
            <a:r>
              <a:rPr lang="en-US" altLang="zh-CN" sz="1100" b="1" dirty="0" smtClean="0"/>
              <a:t>            S4:if(din==0)</a:t>
            </a:r>
            <a:endParaRPr lang="en-US" altLang="zh-CN" sz="1100" b="1" dirty="0" smtClean="0"/>
          </a:p>
          <a:p>
            <a:r>
              <a:rPr lang="en-US" altLang="zh-CN" sz="1100" b="1" dirty="0" smtClean="0"/>
              <a:t>                </a:t>
            </a:r>
            <a:r>
              <a:rPr lang="en-US" altLang="zh-CN" sz="1100" b="1" dirty="0" err="1" smtClean="0"/>
              <a:t>next_state</a:t>
            </a:r>
            <a:r>
              <a:rPr lang="en-US" altLang="zh-CN" sz="1100" b="1" dirty="0" smtClean="0"/>
              <a:t>&lt;=S0;</a:t>
            </a:r>
            <a:endParaRPr lang="en-US" altLang="zh-CN" sz="1100" b="1" dirty="0" smtClean="0"/>
          </a:p>
          <a:p>
            <a:r>
              <a:rPr lang="en-US" altLang="zh-CN" sz="1100" b="1" dirty="0" smtClean="0"/>
              <a:t>               else</a:t>
            </a:r>
            <a:endParaRPr lang="en-US" altLang="zh-CN" sz="1100" b="1" dirty="0" smtClean="0"/>
          </a:p>
          <a:p>
            <a:r>
              <a:rPr lang="en-US" altLang="zh-CN" sz="1100" b="1" dirty="0" smtClean="0"/>
              <a:t>                </a:t>
            </a:r>
            <a:r>
              <a:rPr lang="en-US" altLang="zh-CN" sz="1100" b="1" dirty="0" err="1" smtClean="0"/>
              <a:t>next_state</a:t>
            </a:r>
            <a:r>
              <a:rPr lang="en-US" altLang="zh-CN" sz="1100" b="1" dirty="0" smtClean="0"/>
              <a:t>&lt;=S2;</a:t>
            </a:r>
            <a:endParaRPr lang="en-US" altLang="zh-CN" sz="1100" b="1" dirty="0" smtClean="0"/>
          </a:p>
          <a:p>
            <a:r>
              <a:rPr lang="en-US" altLang="zh-CN" sz="1100" b="1" dirty="0" smtClean="0"/>
              <a:t>            </a:t>
            </a:r>
            <a:r>
              <a:rPr lang="en-US" altLang="zh-CN" sz="1100" b="1" dirty="0" err="1" smtClean="0"/>
              <a:t>default:next_state</a:t>
            </a:r>
            <a:r>
              <a:rPr lang="en-US" altLang="zh-CN" sz="1100" b="1" dirty="0" smtClean="0"/>
              <a:t>&lt;=S0;</a:t>
            </a:r>
            <a:endParaRPr lang="en-US" altLang="zh-CN" sz="1100" b="1" dirty="0" smtClean="0"/>
          </a:p>
          <a:p>
            <a:r>
              <a:rPr lang="en-US" altLang="zh-CN" sz="1100" b="1" dirty="0" smtClean="0"/>
              <a:t>        </a:t>
            </a:r>
            <a:r>
              <a:rPr lang="en-US" altLang="zh-CN" sz="1100" b="1" dirty="0" err="1" smtClean="0"/>
              <a:t>endcase</a:t>
            </a:r>
            <a:endParaRPr lang="en-US" altLang="zh-CN" sz="1100" b="1" dirty="0" smtClean="0"/>
          </a:p>
          <a:p>
            <a:r>
              <a:rPr lang="en-US" altLang="zh-CN" sz="1100" b="1" dirty="0" smtClean="0"/>
              <a:t>    end</a:t>
            </a:r>
            <a:endParaRPr lang="en-US" altLang="zh-CN" sz="1100" b="1" dirty="0" smtClean="0"/>
          </a:p>
          <a:p>
            <a:endParaRPr lang="en-US" altLang="zh-CN" sz="1100" b="1" dirty="0" smtClean="0"/>
          </a:p>
          <a:p>
            <a:r>
              <a:rPr lang="en-US" altLang="zh-CN" sz="1100" b="1" dirty="0" smtClean="0"/>
              <a:t>    always@(*)begin    // </a:t>
            </a:r>
            <a:r>
              <a:rPr lang="zh-CN" altLang="en-US" sz="1100" b="1" dirty="0" smtClean="0"/>
              <a:t>输出在判定</a:t>
            </a:r>
            <a:r>
              <a:rPr lang="en-US" altLang="zh-CN" sz="1100" b="1" dirty="0" smtClean="0"/>
              <a:t>S4</a:t>
            </a:r>
            <a:r>
              <a:rPr lang="zh-CN" altLang="en-US" sz="1100" b="1" dirty="0" smtClean="0"/>
              <a:t>之后，所以波形延后一个时钟单位</a:t>
            </a:r>
            <a:endParaRPr lang="zh-CN" altLang="en-US" sz="1100" b="1" dirty="0" smtClean="0"/>
          </a:p>
          <a:p>
            <a:r>
              <a:rPr lang="zh-CN" altLang="en-US" sz="1100" b="1" dirty="0" smtClean="0"/>
              <a:t>        </a:t>
            </a:r>
            <a:r>
              <a:rPr lang="en-US" altLang="zh-CN" sz="1100" b="1" dirty="0" smtClean="0"/>
              <a:t>if(</a:t>
            </a:r>
            <a:r>
              <a:rPr lang="en-US" altLang="zh-CN" sz="1100" b="1" dirty="0" err="1" smtClean="0"/>
              <a:t>present_state</a:t>
            </a:r>
            <a:r>
              <a:rPr lang="en-US" altLang="zh-CN" sz="1100" b="1" dirty="0" smtClean="0"/>
              <a:t>==S4)</a:t>
            </a:r>
            <a:endParaRPr lang="en-US" altLang="zh-CN" sz="1100" b="1" dirty="0" smtClean="0"/>
          </a:p>
          <a:p>
            <a:r>
              <a:rPr lang="en-US" altLang="zh-CN" sz="1100" b="1" dirty="0" smtClean="0"/>
              <a:t>            </a:t>
            </a:r>
            <a:r>
              <a:rPr lang="en-US" altLang="zh-CN" sz="1100" b="1" dirty="0" err="1" smtClean="0"/>
              <a:t>dout</a:t>
            </a:r>
            <a:r>
              <a:rPr lang="en-US" altLang="zh-CN" sz="1100" b="1" dirty="0" smtClean="0"/>
              <a:t>=1;</a:t>
            </a:r>
            <a:endParaRPr lang="en-US" altLang="zh-CN" sz="1100" b="1" dirty="0" smtClean="0"/>
          </a:p>
          <a:p>
            <a:r>
              <a:rPr lang="en-US" altLang="zh-CN" sz="1100" b="1" dirty="0" smtClean="0"/>
              <a:t>        else</a:t>
            </a:r>
            <a:endParaRPr lang="en-US" altLang="zh-CN" sz="1100" b="1" dirty="0" smtClean="0"/>
          </a:p>
          <a:p>
            <a:r>
              <a:rPr lang="en-US" altLang="zh-CN" sz="1100" b="1" dirty="0" smtClean="0"/>
              <a:t>            </a:t>
            </a:r>
            <a:r>
              <a:rPr lang="en-US" altLang="zh-CN" sz="1100" b="1" dirty="0" err="1" smtClean="0"/>
              <a:t>dout</a:t>
            </a:r>
            <a:r>
              <a:rPr lang="en-US" altLang="zh-CN" sz="1100" b="1" dirty="0" smtClean="0"/>
              <a:t>=0;</a:t>
            </a:r>
            <a:endParaRPr lang="en-US" altLang="zh-CN" sz="1100" b="1" dirty="0" smtClean="0"/>
          </a:p>
          <a:p>
            <a:r>
              <a:rPr lang="en-US" altLang="zh-CN" sz="1100" b="1" dirty="0" smtClean="0"/>
              <a:t>    end</a:t>
            </a:r>
            <a:endParaRPr lang="en-US" altLang="zh-CN" sz="1100" b="1" dirty="0" smtClean="0"/>
          </a:p>
          <a:p>
            <a:r>
              <a:rPr lang="en-US" altLang="zh-CN" sz="1100" b="1" dirty="0" err="1" smtClean="0"/>
              <a:t>endmodule</a:t>
            </a:r>
            <a:endParaRPr lang="zh-CN" altLang="en-US" sz="1100" dirty="0"/>
          </a:p>
        </p:txBody>
      </p:sp>
      <p:sp>
        <p:nvSpPr>
          <p:cNvPr id="7" name="矩形 6"/>
          <p:cNvSpPr/>
          <p:nvPr/>
        </p:nvSpPr>
        <p:spPr>
          <a:xfrm>
            <a:off x="65314" y="2509506"/>
            <a:ext cx="4572000" cy="3353435"/>
          </a:xfrm>
          <a:prstGeom prst="rect">
            <a:avLst/>
          </a:prstGeom>
        </p:spPr>
        <p:txBody>
          <a:bodyPr>
            <a:spAutoFit/>
          </a:bodyPr>
          <a:lstStyle/>
          <a:p>
            <a:r>
              <a:rPr lang="zh-CN" altLang="en-US" sz="1800" b="1" dirty="0"/>
              <a:t>将模块和运行相关的变量整理、组合，完成最终代码的实现：</a:t>
            </a:r>
            <a:endParaRPr lang="zh-CN" altLang="en-US" b="1" dirty="0"/>
          </a:p>
          <a:p>
            <a:r>
              <a:rPr lang="en-US" altLang="zh-CN" sz="1100" b="1" dirty="0"/>
              <a:t>module moore_1101(</a:t>
            </a:r>
            <a:endParaRPr lang="en-US" altLang="zh-CN" sz="1100" b="1" dirty="0"/>
          </a:p>
          <a:p>
            <a:r>
              <a:rPr lang="en-US" altLang="zh-CN" sz="1100" b="1" dirty="0"/>
              <a:t>input </a:t>
            </a:r>
            <a:r>
              <a:rPr lang="en-US" altLang="zh-CN" sz="1100" b="1" dirty="0" err="1"/>
              <a:t>clk</a:t>
            </a:r>
            <a:r>
              <a:rPr lang="en-US" altLang="zh-CN" sz="1100" b="1" dirty="0"/>
              <a:t>,</a:t>
            </a:r>
            <a:endParaRPr lang="en-US" altLang="zh-CN" sz="1100" b="1" dirty="0"/>
          </a:p>
          <a:p>
            <a:r>
              <a:rPr lang="en-US" altLang="zh-CN" sz="1100" b="1" dirty="0"/>
              <a:t>input </a:t>
            </a:r>
            <a:r>
              <a:rPr lang="en-US" altLang="zh-CN" sz="1100" b="1" dirty="0" err="1"/>
              <a:t>clr</a:t>
            </a:r>
            <a:r>
              <a:rPr lang="en-US" altLang="zh-CN" sz="1100" b="1" dirty="0"/>
              <a:t>,</a:t>
            </a:r>
            <a:endParaRPr lang="en-US" altLang="zh-CN" sz="1100" b="1" dirty="0"/>
          </a:p>
          <a:p>
            <a:r>
              <a:rPr lang="en-US" altLang="zh-CN" sz="1100" b="1" dirty="0"/>
              <a:t>input din,</a:t>
            </a:r>
            <a:endParaRPr lang="en-US" altLang="zh-CN" sz="1100" b="1" dirty="0"/>
          </a:p>
          <a:p>
            <a:r>
              <a:rPr lang="en-US" altLang="zh-CN" sz="1100" b="1" dirty="0"/>
              <a:t>output </a:t>
            </a:r>
            <a:r>
              <a:rPr lang="en-US" altLang="zh-CN" sz="1100" b="1" dirty="0" err="1"/>
              <a:t>reg</a:t>
            </a:r>
            <a:r>
              <a:rPr lang="en-US" altLang="zh-CN" sz="1100" b="1" dirty="0"/>
              <a:t> </a:t>
            </a:r>
            <a:r>
              <a:rPr lang="en-US" altLang="zh-CN" sz="1100" b="1" dirty="0" err="1"/>
              <a:t>dout</a:t>
            </a:r>
            <a:r>
              <a:rPr lang="en-US" altLang="zh-CN" sz="1100" b="1" dirty="0" smtClean="0"/>
              <a:t>);</a:t>
            </a:r>
            <a:endParaRPr lang="en-US" altLang="zh-CN" sz="1100" b="1" dirty="0" smtClean="0"/>
          </a:p>
          <a:p>
            <a:r>
              <a:rPr lang="en-US" altLang="zh-CN" sz="1100" b="1" dirty="0" err="1"/>
              <a:t>reg</a:t>
            </a:r>
            <a:r>
              <a:rPr lang="en-US" altLang="zh-CN" sz="1100" b="1" dirty="0"/>
              <a:t> [2:0] </a:t>
            </a:r>
            <a:r>
              <a:rPr lang="en-US" altLang="zh-CN" sz="1100" b="1" dirty="0" err="1"/>
              <a:t>present_state,next_state</a:t>
            </a:r>
            <a:r>
              <a:rPr lang="en-US" altLang="zh-CN" sz="1100" b="1" dirty="0"/>
              <a:t>;</a:t>
            </a:r>
            <a:endParaRPr lang="en-US" altLang="zh-CN" sz="1100" b="1" dirty="0"/>
          </a:p>
          <a:p>
            <a:r>
              <a:rPr lang="en-US" altLang="zh-CN" sz="1100" b="1" dirty="0"/>
              <a:t>    parameter S0 = 3'b000,S1 = 3'b001,S2 = 3'b010,S3 = 3'b011,S4 = 3'b100;</a:t>
            </a:r>
            <a:endParaRPr lang="en-US" altLang="zh-CN" sz="1100" b="1" dirty="0"/>
          </a:p>
          <a:p>
            <a:endParaRPr lang="en-US" altLang="zh-CN" sz="1100" b="1" dirty="0"/>
          </a:p>
          <a:p>
            <a:r>
              <a:rPr lang="en-US" altLang="zh-CN" sz="1100" b="1" dirty="0"/>
              <a:t>    always@(</a:t>
            </a:r>
            <a:r>
              <a:rPr lang="en-US" altLang="zh-CN" sz="1100" b="1" dirty="0" err="1"/>
              <a:t>posedge</a:t>
            </a:r>
            <a:r>
              <a:rPr lang="en-US" altLang="zh-CN" sz="1100" b="1" dirty="0"/>
              <a:t> </a:t>
            </a:r>
            <a:r>
              <a:rPr lang="en-US" altLang="zh-CN" sz="1100" b="1" dirty="0" err="1"/>
              <a:t>clk</a:t>
            </a:r>
            <a:r>
              <a:rPr lang="en-US" altLang="zh-CN" sz="1100" b="1" dirty="0"/>
              <a:t> or </a:t>
            </a:r>
            <a:r>
              <a:rPr lang="en-US" altLang="zh-CN" sz="1100" b="1" dirty="0" err="1"/>
              <a:t>posedge</a:t>
            </a:r>
            <a:r>
              <a:rPr lang="en-US" altLang="zh-CN" sz="1100" b="1" dirty="0"/>
              <a:t> </a:t>
            </a:r>
            <a:r>
              <a:rPr lang="en-US" altLang="zh-CN" sz="1100" b="1" dirty="0" err="1"/>
              <a:t>clr</a:t>
            </a:r>
            <a:r>
              <a:rPr lang="en-US" altLang="zh-CN" sz="1100" b="1" dirty="0"/>
              <a:t>)begin</a:t>
            </a:r>
            <a:endParaRPr lang="en-US" altLang="zh-CN" sz="1100" b="1" dirty="0"/>
          </a:p>
          <a:p>
            <a:r>
              <a:rPr lang="en-US" altLang="zh-CN" sz="1100" b="1" dirty="0"/>
              <a:t>        if(</a:t>
            </a:r>
            <a:r>
              <a:rPr lang="en-US" altLang="zh-CN" sz="1100" b="1" dirty="0" err="1"/>
              <a:t>clr</a:t>
            </a:r>
            <a:r>
              <a:rPr lang="en-US" altLang="zh-CN" sz="1100" b="1" dirty="0"/>
              <a:t>==1)</a:t>
            </a:r>
            <a:endParaRPr lang="en-US" altLang="zh-CN" sz="1100" b="1" dirty="0"/>
          </a:p>
          <a:p>
            <a:r>
              <a:rPr lang="en-US" altLang="zh-CN" sz="1100" b="1" dirty="0"/>
              <a:t>            </a:t>
            </a:r>
            <a:r>
              <a:rPr lang="en-US" altLang="zh-CN" sz="1100" b="1" dirty="0" err="1"/>
              <a:t>present_state</a:t>
            </a:r>
            <a:r>
              <a:rPr lang="en-US" altLang="zh-CN" sz="1100" b="1" dirty="0"/>
              <a:t>&lt;=S0; // </a:t>
            </a:r>
            <a:r>
              <a:rPr lang="zh-CN" altLang="en-US" sz="1100" b="1" dirty="0"/>
              <a:t>复位信号强制复位</a:t>
            </a:r>
            <a:endParaRPr lang="zh-CN" altLang="en-US" sz="1100" b="1" dirty="0"/>
          </a:p>
          <a:p>
            <a:r>
              <a:rPr lang="zh-CN" altLang="en-US" sz="1100" b="1" dirty="0"/>
              <a:t>        </a:t>
            </a:r>
            <a:r>
              <a:rPr lang="en-US" altLang="zh-CN" sz="1100" b="1" dirty="0"/>
              <a:t>else</a:t>
            </a:r>
            <a:endParaRPr lang="en-US" altLang="zh-CN" sz="1100" b="1" dirty="0"/>
          </a:p>
          <a:p>
            <a:r>
              <a:rPr lang="en-US" altLang="zh-CN" sz="1100" b="1" dirty="0"/>
              <a:t>            </a:t>
            </a:r>
            <a:r>
              <a:rPr lang="en-US" altLang="zh-CN" sz="1100" b="1" dirty="0" err="1"/>
              <a:t>present_state</a:t>
            </a:r>
            <a:r>
              <a:rPr lang="en-US" altLang="zh-CN" sz="1100" b="1" dirty="0"/>
              <a:t>&lt;=</a:t>
            </a:r>
            <a:r>
              <a:rPr lang="en-US" altLang="zh-CN" sz="1100" b="1" dirty="0" err="1"/>
              <a:t>next_state</a:t>
            </a:r>
            <a:r>
              <a:rPr lang="en-US" altLang="zh-CN" sz="1100" b="1" dirty="0"/>
              <a:t>;</a:t>
            </a:r>
            <a:endParaRPr lang="en-US" altLang="zh-CN" sz="1100" b="1" dirty="0"/>
          </a:p>
          <a:p>
            <a:r>
              <a:rPr lang="en-US" altLang="zh-CN" sz="1100" b="1" dirty="0"/>
              <a:t>    end</a:t>
            </a:r>
            <a:endParaRPr lang="en-US" altLang="zh-CN" sz="1100" b="1" dirty="0"/>
          </a:p>
          <a:p>
            <a:endParaRPr lang="en-US" altLang="zh-CN" sz="1100" b="1" dirty="0"/>
          </a:p>
        </p:txBody>
      </p:sp>
      <p:sp>
        <p:nvSpPr>
          <p:cNvPr id="8" name="Text Box 2"/>
          <p:cNvSpPr txBox="1">
            <a:spLocks noChangeArrowheads="1"/>
          </p:cNvSpPr>
          <p:nvPr/>
        </p:nvSpPr>
        <p:spPr bwMode="auto">
          <a:xfrm>
            <a:off x="0" y="490538"/>
            <a:ext cx="5421086" cy="584775"/>
          </a:xfrm>
          <a:prstGeom prst="rect">
            <a:avLst/>
          </a:prstGeom>
          <a:noFill/>
          <a:ln w="9525">
            <a:noFill/>
            <a:miter lim="800000"/>
          </a:ln>
          <a:effectLst/>
        </p:spPr>
        <p:txBody>
          <a:bodyPr wrap="square">
            <a:spAutoFit/>
          </a:bodyPr>
          <a:lstStyle/>
          <a:p>
            <a:pPr lvl="0" eaLnBrk="1" hangingPunct="1">
              <a:defRPr/>
            </a:pPr>
            <a:r>
              <a:rPr kumimoji="1" lang="en-US" altLang="zh-CN" sz="32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10.3</a:t>
            </a:r>
            <a:r>
              <a:rPr kumimoji="1" lang="en-US" altLang="zh-CN"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 Verilog</a:t>
            </a:r>
            <a:r>
              <a:rPr kumimoji="1" lang="zh-CN" altLang="en-US" sz="3200" b="1" dirty="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设计</a:t>
            </a:r>
            <a:r>
              <a:rPr kumimoji="1" lang="zh-CN" altLang="en-US" sz="3200" b="1" dirty="0" smtClean="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rPr>
              <a:t>练习</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9" name="Text Box 4"/>
          <p:cNvSpPr txBox="1">
            <a:spLocks noChangeArrowheads="1"/>
          </p:cNvSpPr>
          <p:nvPr/>
        </p:nvSpPr>
        <p:spPr bwMode="auto">
          <a:xfrm>
            <a:off x="65314" y="1215841"/>
            <a:ext cx="8434387" cy="981710"/>
          </a:xfrm>
          <a:prstGeom prst="rect">
            <a:avLst/>
          </a:prstGeom>
          <a:noFill/>
          <a:ln w="9525">
            <a:noFill/>
            <a:miter lim="800000"/>
          </a:ln>
          <a:effectLst/>
        </p:spPr>
        <p:txBody>
          <a:bodyPr wrap="square">
            <a:spAutoFit/>
          </a:bodyPr>
          <a:lstStyle/>
          <a:p>
            <a:pPr lvl="0" eaLnBrk="1" hangingPunct="1">
              <a:lnSpc>
                <a:spcPct val="110000"/>
              </a:lnSpc>
              <a:spcBef>
                <a:spcPct val="10000"/>
              </a:spcBef>
              <a:spcAft>
                <a:spcPct val="10000"/>
              </a:spcAft>
              <a:defRPr/>
            </a:pPr>
            <a:r>
              <a:rPr kumimoji="1" lang="en-US" altLang="zh-CN" sz="2800" b="1" i="0" u="none" strike="noStrike" kern="1200" cap="none" spc="0" normalizeH="0" baseline="0" noProof="0" dirty="0" smtClean="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10.3.2</a:t>
            </a:r>
            <a:r>
              <a:rPr kumimoji="1" lang="zh-CN" altLang="en-US" b="1" dirty="0" smtClean="0">
                <a:solidFill>
                  <a:srgbClr val="CC6600"/>
                </a:solidFill>
                <a:effectLst>
                  <a:outerShdw blurRad="38100" dist="38100" dir="2700000" algn="tl">
                    <a:srgbClr val="000000"/>
                  </a:outerShdw>
                </a:effectLst>
              </a:rPr>
              <a:t>同步</a:t>
            </a:r>
            <a:r>
              <a:rPr kumimoji="1" lang="zh-CN" altLang="en-US" b="1" dirty="0">
                <a:solidFill>
                  <a:srgbClr val="CC6600"/>
                </a:solidFill>
                <a:effectLst>
                  <a:outerShdw blurRad="38100" dist="38100" dir="2700000" algn="tl">
                    <a:srgbClr val="000000"/>
                  </a:outerShdw>
                </a:effectLst>
              </a:rPr>
              <a:t>时序逻辑综合练习</a:t>
            </a:r>
            <a:endParaRPr kumimoji="1" lang="en-US" altLang="zh-CN" b="1" dirty="0">
              <a:solidFill>
                <a:srgbClr val="CC6600"/>
              </a:solidFill>
              <a:effectLst>
                <a:outerShdw blurRad="38100" dist="38100" dir="2700000" algn="tl">
                  <a:srgbClr val="000000"/>
                </a:outerShdw>
              </a:effectLst>
            </a:endParaRPr>
          </a:p>
          <a:p>
            <a:pPr eaLnBrk="1" hangingPunct="1">
              <a:lnSpc>
                <a:spcPct val="110000"/>
              </a:lnSpc>
              <a:spcBef>
                <a:spcPct val="10000"/>
              </a:spcBef>
              <a:spcAft>
                <a:spcPct val="10000"/>
              </a:spcAft>
              <a:defRPr/>
            </a:pPr>
            <a:r>
              <a:rPr lang="zh-CN" altLang="zh-CN" sz="1800" dirty="0">
                <a:cs typeface="Times New Roman" panose="02020603050405020304" pitchFamily="18" charset="0"/>
              </a:rPr>
              <a:t>【例</a:t>
            </a:r>
            <a:r>
              <a:rPr lang="en-US" altLang="zh-CN" sz="1800" dirty="0">
                <a:cs typeface="Times New Roman" panose="02020603050405020304" pitchFamily="18" charset="0"/>
              </a:rPr>
              <a:t>25】</a:t>
            </a:r>
            <a:r>
              <a:rPr lang="zh-CN" altLang="en-US" sz="1800" dirty="0">
                <a:cs typeface="Times New Roman" panose="02020603050405020304" pitchFamily="18" charset="0"/>
              </a:rPr>
              <a:t>实现一个</a:t>
            </a:r>
            <a:r>
              <a:rPr lang="en-US" altLang="zh-CN" sz="1800" dirty="0">
                <a:cs typeface="Times New Roman" panose="02020603050405020304" pitchFamily="18" charset="0"/>
              </a:rPr>
              <a:t>Moore</a:t>
            </a:r>
            <a:r>
              <a:rPr lang="zh-CN" altLang="en-US" sz="1800" dirty="0">
                <a:cs typeface="Times New Roman" panose="02020603050405020304" pitchFamily="18" charset="0"/>
              </a:rPr>
              <a:t>型</a:t>
            </a:r>
            <a:r>
              <a:rPr lang="en-US" altLang="zh-CN" sz="1800" dirty="0">
                <a:cs typeface="Times New Roman" panose="02020603050405020304" pitchFamily="18" charset="0"/>
              </a:rPr>
              <a:t>1101</a:t>
            </a:r>
            <a:r>
              <a:rPr lang="zh-CN" altLang="en-US" sz="1800" dirty="0">
                <a:cs typeface="Times New Roman" panose="02020603050405020304" pitchFamily="18" charset="0"/>
              </a:rPr>
              <a:t>序列检测器</a:t>
            </a:r>
            <a:r>
              <a:rPr lang="zh-CN" altLang="en-US" sz="2000" dirty="0" smtClean="0">
                <a:cs typeface="Times New Roman" panose="02020603050405020304" pitchFamily="18" charset="0"/>
              </a:rPr>
              <a:t>。</a:t>
            </a:r>
            <a:endParaRPr kumimoji="1" lang="zh-CN" altLang="en-US" sz="2000" b="1" dirty="0">
              <a:solidFill>
                <a:srgbClr val="0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blinds(horizontal)">
                                      <p:cBhvr>
                                        <p:cTn id="13" dur="500"/>
                                        <p:tgtEl>
                                          <p:spTgt spid="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
                                            <p:txEl>
                                              <p:pRg st="1" end="1"/>
                                            </p:txEl>
                                          </p:spTgt>
                                        </p:tgtEl>
                                        <p:attrNameLst>
                                          <p:attrName>style.visibility</p:attrName>
                                        </p:attrNameLst>
                                      </p:cBhvr>
                                      <p:to>
                                        <p:strVal val="visible"/>
                                      </p:to>
                                    </p:set>
                                    <p:animEffect transition="in" filter="blinds(horizontal)">
                                      <p:cBhvr>
                                        <p:cTn id="1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p="http://schemas.openxmlformats.org/presentationml/2006/main">
  <p:tag name="COMMONDATA" val="eyJoZGlkIjoiNzEyYTQ1ZTkxNzgyMjUxNmZmODI5MjdiYTcxOGE3YWEifQ=="/>
</p:tagLst>
</file>

<file path=ppt/theme/theme1.xml><?xml version="1.0" encoding="utf-8"?>
<a:theme xmlns:a="http://schemas.openxmlformats.org/drawingml/2006/main" name="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ctr" latinLnBrk="0" hangingPunct="1">
          <a:lnSpc>
            <a:spcPct val="100000"/>
          </a:lnSpc>
          <a:spcBef>
            <a:spcPct val="0"/>
          </a:spcBef>
          <a:spcAft>
            <a:spcPct val="0"/>
          </a:spcAft>
          <a:buClrTx/>
          <a:buSzTx/>
          <a:buFontTx/>
          <a:buNone/>
          <a:def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19701</Words>
  <Application>WPS 演示</Application>
  <PresentationFormat>全屏显示(4:3)</PresentationFormat>
  <Paragraphs>971</Paragraphs>
  <Slides>51</Slides>
  <Notes>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51</vt:i4>
      </vt:variant>
    </vt:vector>
  </HeadingPairs>
  <TitlesOfParts>
    <vt:vector size="67" baseType="lpstr">
      <vt:lpstr>Arial</vt:lpstr>
      <vt:lpstr>宋体</vt:lpstr>
      <vt:lpstr>Wingdings</vt:lpstr>
      <vt:lpstr>Times New Roman</vt:lpstr>
      <vt:lpstr>Arial Black</vt:lpstr>
      <vt:lpstr>华文中宋</vt:lpstr>
      <vt:lpstr>华文宋体</vt:lpstr>
      <vt:lpstr>幼圆</vt:lpstr>
      <vt:lpstr>微软雅黑</vt:lpstr>
      <vt:lpstr>Arial Unicode MS</vt:lpstr>
      <vt:lpstr>Calibri</vt:lpstr>
      <vt:lpstr>楷体</vt:lpstr>
      <vt:lpstr>Pixel</vt:lpstr>
      <vt:lpstr>1_Pixel</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dell</dc:creator>
  <cp:lastModifiedBy>wujing</cp:lastModifiedBy>
  <cp:revision>482</cp:revision>
  <cp:lastPrinted>1999-10-10T02:25:00Z</cp:lastPrinted>
  <dcterms:created xsi:type="dcterms:W3CDTF">1999-09-13T01:56:00Z</dcterms:created>
  <dcterms:modified xsi:type="dcterms:W3CDTF">2025-04-06T00:46:23Z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0D5A4C2744A84540B55ED834DA2457C7_13</vt:lpwstr>
  </property>
</Properties>
</file>