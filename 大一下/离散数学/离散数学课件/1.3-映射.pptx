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2EB"/>
          </a:solidFill>
        </a:fill>
      </a:tcStyle>
    </a:wholeTbl>
    <a:band2H>
      <a:tcTxStyle/>
      <a:tcStyle>
        <a:tcBdr/>
        <a:fill>
          <a:solidFill>
            <a:srgbClr val="E8EAF5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21"/>
    <p:restoredTop sz="82609"/>
  </p:normalViewPr>
  <p:slideViewPr>
    <p:cSldViewPr snapToGrid="0" snapToObjects="1">
      <p:cViewPr varScale="1">
        <p:scale>
          <a:sx n="91" d="100"/>
          <a:sy n="91" d="100"/>
        </p:scale>
        <p:origin x="1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Shape 5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映射就像平时我们比较了解的函数。也是一种特殊关系。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可以把这种对应形成一个个有序对，看作是学生集合和成绩集合之间的一种特殊关系。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解释：</a:t>
            </a:r>
            <a:r>
              <a:t>1. 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的所有元素必须都有映像；但</a:t>
            </a:r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中不要求每个元素都有原像；</a:t>
            </a:r>
          </a:p>
          <a:p>
            <a:r>
              <a:t>2.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可以</a:t>
            </a:r>
            <a:r>
              <a:t>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中的多个元素对应</a:t>
            </a:r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中的一个元素</a:t>
            </a:r>
            <a:r>
              <a:t>(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多对一</a:t>
            </a:r>
            <a:r>
              <a:t>)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；不许</a:t>
            </a:r>
            <a:r>
              <a:t>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中的一个元素对应</a:t>
            </a:r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中的多个元素</a:t>
            </a:r>
            <a:r>
              <a:t>(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一对多</a:t>
            </a:r>
            <a:r>
              <a:t>)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；</a:t>
            </a:r>
          </a:p>
          <a:p>
            <a:pPr>
              <a:spcBef>
                <a:spcPts val="500"/>
              </a:spcBef>
            </a:pPr>
            <a:r>
              <a:t>3.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映射是关系，</a:t>
            </a:r>
            <a:r>
              <a:t>b=</a:t>
            </a:r>
            <a:r>
              <a:rPr sz="140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1400"/>
              <a:t>(a)</a:t>
            </a:r>
            <a:r>
              <a:rPr sz="1400">
                <a:latin typeface="宋体"/>
                <a:ea typeface="宋体"/>
                <a:cs typeface="宋体"/>
                <a:sym typeface="宋体"/>
              </a:rPr>
              <a:t>是</a:t>
            </a:r>
            <a:r>
              <a:rPr sz="1400"/>
              <a:t>(a,b)</a:t>
            </a:r>
            <a:r>
              <a:rPr sz="1400">
                <a:latin typeface="宋体"/>
                <a:ea typeface="宋体"/>
                <a:cs typeface="宋体"/>
                <a:sym typeface="宋体"/>
              </a:rPr>
              <a:t>属于</a:t>
            </a:r>
            <a:r>
              <a:rPr sz="140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1400">
                <a:latin typeface="宋体"/>
                <a:ea typeface="宋体"/>
                <a:cs typeface="宋体"/>
                <a:sym typeface="宋体"/>
              </a:rPr>
              <a:t>的另一种表示方法。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解释：</a:t>
            </a:r>
            <a:r>
              <a:t>1.B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中元素是</a:t>
            </a:r>
            <a:r>
              <a:t>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中元素的映像，</a:t>
            </a:r>
            <a:r>
              <a:t>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中元素是原象，</a:t>
            </a:r>
            <a:r>
              <a:t>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是定义域，</a:t>
            </a:r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中的</a:t>
            </a:r>
            <a:r>
              <a:t>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、</a:t>
            </a:r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、</a:t>
            </a:r>
            <a:r>
              <a:t>d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构成值域</a:t>
            </a:r>
            <a:r>
              <a:t>(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不是</a:t>
            </a:r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是值域</a:t>
            </a:r>
            <a:r>
              <a:t>)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t>2.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可以多对一，不许一对多。</a:t>
            </a:r>
          </a:p>
          <a:p>
            <a:r>
              <a:t>3.B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中可以有空的元素。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1400"/>
            </a:pPr>
            <a:r>
              <a:rPr dirty="0">
                <a:latin typeface="宋体"/>
                <a:ea typeface="宋体"/>
                <a:cs typeface="宋体"/>
                <a:sym typeface="宋体"/>
              </a:rPr>
              <a:t>从</a:t>
            </a:r>
            <a:r>
              <a:rPr dirty="0"/>
              <a:t>A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到</a:t>
            </a:r>
            <a:r>
              <a:rPr dirty="0"/>
              <a:t>B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的不同关系有</a:t>
            </a:r>
            <a:r>
              <a:rPr dirty="0"/>
              <a:t>2</a:t>
            </a:r>
            <a:r>
              <a:rPr baseline="30000" dirty="0"/>
              <a:t>|A×B|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个；</a:t>
            </a:r>
          </a:p>
          <a:p>
            <a:pPr>
              <a:spcBef>
                <a:spcPts val="500"/>
              </a:spcBef>
              <a:defRPr sz="1400"/>
            </a:pPr>
            <a:r>
              <a:rPr dirty="0" err="1">
                <a:latin typeface="宋体"/>
                <a:ea typeface="宋体"/>
                <a:cs typeface="宋体"/>
                <a:sym typeface="宋体"/>
              </a:rPr>
              <a:t>从</a:t>
            </a:r>
            <a:r>
              <a:rPr dirty="0" err="1"/>
              <a:t>A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到</a:t>
            </a:r>
            <a:r>
              <a:rPr dirty="0" err="1"/>
              <a:t>B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的不同映射仅有</a:t>
            </a:r>
            <a:r>
              <a:rPr dirty="0" err="1"/>
              <a:t>|B</a:t>
            </a:r>
            <a:r>
              <a:rPr dirty="0"/>
              <a:t>|</a:t>
            </a:r>
            <a:r>
              <a:rPr baseline="30000" dirty="0"/>
              <a:t>|</a:t>
            </a:r>
            <a:r>
              <a:rPr baseline="30000" dirty="0" err="1"/>
              <a:t>A|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个</a:t>
            </a:r>
            <a:r>
              <a:rPr dirty="0"/>
              <a:t>(</a:t>
            </a:r>
            <a:r>
              <a:rPr dirty="0" err="1"/>
              <a:t>A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中每个元素可以有</a:t>
            </a:r>
            <a:r>
              <a:rPr dirty="0" err="1"/>
              <a:t>|B|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个选择，共需要</a:t>
            </a:r>
            <a:r>
              <a:rPr dirty="0" err="1"/>
              <a:t>|A|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组</a:t>
            </a:r>
            <a:r>
              <a:rPr dirty="0"/>
              <a:t>)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9" name="Shape 1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是满的，没有空的。但可能多对一。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没有多对一的情况。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9" name="Shape 15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一个对一个，不能有多对一的。</a:t>
            </a:r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可能有空的。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5" name="Shape 1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双射：既是满射，又是单射。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4" name="Shape 1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(1)B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中的元素都有原象，是满射；</a:t>
            </a:r>
            <a:r>
              <a:t>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和</a:t>
            </a:r>
            <a:r>
              <a:t>4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的映象都是</a:t>
            </a:r>
            <a:r>
              <a:t>a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，不是单射；</a:t>
            </a:r>
          </a:p>
          <a:p>
            <a:r>
              <a:t>(2)d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没有原象，不是满射；不同的元素对应不同的象，是单射；</a:t>
            </a:r>
          </a:p>
          <a:p>
            <a:r>
              <a:t>(3)B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中的元素都有原象，是满射；不同的元素对应不同的象，是单射；又</a:t>
            </a:r>
            <a:r>
              <a:t>A=B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，是变换。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8" name="Shape 23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注意作乘积时的顺序，先是里面的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，然后是外面的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4" name="Shape 24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显然，映射的乘积不满足交换律。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" name="Shape 2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对于有限集合的元素数可以数一数，但无穷集合呢？用基数表示。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0" name="Shape 2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总结：表面上个数完全不相等的两个无限集合之间仍然存在等势关系，甚至集合与其真子集之间也存在等势关系（有限集合不和任何其真子集等势）。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6" name="Shape 27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问题：自然数集合</a:t>
            </a:r>
            <a:r>
              <a:t>{1,2,3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  <a:r>
              <a:t>}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和自然数平方集合</a:t>
            </a:r>
            <a:r>
              <a:t>{1</a:t>
            </a:r>
            <a:r>
              <a:rPr baseline="30000"/>
              <a:t>2</a:t>
            </a:r>
            <a:r>
              <a:t>,2</a:t>
            </a:r>
            <a:r>
              <a:rPr baseline="30000"/>
              <a:t>2</a:t>
            </a:r>
            <a:r>
              <a:t>,3</a:t>
            </a:r>
            <a:r>
              <a:rPr baseline="30000"/>
              <a:t>2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  <a:r>
              <a:t>}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哪一个集合的元素多？</a:t>
            </a:r>
          </a:p>
          <a:p>
            <a:r>
              <a:rPr>
                <a:latin typeface="宋体"/>
                <a:ea typeface="宋体"/>
                <a:cs typeface="宋体"/>
                <a:sym typeface="宋体"/>
              </a:rPr>
              <a:t>分析：自然数平方集合是自然数集合的子集，似乎自然数集合中的元素要多一些；但是可以找到一个对应关系，因此并不多；</a:t>
            </a:r>
          </a:p>
          <a:p>
            <a:r>
              <a:rPr>
                <a:latin typeface="宋体"/>
                <a:ea typeface="宋体"/>
                <a:cs typeface="宋体"/>
                <a:sym typeface="宋体"/>
              </a:rPr>
              <a:t>早在</a:t>
            </a:r>
            <a:r>
              <a:t>1638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年，伽利略就发现了，但是他不能回答；直到康托尔正确地证明了这一问题。</a:t>
            </a:r>
          </a:p>
          <a:p>
            <a:r>
              <a:rPr>
                <a:latin typeface="宋体"/>
                <a:ea typeface="宋体"/>
                <a:cs typeface="宋体"/>
                <a:sym typeface="宋体"/>
              </a:rPr>
              <a:t>把可以和自然数集合</a:t>
            </a:r>
            <a:r>
              <a:t>1-1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对应的集合称为可数集合。</a:t>
            </a:r>
          </a:p>
          <a:p>
            <a:r>
              <a:rPr>
                <a:latin typeface="宋体"/>
                <a:ea typeface="宋体"/>
                <a:cs typeface="宋体"/>
                <a:sym typeface="宋体"/>
              </a:rPr>
              <a:t>可数集合除了有限的，其他的基数都为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ℵ</a:t>
            </a:r>
            <a:r>
              <a:rPr baseline="-30000"/>
              <a:t>0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7" name="Shape 2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1) 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与</a:t>
            </a:r>
            <a:r>
              <a:t>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之间建立一一对应关系（是可数集合）：</a:t>
            </a:r>
          </a:p>
          <a:p>
            <a:r>
              <a:t>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0	1	2	3	4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</a:p>
          <a:p>
            <a:r>
              <a:t>B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0	1	4	9	16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</a:p>
          <a:p>
            <a:r>
              <a:t>2) Z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与</a:t>
            </a:r>
            <a:r>
              <a:t>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之间建立一一对应关系（是可数集合）：</a:t>
            </a:r>
          </a:p>
          <a:p>
            <a:r>
              <a:t>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0	1	2	3	4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</a:p>
          <a:p>
            <a:r>
              <a:t>Z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：</a:t>
            </a:r>
            <a:r>
              <a:t>0	-1	1	-2	2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7" name="Shape 2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宋体"/>
                <a:ea typeface="宋体"/>
                <a:cs typeface="宋体"/>
                <a:sym typeface="宋体"/>
              </a:rPr>
              <a:t>只要能一个个的排下去，并且包含了所有元素，即是可数的；其实有交集也不影响，删去重复元素即可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rPr dirty="0" err="1">
                <a:latin typeface="宋体"/>
                <a:ea typeface="宋体"/>
                <a:cs typeface="宋体"/>
                <a:sym typeface="宋体"/>
              </a:rPr>
              <a:t>推广：有限个可数集合的并集是可数集合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rPr dirty="0">
                <a:latin typeface="宋体"/>
                <a:ea typeface="宋体"/>
                <a:cs typeface="宋体"/>
                <a:sym typeface="宋体"/>
              </a:rPr>
              <a:t>（不可数的证明：能一个个的排下去，但却没有包含所有的元素，不是满射，自然不是</a:t>
            </a:r>
            <a:r>
              <a:rPr dirty="0"/>
              <a:t>1-1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映射。）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4" name="Shape 3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把上一个定理放松</a:t>
            </a:r>
            <a:r>
              <a:t>2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个条件有这个定理：</a:t>
            </a:r>
          </a:p>
          <a:p>
            <a:r>
              <a:t>1.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 可数无穷多个可数集合</a:t>
            </a:r>
          </a:p>
          <a:p>
            <a:r>
              <a:t>2.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 不必交集为空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2" name="Shape 33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上述定理的证明方法，就是著名的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康托尔对角线法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，该方法在可计算理论中有广泛的应用。 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5" name="Shape 3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宋体"/>
                <a:ea typeface="宋体"/>
                <a:cs typeface="宋体"/>
                <a:sym typeface="宋体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宋体"/>
                <a:ea typeface="宋体"/>
                <a:cs typeface="宋体"/>
                <a:sym typeface="宋体"/>
              </a:rPr>
              <a:t>总之：只要能一个个的排下去，并且包含了所有元素，即是可数的；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1" name="Shape 35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当</a:t>
            </a:r>
            <a:r>
              <a:t>n=1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时，显然成立，</a:t>
            </a:r>
            <a:r>
              <a:t>n=2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时，也成立。</a:t>
            </a:r>
          </a:p>
          <a:p>
            <a:pPr>
              <a:spcBef>
                <a:spcPts val="500"/>
              </a:spcBef>
            </a:pPr>
            <a:r>
              <a:rPr>
                <a:latin typeface="宋体"/>
                <a:ea typeface="宋体"/>
                <a:cs typeface="宋体"/>
                <a:sym typeface="宋体"/>
              </a:rPr>
              <a:t>假设</a:t>
            </a:r>
            <a:r>
              <a:t>n=k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时， 结论成立，即</a:t>
            </a:r>
            <a:r>
              <a:rPr sz="1400"/>
              <a:t>A</a:t>
            </a:r>
            <a:r>
              <a:rPr sz="1400" baseline="-30000"/>
              <a:t>1</a:t>
            </a:r>
            <a:r>
              <a:rPr sz="1400"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 sz="1400"/>
              <a:t> A</a:t>
            </a:r>
            <a:r>
              <a:rPr sz="1400" baseline="-30000"/>
              <a:t>2</a:t>
            </a:r>
            <a:r>
              <a:rPr sz="1400"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 sz="1400"/>
              <a:t> </a:t>
            </a:r>
            <a:r>
              <a:rPr sz="1400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 sz="1400"/>
              <a:t> </a:t>
            </a:r>
            <a:r>
              <a:rPr sz="1400"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 sz="1400"/>
              <a:t>A</a:t>
            </a:r>
            <a:r>
              <a:rPr sz="1400" baseline="-25000"/>
              <a:t>k</a:t>
            </a:r>
            <a:r>
              <a:rPr sz="1400">
                <a:latin typeface="宋体"/>
                <a:ea typeface="宋体"/>
                <a:cs typeface="宋体"/>
                <a:sym typeface="宋体"/>
              </a:rPr>
              <a:t>是可数集合。</a:t>
            </a:r>
          </a:p>
          <a:p>
            <a:pPr>
              <a:spcBef>
                <a:spcPts val="500"/>
              </a:spcBef>
              <a:defRPr sz="1400">
                <a:latin typeface="宋体"/>
                <a:ea typeface="宋体"/>
                <a:cs typeface="宋体"/>
                <a:sym typeface="宋体"/>
              </a:defRPr>
            </a:pPr>
            <a:r>
              <a:t>当n=k+1时，有（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k</a:t>
            </a:r>
            <a:r>
              <a:t>）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 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k+1</a:t>
            </a:r>
            <a:r>
              <a:rPr>
                <a:latin typeface="+mj-lt"/>
                <a:ea typeface="+mj-ea"/>
                <a:cs typeface="+mj-cs"/>
                <a:sym typeface="Arial"/>
              </a:rPr>
              <a:t>={((a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>
                <a:latin typeface="+mj-lt"/>
                <a:ea typeface="+mj-ea"/>
                <a:cs typeface="+mj-cs"/>
                <a:sym typeface="Arial"/>
              </a:rPr>
              <a:t>,a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>
                <a:latin typeface="+mj-lt"/>
                <a:ea typeface="+mj-ea"/>
                <a:cs typeface="+mj-cs"/>
                <a:sym typeface="Arial"/>
              </a:rPr>
              <a:t>,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k</a:t>
            </a:r>
            <a:r>
              <a:rPr>
                <a:latin typeface="+mj-lt"/>
                <a:ea typeface="+mj-ea"/>
                <a:cs typeface="+mj-cs"/>
                <a:sym typeface="Arial"/>
              </a:rPr>
              <a:t>),a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k+1</a:t>
            </a:r>
            <a:r>
              <a:rPr>
                <a:latin typeface="+mj-lt"/>
                <a:ea typeface="+mj-ea"/>
                <a:cs typeface="+mj-cs"/>
                <a:sym typeface="Arial"/>
              </a:rPr>
              <a:t>)|a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i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 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i</a:t>
            </a:r>
            <a:r>
              <a:rPr>
                <a:latin typeface="+mj-lt"/>
                <a:ea typeface="+mj-ea"/>
                <a:cs typeface="+mj-cs"/>
                <a:sym typeface="Arial"/>
              </a:rPr>
              <a:t>,for i=1,2,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>
                <a:latin typeface="+mj-lt"/>
                <a:ea typeface="+mj-ea"/>
                <a:cs typeface="+mj-cs"/>
                <a:sym typeface="Arial"/>
              </a:rPr>
              <a:t>,k+1}</a:t>
            </a:r>
            <a:r>
              <a:t>，由假设知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k</a:t>
            </a:r>
            <a:r>
              <a:t>是可数集合， 而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k+1</a:t>
            </a:r>
            <a:r>
              <a:t>也是可数集合，所以（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k</a:t>
            </a:r>
            <a:r>
              <a:t>）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 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25000">
                <a:latin typeface="+mj-lt"/>
                <a:ea typeface="+mj-ea"/>
                <a:cs typeface="+mj-cs"/>
                <a:sym typeface="Arial"/>
              </a:rPr>
              <a:t>k+1</a:t>
            </a:r>
            <a:r>
              <a:t>是可数集合。</a:t>
            </a:r>
          </a:p>
          <a:p>
            <a:pPr>
              <a:spcBef>
                <a:spcPts val="500"/>
              </a:spcBef>
              <a:defRPr sz="1400"/>
            </a:pPr>
            <a:r>
              <a:t>A</a:t>
            </a:r>
            <a:r>
              <a:rPr baseline="-30000"/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 A</a:t>
            </a:r>
            <a:r>
              <a:rPr baseline="-30000"/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A</a:t>
            </a:r>
            <a:r>
              <a:rPr baseline="-25000"/>
              <a:t>k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 </a:t>
            </a:r>
            <a:r>
              <a:t>A</a:t>
            </a:r>
            <a:r>
              <a:rPr baseline="-25000"/>
              <a:t>k+1 </a:t>
            </a:r>
            <a:r>
              <a:t>={(a</a:t>
            </a:r>
            <a:r>
              <a:rPr baseline="-25000"/>
              <a:t>1</a:t>
            </a:r>
            <a:r>
              <a:t>,a</a:t>
            </a:r>
            <a:r>
              <a:rPr baseline="-25000"/>
              <a:t>2</a:t>
            </a:r>
            <a:r>
              <a:t>,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t>a</a:t>
            </a:r>
            <a:r>
              <a:rPr baseline="-25000"/>
              <a:t>k</a:t>
            </a:r>
            <a:r>
              <a:t>,a</a:t>
            </a:r>
            <a:r>
              <a:rPr baseline="-25000"/>
              <a:t>k+1</a:t>
            </a:r>
            <a:r>
              <a:t>)|a</a:t>
            </a:r>
            <a:r>
              <a:rPr baseline="-25000"/>
              <a:t>i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A </a:t>
            </a:r>
            <a:r>
              <a:rPr baseline="-25000"/>
              <a:t>i</a:t>
            </a:r>
            <a:r>
              <a:t>,for i=1,2,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t>,k+1}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，显然可以与（</a:t>
            </a:r>
            <a:r>
              <a:t>A</a:t>
            </a:r>
            <a:r>
              <a:rPr baseline="-30000"/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 A</a:t>
            </a:r>
            <a:r>
              <a:rPr baseline="-30000"/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A</a:t>
            </a:r>
            <a:r>
              <a:rPr baseline="-25000"/>
              <a:t>k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 </a:t>
            </a:r>
            <a:r>
              <a:t>A</a:t>
            </a:r>
            <a:r>
              <a:rPr baseline="-25000"/>
              <a:t>k+1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建立</a:t>
            </a:r>
            <a:r>
              <a:t>1-1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映射。因此</a:t>
            </a:r>
            <a:r>
              <a:t>A</a:t>
            </a:r>
            <a:r>
              <a:rPr baseline="-30000"/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 A</a:t>
            </a:r>
            <a:r>
              <a:rPr baseline="-30000"/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t>A</a:t>
            </a:r>
            <a:r>
              <a:rPr baseline="-25000"/>
              <a:t>k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 </a:t>
            </a:r>
            <a:r>
              <a:t>A</a:t>
            </a:r>
            <a:r>
              <a:rPr baseline="-25000"/>
              <a:t>k+1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也是可数集合。</a:t>
            </a:r>
          </a:p>
          <a:p>
            <a:pPr>
              <a:spcBef>
                <a:spcPts val="500"/>
              </a:spcBef>
              <a:defRPr sz="1400">
                <a:latin typeface="宋体"/>
                <a:ea typeface="宋体"/>
                <a:cs typeface="宋体"/>
                <a:sym typeface="宋体"/>
              </a:defRPr>
            </a:pPr>
            <a:r>
              <a:t>故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×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n</a:t>
            </a:r>
            <a:r>
              <a:t>是可数集合。</a:t>
            </a:r>
          </a:p>
          <a:p>
            <a:r>
              <a:rPr>
                <a:latin typeface="宋体"/>
                <a:ea typeface="宋体"/>
                <a:cs typeface="宋体"/>
                <a:sym typeface="宋体"/>
              </a:rPr>
              <a:t>注：有限的</a:t>
            </a:r>
            <a:r>
              <a:t>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个集合直乘积。无限不行，有序</a:t>
            </a:r>
            <a:r>
              <a:t>n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元组的定义，必须有限。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6" name="Shape 3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我们已经看到了很多可数集合，都可以和自然数集合建立</a:t>
            </a:r>
            <a:r>
              <a:t>1-1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映射，那么存在不能和自然数集合建立</a:t>
            </a:r>
            <a:r>
              <a:t>1-1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映射的集合吗？也就是不可数集合吗？存在，下面我们看一个定理。</a:t>
            </a:r>
          </a:p>
          <a:p>
            <a:r>
              <a:rPr>
                <a:latin typeface="宋体"/>
                <a:ea typeface="宋体"/>
                <a:cs typeface="宋体"/>
                <a:sym typeface="宋体"/>
              </a:rPr>
              <a:t>不可数集合的基数也不是一样的，有大有小。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5" name="Shape 3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1400"/>
            </a:pPr>
            <a:r>
              <a:rPr>
                <a:latin typeface="宋体"/>
                <a:ea typeface="宋体"/>
                <a:cs typeface="宋体"/>
                <a:sym typeface="宋体"/>
              </a:rPr>
              <a:t>定理</a:t>
            </a:r>
            <a:r>
              <a:t>1.3.2 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可数集合的子集仍为可数集合。其逆否命题：若某集合的一个子集是不可数集合，则该集合也是不可数集合。</a:t>
            </a:r>
          </a:p>
          <a:p>
            <a:pPr>
              <a:spcBef>
                <a:spcPts val="500"/>
              </a:spcBef>
              <a:defRPr sz="1400"/>
            </a:pPr>
            <a:r>
              <a:rPr>
                <a:latin typeface="宋体"/>
                <a:ea typeface="宋体"/>
                <a:cs typeface="宋体"/>
                <a:sym typeface="宋体"/>
              </a:rPr>
              <a:t>反证法：假设（</a:t>
            </a:r>
            <a:r>
              <a:t>2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）式这个序列与自然数集合可以建立一一映射。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如何证明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[0,1]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等浓？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doc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文档的图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相当于实数的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轴（而不是可数集合的排队队列，那是离散的。实数的直线是连续的），取一段为区间，做如图的线性变换即可得到一一映射。</a:t>
            </a:r>
            <a:r>
              <a:rPr lang="zh-CN" altLang="zh-CN">
                <a:effectLst/>
              </a:rPr>
              <a:t> 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82683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6" name="Shape 3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实数集合</a:t>
            </a:r>
            <a:r>
              <a:t>R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的基数记为</a:t>
            </a:r>
            <a:r>
              <a:t>c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6" name="Shape 4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宋体"/>
                <a:ea typeface="宋体"/>
                <a:cs typeface="宋体"/>
                <a:sym typeface="宋体"/>
              </a:rPr>
              <a:t>对于有限集合，显然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，</a:t>
            </a:r>
            <a:r>
              <a:rPr dirty="0"/>
              <a:t>|A|&lt;|2</a:t>
            </a:r>
            <a:r>
              <a:rPr baseline="30000" dirty="0"/>
              <a:t>A</a:t>
            </a:r>
            <a:r>
              <a:rPr dirty="0"/>
              <a:t>|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；</a:t>
            </a:r>
          </a:p>
          <a:p>
            <a:r>
              <a:rPr dirty="0">
                <a:latin typeface="宋体"/>
                <a:ea typeface="宋体"/>
                <a:cs typeface="宋体"/>
                <a:sym typeface="宋体"/>
              </a:rPr>
              <a:t>对于无穷集合，由定义</a:t>
            </a:r>
            <a:r>
              <a:rPr dirty="0"/>
              <a:t>1.3.7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，有</a:t>
            </a:r>
            <a:r>
              <a:rPr dirty="0"/>
              <a:t>|A|&lt;=|2</a:t>
            </a:r>
            <a:r>
              <a:rPr baseline="30000" dirty="0"/>
              <a:t>A</a:t>
            </a:r>
            <a:r>
              <a:rPr dirty="0"/>
              <a:t>|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这个定理要说明不等于，只是小于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rPr dirty="0" err="1">
                <a:latin typeface="宋体"/>
                <a:ea typeface="宋体"/>
                <a:cs typeface="宋体"/>
                <a:sym typeface="宋体"/>
              </a:rPr>
              <a:t>关于</a:t>
            </a:r>
            <a:r>
              <a:rPr dirty="0" err="1"/>
              <a:t>B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这个集合：</a:t>
            </a:r>
            <a:r>
              <a:rPr dirty="0" err="1"/>
              <a:t>B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是</a:t>
            </a:r>
            <a:r>
              <a:rPr dirty="0" err="1"/>
              <a:t>A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的子集，因为有</a:t>
            </a:r>
            <a:r>
              <a:rPr dirty="0" err="1"/>
              <a:t>x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属于</a:t>
            </a:r>
            <a:r>
              <a:rPr dirty="0" err="1"/>
              <a:t>A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。这个集合一定是存在的。见</a:t>
            </a:r>
            <a:r>
              <a:rPr dirty="0" err="1"/>
              <a:t>doc</a:t>
            </a:r>
            <a:r>
              <a:rPr dirty="0" err="1">
                <a:latin typeface="宋体"/>
                <a:ea typeface="宋体"/>
                <a:cs typeface="宋体"/>
                <a:sym typeface="宋体"/>
              </a:rPr>
              <a:t>文档中的图</a:t>
            </a:r>
            <a:r>
              <a:rPr dirty="0">
                <a:latin typeface="宋体"/>
                <a:ea typeface="宋体"/>
                <a:cs typeface="宋体"/>
                <a:sym typeface="宋体"/>
              </a:rPr>
              <a:t>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41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6" name="Shape 41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宋体"/>
                <a:ea typeface="宋体"/>
                <a:cs typeface="宋体"/>
                <a:sym typeface="宋体"/>
              </a:rPr>
              <a:t>到阿列夫</a:t>
            </a:r>
            <a:r>
              <a:t>0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为止，是可数集合，之后都是不可数。阿列夫</a:t>
            </a:r>
            <a:r>
              <a:t>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为</a:t>
            </a:r>
            <a:r>
              <a:t>c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。</a:t>
            </a:r>
          </a:p>
          <a:p>
            <a:r>
              <a:rPr>
                <a:latin typeface="宋体"/>
                <a:ea typeface="宋体"/>
                <a:cs typeface="宋体"/>
                <a:sym typeface="宋体"/>
              </a:rPr>
              <a:t>现在已经证明：证明连续统假设成立是不可能的；证明它不成立也是不可能的。因此，所谓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连续统问题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在现在的数学理论框架中是不能判定的。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5562"/>
            <a:ext cx="9144000" cy="2992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70325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/>
          <p:nvPr/>
        </p:nvSpPr>
        <p:spPr>
          <a:xfrm>
            <a:off x="-1" y="2652712"/>
            <a:ext cx="9144002" cy="22860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5" name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5562"/>
            <a:ext cx="9144000" cy="2992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70325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Shape 35"/>
          <p:cNvSpPr/>
          <p:nvPr/>
        </p:nvSpPr>
        <p:spPr>
          <a:xfrm>
            <a:off x="-1" y="2652712"/>
            <a:ext cx="9144002" cy="22860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6" name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Shape 37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标题文本</a:t>
            </a:r>
          </a:p>
        </p:txBody>
      </p:sp>
      <p:sp>
        <p:nvSpPr>
          <p:cNvPr id="38" name="Shape 38"/>
          <p:cNvSpPr>
            <a:spLocks noGrp="1"/>
          </p:cNvSpPr>
          <p:nvPr>
            <p:ph type="body" sz="half" idx="1"/>
          </p:nvPr>
        </p:nvSpPr>
        <p:spPr>
          <a:xfrm>
            <a:off x="1143000" y="731837"/>
            <a:ext cx="6400800" cy="3475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5562"/>
            <a:ext cx="9144000" cy="2992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70325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Shape 48"/>
          <p:cNvSpPr/>
          <p:nvPr/>
        </p:nvSpPr>
        <p:spPr>
          <a:xfrm>
            <a:off x="-1" y="2652712"/>
            <a:ext cx="9144002" cy="2286001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9" name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hape 50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标题文本</a:t>
            </a:r>
          </a:p>
        </p:txBody>
      </p:sp>
      <p:sp>
        <p:nvSpPr>
          <p:cNvPr id="51" name="Shape 51"/>
          <p:cNvSpPr>
            <a:spLocks noGrp="1"/>
          </p:cNvSpPr>
          <p:nvPr>
            <p:ph type="body" sz="half" idx="1"/>
          </p:nvPr>
        </p:nvSpPr>
        <p:spPr>
          <a:xfrm>
            <a:off x="1143000" y="731837"/>
            <a:ext cx="6400800" cy="3475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102225"/>
            <a:ext cx="9144000" cy="1755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4"/>
          <p:cNvSpPr/>
          <p:nvPr/>
        </p:nvSpPr>
        <p:spPr>
          <a:xfrm>
            <a:off x="-1" y="3768724"/>
            <a:ext cx="9144002" cy="2286002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35000">
                <a:srgbClr val="B4DCFA">
                  <a:alpha val="0"/>
                </a:srgbClr>
              </a:gs>
              <a:gs pos="44999">
                <a:srgbClr val="FFFFFF">
                  <a:alpha val="0"/>
                </a:srgbClr>
              </a:gs>
              <a:gs pos="55000">
                <a:srgbClr val="B4DCFA">
                  <a:alpha val="0"/>
                </a:srgbClr>
              </a:gs>
              <a:gs pos="7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597025"/>
            <a:ext cx="9144000" cy="510857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6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标题文本</a:t>
            </a:r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*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3190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7762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12334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16906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2147887" marR="0" indent="-319087" algn="r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C3260C"/>
        </a:buClr>
        <a:buSzPct val="128000"/>
        <a:buFont typeface="Georgia"/>
        <a:buChar char=""/>
        <a:tabLst/>
        <a:defRPr sz="4600" b="1" i="0" u="none" strike="noStrike" cap="none" spc="0" baseline="0">
          <a:ln>
            <a:noFill/>
          </a:ln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228600" marR="0" indent="-182562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565943" marR="0" indent="-20081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862894" marR="0" indent="-223131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1165423" marR="0" indent="-251023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1493383" marR="0" indent="-286883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*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1950584" marR="0" indent="-286884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2407784" marR="0" indent="-286884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2864984" marR="0" indent="-286884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3322184" marR="0" indent="-286884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rgbClr val="C3260C"/>
        </a:buClr>
        <a:buSzPct val="130000"/>
        <a:buFont typeface="Georgia"/>
        <a:buChar char=""/>
        <a:tabLst/>
        <a:defRPr sz="2200" b="0" i="0" u="none" strike="noStrike" cap="none" spc="0" baseline="0">
          <a:ln>
            <a:noFill/>
          </a:ln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9pPr>
    </p:bodyStyle>
    <p:other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7.emf"/><Relationship Id="rId4" Type="http://schemas.openxmlformats.org/officeDocument/2006/relationships/oleObject" Target="../embeddings/oleObject2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3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56.png"/><Relationship Id="rId7" Type="http://schemas.openxmlformats.org/officeDocument/2006/relationships/image" Target="../media/image5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3.emf"/><Relationship Id="rId10" Type="http://schemas.openxmlformats.org/officeDocument/2006/relationships/image" Target="../media/image57.tiff"/><Relationship Id="rId4" Type="http://schemas.openxmlformats.org/officeDocument/2006/relationships/oleObject" Target="../embeddings/oleObject4.bin"/><Relationship Id="rId9" Type="http://schemas.openxmlformats.org/officeDocument/2006/relationships/image" Target="../media/image55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63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</a:t>
            </a:fld>
            <a:endParaRPr/>
          </a:p>
        </p:txBody>
      </p:sp>
      <p:pic>
        <p:nvPicPr>
          <p:cNvPr id="62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5" y="2206625"/>
            <a:ext cx="6338888" cy="20177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body" sz="half" idx="4294967295"/>
          </p:nvPr>
        </p:nvSpPr>
        <p:spPr>
          <a:xfrm>
            <a:off x="209550" y="271462"/>
            <a:ext cx="8683625" cy="27257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4027" indent="-178911" defTabSz="896111">
              <a:spcBef>
                <a:spcPts val="700"/>
              </a:spcBef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在许多情况下，我们都会为一个集合的每个元素指派另一个集合的一个特定元素。</a:t>
            </a:r>
          </a:p>
          <a:p>
            <a:pPr marL="224027" indent="-178911" defTabSz="896111">
              <a:spcBef>
                <a:spcPts val="700"/>
              </a:spcBef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如：离散数学课的每个学生对应着</a:t>
            </a:r>
            <a:r>
              <a:t>{A,B,C,D,E}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中的一个是他的成绩得分。假定的一种得分如图：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2333625" y="2997200"/>
            <a:ext cx="4006850" cy="3367088"/>
            <a:chOff x="0" y="0"/>
            <a:chExt cx="4006850" cy="3367087"/>
          </a:xfrm>
        </p:grpSpPr>
        <p:sp>
          <p:nvSpPr>
            <p:cNvPr id="68" name="Shape 68"/>
            <p:cNvSpPr/>
            <p:nvPr/>
          </p:nvSpPr>
          <p:spPr>
            <a:xfrm>
              <a:off x="576262" y="0"/>
              <a:ext cx="863601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Jane</a:t>
              </a:r>
            </a:p>
          </p:txBody>
        </p:sp>
        <p:sp>
          <p:nvSpPr>
            <p:cNvPr id="69" name="Shape 69"/>
            <p:cNvSpPr/>
            <p:nvPr/>
          </p:nvSpPr>
          <p:spPr>
            <a:xfrm>
              <a:off x="177800" y="1441450"/>
              <a:ext cx="1255713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Lauren</a:t>
              </a:r>
            </a:p>
          </p:txBody>
        </p:sp>
        <p:sp>
          <p:nvSpPr>
            <p:cNvPr id="70" name="Shape 70"/>
            <p:cNvSpPr/>
            <p:nvPr/>
          </p:nvSpPr>
          <p:spPr>
            <a:xfrm>
              <a:off x="0" y="720725"/>
              <a:ext cx="1398191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Stevens</a:t>
              </a:r>
            </a:p>
          </p:txBody>
        </p:sp>
        <p:sp>
          <p:nvSpPr>
            <p:cNvPr id="71" name="Shape 71"/>
            <p:cNvSpPr/>
            <p:nvPr/>
          </p:nvSpPr>
          <p:spPr>
            <a:xfrm>
              <a:off x="287337" y="2178050"/>
              <a:ext cx="1074738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Sunny</a:t>
              </a:r>
            </a:p>
          </p:txBody>
        </p:sp>
        <p:sp>
          <p:nvSpPr>
            <p:cNvPr id="72" name="Shape 72"/>
            <p:cNvSpPr/>
            <p:nvPr/>
          </p:nvSpPr>
          <p:spPr>
            <a:xfrm>
              <a:off x="604837" y="2881312"/>
              <a:ext cx="826096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Jack</a:t>
              </a:r>
            </a:p>
          </p:txBody>
        </p:sp>
        <p:sp>
          <p:nvSpPr>
            <p:cNvPr id="73" name="Shape 73"/>
            <p:cNvSpPr/>
            <p:nvPr/>
          </p:nvSpPr>
          <p:spPr>
            <a:xfrm>
              <a:off x="3744912" y="17462"/>
              <a:ext cx="252413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A</a:t>
              </a:r>
            </a:p>
          </p:txBody>
        </p:sp>
        <p:sp>
          <p:nvSpPr>
            <p:cNvPr id="74" name="Shape 74"/>
            <p:cNvSpPr/>
            <p:nvPr/>
          </p:nvSpPr>
          <p:spPr>
            <a:xfrm>
              <a:off x="3744912" y="736600"/>
              <a:ext cx="242690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B</a:t>
              </a:r>
            </a:p>
          </p:txBody>
        </p:sp>
        <p:sp>
          <p:nvSpPr>
            <p:cNvPr id="75" name="Shape 75"/>
            <p:cNvSpPr/>
            <p:nvPr/>
          </p:nvSpPr>
          <p:spPr>
            <a:xfrm>
              <a:off x="3744912" y="1457325"/>
              <a:ext cx="255787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C</a:t>
              </a:r>
            </a:p>
          </p:txBody>
        </p:sp>
        <p:sp>
          <p:nvSpPr>
            <p:cNvPr id="76" name="Shape 76"/>
            <p:cNvSpPr/>
            <p:nvPr/>
          </p:nvSpPr>
          <p:spPr>
            <a:xfrm>
              <a:off x="3744912" y="2193925"/>
              <a:ext cx="261938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D</a:t>
              </a:r>
            </a:p>
          </p:txBody>
        </p:sp>
        <p:sp>
          <p:nvSpPr>
            <p:cNvPr id="77" name="Shape 77"/>
            <p:cNvSpPr/>
            <p:nvPr/>
          </p:nvSpPr>
          <p:spPr>
            <a:xfrm>
              <a:off x="3751262" y="2897187"/>
              <a:ext cx="230387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sz="3200"/>
              </a:lvl1pPr>
            </a:lstStyle>
            <a:p>
              <a:r>
                <a:t>E</a:t>
              </a:r>
            </a:p>
          </p:txBody>
        </p:sp>
        <p:sp>
          <p:nvSpPr>
            <p:cNvPr id="78" name="Shape 78"/>
            <p:cNvSpPr/>
            <p:nvPr/>
          </p:nvSpPr>
          <p:spPr>
            <a:xfrm>
              <a:off x="1512887" y="288925"/>
              <a:ext cx="2232026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Shape 79"/>
            <p:cNvSpPr/>
            <p:nvPr/>
          </p:nvSpPr>
          <p:spPr>
            <a:xfrm>
              <a:off x="1512887" y="1009650"/>
              <a:ext cx="2232026" cy="7191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Shape 80"/>
            <p:cNvSpPr/>
            <p:nvPr/>
          </p:nvSpPr>
          <p:spPr>
            <a:xfrm flipV="1">
              <a:off x="1439862" y="1009650"/>
              <a:ext cx="2305051" cy="7191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Shape 81"/>
            <p:cNvSpPr/>
            <p:nvPr/>
          </p:nvSpPr>
          <p:spPr>
            <a:xfrm flipV="1">
              <a:off x="1439862" y="360362"/>
              <a:ext cx="2232026" cy="208915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Shape 82"/>
            <p:cNvSpPr/>
            <p:nvPr/>
          </p:nvSpPr>
          <p:spPr>
            <a:xfrm>
              <a:off x="1439862" y="3168650"/>
              <a:ext cx="230505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1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88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" y="182562"/>
            <a:ext cx="8985250" cy="1420813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Shape 89"/>
          <p:cNvSpPr>
            <a:spLocks noGrp="1"/>
          </p:cNvSpPr>
          <p:nvPr>
            <p:ph type="body" idx="4294967295"/>
          </p:nvPr>
        </p:nvSpPr>
        <p:spPr>
          <a:xfrm>
            <a:off x="225425" y="1636712"/>
            <a:ext cx="8523288" cy="438467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4027" indent="-178911" defTabSz="896111">
              <a:lnSpc>
                <a:spcPct val="90000"/>
              </a:lnSpc>
              <a:spcBef>
                <a:spcPts val="700"/>
              </a:spcBef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是两个集合，若对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</a:t>
            </a:r>
            <a:r>
              <a:rPr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每个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元素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，规定了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</a:t>
            </a:r>
            <a:r>
              <a:rPr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一个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确定元素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与之对应，则称此对应为由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内的一个映射。 </a:t>
            </a:r>
          </a:p>
          <a:p>
            <a:pPr marL="224027" indent="-178911" defTabSz="896111">
              <a:lnSpc>
                <a:spcPct val="90000"/>
              </a:lnSpc>
              <a:spcBef>
                <a:spcPts val="700"/>
              </a:spcBef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将此映射记为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，于是对任意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(a)=b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表示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中与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对应之元素，称为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的映象</a:t>
            </a:r>
            <a:r>
              <a:t>(</a:t>
            </a:r>
            <a:r>
              <a:rPr i="1"/>
              <a:t>image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称为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的原象</a:t>
            </a:r>
            <a:r>
              <a:t>(</a:t>
            </a:r>
            <a:r>
              <a:rPr i="1"/>
              <a:t>pre-image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 。集合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称为映射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的定义域</a:t>
            </a:r>
            <a:r>
              <a:t>(</a:t>
            </a:r>
            <a:r>
              <a:rPr i="1"/>
              <a:t>domain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 。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(A)={b |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(a)=b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A}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，称为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的值域</a:t>
            </a:r>
            <a:r>
              <a:t>(</a:t>
            </a:r>
            <a:r>
              <a:rPr i="1"/>
              <a:t>range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，或象的集合。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94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-30163"/>
            <a:ext cx="8937626" cy="1358901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Shape 95"/>
          <p:cNvSpPr>
            <a:spLocks noGrp="1"/>
          </p:cNvSpPr>
          <p:nvPr>
            <p:ph type="body" sz="quarter" idx="4294967295"/>
          </p:nvPr>
        </p:nvSpPr>
        <p:spPr>
          <a:xfrm>
            <a:off x="125412" y="1268412"/>
            <a:ext cx="8839201" cy="13716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 algn="just">
              <a:spcBef>
                <a:spcPts val="700"/>
              </a:spcBef>
              <a:buFont typeface="Wingdings"/>
              <a:buChar char="➢"/>
              <a:defRPr sz="3200"/>
            </a:pPr>
            <a:r>
              <a:rPr>
                <a:latin typeface="华文新魏"/>
                <a:ea typeface="华文新魏"/>
                <a:cs typeface="华文新魏"/>
                <a:sym typeface="华文新魏"/>
              </a:rPr>
              <a:t>设</a:t>
            </a:r>
            <a:r>
              <a:t>A={1,2,3,4,5,6},B={a,b,c,d},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</a:t>
            </a:r>
            <a:r>
              <a:rPr>
                <a:latin typeface="华文新魏"/>
                <a:ea typeface="华文新魏"/>
                <a:cs typeface="华文新魏"/>
                <a:sym typeface="华文新魏"/>
              </a:rPr>
              <a:t>的映射。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2617787" y="2427287"/>
            <a:ext cx="3741451" cy="3930016"/>
            <a:chOff x="0" y="0"/>
            <a:chExt cx="3741449" cy="3930015"/>
          </a:xfrm>
        </p:grpSpPr>
        <p:sp>
          <p:nvSpPr>
            <p:cNvPr id="96" name="Shape 96"/>
            <p:cNvSpPr/>
            <p:nvPr/>
          </p:nvSpPr>
          <p:spPr>
            <a:xfrm>
              <a:off x="15875" y="638174"/>
              <a:ext cx="481643" cy="329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1</a:t>
              </a:r>
            </a:p>
            <a:p>
              <a:pPr>
                <a:defRPr sz="3600"/>
              </a:pPr>
              <a:r>
                <a:t>2</a:t>
              </a:r>
            </a:p>
            <a:p>
              <a:pPr>
                <a:defRPr sz="3600"/>
              </a:pPr>
              <a:r>
                <a:t>3</a:t>
              </a:r>
            </a:p>
            <a:p>
              <a:pPr>
                <a:defRPr sz="3600"/>
              </a:pPr>
              <a:r>
                <a:t>4</a:t>
              </a:r>
            </a:p>
            <a:p>
              <a:pPr>
                <a:defRPr sz="3600"/>
              </a:pPr>
              <a:r>
                <a:t>5</a:t>
              </a:r>
            </a:p>
            <a:p>
              <a:pPr>
                <a:defRPr sz="3600"/>
              </a:pPr>
              <a:r>
                <a:t>6</a:t>
              </a:r>
            </a:p>
          </p:txBody>
        </p:sp>
        <p:sp>
          <p:nvSpPr>
            <p:cNvPr id="97" name="Shape 97"/>
            <p:cNvSpPr/>
            <p:nvPr/>
          </p:nvSpPr>
          <p:spPr>
            <a:xfrm>
              <a:off x="3244850" y="530224"/>
              <a:ext cx="496600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a</a:t>
              </a:r>
            </a:p>
            <a:p>
              <a:pPr>
                <a:defRPr sz="3600"/>
              </a:pPr>
              <a:r>
                <a:t>b</a:t>
              </a:r>
            </a:p>
            <a:p>
              <a:pPr>
                <a:defRPr sz="3600"/>
              </a:pPr>
              <a:r>
                <a:t>c</a:t>
              </a:r>
            </a:p>
            <a:p>
              <a:pPr>
                <a:defRPr sz="3600"/>
              </a:pPr>
              <a:r>
                <a:t>d</a:t>
              </a:r>
            </a:p>
          </p:txBody>
        </p:sp>
        <p:sp>
          <p:nvSpPr>
            <p:cNvPr id="98" name="Shape 98"/>
            <p:cNvSpPr/>
            <p:nvPr/>
          </p:nvSpPr>
          <p:spPr>
            <a:xfrm>
              <a:off x="457200" y="9172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Shape 99"/>
            <p:cNvSpPr/>
            <p:nvPr/>
          </p:nvSpPr>
          <p:spPr>
            <a:xfrm>
              <a:off x="457200" y="14506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Shape 100"/>
            <p:cNvSpPr/>
            <p:nvPr/>
          </p:nvSpPr>
          <p:spPr>
            <a:xfrm flipV="1">
              <a:off x="457200" y="1525587"/>
              <a:ext cx="2819401" cy="53340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457200" y="25174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 flipV="1">
              <a:off x="457200" y="2592387"/>
              <a:ext cx="2819401" cy="53340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0" y="0"/>
              <a:ext cx="373817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104" name="Shape 104"/>
            <p:cNvSpPr/>
            <p:nvPr/>
          </p:nvSpPr>
          <p:spPr>
            <a:xfrm>
              <a:off x="3168650" y="0"/>
              <a:ext cx="362878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105" name="Shape 105"/>
            <p:cNvSpPr/>
            <p:nvPr/>
          </p:nvSpPr>
          <p:spPr>
            <a:xfrm flipV="1">
              <a:off x="457200" y="2668587"/>
              <a:ext cx="2819401" cy="99060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11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-42863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hape 112"/>
          <p:cNvSpPr>
            <a:spLocks noGrp="1"/>
          </p:cNvSpPr>
          <p:nvPr>
            <p:ph type="body" idx="4294967295"/>
          </p:nvPr>
        </p:nvSpPr>
        <p:spPr>
          <a:xfrm>
            <a:off x="209550" y="1123950"/>
            <a:ext cx="8610600" cy="53292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5612" indent="-455612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X={1,2,3,4}, Y={5,6,7,8,9}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455612" indent="-455612">
              <a:lnSpc>
                <a:spcPct val="90000"/>
              </a:lnSpc>
              <a:spcBef>
                <a:spcPts val="4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endParaRPr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455612" indent="-455612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f={(1,5),(1,6),(2,7),(3,8),(4,9)}</a:t>
            </a:r>
          </a:p>
          <a:p>
            <a:pPr marL="455612" indent="-455612">
              <a:lnSpc>
                <a:spcPct val="90000"/>
              </a:lnSpc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	不是从</a:t>
            </a:r>
            <a: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Y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的映射，因为有多个</a:t>
            </a:r>
            <a:r>
              <a:t>y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属于</a:t>
            </a:r>
            <a:r>
              <a:t>Y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，使得</a:t>
            </a:r>
            <a:r>
              <a:t>(1, y)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属于</a:t>
            </a:r>
            <a:r>
              <a:t>f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455612" indent="-455612">
              <a:lnSpc>
                <a:spcPct val="90000"/>
              </a:lnSpc>
              <a:spcBef>
                <a:spcPts val="4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endParaRPr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455612" indent="-455612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g={(1,5),(2,6),(4,7)}</a:t>
            </a:r>
          </a:p>
          <a:p>
            <a:pPr marL="455612" indent="-455612">
              <a:lnSpc>
                <a:spcPct val="90000"/>
              </a:lnSpc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	不是从</a:t>
            </a:r>
            <a: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Y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的映射，因为对</a:t>
            </a:r>
            <a: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中的某些元素，</a:t>
            </a:r>
            <a:r>
              <a:t>Y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中没有与之对应的元素。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1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115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30162"/>
            <a:ext cx="8937626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Shape 116"/>
          <p:cNvSpPr>
            <a:spLocks noGrp="1"/>
          </p:cNvSpPr>
          <p:nvPr>
            <p:ph type="body" idx="4294967295"/>
          </p:nvPr>
        </p:nvSpPr>
        <p:spPr>
          <a:xfrm>
            <a:off x="250825" y="981075"/>
            <a:ext cx="8683625" cy="53276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96596" indent="-157003" defTabSz="786384">
              <a:spcBef>
                <a:spcPts val="600"/>
              </a:spcBef>
              <a:defRPr sz="2752"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 dirty="0" err="1"/>
              <a:t>A</a:t>
            </a:r>
            <a:r>
              <a:rPr dirty="0"/>
              <a:t>={</a:t>
            </a:r>
            <a:r>
              <a:rPr dirty="0" err="1"/>
              <a:t>a,b</a:t>
            </a:r>
            <a:r>
              <a:rPr dirty="0"/>
              <a:t>}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/>
              <a:t>B={1,2}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请分别写出</a:t>
            </a:r>
            <a:r>
              <a:rPr dirty="0" err="1"/>
              <a:t>A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的不同关系和不同映射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196596" indent="-157003" defTabSz="786384">
              <a:spcBef>
                <a:spcPts val="600"/>
              </a:spcBef>
              <a:defRPr sz="2752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解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  <a:r>
              <a:rPr dirty="0">
                <a:solidFill>
                  <a:srgbClr val="404040"/>
                </a:solidFill>
              </a:rPr>
              <a:t>|A|=2, |B|=2, 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所以</a:t>
            </a:r>
            <a:r>
              <a:rPr dirty="0" err="1">
                <a:solidFill>
                  <a:srgbClr val="404040"/>
                </a:solidFill>
              </a:rPr>
              <a:t>|A×B</a:t>
            </a:r>
            <a:r>
              <a:rPr dirty="0">
                <a:solidFill>
                  <a:srgbClr val="404040"/>
                </a:solidFill>
              </a:rPr>
              <a:t>|=4</a:t>
            </a:r>
            <a:br>
              <a:rPr dirty="0">
                <a:solidFill>
                  <a:srgbClr val="404040"/>
                </a:solidFill>
              </a:rPr>
            </a:br>
            <a:r>
              <a:rPr dirty="0">
                <a:solidFill>
                  <a:srgbClr val="404040"/>
                </a:solidFill>
              </a:rPr>
              <a:t>A×B={(a,1),(a,2),(b,1),(b,2)}</a:t>
            </a:r>
          </a:p>
          <a:p>
            <a:pPr marL="157003" indent="-117411" defTabSz="786384">
              <a:spcBef>
                <a:spcPts val="600"/>
              </a:spcBef>
              <a:buSzTx/>
              <a:buNone/>
              <a:defRPr sz="2752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	从</a:t>
            </a:r>
            <a:r>
              <a:rPr dirty="0"/>
              <a:t>A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 dirty="0"/>
              <a:t>B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的不同关系有</a:t>
            </a:r>
            <a:r>
              <a:rPr dirty="0"/>
              <a:t>2</a:t>
            </a:r>
            <a:r>
              <a:rPr baseline="29674" dirty="0"/>
              <a:t>4</a:t>
            </a:r>
            <a:r>
              <a:rPr dirty="0"/>
              <a:t>=16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个</a:t>
            </a:r>
            <a:r>
              <a:rPr dirty="0"/>
              <a:t>,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分别如下：</a:t>
            </a:r>
            <a:br>
              <a:rPr dirty="0"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rPr dirty="0"/>
              <a:t>R</a:t>
            </a:r>
            <a:r>
              <a:rPr baseline="-28093" dirty="0"/>
              <a:t>0</a:t>
            </a:r>
            <a:r>
              <a:rPr dirty="0"/>
              <a:t>=</a:t>
            </a:r>
            <a:r>
              <a:rPr lang="en-US" altLang="zh-CN" sz="28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</a:t>
            </a:r>
            <a:r>
              <a:rPr dirty="0"/>
              <a:t>; R</a:t>
            </a:r>
            <a:r>
              <a:rPr baseline="-28093" dirty="0"/>
              <a:t>1</a:t>
            </a:r>
            <a:r>
              <a:rPr dirty="0"/>
              <a:t>={(a,1)}; R</a:t>
            </a:r>
            <a:r>
              <a:rPr baseline="-28093" dirty="0"/>
              <a:t>2</a:t>
            </a:r>
            <a:r>
              <a:rPr dirty="0"/>
              <a:t>={(a,2)}……</a:t>
            </a:r>
            <a:br>
              <a:rPr dirty="0"/>
            </a:br>
            <a:r>
              <a:rPr dirty="0"/>
              <a:t>R</a:t>
            </a:r>
            <a:r>
              <a:rPr baseline="-28093" dirty="0"/>
              <a:t>15</a:t>
            </a:r>
            <a:r>
              <a:rPr dirty="0"/>
              <a:t>={(a,1),(a,2),(b,1),(b,2)}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157003" indent="-117411" defTabSz="786384">
              <a:spcBef>
                <a:spcPts val="600"/>
              </a:spcBef>
              <a:buSzTx/>
              <a:buNone/>
              <a:defRPr sz="2752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	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从</a:t>
            </a:r>
            <a:r>
              <a:rPr dirty="0" err="1"/>
              <a:t>A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的不同映射仅有</a:t>
            </a:r>
            <a:r>
              <a:rPr lang="en" altLang="zh-CN" sz="3200" dirty="0">
                <a:sym typeface="Arial"/>
              </a:rPr>
              <a:t>|B|</a:t>
            </a:r>
            <a:r>
              <a:rPr lang="en" altLang="zh-CN" sz="3200" baseline="30000" dirty="0">
                <a:sym typeface="Arial"/>
              </a:rPr>
              <a:t>|A| </a:t>
            </a:r>
            <a:r>
              <a:rPr lang="zh-CN" altLang="en-US" dirty="0"/>
              <a:t>个，即</a:t>
            </a:r>
            <a:r>
              <a:rPr lang="en-US" altLang="zh-CN" dirty="0"/>
              <a:t>2</a:t>
            </a:r>
            <a:r>
              <a:rPr baseline="29674" dirty="0"/>
              <a:t>2</a:t>
            </a:r>
            <a:r>
              <a:rPr dirty="0"/>
              <a:t>=4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个</a:t>
            </a:r>
            <a:r>
              <a:rPr dirty="0"/>
              <a:t>,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分别如下</a:t>
            </a:r>
            <a:br>
              <a:rPr dirty="0"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rPr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baseline="-28093" dirty="0"/>
              <a:t>1</a:t>
            </a:r>
            <a:r>
              <a:rPr dirty="0"/>
              <a:t>={(a,1),(b,1)}; 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baseline="-28093" dirty="0"/>
              <a:t>2</a:t>
            </a:r>
            <a:r>
              <a:rPr dirty="0"/>
              <a:t>={(a,1),(b,2)};</a:t>
            </a:r>
            <a:br>
              <a:rPr dirty="0"/>
            </a:br>
            <a:r>
              <a:rPr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baseline="-28093" dirty="0"/>
              <a:t>3</a:t>
            </a:r>
            <a:r>
              <a:rPr dirty="0"/>
              <a:t>={(a,2),(b,1)}; 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baseline="-28093" dirty="0"/>
              <a:t>4</a:t>
            </a:r>
            <a:r>
              <a:rPr dirty="0"/>
              <a:t>={(a,2),(b,2)}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121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176212"/>
            <a:ext cx="8212138" cy="142081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Shape 122"/>
          <p:cNvSpPr>
            <a:spLocks noGrp="1"/>
          </p:cNvSpPr>
          <p:nvPr>
            <p:ph type="body" sz="half" idx="4294967295"/>
          </p:nvPr>
        </p:nvSpPr>
        <p:spPr>
          <a:xfrm>
            <a:off x="250825" y="1412875"/>
            <a:ext cx="8569325" cy="244792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700"/>
              </a:spcBef>
              <a:defRPr sz="3200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内的映射，如果</a:t>
            </a:r>
            <a:r>
              <a:rPr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中每一个元素都一定是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中某元素的映象，就称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上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的映射（满射）。特别，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上的映射，称为变换。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25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-42863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hape 126"/>
          <p:cNvSpPr>
            <a:spLocks noGrp="1"/>
          </p:cNvSpPr>
          <p:nvPr>
            <p:ph type="body" sz="quarter" idx="4294967295"/>
          </p:nvPr>
        </p:nvSpPr>
        <p:spPr>
          <a:xfrm>
            <a:off x="179387" y="1196975"/>
            <a:ext cx="8839201" cy="1371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 algn="just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A={1,2,3,4,5,6},B={a,b,c,d},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的映射</a:t>
            </a:r>
            <a:r>
              <a:t>(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满射</a:t>
            </a:r>
            <a:r>
              <a:t>)</a:t>
            </a:r>
          </a:p>
        </p:txBody>
      </p:sp>
      <p:grpSp>
        <p:nvGrpSpPr>
          <p:cNvPr id="137" name="Group 137"/>
          <p:cNvGrpSpPr/>
          <p:nvPr/>
        </p:nvGrpSpPr>
        <p:grpSpPr>
          <a:xfrm>
            <a:off x="2627312" y="2355850"/>
            <a:ext cx="3741451" cy="3930016"/>
            <a:chOff x="0" y="0"/>
            <a:chExt cx="3741449" cy="3930015"/>
          </a:xfrm>
        </p:grpSpPr>
        <p:sp>
          <p:nvSpPr>
            <p:cNvPr id="127" name="Shape 127"/>
            <p:cNvSpPr/>
            <p:nvPr/>
          </p:nvSpPr>
          <p:spPr>
            <a:xfrm>
              <a:off x="15875" y="638174"/>
              <a:ext cx="481643" cy="329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1</a:t>
              </a:r>
            </a:p>
            <a:p>
              <a:pPr>
                <a:defRPr sz="3600"/>
              </a:pPr>
              <a:r>
                <a:t>2</a:t>
              </a:r>
            </a:p>
            <a:p>
              <a:pPr>
                <a:defRPr sz="3600"/>
              </a:pPr>
              <a:r>
                <a:t>3</a:t>
              </a:r>
            </a:p>
            <a:p>
              <a:pPr>
                <a:defRPr sz="3600"/>
              </a:pPr>
              <a:r>
                <a:t>4</a:t>
              </a:r>
            </a:p>
            <a:p>
              <a:pPr>
                <a:defRPr sz="3600"/>
              </a:pPr>
              <a:r>
                <a:t>5</a:t>
              </a:r>
            </a:p>
            <a:p>
              <a:pPr>
                <a:defRPr sz="3600"/>
              </a:pPr>
              <a:r>
                <a:t>6</a:t>
              </a:r>
            </a:p>
          </p:txBody>
        </p:sp>
        <p:sp>
          <p:nvSpPr>
            <p:cNvPr id="128" name="Shape 128"/>
            <p:cNvSpPr/>
            <p:nvPr/>
          </p:nvSpPr>
          <p:spPr>
            <a:xfrm>
              <a:off x="3244850" y="530224"/>
              <a:ext cx="496600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a</a:t>
              </a:r>
            </a:p>
            <a:p>
              <a:pPr>
                <a:defRPr sz="3600"/>
              </a:pPr>
              <a:r>
                <a:t>b</a:t>
              </a:r>
            </a:p>
            <a:p>
              <a:pPr>
                <a:defRPr sz="3600"/>
              </a:pPr>
              <a:r>
                <a:t>c</a:t>
              </a:r>
            </a:p>
            <a:p>
              <a:pPr>
                <a:defRPr sz="3600"/>
              </a:pPr>
              <a:r>
                <a:t>d</a:t>
              </a:r>
            </a:p>
          </p:txBody>
        </p:sp>
        <p:sp>
          <p:nvSpPr>
            <p:cNvPr id="129" name="Shape 129"/>
            <p:cNvSpPr/>
            <p:nvPr/>
          </p:nvSpPr>
          <p:spPr>
            <a:xfrm>
              <a:off x="457200" y="9172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Shape 130"/>
            <p:cNvSpPr/>
            <p:nvPr/>
          </p:nvSpPr>
          <p:spPr>
            <a:xfrm>
              <a:off x="457200" y="14506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Shape 131"/>
            <p:cNvSpPr/>
            <p:nvPr/>
          </p:nvSpPr>
          <p:spPr>
            <a:xfrm>
              <a:off x="457200" y="20602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Shape 132"/>
            <p:cNvSpPr/>
            <p:nvPr/>
          </p:nvSpPr>
          <p:spPr>
            <a:xfrm>
              <a:off x="457200" y="25174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 flipV="1">
              <a:off x="457200" y="2592387"/>
              <a:ext cx="2819401" cy="53340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Shape 134"/>
            <p:cNvSpPr/>
            <p:nvPr/>
          </p:nvSpPr>
          <p:spPr>
            <a:xfrm>
              <a:off x="0" y="0"/>
              <a:ext cx="373817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135" name="Shape 135"/>
            <p:cNvSpPr/>
            <p:nvPr/>
          </p:nvSpPr>
          <p:spPr>
            <a:xfrm>
              <a:off x="3168650" y="0"/>
              <a:ext cx="362878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136" name="Shape 136"/>
            <p:cNvSpPr/>
            <p:nvPr/>
          </p:nvSpPr>
          <p:spPr>
            <a:xfrm flipV="1">
              <a:off x="457200" y="2668587"/>
              <a:ext cx="2819401" cy="99060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sldNum" sz="quarter" idx="2"/>
          </p:nvPr>
        </p:nvSpPr>
        <p:spPr>
          <a:xfrm>
            <a:off x="4627681" y="6220142"/>
            <a:ext cx="193438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142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37" y="176212"/>
            <a:ext cx="8431213" cy="1420813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Shape 143"/>
          <p:cNvSpPr>
            <a:spLocks noGrp="1"/>
          </p:cNvSpPr>
          <p:nvPr>
            <p:ph type="body" sz="half" idx="4294967295"/>
          </p:nvPr>
        </p:nvSpPr>
        <p:spPr>
          <a:xfrm>
            <a:off x="250825" y="1557337"/>
            <a:ext cx="8497888" cy="18716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 algn="just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内的映射，如果对任意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b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且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≠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，都有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≠σ</a:t>
            </a:r>
            <a:r>
              <a:t>(b)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，就称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的单射。</a:t>
            </a:r>
            <a: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148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-42863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hape 149"/>
          <p:cNvSpPr>
            <a:spLocks noGrp="1"/>
          </p:cNvSpPr>
          <p:nvPr>
            <p:ph type="body" sz="quarter" idx="4294967295"/>
          </p:nvPr>
        </p:nvSpPr>
        <p:spPr>
          <a:xfrm>
            <a:off x="179387" y="1196975"/>
            <a:ext cx="8839201" cy="863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 algn="just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A={1,2,3},B={a,b,c,d},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的映射</a:t>
            </a:r>
            <a:r>
              <a:t>(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单射</a:t>
            </a:r>
            <a:r>
              <a:t>)</a:t>
            </a:r>
          </a:p>
        </p:txBody>
      </p:sp>
      <p:grpSp>
        <p:nvGrpSpPr>
          <p:cNvPr id="157" name="Group 157"/>
          <p:cNvGrpSpPr/>
          <p:nvPr/>
        </p:nvGrpSpPr>
        <p:grpSpPr>
          <a:xfrm>
            <a:off x="2689224" y="2741612"/>
            <a:ext cx="3741451" cy="2755266"/>
            <a:chOff x="0" y="0"/>
            <a:chExt cx="3741449" cy="2755264"/>
          </a:xfrm>
        </p:grpSpPr>
        <p:sp>
          <p:nvSpPr>
            <p:cNvPr id="150" name="Shape 150"/>
            <p:cNvSpPr/>
            <p:nvPr/>
          </p:nvSpPr>
          <p:spPr>
            <a:xfrm>
              <a:off x="15875" y="638174"/>
              <a:ext cx="481643" cy="169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1</a:t>
              </a:r>
            </a:p>
            <a:p>
              <a:pPr>
                <a:defRPr sz="3600"/>
              </a:pPr>
              <a:r>
                <a:t>2</a:t>
              </a:r>
            </a:p>
            <a:p>
              <a:pPr>
                <a:defRPr sz="3600"/>
              </a:pPr>
              <a:r>
                <a:t>3</a:t>
              </a:r>
            </a:p>
          </p:txBody>
        </p:sp>
        <p:sp>
          <p:nvSpPr>
            <p:cNvPr id="151" name="Shape 151"/>
            <p:cNvSpPr/>
            <p:nvPr/>
          </p:nvSpPr>
          <p:spPr>
            <a:xfrm>
              <a:off x="3244850" y="530224"/>
              <a:ext cx="496600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a</a:t>
              </a:r>
            </a:p>
            <a:p>
              <a:pPr>
                <a:defRPr sz="3600"/>
              </a:pPr>
              <a:r>
                <a:t>b</a:t>
              </a:r>
            </a:p>
            <a:p>
              <a:pPr>
                <a:defRPr sz="3600"/>
              </a:pPr>
              <a:r>
                <a:t>c</a:t>
              </a:r>
            </a:p>
            <a:p>
              <a:pPr>
                <a:defRPr sz="3600"/>
              </a:pPr>
              <a:r>
                <a:t>d</a:t>
              </a:r>
            </a:p>
          </p:txBody>
        </p:sp>
        <p:sp>
          <p:nvSpPr>
            <p:cNvPr id="152" name="Shape 152"/>
            <p:cNvSpPr/>
            <p:nvPr/>
          </p:nvSpPr>
          <p:spPr>
            <a:xfrm>
              <a:off x="457200" y="9172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3" name="Shape 153"/>
            <p:cNvSpPr/>
            <p:nvPr/>
          </p:nvSpPr>
          <p:spPr>
            <a:xfrm>
              <a:off x="457200" y="14506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4" name="Shape 154"/>
            <p:cNvSpPr/>
            <p:nvPr/>
          </p:nvSpPr>
          <p:spPr>
            <a:xfrm>
              <a:off x="457200" y="20602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5" name="Shape 155"/>
            <p:cNvSpPr/>
            <p:nvPr/>
          </p:nvSpPr>
          <p:spPr>
            <a:xfrm>
              <a:off x="0" y="0"/>
              <a:ext cx="373817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156" name="Shape 156"/>
            <p:cNvSpPr/>
            <p:nvPr/>
          </p:nvSpPr>
          <p:spPr>
            <a:xfrm>
              <a:off x="3168650" y="0"/>
              <a:ext cx="362878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B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162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103187"/>
            <a:ext cx="6516688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hape 163"/>
          <p:cNvSpPr>
            <a:spLocks noGrp="1"/>
          </p:cNvSpPr>
          <p:nvPr>
            <p:ph type="body" sz="half" idx="4294967295"/>
          </p:nvPr>
        </p:nvSpPr>
        <p:spPr>
          <a:xfrm>
            <a:off x="250825" y="1412875"/>
            <a:ext cx="8569325" cy="24479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是集合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到集合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内的映射。如果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既是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的满射，又是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的单射，则称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</a:t>
            </a:r>
            <a:r>
              <a:t>1-1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映射</a:t>
            </a:r>
            <a:r>
              <a:t>(</a:t>
            </a:r>
            <a:r>
              <a:rPr i="1"/>
              <a:t>one-to-one correspond-ence</a:t>
            </a:r>
            <a:r>
              <a:t>),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或双射</a:t>
            </a:r>
            <a:r>
              <a:t>(</a:t>
            </a:r>
            <a:r>
              <a:rPr i="1"/>
              <a:t>bijection)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168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-42863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hape 169"/>
          <p:cNvSpPr>
            <a:spLocks noGrp="1"/>
          </p:cNvSpPr>
          <p:nvPr>
            <p:ph type="body" sz="quarter" idx="4294967295"/>
          </p:nvPr>
        </p:nvSpPr>
        <p:spPr>
          <a:xfrm>
            <a:off x="125412" y="1336675"/>
            <a:ext cx="8839201" cy="1371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 algn="just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A={1,2,3,4},B={a,b,c,d},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的映射</a:t>
            </a:r>
            <a:r>
              <a:t>(1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-</a:t>
            </a:r>
            <a:r>
              <a:t>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映射</a:t>
            </a:r>
            <a:r>
              <a:t>)</a:t>
            </a:r>
          </a:p>
        </p:txBody>
      </p:sp>
      <p:grpSp>
        <p:nvGrpSpPr>
          <p:cNvPr id="178" name="Group 178"/>
          <p:cNvGrpSpPr/>
          <p:nvPr/>
        </p:nvGrpSpPr>
        <p:grpSpPr>
          <a:xfrm>
            <a:off x="2627312" y="2949575"/>
            <a:ext cx="3741451" cy="2863215"/>
            <a:chOff x="0" y="0"/>
            <a:chExt cx="3741449" cy="2863214"/>
          </a:xfrm>
        </p:grpSpPr>
        <p:sp>
          <p:nvSpPr>
            <p:cNvPr id="170" name="Shape 170"/>
            <p:cNvSpPr/>
            <p:nvPr/>
          </p:nvSpPr>
          <p:spPr>
            <a:xfrm>
              <a:off x="15875" y="638174"/>
              <a:ext cx="481643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1</a:t>
              </a:r>
            </a:p>
            <a:p>
              <a:pPr>
                <a:defRPr sz="3600"/>
              </a:pPr>
              <a:r>
                <a:t>2</a:t>
              </a:r>
            </a:p>
            <a:p>
              <a:pPr>
                <a:defRPr sz="3600"/>
              </a:pPr>
              <a:r>
                <a:t>3</a:t>
              </a:r>
            </a:p>
            <a:p>
              <a:pPr>
                <a:defRPr sz="3600"/>
              </a:pPr>
              <a:r>
                <a:t>4</a:t>
              </a:r>
            </a:p>
          </p:txBody>
        </p:sp>
        <p:sp>
          <p:nvSpPr>
            <p:cNvPr id="171" name="Shape 171"/>
            <p:cNvSpPr/>
            <p:nvPr/>
          </p:nvSpPr>
          <p:spPr>
            <a:xfrm>
              <a:off x="3244850" y="530224"/>
              <a:ext cx="496600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a</a:t>
              </a:r>
            </a:p>
            <a:p>
              <a:pPr>
                <a:defRPr sz="3600"/>
              </a:pPr>
              <a:r>
                <a:t>b</a:t>
              </a:r>
            </a:p>
            <a:p>
              <a:pPr>
                <a:defRPr sz="3600"/>
              </a:pPr>
              <a:r>
                <a:t>c</a:t>
              </a:r>
            </a:p>
            <a:p>
              <a:pPr>
                <a:defRPr sz="3600"/>
              </a:pPr>
              <a:r>
                <a:t>d</a:t>
              </a:r>
            </a:p>
          </p:txBody>
        </p:sp>
        <p:sp>
          <p:nvSpPr>
            <p:cNvPr id="172" name="Shape 172"/>
            <p:cNvSpPr/>
            <p:nvPr/>
          </p:nvSpPr>
          <p:spPr>
            <a:xfrm>
              <a:off x="457200" y="9172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3" name="Shape 173"/>
            <p:cNvSpPr/>
            <p:nvPr/>
          </p:nvSpPr>
          <p:spPr>
            <a:xfrm>
              <a:off x="457200" y="14506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4" name="Shape 174"/>
            <p:cNvSpPr/>
            <p:nvPr/>
          </p:nvSpPr>
          <p:spPr>
            <a:xfrm>
              <a:off x="457200" y="20602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5" name="Shape 175"/>
            <p:cNvSpPr/>
            <p:nvPr/>
          </p:nvSpPr>
          <p:spPr>
            <a:xfrm>
              <a:off x="0" y="0"/>
              <a:ext cx="373817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176" name="Shape 176"/>
            <p:cNvSpPr/>
            <p:nvPr/>
          </p:nvSpPr>
          <p:spPr>
            <a:xfrm>
              <a:off x="3168650" y="0"/>
              <a:ext cx="362878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177" name="Shape 177"/>
            <p:cNvSpPr/>
            <p:nvPr/>
          </p:nvSpPr>
          <p:spPr>
            <a:xfrm>
              <a:off x="457200" y="2593657"/>
              <a:ext cx="2819401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181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-42863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Shape 182"/>
          <p:cNvSpPr>
            <a:spLocks noGrp="1"/>
          </p:cNvSpPr>
          <p:nvPr>
            <p:ph type="body" idx="4294967295"/>
          </p:nvPr>
        </p:nvSpPr>
        <p:spPr>
          <a:xfrm>
            <a:off x="209550" y="981075"/>
            <a:ext cx="8683625" cy="54006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08254" indent="-508254" defTabSz="841247">
              <a:lnSpc>
                <a:spcPct val="90000"/>
              </a:lnSpc>
              <a:spcBef>
                <a:spcPts val="700"/>
              </a:spcBef>
              <a:defRPr sz="2944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确定下列映射的类型。</a:t>
            </a:r>
          </a:p>
          <a:p>
            <a:pPr marL="508254" indent="-508254" defTabSz="841247">
              <a:lnSpc>
                <a:spcPct val="90000"/>
              </a:lnSpc>
              <a:spcBef>
                <a:spcPts val="700"/>
              </a:spcBef>
              <a:buSzTx/>
              <a:buNone/>
              <a:defRPr sz="2944">
                <a:latin typeface="+mj-lt"/>
                <a:ea typeface="+mj-ea"/>
                <a:cs typeface="+mj-cs"/>
                <a:sym typeface="Arial"/>
              </a:defRPr>
            </a:pPr>
            <a:r>
              <a:t>(1)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A={1,2,3,4,5}, B={a,b,c,d}.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定义为</a:t>
            </a:r>
            <a:r>
              <a:t>: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={(1,a),(2,c),(3,b),(4,a),(5,d)};</a:t>
            </a:r>
          </a:p>
          <a:p>
            <a:pPr marL="508254" indent="-508254" defTabSz="841247">
              <a:lnSpc>
                <a:spcPct val="90000"/>
              </a:lnSpc>
              <a:spcBef>
                <a:spcPts val="700"/>
              </a:spcBef>
              <a:buSzTx/>
              <a:buNone/>
              <a:defRPr sz="2944">
                <a:latin typeface="+mj-lt"/>
                <a:ea typeface="+mj-ea"/>
                <a:cs typeface="+mj-cs"/>
                <a:sym typeface="Arial"/>
              </a:defRPr>
            </a:pPr>
            <a:r>
              <a:t>(2)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A={1,2,3}, B={a,b,c,d}.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定义为</a:t>
            </a:r>
            <a:r>
              <a:t>: </a:t>
            </a:r>
            <a:br/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= {(1,a),(2,c),(3,b)};</a:t>
            </a:r>
          </a:p>
          <a:p>
            <a:pPr marL="508254" indent="-508254" defTabSz="841247">
              <a:lnSpc>
                <a:spcPct val="90000"/>
              </a:lnSpc>
              <a:spcBef>
                <a:spcPts val="700"/>
              </a:spcBef>
              <a:buSzTx/>
              <a:buNone/>
              <a:defRPr sz="2944">
                <a:latin typeface="+mj-lt"/>
                <a:ea typeface="+mj-ea"/>
                <a:cs typeface="+mj-cs"/>
                <a:sym typeface="Arial"/>
              </a:defRPr>
            </a:pPr>
            <a:r>
              <a:t>(3)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A={1,2,3}, B={1,2,3}.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定义为</a:t>
            </a:r>
            <a:r>
              <a:t>: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={(1,2),(2,3),(3,1)}.</a:t>
            </a:r>
          </a:p>
          <a:p>
            <a:pPr marL="508254" indent="-508254" algn="just" defTabSz="841247">
              <a:lnSpc>
                <a:spcPct val="90000"/>
              </a:lnSpc>
              <a:spcBef>
                <a:spcPts val="700"/>
              </a:spcBef>
              <a:defRPr sz="2944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解：</a:t>
            </a:r>
            <a:r>
              <a:rPr>
                <a:solidFill>
                  <a:srgbClr val="404040"/>
                </a:solidFill>
              </a:rPr>
              <a:t>(1) 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是满射；</a:t>
            </a:r>
          </a:p>
          <a:p>
            <a:pPr marL="508254" indent="-508254" algn="just" defTabSz="841247">
              <a:lnSpc>
                <a:spcPct val="90000"/>
              </a:lnSpc>
              <a:spcBef>
                <a:spcPts val="700"/>
              </a:spcBef>
              <a:buSzTx/>
              <a:buNone/>
              <a:defRPr sz="2944">
                <a:latin typeface="+mj-lt"/>
                <a:ea typeface="+mj-ea"/>
                <a:cs typeface="+mj-cs"/>
                <a:sym typeface="Arial"/>
              </a:defRPr>
            </a:pPr>
            <a:r>
              <a:t>		    (2)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是单射；</a:t>
            </a:r>
          </a:p>
          <a:p>
            <a:pPr marL="508254" indent="-508254" algn="just" defTabSz="841247">
              <a:lnSpc>
                <a:spcPct val="90000"/>
              </a:lnSpc>
              <a:spcBef>
                <a:spcPts val="700"/>
              </a:spcBef>
              <a:buSzTx/>
              <a:buNone/>
              <a:defRPr sz="2944">
                <a:latin typeface="+mj-lt"/>
                <a:ea typeface="+mj-ea"/>
                <a:cs typeface="+mj-cs"/>
                <a:sym typeface="Arial"/>
              </a:defRPr>
            </a:pPr>
            <a:r>
              <a:t>		    (3)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是双射，又是变换。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1" build="p" bldLvl="5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187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249237"/>
            <a:ext cx="8937626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Shape 188"/>
          <p:cNvSpPr>
            <a:spLocks noGrp="1"/>
          </p:cNvSpPr>
          <p:nvPr>
            <p:ph type="body" idx="4294967295"/>
          </p:nvPr>
        </p:nvSpPr>
        <p:spPr>
          <a:xfrm>
            <a:off x="209550" y="1639887"/>
            <a:ext cx="8683625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42912" indent="-44291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若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是集合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到集合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</a:t>
            </a:r>
            <a:r>
              <a:rPr>
                <a:solidFill>
                  <a:schemeClr val="accent1"/>
                </a:solidFill>
              </a:rPr>
              <a:t>1–1</a:t>
            </a:r>
            <a:r>
              <a:rPr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映射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，则对于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中每个元素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都对应着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中以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为映象（在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下）的那个元素，这个对应显然是集合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上的映射，我们称这个映射为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的逆映射，记为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 </a:t>
            </a:r>
            <a:r>
              <a:rPr baseline="30000"/>
              <a:t>-1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。显然，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 </a:t>
            </a:r>
            <a:r>
              <a:rPr baseline="30000"/>
              <a:t>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也是</a:t>
            </a:r>
            <a:r>
              <a:t>1-1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映射，并且对任意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，都有</a:t>
            </a:r>
            <a:br>
              <a:rPr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t>			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 </a:t>
            </a:r>
            <a:r>
              <a:rPr baseline="30000"/>
              <a:t>-1 </a:t>
            </a: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＝</a:t>
            </a:r>
            <a:r>
              <a:t>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15</a:t>
            </a:fld>
            <a:endParaRPr/>
          </a:p>
        </p:txBody>
      </p:sp>
      <p:pic>
        <p:nvPicPr>
          <p:cNvPr id="191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42862"/>
            <a:ext cx="8931276" cy="1358901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Shape 192"/>
          <p:cNvSpPr>
            <a:spLocks noGrp="1"/>
          </p:cNvSpPr>
          <p:nvPr>
            <p:ph type="body" sz="quarter" idx="4294967295"/>
          </p:nvPr>
        </p:nvSpPr>
        <p:spPr>
          <a:xfrm>
            <a:off x="152400" y="1447800"/>
            <a:ext cx="8839200" cy="1371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 algn="just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A={1,2,3,4},B={a,b,c,d},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B(1</a:t>
            </a:r>
            <a:r>
              <a:rPr>
                <a:latin typeface="宋体"/>
                <a:ea typeface="宋体"/>
                <a:cs typeface="宋体"/>
                <a:sym typeface="宋体"/>
              </a:rPr>
              <a:t>-</a:t>
            </a:r>
            <a:r>
              <a:t>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映射</a:t>
            </a:r>
            <a:r>
              <a:t>)</a:t>
            </a:r>
          </a:p>
        </p:txBody>
      </p:sp>
      <p:grpSp>
        <p:nvGrpSpPr>
          <p:cNvPr id="201" name="Group 201"/>
          <p:cNvGrpSpPr/>
          <p:nvPr/>
        </p:nvGrpSpPr>
        <p:grpSpPr>
          <a:xfrm>
            <a:off x="1547812" y="3022600"/>
            <a:ext cx="2293651" cy="2863215"/>
            <a:chOff x="0" y="0"/>
            <a:chExt cx="2293649" cy="2863214"/>
          </a:xfrm>
        </p:grpSpPr>
        <p:sp>
          <p:nvSpPr>
            <p:cNvPr id="193" name="Shape 193"/>
            <p:cNvSpPr/>
            <p:nvPr/>
          </p:nvSpPr>
          <p:spPr>
            <a:xfrm>
              <a:off x="15875" y="638174"/>
              <a:ext cx="481643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1</a:t>
              </a:r>
            </a:p>
            <a:p>
              <a:pPr>
                <a:defRPr sz="3600"/>
              </a:pPr>
              <a:r>
                <a:t>2</a:t>
              </a:r>
            </a:p>
            <a:p>
              <a:pPr>
                <a:defRPr sz="3600"/>
              </a:pPr>
              <a:r>
                <a:t>3</a:t>
              </a:r>
            </a:p>
            <a:p>
              <a:pPr>
                <a:defRPr sz="3600"/>
              </a:pPr>
              <a:r>
                <a:t>4</a:t>
              </a:r>
            </a:p>
          </p:txBody>
        </p:sp>
        <p:sp>
          <p:nvSpPr>
            <p:cNvPr id="194" name="Shape 194"/>
            <p:cNvSpPr/>
            <p:nvPr/>
          </p:nvSpPr>
          <p:spPr>
            <a:xfrm>
              <a:off x="1797050" y="530224"/>
              <a:ext cx="496600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a</a:t>
              </a:r>
            </a:p>
            <a:p>
              <a:pPr>
                <a:defRPr sz="3600"/>
              </a:pPr>
              <a:r>
                <a:t>b</a:t>
              </a:r>
            </a:p>
            <a:p>
              <a:pPr>
                <a:defRPr sz="3600"/>
              </a:pPr>
              <a:r>
                <a:t>c</a:t>
              </a:r>
            </a:p>
            <a:p>
              <a:pPr>
                <a:defRPr sz="3600"/>
              </a:pPr>
              <a:r>
                <a:t>d</a:t>
              </a:r>
            </a:p>
          </p:txBody>
        </p:sp>
        <p:sp>
          <p:nvSpPr>
            <p:cNvPr id="195" name="Shape 195"/>
            <p:cNvSpPr/>
            <p:nvPr/>
          </p:nvSpPr>
          <p:spPr>
            <a:xfrm>
              <a:off x="457200" y="917257"/>
              <a:ext cx="1371600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>
              <a:off x="457200" y="1450657"/>
              <a:ext cx="1371600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457200" y="2060257"/>
              <a:ext cx="1371600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8" name="Shape 198"/>
            <p:cNvSpPr/>
            <p:nvPr/>
          </p:nvSpPr>
          <p:spPr>
            <a:xfrm>
              <a:off x="0" y="0"/>
              <a:ext cx="373817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199" name="Shape 199"/>
            <p:cNvSpPr/>
            <p:nvPr/>
          </p:nvSpPr>
          <p:spPr>
            <a:xfrm>
              <a:off x="1720850" y="0"/>
              <a:ext cx="362878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200" name="Shape 200"/>
            <p:cNvSpPr/>
            <p:nvPr/>
          </p:nvSpPr>
          <p:spPr>
            <a:xfrm>
              <a:off x="457200" y="2593657"/>
              <a:ext cx="1371600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11" name="Group 211"/>
          <p:cNvGrpSpPr/>
          <p:nvPr/>
        </p:nvGrpSpPr>
        <p:grpSpPr>
          <a:xfrm>
            <a:off x="5148262" y="2636837"/>
            <a:ext cx="2234244" cy="3166428"/>
            <a:chOff x="0" y="0"/>
            <a:chExt cx="2234242" cy="3166427"/>
          </a:xfrm>
        </p:grpSpPr>
        <p:sp>
          <p:nvSpPr>
            <p:cNvPr id="202" name="Shape 202"/>
            <p:cNvSpPr/>
            <p:nvPr/>
          </p:nvSpPr>
          <p:spPr>
            <a:xfrm>
              <a:off x="1752600" y="941387"/>
              <a:ext cx="481643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1</a:t>
              </a:r>
            </a:p>
            <a:p>
              <a:pPr>
                <a:defRPr sz="3600"/>
              </a:pPr>
              <a:r>
                <a:t>2</a:t>
              </a:r>
            </a:p>
            <a:p>
              <a:pPr>
                <a:defRPr sz="3600"/>
              </a:pPr>
              <a:r>
                <a:t>3</a:t>
              </a:r>
            </a:p>
            <a:p>
              <a:pPr>
                <a:defRPr sz="3600"/>
              </a:pPr>
              <a:r>
                <a:t>4</a:t>
              </a:r>
            </a:p>
          </p:txBody>
        </p:sp>
        <p:sp>
          <p:nvSpPr>
            <p:cNvPr id="203" name="Shape 203"/>
            <p:cNvSpPr/>
            <p:nvPr/>
          </p:nvSpPr>
          <p:spPr>
            <a:xfrm>
              <a:off x="0" y="909637"/>
              <a:ext cx="496600" cy="222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3600"/>
              </a:pPr>
              <a:r>
                <a:t>a</a:t>
              </a:r>
            </a:p>
            <a:p>
              <a:pPr>
                <a:defRPr sz="3600"/>
              </a:pPr>
              <a:r>
                <a:t>b</a:t>
              </a:r>
            </a:p>
            <a:p>
              <a:pPr>
                <a:defRPr sz="3600"/>
              </a:pPr>
              <a:r>
                <a:t>c</a:t>
              </a:r>
            </a:p>
            <a:p>
              <a:pPr>
                <a:defRPr sz="3600"/>
              </a:pPr>
              <a:r>
                <a:t>d</a:t>
              </a:r>
            </a:p>
          </p:txBody>
        </p:sp>
        <p:sp>
          <p:nvSpPr>
            <p:cNvPr id="204" name="Shape 204"/>
            <p:cNvSpPr/>
            <p:nvPr/>
          </p:nvSpPr>
          <p:spPr>
            <a:xfrm>
              <a:off x="412750" y="1220470"/>
              <a:ext cx="1371600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5" name="Shape 205"/>
            <p:cNvSpPr/>
            <p:nvPr/>
          </p:nvSpPr>
          <p:spPr>
            <a:xfrm>
              <a:off x="412750" y="1753870"/>
              <a:ext cx="1371600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6" name="Shape 206"/>
            <p:cNvSpPr/>
            <p:nvPr/>
          </p:nvSpPr>
          <p:spPr>
            <a:xfrm>
              <a:off x="412750" y="2363470"/>
              <a:ext cx="1371600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7" name="Shape 207"/>
            <p:cNvSpPr/>
            <p:nvPr/>
          </p:nvSpPr>
          <p:spPr>
            <a:xfrm>
              <a:off x="1670050" y="366712"/>
              <a:ext cx="373817" cy="624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208" name="Shape 208"/>
            <p:cNvSpPr/>
            <p:nvPr/>
          </p:nvSpPr>
          <p:spPr>
            <a:xfrm>
              <a:off x="0" y="360362"/>
              <a:ext cx="362878" cy="624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>
                  <a:solidFill>
                    <a:srgbClr val="212745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209" name="Shape 209"/>
            <p:cNvSpPr/>
            <p:nvPr/>
          </p:nvSpPr>
          <p:spPr>
            <a:xfrm>
              <a:off x="412750" y="2896870"/>
              <a:ext cx="1371600" cy="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0" name="Shape 210"/>
            <p:cNvSpPr/>
            <p:nvPr/>
          </p:nvSpPr>
          <p:spPr>
            <a:xfrm>
              <a:off x="641350" y="0"/>
              <a:ext cx="941388" cy="747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4000"/>
              </a:pPr>
              <a:r>
                <a:rPr>
                  <a:latin typeface="Symbol"/>
                  <a:ea typeface="Symbol"/>
                  <a:cs typeface="Symbol"/>
                  <a:sym typeface="Symbol"/>
                </a:rPr>
                <a:t>σ</a:t>
              </a:r>
              <a:r>
                <a:rPr sz="3600"/>
                <a:t> </a:t>
              </a:r>
              <a:r>
                <a:rPr sz="3600" baseline="30000"/>
                <a:t>-1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16</a:t>
            </a:fld>
            <a:endParaRPr/>
          </a:p>
        </p:txBody>
      </p:sp>
      <p:pic>
        <p:nvPicPr>
          <p:cNvPr id="214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182562"/>
            <a:ext cx="8937626" cy="1414463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Shape 215"/>
          <p:cNvSpPr>
            <a:spLocks noGrp="1"/>
          </p:cNvSpPr>
          <p:nvPr>
            <p:ph type="body" idx="4294967295"/>
          </p:nvPr>
        </p:nvSpPr>
        <p:spPr>
          <a:xfrm>
            <a:off x="179387" y="1658937"/>
            <a:ext cx="8683626" cy="493871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是集合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到集合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内的映射，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是集合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到集合</a:t>
            </a:r>
            <a:r>
              <a:t>C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内的映射，对任意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，规定</a:t>
            </a:r>
          </a:p>
          <a:p>
            <a:pPr marL="354012" indent="-354012" algn="ctr">
              <a:lnSpc>
                <a:spcPct val="90000"/>
              </a:lnSpc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• σ</a:t>
            </a:r>
            <a:r>
              <a:t>)(a)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＝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(a))</a:t>
            </a:r>
          </a:p>
          <a:p>
            <a:pPr marL="354012" indent="-354012">
              <a:lnSpc>
                <a:spcPct val="90000"/>
              </a:lnSpc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显然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• 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是集合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到集合</a:t>
            </a:r>
            <a:r>
              <a:t>C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内的映射，我们称此映射为映射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与映射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的乘积。</a:t>
            </a:r>
          </a:p>
          <a:p>
            <a:pPr marL="354012" indent="-354012">
              <a:lnSpc>
                <a:spcPct val="90000"/>
              </a:lnSpc>
              <a:spcBef>
                <a:spcPts val="4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endParaRPr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354012" indent="-354012" algn="just">
              <a:lnSpc>
                <a:spcPct val="9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不难证明：映射的乘积满足结合律，但是不满足交换律。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1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17</a:t>
            </a:fld>
            <a:endParaRPr/>
          </a:p>
        </p:txBody>
      </p:sp>
      <p:pic>
        <p:nvPicPr>
          <p:cNvPr id="218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37" y="176212"/>
            <a:ext cx="6516688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Shape 219"/>
          <p:cNvSpPr/>
          <p:nvPr/>
        </p:nvSpPr>
        <p:spPr>
          <a:xfrm>
            <a:off x="1331912" y="2493962"/>
            <a:ext cx="1800226" cy="2951163"/>
          </a:xfrm>
          <a:prstGeom prst="ellipse">
            <a:avLst/>
          </a:prstGeom>
          <a:solidFill>
            <a:srgbClr val="FF66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/>
            </a:pPr>
            <a:endParaRPr/>
          </a:p>
        </p:txBody>
      </p:sp>
      <p:sp>
        <p:nvSpPr>
          <p:cNvPr id="220" name="Shape 220"/>
          <p:cNvSpPr/>
          <p:nvPr/>
        </p:nvSpPr>
        <p:spPr>
          <a:xfrm>
            <a:off x="3563937" y="2493962"/>
            <a:ext cx="1800226" cy="2879726"/>
          </a:xfrm>
          <a:prstGeom prst="ellipse">
            <a:avLst/>
          </a:prstGeom>
          <a:solidFill>
            <a:srgbClr val="FF66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/>
            </a:pPr>
            <a:endParaRPr/>
          </a:p>
        </p:txBody>
      </p:sp>
      <p:sp>
        <p:nvSpPr>
          <p:cNvPr id="221" name="Shape 221"/>
          <p:cNvSpPr/>
          <p:nvPr/>
        </p:nvSpPr>
        <p:spPr>
          <a:xfrm>
            <a:off x="5724525" y="2493962"/>
            <a:ext cx="1728788" cy="2879726"/>
          </a:xfrm>
          <a:prstGeom prst="ellipse">
            <a:avLst/>
          </a:prstGeom>
          <a:solidFill>
            <a:srgbClr val="FF6600"/>
          </a:solidFill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 sz="1800"/>
            </a:pPr>
            <a:endParaRPr/>
          </a:p>
        </p:txBody>
      </p:sp>
      <p:sp>
        <p:nvSpPr>
          <p:cNvPr id="222" name="Shape 222"/>
          <p:cNvSpPr/>
          <p:nvPr/>
        </p:nvSpPr>
        <p:spPr>
          <a:xfrm>
            <a:off x="2195512" y="3789362"/>
            <a:ext cx="144463" cy="144463"/>
          </a:xfrm>
          <a:prstGeom prst="ellipse">
            <a:avLst/>
          </a:prstGeom>
          <a:solidFill>
            <a:srgbClr val="21274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/>
            </a:pPr>
            <a:endParaRPr/>
          </a:p>
        </p:txBody>
      </p:sp>
      <p:sp>
        <p:nvSpPr>
          <p:cNvPr id="223" name="Shape 223"/>
          <p:cNvSpPr/>
          <p:nvPr/>
        </p:nvSpPr>
        <p:spPr>
          <a:xfrm>
            <a:off x="4356100" y="3789362"/>
            <a:ext cx="144463" cy="144463"/>
          </a:xfrm>
          <a:prstGeom prst="ellipse">
            <a:avLst/>
          </a:prstGeom>
          <a:solidFill>
            <a:srgbClr val="21274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/>
            </a:pPr>
            <a:endParaRPr/>
          </a:p>
        </p:txBody>
      </p:sp>
      <p:sp>
        <p:nvSpPr>
          <p:cNvPr id="224" name="Shape 224"/>
          <p:cNvSpPr/>
          <p:nvPr/>
        </p:nvSpPr>
        <p:spPr>
          <a:xfrm>
            <a:off x="6515100" y="3789362"/>
            <a:ext cx="144463" cy="144463"/>
          </a:xfrm>
          <a:prstGeom prst="ellipse">
            <a:avLst/>
          </a:prstGeom>
          <a:solidFill>
            <a:srgbClr val="212745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/>
            </a:pPr>
            <a:endParaRPr/>
          </a:p>
        </p:txBody>
      </p:sp>
      <p:sp>
        <p:nvSpPr>
          <p:cNvPr id="225" name="Shape 225"/>
          <p:cNvSpPr/>
          <p:nvPr/>
        </p:nvSpPr>
        <p:spPr>
          <a:xfrm>
            <a:off x="2339975" y="3933825"/>
            <a:ext cx="4176713" cy="7070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6" extrusionOk="0">
                <a:moveTo>
                  <a:pt x="0" y="2108"/>
                </a:moveTo>
                <a:cubicBezTo>
                  <a:pt x="3403" y="11854"/>
                  <a:pt x="6806" y="21600"/>
                  <a:pt x="10403" y="21225"/>
                </a:cubicBezTo>
                <a:cubicBezTo>
                  <a:pt x="14000" y="20850"/>
                  <a:pt x="17800" y="10402"/>
                  <a:pt x="21600" y="0"/>
                </a:cubicBezTo>
              </a:path>
            </a:pathLst>
          </a:cu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226" name="Shape 226"/>
          <p:cNvSpPr/>
          <p:nvPr/>
        </p:nvSpPr>
        <p:spPr>
          <a:xfrm>
            <a:off x="2411412" y="3502025"/>
            <a:ext cx="1944688" cy="287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3417" y="10752"/>
                  <a:pt x="6833" y="0"/>
                  <a:pt x="10430" y="0"/>
                </a:cubicBezTo>
                <a:cubicBezTo>
                  <a:pt x="14028" y="0"/>
                  <a:pt x="19744" y="17984"/>
                  <a:pt x="21600" y="21600"/>
                </a:cubicBezTo>
              </a:path>
            </a:pathLst>
          </a:cu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227" name="Shape 227"/>
          <p:cNvSpPr/>
          <p:nvPr/>
        </p:nvSpPr>
        <p:spPr>
          <a:xfrm>
            <a:off x="4572000" y="3502025"/>
            <a:ext cx="1944688" cy="287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3417" y="10752"/>
                  <a:pt x="6833" y="0"/>
                  <a:pt x="10430" y="0"/>
                </a:cubicBezTo>
                <a:cubicBezTo>
                  <a:pt x="14028" y="0"/>
                  <a:pt x="19744" y="17984"/>
                  <a:pt x="21600" y="21600"/>
                </a:cubicBezTo>
              </a:path>
            </a:pathLst>
          </a:custGeom>
          <a:ln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228" name="Shape 228"/>
          <p:cNvSpPr/>
          <p:nvPr/>
        </p:nvSpPr>
        <p:spPr>
          <a:xfrm>
            <a:off x="1908175" y="3573462"/>
            <a:ext cx="25290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600"/>
            </a:lvl1pPr>
          </a:lstStyle>
          <a:p>
            <a:r>
              <a:t>a</a:t>
            </a:r>
          </a:p>
        </p:txBody>
      </p:sp>
      <p:sp>
        <p:nvSpPr>
          <p:cNvPr id="229" name="Shape 229"/>
          <p:cNvSpPr/>
          <p:nvPr/>
        </p:nvSpPr>
        <p:spPr>
          <a:xfrm>
            <a:off x="3203575" y="2919412"/>
            <a:ext cx="288405" cy="592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600">
                <a:latin typeface="Symbol"/>
                <a:ea typeface="Symbol"/>
                <a:cs typeface="Symbol"/>
                <a:sym typeface="Symbol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</a:p>
        </p:txBody>
      </p:sp>
      <p:sp>
        <p:nvSpPr>
          <p:cNvPr id="230" name="Shape 230"/>
          <p:cNvSpPr/>
          <p:nvPr/>
        </p:nvSpPr>
        <p:spPr>
          <a:xfrm>
            <a:off x="4068762" y="3860800"/>
            <a:ext cx="863601" cy="592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600"/>
            </a:pP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</a:t>
            </a:r>
          </a:p>
        </p:txBody>
      </p:sp>
      <p:sp>
        <p:nvSpPr>
          <p:cNvPr id="231" name="Shape 231"/>
          <p:cNvSpPr/>
          <p:nvPr/>
        </p:nvSpPr>
        <p:spPr>
          <a:xfrm>
            <a:off x="5435600" y="2925762"/>
            <a:ext cx="213395" cy="592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600">
                <a:latin typeface="Symbol"/>
                <a:ea typeface="Symbol"/>
                <a:cs typeface="Symbol"/>
                <a:sym typeface="Symbol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</a:p>
        </p:txBody>
      </p:sp>
      <p:sp>
        <p:nvSpPr>
          <p:cNvPr id="232" name="Shape 232"/>
          <p:cNvSpPr/>
          <p:nvPr/>
        </p:nvSpPr>
        <p:spPr>
          <a:xfrm>
            <a:off x="4102100" y="4537075"/>
            <a:ext cx="699393" cy="592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600">
                <a:latin typeface="Symbol"/>
                <a:ea typeface="Symbol"/>
                <a:cs typeface="Symbol"/>
                <a:sym typeface="Symbol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τ•σ</a:t>
            </a:r>
          </a:p>
        </p:txBody>
      </p:sp>
      <p:sp>
        <p:nvSpPr>
          <p:cNvPr id="233" name="Shape 233"/>
          <p:cNvSpPr/>
          <p:nvPr/>
        </p:nvSpPr>
        <p:spPr>
          <a:xfrm>
            <a:off x="6402387" y="1917700"/>
            <a:ext cx="286173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600"/>
            </a:lvl1pPr>
          </a:lstStyle>
          <a:p>
            <a:r>
              <a:t>C</a:t>
            </a:r>
          </a:p>
        </p:txBody>
      </p:sp>
      <p:sp>
        <p:nvSpPr>
          <p:cNvPr id="234" name="Shape 234"/>
          <p:cNvSpPr/>
          <p:nvPr/>
        </p:nvSpPr>
        <p:spPr>
          <a:xfrm>
            <a:off x="4284662" y="1917700"/>
            <a:ext cx="271439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600"/>
            </a:lvl1pPr>
          </a:lstStyle>
          <a:p>
            <a:r>
              <a:t>B</a:t>
            </a:r>
          </a:p>
        </p:txBody>
      </p:sp>
      <p:sp>
        <p:nvSpPr>
          <p:cNvPr id="235" name="Shape 235"/>
          <p:cNvSpPr/>
          <p:nvPr/>
        </p:nvSpPr>
        <p:spPr>
          <a:xfrm>
            <a:off x="2051050" y="1917700"/>
            <a:ext cx="282377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600"/>
            </a:lvl1pPr>
          </a:lstStyle>
          <a:p>
            <a:r>
              <a:t>A</a:t>
            </a:r>
          </a:p>
        </p:txBody>
      </p:sp>
      <p:sp>
        <p:nvSpPr>
          <p:cNvPr id="236" name="Shape 236"/>
          <p:cNvSpPr/>
          <p:nvPr/>
        </p:nvSpPr>
        <p:spPr>
          <a:xfrm>
            <a:off x="6688137" y="3502025"/>
            <a:ext cx="1400821" cy="592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3600"/>
            </a:pP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241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103187"/>
            <a:ext cx="6516688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Shape 242"/>
          <p:cNvSpPr>
            <a:spLocks noGrp="1"/>
          </p:cNvSpPr>
          <p:nvPr>
            <p:ph type="body" idx="4294967295"/>
          </p:nvPr>
        </p:nvSpPr>
        <p:spPr>
          <a:xfrm>
            <a:off x="209550" y="1341437"/>
            <a:ext cx="8683625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5612" indent="-45561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X,Y,Z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是实数集合。定义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Y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: Y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Z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为：对任意</a:t>
            </a:r>
            <a:r>
              <a:t>x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(x)=|x|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；对任意</a:t>
            </a:r>
            <a:r>
              <a:t>y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t>Y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(y)=3y+2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。于是：</a:t>
            </a:r>
          </a:p>
          <a:p>
            <a:pPr marL="455612" indent="-455612" algn="ctr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(x))=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(|x|)=3|x|+2</a:t>
            </a:r>
          </a:p>
          <a:p>
            <a:pPr marL="455612" indent="-455612" algn="ctr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(x))=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(3x+2)=|3x+2|</a:t>
            </a:r>
          </a:p>
          <a:p>
            <a:pPr marL="455612" indent="-45561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所以，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τ•σ≠σ•τ</a:t>
            </a:r>
          </a:p>
          <a:p>
            <a:pPr marL="455612" indent="-455612" algn="ctr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(-1))=5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≠</a:t>
            </a:r>
            <a:r>
              <a:t>1=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τ</a:t>
            </a:r>
            <a:r>
              <a:t>(-1))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" grpId="1" build="p" bldLvl="5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19</a:t>
            </a:fld>
            <a:endParaRPr/>
          </a:p>
        </p:txBody>
      </p:sp>
      <p:pic>
        <p:nvPicPr>
          <p:cNvPr id="247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25" y="2255837"/>
            <a:ext cx="7278688" cy="1998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250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249237"/>
            <a:ext cx="6516688" cy="1377951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hape 251"/>
          <p:cNvSpPr>
            <a:spLocks noGrp="1"/>
          </p:cNvSpPr>
          <p:nvPr>
            <p:ph type="body" sz="half" idx="4294967295"/>
          </p:nvPr>
        </p:nvSpPr>
        <p:spPr>
          <a:xfrm>
            <a:off x="107950" y="1584325"/>
            <a:ext cx="8839200" cy="20605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>
              <a:spcBef>
                <a:spcPts val="700"/>
              </a:spcBef>
              <a:defRPr sz="3200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我们把相当于有限集合的元素数的概念推广到一般集合，称之为集合的基数</a:t>
            </a:r>
            <a:r>
              <a:t>(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势，浓度</a:t>
            </a:r>
            <a:r>
              <a:t>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。集合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的基数记为</a:t>
            </a:r>
            <a:r>
              <a:rPr>
                <a:latin typeface="+mj-lt"/>
                <a:ea typeface="+mj-ea"/>
                <a:cs typeface="+mj-cs"/>
                <a:sym typeface="Arial"/>
              </a:rPr>
              <a:t>|A|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21</a:t>
            </a:fld>
            <a:endParaRPr/>
          </a:p>
        </p:txBody>
      </p:sp>
      <p:pic>
        <p:nvPicPr>
          <p:cNvPr id="256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255587"/>
            <a:ext cx="8937626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Shape 257"/>
          <p:cNvSpPr>
            <a:spLocks noGrp="1"/>
          </p:cNvSpPr>
          <p:nvPr>
            <p:ph type="body" idx="4294967295"/>
          </p:nvPr>
        </p:nvSpPr>
        <p:spPr>
          <a:xfrm>
            <a:off x="179387" y="1584324"/>
            <a:ext cx="8694738" cy="436562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9852" indent="-339852" defTabSz="877823">
              <a:spcBef>
                <a:spcPts val="700"/>
              </a:spcBef>
              <a:defRPr sz="3072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为集合，若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之间存在</a:t>
            </a:r>
            <a:r>
              <a:t>1-1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映射，则称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基数相同，也称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t>B</a:t>
            </a:r>
            <a:r>
              <a:rPr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对等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（等势，等浓），记为</a:t>
            </a:r>
            <a:r>
              <a:t>|A|=|B|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39852" indent="-339852" algn="just" defTabSz="877823">
              <a:spcBef>
                <a:spcPts val="700"/>
              </a:spcBef>
              <a:defRPr sz="3072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例如：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自然数集合</a:t>
            </a:r>
            <a:r>
              <a:rPr>
                <a:solidFill>
                  <a:srgbClr val="404040"/>
                </a:solidFill>
              </a:rPr>
              <a:t>N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与非负偶数集合</a:t>
            </a:r>
            <a:r>
              <a:rPr>
                <a:solidFill>
                  <a:srgbClr val="404040"/>
                </a:solidFill>
              </a:rPr>
              <a:t>B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对等，</a:t>
            </a:r>
            <a:r>
              <a:rPr>
                <a:solidFill>
                  <a:srgbClr val="404040"/>
                </a:solidFill>
              </a:rPr>
              <a:t>N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>
                <a:solidFill>
                  <a:srgbClr val="404040"/>
                </a:solidFill>
              </a:rPr>
              <a:t>B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的一个</a:t>
            </a:r>
            <a:r>
              <a:rPr>
                <a:solidFill>
                  <a:srgbClr val="404040"/>
                </a:solidFill>
              </a:rPr>
              <a:t>1-1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映射为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solidFill>
                  <a:srgbClr val="404040"/>
                </a:solidFill>
              </a:rPr>
              <a:t>(n)=2n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39852" indent="-339852" defTabSz="877823">
              <a:lnSpc>
                <a:spcPct val="130000"/>
              </a:lnSpc>
              <a:spcBef>
                <a:spcPts val="700"/>
              </a:spcBef>
              <a:defRPr sz="3072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再如：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区间集合</a:t>
            </a:r>
            <a:r>
              <a:rPr>
                <a:solidFill>
                  <a:srgbClr val="404040"/>
                </a:solidFill>
              </a:rPr>
              <a:t>A=(0, 1)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>
                <a:solidFill>
                  <a:srgbClr val="404040"/>
                </a:solidFill>
              </a:rPr>
              <a:t>B=(0, +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∞</a:t>
            </a:r>
            <a:r>
              <a:rPr>
                <a:solidFill>
                  <a:srgbClr val="404040"/>
                </a:solidFill>
              </a:rPr>
              <a:t>)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等浓，</a:t>
            </a:r>
            <a:r>
              <a:rPr>
                <a:solidFill>
                  <a:srgbClr val="404040"/>
                </a:solidFill>
              </a:rPr>
              <a:t>A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>
                <a:solidFill>
                  <a:srgbClr val="404040"/>
                </a:solidFill>
              </a:rPr>
              <a:t>B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的一个</a:t>
            </a:r>
            <a:r>
              <a:rPr>
                <a:solidFill>
                  <a:srgbClr val="404040"/>
                </a:solidFill>
              </a:rPr>
              <a:t>1-1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映射为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solidFill>
                  <a:srgbClr val="404040"/>
                </a:solidFill>
              </a:rPr>
              <a:t>(x)=  </a:t>
            </a:r>
          </a:p>
        </p:txBody>
      </p:sp>
      <p:pic>
        <p:nvPicPr>
          <p:cNvPr id="258" name="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096" y="4546758"/>
            <a:ext cx="1295401" cy="9715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" grpId="1" build="p" bldLvl="5" animBg="1" advAuto="0"/>
      <p:bldP spid="258" grpId="2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263" name="Shape 263"/>
          <p:cNvSpPr>
            <a:spLocks noGrp="1"/>
          </p:cNvSpPr>
          <p:nvPr>
            <p:ph type="body" idx="4294967295"/>
          </p:nvPr>
        </p:nvSpPr>
        <p:spPr>
          <a:xfrm>
            <a:off x="198437" y="620712"/>
            <a:ext cx="8766176" cy="58245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5691" indent="-325691" defTabSz="841247">
              <a:spcBef>
                <a:spcPts val="700"/>
              </a:spcBef>
              <a:defRPr sz="2944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显然，集合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为有限集当且仅当它以某一非负整数为其基数，即存在一非负整数</a:t>
            </a:r>
            <a:r>
              <a:rPr>
                <a:latin typeface="+mj-lt"/>
                <a:ea typeface="+mj-ea"/>
                <a:cs typeface="+mj-cs"/>
                <a:sym typeface="Arial"/>
              </a:rPr>
              <a:t>n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使得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latin typeface="+mj-lt"/>
                <a:ea typeface="+mj-ea"/>
                <a:cs typeface="+mj-cs"/>
                <a:sym typeface="Arial"/>
              </a:rPr>
              <a:t>=n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。即集合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的元素个数是</a:t>
            </a:r>
            <a:r>
              <a:rPr>
                <a:latin typeface="+mj-lt"/>
                <a:ea typeface="+mj-ea"/>
                <a:cs typeface="+mj-cs"/>
                <a:sym typeface="Arial"/>
              </a:rPr>
              <a:t>n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25691" indent="-325691" defTabSz="841247">
              <a:spcBef>
                <a:spcPts val="700"/>
              </a:spcBef>
              <a:defRPr sz="2944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我们把自然数集合的基数记为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ℵ</a:t>
            </a:r>
            <a:r>
              <a:rPr baseline="-32086">
                <a:latin typeface="+mj-lt"/>
                <a:ea typeface="+mj-ea"/>
                <a:cs typeface="+mj-cs"/>
                <a:sym typeface="Arial"/>
              </a:rPr>
              <a:t>0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（读作阿列夫零），于是凡是与自然数集合对等的集合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，其基数</a:t>
            </a:r>
            <a:r>
              <a:rPr>
                <a:latin typeface="+mj-lt"/>
                <a:ea typeface="+mj-ea"/>
                <a:cs typeface="+mj-cs"/>
                <a:sym typeface="Arial"/>
              </a:rPr>
              <a:t>|A|=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ℵ</a:t>
            </a:r>
            <a:r>
              <a:rPr baseline="-32086">
                <a:latin typeface="+mj-lt"/>
                <a:ea typeface="+mj-ea"/>
                <a:cs typeface="+mj-cs"/>
                <a:sym typeface="Arial"/>
              </a:rPr>
              <a:t>0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25691" indent="-325691" algn="just" defTabSz="841247">
              <a:spcBef>
                <a:spcPts val="700"/>
              </a:spcBef>
              <a:defRPr sz="2944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容易验证集合的对等关系是一个等价关系。</a:t>
            </a:r>
          </a:p>
          <a:p>
            <a:pPr marL="325691" indent="-325691" defTabSz="841247">
              <a:spcBef>
                <a:spcPts val="700"/>
              </a:spcBef>
              <a:defRPr sz="2944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可以用对等关系来重新刻画什么是集合的基数：集合按照对等关系分成等价类，每个等价类的共同的数量特征，称为该等价类中集合的基数。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1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266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182562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Shape 267"/>
          <p:cNvSpPr>
            <a:spLocks noGrp="1"/>
          </p:cNvSpPr>
          <p:nvPr>
            <p:ph type="body" idx="4294967295"/>
          </p:nvPr>
        </p:nvSpPr>
        <p:spPr>
          <a:xfrm>
            <a:off x="198437" y="1414462"/>
            <a:ext cx="8621713" cy="46783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09015" indent="-509015" defTabSz="877823">
              <a:lnSpc>
                <a:spcPct val="90000"/>
              </a:lnSpc>
              <a:spcBef>
                <a:spcPts val="700"/>
              </a:spcBef>
              <a:defRPr sz="3072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是任意两个集合。</a:t>
            </a:r>
          </a:p>
          <a:p>
            <a:pPr marL="509015" indent="-509015" defTabSz="877823">
              <a:lnSpc>
                <a:spcPct val="90000"/>
              </a:lnSpc>
              <a:spcBef>
                <a:spcPts val="700"/>
              </a:spcBef>
              <a:buSzTx/>
              <a:buNone/>
              <a:defRPr sz="3072">
                <a:latin typeface="+mj-lt"/>
                <a:ea typeface="+mj-ea"/>
                <a:cs typeface="+mj-cs"/>
                <a:sym typeface="Arial"/>
              </a:defRPr>
            </a:pPr>
            <a:r>
              <a:t>(1)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称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的基数小于等于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的基数，记为</a:t>
            </a:r>
            <a:r>
              <a:rPr>
                <a:solidFill>
                  <a:schemeClr val="accent1"/>
                </a:solidFill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solidFill>
                  <a:schemeClr val="accent1"/>
                </a:solidFill>
              </a:rPr>
              <a:t>A</a:t>
            </a:r>
            <a:r>
              <a:rPr>
                <a:solidFill>
                  <a:schemeClr val="accent1"/>
                </a:solidFill>
                <a:latin typeface="Symbol"/>
                <a:ea typeface="Symbol"/>
                <a:cs typeface="Symbol"/>
                <a:sym typeface="Symbol"/>
              </a:rPr>
              <a:t>|≤|</a:t>
            </a:r>
            <a:r>
              <a:rPr>
                <a:solidFill>
                  <a:schemeClr val="accent1"/>
                </a:solidFill>
              </a:rPr>
              <a:t>B</a:t>
            </a:r>
            <a:r>
              <a:rPr>
                <a:solidFill>
                  <a:schemeClr val="accent1"/>
                </a:solidFill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，如果有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单射</a:t>
            </a:r>
            <a: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或有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满射</a:t>
            </a:r>
            <a:r>
              <a:t>σ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509015" indent="-509015" defTabSz="877823">
              <a:lnSpc>
                <a:spcPct val="90000"/>
              </a:lnSpc>
              <a:spcBef>
                <a:spcPts val="700"/>
              </a:spcBef>
              <a:buSzTx/>
              <a:buNone/>
              <a:defRPr sz="3072">
                <a:latin typeface="+mj-lt"/>
                <a:ea typeface="+mj-ea"/>
                <a:cs typeface="+mj-cs"/>
                <a:sym typeface="Arial"/>
              </a:defRPr>
            </a:pPr>
            <a:r>
              <a:t>(2)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称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的基数小于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的基数，记为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|&lt;|</a:t>
            </a:r>
            <a:r>
              <a:t>B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，如果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|≤|</a:t>
            </a:r>
            <a:r>
              <a:t>B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且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|≠|</a:t>
            </a:r>
            <a:r>
              <a:t>B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509015" indent="-509015" defTabSz="877823">
              <a:lnSpc>
                <a:spcPct val="90000"/>
              </a:lnSpc>
              <a:spcBef>
                <a:spcPts val="700"/>
              </a:spcBef>
              <a:defRPr sz="3072">
                <a:solidFill>
                  <a:schemeClr val="accent1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换句话说：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若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的某一子集有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1-1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对应关系，则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|≤|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；若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的某一子集有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1-1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对应关系，且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不存在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1-1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对应关系，则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|&lt;|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|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1" build="p" bldLvl="5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24</a:t>
            </a:fld>
            <a:endParaRPr/>
          </a:p>
        </p:txBody>
      </p:sp>
      <p:pic>
        <p:nvPicPr>
          <p:cNvPr id="27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182562"/>
            <a:ext cx="6516688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Shape 271"/>
          <p:cNvSpPr>
            <a:spLocks noGrp="1"/>
          </p:cNvSpPr>
          <p:nvPr>
            <p:ph type="body" sz="half" idx="4294967295"/>
          </p:nvPr>
        </p:nvSpPr>
        <p:spPr>
          <a:xfrm>
            <a:off x="179387" y="1441450"/>
            <a:ext cx="8839201" cy="18430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若存在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的子集</a:t>
            </a:r>
            <a:r>
              <a:t>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′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的子集</a:t>
            </a:r>
            <a:r>
              <a:t>B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′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，使得</a:t>
            </a:r>
            <a:r>
              <a:t>|A|=|B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′</a:t>
            </a:r>
            <a:r>
              <a:t>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且</a:t>
            </a:r>
            <a:r>
              <a:t>|B|=|A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′</a:t>
            </a:r>
            <a:r>
              <a:t>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，则</a:t>
            </a:r>
            <a:r>
              <a:rPr>
                <a:solidFill>
                  <a:schemeClr val="accent1"/>
                </a:solidFill>
              </a:rPr>
              <a:t>|A|=|B|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。即若</a:t>
            </a:r>
            <a:r>
              <a:t>|A|≤|B|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且</a:t>
            </a:r>
            <a:r>
              <a:t>|B|≤|A|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，则</a:t>
            </a:r>
            <a:r>
              <a:t>|A|=|B|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25</a:t>
            </a:fld>
            <a:endParaRPr/>
          </a:p>
        </p:txBody>
      </p:sp>
      <p:pic>
        <p:nvPicPr>
          <p:cNvPr id="274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5" y="2225675"/>
            <a:ext cx="7248525" cy="19494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26</a:t>
            </a:fld>
            <a:endParaRPr/>
          </a:p>
        </p:txBody>
      </p:sp>
      <p:pic>
        <p:nvPicPr>
          <p:cNvPr id="279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255587"/>
            <a:ext cx="6516688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Shape 280"/>
          <p:cNvSpPr>
            <a:spLocks noGrp="1"/>
          </p:cNvSpPr>
          <p:nvPr>
            <p:ph type="body" idx="4294967295"/>
          </p:nvPr>
        </p:nvSpPr>
        <p:spPr>
          <a:xfrm>
            <a:off x="196850" y="1587500"/>
            <a:ext cx="8839200" cy="40735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6932" indent="-346932" defTabSz="896111">
              <a:spcBef>
                <a:spcPts val="700"/>
              </a:spcBef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一个集合，如果它的元素为有限个，或者它与自然数集合之间存在一个</a:t>
            </a:r>
            <a:r>
              <a:t>1-1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映射，则称此集合为</a:t>
            </a:r>
            <a:r>
              <a:rPr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可数集合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。否则称该集合为</a:t>
            </a:r>
            <a:r>
              <a:rPr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不可数集合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46932" indent="-346932" defTabSz="896111">
              <a:spcBef>
                <a:spcPts val="700"/>
              </a:spcBef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元素个数不是有限的可数集合称为</a:t>
            </a:r>
            <a:r>
              <a:rPr>
                <a:solidFill>
                  <a:schemeClr val="accent1"/>
                </a:solidFill>
                <a:latin typeface="楷体_GB2312"/>
                <a:ea typeface="楷体_GB2312"/>
                <a:cs typeface="楷体_GB2312"/>
                <a:sym typeface="楷体_GB2312"/>
              </a:rPr>
              <a:t>可数无穷集合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，对于可数无穷集合，可以把它的元素编号：</a:t>
            </a:r>
          </a:p>
          <a:p>
            <a:pPr marL="346932" indent="-346932" algn="ctr" defTabSz="896111">
              <a:spcBef>
                <a:spcPts val="700"/>
              </a:spcBef>
              <a:buSzTx/>
              <a:buNone/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t>a</a:t>
            </a:r>
            <a:r>
              <a:rPr baseline="-30489"/>
              <a:t>1</a:t>
            </a:r>
            <a:r>
              <a:t>, a</a:t>
            </a:r>
            <a:r>
              <a:rPr baseline="-30489"/>
              <a:t>2</a:t>
            </a:r>
            <a:r>
              <a:t>, …, a</a:t>
            </a:r>
            <a:r>
              <a:rPr baseline="-30489"/>
              <a:t>n</a:t>
            </a:r>
            <a:r>
              <a:t>, … 	(1)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1" build="p" bldLvl="5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27</a:t>
            </a:fld>
            <a:endParaRPr/>
          </a:p>
        </p:txBody>
      </p:sp>
      <p:pic>
        <p:nvPicPr>
          <p:cNvPr id="283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6212"/>
            <a:ext cx="7772400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Shape 284"/>
          <p:cNvSpPr>
            <a:spLocks noGrp="1"/>
          </p:cNvSpPr>
          <p:nvPr>
            <p:ph type="body" idx="4294967295"/>
          </p:nvPr>
        </p:nvSpPr>
        <p:spPr>
          <a:xfrm>
            <a:off x="196850" y="1282700"/>
            <a:ext cx="8839200" cy="52419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非负整数的平方数集合</a:t>
            </a:r>
            <a:r>
              <a:t>B={0,1,4,9,16,…}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是可数无穷集，作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 : N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B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br>
              <a:rPr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t>                    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(x)=x</a:t>
            </a:r>
            <a:r>
              <a:rPr baseline="30000"/>
              <a:t>2</a:t>
            </a:r>
            <a:br>
              <a:rPr baseline="30000"/>
            </a:br>
            <a:endParaRPr baseline="30000"/>
          </a:p>
          <a:p>
            <a:pPr marL="354012" indent="-35401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整数集合</a:t>
            </a:r>
            <a:r>
              <a:t>Z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是可数无穷集，作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: N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→</a:t>
            </a:r>
            <a:r>
              <a:t>Z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</a:p>
          <a:p>
            <a:pPr marL="354012" indent="-354012">
              <a:spcBef>
                <a:spcPts val="4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endParaRPr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354012" lvl="1" indent="303212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					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为偶数</a:t>
            </a:r>
          </a:p>
          <a:p>
            <a:pPr marL="354012" lvl="1" indent="303212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					x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为奇数</a:t>
            </a:r>
          </a:p>
        </p:txBody>
      </p:sp>
      <p:pic>
        <p:nvPicPr>
          <p:cNvPr id="285" name="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525" y="4076700"/>
            <a:ext cx="3736975" cy="21748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" grpId="1" build="p" bldLvl="5" animBg="1" advAuto="0"/>
      <p:bldP spid="285" grpId="2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28</a:t>
            </a:fld>
            <a:endParaRPr/>
          </a:p>
        </p:txBody>
      </p:sp>
      <p:pic>
        <p:nvPicPr>
          <p:cNvPr id="29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115887"/>
            <a:ext cx="8937626" cy="1358901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Shape 291"/>
          <p:cNvSpPr>
            <a:spLocks noGrp="1"/>
          </p:cNvSpPr>
          <p:nvPr>
            <p:ph type="body" idx="4294967295"/>
          </p:nvPr>
        </p:nvSpPr>
        <p:spPr>
          <a:xfrm>
            <a:off x="179387" y="1368425"/>
            <a:ext cx="8785226" cy="47974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6311" indent="-336311" algn="just" defTabSz="868680">
              <a:lnSpc>
                <a:spcPct val="90000"/>
              </a:lnSpc>
              <a:spcBef>
                <a:spcPts val="700"/>
              </a:spcBef>
              <a:defRPr sz="3040">
                <a:solidFill>
                  <a:srgbClr val="212745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可数集合的子集仍为可数集合。</a:t>
            </a:r>
          </a:p>
          <a:p>
            <a:pPr marL="336311" indent="-336311" defTabSz="868680">
              <a:lnSpc>
                <a:spcPct val="90000"/>
              </a:lnSpc>
              <a:spcBef>
                <a:spcPts val="200"/>
              </a:spcBef>
              <a:defRPr sz="304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证明：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如果此可数集合是有限集合，则它的子集也有限，当然可数。</a:t>
            </a:r>
          </a:p>
          <a:p>
            <a:pPr marL="336311" indent="-336311" defTabSz="868680">
              <a:lnSpc>
                <a:spcPct val="90000"/>
              </a:lnSpc>
              <a:spcBef>
                <a:spcPts val="200"/>
              </a:spcBef>
              <a:buSzTx/>
              <a:buNone/>
              <a:defRPr sz="304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	如果此可数集合是无穷集合，则此集合的元素可写成</a:t>
            </a:r>
            <a:r>
              <a:t>a</a:t>
            </a:r>
            <a:r>
              <a:rPr baseline="-31263"/>
              <a:t>1</a:t>
            </a:r>
            <a:r>
              <a:t>, a</a:t>
            </a:r>
            <a:r>
              <a:rPr baseline="-31263"/>
              <a:t>2</a:t>
            </a:r>
            <a:r>
              <a:t>, …, a</a:t>
            </a:r>
            <a:r>
              <a:rPr baseline="-31263"/>
              <a:t>n</a:t>
            </a:r>
            <a:r>
              <a:t>, 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的形式。它的子集可以这样得到：从左向右，第一个是子集中元素的记为</a:t>
            </a:r>
            <a:r>
              <a:t>a</a:t>
            </a:r>
            <a:r>
              <a:rPr baseline="-31263"/>
              <a:t>i1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，第二个是子集中元素的记为</a:t>
            </a:r>
            <a:r>
              <a:t>a</a:t>
            </a:r>
            <a:r>
              <a:rPr baseline="-31263"/>
              <a:t>i2</a:t>
            </a:r>
            <a:r>
              <a:t>, 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，于是，此子集的元素可排列为： </a:t>
            </a:r>
            <a:r>
              <a:t>a</a:t>
            </a:r>
            <a:r>
              <a:rPr baseline="-31263"/>
              <a:t>i1</a:t>
            </a:r>
            <a:r>
              <a:t>, a</a:t>
            </a:r>
            <a:r>
              <a:rPr baseline="-31263"/>
              <a:t>i2</a:t>
            </a:r>
            <a:r>
              <a:t>, …, a</a:t>
            </a:r>
            <a:r>
              <a:rPr baseline="-31263"/>
              <a:t>in</a:t>
            </a:r>
            <a:r>
              <a:t>, 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36311" indent="-336311" defTabSz="868680">
              <a:lnSpc>
                <a:spcPct val="90000"/>
              </a:lnSpc>
              <a:spcBef>
                <a:spcPts val="200"/>
              </a:spcBef>
              <a:buSzTx/>
              <a:buNone/>
              <a:defRPr sz="304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	所以，此子集是可数集合。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1" build="p" bldLvl="5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29</a:t>
            </a:fld>
            <a:endParaRPr/>
          </a:p>
        </p:txBody>
      </p:sp>
      <p:pic>
        <p:nvPicPr>
          <p:cNvPr id="294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7" y="368617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295" name="Shape 295"/>
          <p:cNvSpPr>
            <a:spLocks noGrp="1"/>
          </p:cNvSpPr>
          <p:nvPr>
            <p:ph type="body" idx="4294967295"/>
          </p:nvPr>
        </p:nvSpPr>
        <p:spPr>
          <a:xfrm>
            <a:off x="125412" y="1327150"/>
            <a:ext cx="8839201" cy="4838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2151" indent="-322151" defTabSz="832104">
              <a:spcBef>
                <a:spcPts val="0"/>
              </a:spcBef>
              <a:defRPr sz="2912"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 dirty="0" err="1"/>
              <a:t>A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是可数集合，</a:t>
            </a:r>
            <a:r>
              <a:rPr dirty="0" err="1"/>
              <a:t>A∩B</a:t>
            </a:r>
            <a:r>
              <a:rPr dirty="0"/>
              <a:t>=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∅ 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则</a:t>
            </a:r>
            <a:r>
              <a:rPr dirty="0" err="1"/>
              <a:t>A∪B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是可数集合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22151" indent="-322151" defTabSz="832104">
              <a:spcBef>
                <a:spcPts val="0"/>
              </a:spcBef>
              <a:defRPr sz="2912">
                <a:latin typeface="+mj-lt"/>
                <a:ea typeface="+mj-ea"/>
                <a:cs typeface="+mj-cs"/>
                <a:sym typeface="Arial"/>
              </a:defRPr>
            </a:pPr>
            <a:endParaRPr dirty="0"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322151" indent="-322151" defTabSz="832104">
              <a:spcBef>
                <a:spcPts val="0"/>
              </a:spcBef>
              <a:defRPr sz="2912">
                <a:solidFill>
                  <a:schemeClr val="accent1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证明：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因为</a:t>
            </a:r>
            <a:r>
              <a:rPr dirty="0" err="1"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solidFill>
                  <a:srgbClr val="404040"/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是可数集合，所以可设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	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A={a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…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n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…}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，					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B={b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…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n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…}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b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于是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∪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可以写成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{a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,b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,a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,b</a:t>
            </a:r>
            <a:r>
              <a:rPr baseline="-32373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,…,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237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n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,b</a:t>
            </a:r>
            <a:r>
              <a:rPr baseline="-32373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n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,…}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且由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∩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=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∅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知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其中没有重复元。因此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∪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是可数集合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322151" indent="-322151" defTabSz="832104">
              <a:spcBef>
                <a:spcPts val="0"/>
              </a:spcBef>
              <a:defRPr sz="2912">
                <a:solidFill>
                  <a:schemeClr val="accent1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zh-CN" altLang="en-US" dirty="0">
                <a:solidFill>
                  <a:schemeClr val="accent1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/>
                <a:sym typeface="宋体"/>
              </a:rPr>
              <a:t>推广：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/>
                <a:sym typeface="宋体"/>
              </a:rPr>
              <a:t>有限个可数集合的并集是可数集合。</a:t>
            </a:r>
          </a:p>
          <a:p>
            <a:pPr marL="0" indent="0" defTabSz="832104">
              <a:spcBef>
                <a:spcPts val="0"/>
              </a:spcBef>
              <a:buNone/>
              <a:defRPr sz="2912">
                <a:solidFill>
                  <a:schemeClr val="accent1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楷体_GB2312"/>
              <a:ea typeface="楷体_GB2312"/>
              <a:cs typeface="楷体_GB2312"/>
              <a:sym typeface="楷体_GB231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" grpId="1" build="p" bldLvl="5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30</a:t>
            </a:fld>
            <a:endParaRPr/>
          </a:p>
        </p:txBody>
      </p:sp>
      <p:pic>
        <p:nvPicPr>
          <p:cNvPr id="300" name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12" y="255587"/>
            <a:ext cx="6516688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Shape 301"/>
          <p:cNvSpPr>
            <a:spLocks noGrp="1"/>
          </p:cNvSpPr>
          <p:nvPr>
            <p:ph type="body" idx="4294967295"/>
          </p:nvPr>
        </p:nvSpPr>
        <p:spPr>
          <a:xfrm>
            <a:off x="250825" y="1503362"/>
            <a:ext cx="8623300" cy="35814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>
              <a:lnSpc>
                <a:spcPct val="150000"/>
              </a:lnSpc>
              <a:spcBef>
                <a:spcPts val="700"/>
              </a:spcBef>
              <a:defRPr sz="3200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1</a:t>
            </a:r>
            <a:r>
              <a:t>,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2</a:t>
            </a:r>
            <a:r>
              <a:t>,</a:t>
            </a:r>
            <a:r>
              <a:rPr>
                <a:latin typeface="+mj-lt"/>
                <a:ea typeface="+mj-ea"/>
                <a:cs typeface="+mj-cs"/>
                <a:sym typeface="Arial"/>
              </a:rPr>
              <a:t>…</a:t>
            </a:r>
            <a:r>
              <a:t>,</a:t>
            </a:r>
            <a:r>
              <a:rPr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>
                <a:latin typeface="+mj-lt"/>
                <a:ea typeface="+mj-ea"/>
                <a:cs typeface="+mj-cs"/>
                <a:sym typeface="Arial"/>
              </a:rPr>
              <a:t>n</a:t>
            </a:r>
            <a:r>
              <a:t>,</a:t>
            </a:r>
            <a:r>
              <a:rPr>
                <a:latin typeface="+mj-lt"/>
                <a:ea typeface="+mj-ea"/>
                <a:cs typeface="+mj-cs"/>
                <a:sym typeface="Arial"/>
              </a:rPr>
              <a:t>…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是可数无穷多个可数集合的序列，则       是可数集合。即可数无穷多个可数集合的并集是可数集合。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27E0439-BB9B-0F45-B600-A6293E311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420436"/>
              </p:ext>
            </p:extLst>
          </p:nvPr>
        </p:nvGraphicFramePr>
        <p:xfrm>
          <a:off x="2792410" y="2302672"/>
          <a:ext cx="700088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公式" r:id="rId5" imgW="393700" imgH="431800" progId="Equation.3">
                  <p:embed/>
                </p:oleObj>
              </mc:Choice>
              <mc:Fallback>
                <p:oleObj name="公式" r:id="rId5" imgW="393700" imgH="431800" progId="Equation.3">
                  <p:embed/>
                  <p:pic>
                    <p:nvPicPr>
                      <p:cNvPr id="78852" name="Object 5">
                        <a:extLst>
                          <a:ext uri="{FF2B5EF4-FFF2-40B4-BE49-F238E27FC236}">
                            <a16:creationId xmlns:a16="http://schemas.microsoft.com/office/drawing/2014/main" id="{711C2D0C-3FC3-BB49-A07B-68D4A7FDF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0" y="2302672"/>
                        <a:ext cx="700088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31</a:t>
            </a:fld>
            <a:endParaRPr/>
          </a:p>
        </p:txBody>
      </p:sp>
      <p:pic>
        <p:nvPicPr>
          <p:cNvPr id="307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115887"/>
            <a:ext cx="8937626" cy="1358901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Shape 308"/>
          <p:cNvSpPr>
            <a:spLocks noGrp="1"/>
          </p:cNvSpPr>
          <p:nvPr>
            <p:ph type="body" idx="4294967295"/>
          </p:nvPr>
        </p:nvSpPr>
        <p:spPr>
          <a:xfrm>
            <a:off x="152400" y="1287462"/>
            <a:ext cx="8839200" cy="50942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不失一般性，设</a:t>
            </a:r>
            <a:r>
              <a:t>A</a:t>
            </a:r>
            <a:r>
              <a:rPr baseline="-30000"/>
              <a:t>1</a:t>
            </a:r>
            <a:r>
              <a:t>, A</a:t>
            </a:r>
            <a:r>
              <a:rPr baseline="-30000"/>
              <a:t>2</a:t>
            </a:r>
            <a:r>
              <a:t>, …, A</a:t>
            </a:r>
            <a:r>
              <a:rPr baseline="-30000"/>
              <a:t>n</a:t>
            </a:r>
            <a:r>
              <a:t>,…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都是可数无穷集合，且为</a:t>
            </a:r>
          </a:p>
          <a:p>
            <a:pPr marL="182562" lvl="1" indent="454025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A</a:t>
            </a:r>
            <a:r>
              <a:rPr baseline="-30000"/>
              <a:t>1</a:t>
            </a:r>
            <a:r>
              <a:t>={a</a:t>
            </a:r>
            <a:r>
              <a:rPr baseline="-30000"/>
              <a:t>11</a:t>
            </a:r>
            <a:r>
              <a:t>, a</a:t>
            </a:r>
            <a:r>
              <a:rPr baseline="-30000"/>
              <a:t>12</a:t>
            </a:r>
            <a:r>
              <a:t>, …, a</a:t>
            </a:r>
            <a:r>
              <a:rPr baseline="-30000"/>
              <a:t>1n</a:t>
            </a:r>
            <a:r>
              <a:t>, …}</a:t>
            </a:r>
          </a:p>
          <a:p>
            <a:pPr marL="182562" lvl="1" indent="454025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A</a:t>
            </a:r>
            <a:r>
              <a:rPr baseline="-30000"/>
              <a:t>2</a:t>
            </a:r>
            <a:r>
              <a:t>={a</a:t>
            </a:r>
            <a:r>
              <a:rPr baseline="-30000"/>
              <a:t>21</a:t>
            </a:r>
            <a:r>
              <a:t>, a</a:t>
            </a:r>
            <a:r>
              <a:rPr baseline="-30000"/>
              <a:t>22</a:t>
            </a:r>
            <a:r>
              <a:t>, …, a</a:t>
            </a:r>
            <a:r>
              <a:rPr baseline="-30000"/>
              <a:t>2n</a:t>
            </a:r>
            <a:r>
              <a:t>, …}</a:t>
            </a:r>
          </a:p>
          <a:p>
            <a:pPr marL="182562" lvl="1" indent="454025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A</a:t>
            </a:r>
            <a:r>
              <a:rPr baseline="-30000"/>
              <a:t>3</a:t>
            </a:r>
            <a:r>
              <a:t>={a</a:t>
            </a:r>
            <a:r>
              <a:rPr baseline="-30000"/>
              <a:t>31</a:t>
            </a:r>
            <a:r>
              <a:t>, a</a:t>
            </a:r>
            <a:r>
              <a:rPr baseline="-30000"/>
              <a:t>32</a:t>
            </a:r>
            <a:r>
              <a:t>, …, a</a:t>
            </a:r>
            <a:r>
              <a:rPr baseline="-30000"/>
              <a:t>3n</a:t>
            </a:r>
            <a:r>
              <a:t>, …}</a:t>
            </a:r>
          </a:p>
          <a:p>
            <a:pPr marL="182562" lvl="1" indent="454025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………</a:t>
            </a:r>
          </a:p>
          <a:p>
            <a:pPr marL="182562" lvl="1" indent="454025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A</a:t>
            </a:r>
            <a:r>
              <a:rPr baseline="-30000"/>
              <a:t>n</a:t>
            </a:r>
            <a:r>
              <a:t>={a</a:t>
            </a:r>
            <a:r>
              <a:rPr baseline="-30000"/>
              <a:t>n1</a:t>
            </a:r>
            <a:r>
              <a:t>, a</a:t>
            </a:r>
            <a:r>
              <a:rPr baseline="-30000"/>
              <a:t>n2</a:t>
            </a:r>
            <a:r>
              <a:t>, …, a</a:t>
            </a:r>
            <a:r>
              <a:rPr baseline="-30000"/>
              <a:t>nn</a:t>
            </a:r>
            <a:r>
              <a:t>, …}  </a:t>
            </a:r>
          </a:p>
          <a:p>
            <a:pPr marL="182562" lvl="1" indent="454025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………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32</a:t>
            </a:fld>
            <a:endParaRPr/>
          </a:p>
        </p:txBody>
      </p:sp>
      <p:pic>
        <p:nvPicPr>
          <p:cNvPr id="311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182562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Shape 312"/>
          <p:cNvSpPr>
            <a:spLocks noGrp="1"/>
          </p:cNvSpPr>
          <p:nvPr>
            <p:ph type="body" idx="4294967295"/>
          </p:nvPr>
        </p:nvSpPr>
        <p:spPr>
          <a:xfrm>
            <a:off x="296862" y="1341437"/>
            <a:ext cx="8451851" cy="47513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4012" indent="-354012">
              <a:lnSpc>
                <a:spcPct val="130000"/>
              </a:lnSpc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对于任意的</a:t>
            </a:r>
            <a:r>
              <a:t>a</a:t>
            </a:r>
            <a:r>
              <a:rPr baseline="-30000"/>
              <a:t>ij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，规定按各元素</a:t>
            </a:r>
            <a:r>
              <a:t>(i+j)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之和的大小排序，相同者按</a:t>
            </a:r>
            <a:r>
              <a:t>i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的大小排序，如果当前排序者与前面已排好序的某元素相同则删去该当前元素，如此排下去，最后得       </a:t>
            </a:r>
            <a:r>
              <a:t>={a</a:t>
            </a:r>
            <a:r>
              <a:rPr baseline="-30000"/>
              <a:t>11</a:t>
            </a:r>
            <a:r>
              <a:t>, a</a:t>
            </a:r>
            <a:r>
              <a:rPr baseline="-30000"/>
              <a:t>12</a:t>
            </a:r>
            <a:r>
              <a:t>, a</a:t>
            </a:r>
            <a:r>
              <a:rPr baseline="-30000"/>
              <a:t>21</a:t>
            </a:r>
            <a:r>
              <a:t>, a</a:t>
            </a:r>
            <a:r>
              <a:rPr baseline="-30000"/>
              <a:t>13</a:t>
            </a:r>
            <a:r>
              <a:t>, a</a:t>
            </a:r>
            <a:r>
              <a:rPr baseline="-30000"/>
              <a:t>22</a:t>
            </a:r>
            <a:r>
              <a:t>, a</a:t>
            </a:r>
            <a:r>
              <a:rPr baseline="-30000"/>
              <a:t>31</a:t>
            </a:r>
            <a:r>
              <a:t>, …, a</a:t>
            </a:r>
            <a:r>
              <a:rPr baseline="-30000"/>
              <a:t>1n</a:t>
            </a:r>
            <a:r>
              <a:t>, a</a:t>
            </a:r>
            <a:r>
              <a:rPr baseline="-30000"/>
              <a:t>2(n-1)</a:t>
            </a:r>
            <a:r>
              <a:t>,… a</a:t>
            </a:r>
            <a:r>
              <a:rPr baseline="-30000"/>
              <a:t>n1</a:t>
            </a:r>
            <a:r>
              <a:t>,…}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。由可数集合的定义可知       是可数集合。 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A52B6B1C-9857-6545-956C-79A6A730F1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896"/>
              </p:ext>
            </p:extLst>
          </p:nvPr>
        </p:nvGraphicFramePr>
        <p:xfrm>
          <a:off x="6049962" y="3284538"/>
          <a:ext cx="700088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公式" r:id="rId4" imgW="393700" imgH="431800" progId="Equation.3">
                  <p:embed/>
                </p:oleObj>
              </mc:Choice>
              <mc:Fallback>
                <p:oleObj name="公式" r:id="rId4" imgW="393700" imgH="431800" progId="Equation.3">
                  <p:embed/>
                  <p:pic>
                    <p:nvPicPr>
                      <p:cNvPr id="78852" name="Object 5">
                        <a:extLst>
                          <a:ext uri="{FF2B5EF4-FFF2-40B4-BE49-F238E27FC236}">
                            <a16:creationId xmlns:a16="http://schemas.microsoft.com/office/drawing/2014/main" id="{711C2D0C-3FC3-BB49-A07B-68D4A7FDF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2" y="3284538"/>
                        <a:ext cx="700088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CF26DBFB-A0E7-004F-AB47-94A233F7DF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230888"/>
              </p:ext>
            </p:extLst>
          </p:nvPr>
        </p:nvGraphicFramePr>
        <p:xfrm>
          <a:off x="4460084" y="4513265"/>
          <a:ext cx="700088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公式" r:id="rId4" imgW="393700" imgH="431800" progId="Equation.3">
                  <p:embed/>
                </p:oleObj>
              </mc:Choice>
              <mc:Fallback>
                <p:oleObj name="公式" r:id="rId4" imgW="393700" imgH="431800" progId="Equation.3">
                  <p:embed/>
                  <p:pic>
                    <p:nvPicPr>
                      <p:cNvPr id="78852" name="Object 5">
                        <a:extLst>
                          <a:ext uri="{FF2B5EF4-FFF2-40B4-BE49-F238E27FC236}">
                            <a16:creationId xmlns:a16="http://schemas.microsoft.com/office/drawing/2014/main" id="{711C2D0C-3FC3-BB49-A07B-68D4A7FDF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084" y="4513265"/>
                        <a:ext cx="700088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33</a:t>
            </a:fld>
            <a:endParaRPr/>
          </a:p>
        </p:txBody>
      </p:sp>
      <p:pic>
        <p:nvPicPr>
          <p:cNvPr id="317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30162"/>
            <a:ext cx="8937626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Shape 318"/>
          <p:cNvSpPr>
            <a:spLocks noGrp="1"/>
          </p:cNvSpPr>
          <p:nvPr>
            <p:ph type="body" idx="4294967295"/>
          </p:nvPr>
        </p:nvSpPr>
        <p:spPr>
          <a:xfrm>
            <a:off x="269875" y="1403350"/>
            <a:ext cx="8839200" cy="5410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A</a:t>
            </a:r>
            <a:r>
              <a:rPr baseline="-30000"/>
              <a:t>1</a:t>
            </a:r>
            <a:r>
              <a:t>={a</a:t>
            </a:r>
            <a:r>
              <a:rPr baseline="-30000"/>
              <a:t>11</a:t>
            </a:r>
            <a:r>
              <a:t>,       a</a:t>
            </a:r>
            <a:r>
              <a:rPr baseline="-30000"/>
              <a:t>12</a:t>
            </a:r>
            <a:r>
              <a:t>,        a</a:t>
            </a:r>
            <a:r>
              <a:rPr baseline="-30000"/>
              <a:t>13</a:t>
            </a:r>
            <a:r>
              <a:t>,        a</a:t>
            </a:r>
            <a:r>
              <a:rPr baseline="-30000"/>
              <a:t>14</a:t>
            </a:r>
            <a:r>
              <a:t>, …, a</a:t>
            </a:r>
            <a:r>
              <a:rPr baseline="-30000"/>
              <a:t>1n</a:t>
            </a:r>
            <a:r>
              <a:t>, …} </a:t>
            </a:r>
            <a:br/>
            <a:r>
              <a:t>  </a:t>
            </a:r>
            <a:br/>
            <a:r>
              <a:t>A</a:t>
            </a:r>
            <a:r>
              <a:rPr baseline="-30000"/>
              <a:t>2</a:t>
            </a:r>
            <a:r>
              <a:t>={a</a:t>
            </a:r>
            <a:r>
              <a:rPr baseline="-30000"/>
              <a:t>21</a:t>
            </a:r>
            <a:r>
              <a:t>,       a</a:t>
            </a:r>
            <a:r>
              <a:rPr baseline="-30000"/>
              <a:t>22</a:t>
            </a:r>
            <a:r>
              <a:t>,        a</a:t>
            </a:r>
            <a:r>
              <a:rPr baseline="-30000"/>
              <a:t>23</a:t>
            </a:r>
            <a:r>
              <a:t>,        a</a:t>
            </a:r>
            <a:r>
              <a:rPr baseline="-30000"/>
              <a:t>24</a:t>
            </a:r>
            <a:r>
              <a:t>, …, a</a:t>
            </a:r>
            <a:r>
              <a:rPr baseline="-30000"/>
              <a:t>2n</a:t>
            </a:r>
            <a:r>
              <a:t>, …}</a:t>
            </a:r>
            <a:br/>
            <a:br/>
            <a:r>
              <a:t>A</a:t>
            </a:r>
            <a:r>
              <a:rPr baseline="-30000"/>
              <a:t>3</a:t>
            </a:r>
            <a:r>
              <a:t>={a</a:t>
            </a:r>
            <a:r>
              <a:rPr baseline="-30000"/>
              <a:t>31</a:t>
            </a:r>
            <a:r>
              <a:t>,       a</a:t>
            </a:r>
            <a:r>
              <a:rPr baseline="-30000"/>
              <a:t>32</a:t>
            </a:r>
            <a:r>
              <a:t>,        a</a:t>
            </a:r>
            <a:r>
              <a:rPr baseline="-30000"/>
              <a:t>33</a:t>
            </a:r>
            <a:r>
              <a:t>,        a</a:t>
            </a:r>
            <a:r>
              <a:rPr baseline="-30000"/>
              <a:t>34</a:t>
            </a:r>
            <a:r>
              <a:t>, …, a</a:t>
            </a:r>
            <a:r>
              <a:rPr baseline="-30000"/>
              <a:t>3n</a:t>
            </a:r>
            <a:r>
              <a:t>, …}</a:t>
            </a:r>
          </a:p>
          <a:p>
            <a:pPr marL="0" indent="0">
              <a:spcBef>
                <a:spcPts val="4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endParaRPr/>
          </a:p>
          <a:p>
            <a:pPr marL="0" indent="0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A</a:t>
            </a:r>
            <a:r>
              <a:rPr baseline="-30000"/>
              <a:t>4</a:t>
            </a:r>
            <a:r>
              <a:t>={a</a:t>
            </a:r>
            <a:r>
              <a:rPr baseline="-30000"/>
              <a:t>41</a:t>
            </a:r>
            <a:r>
              <a:t>,       a</a:t>
            </a:r>
            <a:r>
              <a:rPr baseline="-30000"/>
              <a:t>42</a:t>
            </a:r>
            <a:r>
              <a:t>,        a</a:t>
            </a:r>
            <a:r>
              <a:rPr baseline="-30000"/>
              <a:t>43</a:t>
            </a:r>
            <a:r>
              <a:t>,        a</a:t>
            </a:r>
            <a:r>
              <a:rPr baseline="-30000"/>
              <a:t>44</a:t>
            </a:r>
            <a:r>
              <a:t>, …, a</a:t>
            </a:r>
            <a:r>
              <a:rPr baseline="-30000"/>
              <a:t>4n</a:t>
            </a:r>
            <a:r>
              <a:t>, …}</a:t>
            </a:r>
            <a:br/>
            <a:r>
              <a:t> </a:t>
            </a:r>
          </a:p>
          <a:p>
            <a:pPr marL="0" indent="0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……….</a:t>
            </a:r>
          </a:p>
        </p:txBody>
      </p:sp>
      <p:grpSp>
        <p:nvGrpSpPr>
          <p:cNvPr id="330" name="Group 330"/>
          <p:cNvGrpSpPr/>
          <p:nvPr/>
        </p:nvGrpSpPr>
        <p:grpSpPr>
          <a:xfrm>
            <a:off x="1547812" y="1700212"/>
            <a:ext cx="4086226" cy="3040063"/>
            <a:chOff x="0" y="0"/>
            <a:chExt cx="4086225" cy="3040062"/>
          </a:xfrm>
        </p:grpSpPr>
        <p:sp>
          <p:nvSpPr>
            <p:cNvPr id="319" name="Shape 319"/>
            <p:cNvSpPr/>
            <p:nvPr/>
          </p:nvSpPr>
          <p:spPr>
            <a:xfrm>
              <a:off x="269875" y="46037"/>
              <a:ext cx="609601" cy="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0" name="Shape 320"/>
            <p:cNvSpPr/>
            <p:nvPr/>
          </p:nvSpPr>
          <p:spPr>
            <a:xfrm flipV="1">
              <a:off x="125412" y="220662"/>
              <a:ext cx="990601" cy="76200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1" name="Shape 321"/>
            <p:cNvSpPr/>
            <p:nvPr/>
          </p:nvSpPr>
          <p:spPr>
            <a:xfrm flipV="1">
              <a:off x="1638300" y="220662"/>
              <a:ext cx="990600" cy="76200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2" name="Shape 322"/>
            <p:cNvSpPr/>
            <p:nvPr/>
          </p:nvSpPr>
          <p:spPr>
            <a:xfrm flipV="1">
              <a:off x="0" y="1155699"/>
              <a:ext cx="990600" cy="76200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3" name="Shape 323"/>
            <p:cNvSpPr/>
            <p:nvPr/>
          </p:nvSpPr>
          <p:spPr>
            <a:xfrm flipV="1">
              <a:off x="3095625" y="220662"/>
              <a:ext cx="990600" cy="76200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4" name="Shape 324"/>
            <p:cNvSpPr/>
            <p:nvPr/>
          </p:nvSpPr>
          <p:spPr>
            <a:xfrm flipV="1">
              <a:off x="1565275" y="1198562"/>
              <a:ext cx="990600" cy="76200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5" name="Shape 325"/>
            <p:cNvSpPr/>
            <p:nvPr/>
          </p:nvSpPr>
          <p:spPr>
            <a:xfrm flipV="1">
              <a:off x="53975" y="2236787"/>
              <a:ext cx="990600" cy="76200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6" name="Shape 326"/>
            <p:cNvSpPr/>
            <p:nvPr/>
          </p:nvSpPr>
          <p:spPr>
            <a:xfrm flipV="1">
              <a:off x="269875" y="46037"/>
              <a:ext cx="2232026" cy="1008064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7" name="Shape 327"/>
            <p:cNvSpPr/>
            <p:nvPr/>
          </p:nvSpPr>
          <p:spPr>
            <a:xfrm flipV="1">
              <a:off x="125412" y="-1"/>
              <a:ext cx="3960813" cy="1990726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8" name="Shape 328"/>
            <p:cNvSpPr/>
            <p:nvPr/>
          </p:nvSpPr>
          <p:spPr>
            <a:xfrm flipV="1">
              <a:off x="3006725" y="1198562"/>
              <a:ext cx="990600" cy="76200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9" name="Shape 329"/>
            <p:cNvSpPr/>
            <p:nvPr/>
          </p:nvSpPr>
          <p:spPr>
            <a:xfrm flipV="1">
              <a:off x="1493837" y="2278062"/>
              <a:ext cx="990601" cy="762001"/>
            </a:xfrm>
            <a:prstGeom prst="line">
              <a:avLst/>
            </a:prstGeom>
            <a:noFill/>
            <a:ln w="38100" cap="flat">
              <a:solidFill>
                <a:srgbClr val="212745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34</a:t>
            </a:fld>
            <a:endParaRPr/>
          </a:p>
        </p:txBody>
      </p:sp>
      <p:pic>
        <p:nvPicPr>
          <p:cNvPr id="335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176212"/>
            <a:ext cx="6516688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Shape 336"/>
          <p:cNvSpPr>
            <a:spLocks noGrp="1"/>
          </p:cNvSpPr>
          <p:nvPr>
            <p:ph type="body" idx="4294967295"/>
          </p:nvPr>
        </p:nvSpPr>
        <p:spPr>
          <a:xfrm>
            <a:off x="125412" y="1717675"/>
            <a:ext cx="8839201" cy="29352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5691" indent="-325691" defTabSz="841247">
              <a:spcBef>
                <a:spcPts val="700"/>
              </a:spcBef>
              <a:defRPr sz="2944">
                <a:latin typeface="宋体"/>
                <a:ea typeface="宋体"/>
                <a:cs typeface="宋体"/>
                <a:sym typeface="宋体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 dirty="0" err="1"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是可数无穷集合，则</a:t>
            </a:r>
            <a:r>
              <a:rPr dirty="0" err="1"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lang="en-US" altLang="zh-CN" sz="2800" dirty="0" err="1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</a:t>
            </a:r>
            <a:r>
              <a:rPr dirty="0" err="1"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是可数集合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25691" indent="-325691" defTabSz="841247">
              <a:spcBef>
                <a:spcPts val="300"/>
              </a:spcBef>
              <a:defRPr sz="2944">
                <a:latin typeface="宋体"/>
                <a:ea typeface="宋体"/>
                <a:cs typeface="宋体"/>
                <a:sym typeface="宋体"/>
              </a:defRPr>
            </a:pPr>
            <a:endParaRPr dirty="0"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325691" indent="-325691" defTabSz="841247">
              <a:spcBef>
                <a:spcPts val="700"/>
              </a:spcBef>
              <a:defRPr sz="2944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证明：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 dirty="0" err="1">
                <a:solidFill>
                  <a:srgbClr val="404040"/>
                </a:solidFill>
              </a:rPr>
              <a:t>A</a:t>
            </a:r>
            <a:r>
              <a:rPr dirty="0">
                <a:solidFill>
                  <a:srgbClr val="404040"/>
                </a:solidFill>
              </a:rPr>
              <a:t>={a</a:t>
            </a:r>
            <a:r>
              <a:rPr baseline="-32086" dirty="0">
                <a:solidFill>
                  <a:srgbClr val="404040"/>
                </a:solidFill>
              </a:rPr>
              <a:t>1</a:t>
            </a:r>
            <a:r>
              <a:rPr dirty="0">
                <a:solidFill>
                  <a:srgbClr val="404040"/>
                </a:solidFill>
              </a:rPr>
              <a:t>, a</a:t>
            </a:r>
            <a:r>
              <a:rPr baseline="-32086" dirty="0">
                <a:solidFill>
                  <a:srgbClr val="404040"/>
                </a:solidFill>
              </a:rPr>
              <a:t>2</a:t>
            </a:r>
            <a:r>
              <a:rPr dirty="0">
                <a:solidFill>
                  <a:srgbClr val="404040"/>
                </a:solidFill>
              </a:rPr>
              <a:t>, …, a</a:t>
            </a:r>
            <a:r>
              <a:rPr baseline="-32086" dirty="0">
                <a:solidFill>
                  <a:srgbClr val="404040"/>
                </a:solidFill>
              </a:rPr>
              <a:t>n</a:t>
            </a:r>
            <a:r>
              <a:rPr dirty="0">
                <a:solidFill>
                  <a:srgbClr val="404040"/>
                </a:solidFill>
              </a:rPr>
              <a:t>, …}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>
                <a:solidFill>
                  <a:srgbClr val="404040"/>
                </a:solidFill>
              </a:rPr>
              <a:t>B={b</a:t>
            </a:r>
            <a:r>
              <a:rPr baseline="-32086" dirty="0">
                <a:solidFill>
                  <a:srgbClr val="404040"/>
                </a:solidFill>
              </a:rPr>
              <a:t>1</a:t>
            </a:r>
            <a:r>
              <a:rPr dirty="0">
                <a:solidFill>
                  <a:srgbClr val="404040"/>
                </a:solidFill>
              </a:rPr>
              <a:t>, b</a:t>
            </a:r>
            <a:r>
              <a:rPr baseline="-32086" dirty="0">
                <a:solidFill>
                  <a:srgbClr val="404040"/>
                </a:solidFill>
              </a:rPr>
              <a:t>2</a:t>
            </a:r>
            <a:r>
              <a:rPr dirty="0">
                <a:solidFill>
                  <a:srgbClr val="404040"/>
                </a:solidFill>
              </a:rPr>
              <a:t>, …, b</a:t>
            </a:r>
            <a:r>
              <a:rPr baseline="-32086" dirty="0">
                <a:solidFill>
                  <a:srgbClr val="404040"/>
                </a:solidFill>
              </a:rPr>
              <a:t>n</a:t>
            </a:r>
            <a:r>
              <a:rPr dirty="0">
                <a:solidFill>
                  <a:srgbClr val="404040"/>
                </a:solidFill>
              </a:rPr>
              <a:t>, …}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于是</a:t>
            </a:r>
            <a:r>
              <a:rPr dirty="0" err="1">
                <a:solidFill>
                  <a:srgbClr val="404040"/>
                </a:solidFill>
              </a:rPr>
              <a:t>A</a:t>
            </a:r>
            <a:r>
              <a:rPr lang="en-US" altLang="zh-CN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</a:t>
            </a:r>
            <a:r>
              <a:rPr dirty="0" err="1">
                <a:solidFill>
                  <a:srgbClr val="404040"/>
                </a:solidFill>
              </a:rPr>
              <a:t>B</a:t>
            </a:r>
            <a:r>
              <a:rPr dirty="0">
                <a:solidFill>
                  <a:srgbClr val="404040"/>
                </a:solidFill>
              </a:rPr>
              <a:t>={(</a:t>
            </a:r>
            <a:r>
              <a:rPr dirty="0" err="1">
                <a:solidFill>
                  <a:srgbClr val="404040"/>
                </a:solidFill>
              </a:rPr>
              <a:t>a</a:t>
            </a:r>
            <a:r>
              <a:rPr baseline="-32086" dirty="0" err="1">
                <a:solidFill>
                  <a:srgbClr val="404040"/>
                </a:solidFill>
              </a:rPr>
              <a:t>i</a:t>
            </a:r>
            <a:r>
              <a:rPr dirty="0" err="1">
                <a:solidFill>
                  <a:srgbClr val="404040"/>
                </a:solidFill>
              </a:rPr>
              <a:t>,b</a:t>
            </a:r>
            <a:r>
              <a:rPr baseline="-32086" dirty="0" err="1">
                <a:solidFill>
                  <a:srgbClr val="404040"/>
                </a:solidFill>
              </a:rPr>
              <a:t>j</a:t>
            </a:r>
            <a:r>
              <a:rPr dirty="0">
                <a:solidFill>
                  <a:srgbClr val="404040"/>
                </a:solidFill>
              </a:rPr>
              <a:t>)|</a:t>
            </a:r>
            <a:r>
              <a:rPr dirty="0" err="1">
                <a:solidFill>
                  <a:srgbClr val="404040"/>
                </a:solidFill>
              </a:rPr>
              <a:t>a</a:t>
            </a:r>
            <a:r>
              <a:rPr baseline="-32086" dirty="0" err="1">
                <a:solidFill>
                  <a:srgbClr val="404040"/>
                </a:solidFill>
              </a:rPr>
              <a:t>i</a:t>
            </a:r>
            <a:r>
              <a:rPr dirty="0" err="1"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>
                <a:solidFill>
                  <a:srgbClr val="404040"/>
                </a:solidFill>
              </a:rPr>
              <a:t>A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 </a:t>
            </a:r>
            <a:r>
              <a:rPr dirty="0" err="1">
                <a:solidFill>
                  <a:srgbClr val="404040"/>
                </a:solidFill>
              </a:rPr>
              <a:t>b</a:t>
            </a:r>
            <a:r>
              <a:rPr baseline="-32086" dirty="0" err="1">
                <a:solidFill>
                  <a:srgbClr val="404040"/>
                </a:solidFill>
              </a:rPr>
              <a:t>j</a:t>
            </a:r>
            <a:r>
              <a:rPr dirty="0" err="1"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>
                <a:solidFill>
                  <a:srgbClr val="404040"/>
                </a:solidFill>
              </a:rPr>
              <a:t>B</a:t>
            </a:r>
            <a:r>
              <a:rPr dirty="0">
                <a:solidFill>
                  <a:srgbClr val="404040"/>
                </a:solidFill>
              </a:rPr>
              <a:t>}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我们将</a:t>
            </a:r>
            <a:r>
              <a:rPr dirty="0" err="1">
                <a:solidFill>
                  <a:srgbClr val="404040"/>
                </a:solidFill>
              </a:rPr>
              <a:t>A</a:t>
            </a:r>
            <a:r>
              <a:rPr lang="en-US" altLang="zh-CN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</a:t>
            </a:r>
            <a:r>
              <a:rPr dirty="0" err="1">
                <a:solidFill>
                  <a:srgbClr val="404040"/>
                </a:solidFill>
              </a:rPr>
              <a:t>B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的元素作如下排列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" grpId="1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35</a:t>
            </a:fld>
            <a:endParaRPr/>
          </a:p>
        </p:txBody>
      </p:sp>
      <p:sp>
        <p:nvSpPr>
          <p:cNvPr id="339" name="Shape 339"/>
          <p:cNvSpPr>
            <a:spLocks noGrp="1"/>
          </p:cNvSpPr>
          <p:nvPr>
            <p:ph type="body" idx="4294967295"/>
          </p:nvPr>
        </p:nvSpPr>
        <p:spPr>
          <a:xfrm>
            <a:off x="225425" y="260350"/>
            <a:ext cx="8523288" cy="6400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82562" lvl="1" indent="393700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{</a:t>
            </a:r>
            <a:br>
              <a:rPr dirty="0"/>
            </a:br>
            <a:r>
              <a:rPr lang="en-US" dirty="0"/>
              <a:t>	</a:t>
            </a:r>
            <a:r>
              <a:rPr dirty="0"/>
              <a:t>(a</a:t>
            </a:r>
            <a:r>
              <a:rPr baseline="-30000" dirty="0"/>
              <a:t>1</a:t>
            </a:r>
            <a:r>
              <a:rPr dirty="0"/>
              <a:t>, b</a:t>
            </a:r>
            <a:r>
              <a:rPr baseline="-30000" dirty="0"/>
              <a:t>1</a:t>
            </a:r>
            <a:r>
              <a:rPr dirty="0"/>
              <a:t>), (a</a:t>
            </a:r>
            <a:r>
              <a:rPr baseline="-30000" dirty="0"/>
              <a:t>1</a:t>
            </a:r>
            <a:r>
              <a:rPr dirty="0"/>
              <a:t>, b</a:t>
            </a:r>
            <a:r>
              <a:rPr baseline="-30000" dirty="0"/>
              <a:t>2</a:t>
            </a:r>
            <a:r>
              <a:rPr dirty="0"/>
              <a:t>), (a</a:t>
            </a:r>
            <a:r>
              <a:rPr baseline="-30000" dirty="0"/>
              <a:t>1</a:t>
            </a:r>
            <a:r>
              <a:rPr dirty="0"/>
              <a:t>, b</a:t>
            </a:r>
            <a:r>
              <a:rPr baseline="-30000" dirty="0"/>
              <a:t>3</a:t>
            </a:r>
            <a:r>
              <a:rPr dirty="0"/>
              <a:t>), …, (a</a:t>
            </a:r>
            <a:r>
              <a:rPr baseline="-30000" dirty="0"/>
              <a:t>1</a:t>
            </a:r>
            <a:r>
              <a:rPr dirty="0"/>
              <a:t>, b</a:t>
            </a:r>
            <a:r>
              <a:rPr baseline="-30000" dirty="0"/>
              <a:t>n</a:t>
            </a:r>
            <a:r>
              <a:rPr dirty="0"/>
              <a:t>), …</a:t>
            </a:r>
          </a:p>
          <a:p>
            <a:pPr marL="182562" lvl="1" indent="393700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	(a</a:t>
            </a:r>
            <a:r>
              <a:rPr baseline="-30000" dirty="0"/>
              <a:t>2</a:t>
            </a:r>
            <a:r>
              <a:rPr dirty="0"/>
              <a:t>, b</a:t>
            </a:r>
            <a:r>
              <a:rPr baseline="-30000" dirty="0"/>
              <a:t>1</a:t>
            </a:r>
            <a:r>
              <a:rPr dirty="0"/>
              <a:t>), (a</a:t>
            </a:r>
            <a:r>
              <a:rPr baseline="-30000" dirty="0"/>
              <a:t>2</a:t>
            </a:r>
            <a:r>
              <a:rPr dirty="0"/>
              <a:t>, b</a:t>
            </a:r>
            <a:r>
              <a:rPr baseline="-30000" dirty="0"/>
              <a:t>2</a:t>
            </a:r>
            <a:r>
              <a:rPr dirty="0"/>
              <a:t>), (a</a:t>
            </a:r>
            <a:r>
              <a:rPr baseline="-30000" dirty="0"/>
              <a:t>2</a:t>
            </a:r>
            <a:r>
              <a:rPr dirty="0"/>
              <a:t>, b</a:t>
            </a:r>
            <a:r>
              <a:rPr baseline="-30000" dirty="0"/>
              <a:t>3</a:t>
            </a:r>
            <a:r>
              <a:rPr dirty="0"/>
              <a:t>) ,…, (a</a:t>
            </a:r>
            <a:r>
              <a:rPr baseline="-30000" dirty="0"/>
              <a:t>2</a:t>
            </a:r>
            <a:r>
              <a:rPr dirty="0"/>
              <a:t>, b</a:t>
            </a:r>
            <a:r>
              <a:rPr baseline="-30000" dirty="0"/>
              <a:t>n</a:t>
            </a:r>
            <a:r>
              <a:rPr dirty="0"/>
              <a:t>), …</a:t>
            </a:r>
          </a:p>
          <a:p>
            <a:pPr marL="182562" lvl="1" indent="393700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	(a</a:t>
            </a:r>
            <a:r>
              <a:rPr baseline="-30000" dirty="0"/>
              <a:t>3</a:t>
            </a:r>
            <a:r>
              <a:rPr dirty="0"/>
              <a:t>, b</a:t>
            </a:r>
            <a:r>
              <a:rPr baseline="-30000" dirty="0"/>
              <a:t>1</a:t>
            </a:r>
            <a:r>
              <a:rPr dirty="0"/>
              <a:t>), (a</a:t>
            </a:r>
            <a:r>
              <a:rPr baseline="-30000" dirty="0"/>
              <a:t>3</a:t>
            </a:r>
            <a:r>
              <a:rPr dirty="0"/>
              <a:t>, b</a:t>
            </a:r>
            <a:r>
              <a:rPr baseline="-30000" dirty="0"/>
              <a:t>2</a:t>
            </a:r>
            <a:r>
              <a:rPr dirty="0"/>
              <a:t>), (a</a:t>
            </a:r>
            <a:r>
              <a:rPr baseline="-30000" dirty="0"/>
              <a:t>3</a:t>
            </a:r>
            <a:r>
              <a:rPr dirty="0"/>
              <a:t>, b</a:t>
            </a:r>
            <a:r>
              <a:rPr baseline="-30000" dirty="0"/>
              <a:t>3</a:t>
            </a:r>
            <a:r>
              <a:rPr dirty="0"/>
              <a:t>), …, (a</a:t>
            </a:r>
            <a:r>
              <a:rPr baseline="-30000" dirty="0"/>
              <a:t>3</a:t>
            </a:r>
            <a:r>
              <a:rPr dirty="0"/>
              <a:t>, b</a:t>
            </a:r>
            <a:r>
              <a:rPr baseline="-30000" dirty="0"/>
              <a:t>n</a:t>
            </a:r>
            <a:r>
              <a:rPr dirty="0"/>
              <a:t>), …</a:t>
            </a:r>
          </a:p>
          <a:p>
            <a:pPr marL="182562" lvl="1" indent="393700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	……………… </a:t>
            </a:r>
          </a:p>
          <a:p>
            <a:pPr marL="182562" lvl="1" indent="393700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	(a</a:t>
            </a:r>
            <a:r>
              <a:rPr baseline="-30000" dirty="0"/>
              <a:t>n</a:t>
            </a:r>
            <a:r>
              <a:rPr dirty="0"/>
              <a:t>, b</a:t>
            </a:r>
            <a:r>
              <a:rPr baseline="-30000" dirty="0"/>
              <a:t>1</a:t>
            </a:r>
            <a:r>
              <a:rPr dirty="0"/>
              <a:t>), (a</a:t>
            </a:r>
            <a:r>
              <a:rPr baseline="-30000" dirty="0"/>
              <a:t>n</a:t>
            </a:r>
            <a:r>
              <a:rPr dirty="0"/>
              <a:t>, b</a:t>
            </a:r>
            <a:r>
              <a:rPr baseline="-30000" dirty="0"/>
              <a:t>2</a:t>
            </a:r>
            <a:r>
              <a:rPr dirty="0"/>
              <a:t>), (a</a:t>
            </a:r>
            <a:r>
              <a:rPr baseline="-30000" dirty="0"/>
              <a:t>n</a:t>
            </a:r>
            <a:r>
              <a:rPr dirty="0"/>
              <a:t>, b</a:t>
            </a:r>
            <a:r>
              <a:rPr baseline="-30000" dirty="0"/>
              <a:t>3</a:t>
            </a:r>
            <a:r>
              <a:rPr dirty="0"/>
              <a:t>), …, (a</a:t>
            </a:r>
            <a:r>
              <a:rPr baseline="-30000" dirty="0"/>
              <a:t>n</a:t>
            </a:r>
            <a:r>
              <a:rPr dirty="0"/>
              <a:t>, b</a:t>
            </a:r>
            <a:r>
              <a:rPr baseline="-30000" dirty="0"/>
              <a:t>n</a:t>
            </a:r>
            <a:r>
              <a:rPr dirty="0"/>
              <a:t>), …</a:t>
            </a:r>
          </a:p>
          <a:p>
            <a:pPr marL="182562" lvl="1" indent="393700">
              <a:spcBef>
                <a:spcPts val="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	……… ………</a:t>
            </a:r>
          </a:p>
          <a:p>
            <a:pPr marL="0" indent="0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     }  </a:t>
            </a:r>
          </a:p>
          <a:p>
            <a:pPr marL="0" indent="0">
              <a:spcBef>
                <a:spcPts val="700"/>
              </a:spcBef>
              <a:buSzTx/>
              <a:buNone/>
              <a:defRPr sz="3200">
                <a:latin typeface="宋体"/>
                <a:ea typeface="宋体"/>
                <a:cs typeface="宋体"/>
                <a:sym typeface="宋体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   对上述元素按足标，同定理</a:t>
            </a:r>
            <a:r>
              <a:rPr dirty="0">
                <a:latin typeface="+mj-lt"/>
                <a:ea typeface="+mj-ea"/>
                <a:cs typeface="+mj-cs"/>
                <a:sym typeface="Arial"/>
              </a:rPr>
              <a:t>1.3.4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的证明方式进行处理排序，得</a:t>
            </a:r>
            <a:r>
              <a:rPr dirty="0"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</a:t>
            </a:r>
            <a:r>
              <a:rPr dirty="0">
                <a:latin typeface="+mj-lt"/>
                <a:ea typeface="+mj-ea"/>
                <a:cs typeface="+mj-cs"/>
                <a:sym typeface="Arial"/>
              </a:rPr>
              <a:t>B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是可数集合。</a:t>
            </a:r>
            <a:r>
              <a:rPr dirty="0">
                <a:latin typeface="+mj-lt"/>
                <a:ea typeface="+mj-ea"/>
                <a:cs typeface="+mj-cs"/>
                <a:sym typeface="Arial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36</a:t>
            </a:fld>
            <a:endParaRPr/>
          </a:p>
        </p:txBody>
      </p:sp>
      <p:pic>
        <p:nvPicPr>
          <p:cNvPr id="342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30162"/>
            <a:ext cx="8937626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Shape 343"/>
          <p:cNvSpPr>
            <a:spLocks noGrp="1"/>
          </p:cNvSpPr>
          <p:nvPr>
            <p:ph type="body" idx="4294967295"/>
          </p:nvPr>
        </p:nvSpPr>
        <p:spPr>
          <a:xfrm>
            <a:off x="198437" y="1182687"/>
            <a:ext cx="8694738" cy="48387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3392" indent="-343392" defTabSz="886968">
              <a:lnSpc>
                <a:spcPct val="150000"/>
              </a:lnSpc>
              <a:spcBef>
                <a:spcPts val="0"/>
              </a:spcBef>
              <a:defRPr sz="3104">
                <a:solidFill>
                  <a:srgbClr val="212745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有理数集合是可数集合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43392" indent="-343392" defTabSz="886968">
              <a:lnSpc>
                <a:spcPct val="150000"/>
              </a:lnSpc>
              <a:spcBef>
                <a:spcPts val="0"/>
              </a:spcBef>
              <a:defRPr sz="3104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证明：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任意有理数都可以表示成</a:t>
            </a:r>
            <a:r>
              <a:rPr dirty="0" err="1">
                <a:solidFill>
                  <a:srgbClr val="404040"/>
                </a:solidFill>
              </a:rPr>
              <a:t>p</a:t>
            </a:r>
            <a:r>
              <a:rPr dirty="0">
                <a:solidFill>
                  <a:srgbClr val="404040"/>
                </a:solidFill>
              </a:rPr>
              <a:t>/</a:t>
            </a:r>
            <a:r>
              <a:rPr dirty="0" err="1">
                <a:solidFill>
                  <a:srgbClr val="404040"/>
                </a:solidFill>
              </a:rPr>
              <a:t>q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形式，其中</a:t>
            </a:r>
            <a:r>
              <a:rPr dirty="0" err="1">
                <a:solidFill>
                  <a:srgbClr val="404040"/>
                </a:solidFill>
              </a:rPr>
              <a:t>p</a:t>
            </a:r>
            <a:r>
              <a:rPr dirty="0" err="1"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>
                <a:solidFill>
                  <a:srgbClr val="404040"/>
                </a:solidFill>
              </a:rPr>
              <a:t>Z</a:t>
            </a:r>
            <a:r>
              <a:rPr dirty="0">
                <a:solidFill>
                  <a:srgbClr val="404040"/>
                </a:solidFill>
              </a:rPr>
              <a:t>(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整数集合</a:t>
            </a:r>
            <a:r>
              <a:rPr dirty="0">
                <a:solidFill>
                  <a:srgbClr val="404040"/>
                </a:solidFill>
              </a:rPr>
              <a:t>)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solidFill>
                  <a:srgbClr val="404040"/>
                </a:solidFill>
              </a:rPr>
              <a:t>q</a:t>
            </a:r>
            <a:r>
              <a:rPr dirty="0" err="1"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>
                <a:solidFill>
                  <a:srgbClr val="404040"/>
                </a:solidFill>
              </a:rPr>
              <a:t>Z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-{0}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集合</a:t>
            </a:r>
            <a:r>
              <a:rPr dirty="0" err="1">
                <a:solidFill>
                  <a:srgbClr val="404040"/>
                </a:solidFill>
              </a:rPr>
              <a:t>Z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(</a:t>
            </a:r>
            <a:r>
              <a:rPr dirty="0">
                <a:solidFill>
                  <a:srgbClr val="404040"/>
                </a:solidFill>
              </a:rPr>
              <a:t>Z</a:t>
            </a:r>
            <a:r>
              <a:rPr lang="en-US" dirty="0">
                <a:solidFill>
                  <a:srgbClr val="404040"/>
                </a:solidFill>
              </a:rPr>
              <a:t>-{0})</a:t>
            </a:r>
            <a:r>
              <a:rPr dirty="0">
                <a:solidFill>
                  <a:srgbClr val="404040"/>
                </a:solidFill>
              </a:rPr>
              <a:t> ={(p, q)| </a:t>
            </a:r>
            <a:r>
              <a:rPr dirty="0" err="1">
                <a:solidFill>
                  <a:srgbClr val="404040"/>
                </a:solidFill>
              </a:rPr>
              <a:t>p</a:t>
            </a:r>
            <a:r>
              <a:rPr dirty="0" err="1"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>
                <a:solidFill>
                  <a:srgbClr val="404040"/>
                </a:solidFill>
              </a:rPr>
              <a:t>Z</a:t>
            </a:r>
            <a:r>
              <a:rPr dirty="0">
                <a:solidFill>
                  <a:srgbClr val="404040"/>
                </a:solidFill>
              </a:rPr>
              <a:t>, q</a:t>
            </a:r>
            <a:r>
              <a:rPr dirty="0"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lang="en" altLang="zh-CN" sz="31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Z-{0}</a:t>
            </a:r>
            <a:r>
              <a:rPr dirty="0">
                <a:solidFill>
                  <a:srgbClr val="404040"/>
                </a:solidFill>
              </a:rPr>
              <a:t>}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是可数集合，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而</a:t>
            </a:r>
            <a:r>
              <a:rPr dirty="0" err="1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有理数集合可以与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其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建立</a:t>
            </a:r>
            <a:r>
              <a:rPr dirty="0">
                <a:solidFill>
                  <a:srgbClr val="404040"/>
                </a:solidFill>
              </a:rPr>
              <a:t>1-1</a:t>
            </a:r>
            <a:r>
              <a:rPr dirty="0"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映射，故有理数集合是可数集合。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" grpId="1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37</a:t>
            </a:fld>
            <a:endParaRPr/>
          </a:p>
        </p:txBody>
      </p:sp>
      <p:pic>
        <p:nvPicPr>
          <p:cNvPr id="348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115887"/>
            <a:ext cx="8937626" cy="1358901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Shape 349"/>
          <p:cNvSpPr>
            <a:spLocks noGrp="1"/>
          </p:cNvSpPr>
          <p:nvPr>
            <p:ph type="body" sz="half" idx="4294967295"/>
          </p:nvPr>
        </p:nvSpPr>
        <p:spPr>
          <a:xfrm>
            <a:off x="179387" y="1371600"/>
            <a:ext cx="8839201" cy="26336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49262" indent="-449262">
              <a:spcBef>
                <a:spcPts val="700"/>
              </a:spcBef>
              <a:defRPr sz="3200">
                <a:solidFill>
                  <a:srgbClr val="212745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若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 A</a:t>
            </a:r>
            <a:r>
              <a:rPr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 …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n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是可数集合，则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1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 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2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 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… 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A</a:t>
            </a:r>
            <a:r>
              <a:rPr baseline="-30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  <a:sym typeface="Arial"/>
              </a:rPr>
              <a:t>n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是可数集合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449262" indent="-449262">
              <a:spcBef>
                <a:spcPts val="400"/>
              </a:spcBef>
              <a:defRPr sz="3200">
                <a:solidFill>
                  <a:srgbClr val="212745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449262" indent="-449262">
              <a:spcBef>
                <a:spcPts val="7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用归纳法证明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38</a:t>
            </a:fld>
            <a:endParaRPr/>
          </a:p>
        </p:txBody>
      </p:sp>
      <p:pic>
        <p:nvPicPr>
          <p:cNvPr id="354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75" y="2182812"/>
            <a:ext cx="7813675" cy="1998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39</a:t>
            </a:fld>
            <a:endParaRPr/>
          </a:p>
        </p:txBody>
      </p:sp>
      <p:pic>
        <p:nvPicPr>
          <p:cNvPr id="359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30162"/>
            <a:ext cx="8937626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Shape 360"/>
          <p:cNvSpPr>
            <a:spLocks noGrp="1"/>
          </p:cNvSpPr>
          <p:nvPr>
            <p:ph type="body" idx="4294967295"/>
          </p:nvPr>
        </p:nvSpPr>
        <p:spPr>
          <a:xfrm>
            <a:off x="125412" y="1111250"/>
            <a:ext cx="8839201" cy="47656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13658" indent="-313658" defTabSz="813816">
              <a:lnSpc>
                <a:spcPct val="90000"/>
              </a:lnSpc>
              <a:spcBef>
                <a:spcPts val="600"/>
              </a:spcBef>
              <a:defRPr sz="2848">
                <a:solidFill>
                  <a:srgbClr val="212745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全体实数做成的集合是不可数集合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13658" indent="-313658" defTabSz="813816">
              <a:lnSpc>
                <a:spcPct val="90000"/>
              </a:lnSpc>
              <a:spcBef>
                <a:spcPts val="300"/>
              </a:spcBef>
              <a:defRPr sz="2848">
                <a:solidFill>
                  <a:srgbClr val="212745"/>
                </a:solidFill>
                <a:latin typeface="+mj-lt"/>
                <a:ea typeface="+mj-ea"/>
                <a:cs typeface="+mj-cs"/>
                <a:sym typeface="Arial"/>
              </a:defRPr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313658" indent="-313658" defTabSz="813816">
              <a:lnSpc>
                <a:spcPct val="90000"/>
              </a:lnSpc>
              <a:spcBef>
                <a:spcPts val="600"/>
              </a:spcBef>
              <a:defRPr sz="2848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证明：由定理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1.3.2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知，只要证明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(0,1)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区间内的实数不可数就可以了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313658" indent="-313658" defTabSz="813816">
              <a:lnSpc>
                <a:spcPct val="90000"/>
              </a:lnSpc>
              <a:spcBef>
                <a:spcPts val="600"/>
              </a:spcBef>
              <a:buSzTx/>
              <a:buNone/>
              <a:defRPr sz="2848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	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若不然，我们可以把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(0,1)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区间内的数排成一个序列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  <a:b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	0.a</a:t>
            </a:r>
            <a:r>
              <a:rPr baseline="-3296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baseline="-3296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baseline="-3296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 </a:t>
            </a:r>
          </a:p>
          <a:p>
            <a:pPr marL="313658" indent="-313658" algn="just" defTabSz="813816">
              <a:lnSpc>
                <a:spcPct val="90000"/>
              </a:lnSpc>
              <a:spcBef>
                <a:spcPts val="600"/>
              </a:spcBef>
              <a:buSzTx/>
              <a:buNone/>
              <a:defRPr sz="2848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	0.a</a:t>
            </a:r>
            <a:r>
              <a:rPr baseline="-27348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baseline="-3296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baseline="-3296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23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                   	</a:t>
            </a:r>
          </a:p>
          <a:p>
            <a:pPr marL="313658" indent="-313658" algn="just" defTabSz="813816">
              <a:lnSpc>
                <a:spcPct val="90000"/>
              </a:lnSpc>
              <a:spcBef>
                <a:spcPts val="600"/>
              </a:spcBef>
              <a:buSzTx/>
              <a:buNone/>
              <a:defRPr sz="2848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	0.a</a:t>
            </a:r>
            <a:r>
              <a:rPr baseline="-3296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baseline="-3296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baseline="-32966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33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 </a:t>
            </a:r>
          </a:p>
          <a:p>
            <a:pPr marL="313658" indent="-313658" algn="just" defTabSz="813816">
              <a:lnSpc>
                <a:spcPct val="90000"/>
              </a:lnSpc>
              <a:spcBef>
                <a:spcPts val="600"/>
              </a:spcBef>
              <a:buSzTx/>
              <a:buNone/>
              <a:defRPr sz="2848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… … …</a:t>
            </a:r>
          </a:p>
        </p:txBody>
      </p:sp>
      <p:grpSp>
        <p:nvGrpSpPr>
          <p:cNvPr id="363" name="Group 363"/>
          <p:cNvGrpSpPr/>
          <p:nvPr/>
        </p:nvGrpSpPr>
        <p:grpSpPr>
          <a:xfrm>
            <a:off x="4356100" y="3832225"/>
            <a:ext cx="1423802" cy="1828802"/>
            <a:chOff x="0" y="0"/>
            <a:chExt cx="1423801" cy="1828801"/>
          </a:xfrm>
        </p:grpSpPr>
        <p:sp>
          <p:nvSpPr>
            <p:cNvPr id="361" name="Shape 361"/>
            <p:cNvSpPr/>
            <p:nvPr/>
          </p:nvSpPr>
          <p:spPr>
            <a:xfrm>
              <a:off x="0" y="0"/>
              <a:ext cx="381001" cy="1828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/>
              </a:pPr>
              <a:endParaRPr/>
            </a:p>
          </p:txBody>
        </p:sp>
        <p:sp>
          <p:nvSpPr>
            <p:cNvPr id="362" name="Shape 362"/>
            <p:cNvSpPr/>
            <p:nvPr/>
          </p:nvSpPr>
          <p:spPr>
            <a:xfrm>
              <a:off x="720725" y="503237"/>
              <a:ext cx="703076" cy="646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600" b="1">
                  <a:solidFill>
                    <a:srgbClr val="212745"/>
                  </a:solidFill>
                </a:defRPr>
              </a:lvl1pPr>
            </a:lstStyle>
            <a:p>
              <a:r>
                <a:rPr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(2)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40</a:t>
            </a:fld>
            <a:endParaRPr/>
          </a:p>
        </p:txBody>
      </p:sp>
      <p:pic>
        <p:nvPicPr>
          <p:cNvPr id="368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30162"/>
            <a:ext cx="8937626" cy="1414463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Shape 369"/>
          <p:cNvSpPr>
            <a:spLocks noGrp="1"/>
          </p:cNvSpPr>
          <p:nvPr>
            <p:ph type="body" idx="4294967295"/>
          </p:nvPr>
        </p:nvSpPr>
        <p:spPr>
          <a:xfrm>
            <a:off x="127000" y="1036642"/>
            <a:ext cx="8766175" cy="524986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624268" algn="just" defTabSz="795527">
              <a:buSzTx/>
              <a:buNone/>
              <a:defRPr sz="2436">
                <a:latin typeface="+mj-lt"/>
                <a:ea typeface="+mj-ea"/>
                <a:cs typeface="+mj-cs"/>
                <a:sym typeface="Arial"/>
              </a:defRPr>
            </a:pP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我们考虑下面的数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</a:p>
          <a:p>
            <a:pPr marL="0" indent="624268" defTabSz="795527">
              <a:buSzTx/>
              <a:buNone/>
              <a:defRPr sz="2436">
                <a:latin typeface="+mj-lt"/>
                <a:ea typeface="+mj-ea"/>
                <a:cs typeface="+mj-cs"/>
                <a:sym typeface="Arial"/>
              </a:defRPr>
            </a:pPr>
            <a:r>
              <a:rPr sz="2800" dirty="0"/>
              <a:t>                   0.r</a:t>
            </a:r>
            <a:r>
              <a:rPr sz="2800" baseline="-33586" dirty="0"/>
              <a:t>1</a:t>
            </a:r>
            <a:r>
              <a:rPr sz="2800" dirty="0"/>
              <a:t>r</a:t>
            </a:r>
            <a:r>
              <a:rPr sz="2800" baseline="-33586" dirty="0"/>
              <a:t>2</a:t>
            </a:r>
            <a:r>
              <a:rPr sz="2800" dirty="0"/>
              <a:t>…</a:t>
            </a:r>
            <a:r>
              <a:rPr sz="2800" dirty="0" err="1"/>
              <a:t>r</a:t>
            </a:r>
            <a:r>
              <a:rPr sz="2800" baseline="-33586" dirty="0" err="1"/>
              <a:t>k</a:t>
            </a:r>
            <a:r>
              <a:rPr sz="2800" dirty="0"/>
              <a:t>…              </a:t>
            </a:r>
            <a:r>
              <a:rPr sz="2800" dirty="0">
                <a:solidFill>
                  <a:srgbClr val="212745"/>
                </a:solidFill>
              </a:rPr>
              <a:t>(3)</a:t>
            </a:r>
          </a:p>
          <a:p>
            <a:pPr marL="0" indent="624268" algn="just" defTabSz="795527">
              <a:buSzTx/>
              <a:buNone/>
              <a:defRPr sz="2436">
                <a:latin typeface="+mj-lt"/>
                <a:ea typeface="+mj-ea"/>
                <a:cs typeface="+mj-cs"/>
                <a:sym typeface="Arial"/>
              </a:defRPr>
            </a:pP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其中</a:t>
            </a:r>
            <a:endParaRPr sz="2800" dirty="0"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0" indent="624268" algn="just" defTabSz="795527">
              <a:spcBef>
                <a:spcPts val="300"/>
              </a:spcBef>
              <a:buSzTx/>
              <a:buNone/>
              <a:defRPr sz="2436">
                <a:latin typeface="+mj-lt"/>
                <a:ea typeface="+mj-ea"/>
                <a:cs typeface="+mj-cs"/>
                <a:sym typeface="Arial"/>
              </a:defRPr>
            </a:pPr>
            <a:endParaRPr sz="2800" dirty="0"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0" indent="624268" algn="just" defTabSz="795527">
              <a:spcBef>
                <a:spcPts val="300"/>
              </a:spcBef>
              <a:buSzTx/>
              <a:buNone/>
              <a:defRPr sz="2436">
                <a:latin typeface="+mj-lt"/>
                <a:ea typeface="+mj-ea"/>
                <a:cs typeface="+mj-cs"/>
                <a:sym typeface="Arial"/>
              </a:defRPr>
            </a:pPr>
            <a:endParaRPr sz="2800" dirty="0"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0" indent="624268" algn="just" defTabSz="795527">
              <a:buSzTx/>
              <a:buNone/>
              <a:defRPr sz="2436">
                <a:latin typeface="+mj-lt"/>
                <a:ea typeface="+mj-ea"/>
                <a:cs typeface="+mj-cs"/>
                <a:sym typeface="Arial"/>
              </a:defRPr>
            </a:pP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显然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2800" dirty="0"/>
              <a:t>(3)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rPr sz="2800" dirty="0"/>
              <a:t>(0,1)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区间内的数，但它却不是序列</a:t>
            </a:r>
            <a:r>
              <a:rPr sz="2800" dirty="0"/>
              <a:t>(2)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中的任一个数。事实上，对</a:t>
            </a:r>
            <a:r>
              <a:rPr sz="2800" dirty="0"/>
              <a:t>(2)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中任一个数</a:t>
            </a:r>
            <a:r>
              <a:rPr sz="2800" dirty="0"/>
              <a:t>0.a</a:t>
            </a:r>
            <a:r>
              <a:rPr sz="2800" baseline="-33586" dirty="0"/>
              <a:t>k1</a:t>
            </a:r>
            <a:r>
              <a:rPr sz="2800" dirty="0"/>
              <a:t>a</a:t>
            </a:r>
            <a:r>
              <a:rPr sz="2800" baseline="-33586" dirty="0"/>
              <a:t>k2</a:t>
            </a:r>
            <a:r>
              <a:rPr sz="2800" dirty="0"/>
              <a:t>…</a:t>
            </a:r>
            <a:r>
              <a:rPr sz="2800" dirty="0" err="1"/>
              <a:t>a</a:t>
            </a:r>
            <a:r>
              <a:rPr sz="2800" baseline="-33586" dirty="0" err="1"/>
              <a:t>kk</a:t>
            </a:r>
            <a:r>
              <a:rPr sz="2800" dirty="0"/>
              <a:t>…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因为</a:t>
            </a:r>
            <a:r>
              <a:rPr sz="2800" dirty="0" err="1"/>
              <a:t>r</a:t>
            </a:r>
            <a:r>
              <a:rPr sz="2800" baseline="-33586" dirty="0" err="1"/>
              <a:t>k</a:t>
            </a:r>
            <a:r>
              <a:rPr sz="2800" dirty="0" err="1"/>
              <a:t>≠a</a:t>
            </a:r>
            <a:r>
              <a:rPr sz="2800" baseline="-33586" dirty="0" err="1"/>
              <a:t>kk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，故</a:t>
            </a:r>
            <a:endParaRPr sz="2800" dirty="0"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0" indent="624268" algn="ctr" defTabSz="795527">
              <a:buSzTx/>
              <a:buNone/>
              <a:defRPr sz="2436">
                <a:latin typeface="+mj-lt"/>
                <a:ea typeface="+mj-ea"/>
                <a:cs typeface="+mj-cs"/>
                <a:sym typeface="Arial"/>
              </a:defRPr>
            </a:pPr>
            <a:r>
              <a:rPr sz="2800" dirty="0"/>
              <a:t>0.a</a:t>
            </a:r>
            <a:r>
              <a:rPr sz="2800" baseline="-33586" dirty="0"/>
              <a:t>k1</a:t>
            </a:r>
            <a:r>
              <a:rPr sz="2800" dirty="0"/>
              <a:t>a</a:t>
            </a:r>
            <a:r>
              <a:rPr sz="2800" baseline="-33586" dirty="0"/>
              <a:t>k2</a:t>
            </a:r>
            <a:r>
              <a:rPr sz="2800" dirty="0"/>
              <a:t>…</a:t>
            </a:r>
            <a:r>
              <a:rPr sz="2800" dirty="0" err="1"/>
              <a:t>a</a:t>
            </a:r>
            <a:r>
              <a:rPr sz="2800" baseline="-33586" dirty="0" err="1"/>
              <a:t>kk</a:t>
            </a:r>
            <a:r>
              <a:rPr sz="2800" dirty="0"/>
              <a:t>…≠0.r</a:t>
            </a:r>
            <a:r>
              <a:rPr sz="2800" baseline="-33586" dirty="0"/>
              <a:t>1</a:t>
            </a:r>
            <a:r>
              <a:rPr sz="2800" dirty="0"/>
              <a:t>r</a:t>
            </a:r>
            <a:r>
              <a:rPr sz="2800" baseline="-33586" dirty="0"/>
              <a:t>2</a:t>
            </a:r>
            <a:r>
              <a:rPr sz="2800" dirty="0"/>
              <a:t>…</a:t>
            </a:r>
            <a:r>
              <a:rPr sz="2800" dirty="0" err="1"/>
              <a:t>r</a:t>
            </a:r>
            <a:r>
              <a:rPr sz="2800" baseline="-33586" dirty="0" err="1"/>
              <a:t>k</a:t>
            </a:r>
            <a:r>
              <a:rPr sz="2800" dirty="0"/>
              <a:t>…       </a:t>
            </a:r>
          </a:p>
          <a:p>
            <a:pPr marL="0" indent="624268" algn="just" defTabSz="795527">
              <a:buSzTx/>
              <a:buNone/>
              <a:defRPr sz="2436">
                <a:latin typeface="+mj-lt"/>
                <a:ea typeface="+mj-ea"/>
                <a:cs typeface="+mj-cs"/>
                <a:sym typeface="Arial"/>
              </a:defRPr>
            </a:pP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与假设矛盾。故</a:t>
            </a:r>
            <a:r>
              <a:rPr sz="2800" dirty="0"/>
              <a:t>(0,1)</a:t>
            </a:r>
            <a:r>
              <a:rPr sz="2800" dirty="0" err="1">
                <a:latin typeface="楷体_GB2312"/>
                <a:ea typeface="楷体_GB2312"/>
                <a:cs typeface="楷体_GB2312"/>
                <a:sym typeface="楷体_GB2312"/>
              </a:rPr>
              <a:t>区间内的实数不可数，所以整个实数集不可数</a:t>
            </a:r>
            <a:r>
              <a:rPr sz="2800" dirty="0">
                <a:latin typeface="楷体_GB2312"/>
                <a:ea typeface="楷体_GB2312"/>
                <a:cs typeface="楷体_GB2312"/>
                <a:sym typeface="楷体_GB2312"/>
              </a:rPr>
              <a:t>。 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EA7D7B26-AD30-D349-B53D-DE7EA7EB1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449318"/>
              </p:ext>
            </p:extLst>
          </p:nvPr>
        </p:nvGraphicFramePr>
        <p:xfrm>
          <a:off x="2124075" y="2062166"/>
          <a:ext cx="4176713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公式" r:id="rId4" imgW="1562100" imgH="508000" progId="Equation.3">
                  <p:embed/>
                </p:oleObj>
              </mc:Choice>
              <mc:Fallback>
                <p:oleObj name="公式" r:id="rId4" imgW="1562100" imgH="508000" progId="Equation.3">
                  <p:embed/>
                  <p:pic>
                    <p:nvPicPr>
                      <p:cNvPr id="95236" name="Object 4">
                        <a:extLst>
                          <a:ext uri="{FF2B5EF4-FFF2-40B4-BE49-F238E27FC236}">
                            <a16:creationId xmlns:a16="http://schemas.microsoft.com/office/drawing/2014/main" id="{B3B5528B-BA4A-8D4F-9365-84BCFA53F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062166"/>
                        <a:ext cx="4176713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41</a:t>
            </a:fld>
            <a:endParaRPr/>
          </a:p>
        </p:txBody>
      </p:sp>
      <p:pic>
        <p:nvPicPr>
          <p:cNvPr id="373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7" y="368617"/>
            <a:ext cx="8937626" cy="1365251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Shape 374"/>
          <p:cNvSpPr>
            <a:spLocks noGrp="1"/>
          </p:cNvSpPr>
          <p:nvPr>
            <p:ph type="body" idx="4294967295"/>
          </p:nvPr>
        </p:nvSpPr>
        <p:spPr>
          <a:xfrm>
            <a:off x="125412" y="1503362"/>
            <a:ext cx="8839201" cy="45894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40277" indent="-440277" defTabSz="896111">
              <a:spcBef>
                <a:spcPts val="700"/>
              </a:spcBef>
              <a:defRPr sz="3136">
                <a:solidFill>
                  <a:srgbClr val="212745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实数集合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，区间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(a,+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∞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、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a,b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、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a,b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、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a,b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其中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a≠b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，都是不可数的，且与区间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(0,1)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等浓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 </a:t>
            </a:r>
          </a:p>
          <a:p>
            <a:pPr marL="440277" indent="-440277" defTabSz="896111">
              <a:spcBef>
                <a:spcPts val="400"/>
              </a:spcBef>
              <a:defRPr sz="3136">
                <a:solidFill>
                  <a:srgbClr val="212745"/>
                </a:solidFill>
                <a:latin typeface="+mj-lt"/>
                <a:ea typeface="+mj-ea"/>
                <a:cs typeface="+mj-cs"/>
                <a:sym typeface="Arial"/>
              </a:defRPr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440277" indent="-440277" defTabSz="896111">
              <a:spcBef>
                <a:spcPts val="700"/>
              </a:spcBef>
              <a:defRPr sz="3136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证明：我们仅看构造区间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[0,1]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(0,1)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之间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1-1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映射的一个例子。我们知道全体有理数的集合是可数的，于是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(0,1)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区间中的有理数是可数的，不妨将它们排成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baseline="-30489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</a:t>
            </a:r>
            <a:r>
              <a:rPr baseline="-30489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…, a</a:t>
            </a:r>
            <a:r>
              <a:rPr baseline="-30489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…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的形式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1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42</a:t>
            </a:fld>
            <a:endParaRPr/>
          </a:p>
        </p:txBody>
      </p:sp>
      <p:pic>
        <p:nvPicPr>
          <p:cNvPr id="377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" y="103187"/>
            <a:ext cx="8985250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Shape 378"/>
          <p:cNvSpPr>
            <a:spLocks noGrp="1"/>
          </p:cNvSpPr>
          <p:nvPr>
            <p:ph type="body" idx="4294967295"/>
          </p:nvPr>
        </p:nvSpPr>
        <p:spPr>
          <a:xfrm>
            <a:off x="153988" y="1092200"/>
            <a:ext cx="8839201" cy="55054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733869" defTabSz="832104">
              <a:lnSpc>
                <a:spcPct val="95000"/>
              </a:lnSpc>
              <a:spcBef>
                <a:spcPts val="600"/>
              </a:spcBef>
              <a:buSzTx/>
              <a:buNone/>
              <a:defRPr sz="2912">
                <a:latin typeface="+mj-lt"/>
                <a:ea typeface="+mj-ea"/>
                <a:cs typeface="+mj-cs"/>
                <a:sym typeface="Arial"/>
              </a:defRPr>
            </a:pP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而闭区间</a:t>
            </a:r>
            <a:r>
              <a:rPr sz="3200" dirty="0"/>
              <a:t>[0,1]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比区间</a:t>
            </a:r>
            <a:r>
              <a:rPr sz="3200" dirty="0"/>
              <a:t>(0,1)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多两个数</a:t>
            </a:r>
            <a:r>
              <a:rPr sz="3200" dirty="0"/>
              <a:t>0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和</a:t>
            </a:r>
            <a:r>
              <a:rPr sz="3200" dirty="0"/>
              <a:t>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，它们是有理数，于是可建立闭区间</a:t>
            </a:r>
            <a:r>
              <a:rPr sz="3200" dirty="0"/>
              <a:t>[0, 1]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中的有理数到区间</a:t>
            </a:r>
            <a:r>
              <a:rPr sz="3200" dirty="0"/>
              <a:t>(0,1)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中的有理数的</a:t>
            </a:r>
            <a:r>
              <a:rPr sz="3200" dirty="0"/>
              <a:t>1-1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映射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baseline="-32373" dirty="0"/>
              <a:t>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</a:p>
          <a:p>
            <a:pPr marL="0" indent="733869" defTabSz="832104">
              <a:lnSpc>
                <a:spcPct val="95000"/>
              </a:lnSpc>
              <a:spcBef>
                <a:spcPts val="600"/>
              </a:spcBef>
              <a:buSzTx/>
              <a:buNone/>
              <a:defRPr sz="2912">
                <a:latin typeface="+mj-lt"/>
                <a:ea typeface="+mj-ea"/>
                <a:cs typeface="+mj-cs"/>
                <a:sym typeface="Arial"/>
              </a:defRPr>
            </a:pPr>
            <a:r>
              <a:rPr sz="3200" dirty="0"/>
              <a:t>      0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 </a:t>
            </a:r>
            <a:r>
              <a:rPr sz="3200" dirty="0"/>
              <a:t>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 </a:t>
            </a:r>
            <a:r>
              <a:rPr sz="3200" dirty="0"/>
              <a:t>a</a:t>
            </a:r>
            <a:r>
              <a:rPr sz="3200" baseline="-32373" dirty="0"/>
              <a:t>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 </a:t>
            </a:r>
            <a:r>
              <a:rPr sz="3200" dirty="0"/>
              <a:t>a</a:t>
            </a:r>
            <a:r>
              <a:rPr sz="3200" baseline="-32373" dirty="0"/>
              <a:t>2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/>
              <a:t>…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/>
              <a:t>a</a:t>
            </a:r>
            <a:r>
              <a:rPr sz="3200" baseline="-32373" dirty="0"/>
              <a:t>n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/>
              <a:t>… </a:t>
            </a:r>
          </a:p>
          <a:p>
            <a:pPr marL="0" indent="733869" defTabSz="832104">
              <a:lnSpc>
                <a:spcPct val="95000"/>
              </a:lnSpc>
              <a:spcBef>
                <a:spcPts val="600"/>
              </a:spcBef>
              <a:buSzTx/>
              <a:buNone/>
              <a:defRPr sz="2912">
                <a:latin typeface="+mj-lt"/>
                <a:ea typeface="+mj-ea"/>
                <a:cs typeface="+mj-cs"/>
                <a:sym typeface="Arial"/>
              </a:defRPr>
            </a:pPr>
            <a:r>
              <a:rPr sz="3200" dirty="0"/>
              <a:t>                                     …          …</a:t>
            </a:r>
          </a:p>
          <a:p>
            <a:pPr marL="0" indent="733869" defTabSz="832104">
              <a:lnSpc>
                <a:spcPct val="95000"/>
              </a:lnSpc>
              <a:spcBef>
                <a:spcPts val="600"/>
              </a:spcBef>
              <a:buSzTx/>
              <a:buNone/>
              <a:defRPr sz="2912">
                <a:latin typeface="+mj-lt"/>
                <a:ea typeface="+mj-ea"/>
                <a:cs typeface="+mj-cs"/>
                <a:sym typeface="Arial"/>
              </a:defRPr>
            </a:pPr>
            <a:r>
              <a:rPr sz="3200" dirty="0"/>
              <a:t>      a</a:t>
            </a:r>
            <a:r>
              <a:rPr sz="3200" baseline="-32373" dirty="0"/>
              <a:t>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/>
              <a:t>a</a:t>
            </a:r>
            <a:r>
              <a:rPr sz="3200" baseline="-32373" dirty="0"/>
              <a:t>2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/>
              <a:t>a</a:t>
            </a:r>
            <a:r>
              <a:rPr sz="3200" baseline="-32373" dirty="0"/>
              <a:t>3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 </a:t>
            </a:r>
            <a:r>
              <a:rPr sz="3200" dirty="0"/>
              <a:t>a</a:t>
            </a:r>
            <a:r>
              <a:rPr sz="3200" baseline="-32373" dirty="0"/>
              <a:t>4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/>
              <a:t>…, a</a:t>
            </a:r>
            <a:r>
              <a:rPr sz="3200" baseline="-32373" dirty="0"/>
              <a:t>n+2</a:t>
            </a:r>
            <a:r>
              <a:rPr sz="3200" dirty="0"/>
              <a:t>, …</a:t>
            </a:r>
          </a:p>
          <a:p>
            <a:pPr marL="0" indent="733869" defTabSz="832104">
              <a:lnSpc>
                <a:spcPct val="95000"/>
              </a:lnSpc>
              <a:spcBef>
                <a:spcPts val="600"/>
              </a:spcBef>
              <a:buSzTx/>
              <a:buNone/>
              <a:defRPr sz="2912">
                <a:latin typeface="+mj-lt"/>
                <a:ea typeface="+mj-ea"/>
                <a:cs typeface="+mj-cs"/>
                <a:sym typeface="Arial"/>
              </a:defRPr>
            </a:pP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令区间</a:t>
            </a:r>
            <a:r>
              <a:rPr sz="3200" dirty="0"/>
              <a:t>[0,1]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中的无理数到区间</a:t>
            </a:r>
            <a:r>
              <a:rPr sz="3200" dirty="0"/>
              <a:t>(0,1)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中的无理数的</a:t>
            </a:r>
            <a:r>
              <a:rPr sz="3200" dirty="0"/>
              <a:t>1-1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映射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baseline="-32373" dirty="0"/>
              <a:t>2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为自己对应自己。则映射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dirty="0"/>
              <a:t>= 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baseline="-32373" dirty="0"/>
              <a:t>1</a:t>
            </a:r>
            <a:r>
              <a:rPr sz="3200" dirty="0"/>
              <a:t>∪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baseline="-32373" dirty="0"/>
              <a:t>2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为区间</a:t>
            </a:r>
            <a:r>
              <a:rPr sz="3200" dirty="0"/>
              <a:t>[0, 1]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到区间</a:t>
            </a:r>
            <a:r>
              <a:rPr sz="3200" dirty="0"/>
              <a:t>(0,1)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的</a:t>
            </a:r>
            <a:r>
              <a:rPr sz="3200" dirty="0"/>
              <a:t>1-1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映射。从而区间</a:t>
            </a:r>
            <a:r>
              <a:rPr sz="3200" dirty="0"/>
              <a:t>[0,1]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 sz="3200" dirty="0"/>
              <a:t>(0,1)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等浓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。 </a:t>
            </a:r>
          </a:p>
        </p:txBody>
      </p:sp>
      <p:grpSp>
        <p:nvGrpSpPr>
          <p:cNvPr id="384" name="Group 384"/>
          <p:cNvGrpSpPr/>
          <p:nvPr/>
        </p:nvGrpSpPr>
        <p:grpSpPr>
          <a:xfrm>
            <a:off x="1738314" y="3032524"/>
            <a:ext cx="3990974" cy="786611"/>
            <a:chOff x="0" y="0"/>
            <a:chExt cx="3661548" cy="786609"/>
          </a:xfrm>
        </p:grpSpPr>
        <p:sp>
          <p:nvSpPr>
            <p:cNvPr id="379" name="Shape 379"/>
            <p:cNvSpPr/>
            <p:nvPr/>
          </p:nvSpPr>
          <p:spPr>
            <a:xfrm flipH="1">
              <a:off x="-1" y="2935"/>
              <a:ext cx="1" cy="771934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0" name="Shape 380"/>
            <p:cNvSpPr/>
            <p:nvPr/>
          </p:nvSpPr>
          <p:spPr>
            <a:xfrm>
              <a:off x="3661548" y="0"/>
              <a:ext cx="1" cy="771934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1" name="Shape 381"/>
            <p:cNvSpPr/>
            <p:nvPr/>
          </p:nvSpPr>
          <p:spPr>
            <a:xfrm flipH="1">
              <a:off x="694153" y="0"/>
              <a:ext cx="1" cy="771934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Shape 382"/>
            <p:cNvSpPr/>
            <p:nvPr/>
          </p:nvSpPr>
          <p:spPr>
            <a:xfrm flipH="1">
              <a:off x="1398579" y="14675"/>
              <a:ext cx="1" cy="771935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3" name="Shape 383"/>
            <p:cNvSpPr/>
            <p:nvPr/>
          </p:nvSpPr>
          <p:spPr>
            <a:xfrm>
              <a:off x="2196928" y="14675"/>
              <a:ext cx="1" cy="771935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388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43</a:t>
            </a:fld>
            <a:endParaRPr/>
          </a:p>
        </p:txBody>
      </p:sp>
      <p:pic>
        <p:nvPicPr>
          <p:cNvPr id="389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323850"/>
            <a:ext cx="8937626" cy="1358900"/>
          </a:xfrm>
          <a:prstGeom prst="rect">
            <a:avLst/>
          </a:prstGeom>
          <a:ln w="12700">
            <a:miter lim="400000"/>
          </a:ln>
        </p:spPr>
      </p:pic>
      <p:sp>
        <p:nvSpPr>
          <p:cNvPr id="390" name="Shape 390"/>
          <p:cNvSpPr>
            <a:spLocks noGrp="1"/>
          </p:cNvSpPr>
          <p:nvPr>
            <p:ph type="body" idx="4294967295"/>
          </p:nvPr>
        </p:nvSpPr>
        <p:spPr>
          <a:xfrm>
            <a:off x="200025" y="1598612"/>
            <a:ext cx="8620125" cy="37480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52425" indent="-352425">
              <a:lnSpc>
                <a:spcPct val="130000"/>
              </a:lnSpc>
              <a:spcBef>
                <a:spcPts val="700"/>
              </a:spcBef>
              <a:spcAft>
                <a:spcPts val="600"/>
              </a:spcAft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 dirty="0"/>
              <a:t>A</a:t>
            </a:r>
            <a:r>
              <a:rPr baseline="-30000" dirty="0"/>
              <a:t>1</a:t>
            </a:r>
            <a:r>
              <a:rPr dirty="0"/>
              <a:t>, A</a:t>
            </a:r>
            <a:r>
              <a:rPr baseline="-30000" dirty="0"/>
              <a:t>2</a:t>
            </a:r>
            <a:r>
              <a:rPr dirty="0"/>
              <a:t>, …,A</a:t>
            </a:r>
            <a:r>
              <a:rPr baseline="-30000" dirty="0"/>
              <a:t>n</a:t>
            </a:r>
            <a:r>
              <a:rPr dirty="0"/>
              <a:t>, …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是互不相交的集合序列，它们的基数都是</a:t>
            </a:r>
            <a:r>
              <a:rPr dirty="0" err="1"/>
              <a:t>c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，则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      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的基数也是</a:t>
            </a:r>
            <a:r>
              <a:rPr dirty="0" err="1"/>
              <a:t>c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。即可数个基数为</a:t>
            </a:r>
            <a:r>
              <a:rPr dirty="0" err="1"/>
              <a:t>c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的集合的并集基数仍为</a:t>
            </a:r>
            <a:r>
              <a:rPr dirty="0" err="1"/>
              <a:t>c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 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196F954-AB31-EB4A-842A-556443C63A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805406"/>
              </p:ext>
            </p:extLst>
          </p:nvPr>
        </p:nvGraphicFramePr>
        <p:xfrm>
          <a:off x="4129082" y="2192337"/>
          <a:ext cx="7921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公式" r:id="rId4" imgW="393700" imgH="431800" progId="Equation.3">
                  <p:embed/>
                </p:oleObj>
              </mc:Choice>
              <mc:Fallback>
                <p:oleObj name="公式" r:id="rId4" imgW="393700" imgH="431800" progId="Equation.3">
                  <p:embed/>
                  <p:pic>
                    <p:nvPicPr>
                      <p:cNvPr id="101380" name="Object 5">
                        <a:extLst>
                          <a:ext uri="{FF2B5EF4-FFF2-40B4-BE49-F238E27FC236}">
                            <a16:creationId xmlns:a16="http://schemas.microsoft.com/office/drawing/2014/main" id="{682F1712-6A0E-2448-87DF-47848DFA58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082" y="2192337"/>
                        <a:ext cx="7921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44</a:t>
            </a:fld>
            <a:endParaRPr/>
          </a:p>
        </p:txBody>
      </p:sp>
      <p:pic>
        <p:nvPicPr>
          <p:cNvPr id="394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03187"/>
            <a:ext cx="6516688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Shape 395"/>
          <p:cNvSpPr>
            <a:spLocks noGrp="1"/>
          </p:cNvSpPr>
          <p:nvPr>
            <p:ph type="body" idx="4294967295"/>
          </p:nvPr>
        </p:nvSpPr>
        <p:spPr>
          <a:xfrm>
            <a:off x="179387" y="1504950"/>
            <a:ext cx="8839201" cy="41386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03085" indent="-303085" defTabSz="786384">
              <a:lnSpc>
                <a:spcPct val="130000"/>
              </a:lnSpc>
              <a:spcBef>
                <a:spcPts val="600"/>
              </a:spcBef>
              <a:defRPr sz="2752">
                <a:latin typeface="+mj-lt"/>
                <a:ea typeface="+mj-ea"/>
                <a:cs typeface="+mj-cs"/>
                <a:sym typeface="Arial"/>
              </a:defRPr>
            </a:pP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 sz="3200" dirty="0" err="1"/>
              <a:t>I</a:t>
            </a:r>
            <a:r>
              <a:rPr sz="3200" baseline="-33906" dirty="0" err="1"/>
              <a:t>n</a:t>
            </a:r>
            <a:r>
              <a:rPr sz="3200" dirty="0"/>
              <a:t>=[n-1, n)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则当</a:t>
            </a:r>
            <a:r>
              <a:rPr sz="3200" dirty="0" err="1"/>
              <a:t>m≠n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时，</a:t>
            </a:r>
            <a:r>
              <a:rPr sz="3200" dirty="0" err="1"/>
              <a:t>I</a:t>
            </a:r>
            <a:r>
              <a:rPr sz="3200" baseline="-33906" dirty="0" err="1"/>
              <a:t>m</a:t>
            </a:r>
            <a:r>
              <a:rPr sz="3200" dirty="0" err="1"/>
              <a:t>∩I</a:t>
            </a:r>
            <a:r>
              <a:rPr sz="3200" baseline="-33906" dirty="0" err="1"/>
              <a:t>n</a:t>
            </a:r>
            <a:r>
              <a:rPr sz="3200" baseline="-33906" dirty="0"/>
              <a:t> </a:t>
            </a:r>
            <a:r>
              <a:rPr sz="3200" dirty="0"/>
              <a:t>=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∅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因为</a:t>
            </a:r>
            <a:r>
              <a:rPr sz="3200" dirty="0" err="1"/>
              <a:t>I</a:t>
            </a:r>
            <a:r>
              <a:rPr sz="3200" baseline="-33906" dirty="0" err="1"/>
              <a:t>n</a:t>
            </a:r>
            <a:r>
              <a:rPr sz="3200" dirty="0"/>
              <a:t>(n=1, 2, …)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的基数是</a:t>
            </a:r>
            <a:r>
              <a:rPr sz="3200" dirty="0"/>
              <a:t>c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，故存在</a:t>
            </a:r>
            <a:r>
              <a:rPr sz="3200" dirty="0"/>
              <a:t>1-1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映射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baseline="-33906" dirty="0"/>
              <a:t>1</a:t>
            </a:r>
            <a:r>
              <a:rPr sz="3200" dirty="0"/>
              <a:t>, 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baseline="-33906" dirty="0"/>
              <a:t>2 </a:t>
            </a:r>
            <a:r>
              <a:rPr sz="3200" dirty="0"/>
              <a:t>,…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使得</a:t>
            </a:r>
            <a:r>
              <a:rPr sz="3200" dirty="0" err="1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baseline="-33906" dirty="0" err="1"/>
              <a:t>n</a:t>
            </a:r>
            <a:r>
              <a:rPr sz="3200" dirty="0"/>
              <a:t>(I</a:t>
            </a:r>
            <a:r>
              <a:rPr sz="3200" baseline="-33906" dirty="0"/>
              <a:t>n</a:t>
            </a:r>
            <a:r>
              <a:rPr sz="3200" dirty="0"/>
              <a:t>)=</a:t>
            </a:r>
            <a:r>
              <a:rPr sz="3200" dirty="0" err="1"/>
              <a:t>A</a:t>
            </a:r>
            <a:r>
              <a:rPr sz="3200" baseline="-33906" dirty="0" err="1"/>
              <a:t>n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。令</a:t>
            </a:r>
            <a:r>
              <a:rPr sz="3200" dirty="0" err="1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dirty="0"/>
              <a:t>=         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则</a:t>
            </a:r>
            <a:r>
              <a:rPr sz="3200" dirty="0" err="1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是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        </a:t>
            </a:r>
            <a:r>
              <a:rPr sz="3200" dirty="0"/>
              <a:t>=(0, +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∞</a:t>
            </a:r>
            <a:r>
              <a:rPr sz="3200" dirty="0"/>
              <a:t>)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         的</a:t>
            </a:r>
            <a:r>
              <a:rPr sz="3200" dirty="0"/>
              <a:t>1-1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映射。从而        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 sz="3200" dirty="0"/>
              <a:t>(0, +</a:t>
            </a:r>
            <a:r>
              <a:rPr sz="3200" dirty="0">
                <a:latin typeface="Symbol"/>
                <a:ea typeface="Symbol"/>
                <a:cs typeface="Symbol"/>
                <a:sym typeface="Symbol"/>
              </a:rPr>
              <a:t>∞</a:t>
            </a:r>
            <a:r>
              <a:rPr sz="3200" dirty="0"/>
              <a:t>)</a:t>
            </a:r>
            <a:r>
              <a:rPr sz="3200" dirty="0" err="1">
                <a:latin typeface="楷体_GB2312"/>
                <a:ea typeface="楷体_GB2312"/>
                <a:cs typeface="楷体_GB2312"/>
                <a:sym typeface="楷体_GB2312"/>
              </a:rPr>
              <a:t>等浓，由推论知其基数为</a:t>
            </a:r>
            <a:r>
              <a:rPr sz="3200" dirty="0" err="1"/>
              <a:t>c</a:t>
            </a:r>
            <a:r>
              <a:rPr sz="3200" dirty="0">
                <a:latin typeface="楷体_GB2312"/>
                <a:ea typeface="楷体_GB2312"/>
                <a:cs typeface="楷体_GB2312"/>
                <a:sym typeface="楷体_GB2312"/>
              </a:rPr>
              <a:t>。 </a:t>
            </a: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C5B2AB00-299B-9640-A037-5BD047CE2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446347"/>
              </p:ext>
            </p:extLst>
          </p:nvPr>
        </p:nvGraphicFramePr>
        <p:xfrm>
          <a:off x="2651919" y="3323671"/>
          <a:ext cx="8905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公式" r:id="rId4" imgW="419100" imgH="431800" progId="Equation.3">
                  <p:embed/>
                </p:oleObj>
              </mc:Choice>
              <mc:Fallback>
                <p:oleObj name="公式" r:id="rId4" imgW="419100" imgH="431800" progId="Equation.3">
                  <p:embed/>
                  <p:pic>
                    <p:nvPicPr>
                      <p:cNvPr id="103428" name="Object 5">
                        <a:extLst>
                          <a:ext uri="{FF2B5EF4-FFF2-40B4-BE49-F238E27FC236}">
                            <a16:creationId xmlns:a16="http://schemas.microsoft.com/office/drawing/2014/main" id="{04DA5A5F-63A6-B24F-9EAB-606E6BDAC0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919" y="3323671"/>
                        <a:ext cx="8905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43D43AE2-E6F6-8A43-9B0F-651BC9202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780606"/>
              </p:ext>
            </p:extLst>
          </p:nvPr>
        </p:nvGraphicFramePr>
        <p:xfrm>
          <a:off x="5189538" y="2725872"/>
          <a:ext cx="8255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公式" r:id="rId6" imgW="419100" imgH="431800" progId="Equation.3">
                  <p:embed/>
                </p:oleObj>
              </mc:Choice>
              <mc:Fallback>
                <p:oleObj name="公式" r:id="rId6" imgW="419100" imgH="431800" progId="Equation.3">
                  <p:embed/>
                  <p:pic>
                    <p:nvPicPr>
                      <p:cNvPr id="103429" name="Object 6">
                        <a:extLst>
                          <a:ext uri="{FF2B5EF4-FFF2-40B4-BE49-F238E27FC236}">
                            <a16:creationId xmlns:a16="http://schemas.microsoft.com/office/drawing/2014/main" id="{BBF4A4C8-D983-AA43-A344-3F89142E76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2725872"/>
                        <a:ext cx="8255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601C9544-D9A4-1448-A01A-295522B87B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139433"/>
              </p:ext>
            </p:extLst>
          </p:nvPr>
        </p:nvGraphicFramePr>
        <p:xfrm>
          <a:off x="6706533" y="3382030"/>
          <a:ext cx="85407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公式" r:id="rId8" imgW="419100" imgH="431800" progId="Equation.3">
                  <p:embed/>
                </p:oleObj>
              </mc:Choice>
              <mc:Fallback>
                <p:oleObj name="公式" r:id="rId8" imgW="419100" imgH="431800" progId="Equation.3">
                  <p:embed/>
                  <p:pic>
                    <p:nvPicPr>
                      <p:cNvPr id="103431" name="Object 8">
                        <a:extLst>
                          <a:ext uri="{FF2B5EF4-FFF2-40B4-BE49-F238E27FC236}">
                            <a16:creationId xmlns:a16="http://schemas.microsoft.com/office/drawing/2014/main" id="{99888E43-EF0C-044A-BCEC-31D96B9E6E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6533" y="3382030"/>
                        <a:ext cx="85407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FEC590B0-D77A-964E-8C22-049377ED0F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2918" y="2702060"/>
            <a:ext cx="850900" cy="88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45</a:t>
            </a:fld>
            <a:endParaRPr/>
          </a:p>
        </p:txBody>
      </p:sp>
      <p:pic>
        <p:nvPicPr>
          <p:cNvPr id="403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30162"/>
            <a:ext cx="8937626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404" name="Shape 404"/>
          <p:cNvSpPr>
            <a:spLocks noGrp="1"/>
          </p:cNvSpPr>
          <p:nvPr>
            <p:ph type="body" idx="4294967295"/>
          </p:nvPr>
        </p:nvSpPr>
        <p:spPr>
          <a:xfrm>
            <a:off x="125412" y="1327150"/>
            <a:ext cx="8839201" cy="43338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40277" indent="-440277" defTabSz="896111">
              <a:spcBef>
                <a:spcPts val="700"/>
              </a:spcBef>
              <a:defRPr sz="3136">
                <a:solidFill>
                  <a:srgbClr val="212745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集合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的元素不能与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的所有子集建立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1-1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映射。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440277" indent="-440277" defTabSz="896111">
              <a:spcBef>
                <a:spcPts val="400"/>
              </a:spcBef>
              <a:defRPr sz="3136">
                <a:latin typeface="+mj-lt"/>
                <a:ea typeface="+mj-ea"/>
                <a:cs typeface="+mj-cs"/>
                <a:sym typeface="Arial"/>
              </a:defRPr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0277" indent="-440277" defTabSz="896111">
              <a:spcBef>
                <a:spcPts val="700"/>
              </a:spcBef>
              <a:defRPr sz="3136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证明：反证法。假设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为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的所有子集作元素的集合上的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1-1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映射。令</a:t>
            </a:r>
            <a:b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B=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{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x|x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并且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∉σ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(x)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}</a:t>
            </a:r>
          </a:p>
          <a:p>
            <a:pPr marL="440277" indent="-440277" algn="just" defTabSz="896111">
              <a:spcBef>
                <a:spcPts val="700"/>
              </a:spcBef>
              <a:buSzTx/>
              <a:buNone/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	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于是，存在唯一一个元素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楷体_GB2312"/>
                <a:ea typeface="楷体_GB2312"/>
                <a:cs typeface="楷体_GB2312"/>
                <a:sym typeface="楷体_GB2312"/>
              </a:rPr>
              <a:t>，使得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楷体_GB2312"/>
              <a:ea typeface="楷体_GB2312"/>
              <a:cs typeface="楷体_GB2312"/>
              <a:sym typeface="楷体_GB2312"/>
            </a:endParaRPr>
          </a:p>
          <a:p>
            <a:pPr marL="440277" indent="-440277" algn="ctr" defTabSz="896111">
              <a:spcBef>
                <a:spcPts val="700"/>
              </a:spcBef>
              <a:buSzTx/>
              <a:buNone/>
              <a:defRPr sz="3136"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(b)=B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" grpId="1" build="p" bldLvl="5" animBg="1" advAuto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408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46</a:t>
            </a:fld>
            <a:endParaRPr/>
          </a:p>
        </p:txBody>
      </p:sp>
      <p:pic>
        <p:nvPicPr>
          <p:cNvPr id="409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115887"/>
            <a:ext cx="8937626" cy="1358901"/>
          </a:xfrm>
          <a:prstGeom prst="rect">
            <a:avLst/>
          </a:prstGeom>
          <a:ln w="12700">
            <a:miter lim="400000"/>
          </a:ln>
        </p:spPr>
      </p:pic>
      <p:sp>
        <p:nvSpPr>
          <p:cNvPr id="410" name="Shape 410"/>
          <p:cNvSpPr>
            <a:spLocks noGrp="1"/>
          </p:cNvSpPr>
          <p:nvPr>
            <p:ph type="body" idx="4294967295"/>
          </p:nvPr>
        </p:nvSpPr>
        <p:spPr>
          <a:xfrm>
            <a:off x="125412" y="1190625"/>
            <a:ext cx="8839201" cy="51482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868680">
              <a:lnSpc>
                <a:spcPct val="130000"/>
              </a:lnSpc>
              <a:spcBef>
                <a:spcPts val="700"/>
              </a:spcBef>
              <a:buSzTx/>
              <a:buNone/>
              <a:defRPr sz="3040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   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若</a:t>
            </a:r>
            <a:r>
              <a:rPr dirty="0" err="1"/>
              <a:t>b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，则由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的定义知，</a:t>
            </a:r>
            <a:r>
              <a:rPr dirty="0" err="1"/>
              <a:t>b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∉σ</a:t>
            </a:r>
            <a:r>
              <a:rPr dirty="0"/>
              <a:t>(b)=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，即</a:t>
            </a:r>
            <a:r>
              <a:rPr dirty="0" err="1"/>
              <a:t>b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∉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，矛盾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0" indent="0" defTabSz="868680">
              <a:lnSpc>
                <a:spcPct val="130000"/>
              </a:lnSpc>
              <a:spcBef>
                <a:spcPts val="700"/>
              </a:spcBef>
              <a:buSzTx/>
              <a:buNone/>
              <a:defRPr sz="3040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   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若</a:t>
            </a:r>
            <a:r>
              <a:rPr dirty="0" err="1"/>
              <a:t>b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∉</a:t>
            </a:r>
            <a:r>
              <a:rPr dirty="0" err="1"/>
              <a:t>B</a:t>
            </a:r>
            <a:r>
              <a:rPr dirty="0"/>
              <a:t>, 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因为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 dirty="0"/>
              <a:t>(b)=B, 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所以</a:t>
            </a:r>
            <a:r>
              <a:rPr dirty="0" err="1"/>
              <a:t>b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∉σ</a:t>
            </a:r>
            <a:r>
              <a:rPr dirty="0"/>
              <a:t>(b)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于是由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的定义知，</a:t>
            </a:r>
            <a:r>
              <a:rPr dirty="0" err="1"/>
              <a:t>b</a:t>
            </a:r>
            <a:r>
              <a:rPr dirty="0" err="1"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 dirty="0" err="1"/>
              <a:t>B</a:t>
            </a: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，矛盾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 marL="0" indent="0" defTabSz="868680">
              <a:lnSpc>
                <a:spcPct val="130000"/>
              </a:lnSpc>
              <a:spcBef>
                <a:spcPts val="700"/>
              </a:spcBef>
              <a:buSzTx/>
              <a:buNone/>
              <a:defRPr sz="3040">
                <a:latin typeface="+mj-lt"/>
                <a:ea typeface="+mj-ea"/>
                <a:cs typeface="+mj-cs"/>
                <a:sym typeface="Arial"/>
              </a:defRPr>
            </a:pP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    因此，在</a:t>
            </a:r>
            <a:r>
              <a:rPr dirty="0"/>
              <a:t>A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与</a:t>
            </a:r>
            <a:r>
              <a:rPr dirty="0"/>
              <a:t>A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的所有子集作元素的集合之间，不能建立</a:t>
            </a:r>
            <a:r>
              <a:rPr dirty="0"/>
              <a:t>1-1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映射。 </a:t>
            </a:r>
          </a:p>
          <a:p>
            <a:pPr marL="0" indent="0" defTabSz="868680">
              <a:lnSpc>
                <a:spcPct val="130000"/>
              </a:lnSpc>
              <a:spcBef>
                <a:spcPts val="700"/>
              </a:spcBef>
              <a:defRPr sz="3040">
                <a:latin typeface="+mj-lt"/>
                <a:ea typeface="+mj-ea"/>
                <a:cs typeface="+mj-cs"/>
                <a:sym typeface="Arial"/>
              </a:defRPr>
            </a:pPr>
            <a:r>
              <a:rPr dirty="0" err="1">
                <a:latin typeface="楷体_GB2312"/>
                <a:ea typeface="楷体_GB2312"/>
                <a:cs typeface="楷体_GB2312"/>
                <a:sym typeface="楷体_GB2312"/>
              </a:rPr>
              <a:t>构造基数任意大的集合</a:t>
            </a:r>
            <a:r>
              <a:rPr dirty="0">
                <a:latin typeface="楷体_GB2312"/>
                <a:ea typeface="楷体_GB2312"/>
                <a:cs typeface="楷体_GB2312"/>
                <a:sym typeface="楷体_GB2312"/>
              </a:rPr>
              <a:t>：</a:t>
            </a:r>
            <a:r>
              <a:rPr dirty="0">
                <a:latin typeface="Trebuchet MS"/>
                <a:ea typeface="Trebuchet MS"/>
                <a:cs typeface="Trebuchet MS"/>
                <a:sym typeface="Trebuchet MS"/>
              </a:rPr>
              <a:t>|R|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&lt;</a:t>
            </a:r>
            <a:r>
              <a:rPr dirty="0">
                <a:latin typeface="Trebuchet MS"/>
                <a:ea typeface="Trebuchet MS"/>
                <a:cs typeface="Trebuchet MS"/>
                <a:sym typeface="Trebuchet MS"/>
              </a:rPr>
              <a:t>|2</a:t>
            </a:r>
            <a:r>
              <a:rPr baseline="29894" dirty="0"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dirty="0">
                <a:latin typeface="Trebuchet MS"/>
                <a:ea typeface="Trebuchet MS"/>
                <a:cs typeface="Trebuchet MS"/>
                <a:sym typeface="Trebuchet MS"/>
              </a:rPr>
              <a:t>|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&lt;</a:t>
            </a:r>
            <a:r>
              <a:rPr dirty="0">
                <a:latin typeface="Trebuchet MS"/>
                <a:ea typeface="Trebuchet MS"/>
                <a:cs typeface="Trebuchet MS"/>
                <a:sym typeface="Trebuchet MS"/>
              </a:rPr>
              <a:t>|2</a:t>
            </a:r>
            <a:r>
              <a:rPr baseline="29894" dirty="0"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sz="3600" baseline="29894" dirty="0"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dirty="0">
                <a:latin typeface="Trebuchet MS"/>
                <a:ea typeface="Trebuchet MS"/>
                <a:cs typeface="Trebuchet MS"/>
                <a:sym typeface="Trebuchet MS"/>
              </a:rPr>
              <a:t>|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&lt;</a:t>
            </a:r>
            <a:r>
              <a:rPr dirty="0">
                <a:latin typeface="Trebuchet MS"/>
                <a:ea typeface="Trebuchet MS"/>
                <a:cs typeface="Trebuchet MS"/>
                <a:sym typeface="Trebuchet MS"/>
              </a:rPr>
              <a:t>…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" grpId="1" build="p" bldLvl="5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47</a:t>
            </a:fld>
            <a:endParaRPr/>
          </a:p>
        </p:txBody>
      </p:sp>
      <p:pic>
        <p:nvPicPr>
          <p:cNvPr id="413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" y="115887"/>
            <a:ext cx="8937626" cy="1358901"/>
          </a:xfrm>
          <a:prstGeom prst="rect">
            <a:avLst/>
          </a:prstGeom>
          <a:ln w="12700">
            <a:miter lim="400000"/>
          </a:ln>
        </p:spPr>
      </p:pic>
      <p:sp>
        <p:nvSpPr>
          <p:cNvPr id="414" name="Shape 414"/>
          <p:cNvSpPr>
            <a:spLocks noGrp="1"/>
          </p:cNvSpPr>
          <p:nvPr>
            <p:ph type="body" idx="4294967295"/>
          </p:nvPr>
        </p:nvSpPr>
        <p:spPr>
          <a:xfrm>
            <a:off x="125412" y="1543050"/>
            <a:ext cx="8839201" cy="38306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8327" indent="-338327" defTabSz="877823">
              <a:spcBef>
                <a:spcPts val="700"/>
              </a:spcBef>
              <a:defRPr sz="3072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按照基数的大小可排为：</a:t>
            </a:r>
          </a:p>
          <a:p>
            <a:pPr marL="338327" indent="-338327" algn="ctr" defTabSz="877823">
              <a:spcBef>
                <a:spcPts val="700"/>
              </a:spcBef>
              <a:buSzTx/>
              <a:buNone/>
              <a:defRPr sz="3072">
                <a:latin typeface="+mj-lt"/>
                <a:ea typeface="+mj-ea"/>
                <a:cs typeface="+mj-cs"/>
                <a:sym typeface="Arial"/>
              </a:defRPr>
            </a:pPr>
            <a:r>
              <a:t>1, 2, …, n, …,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ℵ</a:t>
            </a:r>
            <a:r>
              <a:rPr baseline="-31000"/>
              <a:t>0</a:t>
            </a:r>
            <a:r>
              <a:t>,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ℵ</a:t>
            </a:r>
            <a:r>
              <a:rPr baseline="-31000"/>
              <a:t>1</a:t>
            </a:r>
            <a:r>
              <a:t>,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ℵ</a:t>
            </a:r>
            <a:r>
              <a:rPr baseline="-31000"/>
              <a:t>2</a:t>
            </a:r>
            <a:r>
              <a:t> ……</a:t>
            </a:r>
          </a:p>
          <a:p>
            <a:pPr marL="338327" indent="-338327" defTabSz="877823">
              <a:spcBef>
                <a:spcPts val="700"/>
              </a:spcBef>
              <a:buSzTx/>
              <a:buNone/>
              <a:defRPr sz="3072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	是否存在集合</a:t>
            </a:r>
            <a:r>
              <a:t>S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，使得</a:t>
            </a:r>
          </a:p>
          <a:p>
            <a:pPr marL="338327" indent="-338327" algn="ctr" defTabSz="877823">
              <a:spcBef>
                <a:spcPts val="700"/>
              </a:spcBef>
              <a:buSzTx/>
              <a:buNone/>
              <a:defRPr sz="3072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ℵ</a:t>
            </a:r>
            <a:r>
              <a:rPr baseline="-31000"/>
              <a:t>0</a:t>
            </a:r>
            <a:r>
              <a:t>&lt; |S| &lt;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ℵ</a:t>
            </a:r>
            <a:r>
              <a:rPr baseline="-31000"/>
              <a:t>1</a:t>
            </a:r>
          </a:p>
          <a:p>
            <a:pPr marL="338327" indent="-338327" defTabSz="877823">
              <a:spcBef>
                <a:spcPts val="700"/>
              </a:spcBef>
              <a:buSzTx/>
              <a:buNone/>
              <a:defRPr sz="3072">
                <a:latin typeface="宋体"/>
                <a:ea typeface="宋体"/>
                <a:cs typeface="宋体"/>
                <a:sym typeface="宋体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	即能否找到一实数集的子集，它是不可数集合，但又不能与实数集合建立一一对应。</a:t>
            </a:r>
            <a:r>
              <a:rPr>
                <a:latin typeface="+mj-lt"/>
                <a:ea typeface="+mj-ea"/>
                <a:cs typeface="+mj-cs"/>
                <a:sym typeface="Arial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" grpId="1" build="p" bldLvl="5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48</a:t>
            </a:fld>
            <a:endParaRPr/>
          </a:p>
        </p:txBody>
      </p:sp>
      <p:pic>
        <p:nvPicPr>
          <p:cNvPr id="419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176212"/>
            <a:ext cx="6516688" cy="1360488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Shape 420"/>
          <p:cNvSpPr>
            <a:spLocks noGrp="1"/>
          </p:cNvSpPr>
          <p:nvPr>
            <p:ph type="body" sz="half" idx="4294967295"/>
          </p:nvPr>
        </p:nvSpPr>
        <p:spPr>
          <a:xfrm>
            <a:off x="323850" y="1557337"/>
            <a:ext cx="8424863" cy="28082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700"/>
              </a:spcBef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1. 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设</a:t>
            </a:r>
            <a:r>
              <a:rPr>
                <a:solidFill>
                  <a:srgbClr val="404040"/>
                </a:solidFill>
              </a:rPr>
              <a:t>R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是集合</a:t>
            </a:r>
            <a:r>
              <a:rPr>
                <a:solidFill>
                  <a:srgbClr val="404040"/>
                </a:solidFill>
              </a:rPr>
              <a:t>S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上的关系，并且</a:t>
            </a:r>
            <a:r>
              <a:rPr>
                <a:solidFill>
                  <a:srgbClr val="404040"/>
                </a:solidFill>
              </a:rPr>
              <a:t>R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既是等价关系，又是偏序关系。请描述</a:t>
            </a:r>
            <a:r>
              <a:rPr>
                <a:solidFill>
                  <a:srgbClr val="404040"/>
                </a:solidFill>
              </a:rPr>
              <a:t>R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。</a:t>
            </a:r>
          </a:p>
          <a:p>
            <a:pPr>
              <a:spcBef>
                <a:spcPts val="400"/>
              </a:spcBef>
              <a:defRPr sz="3200">
                <a:latin typeface="+mj-lt"/>
                <a:ea typeface="+mj-ea"/>
                <a:cs typeface="+mj-cs"/>
                <a:sym typeface="Arial"/>
              </a:defRPr>
            </a:pPr>
            <a:endParaRPr>
              <a:solidFill>
                <a:srgbClr val="404040"/>
              </a:solidFill>
              <a:latin typeface="楷体_GB2312"/>
              <a:ea typeface="楷体_GB2312"/>
              <a:cs typeface="楷体_GB2312"/>
              <a:sym typeface="楷体_GB2312"/>
            </a:endParaRPr>
          </a:p>
          <a:p>
            <a:pPr>
              <a:spcBef>
                <a:spcPts val="700"/>
              </a:spcBef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解：</a:t>
            </a:r>
            <a:r>
              <a:rPr>
                <a:solidFill>
                  <a:srgbClr val="404040"/>
                </a:solidFill>
              </a:rPr>
              <a:t>R={(s,s)|s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∈</a:t>
            </a:r>
            <a:r>
              <a:rPr>
                <a:solidFill>
                  <a:srgbClr val="404040"/>
                </a:solidFill>
              </a:rPr>
              <a:t>S}.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" grpId="1" animBg="1" advAuto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-85725"/>
            <a:ext cx="8937626" cy="1408113"/>
          </a:xfrm>
          <a:prstGeom prst="rect">
            <a:avLst/>
          </a:prstGeom>
          <a:ln w="12700">
            <a:miter lim="400000"/>
          </a:ln>
        </p:spPr>
      </p:pic>
      <p:sp>
        <p:nvSpPr>
          <p:cNvPr id="423" name="Shape 423"/>
          <p:cNvSpPr>
            <a:spLocks noGrp="1"/>
          </p:cNvSpPr>
          <p:nvPr>
            <p:ph type="body" sz="half" idx="4294967295"/>
          </p:nvPr>
        </p:nvSpPr>
        <p:spPr>
          <a:xfrm>
            <a:off x="65087" y="1011237"/>
            <a:ext cx="5299076" cy="31384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98881" indent="-158829" defTabSz="795527">
              <a:spcBef>
                <a:spcPts val="600"/>
              </a:spcBef>
              <a:defRPr sz="2784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2. 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设集合</a:t>
            </a:r>
            <a:r>
              <a:rPr>
                <a:solidFill>
                  <a:srgbClr val="404040"/>
                </a:solidFill>
              </a:rPr>
              <a:t>X={x</a:t>
            </a:r>
            <a:r>
              <a:rPr baseline="-27839">
                <a:solidFill>
                  <a:srgbClr val="404040"/>
                </a:solidFill>
              </a:rPr>
              <a:t>1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2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3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4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5</a:t>
            </a:r>
            <a:r>
              <a:rPr>
                <a:solidFill>
                  <a:srgbClr val="404040"/>
                </a:solidFill>
              </a:rPr>
              <a:t>}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上的偏序关系如图，求</a:t>
            </a:r>
            <a:r>
              <a:rPr>
                <a:solidFill>
                  <a:srgbClr val="404040"/>
                </a:solidFill>
              </a:rPr>
              <a:t>X</a:t>
            </a:r>
            <a:r>
              <a:rPr baseline="-27839">
                <a:solidFill>
                  <a:srgbClr val="404040"/>
                </a:solidFill>
              </a:rPr>
              <a:t>1</a:t>
            </a:r>
            <a:r>
              <a:rPr>
                <a:solidFill>
                  <a:srgbClr val="404040"/>
                </a:solidFill>
              </a:rPr>
              <a:t>={x</a:t>
            </a:r>
            <a:r>
              <a:rPr baseline="-27839">
                <a:solidFill>
                  <a:srgbClr val="404040"/>
                </a:solidFill>
              </a:rPr>
              <a:t>2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3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4</a:t>
            </a:r>
            <a:r>
              <a:rPr>
                <a:solidFill>
                  <a:srgbClr val="404040"/>
                </a:solidFill>
              </a:rPr>
              <a:t>}, X</a:t>
            </a:r>
            <a:r>
              <a:rPr baseline="-27839">
                <a:solidFill>
                  <a:srgbClr val="404040"/>
                </a:solidFill>
              </a:rPr>
              <a:t>2</a:t>
            </a:r>
            <a:r>
              <a:rPr>
                <a:solidFill>
                  <a:srgbClr val="404040"/>
                </a:solidFill>
              </a:rPr>
              <a:t>={x</a:t>
            </a:r>
            <a:r>
              <a:rPr baseline="-27839">
                <a:solidFill>
                  <a:srgbClr val="404040"/>
                </a:solidFill>
              </a:rPr>
              <a:t>3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4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5</a:t>
            </a:r>
            <a:r>
              <a:rPr>
                <a:solidFill>
                  <a:srgbClr val="404040"/>
                </a:solidFill>
              </a:rPr>
              <a:t>}, X</a:t>
            </a:r>
            <a:r>
              <a:rPr baseline="-27839">
                <a:solidFill>
                  <a:srgbClr val="404040"/>
                </a:solidFill>
              </a:rPr>
              <a:t>3</a:t>
            </a:r>
            <a:r>
              <a:rPr>
                <a:solidFill>
                  <a:srgbClr val="404040"/>
                </a:solidFill>
              </a:rPr>
              <a:t>={x</a:t>
            </a:r>
            <a:r>
              <a:rPr baseline="-27839">
                <a:solidFill>
                  <a:srgbClr val="404040"/>
                </a:solidFill>
              </a:rPr>
              <a:t>1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3</a:t>
            </a:r>
            <a:r>
              <a:rPr>
                <a:solidFill>
                  <a:srgbClr val="404040"/>
                </a:solidFill>
              </a:rPr>
              <a:t>,x</a:t>
            </a:r>
            <a:r>
              <a:rPr baseline="-27839">
                <a:solidFill>
                  <a:srgbClr val="404040"/>
                </a:solidFill>
              </a:rPr>
              <a:t>5</a:t>
            </a:r>
            <a:r>
              <a:rPr>
                <a:solidFill>
                  <a:srgbClr val="404040"/>
                </a:solidFill>
              </a:rPr>
              <a:t>}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的上界、下界、上确界、下确界、最大元、最小元、极大元、极小元。</a:t>
            </a:r>
          </a:p>
        </p:txBody>
      </p:sp>
      <p:graphicFrame>
        <p:nvGraphicFramePr>
          <p:cNvPr id="424" name="Table 424"/>
          <p:cNvGraphicFramePr/>
          <p:nvPr/>
        </p:nvGraphicFramePr>
        <p:xfrm>
          <a:off x="252412" y="4221162"/>
          <a:ext cx="8496297" cy="223202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3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6737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集合</a:t>
                      </a:r>
                    </a:p>
                  </a:txBody>
                  <a:tcPr marL="0" marR="0" marT="0" marB="0" anchor="ctr" horzOverflow="overflow">
                    <a:lnL w="28575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最大元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最小元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极大元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极小元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上界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下界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上确界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下确界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28575">
                      <a:solidFill>
                        <a:srgbClr val="000000"/>
                      </a:solidFill>
                    </a:lnR>
                    <a:lnT w="28575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3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1</a:t>
                      </a:r>
                    </a:p>
                  </a:txBody>
                  <a:tcPr marL="0" marR="0" marT="0" marB="0" anchor="ctr" horzOverflow="overflow">
                    <a:lnL w="28575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无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2</a:t>
                      </a:r>
                      <a:r>
                        <a:t>,x</a:t>
                      </a:r>
                      <a:r>
                        <a:rPr baseline="-25000"/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28575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7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2</a:t>
                      </a:r>
                    </a:p>
                  </a:txBody>
                  <a:tcPr marL="0" marR="0" marT="0" marB="0" anchor="ctr" horzOverflow="overflow">
                    <a:lnL w="28575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无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4</a:t>
                      </a:r>
                      <a:r>
                        <a:t>,x</a:t>
                      </a:r>
                      <a:r>
                        <a:rPr baseline="-25000"/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1</a:t>
                      </a:r>
                      <a:r>
                        <a:t>,x</a:t>
                      </a:r>
                      <a:r>
                        <a:rPr baseline="-25000"/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无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rPr>
                          <a:latin typeface="楷体_GB2312"/>
                          <a:ea typeface="楷体_GB2312"/>
                          <a:cs typeface="楷体_GB2312"/>
                          <a:sym typeface="楷体_GB2312"/>
                        </a:rPr>
                        <a:t>无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28575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3</a:t>
                      </a:r>
                    </a:p>
                  </a:txBody>
                  <a:tcPr marL="0" marR="0" marT="0" marB="0" anchor="ctr" horzOverflow="overflow">
                    <a:lnL w="28575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solidFill>
                      <a:srgbClr val="00C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800">
                          <a:effectLst>
                            <a:outerShdw blurRad="12700" dist="25400" dir="2700000" rotWithShape="0">
                              <a:srgbClr val="FFFFFF"/>
                            </a:outerShdw>
                          </a:effectLst>
                        </a:defRPr>
                      </a:pPr>
                      <a:r>
                        <a:t>x</a:t>
                      </a:r>
                      <a:r>
                        <a:rPr baseline="-25000"/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28575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28575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5" name="Shape 425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49</a:t>
            </a:fld>
            <a:endParaRPr/>
          </a:p>
        </p:txBody>
      </p:sp>
      <p:grpSp>
        <p:nvGrpSpPr>
          <p:cNvPr id="441" name="Group 441"/>
          <p:cNvGrpSpPr/>
          <p:nvPr/>
        </p:nvGrpSpPr>
        <p:grpSpPr>
          <a:xfrm>
            <a:off x="5734050" y="1268412"/>
            <a:ext cx="2877741" cy="2547367"/>
            <a:chOff x="0" y="0"/>
            <a:chExt cx="2877740" cy="2547366"/>
          </a:xfrm>
        </p:grpSpPr>
        <p:sp>
          <p:nvSpPr>
            <p:cNvPr id="426" name="Shape 426"/>
            <p:cNvSpPr/>
            <p:nvPr/>
          </p:nvSpPr>
          <p:spPr>
            <a:xfrm>
              <a:off x="1008062" y="342900"/>
              <a:ext cx="144463" cy="14446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/>
              </a:pPr>
              <a:endParaRPr/>
            </a:p>
          </p:txBody>
        </p:sp>
        <p:sp>
          <p:nvSpPr>
            <p:cNvPr id="427" name="Shape 427"/>
            <p:cNvSpPr/>
            <p:nvPr/>
          </p:nvSpPr>
          <p:spPr>
            <a:xfrm>
              <a:off x="360362" y="1279525"/>
              <a:ext cx="144463" cy="14446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/>
              </a:pPr>
              <a:endParaRPr/>
            </a:p>
          </p:txBody>
        </p:sp>
        <p:sp>
          <p:nvSpPr>
            <p:cNvPr id="428" name="Shape 428"/>
            <p:cNvSpPr/>
            <p:nvPr/>
          </p:nvSpPr>
          <p:spPr>
            <a:xfrm>
              <a:off x="1008062" y="2216150"/>
              <a:ext cx="144463" cy="14446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/>
              </a:pPr>
              <a:endParaRPr/>
            </a:p>
          </p:txBody>
        </p:sp>
        <p:sp>
          <p:nvSpPr>
            <p:cNvPr id="429" name="Shape 429"/>
            <p:cNvSpPr/>
            <p:nvPr/>
          </p:nvSpPr>
          <p:spPr>
            <a:xfrm>
              <a:off x="1655762" y="1279525"/>
              <a:ext cx="144463" cy="14446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/>
              </a:pPr>
              <a:endParaRPr/>
            </a:p>
          </p:txBody>
        </p:sp>
        <p:sp>
          <p:nvSpPr>
            <p:cNvPr id="430" name="Shape 430"/>
            <p:cNvSpPr/>
            <p:nvPr/>
          </p:nvSpPr>
          <p:spPr>
            <a:xfrm>
              <a:off x="2303462" y="2214562"/>
              <a:ext cx="144463" cy="14446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/>
              </a:pPr>
              <a:endParaRPr/>
            </a:p>
          </p:txBody>
        </p:sp>
        <p:sp>
          <p:nvSpPr>
            <p:cNvPr id="431" name="Shape 431"/>
            <p:cNvSpPr/>
            <p:nvPr/>
          </p:nvSpPr>
          <p:spPr>
            <a:xfrm flipH="1">
              <a:off x="431800" y="415924"/>
              <a:ext cx="647700" cy="8636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2" name="Shape 432"/>
            <p:cNvSpPr/>
            <p:nvPr/>
          </p:nvSpPr>
          <p:spPr>
            <a:xfrm>
              <a:off x="1079500" y="415924"/>
              <a:ext cx="647700" cy="93503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3" name="Shape 433"/>
            <p:cNvSpPr/>
            <p:nvPr/>
          </p:nvSpPr>
          <p:spPr>
            <a:xfrm>
              <a:off x="1727200" y="1350962"/>
              <a:ext cx="649288" cy="9366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4" name="Shape 434"/>
            <p:cNvSpPr/>
            <p:nvPr/>
          </p:nvSpPr>
          <p:spPr>
            <a:xfrm>
              <a:off x="431800" y="1350962"/>
              <a:ext cx="647700" cy="9366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5" name="Shape 435"/>
            <p:cNvSpPr/>
            <p:nvPr/>
          </p:nvSpPr>
          <p:spPr>
            <a:xfrm flipH="1">
              <a:off x="1079500" y="1350962"/>
              <a:ext cx="647700" cy="93662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6" name="Shape 436"/>
            <p:cNvSpPr/>
            <p:nvPr/>
          </p:nvSpPr>
          <p:spPr>
            <a:xfrm>
              <a:off x="647700" y="0"/>
              <a:ext cx="358379" cy="5471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defRPr sz="3200"/>
              </a:pPr>
              <a:r>
                <a:t>x</a:t>
              </a:r>
              <a:r>
                <a:rPr baseline="-25000"/>
                <a:t>1</a:t>
              </a:r>
            </a:p>
          </p:txBody>
        </p:sp>
        <p:sp>
          <p:nvSpPr>
            <p:cNvPr id="437" name="Shape 437"/>
            <p:cNvSpPr/>
            <p:nvPr/>
          </p:nvSpPr>
          <p:spPr>
            <a:xfrm>
              <a:off x="1223962" y="2000250"/>
              <a:ext cx="358379" cy="5471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defRPr sz="3200"/>
              </a:pPr>
              <a:r>
                <a:t>x</a:t>
              </a:r>
              <a:r>
                <a:rPr baseline="-25000"/>
                <a:t>4</a:t>
              </a:r>
            </a:p>
          </p:txBody>
        </p:sp>
        <p:sp>
          <p:nvSpPr>
            <p:cNvPr id="438" name="Shape 438"/>
            <p:cNvSpPr/>
            <p:nvPr/>
          </p:nvSpPr>
          <p:spPr>
            <a:xfrm>
              <a:off x="0" y="1063625"/>
              <a:ext cx="358379" cy="5471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defRPr sz="3200"/>
              </a:pPr>
              <a:r>
                <a:t>x</a:t>
              </a:r>
              <a:r>
                <a:rPr baseline="-25000"/>
                <a:t>2</a:t>
              </a:r>
            </a:p>
          </p:txBody>
        </p:sp>
        <p:sp>
          <p:nvSpPr>
            <p:cNvPr id="439" name="Shape 439"/>
            <p:cNvSpPr/>
            <p:nvPr/>
          </p:nvSpPr>
          <p:spPr>
            <a:xfrm>
              <a:off x="1881187" y="1079500"/>
              <a:ext cx="358379" cy="5471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defRPr sz="3200"/>
              </a:pPr>
              <a:r>
                <a:t>x</a:t>
              </a:r>
              <a:r>
                <a:rPr baseline="-25000"/>
                <a:t>3</a:t>
              </a:r>
            </a:p>
          </p:txBody>
        </p:sp>
        <p:sp>
          <p:nvSpPr>
            <p:cNvPr id="440" name="Shape 440"/>
            <p:cNvSpPr/>
            <p:nvPr/>
          </p:nvSpPr>
          <p:spPr>
            <a:xfrm>
              <a:off x="2519362" y="2000250"/>
              <a:ext cx="358379" cy="5471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defRPr sz="3200"/>
              </a:pPr>
              <a:r>
                <a:t>x</a:t>
              </a:r>
              <a:r>
                <a:rPr baseline="-25000"/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1" animBg="1" advAuto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" y="195262"/>
            <a:ext cx="8985250" cy="1358901"/>
          </a:xfrm>
          <a:prstGeom prst="rect">
            <a:avLst/>
          </a:prstGeom>
          <a:ln w="12700">
            <a:miter lim="400000"/>
          </a:ln>
        </p:spPr>
      </p:pic>
      <p:sp>
        <p:nvSpPr>
          <p:cNvPr id="444" name="Shape 444"/>
          <p:cNvSpPr>
            <a:spLocks noGrp="1"/>
          </p:cNvSpPr>
          <p:nvPr>
            <p:ph type="body" idx="4294967295"/>
          </p:nvPr>
        </p:nvSpPr>
        <p:spPr>
          <a:xfrm>
            <a:off x="250825" y="1600200"/>
            <a:ext cx="8713788" cy="45307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33400" indent="-533400">
              <a:spcBef>
                <a:spcPts val="700"/>
              </a:spcBef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3. 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为什么以下的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不是从</a:t>
            </a:r>
            <a:r>
              <a:rPr>
                <a:solidFill>
                  <a:srgbClr val="404040"/>
                </a:solidFill>
              </a:rPr>
              <a:t>R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到</a:t>
            </a:r>
            <a:r>
              <a:rPr>
                <a:solidFill>
                  <a:srgbClr val="404040"/>
                </a:solidFill>
              </a:rPr>
              <a:t>R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的映射？</a:t>
            </a:r>
          </a:p>
          <a:p>
            <a:pPr marL="533400" indent="-533400">
              <a:spcBef>
                <a:spcPts val="700"/>
              </a:spcBef>
              <a:buFontTx/>
              <a:buAutoNum type="arabicParenR"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(a)=1/a;	2)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(a)=		3)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(a)=</a:t>
            </a:r>
          </a:p>
          <a:p>
            <a:pPr marL="533400" indent="-533400">
              <a:spcBef>
                <a:spcPts val="4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endParaRPr/>
          </a:p>
          <a:p>
            <a:pPr marL="533400" indent="-533400">
              <a:spcBef>
                <a:spcPts val="700"/>
              </a:spcBef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解：</a:t>
            </a:r>
            <a:r>
              <a:rPr>
                <a:solidFill>
                  <a:srgbClr val="404040"/>
                </a:solidFill>
              </a:rPr>
              <a:t>1) </a:t>
            </a:r>
            <a:r>
              <a:rPr>
                <a:solidFill>
                  <a:srgbClr val="404040"/>
                </a:solidFill>
                <a:latin typeface="Symbol"/>
                <a:ea typeface="Symbol"/>
                <a:cs typeface="Symbol"/>
                <a:sym typeface="Symbol"/>
              </a:rPr>
              <a:t>σ</a:t>
            </a:r>
            <a:r>
              <a:rPr>
                <a:solidFill>
                  <a:srgbClr val="404040"/>
                </a:solidFill>
              </a:rPr>
              <a:t>(0)</a:t>
            </a:r>
            <a:r>
              <a:rPr>
                <a:solidFill>
                  <a:srgbClr val="404040"/>
                </a:solidFill>
                <a:latin typeface="楷体_GB2312"/>
                <a:ea typeface="楷体_GB2312"/>
                <a:cs typeface="楷体_GB2312"/>
                <a:sym typeface="楷体_GB2312"/>
              </a:rPr>
              <a:t>无定义；</a:t>
            </a:r>
          </a:p>
          <a:p>
            <a:pPr marL="533400" indent="-533400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		    2)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对</a:t>
            </a:r>
            <a:r>
              <a:t>a&lt;0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，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σ</a:t>
            </a:r>
            <a:r>
              <a:t>(a)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无定义；</a:t>
            </a:r>
          </a:p>
          <a:p>
            <a:pPr marL="533400" indent="-533400">
              <a:spcBef>
                <a:spcPts val="700"/>
              </a:spcBef>
              <a:buSzTx/>
              <a:buNone/>
              <a:defRPr sz="3200">
                <a:latin typeface="+mj-lt"/>
                <a:ea typeface="+mj-ea"/>
                <a:cs typeface="+mj-cs"/>
                <a:sym typeface="Arial"/>
              </a:defRPr>
            </a:pPr>
            <a:r>
              <a:t>		    3) 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对</a:t>
            </a:r>
            <a:r>
              <a:t>a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的每个值都指派了两个值，</a:t>
            </a:r>
            <a:br>
              <a:rPr>
                <a:latin typeface="楷体_GB2312"/>
                <a:ea typeface="楷体_GB2312"/>
                <a:cs typeface="楷体_GB2312"/>
                <a:sym typeface="楷体_GB2312"/>
              </a:rPr>
            </a:br>
            <a:r>
              <a:rPr>
                <a:latin typeface="Symbol"/>
                <a:ea typeface="Symbol"/>
                <a:cs typeface="Symbol"/>
                <a:sym typeface="Symbol"/>
              </a:rPr>
              <a:t>		σ</a:t>
            </a:r>
            <a:r>
              <a:t>(a)</a:t>
            </a:r>
            <a:r>
              <a:rPr>
                <a:latin typeface="楷体_GB2312"/>
                <a:ea typeface="楷体_GB2312"/>
                <a:cs typeface="楷体_GB2312"/>
                <a:sym typeface="楷体_GB2312"/>
              </a:rPr>
              <a:t>不符合映射定义；</a:t>
            </a:r>
          </a:p>
        </p:txBody>
      </p:sp>
      <p:sp>
        <p:nvSpPr>
          <p:cNvPr id="446" name="Shape 446"/>
          <p:cNvSpPr>
            <a:spLocks noGrp="1"/>
          </p:cNvSpPr>
          <p:nvPr>
            <p:ph type="sldNum" sz="quarter" idx="2"/>
          </p:nvPr>
        </p:nvSpPr>
        <p:spPr>
          <a:xfrm>
            <a:off x="4583033" y="6220142"/>
            <a:ext cx="282734" cy="2692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50</a:t>
            </a:fld>
            <a:endParaRPr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C8AB5127-4B2D-9245-99FF-4BA5F4A9B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026978"/>
              </p:ext>
            </p:extLst>
          </p:nvPr>
        </p:nvGraphicFramePr>
        <p:xfrm>
          <a:off x="4459456" y="2133600"/>
          <a:ext cx="7207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公式" r:id="rId4" imgW="215900" imgH="215900" progId="Equation.3">
                  <p:embed/>
                </p:oleObj>
              </mc:Choice>
              <mc:Fallback>
                <p:oleObj name="公式" r:id="rId4" imgW="215900" imgH="215900" progId="Equation.3">
                  <p:embed/>
                  <p:pic>
                    <p:nvPicPr>
                      <p:cNvPr id="115715" name="Object 4">
                        <a:extLst>
                          <a:ext uri="{FF2B5EF4-FFF2-40B4-BE49-F238E27FC236}">
                            <a16:creationId xmlns:a16="http://schemas.microsoft.com/office/drawing/2014/main" id="{001D28A5-5486-1F45-BF60-1A8BFED466B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456" y="2133600"/>
                        <a:ext cx="72072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8D4BAAF6-20E9-2E48-A182-93F6A64490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215376"/>
              </p:ext>
            </p:extLst>
          </p:nvPr>
        </p:nvGraphicFramePr>
        <p:xfrm>
          <a:off x="7237410" y="2078036"/>
          <a:ext cx="15113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公式" r:id="rId6" imgW="571500" imgH="241300" progId="Equation.3">
                  <p:embed/>
                </p:oleObj>
              </mc:Choice>
              <mc:Fallback>
                <p:oleObj name="公式" r:id="rId6" imgW="571500" imgH="241300" progId="Equation.3">
                  <p:embed/>
                  <p:pic>
                    <p:nvPicPr>
                      <p:cNvPr id="115717" name="Object 10">
                        <a:extLst>
                          <a:ext uri="{FF2B5EF4-FFF2-40B4-BE49-F238E27FC236}">
                            <a16:creationId xmlns:a16="http://schemas.microsoft.com/office/drawing/2014/main" id="{F345914B-1450-334F-89AA-EBC0AABADC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410" y="2078036"/>
                        <a:ext cx="15113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blinds dir="vert"/>
      </p:transition>
    </mc:Choice>
    <mc:Fallback xmlns="">
      <p:transition spd="fast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" grpId="1" build="p" bldLvl="5" animBg="1" advAuto="0"/>
    </p:bldLst>
  </p:timing>
</p:sld>
</file>

<file path=ppt/theme/theme1.xml><?xml version="1.0" encoding="utf-8"?>
<a:theme xmlns:a="http://schemas.openxmlformats.org/drawingml/2006/main" name="气流">
  <a:themeElements>
    <a:clrScheme name="气流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E67C8"/>
      </a:accent1>
      <a:accent2>
        <a:srgbClr val="5ECCF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气流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气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气流">
  <a:themeElements>
    <a:clrScheme name="气流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E67C8"/>
      </a:accent1>
      <a:accent2>
        <a:srgbClr val="5ECCF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气流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气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3593</Words>
  <Application>Microsoft Macintosh PowerPoint</Application>
  <PresentationFormat>全屏显示(4:3)</PresentationFormat>
  <Paragraphs>381</Paragraphs>
  <Slides>50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2" baseType="lpstr">
      <vt:lpstr>SimHei</vt:lpstr>
      <vt:lpstr>华文新魏</vt:lpstr>
      <vt:lpstr>楷体_GB2312</vt:lpstr>
      <vt:lpstr>宋体</vt:lpstr>
      <vt:lpstr>Arial</vt:lpstr>
      <vt:lpstr>Georgia</vt:lpstr>
      <vt:lpstr>Symbol</vt:lpstr>
      <vt:lpstr>Times New Roman</vt:lpstr>
      <vt:lpstr>Trebuchet MS</vt:lpstr>
      <vt:lpstr>Wingdings</vt:lpstr>
      <vt:lpstr>气流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Microsoft Office User</cp:lastModifiedBy>
  <cp:revision>18</cp:revision>
  <dcterms:modified xsi:type="dcterms:W3CDTF">2025-03-12T14:07:19Z</dcterms:modified>
</cp:coreProperties>
</file>