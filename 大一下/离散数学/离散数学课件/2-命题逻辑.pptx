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8" r:id="rId1"/>
  </p:sldMasterIdLst>
  <p:notesMasterIdLst>
    <p:notesMasterId r:id="rId114"/>
  </p:notesMasterIdLst>
  <p:sldIdLst>
    <p:sldId id="256" r:id="rId2"/>
    <p:sldId id="257" r:id="rId3"/>
    <p:sldId id="269" r:id="rId4"/>
    <p:sldId id="383" r:id="rId5"/>
    <p:sldId id="298" r:id="rId6"/>
    <p:sldId id="258" r:id="rId7"/>
    <p:sldId id="299" r:id="rId8"/>
    <p:sldId id="300" r:id="rId9"/>
    <p:sldId id="301" r:id="rId10"/>
    <p:sldId id="270" r:id="rId11"/>
    <p:sldId id="384" r:id="rId12"/>
    <p:sldId id="302" r:id="rId13"/>
    <p:sldId id="385" r:id="rId14"/>
    <p:sldId id="304" r:id="rId15"/>
    <p:sldId id="303" r:id="rId16"/>
    <p:sldId id="305" r:id="rId17"/>
    <p:sldId id="306" r:id="rId18"/>
    <p:sldId id="307" r:id="rId19"/>
    <p:sldId id="308" r:id="rId20"/>
    <p:sldId id="309" r:id="rId21"/>
    <p:sldId id="310" r:id="rId22"/>
    <p:sldId id="311" r:id="rId23"/>
    <p:sldId id="312" r:id="rId24"/>
    <p:sldId id="313" r:id="rId25"/>
    <p:sldId id="314" r:id="rId26"/>
    <p:sldId id="315" r:id="rId27"/>
    <p:sldId id="316" r:id="rId28"/>
    <p:sldId id="317" r:id="rId29"/>
    <p:sldId id="386" r:id="rId30"/>
    <p:sldId id="398" r:id="rId31"/>
    <p:sldId id="318" r:id="rId32"/>
    <p:sldId id="319" r:id="rId33"/>
    <p:sldId id="320" r:id="rId34"/>
    <p:sldId id="323" r:id="rId35"/>
    <p:sldId id="390" r:id="rId36"/>
    <p:sldId id="391" r:id="rId37"/>
    <p:sldId id="325" r:id="rId38"/>
    <p:sldId id="326" r:id="rId39"/>
    <p:sldId id="392" r:id="rId40"/>
    <p:sldId id="321" r:id="rId41"/>
    <p:sldId id="327" r:id="rId42"/>
    <p:sldId id="328" r:id="rId43"/>
    <p:sldId id="322" r:id="rId44"/>
    <p:sldId id="329" r:id="rId45"/>
    <p:sldId id="330" r:id="rId46"/>
    <p:sldId id="331" r:id="rId47"/>
    <p:sldId id="332" r:id="rId48"/>
    <p:sldId id="333" r:id="rId49"/>
    <p:sldId id="334" r:id="rId50"/>
    <p:sldId id="335" r:id="rId51"/>
    <p:sldId id="336" r:id="rId52"/>
    <p:sldId id="337" r:id="rId53"/>
    <p:sldId id="338" r:id="rId54"/>
    <p:sldId id="339" r:id="rId55"/>
    <p:sldId id="341" r:id="rId56"/>
    <p:sldId id="342" r:id="rId57"/>
    <p:sldId id="343" r:id="rId58"/>
    <p:sldId id="344" r:id="rId59"/>
    <p:sldId id="345" r:id="rId60"/>
    <p:sldId id="346" r:id="rId61"/>
    <p:sldId id="347" r:id="rId62"/>
    <p:sldId id="348" r:id="rId63"/>
    <p:sldId id="349" r:id="rId64"/>
    <p:sldId id="393" r:id="rId65"/>
    <p:sldId id="395" r:id="rId66"/>
    <p:sldId id="396" r:id="rId67"/>
    <p:sldId id="397" r:id="rId68"/>
    <p:sldId id="394" r:id="rId69"/>
    <p:sldId id="350" r:id="rId70"/>
    <p:sldId id="351" r:id="rId71"/>
    <p:sldId id="352" r:id="rId72"/>
    <p:sldId id="353" r:id="rId73"/>
    <p:sldId id="354" r:id="rId74"/>
    <p:sldId id="355" r:id="rId75"/>
    <p:sldId id="356" r:id="rId76"/>
    <p:sldId id="357" r:id="rId77"/>
    <p:sldId id="358" r:id="rId78"/>
    <p:sldId id="359" r:id="rId79"/>
    <p:sldId id="360" r:id="rId80"/>
    <p:sldId id="361" r:id="rId81"/>
    <p:sldId id="362" r:id="rId82"/>
    <p:sldId id="363" r:id="rId83"/>
    <p:sldId id="364" r:id="rId84"/>
    <p:sldId id="366" r:id="rId85"/>
    <p:sldId id="367" r:id="rId86"/>
    <p:sldId id="368" r:id="rId87"/>
    <p:sldId id="370" r:id="rId88"/>
    <p:sldId id="369" r:id="rId89"/>
    <p:sldId id="373" r:id="rId90"/>
    <p:sldId id="372" r:id="rId91"/>
    <p:sldId id="374" r:id="rId92"/>
    <p:sldId id="375" r:id="rId93"/>
    <p:sldId id="399" r:id="rId94"/>
    <p:sldId id="401" r:id="rId95"/>
    <p:sldId id="402" r:id="rId96"/>
    <p:sldId id="403" r:id="rId97"/>
    <p:sldId id="404" r:id="rId98"/>
    <p:sldId id="405" r:id="rId99"/>
    <p:sldId id="406" r:id="rId100"/>
    <p:sldId id="407" r:id="rId101"/>
    <p:sldId id="408" r:id="rId102"/>
    <p:sldId id="409" r:id="rId103"/>
    <p:sldId id="410" r:id="rId104"/>
    <p:sldId id="411" r:id="rId105"/>
    <p:sldId id="412" r:id="rId106"/>
    <p:sldId id="413" r:id="rId107"/>
    <p:sldId id="414" r:id="rId108"/>
    <p:sldId id="415" r:id="rId109"/>
    <p:sldId id="416" r:id="rId110"/>
    <p:sldId id="417" r:id="rId111"/>
    <p:sldId id="418" r:id="rId112"/>
    <p:sldId id="419" r:id="rId11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82473"/>
  </p:normalViewPr>
  <p:slideViewPr>
    <p:cSldViewPr>
      <p:cViewPr varScale="1">
        <p:scale>
          <a:sx n="80" d="100"/>
          <a:sy n="80" d="100"/>
        </p:scale>
        <p:origin x="208" y="3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8" d="100"/>
          <a:sy n="58" d="100"/>
        </p:scale>
        <p:origin x="-1728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theme" Target="theme/theme1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tableStyles" Target="tableStyle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image" Target="../media/image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6AA35D77-74F3-2E4B-A07A-B3610BF0623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8CF5D3CE-9494-074E-A126-6E0DFDF104E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DD10EB7A-BEC7-4F49-9BB9-CDA85DA203A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9" name="Rectangle 5">
            <a:extLst>
              <a:ext uri="{FF2B5EF4-FFF2-40B4-BE49-F238E27FC236}">
                <a16:creationId xmlns:a16="http://schemas.microsoft.com/office/drawing/2014/main" id="{91207EEE-BC32-EB46-B7C2-A1F8B3A7DCC5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1990" name="Rectangle 6">
            <a:extLst>
              <a:ext uri="{FF2B5EF4-FFF2-40B4-BE49-F238E27FC236}">
                <a16:creationId xmlns:a16="http://schemas.microsoft.com/office/drawing/2014/main" id="{F512A9A6-7140-974B-8DBE-97BDD139133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991" name="Rectangle 7">
            <a:extLst>
              <a:ext uri="{FF2B5EF4-FFF2-40B4-BE49-F238E27FC236}">
                <a16:creationId xmlns:a16="http://schemas.microsoft.com/office/drawing/2014/main" id="{451B6FC8-6806-2E4C-9D60-120D0E75494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anose="02020603050405020304" pitchFamily="18" charset="0"/>
              </a:defRPr>
            </a:lvl1pPr>
          </a:lstStyle>
          <a:p>
            <a:fld id="{19CC6DCA-F87B-6A46-BCEC-CE8A8083B35A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宋体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>
            <a:extLst>
              <a:ext uri="{FF2B5EF4-FFF2-40B4-BE49-F238E27FC236}">
                <a16:creationId xmlns:a16="http://schemas.microsoft.com/office/drawing/2014/main" id="{C5568697-760D-3B49-85CA-700D8881386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21962CC-F19F-ED49-B4F8-EC749E6BC288}" type="slidenum">
              <a:rPr lang="zh-CN" altLang="en-US" sz="1200">
                <a:latin typeface="Times New Roman" panose="02020603050405020304" pitchFamily="18" charset="0"/>
              </a:rPr>
              <a:pPr/>
              <a:t>1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EE3B5C63-006B-6441-A62F-6F7F852DA1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5E34D022-5C15-D74C-B405-91B9B82D4B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>
                <a:latin typeface="Arial" panose="020B0604020202020204" pitchFamily="34" charset="0"/>
              </a:rPr>
              <a:t>第三章讲述逻辑：命题逻辑和谓词逻辑。</a:t>
            </a:r>
          </a:p>
          <a:p>
            <a:pPr eaLnBrk="1" hangingPunct="1"/>
            <a:r>
              <a:rPr lang="zh-CN" altLang="en-US">
                <a:latin typeface="Arial" panose="020B0604020202020204" pitchFamily="34" charset="0"/>
              </a:rPr>
              <a:t>逻辑给数学语句准确的含义，便于理解和构造正确的数学论证；</a:t>
            </a:r>
          </a:p>
          <a:p>
            <a:pPr eaLnBrk="1" hangingPunct="1"/>
            <a:r>
              <a:rPr lang="zh-CN" altLang="en-US">
                <a:latin typeface="Arial" panose="020B0604020202020204" pitchFamily="34" charset="0"/>
              </a:rPr>
              <a:t>逻辑主要应用于程序设计、数学推理之中。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7">
            <a:extLst>
              <a:ext uri="{FF2B5EF4-FFF2-40B4-BE49-F238E27FC236}">
                <a16:creationId xmlns:a16="http://schemas.microsoft.com/office/drawing/2014/main" id="{69B3A8AA-5EE1-AC4A-84FD-02701B496E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E39DC13-F9C2-4548-8FD5-4AABC483012F}" type="slidenum">
              <a:rPr lang="zh-CN" altLang="en-US" sz="1200">
                <a:latin typeface="Times New Roman" panose="02020603050405020304" pitchFamily="18" charset="0"/>
              </a:rPr>
              <a:pPr/>
              <a:t>2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4A539257-C1DD-B14F-AE5A-4028626F4C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8FD39E39-B6B9-084B-93C2-EFBEA11630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7">
            <a:extLst>
              <a:ext uri="{FF2B5EF4-FFF2-40B4-BE49-F238E27FC236}">
                <a16:creationId xmlns:a16="http://schemas.microsoft.com/office/drawing/2014/main" id="{25665E5F-E36A-7841-BF75-F9E3B600937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A190BA0-8686-D442-B4C5-1250F5181246}" type="slidenum">
              <a:rPr lang="zh-CN" altLang="en-US" sz="1200">
                <a:latin typeface="Times New Roman" panose="02020603050405020304" pitchFamily="18" charset="0"/>
              </a:rPr>
              <a:pPr/>
              <a:t>3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19458" name="Rectangle 2">
            <a:extLst>
              <a:ext uri="{FF2B5EF4-FFF2-40B4-BE49-F238E27FC236}">
                <a16:creationId xmlns:a16="http://schemas.microsoft.com/office/drawing/2014/main" id="{E812E657-14B9-F14B-B783-957EDEF8DCC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F7665498-0A45-A546-91EF-0E4375BD63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zh-CN" altLang="en-US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>
            <a:extLst>
              <a:ext uri="{FF2B5EF4-FFF2-40B4-BE49-F238E27FC236}">
                <a16:creationId xmlns:a16="http://schemas.microsoft.com/office/drawing/2014/main" id="{4F639779-53D3-0F41-841E-DBAE3EE8CF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D895541-7C84-1B44-B0E6-CA28A38E3A60}" type="slidenum">
              <a:rPr lang="zh-CN" altLang="en-US" sz="1200">
                <a:latin typeface="Times New Roman" panose="02020603050405020304" pitchFamily="18" charset="0"/>
              </a:rPr>
              <a:pPr/>
              <a:t>4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21506" name="Rectangle 2">
            <a:extLst>
              <a:ext uri="{FF2B5EF4-FFF2-40B4-BE49-F238E27FC236}">
                <a16:creationId xmlns:a16="http://schemas.microsoft.com/office/drawing/2014/main" id="{17185AC5-3ED5-CC46-A1BB-01998998E4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1BB16FAF-2A95-084A-918A-5F09822760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zh-CN">
                <a:solidFill>
                  <a:schemeClr val="tx2"/>
                </a:solidFill>
                <a:latin typeface="Arial" panose="020B0604020202020204" pitchFamily="34" charset="0"/>
              </a:rPr>
              <a:t>1</a:t>
            </a:r>
            <a:r>
              <a:rPr lang="en-US" altLang="zh-CN">
                <a:solidFill>
                  <a:schemeClr val="tx2"/>
                </a:solidFill>
                <a:latin typeface="Arial" panose="020B0604020202020204" pitchFamily="34" charset="0"/>
              </a:rPr>
              <a:t>)</a:t>
            </a:r>
            <a:r>
              <a:rPr lang="zh-CN" altLang="en-US">
                <a:solidFill>
                  <a:schemeClr val="tx2"/>
                </a:solidFill>
                <a:latin typeface="Arial" panose="020B0604020202020204" pitchFamily="34" charset="0"/>
              </a:rPr>
              <a:t>是，</a:t>
            </a:r>
            <a:r>
              <a:rPr lang="en-US" altLang="zh-CN">
                <a:solidFill>
                  <a:schemeClr val="tx2"/>
                </a:solidFill>
                <a:latin typeface="Arial" panose="020B0604020202020204" pitchFamily="34" charset="0"/>
              </a:rPr>
              <a:t>T</a:t>
            </a:r>
          </a:p>
          <a:p>
            <a:pPr eaLnBrk="1" hangingPunct="1"/>
            <a:r>
              <a:rPr lang="zh-CN" altLang="zh-CN">
                <a:solidFill>
                  <a:schemeClr val="tx2"/>
                </a:solidFill>
                <a:latin typeface="Arial" panose="020B0604020202020204" pitchFamily="34" charset="0"/>
              </a:rPr>
              <a:t>2</a:t>
            </a:r>
            <a:r>
              <a:rPr lang="en-US" altLang="zh-CN">
                <a:solidFill>
                  <a:schemeClr val="tx2"/>
                </a:solidFill>
                <a:latin typeface="Arial" panose="020B0604020202020204" pitchFamily="34" charset="0"/>
              </a:rPr>
              <a:t>)</a:t>
            </a:r>
            <a:r>
              <a:rPr lang="zh-CN" altLang="en-US">
                <a:solidFill>
                  <a:schemeClr val="tx2"/>
                </a:solidFill>
                <a:latin typeface="Arial" panose="020B0604020202020204" pitchFamily="34" charset="0"/>
              </a:rPr>
              <a:t>是，真值终将确定。</a:t>
            </a:r>
          </a:p>
          <a:p>
            <a:pPr eaLnBrk="1" hangingPunct="1"/>
            <a:r>
              <a:rPr lang="zh-CN" altLang="zh-CN">
                <a:solidFill>
                  <a:schemeClr val="tx2"/>
                </a:solidFill>
                <a:latin typeface="Arial" panose="020B0604020202020204" pitchFamily="34" charset="0"/>
              </a:rPr>
              <a:t>3</a:t>
            </a:r>
            <a:r>
              <a:rPr lang="en-US" altLang="zh-CN">
                <a:solidFill>
                  <a:schemeClr val="tx2"/>
                </a:solidFill>
                <a:latin typeface="Arial" panose="020B0604020202020204" pitchFamily="34" charset="0"/>
              </a:rPr>
              <a:t>)</a:t>
            </a:r>
            <a:r>
              <a:rPr lang="zh-CN" altLang="en-US">
                <a:solidFill>
                  <a:schemeClr val="tx2"/>
                </a:solidFill>
                <a:latin typeface="Arial" panose="020B0604020202020204" pitchFamily="34" charset="0"/>
              </a:rPr>
              <a:t>是，真值终将确定。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7">
            <a:extLst>
              <a:ext uri="{FF2B5EF4-FFF2-40B4-BE49-F238E27FC236}">
                <a16:creationId xmlns:a16="http://schemas.microsoft.com/office/drawing/2014/main" id="{E981E736-9FA8-514F-AA39-4F7DA825D5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B8907AF-BC98-9347-916A-D6D78D193C80}" type="slidenum">
              <a:rPr lang="zh-CN" altLang="en-US" sz="1200">
                <a:latin typeface="Times New Roman" panose="02020603050405020304" pitchFamily="18" charset="0"/>
              </a:rPr>
              <a:pPr/>
              <a:t>5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id="{3ABA3BFC-FAD9-2847-A6F9-4A1D6C252EE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BCA97AD5-C72E-B648-AB67-3AA17EC085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>
                <a:latin typeface="Arial" panose="020B0604020202020204" pitchFamily="34" charset="0"/>
              </a:rPr>
              <a:t>现在我们来看一下从已有命题产生新命题的方法。</a:t>
            </a:r>
          </a:p>
          <a:p>
            <a:pPr eaLnBrk="1" hangingPunct="1"/>
            <a:r>
              <a:rPr lang="zh-CN" altLang="en-US">
                <a:latin typeface="Arial" panose="020B0604020202020204" pitchFamily="34" charset="0"/>
              </a:rPr>
              <a:t>许多数学陈述都由一个或多个命题组合而来，即用逻辑联结词来组合。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>
            <a:extLst>
              <a:ext uri="{FF2B5EF4-FFF2-40B4-BE49-F238E27FC236}">
                <a16:creationId xmlns:a16="http://schemas.microsoft.com/office/drawing/2014/main" id="{58772199-6616-194A-B98E-14B2465D568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DBAAE87-0585-1A4F-999A-CC995E8F0936}" type="slidenum">
              <a:rPr lang="zh-CN" altLang="en-US" sz="1200">
                <a:latin typeface="Times New Roman" panose="02020603050405020304" pitchFamily="18" charset="0"/>
              </a:rPr>
              <a:pPr/>
              <a:t>7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26626" name="Rectangle 2">
            <a:extLst>
              <a:ext uri="{FF2B5EF4-FFF2-40B4-BE49-F238E27FC236}">
                <a16:creationId xmlns:a16="http://schemas.microsoft.com/office/drawing/2014/main" id="{62D837A0-F340-5649-B6D5-D806C1606F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59C7C4E5-48CE-4D43-99C1-50F99C6FB5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>
                <a:latin typeface="Arial" panose="020B0604020202020204" pitchFamily="34" charset="0"/>
              </a:rPr>
              <a:t>1)</a:t>
            </a:r>
            <a:r>
              <a:rPr lang="zh-CN" altLang="en-US">
                <a:latin typeface="Arial" panose="020B0604020202020204" pitchFamily="34" charset="0"/>
              </a:rPr>
              <a:t>这里的</a:t>
            </a:r>
            <a:r>
              <a:rPr lang="zh-CN" altLang="en-US">
                <a:latin typeface="Times New Roman" panose="02020603050405020304" pitchFamily="18" charset="0"/>
              </a:rPr>
              <a:t>“</a:t>
            </a:r>
            <a:r>
              <a:rPr lang="zh-CN" altLang="en-US">
                <a:latin typeface="Arial" panose="020B0604020202020204" pitchFamily="34" charset="0"/>
              </a:rPr>
              <a:t>或</a:t>
            </a:r>
            <a:r>
              <a:rPr lang="zh-CN" altLang="en-US">
                <a:latin typeface="Times New Roman" panose="02020603050405020304" pitchFamily="18" charset="0"/>
              </a:rPr>
              <a:t>”</a:t>
            </a:r>
            <a:r>
              <a:rPr lang="zh-CN" altLang="en-US">
                <a:latin typeface="Arial" panose="020B0604020202020204" pitchFamily="34" charset="0"/>
              </a:rPr>
              <a:t>与自然语言的</a:t>
            </a:r>
            <a:r>
              <a:rPr lang="zh-CN" altLang="en-US" b="1">
                <a:latin typeface="Arial" panose="020B0604020202020204" pitchFamily="34" charset="0"/>
              </a:rPr>
              <a:t>不太一样</a:t>
            </a:r>
            <a:r>
              <a:rPr lang="zh-CN" altLang="en-US">
                <a:latin typeface="Arial" panose="020B0604020202020204" pitchFamily="34" charset="0"/>
              </a:rPr>
              <a:t>，自然语言中的</a:t>
            </a:r>
            <a:r>
              <a:rPr lang="zh-CN" altLang="en-US">
                <a:latin typeface="Times New Roman" panose="02020603050405020304" pitchFamily="18" charset="0"/>
              </a:rPr>
              <a:t>“</a:t>
            </a:r>
            <a:r>
              <a:rPr lang="zh-CN" altLang="en-US">
                <a:latin typeface="Arial" panose="020B0604020202020204" pitchFamily="34" charset="0"/>
              </a:rPr>
              <a:t>或</a:t>
            </a:r>
            <a:r>
              <a:rPr lang="zh-CN" altLang="en-US">
                <a:latin typeface="Times New Roman" panose="02020603050405020304" pitchFamily="18" charset="0"/>
              </a:rPr>
              <a:t>”</a:t>
            </a:r>
            <a:r>
              <a:rPr lang="zh-CN" altLang="en-US">
                <a:latin typeface="Arial" panose="020B0604020202020204" pitchFamily="34" charset="0"/>
              </a:rPr>
              <a:t>有时有</a:t>
            </a:r>
            <a:r>
              <a:rPr lang="zh-CN" altLang="en-US" b="1">
                <a:latin typeface="Arial" panose="020B0604020202020204" pitchFamily="34" charset="0"/>
              </a:rPr>
              <a:t>不可兼</a:t>
            </a:r>
            <a:r>
              <a:rPr lang="zh-CN" altLang="en-US">
                <a:latin typeface="Arial" panose="020B0604020202020204" pitchFamily="34" charset="0"/>
              </a:rPr>
              <a:t>的意思。</a:t>
            </a:r>
          </a:p>
          <a:p>
            <a:pPr eaLnBrk="1" hangingPunct="1"/>
            <a:r>
              <a:rPr lang="zh-CN" altLang="en-US">
                <a:latin typeface="Arial" panose="020B0604020202020204" pitchFamily="34" charset="0"/>
              </a:rPr>
              <a:t>	例如，</a:t>
            </a:r>
            <a:r>
              <a:rPr lang="zh-CN" altLang="en-US">
                <a:latin typeface="Times New Roman" panose="02020603050405020304" pitchFamily="18" charset="0"/>
              </a:rPr>
              <a:t>“</a:t>
            </a:r>
            <a:r>
              <a:rPr lang="zh-CN" altLang="en-US">
                <a:latin typeface="Arial" panose="020B0604020202020204" pitchFamily="34" charset="0"/>
              </a:rPr>
              <a:t>我到北京出差或者到广州去度假</a:t>
            </a:r>
            <a:r>
              <a:rPr lang="zh-CN" altLang="en-US">
                <a:latin typeface="Times New Roman" panose="02020603050405020304" pitchFamily="18" charset="0"/>
              </a:rPr>
              <a:t>”</a:t>
            </a:r>
            <a:r>
              <a:rPr lang="zh-CN" altLang="en-US">
                <a:latin typeface="Arial" panose="020B0604020202020204" pitchFamily="34" charset="0"/>
              </a:rPr>
              <a:t>表示的是二者只能居其一，不会同时成立。</a:t>
            </a:r>
          </a:p>
          <a:p>
            <a:pPr eaLnBrk="1" hangingPunct="1"/>
            <a:r>
              <a:rPr lang="en-US" altLang="zh-CN">
                <a:latin typeface="Arial" panose="020B0604020202020204" pitchFamily="34" charset="0"/>
              </a:rPr>
              <a:t>2)</a:t>
            </a:r>
            <a:r>
              <a:rPr lang="en-US" altLang="zh-CN">
                <a:latin typeface="Times New Roman" panose="02020603050405020304" pitchFamily="18" charset="0"/>
              </a:rPr>
              <a:t>“</a:t>
            </a:r>
            <a:r>
              <a:rPr lang="en-US" altLang="zh-CN">
                <a:latin typeface="Arial" panose="020B0604020202020204" pitchFamily="34" charset="0"/>
                <a:sym typeface="Symbol" pitchFamily="2" charset="2"/>
              </a:rPr>
              <a:t></a:t>
            </a:r>
            <a:r>
              <a:rPr lang="en-US" altLang="zh-CN">
                <a:latin typeface="Times New Roman" panose="02020603050405020304" pitchFamily="18" charset="0"/>
              </a:rPr>
              <a:t>”</a:t>
            </a:r>
            <a:r>
              <a:rPr lang="zh-CN" altLang="en-US">
                <a:latin typeface="Arial" panose="020B0604020202020204" pitchFamily="34" charset="0"/>
              </a:rPr>
              <a:t>所表示的</a:t>
            </a:r>
            <a:r>
              <a:rPr lang="zh-CN" altLang="en-US">
                <a:latin typeface="Times New Roman" panose="02020603050405020304" pitchFamily="18" charset="0"/>
              </a:rPr>
              <a:t>“</a:t>
            </a:r>
            <a:r>
              <a:rPr lang="zh-CN" altLang="en-US">
                <a:latin typeface="Arial" panose="020B0604020202020204" pitchFamily="34" charset="0"/>
              </a:rPr>
              <a:t>或</a:t>
            </a:r>
            <a:r>
              <a:rPr lang="zh-CN" altLang="en-US">
                <a:latin typeface="Times New Roman" panose="02020603050405020304" pitchFamily="18" charset="0"/>
              </a:rPr>
              <a:t>”</a:t>
            </a:r>
            <a:r>
              <a:rPr lang="zh-CN" altLang="en-US">
                <a:latin typeface="Arial" panose="020B0604020202020204" pitchFamily="34" charset="0"/>
              </a:rPr>
              <a:t>是</a:t>
            </a:r>
            <a:r>
              <a:rPr lang="zh-CN" altLang="en-US">
                <a:latin typeface="Times New Roman" panose="02020603050405020304" pitchFamily="18" charset="0"/>
              </a:rPr>
              <a:t>“</a:t>
            </a:r>
            <a:r>
              <a:rPr lang="zh-CN" altLang="en-US" b="1">
                <a:latin typeface="Arial" panose="020B0604020202020204" pitchFamily="34" charset="0"/>
              </a:rPr>
              <a:t>可兼或</a:t>
            </a:r>
            <a:r>
              <a:rPr lang="zh-CN" altLang="en-US">
                <a:latin typeface="Times New Roman" panose="02020603050405020304" pitchFamily="18" charset="0"/>
              </a:rPr>
              <a:t>”</a:t>
            </a:r>
            <a:r>
              <a:rPr lang="zh-CN" altLang="en-US">
                <a:latin typeface="Arial" panose="020B0604020202020204" pitchFamily="34" charset="0"/>
              </a:rPr>
              <a:t>。按照联结词</a:t>
            </a:r>
            <a:r>
              <a:rPr lang="zh-CN" altLang="en-US">
                <a:latin typeface="Times New Roman" panose="02020603050405020304" pitchFamily="18" charset="0"/>
              </a:rPr>
              <a:t>“</a:t>
            </a:r>
            <a:r>
              <a:rPr lang="zh-CN" altLang="en-US">
                <a:latin typeface="Arial" panose="020B0604020202020204" pitchFamily="34" charset="0"/>
                <a:sym typeface="Symbol" pitchFamily="2" charset="2"/>
              </a:rPr>
              <a:t></a:t>
            </a:r>
            <a:r>
              <a:rPr lang="zh-CN" altLang="en-US">
                <a:latin typeface="Times New Roman" panose="02020603050405020304" pitchFamily="18" charset="0"/>
              </a:rPr>
              <a:t>”</a:t>
            </a:r>
            <a:r>
              <a:rPr lang="zh-CN" altLang="en-US">
                <a:latin typeface="Arial" panose="020B0604020202020204" pitchFamily="34" charset="0"/>
              </a:rPr>
              <a:t>的定义，当</a:t>
            </a:r>
            <a:r>
              <a:rPr lang="en-US" altLang="zh-CN">
                <a:latin typeface="Arial" panose="020B0604020202020204" pitchFamily="34" charset="0"/>
              </a:rPr>
              <a:t>P</a:t>
            </a:r>
            <a:r>
              <a:rPr lang="zh-CN" altLang="en-US">
                <a:latin typeface="Arial" panose="020B0604020202020204" pitchFamily="34" charset="0"/>
              </a:rPr>
              <a:t>，</a:t>
            </a:r>
            <a:r>
              <a:rPr lang="en-US" altLang="zh-CN">
                <a:latin typeface="Arial" panose="020B0604020202020204" pitchFamily="34" charset="0"/>
              </a:rPr>
              <a:t>Q</a:t>
            </a:r>
            <a:r>
              <a:rPr lang="zh-CN" altLang="en-US">
                <a:latin typeface="Arial" panose="020B0604020202020204" pitchFamily="34" charset="0"/>
              </a:rPr>
              <a:t>都为真时，</a:t>
            </a:r>
            <a:r>
              <a:rPr lang="en-US" altLang="zh-CN">
                <a:latin typeface="Arial" panose="020B0604020202020204" pitchFamily="34" charset="0"/>
              </a:rPr>
              <a:t>P</a:t>
            </a:r>
            <a:r>
              <a:rPr lang="en-US" altLang="zh-CN">
                <a:latin typeface="Arial" panose="020B0604020202020204" pitchFamily="34" charset="0"/>
                <a:sym typeface="Symbol" pitchFamily="2" charset="2"/>
              </a:rPr>
              <a:t></a:t>
            </a:r>
            <a:r>
              <a:rPr lang="en-US" altLang="zh-CN">
                <a:latin typeface="Arial" panose="020B0604020202020204" pitchFamily="34" charset="0"/>
              </a:rPr>
              <a:t>Q</a:t>
            </a:r>
            <a:r>
              <a:rPr lang="zh-CN" altLang="en-US">
                <a:latin typeface="Arial" panose="020B0604020202020204" pitchFamily="34" charset="0"/>
              </a:rPr>
              <a:t>也为真。对于</a:t>
            </a:r>
            <a:r>
              <a:rPr lang="zh-CN" altLang="en-US">
                <a:latin typeface="Times New Roman" panose="02020603050405020304" pitchFamily="18" charset="0"/>
              </a:rPr>
              <a:t>“</a:t>
            </a:r>
            <a:r>
              <a:rPr lang="zh-CN" altLang="en-US">
                <a:latin typeface="Arial" panose="020B0604020202020204" pitchFamily="34" charset="0"/>
              </a:rPr>
              <a:t>不可兼或</a:t>
            </a:r>
            <a:r>
              <a:rPr lang="zh-CN" altLang="en-US">
                <a:latin typeface="Times New Roman" panose="02020603050405020304" pitchFamily="18" charset="0"/>
              </a:rPr>
              <a:t>”</a:t>
            </a:r>
            <a:r>
              <a:rPr lang="zh-CN" altLang="en-US">
                <a:latin typeface="Arial" panose="020B0604020202020204" pitchFamily="34" charset="0"/>
              </a:rPr>
              <a:t>，我们不可以用</a:t>
            </a:r>
            <a:r>
              <a:rPr lang="zh-CN" altLang="en-US">
                <a:latin typeface="Arial" panose="020B0604020202020204" pitchFamily="34" charset="0"/>
                <a:sym typeface="Symbol" pitchFamily="2" charset="2"/>
              </a:rPr>
              <a:t></a:t>
            </a:r>
            <a:r>
              <a:rPr lang="zh-CN" altLang="en-US">
                <a:latin typeface="Arial" panose="020B0604020202020204" pitchFamily="34" charset="0"/>
              </a:rPr>
              <a:t>来表示。</a:t>
            </a:r>
          </a:p>
          <a:p>
            <a:pPr eaLnBrk="1" hangingPunct="1"/>
            <a:r>
              <a:rPr lang="zh-CN" altLang="en-US">
                <a:latin typeface="Arial" panose="020B0604020202020204" pitchFamily="34" charset="0"/>
              </a:rPr>
              <a:t>	再如：</a:t>
            </a:r>
            <a:r>
              <a:rPr lang="en-US" altLang="zh-CN">
                <a:latin typeface="Arial" panose="020B0604020202020204" pitchFamily="34" charset="0"/>
              </a:rPr>
              <a:t>KFC</a:t>
            </a:r>
            <a:r>
              <a:rPr lang="zh-CN" altLang="en-US">
                <a:latin typeface="Arial" panose="020B0604020202020204" pitchFamily="34" charset="0"/>
              </a:rPr>
              <a:t>宅急送：“加</a:t>
            </a:r>
            <a:r>
              <a:rPr lang="en-US" altLang="zh-CN">
                <a:latin typeface="Arial" panose="020B0604020202020204" pitchFamily="34" charset="0"/>
              </a:rPr>
              <a:t>5</a:t>
            </a:r>
            <a:r>
              <a:rPr lang="zh-CN" altLang="en-US">
                <a:latin typeface="Arial" panose="020B0604020202020204" pitchFamily="34" charset="0"/>
              </a:rPr>
              <a:t>元，一个蛋挞或玉米”，是</a:t>
            </a:r>
            <a:r>
              <a:rPr lang="en-US" altLang="zh-CN">
                <a:latin typeface="Arial" panose="020B0604020202020204" pitchFamily="34" charset="0"/>
              </a:rPr>
              <a:t>“</a:t>
            </a:r>
            <a:r>
              <a:rPr lang="zh-CN" altLang="en-US">
                <a:latin typeface="Arial" panose="020B0604020202020204" pitchFamily="34" charset="0"/>
              </a:rPr>
              <a:t>不可兼或</a:t>
            </a:r>
            <a:r>
              <a:rPr lang="en-US" altLang="zh-CN">
                <a:latin typeface="Arial" panose="020B0604020202020204" pitchFamily="34" charset="0"/>
              </a:rPr>
              <a:t>”</a:t>
            </a:r>
            <a:r>
              <a:rPr lang="zh-CN" altLang="en-US">
                <a:latin typeface="Arial" panose="020B0604020202020204" pitchFamily="34" charset="0"/>
              </a:rPr>
              <a:t>。</a:t>
            </a:r>
            <a:endParaRPr lang="zh-CN" altLang="zh-CN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>
                <a:latin typeface="Arial" panose="020B0604020202020204" pitchFamily="34" charset="0"/>
              </a:rPr>
              <a:t>3) “</a:t>
            </a:r>
            <a:r>
              <a:rPr lang="zh-CN" altLang="en-US">
                <a:latin typeface="Arial" panose="020B0604020202020204" pitchFamily="34" charset="0"/>
              </a:rPr>
              <a:t>不可兼或</a:t>
            </a:r>
            <a:r>
              <a:rPr lang="en-US" altLang="zh-CN">
                <a:latin typeface="Arial" panose="020B0604020202020204" pitchFamily="34" charset="0"/>
              </a:rPr>
              <a:t>”</a:t>
            </a:r>
            <a:r>
              <a:rPr lang="zh-CN" altLang="en-US">
                <a:latin typeface="Arial" panose="020B0604020202020204" pitchFamily="34" charset="0"/>
              </a:rPr>
              <a:t>用“</a:t>
            </a:r>
            <a:r>
              <a:rPr lang="zh-CN" altLang="en-US" b="1">
                <a:latin typeface="Arial" panose="020B0604020202020204" pitchFamily="34" charset="0"/>
              </a:rPr>
              <a:t>异或</a:t>
            </a:r>
            <a:r>
              <a:rPr lang="zh-CN" altLang="en-US">
                <a:latin typeface="Arial" panose="020B0604020202020204" pitchFamily="34" charset="0"/>
              </a:rPr>
              <a:t>”来表示，如上例。</a:t>
            </a:r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>
            <a:extLst>
              <a:ext uri="{FF2B5EF4-FFF2-40B4-BE49-F238E27FC236}">
                <a16:creationId xmlns:a16="http://schemas.microsoft.com/office/drawing/2014/main" id="{40D7285F-E1B5-D244-AF21-7A684FF90ED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35A198E-3E71-8942-AA74-0E52D72C5D0F}" type="slidenum">
              <a:rPr lang="zh-CN" altLang="en-US" sz="1200">
                <a:latin typeface="Times New Roman" panose="02020603050405020304" pitchFamily="18" charset="0"/>
              </a:rPr>
              <a:pPr/>
              <a:t>8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id="{3CDC4287-F609-2746-AFA0-BD898A9789F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1F16EDF6-5863-D64F-9412-2A5FAC15CB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>
            <a:extLst>
              <a:ext uri="{FF2B5EF4-FFF2-40B4-BE49-F238E27FC236}">
                <a16:creationId xmlns:a16="http://schemas.microsoft.com/office/drawing/2014/main" id="{7A200D67-D4F3-A54B-A101-BB8ADA3966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B760144-664A-744B-9C8E-4CCD76B9A121}" type="slidenum">
              <a:rPr lang="zh-CN" altLang="en-US" sz="1200">
                <a:latin typeface="Times New Roman" panose="02020603050405020304" pitchFamily="18" charset="0"/>
              </a:rPr>
              <a:pPr/>
              <a:t>9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30722" name="Rectangle 2">
            <a:extLst>
              <a:ext uri="{FF2B5EF4-FFF2-40B4-BE49-F238E27FC236}">
                <a16:creationId xmlns:a16="http://schemas.microsoft.com/office/drawing/2014/main" id="{D83A68B6-86F0-EC4A-8D4C-808D3D2AE2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CF9C64F0-7371-5D48-8C9D-A3DEB76CAB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7">
            <a:extLst>
              <a:ext uri="{FF2B5EF4-FFF2-40B4-BE49-F238E27FC236}">
                <a16:creationId xmlns:a16="http://schemas.microsoft.com/office/drawing/2014/main" id="{BCEDF992-113C-0E4F-9FA8-8C63113A063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E05945B-43A6-6043-8785-0A5C2A4A6C7E}" type="slidenum">
              <a:rPr lang="zh-CN" altLang="en-US" sz="1200">
                <a:latin typeface="Times New Roman" panose="02020603050405020304" pitchFamily="18" charset="0"/>
              </a:rPr>
              <a:pPr/>
              <a:t>10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32770" name="Rectangle 2">
            <a:extLst>
              <a:ext uri="{FF2B5EF4-FFF2-40B4-BE49-F238E27FC236}">
                <a16:creationId xmlns:a16="http://schemas.microsoft.com/office/drawing/2014/main" id="{48ED0A84-95DD-7748-A6FE-C8DB150E88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87E2FF7A-4E66-D34C-BCC5-46FB8D5D8A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>
                <a:latin typeface="Arial" panose="020B0604020202020204" pitchFamily="34" charset="0"/>
              </a:rPr>
              <a:t>这里的蕴涵比语言中的蕴涵含义更广，即没有联系的两个命题可以联结起来。那么如何理解</a:t>
            </a:r>
            <a:r>
              <a:rPr lang="en-US" altLang="zh-CN">
                <a:latin typeface="Arial" panose="020B0604020202020204" pitchFamily="34" charset="0"/>
              </a:rPr>
              <a:t>P</a:t>
            </a:r>
            <a:r>
              <a:rPr lang="zh-CN" altLang="en-US">
                <a:latin typeface="Arial" panose="020B0604020202020204" pitchFamily="34" charset="0"/>
              </a:rPr>
              <a:t>为假而命题为真呢？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>
            <a:extLst>
              <a:ext uri="{FF2B5EF4-FFF2-40B4-BE49-F238E27FC236}">
                <a16:creationId xmlns:a16="http://schemas.microsoft.com/office/drawing/2014/main" id="{2C6A69DA-7BEC-F64E-AD48-F872915BFA4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5162E9D-6592-9C4D-9610-661F5710D935}" type="slidenum">
              <a:rPr lang="zh-CN" altLang="en-US" sz="1200">
                <a:latin typeface="Times New Roman" panose="02020603050405020304" pitchFamily="18" charset="0"/>
              </a:rPr>
              <a:pPr/>
              <a:t>11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34818" name="Rectangle 2">
            <a:extLst>
              <a:ext uri="{FF2B5EF4-FFF2-40B4-BE49-F238E27FC236}">
                <a16:creationId xmlns:a16="http://schemas.microsoft.com/office/drawing/2014/main" id="{397D219F-9011-0F4C-8B80-A59756DD915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5172" name="Rectangle 3">
            <a:extLst>
              <a:ext uri="{FF2B5EF4-FFF2-40B4-BE49-F238E27FC236}">
                <a16:creationId xmlns:a16="http://schemas.microsoft.com/office/drawing/2014/main" id="{03A4C532-83A2-3547-92A2-CCC3811F04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28600" indent="-228600" eaLnBrk="1" hangingPunct="1">
              <a:buFontTx/>
              <a:buAutoNum type="arabicParenR"/>
              <a:defRPr/>
            </a:pPr>
            <a:r>
              <a:rPr lang="en-US" altLang="zh-CN" dirty="0">
                <a:ea typeface="宋体" charset="0"/>
              </a:rPr>
              <a:t>P</a:t>
            </a:r>
            <a:r>
              <a:rPr lang="zh-CN" altLang="en-US" dirty="0">
                <a:ea typeface="宋体" charset="0"/>
              </a:rPr>
              <a:t>假而命题为真的理解：</a:t>
            </a:r>
          </a:p>
          <a:p>
            <a:pPr eaLnBrk="1" hangingPunct="1">
              <a:defRPr/>
            </a:pPr>
            <a:r>
              <a:rPr lang="zh-CN" altLang="en-US" dirty="0">
                <a:ea typeface="宋体" charset="0"/>
              </a:rPr>
              <a:t>只有在该竞选人当选但却没有减税的情况下，才能说他违背了誓言。其他情况都不能说。</a:t>
            </a:r>
          </a:p>
          <a:p>
            <a:pPr eaLnBrk="1" hangingPunct="1">
              <a:defRPr/>
            </a:pPr>
            <a:r>
              <a:rPr lang="zh-CN" altLang="en-US" dirty="0">
                <a:ea typeface="宋体" charset="0"/>
              </a:rPr>
              <a:t>所以：</a:t>
            </a:r>
            <a:r>
              <a:rPr lang="zh-CN" altLang="en-US" b="1" dirty="0">
                <a:solidFill>
                  <a:srgbClr val="4E67C8"/>
                </a:solidFill>
                <a:ea typeface="宋体" charset="0"/>
              </a:rPr>
              <a:t>蕴涵表示如果条件成立，则一定要做；条件不成立，则可做可不做。</a:t>
            </a:r>
          </a:p>
          <a:p>
            <a:pPr eaLnBrk="1" hangingPunct="1">
              <a:defRPr/>
            </a:pPr>
            <a:r>
              <a:rPr lang="en-US" altLang="zh-CN" dirty="0">
                <a:ea typeface="宋体" charset="0"/>
              </a:rPr>
              <a:t>2) </a:t>
            </a:r>
            <a:r>
              <a:rPr lang="zh-CN" altLang="en-US" dirty="0">
                <a:ea typeface="宋体" charset="0"/>
              </a:rPr>
              <a:t>程序设计中的</a:t>
            </a:r>
            <a:r>
              <a:rPr lang="en-US" altLang="zh-CN" dirty="0">
                <a:ea typeface="宋体" charset="0"/>
              </a:rPr>
              <a:t>if-then</a:t>
            </a:r>
            <a:r>
              <a:rPr lang="zh-CN" altLang="en-US" dirty="0">
                <a:ea typeface="宋体" charset="0"/>
              </a:rPr>
              <a:t>与逻辑中的不同：</a:t>
            </a:r>
          </a:p>
          <a:p>
            <a:pPr eaLnBrk="1" hangingPunct="1">
              <a:defRPr/>
            </a:pPr>
            <a:r>
              <a:rPr lang="zh-CN" altLang="en-US" dirty="0">
                <a:ea typeface="宋体" charset="0"/>
              </a:rPr>
              <a:t>	如：</a:t>
            </a:r>
            <a:r>
              <a:rPr lang="en-US" altLang="zh-CN" dirty="0">
                <a:ea typeface="宋体" charset="0"/>
              </a:rPr>
              <a:t>if x&lt;10 then x:=x+1;</a:t>
            </a:r>
          </a:p>
          <a:p>
            <a:pPr eaLnBrk="1" hangingPunct="1">
              <a:defRPr/>
            </a:pPr>
            <a:r>
              <a:rPr lang="en-US" altLang="zh-CN" dirty="0">
                <a:ea typeface="宋体" charset="0"/>
              </a:rPr>
              <a:t>	</a:t>
            </a:r>
            <a:r>
              <a:rPr lang="zh-CN" altLang="en-US" dirty="0">
                <a:ea typeface="宋体" charset="0"/>
              </a:rPr>
              <a:t>不关心整个命题的真假，只是</a:t>
            </a:r>
            <a:r>
              <a:rPr lang="en-US" altLang="zh-CN" dirty="0">
                <a:ea typeface="宋体" charset="0"/>
              </a:rPr>
              <a:t>P</a:t>
            </a:r>
            <a:r>
              <a:rPr lang="zh-CN" altLang="en-US" dirty="0">
                <a:ea typeface="宋体" charset="0"/>
              </a:rPr>
              <a:t>为真就执行</a:t>
            </a:r>
            <a:r>
              <a:rPr lang="en-US" altLang="zh-CN" dirty="0">
                <a:ea typeface="宋体" charset="0"/>
              </a:rPr>
              <a:t>Q</a:t>
            </a:r>
            <a:r>
              <a:rPr lang="zh-CN" altLang="en-US" dirty="0">
                <a:ea typeface="宋体" charset="0"/>
              </a:rPr>
              <a:t>，</a:t>
            </a:r>
            <a:r>
              <a:rPr lang="en-US" altLang="zh-CN" dirty="0">
                <a:ea typeface="宋体" charset="0"/>
              </a:rPr>
              <a:t>P</a:t>
            </a:r>
            <a:r>
              <a:rPr lang="zh-CN" altLang="en-US" dirty="0">
                <a:ea typeface="宋体" charset="0"/>
              </a:rPr>
              <a:t>为假就不执行。</a:t>
            </a:r>
          </a:p>
          <a:p>
            <a:pPr eaLnBrk="1" hangingPunct="1">
              <a:defRPr/>
            </a:pPr>
            <a:endParaRPr lang="zh-CN" altLang="en-US" dirty="0">
              <a:ea typeface="宋体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>
            <a:extLst>
              <a:ext uri="{FF2B5EF4-FFF2-40B4-BE49-F238E27FC236}">
                <a16:creationId xmlns:a16="http://schemas.microsoft.com/office/drawing/2014/main" id="{C42A1E7C-D73A-654A-B45F-C78CC82CFA3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CFCB6E3-543E-3D44-B73F-CF8EAA785D59}" type="slidenum">
              <a:rPr lang="zh-CN" altLang="en-US" sz="1200">
                <a:latin typeface="Times New Roman" panose="02020603050405020304" pitchFamily="18" charset="0"/>
              </a:rPr>
              <a:pPr/>
              <a:t>12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36866" name="Rectangle 2">
            <a:extLst>
              <a:ext uri="{FF2B5EF4-FFF2-40B4-BE49-F238E27FC236}">
                <a16:creationId xmlns:a16="http://schemas.microsoft.com/office/drawing/2014/main" id="{94413356-8B36-1144-891B-42C843FC8B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8FF451A1-82A2-7F48-AA5B-123D41054E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>
                <a:latin typeface="Arial" panose="020B0604020202020204" pitchFamily="34" charset="0"/>
              </a:rPr>
              <a:t>注意：自然语言中很多用</a:t>
            </a:r>
            <a:r>
              <a:rPr lang="zh-CN" altLang="en-US">
                <a:latin typeface="Times New Roman" panose="02020603050405020304" pitchFamily="18" charset="0"/>
              </a:rPr>
              <a:t>“</a:t>
            </a:r>
            <a:r>
              <a:rPr lang="zh-CN" altLang="en-US">
                <a:latin typeface="Arial" panose="020B0604020202020204" pitchFamily="34" charset="0"/>
              </a:rPr>
              <a:t>如果</a:t>
            </a:r>
            <a:r>
              <a:rPr lang="en-US" altLang="zh-CN">
                <a:latin typeface="Times New Roman" panose="02020603050405020304" pitchFamily="18" charset="0"/>
              </a:rPr>
              <a:t>……</a:t>
            </a:r>
            <a:r>
              <a:rPr lang="zh-CN" altLang="en-US">
                <a:latin typeface="Arial" panose="020B0604020202020204" pitchFamily="34" charset="0"/>
              </a:rPr>
              <a:t>那么</a:t>
            </a:r>
            <a:r>
              <a:rPr lang="en-US" altLang="zh-CN">
                <a:latin typeface="Times New Roman" panose="02020603050405020304" pitchFamily="18" charset="0"/>
              </a:rPr>
              <a:t>……”</a:t>
            </a:r>
            <a:r>
              <a:rPr lang="zh-CN" altLang="en-US">
                <a:latin typeface="Arial" panose="020B0604020202020204" pitchFamily="34" charset="0"/>
              </a:rPr>
              <a:t>来表示等价。</a:t>
            </a:r>
          </a:p>
          <a:p>
            <a:pPr eaLnBrk="1" hangingPunct="1"/>
            <a:r>
              <a:rPr lang="zh-CN" altLang="en-US">
                <a:latin typeface="Arial" panose="020B0604020202020204" pitchFamily="34" charset="0"/>
              </a:rPr>
              <a:t>例如：你吃完饭才可以吃餐后甜点。＝你可以吃餐后甜点当且仅当你吃完饭。＝如果你吃完饭，那么你可以吃餐后甜点。</a:t>
            </a:r>
          </a:p>
          <a:p>
            <a:pPr eaLnBrk="1" hangingPunct="1"/>
            <a:r>
              <a:rPr lang="zh-CN" altLang="en-US">
                <a:latin typeface="Arial" panose="020B0604020202020204" pitchFamily="34" charset="0"/>
              </a:rPr>
              <a:t>所以：</a:t>
            </a:r>
            <a:r>
              <a:rPr lang="zh-CN" altLang="en-US" b="1">
                <a:solidFill>
                  <a:srgbClr val="4E67C8"/>
                </a:solidFill>
                <a:latin typeface="Arial" panose="020B0604020202020204" pitchFamily="34" charset="0"/>
              </a:rPr>
              <a:t>等价表示如果条件成立，则一定要做；条件不成立，则一定不做。</a:t>
            </a:r>
          </a:p>
          <a:p>
            <a:pPr eaLnBrk="1" hangingPunct="1"/>
            <a:r>
              <a:rPr lang="zh-CN" altLang="en-US">
                <a:latin typeface="Arial" panose="020B0604020202020204" pitchFamily="34" charset="0"/>
              </a:rPr>
              <a:t>自然语言的不精确性在数学和逻辑中必须明确分开，用蕴涵和等价分开。</a:t>
            </a:r>
          </a:p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7">
            <a:extLst>
              <a:ext uri="{FF2B5EF4-FFF2-40B4-BE49-F238E27FC236}">
                <a16:creationId xmlns:a16="http://schemas.microsoft.com/office/drawing/2014/main" id="{37A32EF3-27DA-AA45-95F0-3FBEAB8B37D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C886AFE-D7BA-DF4C-8490-9517CE3EF68D}" type="slidenum">
              <a:rPr lang="zh-CN" altLang="en-US" sz="1200">
                <a:latin typeface="Times New Roman" panose="02020603050405020304" pitchFamily="18" charset="0"/>
              </a:rPr>
              <a:pPr/>
              <a:t>13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38914" name="Rectangle 2">
            <a:extLst>
              <a:ext uri="{FF2B5EF4-FFF2-40B4-BE49-F238E27FC236}">
                <a16:creationId xmlns:a16="http://schemas.microsoft.com/office/drawing/2014/main" id="{A151EF7A-15BF-8D46-AB12-8F7B1332BBA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26F6961A-78C0-674E-9616-B2E6F078A8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>
                <a:latin typeface="Arial" panose="020B0604020202020204" pitchFamily="34" charset="0"/>
              </a:rPr>
              <a:t>1)F	2)T	3)T	4)F	5)T	6)F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7">
            <a:extLst>
              <a:ext uri="{FF2B5EF4-FFF2-40B4-BE49-F238E27FC236}">
                <a16:creationId xmlns:a16="http://schemas.microsoft.com/office/drawing/2014/main" id="{4B0AF89A-EB14-6D42-B9B6-D4FAB08D587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7D7F050-FC4F-DF43-A32B-29C602BC5EF9}" type="slidenum">
              <a:rPr lang="zh-CN" altLang="en-US" sz="1200">
                <a:latin typeface="Times New Roman" panose="02020603050405020304" pitchFamily="18" charset="0"/>
              </a:rPr>
              <a:pPr/>
              <a:t>14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40962" name="Rectangle 2">
            <a:extLst>
              <a:ext uri="{FF2B5EF4-FFF2-40B4-BE49-F238E27FC236}">
                <a16:creationId xmlns:a16="http://schemas.microsoft.com/office/drawing/2014/main" id="{54417B65-5C9F-F944-BBEF-A8F42B7952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B0963C0D-A1E2-2D43-ABF3-3AA0F839AA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7">
            <a:extLst>
              <a:ext uri="{FF2B5EF4-FFF2-40B4-BE49-F238E27FC236}">
                <a16:creationId xmlns:a16="http://schemas.microsoft.com/office/drawing/2014/main" id="{FFF1B2A4-E4DB-4545-A501-87CA1FAF756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A1AFDF4-BC53-C44B-A30B-D19E93F323F7}" type="slidenum">
              <a:rPr lang="zh-CN" altLang="en-US" sz="1200">
                <a:latin typeface="Times New Roman" panose="02020603050405020304" pitchFamily="18" charset="0"/>
              </a:rPr>
              <a:pPr/>
              <a:t>15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43010" name="Rectangle 2">
            <a:extLst>
              <a:ext uri="{FF2B5EF4-FFF2-40B4-BE49-F238E27FC236}">
                <a16:creationId xmlns:a16="http://schemas.microsoft.com/office/drawing/2014/main" id="{189909FB-A208-5E48-98BF-54657776FB9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969F2FA5-0BAA-6F44-8B0A-9F0E2E3362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7">
            <a:extLst>
              <a:ext uri="{FF2B5EF4-FFF2-40B4-BE49-F238E27FC236}">
                <a16:creationId xmlns:a16="http://schemas.microsoft.com/office/drawing/2014/main" id="{65D61238-BED9-344E-81BE-2C436D87B0B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13B9D54-8488-8E4F-B904-846D4FE633FE}" type="slidenum">
              <a:rPr lang="zh-CN" altLang="en-US" sz="1200">
                <a:latin typeface="Times New Roman" panose="02020603050405020304" pitchFamily="18" charset="0"/>
              </a:rPr>
              <a:pPr/>
              <a:t>16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45058" name="Rectangle 2">
            <a:extLst>
              <a:ext uri="{FF2B5EF4-FFF2-40B4-BE49-F238E27FC236}">
                <a16:creationId xmlns:a16="http://schemas.microsoft.com/office/drawing/2014/main" id="{A2D25C1A-302F-F348-9E67-EB83C8EC80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ED4D5759-FD13-304A-BEE2-A62C9A8A9B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7">
            <a:extLst>
              <a:ext uri="{FF2B5EF4-FFF2-40B4-BE49-F238E27FC236}">
                <a16:creationId xmlns:a16="http://schemas.microsoft.com/office/drawing/2014/main" id="{EB6A65C9-0F38-1140-A96A-D05896D4AD0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0EF05A9-CABE-7346-B5B5-2DB427176E1D}" type="slidenum">
              <a:rPr lang="zh-CN" altLang="en-US" sz="1200">
                <a:latin typeface="Times New Roman" panose="02020603050405020304" pitchFamily="18" charset="0"/>
              </a:rPr>
              <a:pPr/>
              <a:t>20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50178" name="Rectangle 2">
            <a:extLst>
              <a:ext uri="{FF2B5EF4-FFF2-40B4-BE49-F238E27FC236}">
                <a16:creationId xmlns:a16="http://schemas.microsoft.com/office/drawing/2014/main" id="{E9CE55CB-80D5-624F-8590-19E1D913A7F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4A383206-254B-584C-B4B1-39C95F234A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>
                <a:latin typeface="Arial" panose="020B0604020202020204" pitchFamily="34" charset="0"/>
              </a:rPr>
              <a:t>注意：析取的优先级高于合取。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7">
            <a:extLst>
              <a:ext uri="{FF2B5EF4-FFF2-40B4-BE49-F238E27FC236}">
                <a16:creationId xmlns:a16="http://schemas.microsoft.com/office/drawing/2014/main" id="{12E227E2-8DBC-7E4A-AD07-791BB09EA1E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6975DA2-DB5E-BF41-BA65-740C449C7DEB}" type="slidenum">
              <a:rPr lang="zh-CN" altLang="en-US" sz="1200">
                <a:latin typeface="Times New Roman" panose="02020603050405020304" pitchFamily="18" charset="0"/>
              </a:rPr>
              <a:pPr/>
              <a:t>22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53250" name="Rectangle 2">
            <a:extLst>
              <a:ext uri="{FF2B5EF4-FFF2-40B4-BE49-F238E27FC236}">
                <a16:creationId xmlns:a16="http://schemas.microsoft.com/office/drawing/2014/main" id="{E8785D58-294F-D349-8759-A94B597F80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6C0A8982-FE5D-194E-98CD-79A500D24E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7">
            <a:extLst>
              <a:ext uri="{FF2B5EF4-FFF2-40B4-BE49-F238E27FC236}">
                <a16:creationId xmlns:a16="http://schemas.microsoft.com/office/drawing/2014/main" id="{215930D6-909E-8F4E-A879-BE170727E4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638406D-2743-3A46-B118-7B2A30B516C2}" type="slidenum">
              <a:rPr lang="zh-CN" altLang="en-US" sz="1200">
                <a:latin typeface="Times New Roman" panose="02020603050405020304" pitchFamily="18" charset="0"/>
              </a:rPr>
              <a:pPr/>
              <a:t>24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56322" name="Rectangle 2">
            <a:extLst>
              <a:ext uri="{FF2B5EF4-FFF2-40B4-BE49-F238E27FC236}">
                <a16:creationId xmlns:a16="http://schemas.microsoft.com/office/drawing/2014/main" id="{64D5127F-51F5-7B4B-A2AF-5574DC597D2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0AC72357-5DA4-344E-ACCD-2B73EACA4B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>
                <a:latin typeface="Arial" panose="020B0604020202020204" pitchFamily="34" charset="0"/>
              </a:rPr>
              <a:t>真值表中可以有原子及中间结果，我们可以简化真值表。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7">
            <a:extLst>
              <a:ext uri="{FF2B5EF4-FFF2-40B4-BE49-F238E27FC236}">
                <a16:creationId xmlns:a16="http://schemas.microsoft.com/office/drawing/2014/main" id="{B817B0BC-0558-0C4A-AABF-00F09131425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D07807D-3E77-B64F-A102-68681AB3B7AB}" type="slidenum">
              <a:rPr lang="zh-CN" altLang="en-US" sz="1200">
                <a:latin typeface="Times New Roman" panose="02020603050405020304" pitchFamily="18" charset="0"/>
              </a:rPr>
              <a:pPr/>
              <a:t>29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62466" name="Rectangle 2">
            <a:extLst>
              <a:ext uri="{FF2B5EF4-FFF2-40B4-BE49-F238E27FC236}">
                <a16:creationId xmlns:a16="http://schemas.microsoft.com/office/drawing/2014/main" id="{F763DF48-0B5C-4E42-9371-B12F6B8D76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8E024BC7-0319-FB42-A4D4-DCF2ABC6DB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7">
            <a:extLst>
              <a:ext uri="{FF2B5EF4-FFF2-40B4-BE49-F238E27FC236}">
                <a16:creationId xmlns:a16="http://schemas.microsoft.com/office/drawing/2014/main" id="{21117891-B4EB-1741-933C-0CC9A8EAAF1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F37F022-1ECD-F143-BDD1-D2BAF722D9DA}" type="slidenum">
              <a:rPr lang="zh-CN" altLang="en-US" sz="1200">
                <a:latin typeface="Times New Roman" panose="02020603050405020304" pitchFamily="18" charset="0"/>
              </a:rPr>
              <a:pPr/>
              <a:t>32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66562" name="Rectangle 2">
            <a:extLst>
              <a:ext uri="{FF2B5EF4-FFF2-40B4-BE49-F238E27FC236}">
                <a16:creationId xmlns:a16="http://schemas.microsoft.com/office/drawing/2014/main" id="{6FF762AB-7108-2D4B-B330-348273A0DD0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26466ECC-F76C-5548-8898-7F7350A2E6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>
                <a:latin typeface="Arial" panose="020B0604020202020204" pitchFamily="34" charset="0"/>
              </a:rPr>
              <a:t>证明：</a:t>
            </a:r>
          </a:p>
          <a:p>
            <a:pPr eaLnBrk="1" hangingPunct="1"/>
            <a:r>
              <a:rPr lang="zh-CN" altLang="en-US">
                <a:latin typeface="Arial" panose="020B0604020202020204" pitchFamily="34" charset="0"/>
              </a:rPr>
              <a:t>必要性：</a:t>
            </a:r>
            <a:r>
              <a:rPr lang="en-US" altLang="zh-CN">
                <a:latin typeface="Arial" panose="020B0604020202020204" pitchFamily="34" charset="0"/>
              </a:rPr>
              <a:t>G=H</a:t>
            </a:r>
            <a:r>
              <a:rPr lang="zh-CN" altLang="en-US">
                <a:latin typeface="Arial" panose="020B0604020202020204" pitchFamily="34" charset="0"/>
              </a:rPr>
              <a:t>，则在任意解释</a:t>
            </a:r>
            <a:r>
              <a:rPr lang="en-US" altLang="zh-CN">
                <a:latin typeface="Arial" panose="020B0604020202020204" pitchFamily="34" charset="0"/>
              </a:rPr>
              <a:t>I</a:t>
            </a:r>
            <a:r>
              <a:rPr lang="zh-CN" altLang="en-US">
                <a:latin typeface="Arial" panose="020B0604020202020204" pitchFamily="34" charset="0"/>
              </a:rPr>
              <a:t>下，</a:t>
            </a:r>
            <a:r>
              <a:rPr lang="en-US" altLang="zh-CN">
                <a:latin typeface="Arial" panose="020B0604020202020204" pitchFamily="34" charset="0"/>
              </a:rPr>
              <a:t>G</a:t>
            </a:r>
            <a:r>
              <a:rPr lang="zh-CN" altLang="en-US">
                <a:latin typeface="Arial" panose="020B0604020202020204" pitchFamily="34" charset="0"/>
              </a:rPr>
              <a:t>和</a:t>
            </a:r>
            <a:r>
              <a:rPr lang="en-US" altLang="zh-CN">
                <a:latin typeface="Arial" panose="020B0604020202020204" pitchFamily="34" charset="0"/>
              </a:rPr>
              <a:t>H</a:t>
            </a:r>
            <a:r>
              <a:rPr lang="zh-CN" altLang="en-US">
                <a:latin typeface="Arial" panose="020B0604020202020204" pitchFamily="34" charset="0"/>
              </a:rPr>
              <a:t>同真或同假。由</a:t>
            </a:r>
            <a:r>
              <a:rPr lang="en-US" altLang="zh-CN" sz="1400">
                <a:latin typeface="Arial" panose="020B0604020202020204" pitchFamily="34" charset="0"/>
                <a:sym typeface="Symbol" pitchFamily="2" charset="2"/>
              </a:rPr>
              <a:t></a:t>
            </a:r>
            <a:r>
              <a:rPr lang="zh-CN" altLang="en-US" sz="1400">
                <a:latin typeface="Arial" panose="020B0604020202020204" pitchFamily="34" charset="0"/>
                <a:sym typeface="Symbol" pitchFamily="2" charset="2"/>
              </a:rPr>
              <a:t>的定义，</a:t>
            </a:r>
            <a:r>
              <a:rPr lang="en-US" altLang="zh-CN" sz="1400">
                <a:latin typeface="Arial" panose="020B0604020202020204" pitchFamily="34" charset="0"/>
              </a:rPr>
              <a:t>G</a:t>
            </a:r>
            <a:r>
              <a:rPr lang="en-US" altLang="zh-CN" sz="1400">
                <a:latin typeface="Arial" panose="020B0604020202020204" pitchFamily="34" charset="0"/>
                <a:sym typeface="Symbol" pitchFamily="2" charset="2"/>
              </a:rPr>
              <a:t></a:t>
            </a:r>
            <a:r>
              <a:rPr lang="en-US" altLang="zh-CN" sz="1400">
                <a:latin typeface="Arial" panose="020B0604020202020204" pitchFamily="34" charset="0"/>
              </a:rPr>
              <a:t>H</a:t>
            </a:r>
            <a:r>
              <a:rPr lang="zh-CN" altLang="en-US" sz="1400">
                <a:latin typeface="Arial" panose="020B0604020202020204" pitchFamily="34" charset="0"/>
              </a:rPr>
              <a:t>在</a:t>
            </a:r>
            <a:r>
              <a:rPr lang="en-US" altLang="zh-CN" sz="1400">
                <a:latin typeface="Arial" panose="020B0604020202020204" pitchFamily="34" charset="0"/>
              </a:rPr>
              <a:t>G</a:t>
            </a:r>
            <a:r>
              <a:rPr lang="zh-CN" altLang="en-US" sz="1400">
                <a:latin typeface="Arial" panose="020B0604020202020204" pitchFamily="34" charset="0"/>
              </a:rPr>
              <a:t>和</a:t>
            </a:r>
            <a:r>
              <a:rPr lang="en-US" altLang="zh-CN" sz="1400">
                <a:latin typeface="Arial" panose="020B0604020202020204" pitchFamily="34" charset="0"/>
              </a:rPr>
              <a:t>H</a:t>
            </a:r>
            <a:r>
              <a:rPr lang="zh-CN" altLang="en-US" sz="1400">
                <a:latin typeface="Arial" panose="020B0604020202020204" pitchFamily="34" charset="0"/>
              </a:rPr>
              <a:t>同真或同假即真值为真，则</a:t>
            </a:r>
            <a:r>
              <a:rPr lang="en-US" altLang="zh-CN" sz="1400">
                <a:latin typeface="Arial" panose="020B0604020202020204" pitchFamily="34" charset="0"/>
              </a:rPr>
              <a:t>G</a:t>
            </a:r>
            <a:r>
              <a:rPr lang="en-US" altLang="zh-CN" sz="1400">
                <a:latin typeface="Arial" panose="020B0604020202020204" pitchFamily="34" charset="0"/>
                <a:sym typeface="Symbol" pitchFamily="2" charset="2"/>
              </a:rPr>
              <a:t></a:t>
            </a:r>
            <a:r>
              <a:rPr lang="en-US" altLang="zh-CN" sz="1400">
                <a:latin typeface="Arial" panose="020B0604020202020204" pitchFamily="34" charset="0"/>
              </a:rPr>
              <a:t>H</a:t>
            </a:r>
            <a:r>
              <a:rPr lang="zh-CN" altLang="en-US" sz="1400">
                <a:latin typeface="Arial" panose="020B0604020202020204" pitchFamily="34" charset="0"/>
              </a:rPr>
              <a:t>为恒真的。</a:t>
            </a:r>
          </a:p>
          <a:p>
            <a:pPr eaLnBrk="1" hangingPunct="1"/>
            <a:r>
              <a:rPr lang="zh-CN" altLang="en-US" sz="1400">
                <a:latin typeface="Arial" panose="020B0604020202020204" pitchFamily="34" charset="0"/>
              </a:rPr>
              <a:t>充分性：</a:t>
            </a:r>
            <a:r>
              <a:rPr lang="en-US" altLang="zh-CN" sz="1400">
                <a:latin typeface="Arial" panose="020B0604020202020204" pitchFamily="34" charset="0"/>
              </a:rPr>
              <a:t>G</a:t>
            </a:r>
            <a:r>
              <a:rPr lang="en-US" altLang="zh-CN" sz="1400">
                <a:latin typeface="Arial" panose="020B0604020202020204" pitchFamily="34" charset="0"/>
                <a:sym typeface="Symbol" pitchFamily="2" charset="2"/>
              </a:rPr>
              <a:t></a:t>
            </a:r>
            <a:r>
              <a:rPr lang="en-US" altLang="zh-CN" sz="1400">
                <a:latin typeface="Arial" panose="020B0604020202020204" pitchFamily="34" charset="0"/>
              </a:rPr>
              <a:t>H</a:t>
            </a:r>
            <a:r>
              <a:rPr lang="zh-CN" altLang="en-US" sz="1400">
                <a:latin typeface="Arial" panose="020B0604020202020204" pitchFamily="34" charset="0"/>
              </a:rPr>
              <a:t>是恒真的，即在任意解释</a:t>
            </a:r>
            <a:r>
              <a:rPr lang="en-US" altLang="zh-CN" sz="1400">
                <a:latin typeface="Arial" panose="020B0604020202020204" pitchFamily="34" charset="0"/>
              </a:rPr>
              <a:t>I</a:t>
            </a:r>
            <a:r>
              <a:rPr lang="zh-CN" altLang="en-US" sz="1400">
                <a:latin typeface="Arial" panose="020B0604020202020204" pitchFamily="34" charset="0"/>
              </a:rPr>
              <a:t>下，</a:t>
            </a:r>
            <a:r>
              <a:rPr lang="en-US" altLang="zh-CN" sz="1400">
                <a:latin typeface="Arial" panose="020B0604020202020204" pitchFamily="34" charset="0"/>
              </a:rPr>
              <a:t>G</a:t>
            </a:r>
            <a:r>
              <a:rPr lang="en-US" altLang="zh-CN" sz="1400">
                <a:latin typeface="Arial" panose="020B0604020202020204" pitchFamily="34" charset="0"/>
                <a:sym typeface="Symbol" pitchFamily="2" charset="2"/>
              </a:rPr>
              <a:t></a:t>
            </a:r>
            <a:r>
              <a:rPr lang="en-US" altLang="zh-CN" sz="1400">
                <a:latin typeface="Arial" panose="020B0604020202020204" pitchFamily="34" charset="0"/>
              </a:rPr>
              <a:t>H</a:t>
            </a:r>
            <a:r>
              <a:rPr lang="zh-CN" altLang="en-US" sz="1400">
                <a:latin typeface="Arial" panose="020B0604020202020204" pitchFamily="34" charset="0"/>
              </a:rPr>
              <a:t>为真。因此</a:t>
            </a:r>
            <a:r>
              <a:rPr lang="en-US" altLang="zh-CN" sz="1400">
                <a:latin typeface="Arial" panose="020B0604020202020204" pitchFamily="34" charset="0"/>
              </a:rPr>
              <a:t>G</a:t>
            </a:r>
            <a:r>
              <a:rPr lang="zh-CN" altLang="en-US" sz="1400">
                <a:latin typeface="Arial" panose="020B0604020202020204" pitchFamily="34" charset="0"/>
              </a:rPr>
              <a:t>和</a:t>
            </a:r>
            <a:r>
              <a:rPr lang="en-US" altLang="zh-CN" sz="1400">
                <a:latin typeface="Arial" panose="020B0604020202020204" pitchFamily="34" charset="0"/>
              </a:rPr>
              <a:t>H</a:t>
            </a:r>
            <a:r>
              <a:rPr lang="zh-CN" altLang="en-US" sz="1400">
                <a:latin typeface="Arial" panose="020B0604020202020204" pitchFamily="34" charset="0"/>
              </a:rPr>
              <a:t>同时为真或为假，又因为任意的</a:t>
            </a:r>
            <a:r>
              <a:rPr lang="en-US" altLang="zh-CN" sz="1400">
                <a:latin typeface="Arial" panose="020B0604020202020204" pitchFamily="34" charset="0"/>
              </a:rPr>
              <a:t>I</a:t>
            </a:r>
            <a:r>
              <a:rPr lang="zh-CN" altLang="en-US" sz="1400">
                <a:latin typeface="Arial" panose="020B0604020202020204" pitchFamily="34" charset="0"/>
              </a:rPr>
              <a:t>，则</a:t>
            </a:r>
            <a:r>
              <a:rPr lang="en-US" altLang="zh-CN" sz="1400">
                <a:latin typeface="Arial" panose="020B0604020202020204" pitchFamily="34" charset="0"/>
              </a:rPr>
              <a:t>G=H</a:t>
            </a:r>
            <a:r>
              <a:rPr lang="zh-CN" altLang="en-US" sz="1400">
                <a:latin typeface="Arial" panose="020B0604020202020204" pitchFamily="34" charset="0"/>
              </a:rPr>
              <a:t>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7">
            <a:extLst>
              <a:ext uri="{FF2B5EF4-FFF2-40B4-BE49-F238E27FC236}">
                <a16:creationId xmlns:a16="http://schemas.microsoft.com/office/drawing/2014/main" id="{F354DF5D-75B5-8447-BB29-A2FC5DD484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FB1C0C1-31BB-A94A-A784-E32CEE09B370}" type="slidenum">
              <a:rPr lang="zh-CN" altLang="en-US" sz="1200">
                <a:latin typeface="Times New Roman" panose="02020603050405020304" pitchFamily="18" charset="0"/>
              </a:rPr>
              <a:pPr/>
              <a:t>33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68610" name="Rectangle 2">
            <a:extLst>
              <a:ext uri="{FF2B5EF4-FFF2-40B4-BE49-F238E27FC236}">
                <a16:creationId xmlns:a16="http://schemas.microsoft.com/office/drawing/2014/main" id="{A8059A6F-1117-844A-94B9-C4413A671ED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A52F5071-B323-C849-87BD-F8F8640869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>
                <a:latin typeface="Arial" panose="020B0604020202020204" pitchFamily="34" charset="0"/>
              </a:rPr>
              <a:t>可以用真值表验证这些等价式成立。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7">
            <a:extLst>
              <a:ext uri="{FF2B5EF4-FFF2-40B4-BE49-F238E27FC236}">
                <a16:creationId xmlns:a16="http://schemas.microsoft.com/office/drawing/2014/main" id="{53E5D460-DF49-E94C-8222-BC40C472C05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1831E39-77AE-4342-BCC3-10DC4681A99F}" type="slidenum">
              <a:rPr lang="zh-CN" altLang="en-US" sz="1200">
                <a:latin typeface="Times New Roman" panose="02020603050405020304" pitchFamily="18" charset="0"/>
              </a:rPr>
              <a:pPr/>
              <a:t>37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73730" name="Rectangle 2">
            <a:extLst>
              <a:ext uri="{FF2B5EF4-FFF2-40B4-BE49-F238E27FC236}">
                <a16:creationId xmlns:a16="http://schemas.microsoft.com/office/drawing/2014/main" id="{57DFA024-4CBE-9747-9C57-137CFF4A03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DB2FE75D-DF3A-7949-A062-F16F3CC93C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>
                <a:latin typeface="Arial" panose="020B0604020202020204" pitchFamily="34" charset="0"/>
              </a:rPr>
              <a:t>可以用已经学过的</a:t>
            </a:r>
            <a:r>
              <a:rPr lang="en-US" altLang="zh-CN">
                <a:latin typeface="Arial" panose="020B0604020202020204" pitchFamily="34" charset="0"/>
              </a:rPr>
              <a:t>5</a:t>
            </a:r>
            <a:r>
              <a:rPr lang="zh-CN" altLang="en-US">
                <a:latin typeface="Arial" panose="020B0604020202020204" pitchFamily="34" charset="0"/>
              </a:rPr>
              <a:t>种联结词构成新的联结词。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7">
            <a:extLst>
              <a:ext uri="{FF2B5EF4-FFF2-40B4-BE49-F238E27FC236}">
                <a16:creationId xmlns:a16="http://schemas.microsoft.com/office/drawing/2014/main" id="{25408AF8-36D1-0244-9C7F-77EE70A7F20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6D38469-3FA1-534C-832E-2A13BB7D8A8F}" type="slidenum">
              <a:rPr lang="zh-CN" altLang="en-US" sz="1200">
                <a:latin typeface="Times New Roman" panose="02020603050405020304" pitchFamily="18" charset="0"/>
              </a:rPr>
              <a:pPr/>
              <a:t>39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76802" name="Rectangle 2">
            <a:extLst>
              <a:ext uri="{FF2B5EF4-FFF2-40B4-BE49-F238E27FC236}">
                <a16:creationId xmlns:a16="http://schemas.microsoft.com/office/drawing/2014/main" id="{5F5526D9-26E2-4147-86EF-2A076CA182F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C9268584-CDFE-5B4D-A623-7B51662C2E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>
                <a:latin typeface="Arial" panose="020B0604020202020204" pitchFamily="34" charset="0"/>
              </a:rPr>
              <a:t>可见，可定义的联结词数量很多，那么它们之间是否都可以相互表示呢？应该可以。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7">
            <a:extLst>
              <a:ext uri="{FF2B5EF4-FFF2-40B4-BE49-F238E27FC236}">
                <a16:creationId xmlns:a16="http://schemas.microsoft.com/office/drawing/2014/main" id="{9B7A7719-79E3-634B-B7EB-7475ACEDE28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BBD7446-3179-E140-B5AA-FA3A508B6EA1}" type="slidenum">
              <a:rPr lang="zh-CN" altLang="en-US" sz="1200">
                <a:latin typeface="Times New Roman" panose="02020603050405020304" pitchFamily="18" charset="0"/>
              </a:rPr>
              <a:pPr/>
              <a:t>42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80898" name="Rectangle 2">
            <a:extLst>
              <a:ext uri="{FF2B5EF4-FFF2-40B4-BE49-F238E27FC236}">
                <a16:creationId xmlns:a16="http://schemas.microsoft.com/office/drawing/2014/main" id="{78D566FF-5052-9340-AC2C-A8C6ADDCB7C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6A3C9380-D43E-0F47-AFEB-14C4846C7E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>
                <a:latin typeface="Arial" panose="020B0604020202020204" pitchFamily="34" charset="0"/>
              </a:rPr>
              <a:t>只要这个逻辑蕴涵式成立，就可以应用到具体的例子上，而不管其具体含义是什么。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7">
            <a:extLst>
              <a:ext uri="{FF2B5EF4-FFF2-40B4-BE49-F238E27FC236}">
                <a16:creationId xmlns:a16="http://schemas.microsoft.com/office/drawing/2014/main" id="{FBF8A87A-F45A-6B44-B429-20F6E4F656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7BFF87E-80A8-524B-BE9C-D7395A5BBB24}" type="slidenum">
              <a:rPr lang="zh-CN" altLang="en-US" sz="1200">
                <a:latin typeface="Times New Roman" panose="02020603050405020304" pitchFamily="18" charset="0"/>
              </a:rPr>
              <a:pPr/>
              <a:t>43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82946" name="Rectangle 2">
            <a:extLst>
              <a:ext uri="{FF2B5EF4-FFF2-40B4-BE49-F238E27FC236}">
                <a16:creationId xmlns:a16="http://schemas.microsoft.com/office/drawing/2014/main" id="{692A8479-06BA-6F46-8C88-1E0B6842B8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5AFA553A-6B3D-6A44-858A-27E4D1592C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7">
            <a:extLst>
              <a:ext uri="{FF2B5EF4-FFF2-40B4-BE49-F238E27FC236}">
                <a16:creationId xmlns:a16="http://schemas.microsoft.com/office/drawing/2014/main" id="{70D37966-D0F2-D644-9248-738ED08C1ED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8A510A7-380D-2B4B-89BA-2DFA72C69A21}" type="slidenum">
              <a:rPr lang="zh-CN" altLang="en-US" sz="1200">
                <a:latin typeface="Times New Roman" panose="02020603050405020304" pitchFamily="18" charset="0"/>
              </a:rPr>
              <a:pPr/>
              <a:t>44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84994" name="Rectangle 2">
            <a:extLst>
              <a:ext uri="{FF2B5EF4-FFF2-40B4-BE49-F238E27FC236}">
                <a16:creationId xmlns:a16="http://schemas.microsoft.com/office/drawing/2014/main" id="{5E55B9C8-ADCF-4E45-BB71-8E08FFDFA87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65E2BDBF-1826-ED43-BAF3-E377C58F5D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sz="140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7">
            <a:extLst>
              <a:ext uri="{FF2B5EF4-FFF2-40B4-BE49-F238E27FC236}">
                <a16:creationId xmlns:a16="http://schemas.microsoft.com/office/drawing/2014/main" id="{D6B773AD-6960-DA4E-B62E-F2F26D0362A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E601AE7-2A70-8F49-84F9-ACFD3BD5CDA9}" type="slidenum">
              <a:rPr lang="zh-CN" altLang="en-US" sz="1200">
                <a:latin typeface="Times New Roman" panose="02020603050405020304" pitchFamily="18" charset="0"/>
              </a:rPr>
              <a:pPr/>
              <a:t>47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89090" name="Rectangle 2">
            <a:extLst>
              <a:ext uri="{FF2B5EF4-FFF2-40B4-BE49-F238E27FC236}">
                <a16:creationId xmlns:a16="http://schemas.microsoft.com/office/drawing/2014/main" id="{CAB31962-4866-7F4D-9FD7-1B22F66FB0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A5473A15-F467-0840-AC01-915549CF54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>
                <a:latin typeface="Arial" panose="020B0604020202020204" pitchFamily="34" charset="0"/>
              </a:rPr>
              <a:t>了解了蕴涵，我们看一下蕴涵的一个应用：演绎，可以从多个公式推导出一个公式</a:t>
            </a:r>
            <a:r>
              <a:rPr lang="zh-CN" altLang="zh-CN">
                <a:latin typeface="Arial" panose="020B0604020202020204" pitchFamily="34" charset="0"/>
              </a:rPr>
              <a:t>/</a:t>
            </a:r>
            <a:r>
              <a:rPr lang="zh-CN" altLang="en-US">
                <a:latin typeface="Arial" panose="020B0604020202020204" pitchFamily="34" charset="0"/>
              </a:rPr>
              <a:t>结论。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7">
            <a:extLst>
              <a:ext uri="{FF2B5EF4-FFF2-40B4-BE49-F238E27FC236}">
                <a16:creationId xmlns:a16="http://schemas.microsoft.com/office/drawing/2014/main" id="{A36585DC-E7BD-D04B-BE74-B0F1A3205AB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3FA030C-91CA-9540-8552-0B9DC31FACC0}" type="slidenum">
              <a:rPr lang="zh-CN" altLang="en-US" sz="1200">
                <a:latin typeface="Times New Roman" panose="02020603050405020304" pitchFamily="18" charset="0"/>
              </a:rPr>
              <a:pPr/>
              <a:t>50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93186" name="Rectangle 2">
            <a:extLst>
              <a:ext uri="{FF2B5EF4-FFF2-40B4-BE49-F238E27FC236}">
                <a16:creationId xmlns:a16="http://schemas.microsoft.com/office/drawing/2014/main" id="{E54210AA-61D7-0A4B-8DDC-0F28D27E5A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BD5A7BA4-E858-874E-B8F3-8E0A1F4496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>
                <a:latin typeface="Arial" panose="020B0604020202020204" pitchFamily="34" charset="0"/>
              </a:rPr>
              <a:t>此定理要说明从</a:t>
            </a:r>
            <a:r>
              <a:rPr lang="en-US" altLang="zh-CN">
                <a:latin typeface="Arial" panose="020B0604020202020204" pitchFamily="34" charset="0"/>
              </a:rPr>
              <a:t>S</a:t>
            </a:r>
            <a:r>
              <a:rPr lang="zh-CN" altLang="en-US">
                <a:latin typeface="Arial" panose="020B0604020202020204" pitchFamily="34" charset="0"/>
              </a:rPr>
              <a:t>演绎出</a:t>
            </a:r>
            <a:r>
              <a:rPr lang="en-US" altLang="zh-CN">
                <a:latin typeface="Arial" panose="020B0604020202020204" pitchFamily="34" charset="0"/>
              </a:rPr>
              <a:t>G</a:t>
            </a:r>
            <a:r>
              <a:rPr lang="zh-CN" altLang="en-US">
                <a:latin typeface="Arial" panose="020B0604020202020204" pitchFamily="34" charset="0"/>
              </a:rPr>
              <a:t>和</a:t>
            </a:r>
            <a:r>
              <a:rPr lang="en-US" altLang="zh-CN">
                <a:latin typeface="Arial" panose="020B0604020202020204" pitchFamily="34" charset="0"/>
              </a:rPr>
              <a:t>G</a:t>
            </a:r>
            <a:r>
              <a:rPr lang="zh-CN" altLang="en-US">
                <a:latin typeface="Arial" panose="020B0604020202020204" pitchFamily="34" charset="0"/>
              </a:rPr>
              <a:t>是</a:t>
            </a:r>
            <a:r>
              <a:rPr lang="en-US" altLang="zh-CN">
                <a:latin typeface="Arial" panose="020B0604020202020204" pitchFamily="34" charset="0"/>
              </a:rPr>
              <a:t>S</a:t>
            </a:r>
            <a:r>
              <a:rPr lang="zh-CN" altLang="en-US">
                <a:latin typeface="Arial" panose="020B0604020202020204" pitchFamily="34" charset="0"/>
              </a:rPr>
              <a:t>的逻辑结果是等价的两个命题。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Rectangle 7">
            <a:extLst>
              <a:ext uri="{FF2B5EF4-FFF2-40B4-BE49-F238E27FC236}">
                <a16:creationId xmlns:a16="http://schemas.microsoft.com/office/drawing/2014/main" id="{2A14B63C-F75C-104B-86DE-E3FDC0B9B8B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D53CA08-2FAA-D64D-A9F1-A13DA089BB6B}" type="slidenum">
              <a:rPr lang="zh-CN" altLang="en-US" sz="1200">
                <a:latin typeface="Times New Roman" panose="02020603050405020304" pitchFamily="18" charset="0"/>
              </a:rPr>
              <a:pPr/>
              <a:t>55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99330" name="Rectangle 2">
            <a:extLst>
              <a:ext uri="{FF2B5EF4-FFF2-40B4-BE49-F238E27FC236}">
                <a16:creationId xmlns:a16="http://schemas.microsoft.com/office/drawing/2014/main" id="{27090D4B-5CEE-2A42-9464-0D1F5CFD55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1" name="Rectangle 3">
            <a:extLst>
              <a:ext uri="{FF2B5EF4-FFF2-40B4-BE49-F238E27FC236}">
                <a16:creationId xmlns:a16="http://schemas.microsoft.com/office/drawing/2014/main" id="{83C093A9-9F14-D84F-AE64-E119A197FC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sz="1400">
              <a:latin typeface="Arial" panose="020B0604020202020204" pitchFamily="34" charset="0"/>
              <a:sym typeface="Symbol" pitchFamily="2" charset="2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Rectangle 7">
            <a:extLst>
              <a:ext uri="{FF2B5EF4-FFF2-40B4-BE49-F238E27FC236}">
                <a16:creationId xmlns:a16="http://schemas.microsoft.com/office/drawing/2014/main" id="{AE36C6E4-F934-B747-A87D-864A92D72D4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2C347AC-EE34-B04C-A08D-3810E485861C}" type="slidenum">
              <a:rPr lang="zh-CN" altLang="en-US" sz="1200">
                <a:latin typeface="Times New Roman" panose="02020603050405020304" pitchFamily="18" charset="0"/>
              </a:rPr>
              <a:pPr/>
              <a:t>58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103426" name="Rectangle 2">
            <a:extLst>
              <a:ext uri="{FF2B5EF4-FFF2-40B4-BE49-F238E27FC236}">
                <a16:creationId xmlns:a16="http://schemas.microsoft.com/office/drawing/2014/main" id="{89466FC0-3AC3-4847-BB2C-3A058FEF9EF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id="{79D040D9-413D-F749-8946-E24E28CF6A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>
                <a:latin typeface="Arial" panose="020B0604020202020204" pitchFamily="34" charset="0"/>
              </a:rPr>
              <a:t>当结论的公式是</a:t>
            </a:r>
            <a:r>
              <a:rPr lang="en-US" altLang="zh-CN" sz="1600">
                <a:latin typeface="Arial" panose="020B0604020202020204" pitchFamily="34" charset="0"/>
              </a:rPr>
              <a:t>P</a:t>
            </a:r>
            <a:r>
              <a:rPr lang="en-US" altLang="zh-CN" sz="1600">
                <a:latin typeface="Arial" panose="020B0604020202020204" pitchFamily="34" charset="0"/>
                <a:sym typeface="Symbol" pitchFamily="2" charset="2"/>
              </a:rPr>
              <a:t></a:t>
            </a:r>
            <a:r>
              <a:rPr lang="en-US" altLang="zh-CN" sz="1600">
                <a:latin typeface="Arial" panose="020B0604020202020204" pitchFamily="34" charset="0"/>
              </a:rPr>
              <a:t>Q</a:t>
            </a:r>
            <a:r>
              <a:rPr lang="zh-CN" altLang="en-US" sz="1600">
                <a:latin typeface="Arial" panose="020B0604020202020204" pitchFamily="34" charset="0"/>
              </a:rPr>
              <a:t>或其等价式时，用此规则</a:t>
            </a:r>
            <a:r>
              <a:rPr lang="en-US" altLang="zh-CN" sz="1600">
                <a:latin typeface="Arial" panose="020B0604020202020204" pitchFamily="34" charset="0"/>
              </a:rPr>
              <a:t>3</a:t>
            </a:r>
            <a:r>
              <a:rPr lang="zh-CN" altLang="en-US" sz="1600">
                <a:latin typeface="Arial" panose="020B0604020202020204" pitchFamily="34" charset="0"/>
              </a:rPr>
              <a:t>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Rectangle 7">
            <a:extLst>
              <a:ext uri="{FF2B5EF4-FFF2-40B4-BE49-F238E27FC236}">
                <a16:creationId xmlns:a16="http://schemas.microsoft.com/office/drawing/2014/main" id="{7B1E277A-EA9D-684A-A231-AC37583C18D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E91B9EE-A566-9A41-B2D4-EEA5CCD13852}" type="slidenum">
              <a:rPr lang="zh-CN" altLang="en-US" sz="1200">
                <a:latin typeface="Times New Roman" panose="02020603050405020304" pitchFamily="18" charset="0"/>
              </a:rPr>
              <a:pPr/>
              <a:t>62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108546" name="Rectangle 2">
            <a:extLst>
              <a:ext uri="{FF2B5EF4-FFF2-40B4-BE49-F238E27FC236}">
                <a16:creationId xmlns:a16="http://schemas.microsoft.com/office/drawing/2014/main" id="{EC5538CC-F7EC-2143-BEB9-C75A30FD368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7" name="Rectangle 3">
            <a:extLst>
              <a:ext uri="{FF2B5EF4-FFF2-40B4-BE49-F238E27FC236}">
                <a16:creationId xmlns:a16="http://schemas.microsoft.com/office/drawing/2014/main" id="{8B7D6EC3-53AE-7F4B-99E7-B84B03C642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>
                <a:latin typeface="Arial" panose="020B0604020202020204" pitchFamily="34" charset="0"/>
              </a:rPr>
              <a:t>根据题意，我们自己分析，逻辑结果应该是</a:t>
            </a:r>
            <a:r>
              <a:rPr lang="en-US" altLang="zh-CN" sz="1400">
                <a:latin typeface="Arial" panose="020B0604020202020204" pitchFamily="34" charset="0"/>
                <a:sym typeface="Symbol" pitchFamily="2" charset="2"/>
              </a:rPr>
              <a:t></a:t>
            </a:r>
            <a:r>
              <a:rPr lang="en-US" altLang="zh-CN" sz="1400">
                <a:latin typeface="Arial" panose="020B0604020202020204" pitchFamily="34" charset="0"/>
              </a:rPr>
              <a:t>Q</a:t>
            </a:r>
            <a:r>
              <a:rPr lang="zh-CN" altLang="en-US" sz="1400">
                <a:latin typeface="Arial" panose="020B0604020202020204" pitchFamily="34" charset="0"/>
              </a:rPr>
              <a:t>，现在我们来证明这个结果正确。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3" name="Rectangle 7">
            <a:extLst>
              <a:ext uri="{FF2B5EF4-FFF2-40B4-BE49-F238E27FC236}">
                <a16:creationId xmlns:a16="http://schemas.microsoft.com/office/drawing/2014/main" id="{2E956AFB-7E59-5E42-9F66-01CFC497BD5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DC95065-302E-7643-AAE8-8857ABB9EC41}" type="slidenum">
              <a:rPr lang="zh-CN" altLang="en-US" sz="1200">
                <a:latin typeface="Times New Roman" panose="02020603050405020304" pitchFamily="18" charset="0"/>
              </a:rPr>
              <a:pPr/>
              <a:t>68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115714" name="Rectangle 2">
            <a:extLst>
              <a:ext uri="{FF2B5EF4-FFF2-40B4-BE49-F238E27FC236}">
                <a16:creationId xmlns:a16="http://schemas.microsoft.com/office/drawing/2014/main" id="{AE1BA5C2-C056-A346-BB48-6A9DDF60D2D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5" name="Rectangle 3">
            <a:extLst>
              <a:ext uri="{FF2B5EF4-FFF2-40B4-BE49-F238E27FC236}">
                <a16:creationId xmlns:a16="http://schemas.microsoft.com/office/drawing/2014/main" id="{8340BF31-8D5E-BA4C-B26D-E5DD5C6205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>
                <a:latin typeface="Arial" panose="020B0604020202020204" pitchFamily="34" charset="0"/>
              </a:rPr>
              <a:t>1)</a:t>
            </a:r>
            <a:r>
              <a:rPr lang="en-US" altLang="zh-CN" sz="1400">
                <a:latin typeface="Arial" panose="020B0604020202020204" pitchFamily="34" charset="0"/>
              </a:rPr>
              <a:t>P</a:t>
            </a:r>
            <a:r>
              <a:rPr lang="en-US" altLang="zh-CN" sz="1400">
                <a:latin typeface="Arial" panose="020B0604020202020204" pitchFamily="34" charset="0"/>
                <a:sym typeface="Symbol" pitchFamily="2" charset="2"/>
              </a:rPr>
              <a:t>Q		2)</a:t>
            </a:r>
            <a:r>
              <a:rPr lang="en-US" altLang="zh-CN">
                <a:latin typeface="Arial" panose="020B0604020202020204" pitchFamily="34" charset="0"/>
                <a:sym typeface="Symbol" pitchFamily="2" charset="2"/>
              </a:rPr>
              <a:t></a:t>
            </a:r>
            <a:r>
              <a:rPr lang="en-US" altLang="zh-CN" sz="1400">
                <a:latin typeface="Arial" panose="020B0604020202020204" pitchFamily="34" charset="0"/>
                <a:sym typeface="Symbol" pitchFamily="2" charset="2"/>
              </a:rPr>
              <a:t>PQ	3)QS	4)</a:t>
            </a:r>
            <a:r>
              <a:rPr lang="en-US" altLang="zh-CN">
                <a:latin typeface="Arial" panose="020B0604020202020204" pitchFamily="34" charset="0"/>
                <a:sym typeface="Symbol" pitchFamily="2" charset="2"/>
              </a:rPr>
              <a:t></a:t>
            </a:r>
            <a:r>
              <a:rPr lang="en-US" altLang="zh-CN" sz="1400">
                <a:latin typeface="Arial" panose="020B0604020202020204" pitchFamily="34" charset="0"/>
                <a:sym typeface="Symbol" pitchFamily="2" charset="2"/>
              </a:rPr>
              <a:t>PS	5)</a:t>
            </a:r>
            <a:r>
              <a:rPr lang="en-US" altLang="zh-CN">
                <a:latin typeface="Arial" panose="020B0604020202020204" pitchFamily="34" charset="0"/>
                <a:sym typeface="Symbol" pitchFamily="2" charset="2"/>
              </a:rPr>
              <a:t>S</a:t>
            </a:r>
            <a:r>
              <a:rPr lang="en-US" altLang="zh-CN" sz="1400">
                <a:latin typeface="Arial" panose="020B0604020202020204" pitchFamily="34" charset="0"/>
                <a:sym typeface="Symbol" pitchFamily="2" charset="2"/>
              </a:rPr>
              <a:t>P	6)PR	7)(PR)(RP)	8)PR	9)</a:t>
            </a:r>
            <a:r>
              <a:rPr lang="en-US" altLang="zh-CN">
                <a:latin typeface="Arial" panose="020B0604020202020204" pitchFamily="34" charset="0"/>
                <a:sym typeface="Symbol" pitchFamily="2" charset="2"/>
              </a:rPr>
              <a:t>S</a:t>
            </a:r>
            <a:r>
              <a:rPr lang="en-US" altLang="zh-CN" sz="1400">
                <a:latin typeface="Arial" panose="020B0604020202020204" pitchFamily="34" charset="0"/>
                <a:sym typeface="Symbol" pitchFamily="2" charset="2"/>
              </a:rPr>
              <a:t>R	10)SR</a:t>
            </a:r>
          </a:p>
          <a:p>
            <a:pPr eaLnBrk="1" hangingPunct="1"/>
            <a:r>
              <a:rPr lang="zh-CN" altLang="en-US" sz="1400">
                <a:latin typeface="Arial" panose="020B0604020202020204" pitchFamily="34" charset="0"/>
                <a:sym typeface="Symbol" pitchFamily="2" charset="2"/>
              </a:rPr>
              <a:t>又：</a:t>
            </a:r>
            <a:r>
              <a:rPr lang="en-US" altLang="zh-CN" sz="1400">
                <a:latin typeface="Arial" panose="020B0604020202020204" pitchFamily="34" charset="0"/>
                <a:sym typeface="Symbol" pitchFamily="2" charset="2"/>
              </a:rPr>
              <a:t>1)</a:t>
            </a:r>
            <a:r>
              <a:rPr lang="en-US" altLang="zh-CN">
                <a:latin typeface="Arial" panose="020B0604020202020204" pitchFamily="34" charset="0"/>
                <a:sym typeface="Symbol" pitchFamily="2" charset="2"/>
              </a:rPr>
              <a:t>S(</a:t>
            </a:r>
            <a:r>
              <a:rPr lang="zh-CN" altLang="en-US">
                <a:latin typeface="Arial" panose="020B0604020202020204" pitchFamily="34" charset="0"/>
                <a:sym typeface="Symbol" pitchFamily="2" charset="2"/>
              </a:rPr>
              <a:t>附加前提</a:t>
            </a:r>
            <a:r>
              <a:rPr lang="en-US" altLang="zh-CN">
                <a:latin typeface="Arial" panose="020B0604020202020204" pitchFamily="34" charset="0"/>
                <a:sym typeface="Symbol" pitchFamily="2" charset="2"/>
              </a:rPr>
              <a:t>)	2)</a:t>
            </a:r>
            <a:r>
              <a:rPr lang="en-US" altLang="zh-CN" sz="1400">
                <a:latin typeface="Arial" panose="020B0604020202020204" pitchFamily="34" charset="0"/>
                <a:sym typeface="Symbol" pitchFamily="2" charset="2"/>
              </a:rPr>
              <a:t>QS	3)</a:t>
            </a:r>
            <a:r>
              <a:rPr lang="en-US" altLang="zh-CN">
                <a:latin typeface="Arial" panose="020B0604020202020204" pitchFamily="34" charset="0"/>
                <a:sym typeface="Symbol" pitchFamily="2" charset="2"/>
              </a:rPr>
              <a:t>Q		4)</a:t>
            </a:r>
            <a:r>
              <a:rPr lang="en-US" altLang="zh-CN" sz="1400">
                <a:latin typeface="Arial" panose="020B0604020202020204" pitchFamily="34" charset="0"/>
              </a:rPr>
              <a:t>P</a:t>
            </a:r>
            <a:r>
              <a:rPr lang="en-US" altLang="zh-CN" sz="1400">
                <a:latin typeface="Arial" panose="020B0604020202020204" pitchFamily="34" charset="0"/>
                <a:sym typeface="Symbol" pitchFamily="2" charset="2"/>
              </a:rPr>
              <a:t>Q	5)P		6)PR	7)(PR)(RP)	8)PR	9)R		10)</a:t>
            </a:r>
            <a:r>
              <a:rPr lang="en-US" altLang="zh-CN">
                <a:latin typeface="Arial" panose="020B0604020202020204" pitchFamily="34" charset="0"/>
                <a:sym typeface="Symbol" pitchFamily="2" charset="2"/>
              </a:rPr>
              <a:t>S</a:t>
            </a:r>
            <a:r>
              <a:rPr lang="en-US" altLang="zh-CN" sz="1400">
                <a:latin typeface="Arial" panose="020B0604020202020204" pitchFamily="34" charset="0"/>
                <a:sym typeface="Symbol" pitchFamily="2" charset="2"/>
              </a:rPr>
              <a:t>R(</a:t>
            </a:r>
            <a:r>
              <a:rPr lang="zh-CN" altLang="en-US" sz="1400">
                <a:latin typeface="Arial" panose="020B0604020202020204" pitchFamily="34" charset="0"/>
                <a:sym typeface="Symbol" pitchFamily="2" charset="2"/>
              </a:rPr>
              <a:t>附加前提</a:t>
            </a:r>
            <a:r>
              <a:rPr lang="en-US" altLang="zh-CN" sz="1400">
                <a:latin typeface="Arial" panose="020B0604020202020204" pitchFamily="34" charset="0"/>
                <a:sym typeface="Symbol" pitchFamily="2" charset="2"/>
              </a:rPr>
              <a:t>)	11)SR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1" name="幻灯片图像占位符 1">
            <a:extLst>
              <a:ext uri="{FF2B5EF4-FFF2-40B4-BE49-F238E27FC236}">
                <a16:creationId xmlns:a16="http://schemas.microsoft.com/office/drawing/2014/main" id="{47AB98FC-6065-2643-A833-13AD08BA38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117762" name="备注占位符 2">
            <a:extLst>
              <a:ext uri="{FF2B5EF4-FFF2-40B4-BE49-F238E27FC236}">
                <a16:creationId xmlns:a16="http://schemas.microsoft.com/office/drawing/2014/main" id="{F466AA9F-3B21-1D4C-9B7D-AD323B0122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>
                <a:latin typeface="宋体" panose="02010600030101010101" pitchFamily="2" charset="-122"/>
              </a:rPr>
              <a:t>在命题逻辑中，对于含有有限个原子的命题公式来说，用真值表的方法，总可以在有限的步骤内确定它的真值，因此判定问题总是可解的。但是我们知道，这种方法并不理想，因为公式每增加一个原子，真值表的行数就增加一倍。为了给出另一种方法，我们将介绍命题公式的一种标准形式，即范式，两个命题公式是否等价及一个公式是否恒假</a:t>
            </a:r>
            <a:r>
              <a:rPr lang="zh-CN" altLang="en-US">
                <a:latin typeface="Arial" panose="020B0604020202020204" pitchFamily="34" charset="0"/>
              </a:rPr>
              <a:t>(</a:t>
            </a:r>
            <a:r>
              <a:rPr lang="zh-CN" altLang="en-US">
                <a:latin typeface="宋体" panose="02010600030101010101" pitchFamily="2" charset="-122"/>
              </a:rPr>
              <a:t>或恒真</a:t>
            </a:r>
            <a:r>
              <a:rPr lang="zh-CN" altLang="en-US">
                <a:latin typeface="Arial" panose="020B0604020202020204" pitchFamily="34" charset="0"/>
              </a:rPr>
              <a:t>)</a:t>
            </a:r>
            <a:r>
              <a:rPr lang="zh-CN" altLang="en-US">
                <a:latin typeface="宋体" panose="02010600030101010101" pitchFamily="2" charset="-122"/>
              </a:rPr>
              <a:t>的判定，都将由公式的范式来解决。</a:t>
            </a:r>
            <a:r>
              <a:rPr lang="zh-CN" altLang="en-US">
                <a:latin typeface="Arial" panose="020B0604020202020204" pitchFamily="34" charset="0"/>
              </a:rPr>
              <a:t> </a:t>
            </a:r>
          </a:p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17763" name="幻灯片编号占位符 3">
            <a:extLst>
              <a:ext uri="{FF2B5EF4-FFF2-40B4-BE49-F238E27FC236}">
                <a16:creationId xmlns:a16="http://schemas.microsoft.com/office/drawing/2014/main" id="{321685FB-9B75-B942-94AD-E60F36E4F7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6B88A6B-6C39-A540-A0F5-232E7B5F9929}" type="slidenum">
              <a:rPr lang="zh-CN" altLang="en-US" sz="1200">
                <a:latin typeface="Times New Roman" panose="02020603050405020304" pitchFamily="18" charset="0"/>
              </a:rPr>
              <a:pPr/>
              <a:t>69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9" name="Rectangle 7">
            <a:extLst>
              <a:ext uri="{FF2B5EF4-FFF2-40B4-BE49-F238E27FC236}">
                <a16:creationId xmlns:a16="http://schemas.microsoft.com/office/drawing/2014/main" id="{6A10EEA1-822C-C546-8395-688E7BC707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D477D97-0811-C349-B406-CF1B2AC5F0B3}" type="slidenum">
              <a:rPr lang="zh-CN" altLang="en-US" sz="1200">
                <a:latin typeface="Times New Roman" panose="02020603050405020304" pitchFamily="18" charset="0"/>
              </a:rPr>
              <a:pPr/>
              <a:t>70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119810" name="Rectangle 2">
            <a:extLst>
              <a:ext uri="{FF2B5EF4-FFF2-40B4-BE49-F238E27FC236}">
                <a16:creationId xmlns:a16="http://schemas.microsoft.com/office/drawing/2014/main" id="{279A7290-A1EB-9545-A99B-A85C0CBCF6A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1" name="Rectangle 3">
            <a:extLst>
              <a:ext uri="{FF2B5EF4-FFF2-40B4-BE49-F238E27FC236}">
                <a16:creationId xmlns:a16="http://schemas.microsoft.com/office/drawing/2014/main" id="{711242E5-C599-CE40-99E2-83C2BE54B0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7" name="Rectangle 7">
            <a:extLst>
              <a:ext uri="{FF2B5EF4-FFF2-40B4-BE49-F238E27FC236}">
                <a16:creationId xmlns:a16="http://schemas.microsoft.com/office/drawing/2014/main" id="{B982B6F9-4629-9143-88F7-AA08AC2C5ED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1493B27-D71C-5A46-AC85-D3736C2245B9}" type="slidenum">
              <a:rPr lang="zh-CN" altLang="en-US" sz="1200">
                <a:latin typeface="Times New Roman" panose="02020603050405020304" pitchFamily="18" charset="0"/>
              </a:rPr>
              <a:pPr/>
              <a:t>71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121858" name="Rectangle 2">
            <a:extLst>
              <a:ext uri="{FF2B5EF4-FFF2-40B4-BE49-F238E27FC236}">
                <a16:creationId xmlns:a16="http://schemas.microsoft.com/office/drawing/2014/main" id="{268EFCAD-4459-5C4A-8DB1-695DB55B12A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21859" name="Rectangle 3">
            <a:extLst>
              <a:ext uri="{FF2B5EF4-FFF2-40B4-BE49-F238E27FC236}">
                <a16:creationId xmlns:a16="http://schemas.microsoft.com/office/drawing/2014/main" id="{246FFA18-DC84-D74E-AAD8-FA29552B2A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5" name="Rectangle 7">
            <a:extLst>
              <a:ext uri="{FF2B5EF4-FFF2-40B4-BE49-F238E27FC236}">
                <a16:creationId xmlns:a16="http://schemas.microsoft.com/office/drawing/2014/main" id="{13365B3A-3857-1743-AB24-1E251CCFE2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D4212FB-11EB-9B45-B756-9CCB6AADA019}" type="slidenum">
              <a:rPr lang="zh-CN" altLang="en-US" sz="1200">
                <a:latin typeface="Times New Roman" panose="02020603050405020304" pitchFamily="18" charset="0"/>
              </a:rPr>
              <a:pPr/>
              <a:t>72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123906" name="Rectangle 2">
            <a:extLst>
              <a:ext uri="{FF2B5EF4-FFF2-40B4-BE49-F238E27FC236}">
                <a16:creationId xmlns:a16="http://schemas.microsoft.com/office/drawing/2014/main" id="{D8627939-CE67-034C-BB30-0EB7B34F6A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23907" name="Rectangle 3">
            <a:extLst>
              <a:ext uri="{FF2B5EF4-FFF2-40B4-BE49-F238E27FC236}">
                <a16:creationId xmlns:a16="http://schemas.microsoft.com/office/drawing/2014/main" id="{5757C228-AB1E-4647-A750-91A317D614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Rectangle 7">
            <a:extLst>
              <a:ext uri="{FF2B5EF4-FFF2-40B4-BE49-F238E27FC236}">
                <a16:creationId xmlns:a16="http://schemas.microsoft.com/office/drawing/2014/main" id="{31912A28-9026-DC4B-933D-27466CC4FA5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6417AAA-62B1-CE47-BA19-ADB6A1994F83}" type="slidenum">
              <a:rPr lang="zh-CN" altLang="en-US" sz="1200">
                <a:latin typeface="Times New Roman" panose="02020603050405020304" pitchFamily="18" charset="0"/>
              </a:rPr>
              <a:pPr/>
              <a:t>73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125954" name="Rectangle 2">
            <a:extLst>
              <a:ext uri="{FF2B5EF4-FFF2-40B4-BE49-F238E27FC236}">
                <a16:creationId xmlns:a16="http://schemas.microsoft.com/office/drawing/2014/main" id="{BB330EEC-2A59-AB4D-9BF2-5CF5F191EB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25955" name="Rectangle 3">
            <a:extLst>
              <a:ext uri="{FF2B5EF4-FFF2-40B4-BE49-F238E27FC236}">
                <a16:creationId xmlns:a16="http://schemas.microsoft.com/office/drawing/2014/main" id="{C97D42C8-F684-5C4E-BAFE-DF420A0357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zh-CN" altLang="en-US">
                <a:latin typeface="Arial" panose="020B0604020202020204" pitchFamily="34" charset="0"/>
              </a:rPr>
              <a:t>显然，一个公式的范式不是唯一的。那么我们是否可以定义一个统一的标准呢？就是主析取范式和主合取范式。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1" name="Rectangle 7">
            <a:extLst>
              <a:ext uri="{FF2B5EF4-FFF2-40B4-BE49-F238E27FC236}">
                <a16:creationId xmlns:a16="http://schemas.microsoft.com/office/drawing/2014/main" id="{CC2329DC-30B2-6044-B0C0-74C2490A33B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4E65C45-DC71-A949-ADCC-DFE562EAA5B6}" type="slidenum">
              <a:rPr lang="zh-CN" altLang="en-US" sz="1200">
                <a:latin typeface="Times New Roman" panose="02020603050405020304" pitchFamily="18" charset="0"/>
              </a:rPr>
              <a:pPr/>
              <a:t>74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128002" name="Rectangle 2">
            <a:extLst>
              <a:ext uri="{FF2B5EF4-FFF2-40B4-BE49-F238E27FC236}">
                <a16:creationId xmlns:a16="http://schemas.microsoft.com/office/drawing/2014/main" id="{FDDE6CA7-B764-B64A-8927-3AEB48BC1C9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28003" name="Rectangle 3">
            <a:extLst>
              <a:ext uri="{FF2B5EF4-FFF2-40B4-BE49-F238E27FC236}">
                <a16:creationId xmlns:a16="http://schemas.microsoft.com/office/drawing/2014/main" id="{AA50392D-7D2F-3C42-8955-7BD63A664B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49" name="Rectangle 7">
            <a:extLst>
              <a:ext uri="{FF2B5EF4-FFF2-40B4-BE49-F238E27FC236}">
                <a16:creationId xmlns:a16="http://schemas.microsoft.com/office/drawing/2014/main" id="{31CEA77C-7298-B849-A778-D12CF788BA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7F70B50-F292-6A4B-93AD-860AE8A5161A}" type="slidenum">
              <a:rPr lang="zh-CN" altLang="en-US" sz="1200">
                <a:latin typeface="Times New Roman" panose="02020603050405020304" pitchFamily="18" charset="0"/>
              </a:rPr>
              <a:pPr/>
              <a:t>75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130050" name="Rectangle 2">
            <a:extLst>
              <a:ext uri="{FF2B5EF4-FFF2-40B4-BE49-F238E27FC236}">
                <a16:creationId xmlns:a16="http://schemas.microsoft.com/office/drawing/2014/main" id="{E87979C1-F894-2F46-B3DB-52A6F1CE34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30051" name="Rectangle 3">
            <a:extLst>
              <a:ext uri="{FF2B5EF4-FFF2-40B4-BE49-F238E27FC236}">
                <a16:creationId xmlns:a16="http://schemas.microsoft.com/office/drawing/2014/main" id="{FBC6A9A4-0679-EE4C-810D-7425A545CB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7" name="Rectangle 7">
            <a:extLst>
              <a:ext uri="{FF2B5EF4-FFF2-40B4-BE49-F238E27FC236}">
                <a16:creationId xmlns:a16="http://schemas.microsoft.com/office/drawing/2014/main" id="{5B9B9350-C110-2B46-87EE-948D15F6177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8C8139F-ECD5-684D-BA20-9F4278E6320C}" type="slidenum">
              <a:rPr lang="zh-CN" altLang="en-US" sz="1200">
                <a:latin typeface="Times New Roman" panose="02020603050405020304" pitchFamily="18" charset="0"/>
              </a:rPr>
              <a:pPr/>
              <a:t>76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132098" name="Rectangle 2">
            <a:extLst>
              <a:ext uri="{FF2B5EF4-FFF2-40B4-BE49-F238E27FC236}">
                <a16:creationId xmlns:a16="http://schemas.microsoft.com/office/drawing/2014/main" id="{04CF2F03-141C-E043-A51D-E29879E177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32099" name="Rectangle 3">
            <a:extLst>
              <a:ext uri="{FF2B5EF4-FFF2-40B4-BE49-F238E27FC236}">
                <a16:creationId xmlns:a16="http://schemas.microsoft.com/office/drawing/2014/main" id="{590E375C-DAD9-8446-BBEE-14DD1B4504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5" name="Rectangle 7">
            <a:extLst>
              <a:ext uri="{FF2B5EF4-FFF2-40B4-BE49-F238E27FC236}">
                <a16:creationId xmlns:a16="http://schemas.microsoft.com/office/drawing/2014/main" id="{B79C6E76-C602-1D46-A6C1-D990A19EF2E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F1BAB38-AB27-F847-BCE0-1C00AE64D4EC}" type="slidenum">
              <a:rPr lang="zh-CN" altLang="en-US" sz="1200">
                <a:latin typeface="Times New Roman" panose="02020603050405020304" pitchFamily="18" charset="0"/>
              </a:rPr>
              <a:pPr/>
              <a:t>77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134146" name="Rectangle 2">
            <a:extLst>
              <a:ext uri="{FF2B5EF4-FFF2-40B4-BE49-F238E27FC236}">
                <a16:creationId xmlns:a16="http://schemas.microsoft.com/office/drawing/2014/main" id="{5C59E6AB-CAD1-3541-BDFB-9AFA8B2CAED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34147" name="Rectangle 3">
            <a:extLst>
              <a:ext uri="{FF2B5EF4-FFF2-40B4-BE49-F238E27FC236}">
                <a16:creationId xmlns:a16="http://schemas.microsoft.com/office/drawing/2014/main" id="{5B9D2F8E-F77F-BD4A-9610-8086BE2EC2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3" name="Rectangle 7">
            <a:extLst>
              <a:ext uri="{FF2B5EF4-FFF2-40B4-BE49-F238E27FC236}">
                <a16:creationId xmlns:a16="http://schemas.microsoft.com/office/drawing/2014/main" id="{A9F7B8F2-4A48-BE49-8B30-B3BC2CE68E7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3B37EAC-5DB3-1344-AE4A-9F7728474204}" type="slidenum">
              <a:rPr lang="zh-CN" altLang="en-US" sz="1200">
                <a:latin typeface="Times New Roman" panose="02020603050405020304" pitchFamily="18" charset="0"/>
              </a:rPr>
              <a:pPr/>
              <a:t>78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136194" name="Rectangle 2">
            <a:extLst>
              <a:ext uri="{FF2B5EF4-FFF2-40B4-BE49-F238E27FC236}">
                <a16:creationId xmlns:a16="http://schemas.microsoft.com/office/drawing/2014/main" id="{C35BF83B-9F70-5443-BCFE-C09A4051087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36195" name="Rectangle 3">
            <a:extLst>
              <a:ext uri="{FF2B5EF4-FFF2-40B4-BE49-F238E27FC236}">
                <a16:creationId xmlns:a16="http://schemas.microsoft.com/office/drawing/2014/main" id="{9845531D-0431-994A-8EE9-199DFF5CF1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1" name="Rectangle 7">
            <a:extLst>
              <a:ext uri="{FF2B5EF4-FFF2-40B4-BE49-F238E27FC236}">
                <a16:creationId xmlns:a16="http://schemas.microsoft.com/office/drawing/2014/main" id="{25B62976-9843-6A4C-BA8E-7D35A5B5D2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2AEF3DE-068A-4E45-B316-6D1AB904CE9A}" type="slidenum">
              <a:rPr lang="zh-CN" altLang="en-US" sz="1200">
                <a:latin typeface="Times New Roman" panose="02020603050405020304" pitchFamily="18" charset="0"/>
              </a:rPr>
              <a:pPr/>
              <a:t>79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138242" name="Rectangle 2">
            <a:extLst>
              <a:ext uri="{FF2B5EF4-FFF2-40B4-BE49-F238E27FC236}">
                <a16:creationId xmlns:a16="http://schemas.microsoft.com/office/drawing/2014/main" id="{3C579D70-FE75-A847-813B-2AE2FC5EF8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38243" name="Rectangle 3">
            <a:extLst>
              <a:ext uri="{FF2B5EF4-FFF2-40B4-BE49-F238E27FC236}">
                <a16:creationId xmlns:a16="http://schemas.microsoft.com/office/drawing/2014/main" id="{E33C6E6D-90B9-8144-9985-FBAA5DDD00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89" name="Rectangle 7">
            <a:extLst>
              <a:ext uri="{FF2B5EF4-FFF2-40B4-BE49-F238E27FC236}">
                <a16:creationId xmlns:a16="http://schemas.microsoft.com/office/drawing/2014/main" id="{30A4C5F9-5867-2942-822E-40A5C376AC1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6026655-FB44-8447-B52C-126C1F80BE54}" type="slidenum">
              <a:rPr lang="zh-CN" altLang="en-US" sz="1200">
                <a:latin typeface="Times New Roman" panose="02020603050405020304" pitchFamily="18" charset="0"/>
              </a:rPr>
              <a:pPr/>
              <a:t>80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140290" name="Rectangle 2">
            <a:extLst>
              <a:ext uri="{FF2B5EF4-FFF2-40B4-BE49-F238E27FC236}">
                <a16:creationId xmlns:a16="http://schemas.microsoft.com/office/drawing/2014/main" id="{06249EDE-A406-B246-9F8A-D94988E6EC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40291" name="Rectangle 3">
            <a:extLst>
              <a:ext uri="{FF2B5EF4-FFF2-40B4-BE49-F238E27FC236}">
                <a16:creationId xmlns:a16="http://schemas.microsoft.com/office/drawing/2014/main" id="{4593BA22-C44A-D04F-9578-290971830A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7" name="Rectangle 7">
            <a:extLst>
              <a:ext uri="{FF2B5EF4-FFF2-40B4-BE49-F238E27FC236}">
                <a16:creationId xmlns:a16="http://schemas.microsoft.com/office/drawing/2014/main" id="{744182E6-B7B2-E442-9AA0-D25F26F150C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B111237-F13D-9240-ACA2-4FF1F8C1688F}" type="slidenum">
              <a:rPr lang="zh-CN" altLang="en-US" sz="1200">
                <a:latin typeface="Times New Roman" panose="02020603050405020304" pitchFamily="18" charset="0"/>
              </a:rPr>
              <a:pPr/>
              <a:t>81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142338" name="Rectangle 2">
            <a:extLst>
              <a:ext uri="{FF2B5EF4-FFF2-40B4-BE49-F238E27FC236}">
                <a16:creationId xmlns:a16="http://schemas.microsoft.com/office/drawing/2014/main" id="{6563E067-D873-894D-8FCA-6E60D5E79E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42339" name="Rectangle 3">
            <a:extLst>
              <a:ext uri="{FF2B5EF4-FFF2-40B4-BE49-F238E27FC236}">
                <a16:creationId xmlns:a16="http://schemas.microsoft.com/office/drawing/2014/main" id="{C8B20B7F-6663-C048-9FD9-FED213B8EF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zh-CN" altLang="en-US">
                <a:latin typeface="宋体" panose="02010600030101010101" pitchFamily="2" charset="-122"/>
              </a:rPr>
              <a:t>该证明过程实际上已经给出了求公式的主析取范式的方法。</a:t>
            </a:r>
            <a:r>
              <a:rPr lang="zh-CN" altLang="en-US">
                <a:latin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5" name="Rectangle 7">
            <a:extLst>
              <a:ext uri="{FF2B5EF4-FFF2-40B4-BE49-F238E27FC236}">
                <a16:creationId xmlns:a16="http://schemas.microsoft.com/office/drawing/2014/main" id="{F7FA5EF8-F571-F247-9DCC-78281DE76D3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1AF920F-E556-BB48-97D9-61BB44C938D3}" type="slidenum">
              <a:rPr lang="zh-CN" altLang="en-US" sz="1200">
                <a:latin typeface="Times New Roman" panose="02020603050405020304" pitchFamily="18" charset="0"/>
              </a:rPr>
              <a:pPr/>
              <a:t>82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144386" name="Rectangle 2">
            <a:extLst>
              <a:ext uri="{FF2B5EF4-FFF2-40B4-BE49-F238E27FC236}">
                <a16:creationId xmlns:a16="http://schemas.microsoft.com/office/drawing/2014/main" id="{9403E948-7CEA-2949-95F6-4CB0F46E249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44387" name="Rectangle 3">
            <a:extLst>
              <a:ext uri="{FF2B5EF4-FFF2-40B4-BE49-F238E27FC236}">
                <a16:creationId xmlns:a16="http://schemas.microsoft.com/office/drawing/2014/main" id="{8054784C-37AE-4E4A-B8F3-AEB7AF5C5A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3" name="Rectangle 7">
            <a:extLst>
              <a:ext uri="{FF2B5EF4-FFF2-40B4-BE49-F238E27FC236}">
                <a16:creationId xmlns:a16="http://schemas.microsoft.com/office/drawing/2014/main" id="{03849EEF-DFA8-DB4E-9E1B-BB8FD1944D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100DF81-2D85-5540-9892-44CB0F373B25}" type="slidenum">
              <a:rPr lang="zh-CN" altLang="en-US" sz="1200">
                <a:latin typeface="Times New Roman" panose="02020603050405020304" pitchFamily="18" charset="0"/>
              </a:rPr>
              <a:pPr/>
              <a:t>83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146434" name="Rectangle 2">
            <a:extLst>
              <a:ext uri="{FF2B5EF4-FFF2-40B4-BE49-F238E27FC236}">
                <a16:creationId xmlns:a16="http://schemas.microsoft.com/office/drawing/2014/main" id="{CCCB77CE-7CDA-5A40-9FEF-ADEBD4062B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46435" name="Rectangle 3">
            <a:extLst>
              <a:ext uri="{FF2B5EF4-FFF2-40B4-BE49-F238E27FC236}">
                <a16:creationId xmlns:a16="http://schemas.microsoft.com/office/drawing/2014/main" id="{FC87DEC1-2F67-D74A-86B4-B5857B2EE2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zh-CN" altLang="en-US">
                <a:latin typeface="宋体" panose="02010600030101010101" pitchFamily="2" charset="-122"/>
              </a:rPr>
              <a:t>另一种方法：寻找与公式</a:t>
            </a:r>
            <a:r>
              <a:rPr lang="en-US" altLang="zh-CN">
                <a:latin typeface="Arial" panose="020B0604020202020204" pitchFamily="34" charset="0"/>
              </a:rPr>
              <a:t>G</a:t>
            </a:r>
            <a:r>
              <a:rPr lang="zh-CN" altLang="en-US">
                <a:latin typeface="宋体" panose="02010600030101010101" pitchFamily="2" charset="-122"/>
              </a:rPr>
              <a:t>等价的主析取范式，也可以通过真值表来做。</a:t>
            </a:r>
            <a:r>
              <a:rPr lang="zh-CN" altLang="en-US">
                <a:latin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1" name="Rectangle 7">
            <a:extLst>
              <a:ext uri="{FF2B5EF4-FFF2-40B4-BE49-F238E27FC236}">
                <a16:creationId xmlns:a16="http://schemas.microsoft.com/office/drawing/2014/main" id="{4E11D3E3-252F-4D44-B1ED-091CAEBAA3E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141F684-F576-4D41-8841-FEF311895EFD}" type="slidenum">
              <a:rPr lang="zh-CN" altLang="en-US" sz="1200">
                <a:latin typeface="Times New Roman" panose="02020603050405020304" pitchFamily="18" charset="0"/>
              </a:rPr>
              <a:pPr/>
              <a:t>84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148482" name="Rectangle 2">
            <a:extLst>
              <a:ext uri="{FF2B5EF4-FFF2-40B4-BE49-F238E27FC236}">
                <a16:creationId xmlns:a16="http://schemas.microsoft.com/office/drawing/2014/main" id="{CFEC17E0-3175-0E4B-9CE4-F2F7ABBE16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48483" name="Rectangle 3">
            <a:extLst>
              <a:ext uri="{FF2B5EF4-FFF2-40B4-BE49-F238E27FC236}">
                <a16:creationId xmlns:a16="http://schemas.microsoft.com/office/drawing/2014/main" id="{24CF5605-DE85-D944-B137-F91F4A4592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zh-CN" altLang="en-US">
                <a:latin typeface="Arial" panose="020B0604020202020204" pitchFamily="34" charset="0"/>
              </a:rPr>
              <a:t>确实是析取范式没有问题，因为就是这样写的。关键是在于是否等价于原来的</a:t>
            </a:r>
            <a:r>
              <a:rPr lang="en-US" altLang="zh-CN">
                <a:latin typeface="Arial" panose="020B0604020202020204" pitchFamily="34" charset="0"/>
              </a:rPr>
              <a:t>G</a:t>
            </a:r>
            <a:r>
              <a:rPr lang="zh-CN" altLang="en-US">
                <a:latin typeface="Arial" panose="020B0604020202020204" pitchFamily="34" charset="0"/>
              </a:rPr>
              <a:t>。要判断是否等价，就判断对于所有的解释</a:t>
            </a:r>
            <a:r>
              <a:rPr lang="en-US" altLang="zh-CN">
                <a:latin typeface="Arial" panose="020B0604020202020204" pitchFamily="34" charset="0"/>
              </a:rPr>
              <a:t>I</a:t>
            </a:r>
            <a:r>
              <a:rPr lang="zh-CN" altLang="en-US">
                <a:latin typeface="Arial" panose="020B0604020202020204" pitchFamily="34" charset="0"/>
              </a:rPr>
              <a:t>，使</a:t>
            </a:r>
            <a:r>
              <a:rPr lang="en-US" altLang="zh-CN">
                <a:latin typeface="Arial" panose="020B0604020202020204" pitchFamily="34" charset="0"/>
              </a:rPr>
              <a:t>G</a:t>
            </a:r>
            <a:r>
              <a:rPr lang="zh-CN" altLang="en-US">
                <a:latin typeface="Arial" panose="020B0604020202020204" pitchFamily="34" charset="0"/>
              </a:rPr>
              <a:t>为</a:t>
            </a:r>
            <a:r>
              <a:rPr lang="en-US" altLang="zh-CN">
                <a:latin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</a:rPr>
              <a:t>则</a:t>
            </a:r>
            <a:r>
              <a:rPr lang="en-US" altLang="zh-CN">
                <a:latin typeface="Arial" panose="020B0604020202020204" pitchFamily="34" charset="0"/>
              </a:rPr>
              <a:t>G</a:t>
            </a:r>
            <a:r>
              <a:rPr lang="en-US" altLang="zh-CN">
                <a:latin typeface="Times New Roman" panose="02020603050405020304" pitchFamily="18" charset="0"/>
              </a:rPr>
              <a:t>‘</a:t>
            </a:r>
            <a:r>
              <a:rPr lang="zh-CN" altLang="en-US">
                <a:latin typeface="Arial" panose="020B0604020202020204" pitchFamily="34" charset="0"/>
              </a:rPr>
              <a:t>也为</a:t>
            </a:r>
            <a:r>
              <a:rPr lang="en-US" altLang="zh-CN">
                <a:latin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</a:rPr>
              <a:t>；使</a:t>
            </a:r>
            <a:r>
              <a:rPr lang="en-US" altLang="zh-CN">
                <a:latin typeface="Arial" panose="020B0604020202020204" pitchFamily="34" charset="0"/>
              </a:rPr>
              <a:t>G</a:t>
            </a:r>
            <a:r>
              <a:rPr lang="zh-CN" altLang="en-US">
                <a:latin typeface="Arial" panose="020B0604020202020204" pitchFamily="34" charset="0"/>
              </a:rPr>
              <a:t>为</a:t>
            </a:r>
            <a:r>
              <a:rPr lang="en-US" altLang="zh-CN">
                <a:latin typeface="Arial" panose="020B0604020202020204" pitchFamily="34" charset="0"/>
              </a:rPr>
              <a:t>0</a:t>
            </a:r>
            <a:r>
              <a:rPr lang="zh-CN" altLang="en-US">
                <a:latin typeface="Arial" panose="020B0604020202020204" pitchFamily="34" charset="0"/>
              </a:rPr>
              <a:t>则</a:t>
            </a:r>
            <a:r>
              <a:rPr lang="en-US" altLang="zh-CN">
                <a:latin typeface="Arial" panose="020B0604020202020204" pitchFamily="34" charset="0"/>
              </a:rPr>
              <a:t>G</a:t>
            </a:r>
            <a:r>
              <a:rPr lang="en-US" altLang="zh-CN">
                <a:latin typeface="Times New Roman" panose="02020603050405020304" pitchFamily="18" charset="0"/>
              </a:rPr>
              <a:t>’</a:t>
            </a:r>
            <a:r>
              <a:rPr lang="zh-CN" altLang="en-US">
                <a:latin typeface="Arial" panose="020B0604020202020204" pitchFamily="34" charset="0"/>
              </a:rPr>
              <a:t>也为</a:t>
            </a:r>
            <a:r>
              <a:rPr lang="en-US" altLang="zh-CN">
                <a:latin typeface="Arial" panose="020B0604020202020204" pitchFamily="34" charset="0"/>
              </a:rPr>
              <a:t>0</a:t>
            </a:r>
            <a:r>
              <a:rPr lang="zh-CN" altLang="en-US">
                <a:latin typeface="Arial" panose="020B0604020202020204" pitchFamily="34" charset="0"/>
              </a:rPr>
              <a:t>。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29" name="Rectangle 7">
            <a:extLst>
              <a:ext uri="{FF2B5EF4-FFF2-40B4-BE49-F238E27FC236}">
                <a16:creationId xmlns:a16="http://schemas.microsoft.com/office/drawing/2014/main" id="{A61C6688-E03D-BD4F-A4EE-9FE3FF0E62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BCD2AE8-56D5-624E-8939-768D3A4CF933}" type="slidenum">
              <a:rPr lang="zh-CN" altLang="en-US" sz="1200">
                <a:latin typeface="Times New Roman" panose="02020603050405020304" pitchFamily="18" charset="0"/>
              </a:rPr>
              <a:pPr/>
              <a:t>85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150530" name="Rectangle 2">
            <a:extLst>
              <a:ext uri="{FF2B5EF4-FFF2-40B4-BE49-F238E27FC236}">
                <a16:creationId xmlns:a16="http://schemas.microsoft.com/office/drawing/2014/main" id="{ADCBCA4E-8DF8-D349-9ABB-D59DC3A4A92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50531" name="Rectangle 3">
            <a:extLst>
              <a:ext uri="{FF2B5EF4-FFF2-40B4-BE49-F238E27FC236}">
                <a16:creationId xmlns:a16="http://schemas.microsoft.com/office/drawing/2014/main" id="{17EED315-E4D2-3A49-83FF-9C0F404C8E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zh-CN" altLang="en-US">
                <a:latin typeface="Arial" panose="020B0604020202020204" pitchFamily="34" charset="0"/>
              </a:rPr>
              <a:t>只要有一个解释</a:t>
            </a:r>
            <a:r>
              <a:rPr lang="en-US" altLang="zh-CN">
                <a:latin typeface="Arial" panose="020B0604020202020204" pitchFamily="34" charset="0"/>
              </a:rPr>
              <a:t>I</a:t>
            </a:r>
            <a:r>
              <a:rPr lang="zh-CN" altLang="en-US">
                <a:latin typeface="Arial" panose="020B0604020202020204" pitchFamily="34" charset="0"/>
              </a:rPr>
              <a:t>，使得</a:t>
            </a:r>
            <a:r>
              <a:rPr lang="en-US" altLang="zh-CN">
                <a:latin typeface="Arial" panose="020B0604020202020204" pitchFamily="34" charset="0"/>
              </a:rPr>
              <a:t>G</a:t>
            </a:r>
            <a:r>
              <a:rPr lang="zh-CN" altLang="en-US">
                <a:latin typeface="Arial" panose="020B0604020202020204" pitchFamily="34" charset="0"/>
              </a:rPr>
              <a:t>为</a:t>
            </a:r>
            <a:r>
              <a:rPr lang="en-US" altLang="zh-CN">
                <a:latin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</a:rPr>
              <a:t>而</a:t>
            </a:r>
            <a:r>
              <a:rPr lang="en-US" altLang="zh-CN">
                <a:latin typeface="Arial" panose="020B0604020202020204" pitchFamily="34" charset="0"/>
              </a:rPr>
              <a:t>H</a:t>
            </a:r>
            <a:r>
              <a:rPr lang="zh-CN" altLang="en-US">
                <a:latin typeface="Arial" panose="020B0604020202020204" pitchFamily="34" charset="0"/>
              </a:rPr>
              <a:t>为</a:t>
            </a:r>
            <a:r>
              <a:rPr lang="en-US" altLang="zh-CN">
                <a:latin typeface="Arial" panose="020B0604020202020204" pitchFamily="34" charset="0"/>
              </a:rPr>
              <a:t>0</a:t>
            </a:r>
            <a:r>
              <a:rPr lang="zh-CN" altLang="en-US">
                <a:latin typeface="Arial" panose="020B0604020202020204" pitchFamily="34" charset="0"/>
              </a:rPr>
              <a:t>，则</a:t>
            </a:r>
            <a:r>
              <a:rPr lang="en-US" altLang="zh-CN">
                <a:latin typeface="Arial" panose="020B0604020202020204" pitchFamily="34" charset="0"/>
              </a:rPr>
              <a:t>GH</a:t>
            </a:r>
            <a:r>
              <a:rPr lang="zh-CN" altLang="en-US">
                <a:latin typeface="Arial" panose="020B0604020202020204" pitchFamily="34" charset="0"/>
              </a:rPr>
              <a:t>就不等价。</a:t>
            </a:r>
          </a:p>
          <a:p>
            <a:pPr eaLnBrk="1" hangingPunct="1"/>
            <a:r>
              <a:rPr lang="zh-CN" altLang="en-US">
                <a:latin typeface="Arial" panose="020B0604020202020204" pitchFamily="34" charset="0"/>
              </a:rPr>
              <a:t>那么有这样一个解释</a:t>
            </a:r>
            <a:r>
              <a:rPr lang="en-US" altLang="zh-CN">
                <a:latin typeface="Arial" panose="020B0604020202020204" pitchFamily="34" charset="0"/>
              </a:rPr>
              <a:t>Ii</a:t>
            </a:r>
            <a:r>
              <a:rPr lang="zh-CN" altLang="en-US">
                <a:latin typeface="Arial" panose="020B0604020202020204" pitchFamily="34" charset="0"/>
              </a:rPr>
              <a:t>，使得</a:t>
            </a:r>
            <a:r>
              <a:rPr lang="en-US" altLang="zh-CN">
                <a:latin typeface="Arial" panose="020B0604020202020204" pitchFamily="34" charset="0"/>
              </a:rPr>
              <a:t>G</a:t>
            </a:r>
            <a:r>
              <a:rPr lang="zh-CN" altLang="en-US">
                <a:latin typeface="Arial" panose="020B0604020202020204" pitchFamily="34" charset="0"/>
              </a:rPr>
              <a:t>为</a:t>
            </a:r>
            <a:r>
              <a:rPr lang="en-US" altLang="zh-CN">
                <a:latin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</a:rPr>
              <a:t>，而唯一使在</a:t>
            </a:r>
            <a:r>
              <a:rPr lang="en-US" altLang="zh-CN">
                <a:latin typeface="Arial" panose="020B0604020202020204" pitchFamily="34" charset="0"/>
              </a:rPr>
              <a:t>Ii</a:t>
            </a:r>
            <a:r>
              <a:rPr lang="zh-CN" altLang="en-US">
                <a:latin typeface="Arial" panose="020B0604020202020204" pitchFamily="34" charset="0"/>
              </a:rPr>
              <a:t>下为</a:t>
            </a:r>
            <a:r>
              <a:rPr lang="en-US" altLang="zh-CN">
                <a:latin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</a:rPr>
              <a:t>的最小项不在</a:t>
            </a:r>
            <a:r>
              <a:rPr lang="en-US" altLang="zh-CN">
                <a:latin typeface="Arial" panose="020B0604020202020204" pitchFamily="34" charset="0"/>
              </a:rPr>
              <a:t>H</a:t>
            </a:r>
            <a:r>
              <a:rPr lang="zh-CN" altLang="en-US">
                <a:latin typeface="Arial" panose="020B0604020202020204" pitchFamily="34" charset="0"/>
              </a:rPr>
              <a:t>中，其他在的都为</a:t>
            </a:r>
            <a:r>
              <a:rPr lang="en-US" altLang="zh-CN">
                <a:latin typeface="Arial" panose="020B0604020202020204" pitchFamily="34" charset="0"/>
              </a:rPr>
              <a:t>0</a:t>
            </a:r>
            <a:r>
              <a:rPr lang="zh-CN" altLang="en-US">
                <a:latin typeface="Arial" panose="020B0604020202020204" pitchFamily="34" charset="0"/>
              </a:rPr>
              <a:t>，所以</a:t>
            </a:r>
            <a:r>
              <a:rPr lang="en-US" altLang="zh-CN">
                <a:latin typeface="Arial" panose="020B0604020202020204" pitchFamily="34" charset="0"/>
              </a:rPr>
              <a:t>H</a:t>
            </a:r>
            <a:r>
              <a:rPr lang="zh-CN" altLang="en-US">
                <a:latin typeface="Arial" panose="020B0604020202020204" pitchFamily="34" charset="0"/>
              </a:rPr>
              <a:t>为</a:t>
            </a:r>
            <a:r>
              <a:rPr lang="en-US" altLang="zh-CN">
                <a:latin typeface="Arial" panose="020B0604020202020204" pitchFamily="34" charset="0"/>
              </a:rPr>
              <a:t>0</a:t>
            </a:r>
            <a:r>
              <a:rPr lang="zh-CN" altLang="en-US">
                <a:latin typeface="Arial" panose="020B0604020202020204" pitchFamily="34" charset="0"/>
              </a:rPr>
              <a:t>；</a:t>
            </a:r>
          </a:p>
          <a:p>
            <a:pPr eaLnBrk="1" hangingPunct="1"/>
            <a:r>
              <a:rPr lang="zh-CN" altLang="en-US">
                <a:latin typeface="Arial" panose="020B0604020202020204" pitchFamily="34" charset="0"/>
              </a:rPr>
              <a:t>因此在</a:t>
            </a:r>
            <a:r>
              <a:rPr lang="en-US" altLang="zh-CN">
                <a:latin typeface="Arial" panose="020B0604020202020204" pitchFamily="34" charset="0"/>
              </a:rPr>
              <a:t>Ii</a:t>
            </a:r>
            <a:r>
              <a:rPr lang="zh-CN" altLang="en-US">
                <a:latin typeface="Arial" panose="020B0604020202020204" pitchFamily="34" charset="0"/>
              </a:rPr>
              <a:t>下，</a:t>
            </a:r>
            <a:r>
              <a:rPr lang="en-US" altLang="zh-CN">
                <a:latin typeface="Arial" panose="020B0604020202020204" pitchFamily="34" charset="0"/>
              </a:rPr>
              <a:t>G</a:t>
            </a:r>
            <a:r>
              <a:rPr lang="zh-CN" altLang="en-US">
                <a:latin typeface="Arial" panose="020B0604020202020204" pitchFamily="34" charset="0"/>
              </a:rPr>
              <a:t>为</a:t>
            </a:r>
            <a:r>
              <a:rPr lang="en-US" altLang="zh-CN">
                <a:latin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</a:rPr>
              <a:t>而</a:t>
            </a:r>
            <a:r>
              <a:rPr lang="en-US" altLang="zh-CN">
                <a:latin typeface="Arial" panose="020B0604020202020204" pitchFamily="34" charset="0"/>
              </a:rPr>
              <a:t>H</a:t>
            </a:r>
            <a:r>
              <a:rPr lang="zh-CN" altLang="en-US">
                <a:latin typeface="Arial" panose="020B0604020202020204" pitchFamily="34" charset="0"/>
              </a:rPr>
              <a:t>为</a:t>
            </a:r>
            <a:r>
              <a:rPr lang="en-US" altLang="zh-CN">
                <a:latin typeface="Arial" panose="020B0604020202020204" pitchFamily="34" charset="0"/>
              </a:rPr>
              <a:t>0</a:t>
            </a:r>
            <a:r>
              <a:rPr lang="zh-CN" altLang="en-US">
                <a:latin typeface="Arial" panose="020B0604020202020204" pitchFamily="34" charset="0"/>
              </a:rPr>
              <a:t>，不等价。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7" name="Rectangle 7">
            <a:extLst>
              <a:ext uri="{FF2B5EF4-FFF2-40B4-BE49-F238E27FC236}">
                <a16:creationId xmlns:a16="http://schemas.microsoft.com/office/drawing/2014/main" id="{D2A9B2CC-1424-1744-9C2B-F21C24B921D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4F57945-1193-E14A-8900-D3A6A291B4AB}" type="slidenum">
              <a:rPr lang="zh-CN" altLang="en-US" sz="1200">
                <a:latin typeface="Times New Roman" panose="02020603050405020304" pitchFamily="18" charset="0"/>
              </a:rPr>
              <a:pPr/>
              <a:t>86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152578" name="Rectangle 2">
            <a:extLst>
              <a:ext uri="{FF2B5EF4-FFF2-40B4-BE49-F238E27FC236}">
                <a16:creationId xmlns:a16="http://schemas.microsoft.com/office/drawing/2014/main" id="{B3DA1B30-D768-3B42-BEE7-38F7E6BBED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52579" name="Rectangle 3">
            <a:extLst>
              <a:ext uri="{FF2B5EF4-FFF2-40B4-BE49-F238E27FC236}">
                <a16:creationId xmlns:a16="http://schemas.microsoft.com/office/drawing/2014/main" id="{63ECAA0C-8CD4-9741-ADC5-42D7E6153D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5" name="Rectangle 7">
            <a:extLst>
              <a:ext uri="{FF2B5EF4-FFF2-40B4-BE49-F238E27FC236}">
                <a16:creationId xmlns:a16="http://schemas.microsoft.com/office/drawing/2014/main" id="{E3099874-4E38-1B4C-AA82-72259BA5EC2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ABD9472-786D-604C-B27B-D332B8A604FB}" type="slidenum">
              <a:rPr lang="zh-CN" altLang="en-US" sz="1200">
                <a:latin typeface="Times New Roman" panose="02020603050405020304" pitchFamily="18" charset="0"/>
              </a:rPr>
              <a:pPr/>
              <a:t>87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154626" name="Rectangle 2">
            <a:extLst>
              <a:ext uri="{FF2B5EF4-FFF2-40B4-BE49-F238E27FC236}">
                <a16:creationId xmlns:a16="http://schemas.microsoft.com/office/drawing/2014/main" id="{A7E2509D-A636-CA40-A7EC-40B676EE0BB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54627" name="Rectangle 3">
            <a:extLst>
              <a:ext uri="{FF2B5EF4-FFF2-40B4-BE49-F238E27FC236}">
                <a16:creationId xmlns:a16="http://schemas.microsoft.com/office/drawing/2014/main" id="{851D1164-FBD3-DE43-BB4A-1E0A20CC12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3" name="Rectangle 7">
            <a:extLst>
              <a:ext uri="{FF2B5EF4-FFF2-40B4-BE49-F238E27FC236}">
                <a16:creationId xmlns:a16="http://schemas.microsoft.com/office/drawing/2014/main" id="{6F6BF6DA-76CA-DC43-B48A-4EDEBB2A912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4D218F0-9766-6247-825C-AB9A32E32655}" type="slidenum">
              <a:rPr lang="zh-CN" altLang="en-US" sz="1200">
                <a:latin typeface="Times New Roman" panose="02020603050405020304" pitchFamily="18" charset="0"/>
              </a:rPr>
              <a:pPr/>
              <a:t>88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156674" name="Rectangle 2">
            <a:extLst>
              <a:ext uri="{FF2B5EF4-FFF2-40B4-BE49-F238E27FC236}">
                <a16:creationId xmlns:a16="http://schemas.microsoft.com/office/drawing/2014/main" id="{E54AD7A1-E6EC-3F47-9B71-F02628FE2EC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56675" name="Rectangle 3">
            <a:extLst>
              <a:ext uri="{FF2B5EF4-FFF2-40B4-BE49-F238E27FC236}">
                <a16:creationId xmlns:a16="http://schemas.microsoft.com/office/drawing/2014/main" id="{D3C670E9-0FDF-2049-9997-EADA9DA8D8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1" name="Rectangle 7">
            <a:extLst>
              <a:ext uri="{FF2B5EF4-FFF2-40B4-BE49-F238E27FC236}">
                <a16:creationId xmlns:a16="http://schemas.microsoft.com/office/drawing/2014/main" id="{33F1ED29-8516-FA44-82E5-BF58C79457E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A816A43-CFD9-564B-9A47-10F6F7177B38}" type="slidenum">
              <a:rPr lang="zh-CN" altLang="en-US" sz="1200">
                <a:latin typeface="Times New Roman" panose="02020603050405020304" pitchFamily="18" charset="0"/>
              </a:rPr>
              <a:pPr/>
              <a:t>89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158722" name="Rectangle 2">
            <a:extLst>
              <a:ext uri="{FF2B5EF4-FFF2-40B4-BE49-F238E27FC236}">
                <a16:creationId xmlns:a16="http://schemas.microsoft.com/office/drawing/2014/main" id="{2298B85B-E9BE-D946-A0F4-20ACEA163E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58723" name="Rectangle 3">
            <a:extLst>
              <a:ext uri="{FF2B5EF4-FFF2-40B4-BE49-F238E27FC236}">
                <a16:creationId xmlns:a16="http://schemas.microsoft.com/office/drawing/2014/main" id="{237D6414-5FCB-6841-8BAD-4F5080B437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69" name="Rectangle 7">
            <a:extLst>
              <a:ext uri="{FF2B5EF4-FFF2-40B4-BE49-F238E27FC236}">
                <a16:creationId xmlns:a16="http://schemas.microsoft.com/office/drawing/2014/main" id="{5C047269-8982-E24E-8F4B-79B00E99053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268AEB9-A41C-A049-826F-91B7C3EDC9F7}" type="slidenum">
              <a:rPr lang="zh-CN" altLang="en-US" sz="1200">
                <a:latin typeface="Times New Roman" panose="02020603050405020304" pitchFamily="18" charset="0"/>
              </a:rPr>
              <a:pPr/>
              <a:t>90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160770" name="Rectangle 2">
            <a:extLst>
              <a:ext uri="{FF2B5EF4-FFF2-40B4-BE49-F238E27FC236}">
                <a16:creationId xmlns:a16="http://schemas.microsoft.com/office/drawing/2014/main" id="{55804D9E-BF56-6849-BCFD-7C02223706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60771" name="Rectangle 3">
            <a:extLst>
              <a:ext uri="{FF2B5EF4-FFF2-40B4-BE49-F238E27FC236}">
                <a16:creationId xmlns:a16="http://schemas.microsoft.com/office/drawing/2014/main" id="{37CA8FB9-E418-DF4F-8054-C1C343E478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7" name="Rectangle 7">
            <a:extLst>
              <a:ext uri="{FF2B5EF4-FFF2-40B4-BE49-F238E27FC236}">
                <a16:creationId xmlns:a16="http://schemas.microsoft.com/office/drawing/2014/main" id="{718D1D76-6B85-FD4C-9A60-085DB268422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A903D99-D5B9-844A-A9C5-8E9C7D7C0917}" type="slidenum">
              <a:rPr lang="zh-CN" altLang="en-US" sz="1200">
                <a:latin typeface="Times New Roman" panose="02020603050405020304" pitchFamily="18" charset="0"/>
              </a:rPr>
              <a:pPr/>
              <a:t>91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162818" name="Rectangle 2">
            <a:extLst>
              <a:ext uri="{FF2B5EF4-FFF2-40B4-BE49-F238E27FC236}">
                <a16:creationId xmlns:a16="http://schemas.microsoft.com/office/drawing/2014/main" id="{BDFD1248-CFD0-B946-86C6-0F10A250010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62819" name="Rectangle 3">
            <a:extLst>
              <a:ext uri="{FF2B5EF4-FFF2-40B4-BE49-F238E27FC236}">
                <a16:creationId xmlns:a16="http://schemas.microsoft.com/office/drawing/2014/main" id="{226F4F89-713D-7F49-A2A1-E3B5DBB40B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5" name="Rectangle 7">
            <a:extLst>
              <a:ext uri="{FF2B5EF4-FFF2-40B4-BE49-F238E27FC236}">
                <a16:creationId xmlns:a16="http://schemas.microsoft.com/office/drawing/2014/main" id="{A2879AAD-C704-4C4B-9A6D-306E20BF2F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E60E049-3D14-2A4C-9A1B-3CFFE60007DE}" type="slidenum">
              <a:rPr lang="zh-CN" altLang="en-US" sz="1200">
                <a:latin typeface="Times New Roman" panose="02020603050405020304" pitchFamily="18" charset="0"/>
              </a:rPr>
              <a:pPr/>
              <a:t>92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164866" name="Rectangle 2">
            <a:extLst>
              <a:ext uri="{FF2B5EF4-FFF2-40B4-BE49-F238E27FC236}">
                <a16:creationId xmlns:a16="http://schemas.microsoft.com/office/drawing/2014/main" id="{79282B60-0070-6248-9E44-B6369DAAF10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64867" name="Rectangle 3">
            <a:extLst>
              <a:ext uri="{FF2B5EF4-FFF2-40B4-BE49-F238E27FC236}">
                <a16:creationId xmlns:a16="http://schemas.microsoft.com/office/drawing/2014/main" id="{29CAC239-C56D-EF4E-99B3-C1B26C4F04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5" name="Slide Image Placeholder 1">
            <a:extLst>
              <a:ext uri="{FF2B5EF4-FFF2-40B4-BE49-F238E27FC236}">
                <a16:creationId xmlns:a16="http://schemas.microsoft.com/office/drawing/2014/main" id="{053F3CC5-0E1E-DF45-A4ED-F0F8057DA8C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9986" name="Notes Placeholder 2">
            <a:extLst>
              <a:ext uri="{FF2B5EF4-FFF2-40B4-BE49-F238E27FC236}">
                <a16:creationId xmlns:a16="http://schemas.microsoft.com/office/drawing/2014/main" id="{87F866A3-C933-F24D-B764-039AC2C4A8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69987" name="Slide Number Placeholder 3">
            <a:extLst>
              <a:ext uri="{FF2B5EF4-FFF2-40B4-BE49-F238E27FC236}">
                <a16:creationId xmlns:a16="http://schemas.microsoft.com/office/drawing/2014/main" id="{C64FFF95-E0AF-CF46-B5E3-EF95447FFC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58745D4-F040-034C-BD9A-DFD37C6912E3}" type="slidenum">
              <a:rPr lang="zh-CN" altLang="en-US" sz="1200">
                <a:latin typeface="Times New Roman" panose="02020603050405020304" pitchFamily="18" charset="0"/>
              </a:rPr>
              <a:pPr/>
              <a:t>96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7" name="Slide Image Placeholder 1">
            <a:extLst>
              <a:ext uri="{FF2B5EF4-FFF2-40B4-BE49-F238E27FC236}">
                <a16:creationId xmlns:a16="http://schemas.microsoft.com/office/drawing/2014/main" id="{AA87FFD2-2E41-C645-A149-FE4817238A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3058" name="Notes Placeholder 2">
            <a:extLst>
              <a:ext uri="{FF2B5EF4-FFF2-40B4-BE49-F238E27FC236}">
                <a16:creationId xmlns:a16="http://schemas.microsoft.com/office/drawing/2014/main" id="{CD334879-8C2E-FB4E-9E62-CF1AB1E279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kumimoji="0" lang="en-US" altLang="zh-CN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M</a:t>
            </a:r>
            <a:r>
              <a:rPr kumimoji="0" lang="en-US" altLang="zh-CN" baseline="-300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0</a:t>
            </a:r>
            <a:r>
              <a:rPr lang="en-US" altLang="zh-CN">
                <a:latin typeface="Arial" panose="020B0604020202020204" pitchFamily="34" charset="0"/>
              </a:rPr>
              <a:t>=</a:t>
            </a:r>
            <a:r>
              <a:rPr kumimoji="0" lang="en-US" altLang="zh-CN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M</a:t>
            </a:r>
            <a:r>
              <a:rPr kumimoji="0" lang="en-US" altLang="zh-CN" baseline="-300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1</a:t>
            </a:r>
            <a:r>
              <a:rPr kumimoji="0" lang="en-US" altLang="zh-CN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M</a:t>
            </a:r>
            <a:r>
              <a:rPr kumimoji="0" lang="en-US" altLang="zh-CN" baseline="-300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2</a:t>
            </a:r>
            <a:r>
              <a:rPr kumimoji="0" lang="en-US" altLang="zh-CN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…M</a:t>
            </a:r>
            <a:r>
              <a:rPr kumimoji="0" lang="en-US" altLang="zh-CN" baseline="-300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7</a:t>
            </a:r>
          </a:p>
          <a:p>
            <a:r>
              <a:rPr kumimoji="0" lang="zh-CN" altLang="en-US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因为：</a:t>
            </a:r>
            <a:r>
              <a:rPr kumimoji="0" lang="en-US" altLang="zh-CN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	</a:t>
            </a:r>
            <a:r>
              <a:rPr kumimoji="0" lang="zh-CN" altLang="en-US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解释</a:t>
            </a:r>
            <a:r>
              <a:rPr kumimoji="0" lang="en-US" altLang="zh-CN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000</a:t>
            </a:r>
            <a:r>
              <a:rPr kumimoji="0" lang="zh-CN" altLang="en-US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使得左边为</a:t>
            </a:r>
            <a:r>
              <a:rPr kumimoji="0" lang="en-US" altLang="zh-CN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1</a:t>
            </a:r>
            <a:r>
              <a:rPr kumimoji="0" lang="zh-CN" altLang="en-US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，右边也为</a:t>
            </a:r>
            <a:r>
              <a:rPr kumimoji="0" lang="en-US" altLang="zh-CN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1</a:t>
            </a:r>
            <a:r>
              <a:rPr kumimoji="0" lang="zh-CN" altLang="en-US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；</a:t>
            </a:r>
            <a:endParaRPr kumimoji="0" lang="en-US" altLang="zh-CN">
              <a:latin typeface="Arial" panose="020B0604020202020204" pitchFamily="34" charset="0"/>
              <a:ea typeface="楷体_GB2312" pitchFamily="1" charset="-122"/>
              <a:sym typeface="Symbol" pitchFamily="2" charset="2"/>
            </a:endParaRPr>
          </a:p>
          <a:p>
            <a:r>
              <a:rPr kumimoji="0" lang="en-US" altLang="zh-CN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	</a:t>
            </a:r>
            <a:r>
              <a:rPr kumimoji="0" lang="zh-CN" altLang="en-US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其他解释使得左边为</a:t>
            </a:r>
            <a:r>
              <a:rPr kumimoji="0" lang="en-US" altLang="zh-CN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0</a:t>
            </a:r>
            <a:r>
              <a:rPr kumimoji="0" lang="zh-CN" altLang="en-US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，右边也都为</a:t>
            </a:r>
            <a:r>
              <a:rPr kumimoji="0" lang="en-US" altLang="zh-CN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0.</a:t>
            </a:r>
          </a:p>
          <a:p>
            <a:r>
              <a:rPr kumimoji="0" lang="zh-CN" altLang="en-US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所以两个公式等价。</a:t>
            </a: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73059" name="Slide Number Placeholder 3">
            <a:extLst>
              <a:ext uri="{FF2B5EF4-FFF2-40B4-BE49-F238E27FC236}">
                <a16:creationId xmlns:a16="http://schemas.microsoft.com/office/drawing/2014/main" id="{B1E47F6B-70B8-C347-8E3D-9EA3A83710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3C0ED73-ABBB-344A-9906-DE5658B73E02}" type="slidenum">
              <a:rPr lang="zh-CN" altLang="en-US" sz="1200">
                <a:latin typeface="Times New Roman" panose="02020603050405020304" pitchFamily="18" charset="0"/>
              </a:rPr>
              <a:pPr/>
              <a:t>98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29" name="Slide Image Placeholder 1">
            <a:extLst>
              <a:ext uri="{FF2B5EF4-FFF2-40B4-BE49-F238E27FC236}">
                <a16:creationId xmlns:a16="http://schemas.microsoft.com/office/drawing/2014/main" id="{D47D442A-7F45-CE48-9C9A-4D68CA02BA0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76130" name="Notes Placeholder 2">
            <a:extLst>
              <a:ext uri="{FF2B5EF4-FFF2-40B4-BE49-F238E27FC236}">
                <a16:creationId xmlns:a16="http://schemas.microsoft.com/office/drawing/2014/main" id="{8064D785-E52D-9548-AF5A-63B2AFBCBF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>
                <a:latin typeface="Arial" panose="020B0604020202020204" pitchFamily="34" charset="0"/>
              </a:rPr>
              <a:t>主析取范式的写法是把为</a:t>
            </a:r>
            <a:r>
              <a:rPr lang="en-US" altLang="zh-CN">
                <a:latin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</a:rPr>
              <a:t>的极小项用析取连接起来。所以</a:t>
            </a:r>
            <a:r>
              <a:rPr lang="en-US" altLang="zh-CN">
                <a:latin typeface="Arial" panose="020B0604020202020204" pitchFamily="34" charset="0"/>
              </a:rPr>
              <a:t>m</a:t>
            </a:r>
            <a:r>
              <a:rPr lang="en-US" altLang="zh-CN" baseline="-30000">
                <a:latin typeface="Arial" panose="020B0604020202020204" pitchFamily="34" charset="0"/>
              </a:rPr>
              <a:t>0</a:t>
            </a:r>
            <a:r>
              <a:rPr lang="en-US" altLang="zh-CN">
                <a:latin typeface="Arial" panose="020B0604020202020204" pitchFamily="34" charset="0"/>
                <a:sym typeface="Symbol" pitchFamily="2" charset="2"/>
              </a:rPr>
              <a:t></a:t>
            </a:r>
            <a:r>
              <a:rPr lang="en-US" altLang="zh-CN">
                <a:latin typeface="Arial" panose="020B0604020202020204" pitchFamily="34" charset="0"/>
              </a:rPr>
              <a:t> m</a:t>
            </a:r>
            <a:r>
              <a:rPr lang="en-US" altLang="zh-CN" baseline="-30000">
                <a:latin typeface="Arial" panose="020B0604020202020204" pitchFamily="34" charset="0"/>
              </a:rPr>
              <a:t>1</a:t>
            </a:r>
            <a:r>
              <a:rPr lang="en-US" altLang="zh-CN">
                <a:latin typeface="Arial" panose="020B0604020202020204" pitchFamily="34" charset="0"/>
                <a:sym typeface="Symbol" pitchFamily="2" charset="2"/>
              </a:rPr>
              <a:t></a:t>
            </a:r>
            <a:r>
              <a:rPr lang="en-US" altLang="zh-CN">
                <a:latin typeface="Arial" panose="020B0604020202020204" pitchFamily="34" charset="0"/>
              </a:rPr>
              <a:t> m</a:t>
            </a:r>
            <a:r>
              <a:rPr lang="en-US" altLang="zh-CN" baseline="-30000">
                <a:latin typeface="Arial" panose="020B0604020202020204" pitchFamily="34" charset="0"/>
              </a:rPr>
              <a:t>3</a:t>
            </a:r>
            <a:r>
              <a:rPr lang="zh-CN" altLang="en-US">
                <a:latin typeface="Arial" panose="020B0604020202020204" pitchFamily="34" charset="0"/>
              </a:rPr>
              <a:t>表示</a:t>
            </a:r>
            <a:r>
              <a:rPr lang="en-US" altLang="zh-CN">
                <a:latin typeface="Arial" panose="020B0604020202020204" pitchFamily="34" charset="0"/>
              </a:rPr>
              <a:t>2</a:t>
            </a:r>
            <a:r>
              <a:rPr lang="zh-CN" altLang="en-US">
                <a:latin typeface="Arial" panose="020B0604020202020204" pitchFamily="34" charset="0"/>
              </a:rPr>
              <a:t>那项为</a:t>
            </a:r>
            <a:r>
              <a:rPr lang="en-US" altLang="zh-CN">
                <a:latin typeface="Arial" panose="020B0604020202020204" pitchFamily="34" charset="0"/>
              </a:rPr>
              <a:t>0.</a:t>
            </a:r>
            <a:r>
              <a:rPr lang="zh-CN" altLang="en-US">
                <a:latin typeface="Arial" panose="020B0604020202020204" pitchFamily="34" charset="0"/>
              </a:rPr>
              <a:t>前面加个否定符号表示</a:t>
            </a:r>
            <a:r>
              <a:rPr lang="en-US" altLang="zh-CN">
                <a:latin typeface="Arial" panose="020B0604020202020204" pitchFamily="34" charset="0"/>
              </a:rPr>
              <a:t>2</a:t>
            </a:r>
            <a:r>
              <a:rPr lang="zh-CN" altLang="en-US">
                <a:latin typeface="Arial" panose="020B0604020202020204" pitchFamily="34" charset="0"/>
              </a:rPr>
              <a:t>那项为</a:t>
            </a:r>
            <a:r>
              <a:rPr lang="en-US" altLang="zh-CN">
                <a:latin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</a:rPr>
              <a:t>，其他都为</a:t>
            </a:r>
            <a:r>
              <a:rPr lang="en-US" altLang="zh-CN">
                <a:latin typeface="Arial" panose="020B0604020202020204" pitchFamily="34" charset="0"/>
              </a:rPr>
              <a:t>0.</a:t>
            </a:r>
            <a:r>
              <a:rPr lang="zh-CN" altLang="en-US">
                <a:latin typeface="Arial" panose="020B0604020202020204" pitchFamily="34" charset="0"/>
              </a:rPr>
              <a:t>再写主析取范式就只有</a:t>
            </a:r>
            <a:r>
              <a:rPr lang="en-US" altLang="zh-CN">
                <a:latin typeface="Arial" panose="020B0604020202020204" pitchFamily="34" charset="0"/>
              </a:rPr>
              <a:t>m</a:t>
            </a:r>
            <a:r>
              <a:rPr lang="en-US" altLang="zh-CN" baseline="-30000">
                <a:latin typeface="Arial" panose="020B0604020202020204" pitchFamily="34" charset="0"/>
              </a:rPr>
              <a:t>2</a:t>
            </a:r>
            <a:r>
              <a:rPr lang="zh-CN" altLang="en-US">
                <a:latin typeface="Arial" panose="020B0604020202020204" pitchFamily="34" charset="0"/>
              </a:rPr>
              <a:t>，所以两者相等。</a:t>
            </a:r>
          </a:p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76131" name="Slide Number Placeholder 3">
            <a:extLst>
              <a:ext uri="{FF2B5EF4-FFF2-40B4-BE49-F238E27FC236}">
                <a16:creationId xmlns:a16="http://schemas.microsoft.com/office/drawing/2014/main" id="{F26A579D-1214-0A4E-ADCB-C098DF01CC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5FA9E87-D3FB-1141-B603-0D5B9EEE1034}" type="slidenum">
              <a:rPr lang="zh-CN" altLang="en-US" sz="1200">
                <a:latin typeface="Times New Roman" panose="02020603050405020304" pitchFamily="18" charset="0"/>
              </a:rPr>
              <a:pPr/>
              <a:t>100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>
            <a:extLst>
              <a:ext uri="{FF2B5EF4-FFF2-40B4-BE49-F238E27FC236}">
                <a16:creationId xmlns:a16="http://schemas.microsoft.com/office/drawing/2014/main" id="{95E0F85E-63F1-3941-8D9F-82299752D2C6}"/>
              </a:ext>
            </a:extLst>
          </p:cNvPr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B3522B85-B45C-ED4F-9FEA-3415F1117F17}"/>
              </a:ext>
            </a:extLst>
          </p:cNvPr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40635247-0322-5447-91FD-6061A832450D}"/>
              </a:ext>
            </a:extLst>
          </p:cNvPr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Oval 13">
            <a:extLst>
              <a:ext uri="{FF2B5EF4-FFF2-40B4-BE49-F238E27FC236}">
                <a16:creationId xmlns:a16="http://schemas.microsoft.com/office/drawing/2014/main" id="{2224B2F5-1F59-9547-99B3-8378D8432954}"/>
              </a:ext>
            </a:extLst>
          </p:cNvPr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5052545"/>
            <a:ext cx="5637010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581" y="3132290"/>
            <a:ext cx="7175351" cy="1793167"/>
          </a:xfrm>
          <a:effectLst/>
        </p:spPr>
        <p:txBody>
          <a:bodyPr/>
          <a:lstStyle>
            <a:lvl1pPr marL="640080" indent="-457200" algn="l"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C9D5DB70-1DD2-164A-8CAA-6A94A4161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51DB1C5-92AD-5C47-B551-DA3BFD2DE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D4E51AE7-B215-514C-885A-88895BF54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3760B0-7863-DB4C-B4C8-D19FCE22B768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1700830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E50F77-4F89-EB47-A463-D0F3BDEC28E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215A4-46EC-AB4C-89A7-0535D6601A9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C5C21F-9E39-FB48-B124-5F39087D42F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92D59FBC-1065-064B-BAA1-DDCA16666A0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20098113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C736769D-2A13-BB44-81D8-F10897A1FEE0}"/>
              </a:ext>
            </a:extLst>
          </p:cNvPr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3D434EC1-FA2B-164C-9310-844ED1F0973A}"/>
              </a:ext>
            </a:extLst>
          </p:cNvPr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77396DD8-95FB-E54D-9A6F-0477EBEBBCBD}"/>
              </a:ext>
            </a:extLst>
          </p:cNvPr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Oval 9">
            <a:extLst>
              <a:ext uri="{FF2B5EF4-FFF2-40B4-BE49-F238E27FC236}">
                <a16:creationId xmlns:a16="http://schemas.microsoft.com/office/drawing/2014/main" id="{F22370CC-252B-5346-8CDC-0184D1A63AB0}"/>
              </a:ext>
            </a:extLst>
          </p:cNvPr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38" y="4607511"/>
            <a:ext cx="5970494" cy="83546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09013CF9-F508-8343-A758-52D0769FA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31CE6E8-151C-C54E-9017-9AA412325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448FF55-9CC2-BA43-A9D7-6CCD2E290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ACFB3B-B2CB-C349-9D08-1A77D6E688F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5183697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731519"/>
            <a:ext cx="3346704" cy="347472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731520"/>
            <a:ext cx="3346704" cy="347472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4EF0A42-16E0-5249-8528-7E52DAC23E8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6C8F6F5-458D-A34C-8696-CC91975F272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67D05D8-C2F8-D845-BDE4-994B0989A25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1F51F248-CC53-DB46-8EA6-860D9953963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71006696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400327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399032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67A8D3E-1C8F-4D49-9EFF-1A202627E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6BDE1FA-C6CB-7341-A22D-8449687ED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E8CBC4E-0D07-B448-9583-39E476751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88DC8F-4B73-E34B-AC66-5CA68BC583E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09485020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C32041F-ED34-D742-96D0-493E8592C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566CAA5-2D52-2047-BA72-1C459B687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0A76799-9188-504C-9A13-BF151B196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802F45-E38B-2D4D-A3C8-3DE40D1738C5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1403497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6BC37ED0-1635-6442-BADB-FCD315811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AA86F8F-0454-E645-97A7-2AA4A51B3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C0B5F60-0935-4646-B64C-65B07B853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254CB0-A987-554F-BE7B-55E2AB704E9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48484916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2209800"/>
            <a:ext cx="3636085" cy="1258493"/>
          </a:xfrm>
          <a:effectLst/>
        </p:spPr>
        <p:txBody>
          <a:bodyPr anchor="b"/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15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125166A-7098-F842-BC2D-A4A980A2C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4D27575-CD34-7A47-B56C-07705601F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819FADB-CC39-F046-BE45-CFFBE0507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916D30-A492-6541-B9E0-C3BD79F7003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952094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3B15EF0B-AA69-1948-BB8F-49CC2A137C6B}"/>
              </a:ext>
            </a:extLst>
          </p:cNvPr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10BF4ED1-4709-534C-9C21-7F8093F95AE8}"/>
              </a:ext>
            </a:extLst>
          </p:cNvPr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EF68EE46-FC7E-A249-A5D5-D4FF887F0AA3}"/>
              </a:ext>
            </a:extLst>
          </p:cNvPr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Oval 10">
            <a:extLst>
              <a:ext uri="{FF2B5EF4-FFF2-40B4-BE49-F238E27FC236}">
                <a16:creationId xmlns:a16="http://schemas.microsoft.com/office/drawing/2014/main" id="{02EA7B56-8EDB-0C46-BCD2-9726C8C7263A}"/>
              </a:ext>
            </a:extLst>
          </p:cNvPr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 rtlCol="0"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将图片拖动到占位符，或单击添加图标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/>
          <a:lstStyle>
            <a:lvl1pPr algn="l">
              <a:defRPr sz="4600" b="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35259BB4-BAD4-0446-AD88-8C3A7F301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A77651DE-3227-1441-A27B-AA21F1F66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C981C53C-B09A-4E4A-BD9C-2EF9B3419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931EB1-8D13-444A-81E9-5F84982DDFD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48790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C54EF6-3756-5B43-AE2E-D6B064BB2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A417E-1684-664A-97AE-FE242415A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BF17A7-DBA4-E648-836C-DA9F8E8C5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1E9754-195A-0149-A1A2-0F8A9F7A462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93467102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17"/>
            <a:ext cx="20574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3" y="731519"/>
            <a:ext cx="4829287" cy="489472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9BB95D-DD4F-EE4B-ACC0-B942B607C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B93D01-4A8E-8147-8D63-8110382F7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DBA68D-91D1-0D40-8EA3-DA1AF1EC9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53BAC5-E8D2-9846-96ED-075B96E9DD4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09295920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DF47580-A071-424C-B3B2-54DBE02D534E}"/>
              </a:ext>
            </a:extLst>
          </p:cNvPr>
          <p:cNvSpPr/>
          <p:nvPr/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8310D3A-84C1-AC4A-897F-1AADDB1E41AF}"/>
              </a:ext>
            </a:extLst>
          </p:cNvPr>
          <p:cNvSpPr/>
          <p:nvPr/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D9C35B-EEDD-D04C-BCC7-A2837ED8660D}"/>
              </a:ext>
            </a:extLst>
          </p:cNvPr>
          <p:cNvSpPr/>
          <p:nvPr/>
        </p:nvSpPr>
        <p:spPr>
          <a:xfrm>
            <a:off x="0" y="3768725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C4FAA18-C8DE-9D40-9EE6-5ED7B339BD4B}"/>
              </a:ext>
            </a:extLst>
          </p:cNvPr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C5D070-3565-5D45-9E4A-DD9CFA37C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3875" y="4371975"/>
            <a:ext cx="6511925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37" name="Text Placeholder 2">
            <a:extLst>
              <a:ext uri="{FF2B5EF4-FFF2-40B4-BE49-F238E27FC236}">
                <a16:creationId xmlns:a16="http://schemas.microsoft.com/office/drawing/2014/main" id="{D4EEC31C-EC74-1E48-9A1E-6EE7A2A9610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143000" y="731838"/>
            <a:ext cx="6400800" cy="347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262244-E92E-5D49-8B7A-E94EA3B158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72200" y="6172200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  <a:ea typeface="宋体" charset="0"/>
                <a:cs typeface="宋体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C00DC6-E8C5-2442-9CC3-0A12A2A262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172200"/>
            <a:ext cx="3352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  <a:ea typeface="宋体" charset="0"/>
                <a:cs typeface="宋体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71C2E-03A8-2248-8015-1A0A931F1D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10000" y="6172200"/>
            <a:ext cx="1828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 b="1">
                <a:solidFill>
                  <a:srgbClr val="7F7F7F"/>
                </a:solidFill>
              </a:defRPr>
            </a:lvl1pPr>
          </a:lstStyle>
          <a:p>
            <a:fld id="{50D3AB8C-E3F1-2E46-9F9B-0444647645DD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7" r:id="rId1"/>
    <p:sldLayoutId id="2147483849" r:id="rId2"/>
    <p:sldLayoutId id="2147483858" r:id="rId3"/>
    <p:sldLayoutId id="2147483850" r:id="rId4"/>
    <p:sldLayoutId id="2147483851" r:id="rId5"/>
    <p:sldLayoutId id="2147483852" r:id="rId6"/>
    <p:sldLayoutId id="2147483853" r:id="rId7"/>
    <p:sldLayoutId id="2147483854" r:id="rId8"/>
    <p:sldLayoutId id="2147483859" r:id="rId9"/>
    <p:sldLayoutId id="2147483855" r:id="rId10"/>
    <p:sldLayoutId id="2147483856" r:id="rId11"/>
  </p:sldLayoutIdLst>
  <p:transition>
    <p:blinds dir="vert"/>
  </p:transition>
  <p:hf hdr="0" ftr="0" dt="0"/>
  <p:txStyles>
    <p:titleStyle>
      <a:lvl1pPr marL="319088" indent="-319088" algn="r" rtl="0" fontAlgn="base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anose="02040502050405020303" pitchFamily="18" charset="0"/>
        <a:buChar char="*"/>
        <a:defRPr sz="4600" b="1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宋体" charset="0"/>
          <a:cs typeface="宋体" charset="0"/>
        </a:defRPr>
      </a:lvl1pPr>
      <a:lvl2pPr marL="319088" indent="-319088" algn="r" rtl="0" fontAlgn="base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anose="02040502050405020303" pitchFamily="18" charset="0"/>
        <a:buChar char="*"/>
        <a:defRPr sz="4600" b="1">
          <a:solidFill>
            <a:schemeClr val="tx1"/>
          </a:solidFill>
          <a:latin typeface="Trebuchet MS" charset="0"/>
          <a:ea typeface="宋体" charset="0"/>
          <a:cs typeface="宋体" charset="0"/>
        </a:defRPr>
      </a:lvl2pPr>
      <a:lvl3pPr marL="319088" indent="-319088" algn="r" rtl="0" fontAlgn="base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anose="02040502050405020303" pitchFamily="18" charset="0"/>
        <a:buChar char="*"/>
        <a:defRPr sz="4600" b="1">
          <a:solidFill>
            <a:schemeClr val="tx1"/>
          </a:solidFill>
          <a:latin typeface="Trebuchet MS" charset="0"/>
          <a:ea typeface="宋体" charset="0"/>
          <a:cs typeface="宋体" charset="0"/>
        </a:defRPr>
      </a:lvl3pPr>
      <a:lvl4pPr marL="319088" indent="-319088" algn="r" rtl="0" fontAlgn="base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anose="02040502050405020303" pitchFamily="18" charset="0"/>
        <a:buChar char="*"/>
        <a:defRPr sz="4600" b="1">
          <a:solidFill>
            <a:schemeClr val="tx1"/>
          </a:solidFill>
          <a:latin typeface="Trebuchet MS" charset="0"/>
          <a:ea typeface="宋体" charset="0"/>
          <a:cs typeface="宋体" charset="0"/>
        </a:defRPr>
      </a:lvl4pPr>
      <a:lvl5pPr marL="319088" indent="-319088" algn="r" rtl="0" fontAlgn="base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anose="02040502050405020303" pitchFamily="18" charset="0"/>
        <a:buChar char="*"/>
        <a:defRPr sz="4600" b="1">
          <a:solidFill>
            <a:schemeClr val="tx1"/>
          </a:solidFill>
          <a:latin typeface="Trebuchet MS" charset="0"/>
          <a:ea typeface="宋体" charset="0"/>
          <a:cs typeface="宋体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563" algn="l" rtl="0" fontAlgn="base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anose="02040502050405020303" pitchFamily="18" charset="0"/>
        <a:buChar char="*"/>
        <a:defRPr kumimoji="1" sz="2200" kern="1200">
          <a:solidFill>
            <a:srgbClr val="404040"/>
          </a:solidFill>
          <a:latin typeface="+mn-lt"/>
          <a:ea typeface="宋体" charset="0"/>
          <a:cs typeface="宋体" charset="0"/>
        </a:defRPr>
      </a:lvl1pPr>
      <a:lvl2pPr marL="547688" indent="-182563" algn="l" rtl="0" fontAlgn="base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anose="02040502050405020303" pitchFamily="18" charset="0"/>
        <a:buChar char="*"/>
        <a:defRPr kumimoji="1" sz="2000" kern="1200">
          <a:solidFill>
            <a:srgbClr val="404040"/>
          </a:solidFill>
          <a:latin typeface="+mn-lt"/>
          <a:ea typeface="宋体" charset="0"/>
          <a:cs typeface="+mn-cs"/>
        </a:defRPr>
      </a:lvl2pPr>
      <a:lvl3pPr marL="822325" indent="-182563" algn="l" rtl="0" fontAlgn="base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anose="02040502050405020303" pitchFamily="18" charset="0"/>
        <a:buChar char="*"/>
        <a:defRPr kumimoji="1" kern="1200">
          <a:solidFill>
            <a:srgbClr val="404040"/>
          </a:solidFill>
          <a:latin typeface="+mn-lt"/>
          <a:ea typeface="宋体" charset="0"/>
          <a:cs typeface="+mn-cs"/>
        </a:defRPr>
      </a:lvl3pPr>
      <a:lvl4pPr marL="1096963" indent="-182563" algn="l" rtl="0" fontAlgn="base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anose="02040502050405020303" pitchFamily="18" charset="0"/>
        <a:buChar char="*"/>
        <a:defRPr kumimoji="1" sz="1600" kern="1200">
          <a:solidFill>
            <a:srgbClr val="404040"/>
          </a:solidFill>
          <a:latin typeface="+mn-lt"/>
          <a:ea typeface="宋体" charset="0"/>
          <a:cs typeface="+mn-cs"/>
        </a:defRPr>
      </a:lvl4pPr>
      <a:lvl5pPr marL="1389063" indent="-182563" algn="l" rtl="0" fontAlgn="base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anose="02040502050405020303" pitchFamily="18" charset="0"/>
        <a:buChar char="*"/>
        <a:defRPr kumimoji="1" sz="1400" kern="1200">
          <a:solidFill>
            <a:srgbClr val="404040"/>
          </a:solidFill>
          <a:latin typeface="+mn-lt"/>
          <a:ea typeface="宋体" charset="0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e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" Target="slide47.xml"/><Relationship Id="rId2" Type="http://schemas.openxmlformats.org/officeDocument/2006/relationships/slide" Target="slide46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" Target="slide4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3.bin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4.bin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7.e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6.emf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3">
            <a:extLst>
              <a:ext uri="{FF2B5EF4-FFF2-40B4-BE49-F238E27FC236}">
                <a16:creationId xmlns:a16="http://schemas.microsoft.com/office/drawing/2014/main" id="{10A1237D-0523-7C45-9BCF-79349059337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02100"/>
            <a:ext cx="6400800" cy="766763"/>
          </a:xfrm>
        </p:spPr>
        <p:txBody>
          <a:bodyPr/>
          <a:lstStyle/>
          <a:p>
            <a:pPr algn="ctr">
              <a:buFont typeface="Wingdings" pitchFamily="2" charset="2"/>
              <a:buNone/>
            </a:pP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3.1  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命题逻辑</a:t>
            </a:r>
          </a:p>
        </p:txBody>
      </p:sp>
      <p:sp>
        <p:nvSpPr>
          <p:cNvPr id="14338" name="Rectangle 46">
            <a:extLst>
              <a:ext uri="{FF2B5EF4-FFF2-40B4-BE49-F238E27FC236}">
                <a16:creationId xmlns:a16="http://schemas.microsoft.com/office/drawing/2014/main" id="{703E87A0-CDFB-E74D-BFEA-2E6DCA06149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072DE2E-EB68-C341-ADE9-EEE7613489FB}" type="slidenum">
              <a:rPr kumimoji="0" lang="zh-CN" altLang="en-US" sz="1200"/>
              <a:pPr/>
              <a:t>1</a:t>
            </a:fld>
            <a:endParaRPr kumimoji="0" lang="en-US" altLang="zh-CN" sz="1200"/>
          </a:p>
        </p:txBody>
      </p:sp>
      <p:sp>
        <p:nvSpPr>
          <p:cNvPr id="40962" name="Rectangle 2">
            <a:extLst>
              <a:ext uri="{FF2B5EF4-FFF2-40B4-BE49-F238E27FC236}">
                <a16:creationId xmlns:a16="http://schemas.microsoft.com/office/drawing/2014/main" id="{9C2751FA-F4F5-C145-8EFD-3D214572784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11188" y="1811338"/>
            <a:ext cx="8064500" cy="1905000"/>
          </a:xfrm>
        </p:spPr>
        <p:txBody>
          <a:bodyPr/>
          <a:lstStyle/>
          <a:p>
            <a:pPr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>
                <a:latin typeface="楷体_GB2312" charset="0"/>
                <a:ea typeface="楷体_GB2312" charset="0"/>
                <a:cs typeface="+mj-cs"/>
              </a:rPr>
              <a:t>第三章</a:t>
            </a:r>
            <a:r>
              <a:rPr lang="zh-CN" altLang="en-US">
                <a:latin typeface="楷体_GB2312" charset="0"/>
                <a:ea typeface="楷体_GB2312" charset="0"/>
                <a:cs typeface="Arial" charset="0"/>
              </a:rPr>
              <a:t>  古典数理</a:t>
            </a:r>
            <a:r>
              <a:rPr lang="zh-CN" altLang="en-US">
                <a:latin typeface="楷体_GB2312" charset="0"/>
                <a:ea typeface="楷体_GB2312" charset="0"/>
                <a:cs typeface="+mj-cs"/>
              </a:rPr>
              <a:t>逻辑 </a:t>
            </a:r>
          </a:p>
        </p:txBody>
      </p:sp>
    </p:spTree>
  </p:cSld>
  <p:clrMapOvr>
    <a:masterClrMapping/>
  </p:clrMapOvr>
  <p:transition>
    <p:blinds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Number Placeholder 5">
            <a:extLst>
              <a:ext uri="{FF2B5EF4-FFF2-40B4-BE49-F238E27FC236}">
                <a16:creationId xmlns:a16="http://schemas.microsoft.com/office/drawing/2014/main" id="{40E5CB39-FCD8-F649-A86B-2F6A494C4F7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E449204-89FB-8743-A1B7-8957D902F814}" type="slidenum">
              <a:rPr kumimoji="0" lang="zh-CN" altLang="en-US" sz="1200"/>
              <a:pPr/>
              <a:t>2</a:t>
            </a:fld>
            <a:endParaRPr kumimoji="0" lang="en-US" altLang="zh-CN" sz="1200"/>
          </a:p>
        </p:txBody>
      </p:sp>
      <p:sp>
        <p:nvSpPr>
          <p:cNvPr id="43010" name="Rectangle 2">
            <a:extLst>
              <a:ext uri="{FF2B5EF4-FFF2-40B4-BE49-F238E27FC236}">
                <a16:creationId xmlns:a16="http://schemas.microsoft.com/office/drawing/2014/main" id="{E5426C73-B2F7-844E-BF3D-E2E109F796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8750" y="269875"/>
            <a:ext cx="8985250" cy="1143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latin typeface="Arial" charset="0"/>
                <a:ea typeface="楷体_GB2312" charset="0"/>
                <a:cs typeface="Arial" charset="0"/>
              </a:rPr>
              <a:t>3</a:t>
            </a:r>
            <a:r>
              <a:rPr lang="zh-CN" altLang="en-US" dirty="0">
                <a:latin typeface="Arial" charset="0"/>
                <a:ea typeface="楷体_GB2312" charset="0"/>
                <a:cs typeface="Arial" charset="0"/>
              </a:rPr>
              <a:t>.1.1 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命题 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28DB5662-A5E5-5F4C-9217-0782D5CBFE5B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60338" y="1582738"/>
            <a:ext cx="8588375" cy="472598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所谓命题是指一句有真假意义的话。</a:t>
            </a:r>
          </a:p>
          <a:p>
            <a:pPr>
              <a:lnSpc>
                <a:spcPct val="90000"/>
              </a:lnSpc>
            </a:pPr>
            <a:endParaRPr kumimoji="0" lang="zh-CN" altLang="en-US" sz="3200">
              <a:latin typeface="Arial" panose="020B0604020202020204" pitchFamily="34" charset="0"/>
              <a:ea typeface="楷体_GB2312" pitchFamily="1" charset="-122"/>
            </a:endParaRPr>
          </a:p>
          <a:p>
            <a:pPr>
              <a:lnSpc>
                <a:spcPct val="90000"/>
              </a:lnSpc>
              <a:buFont typeface="Wingdings" pitchFamily="2" charset="2"/>
              <a:buChar char="v"/>
            </a:pPr>
            <a:r>
              <a:rPr kumimoji="0" lang="zh-CN" altLang="en-US" sz="3200">
                <a:solidFill>
                  <a:schemeClr val="accent1"/>
                </a:solidFill>
                <a:latin typeface="Arial" panose="020B0604020202020204" pitchFamily="34" charset="0"/>
                <a:ea typeface="楷体_GB2312" pitchFamily="1" charset="-122"/>
              </a:rPr>
              <a:t>例如：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“</a:t>
            </a:r>
            <a:r>
              <a:rPr kumimoji="0" lang="zh-CN" altLang="en-US" sz="3200" u="sng">
                <a:latin typeface="Arial" panose="020B0604020202020204" pitchFamily="34" charset="0"/>
                <a:ea typeface="楷体_GB2312" pitchFamily="1" charset="-122"/>
              </a:rPr>
              <a:t>北京是中国的首都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”是命题，而且它是真的； “</a:t>
            </a:r>
            <a:r>
              <a:rPr kumimoji="0" lang="zh-CN" altLang="en-US" sz="3200" u="sng">
                <a:latin typeface="Arial" panose="020B0604020202020204" pitchFamily="34" charset="0"/>
                <a:ea typeface="楷体_GB2312" pitchFamily="1" charset="-122"/>
              </a:rPr>
              <a:t>长春是中国最大的城市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”是命题，但它是假的。</a:t>
            </a:r>
          </a:p>
          <a:p>
            <a:pPr>
              <a:lnSpc>
                <a:spcPct val="90000"/>
              </a:lnSpc>
            </a:pPr>
            <a:endParaRPr kumimoji="0" lang="zh-CN" altLang="en-US" sz="3200">
              <a:latin typeface="Arial" panose="020B0604020202020204" pitchFamily="34" charset="0"/>
              <a:ea typeface="楷体_GB2312" pitchFamily="1" charset="-122"/>
            </a:endParaRPr>
          </a:p>
          <a:p>
            <a:pPr>
              <a:lnSpc>
                <a:spcPct val="90000"/>
              </a:lnSpc>
              <a:buFont typeface="Wingdings" pitchFamily="2" charset="2"/>
              <a:buChar char="v"/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“关门!”，“你去哪里?”这种命令和问话不是命题。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3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30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1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Number Placeholder 5">
            <a:extLst>
              <a:ext uri="{FF2B5EF4-FFF2-40B4-BE49-F238E27FC236}">
                <a16:creationId xmlns:a16="http://schemas.microsoft.com/office/drawing/2014/main" id="{CF7FB24C-0D2A-9B47-B9EB-6C4C483C7E2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A7AFACA-4372-534A-9775-E8046E030F4D}" type="slidenum">
              <a:rPr kumimoji="0" lang="zh-CN" altLang="en-US" sz="1200"/>
              <a:pPr/>
              <a:t>3</a:t>
            </a:fld>
            <a:endParaRPr kumimoji="0" lang="en-US" altLang="zh-CN" sz="1200"/>
          </a:p>
        </p:txBody>
      </p:sp>
      <p:sp>
        <p:nvSpPr>
          <p:cNvPr id="58370" name="Rectangle 2">
            <a:extLst>
              <a:ext uri="{FF2B5EF4-FFF2-40B4-BE49-F238E27FC236}">
                <a16:creationId xmlns:a16="http://schemas.microsoft.com/office/drawing/2014/main" id="{5499C738-ACC8-F94F-BDCB-E1E1D41D87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512" y="260648"/>
            <a:ext cx="6512511" cy="1143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latin typeface="Arial" charset="0"/>
                <a:ea typeface="楷体_GB2312" charset="0"/>
                <a:cs typeface="Arial" charset="0"/>
              </a:rPr>
              <a:t>3</a:t>
            </a:r>
            <a:r>
              <a:rPr lang="zh-CN" altLang="en-US" dirty="0">
                <a:latin typeface="Arial" charset="0"/>
                <a:ea typeface="楷体_GB2312" charset="0"/>
                <a:cs typeface="Arial" charset="0"/>
              </a:rPr>
              <a:t>.1.1 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命题</a:t>
            </a:r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274BA5B4-23F3-0542-80B2-E78AF71DDAFC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25413" y="1557338"/>
            <a:ext cx="8839200" cy="3816350"/>
          </a:xfrm>
        </p:spPr>
        <p:txBody>
          <a:bodyPr/>
          <a:lstStyle/>
          <a:p>
            <a:pPr marL="360363" indent="-360363"/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命题用大写英文字母</a:t>
            </a:r>
            <a:r>
              <a:rPr kumimoji="0" lang="en-US" altLang="zh-CN" sz="32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Q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，…，</a:t>
            </a:r>
            <a:r>
              <a:rPr kumimoji="0" lang="en-US" altLang="zh-CN" sz="32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P</a:t>
            </a:r>
            <a:r>
              <a:rPr kumimoji="0" lang="en-US" altLang="zh-CN" sz="3200" baseline="-300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P</a:t>
            </a:r>
            <a:r>
              <a:rPr kumimoji="0" lang="en-US" altLang="zh-CN" sz="3200" baseline="-300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，…，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表示。</a:t>
            </a:r>
          </a:p>
          <a:p>
            <a:pPr marL="360363" indent="-360363"/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如果一个命题是真的，就说它的真值是1； 如果一个命题是假的，就说它的真值是0。 </a:t>
            </a:r>
          </a:p>
          <a:p>
            <a:pPr marL="360363" indent="-360363"/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也用1代表一个抽象的真命题，用0代表一个抽象的假命题。 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8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8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8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8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Slide Number Placeholder 5">
            <a:extLst>
              <a:ext uri="{FF2B5EF4-FFF2-40B4-BE49-F238E27FC236}">
                <a16:creationId xmlns:a16="http://schemas.microsoft.com/office/drawing/2014/main" id="{F683968E-49C2-BB48-BE81-3652AED13F6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A41E921-A5A2-7C4D-A0F5-4D80B81878F3}" type="slidenum">
              <a:rPr kumimoji="0" lang="zh-CN" altLang="en-US" sz="1200"/>
              <a:pPr/>
              <a:t>4</a:t>
            </a:fld>
            <a:endParaRPr kumimoji="0" lang="en-US" altLang="zh-CN" sz="1200"/>
          </a:p>
        </p:txBody>
      </p:sp>
      <p:sp>
        <p:nvSpPr>
          <p:cNvPr id="245762" name="Rectangle 2">
            <a:extLst>
              <a:ext uri="{FF2B5EF4-FFF2-40B4-BE49-F238E27FC236}">
                <a16:creationId xmlns:a16="http://schemas.microsoft.com/office/drawing/2014/main" id="{3EF38F7D-0ADC-0D45-B2CB-EEDAA5254B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8750" y="188913"/>
            <a:ext cx="8985250" cy="1143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ea typeface="+mj-ea"/>
                <a:cs typeface="+mj-cs"/>
              </a:rPr>
              <a:t>例：</a:t>
            </a:r>
          </a:p>
        </p:txBody>
      </p:sp>
      <p:sp>
        <p:nvSpPr>
          <p:cNvPr id="245763" name="Rectangle 3">
            <a:extLst>
              <a:ext uri="{FF2B5EF4-FFF2-40B4-BE49-F238E27FC236}">
                <a16:creationId xmlns:a16="http://schemas.microsoft.com/office/drawing/2014/main" id="{05BCAEDE-7254-8D4D-BFE5-CFAF6CAD4B00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87313" y="1341438"/>
            <a:ext cx="8661400" cy="4248150"/>
          </a:xfrm>
        </p:spPr>
        <p:txBody>
          <a:bodyPr/>
          <a:lstStyle/>
          <a:p>
            <a:r>
              <a:rPr kumimoji="0" lang="zh-CN" altLang="en-US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下列哪些语句是命题？如果是，真值是什么？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	</a:t>
            </a:r>
            <a:r>
              <a:rPr kumimoji="0" lang="zh-CN" altLang="zh-CN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) </a:t>
            </a:r>
            <a:r>
              <a:rPr kumimoji="0" lang="zh-CN" altLang="en-US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对每一对实数</a:t>
            </a:r>
            <a:r>
              <a:rPr kumimoji="0" lang="en-US" altLang="zh-CN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x,y</a:t>
            </a:r>
            <a:r>
              <a:rPr kumimoji="0" lang="zh-CN" altLang="en-US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，都有</a:t>
            </a:r>
            <a:r>
              <a:rPr kumimoji="0" lang="en-US" altLang="zh-CN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x+y=y+x</a:t>
            </a:r>
            <a:r>
              <a:rPr kumimoji="0" lang="zh-CN" altLang="en-US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；</a:t>
            </a:r>
          </a:p>
          <a:p>
            <a:pPr>
              <a:buFont typeface="Wingdings" pitchFamily="2" charset="2"/>
              <a:buNone/>
            </a:pPr>
            <a:r>
              <a:rPr kumimoji="0" lang="zh-CN" altLang="en-US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	</a:t>
            </a:r>
            <a:r>
              <a:rPr kumimoji="0" lang="zh-CN" altLang="zh-CN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2</a:t>
            </a:r>
            <a:r>
              <a:rPr kumimoji="0" lang="en-US" altLang="zh-CN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) </a:t>
            </a:r>
            <a:r>
              <a:rPr kumimoji="0" lang="zh-CN" altLang="en-US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丁俊晖退役后或者出国留学或者当教练；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	3) </a:t>
            </a:r>
            <a:r>
              <a:rPr kumimoji="0" lang="zh-CN" altLang="en-US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地球外的星球上也有人；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5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45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457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46">
            <a:extLst>
              <a:ext uri="{FF2B5EF4-FFF2-40B4-BE49-F238E27FC236}">
                <a16:creationId xmlns:a16="http://schemas.microsoft.com/office/drawing/2014/main" id="{08E9C1E0-DA5B-6243-9C4B-3C4E68131EC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F090207-F008-5249-813A-971EC8965C86}" type="slidenum">
              <a:rPr kumimoji="0" lang="zh-CN" altLang="en-US" sz="1200"/>
              <a:pPr/>
              <a:t>5</a:t>
            </a:fld>
            <a:endParaRPr kumimoji="0" lang="en-US" altLang="zh-CN" sz="1200"/>
          </a:p>
        </p:txBody>
      </p:sp>
      <p:sp>
        <p:nvSpPr>
          <p:cNvPr id="95234" name="Rectangle 2">
            <a:extLst>
              <a:ext uri="{FF2B5EF4-FFF2-40B4-BE49-F238E27FC236}">
                <a16:creationId xmlns:a16="http://schemas.microsoft.com/office/drawing/2014/main" id="{A22BBAE3-E891-9348-A592-F8BD63B7D98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331913" y="2028825"/>
            <a:ext cx="6300787" cy="1905000"/>
          </a:xfrm>
        </p:spPr>
        <p:txBody>
          <a:bodyPr/>
          <a:lstStyle/>
          <a:p>
            <a:pPr algn="ctr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>
                <a:latin typeface="Arial" charset="0"/>
                <a:ea typeface="楷体_GB2312" charset="0"/>
                <a:cs typeface="+mj-cs"/>
              </a:rPr>
              <a:t>逻辑联结词 </a:t>
            </a:r>
          </a:p>
        </p:txBody>
      </p:sp>
    </p:spTree>
  </p:cSld>
  <p:clrMapOvr>
    <a:masterClrMapping/>
  </p:clrMapOvr>
  <p:transition>
    <p:blinds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Slide Number Placeholder 5">
            <a:extLst>
              <a:ext uri="{FF2B5EF4-FFF2-40B4-BE49-F238E27FC236}">
                <a16:creationId xmlns:a16="http://schemas.microsoft.com/office/drawing/2014/main" id="{98A07723-F6AE-AA44-A5FE-366F0D678E8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D5B5365-9E5E-1D4C-8DF7-919EB747E719}" type="slidenum">
              <a:rPr kumimoji="0" lang="zh-CN" altLang="en-US" sz="1200"/>
              <a:pPr/>
              <a:t>6</a:t>
            </a:fld>
            <a:endParaRPr kumimoji="0" lang="en-US" altLang="zh-CN" sz="1200"/>
          </a:p>
        </p:txBody>
      </p:sp>
      <p:sp>
        <p:nvSpPr>
          <p:cNvPr id="44034" name="Rectangle 2">
            <a:extLst>
              <a:ext uri="{FF2B5EF4-FFF2-40B4-BE49-F238E27FC236}">
                <a16:creationId xmlns:a16="http://schemas.microsoft.com/office/drawing/2014/main" id="{39951B2B-9948-6548-84B1-8B2E42FB5C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7721" y="269776"/>
            <a:ext cx="6512511" cy="1143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定义</a:t>
            </a: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3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.1.1 否定</a:t>
            </a:r>
            <a:endParaRPr lang="en-US" altLang="zh-CN" dirty="0">
              <a:latin typeface="Arial" charset="0"/>
              <a:ea typeface="楷体_GB2312" charset="0"/>
              <a:cs typeface="+mj-cs"/>
            </a:endParaRP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2C5106CD-B93D-D444-BDDC-E4B5D2D93A42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252413" y="1368425"/>
            <a:ext cx="8567737" cy="4724400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设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是一个命题，命题 “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是不对的”称为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的</a:t>
            </a:r>
            <a:r>
              <a:rPr kumimoji="0" lang="zh-CN" altLang="en-US" sz="3200" u="sng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否定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，记以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P，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读作非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P。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是真的当且仅当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是假的。</a:t>
            </a:r>
          </a:p>
          <a:p>
            <a:pPr>
              <a:spcBef>
                <a:spcPct val="0"/>
              </a:spcBef>
            </a:pPr>
            <a:endParaRPr kumimoji="0" lang="zh-CN" altLang="en-US" sz="3200">
              <a:latin typeface="Arial" panose="020B0604020202020204" pitchFamily="34" charset="0"/>
              <a:ea typeface="楷体_GB2312" pitchFamily="1" charset="-122"/>
            </a:endParaRPr>
          </a:p>
          <a:p>
            <a:pPr>
              <a:spcBef>
                <a:spcPct val="0"/>
              </a:spcBef>
              <a:buFont typeface="Wingdings" pitchFamily="2" charset="2"/>
              <a:buChar char="v"/>
            </a:pPr>
            <a:r>
              <a:rPr kumimoji="0" lang="zh-CN" altLang="en-US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例如：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1)P： 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上海是一个城市。</a:t>
            </a:r>
            <a:b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	      	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P：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上海不是一个城市。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		       2)P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：三亚的夏天又热又晒。</a:t>
            </a:r>
          </a:p>
          <a:p>
            <a:pPr>
              <a:spcBef>
                <a:spcPct val="0"/>
              </a:spcBef>
              <a:buFont typeface="Wingdings" pitchFamily="2" charset="2"/>
              <a:buNone/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			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P：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三亚的夏天不热或者不晒。 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5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Slide Number Placeholder 5">
            <a:extLst>
              <a:ext uri="{FF2B5EF4-FFF2-40B4-BE49-F238E27FC236}">
                <a16:creationId xmlns:a16="http://schemas.microsoft.com/office/drawing/2014/main" id="{2C050706-B3B6-0F4C-B8EB-45C345F05AC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1A06704-0A50-F94D-AFC4-CEB218A529EF}" type="slidenum">
              <a:rPr kumimoji="0" lang="zh-CN" altLang="en-US" sz="1200"/>
              <a:pPr/>
              <a:t>7</a:t>
            </a:fld>
            <a:endParaRPr kumimoji="0" lang="en-US" altLang="zh-CN" sz="1200"/>
          </a:p>
        </p:txBody>
      </p:sp>
      <p:sp>
        <p:nvSpPr>
          <p:cNvPr id="96258" name="Rectangle 2">
            <a:extLst>
              <a:ext uri="{FF2B5EF4-FFF2-40B4-BE49-F238E27FC236}">
                <a16:creationId xmlns:a16="http://schemas.microsoft.com/office/drawing/2014/main" id="{E4CE426E-4FE6-BD41-85E1-2FCC83D7C9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7721" y="197768"/>
            <a:ext cx="6512511" cy="1143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定义</a:t>
            </a: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3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.1.2 析取</a:t>
            </a:r>
          </a:p>
        </p:txBody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C1706C67-52CF-A542-8EBE-F8E9CDDB7A26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53975" y="1657350"/>
            <a:ext cx="8839200" cy="3140075"/>
          </a:xfrm>
        </p:spPr>
        <p:txBody>
          <a:bodyPr/>
          <a:lstStyle/>
          <a:p>
            <a:pPr marL="360363" indent="-360363"/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设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P，Q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是两个命题，命题 “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或者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Q”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称为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P，Q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的</a:t>
            </a:r>
            <a:r>
              <a:rPr kumimoji="0" lang="zh-CN" altLang="en-US" sz="3200" u="sng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析取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，记以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Q，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读作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或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Q。 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规定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是真的当且仅当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P，Q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中至少有一个是真的。</a:t>
            </a:r>
          </a:p>
          <a:p>
            <a:pPr marL="360363" indent="-360363">
              <a:spcBef>
                <a:spcPct val="80000"/>
              </a:spcBef>
              <a:buFont typeface="Wingdings" pitchFamily="2" charset="2"/>
              <a:buChar char="v"/>
            </a:pPr>
            <a:r>
              <a:rPr kumimoji="0" lang="zh-CN" altLang="en-US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例如，</a:t>
            </a:r>
            <a:r>
              <a:rPr kumimoji="0" lang="zh-CN" altLang="en-US" sz="3200">
                <a:solidFill>
                  <a:srgbClr val="FF6600"/>
                </a:solidFill>
                <a:latin typeface="Arial" panose="020B0604020202020204" pitchFamily="34" charset="0"/>
                <a:ea typeface="楷体_GB2312" pitchFamily="1" charset="-122"/>
              </a:rPr>
              <a:t>	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P：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今天下雨，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Q：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今天刮风； 	  		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Q：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今天下雨或者刮风。 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6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59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Slide Number Placeholder 5">
            <a:extLst>
              <a:ext uri="{FF2B5EF4-FFF2-40B4-BE49-F238E27FC236}">
                <a16:creationId xmlns:a16="http://schemas.microsoft.com/office/drawing/2014/main" id="{699822A3-9C92-F84B-B8FE-16BBE16458B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61DBCDC-B4D8-A649-B892-4258F1F0CB4D}" type="slidenum">
              <a:rPr kumimoji="0" lang="zh-CN" altLang="en-US" sz="1200"/>
              <a:pPr/>
              <a:t>8</a:t>
            </a:fld>
            <a:endParaRPr kumimoji="0" lang="en-US" altLang="zh-CN" sz="1200"/>
          </a:p>
        </p:txBody>
      </p:sp>
      <p:sp>
        <p:nvSpPr>
          <p:cNvPr id="97282" name="Rectangle 2">
            <a:extLst>
              <a:ext uri="{FF2B5EF4-FFF2-40B4-BE49-F238E27FC236}">
                <a16:creationId xmlns:a16="http://schemas.microsoft.com/office/drawing/2014/main" id="{7BEA0A6C-EED6-4F43-81AF-911A8ACCFB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8750" y="197768"/>
            <a:ext cx="8985250" cy="1143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定义</a:t>
            </a: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3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.1.3 合取</a:t>
            </a:r>
          </a:p>
        </p:txBody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FA0C29E3-E3CC-3941-AA75-987B8FD99AC8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06363" y="1628775"/>
            <a:ext cx="8858250" cy="3384550"/>
          </a:xfrm>
        </p:spPr>
        <p:txBody>
          <a:bodyPr/>
          <a:lstStyle/>
          <a:p>
            <a:pPr marL="360363" indent="-360363">
              <a:spcBef>
                <a:spcPct val="0"/>
              </a:spcBef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设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P，Q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是两个命题，命题 “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并且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Q”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称为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P，Q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的</a:t>
            </a:r>
            <a:r>
              <a:rPr kumimoji="0" lang="zh-CN" altLang="en-US" sz="3200" u="sng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合取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，记以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Q，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读作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且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Q。 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规定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是真的当且仅当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都是真的。</a:t>
            </a:r>
          </a:p>
          <a:p>
            <a:pPr marL="360363" indent="-360363">
              <a:spcBef>
                <a:spcPct val="0"/>
              </a:spcBef>
            </a:pPr>
            <a:r>
              <a:rPr kumimoji="0" lang="zh-CN" altLang="en-US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例如：</a:t>
            </a:r>
          </a:p>
          <a:p>
            <a:pPr marL="360363" indent="-360363">
              <a:spcBef>
                <a:spcPct val="0"/>
              </a:spcBef>
              <a:buFont typeface="Wingdings" pitchFamily="2" charset="2"/>
              <a:buNone/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			   P：2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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2=5，Q：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雪是黑的，</a:t>
            </a:r>
            <a:b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		   </a:t>
            </a:r>
            <a:r>
              <a:rPr kumimoji="0" lang="en-US" altLang="zh-CN" sz="32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Q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：</a:t>
            </a:r>
            <a:r>
              <a:rPr kumimoji="0" lang="en-US" altLang="zh-CN" sz="32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</a:t>
            </a:r>
            <a:r>
              <a:rPr kumimoji="0" lang="en-US" altLang="zh-CN" sz="32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2=5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并且雪是黑的。 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7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7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3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Number Placeholder 5">
            <a:extLst>
              <a:ext uri="{FF2B5EF4-FFF2-40B4-BE49-F238E27FC236}">
                <a16:creationId xmlns:a16="http://schemas.microsoft.com/office/drawing/2014/main" id="{EF089B72-8828-0848-B326-E07B59A78B7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F20F2F6-0312-3E41-B2A1-F2A05BCD689F}" type="slidenum">
              <a:rPr kumimoji="0" lang="zh-CN" altLang="en-US" sz="1200"/>
              <a:pPr/>
              <a:t>9</a:t>
            </a:fld>
            <a:endParaRPr kumimoji="0" lang="en-US" altLang="zh-CN" sz="1200"/>
          </a:p>
        </p:txBody>
      </p:sp>
      <p:sp>
        <p:nvSpPr>
          <p:cNvPr id="99330" name="Rectangle 2">
            <a:extLst>
              <a:ext uri="{FF2B5EF4-FFF2-40B4-BE49-F238E27FC236}">
                <a16:creationId xmlns:a16="http://schemas.microsoft.com/office/drawing/2014/main" id="{25171841-9A4C-7B42-98CA-3B8566DE3A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8750" y="197768"/>
            <a:ext cx="8985250" cy="1143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定义</a:t>
            </a: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3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.1.4 蕴涵</a:t>
            </a:r>
          </a:p>
        </p:txBody>
      </p:sp>
      <p:sp>
        <p:nvSpPr>
          <p:cNvPr id="99331" name="Rectangle 3">
            <a:extLst>
              <a:ext uri="{FF2B5EF4-FFF2-40B4-BE49-F238E27FC236}">
                <a16:creationId xmlns:a16="http://schemas.microsoft.com/office/drawing/2014/main" id="{A75C2AB8-9B71-3F4F-964D-F3BEAF4E4B60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53975" y="1196975"/>
            <a:ext cx="8766175" cy="4968875"/>
          </a:xfrm>
        </p:spPr>
        <p:txBody>
          <a:bodyPr/>
          <a:lstStyle/>
          <a:p>
            <a:pPr marL="360363" indent="-360363">
              <a:lnSpc>
                <a:spcPct val="120000"/>
              </a:lnSpc>
              <a:spcBef>
                <a:spcPct val="50000"/>
              </a:spcBef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设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P，Q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是两个命题，命题 “如果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P，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Q”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称为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zh-CN" altLang="en-US" sz="3200" u="sng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蕴涵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Q，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记以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Q。 </a:t>
            </a:r>
          </a:p>
          <a:p>
            <a:pPr marL="360363" indent="-360363">
              <a:lnSpc>
                <a:spcPct val="120000"/>
              </a:lnSpc>
              <a:spcBef>
                <a:spcPct val="50000"/>
              </a:spcBef>
            </a:pPr>
            <a:r>
              <a:rPr kumimoji="0" lang="zh-CN" altLang="en-US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规定：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是假的当且仅当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是真的而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是假的。</a:t>
            </a:r>
          </a:p>
          <a:p>
            <a:pPr marL="360363" indent="-360363">
              <a:lnSpc>
                <a:spcPct val="120000"/>
              </a:lnSpc>
            </a:pPr>
            <a:r>
              <a:rPr kumimoji="0" lang="zh-CN" altLang="en-US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例如，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	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P：f(x)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是可微的；</a:t>
            </a:r>
            <a:b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		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Q：f(x)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是连续的；</a:t>
            </a:r>
            <a:b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Q：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若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f(x)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是可微的，则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f(x)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是连续的。 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93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93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31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Number Placeholder 5">
            <a:extLst>
              <a:ext uri="{FF2B5EF4-FFF2-40B4-BE49-F238E27FC236}">
                <a16:creationId xmlns:a16="http://schemas.microsoft.com/office/drawing/2014/main" id="{697AE401-3944-9946-A6D9-8485957B028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7A5A0F8-7D8A-DB41-8F3E-761531167213}" type="slidenum">
              <a:rPr kumimoji="0" lang="zh-CN" altLang="en-US" sz="1200"/>
              <a:pPr/>
              <a:t>10</a:t>
            </a:fld>
            <a:endParaRPr kumimoji="0" lang="en-US" altLang="zh-CN" sz="1200"/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627E7004-B13D-504D-9CFB-84CFC659E2D6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98438" y="1022350"/>
            <a:ext cx="8694737" cy="4854575"/>
          </a:xfrm>
        </p:spPr>
        <p:txBody>
          <a:bodyPr/>
          <a:lstStyle/>
          <a:p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显然，由定义知，当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是真的，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是真的时，命题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是真的。这和日常生活中语言 “如果…那么…”的意思是一致的。但由定义知，如果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是假命题，则不管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是什么命题，命题 “如果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P，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那么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Q”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在命题逻辑中都被认为是真命题。</a:t>
            </a:r>
            <a:endParaRPr kumimoji="0" lang="en-US" altLang="zh-CN" sz="3200">
              <a:latin typeface="Arial" panose="020B0604020202020204" pitchFamily="34" charset="0"/>
              <a:ea typeface="楷体_GB2312" pitchFamily="1" charset="-122"/>
            </a:endParaRPr>
          </a:p>
          <a:p>
            <a:endParaRPr kumimoji="0" lang="zh-CN" altLang="en-US" sz="3200">
              <a:latin typeface="Arial" panose="020B0604020202020204" pitchFamily="34" charset="0"/>
              <a:ea typeface="楷体_GB2312" pitchFamily="1" charset="-122"/>
            </a:endParaRPr>
          </a:p>
          <a:p>
            <a:pPr>
              <a:buFont typeface="Wingdings" pitchFamily="2" charset="2"/>
              <a:buChar char="v"/>
            </a:pPr>
            <a:r>
              <a:rPr kumimoji="0" lang="zh-CN" altLang="en-US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例如，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P： 2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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2=5，Q： 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雪是黑的。</a:t>
            </a:r>
            <a:b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于是，命题 “如果2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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2=5，则雪是黑的”是真命题。这是和人们日常生活中语言不一致的地方。 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0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9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Number Placeholder 5">
            <a:extLst>
              <a:ext uri="{FF2B5EF4-FFF2-40B4-BE49-F238E27FC236}">
                <a16:creationId xmlns:a16="http://schemas.microsoft.com/office/drawing/2014/main" id="{9A40CADB-FF8F-6249-83DB-A3ECC92EF2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973EC04-55B0-3B47-BF0B-BB258B14D7B4}" type="slidenum">
              <a:rPr kumimoji="0" lang="zh-CN" altLang="en-US" sz="1200"/>
              <a:pPr/>
              <a:t>11</a:t>
            </a:fld>
            <a:endParaRPr kumimoji="0" lang="en-US" altLang="zh-CN" sz="1200"/>
          </a:p>
        </p:txBody>
      </p:sp>
      <p:sp>
        <p:nvSpPr>
          <p:cNvPr id="248834" name="Rectangle 2">
            <a:extLst>
              <a:ext uri="{FF2B5EF4-FFF2-40B4-BE49-F238E27FC236}">
                <a16:creationId xmlns:a16="http://schemas.microsoft.com/office/drawing/2014/main" id="{A9B4E0CF-FB1E-EC49-B605-98809DA3BF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512" y="260648"/>
            <a:ext cx="6512511" cy="1143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ea typeface="+mj-ea"/>
                <a:cs typeface="+mj-cs"/>
              </a:rPr>
              <a:t>例：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32F22F71-E599-B245-9528-4A1B86241E99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06363" y="1600200"/>
            <a:ext cx="8858250" cy="36290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竞选人在竞选时的允诺：“如果我当选了，那么我将会减税。”</a:t>
            </a:r>
          </a:p>
        </p:txBody>
      </p:sp>
    </p:spTree>
  </p:cSld>
  <p:clrMapOvr>
    <a:masterClrMapping/>
  </p:clrMapOvr>
  <p:transition>
    <p:blinds dir="vert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Number Placeholder 5">
            <a:extLst>
              <a:ext uri="{FF2B5EF4-FFF2-40B4-BE49-F238E27FC236}">
                <a16:creationId xmlns:a16="http://schemas.microsoft.com/office/drawing/2014/main" id="{0CD73D92-2D68-934C-9F0A-C74D07D963E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C5905A3-CF7B-AD4F-82DD-7DBF8AF8B642}" type="slidenum">
              <a:rPr kumimoji="0" lang="zh-CN" altLang="en-US" sz="1200"/>
              <a:pPr/>
              <a:t>12</a:t>
            </a:fld>
            <a:endParaRPr kumimoji="0" lang="en-US" altLang="zh-CN" sz="1200"/>
          </a:p>
        </p:txBody>
      </p:sp>
      <p:sp>
        <p:nvSpPr>
          <p:cNvPr id="100354" name="Rectangle 2">
            <a:extLst>
              <a:ext uri="{FF2B5EF4-FFF2-40B4-BE49-F238E27FC236}">
                <a16:creationId xmlns:a16="http://schemas.microsoft.com/office/drawing/2014/main" id="{377F6DF5-5C29-4C49-A3D3-4F5254122C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9729" y="269776"/>
            <a:ext cx="6512511" cy="1143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定义</a:t>
            </a: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3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.1.5 等价</a:t>
            </a:r>
          </a:p>
        </p:txBody>
      </p:sp>
      <p:sp>
        <p:nvSpPr>
          <p:cNvPr id="100355" name="Rectangle 3">
            <a:extLst>
              <a:ext uri="{FF2B5EF4-FFF2-40B4-BE49-F238E27FC236}">
                <a16:creationId xmlns:a16="http://schemas.microsoft.com/office/drawing/2014/main" id="{00B72FAC-5F1F-334F-8C1F-8140328D1085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79388" y="1557338"/>
            <a:ext cx="8839200" cy="3887787"/>
          </a:xfrm>
        </p:spPr>
        <p:txBody>
          <a:bodyPr/>
          <a:lstStyle/>
          <a:p>
            <a:pPr marL="360363" indent="-360363">
              <a:spcBef>
                <a:spcPct val="50000"/>
              </a:spcBef>
              <a:tabLst>
                <a:tab pos="1149350" algn="l"/>
                <a:tab pos="1995488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设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P，Q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是两个命题，命题 “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当且仅当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Q”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称为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zh-CN" altLang="en-US" sz="3200" u="sng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等价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Q，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记以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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Q。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规定，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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是真的当且仅当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P，Q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或者都是真的，或者都是假的。</a:t>
            </a:r>
          </a:p>
          <a:p>
            <a:pPr marL="360363" indent="-360363">
              <a:spcBef>
                <a:spcPct val="50000"/>
              </a:spcBef>
              <a:buFont typeface="Wingdings" pitchFamily="2" charset="2"/>
              <a:buChar char="v"/>
              <a:tabLst>
                <a:tab pos="1149350" algn="l"/>
                <a:tab pos="1995488" algn="l"/>
              </a:tabLst>
            </a:pPr>
            <a:r>
              <a:rPr kumimoji="0" lang="zh-CN" altLang="en-US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例如，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P： a</a:t>
            </a:r>
            <a:r>
              <a:rPr kumimoji="0" lang="en-US" altLang="zh-CN" sz="3200" baseline="30000">
                <a:latin typeface="Arial" panose="020B0604020202020204" pitchFamily="34" charset="0"/>
                <a:ea typeface="楷体_GB2312" pitchFamily="1" charset="-122"/>
              </a:rPr>
              <a:t>2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+b</a:t>
            </a:r>
            <a:r>
              <a:rPr kumimoji="0" lang="en-US" altLang="zh-CN" sz="3200" baseline="30000">
                <a:latin typeface="Arial" panose="020B0604020202020204" pitchFamily="34" charset="0"/>
                <a:ea typeface="楷体_GB2312" pitchFamily="1" charset="-122"/>
              </a:rPr>
              <a:t>2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=a</a:t>
            </a:r>
            <a:r>
              <a:rPr kumimoji="0" lang="en-US" altLang="zh-CN" sz="3200" baseline="30000">
                <a:latin typeface="Arial" panose="020B0604020202020204" pitchFamily="34" charset="0"/>
                <a:ea typeface="楷体_GB2312" pitchFamily="1" charset="-122"/>
              </a:rPr>
              <a:t>2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，</a:t>
            </a:r>
            <a:b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	     Q： b=0，	</a:t>
            </a:r>
            <a:b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	     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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Q： a</a:t>
            </a:r>
            <a:r>
              <a:rPr kumimoji="0" lang="en-US" altLang="zh-CN" sz="3200" baseline="30000">
                <a:latin typeface="Arial" panose="020B0604020202020204" pitchFamily="34" charset="0"/>
                <a:ea typeface="楷体_GB2312" pitchFamily="1" charset="-122"/>
              </a:rPr>
              <a:t>2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+b</a:t>
            </a:r>
            <a:r>
              <a:rPr kumimoji="0" lang="en-US" altLang="zh-CN" sz="3200" baseline="30000">
                <a:latin typeface="Arial" panose="020B0604020202020204" pitchFamily="34" charset="0"/>
                <a:ea typeface="楷体_GB2312" pitchFamily="1" charset="-122"/>
              </a:rPr>
              <a:t>2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=a</a:t>
            </a:r>
            <a:r>
              <a:rPr kumimoji="0" lang="en-US" altLang="zh-CN" sz="3200" baseline="30000">
                <a:latin typeface="Arial" panose="020B0604020202020204" pitchFamily="34" charset="0"/>
                <a:ea typeface="楷体_GB2312" pitchFamily="1" charset="-122"/>
              </a:rPr>
              <a:t>2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当且仅当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b=0 。</a:t>
            </a:r>
            <a:endParaRPr kumimoji="0" lang="zh-CN" altLang="en-US" sz="3200">
              <a:latin typeface="Arial" panose="020B0604020202020204" pitchFamily="34" charset="0"/>
              <a:ea typeface="楷体_GB2312" pitchFamily="1" charset="-122"/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0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55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lide Number Placeholder 5">
            <a:extLst>
              <a:ext uri="{FF2B5EF4-FFF2-40B4-BE49-F238E27FC236}">
                <a16:creationId xmlns:a16="http://schemas.microsoft.com/office/drawing/2014/main" id="{F4C128A1-C541-FE42-8512-0FFF2933DBC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8DFDD56-8E41-4D42-B57F-7479B69AB700}" type="slidenum">
              <a:rPr kumimoji="0" lang="zh-CN" altLang="en-US" sz="1200"/>
              <a:pPr/>
              <a:t>13</a:t>
            </a:fld>
            <a:endParaRPr kumimoji="0" lang="en-US" altLang="zh-CN" sz="1200"/>
          </a:p>
        </p:txBody>
      </p:sp>
      <p:sp>
        <p:nvSpPr>
          <p:cNvPr id="250882" name="Rectangle 2">
            <a:extLst>
              <a:ext uri="{FF2B5EF4-FFF2-40B4-BE49-F238E27FC236}">
                <a16:creationId xmlns:a16="http://schemas.microsoft.com/office/drawing/2014/main" id="{D8D478A3-EEFB-DE4E-8A64-BE4FA2E396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8750" y="197768"/>
            <a:ext cx="8985250" cy="1143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ea typeface="+mj-ea"/>
                <a:cs typeface="+mj-cs"/>
              </a:rPr>
              <a:t>例：</a:t>
            </a:r>
          </a:p>
        </p:txBody>
      </p:sp>
      <p:sp>
        <p:nvSpPr>
          <p:cNvPr id="250883" name="Rectangle 3">
            <a:extLst>
              <a:ext uri="{FF2B5EF4-FFF2-40B4-BE49-F238E27FC236}">
                <a16:creationId xmlns:a16="http://schemas.microsoft.com/office/drawing/2014/main" id="{EE764ED1-2A96-C04C-AE5E-CFBADAE5E156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303213" y="1196975"/>
            <a:ext cx="8229600" cy="5111750"/>
          </a:xfrm>
        </p:spPr>
        <p:txBody>
          <a:bodyPr/>
          <a:lstStyle/>
          <a:p>
            <a:pPr marL="609600" indent="-609600"/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确定下列命题的真假：</a:t>
            </a:r>
          </a:p>
          <a:p>
            <a:pPr marL="609600" indent="-609600">
              <a:buFont typeface="Wingdings" pitchFamily="2" charset="2"/>
              <a:buAutoNum type="arabicParenR"/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若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1+1=2, 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2+2=5.</a:t>
            </a:r>
          </a:p>
          <a:p>
            <a:pPr marL="609600" indent="-609600">
              <a:buFont typeface="Wingdings" pitchFamily="2" charset="2"/>
              <a:buAutoNum type="arabicParenR"/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若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1+1=3, 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就存在上帝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.</a:t>
            </a:r>
          </a:p>
          <a:p>
            <a:pPr marL="609600" indent="-609600">
              <a:buFont typeface="Wingdings" pitchFamily="2" charset="2"/>
              <a:buAutoNum type="arabicParenR"/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若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1+1=3, 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猪就会飞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.</a:t>
            </a:r>
          </a:p>
          <a:p>
            <a:pPr marL="609600" indent="-609600">
              <a:buFont typeface="Wingdings" pitchFamily="2" charset="2"/>
              <a:buAutoNum type="arabicParenR"/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若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1+1=2, 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猪就会飞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.</a:t>
            </a:r>
          </a:p>
          <a:p>
            <a:pPr marL="609600" indent="-609600">
              <a:buFont typeface="Wingdings" pitchFamily="2" charset="2"/>
              <a:buAutoNum type="arabicParenR"/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雪是白的当且仅当太阳从东方升起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.</a:t>
            </a:r>
          </a:p>
          <a:p>
            <a:pPr marL="609600" indent="-609600">
              <a:buFont typeface="Wingdings" pitchFamily="2" charset="2"/>
              <a:buAutoNum type="arabicParenR"/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1+2=3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当且仅当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4+5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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9.</a:t>
            </a:r>
          </a:p>
          <a:p>
            <a:pPr marL="609600" indent="-609600"/>
            <a:r>
              <a:rPr kumimoji="0" lang="zh-CN" altLang="en-US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答：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0     1     1     0     1     0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508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Slide Number Placeholder 5">
            <a:extLst>
              <a:ext uri="{FF2B5EF4-FFF2-40B4-BE49-F238E27FC236}">
                <a16:creationId xmlns:a16="http://schemas.microsoft.com/office/drawing/2014/main" id="{0451EFB5-8CF4-AD4D-9F82-68DDC8A7275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AF7436E-0C54-3847-B340-137C0D2295B7}" type="slidenum">
              <a:rPr kumimoji="0" lang="zh-CN" altLang="en-US" sz="1200"/>
              <a:pPr/>
              <a:t>14</a:t>
            </a:fld>
            <a:endParaRPr kumimoji="0" lang="en-US" altLang="zh-CN" sz="1200"/>
          </a:p>
        </p:txBody>
      </p:sp>
      <p:sp>
        <p:nvSpPr>
          <p:cNvPr id="102402" name="Rectangle 2">
            <a:extLst>
              <a:ext uri="{FF2B5EF4-FFF2-40B4-BE49-F238E27FC236}">
                <a16:creationId xmlns:a16="http://schemas.microsoft.com/office/drawing/2014/main" id="{93AC5183-6175-5E4C-B6ED-1697E95D76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512" y="269776"/>
            <a:ext cx="6512511" cy="1143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例</a:t>
            </a: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3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.1.1</a:t>
            </a:r>
            <a:r>
              <a:rPr lang="zh-CN" altLang="en-US" dirty="0">
                <a:latin typeface="Arial" charset="0"/>
                <a:ea typeface="楷体_GB2312" charset="0"/>
                <a:cs typeface="Arial" charset="0"/>
              </a:rPr>
              <a:t> </a:t>
            </a:r>
          </a:p>
        </p:txBody>
      </p:sp>
      <p:sp>
        <p:nvSpPr>
          <p:cNvPr id="102403" name="Rectangle 3">
            <a:extLst>
              <a:ext uri="{FF2B5EF4-FFF2-40B4-BE49-F238E27FC236}">
                <a16:creationId xmlns:a16="http://schemas.microsoft.com/office/drawing/2014/main" id="{E3BD099D-06F2-394C-BF89-49D94E072600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07950" y="1581150"/>
            <a:ext cx="8712200" cy="3863975"/>
          </a:xfrm>
        </p:spPr>
        <p:txBody>
          <a:bodyPr/>
          <a:lstStyle/>
          <a:p>
            <a:pPr marL="360363" indent="-360363">
              <a:spcBef>
                <a:spcPct val="50000"/>
              </a:spcBef>
              <a:tabLst>
                <a:tab pos="1149350" algn="l"/>
                <a:tab pos="1995488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如果你走路时看书，那么你一定会成为近视眼。</a:t>
            </a:r>
          </a:p>
          <a:p>
            <a:pPr marL="360363" indent="-360363">
              <a:spcBef>
                <a:spcPct val="50000"/>
              </a:spcBef>
              <a:tabLst>
                <a:tab pos="1149350" algn="l"/>
                <a:tab pos="1995488" algn="l"/>
              </a:tabLst>
            </a:pPr>
            <a:endParaRPr kumimoji="0" lang="zh-CN" altLang="en-US" sz="3200">
              <a:latin typeface="Arial" panose="020B0604020202020204" pitchFamily="34" charset="0"/>
              <a:ea typeface="楷体_GB2312" pitchFamily="1" charset="-122"/>
            </a:endParaRPr>
          </a:p>
          <a:p>
            <a:pPr marL="360363" indent="-360363">
              <a:spcBef>
                <a:spcPct val="50000"/>
              </a:spcBef>
              <a:tabLst>
                <a:tab pos="1149350" algn="l"/>
                <a:tab pos="1995488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令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P：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你走路；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Q：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你看书； </a:t>
            </a:r>
            <a:r>
              <a:rPr kumimoji="0" lang="en-US" altLang="zh-CN" sz="3200">
                <a:latin typeface="Arial" panose="020B0604020202020204" pitchFamily="34" charset="0"/>
                <a:ea typeface="宋体" panose="02010600030101010101" pitchFamily="2" charset="-122"/>
              </a:rPr>
              <a:t>R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：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你是近视眼。</a:t>
            </a:r>
          </a:p>
          <a:p>
            <a:pPr marL="360363" indent="-360363">
              <a:spcBef>
                <a:spcPct val="50000"/>
              </a:spcBef>
              <a:buFont typeface="Wingdings" pitchFamily="2" charset="2"/>
              <a:buNone/>
              <a:tabLst>
                <a:tab pos="1149350" algn="l"/>
                <a:tab pos="1995488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	于是，上述语句可表示为（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Q）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R。</a:t>
            </a:r>
            <a:r>
              <a:rPr kumimoji="0" lang="en-US" altLang="zh-CN" sz="32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 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03" grpId="0" build="p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Slide Number Placeholder 5">
            <a:extLst>
              <a:ext uri="{FF2B5EF4-FFF2-40B4-BE49-F238E27FC236}">
                <a16:creationId xmlns:a16="http://schemas.microsoft.com/office/drawing/2014/main" id="{B3014CDF-B3F8-7749-9107-79E9F37089C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FCE6D39-AF63-3445-94EB-CA76CF2BB95B}" type="slidenum">
              <a:rPr kumimoji="0" lang="zh-CN" altLang="en-US" sz="1200"/>
              <a:pPr/>
              <a:t>15</a:t>
            </a:fld>
            <a:endParaRPr kumimoji="0" lang="en-US" altLang="zh-CN" sz="1200"/>
          </a:p>
        </p:txBody>
      </p:sp>
      <p:sp>
        <p:nvSpPr>
          <p:cNvPr id="101378" name="Rectangle 2">
            <a:extLst>
              <a:ext uri="{FF2B5EF4-FFF2-40B4-BE49-F238E27FC236}">
                <a16:creationId xmlns:a16="http://schemas.microsoft.com/office/drawing/2014/main" id="{D7B88E5D-F0EB-AF43-AAD9-E3D86B8396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1520" y="260648"/>
            <a:ext cx="6512511" cy="1143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例</a:t>
            </a: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3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.1.2</a:t>
            </a:r>
            <a:r>
              <a:rPr lang="zh-CN" altLang="en-US" dirty="0">
                <a:latin typeface="Arial" charset="0"/>
                <a:ea typeface="楷体_GB2312" charset="0"/>
                <a:cs typeface="Arial" charset="0"/>
              </a:rPr>
              <a:t> </a:t>
            </a:r>
          </a:p>
        </p:txBody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8E0CFD66-79E2-B14D-99F3-4EF8BF162031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25413" y="1484313"/>
            <a:ext cx="8839200" cy="4079875"/>
          </a:xfrm>
        </p:spPr>
        <p:txBody>
          <a:bodyPr/>
          <a:lstStyle/>
          <a:p>
            <a:pPr marL="360363" indent="-360363">
              <a:spcBef>
                <a:spcPct val="50000"/>
              </a:spcBef>
              <a:tabLst>
                <a:tab pos="1149350" algn="l"/>
                <a:tab pos="1995488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除非他以书面或口头的方式正式通知我，否则我不参加明天的会议。</a:t>
            </a:r>
          </a:p>
          <a:p>
            <a:pPr marL="360363" indent="-360363">
              <a:spcBef>
                <a:spcPct val="50000"/>
              </a:spcBef>
              <a:tabLst>
                <a:tab pos="1149350" algn="l"/>
                <a:tab pos="1995488" algn="l"/>
              </a:tabLst>
            </a:pPr>
            <a:endParaRPr kumimoji="0" lang="zh-CN" altLang="en-US" sz="3200">
              <a:latin typeface="Arial" panose="020B0604020202020204" pitchFamily="34" charset="0"/>
              <a:ea typeface="楷体_GB2312" pitchFamily="1" charset="-122"/>
            </a:endParaRPr>
          </a:p>
          <a:p>
            <a:pPr marL="360363" indent="-360363">
              <a:spcBef>
                <a:spcPct val="50000"/>
              </a:spcBef>
              <a:tabLst>
                <a:tab pos="1149350" algn="l"/>
                <a:tab pos="1995488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令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P：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他书面通知我；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Q：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他口头通知我； </a:t>
            </a:r>
            <a:r>
              <a:rPr kumimoji="0" lang="en-US" altLang="zh-CN" sz="3200">
                <a:latin typeface="Arial" panose="020B0604020202020204" pitchFamily="34" charset="0"/>
                <a:ea typeface="宋体" panose="02010600030101010101" pitchFamily="2" charset="-122"/>
              </a:rPr>
              <a:t>R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：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我参加明天的会议。 </a:t>
            </a:r>
          </a:p>
          <a:p>
            <a:pPr marL="360363" indent="-360363">
              <a:spcBef>
                <a:spcPct val="50000"/>
              </a:spcBef>
              <a:buFont typeface="Wingdings" pitchFamily="2" charset="2"/>
              <a:buNone/>
              <a:tabLst>
                <a:tab pos="1149350" algn="l"/>
                <a:tab pos="1995488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	于是，上述语句可表示为(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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R。 </a:t>
            </a:r>
            <a:r>
              <a:rPr kumimoji="0" lang="en-US" altLang="zh-CN" sz="320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 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13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1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79" grpId="0" build="p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Slide Number Placeholder 5">
            <a:extLst>
              <a:ext uri="{FF2B5EF4-FFF2-40B4-BE49-F238E27FC236}">
                <a16:creationId xmlns:a16="http://schemas.microsoft.com/office/drawing/2014/main" id="{03601CB1-7A19-AA48-87C1-CECDC405749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8B6E245-FA13-BD44-A0AE-3292BD9AE43A}" type="slidenum">
              <a:rPr kumimoji="0" lang="zh-CN" altLang="en-US" sz="1200"/>
              <a:pPr/>
              <a:t>16</a:t>
            </a:fld>
            <a:endParaRPr kumimoji="0" lang="en-US" altLang="zh-CN" sz="1200"/>
          </a:p>
        </p:txBody>
      </p:sp>
      <p:sp>
        <p:nvSpPr>
          <p:cNvPr id="104450" name="Rectangle 2">
            <a:extLst>
              <a:ext uri="{FF2B5EF4-FFF2-40B4-BE49-F238E27FC236}">
                <a16:creationId xmlns:a16="http://schemas.microsoft.com/office/drawing/2014/main" id="{31508D48-FDA2-5246-894E-B6B68018E6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8750" y="197768"/>
            <a:ext cx="8985250" cy="1143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例</a:t>
            </a: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3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.1.3</a:t>
            </a:r>
            <a:r>
              <a:rPr lang="zh-CN" altLang="en-US" dirty="0">
                <a:latin typeface="Arial" charset="0"/>
                <a:ea typeface="楷体_GB2312" charset="0"/>
                <a:cs typeface="Arial" charset="0"/>
              </a:rPr>
              <a:t> </a:t>
            </a:r>
          </a:p>
        </p:txBody>
      </p:sp>
      <p:sp>
        <p:nvSpPr>
          <p:cNvPr id="104451" name="Rectangle 3">
            <a:extLst>
              <a:ext uri="{FF2B5EF4-FFF2-40B4-BE49-F238E27FC236}">
                <a16:creationId xmlns:a16="http://schemas.microsoft.com/office/drawing/2014/main" id="{FB4E51F8-CBE0-5E47-A0C8-57DBC523C0E2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25413" y="1341438"/>
            <a:ext cx="8839200" cy="4967287"/>
          </a:xfrm>
        </p:spPr>
        <p:txBody>
          <a:bodyPr/>
          <a:lstStyle/>
          <a:p>
            <a:pPr marL="360363" indent="-360363">
              <a:lnSpc>
                <a:spcPct val="90000"/>
              </a:lnSpc>
              <a:spcBef>
                <a:spcPct val="50000"/>
              </a:spcBef>
              <a:tabLst>
                <a:tab pos="1149350" algn="l"/>
                <a:tab pos="1995488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设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P，Q，R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的意义如下： </a:t>
            </a:r>
            <a:b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P：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苹果是甜的；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Q：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苹果是红的；</a:t>
            </a:r>
            <a:b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R：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我买苹果。</a:t>
            </a:r>
            <a:b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试用日常语言复述下述复合命题：</a:t>
            </a:r>
            <a:b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(1) (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	(2) (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 </a:t>
            </a:r>
            <a:endParaRPr kumimoji="0" lang="zh-CN" altLang="en-US" sz="3200">
              <a:latin typeface="Arial" panose="020B0604020202020204" pitchFamily="34" charset="0"/>
              <a:ea typeface="楷体_GB2312" pitchFamily="1" charset="-122"/>
            </a:endParaRPr>
          </a:p>
          <a:p>
            <a:pPr marL="360363" indent="-360363">
              <a:lnSpc>
                <a:spcPct val="90000"/>
              </a:lnSpc>
              <a:spcBef>
                <a:spcPct val="50000"/>
              </a:spcBef>
              <a:buFont typeface="Wingdings" pitchFamily="2" charset="2"/>
              <a:buChar char="v"/>
              <a:tabLst>
                <a:tab pos="1149350" algn="l"/>
                <a:tab pos="1995488" algn="l"/>
              </a:tabLst>
            </a:pPr>
            <a:r>
              <a:rPr kumimoji="0" lang="zh-CN" altLang="en-US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解：</a:t>
            </a:r>
          </a:p>
          <a:p>
            <a:pPr marL="360363" indent="-360363">
              <a:lnSpc>
                <a:spcPct val="90000"/>
              </a:lnSpc>
              <a:spcBef>
                <a:spcPct val="50000"/>
              </a:spcBef>
              <a:buFont typeface="Wingdings" pitchFamily="2" charset="2"/>
              <a:buNone/>
              <a:tabLst>
                <a:tab pos="1149350" algn="l"/>
                <a:tab pos="1995488" algn="l"/>
              </a:tabLst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	(1)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如果苹果甜且红，那么我买。</a:t>
            </a:r>
          </a:p>
          <a:p>
            <a:pPr marL="360363" indent="-360363">
              <a:lnSpc>
                <a:spcPct val="90000"/>
              </a:lnSpc>
              <a:spcBef>
                <a:spcPct val="50000"/>
              </a:spcBef>
              <a:buFont typeface="Wingdings" pitchFamily="2" charset="2"/>
              <a:buNone/>
              <a:tabLst>
                <a:tab pos="1149350" algn="l"/>
                <a:tab pos="1995488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 	(2)我没买苹果，因为苹果不甜也不红。</a:t>
            </a:r>
            <a:r>
              <a:rPr kumimoji="0" lang="en-US" altLang="zh-CN" sz="3200">
                <a:solidFill>
                  <a:srgbClr val="FFFF00"/>
                </a:solidFill>
                <a:latin typeface="Arial" panose="020B0604020202020204" pitchFamily="34" charset="0"/>
                <a:ea typeface="楷体_GB2312" pitchFamily="1" charset="-122"/>
                <a:hlinkClick r:id="rId3" action="ppaction://hlinksldjump"/>
              </a:rPr>
              <a:t>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hlinkClick r:id="rId3" action="ppaction://hlinksldjump"/>
              </a:rPr>
              <a:t> </a:t>
            </a:r>
            <a:endParaRPr kumimoji="0" lang="en-US" altLang="zh-CN" sz="3200">
              <a:latin typeface="Arial" panose="020B0604020202020204" pitchFamily="34" charset="0"/>
              <a:ea typeface="楷体_GB2312" pitchFamily="1" charset="-122"/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4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4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4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46">
            <a:extLst>
              <a:ext uri="{FF2B5EF4-FFF2-40B4-BE49-F238E27FC236}">
                <a16:creationId xmlns:a16="http://schemas.microsoft.com/office/drawing/2014/main" id="{CC878F6C-AE8A-2243-811E-F49B5765977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8134CB8-BDAA-3045-9D8A-236BB79BADCA}" type="slidenum">
              <a:rPr kumimoji="0" lang="zh-CN" altLang="en-US" sz="1200"/>
              <a:pPr/>
              <a:t>17</a:t>
            </a:fld>
            <a:endParaRPr kumimoji="0" lang="en-US" altLang="zh-CN" sz="1200"/>
          </a:p>
        </p:txBody>
      </p:sp>
      <p:sp>
        <p:nvSpPr>
          <p:cNvPr id="106498" name="Rectangle 2">
            <a:extLst>
              <a:ext uri="{FF2B5EF4-FFF2-40B4-BE49-F238E27FC236}">
                <a16:creationId xmlns:a16="http://schemas.microsoft.com/office/drawing/2014/main" id="{AE784740-F184-8F44-8C39-BD521421EB5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58888" y="2100263"/>
            <a:ext cx="6477000" cy="1905000"/>
          </a:xfrm>
        </p:spPr>
        <p:txBody>
          <a:bodyPr/>
          <a:lstStyle/>
          <a:p>
            <a:pPr algn="ctr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>
                <a:latin typeface="Times New Roman" charset="0"/>
                <a:ea typeface="楷体_GB2312" charset="0"/>
                <a:cs typeface="+mj-cs"/>
              </a:rPr>
              <a:t>命题公式</a:t>
            </a:r>
            <a:r>
              <a:rPr lang="zh-CN" altLang="en-US">
                <a:latin typeface="Arial" charset="0"/>
                <a:ea typeface="楷体_GB2312" charset="0"/>
                <a:cs typeface="+mj-cs"/>
              </a:rPr>
              <a:t> </a:t>
            </a:r>
          </a:p>
        </p:txBody>
      </p:sp>
    </p:spTree>
  </p:cSld>
  <p:clrMapOvr>
    <a:masterClrMapping/>
  </p:clrMapOvr>
  <p:transition>
    <p:blinds dir="vert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Slide Number Placeholder 5">
            <a:extLst>
              <a:ext uri="{FF2B5EF4-FFF2-40B4-BE49-F238E27FC236}">
                <a16:creationId xmlns:a16="http://schemas.microsoft.com/office/drawing/2014/main" id="{4820C468-55D3-D64D-8792-0AA9BFE5E4E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6FA2AEC-84F6-1349-98E9-671F1E4C2C95}" type="slidenum">
              <a:rPr kumimoji="0" lang="zh-CN" altLang="en-US" sz="1200"/>
              <a:pPr/>
              <a:t>18</a:t>
            </a:fld>
            <a:endParaRPr kumimoji="0" lang="en-US" altLang="zh-CN" sz="1200"/>
          </a:p>
        </p:txBody>
      </p:sp>
      <p:sp>
        <p:nvSpPr>
          <p:cNvPr id="107523" name="Rectangle 3">
            <a:extLst>
              <a:ext uri="{FF2B5EF4-FFF2-40B4-BE49-F238E27FC236}">
                <a16:creationId xmlns:a16="http://schemas.microsoft.com/office/drawing/2014/main" id="{D111B099-1BE6-0941-A73F-3C61F98A1F9F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07950" y="1508125"/>
            <a:ext cx="8839200" cy="3289300"/>
          </a:xfrm>
        </p:spPr>
        <p:txBody>
          <a:bodyPr/>
          <a:lstStyle/>
          <a:p>
            <a:pPr marL="360363" indent="-360363">
              <a:lnSpc>
                <a:spcPct val="130000"/>
              </a:lnSpc>
              <a:spcBef>
                <a:spcPct val="50000"/>
              </a:spcBef>
              <a:tabLst>
                <a:tab pos="1149350" algn="l"/>
                <a:tab pos="1995488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我们用大写的英文字母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P，Q，R，…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等代表一个抽象的命题，或称为</a:t>
            </a:r>
            <a:r>
              <a:rPr kumimoji="0" lang="zh-CN" altLang="en-US" sz="3200" u="sng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命题符号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。</a:t>
            </a:r>
          </a:p>
          <a:p>
            <a:pPr marL="360363" indent="-360363">
              <a:lnSpc>
                <a:spcPct val="130000"/>
              </a:lnSpc>
              <a:spcBef>
                <a:spcPct val="50000"/>
              </a:spcBef>
              <a:tabLst>
                <a:tab pos="1149350" algn="l"/>
                <a:tab pos="1995488" algn="l"/>
              </a:tabLst>
            </a:pPr>
            <a:r>
              <a:rPr kumimoji="0" lang="zh-CN" altLang="en-US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定义</a:t>
            </a:r>
            <a:r>
              <a:rPr kumimoji="0" lang="en-US" altLang="zh-CN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3</a:t>
            </a:r>
            <a:r>
              <a:rPr kumimoji="0" lang="zh-CN" altLang="en-US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.1</a:t>
            </a:r>
            <a:r>
              <a:rPr kumimoji="0" lang="en-US" altLang="zh-CN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.6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  命题符号称为</a:t>
            </a:r>
            <a:r>
              <a:rPr kumimoji="0" lang="zh-CN" altLang="en-US" sz="3200" u="sng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原子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。</a:t>
            </a:r>
          </a:p>
          <a:p>
            <a:pPr marL="360363" indent="-360363">
              <a:lnSpc>
                <a:spcPct val="130000"/>
              </a:lnSpc>
              <a:spcBef>
                <a:spcPct val="50000"/>
              </a:spcBef>
              <a:buFont typeface="Wingdings" pitchFamily="2" charset="2"/>
              <a:buChar char="v"/>
              <a:tabLst>
                <a:tab pos="1149350" algn="l"/>
                <a:tab pos="1995488" algn="l"/>
              </a:tabLst>
            </a:pPr>
            <a:r>
              <a:rPr kumimoji="0" lang="zh-CN" altLang="en-US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例如，</a:t>
            </a:r>
            <a:r>
              <a:rPr kumimoji="0" lang="en-US" altLang="zh-CN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zh-CN" altLang="en-US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Q，S，…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等都是原子。 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7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7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23" grpId="0" build="p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Slide Number Placeholder 5">
            <a:extLst>
              <a:ext uri="{FF2B5EF4-FFF2-40B4-BE49-F238E27FC236}">
                <a16:creationId xmlns:a16="http://schemas.microsoft.com/office/drawing/2014/main" id="{7FE01817-8B0A-4B4E-8621-4ED65B0E4A5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A1D75D0-7834-0246-BD8C-C03988320611}" type="slidenum">
              <a:rPr kumimoji="0" lang="zh-CN" altLang="en-US" sz="1200"/>
              <a:pPr/>
              <a:t>19</a:t>
            </a:fld>
            <a:endParaRPr kumimoji="0" lang="en-US" altLang="zh-CN" sz="1200"/>
          </a:p>
        </p:txBody>
      </p:sp>
      <p:sp>
        <p:nvSpPr>
          <p:cNvPr id="108546" name="Rectangle 2">
            <a:extLst>
              <a:ext uri="{FF2B5EF4-FFF2-40B4-BE49-F238E27FC236}">
                <a16:creationId xmlns:a16="http://schemas.microsoft.com/office/drawing/2014/main" id="{5848E744-77AF-414D-9EBE-7036E72334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9863" y="354013"/>
            <a:ext cx="7691437" cy="9144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定义</a:t>
            </a: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3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.</a:t>
            </a: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1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.</a:t>
            </a: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7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 命题公式</a:t>
            </a:r>
          </a:p>
        </p:txBody>
      </p:sp>
      <p:sp>
        <p:nvSpPr>
          <p:cNvPr id="108547" name="Rectangle 3">
            <a:extLst>
              <a:ext uri="{FF2B5EF4-FFF2-40B4-BE49-F238E27FC236}">
                <a16:creationId xmlns:a16="http://schemas.microsoft.com/office/drawing/2014/main" id="{3367C7D9-5D63-FB44-97CD-09E38789984C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79388" y="1485900"/>
            <a:ext cx="8856662" cy="4391025"/>
          </a:xfrm>
        </p:spPr>
        <p:txBody>
          <a:bodyPr/>
          <a:lstStyle/>
          <a:p>
            <a:pPr marL="377825" indent="-377825">
              <a:tabLst>
                <a:tab pos="1149350" algn="l"/>
                <a:tab pos="1995488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命题逻辑中的</a:t>
            </a:r>
            <a:r>
              <a:rPr kumimoji="0" lang="zh-CN" altLang="en-US" sz="3200" u="sng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公式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，是如下定义的一个符号串：</a:t>
            </a:r>
          </a:p>
          <a:p>
            <a:pPr marL="377825" indent="-377825">
              <a:buFont typeface="Wingdings" pitchFamily="2" charset="2"/>
              <a:buNone/>
              <a:tabLst>
                <a:tab pos="1149350" algn="l"/>
                <a:tab pos="1995488" algn="l"/>
              </a:tabLst>
            </a:pPr>
            <a:r>
              <a:rPr kumimoji="0" lang="zh-CN" altLang="en-US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	(1)	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原子是公式；</a:t>
            </a:r>
          </a:p>
          <a:p>
            <a:pPr marL="377825" indent="-377825">
              <a:buFont typeface="Wingdings" pitchFamily="2" charset="2"/>
              <a:buNone/>
              <a:tabLst>
                <a:tab pos="1149350" algn="l"/>
                <a:tab pos="1995488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	</a:t>
            </a:r>
            <a:r>
              <a:rPr kumimoji="0" lang="zh-CN" altLang="en-US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(2)	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0、1是公式； </a:t>
            </a:r>
          </a:p>
          <a:p>
            <a:pPr marL="377825" indent="-377825">
              <a:buFont typeface="Wingdings" pitchFamily="2" charset="2"/>
              <a:buNone/>
              <a:tabLst>
                <a:tab pos="1149350" algn="l"/>
                <a:tab pos="1995488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	</a:t>
            </a:r>
            <a:r>
              <a:rPr kumimoji="0" lang="zh-CN" altLang="en-US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(3)	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若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、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H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是公式，则(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G)，(G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H)，                           	(G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H)，(G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H)，(G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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H)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是公式；</a:t>
            </a:r>
          </a:p>
          <a:p>
            <a:pPr marL="377825" indent="-377825">
              <a:buFont typeface="Wingdings" pitchFamily="2" charset="2"/>
              <a:buNone/>
              <a:tabLst>
                <a:tab pos="1149350" algn="l"/>
                <a:tab pos="1995488" algn="l"/>
              </a:tabLst>
            </a:pPr>
            <a:r>
              <a:rPr kumimoji="0" lang="zh-CN" altLang="en-US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	(4)	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所有公式都是有限次使用(1)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,(2),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(3)得到的符号串。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8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85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85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8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Slide Number Placeholder 5">
            <a:extLst>
              <a:ext uri="{FF2B5EF4-FFF2-40B4-BE49-F238E27FC236}">
                <a16:creationId xmlns:a16="http://schemas.microsoft.com/office/drawing/2014/main" id="{A34580AB-542D-0E4D-A7AE-4775DCC269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EDD8D07-77A2-1940-A537-DAF596E5DC7B}" type="slidenum">
              <a:rPr kumimoji="0" lang="zh-CN" altLang="en-US" sz="1200"/>
              <a:pPr/>
              <a:t>20</a:t>
            </a:fld>
            <a:endParaRPr kumimoji="0" lang="en-US" altLang="zh-CN" sz="1200"/>
          </a:p>
        </p:txBody>
      </p:sp>
      <p:sp>
        <p:nvSpPr>
          <p:cNvPr id="109570" name="Rectangle 2">
            <a:extLst>
              <a:ext uri="{FF2B5EF4-FFF2-40B4-BE49-F238E27FC236}">
                <a16:creationId xmlns:a16="http://schemas.microsoft.com/office/drawing/2014/main" id="{F62821CF-D157-CF4A-BC37-2D73B7996D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9863" y="277813"/>
            <a:ext cx="7691437" cy="9144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规定：</a:t>
            </a:r>
          </a:p>
        </p:txBody>
      </p:sp>
      <p:sp>
        <p:nvSpPr>
          <p:cNvPr id="109571" name="Rectangle 3">
            <a:extLst>
              <a:ext uri="{FF2B5EF4-FFF2-40B4-BE49-F238E27FC236}">
                <a16:creationId xmlns:a16="http://schemas.microsoft.com/office/drawing/2014/main" id="{28F55345-0C54-F648-804F-43AA776C6E83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79388" y="1268413"/>
            <a:ext cx="8785225" cy="4681537"/>
          </a:xfrm>
        </p:spPr>
        <p:txBody>
          <a:bodyPr/>
          <a:lstStyle/>
          <a:p>
            <a:pPr marL="377825" indent="-377825">
              <a:lnSpc>
                <a:spcPct val="90000"/>
              </a:lnSpc>
              <a:buFont typeface="Wingdings" pitchFamily="2" charset="2"/>
              <a:buAutoNum type="arabicPeriod"/>
              <a:tabLst>
                <a:tab pos="1149350" algn="l"/>
                <a:tab pos="1995488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公式(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G)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的括号可以省略，写成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G。</a:t>
            </a:r>
          </a:p>
          <a:p>
            <a:pPr marL="377825" indent="-377825">
              <a:lnSpc>
                <a:spcPct val="90000"/>
              </a:lnSpc>
              <a:buFont typeface="Wingdings" pitchFamily="2" charset="2"/>
              <a:buAutoNum type="arabicPeriod"/>
              <a:tabLst>
                <a:tab pos="1149350" algn="l"/>
                <a:tab pos="1995488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整个公式的最外层括号可以省略。</a:t>
            </a:r>
          </a:p>
          <a:p>
            <a:pPr marL="377825" indent="-377825">
              <a:lnSpc>
                <a:spcPct val="90000"/>
              </a:lnSpc>
              <a:buFont typeface="Wingdings" pitchFamily="2" charset="2"/>
              <a:buAutoNum type="arabicPeriod"/>
              <a:tabLst>
                <a:tab pos="1149350" algn="l"/>
                <a:tab pos="1995488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五种逻辑联结词的优先级按如下次序递增：</a:t>
            </a:r>
          </a:p>
          <a:p>
            <a:pPr marL="377825" indent="-377825" algn="ctr">
              <a:lnSpc>
                <a:spcPct val="90000"/>
              </a:lnSpc>
              <a:buFont typeface="Wingdings" pitchFamily="2" charset="2"/>
              <a:buNone/>
              <a:tabLst>
                <a:tab pos="1149350" algn="l"/>
                <a:tab pos="1995488" algn="l"/>
              </a:tabLst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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endParaRPr kumimoji="0" lang="zh-CN" altLang="en-US" sz="3200">
              <a:latin typeface="Arial" panose="020B0604020202020204" pitchFamily="34" charset="0"/>
              <a:ea typeface="楷体_GB2312" pitchFamily="1" charset="-122"/>
            </a:endParaRPr>
          </a:p>
          <a:p>
            <a:pPr marL="377825" indent="-377825">
              <a:lnSpc>
                <a:spcPct val="90000"/>
              </a:lnSpc>
              <a:tabLst>
                <a:tab pos="1149350" algn="l"/>
                <a:tab pos="1995488" algn="l"/>
              </a:tabLst>
            </a:pPr>
            <a:r>
              <a:rPr kumimoji="0" lang="zh-CN" altLang="en-US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例如：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我们写符号串</a:t>
            </a:r>
            <a:b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		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S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</a:t>
            </a:r>
            <a:b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就意味着是如下公式： 	((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(Q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R))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(Q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((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S)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R)))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9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95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95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95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6" dur="3000" fill="hold"/>
                                        <p:tgtEl>
                                          <p:spTgt spid="1095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095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571" grpId="0" build="p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Slide Number Placeholder 5">
            <a:extLst>
              <a:ext uri="{FF2B5EF4-FFF2-40B4-BE49-F238E27FC236}">
                <a16:creationId xmlns:a16="http://schemas.microsoft.com/office/drawing/2014/main" id="{63EE4925-8865-B641-B7A7-26FDDCE342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F805992-6C2E-7D47-9AB1-3F4C6F686BDD}" type="slidenum">
              <a:rPr kumimoji="0" lang="zh-CN" altLang="en-US" sz="1200"/>
              <a:pPr/>
              <a:t>21</a:t>
            </a:fld>
            <a:endParaRPr kumimoji="0" lang="en-US" altLang="zh-CN" sz="1200"/>
          </a:p>
        </p:txBody>
      </p:sp>
      <p:sp>
        <p:nvSpPr>
          <p:cNvPr id="110595" name="Rectangle 3">
            <a:extLst>
              <a:ext uri="{FF2B5EF4-FFF2-40B4-BE49-F238E27FC236}">
                <a16:creationId xmlns:a16="http://schemas.microsoft.com/office/drawing/2014/main" id="{CB24A54B-A77B-B74F-981D-ED5C068055AD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98438" y="1268413"/>
            <a:ext cx="8621712" cy="4464050"/>
          </a:xfrm>
        </p:spPr>
        <p:txBody>
          <a:bodyPr/>
          <a:lstStyle/>
          <a:p>
            <a:pPr marL="361950" indent="-361950">
              <a:lnSpc>
                <a:spcPct val="110000"/>
              </a:lnSpc>
              <a:tabLst>
                <a:tab pos="1149350" algn="l"/>
                <a:tab pos="1995488" algn="l"/>
              </a:tabLst>
            </a:pPr>
            <a:r>
              <a:rPr kumimoji="0" lang="zh-CN" altLang="en-US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定义</a:t>
            </a:r>
            <a:r>
              <a:rPr kumimoji="0" lang="en-US" altLang="zh-CN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3</a:t>
            </a:r>
            <a:r>
              <a:rPr kumimoji="0" lang="zh-CN" altLang="en-US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.</a:t>
            </a:r>
            <a:r>
              <a:rPr kumimoji="0" lang="en-US" altLang="zh-CN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zh-CN" altLang="en-US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.</a:t>
            </a:r>
            <a:r>
              <a:rPr kumimoji="0" lang="en-US" altLang="zh-CN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8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  设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是命题公式，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A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, …,A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是出现在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中的所有原子。指定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A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, …,A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的一组真值，则这组真值称为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的一个</a:t>
            </a:r>
            <a:r>
              <a:rPr kumimoji="0" lang="zh-CN" altLang="en-US" sz="3200" u="sng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解释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。</a:t>
            </a:r>
          </a:p>
          <a:p>
            <a:pPr marL="361950" indent="-361950">
              <a:lnSpc>
                <a:spcPct val="110000"/>
              </a:lnSpc>
              <a:tabLst>
                <a:tab pos="1149350" algn="l"/>
                <a:tab pos="1995488" algn="l"/>
              </a:tabLst>
            </a:pP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设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是公式，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是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的一个解释，显然，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在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下有真值，通常记为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T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(G)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1" charset="-122"/>
              </a:rPr>
              <a:t>。</a:t>
            </a:r>
          </a:p>
          <a:p>
            <a:pPr marL="361950" indent="-361950">
              <a:lnSpc>
                <a:spcPct val="110000"/>
              </a:lnSpc>
              <a:tabLst>
                <a:tab pos="1149350" algn="l"/>
                <a:tab pos="1995488" algn="l"/>
              </a:tabLst>
            </a:pP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显然，有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个不同原子的公式，共有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2</a:t>
            </a:r>
            <a:r>
              <a:rPr kumimoji="0" lang="en-US" altLang="zh-CN" sz="3200" baseline="30000"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个解释。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 </a:t>
            </a:r>
            <a:endParaRPr kumimoji="0" lang="zh-CN" altLang="en-US" sz="3200">
              <a:latin typeface="Arial" panose="020B0604020202020204" pitchFamily="34" charset="0"/>
              <a:ea typeface="楷体_GB2312" pitchFamily="1" charset="-122"/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0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0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595" grpId="0" build="p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Slide Number Placeholder 5">
            <a:extLst>
              <a:ext uri="{FF2B5EF4-FFF2-40B4-BE49-F238E27FC236}">
                <a16:creationId xmlns:a16="http://schemas.microsoft.com/office/drawing/2014/main" id="{A6D8C0F2-1D93-4647-A1B5-31814644440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3756945-BA1E-2A4D-BBA7-2CFF2543B37B}" type="slidenum">
              <a:rPr kumimoji="0" lang="zh-CN" altLang="en-US" sz="1200"/>
              <a:pPr/>
              <a:t>22</a:t>
            </a:fld>
            <a:endParaRPr kumimoji="0" lang="en-US" altLang="zh-CN" sz="1200"/>
          </a:p>
        </p:txBody>
      </p:sp>
      <p:sp>
        <p:nvSpPr>
          <p:cNvPr id="111618" name="Rectangle 2">
            <a:extLst>
              <a:ext uri="{FF2B5EF4-FFF2-40B4-BE49-F238E27FC236}">
                <a16:creationId xmlns:a16="http://schemas.microsoft.com/office/drawing/2014/main" id="{0DAA21A6-B45C-8A47-AC1B-753BA176C1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9863" y="322263"/>
            <a:ext cx="7691437" cy="823912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楷体_GB2312" pitchFamily="49" charset="-122"/>
                <a:ea typeface="+mj-ea"/>
                <a:cs typeface="+mj-cs"/>
              </a:rPr>
              <a:t>例：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59CD6C93-D030-534B-BA55-ADBABAE695B9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52400" y="1371600"/>
            <a:ext cx="8839200" cy="4800600"/>
          </a:xfrm>
        </p:spPr>
        <p:txBody>
          <a:bodyPr/>
          <a:lstStyle/>
          <a:p>
            <a:pPr marL="361950" indent="-361950" defTabSz="908050">
              <a:spcBef>
                <a:spcPct val="50000"/>
              </a:spcBef>
              <a:tabLst>
                <a:tab pos="4006850" algn="l"/>
              </a:tabLst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G=P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Q，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设解释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I，I’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如下：</a:t>
            </a:r>
            <a:b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</a:br>
            <a:b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I：  	 I’：</a:t>
            </a:r>
            <a:b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</a:br>
            <a:b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</a:br>
            <a:b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T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 (G)=1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1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T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I’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 (G)=0 </a:t>
            </a:r>
            <a:endParaRPr kumimoji="0" lang="zh-CN" altLang="en-US" sz="3200">
              <a:latin typeface="Arial" panose="020B0604020202020204" pitchFamily="34" charset="0"/>
              <a:ea typeface="楷体_GB2312" pitchFamily="1" charset="-122"/>
            </a:endParaRPr>
          </a:p>
        </p:txBody>
      </p:sp>
      <p:grpSp>
        <p:nvGrpSpPr>
          <p:cNvPr id="52228" name="Group 7">
            <a:extLst>
              <a:ext uri="{FF2B5EF4-FFF2-40B4-BE49-F238E27FC236}">
                <a16:creationId xmlns:a16="http://schemas.microsoft.com/office/drawing/2014/main" id="{5161C5BE-AA0D-4644-B6FC-F459BD913965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2286000"/>
            <a:ext cx="2286000" cy="1377950"/>
            <a:chOff x="1056" y="2208"/>
            <a:chExt cx="1440" cy="868"/>
          </a:xfrm>
        </p:grpSpPr>
        <p:sp>
          <p:nvSpPr>
            <p:cNvPr id="52233" name="Rectangle 4">
              <a:extLst>
                <a:ext uri="{FF2B5EF4-FFF2-40B4-BE49-F238E27FC236}">
                  <a16:creationId xmlns:a16="http://schemas.microsoft.com/office/drawing/2014/main" id="{FA3FAB7D-4531-E74B-816D-B78A9DCBFC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2208"/>
              <a:ext cx="1032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4000" b="1">
                  <a:latin typeface="Times New Roman" panose="02020603050405020304" pitchFamily="18" charset="0"/>
                </a:rPr>
                <a:t> P     Q</a:t>
              </a:r>
              <a:endParaRPr lang="zh-CN" altLang="en-US" sz="4000" b="1" u="sng">
                <a:latin typeface="Times New Roman" panose="02020603050405020304" pitchFamily="18" charset="0"/>
              </a:endParaRPr>
            </a:p>
          </p:txBody>
        </p:sp>
        <p:sp>
          <p:nvSpPr>
            <p:cNvPr id="52234" name="Line 5">
              <a:extLst>
                <a:ext uri="{FF2B5EF4-FFF2-40B4-BE49-F238E27FC236}">
                  <a16:creationId xmlns:a16="http://schemas.microsoft.com/office/drawing/2014/main" id="{6079B5F0-F605-764B-84B6-3E193714C9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2640"/>
              <a:ext cx="14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2235" name="Rectangle 6">
              <a:extLst>
                <a:ext uri="{FF2B5EF4-FFF2-40B4-BE49-F238E27FC236}">
                  <a16:creationId xmlns:a16="http://schemas.microsoft.com/office/drawing/2014/main" id="{1553C72C-42EB-8B44-83AD-3E1B2630A0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2630"/>
              <a:ext cx="1005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4000" b="1">
                  <a:latin typeface="Times New Roman" panose="02020603050405020304" pitchFamily="18" charset="0"/>
                </a:rPr>
                <a:t> 1      1</a:t>
              </a:r>
              <a:endParaRPr lang="zh-CN" altLang="en-US" sz="4000" b="1" u="sng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52229" name="Group 8">
            <a:extLst>
              <a:ext uri="{FF2B5EF4-FFF2-40B4-BE49-F238E27FC236}">
                <a16:creationId xmlns:a16="http://schemas.microsoft.com/office/drawing/2014/main" id="{0604D514-83B6-4B4C-9DB3-90AD6BDA57B9}"/>
              </a:ext>
            </a:extLst>
          </p:cNvPr>
          <p:cNvGrpSpPr>
            <a:grpSpLocks/>
          </p:cNvGrpSpPr>
          <p:nvPr/>
        </p:nvGrpSpPr>
        <p:grpSpPr bwMode="auto">
          <a:xfrm>
            <a:off x="5410200" y="2286000"/>
            <a:ext cx="2286000" cy="1377950"/>
            <a:chOff x="1056" y="2208"/>
            <a:chExt cx="1440" cy="868"/>
          </a:xfrm>
        </p:grpSpPr>
        <p:sp>
          <p:nvSpPr>
            <p:cNvPr id="52230" name="Rectangle 9">
              <a:extLst>
                <a:ext uri="{FF2B5EF4-FFF2-40B4-BE49-F238E27FC236}">
                  <a16:creationId xmlns:a16="http://schemas.microsoft.com/office/drawing/2014/main" id="{9E76C56C-A03B-6E46-846E-ED41CE664E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2208"/>
              <a:ext cx="1032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4000" b="1">
                  <a:latin typeface="Times New Roman" panose="02020603050405020304" pitchFamily="18" charset="0"/>
                </a:rPr>
                <a:t> P     Q</a:t>
              </a:r>
              <a:endParaRPr lang="zh-CN" altLang="en-US" sz="4000" b="1" u="sng">
                <a:latin typeface="Times New Roman" panose="02020603050405020304" pitchFamily="18" charset="0"/>
              </a:endParaRPr>
            </a:p>
          </p:txBody>
        </p:sp>
        <p:sp>
          <p:nvSpPr>
            <p:cNvPr id="52231" name="Line 10">
              <a:extLst>
                <a:ext uri="{FF2B5EF4-FFF2-40B4-BE49-F238E27FC236}">
                  <a16:creationId xmlns:a16="http://schemas.microsoft.com/office/drawing/2014/main" id="{BF17C9F8-2A2B-784A-8E18-29F8817115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2640"/>
              <a:ext cx="144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2232" name="Rectangle 11">
              <a:extLst>
                <a:ext uri="{FF2B5EF4-FFF2-40B4-BE49-F238E27FC236}">
                  <a16:creationId xmlns:a16="http://schemas.microsoft.com/office/drawing/2014/main" id="{AC596915-6123-8E42-8B61-06A376B0A1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2630"/>
              <a:ext cx="1005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4000" b="1">
                  <a:latin typeface="Times New Roman" panose="02020603050405020304" pitchFamily="18" charset="0"/>
                </a:rPr>
                <a:t> 1      0</a:t>
              </a:r>
              <a:endParaRPr lang="zh-CN" altLang="en-US" sz="4000" b="1" u="sng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>
    <p:blinds dir="vert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Slide Number Placeholder 5">
            <a:extLst>
              <a:ext uri="{FF2B5EF4-FFF2-40B4-BE49-F238E27FC236}">
                <a16:creationId xmlns:a16="http://schemas.microsoft.com/office/drawing/2014/main" id="{F2CEDA02-D66B-3E4A-A643-0071F430A88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D9BCB0F-1109-184C-9EBD-005353DDB61A}" type="slidenum">
              <a:rPr kumimoji="0" lang="zh-CN" altLang="en-US" sz="1200"/>
              <a:pPr/>
              <a:t>23</a:t>
            </a:fld>
            <a:endParaRPr kumimoji="0" lang="en-US" altLang="zh-CN" sz="1200"/>
          </a:p>
        </p:txBody>
      </p:sp>
      <p:sp>
        <p:nvSpPr>
          <p:cNvPr id="112642" name="Rectangle 2">
            <a:extLst>
              <a:ext uri="{FF2B5EF4-FFF2-40B4-BE49-F238E27FC236}">
                <a16:creationId xmlns:a16="http://schemas.microsoft.com/office/drawing/2014/main" id="{17D0747B-9A3F-914C-A58F-7DAFD3F31A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9863" y="517525"/>
            <a:ext cx="7691437" cy="823913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定义</a:t>
            </a: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3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.</a:t>
            </a: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1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.</a:t>
            </a: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9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 真值表</a:t>
            </a: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 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DAC8E7F9-D9BB-9041-AAC2-9096D63C3D98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07950" y="1587500"/>
            <a:ext cx="8640763" cy="3281363"/>
          </a:xfrm>
        </p:spPr>
        <p:txBody>
          <a:bodyPr/>
          <a:lstStyle/>
          <a:p>
            <a:pPr marL="361950" indent="-361950">
              <a:lnSpc>
                <a:spcPct val="130000"/>
              </a:lnSpc>
              <a:spcBef>
                <a:spcPct val="50000"/>
              </a:spcBef>
              <a:tabLst>
                <a:tab pos="1149350" algn="l"/>
                <a:tab pos="1995488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公式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在其所有可能的解释下所取真值的表，称为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的真值表。</a:t>
            </a:r>
          </a:p>
          <a:p>
            <a:pPr marL="361950" indent="-361950">
              <a:lnSpc>
                <a:spcPct val="130000"/>
              </a:lnSpc>
              <a:spcBef>
                <a:spcPct val="50000"/>
              </a:spcBef>
              <a:tabLst>
                <a:tab pos="1149350" algn="l"/>
                <a:tab pos="1995488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显然，对任一公式都有一真值表。</a:t>
            </a:r>
          </a:p>
        </p:txBody>
      </p:sp>
    </p:spTree>
  </p:cSld>
  <p:clrMapOvr>
    <a:masterClrMapping/>
  </p:clrMapOvr>
  <p:transition>
    <p:blinds dir="vert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Slide Number Placeholder 5">
            <a:extLst>
              <a:ext uri="{FF2B5EF4-FFF2-40B4-BE49-F238E27FC236}">
                <a16:creationId xmlns:a16="http://schemas.microsoft.com/office/drawing/2014/main" id="{5D8E0905-67FA-E44E-B3E9-EC532D780F4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163B06E-F876-064B-A035-62DA357C7FD4}" type="slidenum">
              <a:rPr kumimoji="0" lang="zh-CN" altLang="en-US" sz="1200"/>
              <a:pPr/>
              <a:t>24</a:t>
            </a:fld>
            <a:endParaRPr kumimoji="0" lang="en-US" altLang="zh-CN" sz="1200"/>
          </a:p>
        </p:txBody>
      </p:sp>
      <p:sp>
        <p:nvSpPr>
          <p:cNvPr id="55298" name="Rectangle 3">
            <a:extLst>
              <a:ext uri="{FF2B5EF4-FFF2-40B4-BE49-F238E27FC236}">
                <a16:creationId xmlns:a16="http://schemas.microsoft.com/office/drawing/2014/main" id="{2E0A19F8-5899-BD4C-B8E1-97B31310AC86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25413" y="333375"/>
            <a:ext cx="6967537" cy="695325"/>
          </a:xfrm>
        </p:spPr>
        <p:txBody>
          <a:bodyPr/>
          <a:lstStyle/>
          <a:p>
            <a:pPr marL="0" indent="0" defTabSz="908050">
              <a:spcBef>
                <a:spcPct val="50000"/>
              </a:spcBef>
              <a:tabLst>
                <a:tab pos="4006850" algn="l"/>
              </a:tabLst>
            </a:pPr>
            <a:r>
              <a:rPr kumimoji="0" lang="zh-CN" altLang="en-US" sz="3200">
                <a:solidFill>
                  <a:srgbClr val="4E67C8"/>
                </a:solidFill>
                <a:latin typeface="宋体" panose="02010600030101010101" pitchFamily="2" charset="-122"/>
                <a:ea typeface="楷体_GB2312" pitchFamily="1" charset="-122"/>
              </a:rPr>
              <a:t>例：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G=(P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1" charset="-122"/>
              </a:rPr>
              <a:t>，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其真值表如下：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 </a:t>
            </a:r>
          </a:p>
        </p:txBody>
      </p:sp>
      <p:graphicFrame>
        <p:nvGraphicFramePr>
          <p:cNvPr id="148742" name="Group 1286">
            <a:extLst>
              <a:ext uri="{FF2B5EF4-FFF2-40B4-BE49-F238E27FC236}">
                <a16:creationId xmlns:a16="http://schemas.microsoft.com/office/drawing/2014/main" id="{CBAC9AAE-47BC-8B48-805C-EBB48C0BA9AC}"/>
              </a:ext>
            </a:extLst>
          </p:cNvPr>
          <p:cNvGraphicFramePr>
            <a:graphicFrameLocks noGrp="1"/>
          </p:cNvGraphicFramePr>
          <p:nvPr/>
        </p:nvGraphicFramePr>
        <p:xfrm>
          <a:off x="1476375" y="1196975"/>
          <a:ext cx="6096000" cy="5214942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313850438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17005326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22021216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853597169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17860342"/>
                    </a:ext>
                  </a:extLst>
                </a:gridCol>
              </a:tblGrid>
              <a:tr h="5794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P</a:t>
                      </a:r>
                    </a:p>
                  </a:txBody>
                  <a:tcPr marT="45708" marB="457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Q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R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P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  <a:sym typeface="Symbol" pitchFamily="2" charset="2"/>
                        </a:rPr>
                        <a:t>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Q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G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2304628"/>
                  </a:ext>
                </a:extLst>
              </a:tr>
              <a:tr h="5794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0</a:t>
                      </a:r>
                    </a:p>
                  </a:txBody>
                  <a:tcPr marT="45708" marB="457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0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0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0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498914"/>
                  </a:ext>
                </a:extLst>
              </a:tr>
              <a:tr h="5794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0</a:t>
                      </a:r>
                    </a:p>
                  </a:txBody>
                  <a:tcPr marT="45708" marB="457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0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0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0793453"/>
                  </a:ext>
                </a:extLst>
              </a:tr>
              <a:tr h="5794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0</a:t>
                      </a:r>
                    </a:p>
                  </a:txBody>
                  <a:tcPr marT="45708" marB="457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0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0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9493983"/>
                  </a:ext>
                </a:extLst>
              </a:tr>
              <a:tr h="5794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0</a:t>
                      </a:r>
                    </a:p>
                  </a:txBody>
                  <a:tcPr marT="45708" marB="457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0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4560516"/>
                  </a:ext>
                </a:extLst>
              </a:tr>
              <a:tr h="5794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</a:t>
                      </a:r>
                    </a:p>
                  </a:txBody>
                  <a:tcPr marT="45708" marB="457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0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0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0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67088"/>
                  </a:ext>
                </a:extLst>
              </a:tr>
              <a:tr h="5794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</a:t>
                      </a:r>
                    </a:p>
                  </a:txBody>
                  <a:tcPr marT="45708" marB="457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0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0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6791771"/>
                  </a:ext>
                </a:extLst>
              </a:tr>
              <a:tr h="5794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4E67C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</a:t>
                      </a:r>
                    </a:p>
                  </a:txBody>
                  <a:tcPr marT="45708" marB="457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4E67C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4E67C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0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4E67C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4E67C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0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4355168"/>
                  </a:ext>
                </a:extLst>
              </a:tr>
              <a:tr h="5794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</a:t>
                      </a:r>
                    </a:p>
                  </a:txBody>
                  <a:tcPr marT="45708" marB="457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1084854"/>
                  </a:ext>
                </a:extLst>
              </a:tr>
            </a:tbl>
          </a:graphicData>
        </a:graphic>
      </p:graphicFrame>
      <p:graphicFrame>
        <p:nvGraphicFramePr>
          <p:cNvPr id="148743" name="Group 1287">
            <a:extLst>
              <a:ext uri="{FF2B5EF4-FFF2-40B4-BE49-F238E27FC236}">
                <a16:creationId xmlns:a16="http://schemas.microsoft.com/office/drawing/2014/main" id="{2886CB0B-A0EA-A842-A9A4-DE8D759809F1}"/>
              </a:ext>
            </a:extLst>
          </p:cNvPr>
          <p:cNvGraphicFramePr>
            <a:graphicFrameLocks noGrp="1"/>
          </p:cNvGraphicFramePr>
          <p:nvPr/>
        </p:nvGraphicFramePr>
        <p:xfrm>
          <a:off x="2700338" y="1196975"/>
          <a:ext cx="3959225" cy="5214942"/>
        </p:xfrm>
        <a:graphic>
          <a:graphicData uri="http://schemas.openxmlformats.org/drawingml/2006/table">
            <a:tbl>
              <a:tblPr/>
              <a:tblGrid>
                <a:gridCol w="628650">
                  <a:extLst>
                    <a:ext uri="{9D8B030D-6E8A-4147-A177-3AD203B41FA5}">
                      <a16:colId xmlns:a16="http://schemas.microsoft.com/office/drawing/2014/main" val="638652398"/>
                    </a:ext>
                  </a:extLst>
                </a:gridCol>
                <a:gridCol w="623887">
                  <a:extLst>
                    <a:ext uri="{9D8B030D-6E8A-4147-A177-3AD203B41FA5}">
                      <a16:colId xmlns:a16="http://schemas.microsoft.com/office/drawing/2014/main" val="3331336386"/>
                    </a:ext>
                  </a:extLst>
                </a:gridCol>
                <a:gridCol w="601663">
                  <a:extLst>
                    <a:ext uri="{9D8B030D-6E8A-4147-A177-3AD203B41FA5}">
                      <a16:colId xmlns:a16="http://schemas.microsoft.com/office/drawing/2014/main" val="178144975"/>
                    </a:ext>
                  </a:extLst>
                </a:gridCol>
                <a:gridCol w="2105025">
                  <a:extLst>
                    <a:ext uri="{9D8B030D-6E8A-4147-A177-3AD203B41FA5}">
                      <a16:colId xmlns:a16="http://schemas.microsoft.com/office/drawing/2014/main" val="2257228995"/>
                    </a:ext>
                  </a:extLst>
                </a:gridCol>
              </a:tblGrid>
              <a:tr h="5794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P</a:t>
                      </a:r>
                    </a:p>
                  </a:txBody>
                  <a:tcPr marT="45708" marB="457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Q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R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(P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  <a:sym typeface="Symbol" pitchFamily="2" charset="2"/>
                        </a:rPr>
                        <a:t>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Q)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  <a:sym typeface="Symbol" pitchFamily="2" charset="2"/>
                        </a:rPr>
                        <a:t>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R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3763773"/>
                  </a:ext>
                </a:extLst>
              </a:tr>
              <a:tr h="5794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0</a:t>
                      </a:r>
                    </a:p>
                  </a:txBody>
                  <a:tcPr marT="45708" marB="457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0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0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0     1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4587886"/>
                  </a:ext>
                </a:extLst>
              </a:tr>
              <a:tr h="5794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0</a:t>
                      </a:r>
                    </a:p>
                  </a:txBody>
                  <a:tcPr marT="45708" marB="457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0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0     1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363289"/>
                  </a:ext>
                </a:extLst>
              </a:tr>
              <a:tr h="5794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0</a:t>
                      </a:r>
                    </a:p>
                  </a:txBody>
                  <a:tcPr marT="45708" marB="457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0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0     1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1693244"/>
                  </a:ext>
                </a:extLst>
              </a:tr>
              <a:tr h="5794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0</a:t>
                      </a:r>
                    </a:p>
                  </a:txBody>
                  <a:tcPr marT="45708" marB="457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0     1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180628"/>
                  </a:ext>
                </a:extLst>
              </a:tr>
              <a:tr h="5794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</a:t>
                      </a:r>
                    </a:p>
                  </a:txBody>
                  <a:tcPr marT="45708" marB="457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0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0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0     1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87690"/>
                  </a:ext>
                </a:extLst>
              </a:tr>
              <a:tr h="5794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</a:t>
                      </a:r>
                    </a:p>
                  </a:txBody>
                  <a:tcPr marT="45708" marB="457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0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0     1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1889069"/>
                  </a:ext>
                </a:extLst>
              </a:tr>
              <a:tr h="5794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</a:t>
                      </a:r>
                    </a:p>
                  </a:txBody>
                  <a:tcPr marT="45708" marB="457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>
                      <a:lvl1pPr marL="533400" indent="-5334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533400" marR="0" lvl="0" indent="-5334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0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>
                      <a:lvl1pPr marL="533400" indent="-5334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533400" marR="0" lvl="0" indent="-5334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1     0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1089310"/>
                  </a:ext>
                </a:extLst>
              </a:tr>
              <a:tr h="5794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</a:t>
                      </a:r>
                    </a:p>
                  </a:txBody>
                  <a:tcPr marT="45708" marB="4570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1     1</a:t>
                      </a:r>
                    </a:p>
                  </a:txBody>
                  <a:tcPr marT="45708" marB="4570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3241573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487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87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48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3" dur="500"/>
                                        <p:tgtEl>
                                          <p:spTgt spid="1487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8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8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Slide Number Placeholder 5">
            <a:extLst>
              <a:ext uri="{FF2B5EF4-FFF2-40B4-BE49-F238E27FC236}">
                <a16:creationId xmlns:a16="http://schemas.microsoft.com/office/drawing/2014/main" id="{27FA6AED-0B31-724C-8EA6-C68EB43CC35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837543F-52B2-2A47-A60C-817506D6E605}" type="slidenum">
              <a:rPr kumimoji="0" lang="zh-CN" altLang="en-US" sz="1200"/>
              <a:pPr/>
              <a:t>25</a:t>
            </a:fld>
            <a:endParaRPr kumimoji="0" lang="en-US" altLang="zh-CN" sz="1200"/>
          </a:p>
        </p:txBody>
      </p:sp>
      <p:sp>
        <p:nvSpPr>
          <p:cNvPr id="114749" name="Rectangle 61">
            <a:extLst>
              <a:ext uri="{FF2B5EF4-FFF2-40B4-BE49-F238E27FC236}">
                <a16:creationId xmlns:a16="http://schemas.microsoft.com/office/drawing/2014/main" id="{5E0663C8-DE3B-404F-AEE0-FF14742E1E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8750" y="197768"/>
            <a:ext cx="8985250" cy="1143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解释的表示</a:t>
            </a: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 </a:t>
            </a:r>
          </a:p>
        </p:txBody>
      </p:sp>
      <p:sp>
        <p:nvSpPr>
          <p:cNvPr id="114691" name="Rectangle 3">
            <a:extLst>
              <a:ext uri="{FF2B5EF4-FFF2-40B4-BE49-F238E27FC236}">
                <a16:creationId xmlns:a16="http://schemas.microsoft.com/office/drawing/2014/main" id="{60BD3778-703B-6D40-A501-BDFC0D34E7F1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06363" y="1339850"/>
            <a:ext cx="8713787" cy="5184775"/>
          </a:xfrm>
        </p:spPr>
        <p:txBody>
          <a:bodyPr/>
          <a:lstStyle/>
          <a:p>
            <a:pPr marL="361950" indent="-361950" defTabSz="908050">
              <a:lnSpc>
                <a:spcPct val="120000"/>
              </a:lnSpc>
              <a:spcBef>
                <a:spcPct val="50000"/>
              </a:spcBef>
              <a:tabLst>
                <a:tab pos="4006850" algn="l"/>
              </a:tabLst>
            </a:pP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若公式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中出现的所有原子为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A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1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…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1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A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1" charset="-122"/>
              </a:rPr>
              <a:t>，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有时我们用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{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m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1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…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1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m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}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表示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的一个解释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1" charset="-122"/>
              </a:rPr>
              <a:t>，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其中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 </a:t>
            </a:r>
            <a:b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                        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当</a:t>
            </a:r>
            <a:r>
              <a:rPr kumimoji="0" lang="en-US" altLang="zh-CN" sz="3200" i="1">
                <a:latin typeface="Arial" panose="020B0604020202020204" pitchFamily="34" charset="0"/>
                <a:ea typeface="楷体_GB2312" pitchFamily="1" charset="-122"/>
              </a:rPr>
              <a:t>A</a:t>
            </a:r>
            <a:r>
              <a:rPr kumimoji="0" lang="en-US" altLang="zh-CN" sz="3200" i="1" baseline="-250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在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下为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时</a:t>
            </a:r>
            <a:b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                        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当</a:t>
            </a:r>
            <a:r>
              <a:rPr kumimoji="0" lang="en-US" altLang="zh-CN" sz="3200" i="1">
                <a:latin typeface="Arial" panose="020B0604020202020204" pitchFamily="34" charset="0"/>
                <a:ea typeface="楷体_GB2312" pitchFamily="1" charset="-122"/>
              </a:rPr>
              <a:t>A</a:t>
            </a:r>
            <a:r>
              <a:rPr kumimoji="0" lang="en-US" altLang="zh-CN" sz="3200" i="1" baseline="-250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在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下为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0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时</a:t>
            </a:r>
          </a:p>
          <a:p>
            <a:pPr marL="361950" indent="-361950" defTabSz="908050">
              <a:lnSpc>
                <a:spcPct val="120000"/>
              </a:lnSpc>
              <a:spcBef>
                <a:spcPct val="50000"/>
              </a:spcBef>
              <a:tabLst>
                <a:tab pos="4006850" algn="l"/>
              </a:tabLst>
            </a:pPr>
            <a:r>
              <a:rPr kumimoji="0" lang="zh-CN" altLang="en-US" sz="3200">
                <a:solidFill>
                  <a:srgbClr val="4E67C8"/>
                </a:solidFill>
                <a:latin typeface="宋体" panose="02010600030101010101" pitchFamily="2" charset="-122"/>
                <a:ea typeface="楷体_GB2312" pitchFamily="1" charset="-122"/>
              </a:rPr>
              <a:t>例如，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上例公式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的真值表中第二个解释就可以记为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{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1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1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R} </a:t>
            </a:r>
            <a:endParaRPr kumimoji="0" lang="zh-CN" altLang="en-US" sz="3200">
              <a:latin typeface="Arial" panose="020B0604020202020204" pitchFamily="34" charset="0"/>
              <a:ea typeface="楷体_GB2312" pitchFamily="1" charset="-122"/>
            </a:endParaRPr>
          </a:p>
        </p:txBody>
      </p:sp>
      <p:graphicFrame>
        <p:nvGraphicFramePr>
          <p:cNvPr id="57348" name="Object 58">
            <a:extLst>
              <a:ext uri="{FF2B5EF4-FFF2-40B4-BE49-F238E27FC236}">
                <a16:creationId xmlns:a16="http://schemas.microsoft.com/office/drawing/2014/main" id="{EBD89E8F-0E80-D54D-9FD0-2613512CCDB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58888" y="3141663"/>
          <a:ext cx="1933575" cy="1327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58" name="公式" r:id="rId3" imgW="800100" imgH="571500" progId="Equation.3">
                  <p:embed/>
                </p:oleObj>
              </mc:Choice>
              <mc:Fallback>
                <p:oleObj name="公式" r:id="rId3" imgW="800100" imgH="571500" progId="Equation.3">
                  <p:embed/>
                  <p:pic>
                    <p:nvPicPr>
                      <p:cNvPr id="0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3141663"/>
                        <a:ext cx="1933575" cy="1327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49" name="对象 1">
            <a:extLst>
              <a:ext uri="{FF2B5EF4-FFF2-40B4-BE49-F238E27FC236}">
                <a16:creationId xmlns:a16="http://schemas.microsoft.com/office/drawing/2014/main" id="{AD3D56A6-1AF7-964E-8CBD-2AE0DD5947E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00788" y="3556000"/>
          <a:ext cx="1827212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59" name="公式" r:id="rId5" imgW="723900" imgH="177800" progId="Equation.3">
                  <p:embed/>
                </p:oleObj>
              </mc:Choice>
              <mc:Fallback>
                <p:oleObj name="公式" r:id="rId5" imgW="723900" imgH="177800" progId="Equation.3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788" y="3556000"/>
                        <a:ext cx="1827212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4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Slide Number Placeholder 5">
            <a:extLst>
              <a:ext uri="{FF2B5EF4-FFF2-40B4-BE49-F238E27FC236}">
                <a16:creationId xmlns:a16="http://schemas.microsoft.com/office/drawing/2014/main" id="{141EF653-8111-3B41-BD57-B2A965A5261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87331A6-6E27-D049-97EF-DFA69F95BAF9}" type="slidenum">
              <a:rPr kumimoji="0" lang="zh-CN" altLang="en-US" sz="1200"/>
              <a:pPr/>
              <a:t>26</a:t>
            </a:fld>
            <a:endParaRPr kumimoji="0" lang="en-US" altLang="zh-CN" sz="1200"/>
          </a:p>
        </p:txBody>
      </p:sp>
      <p:sp>
        <p:nvSpPr>
          <p:cNvPr id="115714" name="Rectangle 2">
            <a:extLst>
              <a:ext uri="{FF2B5EF4-FFF2-40B4-BE49-F238E27FC236}">
                <a16:creationId xmlns:a16="http://schemas.microsoft.com/office/drawing/2014/main" id="{1D620680-9D6D-3F46-BE1C-7A519D5E48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9863" y="373063"/>
            <a:ext cx="7691437" cy="823912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定义</a:t>
            </a: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3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.</a:t>
            </a: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1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.</a:t>
            </a: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10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 </a:t>
            </a:r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C446AE5C-2AC6-A441-83C0-AFCA292651BE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53975" y="1443038"/>
            <a:ext cx="8839200" cy="3786187"/>
          </a:xfrm>
        </p:spPr>
        <p:txBody>
          <a:bodyPr/>
          <a:lstStyle/>
          <a:p>
            <a:pPr marL="361950" indent="-361950">
              <a:lnSpc>
                <a:spcPct val="140000"/>
              </a:lnSpc>
              <a:spcBef>
                <a:spcPct val="50000"/>
              </a:spcBef>
              <a:tabLst>
                <a:tab pos="1149350" algn="l"/>
                <a:tab pos="1995488" algn="l"/>
              </a:tabLst>
            </a:pP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公式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称为</a:t>
            </a:r>
            <a:r>
              <a:rPr kumimoji="0" lang="zh-CN" altLang="en-US" sz="3200" u="sng">
                <a:solidFill>
                  <a:srgbClr val="4E67C8"/>
                </a:solidFill>
                <a:latin typeface="宋体" panose="02010600030101010101" pitchFamily="2" charset="-122"/>
                <a:ea typeface="楷体_GB2312" pitchFamily="1" charset="-122"/>
              </a:rPr>
              <a:t>恒真的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(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或有效的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)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，如果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在它的所有解释下都是真的；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 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公式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称为</a:t>
            </a:r>
            <a:r>
              <a:rPr kumimoji="0" lang="zh-CN" altLang="en-US" sz="3200" u="sng">
                <a:solidFill>
                  <a:srgbClr val="4E67C8"/>
                </a:solidFill>
                <a:latin typeface="宋体" panose="02010600030101010101" pitchFamily="2" charset="-122"/>
                <a:ea typeface="楷体_GB2312" pitchFamily="1" charset="-122"/>
              </a:rPr>
              <a:t>恒假的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(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或</a:t>
            </a:r>
            <a:r>
              <a:rPr kumimoji="0" lang="zh-CN" altLang="en-US" sz="3200" u="sng">
                <a:solidFill>
                  <a:srgbClr val="4E67C8"/>
                </a:solidFill>
                <a:latin typeface="宋体" panose="02010600030101010101" pitchFamily="2" charset="-122"/>
                <a:ea typeface="楷体_GB2312" pitchFamily="1" charset="-122"/>
              </a:rPr>
              <a:t>不可满足的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)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，如果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在它的所有解释下都是假的；公式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称为</a:t>
            </a:r>
            <a:r>
              <a:rPr kumimoji="0" lang="zh-CN" altLang="en-US" sz="3200" u="sng">
                <a:solidFill>
                  <a:srgbClr val="4E67C8"/>
                </a:solidFill>
                <a:latin typeface="宋体" panose="02010600030101010101" pitchFamily="2" charset="-122"/>
                <a:ea typeface="楷体_GB2312" pitchFamily="1" charset="-122"/>
              </a:rPr>
              <a:t>可满足的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，如果它不是恒假的。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 </a:t>
            </a:r>
          </a:p>
        </p:txBody>
      </p:sp>
    </p:spTree>
  </p:cSld>
  <p:clrMapOvr>
    <a:masterClrMapping/>
  </p:clrMapOvr>
  <p:transition>
    <p:blinds dir="vert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Slide Number Placeholder 5">
            <a:extLst>
              <a:ext uri="{FF2B5EF4-FFF2-40B4-BE49-F238E27FC236}">
                <a16:creationId xmlns:a16="http://schemas.microsoft.com/office/drawing/2014/main" id="{EF7A10A3-9E1B-7140-AFDB-0A69CC27701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A08E358-B891-E544-92D2-B422CD507276}" type="slidenum">
              <a:rPr kumimoji="0" lang="zh-CN" altLang="en-US" sz="1200"/>
              <a:pPr/>
              <a:t>27</a:t>
            </a:fld>
            <a:endParaRPr kumimoji="0" lang="en-US" altLang="zh-CN" sz="1200"/>
          </a:p>
        </p:txBody>
      </p:sp>
      <p:sp>
        <p:nvSpPr>
          <p:cNvPr id="116739" name="Rectangle 3">
            <a:extLst>
              <a:ext uri="{FF2B5EF4-FFF2-40B4-BE49-F238E27FC236}">
                <a16:creationId xmlns:a16="http://schemas.microsoft.com/office/drawing/2014/main" id="{87650441-8D42-A646-A742-78FDC1466C74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79388" y="1341438"/>
            <a:ext cx="8640762" cy="4608512"/>
          </a:xfrm>
        </p:spPr>
        <p:txBody>
          <a:bodyPr/>
          <a:lstStyle/>
          <a:p>
            <a:pPr marL="361950" indent="-361950">
              <a:lnSpc>
                <a:spcPct val="130000"/>
              </a:lnSpc>
              <a:tabLst>
                <a:tab pos="361950" algn="l"/>
                <a:tab pos="1149350" algn="l"/>
                <a:tab pos="1995488" algn="l"/>
              </a:tabLst>
            </a:pP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是恒真的当且仅当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是恒假的。</a:t>
            </a:r>
          </a:p>
          <a:p>
            <a:pPr marL="361950" indent="-361950">
              <a:lnSpc>
                <a:spcPct val="130000"/>
              </a:lnSpc>
              <a:tabLst>
                <a:tab pos="361950" algn="l"/>
                <a:tab pos="1149350" algn="l"/>
                <a:tab pos="1995488" algn="l"/>
              </a:tabLst>
            </a:pP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是可满足的当且仅当至少有一个解释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I，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使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在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下为真。</a:t>
            </a:r>
          </a:p>
          <a:p>
            <a:pPr marL="361950" indent="-361950">
              <a:lnSpc>
                <a:spcPct val="130000"/>
              </a:lnSpc>
              <a:tabLst>
                <a:tab pos="361950" algn="l"/>
                <a:tab pos="1149350" algn="l"/>
                <a:tab pos="1995488" algn="l"/>
              </a:tabLst>
            </a:pP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若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是恒真的，则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是可满足的；反之不对。</a:t>
            </a:r>
          </a:p>
          <a:p>
            <a:pPr marL="361950" indent="-361950">
              <a:lnSpc>
                <a:spcPct val="130000"/>
              </a:lnSpc>
              <a:tabLst>
                <a:tab pos="361950" algn="l"/>
                <a:tab pos="1149350" algn="l"/>
                <a:tab pos="1995488" algn="l"/>
              </a:tabLst>
            </a:pPr>
            <a:r>
              <a:rPr kumimoji="0" lang="zh-CN" altLang="en-US" sz="3200" dirty="0">
                <a:latin typeface="宋体" panose="02010600030101010101" pitchFamily="2" charset="-122"/>
                <a:ea typeface="楷体_GB2312" pitchFamily="1" charset="-122"/>
              </a:rPr>
              <a:t>如果公式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1" charset="-122"/>
              </a:rPr>
              <a:t>在解释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1" charset="-122"/>
              </a:rPr>
              <a:t>下是真的，则称</a:t>
            </a:r>
            <a:r>
              <a:rPr kumimoji="0" lang="en-US" altLang="zh-CN" sz="3200" dirty="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3200" dirty="0">
                <a:solidFill>
                  <a:srgbClr val="4E67C8"/>
                </a:solidFill>
                <a:latin typeface="宋体" panose="02010600030101010101" pitchFamily="2" charset="-122"/>
                <a:ea typeface="楷体_GB2312" pitchFamily="1" charset="-122"/>
              </a:rPr>
              <a:t>满足</a:t>
            </a:r>
            <a:r>
              <a:rPr kumimoji="0" lang="en-US" altLang="zh-CN" sz="3200" dirty="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3200" dirty="0">
                <a:latin typeface="宋体" panose="02010600030101010101" pitchFamily="2" charset="-122"/>
                <a:ea typeface="楷体_GB2312" pitchFamily="1" charset="-122"/>
              </a:rPr>
              <a:t>；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 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1" charset="-122"/>
              </a:rPr>
              <a:t>如果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1" charset="-122"/>
              </a:rPr>
              <a:t>在解释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1" charset="-122"/>
              </a:rPr>
              <a:t>下是假的，则称</a:t>
            </a:r>
            <a:r>
              <a:rPr kumimoji="0" lang="en-US" altLang="zh-CN" sz="3200" dirty="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3200" dirty="0">
                <a:solidFill>
                  <a:srgbClr val="4E67C8"/>
                </a:solidFill>
                <a:latin typeface="宋体" panose="02010600030101010101" pitchFamily="2" charset="-122"/>
                <a:ea typeface="楷体_GB2312" pitchFamily="1" charset="-122"/>
              </a:rPr>
              <a:t>弄假</a:t>
            </a:r>
            <a:r>
              <a:rPr kumimoji="0" lang="en-US" altLang="zh-CN" sz="3200" dirty="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3200" dirty="0">
                <a:latin typeface="宋体" panose="02010600030101010101" pitchFamily="2" charset="-122"/>
                <a:ea typeface="楷体_GB2312" pitchFamily="1" charset="-122"/>
              </a:rPr>
              <a:t>。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 </a:t>
            </a:r>
            <a:endParaRPr kumimoji="0" lang="zh-CN" altLang="en-US" sz="3200" dirty="0">
              <a:latin typeface="Arial" panose="020B0604020202020204" pitchFamily="34" charset="0"/>
              <a:ea typeface="楷体_GB2312" pitchFamily="1" charset="-122"/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67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6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67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39" grpId="0" build="p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Slide Number Placeholder 5">
            <a:extLst>
              <a:ext uri="{FF2B5EF4-FFF2-40B4-BE49-F238E27FC236}">
                <a16:creationId xmlns:a16="http://schemas.microsoft.com/office/drawing/2014/main" id="{17309D1F-C5CD-6E43-9946-7BCEB80EB53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8C8AD21-A6A4-AB46-BC0B-4184664B393B}" type="slidenum">
              <a:rPr kumimoji="0" lang="zh-CN" altLang="en-US" sz="1200"/>
              <a:pPr/>
              <a:t>28</a:t>
            </a:fld>
            <a:endParaRPr kumimoji="0" lang="en-US" altLang="zh-CN" sz="1200"/>
          </a:p>
        </p:txBody>
      </p:sp>
      <p:sp>
        <p:nvSpPr>
          <p:cNvPr id="117762" name="Rectangle 2">
            <a:extLst>
              <a:ext uri="{FF2B5EF4-FFF2-40B4-BE49-F238E27FC236}">
                <a16:creationId xmlns:a16="http://schemas.microsoft.com/office/drawing/2014/main" id="{17D44B29-B095-2142-93E1-7FD45BF350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9863" y="333375"/>
            <a:ext cx="7691437" cy="9144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判定问题</a:t>
            </a:r>
          </a:p>
        </p:txBody>
      </p:sp>
      <p:sp>
        <p:nvSpPr>
          <p:cNvPr id="117763" name="Rectangle 3">
            <a:extLst>
              <a:ext uri="{FF2B5EF4-FFF2-40B4-BE49-F238E27FC236}">
                <a16:creationId xmlns:a16="http://schemas.microsoft.com/office/drawing/2014/main" id="{0A551611-F10D-5641-B478-79EC3CF4F968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06363" y="1436688"/>
            <a:ext cx="8858250" cy="4656137"/>
          </a:xfrm>
        </p:spPr>
        <p:txBody>
          <a:bodyPr/>
          <a:lstStyle/>
          <a:p>
            <a:pPr marL="361950" indent="-361950">
              <a:lnSpc>
                <a:spcPct val="110000"/>
              </a:lnSpc>
              <a:spcBef>
                <a:spcPct val="50000"/>
              </a:spcBef>
              <a:tabLst>
                <a:tab pos="1149350" algn="l"/>
                <a:tab pos="1995488" algn="l"/>
              </a:tabLst>
            </a:pP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能否给出一个可行方法，对任意的公式，判定其是否是恒真公式。</a:t>
            </a:r>
          </a:p>
          <a:p>
            <a:pPr marL="361950" indent="-361950">
              <a:lnSpc>
                <a:spcPct val="110000"/>
              </a:lnSpc>
              <a:spcBef>
                <a:spcPct val="50000"/>
              </a:spcBef>
              <a:tabLst>
                <a:tab pos="1149350" algn="l"/>
                <a:tab pos="1995488" algn="l"/>
              </a:tabLst>
            </a:pP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因为一个命题公式的解释的数目是有穷的，所以命题逻辑的判定问题是可解的(可判定的，可计算的)，亦即，命题公式的恒真，恒假性是可判定的。</a:t>
            </a:r>
          </a:p>
          <a:p>
            <a:pPr marL="361950" indent="-361950">
              <a:lnSpc>
                <a:spcPct val="110000"/>
              </a:lnSpc>
              <a:spcBef>
                <a:spcPct val="50000"/>
              </a:spcBef>
              <a:tabLst>
                <a:tab pos="1149350" algn="l"/>
                <a:tab pos="1995488" algn="l"/>
              </a:tabLst>
            </a:pP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判定方法有真值表法和公式推演法。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7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7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763" grpId="0" build="p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Slide Number Placeholder 5">
            <a:extLst>
              <a:ext uri="{FF2B5EF4-FFF2-40B4-BE49-F238E27FC236}">
                <a16:creationId xmlns:a16="http://schemas.microsoft.com/office/drawing/2014/main" id="{125873DE-F0F7-9148-9212-37EB9C2F757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70F8C57-1ACA-A246-BFD3-155C4FA7920E}" type="slidenum">
              <a:rPr kumimoji="0" lang="zh-CN" altLang="en-US" sz="1200"/>
              <a:pPr/>
              <a:t>29</a:t>
            </a:fld>
            <a:endParaRPr kumimoji="0" lang="en-US" altLang="zh-CN" sz="1200"/>
          </a:p>
        </p:txBody>
      </p:sp>
      <p:sp>
        <p:nvSpPr>
          <p:cNvPr id="254978" name="Rectangle 2">
            <a:extLst>
              <a:ext uri="{FF2B5EF4-FFF2-40B4-BE49-F238E27FC236}">
                <a16:creationId xmlns:a16="http://schemas.microsoft.com/office/drawing/2014/main" id="{772DBB63-572C-6046-A09C-2AC016DC8E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8750" y="125413"/>
            <a:ext cx="8985250" cy="1143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ea typeface="+mj-ea"/>
                <a:cs typeface="+mj-cs"/>
              </a:rPr>
              <a:t>例：</a:t>
            </a:r>
          </a:p>
        </p:txBody>
      </p:sp>
      <p:sp>
        <p:nvSpPr>
          <p:cNvPr id="254979" name="Rectangle 3">
            <a:extLst>
              <a:ext uri="{FF2B5EF4-FFF2-40B4-BE49-F238E27FC236}">
                <a16:creationId xmlns:a16="http://schemas.microsoft.com/office/drawing/2014/main" id="{819DF00E-4981-7C4E-822E-B204B3B02FA8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07950" y="1123950"/>
            <a:ext cx="8640763" cy="1944688"/>
          </a:xfrm>
        </p:spPr>
        <p:txBody>
          <a:bodyPr rtlCol="0">
            <a:normAutofit/>
          </a:bodyPr>
          <a:lstStyle/>
          <a:p>
            <a:pPr indent="-182880" fontAlgn="auto">
              <a:buClr>
                <a:schemeClr val="accent6">
                  <a:lumMod val="75000"/>
                </a:schemeClr>
              </a:buClr>
              <a:defRPr/>
            </a:pPr>
            <a:r>
              <a:rPr kumimoji="0"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楷体_GB2312" charset="0"/>
                <a:cs typeface="+mn-cs"/>
              </a:rPr>
              <a:t>用真值表法判定该公式是恒真的、恒假的还是可满足的。</a:t>
            </a:r>
          </a:p>
          <a:p>
            <a:pPr marL="45720" indent="0" algn="ctr" fontAlgn="auto">
              <a:buClr>
                <a:schemeClr val="accent6">
                  <a:lumMod val="75000"/>
                </a:schemeClr>
              </a:buClr>
              <a:buFont typeface="Georgia" panose="02040502050405020303" pitchFamily="18" charset="0"/>
              <a:buNone/>
              <a:defRPr/>
            </a:pPr>
            <a:r>
              <a:rPr kumimoji="0" lang="en-US" altLang="zh-CN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楷体_GB2312" charset="0"/>
                <a:cs typeface="+mn-cs"/>
              </a:rPr>
              <a:t>G=(P</a:t>
            </a:r>
            <a:r>
              <a:rPr kumimoji="0" lang="en-US" altLang="zh-CN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楷体_GB2312" charset="0"/>
                <a:cs typeface="+mn-cs"/>
                <a:sym typeface="Symbol" charset="0"/>
              </a:rPr>
              <a:t>Q)(</a:t>
            </a:r>
            <a:r>
              <a:rPr kumimoji="0"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楷体_GB2312" charset="0"/>
                <a:cs typeface="+mn-cs"/>
                <a:sym typeface="Symbol" charset="0"/>
              </a:rPr>
              <a:t></a:t>
            </a:r>
            <a:r>
              <a:rPr kumimoji="0" lang="en-US" altLang="zh-CN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楷体_GB2312" charset="0"/>
                <a:cs typeface="+mn-cs"/>
                <a:sym typeface="Symbol" charset="0"/>
              </a:rPr>
              <a:t>PQ)</a:t>
            </a:r>
          </a:p>
        </p:txBody>
      </p:sp>
      <p:graphicFrame>
        <p:nvGraphicFramePr>
          <p:cNvPr id="255014" name="Group 38">
            <a:extLst>
              <a:ext uri="{FF2B5EF4-FFF2-40B4-BE49-F238E27FC236}">
                <a16:creationId xmlns:a16="http://schemas.microsoft.com/office/drawing/2014/main" id="{B6D2545D-D32C-CE43-A5EC-1C7ED8E052EB}"/>
              </a:ext>
            </a:extLst>
          </p:cNvPr>
          <p:cNvGraphicFramePr>
            <a:graphicFrameLocks noGrp="1"/>
          </p:cNvGraphicFramePr>
          <p:nvPr/>
        </p:nvGraphicFramePr>
        <p:xfrm>
          <a:off x="1763713" y="2997200"/>
          <a:ext cx="5735637" cy="3152777"/>
        </p:xfrm>
        <a:graphic>
          <a:graphicData uri="http://schemas.openxmlformats.org/drawingml/2006/table">
            <a:tbl>
              <a:tblPr/>
              <a:tblGrid>
                <a:gridCol w="2087562">
                  <a:extLst>
                    <a:ext uri="{9D8B030D-6E8A-4147-A177-3AD203B41FA5}">
                      <a16:colId xmlns:a16="http://schemas.microsoft.com/office/drawing/2014/main" val="3428242448"/>
                    </a:ext>
                  </a:extLst>
                </a:gridCol>
                <a:gridCol w="3648075">
                  <a:extLst>
                    <a:ext uri="{9D8B030D-6E8A-4147-A177-3AD203B41FA5}">
                      <a16:colId xmlns:a16="http://schemas.microsoft.com/office/drawing/2014/main" val="3463206260"/>
                    </a:ext>
                  </a:extLst>
                </a:gridCol>
              </a:tblGrid>
              <a:tr h="6064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P      Q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(P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  <a:sym typeface="Symbol" pitchFamily="2" charset="2"/>
                        </a:rPr>
                        <a:t>Q)(</a:t>
                      </a: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  <a:sym typeface="Symbol" pitchFamily="2" charset="2"/>
                        </a:rPr>
                        <a:t>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  <a:sym typeface="Symbol" pitchFamily="2" charset="2"/>
                        </a:rPr>
                        <a:t>PQ)</a:t>
                      </a:r>
                      <a:endParaRPr kumimoji="0" lang="zh-CN" altLang="en-US" sz="32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anose="020B0604020202020204" pitchFamily="34" charset="0"/>
                        <a:ea typeface="楷体_GB2312" pitchFamily="1" charset="-122"/>
                        <a:sym typeface="Symbol" pitchFamily="2" charset="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6141370"/>
                  </a:ext>
                </a:extLst>
              </a:tr>
              <a:tr h="6365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0       0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       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4E67C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   1   1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328140"/>
                  </a:ext>
                </a:extLst>
              </a:tr>
              <a:tr h="6365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0       1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       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4E67C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 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  1   1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0072011"/>
                  </a:ext>
                </a:extLst>
              </a:tr>
              <a:tr h="6365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1       0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0       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4E67C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   0   0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6636907"/>
                  </a:ext>
                </a:extLst>
              </a:tr>
              <a:tr h="6365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1       1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       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4E67C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   0   1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730906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550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50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55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Slide Number Placeholder 5">
            <a:extLst>
              <a:ext uri="{FF2B5EF4-FFF2-40B4-BE49-F238E27FC236}">
                <a16:creationId xmlns:a16="http://schemas.microsoft.com/office/drawing/2014/main" id="{5E80A299-8791-454C-85CD-463791CFB6C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748236F-909C-9E4D-B1F1-44090AB65EE9}" type="slidenum">
              <a:rPr kumimoji="0" lang="zh-CN" altLang="en-US" sz="1200"/>
              <a:pPr/>
              <a:t>30</a:t>
            </a:fld>
            <a:endParaRPr kumimoji="0" lang="en-US" altLang="zh-CN" sz="1200"/>
          </a:p>
        </p:txBody>
      </p:sp>
      <p:sp>
        <p:nvSpPr>
          <p:cNvPr id="331780" name="Rectangle 4">
            <a:extLst>
              <a:ext uri="{FF2B5EF4-FFF2-40B4-BE49-F238E27FC236}">
                <a16:creationId xmlns:a16="http://schemas.microsoft.com/office/drawing/2014/main" id="{B4A38C30-C7D7-D04A-8188-AFD575DA23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557338"/>
            <a:ext cx="8785225" cy="424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44513" indent="-544513">
              <a:tabLst>
                <a:tab pos="1149350" algn="l"/>
                <a:tab pos="1995488" algn="l"/>
              </a:tabLs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tabLst>
                <a:tab pos="1149350" algn="l"/>
                <a:tab pos="1995488" algn="l"/>
              </a:tabLs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tabLst>
                <a:tab pos="1149350" algn="l"/>
                <a:tab pos="1995488" algn="l"/>
              </a:tabLs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tabLst>
                <a:tab pos="1149350" algn="l"/>
                <a:tab pos="1995488" algn="l"/>
              </a:tabLs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tabLst>
                <a:tab pos="1149350" algn="l"/>
                <a:tab pos="1995488" algn="l"/>
              </a:tabLs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tabLst>
                <a:tab pos="1149350" algn="l"/>
                <a:tab pos="1995488" algn="l"/>
              </a:tabLs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tabLst>
                <a:tab pos="1149350" algn="l"/>
                <a:tab pos="1995488" algn="l"/>
              </a:tabLs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tabLst>
                <a:tab pos="1149350" algn="l"/>
                <a:tab pos="1995488" algn="l"/>
              </a:tabLs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tabLst>
                <a:tab pos="1149350" algn="l"/>
                <a:tab pos="1995488" algn="l"/>
              </a:tabLs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15000"/>
              </a:lnSpc>
              <a:spcBef>
                <a:spcPct val="20000"/>
              </a:spcBef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</a:pPr>
            <a:r>
              <a:rPr kumimoji="0" lang="zh-CN" altLang="en-US" sz="3200" dirty="0">
                <a:ea typeface="楷体_GB2312" pitchFamily="1" charset="-122"/>
              </a:rPr>
              <a:t>给</a:t>
            </a:r>
            <a:r>
              <a:rPr kumimoji="0" lang="en-US" altLang="zh-CN" sz="3200" dirty="0">
                <a:ea typeface="楷体_GB2312" pitchFamily="1" charset="-122"/>
              </a:rPr>
              <a:t>P</a:t>
            </a:r>
            <a:r>
              <a:rPr kumimoji="0" lang="zh-CN" altLang="en-US" sz="3200" dirty="0">
                <a:ea typeface="楷体_GB2312" pitchFamily="1" charset="-122"/>
              </a:rPr>
              <a:t>和</a:t>
            </a:r>
            <a:r>
              <a:rPr kumimoji="0" lang="en-US" altLang="zh-CN" sz="3200" dirty="0">
                <a:ea typeface="楷体_GB2312" pitchFamily="1" charset="-122"/>
              </a:rPr>
              <a:t>Q</a:t>
            </a:r>
            <a:r>
              <a:rPr kumimoji="0" lang="zh-CN" altLang="en-US" sz="3200" dirty="0">
                <a:ea typeface="楷体_GB2312" pitchFamily="1" charset="-122"/>
              </a:rPr>
              <a:t>指派真值1，给</a:t>
            </a:r>
            <a:r>
              <a:rPr kumimoji="0" lang="en-US" altLang="zh-CN" sz="3200" dirty="0">
                <a:ea typeface="楷体_GB2312" pitchFamily="1" charset="-122"/>
              </a:rPr>
              <a:t>R</a:t>
            </a:r>
            <a:r>
              <a:rPr kumimoji="0" lang="zh-CN" altLang="en-US" sz="3200" dirty="0">
                <a:ea typeface="楷体_GB2312" pitchFamily="1" charset="-122"/>
              </a:rPr>
              <a:t>和</a:t>
            </a:r>
            <a:r>
              <a:rPr kumimoji="0" lang="en-US" altLang="zh-CN" sz="3200" dirty="0">
                <a:ea typeface="楷体_GB2312" pitchFamily="1" charset="-122"/>
              </a:rPr>
              <a:t>S</a:t>
            </a:r>
            <a:r>
              <a:rPr kumimoji="0" lang="zh-CN" altLang="en-US" sz="3200" dirty="0">
                <a:ea typeface="楷体_GB2312" pitchFamily="1" charset="-122"/>
              </a:rPr>
              <a:t>指派真值0，求出下面命题的真值：</a:t>
            </a:r>
          </a:p>
          <a:p>
            <a:pPr algn="ctr">
              <a:lnSpc>
                <a:spcPct val="115000"/>
              </a:lnSpc>
              <a:spcBef>
                <a:spcPct val="20000"/>
              </a:spcBef>
              <a:buClr>
                <a:schemeClr val="tx1"/>
              </a:buClr>
              <a:buSzPct val="90000"/>
              <a:buFont typeface="Wingdings" pitchFamily="2" charset="2"/>
              <a:buNone/>
            </a:pPr>
            <a:r>
              <a:rPr kumimoji="0" lang="en-US" altLang="zh-CN" sz="3200" dirty="0">
                <a:ea typeface="楷体_GB2312" pitchFamily="1" charset="-122"/>
              </a:rPr>
              <a:t>(P</a:t>
            </a:r>
            <a:r>
              <a:rPr kumimoji="0" lang="en-US" altLang="zh-CN" sz="3200" dirty="0"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 dirty="0">
                <a:ea typeface="楷体_GB2312" pitchFamily="1" charset="-122"/>
              </a:rPr>
              <a:t>(Q</a:t>
            </a:r>
            <a:r>
              <a:rPr kumimoji="0" lang="en-US" altLang="zh-CN" sz="3200" dirty="0"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 dirty="0">
                <a:ea typeface="楷体_GB2312" pitchFamily="1" charset="-122"/>
              </a:rPr>
              <a:t>R))</a:t>
            </a:r>
            <a:r>
              <a:rPr kumimoji="0" lang="en-US" altLang="zh-CN" sz="3200" dirty="0">
                <a:ea typeface="楷体_GB2312" pitchFamily="1" charset="-122"/>
                <a:sym typeface="Symbol" pitchFamily="2" charset="2"/>
              </a:rPr>
              <a:t></a:t>
            </a:r>
            <a:r>
              <a:rPr kumimoji="0" lang="en-US" altLang="zh-CN" sz="3200" dirty="0">
                <a:ea typeface="楷体_GB2312" pitchFamily="1" charset="-122"/>
              </a:rPr>
              <a:t>((P</a:t>
            </a:r>
            <a:r>
              <a:rPr kumimoji="0" lang="en-US" altLang="zh-CN" sz="3200" dirty="0"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 dirty="0">
                <a:ea typeface="楷体_GB2312" pitchFamily="1" charset="-122"/>
              </a:rPr>
              <a:t>Q)</a:t>
            </a:r>
            <a:r>
              <a:rPr kumimoji="0" lang="en-US" altLang="zh-CN" sz="3200" dirty="0"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 dirty="0">
                <a:ea typeface="楷体_GB2312" pitchFamily="1" charset="-122"/>
              </a:rPr>
              <a:t>(R</a:t>
            </a:r>
            <a:r>
              <a:rPr kumimoji="0" lang="en-US" altLang="zh-CN" sz="3200" dirty="0"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 dirty="0">
                <a:ea typeface="楷体_GB2312" pitchFamily="1" charset="-122"/>
              </a:rPr>
              <a:t>S))</a:t>
            </a:r>
          </a:p>
          <a:p>
            <a:pPr>
              <a:lnSpc>
                <a:spcPct val="115000"/>
              </a:lnSpc>
              <a:spcBef>
                <a:spcPct val="20000"/>
              </a:spcBef>
              <a:buClr>
                <a:schemeClr val="tx1"/>
              </a:buClr>
              <a:buSzPct val="90000"/>
              <a:buFont typeface="Wingdings" pitchFamily="2" charset="2"/>
              <a:buNone/>
            </a:pPr>
            <a:r>
              <a:rPr kumimoji="0" lang="zh-CN" altLang="en-US" sz="3200" dirty="0">
                <a:ea typeface="楷体_GB2312" pitchFamily="1" charset="-122"/>
              </a:rPr>
              <a:t>解：令</a:t>
            </a:r>
            <a:r>
              <a:rPr kumimoji="0" lang="en-US" altLang="zh-CN" sz="3200" dirty="0">
                <a:ea typeface="楷体_GB2312" pitchFamily="1" charset="-122"/>
              </a:rPr>
              <a:t>G=(P</a:t>
            </a:r>
            <a:r>
              <a:rPr kumimoji="0" lang="en-US" altLang="zh-CN" sz="3200" dirty="0"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 dirty="0">
                <a:ea typeface="楷体_GB2312" pitchFamily="1" charset="-122"/>
              </a:rPr>
              <a:t>(Q</a:t>
            </a:r>
            <a:r>
              <a:rPr kumimoji="0" lang="en-US" altLang="zh-CN" sz="3200" dirty="0"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 dirty="0">
                <a:ea typeface="楷体_GB2312" pitchFamily="1" charset="-122"/>
              </a:rPr>
              <a:t>R))</a:t>
            </a:r>
            <a:r>
              <a:rPr kumimoji="0" lang="en-US" altLang="zh-CN" sz="3200" dirty="0">
                <a:ea typeface="楷体_GB2312" pitchFamily="1" charset="-122"/>
                <a:sym typeface="Symbol" pitchFamily="2" charset="2"/>
              </a:rPr>
              <a:t></a:t>
            </a:r>
            <a:r>
              <a:rPr kumimoji="0" lang="en-US" altLang="zh-CN" sz="3200" dirty="0">
                <a:ea typeface="楷体_GB2312" pitchFamily="1" charset="-122"/>
              </a:rPr>
              <a:t>((P</a:t>
            </a:r>
            <a:r>
              <a:rPr kumimoji="0" lang="en-US" altLang="zh-CN" sz="3200" dirty="0"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 dirty="0">
                <a:ea typeface="楷体_GB2312" pitchFamily="1" charset="-122"/>
              </a:rPr>
              <a:t>Q)</a:t>
            </a:r>
            <a:r>
              <a:rPr kumimoji="0" lang="en-US" altLang="zh-CN" sz="3200" dirty="0"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 dirty="0">
                <a:ea typeface="楷体_GB2312" pitchFamily="1" charset="-122"/>
              </a:rPr>
              <a:t>(R</a:t>
            </a:r>
            <a:r>
              <a:rPr kumimoji="0" lang="en-US" altLang="zh-CN" sz="3200" dirty="0"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 dirty="0">
                <a:ea typeface="楷体_GB2312" pitchFamily="1" charset="-122"/>
              </a:rPr>
              <a:t>S))</a:t>
            </a:r>
          </a:p>
          <a:p>
            <a:pPr>
              <a:lnSpc>
                <a:spcPct val="115000"/>
              </a:lnSpc>
              <a:spcBef>
                <a:spcPct val="20000"/>
              </a:spcBef>
              <a:buClr>
                <a:schemeClr val="tx1"/>
              </a:buClr>
              <a:buSzPct val="90000"/>
              <a:buFont typeface="Wingdings" pitchFamily="2" charset="2"/>
              <a:buNone/>
            </a:pPr>
            <a:r>
              <a:rPr kumimoji="0" lang="zh-CN" altLang="en-US" sz="3200" dirty="0">
                <a:ea typeface="楷体_GB2312" pitchFamily="1" charset="-122"/>
              </a:rPr>
              <a:t>则：</a:t>
            </a:r>
            <a:r>
              <a:rPr kumimoji="0" lang="en-US" altLang="zh-CN" sz="3200" dirty="0">
                <a:ea typeface="楷体_GB2312" pitchFamily="1" charset="-122"/>
              </a:rPr>
              <a:t>T</a:t>
            </a:r>
            <a:r>
              <a:rPr kumimoji="0" lang="en-US" altLang="zh-CN" sz="3200" baseline="-30000" dirty="0">
                <a:ea typeface="楷体_GB2312" pitchFamily="1" charset="-122"/>
              </a:rPr>
              <a:t>I</a:t>
            </a:r>
            <a:r>
              <a:rPr kumimoji="0" lang="en-US" altLang="zh-CN" sz="3200" dirty="0">
                <a:ea typeface="楷体_GB2312" pitchFamily="1" charset="-122"/>
              </a:rPr>
              <a:t>(G) = (1</a:t>
            </a:r>
            <a:r>
              <a:rPr kumimoji="0" lang="en-US" altLang="zh-CN" sz="3200" dirty="0"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 dirty="0">
                <a:ea typeface="楷体_GB2312" pitchFamily="1" charset="-122"/>
              </a:rPr>
              <a:t>(1</a:t>
            </a:r>
            <a:r>
              <a:rPr kumimoji="0" lang="en-US" altLang="zh-CN" sz="3200" dirty="0"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 dirty="0">
                <a:ea typeface="楷体_GB2312" pitchFamily="1" charset="-122"/>
              </a:rPr>
              <a:t>0))</a:t>
            </a:r>
            <a:r>
              <a:rPr kumimoji="0" lang="en-US" altLang="zh-CN" sz="3200" dirty="0">
                <a:ea typeface="楷体_GB2312" pitchFamily="1" charset="-122"/>
                <a:sym typeface="Symbol" pitchFamily="2" charset="2"/>
              </a:rPr>
              <a:t></a:t>
            </a:r>
            <a:r>
              <a:rPr kumimoji="0" lang="en-US" altLang="zh-CN" sz="3200" dirty="0">
                <a:ea typeface="楷体_GB2312" pitchFamily="1" charset="-122"/>
              </a:rPr>
              <a:t>((1</a:t>
            </a:r>
            <a:r>
              <a:rPr kumimoji="0" lang="en-US" altLang="zh-CN" sz="3200" dirty="0"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 dirty="0">
                <a:ea typeface="楷体_GB2312" pitchFamily="1" charset="-122"/>
              </a:rPr>
              <a:t>1)</a:t>
            </a:r>
            <a:r>
              <a:rPr kumimoji="0" lang="en-US" altLang="zh-CN" sz="3200" dirty="0"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 dirty="0">
                <a:ea typeface="楷体_GB2312" pitchFamily="1" charset="-122"/>
              </a:rPr>
              <a:t>(0</a:t>
            </a:r>
            <a:r>
              <a:rPr kumimoji="0" lang="en-US" altLang="zh-CN" sz="3200" dirty="0"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 dirty="0">
                <a:ea typeface="楷体_GB2312" pitchFamily="1" charset="-122"/>
              </a:rPr>
              <a:t>0))</a:t>
            </a:r>
          </a:p>
          <a:p>
            <a:pPr>
              <a:lnSpc>
                <a:spcPct val="115000"/>
              </a:lnSpc>
              <a:spcBef>
                <a:spcPct val="20000"/>
              </a:spcBef>
              <a:buClr>
                <a:schemeClr val="tx1"/>
              </a:buClr>
              <a:buSzPct val="90000"/>
              <a:buFont typeface="Wingdings" pitchFamily="2" charset="2"/>
              <a:buNone/>
            </a:pPr>
            <a:r>
              <a:rPr kumimoji="0" lang="en-US" altLang="zh-CN" sz="3200" dirty="0">
                <a:ea typeface="楷体_GB2312" pitchFamily="1" charset="-122"/>
              </a:rPr>
              <a:t>			 = 0</a:t>
            </a:r>
            <a:r>
              <a:rPr kumimoji="0" lang="en-US" altLang="zh-CN" sz="3200" dirty="0">
                <a:ea typeface="楷体_GB2312" pitchFamily="1" charset="-122"/>
                <a:sym typeface="Symbol" pitchFamily="2" charset="2"/>
              </a:rPr>
              <a:t></a:t>
            </a:r>
            <a:r>
              <a:rPr kumimoji="0" lang="en-US" altLang="zh-CN" sz="3200" dirty="0">
                <a:ea typeface="楷体_GB2312" pitchFamily="1" charset="-122"/>
              </a:rPr>
              <a:t>0=1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2871922-048E-E848-9B4A-F1C44F0B57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8750" y="269776"/>
            <a:ext cx="8985250" cy="1143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练习：</a:t>
            </a:r>
            <a:endParaRPr lang="en-US" altLang="zh-CN" dirty="0">
              <a:latin typeface="Arial" charset="0"/>
              <a:ea typeface="楷体_GB2312" charset="0"/>
              <a:cs typeface="+mj-cs"/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317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3317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317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1780" grpId="0" build="p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46">
            <a:extLst>
              <a:ext uri="{FF2B5EF4-FFF2-40B4-BE49-F238E27FC236}">
                <a16:creationId xmlns:a16="http://schemas.microsoft.com/office/drawing/2014/main" id="{4B49DB6E-9BC0-7347-803D-852CCC15FA0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F13FB04-AA67-3F4E-A767-F888643B08B3}" type="slidenum">
              <a:rPr kumimoji="0" lang="zh-CN" altLang="en-US" sz="1200"/>
              <a:pPr/>
              <a:t>31</a:t>
            </a:fld>
            <a:endParaRPr kumimoji="0" lang="en-US" altLang="zh-CN" sz="1200"/>
          </a:p>
        </p:txBody>
      </p:sp>
      <p:sp>
        <p:nvSpPr>
          <p:cNvPr id="118786" name="Rectangle 2">
            <a:extLst>
              <a:ext uri="{FF2B5EF4-FFF2-40B4-BE49-F238E27FC236}">
                <a16:creationId xmlns:a16="http://schemas.microsoft.com/office/drawing/2014/main" id="{E2046F22-4FBB-094A-A2AF-568F34F1884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07950" y="2132013"/>
            <a:ext cx="8785225" cy="2305050"/>
          </a:xfrm>
        </p:spPr>
        <p:txBody>
          <a:bodyPr/>
          <a:lstStyle/>
          <a:p>
            <a:pPr algn="ctr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  <a:cs typeface="+mj-cs"/>
              </a:rPr>
              <a:t>§</a:t>
            </a: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3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.</a:t>
            </a: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1.2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 </a:t>
            </a:r>
            <a:r>
              <a:rPr lang="zh-CN" altLang="en-US" dirty="0">
                <a:latin typeface="Times New Roman" charset="0"/>
                <a:ea typeface="楷体_GB2312" charset="0"/>
                <a:cs typeface="+mj-cs"/>
              </a:rPr>
              <a:t>命题公式的</a:t>
            </a:r>
            <a:br>
              <a:rPr lang="zh-CN" altLang="en-US" dirty="0">
                <a:latin typeface="Times New Roman" charset="0"/>
                <a:ea typeface="楷体_GB2312" charset="0"/>
                <a:cs typeface="+mj-cs"/>
              </a:rPr>
            </a:br>
            <a:r>
              <a:rPr lang="zh-CN" altLang="en-US" dirty="0">
                <a:latin typeface="Times New Roman" charset="0"/>
                <a:ea typeface="楷体_GB2312" charset="0"/>
                <a:cs typeface="+mj-cs"/>
              </a:rPr>
              <a:t>等价关系和蕴涵关系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 </a:t>
            </a:r>
          </a:p>
        </p:txBody>
      </p:sp>
    </p:spTree>
  </p:cSld>
  <p:clrMapOvr>
    <a:masterClrMapping/>
  </p:clrMapOvr>
  <p:transition>
    <p:blinds dir="vert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Slide Number Placeholder 5">
            <a:extLst>
              <a:ext uri="{FF2B5EF4-FFF2-40B4-BE49-F238E27FC236}">
                <a16:creationId xmlns:a16="http://schemas.microsoft.com/office/drawing/2014/main" id="{518D94D7-4BDE-7744-B5CD-7B4BEB1CD43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154C277-D40C-A345-AA94-43DE19E1D006}" type="slidenum">
              <a:rPr kumimoji="0" lang="zh-CN" altLang="en-US" sz="1200"/>
              <a:pPr/>
              <a:t>32</a:t>
            </a:fld>
            <a:endParaRPr kumimoji="0" lang="en-US" altLang="zh-CN" sz="1200"/>
          </a:p>
        </p:txBody>
      </p:sp>
      <p:sp>
        <p:nvSpPr>
          <p:cNvPr id="119810" name="Rectangle 2">
            <a:extLst>
              <a:ext uri="{FF2B5EF4-FFF2-40B4-BE49-F238E27FC236}">
                <a16:creationId xmlns:a16="http://schemas.microsoft.com/office/drawing/2014/main" id="{B5AFC438-9985-3C45-BA08-9F13B8B2A4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0650" y="373063"/>
            <a:ext cx="7691438" cy="823912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公式的等价 </a:t>
            </a:r>
          </a:p>
        </p:txBody>
      </p:sp>
      <p:sp>
        <p:nvSpPr>
          <p:cNvPr id="119811" name="Rectangle 3">
            <a:extLst>
              <a:ext uri="{FF2B5EF4-FFF2-40B4-BE49-F238E27FC236}">
                <a16:creationId xmlns:a16="http://schemas.microsoft.com/office/drawing/2014/main" id="{BAD66DB4-E418-F440-BE5E-5B714F99C521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07950" y="1628775"/>
            <a:ext cx="8640763" cy="4557713"/>
          </a:xfrm>
        </p:spPr>
        <p:txBody>
          <a:bodyPr/>
          <a:lstStyle/>
          <a:p>
            <a:pPr marL="352425" indent="-352425">
              <a:spcBef>
                <a:spcPct val="0"/>
              </a:spcBef>
              <a:tabLst>
                <a:tab pos="1149350" algn="l"/>
                <a:tab pos="1995488" algn="l"/>
              </a:tabLst>
            </a:pPr>
            <a:r>
              <a:rPr kumimoji="0" lang="zh-CN" altLang="en-US" sz="3200" dirty="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定义</a:t>
            </a:r>
            <a:r>
              <a:rPr kumimoji="0" lang="en-US" altLang="zh-CN" sz="3200" dirty="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3</a:t>
            </a:r>
            <a:r>
              <a:rPr kumimoji="0" lang="zh-CN" altLang="en-US" sz="3200" dirty="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.</a:t>
            </a:r>
            <a:r>
              <a:rPr kumimoji="0" lang="en-US" altLang="zh-CN" sz="3200" dirty="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zh-CN" altLang="en-US" sz="3200" dirty="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.</a:t>
            </a:r>
            <a:r>
              <a:rPr kumimoji="0" lang="en-US" altLang="zh-CN" sz="3200" dirty="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zh-CN" altLang="en-US" sz="3200" dirty="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  公式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G，H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说是等价的，记以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G = H，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如果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G，H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在其任意解释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下，其真值相同。 </a:t>
            </a:r>
          </a:p>
          <a:p>
            <a:pPr marL="352425" indent="-352425">
              <a:spcBef>
                <a:spcPct val="0"/>
              </a:spcBef>
              <a:tabLst>
                <a:tab pos="1149350" algn="l"/>
                <a:tab pos="1995488" algn="l"/>
              </a:tabLst>
            </a:pP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显然，公式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、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H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等价的充要条件是：</a:t>
            </a:r>
            <a:b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公式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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H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是恒真的。</a:t>
            </a:r>
          </a:p>
          <a:p>
            <a:pPr marL="352425" indent="-352425">
              <a:spcBef>
                <a:spcPct val="0"/>
              </a:spcBef>
              <a:tabLst>
                <a:tab pos="1149350" algn="l"/>
                <a:tab pos="1995488" algn="l"/>
              </a:tabLst>
            </a:pPr>
            <a:r>
              <a:rPr kumimoji="0" lang="zh-CN" altLang="en-US" sz="3200" dirty="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注：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“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=”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是一种等价关系，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G=H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不是命题，只表示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与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H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的真值相同；</a:t>
            </a:r>
            <a:b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	 “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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”是一种逻辑联结词， 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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H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是命题，具有真值。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9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98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811" grpId="0" build="p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Slide Number Placeholder 5">
            <a:extLst>
              <a:ext uri="{FF2B5EF4-FFF2-40B4-BE49-F238E27FC236}">
                <a16:creationId xmlns:a16="http://schemas.microsoft.com/office/drawing/2014/main" id="{2DF00A7F-7DCB-2846-BFD7-AF197C58820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271637F-BDB5-894E-852E-7B9C2B14488D}" type="slidenum">
              <a:rPr kumimoji="0" lang="zh-CN" altLang="en-US" sz="1200"/>
              <a:pPr/>
              <a:t>33</a:t>
            </a:fld>
            <a:endParaRPr kumimoji="0" lang="en-US" altLang="zh-CN" sz="1200"/>
          </a:p>
        </p:txBody>
      </p:sp>
      <p:sp>
        <p:nvSpPr>
          <p:cNvPr id="120834" name="Rectangle 2">
            <a:extLst>
              <a:ext uri="{FF2B5EF4-FFF2-40B4-BE49-F238E27FC236}">
                <a16:creationId xmlns:a16="http://schemas.microsoft.com/office/drawing/2014/main" id="{2DFAF52D-B010-9E40-88B2-1D69FF7CAF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9863" y="444500"/>
            <a:ext cx="7691437" cy="823913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宋体" charset="0"/>
                <a:ea typeface="楷体_GB2312" charset="0"/>
                <a:cs typeface="+mj-cs"/>
              </a:rPr>
              <a:t>基本等价式 </a:t>
            </a:r>
          </a:p>
        </p:txBody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id="{97DDE1C7-579C-9B4E-95FE-6E86FD992654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07950" y="1628775"/>
            <a:ext cx="8839200" cy="4800600"/>
          </a:xfrm>
        </p:spPr>
        <p:txBody>
          <a:bodyPr/>
          <a:lstStyle/>
          <a:p>
            <a:pPr marL="0" indent="0">
              <a:spcBef>
                <a:spcPct val="50000"/>
              </a:spcBef>
              <a:buFont typeface="Wingdings" pitchFamily="2" charset="2"/>
              <a:buNone/>
              <a:tabLst>
                <a:tab pos="1149350" algn="l"/>
                <a:tab pos="1995488" algn="l"/>
              </a:tabLst>
            </a:pPr>
            <a:r>
              <a:rPr kumimoji="0" lang="zh-CN" altLang="en-US" sz="3200" dirty="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1)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 (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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H)=(G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H)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(H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G)；                            </a:t>
            </a:r>
          </a:p>
          <a:p>
            <a:pPr marL="0" indent="0">
              <a:spcBef>
                <a:spcPct val="50000"/>
              </a:spcBef>
              <a:buFont typeface="Wingdings" pitchFamily="2" charset="2"/>
              <a:buNone/>
              <a:tabLst>
                <a:tab pos="1149350" algn="l"/>
                <a:tab pos="1995488" algn="l"/>
              </a:tabLst>
            </a:pPr>
            <a:r>
              <a:rPr kumimoji="0" lang="en-US" altLang="zh-CN" sz="3200" dirty="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2)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 (G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H)=(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H)；                                     </a:t>
            </a:r>
          </a:p>
          <a:p>
            <a:pPr marL="0" indent="0">
              <a:spcBef>
                <a:spcPct val="50000"/>
              </a:spcBef>
              <a:buFont typeface="Wingdings" pitchFamily="2" charset="2"/>
              <a:buNone/>
              <a:tabLst>
                <a:tab pos="1149350" algn="l"/>
                <a:tab pos="1995488" algn="l"/>
              </a:tabLst>
            </a:pPr>
            <a:r>
              <a:rPr kumimoji="0" lang="en-US" altLang="zh-CN" sz="3200" dirty="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3)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 G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G=G，G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G=G；               (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等幂律)</a:t>
            </a:r>
          </a:p>
          <a:p>
            <a:pPr marL="0" indent="0">
              <a:spcBef>
                <a:spcPct val="50000"/>
              </a:spcBef>
              <a:buFont typeface="Wingdings" pitchFamily="2" charset="2"/>
              <a:buNone/>
              <a:tabLst>
                <a:tab pos="1149350" algn="l"/>
                <a:tab pos="1995488" algn="l"/>
              </a:tabLst>
            </a:pPr>
            <a:r>
              <a:rPr kumimoji="0" lang="zh-CN" altLang="en-US" sz="3200" dirty="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4)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 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H=H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G，G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H=H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G；      (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交换律)</a:t>
            </a:r>
          </a:p>
          <a:p>
            <a:pPr marL="0" indent="0">
              <a:spcBef>
                <a:spcPct val="50000"/>
              </a:spcBef>
              <a:buFont typeface="Wingdings" pitchFamily="2" charset="2"/>
              <a:buNone/>
              <a:tabLst>
                <a:tab pos="1149350" algn="l"/>
                <a:tab pos="1995488" algn="l"/>
              </a:tabLst>
            </a:pPr>
            <a:r>
              <a:rPr kumimoji="0" lang="zh-CN" altLang="en-US" sz="3200" dirty="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5)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 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(H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S)=(G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H)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S，</a:t>
            </a:r>
            <a:b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    G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(H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S)=(G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H)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S；             (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结合律)</a:t>
            </a:r>
          </a:p>
        </p:txBody>
      </p:sp>
      <p:graphicFrame>
        <p:nvGraphicFramePr>
          <p:cNvPr id="140338" name="Group 1074">
            <a:extLst>
              <a:ext uri="{FF2B5EF4-FFF2-40B4-BE49-F238E27FC236}">
                <a16:creationId xmlns:a16="http://schemas.microsoft.com/office/drawing/2014/main" id="{207B9D3A-01FC-4448-99FD-E3F8BC1BB508}"/>
              </a:ext>
            </a:extLst>
          </p:cNvPr>
          <p:cNvGraphicFramePr>
            <a:graphicFrameLocks noGrp="1"/>
          </p:cNvGraphicFramePr>
          <p:nvPr/>
        </p:nvGraphicFramePr>
        <p:xfrm>
          <a:off x="1835150" y="3429000"/>
          <a:ext cx="5518150" cy="2651526"/>
        </p:xfrm>
        <a:graphic>
          <a:graphicData uri="http://schemas.openxmlformats.org/drawingml/2006/table">
            <a:tbl>
              <a:tblPr/>
              <a:tblGrid>
                <a:gridCol w="1379538">
                  <a:extLst>
                    <a:ext uri="{9D8B030D-6E8A-4147-A177-3AD203B41FA5}">
                      <a16:colId xmlns:a16="http://schemas.microsoft.com/office/drawing/2014/main" val="1680000860"/>
                    </a:ext>
                  </a:extLst>
                </a:gridCol>
                <a:gridCol w="1379537">
                  <a:extLst>
                    <a:ext uri="{9D8B030D-6E8A-4147-A177-3AD203B41FA5}">
                      <a16:colId xmlns:a16="http://schemas.microsoft.com/office/drawing/2014/main" val="2145602408"/>
                    </a:ext>
                  </a:extLst>
                </a:gridCol>
                <a:gridCol w="1379538">
                  <a:extLst>
                    <a:ext uri="{9D8B030D-6E8A-4147-A177-3AD203B41FA5}">
                      <a16:colId xmlns:a16="http://schemas.microsoft.com/office/drawing/2014/main" val="127539754"/>
                    </a:ext>
                  </a:extLst>
                </a:gridCol>
                <a:gridCol w="1379537">
                  <a:extLst>
                    <a:ext uri="{9D8B030D-6E8A-4147-A177-3AD203B41FA5}">
                      <a16:colId xmlns:a16="http://schemas.microsoft.com/office/drawing/2014/main" val="3231804443"/>
                    </a:ext>
                  </a:extLst>
                </a:gridCol>
              </a:tblGrid>
              <a:tr h="5794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G</a:t>
                      </a:r>
                    </a:p>
                  </a:txBody>
                  <a:tcPr marT="45651" marB="4565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H</a:t>
                      </a:r>
                    </a:p>
                  </a:txBody>
                  <a:tcPr marT="45651" marB="4565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G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  <a:sym typeface="Symbol" pitchFamily="2" charset="2"/>
                        </a:rPr>
                        <a:t>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H</a:t>
                      </a:r>
                      <a:endParaRPr kumimoji="0" lang="zh-CN" altLang="en-US" sz="32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anose="020B0604020202020204" pitchFamily="34" charset="0"/>
                        <a:ea typeface="楷体_GB2312" pitchFamily="1" charset="-122"/>
                      </a:endParaRPr>
                    </a:p>
                  </a:txBody>
                  <a:tcPr marT="45651" marB="4565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  <a:sym typeface="Symbol" pitchFamily="2" charset="2"/>
                        </a:rPr>
                        <a:t>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G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  <a:sym typeface="Symbol" pitchFamily="2" charset="2"/>
                        </a:rPr>
                        <a:t>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H</a:t>
                      </a:r>
                      <a:endParaRPr kumimoji="0" lang="zh-CN" altLang="en-US" sz="32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anose="020B0604020202020204" pitchFamily="34" charset="0"/>
                        <a:ea typeface="楷体_GB2312" pitchFamily="1" charset="-122"/>
                      </a:endParaRPr>
                    </a:p>
                  </a:txBody>
                  <a:tcPr marT="45651" marB="4565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4577106"/>
                  </a:ext>
                </a:extLst>
              </a:tr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0</a:t>
                      </a:r>
                    </a:p>
                  </a:txBody>
                  <a:tcPr marT="45651" marB="4565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0</a:t>
                      </a:r>
                    </a:p>
                  </a:txBody>
                  <a:tcPr marT="45651" marB="4565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</a:t>
                      </a:r>
                    </a:p>
                  </a:txBody>
                  <a:tcPr marT="45651" marB="4565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</a:t>
                      </a:r>
                    </a:p>
                  </a:txBody>
                  <a:tcPr marT="45651" marB="4565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0272039"/>
                  </a:ext>
                </a:extLst>
              </a:tr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0</a:t>
                      </a:r>
                    </a:p>
                  </a:txBody>
                  <a:tcPr marT="45651" marB="4565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</a:t>
                      </a:r>
                    </a:p>
                  </a:txBody>
                  <a:tcPr marT="45651" marB="4565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</a:t>
                      </a:r>
                    </a:p>
                  </a:txBody>
                  <a:tcPr marT="45651" marB="4565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</a:t>
                      </a:r>
                    </a:p>
                  </a:txBody>
                  <a:tcPr marT="45651" marB="4565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8508223"/>
                  </a:ext>
                </a:extLst>
              </a:tr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</a:t>
                      </a:r>
                    </a:p>
                  </a:txBody>
                  <a:tcPr marT="45651" marB="4565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0</a:t>
                      </a:r>
                    </a:p>
                  </a:txBody>
                  <a:tcPr marT="45651" marB="4565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0</a:t>
                      </a:r>
                    </a:p>
                  </a:txBody>
                  <a:tcPr marT="45651" marB="4565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0</a:t>
                      </a:r>
                    </a:p>
                  </a:txBody>
                  <a:tcPr marT="45651" marB="4565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3544911"/>
                  </a:ext>
                </a:extLst>
              </a:tr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</a:t>
                      </a:r>
                    </a:p>
                  </a:txBody>
                  <a:tcPr marT="45651" marB="4565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</a:t>
                      </a:r>
                    </a:p>
                  </a:txBody>
                  <a:tcPr marT="45651" marB="4565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</a:t>
                      </a:r>
                    </a:p>
                  </a:txBody>
                  <a:tcPr marT="45651" marB="4565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</a:t>
                      </a:r>
                    </a:p>
                  </a:txBody>
                  <a:tcPr marT="45651" marB="4565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5074731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0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08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403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403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40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20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08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208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35" grpId="0" build="p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Slide Number Placeholder 5">
            <a:extLst>
              <a:ext uri="{FF2B5EF4-FFF2-40B4-BE49-F238E27FC236}">
                <a16:creationId xmlns:a16="http://schemas.microsoft.com/office/drawing/2014/main" id="{787E7609-00AE-D249-AE64-9E7072DCB4E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5837853-C326-0246-B634-518225F54413}" type="slidenum">
              <a:rPr kumimoji="0" lang="zh-CN" altLang="en-US" sz="1200"/>
              <a:pPr/>
              <a:t>34</a:t>
            </a:fld>
            <a:endParaRPr kumimoji="0" lang="en-US" altLang="zh-CN" sz="1200"/>
          </a:p>
        </p:txBody>
      </p:sp>
      <p:sp>
        <p:nvSpPr>
          <p:cNvPr id="123906" name="Rectangle 2">
            <a:extLst>
              <a:ext uri="{FF2B5EF4-FFF2-40B4-BE49-F238E27FC236}">
                <a16:creationId xmlns:a16="http://schemas.microsoft.com/office/drawing/2014/main" id="{9435E139-C3CC-7D4B-AA69-9D9DC2AA5B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9863" y="333375"/>
            <a:ext cx="7691437" cy="823913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宋体" charset="0"/>
                <a:ea typeface="楷体_GB2312" charset="0"/>
                <a:cs typeface="+mj-cs"/>
              </a:rPr>
              <a:t>基本等价式 </a:t>
            </a:r>
          </a:p>
        </p:txBody>
      </p:sp>
      <p:sp>
        <p:nvSpPr>
          <p:cNvPr id="123907" name="Rectangle 3">
            <a:extLst>
              <a:ext uri="{FF2B5EF4-FFF2-40B4-BE49-F238E27FC236}">
                <a16:creationId xmlns:a16="http://schemas.microsoft.com/office/drawing/2014/main" id="{11813C5D-6CF5-3443-B938-A3756113B4B6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79388" y="1443038"/>
            <a:ext cx="8424862" cy="4938712"/>
          </a:xfrm>
        </p:spPr>
        <p:txBody>
          <a:bodyPr/>
          <a:lstStyle/>
          <a:p>
            <a:pPr marL="0" indent="0">
              <a:spcBef>
                <a:spcPct val="50000"/>
              </a:spcBef>
              <a:buFont typeface="Wingdings" pitchFamily="2" charset="2"/>
              <a:buNone/>
              <a:tabLst>
                <a:tab pos="1149350" algn="l"/>
                <a:tab pos="1995488" algn="l"/>
              </a:tabLst>
            </a:pPr>
            <a:r>
              <a:rPr kumimoji="0" lang="en-US" altLang="zh-CN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6)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 G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(G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H)=G，G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(G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H)=G； (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吸收律)</a:t>
            </a:r>
          </a:p>
          <a:p>
            <a:pPr marL="0" indent="0">
              <a:spcBef>
                <a:spcPct val="50000"/>
              </a:spcBef>
              <a:buFont typeface="Wingdings" pitchFamily="2" charset="2"/>
              <a:buNone/>
              <a:tabLst>
                <a:tab pos="1149350" algn="l"/>
                <a:tab pos="1995488" algn="l"/>
              </a:tabLst>
            </a:pPr>
            <a:r>
              <a:rPr kumimoji="0" lang="zh-CN" altLang="en-US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7)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(H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S)=(G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H)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(G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S)，</a:t>
            </a:r>
            <a:b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    G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(H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S)=(G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H)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(G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S)；      (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分配律)</a:t>
            </a:r>
          </a:p>
          <a:p>
            <a:pPr marL="0" indent="0">
              <a:spcBef>
                <a:spcPct val="50000"/>
              </a:spcBef>
              <a:buFont typeface="Wingdings" pitchFamily="2" charset="2"/>
              <a:buNone/>
              <a:tabLst>
                <a:tab pos="1149350" algn="l"/>
                <a:tab pos="1995488" algn="l"/>
              </a:tabLst>
            </a:pPr>
            <a:r>
              <a:rPr kumimoji="0" lang="zh-CN" altLang="en-US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8)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0=G，G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1=G；                 (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同一律)</a:t>
            </a:r>
          </a:p>
          <a:p>
            <a:pPr marL="0" indent="0">
              <a:spcBef>
                <a:spcPct val="50000"/>
              </a:spcBef>
              <a:buFont typeface="Wingdings" pitchFamily="2" charset="2"/>
              <a:buNone/>
              <a:tabLst>
                <a:tab pos="1149350" algn="l"/>
                <a:tab pos="1995488" algn="l"/>
              </a:tabLst>
            </a:pPr>
            <a:r>
              <a:rPr kumimoji="0" lang="zh-CN" altLang="en-US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9)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0=0，G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1=1；                   (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零一律)</a:t>
            </a:r>
          </a:p>
          <a:p>
            <a:pPr marL="0" indent="0">
              <a:spcBef>
                <a:spcPct val="50000"/>
              </a:spcBef>
              <a:buFont typeface="Wingdings" pitchFamily="2" charset="2"/>
              <a:buNone/>
              <a:tabLst>
                <a:tab pos="1149350" algn="l"/>
                <a:tab pos="1995488" algn="l"/>
              </a:tabLst>
            </a:pPr>
            <a:r>
              <a:rPr kumimoji="0" lang="zh-CN" altLang="en-US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10)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 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(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H)=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H，</a:t>
            </a:r>
            <a:b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     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(G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H)=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H。               (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摩根律)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3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3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3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3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07" grpId="0" uiExpand="1" build="p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Slide Number Placeholder 5">
            <a:extLst>
              <a:ext uri="{FF2B5EF4-FFF2-40B4-BE49-F238E27FC236}">
                <a16:creationId xmlns:a16="http://schemas.microsoft.com/office/drawing/2014/main" id="{B5A2977F-775F-8D41-ABD9-21FE27BF01E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FE9EE10-73F4-6745-AFF5-46C1E2634DD6}" type="slidenum">
              <a:rPr kumimoji="0" lang="zh-CN" altLang="en-US" sz="1200"/>
              <a:pPr/>
              <a:t>35</a:t>
            </a:fld>
            <a:endParaRPr kumimoji="0" lang="en-US" altLang="zh-CN" sz="1200"/>
          </a:p>
        </p:txBody>
      </p:sp>
      <p:sp>
        <p:nvSpPr>
          <p:cNvPr id="310274" name="Rectangle 2">
            <a:extLst>
              <a:ext uri="{FF2B5EF4-FFF2-40B4-BE49-F238E27FC236}">
                <a16:creationId xmlns:a16="http://schemas.microsoft.com/office/drawing/2014/main" id="{E55A7F0F-4F73-3042-92BD-59B8AD0A57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512" y="188640"/>
            <a:ext cx="6512511" cy="1143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ea typeface="+mj-ea"/>
                <a:cs typeface="+mj-cs"/>
              </a:rPr>
              <a:t>例</a:t>
            </a:r>
            <a:r>
              <a:rPr lang="en-US" altLang="zh-CN" dirty="0">
                <a:ea typeface="+mj-ea"/>
                <a:cs typeface="+mj-cs"/>
              </a:rPr>
              <a:t>1</a:t>
            </a:r>
            <a:r>
              <a:rPr lang="zh-CN" altLang="en-US" dirty="0">
                <a:ea typeface="+mj-ea"/>
                <a:cs typeface="+mj-cs"/>
              </a:rPr>
              <a:t>：</a:t>
            </a:r>
          </a:p>
        </p:txBody>
      </p:sp>
      <p:sp>
        <p:nvSpPr>
          <p:cNvPr id="310275" name="Rectangle 3">
            <a:extLst>
              <a:ext uri="{FF2B5EF4-FFF2-40B4-BE49-F238E27FC236}">
                <a16:creationId xmlns:a16="http://schemas.microsoft.com/office/drawing/2014/main" id="{B55CBBC5-A077-2E41-B505-526B2FC2DF12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07950" y="1341438"/>
            <a:ext cx="8856663" cy="43910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证明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(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(PQ)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)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PQ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等价。</a:t>
            </a:r>
          </a:p>
          <a:p>
            <a:pPr>
              <a:lnSpc>
                <a:spcPct val="90000"/>
              </a:lnSpc>
            </a:pPr>
            <a:r>
              <a:rPr kumimoji="0" lang="zh-CN" altLang="en-US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证明：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	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(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(PQ)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)	= 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P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(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PQ)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				= 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P(P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Q)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				= (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PP)(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P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Q)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				= 0(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P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Q)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				= 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P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Q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310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500"/>
                                        <p:tgtEl>
                                          <p:spTgt spid="310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500"/>
                                        <p:tgtEl>
                                          <p:spTgt spid="310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6" dur="500"/>
                                        <p:tgtEl>
                                          <p:spTgt spid="310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9" dur="500"/>
                                        <p:tgtEl>
                                          <p:spTgt spid="310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500"/>
                                        <p:tgtEl>
                                          <p:spTgt spid="3102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Slide Number Placeholder 5">
            <a:extLst>
              <a:ext uri="{FF2B5EF4-FFF2-40B4-BE49-F238E27FC236}">
                <a16:creationId xmlns:a16="http://schemas.microsoft.com/office/drawing/2014/main" id="{5F22B37D-526E-4D4D-B8C9-30BE9B29920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C54B04F-1D55-7949-B5DF-E443FEF945FC}" type="slidenum">
              <a:rPr kumimoji="0" lang="zh-CN" altLang="en-US" sz="1200"/>
              <a:pPr/>
              <a:t>36</a:t>
            </a:fld>
            <a:endParaRPr kumimoji="0" lang="en-US" altLang="zh-CN" sz="1200"/>
          </a:p>
        </p:txBody>
      </p:sp>
      <p:sp>
        <p:nvSpPr>
          <p:cNvPr id="311298" name="Rectangle 2">
            <a:extLst>
              <a:ext uri="{FF2B5EF4-FFF2-40B4-BE49-F238E27FC236}">
                <a16:creationId xmlns:a16="http://schemas.microsoft.com/office/drawing/2014/main" id="{197D8D1A-4720-944B-9DDB-ECD1A07B16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9729" y="269776"/>
            <a:ext cx="6512511" cy="1143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ea typeface="+mj-ea"/>
                <a:cs typeface="+mj-cs"/>
              </a:rPr>
              <a:t>例</a:t>
            </a:r>
            <a:r>
              <a:rPr lang="en-US" altLang="zh-CN" dirty="0">
                <a:ea typeface="+mj-ea"/>
                <a:cs typeface="+mj-cs"/>
              </a:rPr>
              <a:t>2</a:t>
            </a:r>
            <a:r>
              <a:rPr lang="zh-CN" altLang="en-US" dirty="0">
                <a:ea typeface="+mj-ea"/>
                <a:cs typeface="+mj-cs"/>
              </a:rPr>
              <a:t>：</a:t>
            </a:r>
          </a:p>
        </p:txBody>
      </p:sp>
      <p:sp>
        <p:nvSpPr>
          <p:cNvPr id="311299" name="Rectangle 3">
            <a:extLst>
              <a:ext uri="{FF2B5EF4-FFF2-40B4-BE49-F238E27FC236}">
                <a16:creationId xmlns:a16="http://schemas.microsoft.com/office/drawing/2014/main" id="{D0898794-13E9-A746-9243-9C63681ABE5D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07950" y="1484313"/>
            <a:ext cx="8496300" cy="4710112"/>
          </a:xfrm>
        </p:spPr>
        <p:txBody>
          <a:bodyPr/>
          <a:lstStyle/>
          <a:p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证明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Q)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为恒真的。</a:t>
            </a:r>
          </a:p>
          <a:p>
            <a:r>
              <a:rPr kumimoji="0" lang="zh-CN" altLang="en-US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证明：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	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Q)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= 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(PQ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Q)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				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 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= (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P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Q)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Q)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				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 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= (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PP)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Q)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				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 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= 11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				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 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= 1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1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11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11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11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11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11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Slide Number Placeholder 5">
            <a:extLst>
              <a:ext uri="{FF2B5EF4-FFF2-40B4-BE49-F238E27FC236}">
                <a16:creationId xmlns:a16="http://schemas.microsoft.com/office/drawing/2014/main" id="{4F05BE91-7CF3-6B43-9938-0A088029DB1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xfrm>
            <a:off x="7315200" y="6453188"/>
            <a:ext cx="1828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FAF9B3B-393A-444C-A727-CB10DE86C4C8}" type="slidenum">
              <a:rPr kumimoji="0" lang="zh-CN" altLang="en-US" sz="1200"/>
              <a:pPr/>
              <a:t>37</a:t>
            </a:fld>
            <a:endParaRPr kumimoji="0" lang="en-US" altLang="zh-CN" sz="1200"/>
          </a:p>
        </p:txBody>
      </p:sp>
      <p:sp>
        <p:nvSpPr>
          <p:cNvPr id="125954" name="Rectangle 2">
            <a:extLst>
              <a:ext uri="{FF2B5EF4-FFF2-40B4-BE49-F238E27FC236}">
                <a16:creationId xmlns:a16="http://schemas.microsoft.com/office/drawing/2014/main" id="{252EAB34-59FE-514B-B4F0-1D30298C52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9863" y="228824"/>
            <a:ext cx="7691437" cy="823912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定义</a:t>
            </a: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3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.</a:t>
            </a: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1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.</a:t>
            </a: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1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3 与非式</a:t>
            </a:r>
          </a:p>
        </p:txBody>
      </p:sp>
      <p:sp>
        <p:nvSpPr>
          <p:cNvPr id="125955" name="Rectangle 3">
            <a:extLst>
              <a:ext uri="{FF2B5EF4-FFF2-40B4-BE49-F238E27FC236}">
                <a16:creationId xmlns:a16="http://schemas.microsoft.com/office/drawing/2014/main" id="{FBB4EBBD-A32A-3645-915A-BFBB5C91E1FD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52400" y="1196975"/>
            <a:ext cx="8667750" cy="2232025"/>
          </a:xfrm>
        </p:spPr>
        <p:txBody>
          <a:bodyPr/>
          <a:lstStyle/>
          <a:p>
            <a:pPr marL="352425" indent="-352425" algn="just">
              <a:spcBef>
                <a:spcPct val="50000"/>
              </a:spcBef>
              <a:tabLst>
                <a:tab pos="1149350" algn="l"/>
                <a:tab pos="1995488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设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P，Q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是两个命题，命题 “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与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的否定”称为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与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的与非式，记作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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Q。 “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”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称作与非联结词</a:t>
            </a:r>
            <a:r>
              <a:rPr kumimoji="0" lang="zh-CN" altLang="en-US" sz="3200">
                <a:latin typeface="Arial" panose="020B0604020202020204" pitchFamily="34" charset="0"/>
                <a:ea typeface="黑体" panose="02010609060101010101" pitchFamily="49" charset="-122"/>
              </a:rPr>
              <a:t>。 </a:t>
            </a:r>
            <a:r>
              <a:rPr kumimoji="0" lang="en-US" altLang="zh-CN" sz="3200">
                <a:latin typeface="Arial" panose="020B0604020202020204" pitchFamily="34" charset="0"/>
                <a:ea typeface="黑体" panose="02010609060101010101" pitchFamily="49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黑体" panose="02010609060101010101" pitchFamily="49" charset="-122"/>
                <a:sym typeface="Symbol" pitchFamily="2" charset="2"/>
              </a:rPr>
              <a:t></a:t>
            </a:r>
            <a:r>
              <a:rPr kumimoji="0" lang="en-US" altLang="zh-CN" sz="3200">
                <a:latin typeface="Arial" panose="020B0604020202020204" pitchFamily="34" charset="0"/>
                <a:ea typeface="黑体" panose="02010609060101010101" pitchFamily="49" charset="-122"/>
              </a:rPr>
              <a:t>Q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为真当且仅当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P，Q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不同时为真。</a:t>
            </a:r>
          </a:p>
          <a:p>
            <a:pPr marL="352425" indent="-352425" algn="just">
              <a:spcBef>
                <a:spcPct val="0"/>
              </a:spcBef>
              <a:tabLst>
                <a:tab pos="1149350" algn="l"/>
                <a:tab pos="1995488" algn="l"/>
              </a:tabLst>
            </a:pP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由定义可知：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 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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Q=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Q)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1" charset="-122"/>
              </a:rPr>
              <a:t>。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 </a:t>
            </a:r>
            <a:endParaRPr kumimoji="0" lang="zh-CN" altLang="en-US" sz="3200">
              <a:latin typeface="Arial" panose="020B0604020202020204" pitchFamily="34" charset="0"/>
              <a:ea typeface="楷体_GB2312" pitchFamily="1" charset="-122"/>
            </a:endParaRPr>
          </a:p>
        </p:txBody>
      </p:sp>
      <p:graphicFrame>
        <p:nvGraphicFramePr>
          <p:cNvPr id="126027" name="Group 75">
            <a:extLst>
              <a:ext uri="{FF2B5EF4-FFF2-40B4-BE49-F238E27FC236}">
                <a16:creationId xmlns:a16="http://schemas.microsoft.com/office/drawing/2014/main" id="{B7B9318E-282E-D640-BEF5-951E54B447C2}"/>
              </a:ext>
            </a:extLst>
          </p:cNvPr>
          <p:cNvGraphicFramePr>
            <a:graphicFrameLocks noGrp="1"/>
          </p:cNvGraphicFramePr>
          <p:nvPr/>
        </p:nvGraphicFramePr>
        <p:xfrm>
          <a:off x="2268538" y="3429000"/>
          <a:ext cx="4727575" cy="2644300"/>
        </p:xfrm>
        <a:graphic>
          <a:graphicData uri="http://schemas.openxmlformats.org/drawingml/2006/table">
            <a:tbl>
              <a:tblPr/>
              <a:tblGrid>
                <a:gridCol w="1576387">
                  <a:extLst>
                    <a:ext uri="{9D8B030D-6E8A-4147-A177-3AD203B41FA5}">
                      <a16:colId xmlns:a16="http://schemas.microsoft.com/office/drawing/2014/main" val="368826042"/>
                    </a:ext>
                  </a:extLst>
                </a:gridCol>
                <a:gridCol w="1574800">
                  <a:extLst>
                    <a:ext uri="{9D8B030D-6E8A-4147-A177-3AD203B41FA5}">
                      <a16:colId xmlns:a16="http://schemas.microsoft.com/office/drawing/2014/main" val="3296175349"/>
                    </a:ext>
                  </a:extLst>
                </a:gridCol>
                <a:gridCol w="1576388">
                  <a:extLst>
                    <a:ext uri="{9D8B030D-6E8A-4147-A177-3AD203B41FA5}">
                      <a16:colId xmlns:a16="http://schemas.microsoft.com/office/drawing/2014/main" val="973866485"/>
                    </a:ext>
                  </a:extLst>
                </a:gridCol>
              </a:tblGrid>
              <a:tr h="5715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P</a:t>
                      </a:r>
                    </a:p>
                  </a:txBody>
                  <a:tcPr marT="45740" marB="4574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Q</a:t>
                      </a:r>
                    </a:p>
                  </a:txBody>
                  <a:tcPr marT="45740" marB="4574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P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  <a:sym typeface="Symbol" pitchFamily="2" charset="2"/>
                        </a:rPr>
                        <a:t>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Q</a:t>
                      </a: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anose="020B0604020202020204" pitchFamily="34" charset="0"/>
                        <a:ea typeface="楷体_GB2312" pitchFamily="1" charset="-122"/>
                      </a:endParaRPr>
                    </a:p>
                  </a:txBody>
                  <a:tcPr marT="45740" marB="4574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5369532"/>
                  </a:ext>
                </a:extLst>
              </a:tr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0</a:t>
                      </a:r>
                    </a:p>
                  </a:txBody>
                  <a:tcPr marT="45740" marB="4574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0</a:t>
                      </a:r>
                    </a:p>
                  </a:txBody>
                  <a:tcPr marT="45740" marB="4574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0</a:t>
                      </a:r>
                    </a:p>
                  </a:txBody>
                  <a:tcPr marT="45740" marB="4574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4513182"/>
                  </a:ext>
                </a:extLst>
              </a:tr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0</a:t>
                      </a:r>
                    </a:p>
                  </a:txBody>
                  <a:tcPr marT="45740" marB="4574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</a:t>
                      </a:r>
                    </a:p>
                  </a:txBody>
                  <a:tcPr marT="45740" marB="4574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0</a:t>
                      </a:r>
                    </a:p>
                  </a:txBody>
                  <a:tcPr marT="45740" marB="4574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5926432"/>
                  </a:ext>
                </a:extLst>
              </a:tr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</a:t>
                      </a:r>
                    </a:p>
                  </a:txBody>
                  <a:tcPr marT="45740" marB="4574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0</a:t>
                      </a:r>
                    </a:p>
                  </a:txBody>
                  <a:tcPr marT="45740" marB="4574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0</a:t>
                      </a:r>
                    </a:p>
                  </a:txBody>
                  <a:tcPr marT="45740" marB="4574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566474"/>
                  </a:ext>
                </a:extLst>
              </a:tr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</a:t>
                      </a:r>
                    </a:p>
                  </a:txBody>
                  <a:tcPr marT="45740" marB="4574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</a:t>
                      </a:r>
                    </a:p>
                  </a:txBody>
                  <a:tcPr marT="45740" marB="4574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</a:t>
                      </a:r>
                    </a:p>
                  </a:txBody>
                  <a:tcPr marT="45740" marB="4574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5663101"/>
                  </a:ext>
                </a:extLst>
              </a:tr>
            </a:tbl>
          </a:graphicData>
        </a:graphic>
      </p:graphicFrame>
      <p:graphicFrame>
        <p:nvGraphicFramePr>
          <p:cNvPr id="126029" name="Group 77">
            <a:extLst>
              <a:ext uri="{FF2B5EF4-FFF2-40B4-BE49-F238E27FC236}">
                <a16:creationId xmlns:a16="http://schemas.microsoft.com/office/drawing/2014/main" id="{1C50C717-0A56-4A40-B08A-A63B46B2BD4D}"/>
              </a:ext>
            </a:extLst>
          </p:cNvPr>
          <p:cNvGraphicFramePr>
            <a:graphicFrameLocks noGrp="1"/>
          </p:cNvGraphicFramePr>
          <p:nvPr/>
        </p:nvGraphicFramePr>
        <p:xfrm>
          <a:off x="2268538" y="3429000"/>
          <a:ext cx="4727575" cy="2649063"/>
        </p:xfrm>
        <a:graphic>
          <a:graphicData uri="http://schemas.openxmlformats.org/drawingml/2006/table">
            <a:tbl>
              <a:tblPr/>
              <a:tblGrid>
                <a:gridCol w="1576387">
                  <a:extLst>
                    <a:ext uri="{9D8B030D-6E8A-4147-A177-3AD203B41FA5}">
                      <a16:colId xmlns:a16="http://schemas.microsoft.com/office/drawing/2014/main" val="1354257208"/>
                    </a:ext>
                  </a:extLst>
                </a:gridCol>
                <a:gridCol w="1574800">
                  <a:extLst>
                    <a:ext uri="{9D8B030D-6E8A-4147-A177-3AD203B41FA5}">
                      <a16:colId xmlns:a16="http://schemas.microsoft.com/office/drawing/2014/main" val="1555618025"/>
                    </a:ext>
                  </a:extLst>
                </a:gridCol>
                <a:gridCol w="1576388">
                  <a:extLst>
                    <a:ext uri="{9D8B030D-6E8A-4147-A177-3AD203B41FA5}">
                      <a16:colId xmlns:a16="http://schemas.microsoft.com/office/drawing/2014/main" val="3133527013"/>
                    </a:ext>
                  </a:extLst>
                </a:gridCol>
              </a:tblGrid>
              <a:tr h="5762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P</a:t>
                      </a:r>
                    </a:p>
                  </a:txBody>
                  <a:tcPr marT="45740" marB="4574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Q</a:t>
                      </a:r>
                    </a:p>
                  </a:txBody>
                  <a:tcPr marT="45740" marB="4574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P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  <a:sym typeface="Symbol" pitchFamily="2" charset="2"/>
                        </a:rPr>
                        <a:t>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Q</a:t>
                      </a: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anose="020B0604020202020204" pitchFamily="34" charset="0"/>
                        <a:ea typeface="楷体_GB2312" pitchFamily="1" charset="-122"/>
                      </a:endParaRPr>
                    </a:p>
                  </a:txBody>
                  <a:tcPr marT="45740" marB="4574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0950517"/>
                  </a:ext>
                </a:extLst>
              </a:tr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0</a:t>
                      </a:r>
                    </a:p>
                  </a:txBody>
                  <a:tcPr marT="45740" marB="4574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0</a:t>
                      </a:r>
                    </a:p>
                  </a:txBody>
                  <a:tcPr marT="45740" marB="4574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</a:t>
                      </a:r>
                    </a:p>
                  </a:txBody>
                  <a:tcPr marT="45740" marB="4574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4630695"/>
                  </a:ext>
                </a:extLst>
              </a:tr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0</a:t>
                      </a:r>
                    </a:p>
                  </a:txBody>
                  <a:tcPr marT="45740" marB="4574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</a:t>
                      </a:r>
                    </a:p>
                  </a:txBody>
                  <a:tcPr marT="45740" marB="4574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</a:t>
                      </a:r>
                    </a:p>
                  </a:txBody>
                  <a:tcPr marT="45740" marB="4574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9850944"/>
                  </a:ext>
                </a:extLst>
              </a:tr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</a:t>
                      </a:r>
                    </a:p>
                  </a:txBody>
                  <a:tcPr marT="45740" marB="4574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0</a:t>
                      </a:r>
                    </a:p>
                  </a:txBody>
                  <a:tcPr marT="45740" marB="4574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</a:t>
                      </a:r>
                    </a:p>
                  </a:txBody>
                  <a:tcPr marT="45740" marB="4574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9597105"/>
                  </a:ext>
                </a:extLst>
              </a:tr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</a:t>
                      </a:r>
                    </a:p>
                  </a:txBody>
                  <a:tcPr marT="45740" marB="4574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</a:t>
                      </a:r>
                    </a:p>
                  </a:txBody>
                  <a:tcPr marT="45740" marB="4574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0</a:t>
                      </a:r>
                    </a:p>
                  </a:txBody>
                  <a:tcPr marT="45740" marB="4574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831322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5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6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955" grpId="0" build="p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Slide Number Placeholder 5">
            <a:extLst>
              <a:ext uri="{FF2B5EF4-FFF2-40B4-BE49-F238E27FC236}">
                <a16:creationId xmlns:a16="http://schemas.microsoft.com/office/drawing/2014/main" id="{9C25AE8F-AAFF-6A44-9877-31118AF014E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B66767E-7A11-0941-98FB-C8F61F53B4AF}" type="slidenum">
              <a:rPr kumimoji="0" lang="zh-CN" altLang="en-US" sz="1200"/>
              <a:pPr/>
              <a:t>38</a:t>
            </a:fld>
            <a:endParaRPr kumimoji="0" lang="en-US" altLang="zh-CN" sz="1200"/>
          </a:p>
        </p:txBody>
      </p:sp>
      <p:sp>
        <p:nvSpPr>
          <p:cNvPr id="126978" name="Rectangle 2">
            <a:extLst>
              <a:ext uri="{FF2B5EF4-FFF2-40B4-BE49-F238E27FC236}">
                <a16:creationId xmlns:a16="http://schemas.microsoft.com/office/drawing/2014/main" id="{EB987B07-5ECF-C044-8701-C3BB616773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9863" y="228824"/>
            <a:ext cx="7691437" cy="823912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定义</a:t>
            </a: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3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.</a:t>
            </a: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1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.</a:t>
            </a: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1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4  或非式</a:t>
            </a:r>
          </a:p>
        </p:txBody>
      </p:sp>
      <p:sp>
        <p:nvSpPr>
          <p:cNvPr id="126979" name="Rectangle 3">
            <a:extLst>
              <a:ext uri="{FF2B5EF4-FFF2-40B4-BE49-F238E27FC236}">
                <a16:creationId xmlns:a16="http://schemas.microsoft.com/office/drawing/2014/main" id="{477F22F2-60D5-614F-B305-137DA41F7C3A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07950" y="1149350"/>
            <a:ext cx="8856663" cy="2208213"/>
          </a:xfrm>
        </p:spPr>
        <p:txBody>
          <a:bodyPr/>
          <a:lstStyle/>
          <a:p>
            <a:pPr marL="352425" indent="-352425" algn="just">
              <a:spcBef>
                <a:spcPct val="0"/>
              </a:spcBef>
              <a:tabLst>
                <a:tab pos="1149350" algn="l"/>
                <a:tab pos="1995488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设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P，Q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是两个命题，命题 “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或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的否定”称为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与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的或非式，记作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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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 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称作或非联结词。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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为真当且仅当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P，Q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同时为假。</a:t>
            </a:r>
          </a:p>
          <a:p>
            <a:pPr marL="352425" indent="-352425" algn="just">
              <a:spcBef>
                <a:spcPct val="0"/>
              </a:spcBef>
              <a:tabLst>
                <a:tab pos="1149350" algn="l"/>
                <a:tab pos="1995488" algn="l"/>
              </a:tabLst>
            </a:pP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由定义可知：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 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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Q=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Q) </a:t>
            </a:r>
            <a:endParaRPr kumimoji="0" lang="zh-CN" altLang="en-US" sz="3200">
              <a:latin typeface="Arial" panose="020B0604020202020204" pitchFamily="34" charset="0"/>
              <a:ea typeface="楷体_GB2312" pitchFamily="1" charset="-122"/>
            </a:endParaRPr>
          </a:p>
        </p:txBody>
      </p:sp>
      <p:graphicFrame>
        <p:nvGraphicFramePr>
          <p:cNvPr id="136196" name="Group 1028">
            <a:extLst>
              <a:ext uri="{FF2B5EF4-FFF2-40B4-BE49-F238E27FC236}">
                <a16:creationId xmlns:a16="http://schemas.microsoft.com/office/drawing/2014/main" id="{60E57466-B87A-9C44-8CAF-9A882229C6DB}"/>
              </a:ext>
            </a:extLst>
          </p:cNvPr>
          <p:cNvGraphicFramePr>
            <a:graphicFrameLocks noGrp="1"/>
          </p:cNvGraphicFramePr>
          <p:nvPr/>
        </p:nvGraphicFramePr>
        <p:xfrm>
          <a:off x="2268538" y="3429000"/>
          <a:ext cx="4727575" cy="2651526"/>
        </p:xfrm>
        <a:graphic>
          <a:graphicData uri="http://schemas.openxmlformats.org/drawingml/2006/table">
            <a:tbl>
              <a:tblPr/>
              <a:tblGrid>
                <a:gridCol w="1576387">
                  <a:extLst>
                    <a:ext uri="{9D8B030D-6E8A-4147-A177-3AD203B41FA5}">
                      <a16:colId xmlns:a16="http://schemas.microsoft.com/office/drawing/2014/main" val="3576378627"/>
                    </a:ext>
                  </a:extLst>
                </a:gridCol>
                <a:gridCol w="1574800">
                  <a:extLst>
                    <a:ext uri="{9D8B030D-6E8A-4147-A177-3AD203B41FA5}">
                      <a16:colId xmlns:a16="http://schemas.microsoft.com/office/drawing/2014/main" val="130062585"/>
                    </a:ext>
                  </a:extLst>
                </a:gridCol>
                <a:gridCol w="1576388">
                  <a:extLst>
                    <a:ext uri="{9D8B030D-6E8A-4147-A177-3AD203B41FA5}">
                      <a16:colId xmlns:a16="http://schemas.microsoft.com/office/drawing/2014/main" val="4087169974"/>
                    </a:ext>
                  </a:extLst>
                </a:gridCol>
              </a:tblGrid>
              <a:tr h="5794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P</a:t>
                      </a:r>
                    </a:p>
                  </a:txBody>
                  <a:tcPr marT="45651" marB="4565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Q</a:t>
                      </a:r>
                    </a:p>
                  </a:txBody>
                  <a:tcPr marT="45651" marB="4565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P</a:t>
                      </a: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  <a:sym typeface="Symbol" pitchFamily="2" charset="2"/>
                        </a:rPr>
                        <a:t>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Q</a:t>
                      </a:r>
                      <a:endParaRPr kumimoji="0" lang="zh-CN" altLang="en-US" sz="32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anose="020B0604020202020204" pitchFamily="34" charset="0"/>
                        <a:ea typeface="楷体_GB2312" pitchFamily="1" charset="-122"/>
                      </a:endParaRPr>
                    </a:p>
                  </a:txBody>
                  <a:tcPr marT="45651" marB="4565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951951"/>
                  </a:ext>
                </a:extLst>
              </a:tr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0</a:t>
                      </a:r>
                    </a:p>
                  </a:txBody>
                  <a:tcPr marT="45651" marB="4565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0</a:t>
                      </a:r>
                    </a:p>
                  </a:txBody>
                  <a:tcPr marT="45651" marB="4565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0</a:t>
                      </a:r>
                    </a:p>
                  </a:txBody>
                  <a:tcPr marT="45651" marB="4565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3580645"/>
                  </a:ext>
                </a:extLst>
              </a:tr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0</a:t>
                      </a:r>
                    </a:p>
                  </a:txBody>
                  <a:tcPr marT="45651" marB="4565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</a:t>
                      </a:r>
                    </a:p>
                  </a:txBody>
                  <a:tcPr marT="45651" marB="4565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</a:t>
                      </a:r>
                    </a:p>
                  </a:txBody>
                  <a:tcPr marT="45651" marB="4565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3679207"/>
                  </a:ext>
                </a:extLst>
              </a:tr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</a:t>
                      </a:r>
                    </a:p>
                  </a:txBody>
                  <a:tcPr marT="45651" marB="4565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0</a:t>
                      </a:r>
                    </a:p>
                  </a:txBody>
                  <a:tcPr marT="45651" marB="4565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</a:t>
                      </a:r>
                    </a:p>
                  </a:txBody>
                  <a:tcPr marT="45651" marB="4565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3442228"/>
                  </a:ext>
                </a:extLst>
              </a:tr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</a:t>
                      </a:r>
                    </a:p>
                  </a:txBody>
                  <a:tcPr marT="45651" marB="4565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</a:t>
                      </a:r>
                    </a:p>
                  </a:txBody>
                  <a:tcPr marT="45651" marB="4565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</a:t>
                      </a:r>
                    </a:p>
                  </a:txBody>
                  <a:tcPr marT="45651" marB="4565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413153"/>
                  </a:ext>
                </a:extLst>
              </a:tr>
            </a:tbl>
          </a:graphicData>
        </a:graphic>
      </p:graphicFrame>
      <p:graphicFrame>
        <p:nvGraphicFramePr>
          <p:cNvPr id="136222" name="Group 1054">
            <a:extLst>
              <a:ext uri="{FF2B5EF4-FFF2-40B4-BE49-F238E27FC236}">
                <a16:creationId xmlns:a16="http://schemas.microsoft.com/office/drawing/2014/main" id="{62EA8B2B-A457-9D43-8213-76F375B3EB36}"/>
              </a:ext>
            </a:extLst>
          </p:cNvPr>
          <p:cNvGraphicFramePr>
            <a:graphicFrameLocks noGrp="1"/>
          </p:cNvGraphicFramePr>
          <p:nvPr/>
        </p:nvGraphicFramePr>
        <p:xfrm>
          <a:off x="2268538" y="3441700"/>
          <a:ext cx="4727575" cy="2651526"/>
        </p:xfrm>
        <a:graphic>
          <a:graphicData uri="http://schemas.openxmlformats.org/drawingml/2006/table">
            <a:tbl>
              <a:tblPr/>
              <a:tblGrid>
                <a:gridCol w="1576387">
                  <a:extLst>
                    <a:ext uri="{9D8B030D-6E8A-4147-A177-3AD203B41FA5}">
                      <a16:colId xmlns:a16="http://schemas.microsoft.com/office/drawing/2014/main" val="3669056518"/>
                    </a:ext>
                  </a:extLst>
                </a:gridCol>
                <a:gridCol w="1574800">
                  <a:extLst>
                    <a:ext uri="{9D8B030D-6E8A-4147-A177-3AD203B41FA5}">
                      <a16:colId xmlns:a16="http://schemas.microsoft.com/office/drawing/2014/main" val="55103923"/>
                    </a:ext>
                  </a:extLst>
                </a:gridCol>
                <a:gridCol w="1576388">
                  <a:extLst>
                    <a:ext uri="{9D8B030D-6E8A-4147-A177-3AD203B41FA5}">
                      <a16:colId xmlns:a16="http://schemas.microsoft.com/office/drawing/2014/main" val="717275932"/>
                    </a:ext>
                  </a:extLst>
                </a:gridCol>
              </a:tblGrid>
              <a:tr h="5794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P</a:t>
                      </a:r>
                    </a:p>
                  </a:txBody>
                  <a:tcPr marT="45651" marB="4565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Q</a:t>
                      </a:r>
                    </a:p>
                  </a:txBody>
                  <a:tcPr marT="45651" marB="4565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P</a:t>
                      </a: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  <a:sym typeface="Symbol" pitchFamily="2" charset="2"/>
                        </a:rPr>
                        <a:t></a:t>
                      </a: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Q</a:t>
                      </a:r>
                      <a:endParaRPr kumimoji="0" lang="zh-CN" altLang="en-US" sz="3200" b="1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panose="020B0604020202020204" pitchFamily="34" charset="0"/>
                        <a:ea typeface="楷体_GB2312" pitchFamily="1" charset="-122"/>
                      </a:endParaRPr>
                    </a:p>
                  </a:txBody>
                  <a:tcPr marT="45651" marB="4565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9845681"/>
                  </a:ext>
                </a:extLst>
              </a:tr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0</a:t>
                      </a:r>
                    </a:p>
                  </a:txBody>
                  <a:tcPr marT="45651" marB="4565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0</a:t>
                      </a:r>
                    </a:p>
                  </a:txBody>
                  <a:tcPr marT="45651" marB="4565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</a:t>
                      </a:r>
                    </a:p>
                  </a:txBody>
                  <a:tcPr marT="45651" marB="4565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7050343"/>
                  </a:ext>
                </a:extLst>
              </a:tr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0</a:t>
                      </a:r>
                    </a:p>
                  </a:txBody>
                  <a:tcPr marT="45651" marB="4565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</a:t>
                      </a:r>
                    </a:p>
                  </a:txBody>
                  <a:tcPr marT="45651" marB="4565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0</a:t>
                      </a:r>
                    </a:p>
                  </a:txBody>
                  <a:tcPr marT="45651" marB="4565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4896231"/>
                  </a:ext>
                </a:extLst>
              </a:tr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</a:t>
                      </a:r>
                    </a:p>
                  </a:txBody>
                  <a:tcPr marT="45651" marB="4565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0</a:t>
                      </a:r>
                    </a:p>
                  </a:txBody>
                  <a:tcPr marT="45651" marB="4565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0</a:t>
                      </a:r>
                    </a:p>
                  </a:txBody>
                  <a:tcPr marT="45651" marB="4565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4069596"/>
                  </a:ext>
                </a:extLst>
              </a:tr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</a:t>
                      </a:r>
                    </a:p>
                  </a:txBody>
                  <a:tcPr marT="45651" marB="4565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</a:t>
                      </a:r>
                    </a:p>
                  </a:txBody>
                  <a:tcPr marT="45651" marB="4565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0</a:t>
                      </a:r>
                    </a:p>
                  </a:txBody>
                  <a:tcPr marT="45651" marB="4565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724356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69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361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61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36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979" grpId="0" build="p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Slide Number Placeholder 5">
            <a:extLst>
              <a:ext uri="{FF2B5EF4-FFF2-40B4-BE49-F238E27FC236}">
                <a16:creationId xmlns:a16="http://schemas.microsoft.com/office/drawing/2014/main" id="{804B8E08-83FD-7E4C-ABF9-EBD78BF8614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8B59B8F-BB35-524B-B7EC-F919565C977E}" type="slidenum">
              <a:rPr kumimoji="0" lang="zh-CN" altLang="en-US" sz="1200"/>
              <a:pPr/>
              <a:t>39</a:t>
            </a:fld>
            <a:endParaRPr kumimoji="0" lang="en-US" altLang="zh-CN" sz="1200"/>
          </a:p>
        </p:txBody>
      </p:sp>
      <p:sp>
        <p:nvSpPr>
          <p:cNvPr id="312322" name="Rectangle 2">
            <a:extLst>
              <a:ext uri="{FF2B5EF4-FFF2-40B4-BE49-F238E27FC236}">
                <a16:creationId xmlns:a16="http://schemas.microsoft.com/office/drawing/2014/main" id="{E27CCD54-B96B-EA4A-85BF-2B03E4B791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9863" y="354013"/>
            <a:ext cx="7691437" cy="9144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定义</a:t>
            </a: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3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.</a:t>
            </a: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1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.</a:t>
            </a: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1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2 完备集</a:t>
            </a:r>
          </a:p>
        </p:txBody>
      </p:sp>
      <p:sp>
        <p:nvSpPr>
          <p:cNvPr id="312323" name="Rectangle 3">
            <a:extLst>
              <a:ext uri="{FF2B5EF4-FFF2-40B4-BE49-F238E27FC236}">
                <a16:creationId xmlns:a16="http://schemas.microsoft.com/office/drawing/2014/main" id="{8C5E5B33-DABB-B349-8BDC-B1AA055B6BC3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96850" y="1412875"/>
            <a:ext cx="8478838" cy="4464050"/>
          </a:xfrm>
        </p:spPr>
        <p:txBody>
          <a:bodyPr/>
          <a:lstStyle/>
          <a:p>
            <a:pPr marL="352425" indent="-352425" algn="just">
              <a:spcBef>
                <a:spcPct val="50000"/>
              </a:spcBef>
              <a:tabLst>
                <a:tab pos="1149350" algn="l"/>
                <a:tab pos="1995488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设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是逻辑运算符号集合，若所有逻辑运算都能由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中元素表示出来，而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的任意真子集无此性质，则称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是一个完备集。</a:t>
            </a:r>
          </a:p>
          <a:p>
            <a:pPr marL="352425" indent="-352425">
              <a:spcBef>
                <a:spcPct val="50000"/>
              </a:spcBef>
              <a:tabLst>
                <a:tab pos="1149350" algn="l"/>
                <a:tab pos="1995488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可以证明，{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}，</a:t>
            </a:r>
            <a:r>
              <a:rPr kumimoji="0" lang="zh-CN" altLang="en-US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{</a:t>
            </a:r>
            <a:r>
              <a:rPr kumimoji="0" lang="zh-CN" altLang="en-US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zh-CN" altLang="en-US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zh-CN" altLang="en-US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zh-CN" altLang="en-US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}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都是完备集。</a:t>
            </a:r>
          </a:p>
          <a:p>
            <a:pPr marL="352425" indent="-352425">
              <a:spcBef>
                <a:spcPct val="50000"/>
              </a:spcBef>
              <a:buFont typeface="Wingdings" pitchFamily="2" charset="2"/>
              <a:buChar char="v"/>
              <a:tabLst>
                <a:tab pos="1149350" algn="l"/>
                <a:tab pos="1995488" algn="l"/>
              </a:tabLst>
            </a:pPr>
            <a:r>
              <a:rPr kumimoji="0" lang="zh-CN" altLang="en-US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证明：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	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Q = 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P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Q</a:t>
            </a:r>
            <a:b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</a:b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		PQ = (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P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Q)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(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QP)</a:t>
            </a:r>
            <a:b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</a:b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		P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Q  = 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(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P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Q)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2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12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12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12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2323" grpId="0" build="p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Slide Number Placeholder 5">
            <a:extLst>
              <a:ext uri="{FF2B5EF4-FFF2-40B4-BE49-F238E27FC236}">
                <a16:creationId xmlns:a16="http://schemas.microsoft.com/office/drawing/2014/main" id="{37A4037E-1809-3D48-B302-4CD484EB064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81ACF7D-CDAC-C540-A80B-14715F7EDCA9}" type="slidenum">
              <a:rPr kumimoji="0" lang="zh-CN" altLang="en-US" sz="1200"/>
              <a:pPr/>
              <a:t>40</a:t>
            </a:fld>
            <a:endParaRPr kumimoji="0" lang="en-US" altLang="zh-CN" sz="1200"/>
          </a:p>
        </p:txBody>
      </p:sp>
      <p:sp>
        <p:nvSpPr>
          <p:cNvPr id="121858" name="Rectangle 2">
            <a:extLst>
              <a:ext uri="{FF2B5EF4-FFF2-40B4-BE49-F238E27FC236}">
                <a16:creationId xmlns:a16="http://schemas.microsoft.com/office/drawing/2014/main" id="{3DDEE0FE-9734-4048-8312-E606CAC165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9863" y="228824"/>
            <a:ext cx="7691437" cy="823912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{</a:t>
            </a:r>
            <a:r>
              <a:rPr lang="zh-CN" altLang="en-US" dirty="0">
                <a:latin typeface="Arial" charset="0"/>
                <a:ea typeface="楷体_GB2312" charset="0"/>
                <a:cs typeface="+mj-cs"/>
                <a:sym typeface="Symbol" charset="0"/>
              </a:rPr>
              <a:t>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}是完备集</a:t>
            </a:r>
          </a:p>
        </p:txBody>
      </p:sp>
      <p:sp>
        <p:nvSpPr>
          <p:cNvPr id="121859" name="Rectangle 3">
            <a:extLst>
              <a:ext uri="{FF2B5EF4-FFF2-40B4-BE49-F238E27FC236}">
                <a16:creationId xmlns:a16="http://schemas.microsoft.com/office/drawing/2014/main" id="{084CCDEC-D7C0-D148-94B3-EED6A4F17CBE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79388" y="981075"/>
            <a:ext cx="8640762" cy="4800600"/>
          </a:xfrm>
        </p:spPr>
        <p:txBody>
          <a:bodyPr/>
          <a:lstStyle/>
          <a:p>
            <a:pPr marL="0" indent="0" algn="just">
              <a:lnSpc>
                <a:spcPct val="120000"/>
              </a:lnSpc>
              <a:spcBef>
                <a:spcPct val="50000"/>
              </a:spcBef>
              <a:tabLst>
                <a:tab pos="1149350" algn="l"/>
                <a:tab pos="1995488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下面我们来说明{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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}是完备集。</a:t>
            </a:r>
          </a:p>
          <a:p>
            <a:pPr marL="0" indent="0" algn="just">
              <a:lnSpc>
                <a:spcPct val="120000"/>
              </a:lnSpc>
              <a:spcBef>
                <a:spcPct val="50000"/>
              </a:spcBef>
              <a:buFont typeface="Wingdings" pitchFamily="2" charset="2"/>
              <a:buNone/>
              <a:tabLst>
                <a:tab pos="1149350" algn="l"/>
                <a:tab pos="1995488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 = 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(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P) =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 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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</a:p>
          <a:p>
            <a:pPr marL="0" indent="0" algn="just">
              <a:lnSpc>
                <a:spcPct val="120000"/>
              </a:lnSpc>
              <a:spcBef>
                <a:spcPct val="50000"/>
              </a:spcBef>
              <a:buFont typeface="Wingdings" pitchFamily="2" charset="2"/>
              <a:buNone/>
              <a:tabLst>
                <a:tab pos="1149350" algn="l"/>
                <a:tab pos="1995488" algn="l"/>
              </a:tabLst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  = (P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(QQ) = 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(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(QQ))</a:t>
            </a:r>
            <a:b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</a:b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	= 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((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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(Q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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Q)) = (P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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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(Q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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Q)</a:t>
            </a:r>
          </a:p>
          <a:p>
            <a:pPr marL="0" indent="0" algn="just">
              <a:lnSpc>
                <a:spcPct val="120000"/>
              </a:lnSpc>
              <a:spcBef>
                <a:spcPct val="50000"/>
              </a:spcBef>
              <a:buFont typeface="Wingdings" pitchFamily="2" charset="2"/>
              <a:buNone/>
              <a:tabLst>
                <a:tab pos="1149350" algn="l"/>
                <a:tab pos="1995488" algn="l"/>
              </a:tabLst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  = (P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Q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(PQ) = 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(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Q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(PQ))</a:t>
            </a:r>
            <a:b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</a:b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          =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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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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Q)</a:t>
            </a:r>
          </a:p>
          <a:p>
            <a:pPr marL="0" indent="0">
              <a:lnSpc>
                <a:spcPct val="120000"/>
              </a:lnSpc>
              <a:spcBef>
                <a:spcPct val="50000"/>
              </a:spcBef>
              <a:tabLst>
                <a:tab pos="1149350" algn="l"/>
                <a:tab pos="1995488" algn="l"/>
              </a:tabLst>
            </a:pP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请同学自己证明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{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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}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也是完备集。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 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18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18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18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18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59" grpId="0" build="p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Slide Number Placeholder 5">
            <a:extLst>
              <a:ext uri="{FF2B5EF4-FFF2-40B4-BE49-F238E27FC236}">
                <a16:creationId xmlns:a16="http://schemas.microsoft.com/office/drawing/2014/main" id="{1349141C-A07D-C043-B119-675748D0C60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27F9394-EE44-584F-85DB-5BA574992088}" type="slidenum">
              <a:rPr kumimoji="0" lang="zh-CN" altLang="en-US" sz="1200"/>
              <a:pPr/>
              <a:t>41</a:t>
            </a:fld>
            <a:endParaRPr kumimoji="0" lang="en-US" altLang="zh-CN" sz="1200"/>
          </a:p>
        </p:txBody>
      </p:sp>
      <p:sp>
        <p:nvSpPr>
          <p:cNvPr id="128002" name="Rectangle 2">
            <a:extLst>
              <a:ext uri="{FF2B5EF4-FFF2-40B4-BE49-F238E27FC236}">
                <a16:creationId xmlns:a16="http://schemas.microsoft.com/office/drawing/2014/main" id="{72455B1B-9BA2-F646-9D0F-C89E5C4CB3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0650" y="444500"/>
            <a:ext cx="7691438" cy="823913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公式的蕴涵 </a:t>
            </a:r>
          </a:p>
        </p:txBody>
      </p:sp>
      <p:sp>
        <p:nvSpPr>
          <p:cNvPr id="128003" name="Rectangle 3">
            <a:extLst>
              <a:ext uri="{FF2B5EF4-FFF2-40B4-BE49-F238E27FC236}">
                <a16:creationId xmlns:a16="http://schemas.microsoft.com/office/drawing/2014/main" id="{1E988816-9FB3-5348-B3CC-D37DFD762950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07950" y="1484313"/>
            <a:ext cx="8785225" cy="4824412"/>
          </a:xfrm>
        </p:spPr>
        <p:txBody>
          <a:bodyPr/>
          <a:lstStyle/>
          <a:p>
            <a:pPr marL="352425" indent="-352425" algn="just">
              <a:tabLst>
                <a:tab pos="1149350" algn="l"/>
                <a:tab pos="1995488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逻辑的一个重要功能是研究推理。固然，依靠等价关系可以进行推理。但是，进行推理时，不必一定要依靠等价关系，只需是</a:t>
            </a:r>
            <a:r>
              <a:rPr kumimoji="0" lang="zh-CN" altLang="en-US" sz="3200" u="sng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蕴涵关系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就可以了。</a:t>
            </a:r>
          </a:p>
          <a:p>
            <a:pPr marL="352425" indent="-352425" algn="just">
              <a:tabLst>
                <a:tab pos="1149350" algn="l"/>
                <a:tab pos="1995488" algn="l"/>
              </a:tabLst>
            </a:pPr>
            <a:endParaRPr kumimoji="0" lang="zh-CN" altLang="en-US" sz="3200">
              <a:latin typeface="Arial" panose="020B0604020202020204" pitchFamily="34" charset="0"/>
              <a:ea typeface="楷体_GB2312" pitchFamily="1" charset="-122"/>
            </a:endParaRPr>
          </a:p>
          <a:p>
            <a:pPr marL="352425" indent="-352425">
              <a:buFont typeface="Wingdings" pitchFamily="2" charset="2"/>
              <a:buChar char="v"/>
              <a:tabLst>
                <a:tab pos="1149350" algn="l"/>
                <a:tab pos="1995488" algn="l"/>
              </a:tabLst>
            </a:pPr>
            <a:r>
              <a:rPr kumimoji="0" lang="zh-CN" altLang="en-US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例如：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若三角形等腰，则两底角相等；</a:t>
            </a:r>
            <a:b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	     这个三角形等腰，所以，这个</a:t>
            </a:r>
            <a:b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           三角形两底角相等。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8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003" grpId="0" build="p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Slide Number Placeholder 5">
            <a:extLst>
              <a:ext uri="{FF2B5EF4-FFF2-40B4-BE49-F238E27FC236}">
                <a16:creationId xmlns:a16="http://schemas.microsoft.com/office/drawing/2014/main" id="{353D0777-F0D4-724A-AC26-3A3BB352910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0099BD3-9323-9F43-B34E-7C5E84FE62FF}" type="slidenum">
              <a:rPr kumimoji="0" lang="zh-CN" altLang="en-US" sz="1200"/>
              <a:pPr/>
              <a:t>42</a:t>
            </a:fld>
            <a:endParaRPr kumimoji="0" lang="en-US" altLang="zh-CN" sz="1200"/>
          </a:p>
        </p:txBody>
      </p:sp>
      <p:sp>
        <p:nvSpPr>
          <p:cNvPr id="129027" name="Rectangle 3">
            <a:extLst>
              <a:ext uri="{FF2B5EF4-FFF2-40B4-BE49-F238E27FC236}">
                <a16:creationId xmlns:a16="http://schemas.microsoft.com/office/drawing/2014/main" id="{357A6EF8-04DA-6242-9577-CE50E5CC353D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52400" y="914400"/>
            <a:ext cx="8667750" cy="4962525"/>
          </a:xfrm>
        </p:spPr>
        <p:txBody>
          <a:bodyPr/>
          <a:lstStyle/>
          <a:p>
            <a:pPr marL="352425" indent="-352425">
              <a:spcBef>
                <a:spcPct val="50000"/>
              </a:spcBef>
              <a:tabLst>
                <a:tab pos="1149350" algn="l"/>
                <a:tab pos="1995488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一般推理形式为： </a:t>
            </a:r>
            <a:b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	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若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1" charset="-122"/>
              </a:rPr>
              <a:t>，</a:t>
            </a:r>
            <a:br>
              <a:rPr kumimoji="0" lang="en-US" altLang="zh-CN" sz="3200">
                <a:latin typeface="宋体" panose="02010600030101010101" pitchFamily="2" charset="-122"/>
                <a:ea typeface="楷体_GB2312" pitchFamily="1" charset="-122"/>
              </a:rPr>
            </a:br>
            <a:r>
              <a:rPr kumimoji="0" lang="en-US" altLang="zh-CN" sz="3200">
                <a:latin typeface="宋体" panose="02010600030101010101" pitchFamily="2" charset="-122"/>
                <a:ea typeface="楷体_GB2312" pitchFamily="1" charset="-122"/>
              </a:rPr>
              <a:t>	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1" charset="-122"/>
              </a:rPr>
              <a:t>，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所以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1" charset="-122"/>
              </a:rPr>
              <a:t>。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 </a:t>
            </a:r>
          </a:p>
          <a:p>
            <a:pPr marL="352425" indent="-352425" algn="just">
              <a:spcBef>
                <a:spcPct val="50000"/>
              </a:spcBef>
              <a:tabLst>
                <a:tab pos="1149350" algn="l"/>
                <a:tab pos="1995488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推理的正确性与命题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P，Q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所代表的的涵义无关，只决定于逻辑形式，命题逻辑中用公式表示命题，命题间演绎推理关系，反映为公式间逻辑蕴涵关系。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9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27" grpId="0" build="p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Slide Number Placeholder 5">
            <a:extLst>
              <a:ext uri="{FF2B5EF4-FFF2-40B4-BE49-F238E27FC236}">
                <a16:creationId xmlns:a16="http://schemas.microsoft.com/office/drawing/2014/main" id="{1C8C5A80-6AFB-5649-AA17-BF6AE9F2D06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5C52C25-F398-5040-9ABC-E165F92B836D}" type="slidenum">
              <a:rPr kumimoji="0" lang="zh-CN" altLang="en-US" sz="1200"/>
              <a:pPr/>
              <a:t>43</a:t>
            </a:fld>
            <a:endParaRPr kumimoji="0" lang="en-US" altLang="zh-CN" sz="1200"/>
          </a:p>
        </p:txBody>
      </p:sp>
      <p:sp>
        <p:nvSpPr>
          <p:cNvPr id="122882" name="Rectangle 2">
            <a:extLst>
              <a:ext uri="{FF2B5EF4-FFF2-40B4-BE49-F238E27FC236}">
                <a16:creationId xmlns:a16="http://schemas.microsoft.com/office/drawing/2014/main" id="{977A46D6-137F-314D-B88B-FC607505AF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9863" y="322263"/>
            <a:ext cx="7691437" cy="823912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定义</a:t>
            </a: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3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.</a:t>
            </a: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1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.</a:t>
            </a: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1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5  蕴涵</a:t>
            </a:r>
          </a:p>
        </p:txBody>
      </p:sp>
      <p:sp>
        <p:nvSpPr>
          <p:cNvPr id="122883" name="Rectangle 3">
            <a:extLst>
              <a:ext uri="{FF2B5EF4-FFF2-40B4-BE49-F238E27FC236}">
                <a16:creationId xmlns:a16="http://schemas.microsoft.com/office/drawing/2014/main" id="{8ED0349A-5CCD-6F43-B88F-EECFA0B754AA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07950" y="1143000"/>
            <a:ext cx="9036050" cy="5454650"/>
          </a:xfrm>
        </p:spPr>
        <p:txBody>
          <a:bodyPr/>
          <a:lstStyle/>
          <a:p>
            <a:pPr marL="352425" indent="-352425">
              <a:lnSpc>
                <a:spcPct val="120000"/>
              </a:lnSpc>
              <a:spcBef>
                <a:spcPct val="0"/>
              </a:spcBef>
              <a:tabLst>
                <a:tab pos="1149350" algn="l"/>
                <a:tab pos="1995488" algn="l"/>
              </a:tabLst>
            </a:pPr>
            <a:r>
              <a:rPr kumimoji="0" lang="zh-CN" altLang="en-US">
                <a:latin typeface="Arial" panose="020B0604020202020204" pitchFamily="34" charset="0"/>
                <a:ea typeface="楷体_GB2312" pitchFamily="1" charset="-122"/>
              </a:rPr>
              <a:t>设</a:t>
            </a:r>
            <a:r>
              <a:rPr kumimoji="0" lang="en-US" altLang="zh-CN">
                <a:latin typeface="Arial" panose="020B0604020202020204" pitchFamily="34" charset="0"/>
                <a:ea typeface="楷体_GB2312" pitchFamily="1" charset="-122"/>
              </a:rPr>
              <a:t>G，H</a:t>
            </a:r>
            <a:r>
              <a:rPr kumimoji="0" lang="zh-CN" altLang="en-US">
                <a:latin typeface="Arial" panose="020B0604020202020204" pitchFamily="34" charset="0"/>
                <a:ea typeface="楷体_GB2312" pitchFamily="1" charset="-122"/>
              </a:rPr>
              <a:t>是两个公式。 称</a:t>
            </a:r>
            <a:r>
              <a:rPr kumimoji="0" lang="en-US" altLang="zh-CN">
                <a:latin typeface="Arial" panose="020B0604020202020204" pitchFamily="34" charset="0"/>
                <a:ea typeface="楷体_GB2312" pitchFamily="1" charset="-122"/>
              </a:rPr>
              <a:t>H</a:t>
            </a:r>
            <a:r>
              <a:rPr kumimoji="0" lang="zh-CN" altLang="en-US">
                <a:latin typeface="Arial" panose="020B0604020202020204" pitchFamily="34" charset="0"/>
                <a:ea typeface="楷体_GB2312" pitchFamily="1" charset="-122"/>
              </a:rPr>
              <a:t>是</a:t>
            </a:r>
            <a:r>
              <a:rPr kumimoji="0" lang="en-US" altLang="zh-CN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>
                <a:latin typeface="Arial" panose="020B0604020202020204" pitchFamily="34" charset="0"/>
                <a:ea typeface="楷体_GB2312" pitchFamily="1" charset="-122"/>
              </a:rPr>
              <a:t>的</a:t>
            </a:r>
            <a:r>
              <a:rPr kumimoji="0" lang="zh-CN" altLang="en-US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逻辑结果</a:t>
            </a:r>
            <a:r>
              <a:rPr kumimoji="0" lang="zh-CN" altLang="en-US">
                <a:latin typeface="Arial" panose="020B0604020202020204" pitchFamily="34" charset="0"/>
                <a:ea typeface="楷体_GB2312" pitchFamily="1" charset="-122"/>
              </a:rPr>
              <a:t>(或称</a:t>
            </a:r>
            <a:r>
              <a:rPr kumimoji="0" lang="en-US" altLang="zh-CN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蕴涵</a:t>
            </a:r>
            <a:r>
              <a:rPr kumimoji="0" lang="en-US" altLang="zh-CN">
                <a:latin typeface="Arial" panose="020B0604020202020204" pitchFamily="34" charset="0"/>
                <a:ea typeface="楷体_GB2312" pitchFamily="1" charset="-122"/>
              </a:rPr>
              <a:t>H)，</a:t>
            </a:r>
            <a:r>
              <a:rPr kumimoji="0" lang="zh-CN" altLang="en-US">
                <a:latin typeface="Arial" panose="020B0604020202020204" pitchFamily="34" charset="0"/>
                <a:ea typeface="楷体_GB2312" pitchFamily="1" charset="-122"/>
              </a:rPr>
              <a:t>当且仅当对</a:t>
            </a:r>
            <a:r>
              <a:rPr kumimoji="0" lang="en-US" altLang="zh-CN">
                <a:latin typeface="Arial" panose="020B0604020202020204" pitchFamily="34" charset="0"/>
                <a:ea typeface="楷体_GB2312" pitchFamily="1" charset="-122"/>
              </a:rPr>
              <a:t>G，H</a:t>
            </a:r>
            <a:r>
              <a:rPr kumimoji="0" lang="zh-CN" altLang="en-US">
                <a:latin typeface="Arial" panose="020B0604020202020204" pitchFamily="34" charset="0"/>
                <a:ea typeface="楷体_GB2312" pitchFamily="1" charset="-122"/>
              </a:rPr>
              <a:t>的任意解释</a:t>
            </a:r>
            <a:r>
              <a:rPr kumimoji="0" lang="en-US" altLang="zh-CN">
                <a:latin typeface="Arial" panose="020B0604020202020204" pitchFamily="34" charset="0"/>
                <a:ea typeface="楷体_GB2312" pitchFamily="1" charset="-122"/>
              </a:rPr>
              <a:t>I，</a:t>
            </a:r>
            <a:r>
              <a:rPr kumimoji="0" lang="zh-CN" altLang="en-US">
                <a:latin typeface="Arial" panose="020B0604020202020204" pitchFamily="34" charset="0"/>
                <a:ea typeface="楷体_GB2312" pitchFamily="1" charset="-122"/>
              </a:rPr>
              <a:t>如果</a:t>
            </a:r>
            <a:r>
              <a:rPr kumimoji="0" lang="en-US" altLang="zh-CN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>
                <a:latin typeface="Arial" panose="020B0604020202020204" pitchFamily="34" charset="0"/>
                <a:ea typeface="楷体_GB2312" pitchFamily="1" charset="-122"/>
              </a:rPr>
              <a:t>满足</a:t>
            </a:r>
            <a:r>
              <a:rPr kumimoji="0" lang="en-US" altLang="zh-CN">
                <a:latin typeface="Arial" panose="020B0604020202020204" pitchFamily="34" charset="0"/>
                <a:ea typeface="楷体_GB2312" pitchFamily="1" charset="-122"/>
              </a:rPr>
              <a:t>G，</a:t>
            </a:r>
            <a:r>
              <a:rPr kumimoji="0" lang="zh-CN" altLang="en-US">
                <a:latin typeface="Arial" panose="020B0604020202020204" pitchFamily="34" charset="0"/>
                <a:ea typeface="楷体_GB2312" pitchFamily="1" charset="-122"/>
              </a:rPr>
              <a:t>则</a:t>
            </a:r>
            <a:r>
              <a:rPr kumimoji="0" lang="en-US" altLang="zh-CN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>
                <a:latin typeface="Arial" panose="020B0604020202020204" pitchFamily="34" charset="0"/>
                <a:ea typeface="楷体_GB2312" pitchFamily="1" charset="-122"/>
              </a:rPr>
              <a:t>也满足</a:t>
            </a:r>
            <a:r>
              <a:rPr kumimoji="0" lang="en-US" altLang="zh-CN">
                <a:latin typeface="Arial" panose="020B0604020202020204" pitchFamily="34" charset="0"/>
                <a:ea typeface="楷体_GB2312" pitchFamily="1" charset="-122"/>
              </a:rPr>
              <a:t>H，</a:t>
            </a:r>
            <a:r>
              <a:rPr kumimoji="0" lang="zh-CN" altLang="en-US">
                <a:latin typeface="Arial" panose="020B0604020202020204" pitchFamily="34" charset="0"/>
                <a:ea typeface="楷体_GB2312" pitchFamily="1" charset="-122"/>
              </a:rPr>
              <a:t>记作</a:t>
            </a:r>
            <a:r>
              <a:rPr kumimoji="0" lang="en-US" altLang="zh-CN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</a:t>
            </a:r>
            <a:r>
              <a:rPr kumimoji="0" lang="en-US" altLang="zh-CN">
                <a:latin typeface="Arial" panose="020B0604020202020204" pitchFamily="34" charset="0"/>
                <a:ea typeface="楷体_GB2312" pitchFamily="1" charset="-122"/>
              </a:rPr>
              <a:t>H。</a:t>
            </a:r>
          </a:p>
          <a:p>
            <a:pPr marL="352425" indent="-352425">
              <a:lnSpc>
                <a:spcPct val="120000"/>
              </a:lnSpc>
              <a:spcBef>
                <a:spcPct val="0"/>
              </a:spcBef>
              <a:tabLst>
                <a:tab pos="1149350" algn="l"/>
                <a:tab pos="1995488" algn="l"/>
              </a:tabLst>
            </a:pPr>
            <a:r>
              <a:rPr kumimoji="0" lang="zh-CN" altLang="en-US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注意：</a:t>
            </a:r>
            <a:r>
              <a:rPr kumimoji="0" lang="zh-CN" altLang="en-US">
                <a:latin typeface="Arial" panose="020B0604020202020204" pitchFamily="34" charset="0"/>
                <a:ea typeface="楷体_GB2312" pitchFamily="1" charset="-122"/>
              </a:rPr>
              <a:t> 符号“</a:t>
            </a:r>
            <a:r>
              <a:rPr kumimoji="0" lang="zh-CN" altLang="en-US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”</a:t>
            </a:r>
            <a:r>
              <a:rPr kumimoji="0" lang="zh-CN" altLang="en-US">
                <a:latin typeface="Arial" panose="020B0604020202020204" pitchFamily="34" charset="0"/>
                <a:ea typeface="楷体_GB2312" pitchFamily="1" charset="-122"/>
              </a:rPr>
              <a:t>和“=” 一样，它们都不是逻辑联结词，因此，</a:t>
            </a:r>
            <a:r>
              <a:rPr kumimoji="0" lang="en-US" altLang="zh-CN">
                <a:latin typeface="Arial" panose="020B0604020202020204" pitchFamily="34" charset="0"/>
                <a:ea typeface="楷体_GB2312" pitchFamily="1" charset="-122"/>
              </a:rPr>
              <a:t>G=H，G</a:t>
            </a:r>
            <a:r>
              <a:rPr kumimoji="0" lang="en-US" altLang="zh-CN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</a:t>
            </a:r>
            <a:r>
              <a:rPr kumimoji="0" lang="en-US" altLang="zh-CN">
                <a:latin typeface="Arial" panose="020B0604020202020204" pitchFamily="34" charset="0"/>
                <a:ea typeface="楷体_GB2312" pitchFamily="1" charset="-122"/>
              </a:rPr>
              <a:t>H</a:t>
            </a:r>
            <a:r>
              <a:rPr kumimoji="0" lang="zh-CN" altLang="en-US">
                <a:latin typeface="Arial" panose="020B0604020202020204" pitchFamily="34" charset="0"/>
                <a:ea typeface="楷体_GB2312" pitchFamily="1" charset="-122"/>
              </a:rPr>
              <a:t>都不是公式。</a:t>
            </a:r>
          </a:p>
          <a:p>
            <a:pPr marL="352425" indent="-352425" algn="just">
              <a:lnSpc>
                <a:spcPct val="120000"/>
              </a:lnSpc>
              <a:spcBef>
                <a:spcPct val="0"/>
              </a:spcBef>
              <a:tabLst>
                <a:tab pos="1149350" algn="l"/>
                <a:tab pos="1995488" algn="l"/>
              </a:tabLst>
            </a:pPr>
            <a:r>
              <a:rPr kumimoji="0" lang="zh-CN" altLang="en-US">
                <a:latin typeface="Arial" panose="020B0604020202020204" pitchFamily="34" charset="0"/>
                <a:ea typeface="楷体_GB2312" pitchFamily="1" charset="-122"/>
              </a:rPr>
              <a:t> </a:t>
            </a:r>
            <a:r>
              <a:rPr kumimoji="0" lang="zh-CN" altLang="en-US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</a:t>
            </a:r>
            <a:r>
              <a:rPr kumimoji="0" lang="zh-CN" altLang="en-US">
                <a:latin typeface="Arial" panose="020B0604020202020204" pitchFamily="34" charset="0"/>
                <a:ea typeface="楷体_GB2312" pitchFamily="1" charset="-122"/>
              </a:rPr>
              <a:t>是一种部分序关系。</a:t>
            </a:r>
          </a:p>
          <a:p>
            <a:pPr marL="352425" indent="-352425">
              <a:lnSpc>
                <a:spcPct val="120000"/>
              </a:lnSpc>
              <a:spcBef>
                <a:spcPct val="0"/>
              </a:spcBef>
              <a:tabLst>
                <a:tab pos="1149350" algn="l"/>
                <a:tab pos="1995488" algn="l"/>
              </a:tabLst>
            </a:pPr>
            <a:r>
              <a:rPr kumimoji="0" lang="zh-CN" altLang="en-US">
                <a:latin typeface="Arial" panose="020B0604020202020204" pitchFamily="34" charset="0"/>
                <a:ea typeface="楷体_GB2312" pitchFamily="1" charset="-122"/>
              </a:rPr>
              <a:t>公式</a:t>
            </a:r>
            <a:r>
              <a:rPr kumimoji="0" lang="en-US" altLang="zh-CN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>
                <a:latin typeface="Arial" panose="020B0604020202020204" pitchFamily="34" charset="0"/>
                <a:ea typeface="楷体_GB2312" pitchFamily="1" charset="-122"/>
              </a:rPr>
              <a:t>蕴涵公式</a:t>
            </a:r>
            <a:r>
              <a:rPr kumimoji="0" lang="en-US" altLang="zh-CN">
                <a:latin typeface="Arial" panose="020B0604020202020204" pitchFamily="34" charset="0"/>
                <a:ea typeface="楷体_GB2312" pitchFamily="1" charset="-122"/>
              </a:rPr>
              <a:t>H</a:t>
            </a:r>
            <a:r>
              <a:rPr kumimoji="0" lang="zh-CN" altLang="en-US">
                <a:latin typeface="Arial" panose="020B0604020202020204" pitchFamily="34" charset="0"/>
                <a:ea typeface="楷体_GB2312" pitchFamily="1" charset="-122"/>
              </a:rPr>
              <a:t>的充要条件是：公式</a:t>
            </a:r>
            <a:r>
              <a:rPr kumimoji="0" lang="en-US" altLang="zh-CN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>
                <a:latin typeface="Arial" panose="020B0604020202020204" pitchFamily="34" charset="0"/>
                <a:ea typeface="楷体_GB2312" pitchFamily="1" charset="-122"/>
              </a:rPr>
              <a:t>H</a:t>
            </a:r>
            <a:r>
              <a:rPr kumimoji="0" lang="zh-CN" altLang="en-US">
                <a:latin typeface="Arial" panose="020B0604020202020204" pitchFamily="34" charset="0"/>
                <a:ea typeface="楷体_GB2312" pitchFamily="1" charset="-122"/>
              </a:rPr>
              <a:t>是恒真的。 </a:t>
            </a:r>
          </a:p>
          <a:p>
            <a:pPr marL="352425" indent="-352425">
              <a:lnSpc>
                <a:spcPct val="120000"/>
              </a:lnSpc>
              <a:spcBef>
                <a:spcPct val="0"/>
              </a:spcBef>
              <a:buFont typeface="Wingdings" pitchFamily="2" charset="2"/>
              <a:buChar char="v"/>
              <a:tabLst>
                <a:tab pos="1149350" algn="l"/>
                <a:tab pos="1995488" algn="l"/>
              </a:tabLst>
            </a:pPr>
            <a:r>
              <a:rPr kumimoji="0" lang="zh-CN" altLang="en-US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例如：</a:t>
            </a:r>
            <a:r>
              <a:rPr kumimoji="0" lang="zh-CN" altLang="en-US">
                <a:latin typeface="Arial" panose="020B0604020202020204" pitchFamily="34" charset="0"/>
                <a:ea typeface="楷体_GB2312" pitchFamily="1" charset="-122"/>
              </a:rPr>
              <a:t>(</a:t>
            </a:r>
            <a:r>
              <a:rPr kumimoji="0" lang="en-US" altLang="zh-CN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>
                <a:latin typeface="Arial" panose="020B0604020202020204" pitchFamily="34" charset="0"/>
                <a:ea typeface="楷体_GB2312" pitchFamily="1" charset="-122"/>
              </a:rPr>
              <a:t>Q)</a:t>
            </a:r>
            <a:r>
              <a:rPr kumimoji="0" lang="en-US" altLang="zh-CN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</a:t>
            </a:r>
            <a:r>
              <a:rPr kumimoji="0" lang="en-US" altLang="zh-CN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>
                <a:latin typeface="宋体" panose="02010600030101010101" pitchFamily="2" charset="-122"/>
                <a:ea typeface="楷体_GB2312" pitchFamily="1" charset="-122"/>
              </a:rPr>
              <a:t>，</a:t>
            </a:r>
            <a:r>
              <a:rPr kumimoji="0" lang="en-US" altLang="zh-CN">
                <a:latin typeface="Arial" panose="020B0604020202020204" pitchFamily="34" charset="0"/>
                <a:ea typeface="楷体_GB2312" pitchFamily="1" charset="-122"/>
              </a:rPr>
              <a:t>(P</a:t>
            </a:r>
            <a:r>
              <a:rPr kumimoji="0" lang="en-US" altLang="zh-CN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>
                <a:latin typeface="Arial" panose="020B0604020202020204" pitchFamily="34" charset="0"/>
                <a:ea typeface="楷体_GB2312" pitchFamily="1" charset="-122"/>
              </a:rPr>
              <a:t>Q)</a:t>
            </a:r>
            <a:r>
              <a:rPr kumimoji="0" lang="en-US" altLang="zh-CN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</a:t>
            </a:r>
            <a:r>
              <a:rPr kumimoji="0" lang="en-US" altLang="zh-CN">
                <a:latin typeface="Arial" panose="020B0604020202020204" pitchFamily="34" charset="0"/>
                <a:ea typeface="楷体_GB2312" pitchFamily="1" charset="-122"/>
              </a:rPr>
              <a:t>Q </a:t>
            </a:r>
            <a:endParaRPr kumimoji="0" lang="zh-CN" altLang="en-US">
              <a:latin typeface="Arial" panose="020B0604020202020204" pitchFamily="34" charset="0"/>
              <a:ea typeface="楷体_GB2312" pitchFamily="1" charset="-122"/>
            </a:endParaRPr>
          </a:p>
        </p:txBody>
      </p:sp>
      <p:sp>
        <p:nvSpPr>
          <p:cNvPr id="132100" name="Text Box 1028">
            <a:extLst>
              <a:ext uri="{FF2B5EF4-FFF2-40B4-BE49-F238E27FC236}">
                <a16:creationId xmlns:a16="http://schemas.microsoft.com/office/drawing/2014/main" id="{0FA2F209-C033-3041-9CEB-058A690916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443" y="4356100"/>
            <a:ext cx="7993063" cy="1816100"/>
          </a:xfrm>
          <a:prstGeom prst="rect">
            <a:avLst/>
          </a:prstGeom>
          <a:solidFill>
            <a:srgbClr val="FF66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>
              <a:defRPr/>
            </a:pPr>
            <a:r>
              <a:rPr kumimoji="1" lang="zh-CN" altLang="en-US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(</a:t>
            </a: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P</a:t>
            </a: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  <a:sym typeface="Symbol" charset="0"/>
              </a:rPr>
              <a:t></a:t>
            </a: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Q)</a:t>
            </a:r>
            <a:r>
              <a:rPr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sym typeface="Symbol" charset="0"/>
              </a:rPr>
              <a:t></a:t>
            </a: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P</a:t>
            </a:r>
            <a:r>
              <a:rPr kumimoji="1" lang="zh-CN" altLang="en-US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恒真。</a:t>
            </a:r>
          </a:p>
          <a:p>
            <a:pPr eaLnBrk="1" hangingPunct="1">
              <a:defRPr/>
            </a:pPr>
            <a:r>
              <a:rPr kumimoji="1" lang="zh-CN" altLang="en-US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只有</a:t>
            </a: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P</a:t>
            </a: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  <a:sym typeface="Symbol" charset="0"/>
              </a:rPr>
              <a:t></a:t>
            </a: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Q</a:t>
            </a:r>
            <a:r>
              <a:rPr kumimoji="1" lang="zh-CN" altLang="en-US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真，</a:t>
            </a: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P</a:t>
            </a:r>
            <a:r>
              <a:rPr kumimoji="1" lang="zh-CN" altLang="en-US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假，(</a:t>
            </a: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P</a:t>
            </a: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  <a:sym typeface="Symbol" charset="0"/>
              </a:rPr>
              <a:t></a:t>
            </a: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Q)</a:t>
            </a:r>
            <a:r>
              <a:rPr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sym typeface="Symbol" charset="0"/>
              </a:rPr>
              <a:t></a:t>
            </a: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P</a:t>
            </a:r>
            <a:r>
              <a:rPr kumimoji="1" lang="zh-CN" altLang="en-US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才为假。可是</a:t>
            </a:r>
            <a:br>
              <a:rPr kumimoji="1" lang="zh-CN" altLang="en-US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</a:br>
            <a:r>
              <a:rPr kumimoji="1" lang="zh-CN" altLang="en-US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如果有</a:t>
            </a: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P</a:t>
            </a: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  <a:sym typeface="Symbol" charset="0"/>
              </a:rPr>
              <a:t></a:t>
            </a: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Q</a:t>
            </a:r>
            <a:r>
              <a:rPr kumimoji="1" lang="zh-CN" altLang="en-US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真，则</a:t>
            </a: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P</a:t>
            </a:r>
            <a:r>
              <a:rPr kumimoji="1" lang="zh-CN" altLang="en-US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必为真，与</a:t>
            </a: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P</a:t>
            </a:r>
            <a:r>
              <a:rPr kumimoji="1" lang="zh-CN" altLang="en-US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假矛盾。</a:t>
            </a:r>
            <a:br>
              <a:rPr kumimoji="1" lang="zh-CN" altLang="en-US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</a:br>
            <a:r>
              <a:rPr kumimoji="1" lang="zh-CN" altLang="en-US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所以，(</a:t>
            </a: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P</a:t>
            </a: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  <a:sym typeface="Symbol" charset="0"/>
              </a:rPr>
              <a:t></a:t>
            </a: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Q)</a:t>
            </a:r>
            <a:r>
              <a:rPr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sym typeface="Symbol" charset="0"/>
              </a:rPr>
              <a:t></a:t>
            </a: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P</a:t>
            </a:r>
            <a:r>
              <a:rPr kumimoji="1" lang="zh-CN" altLang="en-US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恒真。</a:t>
            </a:r>
          </a:p>
        </p:txBody>
      </p:sp>
      <p:sp>
        <p:nvSpPr>
          <p:cNvPr id="132102" name="Text Box 1030">
            <a:extLst>
              <a:ext uri="{FF2B5EF4-FFF2-40B4-BE49-F238E27FC236}">
                <a16:creationId xmlns:a16="http://schemas.microsoft.com/office/drawing/2014/main" id="{71FFB10C-1937-F94A-A1EF-6D628A1953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1855" y="4530553"/>
            <a:ext cx="7488238" cy="1384300"/>
          </a:xfrm>
          <a:prstGeom prst="rect">
            <a:avLst/>
          </a:prstGeom>
          <a:solidFill>
            <a:srgbClr val="FF66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>
              <a:defRPr/>
            </a:pPr>
            <a:r>
              <a:rPr kumimoji="1" lang="zh-CN" altLang="en-US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对于</a:t>
            </a: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P</a:t>
            </a: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  <a:sym typeface="Symbol" charset="0"/>
              </a:rPr>
              <a:t></a:t>
            </a: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Q</a:t>
            </a:r>
            <a:r>
              <a:rPr kumimoji="1" lang="zh-CN" altLang="en-US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，只有解释：</a:t>
            </a: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P=1, Q=1</a:t>
            </a:r>
            <a:r>
              <a:rPr kumimoji="1" lang="zh-CN" altLang="en-US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才满足</a:t>
            </a: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;</a:t>
            </a:r>
            <a:r>
              <a:rPr kumimoji="1" lang="zh-CN" altLang="en-US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而此解释也满足</a:t>
            </a: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P</a:t>
            </a:r>
            <a:r>
              <a:rPr kumimoji="1" lang="zh-CN" altLang="en-US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。</a:t>
            </a:r>
          </a:p>
          <a:p>
            <a:pPr eaLnBrk="1" hangingPunct="1">
              <a:defRPr/>
            </a:pPr>
            <a:r>
              <a:rPr kumimoji="1" lang="zh-CN" altLang="en-US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因此，</a:t>
            </a: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P</a:t>
            </a:r>
            <a:r>
              <a:rPr kumimoji="1" lang="zh-CN" altLang="en-US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是</a:t>
            </a: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P</a:t>
            </a: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  <a:sym typeface="Symbol" charset="0"/>
              </a:rPr>
              <a:t></a:t>
            </a: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Q</a:t>
            </a:r>
            <a:r>
              <a:rPr kumimoji="1" lang="zh-CN" altLang="en-US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的逻辑结果，</a:t>
            </a:r>
            <a:r>
              <a:rPr kumimoji="1" lang="zh-CN" altLang="en-US" sz="28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(</a:t>
            </a: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P</a:t>
            </a: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sym typeface="Symbol" charset="0"/>
              </a:rPr>
              <a:t></a:t>
            </a: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Q)</a:t>
            </a:r>
            <a:r>
              <a:rPr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sym typeface="Symbol" charset="0"/>
              </a:rPr>
              <a:t></a:t>
            </a: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P</a:t>
            </a:r>
            <a:r>
              <a:rPr kumimoji="1" lang="zh-CN" altLang="en-US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。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2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28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228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2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2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2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2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3" grpId="0" uiExpand="1" build="p" autoUpdateAnimBg="0"/>
      <p:bldP spid="132100" grpId="0" animBg="1"/>
      <p:bldP spid="132102" grpId="0" animBg="1"/>
      <p:bldP spid="132102" grpId="1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Slide Number Placeholder 5">
            <a:extLst>
              <a:ext uri="{FF2B5EF4-FFF2-40B4-BE49-F238E27FC236}">
                <a16:creationId xmlns:a16="http://schemas.microsoft.com/office/drawing/2014/main" id="{20FBFC97-0A7A-954D-8EB7-993B2C4D456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31BCEBB-8F95-9C42-AE6C-00A00CCE14F9}" type="slidenum">
              <a:rPr kumimoji="0" lang="zh-CN" altLang="en-US" sz="1200"/>
              <a:pPr/>
              <a:t>44</a:t>
            </a:fld>
            <a:endParaRPr kumimoji="0" lang="en-US" altLang="zh-CN" sz="1200"/>
          </a:p>
        </p:txBody>
      </p:sp>
      <p:sp>
        <p:nvSpPr>
          <p:cNvPr id="130050" name="Rectangle 2">
            <a:extLst>
              <a:ext uri="{FF2B5EF4-FFF2-40B4-BE49-F238E27FC236}">
                <a16:creationId xmlns:a16="http://schemas.microsoft.com/office/drawing/2014/main" id="{8DF18A8D-9AB5-344D-83CA-D3C1D2425C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9863" y="84808"/>
            <a:ext cx="7691437" cy="823912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定义</a:t>
            </a: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3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.</a:t>
            </a: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1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.</a:t>
            </a: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1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6  </a:t>
            </a:r>
          </a:p>
        </p:txBody>
      </p:sp>
      <p:sp>
        <p:nvSpPr>
          <p:cNvPr id="130051" name="Rectangle 3">
            <a:extLst>
              <a:ext uri="{FF2B5EF4-FFF2-40B4-BE49-F238E27FC236}">
                <a16:creationId xmlns:a16="http://schemas.microsoft.com/office/drawing/2014/main" id="{FB3D5585-C6B3-D34D-967C-D083DF84D5CF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07950" y="920750"/>
            <a:ext cx="8712200" cy="5029200"/>
          </a:xfrm>
        </p:spPr>
        <p:txBody>
          <a:bodyPr/>
          <a:lstStyle/>
          <a:p>
            <a:pPr marL="352425" indent="-352425">
              <a:spcBef>
                <a:spcPct val="25000"/>
              </a:spcBef>
              <a:tabLst>
                <a:tab pos="1149350" algn="l"/>
                <a:tab pos="1995488" algn="l"/>
              </a:tabLst>
            </a:pP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设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3200" baseline="-30000" dirty="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, …, 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3200" baseline="-30000" dirty="0" err="1"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，H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是公式。 称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H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是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3200" baseline="-30000" dirty="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, …,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3200" baseline="-30000" dirty="0" err="1"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的逻辑结果(或称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3200" baseline="-30000" dirty="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, …, 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3200" baseline="-30000" dirty="0" err="1"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共同蕴涵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H)，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当且仅当公式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3200" baseline="-30000" dirty="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 …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3200" baseline="-30000" dirty="0" err="1"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蕴涵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H。</a:t>
            </a:r>
          </a:p>
          <a:p>
            <a:pPr marL="352425" indent="-352425">
              <a:spcBef>
                <a:spcPct val="25000"/>
              </a:spcBef>
              <a:tabLst>
                <a:tab pos="1149350" algn="l"/>
                <a:tab pos="1995488" algn="l"/>
              </a:tabLst>
            </a:pP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显然，公式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H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是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3200" baseline="-30000" dirty="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, …, 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3200" baseline="-30000" dirty="0" err="1"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的逻辑结果的充要条件是：公式((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3200" baseline="-30000" dirty="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 …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 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3200" baseline="-30000" dirty="0" err="1"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)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H)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是恒真的。</a:t>
            </a:r>
          </a:p>
          <a:p>
            <a:pPr marL="352425" indent="-352425">
              <a:spcBef>
                <a:spcPct val="25000"/>
              </a:spcBef>
              <a:buFont typeface="Wingdings" pitchFamily="2" charset="2"/>
              <a:buChar char="v"/>
              <a:tabLst>
                <a:tab pos="1149350" algn="l"/>
                <a:tab pos="1995488" algn="l"/>
              </a:tabLst>
            </a:pPr>
            <a:r>
              <a:rPr kumimoji="0" lang="zh-CN" altLang="en-US" sz="3200" dirty="0">
                <a:solidFill>
                  <a:srgbClr val="4E67C8"/>
                </a:solidFill>
                <a:latin typeface="宋体" panose="02010600030101010101" pitchFamily="2" charset="-122"/>
                <a:ea typeface="楷体_GB2312" pitchFamily="1" charset="-122"/>
              </a:rPr>
              <a:t>例如：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 dirty="0">
                <a:latin typeface="宋体" panose="02010600030101010101" pitchFamily="2" charset="-122"/>
                <a:ea typeface="楷体_GB2312" pitchFamily="1" charset="-122"/>
              </a:rPr>
              <a:t>，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1" charset="-122"/>
              </a:rPr>
              <a:t>共同蕴涵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3200" dirty="0">
                <a:latin typeface="宋体" panose="02010600030101010101" pitchFamily="2" charset="-122"/>
                <a:ea typeface="楷体_GB2312" pitchFamily="1" charset="-122"/>
              </a:rPr>
              <a:t>。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 </a:t>
            </a:r>
            <a:endParaRPr kumimoji="0" lang="zh-CN" altLang="en-US" sz="3200" dirty="0">
              <a:latin typeface="Arial" panose="020B0604020202020204" pitchFamily="34" charset="0"/>
              <a:ea typeface="楷体_GB2312" pitchFamily="1" charset="-122"/>
            </a:endParaRPr>
          </a:p>
        </p:txBody>
      </p:sp>
      <p:sp>
        <p:nvSpPr>
          <p:cNvPr id="131076" name="Text Box 1028">
            <a:extLst>
              <a:ext uri="{FF2B5EF4-FFF2-40B4-BE49-F238E27FC236}">
                <a16:creationId xmlns:a16="http://schemas.microsoft.com/office/drawing/2014/main" id="{A80BD60D-09D6-3642-B71B-39CCFF7136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4349204"/>
            <a:ext cx="7920037" cy="1816100"/>
          </a:xfrm>
          <a:prstGeom prst="rect">
            <a:avLst/>
          </a:prstGeom>
          <a:solidFill>
            <a:srgbClr val="FF66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>
              <a:defRPr/>
            </a:pP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P</a:t>
            </a: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  <a:sym typeface="Symbol" charset="0"/>
              </a:rPr>
              <a:t>(</a:t>
            </a: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P</a:t>
            </a: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  <a:sym typeface="Symbol" charset="0"/>
              </a:rPr>
              <a:t></a:t>
            </a: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Q)</a:t>
            </a: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  <a:sym typeface="Symbol" charset="0"/>
              </a:rPr>
              <a:t>Q</a:t>
            </a:r>
            <a:r>
              <a:rPr kumimoji="1" lang="zh-CN" altLang="en-US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  <a:sym typeface="Symbol" charset="0"/>
              </a:rPr>
              <a:t>恒真。</a:t>
            </a:r>
          </a:p>
          <a:p>
            <a:pPr eaLnBrk="1" hangingPunct="1">
              <a:defRPr/>
            </a:pPr>
            <a:r>
              <a:rPr kumimoji="1" lang="zh-CN" altLang="en-US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只有</a:t>
            </a: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P</a:t>
            </a: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  <a:sym typeface="Symbol" charset="0"/>
              </a:rPr>
              <a:t>(</a:t>
            </a: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P</a:t>
            </a: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  <a:sym typeface="Symbol" charset="0"/>
              </a:rPr>
              <a:t></a:t>
            </a: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Q)</a:t>
            </a:r>
            <a:r>
              <a:rPr kumimoji="1" lang="zh-CN" altLang="en-US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真，</a:t>
            </a: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Q</a:t>
            </a:r>
            <a:r>
              <a:rPr kumimoji="1" lang="zh-CN" altLang="en-US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假，该命题才为假。</a:t>
            </a:r>
          </a:p>
          <a:p>
            <a:pPr eaLnBrk="1" hangingPunct="1">
              <a:defRPr/>
            </a:pP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P</a:t>
            </a: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  <a:sym typeface="Symbol" charset="0"/>
              </a:rPr>
              <a:t>(</a:t>
            </a: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P</a:t>
            </a: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  <a:sym typeface="Symbol" charset="0"/>
              </a:rPr>
              <a:t></a:t>
            </a: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Q)</a:t>
            </a:r>
            <a:r>
              <a:rPr kumimoji="1" lang="zh-CN" altLang="en-US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真则</a:t>
            </a: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P</a:t>
            </a:r>
            <a:r>
              <a:rPr kumimoji="1" lang="zh-CN" altLang="en-US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真且</a:t>
            </a: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P</a:t>
            </a: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  <a:sym typeface="Symbol" charset="0"/>
              </a:rPr>
              <a:t></a:t>
            </a: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Q</a:t>
            </a:r>
            <a:r>
              <a:rPr kumimoji="1" lang="zh-CN" altLang="en-US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真；</a:t>
            </a: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P</a:t>
            </a: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  <a:sym typeface="Symbol" charset="0"/>
              </a:rPr>
              <a:t></a:t>
            </a: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Q</a:t>
            </a:r>
            <a:r>
              <a:rPr kumimoji="1" lang="zh-CN" altLang="en-US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真，则不允许</a:t>
            </a: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P</a:t>
            </a:r>
            <a:r>
              <a:rPr kumimoji="1" lang="zh-CN" altLang="en-US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真</a:t>
            </a: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Q</a:t>
            </a:r>
            <a:r>
              <a:rPr kumimoji="1" lang="zh-CN" altLang="en-US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假，而</a:t>
            </a: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Q</a:t>
            </a:r>
            <a:r>
              <a:rPr kumimoji="1" lang="zh-CN" altLang="en-US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为假，矛盾。</a:t>
            </a:r>
          </a:p>
        </p:txBody>
      </p:sp>
      <p:sp>
        <p:nvSpPr>
          <p:cNvPr id="131077" name="Text Box 1029">
            <a:extLst>
              <a:ext uri="{FF2B5EF4-FFF2-40B4-BE49-F238E27FC236}">
                <a16:creationId xmlns:a16="http://schemas.microsoft.com/office/drawing/2014/main" id="{49FCBF48-F9DB-F440-93D1-C8EF10AC3B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4333329"/>
            <a:ext cx="7416800" cy="1816100"/>
          </a:xfrm>
          <a:prstGeom prst="rect">
            <a:avLst/>
          </a:prstGeom>
          <a:solidFill>
            <a:srgbClr val="FF66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1" charset="-122"/>
              </a:rPr>
              <a:t>对于</a:t>
            </a:r>
            <a:r>
              <a:rPr lang="en-US" altLang="zh-CN" sz="2800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1" charset="-122"/>
              </a:rPr>
              <a:t>P</a:t>
            </a:r>
            <a:r>
              <a:rPr lang="en-US" altLang="zh-CN" sz="2800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1" charset="-122"/>
                <a:sym typeface="Symbol" pitchFamily="2" charset="2"/>
              </a:rPr>
              <a:t>(</a:t>
            </a:r>
            <a:r>
              <a:rPr lang="en-US" altLang="zh-CN" sz="2800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1" charset="-122"/>
              </a:rPr>
              <a:t>P</a:t>
            </a:r>
            <a:r>
              <a:rPr lang="en-US" altLang="zh-CN" sz="2800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1" charset="-122"/>
                <a:sym typeface="Symbol" pitchFamily="2" charset="2"/>
              </a:rPr>
              <a:t></a:t>
            </a:r>
            <a:r>
              <a:rPr lang="en-US" altLang="zh-CN" sz="2800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1" charset="-122"/>
              </a:rPr>
              <a:t>Q)</a:t>
            </a:r>
            <a:r>
              <a:rPr lang="zh-CN" altLang="en-US" sz="2800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1" charset="-122"/>
              </a:rPr>
              <a:t>，只有解释：</a:t>
            </a:r>
            <a:r>
              <a:rPr lang="en-US" altLang="zh-CN" sz="2800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1" charset="-122"/>
              </a:rPr>
              <a:t>P=1, Q=1</a:t>
            </a:r>
            <a:r>
              <a:rPr lang="zh-CN" altLang="en-US" sz="2800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1" charset="-122"/>
              </a:rPr>
              <a:t>才满足，而此解释也满足</a:t>
            </a:r>
            <a:r>
              <a:rPr lang="en-US" altLang="zh-CN" sz="2800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1" charset="-122"/>
                <a:sym typeface="Symbol" pitchFamily="2" charset="2"/>
              </a:rPr>
              <a:t>Q</a:t>
            </a:r>
            <a:r>
              <a:rPr lang="zh-CN" altLang="en-US" sz="2800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1" charset="-122"/>
                <a:sym typeface="Symbol" pitchFamily="2" charset="2"/>
              </a:rPr>
              <a:t>。</a:t>
            </a:r>
          </a:p>
          <a:p>
            <a:r>
              <a:rPr lang="zh-CN" altLang="en-US" sz="2800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1" charset="-122"/>
                <a:sym typeface="Symbol" pitchFamily="2" charset="2"/>
              </a:rPr>
              <a:t>因此，</a:t>
            </a:r>
            <a:r>
              <a:rPr lang="en-US" altLang="zh-CN" sz="2800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1" charset="-122"/>
                <a:sym typeface="Symbol" pitchFamily="2" charset="2"/>
              </a:rPr>
              <a:t>Q</a:t>
            </a:r>
            <a:r>
              <a:rPr lang="zh-CN" altLang="en-US" sz="2800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1" charset="-122"/>
                <a:sym typeface="Symbol" pitchFamily="2" charset="2"/>
              </a:rPr>
              <a:t>是</a:t>
            </a:r>
            <a:r>
              <a:rPr lang="en-US" altLang="zh-CN" sz="2800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1" charset="-122"/>
              </a:rPr>
              <a:t>P</a:t>
            </a:r>
            <a:r>
              <a:rPr lang="zh-CN" altLang="en-US" sz="2800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1" charset="-122"/>
              </a:rPr>
              <a:t>，</a:t>
            </a:r>
            <a:r>
              <a:rPr lang="en-US" altLang="zh-CN" sz="2800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1" charset="-122"/>
                <a:sym typeface="Symbol" pitchFamily="2" charset="2"/>
              </a:rPr>
              <a:t>(</a:t>
            </a:r>
            <a:r>
              <a:rPr lang="en-US" altLang="zh-CN" sz="2800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1" charset="-122"/>
              </a:rPr>
              <a:t>P</a:t>
            </a:r>
            <a:r>
              <a:rPr lang="en-US" altLang="zh-CN" sz="2800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1" charset="-122"/>
                <a:sym typeface="Symbol" pitchFamily="2" charset="2"/>
              </a:rPr>
              <a:t></a:t>
            </a:r>
            <a:r>
              <a:rPr lang="en-US" altLang="zh-CN" sz="2800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1" charset="-122"/>
              </a:rPr>
              <a:t>Q)</a:t>
            </a:r>
            <a:r>
              <a:rPr lang="zh-CN" altLang="en-US" sz="2800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1" charset="-122"/>
              </a:rPr>
              <a:t>的逻辑结果，</a:t>
            </a:r>
            <a:r>
              <a:rPr lang="en-US" altLang="zh-CN" sz="2800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1" charset="-122"/>
              </a:rPr>
              <a:t> </a:t>
            </a:r>
            <a:br>
              <a:rPr lang="en-US" altLang="zh-CN" sz="2800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1" charset="-122"/>
              </a:rPr>
            </a:br>
            <a:r>
              <a:rPr lang="en-US" altLang="zh-CN" sz="2800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1" charset="-122"/>
              </a:rPr>
              <a:t>P</a:t>
            </a:r>
            <a:r>
              <a:rPr lang="zh-CN" altLang="en-US" sz="2800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1" charset="-122"/>
              </a:rPr>
              <a:t>，</a:t>
            </a:r>
            <a:r>
              <a:rPr lang="en-US" altLang="zh-CN" sz="2800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1" charset="-122"/>
                <a:sym typeface="Symbol" pitchFamily="2" charset="2"/>
              </a:rPr>
              <a:t>(</a:t>
            </a:r>
            <a:r>
              <a:rPr lang="en-US" altLang="zh-CN" sz="2800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1" charset="-122"/>
              </a:rPr>
              <a:t>P</a:t>
            </a:r>
            <a:r>
              <a:rPr lang="en-US" altLang="zh-CN" sz="2800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1" charset="-122"/>
                <a:sym typeface="Symbol" pitchFamily="2" charset="2"/>
              </a:rPr>
              <a:t></a:t>
            </a:r>
            <a:r>
              <a:rPr lang="en-US" altLang="zh-CN" sz="2800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1" charset="-122"/>
              </a:rPr>
              <a:t>Q)</a:t>
            </a:r>
            <a:r>
              <a:rPr lang="zh-CN" altLang="en-US" sz="2800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1" charset="-122"/>
              </a:rPr>
              <a:t>共同蕴涵</a:t>
            </a:r>
            <a:r>
              <a:rPr kumimoji="0" lang="en-US" altLang="zh-CN" sz="2800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1" charset="-122"/>
                <a:sym typeface="Symbol" pitchFamily="2" charset="2"/>
              </a:rPr>
              <a:t>Q</a:t>
            </a:r>
            <a:r>
              <a:rPr kumimoji="0" lang="zh-CN" altLang="en-US" sz="2800" dirty="0">
                <a:effectLst>
                  <a:outerShdw blurRad="38100" dist="38100" dir="2700000" algn="tl">
                    <a:srgbClr val="FFFFFF"/>
                  </a:outerShdw>
                </a:effectLst>
                <a:ea typeface="楷体_GB2312" pitchFamily="1" charset="-122"/>
                <a:sym typeface="Symbol" pitchFamily="2" charset="2"/>
              </a:rPr>
              <a:t>。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0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0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1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1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10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10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xit" presetSubtype="1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131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31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51" grpId="0" build="p" autoUpdateAnimBg="0"/>
      <p:bldP spid="131076" grpId="0" animBg="1"/>
      <p:bldP spid="131076" grpId="1" animBg="1"/>
      <p:bldP spid="131077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Slide Number Placeholder 5">
            <a:extLst>
              <a:ext uri="{FF2B5EF4-FFF2-40B4-BE49-F238E27FC236}">
                <a16:creationId xmlns:a16="http://schemas.microsoft.com/office/drawing/2014/main" id="{80F088E0-16BE-2D44-982F-2C44FCE04AD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17D9372-078C-4E4B-BA61-E3E9F78A2F82}" type="slidenum">
              <a:rPr kumimoji="0" lang="zh-CN" altLang="en-US" sz="1200"/>
              <a:pPr/>
              <a:t>45</a:t>
            </a:fld>
            <a:endParaRPr kumimoji="0" lang="en-US" altLang="zh-CN" sz="1200"/>
          </a:p>
        </p:txBody>
      </p:sp>
      <p:sp>
        <p:nvSpPr>
          <p:cNvPr id="131074" name="Rectangle 2">
            <a:extLst>
              <a:ext uri="{FF2B5EF4-FFF2-40B4-BE49-F238E27FC236}">
                <a16:creationId xmlns:a16="http://schemas.microsoft.com/office/drawing/2014/main" id="{8AC0A535-276E-6A40-921C-C90F7E04CF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9863" y="115888"/>
            <a:ext cx="7691437" cy="823912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定理</a:t>
            </a: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3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.</a:t>
            </a: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1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.1 </a:t>
            </a:r>
          </a:p>
        </p:txBody>
      </p:sp>
      <p:sp>
        <p:nvSpPr>
          <p:cNvPr id="131075" name="Rectangle 3">
            <a:extLst>
              <a:ext uri="{FF2B5EF4-FFF2-40B4-BE49-F238E27FC236}">
                <a16:creationId xmlns:a16="http://schemas.microsoft.com/office/drawing/2014/main" id="{B451D7ED-ECCD-2943-8100-C54E77D0741B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07950" y="908050"/>
            <a:ext cx="8280400" cy="5949950"/>
          </a:xfrm>
        </p:spPr>
        <p:txBody>
          <a:bodyPr/>
          <a:lstStyle/>
          <a:p>
            <a:pPr marL="352425" indent="-352425" algn="just">
              <a:lnSpc>
                <a:spcPct val="90000"/>
              </a:lnSpc>
              <a:spcBef>
                <a:spcPct val="25000"/>
              </a:spcBef>
              <a:tabLst>
                <a:tab pos="1149350" algn="l"/>
                <a:tab pos="1995488" algn="l"/>
              </a:tabLst>
            </a:pPr>
            <a:r>
              <a:rPr kumimoji="0" lang="zh-CN" altLang="en-US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如果</a:t>
            </a:r>
            <a:r>
              <a:rPr kumimoji="0" lang="en-US" altLang="zh-CN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H</a:t>
            </a:r>
            <a:r>
              <a:rPr kumimoji="0" lang="en-US" altLang="zh-CN" sz="3200" baseline="-300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，…，H</a:t>
            </a:r>
            <a:r>
              <a:rPr kumimoji="0" lang="en-US" altLang="zh-CN" sz="3200" baseline="-300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m</a:t>
            </a:r>
            <a:r>
              <a:rPr kumimoji="0" lang="en-US" altLang="zh-CN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，P</a:t>
            </a:r>
            <a:r>
              <a:rPr kumimoji="0" lang="zh-CN" altLang="en-US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共同蕴涵公式</a:t>
            </a:r>
            <a:r>
              <a:rPr kumimoji="0" lang="en-US" altLang="zh-CN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Q，</a:t>
            </a:r>
            <a:r>
              <a:rPr kumimoji="0" lang="zh-CN" altLang="en-US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则</a:t>
            </a:r>
            <a:r>
              <a:rPr kumimoji="0" lang="en-US" altLang="zh-CN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H</a:t>
            </a:r>
            <a:r>
              <a:rPr kumimoji="0" lang="en-US" altLang="zh-CN" sz="3200" baseline="-300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，…，H</a:t>
            </a:r>
            <a:r>
              <a:rPr kumimoji="0" lang="en-US" altLang="zh-CN" sz="3200" baseline="-300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m</a:t>
            </a:r>
            <a:r>
              <a:rPr kumimoji="0" lang="zh-CN" altLang="en-US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共同蕴涵公式</a:t>
            </a:r>
            <a:r>
              <a:rPr kumimoji="0" lang="en-US" altLang="zh-CN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Q。</a:t>
            </a:r>
            <a:r>
              <a:rPr kumimoji="0" lang="zh-CN" altLang="en-US" sz="20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  <a:hlinkClick r:id="rId2" action="ppaction://hlinksldjump"/>
              </a:rPr>
              <a:t>证明</a:t>
            </a:r>
            <a:endParaRPr kumimoji="0" lang="zh-CN" altLang="en-US" sz="2000">
              <a:solidFill>
                <a:schemeClr val="tx2"/>
              </a:solidFill>
              <a:latin typeface="Arial" panose="020B0604020202020204" pitchFamily="34" charset="0"/>
              <a:ea typeface="楷体_GB2312" pitchFamily="1" charset="-122"/>
            </a:endParaRPr>
          </a:p>
          <a:p>
            <a:pPr marL="352425" indent="-352425">
              <a:lnSpc>
                <a:spcPct val="90000"/>
              </a:lnSpc>
              <a:spcBef>
                <a:spcPct val="25000"/>
              </a:spcBef>
              <a:buFont typeface="Wingdings" pitchFamily="2" charset="2"/>
              <a:buChar char="v"/>
              <a:tabLst>
                <a:tab pos="1149350" algn="l"/>
                <a:tab pos="1995488" algn="l"/>
              </a:tabLst>
            </a:pPr>
            <a:r>
              <a:rPr kumimoji="0" lang="zh-CN" altLang="en-US" sz="3200">
                <a:solidFill>
                  <a:srgbClr val="4E67C8"/>
                </a:solidFill>
                <a:latin typeface="宋体" panose="02010600030101010101" pitchFamily="2" charset="-122"/>
                <a:ea typeface="楷体_GB2312" pitchFamily="1" charset="-122"/>
              </a:rPr>
              <a:t>例如：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因为公式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1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1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共同蕴涵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1" charset="-122"/>
              </a:rPr>
              <a:t>，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所以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1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共同蕴涵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1" charset="-122"/>
              </a:rPr>
              <a:t>。</a:t>
            </a:r>
          </a:p>
          <a:p>
            <a:pPr marL="352425" indent="-352425">
              <a:lnSpc>
                <a:spcPct val="90000"/>
              </a:lnSpc>
              <a:spcBef>
                <a:spcPct val="25000"/>
              </a:spcBef>
              <a:buFont typeface="Wingdings" pitchFamily="2" charset="2"/>
              <a:buChar char="v"/>
              <a:tabLst>
                <a:tab pos="1149350" algn="l"/>
                <a:tab pos="1995488" algn="l"/>
              </a:tabLst>
            </a:pPr>
            <a:endParaRPr kumimoji="0" lang="en-US" altLang="zh-CN" sz="3200">
              <a:latin typeface="宋体" panose="02010600030101010101" pitchFamily="2" charset="-122"/>
              <a:ea typeface="楷体_GB2312" pitchFamily="1" charset="-122"/>
            </a:endParaRPr>
          </a:p>
          <a:p>
            <a:pPr marL="352425" indent="-352425">
              <a:lnSpc>
                <a:spcPct val="90000"/>
              </a:lnSpc>
              <a:spcBef>
                <a:spcPct val="25000"/>
              </a:spcBef>
              <a:buFont typeface="Wingdings" pitchFamily="2" charset="2"/>
              <a:buChar char="v"/>
              <a:tabLst>
                <a:tab pos="1149350" algn="l"/>
                <a:tab pos="1995488" algn="l"/>
              </a:tabLst>
            </a:pPr>
            <a:endParaRPr kumimoji="0" lang="en-US" altLang="zh-CN" sz="3200">
              <a:latin typeface="宋体" panose="02010600030101010101" pitchFamily="2" charset="-122"/>
              <a:ea typeface="楷体_GB2312" pitchFamily="1" charset="-122"/>
            </a:endParaRPr>
          </a:p>
          <a:p>
            <a:pPr marL="352425" indent="-352425">
              <a:lnSpc>
                <a:spcPct val="90000"/>
              </a:lnSpc>
              <a:spcBef>
                <a:spcPct val="25000"/>
              </a:spcBef>
              <a:buFont typeface="Wingdings" pitchFamily="2" charset="2"/>
              <a:buChar char="v"/>
              <a:tabLst>
                <a:tab pos="1149350" algn="l"/>
                <a:tab pos="1995488" algn="l"/>
              </a:tabLst>
            </a:pPr>
            <a:endParaRPr kumimoji="0" lang="en-US" altLang="zh-CN" sz="3200">
              <a:latin typeface="Arial" panose="020B0604020202020204" pitchFamily="34" charset="0"/>
              <a:ea typeface="楷体_GB2312" pitchFamily="1" charset="-122"/>
            </a:endParaRPr>
          </a:p>
          <a:p>
            <a:pPr marL="352425" indent="-352425">
              <a:lnSpc>
                <a:spcPct val="90000"/>
              </a:lnSpc>
              <a:spcBef>
                <a:spcPct val="25000"/>
              </a:spcBef>
              <a:buFont typeface="Wingdings" pitchFamily="2" charset="2"/>
              <a:buNone/>
              <a:tabLst>
                <a:tab pos="1149350" algn="l"/>
                <a:tab pos="1995488" algn="l"/>
              </a:tabLst>
            </a:pPr>
            <a:endParaRPr kumimoji="0" lang="zh-CN" altLang="en-US" sz="3200">
              <a:latin typeface="Arial" panose="020B0604020202020204" pitchFamily="34" charset="0"/>
              <a:ea typeface="楷体_GB2312" pitchFamily="1" charset="-122"/>
            </a:endParaRPr>
          </a:p>
          <a:p>
            <a:pPr marL="352425" indent="-352425">
              <a:lnSpc>
                <a:spcPct val="90000"/>
              </a:lnSpc>
              <a:spcBef>
                <a:spcPct val="25000"/>
              </a:spcBef>
              <a:buFont typeface="Wingdings" pitchFamily="2" charset="2"/>
              <a:buNone/>
              <a:tabLst>
                <a:tab pos="1149350" algn="l"/>
                <a:tab pos="1995488" algn="l"/>
              </a:tabLst>
            </a:pPr>
            <a:endParaRPr kumimoji="0" lang="en-US" altLang="zh-CN" sz="2000">
              <a:latin typeface="Arial" panose="020B0604020202020204" pitchFamily="34" charset="0"/>
              <a:ea typeface="楷体_GB2312" pitchFamily="1" charset="-122"/>
              <a:hlinkClick r:id="rId3" action="ppaction://hlinksldjump"/>
            </a:endParaRPr>
          </a:p>
          <a:p>
            <a:pPr marL="352425" indent="-352425">
              <a:lnSpc>
                <a:spcPct val="90000"/>
              </a:lnSpc>
              <a:spcBef>
                <a:spcPct val="25000"/>
              </a:spcBef>
              <a:buFont typeface="Wingdings" pitchFamily="2" charset="2"/>
              <a:buNone/>
              <a:tabLst>
                <a:tab pos="1149350" algn="l"/>
                <a:tab pos="1995488" algn="l"/>
              </a:tabLst>
            </a:pPr>
            <a:r>
              <a:rPr kumimoji="0" lang="zh-CN" altLang="en-US" sz="2000">
                <a:latin typeface="Arial" panose="020B0604020202020204" pitchFamily="34" charset="0"/>
                <a:ea typeface="楷体_GB2312" pitchFamily="1" charset="-122"/>
                <a:hlinkClick r:id="rId3" action="ppaction://hlinksldjump"/>
              </a:rPr>
              <a:t>演绎</a:t>
            </a:r>
            <a:endParaRPr kumimoji="0" lang="zh-CN" altLang="en-US" sz="2000">
              <a:latin typeface="Arial" panose="020B0604020202020204" pitchFamily="34" charset="0"/>
              <a:ea typeface="楷体_GB2312" pitchFamily="1" charset="-122"/>
            </a:endParaRPr>
          </a:p>
        </p:txBody>
      </p:sp>
      <p:sp>
        <p:nvSpPr>
          <p:cNvPr id="297987" name="Text Box 3">
            <a:extLst>
              <a:ext uri="{FF2B5EF4-FFF2-40B4-BE49-F238E27FC236}">
                <a16:creationId xmlns:a16="http://schemas.microsoft.com/office/drawing/2014/main" id="{3B1FF4D4-AA10-DF47-8485-F7A5C01F36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2997200"/>
            <a:ext cx="8281987" cy="1384300"/>
          </a:xfrm>
          <a:prstGeom prst="rect">
            <a:avLst/>
          </a:prstGeom>
          <a:solidFill>
            <a:srgbClr val="FF66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>
              <a:defRPr/>
            </a:pPr>
            <a:r>
              <a:rPr kumimoji="1" lang="zh-CN" altLang="en-US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  <a:sym typeface="Symbol" charset="0"/>
              </a:rPr>
              <a:t>对于</a:t>
            </a: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  <a:sym typeface="Symbol" charset="0"/>
              </a:rPr>
              <a:t>(</a:t>
            </a: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P</a:t>
            </a: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  <a:sym typeface="Symbol" charset="0"/>
              </a:rPr>
              <a:t></a:t>
            </a: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Q)</a:t>
            </a: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  <a:sym typeface="Symbol" charset="0"/>
              </a:rPr>
              <a:t></a:t>
            </a: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(</a:t>
            </a:r>
            <a:r>
              <a:rPr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Q</a:t>
            </a:r>
            <a:r>
              <a:rPr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  <a:sym typeface="Symbol" charset="0"/>
              </a:rPr>
              <a:t></a:t>
            </a:r>
            <a:r>
              <a:rPr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R</a:t>
            </a: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)</a:t>
            </a: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  <a:sym typeface="Symbol" charset="0"/>
              </a:rPr>
              <a:t></a:t>
            </a: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P</a:t>
            </a:r>
            <a:r>
              <a:rPr kumimoji="1" lang="zh-CN" altLang="en-US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，只有解释</a:t>
            </a: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P=1, Q=1, R=1</a:t>
            </a:r>
            <a:r>
              <a:rPr kumimoji="1" lang="zh-CN" altLang="en-US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才满足，而此解释也满足</a:t>
            </a: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R</a:t>
            </a:r>
            <a:r>
              <a:rPr kumimoji="1" lang="zh-CN" altLang="en-US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。</a:t>
            </a:r>
          </a:p>
          <a:p>
            <a:pPr eaLnBrk="1" hangingPunct="1">
              <a:defRPr/>
            </a:pPr>
            <a:r>
              <a:rPr kumimoji="1" lang="zh-CN" altLang="en-US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因此， </a:t>
            </a:r>
            <a:r>
              <a:rPr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P</a:t>
            </a:r>
            <a:r>
              <a:rPr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  <a:sym typeface="Symbol" charset="0"/>
              </a:rPr>
              <a:t></a:t>
            </a:r>
            <a:r>
              <a:rPr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Q，Q</a:t>
            </a:r>
            <a:r>
              <a:rPr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  <a:sym typeface="Symbol" charset="0"/>
              </a:rPr>
              <a:t></a:t>
            </a:r>
            <a:r>
              <a:rPr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R，P</a:t>
            </a:r>
            <a:r>
              <a:rPr lang="zh-CN" altLang="en-US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共同蕴涵</a:t>
            </a:r>
            <a:r>
              <a:rPr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R</a:t>
            </a:r>
            <a:r>
              <a:rPr lang="zh-CN" altLang="en-US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。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1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79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79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10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10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075" grpId="0" build="p" autoUpdateAnimBg="0"/>
      <p:bldP spid="297987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Slide Number Placeholder 5">
            <a:extLst>
              <a:ext uri="{FF2B5EF4-FFF2-40B4-BE49-F238E27FC236}">
                <a16:creationId xmlns:a16="http://schemas.microsoft.com/office/drawing/2014/main" id="{2F692BA9-DB4E-8440-8B63-2E346D3A553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7630C5C-3622-C744-A745-2C71DFE18F71}" type="slidenum">
              <a:rPr kumimoji="0" lang="zh-CN" altLang="en-US" sz="1200"/>
              <a:pPr/>
              <a:t>46</a:t>
            </a:fld>
            <a:endParaRPr kumimoji="0" lang="en-US" altLang="zh-CN" sz="1200"/>
          </a:p>
        </p:txBody>
      </p:sp>
      <p:sp>
        <p:nvSpPr>
          <p:cNvPr id="132098" name="Rectangle 2">
            <a:extLst>
              <a:ext uri="{FF2B5EF4-FFF2-40B4-BE49-F238E27FC236}">
                <a16:creationId xmlns:a16="http://schemas.microsoft.com/office/drawing/2014/main" id="{FA1F2BB1-7A5E-3849-996A-A002BC8F8C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9863" y="157163"/>
            <a:ext cx="7691437" cy="823912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定理</a:t>
            </a: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3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.</a:t>
            </a: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1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.1 </a:t>
            </a:r>
          </a:p>
        </p:txBody>
      </p:sp>
      <p:sp>
        <p:nvSpPr>
          <p:cNvPr id="132099" name="Rectangle 3">
            <a:extLst>
              <a:ext uri="{FF2B5EF4-FFF2-40B4-BE49-F238E27FC236}">
                <a16:creationId xmlns:a16="http://schemas.microsoft.com/office/drawing/2014/main" id="{02464556-B1B1-8641-8553-156AEED7B4CD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79388" y="1295400"/>
            <a:ext cx="8785225" cy="5302250"/>
          </a:xfrm>
        </p:spPr>
        <p:txBody>
          <a:bodyPr/>
          <a:lstStyle/>
          <a:p>
            <a:pPr marL="263525" indent="-263525">
              <a:spcBef>
                <a:spcPct val="25000"/>
              </a:spcBef>
              <a:tabLst>
                <a:tab pos="1149350" algn="l"/>
                <a:tab pos="1995488" algn="l"/>
              </a:tabLst>
            </a:pPr>
            <a:r>
              <a:rPr kumimoji="0" lang="zh-CN" altLang="en-US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证明：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因为(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H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…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H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m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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Q，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所以</a:t>
            </a:r>
            <a:b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公式(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H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 …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H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m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是恒真的。 </a:t>
            </a:r>
          </a:p>
          <a:p>
            <a:pPr marL="263525" indent="-263525">
              <a:spcBef>
                <a:spcPct val="25000"/>
              </a:spcBef>
              <a:buFont typeface="Wingdings" pitchFamily="2" charset="2"/>
              <a:buNone/>
              <a:tabLst>
                <a:tab pos="1149350" algn="l"/>
                <a:tab pos="1995488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	利用下面的基本等价公式：</a:t>
            </a:r>
            <a:b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	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(P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2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3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)=(P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2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3</a:t>
            </a:r>
          </a:p>
          <a:p>
            <a:pPr marL="263525" indent="-263525">
              <a:spcBef>
                <a:spcPct val="25000"/>
              </a:spcBef>
              <a:buFont typeface="Wingdings" pitchFamily="2" charset="2"/>
              <a:buNone/>
              <a:tabLst>
                <a:tab pos="1149350" algn="l"/>
                <a:tab pos="1995488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	于是，(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H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 …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H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m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Q=(H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 …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H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m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b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</a:b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Q)。 </a:t>
            </a:r>
            <a:b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故(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H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 …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H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m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Q)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是恒真的。 </a:t>
            </a:r>
          </a:p>
          <a:p>
            <a:pPr marL="263525" indent="-263525">
              <a:spcBef>
                <a:spcPct val="25000"/>
              </a:spcBef>
              <a:buFont typeface="Wingdings" pitchFamily="2" charset="2"/>
              <a:buNone/>
              <a:tabLst>
                <a:tab pos="1149350" algn="l"/>
                <a:tab pos="1995488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	所以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H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，…，H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m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共同蕴涵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Q。      </a:t>
            </a:r>
          </a:p>
          <a:p>
            <a:pPr marL="263525" indent="-263525">
              <a:spcBef>
                <a:spcPct val="25000"/>
              </a:spcBef>
              <a:buFont typeface="Wingdings" pitchFamily="2" charset="2"/>
              <a:buNone/>
              <a:tabLst>
                <a:tab pos="1149350" algn="l"/>
                <a:tab pos="1995488" algn="l"/>
              </a:tabLst>
            </a:pPr>
            <a:endParaRPr kumimoji="0" lang="en-US" altLang="zh-CN" sz="2000">
              <a:latin typeface="Arial" panose="020B0604020202020204" pitchFamily="34" charset="0"/>
              <a:ea typeface="楷体_GB2312" pitchFamily="1" charset="-122"/>
              <a:hlinkClick r:id="rId2" action="ppaction://hlinksldjump"/>
            </a:endParaRPr>
          </a:p>
          <a:p>
            <a:pPr marL="263525" indent="-263525">
              <a:spcBef>
                <a:spcPct val="25000"/>
              </a:spcBef>
              <a:buFont typeface="Wingdings" pitchFamily="2" charset="2"/>
              <a:buNone/>
              <a:tabLst>
                <a:tab pos="1149350" algn="l"/>
                <a:tab pos="1995488" algn="l"/>
              </a:tabLst>
            </a:pPr>
            <a:r>
              <a:rPr kumimoji="0" lang="zh-CN" altLang="en-US" sz="2000">
                <a:latin typeface="Arial" panose="020B0604020202020204" pitchFamily="34" charset="0"/>
                <a:ea typeface="楷体_GB2312" pitchFamily="1" charset="-122"/>
                <a:hlinkClick r:id="rId2" action="ppaction://hlinksldjump"/>
              </a:rPr>
              <a:t>返回</a:t>
            </a:r>
            <a:endParaRPr kumimoji="0" lang="zh-CN" altLang="en-US" sz="2000">
              <a:latin typeface="Arial" panose="020B0604020202020204" pitchFamily="34" charset="0"/>
              <a:ea typeface="楷体_GB2312" pitchFamily="1" charset="-122"/>
            </a:endParaRPr>
          </a:p>
        </p:txBody>
      </p:sp>
      <p:sp>
        <p:nvSpPr>
          <p:cNvPr id="296962" name="Text Box 2">
            <a:extLst>
              <a:ext uri="{FF2B5EF4-FFF2-40B4-BE49-F238E27FC236}">
                <a16:creationId xmlns:a16="http://schemas.microsoft.com/office/drawing/2014/main" id="{F7E184E4-665D-3142-BCB8-81FBA2E28A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3627438"/>
            <a:ext cx="6480175" cy="1385887"/>
          </a:xfrm>
          <a:prstGeom prst="rect">
            <a:avLst/>
          </a:prstGeom>
          <a:solidFill>
            <a:srgbClr val="FF66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2800">
                <a:effectLst>
                  <a:outerShdw blurRad="38100" dist="38100" dir="2700000" algn="tl">
                    <a:srgbClr val="FFFFFF"/>
                  </a:outerShdw>
                </a:effectLst>
              </a:rPr>
              <a:t>P</a:t>
            </a:r>
            <a:r>
              <a:rPr kumimoji="0" lang="en-US" altLang="zh-CN" sz="2800" baseline="-25000">
                <a:effectLst>
                  <a:outerShdw blurRad="38100" dist="38100" dir="2700000" algn="tl">
                    <a:srgbClr val="FFFFFF"/>
                  </a:outerShdw>
                </a:effectLst>
              </a:rPr>
              <a:t>1</a:t>
            </a:r>
            <a:r>
              <a:rPr kumimoji="0" lang="en-US" altLang="zh-CN" sz="2800">
                <a:effectLst>
                  <a:outerShdw blurRad="38100" dist="38100" dir="2700000" algn="tl">
                    <a:srgbClr val="FFFFFF"/>
                  </a:outerShdw>
                </a:effectLst>
                <a:sym typeface="Symbol" pitchFamily="2" charset="2"/>
              </a:rPr>
              <a:t></a:t>
            </a:r>
            <a:r>
              <a:rPr kumimoji="0" lang="en-US" altLang="zh-CN" sz="2800">
                <a:effectLst>
                  <a:outerShdw blurRad="38100" dist="38100" dir="2700000" algn="tl">
                    <a:srgbClr val="FFFFFF"/>
                  </a:outerShdw>
                </a:effectLst>
              </a:rPr>
              <a:t>(P</a:t>
            </a:r>
            <a:r>
              <a:rPr kumimoji="0" lang="en-US" altLang="zh-CN" sz="2800" baseline="-25000">
                <a:effectLst>
                  <a:outerShdw blurRad="38100" dist="38100" dir="2700000" algn="tl">
                    <a:srgbClr val="FFFFFF"/>
                  </a:outerShdw>
                </a:effectLst>
              </a:rPr>
              <a:t>2</a:t>
            </a:r>
            <a:r>
              <a:rPr kumimoji="0" lang="en-US" altLang="zh-CN" sz="2800">
                <a:effectLst>
                  <a:outerShdw blurRad="38100" dist="38100" dir="2700000" algn="tl">
                    <a:srgbClr val="FFFFFF"/>
                  </a:outerShdw>
                </a:effectLst>
                <a:sym typeface="Symbol" pitchFamily="2" charset="2"/>
              </a:rPr>
              <a:t></a:t>
            </a:r>
            <a:r>
              <a:rPr kumimoji="0" lang="en-US" altLang="zh-CN" sz="2800">
                <a:effectLst>
                  <a:outerShdw blurRad="38100" dist="38100" dir="2700000" algn="tl">
                    <a:srgbClr val="FFFFFF"/>
                  </a:outerShdw>
                </a:effectLst>
              </a:rPr>
              <a:t>P</a:t>
            </a:r>
            <a:r>
              <a:rPr kumimoji="0" lang="en-US" altLang="zh-CN" sz="2800" baseline="-25000">
                <a:effectLst>
                  <a:outerShdw blurRad="38100" dist="38100" dir="2700000" algn="tl">
                    <a:srgbClr val="FFFFFF"/>
                  </a:outerShdw>
                </a:effectLst>
              </a:rPr>
              <a:t>3</a:t>
            </a:r>
            <a:r>
              <a:rPr kumimoji="0" lang="en-US" altLang="zh-CN" sz="2800">
                <a:effectLst>
                  <a:outerShdw blurRad="38100" dist="38100" dir="2700000" algn="tl">
                    <a:srgbClr val="FFFFFF"/>
                  </a:outerShdw>
                </a:effectLst>
              </a:rPr>
              <a:t>) = </a:t>
            </a:r>
            <a:r>
              <a:rPr kumimoji="0" lang="zh-CN" altLang="en-US" sz="2800">
                <a:effectLst>
                  <a:outerShdw blurRad="38100" dist="38100" dir="2700000" algn="tl">
                    <a:srgbClr val="FFFFFF"/>
                  </a:outerShdw>
                </a:effectLst>
                <a:sym typeface="Symbol" pitchFamily="2" charset="2"/>
              </a:rPr>
              <a:t></a:t>
            </a:r>
            <a:r>
              <a:rPr kumimoji="0" lang="en-US" altLang="zh-CN" sz="2800">
                <a:effectLst>
                  <a:outerShdw blurRad="38100" dist="38100" dir="2700000" algn="tl">
                    <a:srgbClr val="FFFFFF"/>
                  </a:outerShdw>
                </a:effectLst>
                <a:sym typeface="Symbol" pitchFamily="2" charset="2"/>
              </a:rPr>
              <a:t>P</a:t>
            </a:r>
            <a:r>
              <a:rPr kumimoji="0" lang="en-US" altLang="zh-CN" sz="2800" baseline="-25000">
                <a:effectLst>
                  <a:outerShdw blurRad="38100" dist="38100" dir="2700000" algn="tl">
                    <a:srgbClr val="FFFFFF"/>
                  </a:outerShdw>
                </a:effectLst>
                <a:sym typeface="Symbol" pitchFamily="2" charset="2"/>
              </a:rPr>
              <a:t>1</a:t>
            </a:r>
            <a:r>
              <a:rPr kumimoji="0" lang="en-US" altLang="zh-CN" sz="2800">
                <a:effectLst>
                  <a:outerShdw blurRad="38100" dist="38100" dir="2700000" algn="tl">
                    <a:srgbClr val="FFFFFF"/>
                  </a:outerShdw>
                </a:effectLst>
                <a:sym typeface="Symbol" pitchFamily="2" charset="2"/>
              </a:rPr>
              <a:t>(</a:t>
            </a:r>
            <a:r>
              <a:rPr kumimoji="0" lang="zh-CN" altLang="en-US" sz="2800">
                <a:effectLst>
                  <a:outerShdw blurRad="38100" dist="38100" dir="2700000" algn="tl">
                    <a:srgbClr val="FFFFFF"/>
                  </a:outerShdw>
                </a:effectLst>
                <a:sym typeface="Symbol" pitchFamily="2" charset="2"/>
              </a:rPr>
              <a:t></a:t>
            </a:r>
            <a:r>
              <a:rPr kumimoji="0" lang="en-US" altLang="zh-CN" sz="2800">
                <a:effectLst>
                  <a:outerShdw blurRad="38100" dist="38100" dir="2700000" algn="tl">
                    <a:srgbClr val="FFFFFF"/>
                  </a:outerShdw>
                </a:effectLst>
                <a:sym typeface="Symbol" pitchFamily="2" charset="2"/>
              </a:rPr>
              <a:t>P</a:t>
            </a:r>
            <a:r>
              <a:rPr kumimoji="0" lang="en-US" altLang="zh-CN" sz="2800" baseline="-25000">
                <a:effectLst>
                  <a:outerShdw blurRad="38100" dist="38100" dir="2700000" algn="tl">
                    <a:srgbClr val="FFFFFF"/>
                  </a:outerShdw>
                </a:effectLst>
                <a:sym typeface="Symbol" pitchFamily="2" charset="2"/>
              </a:rPr>
              <a:t>2</a:t>
            </a:r>
            <a:r>
              <a:rPr kumimoji="0" lang="en-US" altLang="zh-CN" sz="2800">
                <a:effectLst>
                  <a:outerShdw blurRad="38100" dist="38100" dir="2700000" algn="tl">
                    <a:srgbClr val="FFFFFF"/>
                  </a:outerShdw>
                </a:effectLst>
                <a:sym typeface="Symbol" pitchFamily="2" charset="2"/>
              </a:rPr>
              <a:t>P</a:t>
            </a:r>
            <a:r>
              <a:rPr kumimoji="0" lang="en-US" altLang="zh-CN" sz="2800" baseline="-25000">
                <a:effectLst>
                  <a:outerShdw blurRad="38100" dist="38100" dir="2700000" algn="tl">
                    <a:srgbClr val="FFFFFF"/>
                  </a:outerShdw>
                </a:effectLst>
                <a:sym typeface="Symbol" pitchFamily="2" charset="2"/>
              </a:rPr>
              <a:t>3</a:t>
            </a:r>
            <a:r>
              <a:rPr kumimoji="0" lang="en-US" altLang="zh-CN" sz="2800">
                <a:effectLst>
                  <a:outerShdw blurRad="38100" dist="38100" dir="2700000" algn="tl">
                    <a:srgbClr val="FFFFFF"/>
                  </a:outerShdw>
                </a:effectLst>
                <a:sym typeface="Symbol" pitchFamily="2" charset="2"/>
              </a:rPr>
              <a:t>) </a:t>
            </a:r>
            <a:br>
              <a:rPr kumimoji="0" lang="en-US" altLang="zh-CN" sz="2800">
                <a:effectLst>
                  <a:outerShdw blurRad="38100" dist="38100" dir="2700000" algn="tl">
                    <a:srgbClr val="FFFFFF"/>
                  </a:outerShdw>
                </a:effectLst>
                <a:sym typeface="Symbol" pitchFamily="2" charset="2"/>
              </a:rPr>
            </a:br>
            <a:r>
              <a:rPr kumimoji="0" lang="en-US" altLang="zh-CN" sz="2800">
                <a:effectLst>
                  <a:outerShdw blurRad="38100" dist="38100" dir="2700000" algn="tl">
                    <a:srgbClr val="FFFFFF"/>
                  </a:outerShdw>
                </a:effectLst>
                <a:sym typeface="Symbol" pitchFamily="2" charset="2"/>
              </a:rPr>
              <a:t>  = </a:t>
            </a:r>
            <a:r>
              <a:rPr kumimoji="0" lang="zh-CN" altLang="en-US" sz="2800">
                <a:effectLst>
                  <a:outerShdw blurRad="38100" dist="38100" dir="2700000" algn="tl">
                    <a:srgbClr val="FFFFFF"/>
                  </a:outerShdw>
                </a:effectLst>
                <a:sym typeface="Symbol" pitchFamily="2" charset="2"/>
              </a:rPr>
              <a:t></a:t>
            </a:r>
            <a:r>
              <a:rPr kumimoji="0" lang="en-US" altLang="zh-CN" sz="2800">
                <a:effectLst>
                  <a:outerShdw blurRad="38100" dist="38100" dir="2700000" algn="tl">
                    <a:srgbClr val="FFFFFF"/>
                  </a:outerShdw>
                </a:effectLst>
                <a:sym typeface="Symbol" pitchFamily="2" charset="2"/>
              </a:rPr>
              <a:t>P</a:t>
            </a:r>
            <a:r>
              <a:rPr kumimoji="0" lang="en-US" altLang="zh-CN" sz="2800" baseline="-25000">
                <a:effectLst>
                  <a:outerShdw blurRad="38100" dist="38100" dir="2700000" algn="tl">
                    <a:srgbClr val="FFFFFF"/>
                  </a:outerShdw>
                </a:effectLst>
                <a:sym typeface="Symbol" pitchFamily="2" charset="2"/>
              </a:rPr>
              <a:t>1</a:t>
            </a:r>
            <a:r>
              <a:rPr kumimoji="0" lang="en-US" altLang="zh-CN" sz="2800">
                <a:effectLst>
                  <a:outerShdw blurRad="38100" dist="38100" dir="2700000" algn="tl">
                    <a:srgbClr val="FFFFFF"/>
                  </a:outerShdw>
                </a:effectLst>
                <a:sym typeface="Symbol" pitchFamily="2" charset="2"/>
              </a:rPr>
              <a:t></a:t>
            </a:r>
            <a:r>
              <a:rPr kumimoji="0" lang="zh-CN" altLang="en-US" sz="2800">
                <a:effectLst>
                  <a:outerShdw blurRad="38100" dist="38100" dir="2700000" algn="tl">
                    <a:srgbClr val="FFFFFF"/>
                  </a:outerShdw>
                </a:effectLst>
                <a:sym typeface="Symbol" pitchFamily="2" charset="2"/>
              </a:rPr>
              <a:t></a:t>
            </a:r>
            <a:r>
              <a:rPr kumimoji="0" lang="en-US" altLang="zh-CN" sz="2800">
                <a:effectLst>
                  <a:outerShdw blurRad="38100" dist="38100" dir="2700000" algn="tl">
                    <a:srgbClr val="FFFFFF"/>
                  </a:outerShdw>
                </a:effectLst>
                <a:sym typeface="Symbol" pitchFamily="2" charset="2"/>
              </a:rPr>
              <a:t>P</a:t>
            </a:r>
            <a:r>
              <a:rPr kumimoji="0" lang="en-US" altLang="zh-CN" sz="2800" baseline="-25000">
                <a:effectLst>
                  <a:outerShdw blurRad="38100" dist="38100" dir="2700000" algn="tl">
                    <a:srgbClr val="FFFFFF"/>
                  </a:outerShdw>
                </a:effectLst>
                <a:sym typeface="Symbol" pitchFamily="2" charset="2"/>
              </a:rPr>
              <a:t>2</a:t>
            </a:r>
            <a:r>
              <a:rPr kumimoji="0" lang="en-US" altLang="zh-CN" sz="2800">
                <a:effectLst>
                  <a:outerShdw blurRad="38100" dist="38100" dir="2700000" algn="tl">
                    <a:srgbClr val="FFFFFF"/>
                  </a:outerShdw>
                </a:effectLst>
                <a:sym typeface="Symbol" pitchFamily="2" charset="2"/>
              </a:rPr>
              <a:t> P</a:t>
            </a:r>
            <a:r>
              <a:rPr kumimoji="0" lang="en-US" altLang="zh-CN" sz="2800" baseline="-25000">
                <a:effectLst>
                  <a:outerShdw blurRad="38100" dist="38100" dir="2700000" algn="tl">
                    <a:srgbClr val="FFFFFF"/>
                  </a:outerShdw>
                </a:effectLst>
                <a:sym typeface="Symbol" pitchFamily="2" charset="2"/>
              </a:rPr>
              <a:t>3</a:t>
            </a:r>
            <a:r>
              <a:rPr kumimoji="0" lang="en-US" altLang="zh-CN" sz="2800">
                <a:effectLst>
                  <a:outerShdw blurRad="38100" dist="38100" dir="2700000" algn="tl">
                    <a:srgbClr val="FFFFFF"/>
                  </a:outerShdw>
                </a:effectLst>
                <a:sym typeface="Symbol" pitchFamily="2" charset="2"/>
              </a:rPr>
              <a:t> = </a:t>
            </a:r>
            <a:r>
              <a:rPr kumimoji="0" lang="zh-CN" altLang="en-US" sz="2800">
                <a:effectLst>
                  <a:outerShdw blurRad="38100" dist="38100" dir="2700000" algn="tl">
                    <a:srgbClr val="FFFFFF"/>
                  </a:outerShdw>
                </a:effectLst>
                <a:sym typeface="Symbol" pitchFamily="2" charset="2"/>
              </a:rPr>
              <a:t></a:t>
            </a:r>
            <a:r>
              <a:rPr kumimoji="0" lang="en-US" altLang="zh-CN" sz="2800">
                <a:effectLst>
                  <a:outerShdw blurRad="38100" dist="38100" dir="2700000" algn="tl">
                    <a:srgbClr val="FFFFFF"/>
                  </a:outerShdw>
                </a:effectLst>
                <a:sym typeface="Symbol" pitchFamily="2" charset="2"/>
              </a:rPr>
              <a:t>(P</a:t>
            </a:r>
            <a:r>
              <a:rPr kumimoji="0" lang="en-US" altLang="zh-CN" sz="2800" baseline="-25000">
                <a:effectLst>
                  <a:outerShdw blurRad="38100" dist="38100" dir="2700000" algn="tl">
                    <a:srgbClr val="FFFFFF"/>
                  </a:outerShdw>
                </a:effectLst>
                <a:sym typeface="Symbol" pitchFamily="2" charset="2"/>
              </a:rPr>
              <a:t>1</a:t>
            </a:r>
            <a:r>
              <a:rPr kumimoji="0" lang="en-US" altLang="zh-CN" sz="2800">
                <a:effectLst>
                  <a:outerShdw blurRad="38100" dist="38100" dir="2700000" algn="tl">
                    <a:srgbClr val="FFFFFF"/>
                  </a:outerShdw>
                </a:effectLst>
                <a:sym typeface="Symbol" pitchFamily="2" charset="2"/>
              </a:rPr>
              <a:t>P</a:t>
            </a:r>
            <a:r>
              <a:rPr kumimoji="0" lang="en-US" altLang="zh-CN" sz="2800" baseline="-25000">
                <a:effectLst>
                  <a:outerShdw blurRad="38100" dist="38100" dir="2700000" algn="tl">
                    <a:srgbClr val="FFFFFF"/>
                  </a:outerShdw>
                </a:effectLst>
                <a:sym typeface="Symbol" pitchFamily="2" charset="2"/>
              </a:rPr>
              <a:t>2</a:t>
            </a:r>
            <a:r>
              <a:rPr kumimoji="0" lang="en-US" altLang="zh-CN" sz="2800">
                <a:effectLst>
                  <a:outerShdw blurRad="38100" dist="38100" dir="2700000" algn="tl">
                    <a:srgbClr val="FFFFFF"/>
                  </a:outerShdw>
                </a:effectLst>
                <a:sym typeface="Symbol" pitchFamily="2" charset="2"/>
              </a:rPr>
              <a:t>)P</a:t>
            </a:r>
            <a:r>
              <a:rPr kumimoji="0" lang="en-US" altLang="zh-CN" sz="2800" baseline="-25000">
                <a:effectLst>
                  <a:outerShdw blurRad="38100" dist="38100" dir="2700000" algn="tl">
                    <a:srgbClr val="FFFFFF"/>
                  </a:outerShdw>
                </a:effectLst>
                <a:sym typeface="Symbol" pitchFamily="2" charset="2"/>
              </a:rPr>
              <a:t>3</a:t>
            </a:r>
            <a:br>
              <a:rPr kumimoji="0" lang="en-US" altLang="zh-CN" sz="2800">
                <a:effectLst>
                  <a:outerShdw blurRad="38100" dist="38100" dir="2700000" algn="tl">
                    <a:srgbClr val="FFFFFF"/>
                  </a:outerShdw>
                </a:effectLst>
                <a:sym typeface="Symbol" pitchFamily="2" charset="2"/>
              </a:rPr>
            </a:br>
            <a:r>
              <a:rPr kumimoji="0" lang="en-US" altLang="zh-CN" sz="2800">
                <a:effectLst>
                  <a:outerShdw blurRad="38100" dist="38100" dir="2700000" algn="tl">
                    <a:srgbClr val="FFFFFF"/>
                  </a:outerShdw>
                </a:effectLst>
                <a:sym typeface="Symbol" pitchFamily="2" charset="2"/>
              </a:rPr>
              <a:t>  = (P</a:t>
            </a:r>
            <a:r>
              <a:rPr kumimoji="0" lang="en-US" altLang="zh-CN" sz="2800" baseline="-25000">
                <a:effectLst>
                  <a:outerShdw blurRad="38100" dist="38100" dir="2700000" algn="tl">
                    <a:srgbClr val="FFFFFF"/>
                  </a:outerShdw>
                </a:effectLst>
                <a:sym typeface="Symbol" pitchFamily="2" charset="2"/>
              </a:rPr>
              <a:t>1</a:t>
            </a:r>
            <a:r>
              <a:rPr kumimoji="0" lang="en-US" altLang="zh-CN" sz="2800">
                <a:effectLst>
                  <a:outerShdw blurRad="38100" dist="38100" dir="2700000" algn="tl">
                    <a:srgbClr val="FFFFFF"/>
                  </a:outerShdw>
                </a:effectLst>
                <a:sym typeface="Symbol" pitchFamily="2" charset="2"/>
              </a:rPr>
              <a:t>P</a:t>
            </a:r>
            <a:r>
              <a:rPr kumimoji="0" lang="en-US" altLang="zh-CN" sz="2800" baseline="-25000">
                <a:effectLst>
                  <a:outerShdw blurRad="38100" dist="38100" dir="2700000" algn="tl">
                    <a:srgbClr val="FFFFFF"/>
                  </a:outerShdw>
                </a:effectLst>
                <a:sym typeface="Symbol" pitchFamily="2" charset="2"/>
              </a:rPr>
              <a:t>2</a:t>
            </a:r>
            <a:r>
              <a:rPr kumimoji="0" lang="en-US" altLang="zh-CN" sz="2800">
                <a:effectLst>
                  <a:outerShdw blurRad="38100" dist="38100" dir="2700000" algn="tl">
                    <a:srgbClr val="FFFFFF"/>
                  </a:outerShdw>
                </a:effectLst>
                <a:sym typeface="Symbol" pitchFamily="2" charset="2"/>
              </a:rPr>
              <a:t>)P</a:t>
            </a:r>
            <a:r>
              <a:rPr kumimoji="0" lang="en-US" altLang="zh-CN" sz="2800" baseline="-25000">
                <a:effectLst>
                  <a:outerShdw blurRad="38100" dist="38100" dir="2700000" algn="tl">
                    <a:srgbClr val="FFFFFF"/>
                  </a:outerShdw>
                </a:effectLst>
                <a:sym typeface="Symbol" pitchFamily="2" charset="2"/>
              </a:rPr>
              <a:t>3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2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969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969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96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32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32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2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099" grpId="0" build="p" autoUpdateAnimBg="0"/>
      <p:bldP spid="296962" grpId="0" animBg="1"/>
      <p:bldP spid="296962" grpId="1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Slide Number Placeholder 5">
            <a:extLst>
              <a:ext uri="{FF2B5EF4-FFF2-40B4-BE49-F238E27FC236}">
                <a16:creationId xmlns:a16="http://schemas.microsoft.com/office/drawing/2014/main" id="{1734FDA2-199F-F848-8CAB-21DB048E65E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720B754-BF48-B34C-A56A-52754A136243}" type="slidenum">
              <a:rPr kumimoji="0" lang="zh-CN" altLang="en-US" sz="1200"/>
              <a:pPr/>
              <a:t>47</a:t>
            </a:fld>
            <a:endParaRPr kumimoji="0" lang="en-US" altLang="zh-CN" sz="1200"/>
          </a:p>
        </p:txBody>
      </p:sp>
      <p:sp>
        <p:nvSpPr>
          <p:cNvPr id="133122" name="Rectangle 2">
            <a:extLst>
              <a:ext uri="{FF2B5EF4-FFF2-40B4-BE49-F238E27FC236}">
                <a16:creationId xmlns:a16="http://schemas.microsoft.com/office/drawing/2014/main" id="{6AF4FB66-C030-BA43-8E55-878741EC49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9863" y="444500"/>
            <a:ext cx="7691437" cy="823913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演绎 </a:t>
            </a:r>
          </a:p>
        </p:txBody>
      </p:sp>
      <p:sp>
        <p:nvSpPr>
          <p:cNvPr id="133123" name="Rectangle 3">
            <a:extLst>
              <a:ext uri="{FF2B5EF4-FFF2-40B4-BE49-F238E27FC236}">
                <a16:creationId xmlns:a16="http://schemas.microsoft.com/office/drawing/2014/main" id="{8039094E-B8B6-A041-B70E-DDCC31625341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07950" y="1514475"/>
            <a:ext cx="8856663" cy="4578350"/>
          </a:xfrm>
        </p:spPr>
        <p:txBody>
          <a:bodyPr/>
          <a:lstStyle/>
          <a:p>
            <a:pPr marL="352425" indent="-352425">
              <a:tabLst>
                <a:tab pos="1149350" algn="l"/>
                <a:tab pos="1995488" algn="l"/>
              </a:tabLst>
            </a:pPr>
            <a:r>
              <a:rPr kumimoji="0" lang="zh-CN" altLang="en-US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定义</a:t>
            </a:r>
            <a:r>
              <a:rPr kumimoji="0" lang="en-US" altLang="zh-CN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3</a:t>
            </a:r>
            <a:r>
              <a:rPr kumimoji="0" lang="zh-CN" altLang="en-US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.</a:t>
            </a:r>
            <a:r>
              <a:rPr kumimoji="0" lang="en-US" altLang="zh-CN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zh-CN" altLang="en-US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.</a:t>
            </a:r>
            <a:r>
              <a:rPr kumimoji="0" lang="en-US" altLang="zh-CN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zh-CN" altLang="en-US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7  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设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S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是一个命题公式的集合(前提集合)。从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S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推出公式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的一个演绎是公式的一个有限序列：</a:t>
            </a:r>
            <a:b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		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, G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2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, …, G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k</a:t>
            </a:r>
            <a:b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其中，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或者属于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S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1" charset="-122"/>
              </a:rPr>
              <a:t>，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或者是某些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j 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(j&lt;i)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的逻辑结果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1" charset="-122"/>
              </a:rPr>
              <a:t>,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并且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k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就是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1" charset="-122"/>
              </a:rPr>
              <a:t>。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我们称公式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为此演绎的逻辑结果，或称从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S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演绎出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1" charset="-122"/>
              </a:rPr>
              <a:t>。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 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有时也记为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S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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1" charset="-122"/>
              </a:rPr>
              <a:t>。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 </a:t>
            </a:r>
            <a:endParaRPr kumimoji="0" lang="zh-CN" altLang="en-US" sz="3200">
              <a:latin typeface="Arial" panose="020B0604020202020204" pitchFamily="34" charset="0"/>
              <a:ea typeface="楷体_GB2312" pitchFamily="1" charset="-122"/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23" grpId="0" build="p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Slide Number Placeholder 5">
            <a:extLst>
              <a:ext uri="{FF2B5EF4-FFF2-40B4-BE49-F238E27FC236}">
                <a16:creationId xmlns:a16="http://schemas.microsoft.com/office/drawing/2014/main" id="{737F8C5A-6745-6F45-A370-49E18959EE4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04F6B48-4009-264A-BE6E-961DC5900093}" type="slidenum">
              <a:rPr kumimoji="0" lang="zh-CN" altLang="en-US" sz="1200"/>
              <a:pPr/>
              <a:t>48</a:t>
            </a:fld>
            <a:endParaRPr kumimoji="0" lang="en-US" altLang="zh-CN" sz="1200"/>
          </a:p>
        </p:txBody>
      </p:sp>
      <p:sp>
        <p:nvSpPr>
          <p:cNvPr id="134146" name="Rectangle 2">
            <a:extLst>
              <a:ext uri="{FF2B5EF4-FFF2-40B4-BE49-F238E27FC236}">
                <a16:creationId xmlns:a16="http://schemas.microsoft.com/office/drawing/2014/main" id="{09F6A5AF-397D-2747-9269-91A0C4EF29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9863" y="322263"/>
            <a:ext cx="7691437" cy="823912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ea typeface="+mj-ea"/>
                <a:cs typeface="+mj-cs"/>
              </a:rPr>
              <a:t>例：</a:t>
            </a:r>
          </a:p>
        </p:txBody>
      </p:sp>
      <p:sp>
        <p:nvSpPr>
          <p:cNvPr id="134147" name="Rectangle 3">
            <a:extLst>
              <a:ext uri="{FF2B5EF4-FFF2-40B4-BE49-F238E27FC236}">
                <a16:creationId xmlns:a16="http://schemas.microsoft.com/office/drawing/2014/main" id="{81EC6128-85E8-D845-B6F5-621DC7AC2C6F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53975" y="1371600"/>
            <a:ext cx="8766175" cy="4800600"/>
          </a:xfrm>
        </p:spPr>
        <p:txBody>
          <a:bodyPr/>
          <a:lstStyle/>
          <a:p>
            <a:pPr marL="352425" indent="-352425">
              <a:lnSpc>
                <a:spcPct val="120000"/>
              </a:lnSpc>
              <a:tabLst>
                <a:tab pos="1149350" algn="l"/>
                <a:tab pos="1995488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设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S={P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Q，Q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R，P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M，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M}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则下面的公式序列:</a:t>
            </a:r>
            <a:b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M，P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M，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P，P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Q，Q，Q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R，R</a:t>
            </a:r>
            <a:b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就是从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S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推出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的一个演绎。</a:t>
            </a:r>
          </a:p>
          <a:p>
            <a:pPr marL="352425" indent="-352425">
              <a:buFont typeface="Wingdings" pitchFamily="2" charset="2"/>
              <a:buNone/>
              <a:tabLst>
                <a:tab pos="1149350" algn="l"/>
                <a:tab pos="1995488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	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M(PM)  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P; P=0, M=0</a:t>
            </a:r>
          </a:p>
          <a:p>
            <a:pPr marL="352425" indent="-352425">
              <a:buFont typeface="Wingdings" pitchFamily="2" charset="2"/>
              <a:buNone/>
              <a:tabLst>
                <a:tab pos="1149350" algn="l"/>
                <a:tab pos="1995488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	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P(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Q)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 Q; P=0, Q=1</a:t>
            </a:r>
          </a:p>
          <a:p>
            <a:pPr marL="352425" indent="-352425">
              <a:buFont typeface="Wingdings" pitchFamily="2" charset="2"/>
              <a:buNone/>
              <a:tabLst>
                <a:tab pos="1149350" algn="l"/>
                <a:tab pos="1995488" algn="l"/>
              </a:tabLst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	Q(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R)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 R; Q=1, R=1</a:t>
            </a:r>
            <a:endParaRPr kumimoji="0" lang="zh-CN" altLang="en-US" sz="3200">
              <a:latin typeface="Arial" panose="020B0604020202020204" pitchFamily="34" charset="0"/>
              <a:ea typeface="楷体_GB2312" pitchFamily="1" charset="-122"/>
              <a:sym typeface="Symbol" pitchFamily="2" charset="2"/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4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4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4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147" grpId="0" uiExpand="1" build="p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Slide Number Placeholder 5">
            <a:extLst>
              <a:ext uri="{FF2B5EF4-FFF2-40B4-BE49-F238E27FC236}">
                <a16:creationId xmlns:a16="http://schemas.microsoft.com/office/drawing/2014/main" id="{27714A1B-453E-5C41-B036-0D7C4348222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7453C0A-9E8A-2F45-97DC-03B1338D7909}" type="slidenum">
              <a:rPr kumimoji="0" lang="zh-CN" altLang="en-US" sz="1200"/>
              <a:pPr/>
              <a:t>49</a:t>
            </a:fld>
            <a:endParaRPr kumimoji="0" lang="en-US" altLang="zh-CN" sz="1200"/>
          </a:p>
        </p:txBody>
      </p:sp>
      <p:sp>
        <p:nvSpPr>
          <p:cNvPr id="135170" name="Rectangle 2">
            <a:extLst>
              <a:ext uri="{FF2B5EF4-FFF2-40B4-BE49-F238E27FC236}">
                <a16:creationId xmlns:a16="http://schemas.microsoft.com/office/drawing/2014/main" id="{9B4CBA10-451F-494F-9899-993EFDACCD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9863" y="373063"/>
            <a:ext cx="7691437" cy="823912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引理</a:t>
            </a: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3.1.1</a:t>
            </a:r>
            <a:endParaRPr lang="zh-CN" altLang="en-US" dirty="0">
              <a:latin typeface="Arial" charset="0"/>
              <a:ea typeface="楷体_GB2312" charset="0"/>
              <a:cs typeface="+mj-cs"/>
            </a:endParaRPr>
          </a:p>
        </p:txBody>
      </p:sp>
      <p:sp>
        <p:nvSpPr>
          <p:cNvPr id="135171" name="Rectangle 3">
            <a:extLst>
              <a:ext uri="{FF2B5EF4-FFF2-40B4-BE49-F238E27FC236}">
                <a16:creationId xmlns:a16="http://schemas.microsoft.com/office/drawing/2014/main" id="{72A12369-0CAE-9646-B102-0751817D1C36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52400" y="1371600"/>
            <a:ext cx="8839200" cy="3570288"/>
          </a:xfrm>
        </p:spPr>
        <p:txBody>
          <a:bodyPr/>
          <a:lstStyle/>
          <a:p>
            <a:pPr marL="352425" indent="-352425">
              <a:lnSpc>
                <a:spcPct val="120000"/>
              </a:lnSpc>
              <a:tabLst>
                <a:tab pos="1149350" algn="l"/>
                <a:tab pos="1995488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设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G，H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，H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2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是公式。 如果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蕴涵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H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，G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蕴涵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H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2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蕴涵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H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H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2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。 </a:t>
            </a:r>
          </a:p>
          <a:p>
            <a:pPr marL="352425" indent="-352425">
              <a:lnSpc>
                <a:spcPct val="120000"/>
              </a:lnSpc>
              <a:tabLst>
                <a:tab pos="1149350" algn="l"/>
                <a:tab pos="1995488" algn="l"/>
              </a:tabLst>
            </a:pPr>
            <a:r>
              <a:rPr kumimoji="0" lang="zh-CN" altLang="en-US" sz="3200">
                <a:solidFill>
                  <a:srgbClr val="4E67C8"/>
                </a:solidFill>
                <a:latin typeface="宋体" panose="02010600030101010101" pitchFamily="2" charset="-122"/>
                <a:ea typeface="楷体_GB2312" pitchFamily="1" charset="-122"/>
              </a:rPr>
              <a:t>证明：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任取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1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H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1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H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2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的一个解释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1" charset="-122"/>
              </a:rPr>
              <a:t>。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 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若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满足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1" charset="-122"/>
              </a:rPr>
              <a:t>，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由假设知，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满足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H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1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满足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H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2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1" charset="-122"/>
              </a:rPr>
              <a:t>，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故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满足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H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H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2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1" charset="-122"/>
              </a:rPr>
              <a:t>。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由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的任意性，所以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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 (H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H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2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)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1" charset="-122"/>
              </a:rPr>
              <a:t>。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 </a:t>
            </a:r>
            <a:endParaRPr kumimoji="0" lang="zh-CN" altLang="en-US" sz="3200">
              <a:latin typeface="Arial" panose="020B0604020202020204" pitchFamily="34" charset="0"/>
              <a:ea typeface="楷体_GB2312" pitchFamily="1" charset="-122"/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5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171" grpId="0" build="p" autoUpdateAnimBg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Slide Number Placeholder 5">
            <a:extLst>
              <a:ext uri="{FF2B5EF4-FFF2-40B4-BE49-F238E27FC236}">
                <a16:creationId xmlns:a16="http://schemas.microsoft.com/office/drawing/2014/main" id="{3D8FDDE4-741E-7D47-B937-FE65796D39E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A9194F7-1300-BA44-881E-361D6624699A}" type="slidenum">
              <a:rPr kumimoji="0" lang="zh-CN" altLang="en-US" sz="1200"/>
              <a:pPr/>
              <a:t>50</a:t>
            </a:fld>
            <a:endParaRPr kumimoji="0" lang="en-US" altLang="zh-CN" sz="1200"/>
          </a:p>
        </p:txBody>
      </p:sp>
      <p:sp>
        <p:nvSpPr>
          <p:cNvPr id="136194" name="Rectangle 2">
            <a:extLst>
              <a:ext uri="{FF2B5EF4-FFF2-40B4-BE49-F238E27FC236}">
                <a16:creationId xmlns:a16="http://schemas.microsoft.com/office/drawing/2014/main" id="{7F2B2B17-2DF8-7544-9BB7-BB67A511ED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9863" y="322263"/>
            <a:ext cx="7691437" cy="823912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定理</a:t>
            </a: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3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.</a:t>
            </a: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1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.2 </a:t>
            </a:r>
          </a:p>
        </p:txBody>
      </p:sp>
      <p:sp>
        <p:nvSpPr>
          <p:cNvPr id="136195" name="Rectangle 3">
            <a:extLst>
              <a:ext uri="{FF2B5EF4-FFF2-40B4-BE49-F238E27FC236}">
                <a16:creationId xmlns:a16="http://schemas.microsoft.com/office/drawing/2014/main" id="{27A126AE-59E0-5246-A2D3-0B879705BD7A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53988" y="1341438"/>
            <a:ext cx="8739187" cy="5153025"/>
          </a:xfrm>
        </p:spPr>
        <p:txBody>
          <a:bodyPr/>
          <a:lstStyle/>
          <a:p>
            <a:pPr marL="352425" indent="-352425">
              <a:tabLst>
                <a:tab pos="1149350" algn="l"/>
                <a:tab pos="1995488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设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S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是公式集合，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是一个公式。于是，从</a:t>
            </a:r>
            <a:b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S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演绎出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的充要条件是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是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S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的逻辑结果。</a:t>
            </a:r>
          </a:p>
          <a:p>
            <a:pPr marL="352425" indent="-352425">
              <a:tabLst>
                <a:tab pos="1149350" algn="l"/>
                <a:tab pos="1995488" algn="l"/>
              </a:tabLst>
            </a:pPr>
            <a:r>
              <a:rPr kumimoji="0" lang="zh-CN" altLang="en-US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证明：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必要性：设从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S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演绎出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G，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令</a:t>
            </a:r>
            <a:b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		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，…，G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k</a:t>
            </a:r>
            <a:b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是这个演绎。</a:t>
            </a:r>
          </a:p>
          <a:p>
            <a:pPr marL="352425" indent="-352425">
              <a:buFont typeface="Wingdings" pitchFamily="2" charset="2"/>
              <a:buNone/>
              <a:tabLst>
                <a:tab pos="1149350" algn="l"/>
                <a:tab pos="1995488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   对任意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(i=1，…，k)，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往证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是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S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的逻辑</a:t>
            </a:r>
            <a:b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结果。对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用归纳法:</a:t>
            </a:r>
          </a:p>
          <a:p>
            <a:pPr marL="352425" indent="-352425">
              <a:buFont typeface="Wingdings" pitchFamily="2" charset="2"/>
              <a:buNone/>
              <a:tabLst>
                <a:tab pos="1149350" algn="l"/>
                <a:tab pos="1995488" algn="l"/>
              </a:tabLst>
            </a:pPr>
            <a:r>
              <a:rPr kumimoji="0" lang="zh-CN" altLang="en-US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	(1)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 当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i=1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时，因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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S，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显然,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…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 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是恒真公式，故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S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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1" charset="-122"/>
              </a:rPr>
              <a:t>，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即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是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S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的逻辑结果。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 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6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36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36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195" grpId="0" build="p" autoUpdateAnimBg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Slide Number Placeholder 5">
            <a:extLst>
              <a:ext uri="{FF2B5EF4-FFF2-40B4-BE49-F238E27FC236}">
                <a16:creationId xmlns:a16="http://schemas.microsoft.com/office/drawing/2014/main" id="{25026856-AB46-FF42-8A4E-94B44F52A08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19561E6-3B9D-284F-A6EE-272E4C4BC4C2}" type="slidenum">
              <a:rPr kumimoji="0" lang="zh-CN" altLang="en-US" sz="1200"/>
              <a:pPr/>
              <a:t>51</a:t>
            </a:fld>
            <a:endParaRPr kumimoji="0" lang="en-US" altLang="zh-CN" sz="1200"/>
          </a:p>
        </p:txBody>
      </p:sp>
      <p:sp>
        <p:nvSpPr>
          <p:cNvPr id="137219" name="Rectangle 3">
            <a:extLst>
              <a:ext uri="{FF2B5EF4-FFF2-40B4-BE49-F238E27FC236}">
                <a16:creationId xmlns:a16="http://schemas.microsoft.com/office/drawing/2014/main" id="{57D2C23E-1E5A-6F4C-A92E-49C3FBEEEDCC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98438" y="333375"/>
            <a:ext cx="8694737" cy="5867400"/>
          </a:xfrm>
        </p:spPr>
        <p:txBody>
          <a:bodyPr/>
          <a:lstStyle/>
          <a:p>
            <a:pPr marL="0" indent="0">
              <a:lnSpc>
                <a:spcPct val="115000"/>
              </a:lnSpc>
              <a:buFont typeface="Wingdings" pitchFamily="2" charset="2"/>
              <a:buNone/>
              <a:tabLst>
                <a:tab pos="1149350" algn="l"/>
                <a:tab pos="1995488" algn="l"/>
              </a:tabLst>
            </a:pPr>
            <a:r>
              <a:rPr kumimoji="0" lang="zh-CN" altLang="en-US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(2)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 设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i&lt;n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时，命题成立。</a:t>
            </a:r>
          </a:p>
          <a:p>
            <a:pPr marL="0" indent="0">
              <a:lnSpc>
                <a:spcPct val="115000"/>
              </a:lnSpc>
              <a:buFont typeface="Wingdings" pitchFamily="2" charset="2"/>
              <a:buNone/>
              <a:tabLst>
                <a:tab pos="1149350" algn="l"/>
                <a:tab pos="1995488" algn="l"/>
              </a:tabLst>
            </a:pPr>
            <a:r>
              <a:rPr kumimoji="0" lang="zh-CN" altLang="en-US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(3)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 当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i=n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时，若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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S，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S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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归纳法完成。</a:t>
            </a:r>
          </a:p>
          <a:p>
            <a:pPr marL="0" indent="0">
              <a:lnSpc>
                <a:spcPct val="115000"/>
              </a:lnSpc>
              <a:buFont typeface="Wingdings" pitchFamily="2" charset="2"/>
              <a:buNone/>
              <a:tabLst>
                <a:tab pos="1149350" algn="l"/>
                <a:tab pos="1995488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若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是某些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j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 (j&lt;n)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的逻辑结果，不妨设</a:t>
            </a:r>
            <a:b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   (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j1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…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jh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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                                  (1)</a:t>
            </a:r>
            <a:b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其中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j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，…，j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h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都小于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n。</a:t>
            </a:r>
            <a:b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由归纳假设知，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S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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jm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 ，m=1，…，h。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由引理知：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S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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(G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j1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…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jh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)                            (2)</a:t>
            </a:r>
            <a:b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根据(1)，(2)式及蕴涵关系的传递性，得</a:t>
            </a:r>
            <a:b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	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S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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 </a:t>
            </a:r>
            <a:b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即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是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S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的逻辑结果，归纳法完成。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 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7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7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219" grpId="0" build="p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Slide Number Placeholder 5">
            <a:extLst>
              <a:ext uri="{FF2B5EF4-FFF2-40B4-BE49-F238E27FC236}">
                <a16:creationId xmlns:a16="http://schemas.microsoft.com/office/drawing/2014/main" id="{34C6EB0D-C967-F049-A308-24B884FA7DB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44531F1-DA98-3E4D-9ACE-80C58DE91603}" type="slidenum">
              <a:rPr kumimoji="0" lang="zh-CN" altLang="en-US" sz="1200"/>
              <a:pPr/>
              <a:t>52</a:t>
            </a:fld>
            <a:endParaRPr kumimoji="0" lang="en-US" altLang="zh-CN" sz="1200"/>
          </a:p>
        </p:txBody>
      </p:sp>
      <p:sp>
        <p:nvSpPr>
          <p:cNvPr id="138242" name="Rectangle 2">
            <a:extLst>
              <a:ext uri="{FF2B5EF4-FFF2-40B4-BE49-F238E27FC236}">
                <a16:creationId xmlns:a16="http://schemas.microsoft.com/office/drawing/2014/main" id="{02F7D64C-EF70-7B41-B721-8AB2B723D477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79388" y="657225"/>
            <a:ext cx="8785225" cy="3348038"/>
          </a:xfrm>
        </p:spPr>
        <p:txBody>
          <a:bodyPr/>
          <a:lstStyle/>
          <a:p>
            <a:pPr marL="0" indent="0">
              <a:lnSpc>
                <a:spcPct val="115000"/>
              </a:lnSpc>
              <a:buFont typeface="Wingdings" pitchFamily="2" charset="2"/>
              <a:buNone/>
              <a:tabLst>
                <a:tab pos="1149350" algn="l"/>
                <a:tab pos="1995488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充分性：若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是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S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的逻辑结果，由演绎的定义知，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是如下演绎：</a:t>
            </a:r>
          </a:p>
          <a:p>
            <a:pPr marL="0" indent="0">
              <a:lnSpc>
                <a:spcPct val="115000"/>
              </a:lnSpc>
              <a:buFont typeface="Wingdings" pitchFamily="2" charset="2"/>
              <a:buNone/>
              <a:tabLst>
                <a:tab pos="1149350" algn="l"/>
                <a:tab pos="1995488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           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 ，…，G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k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 ，G</a:t>
            </a:r>
          </a:p>
          <a:p>
            <a:pPr marL="0" indent="0">
              <a:lnSpc>
                <a:spcPct val="115000"/>
              </a:lnSpc>
              <a:buFont typeface="Wingdings" pitchFamily="2" charset="2"/>
              <a:buNone/>
              <a:tabLst>
                <a:tab pos="1149350" algn="l"/>
                <a:tab pos="1995488" algn="l"/>
              </a:tabLst>
            </a:pP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的逻辑结果，其中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 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1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…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1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k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是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S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中所有公式。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 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82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82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42" grpId="0" build="p" autoUpdateAnimBg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Slide Number Placeholder 5">
            <a:extLst>
              <a:ext uri="{FF2B5EF4-FFF2-40B4-BE49-F238E27FC236}">
                <a16:creationId xmlns:a16="http://schemas.microsoft.com/office/drawing/2014/main" id="{614191BB-C029-234F-9EB8-5F37685B8A6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DBB078E-2ED0-7441-9680-98C619B72855}" type="slidenum">
              <a:rPr kumimoji="0" lang="zh-CN" altLang="en-US" sz="1200"/>
              <a:pPr/>
              <a:t>53</a:t>
            </a:fld>
            <a:endParaRPr kumimoji="0" lang="en-US" altLang="zh-CN" sz="1200"/>
          </a:p>
        </p:txBody>
      </p:sp>
      <p:sp>
        <p:nvSpPr>
          <p:cNvPr id="139266" name="Rectangle 2">
            <a:extLst>
              <a:ext uri="{FF2B5EF4-FFF2-40B4-BE49-F238E27FC236}">
                <a16:creationId xmlns:a16="http://schemas.microsoft.com/office/drawing/2014/main" id="{B8A27780-B458-D74C-9F73-08183704B3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9863" y="228600"/>
            <a:ext cx="7691437" cy="823913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定理</a:t>
            </a: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3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.</a:t>
            </a: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1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.3 </a:t>
            </a:r>
          </a:p>
        </p:txBody>
      </p:sp>
      <p:sp>
        <p:nvSpPr>
          <p:cNvPr id="139267" name="Rectangle 3">
            <a:extLst>
              <a:ext uri="{FF2B5EF4-FFF2-40B4-BE49-F238E27FC236}">
                <a16:creationId xmlns:a16="http://schemas.microsoft.com/office/drawing/2014/main" id="{5AC91DC6-1375-1841-BD0C-5593FF0947AC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25413" y="1412875"/>
            <a:ext cx="8694737" cy="4895850"/>
          </a:xfrm>
        </p:spPr>
        <p:txBody>
          <a:bodyPr/>
          <a:lstStyle/>
          <a:p>
            <a:pPr marL="263525" indent="-263525">
              <a:tabLst>
                <a:tab pos="1149350" algn="l"/>
                <a:tab pos="1995488" algn="l"/>
              </a:tabLst>
            </a:pP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设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S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是前提公式集合，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G，H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是两个公式。 </a:t>
            </a:r>
            <a:b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如果从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S</a:t>
            </a:r>
            <a:r>
              <a:rPr kumimoji="0" lang="en-US" altLang="zh-CN" sz="2800">
                <a:latin typeface="宋体" panose="02010600030101010101" pitchFamily="2" charset="-122"/>
                <a:ea typeface="楷体_GB2312" pitchFamily="1" charset="-122"/>
                <a:sym typeface="Symbol" pitchFamily="2" charset="2"/>
              </a:rPr>
              <a:t>∪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{G}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可演绎出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H，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则从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S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可演绎出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H。</a:t>
            </a:r>
          </a:p>
          <a:p>
            <a:pPr marL="263525" indent="-263525">
              <a:tabLst>
                <a:tab pos="1149350" algn="l"/>
                <a:tab pos="1995488" algn="l"/>
              </a:tabLst>
            </a:pPr>
            <a:r>
              <a:rPr kumimoji="0" lang="zh-CN" altLang="en-US" sz="28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证明：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因为从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S</a:t>
            </a:r>
            <a:r>
              <a:rPr kumimoji="0" lang="en-US" altLang="zh-CN" sz="2800">
                <a:latin typeface="宋体" panose="02010600030101010101" pitchFamily="2" charset="-122"/>
                <a:ea typeface="楷体_GB2312" pitchFamily="1" charset="-122"/>
                <a:sym typeface="Symbol" pitchFamily="2" charset="2"/>
              </a:rPr>
              <a:t>∪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{G}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可演绎出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H，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由定理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3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.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.2知，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H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是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S</a:t>
            </a:r>
            <a:r>
              <a:rPr kumimoji="0" lang="en-US" altLang="zh-CN" sz="2800">
                <a:latin typeface="宋体" panose="02010600030101010101" pitchFamily="2" charset="-122"/>
                <a:ea typeface="楷体_GB2312" pitchFamily="1" charset="-122"/>
                <a:sym typeface="Symbol" pitchFamily="2" charset="2"/>
              </a:rPr>
              <a:t>∪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{G}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的逻辑结果。 亦即</a:t>
            </a:r>
            <a:b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	(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28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 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 …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 G</a:t>
            </a:r>
            <a:r>
              <a:rPr kumimoji="0" lang="en-US" altLang="zh-CN" sz="2800" baseline="-30000">
                <a:latin typeface="Arial" panose="020B0604020202020204" pitchFamily="34" charset="0"/>
                <a:ea typeface="楷体_GB2312" pitchFamily="1" charset="-122"/>
              </a:rPr>
              <a:t>k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 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 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G) 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 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H</a:t>
            </a:r>
            <a:b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其中 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28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 ，…，G</a:t>
            </a:r>
            <a:r>
              <a:rPr kumimoji="0" lang="en-US" altLang="zh-CN" sz="2800" baseline="-30000">
                <a:latin typeface="Arial" panose="020B0604020202020204" pitchFamily="34" charset="0"/>
                <a:ea typeface="楷体_GB2312" pitchFamily="1" charset="-122"/>
              </a:rPr>
              <a:t>k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 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是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S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中所有公式。</a:t>
            </a:r>
            <a:b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由定理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3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.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.1知：</a:t>
            </a:r>
            <a:b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             (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28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 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 …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 G</a:t>
            </a:r>
            <a:r>
              <a:rPr kumimoji="0" lang="en-US" altLang="zh-CN" sz="2800" baseline="-30000">
                <a:latin typeface="Arial" panose="020B0604020202020204" pitchFamily="34" charset="0"/>
                <a:ea typeface="楷体_GB2312" pitchFamily="1" charset="-122"/>
              </a:rPr>
              <a:t>k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 )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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(G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H)</a:t>
            </a:r>
            <a:b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zh-CN" altLang="en-US" sz="2800">
                <a:latin typeface="宋体" panose="02010600030101010101" pitchFamily="2" charset="-122"/>
                <a:ea typeface="楷体_GB2312" pitchFamily="1" charset="-122"/>
              </a:rPr>
              <a:t>即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H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1" charset="-122"/>
              </a:rPr>
              <a:t>是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S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1" charset="-122"/>
              </a:rPr>
              <a:t>的逻辑结果，再由定理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3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.1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.2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1" charset="-122"/>
              </a:rPr>
              <a:t>知，从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S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1" charset="-122"/>
              </a:rPr>
              <a:t>可演绎出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H</a:t>
            </a:r>
            <a:r>
              <a:rPr kumimoji="0" lang="en-US" altLang="zh-CN" sz="2800">
                <a:latin typeface="宋体" panose="02010600030101010101" pitchFamily="2" charset="-122"/>
                <a:ea typeface="楷体_GB2312" pitchFamily="1" charset="-122"/>
              </a:rPr>
              <a:t>。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 </a:t>
            </a:r>
            <a:endParaRPr kumimoji="0" lang="zh-CN" altLang="en-US" sz="2800">
              <a:latin typeface="Arial" panose="020B0604020202020204" pitchFamily="34" charset="0"/>
              <a:ea typeface="楷体_GB2312" pitchFamily="1" charset="-122"/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9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39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267" grpId="0" build="p" autoUpdateAnimBg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Slide Number Placeholder 5">
            <a:extLst>
              <a:ext uri="{FF2B5EF4-FFF2-40B4-BE49-F238E27FC236}">
                <a16:creationId xmlns:a16="http://schemas.microsoft.com/office/drawing/2014/main" id="{9E2CB675-1935-C34E-8CE8-428448D9A4C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6DA52C7-14FB-ED49-855D-22770BEBEF4D}" type="slidenum">
              <a:rPr kumimoji="0" lang="zh-CN" altLang="en-US" sz="1200"/>
              <a:pPr/>
              <a:t>54</a:t>
            </a:fld>
            <a:endParaRPr kumimoji="0" lang="en-US" altLang="zh-CN" sz="1200"/>
          </a:p>
        </p:txBody>
      </p:sp>
      <p:sp>
        <p:nvSpPr>
          <p:cNvPr id="140290" name="Rectangle 2">
            <a:extLst>
              <a:ext uri="{FF2B5EF4-FFF2-40B4-BE49-F238E27FC236}">
                <a16:creationId xmlns:a16="http://schemas.microsoft.com/office/drawing/2014/main" id="{F89F50BA-7860-5249-BBFD-3B4DAFD159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5113" y="301625"/>
            <a:ext cx="7691437" cy="823913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宋体" charset="0"/>
                <a:ea typeface="楷体_GB2312" charset="0"/>
                <a:cs typeface="+mj-cs"/>
              </a:rPr>
              <a:t>基本蕴涵式</a:t>
            </a:r>
            <a:r>
              <a:rPr lang="zh-CN" altLang="en-US" dirty="0">
                <a:latin typeface="Times New Roman" charset="0"/>
                <a:ea typeface="楷体_GB2312" charset="0"/>
                <a:cs typeface="+mj-cs"/>
              </a:rPr>
              <a:t> </a:t>
            </a:r>
          </a:p>
        </p:txBody>
      </p:sp>
      <p:sp>
        <p:nvSpPr>
          <p:cNvPr id="140291" name="Rectangle 3">
            <a:extLst>
              <a:ext uri="{FF2B5EF4-FFF2-40B4-BE49-F238E27FC236}">
                <a16:creationId xmlns:a16="http://schemas.microsoft.com/office/drawing/2014/main" id="{5F1235EC-3513-9F4F-B33C-FDD69040E6FB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250825" y="1379538"/>
            <a:ext cx="7875588" cy="5145087"/>
          </a:xfrm>
        </p:spPr>
        <p:txBody>
          <a:bodyPr/>
          <a:lstStyle/>
          <a:p>
            <a:pPr marL="685800" indent="-685800">
              <a:buFont typeface="Wingdings" pitchFamily="2" charset="2"/>
              <a:buAutoNum type="arabicPeriod"/>
              <a:tabLst>
                <a:tab pos="1149350" algn="l"/>
                <a:tab pos="1995488" algn="l"/>
              </a:tabLst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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</a:p>
          <a:p>
            <a:pPr marL="685800" indent="-685800">
              <a:buFont typeface="Wingdings" pitchFamily="2" charset="2"/>
              <a:buAutoNum type="arabicPeriod"/>
              <a:tabLst>
                <a:tab pos="1149350" algn="l"/>
                <a:tab pos="1995488" algn="l"/>
              </a:tabLst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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</a:p>
          <a:p>
            <a:pPr marL="685800" indent="-685800">
              <a:buFont typeface="Wingdings" pitchFamily="2" charset="2"/>
              <a:buAutoNum type="arabicPeriod"/>
              <a:tabLst>
                <a:tab pos="1149350" algn="l"/>
                <a:tab pos="1995488" algn="l"/>
              </a:tabLst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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</a:p>
          <a:p>
            <a:pPr marL="685800" indent="-685800">
              <a:buFont typeface="Wingdings" pitchFamily="2" charset="2"/>
              <a:buAutoNum type="arabicPeriod"/>
              <a:tabLst>
                <a:tab pos="1149350" algn="l"/>
                <a:tab pos="1995488" algn="l"/>
              </a:tabLst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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</a:p>
          <a:p>
            <a:pPr marL="685800" indent="-685800">
              <a:buFont typeface="Wingdings" pitchFamily="2" charset="2"/>
              <a:buAutoNum type="arabicPeriod"/>
              <a:tabLst>
                <a:tab pos="1149350" algn="l"/>
                <a:tab pos="1995488" algn="l"/>
              </a:tabLst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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Q)</a:t>
            </a:r>
          </a:p>
          <a:p>
            <a:pPr marL="685800" indent="-685800">
              <a:buFont typeface="Wingdings" pitchFamily="2" charset="2"/>
              <a:buAutoNum type="arabicPeriod"/>
              <a:tabLst>
                <a:tab pos="1149350" algn="l"/>
                <a:tab pos="1995488" algn="l"/>
              </a:tabLst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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Q)</a:t>
            </a:r>
          </a:p>
          <a:p>
            <a:pPr marL="685800" indent="-685800">
              <a:buFont typeface="Wingdings" pitchFamily="2" charset="2"/>
              <a:buAutoNum type="arabicPeriod"/>
              <a:tabLst>
                <a:tab pos="1149350" algn="l"/>
                <a:tab pos="1995488" algn="l"/>
              </a:tabLst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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</a:p>
          <a:p>
            <a:pPr marL="685800" indent="-685800">
              <a:buFont typeface="Wingdings" pitchFamily="2" charset="2"/>
              <a:buAutoNum type="arabicPeriod"/>
              <a:tabLst>
                <a:tab pos="1149350" algn="l"/>
                <a:tab pos="1995488" algn="l"/>
              </a:tabLst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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0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0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40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40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40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40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Slide Number Placeholder 5">
            <a:extLst>
              <a:ext uri="{FF2B5EF4-FFF2-40B4-BE49-F238E27FC236}">
                <a16:creationId xmlns:a16="http://schemas.microsoft.com/office/drawing/2014/main" id="{8521E6D7-1182-C44F-9801-BA92BF142D8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C0AE787-0CE6-DC48-B421-CFB0067211C5}" type="slidenum">
              <a:rPr kumimoji="0" lang="zh-CN" altLang="en-US" sz="1200"/>
              <a:pPr/>
              <a:t>55</a:t>
            </a:fld>
            <a:endParaRPr kumimoji="0" lang="en-US" altLang="zh-CN" sz="1200"/>
          </a:p>
        </p:txBody>
      </p:sp>
      <p:sp>
        <p:nvSpPr>
          <p:cNvPr id="142338" name="Rectangle 2">
            <a:extLst>
              <a:ext uri="{FF2B5EF4-FFF2-40B4-BE49-F238E27FC236}">
                <a16:creationId xmlns:a16="http://schemas.microsoft.com/office/drawing/2014/main" id="{F39410F5-6946-9C4B-A62A-54F7463DD3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65113" y="373063"/>
            <a:ext cx="7691437" cy="823912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宋体" charset="0"/>
                <a:ea typeface="楷体_GB2312" charset="0"/>
                <a:cs typeface="+mj-cs"/>
              </a:rPr>
              <a:t>基本蕴涵式</a:t>
            </a:r>
            <a:r>
              <a:rPr lang="zh-CN" altLang="en-US" dirty="0">
                <a:latin typeface="Times New Roman" charset="0"/>
                <a:ea typeface="楷体_GB2312" charset="0"/>
                <a:cs typeface="+mj-cs"/>
              </a:rPr>
              <a:t> </a:t>
            </a:r>
          </a:p>
        </p:txBody>
      </p:sp>
      <p:sp>
        <p:nvSpPr>
          <p:cNvPr id="142339" name="Rectangle 3">
            <a:extLst>
              <a:ext uri="{FF2B5EF4-FFF2-40B4-BE49-F238E27FC236}">
                <a16:creationId xmlns:a16="http://schemas.microsoft.com/office/drawing/2014/main" id="{A43417DF-14A6-114F-B22B-B7415DA5326C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250825" y="1423988"/>
            <a:ext cx="8497888" cy="4237037"/>
          </a:xfrm>
        </p:spPr>
        <p:txBody>
          <a:bodyPr/>
          <a:lstStyle/>
          <a:p>
            <a:pPr marL="862013" indent="-862013">
              <a:buFont typeface="Wingdings" pitchFamily="2" charset="2"/>
              <a:buAutoNum type="arabicPeriod" startAt="9"/>
              <a:tabLst>
                <a:tab pos="1149350" algn="l"/>
                <a:tab pos="1995488" algn="l"/>
              </a:tabLst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P，Q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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</a:p>
          <a:p>
            <a:pPr marL="862013" indent="-862013">
              <a:buFont typeface="Wingdings" pitchFamily="2" charset="2"/>
              <a:buAutoNum type="arabicPeriod" startAt="9"/>
              <a:tabLst>
                <a:tab pos="1149350" algn="l"/>
                <a:tab pos="1995488" algn="l"/>
              </a:tabLst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P，P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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</a:p>
          <a:p>
            <a:pPr marL="862013" indent="-862013">
              <a:buFont typeface="Wingdings" pitchFamily="2" charset="2"/>
              <a:buAutoNum type="arabicPeriod" startAt="9"/>
              <a:tabLst>
                <a:tab pos="1149350" algn="l"/>
                <a:tab pos="1995488" algn="l"/>
              </a:tabLst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P，P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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</a:p>
          <a:p>
            <a:pPr marL="862013" indent="-862013">
              <a:buFont typeface="Wingdings" pitchFamily="2" charset="2"/>
              <a:buAutoNum type="arabicPeriod" startAt="9"/>
              <a:tabLst>
                <a:tab pos="1149350" algn="l"/>
                <a:tab pos="1995488" algn="l"/>
              </a:tabLst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Q，P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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</a:p>
          <a:p>
            <a:pPr marL="862013" indent="-862013">
              <a:buFont typeface="Wingdings" pitchFamily="2" charset="2"/>
              <a:buAutoNum type="arabicPeriod" startAt="9"/>
              <a:tabLst>
                <a:tab pos="1149350" algn="l"/>
                <a:tab pos="1995488" algn="l"/>
              </a:tabLst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Q，Q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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</a:t>
            </a:r>
          </a:p>
          <a:p>
            <a:pPr marL="862013" indent="-862013">
              <a:buFont typeface="Wingdings" pitchFamily="2" charset="2"/>
              <a:buAutoNum type="arabicPeriod" startAt="9"/>
              <a:tabLst>
                <a:tab pos="1149350" algn="l"/>
                <a:tab pos="1995488" algn="l"/>
              </a:tabLst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1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1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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 </a:t>
            </a:r>
          </a:p>
        </p:txBody>
      </p:sp>
      <p:sp>
        <p:nvSpPr>
          <p:cNvPr id="290818" name="Text Box 2">
            <a:extLst>
              <a:ext uri="{FF2B5EF4-FFF2-40B4-BE49-F238E27FC236}">
                <a16:creationId xmlns:a16="http://schemas.microsoft.com/office/drawing/2014/main" id="{9F370D6A-EC72-BB42-8C3F-52F343A820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638" y="1844675"/>
            <a:ext cx="4752975" cy="1385888"/>
          </a:xfrm>
          <a:prstGeom prst="rect">
            <a:avLst/>
          </a:prstGeom>
          <a:solidFill>
            <a:srgbClr val="FF66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>
              <a:defRPr/>
            </a:pPr>
            <a:r>
              <a:rPr kumimoji="1" lang="zh-CN" altLang="en-US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消解</a:t>
            </a: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  <a:sym typeface="Wingdings" charset="0"/>
              </a:rPr>
              <a:t>: (</a:t>
            </a: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P</a:t>
            </a: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  <a:sym typeface="Symbol" charset="0"/>
              </a:rPr>
              <a:t></a:t>
            </a: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Q</a:t>
            </a: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  <a:sym typeface="Wingdings" charset="0"/>
              </a:rPr>
              <a:t>)</a:t>
            </a: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  <a:sym typeface="Symbol" charset="0"/>
              </a:rPr>
              <a:t>(</a:t>
            </a: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P</a:t>
            </a: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  <a:sym typeface="Symbol" charset="0"/>
              </a:rPr>
              <a:t>R)QR;</a:t>
            </a:r>
          </a:p>
          <a:p>
            <a:pPr eaLnBrk="1" hangingPunct="1">
              <a:defRPr/>
            </a:pPr>
            <a:r>
              <a:rPr kumimoji="1" lang="zh-CN" altLang="en-US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  <a:sym typeface="Symbol" charset="0"/>
              </a:rPr>
              <a:t>	  </a:t>
            </a: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  <a:sym typeface="Symbol" charset="0"/>
              </a:rPr>
              <a:t>(</a:t>
            </a: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P</a:t>
            </a: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  <a:sym typeface="Symbol" charset="0"/>
              </a:rPr>
              <a:t></a:t>
            </a: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Q</a:t>
            </a: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  <a:sym typeface="Symbol" charset="0"/>
              </a:rPr>
              <a:t>)</a:t>
            </a: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P</a:t>
            </a: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  <a:sym typeface="Symbol" charset="0"/>
              </a:rPr>
              <a:t>Q;</a:t>
            </a:r>
          </a:p>
          <a:p>
            <a:pPr eaLnBrk="1" hangingPunct="1">
              <a:defRPr/>
            </a:pP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	  P</a:t>
            </a: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  <a:sym typeface="Symbol" charset="0"/>
              </a:rPr>
              <a:t>(</a:t>
            </a: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P</a:t>
            </a: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  <a:sym typeface="Symbol" charset="0"/>
              </a:rPr>
              <a:t></a:t>
            </a: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Q)</a:t>
            </a: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  <a:sym typeface="Symbol" charset="0"/>
              </a:rPr>
              <a:t></a:t>
            </a:r>
            <a:r>
              <a:rPr kumimoji="1" lang="en-US" altLang="zh-CN" sz="2800" dirty="0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</a:rPr>
              <a:t>Q.</a:t>
            </a:r>
            <a:endParaRPr lang="zh-CN" altLang="en-US" sz="2800" dirty="0">
              <a:effectLst>
                <a:outerShdw blurRad="38100" dist="38100" dir="2700000" algn="tl">
                  <a:srgbClr val="000000"/>
                </a:outerShdw>
              </a:effectLst>
              <a:ea typeface="楷体_GB2312" charset="0"/>
              <a:cs typeface="楷体_GB2312" charset="0"/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2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2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2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2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2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90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4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3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3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4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" presetID="34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42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43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44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45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46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7" presetID="34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48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49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50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51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52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3" presetID="34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54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55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56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57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58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9" presetID="34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0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61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62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63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64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42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0818" grpId="0" animBg="1"/>
      <p:bldP spid="290818" grpId="1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Slide Number Placeholder 5">
            <a:extLst>
              <a:ext uri="{FF2B5EF4-FFF2-40B4-BE49-F238E27FC236}">
                <a16:creationId xmlns:a16="http://schemas.microsoft.com/office/drawing/2014/main" id="{DDBA6859-B6CF-894F-B6D6-8595E5AE2E3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CF5852B-7AEE-CA4C-A1B1-6F6E1C4D7CCF}" type="slidenum">
              <a:rPr kumimoji="0" lang="zh-CN" altLang="en-US" sz="1200"/>
              <a:pPr/>
              <a:t>56</a:t>
            </a:fld>
            <a:endParaRPr kumimoji="0" lang="en-US" altLang="zh-CN" sz="1200"/>
          </a:p>
        </p:txBody>
      </p:sp>
      <p:sp>
        <p:nvSpPr>
          <p:cNvPr id="143362" name="Rectangle 2">
            <a:extLst>
              <a:ext uri="{FF2B5EF4-FFF2-40B4-BE49-F238E27FC236}">
                <a16:creationId xmlns:a16="http://schemas.microsoft.com/office/drawing/2014/main" id="{8091FE37-EB25-6E48-9026-3D8B0BBABF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913" y="322263"/>
            <a:ext cx="8974137" cy="823912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公式蕴涵的证明方法 </a:t>
            </a:r>
          </a:p>
        </p:txBody>
      </p:sp>
      <p:sp>
        <p:nvSpPr>
          <p:cNvPr id="143363" name="Rectangle 3">
            <a:extLst>
              <a:ext uri="{FF2B5EF4-FFF2-40B4-BE49-F238E27FC236}">
                <a16:creationId xmlns:a16="http://schemas.microsoft.com/office/drawing/2014/main" id="{8E66562D-2670-8C41-8D8A-2749BD057E7C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25413" y="1436688"/>
            <a:ext cx="8839200" cy="4584700"/>
          </a:xfrm>
        </p:spPr>
        <p:txBody>
          <a:bodyPr/>
          <a:lstStyle/>
          <a:p>
            <a:pPr marL="90488" indent="-90488">
              <a:buFont typeface="Wingdings" pitchFamily="2" charset="2"/>
              <a:buNone/>
              <a:tabLst>
                <a:tab pos="1149350" algn="l"/>
                <a:tab pos="1995488" algn="l"/>
              </a:tabLst>
            </a:pPr>
            <a:r>
              <a:rPr kumimoji="0" lang="zh-CN" altLang="en-US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总结：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给出两个公式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H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，证明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蕴涵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H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，有如下几种方法：</a:t>
            </a:r>
          </a:p>
          <a:p>
            <a:pPr marL="90488" indent="-90488">
              <a:buFont typeface="Wingdings" pitchFamily="2" charset="2"/>
              <a:buChar char="v"/>
              <a:tabLst>
                <a:tab pos="1149350" algn="l"/>
                <a:tab pos="1995488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真值表法；</a:t>
            </a:r>
          </a:p>
          <a:p>
            <a:pPr marL="90488" indent="-90488">
              <a:buFont typeface="Wingdings" pitchFamily="2" charset="2"/>
              <a:buChar char="v"/>
              <a:tabLst>
                <a:tab pos="1149350" algn="l"/>
                <a:tab pos="1995488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证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H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是恒真公式；</a:t>
            </a:r>
          </a:p>
          <a:p>
            <a:pPr marL="90488" indent="-90488">
              <a:buFont typeface="Wingdings" pitchFamily="2" charset="2"/>
              <a:buChar char="v"/>
              <a:tabLst>
                <a:tab pos="1149350" algn="l"/>
                <a:tab pos="1995488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利用一些基本等价式及蕴涵式进行推导；</a:t>
            </a:r>
          </a:p>
          <a:p>
            <a:pPr marL="90488" indent="-90488">
              <a:buFont typeface="Wingdings" pitchFamily="2" charset="2"/>
              <a:buChar char="v"/>
              <a:tabLst>
                <a:tab pos="1149350" algn="l"/>
                <a:tab pos="1995488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任取解释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I，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若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满足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G，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往证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满足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H；</a:t>
            </a:r>
          </a:p>
          <a:p>
            <a:pPr marL="90488" indent="-90488">
              <a:buFont typeface="Wingdings" pitchFamily="2" charset="2"/>
              <a:buChar char="v"/>
              <a:tabLst>
                <a:tab pos="1149350" algn="l"/>
                <a:tab pos="1995488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反证法，设结论假，往证前提假。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3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3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3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3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63" grpId="0" build="p" autoUpdateAnimBg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Slide Number Placeholder 5">
            <a:extLst>
              <a:ext uri="{FF2B5EF4-FFF2-40B4-BE49-F238E27FC236}">
                <a16:creationId xmlns:a16="http://schemas.microsoft.com/office/drawing/2014/main" id="{C2F569C7-F617-3448-8148-732562B029C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BCB32FB-0373-5745-984E-B3E283804789}" type="slidenum">
              <a:rPr kumimoji="0" lang="zh-CN" altLang="en-US" sz="1200"/>
              <a:pPr/>
              <a:t>57</a:t>
            </a:fld>
            <a:endParaRPr kumimoji="0" lang="en-US" altLang="zh-CN" sz="1200"/>
          </a:p>
        </p:txBody>
      </p:sp>
      <p:sp>
        <p:nvSpPr>
          <p:cNvPr id="144386" name="Rectangle 2">
            <a:extLst>
              <a:ext uri="{FF2B5EF4-FFF2-40B4-BE49-F238E27FC236}">
                <a16:creationId xmlns:a16="http://schemas.microsoft.com/office/drawing/2014/main" id="{1F3C212E-F2FE-E74C-9656-6379A6C8F9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913" y="444500"/>
            <a:ext cx="8974137" cy="823913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公式蕴涵的证明方法 </a:t>
            </a:r>
          </a:p>
        </p:txBody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212DCF16-44D4-984C-A4C6-D26111104779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07950" y="1484313"/>
            <a:ext cx="8451850" cy="4800600"/>
          </a:xfrm>
        </p:spPr>
        <p:txBody>
          <a:bodyPr/>
          <a:lstStyle/>
          <a:p>
            <a:pPr marL="352425" indent="-352425">
              <a:lnSpc>
                <a:spcPct val="130000"/>
              </a:lnSpc>
              <a:tabLst>
                <a:tab pos="484188" algn="l"/>
                <a:tab pos="1995488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若给出前提集合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S={G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 ，…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k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}，</a:t>
            </a:r>
            <a:b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公式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G，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证明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S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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有如下两种方法：</a:t>
            </a:r>
            <a:b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	1.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 …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 G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k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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b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	2. 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形式演绎法</a:t>
            </a:r>
          </a:p>
        </p:txBody>
      </p:sp>
    </p:spTree>
  </p:cSld>
  <p:clrMapOvr>
    <a:masterClrMapping/>
  </p:clrMapOvr>
  <p:transition>
    <p:blinds dir="vert"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Slide Number Placeholder 5">
            <a:extLst>
              <a:ext uri="{FF2B5EF4-FFF2-40B4-BE49-F238E27FC236}">
                <a16:creationId xmlns:a16="http://schemas.microsoft.com/office/drawing/2014/main" id="{5663A8DA-EBAD-7F41-9F17-F5F8A4A7937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DF4E3D4-8125-F948-9E77-92FA7F0CE73C}" type="slidenum">
              <a:rPr kumimoji="0" lang="zh-CN" altLang="en-US" sz="1200"/>
              <a:pPr/>
              <a:t>58</a:t>
            </a:fld>
            <a:endParaRPr kumimoji="0" lang="en-US" altLang="zh-CN" sz="1200"/>
          </a:p>
        </p:txBody>
      </p:sp>
      <p:sp>
        <p:nvSpPr>
          <p:cNvPr id="145410" name="Rectangle 2">
            <a:extLst>
              <a:ext uri="{FF2B5EF4-FFF2-40B4-BE49-F238E27FC236}">
                <a16:creationId xmlns:a16="http://schemas.microsoft.com/office/drawing/2014/main" id="{3BEF281D-03A3-8D42-820E-F5202F481D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9863" y="300831"/>
            <a:ext cx="7691437" cy="823913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形式演绎法</a:t>
            </a:r>
          </a:p>
        </p:txBody>
      </p:sp>
      <p:sp>
        <p:nvSpPr>
          <p:cNvPr id="145411" name="Rectangle 3">
            <a:extLst>
              <a:ext uri="{FF2B5EF4-FFF2-40B4-BE49-F238E27FC236}">
                <a16:creationId xmlns:a16="http://schemas.microsoft.com/office/drawing/2014/main" id="{A0AC8739-B9B1-BD4E-B63E-4E1DBEFE79EE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25413" y="1484313"/>
            <a:ext cx="8694737" cy="4392612"/>
          </a:xfrm>
        </p:spPr>
        <p:txBody>
          <a:bodyPr/>
          <a:lstStyle/>
          <a:p>
            <a:pPr marL="352425" indent="-352425">
              <a:lnSpc>
                <a:spcPct val="90000"/>
              </a:lnSpc>
              <a:tabLst>
                <a:tab pos="1149350" algn="l"/>
                <a:tab pos="1995488" algn="l"/>
              </a:tabLst>
            </a:pP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根据一些基本等价式和基本蕴涵式，从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S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出发，演绎出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G，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在演绎过程中遵循以下三条规则：</a:t>
            </a:r>
          </a:p>
          <a:p>
            <a:pPr marL="352425" indent="-352425">
              <a:lnSpc>
                <a:spcPct val="90000"/>
              </a:lnSpc>
              <a:buFont typeface="Wingdings" pitchFamily="2" charset="2"/>
              <a:buNone/>
              <a:tabLst>
                <a:tab pos="1149350" algn="l"/>
                <a:tab pos="1995488" algn="l"/>
              </a:tabLst>
            </a:pPr>
            <a:r>
              <a:rPr kumimoji="0" lang="zh-CN" altLang="en-US" sz="3200" dirty="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	</a:t>
            </a:r>
            <a:r>
              <a:rPr kumimoji="0" lang="zh-CN" altLang="en-US" sz="3200" dirty="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规则1.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 可随便使用前提。(根据演绎定义)</a:t>
            </a:r>
          </a:p>
          <a:p>
            <a:pPr marL="352425" indent="-352425">
              <a:lnSpc>
                <a:spcPct val="90000"/>
              </a:lnSpc>
              <a:buFont typeface="Wingdings" pitchFamily="2" charset="2"/>
              <a:buNone/>
              <a:tabLst>
                <a:tab pos="1149350" algn="l"/>
                <a:tab pos="1995488" algn="l"/>
              </a:tabLst>
            </a:pPr>
            <a:r>
              <a:rPr kumimoji="0" lang="zh-CN" altLang="en-US" sz="3200" dirty="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	</a:t>
            </a:r>
            <a:r>
              <a:rPr kumimoji="0" lang="zh-CN" altLang="en-US" sz="3200" dirty="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规则2.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 可随便使用前面演绎出的某些公式的逻辑结果。 (根据演绎的定义)</a:t>
            </a:r>
            <a:endParaRPr kumimoji="0" lang="en-US" altLang="zh-CN" sz="3200" dirty="0">
              <a:latin typeface="Arial" panose="020B0604020202020204" pitchFamily="34" charset="0"/>
              <a:ea typeface="楷体_GB2312" pitchFamily="1" charset="-122"/>
            </a:endParaRPr>
          </a:p>
          <a:p>
            <a:pPr marL="352425" indent="-352425">
              <a:lnSpc>
                <a:spcPct val="90000"/>
              </a:lnSpc>
              <a:buFont typeface="Wingdings" pitchFamily="2" charset="2"/>
              <a:buNone/>
              <a:tabLst>
                <a:tab pos="1149350" algn="l"/>
                <a:tab pos="1995488" algn="l"/>
              </a:tabLst>
            </a:pPr>
            <a:r>
              <a:rPr kumimoji="0" lang="zh-CN" altLang="en-US" sz="3200" dirty="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   </a:t>
            </a:r>
            <a:r>
              <a:rPr kumimoji="0" lang="zh-CN" altLang="en-US" sz="3200" dirty="0">
                <a:solidFill>
                  <a:srgbClr val="4E67C8"/>
                </a:solidFill>
                <a:latin typeface="宋体" panose="02010600030101010101" pitchFamily="2" charset="-122"/>
                <a:ea typeface="楷体_GB2312" pitchFamily="1" charset="-122"/>
              </a:rPr>
              <a:t>规则</a:t>
            </a:r>
            <a:r>
              <a:rPr kumimoji="0" lang="zh-CN" altLang="en-US" sz="3200" dirty="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3.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  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1" charset="-122"/>
              </a:rPr>
              <a:t>如果需要演绎出的公式是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1" charset="-122"/>
              </a:rPr>
              <a:t>的形式，则我们可将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1" charset="-122"/>
              </a:rPr>
              <a:t>做为附加前提使用，而力图去演绎出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3200" dirty="0">
                <a:latin typeface="宋体" panose="02010600030101010101" pitchFamily="2" charset="-122"/>
                <a:ea typeface="楷体_GB2312" pitchFamily="1" charset="-122"/>
              </a:rPr>
              <a:t>。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 (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1" charset="-122"/>
              </a:rPr>
              <a:t>根据定理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3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.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.3)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1" charset="-122"/>
              </a:rPr>
              <a:t>。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 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5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5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5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411" grpId="0" build="p" autoUpdateAnimBg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Slide Number Placeholder 5">
            <a:extLst>
              <a:ext uri="{FF2B5EF4-FFF2-40B4-BE49-F238E27FC236}">
                <a16:creationId xmlns:a16="http://schemas.microsoft.com/office/drawing/2014/main" id="{46015001-F001-A141-91C8-74322317E08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950F96A-B37A-9D4E-B55A-2D1FA9C9EA5B}" type="slidenum">
              <a:rPr kumimoji="0" lang="zh-CN" altLang="en-US" sz="1200"/>
              <a:pPr/>
              <a:t>59</a:t>
            </a:fld>
            <a:endParaRPr kumimoji="0" lang="en-US" altLang="zh-CN" sz="1200"/>
          </a:p>
        </p:txBody>
      </p:sp>
      <p:sp>
        <p:nvSpPr>
          <p:cNvPr id="146434" name="Rectangle 2">
            <a:extLst>
              <a:ext uri="{FF2B5EF4-FFF2-40B4-BE49-F238E27FC236}">
                <a16:creationId xmlns:a16="http://schemas.microsoft.com/office/drawing/2014/main" id="{5177B316-C27E-E34C-9415-E0C5DD07C3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157163"/>
            <a:ext cx="7772400" cy="823912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例</a:t>
            </a: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3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.</a:t>
            </a: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1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.1 </a:t>
            </a:r>
          </a:p>
        </p:txBody>
      </p:sp>
      <p:sp>
        <p:nvSpPr>
          <p:cNvPr id="146435" name="Rectangle 3">
            <a:extLst>
              <a:ext uri="{FF2B5EF4-FFF2-40B4-BE49-F238E27FC236}">
                <a16:creationId xmlns:a16="http://schemas.microsoft.com/office/drawing/2014/main" id="{625091EB-5BD5-BE48-869A-3AD290EE25C5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25413" y="1133475"/>
            <a:ext cx="8839200" cy="5391150"/>
          </a:xfrm>
        </p:spPr>
        <p:txBody>
          <a:bodyPr/>
          <a:lstStyle/>
          <a:p>
            <a:pPr marL="0" indent="0">
              <a:lnSpc>
                <a:spcPct val="90000"/>
              </a:lnSpc>
              <a:tabLst>
                <a:tab pos="574675" algn="l"/>
                <a:tab pos="1995488" algn="l"/>
                <a:tab pos="3719513" algn="l"/>
              </a:tabLst>
            </a:pPr>
            <a:r>
              <a:rPr kumimoji="0" lang="zh-CN" altLang="en-US" sz="3200">
                <a:solidFill>
                  <a:schemeClr val="tx2"/>
                </a:solidFill>
                <a:latin typeface="宋体" panose="02010600030101010101" pitchFamily="2" charset="-122"/>
                <a:ea typeface="楷体_GB2312" pitchFamily="1" charset="-122"/>
              </a:rPr>
              <a:t>证明</a:t>
            </a:r>
            <a:r>
              <a:rPr kumimoji="0" lang="zh-CN" altLang="en-US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{(</a:t>
            </a:r>
            <a:r>
              <a:rPr kumimoji="0" lang="en-US" altLang="zh-CN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Q)</a:t>
            </a:r>
            <a:r>
              <a:rPr kumimoji="0" lang="en-US" altLang="zh-CN" sz="3200">
                <a:solidFill>
                  <a:schemeClr val="tx2"/>
                </a:solidFill>
                <a:latin typeface="宋体" panose="02010600030101010101" pitchFamily="2" charset="-122"/>
                <a:ea typeface="楷体_GB2312" pitchFamily="1" charset="-122"/>
              </a:rPr>
              <a:t>，</a:t>
            </a:r>
            <a:r>
              <a:rPr kumimoji="0" lang="en-US" altLang="zh-CN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(P</a:t>
            </a:r>
            <a:r>
              <a:rPr kumimoji="0" lang="en-US" altLang="zh-CN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R)</a:t>
            </a:r>
            <a:r>
              <a:rPr kumimoji="0" lang="en-US" altLang="zh-CN" sz="3200">
                <a:solidFill>
                  <a:schemeClr val="tx2"/>
                </a:solidFill>
                <a:latin typeface="宋体" panose="02010600030101010101" pitchFamily="2" charset="-122"/>
                <a:ea typeface="楷体_GB2312" pitchFamily="1" charset="-122"/>
              </a:rPr>
              <a:t>，</a:t>
            </a:r>
            <a:r>
              <a:rPr kumimoji="0" lang="en-US" altLang="zh-CN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(Q</a:t>
            </a:r>
            <a:r>
              <a:rPr kumimoji="0" lang="en-US" altLang="zh-CN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S)}</a:t>
            </a:r>
            <a:r>
              <a:rPr kumimoji="0" lang="en-US" altLang="zh-CN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</a:t>
            </a:r>
            <a:r>
              <a:rPr kumimoji="0" lang="en-US" altLang="zh-CN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S</a:t>
            </a:r>
            <a:r>
              <a:rPr kumimoji="0" lang="en-US" altLang="zh-CN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R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              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AutoNum type="arabicPeriod"/>
              <a:tabLst>
                <a:tab pos="574675" algn="l"/>
                <a:tab pos="1995488" algn="l"/>
                <a:tab pos="3719513" algn="l"/>
              </a:tabLst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 	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                	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规则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1 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AutoNum type="arabicPeriod"/>
              <a:tabLst>
                <a:tab pos="574675" algn="l"/>
                <a:tab pos="1995488" algn="l"/>
                <a:tab pos="3719513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 	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           	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规则2，根据1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AutoNum type="arabicPeriod"/>
              <a:tabLst>
                <a:tab pos="574675" algn="l"/>
                <a:tab pos="1995488" algn="l"/>
                <a:tab pos="3719513" algn="l"/>
              </a:tabLst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 	Q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S              	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规则1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AutoNum type="arabicPeriod"/>
              <a:tabLst>
                <a:tab pos="574675" algn="l"/>
                <a:tab pos="1995488" algn="l"/>
                <a:tab pos="3719513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 	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S            	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规则2，根据2，3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AutoNum type="arabicPeriod"/>
              <a:tabLst>
                <a:tab pos="574675" algn="l"/>
                <a:tab pos="1995488" algn="l"/>
                <a:tab pos="3719513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 	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S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           	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规则2，根据4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AutoNum type="arabicPeriod"/>
              <a:tabLst>
                <a:tab pos="574675" algn="l"/>
                <a:tab pos="1995488" algn="l"/>
                <a:tab pos="3719513" algn="l"/>
              </a:tabLst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 	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              	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规则1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AutoNum type="arabicPeriod"/>
              <a:tabLst>
                <a:tab pos="574675" algn="l"/>
                <a:tab pos="1995488" algn="l"/>
                <a:tab pos="3719513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 	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S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           	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规则2，根据5，6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AutoNum type="arabicPeriod"/>
              <a:tabLst>
                <a:tab pos="574675" algn="l"/>
                <a:tab pos="1995488" algn="l"/>
                <a:tab pos="3719513" algn="l"/>
              </a:tabLst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 	S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               	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规则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2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，根据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7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。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 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6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6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6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6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6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6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6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6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435" grpId="0" build="p" autoUpdateAnimBg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Slide Number Placeholder 5">
            <a:extLst>
              <a:ext uri="{FF2B5EF4-FFF2-40B4-BE49-F238E27FC236}">
                <a16:creationId xmlns:a16="http://schemas.microsoft.com/office/drawing/2014/main" id="{83D28B3F-24E1-D94F-A0E2-0CFF4CAC69E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9B87855-03A2-7A4C-9E96-CA2A603DB5CD}" type="slidenum">
              <a:rPr kumimoji="0" lang="zh-CN" altLang="en-US" sz="1200"/>
              <a:pPr/>
              <a:t>60</a:t>
            </a:fld>
            <a:endParaRPr kumimoji="0" lang="en-US" altLang="zh-CN" sz="1200"/>
          </a:p>
        </p:txBody>
      </p:sp>
      <p:sp>
        <p:nvSpPr>
          <p:cNvPr id="147458" name="Rectangle 2">
            <a:extLst>
              <a:ext uri="{FF2B5EF4-FFF2-40B4-BE49-F238E27FC236}">
                <a16:creationId xmlns:a16="http://schemas.microsoft.com/office/drawing/2014/main" id="{29A18D3C-2E74-7D4C-AE0A-B1A93F9C9D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157163"/>
            <a:ext cx="7772400" cy="823912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例</a:t>
            </a: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3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.</a:t>
            </a: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1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.2 </a:t>
            </a:r>
          </a:p>
        </p:txBody>
      </p:sp>
      <p:sp>
        <p:nvSpPr>
          <p:cNvPr id="147459" name="Rectangle 3">
            <a:extLst>
              <a:ext uri="{FF2B5EF4-FFF2-40B4-BE49-F238E27FC236}">
                <a16:creationId xmlns:a16="http://schemas.microsoft.com/office/drawing/2014/main" id="{4CDC1E3E-DF2F-D849-92BD-851AF1151B29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07950" y="1127125"/>
            <a:ext cx="8839200" cy="5181600"/>
          </a:xfrm>
        </p:spPr>
        <p:txBody>
          <a:bodyPr/>
          <a:lstStyle/>
          <a:p>
            <a:pPr marL="0" indent="0">
              <a:lnSpc>
                <a:spcPct val="90000"/>
              </a:lnSpc>
              <a:tabLst>
                <a:tab pos="574675" algn="l"/>
                <a:tab pos="1995488" algn="l"/>
                <a:tab pos="3719513" algn="l"/>
              </a:tabLst>
            </a:pPr>
            <a:r>
              <a:rPr kumimoji="0" lang="zh-CN" altLang="en-US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证明{</a:t>
            </a:r>
            <a:r>
              <a:rPr kumimoji="0" lang="en-US" altLang="zh-CN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(Q</a:t>
            </a:r>
            <a:r>
              <a:rPr kumimoji="0" lang="en-US" altLang="zh-CN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S)，</a:t>
            </a:r>
            <a:r>
              <a:rPr kumimoji="0" lang="en-US" altLang="zh-CN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R</a:t>
            </a:r>
            <a:r>
              <a:rPr kumimoji="0" lang="en-US" altLang="zh-CN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P，Q}</a:t>
            </a:r>
            <a:r>
              <a:rPr kumimoji="0" lang="en-US" altLang="zh-CN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</a:t>
            </a:r>
            <a:r>
              <a:rPr kumimoji="0" lang="en-US" altLang="zh-CN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R</a:t>
            </a:r>
            <a:r>
              <a:rPr kumimoji="0" lang="en-US" altLang="zh-CN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S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AutoNum type="arabicPeriod"/>
              <a:tabLst>
                <a:tab pos="574675" algn="l"/>
                <a:tab pos="1995488" algn="l"/>
                <a:tab pos="3719513" algn="l"/>
              </a:tabLst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 	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             	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规则1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AutoNum type="arabicPeriod"/>
              <a:tabLst>
                <a:tab pos="574675" algn="l"/>
                <a:tab pos="1995488" algn="l"/>
                <a:tab pos="3719513" algn="l"/>
              </a:tabLst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 	R                 	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规则3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AutoNum type="arabicPeriod"/>
              <a:tabLst>
                <a:tab pos="574675" algn="l"/>
                <a:tab pos="1995488" algn="l"/>
                <a:tab pos="3719513" algn="l"/>
              </a:tabLst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 	P                 	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规则2，根据1，2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AutoNum type="arabicPeriod"/>
              <a:tabLst>
                <a:tab pos="574675" algn="l"/>
                <a:tab pos="1995488" algn="l"/>
                <a:tab pos="3719513" algn="l"/>
              </a:tabLst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 	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(Q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S)       	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规则1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AutoNum type="arabicPeriod"/>
              <a:tabLst>
                <a:tab pos="574675" algn="l"/>
                <a:tab pos="1995488" algn="l"/>
                <a:tab pos="3719513" algn="l"/>
              </a:tabLst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 	Q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S              	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规则2，根据3，4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AutoNum type="arabicPeriod"/>
              <a:tabLst>
                <a:tab pos="574675" algn="l"/>
                <a:tab pos="1995488" algn="l"/>
                <a:tab pos="3719513" algn="l"/>
              </a:tabLst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 	Q                 	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规则1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AutoNum type="arabicPeriod"/>
              <a:tabLst>
                <a:tab pos="574675" algn="l"/>
                <a:tab pos="1995488" algn="l"/>
                <a:tab pos="3719513" algn="l"/>
              </a:tabLst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 	S                 	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规则2，根据5，6</a:t>
            </a:r>
          </a:p>
          <a:p>
            <a:pPr marL="0" indent="0">
              <a:lnSpc>
                <a:spcPct val="90000"/>
              </a:lnSpc>
              <a:buFont typeface="Wingdings" pitchFamily="2" charset="2"/>
              <a:buAutoNum type="arabicPeriod"/>
              <a:tabLst>
                <a:tab pos="574675" algn="l"/>
                <a:tab pos="1995488" algn="l"/>
                <a:tab pos="3719513" algn="l"/>
              </a:tabLst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 	R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S              	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规则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3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，根据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2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，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7 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7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7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7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7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7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7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7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74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459" grpId="0" build="p" autoUpdateAnimBg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Slide Number Placeholder 5">
            <a:extLst>
              <a:ext uri="{FF2B5EF4-FFF2-40B4-BE49-F238E27FC236}">
                <a16:creationId xmlns:a16="http://schemas.microsoft.com/office/drawing/2014/main" id="{DE5440CC-829B-2640-8136-ECCE47F61E9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F9626FD-EF90-1E40-A958-329151867FEE}" type="slidenum">
              <a:rPr kumimoji="0" lang="zh-CN" altLang="en-US" sz="1200"/>
              <a:pPr/>
              <a:t>61</a:t>
            </a:fld>
            <a:endParaRPr kumimoji="0" lang="en-US" altLang="zh-CN" sz="1200"/>
          </a:p>
        </p:txBody>
      </p:sp>
      <p:sp>
        <p:nvSpPr>
          <p:cNvPr id="148482" name="Rectangle 2">
            <a:extLst>
              <a:ext uri="{FF2B5EF4-FFF2-40B4-BE49-F238E27FC236}">
                <a16:creationId xmlns:a16="http://schemas.microsoft.com/office/drawing/2014/main" id="{E60CCA5A-6E8A-F14B-9101-85C5EC5C26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4150" y="300831"/>
            <a:ext cx="7772400" cy="823913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例</a:t>
            </a: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3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.</a:t>
            </a: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1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.3 </a:t>
            </a:r>
          </a:p>
        </p:txBody>
      </p:sp>
      <p:sp>
        <p:nvSpPr>
          <p:cNvPr id="148483" name="Rectangle 3">
            <a:extLst>
              <a:ext uri="{FF2B5EF4-FFF2-40B4-BE49-F238E27FC236}">
                <a16:creationId xmlns:a16="http://schemas.microsoft.com/office/drawing/2014/main" id="{115B6E03-AC1D-5A46-B197-72251000525B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07950" y="1484313"/>
            <a:ext cx="8839200" cy="4749800"/>
          </a:xfrm>
        </p:spPr>
        <p:txBody>
          <a:bodyPr/>
          <a:lstStyle/>
          <a:p>
            <a:pPr marL="352425" indent="-352425">
              <a:tabLst>
                <a:tab pos="952500" algn="l"/>
                <a:tab pos="1995488" algn="l"/>
                <a:tab pos="3719513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若厂方拒绝增加工资，则罢工不会停止，除非罢工超过一年并且工厂经理辞职。 问：如果厂方拒绝增加工资，而罢工又刚刚开始，罢工是否能停止?</a:t>
            </a:r>
          </a:p>
          <a:p>
            <a:pPr marL="352425" indent="-352425">
              <a:tabLst>
                <a:tab pos="952500" algn="l"/>
                <a:tab pos="1995488" algn="l"/>
                <a:tab pos="3719513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令 	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P： 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厂方拒绝增加工资；</a:t>
            </a:r>
          </a:p>
          <a:p>
            <a:pPr marL="352425" indent="-352425">
              <a:buFont typeface="Wingdings" pitchFamily="2" charset="2"/>
              <a:buNone/>
              <a:tabLst>
                <a:tab pos="952500" algn="l"/>
                <a:tab pos="1995488" algn="l"/>
                <a:tab pos="3719513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   	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Q： 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罢工停止；</a:t>
            </a:r>
          </a:p>
          <a:p>
            <a:pPr marL="352425" indent="-352425">
              <a:buFont typeface="Wingdings" pitchFamily="2" charset="2"/>
              <a:buNone/>
              <a:tabLst>
                <a:tab pos="952500" algn="l"/>
                <a:tab pos="1995488" algn="l"/>
                <a:tab pos="3719513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   	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R： 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工厂经理辞职；</a:t>
            </a:r>
          </a:p>
          <a:p>
            <a:pPr marL="352425" indent="-352425">
              <a:buFont typeface="Wingdings" pitchFamily="2" charset="2"/>
              <a:buNone/>
              <a:tabLst>
                <a:tab pos="952500" algn="l"/>
                <a:tab pos="1995488" algn="l"/>
                <a:tab pos="3719513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   	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S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1" charset="-122"/>
              </a:rPr>
              <a:t>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 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罢工超过一年。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 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8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8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8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8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483" grpId="0" build="p" autoUpdateAnimBg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Slide Number Placeholder 5">
            <a:extLst>
              <a:ext uri="{FF2B5EF4-FFF2-40B4-BE49-F238E27FC236}">
                <a16:creationId xmlns:a16="http://schemas.microsoft.com/office/drawing/2014/main" id="{76B1E71C-7E4F-3C42-BE39-182C722C8F8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E03CF44-1B9C-0448-B367-2859F6DEFB69}" type="slidenum">
              <a:rPr kumimoji="0" lang="zh-CN" altLang="en-US" sz="1200"/>
              <a:pPr/>
              <a:t>62</a:t>
            </a:fld>
            <a:endParaRPr kumimoji="0" lang="en-US" altLang="zh-CN" sz="1200"/>
          </a:p>
        </p:txBody>
      </p:sp>
      <p:sp>
        <p:nvSpPr>
          <p:cNvPr id="149507" name="Rectangle 3">
            <a:extLst>
              <a:ext uri="{FF2B5EF4-FFF2-40B4-BE49-F238E27FC236}">
                <a16:creationId xmlns:a16="http://schemas.microsoft.com/office/drawing/2014/main" id="{0ACD0F4E-4041-4145-982D-D29EF2900942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07950" y="730250"/>
            <a:ext cx="8839200" cy="3994150"/>
          </a:xfrm>
        </p:spPr>
        <p:txBody>
          <a:bodyPr/>
          <a:lstStyle/>
          <a:p>
            <a:pPr marL="352425" indent="-352425">
              <a:tabLst>
                <a:tab pos="952500" algn="l"/>
                <a:tab pos="1905000" algn="l"/>
                <a:tab pos="4959350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于是，	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：(P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(R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S))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</a:p>
          <a:p>
            <a:pPr marL="352425" indent="-352425">
              <a:buFont typeface="Wingdings" pitchFamily="2" charset="2"/>
              <a:buNone/>
              <a:tabLst>
                <a:tab pos="952500" algn="l"/>
                <a:tab pos="1905000" algn="l"/>
                <a:tab pos="4959350" algn="l"/>
              </a:tabLst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			G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2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：P</a:t>
            </a:r>
          </a:p>
          <a:p>
            <a:pPr marL="352425" indent="-352425">
              <a:buFont typeface="Wingdings" pitchFamily="2" charset="2"/>
              <a:buNone/>
              <a:tabLst>
                <a:tab pos="952500" algn="l"/>
                <a:tab pos="1905000" algn="l"/>
                <a:tab pos="4959350" algn="l"/>
              </a:tabLst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			G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3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S</a:t>
            </a:r>
          </a:p>
          <a:p>
            <a:pPr marL="352425" indent="-352425">
              <a:buFont typeface="Wingdings" pitchFamily="2" charset="2"/>
              <a:buNone/>
              <a:tabLst>
                <a:tab pos="952500" algn="l"/>
                <a:tab pos="1905000" algn="l"/>
                <a:tab pos="4959350" algn="l"/>
              </a:tabLst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			H：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</a:p>
          <a:p>
            <a:pPr marL="352425" indent="-352425">
              <a:tabLst>
                <a:tab pos="952500" algn="l"/>
                <a:tab pos="1905000" algn="l"/>
                <a:tab pos="4959350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我们要证明：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H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是{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，G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2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，G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3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}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的逻辑结果。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9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9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9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9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507" grpId="0" build="p" autoUpdateAnimBg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Slide Number Placeholder 5">
            <a:extLst>
              <a:ext uri="{FF2B5EF4-FFF2-40B4-BE49-F238E27FC236}">
                <a16:creationId xmlns:a16="http://schemas.microsoft.com/office/drawing/2014/main" id="{C6A53592-9AA9-4149-B36C-1123703C4BC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F42E72E-18D7-2F44-8609-72D3B8782F42}" type="slidenum">
              <a:rPr kumimoji="0" lang="zh-CN" altLang="en-US" sz="1200"/>
              <a:pPr/>
              <a:t>63</a:t>
            </a:fld>
            <a:endParaRPr kumimoji="0" lang="en-US" altLang="zh-CN" sz="1200"/>
          </a:p>
        </p:txBody>
      </p:sp>
      <p:sp>
        <p:nvSpPr>
          <p:cNvPr id="150530" name="Rectangle 2">
            <a:extLst>
              <a:ext uri="{FF2B5EF4-FFF2-40B4-BE49-F238E27FC236}">
                <a16:creationId xmlns:a16="http://schemas.microsoft.com/office/drawing/2014/main" id="{C77F4D15-9453-5D46-A5BF-3010024E3370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07950" y="260350"/>
            <a:ext cx="8839200" cy="6308725"/>
          </a:xfrm>
        </p:spPr>
        <p:txBody>
          <a:bodyPr/>
          <a:lstStyle/>
          <a:p>
            <a:pPr marL="0" indent="0">
              <a:buFont typeface="Wingdings" pitchFamily="2" charset="2"/>
              <a:buNone/>
              <a:tabLst>
                <a:tab pos="952500" algn="l"/>
                <a:tab pos="1905000" algn="l"/>
                <a:tab pos="4959350" algn="l"/>
              </a:tabLst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：(P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(R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S))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</a:p>
          <a:p>
            <a:pPr marL="0" indent="0">
              <a:buFont typeface="Wingdings" pitchFamily="2" charset="2"/>
              <a:buNone/>
              <a:tabLst>
                <a:tab pos="952500" algn="l"/>
                <a:tab pos="1905000" algn="l"/>
                <a:tab pos="4959350" algn="l"/>
              </a:tabLst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2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：P	G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3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S</a:t>
            </a:r>
            <a:endParaRPr kumimoji="0" lang="zh-CN" altLang="en-US" sz="3200">
              <a:solidFill>
                <a:schemeClr val="tx2"/>
              </a:solidFill>
              <a:latin typeface="Arial" panose="020B0604020202020204" pitchFamily="34" charset="0"/>
              <a:ea typeface="楷体_GB2312" pitchFamily="1" charset="-122"/>
            </a:endParaRPr>
          </a:p>
          <a:p>
            <a:pPr marL="0" indent="0">
              <a:buFont typeface="Wingdings" pitchFamily="2" charset="2"/>
              <a:buNone/>
              <a:tabLst>
                <a:tab pos="952500" algn="l"/>
                <a:tab pos="1905000" algn="l"/>
                <a:tab pos="4959350" algn="l"/>
              </a:tabLst>
            </a:pPr>
            <a:r>
              <a:rPr kumimoji="0" lang="zh-CN" altLang="en-US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1.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  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S           	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规则1</a:t>
            </a:r>
          </a:p>
          <a:p>
            <a:pPr marL="0" indent="0">
              <a:buFont typeface="Wingdings" pitchFamily="2" charset="2"/>
              <a:buNone/>
              <a:tabLst>
                <a:tab pos="952500" algn="l"/>
                <a:tab pos="1905000" algn="l"/>
                <a:tab pos="4959350" algn="l"/>
              </a:tabLst>
            </a:pPr>
            <a:r>
              <a:rPr kumimoji="0" lang="zh-CN" altLang="en-US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2.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  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S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          	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规则2，根据1</a:t>
            </a:r>
            <a:endParaRPr kumimoji="0" lang="zh-CN" altLang="en-US" sz="3200">
              <a:solidFill>
                <a:schemeClr val="tx2"/>
              </a:solidFill>
              <a:latin typeface="Arial" panose="020B0604020202020204" pitchFamily="34" charset="0"/>
              <a:ea typeface="楷体_GB2312" pitchFamily="1" charset="-122"/>
            </a:endParaRPr>
          </a:p>
          <a:p>
            <a:pPr marL="0" indent="0">
              <a:buFont typeface="Wingdings" pitchFamily="2" charset="2"/>
              <a:buNone/>
              <a:tabLst>
                <a:tab pos="952500" algn="l"/>
                <a:tab pos="1905000" algn="l"/>
                <a:tab pos="4959350" algn="l"/>
              </a:tabLst>
            </a:pPr>
            <a:r>
              <a:rPr kumimoji="0" lang="zh-CN" altLang="en-US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3.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  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(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S)         	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规则2，根据2</a:t>
            </a:r>
          </a:p>
          <a:p>
            <a:pPr marL="0" indent="0">
              <a:buFont typeface="Wingdings" pitchFamily="2" charset="2"/>
              <a:buNone/>
              <a:tabLst>
                <a:tab pos="952500" algn="l"/>
                <a:tab pos="1905000" algn="l"/>
                <a:tab pos="4959350" algn="l"/>
              </a:tabLst>
            </a:pPr>
            <a:r>
              <a:rPr kumimoji="0" lang="zh-CN" altLang="en-US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4.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 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              	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规则1</a:t>
            </a:r>
          </a:p>
          <a:p>
            <a:pPr marL="0" indent="0">
              <a:buFont typeface="Wingdings" pitchFamily="2" charset="2"/>
              <a:buNone/>
              <a:tabLst>
                <a:tab pos="952500" algn="l"/>
                <a:tab pos="1905000" algn="l"/>
                <a:tab pos="4959350" algn="l"/>
              </a:tabLst>
            </a:pPr>
            <a:r>
              <a:rPr kumimoji="0" lang="zh-CN" altLang="en-US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5.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 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(R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S)    	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规则2，根据3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,4</a:t>
            </a:r>
          </a:p>
          <a:p>
            <a:pPr marL="0" indent="0">
              <a:buFont typeface="Wingdings" pitchFamily="2" charset="2"/>
              <a:buNone/>
              <a:tabLst>
                <a:tab pos="952500" algn="l"/>
                <a:tab pos="1905000" algn="l"/>
                <a:tab pos="4959350" algn="l"/>
              </a:tabLst>
            </a:pPr>
            <a:r>
              <a:rPr kumimoji="0" lang="zh-CN" altLang="en-US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6.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  (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(R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S))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   	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规则1</a:t>
            </a:r>
          </a:p>
          <a:p>
            <a:pPr marL="0" indent="0">
              <a:buFont typeface="Wingdings" pitchFamily="2" charset="2"/>
              <a:buNone/>
              <a:tabLst>
                <a:tab pos="952500" algn="l"/>
                <a:tab pos="1905000" algn="l"/>
                <a:tab pos="4959350" algn="l"/>
              </a:tabLst>
            </a:pPr>
            <a:r>
              <a:rPr kumimoji="0" lang="zh-CN" altLang="en-US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7.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  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                	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规则2，根据5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,6</a:t>
            </a:r>
            <a:endParaRPr kumimoji="0" lang="zh-CN" altLang="en-US" sz="3200">
              <a:latin typeface="Arial" panose="020B0604020202020204" pitchFamily="34" charset="0"/>
              <a:ea typeface="楷体_GB2312" pitchFamily="1" charset="-122"/>
            </a:endParaRPr>
          </a:p>
          <a:p>
            <a:pPr marL="0" indent="0">
              <a:buFont typeface="Wingdings" pitchFamily="2" charset="2"/>
              <a:buNone/>
              <a:tabLst>
                <a:tab pos="952500" algn="l"/>
                <a:tab pos="1905000" algn="l"/>
                <a:tab pos="4959350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亦即，罢工不会停止。  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0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505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0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505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505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505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505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505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505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505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530" grpId="0" uiExpand="1" build="p" autoUpdateAnimBg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Slide Number Placeholder 5">
            <a:extLst>
              <a:ext uri="{FF2B5EF4-FFF2-40B4-BE49-F238E27FC236}">
                <a16:creationId xmlns:a16="http://schemas.microsoft.com/office/drawing/2014/main" id="{49E85F99-F9BC-B444-B503-77EB619F5D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B212489-CCF7-D74B-BB42-6B9F8CB58C08}" type="slidenum">
              <a:rPr kumimoji="0" lang="zh-CN" altLang="en-US" sz="1200"/>
              <a:pPr/>
              <a:t>64</a:t>
            </a:fld>
            <a:endParaRPr kumimoji="0" lang="en-US" altLang="zh-CN" sz="1200"/>
          </a:p>
        </p:txBody>
      </p:sp>
      <p:sp>
        <p:nvSpPr>
          <p:cNvPr id="323586" name="Rectangle 2">
            <a:extLst>
              <a:ext uri="{FF2B5EF4-FFF2-40B4-BE49-F238E27FC236}">
                <a16:creationId xmlns:a16="http://schemas.microsoft.com/office/drawing/2014/main" id="{4121AF1E-3C7E-094E-B9F0-E298F6A51F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8750" y="197768"/>
            <a:ext cx="8985250" cy="1143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习题：演绎的应用</a:t>
            </a:r>
            <a:endParaRPr lang="en-US" altLang="zh-CN" dirty="0">
              <a:latin typeface="Arial" charset="0"/>
              <a:ea typeface="楷体_GB2312" charset="0"/>
              <a:cs typeface="+mj-cs"/>
            </a:endParaRPr>
          </a:p>
        </p:txBody>
      </p:sp>
      <p:sp>
        <p:nvSpPr>
          <p:cNvPr id="110595" name="Rectangle 3">
            <a:extLst>
              <a:ext uri="{FF2B5EF4-FFF2-40B4-BE49-F238E27FC236}">
                <a16:creationId xmlns:a16="http://schemas.microsoft.com/office/drawing/2014/main" id="{E06D1010-DE34-FF4C-AEE9-C4F6CF555549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07950" y="1268413"/>
            <a:ext cx="8712200" cy="5257800"/>
          </a:xfrm>
        </p:spPr>
        <p:txBody>
          <a:bodyPr/>
          <a:lstStyle/>
          <a:p>
            <a:pPr marL="538163" indent="-538163"/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一个公安人员审查一件盗窃案，已知的事实如下：</a:t>
            </a:r>
          </a:p>
          <a:p>
            <a:pPr marL="538163" indent="-538163">
              <a:buFont typeface="Wingdings" pitchFamily="2" charset="2"/>
              <a:buAutoNum type="circleNumDbPlain"/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A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或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B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盗窃了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x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；</a:t>
            </a:r>
          </a:p>
          <a:p>
            <a:pPr marL="538163" indent="-538163">
              <a:buFont typeface="Wingdings" pitchFamily="2" charset="2"/>
              <a:buAutoNum type="circleNumDbPlain"/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若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A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盗窃了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x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，则作案时间不能发生在午夜前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;</a:t>
            </a:r>
          </a:p>
          <a:p>
            <a:pPr marL="538163" indent="-538163">
              <a:buFont typeface="Wingdings" pitchFamily="2" charset="2"/>
              <a:buAutoNum type="circleNumDbPlain"/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若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B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证词正确，则在午夜时屋里灯光未灭；</a:t>
            </a:r>
          </a:p>
          <a:p>
            <a:pPr marL="538163" indent="-538163">
              <a:buFont typeface="Wingdings" pitchFamily="2" charset="2"/>
              <a:buAutoNum type="circleNumDbPlain"/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若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B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证词不正确，则作案时间发生在午夜前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;</a:t>
            </a:r>
          </a:p>
          <a:p>
            <a:pPr marL="538163" indent="-538163">
              <a:buFont typeface="Wingdings" pitchFamily="2" charset="2"/>
              <a:buAutoNum type="circleNumDbPlain"/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午夜时屋里灯光灭了；</a:t>
            </a:r>
          </a:p>
          <a:p>
            <a:pPr marL="538163" indent="-538163">
              <a:buFont typeface="Wingdings" pitchFamily="2" charset="2"/>
              <a:buNone/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	试用演绎法找出盗窃犯。</a:t>
            </a:r>
          </a:p>
        </p:txBody>
      </p:sp>
    </p:spTree>
  </p:cSld>
  <p:clrMapOvr>
    <a:masterClrMapping/>
  </p:clrMapOvr>
  <p:transition>
    <p:blinds dir="vert"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Slide Number Placeholder 5">
            <a:extLst>
              <a:ext uri="{FF2B5EF4-FFF2-40B4-BE49-F238E27FC236}">
                <a16:creationId xmlns:a16="http://schemas.microsoft.com/office/drawing/2014/main" id="{E4E00D5E-51DD-D142-8DDC-B0625D5EF1E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842DD61-A264-B841-9122-771B20A1F746}" type="slidenum">
              <a:rPr kumimoji="0" lang="zh-CN" altLang="en-US" sz="1200"/>
              <a:pPr/>
              <a:t>65</a:t>
            </a:fld>
            <a:endParaRPr kumimoji="0" lang="en-US" altLang="zh-CN" sz="1200"/>
          </a:p>
        </p:txBody>
      </p:sp>
      <p:sp>
        <p:nvSpPr>
          <p:cNvPr id="111618" name="Rectangle 3">
            <a:extLst>
              <a:ext uri="{FF2B5EF4-FFF2-40B4-BE49-F238E27FC236}">
                <a16:creationId xmlns:a16="http://schemas.microsoft.com/office/drawing/2014/main" id="{584A5546-7DE6-3C4B-9E92-319A838EF9AA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87313" y="1125538"/>
            <a:ext cx="8732837" cy="4679950"/>
          </a:xfrm>
        </p:spPr>
        <p:txBody>
          <a:bodyPr/>
          <a:lstStyle/>
          <a:p>
            <a:r>
              <a:rPr kumimoji="0" lang="zh-CN" altLang="en-US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解：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先将已知事实中的各简单命题符号化，设：</a:t>
            </a:r>
          </a:p>
          <a:p>
            <a:pPr>
              <a:buFont typeface="Wingdings" pitchFamily="2" charset="2"/>
              <a:buNone/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	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P: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A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盗窃了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x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；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	Q: B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盗窃了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x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；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	R: 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作案时间发生在午夜前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;</a:t>
            </a:r>
          </a:p>
          <a:p>
            <a:pPr>
              <a:buFont typeface="Wingdings" pitchFamily="2" charset="2"/>
              <a:buNone/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	S: B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证词正确；</a:t>
            </a:r>
          </a:p>
          <a:p>
            <a:pPr>
              <a:buFont typeface="Wingdings" pitchFamily="2" charset="2"/>
              <a:buNone/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	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T: 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在午夜时屋里灯光未灭；</a:t>
            </a:r>
            <a:endParaRPr kumimoji="0" lang="en-US" altLang="zh-CN" sz="3200">
              <a:latin typeface="Arial" panose="020B0604020202020204" pitchFamily="34" charset="0"/>
              <a:ea typeface="楷体_GB2312" pitchFamily="1" charset="-122"/>
              <a:sym typeface="Symbol" pitchFamily="2" charset="2"/>
            </a:endParaRPr>
          </a:p>
        </p:txBody>
      </p:sp>
    </p:spTree>
  </p:cSld>
  <p:clrMapOvr>
    <a:masterClrMapping/>
  </p:clrMapOvr>
  <p:transition>
    <p:blinds dir="vert"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Slide Number Placeholder 5">
            <a:extLst>
              <a:ext uri="{FF2B5EF4-FFF2-40B4-BE49-F238E27FC236}">
                <a16:creationId xmlns:a16="http://schemas.microsoft.com/office/drawing/2014/main" id="{12211116-E06B-BC49-9B9B-F30C07A7BBC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C454531-6E45-8E46-A6C7-31B970A0B268}" type="slidenum">
              <a:rPr kumimoji="0" lang="zh-CN" altLang="en-US" sz="1200"/>
              <a:pPr/>
              <a:t>66</a:t>
            </a:fld>
            <a:endParaRPr kumimoji="0" lang="en-US" altLang="zh-CN" sz="1200"/>
          </a:p>
        </p:txBody>
      </p:sp>
      <p:sp>
        <p:nvSpPr>
          <p:cNvPr id="112642" name="Rectangle 3">
            <a:extLst>
              <a:ext uri="{FF2B5EF4-FFF2-40B4-BE49-F238E27FC236}">
                <a16:creationId xmlns:a16="http://schemas.microsoft.com/office/drawing/2014/main" id="{043F9D2D-125E-9641-AC31-B9744E8B6394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07950" y="765175"/>
            <a:ext cx="8712200" cy="5400675"/>
          </a:xfrm>
        </p:spPr>
        <p:txBody>
          <a:bodyPr/>
          <a:lstStyle/>
          <a:p>
            <a:pPr marL="609600" indent="-609600"/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则各个前提为：</a:t>
            </a:r>
          </a:p>
          <a:p>
            <a:pPr marL="609600" indent="-609600">
              <a:buFont typeface="Wingdings" pitchFamily="2" charset="2"/>
              <a:buAutoNum type="circleNumDbPlain"/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A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或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B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盗窃了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x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；</a:t>
            </a:r>
            <a:r>
              <a:rPr kumimoji="0" lang="en-US" altLang="zh-CN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PQ</a:t>
            </a:r>
          </a:p>
          <a:p>
            <a:pPr marL="609600" indent="-609600">
              <a:buFont typeface="Wingdings" pitchFamily="2" charset="2"/>
              <a:buAutoNum type="circleNumDbPlain"/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若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A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盗窃了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x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，则作案时间不能发生在午夜前；</a:t>
            </a:r>
            <a:r>
              <a:rPr kumimoji="0" lang="en-US" altLang="zh-CN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PR</a:t>
            </a:r>
          </a:p>
          <a:p>
            <a:pPr marL="609600" indent="-609600">
              <a:buFont typeface="Wingdings" pitchFamily="2" charset="2"/>
              <a:buAutoNum type="circleNumDbPlain"/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若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B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证词正确，则在午夜时屋里灯光未灭；</a:t>
            </a:r>
            <a:r>
              <a:rPr kumimoji="0" lang="en-US" altLang="zh-CN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ST</a:t>
            </a:r>
          </a:p>
          <a:p>
            <a:pPr marL="609600" indent="-609600">
              <a:buFont typeface="Wingdings" pitchFamily="2" charset="2"/>
              <a:buAutoNum type="circleNumDbPlain"/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若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B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证词不正确，则作案时间发生在午夜前；</a:t>
            </a:r>
            <a:r>
              <a:rPr kumimoji="0" lang="en-US" altLang="zh-CN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SR</a:t>
            </a:r>
          </a:p>
          <a:p>
            <a:pPr marL="609600" indent="-609600">
              <a:buFont typeface="Wingdings" pitchFamily="2" charset="2"/>
              <a:buAutoNum type="circleNumDbPlain"/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午夜时屋里灯光灭了；</a:t>
            </a:r>
            <a:r>
              <a:rPr kumimoji="0" lang="zh-CN" altLang="en-US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 </a:t>
            </a:r>
            <a:r>
              <a:rPr kumimoji="0" lang="en-US" altLang="zh-CN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T</a:t>
            </a:r>
          </a:p>
        </p:txBody>
      </p:sp>
    </p:spTree>
  </p:cSld>
  <p:clrMapOvr>
    <a:masterClrMapping/>
  </p:clrMapOvr>
  <p:transition>
    <p:blinds dir="vert"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Slide Number Placeholder 5">
            <a:extLst>
              <a:ext uri="{FF2B5EF4-FFF2-40B4-BE49-F238E27FC236}">
                <a16:creationId xmlns:a16="http://schemas.microsoft.com/office/drawing/2014/main" id="{1674A912-F292-334A-B716-1CEA87D10F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C8FC011-1F04-934D-A57C-F7FAE96C2F14}" type="slidenum">
              <a:rPr kumimoji="0" lang="zh-CN" altLang="en-US" sz="1200"/>
              <a:pPr/>
              <a:t>67</a:t>
            </a:fld>
            <a:endParaRPr kumimoji="0" lang="en-US" altLang="zh-CN" sz="1200"/>
          </a:p>
        </p:txBody>
      </p:sp>
      <p:sp>
        <p:nvSpPr>
          <p:cNvPr id="113666" name="Rectangle 3">
            <a:extLst>
              <a:ext uri="{FF2B5EF4-FFF2-40B4-BE49-F238E27FC236}">
                <a16:creationId xmlns:a16="http://schemas.microsoft.com/office/drawing/2014/main" id="{FAC3FF33-5300-A14C-A591-C2AD238BE924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374650" y="361950"/>
            <a:ext cx="8229600" cy="6091238"/>
          </a:xfrm>
        </p:spPr>
        <p:txBody>
          <a:bodyPr/>
          <a:lstStyle/>
          <a:p>
            <a:pPr marL="609600" indent="-609600"/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PQ, PR, ST, SR, T</a:t>
            </a:r>
          </a:p>
          <a:p>
            <a:pPr marL="609600" indent="-609600">
              <a:buFont typeface="Wingdings" pitchFamily="2" charset="2"/>
              <a:buAutoNum type="arabicPeriod"/>
            </a:pP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T				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规则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1</a:t>
            </a:r>
          </a:p>
          <a:p>
            <a:pPr marL="609600" indent="-609600">
              <a:buFont typeface="Wingdings" pitchFamily="2" charset="2"/>
              <a:buAutoNum type="arabicPeriod"/>
            </a:pP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ST				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规则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1</a:t>
            </a:r>
          </a:p>
          <a:p>
            <a:pPr marL="609600" indent="-609600">
              <a:buFont typeface="Wingdings" pitchFamily="2" charset="2"/>
              <a:buAutoNum type="arabicPeriod"/>
            </a:pP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S				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规则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2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，根据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1,2</a:t>
            </a:r>
          </a:p>
          <a:p>
            <a:pPr marL="609600" indent="-609600">
              <a:buFont typeface="Wingdings" pitchFamily="2" charset="2"/>
              <a:buAutoNum type="arabicPeriod"/>
            </a:pP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SR				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规则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1</a:t>
            </a:r>
          </a:p>
          <a:p>
            <a:pPr marL="609600" indent="-609600">
              <a:buFont typeface="Wingdings" pitchFamily="2" charset="2"/>
              <a:buAutoNum type="arabicPeriod"/>
            </a:pP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R					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规则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2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，根据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3,4</a:t>
            </a:r>
          </a:p>
          <a:p>
            <a:pPr marL="609600" indent="-609600">
              <a:buFont typeface="Wingdings" pitchFamily="2" charset="2"/>
              <a:buAutoNum type="arabicPeriod"/>
            </a:pP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PR				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规则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1</a:t>
            </a:r>
          </a:p>
          <a:p>
            <a:pPr marL="609600" indent="-609600">
              <a:buFont typeface="Wingdings" pitchFamily="2" charset="2"/>
              <a:buAutoNum type="arabicPeriod"/>
            </a:pP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P				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规则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2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，根据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5,6</a:t>
            </a:r>
          </a:p>
          <a:p>
            <a:pPr marL="609600" indent="-609600">
              <a:buFont typeface="Wingdings" pitchFamily="2" charset="2"/>
              <a:buAutoNum type="arabicPeriod"/>
            </a:pP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PQ				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规则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1</a:t>
            </a:r>
          </a:p>
          <a:p>
            <a:pPr marL="609600" indent="-609600">
              <a:buFont typeface="Wingdings" pitchFamily="2" charset="2"/>
              <a:buAutoNum type="arabicPeriod"/>
            </a:pP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Q					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规则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2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，根据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7,8</a:t>
            </a:r>
          </a:p>
          <a:p>
            <a:pPr marL="609600" indent="-609600"/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因此，是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B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盗窃了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x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。</a:t>
            </a:r>
          </a:p>
        </p:txBody>
      </p:sp>
    </p:spTree>
  </p:cSld>
  <p:clrMapOvr>
    <a:masterClrMapping/>
  </p:clrMapOvr>
  <p:transition>
    <p:blinds dir="vert"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Slide Number Placeholder 5">
            <a:extLst>
              <a:ext uri="{FF2B5EF4-FFF2-40B4-BE49-F238E27FC236}">
                <a16:creationId xmlns:a16="http://schemas.microsoft.com/office/drawing/2014/main" id="{B13452DA-E03F-3845-B175-3F8173FA9FF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A4F8AA7-A868-9E40-9088-99FD5117F9FC}" type="slidenum">
              <a:rPr kumimoji="0" lang="zh-CN" altLang="en-US" sz="1200"/>
              <a:pPr/>
              <a:t>68</a:t>
            </a:fld>
            <a:endParaRPr kumimoji="0" lang="en-US" altLang="zh-CN" sz="1200"/>
          </a:p>
        </p:txBody>
      </p:sp>
      <p:sp>
        <p:nvSpPr>
          <p:cNvPr id="324610" name="Rectangle 2">
            <a:extLst>
              <a:ext uri="{FF2B5EF4-FFF2-40B4-BE49-F238E27FC236}">
                <a16:creationId xmlns:a16="http://schemas.microsoft.com/office/drawing/2014/main" id="{FC2876CC-C46B-1545-9D42-0F7D8C89CA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512" y="188640"/>
            <a:ext cx="6512511" cy="1143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ea typeface="+mj-ea"/>
                <a:cs typeface="+mj-cs"/>
              </a:rPr>
              <a:t>习题</a:t>
            </a:r>
            <a:endParaRPr lang="en-US" altLang="zh-CN" dirty="0">
              <a:ea typeface="+mj-ea"/>
              <a:cs typeface="+mj-cs"/>
            </a:endParaRPr>
          </a:p>
        </p:txBody>
      </p:sp>
      <p:sp>
        <p:nvSpPr>
          <p:cNvPr id="114691" name="Rectangle 3">
            <a:extLst>
              <a:ext uri="{FF2B5EF4-FFF2-40B4-BE49-F238E27FC236}">
                <a16:creationId xmlns:a16="http://schemas.microsoft.com/office/drawing/2014/main" id="{0BC4D777-6AB0-C34B-8F7E-883DD83D7CBD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58750" y="1600200"/>
            <a:ext cx="8229600" cy="965200"/>
          </a:xfrm>
        </p:spPr>
        <p:txBody>
          <a:bodyPr/>
          <a:lstStyle/>
          <a:p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证明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{P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Q, PR, QS}</a:t>
            </a:r>
            <a:r>
              <a:rPr kumimoji="0" lang="en-US" altLang="zh-CN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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SR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。</a:t>
            </a:r>
            <a:endParaRPr kumimoji="0" lang="zh-CN" altLang="en-US" sz="3200">
              <a:latin typeface="Arial" panose="020B0604020202020204" pitchFamily="34" charset="0"/>
              <a:ea typeface="楷体_GB2312" pitchFamily="1" charset="-122"/>
            </a:endParaRPr>
          </a:p>
        </p:txBody>
      </p:sp>
    </p:spTree>
  </p:cSld>
  <p:clrMapOvr>
    <a:masterClrMapping/>
  </p:clrMapOvr>
  <p:transition>
    <p:blinds dir="vert"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7" name="Rectangle 46">
            <a:extLst>
              <a:ext uri="{FF2B5EF4-FFF2-40B4-BE49-F238E27FC236}">
                <a16:creationId xmlns:a16="http://schemas.microsoft.com/office/drawing/2014/main" id="{9D03B9F7-14E7-E148-A946-63489C13FA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E13B6EF-4AE2-F540-AFFF-89704736F249}" type="slidenum">
              <a:rPr kumimoji="0" lang="zh-CN" altLang="en-US" sz="1200"/>
              <a:pPr/>
              <a:t>69</a:t>
            </a:fld>
            <a:endParaRPr kumimoji="0" lang="en-US" altLang="zh-CN" sz="1200"/>
          </a:p>
        </p:txBody>
      </p:sp>
      <p:sp>
        <p:nvSpPr>
          <p:cNvPr id="151554" name="Rectangle 2">
            <a:extLst>
              <a:ext uri="{FF2B5EF4-FFF2-40B4-BE49-F238E27FC236}">
                <a16:creationId xmlns:a16="http://schemas.microsoft.com/office/drawing/2014/main" id="{1F6C18A0-A04F-F643-8DD2-5FC664F1C4B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979613" y="2244725"/>
            <a:ext cx="4800600" cy="1905000"/>
          </a:xfrm>
        </p:spPr>
        <p:txBody>
          <a:bodyPr/>
          <a:lstStyle/>
          <a:p>
            <a:pPr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>
                <a:latin typeface="宋体" charset="0"/>
                <a:ea typeface="楷体_GB2312" charset="0"/>
                <a:cs typeface="+mj-cs"/>
              </a:rPr>
              <a:t>§</a:t>
            </a:r>
            <a:r>
              <a:rPr lang="en-US" altLang="zh-CN">
                <a:latin typeface="Arial" charset="0"/>
                <a:ea typeface="楷体_GB2312" charset="0"/>
                <a:cs typeface="+mj-cs"/>
              </a:rPr>
              <a:t>3.1.1</a:t>
            </a:r>
            <a:r>
              <a:rPr lang="zh-CN" altLang="en-US">
                <a:latin typeface="Arial" charset="0"/>
                <a:ea typeface="楷体_GB2312" charset="0"/>
                <a:cs typeface="+mj-cs"/>
              </a:rPr>
              <a:t>  </a:t>
            </a:r>
            <a:r>
              <a:rPr lang="zh-CN" altLang="en-US">
                <a:latin typeface="宋体" charset="0"/>
                <a:ea typeface="楷体_GB2312" charset="0"/>
                <a:cs typeface="+mj-cs"/>
              </a:rPr>
              <a:t>范式</a:t>
            </a:r>
            <a:r>
              <a:rPr lang="zh-CN" altLang="en-US">
                <a:latin typeface="Arial" charset="0"/>
                <a:ea typeface="楷体_GB2312" charset="0"/>
                <a:cs typeface="+mj-cs"/>
              </a:rPr>
              <a:t> </a:t>
            </a:r>
          </a:p>
        </p:txBody>
      </p:sp>
    </p:spTree>
  </p:cSld>
  <p:clrMapOvr>
    <a:masterClrMapping/>
  </p:clrMapOvr>
  <p:transition>
    <p:blinds dir="vert"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5" name="Slide Number Placeholder 5">
            <a:extLst>
              <a:ext uri="{FF2B5EF4-FFF2-40B4-BE49-F238E27FC236}">
                <a16:creationId xmlns:a16="http://schemas.microsoft.com/office/drawing/2014/main" id="{D4EC95D6-FD48-1440-BDE5-28E1B6C8D9F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5B9092B-0EFF-8D4C-B89A-832BA4118C30}" type="slidenum">
              <a:rPr kumimoji="0" lang="zh-CN" altLang="en-US" sz="1200"/>
              <a:pPr/>
              <a:t>70</a:t>
            </a:fld>
            <a:endParaRPr kumimoji="0" lang="en-US" altLang="zh-CN" sz="1200"/>
          </a:p>
        </p:txBody>
      </p:sp>
      <p:sp>
        <p:nvSpPr>
          <p:cNvPr id="152578" name="Rectangle 2">
            <a:extLst>
              <a:ext uri="{FF2B5EF4-FFF2-40B4-BE49-F238E27FC236}">
                <a16:creationId xmlns:a16="http://schemas.microsoft.com/office/drawing/2014/main" id="{0B923D88-2CE8-8B4F-975E-A2D8231C2F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913" y="320675"/>
            <a:ext cx="8974137" cy="823913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析取范式和合取范式 </a:t>
            </a:r>
          </a:p>
        </p:txBody>
      </p:sp>
      <p:sp>
        <p:nvSpPr>
          <p:cNvPr id="152579" name="Rectangle 3">
            <a:extLst>
              <a:ext uri="{FF2B5EF4-FFF2-40B4-BE49-F238E27FC236}">
                <a16:creationId xmlns:a16="http://schemas.microsoft.com/office/drawing/2014/main" id="{35FC2574-EA8A-CC4F-BC45-86F69D4848C8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07950" y="1352550"/>
            <a:ext cx="8785225" cy="5029200"/>
          </a:xfrm>
        </p:spPr>
        <p:txBody>
          <a:bodyPr/>
          <a:lstStyle/>
          <a:p>
            <a:pPr marL="352425" indent="-352425" algn="just">
              <a:lnSpc>
                <a:spcPct val="90000"/>
              </a:lnSpc>
              <a:tabLst>
                <a:tab pos="952500" algn="l"/>
                <a:tab pos="1995488" algn="l"/>
              </a:tabLst>
            </a:pPr>
            <a:r>
              <a:rPr kumimoji="0" lang="zh-CN" altLang="en-US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定义</a:t>
            </a:r>
            <a:r>
              <a:rPr kumimoji="0" lang="en-US" altLang="zh-CN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3</a:t>
            </a:r>
            <a:r>
              <a:rPr kumimoji="0" lang="zh-CN" altLang="en-US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.</a:t>
            </a:r>
            <a:r>
              <a:rPr kumimoji="0" lang="en-US" altLang="zh-CN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zh-CN" altLang="en-US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.1</a:t>
            </a:r>
            <a:r>
              <a:rPr kumimoji="0" lang="en-US" altLang="zh-CN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8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  原子或原子的否定称为</a:t>
            </a:r>
            <a:r>
              <a:rPr kumimoji="0" lang="zh-CN" altLang="en-US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文字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。</a:t>
            </a:r>
            <a:b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zh-CN" altLang="en-US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例如</a:t>
            </a:r>
            <a:r>
              <a:rPr kumimoji="0" lang="en-US" altLang="zh-CN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: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 P，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是文字。</a:t>
            </a:r>
          </a:p>
          <a:p>
            <a:pPr marL="352425" indent="-352425">
              <a:lnSpc>
                <a:spcPct val="90000"/>
              </a:lnSpc>
              <a:tabLst>
                <a:tab pos="952500" algn="l"/>
                <a:tab pos="1995488" algn="l"/>
              </a:tabLst>
            </a:pPr>
            <a:r>
              <a:rPr kumimoji="0" lang="zh-CN" altLang="en-US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定义</a:t>
            </a:r>
            <a:r>
              <a:rPr kumimoji="0" lang="en-US" altLang="zh-CN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3</a:t>
            </a:r>
            <a:r>
              <a:rPr kumimoji="0" lang="zh-CN" altLang="en-US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.</a:t>
            </a:r>
            <a:r>
              <a:rPr kumimoji="0" lang="en-US" altLang="zh-CN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zh-CN" altLang="en-US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.</a:t>
            </a:r>
            <a:r>
              <a:rPr kumimoji="0" lang="en-US" altLang="zh-CN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19</a:t>
            </a:r>
            <a:r>
              <a:rPr kumimoji="0" lang="zh-CN" altLang="en-US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  </a:t>
            </a:r>
            <a:b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有限个文字的析取式称为一个</a:t>
            </a:r>
            <a:r>
              <a:rPr kumimoji="0" lang="zh-CN" altLang="en-US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子句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； </a:t>
            </a:r>
            <a:b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有限个文字的合取式称为一个</a:t>
            </a:r>
            <a:r>
              <a:rPr kumimoji="0" lang="zh-CN" altLang="en-US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短语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。 </a:t>
            </a:r>
          </a:p>
          <a:p>
            <a:pPr marL="352425" indent="-352425">
              <a:lnSpc>
                <a:spcPct val="90000"/>
              </a:lnSpc>
              <a:tabLst>
                <a:tab pos="952500" algn="l"/>
                <a:tab pos="1995488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特别地，一个文字既可称为是一个子句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,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也可称为是一个短语。</a:t>
            </a:r>
          </a:p>
          <a:p>
            <a:pPr marL="352425" indent="-352425">
              <a:lnSpc>
                <a:spcPct val="90000"/>
              </a:lnSpc>
              <a:buFont typeface="Wingdings" pitchFamily="2" charset="2"/>
              <a:buChar char="v"/>
              <a:tabLst>
                <a:tab pos="952500" algn="l"/>
                <a:tab pos="1995488" algn="l"/>
              </a:tabLst>
            </a:pPr>
            <a:r>
              <a:rPr kumimoji="0" lang="zh-CN" altLang="en-US" sz="3200">
                <a:solidFill>
                  <a:srgbClr val="4E67C8"/>
                </a:solidFill>
                <a:latin typeface="宋体" panose="02010600030101010101" pitchFamily="2" charset="-122"/>
                <a:ea typeface="楷体_GB2312" pitchFamily="1" charset="-122"/>
              </a:rPr>
              <a:t>例如</a:t>
            </a:r>
            <a:r>
              <a:rPr kumimoji="0" lang="en-US" altLang="zh-CN" sz="3200">
                <a:solidFill>
                  <a:srgbClr val="4E67C8"/>
                </a:solidFill>
                <a:latin typeface="宋体" panose="02010600030101010101" pitchFamily="2" charset="-122"/>
                <a:ea typeface="楷体_GB2312" pitchFamily="1" charset="-122"/>
              </a:rPr>
              <a:t>:</a:t>
            </a:r>
            <a:r>
              <a:rPr kumimoji="0" lang="en-US" altLang="zh-CN" sz="3200">
                <a:solidFill>
                  <a:srgbClr val="FFFF00"/>
                </a:solidFill>
                <a:latin typeface="宋体" panose="02010600030101010101" pitchFamily="2" charset="-122"/>
                <a:ea typeface="楷体_GB2312" pitchFamily="1" charset="-122"/>
              </a:rPr>
              <a:t>	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1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1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是子句，</a:t>
            </a:r>
            <a:b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</a:b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		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1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1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是短语。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 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2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2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2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2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52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52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2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2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579" grpId="0" build="p" autoUpdateAnimBg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3" name="Slide Number Placeholder 5">
            <a:extLst>
              <a:ext uri="{FF2B5EF4-FFF2-40B4-BE49-F238E27FC236}">
                <a16:creationId xmlns:a16="http://schemas.microsoft.com/office/drawing/2014/main" id="{11B0BF5E-4689-0541-9901-5EA1940C101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801177D-989A-A54D-B1E0-79A2C55B7A4D}" type="slidenum">
              <a:rPr kumimoji="0" lang="zh-CN" altLang="en-US" sz="1200"/>
              <a:pPr/>
              <a:t>71</a:t>
            </a:fld>
            <a:endParaRPr kumimoji="0" lang="en-US" altLang="zh-CN" sz="1200"/>
          </a:p>
        </p:txBody>
      </p:sp>
      <p:sp>
        <p:nvSpPr>
          <p:cNvPr id="154626" name="Rectangle 2">
            <a:extLst>
              <a:ext uri="{FF2B5EF4-FFF2-40B4-BE49-F238E27FC236}">
                <a16:creationId xmlns:a16="http://schemas.microsoft.com/office/drawing/2014/main" id="{EFC86896-1C35-6D48-8C55-877030C559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20675"/>
            <a:ext cx="9144000" cy="823913"/>
          </a:xfrm>
        </p:spPr>
        <p:txBody>
          <a:bodyPr/>
          <a:lstStyle/>
          <a:p>
            <a:pPr marL="320040" indent="-320040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sz="4800" dirty="0">
                <a:latin typeface="Arial" charset="0"/>
                <a:ea typeface="楷体_GB2312" charset="0"/>
                <a:cs typeface="+mj-cs"/>
              </a:rPr>
              <a:t>定义</a:t>
            </a:r>
            <a:r>
              <a:rPr lang="en-US" altLang="zh-CN" sz="4800" dirty="0">
                <a:latin typeface="Arial" charset="0"/>
                <a:ea typeface="楷体_GB2312" charset="0"/>
                <a:cs typeface="+mj-cs"/>
              </a:rPr>
              <a:t>3</a:t>
            </a:r>
            <a:r>
              <a:rPr lang="zh-CN" altLang="en-US" sz="4800" dirty="0">
                <a:latin typeface="Arial" charset="0"/>
                <a:ea typeface="楷体_GB2312" charset="0"/>
                <a:cs typeface="+mj-cs"/>
              </a:rPr>
              <a:t>.</a:t>
            </a:r>
            <a:r>
              <a:rPr lang="en-US" altLang="zh-CN" sz="4800" dirty="0">
                <a:latin typeface="Arial" charset="0"/>
                <a:ea typeface="楷体_GB2312" charset="0"/>
                <a:cs typeface="+mj-cs"/>
              </a:rPr>
              <a:t>1</a:t>
            </a:r>
            <a:r>
              <a:rPr lang="zh-CN" altLang="en-US" sz="4800" dirty="0">
                <a:latin typeface="Arial" charset="0"/>
                <a:ea typeface="楷体_GB2312" charset="0"/>
                <a:cs typeface="+mj-cs"/>
              </a:rPr>
              <a:t>.</a:t>
            </a:r>
            <a:r>
              <a:rPr lang="en-US" altLang="zh-CN" sz="4800" dirty="0">
                <a:latin typeface="Arial" charset="0"/>
                <a:ea typeface="楷体_GB2312" charset="0"/>
                <a:cs typeface="+mj-cs"/>
              </a:rPr>
              <a:t>20</a:t>
            </a:r>
            <a:r>
              <a:rPr lang="zh-CN" altLang="en-US" sz="4800" dirty="0">
                <a:latin typeface="Arial" charset="0"/>
                <a:ea typeface="楷体_GB2312" charset="0"/>
                <a:cs typeface="+mj-cs"/>
              </a:rPr>
              <a:t> 析取范式、合取范式</a:t>
            </a:r>
          </a:p>
        </p:txBody>
      </p:sp>
      <p:sp>
        <p:nvSpPr>
          <p:cNvPr id="154627" name="Rectangle 3">
            <a:extLst>
              <a:ext uri="{FF2B5EF4-FFF2-40B4-BE49-F238E27FC236}">
                <a16:creationId xmlns:a16="http://schemas.microsoft.com/office/drawing/2014/main" id="{981211FF-650E-5247-901F-C45561090E09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79388" y="1566863"/>
            <a:ext cx="8640762" cy="4598987"/>
          </a:xfrm>
        </p:spPr>
        <p:txBody>
          <a:bodyPr/>
          <a:lstStyle/>
          <a:p>
            <a:pPr marL="352425" indent="-352425">
              <a:lnSpc>
                <a:spcPct val="90000"/>
              </a:lnSpc>
              <a:tabLst>
                <a:tab pos="377825" algn="l"/>
                <a:tab pos="1995488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有限个短语的析取式称为</a:t>
            </a:r>
            <a:r>
              <a:rPr kumimoji="0" lang="zh-CN" altLang="en-US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析取范式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；</a:t>
            </a:r>
            <a:b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有限个子句的合取式称为</a:t>
            </a:r>
            <a:r>
              <a:rPr kumimoji="0" lang="zh-CN" altLang="en-US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合取范式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。</a:t>
            </a:r>
          </a:p>
          <a:p>
            <a:pPr marL="352425" indent="-352425">
              <a:lnSpc>
                <a:spcPct val="90000"/>
              </a:lnSpc>
              <a:tabLst>
                <a:tab pos="377825" algn="l"/>
                <a:tab pos="1995488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特别地，一个</a:t>
            </a:r>
            <a:r>
              <a:rPr kumimoji="0" lang="zh-CN" altLang="en-US" sz="3200" u="sng">
                <a:latin typeface="Arial" panose="020B0604020202020204" pitchFamily="34" charset="0"/>
                <a:ea typeface="楷体_GB2312" pitchFamily="1" charset="-122"/>
              </a:rPr>
              <a:t>文字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既可称为是一个合取范式，也可称为是一个析取范式。一个</a:t>
            </a:r>
            <a:r>
              <a:rPr kumimoji="0" lang="zh-CN" altLang="en-US" sz="3200" u="sng">
                <a:latin typeface="Arial" panose="020B0604020202020204" pitchFamily="34" charset="0"/>
                <a:ea typeface="楷体_GB2312" pitchFamily="1" charset="-122"/>
              </a:rPr>
              <a:t>子句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，一个</a:t>
            </a:r>
            <a:r>
              <a:rPr kumimoji="0" lang="zh-CN" altLang="en-US" sz="3200" u="sng">
                <a:latin typeface="Arial" panose="020B0604020202020204" pitchFamily="34" charset="0"/>
                <a:ea typeface="楷体_GB2312" pitchFamily="1" charset="-122"/>
              </a:rPr>
              <a:t>短语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既可看做是合取范式，也可看做是析取范式。</a:t>
            </a:r>
          </a:p>
          <a:p>
            <a:pPr marL="352425" indent="-352425">
              <a:lnSpc>
                <a:spcPct val="90000"/>
              </a:lnSpc>
              <a:buFont typeface="Wingdings" pitchFamily="2" charset="2"/>
              <a:buChar char="v"/>
              <a:tabLst>
                <a:tab pos="377825" algn="l"/>
                <a:tab pos="1995488" algn="l"/>
              </a:tabLst>
            </a:pPr>
            <a:r>
              <a:rPr kumimoji="0" lang="zh-CN" altLang="en-US" sz="3200">
                <a:solidFill>
                  <a:srgbClr val="4E67C8"/>
                </a:solidFill>
                <a:latin typeface="宋体" panose="02010600030101010101" pitchFamily="2" charset="-122"/>
                <a:ea typeface="楷体_GB2312" pitchFamily="1" charset="-122"/>
              </a:rPr>
              <a:t>例如：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1" charset="-122"/>
              </a:rPr>
              <a:t>，</a:t>
            </a:r>
            <a:r>
              <a:rPr kumimoji="0" lang="en-US" altLang="zh-CN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1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1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Q)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是析取范式。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 </a:t>
            </a:r>
            <a:b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1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1" charset="-122"/>
              </a:rPr>
              <a:t>，</a:t>
            </a:r>
            <a:r>
              <a:rPr kumimoji="0" lang="en-US" altLang="zh-CN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1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R)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是合取范式。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 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4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4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4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4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1" name="Slide Number Placeholder 5">
            <a:extLst>
              <a:ext uri="{FF2B5EF4-FFF2-40B4-BE49-F238E27FC236}">
                <a16:creationId xmlns:a16="http://schemas.microsoft.com/office/drawing/2014/main" id="{22E7E1E3-6E45-834C-9B7E-568E0078472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1676E2C-D70D-3243-BC16-9160F50594DA}" type="slidenum">
              <a:rPr kumimoji="0" lang="zh-CN" altLang="en-US" sz="1200"/>
              <a:pPr/>
              <a:t>72</a:t>
            </a:fld>
            <a:endParaRPr kumimoji="0" lang="en-US" altLang="zh-CN" sz="1200"/>
          </a:p>
        </p:txBody>
      </p:sp>
      <p:sp>
        <p:nvSpPr>
          <p:cNvPr id="156674" name="Rectangle 2">
            <a:extLst>
              <a:ext uri="{FF2B5EF4-FFF2-40B4-BE49-F238E27FC236}">
                <a16:creationId xmlns:a16="http://schemas.microsoft.com/office/drawing/2014/main" id="{C4EF8F53-4EA1-F149-AC4E-CC6A35AC3F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9863" y="157163"/>
            <a:ext cx="8370887" cy="823912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宋体" charset="0"/>
                <a:ea typeface="楷体_GB2312" charset="0"/>
                <a:cs typeface="+mj-cs"/>
              </a:rPr>
              <a:t>定理</a:t>
            </a: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3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.</a:t>
            </a: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1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.</a:t>
            </a: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4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 </a:t>
            </a:r>
          </a:p>
        </p:txBody>
      </p:sp>
      <p:sp>
        <p:nvSpPr>
          <p:cNvPr id="156675" name="Rectangle 3">
            <a:extLst>
              <a:ext uri="{FF2B5EF4-FFF2-40B4-BE49-F238E27FC236}">
                <a16:creationId xmlns:a16="http://schemas.microsoft.com/office/drawing/2014/main" id="{BF3F9113-22E2-C544-AFD5-47BD62C6397A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53975" y="1352550"/>
            <a:ext cx="8766175" cy="5029200"/>
          </a:xfrm>
        </p:spPr>
        <p:txBody>
          <a:bodyPr/>
          <a:lstStyle/>
          <a:p>
            <a:pPr marL="352425" indent="-352425">
              <a:lnSpc>
                <a:spcPct val="90000"/>
              </a:lnSpc>
              <a:tabLst>
                <a:tab pos="1239838" algn="l"/>
                <a:tab pos="1995488" algn="l"/>
              </a:tabLst>
            </a:pP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对于任意命题公式，都存在等价于它的析取范式和合取范式。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 </a:t>
            </a:r>
          </a:p>
          <a:p>
            <a:pPr marL="352425" indent="-352425" algn="just">
              <a:lnSpc>
                <a:spcPct val="90000"/>
              </a:lnSpc>
              <a:tabLst>
                <a:tab pos="1239838" algn="l"/>
                <a:tab pos="1995488" algn="l"/>
              </a:tabLst>
            </a:pPr>
            <a:r>
              <a:rPr kumimoji="0" lang="zh-CN" altLang="en-US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证明：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对于公式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G，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通过如下算法即可得出等价于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的范式：</a:t>
            </a:r>
          </a:p>
          <a:p>
            <a:pPr marL="352425" indent="-352425" algn="just">
              <a:lnSpc>
                <a:spcPct val="90000"/>
              </a:lnSpc>
              <a:buFont typeface="Wingdings" pitchFamily="2" charset="2"/>
              <a:buNone/>
              <a:tabLst>
                <a:tab pos="1239838" algn="l"/>
                <a:tab pos="1995488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	步1. 使用基本等价式，将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中的逻辑联结词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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删除。</a:t>
            </a:r>
          </a:p>
          <a:p>
            <a:pPr marL="352425" indent="-352425" algn="just">
              <a:lnSpc>
                <a:spcPct val="90000"/>
              </a:lnSpc>
              <a:buFont typeface="Wingdings" pitchFamily="2" charset="2"/>
              <a:buNone/>
              <a:tabLst>
                <a:tab pos="1239838" algn="l"/>
                <a:tab pos="1995488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	步2. 使用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(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H)=H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和摩根律，将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中所有的否定号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都放在原子之前。</a:t>
            </a:r>
          </a:p>
          <a:p>
            <a:pPr marL="352425" indent="-352425">
              <a:lnSpc>
                <a:spcPct val="90000"/>
              </a:lnSpc>
              <a:buFont typeface="Wingdings" pitchFamily="2" charset="2"/>
              <a:buNone/>
              <a:tabLst>
                <a:tab pos="1239838" algn="l"/>
                <a:tab pos="1995488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 	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步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3. 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反复使用分配律，即可得到等价于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的范式。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 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6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6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6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6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675" grpId="0" build="p" autoUpdateAnimBg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29" name="Slide Number Placeholder 5">
            <a:extLst>
              <a:ext uri="{FF2B5EF4-FFF2-40B4-BE49-F238E27FC236}">
                <a16:creationId xmlns:a16="http://schemas.microsoft.com/office/drawing/2014/main" id="{FB7E7F55-8216-CA4C-B19A-F4B42D85CE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B94732A-338B-A44E-A83C-A71510085EE1}" type="slidenum">
              <a:rPr kumimoji="0" lang="zh-CN" altLang="en-US" sz="1200"/>
              <a:pPr/>
              <a:t>73</a:t>
            </a:fld>
            <a:endParaRPr kumimoji="0" lang="en-US" altLang="zh-CN" sz="1200"/>
          </a:p>
        </p:txBody>
      </p:sp>
      <p:sp>
        <p:nvSpPr>
          <p:cNvPr id="158722" name="Rectangle 2">
            <a:extLst>
              <a:ext uri="{FF2B5EF4-FFF2-40B4-BE49-F238E27FC236}">
                <a16:creationId xmlns:a16="http://schemas.microsoft.com/office/drawing/2014/main" id="{A92FF7D1-93AB-654B-A385-F6B6886CAB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9863" y="157163"/>
            <a:ext cx="8370887" cy="823912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宋体" charset="0"/>
                <a:ea typeface="楷体_GB2312" charset="0"/>
                <a:cs typeface="+mj-cs"/>
              </a:rPr>
              <a:t>例：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 </a:t>
            </a:r>
          </a:p>
        </p:txBody>
      </p:sp>
      <p:sp>
        <p:nvSpPr>
          <p:cNvPr id="158723" name="Rectangle 3">
            <a:extLst>
              <a:ext uri="{FF2B5EF4-FFF2-40B4-BE49-F238E27FC236}">
                <a16:creationId xmlns:a16="http://schemas.microsoft.com/office/drawing/2014/main" id="{3CA17B97-488E-CF48-9006-A923EA445C52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07950" y="981075"/>
            <a:ext cx="8839200" cy="5327650"/>
          </a:xfrm>
        </p:spPr>
        <p:txBody>
          <a:bodyPr/>
          <a:lstStyle/>
          <a:p>
            <a:pPr marL="0" indent="0" algn="just">
              <a:spcBef>
                <a:spcPct val="10000"/>
              </a:spcBef>
              <a:tabLst>
                <a:tab pos="862013" algn="l"/>
                <a:tab pos="6954838" algn="l"/>
              </a:tabLst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	= (P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(Q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R))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S</a:t>
            </a:r>
          </a:p>
          <a:p>
            <a:pPr marL="0" indent="0" algn="just">
              <a:spcBef>
                <a:spcPct val="10000"/>
              </a:spcBef>
              <a:buFont typeface="Wingdings" pitchFamily="2" charset="2"/>
              <a:buNone/>
              <a:tabLst>
                <a:tab pos="862013" algn="l"/>
                <a:tab pos="6954838" algn="l"/>
              </a:tabLst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	=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R))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S</a:t>
            </a:r>
          </a:p>
          <a:p>
            <a:pPr marL="0" indent="0" algn="just">
              <a:spcBef>
                <a:spcPct val="10000"/>
              </a:spcBef>
              <a:buFont typeface="Wingdings" pitchFamily="2" charset="2"/>
              <a:buNone/>
              <a:tabLst>
                <a:tab pos="862013" algn="l"/>
                <a:tab pos="6954838" algn="l"/>
              </a:tabLst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	=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S</a:t>
            </a:r>
          </a:p>
          <a:p>
            <a:pPr marL="0" indent="0" algn="just">
              <a:spcBef>
                <a:spcPct val="10000"/>
              </a:spcBef>
              <a:buFont typeface="Wingdings" pitchFamily="2" charset="2"/>
              <a:buNone/>
              <a:tabLst>
                <a:tab pos="862013" algn="l"/>
                <a:tab pos="6954838" algn="l"/>
              </a:tabLst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	=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(Q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S  ……….(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析取范式)</a:t>
            </a:r>
          </a:p>
          <a:p>
            <a:pPr marL="0" indent="0" algn="just">
              <a:spcBef>
                <a:spcPct val="10000"/>
              </a:spcBef>
              <a:buFont typeface="Wingdings" pitchFamily="2" charset="2"/>
              <a:buNone/>
              <a:tabLst>
                <a:tab pos="862013" algn="l"/>
                <a:tab pos="6954838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	=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(Q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(S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(Q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Q))</a:t>
            </a:r>
          </a:p>
          <a:p>
            <a:pPr marL="0" indent="0" algn="just">
              <a:spcBef>
                <a:spcPct val="10000"/>
              </a:spcBef>
              <a:buFont typeface="Wingdings" pitchFamily="2" charset="2"/>
              <a:buNone/>
              <a:tabLst>
                <a:tab pos="862013" algn="l"/>
                <a:tab pos="6954838" algn="l"/>
              </a:tabLst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	=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(Q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(S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(S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Q)…… </a:t>
            </a:r>
            <a:b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	(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析取范式)</a:t>
            </a:r>
          </a:p>
          <a:p>
            <a:pPr marL="0" indent="0" algn="just">
              <a:spcBef>
                <a:spcPct val="10000"/>
              </a:spcBef>
              <a:buFont typeface="Wingdings" pitchFamily="2" charset="2"/>
              <a:buNone/>
              <a:tabLst>
                <a:tab pos="862013" algn="l"/>
                <a:tab pos="6954838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	=(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S)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(Q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R)</a:t>
            </a:r>
          </a:p>
          <a:p>
            <a:pPr marL="0" indent="0">
              <a:spcBef>
                <a:spcPct val="10000"/>
              </a:spcBef>
              <a:buFont typeface="Wingdings" pitchFamily="2" charset="2"/>
              <a:buNone/>
              <a:tabLst>
                <a:tab pos="862013" algn="l"/>
                <a:tab pos="6954838" algn="l"/>
              </a:tabLst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	=(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S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S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R)…(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合取范式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) 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8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8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8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8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8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8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8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723" grpId="0" build="p" autoUpdateAnimBg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7" name="Slide Number Placeholder 5">
            <a:extLst>
              <a:ext uri="{FF2B5EF4-FFF2-40B4-BE49-F238E27FC236}">
                <a16:creationId xmlns:a16="http://schemas.microsoft.com/office/drawing/2014/main" id="{2726C2EF-F882-B648-98E8-844B70B9019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D4568FD-C644-654A-8A00-CD88FBACB1CC}" type="slidenum">
              <a:rPr kumimoji="0" lang="zh-CN" altLang="en-US" sz="1200"/>
              <a:pPr/>
              <a:t>74</a:t>
            </a:fld>
            <a:endParaRPr kumimoji="0" lang="en-US" altLang="zh-CN" sz="1200"/>
          </a:p>
        </p:txBody>
      </p:sp>
      <p:sp>
        <p:nvSpPr>
          <p:cNvPr id="160770" name="Rectangle 2">
            <a:extLst>
              <a:ext uri="{FF2B5EF4-FFF2-40B4-BE49-F238E27FC236}">
                <a16:creationId xmlns:a16="http://schemas.microsoft.com/office/drawing/2014/main" id="{E4BEB62F-14DA-384A-94AA-7F91B43F4B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20675"/>
            <a:ext cx="9144000" cy="823913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sz="4800" dirty="0">
                <a:latin typeface="Arial" charset="0"/>
                <a:ea typeface="楷体_GB2312" charset="0"/>
                <a:cs typeface="+mj-cs"/>
              </a:rPr>
              <a:t>主析取范式和主合取范式 </a:t>
            </a:r>
          </a:p>
        </p:txBody>
      </p:sp>
      <p:sp>
        <p:nvSpPr>
          <p:cNvPr id="160771" name="Rectangle 3">
            <a:extLst>
              <a:ext uri="{FF2B5EF4-FFF2-40B4-BE49-F238E27FC236}">
                <a16:creationId xmlns:a16="http://schemas.microsoft.com/office/drawing/2014/main" id="{C493F5F7-34C1-F94B-A566-1AC2590870FC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25413" y="1546225"/>
            <a:ext cx="8839200" cy="4762500"/>
          </a:xfrm>
        </p:spPr>
        <p:txBody>
          <a:bodyPr/>
          <a:lstStyle/>
          <a:p>
            <a:pPr marL="352425" indent="-352425">
              <a:lnSpc>
                <a:spcPct val="90000"/>
              </a:lnSpc>
              <a:tabLst>
                <a:tab pos="952500" algn="l"/>
                <a:tab pos="1995488" algn="l"/>
              </a:tabLst>
            </a:pPr>
            <a:r>
              <a:rPr kumimoji="0" lang="zh-CN" altLang="en-US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定义</a:t>
            </a:r>
            <a:r>
              <a:rPr kumimoji="0" lang="en-US" altLang="zh-CN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3</a:t>
            </a:r>
            <a:r>
              <a:rPr kumimoji="0" lang="zh-CN" altLang="en-US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.</a:t>
            </a:r>
            <a:r>
              <a:rPr kumimoji="0" lang="en-US" altLang="zh-CN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zh-CN" altLang="en-US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.</a:t>
            </a:r>
            <a:r>
              <a:rPr kumimoji="0" lang="en-US" altLang="zh-CN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21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  设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,…,P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是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个不同原子，一个</a:t>
            </a:r>
            <a:r>
              <a:rPr kumimoji="0" lang="zh-CN" altLang="en-US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短语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如果恰好包含所有这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个原子或其否定，且其排列顺序与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,…,P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的顺序一致，则称此短语为关于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,…,P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的一个</a:t>
            </a:r>
            <a:r>
              <a:rPr kumimoji="0" lang="zh-CN" altLang="en-US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极小项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。</a:t>
            </a:r>
          </a:p>
          <a:p>
            <a:pPr marL="352425" indent="-352425" algn="just">
              <a:lnSpc>
                <a:spcPct val="90000"/>
              </a:lnSpc>
              <a:tabLst>
                <a:tab pos="952500" algn="l"/>
                <a:tab pos="1995488" algn="l"/>
              </a:tabLst>
            </a:pP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显然，共有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2</a:t>
            </a:r>
            <a:r>
              <a:rPr kumimoji="0" lang="en-US" altLang="zh-CN" sz="3200" baseline="30000"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个不同的极小项。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 </a:t>
            </a:r>
          </a:p>
          <a:p>
            <a:pPr marL="352425" indent="-352425">
              <a:lnSpc>
                <a:spcPct val="90000"/>
              </a:lnSpc>
              <a:buFont typeface="Wingdings" pitchFamily="2" charset="2"/>
              <a:buChar char="v"/>
              <a:tabLst>
                <a:tab pos="952500" algn="l"/>
                <a:tab pos="1995488" algn="l"/>
              </a:tabLst>
            </a:pPr>
            <a:r>
              <a:rPr kumimoji="0" lang="zh-CN" altLang="en-US" sz="3200">
                <a:solidFill>
                  <a:srgbClr val="4E67C8"/>
                </a:solidFill>
                <a:latin typeface="宋体" panose="02010600030101010101" pitchFamily="2" charset="-122"/>
                <a:ea typeface="楷体_GB2312" pitchFamily="1" charset="-122"/>
              </a:rPr>
              <a:t>例如：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对原子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1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1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而言，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1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1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都是极小项，但是，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1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不是极小项，而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对原子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1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而言是极小项。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 </a:t>
            </a:r>
          </a:p>
        </p:txBody>
      </p:sp>
      <p:graphicFrame>
        <p:nvGraphicFramePr>
          <p:cNvPr id="278548" name="Group 20">
            <a:extLst>
              <a:ext uri="{FF2B5EF4-FFF2-40B4-BE49-F238E27FC236}">
                <a16:creationId xmlns:a16="http://schemas.microsoft.com/office/drawing/2014/main" id="{C5D459FD-EF19-C441-A88C-61228F75CFC8}"/>
              </a:ext>
            </a:extLst>
          </p:cNvPr>
          <p:cNvGraphicFramePr>
            <a:graphicFrameLocks noGrp="1"/>
          </p:cNvGraphicFramePr>
          <p:nvPr/>
        </p:nvGraphicFramePr>
        <p:xfrm>
          <a:off x="2460625" y="5586413"/>
          <a:ext cx="6432550" cy="579437"/>
        </p:xfrm>
        <a:graphic>
          <a:graphicData uri="http://schemas.openxmlformats.org/drawingml/2006/table">
            <a:tbl>
              <a:tblPr/>
              <a:tblGrid>
                <a:gridCol w="16081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81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81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81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4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charset="0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  <a:ea typeface="楷体_GB2312" charset="0"/>
                          <a:cs typeface="楷体_GB2312" charset="0"/>
                          <a:sym typeface="Symbol" charset="0"/>
                        </a:rPr>
                        <a:t>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  <a:ea typeface="楷体_GB2312" charset="0"/>
                          <a:cs typeface="楷体_GB2312" charset="0"/>
                        </a:rPr>
                        <a:t>P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  <a:ea typeface="楷体_GB2312" charset="0"/>
                          <a:cs typeface="楷体_GB2312" charset="0"/>
                          <a:sym typeface="Symbol" charset="0"/>
                        </a:rPr>
                        <a:t></a:t>
                      </a: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  <a:ea typeface="楷体_GB2312" charset="0"/>
                          <a:cs typeface="楷体_GB2312" charset="0"/>
                          <a:sym typeface="Symbol" charset="0"/>
                        </a:rPr>
                        <a:t>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  <a:ea typeface="楷体_GB2312" charset="0"/>
                          <a:cs typeface="楷体_GB2312" charset="0"/>
                        </a:rPr>
                        <a:t>Q</a:t>
                      </a: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charset="0"/>
                        <a:ea typeface="楷体_GB2312" charset="0"/>
                        <a:cs typeface="楷体_GB2312" charset="0"/>
                      </a:endParaRPr>
                    </a:p>
                  </a:txBody>
                  <a:tcPr marT="45745" marB="4574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charset="0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  <a:ea typeface="楷体_GB2312" charset="0"/>
                          <a:cs typeface="楷体_GB2312" charset="0"/>
                          <a:sym typeface="Symbol" charset="0"/>
                        </a:rPr>
                        <a:t>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  <a:ea typeface="楷体_GB2312" charset="0"/>
                          <a:cs typeface="楷体_GB2312" charset="0"/>
                        </a:rPr>
                        <a:t>P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  <a:ea typeface="楷体_GB2312" charset="0"/>
                          <a:cs typeface="楷体_GB2312" charset="0"/>
                          <a:sym typeface="Symbol" charset="0"/>
                        </a:rPr>
                        <a:t>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  <a:ea typeface="楷体_GB2312" charset="0"/>
                          <a:cs typeface="楷体_GB2312" charset="0"/>
                        </a:rPr>
                        <a:t>Q</a:t>
                      </a: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charset="0"/>
                        <a:ea typeface="楷体_GB2312" charset="0"/>
                        <a:cs typeface="楷体_GB2312" charset="0"/>
                      </a:endParaRPr>
                    </a:p>
                  </a:txBody>
                  <a:tcPr marT="45745" marB="457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  <a:ea typeface="楷体_GB2312" charset="0"/>
                          <a:cs typeface="楷体_GB2312" charset="0"/>
                        </a:rPr>
                        <a:t>P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  <a:ea typeface="楷体_GB2312" charset="0"/>
                          <a:cs typeface="楷体_GB2312" charset="0"/>
                          <a:sym typeface="Symbol" charset="0"/>
                        </a:rPr>
                        <a:t></a:t>
                      </a: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  <a:ea typeface="楷体_GB2312" charset="0"/>
                          <a:cs typeface="楷体_GB2312" charset="0"/>
                          <a:sym typeface="Symbol" charset="0"/>
                        </a:rPr>
                        <a:t>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  <a:ea typeface="楷体_GB2312" charset="0"/>
                          <a:cs typeface="楷体_GB2312" charset="0"/>
                        </a:rPr>
                        <a:t>Q</a:t>
                      </a: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charset="0"/>
                        <a:ea typeface="楷体_GB2312" charset="0"/>
                        <a:cs typeface="楷体_GB2312" charset="0"/>
                      </a:endParaRPr>
                    </a:p>
                  </a:txBody>
                  <a:tcPr marT="45745" marB="457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  <a:ea typeface="楷体_GB2312" charset="0"/>
                          <a:cs typeface="楷体_GB2312" charset="0"/>
                        </a:rPr>
                        <a:t>P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  <a:ea typeface="楷体_GB2312" charset="0"/>
                          <a:cs typeface="楷体_GB2312" charset="0"/>
                          <a:sym typeface="Symbol" charset="0"/>
                        </a:rPr>
                        <a:t></a:t>
                      </a:r>
                      <a:r>
                        <a:rPr kumimoji="0" lang="en-US" altLang="zh-CN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Arial" charset="0"/>
                          <a:ea typeface="楷体_GB2312" charset="0"/>
                          <a:cs typeface="楷体_GB2312" charset="0"/>
                        </a:rPr>
                        <a:t>Q</a:t>
                      </a:r>
                      <a:endParaRPr kumimoji="0" lang="zh-CN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charset="0"/>
                        <a:ea typeface="楷体_GB2312" charset="0"/>
                        <a:cs typeface="楷体_GB2312" charset="0"/>
                      </a:endParaRPr>
                    </a:p>
                  </a:txBody>
                  <a:tcPr marT="45745" marB="4574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160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160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160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785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785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78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785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785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78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6" dur="80"/>
                                        <p:tgtEl>
                                          <p:spTgt spid="160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7" dur="80"/>
                                        <p:tgtEl>
                                          <p:spTgt spid="160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80"/>
                                        <p:tgtEl>
                                          <p:spTgt spid="160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5" name="Slide Number Placeholder 5">
            <a:extLst>
              <a:ext uri="{FF2B5EF4-FFF2-40B4-BE49-F238E27FC236}">
                <a16:creationId xmlns:a16="http://schemas.microsoft.com/office/drawing/2014/main" id="{916982D2-214F-C541-BC41-3D312A420B8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4B3D84F-4CE4-754A-B7AC-81B33F24E3DC}" type="slidenum">
              <a:rPr kumimoji="0" lang="zh-CN" altLang="en-US" sz="1200"/>
              <a:pPr/>
              <a:t>75</a:t>
            </a:fld>
            <a:endParaRPr kumimoji="0" lang="en-US" altLang="zh-CN" sz="1200"/>
          </a:p>
        </p:txBody>
      </p:sp>
      <p:sp>
        <p:nvSpPr>
          <p:cNvPr id="162819" name="Rectangle 3">
            <a:extLst>
              <a:ext uri="{FF2B5EF4-FFF2-40B4-BE49-F238E27FC236}">
                <a16:creationId xmlns:a16="http://schemas.microsoft.com/office/drawing/2014/main" id="{00C47264-D9A2-924F-9A94-9BABF5C09735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25413" y="693738"/>
            <a:ext cx="8767762" cy="5327650"/>
          </a:xfrm>
        </p:spPr>
        <p:txBody>
          <a:bodyPr/>
          <a:lstStyle/>
          <a:p>
            <a:pPr marL="352425" indent="-352425" algn="just">
              <a:lnSpc>
                <a:spcPct val="90000"/>
              </a:lnSpc>
              <a:tabLst>
                <a:tab pos="952500" algn="l"/>
                <a:tab pos="1995488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显然，对于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个原子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,…,P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而言，其不同的解释共有2</a:t>
            </a:r>
            <a:r>
              <a:rPr kumimoji="0" lang="en-US" altLang="zh-CN" sz="3200" baseline="30000"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个；对于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,…,P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的任一个极小项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m，2</a:t>
            </a:r>
            <a:r>
              <a:rPr kumimoji="0" lang="en-US" altLang="zh-CN" sz="3200" baseline="30000"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个解释中，</a:t>
            </a:r>
            <a:r>
              <a:rPr kumimoji="0" lang="zh-CN" altLang="en-US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有且只有一个解释使</a:t>
            </a:r>
            <a:r>
              <a:rPr kumimoji="0" lang="en-US" altLang="zh-CN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m</a:t>
            </a:r>
            <a:r>
              <a:rPr kumimoji="0" lang="zh-CN" altLang="en-US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取1值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。</a:t>
            </a:r>
          </a:p>
          <a:p>
            <a:pPr marL="352425" indent="-352425" algn="just">
              <a:lnSpc>
                <a:spcPct val="90000"/>
              </a:lnSpc>
              <a:buFont typeface="Wingdings" pitchFamily="2" charset="2"/>
              <a:buChar char="v"/>
              <a:tabLst>
                <a:tab pos="952500" algn="l"/>
                <a:tab pos="1995488" algn="l"/>
              </a:tabLst>
            </a:pPr>
            <a:r>
              <a:rPr kumimoji="0" lang="zh-CN" altLang="en-US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例如：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对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P，Q，R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而言，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是极小项，解释{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P，Q，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R}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使该极小项取1值，其他解释都使该极小项取0值。</a:t>
            </a:r>
          </a:p>
          <a:p>
            <a:pPr marL="352425" indent="-352425" algn="just">
              <a:lnSpc>
                <a:spcPct val="90000"/>
              </a:lnSpc>
              <a:tabLst>
                <a:tab pos="952500" algn="l"/>
                <a:tab pos="1995488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如果将真值1，0看做是数，则每一个解释对应一个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位二进制数。</a:t>
            </a:r>
          </a:p>
          <a:p>
            <a:pPr marL="352425" indent="-352425">
              <a:lnSpc>
                <a:spcPct val="90000"/>
              </a:lnSpc>
              <a:tabLst>
                <a:tab pos="952500" algn="l"/>
                <a:tab pos="1995488" algn="l"/>
              </a:tabLst>
            </a:pP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假设使极小项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m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取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值的解释对应的二进制数为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1" charset="-122"/>
              </a:rPr>
              <a:t>，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今后将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m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记为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m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1" charset="-122"/>
              </a:rPr>
              <a:t>。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 </a:t>
            </a:r>
            <a:endParaRPr kumimoji="0" lang="zh-CN" altLang="en-US" sz="3200">
              <a:latin typeface="Arial" panose="020B0604020202020204" pitchFamily="34" charset="0"/>
              <a:ea typeface="楷体_GB2312" pitchFamily="1" charset="-122"/>
            </a:endParaRPr>
          </a:p>
        </p:txBody>
      </p:sp>
      <p:graphicFrame>
        <p:nvGraphicFramePr>
          <p:cNvPr id="165946" name="Group 1082">
            <a:extLst>
              <a:ext uri="{FF2B5EF4-FFF2-40B4-BE49-F238E27FC236}">
                <a16:creationId xmlns:a16="http://schemas.microsoft.com/office/drawing/2014/main" id="{21BD5117-B458-0242-99FB-C634EA64DCD2}"/>
              </a:ext>
            </a:extLst>
          </p:cNvPr>
          <p:cNvGraphicFramePr>
            <a:graphicFrameLocks noGrp="1"/>
          </p:cNvGraphicFramePr>
          <p:nvPr/>
        </p:nvGraphicFramePr>
        <p:xfrm>
          <a:off x="611188" y="3644900"/>
          <a:ext cx="7993062" cy="2096402"/>
        </p:xfrm>
        <a:graphic>
          <a:graphicData uri="http://schemas.openxmlformats.org/drawingml/2006/table">
            <a:tbl>
              <a:tblPr/>
              <a:tblGrid>
                <a:gridCol w="2160587">
                  <a:extLst>
                    <a:ext uri="{9D8B030D-6E8A-4147-A177-3AD203B41FA5}">
                      <a16:colId xmlns:a16="http://schemas.microsoft.com/office/drawing/2014/main" val="1136926114"/>
                    </a:ext>
                  </a:extLst>
                </a:gridCol>
                <a:gridCol w="1944688">
                  <a:extLst>
                    <a:ext uri="{9D8B030D-6E8A-4147-A177-3AD203B41FA5}">
                      <a16:colId xmlns:a16="http://schemas.microsoft.com/office/drawing/2014/main" val="2614950177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3193607337"/>
                    </a:ext>
                  </a:extLst>
                </a:gridCol>
                <a:gridCol w="1944687">
                  <a:extLst>
                    <a:ext uri="{9D8B030D-6E8A-4147-A177-3AD203B41FA5}">
                      <a16:colId xmlns:a16="http://schemas.microsoft.com/office/drawing/2014/main" val="4132559031"/>
                    </a:ext>
                  </a:extLst>
                </a:gridCol>
              </a:tblGrid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  <a:sym typeface="Symbol" pitchFamily="2" charset="2"/>
                        </a:rPr>
                        <a:t>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P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  <a:sym typeface="Symbol" pitchFamily="2" charset="2"/>
                        </a:rPr>
                        <a:t></a:t>
                      </a: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  <a:sym typeface="Symbol" pitchFamily="2" charset="2"/>
                        </a:rPr>
                        <a:t>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Q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  <a:sym typeface="Symbol" pitchFamily="2" charset="2"/>
                        </a:rPr>
                        <a:t></a:t>
                      </a: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  <a:sym typeface="Symbol" pitchFamily="2" charset="2"/>
                        </a:rPr>
                        <a:t>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  <a:sym typeface="Symbol" pitchFamily="2" charset="2"/>
                        </a:rPr>
                        <a:t>R</a:t>
                      </a: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Arial" panose="020B0604020202020204" pitchFamily="34" charset="0"/>
                        <a:ea typeface="楷体_GB2312" pitchFamily="1" charset="-122"/>
                      </a:endParaRPr>
                    </a:p>
                  </a:txBody>
                  <a:tcPr marL="91442" marR="91442" marT="45628" marB="456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  <a:sym typeface="Symbol" pitchFamily="2" charset="2"/>
                        </a:rPr>
                        <a:t>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P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  <a:sym typeface="Symbol" pitchFamily="2" charset="2"/>
                        </a:rPr>
                        <a:t></a:t>
                      </a: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  <a:sym typeface="Symbol" pitchFamily="2" charset="2"/>
                        </a:rPr>
                        <a:t>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Q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  <a:sym typeface="Symbol" pitchFamily="2" charset="2"/>
                        </a:rPr>
                        <a:t>R</a:t>
                      </a: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Arial" panose="020B0604020202020204" pitchFamily="34" charset="0"/>
                        <a:ea typeface="楷体_GB2312" pitchFamily="1" charset="-122"/>
                      </a:endParaRPr>
                    </a:p>
                  </a:txBody>
                  <a:tcPr marL="91442" marR="91442" marT="45628" marB="456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  <a:sym typeface="Symbol" pitchFamily="2" charset="2"/>
                        </a:rPr>
                        <a:t>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P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  <a:sym typeface="Symbol" pitchFamily="2" charset="2"/>
                        </a:rPr>
                        <a:t>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Q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  <a:sym typeface="Symbol" pitchFamily="2" charset="2"/>
                        </a:rPr>
                        <a:t></a:t>
                      </a: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  <a:sym typeface="Symbol" pitchFamily="2" charset="2"/>
                        </a:rPr>
                        <a:t>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  <a:sym typeface="Symbol" pitchFamily="2" charset="2"/>
                        </a:rPr>
                        <a:t>R</a:t>
                      </a: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Arial" panose="020B0604020202020204" pitchFamily="34" charset="0"/>
                        <a:ea typeface="楷体_GB2312" pitchFamily="1" charset="-122"/>
                      </a:endParaRPr>
                    </a:p>
                  </a:txBody>
                  <a:tcPr marL="91442" marR="91442" marT="45628" marB="456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  <a:sym typeface="Symbol" pitchFamily="2" charset="2"/>
                        </a:rPr>
                        <a:t>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P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  <a:sym typeface="Symbol" pitchFamily="2" charset="2"/>
                        </a:rPr>
                        <a:t>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Q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  <a:sym typeface="Symbol" pitchFamily="2" charset="2"/>
                        </a:rPr>
                        <a:t>R</a:t>
                      </a: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Arial" panose="020B0604020202020204" pitchFamily="34" charset="0"/>
                        <a:ea typeface="楷体_GB2312" pitchFamily="1" charset="-122"/>
                      </a:endParaRPr>
                    </a:p>
                  </a:txBody>
                  <a:tcPr marL="91442" marR="91442" marT="45628" marB="456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8101861"/>
                  </a:ext>
                </a:extLst>
              </a:tr>
              <a:tr h="5175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(0,0,0)</a:t>
                      </a:r>
                    </a:p>
                  </a:txBody>
                  <a:tcPr marL="91442" marR="91442" marT="45628" marB="456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(0,0,1)</a:t>
                      </a:r>
                    </a:p>
                  </a:txBody>
                  <a:tcPr marL="91442" marR="91442" marT="45628" marB="456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(0,1,0)</a:t>
                      </a:r>
                    </a:p>
                  </a:txBody>
                  <a:tcPr marL="91442" marR="91442" marT="45628" marB="456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(0,1,1)</a:t>
                      </a:r>
                    </a:p>
                  </a:txBody>
                  <a:tcPr marL="91442" marR="91442" marT="45628" marB="456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8426103"/>
                  </a:ext>
                </a:extLst>
              </a:tr>
              <a:tr h="530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P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  <a:sym typeface="Symbol" pitchFamily="2" charset="2"/>
                        </a:rPr>
                        <a:t></a:t>
                      </a: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  <a:sym typeface="Symbol" pitchFamily="2" charset="2"/>
                        </a:rPr>
                        <a:t>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Q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  <a:sym typeface="Symbol" pitchFamily="2" charset="2"/>
                        </a:rPr>
                        <a:t></a:t>
                      </a: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  <a:sym typeface="Symbol" pitchFamily="2" charset="2"/>
                        </a:rPr>
                        <a:t>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  <a:sym typeface="Symbol" pitchFamily="2" charset="2"/>
                        </a:rPr>
                        <a:t>R</a:t>
                      </a: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Arial" panose="020B0604020202020204" pitchFamily="34" charset="0"/>
                        <a:ea typeface="楷体_GB2312" pitchFamily="1" charset="-122"/>
                      </a:endParaRPr>
                    </a:p>
                  </a:txBody>
                  <a:tcPr marL="91442" marR="91442" marT="45628" marB="456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P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  <a:sym typeface="Symbol" pitchFamily="2" charset="2"/>
                        </a:rPr>
                        <a:t></a:t>
                      </a: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  <a:sym typeface="Symbol" pitchFamily="2" charset="2"/>
                        </a:rPr>
                        <a:t>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Q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  <a:sym typeface="Symbol" pitchFamily="2" charset="2"/>
                        </a:rPr>
                        <a:t>R</a:t>
                      </a: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Arial" panose="020B0604020202020204" pitchFamily="34" charset="0"/>
                        <a:ea typeface="楷体_GB2312" pitchFamily="1" charset="-122"/>
                      </a:endParaRPr>
                    </a:p>
                  </a:txBody>
                  <a:tcPr marL="91442" marR="91442" marT="45628" marB="456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P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  <a:sym typeface="Symbol" pitchFamily="2" charset="2"/>
                        </a:rPr>
                        <a:t>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Q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  <a:sym typeface="Symbol" pitchFamily="2" charset="2"/>
                        </a:rPr>
                        <a:t></a:t>
                      </a:r>
                      <a:r>
                        <a:rPr kumimoji="0" lang="zh-CN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  <a:sym typeface="Symbol" pitchFamily="2" charset="2"/>
                        </a:rPr>
                        <a:t>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  <a:sym typeface="Symbol" pitchFamily="2" charset="2"/>
                        </a:rPr>
                        <a:t>R</a:t>
                      </a: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Arial" panose="020B0604020202020204" pitchFamily="34" charset="0"/>
                        <a:ea typeface="楷体_GB2312" pitchFamily="1" charset="-122"/>
                      </a:endParaRPr>
                    </a:p>
                  </a:txBody>
                  <a:tcPr marL="91442" marR="91442" marT="45628" marB="456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P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  <a:sym typeface="Symbol" pitchFamily="2" charset="2"/>
                        </a:rPr>
                        <a:t>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Q</a:t>
                      </a: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  <a:sym typeface="Symbol" pitchFamily="2" charset="2"/>
                        </a:rPr>
                        <a:t>R</a:t>
                      </a:r>
                      <a:endParaRPr kumimoji="0" lang="zh-CN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Arial" panose="020B0604020202020204" pitchFamily="34" charset="0"/>
                        <a:ea typeface="楷体_GB2312" pitchFamily="1" charset="-122"/>
                      </a:endParaRPr>
                    </a:p>
                  </a:txBody>
                  <a:tcPr marL="91442" marR="91442" marT="45628" marB="456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7437402"/>
                  </a:ext>
                </a:extLst>
              </a:tr>
              <a:tr h="5302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(1,0,0)</a:t>
                      </a:r>
                    </a:p>
                  </a:txBody>
                  <a:tcPr marL="91442" marR="91442" marT="45628" marB="456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(1,0,1)</a:t>
                      </a:r>
                    </a:p>
                  </a:txBody>
                  <a:tcPr marL="91442" marR="91442" marT="45628" marB="456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(1,1,0)</a:t>
                      </a:r>
                    </a:p>
                  </a:txBody>
                  <a:tcPr marL="91442" marR="91442" marT="45628" marB="456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FFFFFF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(1,1,1)</a:t>
                      </a:r>
                    </a:p>
                  </a:txBody>
                  <a:tcPr marL="91442" marR="91442" marT="45628" marB="456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66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112914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59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59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62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2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62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2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819" grpId="0" build="p" autoUpdateAnimBg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3" name="Slide Number Placeholder 5">
            <a:extLst>
              <a:ext uri="{FF2B5EF4-FFF2-40B4-BE49-F238E27FC236}">
                <a16:creationId xmlns:a16="http://schemas.microsoft.com/office/drawing/2014/main" id="{2CF1C7FC-DB5A-D846-8632-D5522624176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47AFAF3-0B93-684E-8356-454C16903BA3}" type="slidenum">
              <a:rPr kumimoji="0" lang="zh-CN" altLang="en-US" sz="1200"/>
              <a:pPr/>
              <a:t>76</a:t>
            </a:fld>
            <a:endParaRPr kumimoji="0" lang="en-US" altLang="zh-CN" sz="1200"/>
          </a:p>
        </p:txBody>
      </p:sp>
      <p:sp>
        <p:nvSpPr>
          <p:cNvPr id="164866" name="Rectangle 1026">
            <a:extLst>
              <a:ext uri="{FF2B5EF4-FFF2-40B4-BE49-F238E27FC236}">
                <a16:creationId xmlns:a16="http://schemas.microsoft.com/office/drawing/2014/main" id="{FBF35EE1-346A-F748-9AF2-2621BE5430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9863" y="320675"/>
            <a:ext cx="8290569" cy="823913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宋体" charset="0"/>
                <a:ea typeface="楷体_GB2312" charset="0"/>
                <a:cs typeface="+mj-cs"/>
              </a:rPr>
              <a:t>例</a:t>
            </a:r>
            <a:r>
              <a:rPr lang="zh-CN" altLang="en-US" dirty="0">
                <a:latin typeface="Times New Roman" charset="0"/>
                <a:ea typeface="楷体_GB2312" charset="0"/>
                <a:cs typeface="+mj-cs"/>
              </a:rPr>
              <a:t>:</a:t>
            </a:r>
          </a:p>
        </p:txBody>
      </p:sp>
      <p:sp>
        <p:nvSpPr>
          <p:cNvPr id="131075" name="Rectangle 1027">
            <a:extLst>
              <a:ext uri="{FF2B5EF4-FFF2-40B4-BE49-F238E27FC236}">
                <a16:creationId xmlns:a16="http://schemas.microsoft.com/office/drawing/2014/main" id="{0B7AF605-16C7-664B-BDD7-50850D218D58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07950" y="1295400"/>
            <a:ext cx="8567738" cy="3646488"/>
          </a:xfrm>
        </p:spPr>
        <p:txBody>
          <a:bodyPr/>
          <a:lstStyle/>
          <a:p>
            <a:pPr marL="352425" indent="-352425">
              <a:lnSpc>
                <a:spcPct val="120000"/>
              </a:lnSpc>
              <a:tabLst>
                <a:tab pos="952500" algn="l"/>
                <a:tab pos="1995488" algn="l"/>
              </a:tabLst>
            </a:pP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对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1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1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而言，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是极小项，解释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(0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，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，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0)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使该极小项取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值，解释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(0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，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，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0)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对应的二进制数是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2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，于是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记为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m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2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1" charset="-122"/>
              </a:rPr>
              <a:t>。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 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对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1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1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而言，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8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个极小项与其对应的解释如下：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 </a:t>
            </a:r>
          </a:p>
        </p:txBody>
      </p:sp>
    </p:spTree>
  </p:cSld>
  <p:clrMapOvr>
    <a:masterClrMapping/>
  </p:clrMapOvr>
  <p:transition>
    <p:blinds dir="vert"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1" name="Slide Number Placeholder 5">
            <a:extLst>
              <a:ext uri="{FF2B5EF4-FFF2-40B4-BE49-F238E27FC236}">
                <a16:creationId xmlns:a16="http://schemas.microsoft.com/office/drawing/2014/main" id="{22340322-50C1-5B49-AAE8-6DE376358FD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6223460-7609-A24F-9A97-B4CC25430357}" type="slidenum">
              <a:rPr kumimoji="0" lang="zh-CN" altLang="en-US" sz="1200"/>
              <a:pPr/>
              <a:t>77</a:t>
            </a:fld>
            <a:endParaRPr kumimoji="0" lang="en-US" altLang="zh-CN" sz="1200"/>
          </a:p>
        </p:txBody>
      </p:sp>
      <p:graphicFrame>
        <p:nvGraphicFramePr>
          <p:cNvPr id="277512" name="Group 8">
            <a:extLst>
              <a:ext uri="{FF2B5EF4-FFF2-40B4-BE49-F238E27FC236}">
                <a16:creationId xmlns:a16="http://schemas.microsoft.com/office/drawing/2014/main" id="{3CC5CF98-12E3-AC40-868E-ACF622A1923B}"/>
              </a:ext>
            </a:extLst>
          </p:cNvPr>
          <p:cNvGraphicFramePr>
            <a:graphicFrameLocks noGrp="1"/>
          </p:cNvGraphicFramePr>
          <p:nvPr/>
        </p:nvGraphicFramePr>
        <p:xfrm>
          <a:off x="1547813" y="479425"/>
          <a:ext cx="5976937" cy="5757867"/>
        </p:xfrm>
        <a:graphic>
          <a:graphicData uri="http://schemas.openxmlformats.org/drawingml/2006/table">
            <a:tbl>
              <a:tblPr/>
              <a:tblGrid>
                <a:gridCol w="2808287">
                  <a:extLst>
                    <a:ext uri="{9D8B030D-6E8A-4147-A177-3AD203B41FA5}">
                      <a16:colId xmlns:a16="http://schemas.microsoft.com/office/drawing/2014/main" val="3544818120"/>
                    </a:ext>
                  </a:extLst>
                </a:gridCol>
                <a:gridCol w="1512888">
                  <a:extLst>
                    <a:ext uri="{9D8B030D-6E8A-4147-A177-3AD203B41FA5}">
                      <a16:colId xmlns:a16="http://schemas.microsoft.com/office/drawing/2014/main" val="2763688396"/>
                    </a:ext>
                  </a:extLst>
                </a:gridCol>
                <a:gridCol w="1655762">
                  <a:extLst>
                    <a:ext uri="{9D8B030D-6E8A-4147-A177-3AD203B41FA5}">
                      <a16:colId xmlns:a16="http://schemas.microsoft.com/office/drawing/2014/main" val="612849442"/>
                    </a:ext>
                  </a:extLst>
                </a:gridCol>
              </a:tblGrid>
              <a:tr h="6397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  <a:ea typeface="楷体_GB2312" pitchFamily="1" charset="-122"/>
                        </a:rPr>
                        <a:t>极小项</a:t>
                      </a: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 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  <a:ea typeface="楷体_GB2312" pitchFamily="1" charset="-122"/>
                        </a:rPr>
                        <a:t>解释</a:t>
                      </a: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 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宋体" panose="02010600030101010101" pitchFamily="2" charset="-122"/>
                          <a:ea typeface="楷体_GB2312" pitchFamily="1" charset="-122"/>
                        </a:rPr>
                        <a:t>记法</a:t>
                      </a: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 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3698120"/>
                  </a:ext>
                </a:extLst>
              </a:tr>
              <a:tr h="6397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  <a:sym typeface="Symbol" pitchFamily="2" charset="2"/>
                        </a:rPr>
                        <a:t>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P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  <a:sym typeface="Symbol" pitchFamily="2" charset="2"/>
                        </a:rPr>
                        <a:t>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Q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  <a:sym typeface="Symbol" pitchFamily="2" charset="2"/>
                        </a:rPr>
                        <a:t>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R </a:t>
                      </a:r>
                      <a:endParaRPr kumimoji="0" lang="zh-CN" alt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1" charset="-122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000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m</a:t>
                      </a:r>
                      <a:r>
                        <a:rPr kumimoji="0" lang="en-US" altLang="zh-CN" sz="32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0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 </a:t>
                      </a:r>
                      <a:endParaRPr kumimoji="0" lang="zh-CN" alt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1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6019923"/>
                  </a:ext>
                </a:extLst>
              </a:tr>
              <a:tr h="6397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  <a:sym typeface="Symbol" pitchFamily="2" charset="2"/>
                        </a:rPr>
                        <a:t>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P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  <a:sym typeface="Symbol" pitchFamily="2" charset="2"/>
                        </a:rPr>
                        <a:t>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Q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  <a:sym typeface="Symbol" pitchFamily="2" charset="2"/>
                        </a:rPr>
                        <a:t>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R </a:t>
                      </a:r>
                      <a:endParaRPr kumimoji="0" lang="zh-CN" alt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1" charset="-122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001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m</a:t>
                      </a:r>
                      <a:r>
                        <a:rPr kumimoji="0" lang="en-US" altLang="zh-CN" sz="32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 </a:t>
                      </a:r>
                      <a:endParaRPr kumimoji="0" lang="zh-CN" alt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1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6796214"/>
                  </a:ext>
                </a:extLst>
              </a:tr>
              <a:tr h="6397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  <a:sym typeface="Symbol" pitchFamily="2" charset="2"/>
                        </a:rPr>
                        <a:t>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P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  <a:sym typeface="Symbol" pitchFamily="2" charset="2"/>
                        </a:rPr>
                        <a:t>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Q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  <a:sym typeface="Symbol" pitchFamily="2" charset="2"/>
                        </a:rPr>
                        <a:t>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R </a:t>
                      </a:r>
                      <a:endParaRPr kumimoji="0" lang="zh-CN" alt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1" charset="-122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010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m</a:t>
                      </a:r>
                      <a:r>
                        <a:rPr kumimoji="0" lang="en-US" altLang="zh-CN" sz="32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2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 </a:t>
                      </a:r>
                      <a:endParaRPr kumimoji="0" lang="zh-CN" alt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1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1682937"/>
                  </a:ext>
                </a:extLst>
              </a:tr>
              <a:tr h="6397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  <a:sym typeface="Symbol" pitchFamily="2" charset="2"/>
                        </a:rPr>
                        <a:t>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P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  <a:sym typeface="Symbol" pitchFamily="2" charset="2"/>
                        </a:rPr>
                        <a:t>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Q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  <a:sym typeface="Symbol" pitchFamily="2" charset="2"/>
                        </a:rPr>
                        <a:t>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R </a:t>
                      </a:r>
                      <a:endParaRPr kumimoji="0" lang="zh-CN" alt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1" charset="-122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011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m</a:t>
                      </a:r>
                      <a:r>
                        <a:rPr kumimoji="0" lang="en-US" altLang="zh-CN" sz="32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3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 </a:t>
                      </a:r>
                      <a:endParaRPr kumimoji="0" lang="zh-CN" alt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1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2717669"/>
                  </a:ext>
                </a:extLst>
              </a:tr>
              <a:tr h="6397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P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  <a:sym typeface="Symbol" pitchFamily="2" charset="2"/>
                        </a:rPr>
                        <a:t></a:t>
                      </a: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  <a:sym typeface="Symbol" pitchFamily="2" charset="2"/>
                        </a:rPr>
                        <a:t>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Q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  <a:sym typeface="Symbol" pitchFamily="2" charset="2"/>
                        </a:rPr>
                        <a:t>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R </a:t>
                      </a:r>
                      <a:endParaRPr kumimoji="0" lang="zh-CN" alt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1" charset="-122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100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m</a:t>
                      </a:r>
                      <a:r>
                        <a:rPr kumimoji="0" lang="en-US" altLang="zh-CN" sz="32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4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 </a:t>
                      </a:r>
                      <a:endParaRPr kumimoji="0" lang="zh-CN" alt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1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6012810"/>
                  </a:ext>
                </a:extLst>
              </a:tr>
              <a:tr h="6397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P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  <a:sym typeface="Symbol" pitchFamily="2" charset="2"/>
                        </a:rPr>
                        <a:t>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Q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  <a:sym typeface="Symbol" pitchFamily="2" charset="2"/>
                        </a:rPr>
                        <a:t>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R </a:t>
                      </a:r>
                      <a:endParaRPr kumimoji="0" lang="zh-CN" alt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1" charset="-122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101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m</a:t>
                      </a:r>
                      <a:r>
                        <a:rPr kumimoji="0" lang="en-US" altLang="zh-CN" sz="32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5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 </a:t>
                      </a:r>
                      <a:endParaRPr kumimoji="0" lang="zh-CN" alt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1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2938972"/>
                  </a:ext>
                </a:extLst>
              </a:tr>
              <a:tr h="6397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P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  <a:sym typeface="Symbol" pitchFamily="2" charset="2"/>
                        </a:rPr>
                        <a:t>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Q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  <a:sym typeface="Symbol" pitchFamily="2" charset="2"/>
                        </a:rPr>
                        <a:t>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R </a:t>
                      </a:r>
                      <a:endParaRPr kumimoji="0" lang="zh-CN" alt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1" charset="-122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110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m</a:t>
                      </a:r>
                      <a:r>
                        <a:rPr kumimoji="0" lang="en-US" altLang="zh-CN" sz="32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6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 </a:t>
                      </a:r>
                      <a:endParaRPr kumimoji="0" lang="zh-CN" alt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1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5003341"/>
                  </a:ext>
                </a:extLst>
              </a:tr>
              <a:tr h="6397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P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  <a:sym typeface="Symbol" pitchFamily="2" charset="2"/>
                        </a:rPr>
                        <a:t>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Q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  <a:sym typeface="Symbol" pitchFamily="2" charset="2"/>
                        </a:rPr>
                        <a:t>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R </a:t>
                      </a:r>
                      <a:endParaRPr kumimoji="0" lang="zh-CN" alt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1" charset="-122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111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m</a:t>
                      </a:r>
                      <a:r>
                        <a:rPr kumimoji="0" lang="en-US" altLang="zh-CN" sz="3200" b="0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7</a:t>
                      </a:r>
                      <a:r>
                        <a:rPr kumimoji="0" lang="en-US" altLang="zh-CN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 </a:t>
                      </a:r>
                      <a:endParaRPr kumimoji="0" lang="zh-CN" alt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1" charset="-122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458271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blinds dir="vert"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69" name="Slide Number Placeholder 5">
            <a:extLst>
              <a:ext uri="{FF2B5EF4-FFF2-40B4-BE49-F238E27FC236}">
                <a16:creationId xmlns:a16="http://schemas.microsoft.com/office/drawing/2014/main" id="{00B220CF-4580-1744-8D14-D440EE6A4BE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0077211-3163-B747-84DC-70589D141A09}" type="slidenum">
              <a:rPr kumimoji="0" lang="zh-CN" altLang="en-US" sz="1200"/>
              <a:pPr/>
              <a:t>78</a:t>
            </a:fld>
            <a:endParaRPr kumimoji="0" lang="en-US" altLang="zh-CN" sz="1200"/>
          </a:p>
        </p:txBody>
      </p:sp>
      <p:sp>
        <p:nvSpPr>
          <p:cNvPr id="135170" name="Rectangle 3">
            <a:extLst>
              <a:ext uri="{FF2B5EF4-FFF2-40B4-BE49-F238E27FC236}">
                <a16:creationId xmlns:a16="http://schemas.microsoft.com/office/drawing/2014/main" id="{0318680A-FCEA-3F4A-88ED-5421D97CA477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07950" y="1143000"/>
            <a:ext cx="8839200" cy="914400"/>
          </a:xfrm>
        </p:spPr>
        <p:txBody>
          <a:bodyPr/>
          <a:lstStyle/>
          <a:p>
            <a:pPr marL="0" indent="0">
              <a:tabLst>
                <a:tab pos="952500" algn="l"/>
                <a:tab pos="1995488" algn="l"/>
              </a:tabLst>
            </a:pP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一般地，对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1" charset="-122"/>
              </a:rPr>
              <a:t>,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…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1" charset="-122"/>
              </a:rPr>
              <a:t>,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而言，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2</a:t>
            </a:r>
            <a:r>
              <a:rPr kumimoji="0" lang="en-US" altLang="zh-CN" sz="3200" baseline="30000"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个极小项为</a:t>
            </a:r>
          </a:p>
        </p:txBody>
      </p:sp>
      <p:graphicFrame>
        <p:nvGraphicFramePr>
          <p:cNvPr id="135171" name="Object 4">
            <a:extLst>
              <a:ext uri="{FF2B5EF4-FFF2-40B4-BE49-F238E27FC236}">
                <a16:creationId xmlns:a16="http://schemas.microsoft.com/office/drawing/2014/main" id="{1A732A1B-F4E4-984B-9013-E3683290DBD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27313" y="2041525"/>
          <a:ext cx="3708400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176" name="公式" r:id="rId4" imgW="1130300" imgH="228600" progId="Equation.3">
                  <p:embed/>
                </p:oleObj>
              </mc:Choice>
              <mc:Fallback>
                <p:oleObj name="公式" r:id="rId4" imgW="113030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2041525"/>
                        <a:ext cx="3708400" cy="95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blinds dir="vert"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7" name="Slide Number Placeholder 5">
            <a:extLst>
              <a:ext uri="{FF2B5EF4-FFF2-40B4-BE49-F238E27FC236}">
                <a16:creationId xmlns:a16="http://schemas.microsoft.com/office/drawing/2014/main" id="{51B1E1A8-7358-1B42-911A-2F065FFE7F4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63AF364-F5DC-1C4A-91CC-5BACEBB431A2}" type="slidenum">
              <a:rPr kumimoji="0" lang="zh-CN" altLang="en-US" sz="1200"/>
              <a:pPr/>
              <a:t>79</a:t>
            </a:fld>
            <a:endParaRPr kumimoji="0" lang="en-US" altLang="zh-CN" sz="1200"/>
          </a:p>
        </p:txBody>
      </p:sp>
      <p:sp>
        <p:nvSpPr>
          <p:cNvPr id="171010" name="Rectangle 1026">
            <a:extLst>
              <a:ext uri="{FF2B5EF4-FFF2-40B4-BE49-F238E27FC236}">
                <a16:creationId xmlns:a16="http://schemas.microsoft.com/office/drawing/2014/main" id="{1FFFF813-B134-E84F-9193-F8378C7433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950" y="301625"/>
            <a:ext cx="8974138" cy="823913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定义</a:t>
            </a: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3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.</a:t>
            </a: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1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.</a:t>
            </a: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22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 主析取范式</a:t>
            </a:r>
          </a:p>
        </p:txBody>
      </p:sp>
      <p:sp>
        <p:nvSpPr>
          <p:cNvPr id="171011" name="Rectangle 1027">
            <a:extLst>
              <a:ext uri="{FF2B5EF4-FFF2-40B4-BE49-F238E27FC236}">
                <a16:creationId xmlns:a16="http://schemas.microsoft.com/office/drawing/2014/main" id="{F83E8B05-B464-4F49-B02C-14378E684631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52400" y="1125538"/>
            <a:ext cx="8667750" cy="5183187"/>
          </a:xfrm>
        </p:spPr>
        <p:txBody>
          <a:bodyPr/>
          <a:lstStyle/>
          <a:p>
            <a:pPr marL="439738" indent="-439738">
              <a:lnSpc>
                <a:spcPct val="120000"/>
              </a:lnSpc>
              <a:tabLst>
                <a:tab pos="952500" algn="l"/>
                <a:tab pos="1995488" algn="l"/>
              </a:tabLst>
            </a:pP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设命题公式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中所有不同原子为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1" charset="-122"/>
              </a:rPr>
              <a:t>,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…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1" charset="-122"/>
              </a:rPr>
              <a:t>,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1" charset="-122"/>
              </a:rPr>
              <a:t>，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如果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的某个析取范式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G’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中的每一个短语，都是关于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1" charset="-122"/>
              </a:rPr>
              <a:t>,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…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1" charset="-122"/>
              </a:rPr>
              <a:t>,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的一个极小项，则称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G’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为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的主析取范式。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 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恒假公式的主析取范式用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0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表示。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 </a:t>
            </a:r>
          </a:p>
          <a:p>
            <a:pPr marL="439738" indent="-439738">
              <a:lnSpc>
                <a:spcPct val="120000"/>
              </a:lnSpc>
              <a:buFont typeface="Wingdings" pitchFamily="2" charset="2"/>
              <a:buChar char="v"/>
              <a:tabLst>
                <a:tab pos="952500" algn="l"/>
                <a:tab pos="1995488" algn="l"/>
              </a:tabLst>
            </a:pPr>
            <a:r>
              <a:rPr kumimoji="0" lang="zh-CN" altLang="en-US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例如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  <a:sym typeface="Wingdings" pitchFamily="2" charset="2"/>
              </a:rPr>
              <a:t>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Wingdings" pitchFamily="2" charset="2"/>
              </a:rPr>
              <a:t>(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Wingdings" pitchFamily="2" charset="2"/>
              </a:rPr>
              <a:t>(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 		       (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R)</a:t>
            </a:r>
            <a:b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	       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是主析取范式。 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1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1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71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71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011" grpId="0" build="p" autoUpdateAnimBg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5" name="Slide Number Placeholder 5">
            <a:extLst>
              <a:ext uri="{FF2B5EF4-FFF2-40B4-BE49-F238E27FC236}">
                <a16:creationId xmlns:a16="http://schemas.microsoft.com/office/drawing/2014/main" id="{BD5ABF8F-B1AD-0E4A-B4A6-38B1365FAC7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52215A5-1B8F-E24D-9198-E3628463F850}" type="slidenum">
              <a:rPr kumimoji="0" lang="zh-CN" altLang="en-US" sz="1200"/>
              <a:pPr/>
              <a:t>80</a:t>
            </a:fld>
            <a:endParaRPr kumimoji="0" lang="en-US" altLang="zh-CN" sz="1200"/>
          </a:p>
        </p:txBody>
      </p:sp>
      <p:sp>
        <p:nvSpPr>
          <p:cNvPr id="173058" name="Rectangle 1026">
            <a:extLst>
              <a:ext uri="{FF2B5EF4-FFF2-40B4-BE49-F238E27FC236}">
                <a16:creationId xmlns:a16="http://schemas.microsoft.com/office/drawing/2014/main" id="{8BB0CAED-9E29-8E4F-A433-0BBA407F90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9863" y="320675"/>
            <a:ext cx="7389812" cy="823913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定理</a:t>
            </a: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3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.</a:t>
            </a: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1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.</a:t>
            </a: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5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 </a:t>
            </a:r>
          </a:p>
        </p:txBody>
      </p:sp>
      <p:sp>
        <p:nvSpPr>
          <p:cNvPr id="173059" name="Rectangle 1027">
            <a:extLst>
              <a:ext uri="{FF2B5EF4-FFF2-40B4-BE49-F238E27FC236}">
                <a16:creationId xmlns:a16="http://schemas.microsoft.com/office/drawing/2014/main" id="{2FD8EDCB-3213-B44C-AF11-A6D479D8FE79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07950" y="1412875"/>
            <a:ext cx="8839200" cy="4608513"/>
          </a:xfrm>
        </p:spPr>
        <p:txBody>
          <a:bodyPr/>
          <a:lstStyle/>
          <a:p>
            <a:pPr marL="352425" indent="-352425">
              <a:lnSpc>
                <a:spcPct val="120000"/>
              </a:lnSpc>
              <a:tabLst>
                <a:tab pos="952500" algn="l"/>
                <a:tab pos="1995488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对于命题公式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G，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都存在等价于它的主析取范式。 </a:t>
            </a:r>
          </a:p>
          <a:p>
            <a:pPr marL="352425" indent="-352425">
              <a:lnSpc>
                <a:spcPct val="120000"/>
              </a:lnSpc>
              <a:tabLst>
                <a:tab pos="952500" algn="l"/>
                <a:tab pos="1995488" algn="l"/>
              </a:tabLst>
            </a:pPr>
            <a:r>
              <a:rPr kumimoji="0" lang="zh-CN" altLang="en-US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证明：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由定理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3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.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.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4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知，存在析取范式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G’，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使得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G=G’。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设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中所有不同原子为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,…,P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对于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G’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中每一个短语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’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进行检查，如果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’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不是关于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,…,P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的极小项，则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’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中必然缺少原子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j1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,…,P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jk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。 </a:t>
            </a:r>
            <a:endParaRPr kumimoji="0" lang="zh-CN" altLang="en-US" sz="3200">
              <a:latin typeface="Arial" panose="020B0604020202020204" pitchFamily="34" charset="0"/>
              <a:ea typeface="楷体_GB2312" pitchFamily="1" charset="-122"/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3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3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059" grpId="0" build="p" autoUpdateAnimBg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3" name="Slide Number Placeholder 5">
            <a:extLst>
              <a:ext uri="{FF2B5EF4-FFF2-40B4-BE49-F238E27FC236}">
                <a16:creationId xmlns:a16="http://schemas.microsoft.com/office/drawing/2014/main" id="{12C6B7FF-0442-9F44-B508-63863ADE88E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92432EF-64CF-C047-B70C-CFBD0459C88E}" type="slidenum">
              <a:rPr kumimoji="0" lang="zh-CN" altLang="en-US" sz="1200"/>
              <a:pPr/>
              <a:t>81</a:t>
            </a:fld>
            <a:endParaRPr kumimoji="0" lang="en-US" altLang="zh-CN" sz="1200"/>
          </a:p>
        </p:txBody>
      </p:sp>
      <p:sp>
        <p:nvSpPr>
          <p:cNvPr id="175107" name="Rectangle 2051">
            <a:extLst>
              <a:ext uri="{FF2B5EF4-FFF2-40B4-BE49-F238E27FC236}">
                <a16:creationId xmlns:a16="http://schemas.microsoft.com/office/drawing/2014/main" id="{B520E75A-264D-3447-8EB1-04E7DBC5B2FB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52400" y="381000"/>
            <a:ext cx="8839200" cy="838200"/>
          </a:xfrm>
        </p:spPr>
        <p:txBody>
          <a:bodyPr/>
          <a:lstStyle/>
          <a:p>
            <a:pPr marL="0" indent="0">
              <a:tabLst>
                <a:tab pos="952500" algn="l"/>
                <a:tab pos="1995488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因为：</a:t>
            </a:r>
          </a:p>
        </p:txBody>
      </p:sp>
      <p:graphicFrame>
        <p:nvGraphicFramePr>
          <p:cNvPr id="175109" name="Object 2053">
            <a:extLst>
              <a:ext uri="{FF2B5EF4-FFF2-40B4-BE49-F238E27FC236}">
                <a16:creationId xmlns:a16="http://schemas.microsoft.com/office/drawing/2014/main" id="{22425C0F-FB36-A340-893D-9BB5F4FF35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0738" y="1139825"/>
          <a:ext cx="6991350" cy="167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321" name="公式" r:id="rId4" imgW="2349500" imgH="508000" progId="Equation.3">
                  <p:embed/>
                </p:oleObj>
              </mc:Choice>
              <mc:Fallback>
                <p:oleObj name="公式" r:id="rId4" imgW="2349500" imgH="508000" progId="Equation.3">
                  <p:embed/>
                  <p:pic>
                    <p:nvPicPr>
                      <p:cNvPr id="0" name="Object 20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0738" y="1139825"/>
                        <a:ext cx="6991350" cy="167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5110" name="Rectangle 2054">
            <a:extLst>
              <a:ext uri="{FF2B5EF4-FFF2-40B4-BE49-F238E27FC236}">
                <a16:creationId xmlns:a16="http://schemas.microsoft.com/office/drawing/2014/main" id="{2B3CCED7-16B9-D040-B77B-2F1F07DD1F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175" y="2781300"/>
            <a:ext cx="876300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>
                <a:ea typeface="楷体_GB2312" pitchFamily="1" charset="-122"/>
              </a:rPr>
              <a:t>于是将</a:t>
            </a:r>
            <a:r>
              <a:rPr lang="en-US" altLang="zh-CN" sz="3200">
                <a:ea typeface="楷体_GB2312" pitchFamily="1" charset="-122"/>
              </a:rPr>
              <a:t>G’</a:t>
            </a:r>
            <a:r>
              <a:rPr lang="zh-CN" altLang="en-US" sz="3200">
                <a:ea typeface="楷体_GB2312" pitchFamily="1" charset="-122"/>
              </a:rPr>
              <a:t>中非极小项</a:t>
            </a:r>
            <a:r>
              <a:rPr lang="en-US" altLang="zh-CN" sz="3200">
                <a:ea typeface="楷体_GB2312" pitchFamily="1" charset="-122"/>
              </a:rPr>
              <a:t>G</a:t>
            </a:r>
            <a:r>
              <a:rPr lang="en-US" altLang="zh-CN" sz="3200" baseline="-30000">
                <a:ea typeface="楷体_GB2312" pitchFamily="1" charset="-122"/>
              </a:rPr>
              <a:t>i</a:t>
            </a:r>
            <a:r>
              <a:rPr lang="en-US" altLang="zh-CN" sz="3200">
                <a:ea typeface="楷体_GB2312" pitchFamily="1" charset="-122"/>
              </a:rPr>
              <a:t>’</a:t>
            </a:r>
            <a:r>
              <a:rPr lang="zh-CN" altLang="en-US" sz="3200">
                <a:ea typeface="楷体_GB2312" pitchFamily="1" charset="-122"/>
              </a:rPr>
              <a:t>化成了一些极小项之析取。对</a:t>
            </a:r>
            <a:r>
              <a:rPr lang="en-US" altLang="zh-CN" sz="3200">
                <a:ea typeface="楷体_GB2312" pitchFamily="1" charset="-122"/>
              </a:rPr>
              <a:t>G’</a:t>
            </a:r>
            <a:r>
              <a:rPr lang="zh-CN" altLang="en-US" sz="3200">
                <a:ea typeface="楷体_GB2312" pitchFamily="1" charset="-122"/>
              </a:rPr>
              <a:t>中其他非极小项也做如上处理，最后得等价于</a:t>
            </a:r>
            <a:r>
              <a:rPr lang="en-US" altLang="zh-CN" sz="3200">
                <a:ea typeface="楷体_GB2312" pitchFamily="1" charset="-122"/>
              </a:rPr>
              <a:t>G</a:t>
            </a:r>
            <a:r>
              <a:rPr lang="zh-CN" altLang="en-US" sz="3200">
                <a:ea typeface="楷体_GB2312" pitchFamily="1" charset="-122"/>
              </a:rPr>
              <a:t>的主析取范式</a:t>
            </a:r>
            <a:r>
              <a:rPr lang="en-US" altLang="zh-CN" sz="3200">
                <a:ea typeface="楷体_GB2312" pitchFamily="1" charset="-122"/>
              </a:rPr>
              <a:t>G*。 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5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5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5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107" grpId="0" autoUpdateAnimBg="0"/>
      <p:bldP spid="175110" grpId="0" autoUpdateAnimBg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1" name="Slide Number Placeholder 5">
            <a:extLst>
              <a:ext uri="{FF2B5EF4-FFF2-40B4-BE49-F238E27FC236}">
                <a16:creationId xmlns:a16="http://schemas.microsoft.com/office/drawing/2014/main" id="{D7191C2C-2CE9-F249-B332-A58FD7FD4F2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7AEEE65-CF96-8E4D-869C-EF23CFB49D35}" type="slidenum">
              <a:rPr kumimoji="0" lang="zh-CN" altLang="en-US" sz="1200"/>
              <a:pPr/>
              <a:t>82</a:t>
            </a:fld>
            <a:endParaRPr kumimoji="0" lang="en-US" altLang="zh-CN" sz="1200"/>
          </a:p>
        </p:txBody>
      </p:sp>
      <p:sp>
        <p:nvSpPr>
          <p:cNvPr id="177154" name="Rectangle 2">
            <a:extLst>
              <a:ext uri="{FF2B5EF4-FFF2-40B4-BE49-F238E27FC236}">
                <a16:creationId xmlns:a16="http://schemas.microsoft.com/office/drawing/2014/main" id="{710D56E6-5B42-3846-8524-BC32891BC2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9863" y="115888"/>
            <a:ext cx="8521700" cy="823912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宋体" pitchFamily="2" charset="-122"/>
                <a:ea typeface="+mj-ea"/>
                <a:cs typeface="+mj-cs"/>
              </a:rPr>
              <a:t>例</a:t>
            </a:r>
            <a:endParaRPr lang="zh-CN" altLang="en-US" dirty="0">
              <a:latin typeface="Times New Roman" pitchFamily="18" charset="0"/>
              <a:ea typeface="+mj-ea"/>
              <a:cs typeface="+mj-cs"/>
            </a:endParaRPr>
          </a:p>
        </p:txBody>
      </p:sp>
      <p:sp>
        <p:nvSpPr>
          <p:cNvPr id="177155" name="Rectangle 3">
            <a:extLst>
              <a:ext uri="{FF2B5EF4-FFF2-40B4-BE49-F238E27FC236}">
                <a16:creationId xmlns:a16="http://schemas.microsoft.com/office/drawing/2014/main" id="{545175A3-A059-A940-B847-F69F3F2789C7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07950" y="1123950"/>
            <a:ext cx="8839200" cy="5257800"/>
          </a:xfrm>
        </p:spPr>
        <p:txBody>
          <a:bodyPr/>
          <a:lstStyle/>
          <a:p>
            <a:pPr marL="0" indent="0">
              <a:tabLst>
                <a:tab pos="484188" algn="l"/>
                <a:tab pos="1995488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求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G=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(R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(Q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R))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主析取范式。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 </a:t>
            </a:r>
          </a:p>
          <a:p>
            <a:pPr marL="0" indent="0">
              <a:tabLst>
                <a:tab pos="484188" algn="l"/>
                <a:tab pos="1995488" algn="l"/>
              </a:tabLst>
            </a:pPr>
            <a:r>
              <a:rPr kumimoji="0" lang="zh-CN" altLang="en-US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解：</a:t>
            </a:r>
            <a:b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	=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(R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(Q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R))</a:t>
            </a:r>
          </a:p>
          <a:p>
            <a:pPr marL="0" indent="0">
              <a:buFont typeface="Wingdings" pitchFamily="2" charset="2"/>
              <a:buNone/>
              <a:tabLst>
                <a:tab pos="484188" algn="l"/>
                <a:tab pos="1995488" algn="l"/>
              </a:tabLst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	=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(Q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(Q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R)</a:t>
            </a:r>
          </a:p>
          <a:p>
            <a:pPr marL="0" indent="0">
              <a:buFont typeface="Wingdings" pitchFamily="2" charset="2"/>
              <a:buNone/>
              <a:tabLst>
                <a:tab pos="484188" algn="l"/>
                <a:tab pos="1995488" algn="l"/>
              </a:tabLst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	=(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(Q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(Q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R)</a:t>
            </a:r>
          </a:p>
          <a:p>
            <a:pPr marL="0" indent="0">
              <a:buFont typeface="Wingdings" pitchFamily="2" charset="2"/>
              <a:buNone/>
              <a:tabLst>
                <a:tab pos="484188" algn="l"/>
                <a:tab pos="1995488" algn="l"/>
              </a:tabLst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	=((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Q))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((Q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R))</a:t>
            </a:r>
            <a:b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	 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((Q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P))</a:t>
            </a:r>
          </a:p>
          <a:p>
            <a:pPr marL="0" indent="0">
              <a:buFont typeface="Wingdings" pitchFamily="2" charset="2"/>
              <a:buNone/>
              <a:tabLst>
                <a:tab pos="484188" algn="l"/>
                <a:tab pos="1995488" algn="l"/>
              </a:tabLst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	=(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R)</a:t>
            </a:r>
            <a:b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	 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R)  </a:t>
            </a:r>
            <a:endParaRPr kumimoji="0" lang="zh-CN" altLang="en-US" sz="3200">
              <a:latin typeface="Arial" panose="020B0604020202020204" pitchFamily="34" charset="0"/>
              <a:ea typeface="楷体_GB2312" pitchFamily="1" charset="-122"/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7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7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7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7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7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155" grpId="0" build="p" autoUpdateAnimBg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09" name="Slide Number Placeholder 5">
            <a:extLst>
              <a:ext uri="{FF2B5EF4-FFF2-40B4-BE49-F238E27FC236}">
                <a16:creationId xmlns:a16="http://schemas.microsoft.com/office/drawing/2014/main" id="{244C3B15-968D-0842-AAC4-F9D0B763D5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A206A61-37AA-154B-86BC-631FFF880E33}" type="slidenum">
              <a:rPr kumimoji="0" lang="zh-CN" altLang="en-US" sz="1200"/>
              <a:pPr/>
              <a:t>83</a:t>
            </a:fld>
            <a:endParaRPr kumimoji="0" lang="en-US" altLang="zh-CN" sz="1200"/>
          </a:p>
        </p:txBody>
      </p:sp>
      <p:sp>
        <p:nvSpPr>
          <p:cNvPr id="145410" name="Rectangle 3">
            <a:extLst>
              <a:ext uri="{FF2B5EF4-FFF2-40B4-BE49-F238E27FC236}">
                <a16:creationId xmlns:a16="http://schemas.microsoft.com/office/drawing/2014/main" id="{3FC2FD89-3B56-0849-ADCA-E4C2F66845F8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52400" y="115888"/>
            <a:ext cx="8839200" cy="1190625"/>
          </a:xfrm>
        </p:spPr>
        <p:txBody>
          <a:bodyPr/>
          <a:lstStyle/>
          <a:p>
            <a:pPr marL="0" indent="0">
              <a:tabLst>
                <a:tab pos="484188" algn="l"/>
                <a:tab pos="1995488" algn="l"/>
              </a:tabLst>
            </a:pPr>
            <a:r>
              <a:rPr kumimoji="0" lang="zh-CN" altLang="en-US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另一种方法：真值表法</a:t>
            </a:r>
            <a:endParaRPr kumimoji="0" lang="en-US" altLang="zh-CN" sz="3200">
              <a:solidFill>
                <a:srgbClr val="4E67C8"/>
              </a:solidFill>
              <a:latin typeface="Arial" panose="020B0604020202020204" pitchFamily="34" charset="0"/>
              <a:ea typeface="楷体_GB2312" pitchFamily="1" charset="-122"/>
            </a:endParaRPr>
          </a:p>
          <a:p>
            <a:pPr marL="0" indent="0">
              <a:tabLst>
                <a:tab pos="484188" algn="l"/>
                <a:tab pos="1995488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求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G=(P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(Q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R)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主析取范式。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 </a:t>
            </a:r>
          </a:p>
        </p:txBody>
      </p:sp>
      <p:graphicFrame>
        <p:nvGraphicFramePr>
          <p:cNvPr id="274435" name="Group 3">
            <a:extLst>
              <a:ext uri="{FF2B5EF4-FFF2-40B4-BE49-F238E27FC236}">
                <a16:creationId xmlns:a16="http://schemas.microsoft.com/office/drawing/2014/main" id="{FE6B9FDC-0380-9F4A-964E-A719880389F3}"/>
              </a:ext>
            </a:extLst>
          </p:cNvPr>
          <p:cNvGraphicFramePr>
            <a:graphicFrameLocks noGrp="1"/>
          </p:cNvGraphicFramePr>
          <p:nvPr/>
        </p:nvGraphicFramePr>
        <p:xfrm>
          <a:off x="2057400" y="1412875"/>
          <a:ext cx="4495800" cy="4173538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217965337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6064001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83659088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242850297"/>
                    </a:ext>
                  </a:extLst>
                </a:gridCol>
              </a:tblGrid>
              <a:tr h="5159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P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1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Q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6691886"/>
                  </a:ext>
                </a:extLst>
              </a:tr>
              <a:tr h="4476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  <a:sym typeface="Symbol" pitchFamily="2" charset="2"/>
                        </a:rPr>
                        <a:t>0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 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1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0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1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6245071"/>
                  </a:ext>
                </a:extLst>
              </a:tr>
              <a:tr h="4492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4E67C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  <a:sym typeface="Symbol" pitchFamily="2" charset="2"/>
                        </a:rPr>
                        <a:t>0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4E67C8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1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4E67C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4E67C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 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4E67C8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1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4E67C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0444980"/>
                  </a:ext>
                </a:extLst>
              </a:tr>
              <a:tr h="4492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  <a:sym typeface="Symbol" pitchFamily="2" charset="2"/>
                        </a:rPr>
                        <a:t>0</a:t>
                      </a: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 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1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0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1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5639844"/>
                  </a:ext>
                </a:extLst>
              </a:tr>
              <a:tr h="4476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4E67C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  <a:sym typeface="Symbol" pitchFamily="2" charset="2"/>
                        </a:rPr>
                        <a:t>0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4E67C8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1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4E67C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4E67C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4E67C8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1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4E67C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8078691"/>
                  </a:ext>
                </a:extLst>
              </a:tr>
              <a:tr h="4492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1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0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1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445209"/>
                  </a:ext>
                </a:extLst>
              </a:tr>
              <a:tr h="4492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1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1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1647843"/>
                  </a:ext>
                </a:extLst>
              </a:tr>
              <a:tr h="4476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4E67C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4E67C8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1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4E67C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4E67C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0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4E67C8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1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4E67C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7812582"/>
                  </a:ext>
                </a:extLst>
              </a:tr>
              <a:tr h="44926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4E67C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 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4E67C8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1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4E67C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4E67C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</a:t>
                      </a:r>
                      <a:endParaRPr kumimoji="0" lang="zh-CN" altLang="en-US" sz="2400" b="0" i="0" u="none" strike="noStrike" cap="none" normalizeH="0" baseline="0">
                        <a:ln>
                          <a:noFill/>
                        </a:ln>
                        <a:solidFill>
                          <a:srgbClr val="4E67C8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Arial" panose="020B0604020202020204" pitchFamily="34" charset="0"/>
                        <a:ea typeface="楷体_GB2312" pitchFamily="1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20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6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4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ts val="300"/>
                        </a:spcAft>
                        <a:buClr>
                          <a:srgbClr val="C3260C"/>
                        </a:buClr>
                        <a:buSzPct val="130000"/>
                        <a:buFont typeface="Georgia" panose="02040502050405020303" pitchFamily="18" charset="0"/>
                        <a:defRPr kumimoji="1" sz="1200">
                          <a:solidFill>
                            <a:srgbClr val="404040"/>
                          </a:solidFill>
                          <a:latin typeface="Trebuchet MS" panose="020B070302020209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9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4E67C8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Arial" panose="020B0604020202020204" pitchFamily="34" charset="0"/>
                          <a:ea typeface="楷体_GB2312" pitchFamily="1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377708"/>
                  </a:ext>
                </a:extLst>
              </a:tr>
            </a:tbl>
          </a:graphicData>
        </a:graphic>
      </p:graphicFrame>
      <p:sp>
        <p:nvSpPr>
          <p:cNvPr id="179274" name="Rectangle 74">
            <a:extLst>
              <a:ext uri="{FF2B5EF4-FFF2-40B4-BE49-F238E27FC236}">
                <a16:creationId xmlns:a16="http://schemas.microsoft.com/office/drawing/2014/main" id="{ACF917D8-8F1A-4741-B59F-BDC6829ED6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5661025"/>
            <a:ext cx="8839200" cy="108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484188" algn="l"/>
                <a:tab pos="1995488" algn="l"/>
              </a:tabLs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tabLst>
                <a:tab pos="484188" algn="l"/>
                <a:tab pos="1995488" algn="l"/>
              </a:tabLs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tabLst>
                <a:tab pos="484188" algn="l"/>
                <a:tab pos="1995488" algn="l"/>
              </a:tabLs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tabLst>
                <a:tab pos="484188" algn="l"/>
                <a:tab pos="1995488" algn="l"/>
              </a:tabLs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tabLst>
                <a:tab pos="484188" algn="l"/>
                <a:tab pos="1995488" algn="l"/>
              </a:tabLs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tabLst>
                <a:tab pos="484188" algn="l"/>
                <a:tab pos="1995488" algn="l"/>
              </a:tabLs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tabLst>
                <a:tab pos="484188" algn="l"/>
                <a:tab pos="1995488" algn="l"/>
              </a:tabLs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tabLst>
                <a:tab pos="484188" algn="l"/>
                <a:tab pos="1995488" algn="l"/>
              </a:tabLs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tabLst>
                <a:tab pos="484188" algn="l"/>
                <a:tab pos="1995488" algn="l"/>
              </a:tabLs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Clr>
                <a:schemeClr val="tx2"/>
              </a:buClr>
              <a:buSzPct val="85000"/>
              <a:buFont typeface="Wingdings" pitchFamily="2" charset="2"/>
              <a:buNone/>
            </a:pPr>
            <a:r>
              <a:rPr lang="en-US" altLang="zh-CN" sz="3200">
                <a:ea typeface="楷体_GB2312" pitchFamily="1" charset="-122"/>
              </a:rPr>
              <a:t>G</a:t>
            </a:r>
            <a:r>
              <a:rPr lang="zh-CN" altLang="en-US" sz="3200">
                <a:ea typeface="楷体_GB2312" pitchFamily="1" charset="-122"/>
              </a:rPr>
              <a:t>的主析取范式为(</a:t>
            </a:r>
            <a:r>
              <a:rPr lang="zh-CN" altLang="en-US" sz="3200">
                <a:ea typeface="楷体_GB2312" pitchFamily="1" charset="-122"/>
                <a:sym typeface="Symbol" pitchFamily="2" charset="2"/>
              </a:rPr>
              <a:t></a:t>
            </a:r>
            <a:r>
              <a:rPr lang="en-US" altLang="zh-CN" sz="3200">
                <a:ea typeface="楷体_GB2312" pitchFamily="1" charset="-122"/>
              </a:rPr>
              <a:t>P</a:t>
            </a:r>
            <a:r>
              <a:rPr lang="en-US" altLang="zh-CN" sz="3200">
                <a:ea typeface="楷体_GB2312" pitchFamily="1" charset="-122"/>
                <a:sym typeface="Symbol" pitchFamily="2" charset="2"/>
              </a:rPr>
              <a:t></a:t>
            </a:r>
            <a:r>
              <a:rPr lang="en-US" altLang="zh-CN" sz="3200">
                <a:ea typeface="楷体_GB2312" pitchFamily="1" charset="-122"/>
              </a:rPr>
              <a:t>Q</a:t>
            </a:r>
            <a:r>
              <a:rPr lang="en-US" altLang="zh-CN" sz="3200">
                <a:ea typeface="楷体_GB2312" pitchFamily="1" charset="-122"/>
                <a:sym typeface="Symbol" pitchFamily="2" charset="2"/>
              </a:rPr>
              <a:t></a:t>
            </a:r>
            <a:r>
              <a:rPr lang="en-US" altLang="zh-CN" sz="3200">
                <a:ea typeface="楷体_GB2312" pitchFamily="1" charset="-122"/>
              </a:rPr>
              <a:t>R)</a:t>
            </a:r>
            <a:r>
              <a:rPr lang="en-US" altLang="zh-CN" sz="3200">
                <a:ea typeface="楷体_GB2312" pitchFamily="1" charset="-122"/>
                <a:sym typeface="Symbol" pitchFamily="2" charset="2"/>
              </a:rPr>
              <a:t></a:t>
            </a:r>
            <a:r>
              <a:rPr lang="en-US" altLang="zh-CN" sz="3200">
                <a:ea typeface="楷体_GB2312" pitchFamily="1" charset="-122"/>
              </a:rPr>
              <a:t>(</a:t>
            </a:r>
            <a:r>
              <a:rPr lang="en-US" altLang="zh-CN" sz="3200">
                <a:ea typeface="楷体_GB2312" pitchFamily="1" charset="-122"/>
                <a:sym typeface="Symbol" pitchFamily="2" charset="2"/>
              </a:rPr>
              <a:t></a:t>
            </a:r>
            <a:r>
              <a:rPr lang="en-US" altLang="zh-CN" sz="3200">
                <a:ea typeface="楷体_GB2312" pitchFamily="1" charset="-122"/>
              </a:rPr>
              <a:t>P</a:t>
            </a:r>
            <a:r>
              <a:rPr lang="en-US" altLang="zh-CN" sz="3200">
                <a:ea typeface="楷体_GB2312" pitchFamily="1" charset="-122"/>
                <a:sym typeface="Symbol" pitchFamily="2" charset="2"/>
              </a:rPr>
              <a:t></a:t>
            </a:r>
            <a:r>
              <a:rPr lang="en-US" altLang="zh-CN" sz="3200">
                <a:ea typeface="楷体_GB2312" pitchFamily="1" charset="-122"/>
              </a:rPr>
              <a:t>Q</a:t>
            </a:r>
            <a:r>
              <a:rPr lang="en-US" altLang="zh-CN" sz="3200">
                <a:ea typeface="楷体_GB2312" pitchFamily="1" charset="-122"/>
                <a:sym typeface="Symbol" pitchFamily="2" charset="2"/>
              </a:rPr>
              <a:t></a:t>
            </a:r>
            <a:r>
              <a:rPr lang="en-US" altLang="zh-CN" sz="3200">
                <a:ea typeface="楷体_GB2312" pitchFamily="1" charset="-122"/>
              </a:rPr>
              <a:t>R)</a:t>
            </a:r>
            <a:r>
              <a:rPr lang="en-US" altLang="zh-CN" sz="3200">
                <a:ea typeface="楷体_GB2312" pitchFamily="1" charset="-122"/>
                <a:sym typeface="Symbol" pitchFamily="2" charset="2"/>
              </a:rPr>
              <a:t></a:t>
            </a:r>
            <a:r>
              <a:rPr lang="en-US" altLang="zh-CN" sz="3200">
                <a:ea typeface="楷体_GB2312" pitchFamily="1" charset="-122"/>
              </a:rPr>
              <a:t> (P</a:t>
            </a:r>
            <a:r>
              <a:rPr lang="en-US" altLang="zh-CN" sz="3200">
                <a:ea typeface="楷体_GB2312" pitchFamily="1" charset="-122"/>
                <a:sym typeface="Symbol" pitchFamily="2" charset="2"/>
              </a:rPr>
              <a:t></a:t>
            </a:r>
            <a:r>
              <a:rPr lang="en-US" altLang="zh-CN" sz="3200">
                <a:ea typeface="楷体_GB2312" pitchFamily="1" charset="-122"/>
              </a:rPr>
              <a:t>Q</a:t>
            </a:r>
            <a:r>
              <a:rPr lang="en-US" altLang="zh-CN" sz="3200">
                <a:ea typeface="楷体_GB2312" pitchFamily="1" charset="-122"/>
                <a:sym typeface="Symbol" pitchFamily="2" charset="2"/>
              </a:rPr>
              <a:t></a:t>
            </a:r>
            <a:r>
              <a:rPr lang="en-US" altLang="zh-CN" sz="3200">
                <a:ea typeface="楷体_GB2312" pitchFamily="1" charset="-122"/>
              </a:rPr>
              <a:t>R)</a:t>
            </a:r>
            <a:r>
              <a:rPr lang="en-US" altLang="zh-CN" sz="3200">
                <a:ea typeface="楷体_GB2312" pitchFamily="1" charset="-122"/>
                <a:sym typeface="Symbol" pitchFamily="2" charset="2"/>
              </a:rPr>
              <a:t></a:t>
            </a:r>
            <a:r>
              <a:rPr lang="en-US" altLang="zh-CN" sz="3200">
                <a:ea typeface="楷体_GB2312" pitchFamily="1" charset="-122"/>
              </a:rPr>
              <a:t>(P</a:t>
            </a:r>
            <a:r>
              <a:rPr lang="en-US" altLang="zh-CN" sz="3200">
                <a:ea typeface="楷体_GB2312" pitchFamily="1" charset="-122"/>
                <a:sym typeface="Symbol" pitchFamily="2" charset="2"/>
              </a:rPr>
              <a:t></a:t>
            </a:r>
            <a:r>
              <a:rPr lang="en-US" altLang="zh-CN" sz="3200">
                <a:ea typeface="楷体_GB2312" pitchFamily="1" charset="-122"/>
              </a:rPr>
              <a:t>Q</a:t>
            </a:r>
            <a:r>
              <a:rPr lang="en-US" altLang="zh-CN" sz="3200">
                <a:ea typeface="楷体_GB2312" pitchFamily="1" charset="-122"/>
                <a:sym typeface="Symbol" pitchFamily="2" charset="2"/>
              </a:rPr>
              <a:t></a:t>
            </a:r>
            <a:r>
              <a:rPr lang="en-US" altLang="zh-CN" sz="3200">
                <a:ea typeface="楷体_GB2312" pitchFamily="1" charset="-122"/>
              </a:rPr>
              <a:t>R) </a:t>
            </a:r>
            <a:endParaRPr lang="zh-CN" altLang="en-US" sz="3200">
              <a:ea typeface="楷体_GB2312" pitchFamily="1" charset="-122"/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74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92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274" grpId="0" build="p" autoUpdateAnimBg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7" name="Slide Number Placeholder 5">
            <a:extLst>
              <a:ext uri="{FF2B5EF4-FFF2-40B4-BE49-F238E27FC236}">
                <a16:creationId xmlns:a16="http://schemas.microsoft.com/office/drawing/2014/main" id="{626AA258-0CF5-2E4B-BAB0-D3099789FA2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8ACB98E-A175-F148-B761-54D3E2A33C49}" type="slidenum">
              <a:rPr kumimoji="0" lang="zh-CN" altLang="en-US" sz="1200"/>
              <a:pPr/>
              <a:t>84</a:t>
            </a:fld>
            <a:endParaRPr kumimoji="0" lang="en-US" altLang="zh-CN" sz="1200"/>
          </a:p>
        </p:txBody>
      </p:sp>
      <p:sp>
        <p:nvSpPr>
          <p:cNvPr id="183298" name="Rectangle 1026">
            <a:extLst>
              <a:ext uri="{FF2B5EF4-FFF2-40B4-BE49-F238E27FC236}">
                <a16:creationId xmlns:a16="http://schemas.microsoft.com/office/drawing/2014/main" id="{C0E16D84-89C6-9E49-88C1-061BE7D4E7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9863" y="373063"/>
            <a:ext cx="8521700" cy="823912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楷体_GB2312" charset="0"/>
                <a:ea typeface="楷体_GB2312" charset="0"/>
                <a:cs typeface="+mj-cs"/>
              </a:rPr>
              <a:t>证明真值表法的正确性 </a:t>
            </a:r>
          </a:p>
        </p:txBody>
      </p:sp>
      <p:sp>
        <p:nvSpPr>
          <p:cNvPr id="183299" name="Rectangle 1027">
            <a:extLst>
              <a:ext uri="{FF2B5EF4-FFF2-40B4-BE49-F238E27FC236}">
                <a16:creationId xmlns:a16="http://schemas.microsoft.com/office/drawing/2014/main" id="{A892D454-51FF-5B48-8EAE-0D730FA33AA0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52400" y="1371600"/>
            <a:ext cx="8667750" cy="4002088"/>
          </a:xfrm>
        </p:spPr>
        <p:txBody>
          <a:bodyPr/>
          <a:lstStyle/>
          <a:p>
            <a:pPr marL="352425" indent="-352425">
              <a:lnSpc>
                <a:spcPct val="120000"/>
              </a:lnSpc>
              <a:tabLst>
                <a:tab pos="484188" algn="l"/>
                <a:tab pos="1995488" algn="l"/>
              </a:tabLst>
            </a:pP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对于公式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1" charset="-122"/>
              </a:rPr>
              <a:t>，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用这种方法写出主析取范式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G’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1" charset="-122"/>
              </a:rPr>
              <a:t>，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若解释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使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取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值，而在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下取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值的唯一极小项写在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G’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中，故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G’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也取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值；若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使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取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0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值，而在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下取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的唯一极小项不在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G’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中且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弄假其它所有极小项，故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G’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取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0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值，所以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G’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是与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等价的主析取范式。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 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3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3299" grpId="0" build="p" autoUpdateAnimBg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5" name="Slide Number Placeholder 5">
            <a:extLst>
              <a:ext uri="{FF2B5EF4-FFF2-40B4-BE49-F238E27FC236}">
                <a16:creationId xmlns:a16="http://schemas.microsoft.com/office/drawing/2014/main" id="{F8751EC8-930C-034D-A3B6-0E5D7E516AA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D2D43F4-F773-7E49-8E1C-7E0E98372098}" type="slidenum">
              <a:rPr kumimoji="0" lang="zh-CN" altLang="en-US" sz="1200"/>
              <a:pPr/>
              <a:t>85</a:t>
            </a:fld>
            <a:endParaRPr kumimoji="0" lang="en-US" altLang="zh-CN" sz="1200"/>
          </a:p>
        </p:txBody>
      </p:sp>
      <p:sp>
        <p:nvSpPr>
          <p:cNvPr id="185346" name="Rectangle 1026">
            <a:extLst>
              <a:ext uri="{FF2B5EF4-FFF2-40B4-BE49-F238E27FC236}">
                <a16:creationId xmlns:a16="http://schemas.microsoft.com/office/drawing/2014/main" id="{55902164-1095-B647-89D5-FF51FAD809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9863" y="157163"/>
            <a:ext cx="8521700" cy="823912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定理</a:t>
            </a: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3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.</a:t>
            </a: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1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.</a:t>
            </a: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6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 </a:t>
            </a:r>
          </a:p>
        </p:txBody>
      </p:sp>
      <p:sp>
        <p:nvSpPr>
          <p:cNvPr id="185347" name="Rectangle 1027">
            <a:extLst>
              <a:ext uri="{FF2B5EF4-FFF2-40B4-BE49-F238E27FC236}">
                <a16:creationId xmlns:a16="http://schemas.microsoft.com/office/drawing/2014/main" id="{4D745294-03AE-0848-A220-959D89902FCC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07950" y="1341438"/>
            <a:ext cx="8712200" cy="5111750"/>
          </a:xfrm>
        </p:spPr>
        <p:txBody>
          <a:bodyPr/>
          <a:lstStyle/>
          <a:p>
            <a:pPr marL="352425" indent="-352425" algn="just">
              <a:lnSpc>
                <a:spcPct val="90000"/>
              </a:lnSpc>
              <a:tabLst>
                <a:tab pos="484188" algn="l"/>
                <a:tab pos="1995488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设公式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G，H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是关于原子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,…,P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的两个主析取范式。 如果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G，H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不完全相同，则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G，H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不等价。</a:t>
            </a:r>
          </a:p>
          <a:p>
            <a:pPr marL="352425" indent="-352425">
              <a:lnSpc>
                <a:spcPct val="90000"/>
              </a:lnSpc>
              <a:tabLst>
                <a:tab pos="484188" algn="l"/>
                <a:tab pos="1995488" algn="l"/>
              </a:tabLst>
            </a:pPr>
            <a:r>
              <a:rPr kumimoji="0" lang="zh-CN" altLang="en-US" sz="3200">
                <a:solidFill>
                  <a:srgbClr val="4E67C8"/>
                </a:solidFill>
                <a:latin typeface="宋体" panose="02010600030101010101" pitchFamily="2" charset="-122"/>
                <a:ea typeface="楷体_GB2312" pitchFamily="1" charset="-122"/>
              </a:rPr>
              <a:t>证明：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因为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1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H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不完全相同，所以或者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中有一个极小项不在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H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中；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 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或者反之。不妨设极小项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m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 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在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中而不在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H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中。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 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于是根据极小项的性质，二进制数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所对应的关于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1" charset="-122"/>
              </a:rPr>
              <a:t>,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…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1" charset="-122"/>
              </a:rPr>
              <a:t>,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的解释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使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m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取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值，从而使公式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取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值。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使所有不是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m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的极小项取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0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值，从而使公式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H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取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0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值。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 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故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1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H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不等价。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 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5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347" grpId="0" build="p" autoUpdateAnimBg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3" name="Slide Number Placeholder 5">
            <a:extLst>
              <a:ext uri="{FF2B5EF4-FFF2-40B4-BE49-F238E27FC236}">
                <a16:creationId xmlns:a16="http://schemas.microsoft.com/office/drawing/2014/main" id="{C4396EAB-4212-C84E-B1DB-B46E0F11B72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0DFA544-F6C6-D848-A7C8-FBB9173CB85B}" type="slidenum">
              <a:rPr kumimoji="0" lang="zh-CN" altLang="en-US" sz="1200"/>
              <a:pPr/>
              <a:t>86</a:t>
            </a:fld>
            <a:endParaRPr kumimoji="0" lang="en-US" altLang="zh-CN" sz="1200"/>
          </a:p>
        </p:txBody>
      </p:sp>
      <p:sp>
        <p:nvSpPr>
          <p:cNvPr id="187394" name="Rectangle 2">
            <a:extLst>
              <a:ext uri="{FF2B5EF4-FFF2-40B4-BE49-F238E27FC236}">
                <a16:creationId xmlns:a16="http://schemas.microsoft.com/office/drawing/2014/main" id="{50D6ABE2-C184-0841-8B9B-9A3C186255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9863" y="260350"/>
            <a:ext cx="8521700" cy="823913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定理</a:t>
            </a: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3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.</a:t>
            </a: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1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.</a:t>
            </a: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7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 </a:t>
            </a:r>
          </a:p>
        </p:txBody>
      </p:sp>
      <p:sp>
        <p:nvSpPr>
          <p:cNvPr id="151555" name="Rectangle 3">
            <a:extLst>
              <a:ext uri="{FF2B5EF4-FFF2-40B4-BE49-F238E27FC236}">
                <a16:creationId xmlns:a16="http://schemas.microsoft.com/office/drawing/2014/main" id="{9B8AA81C-3BE2-6347-B97C-2220A46E57A6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52400" y="1258888"/>
            <a:ext cx="8523288" cy="1882775"/>
          </a:xfrm>
        </p:spPr>
        <p:txBody>
          <a:bodyPr/>
          <a:lstStyle/>
          <a:p>
            <a:pPr marL="352425" indent="-352425" algn="just">
              <a:tabLst>
                <a:tab pos="484188" algn="l"/>
                <a:tab pos="1995488" algn="l"/>
              </a:tabLst>
            </a:pP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对于任意公式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1" charset="-122"/>
              </a:rPr>
              <a:t>，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存在唯一一个与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等价的主析取范式。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 </a:t>
            </a:r>
          </a:p>
        </p:txBody>
      </p:sp>
    </p:spTree>
  </p:cSld>
  <p:clrMapOvr>
    <a:masterClrMapping/>
  </p:clrMapOvr>
  <p:transition>
    <p:blinds dir="vert"/>
  </p:transition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1" name="Slide Number Placeholder 5">
            <a:extLst>
              <a:ext uri="{FF2B5EF4-FFF2-40B4-BE49-F238E27FC236}">
                <a16:creationId xmlns:a16="http://schemas.microsoft.com/office/drawing/2014/main" id="{A01F6280-98AA-B241-8E69-435425E258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0F96081-C7F4-C147-BC42-9C1C03150C89}" type="slidenum">
              <a:rPr kumimoji="0" lang="zh-CN" altLang="en-US" sz="1200"/>
              <a:pPr/>
              <a:t>87</a:t>
            </a:fld>
            <a:endParaRPr kumimoji="0" lang="en-US" altLang="zh-CN" sz="1200"/>
          </a:p>
        </p:txBody>
      </p:sp>
      <p:sp>
        <p:nvSpPr>
          <p:cNvPr id="191490" name="Rectangle 2">
            <a:extLst>
              <a:ext uri="{FF2B5EF4-FFF2-40B4-BE49-F238E27FC236}">
                <a16:creationId xmlns:a16="http://schemas.microsoft.com/office/drawing/2014/main" id="{66D6A929-943E-644D-B563-5852FBBC68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313" y="228824"/>
            <a:ext cx="8445500" cy="823912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恒真恒假性的判定 </a:t>
            </a:r>
          </a:p>
        </p:txBody>
      </p:sp>
      <p:sp>
        <p:nvSpPr>
          <p:cNvPr id="191491" name="Rectangle 3">
            <a:extLst>
              <a:ext uri="{FF2B5EF4-FFF2-40B4-BE49-F238E27FC236}">
                <a16:creationId xmlns:a16="http://schemas.microsoft.com/office/drawing/2014/main" id="{DDCE7BDD-5823-BE41-B47F-40090DAAC7BC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34925" y="1430338"/>
            <a:ext cx="8893175" cy="4806950"/>
          </a:xfrm>
        </p:spPr>
        <p:txBody>
          <a:bodyPr>
            <a:noAutofit/>
          </a:bodyPr>
          <a:lstStyle/>
          <a:p>
            <a:pPr marL="352425" indent="-352425">
              <a:lnSpc>
                <a:spcPct val="90000"/>
              </a:lnSpc>
              <a:spcBef>
                <a:spcPct val="5000"/>
              </a:spcBef>
              <a:tabLst>
                <a:tab pos="952500" algn="l"/>
                <a:tab pos="1995488" algn="l"/>
              </a:tabLst>
            </a:pPr>
            <a:r>
              <a:rPr kumimoji="0" lang="zh-CN" altLang="en-US" sz="28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引理</a:t>
            </a:r>
            <a:r>
              <a:rPr kumimoji="0" lang="en-US" altLang="zh-CN" sz="28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3.1.2</a:t>
            </a:r>
            <a:r>
              <a:rPr kumimoji="0" lang="zh-CN" altLang="en-US" sz="28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  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短语是恒假的当且仅当至少有一个原子及其否定(也称互补对)同时在此短语中出现。 </a:t>
            </a:r>
          </a:p>
          <a:p>
            <a:pPr marL="352425" indent="-352425" algn="just">
              <a:lnSpc>
                <a:spcPct val="90000"/>
              </a:lnSpc>
              <a:spcBef>
                <a:spcPct val="5000"/>
              </a:spcBef>
              <a:tabLst>
                <a:tab pos="952500" algn="l"/>
                <a:tab pos="1995488" algn="l"/>
              </a:tabLst>
            </a:pPr>
            <a:r>
              <a:rPr kumimoji="0" lang="zh-CN" altLang="en-US" sz="28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证明：</a:t>
            </a:r>
            <a:r>
              <a:rPr kumimoji="0" lang="zh-CN" altLang="en-US" sz="2800" u="sng">
                <a:latin typeface="Arial" panose="020B0604020202020204" pitchFamily="34" charset="0"/>
                <a:ea typeface="楷体_GB2312" pitchFamily="1" charset="-122"/>
              </a:rPr>
              <a:t>充分性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，若有一个原子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及其否定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同时出现在短语中，则此短语有形式：</a:t>
            </a:r>
            <a:endParaRPr kumimoji="0" lang="en-US" altLang="zh-CN" sz="2800">
              <a:latin typeface="Arial" panose="020B0604020202020204" pitchFamily="34" charset="0"/>
              <a:ea typeface="楷体_GB2312" pitchFamily="1" charset="-122"/>
            </a:endParaRPr>
          </a:p>
          <a:p>
            <a:pPr marL="352425" indent="-352425" algn="ctr">
              <a:lnSpc>
                <a:spcPct val="90000"/>
              </a:lnSpc>
              <a:spcBef>
                <a:spcPct val="5000"/>
              </a:spcBef>
              <a:buFont typeface="Georgia" panose="02040502050405020303" pitchFamily="18" charset="0"/>
              <a:buNone/>
              <a:tabLst>
                <a:tab pos="952500" algn="l"/>
                <a:tab pos="1995488" algn="l"/>
              </a:tabLst>
            </a:pP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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…</a:t>
            </a:r>
          </a:p>
          <a:p>
            <a:pPr marL="352425" indent="-352425" algn="just">
              <a:lnSpc>
                <a:spcPct val="90000"/>
              </a:lnSpc>
              <a:spcBef>
                <a:spcPct val="5000"/>
              </a:spcBef>
              <a:buFont typeface="Wingdings" pitchFamily="2" charset="2"/>
              <a:buNone/>
              <a:tabLst>
                <a:tab pos="952500" algn="l"/>
                <a:tab pos="1995488" algn="l"/>
              </a:tabLst>
            </a:pP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	显然，不管是什么解释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I，P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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在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下取0值，于是此短语在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下取0值，故此短语恒假。</a:t>
            </a:r>
          </a:p>
          <a:p>
            <a:pPr marL="352425" indent="-352425" algn="just">
              <a:lnSpc>
                <a:spcPct val="90000"/>
              </a:lnSpc>
              <a:spcBef>
                <a:spcPct val="5000"/>
              </a:spcBef>
              <a:buFont typeface="Wingdings" pitchFamily="2" charset="2"/>
              <a:buNone/>
              <a:tabLst>
                <a:tab pos="952500" algn="l"/>
                <a:tab pos="1995488" algn="l"/>
              </a:tabLst>
            </a:pP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	</a:t>
            </a:r>
            <a:r>
              <a:rPr kumimoji="0" lang="zh-CN" altLang="en-US" sz="2800" u="sng">
                <a:latin typeface="Arial" panose="020B0604020202020204" pitchFamily="34" charset="0"/>
                <a:ea typeface="楷体_GB2312" pitchFamily="1" charset="-122"/>
              </a:rPr>
              <a:t>必要性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，若短语恒假，而任意原子及其否定均不同时在短语中出现。那么，取这样的解释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I：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指定带有否定号的原子取0值，不带否定号的原子取1值，显然，此短语在这个解释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下取1值，与此短语恒假矛盾。 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1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1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1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1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491" grpId="0" build="p" autoUpdateAnimBg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49" name="Slide Number Placeholder 5">
            <a:extLst>
              <a:ext uri="{FF2B5EF4-FFF2-40B4-BE49-F238E27FC236}">
                <a16:creationId xmlns:a16="http://schemas.microsoft.com/office/drawing/2014/main" id="{E6BF0719-C01A-4F40-8186-60D92290286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9BA337A-BDDE-2945-B628-C98F863B8668}" type="slidenum">
              <a:rPr kumimoji="0" lang="zh-CN" altLang="en-US" sz="1200"/>
              <a:pPr/>
              <a:t>88</a:t>
            </a:fld>
            <a:endParaRPr kumimoji="0" lang="en-US" altLang="zh-CN" sz="1200"/>
          </a:p>
        </p:txBody>
      </p:sp>
      <p:sp>
        <p:nvSpPr>
          <p:cNvPr id="189442" name="Rectangle 2">
            <a:extLst>
              <a:ext uri="{FF2B5EF4-FFF2-40B4-BE49-F238E27FC236}">
                <a16:creationId xmlns:a16="http://schemas.microsoft.com/office/drawing/2014/main" id="{625DD95D-2784-8647-BAE9-C5B9CFEDEA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9863" y="301625"/>
            <a:ext cx="8445500" cy="823913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定理</a:t>
            </a: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3.1.8</a:t>
            </a:r>
            <a:endParaRPr lang="zh-CN" altLang="en-US" b="0" dirty="0">
              <a:latin typeface="宋体" charset="0"/>
              <a:ea typeface="楷体_GB2312" charset="0"/>
              <a:cs typeface="+mj-cs"/>
            </a:endParaRPr>
          </a:p>
        </p:txBody>
      </p:sp>
      <p:sp>
        <p:nvSpPr>
          <p:cNvPr id="189443" name="Rectangle 3">
            <a:extLst>
              <a:ext uri="{FF2B5EF4-FFF2-40B4-BE49-F238E27FC236}">
                <a16:creationId xmlns:a16="http://schemas.microsoft.com/office/drawing/2014/main" id="{E5D46141-9534-2149-8051-9A6B332B121F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07950" y="1258888"/>
            <a:ext cx="8712200" cy="4473575"/>
          </a:xfrm>
        </p:spPr>
        <p:txBody>
          <a:bodyPr/>
          <a:lstStyle/>
          <a:p>
            <a:pPr marL="352425" indent="-352425">
              <a:tabLst>
                <a:tab pos="952500" algn="l"/>
                <a:tab pos="1995488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命题公式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是恒假的当且仅当在等价于它的析取范式中，每个短语均至少包含一个原子及其否定。 </a:t>
            </a:r>
          </a:p>
          <a:p>
            <a:pPr marL="352425" indent="-352425">
              <a:tabLst>
                <a:tab pos="952500" algn="l"/>
                <a:tab pos="1995488" algn="l"/>
              </a:tabLst>
            </a:pPr>
            <a:r>
              <a:rPr kumimoji="0" lang="zh-CN" altLang="en-US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证明：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 设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的析取范式如下：</a:t>
            </a:r>
            <a:b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		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G=G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…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n</a:t>
            </a:r>
            <a:b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其中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是短语，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i=1，…，n。</a:t>
            </a:r>
            <a:b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显然，公式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恒假的充要条件是每个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恒假。再根据引理，此定理结论显然成立。 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9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9443" grpId="0" build="p" autoUpdateAnimBg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7" name="Slide Number Placeholder 5">
            <a:extLst>
              <a:ext uri="{FF2B5EF4-FFF2-40B4-BE49-F238E27FC236}">
                <a16:creationId xmlns:a16="http://schemas.microsoft.com/office/drawing/2014/main" id="{D4881156-1650-C14C-BD6C-A998C5F6CC5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21AD8A0-7F57-0747-9E75-4427C385D323}" type="slidenum">
              <a:rPr kumimoji="0" lang="zh-CN" altLang="en-US" sz="1200"/>
              <a:pPr/>
              <a:t>89</a:t>
            </a:fld>
            <a:endParaRPr kumimoji="0" lang="en-US" altLang="zh-CN" sz="1200"/>
          </a:p>
        </p:txBody>
      </p:sp>
      <p:sp>
        <p:nvSpPr>
          <p:cNvPr id="197634" name="Rectangle 1026">
            <a:extLst>
              <a:ext uri="{FF2B5EF4-FFF2-40B4-BE49-F238E27FC236}">
                <a16:creationId xmlns:a16="http://schemas.microsoft.com/office/drawing/2014/main" id="{D097DF26-6DF9-3243-A1A5-1EAAD94F12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9863" y="320675"/>
            <a:ext cx="8445500" cy="823913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  <a:cs typeface="+mj-cs"/>
              </a:rPr>
              <a:t>例</a:t>
            </a: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3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.</a:t>
            </a: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1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.</a:t>
            </a:r>
            <a:r>
              <a:rPr lang="zh-CN" altLang="zh-CN" dirty="0">
                <a:latin typeface="Arial" charset="0"/>
                <a:ea typeface="楷体_GB2312" charset="0"/>
                <a:cs typeface="+mj-cs"/>
              </a:rPr>
              <a:t>4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 </a:t>
            </a:r>
          </a:p>
        </p:txBody>
      </p:sp>
      <p:sp>
        <p:nvSpPr>
          <p:cNvPr id="197635" name="Rectangle 1027">
            <a:extLst>
              <a:ext uri="{FF2B5EF4-FFF2-40B4-BE49-F238E27FC236}">
                <a16:creationId xmlns:a16="http://schemas.microsoft.com/office/drawing/2014/main" id="{D962773F-A3D7-EC43-97D8-79BCB2B2D260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52400" y="1258888"/>
            <a:ext cx="8839200" cy="3249612"/>
          </a:xfrm>
        </p:spPr>
        <p:txBody>
          <a:bodyPr/>
          <a:lstStyle/>
          <a:p>
            <a:pPr marL="352425" indent="-352425" algn="just">
              <a:tabLst>
                <a:tab pos="1239838" algn="l"/>
                <a:tab pos="1995488" algn="l"/>
              </a:tabLst>
            </a:pPr>
            <a:r>
              <a:rPr kumimoji="0" lang="zh-CN" altLang="en-US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判断公式</a:t>
            </a:r>
            <a:r>
              <a:rPr kumimoji="0" lang="en-US" altLang="zh-CN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G=(P</a:t>
            </a:r>
            <a:r>
              <a:rPr kumimoji="0" lang="en-US" altLang="zh-CN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Q)</a:t>
            </a:r>
            <a:r>
              <a:rPr kumimoji="0" lang="en-US" altLang="zh-CN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</a:t>
            </a:r>
            <a:r>
              <a:rPr kumimoji="0" lang="en-US" altLang="zh-CN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zh-CN" altLang="en-US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是否恒假?</a:t>
            </a:r>
          </a:p>
          <a:p>
            <a:pPr marL="352425" indent="-352425">
              <a:buFont typeface="Wingdings" pitchFamily="2" charset="2"/>
              <a:buNone/>
              <a:tabLst>
                <a:tab pos="1239838" algn="l"/>
                <a:tab pos="1995488" algn="l"/>
              </a:tabLst>
            </a:pPr>
            <a:r>
              <a:rPr kumimoji="0" lang="zh-CN" altLang="en-US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解：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G=(P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  <a:b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	=(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  <a:b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	=(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(Q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Q)</a:t>
            </a:r>
          </a:p>
          <a:p>
            <a:pPr marL="352425" indent="-352425">
              <a:buFont typeface="Wingdings" pitchFamily="2" charset="2"/>
              <a:buNone/>
              <a:tabLst>
                <a:tab pos="1239838" algn="l"/>
                <a:tab pos="1995488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	故公式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是恒假的。 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7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97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7635" grpId="0" build="p" autoUpdateAnimBg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5" name="Slide Number Placeholder 5">
            <a:extLst>
              <a:ext uri="{FF2B5EF4-FFF2-40B4-BE49-F238E27FC236}">
                <a16:creationId xmlns:a16="http://schemas.microsoft.com/office/drawing/2014/main" id="{80A8A325-7D26-D047-A5E2-7B88586EA72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57F85A7-3995-814D-BE75-C78B72D3BC25}" type="slidenum">
              <a:rPr kumimoji="0" lang="zh-CN" altLang="en-US" sz="1200"/>
              <a:pPr/>
              <a:t>90</a:t>
            </a:fld>
            <a:endParaRPr kumimoji="0" lang="en-US" altLang="zh-CN" sz="1200"/>
          </a:p>
        </p:txBody>
      </p:sp>
      <p:sp>
        <p:nvSpPr>
          <p:cNvPr id="195586" name="Rectangle 1026">
            <a:extLst>
              <a:ext uri="{FF2B5EF4-FFF2-40B4-BE49-F238E27FC236}">
                <a16:creationId xmlns:a16="http://schemas.microsoft.com/office/drawing/2014/main" id="{0950F981-CF68-F14C-84B2-15969079EB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9863" y="320675"/>
            <a:ext cx="8445500" cy="823913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  <a:cs typeface="+mj-cs"/>
              </a:rPr>
              <a:t>例</a:t>
            </a: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3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.</a:t>
            </a: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1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.</a:t>
            </a:r>
            <a:r>
              <a:rPr lang="zh-CN" altLang="zh-CN" dirty="0">
                <a:latin typeface="Arial" charset="0"/>
                <a:ea typeface="楷体_GB2312" charset="0"/>
                <a:cs typeface="+mj-cs"/>
              </a:rPr>
              <a:t>5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 </a:t>
            </a:r>
          </a:p>
        </p:txBody>
      </p:sp>
      <p:sp>
        <p:nvSpPr>
          <p:cNvPr id="195587" name="Rectangle 1027">
            <a:extLst>
              <a:ext uri="{FF2B5EF4-FFF2-40B4-BE49-F238E27FC236}">
                <a16:creationId xmlns:a16="http://schemas.microsoft.com/office/drawing/2014/main" id="{6807BC5D-02C1-6741-B4C5-93CF0FA51EDC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07950" y="1143000"/>
            <a:ext cx="8856663" cy="5410200"/>
          </a:xfrm>
        </p:spPr>
        <p:txBody>
          <a:bodyPr/>
          <a:lstStyle/>
          <a:p>
            <a:pPr marL="0" indent="0" algn="just">
              <a:buFont typeface="Wingdings" pitchFamily="2" charset="2"/>
              <a:buNone/>
              <a:tabLst>
                <a:tab pos="377825" algn="l"/>
                <a:tab pos="1995488" algn="l"/>
              </a:tabLst>
            </a:pPr>
            <a:r>
              <a:rPr kumimoji="0" lang="zh-CN" altLang="en-US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判断公式</a:t>
            </a:r>
            <a:r>
              <a:rPr kumimoji="0" lang="en-US" altLang="zh-CN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G=(P</a:t>
            </a:r>
            <a:r>
              <a:rPr kumimoji="0" lang="en-US" altLang="zh-CN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Q)</a:t>
            </a:r>
            <a:r>
              <a:rPr kumimoji="0" lang="en-US" altLang="zh-CN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(Q</a:t>
            </a:r>
            <a:r>
              <a:rPr kumimoji="0" lang="en-US" altLang="zh-CN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R)</a:t>
            </a:r>
            <a:r>
              <a:rPr kumimoji="0" lang="en-US" altLang="zh-CN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(R</a:t>
            </a:r>
            <a:r>
              <a:rPr kumimoji="0" lang="en-US" altLang="zh-CN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P)</a:t>
            </a:r>
            <a:r>
              <a:rPr kumimoji="0" lang="zh-CN" altLang="en-US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是否恒假</a:t>
            </a:r>
            <a:r>
              <a:rPr kumimoji="0" lang="en-US" altLang="zh-CN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.</a:t>
            </a:r>
          </a:p>
          <a:p>
            <a:pPr marL="0" indent="0">
              <a:tabLst>
                <a:tab pos="377825" algn="l"/>
                <a:tab pos="1995488" algn="l"/>
              </a:tabLst>
            </a:pPr>
            <a:r>
              <a:rPr kumimoji="0" lang="zh-CN" altLang="en-US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解：</a:t>
            </a:r>
            <a:br>
              <a:rPr kumimoji="0" lang="zh-CN" altLang="en-US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	=(P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(Q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(R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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P)</a:t>
            </a:r>
            <a:b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	=(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P)</a:t>
            </a:r>
            <a:b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	=((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(Q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(Q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R))</a:t>
            </a:r>
            <a:b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	 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P)</a:t>
            </a:r>
            <a:b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	=</a:t>
            </a:r>
            <a:r>
              <a:rPr kumimoji="0" lang="en-US" altLang="zh-CN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(</a:t>
            </a:r>
            <a:r>
              <a:rPr kumimoji="0" lang="en-US" altLang="zh-CN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</a:t>
            </a:r>
            <a:r>
              <a:rPr kumimoji="0" lang="en-US" altLang="zh-CN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</a:t>
            </a:r>
            <a:r>
              <a:rPr kumimoji="0" lang="en-US" altLang="zh-CN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R)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(Q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R)</a:t>
            </a:r>
            <a:b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	 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(Q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(Q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P)</a:t>
            </a:r>
            <a:b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	 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(Q</a:t>
            </a:r>
            <a:r>
              <a:rPr kumimoji="0" lang="en-US" altLang="zh-CN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R</a:t>
            </a:r>
            <a:r>
              <a:rPr kumimoji="0" lang="en-US" altLang="zh-CN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P)</a:t>
            </a:r>
          </a:p>
          <a:p>
            <a:pPr marL="0" indent="0">
              <a:tabLst>
                <a:tab pos="377825" algn="l"/>
                <a:tab pos="1995488" algn="l"/>
              </a:tabLst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故公式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不是恒假的。 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5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95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587" grpId="0" build="p" autoUpdateAnimBg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3" name="Slide Number Placeholder 5">
            <a:extLst>
              <a:ext uri="{FF2B5EF4-FFF2-40B4-BE49-F238E27FC236}">
                <a16:creationId xmlns:a16="http://schemas.microsoft.com/office/drawing/2014/main" id="{4B00D534-21D0-8745-9B2B-ECBD8795715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B6D144D-7774-384D-8F2F-140B680D5C1C}" type="slidenum">
              <a:rPr kumimoji="0" lang="zh-CN" altLang="en-US" sz="1200"/>
              <a:pPr/>
              <a:t>91</a:t>
            </a:fld>
            <a:endParaRPr kumimoji="0" lang="en-US" altLang="zh-CN" sz="1200"/>
          </a:p>
        </p:txBody>
      </p:sp>
      <p:sp>
        <p:nvSpPr>
          <p:cNvPr id="199682" name="Rectangle 1026">
            <a:extLst>
              <a:ext uri="{FF2B5EF4-FFF2-40B4-BE49-F238E27FC236}">
                <a16:creationId xmlns:a16="http://schemas.microsoft.com/office/drawing/2014/main" id="{FA3CF133-5D37-F44F-813F-740BFA6AEF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9863" y="300832"/>
            <a:ext cx="8445500" cy="823912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  <a:cs typeface="+mj-cs"/>
              </a:rPr>
              <a:t>其它方法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 </a:t>
            </a:r>
          </a:p>
        </p:txBody>
      </p:sp>
      <p:sp>
        <p:nvSpPr>
          <p:cNvPr id="199683" name="Rectangle 1027">
            <a:extLst>
              <a:ext uri="{FF2B5EF4-FFF2-40B4-BE49-F238E27FC236}">
                <a16:creationId xmlns:a16="http://schemas.microsoft.com/office/drawing/2014/main" id="{E5E38986-AB04-8340-BE75-B61FFE5E8090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06363" y="1484313"/>
            <a:ext cx="8858250" cy="4752975"/>
          </a:xfrm>
        </p:spPr>
        <p:txBody>
          <a:bodyPr/>
          <a:lstStyle/>
          <a:p>
            <a:pPr marL="287338" indent="-287338">
              <a:buFont typeface="Wingdings" pitchFamily="2" charset="2"/>
              <a:buAutoNum type="arabicPeriod"/>
              <a:tabLst>
                <a:tab pos="1239838" algn="l"/>
                <a:tab pos="1995488" algn="l"/>
              </a:tabLst>
            </a:pP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把公式化成主析取范式</a:t>
            </a:r>
            <a:b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公式恒假时，主析取范式没有极小项； 公式恒真时，主析取范式有全部极小项。</a:t>
            </a:r>
          </a:p>
          <a:p>
            <a:pPr marL="287338" indent="-287338">
              <a:buFont typeface="Wingdings" pitchFamily="2" charset="2"/>
              <a:buAutoNum type="arabicPeriod"/>
              <a:tabLst>
                <a:tab pos="1239838" algn="l"/>
                <a:tab pos="1995488" algn="l"/>
              </a:tabLst>
            </a:pP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一种判定算法</a:t>
            </a:r>
            <a:b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对任给要判定的命题公式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G，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设其中有原子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28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,P</a:t>
            </a:r>
            <a:r>
              <a:rPr kumimoji="0" lang="en-US" altLang="zh-CN" sz="2800" baseline="-30000">
                <a:latin typeface="Arial" panose="020B0604020202020204" pitchFamily="34" charset="0"/>
                <a:ea typeface="楷体_GB2312" pitchFamily="1" charset="-122"/>
              </a:rPr>
              <a:t>2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,…,P</a:t>
            </a:r>
            <a:r>
              <a:rPr kumimoji="0" lang="en-US" altLang="zh-CN" sz="2800" baseline="-30000"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令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28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取1值，求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的真值，或为1，或为0，或成为新公式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28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且其中只有原子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2800" baseline="-30000">
                <a:latin typeface="Arial" panose="020B0604020202020204" pitchFamily="34" charset="0"/>
                <a:ea typeface="楷体_GB2312" pitchFamily="1" charset="-122"/>
              </a:rPr>
              <a:t>2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,…, P</a:t>
            </a:r>
            <a:r>
              <a:rPr kumimoji="0" lang="en-US" altLang="zh-CN" sz="2800" baseline="-30000"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再令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28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取0值，求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真值，如此继续，到最终只含0或1为止，若最终结果全为1，则公式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恒真，若最终结果全为0，则公式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恒假，若最终结果有1，有0，则是可满足的。 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9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99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9683" grpId="0" build="p" autoUpdateAnimBg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1" name="Slide Number Placeholder 5">
            <a:extLst>
              <a:ext uri="{FF2B5EF4-FFF2-40B4-BE49-F238E27FC236}">
                <a16:creationId xmlns:a16="http://schemas.microsoft.com/office/drawing/2014/main" id="{DF680E26-DC2C-454B-987C-442AEAA27D3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F75B2E2-3DB5-634B-BCD4-BF85A0527473}" type="slidenum">
              <a:rPr kumimoji="0" lang="zh-CN" altLang="en-US" sz="1200"/>
              <a:pPr/>
              <a:t>92</a:t>
            </a:fld>
            <a:endParaRPr kumimoji="0" lang="en-US" altLang="zh-CN" sz="1200"/>
          </a:p>
        </p:txBody>
      </p:sp>
      <p:sp>
        <p:nvSpPr>
          <p:cNvPr id="201730" name="Rectangle 2">
            <a:extLst>
              <a:ext uri="{FF2B5EF4-FFF2-40B4-BE49-F238E27FC236}">
                <a16:creationId xmlns:a16="http://schemas.microsoft.com/office/drawing/2014/main" id="{059B2042-3DD8-A344-BA7C-5F0786989A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9863" y="188913"/>
            <a:ext cx="8445500" cy="823912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  <a:cs typeface="+mj-cs"/>
              </a:rPr>
              <a:t>例</a:t>
            </a: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3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.</a:t>
            </a: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1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.</a:t>
            </a:r>
            <a:r>
              <a:rPr lang="en-US" altLang="zh-CN" dirty="0">
                <a:latin typeface="Arial" charset="0"/>
                <a:ea typeface="楷体_GB2312" charset="0"/>
                <a:cs typeface="+mj-cs"/>
              </a:rPr>
              <a:t>6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 </a:t>
            </a:r>
          </a:p>
        </p:txBody>
      </p:sp>
      <p:grpSp>
        <p:nvGrpSpPr>
          <p:cNvPr id="2" name="Group 26">
            <a:extLst>
              <a:ext uri="{FF2B5EF4-FFF2-40B4-BE49-F238E27FC236}">
                <a16:creationId xmlns:a16="http://schemas.microsoft.com/office/drawing/2014/main" id="{D3EE874E-5216-024D-8224-A4152BFBAEEB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1279525"/>
            <a:ext cx="7391400" cy="5045075"/>
            <a:chOff x="480" y="806"/>
            <a:chExt cx="4656" cy="3178"/>
          </a:xfrm>
        </p:grpSpPr>
        <p:sp>
          <p:nvSpPr>
            <p:cNvPr id="163844" name="Rectangle 5">
              <a:extLst>
                <a:ext uri="{FF2B5EF4-FFF2-40B4-BE49-F238E27FC236}">
                  <a16:creationId xmlns:a16="http://schemas.microsoft.com/office/drawing/2014/main" id="{DFC03048-4BF2-8744-AA55-5EAAFA9933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806"/>
              <a:ext cx="3264" cy="37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3200" b="1">
                  <a:latin typeface="Times New Roman" panose="02020603050405020304" pitchFamily="18" charset="0"/>
                </a:rPr>
                <a:t>(</a:t>
              </a:r>
              <a:r>
                <a:rPr lang="en-US" altLang="zh-CN" sz="3200" b="1">
                  <a:latin typeface="Times New Roman" panose="02020603050405020304" pitchFamily="18" charset="0"/>
                </a:rPr>
                <a:t>P</a:t>
              </a:r>
              <a:r>
                <a:rPr lang="en-US" altLang="zh-CN" sz="3200" b="1">
                  <a:latin typeface="Times New Roman" panose="02020603050405020304" pitchFamily="18" charset="0"/>
                  <a:sym typeface="Symbol" pitchFamily="2" charset="2"/>
                </a:rPr>
                <a:t></a:t>
              </a:r>
              <a:r>
                <a:rPr lang="en-US" altLang="zh-CN" sz="3200" b="1">
                  <a:latin typeface="Times New Roman" panose="02020603050405020304" pitchFamily="18" charset="0"/>
                </a:rPr>
                <a:t>Q</a:t>
              </a:r>
              <a:r>
                <a:rPr lang="en-US" altLang="zh-CN" sz="3200" b="1">
                  <a:latin typeface="Times New Roman" panose="02020603050405020304" pitchFamily="18" charset="0"/>
                  <a:sym typeface="Symbol" pitchFamily="2" charset="2"/>
                </a:rPr>
                <a:t></a:t>
              </a:r>
              <a:r>
                <a:rPr lang="en-US" altLang="zh-CN" sz="3200" b="1">
                  <a:latin typeface="Times New Roman" panose="02020603050405020304" pitchFamily="18" charset="0"/>
                </a:rPr>
                <a:t>R)</a:t>
              </a:r>
              <a:r>
                <a:rPr lang="en-US" altLang="zh-CN" sz="3200" b="1">
                  <a:latin typeface="Times New Roman" panose="02020603050405020304" pitchFamily="18" charset="0"/>
                  <a:sym typeface="Symbol" pitchFamily="2" charset="2"/>
                </a:rPr>
                <a:t></a:t>
              </a:r>
              <a:r>
                <a:rPr lang="en-US" altLang="zh-CN" sz="3200" b="1">
                  <a:latin typeface="Times New Roman" panose="02020603050405020304" pitchFamily="18" charset="0"/>
                </a:rPr>
                <a:t>(P</a:t>
              </a:r>
              <a:r>
                <a:rPr lang="en-US" altLang="zh-CN" sz="3200" b="1">
                  <a:latin typeface="Times New Roman" panose="02020603050405020304" pitchFamily="18" charset="0"/>
                  <a:sym typeface="Symbol" pitchFamily="2" charset="2"/>
                </a:rPr>
                <a:t></a:t>
              </a:r>
              <a:r>
                <a:rPr lang="en-US" altLang="zh-CN" sz="3200" b="1">
                  <a:latin typeface="Times New Roman" panose="02020603050405020304" pitchFamily="18" charset="0"/>
                </a:rPr>
                <a:t>Q)</a:t>
              </a:r>
              <a:r>
                <a:rPr lang="en-US" altLang="zh-CN" sz="3200" b="1">
                  <a:latin typeface="Times New Roman" panose="02020603050405020304" pitchFamily="18" charset="0"/>
                  <a:sym typeface="Symbol" pitchFamily="2" charset="2"/>
                </a:rPr>
                <a:t></a:t>
              </a:r>
              <a:r>
                <a:rPr lang="en-US" altLang="zh-CN" sz="3200" b="1">
                  <a:latin typeface="Times New Roman" panose="02020603050405020304" pitchFamily="18" charset="0"/>
                </a:rPr>
                <a:t>(P</a:t>
              </a:r>
              <a:r>
                <a:rPr lang="en-US" altLang="zh-CN" sz="3200" b="1">
                  <a:latin typeface="Times New Roman" panose="02020603050405020304" pitchFamily="18" charset="0"/>
                  <a:sym typeface="Symbol" pitchFamily="2" charset="2"/>
                </a:rPr>
                <a:t></a:t>
              </a:r>
              <a:r>
                <a:rPr lang="en-US" altLang="zh-CN" sz="3200" b="1">
                  <a:latin typeface="Times New Roman" panose="02020603050405020304" pitchFamily="18" charset="0"/>
                </a:rPr>
                <a:t>R)</a:t>
              </a:r>
              <a:r>
                <a:rPr lang="en-US" altLang="zh-CN" sz="3200" b="1">
                  <a:latin typeface="Times New Roman" panose="02020603050405020304" pitchFamily="18" charset="0"/>
                  <a:sym typeface="Symbol" pitchFamily="2" charset="2"/>
                </a:rPr>
                <a:t> </a:t>
              </a:r>
            </a:p>
          </p:txBody>
        </p:sp>
        <p:sp>
          <p:nvSpPr>
            <p:cNvPr id="163845" name="Line 6">
              <a:extLst>
                <a:ext uri="{FF2B5EF4-FFF2-40B4-BE49-F238E27FC236}">
                  <a16:creationId xmlns:a16="http://schemas.microsoft.com/office/drawing/2014/main" id="{B2AE927C-1999-A34A-B992-D655BC1849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88" y="1171"/>
              <a:ext cx="672" cy="576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63846" name="Line 7">
              <a:extLst>
                <a:ext uri="{FF2B5EF4-FFF2-40B4-BE49-F238E27FC236}">
                  <a16:creationId xmlns:a16="http://schemas.microsoft.com/office/drawing/2014/main" id="{51362E3E-5055-5047-849B-FE785286CC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1171"/>
              <a:ext cx="1200" cy="624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63847" name="Line 9">
              <a:extLst>
                <a:ext uri="{FF2B5EF4-FFF2-40B4-BE49-F238E27FC236}">
                  <a16:creationId xmlns:a16="http://schemas.microsoft.com/office/drawing/2014/main" id="{15A70C89-ED80-1943-AF6D-67DEB4598D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84" y="2131"/>
              <a:ext cx="576" cy="576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63848" name="Line 10">
              <a:extLst>
                <a:ext uri="{FF2B5EF4-FFF2-40B4-BE49-F238E27FC236}">
                  <a16:creationId xmlns:a16="http://schemas.microsoft.com/office/drawing/2014/main" id="{2A9A1E15-1C97-6948-9274-53449197B7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2131"/>
              <a:ext cx="1200" cy="624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63849" name="Rectangle 11">
              <a:extLst>
                <a:ext uri="{FF2B5EF4-FFF2-40B4-BE49-F238E27FC236}">
                  <a16:creationId xmlns:a16="http://schemas.microsoft.com/office/drawing/2014/main" id="{F70F7798-5DD2-A148-90D7-709A99B5A3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1267"/>
              <a:ext cx="8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b="1">
                  <a:latin typeface="Times New Roman" panose="02020603050405020304" pitchFamily="18" charset="0"/>
                </a:rPr>
                <a:t>P</a:t>
              </a:r>
              <a:r>
                <a:rPr lang="zh-CN" altLang="en-US" b="1">
                  <a:latin typeface="Times New Roman" panose="02020603050405020304" pitchFamily="18" charset="0"/>
                </a:rPr>
                <a:t>取1值</a:t>
              </a:r>
              <a:r>
                <a:rPr lang="zh-CN" altLang="en-US">
                  <a:latin typeface="Times New Roman" panose="02020603050405020304" pitchFamily="18" charset="0"/>
                </a:rPr>
                <a:t> </a:t>
              </a:r>
              <a:endParaRPr lang="zh-CN" altLang="en-US"/>
            </a:p>
          </p:txBody>
        </p:sp>
        <p:sp>
          <p:nvSpPr>
            <p:cNvPr id="163850" name="Rectangle 12">
              <a:extLst>
                <a:ext uri="{FF2B5EF4-FFF2-40B4-BE49-F238E27FC236}">
                  <a16:creationId xmlns:a16="http://schemas.microsoft.com/office/drawing/2014/main" id="{93966113-1271-1343-99F4-CC6E845576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1267"/>
              <a:ext cx="8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b="1">
                  <a:latin typeface="Times New Roman" panose="02020603050405020304" pitchFamily="18" charset="0"/>
                </a:rPr>
                <a:t>P</a:t>
              </a:r>
              <a:r>
                <a:rPr lang="zh-CN" altLang="en-US" b="1">
                  <a:latin typeface="Times New Roman" panose="02020603050405020304" pitchFamily="18" charset="0"/>
                </a:rPr>
                <a:t>取0值</a:t>
              </a:r>
              <a:r>
                <a:rPr lang="zh-CN" altLang="en-US">
                  <a:latin typeface="Times New Roman" panose="02020603050405020304" pitchFamily="18" charset="0"/>
                </a:rPr>
                <a:t> </a:t>
              </a:r>
              <a:endParaRPr lang="zh-CN" altLang="en-US"/>
            </a:p>
          </p:txBody>
        </p:sp>
        <p:sp>
          <p:nvSpPr>
            <p:cNvPr id="163851" name="Rectangle 13">
              <a:extLst>
                <a:ext uri="{FF2B5EF4-FFF2-40B4-BE49-F238E27FC236}">
                  <a16:creationId xmlns:a16="http://schemas.microsoft.com/office/drawing/2014/main" id="{3D98DE2E-236C-DC46-97EA-23FEF5F31C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747"/>
              <a:ext cx="1872" cy="37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zh-CN" altLang="en-US" sz="3200" b="1">
                  <a:latin typeface="Times New Roman" panose="02020603050405020304" pitchFamily="18" charset="0"/>
                </a:rPr>
                <a:t>(</a:t>
              </a:r>
              <a:r>
                <a:rPr lang="en-US" altLang="zh-CN" sz="3200" b="1">
                  <a:latin typeface="Times New Roman" panose="02020603050405020304" pitchFamily="18" charset="0"/>
                </a:rPr>
                <a:t>Q</a:t>
              </a:r>
              <a:r>
                <a:rPr lang="en-US" altLang="zh-CN" sz="3200" b="1">
                  <a:latin typeface="Times New Roman" panose="02020603050405020304" pitchFamily="18" charset="0"/>
                  <a:sym typeface="Symbol" pitchFamily="2" charset="2"/>
                </a:rPr>
                <a:t></a:t>
              </a:r>
              <a:r>
                <a:rPr lang="en-US" altLang="zh-CN" sz="3200" b="1">
                  <a:latin typeface="Times New Roman" panose="02020603050405020304" pitchFamily="18" charset="0"/>
                </a:rPr>
                <a:t>R)</a:t>
              </a:r>
              <a:r>
                <a:rPr lang="en-US" altLang="zh-CN" sz="3200" b="1">
                  <a:latin typeface="Times New Roman" panose="02020603050405020304" pitchFamily="18" charset="0"/>
                  <a:sym typeface="Symbol" pitchFamily="2" charset="2"/>
                </a:rPr>
                <a:t></a:t>
              </a:r>
              <a:r>
                <a:rPr lang="en-US" altLang="zh-CN" sz="3200" b="1">
                  <a:latin typeface="Times New Roman" panose="02020603050405020304" pitchFamily="18" charset="0"/>
                </a:rPr>
                <a:t>Q</a:t>
              </a:r>
              <a:r>
                <a:rPr lang="en-US" altLang="zh-CN" sz="3200" b="1">
                  <a:latin typeface="Times New Roman" panose="02020603050405020304" pitchFamily="18" charset="0"/>
                  <a:sym typeface="Symbol" pitchFamily="2" charset="2"/>
                </a:rPr>
                <a:t></a:t>
              </a:r>
              <a:r>
                <a:rPr lang="en-US" altLang="zh-CN" sz="3200" b="1">
                  <a:latin typeface="Times New Roman" panose="02020603050405020304" pitchFamily="18" charset="0"/>
                </a:rPr>
                <a:t>R</a:t>
              </a:r>
              <a:endParaRPr lang="en-US" altLang="zh-CN" sz="3200" b="1">
                <a:latin typeface="Times New Roman" panose="02020603050405020304" pitchFamily="18" charset="0"/>
                <a:sym typeface="Symbol" pitchFamily="2" charset="2"/>
              </a:endParaRPr>
            </a:p>
          </p:txBody>
        </p:sp>
        <p:sp>
          <p:nvSpPr>
            <p:cNvPr id="163852" name="Rectangle 14">
              <a:extLst>
                <a:ext uri="{FF2B5EF4-FFF2-40B4-BE49-F238E27FC236}">
                  <a16:creationId xmlns:a16="http://schemas.microsoft.com/office/drawing/2014/main" id="{A51FCDDC-3CBE-AC4F-9017-131767AE6E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707"/>
              <a:ext cx="912" cy="37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3200" b="1">
                  <a:latin typeface="Times New Roman" panose="02020603050405020304" pitchFamily="18" charset="0"/>
                </a:rPr>
                <a:t>R</a:t>
              </a:r>
              <a:r>
                <a:rPr lang="en-US" altLang="zh-CN" sz="3200" b="1">
                  <a:latin typeface="Times New Roman" panose="02020603050405020304" pitchFamily="18" charset="0"/>
                  <a:sym typeface="Symbol" pitchFamily="2" charset="2"/>
                </a:rPr>
                <a:t></a:t>
              </a:r>
              <a:r>
                <a:rPr lang="en-US" altLang="zh-CN" sz="3200" b="1">
                  <a:latin typeface="Times New Roman" panose="02020603050405020304" pitchFamily="18" charset="0"/>
                </a:rPr>
                <a:t>R</a:t>
              </a:r>
              <a:endParaRPr lang="en-US" altLang="zh-CN" sz="3200" b="1">
                <a:latin typeface="Times New Roman" panose="02020603050405020304" pitchFamily="18" charset="0"/>
                <a:sym typeface="Symbol" pitchFamily="2" charset="2"/>
              </a:endParaRPr>
            </a:p>
          </p:txBody>
        </p:sp>
        <p:sp>
          <p:nvSpPr>
            <p:cNvPr id="163853" name="Line 15">
              <a:extLst>
                <a:ext uri="{FF2B5EF4-FFF2-40B4-BE49-F238E27FC236}">
                  <a16:creationId xmlns:a16="http://schemas.microsoft.com/office/drawing/2014/main" id="{BB5C29B1-8BFE-6C4F-9F87-465CC4D76D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60" y="3091"/>
              <a:ext cx="576" cy="576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63854" name="Line 16">
              <a:extLst>
                <a:ext uri="{FF2B5EF4-FFF2-40B4-BE49-F238E27FC236}">
                  <a16:creationId xmlns:a16="http://schemas.microsoft.com/office/drawing/2014/main" id="{CB0F3199-663F-394A-BE33-1560445C10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3091"/>
              <a:ext cx="1200" cy="624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63855" name="Rectangle 17">
              <a:extLst>
                <a:ext uri="{FF2B5EF4-FFF2-40B4-BE49-F238E27FC236}">
                  <a16:creationId xmlns:a16="http://schemas.microsoft.com/office/drawing/2014/main" id="{F829F1CD-DE10-9C47-9BDB-6B38C8073D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2227"/>
              <a:ext cx="8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b="1">
                  <a:latin typeface="Times New Roman" panose="02020603050405020304" pitchFamily="18" charset="0"/>
                </a:rPr>
                <a:t>Q</a:t>
              </a:r>
              <a:r>
                <a:rPr lang="zh-CN" altLang="en-US" b="1">
                  <a:latin typeface="Times New Roman" panose="02020603050405020304" pitchFamily="18" charset="0"/>
                </a:rPr>
                <a:t>取1值</a:t>
              </a:r>
              <a:r>
                <a:rPr lang="zh-CN" altLang="en-US">
                  <a:latin typeface="Times New Roman" panose="02020603050405020304" pitchFamily="18" charset="0"/>
                </a:rPr>
                <a:t> </a:t>
              </a:r>
              <a:endParaRPr lang="zh-CN" altLang="en-US"/>
            </a:p>
          </p:txBody>
        </p:sp>
        <p:sp>
          <p:nvSpPr>
            <p:cNvPr id="163856" name="Rectangle 18">
              <a:extLst>
                <a:ext uri="{FF2B5EF4-FFF2-40B4-BE49-F238E27FC236}">
                  <a16:creationId xmlns:a16="http://schemas.microsoft.com/office/drawing/2014/main" id="{0DC680BC-3BC1-4640-81D9-A3FB4DF0A6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2" y="2227"/>
              <a:ext cx="8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b="1">
                  <a:latin typeface="Times New Roman" panose="02020603050405020304" pitchFamily="18" charset="0"/>
                </a:rPr>
                <a:t>Q</a:t>
              </a:r>
              <a:r>
                <a:rPr lang="zh-CN" altLang="en-US" b="1">
                  <a:latin typeface="Times New Roman" panose="02020603050405020304" pitchFamily="18" charset="0"/>
                </a:rPr>
                <a:t>取0值</a:t>
              </a:r>
              <a:r>
                <a:rPr lang="zh-CN" altLang="en-US">
                  <a:latin typeface="Times New Roman" panose="02020603050405020304" pitchFamily="18" charset="0"/>
                </a:rPr>
                <a:t> </a:t>
              </a:r>
              <a:endParaRPr lang="zh-CN" altLang="en-US"/>
            </a:p>
          </p:txBody>
        </p:sp>
        <p:sp>
          <p:nvSpPr>
            <p:cNvPr id="163857" name="Rectangle 19">
              <a:extLst>
                <a:ext uri="{FF2B5EF4-FFF2-40B4-BE49-F238E27FC236}">
                  <a16:creationId xmlns:a16="http://schemas.microsoft.com/office/drawing/2014/main" id="{922797C3-57A1-CF42-8A5B-D9EDA4D63B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3187"/>
              <a:ext cx="8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b="1">
                  <a:latin typeface="Times New Roman" panose="02020603050405020304" pitchFamily="18" charset="0"/>
                </a:rPr>
                <a:t>R</a:t>
              </a:r>
              <a:r>
                <a:rPr lang="zh-CN" altLang="en-US" b="1">
                  <a:latin typeface="Times New Roman" panose="02020603050405020304" pitchFamily="18" charset="0"/>
                </a:rPr>
                <a:t>取1值</a:t>
              </a:r>
              <a:r>
                <a:rPr lang="zh-CN" altLang="en-US">
                  <a:latin typeface="Times New Roman" panose="02020603050405020304" pitchFamily="18" charset="0"/>
                </a:rPr>
                <a:t> </a:t>
              </a:r>
              <a:endParaRPr lang="zh-CN" altLang="en-US"/>
            </a:p>
          </p:txBody>
        </p:sp>
        <p:sp>
          <p:nvSpPr>
            <p:cNvPr id="163858" name="Rectangle 20">
              <a:extLst>
                <a:ext uri="{FF2B5EF4-FFF2-40B4-BE49-F238E27FC236}">
                  <a16:creationId xmlns:a16="http://schemas.microsoft.com/office/drawing/2014/main" id="{134F3A60-B7B5-8443-9FEB-1FAD6C9659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3187"/>
              <a:ext cx="8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b="1">
                  <a:latin typeface="Times New Roman" panose="02020603050405020304" pitchFamily="18" charset="0"/>
                </a:rPr>
                <a:t>R</a:t>
              </a:r>
              <a:r>
                <a:rPr lang="zh-CN" altLang="en-US" b="1">
                  <a:latin typeface="Times New Roman" panose="02020603050405020304" pitchFamily="18" charset="0"/>
                </a:rPr>
                <a:t>取0值</a:t>
              </a:r>
              <a:r>
                <a:rPr lang="zh-CN" altLang="en-US">
                  <a:latin typeface="Times New Roman" panose="02020603050405020304" pitchFamily="18" charset="0"/>
                </a:rPr>
                <a:t> </a:t>
              </a:r>
              <a:endParaRPr lang="zh-CN" altLang="en-US"/>
            </a:p>
          </p:txBody>
        </p:sp>
        <p:sp>
          <p:nvSpPr>
            <p:cNvPr id="163859" name="Rectangle 21">
              <a:extLst>
                <a:ext uri="{FF2B5EF4-FFF2-40B4-BE49-F238E27FC236}">
                  <a16:creationId xmlns:a16="http://schemas.microsoft.com/office/drawing/2014/main" id="{8F3C624A-E6FE-A248-843E-006560AD75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3619"/>
              <a:ext cx="38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3200" b="1">
                  <a:latin typeface="Times New Roman" panose="02020603050405020304" pitchFamily="18" charset="0"/>
                </a:rPr>
                <a:t>1</a:t>
              </a:r>
              <a:endParaRPr lang="en-US" altLang="zh-CN" sz="3200" b="1">
                <a:latin typeface="Times New Roman" panose="02020603050405020304" pitchFamily="18" charset="0"/>
                <a:sym typeface="Symbol" pitchFamily="2" charset="2"/>
              </a:endParaRPr>
            </a:p>
          </p:txBody>
        </p:sp>
        <p:sp>
          <p:nvSpPr>
            <p:cNvPr id="163860" name="Rectangle 22">
              <a:extLst>
                <a:ext uri="{FF2B5EF4-FFF2-40B4-BE49-F238E27FC236}">
                  <a16:creationId xmlns:a16="http://schemas.microsoft.com/office/drawing/2014/main" id="{712CEA0F-3287-7A4F-95DC-EED684AAC4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3619"/>
              <a:ext cx="38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3200" b="1">
                  <a:latin typeface="Times New Roman" panose="02020603050405020304" pitchFamily="18" charset="0"/>
                </a:rPr>
                <a:t>1</a:t>
              </a:r>
              <a:endParaRPr lang="en-US" altLang="zh-CN" sz="3200" b="1">
                <a:latin typeface="Times New Roman" panose="02020603050405020304" pitchFamily="18" charset="0"/>
                <a:sym typeface="Symbol" pitchFamily="2" charset="2"/>
              </a:endParaRPr>
            </a:p>
          </p:txBody>
        </p:sp>
        <p:sp>
          <p:nvSpPr>
            <p:cNvPr id="163861" name="Rectangle 23">
              <a:extLst>
                <a:ext uri="{FF2B5EF4-FFF2-40B4-BE49-F238E27FC236}">
                  <a16:creationId xmlns:a16="http://schemas.microsoft.com/office/drawing/2014/main" id="{ACCAA318-E715-1B44-B271-C976543685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707"/>
              <a:ext cx="38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3200" b="1">
                  <a:latin typeface="Times New Roman" panose="02020603050405020304" pitchFamily="18" charset="0"/>
                </a:rPr>
                <a:t>1</a:t>
              </a:r>
              <a:endParaRPr lang="en-US" altLang="zh-CN" sz="3200" b="1">
                <a:latin typeface="Times New Roman" panose="02020603050405020304" pitchFamily="18" charset="0"/>
                <a:sym typeface="Symbol" pitchFamily="2" charset="2"/>
              </a:endParaRPr>
            </a:p>
          </p:txBody>
        </p:sp>
        <p:sp>
          <p:nvSpPr>
            <p:cNvPr id="163862" name="Rectangle 24">
              <a:extLst>
                <a:ext uri="{FF2B5EF4-FFF2-40B4-BE49-F238E27FC236}">
                  <a16:creationId xmlns:a16="http://schemas.microsoft.com/office/drawing/2014/main" id="{D1292566-0284-2840-804A-81E9A4C8DC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747"/>
              <a:ext cx="38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3200" b="1">
                  <a:latin typeface="Times New Roman" panose="02020603050405020304" pitchFamily="18" charset="0"/>
                </a:rPr>
                <a:t>1</a:t>
              </a:r>
              <a:endParaRPr lang="en-US" altLang="zh-CN" sz="3200" b="1">
                <a:latin typeface="Times New Roman" panose="02020603050405020304" pitchFamily="18" charset="0"/>
                <a:sym typeface="Symbol" pitchFamily="2" charset="2"/>
              </a:endParaRPr>
            </a:p>
          </p:txBody>
        </p:sp>
      </p:grp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89" name="Slide Number Placeholder 5">
            <a:extLst>
              <a:ext uri="{FF2B5EF4-FFF2-40B4-BE49-F238E27FC236}">
                <a16:creationId xmlns:a16="http://schemas.microsoft.com/office/drawing/2014/main" id="{7E805FE6-7FE0-004B-B805-26BD5EBB03F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3F08330-A490-CF4D-9C21-16B70338162F}" type="slidenum">
              <a:rPr kumimoji="0" lang="zh-CN" altLang="en-US" sz="1200"/>
              <a:pPr/>
              <a:t>93</a:t>
            </a:fld>
            <a:endParaRPr kumimoji="0" lang="en-US" altLang="zh-CN" sz="1200"/>
          </a:p>
        </p:txBody>
      </p:sp>
      <p:sp>
        <p:nvSpPr>
          <p:cNvPr id="332802" name="Rectangle 2">
            <a:extLst>
              <a:ext uri="{FF2B5EF4-FFF2-40B4-BE49-F238E27FC236}">
                <a16:creationId xmlns:a16="http://schemas.microsoft.com/office/drawing/2014/main" id="{A228AC3A-6B81-8645-8D8D-E3B8BAFC0C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1520" y="332656"/>
            <a:ext cx="6512511" cy="1143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思考题</a:t>
            </a:r>
            <a:endParaRPr lang="en-US" altLang="zh-CN" dirty="0">
              <a:latin typeface="Arial" charset="0"/>
              <a:ea typeface="楷体_GB2312" charset="0"/>
              <a:cs typeface="+mj-cs"/>
            </a:endParaRPr>
          </a:p>
        </p:txBody>
      </p:sp>
      <p:sp>
        <p:nvSpPr>
          <p:cNvPr id="165891" name="Rectangle 3">
            <a:extLst>
              <a:ext uri="{FF2B5EF4-FFF2-40B4-BE49-F238E27FC236}">
                <a16:creationId xmlns:a16="http://schemas.microsoft.com/office/drawing/2014/main" id="{F45EBDF5-6AA2-6C41-967E-EEAB62E8F5D9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684213" y="1628775"/>
            <a:ext cx="6400800" cy="3475038"/>
          </a:xfrm>
        </p:spPr>
        <p:txBody>
          <a:bodyPr/>
          <a:lstStyle/>
          <a:p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P68-</a:t>
            </a:r>
            <a:r>
              <a:rPr kumimoji="0" lang="zh-CN" altLang="zh-CN" sz="32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8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、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19</a:t>
            </a:r>
          </a:p>
        </p:txBody>
      </p:sp>
    </p:spTree>
  </p:cSld>
  <p:clrMapOvr>
    <a:masterClrMapping/>
  </p:clrMapOvr>
  <p:transition>
    <p:blinds dir="vert"/>
  </p:transition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3" name="Slide Number Placeholder 5">
            <a:extLst>
              <a:ext uri="{FF2B5EF4-FFF2-40B4-BE49-F238E27FC236}">
                <a16:creationId xmlns:a16="http://schemas.microsoft.com/office/drawing/2014/main" id="{C751DE93-F40F-F043-B69A-E56F0B2C3E8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A569636-08E6-6548-AC70-8EC9F2636347}" type="slidenum">
              <a:rPr kumimoji="0" lang="zh-CN" altLang="en-US" sz="1200"/>
              <a:pPr/>
              <a:t>94</a:t>
            </a:fld>
            <a:endParaRPr kumimoji="0" lang="en-US" altLang="zh-CN" sz="1200"/>
          </a:p>
        </p:txBody>
      </p:sp>
      <p:sp>
        <p:nvSpPr>
          <p:cNvPr id="138242" name="Rectangle 2">
            <a:extLst>
              <a:ext uri="{FF2B5EF4-FFF2-40B4-BE49-F238E27FC236}">
                <a16:creationId xmlns:a16="http://schemas.microsoft.com/office/drawing/2014/main" id="{4BF89404-77D0-EB43-B7C0-2D79E12DEA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303213"/>
            <a:ext cx="8534400" cy="823912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  <a:cs typeface="+mj-cs"/>
              </a:rPr>
              <a:t>补充</a:t>
            </a:r>
            <a:r>
              <a:rPr lang="en-US" altLang="zh-CN" dirty="0">
                <a:latin typeface="Times New Roman" charset="0"/>
                <a:ea typeface="楷体_GB2312" charset="0"/>
                <a:cs typeface="+mj-cs"/>
              </a:rPr>
              <a:t>:</a:t>
            </a:r>
            <a:r>
              <a:rPr lang="zh-CN" altLang="en-US" dirty="0">
                <a:latin typeface="Times New Roman" charset="0"/>
                <a:ea typeface="楷体_GB2312" charset="0"/>
                <a:cs typeface="+mj-cs"/>
              </a:rPr>
              <a:t>主合取范式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 </a:t>
            </a:r>
          </a:p>
        </p:txBody>
      </p:sp>
      <p:sp>
        <p:nvSpPr>
          <p:cNvPr id="138243" name="Rectangle 3">
            <a:extLst>
              <a:ext uri="{FF2B5EF4-FFF2-40B4-BE49-F238E27FC236}">
                <a16:creationId xmlns:a16="http://schemas.microsoft.com/office/drawing/2014/main" id="{F86C769A-CAA4-6C4E-A2E9-85BAE7EDB5CB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79388" y="1358900"/>
            <a:ext cx="8812212" cy="5022850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Font typeface="Wingdings" pitchFamily="2" charset="2"/>
              <a:buNone/>
              <a:tabLst>
                <a:tab pos="1239838" algn="l"/>
                <a:tab pos="1995488" algn="l"/>
              </a:tabLst>
            </a:pPr>
            <a:r>
              <a:rPr kumimoji="0" lang="zh-CN" altLang="en-US" sz="3200" dirty="0">
                <a:solidFill>
                  <a:srgbClr val="000000"/>
                </a:solidFill>
                <a:latin typeface="宋体" panose="02010600030101010101" pitchFamily="2" charset="-122"/>
                <a:ea typeface="楷体_GB2312" pitchFamily="1" charset="-122"/>
              </a:rPr>
              <a:t>模仿主析取范式的概念，引进主合取范式</a:t>
            </a:r>
            <a:r>
              <a:rPr kumimoji="0" lang="zh-CN" altLang="en-US" sz="3200" dirty="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。</a:t>
            </a:r>
          </a:p>
          <a:p>
            <a:pPr marL="0" indent="0">
              <a:lnSpc>
                <a:spcPct val="90000"/>
              </a:lnSpc>
              <a:tabLst>
                <a:tab pos="1239838" algn="l"/>
                <a:tab pos="1995488" algn="l"/>
              </a:tabLst>
            </a:pPr>
            <a:endParaRPr kumimoji="0" lang="en-US" altLang="zh-CN" sz="3200" dirty="0">
              <a:latin typeface="Arial" panose="020B0604020202020204" pitchFamily="34" charset="0"/>
              <a:ea typeface="楷体_GB2312" pitchFamily="1" charset="-122"/>
            </a:endParaRPr>
          </a:p>
          <a:p>
            <a:pPr marL="0" indent="0">
              <a:lnSpc>
                <a:spcPct val="90000"/>
              </a:lnSpc>
              <a:tabLst>
                <a:tab pos="1239838" algn="l"/>
                <a:tab pos="1995488" algn="l"/>
              </a:tabLst>
            </a:pP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定义：设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 baseline="-25000" dirty="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,…,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 baseline="-25000" dirty="0" err="1"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是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个不同原子，一个子句如果恰好包含所有这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个原子或其否定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,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且其排列顺序与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 baseline="-25000" dirty="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,…,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 baseline="-25000" dirty="0" err="1"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的顺序一致，则称此子句为关于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 baseline="-25000" dirty="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,…,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 baseline="-25000" dirty="0" err="1"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的一个</a:t>
            </a:r>
            <a:r>
              <a:rPr kumimoji="0" lang="zh-CN" altLang="en-US" sz="3200" dirty="0">
                <a:solidFill>
                  <a:schemeClr val="accent1"/>
                </a:solidFill>
                <a:latin typeface="Arial" panose="020B0604020202020204" pitchFamily="34" charset="0"/>
                <a:ea typeface="楷体_GB2312" pitchFamily="1" charset="-122"/>
              </a:rPr>
              <a:t>极大项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。</a:t>
            </a:r>
          </a:p>
          <a:p>
            <a:pPr marL="0" indent="0">
              <a:lnSpc>
                <a:spcPct val="90000"/>
              </a:lnSpc>
              <a:tabLst>
                <a:tab pos="1239838" algn="l"/>
                <a:tab pos="1995488" algn="l"/>
              </a:tabLst>
            </a:pP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定义：设命题公式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中所有不同原子为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 baseline="-25000" dirty="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,…,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 baseline="-25000" dirty="0" err="1"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, 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如果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的某个合取范式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G’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中的每一个子句，都是关于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 baseline="-25000" dirty="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,…,</a:t>
            </a:r>
            <a:r>
              <a:rPr kumimoji="0" lang="en-US" altLang="zh-CN" sz="3200" dirty="0" err="1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 baseline="-25000" dirty="0" err="1"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的一个极大项，则称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G’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为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的</a:t>
            </a:r>
            <a:r>
              <a:rPr kumimoji="0" lang="zh-CN" altLang="en-US" sz="3200" dirty="0">
                <a:solidFill>
                  <a:schemeClr val="accent1"/>
                </a:solidFill>
                <a:latin typeface="Arial" panose="020B0604020202020204" pitchFamily="34" charset="0"/>
                <a:ea typeface="楷体_GB2312" pitchFamily="1" charset="-122"/>
              </a:rPr>
              <a:t>主合取范式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</a:rPr>
              <a:t>。 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8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8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8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8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7" name="Slide Number Placeholder 5">
            <a:extLst>
              <a:ext uri="{FF2B5EF4-FFF2-40B4-BE49-F238E27FC236}">
                <a16:creationId xmlns:a16="http://schemas.microsoft.com/office/drawing/2014/main" id="{962E7CCB-1DF4-734E-B793-E5BEB3A8EDB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xfrm>
            <a:off x="7316788" y="6527800"/>
            <a:ext cx="1828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A9DAF61-7C8B-6F4D-AB38-86A249BE8723}" type="slidenum">
              <a:rPr kumimoji="0" lang="zh-CN" altLang="en-US" sz="1200"/>
              <a:pPr/>
              <a:t>95</a:t>
            </a:fld>
            <a:endParaRPr kumimoji="0" lang="en-US" altLang="zh-CN" sz="1200"/>
          </a:p>
        </p:txBody>
      </p:sp>
      <p:sp>
        <p:nvSpPr>
          <p:cNvPr id="139266" name="Rectangle 2">
            <a:extLst>
              <a:ext uri="{FF2B5EF4-FFF2-40B4-BE49-F238E27FC236}">
                <a16:creationId xmlns:a16="http://schemas.microsoft.com/office/drawing/2014/main" id="{081089FB-15E3-554E-B02F-8B83C749AA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496" y="53751"/>
            <a:ext cx="8985250" cy="1143001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极小项与极大项性质</a:t>
            </a:r>
          </a:p>
        </p:txBody>
      </p:sp>
      <p:graphicFrame>
        <p:nvGraphicFramePr>
          <p:cNvPr id="139267" name="Group 3">
            <a:extLst>
              <a:ext uri="{FF2B5EF4-FFF2-40B4-BE49-F238E27FC236}">
                <a16:creationId xmlns:a16="http://schemas.microsoft.com/office/drawing/2014/main" id="{DDF03172-FBB0-974A-B4C3-A047A3FDAF17}"/>
              </a:ext>
            </a:extLst>
          </p:cNvPr>
          <p:cNvGraphicFramePr>
            <a:graphicFrameLocks noGrp="1"/>
          </p:cNvGraphicFramePr>
          <p:nvPr/>
        </p:nvGraphicFramePr>
        <p:xfrm>
          <a:off x="323850" y="1093788"/>
          <a:ext cx="8496300" cy="5503864"/>
        </p:xfrm>
        <a:graphic>
          <a:graphicData uri="http://schemas.openxmlformats.org/drawingml/2006/table">
            <a:tbl>
              <a:tblPr/>
              <a:tblGrid>
                <a:gridCol w="900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9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9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972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79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9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5000"/>
                        <a:buFont typeface="Wingdings" charset="0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极小项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5000"/>
                        <a:buFont typeface="Wingdings" charset="0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极大项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83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m</a:t>
                      </a:r>
                      <a:r>
                        <a:rPr kumimoji="0" lang="en-US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0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=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  <a:sym typeface="Symbol" charset="0"/>
                        </a:rPr>
                        <a:t>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P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  <a:sym typeface="Symbol" charset="0"/>
                        </a:rPr>
                        <a:t>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Q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  <a:sym typeface="Symbol" charset="0"/>
                        </a:rPr>
                        <a:t>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M</a:t>
                      </a:r>
                      <a:r>
                        <a:rPr kumimoji="0" lang="en-US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0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=P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  <a:sym typeface="Symbol" charset="0"/>
                        </a:rPr>
                        <a:t>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Q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  <a:sym typeface="Symbol" charset="0"/>
                        </a:rPr>
                        <a:t>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R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m</a:t>
                      </a:r>
                      <a:r>
                        <a:rPr kumimoji="0" lang="en-US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1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=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  <a:sym typeface="Symbol" charset="0"/>
                        </a:rPr>
                        <a:t>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P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  <a:sym typeface="Symbol" charset="0"/>
                        </a:rPr>
                        <a:t>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Q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  <a:sym typeface="Symbol" charset="0"/>
                        </a:rPr>
                        <a:t>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M</a:t>
                      </a:r>
                      <a:r>
                        <a:rPr kumimoji="0" lang="en-US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1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=P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  <a:sym typeface="Symbol" charset="0"/>
                        </a:rPr>
                        <a:t>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Q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  <a:sym typeface="Symbol" charset="0"/>
                        </a:rPr>
                        <a:t>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m</a:t>
                      </a:r>
                      <a:r>
                        <a:rPr kumimoji="0" lang="en-US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2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=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  <a:sym typeface="Symbol" charset="0"/>
                        </a:rPr>
                        <a:t>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P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  <a:sym typeface="Symbol" charset="0"/>
                        </a:rPr>
                        <a:t>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Q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  <a:sym typeface="Symbol" charset="0"/>
                        </a:rPr>
                        <a:t>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M</a:t>
                      </a:r>
                      <a:r>
                        <a:rPr kumimoji="0" lang="en-US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2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=P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  <a:sym typeface="Symbol" charset="0"/>
                        </a:rPr>
                        <a:t>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Q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  <a:sym typeface="Symbol" charset="0"/>
                        </a:rPr>
                        <a:t>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m</a:t>
                      </a:r>
                      <a:r>
                        <a:rPr kumimoji="0" lang="en-US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3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=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  <a:sym typeface="Symbol" charset="0"/>
                        </a:rPr>
                        <a:t>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P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  <a:sym typeface="Symbol" charset="0"/>
                        </a:rPr>
                        <a:t>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Q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  <a:sym typeface="Symbol" charset="0"/>
                        </a:rPr>
                        <a:t>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M</a:t>
                      </a:r>
                      <a:r>
                        <a:rPr kumimoji="0" lang="en-US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3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=P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  <a:sym typeface="Symbol" charset="0"/>
                        </a:rPr>
                        <a:t>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Q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  <a:sym typeface="Symbol" charset="0"/>
                        </a:rPr>
                        <a:t>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m</a:t>
                      </a:r>
                      <a:r>
                        <a:rPr kumimoji="0" lang="en-US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4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= P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  <a:sym typeface="Symbol" charset="0"/>
                        </a:rPr>
                        <a:t>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Q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  <a:sym typeface="Symbol" charset="0"/>
                        </a:rPr>
                        <a:t>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M</a:t>
                      </a:r>
                      <a:r>
                        <a:rPr kumimoji="0" lang="en-US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4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=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  <a:sym typeface="Symbol" charset="0"/>
                        </a:rPr>
                        <a:t>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P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  <a:sym typeface="Symbol" charset="0"/>
                        </a:rPr>
                        <a:t>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Q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  <a:sym typeface="Symbol" charset="0"/>
                        </a:rPr>
                        <a:t>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m</a:t>
                      </a:r>
                      <a:r>
                        <a:rPr kumimoji="0" lang="en-US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5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= P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  <a:sym typeface="Symbol" charset="0"/>
                        </a:rPr>
                        <a:t>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Q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  <a:sym typeface="Symbol" charset="0"/>
                        </a:rPr>
                        <a:t>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M</a:t>
                      </a:r>
                      <a:r>
                        <a:rPr kumimoji="0" lang="en-US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5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=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  <a:sym typeface="Symbol" charset="0"/>
                        </a:rPr>
                        <a:t>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P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  <a:sym typeface="Symbol" charset="0"/>
                        </a:rPr>
                        <a:t>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Q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  <a:sym typeface="Symbol" charset="0"/>
                        </a:rPr>
                        <a:t>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64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m</a:t>
                      </a:r>
                      <a:r>
                        <a:rPr kumimoji="0" lang="en-US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6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= P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  <a:sym typeface="Symbol" charset="0"/>
                        </a:rPr>
                        <a:t>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Q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  <a:sym typeface="Symbol" charset="0"/>
                        </a:rPr>
                        <a:t>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M</a:t>
                      </a:r>
                      <a:r>
                        <a:rPr kumimoji="0" lang="en-US" altLang="zh-CN" sz="2400" b="1" i="0" u="none" strike="noStrike" cap="none" normalizeH="0" baseline="-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6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=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  <a:sym typeface="Symbol" charset="0"/>
                        </a:rPr>
                        <a:t>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P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  <a:sym typeface="Symbol" charset="0"/>
                        </a:rPr>
                        <a:t>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Q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  <a:sym typeface="Symbol" charset="0"/>
                        </a:rPr>
                        <a:t>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08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m</a:t>
                      </a:r>
                      <a:r>
                        <a:rPr kumimoji="0" lang="en-US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7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= P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  <a:sym typeface="Symbol" charset="0"/>
                        </a:rPr>
                        <a:t>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Q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  <a:sym typeface="Symbol" charset="0"/>
                        </a:rPr>
                        <a:t>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M</a:t>
                      </a:r>
                      <a:r>
                        <a:rPr kumimoji="0" lang="en-US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7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=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  <a:sym typeface="Symbol" charset="0"/>
                        </a:rPr>
                        <a:t>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P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  <a:sym typeface="Symbol" charset="0"/>
                        </a:rPr>
                        <a:t>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Q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Times New Roman" charset="0"/>
                          <a:sym typeface="Symbol" charset="0"/>
                        </a:rPr>
                        <a:t>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blinds dir="vert"/>
  </p:transition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1" name="Slide Number Placeholder 5">
            <a:extLst>
              <a:ext uri="{FF2B5EF4-FFF2-40B4-BE49-F238E27FC236}">
                <a16:creationId xmlns:a16="http://schemas.microsoft.com/office/drawing/2014/main" id="{547E6FDA-701C-AF41-965F-2724BC0312C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20513B2-26CA-AE43-8EF6-FD5720B230FE}" type="slidenum">
              <a:rPr kumimoji="0" lang="zh-CN" altLang="en-US" sz="1200"/>
              <a:pPr/>
              <a:t>96</a:t>
            </a:fld>
            <a:endParaRPr kumimoji="0" lang="en-US" altLang="zh-CN" sz="1200"/>
          </a:p>
        </p:txBody>
      </p:sp>
      <p:sp>
        <p:nvSpPr>
          <p:cNvPr id="140290" name="Rectangle 2">
            <a:extLst>
              <a:ext uri="{FF2B5EF4-FFF2-40B4-BE49-F238E27FC236}">
                <a16:creationId xmlns:a16="http://schemas.microsoft.com/office/drawing/2014/main" id="{9F3B82D8-61A9-0345-9E4F-7A3663168C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4925" y="115888"/>
            <a:ext cx="8985250" cy="1143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极小项与极大项性质</a:t>
            </a:r>
          </a:p>
        </p:txBody>
      </p:sp>
      <p:sp>
        <p:nvSpPr>
          <p:cNvPr id="168963" name="Rectangle 3">
            <a:extLst>
              <a:ext uri="{FF2B5EF4-FFF2-40B4-BE49-F238E27FC236}">
                <a16:creationId xmlns:a16="http://schemas.microsoft.com/office/drawing/2014/main" id="{4A5AA534-DA2D-CB4B-BF91-451200B852EB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52400" y="1341438"/>
            <a:ext cx="8839200" cy="4895850"/>
          </a:xfrm>
        </p:spPr>
        <p:txBody>
          <a:bodyPr/>
          <a:lstStyle/>
          <a:p>
            <a:pPr algn="just"/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极小项有如下性质：</a:t>
            </a:r>
          </a:p>
          <a:p>
            <a:pPr algn="just">
              <a:buFont typeface="Wingdings" pitchFamily="2" charset="2"/>
              <a:buNone/>
            </a:pPr>
            <a:r>
              <a:rPr kumimoji="0" lang="zh-CN" altLang="en-US" sz="2800">
                <a:latin typeface="宋体" panose="02010600030101010101" pitchFamily="2" charset="-122"/>
                <a:ea typeface="楷体_GB2312" pitchFamily="1" charset="-122"/>
              </a:rPr>
              <a:t>⑴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个命题原子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28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…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2800" baseline="-30000"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有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2</a:t>
            </a:r>
            <a:r>
              <a:rPr kumimoji="0" lang="en-US" altLang="zh-CN" sz="2800" baseline="30000"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个不同的解释，每个解释对应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28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…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2800" baseline="-30000"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的一个极小项。</a:t>
            </a:r>
          </a:p>
          <a:p>
            <a:pPr algn="just">
              <a:buFont typeface="Wingdings" pitchFamily="2" charset="2"/>
              <a:buNone/>
            </a:pPr>
            <a:r>
              <a:rPr kumimoji="0" lang="zh-CN" altLang="en-US" sz="2800">
                <a:latin typeface="宋体" panose="02010600030101010101" pitchFamily="2" charset="-122"/>
                <a:ea typeface="楷体_GB2312" pitchFamily="1" charset="-122"/>
              </a:rPr>
              <a:t>⑵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对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28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…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2800" baseline="-30000"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的任意一个极小项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m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，有且只有一个解释使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m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取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值。</a:t>
            </a:r>
          </a:p>
          <a:p>
            <a:pPr algn="just">
              <a:buFont typeface="Wingdings" pitchFamily="2" charset="2"/>
              <a:buNone/>
            </a:pP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   若使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m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取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的解释对应的二进制数为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i,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则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m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记为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m</a:t>
            </a:r>
            <a:r>
              <a:rPr kumimoji="0" lang="en-US" altLang="zh-CN" sz="2800" baseline="-300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。</a:t>
            </a:r>
          </a:p>
          <a:p>
            <a:pPr algn="just">
              <a:buFont typeface="Wingdings" pitchFamily="2" charset="2"/>
              <a:buNone/>
            </a:pPr>
            <a:r>
              <a:rPr kumimoji="0" lang="zh-CN" altLang="en-US" sz="2800">
                <a:latin typeface="宋体" panose="02010600030101010101" pitchFamily="2" charset="-122"/>
                <a:ea typeface="楷体_GB2312" pitchFamily="1" charset="-122"/>
              </a:rPr>
              <a:t>⑶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任意两个不同的极小项的合取式恒假：</a:t>
            </a:r>
          </a:p>
          <a:p>
            <a:pPr algn="ctr">
              <a:buFont typeface="Wingdings" pitchFamily="2" charset="2"/>
              <a:buNone/>
            </a:pP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 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m</a:t>
            </a:r>
            <a:r>
              <a:rPr kumimoji="0" lang="en-US" altLang="zh-CN" sz="2800" baseline="-300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m</a:t>
            </a:r>
            <a:r>
              <a:rPr kumimoji="0" lang="en-US" altLang="zh-CN" sz="2800" baseline="-30000">
                <a:latin typeface="Arial" panose="020B0604020202020204" pitchFamily="34" charset="0"/>
                <a:ea typeface="楷体_GB2312" pitchFamily="1" charset="-122"/>
              </a:rPr>
              <a:t>j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=0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i≠j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。</a:t>
            </a:r>
          </a:p>
          <a:p>
            <a:pPr algn="just">
              <a:buFont typeface="Wingdings" pitchFamily="2" charset="2"/>
              <a:buNone/>
            </a:pPr>
            <a:r>
              <a:rPr kumimoji="0" lang="zh-CN" altLang="en-US" sz="2800">
                <a:latin typeface="宋体" panose="02010600030101010101" pitchFamily="2" charset="-122"/>
                <a:ea typeface="楷体_GB2312" pitchFamily="1" charset="-122"/>
              </a:rPr>
              <a:t>⑷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所有极小项的析取式恒真。 </a:t>
            </a:r>
          </a:p>
        </p:txBody>
      </p:sp>
    </p:spTree>
  </p:cSld>
  <p:clrMapOvr>
    <a:masterClrMapping/>
  </p:clrMapOvr>
  <p:transition>
    <p:blinds dir="vert"/>
  </p:transition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09" name="Slide Number Placeholder 5">
            <a:extLst>
              <a:ext uri="{FF2B5EF4-FFF2-40B4-BE49-F238E27FC236}">
                <a16:creationId xmlns:a16="http://schemas.microsoft.com/office/drawing/2014/main" id="{051B8230-F592-CE46-8FDC-80DEA6253F9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0119268-3911-D246-9BF9-1A48C1FEB454}" type="slidenum">
              <a:rPr kumimoji="0" lang="zh-CN" altLang="en-US" sz="1200"/>
              <a:pPr/>
              <a:t>97</a:t>
            </a:fld>
            <a:endParaRPr kumimoji="0" lang="en-US" altLang="zh-CN" sz="1200"/>
          </a:p>
        </p:txBody>
      </p:sp>
      <p:sp>
        <p:nvSpPr>
          <p:cNvPr id="171010" name="Rectangle 2">
            <a:extLst>
              <a:ext uri="{FF2B5EF4-FFF2-40B4-BE49-F238E27FC236}">
                <a16:creationId xmlns:a16="http://schemas.microsoft.com/office/drawing/2014/main" id="{749A7B29-0724-F546-941F-6EEB9E603942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34925" y="260350"/>
            <a:ext cx="9036050" cy="6048375"/>
          </a:xfrm>
        </p:spPr>
        <p:txBody>
          <a:bodyPr/>
          <a:lstStyle/>
          <a:p>
            <a:pPr algn="just"/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极大项有如下性质：</a:t>
            </a:r>
          </a:p>
          <a:p>
            <a:pPr algn="just">
              <a:buFont typeface="Wingdings" pitchFamily="2" charset="2"/>
              <a:buNone/>
            </a:pP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⑴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个命题原子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…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有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2</a:t>
            </a:r>
            <a:r>
              <a:rPr kumimoji="0" lang="en-US" altLang="zh-CN" sz="3200" baseline="30000"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个不同的解释， </a:t>
            </a:r>
          </a:p>
          <a:p>
            <a:pPr algn="just">
              <a:buFont typeface="Wingdings" pitchFamily="2" charset="2"/>
              <a:buNone/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     每个解释对应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…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的一个极大项。</a:t>
            </a:r>
          </a:p>
          <a:p>
            <a:pPr algn="just">
              <a:buFont typeface="Wingdings" pitchFamily="2" charset="2"/>
              <a:buNone/>
            </a:pP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⑵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对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…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的任意一个极大项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M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，有且只有一个解释使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M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取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0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值。</a:t>
            </a:r>
            <a:endParaRPr kumimoji="0" lang="en-US" altLang="zh-CN" sz="3200">
              <a:latin typeface="Arial" panose="020B0604020202020204" pitchFamily="34" charset="0"/>
              <a:ea typeface="楷体_GB2312" pitchFamily="1" charset="-122"/>
            </a:endParaRPr>
          </a:p>
          <a:p>
            <a:pPr algn="just">
              <a:buFont typeface="Wingdings" pitchFamily="2" charset="2"/>
              <a:buNone/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   若使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M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取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0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的解释对应的二进制数为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i,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M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记为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M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。</a:t>
            </a:r>
          </a:p>
          <a:p>
            <a:pPr algn="just">
              <a:buFont typeface="Wingdings" pitchFamily="2" charset="2"/>
              <a:buNone/>
            </a:pP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⑶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任意两个不同的极大项的析取式恒真：</a:t>
            </a:r>
          </a:p>
          <a:p>
            <a:pPr algn="ctr">
              <a:buFont typeface="Wingdings" pitchFamily="2" charset="2"/>
              <a:buNone/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M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i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 M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j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=1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i≠j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。</a:t>
            </a:r>
          </a:p>
          <a:p>
            <a:pPr algn="just">
              <a:buFont typeface="Wingdings" pitchFamily="2" charset="2"/>
              <a:buNone/>
            </a:pP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⑷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所有极大项的合取式恒假。</a:t>
            </a:r>
          </a:p>
          <a:p>
            <a:pPr algn="just"/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极小项和极大项的关系：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m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=</a:t>
            </a:r>
            <a:r>
              <a:rPr kumimoji="0" lang="en-US" altLang="zh-CN" sz="3200">
                <a:latin typeface="Arial" panose="020B0604020202020204" pitchFamily="34" charset="0"/>
                <a:ea typeface="宋体" panose="02010600030101010101" pitchFamily="2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M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i 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M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=</a:t>
            </a:r>
            <a:r>
              <a:rPr kumimoji="0" lang="en-US" altLang="zh-CN" sz="3200">
                <a:latin typeface="Arial" panose="020B0604020202020204" pitchFamily="34" charset="0"/>
                <a:ea typeface="宋体" panose="02010600030101010101" pitchFamily="2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m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 </a:t>
            </a:r>
          </a:p>
        </p:txBody>
      </p:sp>
    </p:spTree>
  </p:cSld>
  <p:clrMapOvr>
    <a:masterClrMapping/>
  </p:clrMapOvr>
  <p:transition>
    <p:blinds dir="vert"/>
  </p:transition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3" name="Slide Number Placeholder 5">
            <a:extLst>
              <a:ext uri="{FF2B5EF4-FFF2-40B4-BE49-F238E27FC236}">
                <a16:creationId xmlns:a16="http://schemas.microsoft.com/office/drawing/2014/main" id="{4ABF1347-69FA-EA4D-AFE0-8C6BB94822F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5ADB27B-D248-DC48-92C1-091BE6892C94}" type="slidenum">
              <a:rPr kumimoji="0" lang="zh-CN" altLang="en-US" sz="1200"/>
              <a:pPr/>
              <a:t>98</a:t>
            </a:fld>
            <a:endParaRPr kumimoji="0" lang="en-US" altLang="zh-CN" sz="1200"/>
          </a:p>
        </p:txBody>
      </p:sp>
      <p:sp>
        <p:nvSpPr>
          <p:cNvPr id="142338" name="Rectangle 2">
            <a:extLst>
              <a:ext uri="{FF2B5EF4-FFF2-40B4-BE49-F238E27FC236}">
                <a16:creationId xmlns:a16="http://schemas.microsoft.com/office/drawing/2014/main" id="{7CEAC2C8-3080-9940-A1F7-662E110B63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396875"/>
            <a:ext cx="8308032" cy="64135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sz="3600" dirty="0">
                <a:latin typeface="Arial" charset="0"/>
                <a:ea typeface="楷体_GB2312" charset="0"/>
                <a:cs typeface="+mj-cs"/>
              </a:rPr>
              <a:t>主合取范式与主析取范式之间的关系</a:t>
            </a:r>
          </a:p>
        </p:txBody>
      </p:sp>
      <p:sp>
        <p:nvSpPr>
          <p:cNvPr id="172035" name="Rectangle 3">
            <a:extLst>
              <a:ext uri="{FF2B5EF4-FFF2-40B4-BE49-F238E27FC236}">
                <a16:creationId xmlns:a16="http://schemas.microsoft.com/office/drawing/2014/main" id="{2EC33B99-FA9A-C747-B064-B99D7FFD8D8C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07950" y="1600200"/>
            <a:ext cx="8640763" cy="4530725"/>
          </a:xfrm>
        </p:spPr>
        <p:txBody>
          <a:bodyPr/>
          <a:lstStyle/>
          <a:p>
            <a:pPr algn="just">
              <a:lnSpc>
                <a:spcPct val="90000"/>
              </a:lnSpc>
              <a:buFont typeface="Wingdings" pitchFamily="2" charset="2"/>
              <a:buNone/>
            </a:pPr>
            <a:r>
              <a:rPr kumimoji="0" lang="zh-CN" altLang="en-US" sz="3200" dirty="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例</a:t>
            </a:r>
            <a:r>
              <a:rPr kumimoji="0" lang="en-US" altLang="zh-CN" sz="3200" dirty="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.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 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若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PQR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为一公式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G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的主合取范式，则</a:t>
            </a:r>
          </a:p>
          <a:p>
            <a:pPr algn="just">
              <a:lnSpc>
                <a:spcPct val="90000"/>
              </a:lnSpc>
              <a:buFont typeface="Wingdings" pitchFamily="2" charset="2"/>
              <a:buNone/>
            </a:pP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               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G =G</a:t>
            </a:r>
          </a:p>
          <a:p>
            <a:pPr algn="just">
              <a:lnSpc>
                <a:spcPct val="90000"/>
              </a:lnSpc>
              <a:buFont typeface="Wingdings" pitchFamily="2" charset="2"/>
              <a:buNone/>
            </a:pP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                  =M</a:t>
            </a:r>
            <a:r>
              <a:rPr kumimoji="0" lang="en-US" altLang="zh-CN" sz="3200" baseline="-300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0</a:t>
            </a:r>
          </a:p>
          <a:p>
            <a:pPr algn="just">
              <a:lnSpc>
                <a:spcPct val="90000"/>
              </a:lnSpc>
              <a:buFont typeface="Wingdings" pitchFamily="2" charset="2"/>
              <a:buNone/>
            </a:pP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                  =(M</a:t>
            </a:r>
            <a:r>
              <a:rPr kumimoji="0" lang="en-US" altLang="zh-CN" sz="3200" baseline="-300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1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M</a:t>
            </a:r>
            <a:r>
              <a:rPr kumimoji="0" lang="en-US" altLang="zh-CN" sz="3200" baseline="-300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2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…M</a:t>
            </a:r>
            <a:r>
              <a:rPr kumimoji="0" lang="en-US" altLang="zh-CN" sz="3200" baseline="-300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7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)                         </a:t>
            </a:r>
          </a:p>
          <a:p>
            <a:pPr algn="just">
              <a:lnSpc>
                <a:spcPct val="90000"/>
              </a:lnSpc>
              <a:buFont typeface="Wingdings" pitchFamily="2" charset="2"/>
              <a:buNone/>
            </a:pP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                  = M</a:t>
            </a:r>
            <a:r>
              <a:rPr kumimoji="0" lang="en-US" altLang="zh-CN" sz="3200" baseline="-300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1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M</a:t>
            </a:r>
            <a:r>
              <a:rPr kumimoji="0" lang="en-US" altLang="zh-CN" sz="3200" baseline="-300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2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…M</a:t>
            </a:r>
            <a:r>
              <a:rPr kumimoji="0" lang="en-US" altLang="zh-CN" sz="3200" baseline="-300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7</a:t>
            </a:r>
            <a:endParaRPr kumimoji="0" lang="en-US" altLang="zh-CN" sz="3200" dirty="0">
              <a:latin typeface="Arial" panose="020B0604020202020204" pitchFamily="34" charset="0"/>
              <a:ea typeface="楷体_GB2312" pitchFamily="1" charset="-122"/>
              <a:sym typeface="Symbol" pitchFamily="2" charset="2"/>
            </a:endParaRPr>
          </a:p>
          <a:p>
            <a:pPr algn="just">
              <a:lnSpc>
                <a:spcPct val="90000"/>
              </a:lnSpc>
              <a:buFont typeface="Wingdings" pitchFamily="2" charset="2"/>
              <a:buNone/>
            </a:pP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                  = m</a:t>
            </a:r>
            <a:r>
              <a:rPr kumimoji="0" lang="en-US" altLang="zh-CN" sz="3200" baseline="-300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1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m</a:t>
            </a:r>
            <a:r>
              <a:rPr kumimoji="0" lang="en-US" altLang="zh-CN" sz="3200" baseline="-300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2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…m</a:t>
            </a:r>
            <a:r>
              <a:rPr kumimoji="0" lang="en-US" altLang="zh-CN" sz="3200" baseline="-300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7</a:t>
            </a:r>
          </a:p>
          <a:p>
            <a:pPr algn="just">
              <a:lnSpc>
                <a:spcPct val="90000"/>
              </a:lnSpc>
              <a:buNone/>
            </a:pPr>
            <a:r>
              <a:rPr kumimoji="0" lang="en-US" altLang="zh-CN" sz="24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=(PQ</a:t>
            </a:r>
            <a:r>
              <a:rPr kumimoji="0" lang="en-US" altLang="zh-CN" sz="24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R)(</a:t>
            </a:r>
            <a:r>
              <a:rPr kumimoji="0" lang="en-US" altLang="zh-CN" sz="24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PQ</a:t>
            </a:r>
            <a:r>
              <a:rPr kumimoji="0" lang="en-US" altLang="zh-CN" sz="24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R)(</a:t>
            </a:r>
            <a:r>
              <a:rPr kumimoji="0" lang="en-US" altLang="zh-CN" sz="24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PQ</a:t>
            </a:r>
            <a:r>
              <a:rPr kumimoji="0" lang="en-US" altLang="zh-CN" sz="24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R)(</a:t>
            </a:r>
            <a:r>
              <a:rPr kumimoji="0" lang="en-US" altLang="zh-CN" sz="24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PQ</a:t>
            </a:r>
            <a:r>
              <a:rPr kumimoji="0" lang="en-US" altLang="zh-CN" sz="24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R)(</a:t>
            </a:r>
            <a:r>
              <a:rPr kumimoji="0" lang="en-US" altLang="zh-CN" sz="24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PQ</a:t>
            </a:r>
            <a:r>
              <a:rPr kumimoji="0" lang="en-US" altLang="zh-CN" sz="24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R)(</a:t>
            </a:r>
            <a:r>
              <a:rPr kumimoji="0" lang="en-US" altLang="zh-CN" sz="24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PQ</a:t>
            </a:r>
            <a:r>
              <a:rPr kumimoji="0" lang="en-US" altLang="zh-CN" sz="24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R)(</a:t>
            </a:r>
            <a:r>
              <a:rPr kumimoji="0" lang="en-US" altLang="zh-CN" sz="24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PQR)</a:t>
            </a:r>
          </a:p>
          <a:p>
            <a:pPr algn="just">
              <a:lnSpc>
                <a:spcPct val="90000"/>
              </a:lnSpc>
              <a:buFont typeface="Wingdings" pitchFamily="2" charset="2"/>
              <a:buNone/>
            </a:pP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为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G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的主析取范式。</a:t>
            </a:r>
          </a:p>
        </p:txBody>
      </p:sp>
    </p:spTree>
  </p:cSld>
  <p:clrMapOvr>
    <a:masterClrMapping/>
  </p:clrMapOvr>
  <p:transition>
    <p:blinds dir="vert"/>
  </p:transition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1" name="Slide Number Placeholder 5">
            <a:extLst>
              <a:ext uri="{FF2B5EF4-FFF2-40B4-BE49-F238E27FC236}">
                <a16:creationId xmlns:a16="http://schemas.microsoft.com/office/drawing/2014/main" id="{13E2FB6D-D5CB-0B49-816D-761D7B834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19644E8-880E-8542-89C7-FB72749BA228}" type="slidenum">
              <a:rPr kumimoji="0" lang="zh-CN" altLang="en-US" sz="1200"/>
              <a:pPr/>
              <a:t>99</a:t>
            </a:fld>
            <a:endParaRPr kumimoji="0" lang="en-US" altLang="zh-CN" sz="1200"/>
          </a:p>
        </p:txBody>
      </p:sp>
      <p:sp>
        <p:nvSpPr>
          <p:cNvPr id="174082" name="Rectangle 2">
            <a:extLst>
              <a:ext uri="{FF2B5EF4-FFF2-40B4-BE49-F238E27FC236}">
                <a16:creationId xmlns:a16="http://schemas.microsoft.com/office/drawing/2014/main" id="{FDC70270-949A-814C-BB50-913B5C9F8040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52400" y="836613"/>
            <a:ext cx="8839200" cy="5256212"/>
          </a:xfrm>
        </p:spPr>
        <p:txBody>
          <a:bodyPr/>
          <a:lstStyle/>
          <a:p>
            <a:r>
              <a:rPr kumimoji="0" lang="zh-CN" altLang="en-US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从一公式</a:t>
            </a:r>
            <a:r>
              <a:rPr kumimoji="0" lang="en-US" altLang="zh-CN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A</a:t>
            </a:r>
            <a:r>
              <a:rPr kumimoji="0" lang="zh-CN" altLang="en-US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的主合取范式</a:t>
            </a:r>
            <a:r>
              <a:rPr kumimoji="0" lang="en-US" altLang="zh-CN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(</a:t>
            </a:r>
            <a:r>
              <a:rPr kumimoji="0" lang="en-US" altLang="zh-CN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PQ</a:t>
            </a:r>
            <a:r>
              <a:rPr kumimoji="0" lang="en-US" altLang="zh-CN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)</a:t>
            </a:r>
            <a:r>
              <a:rPr kumimoji="0" lang="zh-CN" altLang="en-US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求其主析取范式的步骤为：</a:t>
            </a:r>
          </a:p>
          <a:p>
            <a:pPr>
              <a:buFont typeface="Wingdings" pitchFamily="2" charset="2"/>
              <a:buNone/>
            </a:pPr>
            <a:r>
              <a:rPr kumimoji="0" lang="zh-CN" altLang="en-US" sz="3200">
                <a:solidFill>
                  <a:srgbClr val="000000"/>
                </a:solidFill>
                <a:latin typeface="宋体" panose="02010600030101010101" pitchFamily="2" charset="-122"/>
                <a:ea typeface="楷体_GB2312" pitchFamily="1" charset="-122"/>
              </a:rPr>
              <a:t>⑴</a:t>
            </a:r>
            <a:r>
              <a:rPr kumimoji="0" lang="zh-CN" altLang="en-US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求出</a:t>
            </a:r>
            <a:r>
              <a:rPr kumimoji="0" lang="en-US" altLang="zh-CN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A</a:t>
            </a:r>
            <a:r>
              <a:rPr kumimoji="0" lang="zh-CN" altLang="en-US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的主合取范式中没有包含的所有极大项。 </a:t>
            </a:r>
            <a:r>
              <a:rPr kumimoji="0" lang="en-US" altLang="zh-CN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PQ</a:t>
            </a:r>
            <a:r>
              <a:rPr kumimoji="0" lang="zh-CN" altLang="en-US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， </a:t>
            </a:r>
            <a:r>
              <a:rPr kumimoji="0" lang="en-US" altLang="zh-CN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PQ</a:t>
            </a:r>
            <a:r>
              <a:rPr kumimoji="0" lang="zh-CN" altLang="en-US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， </a:t>
            </a:r>
            <a:r>
              <a:rPr kumimoji="0" lang="en-US" altLang="zh-CN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PQ </a:t>
            </a:r>
            <a:endParaRPr kumimoji="0" lang="en-US" altLang="zh-CN" sz="3200">
              <a:solidFill>
                <a:srgbClr val="000000"/>
              </a:solidFill>
              <a:latin typeface="Arial" panose="020B0604020202020204" pitchFamily="34" charset="0"/>
              <a:ea typeface="楷体_GB2312" pitchFamily="1" charset="-122"/>
            </a:endParaRPr>
          </a:p>
          <a:p>
            <a:pPr>
              <a:buFont typeface="Wingdings" pitchFamily="2" charset="2"/>
              <a:buNone/>
            </a:pPr>
            <a:r>
              <a:rPr kumimoji="0" lang="en-US" altLang="zh-CN" sz="3200">
                <a:solidFill>
                  <a:srgbClr val="000000"/>
                </a:solidFill>
                <a:latin typeface="宋体" panose="02010600030101010101" pitchFamily="2" charset="-122"/>
                <a:ea typeface="楷体_GB2312" pitchFamily="1" charset="-122"/>
              </a:rPr>
              <a:t>⑵</a:t>
            </a:r>
            <a:r>
              <a:rPr kumimoji="0" lang="en-US" altLang="zh-CN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 </a:t>
            </a:r>
            <a:r>
              <a:rPr kumimoji="0" lang="zh-CN" altLang="en-US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求出与 </a:t>
            </a:r>
            <a:r>
              <a:rPr kumimoji="0" lang="zh-CN" altLang="en-US" sz="3200">
                <a:solidFill>
                  <a:srgbClr val="000000"/>
                </a:solidFill>
                <a:latin typeface="宋体" panose="02010600030101010101" pitchFamily="2" charset="-122"/>
                <a:ea typeface="楷体_GB2312" pitchFamily="1" charset="-122"/>
              </a:rPr>
              <a:t>⑴</a:t>
            </a:r>
            <a:r>
              <a:rPr kumimoji="0" lang="zh-CN" altLang="en-US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中极大项下标相同的极小项。 </a:t>
            </a:r>
            <a:r>
              <a:rPr kumimoji="0" lang="zh-CN" altLang="en-US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PQ</a:t>
            </a:r>
            <a:r>
              <a:rPr kumimoji="0" lang="zh-CN" altLang="en-US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， </a:t>
            </a:r>
            <a:r>
              <a:rPr kumimoji="0" lang="en-US" altLang="zh-CN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PQ</a:t>
            </a:r>
            <a:r>
              <a:rPr kumimoji="0" lang="zh-CN" altLang="en-US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， </a:t>
            </a:r>
            <a:r>
              <a:rPr kumimoji="0" lang="en-US" altLang="zh-CN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PQ</a:t>
            </a:r>
            <a:endParaRPr kumimoji="0" lang="en-US" altLang="zh-CN" sz="3200">
              <a:solidFill>
                <a:srgbClr val="000000"/>
              </a:solidFill>
              <a:latin typeface="Arial" panose="020B0604020202020204" pitchFamily="34" charset="0"/>
              <a:ea typeface="楷体_GB2312" pitchFamily="1" charset="-122"/>
            </a:endParaRPr>
          </a:p>
          <a:p>
            <a:pPr>
              <a:buFont typeface="Wingdings" pitchFamily="2" charset="2"/>
              <a:buNone/>
            </a:pPr>
            <a:r>
              <a:rPr kumimoji="0" lang="en-US" altLang="zh-CN" sz="3200">
                <a:solidFill>
                  <a:srgbClr val="000000"/>
                </a:solidFill>
                <a:latin typeface="宋体" panose="02010600030101010101" pitchFamily="2" charset="-122"/>
                <a:ea typeface="楷体_GB2312" pitchFamily="1" charset="-122"/>
              </a:rPr>
              <a:t>⑶</a:t>
            </a:r>
            <a:r>
              <a:rPr kumimoji="0" lang="en-US" altLang="zh-CN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 </a:t>
            </a:r>
            <a:r>
              <a:rPr kumimoji="0" lang="zh-CN" altLang="en-US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将 </a:t>
            </a:r>
            <a:r>
              <a:rPr kumimoji="0" lang="zh-CN" altLang="en-US" sz="3200">
                <a:solidFill>
                  <a:srgbClr val="000000"/>
                </a:solidFill>
                <a:latin typeface="宋体" panose="02010600030101010101" pitchFamily="2" charset="-122"/>
                <a:ea typeface="楷体_GB2312" pitchFamily="1" charset="-122"/>
              </a:rPr>
              <a:t>⑵</a:t>
            </a:r>
            <a:r>
              <a:rPr kumimoji="0" lang="zh-CN" altLang="en-US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求出的所有极小项析取起来，即得</a:t>
            </a:r>
            <a:r>
              <a:rPr kumimoji="0" lang="en-US" altLang="zh-CN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A</a:t>
            </a:r>
            <a:r>
              <a:rPr kumimoji="0" lang="zh-CN" altLang="en-US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的主析取范式。</a:t>
            </a:r>
            <a:br>
              <a:rPr kumimoji="0" lang="zh-CN" altLang="en-US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</a:br>
            <a:r>
              <a:rPr kumimoji="0" lang="zh-CN" altLang="en-US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 </a:t>
            </a:r>
            <a:r>
              <a:rPr kumimoji="0" lang="en-US" altLang="zh-CN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(</a:t>
            </a:r>
            <a:r>
              <a:rPr kumimoji="0" lang="en-US" altLang="zh-CN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PQ)  (PQ)  (PQ)</a:t>
            </a:r>
          </a:p>
        </p:txBody>
      </p:sp>
    </p:spTree>
  </p:cSld>
  <p:clrMapOvr>
    <a:masterClrMapping/>
  </p:clrMapOvr>
  <p:transition>
    <p:blinds dir="vert"/>
  </p:transition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5" name="Slide Number Placeholder 5">
            <a:extLst>
              <a:ext uri="{FF2B5EF4-FFF2-40B4-BE49-F238E27FC236}">
                <a16:creationId xmlns:a16="http://schemas.microsoft.com/office/drawing/2014/main" id="{0D91F133-7B9D-5346-9C6C-7664ED541C1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0E5050E-FA24-8348-9590-13330D07E693}" type="slidenum">
              <a:rPr kumimoji="0" lang="zh-CN" altLang="en-US" sz="1200"/>
              <a:pPr/>
              <a:t>100</a:t>
            </a:fld>
            <a:endParaRPr kumimoji="0" lang="en-US" altLang="zh-CN" sz="1200"/>
          </a:p>
        </p:txBody>
      </p:sp>
      <p:sp>
        <p:nvSpPr>
          <p:cNvPr id="175106" name="Rectangle 2">
            <a:extLst>
              <a:ext uri="{FF2B5EF4-FFF2-40B4-BE49-F238E27FC236}">
                <a16:creationId xmlns:a16="http://schemas.microsoft.com/office/drawing/2014/main" id="{BD0E22CF-030C-6446-8795-57BBF5B66AC4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52400" y="620713"/>
            <a:ext cx="8839200" cy="5545137"/>
          </a:xfrm>
        </p:spPr>
        <p:txBody>
          <a:bodyPr/>
          <a:lstStyle/>
          <a:p>
            <a:pPr algn="just">
              <a:buFont typeface="Wingdings" pitchFamily="2" charset="2"/>
              <a:buNone/>
            </a:pPr>
            <a:r>
              <a:rPr kumimoji="0" lang="zh-CN" altLang="en-US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例</a:t>
            </a:r>
            <a:r>
              <a:rPr kumimoji="0" lang="en-US" altLang="zh-CN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.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若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Q)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为一公式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H</a:t>
            </a:r>
          </a:p>
          <a:p>
            <a:pPr algn="just">
              <a:buFont typeface="Wingdings" pitchFamily="2" charset="2"/>
              <a:buNone/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     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的主析取范式，</a:t>
            </a:r>
          </a:p>
          <a:p>
            <a:pPr algn="just">
              <a:buFont typeface="Wingdings" pitchFamily="2" charset="2"/>
              <a:buNone/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H=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H</a:t>
            </a:r>
          </a:p>
          <a:p>
            <a:pPr algn="just">
              <a:buFont typeface="Wingdings" pitchFamily="2" charset="2"/>
              <a:buNone/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   =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((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Q))</a:t>
            </a:r>
          </a:p>
          <a:p>
            <a:pPr algn="just">
              <a:buFont typeface="Wingdings" pitchFamily="2" charset="2"/>
              <a:buNone/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   =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(m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0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 m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 m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3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)</a:t>
            </a:r>
          </a:p>
          <a:p>
            <a:pPr algn="just">
              <a:buFont typeface="Wingdings" pitchFamily="2" charset="2"/>
              <a:buNone/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   =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(m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2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)</a:t>
            </a:r>
          </a:p>
          <a:p>
            <a:pPr algn="just">
              <a:buFont typeface="Wingdings" pitchFamily="2" charset="2"/>
              <a:buNone/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   =M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2</a:t>
            </a:r>
            <a:endParaRPr kumimoji="0" lang="en-US" altLang="zh-CN" sz="3200">
              <a:latin typeface="Arial" panose="020B0604020202020204" pitchFamily="34" charset="0"/>
              <a:ea typeface="楷体_GB2312" pitchFamily="1" charset="-122"/>
            </a:endParaRPr>
          </a:p>
          <a:p>
            <a:pPr algn="just">
              <a:buFont typeface="Wingdings" pitchFamily="2" charset="2"/>
              <a:buNone/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   =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</a:p>
          <a:p>
            <a:pPr algn="just">
              <a:buFont typeface="Wingdings" pitchFamily="2" charset="2"/>
              <a:buNone/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为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H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的主合取范式。</a:t>
            </a:r>
          </a:p>
        </p:txBody>
      </p:sp>
    </p:spTree>
  </p:cSld>
  <p:clrMapOvr>
    <a:masterClrMapping/>
  </p:clrMapOvr>
  <p:transition>
    <p:blinds dir="vert"/>
  </p:transition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3" name="Slide Number Placeholder 5">
            <a:extLst>
              <a:ext uri="{FF2B5EF4-FFF2-40B4-BE49-F238E27FC236}">
                <a16:creationId xmlns:a16="http://schemas.microsoft.com/office/drawing/2014/main" id="{6912C090-BDCB-6B4D-B2DB-2CFD1DCE282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C146991-01D1-C74A-A50E-DEEEB007CE07}" type="slidenum">
              <a:rPr kumimoji="0" lang="zh-CN" altLang="en-US" sz="1200"/>
              <a:pPr/>
              <a:t>101</a:t>
            </a:fld>
            <a:endParaRPr kumimoji="0" lang="en-US" altLang="zh-CN" sz="1200"/>
          </a:p>
        </p:txBody>
      </p:sp>
      <p:sp>
        <p:nvSpPr>
          <p:cNvPr id="177154" name="Rectangle 2">
            <a:extLst>
              <a:ext uri="{FF2B5EF4-FFF2-40B4-BE49-F238E27FC236}">
                <a16:creationId xmlns:a16="http://schemas.microsoft.com/office/drawing/2014/main" id="{F6E24916-B227-8E41-8918-BF21BF908079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52400" y="1052513"/>
            <a:ext cx="8839200" cy="5043487"/>
          </a:xfrm>
        </p:spPr>
        <p:txBody>
          <a:bodyPr/>
          <a:lstStyle/>
          <a:p>
            <a:r>
              <a:rPr kumimoji="0" lang="zh-CN" altLang="en-US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由主析取范式求主合取范式： </a:t>
            </a:r>
          </a:p>
          <a:p>
            <a:pPr>
              <a:buFont typeface="Wingdings" pitchFamily="2" charset="2"/>
              <a:buNone/>
            </a:pPr>
            <a:r>
              <a:rPr kumimoji="0" lang="zh-CN" altLang="en-US" sz="3200">
                <a:solidFill>
                  <a:srgbClr val="000000"/>
                </a:solidFill>
                <a:latin typeface="宋体" panose="02010600030101010101" pitchFamily="2" charset="-122"/>
                <a:ea typeface="楷体_GB2312" pitchFamily="1" charset="-122"/>
              </a:rPr>
              <a:t>⑴</a:t>
            </a:r>
            <a:r>
              <a:rPr kumimoji="0" lang="zh-CN" altLang="en-US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求出</a:t>
            </a:r>
            <a:r>
              <a:rPr kumimoji="0" lang="en-US" altLang="zh-CN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A</a:t>
            </a:r>
            <a:r>
              <a:rPr kumimoji="0" lang="zh-CN" altLang="en-US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的主析取范式中没有包含的所有极小项。 </a:t>
            </a:r>
          </a:p>
          <a:p>
            <a:pPr>
              <a:buFont typeface="Wingdings" pitchFamily="2" charset="2"/>
              <a:buNone/>
            </a:pPr>
            <a:r>
              <a:rPr kumimoji="0" lang="zh-CN" altLang="en-US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    </a:t>
            </a:r>
            <a:r>
              <a:rPr kumimoji="0" lang="en-US" altLang="zh-CN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m</a:t>
            </a:r>
            <a:r>
              <a:rPr kumimoji="0" lang="en-US" altLang="zh-CN" sz="3200" baseline="-300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2</a:t>
            </a:r>
            <a:endParaRPr kumimoji="0" lang="en-US" altLang="zh-CN" sz="3200">
              <a:solidFill>
                <a:srgbClr val="000000"/>
              </a:solidFill>
              <a:latin typeface="Arial" panose="020B0604020202020204" pitchFamily="34" charset="0"/>
              <a:ea typeface="楷体_GB2312" pitchFamily="1" charset="-122"/>
            </a:endParaRPr>
          </a:p>
          <a:p>
            <a:pPr>
              <a:buFont typeface="Wingdings" pitchFamily="2" charset="2"/>
              <a:buNone/>
            </a:pPr>
            <a:r>
              <a:rPr kumimoji="0" lang="en-US" altLang="zh-CN" sz="3200">
                <a:solidFill>
                  <a:srgbClr val="000000"/>
                </a:solidFill>
                <a:latin typeface="宋体" panose="02010600030101010101" pitchFamily="2" charset="-122"/>
                <a:ea typeface="楷体_GB2312" pitchFamily="1" charset="-122"/>
              </a:rPr>
              <a:t>⑵</a:t>
            </a:r>
            <a:r>
              <a:rPr kumimoji="0" lang="zh-CN" altLang="en-US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求出与</a:t>
            </a:r>
            <a:r>
              <a:rPr kumimoji="0" lang="zh-CN" altLang="en-US" sz="3200">
                <a:solidFill>
                  <a:srgbClr val="000000"/>
                </a:solidFill>
                <a:latin typeface="宋体" panose="02010600030101010101" pitchFamily="2" charset="-122"/>
                <a:ea typeface="楷体_GB2312" pitchFamily="1" charset="-122"/>
              </a:rPr>
              <a:t>⑴</a:t>
            </a:r>
            <a:r>
              <a:rPr kumimoji="0" lang="zh-CN" altLang="en-US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中极小项下标相同的极大项。 </a:t>
            </a:r>
          </a:p>
          <a:p>
            <a:pPr>
              <a:buFont typeface="Wingdings" pitchFamily="2" charset="2"/>
              <a:buNone/>
            </a:pPr>
            <a:r>
              <a:rPr kumimoji="0" lang="zh-CN" altLang="en-US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    </a:t>
            </a:r>
            <a:r>
              <a:rPr kumimoji="0" lang="en-US" altLang="zh-CN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M</a:t>
            </a:r>
            <a:r>
              <a:rPr kumimoji="0" lang="en-US" altLang="zh-CN" sz="3200" baseline="-300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2</a:t>
            </a:r>
            <a:endParaRPr kumimoji="0" lang="en-US" altLang="zh-CN" sz="3200">
              <a:solidFill>
                <a:srgbClr val="000000"/>
              </a:solidFill>
              <a:latin typeface="Arial" panose="020B0604020202020204" pitchFamily="34" charset="0"/>
              <a:ea typeface="楷体_GB2312" pitchFamily="1" charset="-122"/>
            </a:endParaRPr>
          </a:p>
          <a:p>
            <a:pPr>
              <a:buFont typeface="Wingdings" pitchFamily="2" charset="2"/>
              <a:buNone/>
            </a:pPr>
            <a:r>
              <a:rPr kumimoji="0" lang="en-US" altLang="zh-CN" sz="3200">
                <a:solidFill>
                  <a:srgbClr val="000000"/>
                </a:solidFill>
                <a:latin typeface="宋体" panose="02010600030101010101" pitchFamily="2" charset="-122"/>
                <a:ea typeface="楷体_GB2312" pitchFamily="1" charset="-122"/>
              </a:rPr>
              <a:t>⑶</a:t>
            </a:r>
            <a:r>
              <a:rPr kumimoji="0" lang="zh-CN" altLang="en-US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将</a:t>
            </a:r>
            <a:r>
              <a:rPr kumimoji="0" lang="zh-CN" altLang="en-US" sz="3200">
                <a:solidFill>
                  <a:srgbClr val="000000"/>
                </a:solidFill>
                <a:latin typeface="宋体" panose="02010600030101010101" pitchFamily="2" charset="-122"/>
                <a:ea typeface="楷体_GB2312" pitchFamily="1" charset="-122"/>
              </a:rPr>
              <a:t>⑵</a:t>
            </a:r>
            <a:r>
              <a:rPr kumimoji="0" lang="zh-CN" altLang="en-US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求出的所有极大项合取起来，即得</a:t>
            </a:r>
            <a:r>
              <a:rPr kumimoji="0" lang="en-US" altLang="zh-CN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A</a:t>
            </a:r>
            <a:r>
              <a:rPr kumimoji="0" lang="zh-CN" altLang="en-US" sz="3200">
                <a:solidFill>
                  <a:srgbClr val="000000"/>
                </a:solidFill>
                <a:latin typeface="Arial" panose="020B0604020202020204" pitchFamily="34" charset="0"/>
                <a:ea typeface="楷体_GB2312" pitchFamily="1" charset="-122"/>
              </a:rPr>
              <a:t>的主合取范式。</a:t>
            </a:r>
          </a:p>
        </p:txBody>
      </p:sp>
    </p:spTree>
  </p:cSld>
  <p:clrMapOvr>
    <a:masterClrMapping/>
  </p:clrMapOvr>
  <p:transition>
    <p:blinds dir="vert"/>
  </p:transition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7" name="Slide Number Placeholder 5">
            <a:extLst>
              <a:ext uri="{FF2B5EF4-FFF2-40B4-BE49-F238E27FC236}">
                <a16:creationId xmlns:a16="http://schemas.microsoft.com/office/drawing/2014/main" id="{FC89AA51-177D-F54B-9863-4A93A238309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0E43BA6-3E00-5E4B-8567-C5FEE9B1F92C}" type="slidenum">
              <a:rPr kumimoji="0" lang="zh-CN" altLang="en-US" sz="1200"/>
              <a:pPr/>
              <a:t>102</a:t>
            </a:fld>
            <a:endParaRPr kumimoji="0" lang="en-US" altLang="zh-CN" sz="1200"/>
          </a:p>
        </p:txBody>
      </p:sp>
      <p:sp>
        <p:nvSpPr>
          <p:cNvPr id="178178" name="Rectangle 2">
            <a:extLst>
              <a:ext uri="{FF2B5EF4-FFF2-40B4-BE49-F238E27FC236}">
                <a16:creationId xmlns:a16="http://schemas.microsoft.com/office/drawing/2014/main" id="{0E72B45D-3E07-1E4A-AB53-2328E4CF7CB4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52400" y="576263"/>
            <a:ext cx="8839200" cy="5732462"/>
          </a:xfrm>
        </p:spPr>
        <p:txBody>
          <a:bodyPr/>
          <a:lstStyle/>
          <a:p>
            <a:r>
              <a:rPr kumimoji="0" lang="zh-CN" altLang="en-US" sz="2800">
                <a:solidFill>
                  <a:schemeClr val="accent1"/>
                </a:solidFill>
                <a:latin typeface="Arial" panose="020B0604020202020204" pitchFamily="34" charset="0"/>
                <a:ea typeface="楷体_GB2312" pitchFamily="1" charset="-122"/>
              </a:rPr>
              <a:t>定理</a:t>
            </a:r>
            <a:r>
              <a:rPr kumimoji="0" lang="en-US" altLang="zh-CN" sz="2800">
                <a:solidFill>
                  <a:schemeClr val="accent1"/>
                </a:solidFill>
                <a:latin typeface="Arial" panose="020B0604020202020204" pitchFamily="34" charset="0"/>
                <a:ea typeface="楷体_GB2312" pitchFamily="1" charset="-122"/>
              </a:rPr>
              <a:t>.</a:t>
            </a:r>
            <a:r>
              <a:rPr kumimoji="0" lang="en-US" altLang="zh-CN" sz="2800">
                <a:solidFill>
                  <a:srgbClr val="FFFF00"/>
                </a:solidFill>
                <a:latin typeface="Arial" panose="020B0604020202020204" pitchFamily="34" charset="0"/>
                <a:ea typeface="楷体_GB2312" pitchFamily="1" charset="-122"/>
              </a:rPr>
              <a:t> 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对任意命题公式，存在唯一一个与其</a:t>
            </a:r>
          </a:p>
          <a:p>
            <a:pPr>
              <a:buFont typeface="Wingdings" pitchFamily="2" charset="2"/>
              <a:buNone/>
            </a:pP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              等价的主合取范式。</a:t>
            </a:r>
          </a:p>
          <a:p>
            <a:pPr>
              <a:buFont typeface="Wingdings" pitchFamily="2" charset="2"/>
              <a:buNone/>
            </a:pP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证明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:</a:t>
            </a:r>
            <a:r>
              <a:rPr kumimoji="0" lang="en-US" altLang="zh-CN" sz="28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 (</a:t>
            </a:r>
            <a:r>
              <a:rPr kumimoji="0" lang="zh-CN" altLang="en-US" sz="28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存在性</a:t>
            </a:r>
            <a:r>
              <a:rPr kumimoji="0" lang="en-US" altLang="zh-CN" sz="28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)</a:t>
            </a:r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   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设命题公式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中所有不同原子为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28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…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2800" baseline="-30000"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，则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1" charset="-122"/>
              </a:rPr>
              <a:t>等价于它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的主合取范式的求法如下：</a:t>
            </a:r>
          </a:p>
          <a:p>
            <a:pPr algn="just">
              <a:lnSpc>
                <a:spcPct val="110000"/>
              </a:lnSpc>
              <a:buFont typeface="Wingdings" pitchFamily="2" charset="2"/>
              <a:buNone/>
            </a:pP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(a) 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将公式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化为合取范式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G’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。</a:t>
            </a:r>
          </a:p>
          <a:p>
            <a:pPr algn="just">
              <a:lnSpc>
                <a:spcPct val="110000"/>
              </a:lnSpc>
              <a:buFont typeface="Wingdings" pitchFamily="2" charset="2"/>
              <a:buNone/>
            </a:pP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     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(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由定理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3.1.4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知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,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存在合取范式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G’,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使得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G=G’)</a:t>
            </a:r>
          </a:p>
          <a:p>
            <a:pPr algn="just">
              <a:lnSpc>
                <a:spcPct val="110000"/>
              </a:lnSpc>
              <a:buFont typeface="Wingdings" pitchFamily="2" charset="2"/>
              <a:buNone/>
            </a:pP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(b) 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删去合取范式中所有恒真的子句。</a:t>
            </a:r>
          </a:p>
          <a:p>
            <a:pPr algn="just">
              <a:lnSpc>
                <a:spcPct val="110000"/>
              </a:lnSpc>
              <a:buFont typeface="Wingdings" pitchFamily="2" charset="2"/>
              <a:buNone/>
            </a:pP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(c) 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用幂等律将子句中重复出现的同一文字化简</a:t>
            </a:r>
          </a:p>
          <a:p>
            <a:pPr algn="just">
              <a:lnSpc>
                <a:spcPct val="110000"/>
              </a:lnSpc>
              <a:buFont typeface="Wingdings" pitchFamily="2" charset="2"/>
              <a:buNone/>
            </a:pP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     为一次出现，如，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P 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 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P=P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。</a:t>
            </a:r>
          </a:p>
        </p:txBody>
      </p:sp>
    </p:spTree>
  </p:cSld>
  <p:clrMapOvr>
    <a:masterClrMapping/>
  </p:clrMapOvr>
  <p:transition>
    <p:blinds dir="vert"/>
  </p:transition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1" name="Slide Number Placeholder 5">
            <a:extLst>
              <a:ext uri="{FF2B5EF4-FFF2-40B4-BE49-F238E27FC236}">
                <a16:creationId xmlns:a16="http://schemas.microsoft.com/office/drawing/2014/main" id="{281DEB2B-704F-5E45-ACD8-C06432FF01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D284D6E-8D7D-3148-9A1B-04230EAC36F0}" type="slidenum">
              <a:rPr kumimoji="0" lang="zh-CN" altLang="en-US" sz="1200"/>
              <a:pPr/>
              <a:t>103</a:t>
            </a:fld>
            <a:endParaRPr kumimoji="0" lang="en-US" altLang="zh-CN" sz="1200"/>
          </a:p>
        </p:txBody>
      </p:sp>
      <p:sp>
        <p:nvSpPr>
          <p:cNvPr id="179202" name="Rectangle 2">
            <a:extLst>
              <a:ext uri="{FF2B5EF4-FFF2-40B4-BE49-F238E27FC236}">
                <a16:creationId xmlns:a16="http://schemas.microsoft.com/office/drawing/2014/main" id="{A6B72F12-8C12-F447-97E4-D60ECC281017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52400" y="836613"/>
            <a:ext cx="8839200" cy="5545137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(d)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对于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G’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中的每一个子句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G’</a:t>
            </a:r>
            <a:r>
              <a:rPr kumimoji="0" lang="en-US" altLang="zh-CN" sz="3200" i="1" baseline="-300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进行检查，如果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G’</a:t>
            </a:r>
            <a:r>
              <a:rPr kumimoji="0" lang="en-US" altLang="zh-CN" sz="3200" i="1" baseline="-300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不是关于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…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的极大项，则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G’</a:t>
            </a:r>
            <a:r>
              <a:rPr kumimoji="0" lang="en-US" altLang="zh-CN" sz="3200" i="1" baseline="-300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必然缺少原子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j1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,…P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jk</a:t>
            </a:r>
            <a:r>
              <a:rPr kumimoji="0" lang="zh-CN" altLang="en-US" sz="3200" baseline="-30000">
                <a:latin typeface="Arial" panose="020B0604020202020204" pitchFamily="34" charset="0"/>
                <a:ea typeface="楷体_GB2312" pitchFamily="1" charset="-122"/>
              </a:rPr>
              <a:t>。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则可以通过如下方式扩展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G’</a:t>
            </a:r>
            <a:r>
              <a:rPr kumimoji="0" lang="en-US" altLang="zh-CN" sz="3200" i="1" baseline="-30000">
                <a:latin typeface="Arial" panose="020B0604020202020204" pitchFamily="34" charset="0"/>
                <a:ea typeface="楷体_GB2312" pitchFamily="1" charset="-122"/>
              </a:rPr>
              <a:t>i</a:t>
            </a:r>
            <a:endParaRPr kumimoji="0" lang="en-US" altLang="zh-CN" sz="3200">
              <a:latin typeface="Arial" panose="020B0604020202020204" pitchFamily="34" charset="0"/>
              <a:ea typeface="楷体_GB2312" pitchFamily="1" charset="-122"/>
            </a:endParaRPr>
          </a:p>
          <a:p>
            <a:pPr algn="just">
              <a:buFont typeface="Wingdings" pitchFamily="2" charset="2"/>
              <a:buNone/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G’</a:t>
            </a:r>
            <a:r>
              <a:rPr kumimoji="0" lang="en-US" altLang="zh-CN" sz="3200" i="1" baseline="-250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= G’</a:t>
            </a:r>
            <a:r>
              <a:rPr kumimoji="0" lang="en-US" altLang="zh-CN" sz="3200" i="1" baseline="-300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 (P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j1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j1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)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…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(P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jk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jk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)</a:t>
            </a:r>
          </a:p>
          <a:p>
            <a:pPr algn="just">
              <a:buFont typeface="Wingdings" pitchFamily="2" charset="2"/>
              <a:buNone/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     =M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i1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…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M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i2</a:t>
            </a:r>
            <a:r>
              <a:rPr kumimoji="0" lang="en-US" altLang="zh-CN" sz="3200" baseline="30000">
                <a:latin typeface="Arial" panose="020B0604020202020204" pitchFamily="34" charset="0"/>
                <a:ea typeface="楷体_GB2312" pitchFamily="1" charset="-122"/>
              </a:rPr>
              <a:t>k</a:t>
            </a:r>
          </a:p>
          <a:p>
            <a:pPr algn="just">
              <a:buFont typeface="Wingdings" pitchFamily="2" charset="2"/>
              <a:buNone/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于是将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G’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中的非极大项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G’</a:t>
            </a:r>
            <a:r>
              <a:rPr kumimoji="0" lang="en-US" altLang="zh-CN" sz="3200" i="1" baseline="-300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化成了一些极大</a:t>
            </a:r>
          </a:p>
          <a:p>
            <a:pPr algn="just">
              <a:buFont typeface="Wingdings" pitchFamily="2" charset="2"/>
              <a:buNone/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项的合取。</a:t>
            </a:r>
          </a:p>
          <a:p>
            <a:pPr>
              <a:buFont typeface="Wingdings" pitchFamily="2" charset="2"/>
              <a:buNone/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  对其它非极大项也做同样处理，得到等价</a:t>
            </a:r>
          </a:p>
          <a:p>
            <a:pPr>
              <a:buFont typeface="Wingdings" pitchFamily="2" charset="2"/>
              <a:buNone/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于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的主合取范式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G’’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。</a:t>
            </a:r>
          </a:p>
        </p:txBody>
      </p:sp>
    </p:spTree>
  </p:cSld>
  <p:clrMapOvr>
    <a:masterClrMapping/>
  </p:clrMapOvr>
  <p:transition>
    <p:blinds dir="vert"/>
  </p:transition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5" name="Slide Number Placeholder 5">
            <a:extLst>
              <a:ext uri="{FF2B5EF4-FFF2-40B4-BE49-F238E27FC236}">
                <a16:creationId xmlns:a16="http://schemas.microsoft.com/office/drawing/2014/main" id="{E11EFF8C-E876-D449-A2E4-1B8D684CFF0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B0F04CF-B21D-574B-9EE6-5D3E8C1F3F32}" type="slidenum">
              <a:rPr kumimoji="0" lang="zh-CN" altLang="en-US" sz="1200"/>
              <a:pPr/>
              <a:t>104</a:t>
            </a:fld>
            <a:endParaRPr kumimoji="0" lang="en-US" altLang="zh-CN" sz="1200"/>
          </a:p>
        </p:txBody>
      </p:sp>
      <p:sp>
        <p:nvSpPr>
          <p:cNvPr id="180226" name="Rectangle 2">
            <a:extLst>
              <a:ext uri="{FF2B5EF4-FFF2-40B4-BE49-F238E27FC236}">
                <a16:creationId xmlns:a16="http://schemas.microsoft.com/office/drawing/2014/main" id="{D7C95095-3C21-7A4B-BE30-FA586F9FB56D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07950" y="692150"/>
            <a:ext cx="8839200" cy="56896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kumimoji="0" lang="zh-CN" altLang="en-US" sz="32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  </a:t>
            </a:r>
            <a:r>
              <a:rPr kumimoji="0" lang="en-US" altLang="zh-CN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(</a:t>
            </a:r>
            <a:r>
              <a:rPr kumimoji="0" lang="zh-CN" altLang="en-US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唯一性</a:t>
            </a:r>
            <a:r>
              <a:rPr kumimoji="0" lang="en-US" altLang="zh-CN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)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也就是证明对任意两个关于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 baseline="-25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…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 baseline="-25000"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的主合取范式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G,H 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，如果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与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H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不完全相同，则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与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H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不等价。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   由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H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不完全相同知，必然存在一个极大项在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中而不在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H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中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；或者反之。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  不妨设极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大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项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M</a:t>
            </a:r>
            <a:r>
              <a:rPr kumimoji="0" lang="en-US" altLang="zh-CN" sz="3200" baseline="-250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在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中而不在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H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中。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 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于是根据极大项的性质，二进制数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所对应的关于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1" charset="-122"/>
              </a:rPr>
              <a:t>,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1" charset="-122"/>
              </a:rPr>
              <a:t>…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1" charset="-122"/>
              </a:rPr>
              <a:t>,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n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的解释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使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M</a:t>
            </a:r>
            <a:r>
              <a:rPr kumimoji="0" lang="en-US" altLang="zh-CN" sz="3200" baseline="-250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取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0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值，从而使公式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取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0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值。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使所有不是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M</a:t>
            </a:r>
            <a:r>
              <a:rPr kumimoji="0" lang="en-US" altLang="zh-CN" sz="3200" baseline="-250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的极大项取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值，从而使公式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H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取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1" charset="-122"/>
              </a:rPr>
              <a:t>值。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    所以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与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H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不等价。</a:t>
            </a:r>
          </a:p>
        </p:txBody>
      </p:sp>
    </p:spTree>
  </p:cSld>
  <p:clrMapOvr>
    <a:masterClrMapping/>
  </p:clrMapOvr>
  <p:transition>
    <p:blinds dir="vert"/>
  </p:transition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49" name="Slide Number Placeholder 5">
            <a:extLst>
              <a:ext uri="{FF2B5EF4-FFF2-40B4-BE49-F238E27FC236}">
                <a16:creationId xmlns:a16="http://schemas.microsoft.com/office/drawing/2014/main" id="{F565F7DE-E389-1947-B719-EFC4F97FA7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9ED07B7-8CE7-874B-90E2-0E1566B7FED0}" type="slidenum">
              <a:rPr kumimoji="0" lang="zh-CN" altLang="en-US" sz="1200"/>
              <a:pPr/>
              <a:t>105</a:t>
            </a:fld>
            <a:endParaRPr kumimoji="0" lang="en-US" altLang="zh-CN" sz="1200"/>
          </a:p>
        </p:txBody>
      </p:sp>
      <p:sp>
        <p:nvSpPr>
          <p:cNvPr id="181250" name="Rectangle 2">
            <a:extLst>
              <a:ext uri="{FF2B5EF4-FFF2-40B4-BE49-F238E27FC236}">
                <a16:creationId xmlns:a16="http://schemas.microsoft.com/office/drawing/2014/main" id="{F1991DFB-0034-7C46-B32C-F33D727BAFAD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1438" y="908050"/>
            <a:ext cx="9037637" cy="5761038"/>
          </a:xfrm>
        </p:spPr>
        <p:txBody>
          <a:bodyPr/>
          <a:lstStyle/>
          <a:p>
            <a:pPr>
              <a:lnSpc>
                <a:spcPct val="105000"/>
              </a:lnSpc>
              <a:buFont typeface="Wingdings" pitchFamily="2" charset="2"/>
              <a:buNone/>
            </a:pPr>
            <a:r>
              <a:rPr kumimoji="0" lang="zh-CN" altLang="en-US" sz="28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定理</a:t>
            </a:r>
            <a:r>
              <a:rPr kumimoji="0" lang="en-US" altLang="zh-CN" sz="28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. 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在真值表中，使得公式为假的解释所对应的极大项　的合取即为此公式的主合取范式。</a:t>
            </a:r>
          </a:p>
          <a:p>
            <a:pPr>
              <a:lnSpc>
                <a:spcPct val="105000"/>
              </a:lnSpc>
              <a:buFont typeface="Wingdings" pitchFamily="2" charset="2"/>
              <a:buNone/>
            </a:pP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证明： 给定公式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，设用这种方法写出主合取范式为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G’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，往证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G= G’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。</a:t>
            </a:r>
          </a:p>
          <a:p>
            <a:pPr>
              <a:lnSpc>
                <a:spcPct val="105000"/>
              </a:lnSpc>
              <a:buFont typeface="Wingdings" pitchFamily="2" charset="2"/>
              <a:buNone/>
            </a:pP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任意取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G, G’ 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的一个解释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。</a:t>
            </a:r>
          </a:p>
          <a:p>
            <a:pPr>
              <a:lnSpc>
                <a:spcPct val="105000"/>
              </a:lnSpc>
            </a:pP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如果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满足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，则</a:t>
            </a:r>
            <a:r>
              <a:rPr kumimoji="0" lang="zh-CN" altLang="en-US" sz="28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唯一的一个在</a:t>
            </a:r>
            <a:r>
              <a:rPr kumimoji="0" lang="en-US" altLang="zh-CN" sz="28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28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下为假的那个极大项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不在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G’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中出现，而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使所有其他的极大项取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，这样，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G’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在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下的真值是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；</a:t>
            </a:r>
          </a:p>
          <a:p>
            <a:pPr>
              <a:lnSpc>
                <a:spcPct val="105000"/>
              </a:lnSpc>
            </a:pP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如果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弄假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，则</a:t>
            </a:r>
            <a:r>
              <a:rPr kumimoji="0" lang="zh-CN" altLang="en-US" sz="28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唯一的一个在</a:t>
            </a:r>
            <a:r>
              <a:rPr kumimoji="0" lang="en-US" altLang="zh-CN" sz="28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28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下为假的那个极大项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出现在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G’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中，从而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G’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在下取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0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值。</a:t>
            </a:r>
          </a:p>
          <a:p>
            <a:pPr>
              <a:lnSpc>
                <a:spcPct val="105000"/>
              </a:lnSpc>
              <a:buFont typeface="Wingdings" pitchFamily="2" charset="2"/>
              <a:buNone/>
            </a:pP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这样，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与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G’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是等价的。</a:t>
            </a:r>
          </a:p>
        </p:txBody>
      </p:sp>
      <p:sp>
        <p:nvSpPr>
          <p:cNvPr id="181251" name="Text Box 3">
            <a:extLst>
              <a:ext uri="{FF2B5EF4-FFF2-40B4-BE49-F238E27FC236}">
                <a16:creationId xmlns:a16="http://schemas.microsoft.com/office/drawing/2014/main" id="{E000C3E2-4BB5-554C-8418-626452E866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" y="44450"/>
            <a:ext cx="8839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kumimoji="0" lang="zh-CN" altLang="en-US" sz="4400" b="1">
                <a:solidFill>
                  <a:srgbClr val="4E67C8"/>
                </a:solidFill>
              </a:rPr>
              <a:t>用真值表法求主合取范式的正确性</a:t>
            </a:r>
          </a:p>
        </p:txBody>
      </p:sp>
    </p:spTree>
  </p:cSld>
  <p:clrMapOvr>
    <a:masterClrMapping/>
  </p:clrMapOvr>
  <p:transition>
    <p:blinds dir="vert"/>
  </p:transition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3" name="Slide Number Placeholder 5">
            <a:extLst>
              <a:ext uri="{FF2B5EF4-FFF2-40B4-BE49-F238E27FC236}">
                <a16:creationId xmlns:a16="http://schemas.microsoft.com/office/drawing/2014/main" id="{114A1E85-E7F0-1C4A-8450-4C79E28F791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141A7C2-80A4-B148-8B77-11C965098365}" type="slidenum">
              <a:rPr kumimoji="0" lang="zh-CN" altLang="en-US" sz="1200"/>
              <a:pPr/>
              <a:t>106</a:t>
            </a:fld>
            <a:endParaRPr kumimoji="0" lang="en-US" altLang="zh-CN" sz="1200"/>
          </a:p>
        </p:txBody>
      </p:sp>
      <p:sp>
        <p:nvSpPr>
          <p:cNvPr id="150530" name="Rectangle 2">
            <a:extLst>
              <a:ext uri="{FF2B5EF4-FFF2-40B4-BE49-F238E27FC236}">
                <a16:creationId xmlns:a16="http://schemas.microsoft.com/office/drawing/2014/main" id="{871F35E6-3B45-1E47-B3E4-67EFBC0BE1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904" y="332656"/>
            <a:ext cx="8991600" cy="1190625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sz="4400" dirty="0">
                <a:latin typeface="Times New Roman" charset="0"/>
                <a:ea typeface="楷体_GB2312" charset="0"/>
                <a:cs typeface="+mj-cs"/>
              </a:rPr>
              <a:t>求主合取范式和主析取范式的方法</a:t>
            </a:r>
            <a:br>
              <a:rPr lang="zh-CN" altLang="en-US" sz="4400" dirty="0">
                <a:latin typeface="Times New Roman" charset="0"/>
                <a:ea typeface="楷体_GB2312" charset="0"/>
                <a:cs typeface="+mj-cs"/>
              </a:rPr>
            </a:br>
            <a:endParaRPr lang="zh-CN" altLang="en-US" sz="4400" dirty="0">
              <a:latin typeface="Times New Roman" charset="0"/>
              <a:ea typeface="楷体_GB2312" charset="0"/>
              <a:cs typeface="+mj-cs"/>
            </a:endParaRPr>
          </a:p>
        </p:txBody>
      </p:sp>
      <p:sp>
        <p:nvSpPr>
          <p:cNvPr id="150531" name="Rectangle 3">
            <a:extLst>
              <a:ext uri="{FF2B5EF4-FFF2-40B4-BE49-F238E27FC236}">
                <a16:creationId xmlns:a16="http://schemas.microsoft.com/office/drawing/2014/main" id="{7FE0F124-F44C-464D-901E-1C7E1E0CDE2F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07950" y="1484313"/>
            <a:ext cx="8820150" cy="4392612"/>
          </a:xfrm>
        </p:spPr>
        <p:txBody>
          <a:bodyPr/>
          <a:lstStyle/>
          <a:p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方法一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.  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真值表法。</a:t>
            </a:r>
          </a:p>
          <a:p>
            <a:pPr>
              <a:buFont typeface="Wingdings" pitchFamily="2" charset="2"/>
              <a:buNone/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   主析取范式恰好是使得公式为真的解释所对应的极小项的析取组成。</a:t>
            </a:r>
          </a:p>
          <a:p>
            <a:pPr>
              <a:buFont typeface="Wingdings" pitchFamily="2" charset="2"/>
              <a:buNone/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   主合取范式恰好是使得公式为假的解释所对应的极大项的合取组成。</a:t>
            </a:r>
          </a:p>
          <a:p>
            <a:pPr>
              <a:buFont typeface="Wingdings" pitchFamily="2" charset="2"/>
              <a:buNone/>
            </a:pPr>
            <a:endParaRPr kumimoji="0" lang="zh-CN" altLang="en-US" sz="3200">
              <a:latin typeface="Arial" panose="020B0604020202020204" pitchFamily="34" charset="0"/>
              <a:ea typeface="楷体_GB2312" pitchFamily="1" charset="-122"/>
            </a:endParaRPr>
          </a:p>
          <a:p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方法二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.  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公式推导法。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0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0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0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0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0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0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0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0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7" name="Slide Number Placeholder 5">
            <a:extLst>
              <a:ext uri="{FF2B5EF4-FFF2-40B4-BE49-F238E27FC236}">
                <a16:creationId xmlns:a16="http://schemas.microsoft.com/office/drawing/2014/main" id="{7CE24CB7-1FF2-5640-8291-A24D94E413B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317AA5D-1358-D04D-A0C4-4EAC3ABE18F5}" type="slidenum">
              <a:rPr kumimoji="0" lang="zh-CN" altLang="en-US" sz="1200"/>
              <a:pPr/>
              <a:t>107</a:t>
            </a:fld>
            <a:endParaRPr kumimoji="0" lang="en-US" altLang="zh-CN" sz="1200"/>
          </a:p>
        </p:txBody>
      </p:sp>
      <p:sp>
        <p:nvSpPr>
          <p:cNvPr id="183298" name="Rectangle 2">
            <a:extLst>
              <a:ext uri="{FF2B5EF4-FFF2-40B4-BE49-F238E27FC236}">
                <a16:creationId xmlns:a16="http://schemas.microsoft.com/office/drawing/2014/main" id="{35941C66-68BD-F540-8231-4142B1B665C0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52400" y="188913"/>
            <a:ext cx="8839200" cy="6408737"/>
          </a:xfrm>
        </p:spPr>
        <p:txBody>
          <a:bodyPr/>
          <a:lstStyle/>
          <a:p>
            <a:r>
              <a:rPr kumimoji="0" lang="zh-CN" altLang="en-US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例  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求公式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G= P→(Q→R)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的主析取范式与 </a:t>
            </a:r>
          </a:p>
          <a:p>
            <a:pPr>
              <a:buFont typeface="Wingdings" pitchFamily="2" charset="2"/>
              <a:buNone/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         主合取范式。 </a:t>
            </a:r>
          </a:p>
        </p:txBody>
      </p:sp>
      <p:graphicFrame>
        <p:nvGraphicFramePr>
          <p:cNvPr id="151555" name="Group 3">
            <a:extLst>
              <a:ext uri="{FF2B5EF4-FFF2-40B4-BE49-F238E27FC236}">
                <a16:creationId xmlns:a16="http://schemas.microsoft.com/office/drawing/2014/main" id="{45374047-2121-724B-BA65-E84BC1F8D2C9}"/>
              </a:ext>
            </a:extLst>
          </p:cNvPr>
          <p:cNvGraphicFramePr>
            <a:graphicFrameLocks noGrp="1"/>
          </p:cNvGraphicFramePr>
          <p:nvPr/>
        </p:nvGraphicFramePr>
        <p:xfrm>
          <a:off x="1042988" y="1484313"/>
          <a:ext cx="6913561" cy="4664079"/>
        </p:xfrm>
        <a:graphic>
          <a:graphicData uri="http://schemas.openxmlformats.org/drawingml/2006/table">
            <a:tbl>
              <a:tblPr/>
              <a:tblGrid>
                <a:gridCol w="14732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3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32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937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82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P</a:t>
                      </a:r>
                    </a:p>
                  </a:txBody>
                  <a:tcPr marL="91450" marR="91450"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Q</a:t>
                      </a:r>
                    </a:p>
                  </a:txBody>
                  <a:tcPr marL="91450" marR="91450"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R</a:t>
                      </a:r>
                    </a:p>
                  </a:txBody>
                  <a:tcPr marL="91450" marR="91450"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P→(Q→R)</a:t>
                      </a:r>
                    </a:p>
                  </a:txBody>
                  <a:tcPr marL="91450" marR="91450"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2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91450" marR="91450"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91450" marR="91450"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91450" marR="91450"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91450" marR="91450"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2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91450" marR="91450"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91450" marR="91450"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91450" marR="91450"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91450" marR="91450"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2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91450" marR="91450"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91450" marR="91450"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91450" marR="91450"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91450" marR="91450"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2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91450" marR="91450"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91450" marR="91450"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91450" marR="91450"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91450" marR="91450"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2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91450" marR="91450"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91450" marR="91450"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91450" marR="91450"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91450" marR="91450"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2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91450" marR="91450"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91450" marR="91450"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91450" marR="91450"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91450" marR="91450"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82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91450" marR="91450"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91450" marR="91450"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91450" marR="91450"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0</a:t>
                      </a:r>
                    </a:p>
                  </a:txBody>
                  <a:tcPr marL="91450" marR="91450"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82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91450" marR="91450"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91450" marR="91450"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91450" marR="91450"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85000"/>
                        <a:buFont typeface="Wingdings" charset="0"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charset="0"/>
                          <a:cs typeface="宋体" charset="0"/>
                        </a:rPr>
                        <a:t>1</a:t>
                      </a:r>
                    </a:p>
                  </a:txBody>
                  <a:tcPr marL="91450" marR="91450"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blinds dir="vert"/>
  </p:transition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1" name="Slide Number Placeholder 5">
            <a:extLst>
              <a:ext uri="{FF2B5EF4-FFF2-40B4-BE49-F238E27FC236}">
                <a16:creationId xmlns:a16="http://schemas.microsoft.com/office/drawing/2014/main" id="{8EBBD92B-8B29-DC4C-8CB7-A55883AD302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D555BA6-007A-3A4C-920F-03AFAC0433E6}" type="slidenum">
              <a:rPr kumimoji="0" lang="zh-CN" altLang="en-US" sz="1200"/>
              <a:pPr/>
              <a:t>108</a:t>
            </a:fld>
            <a:endParaRPr kumimoji="0" lang="en-US" altLang="zh-CN" sz="1200"/>
          </a:p>
        </p:txBody>
      </p:sp>
      <p:sp>
        <p:nvSpPr>
          <p:cNvPr id="152578" name="Rectangle 2">
            <a:extLst>
              <a:ext uri="{FF2B5EF4-FFF2-40B4-BE49-F238E27FC236}">
                <a16:creationId xmlns:a16="http://schemas.microsoft.com/office/drawing/2014/main" id="{D9FE605B-6B6E-7144-86CF-5B0754A0C51F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07950" y="620713"/>
            <a:ext cx="8839200" cy="5688012"/>
          </a:xfrm>
        </p:spPr>
        <p:txBody>
          <a:bodyPr/>
          <a:lstStyle/>
          <a:p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解：（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）使用真值表法。 </a:t>
            </a:r>
          </a:p>
          <a:p>
            <a:pPr algn="just">
              <a:buFont typeface="Wingdings" pitchFamily="2" charset="2"/>
              <a:buNone/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根据真值表中使得公式为真的解释，所对应的极</a:t>
            </a:r>
          </a:p>
          <a:p>
            <a:pPr algn="just">
              <a:buFont typeface="Wingdings" pitchFamily="2" charset="2"/>
              <a:buNone/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小项的析取即为其主析取范式：</a:t>
            </a:r>
          </a:p>
          <a:p>
            <a:pPr algn="just">
              <a:buFont typeface="Wingdings" pitchFamily="2" charset="2"/>
              <a:buNone/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G=(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</a:p>
          <a:p>
            <a:pPr algn="just">
              <a:buFont typeface="Wingdings" pitchFamily="2" charset="2"/>
              <a:buNone/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R)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(P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R) </a:t>
            </a:r>
          </a:p>
          <a:p>
            <a:pPr algn="just">
              <a:buFont typeface="Wingdings" pitchFamily="2" charset="2"/>
              <a:buNone/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  = m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0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 m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 m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2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 m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3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 m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4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 m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5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 m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7</a:t>
            </a:r>
            <a:endParaRPr kumimoji="0" lang="en-US" altLang="zh-CN" sz="3200">
              <a:latin typeface="Arial" panose="020B0604020202020204" pitchFamily="34" charset="0"/>
              <a:ea typeface="楷体_GB2312" pitchFamily="1" charset="-122"/>
            </a:endParaRPr>
          </a:p>
          <a:p>
            <a:pPr algn="just">
              <a:buFont typeface="Wingdings" pitchFamily="2" charset="2"/>
              <a:buNone/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根据真值表中使得公式为假的解释，所对应的极</a:t>
            </a:r>
          </a:p>
          <a:p>
            <a:pPr algn="just">
              <a:buFont typeface="Wingdings" pitchFamily="2" charset="2"/>
              <a:buNone/>
            </a:pPr>
            <a:r>
              <a:rPr kumimoji="0" lang="zh-CN" altLang="en-US" sz="3200">
                <a:latin typeface="Arial" panose="020B0604020202020204" pitchFamily="34" charset="0"/>
                <a:ea typeface="楷体_GB2312" pitchFamily="1" charset="-122"/>
              </a:rPr>
              <a:t>大项的合取即为其主合取范式：</a:t>
            </a:r>
          </a:p>
          <a:p>
            <a:pPr algn="just">
              <a:buFont typeface="Wingdings" pitchFamily="2" charset="2"/>
              <a:buNone/>
            </a:pP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G=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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1" charset="-122"/>
              </a:rPr>
              <a:t>R= M</a:t>
            </a:r>
            <a:r>
              <a:rPr kumimoji="0" lang="en-US" altLang="zh-CN" sz="3200" baseline="-30000">
                <a:latin typeface="Arial" panose="020B0604020202020204" pitchFamily="34" charset="0"/>
                <a:ea typeface="楷体_GB2312" pitchFamily="1" charset="-122"/>
              </a:rPr>
              <a:t>6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25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25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25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25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25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25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5" name="Slide Number Placeholder 5">
            <a:extLst>
              <a:ext uri="{FF2B5EF4-FFF2-40B4-BE49-F238E27FC236}">
                <a16:creationId xmlns:a16="http://schemas.microsoft.com/office/drawing/2014/main" id="{4F5B088D-1170-DB45-9935-0051DAD1AA0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4C17D76-9F00-EF48-B89F-8ED9F20EAF2D}" type="slidenum">
              <a:rPr kumimoji="0" lang="zh-CN" altLang="en-US" sz="1200"/>
              <a:pPr/>
              <a:t>109</a:t>
            </a:fld>
            <a:endParaRPr kumimoji="0" lang="en-US" altLang="zh-CN" sz="1200"/>
          </a:p>
        </p:txBody>
      </p:sp>
      <p:sp>
        <p:nvSpPr>
          <p:cNvPr id="153602" name="Rectangle 2">
            <a:extLst>
              <a:ext uri="{FF2B5EF4-FFF2-40B4-BE49-F238E27FC236}">
                <a16:creationId xmlns:a16="http://schemas.microsoft.com/office/drawing/2014/main" id="{63D3A42D-05FA-2A4C-9DC0-A7C560B59319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07950" y="215900"/>
            <a:ext cx="8839200" cy="6381750"/>
          </a:xfrm>
        </p:spPr>
        <p:txBody>
          <a:bodyPr>
            <a:normAutofit/>
          </a:bodyPr>
          <a:lstStyle/>
          <a:p>
            <a:pPr algn="just">
              <a:lnSpc>
                <a:spcPct val="90000"/>
              </a:lnSpc>
            </a:pP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（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2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）公式推导法</a:t>
            </a:r>
          </a:p>
          <a:p>
            <a:pPr algn="just">
              <a:lnSpc>
                <a:spcPct val="90000"/>
              </a:lnSpc>
              <a:buFont typeface="Wingdings" pitchFamily="2" charset="2"/>
              <a:buNone/>
            </a:pP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G= P→(Q→R)</a:t>
            </a:r>
          </a:p>
          <a:p>
            <a:pPr algn="just">
              <a:lnSpc>
                <a:spcPct val="90000"/>
              </a:lnSpc>
              <a:buFont typeface="Wingdings" pitchFamily="2" charset="2"/>
              <a:buNone/>
            </a:pP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   =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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R</a:t>
            </a:r>
          </a:p>
          <a:p>
            <a:pPr algn="just">
              <a:lnSpc>
                <a:spcPct val="90000"/>
              </a:lnSpc>
              <a:buFont typeface="Wingdings" pitchFamily="2" charset="2"/>
              <a:buNone/>
            </a:pP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   = (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(Q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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Q)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(R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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R))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endParaRPr kumimoji="0" lang="en-US" altLang="zh-CN" sz="2800">
              <a:latin typeface="Arial" panose="020B0604020202020204" pitchFamily="34" charset="0"/>
              <a:ea typeface="楷体_GB2312" pitchFamily="1" charset="-122"/>
            </a:endParaRPr>
          </a:p>
          <a:p>
            <a:pPr algn="just">
              <a:lnSpc>
                <a:spcPct val="90000"/>
              </a:lnSpc>
              <a:buFont typeface="Wingdings" pitchFamily="2" charset="2"/>
              <a:buNone/>
            </a:pP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       (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(P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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P)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(R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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R))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endParaRPr kumimoji="0" lang="en-US" altLang="zh-CN" sz="2800">
              <a:latin typeface="Arial" panose="020B0604020202020204" pitchFamily="34" charset="0"/>
              <a:ea typeface="楷体_GB2312" pitchFamily="1" charset="-122"/>
            </a:endParaRPr>
          </a:p>
          <a:p>
            <a:pPr algn="just">
              <a:lnSpc>
                <a:spcPct val="90000"/>
              </a:lnSpc>
              <a:buFont typeface="Wingdings" pitchFamily="2" charset="2"/>
              <a:buNone/>
            </a:pP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       (R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(P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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P)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(Q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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Q))</a:t>
            </a:r>
          </a:p>
          <a:p>
            <a:pPr algn="just">
              <a:lnSpc>
                <a:spcPct val="90000"/>
              </a:lnSpc>
              <a:buFont typeface="Wingdings" pitchFamily="2" charset="2"/>
              <a:buNone/>
            </a:pP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   = (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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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R)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(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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R)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(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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R)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endParaRPr kumimoji="0" lang="en-US" altLang="zh-CN" sz="2800">
              <a:latin typeface="Arial" panose="020B0604020202020204" pitchFamily="34" charset="0"/>
              <a:ea typeface="楷体_GB2312" pitchFamily="1" charset="-122"/>
            </a:endParaRPr>
          </a:p>
          <a:p>
            <a:pPr algn="just">
              <a:lnSpc>
                <a:spcPct val="90000"/>
              </a:lnSpc>
              <a:buFont typeface="Wingdings" pitchFamily="2" charset="2"/>
              <a:buNone/>
            </a:pP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   (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R)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(P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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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R)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(P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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R)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(P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R) </a:t>
            </a:r>
          </a:p>
          <a:p>
            <a:pPr algn="just">
              <a:lnSpc>
                <a:spcPct val="90000"/>
              </a:lnSpc>
              <a:buFont typeface="Wingdings" pitchFamily="2" charset="2"/>
              <a:buNone/>
            </a:pP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   = m</a:t>
            </a:r>
            <a:r>
              <a:rPr kumimoji="0" lang="en-US" altLang="zh-CN" sz="2800" baseline="-30000">
                <a:latin typeface="Arial" panose="020B0604020202020204" pitchFamily="34" charset="0"/>
                <a:ea typeface="楷体_GB2312" pitchFamily="1" charset="-122"/>
              </a:rPr>
              <a:t>0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m</a:t>
            </a:r>
            <a:r>
              <a:rPr kumimoji="0" lang="en-US" altLang="zh-CN" sz="28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m</a:t>
            </a:r>
            <a:r>
              <a:rPr kumimoji="0" lang="en-US" altLang="zh-CN" sz="2800" baseline="-30000">
                <a:latin typeface="Arial" panose="020B0604020202020204" pitchFamily="34" charset="0"/>
                <a:ea typeface="楷体_GB2312" pitchFamily="1" charset="-122"/>
              </a:rPr>
              <a:t>2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m</a:t>
            </a:r>
            <a:r>
              <a:rPr kumimoji="0" lang="en-US" altLang="zh-CN" sz="2800" baseline="-30000">
                <a:latin typeface="Arial" panose="020B0604020202020204" pitchFamily="34" charset="0"/>
                <a:ea typeface="楷体_GB2312" pitchFamily="1" charset="-122"/>
              </a:rPr>
              <a:t>3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m</a:t>
            </a:r>
            <a:r>
              <a:rPr kumimoji="0" lang="en-US" altLang="zh-CN" sz="2800" baseline="-30000">
                <a:latin typeface="Arial" panose="020B0604020202020204" pitchFamily="34" charset="0"/>
                <a:ea typeface="楷体_GB2312" pitchFamily="1" charset="-122"/>
              </a:rPr>
              <a:t>4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m</a:t>
            </a:r>
            <a:r>
              <a:rPr kumimoji="0" lang="en-US" altLang="zh-CN" sz="2800" baseline="-30000">
                <a:latin typeface="Arial" panose="020B0604020202020204" pitchFamily="34" charset="0"/>
                <a:ea typeface="楷体_GB2312" pitchFamily="1" charset="-122"/>
              </a:rPr>
              <a:t>5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m</a:t>
            </a:r>
            <a:r>
              <a:rPr kumimoji="0" lang="en-US" altLang="zh-CN" sz="2800" baseline="-30000">
                <a:latin typeface="Arial" panose="020B0604020202020204" pitchFamily="34" charset="0"/>
                <a:ea typeface="楷体_GB2312" pitchFamily="1" charset="-122"/>
              </a:rPr>
              <a:t>7</a:t>
            </a:r>
            <a:endParaRPr kumimoji="0" lang="en-US" altLang="zh-CN" sz="2800">
              <a:latin typeface="Arial" panose="020B0604020202020204" pitchFamily="34" charset="0"/>
              <a:ea typeface="楷体_GB2312" pitchFamily="1" charset="-122"/>
            </a:endParaRPr>
          </a:p>
          <a:p>
            <a:pPr algn="just">
              <a:lnSpc>
                <a:spcPct val="90000"/>
              </a:lnSpc>
              <a:buFont typeface="Wingdings" pitchFamily="2" charset="2"/>
              <a:buNone/>
            </a:pP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G= P→(Q→R)</a:t>
            </a:r>
          </a:p>
          <a:p>
            <a:pPr algn="just">
              <a:lnSpc>
                <a:spcPct val="90000"/>
              </a:lnSpc>
              <a:buFont typeface="Wingdings" pitchFamily="2" charset="2"/>
              <a:buNone/>
            </a:pP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     =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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R</a:t>
            </a:r>
          </a:p>
          <a:p>
            <a:pPr algn="just">
              <a:lnSpc>
                <a:spcPct val="90000"/>
              </a:lnSpc>
              <a:buFont typeface="Wingdings" pitchFamily="2" charset="2"/>
              <a:buNone/>
            </a:pP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     = M</a:t>
            </a:r>
            <a:r>
              <a:rPr kumimoji="0" lang="en-US" altLang="zh-CN" sz="2800" baseline="-30000">
                <a:latin typeface="Arial" panose="020B0604020202020204" pitchFamily="34" charset="0"/>
                <a:ea typeface="楷体_GB2312" pitchFamily="1" charset="-122"/>
              </a:rPr>
              <a:t>6</a:t>
            </a:r>
          </a:p>
        </p:txBody>
      </p:sp>
    </p:spTree>
  </p:cSld>
  <p:clrMapOvr>
    <a:masterClrMapping/>
  </p:clrMapOvr>
  <p:transition>
    <p:blinds dir="vert"/>
  </p:transition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69" name="Slide Number Placeholder 5">
            <a:extLst>
              <a:ext uri="{FF2B5EF4-FFF2-40B4-BE49-F238E27FC236}">
                <a16:creationId xmlns:a16="http://schemas.microsoft.com/office/drawing/2014/main" id="{30FBF0DC-61D1-CC4A-8F63-DF0CF644159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0F7583E-3F2D-9442-9385-A20430A4F08A}" type="slidenum">
              <a:rPr kumimoji="0" lang="zh-CN" altLang="en-US" sz="1200"/>
              <a:pPr/>
              <a:t>110</a:t>
            </a:fld>
            <a:endParaRPr kumimoji="0" lang="en-US" altLang="zh-CN" sz="1200"/>
          </a:p>
        </p:txBody>
      </p:sp>
      <p:sp>
        <p:nvSpPr>
          <p:cNvPr id="186370" name="Rectangle 2">
            <a:extLst>
              <a:ext uri="{FF2B5EF4-FFF2-40B4-BE49-F238E27FC236}">
                <a16:creationId xmlns:a16="http://schemas.microsoft.com/office/drawing/2014/main" id="{C37548F4-D237-4D4D-9941-F9A229FA487A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07950" y="44450"/>
            <a:ext cx="8839200" cy="6813550"/>
          </a:xfrm>
        </p:spPr>
        <p:txBody>
          <a:bodyPr/>
          <a:lstStyle/>
          <a:p>
            <a:pPr algn="just">
              <a:lnSpc>
                <a:spcPct val="90000"/>
              </a:lnSpc>
            </a:pPr>
            <a:r>
              <a:rPr kumimoji="0" lang="zh-CN" altLang="en-US" sz="28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定理</a:t>
            </a:r>
            <a:r>
              <a:rPr kumimoji="0" lang="en-US" altLang="zh-CN" sz="28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.</a:t>
            </a:r>
            <a:r>
              <a:rPr kumimoji="0" lang="en-US" altLang="zh-CN" sz="2800">
                <a:solidFill>
                  <a:srgbClr val="FFFF00"/>
                </a:solidFill>
                <a:latin typeface="Arial" panose="020B0604020202020204" pitchFamily="34" charset="0"/>
                <a:ea typeface="楷体_GB2312" pitchFamily="1" charset="-122"/>
              </a:rPr>
              <a:t> 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命题公式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恒真当且仅当在等价于它的合取范式中，每个子句均至少包含一个原子及其否定。</a:t>
            </a:r>
          </a:p>
          <a:p>
            <a:pPr algn="just">
              <a:lnSpc>
                <a:spcPct val="90000"/>
              </a:lnSpc>
              <a:buFont typeface="Wingdings" pitchFamily="2" charset="2"/>
              <a:buNone/>
            </a:pPr>
            <a:r>
              <a:rPr kumimoji="0" lang="zh-CN" altLang="en-US" sz="28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证明：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设公式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的合取范式为：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G’=G</a:t>
            </a:r>
            <a:r>
              <a:rPr kumimoji="0" lang="en-US" altLang="zh-CN" sz="2800" baseline="-300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2800" baseline="-30000">
                <a:latin typeface="Arial" panose="020B0604020202020204" pitchFamily="34" charset="0"/>
                <a:ea typeface="楷体_GB2312" pitchFamily="1" charset="-122"/>
              </a:rPr>
              <a:t>2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…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2800" baseline="-30000">
                <a:latin typeface="Arial" panose="020B0604020202020204" pitchFamily="34" charset="0"/>
                <a:ea typeface="楷体_GB2312" pitchFamily="1" charset="-122"/>
              </a:rPr>
              <a:t>n</a:t>
            </a:r>
          </a:p>
          <a:p>
            <a:pPr algn="just">
              <a:lnSpc>
                <a:spcPct val="90000"/>
              </a:lnSpc>
              <a:buFont typeface="Wingdings" pitchFamily="2" charset="2"/>
              <a:buNone/>
            </a:pP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若公式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恒真，则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G’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恒真，即子句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G</a:t>
            </a:r>
            <a:r>
              <a:rPr kumimoji="0" lang="en-US" altLang="zh-CN" sz="2800" baseline="-300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,i=1,2,…n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恒真</a:t>
            </a:r>
          </a:p>
          <a:p>
            <a:pPr algn="just">
              <a:lnSpc>
                <a:spcPct val="90000"/>
              </a:lnSpc>
              <a:buFont typeface="Wingdings" pitchFamily="2" charset="2"/>
              <a:buNone/>
            </a:pP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为其充要条件。下面只需证明：子句是恒真的当且仅当</a:t>
            </a:r>
          </a:p>
          <a:p>
            <a:pPr algn="just">
              <a:lnSpc>
                <a:spcPct val="90000"/>
              </a:lnSpc>
              <a:buFont typeface="Wingdings" pitchFamily="2" charset="2"/>
              <a:buNone/>
            </a:pP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至少有一个原子及其否定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(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也称互补对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)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同时在此子句中</a:t>
            </a:r>
          </a:p>
          <a:p>
            <a:pPr algn="just">
              <a:lnSpc>
                <a:spcPct val="90000"/>
              </a:lnSpc>
              <a:buFont typeface="Wingdings" pitchFamily="2" charset="2"/>
              <a:buNone/>
            </a:pP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出现。 </a:t>
            </a:r>
          </a:p>
          <a:p>
            <a:pPr algn="just">
              <a:lnSpc>
                <a:spcPct val="90000"/>
              </a:lnSpc>
              <a:spcBef>
                <a:spcPct val="5000"/>
              </a:spcBef>
            </a:pP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若有一个原子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及其否定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同时出现在子句中，则此子句有形式：	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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…</a:t>
            </a:r>
          </a:p>
          <a:p>
            <a:pPr algn="just">
              <a:lnSpc>
                <a:spcPct val="90000"/>
              </a:lnSpc>
              <a:spcBef>
                <a:spcPct val="5000"/>
              </a:spcBef>
              <a:buFont typeface="Wingdings" pitchFamily="2" charset="2"/>
              <a:buNone/>
            </a:pP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　显然，不管是什么解释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，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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在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下取１值，于是此子句在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下取１值，故恒真。</a:t>
            </a:r>
            <a:r>
              <a:rPr kumimoji="0" lang="zh-CN" altLang="en-US" sz="2800">
                <a:solidFill>
                  <a:schemeClr val="tx2"/>
                </a:solidFill>
                <a:latin typeface="Arial" panose="020B0604020202020204" pitchFamily="34" charset="0"/>
                <a:ea typeface="楷体_GB2312" pitchFamily="1" charset="-122"/>
              </a:rPr>
              <a:t>    </a:t>
            </a:r>
            <a:endParaRPr kumimoji="0" lang="zh-CN" altLang="en-US" sz="2800">
              <a:latin typeface="Arial" panose="020B0604020202020204" pitchFamily="34" charset="0"/>
              <a:ea typeface="楷体_GB2312" pitchFamily="1" charset="-122"/>
            </a:endParaRPr>
          </a:p>
          <a:p>
            <a:pPr algn="just">
              <a:lnSpc>
                <a:spcPct val="90000"/>
              </a:lnSpc>
            </a:pP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假设子句恒真，但每个原子及其否定都不同时出现在其中。则可以给定一个解释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，使带否定号的原子为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1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，不带否定号的原子为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0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，那么此子句在解释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I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下的取值为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0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。这与子句恒真矛盾。</a:t>
            </a:r>
          </a:p>
        </p:txBody>
      </p:sp>
    </p:spTree>
  </p:cSld>
  <p:clrMapOvr>
    <a:masterClrMapping/>
  </p:clrMapOvr>
  <p:transition>
    <p:blinds dir="vert"/>
  </p:transition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3" name="Slide Number Placeholder 5">
            <a:extLst>
              <a:ext uri="{FF2B5EF4-FFF2-40B4-BE49-F238E27FC236}">
                <a16:creationId xmlns:a16="http://schemas.microsoft.com/office/drawing/2014/main" id="{1FB487B5-1441-534E-86DB-AF9098C2FCB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E232A7B-B5D2-BE45-9DB8-683135B58974}" type="slidenum">
              <a:rPr kumimoji="0" lang="zh-CN" altLang="en-US" sz="1200"/>
              <a:pPr/>
              <a:t>111</a:t>
            </a:fld>
            <a:endParaRPr kumimoji="0" lang="en-US" altLang="zh-CN" sz="1200"/>
          </a:p>
        </p:txBody>
      </p:sp>
      <p:sp>
        <p:nvSpPr>
          <p:cNvPr id="155650" name="Rectangle 2">
            <a:extLst>
              <a:ext uri="{FF2B5EF4-FFF2-40B4-BE49-F238E27FC236}">
                <a16:creationId xmlns:a16="http://schemas.microsoft.com/office/drawing/2014/main" id="{79E7D4BC-C83F-1842-825D-F797AF6919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86072"/>
            <a:ext cx="8839200" cy="1182688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sz="4400" dirty="0">
                <a:latin typeface="Times New Roman" charset="0"/>
                <a:ea typeface="楷体_GB2312" charset="0"/>
                <a:cs typeface="+mj-cs"/>
              </a:rPr>
              <a:t>主合取范式与主析取范式的应用</a:t>
            </a:r>
            <a:br>
              <a:rPr lang="zh-CN" altLang="en-US" sz="4400" dirty="0">
                <a:latin typeface="Times New Roman" charset="0"/>
                <a:ea typeface="楷体_GB2312" charset="0"/>
                <a:cs typeface="+mj-cs"/>
              </a:rPr>
            </a:br>
            <a:endParaRPr lang="zh-CN" altLang="en-US" sz="4400" dirty="0">
              <a:latin typeface="Times New Roman" charset="0"/>
              <a:ea typeface="楷体_GB2312" charset="0"/>
              <a:cs typeface="+mj-cs"/>
            </a:endParaRPr>
          </a:p>
        </p:txBody>
      </p:sp>
      <p:sp>
        <p:nvSpPr>
          <p:cNvPr id="187395" name="Rectangle 3">
            <a:extLst>
              <a:ext uri="{FF2B5EF4-FFF2-40B4-BE49-F238E27FC236}">
                <a16:creationId xmlns:a16="http://schemas.microsoft.com/office/drawing/2014/main" id="{76670CF6-336A-4242-A66E-E9FC26B89FD3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63513" y="1303338"/>
            <a:ext cx="8872537" cy="3709987"/>
          </a:xfrm>
        </p:spPr>
        <p:txBody>
          <a:bodyPr/>
          <a:lstStyle/>
          <a:p>
            <a:r>
              <a:rPr kumimoji="0" lang="zh-CN" altLang="en-US" sz="28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利用主合取范式与主析取范式可求解判定问题</a:t>
            </a:r>
          </a:p>
          <a:p>
            <a:pPr>
              <a:buFont typeface="Wingdings" pitchFamily="2" charset="2"/>
              <a:buNone/>
            </a:pP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   主析取范式：公式恒假时，主析取范式没有极小项（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G’=0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）；公式恒真时，主析取范式包含所有极小项。</a:t>
            </a:r>
          </a:p>
          <a:p>
            <a:endParaRPr kumimoji="0" lang="zh-CN" altLang="en-US" sz="2800">
              <a:latin typeface="Arial" panose="020B0604020202020204" pitchFamily="34" charset="0"/>
              <a:ea typeface="楷体_GB2312" pitchFamily="1" charset="-122"/>
            </a:endParaRPr>
          </a:p>
          <a:p>
            <a:endParaRPr kumimoji="0" lang="zh-CN" altLang="en-US" sz="2800">
              <a:latin typeface="Arial" panose="020B0604020202020204" pitchFamily="34" charset="0"/>
              <a:ea typeface="楷体_GB2312" pitchFamily="1" charset="-122"/>
            </a:endParaRPr>
          </a:p>
          <a:p>
            <a:pPr>
              <a:buFont typeface="Wingdings" pitchFamily="2" charset="2"/>
              <a:buNone/>
            </a:pP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  主合取范式：公式恒假时，主合取范式包含所有极大项；公式恒真时，主合取范式没有极大项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1" charset="-122"/>
              </a:rPr>
              <a:t>(G’=1)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。	</a:t>
            </a:r>
          </a:p>
        </p:txBody>
      </p:sp>
      <p:graphicFrame>
        <p:nvGraphicFramePr>
          <p:cNvPr id="187396" name="对象 1">
            <a:extLst>
              <a:ext uri="{FF2B5EF4-FFF2-40B4-BE49-F238E27FC236}">
                <a16:creationId xmlns:a16="http://schemas.microsoft.com/office/drawing/2014/main" id="{F50A3566-2760-8C4A-9F9E-0FB979B5B1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63938" y="4924425"/>
          <a:ext cx="2016125" cy="116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406" name="公式" r:id="rId3" imgW="635000" imgH="368300" progId="Equation.3">
                  <p:embed/>
                </p:oleObj>
              </mc:Choice>
              <mc:Fallback>
                <p:oleObj name="公式" r:id="rId3" imgW="635000" imgH="368300" progId="Equation.3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4924425"/>
                        <a:ext cx="2016125" cy="1168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397" name="对象 2">
            <a:extLst>
              <a:ext uri="{FF2B5EF4-FFF2-40B4-BE49-F238E27FC236}">
                <a16:creationId xmlns:a16="http://schemas.microsoft.com/office/drawing/2014/main" id="{1B25F445-9A5B-8B4B-A60F-935D742DA21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63938" y="2725738"/>
          <a:ext cx="1871662" cy="1208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407" name="公式" r:id="rId5" imgW="571500" imgH="368300" progId="Equation.3">
                  <p:embed/>
                </p:oleObj>
              </mc:Choice>
              <mc:Fallback>
                <p:oleObj name="公式" r:id="rId5" imgW="571500" imgH="368300" progId="Equation.3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2725738"/>
                        <a:ext cx="1871662" cy="1208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blinds dir="vert"/>
  </p:transition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7" name="Slide Number Placeholder 5">
            <a:extLst>
              <a:ext uri="{FF2B5EF4-FFF2-40B4-BE49-F238E27FC236}">
                <a16:creationId xmlns:a16="http://schemas.microsoft.com/office/drawing/2014/main" id="{E57E6D15-C59E-F94C-81CE-3ECEBFABE80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xfrm>
            <a:off x="7315200" y="6475413"/>
            <a:ext cx="1828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9DA1191-590C-234A-A363-AD0ABDFD4686}" type="slidenum">
              <a:rPr kumimoji="0" lang="zh-CN" altLang="en-US" sz="1200"/>
              <a:pPr/>
              <a:t>112</a:t>
            </a:fld>
            <a:endParaRPr kumimoji="0" lang="en-US" altLang="zh-CN" sz="1200"/>
          </a:p>
        </p:txBody>
      </p:sp>
      <p:sp>
        <p:nvSpPr>
          <p:cNvPr id="156674" name="Rectangle 2">
            <a:extLst>
              <a:ext uri="{FF2B5EF4-FFF2-40B4-BE49-F238E27FC236}">
                <a16:creationId xmlns:a16="http://schemas.microsoft.com/office/drawing/2014/main" id="{49A57FED-1501-8E4C-9DC6-9151AF2130CB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79388" y="144463"/>
            <a:ext cx="8839200" cy="6597650"/>
          </a:xfrm>
        </p:spPr>
        <p:txBody>
          <a:bodyPr>
            <a:normAutofit/>
          </a:bodyPr>
          <a:lstStyle/>
          <a:p>
            <a:pPr algn="just">
              <a:lnSpc>
                <a:spcPct val="70000"/>
              </a:lnSpc>
            </a:pPr>
            <a:r>
              <a:rPr kumimoji="0" lang="zh-CN" altLang="en-US" sz="28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证明等价式成立</a:t>
            </a:r>
          </a:p>
          <a:p>
            <a:pPr algn="just">
              <a:lnSpc>
                <a:spcPct val="70000"/>
              </a:lnSpc>
              <a:buFont typeface="Wingdings" pitchFamily="2" charset="2"/>
              <a:buNone/>
            </a:pP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由于任意公式的主范式是唯一的，所以可以分别求出两</a:t>
            </a:r>
          </a:p>
          <a:p>
            <a:pPr algn="just">
              <a:lnSpc>
                <a:spcPct val="70000"/>
              </a:lnSpc>
              <a:buFont typeface="Wingdings" pitchFamily="2" charset="2"/>
              <a:buNone/>
            </a:pP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个给定的公式的主范式，若二者主范式相同，则给定的</a:t>
            </a:r>
          </a:p>
          <a:p>
            <a:pPr algn="just">
              <a:lnSpc>
                <a:spcPct val="70000"/>
              </a:lnSpc>
              <a:buFont typeface="Wingdings" pitchFamily="2" charset="2"/>
              <a:buNone/>
            </a:pPr>
            <a:r>
              <a:rPr kumimoji="0" lang="zh-CN" altLang="en-US" sz="2800">
                <a:latin typeface="Arial" panose="020B0604020202020204" pitchFamily="34" charset="0"/>
                <a:ea typeface="楷体_GB2312" pitchFamily="1" charset="-122"/>
              </a:rPr>
              <a:t>两公式是等价的，否则，给定的两公式不等价。</a:t>
            </a:r>
          </a:p>
          <a:p>
            <a:pPr algn="just">
              <a:lnSpc>
                <a:spcPct val="70000"/>
              </a:lnSpc>
              <a:buFont typeface="Wingdings" pitchFamily="2" charset="2"/>
              <a:buNone/>
            </a:pPr>
            <a:endParaRPr kumimoji="0" lang="zh-CN" altLang="en-US" sz="2400">
              <a:solidFill>
                <a:schemeClr val="tx2"/>
              </a:solidFill>
              <a:latin typeface="Arial" panose="020B0604020202020204" pitchFamily="34" charset="0"/>
              <a:ea typeface="楷体_GB2312" pitchFamily="1" charset="-122"/>
            </a:endParaRPr>
          </a:p>
          <a:p>
            <a:pPr algn="just">
              <a:lnSpc>
                <a:spcPct val="70000"/>
              </a:lnSpc>
              <a:buFont typeface="Wingdings" pitchFamily="2" charset="2"/>
              <a:buNone/>
            </a:pPr>
            <a:r>
              <a:rPr kumimoji="0" lang="zh-CN" altLang="en-US" sz="24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例  </a:t>
            </a:r>
            <a:r>
              <a:rPr kumimoji="0" lang="zh-CN" altLang="en-US" sz="2400">
                <a:latin typeface="Arial" panose="020B0604020202020204" pitchFamily="34" charset="0"/>
                <a:ea typeface="楷体_GB2312" pitchFamily="1" charset="-122"/>
              </a:rPr>
              <a:t> 判断</a:t>
            </a:r>
            <a:r>
              <a:rPr kumimoji="0" lang="en-US" altLang="zh-CN" sz="2400">
                <a:latin typeface="Arial" panose="020B0604020202020204" pitchFamily="34" charset="0"/>
                <a:ea typeface="楷体_GB2312" pitchFamily="1" charset="-122"/>
              </a:rPr>
              <a:t>P→(Q→R)</a:t>
            </a:r>
            <a:r>
              <a:rPr kumimoji="0" lang="zh-CN" altLang="en-US" sz="2400">
                <a:latin typeface="Arial" panose="020B0604020202020204" pitchFamily="34" charset="0"/>
                <a:ea typeface="楷体_GB2312" pitchFamily="1" charset="-122"/>
              </a:rPr>
              <a:t>与</a:t>
            </a:r>
            <a:r>
              <a:rPr kumimoji="0" lang="en-US" altLang="zh-CN" sz="2400">
                <a:latin typeface="Arial" panose="020B0604020202020204" pitchFamily="34" charset="0"/>
                <a:ea typeface="楷体_GB2312" pitchFamily="1" charset="-122"/>
              </a:rPr>
              <a:t>(P</a:t>
            </a:r>
            <a:r>
              <a:rPr kumimoji="0" lang="en-US" altLang="zh-CN" sz="24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2400">
                <a:latin typeface="Arial" panose="020B0604020202020204" pitchFamily="34" charset="0"/>
                <a:ea typeface="楷体_GB2312" pitchFamily="1" charset="-122"/>
              </a:rPr>
              <a:t>Q)</a:t>
            </a:r>
            <a:r>
              <a:rPr kumimoji="0" lang="zh-CN" altLang="en-US" sz="2400">
                <a:latin typeface="Arial" panose="020B0604020202020204" pitchFamily="34" charset="0"/>
                <a:ea typeface="楷体_GB2312" pitchFamily="1" charset="-122"/>
              </a:rPr>
              <a:t>→</a:t>
            </a:r>
            <a:r>
              <a:rPr kumimoji="0" lang="en-US" altLang="zh-CN" sz="2400">
                <a:latin typeface="Arial" panose="020B0604020202020204" pitchFamily="34" charset="0"/>
                <a:ea typeface="楷体_GB2312" pitchFamily="1" charset="-122"/>
              </a:rPr>
              <a:t>R</a:t>
            </a:r>
            <a:r>
              <a:rPr kumimoji="0" lang="zh-CN" altLang="en-US" sz="2400">
                <a:latin typeface="Arial" panose="020B0604020202020204" pitchFamily="34" charset="0"/>
                <a:ea typeface="楷体_GB2312" pitchFamily="1" charset="-122"/>
              </a:rPr>
              <a:t>是否等价。</a:t>
            </a:r>
          </a:p>
          <a:p>
            <a:pPr algn="just">
              <a:lnSpc>
                <a:spcPct val="70000"/>
              </a:lnSpc>
              <a:buFont typeface="Wingdings" pitchFamily="2" charset="2"/>
              <a:buNone/>
            </a:pPr>
            <a:r>
              <a:rPr kumimoji="0" lang="zh-CN" altLang="en-US" sz="2400">
                <a:solidFill>
                  <a:srgbClr val="4E67C8"/>
                </a:solidFill>
                <a:latin typeface="Arial" panose="020B0604020202020204" pitchFamily="34" charset="0"/>
                <a:ea typeface="楷体_GB2312" pitchFamily="1" charset="-122"/>
              </a:rPr>
              <a:t>证明：  </a:t>
            </a:r>
            <a:r>
              <a:rPr kumimoji="0" lang="zh-CN" altLang="en-US" sz="2400">
                <a:latin typeface="Arial" panose="020B0604020202020204" pitchFamily="34" charset="0"/>
                <a:ea typeface="楷体_GB2312" pitchFamily="1" charset="-122"/>
              </a:rPr>
              <a:t>利用求主合取范式的方法来判断。</a:t>
            </a:r>
          </a:p>
          <a:p>
            <a:pPr algn="just">
              <a:lnSpc>
                <a:spcPct val="70000"/>
              </a:lnSpc>
              <a:buFont typeface="Wingdings" pitchFamily="2" charset="2"/>
              <a:buNone/>
            </a:pPr>
            <a:r>
              <a:rPr kumimoji="0" lang="zh-CN" altLang="en-US" sz="2400">
                <a:latin typeface="Arial" panose="020B0604020202020204" pitchFamily="34" charset="0"/>
                <a:ea typeface="楷体_GB2312" pitchFamily="1" charset="-122"/>
              </a:rPr>
              <a:t>由前知，</a:t>
            </a:r>
            <a:r>
              <a:rPr kumimoji="0" lang="en-US" altLang="zh-CN" sz="2400">
                <a:latin typeface="Arial" panose="020B0604020202020204" pitchFamily="34" charset="0"/>
                <a:ea typeface="楷体_GB2312" pitchFamily="1" charset="-122"/>
              </a:rPr>
              <a:t>P→(Q→R)</a:t>
            </a:r>
            <a:r>
              <a:rPr kumimoji="0" lang="zh-CN" altLang="en-US" sz="2400">
                <a:latin typeface="Arial" panose="020B0604020202020204" pitchFamily="34" charset="0"/>
                <a:ea typeface="楷体_GB2312" pitchFamily="1" charset="-122"/>
              </a:rPr>
              <a:t>的主合取范式为：</a:t>
            </a:r>
            <a:r>
              <a:rPr kumimoji="0" lang="en-US" altLang="zh-CN" sz="2400">
                <a:latin typeface="Arial" panose="020B0604020202020204" pitchFamily="34" charset="0"/>
                <a:ea typeface="楷体_GB2312" pitchFamily="1" charset="-122"/>
              </a:rPr>
              <a:t>M</a:t>
            </a:r>
            <a:r>
              <a:rPr kumimoji="0" lang="en-US" altLang="zh-CN" sz="2400" baseline="-30000">
                <a:latin typeface="Arial" panose="020B0604020202020204" pitchFamily="34" charset="0"/>
                <a:ea typeface="楷体_GB2312" pitchFamily="1" charset="-122"/>
              </a:rPr>
              <a:t>6</a:t>
            </a:r>
            <a:r>
              <a:rPr kumimoji="0" lang="zh-CN" altLang="en-US" sz="2400">
                <a:latin typeface="Arial" panose="020B0604020202020204" pitchFamily="34" charset="0"/>
                <a:ea typeface="楷体_GB2312" pitchFamily="1" charset="-122"/>
              </a:rPr>
              <a:t>。</a:t>
            </a:r>
          </a:p>
          <a:p>
            <a:pPr algn="just">
              <a:lnSpc>
                <a:spcPct val="70000"/>
              </a:lnSpc>
              <a:buFont typeface="Wingdings" pitchFamily="2" charset="2"/>
              <a:buNone/>
            </a:pPr>
            <a:r>
              <a:rPr kumimoji="0" lang="zh-CN" altLang="en-US" sz="2400">
                <a:latin typeface="Arial" panose="020B0604020202020204" pitchFamily="34" charset="0"/>
                <a:ea typeface="楷体_GB2312" pitchFamily="1" charset="-122"/>
              </a:rPr>
              <a:t>下面求</a:t>
            </a:r>
            <a:r>
              <a:rPr kumimoji="0" lang="en-US" altLang="zh-CN" sz="2400">
                <a:latin typeface="Arial" panose="020B0604020202020204" pitchFamily="34" charset="0"/>
                <a:ea typeface="楷体_GB2312" pitchFamily="1" charset="-122"/>
              </a:rPr>
              <a:t>(P</a:t>
            </a:r>
            <a:r>
              <a:rPr kumimoji="0" lang="en-US" altLang="zh-CN" sz="24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2400">
                <a:latin typeface="Arial" panose="020B0604020202020204" pitchFamily="34" charset="0"/>
                <a:ea typeface="楷体_GB2312" pitchFamily="1" charset="-122"/>
              </a:rPr>
              <a:t>Q)</a:t>
            </a:r>
            <a:r>
              <a:rPr kumimoji="0" lang="zh-CN" altLang="en-US" sz="2400">
                <a:latin typeface="Arial" panose="020B0604020202020204" pitchFamily="34" charset="0"/>
                <a:ea typeface="楷体_GB2312" pitchFamily="1" charset="-122"/>
              </a:rPr>
              <a:t>→</a:t>
            </a:r>
            <a:r>
              <a:rPr kumimoji="0" lang="en-US" altLang="zh-CN" sz="2400">
                <a:latin typeface="Arial" panose="020B0604020202020204" pitchFamily="34" charset="0"/>
                <a:ea typeface="楷体_GB2312" pitchFamily="1" charset="-122"/>
              </a:rPr>
              <a:t>R</a:t>
            </a:r>
            <a:r>
              <a:rPr kumimoji="0" lang="zh-CN" altLang="en-US" sz="2400">
                <a:latin typeface="Arial" panose="020B0604020202020204" pitchFamily="34" charset="0"/>
                <a:ea typeface="楷体_GB2312" pitchFamily="1" charset="-122"/>
              </a:rPr>
              <a:t>的主合取范式。</a:t>
            </a:r>
          </a:p>
          <a:p>
            <a:pPr algn="just">
              <a:lnSpc>
                <a:spcPct val="70000"/>
              </a:lnSpc>
              <a:buFont typeface="Wingdings" pitchFamily="2" charset="2"/>
              <a:buNone/>
            </a:pPr>
            <a:r>
              <a:rPr kumimoji="0" lang="zh-CN" altLang="en-US" sz="2400">
                <a:latin typeface="Arial" panose="020B0604020202020204" pitchFamily="34" charset="0"/>
                <a:ea typeface="楷体_GB2312" pitchFamily="1" charset="-122"/>
              </a:rPr>
              <a:t>　</a:t>
            </a:r>
            <a:r>
              <a:rPr kumimoji="0" lang="en-US" altLang="zh-CN" sz="2400">
                <a:latin typeface="Arial" panose="020B0604020202020204" pitchFamily="34" charset="0"/>
                <a:ea typeface="楷体_GB2312" pitchFamily="1" charset="-122"/>
              </a:rPr>
              <a:t>(P</a:t>
            </a:r>
            <a:r>
              <a:rPr kumimoji="0" lang="en-US" altLang="zh-CN" sz="24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2400">
                <a:latin typeface="Arial" panose="020B0604020202020204" pitchFamily="34" charset="0"/>
                <a:ea typeface="楷体_GB2312" pitchFamily="1" charset="-122"/>
              </a:rPr>
              <a:t>Q)</a:t>
            </a:r>
            <a:r>
              <a:rPr kumimoji="0" lang="zh-CN" altLang="en-US" sz="2400">
                <a:latin typeface="Arial" panose="020B0604020202020204" pitchFamily="34" charset="0"/>
                <a:ea typeface="楷体_GB2312" pitchFamily="1" charset="-122"/>
              </a:rPr>
              <a:t>→</a:t>
            </a:r>
            <a:r>
              <a:rPr kumimoji="0" lang="en-US" altLang="zh-CN" sz="2400">
                <a:latin typeface="Arial" panose="020B0604020202020204" pitchFamily="34" charset="0"/>
                <a:ea typeface="楷体_GB2312" pitchFamily="1" charset="-122"/>
              </a:rPr>
              <a:t>R</a:t>
            </a:r>
          </a:p>
          <a:p>
            <a:pPr algn="just">
              <a:lnSpc>
                <a:spcPct val="70000"/>
              </a:lnSpc>
              <a:buFont typeface="Wingdings" pitchFamily="2" charset="2"/>
              <a:buNone/>
            </a:pPr>
            <a:r>
              <a:rPr kumimoji="0" lang="en-US" altLang="zh-CN" sz="2400">
                <a:latin typeface="Arial" panose="020B0604020202020204" pitchFamily="34" charset="0"/>
                <a:ea typeface="楷体_GB2312" pitchFamily="1" charset="-122"/>
              </a:rPr>
              <a:t> = </a:t>
            </a:r>
            <a:r>
              <a:rPr kumimoji="0" lang="en-US" altLang="zh-CN" sz="24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(</a:t>
            </a:r>
            <a:r>
              <a:rPr kumimoji="0" lang="en-US" altLang="zh-CN" sz="24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24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2400">
                <a:latin typeface="Arial" panose="020B0604020202020204" pitchFamily="34" charset="0"/>
                <a:ea typeface="楷体_GB2312" pitchFamily="1" charset="-122"/>
              </a:rPr>
              <a:t>Q)</a:t>
            </a:r>
            <a:r>
              <a:rPr kumimoji="0" lang="zh-CN" altLang="en-US" sz="24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2400">
                <a:latin typeface="Arial" panose="020B0604020202020204" pitchFamily="34" charset="0"/>
                <a:ea typeface="楷体_GB2312" pitchFamily="1" charset="-122"/>
              </a:rPr>
              <a:t>R</a:t>
            </a:r>
          </a:p>
          <a:p>
            <a:pPr algn="just">
              <a:lnSpc>
                <a:spcPct val="70000"/>
              </a:lnSpc>
              <a:buFont typeface="Wingdings" pitchFamily="2" charset="2"/>
              <a:buNone/>
            </a:pPr>
            <a:r>
              <a:rPr kumimoji="0" lang="en-US" altLang="zh-CN" sz="2400">
                <a:latin typeface="Arial" panose="020B0604020202020204" pitchFamily="34" charset="0"/>
                <a:ea typeface="楷体_GB2312" pitchFamily="1" charset="-122"/>
              </a:rPr>
              <a:t>=(</a:t>
            </a:r>
            <a:r>
              <a:rPr kumimoji="0" lang="zh-CN" altLang="en-US" sz="24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24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24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</a:t>
            </a:r>
            <a:r>
              <a:rPr kumimoji="0" lang="en-US" altLang="zh-CN" sz="2400">
                <a:latin typeface="Arial" panose="020B0604020202020204" pitchFamily="34" charset="0"/>
                <a:ea typeface="楷体_GB2312" pitchFamily="1" charset="-122"/>
              </a:rPr>
              <a:t>Q)</a:t>
            </a:r>
            <a:r>
              <a:rPr kumimoji="0" lang="zh-CN" altLang="en-US" sz="24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2400">
                <a:latin typeface="Arial" panose="020B0604020202020204" pitchFamily="34" charset="0"/>
                <a:ea typeface="楷体_GB2312" pitchFamily="1" charset="-122"/>
              </a:rPr>
              <a:t>R</a:t>
            </a:r>
          </a:p>
          <a:p>
            <a:pPr algn="just">
              <a:lnSpc>
                <a:spcPct val="70000"/>
              </a:lnSpc>
              <a:buFont typeface="Wingdings" pitchFamily="2" charset="2"/>
              <a:buNone/>
            </a:pPr>
            <a:r>
              <a:rPr kumimoji="0" lang="en-US" altLang="zh-CN" sz="2400">
                <a:latin typeface="Arial" panose="020B0604020202020204" pitchFamily="34" charset="0"/>
                <a:ea typeface="楷体_GB2312" pitchFamily="1" charset="-122"/>
              </a:rPr>
              <a:t>=(</a:t>
            </a:r>
            <a:r>
              <a:rPr kumimoji="0" lang="zh-CN" altLang="en-US" sz="24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24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24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2400">
                <a:latin typeface="Arial" panose="020B0604020202020204" pitchFamily="34" charset="0"/>
                <a:ea typeface="楷体_GB2312" pitchFamily="1" charset="-122"/>
              </a:rPr>
              <a:t>R)</a:t>
            </a:r>
            <a:r>
              <a:rPr kumimoji="0" lang="zh-CN" altLang="en-US" sz="24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24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(</a:t>
            </a:r>
            <a:r>
              <a:rPr kumimoji="0" lang="zh-CN" altLang="en-US" sz="24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24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24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2400">
                <a:latin typeface="Arial" panose="020B0604020202020204" pitchFamily="34" charset="0"/>
                <a:ea typeface="楷体_GB2312" pitchFamily="1" charset="-122"/>
              </a:rPr>
              <a:t>R)</a:t>
            </a:r>
            <a:endParaRPr kumimoji="0" lang="zh-CN" altLang="en-US" sz="2400">
              <a:latin typeface="Arial" panose="020B0604020202020204" pitchFamily="34" charset="0"/>
              <a:ea typeface="楷体_GB2312" pitchFamily="1" charset="-122"/>
            </a:endParaRPr>
          </a:p>
          <a:p>
            <a:pPr algn="just">
              <a:lnSpc>
                <a:spcPct val="70000"/>
              </a:lnSpc>
              <a:buFont typeface="Wingdings" pitchFamily="2" charset="2"/>
              <a:buNone/>
            </a:pPr>
            <a:r>
              <a:rPr kumimoji="0" lang="en-US" altLang="zh-CN" sz="2400">
                <a:latin typeface="Arial" panose="020B0604020202020204" pitchFamily="34" charset="0"/>
                <a:ea typeface="楷体_GB2312" pitchFamily="1" charset="-122"/>
              </a:rPr>
              <a:t>=(</a:t>
            </a:r>
            <a:r>
              <a:rPr kumimoji="0" lang="zh-CN" altLang="en-US" sz="24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24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24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(</a:t>
            </a:r>
            <a:r>
              <a:rPr kumimoji="0" lang="en-US" altLang="zh-CN" sz="24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24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</a:t>
            </a:r>
            <a:r>
              <a:rPr kumimoji="0" lang="en-US" altLang="zh-CN" sz="2400">
                <a:latin typeface="Arial" panose="020B0604020202020204" pitchFamily="34" charset="0"/>
                <a:ea typeface="楷体_GB2312" pitchFamily="1" charset="-122"/>
              </a:rPr>
              <a:t>Q)</a:t>
            </a:r>
            <a:r>
              <a:rPr kumimoji="0" lang="zh-CN" altLang="en-US" sz="24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2400">
                <a:latin typeface="Arial" panose="020B0604020202020204" pitchFamily="34" charset="0"/>
                <a:ea typeface="楷体_GB2312" pitchFamily="1" charset="-122"/>
              </a:rPr>
              <a:t>R)</a:t>
            </a:r>
            <a:r>
              <a:rPr kumimoji="0" lang="zh-CN" altLang="en-US" sz="24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24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((</a:t>
            </a:r>
            <a:r>
              <a:rPr kumimoji="0" lang="en-US" altLang="zh-CN" sz="24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24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</a:t>
            </a:r>
            <a:r>
              <a:rPr kumimoji="0" lang="en-US" altLang="zh-CN" sz="2400">
                <a:latin typeface="Arial" panose="020B0604020202020204" pitchFamily="34" charset="0"/>
                <a:ea typeface="楷体_GB2312" pitchFamily="1" charset="-122"/>
              </a:rPr>
              <a:t>P)</a:t>
            </a:r>
            <a:r>
              <a:rPr kumimoji="0" lang="zh-CN" altLang="en-US" sz="24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</a:t>
            </a:r>
            <a:r>
              <a:rPr kumimoji="0" lang="en-US" altLang="zh-CN" sz="24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24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2400">
                <a:latin typeface="Arial" panose="020B0604020202020204" pitchFamily="34" charset="0"/>
                <a:ea typeface="楷体_GB2312" pitchFamily="1" charset="-122"/>
              </a:rPr>
              <a:t>R)</a:t>
            </a:r>
            <a:endParaRPr kumimoji="0" lang="zh-CN" altLang="en-US" sz="2400">
              <a:latin typeface="Arial" panose="020B0604020202020204" pitchFamily="34" charset="0"/>
              <a:ea typeface="楷体_GB2312" pitchFamily="1" charset="-122"/>
            </a:endParaRPr>
          </a:p>
          <a:p>
            <a:pPr algn="just">
              <a:lnSpc>
                <a:spcPct val="70000"/>
              </a:lnSpc>
              <a:buFont typeface="Wingdings" pitchFamily="2" charset="2"/>
              <a:buNone/>
            </a:pPr>
            <a:r>
              <a:rPr kumimoji="0" lang="en-US" altLang="zh-CN" sz="2400">
                <a:latin typeface="Arial" panose="020B0604020202020204" pitchFamily="34" charset="0"/>
                <a:ea typeface="楷体_GB2312" pitchFamily="1" charset="-122"/>
              </a:rPr>
              <a:t>=(</a:t>
            </a:r>
            <a:r>
              <a:rPr kumimoji="0" lang="zh-CN" altLang="en-US" sz="24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24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24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24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24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2400">
                <a:latin typeface="Arial" panose="020B0604020202020204" pitchFamily="34" charset="0"/>
                <a:ea typeface="楷体_GB2312" pitchFamily="1" charset="-122"/>
              </a:rPr>
              <a:t>R)</a:t>
            </a:r>
            <a:r>
              <a:rPr kumimoji="0" lang="zh-CN" altLang="en-US" sz="24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24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(</a:t>
            </a:r>
            <a:r>
              <a:rPr kumimoji="0" lang="zh-CN" altLang="en-US" sz="24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</a:t>
            </a:r>
            <a:r>
              <a:rPr kumimoji="0" lang="en-US" altLang="zh-CN" sz="24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24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</a:t>
            </a:r>
            <a:r>
              <a:rPr kumimoji="0" lang="en-US" altLang="zh-CN" sz="24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24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2400">
                <a:latin typeface="Arial" panose="020B0604020202020204" pitchFamily="34" charset="0"/>
                <a:ea typeface="楷体_GB2312" pitchFamily="1" charset="-122"/>
              </a:rPr>
              <a:t>R)</a:t>
            </a:r>
            <a:r>
              <a:rPr kumimoji="0" lang="zh-CN" altLang="en-US" sz="24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24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(</a:t>
            </a:r>
            <a:r>
              <a:rPr kumimoji="0" lang="en-US" altLang="zh-CN" sz="2400">
                <a:latin typeface="Arial" panose="020B0604020202020204" pitchFamily="34" charset="0"/>
                <a:ea typeface="楷体_GB2312" pitchFamily="1" charset="-122"/>
              </a:rPr>
              <a:t>P</a:t>
            </a:r>
            <a:r>
              <a:rPr kumimoji="0" lang="en-US" altLang="zh-CN" sz="24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</a:t>
            </a:r>
            <a:r>
              <a:rPr kumimoji="0" lang="en-US" altLang="zh-CN" sz="2400">
                <a:latin typeface="Arial" panose="020B0604020202020204" pitchFamily="34" charset="0"/>
                <a:ea typeface="楷体_GB2312" pitchFamily="1" charset="-122"/>
              </a:rPr>
              <a:t>Q</a:t>
            </a:r>
            <a:r>
              <a:rPr kumimoji="0" lang="en-US" altLang="zh-CN" sz="24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</a:t>
            </a:r>
            <a:r>
              <a:rPr kumimoji="0" lang="en-US" altLang="zh-CN" sz="2400">
                <a:latin typeface="Arial" panose="020B0604020202020204" pitchFamily="34" charset="0"/>
                <a:ea typeface="楷体_GB2312" pitchFamily="1" charset="-122"/>
              </a:rPr>
              <a:t>R)</a:t>
            </a:r>
            <a:r>
              <a:rPr kumimoji="0" lang="zh-CN" altLang="en-US" sz="2400">
                <a:latin typeface="Arial" panose="020B0604020202020204" pitchFamily="34" charset="0"/>
                <a:ea typeface="楷体_GB2312" pitchFamily="1" charset="-122"/>
              </a:rPr>
              <a:t>  </a:t>
            </a:r>
          </a:p>
          <a:p>
            <a:pPr algn="just">
              <a:lnSpc>
                <a:spcPct val="70000"/>
              </a:lnSpc>
              <a:buFont typeface="Wingdings" pitchFamily="2" charset="2"/>
              <a:buNone/>
            </a:pPr>
            <a:r>
              <a:rPr kumimoji="0" lang="en-US" altLang="zh-CN" sz="2400">
                <a:latin typeface="Arial" panose="020B0604020202020204" pitchFamily="34" charset="0"/>
                <a:ea typeface="楷体_GB2312" pitchFamily="1" charset="-122"/>
              </a:rPr>
              <a:t>= M</a:t>
            </a:r>
            <a:r>
              <a:rPr kumimoji="0" lang="en-US" altLang="zh-CN" sz="2400" baseline="-30000">
                <a:latin typeface="Arial" panose="020B0604020202020204" pitchFamily="34" charset="0"/>
                <a:ea typeface="楷体_GB2312" pitchFamily="1" charset="-122"/>
              </a:rPr>
              <a:t>2 </a:t>
            </a:r>
            <a:r>
              <a:rPr kumimoji="0" lang="en-US" altLang="zh-CN" sz="24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2400">
                <a:latin typeface="Arial" panose="020B0604020202020204" pitchFamily="34" charset="0"/>
                <a:ea typeface="楷体_GB2312" pitchFamily="1" charset="-122"/>
              </a:rPr>
              <a:t> M</a:t>
            </a:r>
            <a:r>
              <a:rPr kumimoji="0" lang="en-US" altLang="zh-CN" sz="2400" baseline="-30000">
                <a:latin typeface="Arial" panose="020B0604020202020204" pitchFamily="34" charset="0"/>
                <a:ea typeface="楷体_GB2312" pitchFamily="1" charset="-122"/>
              </a:rPr>
              <a:t>4 </a:t>
            </a:r>
            <a:r>
              <a:rPr kumimoji="0" lang="en-US" altLang="zh-CN" sz="2400">
                <a:latin typeface="Arial" panose="020B0604020202020204" pitchFamily="34" charset="0"/>
                <a:ea typeface="楷体_GB2312" pitchFamily="1" charset="-122"/>
                <a:sym typeface="Symbol" pitchFamily="2" charset="2"/>
              </a:rPr>
              <a:t></a:t>
            </a:r>
            <a:r>
              <a:rPr kumimoji="0" lang="en-US" altLang="zh-CN" sz="2400">
                <a:latin typeface="Arial" panose="020B0604020202020204" pitchFamily="34" charset="0"/>
                <a:ea typeface="楷体_GB2312" pitchFamily="1" charset="-122"/>
              </a:rPr>
              <a:t> M</a:t>
            </a:r>
            <a:r>
              <a:rPr kumimoji="0" lang="en-US" altLang="zh-CN" sz="2400" baseline="-30000">
                <a:latin typeface="Arial" panose="020B0604020202020204" pitchFamily="34" charset="0"/>
                <a:ea typeface="楷体_GB2312" pitchFamily="1" charset="-122"/>
              </a:rPr>
              <a:t>6</a:t>
            </a:r>
            <a:endParaRPr kumimoji="0" lang="en-US" altLang="zh-CN" sz="2400">
              <a:latin typeface="Arial" panose="020B0604020202020204" pitchFamily="34" charset="0"/>
              <a:ea typeface="楷体_GB2312" pitchFamily="1" charset="-122"/>
            </a:endParaRPr>
          </a:p>
          <a:p>
            <a:pPr algn="just">
              <a:lnSpc>
                <a:spcPct val="70000"/>
              </a:lnSpc>
              <a:buFont typeface="Wingdings" pitchFamily="2" charset="2"/>
              <a:buNone/>
            </a:pPr>
            <a:r>
              <a:rPr kumimoji="0" lang="zh-CN" altLang="en-US" sz="2400">
                <a:latin typeface="Arial" panose="020B0604020202020204" pitchFamily="34" charset="0"/>
                <a:ea typeface="楷体_GB2312" pitchFamily="1" charset="-122"/>
              </a:rPr>
              <a:t>二者的主合取范式不相同，因此，这两个公式不等价。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66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66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66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66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66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66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66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66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667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667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667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667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667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667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5667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5667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667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667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667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667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667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667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5667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5667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气流">
  <a:themeElements>
    <a:clrScheme name="自定义 1">
      <a:dk1>
        <a:srgbClr val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气流">
      <a:majorFont>
        <a:latin typeface="Trebuchet MS"/>
        <a:ea typeface=""/>
        <a:cs typeface=""/>
        <a:font script="Jpan" typeface="ＭＳ ゴシック"/>
        <a:font script="Hang" typeface="HY그래픽B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ＭＳ ゴシック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气流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气流.thmx</Template>
  <TotalTime>6904</TotalTime>
  <Words>13002</Words>
  <Application>Microsoft Macintosh PowerPoint</Application>
  <PresentationFormat>全屏显示(4:3)</PresentationFormat>
  <Paragraphs>1137</Paragraphs>
  <Slides>112</Slides>
  <Notes>59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112</vt:i4>
      </vt:variant>
    </vt:vector>
  </HeadingPairs>
  <TitlesOfParts>
    <vt:vector size="121" baseType="lpstr">
      <vt:lpstr>楷体_GB2312</vt:lpstr>
      <vt:lpstr>宋体</vt:lpstr>
      <vt:lpstr>Arial</vt:lpstr>
      <vt:lpstr>Georgia</vt:lpstr>
      <vt:lpstr>Times New Roman</vt:lpstr>
      <vt:lpstr>Trebuchet MS</vt:lpstr>
      <vt:lpstr>Wingdings</vt:lpstr>
      <vt:lpstr>气流</vt:lpstr>
      <vt:lpstr>公式</vt:lpstr>
      <vt:lpstr>第三章  古典数理逻辑 </vt:lpstr>
      <vt:lpstr>3.1.1 命题 </vt:lpstr>
      <vt:lpstr>3.1.1 命题</vt:lpstr>
      <vt:lpstr>例：</vt:lpstr>
      <vt:lpstr>逻辑联结词 </vt:lpstr>
      <vt:lpstr>定义3.1.1 否定</vt:lpstr>
      <vt:lpstr>定义3.1.2 析取</vt:lpstr>
      <vt:lpstr>定义3.1.3 合取</vt:lpstr>
      <vt:lpstr>定义3.1.4 蕴涵</vt:lpstr>
      <vt:lpstr>PowerPoint 演示文稿</vt:lpstr>
      <vt:lpstr>例：</vt:lpstr>
      <vt:lpstr>定义3.1.5 等价</vt:lpstr>
      <vt:lpstr>例：</vt:lpstr>
      <vt:lpstr>例3.1.1 </vt:lpstr>
      <vt:lpstr>例3.1.2 </vt:lpstr>
      <vt:lpstr>例3.1.3 </vt:lpstr>
      <vt:lpstr>命题公式 </vt:lpstr>
      <vt:lpstr>PowerPoint 演示文稿</vt:lpstr>
      <vt:lpstr>定义3.1.7 命题公式</vt:lpstr>
      <vt:lpstr>规定：</vt:lpstr>
      <vt:lpstr>PowerPoint 演示文稿</vt:lpstr>
      <vt:lpstr>例：</vt:lpstr>
      <vt:lpstr>定义3.1.9 真值表 </vt:lpstr>
      <vt:lpstr>PowerPoint 演示文稿</vt:lpstr>
      <vt:lpstr>解释的表示 </vt:lpstr>
      <vt:lpstr>定义3.1.10 </vt:lpstr>
      <vt:lpstr>PowerPoint 演示文稿</vt:lpstr>
      <vt:lpstr>判定问题</vt:lpstr>
      <vt:lpstr>例：</vt:lpstr>
      <vt:lpstr>练习：</vt:lpstr>
      <vt:lpstr>§3.1.2 命题公式的 等价关系和蕴涵关系 </vt:lpstr>
      <vt:lpstr>公式的等价 </vt:lpstr>
      <vt:lpstr>基本等价式 </vt:lpstr>
      <vt:lpstr>基本等价式 </vt:lpstr>
      <vt:lpstr>例1：</vt:lpstr>
      <vt:lpstr>例2：</vt:lpstr>
      <vt:lpstr>定义3.1.13 与非式</vt:lpstr>
      <vt:lpstr>定义3.1.14  或非式</vt:lpstr>
      <vt:lpstr>定义3.1.12 完备集</vt:lpstr>
      <vt:lpstr>{}是完备集</vt:lpstr>
      <vt:lpstr>公式的蕴涵 </vt:lpstr>
      <vt:lpstr>PowerPoint 演示文稿</vt:lpstr>
      <vt:lpstr>定义3.1.15  蕴涵</vt:lpstr>
      <vt:lpstr>定义3.1.16  </vt:lpstr>
      <vt:lpstr>定理3.1.1 </vt:lpstr>
      <vt:lpstr>定理3.1.1 </vt:lpstr>
      <vt:lpstr>演绎 </vt:lpstr>
      <vt:lpstr>例：</vt:lpstr>
      <vt:lpstr>引理3.1.1</vt:lpstr>
      <vt:lpstr>定理3.1.2 </vt:lpstr>
      <vt:lpstr>PowerPoint 演示文稿</vt:lpstr>
      <vt:lpstr>PowerPoint 演示文稿</vt:lpstr>
      <vt:lpstr>定理3.1.3 </vt:lpstr>
      <vt:lpstr>基本蕴涵式 </vt:lpstr>
      <vt:lpstr>基本蕴涵式 </vt:lpstr>
      <vt:lpstr>公式蕴涵的证明方法 </vt:lpstr>
      <vt:lpstr>公式蕴涵的证明方法 </vt:lpstr>
      <vt:lpstr>形式演绎法</vt:lpstr>
      <vt:lpstr>例3.1.1 </vt:lpstr>
      <vt:lpstr>例3.1.2 </vt:lpstr>
      <vt:lpstr>例3.1.3 </vt:lpstr>
      <vt:lpstr>PowerPoint 演示文稿</vt:lpstr>
      <vt:lpstr>PowerPoint 演示文稿</vt:lpstr>
      <vt:lpstr>习题：演绎的应用</vt:lpstr>
      <vt:lpstr>PowerPoint 演示文稿</vt:lpstr>
      <vt:lpstr>PowerPoint 演示文稿</vt:lpstr>
      <vt:lpstr>PowerPoint 演示文稿</vt:lpstr>
      <vt:lpstr>习题</vt:lpstr>
      <vt:lpstr>§3.1.1  范式 </vt:lpstr>
      <vt:lpstr>析取范式和合取范式 </vt:lpstr>
      <vt:lpstr>定义3.1.20 析取范式、合取范式</vt:lpstr>
      <vt:lpstr>定理3.1.4 </vt:lpstr>
      <vt:lpstr>例： </vt:lpstr>
      <vt:lpstr>主析取范式和主合取范式 </vt:lpstr>
      <vt:lpstr>PowerPoint 演示文稿</vt:lpstr>
      <vt:lpstr>例:</vt:lpstr>
      <vt:lpstr>PowerPoint 演示文稿</vt:lpstr>
      <vt:lpstr>PowerPoint 演示文稿</vt:lpstr>
      <vt:lpstr>定义3.1.22 主析取范式</vt:lpstr>
      <vt:lpstr>定理3.1.5 </vt:lpstr>
      <vt:lpstr>PowerPoint 演示文稿</vt:lpstr>
      <vt:lpstr>例</vt:lpstr>
      <vt:lpstr>PowerPoint 演示文稿</vt:lpstr>
      <vt:lpstr>证明真值表法的正确性 </vt:lpstr>
      <vt:lpstr>定理3.1.6 </vt:lpstr>
      <vt:lpstr>定理3.1.7 </vt:lpstr>
      <vt:lpstr>恒真恒假性的判定 </vt:lpstr>
      <vt:lpstr>定理3.1.8</vt:lpstr>
      <vt:lpstr>例3.1.4 </vt:lpstr>
      <vt:lpstr>例3.1.5 </vt:lpstr>
      <vt:lpstr>其它方法 </vt:lpstr>
      <vt:lpstr>例3.1.6 </vt:lpstr>
      <vt:lpstr>思考题</vt:lpstr>
      <vt:lpstr>补充:主合取范式 </vt:lpstr>
      <vt:lpstr>极小项与极大项性质</vt:lpstr>
      <vt:lpstr>极小项与极大项性质</vt:lpstr>
      <vt:lpstr>PowerPoint 演示文稿</vt:lpstr>
      <vt:lpstr>主合取范式与主析取范式之间的关系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求主合取范式和主析取范式的方法 </vt:lpstr>
      <vt:lpstr>PowerPoint 演示文稿</vt:lpstr>
      <vt:lpstr>PowerPoint 演示文稿</vt:lpstr>
      <vt:lpstr>PowerPoint 演示文稿</vt:lpstr>
      <vt:lpstr>PowerPoint 演示文稿</vt:lpstr>
      <vt:lpstr>主合取范式与主析取范式的应用 </vt:lpstr>
      <vt:lpstr>PowerPoint 演示文稿</vt:lpstr>
    </vt:vector>
  </TitlesOfParts>
  <Company>jlu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§1.3 映  射 </dc:title>
  <dc:creator>sunjigui</dc:creator>
  <cp:lastModifiedBy>Microsoft Office User</cp:lastModifiedBy>
  <cp:revision>488</cp:revision>
  <cp:lastPrinted>1601-01-01T00:00:00Z</cp:lastPrinted>
  <dcterms:created xsi:type="dcterms:W3CDTF">2002-08-19T06:25:27Z</dcterms:created>
  <dcterms:modified xsi:type="dcterms:W3CDTF">2023-04-11T03:55:26Z</dcterms:modified>
</cp:coreProperties>
</file>